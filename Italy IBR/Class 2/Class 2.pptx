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1"/>
  </p:notesMasterIdLst>
  <p:handoutMasterIdLst>
    <p:handoutMasterId r:id="rId12"/>
  </p:handoutMasterIdLst>
  <p:sldIdLst>
    <p:sldId id="256" r:id="rId2"/>
    <p:sldId id="609" r:id="rId3"/>
    <p:sldId id="650" r:id="rId4"/>
    <p:sldId id="646" r:id="rId5"/>
    <p:sldId id="647" r:id="rId6"/>
    <p:sldId id="648" r:id="rId7"/>
    <p:sldId id="649" r:id="rId8"/>
    <p:sldId id="608" r:id="rId9"/>
    <p:sldId id="610" r:id="rId10"/>
  </p:sldIdLst>
  <p:sldSz cx="9144000" cy="6858000" type="screen4x3"/>
  <p:notesSz cx="7099300" cy="10234613"/>
  <p:custDataLst>
    <p:tags r:id="rId1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co Voigtländer" initials="NV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0" autoAdjust="0"/>
    <p:restoredTop sz="86486" autoAdjust="0"/>
  </p:normalViewPr>
  <p:slideViewPr>
    <p:cSldViewPr>
      <p:cViewPr varScale="1">
        <p:scale>
          <a:sx n="99" d="100"/>
          <a:sy n="99" d="100"/>
        </p:scale>
        <p:origin x="164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3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FAC5E8-3AF1-4D5F-8351-FA8BF7BB09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3809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84EB0E23-03E7-4B45-B098-93E2C8ABFC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57974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AACEC60-5F1B-4DF9-8D3C-CA0D28E831D2}" type="slidenum">
              <a:rPr lang="en-US" altLang="en-US" smtClean="0">
                <a:latin typeface="Arial" panose="020B0604020202020204" pitchFamily="34" charset="0"/>
              </a:rPr>
              <a:pPr/>
              <a:t>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4359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2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0865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I will arrive at the hotel in Milan
https://www.polleverywhere.com/multiple_choice_polls/W48aUoQdkorGN8CDnd6ue?state=opened&amp;flow=Default&amp;onscreen=persist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EB0E23-03E7-4B45-B098-93E2C8ABFC9E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09367F-793C-4025-8A38-E01666B6EFDC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89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4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6282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5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45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6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3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563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7A5070-D062-4885-8115-3D10F40969E5}" type="slidenum">
              <a:rPr lang="en-US" altLang="en-US" smtClean="0">
                <a:latin typeface="Arial" panose="020B0604020202020204" pitchFamily="34" charset="0"/>
              </a:rPr>
              <a:pPr/>
              <a:t>8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867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EB0E23-03E7-4B45-B098-93E2C8ABFC9E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945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DFE0D-70AE-4896-8EE4-1F08C6A568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1907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617BEB-7FF4-462A-BDB8-D4066C06AC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0803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173E0-1D59-485B-B862-E3BA047430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0288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524000"/>
            <a:ext cx="39243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524000"/>
            <a:ext cx="39243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A0107-42A4-4431-B6B3-50EFEBE959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0580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230A8-584E-4E8E-8EAC-21810696DB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058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8D222D-B24C-4FF2-99B5-B4DDC69E7F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961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71A8DA-9CD9-4830-8ACF-0C4A78C45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4855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E6FA9-CBEB-4C64-AA90-E247AAB0FC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2165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76FC0-6C96-4CDF-8E1B-9588B17905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9980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079AEE-24FE-4C5E-ADCB-B757789BB5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6814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0825" y="152400"/>
            <a:ext cx="2009775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152400"/>
            <a:ext cx="5881687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CD3BA-C18C-4AC8-AC28-7C639E8E24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9000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01000" cy="1216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66738" y="1524000"/>
            <a:ext cx="39243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3438" y="1524000"/>
            <a:ext cx="39243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3438" y="3848100"/>
            <a:ext cx="3924300" cy="2171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318B5A-87C8-4555-B7D2-ED62A77D09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47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524000"/>
            <a:ext cx="8001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FF3EB3B7-CA41-421A-AB93-180DE3789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804863"/>
            <a:ext cx="8277225" cy="13716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MGMTEX 421 – International Business Residential in Italy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42988" y="3068638"/>
            <a:ext cx="6723062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lnSpc>
                <a:spcPct val="80000"/>
              </a:lnSpc>
              <a:defRPr/>
            </a:pPr>
            <a:r>
              <a:rPr kumimoji="1" lang="en-US" altLang="en-US" kern="0" dirty="0">
                <a:solidFill>
                  <a:schemeClr val="tx2"/>
                </a:solidFill>
              </a:rPr>
              <a:t>Prof. Nico </a:t>
            </a:r>
            <a:r>
              <a:rPr kumimoji="1" lang="de-DE" altLang="en-US" kern="0" dirty="0">
                <a:solidFill>
                  <a:schemeClr val="tx2"/>
                </a:solidFill>
              </a:rPr>
              <a:t>Voigtländer</a:t>
            </a:r>
            <a:endParaRPr kumimoji="1" lang="en-US" altLang="en-US" kern="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kumimoji="1" lang="en-US" altLang="en-US" kern="0" dirty="0">
              <a:solidFill>
                <a:schemeClr val="tx2"/>
              </a:solidFill>
            </a:endParaRPr>
          </a:p>
          <a:p>
            <a:pPr eaLnBrk="1" hangingPunct="1">
              <a:lnSpc>
                <a:spcPct val="80000"/>
              </a:lnSpc>
              <a:defRPr/>
            </a:pPr>
            <a:endParaRPr kumimoji="1" lang="en-US" altLang="en-US" kern="0" dirty="0">
              <a:solidFill>
                <a:schemeClr val="tx2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809625" y="4292600"/>
            <a:ext cx="6940550" cy="1008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indent="-4365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304925" indent="-395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+mn-lt"/>
              </a:defRPr>
            </a:lvl3pPr>
            <a:lvl4pPr marL="1693863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93913" indent="-398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511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30083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655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922713" indent="-39846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 eaLnBrk="1" hangingPunct="1">
              <a:lnSpc>
                <a:spcPct val="80000"/>
              </a:lnSpc>
              <a:defRPr/>
            </a:pPr>
            <a:r>
              <a:rPr kumimoji="1" lang="en-US" altLang="en-US" kern="0" dirty="0">
                <a:solidFill>
                  <a:schemeClr val="accent6">
                    <a:lumMod val="75000"/>
                  </a:schemeClr>
                </a:solidFill>
              </a:rPr>
              <a:t>Class 2</a:t>
            </a:r>
          </a:p>
          <a:p>
            <a:pPr algn="ctr" eaLnBrk="1" hangingPunct="1">
              <a:lnSpc>
                <a:spcPct val="80000"/>
              </a:lnSpc>
              <a:defRPr/>
            </a:pPr>
            <a:r>
              <a:rPr kumimoji="1" lang="en-US" altLang="en-US" sz="3200" kern="0" dirty="0">
                <a:solidFill>
                  <a:schemeClr val="accent6">
                    <a:lumMod val="75000"/>
                  </a:schemeClr>
                </a:solidFill>
              </a:rPr>
              <a:t>Presentations and Debates: Topics on the Italian Economy</a:t>
            </a:r>
          </a:p>
          <a:p>
            <a:pPr algn="ctr" eaLnBrk="1" hangingPunct="1">
              <a:lnSpc>
                <a:spcPct val="80000"/>
              </a:lnSpc>
              <a:defRPr/>
            </a:pPr>
            <a:endParaRPr kumimoji="1" lang="en-US" altLang="en-US" kern="0" dirty="0">
              <a:solidFill>
                <a:schemeClr val="accent6">
                  <a:lumMod val="75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kumimoji="1" lang="en-US" altLang="en-US" kern="0" dirty="0">
              <a:solidFill>
                <a:schemeClr val="accent6">
                  <a:lumMod val="75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kumimoji="1" lang="en-US" altLang="en-US" kern="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" y="115888"/>
            <a:ext cx="8785225" cy="1009650"/>
          </a:xfrm>
        </p:spPr>
        <p:txBody>
          <a:bodyPr anchor="ctr"/>
          <a:lstStyle/>
          <a:p>
            <a:pPr eaLnBrk="1" hangingPunct="1"/>
            <a:r>
              <a:rPr lang="en-US" altLang="en-US" sz="3600" dirty="0"/>
              <a:t>Logistics – Schedule from here… </a:t>
            </a:r>
            <a:endParaRPr lang="en-US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125538"/>
            <a:ext cx="8642350" cy="4724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Class today: Discussion of Presentation Debates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Present 2-3 min executive summary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Followed by discussion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Max. 20 minutes per topic</a:t>
            </a:r>
          </a:p>
          <a:p>
            <a:pPr lvl="1" eaLnBrk="1" hangingPunct="1">
              <a:lnSpc>
                <a:spcPct val="120000"/>
              </a:lnSpc>
            </a:pPr>
            <a:endParaRPr lang="en-US" altLang="en-US" sz="20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Trip to Italy: Sep 3-9. Schedule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Note: Casual dress code.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Get Melatonin for the jetlag!</a:t>
            </a:r>
          </a:p>
          <a:p>
            <a:pPr marL="471487" lvl="1" indent="0" eaLnBrk="1" hangingPunct="1">
              <a:lnSpc>
                <a:spcPct val="120000"/>
              </a:lnSpc>
              <a:buNone/>
            </a:pP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Class on Sep 24: Debrief and discussion of student reports</a:t>
            </a:r>
          </a:p>
          <a:p>
            <a:pPr eaLnBrk="1" hangingPunct="1">
              <a:lnSpc>
                <a:spcPct val="120000"/>
              </a:lnSpc>
            </a:pPr>
            <a:endParaRPr lang="en-US" altLang="en-US" sz="2400" dirty="0"/>
          </a:p>
        </p:txBody>
      </p:sp>
      <p:sp>
        <p:nvSpPr>
          <p:cNvPr id="6" name="Action Button: End 5">
            <a:hlinkClick r:id="rId3" action="ppaction://hlinksldjump" highlightClick="1"/>
          </p:cNvPr>
          <p:cNvSpPr/>
          <p:nvPr/>
        </p:nvSpPr>
        <p:spPr bwMode="auto">
          <a:xfrm>
            <a:off x="6228184" y="3487738"/>
            <a:ext cx="288032" cy="216024"/>
          </a:xfrm>
          <a:prstGeom prst="actionButtonEn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73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A48909-8246-4435-BEB6-2370101F24A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94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2060848"/>
            <a:ext cx="8785225" cy="1009650"/>
          </a:xfrm>
        </p:spPr>
        <p:txBody>
          <a:bodyPr anchor="ctr"/>
          <a:lstStyle/>
          <a:p>
            <a:pPr algn="ctr" eaLnBrk="1" hangingPunct="1"/>
            <a:r>
              <a:rPr lang="en-US" altLang="en-US" sz="3600" dirty="0"/>
              <a:t>Presentations and Discussions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818945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" y="115888"/>
            <a:ext cx="8785225" cy="1009650"/>
          </a:xfrm>
        </p:spPr>
        <p:txBody>
          <a:bodyPr anchor="ctr"/>
          <a:lstStyle/>
          <a:p>
            <a:pPr eaLnBrk="1" hangingPunct="1"/>
            <a:r>
              <a:rPr lang="en-US" altLang="en-US" sz="3600" dirty="0"/>
              <a:t>Presentation Topics (i)</a:t>
            </a:r>
            <a:endParaRPr lang="en-US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268760"/>
            <a:ext cx="8642350" cy="458117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Italy's Future in Tech/Services</a:t>
            </a:r>
            <a:endParaRPr lang="en-US" alt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"Italy can be competitive with a focus on exporting physical goods“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"Italy must become more competitive in tech/services to compete globally"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Corruption and Trust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"Italy's reputation for corruption and low trust is overblown“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"Italy has a serious problem with corruption and low trust, with major negative economic impact"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8639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" y="115888"/>
            <a:ext cx="8785225" cy="1009650"/>
          </a:xfrm>
        </p:spPr>
        <p:txBody>
          <a:bodyPr anchor="ctr"/>
          <a:lstStyle/>
          <a:p>
            <a:pPr eaLnBrk="1" hangingPunct="1"/>
            <a:r>
              <a:rPr lang="en-US" altLang="en-US" sz="3600" dirty="0"/>
              <a:t>Presentation Topics (ii)</a:t>
            </a:r>
            <a:endParaRPr lang="en-US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268760"/>
            <a:ext cx="8642350" cy="458117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Immigration and Growth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"Further immigration will have a negative net impact on Italy's economy and political stability“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"Italy should encourage more immigration if it wants to grow its economy"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Lavazza</a:t>
            </a:r>
            <a:endParaRPr lang="en-US" altLang="en-US" sz="20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"Lavazza should create a new brand identity aligned with US consumer tastes"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"Lavazza should introduce US consumers to the 'Italian' way of drinking espresso"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4518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7950" y="115888"/>
            <a:ext cx="8785225" cy="1009650"/>
          </a:xfrm>
        </p:spPr>
        <p:txBody>
          <a:bodyPr anchor="ctr"/>
          <a:lstStyle/>
          <a:p>
            <a:pPr eaLnBrk="1" hangingPunct="1"/>
            <a:r>
              <a:rPr lang="en-US" altLang="en-US" sz="3600" dirty="0"/>
              <a:t>Presentation Topics (iii)</a:t>
            </a:r>
            <a:endParaRPr lang="en-US" altLang="en-US" sz="32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268760"/>
            <a:ext cx="8642350" cy="4581178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Juventus F.C.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"Private equity will destroy the reputation and history of clubs like Juventus"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000" dirty="0"/>
              <a:t>"</a:t>
            </a:r>
            <a:r>
              <a:rPr lang="en-US" altLang="en-US" sz="2000" dirty="0" err="1"/>
              <a:t>Juve</a:t>
            </a:r>
            <a:r>
              <a:rPr lang="en-US" altLang="en-US" sz="2000" dirty="0"/>
              <a:t> is behind the times – private equity will bring efficiency and modernization"</a:t>
            </a:r>
          </a:p>
          <a:p>
            <a:pPr marL="0" indent="0" eaLnBrk="1" hangingPunct="1">
              <a:lnSpc>
                <a:spcPct val="120000"/>
              </a:lnSpc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8645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9512" y="2060848"/>
            <a:ext cx="8785225" cy="1009650"/>
          </a:xfrm>
        </p:spPr>
        <p:txBody>
          <a:bodyPr anchor="ctr"/>
          <a:lstStyle/>
          <a:p>
            <a:pPr algn="ctr" eaLnBrk="1" hangingPunct="1"/>
            <a:r>
              <a:rPr lang="en-US" altLang="en-US" sz="3600" dirty="0"/>
              <a:t>Backup Slides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346228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Beginning 5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8748464" y="6453336"/>
            <a:ext cx="287834" cy="215602"/>
          </a:xfrm>
          <a:prstGeom prst="actionButtonBeginning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en-US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4165E4-F96C-4BC6-9D1C-37E897EA75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08" y="189062"/>
            <a:ext cx="8620339" cy="6133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663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VERSION" val="5"/>
  <p:tag name="TPFULLVERSION" val="5.2.1.3179"/>
  <p:tag name="PPTVERSION" val="15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42ec867-4701-4129-882a-9198607ab2fe"/>
</p:tagLst>
</file>

<file path=ppt/theme/theme1.xml><?xml version="1.0" encoding="utf-8"?>
<a:theme xmlns:a="http://schemas.openxmlformats.org/drawingml/2006/main" name="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000099"/>
      </a:accent2>
      <a:accent3>
        <a:srgbClr val="FFFFFF"/>
      </a:accent3>
      <a:accent4>
        <a:srgbClr val="000000"/>
      </a:accent4>
      <a:accent5>
        <a:srgbClr val="CED5DD"/>
      </a:accent5>
      <a:accent6>
        <a:srgbClr val="00008A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000099"/>
    </a:accent2>
    <a:accent3>
      <a:srgbClr val="FFFFFF"/>
    </a:accent3>
    <a:accent4>
      <a:srgbClr val="000000"/>
    </a:accent4>
    <a:accent5>
      <a:srgbClr val="CED5DD"/>
    </a:accent5>
    <a:accent6>
      <a:srgbClr val="00008A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11511</TotalTime>
  <Words>340</Words>
  <Application>Microsoft Office PowerPoint</Application>
  <PresentationFormat>On-screen Show (4:3)</PresentationFormat>
  <Paragraphs>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Verdana</vt:lpstr>
      <vt:lpstr>Wingdings</vt:lpstr>
      <vt:lpstr>Profile</vt:lpstr>
      <vt:lpstr>MGMTEX 421 – International Business Residential in Italy </vt:lpstr>
      <vt:lpstr>Logistics – Schedule from here… </vt:lpstr>
      <vt:lpstr>PowerPoint Presentation</vt:lpstr>
      <vt:lpstr>Presentations and Discussions</vt:lpstr>
      <vt:lpstr>Presentation Topics (i)</vt:lpstr>
      <vt:lpstr>Presentation Topics (ii)</vt:lpstr>
      <vt:lpstr>Presentation Topics (iii)</vt:lpstr>
      <vt:lpstr>Backup Slides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Four Horsemen of Growth: Pestilence, War, Death and Urban Development in Early Modern Europe</dc:title>
  <dc:creator>J Voth</dc:creator>
  <cp:lastModifiedBy>Nico Voigtlaender</cp:lastModifiedBy>
  <cp:revision>686</cp:revision>
  <cp:lastPrinted>2015-10-18T23:17:24Z</cp:lastPrinted>
  <dcterms:created xsi:type="dcterms:W3CDTF">2006-11-02T09:49:52Z</dcterms:created>
  <dcterms:modified xsi:type="dcterms:W3CDTF">2023-08-24T01:14:40Z</dcterms:modified>
</cp:coreProperties>
</file>