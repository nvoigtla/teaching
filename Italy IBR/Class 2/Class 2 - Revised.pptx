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6.xml" ContentType="application/vnd.openxmlformats-officedocument.presentationml.slide+xml"/>
  <Override PartName="/ppt/notesSlides/notesSlide15.xml" ContentType="application/vnd.openxmlformats-officedocument.presentationml.notesSlide+xml"/>
  <Override PartName="/ppt/tags/tag1.xml" ContentType="application/vnd.openxmlformats-officedocument.presentationml.tag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71" r:id="rId23"/>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notesMaster" Target="notesMasters/notesMaster1.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This is our second class, and today the class is yours: 9 groups present, and we debate. Two broad-topic debates and five of the companies we will visit in Milan and Turin. I will keep time and moderate, and we close by looking ahead to the trip itself.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plan. First the logistics from here to Milan, then a quick poll on when you arrive, and then the main event: the 9 group presentations. Two of them are head-to-head debates on broad questions about the Italian economy, and five are company presentations on firms we will actually walk into during the trip.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on timing. Today each group gives a 2 to 3 minute executive summary of the video you already submitted, and then we open it up; I will cap each topic at 20 minutes so everyone gets the floor. The trip runs September 6 to 11, Milan first and then Turin, with flights home on Saturday the 12th. The full day-by-day schedule is on the last slide if you click through. Dress code is casual throughout, and do get melatonin before you fly. We meet once more on October 4 to debrief and talk through your reports.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over to you. 9 groups present, in the order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running order, and it follows the group numbers from the sign-up sheet. 9 groups present across 7 slots: 2 of the slots are head-to-head debates, where two groups argue opposite sides of the same question, and 5 are company presentations. Each company group introduces the firm and then makes the case for or against investing in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head-to-head debate: the two groups were handed opposite sides of the same question, so treat the statements on the slide as positions to argue, not as my view. Group 1 opens with a 2 to 3 minute executive summary, Group 3 follows, and then we open the floor. Listen for which side leans on evidence and which leans on assertion.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Kering is on the trip: we see them Wednesday 9 Sep, 09.00 – 10.30. The group has 2 to 3 minutes to introduce the company and then to argue why we should, or should not, invest in it. Keep the investment case concrete, and note the questions you want to put to the company when we are in the room with them.  Sector: Luxury Group. [Logo: Wikimedia Commons, File:Kering-logo.svg]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head-to-head debate: the two groups were handed opposite sides of the same question, so treat the statements on the slide as positions to argue, not as my view. Group 4 opens with a 2 to 3 minute executive summary, Group 7 follows, and then we open the floor. Listen for which side leans on evidence and which leans on assertion.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Prada Group is on the trip: we see them Tuesday 8 Sep, 15.00 – 16.30. The group has 2 to 3 minutes to introduce the company and then to argue why we should, or should not, invest in it. Keep the investment case concrete, and note the questions you want to put to the company when we are in the room with them.  Sector: Luxury Fashion. [Logo: Wikimedia Commons, File:Prada Group - logo (Italy).svg]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 Milan FC is on the trip: we see them Wednesday 9 Sep, 15.00 – 16.30. The group has 2 to 3 minutes to introduce the company and then to argue why we should, or should not, invest in it. Keep the investment case concrete, and note the questions you want to put to the company when we are in the room with them.  Sector: Iconic Sports Team. [Logo: Wikimedia Commons, File:FC Internazionale Milano 2021.svg]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Pirelli is on the trip: we see them Tuesday 8 Sep, 09.00 – 10.45. The group has 2 to 3 minutes to introduce the company and then to argue why we should, or should not, invest in it. Keep the investment case concrete, and note the questions you want to put to the company when we are in the room with them.  Sector: Vehicle Manufacturing. [Logo: Wikimedia Commons, File:Pirelli - logo full (Italy, 1997).svg]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EssilorLuxottica is on the trip: we see them Tuesday 8 Sep, 11.30 – 13.00. The group has 2 to 3 minutes to introduce the company and then to argue why we should, or should not, invest in it. Keep the investment case concrete, and note the questions you want to put to the company when we are in the room with them.  Sector: Eyewear Manufacturer. [Logo: Wikimedia Commons, File:Logo EssilorLuxottica.svg]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all. See you in Milan on September 6, and we will regroup on Zoom on October 4 to debrief.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full week, Sunday the 6th through Friday the 11th. Milan Sunday through Wednesday, then we coach over to Turin on Thursday morning. The company sessions are the ones 5 of the groups are presenting on today: Pirelli and EssilorLuxottica and Prada on Tuesday, Kering and Inter on Wednesday, then Lavazza and Carioca in Turin, and Stellantis and LeapFactory on Friday. Bocconi opens the week on Monday morning, and the Wednesday late-morning slot is Eataly.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I will arrive at the hotel in Milan
https://www.polleverywhere.com/multiple_choice_polls/W48aUoQdkorGN8CDnd6ue?state=opened&amp;flow=Default&amp;onscreen=persist</a:t>
            </a:r>
          </a:p>
        </p:txBody>
      </p:sp>
      <p:sp>
        <p:nvSpPr>
          <p:cNvPr id="4" name="Slide Number Placeholder 3"/>
          <p:cNvSpPr>
            <a:spLocks noGrp="1"/>
          </p:cNvSpPr>
          <p:nvPr>
            <p:ph type="sldNum" sz="quarter" idx="5"/>
          </p:nvPr>
        </p:nvSpPr>
        <p:spPr/>
        <p:txBody>
          <a:bodyPr/>
          <a:lstStyle/>
          <a:p>
            <a:pPr>
              <a:defRPr/>
            </a:pPr>
            <a:fld id="{84EB0E23-03E7-4B45-B098-93E2C8ABFC9E}" type="slidenum">
              <a:rPr lang="en-US" altLang="en-US" smtClean="0"/>
              <a:pPr>
                <a:defRPr/>
              </a:pPr>
              <a:t>3</a:t>
            </a:fld>
            <a:endParaRPr lang="en-US" altLang="en-US"/>
          </a:p>
        </p:txBody>
      </p:sp>
      <p:sp>
        <p:nvSpPr>
          <p:cNvPr id="5" name="TextBox 4">
            <a:extLst>
              <a:ext uri="{FF2B5EF4-FFF2-40B4-BE49-F238E27FC236}">
                <a16:creationId xmlns:a16="http://schemas.microsoft.com/office/drawing/2014/main" id="{6E09367F-793C-4025-8A38-E01666B6EFDC}"/>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14418919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5.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slide" Target="slide3.xml"/><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7.xml"/><Relationship Id="rId3" Type="http://schemas.openxmlformats.org/officeDocument/2006/relationships/notesSlide" Target="../notesSlides/notesSlide15.xml"/><Relationship Id="rId4" Type="http://schemas.openxmlformats.org/officeDocument/2006/relationships/image" Target="../media/image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1" name="TextBox 1"/>
          <p:cNvSpPr txBox="1"/>
          <p:nvPr/>
        </p:nvSpPr>
        <p:spPr>
          <a:xfrm>
            <a:off x="251999" y="2148840"/>
            <a:ext cx="11687697" cy="1188720"/>
          </a:xfrm>
          <a:prstGeom prst="rect">
            <a:avLst/>
          </a:prstGeom>
          <a:noFill/>
        </p:spPr>
        <p:txBody>
          <a:bodyPr wrap="square" lIns="0" tIns="0" rIns="0" bIns="0">
            <a:spAutoFit/>
          </a:bodyPr>
          <a:lstStyle/>
          <a:p>
            <a:pPr algn="ctr"/>
            <a:r>
              <a:rPr lang="en-US" sz="6000" b="1" i="0">
                <a:solidFill>
                  <a:srgbClr val="0B2B4E"/>
                </a:solidFill>
                <a:latin typeface="Calibri"/>
              </a:rPr>
              <a:t>Presentations and Debates</a:t>
            </a:r>
          </a:p>
        </p:txBody>
      </p:sp>
      <p:sp>
        <p:nvSpPr>
          <p:cNvPr id="102" name="TextBox 2"/>
          <p:cNvSpPr txBox="1"/>
          <p:nvPr/>
        </p:nvSpPr>
        <p:spPr>
          <a:xfrm>
            <a:off x="251999" y="3383280"/>
            <a:ext cx="11687697" cy="685800"/>
          </a:xfrm>
          <a:prstGeom prst="rect">
            <a:avLst/>
          </a:prstGeom>
          <a:noFill/>
        </p:spPr>
        <p:txBody>
          <a:bodyPr wrap="square" lIns="0" tIns="0" rIns="0" bIns="0">
            <a:spAutoFit/>
          </a:bodyPr>
          <a:lstStyle/>
          <a:p>
            <a:pPr algn="ctr"/>
            <a:r>
              <a:rPr lang="en-US" sz="3200" b="1" i="0">
                <a:solidFill>
                  <a:srgbClr val="E09F3E"/>
                </a:solidFill>
                <a:latin typeface="Calibri"/>
              </a:rPr>
              <a:t>Class 2  ·  Topics on the Italian Economy</a:t>
            </a:r>
          </a:p>
        </p:txBody>
      </p:sp>
      <p:sp>
        <p:nvSpPr>
          <p:cNvPr id="103" name="Rectangle 3"/>
          <p:cNvSpPr/>
          <p:nvPr/>
        </p:nvSpPr>
        <p:spPr>
          <a:xfrm>
            <a:off x="4265676" y="4343400"/>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4"/>
          <p:cNvSpPr txBox="1"/>
          <p:nvPr/>
        </p:nvSpPr>
        <p:spPr>
          <a:xfrm>
            <a:off x="251999" y="4709160"/>
            <a:ext cx="11687697" cy="502920"/>
          </a:xfrm>
          <a:prstGeom prst="rect">
            <a:avLst/>
          </a:prstGeom>
          <a:noFill/>
        </p:spPr>
        <p:txBody>
          <a:bodyPr wrap="square" lIns="0" tIns="0" rIns="0" bIns="0">
            <a:spAutoFit/>
          </a:bodyPr>
          <a:lstStyle/>
          <a:p>
            <a:pPr algn="ctr"/>
            <a:r>
              <a:rPr lang="en-US" sz="2400" b="1" i="0">
                <a:solidFill>
                  <a:srgbClr val="555B66"/>
                </a:solidFill>
                <a:latin typeface="Calibri"/>
              </a:rPr>
              <a:t>MGMTEX 421  ·  International Business Residential in Italy</a:t>
            </a:r>
          </a:p>
        </p:txBody>
      </p:sp>
      <p:sp>
        <p:nvSpPr>
          <p:cNvPr id="105" name="TextBox 5"/>
          <p:cNvSpPr txBox="1"/>
          <p:nvPr/>
        </p:nvSpPr>
        <p:spPr>
          <a:xfrm>
            <a:off x="251999" y="5349240"/>
            <a:ext cx="11687697" cy="457200"/>
          </a:xfrm>
          <a:prstGeom prst="rect">
            <a:avLst/>
          </a:prstGeom>
          <a:noFill/>
        </p:spPr>
        <p:txBody>
          <a:bodyPr wrap="square" lIns="0" tIns="0" rIns="0" bIns="0">
            <a:spAutoFit/>
          </a:bodyPr>
          <a:lstStyle/>
          <a:p>
            <a:pPr algn="ctr"/>
            <a:r>
              <a:rPr lang="en-US" sz="2000" b="0" i="0">
                <a:solidFill>
                  <a:srgbClr val="555B66"/>
                </a:solidFill>
                <a:latin typeface="Calibri"/>
              </a:rPr>
              <a:t>Prof. Nico Voigtländer  ·  UCLA Anderson</a:t>
            </a:r>
          </a:p>
        </p:txBody>
      </p:sp>
      <p:sp>
        <p:nvSpPr>
          <p:cNvPr id="106"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8"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2"/>
          <p:cNvSpPr txBox="1"/>
          <p:nvPr/>
        </p:nvSpPr>
        <p:spPr>
          <a:xfrm>
            <a:off x="251999" y="0"/>
            <a:ext cx="10972800" cy="384048"/>
          </a:xfrm>
          <a:prstGeom prst="rect">
            <a:avLst/>
          </a:prstGeom>
          <a:noFill/>
        </p:spPr>
        <p:txBody>
          <a:bodyPr wrap="square" lIns="0" tIns="0" rIns="0" bIns="0" anchor="ctr">
            <a:spAutoFit/>
          </a:bodyPr>
          <a:lstStyle/>
          <a:p>
            <a:pPr algn="l"/>
            <a:r>
              <a:rPr lang="en-US" sz="1600" b="1" i="0">
                <a:solidFill>
                  <a:srgbClr val="FFFFFF"/>
                </a:solidFill>
                <a:latin typeface="Calibri"/>
              </a:rPr>
              <a:t>Italy IBR  ·  Today’s Roadmap</a:t>
            </a:r>
          </a:p>
        </p:txBody>
      </p:sp>
      <p:sp>
        <p:nvSpPr>
          <p:cNvPr id="110" name="TextBox 3"/>
          <p:cNvSpPr txBox="1"/>
          <p:nvPr/>
        </p:nvSpPr>
        <p:spPr>
          <a:xfrm>
            <a:off x="251999" y="566928"/>
            <a:ext cx="11687697" cy="640080"/>
          </a:xfrm>
          <a:prstGeom prst="rect">
            <a:avLst/>
          </a:prstGeom>
          <a:noFill/>
        </p:spPr>
        <p:txBody>
          <a:bodyPr wrap="square" lIns="0" tIns="0" rIns="0" bIns="0">
            <a:spAutoFit/>
          </a:bodyPr>
          <a:lstStyle/>
          <a:p>
            <a:pPr algn="l"/>
            <a:r>
              <a:rPr lang="en-US" sz="3000" b="1" i="0">
                <a:solidFill>
                  <a:srgbClr val="0B2B4E"/>
                </a:solidFill>
                <a:latin typeface="Calibri"/>
              </a:rPr>
              <a:t>Class Today: Your Presentations and Debates</a:t>
            </a:r>
          </a:p>
        </p:txBody>
      </p:sp>
      <p:sp>
        <p:nvSpPr>
          <p:cNvPr id="111" name="Rectangle 4"/>
          <p:cNvSpPr/>
          <p:nvPr/>
        </p:nvSpPr>
        <p:spPr>
          <a:xfrm>
            <a:off x="251999" y="118872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Rectangle 5"/>
          <p:cNvSpPr/>
          <p:nvPr/>
        </p:nvSpPr>
        <p:spPr>
          <a:xfrm>
            <a:off x="251999" y="117500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9"/>
          <p:cNvSpPr txBox="1"/>
          <p:nvPr/>
        </p:nvSpPr>
        <p:spPr>
          <a:xfrm>
            <a:off x="251999" y="6583680"/>
            <a:ext cx="10058400" cy="292608"/>
          </a:xfrm>
          <a:prstGeom prst="rect">
            <a:avLst/>
          </a:prstGeom>
          <a:noFill/>
        </p:spPr>
        <p:txBody>
          <a:bodyPr wrap="square" lIns="0" tIns="0" rIns="0" bIns="0">
            <a:spAutoFit/>
          </a:bodyPr>
          <a:lstStyle/>
          <a:p>
            <a:pPr algn="l"/>
            <a:r>
              <a:rPr lang="en-US" sz="1200" b="0" i="0">
                <a:solidFill>
                  <a:srgbClr val="555B66"/>
                </a:solidFill>
                <a:latin typeface="Calibri"/>
              </a:rPr>
              <a:t>International Business Residential – Italy</a:t>
            </a:r>
          </a:p>
        </p:txBody>
      </p:sp>
      <p:sp>
        <p:nvSpPr>
          <p:cNvPr id="116" name="TextBox 10"/>
          <p:cNvSpPr txBox="1"/>
          <p:nvPr/>
        </p:nvSpPr>
        <p:spPr>
          <a:xfrm>
            <a:off x="11430000" y="6583680"/>
            <a:ext cx="548640" cy="292608"/>
          </a:xfrm>
          <a:prstGeom prst="rect">
            <a:avLst/>
          </a:prstGeom>
          <a:noFill/>
        </p:spPr>
        <p:txBody>
          <a:bodyPr wrap="square" lIns="0" tIns="0" rIns="0" bIns="0">
            <a:spAutoFit/>
          </a:bodyPr>
          <a:lstStyle/>
          <a:p>
            <a:pPr algn="r"/>
            <a:fld id="{5B7A6A11-0000-4A00-9C00-000000000002}" type="slidenum">
              <a:rPr lang="en-US" sz="1200">
                <a:solidFill>
                  <a:srgbClr val="555B66"/>
                </a:solidFill>
                <a:latin typeface="Calibri"/>
              </a:rPr>
              <a:t>2</a:t>
            </a:fld>
            <a:endParaRPr lang="en-US" sz="1200">
              <a:solidFill>
                <a:srgbClr val="555B66"/>
              </a:solidFill>
              <a:latin typeface="Calibri"/>
            </a:endParaRPr>
          </a:p>
        </p:txBody>
      </p:sp>
      <p:sp>
        <p:nvSpPr>
          <p:cNvPr id="117" name="RmBand"/>
          <p:cNvSpPr/>
          <p:nvPr/>
        </p:nvSpPr>
        <p:spPr>
          <a:xfrm>
            <a:off x="251999" y="2788920"/>
            <a:ext cx="11687697" cy="566928"/>
          </a:xfrm>
          <a:prstGeom prst="roundRect">
            <a:avLst>
              <a:gd name="adj" fmla="val 16000"/>
            </a:avLst>
          </a:prstGeom>
          <a:solidFill>
            <a:srgbClr val="FDF6E6"/>
          </a:solidFill>
          <a:ln w="19050">
            <a:solidFill>
              <a:srgbClr val="E09F3E"/>
            </a:solidFill>
          </a:ln>
          <a:effectLst>
            <a:outerShdw blurRad="40000" dist="25400" dir="2700000" rotWithShape="0">
              <a:srgbClr val="000000">
                <a:alpha val="22000"/>
              </a:srgbClr>
            </a:outerShdw>
          </a:effectLst>
        </p:spPr>
        <p:txBody>
          <a:bodyPr wrap="square" lIns="45720" tIns="0" rIns="45720" bIns="0" anchor="ctr"/>
          <a:lstStyle/>
          <a:p>
            <a:pPr algn="ctr"/>
          </a:p>
        </p:txBody>
      </p:sp>
      <p:sp>
        <p:nvSpPr>
          <p:cNvPr id="118" name="RmOval"/>
          <p:cNvSpPr/>
          <p:nvPr/>
        </p:nvSpPr>
        <p:spPr>
          <a:xfrm>
            <a:off x="548640" y="2843784"/>
            <a:ext cx="457200" cy="457200"/>
          </a:xfrm>
          <a:prstGeom prst="ellipse">
            <a:avLst/>
          </a:prstGeom>
          <a:solidFill>
            <a:srgbClr val="0B2B4E"/>
          </a:solidFill>
          <a:ln w="22225">
            <a:solidFill>
              <a:srgbClr val="E09F3E"/>
            </a:solidFill>
          </a:ln>
        </p:spPr>
        <p:txBody>
          <a:bodyPr/>
          <a:lstStyle/>
          <a:p>
            <a:endParaRPr/>
          </a:p>
        </p:txBody>
      </p:sp>
      <p:sp>
        <p:nvSpPr>
          <p:cNvPr id="119" name="RmNum"/>
          <p:cNvSpPr txBox="1"/>
          <p:nvPr/>
        </p:nvSpPr>
        <p:spPr>
          <a:xfrm>
            <a:off x="548640" y="2843784"/>
            <a:ext cx="457200" cy="457200"/>
          </a:xfrm>
          <a:prstGeom prst="rect">
            <a:avLst/>
          </a:prstGeom>
          <a:noFill/>
        </p:spPr>
        <p:txBody>
          <a:bodyPr wrap="square" lIns="0" tIns="0" rIns="0" bIns="0" anchor="ctr"/>
          <a:lstStyle/>
          <a:p>
            <a:pPr algn="ctr"/>
            <a:r>
              <a:rPr lang="en-US" sz="1700" b="1" i="0">
                <a:solidFill>
                  <a:srgbClr val="FFFFFF"/>
                </a:solidFill>
                <a:latin typeface="Calibri"/>
              </a:rPr>
              <a:t>1</a:t>
            </a:r>
          </a:p>
        </p:txBody>
      </p:sp>
      <p:sp>
        <p:nvSpPr>
          <p:cNvPr id="120" name="RmTxt"/>
          <p:cNvSpPr txBox="1"/>
          <p:nvPr/>
        </p:nvSpPr>
        <p:spPr>
          <a:xfrm>
            <a:off x="1225296" y="2788920"/>
            <a:ext cx="10607040" cy="566928"/>
          </a:xfrm>
          <a:prstGeom prst="rect">
            <a:avLst/>
          </a:prstGeom>
          <a:noFill/>
        </p:spPr>
        <p:txBody>
          <a:bodyPr wrap="square" lIns="0" tIns="0" rIns="0" bIns="0" anchor="ctr"/>
          <a:lstStyle/>
          <a:p>
            <a:pPr algn="l"/>
            <a:r>
              <a:rPr lang="en-US" sz="2400" b="1" i="0">
                <a:solidFill>
                  <a:srgbClr val="0B2B4E"/>
                </a:solidFill>
                <a:latin typeface="Calibri"/>
              </a:rPr>
              <a:t>Logistics – the schedule from here</a:t>
            </a:r>
          </a:p>
        </p:txBody>
      </p:sp>
      <p:sp>
        <p:nvSpPr>
          <p:cNvPr id="121" name="RmBand"/>
          <p:cNvSpPr/>
          <p:nvPr/>
        </p:nvSpPr>
        <p:spPr>
          <a:xfrm>
            <a:off x="251999" y="3575304"/>
            <a:ext cx="11687697" cy="566928"/>
          </a:xfrm>
          <a:prstGeom prst="roundRect">
            <a:avLst>
              <a:gd name="adj" fmla="val 16000"/>
            </a:avLst>
          </a:prstGeom>
          <a:solidFill>
            <a:srgbClr val="FDF6E6"/>
          </a:solidFill>
          <a:ln w="19050">
            <a:solidFill>
              <a:srgbClr val="E09F3E"/>
            </a:solidFill>
          </a:ln>
          <a:effectLst>
            <a:outerShdw blurRad="40000" dist="25400" dir="2700000" rotWithShape="0">
              <a:srgbClr val="000000">
                <a:alpha val="22000"/>
              </a:srgbClr>
            </a:outerShdw>
          </a:effectLst>
        </p:spPr>
        <p:txBody>
          <a:bodyPr wrap="square" lIns="45720" tIns="0" rIns="45720" bIns="0" anchor="ctr"/>
          <a:lstStyle/>
          <a:p>
            <a:pPr algn="ctr"/>
          </a:p>
        </p:txBody>
      </p:sp>
      <p:sp>
        <p:nvSpPr>
          <p:cNvPr id="122" name="RmOval"/>
          <p:cNvSpPr/>
          <p:nvPr/>
        </p:nvSpPr>
        <p:spPr>
          <a:xfrm>
            <a:off x="548640" y="3630168"/>
            <a:ext cx="457200" cy="457200"/>
          </a:xfrm>
          <a:prstGeom prst="ellipse">
            <a:avLst/>
          </a:prstGeom>
          <a:solidFill>
            <a:srgbClr val="0B2B4E"/>
          </a:solidFill>
          <a:ln w="22225">
            <a:solidFill>
              <a:srgbClr val="E09F3E"/>
            </a:solidFill>
          </a:ln>
        </p:spPr>
        <p:txBody>
          <a:bodyPr/>
          <a:lstStyle/>
          <a:p>
            <a:endParaRPr/>
          </a:p>
        </p:txBody>
      </p:sp>
      <p:sp>
        <p:nvSpPr>
          <p:cNvPr id="123" name="RmNum"/>
          <p:cNvSpPr txBox="1"/>
          <p:nvPr/>
        </p:nvSpPr>
        <p:spPr>
          <a:xfrm>
            <a:off x="548640" y="3630168"/>
            <a:ext cx="457200" cy="457200"/>
          </a:xfrm>
          <a:prstGeom prst="rect">
            <a:avLst/>
          </a:prstGeom>
          <a:noFill/>
        </p:spPr>
        <p:txBody>
          <a:bodyPr wrap="square" lIns="0" tIns="0" rIns="0" bIns="0" anchor="ctr"/>
          <a:lstStyle/>
          <a:p>
            <a:pPr algn="ctr"/>
            <a:r>
              <a:rPr lang="en-US" sz="1700" b="1" i="0">
                <a:solidFill>
                  <a:srgbClr val="FFFFFF"/>
                </a:solidFill>
                <a:latin typeface="Calibri"/>
              </a:rPr>
              <a:t>2</a:t>
            </a:r>
          </a:p>
        </p:txBody>
      </p:sp>
      <p:sp>
        <p:nvSpPr>
          <p:cNvPr id="124" name="RmTxt"/>
          <p:cNvSpPr txBox="1"/>
          <p:nvPr/>
        </p:nvSpPr>
        <p:spPr>
          <a:xfrm>
            <a:off x="1225296" y="3575304"/>
            <a:ext cx="10607040" cy="566928"/>
          </a:xfrm>
          <a:prstGeom prst="rect">
            <a:avLst/>
          </a:prstGeom>
          <a:noFill/>
        </p:spPr>
        <p:txBody>
          <a:bodyPr wrap="square" lIns="0" tIns="0" rIns="0" bIns="0" anchor="ctr"/>
          <a:lstStyle/>
          <a:p>
            <a:pPr algn="l"/>
            <a:r>
              <a:rPr lang="en-US" sz="2400" b="1" i="0">
                <a:solidFill>
                  <a:srgbClr val="0B2B4E"/>
                </a:solidFill>
                <a:latin typeface="Calibri"/>
              </a:rPr>
              <a:t>Arrival in Milan – a quick poll</a:t>
            </a:r>
          </a:p>
        </p:txBody>
      </p:sp>
      <p:sp>
        <p:nvSpPr>
          <p:cNvPr id="125" name="RmBand"/>
          <p:cNvSpPr/>
          <p:nvPr/>
        </p:nvSpPr>
        <p:spPr>
          <a:xfrm>
            <a:off x="251999" y="4361688"/>
            <a:ext cx="11687697" cy="566928"/>
          </a:xfrm>
          <a:prstGeom prst="roundRect">
            <a:avLst>
              <a:gd name="adj" fmla="val 16000"/>
            </a:avLst>
          </a:prstGeom>
          <a:solidFill>
            <a:srgbClr val="FDF6E6"/>
          </a:solidFill>
          <a:ln w="19050">
            <a:solidFill>
              <a:srgbClr val="E09F3E"/>
            </a:solidFill>
          </a:ln>
          <a:effectLst>
            <a:outerShdw blurRad="40000" dist="25400" dir="2700000" rotWithShape="0">
              <a:srgbClr val="000000">
                <a:alpha val="22000"/>
              </a:srgbClr>
            </a:outerShdw>
          </a:effectLst>
        </p:spPr>
        <p:txBody>
          <a:bodyPr wrap="square" lIns="45720" tIns="0" rIns="45720" bIns="0" anchor="ctr"/>
          <a:lstStyle/>
          <a:p>
            <a:pPr algn="ctr"/>
          </a:p>
        </p:txBody>
      </p:sp>
      <p:sp>
        <p:nvSpPr>
          <p:cNvPr id="126" name="RmOval"/>
          <p:cNvSpPr/>
          <p:nvPr/>
        </p:nvSpPr>
        <p:spPr>
          <a:xfrm>
            <a:off x="548640" y="4416552"/>
            <a:ext cx="457200" cy="457200"/>
          </a:xfrm>
          <a:prstGeom prst="ellipse">
            <a:avLst/>
          </a:prstGeom>
          <a:solidFill>
            <a:srgbClr val="0B2B4E"/>
          </a:solidFill>
          <a:ln w="22225">
            <a:solidFill>
              <a:srgbClr val="E09F3E"/>
            </a:solidFill>
          </a:ln>
        </p:spPr>
        <p:txBody>
          <a:bodyPr/>
          <a:lstStyle/>
          <a:p>
            <a:endParaRPr/>
          </a:p>
        </p:txBody>
      </p:sp>
      <p:sp>
        <p:nvSpPr>
          <p:cNvPr id="127" name="RmNum"/>
          <p:cNvSpPr txBox="1"/>
          <p:nvPr/>
        </p:nvSpPr>
        <p:spPr>
          <a:xfrm>
            <a:off x="548640" y="4416552"/>
            <a:ext cx="457200" cy="457200"/>
          </a:xfrm>
          <a:prstGeom prst="rect">
            <a:avLst/>
          </a:prstGeom>
          <a:noFill/>
        </p:spPr>
        <p:txBody>
          <a:bodyPr wrap="square" lIns="0" tIns="0" rIns="0" bIns="0" anchor="ctr"/>
          <a:lstStyle/>
          <a:p>
            <a:pPr algn="ctr"/>
            <a:r>
              <a:rPr lang="en-US" sz="1700" b="1" i="0">
                <a:solidFill>
                  <a:srgbClr val="FFFFFF"/>
                </a:solidFill>
                <a:latin typeface="Calibri"/>
              </a:rPr>
              <a:t>3</a:t>
            </a:r>
          </a:p>
        </p:txBody>
      </p:sp>
      <p:sp>
        <p:nvSpPr>
          <p:cNvPr id="128" name="RmTxt"/>
          <p:cNvSpPr txBox="1"/>
          <p:nvPr/>
        </p:nvSpPr>
        <p:spPr>
          <a:xfrm>
            <a:off x="1225296" y="4361688"/>
            <a:ext cx="10607040" cy="566928"/>
          </a:xfrm>
          <a:prstGeom prst="rect">
            <a:avLst/>
          </a:prstGeom>
          <a:noFill/>
        </p:spPr>
        <p:txBody>
          <a:bodyPr wrap="square" lIns="0" tIns="0" rIns="0" bIns="0" anchor="ctr"/>
          <a:lstStyle/>
          <a:p>
            <a:pPr algn="l"/>
            <a:r>
              <a:rPr lang="en-US" sz="2400" b="1" i="0">
                <a:solidFill>
                  <a:srgbClr val="0B2B4E"/>
                </a:solidFill>
                <a:latin typeface="Calibri"/>
              </a:rPr>
              <a:t>9 group presentations – in order of group number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9"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2"/>
          <p:cNvSpPr txBox="1"/>
          <p:nvPr/>
        </p:nvSpPr>
        <p:spPr>
          <a:xfrm>
            <a:off x="251999" y="0"/>
            <a:ext cx="10972800" cy="384048"/>
          </a:xfrm>
          <a:prstGeom prst="rect">
            <a:avLst/>
          </a:prstGeom>
          <a:noFill/>
        </p:spPr>
        <p:txBody>
          <a:bodyPr wrap="square" lIns="0" tIns="0" rIns="0" bIns="0" anchor="ctr">
            <a:spAutoFit/>
          </a:bodyPr>
          <a:lstStyle/>
          <a:p>
            <a:pPr algn="l"/>
            <a:r>
              <a:rPr lang="en-US" sz="1600" b="1" i="0">
                <a:solidFill>
                  <a:srgbClr val="FFFFFF"/>
                </a:solidFill>
                <a:latin typeface="Calibri"/>
              </a:rPr>
              <a:t>Italy IBR  ·  Course Logistics</a:t>
            </a:r>
          </a:p>
        </p:txBody>
      </p:sp>
      <p:sp>
        <p:nvSpPr>
          <p:cNvPr id="131" name="TextBox 3"/>
          <p:cNvSpPr txBox="1"/>
          <p:nvPr/>
        </p:nvSpPr>
        <p:spPr>
          <a:xfrm>
            <a:off x="251999" y="566928"/>
            <a:ext cx="11687697" cy="640080"/>
          </a:xfrm>
          <a:prstGeom prst="rect">
            <a:avLst/>
          </a:prstGeom>
          <a:noFill/>
        </p:spPr>
        <p:txBody>
          <a:bodyPr wrap="square" lIns="0" tIns="0" rIns="0" bIns="0">
            <a:spAutoFit/>
          </a:bodyPr>
          <a:lstStyle/>
          <a:p>
            <a:pPr algn="l"/>
            <a:r>
              <a:rPr lang="en-US" sz="3000" b="1" i="0">
                <a:solidFill>
                  <a:srgbClr val="0B2B4E"/>
                </a:solidFill>
                <a:latin typeface="Calibri"/>
              </a:rPr>
              <a:t>Logistics – The Schedule from Here</a:t>
            </a:r>
          </a:p>
        </p:txBody>
      </p:sp>
      <p:sp>
        <p:nvSpPr>
          <p:cNvPr id="132" name="Rectangle 4"/>
          <p:cNvSpPr/>
          <p:nvPr/>
        </p:nvSpPr>
        <p:spPr>
          <a:xfrm>
            <a:off x="251999" y="118872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Rectangle 5"/>
          <p:cNvSpPr/>
          <p:nvPr/>
        </p:nvSpPr>
        <p:spPr>
          <a:xfrm>
            <a:off x="251999" y="117500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9"/>
          <p:cNvSpPr txBox="1"/>
          <p:nvPr/>
        </p:nvSpPr>
        <p:spPr>
          <a:xfrm>
            <a:off x="251999" y="6583680"/>
            <a:ext cx="10058400" cy="292608"/>
          </a:xfrm>
          <a:prstGeom prst="rect">
            <a:avLst/>
          </a:prstGeom>
          <a:noFill/>
        </p:spPr>
        <p:txBody>
          <a:bodyPr wrap="square" lIns="0" tIns="0" rIns="0" bIns="0">
            <a:spAutoFit/>
          </a:bodyPr>
          <a:lstStyle/>
          <a:p>
            <a:pPr algn="l"/>
            <a:r>
              <a:rPr lang="en-US" sz="1200" b="0" i="0">
                <a:solidFill>
                  <a:srgbClr val="555B66"/>
                </a:solidFill>
                <a:latin typeface="Calibri"/>
              </a:rPr>
              <a:t>International Business Residential – Italy</a:t>
            </a:r>
          </a:p>
        </p:txBody>
      </p:sp>
      <p:sp>
        <p:nvSpPr>
          <p:cNvPr id="137" name="TextBox 10"/>
          <p:cNvSpPr txBox="1"/>
          <p:nvPr/>
        </p:nvSpPr>
        <p:spPr>
          <a:xfrm>
            <a:off x="11430000" y="6583680"/>
            <a:ext cx="548640" cy="292608"/>
          </a:xfrm>
          <a:prstGeom prst="rect">
            <a:avLst/>
          </a:prstGeom>
          <a:noFill/>
        </p:spPr>
        <p:txBody>
          <a:bodyPr wrap="square" lIns="0" tIns="0" rIns="0" bIns="0">
            <a:spAutoFit/>
          </a:bodyPr>
          <a:lstStyle/>
          <a:p>
            <a:pPr algn="r"/>
            <a:fld id="{5B7A6A11-0000-4A00-9C00-000000000003}" type="slidenum">
              <a:rPr lang="en-US" sz="1200">
                <a:solidFill>
                  <a:srgbClr val="555B66"/>
                </a:solidFill>
                <a:latin typeface="Calibri"/>
              </a:rPr>
              <a:t>3</a:t>
            </a:fld>
            <a:endParaRPr lang="en-US" sz="1200">
              <a:solidFill>
                <a:srgbClr val="555B66"/>
              </a:solidFill>
              <a:latin typeface="Calibri"/>
            </a:endParaRPr>
          </a:p>
        </p:txBody>
      </p:sp>
      <p:sp>
        <p:nvSpPr>
          <p:cNvPr id="138" name="TextBox 6"/>
          <p:cNvSpPr txBox="1"/>
          <p:nvPr/>
        </p:nvSpPr>
        <p:spPr>
          <a:xfrm>
            <a:off x="251999" y="1600200"/>
            <a:ext cx="11687697" cy="4480560"/>
          </a:xfrm>
          <a:prstGeom prst="rect">
            <a:avLst/>
          </a:prstGeom>
          <a:noFill/>
        </p:spPr>
        <p:txBody>
          <a:bodyPr wrap="square" lIns="0" tIns="0" rIns="0" bIns="0" anchor="ctr"/>
          <a:lstStyle/>
          <a:p>
            <a:pPr marL="342900" indent="-274320" algn="l">
              <a:buClr>
                <a:srgbClr val="0B2B4E"/>
              </a:buClr>
              <a:buFont typeface="Calibri"/>
              <a:buChar char="▪"/>
            </a:pPr>
            <a:r>
              <a:rPr lang="en-US" sz="2800" b="0" i="0">
                <a:solidFill>
                  <a:srgbClr val="0B2B4E"/>
                </a:solidFill>
                <a:latin typeface="Calibri"/>
              </a:rPr>
              <a:t>Class today: discussion of the presentation debates</a:t>
            </a:r>
          </a:p>
          <a:p>
            <a:pPr marL="731520" lvl="1" indent="-274320" algn="l">
              <a:spcBef>
                <a:spcPts val="300"/>
              </a:spcBef>
              <a:buClr>
                <a:srgbClr val="0B2B4E"/>
              </a:buClr>
              <a:buFont typeface="Calibri"/>
              <a:buChar char="–"/>
            </a:pPr>
            <a:r>
              <a:rPr lang="en-US" sz="2400" b="0" i="0">
                <a:solidFill>
                  <a:srgbClr val="0B2B4E"/>
                </a:solidFill>
                <a:latin typeface="Calibri"/>
              </a:rPr>
              <a:t>Present a 2 – 3 min executive summary</a:t>
            </a:r>
          </a:p>
          <a:p>
            <a:pPr marL="731520" lvl="1" indent="-274320" algn="l">
              <a:spcBef>
                <a:spcPts val="300"/>
              </a:spcBef>
              <a:buClr>
                <a:srgbClr val="0B2B4E"/>
              </a:buClr>
              <a:buFont typeface="Calibri"/>
              <a:buChar char="–"/>
            </a:pPr>
            <a:r>
              <a:rPr lang="en-US" sz="2400" b="0" i="0">
                <a:solidFill>
                  <a:srgbClr val="0B2B4E"/>
                </a:solidFill>
                <a:latin typeface="Calibri"/>
              </a:rPr>
              <a:t>Followed by discussion</a:t>
            </a:r>
          </a:p>
          <a:p>
            <a:pPr marL="731520" lvl="1" indent="-274320" algn="l">
              <a:spcBef>
                <a:spcPts val="300"/>
              </a:spcBef>
              <a:buClr>
                <a:srgbClr val="0B2B4E"/>
              </a:buClr>
              <a:buFont typeface="Calibri"/>
              <a:buChar char="–"/>
            </a:pPr>
            <a:r>
              <a:rPr lang="en-US" sz="2400" b="0" i="0">
                <a:solidFill>
                  <a:srgbClr val="0B2B4E"/>
                </a:solidFill>
                <a:latin typeface="Calibri"/>
              </a:rPr>
              <a:t>Max. 20 minutes per topic</a:t>
            </a:r>
          </a:p>
          <a:p>
            <a:pPr marL="342900" indent="-274320" algn="l">
              <a:spcBef>
                <a:spcPts val="1200"/>
              </a:spcBef>
              <a:buClr>
                <a:srgbClr val="0B2B4E"/>
              </a:buClr>
              <a:buFont typeface="Calibri"/>
              <a:buChar char="▪"/>
            </a:pPr>
            <a:r>
              <a:rPr lang="en-US" sz="2800" b="0" i="0">
                <a:solidFill>
                  <a:srgbClr val="0B2B4E"/>
                </a:solidFill>
                <a:latin typeface="Calibri"/>
              </a:rPr>
              <a:t>Trip to Italy: Sep 6 – 11 – Milan &amp; Turin   (</a:t>
            </a:r>
            <a:r>
              <a:rPr lang="en-US" sz="2800" b="0" i="0" u="sng">
                <a:hlinkClick r:id="rId2" action="ppaction://hlinksldjump"/>
              </a:rPr>
              <a:t>Schedule</a:t>
            </a:r>
            <a:r>
              <a:rPr lang="en-US" sz="2800" b="0" i="0">
                <a:solidFill>
                  <a:srgbClr val="0B2B4E"/>
                </a:solidFill>
                <a:latin typeface="Calibri"/>
              </a:rPr>
              <a:t>)</a:t>
            </a:r>
          </a:p>
          <a:p>
            <a:pPr marL="731520" lvl="1" indent="-274320" algn="l">
              <a:spcBef>
                <a:spcPts val="300"/>
              </a:spcBef>
              <a:buClr>
                <a:srgbClr val="0B2B4E"/>
              </a:buClr>
              <a:buFont typeface="Calibri"/>
              <a:buChar char="–"/>
            </a:pPr>
            <a:r>
              <a:rPr lang="en-US" sz="2400" b="0" i="0">
                <a:solidFill>
                  <a:srgbClr val="0B2B4E"/>
                </a:solidFill>
                <a:latin typeface="Calibri"/>
              </a:rPr>
              <a:t>Note: casual dress code</a:t>
            </a:r>
          </a:p>
          <a:p>
            <a:pPr marL="731520" lvl="1" indent="-274320" algn="l">
              <a:spcBef>
                <a:spcPts val="300"/>
              </a:spcBef>
              <a:buClr>
                <a:srgbClr val="0B2B4E"/>
              </a:buClr>
              <a:buFont typeface="Calibri"/>
              <a:buChar char="–"/>
            </a:pPr>
            <a:r>
              <a:rPr lang="en-US" sz="2400" b="0" i="0">
                <a:solidFill>
                  <a:srgbClr val="0B2B4E"/>
                </a:solidFill>
                <a:latin typeface="Calibri"/>
              </a:rPr>
              <a:t>Get melatonin for the jetlag!</a:t>
            </a:r>
          </a:p>
          <a:p>
            <a:pPr marL="342900" indent="-274320" algn="l">
              <a:spcBef>
                <a:spcPts val="1200"/>
              </a:spcBef>
              <a:buClr>
                <a:srgbClr val="0B2B4E"/>
              </a:buClr>
              <a:buFont typeface="Calibri"/>
              <a:buChar char="▪"/>
            </a:pPr>
            <a:r>
              <a:rPr lang="en-US" sz="2800" b="0" i="0">
                <a:solidFill>
                  <a:srgbClr val="0B2B4E"/>
                </a:solidFill>
                <a:latin typeface="Calibri"/>
              </a:rPr>
              <a:t>Class on Oct 4: debrief and discussion of student reports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8">
                                            <p:txEl>
                                              <p:pRg st="4" end="4"/>
                                            </p:txEl>
                                          </p:spTgt>
                                        </p:tgtEl>
                                        <p:attrNameLst>
                                          <p:attrName>style.visibility</p:attrName>
                                        </p:attrNameLst>
                                      </p:cBhvr>
                                      <p:to>
                                        <p:strVal val="visible"/>
                                      </p:to>
                                    </p:set>
                                    <p:animEffect transition="in" filter="fade">
                                      <p:cBhvr>
                                        <p:cTn id="7" dur="500"/>
                                        <p:tgtEl>
                                          <p:spTgt spid="138">
                                            <p:txEl>
                                              <p:pRg st="4" end="4"/>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8">
                                            <p:txEl>
                                              <p:pRg st="5" end="5"/>
                                            </p:txEl>
                                          </p:spTgt>
                                        </p:tgtEl>
                                        <p:attrNameLst>
                                          <p:attrName>style.visibility</p:attrName>
                                        </p:attrNameLst>
                                      </p:cBhvr>
                                      <p:to>
                                        <p:strVal val="visible"/>
                                      </p:to>
                                    </p:set>
                                    <p:animEffect transition="in" filter="fade">
                                      <p:cBhvr>
                                        <p:cTn id="10" dur="500"/>
                                        <p:tgtEl>
                                          <p:spTgt spid="138">
                                            <p:txEl>
                                              <p:pRg st="5" end="5"/>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8">
                                            <p:txEl>
                                              <p:pRg st="6" end="6"/>
                                            </p:txEl>
                                          </p:spTgt>
                                        </p:tgtEl>
                                        <p:attrNameLst>
                                          <p:attrName>style.visibility</p:attrName>
                                        </p:attrNameLst>
                                      </p:cBhvr>
                                      <p:to>
                                        <p:strVal val="visible"/>
                                      </p:to>
                                    </p:set>
                                    <p:animEffect transition="in" filter="fade">
                                      <p:cBhvr>
                                        <p:cTn id="13" dur="500"/>
                                        <p:tgtEl>
                                          <p:spTgt spid="138">
                                            <p:txEl>
                                              <p:pRg st="6" end="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8">
                                            <p:txEl>
                                              <p:pRg st="7" end="7"/>
                                            </p:txEl>
                                          </p:spTgt>
                                        </p:tgtEl>
                                        <p:attrNameLst>
                                          <p:attrName>style.visibility</p:attrName>
                                        </p:attrNameLst>
                                      </p:cBhvr>
                                      <p:to>
                                        <p:strVal val="visible"/>
                                      </p:to>
                                    </p:set>
                                    <p:animEffect transition="in" filter="fade">
                                      <p:cBhvr>
                                        <p:cTn id="18" dur="500"/>
                                        <p:tgtEl>
                                          <p:spTgt spid="13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build="p"/>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9"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2"/>
          <p:cNvSpPr txBox="1"/>
          <p:nvPr/>
        </p:nvSpPr>
        <p:spPr>
          <a:xfrm>
            <a:off x="251999" y="0"/>
            <a:ext cx="10972800" cy="384048"/>
          </a:xfrm>
          <a:prstGeom prst="rect">
            <a:avLst/>
          </a:prstGeom>
          <a:noFill/>
        </p:spPr>
        <p:txBody>
          <a:bodyPr wrap="square" lIns="0" tIns="0" rIns="0" bIns="0" anchor="ctr">
            <a:spAutoFit/>
          </a:bodyPr>
          <a:lstStyle/>
          <a:p>
            <a:pPr algn="l"/>
            <a:r>
              <a:rPr lang="en-US" sz="1600" b="1" i="0">
                <a:solidFill>
                  <a:srgbClr val="FFFFFF"/>
                </a:solidFill>
                <a:latin typeface="Calibri"/>
              </a:rPr>
              <a:t>Italy IBR  ·  Presentations and Debates</a:t>
            </a:r>
          </a:p>
        </p:txBody>
      </p:sp>
      <p:sp>
        <p:nvSpPr>
          <p:cNvPr id="141" name="TextBox 3"/>
          <p:cNvSpPr txBox="1"/>
          <p:nvPr/>
        </p:nvSpPr>
        <p:spPr>
          <a:xfrm>
            <a:off x="251999" y="2743200"/>
            <a:ext cx="11687697" cy="914400"/>
          </a:xfrm>
          <a:prstGeom prst="rect">
            <a:avLst/>
          </a:prstGeom>
          <a:noFill/>
        </p:spPr>
        <p:txBody>
          <a:bodyPr wrap="square" lIns="0" tIns="0" rIns="0" bIns="0">
            <a:spAutoFit/>
          </a:bodyPr>
          <a:lstStyle/>
          <a:p>
            <a:pPr algn="ctr"/>
            <a:r>
              <a:rPr lang="en-US" sz="4400" b="1" i="0">
                <a:solidFill>
                  <a:srgbClr val="0B2B4E"/>
                </a:solidFill>
                <a:latin typeface="Calibri"/>
              </a:rPr>
              <a:t>Presentations and Debates</a:t>
            </a:r>
          </a:p>
        </p:txBody>
      </p:sp>
      <p:sp>
        <p:nvSpPr>
          <p:cNvPr id="142" name="Rectangle 4"/>
          <p:cNvSpPr/>
          <p:nvPr/>
        </p:nvSpPr>
        <p:spPr>
          <a:xfrm>
            <a:off x="4722876" y="3840480"/>
            <a:ext cx="274320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TextBox 9"/>
          <p:cNvSpPr txBox="1"/>
          <p:nvPr/>
        </p:nvSpPr>
        <p:spPr>
          <a:xfrm>
            <a:off x="251999" y="6583680"/>
            <a:ext cx="10058400" cy="292608"/>
          </a:xfrm>
          <a:prstGeom prst="rect">
            <a:avLst/>
          </a:prstGeom>
          <a:noFill/>
        </p:spPr>
        <p:txBody>
          <a:bodyPr wrap="square" lIns="0" tIns="0" rIns="0" bIns="0">
            <a:spAutoFit/>
          </a:bodyPr>
          <a:lstStyle/>
          <a:p>
            <a:pPr algn="l"/>
            <a:r>
              <a:rPr lang="en-US" sz="1200" b="0" i="0">
                <a:solidFill>
                  <a:srgbClr val="555B66"/>
                </a:solidFill>
                <a:latin typeface="Calibri"/>
              </a:rPr>
              <a:t>International Business Residential – Italy</a:t>
            </a:r>
          </a:p>
        </p:txBody>
      </p:sp>
      <p:sp>
        <p:nvSpPr>
          <p:cNvPr id="146" name="TextBox 10"/>
          <p:cNvSpPr txBox="1"/>
          <p:nvPr/>
        </p:nvSpPr>
        <p:spPr>
          <a:xfrm>
            <a:off x="11430000" y="6583680"/>
            <a:ext cx="548640" cy="292608"/>
          </a:xfrm>
          <a:prstGeom prst="rect">
            <a:avLst/>
          </a:prstGeom>
          <a:noFill/>
        </p:spPr>
        <p:txBody>
          <a:bodyPr wrap="square" lIns="0" tIns="0" rIns="0" bIns="0">
            <a:spAutoFit/>
          </a:bodyPr>
          <a:lstStyle/>
          <a:p>
            <a:pPr algn="r"/>
            <a:fld id="{5B7A6A11-0000-4A00-9C00-000000000005}" type="slidenum">
              <a:rPr lang="en-US" sz="1200">
                <a:solidFill>
                  <a:srgbClr val="555B66"/>
                </a:solidFill>
                <a:latin typeface="Calibri"/>
              </a:rPr>
              <a:t>5</a:t>
            </a:fld>
            <a:endParaRPr lang="en-US" sz="1200">
              <a:solidFill>
                <a:srgbClr val="555B66"/>
              </a:solidFill>
              <a:latin typeface="Calibri"/>
            </a:endParaR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7"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TextBox 2"/>
          <p:cNvSpPr txBox="1"/>
          <p:nvPr/>
        </p:nvSpPr>
        <p:spPr>
          <a:xfrm>
            <a:off x="251999" y="0"/>
            <a:ext cx="10972800" cy="384048"/>
          </a:xfrm>
          <a:prstGeom prst="rect">
            <a:avLst/>
          </a:prstGeom>
          <a:noFill/>
        </p:spPr>
        <p:txBody>
          <a:bodyPr wrap="square" lIns="0" tIns="0" rIns="0" bIns="0" anchor="ctr">
            <a:spAutoFit/>
          </a:bodyPr>
          <a:lstStyle/>
          <a:p>
            <a:pPr algn="l"/>
            <a:r>
              <a:rPr lang="en-US" sz="1600" b="1" i="0">
                <a:solidFill>
                  <a:srgbClr val="FFFFFF"/>
                </a:solidFill>
                <a:latin typeface="Calibri"/>
              </a:rPr>
              <a:t>Italy IBR  ·  Presentations and Debates</a:t>
            </a:r>
          </a:p>
        </p:txBody>
      </p:sp>
      <p:sp>
        <p:nvSpPr>
          <p:cNvPr id="149" name="TextBox 3"/>
          <p:cNvSpPr txBox="1"/>
          <p:nvPr/>
        </p:nvSpPr>
        <p:spPr>
          <a:xfrm>
            <a:off x="251999" y="566928"/>
            <a:ext cx="11687697" cy="640080"/>
          </a:xfrm>
          <a:prstGeom prst="rect">
            <a:avLst/>
          </a:prstGeom>
          <a:noFill/>
        </p:spPr>
        <p:txBody>
          <a:bodyPr wrap="square" lIns="0" tIns="0" rIns="0" bIns="0">
            <a:spAutoFit/>
          </a:bodyPr>
          <a:lstStyle/>
          <a:p>
            <a:pPr algn="l"/>
            <a:r>
              <a:rPr lang="en-US" sz="3000" b="1" i="0">
                <a:solidFill>
                  <a:srgbClr val="0B2B4E"/>
                </a:solidFill>
                <a:latin typeface="Calibri"/>
              </a:rPr>
              <a:t>Today’s Line-Up – 9 Presentations</a:t>
            </a:r>
          </a:p>
        </p:txBody>
      </p:sp>
      <p:sp>
        <p:nvSpPr>
          <p:cNvPr id="150" name="Rectangle 4"/>
          <p:cNvSpPr/>
          <p:nvPr/>
        </p:nvSpPr>
        <p:spPr>
          <a:xfrm>
            <a:off x="251999" y="118872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Rectangle 5"/>
          <p:cNvSpPr/>
          <p:nvPr/>
        </p:nvSpPr>
        <p:spPr>
          <a:xfrm>
            <a:off x="251999" y="117500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TextBox 9"/>
          <p:cNvSpPr txBox="1"/>
          <p:nvPr/>
        </p:nvSpPr>
        <p:spPr>
          <a:xfrm>
            <a:off x="251999" y="6583680"/>
            <a:ext cx="10058400" cy="292608"/>
          </a:xfrm>
          <a:prstGeom prst="rect">
            <a:avLst/>
          </a:prstGeom>
          <a:noFill/>
        </p:spPr>
        <p:txBody>
          <a:bodyPr wrap="square" lIns="0" tIns="0" rIns="0" bIns="0">
            <a:spAutoFit/>
          </a:bodyPr>
          <a:lstStyle/>
          <a:p>
            <a:pPr algn="l"/>
            <a:r>
              <a:rPr lang="en-US" sz="1200" b="0" i="0">
                <a:solidFill>
                  <a:srgbClr val="555B66"/>
                </a:solidFill>
                <a:latin typeface="Calibri"/>
              </a:rPr>
              <a:t>International Business Residential – Italy</a:t>
            </a:r>
          </a:p>
        </p:txBody>
      </p:sp>
      <p:sp>
        <p:nvSpPr>
          <p:cNvPr id="155" name="TextBox 10"/>
          <p:cNvSpPr txBox="1"/>
          <p:nvPr/>
        </p:nvSpPr>
        <p:spPr>
          <a:xfrm>
            <a:off x="11430000" y="6583680"/>
            <a:ext cx="548640" cy="292608"/>
          </a:xfrm>
          <a:prstGeom prst="rect">
            <a:avLst/>
          </a:prstGeom>
          <a:noFill/>
        </p:spPr>
        <p:txBody>
          <a:bodyPr wrap="square" lIns="0" tIns="0" rIns="0" bIns="0">
            <a:spAutoFit/>
          </a:bodyPr>
          <a:lstStyle/>
          <a:p>
            <a:pPr algn="r"/>
            <a:fld id="{5B7A6A11-0000-4A00-9C00-000000000006}" type="slidenum">
              <a:rPr lang="en-US" sz="1200">
                <a:solidFill>
                  <a:srgbClr val="555B66"/>
                </a:solidFill>
                <a:latin typeface="Calibri"/>
              </a:rPr>
              <a:t>6</a:t>
            </a:fld>
            <a:endParaRPr lang="en-US" sz="1200">
              <a:solidFill>
                <a:srgbClr val="555B66"/>
              </a:solidFill>
              <a:latin typeface="Calibri"/>
            </a:endParaRPr>
          </a:p>
        </p:txBody>
      </p:sp>
      <p:sp>
        <p:nvSpPr>
          <p:cNvPr id="156" name="LuBand"/>
          <p:cNvSpPr/>
          <p:nvPr/>
        </p:nvSpPr>
        <p:spPr>
          <a:xfrm>
            <a:off x="251999" y="1700784"/>
            <a:ext cx="11687697" cy="530352"/>
          </a:xfrm>
          <a:prstGeom prst="roundRect">
            <a:avLst>
              <a:gd name="adj" fmla="val 16000"/>
            </a:avLst>
          </a:prstGeom>
          <a:solidFill>
            <a:srgbClr val="FDF6E6"/>
          </a:solidFill>
          <a:ln w="19050">
            <a:solidFill>
              <a:srgbClr val="E09F3E"/>
            </a:solidFill>
          </a:ln>
          <a:effectLst>
            <a:outerShdw blurRad="40000" dist="25400" dir="2700000" rotWithShape="0">
              <a:srgbClr val="000000">
                <a:alpha val="22000"/>
              </a:srgbClr>
            </a:outerShdw>
          </a:effectLst>
        </p:spPr>
        <p:txBody>
          <a:bodyPr wrap="square" lIns="45720" tIns="0" rIns="45720" bIns="0" anchor="ctr"/>
          <a:lstStyle/>
          <a:p>
            <a:pPr algn="ctr"/>
          </a:p>
        </p:txBody>
      </p:sp>
      <p:sp>
        <p:nvSpPr>
          <p:cNvPr id="157" name="LuOval"/>
          <p:cNvSpPr/>
          <p:nvPr/>
        </p:nvSpPr>
        <p:spPr>
          <a:xfrm>
            <a:off x="548640" y="1764792"/>
            <a:ext cx="402336" cy="402336"/>
          </a:xfrm>
          <a:prstGeom prst="ellipse">
            <a:avLst/>
          </a:prstGeom>
          <a:solidFill>
            <a:srgbClr val="0B2B4E"/>
          </a:solidFill>
          <a:ln w="22225">
            <a:solidFill>
              <a:srgbClr val="E09F3E"/>
            </a:solidFill>
          </a:ln>
        </p:spPr>
        <p:txBody>
          <a:bodyPr/>
          <a:lstStyle/>
          <a:p>
            <a:endParaRPr/>
          </a:p>
        </p:txBody>
      </p:sp>
      <p:sp>
        <p:nvSpPr>
          <p:cNvPr id="158" name="LuNum"/>
          <p:cNvSpPr txBox="1"/>
          <p:nvPr/>
        </p:nvSpPr>
        <p:spPr>
          <a:xfrm>
            <a:off x="548640" y="1764792"/>
            <a:ext cx="402336" cy="402336"/>
          </a:xfrm>
          <a:prstGeom prst="rect">
            <a:avLst/>
          </a:prstGeom>
          <a:noFill/>
        </p:spPr>
        <p:txBody>
          <a:bodyPr wrap="square" lIns="0" tIns="0" rIns="0" bIns="0" anchor="ctr"/>
          <a:lstStyle/>
          <a:p>
            <a:pPr algn="ctr"/>
            <a:r>
              <a:rPr lang="en-US" sz="1500" b="1" i="0">
                <a:solidFill>
                  <a:srgbClr val="FFFFFF"/>
                </a:solidFill>
                <a:latin typeface="Calibri"/>
              </a:rPr>
              <a:t>1</a:t>
            </a:r>
          </a:p>
        </p:txBody>
      </p:sp>
      <p:sp>
        <p:nvSpPr>
          <p:cNvPr id="159" name="LuTxt"/>
          <p:cNvSpPr txBox="1"/>
          <p:nvPr/>
        </p:nvSpPr>
        <p:spPr>
          <a:xfrm>
            <a:off x="1170432" y="1700784"/>
            <a:ext cx="6949440" cy="530352"/>
          </a:xfrm>
          <a:prstGeom prst="rect">
            <a:avLst/>
          </a:prstGeom>
          <a:noFill/>
        </p:spPr>
        <p:txBody>
          <a:bodyPr wrap="square" lIns="0" tIns="0" rIns="0" bIns="0" anchor="ctr"/>
          <a:lstStyle/>
          <a:p>
            <a:pPr algn="l"/>
            <a:r>
              <a:rPr lang="en-US" sz="2200" b="1" i="0">
                <a:solidFill>
                  <a:srgbClr val="0B2B4E"/>
                </a:solidFill>
                <a:latin typeface="Calibri"/>
              </a:rPr>
              <a:t>Italy and the EU / the Euro</a:t>
            </a:r>
          </a:p>
        </p:txBody>
      </p:sp>
      <p:sp>
        <p:nvSpPr>
          <p:cNvPr id="160" name="LuWho"/>
          <p:cNvSpPr txBox="1"/>
          <p:nvPr/>
        </p:nvSpPr>
        <p:spPr>
          <a:xfrm>
            <a:off x="8183880" y="1700784"/>
            <a:ext cx="3703320" cy="530352"/>
          </a:xfrm>
          <a:prstGeom prst="rect">
            <a:avLst/>
          </a:prstGeom>
          <a:noFill/>
        </p:spPr>
        <p:txBody>
          <a:bodyPr wrap="square" lIns="0" tIns="0" rIns="0" bIns="0" anchor="ctr"/>
          <a:lstStyle/>
          <a:p>
            <a:pPr algn="r"/>
            <a:r>
              <a:rPr lang="en-US" sz="1800" b="1" i="0">
                <a:solidFill>
                  <a:srgbClr val="555B66"/>
                </a:solidFill>
                <a:latin typeface="Calibri"/>
              </a:rPr>
              <a:t>Debate  ·  Groups 1 &amp; 3</a:t>
            </a:r>
          </a:p>
        </p:txBody>
      </p:sp>
      <p:sp>
        <p:nvSpPr>
          <p:cNvPr id="161" name="LuBand"/>
          <p:cNvSpPr/>
          <p:nvPr/>
        </p:nvSpPr>
        <p:spPr>
          <a:xfrm>
            <a:off x="251999" y="2340864"/>
            <a:ext cx="11687697" cy="530352"/>
          </a:xfrm>
          <a:prstGeom prst="roundRect">
            <a:avLst>
              <a:gd name="adj" fmla="val 16000"/>
            </a:avLst>
          </a:prstGeom>
          <a:solidFill>
            <a:srgbClr val="FDF6E6"/>
          </a:solidFill>
          <a:ln w="19050">
            <a:solidFill>
              <a:srgbClr val="E09F3E"/>
            </a:solidFill>
          </a:ln>
          <a:effectLst>
            <a:outerShdw blurRad="40000" dist="25400" dir="2700000" rotWithShape="0">
              <a:srgbClr val="000000">
                <a:alpha val="22000"/>
              </a:srgbClr>
            </a:outerShdw>
          </a:effectLst>
        </p:spPr>
        <p:txBody>
          <a:bodyPr wrap="square" lIns="45720" tIns="0" rIns="45720" bIns="0" anchor="ctr"/>
          <a:lstStyle/>
          <a:p>
            <a:pPr algn="ctr"/>
          </a:p>
        </p:txBody>
      </p:sp>
      <p:sp>
        <p:nvSpPr>
          <p:cNvPr id="162" name="LuOval"/>
          <p:cNvSpPr/>
          <p:nvPr/>
        </p:nvSpPr>
        <p:spPr>
          <a:xfrm>
            <a:off x="548640" y="2404872"/>
            <a:ext cx="402336" cy="402336"/>
          </a:xfrm>
          <a:prstGeom prst="ellipse">
            <a:avLst/>
          </a:prstGeom>
          <a:solidFill>
            <a:srgbClr val="0B2B4E"/>
          </a:solidFill>
          <a:ln w="22225">
            <a:solidFill>
              <a:srgbClr val="E09F3E"/>
            </a:solidFill>
          </a:ln>
        </p:spPr>
        <p:txBody>
          <a:bodyPr/>
          <a:lstStyle/>
          <a:p>
            <a:endParaRPr/>
          </a:p>
        </p:txBody>
      </p:sp>
      <p:sp>
        <p:nvSpPr>
          <p:cNvPr id="163" name="LuNum"/>
          <p:cNvSpPr txBox="1"/>
          <p:nvPr/>
        </p:nvSpPr>
        <p:spPr>
          <a:xfrm>
            <a:off x="548640" y="2404872"/>
            <a:ext cx="402336" cy="402336"/>
          </a:xfrm>
          <a:prstGeom prst="rect">
            <a:avLst/>
          </a:prstGeom>
          <a:noFill/>
        </p:spPr>
        <p:txBody>
          <a:bodyPr wrap="square" lIns="0" tIns="0" rIns="0" bIns="0" anchor="ctr"/>
          <a:lstStyle/>
          <a:p>
            <a:pPr algn="ctr"/>
            <a:r>
              <a:rPr lang="en-US" sz="1500" b="1" i="0">
                <a:solidFill>
                  <a:srgbClr val="FFFFFF"/>
                </a:solidFill>
                <a:latin typeface="Calibri"/>
              </a:rPr>
              <a:t>2</a:t>
            </a:r>
          </a:p>
        </p:txBody>
      </p:sp>
      <p:sp>
        <p:nvSpPr>
          <p:cNvPr id="164" name="LuTxt"/>
          <p:cNvSpPr txBox="1"/>
          <p:nvPr/>
        </p:nvSpPr>
        <p:spPr>
          <a:xfrm>
            <a:off x="1170432" y="2340864"/>
            <a:ext cx="6949440" cy="530352"/>
          </a:xfrm>
          <a:prstGeom prst="rect">
            <a:avLst/>
          </a:prstGeom>
          <a:noFill/>
        </p:spPr>
        <p:txBody>
          <a:bodyPr wrap="square" lIns="0" tIns="0" rIns="0" bIns="0" anchor="ctr"/>
          <a:lstStyle/>
          <a:p>
            <a:pPr algn="l"/>
            <a:r>
              <a:rPr lang="en-US" sz="2200" b="1" i="0">
                <a:solidFill>
                  <a:srgbClr val="0B2B4E"/>
                </a:solidFill>
                <a:latin typeface="Calibri"/>
              </a:rPr>
              <a:t>Kering</a:t>
            </a:r>
          </a:p>
        </p:txBody>
      </p:sp>
      <p:sp>
        <p:nvSpPr>
          <p:cNvPr id="165" name="LuWho"/>
          <p:cNvSpPr txBox="1"/>
          <p:nvPr/>
        </p:nvSpPr>
        <p:spPr>
          <a:xfrm>
            <a:off x="8183880" y="2340864"/>
            <a:ext cx="3703320" cy="530352"/>
          </a:xfrm>
          <a:prstGeom prst="rect">
            <a:avLst/>
          </a:prstGeom>
          <a:noFill/>
        </p:spPr>
        <p:txBody>
          <a:bodyPr wrap="square" lIns="0" tIns="0" rIns="0" bIns="0" anchor="ctr"/>
          <a:lstStyle/>
          <a:p>
            <a:pPr algn="r"/>
            <a:r>
              <a:rPr lang="en-US" sz="1800" b="1" i="0">
                <a:solidFill>
                  <a:srgbClr val="555B66"/>
                </a:solidFill>
                <a:latin typeface="Calibri"/>
              </a:rPr>
              <a:t>Company  ·  Group 2</a:t>
            </a:r>
          </a:p>
        </p:txBody>
      </p:sp>
      <p:sp>
        <p:nvSpPr>
          <p:cNvPr id="166" name="LuBand"/>
          <p:cNvSpPr/>
          <p:nvPr/>
        </p:nvSpPr>
        <p:spPr>
          <a:xfrm>
            <a:off x="251999" y="2980944"/>
            <a:ext cx="11687697" cy="530352"/>
          </a:xfrm>
          <a:prstGeom prst="roundRect">
            <a:avLst>
              <a:gd name="adj" fmla="val 16000"/>
            </a:avLst>
          </a:prstGeom>
          <a:solidFill>
            <a:srgbClr val="FDF6E6"/>
          </a:solidFill>
          <a:ln w="19050">
            <a:solidFill>
              <a:srgbClr val="E09F3E"/>
            </a:solidFill>
          </a:ln>
          <a:effectLst>
            <a:outerShdw blurRad="40000" dist="25400" dir="2700000" rotWithShape="0">
              <a:srgbClr val="000000">
                <a:alpha val="22000"/>
              </a:srgbClr>
            </a:outerShdw>
          </a:effectLst>
        </p:spPr>
        <p:txBody>
          <a:bodyPr wrap="square" lIns="45720" tIns="0" rIns="45720" bIns="0" anchor="ctr"/>
          <a:lstStyle/>
          <a:p>
            <a:pPr algn="ctr"/>
          </a:p>
        </p:txBody>
      </p:sp>
      <p:sp>
        <p:nvSpPr>
          <p:cNvPr id="167" name="LuOval"/>
          <p:cNvSpPr/>
          <p:nvPr/>
        </p:nvSpPr>
        <p:spPr>
          <a:xfrm>
            <a:off x="548640" y="3044952"/>
            <a:ext cx="402336" cy="402336"/>
          </a:xfrm>
          <a:prstGeom prst="ellipse">
            <a:avLst/>
          </a:prstGeom>
          <a:solidFill>
            <a:srgbClr val="0B2B4E"/>
          </a:solidFill>
          <a:ln w="22225">
            <a:solidFill>
              <a:srgbClr val="E09F3E"/>
            </a:solidFill>
          </a:ln>
        </p:spPr>
        <p:txBody>
          <a:bodyPr/>
          <a:lstStyle/>
          <a:p>
            <a:endParaRPr/>
          </a:p>
        </p:txBody>
      </p:sp>
      <p:sp>
        <p:nvSpPr>
          <p:cNvPr id="168" name="LuNum"/>
          <p:cNvSpPr txBox="1"/>
          <p:nvPr/>
        </p:nvSpPr>
        <p:spPr>
          <a:xfrm>
            <a:off x="548640" y="3044952"/>
            <a:ext cx="402336" cy="402336"/>
          </a:xfrm>
          <a:prstGeom prst="rect">
            <a:avLst/>
          </a:prstGeom>
          <a:noFill/>
        </p:spPr>
        <p:txBody>
          <a:bodyPr wrap="square" lIns="0" tIns="0" rIns="0" bIns="0" anchor="ctr"/>
          <a:lstStyle/>
          <a:p>
            <a:pPr algn="ctr"/>
            <a:r>
              <a:rPr lang="en-US" sz="1500" b="1" i="0">
                <a:solidFill>
                  <a:srgbClr val="FFFFFF"/>
                </a:solidFill>
                <a:latin typeface="Calibri"/>
              </a:rPr>
              <a:t>3</a:t>
            </a:r>
          </a:p>
        </p:txBody>
      </p:sp>
      <p:sp>
        <p:nvSpPr>
          <p:cNvPr id="169" name="LuTxt"/>
          <p:cNvSpPr txBox="1"/>
          <p:nvPr/>
        </p:nvSpPr>
        <p:spPr>
          <a:xfrm>
            <a:off x="1170432" y="2980944"/>
            <a:ext cx="6949440" cy="530352"/>
          </a:xfrm>
          <a:prstGeom prst="rect">
            <a:avLst/>
          </a:prstGeom>
          <a:noFill/>
        </p:spPr>
        <p:txBody>
          <a:bodyPr wrap="square" lIns="0" tIns="0" rIns="0" bIns="0" anchor="ctr"/>
          <a:lstStyle/>
          <a:p>
            <a:pPr algn="l"/>
            <a:r>
              <a:rPr lang="en-US" sz="2200" b="1" i="0">
                <a:solidFill>
                  <a:srgbClr val="0B2B4E"/>
                </a:solidFill>
                <a:latin typeface="Calibri"/>
              </a:rPr>
              <a:t>Italy’s Future in Tech and AI</a:t>
            </a:r>
          </a:p>
        </p:txBody>
      </p:sp>
      <p:sp>
        <p:nvSpPr>
          <p:cNvPr id="170" name="LuWho"/>
          <p:cNvSpPr txBox="1"/>
          <p:nvPr/>
        </p:nvSpPr>
        <p:spPr>
          <a:xfrm>
            <a:off x="8183880" y="2980944"/>
            <a:ext cx="3703320" cy="530352"/>
          </a:xfrm>
          <a:prstGeom prst="rect">
            <a:avLst/>
          </a:prstGeom>
          <a:noFill/>
        </p:spPr>
        <p:txBody>
          <a:bodyPr wrap="square" lIns="0" tIns="0" rIns="0" bIns="0" anchor="ctr"/>
          <a:lstStyle/>
          <a:p>
            <a:pPr algn="r"/>
            <a:r>
              <a:rPr lang="en-US" sz="1800" b="1" i="0">
                <a:solidFill>
                  <a:srgbClr val="555B66"/>
                </a:solidFill>
                <a:latin typeface="Calibri"/>
              </a:rPr>
              <a:t>Debate  ·  Groups 4 &amp; 7</a:t>
            </a:r>
          </a:p>
        </p:txBody>
      </p:sp>
      <p:sp>
        <p:nvSpPr>
          <p:cNvPr id="171" name="LuBand"/>
          <p:cNvSpPr/>
          <p:nvPr/>
        </p:nvSpPr>
        <p:spPr>
          <a:xfrm>
            <a:off x="251999" y="3621024"/>
            <a:ext cx="11687697" cy="530352"/>
          </a:xfrm>
          <a:prstGeom prst="roundRect">
            <a:avLst>
              <a:gd name="adj" fmla="val 16000"/>
            </a:avLst>
          </a:prstGeom>
          <a:solidFill>
            <a:srgbClr val="FDF6E6"/>
          </a:solidFill>
          <a:ln w="19050">
            <a:solidFill>
              <a:srgbClr val="E09F3E"/>
            </a:solidFill>
          </a:ln>
          <a:effectLst>
            <a:outerShdw blurRad="40000" dist="25400" dir="2700000" rotWithShape="0">
              <a:srgbClr val="000000">
                <a:alpha val="22000"/>
              </a:srgbClr>
            </a:outerShdw>
          </a:effectLst>
        </p:spPr>
        <p:txBody>
          <a:bodyPr wrap="square" lIns="45720" tIns="0" rIns="45720" bIns="0" anchor="ctr"/>
          <a:lstStyle/>
          <a:p>
            <a:pPr algn="ctr"/>
          </a:p>
        </p:txBody>
      </p:sp>
      <p:sp>
        <p:nvSpPr>
          <p:cNvPr id="172" name="LuOval"/>
          <p:cNvSpPr/>
          <p:nvPr/>
        </p:nvSpPr>
        <p:spPr>
          <a:xfrm>
            <a:off x="548640" y="3685032"/>
            <a:ext cx="402336" cy="402336"/>
          </a:xfrm>
          <a:prstGeom prst="ellipse">
            <a:avLst/>
          </a:prstGeom>
          <a:solidFill>
            <a:srgbClr val="0B2B4E"/>
          </a:solidFill>
          <a:ln w="22225">
            <a:solidFill>
              <a:srgbClr val="E09F3E"/>
            </a:solidFill>
          </a:ln>
        </p:spPr>
        <p:txBody>
          <a:bodyPr/>
          <a:lstStyle/>
          <a:p>
            <a:endParaRPr/>
          </a:p>
        </p:txBody>
      </p:sp>
      <p:sp>
        <p:nvSpPr>
          <p:cNvPr id="173" name="LuNum"/>
          <p:cNvSpPr txBox="1"/>
          <p:nvPr/>
        </p:nvSpPr>
        <p:spPr>
          <a:xfrm>
            <a:off x="548640" y="3685032"/>
            <a:ext cx="402336" cy="402336"/>
          </a:xfrm>
          <a:prstGeom prst="rect">
            <a:avLst/>
          </a:prstGeom>
          <a:noFill/>
        </p:spPr>
        <p:txBody>
          <a:bodyPr wrap="square" lIns="0" tIns="0" rIns="0" bIns="0" anchor="ctr"/>
          <a:lstStyle/>
          <a:p>
            <a:pPr algn="ctr"/>
            <a:r>
              <a:rPr lang="en-US" sz="1500" b="1" i="0">
                <a:solidFill>
                  <a:srgbClr val="FFFFFF"/>
                </a:solidFill>
                <a:latin typeface="Calibri"/>
              </a:rPr>
              <a:t>4</a:t>
            </a:r>
          </a:p>
        </p:txBody>
      </p:sp>
      <p:sp>
        <p:nvSpPr>
          <p:cNvPr id="174" name="LuTxt"/>
          <p:cNvSpPr txBox="1"/>
          <p:nvPr/>
        </p:nvSpPr>
        <p:spPr>
          <a:xfrm>
            <a:off x="1170432" y="3621024"/>
            <a:ext cx="6949440" cy="530352"/>
          </a:xfrm>
          <a:prstGeom prst="rect">
            <a:avLst/>
          </a:prstGeom>
          <a:noFill/>
        </p:spPr>
        <p:txBody>
          <a:bodyPr wrap="square" lIns="0" tIns="0" rIns="0" bIns="0" anchor="ctr"/>
          <a:lstStyle/>
          <a:p>
            <a:pPr algn="l"/>
            <a:r>
              <a:rPr lang="en-US" sz="2200" b="1" i="0">
                <a:solidFill>
                  <a:srgbClr val="0B2B4E"/>
                </a:solidFill>
                <a:latin typeface="Calibri"/>
              </a:rPr>
              <a:t>Prada Group</a:t>
            </a:r>
          </a:p>
        </p:txBody>
      </p:sp>
      <p:sp>
        <p:nvSpPr>
          <p:cNvPr id="175" name="LuWho"/>
          <p:cNvSpPr txBox="1"/>
          <p:nvPr/>
        </p:nvSpPr>
        <p:spPr>
          <a:xfrm>
            <a:off x="8183880" y="3621024"/>
            <a:ext cx="3703320" cy="530352"/>
          </a:xfrm>
          <a:prstGeom prst="rect">
            <a:avLst/>
          </a:prstGeom>
          <a:noFill/>
        </p:spPr>
        <p:txBody>
          <a:bodyPr wrap="square" lIns="0" tIns="0" rIns="0" bIns="0" anchor="ctr"/>
          <a:lstStyle/>
          <a:p>
            <a:pPr algn="r"/>
            <a:r>
              <a:rPr lang="en-US" sz="1800" b="1" i="0">
                <a:solidFill>
                  <a:srgbClr val="555B66"/>
                </a:solidFill>
                <a:latin typeface="Calibri"/>
              </a:rPr>
              <a:t>Company  ·  Group 5</a:t>
            </a:r>
          </a:p>
        </p:txBody>
      </p:sp>
      <p:sp>
        <p:nvSpPr>
          <p:cNvPr id="176" name="LuBand"/>
          <p:cNvSpPr/>
          <p:nvPr/>
        </p:nvSpPr>
        <p:spPr>
          <a:xfrm>
            <a:off x="251999" y="4261104"/>
            <a:ext cx="11687697" cy="530352"/>
          </a:xfrm>
          <a:prstGeom prst="roundRect">
            <a:avLst>
              <a:gd name="adj" fmla="val 16000"/>
            </a:avLst>
          </a:prstGeom>
          <a:solidFill>
            <a:srgbClr val="FDF6E6"/>
          </a:solidFill>
          <a:ln w="19050">
            <a:solidFill>
              <a:srgbClr val="E09F3E"/>
            </a:solidFill>
          </a:ln>
          <a:effectLst>
            <a:outerShdw blurRad="40000" dist="25400" dir="2700000" rotWithShape="0">
              <a:srgbClr val="000000">
                <a:alpha val="22000"/>
              </a:srgbClr>
            </a:outerShdw>
          </a:effectLst>
        </p:spPr>
        <p:txBody>
          <a:bodyPr wrap="square" lIns="45720" tIns="0" rIns="45720" bIns="0" anchor="ctr"/>
          <a:lstStyle/>
          <a:p>
            <a:pPr algn="ctr"/>
          </a:p>
        </p:txBody>
      </p:sp>
      <p:sp>
        <p:nvSpPr>
          <p:cNvPr id="177" name="LuOval"/>
          <p:cNvSpPr/>
          <p:nvPr/>
        </p:nvSpPr>
        <p:spPr>
          <a:xfrm>
            <a:off x="548640" y="4325112"/>
            <a:ext cx="402336" cy="402336"/>
          </a:xfrm>
          <a:prstGeom prst="ellipse">
            <a:avLst/>
          </a:prstGeom>
          <a:solidFill>
            <a:srgbClr val="0B2B4E"/>
          </a:solidFill>
          <a:ln w="22225">
            <a:solidFill>
              <a:srgbClr val="E09F3E"/>
            </a:solidFill>
          </a:ln>
        </p:spPr>
        <p:txBody>
          <a:bodyPr/>
          <a:lstStyle/>
          <a:p>
            <a:endParaRPr/>
          </a:p>
        </p:txBody>
      </p:sp>
      <p:sp>
        <p:nvSpPr>
          <p:cNvPr id="178" name="LuNum"/>
          <p:cNvSpPr txBox="1"/>
          <p:nvPr/>
        </p:nvSpPr>
        <p:spPr>
          <a:xfrm>
            <a:off x="548640" y="4325112"/>
            <a:ext cx="402336" cy="402336"/>
          </a:xfrm>
          <a:prstGeom prst="rect">
            <a:avLst/>
          </a:prstGeom>
          <a:noFill/>
        </p:spPr>
        <p:txBody>
          <a:bodyPr wrap="square" lIns="0" tIns="0" rIns="0" bIns="0" anchor="ctr"/>
          <a:lstStyle/>
          <a:p>
            <a:pPr algn="ctr"/>
            <a:r>
              <a:rPr lang="en-US" sz="1500" b="1" i="0">
                <a:solidFill>
                  <a:srgbClr val="FFFFFF"/>
                </a:solidFill>
                <a:latin typeface="Calibri"/>
              </a:rPr>
              <a:t>5</a:t>
            </a:r>
          </a:p>
        </p:txBody>
      </p:sp>
      <p:sp>
        <p:nvSpPr>
          <p:cNvPr id="179" name="LuTxt"/>
          <p:cNvSpPr txBox="1"/>
          <p:nvPr/>
        </p:nvSpPr>
        <p:spPr>
          <a:xfrm>
            <a:off x="1170432" y="4261104"/>
            <a:ext cx="6949440" cy="530352"/>
          </a:xfrm>
          <a:prstGeom prst="rect">
            <a:avLst/>
          </a:prstGeom>
          <a:noFill/>
        </p:spPr>
        <p:txBody>
          <a:bodyPr wrap="square" lIns="0" tIns="0" rIns="0" bIns="0" anchor="ctr"/>
          <a:lstStyle/>
          <a:p>
            <a:pPr algn="l"/>
            <a:r>
              <a:rPr lang="en-US" sz="2200" b="1" i="0">
                <a:solidFill>
                  <a:srgbClr val="0B2B4E"/>
                </a:solidFill>
                <a:latin typeface="Calibri"/>
              </a:rPr>
              <a:t>Inter Milan FC</a:t>
            </a:r>
          </a:p>
        </p:txBody>
      </p:sp>
      <p:sp>
        <p:nvSpPr>
          <p:cNvPr id="180" name="LuWho"/>
          <p:cNvSpPr txBox="1"/>
          <p:nvPr/>
        </p:nvSpPr>
        <p:spPr>
          <a:xfrm>
            <a:off x="8183880" y="4261104"/>
            <a:ext cx="3703320" cy="530352"/>
          </a:xfrm>
          <a:prstGeom prst="rect">
            <a:avLst/>
          </a:prstGeom>
          <a:noFill/>
        </p:spPr>
        <p:txBody>
          <a:bodyPr wrap="square" lIns="0" tIns="0" rIns="0" bIns="0" anchor="ctr"/>
          <a:lstStyle/>
          <a:p>
            <a:pPr algn="r"/>
            <a:r>
              <a:rPr lang="en-US" sz="1800" b="1" i="0">
                <a:solidFill>
                  <a:srgbClr val="555B66"/>
                </a:solidFill>
                <a:latin typeface="Calibri"/>
              </a:rPr>
              <a:t>Company  ·  Group 6</a:t>
            </a:r>
          </a:p>
        </p:txBody>
      </p:sp>
      <p:sp>
        <p:nvSpPr>
          <p:cNvPr id="181" name="LuBand"/>
          <p:cNvSpPr/>
          <p:nvPr/>
        </p:nvSpPr>
        <p:spPr>
          <a:xfrm>
            <a:off x="251999" y="4901184"/>
            <a:ext cx="11687697" cy="530352"/>
          </a:xfrm>
          <a:prstGeom prst="roundRect">
            <a:avLst>
              <a:gd name="adj" fmla="val 16000"/>
            </a:avLst>
          </a:prstGeom>
          <a:solidFill>
            <a:srgbClr val="FDF6E6"/>
          </a:solidFill>
          <a:ln w="19050">
            <a:solidFill>
              <a:srgbClr val="E09F3E"/>
            </a:solidFill>
          </a:ln>
          <a:effectLst>
            <a:outerShdw blurRad="40000" dist="25400" dir="2700000" rotWithShape="0">
              <a:srgbClr val="000000">
                <a:alpha val="22000"/>
              </a:srgbClr>
            </a:outerShdw>
          </a:effectLst>
        </p:spPr>
        <p:txBody>
          <a:bodyPr wrap="square" lIns="45720" tIns="0" rIns="45720" bIns="0" anchor="ctr"/>
          <a:lstStyle/>
          <a:p>
            <a:pPr algn="ctr"/>
          </a:p>
        </p:txBody>
      </p:sp>
      <p:sp>
        <p:nvSpPr>
          <p:cNvPr id="182" name="LuOval"/>
          <p:cNvSpPr/>
          <p:nvPr/>
        </p:nvSpPr>
        <p:spPr>
          <a:xfrm>
            <a:off x="548640" y="4965192"/>
            <a:ext cx="402336" cy="402336"/>
          </a:xfrm>
          <a:prstGeom prst="ellipse">
            <a:avLst/>
          </a:prstGeom>
          <a:solidFill>
            <a:srgbClr val="0B2B4E"/>
          </a:solidFill>
          <a:ln w="22225">
            <a:solidFill>
              <a:srgbClr val="E09F3E"/>
            </a:solidFill>
          </a:ln>
        </p:spPr>
        <p:txBody>
          <a:bodyPr/>
          <a:lstStyle/>
          <a:p>
            <a:endParaRPr/>
          </a:p>
        </p:txBody>
      </p:sp>
      <p:sp>
        <p:nvSpPr>
          <p:cNvPr id="183" name="LuNum"/>
          <p:cNvSpPr txBox="1"/>
          <p:nvPr/>
        </p:nvSpPr>
        <p:spPr>
          <a:xfrm>
            <a:off x="548640" y="4965192"/>
            <a:ext cx="402336" cy="402336"/>
          </a:xfrm>
          <a:prstGeom prst="rect">
            <a:avLst/>
          </a:prstGeom>
          <a:noFill/>
        </p:spPr>
        <p:txBody>
          <a:bodyPr wrap="square" lIns="0" tIns="0" rIns="0" bIns="0" anchor="ctr"/>
          <a:lstStyle/>
          <a:p>
            <a:pPr algn="ctr"/>
            <a:r>
              <a:rPr lang="en-US" sz="1500" b="1" i="0">
                <a:solidFill>
                  <a:srgbClr val="FFFFFF"/>
                </a:solidFill>
                <a:latin typeface="Calibri"/>
              </a:rPr>
              <a:t>6</a:t>
            </a:r>
          </a:p>
        </p:txBody>
      </p:sp>
      <p:sp>
        <p:nvSpPr>
          <p:cNvPr id="184" name="LuTxt"/>
          <p:cNvSpPr txBox="1"/>
          <p:nvPr/>
        </p:nvSpPr>
        <p:spPr>
          <a:xfrm>
            <a:off x="1170432" y="4901184"/>
            <a:ext cx="6949440" cy="530352"/>
          </a:xfrm>
          <a:prstGeom prst="rect">
            <a:avLst/>
          </a:prstGeom>
          <a:noFill/>
        </p:spPr>
        <p:txBody>
          <a:bodyPr wrap="square" lIns="0" tIns="0" rIns="0" bIns="0" anchor="ctr"/>
          <a:lstStyle/>
          <a:p>
            <a:pPr algn="l"/>
            <a:r>
              <a:rPr lang="en-US" sz="2200" b="1" i="0">
                <a:solidFill>
                  <a:srgbClr val="0B2B4E"/>
                </a:solidFill>
                <a:latin typeface="Calibri"/>
              </a:rPr>
              <a:t>Pirelli</a:t>
            </a:r>
          </a:p>
        </p:txBody>
      </p:sp>
      <p:sp>
        <p:nvSpPr>
          <p:cNvPr id="185" name="LuWho"/>
          <p:cNvSpPr txBox="1"/>
          <p:nvPr/>
        </p:nvSpPr>
        <p:spPr>
          <a:xfrm>
            <a:off x="8183880" y="4901184"/>
            <a:ext cx="3703320" cy="530352"/>
          </a:xfrm>
          <a:prstGeom prst="rect">
            <a:avLst/>
          </a:prstGeom>
          <a:noFill/>
        </p:spPr>
        <p:txBody>
          <a:bodyPr wrap="square" lIns="0" tIns="0" rIns="0" bIns="0" anchor="ctr"/>
          <a:lstStyle/>
          <a:p>
            <a:pPr algn="r"/>
            <a:r>
              <a:rPr lang="en-US" sz="1800" b="1" i="0">
                <a:solidFill>
                  <a:srgbClr val="555B66"/>
                </a:solidFill>
                <a:latin typeface="Calibri"/>
              </a:rPr>
              <a:t>Company  ·  Group 8</a:t>
            </a:r>
          </a:p>
        </p:txBody>
      </p:sp>
      <p:sp>
        <p:nvSpPr>
          <p:cNvPr id="186" name="LuBand"/>
          <p:cNvSpPr/>
          <p:nvPr/>
        </p:nvSpPr>
        <p:spPr>
          <a:xfrm>
            <a:off x="251999" y="5541264"/>
            <a:ext cx="11687697" cy="530352"/>
          </a:xfrm>
          <a:prstGeom prst="roundRect">
            <a:avLst>
              <a:gd name="adj" fmla="val 16000"/>
            </a:avLst>
          </a:prstGeom>
          <a:solidFill>
            <a:srgbClr val="FDF6E6"/>
          </a:solidFill>
          <a:ln w="19050">
            <a:solidFill>
              <a:srgbClr val="E09F3E"/>
            </a:solidFill>
          </a:ln>
          <a:effectLst>
            <a:outerShdw blurRad="40000" dist="25400" dir="2700000" rotWithShape="0">
              <a:srgbClr val="000000">
                <a:alpha val="22000"/>
              </a:srgbClr>
            </a:outerShdw>
          </a:effectLst>
        </p:spPr>
        <p:txBody>
          <a:bodyPr wrap="square" lIns="45720" tIns="0" rIns="45720" bIns="0" anchor="ctr"/>
          <a:lstStyle/>
          <a:p>
            <a:pPr algn="ctr"/>
          </a:p>
        </p:txBody>
      </p:sp>
      <p:sp>
        <p:nvSpPr>
          <p:cNvPr id="187" name="LuOval"/>
          <p:cNvSpPr/>
          <p:nvPr/>
        </p:nvSpPr>
        <p:spPr>
          <a:xfrm>
            <a:off x="548640" y="5605272"/>
            <a:ext cx="402336" cy="402336"/>
          </a:xfrm>
          <a:prstGeom prst="ellipse">
            <a:avLst/>
          </a:prstGeom>
          <a:solidFill>
            <a:srgbClr val="0B2B4E"/>
          </a:solidFill>
          <a:ln w="22225">
            <a:solidFill>
              <a:srgbClr val="E09F3E"/>
            </a:solidFill>
          </a:ln>
        </p:spPr>
        <p:txBody>
          <a:bodyPr/>
          <a:lstStyle/>
          <a:p>
            <a:endParaRPr/>
          </a:p>
        </p:txBody>
      </p:sp>
      <p:sp>
        <p:nvSpPr>
          <p:cNvPr id="188" name="LuNum"/>
          <p:cNvSpPr txBox="1"/>
          <p:nvPr/>
        </p:nvSpPr>
        <p:spPr>
          <a:xfrm>
            <a:off x="548640" y="5605272"/>
            <a:ext cx="402336" cy="402336"/>
          </a:xfrm>
          <a:prstGeom prst="rect">
            <a:avLst/>
          </a:prstGeom>
          <a:noFill/>
        </p:spPr>
        <p:txBody>
          <a:bodyPr wrap="square" lIns="0" tIns="0" rIns="0" bIns="0" anchor="ctr"/>
          <a:lstStyle/>
          <a:p>
            <a:pPr algn="ctr"/>
            <a:r>
              <a:rPr lang="en-US" sz="1500" b="1" i="0">
                <a:solidFill>
                  <a:srgbClr val="FFFFFF"/>
                </a:solidFill>
                <a:latin typeface="Calibri"/>
              </a:rPr>
              <a:t>7</a:t>
            </a:r>
          </a:p>
        </p:txBody>
      </p:sp>
      <p:sp>
        <p:nvSpPr>
          <p:cNvPr id="189" name="LuTxt"/>
          <p:cNvSpPr txBox="1"/>
          <p:nvPr/>
        </p:nvSpPr>
        <p:spPr>
          <a:xfrm>
            <a:off x="1170432" y="5541264"/>
            <a:ext cx="6949440" cy="530352"/>
          </a:xfrm>
          <a:prstGeom prst="rect">
            <a:avLst/>
          </a:prstGeom>
          <a:noFill/>
        </p:spPr>
        <p:txBody>
          <a:bodyPr wrap="square" lIns="0" tIns="0" rIns="0" bIns="0" anchor="ctr"/>
          <a:lstStyle/>
          <a:p>
            <a:pPr algn="l"/>
            <a:r>
              <a:rPr lang="en-US" sz="2200" b="1" i="0">
                <a:solidFill>
                  <a:srgbClr val="0B2B4E"/>
                </a:solidFill>
                <a:latin typeface="Calibri"/>
              </a:rPr>
              <a:t>EssilorLuxottica</a:t>
            </a:r>
          </a:p>
        </p:txBody>
      </p:sp>
      <p:sp>
        <p:nvSpPr>
          <p:cNvPr id="190" name="LuWho"/>
          <p:cNvSpPr txBox="1"/>
          <p:nvPr/>
        </p:nvSpPr>
        <p:spPr>
          <a:xfrm>
            <a:off x="8183880" y="5541264"/>
            <a:ext cx="3703320" cy="530352"/>
          </a:xfrm>
          <a:prstGeom prst="rect">
            <a:avLst/>
          </a:prstGeom>
          <a:noFill/>
        </p:spPr>
        <p:txBody>
          <a:bodyPr wrap="square" lIns="0" tIns="0" rIns="0" bIns="0" anchor="ctr"/>
          <a:lstStyle/>
          <a:p>
            <a:pPr algn="r"/>
            <a:r>
              <a:rPr lang="en-US" sz="1800" b="1" i="0">
                <a:solidFill>
                  <a:srgbClr val="555B66"/>
                </a:solidFill>
                <a:latin typeface="Calibri"/>
              </a:rPr>
              <a:t>Company  ·  Group 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1"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TextBox 2"/>
          <p:cNvSpPr txBox="1"/>
          <p:nvPr/>
        </p:nvSpPr>
        <p:spPr>
          <a:xfrm>
            <a:off x="251999" y="0"/>
            <a:ext cx="10972800" cy="384048"/>
          </a:xfrm>
          <a:prstGeom prst="rect">
            <a:avLst/>
          </a:prstGeom>
          <a:noFill/>
        </p:spPr>
        <p:txBody>
          <a:bodyPr wrap="square" lIns="0" tIns="0" rIns="0" bIns="0" anchor="ctr">
            <a:spAutoFit/>
          </a:bodyPr>
          <a:lstStyle/>
          <a:p>
            <a:pPr algn="l"/>
            <a:r>
              <a:rPr lang="en-US" sz="1600" b="1" i="0">
                <a:solidFill>
                  <a:srgbClr val="FFFFFF"/>
                </a:solidFill>
                <a:latin typeface="Calibri"/>
              </a:rPr>
              <a:t>Italy IBR  ·  Broad-Topic Debates</a:t>
            </a:r>
          </a:p>
        </p:txBody>
      </p:sp>
      <p:sp>
        <p:nvSpPr>
          <p:cNvPr id="193" name="TextBox 3"/>
          <p:cNvSpPr txBox="1"/>
          <p:nvPr/>
        </p:nvSpPr>
        <p:spPr>
          <a:xfrm>
            <a:off x="251999" y="566928"/>
            <a:ext cx="11687697" cy="640080"/>
          </a:xfrm>
          <a:prstGeom prst="rect">
            <a:avLst/>
          </a:prstGeom>
          <a:noFill/>
        </p:spPr>
        <p:txBody>
          <a:bodyPr wrap="square" lIns="0" tIns="0" rIns="0" bIns="0">
            <a:spAutoFit/>
          </a:bodyPr>
          <a:lstStyle/>
          <a:p>
            <a:pPr algn="l"/>
            <a:r>
              <a:rPr lang="en-US" sz="3000" b="1" i="0">
                <a:solidFill>
                  <a:srgbClr val="0B2B4E"/>
                </a:solidFill>
                <a:latin typeface="Calibri"/>
              </a:rPr>
              <a:t>Italy and the EU / the Euro</a:t>
            </a:r>
          </a:p>
        </p:txBody>
      </p:sp>
      <p:sp>
        <p:nvSpPr>
          <p:cNvPr id="194" name="Rectangle 4"/>
          <p:cNvSpPr/>
          <p:nvPr/>
        </p:nvSpPr>
        <p:spPr>
          <a:xfrm>
            <a:off x="251999" y="118872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Rectangle 5"/>
          <p:cNvSpPr/>
          <p:nvPr/>
        </p:nvSpPr>
        <p:spPr>
          <a:xfrm>
            <a:off x="251999" y="117500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TextBox 9"/>
          <p:cNvSpPr txBox="1"/>
          <p:nvPr/>
        </p:nvSpPr>
        <p:spPr>
          <a:xfrm>
            <a:off x="251999" y="6583680"/>
            <a:ext cx="10058400" cy="292608"/>
          </a:xfrm>
          <a:prstGeom prst="rect">
            <a:avLst/>
          </a:prstGeom>
          <a:noFill/>
        </p:spPr>
        <p:txBody>
          <a:bodyPr wrap="square" lIns="0" tIns="0" rIns="0" bIns="0">
            <a:spAutoFit/>
          </a:bodyPr>
          <a:lstStyle/>
          <a:p>
            <a:pPr algn="l"/>
            <a:r>
              <a:rPr lang="en-US" sz="1200" b="0" i="0">
                <a:solidFill>
                  <a:srgbClr val="555B66"/>
                </a:solidFill>
                <a:latin typeface="Calibri"/>
              </a:rPr>
              <a:t>International Business Residential – Italy</a:t>
            </a:r>
          </a:p>
        </p:txBody>
      </p:sp>
      <p:sp>
        <p:nvSpPr>
          <p:cNvPr id="199" name="TextBox 10"/>
          <p:cNvSpPr txBox="1"/>
          <p:nvPr/>
        </p:nvSpPr>
        <p:spPr>
          <a:xfrm>
            <a:off x="11430000" y="6583680"/>
            <a:ext cx="548640" cy="292608"/>
          </a:xfrm>
          <a:prstGeom prst="rect">
            <a:avLst/>
          </a:prstGeom>
          <a:noFill/>
        </p:spPr>
        <p:txBody>
          <a:bodyPr wrap="square" lIns="0" tIns="0" rIns="0" bIns="0">
            <a:spAutoFit/>
          </a:bodyPr>
          <a:lstStyle/>
          <a:p>
            <a:pPr algn="r"/>
            <a:fld id="{5B7A6A11-0000-4A00-9C00-000000000007}" type="slidenum">
              <a:rPr lang="en-US" sz="1200">
                <a:solidFill>
                  <a:srgbClr val="555B66"/>
                </a:solidFill>
                <a:latin typeface="Calibri"/>
              </a:rPr>
              <a:t>7</a:t>
            </a:fld>
            <a:endParaRPr lang="en-US" sz="1200">
              <a:solidFill>
                <a:srgbClr val="555B66"/>
              </a:solidFill>
              <a:latin typeface="Calibri"/>
            </a:endParaRPr>
          </a:p>
        </p:txBody>
      </p:sp>
      <p:sp>
        <p:nvSpPr>
          <p:cNvPr id="200" name="Hdr1"/>
          <p:cNvSpPr/>
          <p:nvPr/>
        </p:nvSpPr>
        <p:spPr>
          <a:xfrm>
            <a:off x="251999" y="1572768"/>
            <a:ext cx="5669280" cy="512064"/>
          </a:xfrm>
          <a:prstGeom prst="roundRect">
            <a:avLst>
              <a:gd name="adj" fmla="val 22000"/>
            </a:avLst>
          </a:prstGeom>
          <a:solidFill>
            <a:srgbClr val="0B2B4E"/>
          </a:solidFill>
          <a:ln>
            <a:noFill/>
          </a:ln>
          <a:effectLst>
            <a:outerShdw blurRad="50800" dist="38100" dir="2700000" rotWithShape="0">
              <a:srgbClr val="000000">
                <a:alpha val="30000"/>
              </a:srgbClr>
            </a:outerShdw>
          </a:effectLst>
        </p:spPr>
        <p:txBody>
          <a:bodyPr wrap="square" lIns="45720" tIns="0" rIns="45720" bIns="0" anchor="ctr"/>
          <a:lstStyle/>
          <a:p>
            <a:pPr algn="ctr"/>
            <a:r>
              <a:rPr lang="en-US" sz="2000" b="1" i="0">
                <a:solidFill>
                  <a:srgbClr val="FFFFFF"/>
                </a:solidFill>
                <a:latin typeface="Calibri"/>
              </a:rPr>
              <a:t>CONTRA  ·  Group 1</a:t>
            </a:r>
          </a:p>
        </p:txBody>
      </p:sp>
      <p:sp>
        <p:nvSpPr>
          <p:cNvPr id="201" name="Card1"/>
          <p:cNvSpPr/>
          <p:nvPr/>
        </p:nvSpPr>
        <p:spPr>
          <a:xfrm>
            <a:off x="251999" y="2194560"/>
            <a:ext cx="5669280" cy="3246120"/>
          </a:xfrm>
          <a:prstGeom prst="roundRect">
            <a:avLst>
              <a:gd name="adj" fmla="val 6000"/>
            </a:avLst>
          </a:prstGeom>
          <a:solidFill>
            <a:srgbClr val="FDF6E6"/>
          </a:solidFill>
          <a:ln w="15875">
            <a:solidFill>
              <a:srgbClr val="E09F3E"/>
            </a:solidFill>
          </a:ln>
          <a:effectLst>
            <a:outerShdw blurRad="50800" dist="38100" dir="2700000" rotWithShape="0">
              <a:srgbClr val="000000">
                <a:alpha val="30000"/>
              </a:srgbClr>
            </a:outerShdw>
          </a:effectLst>
        </p:spPr>
        <p:txBody>
          <a:bodyPr wrap="square" lIns="256032" tIns="0" rIns="256032" bIns="0" anchor="ctr"/>
          <a:lstStyle/>
          <a:p>
            <a:pPr algn="ctr">
              <a:lnSpc>
                <a:spcPct val="95000"/>
              </a:lnSpc>
            </a:pPr>
            <a:r>
              <a:rPr lang="en-US" sz="2600" b="0" i="1">
                <a:solidFill>
                  <a:srgbClr val="0B2B4E"/>
                </a:solidFill>
                <a:latin typeface="Calibri"/>
              </a:rPr>
              <a:t>“Italy would be economically better off outside the EU, without the Euro”</a:t>
            </a:r>
          </a:p>
        </p:txBody>
      </p:sp>
      <p:sp>
        <p:nvSpPr>
          <p:cNvPr id="202" name="Hdr2"/>
          <p:cNvSpPr/>
          <p:nvPr/>
        </p:nvSpPr>
        <p:spPr>
          <a:xfrm>
            <a:off x="6268751" y="1572768"/>
            <a:ext cx="5669280" cy="512064"/>
          </a:xfrm>
          <a:prstGeom prst="roundRect">
            <a:avLst>
              <a:gd name="adj" fmla="val 22000"/>
            </a:avLst>
          </a:prstGeom>
          <a:solidFill>
            <a:srgbClr val="0B2B4E"/>
          </a:solidFill>
          <a:ln>
            <a:noFill/>
          </a:ln>
          <a:effectLst>
            <a:outerShdw blurRad="50800" dist="38100" dir="2700000" rotWithShape="0">
              <a:srgbClr val="000000">
                <a:alpha val="30000"/>
              </a:srgbClr>
            </a:outerShdw>
          </a:effectLst>
        </p:spPr>
        <p:txBody>
          <a:bodyPr wrap="square" lIns="45720" tIns="0" rIns="45720" bIns="0" anchor="ctr"/>
          <a:lstStyle/>
          <a:p>
            <a:pPr algn="ctr"/>
            <a:r>
              <a:rPr lang="en-US" sz="2000" b="1" i="0">
                <a:solidFill>
                  <a:srgbClr val="FFFFFF"/>
                </a:solidFill>
                <a:latin typeface="Calibri"/>
              </a:rPr>
              <a:t>PRO  ·  Group 3</a:t>
            </a:r>
          </a:p>
        </p:txBody>
      </p:sp>
      <p:sp>
        <p:nvSpPr>
          <p:cNvPr id="203" name="Card2"/>
          <p:cNvSpPr/>
          <p:nvPr/>
        </p:nvSpPr>
        <p:spPr>
          <a:xfrm>
            <a:off x="6268751" y="2194560"/>
            <a:ext cx="5669280" cy="3246120"/>
          </a:xfrm>
          <a:prstGeom prst="roundRect">
            <a:avLst>
              <a:gd name="adj" fmla="val 6000"/>
            </a:avLst>
          </a:prstGeom>
          <a:solidFill>
            <a:srgbClr val="FDF6E6"/>
          </a:solidFill>
          <a:ln w="15875">
            <a:solidFill>
              <a:srgbClr val="E09F3E"/>
            </a:solidFill>
          </a:ln>
          <a:effectLst>
            <a:outerShdw blurRad="50800" dist="38100" dir="2700000" rotWithShape="0">
              <a:srgbClr val="000000">
                <a:alpha val="30000"/>
              </a:srgbClr>
            </a:outerShdw>
          </a:effectLst>
        </p:spPr>
        <p:txBody>
          <a:bodyPr wrap="square" lIns="256032" tIns="0" rIns="256032" bIns="0" anchor="ctr"/>
          <a:lstStyle/>
          <a:p>
            <a:pPr algn="ctr">
              <a:lnSpc>
                <a:spcPct val="95000"/>
              </a:lnSpc>
            </a:pPr>
            <a:r>
              <a:rPr lang="en-US" sz="2600" b="0" i="1">
                <a:solidFill>
                  <a:srgbClr val="0B2B4E"/>
                </a:solidFill>
                <a:latin typeface="Calibri"/>
              </a:rPr>
              <a:t>“Being in the EU and using the Euro is good for Italy from an economic standpoint”</a:t>
            </a:r>
          </a:p>
        </p:txBody>
      </p:sp>
      <p:sp>
        <p:nvSpPr>
          <p:cNvPr id="204" name="Takeaway"/>
          <p:cNvSpPr/>
          <p:nvPr/>
        </p:nvSpPr>
        <p:spPr>
          <a:xfrm>
            <a:off x="251999" y="5760720"/>
            <a:ext cx="11687697" cy="475488"/>
          </a:xfrm>
          <a:prstGeom prst="roundRect">
            <a:avLst>
              <a:gd name="adj" fmla="val 18000"/>
            </a:avLst>
          </a:prstGeom>
          <a:solidFill>
            <a:srgbClr val="E09F3E"/>
          </a:solidFill>
          <a:ln>
            <a:noFill/>
          </a:ln>
          <a:effectLst>
            <a:outerShdw blurRad="50800" dist="38100" dir="2700000" rotWithShape="0">
              <a:srgbClr val="000000">
                <a:alpha val="30000"/>
              </a:srgbClr>
            </a:outerShdw>
          </a:effectLst>
        </p:spPr>
        <p:txBody>
          <a:bodyPr wrap="square" lIns="45720" tIns="0" rIns="45720" bIns="0" anchor="ctr"/>
          <a:lstStyle/>
          <a:p>
            <a:pPr algn="ctr"/>
            <a:r>
              <a:rPr lang="en-US" sz="1900" b="1" i="1">
                <a:solidFill>
                  <a:srgbClr val="0B2B4E"/>
                </a:solidFill>
                <a:latin typeface="Calibri"/>
              </a:rPr>
              <a:t>2 – 3 min executive summary from each side, then open debate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0"/>
                                        </p:tgtEl>
                                        <p:attrNameLst>
                                          <p:attrName>style.visibility</p:attrName>
                                        </p:attrNameLst>
                                      </p:cBhvr>
                                      <p:to>
                                        <p:strVal val="visible"/>
                                      </p:to>
                                    </p:set>
                                    <p:animEffect transition="in" filter="fade">
                                      <p:cBhvr>
                                        <p:cTn id="7" dur="500"/>
                                        <p:tgtEl>
                                          <p:spTgt spid="20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1"/>
                                        </p:tgtEl>
                                        <p:attrNameLst>
                                          <p:attrName>style.visibility</p:attrName>
                                        </p:attrNameLst>
                                      </p:cBhvr>
                                      <p:to>
                                        <p:strVal val="visible"/>
                                      </p:to>
                                    </p:set>
                                    <p:animEffect transition="in" filter="fade">
                                      <p:cBhvr>
                                        <p:cTn id="10" dur="500"/>
                                        <p:tgtEl>
                                          <p:spTgt spid="20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02"/>
                                        </p:tgtEl>
                                        <p:attrNameLst>
                                          <p:attrName>style.visibility</p:attrName>
                                        </p:attrNameLst>
                                      </p:cBhvr>
                                      <p:to>
                                        <p:strVal val="visible"/>
                                      </p:to>
                                    </p:set>
                                    <p:animEffect transition="in" filter="fade">
                                      <p:cBhvr>
                                        <p:cTn id="15" dur="500"/>
                                        <p:tgtEl>
                                          <p:spTgt spid="20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03"/>
                                        </p:tgtEl>
                                        <p:attrNameLst>
                                          <p:attrName>style.visibility</p:attrName>
                                        </p:attrNameLst>
                                      </p:cBhvr>
                                      <p:to>
                                        <p:strVal val="visible"/>
                                      </p:to>
                                    </p:set>
                                    <p:animEffect transition="in" filter="fade">
                                      <p:cBhvr>
                                        <p:cTn id="18" dur="500"/>
                                        <p:tgtEl>
                                          <p:spTgt spid="20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04"/>
                                        </p:tgtEl>
                                        <p:attrNameLst>
                                          <p:attrName>style.visibility</p:attrName>
                                        </p:attrNameLst>
                                      </p:cBhvr>
                                      <p:to>
                                        <p:strVal val="visible"/>
                                      </p:to>
                                    </p:set>
                                    <p:animEffect transition="in" filter="fade">
                                      <p:cBhvr>
                                        <p:cTn id="23" dur="500"/>
                                        <p:tgtEl>
                                          <p:spTgt spid="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5"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TextBox 2"/>
          <p:cNvSpPr txBox="1"/>
          <p:nvPr/>
        </p:nvSpPr>
        <p:spPr>
          <a:xfrm>
            <a:off x="251999" y="0"/>
            <a:ext cx="10972800" cy="384048"/>
          </a:xfrm>
          <a:prstGeom prst="rect">
            <a:avLst/>
          </a:prstGeom>
          <a:noFill/>
        </p:spPr>
        <p:txBody>
          <a:bodyPr wrap="square" lIns="0" tIns="0" rIns="0" bIns="0" anchor="ctr">
            <a:spAutoFit/>
          </a:bodyPr>
          <a:lstStyle/>
          <a:p>
            <a:pPr algn="l"/>
            <a:r>
              <a:rPr lang="en-US" sz="1600" b="1" i="0">
                <a:solidFill>
                  <a:srgbClr val="FFFFFF"/>
                </a:solidFill>
                <a:latin typeface="Calibri"/>
              </a:rPr>
              <a:t>Italy IBR  ·  Company Presentations</a:t>
            </a:r>
          </a:p>
        </p:txBody>
      </p:sp>
      <p:sp>
        <p:nvSpPr>
          <p:cNvPr id="207" name="TextBox 3"/>
          <p:cNvSpPr txBox="1"/>
          <p:nvPr/>
        </p:nvSpPr>
        <p:spPr>
          <a:xfrm>
            <a:off x="251999" y="566928"/>
            <a:ext cx="11687697" cy="640080"/>
          </a:xfrm>
          <a:prstGeom prst="rect">
            <a:avLst/>
          </a:prstGeom>
          <a:noFill/>
        </p:spPr>
        <p:txBody>
          <a:bodyPr wrap="square" lIns="0" tIns="0" rIns="0" bIns="0">
            <a:spAutoFit/>
          </a:bodyPr>
          <a:lstStyle/>
          <a:p>
            <a:pPr algn="l"/>
            <a:r>
              <a:rPr lang="en-US" sz="3000" b="1" i="0">
                <a:solidFill>
                  <a:srgbClr val="0B2B4E"/>
                </a:solidFill>
                <a:latin typeface="Calibri"/>
              </a:rPr>
              <a:t>Kering – A Portfolio of Iconic Luxury Houses</a:t>
            </a:r>
          </a:p>
        </p:txBody>
      </p:sp>
      <p:sp>
        <p:nvSpPr>
          <p:cNvPr id="208" name="Rectangle 4"/>
          <p:cNvSpPr/>
          <p:nvPr/>
        </p:nvSpPr>
        <p:spPr>
          <a:xfrm>
            <a:off x="251999" y="118872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Rectangle 5"/>
          <p:cNvSpPr/>
          <p:nvPr/>
        </p:nvSpPr>
        <p:spPr>
          <a:xfrm>
            <a:off x="251999" y="117500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TextBox 9"/>
          <p:cNvSpPr txBox="1"/>
          <p:nvPr/>
        </p:nvSpPr>
        <p:spPr>
          <a:xfrm>
            <a:off x="251999" y="6583680"/>
            <a:ext cx="10058400" cy="292608"/>
          </a:xfrm>
          <a:prstGeom prst="rect">
            <a:avLst/>
          </a:prstGeom>
          <a:noFill/>
        </p:spPr>
        <p:txBody>
          <a:bodyPr wrap="square" lIns="0" tIns="0" rIns="0" bIns="0">
            <a:spAutoFit/>
          </a:bodyPr>
          <a:lstStyle/>
          <a:p>
            <a:pPr algn="l"/>
            <a:r>
              <a:rPr lang="en-US" sz="1200" b="0" i="0">
                <a:solidFill>
                  <a:srgbClr val="555B66"/>
                </a:solidFill>
                <a:latin typeface="Calibri"/>
              </a:rPr>
              <a:t>International Business Residential – Italy</a:t>
            </a:r>
          </a:p>
        </p:txBody>
      </p:sp>
      <p:sp>
        <p:nvSpPr>
          <p:cNvPr id="213" name="TextBox 10"/>
          <p:cNvSpPr txBox="1"/>
          <p:nvPr/>
        </p:nvSpPr>
        <p:spPr>
          <a:xfrm>
            <a:off x="11430000" y="6583680"/>
            <a:ext cx="548640" cy="292608"/>
          </a:xfrm>
          <a:prstGeom prst="rect">
            <a:avLst/>
          </a:prstGeom>
          <a:noFill/>
        </p:spPr>
        <p:txBody>
          <a:bodyPr wrap="square" lIns="0" tIns="0" rIns="0" bIns="0">
            <a:spAutoFit/>
          </a:bodyPr>
          <a:lstStyle/>
          <a:p>
            <a:pPr algn="r"/>
            <a:fld id="{5B7A6A11-0000-4A00-9C00-000000000008}" type="slidenum">
              <a:rPr lang="en-US" sz="1200">
                <a:solidFill>
                  <a:srgbClr val="555B66"/>
                </a:solidFill>
                <a:latin typeface="Calibri"/>
              </a:rPr>
              <a:t>8</a:t>
            </a:fld>
            <a:endParaRPr lang="en-US" sz="1200">
              <a:solidFill>
                <a:srgbClr val="555B66"/>
              </a:solidFill>
              <a:latin typeface="Calibri"/>
            </a:endParaRPr>
          </a:p>
        </p:txBody>
      </p:sp>
      <p:pic>
        <p:nvPicPr>
          <p:cNvPr id="214" name="Picture 213" descr="_logo_kering.png"/>
          <p:cNvPicPr>
            <a:picLocks noChangeAspect="1"/>
          </p:cNvPicPr>
          <p:nvPr/>
        </p:nvPicPr>
        <p:blipFill>
          <a:blip r:embed="rId2"/>
          <a:stretch>
            <a:fillRect/>
          </a:stretch>
        </p:blipFill>
        <p:spPr>
          <a:xfrm>
            <a:off x="695648" y="1897380"/>
            <a:ext cx="4186545" cy="1417320"/>
          </a:xfrm>
          <a:prstGeom prst="rect">
            <a:avLst/>
          </a:prstGeom>
        </p:spPr>
      </p:pic>
      <p:sp>
        <p:nvSpPr>
          <p:cNvPr id="214" name="Sector"/>
          <p:cNvSpPr txBox="1"/>
          <p:nvPr/>
        </p:nvSpPr>
        <p:spPr>
          <a:xfrm>
            <a:off x="685800" y="3822192"/>
            <a:ext cx="4206240" cy="365760"/>
          </a:xfrm>
          <a:prstGeom prst="rect">
            <a:avLst/>
          </a:prstGeom>
          <a:noFill/>
        </p:spPr>
        <p:txBody>
          <a:bodyPr wrap="square" lIns="0" tIns="0" rIns="0" bIns="0">
            <a:spAutoFit/>
          </a:bodyPr>
          <a:lstStyle/>
          <a:p>
            <a:pPr algn="ctr"/>
            <a:r>
              <a:rPr lang="en-US" sz="2000" b="1" i="0">
                <a:solidFill>
                  <a:srgbClr val="0B2B4E"/>
                </a:solidFill>
                <a:latin typeface="Calibri"/>
              </a:rPr>
              <a:t>Luxury Group</a:t>
            </a:r>
          </a:p>
        </p:txBody>
      </p:sp>
      <p:sp>
        <p:nvSpPr>
          <p:cNvPr id="215" name="GroupPill"/>
          <p:cNvSpPr/>
          <p:nvPr/>
        </p:nvSpPr>
        <p:spPr>
          <a:xfrm>
            <a:off x="1828800" y="4389120"/>
            <a:ext cx="1920240" cy="475488"/>
          </a:xfrm>
          <a:prstGeom prst="roundRect">
            <a:avLst>
              <a:gd name="adj" fmla="val 30000"/>
            </a:avLst>
          </a:prstGeom>
          <a:solidFill>
            <a:srgbClr val="0B2B4E"/>
          </a:solidFill>
          <a:ln>
            <a:noFill/>
          </a:ln>
          <a:effectLst>
            <a:outerShdw blurRad="50800" dist="38100" dir="2700000" rotWithShape="0">
              <a:srgbClr val="000000">
                <a:alpha val="30000"/>
              </a:srgbClr>
            </a:outerShdw>
          </a:effectLst>
        </p:spPr>
        <p:txBody>
          <a:bodyPr wrap="none" lIns="0" tIns="0" rIns="0" bIns="0" anchor="ctr"/>
          <a:lstStyle/>
          <a:p>
            <a:pPr algn="ctr"/>
            <a:r>
              <a:rPr lang="en-US" sz="1800" b="1" i="0">
                <a:solidFill>
                  <a:srgbClr val="FFFFFF"/>
                </a:solidFill>
                <a:latin typeface="Calibri"/>
              </a:rPr>
              <a:t>Group 2</a:t>
            </a:r>
          </a:p>
        </p:txBody>
      </p:sp>
      <p:sp>
        <p:nvSpPr>
          <p:cNvPr id="216" name="BriefCard"/>
          <p:cNvSpPr/>
          <p:nvPr/>
        </p:nvSpPr>
        <p:spPr>
          <a:xfrm>
            <a:off x="5394960" y="1572768"/>
            <a:ext cx="6537960" cy="1737360"/>
          </a:xfrm>
          <a:prstGeom prst="roundRect">
            <a:avLst>
              <a:gd name="adj" fmla="val 8000"/>
            </a:avLst>
          </a:prstGeom>
          <a:solidFill>
            <a:srgbClr val="FDF6E6"/>
          </a:solidFill>
          <a:ln w="12700">
            <a:solidFill>
              <a:srgbClr val="0B2B4E"/>
            </a:solidFill>
          </a:ln>
          <a:effectLst>
            <a:outerShdw blurRad="50800" dist="38100" dir="2700000" rotWithShape="0">
              <a:srgbClr val="000000">
                <a:alpha val="30000"/>
              </a:srgbClr>
            </a:outerShdw>
          </a:effectLst>
        </p:spPr>
        <p:txBody>
          <a:bodyPr wrap="square" lIns="237744" tIns="0" rIns="237744" bIns="0" anchor="t"/>
          <a:lstStyle/>
          <a:p>
            <a:pPr algn="l">
              <a:spcBef>
                <a:spcPts val="1400"/>
              </a:spcBef>
            </a:pPr>
            <a:r>
              <a:rPr lang="en-US" sz="2000" b="1" i="0">
                <a:solidFill>
                  <a:srgbClr val="0B2B4E"/>
                </a:solidFill>
                <a:latin typeface="Calibri"/>
              </a:rPr>
              <a:t>Your brief</a:t>
            </a:r>
          </a:p>
          <a:p>
            <a:pPr marL="342900" indent="-274320" algn="l">
              <a:spcBef>
                <a:spcPts val="700"/>
              </a:spcBef>
              <a:buClr>
                <a:srgbClr val="0B2B4E"/>
              </a:buClr>
              <a:buFont typeface="Calibri"/>
              <a:buChar char="▪"/>
            </a:pPr>
            <a:r>
              <a:rPr lang="en-US" sz="2000" b="0" i="0">
                <a:solidFill>
                  <a:srgbClr val="0B2B4E"/>
                </a:solidFill>
                <a:latin typeface="Calibri"/>
              </a:rPr>
              <a:t>Introduce the company</a:t>
            </a:r>
          </a:p>
          <a:p>
            <a:pPr marL="342900" indent="-274320" algn="l">
              <a:spcBef>
                <a:spcPts val="400"/>
              </a:spcBef>
              <a:buClr>
                <a:srgbClr val="0B2B4E"/>
              </a:buClr>
              <a:buFont typeface="Calibri"/>
              <a:buChar char="▪"/>
            </a:pPr>
            <a:r>
              <a:rPr lang="en-US" sz="2000" b="0" i="0">
                <a:solidFill>
                  <a:srgbClr val="0B2B4E"/>
                </a:solidFill>
                <a:latin typeface="Calibri"/>
              </a:rPr>
              <a:t>Then argue why (not) to invest in it</a:t>
            </a:r>
          </a:p>
        </p:txBody>
      </p:sp>
      <p:sp>
        <p:nvSpPr>
          <p:cNvPr id="217" name="VisitCard"/>
          <p:cNvSpPr/>
          <p:nvPr/>
        </p:nvSpPr>
        <p:spPr>
          <a:xfrm>
            <a:off x="5394960" y="3529584"/>
            <a:ext cx="6537960" cy="2148840"/>
          </a:xfrm>
          <a:prstGeom prst="roundRect">
            <a:avLst>
              <a:gd name="adj" fmla="val 8000"/>
            </a:avLst>
          </a:prstGeom>
          <a:solidFill>
            <a:srgbClr val="FDF6E6"/>
          </a:solidFill>
          <a:ln w="12700">
            <a:solidFill>
              <a:srgbClr val="0B2B4E"/>
            </a:solidFill>
          </a:ln>
          <a:effectLst>
            <a:outerShdw blurRad="50800" dist="38100" dir="2700000" rotWithShape="0">
              <a:srgbClr val="000000">
                <a:alpha val="30000"/>
              </a:srgbClr>
            </a:outerShdw>
          </a:effectLst>
        </p:spPr>
        <p:txBody>
          <a:bodyPr wrap="square" lIns="237744" tIns="0" rIns="237744" bIns="0" anchor="t"/>
          <a:lstStyle/>
          <a:p>
            <a:pPr algn="l">
              <a:spcBef>
                <a:spcPts val="1400"/>
              </a:spcBef>
            </a:pPr>
            <a:r>
              <a:rPr lang="en-US" sz="2000" b="1" i="0">
                <a:solidFill>
                  <a:srgbClr val="0B2B4E"/>
                </a:solidFill>
                <a:latin typeface="Calibri"/>
              </a:rPr>
              <a:t>We visit them on the trip</a:t>
            </a:r>
          </a:p>
          <a:p>
            <a:pPr algn="l">
              <a:spcBef>
                <a:spcPts val="700"/>
              </a:spcBef>
            </a:pPr>
            <a:r>
              <a:rPr lang="en-US" sz="2000" b="1" i="0">
                <a:solidFill>
                  <a:srgbClr val="E09F3E"/>
                </a:solidFill>
                <a:latin typeface="Calibri"/>
              </a:rPr>
              <a:t>Wednesday 9 Sep  ·  09.00 – 10.30</a:t>
            </a:r>
          </a:p>
          <a:p>
            <a:pPr algn="l">
              <a:lnSpc>
                <a:spcPct val="95000"/>
              </a:lnSpc>
              <a:spcBef>
                <a:spcPts val="600"/>
              </a:spcBef>
            </a:pPr>
            <a:r>
              <a:rPr lang="en-US" sz="1800" b="0" i="1">
                <a:solidFill>
                  <a:srgbClr val="0B2B4E"/>
                </a:solidFill>
                <a:latin typeface="Calibri"/>
              </a:rPr>
              <a:t>A session with a senior leader at one of the world’s most powerful luxury conglomerates, exploring how Kering builds and manages a portfolio of iconic houses.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6"/>
                                        </p:tgtEl>
                                        <p:attrNameLst>
                                          <p:attrName>style.visibility</p:attrName>
                                        </p:attrNameLst>
                                      </p:cBhvr>
                                      <p:to>
                                        <p:strVal val="visible"/>
                                      </p:to>
                                    </p:set>
                                    <p:animEffect transition="in" filter="fade">
                                      <p:cBhvr>
                                        <p:cTn id="7" dur="500"/>
                                        <p:tgtEl>
                                          <p:spTgt spid="2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7"/>
                                        </p:tgtEl>
                                        <p:attrNameLst>
                                          <p:attrName>style.visibility</p:attrName>
                                        </p:attrNameLst>
                                      </p:cBhvr>
                                      <p:to>
                                        <p:strVal val="visible"/>
                                      </p:to>
                                    </p:set>
                                    <p:animEffect transition="in" filter="fade">
                                      <p:cBhvr>
                                        <p:cTn id="12" dur="500"/>
                                        <p:tgtEl>
                                          <p:spTgt spid="2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8"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TextBox 2"/>
          <p:cNvSpPr txBox="1"/>
          <p:nvPr/>
        </p:nvSpPr>
        <p:spPr>
          <a:xfrm>
            <a:off x="251999" y="0"/>
            <a:ext cx="10972800" cy="384048"/>
          </a:xfrm>
          <a:prstGeom prst="rect">
            <a:avLst/>
          </a:prstGeom>
          <a:noFill/>
        </p:spPr>
        <p:txBody>
          <a:bodyPr wrap="square" lIns="0" tIns="0" rIns="0" bIns="0" anchor="ctr">
            <a:spAutoFit/>
          </a:bodyPr>
          <a:lstStyle/>
          <a:p>
            <a:pPr algn="l"/>
            <a:r>
              <a:rPr lang="en-US" sz="1600" b="1" i="0">
                <a:solidFill>
                  <a:srgbClr val="FFFFFF"/>
                </a:solidFill>
                <a:latin typeface="Calibri"/>
              </a:rPr>
              <a:t>Italy IBR  ·  Broad-Topic Debates</a:t>
            </a:r>
          </a:p>
        </p:txBody>
      </p:sp>
      <p:sp>
        <p:nvSpPr>
          <p:cNvPr id="220" name="TextBox 3"/>
          <p:cNvSpPr txBox="1"/>
          <p:nvPr/>
        </p:nvSpPr>
        <p:spPr>
          <a:xfrm>
            <a:off x="251999" y="566928"/>
            <a:ext cx="11687697" cy="640080"/>
          </a:xfrm>
          <a:prstGeom prst="rect">
            <a:avLst/>
          </a:prstGeom>
          <a:noFill/>
        </p:spPr>
        <p:txBody>
          <a:bodyPr wrap="square" lIns="0" tIns="0" rIns="0" bIns="0">
            <a:spAutoFit/>
          </a:bodyPr>
          <a:lstStyle/>
          <a:p>
            <a:pPr algn="l"/>
            <a:r>
              <a:rPr lang="en-US" sz="3000" b="1" i="0">
                <a:solidFill>
                  <a:srgbClr val="0B2B4E"/>
                </a:solidFill>
                <a:latin typeface="Calibri"/>
              </a:rPr>
              <a:t>Italy’s Future in Tech and AI</a:t>
            </a:r>
          </a:p>
        </p:txBody>
      </p:sp>
      <p:sp>
        <p:nvSpPr>
          <p:cNvPr id="221" name="Rectangle 4"/>
          <p:cNvSpPr/>
          <p:nvPr/>
        </p:nvSpPr>
        <p:spPr>
          <a:xfrm>
            <a:off x="251999" y="118872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Rectangle 5"/>
          <p:cNvSpPr/>
          <p:nvPr/>
        </p:nvSpPr>
        <p:spPr>
          <a:xfrm>
            <a:off x="251999" y="117500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 name="TextBox 9"/>
          <p:cNvSpPr txBox="1"/>
          <p:nvPr/>
        </p:nvSpPr>
        <p:spPr>
          <a:xfrm>
            <a:off x="251999" y="6583680"/>
            <a:ext cx="10058400" cy="292608"/>
          </a:xfrm>
          <a:prstGeom prst="rect">
            <a:avLst/>
          </a:prstGeom>
          <a:noFill/>
        </p:spPr>
        <p:txBody>
          <a:bodyPr wrap="square" lIns="0" tIns="0" rIns="0" bIns="0">
            <a:spAutoFit/>
          </a:bodyPr>
          <a:lstStyle/>
          <a:p>
            <a:pPr algn="l"/>
            <a:r>
              <a:rPr lang="en-US" sz="1200" b="0" i="0">
                <a:solidFill>
                  <a:srgbClr val="555B66"/>
                </a:solidFill>
                <a:latin typeface="Calibri"/>
              </a:rPr>
              <a:t>International Business Residential – Italy</a:t>
            </a:r>
          </a:p>
        </p:txBody>
      </p:sp>
      <p:sp>
        <p:nvSpPr>
          <p:cNvPr id="226" name="TextBox 10"/>
          <p:cNvSpPr txBox="1"/>
          <p:nvPr/>
        </p:nvSpPr>
        <p:spPr>
          <a:xfrm>
            <a:off x="11430000" y="6583680"/>
            <a:ext cx="548640" cy="292608"/>
          </a:xfrm>
          <a:prstGeom prst="rect">
            <a:avLst/>
          </a:prstGeom>
          <a:noFill/>
        </p:spPr>
        <p:txBody>
          <a:bodyPr wrap="square" lIns="0" tIns="0" rIns="0" bIns="0">
            <a:spAutoFit/>
          </a:bodyPr>
          <a:lstStyle/>
          <a:p>
            <a:pPr algn="r"/>
            <a:fld id="{5B7A6A11-0000-4A00-9C00-000000000009}" type="slidenum">
              <a:rPr lang="en-US" sz="1200">
                <a:solidFill>
                  <a:srgbClr val="555B66"/>
                </a:solidFill>
                <a:latin typeface="Calibri"/>
              </a:rPr>
              <a:t>9</a:t>
            </a:fld>
            <a:endParaRPr lang="en-US" sz="1200">
              <a:solidFill>
                <a:srgbClr val="555B66"/>
              </a:solidFill>
              <a:latin typeface="Calibri"/>
            </a:endParaRPr>
          </a:p>
        </p:txBody>
      </p:sp>
      <p:sp>
        <p:nvSpPr>
          <p:cNvPr id="227" name="Hdr1"/>
          <p:cNvSpPr/>
          <p:nvPr/>
        </p:nvSpPr>
        <p:spPr>
          <a:xfrm>
            <a:off x="251999" y="1572768"/>
            <a:ext cx="5669280" cy="512064"/>
          </a:xfrm>
          <a:prstGeom prst="roundRect">
            <a:avLst>
              <a:gd name="adj" fmla="val 22000"/>
            </a:avLst>
          </a:prstGeom>
          <a:solidFill>
            <a:srgbClr val="0B2B4E"/>
          </a:solidFill>
          <a:ln>
            <a:noFill/>
          </a:ln>
          <a:effectLst>
            <a:outerShdw blurRad="50800" dist="38100" dir="2700000" rotWithShape="0">
              <a:srgbClr val="000000">
                <a:alpha val="30000"/>
              </a:srgbClr>
            </a:outerShdw>
          </a:effectLst>
        </p:spPr>
        <p:txBody>
          <a:bodyPr wrap="square" lIns="45720" tIns="0" rIns="45720" bIns="0" anchor="ctr"/>
          <a:lstStyle/>
          <a:p>
            <a:pPr algn="ctr"/>
            <a:r>
              <a:rPr lang="en-US" sz="2000" b="1" i="0">
                <a:solidFill>
                  <a:srgbClr val="FFFFFF"/>
                </a:solidFill>
                <a:latin typeface="Calibri"/>
              </a:rPr>
              <a:t>PRO  ·  Group 4</a:t>
            </a:r>
          </a:p>
        </p:txBody>
      </p:sp>
      <p:sp>
        <p:nvSpPr>
          <p:cNvPr id="228" name="Card1"/>
          <p:cNvSpPr/>
          <p:nvPr/>
        </p:nvSpPr>
        <p:spPr>
          <a:xfrm>
            <a:off x="251999" y="2194560"/>
            <a:ext cx="5669280" cy="3246120"/>
          </a:xfrm>
          <a:prstGeom prst="roundRect">
            <a:avLst>
              <a:gd name="adj" fmla="val 6000"/>
            </a:avLst>
          </a:prstGeom>
          <a:solidFill>
            <a:srgbClr val="FDF6E6"/>
          </a:solidFill>
          <a:ln w="15875">
            <a:solidFill>
              <a:srgbClr val="E09F3E"/>
            </a:solidFill>
          </a:ln>
          <a:effectLst>
            <a:outerShdw blurRad="50800" dist="38100" dir="2700000" rotWithShape="0">
              <a:srgbClr val="000000">
                <a:alpha val="30000"/>
              </a:srgbClr>
            </a:outerShdw>
          </a:effectLst>
        </p:spPr>
        <p:txBody>
          <a:bodyPr wrap="square" lIns="256032" tIns="0" rIns="256032" bIns="0" anchor="ctr"/>
          <a:lstStyle/>
          <a:p>
            <a:pPr algn="ctr">
              <a:lnSpc>
                <a:spcPct val="95000"/>
              </a:lnSpc>
            </a:pPr>
            <a:r>
              <a:rPr lang="en-US" sz="2600" b="0" i="1">
                <a:solidFill>
                  <a:srgbClr val="0B2B4E"/>
                </a:solidFill>
                <a:latin typeface="Calibri"/>
              </a:rPr>
              <a:t>“Italy is already on a good path”</a:t>
            </a:r>
          </a:p>
        </p:txBody>
      </p:sp>
      <p:sp>
        <p:nvSpPr>
          <p:cNvPr id="229" name="Hdr2"/>
          <p:cNvSpPr/>
          <p:nvPr/>
        </p:nvSpPr>
        <p:spPr>
          <a:xfrm>
            <a:off x="6268751" y="1572768"/>
            <a:ext cx="5669280" cy="512064"/>
          </a:xfrm>
          <a:prstGeom prst="roundRect">
            <a:avLst>
              <a:gd name="adj" fmla="val 22000"/>
            </a:avLst>
          </a:prstGeom>
          <a:solidFill>
            <a:srgbClr val="0B2B4E"/>
          </a:solidFill>
          <a:ln>
            <a:noFill/>
          </a:ln>
          <a:effectLst>
            <a:outerShdw blurRad="50800" dist="38100" dir="2700000" rotWithShape="0">
              <a:srgbClr val="000000">
                <a:alpha val="30000"/>
              </a:srgbClr>
            </a:outerShdw>
          </a:effectLst>
        </p:spPr>
        <p:txBody>
          <a:bodyPr wrap="square" lIns="45720" tIns="0" rIns="45720" bIns="0" anchor="ctr"/>
          <a:lstStyle/>
          <a:p>
            <a:pPr algn="ctr"/>
            <a:r>
              <a:rPr lang="en-US" sz="2000" b="1" i="0">
                <a:solidFill>
                  <a:srgbClr val="FFFFFF"/>
                </a:solidFill>
                <a:latin typeface="Calibri"/>
              </a:rPr>
              <a:t>CONTRA  ·  Group 7</a:t>
            </a:r>
          </a:p>
        </p:txBody>
      </p:sp>
      <p:sp>
        <p:nvSpPr>
          <p:cNvPr id="230" name="Card2"/>
          <p:cNvSpPr/>
          <p:nvPr/>
        </p:nvSpPr>
        <p:spPr>
          <a:xfrm>
            <a:off x="6268751" y="2194560"/>
            <a:ext cx="5669280" cy="3246120"/>
          </a:xfrm>
          <a:prstGeom prst="roundRect">
            <a:avLst>
              <a:gd name="adj" fmla="val 6000"/>
            </a:avLst>
          </a:prstGeom>
          <a:solidFill>
            <a:srgbClr val="FDF6E6"/>
          </a:solidFill>
          <a:ln w="15875">
            <a:solidFill>
              <a:srgbClr val="E09F3E"/>
            </a:solidFill>
          </a:ln>
          <a:effectLst>
            <a:outerShdw blurRad="50800" dist="38100" dir="2700000" rotWithShape="0">
              <a:srgbClr val="000000">
                <a:alpha val="30000"/>
              </a:srgbClr>
            </a:outerShdw>
          </a:effectLst>
        </p:spPr>
        <p:txBody>
          <a:bodyPr wrap="square" lIns="256032" tIns="0" rIns="256032" bIns="0" anchor="ctr"/>
          <a:lstStyle/>
          <a:p>
            <a:pPr algn="ctr">
              <a:lnSpc>
                <a:spcPct val="95000"/>
              </a:lnSpc>
            </a:pPr>
            <a:r>
              <a:rPr lang="en-US" sz="2600" b="0" i="1">
                <a:solidFill>
                  <a:srgbClr val="0B2B4E"/>
                </a:solidFill>
                <a:latin typeface="Calibri"/>
              </a:rPr>
              <a:t>“Italy is lagging far behind on tech and AI”</a:t>
            </a:r>
          </a:p>
        </p:txBody>
      </p:sp>
      <p:sp>
        <p:nvSpPr>
          <p:cNvPr id="231" name="Takeaway"/>
          <p:cNvSpPr/>
          <p:nvPr/>
        </p:nvSpPr>
        <p:spPr>
          <a:xfrm>
            <a:off x="251999" y="5760720"/>
            <a:ext cx="11687697" cy="475488"/>
          </a:xfrm>
          <a:prstGeom prst="roundRect">
            <a:avLst>
              <a:gd name="adj" fmla="val 18000"/>
            </a:avLst>
          </a:prstGeom>
          <a:solidFill>
            <a:srgbClr val="E09F3E"/>
          </a:solidFill>
          <a:ln>
            <a:noFill/>
          </a:ln>
          <a:effectLst>
            <a:outerShdw blurRad="50800" dist="38100" dir="2700000" rotWithShape="0">
              <a:srgbClr val="000000">
                <a:alpha val="30000"/>
              </a:srgbClr>
            </a:outerShdw>
          </a:effectLst>
        </p:spPr>
        <p:txBody>
          <a:bodyPr wrap="square" lIns="45720" tIns="0" rIns="45720" bIns="0" anchor="ctr"/>
          <a:lstStyle/>
          <a:p>
            <a:pPr algn="ctr"/>
            <a:r>
              <a:rPr lang="en-US" sz="1900" b="1" i="1">
                <a:solidFill>
                  <a:srgbClr val="0B2B4E"/>
                </a:solidFill>
                <a:latin typeface="Calibri"/>
              </a:rPr>
              <a:t>2 – 3 min executive summary from each side, then open debate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7"/>
                                        </p:tgtEl>
                                        <p:attrNameLst>
                                          <p:attrName>style.visibility</p:attrName>
                                        </p:attrNameLst>
                                      </p:cBhvr>
                                      <p:to>
                                        <p:strVal val="visible"/>
                                      </p:to>
                                    </p:set>
                                    <p:animEffect transition="in" filter="fade">
                                      <p:cBhvr>
                                        <p:cTn id="7" dur="500"/>
                                        <p:tgtEl>
                                          <p:spTgt spid="2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8"/>
                                        </p:tgtEl>
                                        <p:attrNameLst>
                                          <p:attrName>style.visibility</p:attrName>
                                        </p:attrNameLst>
                                      </p:cBhvr>
                                      <p:to>
                                        <p:strVal val="visible"/>
                                      </p:to>
                                    </p:set>
                                    <p:animEffect transition="in" filter="fade">
                                      <p:cBhvr>
                                        <p:cTn id="10" dur="500"/>
                                        <p:tgtEl>
                                          <p:spTgt spid="2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29"/>
                                        </p:tgtEl>
                                        <p:attrNameLst>
                                          <p:attrName>style.visibility</p:attrName>
                                        </p:attrNameLst>
                                      </p:cBhvr>
                                      <p:to>
                                        <p:strVal val="visible"/>
                                      </p:to>
                                    </p:set>
                                    <p:animEffect transition="in" filter="fade">
                                      <p:cBhvr>
                                        <p:cTn id="15" dur="500"/>
                                        <p:tgtEl>
                                          <p:spTgt spid="22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30"/>
                                        </p:tgtEl>
                                        <p:attrNameLst>
                                          <p:attrName>style.visibility</p:attrName>
                                        </p:attrNameLst>
                                      </p:cBhvr>
                                      <p:to>
                                        <p:strVal val="visible"/>
                                      </p:to>
                                    </p:set>
                                    <p:animEffect transition="in" filter="fade">
                                      <p:cBhvr>
                                        <p:cTn id="18" dur="500"/>
                                        <p:tgtEl>
                                          <p:spTgt spid="23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31"/>
                                        </p:tgtEl>
                                        <p:attrNameLst>
                                          <p:attrName>style.visibility</p:attrName>
                                        </p:attrNameLst>
                                      </p:cBhvr>
                                      <p:to>
                                        <p:strVal val="visible"/>
                                      </p:to>
                                    </p:set>
                                    <p:animEffect transition="in" filter="fade">
                                      <p:cBhvr>
                                        <p:cTn id="23" dur="500"/>
                                        <p:tgtEl>
                                          <p:spTgt spid="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 name="TextBox 2"/>
          <p:cNvSpPr txBox="1"/>
          <p:nvPr/>
        </p:nvSpPr>
        <p:spPr>
          <a:xfrm>
            <a:off x="251999" y="0"/>
            <a:ext cx="10972800" cy="384048"/>
          </a:xfrm>
          <a:prstGeom prst="rect">
            <a:avLst/>
          </a:prstGeom>
          <a:noFill/>
        </p:spPr>
        <p:txBody>
          <a:bodyPr wrap="square" lIns="0" tIns="0" rIns="0" bIns="0" anchor="ctr">
            <a:spAutoFit/>
          </a:bodyPr>
          <a:lstStyle/>
          <a:p>
            <a:pPr algn="l"/>
            <a:r>
              <a:rPr lang="en-US" sz="1600" b="1" i="0">
                <a:solidFill>
                  <a:srgbClr val="FFFFFF"/>
                </a:solidFill>
                <a:latin typeface="Calibri"/>
              </a:rPr>
              <a:t>Italy IBR  ·  Company Presentations</a:t>
            </a:r>
          </a:p>
        </p:txBody>
      </p:sp>
      <p:sp>
        <p:nvSpPr>
          <p:cNvPr id="234" name="TextBox 3"/>
          <p:cNvSpPr txBox="1"/>
          <p:nvPr/>
        </p:nvSpPr>
        <p:spPr>
          <a:xfrm>
            <a:off x="251999" y="566928"/>
            <a:ext cx="11687697" cy="640080"/>
          </a:xfrm>
          <a:prstGeom prst="rect">
            <a:avLst/>
          </a:prstGeom>
          <a:noFill/>
        </p:spPr>
        <p:txBody>
          <a:bodyPr wrap="square" lIns="0" tIns="0" rIns="0" bIns="0">
            <a:spAutoFit/>
          </a:bodyPr>
          <a:lstStyle/>
          <a:p>
            <a:pPr algn="l"/>
            <a:r>
              <a:rPr lang="en-US" sz="3000" b="1" i="0">
                <a:solidFill>
                  <a:srgbClr val="0B2B4E"/>
                </a:solidFill>
                <a:latin typeface="Calibri"/>
              </a:rPr>
              <a:t>Prada Group – Global Strategy in Luxury Fashion</a:t>
            </a:r>
          </a:p>
        </p:txBody>
      </p:sp>
      <p:sp>
        <p:nvSpPr>
          <p:cNvPr id="235" name="Rectangle 4"/>
          <p:cNvSpPr/>
          <p:nvPr/>
        </p:nvSpPr>
        <p:spPr>
          <a:xfrm>
            <a:off x="251999" y="118872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Rectangle 5"/>
          <p:cNvSpPr/>
          <p:nvPr/>
        </p:nvSpPr>
        <p:spPr>
          <a:xfrm>
            <a:off x="251999" y="117500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 name="TextBox 9"/>
          <p:cNvSpPr txBox="1"/>
          <p:nvPr/>
        </p:nvSpPr>
        <p:spPr>
          <a:xfrm>
            <a:off x="251999" y="6583680"/>
            <a:ext cx="10058400" cy="292608"/>
          </a:xfrm>
          <a:prstGeom prst="rect">
            <a:avLst/>
          </a:prstGeom>
          <a:noFill/>
        </p:spPr>
        <p:txBody>
          <a:bodyPr wrap="square" lIns="0" tIns="0" rIns="0" bIns="0">
            <a:spAutoFit/>
          </a:bodyPr>
          <a:lstStyle/>
          <a:p>
            <a:pPr algn="l"/>
            <a:r>
              <a:rPr lang="en-US" sz="1200" b="0" i="0">
                <a:solidFill>
                  <a:srgbClr val="555B66"/>
                </a:solidFill>
                <a:latin typeface="Calibri"/>
              </a:rPr>
              <a:t>International Business Residential – Italy</a:t>
            </a:r>
          </a:p>
        </p:txBody>
      </p:sp>
      <p:sp>
        <p:nvSpPr>
          <p:cNvPr id="240" name="TextBox 10"/>
          <p:cNvSpPr txBox="1"/>
          <p:nvPr/>
        </p:nvSpPr>
        <p:spPr>
          <a:xfrm>
            <a:off x="11430000" y="6583680"/>
            <a:ext cx="548640" cy="292608"/>
          </a:xfrm>
          <a:prstGeom prst="rect">
            <a:avLst/>
          </a:prstGeom>
          <a:noFill/>
        </p:spPr>
        <p:txBody>
          <a:bodyPr wrap="square" lIns="0" tIns="0" rIns="0" bIns="0">
            <a:spAutoFit/>
          </a:bodyPr>
          <a:lstStyle/>
          <a:p>
            <a:pPr algn="r"/>
            <a:fld id="{5B7A6A11-0000-4A00-9C00-000000000010}" type="slidenum">
              <a:rPr lang="en-US" sz="1200">
                <a:solidFill>
                  <a:srgbClr val="555B66"/>
                </a:solidFill>
                <a:latin typeface="Calibri"/>
              </a:rPr>
              <a:t>10</a:t>
            </a:fld>
            <a:endParaRPr lang="en-US" sz="1200">
              <a:solidFill>
                <a:srgbClr val="555B66"/>
              </a:solidFill>
              <a:latin typeface="Calibri"/>
            </a:endParaRPr>
          </a:p>
        </p:txBody>
      </p:sp>
      <p:pic>
        <p:nvPicPr>
          <p:cNvPr id="241" name="Picture 240" descr="_logo_prada.png"/>
          <p:cNvPicPr>
            <a:picLocks noChangeAspect="1"/>
          </p:cNvPicPr>
          <p:nvPr/>
        </p:nvPicPr>
        <p:blipFill>
          <a:blip r:embed="rId2"/>
          <a:stretch>
            <a:fillRect/>
          </a:stretch>
        </p:blipFill>
        <p:spPr>
          <a:xfrm>
            <a:off x="685800" y="2242376"/>
            <a:ext cx="4206240" cy="727329"/>
          </a:xfrm>
          <a:prstGeom prst="rect">
            <a:avLst/>
          </a:prstGeom>
        </p:spPr>
      </p:pic>
      <p:sp>
        <p:nvSpPr>
          <p:cNvPr id="241" name="Sector"/>
          <p:cNvSpPr txBox="1"/>
          <p:nvPr/>
        </p:nvSpPr>
        <p:spPr>
          <a:xfrm>
            <a:off x="685800" y="3822192"/>
            <a:ext cx="4206240" cy="365760"/>
          </a:xfrm>
          <a:prstGeom prst="rect">
            <a:avLst/>
          </a:prstGeom>
          <a:noFill/>
        </p:spPr>
        <p:txBody>
          <a:bodyPr wrap="square" lIns="0" tIns="0" rIns="0" bIns="0">
            <a:spAutoFit/>
          </a:bodyPr>
          <a:lstStyle/>
          <a:p>
            <a:pPr algn="ctr"/>
            <a:r>
              <a:rPr lang="en-US" sz="2000" b="1" i="0">
                <a:solidFill>
                  <a:srgbClr val="0B2B4E"/>
                </a:solidFill>
                <a:latin typeface="Calibri"/>
              </a:rPr>
              <a:t>Luxury Fashion</a:t>
            </a:r>
          </a:p>
        </p:txBody>
      </p:sp>
      <p:sp>
        <p:nvSpPr>
          <p:cNvPr id="242" name="GroupPill"/>
          <p:cNvSpPr/>
          <p:nvPr/>
        </p:nvSpPr>
        <p:spPr>
          <a:xfrm>
            <a:off x="1828800" y="4389120"/>
            <a:ext cx="1920240" cy="475488"/>
          </a:xfrm>
          <a:prstGeom prst="roundRect">
            <a:avLst>
              <a:gd name="adj" fmla="val 30000"/>
            </a:avLst>
          </a:prstGeom>
          <a:solidFill>
            <a:srgbClr val="0B2B4E"/>
          </a:solidFill>
          <a:ln>
            <a:noFill/>
          </a:ln>
          <a:effectLst>
            <a:outerShdw blurRad="50800" dist="38100" dir="2700000" rotWithShape="0">
              <a:srgbClr val="000000">
                <a:alpha val="30000"/>
              </a:srgbClr>
            </a:outerShdw>
          </a:effectLst>
        </p:spPr>
        <p:txBody>
          <a:bodyPr wrap="none" lIns="0" tIns="0" rIns="0" bIns="0" anchor="ctr"/>
          <a:lstStyle/>
          <a:p>
            <a:pPr algn="ctr"/>
            <a:r>
              <a:rPr lang="en-US" sz="1800" b="1" i="0">
                <a:solidFill>
                  <a:srgbClr val="FFFFFF"/>
                </a:solidFill>
                <a:latin typeface="Calibri"/>
              </a:rPr>
              <a:t>Group 5</a:t>
            </a:r>
          </a:p>
        </p:txBody>
      </p:sp>
      <p:sp>
        <p:nvSpPr>
          <p:cNvPr id="243" name="BriefCard"/>
          <p:cNvSpPr/>
          <p:nvPr/>
        </p:nvSpPr>
        <p:spPr>
          <a:xfrm>
            <a:off x="5394960" y="1572768"/>
            <a:ext cx="6537960" cy="1737360"/>
          </a:xfrm>
          <a:prstGeom prst="roundRect">
            <a:avLst>
              <a:gd name="adj" fmla="val 8000"/>
            </a:avLst>
          </a:prstGeom>
          <a:solidFill>
            <a:srgbClr val="FDF6E6"/>
          </a:solidFill>
          <a:ln w="12700">
            <a:solidFill>
              <a:srgbClr val="0B2B4E"/>
            </a:solidFill>
          </a:ln>
          <a:effectLst>
            <a:outerShdw blurRad="50800" dist="38100" dir="2700000" rotWithShape="0">
              <a:srgbClr val="000000">
                <a:alpha val="30000"/>
              </a:srgbClr>
            </a:outerShdw>
          </a:effectLst>
        </p:spPr>
        <p:txBody>
          <a:bodyPr wrap="square" lIns="237744" tIns="0" rIns="237744" bIns="0" anchor="t"/>
          <a:lstStyle/>
          <a:p>
            <a:pPr algn="l">
              <a:spcBef>
                <a:spcPts val="1400"/>
              </a:spcBef>
            </a:pPr>
            <a:r>
              <a:rPr lang="en-US" sz="2000" b="1" i="0">
                <a:solidFill>
                  <a:srgbClr val="0B2B4E"/>
                </a:solidFill>
                <a:latin typeface="Calibri"/>
              </a:rPr>
              <a:t>Your brief</a:t>
            </a:r>
          </a:p>
          <a:p>
            <a:pPr marL="342900" indent="-274320" algn="l">
              <a:spcBef>
                <a:spcPts val="700"/>
              </a:spcBef>
              <a:buClr>
                <a:srgbClr val="0B2B4E"/>
              </a:buClr>
              <a:buFont typeface="Calibri"/>
              <a:buChar char="▪"/>
            </a:pPr>
            <a:r>
              <a:rPr lang="en-US" sz="2000" b="0" i="0">
                <a:solidFill>
                  <a:srgbClr val="0B2B4E"/>
                </a:solidFill>
                <a:latin typeface="Calibri"/>
              </a:rPr>
              <a:t>Introduce the company</a:t>
            </a:r>
          </a:p>
          <a:p>
            <a:pPr marL="342900" indent="-274320" algn="l">
              <a:spcBef>
                <a:spcPts val="400"/>
              </a:spcBef>
              <a:buClr>
                <a:srgbClr val="0B2B4E"/>
              </a:buClr>
              <a:buFont typeface="Calibri"/>
              <a:buChar char="▪"/>
            </a:pPr>
            <a:r>
              <a:rPr lang="en-US" sz="2000" b="0" i="0">
                <a:solidFill>
                  <a:srgbClr val="0B2B4E"/>
                </a:solidFill>
                <a:latin typeface="Calibri"/>
              </a:rPr>
              <a:t>Then argue why (not) to invest in it</a:t>
            </a:r>
          </a:p>
        </p:txBody>
      </p:sp>
      <p:sp>
        <p:nvSpPr>
          <p:cNvPr id="244" name="VisitCard"/>
          <p:cNvSpPr/>
          <p:nvPr/>
        </p:nvSpPr>
        <p:spPr>
          <a:xfrm>
            <a:off x="5394960" y="3529584"/>
            <a:ext cx="6537960" cy="2148840"/>
          </a:xfrm>
          <a:prstGeom prst="roundRect">
            <a:avLst>
              <a:gd name="adj" fmla="val 8000"/>
            </a:avLst>
          </a:prstGeom>
          <a:solidFill>
            <a:srgbClr val="FDF6E6"/>
          </a:solidFill>
          <a:ln w="12700">
            <a:solidFill>
              <a:srgbClr val="0B2B4E"/>
            </a:solidFill>
          </a:ln>
          <a:effectLst>
            <a:outerShdw blurRad="50800" dist="38100" dir="2700000" rotWithShape="0">
              <a:srgbClr val="000000">
                <a:alpha val="30000"/>
              </a:srgbClr>
            </a:outerShdw>
          </a:effectLst>
        </p:spPr>
        <p:txBody>
          <a:bodyPr wrap="square" lIns="237744" tIns="0" rIns="237744" bIns="0" anchor="t"/>
          <a:lstStyle/>
          <a:p>
            <a:pPr algn="l">
              <a:spcBef>
                <a:spcPts val="1400"/>
              </a:spcBef>
            </a:pPr>
            <a:r>
              <a:rPr lang="en-US" sz="2000" b="1" i="0">
                <a:solidFill>
                  <a:srgbClr val="0B2B4E"/>
                </a:solidFill>
                <a:latin typeface="Calibri"/>
              </a:rPr>
              <a:t>We visit them on the trip</a:t>
            </a:r>
          </a:p>
          <a:p>
            <a:pPr algn="l">
              <a:spcBef>
                <a:spcPts val="700"/>
              </a:spcBef>
            </a:pPr>
            <a:r>
              <a:rPr lang="en-US" sz="2000" b="1" i="0">
                <a:solidFill>
                  <a:srgbClr val="E09F3E"/>
                </a:solidFill>
                <a:latin typeface="Calibri"/>
              </a:rPr>
              <a:t>Tuesday 8 Sep  ·  15.00 – 16.30</a:t>
            </a:r>
          </a:p>
          <a:p>
            <a:pPr algn="l">
              <a:lnSpc>
                <a:spcPct val="95000"/>
              </a:lnSpc>
              <a:spcBef>
                <a:spcPts val="600"/>
              </a:spcBef>
            </a:pPr>
            <a:r>
              <a:rPr lang="en-US" sz="1800" b="0" i="1">
                <a:solidFill>
                  <a:srgbClr val="0B2B4E"/>
                </a:solidFill>
                <a:latin typeface="Calibri"/>
              </a:rPr>
              <a:t>Visit to the company’s headquarters for a session with a senior leader to explore how a global luxury brand approaches global strategy.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3"/>
                                        </p:tgtEl>
                                        <p:attrNameLst>
                                          <p:attrName>style.visibility</p:attrName>
                                        </p:attrNameLst>
                                      </p:cBhvr>
                                      <p:to>
                                        <p:strVal val="visible"/>
                                      </p:to>
                                    </p:set>
                                    <p:animEffect transition="in" filter="fade">
                                      <p:cBhvr>
                                        <p:cTn id="7" dur="500"/>
                                        <p:tgtEl>
                                          <p:spTgt spid="24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4"/>
                                        </p:tgtEl>
                                        <p:attrNameLst>
                                          <p:attrName>style.visibility</p:attrName>
                                        </p:attrNameLst>
                                      </p:cBhvr>
                                      <p:to>
                                        <p:strVal val="visible"/>
                                      </p:to>
                                    </p:set>
                                    <p:animEffect transition="in" filter="fade">
                                      <p:cBhvr>
                                        <p:cTn id="12" dur="500"/>
                                        <p:tgtEl>
                                          <p:spTgt spid="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45"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 name="TextBox 2"/>
          <p:cNvSpPr txBox="1"/>
          <p:nvPr/>
        </p:nvSpPr>
        <p:spPr>
          <a:xfrm>
            <a:off x="251999" y="0"/>
            <a:ext cx="10972800" cy="384048"/>
          </a:xfrm>
          <a:prstGeom prst="rect">
            <a:avLst/>
          </a:prstGeom>
          <a:noFill/>
        </p:spPr>
        <p:txBody>
          <a:bodyPr wrap="square" lIns="0" tIns="0" rIns="0" bIns="0" anchor="ctr">
            <a:spAutoFit/>
          </a:bodyPr>
          <a:lstStyle/>
          <a:p>
            <a:pPr algn="l"/>
            <a:r>
              <a:rPr lang="en-US" sz="1600" b="1" i="0">
                <a:solidFill>
                  <a:srgbClr val="FFFFFF"/>
                </a:solidFill>
                <a:latin typeface="Calibri"/>
              </a:rPr>
              <a:t>Italy IBR  ·  Company Presentations</a:t>
            </a:r>
          </a:p>
        </p:txBody>
      </p:sp>
      <p:sp>
        <p:nvSpPr>
          <p:cNvPr id="247" name="TextBox 3"/>
          <p:cNvSpPr txBox="1"/>
          <p:nvPr/>
        </p:nvSpPr>
        <p:spPr>
          <a:xfrm>
            <a:off x="251999" y="566928"/>
            <a:ext cx="11687697" cy="640080"/>
          </a:xfrm>
          <a:prstGeom prst="rect">
            <a:avLst/>
          </a:prstGeom>
          <a:noFill/>
        </p:spPr>
        <p:txBody>
          <a:bodyPr wrap="square" lIns="0" tIns="0" rIns="0" bIns="0">
            <a:spAutoFit/>
          </a:bodyPr>
          <a:lstStyle/>
          <a:p>
            <a:pPr algn="l"/>
            <a:r>
              <a:rPr lang="en-US" sz="3000" b="1" i="0">
                <a:solidFill>
                  <a:srgbClr val="0B2B4E"/>
                </a:solidFill>
                <a:latin typeface="Calibri"/>
              </a:rPr>
              <a:t>Inter Milan FC – A Football Club as a Global Business</a:t>
            </a:r>
          </a:p>
        </p:txBody>
      </p:sp>
      <p:sp>
        <p:nvSpPr>
          <p:cNvPr id="248" name="Rectangle 4"/>
          <p:cNvSpPr/>
          <p:nvPr/>
        </p:nvSpPr>
        <p:spPr>
          <a:xfrm>
            <a:off x="251999" y="118872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 name="Rectangle 5"/>
          <p:cNvSpPr/>
          <p:nvPr/>
        </p:nvSpPr>
        <p:spPr>
          <a:xfrm>
            <a:off x="251999" y="117500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TextBox 9"/>
          <p:cNvSpPr txBox="1"/>
          <p:nvPr/>
        </p:nvSpPr>
        <p:spPr>
          <a:xfrm>
            <a:off x="251999" y="6583680"/>
            <a:ext cx="10058400" cy="292608"/>
          </a:xfrm>
          <a:prstGeom prst="rect">
            <a:avLst/>
          </a:prstGeom>
          <a:noFill/>
        </p:spPr>
        <p:txBody>
          <a:bodyPr wrap="square" lIns="0" tIns="0" rIns="0" bIns="0">
            <a:spAutoFit/>
          </a:bodyPr>
          <a:lstStyle/>
          <a:p>
            <a:pPr algn="l"/>
            <a:r>
              <a:rPr lang="en-US" sz="1200" b="0" i="0">
                <a:solidFill>
                  <a:srgbClr val="555B66"/>
                </a:solidFill>
                <a:latin typeface="Calibri"/>
              </a:rPr>
              <a:t>International Business Residential – Italy</a:t>
            </a:r>
          </a:p>
        </p:txBody>
      </p:sp>
      <p:sp>
        <p:nvSpPr>
          <p:cNvPr id="253" name="TextBox 10"/>
          <p:cNvSpPr txBox="1"/>
          <p:nvPr/>
        </p:nvSpPr>
        <p:spPr>
          <a:xfrm>
            <a:off x="11430000" y="6583680"/>
            <a:ext cx="548640" cy="292608"/>
          </a:xfrm>
          <a:prstGeom prst="rect">
            <a:avLst/>
          </a:prstGeom>
          <a:noFill/>
        </p:spPr>
        <p:txBody>
          <a:bodyPr wrap="square" lIns="0" tIns="0" rIns="0" bIns="0">
            <a:spAutoFit/>
          </a:bodyPr>
          <a:lstStyle/>
          <a:p>
            <a:pPr algn="r"/>
            <a:fld id="{5B7A6A11-0000-4A00-9C00-000000000011}" type="slidenum">
              <a:rPr lang="en-US" sz="1200">
                <a:solidFill>
                  <a:srgbClr val="555B66"/>
                </a:solidFill>
                <a:latin typeface="Calibri"/>
              </a:rPr>
              <a:t>11</a:t>
            </a:fld>
            <a:endParaRPr lang="en-US" sz="1200">
              <a:solidFill>
                <a:srgbClr val="555B66"/>
              </a:solidFill>
              <a:latin typeface="Calibri"/>
            </a:endParaRPr>
          </a:p>
        </p:txBody>
      </p:sp>
      <p:pic>
        <p:nvPicPr>
          <p:cNvPr id="254" name="Picture 253" descr="_logo_inter.png"/>
          <p:cNvPicPr>
            <a:picLocks noChangeAspect="1"/>
          </p:cNvPicPr>
          <p:nvPr/>
        </p:nvPicPr>
        <p:blipFill>
          <a:blip r:embed="rId2"/>
          <a:stretch>
            <a:fillRect/>
          </a:stretch>
        </p:blipFill>
        <p:spPr>
          <a:xfrm>
            <a:off x="1746504" y="1563624"/>
            <a:ext cx="2084832" cy="2084832"/>
          </a:xfrm>
          <a:prstGeom prst="rect">
            <a:avLst/>
          </a:prstGeom>
        </p:spPr>
      </p:pic>
      <p:sp>
        <p:nvSpPr>
          <p:cNvPr id="254" name="Sector"/>
          <p:cNvSpPr txBox="1"/>
          <p:nvPr/>
        </p:nvSpPr>
        <p:spPr>
          <a:xfrm>
            <a:off x="685800" y="3822192"/>
            <a:ext cx="4206240" cy="365760"/>
          </a:xfrm>
          <a:prstGeom prst="rect">
            <a:avLst/>
          </a:prstGeom>
          <a:noFill/>
        </p:spPr>
        <p:txBody>
          <a:bodyPr wrap="square" lIns="0" tIns="0" rIns="0" bIns="0">
            <a:spAutoFit/>
          </a:bodyPr>
          <a:lstStyle/>
          <a:p>
            <a:pPr algn="ctr"/>
            <a:r>
              <a:rPr lang="en-US" sz="2000" b="1" i="0">
                <a:solidFill>
                  <a:srgbClr val="0B2B4E"/>
                </a:solidFill>
                <a:latin typeface="Calibri"/>
              </a:rPr>
              <a:t>Iconic Sports Team</a:t>
            </a:r>
          </a:p>
        </p:txBody>
      </p:sp>
      <p:sp>
        <p:nvSpPr>
          <p:cNvPr id="255" name="GroupPill"/>
          <p:cNvSpPr/>
          <p:nvPr/>
        </p:nvSpPr>
        <p:spPr>
          <a:xfrm>
            <a:off x="1828800" y="4389120"/>
            <a:ext cx="1920240" cy="475488"/>
          </a:xfrm>
          <a:prstGeom prst="roundRect">
            <a:avLst>
              <a:gd name="adj" fmla="val 30000"/>
            </a:avLst>
          </a:prstGeom>
          <a:solidFill>
            <a:srgbClr val="0B2B4E"/>
          </a:solidFill>
          <a:ln>
            <a:noFill/>
          </a:ln>
          <a:effectLst>
            <a:outerShdw blurRad="50800" dist="38100" dir="2700000" rotWithShape="0">
              <a:srgbClr val="000000">
                <a:alpha val="30000"/>
              </a:srgbClr>
            </a:outerShdw>
          </a:effectLst>
        </p:spPr>
        <p:txBody>
          <a:bodyPr wrap="none" lIns="0" tIns="0" rIns="0" bIns="0" anchor="ctr"/>
          <a:lstStyle/>
          <a:p>
            <a:pPr algn="ctr"/>
            <a:r>
              <a:rPr lang="en-US" sz="1800" b="1" i="0">
                <a:solidFill>
                  <a:srgbClr val="FFFFFF"/>
                </a:solidFill>
                <a:latin typeface="Calibri"/>
              </a:rPr>
              <a:t>Group 6</a:t>
            </a:r>
          </a:p>
        </p:txBody>
      </p:sp>
      <p:sp>
        <p:nvSpPr>
          <p:cNvPr id="256" name="BriefCard"/>
          <p:cNvSpPr/>
          <p:nvPr/>
        </p:nvSpPr>
        <p:spPr>
          <a:xfrm>
            <a:off x="5394960" y="1572768"/>
            <a:ext cx="6537960" cy="1737360"/>
          </a:xfrm>
          <a:prstGeom prst="roundRect">
            <a:avLst>
              <a:gd name="adj" fmla="val 8000"/>
            </a:avLst>
          </a:prstGeom>
          <a:solidFill>
            <a:srgbClr val="FDF6E6"/>
          </a:solidFill>
          <a:ln w="12700">
            <a:solidFill>
              <a:srgbClr val="0B2B4E"/>
            </a:solidFill>
          </a:ln>
          <a:effectLst>
            <a:outerShdw blurRad="50800" dist="38100" dir="2700000" rotWithShape="0">
              <a:srgbClr val="000000">
                <a:alpha val="30000"/>
              </a:srgbClr>
            </a:outerShdw>
          </a:effectLst>
        </p:spPr>
        <p:txBody>
          <a:bodyPr wrap="square" lIns="237744" tIns="0" rIns="237744" bIns="0" anchor="t"/>
          <a:lstStyle/>
          <a:p>
            <a:pPr algn="l">
              <a:spcBef>
                <a:spcPts val="1400"/>
              </a:spcBef>
            </a:pPr>
            <a:r>
              <a:rPr lang="en-US" sz="2000" b="1" i="0">
                <a:solidFill>
                  <a:srgbClr val="0B2B4E"/>
                </a:solidFill>
                <a:latin typeface="Calibri"/>
              </a:rPr>
              <a:t>Your brief</a:t>
            </a:r>
          </a:p>
          <a:p>
            <a:pPr marL="342900" indent="-274320" algn="l">
              <a:spcBef>
                <a:spcPts val="700"/>
              </a:spcBef>
              <a:buClr>
                <a:srgbClr val="0B2B4E"/>
              </a:buClr>
              <a:buFont typeface="Calibri"/>
              <a:buChar char="▪"/>
            </a:pPr>
            <a:r>
              <a:rPr lang="en-US" sz="2000" b="0" i="0">
                <a:solidFill>
                  <a:srgbClr val="0B2B4E"/>
                </a:solidFill>
                <a:latin typeface="Calibri"/>
              </a:rPr>
              <a:t>Introduce the company</a:t>
            </a:r>
          </a:p>
          <a:p>
            <a:pPr marL="342900" indent="-274320" algn="l">
              <a:spcBef>
                <a:spcPts val="400"/>
              </a:spcBef>
              <a:buClr>
                <a:srgbClr val="0B2B4E"/>
              </a:buClr>
              <a:buFont typeface="Calibri"/>
              <a:buChar char="▪"/>
            </a:pPr>
            <a:r>
              <a:rPr lang="en-US" sz="2000" b="0" i="0">
                <a:solidFill>
                  <a:srgbClr val="0B2B4E"/>
                </a:solidFill>
                <a:latin typeface="Calibri"/>
              </a:rPr>
              <a:t>Then argue why (not) to invest in it</a:t>
            </a:r>
          </a:p>
        </p:txBody>
      </p:sp>
      <p:sp>
        <p:nvSpPr>
          <p:cNvPr id="257" name="VisitCard"/>
          <p:cNvSpPr/>
          <p:nvPr/>
        </p:nvSpPr>
        <p:spPr>
          <a:xfrm>
            <a:off x="5394960" y="3529584"/>
            <a:ext cx="6537960" cy="2148840"/>
          </a:xfrm>
          <a:prstGeom prst="roundRect">
            <a:avLst>
              <a:gd name="adj" fmla="val 8000"/>
            </a:avLst>
          </a:prstGeom>
          <a:solidFill>
            <a:srgbClr val="FDF6E6"/>
          </a:solidFill>
          <a:ln w="12700">
            <a:solidFill>
              <a:srgbClr val="0B2B4E"/>
            </a:solidFill>
          </a:ln>
          <a:effectLst>
            <a:outerShdw blurRad="50800" dist="38100" dir="2700000" rotWithShape="0">
              <a:srgbClr val="000000">
                <a:alpha val="30000"/>
              </a:srgbClr>
            </a:outerShdw>
          </a:effectLst>
        </p:spPr>
        <p:txBody>
          <a:bodyPr wrap="square" lIns="237744" tIns="0" rIns="237744" bIns="0" anchor="t"/>
          <a:lstStyle/>
          <a:p>
            <a:pPr algn="l">
              <a:spcBef>
                <a:spcPts val="1400"/>
              </a:spcBef>
            </a:pPr>
            <a:r>
              <a:rPr lang="en-US" sz="2000" b="1" i="0">
                <a:solidFill>
                  <a:srgbClr val="0B2B4E"/>
                </a:solidFill>
                <a:latin typeface="Calibri"/>
              </a:rPr>
              <a:t>We visit them on the trip</a:t>
            </a:r>
          </a:p>
          <a:p>
            <a:pPr algn="l">
              <a:spcBef>
                <a:spcPts val="700"/>
              </a:spcBef>
            </a:pPr>
            <a:r>
              <a:rPr lang="en-US" sz="2000" b="1" i="0">
                <a:solidFill>
                  <a:srgbClr val="E09F3E"/>
                </a:solidFill>
                <a:latin typeface="Calibri"/>
              </a:rPr>
              <a:t>Wednesday 9 Sep  ·  15.00 – 16.30</a:t>
            </a:r>
          </a:p>
          <a:p>
            <a:pPr algn="l">
              <a:lnSpc>
                <a:spcPct val="95000"/>
              </a:lnSpc>
              <a:spcBef>
                <a:spcPts val="600"/>
              </a:spcBef>
            </a:pPr>
            <a:r>
              <a:rPr lang="en-US" sz="1800" b="0" i="1">
                <a:solidFill>
                  <a:srgbClr val="0B2B4E"/>
                </a:solidFill>
                <a:latin typeface="Calibri"/>
              </a:rPr>
              <a:t>Explore how Inter operates as a global sports organization and how its brand and commercial strategy drives success on and off the pitch.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6"/>
                                        </p:tgtEl>
                                        <p:attrNameLst>
                                          <p:attrName>style.visibility</p:attrName>
                                        </p:attrNameLst>
                                      </p:cBhvr>
                                      <p:to>
                                        <p:strVal val="visible"/>
                                      </p:to>
                                    </p:set>
                                    <p:animEffect transition="in" filter="fade">
                                      <p:cBhvr>
                                        <p:cTn id="7" dur="500"/>
                                        <p:tgtEl>
                                          <p:spTgt spid="25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7"/>
                                        </p:tgtEl>
                                        <p:attrNameLst>
                                          <p:attrName>style.visibility</p:attrName>
                                        </p:attrNameLst>
                                      </p:cBhvr>
                                      <p:to>
                                        <p:strVal val="visible"/>
                                      </p:to>
                                    </p:set>
                                    <p:animEffect transition="in" filter="fade">
                                      <p:cBhvr>
                                        <p:cTn id="12" dur="500"/>
                                        <p:tgtEl>
                                          <p:spTgt spid="2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8"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 name="TextBox 2"/>
          <p:cNvSpPr txBox="1"/>
          <p:nvPr/>
        </p:nvSpPr>
        <p:spPr>
          <a:xfrm>
            <a:off x="251999" y="0"/>
            <a:ext cx="10972800" cy="384048"/>
          </a:xfrm>
          <a:prstGeom prst="rect">
            <a:avLst/>
          </a:prstGeom>
          <a:noFill/>
        </p:spPr>
        <p:txBody>
          <a:bodyPr wrap="square" lIns="0" tIns="0" rIns="0" bIns="0" anchor="ctr">
            <a:spAutoFit/>
          </a:bodyPr>
          <a:lstStyle/>
          <a:p>
            <a:pPr algn="l"/>
            <a:r>
              <a:rPr lang="en-US" sz="1600" b="1" i="0">
                <a:solidFill>
                  <a:srgbClr val="FFFFFF"/>
                </a:solidFill>
                <a:latin typeface="Calibri"/>
              </a:rPr>
              <a:t>Italy IBR  ·  Company Presentations</a:t>
            </a:r>
          </a:p>
        </p:txBody>
      </p:sp>
      <p:sp>
        <p:nvSpPr>
          <p:cNvPr id="260" name="TextBox 3"/>
          <p:cNvSpPr txBox="1"/>
          <p:nvPr/>
        </p:nvSpPr>
        <p:spPr>
          <a:xfrm>
            <a:off x="251999" y="566928"/>
            <a:ext cx="11687697" cy="640080"/>
          </a:xfrm>
          <a:prstGeom prst="rect">
            <a:avLst/>
          </a:prstGeom>
          <a:noFill/>
        </p:spPr>
        <p:txBody>
          <a:bodyPr wrap="square" lIns="0" tIns="0" rIns="0" bIns="0">
            <a:spAutoFit/>
          </a:bodyPr>
          <a:lstStyle/>
          <a:p>
            <a:pPr algn="l"/>
            <a:r>
              <a:rPr lang="en-US" sz="3000" b="1" i="0">
                <a:solidFill>
                  <a:srgbClr val="0B2B4E"/>
                </a:solidFill>
                <a:latin typeface="Calibri"/>
              </a:rPr>
              <a:t>Pirelli – R&amp;D and Innovation Behind the Tire</a:t>
            </a:r>
          </a:p>
        </p:txBody>
      </p:sp>
      <p:sp>
        <p:nvSpPr>
          <p:cNvPr id="261" name="Rectangle 4"/>
          <p:cNvSpPr/>
          <p:nvPr/>
        </p:nvSpPr>
        <p:spPr>
          <a:xfrm>
            <a:off x="251999" y="118872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 name="Rectangle 5"/>
          <p:cNvSpPr/>
          <p:nvPr/>
        </p:nvSpPr>
        <p:spPr>
          <a:xfrm>
            <a:off x="251999" y="117500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TextBox 9"/>
          <p:cNvSpPr txBox="1"/>
          <p:nvPr/>
        </p:nvSpPr>
        <p:spPr>
          <a:xfrm>
            <a:off x="251999" y="6583680"/>
            <a:ext cx="10058400" cy="292608"/>
          </a:xfrm>
          <a:prstGeom prst="rect">
            <a:avLst/>
          </a:prstGeom>
          <a:noFill/>
        </p:spPr>
        <p:txBody>
          <a:bodyPr wrap="square" lIns="0" tIns="0" rIns="0" bIns="0">
            <a:spAutoFit/>
          </a:bodyPr>
          <a:lstStyle/>
          <a:p>
            <a:pPr algn="l"/>
            <a:r>
              <a:rPr lang="en-US" sz="1200" b="0" i="0">
                <a:solidFill>
                  <a:srgbClr val="555B66"/>
                </a:solidFill>
                <a:latin typeface="Calibri"/>
              </a:rPr>
              <a:t>International Business Residential – Italy</a:t>
            </a:r>
          </a:p>
        </p:txBody>
      </p:sp>
      <p:sp>
        <p:nvSpPr>
          <p:cNvPr id="266" name="TextBox 10"/>
          <p:cNvSpPr txBox="1"/>
          <p:nvPr/>
        </p:nvSpPr>
        <p:spPr>
          <a:xfrm>
            <a:off x="11430000" y="6583680"/>
            <a:ext cx="548640" cy="292608"/>
          </a:xfrm>
          <a:prstGeom prst="rect">
            <a:avLst/>
          </a:prstGeom>
          <a:noFill/>
        </p:spPr>
        <p:txBody>
          <a:bodyPr wrap="square" lIns="0" tIns="0" rIns="0" bIns="0">
            <a:spAutoFit/>
          </a:bodyPr>
          <a:lstStyle/>
          <a:p>
            <a:pPr algn="r"/>
            <a:fld id="{5B7A6A11-0000-4A00-9C00-000000000012}" type="slidenum">
              <a:rPr lang="en-US" sz="1200">
                <a:solidFill>
                  <a:srgbClr val="555B66"/>
                </a:solidFill>
                <a:latin typeface="Calibri"/>
              </a:rPr>
              <a:t>12</a:t>
            </a:fld>
            <a:endParaRPr lang="en-US" sz="1200">
              <a:solidFill>
                <a:srgbClr val="555B66"/>
              </a:solidFill>
              <a:latin typeface="Calibri"/>
            </a:endParaRPr>
          </a:p>
        </p:txBody>
      </p:sp>
      <p:pic>
        <p:nvPicPr>
          <p:cNvPr id="267" name="Picture 266" descr="_logo_pirelli.png"/>
          <p:cNvPicPr>
            <a:picLocks noChangeAspect="1"/>
          </p:cNvPicPr>
          <p:nvPr/>
        </p:nvPicPr>
        <p:blipFill>
          <a:blip r:embed="rId2"/>
          <a:stretch>
            <a:fillRect/>
          </a:stretch>
        </p:blipFill>
        <p:spPr>
          <a:xfrm>
            <a:off x="690536" y="2057400"/>
            <a:ext cx="4196768" cy="1097280"/>
          </a:xfrm>
          <a:prstGeom prst="rect">
            <a:avLst/>
          </a:prstGeom>
        </p:spPr>
      </p:pic>
      <p:sp>
        <p:nvSpPr>
          <p:cNvPr id="267" name="Sector"/>
          <p:cNvSpPr txBox="1"/>
          <p:nvPr/>
        </p:nvSpPr>
        <p:spPr>
          <a:xfrm>
            <a:off x="685800" y="3822192"/>
            <a:ext cx="4206240" cy="365760"/>
          </a:xfrm>
          <a:prstGeom prst="rect">
            <a:avLst/>
          </a:prstGeom>
          <a:noFill/>
        </p:spPr>
        <p:txBody>
          <a:bodyPr wrap="square" lIns="0" tIns="0" rIns="0" bIns="0">
            <a:spAutoFit/>
          </a:bodyPr>
          <a:lstStyle/>
          <a:p>
            <a:pPr algn="ctr"/>
            <a:r>
              <a:rPr lang="en-US" sz="2000" b="1" i="0">
                <a:solidFill>
                  <a:srgbClr val="0B2B4E"/>
                </a:solidFill>
                <a:latin typeface="Calibri"/>
              </a:rPr>
              <a:t>Vehicle Manufacturing</a:t>
            </a:r>
          </a:p>
        </p:txBody>
      </p:sp>
      <p:sp>
        <p:nvSpPr>
          <p:cNvPr id="268" name="GroupPill"/>
          <p:cNvSpPr/>
          <p:nvPr/>
        </p:nvSpPr>
        <p:spPr>
          <a:xfrm>
            <a:off x="1828800" y="4389120"/>
            <a:ext cx="1920240" cy="475488"/>
          </a:xfrm>
          <a:prstGeom prst="roundRect">
            <a:avLst>
              <a:gd name="adj" fmla="val 30000"/>
            </a:avLst>
          </a:prstGeom>
          <a:solidFill>
            <a:srgbClr val="0B2B4E"/>
          </a:solidFill>
          <a:ln>
            <a:noFill/>
          </a:ln>
          <a:effectLst>
            <a:outerShdw blurRad="50800" dist="38100" dir="2700000" rotWithShape="0">
              <a:srgbClr val="000000">
                <a:alpha val="30000"/>
              </a:srgbClr>
            </a:outerShdw>
          </a:effectLst>
        </p:spPr>
        <p:txBody>
          <a:bodyPr wrap="none" lIns="0" tIns="0" rIns="0" bIns="0" anchor="ctr"/>
          <a:lstStyle/>
          <a:p>
            <a:pPr algn="ctr"/>
            <a:r>
              <a:rPr lang="en-US" sz="1800" b="1" i="0">
                <a:solidFill>
                  <a:srgbClr val="FFFFFF"/>
                </a:solidFill>
                <a:latin typeface="Calibri"/>
              </a:rPr>
              <a:t>Group 8</a:t>
            </a:r>
          </a:p>
        </p:txBody>
      </p:sp>
      <p:sp>
        <p:nvSpPr>
          <p:cNvPr id="269" name="BriefCard"/>
          <p:cNvSpPr/>
          <p:nvPr/>
        </p:nvSpPr>
        <p:spPr>
          <a:xfrm>
            <a:off x="5394960" y="1572768"/>
            <a:ext cx="6537960" cy="1737360"/>
          </a:xfrm>
          <a:prstGeom prst="roundRect">
            <a:avLst>
              <a:gd name="adj" fmla="val 8000"/>
            </a:avLst>
          </a:prstGeom>
          <a:solidFill>
            <a:srgbClr val="FDF6E6"/>
          </a:solidFill>
          <a:ln w="12700">
            <a:solidFill>
              <a:srgbClr val="0B2B4E"/>
            </a:solidFill>
          </a:ln>
          <a:effectLst>
            <a:outerShdw blurRad="50800" dist="38100" dir="2700000" rotWithShape="0">
              <a:srgbClr val="000000">
                <a:alpha val="30000"/>
              </a:srgbClr>
            </a:outerShdw>
          </a:effectLst>
        </p:spPr>
        <p:txBody>
          <a:bodyPr wrap="square" lIns="237744" tIns="0" rIns="237744" bIns="0" anchor="t"/>
          <a:lstStyle/>
          <a:p>
            <a:pPr algn="l">
              <a:spcBef>
                <a:spcPts val="1400"/>
              </a:spcBef>
            </a:pPr>
            <a:r>
              <a:rPr lang="en-US" sz="2000" b="1" i="0">
                <a:solidFill>
                  <a:srgbClr val="0B2B4E"/>
                </a:solidFill>
                <a:latin typeface="Calibri"/>
              </a:rPr>
              <a:t>Your brief</a:t>
            </a:r>
          </a:p>
          <a:p>
            <a:pPr marL="342900" indent="-274320" algn="l">
              <a:spcBef>
                <a:spcPts val="700"/>
              </a:spcBef>
              <a:buClr>
                <a:srgbClr val="0B2B4E"/>
              </a:buClr>
              <a:buFont typeface="Calibri"/>
              <a:buChar char="▪"/>
            </a:pPr>
            <a:r>
              <a:rPr lang="en-US" sz="2000" b="0" i="0">
                <a:solidFill>
                  <a:srgbClr val="0B2B4E"/>
                </a:solidFill>
                <a:latin typeface="Calibri"/>
              </a:rPr>
              <a:t>Introduce the company</a:t>
            </a:r>
          </a:p>
          <a:p>
            <a:pPr marL="342900" indent="-274320" algn="l">
              <a:spcBef>
                <a:spcPts val="400"/>
              </a:spcBef>
              <a:buClr>
                <a:srgbClr val="0B2B4E"/>
              </a:buClr>
              <a:buFont typeface="Calibri"/>
              <a:buChar char="▪"/>
            </a:pPr>
            <a:r>
              <a:rPr lang="en-US" sz="2000" b="0" i="0">
                <a:solidFill>
                  <a:srgbClr val="0B2B4E"/>
                </a:solidFill>
                <a:latin typeface="Calibri"/>
              </a:rPr>
              <a:t>Then argue why (not) to invest in it</a:t>
            </a:r>
          </a:p>
        </p:txBody>
      </p:sp>
      <p:sp>
        <p:nvSpPr>
          <p:cNvPr id="270" name="VisitCard"/>
          <p:cNvSpPr/>
          <p:nvPr/>
        </p:nvSpPr>
        <p:spPr>
          <a:xfrm>
            <a:off x="5394960" y="3529584"/>
            <a:ext cx="6537960" cy="2148840"/>
          </a:xfrm>
          <a:prstGeom prst="roundRect">
            <a:avLst>
              <a:gd name="adj" fmla="val 8000"/>
            </a:avLst>
          </a:prstGeom>
          <a:solidFill>
            <a:srgbClr val="FDF6E6"/>
          </a:solidFill>
          <a:ln w="12700">
            <a:solidFill>
              <a:srgbClr val="0B2B4E"/>
            </a:solidFill>
          </a:ln>
          <a:effectLst>
            <a:outerShdw blurRad="50800" dist="38100" dir="2700000" rotWithShape="0">
              <a:srgbClr val="000000">
                <a:alpha val="30000"/>
              </a:srgbClr>
            </a:outerShdw>
          </a:effectLst>
        </p:spPr>
        <p:txBody>
          <a:bodyPr wrap="square" lIns="237744" tIns="0" rIns="237744" bIns="0" anchor="t"/>
          <a:lstStyle/>
          <a:p>
            <a:pPr algn="l">
              <a:spcBef>
                <a:spcPts val="1400"/>
              </a:spcBef>
            </a:pPr>
            <a:r>
              <a:rPr lang="en-US" sz="2000" b="1" i="0">
                <a:solidFill>
                  <a:srgbClr val="0B2B4E"/>
                </a:solidFill>
                <a:latin typeface="Calibri"/>
              </a:rPr>
              <a:t>We visit them on the trip</a:t>
            </a:r>
          </a:p>
          <a:p>
            <a:pPr algn="l">
              <a:spcBef>
                <a:spcPts val="700"/>
              </a:spcBef>
            </a:pPr>
            <a:r>
              <a:rPr lang="en-US" sz="2000" b="1" i="0">
                <a:solidFill>
                  <a:srgbClr val="E09F3E"/>
                </a:solidFill>
                <a:latin typeface="Calibri"/>
              </a:rPr>
              <a:t>Tuesday 8 Sep  ·  09.00 – 10.45</a:t>
            </a:r>
          </a:p>
          <a:p>
            <a:pPr algn="l">
              <a:lnSpc>
                <a:spcPct val="95000"/>
              </a:lnSpc>
              <a:spcBef>
                <a:spcPts val="600"/>
              </a:spcBef>
            </a:pPr>
            <a:r>
              <a:rPr lang="en-US" sz="1800" b="0" i="1">
                <a:solidFill>
                  <a:srgbClr val="0B2B4E"/>
                </a:solidFill>
                <a:latin typeface="Calibri"/>
              </a:rPr>
              <a:t>A session with the CTO of a global leader in tire manufacturing, exploring how R&amp;D and innovation drive commercial strategy across motorsport and luxury markets.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9"/>
                                        </p:tgtEl>
                                        <p:attrNameLst>
                                          <p:attrName>style.visibility</p:attrName>
                                        </p:attrNameLst>
                                      </p:cBhvr>
                                      <p:to>
                                        <p:strVal val="visible"/>
                                      </p:to>
                                    </p:set>
                                    <p:animEffect transition="in" filter="fade">
                                      <p:cBhvr>
                                        <p:cTn id="7" dur="500"/>
                                        <p:tgtEl>
                                          <p:spTgt spid="26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0"/>
                                        </p:tgtEl>
                                        <p:attrNameLst>
                                          <p:attrName>style.visibility</p:attrName>
                                        </p:attrNameLst>
                                      </p:cBhvr>
                                      <p:to>
                                        <p:strVal val="visible"/>
                                      </p:to>
                                    </p:set>
                                    <p:animEffect transition="in" filter="fade">
                                      <p:cBhvr>
                                        <p:cTn id="12" dur="500"/>
                                        <p:tgtEl>
                                          <p:spTgt spid="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71"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TextBox 2"/>
          <p:cNvSpPr txBox="1"/>
          <p:nvPr/>
        </p:nvSpPr>
        <p:spPr>
          <a:xfrm>
            <a:off x="251999" y="0"/>
            <a:ext cx="10972800" cy="384048"/>
          </a:xfrm>
          <a:prstGeom prst="rect">
            <a:avLst/>
          </a:prstGeom>
          <a:noFill/>
        </p:spPr>
        <p:txBody>
          <a:bodyPr wrap="square" lIns="0" tIns="0" rIns="0" bIns="0" anchor="ctr">
            <a:spAutoFit/>
          </a:bodyPr>
          <a:lstStyle/>
          <a:p>
            <a:pPr algn="l"/>
            <a:r>
              <a:rPr lang="en-US" sz="1600" b="1" i="0">
                <a:solidFill>
                  <a:srgbClr val="FFFFFF"/>
                </a:solidFill>
                <a:latin typeface="Calibri"/>
              </a:rPr>
              <a:t>Italy IBR  ·  Company Presentations</a:t>
            </a:r>
          </a:p>
        </p:txBody>
      </p:sp>
      <p:sp>
        <p:nvSpPr>
          <p:cNvPr id="273" name="TextBox 3"/>
          <p:cNvSpPr txBox="1"/>
          <p:nvPr/>
        </p:nvSpPr>
        <p:spPr>
          <a:xfrm>
            <a:off x="251999" y="566928"/>
            <a:ext cx="11687697" cy="640080"/>
          </a:xfrm>
          <a:prstGeom prst="rect">
            <a:avLst/>
          </a:prstGeom>
          <a:noFill/>
        </p:spPr>
        <p:txBody>
          <a:bodyPr wrap="square" lIns="0" tIns="0" rIns="0" bIns="0">
            <a:spAutoFit/>
          </a:bodyPr>
          <a:lstStyle/>
          <a:p>
            <a:pPr algn="l"/>
            <a:r>
              <a:rPr lang="en-US" sz="3000" b="1" i="0">
                <a:solidFill>
                  <a:srgbClr val="0B2B4E"/>
                </a:solidFill>
                <a:latin typeface="Calibri"/>
              </a:rPr>
              <a:t>EssilorLuxottica – Premium Eyewear at Global Scale</a:t>
            </a:r>
          </a:p>
        </p:txBody>
      </p:sp>
      <p:sp>
        <p:nvSpPr>
          <p:cNvPr id="274" name="Rectangle 4"/>
          <p:cNvSpPr/>
          <p:nvPr/>
        </p:nvSpPr>
        <p:spPr>
          <a:xfrm>
            <a:off x="251999" y="118872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Rectangle 5"/>
          <p:cNvSpPr/>
          <p:nvPr/>
        </p:nvSpPr>
        <p:spPr>
          <a:xfrm>
            <a:off x="251999" y="117500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TextBox 9"/>
          <p:cNvSpPr txBox="1"/>
          <p:nvPr/>
        </p:nvSpPr>
        <p:spPr>
          <a:xfrm>
            <a:off x="251999" y="6583680"/>
            <a:ext cx="10058400" cy="292608"/>
          </a:xfrm>
          <a:prstGeom prst="rect">
            <a:avLst/>
          </a:prstGeom>
          <a:noFill/>
        </p:spPr>
        <p:txBody>
          <a:bodyPr wrap="square" lIns="0" tIns="0" rIns="0" bIns="0">
            <a:spAutoFit/>
          </a:bodyPr>
          <a:lstStyle/>
          <a:p>
            <a:pPr algn="l"/>
            <a:r>
              <a:rPr lang="en-US" sz="1200" b="0" i="0">
                <a:solidFill>
                  <a:srgbClr val="555B66"/>
                </a:solidFill>
                <a:latin typeface="Calibri"/>
              </a:rPr>
              <a:t>International Business Residential – Italy</a:t>
            </a:r>
          </a:p>
        </p:txBody>
      </p:sp>
      <p:sp>
        <p:nvSpPr>
          <p:cNvPr id="279" name="TextBox 10"/>
          <p:cNvSpPr txBox="1"/>
          <p:nvPr/>
        </p:nvSpPr>
        <p:spPr>
          <a:xfrm>
            <a:off x="11430000" y="6583680"/>
            <a:ext cx="548640" cy="292608"/>
          </a:xfrm>
          <a:prstGeom prst="rect">
            <a:avLst/>
          </a:prstGeom>
          <a:noFill/>
        </p:spPr>
        <p:txBody>
          <a:bodyPr wrap="square" lIns="0" tIns="0" rIns="0" bIns="0">
            <a:spAutoFit/>
          </a:bodyPr>
          <a:lstStyle/>
          <a:p>
            <a:pPr algn="r"/>
            <a:fld id="{5B7A6A11-0000-4A00-9C00-000000000013}" type="slidenum">
              <a:rPr lang="en-US" sz="1200">
                <a:solidFill>
                  <a:srgbClr val="555B66"/>
                </a:solidFill>
                <a:latin typeface="Calibri"/>
              </a:rPr>
              <a:t>13</a:t>
            </a:fld>
            <a:endParaRPr lang="en-US" sz="1200">
              <a:solidFill>
                <a:srgbClr val="555B66"/>
              </a:solidFill>
              <a:latin typeface="Calibri"/>
            </a:endParaRPr>
          </a:p>
        </p:txBody>
      </p:sp>
      <p:pic>
        <p:nvPicPr>
          <p:cNvPr id="280" name="Picture 279" descr="_logo_essilor.png"/>
          <p:cNvPicPr>
            <a:picLocks noChangeAspect="1"/>
          </p:cNvPicPr>
          <p:nvPr/>
        </p:nvPicPr>
        <p:blipFill>
          <a:blip r:embed="rId2"/>
          <a:stretch>
            <a:fillRect/>
          </a:stretch>
        </p:blipFill>
        <p:spPr>
          <a:xfrm>
            <a:off x="685800" y="2373821"/>
            <a:ext cx="4206240" cy="464439"/>
          </a:xfrm>
          <a:prstGeom prst="rect">
            <a:avLst/>
          </a:prstGeom>
        </p:spPr>
      </p:pic>
      <p:sp>
        <p:nvSpPr>
          <p:cNvPr id="280" name="Sector"/>
          <p:cNvSpPr txBox="1"/>
          <p:nvPr/>
        </p:nvSpPr>
        <p:spPr>
          <a:xfrm>
            <a:off x="685800" y="3822192"/>
            <a:ext cx="4206240" cy="365760"/>
          </a:xfrm>
          <a:prstGeom prst="rect">
            <a:avLst/>
          </a:prstGeom>
          <a:noFill/>
        </p:spPr>
        <p:txBody>
          <a:bodyPr wrap="square" lIns="0" tIns="0" rIns="0" bIns="0">
            <a:spAutoFit/>
          </a:bodyPr>
          <a:lstStyle/>
          <a:p>
            <a:pPr algn="ctr"/>
            <a:r>
              <a:rPr lang="en-US" sz="2000" b="1" i="0">
                <a:solidFill>
                  <a:srgbClr val="0B2B4E"/>
                </a:solidFill>
                <a:latin typeface="Calibri"/>
              </a:rPr>
              <a:t>Eyewear Manufacturer</a:t>
            </a:r>
          </a:p>
        </p:txBody>
      </p:sp>
      <p:sp>
        <p:nvSpPr>
          <p:cNvPr id="281" name="GroupPill"/>
          <p:cNvSpPr/>
          <p:nvPr/>
        </p:nvSpPr>
        <p:spPr>
          <a:xfrm>
            <a:off x="1828800" y="4389120"/>
            <a:ext cx="1920240" cy="475488"/>
          </a:xfrm>
          <a:prstGeom prst="roundRect">
            <a:avLst>
              <a:gd name="adj" fmla="val 30000"/>
            </a:avLst>
          </a:prstGeom>
          <a:solidFill>
            <a:srgbClr val="0B2B4E"/>
          </a:solidFill>
          <a:ln>
            <a:noFill/>
          </a:ln>
          <a:effectLst>
            <a:outerShdw blurRad="50800" dist="38100" dir="2700000" rotWithShape="0">
              <a:srgbClr val="000000">
                <a:alpha val="30000"/>
              </a:srgbClr>
            </a:outerShdw>
          </a:effectLst>
        </p:spPr>
        <p:txBody>
          <a:bodyPr wrap="none" lIns="0" tIns="0" rIns="0" bIns="0" anchor="ctr"/>
          <a:lstStyle/>
          <a:p>
            <a:pPr algn="ctr"/>
            <a:r>
              <a:rPr lang="en-US" sz="1800" b="1" i="0">
                <a:solidFill>
                  <a:srgbClr val="FFFFFF"/>
                </a:solidFill>
                <a:latin typeface="Calibri"/>
              </a:rPr>
              <a:t>Group 9</a:t>
            </a:r>
          </a:p>
        </p:txBody>
      </p:sp>
      <p:sp>
        <p:nvSpPr>
          <p:cNvPr id="282" name="BriefCard"/>
          <p:cNvSpPr/>
          <p:nvPr/>
        </p:nvSpPr>
        <p:spPr>
          <a:xfrm>
            <a:off x="5394960" y="1572768"/>
            <a:ext cx="6537960" cy="1737360"/>
          </a:xfrm>
          <a:prstGeom prst="roundRect">
            <a:avLst>
              <a:gd name="adj" fmla="val 8000"/>
            </a:avLst>
          </a:prstGeom>
          <a:solidFill>
            <a:srgbClr val="FDF6E6"/>
          </a:solidFill>
          <a:ln w="12700">
            <a:solidFill>
              <a:srgbClr val="0B2B4E"/>
            </a:solidFill>
          </a:ln>
          <a:effectLst>
            <a:outerShdw blurRad="50800" dist="38100" dir="2700000" rotWithShape="0">
              <a:srgbClr val="000000">
                <a:alpha val="30000"/>
              </a:srgbClr>
            </a:outerShdw>
          </a:effectLst>
        </p:spPr>
        <p:txBody>
          <a:bodyPr wrap="square" lIns="237744" tIns="0" rIns="237744" bIns="0" anchor="t"/>
          <a:lstStyle/>
          <a:p>
            <a:pPr algn="l">
              <a:spcBef>
                <a:spcPts val="1400"/>
              </a:spcBef>
            </a:pPr>
            <a:r>
              <a:rPr lang="en-US" sz="2000" b="1" i="0">
                <a:solidFill>
                  <a:srgbClr val="0B2B4E"/>
                </a:solidFill>
                <a:latin typeface="Calibri"/>
              </a:rPr>
              <a:t>Your brief</a:t>
            </a:r>
          </a:p>
          <a:p>
            <a:pPr marL="342900" indent="-274320" algn="l">
              <a:spcBef>
                <a:spcPts val="700"/>
              </a:spcBef>
              <a:buClr>
                <a:srgbClr val="0B2B4E"/>
              </a:buClr>
              <a:buFont typeface="Calibri"/>
              <a:buChar char="▪"/>
            </a:pPr>
            <a:r>
              <a:rPr lang="en-US" sz="2000" b="0" i="0">
                <a:solidFill>
                  <a:srgbClr val="0B2B4E"/>
                </a:solidFill>
                <a:latin typeface="Calibri"/>
              </a:rPr>
              <a:t>Introduce the company</a:t>
            </a:r>
          </a:p>
          <a:p>
            <a:pPr marL="342900" indent="-274320" algn="l">
              <a:spcBef>
                <a:spcPts val="400"/>
              </a:spcBef>
              <a:buClr>
                <a:srgbClr val="0B2B4E"/>
              </a:buClr>
              <a:buFont typeface="Calibri"/>
              <a:buChar char="▪"/>
            </a:pPr>
            <a:r>
              <a:rPr lang="en-US" sz="2000" b="0" i="0">
                <a:solidFill>
                  <a:srgbClr val="0B2B4E"/>
                </a:solidFill>
                <a:latin typeface="Calibri"/>
              </a:rPr>
              <a:t>Then argue why (not) to invest in it</a:t>
            </a:r>
          </a:p>
        </p:txBody>
      </p:sp>
      <p:sp>
        <p:nvSpPr>
          <p:cNvPr id="283" name="VisitCard"/>
          <p:cNvSpPr/>
          <p:nvPr/>
        </p:nvSpPr>
        <p:spPr>
          <a:xfrm>
            <a:off x="5394960" y="3529584"/>
            <a:ext cx="6537960" cy="2148840"/>
          </a:xfrm>
          <a:prstGeom prst="roundRect">
            <a:avLst>
              <a:gd name="adj" fmla="val 8000"/>
            </a:avLst>
          </a:prstGeom>
          <a:solidFill>
            <a:srgbClr val="FDF6E6"/>
          </a:solidFill>
          <a:ln w="12700">
            <a:solidFill>
              <a:srgbClr val="0B2B4E"/>
            </a:solidFill>
          </a:ln>
          <a:effectLst>
            <a:outerShdw blurRad="50800" dist="38100" dir="2700000" rotWithShape="0">
              <a:srgbClr val="000000">
                <a:alpha val="30000"/>
              </a:srgbClr>
            </a:outerShdw>
          </a:effectLst>
        </p:spPr>
        <p:txBody>
          <a:bodyPr wrap="square" lIns="237744" tIns="0" rIns="237744" bIns="0" anchor="t"/>
          <a:lstStyle/>
          <a:p>
            <a:pPr algn="l">
              <a:spcBef>
                <a:spcPts val="1400"/>
              </a:spcBef>
            </a:pPr>
            <a:r>
              <a:rPr lang="en-US" sz="2000" b="1" i="0">
                <a:solidFill>
                  <a:srgbClr val="0B2B4E"/>
                </a:solidFill>
                <a:latin typeface="Calibri"/>
              </a:rPr>
              <a:t>We visit them on the trip</a:t>
            </a:r>
          </a:p>
          <a:p>
            <a:pPr algn="l">
              <a:spcBef>
                <a:spcPts val="700"/>
              </a:spcBef>
            </a:pPr>
            <a:r>
              <a:rPr lang="en-US" sz="2000" b="1" i="0">
                <a:solidFill>
                  <a:srgbClr val="E09F3E"/>
                </a:solidFill>
                <a:latin typeface="Calibri"/>
              </a:rPr>
              <a:t>Tuesday 8 Sep  ·  11.30 – 13.00</a:t>
            </a:r>
          </a:p>
          <a:p>
            <a:pPr algn="l">
              <a:lnSpc>
                <a:spcPct val="95000"/>
              </a:lnSpc>
              <a:spcBef>
                <a:spcPts val="600"/>
              </a:spcBef>
            </a:pPr>
            <a:r>
              <a:rPr lang="en-US" sz="1800" b="0" i="1">
                <a:solidFill>
                  <a:srgbClr val="0B2B4E"/>
                </a:solidFill>
                <a:latin typeface="Calibri"/>
              </a:rPr>
              <a:t>Hear from a global leader in premium eyewear design and manufacturing, to learn how the company partners with top fashion brands.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2"/>
                                        </p:tgtEl>
                                        <p:attrNameLst>
                                          <p:attrName>style.visibility</p:attrName>
                                        </p:attrNameLst>
                                      </p:cBhvr>
                                      <p:to>
                                        <p:strVal val="visible"/>
                                      </p:to>
                                    </p:set>
                                    <p:animEffect transition="in" filter="fade">
                                      <p:cBhvr>
                                        <p:cTn id="7" dur="500"/>
                                        <p:tgtEl>
                                          <p:spTgt spid="2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3"/>
                                        </p:tgtEl>
                                        <p:attrNameLst>
                                          <p:attrName>style.visibility</p:attrName>
                                        </p:attrNameLst>
                                      </p:cBhvr>
                                      <p:to>
                                        <p:strVal val="visible"/>
                                      </p:to>
                                    </p:set>
                                    <p:animEffect transition="in" filter="fade">
                                      <p:cBhvr>
                                        <p:cTn id="12" dur="500"/>
                                        <p:tgtEl>
                                          <p:spTgt spid="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84" name="TextBox 1"/>
          <p:cNvSpPr txBox="1"/>
          <p:nvPr/>
        </p:nvSpPr>
        <p:spPr>
          <a:xfrm>
            <a:off x="251999" y="2743200"/>
            <a:ext cx="11687697" cy="1188720"/>
          </a:xfrm>
          <a:prstGeom prst="rect">
            <a:avLst/>
          </a:prstGeom>
          <a:noFill/>
        </p:spPr>
        <p:txBody>
          <a:bodyPr wrap="square" lIns="0" tIns="0" rIns="0" bIns="0">
            <a:spAutoFit/>
          </a:bodyPr>
          <a:lstStyle/>
          <a:p>
            <a:pPr algn="ctr"/>
            <a:r>
              <a:rPr lang="en-US" sz="6000" b="1" i="0">
                <a:solidFill>
                  <a:srgbClr val="0B2B4E"/>
                </a:solidFill>
                <a:latin typeface="Calibri"/>
              </a:rPr>
              <a:t>Thank You!</a:t>
            </a:r>
          </a:p>
        </p:txBody>
      </p:sp>
      <p:sp>
        <p:nvSpPr>
          <p:cNvPr id="285" name="Rectangle 2"/>
          <p:cNvSpPr/>
          <p:nvPr/>
        </p:nvSpPr>
        <p:spPr>
          <a:xfrm>
            <a:off x="4722876" y="3931920"/>
            <a:ext cx="27432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88"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 name="TextBox 2"/>
          <p:cNvSpPr txBox="1"/>
          <p:nvPr/>
        </p:nvSpPr>
        <p:spPr>
          <a:xfrm>
            <a:off x="251999" y="0"/>
            <a:ext cx="10972800" cy="384048"/>
          </a:xfrm>
          <a:prstGeom prst="rect">
            <a:avLst/>
          </a:prstGeom>
          <a:noFill/>
        </p:spPr>
        <p:txBody>
          <a:bodyPr wrap="square" lIns="0" tIns="0" rIns="0" bIns="0" anchor="ctr">
            <a:spAutoFit/>
          </a:bodyPr>
          <a:lstStyle/>
          <a:p>
            <a:pPr algn="l"/>
            <a:r>
              <a:rPr lang="en-US" sz="1600" b="1" i="0">
                <a:solidFill>
                  <a:srgbClr val="FFFFFF"/>
                </a:solidFill>
                <a:latin typeface="Calibri"/>
              </a:rPr>
              <a:t>Italy IBR  ·  Backup Slides</a:t>
            </a:r>
          </a:p>
        </p:txBody>
      </p:sp>
      <p:sp>
        <p:nvSpPr>
          <p:cNvPr id="290" name="TextBox 3"/>
          <p:cNvSpPr txBox="1"/>
          <p:nvPr/>
        </p:nvSpPr>
        <p:spPr>
          <a:xfrm>
            <a:off x="251999" y="2743200"/>
            <a:ext cx="11687697" cy="914400"/>
          </a:xfrm>
          <a:prstGeom prst="rect">
            <a:avLst/>
          </a:prstGeom>
          <a:noFill/>
        </p:spPr>
        <p:txBody>
          <a:bodyPr wrap="square" lIns="0" tIns="0" rIns="0" bIns="0">
            <a:spAutoFit/>
          </a:bodyPr>
          <a:lstStyle/>
          <a:p>
            <a:pPr algn="ctr"/>
            <a:r>
              <a:rPr lang="en-US" sz="4400" b="1" i="0">
                <a:solidFill>
                  <a:srgbClr val="0B2B4E"/>
                </a:solidFill>
                <a:latin typeface="Calibri"/>
              </a:rPr>
              <a:t>Backup Slides</a:t>
            </a:r>
          </a:p>
        </p:txBody>
      </p:sp>
      <p:sp>
        <p:nvSpPr>
          <p:cNvPr id="291" name="Rectangle 4"/>
          <p:cNvSpPr/>
          <p:nvPr/>
        </p:nvSpPr>
        <p:spPr>
          <a:xfrm>
            <a:off x="4722876" y="3840480"/>
            <a:ext cx="274320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 name="TextBox 9"/>
          <p:cNvSpPr txBox="1"/>
          <p:nvPr/>
        </p:nvSpPr>
        <p:spPr>
          <a:xfrm>
            <a:off x="251999" y="6583680"/>
            <a:ext cx="10058400" cy="292608"/>
          </a:xfrm>
          <a:prstGeom prst="rect">
            <a:avLst/>
          </a:prstGeom>
          <a:noFill/>
        </p:spPr>
        <p:txBody>
          <a:bodyPr wrap="square" lIns="0" tIns="0" rIns="0" bIns="0">
            <a:spAutoFit/>
          </a:bodyPr>
          <a:lstStyle/>
          <a:p>
            <a:pPr algn="l"/>
            <a:r>
              <a:rPr lang="en-US" sz="1200" b="0" i="0">
                <a:solidFill>
                  <a:srgbClr val="555B66"/>
                </a:solidFill>
                <a:latin typeface="Calibri"/>
              </a:rPr>
              <a:t>International Business Residential – Italy</a:t>
            </a:r>
          </a:p>
        </p:txBody>
      </p:sp>
      <p:sp>
        <p:nvSpPr>
          <p:cNvPr id="295" name="TextBox 10"/>
          <p:cNvSpPr txBox="1"/>
          <p:nvPr/>
        </p:nvSpPr>
        <p:spPr>
          <a:xfrm>
            <a:off x="11430000" y="6583680"/>
            <a:ext cx="548640" cy="292608"/>
          </a:xfrm>
          <a:prstGeom prst="rect">
            <a:avLst/>
          </a:prstGeom>
          <a:noFill/>
        </p:spPr>
        <p:txBody>
          <a:bodyPr wrap="square" lIns="0" tIns="0" rIns="0" bIns="0">
            <a:spAutoFit/>
          </a:bodyPr>
          <a:lstStyle/>
          <a:p>
            <a:pPr algn="r"/>
            <a:fld id="{5B7A6A11-0000-4A00-9C00-000000000015}" type="slidenum">
              <a:rPr lang="en-US" sz="1200">
                <a:solidFill>
                  <a:srgbClr val="555B66"/>
                </a:solidFill>
                <a:latin typeface="Calibri"/>
              </a:rPr>
              <a:t>15</a:t>
            </a:fld>
            <a:endParaRPr lang="en-US" sz="1200">
              <a:solidFill>
                <a:srgbClr val="555B66"/>
              </a:solidFill>
              <a:latin typeface="Calibri"/>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6"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 name="TextBox 2"/>
          <p:cNvSpPr txBox="1"/>
          <p:nvPr/>
        </p:nvSpPr>
        <p:spPr>
          <a:xfrm>
            <a:off x="251999" y="0"/>
            <a:ext cx="10972800" cy="384048"/>
          </a:xfrm>
          <a:prstGeom prst="rect">
            <a:avLst/>
          </a:prstGeom>
          <a:noFill/>
        </p:spPr>
        <p:txBody>
          <a:bodyPr wrap="square" lIns="0" tIns="0" rIns="0" bIns="0" anchor="ctr">
            <a:spAutoFit/>
          </a:bodyPr>
          <a:lstStyle/>
          <a:p>
            <a:pPr algn="l"/>
            <a:r>
              <a:rPr lang="en-US" sz="1600" b="1" i="0">
                <a:solidFill>
                  <a:srgbClr val="FFFFFF"/>
                </a:solidFill>
                <a:latin typeface="Calibri"/>
              </a:rPr>
              <a:t>Italy IBR  ·  Backup</a:t>
            </a:r>
          </a:p>
        </p:txBody>
      </p:sp>
      <p:sp>
        <p:nvSpPr>
          <p:cNvPr id="298" name="TextBox 3"/>
          <p:cNvSpPr txBox="1"/>
          <p:nvPr/>
        </p:nvSpPr>
        <p:spPr>
          <a:xfrm>
            <a:off x="251999" y="566928"/>
            <a:ext cx="11687697" cy="640080"/>
          </a:xfrm>
          <a:prstGeom prst="rect">
            <a:avLst/>
          </a:prstGeom>
          <a:noFill/>
        </p:spPr>
        <p:txBody>
          <a:bodyPr wrap="square" lIns="0" tIns="0" rIns="0" bIns="0">
            <a:spAutoFit/>
          </a:bodyPr>
          <a:lstStyle/>
          <a:p>
            <a:pPr algn="l"/>
            <a:r>
              <a:rPr lang="en-US" sz="3000" b="1" i="0">
                <a:solidFill>
                  <a:srgbClr val="0B2B4E"/>
                </a:solidFill>
                <a:latin typeface="Calibri"/>
              </a:rPr>
              <a:t>Trip Schedule (Sep 6 – 11)</a:t>
            </a:r>
          </a:p>
        </p:txBody>
      </p:sp>
      <p:sp>
        <p:nvSpPr>
          <p:cNvPr id="299" name="Rectangle 4"/>
          <p:cNvSpPr/>
          <p:nvPr/>
        </p:nvSpPr>
        <p:spPr>
          <a:xfrm>
            <a:off x="251999" y="118872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Rectangle 5"/>
          <p:cNvSpPr/>
          <p:nvPr/>
        </p:nvSpPr>
        <p:spPr>
          <a:xfrm>
            <a:off x="251999" y="117500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 name="TextBox 9"/>
          <p:cNvSpPr txBox="1"/>
          <p:nvPr/>
        </p:nvSpPr>
        <p:spPr>
          <a:xfrm>
            <a:off x="251999" y="6583680"/>
            <a:ext cx="10058400" cy="292608"/>
          </a:xfrm>
          <a:prstGeom prst="rect">
            <a:avLst/>
          </a:prstGeom>
          <a:noFill/>
        </p:spPr>
        <p:txBody>
          <a:bodyPr wrap="square" lIns="0" tIns="0" rIns="0" bIns="0">
            <a:spAutoFit/>
          </a:bodyPr>
          <a:lstStyle/>
          <a:p>
            <a:pPr algn="l"/>
            <a:r>
              <a:rPr lang="en-US" sz="1200" b="0" i="0">
                <a:solidFill>
                  <a:srgbClr val="555B66"/>
                </a:solidFill>
                <a:latin typeface="Calibri"/>
              </a:rPr>
              <a:t>International Business Residential – Italy</a:t>
            </a:r>
          </a:p>
        </p:txBody>
      </p:sp>
      <p:sp>
        <p:nvSpPr>
          <p:cNvPr id="304" name="TextBox 10"/>
          <p:cNvSpPr txBox="1"/>
          <p:nvPr/>
        </p:nvSpPr>
        <p:spPr>
          <a:xfrm>
            <a:off x="11430000" y="6583680"/>
            <a:ext cx="548640" cy="292608"/>
          </a:xfrm>
          <a:prstGeom prst="rect">
            <a:avLst/>
          </a:prstGeom>
          <a:noFill/>
        </p:spPr>
        <p:txBody>
          <a:bodyPr wrap="square" lIns="0" tIns="0" rIns="0" bIns="0">
            <a:spAutoFit/>
          </a:bodyPr>
          <a:lstStyle/>
          <a:p>
            <a:pPr algn="r"/>
            <a:fld id="{5B7A6A11-0000-4A00-9C00-000000000016}" type="slidenum">
              <a:rPr lang="en-US" sz="1200">
                <a:solidFill>
                  <a:srgbClr val="555B66"/>
                </a:solidFill>
                <a:latin typeface="Calibri"/>
              </a:rPr>
              <a:t>16</a:t>
            </a:fld>
            <a:endParaRPr lang="en-US" sz="1200">
              <a:solidFill>
                <a:srgbClr val="555B66"/>
              </a:solidFill>
              <a:latin typeface="Calibri"/>
            </a:endParaRPr>
          </a:p>
        </p:txBody>
      </p:sp>
      <p:pic>
        <p:nvPicPr>
          <p:cNvPr id="305" name="Picture 304" descr="itinerary_2026.png"/>
          <p:cNvPicPr>
            <a:picLocks noChangeAspect="1"/>
          </p:cNvPicPr>
          <p:nvPr/>
        </p:nvPicPr>
        <p:blipFill>
          <a:blip r:embed="rId2"/>
          <a:stretch>
            <a:fillRect/>
          </a:stretch>
        </p:blipFill>
        <p:spPr>
          <a:xfrm>
            <a:off x="2833402" y="1243584"/>
            <a:ext cx="6525196" cy="4974336"/>
          </a:xfrm>
          <a:prstGeom prst="rect">
            <a:avLst/>
          </a:prstGeom>
        </p:spPr>
      </p:pic>
      <p:sp>
        <p:nvSpPr>
          <p:cNvPr id="305" name="BackButton">
            <a:hlinkClick r:id="rId3" action="ppaction://hlinksldjump"/>
          </p:cNvPr>
          <p:cNvSpPr/>
          <p:nvPr/>
        </p:nvSpPr>
        <p:spPr>
          <a:xfrm>
            <a:off x="10716768" y="6035040"/>
            <a:ext cx="1417320" cy="420624"/>
          </a:xfrm>
          <a:prstGeom prst="roundRect">
            <a:avLst>
              <a:gd name="adj" fmla="val 30000"/>
            </a:avLst>
          </a:prstGeom>
          <a:solidFill>
            <a:srgbClr val="0B2B4E"/>
          </a:solidFill>
          <a:ln>
            <a:noFill/>
          </a:ln>
          <a:effectLst>
            <a:outerShdw blurRad="50800" dist="38100" dir="2700000" rotWithShape="0">
              <a:srgbClr val="000000">
                <a:alpha val="30000"/>
              </a:srgbClr>
            </a:outerShdw>
          </a:effectLst>
        </p:spPr>
        <p:txBody>
          <a:bodyPr wrap="square" lIns="45720" tIns="0" rIns="45720" bIns="0" anchor="ctr"/>
          <a:lstStyle/>
          <a:p>
            <a:pPr algn="ctr"/>
            <a:r>
              <a:rPr lang="en-US" sz="1400" b="1" i="0">
                <a:solidFill>
                  <a:srgbClr val="FFFFFF"/>
                </a:solidFill>
                <a:latin typeface="Calibri"/>
              </a:rPr>
              <a:t>← Back</a:t>
            </a:r>
          </a:p>
        </p:txBody>
      </p:sp>
      <p:sp>
        <p:nvSpPr>
          <p:cNvPr id="306" name="SchedSrc"/>
          <p:cNvSpPr txBox="1"/>
          <p:nvPr/>
        </p:nvSpPr>
        <p:spPr>
          <a:xfrm>
            <a:off x="2833402" y="6254496"/>
            <a:ext cx="6525196" cy="237744"/>
          </a:xfrm>
          <a:prstGeom prst="rect">
            <a:avLst/>
          </a:prstGeom>
          <a:noFill/>
        </p:spPr>
        <p:txBody>
          <a:bodyPr wrap="square" lIns="0" tIns="0" rIns="0" bIns="0">
            <a:spAutoFit/>
          </a:bodyPr>
          <a:lstStyle/>
          <a:p>
            <a:pPr algn="ctr"/>
            <a:r>
              <a:rPr lang="en-US" sz="1200" b="0" i="1">
                <a:solidFill>
                  <a:srgbClr val="555B66"/>
                </a:solidFill>
                <a:latin typeface="Calibri"/>
              </a:rPr>
              <a:t>Itinerary: Legacy Ventures, “UCLA Italy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6096000" y="0"/>
          <a:ext cx="0" cy="0"/>
          <a:chOff x="0" y="0"/>
          <a:chExt cx="0" cy="0"/>
        </a:xfrm>
      </p:grpSpPr>
      <p:pic>
        <p:nvPicPr>
          <p:cNvPr id="3" name="Picture 2">
            <a:extLst>
              <a:ext uri="{FF2B5EF4-FFF2-40B4-BE49-F238E27FC236}">
                <a16:creationId xmlns:a16="http://schemas.microsoft.com/office/drawing/2014/main" id="{82A48909-8246-4435-BEB6-2370101F24AE}"/>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190500" y="190500"/>
            <a:ext cx="8763000" cy="6477000"/>
          </a:xfrm>
          <a:prstGeom prst="rect">
            <a:avLst/>
          </a:prstGeom>
        </p:spPr>
      </p:pic>
    </p:spTree>
    <p:extLst>
      <p:ext uri="{BB962C8B-B14F-4D97-AF65-F5344CB8AC3E}">
        <p14:creationId xmlns:p14="http://schemas.microsoft.com/office/powerpoint/2010/main" val="408494928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_PE_POLL_EMBED_ID" val="142ec867-4701-4129-882a-9198607ab2f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