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6.xml" ContentType="application/vnd.openxmlformats-officedocument.presentationml.slide+xml"/>
  <Override PartName="/ppt/notesSlides/notesSlide15.xml" ContentType="application/vnd.openxmlformats-officedocument.presentationml.notesSlide+xml"/>
  <Override PartName="/ppt/tags/tag1.xml" ContentType="application/vnd.openxmlformats-officedocument.presentationml.tag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71" r:id="rId23"/>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This is our second class, and today the class is yours: seven groups present, and we debate. Two broad-topic debates and five of the companies we will visit in Milan and Turin. I will keep time and moderate, and we close by looking ahead to the trip itself.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First the logistics from here to Milan, then a quick poll on when you arrive, and then the main event: the seven group presentations. Two of them are head-to-head debates on broad questions about the Italian economy, and five are company presentations on firms we will actually walk into during the trip.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on timing. Today each group gives a 2 to 3 minute executive summary of the video you already submitted, and then we open it up; I will cap each topic at 20 minutes so everyone gets the floor. The trip runs September 6 to 12, Milan first and then Turin, and the full day-by-day schedule is on the last slide if you click through. Dress code is casual throughout, and do get melatonin before you fly. We meet once more on October 4 to debrief and talk through your reports.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over to you. Seven presentations, in the order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running order, and it follows the sign-up sheet. We start with the two debates, where two groups argue opposite sides of the same question, and then move to the five company presentations. Each company group introduces the firm and then makes the case for or against investing in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head-to-head debate: the two groups were handed opposite sides of the same question, so treat the statements on the slide as positions to argue, not as my view. Group 1 opens with a 2 to 3 minute executive summary, Group 3 follows, and then we open the floor. Listen for which side leans on evidence and which leans on assertion.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Kering is on the trip: we see them Wednesday 9 Sep, 09.00 – 10.30. The group has 2 to 3 minutes to introduce the company and then to argue why we should, or should not, invest in it. Keep the investment case concrete, and note the questions you want to put to the company when we are in the room with them.  Sector: Luxury Group. [Logo: Wikimedia Commons, File:Kering-logo.svg]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head-to-head debate: the two groups were handed opposite sides of the same question, so treat the statements on the slide as positions to argue, not as my view. Group 4 opens with a 2 to 3 minute executive summary, Group 7 follows, and then we open the floor. Listen for which side leans on evidence and which leans on assertion.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Prada Group is on the trip: we see them Tuesday 8 Sep, 15.00 – 16.30. The group has 2 to 3 minutes to introduce the company and then to argue why we should, or should not, invest in it. Keep the investment case concrete, and note the questions you want to put to the company when we are in the room with them.  Sector: Luxury Fashion. [Logo: Wikimedia Commons, File:Prada Group - logo (Italy).svg]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 Milan FC is on the trip: we see them Wednesday 9 Sep, 15.00 – 16.30. The group has 2 to 3 minutes to introduce the company and then to argue why we should, or should not, invest in it. Keep the investment case concrete, and note the questions you want to put to the company when we are in the room with them.  Sector: Iconic Sports Team. [Logo: Wikimedia Commons, File:FC Internazionale Milano 2021.svg]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Pirelli is on the trip: we see them Tuesday 8 Sep, 09.00 – 10.45. The group has 2 to 3 minutes to introduce the company and then to argue why we should, or should not, invest in it. Keep the investment case concrete, and note the questions you want to put to the company when we are in the room with them.  Sector: Vehicle Manufacturing. [Logo: Wikimedia Commons, File:Pirelli - logo full (Italy, 1997).svg]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EssilorLuxottica is on the trip: we see them Tuesday 8 Sep, 11.30 – 13.00. The group has 2 to 3 minutes to introduce the company and then to argue why we should, or should not, invest in it. Keep the investment case concrete, and note the questions you want to put to the company when we are in the room with them.  Sector: Eyewear Manufacturer. [Logo: Wikimedia Commons, File:Logo EssilorLuxottica.svg]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all. See you in Milan on September 6, and we will regroup on Zoom on October 4 to debrief.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week. Milan Sunday through Wednesday, then we coach over to Turin on Thursday morning. The company sessions are the ones five of the groups are presenting on today: Pirelli and EssilorLuxottica and Prada on Tuesday, Kering and Inter on Wednesday, then Lavazza and Carioca in Turin, and Stellantis and LeapFactory on Friday. Bocconi opens the week on Monday morning, and the Wednesday late-morning slot is still being settled between Dolce&amp;Gabbana and Eataly.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I will arrive at the hotel in Milan
https://www.polleverywhere.com/multiple_choice_polls/W48aUoQdkorGN8CDnd6ue?state=opened&amp;flow=Default&amp;onscreen=persist</a:t>
            </a:r>
          </a:p>
        </p:txBody>
      </p:sp>
      <p:sp>
        <p:nvSpPr>
          <p:cNvPr id="4" name="Slide Number Placeholder 3"/>
          <p:cNvSpPr>
            <a:spLocks noGrp="1"/>
          </p:cNvSpPr>
          <p:nvPr>
            <p:ph type="sldNum" sz="quarter" idx="5"/>
          </p:nvPr>
        </p:nvSpPr>
        <p:spPr/>
        <p:txBody>
          <a:bodyPr/>
          <a:lstStyle/>
          <a:p>
            <a:pPr>
              <a:defRPr/>
            </a:pPr>
            <a:fld id="{84EB0E23-03E7-4B45-B098-93E2C8ABFC9E}" type="slidenum">
              <a:rPr lang="en-US" altLang="en-US" smtClean="0"/>
              <a:pPr>
                <a:defRPr/>
              </a:pPr>
              <a:t>3</a:t>
            </a:fld>
            <a:endParaRPr lang="en-US" altLang="en-US"/>
          </a:p>
        </p:txBody>
      </p:sp>
      <p:sp>
        <p:nvSpPr>
          <p:cNvPr id="5" name="TextBox 4">
            <a:extLst>
              <a:ext uri="{FF2B5EF4-FFF2-40B4-BE49-F238E27FC236}">
                <a16:creationId xmlns:a16="http://schemas.microsoft.com/office/drawing/2014/main" id="{6E09367F-793C-4025-8A38-E01666B6EFDC}"/>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14418919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5.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3.xml"/><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Layout" Target="../slideLayouts/slideLayout7.xml"/><Relationship Id="rId3" Type="http://schemas.openxmlformats.org/officeDocument/2006/relationships/notesSlide" Target="../notesSlides/notesSlide15.xml"/><Relationship Id="rId4"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TextBox 1"/>
          <p:cNvSpPr txBox="1"/>
          <p:nvPr/>
        </p:nvSpPr>
        <p:spPr>
          <a:xfrm>
            <a:off x="251999" y="2148840"/>
            <a:ext cx="11687697" cy="1188720"/>
          </a:xfrm>
          <a:prstGeom prst="rect">
            <a:avLst/>
          </a:prstGeom>
          <a:noFill/>
        </p:spPr>
        <p:txBody>
          <a:bodyPr wrap="square" lIns="0" tIns="0" rIns="0" bIns="0">
            <a:spAutoFit/>
          </a:bodyPr>
          <a:lstStyle/>
          <a:p>
            <a:pPr algn="ctr"/>
            <a:r>
              <a:rPr lang="en-US" sz="6000" b="1" i="0">
                <a:solidFill>
                  <a:srgbClr val="0B2B4E"/>
                </a:solidFill>
                <a:latin typeface="Calibri"/>
              </a:rPr>
              <a:t>Presentations and Debates</a:t>
            </a:r>
          </a:p>
        </p:txBody>
      </p:sp>
      <p:sp>
        <p:nvSpPr>
          <p:cNvPr id="102" name="TextBox 2"/>
          <p:cNvSpPr txBox="1"/>
          <p:nvPr/>
        </p:nvSpPr>
        <p:spPr>
          <a:xfrm>
            <a:off x="251999" y="3383280"/>
            <a:ext cx="11687697" cy="685800"/>
          </a:xfrm>
          <a:prstGeom prst="rect">
            <a:avLst/>
          </a:prstGeom>
          <a:noFill/>
        </p:spPr>
        <p:txBody>
          <a:bodyPr wrap="square" lIns="0" tIns="0" rIns="0" bIns="0">
            <a:spAutoFit/>
          </a:bodyPr>
          <a:lstStyle/>
          <a:p>
            <a:pPr algn="ctr"/>
            <a:r>
              <a:rPr lang="en-US" sz="3200" b="1" i="0">
                <a:solidFill>
                  <a:srgbClr val="E09F3E"/>
                </a:solidFill>
                <a:latin typeface="Calibri"/>
              </a:rPr>
              <a:t>Class 2  ·  Topics on the Italian Economy</a:t>
            </a:r>
          </a:p>
        </p:txBody>
      </p:sp>
      <p:sp>
        <p:nvSpPr>
          <p:cNvPr id="103" name="Rectangle 3"/>
          <p:cNvSpPr/>
          <p:nvPr/>
        </p:nvSpPr>
        <p:spPr>
          <a:xfrm>
            <a:off x="4265676" y="4343400"/>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4"/>
          <p:cNvSpPr txBox="1"/>
          <p:nvPr/>
        </p:nvSpPr>
        <p:spPr>
          <a:xfrm>
            <a:off x="251999" y="4709160"/>
            <a:ext cx="11687697" cy="502920"/>
          </a:xfrm>
          <a:prstGeom prst="rect">
            <a:avLst/>
          </a:prstGeom>
          <a:noFill/>
        </p:spPr>
        <p:txBody>
          <a:bodyPr wrap="square" lIns="0" tIns="0" rIns="0" bIns="0">
            <a:spAutoFit/>
          </a:bodyPr>
          <a:lstStyle/>
          <a:p>
            <a:pPr algn="ctr"/>
            <a:r>
              <a:rPr lang="en-US" sz="2400" b="1" i="0">
                <a:solidFill>
                  <a:srgbClr val="555B66"/>
                </a:solidFill>
                <a:latin typeface="Calibri"/>
              </a:rPr>
              <a:t>MGMTEX 421  ·  International Business Residential in Italy</a:t>
            </a:r>
          </a:p>
        </p:txBody>
      </p:sp>
      <p:sp>
        <p:nvSpPr>
          <p:cNvPr id="105" name="TextBox 5"/>
          <p:cNvSpPr txBox="1"/>
          <p:nvPr/>
        </p:nvSpPr>
        <p:spPr>
          <a:xfrm>
            <a:off x="251999" y="5349240"/>
            <a:ext cx="11687697" cy="457200"/>
          </a:xfrm>
          <a:prstGeom prst="rect">
            <a:avLst/>
          </a:prstGeom>
          <a:noFill/>
        </p:spPr>
        <p:txBody>
          <a:bodyPr wrap="square" lIns="0" tIns="0" rIns="0" bIns="0">
            <a:spAutoFit/>
          </a:bodyPr>
          <a:lstStyle/>
          <a:p>
            <a:pPr algn="ctr"/>
            <a:r>
              <a:rPr lang="en-US" sz="2000" b="0" i="0">
                <a:solidFill>
                  <a:srgbClr val="555B66"/>
                </a:solidFill>
                <a:latin typeface="Calibri"/>
              </a:rPr>
              <a:t>Prof. Nico Voigtländer  ·  UCLA Anderson</a:t>
            </a:r>
          </a:p>
        </p:txBody>
      </p:sp>
      <p:sp>
        <p:nvSpPr>
          <p:cNvPr id="106"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8"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Today’s Roadmap</a:t>
            </a:r>
          </a:p>
        </p:txBody>
      </p:sp>
      <p:sp>
        <p:nvSpPr>
          <p:cNvPr id="110"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Class Today: Your Presentations and Debates</a:t>
            </a:r>
          </a:p>
        </p:txBody>
      </p:sp>
      <p:sp>
        <p:nvSpPr>
          <p:cNvPr id="111"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116"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02}" type="slidenum">
              <a:rPr lang="en-US" sz="1200">
                <a:solidFill>
                  <a:srgbClr val="555B66"/>
                </a:solidFill>
                <a:latin typeface="Calibri"/>
              </a:rPr>
              <a:t>2</a:t>
            </a:fld>
            <a:endParaRPr lang="en-US" sz="1200">
              <a:solidFill>
                <a:srgbClr val="555B66"/>
              </a:solidFill>
              <a:latin typeface="Calibri"/>
            </a:endParaRPr>
          </a:p>
        </p:txBody>
      </p:sp>
      <p:sp>
        <p:nvSpPr>
          <p:cNvPr id="117" name="RmBand"/>
          <p:cNvSpPr/>
          <p:nvPr/>
        </p:nvSpPr>
        <p:spPr>
          <a:xfrm>
            <a:off x="251999" y="2788920"/>
            <a:ext cx="11687697" cy="566928"/>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18" name="RmOval"/>
          <p:cNvSpPr/>
          <p:nvPr/>
        </p:nvSpPr>
        <p:spPr>
          <a:xfrm>
            <a:off x="548640" y="2843784"/>
            <a:ext cx="457200" cy="457200"/>
          </a:xfrm>
          <a:prstGeom prst="ellipse">
            <a:avLst/>
          </a:prstGeom>
          <a:solidFill>
            <a:srgbClr val="0B2B4E"/>
          </a:solidFill>
          <a:ln w="22225">
            <a:solidFill>
              <a:srgbClr val="E09F3E"/>
            </a:solidFill>
          </a:ln>
        </p:spPr>
        <p:txBody>
          <a:bodyPr/>
          <a:lstStyle/>
          <a:p>
            <a:endParaRPr/>
          </a:p>
        </p:txBody>
      </p:sp>
      <p:sp>
        <p:nvSpPr>
          <p:cNvPr id="119" name="RmNum"/>
          <p:cNvSpPr txBox="1"/>
          <p:nvPr/>
        </p:nvSpPr>
        <p:spPr>
          <a:xfrm>
            <a:off x="548640" y="2843784"/>
            <a:ext cx="457200" cy="457200"/>
          </a:xfrm>
          <a:prstGeom prst="rect">
            <a:avLst/>
          </a:prstGeom>
          <a:noFill/>
        </p:spPr>
        <p:txBody>
          <a:bodyPr wrap="square" lIns="0" tIns="0" rIns="0" bIns="0" anchor="ctr"/>
          <a:lstStyle/>
          <a:p>
            <a:pPr algn="ctr"/>
            <a:r>
              <a:rPr lang="en-US" sz="1700" b="1" i="0">
                <a:solidFill>
                  <a:srgbClr val="FFFFFF"/>
                </a:solidFill>
                <a:latin typeface="Calibri"/>
              </a:rPr>
              <a:t>1</a:t>
            </a:r>
          </a:p>
        </p:txBody>
      </p:sp>
      <p:sp>
        <p:nvSpPr>
          <p:cNvPr id="120" name="RmTxt"/>
          <p:cNvSpPr txBox="1"/>
          <p:nvPr/>
        </p:nvSpPr>
        <p:spPr>
          <a:xfrm>
            <a:off x="1225296" y="2788920"/>
            <a:ext cx="10607040" cy="566928"/>
          </a:xfrm>
          <a:prstGeom prst="rect">
            <a:avLst/>
          </a:prstGeom>
          <a:noFill/>
        </p:spPr>
        <p:txBody>
          <a:bodyPr wrap="square" lIns="0" tIns="0" rIns="0" bIns="0" anchor="ctr"/>
          <a:lstStyle/>
          <a:p>
            <a:pPr algn="l"/>
            <a:r>
              <a:rPr lang="en-US" sz="2400" b="1" i="0">
                <a:solidFill>
                  <a:srgbClr val="0B2B4E"/>
                </a:solidFill>
                <a:latin typeface="Calibri"/>
              </a:rPr>
              <a:t>Logistics – the schedule from here</a:t>
            </a:r>
          </a:p>
        </p:txBody>
      </p:sp>
      <p:sp>
        <p:nvSpPr>
          <p:cNvPr id="121" name="RmBand"/>
          <p:cNvSpPr/>
          <p:nvPr/>
        </p:nvSpPr>
        <p:spPr>
          <a:xfrm>
            <a:off x="251999" y="3575304"/>
            <a:ext cx="11687697" cy="566928"/>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22" name="RmOval"/>
          <p:cNvSpPr/>
          <p:nvPr/>
        </p:nvSpPr>
        <p:spPr>
          <a:xfrm>
            <a:off x="548640" y="3630168"/>
            <a:ext cx="457200" cy="457200"/>
          </a:xfrm>
          <a:prstGeom prst="ellipse">
            <a:avLst/>
          </a:prstGeom>
          <a:solidFill>
            <a:srgbClr val="0B2B4E"/>
          </a:solidFill>
          <a:ln w="22225">
            <a:solidFill>
              <a:srgbClr val="E09F3E"/>
            </a:solidFill>
          </a:ln>
        </p:spPr>
        <p:txBody>
          <a:bodyPr/>
          <a:lstStyle/>
          <a:p>
            <a:endParaRPr/>
          </a:p>
        </p:txBody>
      </p:sp>
      <p:sp>
        <p:nvSpPr>
          <p:cNvPr id="123" name="RmNum"/>
          <p:cNvSpPr txBox="1"/>
          <p:nvPr/>
        </p:nvSpPr>
        <p:spPr>
          <a:xfrm>
            <a:off x="548640" y="3630168"/>
            <a:ext cx="457200" cy="457200"/>
          </a:xfrm>
          <a:prstGeom prst="rect">
            <a:avLst/>
          </a:prstGeom>
          <a:noFill/>
        </p:spPr>
        <p:txBody>
          <a:bodyPr wrap="square" lIns="0" tIns="0" rIns="0" bIns="0" anchor="ctr"/>
          <a:lstStyle/>
          <a:p>
            <a:pPr algn="ctr"/>
            <a:r>
              <a:rPr lang="en-US" sz="1700" b="1" i="0">
                <a:solidFill>
                  <a:srgbClr val="FFFFFF"/>
                </a:solidFill>
                <a:latin typeface="Calibri"/>
              </a:rPr>
              <a:t>2</a:t>
            </a:r>
          </a:p>
        </p:txBody>
      </p:sp>
      <p:sp>
        <p:nvSpPr>
          <p:cNvPr id="124" name="RmTxt"/>
          <p:cNvSpPr txBox="1"/>
          <p:nvPr/>
        </p:nvSpPr>
        <p:spPr>
          <a:xfrm>
            <a:off x="1225296" y="3575304"/>
            <a:ext cx="10607040" cy="566928"/>
          </a:xfrm>
          <a:prstGeom prst="rect">
            <a:avLst/>
          </a:prstGeom>
          <a:noFill/>
        </p:spPr>
        <p:txBody>
          <a:bodyPr wrap="square" lIns="0" tIns="0" rIns="0" bIns="0" anchor="ctr"/>
          <a:lstStyle/>
          <a:p>
            <a:pPr algn="l"/>
            <a:r>
              <a:rPr lang="en-US" sz="2400" b="1" i="0">
                <a:solidFill>
                  <a:srgbClr val="0B2B4E"/>
                </a:solidFill>
                <a:latin typeface="Calibri"/>
              </a:rPr>
              <a:t>Arrival in Milan – a quick poll</a:t>
            </a:r>
          </a:p>
        </p:txBody>
      </p:sp>
      <p:sp>
        <p:nvSpPr>
          <p:cNvPr id="125" name="RmBand"/>
          <p:cNvSpPr/>
          <p:nvPr/>
        </p:nvSpPr>
        <p:spPr>
          <a:xfrm>
            <a:off x="251999" y="4361688"/>
            <a:ext cx="11687697" cy="566928"/>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26" name="RmOval"/>
          <p:cNvSpPr/>
          <p:nvPr/>
        </p:nvSpPr>
        <p:spPr>
          <a:xfrm>
            <a:off x="548640" y="4416552"/>
            <a:ext cx="457200" cy="457200"/>
          </a:xfrm>
          <a:prstGeom prst="ellipse">
            <a:avLst/>
          </a:prstGeom>
          <a:solidFill>
            <a:srgbClr val="0B2B4E"/>
          </a:solidFill>
          <a:ln w="22225">
            <a:solidFill>
              <a:srgbClr val="E09F3E"/>
            </a:solidFill>
          </a:ln>
        </p:spPr>
        <p:txBody>
          <a:bodyPr/>
          <a:lstStyle/>
          <a:p>
            <a:endParaRPr/>
          </a:p>
        </p:txBody>
      </p:sp>
      <p:sp>
        <p:nvSpPr>
          <p:cNvPr id="127" name="RmNum"/>
          <p:cNvSpPr txBox="1"/>
          <p:nvPr/>
        </p:nvSpPr>
        <p:spPr>
          <a:xfrm>
            <a:off x="548640" y="4416552"/>
            <a:ext cx="457200" cy="457200"/>
          </a:xfrm>
          <a:prstGeom prst="rect">
            <a:avLst/>
          </a:prstGeom>
          <a:noFill/>
        </p:spPr>
        <p:txBody>
          <a:bodyPr wrap="square" lIns="0" tIns="0" rIns="0" bIns="0" anchor="ctr"/>
          <a:lstStyle/>
          <a:p>
            <a:pPr algn="ctr"/>
            <a:r>
              <a:rPr lang="en-US" sz="1700" b="1" i="0">
                <a:solidFill>
                  <a:srgbClr val="FFFFFF"/>
                </a:solidFill>
                <a:latin typeface="Calibri"/>
              </a:rPr>
              <a:t>3</a:t>
            </a:r>
          </a:p>
        </p:txBody>
      </p:sp>
      <p:sp>
        <p:nvSpPr>
          <p:cNvPr id="128" name="RmTxt"/>
          <p:cNvSpPr txBox="1"/>
          <p:nvPr/>
        </p:nvSpPr>
        <p:spPr>
          <a:xfrm>
            <a:off x="1225296" y="4361688"/>
            <a:ext cx="10607040" cy="566928"/>
          </a:xfrm>
          <a:prstGeom prst="rect">
            <a:avLst/>
          </a:prstGeom>
          <a:noFill/>
        </p:spPr>
        <p:txBody>
          <a:bodyPr wrap="square" lIns="0" tIns="0" rIns="0" bIns="0" anchor="ctr"/>
          <a:lstStyle/>
          <a:p>
            <a:pPr algn="l"/>
            <a:r>
              <a:rPr lang="en-US" sz="2400" b="1" i="0">
                <a:solidFill>
                  <a:srgbClr val="0B2B4E"/>
                </a:solidFill>
                <a:latin typeface="Calibri"/>
              </a:rPr>
              <a:t>Seven group presentations – in order of group number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9"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Course Logistics</a:t>
            </a:r>
          </a:p>
        </p:txBody>
      </p:sp>
      <p:sp>
        <p:nvSpPr>
          <p:cNvPr id="131"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Logistics – The Schedule from Here</a:t>
            </a:r>
          </a:p>
        </p:txBody>
      </p:sp>
      <p:sp>
        <p:nvSpPr>
          <p:cNvPr id="132"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137"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03}" type="slidenum">
              <a:rPr lang="en-US" sz="1200">
                <a:solidFill>
                  <a:srgbClr val="555B66"/>
                </a:solidFill>
                <a:latin typeface="Calibri"/>
              </a:rPr>
              <a:t>3</a:t>
            </a:fld>
            <a:endParaRPr lang="en-US" sz="1200">
              <a:solidFill>
                <a:srgbClr val="555B66"/>
              </a:solidFill>
              <a:latin typeface="Calibri"/>
            </a:endParaRPr>
          </a:p>
        </p:txBody>
      </p:sp>
      <p:sp>
        <p:nvSpPr>
          <p:cNvPr id="138" name="TextBox 6"/>
          <p:cNvSpPr txBox="1"/>
          <p:nvPr/>
        </p:nvSpPr>
        <p:spPr>
          <a:xfrm>
            <a:off x="251999" y="1600200"/>
            <a:ext cx="11687697" cy="4480560"/>
          </a:xfrm>
          <a:prstGeom prst="rect">
            <a:avLst/>
          </a:prstGeom>
          <a:noFill/>
        </p:spPr>
        <p:txBody>
          <a:bodyPr wrap="square" lIns="0" tIns="0" rIns="0" bIns="0" anchor="ctr"/>
          <a:lstStyle/>
          <a:p>
            <a:pPr marL="342900" indent="-274320" algn="l">
              <a:buClr>
                <a:srgbClr val="0B2B4E"/>
              </a:buClr>
              <a:buFont typeface="Calibri"/>
              <a:buChar char="▪"/>
            </a:pPr>
            <a:r>
              <a:rPr lang="en-US" sz="2800" b="0" i="0">
                <a:solidFill>
                  <a:srgbClr val="0B2B4E"/>
                </a:solidFill>
                <a:latin typeface="Calibri"/>
              </a:rPr>
              <a:t>Class today: discussion of the presentation debates</a:t>
            </a:r>
          </a:p>
          <a:p>
            <a:pPr marL="731520" lvl="1" indent="-274320" algn="l">
              <a:spcBef>
                <a:spcPts val="300"/>
              </a:spcBef>
              <a:buClr>
                <a:srgbClr val="0B2B4E"/>
              </a:buClr>
              <a:buFont typeface="Calibri"/>
              <a:buChar char="–"/>
            </a:pPr>
            <a:r>
              <a:rPr lang="en-US" sz="2400" b="0" i="0">
                <a:solidFill>
                  <a:srgbClr val="0B2B4E"/>
                </a:solidFill>
                <a:latin typeface="Calibri"/>
              </a:rPr>
              <a:t>Present a 2 – 3 min executive summary</a:t>
            </a:r>
          </a:p>
          <a:p>
            <a:pPr marL="731520" lvl="1" indent="-274320" algn="l">
              <a:spcBef>
                <a:spcPts val="300"/>
              </a:spcBef>
              <a:buClr>
                <a:srgbClr val="0B2B4E"/>
              </a:buClr>
              <a:buFont typeface="Calibri"/>
              <a:buChar char="–"/>
            </a:pPr>
            <a:r>
              <a:rPr lang="en-US" sz="2400" b="0" i="0">
                <a:solidFill>
                  <a:srgbClr val="0B2B4E"/>
                </a:solidFill>
                <a:latin typeface="Calibri"/>
              </a:rPr>
              <a:t>Followed by discussion</a:t>
            </a:r>
          </a:p>
          <a:p>
            <a:pPr marL="731520" lvl="1" indent="-274320" algn="l">
              <a:spcBef>
                <a:spcPts val="300"/>
              </a:spcBef>
              <a:buClr>
                <a:srgbClr val="0B2B4E"/>
              </a:buClr>
              <a:buFont typeface="Calibri"/>
              <a:buChar char="–"/>
            </a:pPr>
            <a:r>
              <a:rPr lang="en-US" sz="2400" b="0" i="0">
                <a:solidFill>
                  <a:srgbClr val="0B2B4E"/>
                </a:solidFill>
                <a:latin typeface="Calibri"/>
              </a:rPr>
              <a:t>Max. 20 minutes per topic</a:t>
            </a:r>
          </a:p>
          <a:p>
            <a:pPr marL="342900" indent="-274320" algn="l">
              <a:spcBef>
                <a:spcPts val="1200"/>
              </a:spcBef>
              <a:buClr>
                <a:srgbClr val="0B2B4E"/>
              </a:buClr>
              <a:buFont typeface="Calibri"/>
              <a:buChar char="▪"/>
            </a:pPr>
            <a:r>
              <a:rPr lang="en-US" sz="2800" b="0" i="0">
                <a:solidFill>
                  <a:srgbClr val="0B2B4E"/>
                </a:solidFill>
                <a:latin typeface="Calibri"/>
              </a:rPr>
              <a:t>Trip to Italy: Sep 6 – 12 – Milan &amp; Turin   (</a:t>
            </a:r>
            <a:r>
              <a:rPr lang="en-US" sz="2800" b="0" i="0" u="sng">
                <a:hlinkClick r:id="rId2" action="ppaction://hlinksldjump"/>
              </a:rPr>
              <a:t>Schedule</a:t>
            </a:r>
            <a:r>
              <a:rPr lang="en-US" sz="2800" b="0" i="0">
                <a:solidFill>
                  <a:srgbClr val="0B2B4E"/>
                </a:solidFill>
                <a:latin typeface="Calibri"/>
              </a:rPr>
              <a:t>)</a:t>
            </a:r>
          </a:p>
          <a:p>
            <a:pPr marL="731520" lvl="1" indent="-274320" algn="l">
              <a:spcBef>
                <a:spcPts val="300"/>
              </a:spcBef>
              <a:buClr>
                <a:srgbClr val="0B2B4E"/>
              </a:buClr>
              <a:buFont typeface="Calibri"/>
              <a:buChar char="–"/>
            </a:pPr>
            <a:r>
              <a:rPr lang="en-US" sz="2400" b="0" i="0">
                <a:solidFill>
                  <a:srgbClr val="0B2B4E"/>
                </a:solidFill>
                <a:latin typeface="Calibri"/>
              </a:rPr>
              <a:t>Note: casual dress code</a:t>
            </a:r>
          </a:p>
          <a:p>
            <a:pPr marL="731520" lvl="1" indent="-274320" algn="l">
              <a:spcBef>
                <a:spcPts val="300"/>
              </a:spcBef>
              <a:buClr>
                <a:srgbClr val="0B2B4E"/>
              </a:buClr>
              <a:buFont typeface="Calibri"/>
              <a:buChar char="–"/>
            </a:pPr>
            <a:r>
              <a:rPr lang="en-US" sz="2400" b="0" i="0">
                <a:solidFill>
                  <a:srgbClr val="0B2B4E"/>
                </a:solidFill>
                <a:latin typeface="Calibri"/>
              </a:rPr>
              <a:t>Get melatonin for the jetlag!</a:t>
            </a:r>
          </a:p>
          <a:p>
            <a:pPr marL="342900" indent="-274320" algn="l">
              <a:spcBef>
                <a:spcPts val="1200"/>
              </a:spcBef>
              <a:buClr>
                <a:srgbClr val="0B2B4E"/>
              </a:buClr>
              <a:buFont typeface="Calibri"/>
              <a:buChar char="▪"/>
            </a:pPr>
            <a:r>
              <a:rPr lang="en-US" sz="2800" b="0" i="0">
                <a:solidFill>
                  <a:srgbClr val="0B2B4E"/>
                </a:solidFill>
                <a:latin typeface="Calibri"/>
              </a:rPr>
              <a:t>Class on Oct 4: debrief and discussion of student reports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8">
                                            <p:txEl>
                                              <p:pRg st="4" end="4"/>
                                            </p:txEl>
                                          </p:spTgt>
                                        </p:tgtEl>
                                        <p:attrNameLst>
                                          <p:attrName>style.visibility</p:attrName>
                                        </p:attrNameLst>
                                      </p:cBhvr>
                                      <p:to>
                                        <p:strVal val="visible"/>
                                      </p:to>
                                    </p:set>
                                    <p:animEffect transition="in" filter="fade">
                                      <p:cBhvr>
                                        <p:cTn id="7" dur="500"/>
                                        <p:tgtEl>
                                          <p:spTgt spid="138">
                                            <p:txEl>
                                              <p:pRg st="4" end="4"/>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8">
                                            <p:txEl>
                                              <p:pRg st="5" end="5"/>
                                            </p:txEl>
                                          </p:spTgt>
                                        </p:tgtEl>
                                        <p:attrNameLst>
                                          <p:attrName>style.visibility</p:attrName>
                                        </p:attrNameLst>
                                      </p:cBhvr>
                                      <p:to>
                                        <p:strVal val="visible"/>
                                      </p:to>
                                    </p:set>
                                    <p:animEffect transition="in" filter="fade">
                                      <p:cBhvr>
                                        <p:cTn id="10" dur="500"/>
                                        <p:tgtEl>
                                          <p:spTgt spid="138">
                                            <p:txEl>
                                              <p:pRg st="5" end="5"/>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8">
                                            <p:txEl>
                                              <p:pRg st="6" end="6"/>
                                            </p:txEl>
                                          </p:spTgt>
                                        </p:tgtEl>
                                        <p:attrNameLst>
                                          <p:attrName>style.visibility</p:attrName>
                                        </p:attrNameLst>
                                      </p:cBhvr>
                                      <p:to>
                                        <p:strVal val="visible"/>
                                      </p:to>
                                    </p:set>
                                    <p:animEffect transition="in" filter="fade">
                                      <p:cBhvr>
                                        <p:cTn id="13" dur="500"/>
                                        <p:tgtEl>
                                          <p:spTgt spid="138">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38">
                                            <p:txEl>
                                              <p:pRg st="7" end="7"/>
                                            </p:txEl>
                                          </p:spTgt>
                                        </p:tgtEl>
                                        <p:attrNameLst>
                                          <p:attrName>style.visibility</p:attrName>
                                        </p:attrNameLst>
                                      </p:cBhvr>
                                      <p:to>
                                        <p:strVal val="visible"/>
                                      </p:to>
                                    </p:set>
                                    <p:animEffect transition="in" filter="fade">
                                      <p:cBhvr>
                                        <p:cTn id="18" dur="500"/>
                                        <p:tgtEl>
                                          <p:spTgt spid="138">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8" grpId="0" build="p"/>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9"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Presentations and Debates</a:t>
            </a:r>
          </a:p>
        </p:txBody>
      </p:sp>
      <p:sp>
        <p:nvSpPr>
          <p:cNvPr id="141" name="TextBox 3"/>
          <p:cNvSpPr txBox="1"/>
          <p:nvPr/>
        </p:nvSpPr>
        <p:spPr>
          <a:xfrm>
            <a:off x="251999" y="2743200"/>
            <a:ext cx="11687697" cy="914400"/>
          </a:xfrm>
          <a:prstGeom prst="rect">
            <a:avLst/>
          </a:prstGeom>
          <a:noFill/>
        </p:spPr>
        <p:txBody>
          <a:bodyPr wrap="square" lIns="0" tIns="0" rIns="0" bIns="0">
            <a:spAutoFit/>
          </a:bodyPr>
          <a:lstStyle/>
          <a:p>
            <a:pPr algn="ctr"/>
            <a:r>
              <a:rPr lang="en-US" sz="4400" b="1" i="0">
                <a:solidFill>
                  <a:srgbClr val="0B2B4E"/>
                </a:solidFill>
                <a:latin typeface="Calibri"/>
              </a:rPr>
              <a:t>Presentations and Debates</a:t>
            </a:r>
          </a:p>
        </p:txBody>
      </p:sp>
      <p:sp>
        <p:nvSpPr>
          <p:cNvPr id="142" name="Rectangle 4"/>
          <p:cNvSpPr/>
          <p:nvPr/>
        </p:nvSpPr>
        <p:spPr>
          <a:xfrm>
            <a:off x="4722876" y="3840480"/>
            <a:ext cx="274320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146"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05}" type="slidenum">
              <a:rPr lang="en-US" sz="1200">
                <a:solidFill>
                  <a:srgbClr val="555B66"/>
                </a:solidFill>
                <a:latin typeface="Calibri"/>
              </a:rPr>
              <a:t>5</a:t>
            </a:fld>
            <a:endParaRPr lang="en-US" sz="1200">
              <a:solidFill>
                <a:srgbClr val="555B66"/>
              </a:solidFill>
              <a:latin typeface="Calibri"/>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7"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Presentations and Debates</a:t>
            </a:r>
          </a:p>
        </p:txBody>
      </p:sp>
      <p:sp>
        <p:nvSpPr>
          <p:cNvPr id="149"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Today’s Line-Up – Seven Presentations</a:t>
            </a:r>
          </a:p>
        </p:txBody>
      </p:sp>
      <p:sp>
        <p:nvSpPr>
          <p:cNvPr id="150"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155"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06}" type="slidenum">
              <a:rPr lang="en-US" sz="1200">
                <a:solidFill>
                  <a:srgbClr val="555B66"/>
                </a:solidFill>
                <a:latin typeface="Calibri"/>
              </a:rPr>
              <a:t>6</a:t>
            </a:fld>
            <a:endParaRPr lang="en-US" sz="1200">
              <a:solidFill>
                <a:srgbClr val="555B66"/>
              </a:solidFill>
              <a:latin typeface="Calibri"/>
            </a:endParaRPr>
          </a:p>
        </p:txBody>
      </p:sp>
      <p:sp>
        <p:nvSpPr>
          <p:cNvPr id="156" name="LuBand"/>
          <p:cNvSpPr/>
          <p:nvPr/>
        </p:nvSpPr>
        <p:spPr>
          <a:xfrm>
            <a:off x="251999" y="1700784"/>
            <a:ext cx="11687697" cy="530352"/>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57" name="LuOval"/>
          <p:cNvSpPr/>
          <p:nvPr/>
        </p:nvSpPr>
        <p:spPr>
          <a:xfrm>
            <a:off x="548640" y="1764792"/>
            <a:ext cx="402336" cy="402336"/>
          </a:xfrm>
          <a:prstGeom prst="ellipse">
            <a:avLst/>
          </a:prstGeom>
          <a:solidFill>
            <a:srgbClr val="0B2B4E"/>
          </a:solidFill>
          <a:ln w="22225">
            <a:solidFill>
              <a:srgbClr val="E09F3E"/>
            </a:solidFill>
          </a:ln>
        </p:spPr>
        <p:txBody>
          <a:bodyPr/>
          <a:lstStyle/>
          <a:p>
            <a:endParaRPr/>
          </a:p>
        </p:txBody>
      </p:sp>
      <p:sp>
        <p:nvSpPr>
          <p:cNvPr id="158" name="LuNum"/>
          <p:cNvSpPr txBox="1"/>
          <p:nvPr/>
        </p:nvSpPr>
        <p:spPr>
          <a:xfrm>
            <a:off x="548640" y="1764792"/>
            <a:ext cx="402336" cy="402336"/>
          </a:xfrm>
          <a:prstGeom prst="rect">
            <a:avLst/>
          </a:prstGeom>
          <a:noFill/>
        </p:spPr>
        <p:txBody>
          <a:bodyPr wrap="square" lIns="0" tIns="0" rIns="0" bIns="0" anchor="ctr"/>
          <a:lstStyle/>
          <a:p>
            <a:pPr algn="ctr"/>
            <a:r>
              <a:rPr lang="en-US" sz="1500" b="1" i="0">
                <a:solidFill>
                  <a:srgbClr val="FFFFFF"/>
                </a:solidFill>
                <a:latin typeface="Calibri"/>
              </a:rPr>
              <a:t>1</a:t>
            </a:r>
          </a:p>
        </p:txBody>
      </p:sp>
      <p:sp>
        <p:nvSpPr>
          <p:cNvPr id="159" name="LuTxt"/>
          <p:cNvSpPr txBox="1"/>
          <p:nvPr/>
        </p:nvSpPr>
        <p:spPr>
          <a:xfrm>
            <a:off x="1170432" y="1700784"/>
            <a:ext cx="6949440" cy="530352"/>
          </a:xfrm>
          <a:prstGeom prst="rect">
            <a:avLst/>
          </a:prstGeom>
          <a:noFill/>
        </p:spPr>
        <p:txBody>
          <a:bodyPr wrap="square" lIns="0" tIns="0" rIns="0" bIns="0" anchor="ctr"/>
          <a:lstStyle/>
          <a:p>
            <a:pPr algn="l"/>
            <a:r>
              <a:rPr lang="en-US" sz="2200" b="1" i="0">
                <a:solidFill>
                  <a:srgbClr val="0B2B4E"/>
                </a:solidFill>
                <a:latin typeface="Calibri"/>
              </a:rPr>
              <a:t>Italy and the EU / the Euro</a:t>
            </a:r>
          </a:p>
        </p:txBody>
      </p:sp>
      <p:sp>
        <p:nvSpPr>
          <p:cNvPr id="160" name="LuWho"/>
          <p:cNvSpPr txBox="1"/>
          <p:nvPr/>
        </p:nvSpPr>
        <p:spPr>
          <a:xfrm>
            <a:off x="8183880" y="1700784"/>
            <a:ext cx="3703320" cy="530352"/>
          </a:xfrm>
          <a:prstGeom prst="rect">
            <a:avLst/>
          </a:prstGeom>
          <a:noFill/>
        </p:spPr>
        <p:txBody>
          <a:bodyPr wrap="square" lIns="0" tIns="0" rIns="0" bIns="0" anchor="ctr"/>
          <a:lstStyle/>
          <a:p>
            <a:pPr algn="r"/>
            <a:r>
              <a:rPr lang="en-US" sz="1800" b="1" i="0">
                <a:solidFill>
                  <a:srgbClr val="555B66"/>
                </a:solidFill>
                <a:latin typeface="Calibri"/>
              </a:rPr>
              <a:t>Debate  ·  Groups 1 &amp; 3</a:t>
            </a:r>
          </a:p>
        </p:txBody>
      </p:sp>
      <p:sp>
        <p:nvSpPr>
          <p:cNvPr id="161" name="LuBand"/>
          <p:cNvSpPr/>
          <p:nvPr/>
        </p:nvSpPr>
        <p:spPr>
          <a:xfrm>
            <a:off x="251999" y="2340864"/>
            <a:ext cx="11687697" cy="530352"/>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62" name="LuOval"/>
          <p:cNvSpPr/>
          <p:nvPr/>
        </p:nvSpPr>
        <p:spPr>
          <a:xfrm>
            <a:off x="548640" y="2404872"/>
            <a:ext cx="402336" cy="402336"/>
          </a:xfrm>
          <a:prstGeom prst="ellipse">
            <a:avLst/>
          </a:prstGeom>
          <a:solidFill>
            <a:srgbClr val="0B2B4E"/>
          </a:solidFill>
          <a:ln w="22225">
            <a:solidFill>
              <a:srgbClr val="E09F3E"/>
            </a:solidFill>
          </a:ln>
        </p:spPr>
        <p:txBody>
          <a:bodyPr/>
          <a:lstStyle/>
          <a:p>
            <a:endParaRPr/>
          </a:p>
        </p:txBody>
      </p:sp>
      <p:sp>
        <p:nvSpPr>
          <p:cNvPr id="163" name="LuNum"/>
          <p:cNvSpPr txBox="1"/>
          <p:nvPr/>
        </p:nvSpPr>
        <p:spPr>
          <a:xfrm>
            <a:off x="548640" y="2404872"/>
            <a:ext cx="402336" cy="402336"/>
          </a:xfrm>
          <a:prstGeom prst="rect">
            <a:avLst/>
          </a:prstGeom>
          <a:noFill/>
        </p:spPr>
        <p:txBody>
          <a:bodyPr wrap="square" lIns="0" tIns="0" rIns="0" bIns="0" anchor="ctr"/>
          <a:lstStyle/>
          <a:p>
            <a:pPr algn="ctr"/>
            <a:r>
              <a:rPr lang="en-US" sz="1500" b="1" i="0">
                <a:solidFill>
                  <a:srgbClr val="FFFFFF"/>
                </a:solidFill>
                <a:latin typeface="Calibri"/>
              </a:rPr>
              <a:t>2</a:t>
            </a:r>
          </a:p>
        </p:txBody>
      </p:sp>
      <p:sp>
        <p:nvSpPr>
          <p:cNvPr id="164" name="LuTxt"/>
          <p:cNvSpPr txBox="1"/>
          <p:nvPr/>
        </p:nvSpPr>
        <p:spPr>
          <a:xfrm>
            <a:off x="1170432" y="2340864"/>
            <a:ext cx="6949440" cy="530352"/>
          </a:xfrm>
          <a:prstGeom prst="rect">
            <a:avLst/>
          </a:prstGeom>
          <a:noFill/>
        </p:spPr>
        <p:txBody>
          <a:bodyPr wrap="square" lIns="0" tIns="0" rIns="0" bIns="0" anchor="ctr"/>
          <a:lstStyle/>
          <a:p>
            <a:pPr algn="l"/>
            <a:r>
              <a:rPr lang="en-US" sz="2200" b="1" i="0">
                <a:solidFill>
                  <a:srgbClr val="0B2B4E"/>
                </a:solidFill>
                <a:latin typeface="Calibri"/>
              </a:rPr>
              <a:t>Kering</a:t>
            </a:r>
          </a:p>
        </p:txBody>
      </p:sp>
      <p:sp>
        <p:nvSpPr>
          <p:cNvPr id="165" name="LuWho"/>
          <p:cNvSpPr txBox="1"/>
          <p:nvPr/>
        </p:nvSpPr>
        <p:spPr>
          <a:xfrm>
            <a:off x="8183880" y="2340864"/>
            <a:ext cx="3703320" cy="530352"/>
          </a:xfrm>
          <a:prstGeom prst="rect">
            <a:avLst/>
          </a:prstGeom>
          <a:noFill/>
        </p:spPr>
        <p:txBody>
          <a:bodyPr wrap="square" lIns="0" tIns="0" rIns="0" bIns="0" anchor="ctr"/>
          <a:lstStyle/>
          <a:p>
            <a:pPr algn="r"/>
            <a:r>
              <a:rPr lang="en-US" sz="1800" b="1" i="0">
                <a:solidFill>
                  <a:srgbClr val="555B66"/>
                </a:solidFill>
                <a:latin typeface="Calibri"/>
              </a:rPr>
              <a:t>Company  ·  Group 2</a:t>
            </a:r>
          </a:p>
        </p:txBody>
      </p:sp>
      <p:sp>
        <p:nvSpPr>
          <p:cNvPr id="166" name="LuBand"/>
          <p:cNvSpPr/>
          <p:nvPr/>
        </p:nvSpPr>
        <p:spPr>
          <a:xfrm>
            <a:off x="251999" y="2980944"/>
            <a:ext cx="11687697" cy="530352"/>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67" name="LuOval"/>
          <p:cNvSpPr/>
          <p:nvPr/>
        </p:nvSpPr>
        <p:spPr>
          <a:xfrm>
            <a:off x="548640" y="3044952"/>
            <a:ext cx="402336" cy="402336"/>
          </a:xfrm>
          <a:prstGeom prst="ellipse">
            <a:avLst/>
          </a:prstGeom>
          <a:solidFill>
            <a:srgbClr val="0B2B4E"/>
          </a:solidFill>
          <a:ln w="22225">
            <a:solidFill>
              <a:srgbClr val="E09F3E"/>
            </a:solidFill>
          </a:ln>
        </p:spPr>
        <p:txBody>
          <a:bodyPr/>
          <a:lstStyle/>
          <a:p>
            <a:endParaRPr/>
          </a:p>
        </p:txBody>
      </p:sp>
      <p:sp>
        <p:nvSpPr>
          <p:cNvPr id="168" name="LuNum"/>
          <p:cNvSpPr txBox="1"/>
          <p:nvPr/>
        </p:nvSpPr>
        <p:spPr>
          <a:xfrm>
            <a:off x="548640" y="3044952"/>
            <a:ext cx="402336" cy="402336"/>
          </a:xfrm>
          <a:prstGeom prst="rect">
            <a:avLst/>
          </a:prstGeom>
          <a:noFill/>
        </p:spPr>
        <p:txBody>
          <a:bodyPr wrap="square" lIns="0" tIns="0" rIns="0" bIns="0" anchor="ctr"/>
          <a:lstStyle/>
          <a:p>
            <a:pPr algn="ctr"/>
            <a:r>
              <a:rPr lang="en-US" sz="1500" b="1" i="0">
                <a:solidFill>
                  <a:srgbClr val="FFFFFF"/>
                </a:solidFill>
                <a:latin typeface="Calibri"/>
              </a:rPr>
              <a:t>3</a:t>
            </a:r>
          </a:p>
        </p:txBody>
      </p:sp>
      <p:sp>
        <p:nvSpPr>
          <p:cNvPr id="169" name="LuTxt"/>
          <p:cNvSpPr txBox="1"/>
          <p:nvPr/>
        </p:nvSpPr>
        <p:spPr>
          <a:xfrm>
            <a:off x="1170432" y="2980944"/>
            <a:ext cx="6949440" cy="530352"/>
          </a:xfrm>
          <a:prstGeom prst="rect">
            <a:avLst/>
          </a:prstGeom>
          <a:noFill/>
        </p:spPr>
        <p:txBody>
          <a:bodyPr wrap="square" lIns="0" tIns="0" rIns="0" bIns="0" anchor="ctr"/>
          <a:lstStyle/>
          <a:p>
            <a:pPr algn="l"/>
            <a:r>
              <a:rPr lang="en-US" sz="2200" b="1" i="0">
                <a:solidFill>
                  <a:srgbClr val="0B2B4E"/>
                </a:solidFill>
                <a:latin typeface="Calibri"/>
              </a:rPr>
              <a:t>Italy’s Future in Tech and AI</a:t>
            </a:r>
          </a:p>
        </p:txBody>
      </p:sp>
      <p:sp>
        <p:nvSpPr>
          <p:cNvPr id="170" name="LuWho"/>
          <p:cNvSpPr txBox="1"/>
          <p:nvPr/>
        </p:nvSpPr>
        <p:spPr>
          <a:xfrm>
            <a:off x="8183880" y="2980944"/>
            <a:ext cx="3703320" cy="530352"/>
          </a:xfrm>
          <a:prstGeom prst="rect">
            <a:avLst/>
          </a:prstGeom>
          <a:noFill/>
        </p:spPr>
        <p:txBody>
          <a:bodyPr wrap="square" lIns="0" tIns="0" rIns="0" bIns="0" anchor="ctr"/>
          <a:lstStyle/>
          <a:p>
            <a:pPr algn="r"/>
            <a:r>
              <a:rPr lang="en-US" sz="1800" b="1" i="0">
                <a:solidFill>
                  <a:srgbClr val="555B66"/>
                </a:solidFill>
                <a:latin typeface="Calibri"/>
              </a:rPr>
              <a:t>Debate  ·  Groups 4 &amp; 7</a:t>
            </a:r>
          </a:p>
        </p:txBody>
      </p:sp>
      <p:sp>
        <p:nvSpPr>
          <p:cNvPr id="171" name="LuBand"/>
          <p:cNvSpPr/>
          <p:nvPr/>
        </p:nvSpPr>
        <p:spPr>
          <a:xfrm>
            <a:off x="251999" y="3621024"/>
            <a:ext cx="11687697" cy="530352"/>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72" name="LuOval"/>
          <p:cNvSpPr/>
          <p:nvPr/>
        </p:nvSpPr>
        <p:spPr>
          <a:xfrm>
            <a:off x="548640" y="3685032"/>
            <a:ext cx="402336" cy="402336"/>
          </a:xfrm>
          <a:prstGeom prst="ellipse">
            <a:avLst/>
          </a:prstGeom>
          <a:solidFill>
            <a:srgbClr val="0B2B4E"/>
          </a:solidFill>
          <a:ln w="22225">
            <a:solidFill>
              <a:srgbClr val="E09F3E"/>
            </a:solidFill>
          </a:ln>
        </p:spPr>
        <p:txBody>
          <a:bodyPr/>
          <a:lstStyle/>
          <a:p>
            <a:endParaRPr/>
          </a:p>
        </p:txBody>
      </p:sp>
      <p:sp>
        <p:nvSpPr>
          <p:cNvPr id="173" name="LuNum"/>
          <p:cNvSpPr txBox="1"/>
          <p:nvPr/>
        </p:nvSpPr>
        <p:spPr>
          <a:xfrm>
            <a:off x="548640" y="3685032"/>
            <a:ext cx="402336" cy="402336"/>
          </a:xfrm>
          <a:prstGeom prst="rect">
            <a:avLst/>
          </a:prstGeom>
          <a:noFill/>
        </p:spPr>
        <p:txBody>
          <a:bodyPr wrap="square" lIns="0" tIns="0" rIns="0" bIns="0" anchor="ctr"/>
          <a:lstStyle/>
          <a:p>
            <a:pPr algn="ctr"/>
            <a:r>
              <a:rPr lang="en-US" sz="1500" b="1" i="0">
                <a:solidFill>
                  <a:srgbClr val="FFFFFF"/>
                </a:solidFill>
                <a:latin typeface="Calibri"/>
              </a:rPr>
              <a:t>4</a:t>
            </a:r>
          </a:p>
        </p:txBody>
      </p:sp>
      <p:sp>
        <p:nvSpPr>
          <p:cNvPr id="174" name="LuTxt"/>
          <p:cNvSpPr txBox="1"/>
          <p:nvPr/>
        </p:nvSpPr>
        <p:spPr>
          <a:xfrm>
            <a:off x="1170432" y="3621024"/>
            <a:ext cx="6949440" cy="530352"/>
          </a:xfrm>
          <a:prstGeom prst="rect">
            <a:avLst/>
          </a:prstGeom>
          <a:noFill/>
        </p:spPr>
        <p:txBody>
          <a:bodyPr wrap="square" lIns="0" tIns="0" rIns="0" bIns="0" anchor="ctr"/>
          <a:lstStyle/>
          <a:p>
            <a:pPr algn="l"/>
            <a:r>
              <a:rPr lang="en-US" sz="2200" b="1" i="0">
                <a:solidFill>
                  <a:srgbClr val="0B2B4E"/>
                </a:solidFill>
                <a:latin typeface="Calibri"/>
              </a:rPr>
              <a:t>Prada Group</a:t>
            </a:r>
          </a:p>
        </p:txBody>
      </p:sp>
      <p:sp>
        <p:nvSpPr>
          <p:cNvPr id="175" name="LuWho"/>
          <p:cNvSpPr txBox="1"/>
          <p:nvPr/>
        </p:nvSpPr>
        <p:spPr>
          <a:xfrm>
            <a:off x="8183880" y="3621024"/>
            <a:ext cx="3703320" cy="530352"/>
          </a:xfrm>
          <a:prstGeom prst="rect">
            <a:avLst/>
          </a:prstGeom>
          <a:noFill/>
        </p:spPr>
        <p:txBody>
          <a:bodyPr wrap="square" lIns="0" tIns="0" rIns="0" bIns="0" anchor="ctr"/>
          <a:lstStyle/>
          <a:p>
            <a:pPr algn="r"/>
            <a:r>
              <a:rPr lang="en-US" sz="1800" b="1" i="0">
                <a:solidFill>
                  <a:srgbClr val="555B66"/>
                </a:solidFill>
                <a:latin typeface="Calibri"/>
              </a:rPr>
              <a:t>Company  ·  Group 5</a:t>
            </a:r>
          </a:p>
        </p:txBody>
      </p:sp>
      <p:sp>
        <p:nvSpPr>
          <p:cNvPr id="176" name="LuBand"/>
          <p:cNvSpPr/>
          <p:nvPr/>
        </p:nvSpPr>
        <p:spPr>
          <a:xfrm>
            <a:off x="251999" y="4261104"/>
            <a:ext cx="11687697" cy="530352"/>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77" name="LuOval"/>
          <p:cNvSpPr/>
          <p:nvPr/>
        </p:nvSpPr>
        <p:spPr>
          <a:xfrm>
            <a:off x="548640" y="4325112"/>
            <a:ext cx="402336" cy="402336"/>
          </a:xfrm>
          <a:prstGeom prst="ellipse">
            <a:avLst/>
          </a:prstGeom>
          <a:solidFill>
            <a:srgbClr val="0B2B4E"/>
          </a:solidFill>
          <a:ln w="22225">
            <a:solidFill>
              <a:srgbClr val="E09F3E"/>
            </a:solidFill>
          </a:ln>
        </p:spPr>
        <p:txBody>
          <a:bodyPr/>
          <a:lstStyle/>
          <a:p>
            <a:endParaRPr/>
          </a:p>
        </p:txBody>
      </p:sp>
      <p:sp>
        <p:nvSpPr>
          <p:cNvPr id="178" name="LuNum"/>
          <p:cNvSpPr txBox="1"/>
          <p:nvPr/>
        </p:nvSpPr>
        <p:spPr>
          <a:xfrm>
            <a:off x="548640" y="4325112"/>
            <a:ext cx="402336" cy="402336"/>
          </a:xfrm>
          <a:prstGeom prst="rect">
            <a:avLst/>
          </a:prstGeom>
          <a:noFill/>
        </p:spPr>
        <p:txBody>
          <a:bodyPr wrap="square" lIns="0" tIns="0" rIns="0" bIns="0" anchor="ctr"/>
          <a:lstStyle/>
          <a:p>
            <a:pPr algn="ctr"/>
            <a:r>
              <a:rPr lang="en-US" sz="1500" b="1" i="0">
                <a:solidFill>
                  <a:srgbClr val="FFFFFF"/>
                </a:solidFill>
                <a:latin typeface="Calibri"/>
              </a:rPr>
              <a:t>5</a:t>
            </a:r>
          </a:p>
        </p:txBody>
      </p:sp>
      <p:sp>
        <p:nvSpPr>
          <p:cNvPr id="179" name="LuTxt"/>
          <p:cNvSpPr txBox="1"/>
          <p:nvPr/>
        </p:nvSpPr>
        <p:spPr>
          <a:xfrm>
            <a:off x="1170432" y="4261104"/>
            <a:ext cx="6949440" cy="530352"/>
          </a:xfrm>
          <a:prstGeom prst="rect">
            <a:avLst/>
          </a:prstGeom>
          <a:noFill/>
        </p:spPr>
        <p:txBody>
          <a:bodyPr wrap="square" lIns="0" tIns="0" rIns="0" bIns="0" anchor="ctr"/>
          <a:lstStyle/>
          <a:p>
            <a:pPr algn="l"/>
            <a:r>
              <a:rPr lang="en-US" sz="2200" b="1" i="0">
                <a:solidFill>
                  <a:srgbClr val="0B2B4E"/>
                </a:solidFill>
                <a:latin typeface="Calibri"/>
              </a:rPr>
              <a:t>Inter Milan FC</a:t>
            </a:r>
          </a:p>
        </p:txBody>
      </p:sp>
      <p:sp>
        <p:nvSpPr>
          <p:cNvPr id="180" name="LuWho"/>
          <p:cNvSpPr txBox="1"/>
          <p:nvPr/>
        </p:nvSpPr>
        <p:spPr>
          <a:xfrm>
            <a:off x="8183880" y="4261104"/>
            <a:ext cx="3703320" cy="530352"/>
          </a:xfrm>
          <a:prstGeom prst="rect">
            <a:avLst/>
          </a:prstGeom>
          <a:noFill/>
        </p:spPr>
        <p:txBody>
          <a:bodyPr wrap="square" lIns="0" tIns="0" rIns="0" bIns="0" anchor="ctr"/>
          <a:lstStyle/>
          <a:p>
            <a:pPr algn="r"/>
            <a:r>
              <a:rPr lang="en-US" sz="1800" b="1" i="0">
                <a:solidFill>
                  <a:srgbClr val="555B66"/>
                </a:solidFill>
                <a:latin typeface="Calibri"/>
              </a:rPr>
              <a:t>Company  ·  Group 6</a:t>
            </a:r>
          </a:p>
        </p:txBody>
      </p:sp>
      <p:sp>
        <p:nvSpPr>
          <p:cNvPr id="181" name="LuBand"/>
          <p:cNvSpPr/>
          <p:nvPr/>
        </p:nvSpPr>
        <p:spPr>
          <a:xfrm>
            <a:off x="251999" y="4901184"/>
            <a:ext cx="11687697" cy="530352"/>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82" name="LuOval"/>
          <p:cNvSpPr/>
          <p:nvPr/>
        </p:nvSpPr>
        <p:spPr>
          <a:xfrm>
            <a:off x="548640" y="4965192"/>
            <a:ext cx="402336" cy="402336"/>
          </a:xfrm>
          <a:prstGeom prst="ellipse">
            <a:avLst/>
          </a:prstGeom>
          <a:solidFill>
            <a:srgbClr val="0B2B4E"/>
          </a:solidFill>
          <a:ln w="22225">
            <a:solidFill>
              <a:srgbClr val="E09F3E"/>
            </a:solidFill>
          </a:ln>
        </p:spPr>
        <p:txBody>
          <a:bodyPr/>
          <a:lstStyle/>
          <a:p>
            <a:endParaRPr/>
          </a:p>
        </p:txBody>
      </p:sp>
      <p:sp>
        <p:nvSpPr>
          <p:cNvPr id="183" name="LuNum"/>
          <p:cNvSpPr txBox="1"/>
          <p:nvPr/>
        </p:nvSpPr>
        <p:spPr>
          <a:xfrm>
            <a:off x="548640" y="4965192"/>
            <a:ext cx="402336" cy="402336"/>
          </a:xfrm>
          <a:prstGeom prst="rect">
            <a:avLst/>
          </a:prstGeom>
          <a:noFill/>
        </p:spPr>
        <p:txBody>
          <a:bodyPr wrap="square" lIns="0" tIns="0" rIns="0" bIns="0" anchor="ctr"/>
          <a:lstStyle/>
          <a:p>
            <a:pPr algn="ctr"/>
            <a:r>
              <a:rPr lang="en-US" sz="1500" b="1" i="0">
                <a:solidFill>
                  <a:srgbClr val="FFFFFF"/>
                </a:solidFill>
                <a:latin typeface="Calibri"/>
              </a:rPr>
              <a:t>6</a:t>
            </a:r>
          </a:p>
        </p:txBody>
      </p:sp>
      <p:sp>
        <p:nvSpPr>
          <p:cNvPr id="184" name="LuTxt"/>
          <p:cNvSpPr txBox="1"/>
          <p:nvPr/>
        </p:nvSpPr>
        <p:spPr>
          <a:xfrm>
            <a:off x="1170432" y="4901184"/>
            <a:ext cx="6949440" cy="530352"/>
          </a:xfrm>
          <a:prstGeom prst="rect">
            <a:avLst/>
          </a:prstGeom>
          <a:noFill/>
        </p:spPr>
        <p:txBody>
          <a:bodyPr wrap="square" lIns="0" tIns="0" rIns="0" bIns="0" anchor="ctr"/>
          <a:lstStyle/>
          <a:p>
            <a:pPr algn="l"/>
            <a:r>
              <a:rPr lang="en-US" sz="2200" b="1" i="0">
                <a:solidFill>
                  <a:srgbClr val="0B2B4E"/>
                </a:solidFill>
                <a:latin typeface="Calibri"/>
              </a:rPr>
              <a:t>Pirelli</a:t>
            </a:r>
          </a:p>
        </p:txBody>
      </p:sp>
      <p:sp>
        <p:nvSpPr>
          <p:cNvPr id="185" name="LuWho"/>
          <p:cNvSpPr txBox="1"/>
          <p:nvPr/>
        </p:nvSpPr>
        <p:spPr>
          <a:xfrm>
            <a:off x="8183880" y="4901184"/>
            <a:ext cx="3703320" cy="530352"/>
          </a:xfrm>
          <a:prstGeom prst="rect">
            <a:avLst/>
          </a:prstGeom>
          <a:noFill/>
        </p:spPr>
        <p:txBody>
          <a:bodyPr wrap="square" lIns="0" tIns="0" rIns="0" bIns="0" anchor="ctr"/>
          <a:lstStyle/>
          <a:p>
            <a:pPr algn="r"/>
            <a:r>
              <a:rPr lang="en-US" sz="1800" b="1" i="0">
                <a:solidFill>
                  <a:srgbClr val="555B66"/>
                </a:solidFill>
                <a:latin typeface="Calibri"/>
              </a:rPr>
              <a:t>Company  ·  Group 8</a:t>
            </a:r>
          </a:p>
        </p:txBody>
      </p:sp>
      <p:sp>
        <p:nvSpPr>
          <p:cNvPr id="186" name="LuBand"/>
          <p:cNvSpPr/>
          <p:nvPr/>
        </p:nvSpPr>
        <p:spPr>
          <a:xfrm>
            <a:off x="251999" y="5541264"/>
            <a:ext cx="11687697" cy="530352"/>
          </a:xfrm>
          <a:prstGeom prst="roundRect">
            <a:avLst>
              <a:gd name="adj" fmla="val 16000"/>
            </a:avLst>
          </a:prstGeom>
          <a:solidFill>
            <a:srgbClr val="FDF6E6"/>
          </a:solidFill>
          <a:ln w="19050">
            <a:solidFill>
              <a:srgbClr val="E09F3E"/>
            </a:solidFill>
          </a:ln>
          <a:effectLst>
            <a:outerShdw blurRad="40000" dist="25400" dir="2700000" rotWithShape="0">
              <a:srgbClr val="000000">
                <a:alpha val="22000"/>
              </a:srgbClr>
            </a:outerShdw>
          </a:effectLst>
        </p:spPr>
        <p:txBody>
          <a:bodyPr wrap="square" lIns="45720" tIns="0" rIns="45720" bIns="0" anchor="ctr"/>
          <a:lstStyle/>
          <a:p>
            <a:pPr algn="ctr"/>
          </a:p>
        </p:txBody>
      </p:sp>
      <p:sp>
        <p:nvSpPr>
          <p:cNvPr id="187" name="LuOval"/>
          <p:cNvSpPr/>
          <p:nvPr/>
        </p:nvSpPr>
        <p:spPr>
          <a:xfrm>
            <a:off x="548640" y="5605272"/>
            <a:ext cx="402336" cy="402336"/>
          </a:xfrm>
          <a:prstGeom prst="ellipse">
            <a:avLst/>
          </a:prstGeom>
          <a:solidFill>
            <a:srgbClr val="0B2B4E"/>
          </a:solidFill>
          <a:ln w="22225">
            <a:solidFill>
              <a:srgbClr val="E09F3E"/>
            </a:solidFill>
          </a:ln>
        </p:spPr>
        <p:txBody>
          <a:bodyPr/>
          <a:lstStyle/>
          <a:p>
            <a:endParaRPr/>
          </a:p>
        </p:txBody>
      </p:sp>
      <p:sp>
        <p:nvSpPr>
          <p:cNvPr id="188" name="LuNum"/>
          <p:cNvSpPr txBox="1"/>
          <p:nvPr/>
        </p:nvSpPr>
        <p:spPr>
          <a:xfrm>
            <a:off x="548640" y="5605272"/>
            <a:ext cx="402336" cy="402336"/>
          </a:xfrm>
          <a:prstGeom prst="rect">
            <a:avLst/>
          </a:prstGeom>
          <a:noFill/>
        </p:spPr>
        <p:txBody>
          <a:bodyPr wrap="square" lIns="0" tIns="0" rIns="0" bIns="0" anchor="ctr"/>
          <a:lstStyle/>
          <a:p>
            <a:pPr algn="ctr"/>
            <a:r>
              <a:rPr lang="en-US" sz="1500" b="1" i="0">
                <a:solidFill>
                  <a:srgbClr val="FFFFFF"/>
                </a:solidFill>
                <a:latin typeface="Calibri"/>
              </a:rPr>
              <a:t>7</a:t>
            </a:r>
          </a:p>
        </p:txBody>
      </p:sp>
      <p:sp>
        <p:nvSpPr>
          <p:cNvPr id="189" name="LuTxt"/>
          <p:cNvSpPr txBox="1"/>
          <p:nvPr/>
        </p:nvSpPr>
        <p:spPr>
          <a:xfrm>
            <a:off x="1170432" y="5541264"/>
            <a:ext cx="6949440" cy="530352"/>
          </a:xfrm>
          <a:prstGeom prst="rect">
            <a:avLst/>
          </a:prstGeom>
          <a:noFill/>
        </p:spPr>
        <p:txBody>
          <a:bodyPr wrap="square" lIns="0" tIns="0" rIns="0" bIns="0" anchor="ctr"/>
          <a:lstStyle/>
          <a:p>
            <a:pPr algn="l"/>
            <a:r>
              <a:rPr lang="en-US" sz="2200" b="1" i="0">
                <a:solidFill>
                  <a:srgbClr val="0B2B4E"/>
                </a:solidFill>
                <a:latin typeface="Calibri"/>
              </a:rPr>
              <a:t>EssilorLuxottica</a:t>
            </a:r>
          </a:p>
        </p:txBody>
      </p:sp>
      <p:sp>
        <p:nvSpPr>
          <p:cNvPr id="190" name="LuWho"/>
          <p:cNvSpPr txBox="1"/>
          <p:nvPr/>
        </p:nvSpPr>
        <p:spPr>
          <a:xfrm>
            <a:off x="8183880" y="5541264"/>
            <a:ext cx="3703320" cy="530352"/>
          </a:xfrm>
          <a:prstGeom prst="rect">
            <a:avLst/>
          </a:prstGeom>
          <a:noFill/>
        </p:spPr>
        <p:txBody>
          <a:bodyPr wrap="square" lIns="0" tIns="0" rIns="0" bIns="0" anchor="ctr"/>
          <a:lstStyle/>
          <a:p>
            <a:pPr algn="r"/>
            <a:r>
              <a:rPr lang="en-US" sz="1800" b="1" i="0">
                <a:solidFill>
                  <a:srgbClr val="555B66"/>
                </a:solidFill>
                <a:latin typeface="Calibri"/>
              </a:rPr>
              <a:t>Company  ·  Group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1"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Broad-Topic Debates</a:t>
            </a:r>
          </a:p>
        </p:txBody>
      </p:sp>
      <p:sp>
        <p:nvSpPr>
          <p:cNvPr id="193"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Italy and the EU / the Euro</a:t>
            </a:r>
          </a:p>
        </p:txBody>
      </p:sp>
      <p:sp>
        <p:nvSpPr>
          <p:cNvPr id="194"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199"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07}" type="slidenum">
              <a:rPr lang="en-US" sz="1200">
                <a:solidFill>
                  <a:srgbClr val="555B66"/>
                </a:solidFill>
                <a:latin typeface="Calibri"/>
              </a:rPr>
              <a:t>7</a:t>
            </a:fld>
            <a:endParaRPr lang="en-US" sz="1200">
              <a:solidFill>
                <a:srgbClr val="555B66"/>
              </a:solidFill>
              <a:latin typeface="Calibri"/>
            </a:endParaRPr>
          </a:p>
        </p:txBody>
      </p:sp>
      <p:sp>
        <p:nvSpPr>
          <p:cNvPr id="200" name="Hdr1"/>
          <p:cNvSpPr/>
          <p:nvPr/>
        </p:nvSpPr>
        <p:spPr>
          <a:xfrm>
            <a:off x="251999" y="1572768"/>
            <a:ext cx="5669280" cy="512064"/>
          </a:xfrm>
          <a:prstGeom prst="roundRect">
            <a:avLst>
              <a:gd name="adj" fmla="val 22000"/>
            </a:avLst>
          </a:prstGeom>
          <a:solidFill>
            <a:srgbClr val="0B2B4E"/>
          </a:solidFill>
          <a:ln>
            <a:noFill/>
          </a:ln>
          <a:effectLst>
            <a:outerShdw blurRad="50800" dist="38100" dir="2700000" rotWithShape="0">
              <a:srgbClr val="000000">
                <a:alpha val="30000"/>
              </a:srgbClr>
            </a:outerShdw>
          </a:effectLst>
        </p:spPr>
        <p:txBody>
          <a:bodyPr wrap="square" lIns="45720" tIns="0" rIns="45720" bIns="0" anchor="ctr"/>
          <a:lstStyle/>
          <a:p>
            <a:pPr algn="ctr"/>
            <a:r>
              <a:rPr lang="en-US" sz="2000" b="1" i="0">
                <a:solidFill>
                  <a:srgbClr val="FFFFFF"/>
                </a:solidFill>
                <a:latin typeface="Calibri"/>
              </a:rPr>
              <a:t>CONTRA  ·  Group 1</a:t>
            </a:r>
          </a:p>
        </p:txBody>
      </p:sp>
      <p:sp>
        <p:nvSpPr>
          <p:cNvPr id="201" name="Card1"/>
          <p:cNvSpPr/>
          <p:nvPr/>
        </p:nvSpPr>
        <p:spPr>
          <a:xfrm>
            <a:off x="251999" y="2194560"/>
            <a:ext cx="5669280" cy="3246120"/>
          </a:xfrm>
          <a:prstGeom prst="roundRect">
            <a:avLst>
              <a:gd name="adj" fmla="val 6000"/>
            </a:avLst>
          </a:prstGeom>
          <a:solidFill>
            <a:srgbClr val="FDF6E6"/>
          </a:solidFill>
          <a:ln w="15875">
            <a:solidFill>
              <a:srgbClr val="E09F3E"/>
            </a:solidFill>
          </a:ln>
          <a:effectLst>
            <a:outerShdw blurRad="50800" dist="38100" dir="2700000" rotWithShape="0">
              <a:srgbClr val="000000">
                <a:alpha val="30000"/>
              </a:srgbClr>
            </a:outerShdw>
          </a:effectLst>
        </p:spPr>
        <p:txBody>
          <a:bodyPr wrap="square" lIns="256032" tIns="0" rIns="256032" bIns="0" anchor="ctr"/>
          <a:lstStyle/>
          <a:p>
            <a:pPr algn="ctr">
              <a:lnSpc>
                <a:spcPct val="95000"/>
              </a:lnSpc>
            </a:pPr>
            <a:r>
              <a:rPr lang="en-US" sz="2600" b="0" i="1">
                <a:solidFill>
                  <a:srgbClr val="0B2B4E"/>
                </a:solidFill>
                <a:latin typeface="Calibri"/>
              </a:rPr>
              <a:t>“Italy would be economically better off outside the EU, without the Euro”</a:t>
            </a:r>
          </a:p>
        </p:txBody>
      </p:sp>
      <p:sp>
        <p:nvSpPr>
          <p:cNvPr id="202" name="Hdr2"/>
          <p:cNvSpPr/>
          <p:nvPr/>
        </p:nvSpPr>
        <p:spPr>
          <a:xfrm>
            <a:off x="6268751" y="1572768"/>
            <a:ext cx="5669280" cy="512064"/>
          </a:xfrm>
          <a:prstGeom prst="roundRect">
            <a:avLst>
              <a:gd name="adj" fmla="val 22000"/>
            </a:avLst>
          </a:prstGeom>
          <a:solidFill>
            <a:srgbClr val="0B2B4E"/>
          </a:solidFill>
          <a:ln>
            <a:noFill/>
          </a:ln>
          <a:effectLst>
            <a:outerShdw blurRad="50800" dist="38100" dir="2700000" rotWithShape="0">
              <a:srgbClr val="000000">
                <a:alpha val="30000"/>
              </a:srgbClr>
            </a:outerShdw>
          </a:effectLst>
        </p:spPr>
        <p:txBody>
          <a:bodyPr wrap="square" lIns="45720" tIns="0" rIns="45720" bIns="0" anchor="ctr"/>
          <a:lstStyle/>
          <a:p>
            <a:pPr algn="ctr"/>
            <a:r>
              <a:rPr lang="en-US" sz="2000" b="1" i="0">
                <a:solidFill>
                  <a:srgbClr val="FFFFFF"/>
                </a:solidFill>
                <a:latin typeface="Calibri"/>
              </a:rPr>
              <a:t>PRO  ·  Group 3</a:t>
            </a:r>
          </a:p>
        </p:txBody>
      </p:sp>
      <p:sp>
        <p:nvSpPr>
          <p:cNvPr id="203" name="Card2"/>
          <p:cNvSpPr/>
          <p:nvPr/>
        </p:nvSpPr>
        <p:spPr>
          <a:xfrm>
            <a:off x="6268751" y="2194560"/>
            <a:ext cx="5669280" cy="3246120"/>
          </a:xfrm>
          <a:prstGeom prst="roundRect">
            <a:avLst>
              <a:gd name="adj" fmla="val 6000"/>
            </a:avLst>
          </a:prstGeom>
          <a:solidFill>
            <a:srgbClr val="FDF6E6"/>
          </a:solidFill>
          <a:ln w="15875">
            <a:solidFill>
              <a:srgbClr val="E09F3E"/>
            </a:solidFill>
          </a:ln>
          <a:effectLst>
            <a:outerShdw blurRad="50800" dist="38100" dir="2700000" rotWithShape="0">
              <a:srgbClr val="000000">
                <a:alpha val="30000"/>
              </a:srgbClr>
            </a:outerShdw>
          </a:effectLst>
        </p:spPr>
        <p:txBody>
          <a:bodyPr wrap="square" lIns="256032" tIns="0" rIns="256032" bIns="0" anchor="ctr"/>
          <a:lstStyle/>
          <a:p>
            <a:pPr algn="ctr">
              <a:lnSpc>
                <a:spcPct val="95000"/>
              </a:lnSpc>
            </a:pPr>
            <a:r>
              <a:rPr lang="en-US" sz="2600" b="0" i="1">
                <a:solidFill>
                  <a:srgbClr val="0B2B4E"/>
                </a:solidFill>
                <a:latin typeface="Calibri"/>
              </a:rPr>
              <a:t>“Being in the EU and using the Euro is good for Italy from an economic standpoint”</a:t>
            </a:r>
          </a:p>
        </p:txBody>
      </p:sp>
      <p:sp>
        <p:nvSpPr>
          <p:cNvPr id="204" name="Takeaway"/>
          <p:cNvSpPr/>
          <p:nvPr/>
        </p:nvSpPr>
        <p:spPr>
          <a:xfrm>
            <a:off x="251999" y="5760720"/>
            <a:ext cx="11687697" cy="475488"/>
          </a:xfrm>
          <a:prstGeom prst="roundRect">
            <a:avLst>
              <a:gd name="adj" fmla="val 18000"/>
            </a:avLst>
          </a:prstGeom>
          <a:solidFill>
            <a:srgbClr val="E09F3E"/>
          </a:solidFill>
          <a:ln>
            <a:noFill/>
          </a:ln>
          <a:effectLst>
            <a:outerShdw blurRad="50800" dist="38100" dir="2700000" rotWithShape="0">
              <a:srgbClr val="000000">
                <a:alpha val="30000"/>
              </a:srgbClr>
            </a:outerShdw>
          </a:effectLst>
        </p:spPr>
        <p:txBody>
          <a:bodyPr wrap="square" lIns="45720" tIns="0" rIns="45720" bIns="0" anchor="ctr"/>
          <a:lstStyle/>
          <a:p>
            <a:pPr algn="ctr"/>
            <a:r>
              <a:rPr lang="en-US" sz="1900" b="1" i="1">
                <a:solidFill>
                  <a:srgbClr val="0B2B4E"/>
                </a:solidFill>
                <a:latin typeface="Calibri"/>
              </a:rPr>
              <a:t>2 – 3 min executive summary from each side, then open debate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1"/>
                                        </p:tgtEl>
                                        <p:attrNameLst>
                                          <p:attrName>style.visibility</p:attrName>
                                        </p:attrNameLst>
                                      </p:cBhvr>
                                      <p:to>
                                        <p:strVal val="visible"/>
                                      </p:to>
                                    </p:set>
                                    <p:animEffect transition="in" filter="fade">
                                      <p:cBhvr>
                                        <p:cTn id="10" dur="500"/>
                                        <p:tgtEl>
                                          <p:spTgt spid="20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02"/>
                                        </p:tgtEl>
                                        <p:attrNameLst>
                                          <p:attrName>style.visibility</p:attrName>
                                        </p:attrNameLst>
                                      </p:cBhvr>
                                      <p:to>
                                        <p:strVal val="visible"/>
                                      </p:to>
                                    </p:set>
                                    <p:animEffect transition="in" filter="fade">
                                      <p:cBhvr>
                                        <p:cTn id="15" dur="500"/>
                                        <p:tgtEl>
                                          <p:spTgt spid="20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03"/>
                                        </p:tgtEl>
                                        <p:attrNameLst>
                                          <p:attrName>style.visibility</p:attrName>
                                        </p:attrNameLst>
                                      </p:cBhvr>
                                      <p:to>
                                        <p:strVal val="visible"/>
                                      </p:to>
                                    </p:set>
                                    <p:animEffect transition="in" filter="fade">
                                      <p:cBhvr>
                                        <p:cTn id="18" dur="500"/>
                                        <p:tgtEl>
                                          <p:spTgt spid="20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04"/>
                                        </p:tgtEl>
                                        <p:attrNameLst>
                                          <p:attrName>style.visibility</p:attrName>
                                        </p:attrNameLst>
                                      </p:cBhvr>
                                      <p:to>
                                        <p:strVal val="visible"/>
                                      </p:to>
                                    </p:set>
                                    <p:animEffect transition="in" filter="fade">
                                      <p:cBhvr>
                                        <p:cTn id="23" dur="500"/>
                                        <p:tgtEl>
                                          <p:spTgt spid="2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5"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Company Presentations</a:t>
            </a:r>
          </a:p>
        </p:txBody>
      </p:sp>
      <p:sp>
        <p:nvSpPr>
          <p:cNvPr id="207"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Kering – A Portfolio of Iconic Luxury Houses</a:t>
            </a:r>
          </a:p>
        </p:txBody>
      </p:sp>
      <p:sp>
        <p:nvSpPr>
          <p:cNvPr id="208"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213"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08}" type="slidenum">
              <a:rPr lang="en-US" sz="1200">
                <a:solidFill>
                  <a:srgbClr val="555B66"/>
                </a:solidFill>
                <a:latin typeface="Calibri"/>
              </a:rPr>
              <a:t>8</a:t>
            </a:fld>
            <a:endParaRPr lang="en-US" sz="1200">
              <a:solidFill>
                <a:srgbClr val="555B66"/>
              </a:solidFill>
              <a:latin typeface="Calibri"/>
            </a:endParaRPr>
          </a:p>
        </p:txBody>
      </p:sp>
      <p:pic>
        <p:nvPicPr>
          <p:cNvPr id="214" name="Picture 213" descr="_logo_kering.png"/>
          <p:cNvPicPr>
            <a:picLocks noChangeAspect="1"/>
          </p:cNvPicPr>
          <p:nvPr/>
        </p:nvPicPr>
        <p:blipFill>
          <a:blip r:embed="rId2"/>
          <a:stretch>
            <a:fillRect/>
          </a:stretch>
        </p:blipFill>
        <p:spPr>
          <a:xfrm>
            <a:off x="695648" y="1897380"/>
            <a:ext cx="4186545" cy="1417320"/>
          </a:xfrm>
          <a:prstGeom prst="rect">
            <a:avLst/>
          </a:prstGeom>
        </p:spPr>
      </p:pic>
      <p:sp>
        <p:nvSpPr>
          <p:cNvPr id="214" name="Sector"/>
          <p:cNvSpPr txBox="1"/>
          <p:nvPr/>
        </p:nvSpPr>
        <p:spPr>
          <a:xfrm>
            <a:off x="685800" y="3822192"/>
            <a:ext cx="4206240" cy="365760"/>
          </a:xfrm>
          <a:prstGeom prst="rect">
            <a:avLst/>
          </a:prstGeom>
          <a:noFill/>
        </p:spPr>
        <p:txBody>
          <a:bodyPr wrap="square" lIns="0" tIns="0" rIns="0" bIns="0">
            <a:spAutoFit/>
          </a:bodyPr>
          <a:lstStyle/>
          <a:p>
            <a:pPr algn="ctr"/>
            <a:r>
              <a:rPr lang="en-US" sz="2000" b="1" i="0">
                <a:solidFill>
                  <a:srgbClr val="0B2B4E"/>
                </a:solidFill>
                <a:latin typeface="Calibri"/>
              </a:rPr>
              <a:t>Luxury Group</a:t>
            </a:r>
          </a:p>
        </p:txBody>
      </p:sp>
      <p:sp>
        <p:nvSpPr>
          <p:cNvPr id="215" name="GroupPill"/>
          <p:cNvSpPr/>
          <p:nvPr/>
        </p:nvSpPr>
        <p:spPr>
          <a:xfrm>
            <a:off x="1828800" y="4389120"/>
            <a:ext cx="1920240" cy="475488"/>
          </a:xfrm>
          <a:prstGeom prst="roundRect">
            <a:avLst>
              <a:gd name="adj" fmla="val 30000"/>
            </a:avLst>
          </a:prstGeom>
          <a:solidFill>
            <a:srgbClr val="0B2B4E"/>
          </a:solidFill>
          <a:ln>
            <a:noFill/>
          </a:ln>
          <a:effectLst>
            <a:outerShdw blurRad="50800" dist="38100" dir="2700000" rotWithShape="0">
              <a:srgbClr val="000000">
                <a:alpha val="30000"/>
              </a:srgbClr>
            </a:outerShdw>
          </a:effectLst>
        </p:spPr>
        <p:txBody>
          <a:bodyPr wrap="none" lIns="0" tIns="0" rIns="0" bIns="0" anchor="ctr"/>
          <a:lstStyle/>
          <a:p>
            <a:pPr algn="ctr"/>
            <a:r>
              <a:rPr lang="en-US" sz="1800" b="1" i="0">
                <a:solidFill>
                  <a:srgbClr val="FFFFFF"/>
                </a:solidFill>
                <a:latin typeface="Calibri"/>
              </a:rPr>
              <a:t>Group 2</a:t>
            </a:r>
          </a:p>
        </p:txBody>
      </p:sp>
      <p:sp>
        <p:nvSpPr>
          <p:cNvPr id="216" name="BriefCard"/>
          <p:cNvSpPr/>
          <p:nvPr/>
        </p:nvSpPr>
        <p:spPr>
          <a:xfrm>
            <a:off x="5394960" y="1572768"/>
            <a:ext cx="6537960" cy="173736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Your brief</a:t>
            </a:r>
          </a:p>
          <a:p>
            <a:pPr marL="342900" indent="-274320" algn="l">
              <a:spcBef>
                <a:spcPts val="700"/>
              </a:spcBef>
              <a:buClr>
                <a:srgbClr val="0B2B4E"/>
              </a:buClr>
              <a:buFont typeface="Calibri"/>
              <a:buChar char="▪"/>
            </a:pPr>
            <a:r>
              <a:rPr lang="en-US" sz="2000" b="0" i="0">
                <a:solidFill>
                  <a:srgbClr val="0B2B4E"/>
                </a:solidFill>
                <a:latin typeface="Calibri"/>
              </a:rPr>
              <a:t>Introduce the company</a:t>
            </a:r>
          </a:p>
          <a:p>
            <a:pPr marL="342900" indent="-274320" algn="l">
              <a:spcBef>
                <a:spcPts val="400"/>
              </a:spcBef>
              <a:buClr>
                <a:srgbClr val="0B2B4E"/>
              </a:buClr>
              <a:buFont typeface="Calibri"/>
              <a:buChar char="▪"/>
            </a:pPr>
            <a:r>
              <a:rPr lang="en-US" sz="2000" b="0" i="0">
                <a:solidFill>
                  <a:srgbClr val="0B2B4E"/>
                </a:solidFill>
                <a:latin typeface="Calibri"/>
              </a:rPr>
              <a:t>Then argue why (not) to invest in it</a:t>
            </a:r>
          </a:p>
        </p:txBody>
      </p:sp>
      <p:sp>
        <p:nvSpPr>
          <p:cNvPr id="217" name="VisitCard"/>
          <p:cNvSpPr/>
          <p:nvPr/>
        </p:nvSpPr>
        <p:spPr>
          <a:xfrm>
            <a:off x="5394960" y="3529584"/>
            <a:ext cx="6537960" cy="214884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We visit them on the trip</a:t>
            </a:r>
          </a:p>
          <a:p>
            <a:pPr algn="l">
              <a:spcBef>
                <a:spcPts val="700"/>
              </a:spcBef>
            </a:pPr>
            <a:r>
              <a:rPr lang="en-US" sz="2000" b="1" i="0">
                <a:solidFill>
                  <a:srgbClr val="E09F3E"/>
                </a:solidFill>
                <a:latin typeface="Calibri"/>
              </a:rPr>
              <a:t>Wednesday 9 Sep  ·  09.00 – 10.30</a:t>
            </a:r>
          </a:p>
          <a:p>
            <a:pPr algn="l">
              <a:lnSpc>
                <a:spcPct val="95000"/>
              </a:lnSpc>
              <a:spcBef>
                <a:spcPts val="600"/>
              </a:spcBef>
            </a:pPr>
            <a:r>
              <a:rPr lang="en-US" sz="1800" b="0" i="1">
                <a:solidFill>
                  <a:srgbClr val="0B2B4E"/>
                </a:solidFill>
                <a:latin typeface="Calibri"/>
              </a:rPr>
              <a:t>A session with a senior leader at one of the world’s most powerful luxury conglomerates, exploring how Kering builds and manages a portfolio of iconic houses.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16"/>
                                        </p:tgtEl>
                                        <p:attrNameLst>
                                          <p:attrName>style.visibility</p:attrName>
                                        </p:attrNameLst>
                                      </p:cBhvr>
                                      <p:to>
                                        <p:strVal val="visible"/>
                                      </p:to>
                                    </p:set>
                                    <p:animEffect transition="in" filter="fade">
                                      <p:cBhvr>
                                        <p:cTn id="7" dur="500"/>
                                        <p:tgtEl>
                                          <p:spTgt spid="2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7"/>
                                        </p:tgtEl>
                                        <p:attrNameLst>
                                          <p:attrName>style.visibility</p:attrName>
                                        </p:attrNameLst>
                                      </p:cBhvr>
                                      <p:to>
                                        <p:strVal val="visible"/>
                                      </p:to>
                                    </p:set>
                                    <p:animEffect transition="in" filter="fade">
                                      <p:cBhvr>
                                        <p:cTn id="12" dur="5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8"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Broad-Topic Debates</a:t>
            </a:r>
          </a:p>
        </p:txBody>
      </p:sp>
      <p:sp>
        <p:nvSpPr>
          <p:cNvPr id="220"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Italy’s Future in Tech and AI</a:t>
            </a:r>
          </a:p>
        </p:txBody>
      </p:sp>
      <p:sp>
        <p:nvSpPr>
          <p:cNvPr id="221"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226"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09}" type="slidenum">
              <a:rPr lang="en-US" sz="1200">
                <a:solidFill>
                  <a:srgbClr val="555B66"/>
                </a:solidFill>
                <a:latin typeface="Calibri"/>
              </a:rPr>
              <a:t>9</a:t>
            </a:fld>
            <a:endParaRPr lang="en-US" sz="1200">
              <a:solidFill>
                <a:srgbClr val="555B66"/>
              </a:solidFill>
              <a:latin typeface="Calibri"/>
            </a:endParaRPr>
          </a:p>
        </p:txBody>
      </p:sp>
      <p:sp>
        <p:nvSpPr>
          <p:cNvPr id="227" name="Hdr1"/>
          <p:cNvSpPr/>
          <p:nvPr/>
        </p:nvSpPr>
        <p:spPr>
          <a:xfrm>
            <a:off x="251999" y="1572768"/>
            <a:ext cx="5669280" cy="512064"/>
          </a:xfrm>
          <a:prstGeom prst="roundRect">
            <a:avLst>
              <a:gd name="adj" fmla="val 22000"/>
            </a:avLst>
          </a:prstGeom>
          <a:solidFill>
            <a:srgbClr val="0B2B4E"/>
          </a:solidFill>
          <a:ln>
            <a:noFill/>
          </a:ln>
          <a:effectLst>
            <a:outerShdw blurRad="50800" dist="38100" dir="2700000" rotWithShape="0">
              <a:srgbClr val="000000">
                <a:alpha val="30000"/>
              </a:srgbClr>
            </a:outerShdw>
          </a:effectLst>
        </p:spPr>
        <p:txBody>
          <a:bodyPr wrap="square" lIns="45720" tIns="0" rIns="45720" bIns="0" anchor="ctr"/>
          <a:lstStyle/>
          <a:p>
            <a:pPr algn="ctr"/>
            <a:r>
              <a:rPr lang="en-US" sz="2000" b="1" i="0">
                <a:solidFill>
                  <a:srgbClr val="FFFFFF"/>
                </a:solidFill>
                <a:latin typeface="Calibri"/>
              </a:rPr>
              <a:t>PRO  ·  Group 4</a:t>
            </a:r>
          </a:p>
        </p:txBody>
      </p:sp>
      <p:sp>
        <p:nvSpPr>
          <p:cNvPr id="228" name="Card1"/>
          <p:cNvSpPr/>
          <p:nvPr/>
        </p:nvSpPr>
        <p:spPr>
          <a:xfrm>
            <a:off x="251999" y="2194560"/>
            <a:ext cx="5669280" cy="3246120"/>
          </a:xfrm>
          <a:prstGeom prst="roundRect">
            <a:avLst>
              <a:gd name="adj" fmla="val 6000"/>
            </a:avLst>
          </a:prstGeom>
          <a:solidFill>
            <a:srgbClr val="FDF6E6"/>
          </a:solidFill>
          <a:ln w="15875">
            <a:solidFill>
              <a:srgbClr val="E09F3E"/>
            </a:solidFill>
          </a:ln>
          <a:effectLst>
            <a:outerShdw blurRad="50800" dist="38100" dir="2700000" rotWithShape="0">
              <a:srgbClr val="000000">
                <a:alpha val="30000"/>
              </a:srgbClr>
            </a:outerShdw>
          </a:effectLst>
        </p:spPr>
        <p:txBody>
          <a:bodyPr wrap="square" lIns="256032" tIns="0" rIns="256032" bIns="0" anchor="ctr"/>
          <a:lstStyle/>
          <a:p>
            <a:pPr algn="ctr">
              <a:lnSpc>
                <a:spcPct val="95000"/>
              </a:lnSpc>
            </a:pPr>
            <a:r>
              <a:rPr lang="en-US" sz="2600" b="0" i="1">
                <a:solidFill>
                  <a:srgbClr val="0B2B4E"/>
                </a:solidFill>
                <a:latin typeface="Calibri"/>
              </a:rPr>
              <a:t>“Italy is already on a good path”</a:t>
            </a:r>
          </a:p>
        </p:txBody>
      </p:sp>
      <p:sp>
        <p:nvSpPr>
          <p:cNvPr id="229" name="Hdr2"/>
          <p:cNvSpPr/>
          <p:nvPr/>
        </p:nvSpPr>
        <p:spPr>
          <a:xfrm>
            <a:off x="6268751" y="1572768"/>
            <a:ext cx="5669280" cy="512064"/>
          </a:xfrm>
          <a:prstGeom prst="roundRect">
            <a:avLst>
              <a:gd name="adj" fmla="val 22000"/>
            </a:avLst>
          </a:prstGeom>
          <a:solidFill>
            <a:srgbClr val="0B2B4E"/>
          </a:solidFill>
          <a:ln>
            <a:noFill/>
          </a:ln>
          <a:effectLst>
            <a:outerShdw blurRad="50800" dist="38100" dir="2700000" rotWithShape="0">
              <a:srgbClr val="000000">
                <a:alpha val="30000"/>
              </a:srgbClr>
            </a:outerShdw>
          </a:effectLst>
        </p:spPr>
        <p:txBody>
          <a:bodyPr wrap="square" lIns="45720" tIns="0" rIns="45720" bIns="0" anchor="ctr"/>
          <a:lstStyle/>
          <a:p>
            <a:pPr algn="ctr"/>
            <a:r>
              <a:rPr lang="en-US" sz="2000" b="1" i="0">
                <a:solidFill>
                  <a:srgbClr val="FFFFFF"/>
                </a:solidFill>
                <a:latin typeface="Calibri"/>
              </a:rPr>
              <a:t>CONTRA  ·  Group 7</a:t>
            </a:r>
          </a:p>
        </p:txBody>
      </p:sp>
      <p:sp>
        <p:nvSpPr>
          <p:cNvPr id="230" name="Card2"/>
          <p:cNvSpPr/>
          <p:nvPr/>
        </p:nvSpPr>
        <p:spPr>
          <a:xfrm>
            <a:off x="6268751" y="2194560"/>
            <a:ext cx="5669280" cy="3246120"/>
          </a:xfrm>
          <a:prstGeom prst="roundRect">
            <a:avLst>
              <a:gd name="adj" fmla="val 6000"/>
            </a:avLst>
          </a:prstGeom>
          <a:solidFill>
            <a:srgbClr val="FDF6E6"/>
          </a:solidFill>
          <a:ln w="15875">
            <a:solidFill>
              <a:srgbClr val="E09F3E"/>
            </a:solidFill>
          </a:ln>
          <a:effectLst>
            <a:outerShdw blurRad="50800" dist="38100" dir="2700000" rotWithShape="0">
              <a:srgbClr val="000000">
                <a:alpha val="30000"/>
              </a:srgbClr>
            </a:outerShdw>
          </a:effectLst>
        </p:spPr>
        <p:txBody>
          <a:bodyPr wrap="square" lIns="256032" tIns="0" rIns="256032" bIns="0" anchor="ctr"/>
          <a:lstStyle/>
          <a:p>
            <a:pPr algn="ctr">
              <a:lnSpc>
                <a:spcPct val="95000"/>
              </a:lnSpc>
            </a:pPr>
            <a:r>
              <a:rPr lang="en-US" sz="2600" b="0" i="1">
                <a:solidFill>
                  <a:srgbClr val="0B2B4E"/>
                </a:solidFill>
                <a:latin typeface="Calibri"/>
              </a:rPr>
              <a:t>“Italy is lagging far behind on tech and AI”</a:t>
            </a:r>
          </a:p>
        </p:txBody>
      </p:sp>
      <p:sp>
        <p:nvSpPr>
          <p:cNvPr id="231" name="Takeaway"/>
          <p:cNvSpPr/>
          <p:nvPr/>
        </p:nvSpPr>
        <p:spPr>
          <a:xfrm>
            <a:off x="251999" y="5760720"/>
            <a:ext cx="11687697" cy="475488"/>
          </a:xfrm>
          <a:prstGeom prst="roundRect">
            <a:avLst>
              <a:gd name="adj" fmla="val 18000"/>
            </a:avLst>
          </a:prstGeom>
          <a:solidFill>
            <a:srgbClr val="E09F3E"/>
          </a:solidFill>
          <a:ln>
            <a:noFill/>
          </a:ln>
          <a:effectLst>
            <a:outerShdw blurRad="50800" dist="38100" dir="2700000" rotWithShape="0">
              <a:srgbClr val="000000">
                <a:alpha val="30000"/>
              </a:srgbClr>
            </a:outerShdw>
          </a:effectLst>
        </p:spPr>
        <p:txBody>
          <a:bodyPr wrap="square" lIns="45720" tIns="0" rIns="45720" bIns="0" anchor="ctr"/>
          <a:lstStyle/>
          <a:p>
            <a:pPr algn="ctr"/>
            <a:r>
              <a:rPr lang="en-US" sz="1900" b="1" i="1">
                <a:solidFill>
                  <a:srgbClr val="0B2B4E"/>
                </a:solidFill>
                <a:latin typeface="Calibri"/>
              </a:rPr>
              <a:t>2 – 3 min executive summary from each side, then open debate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7"/>
                                        </p:tgtEl>
                                        <p:attrNameLst>
                                          <p:attrName>style.visibility</p:attrName>
                                        </p:attrNameLst>
                                      </p:cBhvr>
                                      <p:to>
                                        <p:strVal val="visible"/>
                                      </p:to>
                                    </p:set>
                                    <p:animEffect transition="in" filter="fade">
                                      <p:cBhvr>
                                        <p:cTn id="7" dur="500"/>
                                        <p:tgtEl>
                                          <p:spTgt spid="2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28"/>
                                        </p:tgtEl>
                                        <p:attrNameLst>
                                          <p:attrName>style.visibility</p:attrName>
                                        </p:attrNameLst>
                                      </p:cBhvr>
                                      <p:to>
                                        <p:strVal val="visible"/>
                                      </p:to>
                                    </p:set>
                                    <p:animEffect transition="in" filter="fade">
                                      <p:cBhvr>
                                        <p:cTn id="10" dur="500"/>
                                        <p:tgtEl>
                                          <p:spTgt spid="22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29"/>
                                        </p:tgtEl>
                                        <p:attrNameLst>
                                          <p:attrName>style.visibility</p:attrName>
                                        </p:attrNameLst>
                                      </p:cBhvr>
                                      <p:to>
                                        <p:strVal val="visible"/>
                                      </p:to>
                                    </p:set>
                                    <p:animEffect transition="in" filter="fade">
                                      <p:cBhvr>
                                        <p:cTn id="15" dur="500"/>
                                        <p:tgtEl>
                                          <p:spTgt spid="22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30"/>
                                        </p:tgtEl>
                                        <p:attrNameLst>
                                          <p:attrName>style.visibility</p:attrName>
                                        </p:attrNameLst>
                                      </p:cBhvr>
                                      <p:to>
                                        <p:strVal val="visible"/>
                                      </p:to>
                                    </p:set>
                                    <p:animEffect transition="in" filter="fade">
                                      <p:cBhvr>
                                        <p:cTn id="18" dur="500"/>
                                        <p:tgtEl>
                                          <p:spTgt spid="2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31"/>
                                        </p:tgtEl>
                                        <p:attrNameLst>
                                          <p:attrName>style.visibility</p:attrName>
                                        </p:attrNameLst>
                                      </p:cBhvr>
                                      <p:to>
                                        <p:strVal val="visible"/>
                                      </p:to>
                                    </p:set>
                                    <p:animEffect transition="in" filter="fade">
                                      <p:cBhvr>
                                        <p:cTn id="23" dur="500"/>
                                        <p:tgtEl>
                                          <p:spTgt spid="2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Company Presentations</a:t>
            </a:r>
          </a:p>
        </p:txBody>
      </p:sp>
      <p:sp>
        <p:nvSpPr>
          <p:cNvPr id="234"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Prada Group – Global Strategy in Luxury Fashion</a:t>
            </a:r>
          </a:p>
        </p:txBody>
      </p:sp>
      <p:sp>
        <p:nvSpPr>
          <p:cNvPr id="235"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240"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10}" type="slidenum">
              <a:rPr lang="en-US" sz="1200">
                <a:solidFill>
                  <a:srgbClr val="555B66"/>
                </a:solidFill>
                <a:latin typeface="Calibri"/>
              </a:rPr>
              <a:t>10</a:t>
            </a:fld>
            <a:endParaRPr lang="en-US" sz="1200">
              <a:solidFill>
                <a:srgbClr val="555B66"/>
              </a:solidFill>
              <a:latin typeface="Calibri"/>
            </a:endParaRPr>
          </a:p>
        </p:txBody>
      </p:sp>
      <p:pic>
        <p:nvPicPr>
          <p:cNvPr id="241" name="Picture 240" descr="_logo_prada.png"/>
          <p:cNvPicPr>
            <a:picLocks noChangeAspect="1"/>
          </p:cNvPicPr>
          <p:nvPr/>
        </p:nvPicPr>
        <p:blipFill>
          <a:blip r:embed="rId2"/>
          <a:stretch>
            <a:fillRect/>
          </a:stretch>
        </p:blipFill>
        <p:spPr>
          <a:xfrm>
            <a:off x="685800" y="2242376"/>
            <a:ext cx="4206240" cy="727329"/>
          </a:xfrm>
          <a:prstGeom prst="rect">
            <a:avLst/>
          </a:prstGeom>
        </p:spPr>
      </p:pic>
      <p:sp>
        <p:nvSpPr>
          <p:cNvPr id="241" name="Sector"/>
          <p:cNvSpPr txBox="1"/>
          <p:nvPr/>
        </p:nvSpPr>
        <p:spPr>
          <a:xfrm>
            <a:off x="685800" y="3822192"/>
            <a:ext cx="4206240" cy="365760"/>
          </a:xfrm>
          <a:prstGeom prst="rect">
            <a:avLst/>
          </a:prstGeom>
          <a:noFill/>
        </p:spPr>
        <p:txBody>
          <a:bodyPr wrap="square" lIns="0" tIns="0" rIns="0" bIns="0">
            <a:spAutoFit/>
          </a:bodyPr>
          <a:lstStyle/>
          <a:p>
            <a:pPr algn="ctr"/>
            <a:r>
              <a:rPr lang="en-US" sz="2000" b="1" i="0">
                <a:solidFill>
                  <a:srgbClr val="0B2B4E"/>
                </a:solidFill>
                <a:latin typeface="Calibri"/>
              </a:rPr>
              <a:t>Luxury Fashion</a:t>
            </a:r>
          </a:p>
        </p:txBody>
      </p:sp>
      <p:sp>
        <p:nvSpPr>
          <p:cNvPr id="242" name="GroupPill"/>
          <p:cNvSpPr/>
          <p:nvPr/>
        </p:nvSpPr>
        <p:spPr>
          <a:xfrm>
            <a:off x="1828800" y="4389120"/>
            <a:ext cx="1920240" cy="475488"/>
          </a:xfrm>
          <a:prstGeom prst="roundRect">
            <a:avLst>
              <a:gd name="adj" fmla="val 30000"/>
            </a:avLst>
          </a:prstGeom>
          <a:solidFill>
            <a:srgbClr val="0B2B4E"/>
          </a:solidFill>
          <a:ln>
            <a:noFill/>
          </a:ln>
          <a:effectLst>
            <a:outerShdw blurRad="50800" dist="38100" dir="2700000" rotWithShape="0">
              <a:srgbClr val="000000">
                <a:alpha val="30000"/>
              </a:srgbClr>
            </a:outerShdw>
          </a:effectLst>
        </p:spPr>
        <p:txBody>
          <a:bodyPr wrap="none" lIns="0" tIns="0" rIns="0" bIns="0" anchor="ctr"/>
          <a:lstStyle/>
          <a:p>
            <a:pPr algn="ctr"/>
            <a:r>
              <a:rPr lang="en-US" sz="1800" b="1" i="0">
                <a:solidFill>
                  <a:srgbClr val="FFFFFF"/>
                </a:solidFill>
                <a:latin typeface="Calibri"/>
              </a:rPr>
              <a:t>Group 5</a:t>
            </a:r>
          </a:p>
        </p:txBody>
      </p:sp>
      <p:sp>
        <p:nvSpPr>
          <p:cNvPr id="243" name="BriefCard"/>
          <p:cNvSpPr/>
          <p:nvPr/>
        </p:nvSpPr>
        <p:spPr>
          <a:xfrm>
            <a:off x="5394960" y="1572768"/>
            <a:ext cx="6537960" cy="173736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Your brief</a:t>
            </a:r>
          </a:p>
          <a:p>
            <a:pPr marL="342900" indent="-274320" algn="l">
              <a:spcBef>
                <a:spcPts val="700"/>
              </a:spcBef>
              <a:buClr>
                <a:srgbClr val="0B2B4E"/>
              </a:buClr>
              <a:buFont typeface="Calibri"/>
              <a:buChar char="▪"/>
            </a:pPr>
            <a:r>
              <a:rPr lang="en-US" sz="2000" b="0" i="0">
                <a:solidFill>
                  <a:srgbClr val="0B2B4E"/>
                </a:solidFill>
                <a:latin typeface="Calibri"/>
              </a:rPr>
              <a:t>Introduce the company</a:t>
            </a:r>
          </a:p>
          <a:p>
            <a:pPr marL="342900" indent="-274320" algn="l">
              <a:spcBef>
                <a:spcPts val="400"/>
              </a:spcBef>
              <a:buClr>
                <a:srgbClr val="0B2B4E"/>
              </a:buClr>
              <a:buFont typeface="Calibri"/>
              <a:buChar char="▪"/>
            </a:pPr>
            <a:r>
              <a:rPr lang="en-US" sz="2000" b="0" i="0">
                <a:solidFill>
                  <a:srgbClr val="0B2B4E"/>
                </a:solidFill>
                <a:latin typeface="Calibri"/>
              </a:rPr>
              <a:t>Then argue why (not) to invest in it</a:t>
            </a:r>
          </a:p>
        </p:txBody>
      </p:sp>
      <p:sp>
        <p:nvSpPr>
          <p:cNvPr id="244" name="VisitCard"/>
          <p:cNvSpPr/>
          <p:nvPr/>
        </p:nvSpPr>
        <p:spPr>
          <a:xfrm>
            <a:off x="5394960" y="3529584"/>
            <a:ext cx="6537960" cy="214884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We visit them on the trip</a:t>
            </a:r>
          </a:p>
          <a:p>
            <a:pPr algn="l">
              <a:spcBef>
                <a:spcPts val="700"/>
              </a:spcBef>
            </a:pPr>
            <a:r>
              <a:rPr lang="en-US" sz="2000" b="1" i="0">
                <a:solidFill>
                  <a:srgbClr val="E09F3E"/>
                </a:solidFill>
                <a:latin typeface="Calibri"/>
              </a:rPr>
              <a:t>Tuesday 8 Sep  ·  15.00 – 16.30</a:t>
            </a:r>
          </a:p>
          <a:p>
            <a:pPr algn="l">
              <a:lnSpc>
                <a:spcPct val="95000"/>
              </a:lnSpc>
              <a:spcBef>
                <a:spcPts val="600"/>
              </a:spcBef>
            </a:pPr>
            <a:r>
              <a:rPr lang="en-US" sz="1800" b="0" i="1">
                <a:solidFill>
                  <a:srgbClr val="0B2B4E"/>
                </a:solidFill>
                <a:latin typeface="Calibri"/>
              </a:rPr>
              <a:t>Visit to the company’s headquarters for a session with a senior leader to explore how a global luxury brand approaches global strategy.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3"/>
                                        </p:tgtEl>
                                        <p:attrNameLst>
                                          <p:attrName>style.visibility</p:attrName>
                                        </p:attrNameLst>
                                      </p:cBhvr>
                                      <p:to>
                                        <p:strVal val="visible"/>
                                      </p:to>
                                    </p:set>
                                    <p:animEffect transition="in" filter="fade">
                                      <p:cBhvr>
                                        <p:cTn id="7" dur="500"/>
                                        <p:tgtEl>
                                          <p:spTgt spid="24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44"/>
                                        </p:tgtEl>
                                        <p:attrNameLst>
                                          <p:attrName>style.visibility</p:attrName>
                                        </p:attrNameLst>
                                      </p:cBhvr>
                                      <p:to>
                                        <p:strVal val="visible"/>
                                      </p:to>
                                    </p:set>
                                    <p:animEffect transition="in" filter="fade">
                                      <p:cBhvr>
                                        <p:cTn id="12" dur="500"/>
                                        <p:tgtEl>
                                          <p:spTgt spid="2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5"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6"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Company Presentations</a:t>
            </a:r>
          </a:p>
        </p:txBody>
      </p:sp>
      <p:sp>
        <p:nvSpPr>
          <p:cNvPr id="247"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Inter Milan FC – A Football Club as a Global Business</a:t>
            </a:r>
          </a:p>
        </p:txBody>
      </p:sp>
      <p:sp>
        <p:nvSpPr>
          <p:cNvPr id="248"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0"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1"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253"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11}" type="slidenum">
              <a:rPr lang="en-US" sz="1200">
                <a:solidFill>
                  <a:srgbClr val="555B66"/>
                </a:solidFill>
                <a:latin typeface="Calibri"/>
              </a:rPr>
              <a:t>11</a:t>
            </a:fld>
            <a:endParaRPr lang="en-US" sz="1200">
              <a:solidFill>
                <a:srgbClr val="555B66"/>
              </a:solidFill>
              <a:latin typeface="Calibri"/>
            </a:endParaRPr>
          </a:p>
        </p:txBody>
      </p:sp>
      <p:pic>
        <p:nvPicPr>
          <p:cNvPr id="254" name="Picture 253" descr="_logo_inter.png"/>
          <p:cNvPicPr>
            <a:picLocks noChangeAspect="1"/>
          </p:cNvPicPr>
          <p:nvPr/>
        </p:nvPicPr>
        <p:blipFill>
          <a:blip r:embed="rId2"/>
          <a:stretch>
            <a:fillRect/>
          </a:stretch>
        </p:blipFill>
        <p:spPr>
          <a:xfrm>
            <a:off x="1746504" y="1563624"/>
            <a:ext cx="2084832" cy="2084832"/>
          </a:xfrm>
          <a:prstGeom prst="rect">
            <a:avLst/>
          </a:prstGeom>
        </p:spPr>
      </p:pic>
      <p:sp>
        <p:nvSpPr>
          <p:cNvPr id="254" name="Sector"/>
          <p:cNvSpPr txBox="1"/>
          <p:nvPr/>
        </p:nvSpPr>
        <p:spPr>
          <a:xfrm>
            <a:off x="685800" y="3822192"/>
            <a:ext cx="4206240" cy="365760"/>
          </a:xfrm>
          <a:prstGeom prst="rect">
            <a:avLst/>
          </a:prstGeom>
          <a:noFill/>
        </p:spPr>
        <p:txBody>
          <a:bodyPr wrap="square" lIns="0" tIns="0" rIns="0" bIns="0">
            <a:spAutoFit/>
          </a:bodyPr>
          <a:lstStyle/>
          <a:p>
            <a:pPr algn="ctr"/>
            <a:r>
              <a:rPr lang="en-US" sz="2000" b="1" i="0">
                <a:solidFill>
                  <a:srgbClr val="0B2B4E"/>
                </a:solidFill>
                <a:latin typeface="Calibri"/>
              </a:rPr>
              <a:t>Iconic Sports Team</a:t>
            </a:r>
          </a:p>
        </p:txBody>
      </p:sp>
      <p:sp>
        <p:nvSpPr>
          <p:cNvPr id="255" name="GroupPill"/>
          <p:cNvSpPr/>
          <p:nvPr/>
        </p:nvSpPr>
        <p:spPr>
          <a:xfrm>
            <a:off x="1828800" y="4389120"/>
            <a:ext cx="1920240" cy="475488"/>
          </a:xfrm>
          <a:prstGeom prst="roundRect">
            <a:avLst>
              <a:gd name="adj" fmla="val 30000"/>
            </a:avLst>
          </a:prstGeom>
          <a:solidFill>
            <a:srgbClr val="0B2B4E"/>
          </a:solidFill>
          <a:ln>
            <a:noFill/>
          </a:ln>
          <a:effectLst>
            <a:outerShdw blurRad="50800" dist="38100" dir="2700000" rotWithShape="0">
              <a:srgbClr val="000000">
                <a:alpha val="30000"/>
              </a:srgbClr>
            </a:outerShdw>
          </a:effectLst>
        </p:spPr>
        <p:txBody>
          <a:bodyPr wrap="none" lIns="0" tIns="0" rIns="0" bIns="0" anchor="ctr"/>
          <a:lstStyle/>
          <a:p>
            <a:pPr algn="ctr"/>
            <a:r>
              <a:rPr lang="en-US" sz="1800" b="1" i="0">
                <a:solidFill>
                  <a:srgbClr val="FFFFFF"/>
                </a:solidFill>
                <a:latin typeface="Calibri"/>
              </a:rPr>
              <a:t>Group 6</a:t>
            </a:r>
          </a:p>
        </p:txBody>
      </p:sp>
      <p:sp>
        <p:nvSpPr>
          <p:cNvPr id="256" name="BriefCard"/>
          <p:cNvSpPr/>
          <p:nvPr/>
        </p:nvSpPr>
        <p:spPr>
          <a:xfrm>
            <a:off x="5394960" y="1572768"/>
            <a:ext cx="6537960" cy="173736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Your brief</a:t>
            </a:r>
          </a:p>
          <a:p>
            <a:pPr marL="342900" indent="-274320" algn="l">
              <a:spcBef>
                <a:spcPts val="700"/>
              </a:spcBef>
              <a:buClr>
                <a:srgbClr val="0B2B4E"/>
              </a:buClr>
              <a:buFont typeface="Calibri"/>
              <a:buChar char="▪"/>
            </a:pPr>
            <a:r>
              <a:rPr lang="en-US" sz="2000" b="0" i="0">
                <a:solidFill>
                  <a:srgbClr val="0B2B4E"/>
                </a:solidFill>
                <a:latin typeface="Calibri"/>
              </a:rPr>
              <a:t>Introduce the company</a:t>
            </a:r>
          </a:p>
          <a:p>
            <a:pPr marL="342900" indent="-274320" algn="l">
              <a:spcBef>
                <a:spcPts val="400"/>
              </a:spcBef>
              <a:buClr>
                <a:srgbClr val="0B2B4E"/>
              </a:buClr>
              <a:buFont typeface="Calibri"/>
              <a:buChar char="▪"/>
            </a:pPr>
            <a:r>
              <a:rPr lang="en-US" sz="2000" b="0" i="0">
                <a:solidFill>
                  <a:srgbClr val="0B2B4E"/>
                </a:solidFill>
                <a:latin typeface="Calibri"/>
              </a:rPr>
              <a:t>Then argue why (not) to invest in it</a:t>
            </a:r>
          </a:p>
        </p:txBody>
      </p:sp>
      <p:sp>
        <p:nvSpPr>
          <p:cNvPr id="257" name="VisitCard"/>
          <p:cNvSpPr/>
          <p:nvPr/>
        </p:nvSpPr>
        <p:spPr>
          <a:xfrm>
            <a:off x="5394960" y="3529584"/>
            <a:ext cx="6537960" cy="214884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We visit them on the trip</a:t>
            </a:r>
          </a:p>
          <a:p>
            <a:pPr algn="l">
              <a:spcBef>
                <a:spcPts val="700"/>
              </a:spcBef>
            </a:pPr>
            <a:r>
              <a:rPr lang="en-US" sz="2000" b="1" i="0">
                <a:solidFill>
                  <a:srgbClr val="E09F3E"/>
                </a:solidFill>
                <a:latin typeface="Calibri"/>
              </a:rPr>
              <a:t>Wednesday 9 Sep  ·  15.00 – 16.30</a:t>
            </a:r>
          </a:p>
          <a:p>
            <a:pPr algn="l">
              <a:lnSpc>
                <a:spcPct val="95000"/>
              </a:lnSpc>
              <a:spcBef>
                <a:spcPts val="600"/>
              </a:spcBef>
            </a:pPr>
            <a:r>
              <a:rPr lang="en-US" sz="1800" b="0" i="1">
                <a:solidFill>
                  <a:srgbClr val="0B2B4E"/>
                </a:solidFill>
                <a:latin typeface="Calibri"/>
              </a:rPr>
              <a:t>Explore how Inter operates as a global sports organization and how its brand and commercial strategy drives success on and off the pitch.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6"/>
                                        </p:tgtEl>
                                        <p:attrNameLst>
                                          <p:attrName>style.visibility</p:attrName>
                                        </p:attrNameLst>
                                      </p:cBhvr>
                                      <p:to>
                                        <p:strVal val="visible"/>
                                      </p:to>
                                    </p:set>
                                    <p:animEffect transition="in" filter="fade">
                                      <p:cBhvr>
                                        <p:cTn id="7" dur="500"/>
                                        <p:tgtEl>
                                          <p:spTgt spid="2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57"/>
                                        </p:tgtEl>
                                        <p:attrNameLst>
                                          <p:attrName>style.visibility</p:attrName>
                                        </p:attrNameLst>
                                      </p:cBhvr>
                                      <p:to>
                                        <p:strVal val="visible"/>
                                      </p:to>
                                    </p:set>
                                    <p:animEffect transition="in" filter="fade">
                                      <p:cBhvr>
                                        <p:cTn id="12"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8"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Company Presentations</a:t>
            </a:r>
          </a:p>
        </p:txBody>
      </p:sp>
      <p:sp>
        <p:nvSpPr>
          <p:cNvPr id="260"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Pirelli – R&amp;D and Innovation Behind the Tire</a:t>
            </a:r>
          </a:p>
        </p:txBody>
      </p:sp>
      <p:sp>
        <p:nvSpPr>
          <p:cNvPr id="261"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2"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266"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12}" type="slidenum">
              <a:rPr lang="en-US" sz="1200">
                <a:solidFill>
                  <a:srgbClr val="555B66"/>
                </a:solidFill>
                <a:latin typeface="Calibri"/>
              </a:rPr>
              <a:t>12</a:t>
            </a:fld>
            <a:endParaRPr lang="en-US" sz="1200">
              <a:solidFill>
                <a:srgbClr val="555B66"/>
              </a:solidFill>
              <a:latin typeface="Calibri"/>
            </a:endParaRPr>
          </a:p>
        </p:txBody>
      </p:sp>
      <p:pic>
        <p:nvPicPr>
          <p:cNvPr id="267" name="Picture 266" descr="_logo_pirelli.png"/>
          <p:cNvPicPr>
            <a:picLocks noChangeAspect="1"/>
          </p:cNvPicPr>
          <p:nvPr/>
        </p:nvPicPr>
        <p:blipFill>
          <a:blip r:embed="rId2"/>
          <a:stretch>
            <a:fillRect/>
          </a:stretch>
        </p:blipFill>
        <p:spPr>
          <a:xfrm>
            <a:off x="690536" y="2057400"/>
            <a:ext cx="4196768" cy="1097280"/>
          </a:xfrm>
          <a:prstGeom prst="rect">
            <a:avLst/>
          </a:prstGeom>
        </p:spPr>
      </p:pic>
      <p:sp>
        <p:nvSpPr>
          <p:cNvPr id="267" name="Sector"/>
          <p:cNvSpPr txBox="1"/>
          <p:nvPr/>
        </p:nvSpPr>
        <p:spPr>
          <a:xfrm>
            <a:off x="685800" y="3822192"/>
            <a:ext cx="4206240" cy="365760"/>
          </a:xfrm>
          <a:prstGeom prst="rect">
            <a:avLst/>
          </a:prstGeom>
          <a:noFill/>
        </p:spPr>
        <p:txBody>
          <a:bodyPr wrap="square" lIns="0" tIns="0" rIns="0" bIns="0">
            <a:spAutoFit/>
          </a:bodyPr>
          <a:lstStyle/>
          <a:p>
            <a:pPr algn="ctr"/>
            <a:r>
              <a:rPr lang="en-US" sz="2000" b="1" i="0">
                <a:solidFill>
                  <a:srgbClr val="0B2B4E"/>
                </a:solidFill>
                <a:latin typeface="Calibri"/>
              </a:rPr>
              <a:t>Vehicle Manufacturing</a:t>
            </a:r>
          </a:p>
        </p:txBody>
      </p:sp>
      <p:sp>
        <p:nvSpPr>
          <p:cNvPr id="268" name="GroupPill"/>
          <p:cNvSpPr/>
          <p:nvPr/>
        </p:nvSpPr>
        <p:spPr>
          <a:xfrm>
            <a:off x="1828800" y="4389120"/>
            <a:ext cx="1920240" cy="475488"/>
          </a:xfrm>
          <a:prstGeom prst="roundRect">
            <a:avLst>
              <a:gd name="adj" fmla="val 30000"/>
            </a:avLst>
          </a:prstGeom>
          <a:solidFill>
            <a:srgbClr val="0B2B4E"/>
          </a:solidFill>
          <a:ln>
            <a:noFill/>
          </a:ln>
          <a:effectLst>
            <a:outerShdw blurRad="50800" dist="38100" dir="2700000" rotWithShape="0">
              <a:srgbClr val="000000">
                <a:alpha val="30000"/>
              </a:srgbClr>
            </a:outerShdw>
          </a:effectLst>
        </p:spPr>
        <p:txBody>
          <a:bodyPr wrap="none" lIns="0" tIns="0" rIns="0" bIns="0" anchor="ctr"/>
          <a:lstStyle/>
          <a:p>
            <a:pPr algn="ctr"/>
            <a:r>
              <a:rPr lang="en-US" sz="1800" b="1" i="0">
                <a:solidFill>
                  <a:srgbClr val="FFFFFF"/>
                </a:solidFill>
                <a:latin typeface="Calibri"/>
              </a:rPr>
              <a:t>Group 8</a:t>
            </a:r>
          </a:p>
        </p:txBody>
      </p:sp>
      <p:sp>
        <p:nvSpPr>
          <p:cNvPr id="269" name="BriefCard"/>
          <p:cNvSpPr/>
          <p:nvPr/>
        </p:nvSpPr>
        <p:spPr>
          <a:xfrm>
            <a:off x="5394960" y="1572768"/>
            <a:ext cx="6537960" cy="173736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Your brief</a:t>
            </a:r>
          </a:p>
          <a:p>
            <a:pPr marL="342900" indent="-274320" algn="l">
              <a:spcBef>
                <a:spcPts val="700"/>
              </a:spcBef>
              <a:buClr>
                <a:srgbClr val="0B2B4E"/>
              </a:buClr>
              <a:buFont typeface="Calibri"/>
              <a:buChar char="▪"/>
            </a:pPr>
            <a:r>
              <a:rPr lang="en-US" sz="2000" b="0" i="0">
                <a:solidFill>
                  <a:srgbClr val="0B2B4E"/>
                </a:solidFill>
                <a:latin typeface="Calibri"/>
              </a:rPr>
              <a:t>Introduce the company</a:t>
            </a:r>
          </a:p>
          <a:p>
            <a:pPr marL="342900" indent="-274320" algn="l">
              <a:spcBef>
                <a:spcPts val="400"/>
              </a:spcBef>
              <a:buClr>
                <a:srgbClr val="0B2B4E"/>
              </a:buClr>
              <a:buFont typeface="Calibri"/>
              <a:buChar char="▪"/>
            </a:pPr>
            <a:r>
              <a:rPr lang="en-US" sz="2000" b="0" i="0">
                <a:solidFill>
                  <a:srgbClr val="0B2B4E"/>
                </a:solidFill>
                <a:latin typeface="Calibri"/>
              </a:rPr>
              <a:t>Then argue why (not) to invest in it</a:t>
            </a:r>
          </a:p>
        </p:txBody>
      </p:sp>
      <p:sp>
        <p:nvSpPr>
          <p:cNvPr id="270" name="VisitCard"/>
          <p:cNvSpPr/>
          <p:nvPr/>
        </p:nvSpPr>
        <p:spPr>
          <a:xfrm>
            <a:off x="5394960" y="3529584"/>
            <a:ext cx="6537960" cy="214884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We visit them on the trip</a:t>
            </a:r>
          </a:p>
          <a:p>
            <a:pPr algn="l">
              <a:spcBef>
                <a:spcPts val="700"/>
              </a:spcBef>
            </a:pPr>
            <a:r>
              <a:rPr lang="en-US" sz="2000" b="1" i="0">
                <a:solidFill>
                  <a:srgbClr val="E09F3E"/>
                </a:solidFill>
                <a:latin typeface="Calibri"/>
              </a:rPr>
              <a:t>Tuesday 8 Sep  ·  09.00 – 10.45</a:t>
            </a:r>
          </a:p>
          <a:p>
            <a:pPr algn="l">
              <a:lnSpc>
                <a:spcPct val="95000"/>
              </a:lnSpc>
              <a:spcBef>
                <a:spcPts val="600"/>
              </a:spcBef>
            </a:pPr>
            <a:r>
              <a:rPr lang="en-US" sz="1800" b="0" i="1">
                <a:solidFill>
                  <a:srgbClr val="0B2B4E"/>
                </a:solidFill>
                <a:latin typeface="Calibri"/>
              </a:rPr>
              <a:t>A session with the CTO of a global leader in tire manufacturing, exploring how R&amp;D and innovation drive commercial strategy across motorsport and luxury markets.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69"/>
                                        </p:tgtEl>
                                        <p:attrNameLst>
                                          <p:attrName>style.visibility</p:attrName>
                                        </p:attrNameLst>
                                      </p:cBhvr>
                                      <p:to>
                                        <p:strVal val="visible"/>
                                      </p:to>
                                    </p:set>
                                    <p:animEffect transition="in" filter="fade">
                                      <p:cBhvr>
                                        <p:cTn id="7" dur="500"/>
                                        <p:tgtEl>
                                          <p:spTgt spid="26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0"/>
                                        </p:tgtEl>
                                        <p:attrNameLst>
                                          <p:attrName>style.visibility</p:attrName>
                                        </p:attrNameLst>
                                      </p:cBhvr>
                                      <p:to>
                                        <p:strVal val="visible"/>
                                      </p:to>
                                    </p:set>
                                    <p:animEffect transition="in" filter="fade">
                                      <p:cBhvr>
                                        <p:cTn id="12" dur="500"/>
                                        <p:tgtEl>
                                          <p:spTgt spid="2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71"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2"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Company Presentations</a:t>
            </a:r>
          </a:p>
        </p:txBody>
      </p:sp>
      <p:sp>
        <p:nvSpPr>
          <p:cNvPr id="273"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EssilorLuxottica – Premium Eyewear at Global Scale</a:t>
            </a:r>
          </a:p>
        </p:txBody>
      </p:sp>
      <p:sp>
        <p:nvSpPr>
          <p:cNvPr id="274"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5"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6"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7"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8"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279"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13}" type="slidenum">
              <a:rPr lang="en-US" sz="1200">
                <a:solidFill>
                  <a:srgbClr val="555B66"/>
                </a:solidFill>
                <a:latin typeface="Calibri"/>
              </a:rPr>
              <a:t>13</a:t>
            </a:fld>
            <a:endParaRPr lang="en-US" sz="1200">
              <a:solidFill>
                <a:srgbClr val="555B66"/>
              </a:solidFill>
              <a:latin typeface="Calibri"/>
            </a:endParaRPr>
          </a:p>
        </p:txBody>
      </p:sp>
      <p:pic>
        <p:nvPicPr>
          <p:cNvPr id="280" name="Picture 279" descr="_logo_essilor.png"/>
          <p:cNvPicPr>
            <a:picLocks noChangeAspect="1"/>
          </p:cNvPicPr>
          <p:nvPr/>
        </p:nvPicPr>
        <p:blipFill>
          <a:blip r:embed="rId2"/>
          <a:stretch>
            <a:fillRect/>
          </a:stretch>
        </p:blipFill>
        <p:spPr>
          <a:xfrm>
            <a:off x="685800" y="2373821"/>
            <a:ext cx="4206240" cy="464439"/>
          </a:xfrm>
          <a:prstGeom prst="rect">
            <a:avLst/>
          </a:prstGeom>
        </p:spPr>
      </p:pic>
      <p:sp>
        <p:nvSpPr>
          <p:cNvPr id="280" name="Sector"/>
          <p:cNvSpPr txBox="1"/>
          <p:nvPr/>
        </p:nvSpPr>
        <p:spPr>
          <a:xfrm>
            <a:off x="685800" y="3822192"/>
            <a:ext cx="4206240" cy="365760"/>
          </a:xfrm>
          <a:prstGeom prst="rect">
            <a:avLst/>
          </a:prstGeom>
          <a:noFill/>
        </p:spPr>
        <p:txBody>
          <a:bodyPr wrap="square" lIns="0" tIns="0" rIns="0" bIns="0">
            <a:spAutoFit/>
          </a:bodyPr>
          <a:lstStyle/>
          <a:p>
            <a:pPr algn="ctr"/>
            <a:r>
              <a:rPr lang="en-US" sz="2000" b="1" i="0">
                <a:solidFill>
                  <a:srgbClr val="0B2B4E"/>
                </a:solidFill>
                <a:latin typeface="Calibri"/>
              </a:rPr>
              <a:t>Eyewear Manufacturer</a:t>
            </a:r>
          </a:p>
        </p:txBody>
      </p:sp>
      <p:sp>
        <p:nvSpPr>
          <p:cNvPr id="281" name="GroupPill"/>
          <p:cNvSpPr/>
          <p:nvPr/>
        </p:nvSpPr>
        <p:spPr>
          <a:xfrm>
            <a:off x="1828800" y="4389120"/>
            <a:ext cx="1920240" cy="475488"/>
          </a:xfrm>
          <a:prstGeom prst="roundRect">
            <a:avLst>
              <a:gd name="adj" fmla="val 30000"/>
            </a:avLst>
          </a:prstGeom>
          <a:solidFill>
            <a:srgbClr val="0B2B4E"/>
          </a:solidFill>
          <a:ln>
            <a:noFill/>
          </a:ln>
          <a:effectLst>
            <a:outerShdw blurRad="50800" dist="38100" dir="2700000" rotWithShape="0">
              <a:srgbClr val="000000">
                <a:alpha val="30000"/>
              </a:srgbClr>
            </a:outerShdw>
          </a:effectLst>
        </p:spPr>
        <p:txBody>
          <a:bodyPr wrap="none" lIns="0" tIns="0" rIns="0" bIns="0" anchor="ctr"/>
          <a:lstStyle/>
          <a:p>
            <a:pPr algn="ctr"/>
            <a:r>
              <a:rPr lang="en-US" sz="1800" b="1" i="0">
                <a:solidFill>
                  <a:srgbClr val="FFFFFF"/>
                </a:solidFill>
                <a:latin typeface="Calibri"/>
              </a:rPr>
              <a:t>Group 9</a:t>
            </a:r>
          </a:p>
        </p:txBody>
      </p:sp>
      <p:sp>
        <p:nvSpPr>
          <p:cNvPr id="282" name="BriefCard"/>
          <p:cNvSpPr/>
          <p:nvPr/>
        </p:nvSpPr>
        <p:spPr>
          <a:xfrm>
            <a:off x="5394960" y="1572768"/>
            <a:ext cx="6537960" cy="173736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Your brief</a:t>
            </a:r>
          </a:p>
          <a:p>
            <a:pPr marL="342900" indent="-274320" algn="l">
              <a:spcBef>
                <a:spcPts val="700"/>
              </a:spcBef>
              <a:buClr>
                <a:srgbClr val="0B2B4E"/>
              </a:buClr>
              <a:buFont typeface="Calibri"/>
              <a:buChar char="▪"/>
            </a:pPr>
            <a:r>
              <a:rPr lang="en-US" sz="2000" b="0" i="0">
                <a:solidFill>
                  <a:srgbClr val="0B2B4E"/>
                </a:solidFill>
                <a:latin typeface="Calibri"/>
              </a:rPr>
              <a:t>Introduce the company</a:t>
            </a:r>
          </a:p>
          <a:p>
            <a:pPr marL="342900" indent="-274320" algn="l">
              <a:spcBef>
                <a:spcPts val="400"/>
              </a:spcBef>
              <a:buClr>
                <a:srgbClr val="0B2B4E"/>
              </a:buClr>
              <a:buFont typeface="Calibri"/>
              <a:buChar char="▪"/>
            </a:pPr>
            <a:r>
              <a:rPr lang="en-US" sz="2000" b="0" i="0">
                <a:solidFill>
                  <a:srgbClr val="0B2B4E"/>
                </a:solidFill>
                <a:latin typeface="Calibri"/>
              </a:rPr>
              <a:t>Then argue why (not) to invest in it</a:t>
            </a:r>
          </a:p>
        </p:txBody>
      </p:sp>
      <p:sp>
        <p:nvSpPr>
          <p:cNvPr id="283" name="VisitCard"/>
          <p:cNvSpPr/>
          <p:nvPr/>
        </p:nvSpPr>
        <p:spPr>
          <a:xfrm>
            <a:off x="5394960" y="3529584"/>
            <a:ext cx="6537960" cy="2148840"/>
          </a:xfrm>
          <a:prstGeom prst="roundRect">
            <a:avLst>
              <a:gd name="adj" fmla="val 8000"/>
            </a:avLst>
          </a:prstGeom>
          <a:solidFill>
            <a:srgbClr val="FDF6E6"/>
          </a:solidFill>
          <a:ln w="12700">
            <a:solidFill>
              <a:srgbClr val="0B2B4E"/>
            </a:solidFill>
          </a:ln>
          <a:effectLst>
            <a:outerShdw blurRad="50800" dist="38100" dir="2700000" rotWithShape="0">
              <a:srgbClr val="000000">
                <a:alpha val="30000"/>
              </a:srgbClr>
            </a:outerShdw>
          </a:effectLst>
        </p:spPr>
        <p:txBody>
          <a:bodyPr wrap="square" lIns="237744" tIns="0" rIns="237744" bIns="0" anchor="t"/>
          <a:lstStyle/>
          <a:p>
            <a:pPr algn="l">
              <a:spcBef>
                <a:spcPts val="1400"/>
              </a:spcBef>
            </a:pPr>
            <a:r>
              <a:rPr lang="en-US" sz="2000" b="1" i="0">
                <a:solidFill>
                  <a:srgbClr val="0B2B4E"/>
                </a:solidFill>
                <a:latin typeface="Calibri"/>
              </a:rPr>
              <a:t>We visit them on the trip</a:t>
            </a:r>
          </a:p>
          <a:p>
            <a:pPr algn="l">
              <a:spcBef>
                <a:spcPts val="700"/>
              </a:spcBef>
            </a:pPr>
            <a:r>
              <a:rPr lang="en-US" sz="2000" b="1" i="0">
                <a:solidFill>
                  <a:srgbClr val="E09F3E"/>
                </a:solidFill>
                <a:latin typeface="Calibri"/>
              </a:rPr>
              <a:t>Tuesday 8 Sep  ·  11.30 – 13.00</a:t>
            </a:r>
          </a:p>
          <a:p>
            <a:pPr algn="l">
              <a:lnSpc>
                <a:spcPct val="95000"/>
              </a:lnSpc>
              <a:spcBef>
                <a:spcPts val="600"/>
              </a:spcBef>
            </a:pPr>
            <a:r>
              <a:rPr lang="en-US" sz="1800" b="0" i="1">
                <a:solidFill>
                  <a:srgbClr val="0B2B4E"/>
                </a:solidFill>
                <a:latin typeface="Calibri"/>
              </a:rPr>
              <a:t>Hear from a global leader in premium eyewear design and manufacturing, to learn how the company partners with top fashion brands.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82"/>
                                        </p:tgtEl>
                                        <p:attrNameLst>
                                          <p:attrName>style.visibility</p:attrName>
                                        </p:attrNameLst>
                                      </p:cBhvr>
                                      <p:to>
                                        <p:strVal val="visible"/>
                                      </p:to>
                                    </p:set>
                                    <p:animEffect transition="in" filter="fade">
                                      <p:cBhvr>
                                        <p:cTn id="7" dur="500"/>
                                        <p:tgtEl>
                                          <p:spTgt spid="28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83"/>
                                        </p:tgtEl>
                                        <p:attrNameLst>
                                          <p:attrName>style.visibility</p:attrName>
                                        </p:attrNameLst>
                                      </p:cBhvr>
                                      <p:to>
                                        <p:strVal val="visible"/>
                                      </p:to>
                                    </p:set>
                                    <p:animEffect transition="in" filter="fade">
                                      <p:cBhvr>
                                        <p:cTn id="12" dur="500"/>
                                        <p:tgtEl>
                                          <p:spTgt spid="2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4" name="TextBox 1"/>
          <p:cNvSpPr txBox="1"/>
          <p:nvPr/>
        </p:nvSpPr>
        <p:spPr>
          <a:xfrm>
            <a:off x="251999" y="2743200"/>
            <a:ext cx="11687697" cy="1188720"/>
          </a:xfrm>
          <a:prstGeom prst="rect">
            <a:avLst/>
          </a:prstGeom>
          <a:noFill/>
        </p:spPr>
        <p:txBody>
          <a:bodyPr wrap="square" lIns="0" tIns="0" rIns="0" bIns="0">
            <a:spAutoFit/>
          </a:bodyPr>
          <a:lstStyle/>
          <a:p>
            <a:pPr algn="ctr"/>
            <a:r>
              <a:rPr lang="en-US" sz="6000" b="1" i="0">
                <a:solidFill>
                  <a:srgbClr val="0B2B4E"/>
                </a:solidFill>
                <a:latin typeface="Calibri"/>
              </a:rPr>
              <a:t>Thank You!</a:t>
            </a:r>
          </a:p>
        </p:txBody>
      </p:sp>
      <p:sp>
        <p:nvSpPr>
          <p:cNvPr id="285" name="Rectangle 2"/>
          <p:cNvSpPr/>
          <p:nvPr/>
        </p:nvSpPr>
        <p:spPr>
          <a:xfrm>
            <a:off x="4722876" y="3931920"/>
            <a:ext cx="27432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7"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8"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9"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Backup Slides</a:t>
            </a:r>
          </a:p>
        </p:txBody>
      </p:sp>
      <p:sp>
        <p:nvSpPr>
          <p:cNvPr id="290" name="TextBox 3"/>
          <p:cNvSpPr txBox="1"/>
          <p:nvPr/>
        </p:nvSpPr>
        <p:spPr>
          <a:xfrm>
            <a:off x="251999" y="2743200"/>
            <a:ext cx="11687697" cy="914400"/>
          </a:xfrm>
          <a:prstGeom prst="rect">
            <a:avLst/>
          </a:prstGeom>
          <a:noFill/>
        </p:spPr>
        <p:txBody>
          <a:bodyPr wrap="square" lIns="0" tIns="0" rIns="0" bIns="0">
            <a:spAutoFit/>
          </a:bodyPr>
          <a:lstStyle/>
          <a:p>
            <a:pPr algn="ctr"/>
            <a:r>
              <a:rPr lang="en-US" sz="4400" b="1" i="0">
                <a:solidFill>
                  <a:srgbClr val="0B2B4E"/>
                </a:solidFill>
                <a:latin typeface="Calibri"/>
              </a:rPr>
              <a:t>Backup Slides</a:t>
            </a:r>
          </a:p>
        </p:txBody>
      </p:sp>
      <p:sp>
        <p:nvSpPr>
          <p:cNvPr id="291" name="Rectangle 4"/>
          <p:cNvSpPr/>
          <p:nvPr/>
        </p:nvSpPr>
        <p:spPr>
          <a:xfrm>
            <a:off x="4722876" y="3840480"/>
            <a:ext cx="274320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2"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3"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4"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295"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15}" type="slidenum">
              <a:rPr lang="en-US" sz="1200">
                <a:solidFill>
                  <a:srgbClr val="555B66"/>
                </a:solidFill>
                <a:latin typeface="Calibri"/>
              </a:rPr>
              <a:t>15</a:t>
            </a:fld>
            <a:endParaRPr lang="en-US" sz="1200">
              <a:solidFill>
                <a:srgbClr val="555B66"/>
              </a:solidFill>
              <a:latin typeface="Calibri"/>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6"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7" name="TextBox 2"/>
          <p:cNvSpPr txBox="1"/>
          <p:nvPr/>
        </p:nvSpPr>
        <p:spPr>
          <a:xfrm>
            <a:off x="251999" y="0"/>
            <a:ext cx="10972800" cy="384048"/>
          </a:xfrm>
          <a:prstGeom prst="rect">
            <a:avLst/>
          </a:prstGeom>
          <a:noFill/>
        </p:spPr>
        <p:txBody>
          <a:bodyPr wrap="square" lIns="0" tIns="0" rIns="0" bIns="0" anchor="ctr">
            <a:spAutoFit/>
          </a:bodyPr>
          <a:lstStyle/>
          <a:p>
            <a:pPr algn="l"/>
            <a:r>
              <a:rPr lang="en-US" sz="1600" b="1" i="0">
                <a:solidFill>
                  <a:srgbClr val="FFFFFF"/>
                </a:solidFill>
                <a:latin typeface="Calibri"/>
              </a:rPr>
              <a:t>Italy IBR  ·  Backup</a:t>
            </a:r>
          </a:p>
        </p:txBody>
      </p:sp>
      <p:sp>
        <p:nvSpPr>
          <p:cNvPr id="298" name="TextBox 3"/>
          <p:cNvSpPr txBox="1"/>
          <p:nvPr/>
        </p:nvSpPr>
        <p:spPr>
          <a:xfrm>
            <a:off x="251999" y="566928"/>
            <a:ext cx="11687697" cy="640080"/>
          </a:xfrm>
          <a:prstGeom prst="rect">
            <a:avLst/>
          </a:prstGeom>
          <a:noFill/>
        </p:spPr>
        <p:txBody>
          <a:bodyPr wrap="square" lIns="0" tIns="0" rIns="0" bIns="0">
            <a:spAutoFit/>
          </a:bodyPr>
          <a:lstStyle/>
          <a:p>
            <a:pPr algn="l"/>
            <a:r>
              <a:rPr lang="en-US" sz="3000" b="1" i="0">
                <a:solidFill>
                  <a:srgbClr val="0B2B4E"/>
                </a:solidFill>
                <a:latin typeface="Calibri"/>
              </a:rPr>
              <a:t>Trip Schedule (Sep 6 – 12)</a:t>
            </a:r>
          </a:p>
        </p:txBody>
      </p:sp>
      <p:sp>
        <p:nvSpPr>
          <p:cNvPr id="299" name="Rectangle 4"/>
          <p:cNvSpPr/>
          <p:nvPr/>
        </p:nvSpPr>
        <p:spPr>
          <a:xfrm>
            <a:off x="251999" y="118872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0" name="Rectangle 5"/>
          <p:cNvSpPr/>
          <p:nvPr/>
        </p:nvSpPr>
        <p:spPr>
          <a:xfrm>
            <a:off x="251999" y="117500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1"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2"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3" name="TextBox 9"/>
          <p:cNvSpPr txBox="1"/>
          <p:nvPr/>
        </p:nvSpPr>
        <p:spPr>
          <a:xfrm>
            <a:off x="251999" y="6583680"/>
            <a:ext cx="10058400" cy="292608"/>
          </a:xfrm>
          <a:prstGeom prst="rect">
            <a:avLst/>
          </a:prstGeom>
          <a:noFill/>
        </p:spPr>
        <p:txBody>
          <a:bodyPr wrap="square" lIns="0" tIns="0" rIns="0" bIns="0">
            <a:spAutoFit/>
          </a:bodyPr>
          <a:lstStyle/>
          <a:p>
            <a:pPr algn="l"/>
            <a:r>
              <a:rPr lang="en-US" sz="1200" b="0" i="0">
                <a:solidFill>
                  <a:srgbClr val="555B66"/>
                </a:solidFill>
                <a:latin typeface="Calibri"/>
              </a:rPr>
              <a:t>International Business Residential – Italy</a:t>
            </a:r>
          </a:p>
        </p:txBody>
      </p:sp>
      <p:sp>
        <p:nvSpPr>
          <p:cNvPr id="304" name="TextBox 10"/>
          <p:cNvSpPr txBox="1"/>
          <p:nvPr/>
        </p:nvSpPr>
        <p:spPr>
          <a:xfrm>
            <a:off x="11430000" y="6583680"/>
            <a:ext cx="548640" cy="292608"/>
          </a:xfrm>
          <a:prstGeom prst="rect">
            <a:avLst/>
          </a:prstGeom>
          <a:noFill/>
        </p:spPr>
        <p:txBody>
          <a:bodyPr wrap="square" lIns="0" tIns="0" rIns="0" bIns="0">
            <a:spAutoFit/>
          </a:bodyPr>
          <a:lstStyle/>
          <a:p>
            <a:pPr algn="r"/>
            <a:fld id="{5B7A6A11-0000-4A00-9C00-000000000016}" type="slidenum">
              <a:rPr lang="en-US" sz="1200">
                <a:solidFill>
                  <a:srgbClr val="555B66"/>
                </a:solidFill>
                <a:latin typeface="Calibri"/>
              </a:rPr>
              <a:t>16</a:t>
            </a:fld>
            <a:endParaRPr lang="en-US" sz="1200">
              <a:solidFill>
                <a:srgbClr val="555B66"/>
              </a:solidFill>
              <a:latin typeface="Calibri"/>
            </a:endParaRPr>
          </a:p>
        </p:txBody>
      </p:sp>
      <p:pic>
        <p:nvPicPr>
          <p:cNvPr id="305" name="Picture 304" descr="itinerary_2026.png"/>
          <p:cNvPicPr>
            <a:picLocks noChangeAspect="1"/>
          </p:cNvPicPr>
          <p:nvPr/>
        </p:nvPicPr>
        <p:blipFill>
          <a:blip r:embed="rId2"/>
          <a:stretch>
            <a:fillRect/>
          </a:stretch>
        </p:blipFill>
        <p:spPr>
          <a:xfrm>
            <a:off x="2194635" y="1243584"/>
            <a:ext cx="7802730" cy="4956048"/>
          </a:xfrm>
          <a:prstGeom prst="rect">
            <a:avLst/>
          </a:prstGeom>
        </p:spPr>
      </p:pic>
      <p:sp>
        <p:nvSpPr>
          <p:cNvPr id="305" name="BackButton">
            <a:hlinkClick r:id="rId3" action="ppaction://hlinksldjump"/>
          </p:cNvPr>
          <p:cNvSpPr/>
          <p:nvPr/>
        </p:nvSpPr>
        <p:spPr>
          <a:xfrm>
            <a:off x="10716768" y="6035040"/>
            <a:ext cx="1417320" cy="420624"/>
          </a:xfrm>
          <a:prstGeom prst="roundRect">
            <a:avLst>
              <a:gd name="adj" fmla="val 30000"/>
            </a:avLst>
          </a:prstGeom>
          <a:solidFill>
            <a:srgbClr val="0B2B4E"/>
          </a:solidFill>
          <a:ln>
            <a:noFill/>
          </a:ln>
          <a:effectLst>
            <a:outerShdw blurRad="50800" dist="38100" dir="2700000" rotWithShape="0">
              <a:srgbClr val="000000">
                <a:alpha val="30000"/>
              </a:srgbClr>
            </a:outerShdw>
          </a:effectLst>
        </p:spPr>
        <p:txBody>
          <a:bodyPr wrap="square" lIns="45720" tIns="0" rIns="45720" bIns="0" anchor="ctr"/>
          <a:lstStyle/>
          <a:p>
            <a:pPr algn="ctr"/>
            <a:r>
              <a:rPr lang="en-US" sz="1400" b="1" i="0">
                <a:solidFill>
                  <a:srgbClr val="FFFFFF"/>
                </a:solidFill>
                <a:latin typeface="Calibri"/>
              </a:rPr>
              <a:t>← Back</a:t>
            </a:r>
          </a:p>
        </p:txBody>
      </p:sp>
      <p:sp>
        <p:nvSpPr>
          <p:cNvPr id="306" name="SchedSrc"/>
          <p:cNvSpPr txBox="1"/>
          <p:nvPr/>
        </p:nvSpPr>
        <p:spPr>
          <a:xfrm>
            <a:off x="2194635" y="6254496"/>
            <a:ext cx="7802730" cy="237744"/>
          </a:xfrm>
          <a:prstGeom prst="rect">
            <a:avLst/>
          </a:prstGeom>
          <a:noFill/>
        </p:spPr>
        <p:txBody>
          <a:bodyPr wrap="square" lIns="0" tIns="0" rIns="0" bIns="0">
            <a:spAutoFit/>
          </a:bodyPr>
          <a:lstStyle/>
          <a:p>
            <a:pPr algn="ctr"/>
            <a:r>
              <a:rPr lang="en-US" sz="1200" b="0" i="1">
                <a:solidFill>
                  <a:srgbClr val="555B66"/>
                </a:solidFill>
                <a:latin typeface="Calibri"/>
              </a:rPr>
              <a:t>Itinerary: Legacy Ventures, “UCLA Italy 2026”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6096000" y="0"/>
          <a:ext cx="0" cy="0"/>
          <a:chOff x="0" y="0"/>
          <a:chExt cx="0" cy="0"/>
        </a:xfrm>
      </p:grpSpPr>
      <p:pic>
        <p:nvPicPr>
          <p:cNvPr id="3" name="Picture 2">
            <a:extLst>
              <a:ext uri="{FF2B5EF4-FFF2-40B4-BE49-F238E27FC236}">
                <a16:creationId xmlns:a16="http://schemas.microsoft.com/office/drawing/2014/main" id="{82A48909-8246-4435-BEB6-2370101F24AE}"/>
              </a:ext>
            </a:extLst>
          </p:cNvPr>
          <p:cNvPicPr>
            <a:picLocks/>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190500" y="190500"/>
            <a:ext cx="8763000" cy="6477000"/>
          </a:xfrm>
          <a:prstGeom prst="rect">
            <a:avLst/>
          </a:prstGeom>
        </p:spPr>
      </p:pic>
    </p:spTree>
    <p:extLst>
      <p:ext uri="{BB962C8B-B14F-4D97-AF65-F5344CB8AC3E}">
        <p14:creationId xmlns:p14="http://schemas.microsoft.com/office/powerpoint/2010/main" val="408494928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_PE_POLL_EMBED_ID" val="142ec867-4701-4129-882a-9198607ab2f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