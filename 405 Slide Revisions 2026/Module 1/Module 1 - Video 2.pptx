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</p:sldMasterIdLst>
  <p:notesMasterIdLst>
    <p:notesMasterId r:id="rId10"/>
  </p:notesMasterIdLst>
  <p:handoutMasterIdLst>
    <p:handoutMasterId r:id="rId11"/>
  </p:handoutMasterIdLst>
  <p:sldIdLst>
    <p:sldId id="257" r:id="rId5"/>
    <p:sldId id="715" r:id="rId6"/>
    <p:sldId id="394" r:id="rId7"/>
    <p:sldId id="707" r:id="rId8"/>
    <p:sldId id="716" r:id="rId9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oigtlaender, Nico" initials="VN" lastIdx="34" clrIdx="0">
    <p:extLst>
      <p:ext uri="{19B8F6BF-5375-455C-9EA6-DF929625EA0E}">
        <p15:presenceInfo xmlns:p15="http://schemas.microsoft.com/office/powerpoint/2012/main" userId="Voigtlaender, Nico" providerId="None"/>
      </p:ext>
    </p:extLst>
  </p:cmAuthor>
  <p:cmAuthor id="2" name="Giuliano, Paola" initials="GP" lastIdx="16" clrIdx="1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3" name="Wasserman, Melanie" initials="WM" lastIdx="18" clrIdx="2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  <p:cmAuthor id="4" name="CLEMENCE TRICAUD" initials="CT" lastIdx="10" clrIdx="3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5" name="Nico Voigtlaender" initials="NV" lastIdx="2" clrIdx="4">
    <p:extLst>
      <p:ext uri="{19B8F6BF-5375-455C-9EA6-DF929625EA0E}">
        <p15:presenceInfo xmlns:p15="http://schemas.microsoft.com/office/powerpoint/2012/main" userId="Nico Voigtlae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683" autoAdjust="0"/>
    <p:restoredTop sz="86197" autoAdjust="0"/>
  </p:normalViewPr>
  <p:slideViewPr>
    <p:cSldViewPr snapToGrid="0" snapToObjects="1">
      <p:cViewPr varScale="1">
        <p:scale>
          <a:sx n="109" d="100"/>
          <a:sy n="109" d="100"/>
        </p:scale>
        <p:origin x="166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030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6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58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38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07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38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D6A2-2BCD-4141-A2F4-39139519DC02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AD7E-7D64-BD40-91A0-C5C5947E2875}" type="datetime1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FA7E-006D-AE49-BC04-143DF79CFA6C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695A-4E14-C44A-BF18-63C4AC7AB7F9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D09D-7ACE-C24D-82D2-2A3474C1C790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9CF3-62E0-EA43-91F0-4EC3CCA8A119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8F7A-95BD-864D-8A9C-B9A5E49A398C}" type="datetime1">
              <a:rPr lang="en-US" smtClean="0"/>
              <a:t>10/7/2021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C734-EBE5-7046-8237-D07E17A8D666}" type="datetime1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8220-CF05-DC41-BC38-7127A5DC38C2}" type="datetime1">
              <a:rPr lang="en-US" smtClean="0"/>
              <a:t>10/7/2021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BC23-2BE1-3A45-B714-AFD04A977F47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8EE9A-7AFA-5A4C-B21A-890A8131A854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61F6-AA39-6442-8DDE-E6CDCA25A876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2F32D-FB23-1743-9BD5-BA049F9EF854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8F84-E522-9D45-9A97-DDFB323F750A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9881E-FFE2-6D4C-AA34-3308C0ADC68C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4253-A354-6045-AC24-F0724896F255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FF48-91A1-B143-AD51-ED88709050B7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D19D-8740-AD45-8DF9-A83AB358B74C}" type="datetime1">
              <a:rPr lang="en-US" smtClean="0"/>
              <a:t>10/7/2021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6D55-B624-514B-8991-FFF17B93E6E1}" type="datetime1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743B-631B-834F-9DC3-A35DD28CB298}" type="datetime1">
              <a:rPr lang="en-US" smtClean="0"/>
              <a:t>10/7/2021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78B-4E2A-0248-9231-8C418E54563B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8E802-2662-1F45-B7E0-D8C55A851183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E5EF2-0429-4B47-94AE-0AE5B8F45E57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ECF2-EFC1-A246-8403-C4EF7E1DDBAF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FD87-0B42-CE4B-9088-C559197E297C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081B-112D-D446-B951-6C95BC836B76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0420B-45E2-3D4E-BB99-3B2B4EEF04B8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B162-B9A1-A44E-AC1F-CF3754965C48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6935-97BB-7D47-B7D5-637BCD81C17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D60E-591D-4D46-B5B2-D025F497B61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EE8A-7FEE-5E4F-B84D-DA90C899064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8FF4-C872-4D4D-9BA2-95526D7F077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7247-73A5-C742-9FE4-11842F14DB9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69FB-412E-A34C-BE77-A0FEF84299A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337FD-D8F4-EA4C-BEC0-55A323C292F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2FD3-B251-B14B-A31F-C33C0A85D14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4F66-E4B7-F84E-B380-FECBD842D40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44D1-B787-EE40-B7EC-E5D099DD1EC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A7EE9-BDB3-594E-B507-06F4CBFCFAE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5D21-9C4F-DC41-A2D3-7071AC256DF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1695-3215-7642-9658-A90CD260C03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6049" y="5935664"/>
            <a:ext cx="1973580" cy="381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88CA5B7-BF38-844D-A217-8D897D011E98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55AD3-ABED-454E-9734-E14628C9BF4D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ndersonLogo_TITN.gif"/>
          <p:cNvPicPr>
            <a:picLocks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668" y="6197715"/>
            <a:ext cx="2194560" cy="43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C0387D30-8C78-4D48-8A4E-EBB976F8A35E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9AB94A9C-1A42-8344-8BAD-E473AA7FF13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15" y="4406901"/>
            <a:ext cx="7772400" cy="1362075"/>
          </a:xfrm>
        </p:spPr>
        <p:txBody>
          <a:bodyPr>
            <a:normAutofit/>
          </a:bodyPr>
          <a:lstStyle/>
          <a:p>
            <a:r>
              <a:rPr lang="en-US" noProof="0" dirty="0"/>
              <a:t>Week 1 – Video 2</a:t>
            </a:r>
            <a:br>
              <a:rPr lang="en-US" noProof="0" dirty="0"/>
            </a:br>
            <a:r>
              <a:rPr lang="en-US" noProof="0" dirty="0" err="1"/>
              <a:t>mARKETS</a:t>
            </a:r>
            <a:endParaRPr lang="en-US" b="0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/>
              <a:t>Professor Nico Voigtländer</a:t>
            </a:r>
          </a:p>
          <a:p>
            <a:r>
              <a:rPr lang="en-US" sz="2400" noProof="0" dirty="0"/>
              <a:t>Management 405: Module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7822B-922F-5646-94B9-B9B91B03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2" descr="data:image/png;base64,iVBORw0KGgoAAAANSUhEUgAAAgQAAABiCAMAAAAY7jvKAAAAw1BMVEX///8Qe7YjHyAAdrQAAACEttYAcrLF3OsbFhcgHB0AeLUIAAAdGBkAdbNqaGkPCAr5+flbWVre3t4WEBH09PR6eHkchr0zLzCYl5hUUVI7ODlwbm9VncgUDg/T09MuKivAv8Dn5ufv9fmMiopMSEmlpKWwr69JlsREQUKCgIE3NDXb2tuLiYrDw8PNzMxsamuqqaptq9Dk8Pat0eWQutibxd7Q4+9opcwwjL+4z+PK4O7a7PSbxN4iib681eePttVssNPmOyI8AAAa7UlEQVR4nO2dB3ujPBKACdY6NJvqHgy4EFzjzbZs+XL3/3/VqUtgitfxnXO7nufuy9oSAjMvo5lRQfnw58hP5SbnSeuPkfb9te/l/63c/TFyg+BsubbqLic3CM6Wa6vucnKD4Gy5tuouJzcIzpZrq+5ycoPgbLm26i4nNwjOlmur7nJyg+BsubbqLic3CM6Wa6vucnKD4Gy5tuouJzcIzpZrq+5y0gRB0lthmTtvu2M70szyba28K7m26i4nTRAMQYgF7N92x5a4HXP0Rpbek1xbdZeTJggyS8USrt52x5Y2akVzbxC8Q2mAYK/qBAI9C950x24QvGNpgGAeqlT8+E137AbBO5Z6CIKxziB4Y39wg+AdSz0EO4C7AkwBeFN/cIPgHUs9BBMfMRBFGIL0LXfsBsE7lloIkjGKDcK5i/743bfcsRsE71hqIYix5sC0hw3C2nvDHbtB8I6lFgJXwxAoSxP9NQ8V1ZxpnKbxPil+H+yGPbc3jJEzUQKBM02HT6h8WnkByUY0utnFaVx2GtjSPp1P3Kdtuqv0W5IdOnhTeaYz5Nqqu5zUQRAAojjFw/+wRlLZYeQiGUINHEaRCQBQs3lOP8Fy4du+Bv+fHUogcFJ4GC43B+5OHLbF7Y6gA+LMR9kgCmhj7sCCJwGmOu7GeXPiDEcqbcnKtpK5GuKm3FhRvN4YHR0O3DcmPmW5tupqxfidynUQUAMA9RHhAAFISh4CDYrZVTwXaLhUt8xIeqa9EaDJRtUCkyMINiN6GDpSAy5vumujhsFS2WempuskJkl1k9XWLR/kVLlcmxZvybLNIbcGPRNf40E5WLbFzrS6WId0iiqIVBaUq8rodNCfTqdllB10kl77z4+nc1ADgYN7Az2CNnSOVWgPReEQf+NPgkhTuVg6144nf6+C7TDMQZCqcjF0PjPGT9cnXU9CGsAQrGw9V1sLY3aeYGVauTI9XDCgsCuj+mkqH+67F2LgBAj6TE4vMTrt/rfP31/v7++/f//40uoYxwedoNbOL+VD64R6RGog2ODnH+ttbxV7dAKBPiI649oZUwUkWe57VV3rcguxTzWn61Q/fuTJEIRD2jCCIAWkrh+GvkYPY7T1ALMBGrMHYebJEOhulEMIXGoks1kTn2jNH0VNv7A2Puc1Zdw9fHmWzzH78sAse+cL/e5rs1aNl5nytX0iArUQED3bcwXpFCvN3xcK4b3H/+V3mBmLLk0367CzBj6vQiGYmvSjGY3Hvk+fUGLGifL1jFoKCIFHlOhnve285xJVa2tynpVJGbKgj5LRZv2MoEYgUAln/Br1wVuiHEma7+0rrXlf1NEDa+NfMgRG++HHUWfl3L+0860VkSo78y9Y7xSL0QgBdQSm4n5K/QGFAOkDAPg/9mQPsCqn9Pk0B8v9fvcEmO0nEAQuUTQYxRvP2z8BciISfFALgL7StdCGEBxwY4C4ncEuwqcC2JdM6VWA7jQJgiRdE/YAuc4es0Z6iK6RIqKaQ+Ui0nxvv9KarwXL3PrI2vgmWXvjoWJd6KdOvrVO04mNPqr3ubFeMwR7kjKO5A86L+UQ+NhLi0f0hpN5B1STJp2KslloMgSpSRpjykjxs6oPEulQ1HLU3Q6HjjJCB/sTduYpBiTsKWhog7Dn82QmCWp1YrIYBLq+gg9/cCD4qNagQbsnSvO9ZZb9e0Ednc+0YPbAITDav6pc1mdsCjq8tUY730KG4BSL0QgBcQb9Hv4QELNg8v6AQWBPiBX36MQDbCw21IBzH8yz5O5gjavaYkSKjFWGWJUcArubkLuCq9uiJ3eBbdtgFHBDYPd4Ge23QowMg8Cnx8bRJUZBuDTf3BmtWXwmuWWfcRfeePlReaJ7onUGwa+mJxx5BFCck+ODSgiSDN+xkIbwPaKnLSumEFhj9sWOWGIMzYEaEZGbIUQRCEhfoYdCFY7GXVAOAeBGG9sJYQmUdD6EsgwUZ0E8koEUulInEuuZQiBooxcNSvJNZ0jjve0zCD4WuoMOU/jzC9WT0X+uOg3sDhAExj+sRqPb36Yu5Mn9QSUEO2Kzx9SLSvENtTJ2/+j9tGN+AHG9NDTCQIyyJg02eKqIDlh0KZ2MBKM20hyFwFrwQvJwa9sj1SVE4blB7oC4gTayKjQ6sLgjSJJeqrkrtnSWNN1a+kBCeSg+kqx7/9lnDNRtE4EffdHat4YH3Hih/crzqfFBJQREGVyRCZlZANj9oyHiWHjaCxpGKowHOa0QUC4QBBPqZAYJk4D0B7hxCoE0h4V+Y5vuPN15UsdJfAuicC6kdWyyevQncJPjUAhi5RLSCMEjU1vRLnOV/2QFX3MtO7PZ8/Nsxn4qfvSNh6rWjs7LYsnGmk0QBCTBIsYLuliL/hP9SCCwRsKmSxBQkyw/cCueLEqoEV9nYybZQFDTLZgcNqkBHW3b+iDrLhkIW9ID2bkRgYNJNO8wCEQXpjjUs4nLf/NvSiME35gW+4XM3wuz7DSWN37J7f74/PDSb7f7/W+/CBv40Ret/VOvWoP3Qs3eQwMEabH7pC59RL+og8Azj7veOU8bU5sCzbQQGt8jf6JggRRkRfgcN+joW5oJXPLssz4/10/EBCKUNjyKa/+3ELQ+sJoFrQkT8YohaH2TWr1/vOuQ1LBhtO4eEAa4NxGtNZyWp6ggYyemCiogcIhV1ceHlMqSmmlqe+sgSCgEshMuxg42Um4pL9iKHEMAsQkLFUMXdUPEOKl27spj7b1AwANBp9A3G1zpX/CjaojOwPmYHy9o9WEggb3H1r9YnfqeXvgOysn9QQUECdWUbjKhISENGU+CQI57JQhoptjSimJXQKAkXRDmRwjCdcD8z3cLQYsZ+Z9FCHiuiPT2n3mTz49FA25AlAgErLVZPQStT9IlfjnNNayAYGhWPK06Nb51EATUJ5D7aqk7ILFn5B4LcvPLIIBh5SoLTV8yIfbEKe8O0pBf2JUhMPjQQUEVwrJ/xE8qjwxmDyWduPGlT/7QSkWkCrX78iU+v8kSLPIPniR0quEpjmEsNUg9dQhBMEIV9fHUCY5EqYIAWoNp2h0D0w6pidI9lnywc3MEaAD65FwfApYS+lRQWyfnvoscsvKt1JEz8q3d10LQkQ1BczhZB8Hequq3VY1MLamFgDj7klvOQgIcIhLdWBXTO6ogILJJt2uakl6ysMGWhwXJ+DfR/JUhuGO39ksxYcgVhQx9h3sEtYMCBmutiFS+FvM56Z9Pb4CA5QN9WegoLpk5UgtBlz/2TKake5GSRXh0skSOIPCmWHhbCakBnZOANOpPJOeD+iM2Ck+vDQHT7ociBF+lJkSoMKt14wzWadTGfYyv53/Tv6cwUA5BQJN0k1SWlS09eLUQ0NytJm72SBMQJDRtLHXl8y2SFXb5ixD0ABZhOAKcZEYZCxLCqKFkVEg+QlfxkVeGgGUDPhaU255JTQiv/3ttOthgBxWRylViHsF9i/7jKFl5MgR0JFjLp1c94tZbC/Tg1ULgkf7AGtNSh61mI8ZhRPNO/NgYL1m2cWLhCAJyplAYDjKYhcKUmE4uEJmlmCYrcU90bQiq8rxt1gJ6Tnlf3xDPGaxa3dABDw0e2tRwvJ4SH5RCQJPuUf5bh032QQ9sLQTsEfUXMTpu32WxBoFgR+YL2i7NOcfUh8BjAEcQTMnFhJzI2KQ+AQwS6XlGdHLaTqX0JeJnXA0C7qcXn0ZegOYIGcxeNIR+d+ygGl+Pdy1f0fwyLM+n5IvKIKArEHNDPEiWtD9Aj1k9BHua6bWs8WIx1vl8Quom0I7Fj9xlHC9dOj2JDDoeO4ZkMoKuLtHQspMssSZ1FdXmQ9Sqe0jTw4J+BHJG8VoQ8Dlkxb5eTC67NyQiah0+cZBTY+C5x/m5xRNSxb7oVAhi+sQX7xV1uqxF0ASBMmFzTmhSWPdlCALq4euabQKbziOmY8fHEOzIMIZuRt1e72lM5iGFT7illE4X0jUTmGzWMaD0XhmCR1qPjxezAj65DPruvFbDCDGvV+M+Cuz6Bh+feD0TApoyHhyN3a5prm/XCEHCZhoR0QdzMYqooCkohXmoaNSfFJWEiEs2mVSDIQp99PkYxnESms8qvzIE7Fn8WbDIIjHwy5Cyh/UhPW+tiJTcMDMEyKi02JyF8yAIfNobHE13YpMI5o0QKJ5qC7XoIN7l1x14C5BLR1mAna0sTzAE+Qnqqh3xgAA6lTkMfLBl131dCHhesDg7uMPHDD+3ROKoPkAUrRWREmI8sh+OOGn9m344oT8ogWAJcFqgZGr2xg9RSQgcZWjqUDQZAh+Z/pBNKUt6zM7r5noHdYWOlPYsWmZ8zQi05Rl3+7o2asbOJ4umru2zyem6HoYTyUglPd3mZb7ZFfFiz0bXKM0rdVQNNX7Uz50nDXeW6/pHQQud76yFf7VErZonPNda9YRz7hG8YiT+oZ/um8eTyyDoYZkcT8IKhrTIK7EETwsswpuMXR0CE2oRmie8meAjpXkmyXKhaWgpga8uUnGuFWmmsCVGMJ1Elo9ra1FvmrdR0zksC9GiBH2yl4qOLYGL284usxatCQKuk+L4Eb/lsAfg0w0bIGgzcr5WVRP+JnEd2cTUhoYrILicBLv4kFYvN1WCfXo47PZH3U65JLC1Q7orXTWQ7A6Hw2XXmzbKqXf2KMXHemvk6HNUGroDnmUsjkYJCFhLP8n5WqyjaV6KdNvM8mxpurMsz1tM8fHJZUjv3MzXhX530pyDqgnnwhBQpXNXshKbGwRvl5MhKCw145PLZn3ZS2x4YJuGDrhJeabTz8R5mhi4QXC+NN1ZPn5UgIBnBtBovwgR65NF/YYJ5yI0+NKmq5fbrNupG224QfA2OfXOFqb/izQBmhkgrPisdiCZP9YV6QQxBPHxkcoLD08arvQGwfnSdGeZfS704uKO4yeUDwwpH8unlJBJp5XT12mtf3gzMyHsm6aphjcIzpYGCDo8WZRL74jegMwdFAHjz36JrowXrEHjoX7CeedVqZGmpUg3CM6WBgj4EEF+TSCP5JSf+HNLTDMtmRZq3P2kqw5YpXJD8ChNMT6W+mmJNwjeIA0QiPFBOUZr80mmyi/s4slTxD8UNdx+mBH7L+amlj7U9YaA2pwbBP8FaYJArC37wDadMYyPXOUO1YyswC93ku9vtPqfHWWGq/E1DM/M95d3PRLeZYU0LEW6QXC2NDEgGfpP/7TbnU679SApnIWEOQ0+f7hrd7ByO+2XzygiIGE/H2f6+VgQ5HAYDYagaYebKgg8tDPgluxBeCzOLv29/HuwHNasB9+nKT1REKeFluEXb9pP978nTRDIhn729dOvL6/PUoJ8xk20kZslPnv98O3x5eHjr6/kaOJWignKs7yggQLhNc6Kwo5qyEmXQhCsBgDYNgBkgthxuQuK047qxQOgegxhpQJAJy8kYwDWMi6eDoD6W6f6b0o6jMWHJggkzZWIGOE17mr2JqBBfrXBfpQGoZTHfl54JFLfH5S27rgmmKRxHM91u3Szr6Br9kq+rhZPq4ZgZ4fugVoCtNNIbqR3aav6hbaXebs4XSANcTdCYPxT7bPLkUDroca3JzOD2pX7F7wYoj957eQfeIO7Jc+1OelSCOYgouP7iRuWrRK5KARLU6wmRMuTNGnnVGeh6e8IgokpGcBGCO6MD1UtvebqSYuQjoSkmtpVmED3UngER9nEFhuArh+eKoVgYfLFQ94gLNn98cIQCC07eKWxGBKegmh9qY2m3i6/CwHZSq5EjhamVdsCkuhpVxU/91t8yuKPI5sv0gu1S5HKIIAds9jLemiKfQaShP6TQhAkOW+v8BF9Zn5lEQJHFBUg8NWJ2K5Imdijni+Kg8LUA6kVXHz8WyrOSa8vYM04ua8LPqw47nchuLsrpeDDUTXjscovIANGnaof9bMvPIKyp539sJ91F1k+5dwUSz12AzUm/zpMFtmihz9gCKa9UbaY8HlhKfw4mghPPhh2F5m7JbrPQ5DMu1k2muNv0mFXi4bDlFwthCCKAX/pVgKvZBVSCKbzVXeyJReTDGG0kcILcldMY/v5yu1t+eVM5z1U2RvSvY6d4VOWuXMyJWU3XMKLcOFn+CGGzTzx656uXPiryEMAYxoPn2WEFkc56XChLZbsUk+DoP3tSLuvL2Vrj43PZcbg/oHYjH5JGZYfd9wQlMWBQr11/UFpd+CGg7j43RTGC9HYBwDtPAohWA3x6jAbEF68BQBWFkI3nyr7AGOLwRrWwHN/cxBA4wIGA/ifFdqBDEDXj7SqEEsQjLlreDDNpEcggAEJEbxp7SYE8Qjvem6T3Y2SEStOWG0t84G7BGTl+g5FIGN4TmxltiDbm2CsmvC8E2CPbfYznB4AYQbr4pc7bCJweCJnAakSZEBT4Q1g66pOggB6h59y5uv+W8UO5J2XIgZiT9vqbNDrHTcER/nGOznT+KkmPiiFYA9/bS/OfbVZm1maJN5StycIAj+zx+nGG0aWiW5XsrDVpYeKfTIZPLXt0T5JNm6IdxmUIUgBLpp2Q2Rc43TiR4cDPRuEwFJ6PP4c2d2AQtC1/dV+s1mp2CJ7qpWBp/1mP/HxDrdO1w7nsLinmmh2ItSshS5nNxjoOrqevQpcdDkTG29ztbWjMboGeLYnsPKSaab5U0KHPfSSJB6baJcLb2yNgbvbTHuWtQ6cYW+sjdJD/DuWAO1S2f/4/cfX59nz1/vvH/vt6mUDnfbjr/uvKLifzZ7vf31ribr9hwp5rNlFmxx5wrbY5QFoasFnwxwNxay9hbkgD8A0Qg9FV6OrP7wQL1DtmTZR8iYK0eRTL7K75F4NAdr8SoJgqrKOdWvjpUIFn8BC3iA5rwfgYz7BEOyBTiz2Dhd6qm6yjRLQjnQx0GNKGEozzIFK+oUERhcJWmHLYrttaAbov36XbLCrkZ7Pi/DflB83ACsEga6RCPlg4q02f98nwNLq3PVfXv7p3xU3rz/mAFV8fISV7/LhnlElTTvg126qXwuB4vUGmh3a9pq+YYLfZEV5Ai7WFZ3w6SJDOgV8Tu/SRPvQr0y2OsQZ+xAfCYInm2eDyK7WRxA4Gd00bWtC00sgWHErbKG1Lx7fLjUxbVh5AhbUqdDQkoQwZMFLChAEB8DWrCYRSnzMbZUEvit7jZsNunivnIyHRUvbdCAEPgtXQ7T28bejg7wyTq54ct0LSfWOpvF8ZILQJ++j6NoL1rN5aexA68s2m5wgCFYmf0FSEKE9ZYHYYRI6B1MJAscWOxMsTbS4VYZAWYUWWvmQ4UvIoG13CAS7ZUzb15AT4IkN8kxkimJWnGjaTtmZYpNNDIEU83ZNaAO2ZkY+DQFlaWVCde90Hgl5KGfljXmqbADeCMF7lroBJCdInwaaD+9XsLBzaWIpT4AhGNk8meA8hZGyASEPMqeROZQg2IWm8MRt9HzlIJjbFjbGqHZsmxsGATltkKQjXyMQsJ7K5DuVwNguXfjQUCxtsY9RZCVKsjYPbOPMng2NwrwcggPsS6h4A2jbPOGiRn8rBFhPrg8OymaQ31ikAEGQhSKdug0BNMIWj9XgsSsJgtQ280V5CLYIAqULUPMQrUBAsFmuXBhtuBG1BKx7oRBMYfEAFUNLMJQgGEAI9ij+YGKrmypLAAkU1eAl/M0QpMxXx/oeQPMOY4PcSwLqIBjaCAKda9pbw/hAQAB7B/GOnHEFBHsw9pQEIGeMQhD0fBC5q0OilEKQwOKBu0qDAEEALQFfoqLC7mAf+b05k+280hJs7cF2y+ulfzMEMHSXE7UT2IlCbeXSxHXdQS800cpDYfMHue4gDsV60KmFDEwJBNCbj9Fyx4RDsAU+3c62FAIcEuIrQxDA+JSfA/kEMKLJb7pSYQmWIJ+h/oshgFZRTu/1zG6guDYf1Un2U+gY5iHAHS0RaBVcJRDRAtQ6fPQFBEkoFeEB5hIIIABZsMDnIBDgwJSIWgLBlA89OjqEIAFsz00U1sArywTDgUeihTIIYk1KkXvBXw3BTgul536B0i9DUxWvnlooRQhSwHcl35sovsNxIa0QWrkQcRy6rGjho31lyiDYqObBwq/YIBDsLKaeBGjHEEDt0Tan2BtxQ/qmLBhyIgh6Joe0N5g48HpLIaDZAnyaLIr/agjgPbR5SLVEDzKMvEK6ANlbwxtV7A6chU3DeGgIUK4t9tko0A4bBQmC2GRxVwrwxkPH0YGCNrfSNAwLgWCvA67VcgiIE+CMUHSgbCLNX26SZOoCnDH0NLbWfWqhC6uwBMqKp0NWpu0cQ/BkS8Pc11bd5aQUAk/1w27sQEm2KlH3wbbxWvVk4ZveEQQwwjbxNlSJ6+Mu33ky9SV+31FkI5sgp417wD+QohCrIgfB0CQQxIDulUcgSLJw5KHr6fpquDyCIFmjl+U4zsa1IhycxqZvrxeZDpY2ThsPTXOygRXisT1wqiFIMjtaBvA0Kw3xWYRAWYX+1GF27Nqqu5yUh4jeApjAjMYqjJWGJEu0BKbZXXVtnHwPSAyH5IkMvaQaDM9Wrs08wmAEQNTrjQHA76r0QsnNcAEY4CLyXtQlkLZJWwIf/03GPrHw0ASjYmg1wGChAj3dwuPQrDPWHkDqQcXrkQWieGIC9E6GPR5vsg4kWYS0Da9nHdIBJg7BnEMAcPYryWC9QUR/trfmEJDXKcLQF/CB7mur7nJSkScIUjdbR1E22vLRg90IIaFlSMlOb83zq12ida879k1/3WW6cZaLyDbVjLwQzVuMpc0D0kVkmjotUg4D8aob5bCmb1UarokBd1ZjXDx9yqJBBq1RMlmsFC/jL1h6ekKK2ndR8SqB17HAl+Z48XCXKAwCVGEQjUdkYHnXpQnNtEtVunwi3kCwXIzh7+7iaMIb8dHUXhf/a5UNBiw3dW3VXU6qk0WBN5XeWa7gd5Mv2XvJg+R4Akeyi3M7SDjTXbxn1ZzceKozjUVRri2Hzehw2EQPXhxMPVExSArzS1Ax/2rKG4eOIvs22ExPegNWMp2KSzs6yyb5W7qD/3cZAWaoVqBbW/MNcm3VXU7+TAhSoGO7H2x9rWa7nLfJtVV3OfkzIUCBrTnIBgCML7NJVZlcW3WXkz8UAmW/WgPgj5aXeQ9mqVxbdZeTPxWC/4FcW3WXkxsEZ8u1VXc5uUFwtlxbdZeTGwRny7VVdzm5QXC2XFt1l5MbBGfLtVV3OblBcLa0/hi5QXC2fPhzpHL3g5vUy38Ad4zCnxrOIc0AAAAASUVORK5CYII=">
            <a:extLst>
              <a:ext uri="{FF2B5EF4-FFF2-40B4-BE49-F238E27FC236}">
                <a16:creationId xmlns:a16="http://schemas.microsoft.com/office/drawing/2014/main" id="{C7D3AE6F-B5BB-CB4F-AF10-8BDAA1F4C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99" y="5871612"/>
            <a:ext cx="2685169" cy="50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10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module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460" y="1094874"/>
            <a:ext cx="8229600" cy="5212407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813" noProof="0" dirty="0">
                <a:solidFill>
                  <a:schemeClr val="bg1">
                    <a:lumMod val="85000"/>
                  </a:schemeClr>
                </a:solidFill>
                <a:latin typeface="Whitney-Book" pitchFamily="50" charset="0"/>
                <a:cs typeface="Whitney-Book" pitchFamily="50" charset="0"/>
              </a:rPr>
              <a:t>Basic Principles of Economic Thinking</a:t>
            </a:r>
          </a:p>
          <a:p>
            <a:pPr lvl="1">
              <a:lnSpc>
                <a:spcPct val="120000"/>
              </a:lnSpc>
            </a:pPr>
            <a:r>
              <a:rPr lang="en-US" sz="2813" dirty="0">
                <a:solidFill>
                  <a:schemeClr val="bg1">
                    <a:lumMod val="85000"/>
                  </a:schemeClr>
                </a:solidFill>
                <a:latin typeface="Whitney-Book" pitchFamily="50" charset="0"/>
                <a:cs typeface="Whitney-Book" pitchFamily="50" charset="0"/>
              </a:rPr>
              <a:t>Economic costs include opportunity costs</a:t>
            </a:r>
          </a:p>
          <a:p>
            <a:pPr lvl="1">
              <a:lnSpc>
                <a:spcPct val="120000"/>
              </a:lnSpc>
            </a:pPr>
            <a:r>
              <a:rPr lang="en-US" sz="2813" dirty="0">
                <a:solidFill>
                  <a:schemeClr val="bg1">
                    <a:lumMod val="85000"/>
                  </a:schemeClr>
                </a:solidFill>
                <a:latin typeface="Whitney-Book" pitchFamily="50" charset="0"/>
                <a:cs typeface="Whitney-Book" pitchFamily="50" charset="0"/>
              </a:rPr>
              <a:t>Ignore sunk costs</a:t>
            </a:r>
          </a:p>
          <a:p>
            <a:pPr lvl="1">
              <a:lnSpc>
                <a:spcPct val="120000"/>
              </a:lnSpc>
            </a:pPr>
            <a:r>
              <a:rPr lang="en-US" sz="2813" dirty="0">
                <a:solidFill>
                  <a:schemeClr val="bg1">
                    <a:lumMod val="85000"/>
                  </a:schemeClr>
                </a:solidFill>
                <a:latin typeface="Whitney-Book" pitchFamily="50" charset="0"/>
                <a:cs typeface="Whitney-Book" pitchFamily="50" charset="0"/>
              </a:rPr>
              <a:t>Use cost-benefit and marginal analysis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sz="2813" noProof="0" dirty="0">
              <a:latin typeface="Whitney-Book" pitchFamily="50" charset="0"/>
              <a:cs typeface="Whitney-Book" pitchFamily="50" charset="0"/>
            </a:endParaRPr>
          </a:p>
          <a:p>
            <a:pPr>
              <a:lnSpc>
                <a:spcPct val="120000"/>
              </a:lnSpc>
            </a:pPr>
            <a:r>
              <a:rPr lang="en-US" sz="2813" noProof="0" dirty="0">
                <a:solidFill>
                  <a:schemeClr val="bg1">
                    <a:lumMod val="85000"/>
                  </a:schemeClr>
                </a:solidFill>
                <a:latin typeface="Whitney-Book" pitchFamily="50" charset="0"/>
                <a:cs typeface="Whitney-Book" pitchFamily="50" charset="0"/>
              </a:rPr>
              <a:t>Economics Fundamentals</a:t>
            </a:r>
          </a:p>
          <a:p>
            <a:pPr lvl="1">
              <a:lnSpc>
                <a:spcPct val="120000"/>
              </a:lnSpc>
            </a:pPr>
            <a:r>
              <a:rPr lang="en-US" sz="2800" b="1" noProof="0" dirty="0">
                <a:latin typeface="Whitney-Book" pitchFamily="50" charset="0"/>
                <a:cs typeface="Whitney-Book" pitchFamily="50" charset="0"/>
              </a:rPr>
              <a:t>Markets</a:t>
            </a:r>
          </a:p>
          <a:p>
            <a:pPr lvl="1">
              <a:lnSpc>
                <a:spcPct val="120000"/>
              </a:lnSpc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Whitney-Book" pitchFamily="50" charset="0"/>
                <a:cs typeface="Whitney-Book" pitchFamily="50" charset="0"/>
              </a:rPr>
              <a:t>Demand and Supply</a:t>
            </a:r>
            <a:endParaRPr lang="en-US" sz="2800" noProof="0" dirty="0">
              <a:solidFill>
                <a:schemeClr val="bg1">
                  <a:lumMod val="85000"/>
                </a:schemeClr>
              </a:solidFill>
              <a:latin typeface="Whitney-Book" pitchFamily="50" charset="0"/>
              <a:cs typeface="Whitney-Book" pitchFamily="50" charset="0"/>
            </a:endParaRPr>
          </a:p>
          <a:p>
            <a:pPr lvl="1">
              <a:lnSpc>
                <a:spcPct val="120000"/>
              </a:lnSpc>
            </a:pPr>
            <a:r>
              <a:rPr lang="en-US" sz="2800" noProof="0" dirty="0">
                <a:solidFill>
                  <a:schemeClr val="bg1">
                    <a:lumMod val="85000"/>
                  </a:schemeClr>
                </a:solidFill>
                <a:latin typeface="Whitney-Book" pitchFamily="50" charset="0"/>
                <a:cs typeface="Whitney-Book" pitchFamily="50" charset="0"/>
              </a:rPr>
              <a:t>Equilibrium</a:t>
            </a:r>
          </a:p>
          <a:p>
            <a:pPr lvl="1"/>
            <a:endParaRPr lang="en-US" noProof="0" dirty="0"/>
          </a:p>
          <a:p>
            <a:pPr marL="457200" lvl="1" indent="0">
              <a:buNone/>
            </a:pPr>
            <a:endParaRPr lang="en-US" noProof="0" dirty="0"/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773F0-B664-D14A-B760-ED90EE30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5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10807"/>
            <a:ext cx="8229600" cy="1143000"/>
          </a:xfrm>
        </p:spPr>
        <p:txBody>
          <a:bodyPr/>
          <a:lstStyle/>
          <a:p>
            <a:r>
              <a:rPr lang="en-US" noProof="0" dirty="0"/>
              <a:t>Market DEFINITION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27009"/>
            <a:ext cx="8573618" cy="5384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noProof="0" dirty="0"/>
              <a:t>A company must understand its market</a:t>
            </a:r>
          </a:p>
          <a:p>
            <a:r>
              <a:rPr lang="en-US" noProof="0" dirty="0"/>
              <a:t>Customers</a:t>
            </a:r>
          </a:p>
          <a:p>
            <a:r>
              <a:rPr lang="en-US" dirty="0"/>
              <a:t>Competitors (actual and potential)</a:t>
            </a:r>
            <a:endParaRPr lang="en-US" noProof="0" dirty="0"/>
          </a:p>
          <a:p>
            <a:pPr marL="0" indent="0">
              <a:buNone/>
            </a:pPr>
            <a:endParaRPr lang="en-US" sz="1400" b="1" noProof="0" dirty="0"/>
          </a:p>
          <a:p>
            <a:pPr marL="0" indent="0">
              <a:buNone/>
            </a:pPr>
            <a:r>
              <a:rPr lang="en-US" b="1" noProof="0" dirty="0"/>
              <a:t>Extent of market</a:t>
            </a:r>
          </a:p>
          <a:p>
            <a:r>
              <a:rPr lang="en-US" noProof="0" dirty="0"/>
              <a:t>Which products belong to a market?</a:t>
            </a:r>
          </a:p>
          <a:p>
            <a:pPr lvl="1"/>
            <a:r>
              <a:rPr lang="en-US" sz="2200" noProof="0" dirty="0"/>
              <a:t>Simple test to identify the range of products in your market: If the price of another product changes, will demand for your product change?</a:t>
            </a:r>
          </a:p>
          <a:p>
            <a:pPr lvl="1"/>
            <a:r>
              <a:rPr lang="en-US" sz="2200" dirty="0"/>
              <a:t>Relevant for antitrust litigation (in mergers &amp; acquisitions)</a:t>
            </a:r>
            <a:endParaRPr lang="en-US" sz="2200" noProof="0" dirty="0"/>
          </a:p>
          <a:p>
            <a:r>
              <a:rPr lang="en-US" noProof="0" dirty="0"/>
              <a:t>Geography boundaries</a:t>
            </a:r>
          </a:p>
          <a:p>
            <a:pPr lvl="1"/>
            <a:r>
              <a:rPr lang="en-US" sz="2200" noProof="0" dirty="0"/>
              <a:t>Coffee shop in Venice (CA) v. gasoline retail v. gold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94F46E-56EE-B74C-A18F-C9B76569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3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1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10807"/>
            <a:ext cx="8229600" cy="1143000"/>
          </a:xfrm>
        </p:spPr>
        <p:txBody>
          <a:bodyPr/>
          <a:lstStyle/>
          <a:p>
            <a:r>
              <a:rPr lang="en-US" noProof="0" dirty="0"/>
              <a:t>Market DEFINITION: the case of </a:t>
            </a:r>
            <a:r>
              <a:rPr lang="en-US" noProof="0" dirty="0" err="1"/>
              <a:t>netflix</a:t>
            </a:r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27009"/>
            <a:ext cx="8573618" cy="53846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b="1" noProof="0" dirty="0"/>
          </a:p>
          <a:p>
            <a:pPr marL="0" indent="0">
              <a:buNone/>
            </a:pPr>
            <a:r>
              <a:rPr lang="en-US" b="1" noProof="0" dirty="0"/>
              <a:t>Define Netflix’s market</a:t>
            </a:r>
          </a:p>
          <a:p>
            <a:r>
              <a:rPr lang="en-US" dirty="0"/>
              <a:t>Online streaming? </a:t>
            </a:r>
          </a:p>
          <a:p>
            <a:r>
              <a:rPr lang="en-US" dirty="0"/>
              <a:t>All films?</a:t>
            </a:r>
          </a:p>
          <a:p>
            <a:r>
              <a:rPr lang="en-US" noProof="0" dirty="0"/>
              <a:t>All entertainment?</a:t>
            </a:r>
          </a:p>
          <a:p>
            <a:endParaRPr lang="en-US" noProof="0" dirty="0"/>
          </a:p>
          <a:p>
            <a:endParaRPr lang="en-US" dirty="0"/>
          </a:p>
          <a:p>
            <a:r>
              <a:rPr lang="en-US" dirty="0"/>
              <a:t>Did the market change with Covid-19?</a:t>
            </a: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94F46E-56EE-B74C-A18F-C9B76569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8F351B9-CDBC-1A4F-928F-658119389D73}"/>
              </a:ext>
            </a:extLst>
          </p:cNvPr>
          <p:cNvSpPr/>
          <p:nvPr/>
        </p:nvSpPr>
        <p:spPr>
          <a:xfrm>
            <a:off x="3309730" y="5500563"/>
            <a:ext cx="6832722" cy="1435180"/>
          </a:xfrm>
          <a:prstGeom prst="parallelogram">
            <a:avLst/>
          </a:prstGeom>
          <a:gradFill>
            <a:gsLst>
              <a:gs pos="0">
                <a:schemeClr val="accent2">
                  <a:tint val="100000"/>
                  <a:shade val="100000"/>
                  <a:satMod val="130000"/>
                  <a:alpha val="34000"/>
                </a:schemeClr>
              </a:gs>
              <a:gs pos="100000">
                <a:schemeClr val="accent2">
                  <a:tint val="50000"/>
                  <a:shade val="100000"/>
                  <a:satMod val="350000"/>
                  <a:alpha val="7900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i="1" dirty="0"/>
              <a:t>Prepare for class discussion</a:t>
            </a:r>
          </a:p>
        </p:txBody>
      </p:sp>
      <p:pic>
        <p:nvPicPr>
          <p:cNvPr id="7" name="Picture 2" descr="http://www.top10base.com/wp-content/uploads/2015/05/tips-to-enhance-Netflix.jpg">
            <a:extLst>
              <a:ext uri="{FF2B5EF4-FFF2-40B4-BE49-F238E27FC236}">
                <a16:creationId xmlns:a16="http://schemas.microsoft.com/office/drawing/2014/main" id="{1F60819F-4A10-884D-BB0F-5C6931DDE2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643" r="100000">
                        <a14:foregroundMark x1="27298" y1="27793" x2="50460" y2="34840"/>
                        <a14:foregroundMark x1="42096" y1="25133" x2="41820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555" y="1962068"/>
            <a:ext cx="3773340" cy="260804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951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10807"/>
            <a:ext cx="8229600" cy="1143000"/>
          </a:xfrm>
        </p:spPr>
        <p:txBody>
          <a:bodyPr/>
          <a:lstStyle/>
          <a:p>
            <a:r>
              <a:rPr lang="en-US" noProof="0" dirty="0"/>
              <a:t>Actors in the Market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27009"/>
            <a:ext cx="8573618" cy="53846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CONSUMERS</a:t>
            </a:r>
          </a:p>
          <a:p>
            <a:r>
              <a:rPr lang="en-US" dirty="0"/>
              <a:t>Objective: Maximize “utility” from goods and services, given their limited income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WORKERS</a:t>
            </a:r>
          </a:p>
          <a:p>
            <a:r>
              <a:rPr lang="en-US" dirty="0"/>
              <a:t>Choose a job to earn income</a:t>
            </a:r>
          </a:p>
          <a:p>
            <a:r>
              <a:rPr lang="en-US" dirty="0"/>
              <a:t>Face trade-offs in their choice of employment </a:t>
            </a:r>
          </a:p>
          <a:p>
            <a:pPr lvl="1"/>
            <a:r>
              <a:rPr lang="en-US" dirty="0"/>
              <a:t>E.g. labor income vs. leisure time / flexibility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FIRMS</a:t>
            </a:r>
          </a:p>
          <a:p>
            <a:r>
              <a:rPr lang="en-US" dirty="0"/>
              <a:t>Employ workers to produce goods and services for consumers</a:t>
            </a:r>
          </a:p>
          <a:p>
            <a:r>
              <a:rPr lang="en-US" dirty="0"/>
              <a:t>Objective: Maximize profits (value of the firm)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94F46E-56EE-B74C-A18F-C9B76569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62731</TotalTime>
  <Words>226</Words>
  <Application>Microsoft Office PowerPoint</Application>
  <PresentationFormat>On-screen Show (4:3)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Calibri</vt:lpstr>
      <vt:lpstr>Lucida Grande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Week 1 – Video 2 mARKETS</vt:lpstr>
      <vt:lpstr>outline of module 1</vt:lpstr>
      <vt:lpstr>Market DEFINITION</vt:lpstr>
      <vt:lpstr>Market DEFINITION: the case of netflix</vt:lpstr>
      <vt:lpstr>Actors in the Market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NICO VOIGTLAENDER</cp:lastModifiedBy>
  <cp:revision>595</cp:revision>
  <cp:lastPrinted>2019-09-13T20:44:29Z</cp:lastPrinted>
  <dcterms:created xsi:type="dcterms:W3CDTF">2013-01-24T22:32:50Z</dcterms:created>
  <dcterms:modified xsi:type="dcterms:W3CDTF">2021-10-07T16:52:06Z</dcterms:modified>
  <cp:category/>
</cp:coreProperties>
</file>