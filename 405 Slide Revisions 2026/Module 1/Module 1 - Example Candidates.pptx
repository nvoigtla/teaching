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from the candidate list (research verified 2026-08-20). Preliminary injunction: Judge Jennifer Rochon, S.D.N.Y., 24 Oct 2024 (169-page opinion); FTC administrative suit filed 22 Apr 2024; merger agreement terminated 13 Nov 2024. The defense called the FTC's market 'gerrymandered'; the court found the 'accessible luxury' segment real — distinct prices, customers, discounting, outlet distribution.</a:t>
            </a:r>
          </a:p>
          <a:p>
            <a:r>
              <a:t>Photos: Wikimedia Commons (Coach store, Tenmaya Fukuyama; Michael Kors store, Rehoboth Beach 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figures (per the Clifford Chance briefing citing the Opinion at 97, verified 2026-08-20): 58.7% per the FTC's economic expert 'from largely third-party data'; 77% calculated in Capri's internal documents; 83% calculated from Tapestry's internal data. Provenance: ordinary-course internal documents that 'come to light during a merger investigation' — compulsory production, not leaks. The term 'accessible luxury' was the firms' own: used extensively in SEC filings and investor presentations before and after the acquisition, 'only for the term to disappear from their lexicon' after the FTC sued (they then preferred 'expressive luxury'). On-slide source line dropped for space — cite: Judge Rochon opinion, S.D.N.Y. (Oct 24, 2024); Clifford Chance &amp; MoFo case notes. Teaching beat (chronological, per Nico 2026-08-20): the previous slide ends on 'market definition would turn out to be crucial'; here reveal the ladder, then the share cards, then the internal quote, and close with the court decision as the punchline.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from the candidate list (verified 2026-08-20). Judge Adrienne Nelson (D. Or.) granted the FTC's preliminary injunction 10 Dec 2024 after a three-week hearing; a Washington state court blocked the deal under state law the same day. The proposed divestiture of 579 stores to C&amp;S Wholesale was rejected as inadequate. Aftermath: Albertsons sued Kroger for the $600M termination fee (ongoing 2026). Teaching beat (chronological): this slide sets up the case and ends on 'market definition would turn out to be crucial'; the next slide resolves it.</a:t>
            </a:r>
          </a:p>
          <a:p>
            <a:r>
              <a:t>Photos: Wikimedia Commons (Kroger Marketplace, Athens GA; Albertsons, Dallas).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court also recognized a broader 'large-format store' market that DOES include club stores — the narrow supermarkets market is where the presumption of illegality arose. Open point: whether Walmart supercenters sat inside the narrow market is not pinned down — keep supercenters off the slide. Teaching beat (chronological): market diagram, then the Nelson quote, then the Dec 2024 gold decision bar as the final click. On-slide source line dropped for space — cite: D. Or. preliminary injunction (Dec 10, 2024); SMU post-mortem; Grocery Dive.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Timeline verified 2026-08-20: WBD–Netflix merger agreement 4 Dec 2025; DOJ civil investigative demands Feb 2026 ('may substantially lessen competition'); WBD board declared Paramount Skydance's ~$110.9B offer superior 26 Feb 2026 and Netflix withdrew; 12 state AGs (led by CA's Bonta) sued 13 Jul 2026 in N.D. Cal. — alleging harm in wide-release theatrical distribution (~27% combined), top-grossing theatrical (&gt;30%), and basic-cable licensing (~27%), not in streaming.</a:t>
            </a:r>
          </a:p>
          <a:p>
            <a:r>
              <a:t>Photo: Warner Bros. Studios water tower,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On-slide source line dropped for space — cite: Netflix investor deck (Dec 2025, Nielsen Oct 2025); ProMarket / Wolfram (Feb 2026). Bars: Nielsen 'Share of US TV Time by Distributor', Oct 2025, as published in Netflix's own investor deck (Dec 2025): YouTube 12.9, Disney 11.4, NBCU 8.6, Fox 8.4, Paramount 8.2, Netflix 8.0, WBD 5.6 (of which HBO/HBO Max 1.2) — Netflix + HBO Max = 9.2%. SVOD framing: Wolfram/ProMarket (5 Feb 2026): combined ~33% of SVOD, HHI 2,055, delta 829 — over the structural presumption. Build: bars first, Netflix framing box, then the red SVOD box as the punchline.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series pulled directly from the BLS public API on 2026-08-20 (series APU0000708111, Grade A large, US city average) — fully verified. Secondary flavor: &gt;150M birds culled by early Feb 2025; purchase limits at Trader Joe's (1 dozen), Sprouts (4), Costco (5 online); Waffle House surcharge Feb 4 – early Jul 2025. Optional dark twist for class: DOJ + 17 states' Jun 2026 civil settlement with Cal-Maine et al. over Urner Barry benchmark manipulation ($3.3M + 53M donated eggs, no admission) — separates scarcity pricing from manipulation.</a:t>
            </a:r>
          </a:p>
          <a:p>
            <a:r>
              <a:t>Sources:</a:t>
            </a:r>
          </a:p>
          <a:p>
            <a:r>
              <a:t>https://api.bls.gov/publicAPI/v1/timeseries/data/APU0000708111</a:t>
            </a:r>
          </a:p>
          <a:p>
            <a:r>
              <a:t>https://www.usda.gov/about-usda/news/press-releases/2025/03/20/usda-update-progress-five-pronged-strategy-combat-avian-flu-and-lower-egg-prices</a:t>
            </a:r>
          </a:p>
          <a:p>
            <a:r>
              <a:t>https://www.goodmorningamerica.com/food/story/trader-joes-costco-sprouts-limit-purchases-fresh-eggs-118654037</a:t>
            </a:r>
          </a:p>
          <a:p>
            <a:r>
              <a:t>https://www.cnn.com/2025/02/04/food/waffle-house-egg-surcharge/index.html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slide (chronology-first): builds the situation and ends on the wafer-allocation flag; the S/D analysis and the price outcome follow on the next two slides. Confirmed: SK Hynix's 'essentially sold out' statement is from its Oct 2025 earnings call, corroborated across independent outlets.</a:t>
            </a:r>
          </a:p>
          <a:p>
            <a:r>
              <a:t>Sources:</a:t>
            </a:r>
          </a:p>
          <a:p>
            <a:r>
              <a:t>https://www.networkworld.com/article/4113772/samsung-warns-of-memory-shortages-driving-industry-wide-price-surge-in-2026.html</a:t>
            </a:r>
          </a:p>
          <a:p>
            <a:r>
              <a:t>https://www.trendforce.com/presscenter/news/20260105-12860.html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Two-panel S/D schematic (values illustrative). Left: AI demand shifts right hard against a steep, near-fixed short-run supply — price does almost all the adjusting. Right: the SAME wafer capacity is reallocated toward high-margin HBM, so the consumer-DRAM supply curve shifts LEFT with demand unchanged — price up, quantity down. A demand shock in one market becomes a supply shock in the linked one. Teaching beat: left panel first (D→D'), then the gold reallocation arrow, then the right panel (S→S'), takeaway box last.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Resolution slide (final beat when animated). VERIFICATION: the direction and mechanism are corroborated across independent outlets, but the MAGNITUDES (the ~93–98% QoQ Q1-2026 contract-price move, the $149→$239 Samsung repricing, the 19%→23% HBM wafer share) are press-reported TrendForce figures surfaced via search, not primary-fetched — re-verify the TrendForce releases before this graduates into the main deck.</a:t>
            </a:r>
          </a:p>
          <a:p>
            <a:r>
              <a:t>Photos: NVIDIA H100 accelerators (where the wafers went) and SK Hynix DDR5 modules — Wikimedia Commons.</a:t>
            </a:r>
          </a:p>
          <a:p>
            <a:r>
              <a:t>Sources:</a:t>
            </a:r>
          </a:p>
          <a:p>
            <a:r>
              <a:t>https://www.trendforce.com/presscenter/news/20260601-13070.html</a:t>
            </a:r>
          </a:p>
          <a:p>
            <a:r>
              <a:t>https://www.trendforce.com/presscenter/news/20260105-12860.html</a:t>
            </a:r>
          </a:p>
          <a:p>
            <a:r>
              <a:t>https://www.networkworld.com/article/4113772/samsung-warns-of-memory-shortages-driving-industry-wide-price-surge-in-2026.html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Altman's Uncapped-podcast statement (17 Jun 2025) and Bosworth's all-hands pushback (via The Verge/TechCrunch); researcher Lucas Beyer publicly denied receiving $100M sign-on. Reported only: the ~$250M/4-year package (~$100M year one) for Matt Deitke, NYT-attributed via relays; Meta total outlay &gt;$1B on ~50 hires. Do not put the $250M on a main-deck slide without reading the NYT piece.</a:t>
            </a:r>
          </a:p>
          <a:p>
            <a:r>
              <a:t>Sources:</a:t>
            </a:r>
          </a:p>
          <a:p>
            <a:r>
              <a:t>https://www.bloomberg.com/news/articles/2025-06-17/altman-says-meta-offered-openai-staffers-100-million-bonuses</a:t>
            </a:r>
          </a:p>
          <a:p>
            <a:r>
              <a:t>https://www.cnbc.com/2025/06/18/sam-altman-says-meta-tried-to-poach-openai-staff-with-100-million-bonuses-mark-zuckerberg.html</a:t>
            </a:r>
          </a:p>
          <a:p>
            <a:r>
              <a:t>https://techcrunch.com/2025/06/27/meta-is-offering-multimillion-dollar-pay-for-ai-researchers-but-not-100m-signing-bonuses/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Peer-reviewed anchors: Aksoy, Barrero, Bloom, Davis, Dolls &amp; Zarate, AEA Papers &amp; Proceedings 113 (2023): WFH saves 72 min/day, ~40% reinvested in work, ~11% caregiving. Barrero-Bloom-Davis JEP 2023: full WFH days = 28% of paid US workdays mid-2023. The 14%-turnover result (Ding et al., SSRN 5031481) is an unpublished working paper — present as suggestive. Avoid vendor-survey dollar figures ('$8,158 invisible pay cut').</a:t>
            </a:r>
          </a:p>
          <a:p>
            <a:r>
              <a:t>Sources:</a:t>
            </a:r>
          </a:p>
          <a:p>
            <a:r>
              <a:t>https://www.aeaweb.org/articles?id=10.1257/pandp.20231013</a:t>
            </a:r>
          </a:p>
          <a:p>
            <a:r>
              <a:t>https://www.aeaweb.org/articles?id=10.1257/jep.37.4.23</a:t>
            </a:r>
          </a:p>
          <a:p>
            <a:r>
              <a:t>https://www.aboutamazon.com/news/company-news/ceo-andy-jassy-latest-update-on-amazon-return-to-office-manager-team-ratio</a:t>
            </a:r>
          </a:p>
          <a:p>
            <a:r>
              <a:t>https://papers.ssrn.com/sol3/papers.cfm?abstract_id=5031481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from GM's Q4 2024 8-K: $0.5B Q4 charges (Cruise net $522M incl. $173M non-cash), $1.7B spent on Cruise in 2024, ~$1B expected annual run-rate savings. Reported (not filed): the cumulative $10B+ figures for both Apple and GM; Apple has never disclosed Project Titan spend — say 'reported at more than $10 billion'. Apple staff largely redirected to the generative-AI organization; ~1,000 Cruise layoffs Feb 2025, tech folded into Super Cruise. Honest complication: the Oct 2023 Cruise pedestrian incident changed the FORWARD probability of scaling — new information, not sunk cost, moved GM.</a:t>
            </a:r>
          </a:p>
          <a:p>
            <a:r>
              <a:t>Sources:</a:t>
            </a:r>
          </a:p>
          <a:p>
            <a:r>
              <a:t>https://www.sec.gov/Archives/edgar/data/1467858/000146785825000030/gmq42024pressreleaseandfin.htm</a:t>
            </a:r>
          </a:p>
          <a:p>
            <a:r>
              <a:t>https://www.cnbc.com/2024/12/10/gm-halts-funding-of-robotaxi-development-by-cruise.html</a:t>
            </a:r>
          </a:p>
          <a:p>
            <a:r>
              <a:t>https://www.macrumors.com/2024/02/28/apple-car-10-billion-spent/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from filings/tier-1: FY2025 loss $19.19B on $2.21B revenue; FY2024 $17.73B; Q4-2025 $6.02B. Cumulative 2020–25 sums to ~$83.6B from disclosed segment losses (2020 $6.62B, 2021 $10.19B, 2022 $13.71B, 2023 $16.12B) — say 'roughly $80–84B'. Reported: ~1,500 layoffs (~10%) Jan 2026; Horizon Worlds to mobile 20 Feb 2026; 'up to 30%' metaverse budget cut is press-reported only.</a:t>
            </a:r>
          </a:p>
          <a:p>
            <a:r>
              <a:t>Sources:</a:t>
            </a:r>
          </a:p>
          <a:p>
            <a:r>
              <a:t>https://www.sec.gov/Archives/edgar/data/1326801/000162828026003832/meta-12312025xexhibit991.htm</a:t>
            </a:r>
          </a:p>
          <a:p>
            <a:r>
              <a:t>https://www.cnbc.com/2026/01/28/metas-reality-labs-posts-6point02-billion-loss-in-fourth-quarter.html</a:t>
            </a:r>
          </a:p>
          <a:p>
            <a:r>
              <a:t>https://techcrunch.com/2026/02/20/meta-metaverse-leaves-vr-horizon-worlds-mobile/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2026-08-20 from coverage of the 20 Mar 2026 memo: ~5% capacity cut; United modeling oil to $175/bbl and &gt;$100 through 2027 (≈$11B added annual fuel cost — 'more than twice the profit it earned in its best year ever'). Delta (Apr 2026, EVP Joe Esposito) targeted off-peak/edge-of-day/red-eyes. Short run vs. long run stated by the CEO himself.</a:t>
            </a:r>
          </a:p>
          <a:p>
            <a:r>
              <a:t>Photo: United 787-8,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Schematic (values illustrative): flights ranked by marginal revenue give a downward MR line; fuel is the textbook marginal cost, so a fuel-price doubling shifts MC up and the crossing left. The flights between Q0* and Q1* — the red-eyes and off-peak departures 15–20% below average revenue — are exactly the ones cancelled. Lands right after the exercise-hours and continuous MB=MC slides (57–59).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from CA AG / Governor's office: §396 activated 7 Jan 2025; 10% cap; penalties up to 1 year jail / $10,000 + $2,500 civil per violation; 200+ warning letters by 18 Jan, 650+ by 28 Jan (second realtor charged, Glendale listing &gt;50% above list), 750+ by Jun 2025; protections extended to 1 Jul 2025. Reported (advocacy scrape, not official): Rent Brigade Zillow analysis — 15% of updated listings (1,343) above cap, studios +57%, 2BRs +80%, only 9% corrected. OPEN: whether a housing-specific cap is still active in LA County as of Aug 2026 (the Jan 2026 EO covers building materials/reconstruction).</a:t>
            </a:r>
          </a:p>
          <a:p>
            <a:r>
              <a:t>Sources:</a:t>
            </a:r>
          </a:p>
          <a:p>
            <a:r>
              <a:t>https://www.oag.ca.gov/news/press-releases/attorney-general-bonta-rental-bidding-wars-during-la-wildfires-prohibited-under</a:t>
            </a:r>
          </a:p>
          <a:p>
            <a:r>
              <a:t>https://www.oag.ca.gov/news/press-releases/attorney-general-bonta-charges-second-los-angeles-realtor-price-gouging-victims</a:t>
            </a:r>
          </a:p>
          <a:p>
            <a:r>
              <a:t>https://nlihc.org/resource/report-finds-emergency-declaration-los-angeles-wildfires-was-followed-rent-gouging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28800"/>
            <a:ext cx="10545775" cy="1005840"/>
          </a:xfrm>
          <a:prstGeom prst="rect">
            <a:avLst/>
          </a:prstGeom>
          <a:noFill/>
        </p:spPr>
        <p:txBody>
          <a:bodyPr wrap="square" lIns="0" rIns="0" tIns="0" bIns="0">
            <a:spAutoFit/>
          </a:bodyPr>
          <a:lstStyle/>
          <a:p>
            <a:pPr algn="ctr"/>
            <a:r>
              <a:rPr sz="5400" b="1" i="0" u="none">
                <a:solidFill>
                  <a:srgbClr val="0B2B4E"/>
                </a:solidFill>
                <a:latin typeface="Calibri"/>
              </a:rPr>
              <a:t>Example Candidates</a:t>
            </a:r>
          </a:p>
        </p:txBody>
      </p:sp>
      <p:sp>
        <p:nvSpPr>
          <p:cNvPr id="3" name="TextBox 2"/>
          <p:cNvSpPr txBox="1"/>
          <p:nvPr/>
        </p:nvSpPr>
        <p:spPr>
          <a:xfrm>
            <a:off x="0" y="3063240"/>
            <a:ext cx="12191695" cy="640080"/>
          </a:xfrm>
          <a:prstGeom prst="rect">
            <a:avLst/>
          </a:prstGeom>
          <a:noFill/>
        </p:spPr>
        <p:txBody>
          <a:bodyPr wrap="square" lIns="0" rIns="0" tIns="0" bIns="0">
            <a:spAutoFit/>
          </a:bodyPr>
          <a:lstStyle/>
          <a:p>
            <a:pPr algn="ctr"/>
            <a:r>
              <a:rPr sz="2800" b="1" i="0" u="none">
                <a:solidFill>
                  <a:srgbClr val="E09F3E"/>
                </a:solidFill>
                <a:latin typeface="Calibri"/>
              </a:rPr>
              <a:t>Module 1 · recent real-world examples for review</a:t>
            </a:r>
          </a:p>
        </p:txBody>
      </p:sp>
      <p:sp>
        <p:nvSpPr>
          <p:cNvPr id="4" name="Rectangle 3"/>
          <p:cNvSpPr/>
          <p:nvPr/>
        </p:nvSpPr>
        <p:spPr>
          <a:xfrm>
            <a:off x="4267047" y="3977639"/>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4343400"/>
            <a:ext cx="9082735" cy="1371600"/>
          </a:xfrm>
          <a:prstGeom prst="rect">
            <a:avLst/>
          </a:prstGeom>
          <a:noFill/>
        </p:spPr>
        <p:txBody>
          <a:bodyPr wrap="square" lIns="0" rIns="0" tIns="0" bIns="0">
            <a:spAutoFit/>
          </a:bodyPr>
          <a:lstStyle/>
          <a:p>
            <a:pPr algn="ctr"/>
            <a:r>
              <a:rPr sz="1600" b="0" i="1" u="none">
                <a:solidFill>
                  <a:srgbClr val="555B66"/>
                </a:solidFill>
                <a:latin typeface="Calibri"/>
              </a:rPr>
              <a:t>One slide per candidate. Facts verified against the sources listed on each slide (retrieved 2026-08-20). Adopted candidates get the full visual treatment (images, native charts) when ported into the main deck.</a:t>
            </a:r>
          </a:p>
        </p:txBody>
      </p:sp>
      <p:sp>
        <p:nvSpPr>
          <p:cNvPr id="6" name="Rectangle 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Market Definition Mini-Case: Tapestry–Capri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7315200" cy="4846320"/>
          </a:xfrm>
          <a:prstGeom prst="rect">
            <a:avLst/>
          </a:prstGeom>
          <a:noFill/>
        </p:spPr>
        <p:txBody>
          <a:bodyPr wrap="square" lIns="0" rIns="0" t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800"/>
              </a:spcBef>
              <a:buClr>
                <a:srgbClr val="555B66"/>
              </a:buClr>
              <a:buFont typeface="Calibri"/>
              <a:buChar char="–"/>
              <a:defRPr sz="2200" b="0">
                <a:solidFill>
                  <a:srgbClr val="555B66"/>
                </a:solidFill>
                <a:latin typeface="Calibri"/>
              </a:defRPr>
            </a:lvl2pPr>
          </a:lstStyle>
          <a:p>
            <a:pPr algn="l"/>
            <a:r>
              <a:rPr>
                <a:latin typeface="Calibri"/>
              </a:rPr>
              <a:t>Aug 2023: Tapestry (Coach, Kate Spade) agrees to buy Capri (Michael Kors, Versace) for $8.5B</a:t>
            </a:r>
          </a:p>
          <a:p>
            <a:pPr algn="l"/>
            <a:r>
              <a:rPr b="1">
                <a:latin typeface="Calibri"/>
              </a:rPr>
              <a:t>The definition of the market</a:t>
            </a:r>
            <a:r>
              <a:rPr>
                <a:latin typeface="Calibri"/>
              </a:rPr>
              <a:t> would turn out to be crucial for the case:</a:t>
            </a:r>
          </a:p>
          <a:p>
            <a:pPr algn="l" lvl="1"/>
            <a:r>
              <a:rPr>
                <a:latin typeface="Calibri"/>
              </a:rPr>
              <a:t>FTC: the market is </a:t>
            </a:r>
            <a:r>
              <a:rPr>
                <a:solidFill>
                  <a:srgbClr val="C00000"/>
                </a:solidFill>
                <a:latin typeface="Calibri"/>
              </a:rPr>
              <a:t>“accessible luxury” handbags</a:t>
            </a:r>
            <a:r>
              <a:rPr>
                <a:latin typeface="Calibri"/>
              </a:rPr>
              <a:t> — roughly $100 to under $1,000</a:t>
            </a:r>
          </a:p>
          <a:p>
            <a:pPr algn="l" lvl="1"/>
            <a:r>
              <a:rPr>
                <a:latin typeface="Calibri"/>
              </a:rPr>
              <a:t>The firms: the market is </a:t>
            </a:r>
            <a:r>
              <a:rPr>
                <a:solidFill>
                  <a:srgbClr val="C00000"/>
                </a:solidFill>
                <a:latin typeface="Calibri"/>
              </a:rPr>
              <a:t>all handbags</a:t>
            </a:r>
            <a:r>
              <a:rPr>
                <a:latin typeface="Calibri"/>
              </a:rPr>
              <a:t> — from fast fashion to Hermès — and entry is easy</a:t>
            </a:r>
          </a:p>
        </p:txBody>
      </p:sp>
      <p:pic>
        <p:nvPicPr>
          <p:cNvPr id="8" name="Picture 7" descr="web_coach.jpg"/>
          <p:cNvPicPr>
            <a:picLocks noChangeAspect="1"/>
          </p:cNvPicPr>
          <p:nvPr/>
        </p:nvPicPr>
        <p:blipFill>
          <a:blip r:embed="rId2"/>
          <a:stretch>
            <a:fillRect/>
          </a:stretch>
        </p:blipFill>
        <p:spPr>
          <a:xfrm>
            <a:off x="7818120" y="1554480"/>
            <a:ext cx="3355848" cy="2237232"/>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michaelkors.jpg"/>
          <p:cNvPicPr>
            <a:picLocks noChangeAspect="1"/>
          </p:cNvPicPr>
          <p:nvPr/>
        </p:nvPicPr>
        <p:blipFill>
          <a:blip r:embed="rId3"/>
          <a:stretch>
            <a:fillRect/>
          </a:stretch>
        </p:blipFill>
        <p:spPr>
          <a:xfrm>
            <a:off x="8001000" y="3931920"/>
            <a:ext cx="2990088" cy="224256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818120" y="6217920"/>
            <a:ext cx="3355848" cy="256032"/>
          </a:xfrm>
          <a:prstGeom prst="rect">
            <a:avLst/>
          </a:prstGeom>
          <a:noFill/>
        </p:spPr>
        <p:txBody>
          <a:bodyPr wrap="square" lIns="0" rIns="0" tIns="0" bIns="0">
            <a:spAutoFit/>
          </a:bodyPr>
          <a:lstStyle/>
          <a:p>
            <a:pPr algn="ctr"/>
            <a:r>
              <a:rPr sz="1100" b="0" i="1" u="none">
                <a:solidFill>
                  <a:srgbClr val="555B66"/>
                </a:solidFill>
                <a:latin typeface="Calibri"/>
              </a:rPr>
              <a:t>Photos: Wikimedia Commons</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92B64BE3-EAA0-5B55-B44E-8B588CEF81A4}" type="slidenum">
              <a:rPr lang="en-US" sz="1200" dirty="0">
                <a:solidFill>
                  <a:srgbClr val="555B66"/>
                </a:solidFill>
                <a:latin typeface="Calibri"/>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Firms' Own Documents Drew the Market Boundary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417320"/>
            <a:ext cx="3246120" cy="11887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Mass market
under $100</a:t>
            </a:r>
          </a:p>
        </p:txBody>
      </p:sp>
      <p:sp>
        <p:nvSpPr>
          <p:cNvPr id="8" name="Rounded Rectangle 7"/>
          <p:cNvSpPr/>
          <p:nvPr/>
        </p:nvSpPr>
        <p:spPr>
          <a:xfrm>
            <a:off x="4160520" y="1417320"/>
            <a:ext cx="3886200" cy="1188720"/>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“Accessible luxury”
$100 – under $1,000
Coach · Kate Spade · Michael Kors</a:t>
            </a:r>
          </a:p>
        </p:txBody>
      </p:sp>
      <p:sp>
        <p:nvSpPr>
          <p:cNvPr id="9" name="Rounded Rectangle 8"/>
          <p:cNvSpPr/>
          <p:nvPr/>
        </p:nvSpPr>
        <p:spPr>
          <a:xfrm>
            <a:off x="8275320" y="1417320"/>
            <a:ext cx="3246120" cy="11887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True luxury
$1,000+ · LV · Hermès · Chanel</a:t>
            </a:r>
          </a:p>
        </p:txBody>
      </p:sp>
      <p:sp>
        <p:nvSpPr>
          <p:cNvPr id="10" name="TextBox 9"/>
          <p:cNvSpPr txBox="1"/>
          <p:nvPr/>
        </p:nvSpPr>
        <p:spPr>
          <a:xfrm>
            <a:off x="251999" y="2679192"/>
            <a:ext cx="11687697" cy="292608"/>
          </a:xfrm>
          <a:prstGeom prst="rect">
            <a:avLst/>
          </a:prstGeom>
          <a:noFill/>
        </p:spPr>
        <p:txBody>
          <a:bodyPr wrap="square" lIns="0" rIns="0" tIns="0" bIns="0">
            <a:spAutoFit/>
          </a:bodyPr>
          <a:lstStyle/>
          <a:p>
            <a:pPr algn="ctr"/>
            <a:r>
              <a:rPr sz="1800" b="1" i="1" u="none">
                <a:solidFill>
                  <a:srgbClr val="E09F3E"/>
                </a:solidFill>
                <a:latin typeface="Calibri"/>
              </a:rPr>
              <a:t>the FTC's market — the firms' own term in SEC filings and investor decks, until the FTC sued</a:t>
            </a:r>
          </a:p>
        </p:txBody>
      </p:sp>
      <p:sp>
        <p:nvSpPr>
          <p:cNvPr id="11" name="TextBox 10"/>
          <p:cNvSpPr txBox="1"/>
          <p:nvPr/>
        </p:nvSpPr>
        <p:spPr>
          <a:xfrm>
            <a:off x="251999" y="3035808"/>
            <a:ext cx="11687697" cy="320040"/>
          </a:xfrm>
          <a:prstGeom prst="rect">
            <a:avLst/>
          </a:prstGeom>
          <a:noFill/>
        </p:spPr>
        <p:txBody>
          <a:bodyPr wrap="square" lIns="0" rIns="0" tIns="0" bIns="0">
            <a:spAutoFit/>
          </a:bodyPr>
          <a:lstStyle/>
          <a:p>
            <a:pPr algn="ctr"/>
            <a:r>
              <a:rPr sz="1800" b="1" i="0" u="none">
                <a:solidFill>
                  <a:srgbClr val="0B2B4E"/>
                </a:solidFill>
                <a:latin typeface="Calibri"/>
              </a:rPr>
              <a:t>Combined Tapestry + Capri share of “accessible luxury” handbags:</a:t>
            </a:r>
          </a:p>
        </p:txBody>
      </p:sp>
      <p:sp>
        <p:nvSpPr>
          <p:cNvPr id="12" name="Rounded Rectangle 11"/>
          <p:cNvSpPr/>
          <p:nvPr/>
        </p:nvSpPr>
        <p:spPr>
          <a:xfrm>
            <a:off x="123444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3000" b="1">
                <a:solidFill>
                  <a:srgbClr val="0B2B4E"/>
                </a:solidFill>
                <a:latin typeface="Calibri"/>
              </a:rPr>
              <a:t>59%   </a:t>
            </a:r>
            <a:r>
              <a:rPr sz="1800">
                <a:solidFill>
                  <a:srgbClr val="555B66"/>
                </a:solidFill>
                <a:latin typeface="Calibri"/>
              </a:rPr>
              <a:t>FTC's expert (third-party data)</a:t>
            </a:r>
          </a:p>
        </p:txBody>
      </p:sp>
      <p:sp>
        <p:nvSpPr>
          <p:cNvPr id="13" name="Rounded Rectangle 12"/>
          <p:cNvSpPr/>
          <p:nvPr/>
        </p:nvSpPr>
        <p:spPr>
          <a:xfrm>
            <a:off x="457200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3000" b="1">
                <a:solidFill>
                  <a:srgbClr val="0B2B4E"/>
                </a:solidFill>
                <a:latin typeface="Calibri"/>
              </a:rPr>
              <a:t>77%   </a:t>
            </a:r>
            <a:r>
              <a:rPr sz="1800">
                <a:solidFill>
                  <a:srgbClr val="555B66"/>
                </a:solidFill>
                <a:latin typeface="Calibri"/>
              </a:rPr>
              <a:t>Capri's internal documents</a:t>
            </a:r>
          </a:p>
        </p:txBody>
      </p:sp>
      <p:sp>
        <p:nvSpPr>
          <p:cNvPr id="14" name="Rounded Rectangle 13"/>
          <p:cNvSpPr/>
          <p:nvPr/>
        </p:nvSpPr>
        <p:spPr>
          <a:xfrm>
            <a:off x="790956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3000" b="1">
                <a:solidFill>
                  <a:srgbClr val="0B2B4E"/>
                </a:solidFill>
                <a:latin typeface="Calibri"/>
              </a:rPr>
              <a:t>83%   </a:t>
            </a:r>
            <a:r>
              <a:rPr sz="1800">
                <a:solidFill>
                  <a:srgbClr val="555B66"/>
                </a:solidFill>
                <a:latin typeface="Calibri"/>
              </a:rPr>
              <a:t>Tapestry's internal data</a:t>
            </a:r>
          </a:p>
        </p:txBody>
      </p:sp>
      <p:sp>
        <p:nvSpPr>
          <p:cNvPr id="15" name="TextBox 14"/>
          <p:cNvSpPr txBox="1"/>
          <p:nvPr/>
        </p:nvSpPr>
        <p:spPr>
          <a:xfrm>
            <a:off x="251999" y="4498848"/>
            <a:ext cx="11687697" cy="274320"/>
          </a:xfrm>
          <a:prstGeom prst="rect">
            <a:avLst/>
          </a:prstGeom>
          <a:noFill/>
        </p:spPr>
        <p:txBody>
          <a:bodyPr wrap="square" lIns="0" rIns="0" tIns="0" bIns="0">
            <a:spAutoFit/>
          </a:bodyPr>
          <a:lstStyle/>
          <a:p>
            <a:pPr algn="ctr"/>
            <a:r>
              <a:rPr sz="1800" b="0" i="1" u="none">
                <a:solidFill>
                  <a:srgbClr val="555B66"/>
                </a:solidFill>
                <a:latin typeface="Calibri"/>
              </a:rPr>
              <a:t>(figures from documents the companies had to hand over in the merger review — not leaked)</a:t>
            </a:r>
          </a:p>
        </p:txBody>
      </p:sp>
      <p:sp>
        <p:nvSpPr>
          <p:cNvPr id="16" name="Rounded Rectangle 15"/>
          <p:cNvSpPr/>
          <p:nvPr/>
        </p:nvSpPr>
        <p:spPr>
          <a:xfrm>
            <a:off x="572039" y="4882896"/>
            <a:ext cx="11047617"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919" y="4992624"/>
            <a:ext cx="10681857" cy="694944"/>
          </a:xfrm>
          <a:prstGeom prst="rect">
            <a:avLst/>
          </a:prstGeom>
          <a:noFill/>
        </p:spPr>
        <p:txBody>
          <a:bodyPr wrap="square" lIns="45720" rIns="45720" tIns="0" bIns="0" anchor="ctr">
            <a:spAutoFit/>
          </a:bodyPr>
          <a:lstStyle/>
          <a:p>
            <a:pPr algn="l"/>
            <a:r>
              <a:rPr sz="1800" b="0" i="1" u="none">
                <a:solidFill>
                  <a:srgbClr val="0B2B4E"/>
                </a:solidFill>
                <a:latin typeface="Calibri"/>
              </a:rPr>
              <a:t>“Bottom line, saying we're in the same market with true luxury is a joke. … Nobody says ‘should I buy a LV bag or a Coach bag?’”</a:t>
            </a:r>
          </a:p>
          <a:p>
            <a:pPr algn="l"/>
            <a:r>
              <a:rPr sz="1600" b="1" i="0" u="none">
                <a:solidFill>
                  <a:srgbClr val="0B2B4E"/>
                </a:solidFill>
                <a:latin typeface="Calibri"/>
              </a:rPr>
              <a:t>   — internal Tapestry message cited by the court</a:t>
            </a:r>
          </a:p>
        </p:txBody>
      </p:sp>
      <p:sp>
        <p:nvSpPr>
          <p:cNvPr id="18" name="Rounded Rectangle 17"/>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Oct 2024: the court sides with the FTC and blocks the deal — merger abandoned Nov 2024</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2" name="TextBox 21"/>
          <p:cNvSpPr txBox="1"/>
          <p:nvPr/>
        </p:nvSpPr>
        <p:spPr>
          <a:xfrm>
            <a:off x="11475720" y="6583680"/>
            <a:ext cx="502920" cy="292608"/>
          </a:xfrm>
          <a:prstGeom prst="rect">
            <a:avLst/>
          </a:prstGeom>
          <a:noFill/>
        </p:spPr>
        <p:txBody>
          <a:bodyPr wrap="none" lIns="0" rIns="0" tIns="0" bIns="0">
            <a:spAutoFit/>
          </a:bodyPr>
          <a:lstStyle/>
          <a:p>
            <a:pPr algn="r"/>
            <a:fld id="{A45A4D84-7183-56C5-AAA9-0FBCD4EF9048}" type="slidenum">
              <a:rPr lang="en-US" sz="1200" dirty="0">
                <a:solidFill>
                  <a:srgbClr val="555B66"/>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Market Definition Mini-Case: Kroger–Albertsons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7223760" cy="4846320"/>
          </a:xfrm>
          <a:prstGeom prst="rect">
            <a:avLst/>
          </a:prstGeom>
          <a:noFill/>
        </p:spPr>
        <p:txBody>
          <a:bodyPr wrap="square" lIns="0" rIns="0" t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800"/>
              </a:spcBef>
              <a:buClr>
                <a:srgbClr val="555B66"/>
              </a:buClr>
              <a:buFont typeface="Calibri"/>
              <a:buChar char="–"/>
              <a:defRPr sz="2200" b="0">
                <a:solidFill>
                  <a:srgbClr val="555B66"/>
                </a:solidFill>
                <a:latin typeface="Calibri"/>
              </a:defRPr>
            </a:lvl2pPr>
          </a:lstStyle>
          <a:p>
            <a:pPr algn="l"/>
            <a:r>
              <a:rPr>
                <a:latin typeface="Calibri"/>
              </a:rPr>
              <a:t>Oct 2022: Kroger agrees to buy Albertsons for $24.6B — the largest US supermarket merger ever proposed</a:t>
            </a:r>
          </a:p>
          <a:p>
            <a:pPr algn="l"/>
            <a:r>
              <a:rPr>
                <a:latin typeface="Calibri"/>
              </a:rPr>
              <a:t>Once again, everything would hinge on </a:t>
            </a:r>
            <a:r>
              <a:rPr b="1">
                <a:latin typeface="Calibri"/>
              </a:rPr>
              <a:t>how you define the market</a:t>
            </a:r>
            <a:r>
              <a:rPr>
                <a:latin typeface="Calibri"/>
              </a:rPr>
              <a:t>:</a:t>
            </a:r>
          </a:p>
          <a:p>
            <a:pPr algn="l" lvl="1"/>
            <a:r>
              <a:rPr>
                <a:latin typeface="Calibri"/>
              </a:rPr>
              <a:t>The firms: we are small next to </a:t>
            </a:r>
            <a:r>
              <a:rPr>
                <a:solidFill>
                  <a:srgbClr val="C00000"/>
                </a:solidFill>
                <a:latin typeface="Calibri"/>
              </a:rPr>
              <a:t>Walmart, Amazon, Costco</a:t>
            </a:r>
          </a:p>
          <a:p>
            <a:pPr algn="l" lvl="1"/>
            <a:r>
              <a:rPr>
                <a:latin typeface="Calibri"/>
              </a:rPr>
              <a:t>FTC: the market is </a:t>
            </a:r>
            <a:r>
              <a:rPr>
                <a:solidFill>
                  <a:srgbClr val="C00000"/>
                </a:solidFill>
                <a:latin typeface="Calibri"/>
              </a:rPr>
              <a:t>“supermarkets”</a:t>
            </a:r>
            <a:r>
              <a:rPr>
                <a:latin typeface="Calibri"/>
              </a:rPr>
              <a:t> — assessed city by city, where #1 was buying #2</a:t>
            </a:r>
          </a:p>
        </p:txBody>
      </p:sp>
      <p:pic>
        <p:nvPicPr>
          <p:cNvPr id="8" name="Picture 7" descr="web_kroger.jpg"/>
          <p:cNvPicPr>
            <a:picLocks noChangeAspect="1"/>
          </p:cNvPicPr>
          <p:nvPr/>
        </p:nvPicPr>
        <p:blipFill>
          <a:blip r:embed="rId2"/>
          <a:stretch>
            <a:fillRect/>
          </a:stretch>
        </p:blipFill>
        <p:spPr>
          <a:xfrm>
            <a:off x="8001000" y="1554480"/>
            <a:ext cx="2990088" cy="2242566"/>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albertsons.jpg"/>
          <p:cNvPicPr>
            <a:picLocks noChangeAspect="1"/>
          </p:cNvPicPr>
          <p:nvPr/>
        </p:nvPicPr>
        <p:blipFill>
          <a:blip r:embed="rId3"/>
          <a:stretch>
            <a:fillRect/>
          </a:stretch>
        </p:blipFill>
        <p:spPr>
          <a:xfrm>
            <a:off x="7552944" y="3931920"/>
            <a:ext cx="3886200" cy="2220397"/>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552944" y="6217920"/>
            <a:ext cx="3886200" cy="256032"/>
          </a:xfrm>
          <a:prstGeom prst="rect">
            <a:avLst/>
          </a:prstGeom>
          <a:noFill/>
        </p:spPr>
        <p:txBody>
          <a:bodyPr wrap="square" lIns="0" rIns="0" tIns="0" bIns="0">
            <a:spAutoFit/>
          </a:bodyPr>
          <a:lstStyle/>
          <a:p>
            <a:pPr algn="ctr"/>
            <a:r>
              <a:rPr sz="1100" b="0" i="1" u="none">
                <a:solidFill>
                  <a:srgbClr val="555B66"/>
                </a:solidFill>
                <a:latin typeface="Calibri"/>
              </a:rPr>
              <a:t>Photos: Wikimedia Commons</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15B941D9-D594-59B7-AD0C-322EB1EE6C39}" type="slidenum">
              <a:rPr lang="en-US" sz="1200" dirty="0">
                <a:solidFill>
                  <a:srgbClr val="555B66"/>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Is a “Costco Run” a Substitute for Everyday Shopping?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481328"/>
            <a:ext cx="6309360" cy="86868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THE MARKET:  “supermarkets” — Kroger · Albertsons · Safeway …</a:t>
            </a:r>
          </a:p>
        </p:txBody>
      </p:sp>
      <p:sp>
        <p:nvSpPr>
          <p:cNvPr id="8" name="TextBox 7"/>
          <p:cNvSpPr txBox="1"/>
          <p:nvPr/>
        </p:nvSpPr>
        <p:spPr>
          <a:xfrm>
            <a:off x="685800" y="2523744"/>
            <a:ext cx="6309360" cy="310896"/>
          </a:xfrm>
          <a:prstGeom prst="rect">
            <a:avLst/>
          </a:prstGeom>
          <a:noFill/>
        </p:spPr>
        <p:txBody>
          <a:bodyPr wrap="square" lIns="0" rIns="0" tIns="0" bIns="0">
            <a:spAutoFit/>
          </a:bodyPr>
          <a:lstStyle/>
          <a:p>
            <a:pPr algn="l"/>
            <a:r>
              <a:rPr sz="1800" b="1" i="0" u="none">
                <a:solidFill>
                  <a:srgbClr val="555B66"/>
                </a:solidFill>
                <a:latin typeface="Calibri"/>
              </a:rPr>
              <a:t>Outside the market:</a:t>
            </a:r>
          </a:p>
        </p:txBody>
      </p:sp>
      <p:sp>
        <p:nvSpPr>
          <p:cNvPr id="9" name="Rounded Rectangle 8"/>
          <p:cNvSpPr/>
          <p:nvPr/>
        </p:nvSpPr>
        <p:spPr>
          <a:xfrm>
            <a:off x="685800" y="2907792"/>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Club stores — Costco, Sam's Club</a:t>
            </a:r>
          </a:p>
        </p:txBody>
      </p:sp>
      <p:sp>
        <p:nvSpPr>
          <p:cNvPr id="10" name="Rounded Rectangle 9"/>
          <p:cNvSpPr/>
          <p:nvPr/>
        </p:nvSpPr>
        <p:spPr>
          <a:xfrm>
            <a:off x="3931920" y="2907792"/>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Limited assortment — Aldi, Trader Joe's</a:t>
            </a:r>
          </a:p>
        </p:txBody>
      </p:sp>
      <p:sp>
        <p:nvSpPr>
          <p:cNvPr id="11" name="Rounded Rectangle 10"/>
          <p:cNvSpPr/>
          <p:nvPr/>
        </p:nvSpPr>
        <p:spPr>
          <a:xfrm>
            <a:off x="685800" y="3749040"/>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Dollar &amp; convenience stores</a:t>
            </a:r>
          </a:p>
        </p:txBody>
      </p:sp>
      <p:sp>
        <p:nvSpPr>
          <p:cNvPr id="12" name="Rounded Rectangle 11"/>
          <p:cNvSpPr/>
          <p:nvPr/>
        </p:nvSpPr>
        <p:spPr>
          <a:xfrm>
            <a:off x="3931920" y="3749040"/>
            <a:ext cx="3063240" cy="713232"/>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Online-only sellers</a:t>
            </a:r>
          </a:p>
        </p:txBody>
      </p:sp>
      <p:pic>
        <p:nvPicPr>
          <p:cNvPr id="13" name="Picture 12" descr="web_costco.jpg"/>
          <p:cNvPicPr>
            <a:picLocks noChangeAspect="1"/>
          </p:cNvPicPr>
          <p:nvPr/>
        </p:nvPicPr>
        <p:blipFill>
          <a:blip r:embed="rId2"/>
          <a:stretch>
            <a:fillRect/>
          </a:stretch>
        </p:blipFill>
        <p:spPr>
          <a:xfrm>
            <a:off x="7360920" y="1691640"/>
            <a:ext cx="4160520" cy="2344626"/>
          </a:xfrm>
          <a:prstGeom prst="roundRect">
            <a:avLst>
              <a:gd name="adj" fmla="val 8000"/>
            </a:avLst>
          </a:prstGeom>
          <a:effectLst>
            <a:outerShdw blurRad="50800" dist="38100" dir="2700000" algn="tl" rotWithShape="0">
              <a:srgbClr val="000000">
                <a:alpha val="50000"/>
              </a:srgbClr>
            </a:outerShdw>
          </a:effectLst>
        </p:spPr>
      </p:pic>
      <p:sp>
        <p:nvSpPr>
          <p:cNvPr id="14" name="TextBox 13"/>
          <p:cNvSpPr txBox="1"/>
          <p:nvPr/>
        </p:nvSpPr>
        <p:spPr>
          <a:xfrm>
            <a:off x="7360920" y="4114800"/>
            <a:ext cx="416052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sp>
        <p:nvSpPr>
          <p:cNvPr id="15" name="Rounded Rectangle 14"/>
          <p:cNvSpPr/>
          <p:nvPr/>
        </p:nvSpPr>
        <p:spPr>
          <a:xfrm>
            <a:off x="572039" y="4709160"/>
            <a:ext cx="11047617" cy="105156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919" y="4818888"/>
            <a:ext cx="10681857" cy="832104"/>
          </a:xfrm>
          <a:prstGeom prst="rect">
            <a:avLst/>
          </a:prstGeom>
          <a:noFill/>
        </p:spPr>
        <p:txBody>
          <a:bodyPr wrap="square" lIns="45720" rIns="45720" tIns="0" bIns="0" anchor="ctr">
            <a:spAutoFit/>
          </a:bodyPr>
          <a:lstStyle/>
          <a:p>
            <a:pPr algn="l"/>
            <a:r>
              <a:rPr sz="1800" b="0" i="1" u="none">
                <a:solidFill>
                  <a:srgbClr val="0B2B4E"/>
                </a:solidFill>
                <a:latin typeface="Calibri"/>
              </a:rPr>
              <a:t>“A monthly trip to Costco to stock up … does not make a ‘Costco run’ a reasonable substitute for a weekly one-stop visit to a supermarket.”</a:t>
            </a:r>
          </a:p>
          <a:p>
            <a:pPr algn="l"/>
            <a:r>
              <a:rPr sz="1600" b="1" i="0" u="none">
                <a:solidFill>
                  <a:srgbClr val="0B2B4E"/>
                </a:solidFill>
                <a:latin typeface="Calibri"/>
              </a:rPr>
              <a:t>   — Judge Adrienne Nelson, D. Or. (Dec 2024)</a:t>
            </a:r>
          </a:p>
        </p:txBody>
      </p:sp>
      <p:sp>
        <p:nvSpPr>
          <p:cNvPr id="17" name="Rounded Rectangle 16"/>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Dec 2024: federal and state courts block the deal — some substitution is not enough substitution</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1" name="TextBox 20"/>
          <p:cNvSpPr txBox="1"/>
          <p:nvPr/>
        </p:nvSpPr>
        <p:spPr>
          <a:xfrm>
            <a:off x="11475720" y="6583680"/>
            <a:ext cx="502920" cy="292608"/>
          </a:xfrm>
          <a:prstGeom prst="rect">
            <a:avLst/>
          </a:prstGeom>
          <a:noFill/>
        </p:spPr>
        <p:txBody>
          <a:bodyPr wrap="none" lIns="0" rIns="0" tIns="0" bIns="0">
            <a:spAutoFit/>
          </a:bodyPr>
          <a:lstStyle/>
          <a:p>
            <a:pPr algn="r"/>
            <a:fld id="{93248381-6920-52FA-A239-9A7875F0D053}" type="slidenum">
              <a:rPr lang="en-US" sz="1200" dirty="0">
                <a:solidFill>
                  <a:srgbClr val="555B66"/>
                </a:solidFill>
                <a:latin typeface="Calibri"/>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Mini-Case: Netflix Bids for Warner Bros (2025–26)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53312"/>
            <a:ext cx="11687697" cy="548640"/>
          </a:xfrm>
          <a:prstGeom prst="rect">
            <a:avLst/>
          </a:prstGeom>
          <a:noFill/>
        </p:spPr>
        <p:txBody>
          <a:bodyPr wrap="square" lIns="0" rIns="0" tIns="0" bIns="0" anchor="t">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Every side defined the market to fit its answer — Netflix, the DOJ, and 12 state AGs</a:t>
            </a:r>
          </a:p>
        </p:txBody>
      </p:sp>
      <p:pic>
        <p:nvPicPr>
          <p:cNvPr id="8" name="Picture 7" descr="ic_s20_rId2.png"/>
          <p:cNvPicPr>
            <a:picLocks noChangeAspect="1"/>
          </p:cNvPicPr>
          <p:nvPr/>
        </p:nvPicPr>
        <p:blipFill>
          <a:blip r:embed="rId2"/>
          <a:stretch>
            <a:fillRect/>
          </a:stretch>
        </p:blipFill>
        <p:spPr>
          <a:xfrm>
            <a:off x="2148840" y="2011680"/>
            <a:ext cx="3383280" cy="2338444"/>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wb.jpg"/>
          <p:cNvPicPr>
            <a:picLocks noChangeAspect="1"/>
          </p:cNvPicPr>
          <p:nvPr/>
        </p:nvPicPr>
        <p:blipFill>
          <a:blip r:embed="rId3"/>
          <a:stretch>
            <a:fillRect/>
          </a:stretch>
        </p:blipFill>
        <p:spPr>
          <a:xfrm>
            <a:off x="6720840" y="2011680"/>
            <a:ext cx="3474720" cy="2316480"/>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6720840" y="4370832"/>
            <a:ext cx="347472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cxnSp>
        <p:nvCxnSpPr>
          <p:cNvPr id="11" name="Connector 10"/>
          <p:cNvCxnSpPr/>
          <p:nvPr/>
        </p:nvCxnSpPr>
        <p:spPr>
          <a:xfrm>
            <a:off x="822960" y="5166360"/>
            <a:ext cx="10698480" cy="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630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Dec 2025</a:t>
            </a:r>
          </a:p>
        </p:txBody>
      </p:sp>
      <p:sp>
        <p:nvSpPr>
          <p:cNvPr id="14" name="TextBox 13"/>
          <p:cNvSpPr txBox="1"/>
          <p:nvPr/>
        </p:nvSpPr>
        <p:spPr>
          <a:xfrm>
            <a:off x="2286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Netflix agrees to buy WB studios + HBO Max (~$83B reported)</a:t>
            </a:r>
          </a:p>
        </p:txBody>
      </p:sp>
      <p:sp>
        <p:nvSpPr>
          <p:cNvPr id="15" name="Oval 14"/>
          <p:cNvSpPr/>
          <p:nvPr/>
        </p:nvSpPr>
        <p:spPr>
          <a:xfrm>
            <a:off x="42062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Feb 2026</a:t>
            </a:r>
          </a:p>
        </p:txBody>
      </p:sp>
      <p:sp>
        <p:nvSpPr>
          <p:cNvPr id="17" name="TextBox 16"/>
          <p:cNvSpPr txBox="1"/>
          <p:nvPr/>
        </p:nvSpPr>
        <p:spPr>
          <a:xfrm>
            <a:off x="29718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DOJ opens an antitrust probe</a:t>
            </a:r>
          </a:p>
        </p:txBody>
      </p:sp>
      <p:sp>
        <p:nvSpPr>
          <p:cNvPr id="18" name="Oval 17"/>
          <p:cNvSpPr/>
          <p:nvPr/>
        </p:nvSpPr>
        <p:spPr>
          <a:xfrm>
            <a:off x="69494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Feb 26, 2026</a:t>
            </a:r>
          </a:p>
        </p:txBody>
      </p:sp>
      <p:sp>
        <p:nvSpPr>
          <p:cNvPr id="20" name="TextBox 19"/>
          <p:cNvSpPr txBox="1"/>
          <p:nvPr/>
        </p:nvSpPr>
        <p:spPr>
          <a:xfrm>
            <a:off x="57150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Paramount outbids (~$110.9B); Netflix withdraws</a:t>
            </a:r>
          </a:p>
        </p:txBody>
      </p:sp>
      <p:sp>
        <p:nvSpPr>
          <p:cNvPr id="21" name="Oval 20"/>
          <p:cNvSpPr/>
          <p:nvPr/>
        </p:nvSpPr>
        <p:spPr>
          <a:xfrm>
            <a:off x="9692640" y="5074920"/>
            <a:ext cx="182880" cy="18288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4690872"/>
            <a:ext cx="2560320" cy="310896"/>
          </a:xfrm>
          <a:prstGeom prst="rect">
            <a:avLst/>
          </a:prstGeom>
          <a:noFill/>
        </p:spPr>
        <p:txBody>
          <a:bodyPr wrap="square" lIns="0" rIns="0" tIns="0" bIns="0">
            <a:spAutoFit/>
          </a:bodyPr>
          <a:lstStyle/>
          <a:p>
            <a:pPr algn="ctr"/>
            <a:r>
              <a:rPr sz="1800" b="1" i="0" u="none">
                <a:solidFill>
                  <a:srgbClr val="0B2B4E"/>
                </a:solidFill>
                <a:latin typeface="Calibri"/>
              </a:rPr>
              <a:t>Jul 2026</a:t>
            </a:r>
          </a:p>
        </p:txBody>
      </p:sp>
      <p:sp>
        <p:nvSpPr>
          <p:cNvPr id="23" name="TextBox 22"/>
          <p:cNvSpPr txBox="1"/>
          <p:nvPr/>
        </p:nvSpPr>
        <p:spPr>
          <a:xfrm>
            <a:off x="8458200" y="5330952"/>
            <a:ext cx="2651760" cy="1051560"/>
          </a:xfrm>
          <a:prstGeom prst="rect">
            <a:avLst/>
          </a:prstGeom>
          <a:noFill/>
        </p:spPr>
        <p:txBody>
          <a:bodyPr wrap="square" lIns="0" rIns="0" tIns="0" bIns="0">
            <a:spAutoFit/>
          </a:bodyPr>
          <a:lstStyle/>
          <a:p>
            <a:pPr algn="ctr"/>
            <a:r>
              <a:rPr sz="1600" b="0" i="0" u="none">
                <a:solidFill>
                  <a:srgbClr val="555B66"/>
                </a:solidFill>
                <a:latin typeface="Calibri"/>
              </a:rPr>
              <a:t>12 state AGs sue Paramount–WBD — over theatrical film + cable markets</a:t>
            </a:r>
          </a:p>
        </p:txBody>
      </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7" name="TextBox 26"/>
          <p:cNvSpPr txBox="1"/>
          <p:nvPr/>
        </p:nvSpPr>
        <p:spPr>
          <a:xfrm>
            <a:off x="11475720" y="6583680"/>
            <a:ext cx="502920" cy="292608"/>
          </a:xfrm>
          <a:prstGeom prst="rect">
            <a:avLst/>
          </a:prstGeom>
          <a:noFill/>
        </p:spPr>
        <p:txBody>
          <a:bodyPr wrap="none" lIns="0" rIns="0" tIns="0" bIns="0">
            <a:spAutoFit/>
          </a:bodyPr>
          <a:lstStyle/>
          <a:p>
            <a:pPr algn="r"/>
            <a:fld id="{9AF6752B-E42B-5771-9B4C-30619DDD446A}" type="slidenum">
              <a:rPr lang="en-US" sz="1200" dirty="0">
                <a:solidFill>
                  <a:srgbClr val="555B66"/>
                </a:solidFill>
                <a:latin typeface="Calibri"/>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9% of TV Time — or 33% of Streaming? Pick Your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1890064"/>
            <a:ext cx="841248" cy="3184855"/>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9168"/>
            <a:ext cx="1298448" cy="274320"/>
          </a:xfrm>
          <a:prstGeom prst="rect">
            <a:avLst/>
          </a:prstGeom>
          <a:noFill/>
        </p:spPr>
        <p:txBody>
          <a:bodyPr wrap="square" lIns="0" rIns="0" tIns="0" bIns="0">
            <a:spAutoFit/>
          </a:bodyPr>
          <a:lstStyle/>
          <a:p>
            <a:pPr algn="ctr"/>
            <a:r>
              <a:rPr sz="1600" b="1" i="0" u="none">
                <a:solidFill>
                  <a:srgbClr val="0B2B4E"/>
                </a:solidFill>
                <a:latin typeface="Calibri"/>
              </a:rPr>
              <a:t>12.9</a:t>
            </a:r>
          </a:p>
        </p:txBody>
      </p:sp>
      <p:sp>
        <p:nvSpPr>
          <p:cNvPr id="9" name="TextBox 8"/>
          <p:cNvSpPr txBox="1"/>
          <p:nvPr/>
        </p:nvSpPr>
        <p:spPr>
          <a:xfrm>
            <a:off x="685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YouTube</a:t>
            </a:r>
          </a:p>
        </p:txBody>
      </p:sp>
      <p:sp>
        <p:nvSpPr>
          <p:cNvPr id="10" name="Rectangle 9"/>
          <p:cNvSpPr/>
          <p:nvPr/>
        </p:nvSpPr>
        <p:spPr>
          <a:xfrm>
            <a:off x="2103120" y="2260396"/>
            <a:ext cx="841248" cy="2814523"/>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19" y="1949500"/>
            <a:ext cx="1298448" cy="274320"/>
          </a:xfrm>
          <a:prstGeom prst="rect">
            <a:avLst/>
          </a:prstGeom>
          <a:noFill/>
        </p:spPr>
        <p:txBody>
          <a:bodyPr wrap="square" lIns="0" rIns="0" tIns="0" bIns="0">
            <a:spAutoFit/>
          </a:bodyPr>
          <a:lstStyle/>
          <a:p>
            <a:pPr algn="ctr"/>
            <a:r>
              <a:rPr sz="1600" b="1" i="0" u="none">
                <a:solidFill>
                  <a:srgbClr val="0B2B4E"/>
                </a:solidFill>
                <a:latin typeface="Calibri"/>
              </a:rPr>
              <a:t>11.4</a:t>
            </a:r>
          </a:p>
        </p:txBody>
      </p:sp>
      <p:sp>
        <p:nvSpPr>
          <p:cNvPr id="12" name="TextBox 11"/>
          <p:cNvSpPr txBox="1"/>
          <p:nvPr/>
        </p:nvSpPr>
        <p:spPr>
          <a:xfrm>
            <a:off x="1828799"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Disney</a:t>
            </a:r>
          </a:p>
        </p:txBody>
      </p:sp>
      <p:sp>
        <p:nvSpPr>
          <p:cNvPr id="13" name="Rectangle 12"/>
          <p:cNvSpPr/>
          <p:nvPr/>
        </p:nvSpPr>
        <p:spPr>
          <a:xfrm>
            <a:off x="3246120" y="2951683"/>
            <a:ext cx="841248" cy="2123236"/>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2640787"/>
            <a:ext cx="1298448" cy="274320"/>
          </a:xfrm>
          <a:prstGeom prst="rect">
            <a:avLst/>
          </a:prstGeom>
          <a:noFill/>
        </p:spPr>
        <p:txBody>
          <a:bodyPr wrap="square" lIns="0" rIns="0" tIns="0" bIns="0">
            <a:spAutoFit/>
          </a:bodyPr>
          <a:lstStyle/>
          <a:p>
            <a:pPr algn="ctr"/>
            <a:r>
              <a:rPr sz="1600" b="1" i="0" u="none">
                <a:solidFill>
                  <a:srgbClr val="0B2B4E"/>
                </a:solidFill>
                <a:latin typeface="Calibri"/>
              </a:rPr>
              <a:t>8.6</a:t>
            </a:r>
          </a:p>
        </p:txBody>
      </p:sp>
      <p:sp>
        <p:nvSpPr>
          <p:cNvPr id="15" name="TextBox 14"/>
          <p:cNvSpPr txBox="1"/>
          <p:nvPr/>
        </p:nvSpPr>
        <p:spPr>
          <a:xfrm>
            <a:off x="2971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NBCU</a:t>
            </a:r>
          </a:p>
        </p:txBody>
      </p:sp>
      <p:sp>
        <p:nvSpPr>
          <p:cNvPr id="16" name="Rectangle 15"/>
          <p:cNvSpPr/>
          <p:nvPr/>
        </p:nvSpPr>
        <p:spPr>
          <a:xfrm>
            <a:off x="4389120" y="3001060"/>
            <a:ext cx="841248" cy="2073859"/>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0520" y="2690164"/>
            <a:ext cx="1298448" cy="274320"/>
          </a:xfrm>
          <a:prstGeom prst="rect">
            <a:avLst/>
          </a:prstGeom>
          <a:noFill/>
        </p:spPr>
        <p:txBody>
          <a:bodyPr wrap="square" lIns="0" rIns="0" tIns="0" bIns="0">
            <a:spAutoFit/>
          </a:bodyPr>
          <a:lstStyle/>
          <a:p>
            <a:pPr algn="ctr"/>
            <a:r>
              <a:rPr sz="1600" b="1" i="0" u="none">
                <a:solidFill>
                  <a:srgbClr val="0B2B4E"/>
                </a:solidFill>
                <a:latin typeface="Calibri"/>
              </a:rPr>
              <a:t>8.4</a:t>
            </a:r>
          </a:p>
        </p:txBody>
      </p:sp>
      <p:sp>
        <p:nvSpPr>
          <p:cNvPr id="18" name="TextBox 17"/>
          <p:cNvSpPr txBox="1"/>
          <p:nvPr/>
        </p:nvSpPr>
        <p:spPr>
          <a:xfrm>
            <a:off x="4114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Fox</a:t>
            </a:r>
          </a:p>
        </p:txBody>
      </p:sp>
      <p:sp>
        <p:nvSpPr>
          <p:cNvPr id="19" name="Rectangle 18"/>
          <p:cNvSpPr/>
          <p:nvPr/>
        </p:nvSpPr>
        <p:spPr>
          <a:xfrm>
            <a:off x="5532120" y="3050438"/>
            <a:ext cx="841248" cy="2024481"/>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2739542"/>
            <a:ext cx="1298448" cy="274320"/>
          </a:xfrm>
          <a:prstGeom prst="rect">
            <a:avLst/>
          </a:prstGeom>
          <a:noFill/>
        </p:spPr>
        <p:txBody>
          <a:bodyPr wrap="square" lIns="0" rIns="0" tIns="0" bIns="0">
            <a:spAutoFit/>
          </a:bodyPr>
          <a:lstStyle/>
          <a:p>
            <a:pPr algn="ctr"/>
            <a:r>
              <a:rPr sz="1600" b="1" i="0" u="none">
                <a:solidFill>
                  <a:srgbClr val="0B2B4E"/>
                </a:solidFill>
                <a:latin typeface="Calibri"/>
              </a:rPr>
              <a:t>8.2</a:t>
            </a:r>
          </a:p>
        </p:txBody>
      </p:sp>
      <p:sp>
        <p:nvSpPr>
          <p:cNvPr id="21" name="TextBox 20"/>
          <p:cNvSpPr txBox="1"/>
          <p:nvPr/>
        </p:nvSpPr>
        <p:spPr>
          <a:xfrm>
            <a:off x="5257800" y="5148072"/>
            <a:ext cx="1389888" cy="274320"/>
          </a:xfrm>
          <a:prstGeom prst="rect">
            <a:avLst/>
          </a:prstGeom>
          <a:noFill/>
        </p:spPr>
        <p:txBody>
          <a:bodyPr wrap="square" lIns="0" rIns="0" tIns="0" bIns="0">
            <a:spAutoFit/>
          </a:bodyPr>
          <a:lstStyle/>
          <a:p>
            <a:pPr algn="ctr"/>
            <a:r>
              <a:rPr sz="1400" b="0" i="0" u="none">
                <a:solidFill>
                  <a:srgbClr val="0B2B4E"/>
                </a:solidFill>
                <a:latin typeface="Calibri"/>
              </a:rPr>
              <a:t>Paramount</a:t>
            </a:r>
          </a:p>
        </p:txBody>
      </p:sp>
      <p:sp>
        <p:nvSpPr>
          <p:cNvPr id="22" name="Rectangle 21"/>
          <p:cNvSpPr/>
          <p:nvPr/>
        </p:nvSpPr>
        <p:spPr>
          <a:xfrm>
            <a:off x="6675120" y="3099815"/>
            <a:ext cx="841248" cy="197510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788920"/>
            <a:ext cx="1298448" cy="274320"/>
          </a:xfrm>
          <a:prstGeom prst="rect">
            <a:avLst/>
          </a:prstGeom>
          <a:noFill/>
        </p:spPr>
        <p:txBody>
          <a:bodyPr wrap="square" lIns="0" rIns="0" tIns="0" bIns="0">
            <a:spAutoFit/>
          </a:bodyPr>
          <a:lstStyle/>
          <a:p>
            <a:pPr algn="ctr"/>
            <a:r>
              <a:rPr sz="1600" b="1" i="0" u="none">
                <a:solidFill>
                  <a:srgbClr val="E09F3E"/>
                </a:solidFill>
                <a:latin typeface="Calibri"/>
              </a:rPr>
              <a:t>8.0</a:t>
            </a:r>
          </a:p>
        </p:txBody>
      </p:sp>
      <p:sp>
        <p:nvSpPr>
          <p:cNvPr id="24" name="TextBox 23"/>
          <p:cNvSpPr txBox="1"/>
          <p:nvPr/>
        </p:nvSpPr>
        <p:spPr>
          <a:xfrm>
            <a:off x="6400800" y="5148072"/>
            <a:ext cx="1389888" cy="274320"/>
          </a:xfrm>
          <a:prstGeom prst="rect">
            <a:avLst/>
          </a:prstGeom>
          <a:noFill/>
        </p:spPr>
        <p:txBody>
          <a:bodyPr wrap="square" lIns="0" rIns="0" tIns="0" bIns="0">
            <a:spAutoFit/>
          </a:bodyPr>
          <a:lstStyle/>
          <a:p>
            <a:pPr algn="ctr"/>
            <a:r>
              <a:rPr sz="1400" b="1" i="0" u="none">
                <a:solidFill>
                  <a:srgbClr val="0B2B4E"/>
                </a:solidFill>
                <a:latin typeface="Calibri"/>
              </a:rPr>
              <a:t>Netflix</a:t>
            </a:r>
          </a:p>
        </p:txBody>
      </p:sp>
      <p:sp>
        <p:nvSpPr>
          <p:cNvPr id="25" name="Rectangle 24"/>
          <p:cNvSpPr/>
          <p:nvPr/>
        </p:nvSpPr>
        <p:spPr>
          <a:xfrm>
            <a:off x="7818120" y="3988612"/>
            <a:ext cx="841248" cy="1086307"/>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18120" y="3692347"/>
            <a:ext cx="841248" cy="296265"/>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5440680"/>
            <a:ext cx="1828800" cy="237744"/>
          </a:xfrm>
          <a:prstGeom prst="rect">
            <a:avLst/>
          </a:prstGeom>
          <a:noFill/>
        </p:spPr>
        <p:txBody>
          <a:bodyPr wrap="square" lIns="0" rIns="0" tIns="0" bIns="0">
            <a:spAutoFit/>
          </a:bodyPr>
          <a:lstStyle/>
          <a:p>
            <a:pPr algn="ctr"/>
            <a:r>
              <a:rPr sz="1200" b="1" i="0" u="none">
                <a:solidFill>
                  <a:srgbClr val="E09F3E"/>
                </a:solidFill>
                <a:latin typeface="Calibri"/>
              </a:rPr>
              <a:t>(HBO Max: 1.2)</a:t>
            </a:r>
          </a:p>
        </p:txBody>
      </p:sp>
      <p:sp>
        <p:nvSpPr>
          <p:cNvPr id="28" name="TextBox 27"/>
          <p:cNvSpPr txBox="1"/>
          <p:nvPr/>
        </p:nvSpPr>
        <p:spPr>
          <a:xfrm>
            <a:off x="7589520" y="3381451"/>
            <a:ext cx="1298448" cy="274320"/>
          </a:xfrm>
          <a:prstGeom prst="rect">
            <a:avLst/>
          </a:prstGeom>
          <a:noFill/>
        </p:spPr>
        <p:txBody>
          <a:bodyPr wrap="square" lIns="0" rIns="0" tIns="0" bIns="0">
            <a:spAutoFit/>
          </a:bodyPr>
          <a:lstStyle/>
          <a:p>
            <a:pPr algn="ctr"/>
            <a:r>
              <a:rPr sz="1600" b="1" i="0" u="none">
                <a:solidFill>
                  <a:srgbClr val="0B2B4E"/>
                </a:solidFill>
                <a:latin typeface="Calibri"/>
              </a:rPr>
              <a:t>5.6</a:t>
            </a:r>
          </a:p>
        </p:txBody>
      </p:sp>
      <p:sp>
        <p:nvSpPr>
          <p:cNvPr id="29" name="TextBox 28"/>
          <p:cNvSpPr txBox="1"/>
          <p:nvPr/>
        </p:nvSpPr>
        <p:spPr>
          <a:xfrm>
            <a:off x="7543800" y="5148072"/>
            <a:ext cx="1389888" cy="274320"/>
          </a:xfrm>
          <a:prstGeom prst="rect">
            <a:avLst/>
          </a:prstGeom>
          <a:noFill/>
        </p:spPr>
        <p:txBody>
          <a:bodyPr wrap="square" lIns="0" rIns="0" tIns="0" bIns="0">
            <a:spAutoFit/>
          </a:bodyPr>
          <a:lstStyle/>
          <a:p>
            <a:pPr algn="ctr"/>
            <a:r>
              <a:rPr sz="1400" b="1" i="0" u="none">
                <a:solidFill>
                  <a:srgbClr val="0B2B4E"/>
                </a:solidFill>
                <a:latin typeface="Calibri"/>
              </a:rPr>
              <a:t>WBD</a:t>
            </a:r>
          </a:p>
        </p:txBody>
      </p:sp>
      <p:sp>
        <p:nvSpPr>
          <p:cNvPr id="30" name="Rectangle 29"/>
          <p:cNvSpPr/>
          <p:nvPr/>
        </p:nvSpPr>
        <p:spPr>
          <a:xfrm>
            <a:off x="822960" y="5074920"/>
            <a:ext cx="8092440" cy="20116"/>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596128"/>
            <a:ext cx="8001000" cy="274320"/>
          </a:xfrm>
          <a:prstGeom prst="rect">
            <a:avLst/>
          </a:prstGeom>
          <a:noFill/>
        </p:spPr>
        <p:txBody>
          <a:bodyPr wrap="square" lIns="0" rIns="0" tIns="0" bIns="0">
            <a:spAutoFit/>
          </a:bodyPr>
          <a:lstStyle/>
          <a:p>
            <a:pPr algn="ctr"/>
            <a:r>
              <a:rPr sz="1300" b="0" i="1" u="none">
                <a:solidFill>
                  <a:srgbClr val="555B66"/>
                </a:solidFill>
                <a:latin typeface="Calibri"/>
              </a:rPr>
              <a:t>Share of US TV time, Oct 2025 (Nielsen, via Netflix's investor deck)</a:t>
            </a:r>
          </a:p>
        </p:txBody>
      </p:sp>
      <p:sp>
        <p:nvSpPr>
          <p:cNvPr id="32" name="Rounded Rectangle 31"/>
          <p:cNvSpPr/>
          <p:nvPr/>
        </p:nvSpPr>
        <p:spPr>
          <a:xfrm>
            <a:off x="8732520" y="1463040"/>
            <a:ext cx="2880360" cy="1874519"/>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1572768"/>
            <a:ext cx="2514600" cy="1655063"/>
          </a:xfrm>
          <a:prstGeom prst="rect">
            <a:avLst/>
          </a:prstGeom>
          <a:noFill/>
        </p:spPr>
        <p:txBody>
          <a:bodyPr wrap="square" lIns="45720" rIns="45720" tIns="0" bIns="0" anchor="ctr">
            <a:spAutoFit/>
          </a:bodyPr>
          <a:lstStyle/>
          <a:p>
            <a:pPr algn="l"/>
            <a:r>
              <a:rPr sz="1800" b="1" i="0" u="none">
                <a:solidFill>
                  <a:srgbClr val="0B2B4E"/>
                </a:solidFill>
                <a:latin typeface="Calibri"/>
              </a:rPr>
              <a:t>Netflix's market: all TV time</a:t>
            </a:r>
          </a:p>
          <a:p>
            <a:pPr algn="l"/>
            <a:r>
              <a:rPr sz="1800" b="0" i="0" u="none">
                <a:solidFill>
                  <a:srgbClr val="0B2B4E"/>
                </a:solidFill>
                <a:latin typeface="Calibri"/>
              </a:rPr>
              <a:t>Netflix + HBO Max = 9.2% — “#3 behind YouTube and Disney”</a:t>
            </a:r>
          </a:p>
        </p:txBody>
      </p:sp>
      <p:sp>
        <p:nvSpPr>
          <p:cNvPr id="34" name="Rounded Rectangle 33"/>
          <p:cNvSpPr/>
          <p:nvPr/>
        </p:nvSpPr>
        <p:spPr>
          <a:xfrm>
            <a:off x="8732520" y="3566160"/>
            <a:ext cx="2880360" cy="1874519"/>
          </a:xfrm>
          <a:prstGeom prst="roundRect">
            <a:avLst>
              <a:gd name="adj" fmla="val 10000"/>
            </a:avLst>
          </a:prstGeom>
          <a:solidFill>
            <a:srgbClr val="FFFFFF"/>
          </a:solidFill>
          <a:ln w="19050">
            <a:solidFill>
              <a:srgbClr val="C0000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87968" y="3657600"/>
            <a:ext cx="2606040" cy="1691640"/>
          </a:xfrm>
          <a:prstGeom prst="rect">
            <a:avLst/>
          </a:prstGeom>
          <a:noFill/>
        </p:spPr>
        <p:txBody>
          <a:bodyPr wrap="square" anchor="ctr">
            <a:spAutoFit/>
          </a:bodyPr>
          <a:lstStyle/>
          <a:p>
            <a:r>
              <a:rPr sz="1800" b="1">
                <a:solidFill>
                  <a:srgbClr val="C00000"/>
                </a:solidFill>
                <a:latin typeface="Calibri"/>
              </a:rPr>
              <a:t>Narrow SVOD market: </a:t>
            </a:r>
            <a:r>
              <a:rPr sz="1800">
                <a:solidFill>
                  <a:srgbClr val="0B2B4E"/>
                </a:solidFill>
                <a:latin typeface="Calibri"/>
              </a:rPr>
              <a:t>~33% combined — presumptively illegal concentration</a:t>
            </a:r>
          </a:p>
        </p:txBody>
      </p:sp>
      <p:sp>
        <p:nvSpPr>
          <p:cNvPr id="36" name="Rounded Rectangle 35"/>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Both numbers are correct arithmetic — the market definition does all the work</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40" name="TextBox 39"/>
          <p:cNvSpPr txBox="1"/>
          <p:nvPr/>
        </p:nvSpPr>
        <p:spPr>
          <a:xfrm>
            <a:off x="11475720" y="6583680"/>
            <a:ext cx="502920" cy="292608"/>
          </a:xfrm>
          <a:prstGeom prst="rect">
            <a:avLst/>
          </a:prstGeom>
          <a:noFill/>
        </p:spPr>
        <p:txBody>
          <a:bodyPr wrap="none" lIns="0" rIns="0" tIns="0" bIns="0">
            <a:spAutoFit/>
          </a:bodyPr>
          <a:lstStyle/>
          <a:p>
            <a:pPr algn="r"/>
            <a:fld id="{7D93220A-BEE9-5825-A0F6-F5D6DED4371C}" type="slidenum">
              <a:rPr lang="en-US" sz="1200" dirty="0">
                <a:solidFill>
                  <a:srgbClr val="555B66"/>
                </a:solidFill>
                <a:latin typeface="Calibri"/>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Eggs 2024–2026: A Supply Shock in Fast-Forward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Avian flu culled the laying flock: supply shifts left, demand unchanged</a:t>
            </a:r>
          </a:p>
          <a:p>
            <a:pPr algn="l"/>
            <a:r>
              <a:rPr>
                <a:latin typeface="Calibri"/>
              </a:rPr>
              <a:t>Retail eggs: $2.52/dozen (Jan 2024) → $6.23 (Mar 2025) → $2.19 (Jul 2026) — BLS data</a:t>
            </a:r>
          </a:p>
          <a:p>
            <a:pPr algn="l"/>
            <a:r>
              <a:rPr>
                <a:latin typeface="Calibri"/>
              </a:rPr>
              <a:t>Inelastic demand: a supply loss well under 15% produced a 147% price spike</a:t>
            </a:r>
          </a:p>
          <a:p>
            <a:pPr algn="l"/>
            <a:r>
              <a:rPr>
                <a:latin typeface="Calibri"/>
              </a:rPr>
              <a:t>Rationing without prices: Trader Joe's 1-dozen limits; Waffle House's transparent 50¢-per-egg surcharge (Feb–Jul 2025)</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cleanest fully-verified S/D episode available — and hens regrow in months, so the whole cycle reversed inside two years. Slots naturally after the tea and avocado mini-cases.</a:t>
            </a:r>
          </a:p>
          <a:p>
            <a:r>
              <a:rPr sz="1800" b="1">
                <a:solidFill>
                  <a:srgbClr val="555B66"/>
                </a:solidFill>
                <a:latin typeface="Calibri"/>
              </a:rPr>
              <a:t>Proposed visual:  </a:t>
            </a:r>
            <a:r>
              <a:rPr sz="1800" i="1">
                <a:solidFill>
                  <a:srgbClr val="555B66"/>
                </a:solidFill>
                <a:latin typeface="Calibri"/>
              </a:rPr>
              <a:t>Native line chart of the BLS retail egg-price series 2024–26 (data already pulled)</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Supply fell under 15%, price rose 147% — what does that ratio say about the demand curve, and would you pass the cost through?</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BLS series APU0000708111 (retrieved 2026-08-20); USDA (2025); GMA (purchase limits); CNN / Fortune (Waffle House)</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FDE0808A-C7B3-55BB-BE33-D789A22A62C4}" type="slidenum">
              <a:rPr lang="en-US" sz="1200" dirty="0">
                <a:solidFill>
                  <a:srgbClr val="555B66"/>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Mini-Case: AI Eats the Memory Supply (2025–26)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6675120" cy="4846320"/>
          </a:xfrm>
          <a:prstGeom prst="rect">
            <a:avLst/>
          </a:prstGeom>
          <a:noFill/>
        </p:spPr>
        <p:txBody>
          <a:bodyPr wrap="square" lIns="0" rIns="0" tIns="0" bIns="0" anchor="ctr">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2025: the AI datacenter buildout explodes demand for high-bandwidth memory (HBM)</a:t>
            </a:r>
          </a:p>
          <a:p>
            <a:pPr algn="l"/>
            <a:r>
              <a:rPr>
                <a:latin typeface="Calibri"/>
              </a:rPr>
              <a:t>New chip fabs take years — industry capacity is essentially fixed for 2–3 years</a:t>
            </a:r>
          </a:p>
          <a:p>
            <a:pPr algn="l"/>
            <a:r>
              <a:rPr>
                <a:latin typeface="Calibri"/>
              </a:rPr>
              <a:t>Oct 2025: SK Hynix — DRAM, NAND and HBM capacity </a:t>
            </a:r>
            <a:r>
              <a:rPr>
                <a:solidFill>
                  <a:srgbClr val="C00000"/>
                </a:solidFill>
                <a:latin typeface="Calibri"/>
              </a:rPr>
              <a:t>“essentially sold out” for 2026</a:t>
            </a:r>
          </a:p>
          <a:p>
            <a:pPr algn="l"/>
            <a:r>
              <a:rPr b="1">
                <a:latin typeface="Calibri"/>
              </a:rPr>
              <a:t>The same wafers can become AI memory or ordinary laptop memory</a:t>
            </a:r>
            <a:r>
              <a:rPr>
                <a:latin typeface="Calibri"/>
              </a:rPr>
              <a:t> — that allocation would drive the story</a:t>
            </a:r>
          </a:p>
        </p:txBody>
      </p:sp>
      <p:pic>
        <p:nvPicPr>
          <p:cNvPr id="8" name="Picture 7" descr="web_datacenter.jpg"/>
          <p:cNvPicPr>
            <a:picLocks noChangeAspect="1"/>
          </p:cNvPicPr>
          <p:nvPr/>
        </p:nvPicPr>
        <p:blipFill>
          <a:blip r:embed="rId2"/>
          <a:stretch>
            <a:fillRect/>
          </a:stretch>
        </p:blipFill>
        <p:spPr>
          <a:xfrm>
            <a:off x="7269480" y="2103120"/>
            <a:ext cx="4206240" cy="2806351"/>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7269480" y="4956048"/>
            <a:ext cx="420624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1D9370A3-FA17-5659-A86A-2BA5B8731561}" type="slidenum">
              <a:rPr lang="en-US" sz="1200" dirty="0">
                <a:solidFill>
                  <a:srgbClr val="555B66"/>
                </a:solidFill>
                <a:latin typeface="Calibri"/>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Two Linked Markets, One Pool of Wafers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389888"/>
            <a:ext cx="4480560" cy="47548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HBM — AI memory</a:t>
            </a:r>
          </a:p>
        </p:txBody>
      </p:sp>
      <p:sp>
        <p:nvSpPr>
          <p:cNvPr id="8" name="Rounded Rectangle 7"/>
          <p:cNvSpPr/>
          <p:nvPr/>
        </p:nvSpPr>
        <p:spPr>
          <a:xfrm>
            <a:off x="6812280" y="1389888"/>
            <a:ext cx="4480560" cy="47548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Consumer DRAM (DDR5)</a:t>
            </a:r>
          </a:p>
        </p:txBody>
      </p:sp>
      <p:cxnSp>
        <p:nvCxnSpPr>
          <p:cNvPr id="9" name="Connector 8"/>
          <p:cNvCxnSpPr/>
          <p:nvPr/>
        </p:nvCxnSpPr>
        <p:spPr>
          <a:xfrm flipV="1">
            <a:off x="1417320" y="2258568"/>
            <a:ext cx="0" cy="32278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17320" y="5486400"/>
            <a:ext cx="35478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1856231"/>
            <a:ext cx="1828800" cy="292608"/>
          </a:xfrm>
          <a:prstGeom prst="rect">
            <a:avLst/>
          </a:prstGeom>
          <a:noFill/>
        </p:spPr>
        <p:txBody>
          <a:bodyPr wrap="square" lIns="0" rIns="0" tIns="0" bIns="0">
            <a:spAutoFit/>
          </a:bodyPr>
          <a:lstStyle/>
          <a:p>
            <a:pPr algn="l"/>
            <a:r>
              <a:rPr sz="1300" b="1" i="1" u="none">
                <a:solidFill>
                  <a:srgbClr val="0B2B4E"/>
                </a:solidFill>
                <a:latin typeface="Calibri"/>
              </a:rPr>
              <a:t>Price ($)</a:t>
            </a:r>
          </a:p>
        </p:txBody>
      </p:sp>
      <p:sp>
        <p:nvSpPr>
          <p:cNvPr id="12" name="TextBox 11"/>
          <p:cNvSpPr txBox="1"/>
          <p:nvPr/>
        </p:nvSpPr>
        <p:spPr>
          <a:xfrm>
            <a:off x="4434840" y="5577840"/>
            <a:ext cx="1645920" cy="292608"/>
          </a:xfrm>
          <a:prstGeom prst="rect">
            <a:avLst/>
          </a:prstGeom>
          <a:noFill/>
        </p:spPr>
        <p:txBody>
          <a:bodyPr wrap="square" lIns="0" rIns="0" tIns="0" bIns="0">
            <a:spAutoFit/>
          </a:bodyPr>
          <a:lstStyle/>
          <a:p>
            <a:pPr algn="l"/>
            <a:r>
              <a:rPr sz="1300" b="1" i="1" u="none">
                <a:solidFill>
                  <a:srgbClr val="0B2B4E"/>
                </a:solidFill>
                <a:latin typeface="Calibri"/>
              </a:rPr>
              <a:t>Quantity</a:t>
            </a:r>
          </a:p>
        </p:txBody>
      </p:sp>
      <p:cxnSp>
        <p:nvCxnSpPr>
          <p:cNvPr id="13" name="Connector 12"/>
          <p:cNvCxnSpPr/>
          <p:nvPr/>
        </p:nvCxnSpPr>
        <p:spPr>
          <a:xfrm>
            <a:off x="1417320" y="4702210"/>
            <a:ext cx="150217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19496" y="4702210"/>
            <a:ext cx="0" cy="78419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17320" y="3476914"/>
            <a:ext cx="184050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57824" y="3476914"/>
            <a:ext cx="0" cy="2009486"/>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770632" y="2790748"/>
            <a:ext cx="676656" cy="2450592"/>
          </a:xfrm>
          <a:prstGeom prst="line">
            <a:avLst/>
          </a:prstGeom>
          <a:ln w="34925">
            <a:solidFill>
              <a:srgbClr val="95B3D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98037" y="2521915"/>
            <a:ext cx="822960" cy="292608"/>
          </a:xfrm>
          <a:prstGeom prst="rect">
            <a:avLst/>
          </a:prstGeom>
          <a:noFill/>
        </p:spPr>
        <p:txBody>
          <a:bodyPr wrap="square" lIns="0" rIns="0" tIns="0" bIns="0">
            <a:spAutoFit/>
          </a:bodyPr>
          <a:lstStyle/>
          <a:p>
            <a:pPr algn="l"/>
            <a:r>
              <a:rPr sz="2000" b="1" i="1" u="none">
                <a:solidFill>
                  <a:srgbClr val="0B2B4E"/>
                </a:solidFill>
                <a:latin typeface="Calibri"/>
              </a:rPr>
              <a:t>S</a:t>
            </a:r>
          </a:p>
        </p:txBody>
      </p:sp>
      <p:cxnSp>
        <p:nvCxnSpPr>
          <p:cNvPr id="19" name="Connector 18"/>
          <p:cNvCxnSpPr/>
          <p:nvPr/>
        </p:nvCxnSpPr>
        <p:spPr>
          <a:xfrm>
            <a:off x="1620316" y="3525926"/>
            <a:ext cx="1962303" cy="1776679"/>
          </a:xfrm>
          <a:prstGeom prst="line">
            <a:avLst/>
          </a:prstGeom>
          <a:ln w="31750">
            <a:solidFill>
              <a:srgbClr val="E09F3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3368" y="5033772"/>
            <a:ext cx="822960" cy="292608"/>
          </a:xfrm>
          <a:prstGeom prst="rect">
            <a:avLst/>
          </a:prstGeom>
          <a:noFill/>
        </p:spPr>
        <p:txBody>
          <a:bodyPr wrap="square" lIns="0" rIns="0" tIns="0" bIns="0">
            <a:spAutoFit/>
          </a:bodyPr>
          <a:lstStyle/>
          <a:p>
            <a:pPr algn="l"/>
            <a:r>
              <a:rPr sz="2000" b="1" i="1" u="none">
                <a:solidFill>
                  <a:srgbClr val="E09F3E"/>
                </a:solidFill>
                <a:latin typeface="Calibri"/>
              </a:rPr>
              <a:t>D</a:t>
            </a:r>
          </a:p>
        </p:txBody>
      </p:sp>
      <p:cxnSp>
        <p:nvCxnSpPr>
          <p:cNvPr id="21" name="Connector 20"/>
          <p:cNvCxnSpPr/>
          <p:nvPr/>
        </p:nvCxnSpPr>
        <p:spPr>
          <a:xfrm>
            <a:off x="2635300" y="2913278"/>
            <a:ext cx="2029968" cy="1837944"/>
          </a:xfrm>
          <a:prstGeom prst="line">
            <a:avLst/>
          </a:prstGeom>
          <a:ln w="31750">
            <a:solidFill>
              <a:srgbClr val="00B05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13021" y="4390491"/>
            <a:ext cx="822960" cy="292608"/>
          </a:xfrm>
          <a:prstGeom prst="rect">
            <a:avLst/>
          </a:prstGeom>
          <a:noFill/>
        </p:spPr>
        <p:txBody>
          <a:bodyPr wrap="square" lIns="0" rIns="0" tIns="0" bIns="0">
            <a:spAutoFit/>
          </a:bodyPr>
          <a:lstStyle/>
          <a:p>
            <a:pPr algn="l"/>
            <a:r>
              <a:rPr sz="2000" b="1" i="1" u="none">
                <a:solidFill>
                  <a:srgbClr val="00B050"/>
                </a:solidFill>
                <a:latin typeface="Calibri"/>
              </a:rPr>
              <a:t>D’</a:t>
            </a:r>
          </a:p>
        </p:txBody>
      </p:sp>
      <p:cxnSp>
        <p:nvCxnSpPr>
          <p:cNvPr id="23" name="Connector 22"/>
          <p:cNvCxnSpPr/>
          <p:nvPr/>
        </p:nvCxnSpPr>
        <p:spPr>
          <a:xfrm flipV="1">
            <a:off x="2567635" y="3770985"/>
            <a:ext cx="507492" cy="367589"/>
          </a:xfrm>
          <a:prstGeom prst="line">
            <a:avLst/>
          </a:prstGeom>
          <a:ln w="25400">
            <a:solidFill>
              <a:srgbClr val="00B050"/>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4565050"/>
            <a:ext cx="868680" cy="274320"/>
          </a:xfrm>
          <a:prstGeom prst="rect">
            <a:avLst/>
          </a:prstGeom>
          <a:noFill/>
        </p:spPr>
        <p:txBody>
          <a:bodyPr wrap="square" lIns="0" rIns="0" tIns="0" bIns="0">
            <a:spAutoFit/>
          </a:bodyPr>
          <a:lstStyle/>
          <a:p>
            <a:pPr algn="r"/>
            <a:r>
              <a:rPr sz="1400" b="0" i="1" u="none">
                <a:solidFill>
                  <a:srgbClr val="0B2B4E"/>
                </a:solidFill>
                <a:latin typeface="Calibri"/>
              </a:rPr>
              <a:t>P0</a:t>
            </a:r>
          </a:p>
        </p:txBody>
      </p:sp>
      <p:sp>
        <p:nvSpPr>
          <p:cNvPr id="25" name="TextBox 24"/>
          <p:cNvSpPr txBox="1"/>
          <p:nvPr/>
        </p:nvSpPr>
        <p:spPr>
          <a:xfrm>
            <a:off x="475488" y="3339754"/>
            <a:ext cx="868680" cy="274320"/>
          </a:xfrm>
          <a:prstGeom prst="rect">
            <a:avLst/>
          </a:prstGeom>
          <a:noFill/>
        </p:spPr>
        <p:txBody>
          <a:bodyPr wrap="square" lIns="0" rIns="0" tIns="0" bIns="0">
            <a:spAutoFit/>
          </a:bodyPr>
          <a:lstStyle/>
          <a:p>
            <a:pPr algn="r"/>
            <a:r>
              <a:rPr sz="1400" b="0" i="1" u="none">
                <a:solidFill>
                  <a:srgbClr val="0B2B4E"/>
                </a:solidFill>
                <a:latin typeface="Calibri"/>
              </a:rPr>
              <a:t>P1</a:t>
            </a:r>
          </a:p>
        </p:txBody>
      </p:sp>
      <p:cxnSp>
        <p:nvCxnSpPr>
          <p:cNvPr id="26" name="Connector 25"/>
          <p:cNvCxnSpPr/>
          <p:nvPr/>
        </p:nvCxnSpPr>
        <p:spPr>
          <a:xfrm flipV="1">
            <a:off x="7452360" y="2258568"/>
            <a:ext cx="0" cy="32278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52360" y="5486400"/>
            <a:ext cx="35478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766560" y="1856231"/>
            <a:ext cx="1828800" cy="292608"/>
          </a:xfrm>
          <a:prstGeom prst="rect">
            <a:avLst/>
          </a:prstGeom>
          <a:noFill/>
        </p:spPr>
        <p:txBody>
          <a:bodyPr wrap="square" lIns="0" rIns="0" tIns="0" bIns="0">
            <a:spAutoFit/>
          </a:bodyPr>
          <a:lstStyle/>
          <a:p>
            <a:pPr algn="l"/>
            <a:r>
              <a:rPr sz="1300" b="1" i="1" u="none">
                <a:solidFill>
                  <a:srgbClr val="0B2B4E"/>
                </a:solidFill>
                <a:latin typeface="Calibri"/>
              </a:rPr>
              <a:t>Price ($)</a:t>
            </a:r>
          </a:p>
        </p:txBody>
      </p:sp>
      <p:sp>
        <p:nvSpPr>
          <p:cNvPr id="29" name="TextBox 28"/>
          <p:cNvSpPr txBox="1"/>
          <p:nvPr/>
        </p:nvSpPr>
        <p:spPr>
          <a:xfrm>
            <a:off x="10469880" y="5577840"/>
            <a:ext cx="1645920" cy="292608"/>
          </a:xfrm>
          <a:prstGeom prst="rect">
            <a:avLst/>
          </a:prstGeom>
          <a:noFill/>
        </p:spPr>
        <p:txBody>
          <a:bodyPr wrap="square" lIns="0" rIns="0" tIns="0" bIns="0">
            <a:spAutoFit/>
          </a:bodyPr>
          <a:lstStyle/>
          <a:p>
            <a:pPr algn="l"/>
            <a:r>
              <a:rPr sz="1300" b="1" i="1" u="none">
                <a:solidFill>
                  <a:srgbClr val="0B2B4E"/>
                </a:solidFill>
                <a:latin typeface="Calibri"/>
              </a:rPr>
              <a:t>Quantity</a:t>
            </a:r>
          </a:p>
        </p:txBody>
      </p:sp>
      <p:cxnSp>
        <p:nvCxnSpPr>
          <p:cNvPr id="30" name="Connector 29"/>
          <p:cNvCxnSpPr/>
          <p:nvPr/>
        </p:nvCxnSpPr>
        <p:spPr>
          <a:xfrm>
            <a:off x="7452360" y="4414266"/>
            <a:ext cx="152247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974836" y="4414266"/>
            <a:ext cx="0" cy="107213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52360" y="3954780"/>
            <a:ext cx="101498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467344" y="3954780"/>
            <a:ext cx="0" cy="153162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959852" y="3188970"/>
            <a:ext cx="2368296" cy="2144268"/>
          </a:xfrm>
          <a:prstGeom prst="line">
            <a:avLst/>
          </a:prstGeom>
          <a:ln w="31750">
            <a:solidFill>
              <a:srgbClr val="95B3D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897" y="2920136"/>
            <a:ext cx="822960" cy="292608"/>
          </a:xfrm>
          <a:prstGeom prst="rect">
            <a:avLst/>
          </a:prstGeom>
          <a:noFill/>
        </p:spPr>
        <p:txBody>
          <a:bodyPr wrap="square" lIns="0" rIns="0" tIns="0" bIns="0">
            <a:spAutoFit/>
          </a:bodyPr>
          <a:lstStyle/>
          <a:p>
            <a:pPr algn="l"/>
            <a:r>
              <a:rPr sz="2000" b="1" i="1" u="none">
                <a:solidFill>
                  <a:srgbClr val="0B2B4E"/>
                </a:solidFill>
                <a:latin typeface="Calibri"/>
              </a:rPr>
              <a:t>S</a:t>
            </a:r>
          </a:p>
        </p:txBody>
      </p:sp>
      <p:cxnSp>
        <p:nvCxnSpPr>
          <p:cNvPr id="36" name="Connector 35"/>
          <p:cNvCxnSpPr/>
          <p:nvPr/>
        </p:nvCxnSpPr>
        <p:spPr>
          <a:xfrm flipV="1">
            <a:off x="7723022" y="2790748"/>
            <a:ext cx="2029968" cy="1837944"/>
          </a:xfrm>
          <a:prstGeom prst="line">
            <a:avLst/>
          </a:prstGeom>
          <a:ln w="31750">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482328" y="2521915"/>
            <a:ext cx="822960" cy="292608"/>
          </a:xfrm>
          <a:prstGeom prst="rect">
            <a:avLst/>
          </a:prstGeom>
          <a:noFill/>
        </p:spPr>
        <p:txBody>
          <a:bodyPr wrap="square" lIns="0" rIns="0" tIns="0" bIns="0">
            <a:spAutoFit/>
          </a:bodyPr>
          <a:lstStyle/>
          <a:p>
            <a:pPr algn="l"/>
            <a:r>
              <a:rPr sz="2000" b="1" i="1" u="none">
                <a:solidFill>
                  <a:srgbClr val="0070C0"/>
                </a:solidFill>
                <a:latin typeface="Calibri"/>
              </a:rPr>
              <a:t>S’</a:t>
            </a:r>
          </a:p>
        </p:txBody>
      </p:sp>
      <p:cxnSp>
        <p:nvCxnSpPr>
          <p:cNvPr id="38" name="Connector 37"/>
          <p:cNvCxnSpPr/>
          <p:nvPr/>
        </p:nvCxnSpPr>
        <p:spPr>
          <a:xfrm>
            <a:off x="7723022" y="3280867"/>
            <a:ext cx="2232965" cy="2021738"/>
          </a:xfrm>
          <a:prstGeom prst="line">
            <a:avLst/>
          </a:prstGeom>
          <a:ln w="31750">
            <a:solidFill>
              <a:srgbClr val="E09F3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006736" y="5033772"/>
            <a:ext cx="822960" cy="292608"/>
          </a:xfrm>
          <a:prstGeom prst="rect">
            <a:avLst/>
          </a:prstGeom>
          <a:noFill/>
        </p:spPr>
        <p:txBody>
          <a:bodyPr wrap="square" lIns="0" rIns="0" tIns="0" bIns="0">
            <a:spAutoFit/>
          </a:bodyPr>
          <a:lstStyle/>
          <a:p>
            <a:pPr algn="l"/>
            <a:r>
              <a:rPr sz="2000" b="1" i="1" u="none">
                <a:solidFill>
                  <a:srgbClr val="E09F3E"/>
                </a:solidFill>
                <a:latin typeface="Calibri"/>
              </a:rPr>
              <a:t>D</a:t>
            </a:r>
          </a:p>
        </p:txBody>
      </p:sp>
      <p:cxnSp>
        <p:nvCxnSpPr>
          <p:cNvPr id="40" name="Connector 39"/>
          <p:cNvCxnSpPr/>
          <p:nvPr/>
        </p:nvCxnSpPr>
        <p:spPr>
          <a:xfrm flipH="1" flipV="1">
            <a:off x="9076334" y="3372764"/>
            <a:ext cx="473659" cy="398221"/>
          </a:xfrm>
          <a:prstGeom prst="line">
            <a:avLst/>
          </a:prstGeom>
          <a:ln w="2540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10528" y="4277106"/>
            <a:ext cx="868680" cy="274320"/>
          </a:xfrm>
          <a:prstGeom prst="rect">
            <a:avLst/>
          </a:prstGeom>
          <a:noFill/>
        </p:spPr>
        <p:txBody>
          <a:bodyPr wrap="square" lIns="0" rIns="0" tIns="0" bIns="0">
            <a:spAutoFit/>
          </a:bodyPr>
          <a:lstStyle/>
          <a:p>
            <a:pPr algn="r"/>
            <a:r>
              <a:rPr sz="1400" b="0" i="1" u="none">
                <a:solidFill>
                  <a:srgbClr val="0B2B4E"/>
                </a:solidFill>
                <a:latin typeface="Calibri"/>
              </a:rPr>
              <a:t>P0</a:t>
            </a:r>
          </a:p>
        </p:txBody>
      </p:sp>
      <p:sp>
        <p:nvSpPr>
          <p:cNvPr id="42" name="TextBox 41"/>
          <p:cNvSpPr txBox="1"/>
          <p:nvPr/>
        </p:nvSpPr>
        <p:spPr>
          <a:xfrm>
            <a:off x="6510528" y="3817620"/>
            <a:ext cx="868680" cy="274320"/>
          </a:xfrm>
          <a:prstGeom prst="rect">
            <a:avLst/>
          </a:prstGeom>
          <a:noFill/>
        </p:spPr>
        <p:txBody>
          <a:bodyPr wrap="square" lIns="0" rIns="0" tIns="0" bIns="0">
            <a:spAutoFit/>
          </a:bodyPr>
          <a:lstStyle/>
          <a:p>
            <a:pPr algn="r"/>
            <a:r>
              <a:rPr sz="1400" b="0" i="1" u="none">
                <a:solidFill>
                  <a:srgbClr val="0B2B4E"/>
                </a:solidFill>
                <a:latin typeface="Calibri"/>
              </a:rPr>
              <a:t>P1</a:t>
            </a:r>
          </a:p>
        </p:txBody>
      </p:sp>
      <p:sp>
        <p:nvSpPr>
          <p:cNvPr id="43" name="TextBox 42"/>
          <p:cNvSpPr txBox="1"/>
          <p:nvPr/>
        </p:nvSpPr>
        <p:spPr>
          <a:xfrm>
            <a:off x="8517636" y="5541264"/>
            <a:ext cx="914400" cy="274320"/>
          </a:xfrm>
          <a:prstGeom prst="rect">
            <a:avLst/>
          </a:prstGeom>
          <a:noFill/>
        </p:spPr>
        <p:txBody>
          <a:bodyPr wrap="square" lIns="0" rIns="0" tIns="0" bIns="0">
            <a:spAutoFit/>
          </a:bodyPr>
          <a:lstStyle/>
          <a:p>
            <a:pPr algn="ctr"/>
            <a:r>
              <a:rPr sz="1400" b="0" i="1" u="none">
                <a:solidFill>
                  <a:srgbClr val="0B2B4E"/>
                </a:solidFill>
                <a:latin typeface="Calibri"/>
              </a:rPr>
              <a:t>Q0</a:t>
            </a:r>
          </a:p>
        </p:txBody>
      </p:sp>
      <p:sp>
        <p:nvSpPr>
          <p:cNvPr id="44" name="TextBox 43"/>
          <p:cNvSpPr txBox="1"/>
          <p:nvPr/>
        </p:nvSpPr>
        <p:spPr>
          <a:xfrm>
            <a:off x="8010144" y="5541264"/>
            <a:ext cx="914400" cy="274320"/>
          </a:xfrm>
          <a:prstGeom prst="rect">
            <a:avLst/>
          </a:prstGeom>
          <a:noFill/>
        </p:spPr>
        <p:txBody>
          <a:bodyPr wrap="square" lIns="0" rIns="0" tIns="0" bIns="0">
            <a:spAutoFit/>
          </a:bodyPr>
          <a:lstStyle/>
          <a:p>
            <a:pPr algn="ctr"/>
            <a:r>
              <a:rPr sz="1400" b="0" i="1" u="none">
                <a:solidFill>
                  <a:srgbClr val="0B2B4E"/>
                </a:solidFill>
                <a:latin typeface="Calibri"/>
              </a:rPr>
              <a:t>Q1</a:t>
            </a:r>
          </a:p>
        </p:txBody>
      </p:sp>
      <p:sp>
        <p:nvSpPr>
          <p:cNvPr id="45" name="Right Arrow 44"/>
          <p:cNvSpPr/>
          <p:nvPr/>
        </p:nvSpPr>
        <p:spPr>
          <a:xfrm>
            <a:off x="5303520" y="3246120"/>
            <a:ext cx="1417320" cy="50292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10912" y="3840480"/>
            <a:ext cx="2011680" cy="960120"/>
          </a:xfrm>
          <a:prstGeom prst="rect">
            <a:avLst/>
          </a:prstGeom>
          <a:noFill/>
        </p:spPr>
        <p:txBody>
          <a:bodyPr wrap="square" lIns="0" rIns="0" tIns="0" bIns="0">
            <a:spAutoFit/>
          </a:bodyPr>
          <a:lstStyle/>
          <a:p>
            <a:pPr algn="ctr"/>
            <a:r>
              <a:rPr sz="1500" b="1" i="0" u="none">
                <a:solidFill>
                  <a:srgbClr val="E09F3E"/>
                </a:solidFill>
                <a:latin typeface="Calibri"/>
              </a:rPr>
              <a:t>wafers reallocated to the higher-margin use</a:t>
            </a:r>
          </a:p>
        </p:txBody>
      </p:sp>
      <p:sp>
        <p:nvSpPr>
          <p:cNvPr id="47" name="Rounded Rectangle 46"/>
          <p:cNvSpPr/>
          <p:nvPr/>
        </p:nvSpPr>
        <p:spPr>
          <a:xfrm>
            <a:off x="572039" y="5852160"/>
            <a:ext cx="11047617" cy="621792"/>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4919" y="5961888"/>
            <a:ext cx="10681857" cy="402336"/>
          </a:xfrm>
          <a:prstGeom prst="rect">
            <a:avLst/>
          </a:prstGeom>
          <a:noFill/>
        </p:spPr>
        <p:txBody>
          <a:bodyPr wrap="square" lIns="45720" rIns="45720" tIns="0" bIns="0" anchor="ctr">
            <a:spAutoFit/>
          </a:bodyPr>
          <a:lstStyle/>
          <a:p>
            <a:pPr algn="ctr"/>
            <a:r>
              <a:rPr sz="1800" b="0" i="0" u="none">
                <a:solidFill>
                  <a:srgbClr val="0B2B4E"/>
                </a:solidFill>
                <a:latin typeface="Calibri"/>
              </a:rPr>
              <a:t>Nothing physically broke — the marginal wafer flowed to its best-paying use: opportunity cost as a supply-side force.</a:t>
            </a:r>
          </a:p>
        </p:txBody>
      </p:sp>
      <p:sp>
        <p:nvSpPr>
          <p:cNvPr id="49" name="Rectangle 4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52" name="TextBox 51"/>
          <p:cNvSpPr txBox="1"/>
          <p:nvPr/>
        </p:nvSpPr>
        <p:spPr>
          <a:xfrm>
            <a:off x="11475720" y="6583680"/>
            <a:ext cx="502920" cy="292608"/>
          </a:xfrm>
          <a:prstGeom prst="rect">
            <a:avLst/>
          </a:prstGeom>
          <a:noFill/>
        </p:spPr>
        <p:txBody>
          <a:bodyPr wrap="none" lIns="0" rIns="0" tIns="0" bIns="0">
            <a:spAutoFit/>
          </a:bodyPr>
          <a:lstStyle/>
          <a:p>
            <a:pPr algn="r"/>
            <a:fld id="{26EFB99A-B290-50B4-9E80-1277B2FA641F}" type="slidenum">
              <a:rPr lang="en-US" sz="1200" dirty="0">
                <a:solidFill>
                  <a:srgbClr val="555B66"/>
                </a:solidFill>
                <a:latin typeface="Calibri"/>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Supply and Demand</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Resolution: Prices Double — High Prices Can't Fix This Quickly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371600"/>
            <a:ext cx="6858000" cy="3657600"/>
          </a:xfrm>
          <a:prstGeom prst="rect">
            <a:avLst/>
          </a:prstGeom>
          <a:noFill/>
        </p:spPr>
        <p:txBody>
          <a:bodyPr wrap="square" lIns="0" rIns="0" tIns="0" bIns="0" anchor="ctr">
            <a:spAutoFit/>
          </a:bodyPr>
          <a:lstStyle>
            <a:lvl1pPr marL="342900" indent="-342900">
              <a:spcBef>
                <a:spcPts val="14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Q1 2026: conventional DRAM contract prices roughly double in a single quarter (TrendForce, reported)</a:t>
            </a:r>
          </a:p>
          <a:p>
            <a:pPr algn="l"/>
            <a:r>
              <a:rPr>
                <a:latin typeface="Calibri"/>
              </a:rPr>
              <a:t>Samsung reportedly reprices a 32GB DDR5 module $149 → $239 in one step (+60%)</a:t>
            </a:r>
          </a:p>
          <a:p>
            <a:pPr algn="l"/>
            <a:r>
              <a:rPr>
                <a:latin typeface="Calibri"/>
              </a:rPr>
              <a:t>HBM's share of DRAM wafer output: ~19% → ~23% (2026, reported); makers signal tightness into 2028</a:t>
            </a:r>
          </a:p>
          <a:p>
            <a:pPr algn="l"/>
            <a:r>
              <a:rPr b="1">
                <a:latin typeface="Calibri"/>
              </a:rPr>
              <a:t>New fabs take 2–3 years — quantity can't respond, so price does all the work</a:t>
            </a:r>
          </a:p>
        </p:txBody>
      </p:sp>
      <p:pic>
        <p:nvPicPr>
          <p:cNvPr id="8" name="Picture 7" descr="web_h100.jpg"/>
          <p:cNvPicPr>
            <a:picLocks noChangeAspect="1"/>
          </p:cNvPicPr>
          <p:nvPr/>
        </p:nvPicPr>
        <p:blipFill>
          <a:blip r:embed="rId2"/>
          <a:stretch>
            <a:fillRect/>
          </a:stretch>
        </p:blipFill>
        <p:spPr>
          <a:xfrm>
            <a:off x="7589520" y="1554480"/>
            <a:ext cx="3977639" cy="2237422"/>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dram.jpg"/>
          <p:cNvPicPr>
            <a:picLocks noChangeAspect="1"/>
          </p:cNvPicPr>
          <p:nvPr/>
        </p:nvPicPr>
        <p:blipFill>
          <a:blip r:embed="rId3"/>
          <a:stretch>
            <a:fillRect/>
          </a:stretch>
        </p:blipFill>
        <p:spPr>
          <a:xfrm>
            <a:off x="8183879" y="3913632"/>
            <a:ext cx="2788920" cy="223113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589520" y="6199632"/>
            <a:ext cx="3977639" cy="256032"/>
          </a:xfrm>
          <a:prstGeom prst="rect">
            <a:avLst/>
          </a:prstGeom>
          <a:noFill/>
        </p:spPr>
        <p:txBody>
          <a:bodyPr wrap="square" lIns="0" rIns="0" tIns="0" bIns="0">
            <a:spAutoFit/>
          </a:bodyPr>
          <a:lstStyle/>
          <a:p>
            <a:pPr algn="ctr"/>
            <a:r>
              <a:rPr sz="1100" b="0" i="1" u="none">
                <a:solidFill>
                  <a:srgbClr val="555B66"/>
                </a:solidFill>
                <a:latin typeface="Calibri"/>
              </a:rPr>
              <a:t>Photos: Wikimedia Commons</a:t>
            </a:r>
          </a:p>
        </p:txBody>
      </p:sp>
      <p:sp>
        <p:nvSpPr>
          <p:cNvPr id="11" name="TextBox 10"/>
          <p:cNvSpPr txBox="1"/>
          <p:nvPr/>
        </p:nvSpPr>
        <p:spPr>
          <a:xfrm>
            <a:off x="251999" y="5230368"/>
            <a:ext cx="6949440" cy="868680"/>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No factory burned down, yet laptop-memory supply contracted. What contract terms protect you when your input has a better-paying alternative use?</a:t>
            </a:r>
          </a:p>
        </p:txBody>
      </p:sp>
      <p:sp>
        <p:nvSpPr>
          <p:cNvPr id="12" name="TextBox 11"/>
          <p:cNvSpPr txBox="1"/>
          <p:nvPr/>
        </p:nvSpPr>
        <p:spPr>
          <a:xfrm>
            <a:off x="251999" y="6199632"/>
            <a:ext cx="6949440" cy="274320"/>
          </a:xfrm>
          <a:prstGeom prst="rect">
            <a:avLst/>
          </a:prstGeom>
          <a:noFill/>
        </p:spPr>
        <p:txBody>
          <a:bodyPr wrap="square" lIns="0" rIns="0" tIns="0" bIns="0">
            <a:spAutoFit/>
          </a:bodyPr>
          <a:lstStyle/>
          <a:p>
            <a:pPr algn="l"/>
            <a:r>
              <a:rPr sz="1100" b="0" i="1" u="none">
                <a:solidFill>
                  <a:srgbClr val="555B66"/>
                </a:solidFill>
                <a:latin typeface="Calibri"/>
              </a:rPr>
              <a:t>Sources: TrendForce press center (2026, reported); Network World; SK Hynix earnings call (Oct 2025)</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DD9ABE14-3AE8-5115-8866-7D6C21C4E047}" type="slidenum">
              <a:rPr lang="en-US" sz="1200" dirty="0">
                <a:solidFill>
                  <a:srgbClr val="555B66"/>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Opportunity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$100M Question: What It Costs to Stay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Altman (Jun 2025): Meta offered OpenAI staff “$100 million signing bonuses” — confirmed quote</a:t>
            </a:r>
          </a:p>
          <a:p>
            <a:pPr algn="l"/>
            <a:r>
              <a:rPr>
                <a:latin typeface="Calibri"/>
              </a:rPr>
              <a:t>Meta's CTO: multi-year stock packages, not sign-on bonuses — “the market's hot. It's not that hot.”</a:t>
            </a:r>
          </a:p>
          <a:p>
            <a:pPr algn="l"/>
            <a:r>
              <a:rPr>
                <a:latin typeface="Calibri"/>
              </a:rPr>
              <a:t>NYT-reported: one 24-year-old researcher's Meta package ~$250M over 4 years (reported, not confirmed)</a:t>
            </a:r>
          </a:p>
          <a:p>
            <a:pPr algn="l"/>
            <a:r>
              <a:rPr>
                <a:latin typeface="Calibri"/>
              </a:rPr>
              <a:t>A researcher who declines $100M pays $100M — in implicit cost — to stay</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Retention is a purchase at the market price: the outside offer is the implicit cost of staying, whether or not payroll ever records it. Companion to the full-economic-cost-of-an-MBA discussion.</a:t>
            </a:r>
          </a:p>
          <a:p>
            <a:r>
              <a:rPr sz="1800" b="1">
                <a:solidFill>
                  <a:srgbClr val="555B66"/>
                </a:solidFill>
                <a:latin typeface="Calibri"/>
              </a:rPr>
              <a:t>Proposed visual:  </a:t>
            </a:r>
            <a:r>
              <a:rPr sz="1800" i="1">
                <a:solidFill>
                  <a:srgbClr val="555B66"/>
                </a:solidFill>
                <a:latin typeface="Calibri"/>
              </a:rPr>
              <a:t>Explicit-vs-implicit cost ledger + Meta / OpenAI logos</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Your star engineer declines an offer at 3× the current package. Has your cost of employing her/him changed — and what if the accountants say no?</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Bloomberg / CNBC (Jun 2025); TechCrunch (Jun 2025); NYT (Aug 2025, reported)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972B4CC0-F718-5ECA-B75E-378D901D90F2}" type="slidenum">
              <a:rPr lang="en-US" sz="1200" dirty="0">
                <a:solidFill>
                  <a:srgbClr val="555B66"/>
                </a:solidFill>
                <a:latin typeface="Calibri"/>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Opportunity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Return-to-Office: A Pay Cut That Never Hits Payroll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Working from home saves 72 minutes per day on average, across 27 countries (AEA P&amp;P 2023)</a:t>
            </a:r>
          </a:p>
          <a:p>
            <a:pPr algn="l"/>
            <a:r>
              <a:rPr>
                <a:latin typeface="Calibri"/>
              </a:rPr>
              <a:t>Workers put ~40% of the saved time back into the job</a:t>
            </a:r>
          </a:p>
          <a:p>
            <a:pPr algn="l"/>
            <a:r>
              <a:rPr>
                <a:latin typeface="Calibri"/>
              </a:rPr>
              <a:t>Amazon: five days in office from January 2, 2025 (company announcement)</a:t>
            </a:r>
          </a:p>
          <a:p>
            <a:pPr algn="l"/>
            <a:r>
              <a:rPr>
                <a:latin typeface="Calibri"/>
              </a:rPr>
              <a:t>S&amp;P 500 firms: ~14% higher turnover after RTO mandates, concentrated among senior staff (working paper)</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Commuting time is compensation priced at zero on the books: a mandate raises the true cost of the job without touching payroll, and the market clears it through quits and wage demands. Core numbers are peer-reviewed (Aksoy, Barrero, Bloom et al.).</a:t>
            </a:r>
          </a:p>
          <a:p>
            <a:r>
              <a:rPr sz="1800" b="1">
                <a:solidFill>
                  <a:srgbClr val="555B66"/>
                </a:solidFill>
                <a:latin typeface="Calibri"/>
              </a:rPr>
              <a:t>Proposed visual:  </a:t>
            </a:r>
            <a:r>
              <a:rPr sz="1800" i="1">
                <a:solidFill>
                  <a:srgbClr val="555B66"/>
                </a:solidFill>
                <a:latin typeface="Calibri"/>
              </a:rPr>
              <a:t>72-minute clock split (job / caregiving / leisure) + commute schematic</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If 5 days in office means ~6 unpaid commuting hours a week, what raise leaves your staff indifferent — and is the in-person gain bigger than that?</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Aksoy et al. (AEA P&amp;P 2023); Barrero, Bloom &amp; Davis (JEP 2023); aboutamazon.com (Sep 2024); SSRN 5031481</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F2164A52-DE7E-5885-B494-5082134294D2}" type="slidenum">
              <a:rPr lang="en-US" sz="1200" dirty="0">
                <a:solidFill>
                  <a:srgbClr val="555B66"/>
                </a:solidFill>
                <a:latin typeface="Calibri"/>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Sunk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Walking Away from $10 Billion: Apple Car and GM Cruise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Apple (Feb 2024): killed Project Titan after ~10 years, ~2,000 staff, reported &gt;$10B — zero cars shipped</a:t>
            </a:r>
          </a:p>
          <a:p>
            <a:pPr algn="l"/>
            <a:r>
              <a:rPr>
                <a:latin typeface="Calibri"/>
              </a:rPr>
              <a:t>GM (Dec 2024): stopped funding Cruise robotaxis after reported $10B+ since 2016</a:t>
            </a:r>
          </a:p>
          <a:p>
            <a:pPr algn="l"/>
            <a:r>
              <a:rPr>
                <a:latin typeface="Calibri"/>
              </a:rPr>
              <a:t>GM's forward math (SEC-filed): pay a $0.5B exit charge to stop a $1.7B-per-year outflow</a:t>
            </a:r>
          </a:p>
          <a:p>
            <a:pPr algn="l"/>
            <a:r>
              <a:rPr>
                <a:latin typeface="Calibri"/>
              </a:rPr>
              <a:t>In both decisions, the $10B already spent appears nowhere</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modern Concordes, decided correctly: forward margins and forward costs drove both exits. GM's numbers are filing-confirmed — a rare fully quantified exit calculation.</a:t>
            </a:r>
          </a:p>
          <a:p>
            <a:r>
              <a:rPr sz="1800" b="1">
                <a:solidFill>
                  <a:srgbClr val="555B66"/>
                </a:solidFill>
                <a:latin typeface="Calibri"/>
              </a:rPr>
              <a:t>Proposed visual:  </a:t>
            </a:r>
            <a:r>
              <a:rPr sz="1800" i="1">
                <a:solidFill>
                  <a:srgbClr val="555B66"/>
                </a:solidFill>
                <a:latin typeface="Calibri"/>
              </a:rPr>
              <a:t>Cruise robotaxi photo + a two-column sunk-vs-forward ledger for the GM decision</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GM paid $522M to quit. Under what conditions is paying half a billion dollars to stop the value-maximizing move?</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GM Q4-2024 8-K (SEC); CNBC (Dec 2024 / Feb 2025); NYT &amp; Bloomberg (Feb 2024; Apple $10B reported, not disclosed)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AF1F879C-4422-5B2F-9ACB-B5B0A26AFC20}" type="slidenum">
              <a:rPr lang="en-US" sz="1200" dirty="0">
                <a:solidFill>
                  <a:srgbClr val="555B66"/>
                </a:solidFill>
                <a:latin typeface="Calibri"/>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Sunk Costs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Meta's Metaverse: $80B of Losses — Patience or Escalation?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Reality Labs operating losses: roughly $80–84B cumulative 2020–2025 (FY2025: $19.2B loss on $2.2B revenue — filings)</a:t>
            </a:r>
          </a:p>
          <a:p>
            <a:pPr algn="l"/>
            <a:r>
              <a:rPr>
                <a:latin typeface="Calibri"/>
              </a:rPr>
              <a:t>Losses rose EVERY year for six years; revenue stuck near $2B</a:t>
            </a:r>
          </a:p>
          <a:p>
            <a:pPr algn="l"/>
            <a:r>
              <a:rPr>
                <a:latin typeface="Calibri"/>
              </a:rPr>
              <a:t>2026 pivot: ~1,500 Reality Labs layoffs; Horizon Worlds moved to mobile; budget shifted to AI glasses</a:t>
            </a:r>
          </a:p>
          <a:p>
            <a:pPr algn="l"/>
            <a:r>
              <a:rPr>
                <a:latin typeface="Calibri"/>
              </a:rPr>
              <a:t>Meta's defense was forward-looking: option value on the next computing platform</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contested case: an escalation-of-commitment pattern versus genuine platform option value. When Meta finally cut, its stated reasons were about future returns — not recovering the $80B. Ideal debate slide after Concorde.</a:t>
            </a:r>
          </a:p>
          <a:p>
            <a:r>
              <a:rPr sz="1800" b="1">
                <a:solidFill>
                  <a:srgbClr val="555B66"/>
                </a:solidFill>
                <a:latin typeface="Calibri"/>
              </a:rPr>
              <a:t>Proposed visual:  </a:t>
            </a:r>
            <a:r>
              <a:rPr sz="1800" i="1">
                <a:solidFill>
                  <a:srgbClr val="555B66"/>
                </a:solidFill>
                <a:latin typeface="Calibri"/>
              </a:rPr>
              <a:t>Native bar chart: Reality Labs annual operating losses 2020–2025</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What evidence, visible in 2023 rather than in hindsight, would distinguish patient platform investment from escalating commitment?</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Meta Q4-2025 results (SEC Ex. 99.1); CNBC (Jan 2026); TechCrunch (Feb 2026)</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53793BDB-F8E4-5A87-9208-0FE1942BB6AD}" type="slidenum">
              <a:rPr lang="en-US" sz="1200" dirty="0">
                <a:solidFill>
                  <a:srgbClr val="555B66"/>
                </a:solidFill>
                <a:latin typeface="Calibri"/>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Cost-Benefit and Marginal Analysis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Mini-Case: Airlines and the 2026 Fuel Shock</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6217920" cy="3474720"/>
          </a:xfrm>
          <a:prstGeom prst="rect">
            <a:avLst/>
          </a:prstGeom>
          <a:noFill/>
        </p:spPr>
        <p:txBody>
          <a:bodyPr wrap="square" lIns="0" rIns="0" tIns="0" bIns="0" anchor="t">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a:latin typeface="Calibri"/>
              </a:rPr>
              <a:t>Mar 2026: jet fuel “more than doubled in the last three weeks” (Kirby memo)</a:t>
            </a:r>
          </a:p>
          <a:p>
            <a:pPr algn="l"/>
            <a:r>
              <a:rPr>
                <a:latin typeface="Calibri"/>
              </a:rPr>
              <a:t>United cuts ~5% of planned capacity:</a:t>
            </a:r>
          </a:p>
          <a:p>
            <a:pPr algn="l" lvl="1"/>
            <a:r>
              <a:rPr>
                <a:latin typeface="Calibri"/>
              </a:rPr>
              <a:t>~3pp off-peak, midweek and red-eye flying</a:t>
            </a:r>
          </a:p>
          <a:p>
            <a:pPr algn="l" lvl="1"/>
            <a:r>
              <a:rPr>
                <a:latin typeface="Calibri"/>
              </a:rPr>
              <a:t>~1pp Chicago O'Hare; ~1pp Tel Aviv / Dubai</a:t>
            </a:r>
          </a:p>
          <a:p>
            <a:pPr algn="l"/>
            <a:r>
              <a:rPr>
                <a:latin typeface="Calibri"/>
              </a:rPr>
              <a:t>Delta follows: off-peak and red-eyes are </a:t>
            </a:r>
            <a:r>
              <a:rPr>
                <a:solidFill>
                  <a:srgbClr val="C00000"/>
                </a:solidFill>
                <a:latin typeface="Calibri"/>
              </a:rPr>
              <a:t>“15% to 20% less valuable on a net revenue basis”</a:t>
            </a:r>
            <a:r>
              <a:rPr>
                <a:latin typeface="Calibri"/>
              </a:rPr>
              <a:t> (CCO Esposito)</a:t>
            </a:r>
          </a:p>
          <a:p>
            <a:pPr algn="l"/>
            <a:r>
              <a:rPr>
                <a:latin typeface="Calibri"/>
              </a:rPr>
              <a:t>Aircraft orders and 2027 capacity: unchanged</a:t>
            </a:r>
          </a:p>
        </p:txBody>
      </p:sp>
      <p:pic>
        <p:nvPicPr>
          <p:cNvPr id="8" name="Picture 7" descr="web_united.jpg"/>
          <p:cNvPicPr>
            <a:picLocks noChangeAspect="1"/>
          </p:cNvPicPr>
          <p:nvPr/>
        </p:nvPicPr>
        <p:blipFill>
          <a:blip r:embed="rId2"/>
          <a:stretch>
            <a:fillRect/>
          </a:stretch>
        </p:blipFill>
        <p:spPr>
          <a:xfrm>
            <a:off x="6995160" y="1874519"/>
            <a:ext cx="4572000" cy="2219325"/>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995160" y="4160520"/>
            <a:ext cx="4572000" cy="256032"/>
          </a:xfrm>
          <a:prstGeom prst="rect">
            <a:avLst/>
          </a:prstGeom>
          <a:noFill/>
        </p:spPr>
        <p:txBody>
          <a:bodyPr wrap="square" lIns="0" rIns="0" tIns="0" bIns="0">
            <a:spAutoFit/>
          </a:bodyPr>
          <a:lstStyle/>
          <a:p>
            <a:pPr algn="ctr"/>
            <a:r>
              <a:rPr sz="1100" b="0" i="1" u="none">
                <a:solidFill>
                  <a:srgbClr val="555B66"/>
                </a:solidFill>
                <a:latin typeface="Calibri"/>
              </a:rPr>
              <a:t>Photo: Wikimedia Commons</a:t>
            </a:r>
          </a:p>
        </p:txBody>
      </p:sp>
      <p:sp>
        <p:nvSpPr>
          <p:cNvPr id="10" name="Rounded Rectangle 9"/>
          <p:cNvSpPr/>
          <p:nvPr/>
        </p:nvSpPr>
        <p:spPr>
          <a:xfrm>
            <a:off x="572039" y="5074920"/>
            <a:ext cx="11047617" cy="10058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919" y="5184648"/>
            <a:ext cx="10681857" cy="786384"/>
          </a:xfrm>
          <a:prstGeom prst="rect">
            <a:avLst/>
          </a:prstGeom>
          <a:noFill/>
        </p:spPr>
        <p:txBody>
          <a:bodyPr wrap="square" lIns="45720" rIns="45720" tIns="0" bIns="0" anchor="ctr">
            <a:spAutoFit/>
          </a:bodyPr>
          <a:lstStyle/>
          <a:p>
            <a:pPr algn="l"/>
            <a:r>
              <a:rPr sz="1800" b="0" i="1" u="none">
                <a:solidFill>
                  <a:srgbClr val="0B2B4E"/>
                </a:solidFill>
                <a:latin typeface="Calibri"/>
              </a:rPr>
              <a:t>“There's no point in burning cash in the near term on flying that just can't absorb these fuel costs. … Nothing changes about our longer-term plans.”</a:t>
            </a:r>
          </a:p>
          <a:p>
            <a:pPr algn="l"/>
            <a:r>
              <a:rPr sz="1600" b="1" i="0" u="none">
                <a:solidFill>
                  <a:srgbClr val="0B2B4E"/>
                </a:solidFill>
                <a:latin typeface="Calibri"/>
              </a:rPr>
              <a:t>   — Scott Kirby, United CEO (staff memo, Mar 2026)</a:t>
            </a:r>
          </a:p>
        </p:txBody>
      </p:sp>
      <p:sp>
        <p:nvSpPr>
          <p:cNvPr id="12" name="TextBox 11"/>
          <p:cNvSpPr txBox="1"/>
          <p:nvPr/>
        </p:nvSpPr>
        <p:spPr>
          <a:xfrm>
            <a:off x="251999" y="6199632"/>
            <a:ext cx="11687697" cy="274320"/>
          </a:xfrm>
          <a:prstGeom prst="rect">
            <a:avLst/>
          </a:prstGeom>
          <a:noFill/>
        </p:spPr>
        <p:txBody>
          <a:bodyPr wrap="square" lIns="0" rIns="0" tIns="0" bIns="0">
            <a:spAutoFit/>
          </a:bodyPr>
          <a:lstStyle/>
          <a:p>
            <a:pPr algn="l"/>
            <a:r>
              <a:rPr sz="1100" b="0" i="1" u="none">
                <a:solidFill>
                  <a:srgbClr val="555B66"/>
                </a:solidFill>
                <a:latin typeface="Calibri"/>
              </a:rPr>
              <a:t>Sources: Kirby memo via Fox Business / CNBC (Mar 2026); Travel Market Report (Apr 2026)</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889F1E5C-E4B8-512C-94F0-E88E46A52CE2}" type="slidenum">
              <a:rPr lang="en-US" sz="1200" dirty="0">
                <a:solidFill>
                  <a:srgbClr val="555B66"/>
                </a:solidFill>
                <a:latin typeface="Calibri"/>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Cost-Benefit and Marginal Analysis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When MC Jumps, Cut the Marginal Flight — Not the Fleet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3017520" y="1709928"/>
            <a:ext cx="0" cy="373075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17520" y="5440680"/>
            <a:ext cx="619963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331720" y="1307592"/>
            <a:ext cx="1828800" cy="292608"/>
          </a:xfrm>
          <a:prstGeom prst="rect">
            <a:avLst/>
          </a:prstGeom>
          <a:noFill/>
        </p:spPr>
        <p:txBody>
          <a:bodyPr wrap="square" lIns="0" rIns="0" tIns="0" bIns="0">
            <a:spAutoFit/>
          </a:bodyPr>
          <a:lstStyle/>
          <a:p>
            <a:pPr algn="l"/>
            <a:r>
              <a:rPr sz="1600" b="1" i="1" u="none">
                <a:solidFill>
                  <a:srgbClr val="0B2B4E"/>
                </a:solidFill>
                <a:latin typeface="Calibri"/>
              </a:rPr>
              <a:t>$ per flight</a:t>
            </a:r>
          </a:p>
        </p:txBody>
      </p:sp>
      <p:sp>
        <p:nvSpPr>
          <p:cNvPr id="10" name="TextBox 9"/>
          <p:cNvSpPr txBox="1"/>
          <p:nvPr/>
        </p:nvSpPr>
        <p:spPr>
          <a:xfrm>
            <a:off x="8686799" y="5532120"/>
            <a:ext cx="1645920" cy="292608"/>
          </a:xfrm>
          <a:prstGeom prst="rect">
            <a:avLst/>
          </a:prstGeom>
          <a:noFill/>
        </p:spPr>
        <p:txBody>
          <a:bodyPr wrap="square" lIns="0" rIns="0" tIns="0" bIns="0">
            <a:spAutoFit/>
          </a:bodyPr>
          <a:lstStyle/>
          <a:p>
            <a:pPr algn="l"/>
            <a:r>
              <a:rPr sz="1600" b="1" i="1" u="none">
                <a:solidFill>
                  <a:srgbClr val="0B2B4E"/>
                </a:solidFill>
                <a:latin typeface="Calibri"/>
              </a:rPr>
              <a:t>Flights</a:t>
            </a:r>
          </a:p>
        </p:txBody>
      </p:sp>
      <p:cxnSp>
        <p:nvCxnSpPr>
          <p:cNvPr id="11" name="Connector 10"/>
          <p:cNvCxnSpPr/>
          <p:nvPr/>
        </p:nvCxnSpPr>
        <p:spPr>
          <a:xfrm>
            <a:off x="3319272" y="2409444"/>
            <a:ext cx="5431536" cy="2674620"/>
          </a:xfrm>
          <a:prstGeom prst="line">
            <a:avLst/>
          </a:prstGeom>
          <a:ln w="34925">
            <a:solidFill>
              <a:srgbClr val="00B05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983126" y="2819552"/>
            <a:ext cx="2651760" cy="292608"/>
          </a:xfrm>
          <a:prstGeom prst="rect">
            <a:avLst/>
          </a:prstGeom>
          <a:noFill/>
        </p:spPr>
        <p:txBody>
          <a:bodyPr wrap="square" lIns="0" rIns="0" tIns="0" bIns="0">
            <a:spAutoFit/>
          </a:bodyPr>
          <a:lstStyle/>
          <a:p>
            <a:pPr algn="l"/>
            <a:r>
              <a:rPr sz="1600" b="1" i="1" u="none">
                <a:solidFill>
                  <a:srgbClr val="00B050"/>
                </a:solidFill>
                <a:latin typeface="Calibri"/>
              </a:rPr>
              <a:t>MR of flights (ranked)</a:t>
            </a:r>
          </a:p>
        </p:txBody>
      </p:sp>
      <p:cxnSp>
        <p:nvCxnSpPr>
          <p:cNvPr id="13" name="Connector 12"/>
          <p:cNvCxnSpPr/>
          <p:nvPr/>
        </p:nvCxnSpPr>
        <p:spPr>
          <a:xfrm>
            <a:off x="3017520" y="4299508"/>
            <a:ext cx="5853988" cy="0"/>
          </a:xfrm>
          <a:prstGeom prst="line">
            <a:avLst/>
          </a:prstGeom>
          <a:ln w="28575">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198571" y="4388662"/>
            <a:ext cx="2468880" cy="292608"/>
          </a:xfrm>
          <a:prstGeom prst="rect">
            <a:avLst/>
          </a:prstGeom>
          <a:noFill/>
        </p:spPr>
        <p:txBody>
          <a:bodyPr wrap="square" lIns="0" rIns="0" tIns="0" bIns="0">
            <a:spAutoFit/>
          </a:bodyPr>
          <a:lstStyle/>
          <a:p>
            <a:pPr algn="l"/>
            <a:r>
              <a:rPr sz="1600" b="1" i="1" u="none">
                <a:solidFill>
                  <a:srgbClr val="0B2B4E"/>
                </a:solidFill>
                <a:latin typeface="Calibri"/>
              </a:rPr>
              <a:t>MC — normal fuel</a:t>
            </a:r>
          </a:p>
        </p:txBody>
      </p:sp>
      <p:cxnSp>
        <p:nvCxnSpPr>
          <p:cNvPr id="15" name="Connector 14"/>
          <p:cNvCxnSpPr/>
          <p:nvPr/>
        </p:nvCxnSpPr>
        <p:spPr>
          <a:xfrm>
            <a:off x="3017520" y="3800246"/>
            <a:ext cx="5853988"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98571" y="3497122"/>
            <a:ext cx="2468880" cy="292608"/>
          </a:xfrm>
          <a:prstGeom prst="rect">
            <a:avLst/>
          </a:prstGeom>
          <a:noFill/>
        </p:spPr>
        <p:txBody>
          <a:bodyPr wrap="square" lIns="0" rIns="0" tIns="0" bIns="0">
            <a:spAutoFit/>
          </a:bodyPr>
          <a:lstStyle/>
          <a:p>
            <a:pPr algn="l"/>
            <a:r>
              <a:rPr sz="1600" b="1" i="1" u="none">
                <a:solidFill>
                  <a:srgbClr val="C00000"/>
                </a:solidFill>
                <a:latin typeface="Calibri"/>
              </a:rPr>
              <a:t>MC — fuel ×2</a:t>
            </a:r>
          </a:p>
        </p:txBody>
      </p:sp>
      <p:cxnSp>
        <p:nvCxnSpPr>
          <p:cNvPr id="17" name="Connector 16"/>
          <p:cNvCxnSpPr/>
          <p:nvPr/>
        </p:nvCxnSpPr>
        <p:spPr>
          <a:xfrm>
            <a:off x="7157557" y="4299508"/>
            <a:ext cx="0" cy="114117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43670" y="3800246"/>
            <a:ext cx="0" cy="164043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700357" y="5495544"/>
            <a:ext cx="914400" cy="274320"/>
          </a:xfrm>
          <a:prstGeom prst="rect">
            <a:avLst/>
          </a:prstGeom>
          <a:noFill/>
        </p:spPr>
        <p:txBody>
          <a:bodyPr wrap="square" lIns="0" rIns="0" tIns="0" bIns="0">
            <a:spAutoFit/>
          </a:bodyPr>
          <a:lstStyle/>
          <a:p>
            <a:pPr algn="ctr"/>
            <a:r>
              <a:rPr sz="1600" b="0" i="1" u="none">
                <a:solidFill>
                  <a:srgbClr val="0B2B4E"/>
                </a:solidFill>
                <a:latin typeface="Calibri"/>
              </a:rPr>
              <a:t>Q0*</a:t>
            </a:r>
          </a:p>
        </p:txBody>
      </p:sp>
      <p:sp>
        <p:nvSpPr>
          <p:cNvPr id="20" name="TextBox 19"/>
          <p:cNvSpPr txBox="1"/>
          <p:nvPr/>
        </p:nvSpPr>
        <p:spPr>
          <a:xfrm>
            <a:off x="5686470" y="5495544"/>
            <a:ext cx="914400" cy="274320"/>
          </a:xfrm>
          <a:prstGeom prst="rect">
            <a:avLst/>
          </a:prstGeom>
          <a:noFill/>
        </p:spPr>
        <p:txBody>
          <a:bodyPr wrap="square" lIns="0" rIns="0" tIns="0" bIns="0">
            <a:spAutoFit/>
          </a:bodyPr>
          <a:lstStyle/>
          <a:p>
            <a:pPr algn="ctr"/>
            <a:r>
              <a:rPr sz="1600" b="0" i="1" u="none">
                <a:solidFill>
                  <a:srgbClr val="0B2B4E"/>
                </a:solidFill>
                <a:latin typeface="Calibri"/>
              </a:rPr>
              <a:t>Q1*</a:t>
            </a:r>
          </a:p>
        </p:txBody>
      </p:sp>
      <p:cxnSp>
        <p:nvCxnSpPr>
          <p:cNvPr id="21" name="Connector 20"/>
          <p:cNvCxnSpPr/>
          <p:nvPr/>
        </p:nvCxnSpPr>
        <p:spPr>
          <a:xfrm>
            <a:off x="6143670" y="5137556"/>
            <a:ext cx="1013887" cy="0"/>
          </a:xfrm>
          <a:prstGeom prst="line">
            <a:avLst/>
          </a:prstGeom>
          <a:ln w="38100">
            <a:solidFill>
              <a:srgbClr val="E09F3E"/>
            </a:solidFill>
            <a:tailEnd type="triangle" w="med" h="med"/>
            <a:headEnd type="triangle" w="med" h="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47488" y="4513478"/>
            <a:ext cx="3200400" cy="603504"/>
          </a:xfrm>
          <a:prstGeom prst="rect">
            <a:avLst/>
          </a:prstGeom>
          <a:noFill/>
        </p:spPr>
        <p:txBody>
          <a:bodyPr wrap="square" lIns="0" rIns="0" tIns="0" bIns="0">
            <a:spAutoFit/>
          </a:bodyPr>
          <a:lstStyle/>
          <a:p>
            <a:pPr algn="ctr"/>
            <a:r>
              <a:rPr sz="1500" b="1" i="0" u="none">
                <a:solidFill>
                  <a:srgbClr val="E09F3E"/>
                </a:solidFill>
                <a:latin typeface="Calibri"/>
              </a:rPr>
              <a:t>the ~5% cut:
off-peak and red-eyes first</a:t>
            </a:r>
          </a:p>
        </p:txBody>
      </p:sp>
      <p:sp>
        <p:nvSpPr>
          <p:cNvPr id="23" name="Rounded Rectangle 22"/>
          <p:cNvSpPr/>
          <p:nvPr/>
        </p:nvSpPr>
        <p:spPr>
          <a:xfrm>
            <a:off x="572039" y="5833872"/>
            <a:ext cx="11047617" cy="6400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919" y="5943600"/>
            <a:ext cx="10681857" cy="420624"/>
          </a:xfrm>
          <a:prstGeom prst="rect">
            <a:avLst/>
          </a:prstGeom>
          <a:noFill/>
        </p:spPr>
        <p:txBody>
          <a:bodyPr wrap="square" lIns="45720" rIns="45720" tIns="0" bIns="0" anchor="ctr">
            <a:spAutoFit/>
          </a:bodyPr>
          <a:lstStyle/>
          <a:p>
            <a:pPr algn="ctr"/>
            <a:r>
              <a:rPr sz="1800" b="0" i="0" u="none">
                <a:solidFill>
                  <a:srgbClr val="0B2B4E"/>
                </a:solidFill>
                <a:latin typeface="Calibri"/>
              </a:rPr>
              <a:t>Shed exactly the flights between the old and new MB = MC crossing — short run only; the fleet (long run) stays.</a:t>
            </a:r>
          </a:p>
        </p:txBody>
      </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61BE8715-22EA-5792-B9AF-FD5475CC3481}" type="slidenum">
              <a:rPr lang="en-US" sz="1200" dirty="0">
                <a:solidFill>
                  <a:srgbClr val="555B66"/>
                </a:solidFill>
                <a:latin typeface="Calibri"/>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Market Mechanism and Fairness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After the LA Fires: A 10% Rent Cap Meets a Housing Shortage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274320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Jan 7, 2025 emergency: CA Penal Code §396 capped rent increases at 10% — with criminal penalties</a:t>
            </a:r>
          </a:p>
          <a:p>
            <a:pPr algn="l"/>
            <a:r>
              <a:rPr>
                <a:latin typeface="Calibri"/>
              </a:rPr>
              <a:t>Illegal to ACCEPT more — even if the tenant volunteers it (AG Bonta)</a:t>
            </a:r>
          </a:p>
          <a:p>
            <a:pPr algn="l"/>
            <a:r>
              <a:rPr>
                <a:latin typeface="Calibri"/>
              </a:rPr>
              <a:t>750+ warning letters by Jun 2025; realtors criminally charged (one listing &gt;50% above pre-fire rent)</a:t>
            </a:r>
          </a:p>
          <a:p>
            <a:pPr algn="l"/>
            <a:r>
              <a:rPr>
                <a:latin typeface="Calibri"/>
              </a:rPr>
              <a:t>Scraped Zillow data (advocacy group, reported): ~15% of updated listings above the cap; 2-bedrooms up ~80%</a:t>
            </a:r>
          </a:p>
        </p:txBody>
      </p:sp>
      <p:sp>
        <p:nvSpPr>
          <p:cNvPr id="8" name="Rounded Rectangle 7"/>
          <p:cNvSpPr/>
          <p:nvPr/>
        </p:nvSpPr>
        <p:spPr>
          <a:xfrm>
            <a:off x="251999" y="4160520"/>
            <a:ext cx="11687697" cy="1261872"/>
          </a:xfrm>
          <a:prstGeom prst="roundRect">
            <a:avLst>
              <a:gd name="adj" fmla="val 10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879" y="4224528"/>
            <a:ext cx="11321937" cy="1133856"/>
          </a:xfrm>
          <a:prstGeom prst="rect">
            <a:avLst/>
          </a:prstGeom>
          <a:noFill/>
        </p:spPr>
        <p:txBody>
          <a:bodyPr wrap="square" anchor="ctr">
            <a:spAutoFit/>
          </a:bodyPr>
          <a:lstStyle/>
          <a:p>
            <a:r>
              <a:rPr sz="1800" b="1">
                <a:solidFill>
                  <a:srgbClr val="0B2B4E"/>
                </a:solidFill>
                <a:latin typeface="Calibri"/>
              </a:rPr>
              <a:t>Teaching angle:  </a:t>
            </a:r>
            <a:r>
              <a:rPr sz="1800">
                <a:solidFill>
                  <a:srgbClr val="0B2B4E"/>
                </a:solidFill>
                <a:latin typeface="Calibri"/>
              </a:rPr>
              <a:t>The “shortages when disasters loom” discussion (slide 29) with a case from the students' own zip codes: a binding cap converts a price rise into non-price rationing — queues, networks, non-compliance — and writes the fairness intuition into criminal law.</a:t>
            </a:r>
          </a:p>
          <a:p>
            <a:r>
              <a:rPr sz="1800" b="1">
                <a:solidFill>
                  <a:srgbClr val="555B66"/>
                </a:solidFill>
                <a:latin typeface="Calibri"/>
              </a:rPr>
              <a:t>Proposed visual:  </a:t>
            </a:r>
            <a:r>
              <a:rPr sz="1800" i="1">
                <a:solidFill>
                  <a:srgbClr val="555B66"/>
                </a:solidFill>
                <a:latin typeface="Calibri"/>
              </a:rPr>
              <a:t>LA-fires photo + native S/D chart with a price ceiling below the market-clearing rent</a:t>
            </a:r>
          </a:p>
        </p:txBody>
      </p:sp>
      <p:sp>
        <p:nvSpPr>
          <p:cNvPr id="10" name="TextBox 9"/>
          <p:cNvSpPr txBox="1"/>
          <p:nvPr/>
        </p:nvSpPr>
        <p:spPr>
          <a:xfrm>
            <a:off x="251999" y="5504688"/>
            <a:ext cx="11687697" cy="566928"/>
          </a:xfrm>
          <a:prstGeom prst="rect">
            <a:avLst/>
          </a:prstGeom>
          <a:noFill/>
        </p:spPr>
        <p:txBody>
          <a:bodyPr wrap="square">
            <a:spAutoFit/>
          </a:bodyPr>
          <a:lstStyle/>
          <a:p>
            <a:r>
              <a:rPr sz="1800" b="1">
                <a:solidFill>
                  <a:srgbClr val="E09F3E"/>
                </a:solidFill>
                <a:latin typeface="Calibri"/>
              </a:rPr>
              <a:t>Discussion:  </a:t>
            </a:r>
            <a:r>
              <a:rPr sz="1800" i="1">
                <a:solidFill>
                  <a:srgbClr val="0B2B4E"/>
                </a:solidFill>
                <a:latin typeface="Calibri"/>
              </a:rPr>
              <a:t>If the cap had been lifted on Jan 8 and rents had doubled — who gets the housing, and is that allocation better or worse?</a:t>
            </a:r>
          </a:p>
        </p:txBody>
      </p:sp>
      <p:sp>
        <p:nvSpPr>
          <p:cNvPr id="11" name="TextBox 10"/>
          <p:cNvSpPr txBox="1"/>
          <p:nvPr/>
        </p:nvSpPr>
        <p:spPr>
          <a:xfrm>
            <a:off x="251999" y="6144768"/>
            <a:ext cx="11687697" cy="365760"/>
          </a:xfrm>
          <a:prstGeom prst="rect">
            <a:avLst/>
          </a:prstGeom>
          <a:noFill/>
        </p:spPr>
        <p:txBody>
          <a:bodyPr wrap="square" lIns="0" rIns="0" tIns="0" bIns="0">
            <a:spAutoFit/>
          </a:bodyPr>
          <a:lstStyle/>
          <a:p>
            <a:pPr algn="l"/>
            <a:r>
              <a:rPr sz="1100" b="0" i="1" u="none">
                <a:solidFill>
                  <a:srgbClr val="555B66"/>
                </a:solidFill>
                <a:latin typeface="Calibri"/>
              </a:rPr>
              <a:t>Sources: CA AG press releases (Jan–Jun 2025); Gov. Newsom EOs (Mar 2025, Jan 2026); NLIHC / Rent Brigade (reported)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7A6F22D0-723E-561A-A382-778B47BF3598}" type="slidenum">
              <a:rPr lang="en-US" sz="1200" dirty="0">
                <a:solidFill>
                  <a:srgbClr val="555B66"/>
                </a:solidFill>
                <a:latin typeface="Calibri"/>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Bench</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Bench: More Candidates I — Markets, Supply and Demand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493776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Market definition</a:t>
            </a:r>
          </a:p>
          <a:p>
            <a:pPr algn="l" lvl="1"/>
            <a:r>
              <a:rPr sz="1800">
                <a:latin typeface="Calibri"/>
              </a:rPr>
              <a:t>FTC v. Meta (Nov 2025): narrow market REJECTED — TikTok/YouTube converged; the counterexample to Tapestry/Kroger</a:t>
            </a:r>
          </a:p>
          <a:p>
            <a:pPr algn="l" lvl="1"/>
            <a:r>
              <a:rPr sz="1800">
                <a:latin typeface="Calibri"/>
              </a:rPr>
              <a:t>Google search remedies (Sep 2025): are AI chatbots in the market? Outside for liability, inside for the remedy</a:t>
            </a:r>
          </a:p>
          <a:p>
            <a:pPr algn="l" lvl="1"/>
            <a:r>
              <a:rPr sz="1800">
                <a:latin typeface="Calibri"/>
              </a:rPr>
              <a:t>FTC v. Amazon “online superstore”: two adjectives do all the work; trial Mar 2027 — prompt, not case</a:t>
            </a:r>
          </a:p>
          <a:p>
            <a:pPr algn="l">
              <a:spcBef>
                <a:spcPts val="800"/>
              </a:spcBef>
              <a:buNone/>
            </a:pPr>
            <a:r>
              <a:rPr sz="2000" b="1">
                <a:solidFill>
                  <a:srgbClr val="0B2B4E"/>
                </a:solidFill>
                <a:latin typeface="Calibri"/>
              </a:rPr>
              <a:t>Supply and demand</a:t>
            </a:r>
          </a:p>
          <a:p>
            <a:pPr algn="l" lvl="1"/>
            <a:r>
              <a:rPr sz="1800">
                <a:latin typeface="Calibri"/>
              </a:rPr>
              <a:t>US beef 2024–26: +37% (BLS), smallest herd since 1951 — slow biological supply response vs. eggs' fast one</a:t>
            </a:r>
          </a:p>
          <a:p>
            <a:pPr algn="l" lvl="1"/>
            <a:r>
              <a:rPr sz="1800">
                <a:latin typeface="Calibri"/>
              </a:rPr>
              <a:t>Coffee: retail +52% (BLS-verified) while futures retreated — the pass-through lag executives misread</a:t>
            </a:r>
          </a:p>
          <a:p>
            <a:pPr algn="l" lvl="1"/>
            <a:r>
              <a:rPr sz="1800">
                <a:latin typeface="Calibri"/>
              </a:rPr>
              <a:t>Cocoa: price fell ~70% while consumption ALSO fell — you need quantity, not just price, to identify the shift</a:t>
            </a:r>
          </a:p>
          <a:p>
            <a:pPr algn="l" lvl="1"/>
            <a:r>
              <a:rPr sz="1800">
                <a:latin typeface="Calibri"/>
              </a:rPr>
              <a:t>GLP-1 drugs: administered prices → queues, waitlists, and a compounding gray market instead of price increases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C1454909-D6FF-5F1F-980F-67DB08190285}" type="slidenum">
              <a:rPr lang="en-US" sz="1200" dirty="0">
                <a:solidFill>
                  <a:srgbClr val="555B66"/>
                </a:solidFill>
                <a:latin typeface="Calibri"/>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Bench</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Bench: More Candidates II — Opportunity and Sunk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493776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Opportunity costs</a:t>
            </a:r>
          </a:p>
          <a:p>
            <a:pPr algn="l" lvl="1"/>
            <a:r>
              <a:rPr sz="1800">
                <a:latin typeface="Calibri"/>
              </a:rPr>
              <a:t>Berkshire's record ~$397B cash (Q1 2026, reported) and Abel's deployments: OxyChem $9.5B, Taylor Morrison, buybacks</a:t>
            </a:r>
          </a:p>
          <a:p>
            <a:pPr algn="l" lvl="1"/>
            <a:r>
              <a:rPr sz="1800">
                <a:latin typeface="Calibri"/>
              </a:rPr>
              <a:t>Hyperscaler AI capex ~$700B (2026, big four): the required return that never appears on the income statement</a:t>
            </a:r>
          </a:p>
          <a:p>
            <a:pPr algn="l" lvl="1"/>
            <a:r>
              <a:rPr sz="1800">
                <a:latin typeface="Calibri"/>
              </a:rPr>
              <a:t>NIL-era draft decisions: staying in college now has a price tag ($6.5M reported NIL offer vs. NFL rookie deal)</a:t>
            </a:r>
          </a:p>
          <a:p>
            <a:pPr algn="l">
              <a:spcBef>
                <a:spcPts val="800"/>
              </a:spcBef>
              <a:buNone/>
            </a:pPr>
            <a:r>
              <a:rPr sz="2000" b="1">
                <a:solidFill>
                  <a:srgbClr val="0B2B4E"/>
                </a:solidFill>
                <a:latin typeface="Calibri"/>
              </a:rPr>
              <a:t>Sunk costs</a:t>
            </a:r>
          </a:p>
          <a:p>
            <a:pPr algn="l" lvl="1"/>
            <a:r>
              <a:rPr sz="1800">
                <a:latin typeface="Calibri"/>
              </a:rPr>
              <a:t>California high-speed rail: approved 2008 at $9B, Phase I now $126B (LAO) — the fallacy in its political habitat</a:t>
            </a:r>
          </a:p>
          <a:p>
            <a:pPr algn="l" lvl="1"/>
            <a:r>
              <a:rPr sz="1800">
                <a:latin typeface="Calibri"/>
              </a:rPr>
              <a:t>Ørsted's Hornsea 4 (May 2025): paid up to ~DKK 5B to quit despite a locked-in price — quitting has a price tag</a:t>
            </a:r>
          </a:p>
          <a:p>
            <a:pPr algn="l" lvl="1"/>
            <a:r>
              <a:rPr sz="1800">
                <a:latin typeface="Calibri"/>
              </a:rPr>
              <a:t>Sony's Concord (2024): finished game taken offline in 14 days with full refunds — “it's finished” is not a reason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4EC799B-974A-5988-A91E-35B1A66E405C}" type="slidenum">
              <a:rPr lang="en-US" sz="1200" dirty="0">
                <a:solidFill>
                  <a:srgbClr val="555B66"/>
                </a:solidFill>
                <a:latin typeface="Calibri"/>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1 · Candidates · Bench</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Bench: More Candidates III — Marginal Analysis and Fairness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17320"/>
            <a:ext cx="11687697" cy="4937760"/>
          </a:xfrm>
          <a:prstGeom prst="rect">
            <a:avLst/>
          </a:prstGeom>
          <a:noFill/>
        </p:spPr>
        <p:txBody>
          <a:bodyPr wrap="square" lIns="0" rIns="0" tIns="0" bIns="0" anchor="t">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Marginal analysis and fairness</a:t>
            </a:r>
          </a:p>
          <a:p>
            <a:pPr algn="l" lvl="1"/>
            <a:r>
              <a:rPr sz="1800">
                <a:latin typeface="Calibri"/>
              </a:rPr>
              <a:t>Google datacenter demand response (1 GW by 2026): sell the megawatt, not the compute — the marginal-value comparison</a:t>
            </a:r>
          </a:p>
          <a:p>
            <a:pPr algn="l" lvl="1"/>
            <a:r>
              <a:rPr sz="1800">
                <a:latin typeface="Calibri"/>
              </a:rPr>
              <a:t>Wendy's “surge pricing” (2024): identical mechanism, opposite reception as discount vs. surcharge — the framing lesson</a:t>
            </a:r>
          </a:p>
          <a:p>
            <a:pPr algn="l" lvl="1"/>
            <a:r>
              <a:rPr sz="1800">
                <a:latin typeface="Calibri"/>
              </a:rPr>
              <a:t>Egg rationing 2025: Trader Joe's quantity limits vs. Waffle House's surcharge; DOJ 2026 benchmark-manipulation settlement</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1  ·  Example Candidates (for review)</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5394DCA-4CDA-5B1D-BE09-0AD834A5DD78}" type="slidenum">
              <a:rPr lang="en-US" sz="1200" dirty="0">
                <a:solidFill>
                  <a:srgbClr val="555B66"/>
                </a:solidFill>
                <a:latin typeface="Calibri"/>
              </a:rPr>
              <a:t>21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