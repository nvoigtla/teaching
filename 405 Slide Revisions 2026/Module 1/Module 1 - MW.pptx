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319" r:id="rId20"/>
    <p:sldId id="275" r:id="rId21"/>
    <p:sldId id="326" r:id="rId22"/>
    <p:sldId id="277" r:id="rId23"/>
    <p:sldId id="335" r:id="rId24"/>
    <p:sldId id="336" r:id="rId25"/>
    <p:sldId id="337" r:id="rId26"/>
    <p:sldId id="338" r:id="rId27"/>
    <p:sldId id="278" r:id="rId28"/>
    <p:sldId id="279" r:id="rId29"/>
    <p:sldId id="280" r:id="rId30"/>
    <p:sldId id="281" r:id="rId31"/>
    <p:sldId id="320" r:id="rId32"/>
    <p:sldId id="283" r:id="rId33"/>
    <p:sldId id="284" r:id="rId34"/>
    <p:sldId id="285" r:id="rId35"/>
    <p:sldId id="327" r:id="rId36"/>
    <p:sldId id="287" r:id="rId37"/>
    <p:sldId id="321" r:id="rId38"/>
    <p:sldId id="289" r:id="rId39"/>
    <p:sldId id="325" r:id="rId40"/>
    <p:sldId id="291" r:id="rId41"/>
    <p:sldId id="322" r:id="rId42"/>
    <p:sldId id="293" r:id="rId43"/>
    <p:sldId id="294" r:id="rId44"/>
    <p:sldId id="323" r:id="rId45"/>
    <p:sldId id="296" r:id="rId46"/>
    <p:sldId id="297" r:id="rId47"/>
    <p:sldId id="298" r:id="rId48"/>
    <p:sldId id="299" r:id="rId49"/>
    <p:sldId id="332" r:id="rId50"/>
    <p:sldId id="333" r:id="rId51"/>
    <p:sldId id="334" r:id="rId52"/>
    <p:sldId id="300" r:id="rId53"/>
    <p:sldId id="301" r:id="rId54"/>
    <p:sldId id="302" r:id="rId55"/>
    <p:sldId id="303" r:id="rId56"/>
    <p:sldId id="304" r:id="rId57"/>
    <p:sldId id="305" r:id="rId58"/>
    <p:sldId id="324" r:id="rId59"/>
    <p:sldId id="307" r:id="rId60"/>
    <p:sldId id="308" r:id="rId61"/>
    <p:sldId id="309" r:id="rId62"/>
    <p:sldId id="310" r:id="rId63"/>
    <p:sldId id="311" r:id="rId64"/>
    <p:sldId id="328" r:id="rId65"/>
    <p:sldId id="329" r:id="rId66"/>
    <p:sldId id="330" r:id="rId67"/>
    <p:sldId id="314" r:id="rId68"/>
    <p:sldId id="331" r:id="rId69"/>
    <p:sldId id="316" r:id="rId70"/>
    <p:sldId id="317" r:id="rId71"/>
    <p:sldId id="318"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52"/>
    <p:restoredTop sz="94648"/>
  </p:normalViewPr>
  <p:slideViewPr>
    <p:cSldViewPr snapToGrid="0" snapToObjects="1">
      <p:cViewPr varScale="1">
        <p:scale>
          <a:sx n="117" d="100"/>
          <a:sy n="117" d="100"/>
        </p:scale>
        <p:origin x="176" y="17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4666BA-F52A-4047-9F29-A425091B60F6}" type="datetimeFigureOut">
              <a:rPr lang="en-US" smtClean="0"/>
              <a:t>8/17/26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6F151B-86D6-0F4C-AFCA-CAAB056B0F52}" type="slidenum">
              <a:rPr lang="en-US" smtClean="0"/>
              <a:t>‹#›</a:t>
            </a:fld>
            <a:endParaRPr lang="en-US"/>
          </a:p>
        </p:txBody>
      </p:sp>
    </p:spTree>
    <p:extLst>
      <p:ext uri="{BB962C8B-B14F-4D97-AF65-F5344CB8AC3E}">
        <p14:creationId xmlns:p14="http://schemas.microsoft.com/office/powerpoint/2010/main" val="207534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1</a:t>
            </a:fld>
            <a:endParaRPr lang="en-US"/>
          </a:p>
        </p:txBody>
      </p:sp>
    </p:spTree>
    <p:extLst>
      <p:ext uri="{BB962C8B-B14F-4D97-AF65-F5344CB8AC3E}">
        <p14:creationId xmlns:p14="http://schemas.microsoft.com/office/powerpoint/2010/main" val="4246629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2</a:t>
            </a:fld>
            <a:endParaRPr lang="en-US"/>
          </a:p>
        </p:txBody>
      </p:sp>
    </p:spTree>
    <p:extLst>
      <p:ext uri="{BB962C8B-B14F-4D97-AF65-F5344CB8AC3E}">
        <p14:creationId xmlns:p14="http://schemas.microsoft.com/office/powerpoint/2010/main" val="2008632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3</a:t>
            </a:fld>
            <a:endParaRPr lang="en-US"/>
          </a:p>
        </p:txBody>
      </p:sp>
    </p:spTree>
    <p:extLst>
      <p:ext uri="{BB962C8B-B14F-4D97-AF65-F5344CB8AC3E}">
        <p14:creationId xmlns:p14="http://schemas.microsoft.com/office/powerpoint/2010/main" val="3426593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4</a:t>
            </a:fld>
            <a:endParaRPr lang="en-US"/>
          </a:p>
        </p:txBody>
      </p:sp>
    </p:spTree>
    <p:extLst>
      <p:ext uri="{BB962C8B-B14F-4D97-AF65-F5344CB8AC3E}">
        <p14:creationId xmlns:p14="http://schemas.microsoft.com/office/powerpoint/2010/main" val="4068816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5</a:t>
            </a:fld>
            <a:endParaRPr lang="en-US"/>
          </a:p>
        </p:txBody>
      </p:sp>
    </p:spTree>
    <p:extLst>
      <p:ext uri="{BB962C8B-B14F-4D97-AF65-F5344CB8AC3E}">
        <p14:creationId xmlns:p14="http://schemas.microsoft.com/office/powerpoint/2010/main" val="2085602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Zoom Weekly TA Session Poll</a:t>
            </a:r>
          </a:p>
          <a:p>
            <a:r>
              <a:t>https://www.polleverywhere.com/multiple_choice_polls/CqfNP2hhdu7Xdjd1PUSi1?display_state=instructions&amp;activity_state=opened&amp;state=opened&amp;flow=Engagement&amp;onscreen=persist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Zoom Weekly TA Session Poll</a:t>
            </a:r>
          </a:p>
          <a:p>
            <a:r>
              <a:t>https://www.polleverywhere.com/multiple_choice_polls/CqfNP2hhdu7Xdjd1PUSi1?display_state=chart&amp;activity_state=opened&amp;state=opened&amp;flow=Engagement&amp;onscreen=persist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8</a:t>
            </a:fld>
            <a:endParaRPr lang="en-US"/>
          </a:p>
        </p:txBody>
      </p:sp>
    </p:spTree>
    <p:extLst>
      <p:ext uri="{BB962C8B-B14F-4D97-AF65-F5344CB8AC3E}">
        <p14:creationId xmlns:p14="http://schemas.microsoft.com/office/powerpoint/2010/main" val="471087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it will make you richer!</a:t>
            </a:r>
          </a:p>
          <a:p>
            <a:r>
              <a:t>Black, Sanders and Taylor « The Economic Reward for Studying Economics », Economic Inquiry 41, no 3 (2003)</a:t>
            </a:r>
          </a:p>
          <a:p>
            <a:r>
              <a:t>http://www.payscale.com/college-salary-report/majors-that-pay-you-back/bachelors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10</a:t>
            </a:fld>
            <a:endParaRPr lang="en-US"/>
          </a:p>
        </p:txBody>
      </p:sp>
    </p:spTree>
    <p:extLst>
      <p:ext uri="{BB962C8B-B14F-4D97-AF65-F5344CB8AC3E}">
        <p14:creationId xmlns:p14="http://schemas.microsoft.com/office/powerpoint/2010/main" val="22018103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11</a:t>
            </a:fld>
            <a:endParaRPr lang="en-US"/>
          </a:p>
        </p:txBody>
      </p:sp>
    </p:spTree>
    <p:extLst>
      <p:ext uri="{BB962C8B-B14F-4D97-AF65-F5344CB8AC3E}">
        <p14:creationId xmlns:p14="http://schemas.microsoft.com/office/powerpoint/2010/main" val="2726065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12</a:t>
            </a:fld>
            <a:endParaRPr lang="en-US"/>
          </a:p>
        </p:txBody>
      </p:sp>
    </p:spTree>
    <p:extLst>
      <p:ext uri="{BB962C8B-B14F-4D97-AF65-F5344CB8AC3E}">
        <p14:creationId xmlns:p14="http://schemas.microsoft.com/office/powerpoint/2010/main" val="1861792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13</a:t>
            </a:fld>
            <a:endParaRPr lang="en-US"/>
          </a:p>
        </p:txBody>
      </p:sp>
    </p:spTree>
    <p:extLst>
      <p:ext uri="{BB962C8B-B14F-4D97-AF65-F5344CB8AC3E}">
        <p14:creationId xmlns:p14="http://schemas.microsoft.com/office/powerpoint/2010/main" val="987077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14</a:t>
            </a:fld>
            <a:endParaRPr lang="en-US"/>
          </a:p>
        </p:txBody>
      </p:sp>
    </p:spTree>
    <p:extLst>
      <p:ext uri="{BB962C8B-B14F-4D97-AF65-F5344CB8AC3E}">
        <p14:creationId xmlns:p14="http://schemas.microsoft.com/office/powerpoint/2010/main" val="2952539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Value is all the profits: The true measure of success is value. Value means the present discounted value (PDV) of future profits. Tesla might have a huge loss now, but investors are still excited since they expect huge returns in the future.</a:t>
            </a:r>
          </a:p>
          <a:p>
            <a:endParaRPr/>
          </a:p>
          <a:p>
            <a:r>
              <a:t>Technological superiority, market share, growth, revenues and markups are only components of the PDV.</a:t>
            </a:r>
          </a:p>
          <a:p>
            <a:endParaRPr/>
          </a:p>
          <a:p>
            <a:r>
              <a:t>Where does 1+r come from? A dollar today is better than a dollar tomorrow. What value of the discount rate (r) should be used? This is a subject you will cover in finance, but think of the market rate of interest for now. Why? Alternative use of resources would produce this revenue if placed on an account yielding the market rate.</a:t>
            </a:r>
          </a:p>
          <a:p>
            <a:endParaRPr/>
          </a:p>
          <a:p>
            <a:r>
              <a:t>Factoid: Alexander Trotman (later 'Lord Trotman of Osmotherley in the County of North Yorkshire’), the CEO of Ford Motor Co from 1993 to 1998, once announced that his goal was for Ford to have a market share greater than GMs. Stock price fell on impact. Why? Market share is not profits, but stock price tracks value of the firm pretty closely.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for debate: Did Bill Gates create more social value by running Microsoft and supplying Windows to the market or by giving away his billions fighting AIDS in Africa? Probably the former. From Robert Barro:</a:t>
            </a:r>
          </a:p>
          <a:p>
            <a:r>
              <a:t> </a:t>
            </a:r>
          </a:p>
          <a:p>
            <a:r>
              <a:t>“Here is a sketch of a simple model of Microsoft's social value. The market value of the company's stock recently hit $287 billion. In 2006, its revenue was $44 billion, with earnings of $13 billion. This money was generated by creating something consumers value. Only Microsoft's competitors could believe that this much market value, revenue and earnings would have been created by delivering products that have little value to society.</a:t>
            </a:r>
          </a:p>
          <a:p>
            <a:r>
              <a:t> </a:t>
            </a:r>
          </a:p>
          <a:p>
            <a:r>
              <a:t>Suppose that a copy of a new version of Windows sells for $50 (and is typically charged as part of the price of a personal computer). Microsoft's revenue from Windows would then equal $50 multiplied by the number of copies consumers snap up. Microsoft's earnings are the revenue less production and development expenses. But that's not the social value. That comes from the increase in productivity created when businesses and households use the software. The social benefit equals the value of the extra product, less the total paid for the software. Almost by definition, the benefit has to be positive. Otherwise, why would consumers willingly pay for Windows?</a:t>
            </a:r>
          </a:p>
          <a:p>
            <a:r>
              <a:t> </a:t>
            </a:r>
          </a:p>
          <a:p>
            <a:r>
              <a:t>A conservative estimate, in a model where software serves as a new variety of productive input, is that the social benefit of Microsoft's software is at least the $44 billion Microsoft pulls in each year. When capitalized with the same ratio (22) that the market applies to earnings, this flow corresponds to a valuation of $970 billion. Thus, through Microsoft's future operations, Mr. Gates is creating a benefit to the rest of society of about one trillion dollars -- or more than 10 times his planned donations. And this counts only the likely future benefits, giving no weight to the past.” WSJ June 19, 2007.</a:t>
            </a:r>
          </a:p>
          <a:p>
            <a:endParaRPr/>
          </a:p>
          <a:p>
            <a:r>
              <a:t>However, one might also take into account that we as a society might value more money given to the poor (in terms of charity) compared to money given to the well-off (in terms of happiness from using Windows net of the price of license). To complicate the discussion even more, Windows might also help people doing the humanitarian projects, which adds to the value of Bill Gates as an entrepreneur.</a:t>
            </a:r>
          </a:p>
          <a:p>
            <a:endParaRPr/>
          </a:p>
          <a:p>
            <a:r>
              <a:t>We might also want to figure out what is the cost-efficiency of charitable giving: how much value does Bill Gates generate for each additional dollar he gives to charity. To do so, we can look at estimates by GiveWell.org, an NGO using randomized controlled trials to figure out the best ways of spending charitable money.</a:t>
            </a:r>
          </a:p>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See the NYT and WaPo articles:</a:t>
            </a:r>
          </a:p>
          <a:p>
            <a:endParaRPr/>
          </a:p>
          <a:p>
            <a:r>
              <a:t>https://www.nytimes.com/2019/08/19/business/business-roundtable-ceos-corporations.html</a:t>
            </a:r>
          </a:p>
          <a:p>
            <a:endParaRPr/>
          </a:p>
          <a:p>
            <a:r>
              <a:t>https://www.washingtonpost.com/opinions/2019/08/20/dont-trust-ceos-who-say-they-dont-care-about-shareholder-value-anymore/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18</a:t>
            </a:fld>
            <a:endParaRPr lang="en-US"/>
          </a:p>
        </p:txBody>
      </p:sp>
    </p:spTree>
    <p:extLst>
      <p:ext uri="{BB962C8B-B14F-4D97-AF65-F5344CB8AC3E}">
        <p14:creationId xmlns:p14="http://schemas.microsoft.com/office/powerpoint/2010/main" val="1869382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BC304-98CF-4819-8326-BCF24F0E5E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307F9-57A6-2B52-A8AD-ADE4F65D9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3284B-AC94-30EC-1371-D44E82B328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146A63-8BA8-9CFE-211B-C4A87907CF2D}"/>
              </a:ext>
            </a:extLst>
          </p:cNvPr>
          <p:cNvSpPr>
            <a:spLocks noGrp="1"/>
          </p:cNvSpPr>
          <p:nvPr>
            <p:ph type="sldNum" sz="quarter" idx="5"/>
          </p:nvPr>
        </p:nvSpPr>
        <p:spPr/>
        <p:txBody>
          <a:bodyPr/>
          <a:lstStyle/>
          <a:p>
            <a:fld id="{F96F151B-86D6-0F4C-AFCA-CAAB056B0F52}" type="slidenum">
              <a:rPr lang="en-US" smtClean="0"/>
              <a:t>19</a:t>
            </a:fld>
            <a:endParaRPr lang="en-US"/>
          </a:p>
        </p:txBody>
      </p:sp>
    </p:spTree>
    <p:extLst>
      <p:ext uri="{BB962C8B-B14F-4D97-AF65-F5344CB8AC3E}">
        <p14:creationId xmlns:p14="http://schemas.microsoft.com/office/powerpoint/2010/main" val="30622362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opportunity cost is the value of the next best opportunity foregone.</a:t>
            </a:r>
          </a:p>
          <a:p>
            <a:r>
              <a:t> </a:t>
            </a:r>
          </a:p>
          <a:p>
            <a:r>
              <a:t>E.g. 1: spend 1) $20 on a shirt, 2) $20 on a dinner or 3) $20 on a Taylor Swift album. In all three cases you spend $20 so that is not part of the relevant costs. The real cost is you have to forego the next best alternative. i.e. by choosing 1, you forego 2. It had better be that the benefit of choosing 1 exceeds the benefit of choosing 2 (i.e. the benefit of 1 exceeds the opportunity cost of 1). Cost-benefit analysis in a world of tradeoffs requires a consideration of alternatives. Cost is relative to alternatives.</a:t>
            </a:r>
          </a:p>
          <a:p>
            <a:r>
              <a:t> </a:t>
            </a:r>
          </a:p>
          <a:p>
            <a:r>
              <a:t>E.g. 2: What is the opportunity cost of using excess factory capacity to supply specialty orders? If the capacity would otherwise go unused, the opportunity cost is zero (or small – the capacity would be committed in the unlikely event that a regular order would arrive unexpectedly).</a:t>
            </a:r>
          </a:p>
          <a:p>
            <a:r>
              <a:t> </a:t>
            </a:r>
          </a:p>
          <a:p>
            <a:r>
              <a:t>E.g. 3: As mayor of Santa Monica you have to decide whether to turn a patch of land owned by the city into a parking lot. What is the opportunity cost of doing so? The land could be sold on the open market at its market price. The opportunity cost is the market price of the land, or the value of some alternative municipal value, whichever is greatest (in general the market price reflects well the value of alternatives). In this case the cost is implicit, but if the city did not own the land, it would have to buy it, and the cost would be explicit.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BE3F43-D166-CD44-BB11-C3617FA17849}" type="slidenum">
              <a:rPr lang="en-US" smtClean="0"/>
              <a:t>21</a:t>
            </a:fld>
            <a:endParaRPr lang="en-US"/>
          </a:p>
        </p:txBody>
      </p:sp>
    </p:spTree>
    <p:extLst>
      <p:ext uri="{BB962C8B-B14F-4D97-AF65-F5344CB8AC3E}">
        <p14:creationId xmlns:p14="http://schemas.microsoft.com/office/powerpoint/2010/main" val="38105641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22</a:t>
            </a:fld>
            <a:endParaRPr lang="en-US"/>
          </a:p>
        </p:txBody>
      </p:sp>
    </p:spTree>
    <p:extLst>
      <p:ext uri="{BB962C8B-B14F-4D97-AF65-F5344CB8AC3E}">
        <p14:creationId xmlns:p14="http://schemas.microsoft.com/office/powerpoint/2010/main" val="8096840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23</a:t>
            </a:fld>
            <a:endParaRPr lang="en-US"/>
          </a:p>
        </p:txBody>
      </p:sp>
    </p:spTree>
    <p:extLst>
      <p:ext uri="{BB962C8B-B14F-4D97-AF65-F5344CB8AC3E}">
        <p14:creationId xmlns:p14="http://schemas.microsoft.com/office/powerpoint/2010/main" val="1660136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24</a:t>
            </a:fld>
            <a:endParaRPr lang="en-US"/>
          </a:p>
        </p:txBody>
      </p:sp>
    </p:spTree>
    <p:extLst>
      <p:ext uri="{BB962C8B-B14F-4D97-AF65-F5344CB8AC3E}">
        <p14:creationId xmlns:p14="http://schemas.microsoft.com/office/powerpoint/2010/main" val="1236091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25</a:t>
            </a:fld>
            <a:endParaRPr lang="en-US"/>
          </a:p>
        </p:txBody>
      </p:sp>
    </p:spTree>
    <p:extLst>
      <p:ext uri="{BB962C8B-B14F-4D97-AF65-F5344CB8AC3E}">
        <p14:creationId xmlns:p14="http://schemas.microsoft.com/office/powerpoint/2010/main" val="20822717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26</a:t>
            </a:fld>
            <a:endParaRPr lang="en-US"/>
          </a:p>
        </p:txBody>
      </p:sp>
    </p:spTree>
    <p:extLst>
      <p:ext uri="{BB962C8B-B14F-4D97-AF65-F5344CB8AC3E}">
        <p14:creationId xmlns:p14="http://schemas.microsoft.com/office/powerpoint/2010/main" val="28002085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27</a:t>
            </a:fld>
            <a:endParaRPr lang="en-US"/>
          </a:p>
        </p:txBody>
      </p:sp>
    </p:spTree>
    <p:extLst>
      <p:ext uri="{BB962C8B-B14F-4D97-AF65-F5344CB8AC3E}">
        <p14:creationId xmlns:p14="http://schemas.microsoft.com/office/powerpoint/2010/main" val="9553259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What is the economic profit from pursuing the startup during the first year?</a:t>
            </a:r>
          </a:p>
          <a:p>
            <a:r>
              <a:t>https://www.polleverywhere.com/multiple_choice_polls/CojrOoYbqHMd1enpDsRiQ?display_state=instructions&amp;activity_state=opened&amp;state=opened&amp;flow=Engagement&amp;onscreen=persist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What is the economic profit from pursuing the startup during the first year?</a:t>
            </a:r>
          </a:p>
          <a:p>
            <a:r>
              <a:t>https://www.polleverywhere.com/multiple_choice_polls/CojrOoYbqHMd1enpDsRiQ?display_state=chart&amp;activity_state=opened&amp;state=opened&amp;flow=Engagement&amp;onscreen=persist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30</a:t>
            </a:fld>
            <a:endParaRPr lang="en-US"/>
          </a:p>
        </p:txBody>
      </p:sp>
    </p:spTree>
    <p:extLst>
      <p:ext uri="{BB962C8B-B14F-4D97-AF65-F5344CB8AC3E}">
        <p14:creationId xmlns:p14="http://schemas.microsoft.com/office/powerpoint/2010/main" val="42886199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178BB-6877-670A-8089-FB91A8E22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0A2BF-FBD2-188D-0263-0BB178D85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A4771-6610-B282-BBAE-EE975C5CC7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3A4619-C7DC-A4CF-D730-97063AB5227B}"/>
              </a:ext>
            </a:extLst>
          </p:cNvPr>
          <p:cNvSpPr>
            <a:spLocks noGrp="1"/>
          </p:cNvSpPr>
          <p:nvPr>
            <p:ph type="sldNum" sz="quarter" idx="5"/>
          </p:nvPr>
        </p:nvSpPr>
        <p:spPr/>
        <p:txBody>
          <a:bodyPr/>
          <a:lstStyle/>
          <a:p>
            <a:fld id="{F96F151B-86D6-0F4C-AFCA-CAAB056B0F52}" type="slidenum">
              <a:rPr lang="en-US" smtClean="0"/>
              <a:t>31</a:t>
            </a:fld>
            <a:endParaRPr lang="en-US"/>
          </a:p>
        </p:txBody>
      </p:sp>
    </p:spTree>
    <p:extLst>
      <p:ext uri="{BB962C8B-B14F-4D97-AF65-F5344CB8AC3E}">
        <p14:creationId xmlns:p14="http://schemas.microsoft.com/office/powerpoint/2010/main" val="21946240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32</a:t>
            </a:fld>
            <a:endParaRPr lang="en-US"/>
          </a:p>
        </p:txBody>
      </p:sp>
    </p:spTree>
    <p:extLst>
      <p:ext uri="{BB962C8B-B14F-4D97-AF65-F5344CB8AC3E}">
        <p14:creationId xmlns:p14="http://schemas.microsoft.com/office/powerpoint/2010/main" val="1245709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Fixed price dinners</a:t>
            </a:r>
          </a:p>
          <a:p>
            <a:r>
              <a:t>So full when dessert comes; should you eat it since you already paid for it?</a:t>
            </a:r>
          </a:p>
          <a:p>
            <a:r>
              <a:t>Monthly gym memberships</a:t>
            </a:r>
          </a:p>
          <a:p>
            <a:r>
              <a:t>Pay on the first of the month; should it factor into your decision to workout this month?</a:t>
            </a:r>
          </a:p>
          <a:p>
            <a:r>
              <a:t>Movie tickets</a:t>
            </a:r>
          </a:p>
          <a:p>
            <a:r>
              <a:t>30 minutes in and the movie is *terrible*; should you stay to get your money’s worth?</a:t>
            </a:r>
          </a:p>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Waterworld came out in 1995, was filmed almost entirely under water in a Hawaiian harbor and cost $175 million in 1995 dollars to produce (before marketing and distribution expenses), at the time was the most expensive movie ever made.</a:t>
            </a:r>
          </a:p>
          <a:p>
            <a:endParaRPr/>
          </a:p>
          <a:p>
            <a:r>
              <a:t>Grossed $88 million in the US and about twice that abroad (about $300 million in ticket sales, assume studios get 50%). Studios only get a fraction of total ticket sales, so big flop. </a:t>
            </a:r>
          </a:p>
          <a:p>
            <a:endParaRPr/>
          </a:p>
          <a:p>
            <a:r>
              <a:t>Let’s use the principle of relevant costs to think through the decision making process of the studio at various stages of the production process.</a:t>
            </a:r>
          </a:p>
          <a:p>
            <a:endParaRPr/>
          </a:p>
          <a:p>
            <a:r>
              <a:t>At the beginning of production: expected movie to bring in $150 million of revenue, budget was $100 million with 96 days of filming.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decision the studio faced, tracked at three points in time as more money got spent. Look at June 1994 first. Expected revenue from releasing is 150 million dollars. At that point only 16 million had been sunk into production, and it would cost another 84 million to finish and release. Since 84 million to finish is well below the 150 million it brings in, you release, and you expect a 50 million dollar profit. Now move to September. More has been sunk, 100 million, but the cost still to come has dropped to 40 million. Forty million to finish against 150 million in revenue, so you still release. By December, 140 million is sunk and only 35 million remains to release. Now look at the overall column, which adds the sunk cost back in. On paper the total is 175 million against 150 million of revenue, so it looks like a 25 million dollar loss, and the instinct is to shelve it. But that is the sunk-cost trap. The 140 million is already gone whether you release or not. The only number that matters now is the 35 million it takes to release against the 150 million it earns. So you release every single time. The rule at the bottom says it cleanly, ignore sunk costs, and go ahead whenever the extra revenue beats the extra cost.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36</a:t>
            </a:fld>
            <a:endParaRPr lang="en-US"/>
          </a:p>
        </p:txBody>
      </p:sp>
    </p:spTree>
    <p:extLst>
      <p:ext uri="{BB962C8B-B14F-4D97-AF65-F5344CB8AC3E}">
        <p14:creationId xmlns:p14="http://schemas.microsoft.com/office/powerpoint/2010/main" val="27420806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CC4A6-EFE8-D17A-C13D-ACEB930C1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EE61D-4802-0076-B31F-5157BBB2E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827AD-261D-8BE4-1DC5-1EBADB5ECF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3BB8E6-B80F-492D-EB3F-D27AC8C0A0FA}"/>
              </a:ext>
            </a:extLst>
          </p:cNvPr>
          <p:cNvSpPr>
            <a:spLocks noGrp="1"/>
          </p:cNvSpPr>
          <p:nvPr>
            <p:ph type="sldNum" sz="quarter" idx="5"/>
          </p:nvPr>
        </p:nvSpPr>
        <p:spPr/>
        <p:txBody>
          <a:bodyPr/>
          <a:lstStyle/>
          <a:p>
            <a:fld id="{F96F151B-86D6-0F4C-AFCA-CAAB056B0F52}" type="slidenum">
              <a:rPr lang="en-US" smtClean="0"/>
              <a:t>37</a:t>
            </a:fld>
            <a:endParaRPr lang="en-US"/>
          </a:p>
        </p:txBody>
      </p:sp>
    </p:spTree>
    <p:extLst>
      <p:ext uri="{BB962C8B-B14F-4D97-AF65-F5344CB8AC3E}">
        <p14:creationId xmlns:p14="http://schemas.microsoft.com/office/powerpoint/2010/main" val="37592194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Suppose you want to open a coffee shop chain. First you open in the best (i.e. most profitable) location say in Santa Monica. You’ll get some profit (revenues less costs for baristas labor, beans, etc). Then you might want to expand to Venice, but the conditions might be worse (higher rent, more competition). You want to expand the coffee shop chain until the costs of marginal coffee shop equals its benefits, then stop.</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A94B9C-164F-B547-A6E8-DEDE5F6330CB}" type="slidenum">
              <a:rPr lang="en-US" smtClean="0"/>
              <a:t>39</a:t>
            </a:fld>
            <a:endParaRPr lang="en-US"/>
          </a:p>
        </p:txBody>
      </p:sp>
    </p:spTree>
    <p:extLst>
      <p:ext uri="{BB962C8B-B14F-4D97-AF65-F5344CB8AC3E}">
        <p14:creationId xmlns:p14="http://schemas.microsoft.com/office/powerpoint/2010/main" val="23863377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40</a:t>
            </a:fld>
            <a:endParaRPr lang="en-US"/>
          </a:p>
        </p:txBody>
      </p:sp>
    </p:spTree>
    <p:extLst>
      <p:ext uri="{BB962C8B-B14F-4D97-AF65-F5344CB8AC3E}">
        <p14:creationId xmlns:p14="http://schemas.microsoft.com/office/powerpoint/2010/main" val="39254458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4BF63-5840-BF37-18BB-F65413DFC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6CF67-394C-70D6-EC4C-85D4F0393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3B2D6A-52FB-48B7-3ABB-6FBEE100D4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955B1C-0CEA-6BE6-506A-740EBAA58759}"/>
              </a:ext>
            </a:extLst>
          </p:cNvPr>
          <p:cNvSpPr>
            <a:spLocks noGrp="1"/>
          </p:cNvSpPr>
          <p:nvPr>
            <p:ph type="sldNum" sz="quarter" idx="5"/>
          </p:nvPr>
        </p:nvSpPr>
        <p:spPr/>
        <p:txBody>
          <a:bodyPr/>
          <a:lstStyle/>
          <a:p>
            <a:fld id="{F96F151B-86D6-0F4C-AFCA-CAAB056B0F52}" type="slidenum">
              <a:rPr lang="en-US" smtClean="0"/>
              <a:t>41</a:t>
            </a:fld>
            <a:endParaRPr lang="en-US"/>
          </a:p>
        </p:txBody>
      </p:sp>
    </p:spTree>
    <p:extLst>
      <p:ext uri="{BB962C8B-B14F-4D97-AF65-F5344CB8AC3E}">
        <p14:creationId xmlns:p14="http://schemas.microsoft.com/office/powerpoint/2010/main" val="14308651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42</a:t>
            </a:fld>
            <a:endParaRPr lang="en-US"/>
          </a:p>
        </p:txBody>
      </p:sp>
    </p:spTree>
    <p:extLst>
      <p:ext uri="{BB962C8B-B14F-4D97-AF65-F5344CB8AC3E}">
        <p14:creationId xmlns:p14="http://schemas.microsoft.com/office/powerpoint/2010/main" val="41542979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43</a:t>
            </a:fld>
            <a:endParaRPr lang="en-US"/>
          </a:p>
        </p:txBody>
      </p:sp>
    </p:spTree>
    <p:extLst>
      <p:ext uri="{BB962C8B-B14F-4D97-AF65-F5344CB8AC3E}">
        <p14:creationId xmlns:p14="http://schemas.microsoft.com/office/powerpoint/2010/main" val="33019283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AC416-4373-A287-D4F1-6D1184B7A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196FE-C99E-B267-3DF3-39558F5040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B3558E-7B1A-814C-6DD8-8A509C7649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FD5552-D1E0-6C4C-CC00-57A1E9626AB6}"/>
              </a:ext>
            </a:extLst>
          </p:cNvPr>
          <p:cNvSpPr>
            <a:spLocks noGrp="1"/>
          </p:cNvSpPr>
          <p:nvPr>
            <p:ph type="sldNum" sz="quarter" idx="5"/>
          </p:nvPr>
        </p:nvSpPr>
        <p:spPr/>
        <p:txBody>
          <a:bodyPr/>
          <a:lstStyle/>
          <a:p>
            <a:fld id="{F96F151B-86D6-0F4C-AFCA-CAAB056B0F52}" type="slidenum">
              <a:rPr lang="en-US" smtClean="0"/>
              <a:t>44</a:t>
            </a:fld>
            <a:endParaRPr lang="en-US"/>
          </a:p>
        </p:txBody>
      </p:sp>
    </p:spTree>
    <p:extLst>
      <p:ext uri="{BB962C8B-B14F-4D97-AF65-F5344CB8AC3E}">
        <p14:creationId xmlns:p14="http://schemas.microsoft.com/office/powerpoint/2010/main" val="12744089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aside from price, we are holding everything else constant, including consumers’ income, tastes, price of other goods.</a:t>
            </a:r>
          </a:p>
          <a:p>
            <a:endParaRPr/>
          </a:p>
          <a:p>
            <a:r>
              <a:t>Thought experiment: suppose you show up at Pike Place Market on a Saturday and observe the price of tomatoes and total quantity that consumers buy. Suppose you can go back in time to that same Saturday and replace all the price tags using an alternative price and see the quantity that consumers buy. Do this over and over until you trace out the demand curve. If tomatoes are $2/pound in one iteration, some people will buy. If they are $1/pound, additional people will buy. As price declines, more consumers want to purchase it. This will make the demand curve downward sloping. </a:t>
            </a:r>
          </a:p>
          <a:p>
            <a:endParaRPr/>
          </a:p>
          <a:p>
            <a:r>
              <a:t>We will get into this in much more detail next week.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aside from price, we are holding everything else constant, including consumers’ income, tastes, price of other goods.</a:t>
            </a:r>
          </a:p>
          <a:p>
            <a:endParaRPr/>
          </a:p>
          <a:p>
            <a:r>
              <a:t>Thought experiment: suppose you show up at Pike Place Market on a Saturday and observe the price of tomatoes and total quantity that consumers buy. Suppose you can go back in time to that same Saturday and replace all the price tags using an alternative price and see the quantity that consumers buy. Do this over and over until you trace out the demand curve. If tomatoes are $2/pound in one iteration, some people will buy. If they are $1/pound, additional people will buy. As price declines, more consumers want to purchase it. This will make the demand curve downward sloping. </a:t>
            </a:r>
          </a:p>
          <a:p>
            <a:endParaRPr/>
          </a:p>
          <a:p>
            <a:r>
              <a:t>We will get into this in much more detail next week.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aside from price, we are holding everything else constant, including consumers’ income, tastes, price of other goods.</a:t>
            </a:r>
          </a:p>
          <a:p>
            <a:endParaRPr/>
          </a:p>
          <a:p>
            <a:r>
              <a:t>Thought experiment: suppose you show up at Pike Place Market on a Saturday and observe the price of tomatoes and total quantity that consumers buy. Suppose you can go back in time to that same Saturday and replace all the price tags using an alternative price and see the quantity that consumers buy. Do this over and over until you trace out the demand curve. If tomatoes are $2/pound in one iteration, some people will buy. If they are $1/pound, additional people will buy. As price declines, more consumers want to purchase it. This will make the demand curve downward sloping. </a:t>
            </a:r>
          </a:p>
          <a:p>
            <a:endParaRPr/>
          </a:p>
          <a:p>
            <a:r>
              <a:t>We will get into this in much more detail next week.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48</a:t>
            </a:fld>
            <a:endParaRPr lang="en-US"/>
          </a:p>
        </p:txBody>
      </p:sp>
    </p:spTree>
    <p:extLst>
      <p:ext uri="{BB962C8B-B14F-4D97-AF65-F5344CB8AC3E}">
        <p14:creationId xmlns:p14="http://schemas.microsoft.com/office/powerpoint/2010/main" val="141909281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49</a:t>
            </a:fld>
            <a:endParaRPr lang="en-US"/>
          </a:p>
        </p:txBody>
      </p:sp>
    </p:spTree>
    <p:extLst>
      <p:ext uri="{BB962C8B-B14F-4D97-AF65-F5344CB8AC3E}">
        <p14:creationId xmlns:p14="http://schemas.microsoft.com/office/powerpoint/2010/main" val="25625603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50</a:t>
            </a:fld>
            <a:endParaRPr lang="en-US"/>
          </a:p>
        </p:txBody>
      </p:sp>
    </p:spTree>
    <p:extLst>
      <p:ext uri="{BB962C8B-B14F-4D97-AF65-F5344CB8AC3E}">
        <p14:creationId xmlns:p14="http://schemas.microsoft.com/office/powerpoint/2010/main" val="7557401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51</a:t>
            </a:fld>
            <a:endParaRPr lang="en-US"/>
          </a:p>
        </p:txBody>
      </p:sp>
    </p:spTree>
    <p:extLst>
      <p:ext uri="{BB962C8B-B14F-4D97-AF65-F5344CB8AC3E}">
        <p14:creationId xmlns:p14="http://schemas.microsoft.com/office/powerpoint/2010/main" val="30126576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52</a:t>
            </a:fld>
            <a:endParaRPr lang="en-US"/>
          </a:p>
        </p:txBody>
      </p:sp>
    </p:spTree>
    <p:extLst>
      <p:ext uri="{BB962C8B-B14F-4D97-AF65-F5344CB8AC3E}">
        <p14:creationId xmlns:p14="http://schemas.microsoft.com/office/powerpoint/2010/main" val="2049070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How did Taylor Swift's engagement affect the demand for diamonds? It caused:</a:t>
            </a:r>
          </a:p>
          <a:p>
            <a:r>
              <a:t>https://www.polleverywhere.com/multiple_choice_polls/WjwqVzdkXzlKkhNbC92oD?display_state=instructions&amp;activity_state=opened&amp;state=opened&amp;flow=Engagement&amp;onscreen=persist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How did Taylor Swift's engagement affect the demand for diamonds? It caused:</a:t>
            </a:r>
          </a:p>
          <a:p>
            <a:r>
              <a:t>https://www.polleverywhere.com/multiple_choice_polls/WjwqVzdkXzlKkhNbC92oD?display_state=chart&amp;activity_state=opened&amp;state=opened&amp;flow=Engagement&amp;onscreen=persist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55</a:t>
            </a:fld>
            <a:endParaRPr lang="en-US"/>
          </a:p>
        </p:txBody>
      </p:sp>
    </p:spTree>
    <p:extLst>
      <p:ext uri="{BB962C8B-B14F-4D97-AF65-F5344CB8AC3E}">
        <p14:creationId xmlns:p14="http://schemas.microsoft.com/office/powerpoint/2010/main" val="15774628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price rises, quantity supplied will increase. Intuition for upward sloping: many firms experience increasing costs of production as their output rises; need to earn higher price in order to be willing to sell more output. We will get into this in much more detail in Module 4. </a:t>
            </a:r>
          </a:p>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57</a:t>
            </a:fld>
            <a:endParaRPr lang="en-US"/>
          </a:p>
        </p:txBody>
      </p:sp>
    </p:spTree>
    <p:extLst>
      <p:ext uri="{BB962C8B-B14F-4D97-AF65-F5344CB8AC3E}">
        <p14:creationId xmlns:p14="http://schemas.microsoft.com/office/powerpoint/2010/main" val="402867834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B2696-895D-BF66-063D-70EA779F1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1B945-7CE5-CB44-9F3C-426BEE7EE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5ED1D1-016B-357D-1CC3-935ABDD295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E88B96-F153-7FA1-4B8F-5CD15DC094A4}"/>
              </a:ext>
            </a:extLst>
          </p:cNvPr>
          <p:cNvSpPr>
            <a:spLocks noGrp="1"/>
          </p:cNvSpPr>
          <p:nvPr>
            <p:ph type="sldNum" sz="quarter" idx="5"/>
          </p:nvPr>
        </p:nvSpPr>
        <p:spPr/>
        <p:txBody>
          <a:bodyPr/>
          <a:lstStyle/>
          <a:p>
            <a:fld id="{F96F151B-86D6-0F4C-AFCA-CAAB056B0F52}" type="slidenum">
              <a:rPr lang="en-US" smtClean="0"/>
              <a:t>58</a:t>
            </a:fld>
            <a:endParaRPr lang="en-US"/>
          </a:p>
        </p:txBody>
      </p:sp>
    </p:spTree>
    <p:extLst>
      <p:ext uri="{BB962C8B-B14F-4D97-AF65-F5344CB8AC3E}">
        <p14:creationId xmlns:p14="http://schemas.microsoft.com/office/powerpoint/2010/main" val="42243436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where they intersect is called market equilibrium, the price at which the quantity supplied equals the quantity demanded.</a:t>
            </a:r>
          </a:p>
          <a:p>
            <a:endParaRPr/>
          </a:p>
          <a:p>
            <a:r>
              <a:t>To see why market equilibrium is stable, let’s go through what happens when the price deviates from the equilibrium condition:</a:t>
            </a:r>
          </a:p>
          <a:p>
            <a:endParaRPr/>
          </a:p>
          <a:p>
            <a:r>
              <a:t>Suppose the price is higher than P_0; What happens at this price? Producers will start entering the market, wanting to sell at this high price, but they won’t all be able to find willing buyers. Then the quantity supplied will be greater than the quantity demanded. The excess quantity supplied is known as surplus. To eliminate the surplus, producers need to attract more buyers and to do so, they have to lower their prices. As price falls, quantity demanded increases, and the quantity supplied falls until the market reaches equilibrium.</a:t>
            </a:r>
          </a:p>
          <a:p>
            <a:endParaRPr/>
          </a:p>
          <a:p>
            <a:r>
              <a:t>Suppose the price is lower than P_0; then the quantity demanded will exceed the quantity supplied and shortage will develop; To eliminate this shortage, buyers who cannot find the good available for sale will bid up the price and enterprising producers will be more than willing to raise their prices. As price rises, quantity demanded falls, quantity supplied rises, until we reach equilibrium. </a:t>
            </a:r>
          </a:p>
          <a:p>
            <a:endParaRPr/>
          </a:p>
          <a:p>
            <a:r>
              <a:t>How does the market reach equilibrium in practice? Adam Smith’s invisible hand.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60</a:t>
            </a:fld>
            <a:endParaRPr lang="en-US"/>
          </a:p>
        </p:txBody>
      </p:sp>
    </p:spTree>
    <p:extLst>
      <p:ext uri="{BB962C8B-B14F-4D97-AF65-F5344CB8AC3E}">
        <p14:creationId xmlns:p14="http://schemas.microsoft.com/office/powerpoint/2010/main" val="217020058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Shift out of demand implies that at any given price, consumers will want to buy more.</a:t>
            </a:r>
          </a:p>
          <a:p>
            <a:endParaRPr/>
          </a:p>
          <a:p>
            <a:r>
              <a:t>If the price stayed the same, then a shortage would develop; price needs to rise in order to equilibrate the market.</a:t>
            </a:r>
          </a:p>
          <a:p>
            <a:endParaRPr/>
          </a:p>
          <a:p>
            <a:r>
              <a:t>As price rises, quantity demanded falls and quantity supplied increases until we arrive at the new higher equilibrium price and quantity.</a:t>
            </a:r>
          </a:p>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Shift out of supply implies that at any given price, producers are willing to sell a larger quantity.</a:t>
            </a:r>
          </a:p>
          <a:p>
            <a:endParaRPr/>
          </a:p>
          <a:p>
            <a:r>
              <a:t>If the price stayed in its original position then there would be excess supply; price needs to fall to equilibrate the market.</a:t>
            </a:r>
          </a:p>
          <a:p>
            <a:endParaRPr/>
          </a:p>
          <a:p>
            <a:r>
              <a:t>As the price falls, quantity demanded rises and quantity supplied declines.</a:t>
            </a:r>
          </a:p>
          <a:p>
            <a:endParaRPr/>
          </a:p>
          <a:p>
            <a:r>
              <a:t>Price falls until the quantity supplied and quantity demanded are equal.</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shifts simultaneously!</a:t>
            </a:r>
          </a:p>
          <a:p>
            <a:endParaRPr/>
          </a:p>
          <a:p>
            <a:r>
              <a:t>When both curves shift, the prediction for either price or quantity will be ambiguous. It will depend on the magnitude of the shift in supply and demand. In the example on this slide, we observe that the prediction for price is ambiguous. It can either increase or decrease depending on how large the shifts in supply and demand are (above a small increase is depicted; as an exercise at home, see if you can shift the curves outward and generate a decrease in the equilibrium price). The prediction for quantity, however, is clear. It increases due to the shift out of both supply and demand.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64</a:t>
            </a:fld>
            <a:endParaRPr lang="en-US"/>
          </a:p>
        </p:txBody>
      </p:sp>
    </p:spTree>
    <p:extLst>
      <p:ext uri="{BB962C8B-B14F-4D97-AF65-F5344CB8AC3E}">
        <p14:creationId xmlns:p14="http://schemas.microsoft.com/office/powerpoint/2010/main" val="3236765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65</a:t>
            </a:fld>
            <a:endParaRPr lang="en-US"/>
          </a:p>
        </p:txBody>
      </p:sp>
    </p:spTree>
    <p:extLst>
      <p:ext uri="{BB962C8B-B14F-4D97-AF65-F5344CB8AC3E}">
        <p14:creationId xmlns:p14="http://schemas.microsoft.com/office/powerpoint/2010/main" val="94853629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While it may looks puzzling at first, supply and demand shifts can explain it. Demand shifted right over time due to industrialization, population growth, and new uses (construction, electronics). Supply also shifted right because of advances in mining and transportation. These simultaneous shifts explain rising quantities but stable prices.</a:t>
            </a:r>
          </a:p>
          <a:p>
            <a:endParaRPr lang="en-US" dirty="0"/>
          </a:p>
        </p:txBody>
      </p:sp>
      <p:sp>
        <p:nvSpPr>
          <p:cNvPr id="4" name="Slide Number Placeholder 3"/>
          <p:cNvSpPr>
            <a:spLocks noGrp="1"/>
          </p:cNvSpPr>
          <p:nvPr>
            <p:ph type="sldNum" sz="quarter" idx="5"/>
          </p:nvPr>
        </p:nvSpPr>
        <p:spPr/>
        <p:txBody>
          <a:bodyPr/>
          <a:lstStyle/>
          <a:p>
            <a:fld id="{F96F151B-86D6-0F4C-AFCA-CAAB056B0F52}" type="slidenum">
              <a:rPr lang="en-US" smtClean="0"/>
              <a:t>66</a:t>
            </a:fld>
            <a:endParaRPr lang="en-US"/>
          </a:p>
        </p:txBody>
      </p:sp>
    </p:spTree>
    <p:extLst>
      <p:ext uri="{BB962C8B-B14F-4D97-AF65-F5344CB8AC3E}">
        <p14:creationId xmlns:p14="http://schemas.microsoft.com/office/powerpoint/2010/main" val="41865270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Source: https://</a:t>
            </a:r>
            <a:r>
              <a:rPr lang="en-US" dirty="0" err="1"/>
              <a:t>www.redfin.com</a:t>
            </a:r>
            <a:r>
              <a:rPr lang="en-US" dirty="0"/>
              <a:t>/city/11203/CA/Los-Angeles/housing-market</a:t>
            </a:r>
          </a:p>
          <a:p>
            <a:endParaRPr lang="en-US" dirty="0"/>
          </a:p>
        </p:txBody>
      </p:sp>
      <p:sp>
        <p:nvSpPr>
          <p:cNvPr id="4" name="Slide Number Placeholder 3"/>
          <p:cNvSpPr>
            <a:spLocks noGrp="1"/>
          </p:cNvSpPr>
          <p:nvPr>
            <p:ph type="sldNum" sz="quarter" idx="5"/>
          </p:nvPr>
        </p:nvSpPr>
        <p:spPr/>
        <p:txBody>
          <a:bodyPr/>
          <a:lstStyle/>
          <a:p>
            <a:fld id="{F96F151B-86D6-0F4C-AFCA-CAAB056B0F52}" type="slidenum">
              <a:rPr lang="en-US" smtClean="0"/>
              <a:t>67</a:t>
            </a:fld>
            <a:endParaRPr lang="en-US"/>
          </a:p>
        </p:txBody>
      </p:sp>
    </p:spTree>
    <p:extLst>
      <p:ext uri="{BB962C8B-B14F-4D97-AF65-F5344CB8AC3E}">
        <p14:creationId xmlns:p14="http://schemas.microsoft.com/office/powerpoint/2010/main" val="334800510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both prices (in real terms) and sales dropped, this suggests both demand and supply curves shifted left. For example, perhaps demand fell due to higher mortgage rates and migration. Maybe supply fell as owners were “locked in” low mortgages and delayed selling.</a:t>
            </a:r>
          </a:p>
          <a:p>
            <a:endParaRPr lang="en-US" dirty="0"/>
          </a:p>
        </p:txBody>
      </p:sp>
      <p:sp>
        <p:nvSpPr>
          <p:cNvPr id="4" name="Slide Number Placeholder 3"/>
          <p:cNvSpPr>
            <a:spLocks noGrp="1"/>
          </p:cNvSpPr>
          <p:nvPr>
            <p:ph type="sldNum" sz="quarter" idx="5"/>
          </p:nvPr>
        </p:nvSpPr>
        <p:spPr/>
        <p:txBody>
          <a:bodyPr/>
          <a:lstStyle/>
          <a:p>
            <a:fld id="{F96F151B-86D6-0F4C-AFCA-CAAB056B0F52}" type="slidenum">
              <a:rPr lang="en-US" smtClean="0"/>
              <a:t>68</a:t>
            </a:fld>
            <a:endParaRPr lang="en-US"/>
          </a:p>
        </p:txBody>
      </p:sp>
    </p:spTree>
    <p:extLst>
      <p:ext uri="{BB962C8B-B14F-4D97-AF65-F5344CB8AC3E}">
        <p14:creationId xmlns:p14="http://schemas.microsoft.com/office/powerpoint/2010/main" val="35575440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69</a:t>
            </a:fld>
            <a:endParaRPr lang="en-US"/>
          </a:p>
        </p:txBody>
      </p:sp>
    </p:spTree>
    <p:extLst>
      <p:ext uri="{BB962C8B-B14F-4D97-AF65-F5344CB8AC3E}">
        <p14:creationId xmlns:p14="http://schemas.microsoft.com/office/powerpoint/2010/main" val="14750384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70</a:t>
            </a:fld>
            <a:endParaRPr lang="en-US"/>
          </a:p>
        </p:txBody>
      </p:sp>
    </p:spTree>
    <p:extLst>
      <p:ext uri="{BB962C8B-B14F-4D97-AF65-F5344CB8AC3E}">
        <p14:creationId xmlns:p14="http://schemas.microsoft.com/office/powerpoint/2010/main" val="36808054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F151B-86D6-0F4C-AFCA-CAAB056B0F52}" type="slidenum">
              <a:rPr lang="en-US" smtClean="0"/>
              <a:t>71</a:t>
            </a:fld>
            <a:endParaRPr lang="en-US"/>
          </a:p>
        </p:txBody>
      </p:sp>
    </p:spTree>
    <p:extLst>
      <p:ext uri="{BB962C8B-B14F-4D97-AF65-F5344CB8AC3E}">
        <p14:creationId xmlns:p14="http://schemas.microsoft.com/office/powerpoint/2010/main" val="172356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www.melaniewasserman.com/"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mailto:melanie.wasserman@anderson.ucla.edu"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www.nytimes.com/2023/12/01/podcasts/the-daily/should-you-rent-or-buy-the-new-math.html"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hyperlink" Target="https://www.theguardian.com/film/2022/aug/03/irredeemable-batgirl-movie-unexpectedly-cancelled-despite-being-in-final-stages"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jpg"/></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155412"/>
            <a:ext cx="10725912" cy="1477328"/>
          </a:xfrm>
          <a:prstGeom prst="rect">
            <a:avLst/>
          </a:prstGeom>
          <a:noFill/>
        </p:spPr>
        <p:txBody>
          <a:bodyPr wrap="square" lIns="0" tIns="0" rIns="0" bIns="0" anchor="ctr">
            <a:spAutoFit/>
          </a:bodyPr>
          <a:lstStyle/>
          <a:p>
            <a:pPr algn="ctr"/>
            <a:r>
              <a:rPr sz="4800" b="1" i="0" dirty="0">
                <a:solidFill>
                  <a:srgbClr val="0B2B4E"/>
                </a:solidFill>
                <a:latin typeface="Calibri"/>
              </a:rPr>
              <a:t>The Economic Way of Thinking</a:t>
            </a:r>
            <a:r>
              <a:rPr lang="en-US" sz="4800" b="1" i="0" dirty="0">
                <a:solidFill>
                  <a:srgbClr val="0B2B4E"/>
                </a:solidFill>
                <a:latin typeface="Calibri"/>
              </a:rPr>
              <a:t> and Market Equilibrium</a:t>
            </a:r>
            <a:endParaRPr sz="4800" b="1" i="0" dirty="0">
              <a:solidFill>
                <a:srgbClr val="0B2B4E"/>
              </a:solidFill>
              <a:latin typeface="Calibri"/>
            </a:endParaRPr>
          </a:p>
        </p:txBody>
      </p:sp>
      <p:sp>
        <p:nvSpPr>
          <p:cNvPr id="4" name="Rectangle 3"/>
          <p:cNvSpPr/>
          <p:nvPr/>
        </p:nvSpPr>
        <p:spPr>
          <a:xfrm>
            <a:off x="4724247" y="4407407"/>
            <a:ext cx="27432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4745736"/>
            <a:ext cx="10360152" cy="1005840"/>
          </a:xfrm>
          <a:prstGeom prst="rect">
            <a:avLst/>
          </a:prstGeom>
          <a:noFill/>
        </p:spPr>
        <p:txBody>
          <a:bodyPr wrap="square" lIns="0" tIns="0" rIns="0" bIns="0" anchor="t">
            <a:spAutoFit/>
          </a:bodyPr>
          <a:lstStyle/>
          <a:p>
            <a:pPr algn="ctr"/>
            <a:r>
              <a:rPr sz="2000" b="1" i="0">
                <a:solidFill>
                  <a:srgbClr val="555B66"/>
                </a:solidFill>
                <a:latin typeface="Calibri"/>
              </a:rPr>
              <a:t>Management 405</a:t>
            </a:r>
          </a:p>
          <a:p>
            <a:pPr algn="ctr">
              <a:spcBef>
                <a:spcPts val="800"/>
              </a:spcBef>
            </a:pPr>
            <a:r>
              <a:rPr sz="1800" b="0" i="0">
                <a:solidFill>
                  <a:srgbClr val="555B66"/>
                </a:solidFill>
                <a:latin typeface="Calibri"/>
              </a:rPr>
              <a:t>Prof. Melanie Wasserman · UCLA Anderson</a:t>
            </a:r>
          </a:p>
        </p:txBody>
      </p:sp>
      <p:cxnSp>
        <p:nvCxnSpPr>
          <p:cNvPr id="6" name="Connector 5"/>
          <p:cNvCxnSpPr/>
          <p:nvPr/>
        </p:nvCxnSpPr>
        <p:spPr>
          <a:xfrm>
            <a:off x="0" y="6510528"/>
            <a:ext cx="12191695" cy="0"/>
          </a:xfrm>
          <a:prstGeom prst="line">
            <a:avLst/>
          </a:prstGeom>
          <a:ln w="635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6812"/>
            <a:ext cx="1828800" cy="27432"/>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a:extLst>
              <a:ext uri="{FF2B5EF4-FFF2-40B4-BE49-F238E27FC236}">
                <a16:creationId xmlns:a16="http://schemas.microsoft.com/office/drawing/2014/main" id="{C80A67E5-A491-8331-6679-E3EF1CCA339A}"/>
              </a:ext>
            </a:extLst>
          </p:cNvPr>
          <p:cNvPicPr>
            <a:picLocks noChangeAspect="1" noChangeArrowheads="1"/>
          </p:cNvPicPr>
          <p:nvPr/>
        </p:nvPicPr>
        <p:blipFill>
          <a:blip r:embed="rId3" cstate="print"/>
          <a:srcRect/>
          <a:stretch>
            <a:fillRect/>
          </a:stretch>
        </p:blipFill>
        <p:spPr bwMode="auto">
          <a:xfrm>
            <a:off x="139102" y="153631"/>
            <a:ext cx="6618314" cy="1876588"/>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Course Overview</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dirty="0">
                <a:solidFill>
                  <a:srgbClr val="0B2B4E"/>
                </a:solidFill>
                <a:latin typeface="Calibri"/>
              </a:rPr>
              <a:t>Course Overview: Introductions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a:t>
            </a:r>
          </a:p>
        </p:txBody>
      </p:sp>
      <p:sp>
        <p:nvSpPr>
          <p:cNvPr id="10" name="BUILD"/>
          <p:cNvSpPr txBox="1"/>
          <p:nvPr/>
        </p:nvSpPr>
        <p:spPr>
          <a:xfrm>
            <a:off x="791935" y="1358410"/>
            <a:ext cx="11145883" cy="5370701"/>
          </a:xfrm>
          <a:prstGeom prst="rect">
            <a:avLst/>
          </a:prstGeom>
          <a:noFill/>
        </p:spPr>
        <p:txBody>
          <a:bodyPr wrap="square" lIns="0" tIns="0" rIns="0" bIns="0" anchor="t">
            <a:spAutoFit/>
          </a:bodyPr>
          <a:lstStyle/>
          <a:p>
            <a:pPr>
              <a:spcAft>
                <a:spcPts val="600"/>
              </a:spcAft>
              <a:buClr>
                <a:srgbClr val="0B2B4E"/>
              </a:buClr>
              <a:buSzPct val="100000"/>
            </a:pPr>
            <a:r>
              <a:rPr lang="en-US" sz="2500" b="1" dirty="0">
                <a:solidFill>
                  <a:srgbClr val="0B2B4E"/>
                </a:solidFill>
              </a:rPr>
              <a:t>Instructor:</a:t>
            </a:r>
            <a:endParaRPr lang="en-US" sz="2500" b="0" i="0" dirty="0">
              <a:solidFill>
                <a:srgbClr val="0B2B4E"/>
              </a:solidFill>
              <a:latin typeface="Calibri"/>
            </a:endParaRPr>
          </a:p>
          <a:p>
            <a:pPr marL="731520" lvl="1" indent="-274320">
              <a:spcAft>
                <a:spcPts val="600"/>
              </a:spcAft>
              <a:buClr>
                <a:srgbClr val="0B2B4E"/>
              </a:buClr>
              <a:buSzPct val="100000"/>
              <a:buFont typeface="Calibri"/>
              <a:buChar char="▪"/>
            </a:pPr>
            <a:r>
              <a:rPr sz="2500" b="0" i="0" dirty="0">
                <a:solidFill>
                  <a:srgbClr val="0B2B4E"/>
                </a:solidFill>
                <a:latin typeface="Calibri"/>
              </a:rPr>
              <a:t>Associate Professor of Economics in the GEM area</a:t>
            </a:r>
          </a:p>
          <a:p>
            <a:pPr marL="1060704" lvl="2" indent="-310896">
              <a:spcAft>
                <a:spcPts val="600"/>
              </a:spcAft>
              <a:buClr>
                <a:srgbClr val="555B66"/>
              </a:buClr>
              <a:buSzPct val="100000"/>
              <a:buFont typeface="Calibri"/>
              <a:buChar char="–"/>
            </a:pPr>
            <a:r>
              <a:rPr sz="2000" b="0" i="0" dirty="0">
                <a:solidFill>
                  <a:schemeClr val="bg1">
                    <a:lumMod val="50000"/>
                  </a:schemeClr>
                </a:solidFill>
                <a:latin typeface="Calibri"/>
              </a:rPr>
              <a:t>BA in Economics, UC Berkeley</a:t>
            </a:r>
          </a:p>
          <a:p>
            <a:pPr marL="1060704" lvl="2" indent="-310896">
              <a:spcAft>
                <a:spcPts val="600"/>
              </a:spcAft>
              <a:buClr>
                <a:srgbClr val="555B66"/>
              </a:buClr>
              <a:buSzPct val="100000"/>
              <a:buFont typeface="Calibri"/>
              <a:buChar char="–"/>
            </a:pPr>
            <a:r>
              <a:rPr sz="2000" b="0" i="0" dirty="0">
                <a:solidFill>
                  <a:schemeClr val="bg1">
                    <a:lumMod val="50000"/>
                  </a:schemeClr>
                </a:solidFill>
                <a:latin typeface="Calibri"/>
              </a:rPr>
              <a:t>PhD in Economics, MIT</a:t>
            </a:r>
          </a:p>
          <a:p>
            <a:pPr marL="731520" lvl="1" indent="-274320">
              <a:spcAft>
                <a:spcPts val="600"/>
              </a:spcAft>
              <a:buClr>
                <a:srgbClr val="0B2B4E"/>
              </a:buClr>
              <a:buSzPct val="100000"/>
              <a:buFont typeface="Calibri"/>
              <a:buChar char="▪"/>
            </a:pPr>
            <a:r>
              <a:rPr sz="2500" b="0" i="0" dirty="0">
                <a:solidFill>
                  <a:srgbClr val="0B2B4E"/>
                </a:solidFill>
                <a:latin typeface="Calibri"/>
              </a:rPr>
              <a:t>Labor economist: study of work and pay</a:t>
            </a:r>
          </a:p>
          <a:p>
            <a:pPr marL="1060704" lvl="2" indent="-310896">
              <a:spcAft>
                <a:spcPts val="600"/>
              </a:spcAft>
              <a:buClr>
                <a:srgbClr val="555B66"/>
              </a:buClr>
              <a:buSzPct val="100000"/>
              <a:buFont typeface="Calibri"/>
              <a:buChar char="–"/>
            </a:pPr>
            <a:r>
              <a:rPr sz="2000" b="0" i="0" dirty="0">
                <a:solidFill>
                  <a:schemeClr val="bg1">
                    <a:lumMod val="50000"/>
                  </a:schemeClr>
                </a:solidFill>
                <a:latin typeface="Calibri"/>
              </a:rPr>
              <a:t>See website for more </a:t>
            </a:r>
            <a:r>
              <a:rPr sz="2000" b="0" i="0" dirty="0">
                <a:solidFill>
                  <a:schemeClr val="bg1">
                    <a:lumMod val="50000"/>
                  </a:schemeClr>
                </a:solidFill>
                <a:latin typeface="Calibri"/>
                <a:hlinkClick r:id="rId3"/>
              </a:rPr>
              <a:t>www.melaniewasserman.com</a:t>
            </a:r>
            <a:r>
              <a:rPr lang="en-US" sz="2000" b="0" i="0" dirty="0">
                <a:solidFill>
                  <a:schemeClr val="bg1">
                    <a:lumMod val="50000"/>
                  </a:schemeClr>
                </a:solidFill>
                <a:latin typeface="Calibri"/>
              </a:rPr>
              <a:t> </a:t>
            </a:r>
            <a:endParaRPr sz="2000" b="0" i="0" dirty="0">
              <a:solidFill>
                <a:schemeClr val="bg1">
                  <a:lumMod val="50000"/>
                </a:schemeClr>
              </a:solidFill>
              <a:latin typeface="Calibri"/>
            </a:endParaRPr>
          </a:p>
          <a:p>
            <a:pPr marL="731520" lvl="1" indent="-274320">
              <a:spcAft>
                <a:spcPts val="600"/>
              </a:spcAft>
              <a:buClr>
                <a:srgbClr val="0B2B4E"/>
              </a:buClr>
              <a:buSzPct val="100000"/>
              <a:buFont typeface="Calibri"/>
              <a:buChar char="▪"/>
            </a:pPr>
            <a:r>
              <a:rPr sz="2500" b="0" i="0" dirty="0">
                <a:solidFill>
                  <a:srgbClr val="0B2B4E"/>
                </a:solidFill>
                <a:latin typeface="Calibri"/>
              </a:rPr>
              <a:t>Contact: </a:t>
            </a:r>
            <a:r>
              <a:rPr sz="2500" b="0" i="0" dirty="0">
                <a:solidFill>
                  <a:srgbClr val="0B2B4E"/>
                </a:solidFill>
                <a:latin typeface="Calibri"/>
                <a:hlinkClick r:id="rId4"/>
              </a:rPr>
              <a:t>melanie.wasserman@anderson.ucla.edu</a:t>
            </a:r>
            <a:r>
              <a:rPr lang="en-US" sz="2500" b="0" i="0" dirty="0">
                <a:solidFill>
                  <a:srgbClr val="0B2B4E"/>
                </a:solidFill>
                <a:latin typeface="Calibri"/>
              </a:rPr>
              <a:t> </a:t>
            </a:r>
            <a:r>
              <a:rPr sz="2500" b="0" i="0" dirty="0">
                <a:solidFill>
                  <a:srgbClr val="0B2B4E"/>
                </a:solidFill>
                <a:latin typeface="Calibri"/>
              </a:rPr>
              <a:t> </a:t>
            </a:r>
            <a:endParaRPr lang="en-US" sz="2500" b="0" i="0" dirty="0">
              <a:solidFill>
                <a:srgbClr val="0B2B4E"/>
              </a:solidFill>
              <a:latin typeface="Calibri"/>
            </a:endParaRPr>
          </a:p>
          <a:p>
            <a:pPr marL="274320" indent="-274320">
              <a:spcAft>
                <a:spcPts val="600"/>
              </a:spcAft>
              <a:buClr>
                <a:srgbClr val="0B2B4E"/>
              </a:buClr>
              <a:buSzPct val="100000"/>
              <a:buFont typeface="Calibri"/>
              <a:buChar char="▪"/>
            </a:pPr>
            <a:endParaRPr sz="1000" b="0" i="0" dirty="0">
              <a:solidFill>
                <a:srgbClr val="0B2B4E"/>
              </a:solidFill>
              <a:latin typeface="Calibri"/>
            </a:endParaRPr>
          </a:p>
          <a:p>
            <a:pPr>
              <a:spcAft>
                <a:spcPts val="600"/>
              </a:spcAft>
              <a:buClr>
                <a:srgbClr val="0B2B4E"/>
              </a:buClr>
              <a:buSzPct val="100000"/>
            </a:pPr>
            <a:r>
              <a:rPr sz="2500" b="1" i="0" dirty="0">
                <a:solidFill>
                  <a:srgbClr val="0B2B4E"/>
                </a:solidFill>
                <a:latin typeface="Calibri"/>
              </a:rPr>
              <a:t>TAs:</a:t>
            </a:r>
            <a:r>
              <a:rPr sz="2000" b="0" i="0" dirty="0">
                <a:solidFill>
                  <a:srgbClr val="0B2B4E"/>
                </a:solidFill>
                <a:latin typeface="Calibri"/>
              </a:rPr>
              <a:t> </a:t>
            </a:r>
            <a:r>
              <a:rPr sz="2500" b="0" i="0" dirty="0">
                <a:solidFill>
                  <a:srgbClr val="0B2B4E"/>
                </a:solidFill>
                <a:latin typeface="Calibri"/>
              </a:rPr>
              <a:t>Advanced PhD students in Economics &amp; Management </a:t>
            </a:r>
          </a:p>
          <a:p>
            <a:pPr marL="731520" lvl="1" indent="-274320">
              <a:spcAft>
                <a:spcPts val="600"/>
              </a:spcAft>
              <a:buClr>
                <a:srgbClr val="0B2B4E"/>
              </a:buClr>
              <a:buSzPct val="100000"/>
              <a:buFont typeface="Calibri"/>
              <a:buChar char="▪"/>
            </a:pPr>
            <a:r>
              <a:rPr sz="2500" b="1" i="0" dirty="0">
                <a:solidFill>
                  <a:srgbClr val="0B2B4E"/>
                </a:solidFill>
                <a:latin typeface="Calibri"/>
              </a:rPr>
              <a:t>Section 3:</a:t>
            </a:r>
            <a:endParaRPr sz="2500" b="0" i="0" dirty="0">
              <a:solidFill>
                <a:srgbClr val="0B2B4E"/>
              </a:solidFill>
              <a:latin typeface="Calibri"/>
            </a:endParaRPr>
          </a:p>
          <a:p>
            <a:pPr marL="731520" lvl="1" indent="-274320">
              <a:spcAft>
                <a:spcPts val="600"/>
              </a:spcAft>
              <a:buClr>
                <a:srgbClr val="0B2B4E"/>
              </a:buClr>
              <a:buSzPct val="100000"/>
              <a:buFont typeface="Calibri"/>
              <a:buChar char="▪"/>
            </a:pPr>
            <a:r>
              <a:rPr sz="2500" b="1" i="0" dirty="0">
                <a:solidFill>
                  <a:srgbClr val="0B2B4E"/>
                </a:solidFill>
                <a:latin typeface="Calibri"/>
              </a:rPr>
              <a:t>Section 4:</a:t>
            </a:r>
            <a:endParaRPr lang="en-US" sz="2500" b="0" i="0" dirty="0">
              <a:solidFill>
                <a:srgbClr val="0B2B4E"/>
              </a:solidFill>
              <a:latin typeface="Calibri"/>
            </a:endParaRPr>
          </a:p>
          <a:p>
            <a:pPr marL="274320" indent="-274320">
              <a:spcAft>
                <a:spcPts val="600"/>
              </a:spcAft>
              <a:buClr>
                <a:srgbClr val="0B2B4E"/>
              </a:buClr>
              <a:buSzPct val="100000"/>
              <a:buFont typeface="Calibri"/>
              <a:buChar char="▪"/>
            </a:pPr>
            <a:endParaRPr sz="1000" b="0" i="0" dirty="0">
              <a:solidFill>
                <a:srgbClr val="0B2B4E"/>
              </a:solidFill>
              <a:latin typeface="Calibri"/>
            </a:endParaRPr>
          </a:p>
          <a:p>
            <a:pPr>
              <a:spcAft>
                <a:spcPts val="600"/>
              </a:spcAft>
              <a:buClr>
                <a:srgbClr val="0B2B4E"/>
              </a:buClr>
              <a:buSzPct val="100000"/>
            </a:pPr>
            <a:r>
              <a:rPr sz="2500" b="1" i="0" dirty="0">
                <a:solidFill>
                  <a:srgbClr val="0B2B4E"/>
                </a:solidFill>
                <a:latin typeface="Calibri"/>
              </a:rPr>
              <a:t>You!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Course Overview</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Course Overview: How to Succeed in This Class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a:t>
            </a:r>
          </a:p>
        </p:txBody>
      </p:sp>
      <p:sp>
        <p:nvSpPr>
          <p:cNvPr id="10" name="BUILD"/>
          <p:cNvSpPr txBox="1"/>
          <p:nvPr/>
        </p:nvSpPr>
        <p:spPr>
          <a:xfrm>
            <a:off x="640080" y="1503861"/>
            <a:ext cx="10881360" cy="4462760"/>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1" i="0" dirty="0">
                <a:solidFill>
                  <a:srgbClr val="0B2B4E"/>
                </a:solidFill>
                <a:latin typeface="Calibri"/>
              </a:rPr>
              <a:t>Readings</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Textbook: Goolsbee, Levitt, Syverson (4th edition)</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News articles/podcasts (feel free to send me suggestions!)</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Slides: uploaded 24 hours in advance; slides with solutions to in-class exercises uploaded after class</a:t>
            </a:r>
          </a:p>
          <a:p>
            <a:pPr marL="274320" indent="-274320">
              <a:spcAft>
                <a:spcPts val="600"/>
              </a:spcAft>
              <a:buClr>
                <a:srgbClr val="0B2B4E"/>
              </a:buClr>
              <a:buSzPct val="100000"/>
              <a:buFont typeface="Calibri"/>
              <a:buChar char="▪"/>
            </a:pPr>
            <a:r>
              <a:rPr sz="2400" b="1" i="0" dirty="0">
                <a:solidFill>
                  <a:srgbClr val="0B2B4E"/>
                </a:solidFill>
                <a:latin typeface="Calibri"/>
              </a:rPr>
              <a:t>Class participation:</a:t>
            </a:r>
            <a:r>
              <a:rPr sz="2400" b="0" i="0" dirty="0">
                <a:solidFill>
                  <a:srgbClr val="0B2B4E"/>
                </a:solidFill>
                <a:latin typeface="Calibri"/>
              </a:rPr>
              <a:t> broadly defined!</a:t>
            </a:r>
          </a:p>
          <a:p>
            <a:pPr marL="274320" indent="-274320">
              <a:spcAft>
                <a:spcPts val="600"/>
              </a:spcAft>
              <a:buClr>
                <a:srgbClr val="0B2B4E"/>
              </a:buClr>
              <a:buSzPct val="100000"/>
              <a:buFont typeface="Calibri"/>
              <a:buChar char="▪"/>
            </a:pPr>
            <a:r>
              <a:rPr sz="2400" b="1" i="0" dirty="0">
                <a:solidFill>
                  <a:srgbClr val="0B2B4E"/>
                </a:solidFill>
                <a:latin typeface="Calibri"/>
              </a:rPr>
              <a:t>Problem sets</a:t>
            </a:r>
          </a:p>
          <a:p>
            <a:pPr marL="274320" indent="-274320">
              <a:spcAft>
                <a:spcPts val="600"/>
              </a:spcAft>
              <a:buClr>
                <a:srgbClr val="0B2B4E"/>
              </a:buClr>
              <a:buSzPct val="100000"/>
              <a:buFont typeface="Calibri"/>
              <a:buChar char="▪"/>
            </a:pPr>
            <a:r>
              <a:rPr sz="2400" b="1" i="0" dirty="0">
                <a:solidFill>
                  <a:srgbClr val="0B2B4E"/>
                </a:solidFill>
                <a:latin typeface="Calibri"/>
              </a:rPr>
              <a:t>Optional practice exercises:</a:t>
            </a:r>
            <a:r>
              <a:rPr sz="2400" b="0" i="0" dirty="0">
                <a:solidFill>
                  <a:srgbClr val="0B2B4E"/>
                </a:solidFill>
                <a:latin typeface="Calibri"/>
              </a:rPr>
              <a:t> textbook</a:t>
            </a:r>
            <a:r>
              <a:rPr lang="en-US" sz="2400" b="0" i="0" dirty="0">
                <a:solidFill>
                  <a:srgbClr val="0B2B4E"/>
                </a:solidFill>
                <a:latin typeface="Calibri"/>
              </a:rPr>
              <a:t>/online</a:t>
            </a:r>
            <a:r>
              <a:rPr sz="2400" b="0" i="0" dirty="0">
                <a:solidFill>
                  <a:srgbClr val="0B2B4E"/>
                </a:solidFill>
                <a:latin typeface="Calibri"/>
              </a:rPr>
              <a:t> exercises on </a:t>
            </a:r>
            <a:r>
              <a:rPr sz="2400" b="0" i="0" dirty="0" err="1">
                <a:solidFill>
                  <a:srgbClr val="0B2B4E"/>
                </a:solidFill>
                <a:latin typeface="Calibri"/>
              </a:rPr>
              <a:t>BruinLearn</a:t>
            </a:r>
            <a:endParaRPr sz="2400" b="0" i="0" dirty="0">
              <a:solidFill>
                <a:srgbClr val="0B2B4E"/>
              </a:solidFill>
              <a:latin typeface="Calibri"/>
            </a:endParaRPr>
          </a:p>
          <a:p>
            <a:pPr marL="274320" indent="-274320">
              <a:spcAft>
                <a:spcPts val="600"/>
              </a:spcAft>
              <a:buClr>
                <a:srgbClr val="0B2B4E"/>
              </a:buClr>
              <a:buSzPct val="100000"/>
              <a:buFont typeface="Calibri"/>
              <a:buChar char="▪"/>
            </a:pPr>
            <a:r>
              <a:rPr sz="2400" b="1" i="0" dirty="0">
                <a:solidFill>
                  <a:srgbClr val="0B2B4E"/>
                </a:solidFill>
                <a:latin typeface="Calibri"/>
              </a:rPr>
              <a:t>Opportunities outside the classroom</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My office hours: by appt, just email me! </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TA weekly session/office hours </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Group coffee chats: link to Google doc on </a:t>
            </a:r>
            <a:r>
              <a:rPr sz="2000" b="0" i="0" dirty="0" err="1">
                <a:solidFill>
                  <a:schemeClr val="bg1">
                    <a:lumMod val="50000"/>
                  </a:schemeClr>
                </a:solidFill>
                <a:latin typeface="Calibri"/>
              </a:rPr>
              <a:t>BruinLearn</a:t>
            </a:r>
            <a:endParaRPr sz="2000" b="0" i="0" dirty="0">
              <a:solidFill>
                <a:schemeClr val="bg1">
                  <a:lumMod val="50000"/>
                </a:schemeClr>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Course Overview</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Course Overview: TA Weekly Sessions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a:t>
            </a:r>
          </a:p>
        </p:txBody>
      </p:sp>
      <p:sp>
        <p:nvSpPr>
          <p:cNvPr id="10" name="BUILD"/>
          <p:cNvSpPr txBox="1"/>
          <p:nvPr/>
        </p:nvSpPr>
        <p:spPr>
          <a:xfrm>
            <a:off x="640080" y="1691640"/>
            <a:ext cx="10881360" cy="2174954"/>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400" b="0" i="0" dirty="0">
                <a:solidFill>
                  <a:srgbClr val="0B2B4E"/>
                </a:solidFill>
                <a:latin typeface="Calibri"/>
              </a:rPr>
              <a:t>Each session </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First half: review of class concepts, practice exercises</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Second half: informal Q&amp;A</a:t>
            </a:r>
            <a:endParaRPr lang="en-US" sz="2000" b="0" i="0" dirty="0">
              <a:solidFill>
                <a:schemeClr val="bg1">
                  <a:lumMod val="50000"/>
                </a:schemeClr>
              </a:solidFill>
              <a:latin typeface="Calibri"/>
            </a:endParaRPr>
          </a:p>
          <a:p>
            <a:pPr marL="603504" lvl="1" indent="-310896">
              <a:spcAft>
                <a:spcPts val="1000"/>
              </a:spcAft>
              <a:buClr>
                <a:srgbClr val="555B66"/>
              </a:buClr>
              <a:buSzPct val="100000"/>
              <a:buFont typeface="Calibri"/>
              <a:buChar char="–"/>
            </a:pPr>
            <a:endParaRPr sz="2000" b="0" i="0" dirty="0">
              <a:solidFill>
                <a:schemeClr val="bg1">
                  <a:lumMod val="50000"/>
                </a:schemeClr>
              </a:solidFill>
              <a:latin typeface="Calibri"/>
            </a:endParaRPr>
          </a:p>
          <a:p>
            <a:pPr marL="274320" indent="-274320">
              <a:spcAft>
                <a:spcPts val="1000"/>
              </a:spcAft>
              <a:buClr>
                <a:srgbClr val="0B2B4E"/>
              </a:buClr>
              <a:buSzPct val="100000"/>
              <a:buFont typeface="Calibri"/>
              <a:buChar char="▪"/>
            </a:pPr>
            <a:r>
              <a:rPr sz="2400" b="0" i="0" dirty="0">
                <a:solidFill>
                  <a:srgbClr val="0B2B4E"/>
                </a:solidFill>
                <a:latin typeface="Calibri"/>
              </a:rPr>
              <a:t>Vote on timing on next slide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Course Overview</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Course Overview: Grading</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a:t>
            </a:r>
          </a:p>
        </p:txBody>
      </p:sp>
      <p:sp>
        <p:nvSpPr>
          <p:cNvPr id="10" name="BUILD"/>
          <p:cNvSpPr txBox="1"/>
          <p:nvPr/>
        </p:nvSpPr>
        <p:spPr>
          <a:xfrm>
            <a:off x="640080" y="1691640"/>
            <a:ext cx="10881360" cy="3385542"/>
          </a:xfrm>
          <a:prstGeom prst="rect">
            <a:avLst/>
          </a:prstGeom>
          <a:noFill/>
        </p:spPr>
        <p:txBody>
          <a:bodyPr wrap="square" lIns="0" tIns="0" rIns="0" bIns="0" anchor="t">
            <a:spAutoFit/>
          </a:bodyPr>
          <a:lstStyle/>
          <a:p>
            <a:pPr marL="292608" lvl="1">
              <a:spcAft>
                <a:spcPts val="1400"/>
              </a:spcAft>
              <a:buClr>
                <a:srgbClr val="555B66"/>
              </a:buClr>
              <a:buSzPct val="100000"/>
            </a:pPr>
            <a:r>
              <a:rPr sz="2100" b="0" i="0" dirty="0">
                <a:solidFill>
                  <a:srgbClr val="222B3A"/>
                </a:solidFill>
                <a:latin typeface="Calibri"/>
              </a:rPr>
              <a:t>Midterm					 25%		</a:t>
            </a:r>
          </a:p>
          <a:p>
            <a:pPr marL="292608" lvl="1">
              <a:spcAft>
                <a:spcPts val="1400"/>
              </a:spcAft>
              <a:buClr>
                <a:srgbClr val="555B66"/>
              </a:buClr>
              <a:buSzPct val="100000"/>
            </a:pPr>
            <a:r>
              <a:rPr sz="2100" b="0" i="0" dirty="0">
                <a:solidFill>
                  <a:srgbClr val="222B3A"/>
                </a:solidFill>
                <a:latin typeface="Calibri"/>
              </a:rPr>
              <a:t>Final 					        </a:t>
            </a:r>
            <a:r>
              <a:rPr lang="en-US" sz="2100" b="0" i="0" dirty="0">
                <a:solidFill>
                  <a:srgbClr val="222B3A"/>
                </a:solidFill>
                <a:latin typeface="Calibri"/>
              </a:rPr>
              <a:t> </a:t>
            </a:r>
            <a:r>
              <a:rPr sz="2100" b="0" i="0" dirty="0">
                <a:solidFill>
                  <a:srgbClr val="222B3A"/>
                </a:solidFill>
                <a:latin typeface="Calibri"/>
              </a:rPr>
              <a:t>40%		</a:t>
            </a:r>
          </a:p>
          <a:p>
            <a:pPr marL="292608" lvl="1">
              <a:spcAft>
                <a:spcPts val="1400"/>
              </a:spcAft>
              <a:buClr>
                <a:srgbClr val="555B66"/>
              </a:buClr>
              <a:buSzPct val="100000"/>
            </a:pPr>
            <a:r>
              <a:rPr sz="2100" b="0" i="0" dirty="0">
                <a:solidFill>
                  <a:srgbClr val="222B3A"/>
                </a:solidFill>
                <a:latin typeface="Calibri"/>
              </a:rPr>
              <a:t>Problem sets		                25%		</a:t>
            </a:r>
          </a:p>
          <a:p>
            <a:pPr marL="292608" lvl="1">
              <a:spcAft>
                <a:spcPts val="1400"/>
              </a:spcAft>
              <a:buClr>
                <a:srgbClr val="555B66"/>
              </a:buClr>
              <a:buSzPct val="100000"/>
            </a:pPr>
            <a:r>
              <a:rPr sz="2100" b="0" i="0" dirty="0">
                <a:solidFill>
                  <a:srgbClr val="222B3A"/>
                </a:solidFill>
                <a:latin typeface="Calibri"/>
              </a:rPr>
              <a:t>Class participation	                10%		</a:t>
            </a:r>
            <a:endParaRPr lang="en-US" sz="2100" b="0" i="0" dirty="0">
              <a:solidFill>
                <a:srgbClr val="222B3A"/>
              </a:solidFill>
              <a:latin typeface="Calibri"/>
            </a:endParaRPr>
          </a:p>
          <a:p>
            <a:pPr marL="292608" lvl="1">
              <a:spcAft>
                <a:spcPts val="1400"/>
              </a:spcAft>
              <a:buClr>
                <a:srgbClr val="555B66"/>
              </a:buClr>
              <a:buSzPct val="100000"/>
            </a:pPr>
            <a:endParaRPr lang="en-US" sz="2100" b="0" i="0" dirty="0">
              <a:solidFill>
                <a:srgbClr val="222B3A"/>
              </a:solidFill>
              <a:latin typeface="Calibri"/>
            </a:endParaRPr>
          </a:p>
          <a:p>
            <a:pPr marL="292608" lvl="1">
              <a:spcAft>
                <a:spcPts val="1400"/>
              </a:spcAft>
              <a:buClr>
                <a:srgbClr val="555B66"/>
              </a:buClr>
              <a:buSzPct val="100000"/>
            </a:pPr>
            <a:endParaRPr sz="2100" b="0" i="0" dirty="0">
              <a:solidFill>
                <a:srgbClr val="222B3A"/>
              </a:solidFill>
              <a:latin typeface="Calibri"/>
            </a:endParaRPr>
          </a:p>
          <a:p>
            <a:pPr marL="274320" indent="-274320">
              <a:spcAft>
                <a:spcPts val="1400"/>
              </a:spcAft>
              <a:buClr>
                <a:srgbClr val="0B2B4E"/>
              </a:buClr>
              <a:buSzPct val="100000"/>
              <a:buFont typeface="Calibri"/>
              <a:buChar char="▪"/>
            </a:pPr>
            <a:r>
              <a:rPr sz="2400" b="0" i="0" dirty="0">
                <a:solidFill>
                  <a:srgbClr val="0B2B4E"/>
                </a:solidFill>
                <a:latin typeface="Calibri"/>
              </a:rPr>
              <a:t>Grade distribution follows Anderson policy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r>
              <a:rPr lang="en-US" sz="3000" b="1" i="0" dirty="0">
                <a:solidFill>
                  <a:srgbClr val="0B2B4E"/>
                </a:solidFill>
                <a:latin typeface="Calibri"/>
              </a:rPr>
              <a:t>: Zoom Weekly TA Session</a:t>
            </a:r>
            <a:endParaRPr sz="3000" b="1" i="0" dirty="0">
              <a:solidFill>
                <a:srgbClr val="0B2B4E"/>
              </a:solidFill>
              <a:latin typeface="Calibri"/>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6</a:t>
            </a:r>
          </a:p>
        </p:txBody>
      </p:sp>
      <p:pic>
        <p:nvPicPr>
          <p:cNvPr id="10" name="Picture 9" descr="s6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7</a:t>
            </a:r>
          </a:p>
        </p:txBody>
      </p:sp>
      <p:pic>
        <p:nvPicPr>
          <p:cNvPr id="10" name="Picture 9" descr="s7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Course Overview</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Course Overview: Structure of Class Sessions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8</a:t>
            </a:r>
          </a:p>
        </p:txBody>
      </p:sp>
      <p:sp>
        <p:nvSpPr>
          <p:cNvPr id="10" name="BUILD"/>
          <p:cNvSpPr txBox="1"/>
          <p:nvPr/>
        </p:nvSpPr>
        <p:spPr>
          <a:xfrm>
            <a:off x="640080" y="1691640"/>
            <a:ext cx="10881360" cy="3754874"/>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3 hours, once per week</a:t>
            </a:r>
          </a:p>
          <a:p>
            <a:pPr marL="274320" indent="-274320">
              <a:spcAft>
                <a:spcPts val="600"/>
              </a:spcAft>
              <a:buClr>
                <a:srgbClr val="0B2B4E"/>
              </a:buClr>
              <a:buSzPct val="100000"/>
              <a:buFont typeface="Calibri"/>
              <a:buChar char="▪"/>
            </a:pPr>
            <a:r>
              <a:rPr sz="2400" b="0" i="0" dirty="0">
                <a:solidFill>
                  <a:srgbClr val="0B2B4E"/>
                </a:solidFill>
                <a:latin typeface="Calibri"/>
              </a:rPr>
              <a:t>Introduce and develop proficiency in economic tools </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Theory</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Real life examples, including in-depth discussion of cases</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Interactive exercises (group discussions, </a:t>
            </a:r>
            <a:r>
              <a:rPr sz="2000" b="0" i="0" dirty="0" err="1">
                <a:solidFill>
                  <a:schemeClr val="bg1">
                    <a:lumMod val="50000"/>
                  </a:schemeClr>
                </a:solidFill>
                <a:latin typeface="Calibri"/>
              </a:rPr>
              <a:t>PollEV</a:t>
            </a:r>
            <a:r>
              <a:rPr sz="2000" b="0" i="0" dirty="0">
                <a:solidFill>
                  <a:schemeClr val="bg1">
                    <a:lumMod val="50000"/>
                  </a:schemeClr>
                </a:solidFill>
                <a:latin typeface="Calibri"/>
              </a:rPr>
              <a:t> exercises)</a:t>
            </a:r>
          </a:p>
          <a:p>
            <a:pPr marL="274320" indent="-274320">
              <a:spcAft>
                <a:spcPts val="600"/>
              </a:spcAft>
              <a:buClr>
                <a:srgbClr val="0B2B4E"/>
              </a:buClr>
              <a:buSzPct val="100000"/>
              <a:buFont typeface="Calibri"/>
              <a:buChar char="▪"/>
            </a:pPr>
            <a:r>
              <a:rPr sz="2400" b="0" i="0" dirty="0">
                <a:solidFill>
                  <a:srgbClr val="0B2B4E"/>
                </a:solidFill>
                <a:latin typeface="Calibri"/>
              </a:rPr>
              <a:t>Encourage class participation</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Discussion overflow: </a:t>
            </a:r>
            <a:r>
              <a:rPr sz="2000" b="0" i="0" dirty="0" err="1">
                <a:solidFill>
                  <a:schemeClr val="bg1">
                    <a:lumMod val="50000"/>
                  </a:schemeClr>
                </a:solidFill>
                <a:latin typeface="Calibri"/>
              </a:rPr>
              <a:t>BruinLearn</a:t>
            </a:r>
            <a:r>
              <a:rPr sz="2000" b="0" i="0" dirty="0">
                <a:solidFill>
                  <a:schemeClr val="bg1">
                    <a:lumMod val="50000"/>
                  </a:schemeClr>
                </a:solidFill>
                <a:latin typeface="Calibri"/>
              </a:rPr>
              <a:t> discussion forum</a:t>
            </a:r>
          </a:p>
          <a:p>
            <a:pPr marL="274320" indent="-274320">
              <a:spcAft>
                <a:spcPts val="600"/>
              </a:spcAft>
              <a:buClr>
                <a:srgbClr val="0B2B4E"/>
              </a:buClr>
              <a:buSzPct val="100000"/>
              <a:buFont typeface="Calibri"/>
              <a:buChar char="▪"/>
            </a:pPr>
            <a:r>
              <a:rPr sz="2400" b="0" i="0" dirty="0">
                <a:solidFill>
                  <a:srgbClr val="0B2B4E"/>
                </a:solidFill>
                <a:latin typeface="Calibri"/>
              </a:rPr>
              <a:t>Provide pointers to problem sets </a:t>
            </a:r>
          </a:p>
          <a:p>
            <a:pPr marL="274320" indent="-274320">
              <a:spcAft>
                <a:spcPts val="600"/>
              </a:spcAft>
              <a:buClr>
                <a:srgbClr val="0B2B4E"/>
              </a:buClr>
              <a:buSzPct val="100000"/>
              <a:buFont typeface="Calibri"/>
              <a:buChar char="▪"/>
            </a:pPr>
            <a:r>
              <a:rPr sz="2400" b="0" i="0" dirty="0">
                <a:solidFill>
                  <a:srgbClr val="0B2B4E"/>
                </a:solidFill>
                <a:latin typeface="Calibri"/>
              </a:rPr>
              <a:t>Class recordings: available on BL after class session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white person with a question mark&#10;&#10;AI-generated content may be incorrect.">
            <a:extLst>
              <a:ext uri="{FF2B5EF4-FFF2-40B4-BE49-F238E27FC236}">
                <a16:creationId xmlns:a16="http://schemas.microsoft.com/office/drawing/2014/main" id="{9EE333E5-B1C7-59F9-3298-EE488B7B0EA9}"/>
              </a:ext>
            </a:extLst>
          </p:cNvPr>
          <p:cNvPicPr>
            <a:picLocks noChangeAspect="1"/>
          </p:cNvPicPr>
          <p:nvPr/>
        </p:nvPicPr>
        <p:blipFill>
          <a:blip r:embed="rId3">
            <a:alphaModFix amt="56000"/>
          </a:blip>
          <a:stretch>
            <a:fillRect/>
          </a:stretch>
        </p:blipFill>
        <p:spPr>
          <a:xfrm>
            <a:off x="7413171" y="3216647"/>
            <a:ext cx="2547258" cy="3467617"/>
          </a:xfrm>
          <a:prstGeom prst="rect">
            <a:avLst/>
          </a:prstGeom>
        </p:spPr>
      </p:pic>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Course Overview</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Goals for Management 405</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9</a:t>
            </a:r>
          </a:p>
        </p:txBody>
      </p:sp>
      <p:sp>
        <p:nvSpPr>
          <p:cNvPr id="10" name="BUILD"/>
          <p:cNvSpPr txBox="1"/>
          <p:nvPr/>
        </p:nvSpPr>
        <p:spPr>
          <a:xfrm>
            <a:off x="640080" y="1737360"/>
            <a:ext cx="7315200" cy="3467616"/>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400" b="0" i="0" dirty="0">
                <a:solidFill>
                  <a:srgbClr val="0B2B4E"/>
                </a:solidFill>
                <a:latin typeface="Calibri"/>
              </a:rPr>
              <a:t>Provide tools based on </a:t>
            </a:r>
            <a:r>
              <a:rPr lang="en-US" sz="2400" dirty="0">
                <a:solidFill>
                  <a:srgbClr val="E09F3E"/>
                </a:solidFill>
              </a:rPr>
              <a:t>”the economic way of thinking”</a:t>
            </a:r>
            <a:r>
              <a:rPr sz="2400" b="0" i="0" dirty="0">
                <a:solidFill>
                  <a:srgbClr val="0B2B4E"/>
                </a:solidFill>
                <a:latin typeface="Calibri"/>
              </a:rPr>
              <a:t> for making better managerial decisions</a:t>
            </a:r>
            <a:endParaRPr lang="en-US" sz="2400" b="0" i="0" dirty="0">
              <a:solidFill>
                <a:srgbClr val="0B2B4E"/>
              </a:solidFill>
              <a:latin typeface="Calibri"/>
            </a:endParaRPr>
          </a:p>
          <a:p>
            <a:pPr marL="274320" indent="-274320">
              <a:spcAft>
                <a:spcPts val="1000"/>
              </a:spcAft>
              <a:buClr>
                <a:srgbClr val="0B2B4E"/>
              </a:buClr>
              <a:buSzPct val="100000"/>
              <a:buFont typeface="Calibri"/>
              <a:buChar char="▪"/>
            </a:pPr>
            <a:endParaRPr sz="2400" b="0" i="0" dirty="0">
              <a:solidFill>
                <a:srgbClr val="0B2B4E"/>
              </a:solidFill>
              <a:latin typeface="Calibri"/>
            </a:endParaRPr>
          </a:p>
          <a:p>
            <a:pPr marL="274320" indent="-274320">
              <a:spcAft>
                <a:spcPts val="1000"/>
              </a:spcAft>
              <a:buClr>
                <a:srgbClr val="0B2B4E"/>
              </a:buClr>
              <a:buSzPct val="100000"/>
              <a:buFont typeface="Calibri"/>
              <a:buChar char="▪"/>
            </a:pPr>
            <a:r>
              <a:rPr sz="2400" b="0" i="0" dirty="0">
                <a:solidFill>
                  <a:srgbClr val="0B2B4E"/>
                </a:solidFill>
                <a:latin typeface="Calibri"/>
              </a:rPr>
              <a:t>Understand and predict how and why economic entities (consumers, producers, industries…) behave as they do</a:t>
            </a:r>
            <a:endParaRPr lang="en-US" sz="2400" b="0" i="0" dirty="0">
              <a:solidFill>
                <a:srgbClr val="0B2B4E"/>
              </a:solidFill>
              <a:latin typeface="Calibri"/>
            </a:endParaRPr>
          </a:p>
          <a:p>
            <a:pPr marL="274320" indent="-274320">
              <a:spcAft>
                <a:spcPts val="1000"/>
              </a:spcAft>
              <a:buClr>
                <a:srgbClr val="0B2B4E"/>
              </a:buClr>
              <a:buSzPct val="100000"/>
              <a:buFont typeface="Calibri"/>
              <a:buChar char="▪"/>
            </a:pPr>
            <a:endParaRPr sz="2400" b="0" i="0" dirty="0">
              <a:solidFill>
                <a:srgbClr val="0B2B4E"/>
              </a:solidFill>
              <a:latin typeface="Calibri"/>
            </a:endParaRPr>
          </a:p>
          <a:p>
            <a:pPr marL="274320" indent="-274320">
              <a:spcAft>
                <a:spcPts val="1000"/>
              </a:spcAft>
              <a:buClr>
                <a:srgbClr val="0B2B4E"/>
              </a:buClr>
              <a:buSzPct val="100000"/>
              <a:buFont typeface="Calibri"/>
              <a:buChar char="▪"/>
            </a:pPr>
            <a:r>
              <a:rPr sz="2400" b="0" i="0" dirty="0">
                <a:solidFill>
                  <a:srgbClr val="0B2B4E"/>
                </a:solidFill>
                <a:latin typeface="Calibri"/>
              </a:rPr>
              <a:t>Understand/anticipate/contest economic concepts and arguments (including in job interviews)</a:t>
            </a:r>
          </a:p>
        </p:txBody>
      </p:sp>
      <p:sp>
        <p:nvSpPr>
          <p:cNvPr id="13" name="Rounded Rectangular Callout 10">
            <a:extLst>
              <a:ext uri="{FF2B5EF4-FFF2-40B4-BE49-F238E27FC236}">
                <a16:creationId xmlns:a16="http://schemas.microsoft.com/office/drawing/2014/main" id="{FC01859B-59A9-32FD-5802-57DE15A060B7}"/>
              </a:ext>
            </a:extLst>
          </p:cNvPr>
          <p:cNvSpPr/>
          <p:nvPr/>
        </p:nvSpPr>
        <p:spPr>
          <a:xfrm rot="20575502">
            <a:off x="9702237" y="4012105"/>
            <a:ext cx="2373710" cy="649370"/>
          </a:xfrm>
          <a:prstGeom prst="wedgeRoundRectCallout">
            <a:avLst>
              <a:gd name="adj1" fmla="val -66084"/>
              <a:gd name="adj2" fmla="val -13378"/>
              <a:gd name="adj3" fmla="val 16667"/>
            </a:avLst>
          </a:prstGeom>
          <a:gradFill>
            <a:gsLst>
              <a:gs pos="0">
                <a:schemeClr val="bg2">
                  <a:lumMod val="90000"/>
                </a:schemeClr>
              </a:gs>
              <a:gs pos="37000">
                <a:schemeClr val="bg2">
                  <a:lumMod val="90000"/>
                </a:schemeClr>
              </a:gs>
              <a:gs pos="100000">
                <a:schemeClr val="bg2"/>
              </a:gs>
            </a:gsLst>
          </a:gradFill>
          <a:ln>
            <a:solidFill>
              <a:schemeClr val="tx2">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Calibri" panose="020F0502020204030204" pitchFamily="34" charset="0"/>
                <a:cs typeface="Calibri" panose="020F0502020204030204" pitchFamily="34" charset="0"/>
              </a:rPr>
              <a:t>WHY SHOULD YOU STUDY ECONOMICS?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Introduction</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Homo </a:t>
            </a:r>
            <a:r>
              <a:rPr lang="en-US" sz="3000" b="1" i="0" dirty="0">
                <a:solidFill>
                  <a:srgbClr val="0B2B4E"/>
                </a:solidFill>
                <a:latin typeface="Calibri"/>
              </a:rPr>
              <a:t>E</a:t>
            </a:r>
            <a:r>
              <a:rPr sz="3000" b="1" i="0" dirty="0">
                <a:solidFill>
                  <a:srgbClr val="0B2B4E"/>
                </a:solidFill>
                <a:latin typeface="Calibri"/>
              </a:rPr>
              <a:t>conomicus </a:t>
            </a:r>
            <a:r>
              <a:rPr lang="en-US" sz="3000" b="1" dirty="0">
                <a:solidFill>
                  <a:srgbClr val="0B2B4E"/>
                </a:solidFill>
                <a:latin typeface="Calibri"/>
              </a:rPr>
              <a:t>C</a:t>
            </a:r>
            <a:r>
              <a:rPr sz="3000" b="1" i="0" dirty="0">
                <a:solidFill>
                  <a:srgbClr val="0B2B4E"/>
                </a:solidFill>
                <a:latin typeface="Calibri"/>
              </a:rPr>
              <a:t>an </a:t>
            </a:r>
            <a:r>
              <a:rPr lang="en-US" sz="3000" b="1" dirty="0">
                <a:solidFill>
                  <a:srgbClr val="0B2B4E"/>
                </a:solidFill>
                <a:latin typeface="Calibri"/>
              </a:rPr>
              <a:t>H</a:t>
            </a:r>
            <a:r>
              <a:rPr sz="3000" b="1" i="0" dirty="0">
                <a:solidFill>
                  <a:srgbClr val="0B2B4E"/>
                </a:solidFill>
                <a:latin typeface="Calibri"/>
              </a:rPr>
              <a:t>elp </a:t>
            </a:r>
            <a:r>
              <a:rPr lang="en-US" sz="3000" b="1" dirty="0">
                <a:solidFill>
                  <a:srgbClr val="0B2B4E"/>
                </a:solidFill>
                <a:latin typeface="Calibri"/>
              </a:rPr>
              <a:t>U</a:t>
            </a:r>
            <a:r>
              <a:rPr sz="3000" b="1" i="0" dirty="0">
                <a:solidFill>
                  <a:srgbClr val="0B2B4E"/>
                </a:solidFill>
                <a:latin typeface="Calibri"/>
              </a:rPr>
              <a:t>s </a:t>
            </a:r>
            <a:r>
              <a:rPr lang="en-US" sz="3000" b="1" dirty="0">
                <a:solidFill>
                  <a:srgbClr val="0B2B4E"/>
                </a:solidFill>
                <a:latin typeface="Calibri"/>
              </a:rPr>
              <a:t>W</a:t>
            </a:r>
            <a:r>
              <a:rPr sz="3000" b="1" i="0" dirty="0">
                <a:solidFill>
                  <a:srgbClr val="0B2B4E"/>
                </a:solidFill>
                <a:latin typeface="Calibri"/>
              </a:rPr>
              <a:t>ith…</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10</a:t>
            </a:r>
          </a:p>
        </p:txBody>
      </p:sp>
      <p:sp>
        <p:nvSpPr>
          <p:cNvPr id="10" name="BUILD"/>
          <p:cNvSpPr txBox="1"/>
          <p:nvPr/>
        </p:nvSpPr>
        <p:spPr>
          <a:xfrm>
            <a:off x="599259" y="1476103"/>
            <a:ext cx="6766560" cy="4909036"/>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Individual decisions</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Buy a product?</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Pursue an MBA?</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Drive 5 miles to get cheaper gas?</a:t>
            </a:r>
          </a:p>
          <a:p>
            <a:pPr marL="274320" indent="-274320">
              <a:spcAft>
                <a:spcPts val="600"/>
              </a:spcAft>
              <a:buClr>
                <a:srgbClr val="0B2B4E"/>
              </a:buClr>
              <a:buSzPct val="100000"/>
              <a:buFont typeface="Calibri"/>
              <a:buChar char="▪"/>
            </a:pPr>
            <a:r>
              <a:rPr sz="2400" b="0" i="0" dirty="0">
                <a:solidFill>
                  <a:srgbClr val="0B2B4E"/>
                </a:solidFill>
                <a:latin typeface="Calibri"/>
              </a:rPr>
              <a:t>Firm decisions</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Hire an additional employee?</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Build a new factory?</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Shut down?</a:t>
            </a:r>
          </a:p>
          <a:p>
            <a:pPr marL="274320" indent="-274320">
              <a:spcAft>
                <a:spcPts val="600"/>
              </a:spcAft>
              <a:buClr>
                <a:srgbClr val="0B2B4E"/>
              </a:buClr>
              <a:buSzPct val="100000"/>
              <a:buFont typeface="Calibri"/>
              <a:buChar char="▪"/>
            </a:pPr>
            <a:r>
              <a:rPr sz="2400" b="0" i="0" dirty="0">
                <a:solidFill>
                  <a:srgbClr val="0B2B4E"/>
                </a:solidFill>
                <a:latin typeface="Calibri"/>
              </a:rPr>
              <a:t>Government decisions</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Implement a minimum wage?</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Impose rent control?</a:t>
            </a:r>
          </a:p>
          <a:p>
            <a:pPr marL="603504" lvl="1" indent="-310896">
              <a:spcAft>
                <a:spcPts val="600"/>
              </a:spcAft>
              <a:buClr>
                <a:srgbClr val="555B66"/>
              </a:buClr>
              <a:buSzPct val="100000"/>
              <a:buFont typeface="Calibri"/>
              <a:buChar char="–"/>
            </a:pPr>
            <a:r>
              <a:rPr sz="2000" b="0" i="0" dirty="0">
                <a:solidFill>
                  <a:schemeClr val="bg1">
                    <a:lumMod val="50000"/>
                  </a:schemeClr>
                </a:solidFill>
                <a:latin typeface="Calibri"/>
              </a:rPr>
              <a:t>Tax sugary drinks?</a:t>
            </a:r>
          </a:p>
        </p:txBody>
      </p:sp>
      <p:pic>
        <p:nvPicPr>
          <p:cNvPr id="11" name="Picture 10" descr="s10_img1.jpg"/>
          <p:cNvPicPr>
            <a:picLocks noChangeAspect="1"/>
          </p:cNvPicPr>
          <p:nvPr/>
        </p:nvPicPr>
        <p:blipFill>
          <a:blip r:embed="rId3"/>
          <a:stretch>
            <a:fillRect/>
          </a:stretch>
        </p:blipFill>
        <p:spPr>
          <a:xfrm>
            <a:off x="5314283" y="1350714"/>
            <a:ext cx="6572917" cy="4929688"/>
          </a:xfrm>
          <a:prstGeom prst="roundRect">
            <a:avLst>
              <a:gd name="adj" fmla="val 4000"/>
            </a:avLst>
          </a:prstGeom>
          <a:effectLst>
            <a:outerShdw blurRad="54864" dist="41148" dir="5400000" rotWithShape="0">
              <a:srgbClr val="000000">
                <a:alpha val="62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Course Roadmap</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Agenda for the Class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11</a:t>
            </a:r>
          </a:p>
        </p:txBody>
      </p:sp>
      <p:cxnSp>
        <p:nvCxnSpPr>
          <p:cNvPr id="10" name="Connector 9"/>
          <p:cNvCxnSpPr/>
          <p:nvPr/>
        </p:nvCxnSpPr>
        <p:spPr>
          <a:xfrm flipH="1">
            <a:off x="4572000" y="2715768"/>
            <a:ext cx="429768" cy="786384"/>
          </a:xfrm>
          <a:prstGeom prst="line">
            <a:avLst/>
          </a:prstGeom>
          <a:ln w="25400">
            <a:solidFill>
              <a:srgbClr val="0B2B4E"/>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196328" y="2715768"/>
            <a:ext cx="438912" cy="786384"/>
          </a:xfrm>
          <a:prstGeom prst="line">
            <a:avLst/>
          </a:prstGeom>
          <a:ln w="19050">
            <a:solidFill>
              <a:srgbClr val="B4B8B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572000" y="4270248"/>
            <a:ext cx="429768" cy="786384"/>
          </a:xfrm>
          <a:prstGeom prst="line">
            <a:avLst/>
          </a:prstGeom>
          <a:ln w="19050">
            <a:solidFill>
              <a:srgbClr val="B4B8BE"/>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196328" y="4270248"/>
            <a:ext cx="438912" cy="786384"/>
          </a:xfrm>
          <a:prstGeom prst="line">
            <a:avLst/>
          </a:prstGeom>
          <a:ln w="19050">
            <a:solidFill>
              <a:srgbClr val="B4B8BE"/>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081528" y="1943100"/>
            <a:ext cx="6035040" cy="777240"/>
          </a:xfrm>
          <a:prstGeom prst="roundRect">
            <a:avLst>
              <a:gd name="adj" fmla="val 10000"/>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i="0">
                <a:solidFill>
                  <a:srgbClr val="FFFFFF"/>
                </a:solidFill>
                <a:latin typeface="Calibri"/>
              </a:rPr>
              <a:t>1.  The Economic Way of Thinking (Module 1)</a:t>
            </a:r>
          </a:p>
        </p:txBody>
      </p:sp>
      <p:sp>
        <p:nvSpPr>
          <p:cNvPr id="15" name="Rounded Rectangle 14"/>
          <p:cNvSpPr/>
          <p:nvPr/>
        </p:nvSpPr>
        <p:spPr>
          <a:xfrm>
            <a:off x="1783079" y="3497580"/>
            <a:ext cx="3383280" cy="777240"/>
          </a:xfrm>
          <a:prstGeom prst="roundRect">
            <a:avLst>
              <a:gd name="adj" fmla="val 10000"/>
            </a:avLst>
          </a:prstGeom>
          <a:solidFill>
            <a:srgbClr val="B4B8B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i="0">
                <a:solidFill>
                  <a:srgbClr val="FFFFFF"/>
                </a:solidFill>
                <a:latin typeface="Calibri"/>
              </a:rPr>
              <a:t>2.  Value and Demand</a:t>
            </a:r>
          </a:p>
        </p:txBody>
      </p:sp>
      <p:sp>
        <p:nvSpPr>
          <p:cNvPr id="16" name="Rounded Rectangle 15"/>
          <p:cNvSpPr/>
          <p:nvPr/>
        </p:nvSpPr>
        <p:spPr>
          <a:xfrm>
            <a:off x="7040880" y="3497580"/>
            <a:ext cx="3383280" cy="777240"/>
          </a:xfrm>
          <a:prstGeom prst="roundRect">
            <a:avLst>
              <a:gd name="adj" fmla="val 10000"/>
            </a:avLst>
          </a:prstGeom>
          <a:solidFill>
            <a:srgbClr val="B4B8B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i="0">
                <a:solidFill>
                  <a:srgbClr val="FFFFFF"/>
                </a:solidFill>
                <a:latin typeface="Calibri"/>
              </a:rPr>
              <a:t>3.  Supply and Cost</a:t>
            </a:r>
          </a:p>
        </p:txBody>
      </p:sp>
      <p:sp>
        <p:nvSpPr>
          <p:cNvPr id="17" name="Rounded Rectangle 16"/>
          <p:cNvSpPr/>
          <p:nvPr/>
        </p:nvSpPr>
        <p:spPr>
          <a:xfrm>
            <a:off x="3721608" y="5052060"/>
            <a:ext cx="4754880" cy="777240"/>
          </a:xfrm>
          <a:prstGeom prst="roundRect">
            <a:avLst>
              <a:gd name="adj" fmla="val 10000"/>
            </a:avLst>
          </a:prstGeom>
          <a:solidFill>
            <a:srgbClr val="B4B8B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i="0">
                <a:solidFill>
                  <a:srgbClr val="FFFFFF"/>
                </a:solidFill>
                <a:latin typeface="Calibri"/>
              </a:rPr>
              <a:t>4.  Markets, Pricing and Strategy</a:t>
            </a:r>
          </a:p>
        </p:txBody>
      </p:sp>
      <p:sp>
        <p:nvSpPr>
          <p:cNvPr id="18" name="Right Arrow 17"/>
          <p:cNvSpPr/>
          <p:nvPr/>
        </p:nvSpPr>
        <p:spPr>
          <a:xfrm>
            <a:off x="2148840" y="2194560"/>
            <a:ext cx="777240" cy="292608"/>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71600" y="1783080"/>
            <a:ext cx="2011680" cy="365760"/>
          </a:xfrm>
          <a:prstGeom prst="rect">
            <a:avLst/>
          </a:prstGeom>
          <a:noFill/>
        </p:spPr>
        <p:txBody>
          <a:bodyPr wrap="square" lIns="0" tIns="0" rIns="0" bIns="0" anchor="t">
            <a:spAutoFit/>
          </a:bodyPr>
          <a:lstStyle/>
          <a:p>
            <a:pPr algn="ctr"/>
            <a:r>
              <a:rPr sz="1800" b="1" i="0">
                <a:solidFill>
                  <a:srgbClr val="E09F3E"/>
                </a:solidFill>
                <a:latin typeface="Calibri"/>
              </a:rPr>
              <a:t>we are here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Outline</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12</a:t>
            </a:r>
          </a:p>
        </p:txBody>
      </p:sp>
      <p:sp>
        <p:nvSpPr>
          <p:cNvPr id="10" name="Oval 9"/>
          <p:cNvSpPr/>
          <p:nvPr/>
        </p:nvSpPr>
        <p:spPr>
          <a:xfrm>
            <a:off x="1024128" y="1929384"/>
            <a:ext cx="566928" cy="566928"/>
          </a:xfrm>
          <a:prstGeom prst="ellipse">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p:cNvSpPr txBox="1"/>
          <p:nvPr/>
        </p:nvSpPr>
        <p:spPr>
          <a:xfrm>
            <a:off x="1883664" y="1910422"/>
            <a:ext cx="9226296" cy="384721"/>
          </a:xfrm>
          <a:prstGeom prst="rect">
            <a:avLst/>
          </a:prstGeom>
          <a:noFill/>
        </p:spPr>
        <p:txBody>
          <a:bodyPr wrap="square" lIns="0" tIns="0" rIns="0" bIns="0" anchor="b">
            <a:spAutoFit/>
          </a:bodyPr>
          <a:lstStyle/>
          <a:p>
            <a:r>
              <a:rPr sz="2500" b="1" i="0" dirty="0">
                <a:solidFill>
                  <a:srgbClr val="0B2B4E"/>
                </a:solidFill>
                <a:latin typeface="Calibri"/>
              </a:rPr>
              <a:t>Value of the Firm</a:t>
            </a:r>
          </a:p>
        </p:txBody>
      </p:sp>
      <p:sp>
        <p:nvSpPr>
          <p:cNvPr id="12" name="TextBox 11"/>
          <p:cNvSpPr txBox="1"/>
          <p:nvPr/>
        </p:nvSpPr>
        <p:spPr>
          <a:xfrm>
            <a:off x="1883664" y="2295144"/>
            <a:ext cx="9226296" cy="338554"/>
          </a:xfrm>
          <a:prstGeom prst="rect">
            <a:avLst/>
          </a:prstGeom>
          <a:noFill/>
        </p:spPr>
        <p:txBody>
          <a:bodyPr wrap="square" lIns="0" tIns="0" rIns="0" bIns="0" anchor="t">
            <a:spAutoFit/>
          </a:bodyPr>
          <a:lstStyle/>
          <a:p>
            <a:r>
              <a:rPr sz="2200" b="0" i="0" dirty="0">
                <a:solidFill>
                  <a:srgbClr val="555B66"/>
                </a:solidFill>
                <a:latin typeface="Calibri"/>
              </a:rPr>
              <a:t>What a firm maximizes — and why value is not the same as current profit</a:t>
            </a:r>
          </a:p>
        </p:txBody>
      </p:sp>
      <p:sp>
        <p:nvSpPr>
          <p:cNvPr id="13" name="Oval 12"/>
          <p:cNvSpPr/>
          <p:nvPr/>
        </p:nvSpPr>
        <p:spPr>
          <a:xfrm>
            <a:off x="1024128" y="3346703"/>
            <a:ext cx="566928" cy="566928"/>
          </a:xfrm>
          <a:prstGeom prst="ellipse">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4" name="TextBox 13"/>
          <p:cNvSpPr txBox="1"/>
          <p:nvPr/>
        </p:nvSpPr>
        <p:spPr>
          <a:xfrm>
            <a:off x="1883664" y="3327742"/>
            <a:ext cx="9226296" cy="384721"/>
          </a:xfrm>
          <a:prstGeom prst="rect">
            <a:avLst/>
          </a:prstGeom>
          <a:noFill/>
        </p:spPr>
        <p:txBody>
          <a:bodyPr wrap="square" lIns="0" tIns="0" rIns="0" bIns="0" anchor="b">
            <a:spAutoFit/>
          </a:bodyPr>
          <a:lstStyle/>
          <a:p>
            <a:r>
              <a:rPr sz="2500" b="1" i="0" dirty="0">
                <a:solidFill>
                  <a:srgbClr val="0B2B4E"/>
                </a:solidFill>
                <a:latin typeface="Calibri"/>
              </a:rPr>
              <a:t>Basic Principles of Economic Thinking</a:t>
            </a:r>
          </a:p>
        </p:txBody>
      </p:sp>
      <p:sp>
        <p:nvSpPr>
          <p:cNvPr id="15" name="TextBox 14"/>
          <p:cNvSpPr txBox="1"/>
          <p:nvPr/>
        </p:nvSpPr>
        <p:spPr>
          <a:xfrm>
            <a:off x="1883664" y="3712463"/>
            <a:ext cx="9226296" cy="338554"/>
          </a:xfrm>
          <a:prstGeom prst="rect">
            <a:avLst/>
          </a:prstGeom>
          <a:noFill/>
        </p:spPr>
        <p:txBody>
          <a:bodyPr wrap="square" lIns="0" tIns="0" rIns="0" bIns="0" anchor="t">
            <a:spAutoFit/>
          </a:bodyPr>
          <a:lstStyle/>
          <a:p>
            <a:r>
              <a:rPr lang="en-US" sz="2200" b="0" i="0" dirty="0">
                <a:solidFill>
                  <a:srgbClr val="555B66"/>
                </a:solidFill>
                <a:latin typeface="Calibri"/>
              </a:rPr>
              <a:t>O</a:t>
            </a:r>
            <a:r>
              <a:rPr sz="2200" b="0" i="0" dirty="0">
                <a:solidFill>
                  <a:srgbClr val="555B66"/>
                </a:solidFill>
                <a:latin typeface="Calibri"/>
              </a:rPr>
              <a:t>pportunity costs · </a:t>
            </a:r>
            <a:r>
              <a:rPr lang="en-US" sz="2200" dirty="0">
                <a:solidFill>
                  <a:srgbClr val="555B66"/>
                </a:solidFill>
                <a:latin typeface="Calibri"/>
              </a:rPr>
              <a:t>S</a:t>
            </a:r>
            <a:r>
              <a:rPr sz="2200" b="0" i="0" dirty="0">
                <a:solidFill>
                  <a:srgbClr val="555B66"/>
                </a:solidFill>
                <a:latin typeface="Calibri"/>
              </a:rPr>
              <a:t>unk costs · </a:t>
            </a:r>
            <a:r>
              <a:rPr lang="en-US" sz="2200" b="0" i="0" dirty="0">
                <a:solidFill>
                  <a:srgbClr val="555B66"/>
                </a:solidFill>
                <a:latin typeface="Calibri"/>
              </a:rPr>
              <a:t>C</a:t>
            </a:r>
            <a:r>
              <a:rPr sz="2200" b="0" i="0" dirty="0">
                <a:solidFill>
                  <a:srgbClr val="555B66"/>
                </a:solidFill>
                <a:latin typeface="Calibri"/>
              </a:rPr>
              <a:t>ost-benefit and marginal analysis</a:t>
            </a:r>
          </a:p>
        </p:txBody>
      </p:sp>
      <p:sp>
        <p:nvSpPr>
          <p:cNvPr id="16" name="Oval 15"/>
          <p:cNvSpPr/>
          <p:nvPr/>
        </p:nvSpPr>
        <p:spPr>
          <a:xfrm>
            <a:off x="1024128" y="4764024"/>
            <a:ext cx="566928" cy="566928"/>
          </a:xfrm>
          <a:prstGeom prst="ellipse">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7" name="TextBox 16"/>
          <p:cNvSpPr txBox="1"/>
          <p:nvPr/>
        </p:nvSpPr>
        <p:spPr>
          <a:xfrm>
            <a:off x="1883664" y="4745063"/>
            <a:ext cx="9226296" cy="384721"/>
          </a:xfrm>
          <a:prstGeom prst="rect">
            <a:avLst/>
          </a:prstGeom>
          <a:noFill/>
        </p:spPr>
        <p:txBody>
          <a:bodyPr wrap="square" lIns="0" tIns="0" rIns="0" bIns="0" anchor="b">
            <a:spAutoFit/>
          </a:bodyPr>
          <a:lstStyle/>
          <a:p>
            <a:r>
              <a:rPr lang="en-US" sz="2500" b="1" i="0" dirty="0">
                <a:solidFill>
                  <a:srgbClr val="0B2B4E"/>
                </a:solidFill>
                <a:latin typeface="Calibri"/>
              </a:rPr>
              <a:t>Economics Fundamentals</a:t>
            </a:r>
            <a:endParaRPr sz="2500" b="1" i="0" dirty="0">
              <a:solidFill>
                <a:srgbClr val="0B2B4E"/>
              </a:solidFill>
              <a:latin typeface="Calibri"/>
            </a:endParaRPr>
          </a:p>
        </p:txBody>
      </p:sp>
      <p:sp>
        <p:nvSpPr>
          <p:cNvPr id="18" name="TextBox 17"/>
          <p:cNvSpPr txBox="1"/>
          <p:nvPr/>
        </p:nvSpPr>
        <p:spPr>
          <a:xfrm>
            <a:off x="1883664" y="5129784"/>
            <a:ext cx="9226296" cy="338554"/>
          </a:xfrm>
          <a:prstGeom prst="rect">
            <a:avLst/>
          </a:prstGeom>
          <a:noFill/>
        </p:spPr>
        <p:txBody>
          <a:bodyPr wrap="square" lIns="0" tIns="0" rIns="0" bIns="0" anchor="t">
            <a:spAutoFit/>
          </a:bodyPr>
          <a:lstStyle/>
          <a:p>
            <a:r>
              <a:rPr sz="2200" b="0" i="0" dirty="0">
                <a:solidFill>
                  <a:srgbClr val="555B66"/>
                </a:solidFill>
                <a:latin typeface="Calibri"/>
              </a:rPr>
              <a:t>Markets · Supply and Demand · Equilibrium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Outline</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13</a:t>
            </a:r>
          </a:p>
        </p:txBody>
      </p:sp>
      <p:sp>
        <p:nvSpPr>
          <p:cNvPr id="10" name="Rounded Rectangle 9"/>
          <p:cNvSpPr/>
          <p:nvPr/>
        </p:nvSpPr>
        <p:spPr>
          <a:xfrm>
            <a:off x="822960" y="1764791"/>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24128" y="1929384"/>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2" name="TextBox 11"/>
          <p:cNvSpPr txBox="1"/>
          <p:nvPr/>
        </p:nvSpPr>
        <p:spPr>
          <a:xfrm>
            <a:off x="1883664" y="1910422"/>
            <a:ext cx="9226296" cy="384721"/>
          </a:xfrm>
          <a:prstGeom prst="rect">
            <a:avLst/>
          </a:prstGeom>
          <a:noFill/>
        </p:spPr>
        <p:txBody>
          <a:bodyPr wrap="square" lIns="0" tIns="0" rIns="0" bIns="0" anchor="b">
            <a:spAutoFit/>
          </a:bodyPr>
          <a:lstStyle/>
          <a:p>
            <a:r>
              <a:rPr sz="2500" b="1" i="0" dirty="0">
                <a:solidFill>
                  <a:srgbClr val="0B2B4E"/>
                </a:solidFill>
                <a:latin typeface="Calibri"/>
              </a:rPr>
              <a:t>Value of the Firm</a:t>
            </a:r>
          </a:p>
        </p:txBody>
      </p:sp>
      <p:sp>
        <p:nvSpPr>
          <p:cNvPr id="13" name="TextBox 12"/>
          <p:cNvSpPr txBox="1"/>
          <p:nvPr/>
        </p:nvSpPr>
        <p:spPr>
          <a:xfrm>
            <a:off x="1883664" y="2295144"/>
            <a:ext cx="9226296" cy="338554"/>
          </a:xfrm>
          <a:prstGeom prst="rect">
            <a:avLst/>
          </a:prstGeom>
          <a:noFill/>
        </p:spPr>
        <p:txBody>
          <a:bodyPr wrap="square" lIns="0" tIns="0" rIns="0" bIns="0" anchor="t">
            <a:spAutoFit/>
          </a:bodyPr>
          <a:lstStyle/>
          <a:p>
            <a:r>
              <a:rPr sz="2200" b="0" i="0" dirty="0">
                <a:solidFill>
                  <a:srgbClr val="555B66"/>
                </a:solidFill>
                <a:latin typeface="Calibri"/>
              </a:rPr>
              <a:t>What a firm maximizes — and why value is not the same as current profit</a:t>
            </a:r>
          </a:p>
        </p:txBody>
      </p:sp>
      <p:sp>
        <p:nvSpPr>
          <p:cNvPr id="14" name="Oval 13"/>
          <p:cNvSpPr/>
          <p:nvPr/>
        </p:nvSpPr>
        <p:spPr>
          <a:xfrm>
            <a:off x="1024128" y="3346703"/>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5" name="TextBox 14"/>
          <p:cNvSpPr txBox="1"/>
          <p:nvPr/>
        </p:nvSpPr>
        <p:spPr>
          <a:xfrm>
            <a:off x="1883664" y="3327742"/>
            <a:ext cx="9226296" cy="384721"/>
          </a:xfrm>
          <a:prstGeom prst="rect">
            <a:avLst/>
          </a:prstGeom>
          <a:noFill/>
        </p:spPr>
        <p:txBody>
          <a:bodyPr wrap="square" lIns="0" tIns="0" rIns="0" bIns="0" anchor="b">
            <a:spAutoFit/>
          </a:bodyPr>
          <a:lstStyle/>
          <a:p>
            <a:r>
              <a:rPr sz="2500" b="1" i="0" dirty="0">
                <a:solidFill>
                  <a:srgbClr val="9AA0A8"/>
                </a:solidFill>
                <a:latin typeface="Calibri"/>
              </a:rPr>
              <a:t>Basic Principles of Economic Thinking</a:t>
            </a:r>
          </a:p>
        </p:txBody>
      </p:sp>
      <p:sp>
        <p:nvSpPr>
          <p:cNvPr id="16" name="TextBox 15"/>
          <p:cNvSpPr txBox="1"/>
          <p:nvPr/>
        </p:nvSpPr>
        <p:spPr>
          <a:xfrm>
            <a:off x="1883664" y="3712463"/>
            <a:ext cx="9226296" cy="338554"/>
          </a:xfrm>
          <a:prstGeom prst="rect">
            <a:avLst/>
          </a:prstGeom>
          <a:noFill/>
        </p:spPr>
        <p:txBody>
          <a:bodyPr wrap="square" lIns="0" tIns="0" rIns="0" bIns="0" anchor="t">
            <a:spAutoFit/>
          </a:bodyPr>
          <a:lstStyle/>
          <a:p>
            <a:r>
              <a:rPr lang="en-US" sz="2200" dirty="0">
                <a:solidFill>
                  <a:schemeClr val="bg1">
                    <a:lumMod val="65000"/>
                  </a:schemeClr>
                </a:solidFill>
              </a:rPr>
              <a:t>Opportunity costs · Sunk costs · Cost-benefit and marginal analysis</a:t>
            </a:r>
          </a:p>
        </p:txBody>
      </p:sp>
      <p:sp>
        <p:nvSpPr>
          <p:cNvPr id="17" name="Oval 16"/>
          <p:cNvSpPr/>
          <p:nvPr/>
        </p:nvSpPr>
        <p:spPr>
          <a:xfrm>
            <a:off x="1024128" y="476402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8" name="TextBox 17"/>
          <p:cNvSpPr txBox="1"/>
          <p:nvPr/>
        </p:nvSpPr>
        <p:spPr>
          <a:xfrm>
            <a:off x="1883664" y="4745063"/>
            <a:ext cx="9226296" cy="384721"/>
          </a:xfrm>
          <a:prstGeom prst="rect">
            <a:avLst/>
          </a:prstGeom>
          <a:noFill/>
        </p:spPr>
        <p:txBody>
          <a:bodyPr wrap="square" lIns="0" tIns="0" rIns="0" bIns="0" anchor="b">
            <a:spAutoFit/>
          </a:bodyPr>
          <a:lstStyle/>
          <a:p>
            <a:r>
              <a:rPr sz="2500" b="1" i="0" dirty="0">
                <a:solidFill>
                  <a:srgbClr val="9AA0A8"/>
                </a:solidFill>
                <a:latin typeface="Calibri"/>
              </a:rPr>
              <a:t>Economics Fundamentals</a:t>
            </a:r>
          </a:p>
        </p:txBody>
      </p:sp>
      <p:sp>
        <p:nvSpPr>
          <p:cNvPr id="19" name="TextBox 18"/>
          <p:cNvSpPr txBox="1"/>
          <p:nvPr/>
        </p:nvSpPr>
        <p:spPr>
          <a:xfrm>
            <a:off x="1883664" y="5129784"/>
            <a:ext cx="9226296" cy="338554"/>
          </a:xfrm>
          <a:prstGeom prst="rect">
            <a:avLst/>
          </a:prstGeom>
          <a:noFill/>
        </p:spPr>
        <p:txBody>
          <a:bodyPr wrap="square" lIns="0" tIns="0" rIns="0" bIns="0" anchor="t">
            <a:spAutoFit/>
          </a:bodyPr>
          <a:lstStyle/>
          <a:p>
            <a:r>
              <a:rPr sz="2200" b="0" i="0" dirty="0">
                <a:solidFill>
                  <a:srgbClr val="9AA0A8"/>
                </a:solidFill>
                <a:latin typeface="Calibri"/>
              </a:rPr>
              <a:t>Markets · Supply and Demand · Equilibrium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Value of the Firm</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What </a:t>
            </a:r>
            <a:r>
              <a:rPr lang="en-US" sz="3000" b="1" i="0" dirty="0">
                <a:solidFill>
                  <a:srgbClr val="0B2B4E"/>
                </a:solidFill>
                <a:latin typeface="Calibri"/>
              </a:rPr>
              <a:t>M</a:t>
            </a:r>
            <a:r>
              <a:rPr sz="3000" b="1" i="0" dirty="0">
                <a:solidFill>
                  <a:srgbClr val="0B2B4E"/>
                </a:solidFill>
                <a:latin typeface="Calibri"/>
              </a:rPr>
              <a:t>akes a </a:t>
            </a:r>
            <a:r>
              <a:rPr lang="en-US" sz="3000" b="1" i="0" dirty="0">
                <a:solidFill>
                  <a:srgbClr val="0B2B4E"/>
                </a:solidFill>
                <a:latin typeface="Calibri"/>
              </a:rPr>
              <a:t>F</a:t>
            </a:r>
            <a:r>
              <a:rPr sz="3000" b="1" i="0" dirty="0">
                <a:solidFill>
                  <a:srgbClr val="0B2B4E"/>
                </a:solidFill>
                <a:latin typeface="Calibri"/>
              </a:rPr>
              <a:t>irm </a:t>
            </a:r>
            <a:r>
              <a:rPr lang="en-US" sz="3000" b="1" dirty="0">
                <a:solidFill>
                  <a:srgbClr val="0B2B4E"/>
                </a:solidFill>
                <a:latin typeface="Calibri"/>
              </a:rPr>
              <a:t>S</a:t>
            </a:r>
            <a:r>
              <a:rPr sz="3000" b="1" i="0" dirty="0">
                <a:solidFill>
                  <a:srgbClr val="0B2B4E"/>
                </a:solidFill>
                <a:latin typeface="Calibri"/>
              </a:rPr>
              <a:t>uccessful?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14</a:t>
            </a:r>
          </a:p>
        </p:txBody>
      </p:sp>
      <p:sp>
        <p:nvSpPr>
          <p:cNvPr id="10" name="Rounded Rectangle 9"/>
          <p:cNvSpPr/>
          <p:nvPr/>
        </p:nvSpPr>
        <p:spPr>
          <a:xfrm>
            <a:off x="1280160" y="2103120"/>
            <a:ext cx="9601200" cy="1280160"/>
          </a:xfrm>
          <a:prstGeom prst="roundRect">
            <a:avLst>
              <a:gd name="adj" fmla="val 12000"/>
            </a:avLst>
          </a:prstGeom>
          <a:solidFill>
            <a:srgbClr val="FFFFFF"/>
          </a:solidFill>
          <a:ln w="15875">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200" b="0" i="0">
                <a:solidFill>
                  <a:srgbClr val="0B2B4E"/>
                </a:solidFill>
                <a:latin typeface="Calibri"/>
              </a:rPr>
              <a:t>What makes a firm successful?</a:t>
            </a:r>
          </a:p>
        </p:txBody>
      </p:sp>
      <p:sp>
        <p:nvSpPr>
          <p:cNvPr id="11" name="Rounded Rectangle 10"/>
          <p:cNvSpPr/>
          <p:nvPr/>
        </p:nvSpPr>
        <p:spPr>
          <a:xfrm>
            <a:off x="1280160" y="3657600"/>
            <a:ext cx="9601200" cy="1280160"/>
          </a:xfrm>
          <a:prstGeom prst="roundRect">
            <a:avLst>
              <a:gd name="adj" fmla="val 12000"/>
            </a:avLst>
          </a:prstGeom>
          <a:solidFill>
            <a:srgbClr val="FFFFFF"/>
          </a:solidFill>
          <a:ln w="15875">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200" b="0" i="0">
                <a:solidFill>
                  <a:srgbClr val="0B2B4E"/>
                </a:solidFill>
                <a:latin typeface="Calibri"/>
              </a:rPr>
              <a:t>How do you measure the value of a firm?</a:t>
            </a:r>
          </a:p>
        </p:txBody>
      </p:sp>
      <p:sp>
        <p:nvSpPr>
          <p:cNvPr id="14" name="Parallelogram 13">
            <a:extLst>
              <a:ext uri="{FF2B5EF4-FFF2-40B4-BE49-F238E27FC236}">
                <a16:creationId xmlns:a16="http://schemas.microsoft.com/office/drawing/2014/main" id="{F4099DA2-AFA3-2EF4-DCC9-8B93845EFDC3}"/>
              </a:ext>
            </a:extLst>
          </p:cNvPr>
          <p:cNvSpPr/>
          <p:nvPr/>
        </p:nvSpPr>
        <p:spPr>
          <a:xfrm>
            <a:off x="9133726" y="5712454"/>
            <a:ext cx="2753474" cy="729442"/>
          </a:xfrm>
          <a:prstGeom prst="parallelogram">
            <a:avLst>
              <a:gd name="adj" fmla="val 18000"/>
            </a:avLst>
          </a:prstGeom>
          <a:solidFill>
            <a:srgbClr val="E09F3E"/>
          </a:solidFill>
          <a:ln>
            <a:noFill/>
          </a:ln>
          <a:effectLst>
            <a:outerShdw blurRad="36576" dist="27432"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2000" b="1" i="0" dirty="0">
                <a:solidFill>
                  <a:srgbClr val="0B2B4E"/>
                </a:solidFill>
                <a:latin typeface="Calibri"/>
              </a:rPr>
              <a:t>Class discussion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Value of the Firm</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Firm's Objective: Maximizing Long Term Profits = Value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15</a:t>
            </a:r>
          </a:p>
        </p:txBody>
      </p:sp>
      <p:sp>
        <p:nvSpPr>
          <p:cNvPr id="10" name="TextBox 9"/>
          <p:cNvSpPr txBox="1"/>
          <p:nvPr/>
        </p:nvSpPr>
        <p:spPr>
          <a:xfrm>
            <a:off x="800869" y="2211062"/>
            <a:ext cx="2011680" cy="369332"/>
          </a:xfrm>
          <a:prstGeom prst="rect">
            <a:avLst/>
          </a:prstGeom>
          <a:noFill/>
        </p:spPr>
        <p:txBody>
          <a:bodyPr wrap="square" lIns="0" tIns="0" rIns="0" bIns="0" anchor="ctr">
            <a:spAutoFit/>
          </a:bodyPr>
          <a:lstStyle/>
          <a:p>
            <a:r>
              <a:rPr sz="2400" b="0" i="0">
                <a:solidFill>
                  <a:srgbClr val="0B2B4E"/>
                </a:solidFill>
                <a:latin typeface="Cambria Math"/>
              </a:rPr>
              <a:t>V = R₀ − C₀ +</a:t>
            </a:r>
          </a:p>
        </p:txBody>
      </p:sp>
      <p:sp>
        <p:nvSpPr>
          <p:cNvPr id="11" name="TextBox 10"/>
          <p:cNvSpPr txBox="1"/>
          <p:nvPr/>
        </p:nvSpPr>
        <p:spPr>
          <a:xfrm>
            <a:off x="2768887" y="2041476"/>
            <a:ext cx="1554480" cy="365760"/>
          </a:xfrm>
          <a:prstGeom prst="rect">
            <a:avLst/>
          </a:prstGeom>
          <a:noFill/>
        </p:spPr>
        <p:txBody>
          <a:bodyPr wrap="square" lIns="0" tIns="0" rIns="0" bIns="0" anchor="b">
            <a:spAutoFit/>
          </a:bodyPr>
          <a:lstStyle/>
          <a:p>
            <a:pPr algn="ctr"/>
            <a:r>
              <a:rPr sz="2200" b="0" i="0" dirty="0">
                <a:solidFill>
                  <a:srgbClr val="0B2B4E"/>
                </a:solidFill>
                <a:latin typeface="Cambria Math"/>
              </a:rPr>
              <a:t>R₁ − C₁</a:t>
            </a:r>
          </a:p>
        </p:txBody>
      </p:sp>
      <p:cxnSp>
        <p:nvCxnSpPr>
          <p:cNvPr id="12" name="Connector 11"/>
          <p:cNvCxnSpPr/>
          <p:nvPr/>
        </p:nvCxnSpPr>
        <p:spPr>
          <a:xfrm>
            <a:off x="2842039" y="2443812"/>
            <a:ext cx="1408176" cy="0"/>
          </a:xfrm>
          <a:prstGeom prst="line">
            <a:avLst/>
          </a:prstGeom>
          <a:ln w="19050">
            <a:solidFill>
              <a:srgbClr val="0B2B4E"/>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68887" y="2462100"/>
            <a:ext cx="1554480" cy="365760"/>
          </a:xfrm>
          <a:prstGeom prst="rect">
            <a:avLst/>
          </a:prstGeom>
          <a:noFill/>
        </p:spPr>
        <p:txBody>
          <a:bodyPr wrap="square" lIns="0" tIns="0" rIns="0" bIns="0" anchor="t">
            <a:spAutoFit/>
          </a:bodyPr>
          <a:lstStyle/>
          <a:p>
            <a:pPr algn="ctr"/>
            <a:r>
              <a:rPr sz="2000" b="0" i="0" dirty="0">
                <a:solidFill>
                  <a:srgbClr val="0B2B4E"/>
                </a:solidFill>
                <a:latin typeface="Cambria Math"/>
              </a:rPr>
              <a:t>1 + r</a:t>
            </a:r>
          </a:p>
        </p:txBody>
      </p:sp>
      <p:sp>
        <p:nvSpPr>
          <p:cNvPr id="14" name="TextBox 13"/>
          <p:cNvSpPr txBox="1"/>
          <p:nvPr/>
        </p:nvSpPr>
        <p:spPr>
          <a:xfrm>
            <a:off x="4369088" y="2152230"/>
            <a:ext cx="365760" cy="548640"/>
          </a:xfrm>
          <a:prstGeom prst="rect">
            <a:avLst/>
          </a:prstGeom>
          <a:noFill/>
        </p:spPr>
        <p:txBody>
          <a:bodyPr wrap="square" lIns="0" tIns="0" rIns="0" bIns="0" anchor="ctr">
            <a:spAutoFit/>
          </a:bodyPr>
          <a:lstStyle/>
          <a:p>
            <a:r>
              <a:rPr sz="2400" b="0" i="0" dirty="0">
                <a:solidFill>
                  <a:srgbClr val="0B2B4E"/>
                </a:solidFill>
                <a:latin typeface="Cambria Math"/>
              </a:rPr>
              <a:t>+</a:t>
            </a:r>
          </a:p>
        </p:txBody>
      </p:sp>
      <p:sp>
        <p:nvSpPr>
          <p:cNvPr id="15" name="TextBox 14"/>
          <p:cNvSpPr txBox="1"/>
          <p:nvPr/>
        </p:nvSpPr>
        <p:spPr>
          <a:xfrm>
            <a:off x="4666268" y="2041476"/>
            <a:ext cx="1691640" cy="365760"/>
          </a:xfrm>
          <a:prstGeom prst="rect">
            <a:avLst/>
          </a:prstGeom>
          <a:noFill/>
        </p:spPr>
        <p:txBody>
          <a:bodyPr wrap="square" lIns="0" tIns="0" rIns="0" bIns="0" anchor="b">
            <a:spAutoFit/>
          </a:bodyPr>
          <a:lstStyle/>
          <a:p>
            <a:pPr algn="ctr"/>
            <a:r>
              <a:rPr sz="2200" b="0" i="0">
                <a:solidFill>
                  <a:srgbClr val="0B2B4E"/>
                </a:solidFill>
                <a:latin typeface="Cambria Math"/>
              </a:rPr>
              <a:t>R₂ − C₂</a:t>
            </a:r>
          </a:p>
        </p:txBody>
      </p:sp>
      <p:cxnSp>
        <p:nvCxnSpPr>
          <p:cNvPr id="16" name="Connector 15"/>
          <p:cNvCxnSpPr/>
          <p:nvPr/>
        </p:nvCxnSpPr>
        <p:spPr>
          <a:xfrm>
            <a:off x="4739420" y="2443812"/>
            <a:ext cx="1545336" cy="0"/>
          </a:xfrm>
          <a:prstGeom prst="line">
            <a:avLst/>
          </a:prstGeom>
          <a:ln w="19050">
            <a:solidFill>
              <a:srgbClr val="0B2B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66268" y="2462100"/>
            <a:ext cx="1691640" cy="365760"/>
          </a:xfrm>
          <a:prstGeom prst="rect">
            <a:avLst/>
          </a:prstGeom>
          <a:noFill/>
        </p:spPr>
        <p:txBody>
          <a:bodyPr wrap="square" lIns="0" tIns="0" rIns="0" bIns="0" anchor="t">
            <a:spAutoFit/>
          </a:bodyPr>
          <a:lstStyle/>
          <a:p>
            <a:pPr algn="ctr"/>
            <a:r>
              <a:rPr sz="2000" b="0" i="0">
                <a:solidFill>
                  <a:srgbClr val="0B2B4E"/>
                </a:solidFill>
                <a:latin typeface="Cambria Math"/>
              </a:rPr>
              <a:t>(1 + r)²</a:t>
            </a:r>
          </a:p>
        </p:txBody>
      </p:sp>
      <p:sp>
        <p:nvSpPr>
          <p:cNvPr id="18" name="TextBox 17"/>
          <p:cNvSpPr txBox="1"/>
          <p:nvPr/>
        </p:nvSpPr>
        <p:spPr>
          <a:xfrm>
            <a:off x="6426488" y="2152230"/>
            <a:ext cx="365760" cy="548640"/>
          </a:xfrm>
          <a:prstGeom prst="rect">
            <a:avLst/>
          </a:prstGeom>
          <a:noFill/>
        </p:spPr>
        <p:txBody>
          <a:bodyPr wrap="square" lIns="0" tIns="0" rIns="0" bIns="0" anchor="ctr">
            <a:spAutoFit/>
          </a:bodyPr>
          <a:lstStyle/>
          <a:p>
            <a:r>
              <a:rPr sz="2400" b="0" i="0" dirty="0">
                <a:solidFill>
                  <a:srgbClr val="0B2B4E"/>
                </a:solidFill>
                <a:latin typeface="Cambria Math"/>
              </a:rPr>
              <a:t>+</a:t>
            </a:r>
          </a:p>
        </p:txBody>
      </p:sp>
      <p:sp>
        <p:nvSpPr>
          <p:cNvPr id="19" name="TextBox 18"/>
          <p:cNvSpPr txBox="1"/>
          <p:nvPr/>
        </p:nvSpPr>
        <p:spPr>
          <a:xfrm>
            <a:off x="6769388" y="2041476"/>
            <a:ext cx="1691640" cy="365760"/>
          </a:xfrm>
          <a:prstGeom prst="rect">
            <a:avLst/>
          </a:prstGeom>
          <a:noFill/>
        </p:spPr>
        <p:txBody>
          <a:bodyPr wrap="square" lIns="0" tIns="0" rIns="0" bIns="0" anchor="b">
            <a:spAutoFit/>
          </a:bodyPr>
          <a:lstStyle/>
          <a:p>
            <a:pPr algn="ctr"/>
            <a:r>
              <a:rPr sz="2200" b="0" i="0">
                <a:solidFill>
                  <a:srgbClr val="0B2B4E"/>
                </a:solidFill>
                <a:latin typeface="Cambria Math"/>
              </a:rPr>
              <a:t>R₃ − C₃</a:t>
            </a:r>
          </a:p>
        </p:txBody>
      </p:sp>
      <p:cxnSp>
        <p:nvCxnSpPr>
          <p:cNvPr id="20" name="Connector 19"/>
          <p:cNvCxnSpPr/>
          <p:nvPr/>
        </p:nvCxnSpPr>
        <p:spPr>
          <a:xfrm>
            <a:off x="6842540" y="2443812"/>
            <a:ext cx="1545336" cy="0"/>
          </a:xfrm>
          <a:prstGeom prst="line">
            <a:avLst/>
          </a:prstGeom>
          <a:ln w="19050">
            <a:solidFill>
              <a:srgbClr val="0B2B4E"/>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69388" y="2462100"/>
            <a:ext cx="1691640" cy="365760"/>
          </a:xfrm>
          <a:prstGeom prst="rect">
            <a:avLst/>
          </a:prstGeom>
          <a:noFill/>
        </p:spPr>
        <p:txBody>
          <a:bodyPr wrap="square" lIns="0" tIns="0" rIns="0" bIns="0" anchor="t">
            <a:spAutoFit/>
          </a:bodyPr>
          <a:lstStyle/>
          <a:p>
            <a:pPr algn="ctr"/>
            <a:r>
              <a:rPr sz="2000" b="0" i="0">
                <a:solidFill>
                  <a:srgbClr val="0B2B4E"/>
                </a:solidFill>
                <a:latin typeface="Cambria Math"/>
              </a:rPr>
              <a:t>(1 + r)³</a:t>
            </a:r>
          </a:p>
        </p:txBody>
      </p:sp>
      <p:sp>
        <p:nvSpPr>
          <p:cNvPr id="22" name="TextBox 21"/>
          <p:cNvSpPr txBox="1"/>
          <p:nvPr/>
        </p:nvSpPr>
        <p:spPr>
          <a:xfrm>
            <a:off x="8575328" y="2152230"/>
            <a:ext cx="914400" cy="548640"/>
          </a:xfrm>
          <a:prstGeom prst="rect">
            <a:avLst/>
          </a:prstGeom>
          <a:noFill/>
        </p:spPr>
        <p:txBody>
          <a:bodyPr wrap="square" lIns="0" tIns="0" rIns="0" bIns="0" anchor="ctr">
            <a:spAutoFit/>
          </a:bodyPr>
          <a:lstStyle/>
          <a:p>
            <a:r>
              <a:rPr sz="2400" b="0" i="0" dirty="0">
                <a:solidFill>
                  <a:srgbClr val="0B2B4E"/>
                </a:solidFill>
                <a:latin typeface="Cambria Math"/>
              </a:rPr>
              <a:t>+ ⋯ +</a:t>
            </a:r>
          </a:p>
        </p:txBody>
      </p:sp>
      <p:sp>
        <p:nvSpPr>
          <p:cNvPr id="23" name="TextBox 22"/>
          <p:cNvSpPr txBox="1"/>
          <p:nvPr/>
        </p:nvSpPr>
        <p:spPr>
          <a:xfrm>
            <a:off x="9604028" y="2041476"/>
            <a:ext cx="1691640" cy="365760"/>
          </a:xfrm>
          <a:prstGeom prst="rect">
            <a:avLst/>
          </a:prstGeom>
          <a:noFill/>
        </p:spPr>
        <p:txBody>
          <a:bodyPr wrap="square" lIns="0" tIns="0" rIns="0" bIns="0" anchor="b">
            <a:spAutoFit/>
          </a:bodyPr>
          <a:lstStyle/>
          <a:p>
            <a:pPr algn="ctr"/>
            <a:r>
              <a:rPr sz="2200" b="0" i="0">
                <a:solidFill>
                  <a:srgbClr val="0B2B4E"/>
                </a:solidFill>
                <a:latin typeface="Cambria Math"/>
              </a:rPr>
              <a:t>Rₜ − Cₜ</a:t>
            </a:r>
          </a:p>
        </p:txBody>
      </p:sp>
      <p:cxnSp>
        <p:nvCxnSpPr>
          <p:cNvPr id="24" name="Connector 23"/>
          <p:cNvCxnSpPr/>
          <p:nvPr/>
        </p:nvCxnSpPr>
        <p:spPr>
          <a:xfrm>
            <a:off x="9677180" y="2443812"/>
            <a:ext cx="1545336" cy="0"/>
          </a:xfrm>
          <a:prstGeom prst="line">
            <a:avLst/>
          </a:prstGeom>
          <a:ln w="19050">
            <a:solidFill>
              <a:srgbClr val="0B2B4E"/>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604028" y="2462100"/>
            <a:ext cx="1691640" cy="365760"/>
          </a:xfrm>
          <a:prstGeom prst="rect">
            <a:avLst/>
          </a:prstGeom>
          <a:noFill/>
        </p:spPr>
        <p:txBody>
          <a:bodyPr wrap="square" lIns="0" tIns="0" rIns="0" bIns="0" anchor="t">
            <a:spAutoFit/>
          </a:bodyPr>
          <a:lstStyle/>
          <a:p>
            <a:pPr algn="ctr"/>
            <a:r>
              <a:rPr sz="2000" b="0" i="0">
                <a:solidFill>
                  <a:srgbClr val="0B2B4E"/>
                </a:solidFill>
                <a:latin typeface="Cambria Math"/>
              </a:rPr>
              <a:t>(1 + r)ᵗ</a:t>
            </a:r>
          </a:p>
        </p:txBody>
      </p:sp>
      <p:sp>
        <p:nvSpPr>
          <p:cNvPr id="26" name="TextBox 25"/>
          <p:cNvSpPr txBox="1"/>
          <p:nvPr/>
        </p:nvSpPr>
        <p:spPr>
          <a:xfrm>
            <a:off x="502920" y="3200400"/>
            <a:ext cx="5486400" cy="320040"/>
          </a:xfrm>
          <a:prstGeom prst="rect">
            <a:avLst/>
          </a:prstGeom>
          <a:noFill/>
        </p:spPr>
        <p:txBody>
          <a:bodyPr wrap="square" lIns="0" tIns="0" rIns="0" bIns="0" anchor="t">
            <a:spAutoFit/>
          </a:bodyPr>
          <a:lstStyle/>
          <a:p>
            <a:r>
              <a:rPr sz="1300" b="0" i="1">
                <a:solidFill>
                  <a:srgbClr val="555B66"/>
                </a:solidFill>
                <a:latin typeface="Calibri"/>
              </a:rPr>
              <a:t>R = Revenue;  C = Cost;  r = discount rate</a:t>
            </a:r>
          </a:p>
        </p:txBody>
      </p:sp>
      <p:sp>
        <p:nvSpPr>
          <p:cNvPr id="27" name="Rounded Rectangle 26"/>
          <p:cNvSpPr/>
          <p:nvPr/>
        </p:nvSpPr>
        <p:spPr>
          <a:xfrm>
            <a:off x="246579" y="3866678"/>
            <a:ext cx="11712539" cy="1025362"/>
          </a:xfrm>
          <a:prstGeom prst="roundRect">
            <a:avLst>
              <a:gd name="adj" fmla="val 6000"/>
            </a:avLst>
          </a:prstGeom>
          <a:solidFill>
            <a:srgbClr val="FDF6E6"/>
          </a:solidFill>
          <a:ln w="12700">
            <a:solidFill>
              <a:srgbClr val="C0201B"/>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r>
              <a:rPr lang="en-US" sz="2000" b="0" i="0" dirty="0">
                <a:solidFill>
                  <a:srgbClr val="0B2B4E"/>
                </a:solidFill>
                <a:latin typeface="Calibri"/>
              </a:rPr>
              <a:t>   </a:t>
            </a:r>
            <a:r>
              <a:rPr sz="2000" b="0" i="0" dirty="0">
                <a:solidFill>
                  <a:srgbClr val="0B2B4E"/>
                </a:solidFill>
                <a:latin typeface="Calibri"/>
              </a:rPr>
              <a:t>The criterion for judging decisions is the impact on a firm's </a:t>
            </a:r>
            <a:r>
              <a:rPr sz="2000" b="1" i="1" dirty="0">
                <a:solidFill>
                  <a:srgbClr val="C0201B"/>
                </a:solidFill>
                <a:latin typeface="Calibri"/>
              </a:rPr>
              <a:t>value</a:t>
            </a:r>
            <a:r>
              <a:rPr sz="2000" b="0" i="0" dirty="0">
                <a:solidFill>
                  <a:srgbClr val="0B2B4E"/>
                </a:solidFill>
                <a:latin typeface="Calibri"/>
              </a:rPr>
              <a:t>, not the impact on its </a:t>
            </a:r>
            <a:r>
              <a:rPr sz="2000" b="0" i="1" dirty="0">
                <a:solidFill>
                  <a:srgbClr val="0B2B4E"/>
                </a:solidFill>
                <a:latin typeface="Calibri"/>
              </a:rPr>
              <a:t>current</a:t>
            </a:r>
            <a:r>
              <a:rPr sz="2000" b="0" i="0" dirty="0">
                <a:solidFill>
                  <a:srgbClr val="0B2B4E"/>
                </a:solidFill>
                <a:latin typeface="Calibri"/>
              </a:rPr>
              <a:t> profitability</a:t>
            </a:r>
          </a:p>
        </p:txBody>
      </p:sp>
      <p:sp>
        <p:nvSpPr>
          <p:cNvPr id="28" name="Rounded Rectangle 27"/>
          <p:cNvSpPr/>
          <p:nvPr/>
        </p:nvSpPr>
        <p:spPr>
          <a:xfrm>
            <a:off x="1956201" y="5166360"/>
            <a:ext cx="8317958" cy="50292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i="1" dirty="0">
                <a:solidFill>
                  <a:srgbClr val="0B2B4E"/>
                </a:solidFill>
                <a:latin typeface="Calibri"/>
              </a:rPr>
              <a:t>Value (V) is the present discounted value of future profits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Discussion</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Discussion: WSJ Barro's </a:t>
            </a:r>
            <a:r>
              <a:rPr lang="en-US" sz="3000" b="1" dirty="0">
                <a:solidFill>
                  <a:srgbClr val="0B2B4E"/>
                </a:solidFill>
                <a:latin typeface="Calibri"/>
              </a:rPr>
              <a:t>A</a:t>
            </a:r>
            <a:r>
              <a:rPr sz="3000" b="1" i="0" dirty="0">
                <a:solidFill>
                  <a:srgbClr val="0B2B4E"/>
                </a:solidFill>
                <a:latin typeface="Calibri"/>
              </a:rPr>
              <a:t>rticle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16</a:t>
            </a:r>
          </a:p>
        </p:txBody>
      </p:sp>
      <p:pic>
        <p:nvPicPr>
          <p:cNvPr id="10" name="Picture 9" descr="s16_img1.png"/>
          <p:cNvPicPr>
            <a:picLocks noChangeAspect="1"/>
          </p:cNvPicPr>
          <p:nvPr/>
        </p:nvPicPr>
        <p:blipFill>
          <a:blip r:embed="rId3"/>
          <a:stretch>
            <a:fillRect/>
          </a:stretch>
        </p:blipFill>
        <p:spPr>
          <a:xfrm>
            <a:off x="3355848" y="1645920"/>
            <a:ext cx="5486400" cy="1371600"/>
          </a:xfrm>
          <a:prstGeom prst="roundRect">
            <a:avLst>
              <a:gd name="adj" fmla="val 6000"/>
            </a:avLst>
          </a:prstGeom>
          <a:effectLst>
            <a:outerShdw blurRad="54864" dist="41148" dir="5400000" rotWithShape="0">
              <a:srgbClr val="000000">
                <a:alpha val="62000"/>
              </a:srgbClr>
            </a:outerShdw>
          </a:effectLst>
        </p:spPr>
      </p:pic>
      <p:sp>
        <p:nvSpPr>
          <p:cNvPr id="11" name="Rounded Rectangle 10"/>
          <p:cNvSpPr/>
          <p:nvPr/>
        </p:nvSpPr>
        <p:spPr>
          <a:xfrm>
            <a:off x="1280160" y="3246120"/>
            <a:ext cx="9601200" cy="1051560"/>
          </a:xfrm>
          <a:prstGeom prst="roundRect">
            <a:avLst>
              <a:gd name="adj" fmla="val 12000"/>
            </a:avLst>
          </a:prstGeom>
          <a:solidFill>
            <a:srgbClr val="FFFFFF"/>
          </a:solidFill>
          <a:ln w="15875">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200" b="0" i="0">
                <a:solidFill>
                  <a:srgbClr val="0B2B4E"/>
                </a:solidFill>
                <a:latin typeface="Calibri"/>
              </a:rPr>
              <a:t>Maximizing long term profits: is this the right/ethical goal?</a:t>
            </a:r>
          </a:p>
        </p:txBody>
      </p:sp>
      <p:sp>
        <p:nvSpPr>
          <p:cNvPr id="12" name="Rounded Rectangle 11"/>
          <p:cNvSpPr/>
          <p:nvPr/>
        </p:nvSpPr>
        <p:spPr>
          <a:xfrm>
            <a:off x="1280160" y="4480560"/>
            <a:ext cx="9601200" cy="1188720"/>
          </a:xfrm>
          <a:prstGeom prst="roundRect">
            <a:avLst>
              <a:gd name="adj" fmla="val 12000"/>
            </a:avLst>
          </a:prstGeom>
          <a:solidFill>
            <a:srgbClr val="FFFFFF"/>
          </a:solidFill>
          <a:ln w="15875">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100" b="0" i="0">
                <a:solidFill>
                  <a:srgbClr val="0B2B4E"/>
                </a:solidFill>
                <a:latin typeface="Calibri"/>
              </a:rPr>
              <a:t>Would Bill Gates create more social value by running Microsoft or by giving away his money through the Gates Foundation?</a:t>
            </a:r>
          </a:p>
        </p:txBody>
      </p:sp>
      <p:sp>
        <p:nvSpPr>
          <p:cNvPr id="14" name="Parallelogram 13">
            <a:extLst>
              <a:ext uri="{FF2B5EF4-FFF2-40B4-BE49-F238E27FC236}">
                <a16:creationId xmlns:a16="http://schemas.microsoft.com/office/drawing/2014/main" id="{C5A0A5FE-1245-DA31-E31B-704A1EA8AE5D}"/>
              </a:ext>
            </a:extLst>
          </p:cNvPr>
          <p:cNvSpPr/>
          <p:nvPr/>
        </p:nvSpPr>
        <p:spPr>
          <a:xfrm>
            <a:off x="9133726" y="5733002"/>
            <a:ext cx="2753474" cy="729442"/>
          </a:xfrm>
          <a:prstGeom prst="parallelogram">
            <a:avLst>
              <a:gd name="adj" fmla="val 18000"/>
            </a:avLst>
          </a:prstGeom>
          <a:solidFill>
            <a:srgbClr val="E09F3E"/>
          </a:solidFill>
          <a:ln>
            <a:noFill/>
          </a:ln>
          <a:effectLst>
            <a:outerShdw blurRad="36576" dist="27432"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2000" b="1" i="0" dirty="0">
                <a:solidFill>
                  <a:srgbClr val="0B2B4E"/>
                </a:solidFill>
                <a:latin typeface="Calibri"/>
              </a:rPr>
              <a:t>Class discussion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Discussion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Discussion: NYT Roundtable / WSJ New Approach</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17</a:t>
            </a:r>
          </a:p>
        </p:txBody>
      </p:sp>
      <p:pic>
        <p:nvPicPr>
          <p:cNvPr id="10" name="Picture 9" descr="s17_img1.png"/>
          <p:cNvPicPr>
            <a:picLocks noChangeAspect="1"/>
          </p:cNvPicPr>
          <p:nvPr/>
        </p:nvPicPr>
        <p:blipFill>
          <a:blip r:embed="rId3"/>
          <a:stretch>
            <a:fillRect/>
          </a:stretch>
        </p:blipFill>
        <p:spPr>
          <a:xfrm>
            <a:off x="640080" y="1866541"/>
            <a:ext cx="5394960" cy="1890477"/>
          </a:xfrm>
          <a:prstGeom prst="roundRect">
            <a:avLst>
              <a:gd name="adj" fmla="val 4000"/>
            </a:avLst>
          </a:prstGeom>
          <a:effectLst>
            <a:outerShdw blurRad="54864" dist="41148" dir="5400000" rotWithShape="0">
              <a:srgbClr val="000000">
                <a:alpha val="62000"/>
              </a:srgbClr>
            </a:outerShdw>
          </a:effectLst>
        </p:spPr>
      </p:pic>
      <p:pic>
        <p:nvPicPr>
          <p:cNvPr id="11" name="Picture 10" descr="s17_img2.png"/>
          <p:cNvPicPr>
            <a:picLocks noChangeAspect="1"/>
          </p:cNvPicPr>
          <p:nvPr/>
        </p:nvPicPr>
        <p:blipFill>
          <a:blip r:embed="rId4"/>
          <a:stretch>
            <a:fillRect/>
          </a:stretch>
        </p:blipFill>
        <p:spPr>
          <a:xfrm>
            <a:off x="6172200" y="2375422"/>
            <a:ext cx="5394960" cy="872714"/>
          </a:xfrm>
          <a:prstGeom prst="roundRect">
            <a:avLst>
              <a:gd name="adj" fmla="val 4000"/>
            </a:avLst>
          </a:prstGeom>
          <a:effectLst>
            <a:outerShdw blurRad="54864" dist="41148" dir="5400000" rotWithShape="0">
              <a:srgbClr val="000000">
                <a:alpha val="62000"/>
              </a:srgbClr>
            </a:outerShdw>
          </a:effectLst>
        </p:spPr>
      </p:pic>
      <p:pic>
        <p:nvPicPr>
          <p:cNvPr id="12" name="Picture 11" descr="s17_img3.png"/>
          <p:cNvPicPr>
            <a:picLocks noChangeAspect="1"/>
          </p:cNvPicPr>
          <p:nvPr/>
        </p:nvPicPr>
        <p:blipFill>
          <a:blip r:embed="rId5"/>
          <a:stretch>
            <a:fillRect/>
          </a:stretch>
        </p:blipFill>
        <p:spPr>
          <a:xfrm>
            <a:off x="640080" y="4509238"/>
            <a:ext cx="5394960" cy="1177082"/>
          </a:xfrm>
          <a:prstGeom prst="roundRect">
            <a:avLst>
              <a:gd name="adj" fmla="val 4000"/>
            </a:avLst>
          </a:prstGeom>
          <a:effectLst>
            <a:outerShdw blurRad="54864" dist="41148" dir="5400000" rotWithShape="0">
              <a:srgbClr val="000000">
                <a:alpha val="62000"/>
              </a:srgbClr>
            </a:outerShdw>
          </a:effectLst>
        </p:spPr>
      </p:pic>
      <p:pic>
        <p:nvPicPr>
          <p:cNvPr id="13" name="Picture 12" descr="s17_img4.png"/>
          <p:cNvPicPr>
            <a:picLocks noChangeAspect="1"/>
          </p:cNvPicPr>
          <p:nvPr/>
        </p:nvPicPr>
        <p:blipFill>
          <a:blip r:embed="rId6"/>
          <a:stretch>
            <a:fillRect/>
          </a:stretch>
        </p:blipFill>
        <p:spPr>
          <a:xfrm>
            <a:off x="6172200" y="4613025"/>
            <a:ext cx="5394960" cy="969509"/>
          </a:xfrm>
          <a:prstGeom prst="roundRect">
            <a:avLst>
              <a:gd name="adj" fmla="val 4000"/>
            </a:avLst>
          </a:prstGeom>
          <a:effectLst>
            <a:outerShdw blurRad="54864" dist="41148" dir="5400000" rotWithShape="0">
              <a:srgbClr val="000000">
                <a:alpha val="62000"/>
              </a:srgbClr>
            </a:outerShdw>
          </a:effectLst>
        </p:spPr>
      </p:pic>
      <p:sp>
        <p:nvSpPr>
          <p:cNvPr id="15" name="Parallelogram 14">
            <a:extLst>
              <a:ext uri="{FF2B5EF4-FFF2-40B4-BE49-F238E27FC236}">
                <a16:creationId xmlns:a16="http://schemas.microsoft.com/office/drawing/2014/main" id="{D623C4C1-EC37-7297-93C1-352FDA6CA3C3}"/>
              </a:ext>
            </a:extLst>
          </p:cNvPr>
          <p:cNvSpPr/>
          <p:nvPr/>
        </p:nvSpPr>
        <p:spPr>
          <a:xfrm>
            <a:off x="9133726" y="5733002"/>
            <a:ext cx="2753474" cy="729442"/>
          </a:xfrm>
          <a:prstGeom prst="parallelogram">
            <a:avLst>
              <a:gd name="adj" fmla="val 18000"/>
            </a:avLst>
          </a:prstGeom>
          <a:solidFill>
            <a:srgbClr val="E09F3E"/>
          </a:solidFill>
          <a:ln>
            <a:noFill/>
          </a:ln>
          <a:effectLst>
            <a:outerShdw blurRad="36576" dist="27432"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2000" b="1" i="0" dirty="0">
                <a:solidFill>
                  <a:srgbClr val="0B2B4E"/>
                </a:solidFill>
                <a:latin typeface="Calibri"/>
              </a:rPr>
              <a:t>Class 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Outline</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18</a:t>
            </a:r>
          </a:p>
        </p:txBody>
      </p:sp>
      <p:sp>
        <p:nvSpPr>
          <p:cNvPr id="10" name="Oval 9"/>
          <p:cNvSpPr/>
          <p:nvPr/>
        </p:nvSpPr>
        <p:spPr>
          <a:xfrm>
            <a:off x="1024128" y="192938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p:cNvSpPr txBox="1"/>
          <p:nvPr/>
        </p:nvSpPr>
        <p:spPr>
          <a:xfrm>
            <a:off x="1883664" y="1910422"/>
            <a:ext cx="9226296" cy="384721"/>
          </a:xfrm>
          <a:prstGeom prst="rect">
            <a:avLst/>
          </a:prstGeom>
          <a:noFill/>
        </p:spPr>
        <p:txBody>
          <a:bodyPr wrap="square" lIns="0" tIns="0" rIns="0" bIns="0" anchor="b">
            <a:spAutoFit/>
          </a:bodyPr>
          <a:lstStyle/>
          <a:p>
            <a:r>
              <a:rPr sz="2500" b="1" i="0" dirty="0">
                <a:solidFill>
                  <a:srgbClr val="9AA0A8"/>
                </a:solidFill>
                <a:latin typeface="Calibri"/>
              </a:rPr>
              <a:t>Value of the Firm</a:t>
            </a:r>
          </a:p>
        </p:txBody>
      </p:sp>
      <p:sp>
        <p:nvSpPr>
          <p:cNvPr id="12" name="TextBox 11"/>
          <p:cNvSpPr txBox="1"/>
          <p:nvPr/>
        </p:nvSpPr>
        <p:spPr>
          <a:xfrm>
            <a:off x="1883664" y="2295144"/>
            <a:ext cx="9226296" cy="338554"/>
          </a:xfrm>
          <a:prstGeom prst="rect">
            <a:avLst/>
          </a:prstGeom>
          <a:noFill/>
        </p:spPr>
        <p:txBody>
          <a:bodyPr wrap="square" lIns="0" tIns="0" rIns="0" bIns="0" anchor="t">
            <a:spAutoFit/>
          </a:bodyPr>
          <a:lstStyle/>
          <a:p>
            <a:r>
              <a:rPr sz="2200" b="0" i="0" dirty="0">
                <a:solidFill>
                  <a:srgbClr val="9AA0A8"/>
                </a:solidFill>
                <a:latin typeface="Calibri"/>
              </a:rPr>
              <a:t>What a firm maximizes — and why value is not the same as current profit</a:t>
            </a:r>
          </a:p>
        </p:txBody>
      </p:sp>
      <p:sp>
        <p:nvSpPr>
          <p:cNvPr id="13" name="Rounded Rectangle 12"/>
          <p:cNvSpPr/>
          <p:nvPr/>
        </p:nvSpPr>
        <p:spPr>
          <a:xfrm>
            <a:off x="822960" y="3182111"/>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24128" y="3346703"/>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5" name="TextBox 14"/>
          <p:cNvSpPr txBox="1"/>
          <p:nvPr/>
        </p:nvSpPr>
        <p:spPr>
          <a:xfrm>
            <a:off x="1883664" y="3327742"/>
            <a:ext cx="9226296" cy="384721"/>
          </a:xfrm>
          <a:prstGeom prst="rect">
            <a:avLst/>
          </a:prstGeom>
          <a:noFill/>
        </p:spPr>
        <p:txBody>
          <a:bodyPr wrap="square" lIns="0" tIns="0" rIns="0" bIns="0" anchor="b">
            <a:spAutoFit/>
          </a:bodyPr>
          <a:lstStyle/>
          <a:p>
            <a:r>
              <a:rPr sz="2500" b="1" i="0" dirty="0">
                <a:solidFill>
                  <a:srgbClr val="0B2B4E"/>
                </a:solidFill>
                <a:latin typeface="Calibri"/>
              </a:rPr>
              <a:t>Basic Principles of Economic Thinking</a:t>
            </a:r>
          </a:p>
        </p:txBody>
      </p:sp>
      <p:sp>
        <p:nvSpPr>
          <p:cNvPr id="16" name="TextBox 15"/>
          <p:cNvSpPr txBox="1"/>
          <p:nvPr/>
        </p:nvSpPr>
        <p:spPr>
          <a:xfrm>
            <a:off x="1883664" y="3712463"/>
            <a:ext cx="9226296" cy="338554"/>
          </a:xfrm>
          <a:prstGeom prst="rect">
            <a:avLst/>
          </a:prstGeom>
          <a:noFill/>
        </p:spPr>
        <p:txBody>
          <a:bodyPr wrap="square" lIns="0" tIns="0" rIns="0" bIns="0" anchor="t">
            <a:spAutoFit/>
          </a:bodyPr>
          <a:lstStyle/>
          <a:p>
            <a:r>
              <a:rPr lang="en-US" sz="2200" b="0" i="0" dirty="0">
                <a:solidFill>
                  <a:srgbClr val="555B66"/>
                </a:solidFill>
                <a:latin typeface="Calibri"/>
              </a:rPr>
              <a:t>O</a:t>
            </a:r>
            <a:r>
              <a:rPr sz="2200" b="0" i="0" dirty="0">
                <a:solidFill>
                  <a:srgbClr val="555B66"/>
                </a:solidFill>
                <a:latin typeface="Calibri"/>
              </a:rPr>
              <a:t>pportunity costs · </a:t>
            </a:r>
            <a:r>
              <a:rPr lang="en-US" sz="2200" dirty="0">
                <a:solidFill>
                  <a:srgbClr val="555B66"/>
                </a:solidFill>
                <a:latin typeface="Calibri"/>
              </a:rPr>
              <a:t>S</a:t>
            </a:r>
            <a:r>
              <a:rPr sz="2200" b="0" i="0" dirty="0">
                <a:solidFill>
                  <a:srgbClr val="555B66"/>
                </a:solidFill>
                <a:latin typeface="Calibri"/>
              </a:rPr>
              <a:t>unk costs · </a:t>
            </a:r>
            <a:r>
              <a:rPr lang="en-US" sz="2200" dirty="0">
                <a:solidFill>
                  <a:srgbClr val="555B66"/>
                </a:solidFill>
                <a:latin typeface="Calibri"/>
              </a:rPr>
              <a:t>C</a:t>
            </a:r>
            <a:r>
              <a:rPr sz="2200" b="0" i="0" dirty="0">
                <a:solidFill>
                  <a:srgbClr val="555B66"/>
                </a:solidFill>
                <a:latin typeface="Calibri"/>
              </a:rPr>
              <a:t>ost-benefit and marginal analysis</a:t>
            </a:r>
          </a:p>
        </p:txBody>
      </p:sp>
      <p:sp>
        <p:nvSpPr>
          <p:cNvPr id="17" name="Oval 16"/>
          <p:cNvSpPr/>
          <p:nvPr/>
        </p:nvSpPr>
        <p:spPr>
          <a:xfrm>
            <a:off x="1024128" y="476402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8" name="TextBox 17"/>
          <p:cNvSpPr txBox="1"/>
          <p:nvPr/>
        </p:nvSpPr>
        <p:spPr>
          <a:xfrm>
            <a:off x="1883664" y="4745063"/>
            <a:ext cx="9226296" cy="384721"/>
          </a:xfrm>
          <a:prstGeom prst="rect">
            <a:avLst/>
          </a:prstGeom>
          <a:noFill/>
        </p:spPr>
        <p:txBody>
          <a:bodyPr wrap="square" lIns="0" tIns="0" rIns="0" bIns="0" anchor="b">
            <a:spAutoFit/>
          </a:bodyPr>
          <a:lstStyle/>
          <a:p>
            <a:r>
              <a:rPr sz="2500" b="1" i="0" dirty="0">
                <a:solidFill>
                  <a:srgbClr val="9AA0A8"/>
                </a:solidFill>
                <a:latin typeface="Calibri"/>
              </a:rPr>
              <a:t>Economics Fundamentals</a:t>
            </a:r>
          </a:p>
        </p:txBody>
      </p:sp>
      <p:sp>
        <p:nvSpPr>
          <p:cNvPr id="19" name="TextBox 18"/>
          <p:cNvSpPr txBox="1"/>
          <p:nvPr/>
        </p:nvSpPr>
        <p:spPr>
          <a:xfrm>
            <a:off x="1883664" y="5129784"/>
            <a:ext cx="9226296" cy="338554"/>
          </a:xfrm>
          <a:prstGeom prst="rect">
            <a:avLst/>
          </a:prstGeom>
          <a:noFill/>
        </p:spPr>
        <p:txBody>
          <a:bodyPr wrap="square" lIns="0" tIns="0" rIns="0" bIns="0" anchor="t">
            <a:spAutoFit/>
          </a:bodyPr>
          <a:lstStyle/>
          <a:p>
            <a:r>
              <a:rPr sz="2200" b="0" i="0" dirty="0">
                <a:solidFill>
                  <a:srgbClr val="9AA0A8"/>
                </a:solidFill>
                <a:latin typeface="Calibri"/>
              </a:rPr>
              <a:t>Markets · Supply and Demand · Equilibrium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7D2DA-36C9-5573-1D80-24EA010A53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AC00852-BB1F-9DF0-8174-5716D8C75948}"/>
              </a:ext>
            </a:extLst>
          </p:cNvPr>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Outline</a:t>
            </a:r>
          </a:p>
        </p:txBody>
      </p:sp>
      <p:sp>
        <p:nvSpPr>
          <p:cNvPr id="3" name="TextBox 2">
            <a:extLst>
              <a:ext uri="{FF2B5EF4-FFF2-40B4-BE49-F238E27FC236}">
                <a16:creationId xmlns:a16="http://schemas.microsoft.com/office/drawing/2014/main" id="{841078F9-99FD-377D-7620-533EDDDED70F}"/>
              </a:ext>
            </a:extLst>
          </p:cNvPr>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a:extLst>
              <a:ext uri="{FF2B5EF4-FFF2-40B4-BE49-F238E27FC236}">
                <a16:creationId xmlns:a16="http://schemas.microsoft.com/office/drawing/2014/main" id="{4B7CA76B-6581-1EC3-8477-DC5BEF925643}"/>
              </a:ext>
            </a:extLst>
          </p:cNvPr>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77DBA264-825F-581F-8C8C-4BEA7D02D803}"/>
              </a:ext>
            </a:extLst>
          </p:cNvPr>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a:extLst>
              <a:ext uri="{FF2B5EF4-FFF2-40B4-BE49-F238E27FC236}">
                <a16:creationId xmlns:a16="http://schemas.microsoft.com/office/drawing/2014/main" id="{BB892F5E-0D1F-6999-B9C8-4C71A4AFEDC7}"/>
              </a:ext>
            </a:extLst>
          </p:cNvPr>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B2F972F0-208E-927B-D60C-238E7DDBE341}"/>
              </a:ext>
            </a:extLst>
          </p:cNvPr>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5BED2947-F84F-3533-CBBC-F60A4A26F359}"/>
              </a:ext>
            </a:extLst>
          </p:cNvPr>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a:extLst>
              <a:ext uri="{FF2B5EF4-FFF2-40B4-BE49-F238E27FC236}">
                <a16:creationId xmlns:a16="http://schemas.microsoft.com/office/drawing/2014/main" id="{7D1E512E-ACA5-EE53-580D-F0BEB5C143B8}"/>
              </a:ext>
            </a:extLst>
          </p:cNvPr>
          <p:cNvSpPr txBox="1"/>
          <p:nvPr/>
        </p:nvSpPr>
        <p:spPr>
          <a:xfrm>
            <a:off x="10515600" y="6547104"/>
            <a:ext cx="1216152" cy="169277"/>
          </a:xfrm>
          <a:prstGeom prst="rect">
            <a:avLst/>
          </a:prstGeom>
          <a:noFill/>
        </p:spPr>
        <p:txBody>
          <a:bodyPr wrap="square" lIns="0" tIns="0" rIns="0" bIns="0" anchor="t">
            <a:spAutoFit/>
          </a:bodyPr>
          <a:lstStyle/>
          <a:p>
            <a:pPr algn="r"/>
            <a:r>
              <a:rPr sz="1100" b="0" i="0" dirty="0">
                <a:solidFill>
                  <a:srgbClr val="555B66"/>
                </a:solidFill>
                <a:latin typeface="Calibri"/>
              </a:rPr>
              <a:t>1</a:t>
            </a:r>
            <a:r>
              <a:rPr lang="en-US" sz="1100" b="0" i="0" dirty="0">
                <a:solidFill>
                  <a:srgbClr val="555B66"/>
                </a:solidFill>
                <a:latin typeface="Calibri"/>
              </a:rPr>
              <a:t>9</a:t>
            </a:r>
            <a:endParaRPr sz="1100" b="0" i="0" dirty="0">
              <a:solidFill>
                <a:srgbClr val="555B66"/>
              </a:solidFill>
              <a:latin typeface="Calibri"/>
            </a:endParaRPr>
          </a:p>
        </p:txBody>
      </p:sp>
      <p:sp>
        <p:nvSpPr>
          <p:cNvPr id="10" name="Oval 9">
            <a:extLst>
              <a:ext uri="{FF2B5EF4-FFF2-40B4-BE49-F238E27FC236}">
                <a16:creationId xmlns:a16="http://schemas.microsoft.com/office/drawing/2014/main" id="{FC3096F2-FEFF-FC68-5F2F-1F0FF4FE0A70}"/>
              </a:ext>
            </a:extLst>
          </p:cNvPr>
          <p:cNvSpPr/>
          <p:nvPr/>
        </p:nvSpPr>
        <p:spPr>
          <a:xfrm>
            <a:off x="1024128" y="192938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a:extLst>
              <a:ext uri="{FF2B5EF4-FFF2-40B4-BE49-F238E27FC236}">
                <a16:creationId xmlns:a16="http://schemas.microsoft.com/office/drawing/2014/main" id="{47560A6C-40F7-7B59-AA4B-C0F916AE069E}"/>
              </a:ext>
            </a:extLst>
          </p:cNvPr>
          <p:cNvSpPr txBox="1"/>
          <p:nvPr/>
        </p:nvSpPr>
        <p:spPr>
          <a:xfrm>
            <a:off x="1883664" y="1910422"/>
            <a:ext cx="9226296" cy="384721"/>
          </a:xfrm>
          <a:prstGeom prst="rect">
            <a:avLst/>
          </a:prstGeom>
          <a:noFill/>
        </p:spPr>
        <p:txBody>
          <a:bodyPr wrap="square" lIns="0" tIns="0" rIns="0" bIns="0" anchor="b">
            <a:spAutoFit/>
          </a:bodyPr>
          <a:lstStyle/>
          <a:p>
            <a:r>
              <a:rPr sz="2500" b="1" i="0" dirty="0">
                <a:solidFill>
                  <a:srgbClr val="9AA0A8"/>
                </a:solidFill>
                <a:latin typeface="Calibri"/>
              </a:rPr>
              <a:t>Value of the Firm</a:t>
            </a:r>
          </a:p>
        </p:txBody>
      </p:sp>
      <p:sp>
        <p:nvSpPr>
          <p:cNvPr id="12" name="TextBox 11">
            <a:extLst>
              <a:ext uri="{FF2B5EF4-FFF2-40B4-BE49-F238E27FC236}">
                <a16:creationId xmlns:a16="http://schemas.microsoft.com/office/drawing/2014/main" id="{E248FCDC-8220-526D-9760-4B20BFB80844}"/>
              </a:ext>
            </a:extLst>
          </p:cNvPr>
          <p:cNvSpPr txBox="1"/>
          <p:nvPr/>
        </p:nvSpPr>
        <p:spPr>
          <a:xfrm>
            <a:off x="1883664" y="2295144"/>
            <a:ext cx="9226296" cy="338554"/>
          </a:xfrm>
          <a:prstGeom prst="rect">
            <a:avLst/>
          </a:prstGeom>
          <a:noFill/>
        </p:spPr>
        <p:txBody>
          <a:bodyPr wrap="square" lIns="0" tIns="0" rIns="0" bIns="0" anchor="t">
            <a:spAutoFit/>
          </a:bodyPr>
          <a:lstStyle/>
          <a:p>
            <a:r>
              <a:rPr sz="2200" b="0" i="0" dirty="0">
                <a:solidFill>
                  <a:srgbClr val="9AA0A8"/>
                </a:solidFill>
                <a:latin typeface="Calibri"/>
              </a:rPr>
              <a:t>What a firm maximizes — and why value is not the same as current profit</a:t>
            </a:r>
          </a:p>
        </p:txBody>
      </p:sp>
      <p:sp>
        <p:nvSpPr>
          <p:cNvPr id="13" name="Rounded Rectangle 12">
            <a:extLst>
              <a:ext uri="{FF2B5EF4-FFF2-40B4-BE49-F238E27FC236}">
                <a16:creationId xmlns:a16="http://schemas.microsoft.com/office/drawing/2014/main" id="{7CC5E2ED-ABCB-FBA1-E1E8-446275AF7302}"/>
              </a:ext>
            </a:extLst>
          </p:cNvPr>
          <p:cNvSpPr/>
          <p:nvPr/>
        </p:nvSpPr>
        <p:spPr>
          <a:xfrm>
            <a:off x="822960" y="3182111"/>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0C4CEAE5-2F43-D737-F103-67A6319A9C47}"/>
              </a:ext>
            </a:extLst>
          </p:cNvPr>
          <p:cNvSpPr/>
          <p:nvPr/>
        </p:nvSpPr>
        <p:spPr>
          <a:xfrm>
            <a:off x="1024128" y="3346703"/>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5" name="TextBox 14">
            <a:extLst>
              <a:ext uri="{FF2B5EF4-FFF2-40B4-BE49-F238E27FC236}">
                <a16:creationId xmlns:a16="http://schemas.microsoft.com/office/drawing/2014/main" id="{0D877B09-86A3-70E0-B151-C126FA370958}"/>
              </a:ext>
            </a:extLst>
          </p:cNvPr>
          <p:cNvSpPr txBox="1"/>
          <p:nvPr/>
        </p:nvSpPr>
        <p:spPr>
          <a:xfrm>
            <a:off x="1883664" y="3327742"/>
            <a:ext cx="9226296" cy="384721"/>
          </a:xfrm>
          <a:prstGeom prst="rect">
            <a:avLst/>
          </a:prstGeom>
          <a:noFill/>
        </p:spPr>
        <p:txBody>
          <a:bodyPr wrap="square" lIns="0" tIns="0" rIns="0" bIns="0" anchor="b">
            <a:spAutoFit/>
          </a:bodyPr>
          <a:lstStyle/>
          <a:p>
            <a:r>
              <a:rPr sz="2500" b="1" i="0" dirty="0">
                <a:solidFill>
                  <a:srgbClr val="0B2B4E"/>
                </a:solidFill>
                <a:latin typeface="Calibri"/>
              </a:rPr>
              <a:t>Basic Principles of Economic Thinking</a:t>
            </a:r>
          </a:p>
        </p:txBody>
      </p:sp>
      <p:sp>
        <p:nvSpPr>
          <p:cNvPr id="16" name="TextBox 15">
            <a:extLst>
              <a:ext uri="{FF2B5EF4-FFF2-40B4-BE49-F238E27FC236}">
                <a16:creationId xmlns:a16="http://schemas.microsoft.com/office/drawing/2014/main" id="{BD62E1E3-532E-07BF-8189-036B2C781813}"/>
              </a:ext>
            </a:extLst>
          </p:cNvPr>
          <p:cNvSpPr txBox="1"/>
          <p:nvPr/>
        </p:nvSpPr>
        <p:spPr>
          <a:xfrm>
            <a:off x="1883664" y="3712463"/>
            <a:ext cx="9226296" cy="338554"/>
          </a:xfrm>
          <a:prstGeom prst="rect">
            <a:avLst/>
          </a:prstGeom>
          <a:noFill/>
        </p:spPr>
        <p:txBody>
          <a:bodyPr wrap="square" lIns="0" tIns="0" rIns="0" bIns="0" anchor="t">
            <a:spAutoFit/>
          </a:bodyPr>
          <a:lstStyle/>
          <a:p>
            <a:r>
              <a:rPr lang="en-US" sz="2200" b="1" dirty="0">
                <a:solidFill>
                  <a:srgbClr val="0B2B4E"/>
                </a:solidFill>
              </a:rPr>
              <a:t>Opportunity costs</a:t>
            </a:r>
            <a:r>
              <a:rPr sz="2200" b="0" i="0" dirty="0">
                <a:solidFill>
                  <a:srgbClr val="555B66"/>
                </a:solidFill>
                <a:latin typeface="Calibri"/>
              </a:rPr>
              <a:t> · </a:t>
            </a:r>
            <a:r>
              <a:rPr lang="en-US" sz="2200" dirty="0">
                <a:solidFill>
                  <a:srgbClr val="555B66"/>
                </a:solidFill>
                <a:latin typeface="Calibri"/>
              </a:rPr>
              <a:t>S</a:t>
            </a:r>
            <a:r>
              <a:rPr sz="2200" b="0" i="0" dirty="0">
                <a:solidFill>
                  <a:srgbClr val="555B66"/>
                </a:solidFill>
                <a:latin typeface="Calibri"/>
              </a:rPr>
              <a:t>unk costs · </a:t>
            </a:r>
            <a:r>
              <a:rPr lang="en-US" sz="2200" dirty="0">
                <a:solidFill>
                  <a:srgbClr val="555B66"/>
                </a:solidFill>
                <a:latin typeface="Calibri"/>
              </a:rPr>
              <a:t>C</a:t>
            </a:r>
            <a:r>
              <a:rPr sz="2200" b="0" i="0" dirty="0">
                <a:solidFill>
                  <a:srgbClr val="555B66"/>
                </a:solidFill>
                <a:latin typeface="Calibri"/>
              </a:rPr>
              <a:t>ost-benefit and marginal analysis</a:t>
            </a:r>
          </a:p>
        </p:txBody>
      </p:sp>
      <p:sp>
        <p:nvSpPr>
          <p:cNvPr id="17" name="Oval 16">
            <a:extLst>
              <a:ext uri="{FF2B5EF4-FFF2-40B4-BE49-F238E27FC236}">
                <a16:creationId xmlns:a16="http://schemas.microsoft.com/office/drawing/2014/main" id="{7C5C017F-F064-4CD9-D699-B0528D8253C5}"/>
              </a:ext>
            </a:extLst>
          </p:cNvPr>
          <p:cNvSpPr/>
          <p:nvPr/>
        </p:nvSpPr>
        <p:spPr>
          <a:xfrm>
            <a:off x="1024128" y="476402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8" name="TextBox 17">
            <a:extLst>
              <a:ext uri="{FF2B5EF4-FFF2-40B4-BE49-F238E27FC236}">
                <a16:creationId xmlns:a16="http://schemas.microsoft.com/office/drawing/2014/main" id="{BA19A42C-3882-F0DC-9611-D247D377F6C0}"/>
              </a:ext>
            </a:extLst>
          </p:cNvPr>
          <p:cNvSpPr txBox="1"/>
          <p:nvPr/>
        </p:nvSpPr>
        <p:spPr>
          <a:xfrm>
            <a:off x="1883664" y="4745063"/>
            <a:ext cx="9226296" cy="384721"/>
          </a:xfrm>
          <a:prstGeom prst="rect">
            <a:avLst/>
          </a:prstGeom>
          <a:noFill/>
        </p:spPr>
        <p:txBody>
          <a:bodyPr wrap="square" lIns="0" tIns="0" rIns="0" bIns="0" anchor="b">
            <a:spAutoFit/>
          </a:bodyPr>
          <a:lstStyle/>
          <a:p>
            <a:r>
              <a:rPr sz="2500" b="1" i="0" dirty="0">
                <a:solidFill>
                  <a:srgbClr val="9AA0A8"/>
                </a:solidFill>
                <a:latin typeface="Calibri"/>
              </a:rPr>
              <a:t>Economics Fundamentals</a:t>
            </a:r>
          </a:p>
        </p:txBody>
      </p:sp>
      <p:sp>
        <p:nvSpPr>
          <p:cNvPr id="19" name="TextBox 18">
            <a:extLst>
              <a:ext uri="{FF2B5EF4-FFF2-40B4-BE49-F238E27FC236}">
                <a16:creationId xmlns:a16="http://schemas.microsoft.com/office/drawing/2014/main" id="{95F20BD4-A55F-7200-0B20-D9BA87F97D2A}"/>
              </a:ext>
            </a:extLst>
          </p:cNvPr>
          <p:cNvSpPr txBox="1"/>
          <p:nvPr/>
        </p:nvSpPr>
        <p:spPr>
          <a:xfrm>
            <a:off x="1883664" y="5129784"/>
            <a:ext cx="9226296" cy="338554"/>
          </a:xfrm>
          <a:prstGeom prst="rect">
            <a:avLst/>
          </a:prstGeom>
          <a:noFill/>
        </p:spPr>
        <p:txBody>
          <a:bodyPr wrap="square" lIns="0" tIns="0" rIns="0" bIns="0" anchor="t">
            <a:spAutoFit/>
          </a:bodyPr>
          <a:lstStyle/>
          <a:p>
            <a:r>
              <a:rPr sz="2200" b="0" i="0" dirty="0">
                <a:solidFill>
                  <a:srgbClr val="9AA0A8"/>
                </a:solidFill>
                <a:latin typeface="Calibri"/>
              </a:rPr>
              <a:t>Markets · Supply and Demand · Equilibrium</a:t>
            </a:r>
          </a:p>
        </p:txBody>
      </p:sp>
    </p:spTree>
    <p:extLst>
      <p:ext uri="{BB962C8B-B14F-4D97-AF65-F5344CB8AC3E}">
        <p14:creationId xmlns:p14="http://schemas.microsoft.com/office/powerpoint/2010/main" val="3034200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Opportunity Costs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Economic </a:t>
            </a:r>
            <a:r>
              <a:rPr lang="en-US" sz="3000" b="1" i="0" dirty="0">
                <a:solidFill>
                  <a:srgbClr val="0B2B4E"/>
                </a:solidFill>
                <a:latin typeface="Calibri"/>
              </a:rPr>
              <a:t>C</a:t>
            </a:r>
            <a:r>
              <a:rPr sz="3000" b="1" i="0" dirty="0">
                <a:solidFill>
                  <a:srgbClr val="0B2B4E"/>
                </a:solidFill>
                <a:latin typeface="Calibri"/>
              </a:rPr>
              <a:t>osts include Opportunity Costs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20</a:t>
            </a:r>
          </a:p>
        </p:txBody>
      </p:sp>
      <p:sp>
        <p:nvSpPr>
          <p:cNvPr id="10" name="BUILD"/>
          <p:cNvSpPr txBox="1"/>
          <p:nvPr/>
        </p:nvSpPr>
        <p:spPr>
          <a:xfrm>
            <a:off x="443124" y="1804654"/>
            <a:ext cx="11444076" cy="4072910"/>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600" b="0" i="0" dirty="0">
                <a:solidFill>
                  <a:srgbClr val="0B2B4E"/>
                </a:solidFill>
                <a:latin typeface="Calibri"/>
              </a:rPr>
              <a:t>The opportunity cost is the value of the next best alternative sacrificed </a:t>
            </a:r>
          </a:p>
          <a:p>
            <a:pPr marL="603504" lvl="1" indent="-310896">
              <a:spcAft>
                <a:spcPts val="1400"/>
              </a:spcAft>
              <a:buClr>
                <a:srgbClr val="555B66"/>
              </a:buClr>
              <a:buSzPct val="100000"/>
              <a:buFont typeface="Calibri"/>
              <a:buChar char="–"/>
            </a:pPr>
            <a:r>
              <a:rPr sz="2100" b="0" i="0" dirty="0">
                <a:solidFill>
                  <a:srgbClr val="C0201B"/>
                </a:solidFill>
                <a:latin typeface="Calibri"/>
              </a:rPr>
              <a:t>What you give up</a:t>
            </a:r>
            <a:r>
              <a:rPr sz="2100" b="0" i="0" dirty="0">
                <a:solidFill>
                  <a:schemeClr val="bg1">
                    <a:lumMod val="50000"/>
                  </a:schemeClr>
                </a:solidFill>
                <a:latin typeface="Calibri"/>
              </a:rPr>
              <a:t> to get something</a:t>
            </a:r>
            <a:endParaRPr lang="en-US" sz="2100" b="0" i="0" dirty="0">
              <a:solidFill>
                <a:schemeClr val="bg1">
                  <a:lumMod val="50000"/>
                </a:schemeClr>
              </a:solidFill>
              <a:latin typeface="Calibri"/>
            </a:endParaRPr>
          </a:p>
          <a:p>
            <a:pPr marL="603504" lvl="1" indent="-310896">
              <a:spcAft>
                <a:spcPts val="1400"/>
              </a:spcAft>
              <a:buClr>
                <a:srgbClr val="555B66"/>
              </a:buClr>
              <a:buSzPct val="100000"/>
              <a:buFont typeface="Calibri"/>
              <a:buChar char="–"/>
            </a:pPr>
            <a:endParaRPr sz="2100" b="0" i="0" dirty="0">
              <a:solidFill>
                <a:schemeClr val="bg1">
                  <a:lumMod val="50000"/>
                </a:schemeClr>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The opportunity cost is not always monetary. It is often </a:t>
            </a:r>
            <a:r>
              <a:rPr sz="2600" b="0" i="0" dirty="0">
                <a:solidFill>
                  <a:srgbClr val="C0201B"/>
                </a:solidFill>
                <a:latin typeface="Calibri"/>
              </a:rPr>
              <a:t>implicit</a:t>
            </a:r>
            <a:r>
              <a:rPr sz="2600" b="0" i="0" dirty="0">
                <a:solidFill>
                  <a:srgbClr val="0B2B4E"/>
                </a:solidFill>
                <a:latin typeface="Calibri"/>
              </a:rPr>
              <a:t> rather than explicit</a:t>
            </a:r>
          </a:p>
          <a:p>
            <a:pPr marL="603504" lvl="1" indent="-310896">
              <a:spcAft>
                <a:spcPts val="1400"/>
              </a:spcAft>
              <a:buClr>
                <a:srgbClr val="555B66"/>
              </a:buClr>
              <a:buSzPct val="100000"/>
              <a:buFont typeface="Calibri"/>
              <a:buChar char="–"/>
            </a:pPr>
            <a:r>
              <a:rPr sz="2100" b="0" i="0" dirty="0">
                <a:solidFill>
                  <a:schemeClr val="bg1">
                    <a:lumMod val="50000"/>
                  </a:schemeClr>
                </a:solidFill>
                <a:latin typeface="Calibri"/>
              </a:rPr>
              <a:t>Explicit cost: actual payment </a:t>
            </a:r>
          </a:p>
          <a:p>
            <a:pPr marL="603504" lvl="1" indent="-310896">
              <a:spcAft>
                <a:spcPts val="1400"/>
              </a:spcAft>
              <a:buClr>
                <a:srgbClr val="555B66"/>
              </a:buClr>
              <a:buSzPct val="100000"/>
              <a:buFont typeface="Calibri"/>
              <a:buChar char="–"/>
            </a:pPr>
            <a:r>
              <a:rPr sz="2100" b="0" i="0" dirty="0">
                <a:solidFill>
                  <a:schemeClr val="bg1">
                    <a:lumMod val="50000"/>
                  </a:schemeClr>
                </a:solidFill>
                <a:latin typeface="Calibri"/>
              </a:rPr>
              <a:t>Implicit cost: forgo an alternative action</a:t>
            </a:r>
            <a:endParaRPr lang="en-US" sz="2100" b="0" i="0" dirty="0">
              <a:solidFill>
                <a:schemeClr val="bg1">
                  <a:lumMod val="50000"/>
                </a:schemeClr>
              </a:solidFill>
              <a:latin typeface="Calibri"/>
            </a:endParaRPr>
          </a:p>
          <a:p>
            <a:pPr marL="603504" lvl="1" indent="-310896">
              <a:spcAft>
                <a:spcPts val="1400"/>
              </a:spcAft>
              <a:buClr>
                <a:srgbClr val="555B66"/>
              </a:buClr>
              <a:buSzPct val="100000"/>
              <a:buFont typeface="Calibri"/>
              <a:buChar char="–"/>
            </a:pPr>
            <a:endParaRPr sz="2100" b="0" i="0" dirty="0">
              <a:solidFill>
                <a:schemeClr val="bg1">
                  <a:lumMod val="50000"/>
                </a:schemeClr>
              </a:solidFill>
              <a:latin typeface="Calibri"/>
            </a:endParaRPr>
          </a:p>
          <a:p>
            <a:pPr marL="274320" indent="-274320">
              <a:spcAft>
                <a:spcPts val="1400"/>
              </a:spcAft>
              <a:buClr>
                <a:srgbClr val="0B2B4E"/>
              </a:buClr>
              <a:buSzPct val="100000"/>
              <a:buFont typeface="Calibri"/>
              <a:buChar char="▪"/>
            </a:pPr>
            <a:r>
              <a:rPr sz="2600" b="0" i="0" dirty="0">
                <a:solidFill>
                  <a:srgbClr val="C0201B"/>
                </a:solidFill>
                <a:latin typeface="Calibri"/>
              </a:rPr>
              <a:t>Full economic cost </a:t>
            </a:r>
            <a:r>
              <a:rPr sz="2600" b="0" i="0" dirty="0">
                <a:solidFill>
                  <a:srgbClr val="0B2B4E"/>
                </a:solidFill>
                <a:latin typeface="Calibri"/>
              </a:rPr>
              <a:t>= implicit cost + explicit cost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Opportunity Costs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Principle of Opportunity Cost</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21</a:t>
            </a:r>
          </a:p>
        </p:txBody>
      </p:sp>
      <p:sp>
        <p:nvSpPr>
          <p:cNvPr id="10" name="TextBox 9"/>
          <p:cNvSpPr txBox="1"/>
          <p:nvPr/>
        </p:nvSpPr>
        <p:spPr>
          <a:xfrm>
            <a:off x="2377440" y="1783080"/>
            <a:ext cx="2286000" cy="365760"/>
          </a:xfrm>
          <a:prstGeom prst="rect">
            <a:avLst/>
          </a:prstGeom>
          <a:noFill/>
        </p:spPr>
        <p:txBody>
          <a:bodyPr wrap="square" lIns="0" tIns="0" rIns="0" bIns="0" anchor="t">
            <a:spAutoFit/>
          </a:bodyPr>
          <a:lstStyle/>
          <a:p>
            <a:pPr algn="r"/>
            <a:r>
              <a:rPr sz="1800" b="0" i="0">
                <a:solidFill>
                  <a:srgbClr val="0B2B4E"/>
                </a:solidFill>
                <a:latin typeface="Calibri"/>
              </a:rPr>
              <a:t>Alternatives</a:t>
            </a:r>
          </a:p>
        </p:txBody>
      </p:sp>
      <p:sp>
        <p:nvSpPr>
          <p:cNvPr id="11" name="TextBox 10"/>
          <p:cNvSpPr txBox="1"/>
          <p:nvPr/>
        </p:nvSpPr>
        <p:spPr>
          <a:xfrm>
            <a:off x="5029200" y="1783080"/>
            <a:ext cx="1463040" cy="365760"/>
          </a:xfrm>
          <a:prstGeom prst="rect">
            <a:avLst/>
          </a:prstGeom>
          <a:noFill/>
        </p:spPr>
        <p:txBody>
          <a:bodyPr wrap="square" lIns="0" tIns="0" rIns="0" bIns="0" anchor="t">
            <a:spAutoFit/>
          </a:bodyPr>
          <a:lstStyle/>
          <a:p>
            <a:pPr algn="ctr"/>
            <a:r>
              <a:rPr sz="1800" b="0" i="0">
                <a:solidFill>
                  <a:srgbClr val="0B2B4E"/>
                </a:solidFill>
                <a:latin typeface="Calibri"/>
              </a:rPr>
              <a:t>My Value</a:t>
            </a:r>
          </a:p>
        </p:txBody>
      </p:sp>
      <p:sp>
        <p:nvSpPr>
          <p:cNvPr id="12" name="OPPHDR"/>
          <p:cNvSpPr txBox="1"/>
          <p:nvPr/>
        </p:nvSpPr>
        <p:spPr>
          <a:xfrm>
            <a:off x="6949440" y="1783080"/>
            <a:ext cx="2011680" cy="365760"/>
          </a:xfrm>
          <a:prstGeom prst="rect">
            <a:avLst/>
          </a:prstGeom>
          <a:noFill/>
        </p:spPr>
        <p:txBody>
          <a:bodyPr wrap="square" lIns="0" tIns="0" rIns="0" bIns="0" anchor="t">
            <a:spAutoFit/>
          </a:bodyPr>
          <a:lstStyle/>
          <a:p>
            <a:pPr algn="ctr"/>
            <a:r>
              <a:rPr sz="1800" b="0" i="0">
                <a:solidFill>
                  <a:srgbClr val="0B2B4E"/>
                </a:solidFill>
                <a:latin typeface="Calibri"/>
              </a:rPr>
              <a:t>My Opp. Cost</a:t>
            </a:r>
          </a:p>
        </p:txBody>
      </p:sp>
      <p:sp>
        <p:nvSpPr>
          <p:cNvPr id="13" name="TextBox 12"/>
          <p:cNvSpPr txBox="1"/>
          <p:nvPr/>
        </p:nvSpPr>
        <p:spPr>
          <a:xfrm>
            <a:off x="2377440" y="2286000"/>
            <a:ext cx="2286000" cy="457200"/>
          </a:xfrm>
          <a:prstGeom prst="rect">
            <a:avLst/>
          </a:prstGeom>
          <a:noFill/>
        </p:spPr>
        <p:txBody>
          <a:bodyPr wrap="square" lIns="0" tIns="0" rIns="0" bIns="0" anchor="ctr">
            <a:spAutoFit/>
          </a:bodyPr>
          <a:lstStyle/>
          <a:p>
            <a:pPr algn="r"/>
            <a:r>
              <a:rPr sz="2200" b="1" i="0">
                <a:solidFill>
                  <a:srgbClr val="0B2B4E"/>
                </a:solidFill>
                <a:latin typeface="Calibri"/>
              </a:rPr>
              <a:t>Apple</a:t>
            </a:r>
          </a:p>
        </p:txBody>
      </p:sp>
      <p:sp>
        <p:nvSpPr>
          <p:cNvPr id="14" name="Rounded Rectangle 13"/>
          <p:cNvSpPr/>
          <p:nvPr/>
        </p:nvSpPr>
        <p:spPr>
          <a:xfrm>
            <a:off x="5029200" y="2286000"/>
            <a:ext cx="1463040" cy="457200"/>
          </a:xfrm>
          <a:prstGeom prst="roundRect">
            <a:avLst>
              <a:gd name="adj" fmla="val 12000"/>
            </a:avLst>
          </a:prstGeom>
          <a:solidFill>
            <a:srgbClr val="4CA04C"/>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4</a:t>
            </a:r>
          </a:p>
        </p:txBody>
      </p:sp>
      <p:sp>
        <p:nvSpPr>
          <p:cNvPr id="15" name="OPP0"/>
          <p:cNvSpPr/>
          <p:nvPr/>
        </p:nvSpPr>
        <p:spPr>
          <a:xfrm>
            <a:off x="6949440" y="2286000"/>
            <a:ext cx="2011680" cy="457200"/>
          </a:xfrm>
          <a:prstGeom prst="roundRect">
            <a:avLst>
              <a:gd name="adj" fmla="val 12000"/>
            </a:avLst>
          </a:prstGeom>
          <a:solidFill>
            <a:srgbClr val="C0201B"/>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6" name="TextBox 15"/>
          <p:cNvSpPr txBox="1"/>
          <p:nvPr/>
        </p:nvSpPr>
        <p:spPr>
          <a:xfrm>
            <a:off x="2377440" y="2852928"/>
            <a:ext cx="2286000" cy="457200"/>
          </a:xfrm>
          <a:prstGeom prst="rect">
            <a:avLst/>
          </a:prstGeom>
          <a:noFill/>
        </p:spPr>
        <p:txBody>
          <a:bodyPr wrap="square" lIns="0" tIns="0" rIns="0" bIns="0" anchor="ctr">
            <a:spAutoFit/>
          </a:bodyPr>
          <a:lstStyle/>
          <a:p>
            <a:pPr algn="r"/>
            <a:r>
              <a:rPr sz="2200" b="1" i="0">
                <a:solidFill>
                  <a:srgbClr val="0B2B4E"/>
                </a:solidFill>
                <a:latin typeface="Calibri"/>
              </a:rPr>
              <a:t>Banana</a:t>
            </a:r>
          </a:p>
        </p:txBody>
      </p:sp>
      <p:sp>
        <p:nvSpPr>
          <p:cNvPr id="17" name="Rounded Rectangle 16"/>
          <p:cNvSpPr/>
          <p:nvPr/>
        </p:nvSpPr>
        <p:spPr>
          <a:xfrm>
            <a:off x="5029200" y="2852928"/>
            <a:ext cx="1463040" cy="457200"/>
          </a:xfrm>
          <a:prstGeom prst="roundRect">
            <a:avLst>
              <a:gd name="adj" fmla="val 12000"/>
            </a:avLst>
          </a:prstGeom>
          <a:solidFill>
            <a:srgbClr val="4CA04C"/>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8" name="OPP1"/>
          <p:cNvSpPr/>
          <p:nvPr/>
        </p:nvSpPr>
        <p:spPr>
          <a:xfrm>
            <a:off x="6949440" y="2852928"/>
            <a:ext cx="2011680" cy="457200"/>
          </a:xfrm>
          <a:prstGeom prst="roundRect">
            <a:avLst>
              <a:gd name="adj" fmla="val 12000"/>
            </a:avLst>
          </a:prstGeom>
          <a:solidFill>
            <a:srgbClr val="C0201B"/>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4</a:t>
            </a:r>
          </a:p>
        </p:txBody>
      </p:sp>
      <p:sp>
        <p:nvSpPr>
          <p:cNvPr id="19" name="TextBox 18"/>
          <p:cNvSpPr txBox="1"/>
          <p:nvPr/>
        </p:nvSpPr>
        <p:spPr>
          <a:xfrm>
            <a:off x="2377440" y="3419856"/>
            <a:ext cx="2286000" cy="457200"/>
          </a:xfrm>
          <a:prstGeom prst="rect">
            <a:avLst/>
          </a:prstGeom>
          <a:noFill/>
        </p:spPr>
        <p:txBody>
          <a:bodyPr wrap="square" lIns="0" tIns="0" rIns="0" bIns="0" anchor="ctr">
            <a:spAutoFit/>
          </a:bodyPr>
          <a:lstStyle/>
          <a:p>
            <a:pPr algn="r"/>
            <a:r>
              <a:rPr sz="2200" b="1" i="0">
                <a:solidFill>
                  <a:srgbClr val="0B2B4E"/>
                </a:solidFill>
                <a:latin typeface="Calibri"/>
              </a:rPr>
              <a:t>Cucumber</a:t>
            </a:r>
          </a:p>
        </p:txBody>
      </p:sp>
      <p:sp>
        <p:nvSpPr>
          <p:cNvPr id="20" name="Rounded Rectangle 19"/>
          <p:cNvSpPr/>
          <p:nvPr/>
        </p:nvSpPr>
        <p:spPr>
          <a:xfrm>
            <a:off x="5029200" y="3419856"/>
            <a:ext cx="1463040" cy="457200"/>
          </a:xfrm>
          <a:prstGeom prst="roundRect">
            <a:avLst>
              <a:gd name="adj" fmla="val 12000"/>
            </a:avLst>
          </a:prstGeom>
          <a:solidFill>
            <a:srgbClr val="4CA04C"/>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21" name="OPP2"/>
          <p:cNvSpPr/>
          <p:nvPr/>
        </p:nvSpPr>
        <p:spPr>
          <a:xfrm>
            <a:off x="6949440" y="3419856"/>
            <a:ext cx="2011680" cy="457200"/>
          </a:xfrm>
          <a:prstGeom prst="roundRect">
            <a:avLst>
              <a:gd name="adj" fmla="val 12000"/>
            </a:avLst>
          </a:prstGeom>
          <a:solidFill>
            <a:srgbClr val="C0201B"/>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4</a:t>
            </a:r>
          </a:p>
        </p:txBody>
      </p:sp>
      <p:sp>
        <p:nvSpPr>
          <p:cNvPr id="22" name="TextBox 21"/>
          <p:cNvSpPr txBox="1"/>
          <p:nvPr/>
        </p:nvSpPr>
        <p:spPr>
          <a:xfrm>
            <a:off x="2377440" y="3986784"/>
            <a:ext cx="2286000" cy="457200"/>
          </a:xfrm>
          <a:prstGeom prst="rect">
            <a:avLst/>
          </a:prstGeom>
          <a:noFill/>
        </p:spPr>
        <p:txBody>
          <a:bodyPr wrap="square" lIns="0" tIns="0" rIns="0" bIns="0" anchor="ctr">
            <a:spAutoFit/>
          </a:bodyPr>
          <a:lstStyle/>
          <a:p>
            <a:pPr algn="r"/>
            <a:r>
              <a:rPr sz="2200" b="1" i="0">
                <a:solidFill>
                  <a:srgbClr val="0B2B4E"/>
                </a:solidFill>
                <a:latin typeface="Calibri"/>
              </a:rPr>
              <a:t>Dragon fruit</a:t>
            </a:r>
          </a:p>
        </p:txBody>
      </p:sp>
      <p:sp>
        <p:nvSpPr>
          <p:cNvPr id="23" name="Rounded Rectangle 22"/>
          <p:cNvSpPr/>
          <p:nvPr/>
        </p:nvSpPr>
        <p:spPr>
          <a:xfrm>
            <a:off x="5029200" y="3986784"/>
            <a:ext cx="1463040" cy="457200"/>
          </a:xfrm>
          <a:prstGeom prst="roundRect">
            <a:avLst>
              <a:gd name="adj" fmla="val 12000"/>
            </a:avLst>
          </a:prstGeom>
          <a:solidFill>
            <a:srgbClr val="4CA04C"/>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24" name="OPP3"/>
          <p:cNvSpPr/>
          <p:nvPr/>
        </p:nvSpPr>
        <p:spPr>
          <a:xfrm>
            <a:off x="6949440" y="3986784"/>
            <a:ext cx="2011680" cy="457200"/>
          </a:xfrm>
          <a:prstGeom prst="roundRect">
            <a:avLst>
              <a:gd name="adj" fmla="val 12000"/>
            </a:avLst>
          </a:prstGeom>
          <a:solidFill>
            <a:srgbClr val="C0201B"/>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4</a:t>
            </a:r>
          </a:p>
        </p:txBody>
      </p:sp>
      <p:sp>
        <p:nvSpPr>
          <p:cNvPr id="26" name="BUILD">
            <a:extLst>
              <a:ext uri="{FF2B5EF4-FFF2-40B4-BE49-F238E27FC236}">
                <a16:creationId xmlns:a16="http://schemas.microsoft.com/office/drawing/2014/main" id="{D298E3B6-55C8-F359-D15F-48810D95A7A8}"/>
              </a:ext>
            </a:extLst>
          </p:cNvPr>
          <p:cNvSpPr txBox="1"/>
          <p:nvPr/>
        </p:nvSpPr>
        <p:spPr>
          <a:xfrm>
            <a:off x="996591" y="4243202"/>
            <a:ext cx="11281023" cy="2123658"/>
          </a:xfrm>
          <a:prstGeom prst="rect">
            <a:avLst/>
          </a:prstGeom>
          <a:noFill/>
        </p:spPr>
        <p:txBody>
          <a:bodyPr wrap="square" lIns="0" tIns="0" rIns="0" bIns="0" anchor="t">
            <a:spAutoFit/>
          </a:bodyPr>
          <a:lstStyle/>
          <a:p>
            <a:pPr>
              <a:spcAft>
                <a:spcPts val="1200"/>
              </a:spcAft>
              <a:buClr>
                <a:srgbClr val="0B2B4E"/>
              </a:buClr>
              <a:buSzPct val="100000"/>
            </a:pPr>
            <a:endParaRPr sz="2600" i="0" dirty="0">
              <a:solidFill>
                <a:srgbClr val="0B2B4E"/>
              </a:solidFill>
              <a:latin typeface="Calibri" panose="020F0502020204030204" pitchFamily="34" charset="0"/>
              <a:cs typeface="Calibri" panose="020F0502020204030204" pitchFamily="34" charset="0"/>
            </a:endParaRPr>
          </a:p>
          <a:p>
            <a:pPr marL="274320" indent="-274320">
              <a:spcAft>
                <a:spcPts val="1200"/>
              </a:spcAft>
              <a:buClr>
                <a:srgbClr val="0B2B4E"/>
              </a:buClr>
              <a:buSzPct val="100000"/>
              <a:buFont typeface="Calibri"/>
              <a:buChar char="▪"/>
            </a:pPr>
            <a:r>
              <a:rPr lang="en-US" sz="2600" dirty="0">
                <a:solidFill>
                  <a:srgbClr val="0B2B4E"/>
                </a:solidFill>
                <a:latin typeface="Calibri" panose="020F0502020204030204" pitchFamily="34" charset="0"/>
                <a:cs typeface="Calibri" panose="020F0502020204030204" pitchFamily="34" charset="0"/>
              </a:rPr>
              <a:t>The </a:t>
            </a:r>
            <a:r>
              <a:rPr lang="en-US" sz="2800" dirty="0">
                <a:solidFill>
                  <a:srgbClr val="C0201B"/>
                </a:solidFill>
              </a:rPr>
              <a:t>opportunity</a:t>
            </a:r>
            <a:r>
              <a:rPr lang="en-US" sz="2600" dirty="0">
                <a:solidFill>
                  <a:srgbClr val="0B2B4E"/>
                </a:solidFill>
                <a:latin typeface="Calibri" panose="020F0502020204030204" pitchFamily="34" charset="0"/>
                <a:cs typeface="Calibri" panose="020F0502020204030204" pitchFamily="34" charset="0"/>
              </a:rPr>
              <a:t> cost is the value of next best alternative foregone </a:t>
            </a:r>
          </a:p>
          <a:p>
            <a:pPr lvl="7">
              <a:spcAft>
                <a:spcPts val="1200"/>
              </a:spcAft>
              <a:buClr>
                <a:srgbClr val="0B2B4E"/>
              </a:buClr>
              <a:buSzPct val="100000"/>
            </a:pPr>
            <a:r>
              <a:rPr lang="en-US" sz="2600" i="1" dirty="0">
                <a:solidFill>
                  <a:srgbClr val="0B2B4E"/>
                </a:solidFill>
                <a:latin typeface="Calibri" panose="020F0502020204030204" pitchFamily="34" charset="0"/>
                <a:cs typeface="Calibri" panose="020F0502020204030204" pitchFamily="34" charset="0"/>
              </a:rPr>
              <a:t>(the lost opportunity)</a:t>
            </a:r>
          </a:p>
          <a:p>
            <a:pPr marL="274320" indent="-274320">
              <a:spcAft>
                <a:spcPts val="1200"/>
              </a:spcAft>
              <a:buClr>
                <a:srgbClr val="0B2B4E"/>
              </a:buClr>
              <a:buSzPct val="100000"/>
              <a:buFont typeface="Calibri"/>
              <a:buChar char="▪"/>
            </a:pPr>
            <a:r>
              <a:rPr sz="2600" i="0" dirty="0">
                <a:solidFill>
                  <a:srgbClr val="0B2B4E"/>
                </a:solidFill>
                <a:latin typeface="Calibri" panose="020F0502020204030204" pitchFamily="34" charset="0"/>
                <a:cs typeface="Calibri" panose="020F0502020204030204" pitchFamily="34" charset="0"/>
              </a:rPr>
              <a:t>Opportunity cost depends on </a:t>
            </a:r>
            <a:r>
              <a:rPr lang="en-US" sz="2800" dirty="0">
                <a:solidFill>
                  <a:srgbClr val="C0201B"/>
                </a:solidFill>
              </a:rPr>
              <a:t>preferences</a:t>
            </a:r>
            <a:r>
              <a:rPr sz="2600" i="0" dirty="0">
                <a:solidFill>
                  <a:srgbClr val="0B2B4E"/>
                </a:solidFill>
                <a:latin typeface="Calibri" panose="020F0502020204030204" pitchFamily="34" charset="0"/>
                <a:cs typeface="Calibri" panose="020F0502020204030204" pitchFamily="34" charset="0"/>
              </a:rPr>
              <a:t> – it differs across individuals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Opportunity Costs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What is the </a:t>
            </a:r>
            <a:r>
              <a:rPr lang="en-US" sz="3000" b="1" i="0" dirty="0">
                <a:solidFill>
                  <a:srgbClr val="0B2B4E"/>
                </a:solidFill>
                <a:latin typeface="Calibri"/>
              </a:rPr>
              <a:t>O</a:t>
            </a:r>
            <a:r>
              <a:rPr sz="3000" b="1" i="0" dirty="0">
                <a:solidFill>
                  <a:srgbClr val="0B2B4E"/>
                </a:solidFill>
                <a:latin typeface="Calibri"/>
              </a:rPr>
              <a:t>pportunity </a:t>
            </a:r>
            <a:r>
              <a:rPr lang="en-US" sz="3000" b="1" dirty="0">
                <a:solidFill>
                  <a:srgbClr val="0B2B4E"/>
                </a:solidFill>
                <a:latin typeface="Calibri"/>
              </a:rPr>
              <a:t>C</a:t>
            </a:r>
            <a:r>
              <a:rPr sz="3000" b="1" i="0" dirty="0">
                <a:solidFill>
                  <a:srgbClr val="0B2B4E"/>
                </a:solidFill>
                <a:latin typeface="Calibri"/>
              </a:rPr>
              <a:t>ost of </a:t>
            </a:r>
            <a:r>
              <a:rPr lang="en-US" sz="3000" b="1" i="0" dirty="0">
                <a:solidFill>
                  <a:srgbClr val="0B2B4E"/>
                </a:solidFill>
                <a:latin typeface="Calibri"/>
              </a:rPr>
              <a:t>D</a:t>
            </a:r>
            <a:r>
              <a:rPr sz="3000" b="1" i="0" dirty="0">
                <a:solidFill>
                  <a:srgbClr val="0B2B4E"/>
                </a:solidFill>
                <a:latin typeface="Calibri"/>
              </a:rPr>
              <a:t>oing an MBA?</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22</a:t>
            </a:r>
          </a:p>
        </p:txBody>
      </p:sp>
      <p:sp>
        <p:nvSpPr>
          <p:cNvPr id="10" name="BUILD"/>
          <p:cNvSpPr txBox="1"/>
          <p:nvPr/>
        </p:nvSpPr>
        <p:spPr>
          <a:xfrm>
            <a:off x="640080" y="1691640"/>
            <a:ext cx="10881360" cy="2718693"/>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600" b="0" i="0" dirty="0">
                <a:solidFill>
                  <a:srgbClr val="0B2B4E"/>
                </a:solidFill>
                <a:latin typeface="Calibri"/>
              </a:rPr>
              <a:t>Do an MBA </a:t>
            </a:r>
            <a:r>
              <a:rPr sz="2600" b="1" i="0" dirty="0">
                <a:solidFill>
                  <a:srgbClr val="0B2B4E"/>
                </a:solidFill>
                <a:latin typeface="Calibri"/>
              </a:rPr>
              <a:t>OR </a:t>
            </a:r>
            <a:r>
              <a:rPr sz="2600" b="0" i="0" dirty="0">
                <a:solidFill>
                  <a:srgbClr val="0B2B4E"/>
                </a:solidFill>
                <a:latin typeface="Calibri"/>
              </a:rPr>
              <a:t>work (more)?</a:t>
            </a:r>
            <a:endParaRPr lang="en-US" sz="2600" b="0" i="0" dirty="0">
              <a:solidFill>
                <a:srgbClr val="0B2B4E"/>
              </a:solidFill>
              <a:latin typeface="Calibri"/>
            </a:endParaRPr>
          </a:p>
          <a:p>
            <a:pPr marL="274320" indent="-274320">
              <a:spcAft>
                <a:spcPts val="1400"/>
              </a:spcAft>
              <a:buClr>
                <a:srgbClr val="0B2B4E"/>
              </a:buClr>
              <a:buSzPct val="100000"/>
              <a:buFont typeface="Calibri"/>
              <a:buChar char="▪"/>
            </a:pPr>
            <a:endParaRPr sz="2600" b="0" i="0" dirty="0">
              <a:solidFill>
                <a:srgbClr val="0B2B4E"/>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Do an MBA </a:t>
            </a:r>
            <a:r>
              <a:rPr sz="2600" b="1" i="0" dirty="0">
                <a:solidFill>
                  <a:srgbClr val="0B2B4E"/>
                </a:solidFill>
                <a:latin typeface="Calibri"/>
              </a:rPr>
              <a:t>OR </a:t>
            </a:r>
            <a:r>
              <a:rPr sz="2600" b="0" i="0" dirty="0">
                <a:solidFill>
                  <a:srgbClr val="0B2B4E"/>
                </a:solidFill>
                <a:latin typeface="Calibri"/>
              </a:rPr>
              <a:t>travel?</a:t>
            </a:r>
            <a:endParaRPr lang="en-US" sz="2600" b="0" i="0" dirty="0">
              <a:solidFill>
                <a:srgbClr val="0B2B4E"/>
              </a:solidFill>
              <a:latin typeface="Calibri"/>
            </a:endParaRPr>
          </a:p>
          <a:p>
            <a:pPr marL="274320" indent="-274320">
              <a:spcAft>
                <a:spcPts val="1400"/>
              </a:spcAft>
              <a:buClr>
                <a:srgbClr val="0B2B4E"/>
              </a:buClr>
              <a:buSzPct val="100000"/>
              <a:buFont typeface="Calibri"/>
              <a:buChar char="▪"/>
            </a:pPr>
            <a:endParaRPr sz="2600" b="0" i="0" dirty="0">
              <a:solidFill>
                <a:srgbClr val="0B2B4E"/>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Pay tuition </a:t>
            </a:r>
            <a:r>
              <a:rPr sz="2600" b="1" i="0" dirty="0">
                <a:solidFill>
                  <a:srgbClr val="0B2B4E"/>
                </a:solidFill>
                <a:latin typeface="Calibri"/>
              </a:rPr>
              <a:t>OR</a:t>
            </a:r>
            <a:r>
              <a:rPr sz="2600" b="0" i="0" dirty="0">
                <a:solidFill>
                  <a:srgbClr val="0B2B4E"/>
                </a:solidFill>
                <a:latin typeface="Calibri"/>
              </a:rPr>
              <a:t> invest money?</a:t>
            </a:r>
          </a:p>
        </p:txBody>
      </p:sp>
      <p:sp>
        <p:nvSpPr>
          <p:cNvPr id="12" name="Parallelogram 11">
            <a:extLst>
              <a:ext uri="{FF2B5EF4-FFF2-40B4-BE49-F238E27FC236}">
                <a16:creationId xmlns:a16="http://schemas.microsoft.com/office/drawing/2014/main" id="{F7806D65-C782-A664-830C-D6786F57F4C7}"/>
              </a:ext>
            </a:extLst>
          </p:cNvPr>
          <p:cNvSpPr/>
          <p:nvPr/>
        </p:nvSpPr>
        <p:spPr>
          <a:xfrm>
            <a:off x="9133726" y="5733002"/>
            <a:ext cx="2753474" cy="729442"/>
          </a:xfrm>
          <a:prstGeom prst="parallelogram">
            <a:avLst>
              <a:gd name="adj" fmla="val 18000"/>
            </a:avLst>
          </a:prstGeom>
          <a:solidFill>
            <a:srgbClr val="E09F3E"/>
          </a:solidFill>
          <a:ln>
            <a:noFill/>
          </a:ln>
          <a:effectLst>
            <a:outerShdw blurRad="36576" dist="27432"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2000" b="1" i="0" dirty="0">
                <a:solidFill>
                  <a:srgbClr val="0B2B4E"/>
                </a:solidFill>
                <a:latin typeface="Calibri"/>
              </a:rPr>
              <a:t>Class 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Opportunity Costs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Flip a House or Work?</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23</a:t>
            </a:r>
            <a:endParaRPr sz="1100" b="0" i="0" dirty="0">
              <a:solidFill>
                <a:srgbClr val="555B66"/>
              </a:solidFill>
              <a:latin typeface="Calibri"/>
            </a:endParaRPr>
          </a:p>
        </p:txBody>
      </p:sp>
      <p:sp>
        <p:nvSpPr>
          <p:cNvPr id="10" name="A_0"/>
          <p:cNvSpPr txBox="1"/>
          <p:nvPr/>
        </p:nvSpPr>
        <p:spPr>
          <a:xfrm>
            <a:off x="640080" y="1572768"/>
            <a:ext cx="10972800" cy="4024179"/>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Flip house:</a:t>
            </a:r>
          </a:p>
          <a:p>
            <a:pPr marL="731520" lvl="1" indent="-274320">
              <a:spcAft>
                <a:spcPts val="1400"/>
              </a:spcAft>
              <a:buClr>
                <a:srgbClr val="0B2B4E"/>
              </a:buClr>
              <a:buSzPct val="100000"/>
              <a:buFont typeface="Calibri"/>
              <a:buChar char="▪"/>
            </a:pPr>
            <a:r>
              <a:rPr lang="en-US" sz="2000" dirty="0">
                <a:solidFill>
                  <a:srgbClr val="0B2B4E"/>
                </a:solidFill>
              </a:rPr>
              <a:t>1 year of full-time work</a:t>
            </a:r>
          </a:p>
          <a:p>
            <a:pPr marL="731520" lvl="1" indent="-274320">
              <a:spcAft>
                <a:spcPts val="1400"/>
              </a:spcAft>
              <a:buClr>
                <a:srgbClr val="0B2B4E"/>
              </a:buClr>
              <a:buSzPct val="100000"/>
              <a:buFont typeface="Calibri"/>
              <a:buChar char="▪"/>
            </a:pPr>
            <a:r>
              <a:rPr lang="en-US" sz="2000" dirty="0">
                <a:solidFill>
                  <a:srgbClr val="0B2B4E"/>
                </a:solidFill>
              </a:rPr>
              <a:t>Buy for 500k</a:t>
            </a:r>
          </a:p>
          <a:p>
            <a:pPr marL="731520" lvl="1" indent="-274320">
              <a:spcAft>
                <a:spcPts val="1400"/>
              </a:spcAft>
              <a:buClr>
                <a:srgbClr val="0B2B4E"/>
              </a:buClr>
              <a:buSzPct val="100000"/>
              <a:buFont typeface="Calibri"/>
              <a:buChar char="▪"/>
            </a:pPr>
            <a:r>
              <a:rPr lang="en-US" sz="2000" dirty="0">
                <a:solidFill>
                  <a:srgbClr val="0B2B4E"/>
                </a:solidFill>
              </a:rPr>
              <a:t>Invest another 100k (+ your full time)</a:t>
            </a:r>
          </a:p>
          <a:p>
            <a:pPr marL="731520" lvl="1" indent="-274320">
              <a:spcAft>
                <a:spcPts val="1400"/>
              </a:spcAft>
              <a:buClr>
                <a:srgbClr val="0B2B4E"/>
              </a:buClr>
              <a:buSzPct val="100000"/>
              <a:buFont typeface="Calibri"/>
              <a:buChar char="▪"/>
            </a:pPr>
            <a:r>
              <a:rPr lang="en-US" sz="2000" dirty="0">
                <a:solidFill>
                  <a:srgbClr val="0B2B4E"/>
                </a:solidFill>
              </a:rPr>
              <a:t>Expected sale price in a year: 700k</a:t>
            </a:r>
          </a:p>
          <a:p>
            <a:pPr marL="731520" lvl="1" indent="-274320">
              <a:spcAft>
                <a:spcPts val="1400"/>
              </a:spcAft>
              <a:buClr>
                <a:srgbClr val="0B2B4E"/>
              </a:buClr>
              <a:buSzPct val="100000"/>
              <a:buFont typeface="Calibri"/>
              <a:buChar char="▪"/>
            </a:pPr>
            <a:endParaRPr lang="en-US" sz="2000" dirty="0">
              <a:solidFill>
                <a:srgbClr val="0B2B4E"/>
              </a:solidFill>
            </a:endParaRPr>
          </a:p>
          <a:p>
            <a:pPr marL="731520" lvl="1" indent="-274320">
              <a:spcAft>
                <a:spcPts val="1400"/>
              </a:spcAft>
              <a:buClr>
                <a:srgbClr val="0B2B4E"/>
              </a:buClr>
              <a:buSzPct val="100000"/>
              <a:buFont typeface="Calibri"/>
              <a:buChar char="▪"/>
            </a:pPr>
            <a:endParaRPr lang="en-US" sz="2000" dirty="0">
              <a:solidFill>
                <a:srgbClr val="0B2B4E"/>
              </a:solidFill>
            </a:endParaRPr>
          </a:p>
          <a:p>
            <a:pPr marL="603504" lvl="1" indent="-603504">
              <a:spcAft>
                <a:spcPts val="300"/>
              </a:spcAft>
              <a:buClr>
                <a:srgbClr val="555B66"/>
              </a:buClr>
              <a:buSzPct val="100000"/>
              <a:buFont typeface="Calibri"/>
              <a:buChar char="–"/>
            </a:pPr>
            <a:endParaRPr sz="2000" b="0" i="0" dirty="0">
              <a:solidFill>
                <a:srgbClr val="0B2B4E"/>
              </a:solidFill>
              <a:latin typeface="Calibri"/>
            </a:endParaRPr>
          </a:p>
          <a:p>
            <a:pPr marL="603504" lvl="1" indent="-603504">
              <a:spcAft>
                <a:spcPts val="300"/>
              </a:spcAft>
              <a:buClr>
                <a:srgbClr val="555B66"/>
              </a:buClr>
              <a:buSzPct val="100000"/>
              <a:buFont typeface="Calibri"/>
              <a:buChar char="–"/>
            </a:pPr>
            <a:endParaRPr sz="2000" b="0" i="0" dirty="0">
              <a:solidFill>
                <a:srgbClr val="0B2B4E"/>
              </a:solidFill>
              <a:latin typeface="Calibri"/>
            </a:endParaRPr>
          </a:p>
        </p:txBody>
      </p:sp>
      <p:sp>
        <p:nvSpPr>
          <p:cNvPr id="11" name="B_0"/>
          <p:cNvSpPr txBox="1"/>
          <p:nvPr/>
        </p:nvSpPr>
        <p:spPr>
          <a:xfrm>
            <a:off x="640080" y="3894912"/>
            <a:ext cx="10972800" cy="1908215"/>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Consulting job offer:</a:t>
            </a:r>
            <a:endParaRPr lang="en-US" sz="2400" b="0" i="0" dirty="0">
              <a:solidFill>
                <a:srgbClr val="0B2B4E"/>
              </a:solidFill>
              <a:latin typeface="Calibri"/>
            </a:endParaRPr>
          </a:p>
          <a:p>
            <a:pPr marL="731520" lvl="1" indent="-274320">
              <a:spcAft>
                <a:spcPts val="600"/>
              </a:spcAft>
              <a:buClr>
                <a:srgbClr val="0B2B4E"/>
              </a:buClr>
              <a:buSzPct val="100000"/>
              <a:buFont typeface="Calibri"/>
              <a:buChar char="▪"/>
            </a:pPr>
            <a:r>
              <a:rPr lang="en-US" sz="2000" dirty="0">
                <a:solidFill>
                  <a:srgbClr val="0B2B4E"/>
                </a:solidFill>
              </a:rPr>
              <a:t>Full-time job </a:t>
            </a:r>
            <a:r>
              <a:rPr lang="en-US" sz="2000" dirty="0">
                <a:solidFill>
                  <a:srgbClr val="555B66"/>
                </a:solidFill>
              </a:rPr>
              <a:t>(not compatible with flipping the house)</a:t>
            </a:r>
          </a:p>
          <a:p>
            <a:pPr marL="731520" lvl="1" indent="-274320">
              <a:spcAft>
                <a:spcPts val="600"/>
              </a:spcAft>
              <a:buClr>
                <a:srgbClr val="0B2B4E"/>
              </a:buClr>
              <a:buSzPct val="100000"/>
              <a:buFont typeface="Calibri"/>
              <a:buChar char="▪"/>
            </a:pPr>
            <a:r>
              <a:rPr lang="en-US" sz="2000" dirty="0">
                <a:solidFill>
                  <a:srgbClr val="0B2B4E"/>
                </a:solidFill>
              </a:rPr>
              <a:t>Pays 150K</a:t>
            </a:r>
          </a:p>
          <a:p>
            <a:pPr marL="731520" lvl="1" indent="-274320">
              <a:spcAft>
                <a:spcPts val="600"/>
              </a:spcAft>
              <a:buClr>
                <a:srgbClr val="0B2B4E"/>
              </a:buClr>
              <a:buSzPct val="100000"/>
              <a:buFont typeface="Calibri"/>
              <a:buChar char="▪"/>
            </a:pPr>
            <a:endParaRPr lang="en-US" sz="2000" dirty="0">
              <a:solidFill>
                <a:srgbClr val="555B66"/>
              </a:solidFill>
            </a:endParaRPr>
          </a:p>
          <a:p>
            <a:pPr marL="731520" lvl="1" indent="-274320">
              <a:spcAft>
                <a:spcPts val="600"/>
              </a:spcAft>
              <a:buClr>
                <a:srgbClr val="0B2B4E"/>
              </a:buClr>
              <a:buSzPct val="100000"/>
              <a:buFont typeface="Calibri"/>
              <a:buChar char="▪"/>
            </a:pPr>
            <a:endParaRPr lang="en-US" sz="2000" dirty="0">
              <a:solidFill>
                <a:srgbClr val="0B2B4E"/>
              </a:solidFill>
            </a:endParaRPr>
          </a:p>
        </p:txBody>
      </p:sp>
      <p:sp>
        <p:nvSpPr>
          <p:cNvPr id="12" name="Cq_0"/>
          <p:cNvSpPr txBox="1"/>
          <p:nvPr/>
        </p:nvSpPr>
        <p:spPr>
          <a:xfrm>
            <a:off x="640080" y="5189874"/>
            <a:ext cx="10972800" cy="54864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400" b="0" i="0" dirty="0">
                <a:solidFill>
                  <a:srgbClr val="0B2B4E"/>
                </a:solidFill>
                <a:latin typeface="Calibri"/>
              </a:rPr>
              <a:t>W</a:t>
            </a:r>
            <a:r>
              <a:rPr lang="en-US" sz="2400" b="0" i="0" dirty="0">
                <a:solidFill>
                  <a:srgbClr val="0B2B4E"/>
                </a:solidFill>
                <a:latin typeface="Calibri"/>
              </a:rPr>
              <a:t>hat is the </a:t>
            </a:r>
            <a:r>
              <a:rPr lang="en-US" sz="2400" b="0" i="0" dirty="0">
                <a:solidFill>
                  <a:srgbClr val="C0201B"/>
                </a:solidFill>
                <a:latin typeface="Calibri"/>
              </a:rPr>
              <a:t>economic</a:t>
            </a:r>
            <a:r>
              <a:rPr lang="en-US" sz="2400" b="0" i="0" dirty="0">
                <a:solidFill>
                  <a:srgbClr val="0B2B4E"/>
                </a:solidFill>
                <a:latin typeface="Calibri"/>
              </a:rPr>
              <a:t> profit of flipping the house?</a:t>
            </a:r>
          </a:p>
        </p:txBody>
      </p:sp>
      <p:sp>
        <p:nvSpPr>
          <p:cNvPr id="13" name="Rounded Rectangle 12"/>
          <p:cNvSpPr/>
          <p:nvPr/>
        </p:nvSpPr>
        <p:spPr>
          <a:xfrm>
            <a:off x="548640" y="5870448"/>
            <a:ext cx="2743200" cy="457200"/>
          </a:xfrm>
          <a:prstGeom prst="roundRect">
            <a:avLst>
              <a:gd name="adj" fmla="val 20000"/>
            </a:avLst>
          </a:prstGeom>
          <a:solidFill>
            <a:srgbClr val="E8E8E8"/>
          </a:solid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lIns="146304" rtlCol="0" anchor="ctr"/>
          <a:lstStyle/>
          <a:p>
            <a:pPr algn="ctr"/>
            <a:r>
              <a:rPr sz="1800" b="1" i="0" dirty="0">
                <a:solidFill>
                  <a:srgbClr val="C0201B"/>
                </a:solidFill>
                <a:latin typeface="Calibri"/>
              </a:rPr>
              <a:t>➜  </a:t>
            </a:r>
            <a:r>
              <a:rPr sz="1700" b="0" i="0" dirty="0">
                <a:solidFill>
                  <a:srgbClr val="0B2B4E"/>
                </a:solidFill>
                <a:latin typeface="Calibri"/>
              </a:rPr>
              <a:t>Problem Set 1, #1</a:t>
            </a:r>
          </a:p>
        </p:txBody>
      </p:sp>
      <p:sp>
        <p:nvSpPr>
          <p:cNvPr id="15" name="Rounded Rectangle 14">
            <a:extLst>
              <a:ext uri="{FF2B5EF4-FFF2-40B4-BE49-F238E27FC236}">
                <a16:creationId xmlns:a16="http://schemas.microsoft.com/office/drawing/2014/main" id="{9719B97B-3222-0A3A-2FFE-0077F3253BCB}"/>
              </a:ext>
            </a:extLst>
          </p:cNvPr>
          <p:cNvSpPr/>
          <p:nvPr/>
        </p:nvSpPr>
        <p:spPr>
          <a:xfrm>
            <a:off x="9768535" y="5989320"/>
            <a:ext cx="210312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dirty="0" err="1">
                <a:solidFill>
                  <a:srgbClr val="0B2B4E"/>
                </a:solidFill>
                <a:latin typeface="Calibri"/>
              </a:rPr>
              <a:t>PollEV</a:t>
            </a:r>
            <a:endParaRPr sz="1600" b="1" i="0"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Opportunity Costs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What is the economic profit of flipping the house?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24</a:t>
            </a:r>
            <a:endParaRPr sz="1100" b="0" i="0" dirty="0">
              <a:solidFill>
                <a:srgbClr val="555B66"/>
              </a:solidFill>
              <a:latin typeface="Calibri"/>
            </a:endParaRPr>
          </a:p>
        </p:txBody>
      </p:sp>
      <p:pic>
        <p:nvPicPr>
          <p:cNvPr id="10" name="Picture 9" descr="pollq2.png"/>
          <p:cNvPicPr>
            <a:picLocks noChangeAspect="1"/>
          </p:cNvPicPr>
          <p:nvPr/>
        </p:nvPicPr>
        <p:blipFill>
          <a:blip r:embed="rId3"/>
          <a:stretch>
            <a:fillRect/>
          </a:stretch>
        </p:blipFill>
        <p:spPr>
          <a:xfrm>
            <a:off x="2895447" y="1783080"/>
            <a:ext cx="6400800" cy="4409568"/>
          </a:xfrm>
          <a:prstGeom prst="rect">
            <a:avLst/>
          </a:prstGeom>
          <a:ln w="12700">
            <a:solidFill>
              <a:srgbClr val="C8CDD3"/>
            </a:solidFill>
          </a:ln>
          <a:effectLst>
            <a:outerShdw blurRad="54864" dist="36576" dir="5400000" rotWithShape="0">
              <a:srgbClr val="000000">
                <a:alpha val="4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Opportunity Costs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What is the economic profit of flipping the house?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25</a:t>
            </a:r>
            <a:endParaRPr sz="1100" b="0" i="0" dirty="0">
              <a:solidFill>
                <a:srgbClr val="555B66"/>
              </a:solidFill>
              <a:latin typeface="Calibri"/>
            </a:endParaRPr>
          </a:p>
        </p:txBody>
      </p:sp>
      <p:pic>
        <p:nvPicPr>
          <p:cNvPr id="10" name="Picture 9" descr="pollres.png"/>
          <p:cNvPicPr>
            <a:picLocks noChangeAspect="1"/>
          </p:cNvPicPr>
          <p:nvPr/>
        </p:nvPicPr>
        <p:blipFill>
          <a:blip r:embed="rId3"/>
          <a:stretch>
            <a:fillRect/>
          </a:stretch>
        </p:blipFill>
        <p:spPr>
          <a:xfrm>
            <a:off x="2895447" y="1783080"/>
            <a:ext cx="6400800" cy="4409568"/>
          </a:xfrm>
          <a:prstGeom prst="rect">
            <a:avLst/>
          </a:prstGeom>
          <a:ln w="12700">
            <a:solidFill>
              <a:srgbClr val="C8CDD3"/>
            </a:solidFill>
          </a:ln>
          <a:effectLst>
            <a:outerShdw blurRad="54864" dist="36576" dir="5400000" rotWithShape="0">
              <a:srgbClr val="000000">
                <a:alpha val="4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Opportunity Costs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Solution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26</a:t>
            </a:r>
            <a:endParaRPr sz="1100" b="0" i="0" dirty="0">
              <a:solidFill>
                <a:srgbClr val="555B66"/>
              </a:solidFill>
              <a:latin typeface="Calibri"/>
            </a:endParaRPr>
          </a:p>
        </p:txBody>
      </p:sp>
      <p:sp>
        <p:nvSpPr>
          <p:cNvPr id="10" name="S1_0"/>
          <p:cNvSpPr txBox="1"/>
          <p:nvPr/>
        </p:nvSpPr>
        <p:spPr>
          <a:xfrm>
            <a:off x="640080" y="1572768"/>
            <a:ext cx="10972800" cy="2113399"/>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Flip the house:</a:t>
            </a:r>
          </a:p>
          <a:p>
            <a:pPr marL="603504" lvl="1" indent="-603504">
              <a:spcAft>
                <a:spcPts val="300"/>
              </a:spcAft>
              <a:buClr>
                <a:srgbClr val="555B66"/>
              </a:buClr>
              <a:buSzPct val="100000"/>
              <a:buFont typeface="Calibri"/>
              <a:buChar char="–"/>
            </a:pPr>
            <a:r>
              <a:rPr sz="2000" b="0" i="0" dirty="0">
                <a:solidFill>
                  <a:schemeClr val="tx1">
                    <a:lumMod val="50000"/>
                    <a:lumOff val="50000"/>
                  </a:schemeClr>
                </a:solidFill>
                <a:latin typeface="Calibri"/>
              </a:rPr>
              <a:t>Economic revenues: 700k</a:t>
            </a:r>
          </a:p>
          <a:p>
            <a:pPr marL="603504" lvl="1" indent="-603504">
              <a:spcAft>
                <a:spcPts val="200"/>
              </a:spcAft>
              <a:buClr>
                <a:srgbClr val="555B66"/>
              </a:buClr>
              <a:buSzPct val="100000"/>
              <a:buFont typeface="Calibri"/>
              <a:buChar char="–"/>
            </a:pPr>
            <a:r>
              <a:rPr sz="2000" b="0" i="0" dirty="0">
                <a:solidFill>
                  <a:schemeClr val="tx1">
                    <a:lumMod val="50000"/>
                    <a:lumOff val="50000"/>
                  </a:schemeClr>
                </a:solidFill>
                <a:latin typeface="Calibri"/>
              </a:rPr>
              <a:t>Explicit costs: 600k</a:t>
            </a:r>
          </a:p>
          <a:p>
            <a:pPr lvl="2" indent="-285750">
              <a:spcAft>
                <a:spcPts val="300"/>
              </a:spcAft>
              <a:buClr>
                <a:srgbClr val="555B66"/>
              </a:buClr>
              <a:buSzPct val="80000"/>
              <a:buFont typeface="Calibri"/>
              <a:buChar char="•"/>
            </a:pPr>
            <a:r>
              <a:rPr sz="2000" b="0" i="0" dirty="0">
                <a:solidFill>
                  <a:schemeClr val="tx1">
                    <a:lumMod val="50000"/>
                    <a:lumOff val="50000"/>
                  </a:schemeClr>
                </a:solidFill>
                <a:latin typeface="Calibri"/>
              </a:rPr>
              <a:t>500k for the purchase, 100k for remodeling</a:t>
            </a:r>
          </a:p>
          <a:p>
            <a:pPr marL="603504" lvl="1" indent="-603504">
              <a:spcAft>
                <a:spcPts val="200"/>
              </a:spcAft>
              <a:buClr>
                <a:srgbClr val="555B66"/>
              </a:buClr>
              <a:buSzPct val="100000"/>
              <a:buFont typeface="Calibri"/>
              <a:buChar char="–"/>
            </a:pPr>
            <a:r>
              <a:rPr sz="2000" b="0" i="0" dirty="0">
                <a:solidFill>
                  <a:schemeClr val="tx1">
                    <a:lumMod val="50000"/>
                    <a:lumOff val="50000"/>
                  </a:schemeClr>
                </a:solidFill>
                <a:latin typeface="Calibri"/>
              </a:rPr>
              <a:t>Implicit (opportunity) costs: 150k</a:t>
            </a:r>
          </a:p>
          <a:p>
            <a:pPr lvl="2" indent="-285750">
              <a:spcAft>
                <a:spcPts val="300"/>
              </a:spcAft>
              <a:buClr>
                <a:srgbClr val="555B66"/>
              </a:buClr>
              <a:buSzPct val="80000"/>
              <a:buFont typeface="Calibri"/>
              <a:buChar char="•"/>
            </a:pPr>
            <a:r>
              <a:rPr sz="2000" b="0" i="0" dirty="0">
                <a:solidFill>
                  <a:schemeClr val="tx1">
                    <a:lumMod val="50000"/>
                    <a:lumOff val="50000"/>
                  </a:schemeClr>
                </a:solidFill>
                <a:latin typeface="Calibri"/>
              </a:rPr>
              <a:t>The ‘lost opportunity’ to take the consulting job</a:t>
            </a:r>
          </a:p>
        </p:txBody>
      </p:sp>
      <p:sp>
        <p:nvSpPr>
          <p:cNvPr id="11" name="S2_0"/>
          <p:cNvSpPr txBox="1"/>
          <p:nvPr/>
        </p:nvSpPr>
        <p:spPr>
          <a:xfrm>
            <a:off x="608076" y="3942199"/>
            <a:ext cx="10972800" cy="728405"/>
          </a:xfrm>
          <a:prstGeom prst="rect">
            <a:avLst/>
          </a:prstGeom>
          <a:noFill/>
        </p:spPr>
        <p:txBody>
          <a:bodyPr wrap="square" lIns="0" tIns="0" rIns="0" bIns="0" anchor="t">
            <a:spAutoFit/>
          </a:bodyPr>
          <a:lstStyle/>
          <a:p>
            <a:pPr marL="274320" indent="-274320">
              <a:spcAft>
                <a:spcPts val="400"/>
              </a:spcAft>
              <a:buClr>
                <a:srgbClr val="0B2B4E"/>
              </a:buClr>
              <a:buSzPct val="100000"/>
              <a:buFont typeface="Calibri"/>
              <a:buChar char="▪"/>
            </a:pPr>
            <a:r>
              <a:rPr sz="2400" b="0" i="0" dirty="0">
                <a:solidFill>
                  <a:srgbClr val="0B2B4E"/>
                </a:solidFill>
                <a:latin typeface="Calibri"/>
              </a:rPr>
              <a:t>Economic profits of flipping the house: </a:t>
            </a:r>
            <a:r>
              <a:rPr sz="2400" b="0" i="0" dirty="0">
                <a:solidFill>
                  <a:srgbClr val="C0201B"/>
                </a:solidFill>
                <a:latin typeface="Calibri"/>
              </a:rPr>
              <a:t>-50k (loss)</a:t>
            </a:r>
          </a:p>
          <a:p>
            <a:pPr marL="603504" lvl="1" indent="-603504">
              <a:spcAft>
                <a:spcPts val="0"/>
              </a:spcAft>
              <a:buClr>
                <a:srgbClr val="555B66"/>
              </a:buClr>
              <a:buSzPct val="100000"/>
              <a:buFont typeface="Calibri"/>
              <a:buChar char="–"/>
            </a:pPr>
            <a:r>
              <a:rPr sz="2000" b="0" i="0" dirty="0">
                <a:solidFill>
                  <a:schemeClr val="tx1">
                    <a:lumMod val="50000"/>
                    <a:lumOff val="50000"/>
                  </a:schemeClr>
                </a:solidFill>
                <a:latin typeface="Calibri"/>
              </a:rPr>
              <a:t>= 700k − 600k − 150k</a:t>
            </a:r>
          </a:p>
        </p:txBody>
      </p:sp>
      <p:sp>
        <p:nvSpPr>
          <p:cNvPr id="12" name="D1_0">
            <a:extLst>
              <a:ext uri="{FF2B5EF4-FFF2-40B4-BE49-F238E27FC236}">
                <a16:creationId xmlns:a16="http://schemas.microsoft.com/office/drawing/2014/main" id="{18878AA6-811F-8046-7397-07D43143054F}"/>
              </a:ext>
            </a:extLst>
          </p:cNvPr>
          <p:cNvSpPr txBox="1"/>
          <p:nvPr/>
        </p:nvSpPr>
        <p:spPr>
          <a:xfrm>
            <a:off x="576072" y="5026808"/>
            <a:ext cx="11155680" cy="1369606"/>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lang="en-US" sz="2400" b="0" i="0" dirty="0">
                <a:solidFill>
                  <a:srgbClr val="0B2B4E"/>
                </a:solidFill>
                <a:latin typeface="Calibri"/>
              </a:rPr>
              <a:t>Another consideration:</a:t>
            </a:r>
            <a:endParaRPr sz="2400" b="0" i="0" dirty="0">
              <a:solidFill>
                <a:srgbClr val="0B2B4E"/>
              </a:solidFill>
              <a:latin typeface="Calibri"/>
            </a:endParaRPr>
          </a:p>
          <a:p>
            <a:pPr marL="603504" lvl="1" indent="-603504">
              <a:spcAft>
                <a:spcPts val="0"/>
              </a:spcAft>
              <a:buClr>
                <a:srgbClr val="555B66"/>
              </a:buClr>
              <a:buSzPct val="100000"/>
              <a:buFont typeface="Calibri"/>
              <a:buChar char="–"/>
            </a:pPr>
            <a:r>
              <a:rPr sz="2000" b="0" i="0" dirty="0">
                <a:solidFill>
                  <a:srgbClr val="0B2B4E"/>
                </a:solidFill>
                <a:latin typeface="Calibri"/>
              </a:rPr>
              <a:t>What about the opportunity cost from the </a:t>
            </a:r>
            <a:r>
              <a:rPr lang="en-US" sz="2000" b="0" i="0" dirty="0">
                <a:solidFill>
                  <a:srgbClr val="0B2B4E"/>
                </a:solidFill>
                <a:latin typeface="Calibri"/>
              </a:rPr>
              <a:t>6</a:t>
            </a:r>
            <a:r>
              <a:rPr sz="2000" b="0" i="0" dirty="0">
                <a:solidFill>
                  <a:srgbClr val="0B2B4E"/>
                </a:solidFill>
                <a:latin typeface="Calibri"/>
              </a:rPr>
              <a:t>00K of investment</a:t>
            </a:r>
            <a:r>
              <a:rPr lang="en-US" sz="2000" b="0" i="0" dirty="0">
                <a:solidFill>
                  <a:srgbClr val="0B2B4E"/>
                </a:solidFill>
                <a:latin typeface="Calibri"/>
              </a:rPr>
              <a:t> (buying house + 100k investment)</a:t>
            </a:r>
            <a:r>
              <a:rPr sz="2000" b="0" i="0" dirty="0">
                <a:solidFill>
                  <a:srgbClr val="0B2B4E"/>
                </a:solidFill>
                <a:latin typeface="Calibri"/>
              </a:rPr>
              <a:t>? That could also add to </a:t>
            </a:r>
            <a:r>
              <a:rPr lang="en-US" sz="2000" b="0" i="0" dirty="0">
                <a:solidFill>
                  <a:srgbClr val="0B2B4E"/>
                </a:solidFill>
                <a:latin typeface="Calibri"/>
              </a:rPr>
              <a:t>the implicit</a:t>
            </a:r>
            <a:r>
              <a:rPr sz="2000" b="0" i="0" dirty="0">
                <a:solidFill>
                  <a:srgbClr val="0B2B4E"/>
                </a:solidFill>
                <a:latin typeface="Calibri"/>
              </a:rPr>
              <a:t> cost</a:t>
            </a:r>
            <a:r>
              <a:rPr lang="en-US" sz="2000" b="0" i="0" dirty="0">
                <a:solidFill>
                  <a:srgbClr val="0B2B4E"/>
                </a:solidFill>
                <a:latin typeface="Calibri"/>
              </a:rPr>
              <a:t>s.</a:t>
            </a:r>
          </a:p>
          <a:p>
            <a:pPr marL="603504" lvl="1" indent="-603504">
              <a:spcAft>
                <a:spcPts val="0"/>
              </a:spcAft>
              <a:buClr>
                <a:srgbClr val="555B66"/>
              </a:buClr>
              <a:buSzPct val="100000"/>
              <a:buFont typeface="Calibri"/>
              <a:buChar char="–"/>
            </a:pPr>
            <a:r>
              <a:rPr lang="en-US" sz="2000" dirty="0">
                <a:solidFill>
                  <a:srgbClr val="0B2B4E"/>
                </a:solidFill>
                <a:latin typeface="Calibri"/>
                <a:hlinkClick r:id="rId3"/>
              </a:rPr>
              <a:t>Podcast</a:t>
            </a:r>
            <a:endParaRPr sz="2000" b="0" i="0" dirty="0">
              <a:solidFill>
                <a:srgbClr val="0B2B4E"/>
              </a:solidFill>
              <a:latin typeface="Calibri"/>
            </a:endParaRPr>
          </a:p>
        </p:txBody>
      </p:sp>
      <p:pic>
        <p:nvPicPr>
          <p:cNvPr id="13" name="D2_1" descr="nyt.png">
            <a:extLst>
              <a:ext uri="{FF2B5EF4-FFF2-40B4-BE49-F238E27FC236}">
                <a16:creationId xmlns:a16="http://schemas.microsoft.com/office/drawing/2014/main" id="{A5687C8B-FC36-F300-851C-14C2A1C1FD2B}"/>
              </a:ext>
            </a:extLst>
          </p:cNvPr>
          <p:cNvPicPr>
            <a:picLocks noChangeAspect="1"/>
          </p:cNvPicPr>
          <p:nvPr/>
        </p:nvPicPr>
        <p:blipFill>
          <a:blip r:embed="rId4"/>
          <a:stretch>
            <a:fillRect/>
          </a:stretch>
        </p:blipFill>
        <p:spPr>
          <a:xfrm>
            <a:off x="5636470" y="5801280"/>
            <a:ext cx="4661416" cy="672673"/>
          </a:xfrm>
          <a:prstGeom prst="rect">
            <a:avLst/>
          </a:prstGeom>
          <a:effectLst>
            <a:outerShdw blurRad="45720" dist="27432" dir="5400000" rotWithShape="0">
              <a:srgbClr val="000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The Economic Way of Thinking · Opportunity Costs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What is the Entrepreneur's Economic Profit after </a:t>
            </a:r>
            <a:r>
              <a:rPr lang="en-US" sz="3000" b="1" i="0" dirty="0">
                <a:solidFill>
                  <a:srgbClr val="0B2B4E"/>
                </a:solidFill>
                <a:latin typeface="Calibri"/>
              </a:rPr>
              <a:t>O</a:t>
            </a:r>
            <a:r>
              <a:rPr sz="3000" b="1" i="0" dirty="0">
                <a:solidFill>
                  <a:srgbClr val="0B2B4E"/>
                </a:solidFill>
                <a:latin typeface="Calibri"/>
              </a:rPr>
              <a:t>ne </a:t>
            </a:r>
            <a:r>
              <a:rPr lang="en-US" sz="3000" b="1" dirty="0">
                <a:solidFill>
                  <a:srgbClr val="0B2B4E"/>
                </a:solidFill>
                <a:latin typeface="Calibri"/>
              </a:rPr>
              <a:t>Y</a:t>
            </a:r>
            <a:r>
              <a:rPr sz="3000" b="1" i="0" dirty="0">
                <a:solidFill>
                  <a:srgbClr val="0B2B4E"/>
                </a:solidFill>
                <a:latin typeface="Calibri"/>
              </a:rPr>
              <a:t>ear?</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23</a:t>
            </a:r>
          </a:p>
        </p:txBody>
      </p:sp>
      <p:sp>
        <p:nvSpPr>
          <p:cNvPr id="10" name="BUILD"/>
          <p:cNvSpPr txBox="1"/>
          <p:nvPr/>
        </p:nvSpPr>
        <p:spPr>
          <a:xfrm>
            <a:off x="640080" y="1691640"/>
            <a:ext cx="10881360" cy="3975447"/>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500" b="0" i="0" dirty="0">
                <a:solidFill>
                  <a:srgbClr val="0B2B4E"/>
                </a:solidFill>
                <a:latin typeface="Calibri"/>
              </a:rPr>
              <a:t>Cindy, a young entrepreneur, is deciding whether to start a company</a:t>
            </a:r>
          </a:p>
          <a:p>
            <a:pPr marL="731520" lvl="1" indent="-274320">
              <a:spcAft>
                <a:spcPts val="1400"/>
              </a:spcAft>
              <a:buClr>
                <a:srgbClr val="0B2B4E"/>
              </a:buClr>
              <a:buSzPct val="100000"/>
              <a:buFont typeface="Calibri"/>
              <a:buChar char="▪"/>
            </a:pPr>
            <a:r>
              <a:rPr sz="2500" b="0" i="0" dirty="0">
                <a:solidFill>
                  <a:srgbClr val="0B2B4E"/>
                </a:solidFill>
                <a:latin typeface="Calibri"/>
              </a:rPr>
              <a:t>Projected annual revenues = $300,000</a:t>
            </a:r>
          </a:p>
          <a:p>
            <a:pPr marL="731520" lvl="1" indent="-274320">
              <a:spcAft>
                <a:spcPts val="1400"/>
              </a:spcAft>
              <a:buClr>
                <a:srgbClr val="0B2B4E"/>
              </a:buClr>
              <a:buSzPct val="100000"/>
              <a:buFont typeface="Calibri"/>
              <a:buChar char="▪"/>
            </a:pPr>
            <a:r>
              <a:rPr sz="2500" b="0" i="0" dirty="0">
                <a:solidFill>
                  <a:srgbClr val="0B2B4E"/>
                </a:solidFill>
                <a:latin typeface="Calibri"/>
              </a:rPr>
              <a:t>Projected annual explicit costs = $200,000</a:t>
            </a:r>
          </a:p>
          <a:p>
            <a:pPr marL="274320" indent="-274320">
              <a:spcAft>
                <a:spcPts val="1400"/>
              </a:spcAft>
              <a:buClr>
                <a:srgbClr val="0B2B4E"/>
              </a:buClr>
              <a:buSzPct val="100000"/>
              <a:buFont typeface="Calibri"/>
              <a:buChar char="▪"/>
            </a:pPr>
            <a:r>
              <a:rPr sz="2500" b="0" i="0" dirty="0">
                <a:solidFill>
                  <a:srgbClr val="0B2B4E"/>
                </a:solidFill>
                <a:latin typeface="Calibri"/>
              </a:rPr>
              <a:t>Personal capital Cindy has to invest in her startup=$50,000 (principal is recovered after 1 year)</a:t>
            </a:r>
          </a:p>
          <a:p>
            <a:pPr marL="274320" indent="-274320">
              <a:spcAft>
                <a:spcPts val="1400"/>
              </a:spcAft>
              <a:buClr>
                <a:srgbClr val="0B2B4E"/>
              </a:buClr>
              <a:buSzPct val="100000"/>
              <a:buFont typeface="Calibri"/>
              <a:buChar char="▪"/>
            </a:pPr>
            <a:r>
              <a:rPr sz="2500" b="0" i="0" dirty="0">
                <a:solidFill>
                  <a:srgbClr val="0B2B4E"/>
                </a:solidFill>
                <a:latin typeface="Calibri"/>
              </a:rPr>
              <a:t>Market rate of interest</a:t>
            </a:r>
            <a:r>
              <a:rPr lang="en-US" sz="2500" b="0" i="0" dirty="0">
                <a:solidFill>
                  <a:srgbClr val="0B2B4E"/>
                </a:solidFill>
                <a:latin typeface="Calibri"/>
              </a:rPr>
              <a:t> </a:t>
            </a:r>
            <a:r>
              <a:rPr sz="2500" b="0" i="0" dirty="0">
                <a:solidFill>
                  <a:srgbClr val="0B2B4E"/>
                </a:solidFill>
                <a:latin typeface="Calibri"/>
              </a:rPr>
              <a:t>=</a:t>
            </a:r>
            <a:r>
              <a:rPr lang="en-US" sz="2500" b="0" i="0" dirty="0">
                <a:solidFill>
                  <a:srgbClr val="0B2B4E"/>
                </a:solidFill>
                <a:latin typeface="Calibri"/>
              </a:rPr>
              <a:t> </a:t>
            </a:r>
            <a:r>
              <a:rPr sz="2500" b="0" i="0" dirty="0">
                <a:solidFill>
                  <a:srgbClr val="0B2B4E"/>
                </a:solidFill>
                <a:latin typeface="Calibri"/>
              </a:rPr>
              <a:t>6%</a:t>
            </a:r>
          </a:p>
          <a:p>
            <a:pPr marL="274320" indent="-274320">
              <a:spcAft>
                <a:spcPts val="1400"/>
              </a:spcAft>
              <a:buClr>
                <a:srgbClr val="0B2B4E"/>
              </a:buClr>
              <a:buSzPct val="100000"/>
              <a:buFont typeface="Calibri"/>
              <a:buChar char="▪"/>
            </a:pPr>
            <a:r>
              <a:rPr sz="2500" b="0" i="0" dirty="0">
                <a:solidFill>
                  <a:srgbClr val="0B2B4E"/>
                </a:solidFill>
                <a:latin typeface="Calibri"/>
              </a:rPr>
              <a:t>Cindy is also offered a job in consulting with a net income of $150,000 per year. She cannot take it if she starts her company</a:t>
            </a:r>
          </a:p>
        </p:txBody>
      </p:sp>
      <p:sp>
        <p:nvSpPr>
          <p:cNvPr id="11" name="Rounded Rectangle 10"/>
          <p:cNvSpPr/>
          <p:nvPr/>
        </p:nvSpPr>
        <p:spPr>
          <a:xfrm>
            <a:off x="9768535" y="5989320"/>
            <a:ext cx="210312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dirty="0" err="1">
                <a:solidFill>
                  <a:srgbClr val="0B2B4E"/>
                </a:solidFill>
                <a:latin typeface="Calibri"/>
              </a:rPr>
              <a:t>PollEV</a:t>
            </a:r>
            <a:endParaRPr sz="1600" b="1" i="0"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sz="1600" b="1" i="0" dirty="0">
                <a:solidFill>
                  <a:srgbClr val="FFFFFF"/>
                </a:solidFill>
                <a:latin typeface="Calibri"/>
              </a:rPr>
              <a:t>The Economic Way of Thinking · </a:t>
            </a:r>
            <a:r>
              <a:rPr lang="en-US" sz="1600" b="1" dirty="0">
                <a:solidFill>
                  <a:srgbClr val="FFFFFF"/>
                </a:solidFill>
              </a:rPr>
              <a:t>Opportunity Costs</a:t>
            </a:r>
            <a:endParaRPr sz="1600" b="1" i="0" dirty="0">
              <a:solidFill>
                <a:srgbClr val="FFFFFF"/>
              </a:solidFill>
              <a:latin typeface="Calibri"/>
            </a:endParaRP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24</a:t>
            </a:r>
          </a:p>
        </p:txBody>
      </p:sp>
      <p:pic>
        <p:nvPicPr>
          <p:cNvPr id="10" name="Picture 9" descr="s24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sz="1600" b="1" i="0" dirty="0">
                <a:solidFill>
                  <a:srgbClr val="FFFFFF"/>
                </a:solidFill>
                <a:latin typeface="Calibri"/>
              </a:rPr>
              <a:t>The Economic Way of Thinking · </a:t>
            </a:r>
            <a:r>
              <a:rPr lang="en-US" sz="1600" b="1" dirty="0">
                <a:solidFill>
                  <a:srgbClr val="FFFFFF"/>
                </a:solidFill>
              </a:rPr>
              <a:t>Opportunity Costs</a:t>
            </a:r>
            <a:endParaRPr sz="1600" b="1" i="0" dirty="0">
              <a:solidFill>
                <a:srgbClr val="FFFFFF"/>
              </a:solidFill>
              <a:latin typeface="Calibri"/>
            </a:endParaRP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25</a:t>
            </a:r>
          </a:p>
        </p:txBody>
      </p:sp>
      <p:pic>
        <p:nvPicPr>
          <p:cNvPr id="10" name="Picture 9" descr="s25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Opportunity Costs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Solution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26</a:t>
            </a:r>
          </a:p>
        </p:txBody>
      </p:sp>
      <p:sp>
        <p:nvSpPr>
          <p:cNvPr id="10" name="BUILD"/>
          <p:cNvSpPr txBox="1"/>
          <p:nvPr/>
        </p:nvSpPr>
        <p:spPr>
          <a:xfrm>
            <a:off x="640080" y="1691640"/>
            <a:ext cx="10881360" cy="3949799"/>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400" b="0" i="0" dirty="0">
                <a:solidFill>
                  <a:srgbClr val="0B2B4E"/>
                </a:solidFill>
                <a:latin typeface="Calibri"/>
              </a:rPr>
              <a:t>If Cindy starts her own company: $100,000</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Revenue – explicit costs </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$300,000-$200,000=$100,000</a:t>
            </a:r>
            <a:endParaRPr lang="en-US" sz="2000" b="0" i="0" dirty="0">
              <a:solidFill>
                <a:schemeClr val="bg1">
                  <a:lumMod val="50000"/>
                </a:schemeClr>
              </a:solidFill>
              <a:latin typeface="Calibri"/>
            </a:endParaRPr>
          </a:p>
          <a:p>
            <a:pPr marL="603504" lvl="1" indent="-310896">
              <a:spcAft>
                <a:spcPts val="1000"/>
              </a:spcAft>
              <a:buClr>
                <a:srgbClr val="555B66"/>
              </a:buClr>
              <a:buSzPct val="100000"/>
              <a:buFont typeface="Calibri"/>
              <a:buChar char="–"/>
            </a:pPr>
            <a:endParaRPr sz="1900" b="0" i="0" dirty="0">
              <a:solidFill>
                <a:srgbClr val="222B3A"/>
              </a:solidFill>
              <a:latin typeface="Calibri"/>
            </a:endParaRPr>
          </a:p>
          <a:p>
            <a:pPr marL="274320" indent="-274320">
              <a:spcAft>
                <a:spcPts val="1000"/>
              </a:spcAft>
              <a:buClr>
                <a:srgbClr val="0B2B4E"/>
              </a:buClr>
              <a:buSzPct val="100000"/>
              <a:buFont typeface="Calibri"/>
              <a:buChar char="▪"/>
            </a:pPr>
            <a:r>
              <a:rPr sz="2400" b="0" i="0" dirty="0">
                <a:solidFill>
                  <a:srgbClr val="0B2B4E"/>
                </a:solidFill>
                <a:latin typeface="Calibri"/>
              </a:rPr>
              <a:t>Best alternative:  $153,000</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Job in consulting: $150,000</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Investment from $50,000 at 6%: $3,000</a:t>
            </a:r>
            <a:endParaRPr lang="en-US" sz="2000" b="0" i="0" dirty="0">
              <a:solidFill>
                <a:schemeClr val="bg1">
                  <a:lumMod val="50000"/>
                </a:schemeClr>
              </a:solidFill>
              <a:latin typeface="Calibri"/>
            </a:endParaRPr>
          </a:p>
          <a:p>
            <a:pPr marL="603504" lvl="1" indent="-310896">
              <a:spcAft>
                <a:spcPts val="1000"/>
              </a:spcAft>
              <a:buClr>
                <a:srgbClr val="555B66"/>
              </a:buClr>
              <a:buSzPct val="100000"/>
              <a:buFont typeface="Calibri"/>
              <a:buChar char="–"/>
            </a:pPr>
            <a:endParaRPr sz="1900" b="0" i="0" dirty="0">
              <a:solidFill>
                <a:srgbClr val="222B3A"/>
              </a:solidFill>
              <a:latin typeface="Calibri"/>
            </a:endParaRPr>
          </a:p>
          <a:p>
            <a:pPr marL="274320" indent="-274320">
              <a:spcAft>
                <a:spcPts val="1000"/>
              </a:spcAft>
              <a:buClr>
                <a:srgbClr val="0B2B4E"/>
              </a:buClr>
              <a:buSzPct val="100000"/>
              <a:buFont typeface="Calibri"/>
              <a:buChar char="▪"/>
            </a:pPr>
            <a:r>
              <a:rPr sz="2400" b="0" i="0" dirty="0">
                <a:solidFill>
                  <a:srgbClr val="0B2B4E"/>
                </a:solidFill>
                <a:latin typeface="Calibri"/>
              </a:rPr>
              <a:t>Economic loss of $53,000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64B60-DB97-F8B1-BC56-BFAEE8637AA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27C0E1-98B4-B0FC-7163-9BF28D245924}"/>
              </a:ext>
            </a:extLst>
          </p:cNvPr>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Outline</a:t>
            </a:r>
          </a:p>
        </p:txBody>
      </p:sp>
      <p:sp>
        <p:nvSpPr>
          <p:cNvPr id="3" name="TextBox 2">
            <a:extLst>
              <a:ext uri="{FF2B5EF4-FFF2-40B4-BE49-F238E27FC236}">
                <a16:creationId xmlns:a16="http://schemas.microsoft.com/office/drawing/2014/main" id="{AE15D136-6BB3-E11E-1C16-7A23C81790F5}"/>
              </a:ext>
            </a:extLst>
          </p:cNvPr>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a:extLst>
              <a:ext uri="{FF2B5EF4-FFF2-40B4-BE49-F238E27FC236}">
                <a16:creationId xmlns:a16="http://schemas.microsoft.com/office/drawing/2014/main" id="{9AED3949-FD82-1136-8818-3A029F9BB30F}"/>
              </a:ext>
            </a:extLst>
          </p:cNvPr>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68F9437A-7C49-D5C6-DD06-176C5E66AAB1}"/>
              </a:ext>
            </a:extLst>
          </p:cNvPr>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a:extLst>
              <a:ext uri="{FF2B5EF4-FFF2-40B4-BE49-F238E27FC236}">
                <a16:creationId xmlns:a16="http://schemas.microsoft.com/office/drawing/2014/main" id="{F4B0D120-0829-4045-7A0C-030131D0FBB3}"/>
              </a:ext>
            </a:extLst>
          </p:cNvPr>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601E08BE-91C8-017E-F2CD-FE573DB44522}"/>
              </a:ext>
            </a:extLst>
          </p:cNvPr>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156D91CE-3503-BEA3-E2D6-A46D5ABE8C22}"/>
              </a:ext>
            </a:extLst>
          </p:cNvPr>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a:extLst>
              <a:ext uri="{FF2B5EF4-FFF2-40B4-BE49-F238E27FC236}">
                <a16:creationId xmlns:a16="http://schemas.microsoft.com/office/drawing/2014/main" id="{965AAF9C-D85A-35F6-1A6F-5F3886BD8B40}"/>
              </a:ext>
            </a:extLst>
          </p:cNvPr>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27</a:t>
            </a:r>
            <a:endParaRPr sz="1100" b="0" i="0" dirty="0">
              <a:solidFill>
                <a:srgbClr val="555B66"/>
              </a:solidFill>
              <a:latin typeface="Calibri"/>
            </a:endParaRPr>
          </a:p>
        </p:txBody>
      </p:sp>
      <p:sp>
        <p:nvSpPr>
          <p:cNvPr id="10" name="Oval 9">
            <a:extLst>
              <a:ext uri="{FF2B5EF4-FFF2-40B4-BE49-F238E27FC236}">
                <a16:creationId xmlns:a16="http://schemas.microsoft.com/office/drawing/2014/main" id="{3561A4A6-DB91-701A-D9DE-D1DFD5AFA3C2}"/>
              </a:ext>
            </a:extLst>
          </p:cNvPr>
          <p:cNvSpPr/>
          <p:nvPr/>
        </p:nvSpPr>
        <p:spPr>
          <a:xfrm>
            <a:off x="1024128" y="192938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a:extLst>
              <a:ext uri="{FF2B5EF4-FFF2-40B4-BE49-F238E27FC236}">
                <a16:creationId xmlns:a16="http://schemas.microsoft.com/office/drawing/2014/main" id="{A464608D-7FB9-6427-8768-F1F771A57DB0}"/>
              </a:ext>
            </a:extLst>
          </p:cNvPr>
          <p:cNvSpPr txBox="1"/>
          <p:nvPr/>
        </p:nvSpPr>
        <p:spPr>
          <a:xfrm>
            <a:off x="1883664" y="1910422"/>
            <a:ext cx="9226296" cy="384721"/>
          </a:xfrm>
          <a:prstGeom prst="rect">
            <a:avLst/>
          </a:prstGeom>
          <a:noFill/>
        </p:spPr>
        <p:txBody>
          <a:bodyPr wrap="square" lIns="0" tIns="0" rIns="0" bIns="0" anchor="b">
            <a:spAutoFit/>
          </a:bodyPr>
          <a:lstStyle/>
          <a:p>
            <a:r>
              <a:rPr sz="2500" b="1" i="0" dirty="0">
                <a:solidFill>
                  <a:srgbClr val="9AA0A8"/>
                </a:solidFill>
                <a:latin typeface="Calibri"/>
              </a:rPr>
              <a:t>Value of the Firm</a:t>
            </a:r>
          </a:p>
        </p:txBody>
      </p:sp>
      <p:sp>
        <p:nvSpPr>
          <p:cNvPr id="12" name="TextBox 11">
            <a:extLst>
              <a:ext uri="{FF2B5EF4-FFF2-40B4-BE49-F238E27FC236}">
                <a16:creationId xmlns:a16="http://schemas.microsoft.com/office/drawing/2014/main" id="{37321EB8-C852-2AED-B66B-4338214D9C5E}"/>
              </a:ext>
            </a:extLst>
          </p:cNvPr>
          <p:cNvSpPr txBox="1"/>
          <p:nvPr/>
        </p:nvSpPr>
        <p:spPr>
          <a:xfrm>
            <a:off x="1883664" y="2295144"/>
            <a:ext cx="9226296" cy="338554"/>
          </a:xfrm>
          <a:prstGeom prst="rect">
            <a:avLst/>
          </a:prstGeom>
          <a:noFill/>
        </p:spPr>
        <p:txBody>
          <a:bodyPr wrap="square" lIns="0" tIns="0" rIns="0" bIns="0" anchor="t">
            <a:spAutoFit/>
          </a:bodyPr>
          <a:lstStyle/>
          <a:p>
            <a:r>
              <a:rPr sz="2200" b="0" i="0" dirty="0">
                <a:solidFill>
                  <a:srgbClr val="9AA0A8"/>
                </a:solidFill>
                <a:latin typeface="Calibri"/>
              </a:rPr>
              <a:t>What a firm maximizes — and why value is not the same as current profit</a:t>
            </a:r>
          </a:p>
        </p:txBody>
      </p:sp>
      <p:sp>
        <p:nvSpPr>
          <p:cNvPr id="13" name="Rounded Rectangle 12">
            <a:extLst>
              <a:ext uri="{FF2B5EF4-FFF2-40B4-BE49-F238E27FC236}">
                <a16:creationId xmlns:a16="http://schemas.microsoft.com/office/drawing/2014/main" id="{69F11A6C-11E1-C59A-2F96-BCFF27BC2380}"/>
              </a:ext>
            </a:extLst>
          </p:cNvPr>
          <p:cNvSpPr/>
          <p:nvPr/>
        </p:nvSpPr>
        <p:spPr>
          <a:xfrm>
            <a:off x="822960" y="3182111"/>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DFE26733-E639-C1CB-7384-64CAA311E806}"/>
              </a:ext>
            </a:extLst>
          </p:cNvPr>
          <p:cNvSpPr/>
          <p:nvPr/>
        </p:nvSpPr>
        <p:spPr>
          <a:xfrm>
            <a:off x="1024128" y="3346703"/>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5" name="TextBox 14">
            <a:extLst>
              <a:ext uri="{FF2B5EF4-FFF2-40B4-BE49-F238E27FC236}">
                <a16:creationId xmlns:a16="http://schemas.microsoft.com/office/drawing/2014/main" id="{4BC52FC9-69EA-3A5B-FD32-0850DE9908F6}"/>
              </a:ext>
            </a:extLst>
          </p:cNvPr>
          <p:cNvSpPr txBox="1"/>
          <p:nvPr/>
        </p:nvSpPr>
        <p:spPr>
          <a:xfrm>
            <a:off x="1883664" y="3327742"/>
            <a:ext cx="9226296" cy="384721"/>
          </a:xfrm>
          <a:prstGeom prst="rect">
            <a:avLst/>
          </a:prstGeom>
          <a:noFill/>
        </p:spPr>
        <p:txBody>
          <a:bodyPr wrap="square" lIns="0" tIns="0" rIns="0" bIns="0" anchor="b">
            <a:spAutoFit/>
          </a:bodyPr>
          <a:lstStyle/>
          <a:p>
            <a:r>
              <a:rPr sz="2500" b="1" i="0" dirty="0">
                <a:solidFill>
                  <a:srgbClr val="0B2B4E"/>
                </a:solidFill>
                <a:latin typeface="Calibri"/>
              </a:rPr>
              <a:t>Basic Principles of Economic Thinking</a:t>
            </a:r>
          </a:p>
        </p:txBody>
      </p:sp>
      <p:sp>
        <p:nvSpPr>
          <p:cNvPr id="16" name="TextBox 15">
            <a:extLst>
              <a:ext uri="{FF2B5EF4-FFF2-40B4-BE49-F238E27FC236}">
                <a16:creationId xmlns:a16="http://schemas.microsoft.com/office/drawing/2014/main" id="{A5104269-A1FF-E00F-F914-6A4306968288}"/>
              </a:ext>
            </a:extLst>
          </p:cNvPr>
          <p:cNvSpPr txBox="1"/>
          <p:nvPr/>
        </p:nvSpPr>
        <p:spPr>
          <a:xfrm>
            <a:off x="1883664" y="3712463"/>
            <a:ext cx="9226296" cy="338554"/>
          </a:xfrm>
          <a:prstGeom prst="rect">
            <a:avLst/>
          </a:prstGeom>
          <a:noFill/>
        </p:spPr>
        <p:txBody>
          <a:bodyPr wrap="square" lIns="0" tIns="0" rIns="0" bIns="0" anchor="t">
            <a:spAutoFit/>
          </a:bodyPr>
          <a:lstStyle/>
          <a:p>
            <a:r>
              <a:rPr lang="en-US" sz="2200" dirty="0">
                <a:solidFill>
                  <a:srgbClr val="555B66"/>
                </a:solidFill>
              </a:rPr>
              <a:t>Opportunity costs </a:t>
            </a:r>
            <a:r>
              <a:rPr sz="2200" b="0" i="0" dirty="0">
                <a:solidFill>
                  <a:srgbClr val="555B66"/>
                </a:solidFill>
                <a:latin typeface="Calibri"/>
              </a:rPr>
              <a:t>· </a:t>
            </a:r>
            <a:r>
              <a:rPr lang="en-US" sz="2200" b="1" dirty="0">
                <a:solidFill>
                  <a:srgbClr val="0B2B4E"/>
                </a:solidFill>
              </a:rPr>
              <a:t>Sunk costs</a:t>
            </a:r>
            <a:r>
              <a:rPr sz="2200" b="0" i="0" dirty="0">
                <a:solidFill>
                  <a:srgbClr val="555B66"/>
                </a:solidFill>
                <a:latin typeface="Calibri"/>
              </a:rPr>
              <a:t> · </a:t>
            </a:r>
            <a:r>
              <a:rPr lang="en-US" sz="2200" dirty="0">
                <a:solidFill>
                  <a:srgbClr val="555B66"/>
                </a:solidFill>
                <a:latin typeface="Calibri"/>
              </a:rPr>
              <a:t>C</a:t>
            </a:r>
            <a:r>
              <a:rPr sz="2200" b="0" i="0" dirty="0">
                <a:solidFill>
                  <a:srgbClr val="555B66"/>
                </a:solidFill>
                <a:latin typeface="Calibri"/>
              </a:rPr>
              <a:t>ost-benefit and marginal analysis</a:t>
            </a:r>
          </a:p>
        </p:txBody>
      </p:sp>
      <p:sp>
        <p:nvSpPr>
          <p:cNvPr id="17" name="Oval 16">
            <a:extLst>
              <a:ext uri="{FF2B5EF4-FFF2-40B4-BE49-F238E27FC236}">
                <a16:creationId xmlns:a16="http://schemas.microsoft.com/office/drawing/2014/main" id="{02A7860D-1FA5-E481-51A1-838B65B86120}"/>
              </a:ext>
            </a:extLst>
          </p:cNvPr>
          <p:cNvSpPr/>
          <p:nvPr/>
        </p:nvSpPr>
        <p:spPr>
          <a:xfrm>
            <a:off x="1024128" y="476402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8" name="TextBox 17">
            <a:extLst>
              <a:ext uri="{FF2B5EF4-FFF2-40B4-BE49-F238E27FC236}">
                <a16:creationId xmlns:a16="http://schemas.microsoft.com/office/drawing/2014/main" id="{D0F5607F-C726-2737-4762-CBD368550330}"/>
              </a:ext>
            </a:extLst>
          </p:cNvPr>
          <p:cNvSpPr txBox="1"/>
          <p:nvPr/>
        </p:nvSpPr>
        <p:spPr>
          <a:xfrm>
            <a:off x="1883664" y="4745063"/>
            <a:ext cx="9226296" cy="384721"/>
          </a:xfrm>
          <a:prstGeom prst="rect">
            <a:avLst/>
          </a:prstGeom>
          <a:noFill/>
        </p:spPr>
        <p:txBody>
          <a:bodyPr wrap="square" lIns="0" tIns="0" rIns="0" bIns="0" anchor="b">
            <a:spAutoFit/>
          </a:bodyPr>
          <a:lstStyle/>
          <a:p>
            <a:r>
              <a:rPr sz="2500" b="1" i="0" dirty="0">
                <a:solidFill>
                  <a:srgbClr val="9AA0A8"/>
                </a:solidFill>
                <a:latin typeface="Calibri"/>
              </a:rPr>
              <a:t>Economics Fundamentals</a:t>
            </a:r>
          </a:p>
        </p:txBody>
      </p:sp>
      <p:sp>
        <p:nvSpPr>
          <p:cNvPr id="19" name="TextBox 18">
            <a:extLst>
              <a:ext uri="{FF2B5EF4-FFF2-40B4-BE49-F238E27FC236}">
                <a16:creationId xmlns:a16="http://schemas.microsoft.com/office/drawing/2014/main" id="{E1B20FA3-5F28-E474-8D7D-135FAFA656E3}"/>
              </a:ext>
            </a:extLst>
          </p:cNvPr>
          <p:cNvSpPr txBox="1"/>
          <p:nvPr/>
        </p:nvSpPr>
        <p:spPr>
          <a:xfrm>
            <a:off x="1883664" y="5129784"/>
            <a:ext cx="9226296" cy="338554"/>
          </a:xfrm>
          <a:prstGeom prst="rect">
            <a:avLst/>
          </a:prstGeom>
          <a:noFill/>
        </p:spPr>
        <p:txBody>
          <a:bodyPr wrap="square" lIns="0" tIns="0" rIns="0" bIns="0" anchor="t">
            <a:spAutoFit/>
          </a:bodyPr>
          <a:lstStyle/>
          <a:p>
            <a:r>
              <a:rPr sz="2200" b="0" i="0" dirty="0">
                <a:solidFill>
                  <a:srgbClr val="9AA0A8"/>
                </a:solidFill>
                <a:latin typeface="Calibri"/>
              </a:rPr>
              <a:t>Markets · Supply and Demand · Equilibrium</a:t>
            </a:r>
          </a:p>
        </p:txBody>
      </p:sp>
    </p:spTree>
    <p:extLst>
      <p:ext uri="{BB962C8B-B14F-4D97-AF65-F5344CB8AC3E}">
        <p14:creationId xmlns:p14="http://schemas.microsoft.com/office/powerpoint/2010/main" val="3351285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The Economic Way of Thinking · Sunk Costs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Ignore sunk costs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28</a:t>
            </a:r>
          </a:p>
        </p:txBody>
      </p:sp>
      <p:sp>
        <p:nvSpPr>
          <p:cNvPr id="10" name="CLK1_def1"/>
          <p:cNvSpPr/>
          <p:nvPr/>
        </p:nvSpPr>
        <p:spPr>
          <a:xfrm>
            <a:off x="731520" y="2011680"/>
            <a:ext cx="10698480" cy="1234440"/>
          </a:xfrm>
          <a:prstGeom prst="roundRect">
            <a:avLst>
              <a:gd name="adj" fmla="val 6000"/>
            </a:avLst>
          </a:prstGeom>
          <a:solidFill>
            <a:srgbClr val="FDF6E6"/>
          </a:solidFill>
          <a:ln w="12700">
            <a:solidFill>
              <a:srgbClr val="C0201B"/>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r>
              <a:rPr sz="2200" b="1" i="0">
                <a:solidFill>
                  <a:srgbClr val="C0201B"/>
                </a:solidFill>
                <a:latin typeface="Calibri"/>
              </a:rPr>
              <a:t>Sunk cost: </a:t>
            </a:r>
            <a:r>
              <a:rPr sz="2200" b="0" i="0">
                <a:solidFill>
                  <a:srgbClr val="0B2B4E"/>
                </a:solidFill>
                <a:latin typeface="Calibri"/>
              </a:rPr>
              <a:t>a cost that, once paid, cannot be recovered</a:t>
            </a:r>
          </a:p>
        </p:txBody>
      </p:sp>
      <p:sp>
        <p:nvSpPr>
          <p:cNvPr id="11" name="CLK2_def2"/>
          <p:cNvSpPr/>
          <p:nvPr/>
        </p:nvSpPr>
        <p:spPr>
          <a:xfrm>
            <a:off x="731520" y="3703320"/>
            <a:ext cx="10698480" cy="1737360"/>
          </a:xfrm>
          <a:prstGeom prst="roundRect">
            <a:avLst>
              <a:gd name="adj" fmla="val 6000"/>
            </a:avLst>
          </a:prstGeom>
          <a:solidFill>
            <a:srgbClr val="FDF6E6"/>
          </a:solidFill>
          <a:ln w="12700">
            <a:solidFill>
              <a:srgbClr val="C0201B"/>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r>
              <a:rPr sz="2200" b="1" i="0">
                <a:solidFill>
                  <a:srgbClr val="C0201B"/>
                </a:solidFill>
                <a:latin typeface="Calibri"/>
              </a:rPr>
              <a:t>Ignore sunk costs: </a:t>
            </a:r>
            <a:r>
              <a:rPr sz="2200" b="0" i="0">
                <a:solidFill>
                  <a:srgbClr val="0B2B4E"/>
                </a:solidFill>
                <a:latin typeface="Calibri"/>
              </a:rPr>
              <a:t>If the cost is sunk (already expended), it is not a factor relevant in determining the relative merits of the alternatives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The Economic Way of Thinking · Sunk Costs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Examples of sunk costs (you should ignore!)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29</a:t>
            </a:r>
          </a:p>
        </p:txBody>
      </p:sp>
      <p:sp>
        <p:nvSpPr>
          <p:cNvPr id="10" name="BUILD"/>
          <p:cNvSpPr txBox="1"/>
          <p:nvPr/>
        </p:nvSpPr>
        <p:spPr>
          <a:xfrm>
            <a:off x="640080" y="1691640"/>
            <a:ext cx="10881360" cy="3483005"/>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400" b="0" i="0" dirty="0">
                <a:solidFill>
                  <a:srgbClr val="0B2B4E"/>
                </a:solidFill>
                <a:latin typeface="Calibri"/>
              </a:rPr>
              <a:t>Individual consumers</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Fixed price dinners or buffets</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Monthly gym memberships</a:t>
            </a:r>
            <a:r>
              <a:rPr lang="en-US" sz="2000" b="0" i="0" dirty="0">
                <a:solidFill>
                  <a:schemeClr val="bg1">
                    <a:lumMod val="50000"/>
                  </a:schemeClr>
                </a:solidFill>
                <a:latin typeface="Calibri"/>
              </a:rPr>
              <a:t> (once paid for the month)</a:t>
            </a:r>
            <a:endParaRPr sz="2000" b="0" i="0" dirty="0">
              <a:solidFill>
                <a:schemeClr val="bg1">
                  <a:lumMod val="50000"/>
                </a:schemeClr>
              </a:solidFill>
              <a:latin typeface="Calibri"/>
            </a:endParaRP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Movie tickets; rented film on Amazon</a:t>
            </a:r>
          </a:p>
          <a:p>
            <a:pPr marL="274320" indent="-274320">
              <a:spcAft>
                <a:spcPts val="1000"/>
              </a:spcAft>
              <a:buClr>
                <a:srgbClr val="0B2B4E"/>
              </a:buClr>
              <a:buSzPct val="100000"/>
              <a:buFont typeface="Calibri"/>
              <a:buChar char="▪"/>
            </a:pPr>
            <a:r>
              <a:rPr sz="2400" b="0" i="0" dirty="0">
                <a:solidFill>
                  <a:srgbClr val="0B2B4E"/>
                </a:solidFill>
                <a:latin typeface="Calibri"/>
              </a:rPr>
              <a:t>Firms</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Rent</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Advertising</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Other suggestions?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s30_img1.png"/>
          <p:cNvPicPr>
            <a:picLocks noChangeAspect="1"/>
          </p:cNvPicPr>
          <p:nvPr/>
        </p:nvPicPr>
        <p:blipFill>
          <a:blip r:embed="rId3"/>
          <a:stretch>
            <a:fillRect/>
          </a:stretch>
        </p:blipFill>
        <p:spPr>
          <a:xfrm>
            <a:off x="1558204" y="1364192"/>
            <a:ext cx="8911676" cy="5011980"/>
          </a:xfrm>
          <a:prstGeom prst="roundRect">
            <a:avLst>
              <a:gd name="adj" fmla="val 4000"/>
            </a:avLst>
          </a:prstGeom>
          <a:effectLst>
            <a:outerShdw blurRad="54864" dist="41148" dir="5400000" rotWithShape="0">
              <a:srgbClr val="000000">
                <a:alpha val="62000"/>
              </a:srgbClr>
            </a:outerShdw>
          </a:effectLst>
        </p:spPr>
      </p:pic>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The Economic Way of Thinking · Sunk Costs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Why </a:t>
            </a:r>
            <a:r>
              <a:rPr lang="en-US" sz="3000" b="1" i="0" dirty="0">
                <a:solidFill>
                  <a:srgbClr val="0B2B4E"/>
                </a:solidFill>
                <a:latin typeface="Calibri"/>
              </a:rPr>
              <a:t>D</a:t>
            </a:r>
            <a:r>
              <a:rPr sz="3000" b="1" i="0" dirty="0">
                <a:solidFill>
                  <a:srgbClr val="0B2B4E"/>
                </a:solidFill>
                <a:latin typeface="Calibri"/>
              </a:rPr>
              <a:t>o </a:t>
            </a:r>
            <a:r>
              <a:rPr lang="en-US" sz="3000" b="1" dirty="0">
                <a:solidFill>
                  <a:srgbClr val="0B2B4E"/>
                </a:solidFill>
                <a:latin typeface="Calibri"/>
              </a:rPr>
              <a:t>F</a:t>
            </a:r>
            <a:r>
              <a:rPr sz="3000" b="1" i="0" dirty="0">
                <a:solidFill>
                  <a:srgbClr val="0B2B4E"/>
                </a:solidFill>
                <a:latin typeface="Calibri"/>
              </a:rPr>
              <a:t>ilm </a:t>
            </a:r>
            <a:r>
              <a:rPr lang="en-US" sz="3000" b="1" dirty="0">
                <a:solidFill>
                  <a:srgbClr val="0B2B4E"/>
                </a:solidFill>
                <a:latin typeface="Calibri"/>
              </a:rPr>
              <a:t>S</a:t>
            </a:r>
            <a:r>
              <a:rPr sz="3000" b="1" i="0" dirty="0">
                <a:solidFill>
                  <a:srgbClr val="0B2B4E"/>
                </a:solidFill>
                <a:latin typeface="Calibri"/>
              </a:rPr>
              <a:t>tudios </a:t>
            </a:r>
            <a:r>
              <a:rPr lang="en-US" sz="3000" b="1" dirty="0">
                <a:solidFill>
                  <a:srgbClr val="0B2B4E"/>
                </a:solidFill>
                <a:latin typeface="Calibri"/>
              </a:rPr>
              <a:t>M</a:t>
            </a:r>
            <a:r>
              <a:rPr sz="3000" b="1" i="0" dirty="0">
                <a:solidFill>
                  <a:srgbClr val="0B2B4E"/>
                </a:solidFill>
                <a:latin typeface="Calibri"/>
              </a:rPr>
              <a:t>ake </a:t>
            </a:r>
            <a:r>
              <a:rPr lang="en-US" sz="3000" b="1" dirty="0">
                <a:solidFill>
                  <a:srgbClr val="0B2B4E"/>
                </a:solidFill>
                <a:latin typeface="Calibri"/>
              </a:rPr>
              <a:t>M</a:t>
            </a:r>
            <a:r>
              <a:rPr sz="3000" b="1" i="0" dirty="0">
                <a:solidFill>
                  <a:srgbClr val="0B2B4E"/>
                </a:solidFill>
                <a:latin typeface="Calibri"/>
              </a:rPr>
              <a:t>ovies that </a:t>
            </a:r>
            <a:r>
              <a:rPr lang="en-US" sz="3000" b="1" i="0" dirty="0">
                <a:solidFill>
                  <a:srgbClr val="0B2B4E"/>
                </a:solidFill>
                <a:latin typeface="Calibri"/>
              </a:rPr>
              <a:t>T</a:t>
            </a:r>
            <a:r>
              <a:rPr sz="3000" b="1" i="0" dirty="0">
                <a:solidFill>
                  <a:srgbClr val="0B2B4E"/>
                </a:solidFill>
                <a:latin typeface="Calibri"/>
              </a:rPr>
              <a:t>hey </a:t>
            </a:r>
            <a:r>
              <a:rPr lang="en-US" sz="3000" b="1" dirty="0">
                <a:solidFill>
                  <a:srgbClr val="0B2B4E"/>
                </a:solidFill>
                <a:latin typeface="Calibri"/>
              </a:rPr>
              <a:t>K</a:t>
            </a:r>
            <a:r>
              <a:rPr sz="3000" b="1" i="0" dirty="0">
                <a:solidFill>
                  <a:srgbClr val="0B2B4E"/>
                </a:solidFill>
                <a:latin typeface="Calibri"/>
              </a:rPr>
              <a:t>now </a:t>
            </a:r>
            <a:r>
              <a:rPr lang="en-US" sz="3000" b="1" dirty="0">
                <a:solidFill>
                  <a:srgbClr val="0B2B4E"/>
                </a:solidFill>
                <a:latin typeface="Calibri"/>
              </a:rPr>
              <a:t>W</a:t>
            </a:r>
            <a:r>
              <a:rPr sz="3000" b="1" i="0" dirty="0">
                <a:solidFill>
                  <a:srgbClr val="0B2B4E"/>
                </a:solidFill>
                <a:latin typeface="Calibri"/>
              </a:rPr>
              <a:t>ill </a:t>
            </a:r>
            <a:r>
              <a:rPr lang="en-US" sz="3000" b="1" dirty="0">
                <a:solidFill>
                  <a:srgbClr val="0B2B4E"/>
                </a:solidFill>
                <a:latin typeface="Calibri"/>
              </a:rPr>
              <a:t>L</a:t>
            </a:r>
            <a:r>
              <a:rPr sz="3000" b="1" i="0" dirty="0">
                <a:solidFill>
                  <a:srgbClr val="0B2B4E"/>
                </a:solidFill>
                <a:latin typeface="Calibri"/>
              </a:rPr>
              <a:t>ose </a:t>
            </a:r>
            <a:r>
              <a:rPr lang="en-US" sz="3000" b="1" dirty="0">
                <a:solidFill>
                  <a:srgbClr val="0B2B4E"/>
                </a:solidFill>
                <a:latin typeface="Calibri"/>
              </a:rPr>
              <a:t>M</a:t>
            </a:r>
            <a:r>
              <a:rPr sz="3000" b="1" i="0" dirty="0">
                <a:solidFill>
                  <a:srgbClr val="0B2B4E"/>
                </a:solidFill>
                <a:latin typeface="Calibri"/>
              </a:rPr>
              <a:t>oney?</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30</a:t>
            </a:r>
          </a:p>
        </p:txBody>
      </p:sp>
      <p:sp>
        <p:nvSpPr>
          <p:cNvPr id="10" name="TextBox 9"/>
          <p:cNvSpPr txBox="1"/>
          <p:nvPr/>
        </p:nvSpPr>
        <p:spPr>
          <a:xfrm>
            <a:off x="3167009" y="3519542"/>
            <a:ext cx="6583680" cy="538609"/>
          </a:xfrm>
          <a:prstGeom prst="rect">
            <a:avLst/>
          </a:prstGeom>
          <a:noFill/>
        </p:spPr>
        <p:txBody>
          <a:bodyPr wrap="square" lIns="0" tIns="0" rIns="0" bIns="0" anchor="t">
            <a:spAutoFit/>
          </a:bodyPr>
          <a:lstStyle/>
          <a:p>
            <a:pPr>
              <a:spcAft>
                <a:spcPts val="800"/>
              </a:spcAft>
              <a:buClr>
                <a:srgbClr val="0B2B4E"/>
              </a:buClr>
              <a:buSzPct val="100000"/>
            </a:pPr>
            <a:r>
              <a:rPr sz="3500" b="1" i="0" dirty="0">
                <a:solidFill>
                  <a:schemeClr val="bg1"/>
                </a:solidFill>
                <a:latin typeface="Calibri"/>
              </a:rPr>
              <a:t>Mini-case: </a:t>
            </a:r>
            <a:r>
              <a:rPr lang="en-US" sz="3500" b="1" dirty="0">
                <a:solidFill>
                  <a:schemeClr val="bg1"/>
                </a:solidFill>
                <a:latin typeface="Calibri"/>
              </a:rPr>
              <a:t>W</a:t>
            </a:r>
            <a:r>
              <a:rPr sz="3500" b="1" i="0" dirty="0">
                <a:solidFill>
                  <a:schemeClr val="bg1"/>
                </a:solidFill>
                <a:latin typeface="Calibri"/>
              </a:rPr>
              <a:t>aterworld (1995)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68913"/>
            <a:ext cx="10972800" cy="246221"/>
          </a:xfrm>
          <a:prstGeom prst="rect">
            <a:avLst/>
          </a:prstGeom>
          <a:noFill/>
        </p:spPr>
        <p:txBody>
          <a:bodyPr wrap="square" lIns="0" tIns="0" rIns="0" bIns="0" anchor="ctr">
            <a:spAutoFit/>
          </a:bodyPr>
          <a:lstStyle/>
          <a:p>
            <a:r>
              <a:rPr lang="en-US" sz="1600" b="1" dirty="0">
                <a:solidFill>
                  <a:srgbClr val="FFFFFF"/>
                </a:solidFill>
              </a:rPr>
              <a:t>The Economic Way of Thinking · Sunk Costs</a:t>
            </a:r>
          </a:p>
        </p:txBody>
      </p:sp>
      <p:sp>
        <p:nvSpPr>
          <p:cNvPr id="4" name="TextBox 3"/>
          <p:cNvSpPr txBox="1"/>
          <p:nvPr/>
        </p:nvSpPr>
        <p:spPr>
          <a:xfrm>
            <a:off x="251999" y="579121"/>
            <a:ext cx="11687697" cy="640080"/>
          </a:xfrm>
          <a:prstGeom prst="rect">
            <a:avLst/>
          </a:prstGeom>
          <a:noFill/>
        </p:spPr>
        <p:txBody>
          <a:bodyPr wrap="square" lIns="0" tIns="0" rIns="0" bIns="0">
            <a:spAutoFit/>
          </a:bodyPr>
          <a:lstStyle/>
          <a:p>
            <a:pPr algn="l"/>
            <a:r>
              <a:rPr sz="3200" b="1" i="0" dirty="0">
                <a:solidFill>
                  <a:srgbClr val="0B2B4E"/>
                </a:solidFill>
                <a:latin typeface="Calibri"/>
              </a:rPr>
              <a:t>Waterworld:  Sunk Costs and Decisions over Time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00887" y="1434693"/>
            <a:ext cx="3657600" cy="45720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700887" y="193761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800" b="0">
                <a:solidFill>
                  <a:srgbClr val="0B2B4E"/>
                </a:solidFill>
                <a:latin typeface="Calibri"/>
              </a:rPr>
              <a:t>Expected Revenues  ($M)</a:t>
            </a:r>
          </a:p>
        </p:txBody>
      </p:sp>
      <p:sp>
        <p:nvSpPr>
          <p:cNvPr id="9" name="Rectangle 8"/>
          <p:cNvSpPr/>
          <p:nvPr/>
        </p:nvSpPr>
        <p:spPr>
          <a:xfrm>
            <a:off x="700887" y="257769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800" b="0">
                <a:solidFill>
                  <a:srgbClr val="0B2B4E"/>
                </a:solidFill>
                <a:latin typeface="Calibri"/>
              </a:rPr>
              <a:t>Sunk Cost  ($M)</a:t>
            </a:r>
          </a:p>
        </p:txBody>
      </p:sp>
      <p:sp>
        <p:nvSpPr>
          <p:cNvPr id="10" name="Rectangle 9"/>
          <p:cNvSpPr/>
          <p:nvPr/>
        </p:nvSpPr>
        <p:spPr>
          <a:xfrm>
            <a:off x="700887" y="321777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800" b="0">
                <a:solidFill>
                  <a:srgbClr val="0B2B4E"/>
                </a:solidFill>
                <a:latin typeface="Calibri"/>
              </a:rPr>
              <a:t>Expected Additional Cost  ($M)</a:t>
            </a:r>
          </a:p>
        </p:txBody>
      </p:sp>
      <p:sp>
        <p:nvSpPr>
          <p:cNvPr id="11" name="Rectangle 10"/>
          <p:cNvSpPr/>
          <p:nvPr/>
        </p:nvSpPr>
        <p:spPr>
          <a:xfrm>
            <a:off x="700887" y="385785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800" b="0">
                <a:solidFill>
                  <a:srgbClr val="0B2B4E"/>
                </a:solidFill>
                <a:latin typeface="Calibri"/>
              </a:rPr>
              <a:t>Overall Cost (incl. sunk)  ($M)</a:t>
            </a:r>
          </a:p>
        </p:txBody>
      </p:sp>
      <p:sp>
        <p:nvSpPr>
          <p:cNvPr id="12" name="Rectangle 11"/>
          <p:cNvSpPr/>
          <p:nvPr/>
        </p:nvSpPr>
        <p:spPr>
          <a:xfrm>
            <a:off x="700887" y="449793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800" b="0">
                <a:solidFill>
                  <a:srgbClr val="0B2B4E"/>
                </a:solidFill>
                <a:latin typeface="Calibri"/>
              </a:rPr>
              <a:t>Expected Profit  ($M)</a:t>
            </a:r>
          </a:p>
        </p:txBody>
      </p:sp>
      <p:sp>
        <p:nvSpPr>
          <p:cNvPr id="13" name="Rectangle 12"/>
          <p:cNvSpPr/>
          <p:nvPr/>
        </p:nvSpPr>
        <p:spPr>
          <a:xfrm>
            <a:off x="700887" y="5138013"/>
            <a:ext cx="3657600" cy="50292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2000" b="1">
                <a:solidFill>
                  <a:srgbClr val="0B2B4E"/>
                </a:solidFill>
                <a:latin typeface="Calibri"/>
              </a:rPr>
              <a:t>Decision</a:t>
            </a:r>
          </a:p>
        </p:txBody>
      </p:sp>
      <p:sp>
        <p:nvSpPr>
          <p:cNvPr id="14" name="Rectangle 13"/>
          <p:cNvSpPr/>
          <p:nvPr/>
        </p:nvSpPr>
        <p:spPr>
          <a:xfrm>
            <a:off x="4449927" y="1434693"/>
            <a:ext cx="2286000" cy="4572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June 1994</a:t>
            </a:r>
          </a:p>
        </p:txBody>
      </p:sp>
      <p:sp>
        <p:nvSpPr>
          <p:cNvPr id="15" name="Rectangle 14"/>
          <p:cNvSpPr/>
          <p:nvPr/>
        </p:nvSpPr>
        <p:spPr>
          <a:xfrm>
            <a:off x="4449927" y="193761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150</a:t>
            </a:r>
          </a:p>
        </p:txBody>
      </p:sp>
      <p:sp>
        <p:nvSpPr>
          <p:cNvPr id="16" name="Rectangle 15"/>
          <p:cNvSpPr/>
          <p:nvPr/>
        </p:nvSpPr>
        <p:spPr>
          <a:xfrm>
            <a:off x="4449927" y="257769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16</a:t>
            </a:r>
          </a:p>
        </p:txBody>
      </p:sp>
      <p:sp>
        <p:nvSpPr>
          <p:cNvPr id="17" name="Rectangle 16"/>
          <p:cNvSpPr/>
          <p:nvPr/>
        </p:nvSpPr>
        <p:spPr>
          <a:xfrm>
            <a:off x="4449927" y="3217773"/>
            <a:ext cx="2286000" cy="548640"/>
          </a:xfrm>
          <a:prstGeom prst="rect">
            <a:avLst/>
          </a:prstGeom>
          <a:solidFill>
            <a:srgbClr val="FFF2CC"/>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84    (&lt;150)</a:t>
            </a:r>
          </a:p>
        </p:txBody>
      </p:sp>
      <p:sp>
        <p:nvSpPr>
          <p:cNvPr id="18" name="Rectangle 17"/>
          <p:cNvSpPr/>
          <p:nvPr/>
        </p:nvSpPr>
        <p:spPr>
          <a:xfrm>
            <a:off x="4449927" y="385785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100</a:t>
            </a:r>
          </a:p>
        </p:txBody>
      </p:sp>
      <p:sp>
        <p:nvSpPr>
          <p:cNvPr id="19" name="Rectangle 18"/>
          <p:cNvSpPr/>
          <p:nvPr/>
        </p:nvSpPr>
        <p:spPr>
          <a:xfrm>
            <a:off x="4449927" y="449793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+50</a:t>
            </a:r>
          </a:p>
        </p:txBody>
      </p:sp>
      <p:sp>
        <p:nvSpPr>
          <p:cNvPr id="20" name="Rectangle 19"/>
          <p:cNvSpPr/>
          <p:nvPr/>
        </p:nvSpPr>
        <p:spPr>
          <a:xfrm>
            <a:off x="4449927" y="5138013"/>
            <a:ext cx="2286000" cy="502920"/>
          </a:xfrm>
          <a:prstGeom prst="rect">
            <a:avLst/>
          </a:prstGeom>
          <a:solidFill>
            <a:srgbClr val="E09F3E"/>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Make the film!</a:t>
            </a:r>
          </a:p>
        </p:txBody>
      </p:sp>
      <p:sp>
        <p:nvSpPr>
          <p:cNvPr id="21" name="Rectangle 20"/>
          <p:cNvSpPr/>
          <p:nvPr/>
        </p:nvSpPr>
        <p:spPr>
          <a:xfrm>
            <a:off x="6827367" y="1434693"/>
            <a:ext cx="2286000" cy="4572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September 1994</a:t>
            </a:r>
          </a:p>
        </p:txBody>
      </p:sp>
      <p:sp>
        <p:nvSpPr>
          <p:cNvPr id="22" name="Rectangle 21"/>
          <p:cNvSpPr/>
          <p:nvPr/>
        </p:nvSpPr>
        <p:spPr>
          <a:xfrm>
            <a:off x="6827367" y="193761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150</a:t>
            </a:r>
          </a:p>
        </p:txBody>
      </p:sp>
      <p:sp>
        <p:nvSpPr>
          <p:cNvPr id="23" name="Rectangle 22"/>
          <p:cNvSpPr/>
          <p:nvPr/>
        </p:nvSpPr>
        <p:spPr>
          <a:xfrm>
            <a:off x="6827367" y="257769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100</a:t>
            </a:r>
          </a:p>
        </p:txBody>
      </p:sp>
      <p:sp>
        <p:nvSpPr>
          <p:cNvPr id="24" name="Rectangle 23"/>
          <p:cNvSpPr/>
          <p:nvPr/>
        </p:nvSpPr>
        <p:spPr>
          <a:xfrm>
            <a:off x="6827367" y="3217773"/>
            <a:ext cx="2286000" cy="548640"/>
          </a:xfrm>
          <a:prstGeom prst="rect">
            <a:avLst/>
          </a:prstGeom>
          <a:solidFill>
            <a:srgbClr val="FFF2CC"/>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40    (&lt;150)</a:t>
            </a:r>
          </a:p>
        </p:txBody>
      </p:sp>
      <p:sp>
        <p:nvSpPr>
          <p:cNvPr id="25" name="Rectangle 24"/>
          <p:cNvSpPr/>
          <p:nvPr/>
        </p:nvSpPr>
        <p:spPr>
          <a:xfrm>
            <a:off x="6827367" y="385785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140</a:t>
            </a:r>
          </a:p>
        </p:txBody>
      </p:sp>
      <p:sp>
        <p:nvSpPr>
          <p:cNvPr id="26" name="Rectangle 25"/>
          <p:cNvSpPr/>
          <p:nvPr/>
        </p:nvSpPr>
        <p:spPr>
          <a:xfrm>
            <a:off x="6827367" y="449793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+10</a:t>
            </a:r>
          </a:p>
        </p:txBody>
      </p:sp>
      <p:sp>
        <p:nvSpPr>
          <p:cNvPr id="27" name="Rectangle 26"/>
          <p:cNvSpPr/>
          <p:nvPr/>
        </p:nvSpPr>
        <p:spPr>
          <a:xfrm>
            <a:off x="6827367" y="5138013"/>
            <a:ext cx="2286000" cy="502920"/>
          </a:xfrm>
          <a:prstGeom prst="rect">
            <a:avLst/>
          </a:prstGeom>
          <a:solidFill>
            <a:srgbClr val="E09F3E"/>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Make the film!</a:t>
            </a:r>
          </a:p>
        </p:txBody>
      </p:sp>
      <p:sp>
        <p:nvSpPr>
          <p:cNvPr id="28" name="Rectangle 27"/>
          <p:cNvSpPr/>
          <p:nvPr/>
        </p:nvSpPr>
        <p:spPr>
          <a:xfrm>
            <a:off x="9204807" y="1434693"/>
            <a:ext cx="2286000" cy="4572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December 1994</a:t>
            </a:r>
          </a:p>
        </p:txBody>
      </p:sp>
      <p:sp>
        <p:nvSpPr>
          <p:cNvPr id="29" name="Rectangle 28"/>
          <p:cNvSpPr/>
          <p:nvPr/>
        </p:nvSpPr>
        <p:spPr>
          <a:xfrm>
            <a:off x="9204807" y="193761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150</a:t>
            </a:r>
          </a:p>
        </p:txBody>
      </p:sp>
      <p:sp>
        <p:nvSpPr>
          <p:cNvPr id="30" name="Rectangle 29"/>
          <p:cNvSpPr/>
          <p:nvPr/>
        </p:nvSpPr>
        <p:spPr>
          <a:xfrm>
            <a:off x="9204807" y="257769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140</a:t>
            </a:r>
          </a:p>
        </p:txBody>
      </p:sp>
      <p:sp>
        <p:nvSpPr>
          <p:cNvPr id="31" name="Rectangle 30"/>
          <p:cNvSpPr/>
          <p:nvPr/>
        </p:nvSpPr>
        <p:spPr>
          <a:xfrm>
            <a:off x="9204807" y="3217773"/>
            <a:ext cx="2286000" cy="548640"/>
          </a:xfrm>
          <a:prstGeom prst="rect">
            <a:avLst/>
          </a:prstGeom>
          <a:solidFill>
            <a:srgbClr val="FFF2CC"/>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35    (&lt;150)</a:t>
            </a:r>
          </a:p>
        </p:txBody>
      </p:sp>
      <p:sp>
        <p:nvSpPr>
          <p:cNvPr id="32" name="Rectangle 31"/>
          <p:cNvSpPr/>
          <p:nvPr/>
        </p:nvSpPr>
        <p:spPr>
          <a:xfrm>
            <a:off x="9204807" y="385785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175</a:t>
            </a:r>
          </a:p>
        </p:txBody>
      </p:sp>
      <p:sp>
        <p:nvSpPr>
          <p:cNvPr id="33" name="Rectangle 32"/>
          <p:cNvSpPr/>
          <p:nvPr/>
        </p:nvSpPr>
        <p:spPr>
          <a:xfrm>
            <a:off x="9204807" y="449793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−25</a:t>
            </a:r>
          </a:p>
        </p:txBody>
      </p:sp>
      <p:sp>
        <p:nvSpPr>
          <p:cNvPr id="34" name="Rectangle 33"/>
          <p:cNvSpPr/>
          <p:nvPr/>
        </p:nvSpPr>
        <p:spPr>
          <a:xfrm>
            <a:off x="9204807" y="5138013"/>
            <a:ext cx="2286000" cy="502920"/>
          </a:xfrm>
          <a:prstGeom prst="rect">
            <a:avLst/>
          </a:prstGeom>
          <a:solidFill>
            <a:srgbClr val="E09F3E"/>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Make the film!</a:t>
            </a:r>
          </a:p>
        </p:txBody>
      </p:sp>
      <p:sp>
        <p:nvSpPr>
          <p:cNvPr id="35" name="Rounded Rectangle 34"/>
          <p:cNvSpPr/>
          <p:nvPr/>
        </p:nvSpPr>
        <p:spPr>
          <a:xfrm>
            <a:off x="838047" y="5842101"/>
            <a:ext cx="10515600"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dirty="0">
                <a:solidFill>
                  <a:srgbClr val="FFFFFF"/>
                </a:solidFill>
                <a:latin typeface="Calibri"/>
              </a:rPr>
              <a:t>Ignore sunk costs —  continue whenever          Expected Revenue  &gt;  Expected Additional Cost</a:t>
            </a:r>
          </a:p>
        </p:txBody>
      </p:sp>
      <p:sp>
        <p:nvSpPr>
          <p:cNvPr id="36" name="Rectangle 3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1999" y="6583680"/>
            <a:ext cx="10058400" cy="184666"/>
          </a:xfrm>
          <a:prstGeom prst="rect">
            <a:avLst/>
          </a:prstGeom>
          <a:noFill/>
        </p:spPr>
        <p:txBody>
          <a:bodyPr wrap="square" lIns="0" tIns="0" rIns="0" bIns="0">
            <a:spAutoFit/>
          </a:bodyPr>
          <a:lstStyle/>
          <a:p>
            <a:r>
              <a:rPr lang="en-US" sz="1200" dirty="0">
                <a:solidFill>
                  <a:srgbClr val="555B66"/>
                </a:solidFill>
              </a:rPr>
              <a:t>Management 405 · The Economic Way of Thinking</a:t>
            </a:r>
          </a:p>
        </p:txBody>
      </p:sp>
      <p:sp>
        <p:nvSpPr>
          <p:cNvPr id="39" name="TextBox 38"/>
          <p:cNvSpPr txBox="1"/>
          <p:nvPr/>
        </p:nvSpPr>
        <p:spPr>
          <a:xfrm>
            <a:off x="11267440" y="6583680"/>
            <a:ext cx="548640" cy="292608"/>
          </a:xfrm>
          <a:prstGeom prst="rect">
            <a:avLst/>
          </a:prstGeom>
          <a:noFill/>
        </p:spPr>
        <p:txBody>
          <a:bodyPr wrap="square" lIns="0" tIns="0" rIns="0" bIns="0">
            <a:spAutoFit/>
          </a:bodyPr>
          <a:lstStyle/>
          <a:p>
            <a:pPr algn="r"/>
            <a:fld id="{1B6F37E6-1912-4BB1-BBF5-FD49B30B09B0}" type="slidenum">
              <a:rPr sz="1200" b="0" i="0">
                <a:solidFill>
                  <a:srgbClr val="555B66"/>
                </a:solidFill>
                <a:latin typeface="Calibri"/>
              </a:rPr>
              <a:t>35</a:t>
            </a:fld>
            <a:endParaRPr sz="1200" b="0" i="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par>
                                <p:cTn id="43" presetID="10"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3000"/>
            <a:lum/>
          </a:blip>
          <a:srcRect/>
          <a:tile tx="0" ty="0" sx="100000" sy="100000" flip="none" algn="tl"/>
        </a:blip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The Economic Way of Thinking · Sunk Costs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Why did Warner Bros. </a:t>
            </a:r>
            <a:r>
              <a:rPr lang="en-US" sz="3000" b="1" dirty="0">
                <a:solidFill>
                  <a:srgbClr val="0B2B4E"/>
                </a:solidFill>
                <a:latin typeface="Calibri"/>
              </a:rPr>
              <a:t>C</a:t>
            </a:r>
            <a:r>
              <a:rPr sz="3000" b="1" i="0" dirty="0">
                <a:solidFill>
                  <a:srgbClr val="0B2B4E"/>
                </a:solidFill>
                <a:latin typeface="Calibri"/>
              </a:rPr>
              <a:t>ancel (an already finished) Batgirl?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32</a:t>
            </a:r>
          </a:p>
        </p:txBody>
      </p:sp>
      <p:sp>
        <p:nvSpPr>
          <p:cNvPr id="11" name="BUILD">
            <a:extLst>
              <a:ext uri="{FF2B5EF4-FFF2-40B4-BE49-F238E27FC236}">
                <a16:creationId xmlns:a16="http://schemas.microsoft.com/office/drawing/2014/main" id="{C6FAF2D5-CD11-FF84-999F-C683E9429ECE}"/>
              </a:ext>
            </a:extLst>
          </p:cNvPr>
          <p:cNvSpPr txBox="1"/>
          <p:nvPr/>
        </p:nvSpPr>
        <p:spPr>
          <a:xfrm>
            <a:off x="242316" y="3217182"/>
            <a:ext cx="10881360" cy="3041858"/>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lang="en-US" sz="2400" b="0" i="0" dirty="0">
                <a:solidFill>
                  <a:srgbClr val="0B2B4E"/>
                </a:solidFill>
                <a:latin typeface="Calibri"/>
              </a:rPr>
              <a:t>Film budget: $100 million (sunk!)</a:t>
            </a:r>
            <a:endParaRPr sz="2400" b="0" i="0" dirty="0">
              <a:solidFill>
                <a:srgbClr val="0B2B4E"/>
              </a:solidFill>
              <a:latin typeface="Calibri"/>
            </a:endParaRPr>
          </a:p>
          <a:p>
            <a:pPr marL="274320" indent="-274320">
              <a:spcAft>
                <a:spcPts val="1000"/>
              </a:spcAft>
              <a:buClr>
                <a:srgbClr val="0B2B4E"/>
              </a:buClr>
              <a:buSzPct val="100000"/>
              <a:buFont typeface="Calibri"/>
              <a:buChar char="▪"/>
            </a:pPr>
            <a:r>
              <a:rPr lang="en-US" sz="2400" b="0" i="0" dirty="0">
                <a:solidFill>
                  <a:srgbClr val="0B2B4E"/>
                </a:solidFill>
                <a:latin typeface="Calibri"/>
              </a:rPr>
              <a:t>But film performed poorly in test screenings</a:t>
            </a:r>
          </a:p>
          <a:p>
            <a:pPr marL="603504" lvl="1" indent="-310896">
              <a:spcAft>
                <a:spcPts val="1000"/>
              </a:spcAft>
              <a:buClr>
                <a:srgbClr val="555B66"/>
              </a:buClr>
              <a:buSzPct val="100000"/>
              <a:buFont typeface="Calibri"/>
              <a:buChar char="–"/>
            </a:pPr>
            <a:r>
              <a:rPr lang="en-US" sz="2000" dirty="0">
                <a:solidFill>
                  <a:schemeClr val="tx1">
                    <a:lumMod val="50000"/>
                    <a:lumOff val="50000"/>
                  </a:schemeClr>
                </a:solidFill>
              </a:rPr>
              <a:t>Cost of distribution/marketing &gt; expected revenue from release</a:t>
            </a:r>
            <a:endParaRPr lang="en-US" sz="2000" b="0" i="0" dirty="0">
              <a:solidFill>
                <a:schemeClr val="tx1">
                  <a:lumMod val="50000"/>
                  <a:lumOff val="50000"/>
                </a:schemeClr>
              </a:solidFill>
              <a:latin typeface="Calibri"/>
            </a:endParaRPr>
          </a:p>
          <a:p>
            <a:pPr marL="274320" indent="-274320">
              <a:spcAft>
                <a:spcPts val="1000"/>
              </a:spcAft>
              <a:buClr>
                <a:srgbClr val="0B2B4E"/>
              </a:buClr>
              <a:buSzPct val="100000"/>
              <a:buFont typeface="Calibri"/>
              <a:buChar char="▪"/>
            </a:pPr>
            <a:r>
              <a:rPr lang="en-US" sz="2400" dirty="0">
                <a:solidFill>
                  <a:srgbClr val="0B2B4E"/>
                </a:solidFill>
                <a:latin typeface="Calibri"/>
              </a:rPr>
              <a:t>(Speculative) benefit from cancellation: tax write-off</a:t>
            </a:r>
            <a:endParaRPr lang="en-US" sz="2400" b="0" i="0" dirty="0">
              <a:solidFill>
                <a:srgbClr val="0B2B4E"/>
              </a:solidFill>
              <a:latin typeface="Calibri"/>
            </a:endParaRPr>
          </a:p>
          <a:p>
            <a:pPr marL="274320" indent="-274320">
              <a:spcAft>
                <a:spcPts val="1000"/>
              </a:spcAft>
              <a:buClr>
                <a:srgbClr val="0B2B4E"/>
              </a:buClr>
              <a:buSzPct val="100000"/>
              <a:buFont typeface="Calibri"/>
              <a:buChar char="▪"/>
            </a:pPr>
            <a:endParaRPr lang="en-US" sz="2400" dirty="0">
              <a:solidFill>
                <a:srgbClr val="0B2B4E"/>
              </a:solidFill>
              <a:latin typeface="Calibri"/>
            </a:endParaRPr>
          </a:p>
          <a:p>
            <a:pPr>
              <a:spcAft>
                <a:spcPts val="1000"/>
              </a:spcAft>
              <a:buClr>
                <a:srgbClr val="0B2B4E"/>
              </a:buClr>
              <a:buSzPct val="100000"/>
            </a:pPr>
            <a:r>
              <a:rPr lang="en-US" sz="2000" dirty="0">
                <a:solidFill>
                  <a:srgbClr val="222B3A"/>
                </a:solidFill>
              </a:rPr>
              <a:t>For more: </a:t>
            </a:r>
            <a:r>
              <a:rPr lang="en-US" sz="2000" dirty="0">
                <a:solidFill>
                  <a:srgbClr val="222B3A"/>
                </a:solidFill>
                <a:hlinkClick r:id="rId4"/>
              </a:rPr>
              <a:t>https://www.theguardian.com/film/2022/aug/03/irredeemable-batgirl-movie-unexpectedly-cancelled-despite-being-in-final-stages</a:t>
            </a:r>
            <a:r>
              <a:rPr lang="en-US" sz="2000" dirty="0">
                <a:solidFill>
                  <a:srgbClr val="222B3A"/>
                </a:solidFill>
              </a:rPr>
              <a:t>    </a:t>
            </a:r>
          </a:p>
        </p:txBody>
      </p:sp>
      <p:pic>
        <p:nvPicPr>
          <p:cNvPr id="12" name="Content Placeholder 5">
            <a:extLst>
              <a:ext uri="{FF2B5EF4-FFF2-40B4-BE49-F238E27FC236}">
                <a16:creationId xmlns:a16="http://schemas.microsoft.com/office/drawing/2014/main" id="{A916FA6A-B0B0-ABB0-A3E5-2C261A745269}"/>
              </a:ext>
            </a:extLst>
          </p:cNvPr>
          <p:cNvPicPr>
            <a:picLocks noChangeAspect="1"/>
          </p:cNvPicPr>
          <p:nvPr/>
        </p:nvPicPr>
        <p:blipFill>
          <a:blip r:embed="rId5"/>
          <a:stretch>
            <a:fillRect/>
          </a:stretch>
        </p:blipFill>
        <p:spPr>
          <a:xfrm>
            <a:off x="189099" y="1507157"/>
            <a:ext cx="6903754" cy="15435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4B2F5-9B17-F5C3-AF8E-45DFD3C97E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A46AD7-3C99-0839-F8DF-3DE99549BC19}"/>
              </a:ext>
            </a:extLst>
          </p:cNvPr>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Outline</a:t>
            </a:r>
          </a:p>
        </p:txBody>
      </p:sp>
      <p:sp>
        <p:nvSpPr>
          <p:cNvPr id="3" name="TextBox 2">
            <a:extLst>
              <a:ext uri="{FF2B5EF4-FFF2-40B4-BE49-F238E27FC236}">
                <a16:creationId xmlns:a16="http://schemas.microsoft.com/office/drawing/2014/main" id="{DAAB5B15-48B4-113F-9A32-638D8BB3DA20}"/>
              </a:ext>
            </a:extLst>
          </p:cNvPr>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a:extLst>
              <a:ext uri="{FF2B5EF4-FFF2-40B4-BE49-F238E27FC236}">
                <a16:creationId xmlns:a16="http://schemas.microsoft.com/office/drawing/2014/main" id="{EB9C2A81-C4D5-1917-4FBE-ECDF3F14DCD4}"/>
              </a:ext>
            </a:extLst>
          </p:cNvPr>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52AA5FB2-6F48-A0E9-5E2A-4C2BA2E4C6DB}"/>
              </a:ext>
            </a:extLst>
          </p:cNvPr>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a:extLst>
              <a:ext uri="{FF2B5EF4-FFF2-40B4-BE49-F238E27FC236}">
                <a16:creationId xmlns:a16="http://schemas.microsoft.com/office/drawing/2014/main" id="{B5F8DA0E-0EDA-0535-787A-B5F55A640E87}"/>
              </a:ext>
            </a:extLst>
          </p:cNvPr>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E73EF757-8AEE-A3AB-0EAC-7AED2C88ADC4}"/>
              </a:ext>
            </a:extLst>
          </p:cNvPr>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D54F22C-6B46-DF92-3497-C1B732438310}"/>
              </a:ext>
            </a:extLst>
          </p:cNvPr>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a:extLst>
              <a:ext uri="{FF2B5EF4-FFF2-40B4-BE49-F238E27FC236}">
                <a16:creationId xmlns:a16="http://schemas.microsoft.com/office/drawing/2014/main" id="{DC31FF62-4B56-F8E5-663D-6E101E63E6E5}"/>
              </a:ext>
            </a:extLst>
          </p:cNvPr>
          <p:cNvSpPr txBox="1"/>
          <p:nvPr/>
        </p:nvSpPr>
        <p:spPr>
          <a:xfrm>
            <a:off x="10515600" y="6547104"/>
            <a:ext cx="1216152" cy="169277"/>
          </a:xfrm>
          <a:prstGeom prst="rect">
            <a:avLst/>
          </a:prstGeom>
          <a:noFill/>
        </p:spPr>
        <p:txBody>
          <a:bodyPr wrap="square" lIns="0" tIns="0" rIns="0" bIns="0" anchor="t">
            <a:spAutoFit/>
          </a:bodyPr>
          <a:lstStyle/>
          <a:p>
            <a:pPr algn="r"/>
            <a:r>
              <a:rPr lang="en-US" sz="1100" b="0" i="0" dirty="0">
                <a:solidFill>
                  <a:srgbClr val="555B66"/>
                </a:solidFill>
                <a:latin typeface="Calibri"/>
              </a:rPr>
              <a:t>33</a:t>
            </a:r>
            <a:endParaRPr sz="1100" b="0" i="0" dirty="0">
              <a:solidFill>
                <a:srgbClr val="555B66"/>
              </a:solidFill>
              <a:latin typeface="Calibri"/>
            </a:endParaRPr>
          </a:p>
        </p:txBody>
      </p:sp>
      <p:sp>
        <p:nvSpPr>
          <p:cNvPr id="10" name="Oval 9">
            <a:extLst>
              <a:ext uri="{FF2B5EF4-FFF2-40B4-BE49-F238E27FC236}">
                <a16:creationId xmlns:a16="http://schemas.microsoft.com/office/drawing/2014/main" id="{869DE872-6CDD-6CF8-D763-DE7C30B4F73E}"/>
              </a:ext>
            </a:extLst>
          </p:cNvPr>
          <p:cNvSpPr/>
          <p:nvPr/>
        </p:nvSpPr>
        <p:spPr>
          <a:xfrm>
            <a:off x="1024128" y="192938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a:extLst>
              <a:ext uri="{FF2B5EF4-FFF2-40B4-BE49-F238E27FC236}">
                <a16:creationId xmlns:a16="http://schemas.microsoft.com/office/drawing/2014/main" id="{2124CEB3-A992-CDE2-0C81-28FDBA6CC688}"/>
              </a:ext>
            </a:extLst>
          </p:cNvPr>
          <p:cNvSpPr txBox="1"/>
          <p:nvPr/>
        </p:nvSpPr>
        <p:spPr>
          <a:xfrm>
            <a:off x="1883664" y="1910422"/>
            <a:ext cx="9226296" cy="384721"/>
          </a:xfrm>
          <a:prstGeom prst="rect">
            <a:avLst/>
          </a:prstGeom>
          <a:noFill/>
        </p:spPr>
        <p:txBody>
          <a:bodyPr wrap="square" lIns="0" tIns="0" rIns="0" bIns="0" anchor="b">
            <a:spAutoFit/>
          </a:bodyPr>
          <a:lstStyle/>
          <a:p>
            <a:r>
              <a:rPr sz="2500" b="1" i="0" dirty="0">
                <a:solidFill>
                  <a:srgbClr val="9AA0A8"/>
                </a:solidFill>
                <a:latin typeface="Calibri"/>
              </a:rPr>
              <a:t>Value of the Firm</a:t>
            </a:r>
          </a:p>
        </p:txBody>
      </p:sp>
      <p:sp>
        <p:nvSpPr>
          <p:cNvPr id="12" name="TextBox 11">
            <a:extLst>
              <a:ext uri="{FF2B5EF4-FFF2-40B4-BE49-F238E27FC236}">
                <a16:creationId xmlns:a16="http://schemas.microsoft.com/office/drawing/2014/main" id="{E34D2A86-B238-0955-42DF-04C0E7BCD6A9}"/>
              </a:ext>
            </a:extLst>
          </p:cNvPr>
          <p:cNvSpPr txBox="1"/>
          <p:nvPr/>
        </p:nvSpPr>
        <p:spPr>
          <a:xfrm>
            <a:off x="1883664" y="2295144"/>
            <a:ext cx="9226296" cy="338554"/>
          </a:xfrm>
          <a:prstGeom prst="rect">
            <a:avLst/>
          </a:prstGeom>
          <a:noFill/>
        </p:spPr>
        <p:txBody>
          <a:bodyPr wrap="square" lIns="0" tIns="0" rIns="0" bIns="0" anchor="t">
            <a:spAutoFit/>
          </a:bodyPr>
          <a:lstStyle/>
          <a:p>
            <a:r>
              <a:rPr sz="2200" b="0" i="0" dirty="0">
                <a:solidFill>
                  <a:srgbClr val="9AA0A8"/>
                </a:solidFill>
                <a:latin typeface="Calibri"/>
              </a:rPr>
              <a:t>What a firm maximizes — and why value is not the same as current profit</a:t>
            </a:r>
          </a:p>
        </p:txBody>
      </p:sp>
      <p:sp>
        <p:nvSpPr>
          <p:cNvPr id="13" name="Rounded Rectangle 12">
            <a:extLst>
              <a:ext uri="{FF2B5EF4-FFF2-40B4-BE49-F238E27FC236}">
                <a16:creationId xmlns:a16="http://schemas.microsoft.com/office/drawing/2014/main" id="{E1A84046-3DA6-3063-D15C-DD225F2C56CD}"/>
              </a:ext>
            </a:extLst>
          </p:cNvPr>
          <p:cNvSpPr/>
          <p:nvPr/>
        </p:nvSpPr>
        <p:spPr>
          <a:xfrm>
            <a:off x="822960" y="3182111"/>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658EE2BA-B6CF-A182-E7E7-B6707732E249}"/>
              </a:ext>
            </a:extLst>
          </p:cNvPr>
          <p:cNvSpPr/>
          <p:nvPr/>
        </p:nvSpPr>
        <p:spPr>
          <a:xfrm>
            <a:off x="1024128" y="3346703"/>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5" name="TextBox 14">
            <a:extLst>
              <a:ext uri="{FF2B5EF4-FFF2-40B4-BE49-F238E27FC236}">
                <a16:creationId xmlns:a16="http://schemas.microsoft.com/office/drawing/2014/main" id="{27A2527D-FA07-28AD-81D6-05FFE7B0495D}"/>
              </a:ext>
            </a:extLst>
          </p:cNvPr>
          <p:cNvSpPr txBox="1"/>
          <p:nvPr/>
        </p:nvSpPr>
        <p:spPr>
          <a:xfrm>
            <a:off x="1883664" y="3327742"/>
            <a:ext cx="9226296" cy="384721"/>
          </a:xfrm>
          <a:prstGeom prst="rect">
            <a:avLst/>
          </a:prstGeom>
          <a:noFill/>
        </p:spPr>
        <p:txBody>
          <a:bodyPr wrap="square" lIns="0" tIns="0" rIns="0" bIns="0" anchor="b">
            <a:spAutoFit/>
          </a:bodyPr>
          <a:lstStyle/>
          <a:p>
            <a:r>
              <a:rPr sz="2500" b="1" i="0" dirty="0">
                <a:solidFill>
                  <a:srgbClr val="0B2B4E"/>
                </a:solidFill>
                <a:latin typeface="Calibri"/>
              </a:rPr>
              <a:t>Basic Principles of Economic Thinking</a:t>
            </a:r>
          </a:p>
        </p:txBody>
      </p:sp>
      <p:sp>
        <p:nvSpPr>
          <p:cNvPr id="16" name="TextBox 15">
            <a:extLst>
              <a:ext uri="{FF2B5EF4-FFF2-40B4-BE49-F238E27FC236}">
                <a16:creationId xmlns:a16="http://schemas.microsoft.com/office/drawing/2014/main" id="{1A06BC99-BB50-5A45-EB31-DC8FF9FD0512}"/>
              </a:ext>
            </a:extLst>
          </p:cNvPr>
          <p:cNvSpPr txBox="1"/>
          <p:nvPr/>
        </p:nvSpPr>
        <p:spPr>
          <a:xfrm>
            <a:off x="1883664" y="3712463"/>
            <a:ext cx="9226296" cy="338554"/>
          </a:xfrm>
          <a:prstGeom prst="rect">
            <a:avLst/>
          </a:prstGeom>
          <a:noFill/>
        </p:spPr>
        <p:txBody>
          <a:bodyPr wrap="square" lIns="0" tIns="0" rIns="0" bIns="0" anchor="t">
            <a:spAutoFit/>
          </a:bodyPr>
          <a:lstStyle/>
          <a:p>
            <a:r>
              <a:rPr lang="en-US" sz="2200" dirty="0">
                <a:solidFill>
                  <a:srgbClr val="555B66"/>
                </a:solidFill>
              </a:rPr>
              <a:t>Opportunity costs </a:t>
            </a:r>
            <a:r>
              <a:rPr sz="2200" b="0" i="0" dirty="0">
                <a:solidFill>
                  <a:srgbClr val="555B66"/>
                </a:solidFill>
                <a:latin typeface="Calibri"/>
              </a:rPr>
              <a:t>· </a:t>
            </a:r>
            <a:r>
              <a:rPr lang="en-US" sz="2200" b="0" i="0" dirty="0">
                <a:solidFill>
                  <a:srgbClr val="555B66"/>
                </a:solidFill>
                <a:latin typeface="Calibri"/>
              </a:rPr>
              <a:t>Sunk </a:t>
            </a:r>
            <a:r>
              <a:rPr lang="en-US" sz="2200" dirty="0">
                <a:solidFill>
                  <a:srgbClr val="555B66"/>
                </a:solidFill>
              </a:rPr>
              <a:t>costs </a:t>
            </a:r>
            <a:r>
              <a:rPr sz="2200" b="0" i="0" dirty="0">
                <a:solidFill>
                  <a:srgbClr val="555B66"/>
                </a:solidFill>
                <a:latin typeface="Calibri"/>
              </a:rPr>
              <a:t>· </a:t>
            </a:r>
            <a:r>
              <a:rPr lang="en-US" sz="2200" b="1" dirty="0">
                <a:solidFill>
                  <a:srgbClr val="0B2B4E"/>
                </a:solidFill>
              </a:rPr>
              <a:t>Cost-benefit and marginal analysis</a:t>
            </a:r>
            <a:endParaRPr sz="2200" b="0" i="0" dirty="0">
              <a:solidFill>
                <a:srgbClr val="555B66"/>
              </a:solidFill>
              <a:latin typeface="Calibri"/>
            </a:endParaRPr>
          </a:p>
        </p:txBody>
      </p:sp>
      <p:sp>
        <p:nvSpPr>
          <p:cNvPr id="17" name="Oval 16">
            <a:extLst>
              <a:ext uri="{FF2B5EF4-FFF2-40B4-BE49-F238E27FC236}">
                <a16:creationId xmlns:a16="http://schemas.microsoft.com/office/drawing/2014/main" id="{A0F97894-06A6-76A2-2D33-A9CDCA84F4E7}"/>
              </a:ext>
            </a:extLst>
          </p:cNvPr>
          <p:cNvSpPr/>
          <p:nvPr/>
        </p:nvSpPr>
        <p:spPr>
          <a:xfrm>
            <a:off x="1024128" y="476402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8" name="TextBox 17">
            <a:extLst>
              <a:ext uri="{FF2B5EF4-FFF2-40B4-BE49-F238E27FC236}">
                <a16:creationId xmlns:a16="http://schemas.microsoft.com/office/drawing/2014/main" id="{51797246-904F-D042-2E9D-B066441AC599}"/>
              </a:ext>
            </a:extLst>
          </p:cNvPr>
          <p:cNvSpPr txBox="1"/>
          <p:nvPr/>
        </p:nvSpPr>
        <p:spPr>
          <a:xfrm>
            <a:off x="1883664" y="4745063"/>
            <a:ext cx="9226296" cy="384721"/>
          </a:xfrm>
          <a:prstGeom prst="rect">
            <a:avLst/>
          </a:prstGeom>
          <a:noFill/>
        </p:spPr>
        <p:txBody>
          <a:bodyPr wrap="square" lIns="0" tIns="0" rIns="0" bIns="0" anchor="b">
            <a:spAutoFit/>
          </a:bodyPr>
          <a:lstStyle/>
          <a:p>
            <a:r>
              <a:rPr sz="2500" b="1" i="0" dirty="0">
                <a:solidFill>
                  <a:srgbClr val="9AA0A8"/>
                </a:solidFill>
                <a:latin typeface="Calibri"/>
              </a:rPr>
              <a:t>Economics Fundamentals</a:t>
            </a:r>
          </a:p>
        </p:txBody>
      </p:sp>
      <p:sp>
        <p:nvSpPr>
          <p:cNvPr id="19" name="TextBox 18">
            <a:extLst>
              <a:ext uri="{FF2B5EF4-FFF2-40B4-BE49-F238E27FC236}">
                <a16:creationId xmlns:a16="http://schemas.microsoft.com/office/drawing/2014/main" id="{9A7FD050-6F57-9D72-5327-91E5C3E677C5}"/>
              </a:ext>
            </a:extLst>
          </p:cNvPr>
          <p:cNvSpPr txBox="1"/>
          <p:nvPr/>
        </p:nvSpPr>
        <p:spPr>
          <a:xfrm>
            <a:off x="1883664" y="5129784"/>
            <a:ext cx="9226296" cy="338554"/>
          </a:xfrm>
          <a:prstGeom prst="rect">
            <a:avLst/>
          </a:prstGeom>
          <a:noFill/>
        </p:spPr>
        <p:txBody>
          <a:bodyPr wrap="square" lIns="0" tIns="0" rIns="0" bIns="0" anchor="t">
            <a:spAutoFit/>
          </a:bodyPr>
          <a:lstStyle/>
          <a:p>
            <a:r>
              <a:rPr sz="2200" b="0" i="0" dirty="0">
                <a:solidFill>
                  <a:srgbClr val="9AA0A8"/>
                </a:solidFill>
                <a:latin typeface="Calibri"/>
              </a:rPr>
              <a:t>Markets · Supply and Demand · Equilibrium</a:t>
            </a:r>
          </a:p>
        </p:txBody>
      </p:sp>
    </p:spTree>
    <p:extLst>
      <p:ext uri="{BB962C8B-B14F-4D97-AF65-F5344CB8AC3E}">
        <p14:creationId xmlns:p14="http://schemas.microsoft.com/office/powerpoint/2010/main" val="1859070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Cost-Benefit &amp; Marginal Analysis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Objective: Maximize </a:t>
            </a:r>
            <a:r>
              <a:rPr lang="en-US" sz="3000" b="1" i="0" dirty="0">
                <a:solidFill>
                  <a:srgbClr val="0B2B4E"/>
                </a:solidFill>
                <a:latin typeface="Calibri"/>
              </a:rPr>
              <a:t>N</a:t>
            </a:r>
            <a:r>
              <a:rPr sz="3000" b="1" i="0" dirty="0">
                <a:solidFill>
                  <a:srgbClr val="0B2B4E"/>
                </a:solidFill>
                <a:latin typeface="Calibri"/>
              </a:rPr>
              <a:t>et </a:t>
            </a:r>
            <a:r>
              <a:rPr lang="en-US" sz="3000" b="1" dirty="0">
                <a:solidFill>
                  <a:srgbClr val="0B2B4E"/>
                </a:solidFill>
                <a:latin typeface="Calibri"/>
              </a:rPr>
              <a:t>B</a:t>
            </a:r>
            <a:r>
              <a:rPr sz="3000" b="1" i="0" dirty="0">
                <a:solidFill>
                  <a:srgbClr val="0B2B4E"/>
                </a:solidFill>
                <a:latin typeface="Calibri"/>
              </a:rPr>
              <a:t>enefits (= total benefits – total costs)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34</a:t>
            </a:r>
          </a:p>
        </p:txBody>
      </p:sp>
      <p:sp>
        <p:nvSpPr>
          <p:cNvPr id="10" name="BUILD"/>
          <p:cNvSpPr txBox="1"/>
          <p:nvPr/>
        </p:nvSpPr>
        <p:spPr>
          <a:xfrm>
            <a:off x="640080" y="1691640"/>
            <a:ext cx="10881360" cy="3539430"/>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500" b="0" i="0" dirty="0">
                <a:solidFill>
                  <a:srgbClr val="0B2B4E"/>
                </a:solidFill>
                <a:latin typeface="Calibri"/>
              </a:rPr>
              <a:t>Cost-benefit and marginal analysis</a:t>
            </a:r>
          </a:p>
          <a:p>
            <a:pPr marL="274320" indent="-274320">
              <a:spcAft>
                <a:spcPts val="1000"/>
              </a:spcAft>
              <a:buClr>
                <a:srgbClr val="0B2B4E"/>
              </a:buClr>
              <a:buSzPct val="100000"/>
              <a:buFont typeface="Calibri"/>
              <a:buChar char="▪"/>
            </a:pPr>
            <a:r>
              <a:rPr sz="2500" b="0" i="0" dirty="0">
                <a:solidFill>
                  <a:srgbClr val="0B2B4E"/>
                </a:solidFill>
                <a:latin typeface="Calibri"/>
              </a:rPr>
              <a:t>To maximize net benefits from an activity, use </a:t>
            </a:r>
            <a:r>
              <a:rPr sz="2500" b="0" i="0" dirty="0">
                <a:solidFill>
                  <a:srgbClr val="C0201B"/>
                </a:solidFill>
                <a:latin typeface="Calibri"/>
              </a:rPr>
              <a:t>marginal analysis</a:t>
            </a:r>
          </a:p>
          <a:p>
            <a:pPr marL="603504" lvl="1" indent="-310896">
              <a:spcAft>
                <a:spcPts val="1000"/>
              </a:spcAft>
              <a:buClr>
                <a:srgbClr val="555B66"/>
              </a:buClr>
              <a:buSzPct val="100000"/>
              <a:buFont typeface="Calibri"/>
              <a:buChar char="–"/>
            </a:pPr>
            <a:r>
              <a:rPr sz="2000" b="0" i="0" dirty="0">
                <a:solidFill>
                  <a:srgbClr val="C0201B"/>
                </a:solidFill>
                <a:latin typeface="Calibri"/>
              </a:rPr>
              <a:t>Marginal benefit (MB): </a:t>
            </a:r>
            <a:r>
              <a:rPr sz="2000" b="0" i="0" dirty="0">
                <a:solidFill>
                  <a:schemeClr val="tx1">
                    <a:lumMod val="50000"/>
                    <a:lumOff val="50000"/>
                  </a:schemeClr>
                </a:solidFill>
                <a:latin typeface="Calibri"/>
              </a:rPr>
              <a:t>additional benefit due to an extra unit of the activity (or an extra unit of a good/service)</a:t>
            </a:r>
          </a:p>
          <a:p>
            <a:pPr marL="603504" lvl="1" indent="-310896">
              <a:spcAft>
                <a:spcPts val="1000"/>
              </a:spcAft>
              <a:buClr>
                <a:srgbClr val="555B66"/>
              </a:buClr>
              <a:buSzPct val="100000"/>
              <a:buFont typeface="Calibri"/>
              <a:buChar char="–"/>
            </a:pPr>
            <a:r>
              <a:rPr sz="2000" b="0" i="0" dirty="0">
                <a:solidFill>
                  <a:srgbClr val="C0201B"/>
                </a:solidFill>
                <a:latin typeface="Calibri"/>
              </a:rPr>
              <a:t>Marginal cost (MC): </a:t>
            </a:r>
            <a:r>
              <a:rPr sz="2000" b="0" i="0" dirty="0">
                <a:solidFill>
                  <a:schemeClr val="tx1">
                    <a:lumMod val="50000"/>
                    <a:lumOff val="50000"/>
                  </a:schemeClr>
                </a:solidFill>
                <a:latin typeface="Calibri"/>
              </a:rPr>
              <a:t>additional cost due to an extra unit </a:t>
            </a:r>
          </a:p>
          <a:p>
            <a:pPr marL="603504" lvl="1" indent="-310896">
              <a:spcAft>
                <a:spcPts val="1000"/>
              </a:spcAft>
              <a:buClr>
                <a:srgbClr val="555B66"/>
              </a:buClr>
              <a:buSzPct val="100000"/>
              <a:buFont typeface="Calibri"/>
              <a:buChar char="–"/>
            </a:pPr>
            <a:r>
              <a:rPr sz="2000" b="0" i="0" dirty="0">
                <a:solidFill>
                  <a:schemeClr val="tx1">
                    <a:lumMod val="50000"/>
                    <a:lumOff val="50000"/>
                  </a:schemeClr>
                </a:solidFill>
                <a:latin typeface="Calibri"/>
              </a:rPr>
              <a:t>Distinct from average benefit and average cost!</a:t>
            </a:r>
          </a:p>
          <a:p>
            <a:pPr marL="274320" indent="-274320">
              <a:spcAft>
                <a:spcPts val="1000"/>
              </a:spcAft>
              <a:buClr>
                <a:srgbClr val="0B2B4E"/>
              </a:buClr>
              <a:buSzPct val="100000"/>
              <a:buFont typeface="Calibri"/>
              <a:buChar char="▪"/>
            </a:pPr>
            <a:r>
              <a:rPr sz="2500" b="0" i="0" dirty="0">
                <a:solidFill>
                  <a:srgbClr val="0B2B4E"/>
                </a:solidFill>
                <a:latin typeface="Calibri"/>
              </a:rPr>
              <a:t>An extra unit is economically viable if MB &gt; MC</a:t>
            </a:r>
          </a:p>
          <a:p>
            <a:pPr marL="274320" indent="-274320">
              <a:spcAft>
                <a:spcPts val="1000"/>
              </a:spcAft>
              <a:buClr>
                <a:srgbClr val="0B2B4E"/>
              </a:buClr>
              <a:buSzPct val="100000"/>
              <a:buFont typeface="Calibri"/>
              <a:buChar char="▪"/>
            </a:pPr>
            <a:endParaRPr lang="en-US" sz="2500" b="0" i="0" dirty="0">
              <a:solidFill>
                <a:srgbClr val="0B2B4E"/>
              </a:solidFill>
              <a:latin typeface="Calibri"/>
            </a:endParaRPr>
          </a:p>
        </p:txBody>
      </p:sp>
      <p:sp>
        <p:nvSpPr>
          <p:cNvPr id="11" name="Rounded Rectangle 10">
            <a:extLst>
              <a:ext uri="{FF2B5EF4-FFF2-40B4-BE49-F238E27FC236}">
                <a16:creationId xmlns:a16="http://schemas.microsoft.com/office/drawing/2014/main" id="{C3180822-46A6-567A-49FE-29EA8DCB2362}"/>
              </a:ext>
            </a:extLst>
          </p:cNvPr>
          <p:cNvSpPr/>
          <p:nvPr/>
        </p:nvSpPr>
        <p:spPr>
          <a:xfrm>
            <a:off x="1916134" y="5139627"/>
            <a:ext cx="8322066" cy="798798"/>
          </a:xfrm>
          <a:prstGeom prst="roundRect">
            <a:avLst>
              <a:gd name="adj" fmla="val 6000"/>
            </a:avLst>
          </a:prstGeom>
          <a:solidFill>
            <a:srgbClr val="FDF6E6"/>
          </a:solidFill>
          <a:ln w="12700">
            <a:solidFill>
              <a:srgbClr val="C0201B"/>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endParaRPr lang="en-US" sz="2400" b="1" i="0" dirty="0">
              <a:solidFill>
                <a:srgbClr val="0B2B4E"/>
              </a:solidFill>
              <a:latin typeface="Calibri"/>
            </a:endParaRPr>
          </a:p>
          <a:p>
            <a:r>
              <a:rPr lang="en-US" sz="2400" b="1" i="0" dirty="0">
                <a:solidFill>
                  <a:srgbClr val="0B2B4E"/>
                </a:solidFill>
                <a:latin typeface="Calibri"/>
              </a:rPr>
              <a:t>   </a:t>
            </a:r>
            <a:r>
              <a:rPr lang="en-US" sz="2400" b="1" dirty="0">
                <a:solidFill>
                  <a:srgbClr val="0B2B4E"/>
                </a:solidFill>
                <a:latin typeface="Calibri"/>
              </a:rPr>
              <a:t>Important Rule: </a:t>
            </a:r>
            <a:r>
              <a:rPr lang="en-US" sz="2400" dirty="0">
                <a:solidFill>
                  <a:srgbClr val="C0201B"/>
                </a:solidFill>
              </a:rPr>
              <a:t>Net benefits are maximized</a:t>
            </a:r>
            <a:r>
              <a:rPr lang="en-US" sz="2400" dirty="0">
                <a:solidFill>
                  <a:srgbClr val="222B3A"/>
                </a:solidFill>
              </a:rPr>
              <a:t> where MB = MC</a:t>
            </a:r>
          </a:p>
          <a:p>
            <a:pPr algn="l"/>
            <a:endParaRPr sz="2400" b="0" i="0"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HR0_mb">
            <a:extLst>
              <a:ext uri="{FF2B5EF4-FFF2-40B4-BE49-F238E27FC236}">
                <a16:creationId xmlns:a16="http://schemas.microsoft.com/office/drawing/2014/main" id="{B331876B-09B0-5C45-B32A-50D495F34991}"/>
              </a:ext>
            </a:extLst>
          </p:cNvPr>
          <p:cNvSpPr/>
          <p:nvPr/>
        </p:nvSpPr>
        <p:spPr>
          <a:xfrm>
            <a:off x="9410698" y="4124434"/>
            <a:ext cx="1051560" cy="1723982"/>
          </a:xfrm>
          <a:prstGeom prst="rect">
            <a:avLst/>
          </a:prstGeom>
          <a:solidFill>
            <a:schemeClr val="accent3">
              <a:lumMod val="60000"/>
              <a:lumOff val="40000"/>
            </a:schemeClr>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9" name="HR0_mb">
            <a:extLst>
              <a:ext uri="{FF2B5EF4-FFF2-40B4-BE49-F238E27FC236}">
                <a16:creationId xmlns:a16="http://schemas.microsoft.com/office/drawing/2014/main" id="{DF87C60A-6383-7422-033D-2746FEF488AF}"/>
              </a:ext>
            </a:extLst>
          </p:cNvPr>
          <p:cNvSpPr/>
          <p:nvPr/>
        </p:nvSpPr>
        <p:spPr>
          <a:xfrm>
            <a:off x="8039098" y="3840480"/>
            <a:ext cx="1051560" cy="1999682"/>
          </a:xfrm>
          <a:prstGeom prst="rect">
            <a:avLst/>
          </a:prstGeom>
          <a:solidFill>
            <a:schemeClr val="accent3">
              <a:lumMod val="60000"/>
              <a:lumOff val="40000"/>
            </a:schemeClr>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8" name="HR0_mb">
            <a:extLst>
              <a:ext uri="{FF2B5EF4-FFF2-40B4-BE49-F238E27FC236}">
                <a16:creationId xmlns:a16="http://schemas.microsoft.com/office/drawing/2014/main" id="{0CE3D927-38EC-94FD-79D7-734477A69E39}"/>
              </a:ext>
            </a:extLst>
          </p:cNvPr>
          <p:cNvSpPr/>
          <p:nvPr/>
        </p:nvSpPr>
        <p:spPr>
          <a:xfrm>
            <a:off x="6682742" y="3657600"/>
            <a:ext cx="1051560" cy="2182562"/>
          </a:xfrm>
          <a:prstGeom prst="rect">
            <a:avLst/>
          </a:prstGeom>
          <a:solidFill>
            <a:schemeClr val="accent3">
              <a:lumMod val="60000"/>
              <a:lumOff val="40000"/>
            </a:schemeClr>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7" name="HR0_mb">
            <a:extLst>
              <a:ext uri="{FF2B5EF4-FFF2-40B4-BE49-F238E27FC236}">
                <a16:creationId xmlns:a16="http://schemas.microsoft.com/office/drawing/2014/main" id="{DA6D854E-88BB-05E1-A4AF-7A50865E7D92}"/>
              </a:ext>
            </a:extLst>
          </p:cNvPr>
          <p:cNvSpPr/>
          <p:nvPr/>
        </p:nvSpPr>
        <p:spPr>
          <a:xfrm>
            <a:off x="5306835" y="3474720"/>
            <a:ext cx="1051560" cy="2365442"/>
          </a:xfrm>
          <a:prstGeom prst="rect">
            <a:avLst/>
          </a:prstGeom>
          <a:solidFill>
            <a:schemeClr val="accent3">
              <a:lumMod val="60000"/>
              <a:lumOff val="40000"/>
            </a:schemeClr>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6" name="HR0_mb">
            <a:extLst>
              <a:ext uri="{FF2B5EF4-FFF2-40B4-BE49-F238E27FC236}">
                <a16:creationId xmlns:a16="http://schemas.microsoft.com/office/drawing/2014/main" id="{A8C3B38B-BF02-B117-7BFF-BD65601BE7C8}"/>
              </a:ext>
            </a:extLst>
          </p:cNvPr>
          <p:cNvSpPr/>
          <p:nvPr/>
        </p:nvSpPr>
        <p:spPr>
          <a:xfrm>
            <a:off x="3935235" y="3213653"/>
            <a:ext cx="1051560" cy="2626509"/>
          </a:xfrm>
          <a:prstGeom prst="rect">
            <a:avLst/>
          </a:prstGeom>
          <a:solidFill>
            <a:schemeClr val="accent3">
              <a:lumMod val="60000"/>
              <a:lumOff val="40000"/>
            </a:schemeClr>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Cost-Benefit &amp; Marginal Analysis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How </a:t>
            </a:r>
            <a:r>
              <a:rPr lang="en-US" sz="3000" b="1" i="0" dirty="0">
                <a:solidFill>
                  <a:srgbClr val="0B2B4E"/>
                </a:solidFill>
                <a:latin typeface="Calibri"/>
              </a:rPr>
              <a:t>M</a:t>
            </a:r>
            <a:r>
              <a:rPr sz="3000" b="1" i="0" dirty="0">
                <a:solidFill>
                  <a:srgbClr val="0B2B4E"/>
                </a:solidFill>
                <a:latin typeface="Calibri"/>
              </a:rPr>
              <a:t>any </a:t>
            </a:r>
            <a:r>
              <a:rPr lang="en-US" sz="3000" b="1" dirty="0">
                <a:solidFill>
                  <a:srgbClr val="0B2B4E"/>
                </a:solidFill>
                <a:latin typeface="Calibri"/>
              </a:rPr>
              <a:t>H</a:t>
            </a:r>
            <a:r>
              <a:rPr sz="3000" b="1" i="0" dirty="0">
                <a:solidFill>
                  <a:srgbClr val="0B2B4E"/>
                </a:solidFill>
                <a:latin typeface="Calibri"/>
              </a:rPr>
              <a:t>ours </a:t>
            </a:r>
            <a:r>
              <a:rPr lang="en-US" sz="3000" b="1" dirty="0">
                <a:solidFill>
                  <a:srgbClr val="0B2B4E"/>
                </a:solidFill>
                <a:latin typeface="Calibri"/>
              </a:rPr>
              <a:t>per</a:t>
            </a:r>
            <a:r>
              <a:rPr sz="3000" b="1" i="0" dirty="0">
                <a:solidFill>
                  <a:srgbClr val="0B2B4E"/>
                </a:solidFill>
                <a:latin typeface="Calibri"/>
              </a:rPr>
              <a:t> </a:t>
            </a:r>
            <a:r>
              <a:rPr lang="en-US" sz="3000" b="1" dirty="0">
                <a:solidFill>
                  <a:srgbClr val="0B2B4E"/>
                </a:solidFill>
                <a:latin typeface="Calibri"/>
              </a:rPr>
              <a:t>W</a:t>
            </a:r>
            <a:r>
              <a:rPr sz="3000" b="1" i="0" dirty="0">
                <a:solidFill>
                  <a:srgbClr val="0B2B4E"/>
                </a:solidFill>
                <a:latin typeface="Calibri"/>
              </a:rPr>
              <a:t>eek </a:t>
            </a:r>
            <a:r>
              <a:rPr lang="en-US" sz="3000" b="1" dirty="0">
                <a:solidFill>
                  <a:srgbClr val="0B2B4E"/>
                </a:solidFill>
                <a:latin typeface="Calibri"/>
              </a:rPr>
              <a:t>S</a:t>
            </a:r>
            <a:r>
              <a:rPr sz="3000" b="1" i="0" dirty="0">
                <a:solidFill>
                  <a:srgbClr val="0B2B4E"/>
                </a:solidFill>
                <a:latin typeface="Calibri"/>
              </a:rPr>
              <a:t>hould </a:t>
            </a:r>
            <a:r>
              <a:rPr lang="en-US" sz="3000" b="1" dirty="0">
                <a:solidFill>
                  <a:srgbClr val="0B2B4E"/>
                </a:solidFill>
                <a:latin typeface="Calibri"/>
              </a:rPr>
              <a:t>Y</a:t>
            </a:r>
            <a:r>
              <a:rPr sz="3000" b="1" i="0" dirty="0">
                <a:solidFill>
                  <a:srgbClr val="0B2B4E"/>
                </a:solidFill>
                <a:latin typeface="Calibri"/>
              </a:rPr>
              <a:t>ou </a:t>
            </a:r>
            <a:r>
              <a:rPr lang="en-US" sz="3000" b="1" i="0" dirty="0">
                <a:solidFill>
                  <a:srgbClr val="0B2B4E"/>
                </a:solidFill>
                <a:latin typeface="Calibri"/>
              </a:rPr>
              <a:t>E</a:t>
            </a:r>
            <a:r>
              <a:rPr sz="3000" b="1" i="0" dirty="0">
                <a:solidFill>
                  <a:srgbClr val="0B2B4E"/>
                </a:solidFill>
                <a:latin typeface="Calibri"/>
              </a:rPr>
              <a:t>xercise?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35</a:t>
            </a:r>
          </a:p>
        </p:txBody>
      </p:sp>
      <p:sp>
        <p:nvSpPr>
          <p:cNvPr id="10" name="TextBox 9"/>
          <p:cNvSpPr txBox="1"/>
          <p:nvPr/>
        </p:nvSpPr>
        <p:spPr>
          <a:xfrm>
            <a:off x="306977" y="1641872"/>
            <a:ext cx="2194560" cy="830997"/>
          </a:xfrm>
          <a:prstGeom prst="rect">
            <a:avLst/>
          </a:prstGeom>
          <a:noFill/>
        </p:spPr>
        <p:txBody>
          <a:bodyPr wrap="square" lIns="0" tIns="0" rIns="0" bIns="0" anchor="t">
            <a:spAutoFit/>
          </a:bodyPr>
          <a:lstStyle/>
          <a:p>
            <a:pPr algn="ctr"/>
            <a:r>
              <a:rPr sz="1800" b="1" i="0" dirty="0">
                <a:solidFill>
                  <a:srgbClr val="0B2B4E"/>
                </a:solidFill>
                <a:latin typeface="Calibri"/>
              </a:rPr>
              <a:t>Net</a:t>
            </a:r>
            <a:r>
              <a:rPr lang="en-US" sz="1800" b="1" i="0" dirty="0">
                <a:solidFill>
                  <a:srgbClr val="0B2B4E"/>
                </a:solidFill>
                <a:latin typeface="Calibri"/>
              </a:rPr>
              <a:t> </a:t>
            </a:r>
            <a:r>
              <a:rPr sz="1800" b="1" i="0" dirty="0">
                <a:solidFill>
                  <a:srgbClr val="0B2B4E"/>
                </a:solidFill>
                <a:latin typeface="Calibri"/>
              </a:rPr>
              <a:t>Benefit </a:t>
            </a:r>
            <a:endParaRPr lang="en-US" sz="1800" b="1" i="0" dirty="0">
              <a:solidFill>
                <a:srgbClr val="0B2B4E"/>
              </a:solidFill>
              <a:latin typeface="Calibri"/>
            </a:endParaRPr>
          </a:p>
          <a:p>
            <a:pPr algn="ctr"/>
            <a:r>
              <a:rPr lang="en-US" b="1" dirty="0">
                <a:solidFill>
                  <a:srgbClr val="0B2B4E"/>
                </a:solidFill>
                <a:latin typeface="Calibri"/>
              </a:rPr>
              <a:t>o</a:t>
            </a:r>
            <a:r>
              <a:rPr sz="1800" b="1" i="0" dirty="0">
                <a:solidFill>
                  <a:srgbClr val="0B2B4E"/>
                </a:solidFill>
                <a:latin typeface="Calibri"/>
              </a:rPr>
              <a:t>f</a:t>
            </a:r>
            <a:r>
              <a:rPr lang="en-US" b="1" dirty="0">
                <a:solidFill>
                  <a:srgbClr val="0B2B4E"/>
                </a:solidFill>
                <a:latin typeface="Calibri"/>
              </a:rPr>
              <a:t> </a:t>
            </a:r>
            <a:r>
              <a:rPr lang="en-US" sz="1800" b="1" i="0" dirty="0">
                <a:solidFill>
                  <a:srgbClr val="0B2B4E"/>
                </a:solidFill>
                <a:latin typeface="Calibri"/>
              </a:rPr>
              <a:t>Exercise </a:t>
            </a:r>
          </a:p>
          <a:p>
            <a:pPr algn="ctr"/>
            <a:r>
              <a:rPr lang="en-US" sz="1800" b="1" i="0" dirty="0">
                <a:solidFill>
                  <a:srgbClr val="0B2B4E"/>
                </a:solidFill>
                <a:latin typeface="Calibri"/>
              </a:rPr>
              <a:t>(in blue)</a:t>
            </a:r>
            <a:endParaRPr sz="1800" b="1" i="0" dirty="0">
              <a:solidFill>
                <a:srgbClr val="0B2B4E"/>
              </a:solidFill>
              <a:latin typeface="Calibri"/>
            </a:endParaRPr>
          </a:p>
        </p:txBody>
      </p:sp>
      <p:cxnSp>
        <p:nvCxnSpPr>
          <p:cNvPr id="13" name="Connector 12"/>
          <p:cNvCxnSpPr>
            <a:cxnSpLocks/>
          </p:cNvCxnSpPr>
          <p:nvPr/>
        </p:nvCxnSpPr>
        <p:spPr>
          <a:xfrm>
            <a:off x="2148840" y="2526912"/>
            <a:ext cx="0" cy="3313256"/>
          </a:xfrm>
          <a:prstGeom prst="line">
            <a:avLst/>
          </a:prstGeom>
          <a:ln w="44450">
            <a:solidFill>
              <a:srgbClr val="C0392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829299" y="1860805"/>
            <a:ext cx="5943600" cy="365760"/>
          </a:xfrm>
          <a:prstGeom prst="rect">
            <a:avLst/>
          </a:prstGeom>
          <a:noFill/>
        </p:spPr>
        <p:txBody>
          <a:bodyPr wrap="square" lIns="0" tIns="0" rIns="0" bIns="0" anchor="t">
            <a:spAutoFit/>
          </a:bodyPr>
          <a:lstStyle/>
          <a:p>
            <a:r>
              <a:rPr sz="2200" b="1" i="0" dirty="0">
                <a:solidFill>
                  <a:srgbClr val="0B2B4E"/>
                </a:solidFill>
                <a:latin typeface="Calibri"/>
              </a:rPr>
              <a:t>Maximizing the Net Benefit</a:t>
            </a:r>
          </a:p>
        </p:txBody>
      </p:sp>
      <p:sp>
        <p:nvSpPr>
          <p:cNvPr id="16" name="HR0_mc"/>
          <p:cNvSpPr/>
          <p:nvPr/>
        </p:nvSpPr>
        <p:spPr>
          <a:xfrm>
            <a:off x="3931920" y="4937760"/>
            <a:ext cx="1051560" cy="914400"/>
          </a:xfrm>
          <a:prstGeom prst="rect">
            <a:avLst/>
          </a:prstGeom>
          <a:solidFill>
            <a:srgbClr val="C0392B"/>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HR0_mb"/>
          <p:cNvSpPr/>
          <p:nvPr/>
        </p:nvSpPr>
        <p:spPr>
          <a:xfrm>
            <a:off x="3931920" y="3200400"/>
            <a:ext cx="1051560" cy="1737360"/>
          </a:xfrm>
          <a:prstGeom prst="rect">
            <a:avLst/>
          </a:prstGeom>
          <a:solidFill>
            <a:srgbClr val="4E79B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HR0_lbl"/>
          <p:cNvSpPr txBox="1"/>
          <p:nvPr/>
        </p:nvSpPr>
        <p:spPr>
          <a:xfrm>
            <a:off x="3840480" y="2743200"/>
            <a:ext cx="1234439" cy="320040"/>
          </a:xfrm>
          <a:prstGeom prst="rect">
            <a:avLst/>
          </a:prstGeom>
          <a:noFill/>
        </p:spPr>
        <p:txBody>
          <a:bodyPr wrap="square" lIns="0" tIns="0" rIns="0" bIns="0" anchor="t">
            <a:spAutoFit/>
          </a:bodyPr>
          <a:lstStyle/>
          <a:p>
            <a:pPr algn="ctr"/>
            <a:r>
              <a:rPr sz="1400" b="1" i="0" dirty="0">
                <a:solidFill>
                  <a:srgbClr val="0B2B4E"/>
                </a:solidFill>
                <a:latin typeface="Calibri"/>
              </a:rPr>
              <a:t>Hour 1</a:t>
            </a:r>
          </a:p>
        </p:txBody>
      </p:sp>
      <p:cxnSp>
        <p:nvCxnSpPr>
          <p:cNvPr id="19" name="HR0_arr"/>
          <p:cNvCxnSpPr/>
          <p:nvPr/>
        </p:nvCxnSpPr>
        <p:spPr>
          <a:xfrm>
            <a:off x="4073652" y="6144768"/>
            <a:ext cx="768096" cy="0"/>
          </a:xfrm>
          <a:prstGeom prst="line">
            <a:avLst/>
          </a:prstGeom>
          <a:ln w="889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HR1_mc"/>
          <p:cNvSpPr/>
          <p:nvPr/>
        </p:nvSpPr>
        <p:spPr>
          <a:xfrm>
            <a:off x="5303520" y="4480560"/>
            <a:ext cx="1051560" cy="1371600"/>
          </a:xfrm>
          <a:prstGeom prst="rect">
            <a:avLst/>
          </a:prstGeom>
          <a:solidFill>
            <a:srgbClr val="C0392B"/>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HR1_mb"/>
          <p:cNvSpPr/>
          <p:nvPr/>
        </p:nvSpPr>
        <p:spPr>
          <a:xfrm>
            <a:off x="5303520" y="3474720"/>
            <a:ext cx="1051560" cy="1005840"/>
          </a:xfrm>
          <a:prstGeom prst="rect">
            <a:avLst/>
          </a:prstGeom>
          <a:solidFill>
            <a:srgbClr val="4E79B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HR1_lbl"/>
          <p:cNvSpPr txBox="1"/>
          <p:nvPr/>
        </p:nvSpPr>
        <p:spPr>
          <a:xfrm>
            <a:off x="5212079" y="2734056"/>
            <a:ext cx="1234439" cy="320040"/>
          </a:xfrm>
          <a:prstGeom prst="rect">
            <a:avLst/>
          </a:prstGeom>
          <a:noFill/>
        </p:spPr>
        <p:txBody>
          <a:bodyPr wrap="square" lIns="0" tIns="0" rIns="0" bIns="0" anchor="t">
            <a:spAutoFit/>
          </a:bodyPr>
          <a:lstStyle/>
          <a:p>
            <a:pPr algn="ctr"/>
            <a:r>
              <a:rPr sz="1400" b="1" i="0" dirty="0">
                <a:solidFill>
                  <a:srgbClr val="0B2B4E"/>
                </a:solidFill>
                <a:latin typeface="Calibri"/>
              </a:rPr>
              <a:t>Hour 2</a:t>
            </a:r>
          </a:p>
        </p:txBody>
      </p:sp>
      <p:cxnSp>
        <p:nvCxnSpPr>
          <p:cNvPr id="23" name="HR1_arr"/>
          <p:cNvCxnSpPr/>
          <p:nvPr/>
        </p:nvCxnSpPr>
        <p:spPr>
          <a:xfrm>
            <a:off x="5445252" y="6144768"/>
            <a:ext cx="768096" cy="0"/>
          </a:xfrm>
          <a:prstGeom prst="line">
            <a:avLst/>
          </a:prstGeom>
          <a:ln w="889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HR2_mc"/>
          <p:cNvSpPr/>
          <p:nvPr/>
        </p:nvSpPr>
        <p:spPr>
          <a:xfrm>
            <a:off x="6675120" y="4114800"/>
            <a:ext cx="1051560" cy="1737360"/>
          </a:xfrm>
          <a:prstGeom prst="rect">
            <a:avLst/>
          </a:prstGeom>
          <a:solidFill>
            <a:srgbClr val="C0392B"/>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HR2_mb"/>
          <p:cNvSpPr/>
          <p:nvPr/>
        </p:nvSpPr>
        <p:spPr>
          <a:xfrm>
            <a:off x="6675120" y="3657600"/>
            <a:ext cx="1051560" cy="457200"/>
          </a:xfrm>
          <a:prstGeom prst="rect">
            <a:avLst/>
          </a:prstGeom>
          <a:solidFill>
            <a:srgbClr val="4E79B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6" name="HR2_lbl"/>
          <p:cNvSpPr txBox="1"/>
          <p:nvPr/>
        </p:nvSpPr>
        <p:spPr>
          <a:xfrm>
            <a:off x="6583680" y="2724346"/>
            <a:ext cx="1234439" cy="320040"/>
          </a:xfrm>
          <a:prstGeom prst="rect">
            <a:avLst/>
          </a:prstGeom>
          <a:noFill/>
        </p:spPr>
        <p:txBody>
          <a:bodyPr wrap="square" lIns="0" tIns="0" rIns="0" bIns="0" anchor="t">
            <a:spAutoFit/>
          </a:bodyPr>
          <a:lstStyle/>
          <a:p>
            <a:pPr algn="ctr"/>
            <a:r>
              <a:rPr sz="1400" b="1" i="0" dirty="0">
                <a:solidFill>
                  <a:srgbClr val="0B2B4E"/>
                </a:solidFill>
                <a:latin typeface="Calibri"/>
              </a:rPr>
              <a:t>Hour 3</a:t>
            </a:r>
          </a:p>
        </p:txBody>
      </p:sp>
      <p:cxnSp>
        <p:nvCxnSpPr>
          <p:cNvPr id="27" name="HR2_arr"/>
          <p:cNvCxnSpPr/>
          <p:nvPr/>
        </p:nvCxnSpPr>
        <p:spPr>
          <a:xfrm>
            <a:off x="6816852" y="6144768"/>
            <a:ext cx="768096" cy="0"/>
          </a:xfrm>
          <a:prstGeom prst="line">
            <a:avLst/>
          </a:prstGeom>
          <a:ln w="889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HR3_mc"/>
          <p:cNvSpPr/>
          <p:nvPr/>
        </p:nvSpPr>
        <p:spPr>
          <a:xfrm>
            <a:off x="8046720" y="3968496"/>
            <a:ext cx="1051560" cy="1883664"/>
          </a:xfrm>
          <a:prstGeom prst="rect">
            <a:avLst/>
          </a:prstGeom>
          <a:solidFill>
            <a:srgbClr val="C0392B"/>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HR3_mb"/>
          <p:cNvSpPr/>
          <p:nvPr/>
        </p:nvSpPr>
        <p:spPr>
          <a:xfrm>
            <a:off x="8046720" y="3842466"/>
            <a:ext cx="1051560" cy="137160"/>
          </a:xfrm>
          <a:prstGeom prst="rect">
            <a:avLst/>
          </a:prstGeom>
          <a:solidFill>
            <a:srgbClr val="4E79B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HR3_lbl"/>
          <p:cNvSpPr txBox="1"/>
          <p:nvPr/>
        </p:nvSpPr>
        <p:spPr>
          <a:xfrm>
            <a:off x="7955280" y="2715202"/>
            <a:ext cx="1234439" cy="320040"/>
          </a:xfrm>
          <a:prstGeom prst="rect">
            <a:avLst/>
          </a:prstGeom>
          <a:noFill/>
        </p:spPr>
        <p:txBody>
          <a:bodyPr wrap="square" lIns="0" tIns="0" rIns="0" bIns="0" anchor="t">
            <a:spAutoFit/>
          </a:bodyPr>
          <a:lstStyle/>
          <a:p>
            <a:pPr algn="ctr"/>
            <a:r>
              <a:rPr sz="1400" b="1" i="0" dirty="0">
                <a:solidFill>
                  <a:srgbClr val="0B2B4E"/>
                </a:solidFill>
                <a:latin typeface="Calibri"/>
              </a:rPr>
              <a:t>Hour 4</a:t>
            </a:r>
          </a:p>
        </p:txBody>
      </p:sp>
      <p:sp>
        <p:nvSpPr>
          <p:cNvPr id="31" name="HR4_mc"/>
          <p:cNvSpPr/>
          <p:nvPr/>
        </p:nvSpPr>
        <p:spPr>
          <a:xfrm>
            <a:off x="9418320" y="3840480"/>
            <a:ext cx="1051560" cy="2011680"/>
          </a:xfrm>
          <a:prstGeom prst="rect">
            <a:avLst/>
          </a:prstGeom>
          <a:solidFill>
            <a:srgbClr val="C0392B"/>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HR4_cap"/>
          <p:cNvSpPr/>
          <p:nvPr/>
        </p:nvSpPr>
        <p:spPr>
          <a:xfrm>
            <a:off x="9418320" y="3848662"/>
            <a:ext cx="1051560" cy="272027"/>
          </a:xfrm>
          <a:prstGeom prst="rect">
            <a:avLst/>
          </a:prstGeom>
          <a:solidFill>
            <a:srgbClr val="7E1F1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HR4_lbl"/>
          <p:cNvSpPr txBox="1"/>
          <p:nvPr/>
        </p:nvSpPr>
        <p:spPr>
          <a:xfrm>
            <a:off x="9326880" y="2713221"/>
            <a:ext cx="1234439" cy="320040"/>
          </a:xfrm>
          <a:prstGeom prst="rect">
            <a:avLst/>
          </a:prstGeom>
          <a:noFill/>
        </p:spPr>
        <p:txBody>
          <a:bodyPr wrap="square" lIns="0" tIns="0" rIns="0" bIns="0" anchor="t">
            <a:spAutoFit/>
          </a:bodyPr>
          <a:lstStyle/>
          <a:p>
            <a:pPr algn="ctr"/>
            <a:r>
              <a:rPr sz="1400" b="1" i="0" dirty="0">
                <a:solidFill>
                  <a:srgbClr val="0B2B4E"/>
                </a:solidFill>
                <a:latin typeface="Calibri"/>
              </a:rPr>
              <a:t>Hour 5</a:t>
            </a:r>
          </a:p>
        </p:txBody>
      </p:sp>
      <p:cxnSp>
        <p:nvCxnSpPr>
          <p:cNvPr id="34" name="HR4_arr"/>
          <p:cNvCxnSpPr/>
          <p:nvPr/>
        </p:nvCxnSpPr>
        <p:spPr>
          <a:xfrm flipH="1">
            <a:off x="9560052" y="6144768"/>
            <a:ext cx="768096" cy="0"/>
          </a:xfrm>
          <a:prstGeom prst="line">
            <a:avLst/>
          </a:prstGeom>
          <a:ln w="889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HR0_mb">
            <a:extLst>
              <a:ext uri="{FF2B5EF4-FFF2-40B4-BE49-F238E27FC236}">
                <a16:creationId xmlns:a16="http://schemas.microsoft.com/office/drawing/2014/main" id="{67E0FF74-155C-E2E8-CEA5-00226894E50C}"/>
              </a:ext>
            </a:extLst>
          </p:cNvPr>
          <p:cNvSpPr/>
          <p:nvPr/>
        </p:nvSpPr>
        <p:spPr>
          <a:xfrm>
            <a:off x="878108" y="4111056"/>
            <a:ext cx="1051560" cy="1737360"/>
          </a:xfrm>
          <a:prstGeom prst="rect">
            <a:avLst/>
          </a:prstGeom>
          <a:solidFill>
            <a:srgbClr val="4E79B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HR1_mb">
            <a:extLst>
              <a:ext uri="{FF2B5EF4-FFF2-40B4-BE49-F238E27FC236}">
                <a16:creationId xmlns:a16="http://schemas.microsoft.com/office/drawing/2014/main" id="{D9286102-5887-095A-E1EF-4695314B28D7}"/>
              </a:ext>
            </a:extLst>
          </p:cNvPr>
          <p:cNvSpPr/>
          <p:nvPr/>
        </p:nvSpPr>
        <p:spPr>
          <a:xfrm>
            <a:off x="878108" y="3118594"/>
            <a:ext cx="1051560" cy="1005840"/>
          </a:xfrm>
          <a:prstGeom prst="rect">
            <a:avLst/>
          </a:prstGeom>
          <a:solidFill>
            <a:srgbClr val="4E79B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HR2_mb">
            <a:extLst>
              <a:ext uri="{FF2B5EF4-FFF2-40B4-BE49-F238E27FC236}">
                <a16:creationId xmlns:a16="http://schemas.microsoft.com/office/drawing/2014/main" id="{051B401F-96CE-E84B-AAA3-1EB380BBC458}"/>
              </a:ext>
            </a:extLst>
          </p:cNvPr>
          <p:cNvSpPr/>
          <p:nvPr/>
        </p:nvSpPr>
        <p:spPr>
          <a:xfrm>
            <a:off x="878108" y="2660763"/>
            <a:ext cx="1051560" cy="457200"/>
          </a:xfrm>
          <a:prstGeom prst="rect">
            <a:avLst/>
          </a:prstGeom>
          <a:solidFill>
            <a:srgbClr val="4E79B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HR3_mb">
            <a:extLst>
              <a:ext uri="{FF2B5EF4-FFF2-40B4-BE49-F238E27FC236}">
                <a16:creationId xmlns:a16="http://schemas.microsoft.com/office/drawing/2014/main" id="{925F0408-D290-E33E-6499-044A7F47E482}"/>
              </a:ext>
            </a:extLst>
          </p:cNvPr>
          <p:cNvSpPr/>
          <p:nvPr/>
        </p:nvSpPr>
        <p:spPr>
          <a:xfrm>
            <a:off x="879852" y="2526912"/>
            <a:ext cx="1051560" cy="137160"/>
          </a:xfrm>
          <a:prstGeom prst="rect">
            <a:avLst/>
          </a:prstGeom>
          <a:solidFill>
            <a:srgbClr val="4E79B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HR4_cap">
            <a:extLst>
              <a:ext uri="{FF2B5EF4-FFF2-40B4-BE49-F238E27FC236}">
                <a16:creationId xmlns:a16="http://schemas.microsoft.com/office/drawing/2014/main" id="{C75305FD-4B4A-8F96-E2D1-D4DD443F5FB7}"/>
              </a:ext>
            </a:extLst>
          </p:cNvPr>
          <p:cNvSpPr/>
          <p:nvPr/>
        </p:nvSpPr>
        <p:spPr>
          <a:xfrm>
            <a:off x="878108" y="5561188"/>
            <a:ext cx="1051560" cy="278980"/>
          </a:xfrm>
          <a:prstGeom prst="rect">
            <a:avLst/>
          </a:prstGeom>
          <a:solidFill>
            <a:srgbClr val="7E1F1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5" name="Picture 74">
            <a:extLst>
              <a:ext uri="{FF2B5EF4-FFF2-40B4-BE49-F238E27FC236}">
                <a16:creationId xmlns:a16="http://schemas.microsoft.com/office/drawing/2014/main" id="{DE63FC38-A794-C096-C7D7-705C5DAC93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3160" y="5879738"/>
            <a:ext cx="804526" cy="8045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7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3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8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3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72"/>
                                        </p:tgtEl>
                                        <p:attrNameLst>
                                          <p:attrName>style.visibility</p:attrName>
                                        </p:attrNameLst>
                                      </p:cBhvr>
                                      <p:to>
                                        <p:strVal val="visible"/>
                                      </p:to>
                                    </p:set>
                                  </p:childTnLst>
                                  <p:subTnLst>
                                    <p:set>
                                      <p:cBhvr override="childStyle">
                                        <p:cTn dur="1" fill="hold" display="0" masterRel="nextClick" afterEffect="1"/>
                                        <p:tgtEl>
                                          <p:spTgt spid="72"/>
                                        </p:tgtEl>
                                        <p:attrNameLst>
                                          <p:attrName>style.visibility</p:attrName>
                                        </p:attrNameLst>
                                      </p:cBhvr>
                                      <p:to>
                                        <p:strVal val="hidden"/>
                                      </p:to>
                                    </p:set>
                                  </p:sub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3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2" presetClass="entr" presetSubtype="8" fill="hold" nodeType="clickEffect">
                                  <p:stCondLst>
                                    <p:cond delay="0"/>
                                  </p:stCondLst>
                                  <p:childTnLst>
                                    <p:set>
                                      <p:cBhvr>
                                        <p:cTn id="116" dur="1" fill="hold">
                                          <p:stCondLst>
                                            <p:cond delay="0"/>
                                          </p:stCondLst>
                                        </p:cTn>
                                        <p:tgtEl>
                                          <p:spTgt spid="75"/>
                                        </p:tgtEl>
                                        <p:attrNameLst>
                                          <p:attrName>style.visibility</p:attrName>
                                        </p:attrNameLst>
                                      </p:cBhvr>
                                      <p:to>
                                        <p:strVal val="visible"/>
                                      </p:to>
                                    </p:set>
                                    <p:anim calcmode="lin" valueType="num">
                                      <p:cBhvr additive="base">
                                        <p:cTn id="117" dur="500" fill="hold"/>
                                        <p:tgtEl>
                                          <p:spTgt spid="75"/>
                                        </p:tgtEl>
                                        <p:attrNameLst>
                                          <p:attrName>ppt_x</p:attrName>
                                        </p:attrNameLst>
                                      </p:cBhvr>
                                      <p:tavLst>
                                        <p:tav tm="0">
                                          <p:val>
                                            <p:strVal val="0-#ppt_w/2"/>
                                          </p:val>
                                        </p:tav>
                                        <p:tav tm="100000">
                                          <p:val>
                                            <p:strVal val="#ppt_x"/>
                                          </p:val>
                                        </p:tav>
                                      </p:tavLst>
                                    </p:anim>
                                    <p:anim calcmode="lin" valueType="num">
                                      <p:cBhvr additive="base">
                                        <p:cTn id="118" dur="500" fill="hold"/>
                                        <p:tgtEl>
                                          <p:spTgt spid="75"/>
                                        </p:tgtEl>
                                        <p:attrNameLst>
                                          <p:attrName>ppt_y</p:attrName>
                                        </p:attrNameLst>
                                      </p:cBhvr>
                                      <p:tavLst>
                                        <p:tav tm="0">
                                          <p:val>
                                            <p:strVal val="#ppt_y"/>
                                          </p:val>
                                        </p:tav>
                                        <p:tav tm="100000">
                                          <p:val>
                                            <p:strVal val="#ppt_y"/>
                                          </p:val>
                                        </p:tav>
                                      </p:tavLst>
                                    </p:anim>
                                  </p:childTnLst>
                                </p:cTn>
                              </p:par>
                              <p:par>
                                <p:cTn id="119" presetID="1" presetClass="entr" presetSubtype="0" fill="hold" nodeType="withEffect">
                                  <p:stCondLst>
                                    <p:cond delay="0"/>
                                  </p:stCondLst>
                                  <p:childTnLst>
                                    <p:set>
                                      <p:cBhvr>
                                        <p:cTn id="120" dur="1" fill="hold">
                                          <p:stCondLst>
                                            <p:cond delay="0"/>
                                          </p:stCondLst>
                                        </p:cTn>
                                        <p:tgtEl>
                                          <p:spTgt spid="76"/>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7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78"/>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7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78" grpId="0" animBg="1"/>
      <p:bldP spid="77" grpId="0" animBg="1"/>
      <p:bldP spid="7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Outline</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36</a:t>
            </a:r>
          </a:p>
        </p:txBody>
      </p:sp>
      <p:sp>
        <p:nvSpPr>
          <p:cNvPr id="10" name="Oval 9"/>
          <p:cNvSpPr/>
          <p:nvPr/>
        </p:nvSpPr>
        <p:spPr>
          <a:xfrm>
            <a:off x="1024128" y="192938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p:cNvSpPr txBox="1"/>
          <p:nvPr/>
        </p:nvSpPr>
        <p:spPr>
          <a:xfrm>
            <a:off x="1883664" y="1910422"/>
            <a:ext cx="9226296" cy="384721"/>
          </a:xfrm>
          <a:prstGeom prst="rect">
            <a:avLst/>
          </a:prstGeom>
          <a:noFill/>
        </p:spPr>
        <p:txBody>
          <a:bodyPr wrap="square" lIns="0" tIns="0" rIns="0" bIns="0" anchor="b">
            <a:spAutoFit/>
          </a:bodyPr>
          <a:lstStyle/>
          <a:p>
            <a:r>
              <a:rPr sz="2500" b="1" i="0" dirty="0">
                <a:solidFill>
                  <a:srgbClr val="9AA0A8"/>
                </a:solidFill>
                <a:latin typeface="Calibri"/>
              </a:rPr>
              <a:t>Value of the Firm</a:t>
            </a:r>
          </a:p>
        </p:txBody>
      </p:sp>
      <p:sp>
        <p:nvSpPr>
          <p:cNvPr id="12" name="TextBox 11"/>
          <p:cNvSpPr txBox="1"/>
          <p:nvPr/>
        </p:nvSpPr>
        <p:spPr>
          <a:xfrm>
            <a:off x="1883664" y="2295144"/>
            <a:ext cx="9226296" cy="338554"/>
          </a:xfrm>
          <a:prstGeom prst="rect">
            <a:avLst/>
          </a:prstGeom>
          <a:noFill/>
        </p:spPr>
        <p:txBody>
          <a:bodyPr wrap="square" lIns="0" tIns="0" rIns="0" bIns="0" anchor="t">
            <a:spAutoFit/>
          </a:bodyPr>
          <a:lstStyle/>
          <a:p>
            <a:r>
              <a:rPr sz="2200" b="0" i="0" dirty="0">
                <a:solidFill>
                  <a:srgbClr val="9AA0A8"/>
                </a:solidFill>
                <a:latin typeface="Calibri"/>
              </a:rPr>
              <a:t>What a firm maximizes — and why value is not the same as current profit</a:t>
            </a:r>
          </a:p>
        </p:txBody>
      </p:sp>
      <p:sp>
        <p:nvSpPr>
          <p:cNvPr id="13" name="Oval 12"/>
          <p:cNvSpPr/>
          <p:nvPr/>
        </p:nvSpPr>
        <p:spPr>
          <a:xfrm>
            <a:off x="1024128" y="3346703"/>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4" name="TextBox 13"/>
          <p:cNvSpPr txBox="1"/>
          <p:nvPr/>
        </p:nvSpPr>
        <p:spPr>
          <a:xfrm>
            <a:off x="1883664" y="3327742"/>
            <a:ext cx="9226296" cy="384721"/>
          </a:xfrm>
          <a:prstGeom prst="rect">
            <a:avLst/>
          </a:prstGeom>
          <a:noFill/>
        </p:spPr>
        <p:txBody>
          <a:bodyPr wrap="square" lIns="0" tIns="0" rIns="0" bIns="0" anchor="b">
            <a:spAutoFit/>
          </a:bodyPr>
          <a:lstStyle/>
          <a:p>
            <a:r>
              <a:rPr sz="2500" b="1" i="0" dirty="0">
                <a:solidFill>
                  <a:srgbClr val="9AA0A8"/>
                </a:solidFill>
                <a:latin typeface="Calibri"/>
              </a:rPr>
              <a:t>Basic Principles of Economic Thinking</a:t>
            </a:r>
          </a:p>
        </p:txBody>
      </p:sp>
      <p:sp>
        <p:nvSpPr>
          <p:cNvPr id="15" name="TextBox 14"/>
          <p:cNvSpPr txBox="1"/>
          <p:nvPr/>
        </p:nvSpPr>
        <p:spPr>
          <a:xfrm>
            <a:off x="1883664" y="3712463"/>
            <a:ext cx="9226296" cy="338554"/>
          </a:xfrm>
          <a:prstGeom prst="rect">
            <a:avLst/>
          </a:prstGeom>
          <a:noFill/>
        </p:spPr>
        <p:txBody>
          <a:bodyPr wrap="square" lIns="0" tIns="0" rIns="0" bIns="0" anchor="t">
            <a:spAutoFit/>
          </a:bodyPr>
          <a:lstStyle/>
          <a:p>
            <a:r>
              <a:rPr lang="en-US" sz="2200" b="0" i="0" dirty="0">
                <a:solidFill>
                  <a:srgbClr val="9AA0A8"/>
                </a:solidFill>
                <a:latin typeface="Calibri"/>
              </a:rPr>
              <a:t>O</a:t>
            </a:r>
            <a:r>
              <a:rPr sz="2200" b="0" i="0" dirty="0">
                <a:solidFill>
                  <a:srgbClr val="9AA0A8"/>
                </a:solidFill>
                <a:latin typeface="Calibri"/>
              </a:rPr>
              <a:t>pportunity costs · </a:t>
            </a:r>
            <a:r>
              <a:rPr lang="en-US" sz="2200" dirty="0">
                <a:solidFill>
                  <a:srgbClr val="9AA0A8"/>
                </a:solidFill>
                <a:latin typeface="Calibri"/>
              </a:rPr>
              <a:t>S</a:t>
            </a:r>
            <a:r>
              <a:rPr sz="2200" b="0" i="0" dirty="0">
                <a:solidFill>
                  <a:srgbClr val="9AA0A8"/>
                </a:solidFill>
                <a:latin typeface="Calibri"/>
              </a:rPr>
              <a:t>unk costs · </a:t>
            </a:r>
            <a:r>
              <a:rPr lang="en-US" sz="2200" dirty="0">
                <a:solidFill>
                  <a:srgbClr val="9AA0A8"/>
                </a:solidFill>
                <a:latin typeface="Calibri"/>
              </a:rPr>
              <a:t>C</a:t>
            </a:r>
            <a:r>
              <a:rPr sz="2200" b="0" i="0" dirty="0">
                <a:solidFill>
                  <a:srgbClr val="9AA0A8"/>
                </a:solidFill>
                <a:latin typeface="Calibri"/>
              </a:rPr>
              <a:t>ost-benefit and marginal analysis</a:t>
            </a:r>
          </a:p>
        </p:txBody>
      </p:sp>
      <p:sp>
        <p:nvSpPr>
          <p:cNvPr id="16" name="Rounded Rectangle 15"/>
          <p:cNvSpPr/>
          <p:nvPr/>
        </p:nvSpPr>
        <p:spPr>
          <a:xfrm>
            <a:off x="822960" y="4599432"/>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24128" y="4764024"/>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8" name="TextBox 17"/>
          <p:cNvSpPr txBox="1"/>
          <p:nvPr/>
        </p:nvSpPr>
        <p:spPr>
          <a:xfrm>
            <a:off x="1883664" y="4745063"/>
            <a:ext cx="9226296" cy="384721"/>
          </a:xfrm>
          <a:prstGeom prst="rect">
            <a:avLst/>
          </a:prstGeom>
          <a:noFill/>
        </p:spPr>
        <p:txBody>
          <a:bodyPr wrap="square" lIns="0" tIns="0" rIns="0" bIns="0" anchor="b">
            <a:spAutoFit/>
          </a:bodyPr>
          <a:lstStyle/>
          <a:p>
            <a:r>
              <a:rPr sz="2500" b="1" i="0" dirty="0">
                <a:solidFill>
                  <a:srgbClr val="0B2B4E"/>
                </a:solidFill>
                <a:latin typeface="Calibri"/>
              </a:rPr>
              <a:t>Economics Fundamentals</a:t>
            </a:r>
          </a:p>
        </p:txBody>
      </p:sp>
      <p:sp>
        <p:nvSpPr>
          <p:cNvPr id="19" name="TextBox 18"/>
          <p:cNvSpPr txBox="1"/>
          <p:nvPr/>
        </p:nvSpPr>
        <p:spPr>
          <a:xfrm>
            <a:off x="1883664" y="5129784"/>
            <a:ext cx="9226296" cy="338554"/>
          </a:xfrm>
          <a:prstGeom prst="rect">
            <a:avLst/>
          </a:prstGeom>
          <a:noFill/>
        </p:spPr>
        <p:txBody>
          <a:bodyPr wrap="square" lIns="0" tIns="0" rIns="0" bIns="0" anchor="t">
            <a:spAutoFit/>
          </a:bodyPr>
          <a:lstStyle/>
          <a:p>
            <a:r>
              <a:rPr sz="2200" b="0" i="0" dirty="0">
                <a:solidFill>
                  <a:srgbClr val="555B66"/>
                </a:solidFill>
                <a:latin typeface="Calibri"/>
              </a:rPr>
              <a:t>Markets · Supply and Demand · Equilibrium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CD412-F2C0-0A22-C678-859DB2B0D2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5A5A47E-22A5-3C63-F56D-954A96D7BFE2}"/>
              </a:ext>
            </a:extLst>
          </p:cNvPr>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Outline</a:t>
            </a:r>
          </a:p>
        </p:txBody>
      </p:sp>
      <p:sp>
        <p:nvSpPr>
          <p:cNvPr id="3" name="TextBox 2">
            <a:extLst>
              <a:ext uri="{FF2B5EF4-FFF2-40B4-BE49-F238E27FC236}">
                <a16:creationId xmlns:a16="http://schemas.microsoft.com/office/drawing/2014/main" id="{6D1AF1B4-0753-684C-A6D3-1388BD61E634}"/>
              </a:ext>
            </a:extLst>
          </p:cNvPr>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a:extLst>
              <a:ext uri="{FF2B5EF4-FFF2-40B4-BE49-F238E27FC236}">
                <a16:creationId xmlns:a16="http://schemas.microsoft.com/office/drawing/2014/main" id="{1B0528CB-10DB-34A6-6928-0CEDBE5A4E6E}"/>
              </a:ext>
            </a:extLst>
          </p:cNvPr>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9A5A0D89-F78D-035A-8A31-438AE050D401}"/>
              </a:ext>
            </a:extLst>
          </p:cNvPr>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a:extLst>
              <a:ext uri="{FF2B5EF4-FFF2-40B4-BE49-F238E27FC236}">
                <a16:creationId xmlns:a16="http://schemas.microsoft.com/office/drawing/2014/main" id="{D491728A-8C4E-5152-91C1-ECD6396981E2}"/>
              </a:ext>
            </a:extLst>
          </p:cNvPr>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A410FB83-D5E1-CAE9-901C-22AC35F0F74B}"/>
              </a:ext>
            </a:extLst>
          </p:cNvPr>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887C325-8DDF-6A19-7B90-8C900F4A531C}"/>
              </a:ext>
            </a:extLst>
          </p:cNvPr>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a:extLst>
              <a:ext uri="{FF2B5EF4-FFF2-40B4-BE49-F238E27FC236}">
                <a16:creationId xmlns:a16="http://schemas.microsoft.com/office/drawing/2014/main" id="{8E8C9261-07A9-7858-7A1F-AC07BF29DE67}"/>
              </a:ext>
            </a:extLst>
          </p:cNvPr>
          <p:cNvSpPr txBox="1"/>
          <p:nvPr/>
        </p:nvSpPr>
        <p:spPr>
          <a:xfrm>
            <a:off x="10515600" y="6547104"/>
            <a:ext cx="1216152" cy="169277"/>
          </a:xfrm>
          <a:prstGeom prst="rect">
            <a:avLst/>
          </a:prstGeom>
          <a:noFill/>
        </p:spPr>
        <p:txBody>
          <a:bodyPr wrap="square" lIns="0" tIns="0" rIns="0" bIns="0" anchor="t">
            <a:spAutoFit/>
          </a:bodyPr>
          <a:lstStyle/>
          <a:p>
            <a:pPr algn="r"/>
            <a:r>
              <a:rPr sz="1100" b="0" i="0" dirty="0">
                <a:solidFill>
                  <a:srgbClr val="555B66"/>
                </a:solidFill>
                <a:latin typeface="Calibri"/>
              </a:rPr>
              <a:t>3</a:t>
            </a:r>
            <a:r>
              <a:rPr lang="en-US" sz="1100" b="0" i="0" dirty="0">
                <a:solidFill>
                  <a:srgbClr val="555B66"/>
                </a:solidFill>
                <a:latin typeface="Calibri"/>
              </a:rPr>
              <a:t>7</a:t>
            </a:r>
            <a:endParaRPr sz="1100" b="0" i="0" dirty="0">
              <a:solidFill>
                <a:srgbClr val="555B66"/>
              </a:solidFill>
              <a:latin typeface="Calibri"/>
            </a:endParaRPr>
          </a:p>
        </p:txBody>
      </p:sp>
      <p:sp>
        <p:nvSpPr>
          <p:cNvPr id="10" name="Oval 9">
            <a:extLst>
              <a:ext uri="{FF2B5EF4-FFF2-40B4-BE49-F238E27FC236}">
                <a16:creationId xmlns:a16="http://schemas.microsoft.com/office/drawing/2014/main" id="{56F75478-021D-4961-9083-AACB9993128B}"/>
              </a:ext>
            </a:extLst>
          </p:cNvPr>
          <p:cNvSpPr/>
          <p:nvPr/>
        </p:nvSpPr>
        <p:spPr>
          <a:xfrm>
            <a:off x="1024128" y="192938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a:extLst>
              <a:ext uri="{FF2B5EF4-FFF2-40B4-BE49-F238E27FC236}">
                <a16:creationId xmlns:a16="http://schemas.microsoft.com/office/drawing/2014/main" id="{49AACF47-C0D8-693D-6667-A8A8F37E2473}"/>
              </a:ext>
            </a:extLst>
          </p:cNvPr>
          <p:cNvSpPr txBox="1"/>
          <p:nvPr/>
        </p:nvSpPr>
        <p:spPr>
          <a:xfrm>
            <a:off x="1883664" y="1910422"/>
            <a:ext cx="9226296" cy="384721"/>
          </a:xfrm>
          <a:prstGeom prst="rect">
            <a:avLst/>
          </a:prstGeom>
          <a:noFill/>
        </p:spPr>
        <p:txBody>
          <a:bodyPr wrap="square" lIns="0" tIns="0" rIns="0" bIns="0" anchor="b">
            <a:spAutoFit/>
          </a:bodyPr>
          <a:lstStyle/>
          <a:p>
            <a:r>
              <a:rPr sz="2500" b="1" i="0" dirty="0">
                <a:solidFill>
                  <a:srgbClr val="9AA0A8"/>
                </a:solidFill>
                <a:latin typeface="Calibri"/>
              </a:rPr>
              <a:t>Value of the Firm</a:t>
            </a:r>
          </a:p>
        </p:txBody>
      </p:sp>
      <p:sp>
        <p:nvSpPr>
          <p:cNvPr id="12" name="TextBox 11">
            <a:extLst>
              <a:ext uri="{FF2B5EF4-FFF2-40B4-BE49-F238E27FC236}">
                <a16:creationId xmlns:a16="http://schemas.microsoft.com/office/drawing/2014/main" id="{5FD05E65-FCCB-BF27-FA4C-EC79C0BB353B}"/>
              </a:ext>
            </a:extLst>
          </p:cNvPr>
          <p:cNvSpPr txBox="1"/>
          <p:nvPr/>
        </p:nvSpPr>
        <p:spPr>
          <a:xfrm>
            <a:off x="1883664" y="2295144"/>
            <a:ext cx="9226296" cy="338554"/>
          </a:xfrm>
          <a:prstGeom prst="rect">
            <a:avLst/>
          </a:prstGeom>
          <a:noFill/>
        </p:spPr>
        <p:txBody>
          <a:bodyPr wrap="square" lIns="0" tIns="0" rIns="0" bIns="0" anchor="t">
            <a:spAutoFit/>
          </a:bodyPr>
          <a:lstStyle/>
          <a:p>
            <a:r>
              <a:rPr sz="2200" b="0" i="0" dirty="0">
                <a:solidFill>
                  <a:srgbClr val="9AA0A8"/>
                </a:solidFill>
                <a:latin typeface="Calibri"/>
              </a:rPr>
              <a:t>What a firm maximizes — and why value is not the same as current profit</a:t>
            </a:r>
          </a:p>
        </p:txBody>
      </p:sp>
      <p:sp>
        <p:nvSpPr>
          <p:cNvPr id="13" name="Oval 12">
            <a:extLst>
              <a:ext uri="{FF2B5EF4-FFF2-40B4-BE49-F238E27FC236}">
                <a16:creationId xmlns:a16="http://schemas.microsoft.com/office/drawing/2014/main" id="{352DE5B4-2C24-1FEB-3DE4-F69E5D245065}"/>
              </a:ext>
            </a:extLst>
          </p:cNvPr>
          <p:cNvSpPr/>
          <p:nvPr/>
        </p:nvSpPr>
        <p:spPr>
          <a:xfrm>
            <a:off x="1024128" y="3346703"/>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4" name="TextBox 13">
            <a:extLst>
              <a:ext uri="{FF2B5EF4-FFF2-40B4-BE49-F238E27FC236}">
                <a16:creationId xmlns:a16="http://schemas.microsoft.com/office/drawing/2014/main" id="{301BB1E5-9922-243B-8CDC-A41AB1B6ED14}"/>
              </a:ext>
            </a:extLst>
          </p:cNvPr>
          <p:cNvSpPr txBox="1"/>
          <p:nvPr/>
        </p:nvSpPr>
        <p:spPr>
          <a:xfrm>
            <a:off x="1883664" y="3327742"/>
            <a:ext cx="9226296" cy="384721"/>
          </a:xfrm>
          <a:prstGeom prst="rect">
            <a:avLst/>
          </a:prstGeom>
          <a:noFill/>
        </p:spPr>
        <p:txBody>
          <a:bodyPr wrap="square" lIns="0" tIns="0" rIns="0" bIns="0" anchor="b">
            <a:spAutoFit/>
          </a:bodyPr>
          <a:lstStyle/>
          <a:p>
            <a:r>
              <a:rPr sz="2500" b="1" i="0" dirty="0">
                <a:solidFill>
                  <a:srgbClr val="9AA0A8"/>
                </a:solidFill>
                <a:latin typeface="Calibri"/>
              </a:rPr>
              <a:t>Basic Principles of Economic Thinking</a:t>
            </a:r>
          </a:p>
        </p:txBody>
      </p:sp>
      <p:sp>
        <p:nvSpPr>
          <p:cNvPr id="15" name="TextBox 14">
            <a:extLst>
              <a:ext uri="{FF2B5EF4-FFF2-40B4-BE49-F238E27FC236}">
                <a16:creationId xmlns:a16="http://schemas.microsoft.com/office/drawing/2014/main" id="{7196B76D-57D2-DD80-F240-19E04E2C26DE}"/>
              </a:ext>
            </a:extLst>
          </p:cNvPr>
          <p:cNvSpPr txBox="1"/>
          <p:nvPr/>
        </p:nvSpPr>
        <p:spPr>
          <a:xfrm>
            <a:off x="1883664" y="3712463"/>
            <a:ext cx="9226296" cy="338554"/>
          </a:xfrm>
          <a:prstGeom prst="rect">
            <a:avLst/>
          </a:prstGeom>
          <a:noFill/>
        </p:spPr>
        <p:txBody>
          <a:bodyPr wrap="square" lIns="0" tIns="0" rIns="0" bIns="0" anchor="t">
            <a:spAutoFit/>
          </a:bodyPr>
          <a:lstStyle/>
          <a:p>
            <a:r>
              <a:rPr lang="en-US" sz="2200" b="0" i="0" dirty="0">
                <a:solidFill>
                  <a:srgbClr val="9AA0A8"/>
                </a:solidFill>
                <a:latin typeface="Calibri"/>
              </a:rPr>
              <a:t>O</a:t>
            </a:r>
            <a:r>
              <a:rPr sz="2200" b="0" i="0" dirty="0">
                <a:solidFill>
                  <a:srgbClr val="9AA0A8"/>
                </a:solidFill>
                <a:latin typeface="Calibri"/>
              </a:rPr>
              <a:t>pportunity costs · </a:t>
            </a:r>
            <a:r>
              <a:rPr lang="en-US" sz="2200" dirty="0">
                <a:solidFill>
                  <a:srgbClr val="9AA0A8"/>
                </a:solidFill>
                <a:latin typeface="Calibri"/>
              </a:rPr>
              <a:t>S</a:t>
            </a:r>
            <a:r>
              <a:rPr sz="2200" b="0" i="0" dirty="0">
                <a:solidFill>
                  <a:srgbClr val="9AA0A8"/>
                </a:solidFill>
                <a:latin typeface="Calibri"/>
              </a:rPr>
              <a:t>unk costs · </a:t>
            </a:r>
            <a:r>
              <a:rPr lang="en-US" sz="2200" dirty="0">
                <a:solidFill>
                  <a:srgbClr val="9AA0A8"/>
                </a:solidFill>
                <a:latin typeface="Calibri"/>
              </a:rPr>
              <a:t>C</a:t>
            </a:r>
            <a:r>
              <a:rPr sz="2200" b="0" i="0" dirty="0">
                <a:solidFill>
                  <a:srgbClr val="9AA0A8"/>
                </a:solidFill>
                <a:latin typeface="Calibri"/>
              </a:rPr>
              <a:t>ost-benefit and marginal analysis</a:t>
            </a:r>
          </a:p>
        </p:txBody>
      </p:sp>
      <p:sp>
        <p:nvSpPr>
          <p:cNvPr id="16" name="Rounded Rectangle 15">
            <a:extLst>
              <a:ext uri="{FF2B5EF4-FFF2-40B4-BE49-F238E27FC236}">
                <a16:creationId xmlns:a16="http://schemas.microsoft.com/office/drawing/2014/main" id="{135E6B68-A93D-4639-2257-E252ECA5F176}"/>
              </a:ext>
            </a:extLst>
          </p:cNvPr>
          <p:cNvSpPr/>
          <p:nvPr/>
        </p:nvSpPr>
        <p:spPr>
          <a:xfrm>
            <a:off x="822960" y="4599432"/>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4B1C5BBE-61CE-C084-DDF6-BBF4860BF19C}"/>
              </a:ext>
            </a:extLst>
          </p:cNvPr>
          <p:cNvSpPr/>
          <p:nvPr/>
        </p:nvSpPr>
        <p:spPr>
          <a:xfrm>
            <a:off x="1024128" y="4764024"/>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8" name="TextBox 17">
            <a:extLst>
              <a:ext uri="{FF2B5EF4-FFF2-40B4-BE49-F238E27FC236}">
                <a16:creationId xmlns:a16="http://schemas.microsoft.com/office/drawing/2014/main" id="{503C3D85-C7E6-002E-1F15-4CEE8CE21086}"/>
              </a:ext>
            </a:extLst>
          </p:cNvPr>
          <p:cNvSpPr txBox="1"/>
          <p:nvPr/>
        </p:nvSpPr>
        <p:spPr>
          <a:xfrm>
            <a:off x="1883664" y="4745063"/>
            <a:ext cx="9226296" cy="384721"/>
          </a:xfrm>
          <a:prstGeom prst="rect">
            <a:avLst/>
          </a:prstGeom>
          <a:noFill/>
        </p:spPr>
        <p:txBody>
          <a:bodyPr wrap="square" lIns="0" tIns="0" rIns="0" bIns="0" anchor="b">
            <a:spAutoFit/>
          </a:bodyPr>
          <a:lstStyle/>
          <a:p>
            <a:r>
              <a:rPr sz="2500" b="1" i="0" dirty="0">
                <a:solidFill>
                  <a:srgbClr val="0B2B4E"/>
                </a:solidFill>
                <a:latin typeface="Calibri"/>
              </a:rPr>
              <a:t>Economics Fundamentals</a:t>
            </a:r>
          </a:p>
        </p:txBody>
      </p:sp>
      <p:sp>
        <p:nvSpPr>
          <p:cNvPr id="19" name="TextBox 18">
            <a:extLst>
              <a:ext uri="{FF2B5EF4-FFF2-40B4-BE49-F238E27FC236}">
                <a16:creationId xmlns:a16="http://schemas.microsoft.com/office/drawing/2014/main" id="{165F0B9A-E836-D24D-A346-53B90D521E37}"/>
              </a:ext>
            </a:extLst>
          </p:cNvPr>
          <p:cNvSpPr txBox="1"/>
          <p:nvPr/>
        </p:nvSpPr>
        <p:spPr>
          <a:xfrm>
            <a:off x="1883664" y="5129784"/>
            <a:ext cx="9226296" cy="369332"/>
          </a:xfrm>
          <a:prstGeom prst="rect">
            <a:avLst/>
          </a:prstGeom>
          <a:noFill/>
        </p:spPr>
        <p:txBody>
          <a:bodyPr wrap="square" lIns="0" tIns="0" rIns="0" bIns="0" anchor="t">
            <a:spAutoFit/>
          </a:bodyPr>
          <a:lstStyle/>
          <a:p>
            <a:r>
              <a:rPr lang="en-US" sz="2200" b="1" dirty="0">
                <a:solidFill>
                  <a:srgbClr val="0B2B4E"/>
                </a:solidFill>
              </a:rPr>
              <a:t>Markets</a:t>
            </a:r>
            <a:r>
              <a:rPr lang="en-US" sz="2400" b="1" dirty="0">
                <a:solidFill>
                  <a:srgbClr val="0B2B4E"/>
                </a:solidFill>
              </a:rPr>
              <a:t> </a:t>
            </a:r>
            <a:r>
              <a:rPr sz="2200" b="0" i="0" dirty="0">
                <a:solidFill>
                  <a:srgbClr val="555B66"/>
                </a:solidFill>
                <a:latin typeface="Calibri"/>
              </a:rPr>
              <a:t>· Supply and Demand · Equilibrium</a:t>
            </a:r>
          </a:p>
        </p:txBody>
      </p:sp>
    </p:spTree>
    <p:extLst>
      <p:ext uri="{BB962C8B-B14F-4D97-AF65-F5344CB8AC3E}">
        <p14:creationId xmlns:p14="http://schemas.microsoft.com/office/powerpoint/2010/main" val="37388754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Markets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Market Definition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38</a:t>
            </a:r>
          </a:p>
        </p:txBody>
      </p:sp>
      <p:sp>
        <p:nvSpPr>
          <p:cNvPr id="10" name="BUILD"/>
          <p:cNvSpPr txBox="1"/>
          <p:nvPr/>
        </p:nvSpPr>
        <p:spPr>
          <a:xfrm>
            <a:off x="457200" y="1394966"/>
            <a:ext cx="10881360" cy="5078313"/>
          </a:xfrm>
          <a:prstGeom prst="rect">
            <a:avLst/>
          </a:prstGeom>
          <a:noFill/>
        </p:spPr>
        <p:txBody>
          <a:bodyPr wrap="square" lIns="0" tIns="0" rIns="0" bIns="0" anchor="t">
            <a:spAutoFit/>
          </a:bodyPr>
          <a:lstStyle/>
          <a:p>
            <a:pPr>
              <a:spcAft>
                <a:spcPts val="600"/>
              </a:spcAft>
              <a:buClr>
                <a:srgbClr val="0B2B4E"/>
              </a:buClr>
              <a:buSzPct val="100000"/>
            </a:pPr>
            <a:r>
              <a:rPr sz="2500" b="1" i="0" dirty="0">
                <a:solidFill>
                  <a:srgbClr val="0B2B4E"/>
                </a:solidFill>
                <a:latin typeface="Calibri"/>
              </a:rPr>
              <a:t>A company must understand its market</a:t>
            </a:r>
          </a:p>
          <a:p>
            <a:pPr marL="731520" lvl="1" indent="-274320">
              <a:spcAft>
                <a:spcPts val="600"/>
              </a:spcAft>
              <a:buClr>
                <a:srgbClr val="0B2B4E"/>
              </a:buClr>
              <a:buSzPct val="100000"/>
              <a:buFont typeface="Calibri"/>
              <a:buChar char="▪"/>
            </a:pPr>
            <a:r>
              <a:rPr sz="2500" b="0" i="0" dirty="0">
                <a:solidFill>
                  <a:srgbClr val="0B2B4E"/>
                </a:solidFill>
                <a:latin typeface="Calibri"/>
              </a:rPr>
              <a:t>Its customers</a:t>
            </a:r>
          </a:p>
          <a:p>
            <a:pPr marL="731520" lvl="1" indent="-274320">
              <a:spcAft>
                <a:spcPts val="600"/>
              </a:spcAft>
              <a:buClr>
                <a:srgbClr val="0B2B4E"/>
              </a:buClr>
              <a:buSzPct val="100000"/>
              <a:buFont typeface="Calibri"/>
              <a:buChar char="▪"/>
            </a:pPr>
            <a:r>
              <a:rPr sz="2500" b="0" i="0" dirty="0">
                <a:solidFill>
                  <a:srgbClr val="0B2B4E"/>
                </a:solidFill>
                <a:latin typeface="Calibri"/>
              </a:rPr>
              <a:t>But also its actual and potential competitors</a:t>
            </a:r>
            <a:endParaRPr lang="en-US" sz="2500" b="0" i="0" dirty="0">
              <a:solidFill>
                <a:srgbClr val="0B2B4E"/>
              </a:solidFill>
              <a:latin typeface="Calibri"/>
            </a:endParaRPr>
          </a:p>
          <a:p>
            <a:pPr marL="731520" lvl="1" indent="-274320">
              <a:spcAft>
                <a:spcPts val="600"/>
              </a:spcAft>
              <a:buClr>
                <a:srgbClr val="0B2B4E"/>
              </a:buClr>
              <a:buSzPct val="100000"/>
              <a:buFont typeface="Calibri"/>
              <a:buChar char="▪"/>
            </a:pPr>
            <a:endParaRPr sz="2500" b="0" i="0" dirty="0">
              <a:solidFill>
                <a:srgbClr val="0B2B4E"/>
              </a:solidFill>
              <a:latin typeface="Calibri"/>
            </a:endParaRPr>
          </a:p>
          <a:p>
            <a:pPr>
              <a:spcAft>
                <a:spcPts val="600"/>
              </a:spcAft>
              <a:buClr>
                <a:srgbClr val="0B2B4E"/>
              </a:buClr>
              <a:buSzPct val="100000"/>
            </a:pPr>
            <a:r>
              <a:rPr sz="2500" b="1" i="0" dirty="0">
                <a:solidFill>
                  <a:srgbClr val="0B2B4E"/>
                </a:solidFill>
                <a:latin typeface="Calibri"/>
              </a:rPr>
              <a:t>Extent of market</a:t>
            </a:r>
          </a:p>
          <a:p>
            <a:pPr marL="731520" lvl="1" indent="-274320">
              <a:spcAft>
                <a:spcPts val="600"/>
              </a:spcAft>
              <a:buClr>
                <a:srgbClr val="0B2B4E"/>
              </a:buClr>
              <a:buSzPct val="100000"/>
              <a:buFont typeface="Calibri"/>
              <a:buChar char="▪"/>
            </a:pPr>
            <a:r>
              <a:rPr sz="2500" b="0" i="0" dirty="0">
                <a:solidFill>
                  <a:srgbClr val="0B2B4E"/>
                </a:solidFill>
                <a:latin typeface="Calibri"/>
              </a:rPr>
              <a:t>Which products</a:t>
            </a:r>
          </a:p>
          <a:p>
            <a:pPr marL="1060704" lvl="2" indent="-310896">
              <a:spcAft>
                <a:spcPts val="600"/>
              </a:spcAft>
              <a:buClr>
                <a:srgbClr val="555B66"/>
              </a:buClr>
              <a:buSzPct val="100000"/>
              <a:buFont typeface="Calibri"/>
              <a:buChar char="–"/>
            </a:pPr>
            <a:r>
              <a:rPr sz="2000" b="0" i="0" dirty="0">
                <a:solidFill>
                  <a:schemeClr val="bg1">
                    <a:lumMod val="50000"/>
                  </a:schemeClr>
                </a:solidFill>
                <a:latin typeface="Calibri"/>
              </a:rPr>
              <a:t>Is corn syrup a distinct market?</a:t>
            </a:r>
          </a:p>
          <a:p>
            <a:pPr marL="1060704" lvl="2" indent="-310896">
              <a:spcAft>
                <a:spcPts val="600"/>
              </a:spcAft>
              <a:buClr>
                <a:srgbClr val="555B66"/>
              </a:buClr>
              <a:buSzPct val="100000"/>
              <a:buFont typeface="Calibri"/>
              <a:buChar char="–"/>
            </a:pPr>
            <a:r>
              <a:rPr sz="2000" b="0" i="0" dirty="0">
                <a:solidFill>
                  <a:schemeClr val="bg1">
                    <a:lumMod val="50000"/>
                  </a:schemeClr>
                </a:solidFill>
                <a:latin typeface="Calibri"/>
              </a:rPr>
              <a:t>Relevant for antitrust litigation (e.g. ADM acquisition of CCP)</a:t>
            </a:r>
          </a:p>
          <a:p>
            <a:pPr marL="731520" lvl="1" indent="-274320">
              <a:spcAft>
                <a:spcPts val="600"/>
              </a:spcAft>
              <a:buClr>
                <a:srgbClr val="0B2B4E"/>
              </a:buClr>
              <a:buSzPct val="100000"/>
              <a:buFont typeface="Calibri"/>
              <a:buChar char="▪"/>
            </a:pPr>
            <a:r>
              <a:rPr sz="2500" b="0" i="0" dirty="0">
                <a:solidFill>
                  <a:srgbClr val="0B2B4E"/>
                </a:solidFill>
                <a:latin typeface="Calibri"/>
              </a:rPr>
              <a:t>Geographic boundaries</a:t>
            </a:r>
          </a:p>
          <a:p>
            <a:pPr marL="1060704" lvl="2" indent="-310896">
              <a:spcAft>
                <a:spcPts val="600"/>
              </a:spcAft>
              <a:buClr>
                <a:srgbClr val="555B66"/>
              </a:buClr>
              <a:buSzPct val="100000"/>
              <a:buFont typeface="Calibri"/>
              <a:buChar char="–"/>
            </a:pPr>
            <a:r>
              <a:rPr sz="2000" b="0" i="0" dirty="0">
                <a:solidFill>
                  <a:schemeClr val="bg1">
                    <a:lumMod val="50000"/>
                  </a:schemeClr>
                </a:solidFill>
                <a:latin typeface="Calibri"/>
              </a:rPr>
              <a:t>Coffee shop in Venice</a:t>
            </a:r>
          </a:p>
          <a:p>
            <a:pPr marL="1060704" lvl="2" indent="-310896">
              <a:spcAft>
                <a:spcPts val="600"/>
              </a:spcAft>
              <a:buClr>
                <a:srgbClr val="555B66"/>
              </a:buClr>
              <a:buSzPct val="100000"/>
              <a:buFont typeface="Calibri"/>
              <a:buChar char="–"/>
            </a:pPr>
            <a:r>
              <a:rPr sz="2000" b="0" i="0" dirty="0">
                <a:solidFill>
                  <a:schemeClr val="bg1">
                    <a:lumMod val="50000"/>
                  </a:schemeClr>
                </a:solidFill>
                <a:latin typeface="Calibri"/>
              </a:rPr>
              <a:t>Gasoline</a:t>
            </a:r>
          </a:p>
          <a:p>
            <a:pPr marL="1060704" lvl="2" indent="-310896">
              <a:spcAft>
                <a:spcPts val="600"/>
              </a:spcAft>
              <a:buClr>
                <a:srgbClr val="555B66"/>
              </a:buClr>
              <a:buSzPct val="100000"/>
              <a:buFont typeface="Calibri"/>
              <a:buChar char="–"/>
            </a:pPr>
            <a:r>
              <a:rPr sz="2000" b="0" i="0" dirty="0">
                <a:solidFill>
                  <a:schemeClr val="bg1">
                    <a:lumMod val="50000"/>
                  </a:schemeClr>
                </a:solidFill>
                <a:latin typeface="Calibri"/>
              </a:rPr>
              <a:t>Gold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Markets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Market </a:t>
            </a:r>
            <a:r>
              <a:rPr lang="en-US" sz="3000" b="1" dirty="0">
                <a:solidFill>
                  <a:srgbClr val="0B2B4E"/>
                </a:solidFill>
                <a:latin typeface="Calibri"/>
              </a:rPr>
              <a:t>D</a:t>
            </a:r>
            <a:r>
              <a:rPr sz="3000" b="1" i="0" dirty="0">
                <a:solidFill>
                  <a:srgbClr val="0B2B4E"/>
                </a:solidFill>
                <a:latin typeface="Calibri"/>
              </a:rPr>
              <a:t>efinition: </a:t>
            </a:r>
            <a:r>
              <a:rPr lang="en-US" sz="3000" b="1" i="0" dirty="0">
                <a:solidFill>
                  <a:srgbClr val="0B2B4E"/>
                </a:solidFill>
                <a:latin typeface="Calibri"/>
              </a:rPr>
              <a:t>T</a:t>
            </a:r>
            <a:r>
              <a:rPr sz="3000" b="1" i="0" dirty="0">
                <a:solidFill>
                  <a:srgbClr val="0B2B4E"/>
                </a:solidFill>
                <a:latin typeface="Calibri"/>
              </a:rPr>
              <a:t>he </a:t>
            </a:r>
            <a:r>
              <a:rPr lang="en-US" sz="3000" b="1" i="0" dirty="0">
                <a:solidFill>
                  <a:srgbClr val="0B2B4E"/>
                </a:solidFill>
                <a:latin typeface="Calibri"/>
              </a:rPr>
              <a:t>C</a:t>
            </a:r>
            <a:r>
              <a:rPr sz="3000" b="1" i="0" dirty="0">
                <a:solidFill>
                  <a:srgbClr val="0B2B4E"/>
                </a:solidFill>
                <a:latin typeface="Calibri"/>
              </a:rPr>
              <a:t>ase of Netflix</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39</a:t>
            </a:r>
          </a:p>
        </p:txBody>
      </p:sp>
      <p:sp>
        <p:nvSpPr>
          <p:cNvPr id="10" name="BUILD"/>
          <p:cNvSpPr txBox="1"/>
          <p:nvPr/>
        </p:nvSpPr>
        <p:spPr>
          <a:xfrm>
            <a:off x="640080" y="1783080"/>
            <a:ext cx="6400800" cy="1908215"/>
          </a:xfrm>
          <a:prstGeom prst="rect">
            <a:avLst/>
          </a:prstGeom>
          <a:noFill/>
        </p:spPr>
        <p:txBody>
          <a:bodyPr wrap="square" lIns="0" tIns="0" rIns="0" bIns="0" anchor="t">
            <a:spAutoFit/>
          </a:bodyPr>
          <a:lstStyle/>
          <a:p>
            <a:pPr>
              <a:spcAft>
                <a:spcPts val="800"/>
              </a:spcAft>
              <a:buClr>
                <a:srgbClr val="0B2B4E"/>
              </a:buClr>
              <a:buSzPct val="100000"/>
            </a:pPr>
            <a:r>
              <a:rPr sz="2600" b="1" i="0" dirty="0">
                <a:solidFill>
                  <a:srgbClr val="0B2B4E"/>
                </a:solidFill>
                <a:latin typeface="Calibri"/>
              </a:rPr>
              <a:t>Define Netflix’s market</a:t>
            </a:r>
          </a:p>
          <a:p>
            <a:pPr marL="731520" lvl="1" indent="-274320">
              <a:spcAft>
                <a:spcPts val="800"/>
              </a:spcAft>
              <a:buClr>
                <a:srgbClr val="0B2B4E"/>
              </a:buClr>
              <a:buSzPct val="100000"/>
              <a:buFont typeface="Calibri"/>
              <a:buChar char="▪"/>
            </a:pPr>
            <a:r>
              <a:rPr sz="2600" b="0" i="0" dirty="0">
                <a:solidFill>
                  <a:srgbClr val="0B2B4E"/>
                </a:solidFill>
                <a:latin typeface="Calibri"/>
              </a:rPr>
              <a:t>Online streaming? </a:t>
            </a:r>
          </a:p>
          <a:p>
            <a:pPr marL="731520" lvl="1" indent="-274320">
              <a:spcAft>
                <a:spcPts val="800"/>
              </a:spcAft>
              <a:buClr>
                <a:srgbClr val="0B2B4E"/>
              </a:buClr>
              <a:buSzPct val="100000"/>
              <a:buFont typeface="Calibri"/>
              <a:buChar char="▪"/>
            </a:pPr>
            <a:r>
              <a:rPr sz="2600" b="0" i="0" dirty="0">
                <a:solidFill>
                  <a:srgbClr val="0B2B4E"/>
                </a:solidFill>
                <a:latin typeface="Calibri"/>
              </a:rPr>
              <a:t>All TV/films?</a:t>
            </a:r>
          </a:p>
          <a:p>
            <a:pPr marL="731520" lvl="1" indent="-274320">
              <a:spcAft>
                <a:spcPts val="800"/>
              </a:spcAft>
              <a:buClr>
                <a:srgbClr val="0B2B4E"/>
              </a:buClr>
              <a:buSzPct val="100000"/>
              <a:buFont typeface="Calibri"/>
              <a:buChar char="▪"/>
            </a:pPr>
            <a:r>
              <a:rPr sz="2600" b="0" i="0" dirty="0">
                <a:solidFill>
                  <a:srgbClr val="0B2B4E"/>
                </a:solidFill>
                <a:latin typeface="Calibri"/>
              </a:rPr>
              <a:t>All entertainment?</a:t>
            </a:r>
          </a:p>
        </p:txBody>
      </p:sp>
      <p:pic>
        <p:nvPicPr>
          <p:cNvPr id="11" name="Picture 10" descr="s39_img1.png"/>
          <p:cNvPicPr>
            <a:picLocks noChangeAspect="1"/>
          </p:cNvPicPr>
          <p:nvPr/>
        </p:nvPicPr>
        <p:blipFill>
          <a:blip r:embed="rId4"/>
          <a:stretch>
            <a:fillRect/>
          </a:stretch>
        </p:blipFill>
        <p:spPr>
          <a:xfrm>
            <a:off x="7178040" y="1346533"/>
            <a:ext cx="4233477" cy="2926080"/>
          </a:xfrm>
          <a:prstGeom prst="roundRect">
            <a:avLst>
              <a:gd name="adj" fmla="val 4000"/>
            </a:avLst>
          </a:prstGeom>
          <a:effectLst>
            <a:outerShdw blurRad="54864" dist="41148" dir="5400000" rotWithShape="0">
              <a:srgbClr val="000000">
                <a:alpha val="62000"/>
              </a:srgbClr>
            </a:outerShdw>
          </a:effectLst>
        </p:spPr>
      </p:pic>
      <p:sp>
        <p:nvSpPr>
          <p:cNvPr id="13" name="Parallelogram 12">
            <a:extLst>
              <a:ext uri="{FF2B5EF4-FFF2-40B4-BE49-F238E27FC236}">
                <a16:creationId xmlns:a16="http://schemas.microsoft.com/office/drawing/2014/main" id="{5B85BFA1-46BB-8107-DFFA-432B64670F27}"/>
              </a:ext>
            </a:extLst>
          </p:cNvPr>
          <p:cNvSpPr/>
          <p:nvPr/>
        </p:nvSpPr>
        <p:spPr>
          <a:xfrm>
            <a:off x="9133726" y="5733002"/>
            <a:ext cx="2753474" cy="729442"/>
          </a:xfrm>
          <a:prstGeom prst="parallelogram">
            <a:avLst>
              <a:gd name="adj" fmla="val 18000"/>
            </a:avLst>
          </a:prstGeom>
          <a:solidFill>
            <a:srgbClr val="E09F3E"/>
          </a:solidFill>
          <a:ln>
            <a:noFill/>
          </a:ln>
          <a:effectLst>
            <a:outerShdw blurRad="36576" dist="27432"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2000" b="1" i="0" dirty="0">
                <a:solidFill>
                  <a:srgbClr val="0B2B4E"/>
                </a:solidFill>
                <a:latin typeface="Calibri"/>
              </a:rPr>
              <a:t>Class 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9B83-E01B-F209-DA03-0979F630F20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A287524-71E2-898D-70FE-F1C12F2960AA}"/>
              </a:ext>
            </a:extLst>
          </p:cNvPr>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Outline</a:t>
            </a:r>
          </a:p>
        </p:txBody>
      </p:sp>
      <p:sp>
        <p:nvSpPr>
          <p:cNvPr id="3" name="TextBox 2">
            <a:extLst>
              <a:ext uri="{FF2B5EF4-FFF2-40B4-BE49-F238E27FC236}">
                <a16:creationId xmlns:a16="http://schemas.microsoft.com/office/drawing/2014/main" id="{8454A4AA-7702-CC45-8E7F-C1153D237A6F}"/>
              </a:ext>
            </a:extLst>
          </p:cNvPr>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a:extLst>
              <a:ext uri="{FF2B5EF4-FFF2-40B4-BE49-F238E27FC236}">
                <a16:creationId xmlns:a16="http://schemas.microsoft.com/office/drawing/2014/main" id="{3758F192-0E10-E28E-EDD4-ABFFC461CC3C}"/>
              </a:ext>
            </a:extLst>
          </p:cNvPr>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B703BC2C-AAAB-573D-557E-65929FD4DA71}"/>
              </a:ext>
            </a:extLst>
          </p:cNvPr>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a:extLst>
              <a:ext uri="{FF2B5EF4-FFF2-40B4-BE49-F238E27FC236}">
                <a16:creationId xmlns:a16="http://schemas.microsoft.com/office/drawing/2014/main" id="{D21F0E70-F950-CD7F-2B09-F9AEA9A27E2C}"/>
              </a:ext>
            </a:extLst>
          </p:cNvPr>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C5F26B77-FF76-81A7-3D24-E229FD7E38D2}"/>
              </a:ext>
            </a:extLst>
          </p:cNvPr>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AB2DBF82-CAE9-9663-D328-7CC6923F992D}"/>
              </a:ext>
            </a:extLst>
          </p:cNvPr>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a:extLst>
              <a:ext uri="{FF2B5EF4-FFF2-40B4-BE49-F238E27FC236}">
                <a16:creationId xmlns:a16="http://schemas.microsoft.com/office/drawing/2014/main" id="{445FF2F2-0BE6-A8A3-B3E7-8F81630A00AB}"/>
              </a:ext>
            </a:extLst>
          </p:cNvPr>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40</a:t>
            </a:r>
            <a:endParaRPr sz="1100" b="0" i="0" dirty="0">
              <a:solidFill>
                <a:srgbClr val="555B66"/>
              </a:solidFill>
              <a:latin typeface="Calibri"/>
            </a:endParaRPr>
          </a:p>
        </p:txBody>
      </p:sp>
      <p:sp>
        <p:nvSpPr>
          <p:cNvPr id="10" name="Oval 9">
            <a:extLst>
              <a:ext uri="{FF2B5EF4-FFF2-40B4-BE49-F238E27FC236}">
                <a16:creationId xmlns:a16="http://schemas.microsoft.com/office/drawing/2014/main" id="{45344D77-67C0-D268-A9E8-383EAEFCE3DC}"/>
              </a:ext>
            </a:extLst>
          </p:cNvPr>
          <p:cNvSpPr/>
          <p:nvPr/>
        </p:nvSpPr>
        <p:spPr>
          <a:xfrm>
            <a:off x="1024128" y="192938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a:extLst>
              <a:ext uri="{FF2B5EF4-FFF2-40B4-BE49-F238E27FC236}">
                <a16:creationId xmlns:a16="http://schemas.microsoft.com/office/drawing/2014/main" id="{A38E6C8B-3DB5-11B9-02D3-8A68BE1C8C71}"/>
              </a:ext>
            </a:extLst>
          </p:cNvPr>
          <p:cNvSpPr txBox="1"/>
          <p:nvPr/>
        </p:nvSpPr>
        <p:spPr>
          <a:xfrm>
            <a:off x="1883664" y="1910422"/>
            <a:ext cx="9226296" cy="384721"/>
          </a:xfrm>
          <a:prstGeom prst="rect">
            <a:avLst/>
          </a:prstGeom>
          <a:noFill/>
        </p:spPr>
        <p:txBody>
          <a:bodyPr wrap="square" lIns="0" tIns="0" rIns="0" bIns="0" anchor="b">
            <a:spAutoFit/>
          </a:bodyPr>
          <a:lstStyle/>
          <a:p>
            <a:r>
              <a:rPr sz="2500" b="1" i="0" dirty="0">
                <a:solidFill>
                  <a:srgbClr val="9AA0A8"/>
                </a:solidFill>
                <a:latin typeface="Calibri"/>
              </a:rPr>
              <a:t>Value of the Firm</a:t>
            </a:r>
          </a:p>
        </p:txBody>
      </p:sp>
      <p:sp>
        <p:nvSpPr>
          <p:cNvPr id="12" name="TextBox 11">
            <a:extLst>
              <a:ext uri="{FF2B5EF4-FFF2-40B4-BE49-F238E27FC236}">
                <a16:creationId xmlns:a16="http://schemas.microsoft.com/office/drawing/2014/main" id="{9A29B022-C2D2-666F-EF2B-93EEA996969C}"/>
              </a:ext>
            </a:extLst>
          </p:cNvPr>
          <p:cNvSpPr txBox="1"/>
          <p:nvPr/>
        </p:nvSpPr>
        <p:spPr>
          <a:xfrm>
            <a:off x="1883664" y="2295144"/>
            <a:ext cx="9226296" cy="338554"/>
          </a:xfrm>
          <a:prstGeom prst="rect">
            <a:avLst/>
          </a:prstGeom>
          <a:noFill/>
        </p:spPr>
        <p:txBody>
          <a:bodyPr wrap="square" lIns="0" tIns="0" rIns="0" bIns="0" anchor="t">
            <a:spAutoFit/>
          </a:bodyPr>
          <a:lstStyle/>
          <a:p>
            <a:r>
              <a:rPr sz="2200" b="0" i="0" dirty="0">
                <a:solidFill>
                  <a:srgbClr val="9AA0A8"/>
                </a:solidFill>
                <a:latin typeface="Calibri"/>
              </a:rPr>
              <a:t>What a firm maximizes — and why value is not the same as current profit</a:t>
            </a:r>
          </a:p>
        </p:txBody>
      </p:sp>
      <p:sp>
        <p:nvSpPr>
          <p:cNvPr id="13" name="Oval 12">
            <a:extLst>
              <a:ext uri="{FF2B5EF4-FFF2-40B4-BE49-F238E27FC236}">
                <a16:creationId xmlns:a16="http://schemas.microsoft.com/office/drawing/2014/main" id="{1C5B1C1D-5C5F-3DBE-E4C5-CD5D562A2693}"/>
              </a:ext>
            </a:extLst>
          </p:cNvPr>
          <p:cNvSpPr/>
          <p:nvPr/>
        </p:nvSpPr>
        <p:spPr>
          <a:xfrm>
            <a:off x="1024128" y="3346703"/>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4" name="TextBox 13">
            <a:extLst>
              <a:ext uri="{FF2B5EF4-FFF2-40B4-BE49-F238E27FC236}">
                <a16:creationId xmlns:a16="http://schemas.microsoft.com/office/drawing/2014/main" id="{D6502865-429F-BBAA-664D-9EB35EC0C86B}"/>
              </a:ext>
            </a:extLst>
          </p:cNvPr>
          <p:cNvSpPr txBox="1"/>
          <p:nvPr/>
        </p:nvSpPr>
        <p:spPr>
          <a:xfrm>
            <a:off x="1883664" y="3327742"/>
            <a:ext cx="9226296" cy="384721"/>
          </a:xfrm>
          <a:prstGeom prst="rect">
            <a:avLst/>
          </a:prstGeom>
          <a:noFill/>
        </p:spPr>
        <p:txBody>
          <a:bodyPr wrap="square" lIns="0" tIns="0" rIns="0" bIns="0" anchor="b">
            <a:spAutoFit/>
          </a:bodyPr>
          <a:lstStyle/>
          <a:p>
            <a:r>
              <a:rPr sz="2500" b="1" i="0" dirty="0">
                <a:solidFill>
                  <a:srgbClr val="9AA0A8"/>
                </a:solidFill>
                <a:latin typeface="Calibri"/>
              </a:rPr>
              <a:t>Basic Principles of Economic Thinking</a:t>
            </a:r>
          </a:p>
        </p:txBody>
      </p:sp>
      <p:sp>
        <p:nvSpPr>
          <p:cNvPr id="15" name="TextBox 14">
            <a:extLst>
              <a:ext uri="{FF2B5EF4-FFF2-40B4-BE49-F238E27FC236}">
                <a16:creationId xmlns:a16="http://schemas.microsoft.com/office/drawing/2014/main" id="{04EE8E8B-23D7-EC61-6FC2-CD30870D6E26}"/>
              </a:ext>
            </a:extLst>
          </p:cNvPr>
          <p:cNvSpPr txBox="1"/>
          <p:nvPr/>
        </p:nvSpPr>
        <p:spPr>
          <a:xfrm>
            <a:off x="1883664" y="3712463"/>
            <a:ext cx="9226296" cy="338554"/>
          </a:xfrm>
          <a:prstGeom prst="rect">
            <a:avLst/>
          </a:prstGeom>
          <a:noFill/>
        </p:spPr>
        <p:txBody>
          <a:bodyPr wrap="square" lIns="0" tIns="0" rIns="0" bIns="0" anchor="t">
            <a:spAutoFit/>
          </a:bodyPr>
          <a:lstStyle/>
          <a:p>
            <a:r>
              <a:rPr lang="en-US" sz="2200" b="0" i="0" dirty="0">
                <a:solidFill>
                  <a:srgbClr val="9AA0A8"/>
                </a:solidFill>
                <a:latin typeface="Calibri"/>
              </a:rPr>
              <a:t>O</a:t>
            </a:r>
            <a:r>
              <a:rPr sz="2200" b="0" i="0" dirty="0">
                <a:solidFill>
                  <a:srgbClr val="9AA0A8"/>
                </a:solidFill>
                <a:latin typeface="Calibri"/>
              </a:rPr>
              <a:t>pportunity costs · </a:t>
            </a:r>
            <a:r>
              <a:rPr lang="en-US" sz="2200" dirty="0">
                <a:solidFill>
                  <a:srgbClr val="9AA0A8"/>
                </a:solidFill>
                <a:latin typeface="Calibri"/>
              </a:rPr>
              <a:t>S</a:t>
            </a:r>
            <a:r>
              <a:rPr sz="2200" b="0" i="0" dirty="0">
                <a:solidFill>
                  <a:srgbClr val="9AA0A8"/>
                </a:solidFill>
                <a:latin typeface="Calibri"/>
              </a:rPr>
              <a:t>unk costs · </a:t>
            </a:r>
            <a:r>
              <a:rPr lang="en-US" sz="2200" dirty="0">
                <a:solidFill>
                  <a:srgbClr val="9AA0A8"/>
                </a:solidFill>
                <a:latin typeface="Calibri"/>
              </a:rPr>
              <a:t>C</a:t>
            </a:r>
            <a:r>
              <a:rPr sz="2200" b="0" i="0" dirty="0">
                <a:solidFill>
                  <a:srgbClr val="9AA0A8"/>
                </a:solidFill>
                <a:latin typeface="Calibri"/>
              </a:rPr>
              <a:t>ost-benefit and marginal analysis</a:t>
            </a:r>
          </a:p>
        </p:txBody>
      </p:sp>
      <p:sp>
        <p:nvSpPr>
          <p:cNvPr id="16" name="Rounded Rectangle 15">
            <a:extLst>
              <a:ext uri="{FF2B5EF4-FFF2-40B4-BE49-F238E27FC236}">
                <a16:creationId xmlns:a16="http://schemas.microsoft.com/office/drawing/2014/main" id="{4B3BF238-FC6A-FD44-0481-B2FA06B9344B}"/>
              </a:ext>
            </a:extLst>
          </p:cNvPr>
          <p:cNvSpPr/>
          <p:nvPr/>
        </p:nvSpPr>
        <p:spPr>
          <a:xfrm>
            <a:off x="822960" y="4599432"/>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DD67ABC1-D638-245F-B7FA-F39EDCE0A37C}"/>
              </a:ext>
            </a:extLst>
          </p:cNvPr>
          <p:cNvSpPr/>
          <p:nvPr/>
        </p:nvSpPr>
        <p:spPr>
          <a:xfrm>
            <a:off x="1024128" y="4764024"/>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8" name="TextBox 17">
            <a:extLst>
              <a:ext uri="{FF2B5EF4-FFF2-40B4-BE49-F238E27FC236}">
                <a16:creationId xmlns:a16="http://schemas.microsoft.com/office/drawing/2014/main" id="{64AFA6B4-1345-C7F1-DCE4-31F97AFECE4F}"/>
              </a:ext>
            </a:extLst>
          </p:cNvPr>
          <p:cNvSpPr txBox="1"/>
          <p:nvPr/>
        </p:nvSpPr>
        <p:spPr>
          <a:xfrm>
            <a:off x="1883664" y="4745063"/>
            <a:ext cx="9226296" cy="384721"/>
          </a:xfrm>
          <a:prstGeom prst="rect">
            <a:avLst/>
          </a:prstGeom>
          <a:noFill/>
        </p:spPr>
        <p:txBody>
          <a:bodyPr wrap="square" lIns="0" tIns="0" rIns="0" bIns="0" anchor="b">
            <a:spAutoFit/>
          </a:bodyPr>
          <a:lstStyle/>
          <a:p>
            <a:r>
              <a:rPr sz="2500" b="1" i="0" dirty="0">
                <a:solidFill>
                  <a:srgbClr val="0B2B4E"/>
                </a:solidFill>
                <a:latin typeface="Calibri"/>
              </a:rPr>
              <a:t>Economics Fundamentals</a:t>
            </a:r>
          </a:p>
        </p:txBody>
      </p:sp>
      <p:sp>
        <p:nvSpPr>
          <p:cNvPr id="19" name="TextBox 18">
            <a:extLst>
              <a:ext uri="{FF2B5EF4-FFF2-40B4-BE49-F238E27FC236}">
                <a16:creationId xmlns:a16="http://schemas.microsoft.com/office/drawing/2014/main" id="{A6529482-9A22-BFC8-AC8E-742E88312777}"/>
              </a:ext>
            </a:extLst>
          </p:cNvPr>
          <p:cNvSpPr txBox="1"/>
          <p:nvPr/>
        </p:nvSpPr>
        <p:spPr>
          <a:xfrm>
            <a:off x="1883664" y="5129784"/>
            <a:ext cx="9226296" cy="369332"/>
          </a:xfrm>
          <a:prstGeom prst="rect">
            <a:avLst/>
          </a:prstGeom>
          <a:noFill/>
        </p:spPr>
        <p:txBody>
          <a:bodyPr wrap="square" lIns="0" tIns="0" rIns="0" bIns="0" anchor="t">
            <a:spAutoFit/>
          </a:bodyPr>
          <a:lstStyle/>
          <a:p>
            <a:r>
              <a:rPr lang="en-US" sz="2200" dirty="0">
                <a:solidFill>
                  <a:srgbClr val="555B66"/>
                </a:solidFill>
              </a:rPr>
              <a:t>Markets</a:t>
            </a:r>
            <a:r>
              <a:rPr lang="en-US" sz="2400" b="1" dirty="0">
                <a:solidFill>
                  <a:srgbClr val="0B2B4E"/>
                </a:solidFill>
              </a:rPr>
              <a:t> </a:t>
            </a:r>
            <a:r>
              <a:rPr sz="2200" b="0" i="0" dirty="0">
                <a:solidFill>
                  <a:srgbClr val="555B66"/>
                </a:solidFill>
                <a:latin typeface="Calibri"/>
              </a:rPr>
              <a:t>· </a:t>
            </a:r>
            <a:r>
              <a:rPr lang="en-US" sz="2200" b="1" dirty="0">
                <a:solidFill>
                  <a:srgbClr val="0B2B4E"/>
                </a:solidFill>
              </a:rPr>
              <a:t>Supply and Demand</a:t>
            </a:r>
            <a:r>
              <a:rPr sz="2200" b="0" i="0" dirty="0">
                <a:solidFill>
                  <a:srgbClr val="555B66"/>
                </a:solidFill>
                <a:latin typeface="Calibri"/>
              </a:rPr>
              <a:t> · Equilibrium</a:t>
            </a:r>
          </a:p>
        </p:txBody>
      </p:sp>
    </p:spTree>
    <p:extLst>
      <p:ext uri="{BB962C8B-B14F-4D97-AF65-F5344CB8AC3E}">
        <p14:creationId xmlns:p14="http://schemas.microsoft.com/office/powerpoint/2010/main" val="17118281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Supply and Demand</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The </a:t>
            </a:r>
            <a:r>
              <a:rPr lang="en-US" sz="3000" b="1" i="0" dirty="0">
                <a:solidFill>
                  <a:srgbClr val="0B2B4E"/>
                </a:solidFill>
                <a:latin typeface="Calibri"/>
              </a:rPr>
              <a:t>M</a:t>
            </a:r>
            <a:r>
              <a:rPr sz="3000" b="1" i="0" dirty="0">
                <a:solidFill>
                  <a:srgbClr val="0B2B4E"/>
                </a:solidFill>
                <a:latin typeface="Calibri"/>
              </a:rPr>
              <a:t>arket </a:t>
            </a:r>
            <a:r>
              <a:rPr lang="en-US" sz="3000" b="1" dirty="0">
                <a:solidFill>
                  <a:srgbClr val="0B2B4E"/>
                </a:solidFill>
                <a:latin typeface="Calibri"/>
              </a:rPr>
              <a:t>D</a:t>
            </a:r>
            <a:r>
              <a:rPr sz="3000" b="1" i="0" dirty="0">
                <a:solidFill>
                  <a:srgbClr val="0B2B4E"/>
                </a:solidFill>
                <a:latin typeface="Calibri"/>
              </a:rPr>
              <a:t>emand </a:t>
            </a:r>
            <a:r>
              <a:rPr lang="en-US" sz="3000" b="1" dirty="0">
                <a:solidFill>
                  <a:srgbClr val="0B2B4E"/>
                </a:solidFill>
                <a:latin typeface="Calibri"/>
              </a:rPr>
              <a:t>C</a:t>
            </a:r>
            <a:r>
              <a:rPr sz="3000" b="1" i="0" dirty="0">
                <a:solidFill>
                  <a:srgbClr val="0B2B4E"/>
                </a:solidFill>
                <a:latin typeface="Calibri"/>
              </a:rPr>
              <a:t>urve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41</a:t>
            </a:r>
          </a:p>
        </p:txBody>
      </p:sp>
      <p:sp>
        <p:nvSpPr>
          <p:cNvPr id="10" name="TextBox 9"/>
          <p:cNvSpPr txBox="1"/>
          <p:nvPr/>
        </p:nvSpPr>
        <p:spPr>
          <a:xfrm>
            <a:off x="640080" y="1691640"/>
            <a:ext cx="10881360" cy="4480560"/>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600" b="1" i="0">
                <a:solidFill>
                  <a:srgbClr val="0B2B4E"/>
                </a:solidFill>
                <a:latin typeface="Calibri"/>
              </a:rPr>
              <a:t>Definition</a:t>
            </a:r>
            <a:r>
              <a:rPr sz="2600" b="0" i="0">
                <a:solidFill>
                  <a:srgbClr val="0B2B4E"/>
                </a:solidFill>
                <a:latin typeface="Calibri"/>
              </a:rPr>
              <a:t>: the relationship between the quantity of a good that consumers are willing to buy and the price of the good, </a:t>
            </a:r>
            <a:r>
              <a:rPr sz="2600" b="0" i="1">
                <a:solidFill>
                  <a:srgbClr val="0B2B4E"/>
                </a:solidFill>
                <a:latin typeface="Calibri"/>
              </a:rPr>
              <a:t>holding everything else constant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Supply and Demand</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“Holding everything else constant”</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42</a:t>
            </a:r>
          </a:p>
        </p:txBody>
      </p:sp>
      <p:sp>
        <p:nvSpPr>
          <p:cNvPr id="10" name="BUILD"/>
          <p:cNvSpPr txBox="1"/>
          <p:nvPr/>
        </p:nvSpPr>
        <p:spPr>
          <a:xfrm>
            <a:off x="640080" y="1783080"/>
            <a:ext cx="6766560" cy="4385816"/>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500" b="0" i="0" dirty="0">
                <a:solidFill>
                  <a:srgbClr val="C0201B"/>
                </a:solidFill>
                <a:latin typeface="Calibri"/>
              </a:rPr>
              <a:t>Want to know:</a:t>
            </a:r>
            <a:r>
              <a:rPr sz="2500" b="0" i="0" dirty="0">
                <a:solidFill>
                  <a:srgbClr val="0B2B4E"/>
                </a:solidFill>
                <a:latin typeface="Calibri"/>
              </a:rPr>
              <a:t> how the quantity demanded of an ice cream cone changes with a price increase</a:t>
            </a:r>
          </a:p>
          <a:p>
            <a:pPr marL="274320" indent="-274320">
              <a:spcAft>
                <a:spcPts val="600"/>
              </a:spcAft>
              <a:buClr>
                <a:srgbClr val="0B2B4E"/>
              </a:buClr>
              <a:buSzPct val="100000"/>
              <a:buFont typeface="Calibri"/>
              <a:buChar char="▪"/>
            </a:pPr>
            <a:r>
              <a:rPr sz="2500" b="0" i="0" dirty="0">
                <a:solidFill>
                  <a:srgbClr val="C0201B"/>
                </a:solidFill>
                <a:latin typeface="Calibri"/>
              </a:rPr>
              <a:t>Assume: </a:t>
            </a:r>
            <a:r>
              <a:rPr sz="2500" b="0" i="0" dirty="0">
                <a:solidFill>
                  <a:srgbClr val="0B2B4E"/>
                </a:solidFill>
                <a:latin typeface="Calibri"/>
              </a:rPr>
              <a:t>Everything else that affects the quantity demanded remains constant</a:t>
            </a:r>
          </a:p>
          <a:p>
            <a:pPr marL="274320" indent="-274320">
              <a:spcAft>
                <a:spcPts val="600"/>
              </a:spcAft>
              <a:buClr>
                <a:srgbClr val="0B2B4E"/>
              </a:buClr>
              <a:buSzPct val="100000"/>
              <a:buFont typeface="Calibri"/>
              <a:buChar char="▪"/>
            </a:pPr>
            <a:r>
              <a:rPr sz="2500" b="0" i="0" dirty="0">
                <a:solidFill>
                  <a:srgbClr val="C0201B"/>
                </a:solidFill>
                <a:latin typeface="Calibri"/>
              </a:rPr>
              <a:t>What is held constant?</a:t>
            </a:r>
          </a:p>
          <a:p>
            <a:pPr marL="603504" lvl="1" indent="-310896">
              <a:spcAft>
                <a:spcPts val="600"/>
              </a:spcAft>
              <a:buClr>
                <a:srgbClr val="555B66"/>
              </a:buClr>
              <a:buSzPct val="100000"/>
              <a:buFont typeface="Calibri"/>
              <a:buChar char="–"/>
            </a:pPr>
            <a:r>
              <a:rPr sz="2000" b="0" i="0" dirty="0">
                <a:solidFill>
                  <a:schemeClr val="tx1">
                    <a:lumMod val="50000"/>
                    <a:lumOff val="50000"/>
                  </a:schemeClr>
                </a:solidFill>
                <a:latin typeface="Calibri"/>
              </a:rPr>
              <a:t>Consumer income</a:t>
            </a:r>
          </a:p>
          <a:p>
            <a:pPr marL="603504" lvl="1" indent="-310896">
              <a:spcAft>
                <a:spcPts val="600"/>
              </a:spcAft>
              <a:buClr>
                <a:srgbClr val="555B66"/>
              </a:buClr>
              <a:buSzPct val="100000"/>
              <a:buFont typeface="Calibri"/>
              <a:buChar char="–"/>
            </a:pPr>
            <a:r>
              <a:rPr sz="2000" b="0" i="0" dirty="0">
                <a:solidFill>
                  <a:schemeClr val="tx1">
                    <a:lumMod val="50000"/>
                    <a:lumOff val="50000"/>
                  </a:schemeClr>
                </a:solidFill>
                <a:latin typeface="Calibri"/>
              </a:rPr>
              <a:t>Outside temperature</a:t>
            </a:r>
          </a:p>
          <a:p>
            <a:pPr marL="603504" lvl="1" indent="-310896">
              <a:spcAft>
                <a:spcPts val="600"/>
              </a:spcAft>
              <a:buClr>
                <a:srgbClr val="555B66"/>
              </a:buClr>
              <a:buSzPct val="100000"/>
              <a:buFont typeface="Calibri"/>
              <a:buChar char="–"/>
            </a:pPr>
            <a:r>
              <a:rPr sz="2000" b="0" i="0" dirty="0">
                <a:solidFill>
                  <a:schemeClr val="tx1">
                    <a:lumMod val="50000"/>
                    <a:lumOff val="50000"/>
                  </a:schemeClr>
                </a:solidFill>
                <a:latin typeface="Calibri"/>
              </a:rPr>
              <a:t>Prices of related goods</a:t>
            </a:r>
          </a:p>
          <a:p>
            <a:pPr marL="603504" lvl="1" indent="-310896">
              <a:spcAft>
                <a:spcPts val="600"/>
              </a:spcAft>
              <a:buClr>
                <a:srgbClr val="555B66"/>
              </a:buClr>
              <a:buSzPct val="100000"/>
              <a:buFont typeface="Calibri"/>
              <a:buChar char="–"/>
            </a:pPr>
            <a:r>
              <a:rPr sz="2000" b="0" i="0" dirty="0">
                <a:solidFill>
                  <a:schemeClr val="tx1">
                    <a:lumMod val="50000"/>
                    <a:lumOff val="50000"/>
                  </a:schemeClr>
                </a:solidFill>
                <a:latin typeface="Calibri"/>
              </a:rPr>
              <a:t>Taste for ice cream flavors</a:t>
            </a:r>
          </a:p>
          <a:p>
            <a:pPr marL="603504" lvl="1" indent="-310896">
              <a:spcAft>
                <a:spcPts val="600"/>
              </a:spcAft>
              <a:buClr>
                <a:srgbClr val="555B66"/>
              </a:buClr>
              <a:buSzPct val="100000"/>
              <a:buFont typeface="Calibri"/>
              <a:buChar char="–"/>
            </a:pPr>
            <a:r>
              <a:rPr sz="2000" b="0" i="0" dirty="0">
                <a:solidFill>
                  <a:schemeClr val="tx1">
                    <a:lumMod val="50000"/>
                    <a:lumOff val="50000"/>
                  </a:schemeClr>
                </a:solidFill>
                <a:latin typeface="Calibri"/>
              </a:rPr>
              <a:t>Size, shape, quality of the ice cream cone</a:t>
            </a:r>
          </a:p>
          <a:p>
            <a:pPr marL="603504" lvl="1" indent="-310896">
              <a:spcAft>
                <a:spcPts val="600"/>
              </a:spcAft>
              <a:buClr>
                <a:srgbClr val="555B66"/>
              </a:buClr>
              <a:buSzPct val="100000"/>
              <a:buFont typeface="Calibri"/>
              <a:buChar char="–"/>
            </a:pPr>
            <a:r>
              <a:rPr sz="2000" b="0" i="0" dirty="0">
                <a:solidFill>
                  <a:schemeClr val="tx1">
                    <a:lumMod val="50000"/>
                    <a:lumOff val="50000"/>
                  </a:schemeClr>
                </a:solidFill>
                <a:latin typeface="Calibri"/>
              </a:rPr>
              <a:t>Anything other than price </a:t>
            </a:r>
          </a:p>
        </p:txBody>
      </p:sp>
      <p:pic>
        <p:nvPicPr>
          <p:cNvPr id="11" name="Content Placeholder 8" descr="A picture containing food, dessert, different, basket&#10;&#10;Description automatically generated">
            <a:extLst>
              <a:ext uri="{FF2B5EF4-FFF2-40B4-BE49-F238E27FC236}">
                <a16:creationId xmlns:a16="http://schemas.microsoft.com/office/drawing/2014/main" id="{DB0FFC11-CE37-EF3E-B881-0F473FE43145}"/>
              </a:ext>
            </a:extLst>
          </p:cNvPr>
          <p:cNvPicPr>
            <a:picLocks noChangeAspect="1"/>
          </p:cNvPicPr>
          <p:nvPr/>
        </p:nvPicPr>
        <p:blipFill>
          <a:blip r:embed="rId3"/>
          <a:stretch>
            <a:fillRect/>
          </a:stretch>
        </p:blipFill>
        <p:spPr>
          <a:xfrm>
            <a:off x="7655354" y="2561616"/>
            <a:ext cx="4041775" cy="3486030"/>
          </a:xfrm>
          <a:prstGeom prst="rect">
            <a:avLst/>
          </a:prstGeom>
          <a:noFill/>
        </p:spPr>
      </p:pic>
      <p:sp>
        <p:nvSpPr>
          <p:cNvPr id="12" name="TextBox 11">
            <a:extLst>
              <a:ext uri="{FF2B5EF4-FFF2-40B4-BE49-F238E27FC236}">
                <a16:creationId xmlns:a16="http://schemas.microsoft.com/office/drawing/2014/main" id="{E5CC7472-4E2F-7955-5685-8587CCF95047}"/>
              </a:ext>
            </a:extLst>
          </p:cNvPr>
          <p:cNvSpPr txBox="1"/>
          <p:nvPr/>
        </p:nvSpPr>
        <p:spPr>
          <a:xfrm>
            <a:off x="7682536" y="1746432"/>
            <a:ext cx="3942675" cy="923330"/>
          </a:xfrm>
          <a:prstGeom prst="rect">
            <a:avLst/>
          </a:prstGeom>
          <a:noFill/>
        </p:spPr>
        <p:txBody>
          <a:bodyPr wrap="square" rtlCol="0">
            <a:spAutoFit/>
          </a:bodyPr>
          <a:lstStyle/>
          <a:p>
            <a:pPr algn="ctr"/>
            <a:r>
              <a:rPr lang="en-US" dirty="0">
                <a:solidFill>
                  <a:srgbClr val="0B2B4E"/>
                </a:solidFill>
              </a:rPr>
              <a:t>Things are not held constant between these two cones</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Supply and Demand</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The </a:t>
            </a:r>
            <a:r>
              <a:rPr lang="en-US" sz="3000" b="1" i="0" dirty="0">
                <a:solidFill>
                  <a:srgbClr val="0B2B4E"/>
                </a:solidFill>
                <a:latin typeface="Calibri"/>
              </a:rPr>
              <a:t>M</a:t>
            </a:r>
            <a:r>
              <a:rPr sz="3000" b="1" i="0" dirty="0">
                <a:solidFill>
                  <a:srgbClr val="0B2B4E"/>
                </a:solidFill>
                <a:latin typeface="Calibri"/>
              </a:rPr>
              <a:t>arket </a:t>
            </a:r>
            <a:r>
              <a:rPr lang="en-US" sz="3000" b="1" dirty="0">
                <a:solidFill>
                  <a:srgbClr val="0B2B4E"/>
                </a:solidFill>
                <a:latin typeface="Calibri"/>
              </a:rPr>
              <a:t>D</a:t>
            </a:r>
            <a:r>
              <a:rPr sz="3000" b="1" i="0" dirty="0">
                <a:solidFill>
                  <a:srgbClr val="0B2B4E"/>
                </a:solidFill>
                <a:latin typeface="Calibri"/>
              </a:rPr>
              <a:t>emand </a:t>
            </a:r>
            <a:r>
              <a:rPr lang="en-US" sz="3000" b="1" dirty="0">
                <a:solidFill>
                  <a:srgbClr val="0B2B4E"/>
                </a:solidFill>
                <a:latin typeface="Calibri"/>
              </a:rPr>
              <a:t>C</a:t>
            </a:r>
            <a:r>
              <a:rPr sz="3000" b="1" i="0" dirty="0">
                <a:solidFill>
                  <a:srgbClr val="0B2B4E"/>
                </a:solidFill>
                <a:latin typeface="Calibri"/>
              </a:rPr>
              <a:t>urve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43</a:t>
            </a:r>
          </a:p>
        </p:txBody>
      </p:sp>
      <p:sp>
        <p:nvSpPr>
          <p:cNvPr id="10" name="Rounded Rectangle 9"/>
          <p:cNvSpPr/>
          <p:nvPr/>
        </p:nvSpPr>
        <p:spPr>
          <a:xfrm>
            <a:off x="548640" y="1600200"/>
            <a:ext cx="11064240" cy="868680"/>
          </a:xfrm>
          <a:prstGeom prst="roundRect">
            <a:avLst>
              <a:gd name="adj" fmla="val 6000"/>
            </a:avLst>
          </a:prstGeom>
          <a:solidFill>
            <a:srgbClr val="FDF6E6"/>
          </a:solidFill>
          <a:ln w="1270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r>
              <a:rPr sz="2000" b="1" i="0" dirty="0">
                <a:solidFill>
                  <a:srgbClr val="0B2B4E"/>
                </a:solidFill>
                <a:latin typeface="Calibri"/>
              </a:rPr>
              <a:t>Definition: </a:t>
            </a:r>
            <a:r>
              <a:rPr lang="en-US" sz="2000" dirty="0">
                <a:solidFill>
                  <a:srgbClr val="0B2B4E"/>
                </a:solidFill>
                <a:latin typeface="Calibri"/>
              </a:rPr>
              <a:t>T</a:t>
            </a:r>
            <a:r>
              <a:rPr sz="2000" b="0" i="0" dirty="0">
                <a:solidFill>
                  <a:srgbClr val="0B2B4E"/>
                </a:solidFill>
                <a:latin typeface="Calibri"/>
              </a:rPr>
              <a:t>he relationship between the quantity of a good that consumers are willing to buy and the price of the good, </a:t>
            </a:r>
            <a:r>
              <a:rPr sz="2000" b="0" i="1" dirty="0">
                <a:solidFill>
                  <a:srgbClr val="0B2B4E"/>
                </a:solidFill>
                <a:latin typeface="Calibri"/>
              </a:rPr>
              <a:t>holding everything else constant</a:t>
            </a:r>
          </a:p>
        </p:txBody>
      </p:sp>
      <p:sp>
        <p:nvSpPr>
          <p:cNvPr id="11" name="BUILD"/>
          <p:cNvSpPr txBox="1"/>
          <p:nvPr/>
        </p:nvSpPr>
        <p:spPr>
          <a:xfrm>
            <a:off x="548640" y="2880360"/>
            <a:ext cx="4023360" cy="1769715"/>
          </a:xfrm>
          <a:prstGeom prst="rect">
            <a:avLst/>
          </a:prstGeom>
          <a:noFill/>
        </p:spPr>
        <p:txBody>
          <a:bodyPr wrap="square" lIns="0" tIns="0" rIns="0" bIns="0" anchor="t">
            <a:spAutoFit/>
          </a:bodyPr>
          <a:lstStyle/>
          <a:p>
            <a:pPr marL="274320" indent="-274320">
              <a:spcAft>
                <a:spcPts val="1200"/>
              </a:spcAft>
              <a:buClr>
                <a:srgbClr val="0B2B4E"/>
              </a:buClr>
              <a:buSzPct val="100000"/>
              <a:buFont typeface="Calibri"/>
              <a:buChar char="▪"/>
            </a:pPr>
            <a:r>
              <a:rPr sz="2500" b="1" i="0" dirty="0">
                <a:solidFill>
                  <a:srgbClr val="0B2B4E"/>
                </a:solidFill>
                <a:latin typeface="Calibri"/>
              </a:rPr>
              <a:t>Characteristics:</a:t>
            </a:r>
          </a:p>
          <a:p>
            <a:pPr marL="603504" lvl="1" indent="-310896">
              <a:spcAft>
                <a:spcPts val="1200"/>
              </a:spcAft>
              <a:buClr>
                <a:srgbClr val="555B66"/>
              </a:buClr>
              <a:buSzPct val="100000"/>
              <a:buFont typeface="Calibri"/>
              <a:buChar char="–"/>
            </a:pPr>
            <a:r>
              <a:rPr sz="2000" b="1" i="1" dirty="0">
                <a:solidFill>
                  <a:srgbClr val="C0201B"/>
                </a:solidFill>
                <a:latin typeface="Calibri"/>
              </a:rPr>
              <a:t>Downward sloping:</a:t>
            </a:r>
            <a:r>
              <a:rPr sz="2000" b="0" i="0" dirty="0">
                <a:solidFill>
                  <a:srgbClr val="0B2B4E"/>
                </a:solidFill>
                <a:latin typeface="Calibri"/>
              </a:rPr>
              <a:t> consumers want to purchase more of a good as its price goes down, </a:t>
            </a:r>
            <a:r>
              <a:rPr sz="2000" b="0" i="1" dirty="0">
                <a:solidFill>
                  <a:srgbClr val="0B2B4E"/>
                </a:solidFill>
                <a:latin typeface="Calibri"/>
              </a:rPr>
              <a:t>all else constant</a:t>
            </a:r>
          </a:p>
        </p:txBody>
      </p:sp>
      <p:cxnSp>
        <p:nvCxnSpPr>
          <p:cNvPr id="12" name="Connector 11"/>
          <p:cNvCxnSpPr/>
          <p:nvPr/>
        </p:nvCxnSpPr>
        <p:spPr>
          <a:xfrm flipV="1">
            <a:off x="7040880" y="3063240"/>
            <a:ext cx="0" cy="306324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040880" y="6126480"/>
            <a:ext cx="438912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720840" y="2697480"/>
            <a:ext cx="1463040" cy="215444"/>
          </a:xfrm>
          <a:prstGeom prst="rect">
            <a:avLst/>
          </a:prstGeom>
          <a:noFill/>
        </p:spPr>
        <p:txBody>
          <a:bodyPr wrap="square" lIns="0" tIns="0" rIns="0" bIns="0" anchor="t">
            <a:spAutoFit/>
          </a:bodyPr>
          <a:lstStyle/>
          <a:p>
            <a:r>
              <a:rPr sz="1400" b="1" i="0" dirty="0">
                <a:solidFill>
                  <a:srgbClr val="0B2B4E"/>
                </a:solidFill>
                <a:latin typeface="Calibri"/>
              </a:rPr>
              <a:t>Price ($)</a:t>
            </a:r>
          </a:p>
        </p:txBody>
      </p:sp>
      <p:sp>
        <p:nvSpPr>
          <p:cNvPr id="15" name="TextBox 14"/>
          <p:cNvSpPr txBox="1"/>
          <p:nvPr/>
        </p:nvSpPr>
        <p:spPr>
          <a:xfrm>
            <a:off x="11018520" y="6181344"/>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16" name="CLK_D"/>
          <p:cNvCxnSpPr/>
          <p:nvPr/>
        </p:nvCxnSpPr>
        <p:spPr>
          <a:xfrm>
            <a:off x="7293254" y="3317443"/>
            <a:ext cx="3364992" cy="2574950"/>
          </a:xfrm>
          <a:prstGeom prst="line">
            <a:avLst/>
          </a:prstGeom>
          <a:ln w="4064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713110" y="5800953"/>
            <a:ext cx="822960" cy="274320"/>
          </a:xfrm>
          <a:prstGeom prst="rect">
            <a:avLst/>
          </a:prstGeom>
          <a:noFill/>
        </p:spPr>
        <p:txBody>
          <a:bodyPr wrap="square" lIns="0" tIns="0" rIns="0" bIns="0" anchor="t">
            <a:spAutoFit/>
          </a:bodyPr>
          <a:lstStyle/>
          <a:p>
            <a:r>
              <a:rPr sz="1500" b="1" i="0">
                <a:solidFill>
                  <a:srgbClr val="E09F3E"/>
                </a:solidFill>
                <a:latin typeface="Calibri"/>
              </a:rPr>
              <a:t>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The Economic Way of Thinking · Supply and Demand</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The </a:t>
            </a:r>
            <a:r>
              <a:rPr lang="en-US" sz="3000" b="1" i="0" dirty="0">
                <a:solidFill>
                  <a:srgbClr val="0B2B4E"/>
                </a:solidFill>
                <a:latin typeface="Calibri"/>
              </a:rPr>
              <a:t>M</a:t>
            </a:r>
            <a:r>
              <a:rPr sz="3000" b="1" i="0" dirty="0">
                <a:solidFill>
                  <a:srgbClr val="0B2B4E"/>
                </a:solidFill>
                <a:latin typeface="Calibri"/>
              </a:rPr>
              <a:t>arket </a:t>
            </a:r>
            <a:r>
              <a:rPr lang="en-US" sz="3000" b="1" dirty="0">
                <a:solidFill>
                  <a:srgbClr val="0B2B4E"/>
                </a:solidFill>
                <a:latin typeface="Calibri"/>
              </a:rPr>
              <a:t>D</a:t>
            </a:r>
            <a:r>
              <a:rPr sz="3000" b="1" i="0" dirty="0">
                <a:solidFill>
                  <a:srgbClr val="0B2B4E"/>
                </a:solidFill>
                <a:latin typeface="Calibri"/>
              </a:rPr>
              <a:t>emand </a:t>
            </a:r>
            <a:r>
              <a:rPr lang="en-US" sz="3000" b="1" dirty="0">
                <a:solidFill>
                  <a:srgbClr val="0B2B4E"/>
                </a:solidFill>
                <a:latin typeface="Calibri"/>
              </a:rPr>
              <a:t>C</a:t>
            </a:r>
            <a:r>
              <a:rPr sz="3000" b="1" i="0" dirty="0">
                <a:solidFill>
                  <a:srgbClr val="0B2B4E"/>
                </a:solidFill>
                <a:latin typeface="Calibri"/>
              </a:rPr>
              <a:t>urve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44</a:t>
            </a:r>
          </a:p>
        </p:txBody>
      </p:sp>
      <p:sp>
        <p:nvSpPr>
          <p:cNvPr id="10" name="BUILD"/>
          <p:cNvSpPr txBox="1"/>
          <p:nvPr/>
        </p:nvSpPr>
        <p:spPr>
          <a:xfrm>
            <a:off x="502920" y="1691640"/>
            <a:ext cx="3657600" cy="2908489"/>
          </a:xfrm>
          <a:prstGeom prst="rect">
            <a:avLst/>
          </a:prstGeom>
          <a:noFill/>
        </p:spPr>
        <p:txBody>
          <a:bodyPr wrap="square" lIns="0" tIns="0" rIns="0" bIns="0" anchor="t">
            <a:spAutoFit/>
          </a:bodyPr>
          <a:lstStyle/>
          <a:p>
            <a:pPr marL="274320" indent="-274320">
              <a:spcAft>
                <a:spcPts val="1200"/>
              </a:spcAft>
              <a:buClr>
                <a:srgbClr val="0B2B4E"/>
              </a:buClr>
              <a:buSzPct val="100000"/>
              <a:buFont typeface="Calibri"/>
              <a:buChar char="▪"/>
            </a:pPr>
            <a:r>
              <a:rPr sz="2100" b="1" i="0" dirty="0">
                <a:solidFill>
                  <a:srgbClr val="0B2B4E"/>
                </a:solidFill>
                <a:latin typeface="Calibri"/>
              </a:rPr>
              <a:t>Distinguish between:</a:t>
            </a:r>
          </a:p>
          <a:p>
            <a:pPr marL="603504" lvl="1" indent="-310896">
              <a:spcAft>
                <a:spcPts val="1200"/>
              </a:spcAft>
              <a:buClr>
                <a:srgbClr val="555B66"/>
              </a:buClr>
              <a:buSzPct val="100000"/>
              <a:buFont typeface="Calibri"/>
              <a:buChar char="–"/>
            </a:pPr>
            <a:r>
              <a:rPr sz="1800" b="1" i="1" dirty="0">
                <a:solidFill>
                  <a:srgbClr val="C0201B"/>
                </a:solidFill>
                <a:latin typeface="Calibri"/>
              </a:rPr>
              <a:t>Movement along D:</a:t>
            </a:r>
            <a:r>
              <a:rPr sz="1800" b="0" i="0" dirty="0">
                <a:solidFill>
                  <a:srgbClr val="0B2B4E"/>
                </a:solidFill>
                <a:latin typeface="Calibri"/>
              </a:rPr>
              <a:t> changes in quantity demanded when price changes, </a:t>
            </a:r>
            <a:r>
              <a:rPr sz="1800" b="0" i="1" dirty="0">
                <a:solidFill>
                  <a:srgbClr val="0B2B4E"/>
                </a:solidFill>
                <a:latin typeface="Calibri"/>
              </a:rPr>
              <a:t>all else constant</a:t>
            </a:r>
          </a:p>
          <a:p>
            <a:pPr marL="603504" lvl="1" indent="-310896">
              <a:spcAft>
                <a:spcPts val="1200"/>
              </a:spcAft>
              <a:buClr>
                <a:srgbClr val="555B66"/>
              </a:buClr>
              <a:buSzPct val="100000"/>
              <a:buFont typeface="Calibri"/>
              <a:buChar char="–"/>
            </a:pPr>
            <a:r>
              <a:rPr sz="1800" b="1" i="1" dirty="0">
                <a:solidFill>
                  <a:srgbClr val="C0201B"/>
                </a:solidFill>
                <a:latin typeface="Calibri"/>
              </a:rPr>
              <a:t>Shifts of D:</a:t>
            </a:r>
            <a:r>
              <a:rPr sz="1800" b="0" i="0" dirty="0">
                <a:solidFill>
                  <a:srgbClr val="0B2B4E"/>
                </a:solidFill>
                <a:latin typeface="Calibri"/>
              </a:rPr>
              <a:t> changes in demand due to non-price factors</a:t>
            </a:r>
          </a:p>
          <a:p>
            <a:pPr marL="914400" lvl="2" indent="-256032">
              <a:spcAft>
                <a:spcPts val="1200"/>
              </a:spcAft>
              <a:buClr>
                <a:srgbClr val="555B66"/>
              </a:buClr>
              <a:buSzPct val="90000"/>
              <a:buFont typeface="Calibri"/>
              <a:buChar char="•"/>
            </a:pPr>
            <a:r>
              <a:rPr sz="1600" b="0" i="0" dirty="0">
                <a:solidFill>
                  <a:srgbClr val="0B2B4E"/>
                </a:solidFill>
                <a:latin typeface="Calibri"/>
              </a:rPr>
              <a:t>e.g. a higher income level shifts the demand curve to the right (from D</a:t>
            </a:r>
            <a:r>
              <a:rPr lang="en-US" sz="1600" b="0" i="0" baseline="-25000" dirty="0">
                <a:solidFill>
                  <a:srgbClr val="0B2B4E"/>
                </a:solidFill>
                <a:latin typeface="Calibri"/>
              </a:rPr>
              <a:t>0</a:t>
            </a:r>
            <a:r>
              <a:rPr sz="1600" b="0" i="0" dirty="0">
                <a:solidFill>
                  <a:srgbClr val="0B2B4E"/>
                </a:solidFill>
                <a:latin typeface="Calibri"/>
              </a:rPr>
              <a:t> to D</a:t>
            </a:r>
            <a:r>
              <a:rPr lang="en-US" sz="1600" b="0" i="0" baseline="-25000" dirty="0">
                <a:solidFill>
                  <a:srgbClr val="0B2B4E"/>
                </a:solidFill>
                <a:latin typeface="Calibri"/>
              </a:rPr>
              <a:t>1</a:t>
            </a:r>
            <a:r>
              <a:rPr sz="1600" b="0" i="0" dirty="0">
                <a:solidFill>
                  <a:srgbClr val="0B2B4E"/>
                </a:solidFill>
                <a:latin typeface="Calibri"/>
              </a:rPr>
              <a:t>)</a:t>
            </a:r>
          </a:p>
        </p:txBody>
      </p:sp>
      <p:cxnSp>
        <p:nvCxnSpPr>
          <p:cNvPr id="11" name="Connector 10"/>
          <p:cNvCxnSpPr/>
          <p:nvPr/>
        </p:nvCxnSpPr>
        <p:spPr>
          <a:xfrm flipV="1">
            <a:off x="7223760" y="2148840"/>
            <a:ext cx="0" cy="379476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23760" y="5943600"/>
            <a:ext cx="420624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903720" y="1783080"/>
            <a:ext cx="1463040" cy="215444"/>
          </a:xfrm>
          <a:prstGeom prst="rect">
            <a:avLst/>
          </a:prstGeom>
          <a:noFill/>
        </p:spPr>
        <p:txBody>
          <a:bodyPr wrap="square" lIns="0" tIns="0" rIns="0" bIns="0" anchor="t">
            <a:spAutoFit/>
          </a:bodyPr>
          <a:lstStyle/>
          <a:p>
            <a:r>
              <a:rPr sz="1400" b="1" i="0" dirty="0">
                <a:solidFill>
                  <a:srgbClr val="0B2B4E"/>
                </a:solidFill>
                <a:latin typeface="Calibri"/>
              </a:rPr>
              <a:t>Price ($)</a:t>
            </a:r>
          </a:p>
        </p:txBody>
      </p:sp>
      <p:sp>
        <p:nvSpPr>
          <p:cNvPr id="14" name="TextBox 13"/>
          <p:cNvSpPr txBox="1"/>
          <p:nvPr/>
        </p:nvSpPr>
        <p:spPr>
          <a:xfrm>
            <a:off x="11018520" y="5998464"/>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15" name="CLK1_D"/>
          <p:cNvCxnSpPr/>
          <p:nvPr/>
        </p:nvCxnSpPr>
        <p:spPr>
          <a:xfrm>
            <a:off x="7465161" y="2651760"/>
            <a:ext cx="2655418" cy="3072384"/>
          </a:xfrm>
          <a:prstGeom prst="line">
            <a:avLst/>
          </a:prstGeom>
          <a:ln w="4064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38867" y="5705856"/>
            <a:ext cx="822960" cy="230832"/>
          </a:xfrm>
          <a:prstGeom prst="rect">
            <a:avLst/>
          </a:prstGeom>
          <a:noFill/>
        </p:spPr>
        <p:txBody>
          <a:bodyPr wrap="square" lIns="0" tIns="0" rIns="0" bIns="0" anchor="t">
            <a:spAutoFit/>
          </a:bodyPr>
          <a:lstStyle/>
          <a:p>
            <a:r>
              <a:rPr sz="1500" b="1" i="0" dirty="0">
                <a:solidFill>
                  <a:srgbClr val="E09F3E"/>
                </a:solidFill>
                <a:latin typeface="Calibri"/>
              </a:rPr>
              <a:t>D</a:t>
            </a:r>
            <a:r>
              <a:rPr lang="en-US" sz="1500" b="1" baseline="-25000" dirty="0">
                <a:solidFill>
                  <a:srgbClr val="E09F3E"/>
                </a:solidFill>
                <a:latin typeface="Calibri"/>
              </a:rPr>
              <a:t>0</a:t>
            </a:r>
            <a:endParaRPr sz="1500" b="1" i="0" baseline="-25000" dirty="0">
              <a:solidFill>
                <a:srgbClr val="E09F3E"/>
              </a:solidFill>
              <a:latin typeface="Calibri"/>
            </a:endParaRPr>
          </a:p>
        </p:txBody>
      </p:sp>
      <p:cxnSp>
        <p:nvCxnSpPr>
          <p:cNvPr id="17" name="CLK2_Dp"/>
          <p:cNvCxnSpPr/>
          <p:nvPr/>
        </p:nvCxnSpPr>
        <p:spPr>
          <a:xfrm>
            <a:off x="8350300" y="2432304"/>
            <a:ext cx="2695652" cy="3145536"/>
          </a:xfrm>
          <a:prstGeom prst="line">
            <a:avLst/>
          </a:prstGeom>
          <a:ln w="38100">
            <a:solidFill>
              <a:srgbClr val="E09F3E"/>
            </a:solidFill>
            <a:prstDash val="dash"/>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118669" y="5588291"/>
            <a:ext cx="822960" cy="230832"/>
          </a:xfrm>
          <a:prstGeom prst="rect">
            <a:avLst/>
          </a:prstGeom>
          <a:noFill/>
        </p:spPr>
        <p:txBody>
          <a:bodyPr wrap="square" lIns="0" tIns="0" rIns="0" bIns="0" anchor="t">
            <a:spAutoFit/>
          </a:bodyPr>
          <a:lstStyle/>
          <a:p>
            <a:r>
              <a:rPr sz="1500" b="1" i="0" dirty="0">
                <a:solidFill>
                  <a:srgbClr val="E09F3E"/>
                </a:solidFill>
                <a:latin typeface="Calibri"/>
              </a:rPr>
              <a:t>D</a:t>
            </a:r>
            <a:r>
              <a:rPr lang="en-US" sz="1500" b="1" i="0" baseline="-25000" dirty="0">
                <a:solidFill>
                  <a:srgbClr val="E09F3E"/>
                </a:solidFill>
                <a:latin typeface="Calibri"/>
              </a:rPr>
              <a:t>1</a:t>
            </a:r>
            <a:endParaRPr sz="1500" b="1" i="0" baseline="-25000" dirty="0">
              <a:solidFill>
                <a:srgbClr val="E09F3E"/>
              </a:solidFill>
              <a:latin typeface="Calibri"/>
            </a:endParaRPr>
          </a:p>
        </p:txBody>
      </p:sp>
      <p:sp>
        <p:nvSpPr>
          <p:cNvPr id="20" name="Line 17">
            <a:extLst>
              <a:ext uri="{FF2B5EF4-FFF2-40B4-BE49-F238E27FC236}">
                <a16:creationId xmlns:a16="http://schemas.microsoft.com/office/drawing/2014/main" id="{A651A7D5-DA68-3943-6324-D0DC64441A80}"/>
              </a:ext>
            </a:extLst>
          </p:cNvPr>
          <p:cNvSpPr>
            <a:spLocks noChangeShapeType="1"/>
          </p:cNvSpPr>
          <p:nvPr/>
        </p:nvSpPr>
        <p:spPr bwMode="auto">
          <a:xfrm flipV="1">
            <a:off x="7231206" y="4077731"/>
            <a:ext cx="2521359" cy="3436"/>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23" name="Line 17">
            <a:extLst>
              <a:ext uri="{FF2B5EF4-FFF2-40B4-BE49-F238E27FC236}">
                <a16:creationId xmlns:a16="http://schemas.microsoft.com/office/drawing/2014/main" id="{E114036C-A4CD-4BCF-F8AF-3DFBCFD4A905}"/>
              </a:ext>
            </a:extLst>
          </p:cNvPr>
          <p:cNvSpPr>
            <a:spLocks noChangeShapeType="1"/>
          </p:cNvSpPr>
          <p:nvPr/>
        </p:nvSpPr>
        <p:spPr bwMode="auto">
          <a:xfrm flipV="1">
            <a:off x="8686800" y="2815182"/>
            <a:ext cx="1654" cy="3128418"/>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26" name="Line 17">
            <a:extLst>
              <a:ext uri="{FF2B5EF4-FFF2-40B4-BE49-F238E27FC236}">
                <a16:creationId xmlns:a16="http://schemas.microsoft.com/office/drawing/2014/main" id="{CC8434F3-F6C5-1DA2-3FB8-2496983FB99A}"/>
              </a:ext>
            </a:extLst>
          </p:cNvPr>
          <p:cNvSpPr>
            <a:spLocks noChangeShapeType="1"/>
          </p:cNvSpPr>
          <p:nvPr/>
        </p:nvSpPr>
        <p:spPr bwMode="auto">
          <a:xfrm flipV="1">
            <a:off x="7245483" y="2853322"/>
            <a:ext cx="1463037" cy="1824"/>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29" name="Line 17">
            <a:extLst>
              <a:ext uri="{FF2B5EF4-FFF2-40B4-BE49-F238E27FC236}">
                <a16:creationId xmlns:a16="http://schemas.microsoft.com/office/drawing/2014/main" id="{7E93CB1A-AB0A-6736-F55A-6A23B66933CE}"/>
              </a:ext>
            </a:extLst>
          </p:cNvPr>
          <p:cNvSpPr>
            <a:spLocks noChangeShapeType="1"/>
          </p:cNvSpPr>
          <p:nvPr/>
        </p:nvSpPr>
        <p:spPr bwMode="auto">
          <a:xfrm flipV="1">
            <a:off x="9740417" y="4077731"/>
            <a:ext cx="0" cy="1853102"/>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5" name="Line 20">
            <a:extLst>
              <a:ext uri="{FF2B5EF4-FFF2-40B4-BE49-F238E27FC236}">
                <a16:creationId xmlns:a16="http://schemas.microsoft.com/office/drawing/2014/main" id="{BFFDDBA2-1A47-CB7D-7B77-4E47A88CD0F0}"/>
              </a:ext>
            </a:extLst>
          </p:cNvPr>
          <p:cNvSpPr>
            <a:spLocks noChangeShapeType="1"/>
          </p:cNvSpPr>
          <p:nvPr/>
        </p:nvSpPr>
        <p:spPr bwMode="auto">
          <a:xfrm flipH="1" flipV="1">
            <a:off x="8815850" y="3850573"/>
            <a:ext cx="542377" cy="0"/>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36" name="TextBox 35">
            <a:extLst>
              <a:ext uri="{FF2B5EF4-FFF2-40B4-BE49-F238E27FC236}">
                <a16:creationId xmlns:a16="http://schemas.microsoft.com/office/drawing/2014/main" id="{18866EDE-8E37-A4EF-2DB2-8E7DE5E599DB}"/>
              </a:ext>
            </a:extLst>
          </p:cNvPr>
          <p:cNvSpPr txBox="1"/>
          <p:nvPr/>
        </p:nvSpPr>
        <p:spPr>
          <a:xfrm>
            <a:off x="6733718" y="3993777"/>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a:t>
            </a:r>
            <a:r>
              <a:rPr lang="en-US" sz="1400" b="1" i="0" baseline="-25000" dirty="0">
                <a:solidFill>
                  <a:srgbClr val="002060"/>
                </a:solidFill>
                <a:latin typeface="Calibri"/>
              </a:rPr>
              <a:t>0</a:t>
            </a:r>
            <a:endParaRPr sz="1400" b="1" i="0" baseline="-25000" dirty="0">
              <a:solidFill>
                <a:srgbClr val="002060"/>
              </a:solidFill>
              <a:latin typeface="Calibri"/>
            </a:endParaRPr>
          </a:p>
        </p:txBody>
      </p:sp>
      <p:sp>
        <p:nvSpPr>
          <p:cNvPr id="37" name="TextBox 36">
            <a:extLst>
              <a:ext uri="{FF2B5EF4-FFF2-40B4-BE49-F238E27FC236}">
                <a16:creationId xmlns:a16="http://schemas.microsoft.com/office/drawing/2014/main" id="{39D8CA61-730C-8C33-65CC-9CA9C29B9065}"/>
              </a:ext>
            </a:extLst>
          </p:cNvPr>
          <p:cNvSpPr txBox="1"/>
          <p:nvPr/>
        </p:nvSpPr>
        <p:spPr>
          <a:xfrm>
            <a:off x="6740319" y="2778505"/>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a:t>
            </a:r>
            <a:r>
              <a:rPr lang="en-US" sz="1400" b="1" baseline="-25000" dirty="0">
                <a:solidFill>
                  <a:srgbClr val="002060"/>
                </a:solidFill>
                <a:latin typeface="Calibri"/>
              </a:rPr>
              <a:t>1</a:t>
            </a:r>
            <a:endParaRPr sz="1400" b="1" i="0" baseline="-25000" dirty="0">
              <a:solidFill>
                <a:srgbClr val="002060"/>
              </a:solidFill>
              <a:latin typeface="Calibri"/>
            </a:endParaRPr>
          </a:p>
        </p:txBody>
      </p:sp>
      <p:sp>
        <p:nvSpPr>
          <p:cNvPr id="38" name="TextBox 37">
            <a:extLst>
              <a:ext uri="{FF2B5EF4-FFF2-40B4-BE49-F238E27FC236}">
                <a16:creationId xmlns:a16="http://schemas.microsoft.com/office/drawing/2014/main" id="{04813FAD-9496-7552-8FB4-FF546F734089}"/>
              </a:ext>
            </a:extLst>
          </p:cNvPr>
          <p:cNvSpPr txBox="1"/>
          <p:nvPr/>
        </p:nvSpPr>
        <p:spPr>
          <a:xfrm>
            <a:off x="8424187" y="6022252"/>
            <a:ext cx="365760" cy="215444"/>
          </a:xfrm>
          <a:prstGeom prst="rect">
            <a:avLst/>
          </a:prstGeom>
          <a:noFill/>
        </p:spPr>
        <p:txBody>
          <a:bodyPr wrap="square" lIns="0" tIns="0" rIns="0" bIns="0" anchor="t">
            <a:spAutoFit/>
          </a:bodyPr>
          <a:lstStyle/>
          <a:p>
            <a:pPr algn="r"/>
            <a:r>
              <a:rPr lang="en-US" sz="1400" b="1" dirty="0">
                <a:solidFill>
                  <a:srgbClr val="002060"/>
                </a:solidFill>
                <a:latin typeface="Calibri"/>
              </a:rPr>
              <a:t>Q</a:t>
            </a:r>
            <a:r>
              <a:rPr lang="en-US" sz="1400" b="1" baseline="-25000" dirty="0">
                <a:solidFill>
                  <a:srgbClr val="002060"/>
                </a:solidFill>
                <a:latin typeface="Calibri"/>
              </a:rPr>
              <a:t>0</a:t>
            </a:r>
            <a:endParaRPr sz="1400" b="1" i="0" baseline="-25000" dirty="0">
              <a:solidFill>
                <a:srgbClr val="002060"/>
              </a:solidFill>
              <a:latin typeface="Calibri"/>
            </a:endParaRPr>
          </a:p>
        </p:txBody>
      </p:sp>
      <p:sp>
        <p:nvSpPr>
          <p:cNvPr id="39" name="TextBox 38">
            <a:extLst>
              <a:ext uri="{FF2B5EF4-FFF2-40B4-BE49-F238E27FC236}">
                <a16:creationId xmlns:a16="http://schemas.microsoft.com/office/drawing/2014/main" id="{1D1B57CF-FDE1-25F8-4536-BA225D4A1280}"/>
              </a:ext>
            </a:extLst>
          </p:cNvPr>
          <p:cNvSpPr txBox="1"/>
          <p:nvPr/>
        </p:nvSpPr>
        <p:spPr>
          <a:xfrm>
            <a:off x="9487183" y="6008483"/>
            <a:ext cx="365760" cy="215444"/>
          </a:xfrm>
          <a:prstGeom prst="rect">
            <a:avLst/>
          </a:prstGeom>
          <a:noFill/>
        </p:spPr>
        <p:txBody>
          <a:bodyPr wrap="square" lIns="0" tIns="0" rIns="0" bIns="0" anchor="t">
            <a:spAutoFit/>
          </a:bodyPr>
          <a:lstStyle/>
          <a:p>
            <a:pPr algn="r"/>
            <a:r>
              <a:rPr lang="en-US" sz="1400" b="1" dirty="0">
                <a:solidFill>
                  <a:srgbClr val="002060"/>
                </a:solidFill>
                <a:latin typeface="Calibri"/>
              </a:rPr>
              <a:t>Q</a:t>
            </a:r>
            <a:r>
              <a:rPr lang="en-US" sz="1400" b="1" baseline="-25000" dirty="0">
                <a:solidFill>
                  <a:srgbClr val="002060"/>
                </a:solidFill>
                <a:latin typeface="Calibri"/>
              </a:rPr>
              <a:t>1</a:t>
            </a:r>
            <a:endParaRPr sz="1400" b="1" i="0" baseline="-25000" dirty="0">
              <a:solidFill>
                <a:srgbClr val="002060"/>
              </a:solidFill>
              <a:latin typeface="Calibri"/>
            </a:endParaRPr>
          </a:p>
        </p:txBody>
      </p:sp>
      <p:sp>
        <p:nvSpPr>
          <p:cNvPr id="40" name="Line 20">
            <a:extLst>
              <a:ext uri="{FF2B5EF4-FFF2-40B4-BE49-F238E27FC236}">
                <a16:creationId xmlns:a16="http://schemas.microsoft.com/office/drawing/2014/main" id="{B565D432-084B-7B29-CC2E-F4FF80E1F8F7}"/>
              </a:ext>
            </a:extLst>
          </p:cNvPr>
          <p:cNvSpPr>
            <a:spLocks noChangeShapeType="1"/>
          </p:cNvSpPr>
          <p:nvPr/>
        </p:nvSpPr>
        <p:spPr bwMode="auto">
          <a:xfrm flipH="1" flipV="1">
            <a:off x="8931108" y="4355429"/>
            <a:ext cx="547795" cy="629000"/>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subTnLst>
                                    <p:set>
                                      <p:cBhvr override="childStyle">
                                        <p:cTn dur="1" fill="hold" display="0" masterRel="nextClick" afterEffect="1"/>
                                        <p:tgtEl>
                                          <p:spTgt spid="4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animBg="1"/>
      <p:bldP spid="23" grpId="0" animBg="1"/>
      <p:bldP spid="26" grpId="0" animBg="1"/>
      <p:bldP spid="29" grpId="0" animBg="1"/>
      <p:bldP spid="35" grpId="0" animBg="1"/>
      <p:bldP spid="36" grpId="0"/>
      <p:bldP spid="37" grpId="0"/>
      <p:bldP spid="38" grpId="0"/>
      <p:bldP spid="39" grpId="0"/>
      <p:bldP spid="4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lang="en-US" sz="1600" b="1" dirty="0">
                <a:solidFill>
                  <a:srgbClr val="FFFFFF"/>
                </a:solidFill>
              </a:rPr>
              <a:t>The Economic Way of Thinking · Supply and Demand</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lang="en-US" sz="3000" b="1" dirty="0">
                <a:solidFill>
                  <a:srgbClr val="0B2B4E"/>
                </a:solidFill>
                <a:latin typeface="Calibri"/>
              </a:rPr>
              <a:t>Heat Waves and the Demand for Air Conditioning</a:t>
            </a:r>
            <a:endParaRPr sz="3000" b="1" i="0" dirty="0">
              <a:solidFill>
                <a:srgbClr val="0B2B4E"/>
              </a:solidFill>
              <a:latin typeface="Calibri"/>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sz="1100" b="0" i="0" dirty="0">
                <a:solidFill>
                  <a:srgbClr val="555B66"/>
                </a:solidFill>
                <a:latin typeface="Calibri"/>
              </a:rPr>
              <a:t>4</a:t>
            </a:r>
            <a:r>
              <a:rPr lang="en-US" sz="1100" b="0" i="0" dirty="0">
                <a:solidFill>
                  <a:srgbClr val="555B66"/>
                </a:solidFill>
                <a:latin typeface="Calibri"/>
              </a:rPr>
              <a:t>5</a:t>
            </a:r>
            <a:endParaRPr sz="1100" b="0" i="0" dirty="0">
              <a:solidFill>
                <a:srgbClr val="555B66"/>
              </a:solidFill>
              <a:latin typeface="Calibri"/>
            </a:endParaRPr>
          </a:p>
        </p:txBody>
      </p:sp>
      <p:sp>
        <p:nvSpPr>
          <p:cNvPr id="13" name="ASK_0"/>
          <p:cNvSpPr txBox="1"/>
          <p:nvPr/>
        </p:nvSpPr>
        <p:spPr>
          <a:xfrm>
            <a:off x="548640" y="5440680"/>
            <a:ext cx="10972800" cy="457200"/>
          </a:xfrm>
          <a:prstGeom prst="rect">
            <a:avLst/>
          </a:prstGeom>
          <a:noFill/>
        </p:spPr>
        <p:txBody>
          <a:bodyPr wrap="square" lIns="0" tIns="0" rIns="0" bIns="0" anchor="t">
            <a:spAutoFit/>
          </a:bodyPr>
          <a:lstStyle/>
          <a:p>
            <a:pPr marL="274320" indent="-274320" algn="l">
              <a:buClr>
                <a:srgbClr val="0B2B4E"/>
              </a:buClr>
              <a:buSzPct val="100000"/>
              <a:buFont typeface="Calibri"/>
              <a:buChar char="▪"/>
            </a:pPr>
            <a:r>
              <a:rPr sz="2400" b="0" i="0" dirty="0">
                <a:solidFill>
                  <a:srgbClr val="0B2B4E"/>
                </a:solidFill>
                <a:latin typeface="Calibri"/>
              </a:rPr>
              <a:t>How do heatwaves affect the demand for ACs?</a:t>
            </a:r>
          </a:p>
        </p:txBody>
      </p:sp>
      <p:sp>
        <p:nvSpPr>
          <p:cNvPr id="15" name="Rounded Rectangle 14">
            <a:extLst>
              <a:ext uri="{FF2B5EF4-FFF2-40B4-BE49-F238E27FC236}">
                <a16:creationId xmlns:a16="http://schemas.microsoft.com/office/drawing/2014/main" id="{578781FB-4F3F-1CEC-B123-9DCC0350D2BE}"/>
              </a:ext>
            </a:extLst>
          </p:cNvPr>
          <p:cNvSpPr/>
          <p:nvPr/>
        </p:nvSpPr>
        <p:spPr>
          <a:xfrm>
            <a:off x="9768535" y="5989320"/>
            <a:ext cx="210312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dirty="0" err="1">
                <a:solidFill>
                  <a:srgbClr val="0B2B4E"/>
                </a:solidFill>
                <a:latin typeface="Calibri"/>
              </a:rPr>
              <a:t>PollEV</a:t>
            </a:r>
            <a:endParaRPr sz="1600" b="1" i="0" dirty="0">
              <a:solidFill>
                <a:srgbClr val="0B2B4E"/>
              </a:solidFill>
              <a:latin typeface="Calibri"/>
            </a:endParaRPr>
          </a:p>
        </p:txBody>
      </p:sp>
      <p:pic>
        <p:nvPicPr>
          <p:cNvPr id="17" name="Picture 16" descr="A map of the united states&#10;&#10;AI-generated content may be incorrect.">
            <a:extLst>
              <a:ext uri="{FF2B5EF4-FFF2-40B4-BE49-F238E27FC236}">
                <a16:creationId xmlns:a16="http://schemas.microsoft.com/office/drawing/2014/main" id="{E47B6BF4-B99C-BED4-E132-F0E490F05C5A}"/>
              </a:ext>
            </a:extLst>
          </p:cNvPr>
          <p:cNvPicPr>
            <a:picLocks noChangeAspect="1"/>
          </p:cNvPicPr>
          <p:nvPr/>
        </p:nvPicPr>
        <p:blipFill>
          <a:blip r:embed="rId3"/>
          <a:stretch>
            <a:fillRect/>
          </a:stretch>
        </p:blipFill>
        <p:spPr>
          <a:xfrm>
            <a:off x="7116639" y="2456253"/>
            <a:ext cx="4526721" cy="3191252"/>
          </a:xfrm>
          <a:prstGeom prst="rect">
            <a:avLst/>
          </a:prstGeom>
        </p:spPr>
      </p:pic>
      <p:pic>
        <p:nvPicPr>
          <p:cNvPr id="19" name="Picture 18" descr="A black text on a white background&#10;&#10;AI-generated content may be incorrect.">
            <a:extLst>
              <a:ext uri="{FF2B5EF4-FFF2-40B4-BE49-F238E27FC236}">
                <a16:creationId xmlns:a16="http://schemas.microsoft.com/office/drawing/2014/main" id="{6F2E447F-E092-715E-E213-5CE85D878330}"/>
              </a:ext>
            </a:extLst>
          </p:cNvPr>
          <p:cNvPicPr>
            <a:picLocks noChangeAspect="1"/>
          </p:cNvPicPr>
          <p:nvPr/>
        </p:nvPicPr>
        <p:blipFill>
          <a:blip r:embed="rId4"/>
          <a:stretch>
            <a:fillRect/>
          </a:stretch>
        </p:blipFill>
        <p:spPr>
          <a:xfrm>
            <a:off x="694509" y="2983325"/>
            <a:ext cx="6335486" cy="927924"/>
          </a:xfrm>
          <a:prstGeom prst="rect">
            <a:avLst/>
          </a:prstGeom>
        </p:spPr>
      </p:pic>
      <p:pic>
        <p:nvPicPr>
          <p:cNvPr id="23" name="Picture 22" descr="A black background with white text&#10;&#10;AI-generated content may be incorrect.">
            <a:extLst>
              <a:ext uri="{FF2B5EF4-FFF2-40B4-BE49-F238E27FC236}">
                <a16:creationId xmlns:a16="http://schemas.microsoft.com/office/drawing/2014/main" id="{349599BB-AB24-EBE1-C200-3B2F2FC7D58D}"/>
              </a:ext>
            </a:extLst>
          </p:cNvPr>
          <p:cNvPicPr>
            <a:picLocks noChangeAspect="1"/>
          </p:cNvPicPr>
          <p:nvPr/>
        </p:nvPicPr>
        <p:blipFill>
          <a:blip r:embed="rId5"/>
          <a:stretch>
            <a:fillRect/>
          </a:stretch>
        </p:blipFill>
        <p:spPr>
          <a:xfrm>
            <a:off x="204651" y="1487003"/>
            <a:ext cx="4802312" cy="12411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lang="en-US" sz="1600" b="1" dirty="0">
                <a:solidFill>
                  <a:srgbClr val="FFFFFF"/>
                </a:solidFill>
              </a:rPr>
              <a:t>The Economic Way of Thinking · Supply and Demand</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How do </a:t>
            </a:r>
            <a:r>
              <a:rPr lang="en-US" sz="3000" b="1" dirty="0">
                <a:solidFill>
                  <a:srgbClr val="0B2B4E"/>
                </a:solidFill>
                <a:latin typeface="Calibri"/>
              </a:rPr>
              <a:t>H</a:t>
            </a:r>
            <a:r>
              <a:rPr sz="3000" b="1" i="0" dirty="0">
                <a:solidFill>
                  <a:srgbClr val="0B2B4E"/>
                </a:solidFill>
                <a:latin typeface="Calibri"/>
              </a:rPr>
              <a:t>eat</a:t>
            </a:r>
            <a:r>
              <a:rPr lang="en-US" sz="3000" b="1" i="0" dirty="0">
                <a:solidFill>
                  <a:srgbClr val="0B2B4E"/>
                </a:solidFill>
                <a:latin typeface="Calibri"/>
              </a:rPr>
              <a:t> </a:t>
            </a:r>
            <a:r>
              <a:rPr lang="en-US" sz="3000" b="1" dirty="0">
                <a:solidFill>
                  <a:srgbClr val="0B2B4E"/>
                </a:solidFill>
                <a:latin typeface="Calibri"/>
              </a:rPr>
              <a:t>W</a:t>
            </a:r>
            <a:r>
              <a:rPr sz="3000" b="1" i="0" dirty="0">
                <a:solidFill>
                  <a:srgbClr val="0B2B4E"/>
                </a:solidFill>
                <a:latin typeface="Calibri"/>
              </a:rPr>
              <a:t>aves affect the </a:t>
            </a:r>
            <a:r>
              <a:rPr lang="en-US" sz="3000" b="1" i="0" dirty="0">
                <a:solidFill>
                  <a:srgbClr val="0B2B4E"/>
                </a:solidFill>
                <a:latin typeface="Calibri"/>
              </a:rPr>
              <a:t>D</a:t>
            </a:r>
            <a:r>
              <a:rPr sz="3000" b="1" i="0" dirty="0">
                <a:solidFill>
                  <a:srgbClr val="0B2B4E"/>
                </a:solidFill>
                <a:latin typeface="Calibri"/>
              </a:rPr>
              <a:t>emand for AC?</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46</a:t>
            </a:r>
          </a:p>
        </p:txBody>
      </p:sp>
      <p:sp>
        <p:nvSpPr>
          <p:cNvPr id="10" name="TextBox 9"/>
          <p:cNvSpPr txBox="1"/>
          <p:nvPr/>
        </p:nvSpPr>
        <p:spPr>
          <a:xfrm>
            <a:off x="640080" y="1444752"/>
            <a:ext cx="9144000" cy="365760"/>
          </a:xfrm>
          <a:prstGeom prst="rect">
            <a:avLst/>
          </a:prstGeom>
          <a:noFill/>
        </p:spPr>
        <p:txBody>
          <a:bodyPr wrap="square" lIns="0" tIns="0" rIns="0" bIns="0" anchor="t">
            <a:spAutoFit/>
          </a:bodyPr>
          <a:lstStyle/>
          <a:p>
            <a:pPr algn="l"/>
            <a:r>
              <a:rPr sz="2000" b="0" i="1">
                <a:solidFill>
                  <a:srgbClr val="555B66"/>
                </a:solidFill>
                <a:latin typeface="Calibri"/>
              </a:rPr>
              <a:t>They cause…</a:t>
            </a:r>
          </a:p>
        </p:txBody>
      </p:sp>
      <p:pic>
        <p:nvPicPr>
          <p:cNvPr id="11" name="Picture 10" descr="poll_crop.png"/>
          <p:cNvPicPr>
            <a:picLocks noChangeAspect="1"/>
          </p:cNvPicPr>
          <p:nvPr/>
        </p:nvPicPr>
        <p:blipFill>
          <a:blip r:embed="rId3"/>
          <a:stretch>
            <a:fillRect/>
          </a:stretch>
        </p:blipFill>
        <p:spPr>
          <a:xfrm>
            <a:off x="2804007" y="1810512"/>
            <a:ext cx="6583680" cy="4469972"/>
          </a:xfrm>
          <a:prstGeom prst="rect">
            <a:avLst/>
          </a:prstGeom>
          <a:ln w="12700">
            <a:solidFill>
              <a:srgbClr val="C8CDD3"/>
            </a:solidFill>
          </a:ln>
          <a:effectLst>
            <a:outerShdw blurRad="54864" dist="36576" dir="5400000" rotWithShape="0">
              <a:srgbClr val="000000">
                <a:alpha val="40000"/>
              </a:srgbClr>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lang="en-US" sz="1600" b="1" dirty="0">
                <a:solidFill>
                  <a:srgbClr val="FFFFFF"/>
                </a:solidFill>
              </a:rPr>
              <a:t>The Economic Way of Thinking · Supply and Demand</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Shifts of the Demand Curve</a:t>
            </a:r>
            <a:r>
              <a:rPr lang="en-US" sz="3000" b="1" i="0" dirty="0">
                <a:solidFill>
                  <a:srgbClr val="0B2B4E"/>
                </a:solidFill>
                <a:latin typeface="Calibri"/>
              </a:rPr>
              <a:t> for AC</a:t>
            </a:r>
            <a:endParaRPr sz="3000" b="1" i="0" dirty="0">
              <a:solidFill>
                <a:srgbClr val="0B2B4E"/>
              </a:solidFill>
              <a:latin typeface="Calibri"/>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47</a:t>
            </a:r>
          </a:p>
        </p:txBody>
      </p:sp>
      <p:sp>
        <p:nvSpPr>
          <p:cNvPr id="11" name="ANS_0"/>
          <p:cNvSpPr txBox="1"/>
          <p:nvPr/>
        </p:nvSpPr>
        <p:spPr>
          <a:xfrm>
            <a:off x="548640" y="5440680"/>
            <a:ext cx="11091672" cy="400110"/>
          </a:xfrm>
          <a:prstGeom prst="rect">
            <a:avLst/>
          </a:prstGeom>
          <a:noFill/>
        </p:spPr>
        <p:txBody>
          <a:bodyPr wrap="square" lIns="0" tIns="0" rIns="0" bIns="0" anchor="t">
            <a:spAutoFit/>
          </a:bodyPr>
          <a:lstStyle/>
          <a:p>
            <a:pPr algn="ctr"/>
            <a:r>
              <a:rPr sz="2600" b="0" i="0" dirty="0">
                <a:solidFill>
                  <a:srgbClr val="0B2B4E"/>
                </a:solidFill>
                <a:latin typeface="Calibri"/>
              </a:rPr>
              <a:t>The heatwaves should cause the demand curve to </a:t>
            </a:r>
            <a:r>
              <a:rPr sz="2600" b="1" i="0" dirty="0">
                <a:solidFill>
                  <a:srgbClr val="2EA04E"/>
                </a:solidFill>
                <a:latin typeface="Calibri"/>
              </a:rPr>
              <a:t>shift </a:t>
            </a:r>
            <a:r>
              <a:rPr lang="en-US" sz="2600" b="1" i="0" dirty="0">
                <a:solidFill>
                  <a:srgbClr val="2EA04E"/>
                </a:solidFill>
                <a:latin typeface="Calibri"/>
              </a:rPr>
              <a:t>outward (</a:t>
            </a:r>
            <a:r>
              <a:rPr sz="2600" b="1" i="0" dirty="0">
                <a:solidFill>
                  <a:srgbClr val="2EA04E"/>
                </a:solidFill>
                <a:latin typeface="Calibri"/>
              </a:rPr>
              <a:t>to the right</a:t>
            </a:r>
            <a:r>
              <a:rPr lang="en-US" sz="2600" b="1" i="0" dirty="0">
                <a:solidFill>
                  <a:srgbClr val="2EA04E"/>
                </a:solidFill>
                <a:latin typeface="Calibri"/>
              </a:rPr>
              <a:t>)</a:t>
            </a:r>
            <a:endParaRPr sz="2600" b="0" i="0" dirty="0">
              <a:solidFill>
                <a:srgbClr val="0B2B4E"/>
              </a:solidFill>
              <a:latin typeface="Calibri"/>
            </a:endParaRPr>
          </a:p>
        </p:txBody>
      </p:sp>
      <p:pic>
        <p:nvPicPr>
          <p:cNvPr id="13" name="Picture 12" descr="A white background with black text&#10;&#10;AI-generated content may be incorrect.">
            <a:extLst>
              <a:ext uri="{FF2B5EF4-FFF2-40B4-BE49-F238E27FC236}">
                <a16:creationId xmlns:a16="http://schemas.microsoft.com/office/drawing/2014/main" id="{0BB85723-3306-EB33-D007-44174E700E78}"/>
              </a:ext>
            </a:extLst>
          </p:cNvPr>
          <p:cNvPicPr>
            <a:picLocks noChangeAspect="1"/>
          </p:cNvPicPr>
          <p:nvPr/>
        </p:nvPicPr>
        <p:blipFill>
          <a:blip r:embed="rId3"/>
          <a:stretch>
            <a:fillRect/>
          </a:stretch>
        </p:blipFill>
        <p:spPr>
          <a:xfrm>
            <a:off x="220436" y="1741504"/>
            <a:ext cx="7772400" cy="1409031"/>
          </a:xfrm>
          <a:prstGeom prst="rect">
            <a:avLst/>
          </a:prstGeom>
        </p:spPr>
      </p:pic>
      <p:pic>
        <p:nvPicPr>
          <p:cNvPr id="15" name="Picture 14">
            <a:extLst>
              <a:ext uri="{FF2B5EF4-FFF2-40B4-BE49-F238E27FC236}">
                <a16:creationId xmlns:a16="http://schemas.microsoft.com/office/drawing/2014/main" id="{B8CFEA41-3CAB-5D06-252E-ADC544B837DE}"/>
              </a:ext>
            </a:extLst>
          </p:cNvPr>
          <p:cNvPicPr>
            <a:picLocks noChangeAspect="1"/>
          </p:cNvPicPr>
          <p:nvPr/>
        </p:nvPicPr>
        <p:blipFill>
          <a:blip r:embed="rId4"/>
          <a:stretch>
            <a:fillRect/>
          </a:stretch>
        </p:blipFill>
        <p:spPr>
          <a:xfrm>
            <a:off x="3744686" y="3658206"/>
            <a:ext cx="7816102" cy="13401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The Economic Way of Thinking · Supply and Demand</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Swiftonomics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45</a:t>
            </a:r>
          </a:p>
        </p:txBody>
      </p:sp>
      <p:sp>
        <p:nvSpPr>
          <p:cNvPr id="10" name="TextBox 9"/>
          <p:cNvSpPr txBox="1"/>
          <p:nvPr/>
        </p:nvSpPr>
        <p:spPr>
          <a:xfrm>
            <a:off x="640080" y="4297680"/>
            <a:ext cx="7132320" cy="1828800"/>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600" b="0" i="0">
                <a:solidFill>
                  <a:srgbClr val="0B2B4E"/>
                </a:solidFill>
                <a:latin typeface="Calibri"/>
              </a:rPr>
              <a:t>How did Taylor Swift’s engagement affect the demand for diamonds?</a:t>
            </a:r>
          </a:p>
        </p:txBody>
      </p:sp>
      <p:pic>
        <p:nvPicPr>
          <p:cNvPr id="11" name="Picture 10" descr="s45_img1.png"/>
          <p:cNvPicPr>
            <a:picLocks noChangeAspect="1"/>
          </p:cNvPicPr>
          <p:nvPr/>
        </p:nvPicPr>
        <p:blipFill>
          <a:blip r:embed="rId3"/>
          <a:stretch>
            <a:fillRect/>
          </a:stretch>
        </p:blipFill>
        <p:spPr>
          <a:xfrm>
            <a:off x="640080" y="2657813"/>
            <a:ext cx="3291840" cy="445093"/>
          </a:xfrm>
          <a:prstGeom prst="roundRect">
            <a:avLst>
              <a:gd name="adj" fmla="val 4000"/>
            </a:avLst>
          </a:prstGeom>
          <a:effectLst>
            <a:outerShdw blurRad="54864" dist="41148" dir="5400000" rotWithShape="0">
              <a:srgbClr val="000000">
                <a:alpha val="62000"/>
              </a:srgbClr>
            </a:outerShdw>
          </a:effectLst>
        </p:spPr>
      </p:pic>
      <p:pic>
        <p:nvPicPr>
          <p:cNvPr id="12" name="Picture 11" descr="s45_img2.jpg"/>
          <p:cNvPicPr>
            <a:picLocks noChangeAspect="1"/>
          </p:cNvPicPr>
          <p:nvPr/>
        </p:nvPicPr>
        <p:blipFill>
          <a:blip r:embed="rId4"/>
          <a:stretch>
            <a:fillRect/>
          </a:stretch>
        </p:blipFill>
        <p:spPr>
          <a:xfrm>
            <a:off x="4114800" y="1939834"/>
            <a:ext cx="3291840" cy="1881051"/>
          </a:xfrm>
          <a:prstGeom prst="roundRect">
            <a:avLst>
              <a:gd name="adj" fmla="val 4000"/>
            </a:avLst>
          </a:prstGeom>
          <a:effectLst>
            <a:outerShdw blurRad="54864" dist="41148" dir="5400000" rotWithShape="0">
              <a:srgbClr val="000000">
                <a:alpha val="62000"/>
              </a:srgbClr>
            </a:outerShdw>
          </a:effectLst>
        </p:spPr>
      </p:pic>
      <p:pic>
        <p:nvPicPr>
          <p:cNvPr id="13" name="Picture 12" descr="s45_img3.png"/>
          <p:cNvPicPr>
            <a:picLocks noChangeAspect="1"/>
          </p:cNvPicPr>
          <p:nvPr/>
        </p:nvPicPr>
        <p:blipFill>
          <a:blip r:embed="rId5"/>
          <a:stretch>
            <a:fillRect/>
          </a:stretch>
        </p:blipFill>
        <p:spPr>
          <a:xfrm>
            <a:off x="7840561" y="1737360"/>
            <a:ext cx="3429837" cy="2286000"/>
          </a:xfrm>
          <a:prstGeom prst="roundRect">
            <a:avLst>
              <a:gd name="adj" fmla="val 4000"/>
            </a:avLst>
          </a:prstGeom>
          <a:effectLst>
            <a:outerShdw blurRad="54864" dist="41148" dir="5400000" rotWithShape="0">
              <a:srgbClr val="000000">
                <a:alpha val="62000"/>
              </a:srgbClr>
            </a:outerShdw>
          </a:effectLst>
        </p:spPr>
      </p:pic>
      <p:sp>
        <p:nvSpPr>
          <p:cNvPr id="14" name="Rounded Rectangle 13"/>
          <p:cNvSpPr/>
          <p:nvPr/>
        </p:nvSpPr>
        <p:spPr>
          <a:xfrm>
            <a:off x="9768535" y="5989320"/>
            <a:ext cx="210312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dirty="0" err="1">
                <a:solidFill>
                  <a:srgbClr val="0B2B4E"/>
                </a:solidFill>
                <a:latin typeface="Calibri"/>
              </a:rPr>
              <a:t>PollEV</a:t>
            </a:r>
            <a:endParaRPr sz="1600" b="1" i="0" dirty="0">
              <a:solidFill>
                <a:srgbClr val="0B2B4E"/>
              </a:solidFill>
              <a:latin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46</a:t>
            </a:r>
          </a:p>
        </p:txBody>
      </p:sp>
      <p:pic>
        <p:nvPicPr>
          <p:cNvPr id="10" name="Picture 9" descr="s46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47</a:t>
            </a:r>
          </a:p>
        </p:txBody>
      </p:sp>
      <p:pic>
        <p:nvPicPr>
          <p:cNvPr id="10" name="Picture 9" descr="s47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Supply and Demand</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Solution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48</a:t>
            </a:r>
          </a:p>
        </p:txBody>
      </p:sp>
      <p:sp>
        <p:nvSpPr>
          <p:cNvPr id="10" name="BUILD"/>
          <p:cNvSpPr txBox="1"/>
          <p:nvPr/>
        </p:nvSpPr>
        <p:spPr>
          <a:xfrm>
            <a:off x="640080" y="1783080"/>
            <a:ext cx="7315200" cy="4411464"/>
          </a:xfrm>
          <a:prstGeom prst="rect">
            <a:avLst/>
          </a:prstGeom>
          <a:noFill/>
        </p:spPr>
        <p:txBody>
          <a:bodyPr wrap="square" lIns="0" tIns="0" rIns="0" bIns="0" anchor="t">
            <a:spAutoFit/>
          </a:bodyPr>
          <a:lstStyle/>
          <a:p>
            <a:pPr marL="274320" indent="-274320">
              <a:spcAft>
                <a:spcPts val="800"/>
              </a:spcAft>
              <a:buClr>
                <a:srgbClr val="0B2B4E"/>
              </a:buClr>
              <a:buSzPct val="100000"/>
              <a:buFont typeface="Calibri"/>
              <a:buChar char="▪"/>
            </a:pPr>
            <a:r>
              <a:rPr sz="2600" b="0" i="0" dirty="0">
                <a:solidFill>
                  <a:srgbClr val="0B2B4E"/>
                </a:solidFill>
                <a:latin typeface="Calibri"/>
              </a:rPr>
              <a:t>Taylor Swift’s engagement caused the demand curve to </a:t>
            </a:r>
            <a:r>
              <a:rPr sz="2600" b="1" i="0" dirty="0">
                <a:solidFill>
                  <a:srgbClr val="0B2B4E"/>
                </a:solidFill>
                <a:latin typeface="Calibri"/>
              </a:rPr>
              <a:t>shift to the right</a:t>
            </a:r>
            <a:endParaRPr lang="en-US" sz="2600" b="1" i="0" dirty="0">
              <a:solidFill>
                <a:srgbClr val="0B2B4E"/>
              </a:solidFill>
              <a:latin typeface="Calibri"/>
            </a:endParaRPr>
          </a:p>
          <a:p>
            <a:pPr marL="274320" indent="-274320">
              <a:spcAft>
                <a:spcPts val="800"/>
              </a:spcAft>
              <a:buClr>
                <a:srgbClr val="0B2B4E"/>
              </a:buClr>
              <a:buSzPct val="100000"/>
              <a:buFont typeface="Calibri"/>
              <a:buChar char="▪"/>
            </a:pPr>
            <a:endParaRPr sz="2600" b="1" i="0" dirty="0">
              <a:solidFill>
                <a:srgbClr val="0B2B4E"/>
              </a:solidFill>
              <a:latin typeface="Calibri"/>
            </a:endParaRPr>
          </a:p>
          <a:p>
            <a:pPr marL="274320" indent="-274320">
              <a:spcAft>
                <a:spcPts val="800"/>
              </a:spcAft>
              <a:buClr>
                <a:srgbClr val="0B2B4E"/>
              </a:buClr>
              <a:buSzPct val="100000"/>
              <a:buFont typeface="Calibri"/>
              <a:buChar char="▪"/>
            </a:pPr>
            <a:r>
              <a:rPr sz="2600" b="0" i="0" dirty="0">
                <a:solidFill>
                  <a:srgbClr val="0B2B4E"/>
                </a:solidFill>
                <a:latin typeface="Calibri"/>
              </a:rPr>
              <a:t>“Google searches for “diamond ring” surged after the announcement.”</a:t>
            </a:r>
            <a:endParaRPr lang="en-US" sz="2600" b="0" i="0" dirty="0">
              <a:solidFill>
                <a:srgbClr val="0B2B4E"/>
              </a:solidFill>
              <a:latin typeface="Calibri"/>
            </a:endParaRPr>
          </a:p>
          <a:p>
            <a:pPr marL="274320" indent="-274320">
              <a:spcAft>
                <a:spcPts val="800"/>
              </a:spcAft>
              <a:buClr>
                <a:srgbClr val="0B2B4E"/>
              </a:buClr>
              <a:buSzPct val="100000"/>
              <a:buFont typeface="Calibri"/>
              <a:buChar char="▪"/>
            </a:pPr>
            <a:endParaRPr sz="2600" b="0" i="0" dirty="0">
              <a:solidFill>
                <a:srgbClr val="0B2B4E"/>
              </a:solidFill>
              <a:latin typeface="Calibri"/>
            </a:endParaRPr>
          </a:p>
          <a:p>
            <a:pPr marL="274320" indent="-274320">
              <a:spcAft>
                <a:spcPts val="800"/>
              </a:spcAft>
              <a:buClr>
                <a:srgbClr val="0B2B4E"/>
              </a:buClr>
              <a:buSzPct val="100000"/>
              <a:buFont typeface="Calibri"/>
              <a:buChar char="▪"/>
            </a:pPr>
            <a:r>
              <a:rPr sz="2600" b="0" i="0" dirty="0">
                <a:solidFill>
                  <a:srgbClr val="0B2B4E"/>
                </a:solidFill>
                <a:latin typeface="Calibri"/>
              </a:rPr>
              <a:t>“Diamond-jewelry retailers […] saw their stock prices rise […] on Tuesday, the day Swift announced her engagement with football star Travis Kelce, posting a picture of her diamond ring.” </a:t>
            </a:r>
          </a:p>
        </p:txBody>
      </p:sp>
      <p:pic>
        <p:nvPicPr>
          <p:cNvPr id="11" name="Picture 10" descr="s48_img1.png"/>
          <p:cNvPicPr>
            <a:picLocks noChangeAspect="1"/>
          </p:cNvPicPr>
          <p:nvPr/>
        </p:nvPicPr>
        <p:blipFill>
          <a:blip r:embed="rId3"/>
          <a:stretch>
            <a:fillRect/>
          </a:stretch>
        </p:blipFill>
        <p:spPr>
          <a:xfrm>
            <a:off x="8505801" y="2011680"/>
            <a:ext cx="2739437" cy="1828800"/>
          </a:xfrm>
          <a:prstGeom prst="roundRect">
            <a:avLst>
              <a:gd name="adj" fmla="val 4000"/>
            </a:avLst>
          </a:prstGeom>
          <a:effectLst>
            <a:outerShdw blurRad="54864" dist="41148" dir="5400000" rotWithShape="0">
              <a:srgbClr val="000000">
                <a:alpha val="62000"/>
              </a:srgbClr>
            </a:outerShdw>
          </a:effectLst>
        </p:spPr>
      </p:pic>
      <p:pic>
        <p:nvPicPr>
          <p:cNvPr id="12" name="Picture 11" descr="s45_img1.png"/>
          <p:cNvPicPr>
            <a:picLocks noChangeAspect="1"/>
          </p:cNvPicPr>
          <p:nvPr/>
        </p:nvPicPr>
        <p:blipFill>
          <a:blip r:embed="rId4"/>
          <a:stretch>
            <a:fillRect/>
          </a:stretch>
        </p:blipFill>
        <p:spPr>
          <a:xfrm>
            <a:off x="8229600" y="4715213"/>
            <a:ext cx="3291840" cy="445093"/>
          </a:xfrm>
          <a:prstGeom prst="roundRect">
            <a:avLst>
              <a:gd name="adj" fmla="val 4000"/>
            </a:avLst>
          </a:prstGeom>
          <a:effectLst>
            <a:outerShdw blurRad="54864" dist="41148" dir="5400000" rotWithShape="0">
              <a:srgbClr val="000000">
                <a:alpha val="62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Supply and Demand</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The</a:t>
            </a:r>
            <a:r>
              <a:rPr lang="en-US" sz="3000" b="1" i="0" dirty="0">
                <a:solidFill>
                  <a:srgbClr val="0B2B4E"/>
                </a:solidFill>
                <a:latin typeface="Calibri"/>
              </a:rPr>
              <a:t> </a:t>
            </a:r>
            <a:r>
              <a:rPr lang="en-US" sz="3000" b="1" dirty="0">
                <a:solidFill>
                  <a:srgbClr val="0B2B4E"/>
                </a:solidFill>
                <a:latin typeface="Calibri"/>
              </a:rPr>
              <a:t>M</a:t>
            </a:r>
            <a:r>
              <a:rPr sz="3000" b="1" i="0" dirty="0">
                <a:solidFill>
                  <a:srgbClr val="0B2B4E"/>
                </a:solidFill>
                <a:latin typeface="Calibri"/>
              </a:rPr>
              <a:t>arket </a:t>
            </a:r>
            <a:r>
              <a:rPr lang="en-US" sz="3000" b="1" dirty="0">
                <a:solidFill>
                  <a:srgbClr val="0B2B4E"/>
                </a:solidFill>
                <a:latin typeface="Calibri"/>
              </a:rPr>
              <a:t>S</a:t>
            </a:r>
            <a:r>
              <a:rPr sz="3000" b="1" i="0" dirty="0">
                <a:solidFill>
                  <a:srgbClr val="0B2B4E"/>
                </a:solidFill>
                <a:latin typeface="Calibri"/>
              </a:rPr>
              <a:t>upply </a:t>
            </a:r>
            <a:r>
              <a:rPr lang="en-US" sz="3000" b="1" dirty="0">
                <a:solidFill>
                  <a:srgbClr val="0B2B4E"/>
                </a:solidFill>
                <a:latin typeface="Calibri"/>
              </a:rPr>
              <a:t>C</a:t>
            </a:r>
            <a:r>
              <a:rPr sz="3000" b="1" i="0" dirty="0">
                <a:solidFill>
                  <a:srgbClr val="0B2B4E"/>
                </a:solidFill>
                <a:latin typeface="Calibri"/>
              </a:rPr>
              <a:t>urve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49</a:t>
            </a:r>
          </a:p>
        </p:txBody>
      </p:sp>
      <p:sp>
        <p:nvSpPr>
          <p:cNvPr id="10" name="Rounded Rectangle 9"/>
          <p:cNvSpPr/>
          <p:nvPr/>
        </p:nvSpPr>
        <p:spPr>
          <a:xfrm>
            <a:off x="548640" y="1600200"/>
            <a:ext cx="11064240" cy="868680"/>
          </a:xfrm>
          <a:prstGeom prst="roundRect">
            <a:avLst>
              <a:gd name="adj" fmla="val 6000"/>
            </a:avLst>
          </a:prstGeom>
          <a:solidFill>
            <a:srgbClr val="FDF6E6"/>
          </a:solidFill>
          <a:ln w="1270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r>
              <a:rPr sz="2000" b="1" i="0" dirty="0">
                <a:solidFill>
                  <a:srgbClr val="0B2B4E"/>
                </a:solidFill>
                <a:latin typeface="Calibri"/>
              </a:rPr>
              <a:t>Definition: </a:t>
            </a:r>
            <a:r>
              <a:rPr sz="2000" b="0" i="0" dirty="0">
                <a:solidFill>
                  <a:srgbClr val="0B2B4E"/>
                </a:solidFill>
                <a:latin typeface="Calibri"/>
              </a:rPr>
              <a:t>Describes the relationship between the quantity of a good that producers are willing to sell and the price of the good, </a:t>
            </a:r>
            <a:r>
              <a:rPr sz="2000" b="0" i="1" dirty="0">
                <a:solidFill>
                  <a:srgbClr val="0B2B4E"/>
                </a:solidFill>
                <a:latin typeface="Calibri"/>
              </a:rPr>
              <a:t>holding everything else constant</a:t>
            </a:r>
          </a:p>
        </p:txBody>
      </p:sp>
      <p:sp>
        <p:nvSpPr>
          <p:cNvPr id="11" name="BUILD"/>
          <p:cNvSpPr txBox="1"/>
          <p:nvPr/>
        </p:nvSpPr>
        <p:spPr>
          <a:xfrm>
            <a:off x="548640" y="2880360"/>
            <a:ext cx="4023360" cy="1769715"/>
          </a:xfrm>
          <a:prstGeom prst="rect">
            <a:avLst/>
          </a:prstGeom>
          <a:noFill/>
        </p:spPr>
        <p:txBody>
          <a:bodyPr wrap="square" lIns="0" tIns="0" rIns="0" bIns="0" anchor="t">
            <a:spAutoFit/>
          </a:bodyPr>
          <a:lstStyle/>
          <a:p>
            <a:pPr marL="274320" indent="-274320">
              <a:spcAft>
                <a:spcPts val="1200"/>
              </a:spcAft>
              <a:buClr>
                <a:srgbClr val="0B2B4E"/>
              </a:buClr>
              <a:buSzPct val="100000"/>
              <a:buFont typeface="Calibri"/>
              <a:buChar char="▪"/>
            </a:pPr>
            <a:r>
              <a:rPr sz="2500" b="1" i="0" dirty="0">
                <a:solidFill>
                  <a:srgbClr val="0B2B4E"/>
                </a:solidFill>
                <a:latin typeface="Calibri"/>
              </a:rPr>
              <a:t>Characteristics:</a:t>
            </a:r>
          </a:p>
          <a:p>
            <a:pPr marL="603504" lvl="1" indent="-310896">
              <a:spcAft>
                <a:spcPts val="1200"/>
              </a:spcAft>
              <a:buClr>
                <a:srgbClr val="555B66"/>
              </a:buClr>
              <a:buSzPct val="100000"/>
              <a:buFont typeface="Calibri"/>
              <a:buChar char="–"/>
            </a:pPr>
            <a:r>
              <a:rPr sz="2000" b="1" i="1" dirty="0">
                <a:solidFill>
                  <a:srgbClr val="C0201B"/>
                </a:solidFill>
                <a:latin typeface="Calibri"/>
              </a:rPr>
              <a:t>Upward sloping:</a:t>
            </a:r>
            <a:r>
              <a:rPr sz="2000" b="0" i="0" dirty="0">
                <a:solidFill>
                  <a:srgbClr val="0B2B4E"/>
                </a:solidFill>
                <a:latin typeface="Calibri"/>
              </a:rPr>
              <a:t> the higher the price, the more firms are able and willing to produce and sell, </a:t>
            </a:r>
            <a:r>
              <a:rPr sz="2000" b="0" i="1" dirty="0">
                <a:solidFill>
                  <a:srgbClr val="0B2B4E"/>
                </a:solidFill>
                <a:latin typeface="Calibri"/>
              </a:rPr>
              <a:t>all else constant</a:t>
            </a:r>
          </a:p>
        </p:txBody>
      </p:sp>
      <p:cxnSp>
        <p:nvCxnSpPr>
          <p:cNvPr id="12" name="Connector 11"/>
          <p:cNvCxnSpPr/>
          <p:nvPr/>
        </p:nvCxnSpPr>
        <p:spPr>
          <a:xfrm flipV="1">
            <a:off x="7040880" y="3063240"/>
            <a:ext cx="0" cy="306324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040880" y="6126480"/>
            <a:ext cx="438912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720840" y="2697480"/>
            <a:ext cx="1463040" cy="215444"/>
          </a:xfrm>
          <a:prstGeom prst="rect">
            <a:avLst/>
          </a:prstGeom>
          <a:noFill/>
        </p:spPr>
        <p:txBody>
          <a:bodyPr wrap="square" lIns="0" tIns="0" rIns="0" bIns="0" anchor="t">
            <a:spAutoFit/>
          </a:bodyPr>
          <a:lstStyle/>
          <a:p>
            <a:r>
              <a:rPr sz="1400" b="1" i="0" dirty="0">
                <a:solidFill>
                  <a:srgbClr val="0B2B4E"/>
                </a:solidFill>
                <a:latin typeface="Calibri"/>
              </a:rPr>
              <a:t>Price ($)</a:t>
            </a:r>
          </a:p>
        </p:txBody>
      </p:sp>
      <p:sp>
        <p:nvSpPr>
          <p:cNvPr id="15" name="TextBox 14"/>
          <p:cNvSpPr txBox="1"/>
          <p:nvPr/>
        </p:nvSpPr>
        <p:spPr>
          <a:xfrm>
            <a:off x="11018520" y="6181344"/>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16" name="CLK_S"/>
          <p:cNvCxnSpPr/>
          <p:nvPr/>
        </p:nvCxnSpPr>
        <p:spPr>
          <a:xfrm flipV="1">
            <a:off x="7377379" y="3375964"/>
            <a:ext cx="3449117" cy="2574951"/>
          </a:xfrm>
          <a:prstGeom prst="line">
            <a:avLst/>
          </a:prstGeom>
          <a:ln w="40640">
            <a:solidFill>
              <a:srgbClr val="4E79B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872216" y="3330244"/>
            <a:ext cx="822960" cy="274320"/>
          </a:xfrm>
          <a:prstGeom prst="rect">
            <a:avLst/>
          </a:prstGeom>
          <a:noFill/>
        </p:spPr>
        <p:txBody>
          <a:bodyPr wrap="square" lIns="0" tIns="0" rIns="0" bIns="0" anchor="t">
            <a:spAutoFit/>
          </a:bodyPr>
          <a:lstStyle/>
          <a:p>
            <a:r>
              <a:rPr sz="1500" b="1" i="0">
                <a:solidFill>
                  <a:srgbClr val="4E79B5"/>
                </a:solidFill>
                <a:latin typeface="Calibri"/>
              </a:rPr>
              <a:t>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Supply and Demand</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The </a:t>
            </a:r>
            <a:r>
              <a:rPr lang="en-US" sz="3000" b="1" i="0" dirty="0">
                <a:solidFill>
                  <a:srgbClr val="0B2B4E"/>
                </a:solidFill>
                <a:latin typeface="Calibri"/>
              </a:rPr>
              <a:t>M</a:t>
            </a:r>
            <a:r>
              <a:rPr sz="3000" b="1" i="0" dirty="0">
                <a:solidFill>
                  <a:srgbClr val="0B2B4E"/>
                </a:solidFill>
                <a:latin typeface="Calibri"/>
              </a:rPr>
              <a:t>arket </a:t>
            </a:r>
            <a:r>
              <a:rPr lang="en-US" sz="3000" b="1" dirty="0">
                <a:solidFill>
                  <a:srgbClr val="0B2B4E"/>
                </a:solidFill>
                <a:latin typeface="Calibri"/>
              </a:rPr>
              <a:t>S</a:t>
            </a:r>
            <a:r>
              <a:rPr sz="3000" b="1" i="0" dirty="0">
                <a:solidFill>
                  <a:srgbClr val="0B2B4E"/>
                </a:solidFill>
                <a:latin typeface="Calibri"/>
              </a:rPr>
              <a:t>upply </a:t>
            </a:r>
            <a:r>
              <a:rPr lang="en-US" sz="3000" b="1" dirty="0">
                <a:solidFill>
                  <a:srgbClr val="0B2B4E"/>
                </a:solidFill>
                <a:latin typeface="Calibri"/>
              </a:rPr>
              <a:t>C</a:t>
            </a:r>
            <a:r>
              <a:rPr sz="3000" b="1" i="0" dirty="0">
                <a:solidFill>
                  <a:srgbClr val="0B2B4E"/>
                </a:solidFill>
                <a:latin typeface="Calibri"/>
              </a:rPr>
              <a:t>urve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50</a:t>
            </a:r>
          </a:p>
        </p:txBody>
      </p:sp>
      <p:sp>
        <p:nvSpPr>
          <p:cNvPr id="10" name="BUILD"/>
          <p:cNvSpPr txBox="1"/>
          <p:nvPr/>
        </p:nvSpPr>
        <p:spPr>
          <a:xfrm>
            <a:off x="502920" y="1691640"/>
            <a:ext cx="3657600" cy="3247043"/>
          </a:xfrm>
          <a:prstGeom prst="rect">
            <a:avLst/>
          </a:prstGeom>
          <a:noFill/>
        </p:spPr>
        <p:txBody>
          <a:bodyPr wrap="square" lIns="0" tIns="0" rIns="0" bIns="0" anchor="t">
            <a:spAutoFit/>
          </a:bodyPr>
          <a:lstStyle/>
          <a:p>
            <a:pPr marL="274320" indent="-274320">
              <a:spcAft>
                <a:spcPts val="1200"/>
              </a:spcAft>
              <a:buClr>
                <a:srgbClr val="0B2B4E"/>
              </a:buClr>
              <a:buSzPct val="100000"/>
              <a:buFont typeface="Calibri"/>
              <a:buChar char="▪"/>
            </a:pPr>
            <a:r>
              <a:rPr sz="2100" b="1" i="0" dirty="0">
                <a:solidFill>
                  <a:srgbClr val="0B2B4E"/>
                </a:solidFill>
                <a:latin typeface="Calibri"/>
              </a:rPr>
              <a:t>Distinguish between:</a:t>
            </a:r>
          </a:p>
          <a:p>
            <a:pPr marL="603504" lvl="1" indent="-310896">
              <a:spcAft>
                <a:spcPts val="1200"/>
              </a:spcAft>
              <a:buClr>
                <a:srgbClr val="555B66"/>
              </a:buClr>
              <a:buSzPct val="100000"/>
              <a:buFont typeface="Calibri"/>
              <a:buChar char="–"/>
            </a:pPr>
            <a:r>
              <a:rPr sz="1800" b="1" i="1" dirty="0">
                <a:solidFill>
                  <a:srgbClr val="C0201B"/>
                </a:solidFill>
                <a:latin typeface="Calibri"/>
              </a:rPr>
              <a:t>Movement along S:</a:t>
            </a:r>
            <a:r>
              <a:rPr sz="1800" b="0" i="0" dirty="0">
                <a:solidFill>
                  <a:srgbClr val="0B2B4E"/>
                </a:solidFill>
                <a:latin typeface="Calibri"/>
              </a:rPr>
              <a:t> changes in quantity supplied when price changes, </a:t>
            </a:r>
            <a:r>
              <a:rPr sz="1800" b="0" i="1" dirty="0">
                <a:solidFill>
                  <a:srgbClr val="0B2B4E"/>
                </a:solidFill>
                <a:latin typeface="Calibri"/>
              </a:rPr>
              <a:t>all else constant</a:t>
            </a:r>
          </a:p>
          <a:p>
            <a:pPr marL="603504" lvl="1" indent="-310896">
              <a:spcAft>
                <a:spcPts val="1200"/>
              </a:spcAft>
              <a:buClr>
                <a:srgbClr val="555B66"/>
              </a:buClr>
              <a:buSzPct val="100000"/>
              <a:buFont typeface="Calibri"/>
              <a:buChar char="–"/>
            </a:pPr>
            <a:r>
              <a:rPr sz="1800" b="1" i="1" dirty="0">
                <a:solidFill>
                  <a:srgbClr val="C0201B"/>
                </a:solidFill>
                <a:latin typeface="Calibri"/>
              </a:rPr>
              <a:t>Shifts of S:</a:t>
            </a:r>
            <a:r>
              <a:rPr sz="1800" b="0" i="0" dirty="0">
                <a:solidFill>
                  <a:srgbClr val="0B2B4E"/>
                </a:solidFill>
                <a:latin typeface="Calibri"/>
              </a:rPr>
              <a:t> changes in supply; e.g. a shift to the right (from S</a:t>
            </a:r>
            <a:r>
              <a:rPr lang="en-US" sz="1800" b="0" i="0" baseline="-25000" dirty="0">
                <a:solidFill>
                  <a:srgbClr val="0B2B4E"/>
                </a:solidFill>
                <a:latin typeface="Calibri"/>
              </a:rPr>
              <a:t>0</a:t>
            </a:r>
            <a:r>
              <a:rPr sz="1800" b="0" i="0" dirty="0">
                <a:solidFill>
                  <a:srgbClr val="0B2B4E"/>
                </a:solidFill>
                <a:latin typeface="Calibri"/>
              </a:rPr>
              <a:t> to S</a:t>
            </a:r>
            <a:r>
              <a:rPr lang="en-US" sz="1800" b="0" i="0" baseline="-25000" dirty="0">
                <a:solidFill>
                  <a:srgbClr val="0B2B4E"/>
                </a:solidFill>
                <a:latin typeface="Calibri"/>
              </a:rPr>
              <a:t>1</a:t>
            </a:r>
            <a:r>
              <a:rPr sz="1800" b="0" i="0" dirty="0">
                <a:solidFill>
                  <a:srgbClr val="0B2B4E"/>
                </a:solidFill>
                <a:latin typeface="Calibri"/>
              </a:rPr>
              <a:t>) means firms can produce a larger quantity at the same </a:t>
            </a:r>
            <a:r>
              <a:rPr sz="1800" b="0" i="0" dirty="0">
                <a:solidFill>
                  <a:srgbClr val="002060"/>
                </a:solidFill>
                <a:latin typeface="Calibri" panose="020F0502020204030204" pitchFamily="34" charset="0"/>
                <a:cs typeface="Calibri" panose="020F0502020204030204" pitchFamily="34" charset="0"/>
              </a:rPr>
              <a:t>price</a:t>
            </a:r>
            <a:r>
              <a:rPr lang="en-US" sz="1800" b="0" i="0" dirty="0">
                <a:solidFill>
                  <a:srgbClr val="002060"/>
                </a:solidFill>
                <a:latin typeface="Calibri" panose="020F0502020204030204" pitchFamily="34" charset="0"/>
                <a:cs typeface="Calibri" panose="020F0502020204030204" pitchFamily="34" charset="0"/>
              </a:rPr>
              <a:t> </a:t>
            </a:r>
            <a:r>
              <a:rPr lang="en-US" dirty="0">
                <a:solidFill>
                  <a:srgbClr val="002060"/>
                </a:solidFill>
                <a:latin typeface="Calibri" panose="020F0502020204030204" pitchFamily="34" charset="0"/>
                <a:cs typeface="Calibri" panose="020F0502020204030204" pitchFamily="34" charset="0"/>
              </a:rPr>
              <a:t>or the same quantity at a lower price</a:t>
            </a:r>
            <a:r>
              <a:rPr lang="en-US" sz="1800" b="0" i="0" dirty="0">
                <a:solidFill>
                  <a:srgbClr val="002060"/>
                </a:solidFill>
                <a:latin typeface="Calibri" panose="020F0502020204030204" pitchFamily="34" charset="0"/>
                <a:cs typeface="Calibri" panose="020F0502020204030204" pitchFamily="34" charset="0"/>
              </a:rPr>
              <a:t> </a:t>
            </a:r>
            <a:endParaRPr sz="1800" b="0" i="0" dirty="0">
              <a:solidFill>
                <a:srgbClr val="002060"/>
              </a:solidFill>
              <a:latin typeface="Calibri" panose="020F0502020204030204" pitchFamily="34" charset="0"/>
              <a:cs typeface="Calibri" panose="020F0502020204030204" pitchFamily="34" charset="0"/>
            </a:endParaRPr>
          </a:p>
        </p:txBody>
      </p:sp>
      <p:cxnSp>
        <p:nvCxnSpPr>
          <p:cNvPr id="11" name="Connector 10"/>
          <p:cNvCxnSpPr/>
          <p:nvPr/>
        </p:nvCxnSpPr>
        <p:spPr>
          <a:xfrm flipV="1">
            <a:off x="7223760" y="2148840"/>
            <a:ext cx="0" cy="379476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23760" y="5943600"/>
            <a:ext cx="420624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903720" y="1783080"/>
            <a:ext cx="1463040" cy="215444"/>
          </a:xfrm>
          <a:prstGeom prst="rect">
            <a:avLst/>
          </a:prstGeom>
          <a:noFill/>
        </p:spPr>
        <p:txBody>
          <a:bodyPr wrap="square" lIns="0" tIns="0" rIns="0" bIns="0" anchor="t">
            <a:spAutoFit/>
          </a:bodyPr>
          <a:lstStyle/>
          <a:p>
            <a:r>
              <a:rPr sz="1400" b="1" i="0" dirty="0">
                <a:solidFill>
                  <a:srgbClr val="0B2B4E"/>
                </a:solidFill>
                <a:latin typeface="Calibri"/>
              </a:rPr>
              <a:t>Price ($)</a:t>
            </a:r>
          </a:p>
        </p:txBody>
      </p:sp>
      <p:sp>
        <p:nvSpPr>
          <p:cNvPr id="14" name="TextBox 13"/>
          <p:cNvSpPr txBox="1"/>
          <p:nvPr/>
        </p:nvSpPr>
        <p:spPr>
          <a:xfrm>
            <a:off x="11018520" y="5998464"/>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15" name="CLK1_S"/>
          <p:cNvCxnSpPr/>
          <p:nvPr/>
        </p:nvCxnSpPr>
        <p:spPr>
          <a:xfrm flipV="1">
            <a:off x="7626096" y="2651760"/>
            <a:ext cx="2494483" cy="3072384"/>
          </a:xfrm>
          <a:prstGeom prst="line">
            <a:avLst/>
          </a:prstGeom>
          <a:ln w="40640">
            <a:solidFill>
              <a:srgbClr val="4E79B5"/>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94526" y="2542431"/>
            <a:ext cx="822960" cy="230832"/>
          </a:xfrm>
          <a:prstGeom prst="rect">
            <a:avLst/>
          </a:prstGeom>
          <a:noFill/>
        </p:spPr>
        <p:txBody>
          <a:bodyPr wrap="square" lIns="0" tIns="0" rIns="0" bIns="0" anchor="t">
            <a:spAutoFit/>
          </a:bodyPr>
          <a:lstStyle/>
          <a:p>
            <a:r>
              <a:rPr sz="1500" b="1" i="0" dirty="0">
                <a:solidFill>
                  <a:srgbClr val="4E79B5"/>
                </a:solidFill>
                <a:latin typeface="Calibri"/>
              </a:rPr>
              <a:t>S</a:t>
            </a:r>
            <a:r>
              <a:rPr lang="en-US" sz="1500" b="1" baseline="-25000" dirty="0">
                <a:solidFill>
                  <a:srgbClr val="4E79B5"/>
                </a:solidFill>
                <a:latin typeface="Calibri"/>
              </a:rPr>
              <a:t>0</a:t>
            </a:r>
            <a:endParaRPr sz="1500" b="1" i="0" baseline="-25000" dirty="0">
              <a:solidFill>
                <a:srgbClr val="4E79B5"/>
              </a:solidFill>
              <a:latin typeface="Calibri"/>
            </a:endParaRPr>
          </a:p>
        </p:txBody>
      </p:sp>
      <p:cxnSp>
        <p:nvCxnSpPr>
          <p:cNvPr id="17" name="CLK2_Sp"/>
          <p:cNvCxnSpPr/>
          <p:nvPr/>
        </p:nvCxnSpPr>
        <p:spPr>
          <a:xfrm flipV="1">
            <a:off x="8511235" y="2798064"/>
            <a:ext cx="2534717" cy="2926080"/>
          </a:xfrm>
          <a:prstGeom prst="line">
            <a:avLst/>
          </a:prstGeom>
          <a:ln w="38100">
            <a:solidFill>
              <a:srgbClr val="4E79B5"/>
            </a:solidFill>
            <a:prstDash val="dash"/>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119898" y="2712588"/>
            <a:ext cx="822960" cy="230832"/>
          </a:xfrm>
          <a:prstGeom prst="rect">
            <a:avLst/>
          </a:prstGeom>
          <a:noFill/>
        </p:spPr>
        <p:txBody>
          <a:bodyPr wrap="square" lIns="0" tIns="0" rIns="0" bIns="0" anchor="t">
            <a:spAutoFit/>
          </a:bodyPr>
          <a:lstStyle/>
          <a:p>
            <a:r>
              <a:rPr sz="1500" b="1" i="0" dirty="0">
                <a:solidFill>
                  <a:srgbClr val="4E79B5"/>
                </a:solidFill>
                <a:latin typeface="Calibri"/>
              </a:rPr>
              <a:t>S</a:t>
            </a:r>
            <a:r>
              <a:rPr lang="en-US" sz="1500" b="1" baseline="-25000" dirty="0">
                <a:solidFill>
                  <a:srgbClr val="4E79B5"/>
                </a:solidFill>
                <a:latin typeface="Calibri"/>
              </a:rPr>
              <a:t>1</a:t>
            </a:r>
            <a:endParaRPr sz="1500" b="1" i="0" baseline="-25000" dirty="0">
              <a:solidFill>
                <a:srgbClr val="4E79B5"/>
              </a:solidFill>
              <a:latin typeface="Calibri"/>
            </a:endParaRPr>
          </a:p>
        </p:txBody>
      </p:sp>
      <p:sp>
        <p:nvSpPr>
          <p:cNvPr id="19" name="Line 20">
            <a:extLst>
              <a:ext uri="{FF2B5EF4-FFF2-40B4-BE49-F238E27FC236}">
                <a16:creationId xmlns:a16="http://schemas.microsoft.com/office/drawing/2014/main" id="{F1C79A81-079D-0817-62D8-055BF9E1A7AB}"/>
              </a:ext>
            </a:extLst>
          </p:cNvPr>
          <p:cNvSpPr>
            <a:spLocks noChangeShapeType="1"/>
          </p:cNvSpPr>
          <p:nvPr/>
        </p:nvSpPr>
        <p:spPr bwMode="auto">
          <a:xfrm flipH="1" flipV="1">
            <a:off x="9185490" y="4072575"/>
            <a:ext cx="542377" cy="0"/>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21" name="Line 17">
            <a:extLst>
              <a:ext uri="{FF2B5EF4-FFF2-40B4-BE49-F238E27FC236}">
                <a16:creationId xmlns:a16="http://schemas.microsoft.com/office/drawing/2014/main" id="{0802AB28-0CB5-4710-76E9-8EC6EBD887E5}"/>
              </a:ext>
            </a:extLst>
          </p:cNvPr>
          <p:cNvSpPr>
            <a:spLocks noChangeShapeType="1"/>
          </p:cNvSpPr>
          <p:nvPr/>
        </p:nvSpPr>
        <p:spPr bwMode="auto">
          <a:xfrm flipV="1">
            <a:off x="9325113" y="3614070"/>
            <a:ext cx="20493" cy="2325613"/>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24" name="Line 17">
            <a:extLst>
              <a:ext uri="{FF2B5EF4-FFF2-40B4-BE49-F238E27FC236}">
                <a16:creationId xmlns:a16="http://schemas.microsoft.com/office/drawing/2014/main" id="{A84BF135-2238-4B9A-77A7-424B8027B914}"/>
              </a:ext>
            </a:extLst>
          </p:cNvPr>
          <p:cNvSpPr>
            <a:spLocks noChangeShapeType="1"/>
          </p:cNvSpPr>
          <p:nvPr/>
        </p:nvSpPr>
        <p:spPr bwMode="auto">
          <a:xfrm flipV="1">
            <a:off x="7223760" y="3602735"/>
            <a:ext cx="3120876" cy="11337"/>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27" name="Line 17">
            <a:extLst>
              <a:ext uri="{FF2B5EF4-FFF2-40B4-BE49-F238E27FC236}">
                <a16:creationId xmlns:a16="http://schemas.microsoft.com/office/drawing/2014/main" id="{9551A5AC-EB11-99E8-8C4B-68BE7772FAAD}"/>
              </a:ext>
            </a:extLst>
          </p:cNvPr>
          <p:cNvSpPr>
            <a:spLocks noChangeShapeType="1"/>
          </p:cNvSpPr>
          <p:nvPr/>
        </p:nvSpPr>
        <p:spPr bwMode="auto">
          <a:xfrm>
            <a:off x="7223761" y="4738261"/>
            <a:ext cx="2108116" cy="0"/>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30" name="Line 17">
            <a:extLst>
              <a:ext uri="{FF2B5EF4-FFF2-40B4-BE49-F238E27FC236}">
                <a16:creationId xmlns:a16="http://schemas.microsoft.com/office/drawing/2014/main" id="{657C3534-32FD-D542-0FED-A2C589E26367}"/>
              </a:ext>
            </a:extLst>
          </p:cNvPr>
          <p:cNvSpPr>
            <a:spLocks noChangeShapeType="1"/>
          </p:cNvSpPr>
          <p:nvPr/>
        </p:nvSpPr>
        <p:spPr bwMode="auto">
          <a:xfrm flipV="1">
            <a:off x="10344636" y="3628734"/>
            <a:ext cx="2513" cy="2293825"/>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32" name="TextBox 31">
            <a:extLst>
              <a:ext uri="{FF2B5EF4-FFF2-40B4-BE49-F238E27FC236}">
                <a16:creationId xmlns:a16="http://schemas.microsoft.com/office/drawing/2014/main" id="{297B96FE-992A-F772-B727-F9C79CF96CF3}"/>
              </a:ext>
            </a:extLst>
          </p:cNvPr>
          <p:cNvSpPr txBox="1"/>
          <p:nvPr/>
        </p:nvSpPr>
        <p:spPr>
          <a:xfrm>
            <a:off x="6740319" y="3476471"/>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a:t>
            </a:r>
            <a:r>
              <a:rPr lang="en-US" sz="1400" b="1" i="0" baseline="-25000" dirty="0">
                <a:solidFill>
                  <a:srgbClr val="002060"/>
                </a:solidFill>
                <a:latin typeface="Calibri"/>
              </a:rPr>
              <a:t>0</a:t>
            </a:r>
            <a:endParaRPr sz="1400" b="1" i="0" baseline="-25000" dirty="0">
              <a:solidFill>
                <a:srgbClr val="002060"/>
              </a:solidFill>
              <a:latin typeface="Calibri"/>
            </a:endParaRPr>
          </a:p>
        </p:txBody>
      </p:sp>
      <p:sp>
        <p:nvSpPr>
          <p:cNvPr id="33" name="TextBox 32">
            <a:extLst>
              <a:ext uri="{FF2B5EF4-FFF2-40B4-BE49-F238E27FC236}">
                <a16:creationId xmlns:a16="http://schemas.microsoft.com/office/drawing/2014/main" id="{38EC418F-845C-80C3-7A81-4BBE18E42A4A}"/>
              </a:ext>
            </a:extLst>
          </p:cNvPr>
          <p:cNvSpPr txBox="1"/>
          <p:nvPr/>
        </p:nvSpPr>
        <p:spPr>
          <a:xfrm>
            <a:off x="6774026" y="4604454"/>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P₁</a:t>
            </a:r>
          </a:p>
        </p:txBody>
      </p:sp>
      <p:sp>
        <p:nvSpPr>
          <p:cNvPr id="34" name="TextBox 33">
            <a:extLst>
              <a:ext uri="{FF2B5EF4-FFF2-40B4-BE49-F238E27FC236}">
                <a16:creationId xmlns:a16="http://schemas.microsoft.com/office/drawing/2014/main" id="{53DCBF5E-CBB3-884B-C687-04484548AE85}"/>
              </a:ext>
            </a:extLst>
          </p:cNvPr>
          <p:cNvSpPr txBox="1"/>
          <p:nvPr/>
        </p:nvSpPr>
        <p:spPr>
          <a:xfrm>
            <a:off x="9056370" y="6012726"/>
            <a:ext cx="365760" cy="215444"/>
          </a:xfrm>
          <a:prstGeom prst="rect">
            <a:avLst/>
          </a:prstGeom>
          <a:noFill/>
        </p:spPr>
        <p:txBody>
          <a:bodyPr wrap="square" lIns="0" tIns="0" rIns="0" bIns="0" anchor="t">
            <a:spAutoFit/>
          </a:bodyPr>
          <a:lstStyle/>
          <a:p>
            <a:pPr algn="r"/>
            <a:r>
              <a:rPr lang="en-US" sz="1400" b="1" dirty="0">
                <a:solidFill>
                  <a:srgbClr val="002060"/>
                </a:solidFill>
                <a:latin typeface="Calibri"/>
              </a:rPr>
              <a:t>Q</a:t>
            </a:r>
            <a:r>
              <a:rPr lang="en-US" sz="1400" b="1" baseline="-25000" dirty="0">
                <a:solidFill>
                  <a:srgbClr val="002060"/>
                </a:solidFill>
                <a:latin typeface="Calibri"/>
              </a:rPr>
              <a:t>0</a:t>
            </a:r>
            <a:endParaRPr sz="1400" b="1" i="0" baseline="-25000" dirty="0">
              <a:solidFill>
                <a:srgbClr val="002060"/>
              </a:solidFill>
              <a:latin typeface="Calibri"/>
            </a:endParaRPr>
          </a:p>
        </p:txBody>
      </p:sp>
      <p:sp>
        <p:nvSpPr>
          <p:cNvPr id="35" name="TextBox 34">
            <a:extLst>
              <a:ext uri="{FF2B5EF4-FFF2-40B4-BE49-F238E27FC236}">
                <a16:creationId xmlns:a16="http://schemas.microsoft.com/office/drawing/2014/main" id="{3E429EBF-526F-4EA0-3AC4-CD92F90FDD9D}"/>
              </a:ext>
            </a:extLst>
          </p:cNvPr>
          <p:cNvSpPr txBox="1"/>
          <p:nvPr/>
        </p:nvSpPr>
        <p:spPr>
          <a:xfrm>
            <a:off x="10104510" y="6006502"/>
            <a:ext cx="365760" cy="215444"/>
          </a:xfrm>
          <a:prstGeom prst="rect">
            <a:avLst/>
          </a:prstGeom>
          <a:noFill/>
        </p:spPr>
        <p:txBody>
          <a:bodyPr wrap="square" lIns="0" tIns="0" rIns="0" bIns="0" anchor="t">
            <a:spAutoFit/>
          </a:bodyPr>
          <a:lstStyle/>
          <a:p>
            <a:pPr algn="r"/>
            <a:r>
              <a:rPr lang="en-US" sz="1400" b="1" dirty="0">
                <a:solidFill>
                  <a:srgbClr val="002060"/>
                </a:solidFill>
                <a:latin typeface="Calibri"/>
              </a:rPr>
              <a:t>Q</a:t>
            </a:r>
            <a:r>
              <a:rPr lang="en-US" sz="1400" b="1" baseline="-25000" dirty="0">
                <a:solidFill>
                  <a:srgbClr val="002060"/>
                </a:solidFill>
                <a:latin typeface="Calibri"/>
              </a:rPr>
              <a:t>1</a:t>
            </a:r>
            <a:endParaRPr sz="1400" b="1" i="0" baseline="-25000" dirty="0">
              <a:solidFill>
                <a:srgbClr val="002060"/>
              </a:solidFill>
              <a:latin typeface="Calibri"/>
            </a:endParaRPr>
          </a:p>
        </p:txBody>
      </p:sp>
      <p:sp>
        <p:nvSpPr>
          <p:cNvPr id="40" name="Line 20">
            <a:extLst>
              <a:ext uri="{FF2B5EF4-FFF2-40B4-BE49-F238E27FC236}">
                <a16:creationId xmlns:a16="http://schemas.microsoft.com/office/drawing/2014/main" id="{69A938FA-E252-D8DD-6015-077053116259}"/>
              </a:ext>
            </a:extLst>
          </p:cNvPr>
          <p:cNvSpPr>
            <a:spLocks noChangeShapeType="1"/>
          </p:cNvSpPr>
          <p:nvPr/>
        </p:nvSpPr>
        <p:spPr bwMode="auto">
          <a:xfrm flipH="1">
            <a:off x="8626310" y="3919105"/>
            <a:ext cx="474746" cy="566952"/>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subTnLst>
                                    <p:set>
                                      <p:cBhvr override="childStyle">
                                        <p:cTn dur="1" fill="hold" display="0" masterRel="nextClick" afterEffect="1"/>
                                        <p:tgtEl>
                                          <p:spTgt spid="4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21" grpId="0" animBg="1"/>
      <p:bldP spid="24" grpId="0" animBg="1"/>
      <p:bldP spid="27" grpId="0" animBg="1"/>
      <p:bldP spid="30" grpId="0" animBg="1"/>
      <p:bldP spid="32" grpId="0"/>
      <p:bldP spid="33" grpId="0"/>
      <p:bldP spid="34" grpId="0"/>
      <p:bldP spid="35" grpId="0"/>
      <p:bldP spid="40" grpId="0" animBg="1"/>
      <p:bldP spid="40"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3825A-BD95-230E-496D-F4708E1D14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D189CD-BD99-D94E-983B-5C9CB2B5D036}"/>
              </a:ext>
            </a:extLst>
          </p:cNvPr>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Outline</a:t>
            </a:r>
          </a:p>
        </p:txBody>
      </p:sp>
      <p:sp>
        <p:nvSpPr>
          <p:cNvPr id="3" name="TextBox 2">
            <a:extLst>
              <a:ext uri="{FF2B5EF4-FFF2-40B4-BE49-F238E27FC236}">
                <a16:creationId xmlns:a16="http://schemas.microsoft.com/office/drawing/2014/main" id="{72A66B9E-50D1-9BDC-B9D7-F995A2880E06}"/>
              </a:ext>
            </a:extLst>
          </p:cNvPr>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a:extLst>
              <a:ext uri="{FF2B5EF4-FFF2-40B4-BE49-F238E27FC236}">
                <a16:creationId xmlns:a16="http://schemas.microsoft.com/office/drawing/2014/main" id="{E5FCB74E-9A2D-E800-6976-0BE667714146}"/>
              </a:ext>
            </a:extLst>
          </p:cNvPr>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B947E962-D935-DC21-46BF-D253A64B45BA}"/>
              </a:ext>
            </a:extLst>
          </p:cNvPr>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a:extLst>
              <a:ext uri="{FF2B5EF4-FFF2-40B4-BE49-F238E27FC236}">
                <a16:creationId xmlns:a16="http://schemas.microsoft.com/office/drawing/2014/main" id="{28C41941-CA15-783B-D382-062DF682A2F8}"/>
              </a:ext>
            </a:extLst>
          </p:cNvPr>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1B4260A7-F73B-7FBF-8CCC-143FD6A0F88E}"/>
              </a:ext>
            </a:extLst>
          </p:cNvPr>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A902FBB5-44F4-EB33-491A-71EE0F172A92}"/>
              </a:ext>
            </a:extLst>
          </p:cNvPr>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The Economic Way of Thinking</a:t>
            </a:r>
          </a:p>
        </p:txBody>
      </p:sp>
      <p:sp>
        <p:nvSpPr>
          <p:cNvPr id="9" name="TextBox 8">
            <a:extLst>
              <a:ext uri="{FF2B5EF4-FFF2-40B4-BE49-F238E27FC236}">
                <a16:creationId xmlns:a16="http://schemas.microsoft.com/office/drawing/2014/main" id="{9F91421B-93DB-D8B2-B40B-2D352B5711E8}"/>
              </a:ext>
            </a:extLst>
          </p:cNvPr>
          <p:cNvSpPr txBox="1"/>
          <p:nvPr/>
        </p:nvSpPr>
        <p:spPr>
          <a:xfrm>
            <a:off x="10515600" y="6547104"/>
            <a:ext cx="1216152" cy="169277"/>
          </a:xfrm>
          <a:prstGeom prst="rect">
            <a:avLst/>
          </a:prstGeom>
          <a:noFill/>
        </p:spPr>
        <p:txBody>
          <a:bodyPr wrap="square" lIns="0" tIns="0" rIns="0" bIns="0" anchor="t">
            <a:spAutoFit/>
          </a:bodyPr>
          <a:lstStyle/>
          <a:p>
            <a:pPr algn="r"/>
            <a:r>
              <a:rPr lang="en-US" sz="1100" b="0" i="0" dirty="0">
                <a:solidFill>
                  <a:srgbClr val="555B66"/>
                </a:solidFill>
                <a:latin typeface="Calibri"/>
              </a:rPr>
              <a:t>51</a:t>
            </a:r>
            <a:endParaRPr sz="1100" b="0" i="0" dirty="0">
              <a:solidFill>
                <a:srgbClr val="555B66"/>
              </a:solidFill>
              <a:latin typeface="Calibri"/>
            </a:endParaRPr>
          </a:p>
        </p:txBody>
      </p:sp>
      <p:sp>
        <p:nvSpPr>
          <p:cNvPr id="10" name="Oval 9">
            <a:extLst>
              <a:ext uri="{FF2B5EF4-FFF2-40B4-BE49-F238E27FC236}">
                <a16:creationId xmlns:a16="http://schemas.microsoft.com/office/drawing/2014/main" id="{448B0123-F9E7-28DB-8426-5176C013B039}"/>
              </a:ext>
            </a:extLst>
          </p:cNvPr>
          <p:cNvSpPr/>
          <p:nvPr/>
        </p:nvSpPr>
        <p:spPr>
          <a:xfrm>
            <a:off x="1024128" y="192938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a:extLst>
              <a:ext uri="{FF2B5EF4-FFF2-40B4-BE49-F238E27FC236}">
                <a16:creationId xmlns:a16="http://schemas.microsoft.com/office/drawing/2014/main" id="{77D67A29-4134-E890-ACF5-ED7FCC9ECFF5}"/>
              </a:ext>
            </a:extLst>
          </p:cNvPr>
          <p:cNvSpPr txBox="1"/>
          <p:nvPr/>
        </p:nvSpPr>
        <p:spPr>
          <a:xfrm>
            <a:off x="1883664" y="1910422"/>
            <a:ext cx="9226296" cy="384721"/>
          </a:xfrm>
          <a:prstGeom prst="rect">
            <a:avLst/>
          </a:prstGeom>
          <a:noFill/>
        </p:spPr>
        <p:txBody>
          <a:bodyPr wrap="square" lIns="0" tIns="0" rIns="0" bIns="0" anchor="b">
            <a:spAutoFit/>
          </a:bodyPr>
          <a:lstStyle/>
          <a:p>
            <a:r>
              <a:rPr sz="2500" b="1" i="0" dirty="0">
                <a:solidFill>
                  <a:srgbClr val="9AA0A8"/>
                </a:solidFill>
                <a:latin typeface="Calibri"/>
              </a:rPr>
              <a:t>Value of the Firm</a:t>
            </a:r>
          </a:p>
        </p:txBody>
      </p:sp>
      <p:sp>
        <p:nvSpPr>
          <p:cNvPr id="12" name="TextBox 11">
            <a:extLst>
              <a:ext uri="{FF2B5EF4-FFF2-40B4-BE49-F238E27FC236}">
                <a16:creationId xmlns:a16="http://schemas.microsoft.com/office/drawing/2014/main" id="{8D6C8246-FD58-ABF1-298A-076C107A7B4C}"/>
              </a:ext>
            </a:extLst>
          </p:cNvPr>
          <p:cNvSpPr txBox="1"/>
          <p:nvPr/>
        </p:nvSpPr>
        <p:spPr>
          <a:xfrm>
            <a:off x="1883664" y="2295144"/>
            <a:ext cx="9226296" cy="338554"/>
          </a:xfrm>
          <a:prstGeom prst="rect">
            <a:avLst/>
          </a:prstGeom>
          <a:noFill/>
        </p:spPr>
        <p:txBody>
          <a:bodyPr wrap="square" lIns="0" tIns="0" rIns="0" bIns="0" anchor="t">
            <a:spAutoFit/>
          </a:bodyPr>
          <a:lstStyle/>
          <a:p>
            <a:r>
              <a:rPr sz="2200" b="0" i="0" dirty="0">
                <a:solidFill>
                  <a:srgbClr val="9AA0A8"/>
                </a:solidFill>
                <a:latin typeface="Calibri"/>
              </a:rPr>
              <a:t>What a firm maximizes — and why value is not the same as current profit</a:t>
            </a:r>
          </a:p>
        </p:txBody>
      </p:sp>
      <p:sp>
        <p:nvSpPr>
          <p:cNvPr id="13" name="Oval 12">
            <a:extLst>
              <a:ext uri="{FF2B5EF4-FFF2-40B4-BE49-F238E27FC236}">
                <a16:creationId xmlns:a16="http://schemas.microsoft.com/office/drawing/2014/main" id="{CEF75F6A-1468-7449-1AFD-0D667608B091}"/>
              </a:ext>
            </a:extLst>
          </p:cNvPr>
          <p:cNvSpPr/>
          <p:nvPr/>
        </p:nvSpPr>
        <p:spPr>
          <a:xfrm>
            <a:off x="1024128" y="3346703"/>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4" name="TextBox 13">
            <a:extLst>
              <a:ext uri="{FF2B5EF4-FFF2-40B4-BE49-F238E27FC236}">
                <a16:creationId xmlns:a16="http://schemas.microsoft.com/office/drawing/2014/main" id="{8D31E802-D920-2600-A1A2-200DDD54FD05}"/>
              </a:ext>
            </a:extLst>
          </p:cNvPr>
          <p:cNvSpPr txBox="1"/>
          <p:nvPr/>
        </p:nvSpPr>
        <p:spPr>
          <a:xfrm>
            <a:off x="1883664" y="3327742"/>
            <a:ext cx="9226296" cy="384721"/>
          </a:xfrm>
          <a:prstGeom prst="rect">
            <a:avLst/>
          </a:prstGeom>
          <a:noFill/>
        </p:spPr>
        <p:txBody>
          <a:bodyPr wrap="square" lIns="0" tIns="0" rIns="0" bIns="0" anchor="b">
            <a:spAutoFit/>
          </a:bodyPr>
          <a:lstStyle/>
          <a:p>
            <a:r>
              <a:rPr sz="2500" b="1" i="0" dirty="0">
                <a:solidFill>
                  <a:srgbClr val="9AA0A8"/>
                </a:solidFill>
                <a:latin typeface="Calibri"/>
              </a:rPr>
              <a:t>Basic Principles of Economic Thinking</a:t>
            </a:r>
          </a:p>
        </p:txBody>
      </p:sp>
      <p:sp>
        <p:nvSpPr>
          <p:cNvPr id="15" name="TextBox 14">
            <a:extLst>
              <a:ext uri="{FF2B5EF4-FFF2-40B4-BE49-F238E27FC236}">
                <a16:creationId xmlns:a16="http://schemas.microsoft.com/office/drawing/2014/main" id="{D7EC903B-E0FA-C91A-C613-13475495A69D}"/>
              </a:ext>
            </a:extLst>
          </p:cNvPr>
          <p:cNvSpPr txBox="1"/>
          <p:nvPr/>
        </p:nvSpPr>
        <p:spPr>
          <a:xfrm>
            <a:off x="1883664" y="3712463"/>
            <a:ext cx="9226296" cy="338554"/>
          </a:xfrm>
          <a:prstGeom prst="rect">
            <a:avLst/>
          </a:prstGeom>
          <a:noFill/>
        </p:spPr>
        <p:txBody>
          <a:bodyPr wrap="square" lIns="0" tIns="0" rIns="0" bIns="0" anchor="t">
            <a:spAutoFit/>
          </a:bodyPr>
          <a:lstStyle/>
          <a:p>
            <a:r>
              <a:rPr lang="en-US" sz="2200" b="0" i="0" dirty="0">
                <a:solidFill>
                  <a:srgbClr val="9AA0A8"/>
                </a:solidFill>
                <a:latin typeface="Calibri"/>
              </a:rPr>
              <a:t>O</a:t>
            </a:r>
            <a:r>
              <a:rPr sz="2200" b="0" i="0" dirty="0">
                <a:solidFill>
                  <a:srgbClr val="9AA0A8"/>
                </a:solidFill>
                <a:latin typeface="Calibri"/>
              </a:rPr>
              <a:t>pportunity costs · </a:t>
            </a:r>
            <a:r>
              <a:rPr lang="en-US" sz="2200" dirty="0">
                <a:solidFill>
                  <a:srgbClr val="9AA0A8"/>
                </a:solidFill>
                <a:latin typeface="Calibri"/>
              </a:rPr>
              <a:t>S</a:t>
            </a:r>
            <a:r>
              <a:rPr sz="2200" b="0" i="0" dirty="0">
                <a:solidFill>
                  <a:srgbClr val="9AA0A8"/>
                </a:solidFill>
                <a:latin typeface="Calibri"/>
              </a:rPr>
              <a:t>unk costs · </a:t>
            </a:r>
            <a:r>
              <a:rPr lang="en-US" sz="2200" dirty="0">
                <a:solidFill>
                  <a:srgbClr val="9AA0A8"/>
                </a:solidFill>
                <a:latin typeface="Calibri"/>
              </a:rPr>
              <a:t>C</a:t>
            </a:r>
            <a:r>
              <a:rPr sz="2200" b="0" i="0" dirty="0">
                <a:solidFill>
                  <a:srgbClr val="9AA0A8"/>
                </a:solidFill>
                <a:latin typeface="Calibri"/>
              </a:rPr>
              <a:t>ost-benefit and marginal analysis</a:t>
            </a:r>
          </a:p>
        </p:txBody>
      </p:sp>
      <p:sp>
        <p:nvSpPr>
          <p:cNvPr id="16" name="Rounded Rectangle 15">
            <a:extLst>
              <a:ext uri="{FF2B5EF4-FFF2-40B4-BE49-F238E27FC236}">
                <a16:creationId xmlns:a16="http://schemas.microsoft.com/office/drawing/2014/main" id="{162D2872-8587-7B67-608C-209F14195BE0}"/>
              </a:ext>
            </a:extLst>
          </p:cNvPr>
          <p:cNvSpPr/>
          <p:nvPr/>
        </p:nvSpPr>
        <p:spPr>
          <a:xfrm>
            <a:off x="822960" y="4599432"/>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4BBF06E8-5F0C-B8AF-E0BF-0319CC07310C}"/>
              </a:ext>
            </a:extLst>
          </p:cNvPr>
          <p:cNvSpPr/>
          <p:nvPr/>
        </p:nvSpPr>
        <p:spPr>
          <a:xfrm>
            <a:off x="1024128" y="4764024"/>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8" name="TextBox 17">
            <a:extLst>
              <a:ext uri="{FF2B5EF4-FFF2-40B4-BE49-F238E27FC236}">
                <a16:creationId xmlns:a16="http://schemas.microsoft.com/office/drawing/2014/main" id="{FD038234-13EB-9DD3-7F1D-C24825DF7C4E}"/>
              </a:ext>
            </a:extLst>
          </p:cNvPr>
          <p:cNvSpPr txBox="1"/>
          <p:nvPr/>
        </p:nvSpPr>
        <p:spPr>
          <a:xfrm>
            <a:off x="1883664" y="4745063"/>
            <a:ext cx="9226296" cy="384721"/>
          </a:xfrm>
          <a:prstGeom prst="rect">
            <a:avLst/>
          </a:prstGeom>
          <a:noFill/>
        </p:spPr>
        <p:txBody>
          <a:bodyPr wrap="square" lIns="0" tIns="0" rIns="0" bIns="0" anchor="b">
            <a:spAutoFit/>
          </a:bodyPr>
          <a:lstStyle/>
          <a:p>
            <a:r>
              <a:rPr sz="2500" b="1" i="0" dirty="0">
                <a:solidFill>
                  <a:srgbClr val="0B2B4E"/>
                </a:solidFill>
                <a:latin typeface="Calibri"/>
              </a:rPr>
              <a:t>Economics Fundamentals</a:t>
            </a:r>
          </a:p>
        </p:txBody>
      </p:sp>
      <p:sp>
        <p:nvSpPr>
          <p:cNvPr id="19" name="TextBox 18">
            <a:extLst>
              <a:ext uri="{FF2B5EF4-FFF2-40B4-BE49-F238E27FC236}">
                <a16:creationId xmlns:a16="http://schemas.microsoft.com/office/drawing/2014/main" id="{3286859D-4495-DAAD-BD45-9C38130CA74D}"/>
              </a:ext>
            </a:extLst>
          </p:cNvPr>
          <p:cNvSpPr txBox="1"/>
          <p:nvPr/>
        </p:nvSpPr>
        <p:spPr>
          <a:xfrm>
            <a:off x="1883664" y="5129784"/>
            <a:ext cx="9226296" cy="369332"/>
          </a:xfrm>
          <a:prstGeom prst="rect">
            <a:avLst/>
          </a:prstGeom>
          <a:noFill/>
        </p:spPr>
        <p:txBody>
          <a:bodyPr wrap="square" lIns="0" tIns="0" rIns="0" bIns="0" anchor="t">
            <a:spAutoFit/>
          </a:bodyPr>
          <a:lstStyle/>
          <a:p>
            <a:r>
              <a:rPr lang="en-US" sz="2200" dirty="0">
                <a:solidFill>
                  <a:srgbClr val="555B66"/>
                </a:solidFill>
              </a:rPr>
              <a:t>Markets</a:t>
            </a:r>
            <a:r>
              <a:rPr lang="en-US" sz="2400" b="1" dirty="0">
                <a:solidFill>
                  <a:srgbClr val="0B2B4E"/>
                </a:solidFill>
              </a:rPr>
              <a:t> </a:t>
            </a:r>
            <a:r>
              <a:rPr sz="2200" b="0" i="0" dirty="0">
                <a:solidFill>
                  <a:srgbClr val="555B66"/>
                </a:solidFill>
                <a:latin typeface="Calibri"/>
              </a:rPr>
              <a:t>· </a:t>
            </a:r>
            <a:r>
              <a:rPr lang="en-US" sz="2200" dirty="0">
                <a:solidFill>
                  <a:srgbClr val="555B66"/>
                </a:solidFill>
              </a:rPr>
              <a:t>Supply and Demand</a:t>
            </a:r>
            <a:r>
              <a:rPr sz="2200" b="0" i="0" dirty="0">
                <a:solidFill>
                  <a:srgbClr val="555B66"/>
                </a:solidFill>
                <a:latin typeface="Calibri"/>
              </a:rPr>
              <a:t> · </a:t>
            </a:r>
            <a:r>
              <a:rPr lang="en-US" sz="2200" b="1" dirty="0">
                <a:solidFill>
                  <a:srgbClr val="0B2B4E"/>
                </a:solidFill>
              </a:rPr>
              <a:t>Equilibrium</a:t>
            </a:r>
            <a:endParaRPr sz="2200" b="0" i="0" dirty="0">
              <a:solidFill>
                <a:srgbClr val="555B66"/>
              </a:solidFill>
              <a:latin typeface="Calibri"/>
            </a:endParaRPr>
          </a:p>
        </p:txBody>
      </p:sp>
    </p:spTree>
    <p:extLst>
      <p:ext uri="{BB962C8B-B14F-4D97-AF65-F5344CB8AC3E}">
        <p14:creationId xmlns:p14="http://schemas.microsoft.com/office/powerpoint/2010/main" val="41962456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The </a:t>
            </a:r>
            <a:r>
              <a:rPr lang="en-US" sz="3000" b="1" i="0" dirty="0">
                <a:solidFill>
                  <a:srgbClr val="0B2B4E"/>
                </a:solidFill>
                <a:latin typeface="Calibri"/>
              </a:rPr>
              <a:t>M</a:t>
            </a:r>
            <a:r>
              <a:rPr sz="3000" b="1" i="0" dirty="0">
                <a:solidFill>
                  <a:srgbClr val="0B2B4E"/>
                </a:solidFill>
                <a:latin typeface="Calibri"/>
              </a:rPr>
              <a:t>arket </a:t>
            </a:r>
            <a:r>
              <a:rPr lang="en-US" sz="3000" b="1" dirty="0">
                <a:solidFill>
                  <a:srgbClr val="0B2B4E"/>
                </a:solidFill>
                <a:latin typeface="Calibri"/>
              </a:rPr>
              <a:t>M</a:t>
            </a:r>
            <a:r>
              <a:rPr sz="3000" b="1" i="0" dirty="0">
                <a:solidFill>
                  <a:srgbClr val="0B2B4E"/>
                </a:solidFill>
                <a:latin typeface="Calibri"/>
              </a:rPr>
              <a:t>echanism</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52</a:t>
            </a:r>
          </a:p>
        </p:txBody>
      </p:sp>
      <p:sp>
        <p:nvSpPr>
          <p:cNvPr id="10" name="BUILD"/>
          <p:cNvSpPr txBox="1"/>
          <p:nvPr/>
        </p:nvSpPr>
        <p:spPr>
          <a:xfrm>
            <a:off x="457199" y="1691640"/>
            <a:ext cx="3991507" cy="4308872"/>
          </a:xfrm>
          <a:prstGeom prst="rect">
            <a:avLst/>
          </a:prstGeom>
          <a:noFill/>
        </p:spPr>
        <p:txBody>
          <a:bodyPr wrap="square" lIns="0" tIns="0" rIns="0" bIns="0" anchor="t">
            <a:spAutoFit/>
          </a:bodyPr>
          <a:lstStyle/>
          <a:p>
            <a:pPr marL="274320" indent="-274320">
              <a:spcAft>
                <a:spcPts val="1200"/>
              </a:spcAft>
              <a:buClr>
                <a:srgbClr val="0B2B4E"/>
              </a:buClr>
              <a:buSzPct val="100000"/>
              <a:buFont typeface="Calibri"/>
              <a:buChar char="▪"/>
            </a:pPr>
            <a:r>
              <a:rPr sz="2400" b="1" i="1" dirty="0">
                <a:solidFill>
                  <a:srgbClr val="C0201B"/>
                </a:solidFill>
                <a:latin typeface="Calibri"/>
              </a:rPr>
              <a:t>Market equilibrium:</a:t>
            </a:r>
            <a:r>
              <a:rPr sz="2400" b="0" i="0" dirty="0">
                <a:solidFill>
                  <a:srgbClr val="0B2B4E"/>
                </a:solidFill>
                <a:latin typeface="Calibri"/>
              </a:rPr>
              <a:t> where supply and demand intersect, at price P₀ and quantity Q₀</a:t>
            </a:r>
            <a:endParaRPr lang="en-US" sz="2400" b="0" i="0" dirty="0">
              <a:solidFill>
                <a:srgbClr val="0B2B4E"/>
              </a:solidFill>
              <a:latin typeface="Calibri"/>
            </a:endParaRPr>
          </a:p>
          <a:p>
            <a:pPr marL="274320" indent="-274320">
              <a:spcAft>
                <a:spcPts val="1200"/>
              </a:spcAft>
              <a:buClr>
                <a:srgbClr val="0B2B4E"/>
              </a:buClr>
              <a:buSzPct val="100000"/>
              <a:buFont typeface="Calibri"/>
              <a:buChar char="▪"/>
            </a:pPr>
            <a:endParaRPr sz="2400" b="0" i="0" dirty="0">
              <a:solidFill>
                <a:srgbClr val="0B2B4E"/>
              </a:solidFill>
              <a:latin typeface="Calibri"/>
            </a:endParaRPr>
          </a:p>
          <a:p>
            <a:pPr marL="274320" indent="-274320">
              <a:spcAft>
                <a:spcPts val="1200"/>
              </a:spcAft>
              <a:buClr>
                <a:srgbClr val="0B2B4E"/>
              </a:buClr>
              <a:buSzPct val="100000"/>
              <a:buFont typeface="Calibri"/>
              <a:buChar char="▪"/>
            </a:pPr>
            <a:r>
              <a:rPr sz="2400" b="0" i="0" dirty="0">
                <a:solidFill>
                  <a:srgbClr val="0B2B4E"/>
                </a:solidFill>
                <a:latin typeface="Calibri"/>
              </a:rPr>
              <a:t>At a higher price P₁, a </a:t>
            </a:r>
            <a:r>
              <a:rPr sz="2400" b="1" i="1" dirty="0">
                <a:solidFill>
                  <a:srgbClr val="C00000"/>
                </a:solidFill>
                <a:latin typeface="Calibri"/>
              </a:rPr>
              <a:t>surplus</a:t>
            </a:r>
            <a:r>
              <a:rPr sz="2400" b="0" i="0" dirty="0">
                <a:solidFill>
                  <a:srgbClr val="0B2B4E"/>
                </a:solidFill>
                <a:latin typeface="Calibri"/>
              </a:rPr>
              <a:t> develops, so the price falls</a:t>
            </a:r>
            <a:endParaRPr lang="en-US" sz="2400" b="0" i="0" dirty="0">
              <a:solidFill>
                <a:srgbClr val="0B2B4E"/>
              </a:solidFill>
              <a:latin typeface="Calibri"/>
            </a:endParaRPr>
          </a:p>
          <a:p>
            <a:pPr marL="274320" indent="-274320">
              <a:spcAft>
                <a:spcPts val="1200"/>
              </a:spcAft>
              <a:buClr>
                <a:srgbClr val="0B2B4E"/>
              </a:buClr>
              <a:buSzPct val="100000"/>
              <a:buFont typeface="Calibri"/>
              <a:buChar char="▪"/>
            </a:pPr>
            <a:endParaRPr sz="2400" b="0" i="0" dirty="0">
              <a:solidFill>
                <a:srgbClr val="0B2B4E"/>
              </a:solidFill>
              <a:latin typeface="Calibri"/>
            </a:endParaRPr>
          </a:p>
          <a:p>
            <a:pPr marL="274320" indent="-274320">
              <a:spcAft>
                <a:spcPts val="1200"/>
              </a:spcAft>
              <a:buClr>
                <a:srgbClr val="0B2B4E"/>
              </a:buClr>
              <a:buSzPct val="100000"/>
              <a:buFont typeface="Calibri"/>
              <a:buChar char="▪"/>
            </a:pPr>
            <a:r>
              <a:rPr sz="2400" b="0" i="0" dirty="0">
                <a:solidFill>
                  <a:srgbClr val="0B2B4E"/>
                </a:solidFill>
                <a:latin typeface="Calibri"/>
              </a:rPr>
              <a:t>At a lower price P₂, there is </a:t>
            </a:r>
            <a:r>
              <a:rPr sz="2400" b="1" i="1" dirty="0">
                <a:solidFill>
                  <a:srgbClr val="C00000"/>
                </a:solidFill>
                <a:latin typeface="Calibri"/>
              </a:rPr>
              <a:t>excess demand</a:t>
            </a:r>
            <a:r>
              <a:rPr sz="2400" b="0" i="0" dirty="0">
                <a:solidFill>
                  <a:srgbClr val="0B2B4E"/>
                </a:solidFill>
                <a:latin typeface="Calibri"/>
              </a:rPr>
              <a:t>, so the price is bid up</a:t>
            </a:r>
          </a:p>
        </p:txBody>
      </p:sp>
      <p:cxnSp>
        <p:nvCxnSpPr>
          <p:cNvPr id="11" name="Connector 10"/>
          <p:cNvCxnSpPr/>
          <p:nvPr/>
        </p:nvCxnSpPr>
        <p:spPr>
          <a:xfrm flipV="1">
            <a:off x="7498079" y="1783079"/>
            <a:ext cx="0" cy="3977641"/>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498079" y="5760720"/>
            <a:ext cx="402336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178040" y="1417319"/>
            <a:ext cx="1463040" cy="215444"/>
          </a:xfrm>
          <a:prstGeom prst="rect">
            <a:avLst/>
          </a:prstGeom>
          <a:noFill/>
        </p:spPr>
        <p:txBody>
          <a:bodyPr wrap="square" lIns="0" tIns="0" rIns="0" bIns="0" anchor="t">
            <a:spAutoFit/>
          </a:bodyPr>
          <a:lstStyle/>
          <a:p>
            <a:r>
              <a:rPr sz="1400" b="1" i="0" dirty="0">
                <a:solidFill>
                  <a:srgbClr val="0B2B4E"/>
                </a:solidFill>
                <a:latin typeface="Calibri"/>
              </a:rPr>
              <a:t>Price ($)</a:t>
            </a:r>
          </a:p>
        </p:txBody>
      </p:sp>
      <p:sp>
        <p:nvSpPr>
          <p:cNvPr id="14" name="TextBox 13"/>
          <p:cNvSpPr txBox="1"/>
          <p:nvPr/>
        </p:nvSpPr>
        <p:spPr>
          <a:xfrm>
            <a:off x="11109959" y="5815583"/>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15" name="Connector 14"/>
          <p:cNvCxnSpPr/>
          <p:nvPr/>
        </p:nvCxnSpPr>
        <p:spPr>
          <a:xfrm flipV="1">
            <a:off x="7805318" y="2112264"/>
            <a:ext cx="3149194" cy="3418027"/>
          </a:xfrm>
          <a:prstGeom prst="line">
            <a:avLst/>
          </a:prstGeom>
          <a:ln w="38100">
            <a:solidFill>
              <a:srgbClr val="4E79B5"/>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1056403" y="1985119"/>
            <a:ext cx="822960" cy="274320"/>
          </a:xfrm>
          <a:prstGeom prst="rect">
            <a:avLst/>
          </a:prstGeom>
          <a:noFill/>
        </p:spPr>
        <p:txBody>
          <a:bodyPr wrap="square" lIns="0" tIns="0" rIns="0" bIns="0" anchor="t">
            <a:spAutoFit/>
          </a:bodyPr>
          <a:lstStyle/>
          <a:p>
            <a:r>
              <a:rPr sz="1500" b="1" i="0" dirty="0">
                <a:solidFill>
                  <a:srgbClr val="4E79B5"/>
                </a:solidFill>
                <a:latin typeface="Calibri"/>
              </a:rPr>
              <a:t>S</a:t>
            </a:r>
          </a:p>
        </p:txBody>
      </p:sp>
      <p:cxnSp>
        <p:nvCxnSpPr>
          <p:cNvPr id="17" name="Connector 16"/>
          <p:cNvCxnSpPr/>
          <p:nvPr/>
        </p:nvCxnSpPr>
        <p:spPr>
          <a:xfrm>
            <a:off x="7690104" y="2304287"/>
            <a:ext cx="3072384" cy="3264409"/>
          </a:xfrm>
          <a:prstGeom prst="line">
            <a:avLst/>
          </a:prstGeom>
          <a:ln w="3810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822577" y="5528636"/>
            <a:ext cx="822960" cy="274320"/>
          </a:xfrm>
          <a:prstGeom prst="rect">
            <a:avLst/>
          </a:prstGeom>
          <a:noFill/>
        </p:spPr>
        <p:txBody>
          <a:bodyPr wrap="square" lIns="0" tIns="0" rIns="0" bIns="0" anchor="t">
            <a:spAutoFit/>
          </a:bodyPr>
          <a:lstStyle/>
          <a:p>
            <a:r>
              <a:rPr sz="1500" b="1" i="0" dirty="0">
                <a:solidFill>
                  <a:srgbClr val="E09F3E"/>
                </a:solidFill>
                <a:latin typeface="Calibri"/>
              </a:rPr>
              <a:t>D</a:t>
            </a:r>
          </a:p>
        </p:txBody>
      </p:sp>
      <p:cxnSp>
        <p:nvCxnSpPr>
          <p:cNvPr id="19" name="Connector 18"/>
          <p:cNvCxnSpPr/>
          <p:nvPr/>
        </p:nvCxnSpPr>
        <p:spPr>
          <a:xfrm>
            <a:off x="7498079" y="3961977"/>
            <a:ext cx="1752202" cy="0"/>
          </a:xfrm>
          <a:prstGeom prst="line">
            <a:avLst/>
          </a:prstGeom>
          <a:ln w="1905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250281" y="3961977"/>
            <a:ext cx="0" cy="1798743"/>
          </a:xfrm>
          <a:prstGeom prst="line">
            <a:avLst/>
          </a:prstGeom>
          <a:ln w="1905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082227" y="3852249"/>
            <a:ext cx="365760" cy="274320"/>
          </a:xfrm>
          <a:prstGeom prst="rect">
            <a:avLst/>
          </a:prstGeom>
          <a:noFill/>
        </p:spPr>
        <p:txBody>
          <a:bodyPr wrap="square" lIns="0" tIns="0" rIns="0" bIns="0" anchor="t">
            <a:spAutoFit/>
          </a:bodyPr>
          <a:lstStyle/>
          <a:p>
            <a:pPr algn="r"/>
            <a:r>
              <a:rPr sz="1400" b="1" i="0" dirty="0">
                <a:solidFill>
                  <a:srgbClr val="0B2B4E"/>
                </a:solidFill>
                <a:latin typeface="Calibri"/>
              </a:rPr>
              <a:t>P₀</a:t>
            </a:r>
          </a:p>
        </p:txBody>
      </p:sp>
      <p:sp>
        <p:nvSpPr>
          <p:cNvPr id="22" name="TextBox 21"/>
          <p:cNvSpPr txBox="1"/>
          <p:nvPr/>
        </p:nvSpPr>
        <p:spPr>
          <a:xfrm>
            <a:off x="9067401" y="5815583"/>
            <a:ext cx="457200" cy="274320"/>
          </a:xfrm>
          <a:prstGeom prst="rect">
            <a:avLst/>
          </a:prstGeom>
          <a:noFill/>
        </p:spPr>
        <p:txBody>
          <a:bodyPr wrap="square" lIns="0" tIns="0" rIns="0" bIns="0" anchor="t">
            <a:spAutoFit/>
          </a:bodyPr>
          <a:lstStyle/>
          <a:p>
            <a:pPr algn="ctr"/>
            <a:r>
              <a:rPr sz="1400" b="1" i="0">
                <a:solidFill>
                  <a:srgbClr val="0B2B4E"/>
                </a:solidFill>
                <a:latin typeface="Calibri"/>
              </a:rPr>
              <a:t>Q₀</a:t>
            </a:r>
          </a:p>
        </p:txBody>
      </p:sp>
      <p:cxnSp>
        <p:nvCxnSpPr>
          <p:cNvPr id="23" name="Connector 22"/>
          <p:cNvCxnSpPr/>
          <p:nvPr/>
        </p:nvCxnSpPr>
        <p:spPr>
          <a:xfrm>
            <a:off x="7498079" y="3117071"/>
            <a:ext cx="3456433" cy="0"/>
          </a:xfrm>
          <a:prstGeom prst="line">
            <a:avLst/>
          </a:prstGeom>
          <a:ln w="1524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082227" y="3007343"/>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P₁</a:t>
            </a:r>
          </a:p>
        </p:txBody>
      </p:sp>
      <p:sp>
        <p:nvSpPr>
          <p:cNvPr id="25" name="TextBox 24"/>
          <p:cNvSpPr txBox="1"/>
          <p:nvPr/>
        </p:nvSpPr>
        <p:spPr>
          <a:xfrm>
            <a:off x="8937664" y="2861039"/>
            <a:ext cx="731122" cy="200055"/>
          </a:xfrm>
          <a:prstGeom prst="rect">
            <a:avLst/>
          </a:prstGeom>
          <a:noFill/>
        </p:spPr>
        <p:txBody>
          <a:bodyPr wrap="square" lIns="0" tIns="0" rIns="0" bIns="0" anchor="t">
            <a:spAutoFit/>
          </a:bodyPr>
          <a:lstStyle/>
          <a:p>
            <a:r>
              <a:rPr lang="en-US" sz="1300" b="1" i="1" dirty="0">
                <a:solidFill>
                  <a:srgbClr val="C00000"/>
                </a:solidFill>
                <a:latin typeface="Calibri"/>
              </a:rPr>
              <a:t>Surplus</a:t>
            </a:r>
            <a:endParaRPr sz="1300" b="1" i="1" dirty="0">
              <a:solidFill>
                <a:srgbClr val="C00000"/>
              </a:solidFill>
              <a:latin typeface="Calibri"/>
            </a:endParaRPr>
          </a:p>
        </p:txBody>
      </p:sp>
      <p:cxnSp>
        <p:nvCxnSpPr>
          <p:cNvPr id="26" name="Connector 25"/>
          <p:cNvCxnSpPr/>
          <p:nvPr/>
        </p:nvCxnSpPr>
        <p:spPr>
          <a:xfrm>
            <a:off x="7498079" y="4806882"/>
            <a:ext cx="3456433" cy="0"/>
          </a:xfrm>
          <a:prstGeom prst="line">
            <a:avLst/>
          </a:prstGeom>
          <a:ln w="1524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074276" y="4697154"/>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P₂</a:t>
            </a:r>
          </a:p>
        </p:txBody>
      </p:sp>
      <p:sp>
        <p:nvSpPr>
          <p:cNvPr id="28" name="TextBox 27"/>
          <p:cNvSpPr txBox="1"/>
          <p:nvPr/>
        </p:nvSpPr>
        <p:spPr>
          <a:xfrm>
            <a:off x="8802092" y="4843458"/>
            <a:ext cx="2011680" cy="200055"/>
          </a:xfrm>
          <a:prstGeom prst="rect">
            <a:avLst/>
          </a:prstGeom>
          <a:noFill/>
        </p:spPr>
        <p:txBody>
          <a:bodyPr wrap="square" lIns="0" tIns="0" rIns="0" bIns="0" anchor="t">
            <a:spAutoFit/>
          </a:bodyPr>
          <a:lstStyle/>
          <a:p>
            <a:r>
              <a:rPr sz="1300" b="1" i="1" dirty="0">
                <a:solidFill>
                  <a:srgbClr val="C00000"/>
                </a:solidFill>
                <a:latin typeface="Calibri"/>
              </a:rPr>
              <a:t>Excess demand</a:t>
            </a:r>
          </a:p>
        </p:txBody>
      </p:sp>
      <p:sp>
        <p:nvSpPr>
          <p:cNvPr id="29" name="Line 14">
            <a:extLst>
              <a:ext uri="{FF2B5EF4-FFF2-40B4-BE49-F238E27FC236}">
                <a16:creationId xmlns:a16="http://schemas.microsoft.com/office/drawing/2014/main" id="{D3DD6767-973E-C18A-750E-13F8096F0D02}"/>
              </a:ext>
            </a:extLst>
          </p:cNvPr>
          <p:cNvSpPr>
            <a:spLocks noChangeShapeType="1"/>
          </p:cNvSpPr>
          <p:nvPr/>
        </p:nvSpPr>
        <p:spPr bwMode="auto">
          <a:xfrm>
            <a:off x="8463412" y="3111325"/>
            <a:ext cx="1540560" cy="0"/>
          </a:xfrm>
          <a:prstGeom prst="line">
            <a:avLst/>
          </a:prstGeom>
          <a:noFill/>
          <a:ln w="25400">
            <a:solidFill>
              <a:schemeClr val="accent2"/>
            </a:solidFill>
            <a:round/>
            <a:headEnd type="stealth" w="med" len="lg"/>
            <a:tailEnd type="stealth" w="med" len="lg"/>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0" name="Line 14">
            <a:extLst>
              <a:ext uri="{FF2B5EF4-FFF2-40B4-BE49-F238E27FC236}">
                <a16:creationId xmlns:a16="http://schemas.microsoft.com/office/drawing/2014/main" id="{5D58CC36-32A6-1979-0123-B95C5BA2CBA1}"/>
              </a:ext>
            </a:extLst>
          </p:cNvPr>
          <p:cNvSpPr>
            <a:spLocks noChangeShapeType="1"/>
          </p:cNvSpPr>
          <p:nvPr/>
        </p:nvSpPr>
        <p:spPr bwMode="auto">
          <a:xfrm>
            <a:off x="8485180" y="4798609"/>
            <a:ext cx="1540560" cy="0"/>
          </a:xfrm>
          <a:prstGeom prst="line">
            <a:avLst/>
          </a:prstGeom>
          <a:noFill/>
          <a:ln w="25400">
            <a:solidFill>
              <a:schemeClr val="accent2"/>
            </a:solidFill>
            <a:round/>
            <a:headEnd type="stealth" w="med" len="lg"/>
            <a:tailEnd type="stealth" w="med" len="lg"/>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xEl>
                                              <p:pRg st="4" end="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6" grpId="0"/>
      <p:bldP spid="18" grpId="0"/>
      <p:bldP spid="21" grpId="0"/>
      <p:bldP spid="22" grpId="0"/>
      <p:bldP spid="24" grpId="0"/>
      <p:bldP spid="25" grpId="0"/>
      <p:bldP spid="27" grpId="0"/>
      <p:bldP spid="28" grpId="0"/>
      <p:bldP spid="29" grpId="0" animBg="1"/>
      <p:bldP spid="3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Summary of Terminology</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53</a:t>
            </a:r>
          </a:p>
        </p:txBody>
      </p:sp>
      <p:sp>
        <p:nvSpPr>
          <p:cNvPr id="10" name="BUILD"/>
          <p:cNvSpPr txBox="1"/>
          <p:nvPr/>
        </p:nvSpPr>
        <p:spPr>
          <a:xfrm>
            <a:off x="640080" y="1691640"/>
            <a:ext cx="10881360" cy="3667671"/>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500" b="1" i="0" dirty="0">
                <a:solidFill>
                  <a:srgbClr val="0B2B4E"/>
                </a:solidFill>
                <a:latin typeface="Calibri"/>
              </a:rPr>
              <a:t>Equilibrium (or market clearing) price:</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Price that equates the quantity supplied to the quantity demanded</a:t>
            </a:r>
          </a:p>
          <a:p>
            <a:pPr marL="274320" indent="-274320">
              <a:spcAft>
                <a:spcPts val="1000"/>
              </a:spcAft>
              <a:buClr>
                <a:srgbClr val="0B2B4E"/>
              </a:buClr>
              <a:buSzPct val="100000"/>
              <a:buFont typeface="Calibri"/>
              <a:buChar char="▪"/>
            </a:pPr>
            <a:r>
              <a:rPr sz="2500" b="1" i="0" dirty="0">
                <a:solidFill>
                  <a:srgbClr val="0B2B4E"/>
                </a:solidFill>
                <a:latin typeface="Calibri"/>
              </a:rPr>
              <a:t>Market mechanism:</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Tendency in a free market for price to change until the market clears</a:t>
            </a:r>
          </a:p>
          <a:p>
            <a:pPr marL="274320" indent="-274320">
              <a:spcAft>
                <a:spcPts val="1000"/>
              </a:spcAft>
              <a:buClr>
                <a:srgbClr val="0B2B4E"/>
              </a:buClr>
              <a:buSzPct val="100000"/>
              <a:buFont typeface="Calibri"/>
              <a:buChar char="▪"/>
            </a:pPr>
            <a:r>
              <a:rPr sz="2500" b="1" i="0" dirty="0">
                <a:solidFill>
                  <a:srgbClr val="0B2B4E"/>
                </a:solidFill>
                <a:latin typeface="Calibri"/>
              </a:rPr>
              <a:t>Excess Supply:</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Situation in which the quantity supplied exceeds the quantity demanded</a:t>
            </a:r>
          </a:p>
          <a:p>
            <a:pPr marL="274320" indent="-274320">
              <a:spcAft>
                <a:spcPts val="1000"/>
              </a:spcAft>
              <a:buClr>
                <a:srgbClr val="0B2B4E"/>
              </a:buClr>
              <a:buSzPct val="100000"/>
              <a:buFont typeface="Calibri"/>
              <a:buChar char="▪"/>
            </a:pPr>
            <a:r>
              <a:rPr sz="2500" b="1" i="0" dirty="0">
                <a:solidFill>
                  <a:srgbClr val="0B2B4E"/>
                </a:solidFill>
                <a:latin typeface="Calibri"/>
              </a:rPr>
              <a:t>Excess Demand (shortage): </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Situation in which the quantity demanded exceeds the quantity supplied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Changes in </a:t>
            </a:r>
            <a:r>
              <a:rPr lang="en-US" sz="3000" b="1" i="0" dirty="0">
                <a:solidFill>
                  <a:srgbClr val="0B2B4E"/>
                </a:solidFill>
                <a:latin typeface="Calibri"/>
              </a:rPr>
              <a:t>M</a:t>
            </a:r>
            <a:r>
              <a:rPr sz="3000" b="1" i="0" dirty="0">
                <a:solidFill>
                  <a:srgbClr val="0B2B4E"/>
                </a:solidFill>
                <a:latin typeface="Calibri"/>
              </a:rPr>
              <a:t>arket </a:t>
            </a:r>
            <a:r>
              <a:rPr lang="en-US" sz="3000" b="1" dirty="0">
                <a:solidFill>
                  <a:srgbClr val="0B2B4E"/>
                </a:solidFill>
                <a:latin typeface="Calibri"/>
              </a:rPr>
              <a:t>E</a:t>
            </a:r>
            <a:r>
              <a:rPr sz="3000" b="1" i="0" dirty="0">
                <a:solidFill>
                  <a:srgbClr val="0B2B4E"/>
                </a:solidFill>
                <a:latin typeface="Calibri"/>
              </a:rPr>
              <a:t>quilibrium</a:t>
            </a:r>
            <a:r>
              <a:rPr lang="en-US" sz="3000" b="1" i="0" dirty="0">
                <a:solidFill>
                  <a:srgbClr val="0B2B4E"/>
                </a:solidFill>
                <a:latin typeface="Calibri"/>
              </a:rPr>
              <a:t>: Shift in Demand</a:t>
            </a:r>
            <a:endParaRPr sz="3000" b="1" i="0" dirty="0">
              <a:solidFill>
                <a:srgbClr val="0B2B4E"/>
              </a:solidFill>
              <a:latin typeface="Calibri"/>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54</a:t>
            </a:r>
          </a:p>
        </p:txBody>
      </p:sp>
      <p:sp>
        <p:nvSpPr>
          <p:cNvPr id="11" name="TextBox 10"/>
          <p:cNvSpPr txBox="1"/>
          <p:nvPr/>
        </p:nvSpPr>
        <p:spPr>
          <a:xfrm>
            <a:off x="365760" y="1828800"/>
            <a:ext cx="2834640" cy="1538883"/>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000" b="0" i="0" dirty="0">
                <a:solidFill>
                  <a:srgbClr val="0B2B4E"/>
                </a:solidFill>
                <a:latin typeface="Calibri"/>
              </a:rPr>
              <a:t>When the demand curve shifts to the right, the market clears at a higher price P₃ and a larger quantity Q₃</a:t>
            </a:r>
          </a:p>
        </p:txBody>
      </p:sp>
      <p:sp>
        <p:nvSpPr>
          <p:cNvPr id="15" name="TextBox 14"/>
          <p:cNvSpPr txBox="1"/>
          <p:nvPr/>
        </p:nvSpPr>
        <p:spPr>
          <a:xfrm>
            <a:off x="10522128" y="6022412"/>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34" name="Connector 10">
            <a:extLst>
              <a:ext uri="{FF2B5EF4-FFF2-40B4-BE49-F238E27FC236}">
                <a16:creationId xmlns:a16="http://schemas.microsoft.com/office/drawing/2014/main" id="{99CCF5A1-98A1-0135-E7B2-72EC46D29AB9}"/>
              </a:ext>
            </a:extLst>
          </p:cNvPr>
          <p:cNvCxnSpPr/>
          <p:nvPr/>
        </p:nvCxnSpPr>
        <p:spPr>
          <a:xfrm flipV="1">
            <a:off x="6635928" y="2148840"/>
            <a:ext cx="0" cy="379476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11">
            <a:extLst>
              <a:ext uri="{FF2B5EF4-FFF2-40B4-BE49-F238E27FC236}">
                <a16:creationId xmlns:a16="http://schemas.microsoft.com/office/drawing/2014/main" id="{2B8DA2CC-A963-0AC8-F475-77894DB22FEE}"/>
              </a:ext>
            </a:extLst>
          </p:cNvPr>
          <p:cNvCxnSpPr/>
          <p:nvPr/>
        </p:nvCxnSpPr>
        <p:spPr>
          <a:xfrm>
            <a:off x="6635928" y="5943600"/>
            <a:ext cx="420624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9FD7943D-8B6F-3406-64A8-37DBF6F9680E}"/>
              </a:ext>
            </a:extLst>
          </p:cNvPr>
          <p:cNvSpPr txBox="1"/>
          <p:nvPr/>
        </p:nvSpPr>
        <p:spPr>
          <a:xfrm>
            <a:off x="6315888" y="1783080"/>
            <a:ext cx="1463040" cy="215444"/>
          </a:xfrm>
          <a:prstGeom prst="rect">
            <a:avLst/>
          </a:prstGeom>
          <a:noFill/>
        </p:spPr>
        <p:txBody>
          <a:bodyPr wrap="square" lIns="0" tIns="0" rIns="0" bIns="0" anchor="t">
            <a:spAutoFit/>
          </a:bodyPr>
          <a:lstStyle/>
          <a:p>
            <a:r>
              <a:rPr sz="1400" b="1" i="0" dirty="0">
                <a:solidFill>
                  <a:srgbClr val="0B2B4E"/>
                </a:solidFill>
                <a:latin typeface="Calibri"/>
              </a:rPr>
              <a:t>Price ($)</a:t>
            </a:r>
          </a:p>
        </p:txBody>
      </p:sp>
      <p:cxnSp>
        <p:nvCxnSpPr>
          <p:cNvPr id="37" name="CLK1_D">
            <a:extLst>
              <a:ext uri="{FF2B5EF4-FFF2-40B4-BE49-F238E27FC236}">
                <a16:creationId xmlns:a16="http://schemas.microsoft.com/office/drawing/2014/main" id="{720656D2-3705-A4A9-EE34-329D43C8A1BB}"/>
              </a:ext>
            </a:extLst>
          </p:cNvPr>
          <p:cNvCxnSpPr/>
          <p:nvPr/>
        </p:nvCxnSpPr>
        <p:spPr>
          <a:xfrm>
            <a:off x="6877329" y="2651760"/>
            <a:ext cx="2655418" cy="3072384"/>
          </a:xfrm>
          <a:prstGeom prst="line">
            <a:avLst/>
          </a:prstGeom>
          <a:ln w="4064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17735F35-2148-0871-8B4E-5DC70BAB6FAF}"/>
              </a:ext>
            </a:extLst>
          </p:cNvPr>
          <p:cNvSpPr txBox="1"/>
          <p:nvPr/>
        </p:nvSpPr>
        <p:spPr>
          <a:xfrm>
            <a:off x="9551035" y="5705856"/>
            <a:ext cx="822960" cy="230832"/>
          </a:xfrm>
          <a:prstGeom prst="rect">
            <a:avLst/>
          </a:prstGeom>
          <a:noFill/>
        </p:spPr>
        <p:txBody>
          <a:bodyPr wrap="square" lIns="0" tIns="0" rIns="0" bIns="0" anchor="t">
            <a:spAutoFit/>
          </a:bodyPr>
          <a:lstStyle/>
          <a:p>
            <a:r>
              <a:rPr sz="1500" b="1" i="0" dirty="0">
                <a:solidFill>
                  <a:srgbClr val="E09F3E"/>
                </a:solidFill>
                <a:latin typeface="Calibri"/>
              </a:rPr>
              <a:t>D</a:t>
            </a:r>
            <a:r>
              <a:rPr lang="en-US" sz="1500" b="1" baseline="-25000" dirty="0">
                <a:solidFill>
                  <a:srgbClr val="E09F3E"/>
                </a:solidFill>
                <a:latin typeface="Calibri"/>
              </a:rPr>
              <a:t>0</a:t>
            </a:r>
            <a:endParaRPr sz="1500" b="1" i="0" baseline="-25000" dirty="0">
              <a:solidFill>
                <a:srgbClr val="E09F3E"/>
              </a:solidFill>
              <a:latin typeface="Calibri"/>
            </a:endParaRPr>
          </a:p>
        </p:txBody>
      </p:sp>
      <p:cxnSp>
        <p:nvCxnSpPr>
          <p:cNvPr id="39" name="CLK2_Dp">
            <a:extLst>
              <a:ext uri="{FF2B5EF4-FFF2-40B4-BE49-F238E27FC236}">
                <a16:creationId xmlns:a16="http://schemas.microsoft.com/office/drawing/2014/main" id="{751A8DDE-37DE-F2E4-05CB-9883826264B4}"/>
              </a:ext>
            </a:extLst>
          </p:cNvPr>
          <p:cNvCxnSpPr/>
          <p:nvPr/>
        </p:nvCxnSpPr>
        <p:spPr>
          <a:xfrm>
            <a:off x="7762468" y="2432304"/>
            <a:ext cx="2695652" cy="3145536"/>
          </a:xfrm>
          <a:prstGeom prst="line">
            <a:avLst/>
          </a:prstGeom>
          <a:ln w="38100">
            <a:solidFill>
              <a:srgbClr val="E09F3E"/>
            </a:solidFill>
            <a:prstDash val="dash"/>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E28B41B4-73FF-F72B-D8CC-067C5CDCF5CC}"/>
              </a:ext>
            </a:extLst>
          </p:cNvPr>
          <p:cNvSpPr txBox="1"/>
          <p:nvPr/>
        </p:nvSpPr>
        <p:spPr>
          <a:xfrm>
            <a:off x="10530837" y="5588291"/>
            <a:ext cx="822960" cy="230832"/>
          </a:xfrm>
          <a:prstGeom prst="rect">
            <a:avLst/>
          </a:prstGeom>
          <a:noFill/>
        </p:spPr>
        <p:txBody>
          <a:bodyPr wrap="square" lIns="0" tIns="0" rIns="0" bIns="0" anchor="t">
            <a:spAutoFit/>
          </a:bodyPr>
          <a:lstStyle/>
          <a:p>
            <a:r>
              <a:rPr sz="1500" b="1" i="0" dirty="0">
                <a:solidFill>
                  <a:srgbClr val="E09F3E"/>
                </a:solidFill>
                <a:latin typeface="Calibri"/>
              </a:rPr>
              <a:t>D</a:t>
            </a:r>
            <a:r>
              <a:rPr lang="en-US" sz="1500" b="1" i="0" baseline="-25000" dirty="0">
                <a:solidFill>
                  <a:srgbClr val="E09F3E"/>
                </a:solidFill>
                <a:latin typeface="Calibri"/>
              </a:rPr>
              <a:t>1</a:t>
            </a:r>
            <a:endParaRPr sz="1500" b="1" i="0" baseline="-25000" dirty="0">
              <a:solidFill>
                <a:srgbClr val="E09F3E"/>
              </a:solidFill>
              <a:latin typeface="Calibri"/>
            </a:endParaRPr>
          </a:p>
        </p:txBody>
      </p:sp>
      <p:sp>
        <p:nvSpPr>
          <p:cNvPr id="41" name="Line 17">
            <a:extLst>
              <a:ext uri="{FF2B5EF4-FFF2-40B4-BE49-F238E27FC236}">
                <a16:creationId xmlns:a16="http://schemas.microsoft.com/office/drawing/2014/main" id="{9BE471E2-28F4-33C7-E218-8A3DD92DF8CB}"/>
              </a:ext>
            </a:extLst>
          </p:cNvPr>
          <p:cNvSpPr>
            <a:spLocks noChangeShapeType="1"/>
          </p:cNvSpPr>
          <p:nvPr/>
        </p:nvSpPr>
        <p:spPr bwMode="auto">
          <a:xfrm flipV="1">
            <a:off x="6643375" y="4077729"/>
            <a:ext cx="1455594" cy="3438"/>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2" name="Line 17">
            <a:extLst>
              <a:ext uri="{FF2B5EF4-FFF2-40B4-BE49-F238E27FC236}">
                <a16:creationId xmlns:a16="http://schemas.microsoft.com/office/drawing/2014/main" id="{4D290BFC-5F1D-6EC7-F10A-5041A049C8A1}"/>
              </a:ext>
            </a:extLst>
          </p:cNvPr>
          <p:cNvSpPr>
            <a:spLocks noChangeShapeType="1"/>
          </p:cNvSpPr>
          <p:nvPr/>
        </p:nvSpPr>
        <p:spPr bwMode="auto">
          <a:xfrm flipV="1">
            <a:off x="8098968" y="4077730"/>
            <a:ext cx="0" cy="1865869"/>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3" name="Line 17">
            <a:extLst>
              <a:ext uri="{FF2B5EF4-FFF2-40B4-BE49-F238E27FC236}">
                <a16:creationId xmlns:a16="http://schemas.microsoft.com/office/drawing/2014/main" id="{7F6461BF-1DC4-8524-6923-255317E9ECE3}"/>
              </a:ext>
            </a:extLst>
          </p:cNvPr>
          <p:cNvSpPr>
            <a:spLocks noChangeShapeType="1"/>
          </p:cNvSpPr>
          <p:nvPr/>
        </p:nvSpPr>
        <p:spPr bwMode="auto">
          <a:xfrm flipV="1">
            <a:off x="6657651" y="3461313"/>
            <a:ext cx="1966447" cy="3435"/>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4" name="Line 17">
            <a:extLst>
              <a:ext uri="{FF2B5EF4-FFF2-40B4-BE49-F238E27FC236}">
                <a16:creationId xmlns:a16="http://schemas.microsoft.com/office/drawing/2014/main" id="{564E48C8-D350-923E-175D-8C9541EC9D74}"/>
              </a:ext>
            </a:extLst>
          </p:cNvPr>
          <p:cNvSpPr>
            <a:spLocks noChangeShapeType="1"/>
          </p:cNvSpPr>
          <p:nvPr/>
        </p:nvSpPr>
        <p:spPr bwMode="auto">
          <a:xfrm flipV="1">
            <a:off x="8634984" y="3461312"/>
            <a:ext cx="0" cy="2475375"/>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5" name="Line 20">
            <a:extLst>
              <a:ext uri="{FF2B5EF4-FFF2-40B4-BE49-F238E27FC236}">
                <a16:creationId xmlns:a16="http://schemas.microsoft.com/office/drawing/2014/main" id="{7EBBA436-4572-CAB2-F44E-70B5B3D7C3D3}"/>
              </a:ext>
            </a:extLst>
          </p:cNvPr>
          <p:cNvSpPr>
            <a:spLocks noChangeShapeType="1"/>
          </p:cNvSpPr>
          <p:nvPr/>
        </p:nvSpPr>
        <p:spPr bwMode="auto">
          <a:xfrm flipH="1" flipV="1">
            <a:off x="8228018" y="3850573"/>
            <a:ext cx="542377" cy="0"/>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46" name="TextBox 45">
            <a:extLst>
              <a:ext uri="{FF2B5EF4-FFF2-40B4-BE49-F238E27FC236}">
                <a16:creationId xmlns:a16="http://schemas.microsoft.com/office/drawing/2014/main" id="{4264DEF5-A428-CFE8-D6E8-3C4C25A8A75D}"/>
              </a:ext>
            </a:extLst>
          </p:cNvPr>
          <p:cNvSpPr txBox="1"/>
          <p:nvPr/>
        </p:nvSpPr>
        <p:spPr>
          <a:xfrm>
            <a:off x="6145886" y="3993777"/>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a:t>
            </a:r>
            <a:r>
              <a:rPr lang="en-US" sz="1400" b="1" i="0" baseline="-25000" dirty="0">
                <a:solidFill>
                  <a:srgbClr val="002060"/>
                </a:solidFill>
                <a:latin typeface="Calibri"/>
              </a:rPr>
              <a:t>0</a:t>
            </a:r>
            <a:endParaRPr sz="1400" b="1" i="0" baseline="-25000" dirty="0">
              <a:solidFill>
                <a:srgbClr val="002060"/>
              </a:solidFill>
              <a:latin typeface="Calibri"/>
            </a:endParaRPr>
          </a:p>
        </p:txBody>
      </p:sp>
      <p:sp>
        <p:nvSpPr>
          <p:cNvPr id="47" name="TextBox 46">
            <a:extLst>
              <a:ext uri="{FF2B5EF4-FFF2-40B4-BE49-F238E27FC236}">
                <a16:creationId xmlns:a16="http://schemas.microsoft.com/office/drawing/2014/main" id="{7156A6E4-CE98-2BFB-63C9-6EA1E69FAE41}"/>
              </a:ext>
            </a:extLst>
          </p:cNvPr>
          <p:cNvSpPr txBox="1"/>
          <p:nvPr/>
        </p:nvSpPr>
        <p:spPr>
          <a:xfrm>
            <a:off x="6152487" y="3344565"/>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a:t>
            </a:r>
            <a:r>
              <a:rPr lang="en-US" sz="1400" b="1" baseline="-25000" dirty="0">
                <a:solidFill>
                  <a:srgbClr val="002060"/>
                </a:solidFill>
                <a:latin typeface="Calibri"/>
              </a:rPr>
              <a:t>3</a:t>
            </a:r>
            <a:endParaRPr sz="1400" b="1" i="0" baseline="-25000" dirty="0">
              <a:solidFill>
                <a:srgbClr val="002060"/>
              </a:solidFill>
              <a:latin typeface="Calibri"/>
            </a:endParaRPr>
          </a:p>
        </p:txBody>
      </p:sp>
      <p:sp>
        <p:nvSpPr>
          <p:cNvPr id="48" name="TextBox 47">
            <a:extLst>
              <a:ext uri="{FF2B5EF4-FFF2-40B4-BE49-F238E27FC236}">
                <a16:creationId xmlns:a16="http://schemas.microsoft.com/office/drawing/2014/main" id="{7A9F0CD9-9567-875C-1384-95B9D1198200}"/>
              </a:ext>
            </a:extLst>
          </p:cNvPr>
          <p:cNvSpPr txBox="1"/>
          <p:nvPr/>
        </p:nvSpPr>
        <p:spPr>
          <a:xfrm>
            <a:off x="7836355" y="6022252"/>
            <a:ext cx="365760" cy="215444"/>
          </a:xfrm>
          <a:prstGeom prst="rect">
            <a:avLst/>
          </a:prstGeom>
          <a:noFill/>
        </p:spPr>
        <p:txBody>
          <a:bodyPr wrap="square" lIns="0" tIns="0" rIns="0" bIns="0" anchor="t">
            <a:spAutoFit/>
          </a:bodyPr>
          <a:lstStyle/>
          <a:p>
            <a:pPr algn="r"/>
            <a:r>
              <a:rPr lang="en-US" sz="1400" b="1" dirty="0">
                <a:solidFill>
                  <a:srgbClr val="002060"/>
                </a:solidFill>
                <a:latin typeface="Calibri"/>
              </a:rPr>
              <a:t>Q</a:t>
            </a:r>
            <a:r>
              <a:rPr lang="en-US" sz="1400" b="1" baseline="-25000" dirty="0">
                <a:solidFill>
                  <a:srgbClr val="002060"/>
                </a:solidFill>
                <a:latin typeface="Calibri"/>
              </a:rPr>
              <a:t>0</a:t>
            </a:r>
            <a:endParaRPr sz="1400" b="1" i="0" baseline="-25000" dirty="0">
              <a:solidFill>
                <a:srgbClr val="002060"/>
              </a:solidFill>
              <a:latin typeface="Calibri"/>
            </a:endParaRPr>
          </a:p>
        </p:txBody>
      </p:sp>
      <p:sp>
        <p:nvSpPr>
          <p:cNvPr id="49" name="TextBox 48">
            <a:extLst>
              <a:ext uri="{FF2B5EF4-FFF2-40B4-BE49-F238E27FC236}">
                <a16:creationId xmlns:a16="http://schemas.microsoft.com/office/drawing/2014/main" id="{CDF1EA2E-DB9B-6838-5391-B9A2A17375D7}"/>
              </a:ext>
            </a:extLst>
          </p:cNvPr>
          <p:cNvSpPr txBox="1"/>
          <p:nvPr/>
        </p:nvSpPr>
        <p:spPr>
          <a:xfrm>
            <a:off x="8365949" y="6008483"/>
            <a:ext cx="365760" cy="215444"/>
          </a:xfrm>
          <a:prstGeom prst="rect">
            <a:avLst/>
          </a:prstGeom>
          <a:noFill/>
        </p:spPr>
        <p:txBody>
          <a:bodyPr wrap="square" lIns="0" tIns="0" rIns="0" bIns="0" anchor="t">
            <a:spAutoFit/>
          </a:bodyPr>
          <a:lstStyle/>
          <a:p>
            <a:pPr algn="r"/>
            <a:r>
              <a:rPr lang="en-US" sz="1400" b="1" dirty="0">
                <a:solidFill>
                  <a:srgbClr val="002060"/>
                </a:solidFill>
                <a:latin typeface="Calibri"/>
              </a:rPr>
              <a:t>Q</a:t>
            </a:r>
            <a:r>
              <a:rPr lang="en-US" sz="1400" b="1" baseline="-25000" dirty="0">
                <a:solidFill>
                  <a:srgbClr val="002060"/>
                </a:solidFill>
                <a:latin typeface="Calibri"/>
              </a:rPr>
              <a:t>3</a:t>
            </a:r>
            <a:endParaRPr sz="1400" b="1" i="0" baseline="-25000" dirty="0">
              <a:solidFill>
                <a:srgbClr val="002060"/>
              </a:solidFill>
              <a:latin typeface="Calibri"/>
            </a:endParaRPr>
          </a:p>
        </p:txBody>
      </p:sp>
      <p:cxnSp>
        <p:nvCxnSpPr>
          <p:cNvPr id="51" name="Connector 14">
            <a:extLst>
              <a:ext uri="{FF2B5EF4-FFF2-40B4-BE49-F238E27FC236}">
                <a16:creationId xmlns:a16="http://schemas.microsoft.com/office/drawing/2014/main" id="{6948C7B3-A594-5C8F-D6E5-C819D424DF99}"/>
              </a:ext>
            </a:extLst>
          </p:cNvPr>
          <p:cNvCxnSpPr/>
          <p:nvPr/>
        </p:nvCxnSpPr>
        <p:spPr>
          <a:xfrm flipV="1">
            <a:off x="6760285" y="2101378"/>
            <a:ext cx="3149194" cy="3418027"/>
          </a:xfrm>
          <a:prstGeom prst="line">
            <a:avLst/>
          </a:prstGeom>
          <a:ln w="38100">
            <a:solidFill>
              <a:srgbClr val="4E79B5"/>
            </a:solidFill>
          </a:ln>
          <a:effectLst/>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D49DEE26-9605-B23F-0BAD-911AA8981026}"/>
              </a:ext>
            </a:extLst>
          </p:cNvPr>
          <p:cNvSpPr txBox="1"/>
          <p:nvPr/>
        </p:nvSpPr>
        <p:spPr>
          <a:xfrm>
            <a:off x="10011370" y="1974233"/>
            <a:ext cx="822960" cy="274320"/>
          </a:xfrm>
          <a:prstGeom prst="rect">
            <a:avLst/>
          </a:prstGeom>
          <a:noFill/>
        </p:spPr>
        <p:txBody>
          <a:bodyPr wrap="square" lIns="0" tIns="0" rIns="0" bIns="0" anchor="t">
            <a:spAutoFit/>
          </a:bodyPr>
          <a:lstStyle/>
          <a:p>
            <a:r>
              <a:rPr sz="1500" b="1" i="0" dirty="0">
                <a:solidFill>
                  <a:srgbClr val="4E79B5"/>
                </a:solidFill>
                <a:latin typeface="Calibri"/>
              </a:rPr>
              <a:t>S</a:t>
            </a:r>
          </a:p>
        </p:txBody>
      </p:sp>
      <p:sp>
        <p:nvSpPr>
          <p:cNvPr id="25" name="CLK3_arrow_lbl"/>
          <p:cNvSpPr txBox="1"/>
          <p:nvPr/>
        </p:nvSpPr>
        <p:spPr>
          <a:xfrm>
            <a:off x="7816810" y="3510086"/>
            <a:ext cx="2194560" cy="200055"/>
          </a:xfrm>
          <a:prstGeom prst="rect">
            <a:avLst/>
          </a:prstGeom>
          <a:noFill/>
        </p:spPr>
        <p:txBody>
          <a:bodyPr wrap="square" lIns="0" tIns="0" rIns="0" bIns="0" anchor="t">
            <a:spAutoFit/>
          </a:bodyPr>
          <a:lstStyle/>
          <a:p>
            <a:r>
              <a:rPr sz="1300" b="1" i="1" dirty="0">
                <a:solidFill>
                  <a:srgbClr val="C00000"/>
                </a:solidFill>
                <a:latin typeface="Calibri"/>
              </a:rPr>
              <a:t>Tomatoes cure cancer</a:t>
            </a:r>
          </a:p>
        </p:txBody>
      </p:sp>
      <p:sp>
        <p:nvSpPr>
          <p:cNvPr id="53" name="Line 20">
            <a:extLst>
              <a:ext uri="{FF2B5EF4-FFF2-40B4-BE49-F238E27FC236}">
                <a16:creationId xmlns:a16="http://schemas.microsoft.com/office/drawing/2014/main" id="{114BC354-A0D2-5E21-A7C3-00BD27DEE056}"/>
              </a:ext>
            </a:extLst>
          </p:cNvPr>
          <p:cNvSpPr>
            <a:spLocks noChangeShapeType="1"/>
          </p:cNvSpPr>
          <p:nvPr/>
        </p:nvSpPr>
        <p:spPr bwMode="auto">
          <a:xfrm flipH="1" flipV="1">
            <a:off x="8228017" y="6125686"/>
            <a:ext cx="273725" cy="1"/>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54" name="Line 20">
            <a:extLst>
              <a:ext uri="{FF2B5EF4-FFF2-40B4-BE49-F238E27FC236}">
                <a16:creationId xmlns:a16="http://schemas.microsoft.com/office/drawing/2014/main" id="{75AD6FB6-5F32-D2EC-8CC8-0D079775B1C9}"/>
              </a:ext>
            </a:extLst>
          </p:cNvPr>
          <p:cNvSpPr>
            <a:spLocks noChangeShapeType="1"/>
          </p:cNvSpPr>
          <p:nvPr/>
        </p:nvSpPr>
        <p:spPr bwMode="auto">
          <a:xfrm flipH="1">
            <a:off x="6420730" y="3673526"/>
            <a:ext cx="0" cy="243533"/>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54"/>
                                        </p:tgtEl>
                                        <p:attrNameLst>
                                          <p:attrName>style.visibility</p:attrName>
                                        </p:attrNameLst>
                                      </p:cBhvr>
                                      <p:to>
                                        <p:strVal val="visible"/>
                                      </p:to>
                                    </p:set>
                                  </p:childTnLst>
                                </p:cTn>
                              </p:par>
                              <p:par>
                                <p:cTn id="51" presetID="1" presetClass="entr" presetSubtype="0" fill="hold" grpId="1"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1" grpId="0" animBg="1"/>
      <p:bldP spid="42" grpId="0" animBg="1"/>
      <p:bldP spid="43" grpId="0" animBg="1"/>
      <p:bldP spid="44" grpId="0" animBg="1"/>
      <p:bldP spid="45" grpId="0" animBg="1"/>
      <p:bldP spid="46" grpId="0"/>
      <p:bldP spid="47" grpId="0"/>
      <p:bldP spid="48" grpId="0"/>
      <p:bldP spid="49" grpId="0"/>
      <p:bldP spid="52" grpId="0"/>
      <p:bldP spid="25" grpId="0"/>
      <p:bldP spid="53" grpId="0" animBg="1"/>
      <p:bldP spid="53" grpId="1" animBg="1"/>
      <p:bldP spid="54" grpId="0" animBg="1"/>
      <p:bldP spid="54" grpId="1"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Changes in </a:t>
            </a:r>
            <a:r>
              <a:rPr lang="en-US" sz="3000" b="1" i="0" dirty="0">
                <a:solidFill>
                  <a:srgbClr val="0B2B4E"/>
                </a:solidFill>
                <a:latin typeface="Calibri"/>
              </a:rPr>
              <a:t>M</a:t>
            </a:r>
            <a:r>
              <a:rPr sz="3000" b="1" i="0" dirty="0">
                <a:solidFill>
                  <a:srgbClr val="0B2B4E"/>
                </a:solidFill>
                <a:latin typeface="Calibri"/>
              </a:rPr>
              <a:t>arket </a:t>
            </a:r>
            <a:r>
              <a:rPr lang="en-US" sz="3000" b="1" dirty="0">
                <a:solidFill>
                  <a:srgbClr val="0B2B4E"/>
                </a:solidFill>
                <a:latin typeface="Calibri"/>
              </a:rPr>
              <a:t>E</a:t>
            </a:r>
            <a:r>
              <a:rPr sz="3000" b="1" i="0" dirty="0">
                <a:solidFill>
                  <a:srgbClr val="0B2B4E"/>
                </a:solidFill>
                <a:latin typeface="Calibri"/>
              </a:rPr>
              <a:t>quilibrium</a:t>
            </a:r>
            <a:r>
              <a:rPr lang="en-US" sz="3000" b="1" i="0" dirty="0">
                <a:solidFill>
                  <a:srgbClr val="0B2B4E"/>
                </a:solidFill>
                <a:latin typeface="Calibri"/>
              </a:rPr>
              <a:t>: Shift in Supply</a:t>
            </a:r>
            <a:endParaRPr sz="3000" b="1" i="0" dirty="0">
              <a:solidFill>
                <a:srgbClr val="0B2B4E"/>
              </a:solidFill>
              <a:latin typeface="Calibri"/>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55</a:t>
            </a:r>
          </a:p>
        </p:txBody>
      </p:sp>
      <p:sp>
        <p:nvSpPr>
          <p:cNvPr id="11" name="TextBox 10"/>
          <p:cNvSpPr txBox="1"/>
          <p:nvPr/>
        </p:nvSpPr>
        <p:spPr>
          <a:xfrm>
            <a:off x="365760" y="1828800"/>
            <a:ext cx="2834640" cy="4206240"/>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1900" b="0" i="0">
                <a:solidFill>
                  <a:srgbClr val="0B2B4E"/>
                </a:solidFill>
                <a:latin typeface="Calibri"/>
              </a:rPr>
              <a:t>When the supply curve shifts to the right, the market clears at a lower price P₄ and a larger quantity Q₄</a:t>
            </a:r>
          </a:p>
        </p:txBody>
      </p:sp>
      <p:cxnSp>
        <p:nvCxnSpPr>
          <p:cNvPr id="32" name="Connector 10">
            <a:extLst>
              <a:ext uri="{FF2B5EF4-FFF2-40B4-BE49-F238E27FC236}">
                <a16:creationId xmlns:a16="http://schemas.microsoft.com/office/drawing/2014/main" id="{EACF340E-4FD1-AAF5-2AE3-109BEB2771E5}"/>
              </a:ext>
            </a:extLst>
          </p:cNvPr>
          <p:cNvCxnSpPr/>
          <p:nvPr/>
        </p:nvCxnSpPr>
        <p:spPr>
          <a:xfrm flipV="1">
            <a:off x="6385558" y="2148840"/>
            <a:ext cx="0" cy="379476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11">
            <a:extLst>
              <a:ext uri="{FF2B5EF4-FFF2-40B4-BE49-F238E27FC236}">
                <a16:creationId xmlns:a16="http://schemas.microsoft.com/office/drawing/2014/main" id="{31411A92-136D-BEEC-E6EB-AFB63E0F23BE}"/>
              </a:ext>
            </a:extLst>
          </p:cNvPr>
          <p:cNvCxnSpPr/>
          <p:nvPr/>
        </p:nvCxnSpPr>
        <p:spPr>
          <a:xfrm>
            <a:off x="6385558" y="5943600"/>
            <a:ext cx="420624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0E27C4C-D2D1-3244-96C8-EAE1FBD18ED0}"/>
              </a:ext>
            </a:extLst>
          </p:cNvPr>
          <p:cNvSpPr txBox="1"/>
          <p:nvPr/>
        </p:nvSpPr>
        <p:spPr>
          <a:xfrm>
            <a:off x="6065518" y="1783080"/>
            <a:ext cx="1463040" cy="215444"/>
          </a:xfrm>
          <a:prstGeom prst="rect">
            <a:avLst/>
          </a:prstGeom>
          <a:noFill/>
        </p:spPr>
        <p:txBody>
          <a:bodyPr wrap="square" lIns="0" tIns="0" rIns="0" bIns="0" anchor="t">
            <a:spAutoFit/>
          </a:bodyPr>
          <a:lstStyle/>
          <a:p>
            <a:r>
              <a:rPr sz="1400" b="1" i="0" dirty="0">
                <a:solidFill>
                  <a:srgbClr val="0B2B4E"/>
                </a:solidFill>
                <a:latin typeface="Calibri"/>
              </a:rPr>
              <a:t>Price ($)</a:t>
            </a:r>
          </a:p>
        </p:txBody>
      </p:sp>
      <p:cxnSp>
        <p:nvCxnSpPr>
          <p:cNvPr id="35" name="CLK1_S">
            <a:extLst>
              <a:ext uri="{FF2B5EF4-FFF2-40B4-BE49-F238E27FC236}">
                <a16:creationId xmlns:a16="http://schemas.microsoft.com/office/drawing/2014/main" id="{65FE4375-CB92-07D2-2B59-D605C67DB280}"/>
              </a:ext>
            </a:extLst>
          </p:cNvPr>
          <p:cNvCxnSpPr/>
          <p:nvPr/>
        </p:nvCxnSpPr>
        <p:spPr>
          <a:xfrm flipV="1">
            <a:off x="6787894" y="2651760"/>
            <a:ext cx="2494483" cy="3072384"/>
          </a:xfrm>
          <a:prstGeom prst="line">
            <a:avLst/>
          </a:prstGeom>
          <a:ln w="40640">
            <a:solidFill>
              <a:srgbClr val="4E79B5"/>
            </a:solidFill>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C391F2C7-FF56-10C1-1203-4E13965020D3}"/>
              </a:ext>
            </a:extLst>
          </p:cNvPr>
          <p:cNvSpPr txBox="1"/>
          <p:nvPr/>
        </p:nvSpPr>
        <p:spPr>
          <a:xfrm>
            <a:off x="9356324" y="2542431"/>
            <a:ext cx="822960" cy="230832"/>
          </a:xfrm>
          <a:prstGeom prst="rect">
            <a:avLst/>
          </a:prstGeom>
          <a:noFill/>
        </p:spPr>
        <p:txBody>
          <a:bodyPr wrap="square" lIns="0" tIns="0" rIns="0" bIns="0" anchor="t">
            <a:spAutoFit/>
          </a:bodyPr>
          <a:lstStyle/>
          <a:p>
            <a:r>
              <a:rPr sz="1500" b="1" i="0" dirty="0">
                <a:solidFill>
                  <a:srgbClr val="4E79B5"/>
                </a:solidFill>
                <a:latin typeface="Calibri"/>
              </a:rPr>
              <a:t>S</a:t>
            </a:r>
            <a:r>
              <a:rPr lang="en-US" sz="1500" b="1" baseline="-25000" dirty="0">
                <a:solidFill>
                  <a:srgbClr val="4E79B5"/>
                </a:solidFill>
                <a:latin typeface="Calibri"/>
              </a:rPr>
              <a:t>0</a:t>
            </a:r>
            <a:endParaRPr sz="1500" b="1" i="0" baseline="-25000" dirty="0">
              <a:solidFill>
                <a:srgbClr val="4E79B5"/>
              </a:solidFill>
              <a:latin typeface="Calibri"/>
            </a:endParaRPr>
          </a:p>
        </p:txBody>
      </p:sp>
      <p:cxnSp>
        <p:nvCxnSpPr>
          <p:cNvPr id="37" name="CLK2_Sp">
            <a:extLst>
              <a:ext uri="{FF2B5EF4-FFF2-40B4-BE49-F238E27FC236}">
                <a16:creationId xmlns:a16="http://schemas.microsoft.com/office/drawing/2014/main" id="{FD7A0228-EE31-87D5-808B-06CEEC1060FB}"/>
              </a:ext>
            </a:extLst>
          </p:cNvPr>
          <p:cNvCxnSpPr/>
          <p:nvPr/>
        </p:nvCxnSpPr>
        <p:spPr>
          <a:xfrm flipV="1">
            <a:off x="7673033" y="2798064"/>
            <a:ext cx="2534717" cy="2926080"/>
          </a:xfrm>
          <a:prstGeom prst="line">
            <a:avLst/>
          </a:prstGeom>
          <a:ln w="38100">
            <a:solidFill>
              <a:srgbClr val="4E79B5"/>
            </a:solidFill>
            <a:prstDash val="dash"/>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B26E4FBC-A850-82D4-6553-4F79F191E7E6}"/>
              </a:ext>
            </a:extLst>
          </p:cNvPr>
          <p:cNvSpPr txBox="1"/>
          <p:nvPr/>
        </p:nvSpPr>
        <p:spPr>
          <a:xfrm>
            <a:off x="10281696" y="2712588"/>
            <a:ext cx="822960" cy="230832"/>
          </a:xfrm>
          <a:prstGeom prst="rect">
            <a:avLst/>
          </a:prstGeom>
          <a:noFill/>
        </p:spPr>
        <p:txBody>
          <a:bodyPr wrap="square" lIns="0" tIns="0" rIns="0" bIns="0" anchor="t">
            <a:spAutoFit/>
          </a:bodyPr>
          <a:lstStyle/>
          <a:p>
            <a:r>
              <a:rPr sz="1500" b="1" i="0" dirty="0">
                <a:solidFill>
                  <a:srgbClr val="4E79B5"/>
                </a:solidFill>
                <a:latin typeface="Calibri"/>
              </a:rPr>
              <a:t>S</a:t>
            </a:r>
            <a:r>
              <a:rPr lang="en-US" sz="1500" b="1" baseline="-25000" dirty="0">
                <a:solidFill>
                  <a:srgbClr val="4E79B5"/>
                </a:solidFill>
                <a:latin typeface="Calibri"/>
              </a:rPr>
              <a:t>1</a:t>
            </a:r>
            <a:endParaRPr sz="1500" b="1" i="0" baseline="-25000" dirty="0">
              <a:solidFill>
                <a:srgbClr val="4E79B5"/>
              </a:solidFill>
              <a:latin typeface="Calibri"/>
            </a:endParaRPr>
          </a:p>
        </p:txBody>
      </p:sp>
      <p:sp>
        <p:nvSpPr>
          <p:cNvPr id="39" name="Line 20">
            <a:extLst>
              <a:ext uri="{FF2B5EF4-FFF2-40B4-BE49-F238E27FC236}">
                <a16:creationId xmlns:a16="http://schemas.microsoft.com/office/drawing/2014/main" id="{CF8CF20A-BF64-C969-DFE6-C823FF4AF7B8}"/>
              </a:ext>
            </a:extLst>
          </p:cNvPr>
          <p:cNvSpPr>
            <a:spLocks noChangeShapeType="1"/>
          </p:cNvSpPr>
          <p:nvPr/>
        </p:nvSpPr>
        <p:spPr bwMode="auto">
          <a:xfrm flipH="1" flipV="1">
            <a:off x="8347288" y="4072575"/>
            <a:ext cx="542377" cy="0"/>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40" name="Line 17">
            <a:extLst>
              <a:ext uri="{FF2B5EF4-FFF2-40B4-BE49-F238E27FC236}">
                <a16:creationId xmlns:a16="http://schemas.microsoft.com/office/drawing/2014/main" id="{05E3B73B-431D-5170-88AA-4B7A269C8302}"/>
              </a:ext>
            </a:extLst>
          </p:cNvPr>
          <p:cNvSpPr>
            <a:spLocks noChangeShapeType="1"/>
          </p:cNvSpPr>
          <p:nvPr/>
        </p:nvSpPr>
        <p:spPr bwMode="auto">
          <a:xfrm flipV="1">
            <a:off x="7975282" y="4193363"/>
            <a:ext cx="6962" cy="1746319"/>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41" name="Line 17">
            <a:extLst>
              <a:ext uri="{FF2B5EF4-FFF2-40B4-BE49-F238E27FC236}">
                <a16:creationId xmlns:a16="http://schemas.microsoft.com/office/drawing/2014/main" id="{6915490E-F815-6717-D3D6-28890532CB8F}"/>
              </a:ext>
            </a:extLst>
          </p:cNvPr>
          <p:cNvSpPr>
            <a:spLocks noChangeShapeType="1"/>
          </p:cNvSpPr>
          <p:nvPr/>
        </p:nvSpPr>
        <p:spPr bwMode="auto">
          <a:xfrm flipV="1">
            <a:off x="6385558" y="4789566"/>
            <a:ext cx="2104579" cy="165"/>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42" name="Line 17">
            <a:extLst>
              <a:ext uri="{FF2B5EF4-FFF2-40B4-BE49-F238E27FC236}">
                <a16:creationId xmlns:a16="http://schemas.microsoft.com/office/drawing/2014/main" id="{3DABD65B-B848-58E1-6F9F-D30831D3D293}"/>
              </a:ext>
            </a:extLst>
          </p:cNvPr>
          <p:cNvSpPr>
            <a:spLocks noChangeShapeType="1"/>
          </p:cNvSpPr>
          <p:nvPr/>
        </p:nvSpPr>
        <p:spPr bwMode="auto">
          <a:xfrm>
            <a:off x="6385559" y="4215743"/>
            <a:ext cx="1596685" cy="6897"/>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43" name="Line 17">
            <a:extLst>
              <a:ext uri="{FF2B5EF4-FFF2-40B4-BE49-F238E27FC236}">
                <a16:creationId xmlns:a16="http://schemas.microsoft.com/office/drawing/2014/main" id="{E27C3BD2-56EE-5939-FA48-7C0C730DEC7D}"/>
              </a:ext>
            </a:extLst>
          </p:cNvPr>
          <p:cNvSpPr>
            <a:spLocks noChangeShapeType="1"/>
          </p:cNvSpPr>
          <p:nvPr/>
        </p:nvSpPr>
        <p:spPr bwMode="auto">
          <a:xfrm flipV="1">
            <a:off x="8483176" y="4789731"/>
            <a:ext cx="6962" cy="1132827"/>
          </a:xfrm>
          <a:prstGeom prst="line">
            <a:avLst/>
          </a:prstGeom>
          <a:noFill/>
          <a:ln w="254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44" name="TextBox 43">
            <a:extLst>
              <a:ext uri="{FF2B5EF4-FFF2-40B4-BE49-F238E27FC236}">
                <a16:creationId xmlns:a16="http://schemas.microsoft.com/office/drawing/2014/main" id="{B6DFFC68-4E2B-5078-B3F9-D327831391EB}"/>
              </a:ext>
            </a:extLst>
          </p:cNvPr>
          <p:cNvSpPr txBox="1"/>
          <p:nvPr/>
        </p:nvSpPr>
        <p:spPr>
          <a:xfrm>
            <a:off x="5902117" y="4129615"/>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a:t>
            </a:r>
            <a:r>
              <a:rPr lang="en-US" sz="1400" b="1" i="0" baseline="-25000" dirty="0">
                <a:solidFill>
                  <a:srgbClr val="002060"/>
                </a:solidFill>
                <a:latin typeface="Calibri"/>
              </a:rPr>
              <a:t>0</a:t>
            </a:r>
            <a:endParaRPr sz="1400" b="1" i="0" baseline="-25000" dirty="0">
              <a:solidFill>
                <a:srgbClr val="002060"/>
              </a:solidFill>
              <a:latin typeface="Calibri"/>
            </a:endParaRPr>
          </a:p>
        </p:txBody>
      </p:sp>
      <p:sp>
        <p:nvSpPr>
          <p:cNvPr id="45" name="TextBox 44">
            <a:extLst>
              <a:ext uri="{FF2B5EF4-FFF2-40B4-BE49-F238E27FC236}">
                <a16:creationId xmlns:a16="http://schemas.microsoft.com/office/drawing/2014/main" id="{DDCBD710-2977-09CF-80C8-9B97D0BF9F08}"/>
              </a:ext>
            </a:extLst>
          </p:cNvPr>
          <p:cNvSpPr txBox="1"/>
          <p:nvPr/>
        </p:nvSpPr>
        <p:spPr>
          <a:xfrm>
            <a:off x="5903166" y="4658884"/>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a:t>
            </a:r>
            <a:r>
              <a:rPr lang="en-US" sz="1400" b="1" i="0" baseline="-25000" dirty="0">
                <a:solidFill>
                  <a:srgbClr val="002060"/>
                </a:solidFill>
                <a:latin typeface="Calibri"/>
              </a:rPr>
              <a:t>4</a:t>
            </a:r>
            <a:endParaRPr sz="1400" b="1" i="0" baseline="-25000" dirty="0">
              <a:solidFill>
                <a:srgbClr val="002060"/>
              </a:solidFill>
              <a:latin typeface="Calibri"/>
            </a:endParaRPr>
          </a:p>
        </p:txBody>
      </p:sp>
      <p:sp>
        <p:nvSpPr>
          <p:cNvPr id="46" name="TextBox 45">
            <a:extLst>
              <a:ext uri="{FF2B5EF4-FFF2-40B4-BE49-F238E27FC236}">
                <a16:creationId xmlns:a16="http://schemas.microsoft.com/office/drawing/2014/main" id="{CB7E38E6-6663-6578-94A3-2F4B3DEDE601}"/>
              </a:ext>
            </a:extLst>
          </p:cNvPr>
          <p:cNvSpPr txBox="1"/>
          <p:nvPr/>
        </p:nvSpPr>
        <p:spPr>
          <a:xfrm>
            <a:off x="7750081" y="6012726"/>
            <a:ext cx="365760" cy="215444"/>
          </a:xfrm>
          <a:prstGeom prst="rect">
            <a:avLst/>
          </a:prstGeom>
          <a:noFill/>
        </p:spPr>
        <p:txBody>
          <a:bodyPr wrap="square" lIns="0" tIns="0" rIns="0" bIns="0" anchor="t">
            <a:spAutoFit/>
          </a:bodyPr>
          <a:lstStyle/>
          <a:p>
            <a:pPr algn="r"/>
            <a:r>
              <a:rPr lang="en-US" sz="1400" b="1" dirty="0">
                <a:solidFill>
                  <a:srgbClr val="002060"/>
                </a:solidFill>
                <a:latin typeface="Calibri"/>
              </a:rPr>
              <a:t>Q</a:t>
            </a:r>
            <a:r>
              <a:rPr lang="en-US" sz="1400" b="1" baseline="-25000" dirty="0">
                <a:solidFill>
                  <a:srgbClr val="002060"/>
                </a:solidFill>
                <a:latin typeface="Calibri"/>
              </a:rPr>
              <a:t>0</a:t>
            </a:r>
            <a:endParaRPr sz="1400" b="1" i="0" baseline="-25000" dirty="0">
              <a:solidFill>
                <a:srgbClr val="002060"/>
              </a:solidFill>
              <a:latin typeface="Calibri"/>
            </a:endParaRPr>
          </a:p>
        </p:txBody>
      </p:sp>
      <p:sp>
        <p:nvSpPr>
          <p:cNvPr id="47" name="TextBox 46">
            <a:extLst>
              <a:ext uri="{FF2B5EF4-FFF2-40B4-BE49-F238E27FC236}">
                <a16:creationId xmlns:a16="http://schemas.microsoft.com/office/drawing/2014/main" id="{A99FD5B8-940D-E5C9-0336-0EB6E6266204}"/>
              </a:ext>
            </a:extLst>
          </p:cNvPr>
          <p:cNvSpPr txBox="1"/>
          <p:nvPr/>
        </p:nvSpPr>
        <p:spPr>
          <a:xfrm>
            <a:off x="8232162" y="6006502"/>
            <a:ext cx="365760" cy="215444"/>
          </a:xfrm>
          <a:prstGeom prst="rect">
            <a:avLst/>
          </a:prstGeom>
          <a:noFill/>
        </p:spPr>
        <p:txBody>
          <a:bodyPr wrap="square" lIns="0" tIns="0" rIns="0" bIns="0" anchor="t">
            <a:spAutoFit/>
          </a:bodyPr>
          <a:lstStyle/>
          <a:p>
            <a:pPr algn="r"/>
            <a:r>
              <a:rPr lang="en-US" sz="1400" b="1" dirty="0">
                <a:solidFill>
                  <a:srgbClr val="002060"/>
                </a:solidFill>
                <a:latin typeface="Calibri"/>
              </a:rPr>
              <a:t>Q</a:t>
            </a:r>
            <a:r>
              <a:rPr lang="en-US" sz="1400" b="1" baseline="-25000" dirty="0">
                <a:solidFill>
                  <a:srgbClr val="002060"/>
                </a:solidFill>
                <a:latin typeface="Calibri"/>
              </a:rPr>
              <a:t>4</a:t>
            </a:r>
            <a:endParaRPr sz="1400" b="1" i="0" baseline="-25000" dirty="0">
              <a:solidFill>
                <a:srgbClr val="002060"/>
              </a:solidFill>
              <a:latin typeface="Calibri"/>
            </a:endParaRPr>
          </a:p>
        </p:txBody>
      </p:sp>
      <p:sp>
        <p:nvSpPr>
          <p:cNvPr id="49" name="TextBox 48">
            <a:extLst>
              <a:ext uri="{FF2B5EF4-FFF2-40B4-BE49-F238E27FC236}">
                <a16:creationId xmlns:a16="http://schemas.microsoft.com/office/drawing/2014/main" id="{538AB350-FA15-7CEE-AA26-31F2B6E640A3}"/>
              </a:ext>
            </a:extLst>
          </p:cNvPr>
          <p:cNvSpPr txBox="1"/>
          <p:nvPr/>
        </p:nvSpPr>
        <p:spPr>
          <a:xfrm>
            <a:off x="10180318" y="5998464"/>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50" name="CLK1_D">
            <a:extLst>
              <a:ext uri="{FF2B5EF4-FFF2-40B4-BE49-F238E27FC236}">
                <a16:creationId xmlns:a16="http://schemas.microsoft.com/office/drawing/2014/main" id="{68150433-A25A-0654-0974-2A4E6579291D}"/>
              </a:ext>
            </a:extLst>
          </p:cNvPr>
          <p:cNvCxnSpPr/>
          <p:nvPr/>
        </p:nvCxnSpPr>
        <p:spPr>
          <a:xfrm>
            <a:off x="6572531" y="2586444"/>
            <a:ext cx="2655418" cy="3072384"/>
          </a:xfrm>
          <a:prstGeom prst="line">
            <a:avLst/>
          </a:prstGeom>
          <a:ln w="4064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BDBEF7B5-CED8-F42B-0631-C824080A20B6}"/>
              </a:ext>
            </a:extLst>
          </p:cNvPr>
          <p:cNvSpPr txBox="1"/>
          <p:nvPr/>
        </p:nvSpPr>
        <p:spPr>
          <a:xfrm>
            <a:off x="9246237" y="5640540"/>
            <a:ext cx="822960" cy="230832"/>
          </a:xfrm>
          <a:prstGeom prst="rect">
            <a:avLst/>
          </a:prstGeom>
          <a:noFill/>
        </p:spPr>
        <p:txBody>
          <a:bodyPr wrap="square" lIns="0" tIns="0" rIns="0" bIns="0" anchor="t">
            <a:spAutoFit/>
          </a:bodyPr>
          <a:lstStyle/>
          <a:p>
            <a:r>
              <a:rPr sz="1500" b="1" i="0" dirty="0">
                <a:solidFill>
                  <a:srgbClr val="E09F3E"/>
                </a:solidFill>
                <a:latin typeface="Calibri"/>
              </a:rPr>
              <a:t>D</a:t>
            </a:r>
            <a:r>
              <a:rPr lang="en-US" sz="1500" b="1" baseline="-25000" dirty="0">
                <a:solidFill>
                  <a:srgbClr val="E09F3E"/>
                </a:solidFill>
                <a:latin typeface="Calibri"/>
              </a:rPr>
              <a:t>0</a:t>
            </a:r>
            <a:endParaRPr sz="1500" b="1" i="0" baseline="-25000" dirty="0">
              <a:solidFill>
                <a:srgbClr val="E09F3E"/>
              </a:solidFill>
              <a:latin typeface="Calibri"/>
            </a:endParaRPr>
          </a:p>
        </p:txBody>
      </p:sp>
      <p:sp>
        <p:nvSpPr>
          <p:cNvPr id="25" name="CLK3_lbl"/>
          <p:cNvSpPr txBox="1"/>
          <p:nvPr/>
        </p:nvSpPr>
        <p:spPr>
          <a:xfrm>
            <a:off x="8086342" y="3760793"/>
            <a:ext cx="2011680" cy="200055"/>
          </a:xfrm>
          <a:prstGeom prst="rect">
            <a:avLst/>
          </a:prstGeom>
          <a:noFill/>
        </p:spPr>
        <p:txBody>
          <a:bodyPr wrap="square" lIns="0" tIns="0" rIns="0" bIns="0" anchor="t">
            <a:spAutoFit/>
          </a:bodyPr>
          <a:lstStyle/>
          <a:p>
            <a:r>
              <a:rPr sz="1300" b="1" i="1" dirty="0">
                <a:solidFill>
                  <a:srgbClr val="C00000"/>
                </a:solidFill>
                <a:latin typeface="Calibri"/>
              </a:rPr>
              <a:t>Faster harvester</a:t>
            </a:r>
          </a:p>
        </p:txBody>
      </p:sp>
      <p:sp>
        <p:nvSpPr>
          <p:cNvPr id="52" name="Line 20">
            <a:extLst>
              <a:ext uri="{FF2B5EF4-FFF2-40B4-BE49-F238E27FC236}">
                <a16:creationId xmlns:a16="http://schemas.microsoft.com/office/drawing/2014/main" id="{927BFFEA-4AFD-0478-0CB6-9B59FAE4449B}"/>
              </a:ext>
            </a:extLst>
          </p:cNvPr>
          <p:cNvSpPr>
            <a:spLocks noChangeShapeType="1"/>
          </p:cNvSpPr>
          <p:nvPr/>
        </p:nvSpPr>
        <p:spPr bwMode="auto">
          <a:xfrm flipH="1" flipV="1">
            <a:off x="8130043" y="6125686"/>
            <a:ext cx="273725" cy="1"/>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53" name="Line 20">
            <a:extLst>
              <a:ext uri="{FF2B5EF4-FFF2-40B4-BE49-F238E27FC236}">
                <a16:creationId xmlns:a16="http://schemas.microsoft.com/office/drawing/2014/main" id="{EFC3E5BE-18F2-8F1A-03F8-7550848F5012}"/>
              </a:ext>
            </a:extLst>
          </p:cNvPr>
          <p:cNvSpPr>
            <a:spLocks noChangeShapeType="1"/>
          </p:cNvSpPr>
          <p:nvPr/>
        </p:nvSpPr>
        <p:spPr bwMode="auto">
          <a:xfrm flipH="1" flipV="1">
            <a:off x="6170359" y="4392650"/>
            <a:ext cx="0" cy="291257"/>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2" nodeType="click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8" grpId="0"/>
      <p:bldP spid="39" grpId="0" animBg="1"/>
      <p:bldP spid="40" grpId="0" animBg="1"/>
      <p:bldP spid="41" grpId="0" animBg="1"/>
      <p:bldP spid="42" grpId="0" animBg="1"/>
      <p:bldP spid="43" grpId="0" animBg="1"/>
      <p:bldP spid="44" grpId="0"/>
      <p:bldP spid="45" grpId="0"/>
      <p:bldP spid="46" grpId="0"/>
      <p:bldP spid="47" grpId="0"/>
      <p:bldP spid="51" grpId="0"/>
      <p:bldP spid="25" grpId="0"/>
      <p:bldP spid="52" grpId="0" animBg="1"/>
      <p:bldP spid="52" grpId="1" animBg="1"/>
      <p:bldP spid="53" grpId="0" animBg="1"/>
      <p:bldP spid="53" grpId="1" animBg="1"/>
      <p:bldP spid="53" grpId="2"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Changes in </a:t>
            </a:r>
            <a:r>
              <a:rPr lang="en-US" sz="3000" b="1" i="0" dirty="0">
                <a:solidFill>
                  <a:srgbClr val="0B2B4E"/>
                </a:solidFill>
                <a:latin typeface="Calibri"/>
              </a:rPr>
              <a:t>M</a:t>
            </a:r>
            <a:r>
              <a:rPr sz="3000" b="1" i="0" dirty="0">
                <a:solidFill>
                  <a:srgbClr val="0B2B4E"/>
                </a:solidFill>
                <a:latin typeface="Calibri"/>
              </a:rPr>
              <a:t>arket </a:t>
            </a:r>
            <a:r>
              <a:rPr lang="en-US" sz="3000" b="1" dirty="0">
                <a:solidFill>
                  <a:srgbClr val="0B2B4E"/>
                </a:solidFill>
                <a:latin typeface="Calibri"/>
              </a:rPr>
              <a:t>E</a:t>
            </a:r>
            <a:r>
              <a:rPr sz="3000" b="1" i="0" dirty="0">
                <a:solidFill>
                  <a:srgbClr val="0B2B4E"/>
                </a:solidFill>
                <a:latin typeface="Calibri"/>
              </a:rPr>
              <a:t>quilibrium</a:t>
            </a:r>
            <a:r>
              <a:rPr lang="en-US" sz="3000" b="1" i="0" dirty="0">
                <a:solidFill>
                  <a:srgbClr val="0B2B4E"/>
                </a:solidFill>
                <a:latin typeface="Calibri"/>
              </a:rPr>
              <a:t>: Shift in Supply and Demand</a:t>
            </a:r>
            <a:endParaRPr sz="3000" b="1" i="0" dirty="0">
              <a:solidFill>
                <a:srgbClr val="0B2B4E"/>
              </a:solidFill>
              <a:latin typeface="Calibri"/>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56</a:t>
            </a:r>
          </a:p>
        </p:txBody>
      </p:sp>
      <p:sp>
        <p:nvSpPr>
          <p:cNvPr id="11" name="BUILD"/>
          <p:cNvSpPr txBox="1"/>
          <p:nvPr/>
        </p:nvSpPr>
        <p:spPr>
          <a:xfrm>
            <a:off x="365760" y="1828800"/>
            <a:ext cx="2834640" cy="3642023"/>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000" b="0" i="0" dirty="0">
                <a:solidFill>
                  <a:srgbClr val="0B2B4E"/>
                </a:solidFill>
                <a:latin typeface="Calibri"/>
              </a:rPr>
              <a:t>In this case, shifts in both curves lead to a slightly higher price P₅ and a much larger quantity Q₅</a:t>
            </a:r>
            <a:endParaRPr lang="en-US" sz="2000" b="0" i="0" dirty="0">
              <a:solidFill>
                <a:srgbClr val="0B2B4E"/>
              </a:solidFill>
              <a:latin typeface="Calibri"/>
            </a:endParaRPr>
          </a:p>
          <a:p>
            <a:pPr marL="274320" indent="-274320">
              <a:spcAft>
                <a:spcPts val="1000"/>
              </a:spcAft>
              <a:buClr>
                <a:srgbClr val="0B2B4E"/>
              </a:buClr>
              <a:buSzPct val="100000"/>
              <a:buFont typeface="Calibri"/>
              <a:buChar char="▪"/>
            </a:pPr>
            <a:endParaRPr sz="2000" b="0" i="0" dirty="0">
              <a:solidFill>
                <a:srgbClr val="0B2B4E"/>
              </a:solidFill>
              <a:latin typeface="Calibri"/>
            </a:endParaRPr>
          </a:p>
          <a:p>
            <a:pPr marL="274320" indent="-274320">
              <a:spcAft>
                <a:spcPts val="1000"/>
              </a:spcAft>
              <a:buClr>
                <a:srgbClr val="0B2B4E"/>
              </a:buClr>
              <a:buSzPct val="100000"/>
              <a:buFont typeface="Calibri"/>
              <a:buChar char="▪"/>
            </a:pPr>
            <a:r>
              <a:rPr sz="2000" b="0" i="0" dirty="0">
                <a:solidFill>
                  <a:srgbClr val="0B2B4E"/>
                </a:solidFill>
                <a:latin typeface="Calibri"/>
              </a:rPr>
              <a:t>Note: An even larger shift in S will lead to a lower price. But quantity unambiguously increases</a:t>
            </a:r>
          </a:p>
        </p:txBody>
      </p:sp>
      <p:cxnSp>
        <p:nvCxnSpPr>
          <p:cNvPr id="12" name="Connector 11"/>
          <p:cNvCxnSpPr/>
          <p:nvPr/>
        </p:nvCxnSpPr>
        <p:spPr>
          <a:xfrm flipV="1">
            <a:off x="5946919" y="1891936"/>
            <a:ext cx="0" cy="3977641"/>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946919" y="5869577"/>
            <a:ext cx="420624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626879" y="1585810"/>
            <a:ext cx="1463040" cy="215444"/>
          </a:xfrm>
          <a:prstGeom prst="rect">
            <a:avLst/>
          </a:prstGeom>
          <a:noFill/>
        </p:spPr>
        <p:txBody>
          <a:bodyPr wrap="square" lIns="0" tIns="0" rIns="0" bIns="0" anchor="t">
            <a:spAutoFit/>
          </a:bodyPr>
          <a:lstStyle/>
          <a:p>
            <a:r>
              <a:rPr sz="1400" b="1" i="0" dirty="0">
                <a:solidFill>
                  <a:srgbClr val="0B2B4E"/>
                </a:solidFill>
                <a:latin typeface="Calibri"/>
              </a:rPr>
              <a:t>Price ($)</a:t>
            </a:r>
          </a:p>
        </p:txBody>
      </p:sp>
      <p:sp>
        <p:nvSpPr>
          <p:cNvPr id="15" name="TextBox 14"/>
          <p:cNvSpPr txBox="1"/>
          <p:nvPr/>
        </p:nvSpPr>
        <p:spPr>
          <a:xfrm>
            <a:off x="9642288" y="5924440"/>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16" name="Connector 15"/>
          <p:cNvCxnSpPr/>
          <p:nvPr/>
        </p:nvCxnSpPr>
        <p:spPr>
          <a:xfrm flipV="1">
            <a:off x="6268787" y="2221121"/>
            <a:ext cx="2977287" cy="3418027"/>
          </a:xfrm>
          <a:prstGeom prst="line">
            <a:avLst/>
          </a:prstGeom>
          <a:ln w="38100">
            <a:solidFill>
              <a:srgbClr val="4E79B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273506" y="2202833"/>
            <a:ext cx="822960" cy="230832"/>
          </a:xfrm>
          <a:prstGeom prst="rect">
            <a:avLst/>
          </a:prstGeom>
          <a:noFill/>
        </p:spPr>
        <p:txBody>
          <a:bodyPr wrap="square" lIns="0" tIns="0" rIns="0" bIns="0" anchor="t">
            <a:spAutoFit/>
          </a:bodyPr>
          <a:lstStyle/>
          <a:p>
            <a:r>
              <a:rPr sz="1500" b="1" i="0" dirty="0">
                <a:solidFill>
                  <a:srgbClr val="4E79B5"/>
                </a:solidFill>
                <a:latin typeface="Calibri"/>
              </a:rPr>
              <a:t>S</a:t>
            </a:r>
            <a:r>
              <a:rPr lang="en-US" sz="1500" b="1" i="0" baseline="-25000" dirty="0">
                <a:solidFill>
                  <a:srgbClr val="4E79B5"/>
                </a:solidFill>
                <a:latin typeface="Calibri"/>
              </a:rPr>
              <a:t>0</a:t>
            </a:r>
            <a:endParaRPr sz="1500" b="1" i="0" baseline="-25000" dirty="0">
              <a:solidFill>
                <a:srgbClr val="4E79B5"/>
              </a:solidFill>
              <a:latin typeface="Calibri"/>
            </a:endParaRPr>
          </a:p>
        </p:txBody>
      </p:sp>
      <p:cxnSp>
        <p:nvCxnSpPr>
          <p:cNvPr id="18" name="Connector 17"/>
          <p:cNvCxnSpPr/>
          <p:nvPr/>
        </p:nvCxnSpPr>
        <p:spPr>
          <a:xfrm>
            <a:off x="6148087" y="2874002"/>
            <a:ext cx="2695651" cy="2803551"/>
          </a:xfrm>
          <a:prstGeom prst="line">
            <a:avLst/>
          </a:prstGeom>
          <a:ln w="3810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882056" y="5637493"/>
            <a:ext cx="822960" cy="230832"/>
          </a:xfrm>
          <a:prstGeom prst="rect">
            <a:avLst/>
          </a:prstGeom>
          <a:noFill/>
        </p:spPr>
        <p:txBody>
          <a:bodyPr wrap="square" lIns="0" tIns="0" rIns="0" bIns="0" anchor="t">
            <a:spAutoFit/>
          </a:bodyPr>
          <a:lstStyle/>
          <a:p>
            <a:r>
              <a:rPr sz="1500" b="1" i="0" dirty="0">
                <a:solidFill>
                  <a:srgbClr val="E09F3E"/>
                </a:solidFill>
                <a:latin typeface="Calibri"/>
              </a:rPr>
              <a:t>D</a:t>
            </a:r>
            <a:r>
              <a:rPr lang="en-US" sz="1500" b="1" i="0" baseline="-25000" dirty="0">
                <a:solidFill>
                  <a:srgbClr val="E09F3E"/>
                </a:solidFill>
                <a:latin typeface="Calibri"/>
              </a:rPr>
              <a:t>0</a:t>
            </a:r>
            <a:endParaRPr sz="1500" b="1" i="0" baseline="-25000" dirty="0">
              <a:solidFill>
                <a:srgbClr val="E09F3E"/>
              </a:solidFill>
              <a:latin typeface="Calibri"/>
            </a:endParaRPr>
          </a:p>
        </p:txBody>
      </p:sp>
      <p:cxnSp>
        <p:nvCxnSpPr>
          <p:cNvPr id="20" name="CLK1_g0"/>
          <p:cNvCxnSpPr/>
          <p:nvPr/>
        </p:nvCxnSpPr>
        <p:spPr>
          <a:xfrm>
            <a:off x="5946919" y="4254193"/>
            <a:ext cx="1528239" cy="0"/>
          </a:xfrm>
          <a:prstGeom prst="line">
            <a:avLst/>
          </a:prstGeom>
          <a:ln w="1905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1" name="CLK1_g0b"/>
          <p:cNvCxnSpPr/>
          <p:nvPr/>
        </p:nvCxnSpPr>
        <p:spPr>
          <a:xfrm flipV="1">
            <a:off x="7475158" y="4254193"/>
            <a:ext cx="0" cy="1615384"/>
          </a:xfrm>
          <a:prstGeom prst="line">
            <a:avLst/>
          </a:prstGeom>
          <a:ln w="1905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508441" y="4144465"/>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P₀</a:t>
            </a:r>
          </a:p>
        </p:txBody>
      </p:sp>
      <p:sp>
        <p:nvSpPr>
          <p:cNvPr id="23" name="TextBox 22"/>
          <p:cNvSpPr txBox="1"/>
          <p:nvPr/>
        </p:nvSpPr>
        <p:spPr>
          <a:xfrm>
            <a:off x="7292278" y="5924440"/>
            <a:ext cx="457200" cy="274320"/>
          </a:xfrm>
          <a:prstGeom prst="rect">
            <a:avLst/>
          </a:prstGeom>
          <a:noFill/>
        </p:spPr>
        <p:txBody>
          <a:bodyPr wrap="square" lIns="0" tIns="0" rIns="0" bIns="0" anchor="t">
            <a:spAutoFit/>
          </a:bodyPr>
          <a:lstStyle/>
          <a:p>
            <a:pPr algn="ctr"/>
            <a:r>
              <a:rPr sz="1400" b="1" i="0">
                <a:solidFill>
                  <a:srgbClr val="0B2B4E"/>
                </a:solidFill>
                <a:latin typeface="Calibri"/>
              </a:rPr>
              <a:t>Q₀</a:t>
            </a:r>
          </a:p>
        </p:txBody>
      </p:sp>
      <p:cxnSp>
        <p:nvCxnSpPr>
          <p:cNvPr id="24" name="CLK2_Sp"/>
          <p:cNvCxnSpPr/>
          <p:nvPr/>
        </p:nvCxnSpPr>
        <p:spPr>
          <a:xfrm flipV="1">
            <a:off x="7073459" y="2424030"/>
            <a:ext cx="2816352" cy="3226004"/>
          </a:xfrm>
          <a:prstGeom prst="line">
            <a:avLst/>
          </a:prstGeom>
          <a:ln w="38100">
            <a:solidFill>
              <a:srgbClr val="4E79B5"/>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908099" y="2405742"/>
            <a:ext cx="822960" cy="230832"/>
          </a:xfrm>
          <a:prstGeom prst="rect">
            <a:avLst/>
          </a:prstGeom>
          <a:noFill/>
        </p:spPr>
        <p:txBody>
          <a:bodyPr wrap="square" lIns="0" tIns="0" rIns="0" bIns="0" anchor="t">
            <a:spAutoFit/>
          </a:bodyPr>
          <a:lstStyle/>
          <a:p>
            <a:r>
              <a:rPr sz="1500" b="1" i="0" dirty="0">
                <a:solidFill>
                  <a:srgbClr val="4E79B5"/>
                </a:solidFill>
                <a:latin typeface="Calibri"/>
              </a:rPr>
              <a:t>S</a:t>
            </a:r>
            <a:r>
              <a:rPr lang="en-US" sz="1500" b="1" i="0" baseline="-25000" dirty="0">
                <a:solidFill>
                  <a:srgbClr val="4E79B5"/>
                </a:solidFill>
                <a:latin typeface="Calibri"/>
              </a:rPr>
              <a:t>1</a:t>
            </a:r>
            <a:endParaRPr sz="1500" b="1" i="0" baseline="-25000" dirty="0">
              <a:solidFill>
                <a:srgbClr val="4E79B5"/>
              </a:solidFill>
              <a:latin typeface="Calibri"/>
            </a:endParaRPr>
          </a:p>
        </p:txBody>
      </p:sp>
      <p:cxnSp>
        <p:nvCxnSpPr>
          <p:cNvPr id="26" name="CLK3_Dp"/>
          <p:cNvCxnSpPr/>
          <p:nvPr/>
        </p:nvCxnSpPr>
        <p:spPr>
          <a:xfrm>
            <a:off x="7234394" y="2336335"/>
            <a:ext cx="2655417" cy="2995574"/>
          </a:xfrm>
          <a:prstGeom prst="line">
            <a:avLst/>
          </a:prstGeom>
          <a:ln w="38100">
            <a:solidFill>
              <a:srgbClr val="E09F3E"/>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908099" y="5313621"/>
            <a:ext cx="822960" cy="230832"/>
          </a:xfrm>
          <a:prstGeom prst="rect">
            <a:avLst/>
          </a:prstGeom>
          <a:noFill/>
        </p:spPr>
        <p:txBody>
          <a:bodyPr wrap="square" lIns="0" tIns="0" rIns="0" bIns="0" anchor="t">
            <a:spAutoFit/>
          </a:bodyPr>
          <a:lstStyle/>
          <a:p>
            <a:r>
              <a:rPr sz="1500" b="1" i="0" dirty="0">
                <a:solidFill>
                  <a:srgbClr val="E09F3E"/>
                </a:solidFill>
                <a:latin typeface="Calibri"/>
              </a:rPr>
              <a:t>D</a:t>
            </a:r>
            <a:r>
              <a:rPr lang="en-US" sz="1500" b="1" i="0" baseline="-25000" dirty="0">
                <a:solidFill>
                  <a:srgbClr val="E09F3E"/>
                </a:solidFill>
                <a:latin typeface="Calibri"/>
              </a:rPr>
              <a:t>1</a:t>
            </a:r>
            <a:endParaRPr sz="1500" b="1" i="0" baseline="-25000" dirty="0">
              <a:solidFill>
                <a:srgbClr val="E09F3E"/>
              </a:solidFill>
              <a:latin typeface="Calibri"/>
            </a:endParaRPr>
          </a:p>
        </p:txBody>
      </p:sp>
      <p:cxnSp>
        <p:nvCxnSpPr>
          <p:cNvPr id="28" name="CLK4_g5"/>
          <p:cNvCxnSpPr/>
          <p:nvPr/>
        </p:nvCxnSpPr>
        <p:spPr>
          <a:xfrm>
            <a:off x="5946919" y="3883667"/>
            <a:ext cx="2659103" cy="0"/>
          </a:xfrm>
          <a:prstGeom prst="line">
            <a:avLst/>
          </a:prstGeom>
          <a:ln w="1905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9" name="CLK4_g5b"/>
          <p:cNvCxnSpPr/>
          <p:nvPr/>
        </p:nvCxnSpPr>
        <p:spPr>
          <a:xfrm flipV="1">
            <a:off x="8606022" y="3883667"/>
            <a:ext cx="0" cy="1985910"/>
          </a:xfrm>
          <a:prstGeom prst="line">
            <a:avLst/>
          </a:prstGeom>
          <a:ln w="1905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CLK4_P5"/>
          <p:cNvSpPr txBox="1"/>
          <p:nvPr/>
        </p:nvSpPr>
        <p:spPr>
          <a:xfrm>
            <a:off x="5519327" y="3773939"/>
            <a:ext cx="365760" cy="215444"/>
          </a:xfrm>
          <a:prstGeom prst="rect">
            <a:avLst/>
          </a:prstGeom>
          <a:noFill/>
        </p:spPr>
        <p:txBody>
          <a:bodyPr wrap="square" lIns="0" tIns="0" rIns="0" bIns="0" anchor="t">
            <a:spAutoFit/>
          </a:bodyPr>
          <a:lstStyle/>
          <a:p>
            <a:pPr algn="r"/>
            <a:r>
              <a:rPr sz="1400" b="1" i="0" dirty="0">
                <a:solidFill>
                  <a:srgbClr val="002060"/>
                </a:solidFill>
                <a:latin typeface="Calibri"/>
              </a:rPr>
              <a:t>P₅</a:t>
            </a:r>
          </a:p>
        </p:txBody>
      </p:sp>
      <p:sp>
        <p:nvSpPr>
          <p:cNvPr id="31" name="CLK4_Q5"/>
          <p:cNvSpPr txBox="1"/>
          <p:nvPr/>
        </p:nvSpPr>
        <p:spPr>
          <a:xfrm>
            <a:off x="8423142" y="5924440"/>
            <a:ext cx="457200" cy="274320"/>
          </a:xfrm>
          <a:prstGeom prst="rect">
            <a:avLst/>
          </a:prstGeom>
          <a:noFill/>
        </p:spPr>
        <p:txBody>
          <a:bodyPr wrap="square" lIns="0" tIns="0" rIns="0" bIns="0" anchor="t">
            <a:spAutoFit/>
          </a:bodyPr>
          <a:lstStyle/>
          <a:p>
            <a:pPr algn="ctr"/>
            <a:r>
              <a:rPr sz="1400" b="1" i="0" dirty="0">
                <a:solidFill>
                  <a:srgbClr val="0B2B4E"/>
                </a:solidFill>
                <a:latin typeface="Calibri"/>
              </a:rPr>
              <a:t>Q₅</a:t>
            </a:r>
          </a:p>
        </p:txBody>
      </p:sp>
      <p:sp>
        <p:nvSpPr>
          <p:cNvPr id="32" name="Line 20">
            <a:extLst>
              <a:ext uri="{FF2B5EF4-FFF2-40B4-BE49-F238E27FC236}">
                <a16:creationId xmlns:a16="http://schemas.microsoft.com/office/drawing/2014/main" id="{30965B6B-98D3-9C82-DA29-26D70E992530}"/>
              </a:ext>
            </a:extLst>
          </p:cNvPr>
          <p:cNvSpPr>
            <a:spLocks noChangeShapeType="1"/>
          </p:cNvSpPr>
          <p:nvPr/>
        </p:nvSpPr>
        <p:spPr bwMode="auto">
          <a:xfrm flipH="1" flipV="1">
            <a:off x="7793021" y="6052465"/>
            <a:ext cx="578091" cy="7907"/>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33" name="Line 20">
            <a:extLst>
              <a:ext uri="{FF2B5EF4-FFF2-40B4-BE49-F238E27FC236}">
                <a16:creationId xmlns:a16="http://schemas.microsoft.com/office/drawing/2014/main" id="{64637C20-1510-FB09-8580-735C30FE8021}"/>
              </a:ext>
            </a:extLst>
          </p:cNvPr>
          <p:cNvSpPr>
            <a:spLocks noChangeShapeType="1"/>
          </p:cNvSpPr>
          <p:nvPr/>
        </p:nvSpPr>
        <p:spPr bwMode="auto">
          <a:xfrm flipH="1">
            <a:off x="5778471" y="3934784"/>
            <a:ext cx="0" cy="243533"/>
          </a:xfrm>
          <a:prstGeom prst="line">
            <a:avLst/>
          </a:prstGeom>
          <a:noFill/>
          <a:ln w="38100">
            <a:solidFill>
              <a:schemeClr val="accent2"/>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10" fill="hold"/>
                                        <p:tgtEl>
                                          <p:spTgt spid="28"/>
                                        </p:tgtEl>
                                        <p:attrNameLst>
                                          <p:attrName>style.opacity</p:attrName>
                                        </p:attrNameLst>
                                      </p:cBhvr>
                                      <p:tavLst>
                                        <p:tav tm="0">
                                          <p:val>
                                            <p:fltVal val="0"/>
                                          </p:val>
                                        </p:tav>
                                        <p:tav tm="100000">
                                          <p:val>
                                            <p:fltVal val="1"/>
                                          </p:val>
                                        </p:tav>
                                      </p:tavLst>
                                    </p:anim>
                                  </p:childTnLst>
                                </p:cTn>
                              </p:par>
                              <p:par>
                                <p:cTn id="18" presetID="10"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cBhvr additive="base">
                                        <p:cTn id="20" dur="1400" fill="hold"/>
                                        <p:tgtEl>
                                          <p:spTgt spid="29"/>
                                        </p:tgtEl>
                                        <p:attrNameLst>
                                          <p:attrName>style.opacity</p:attrName>
                                        </p:attrNameLst>
                                      </p:cBhvr>
                                      <p:tavLst>
                                        <p:tav tm="0">
                                          <p:val>
                                            <p:fltVal val="0"/>
                                          </p:val>
                                        </p:tav>
                                        <p:tav tm="100000">
                                          <p:val>
                                            <p:fltVal val="1"/>
                                          </p:val>
                                        </p:tav>
                                      </p:tavLst>
                                    </p:anim>
                                  </p:childTnLst>
                                </p:cTn>
                              </p:par>
                              <p:par>
                                <p:cTn id="21" presetID="10"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1400" fill="hold"/>
                                        <p:tgtEl>
                                          <p:spTgt spid="30"/>
                                        </p:tgtEl>
                                        <p:attrNameLst>
                                          <p:attrName>style.opacity</p:attrName>
                                        </p:attrNameLst>
                                      </p:cBhvr>
                                      <p:tavLst>
                                        <p:tav tm="0">
                                          <p:val>
                                            <p:fltVal val="0"/>
                                          </p:val>
                                        </p:tav>
                                        <p:tav tm="100000">
                                          <p:val>
                                            <p:fltVal val="1"/>
                                          </p:val>
                                        </p:tav>
                                      </p:tavLst>
                                    </p:anim>
                                  </p:childTnLst>
                                </p:cTn>
                              </p:par>
                              <p:par>
                                <p:cTn id="24" presetID="10" presetClass="entr" presetSubtype="0" fill="hold" nodeType="with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additive="base">
                                        <p:cTn id="26" dur="1400" fill="hold"/>
                                        <p:tgtEl>
                                          <p:spTgt spid="31"/>
                                        </p:tgtEl>
                                        <p:attrNameLst>
                                          <p:attrName>style.opacity</p:attrName>
                                        </p:attrNameLst>
                                      </p:cBhvr>
                                      <p:tavLst>
                                        <p:tav tm="0">
                                          <p:val>
                                            <p:fltVal val="0"/>
                                          </p:val>
                                        </p:tav>
                                        <p:tav tm="100000">
                                          <p:val>
                                            <p:fltVal val="1"/>
                                          </p:val>
                                        </p:tav>
                                      </p:tavLst>
                                    </p:anim>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2"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32" grpId="0" animBg="1"/>
      <p:bldP spid="32" grpId="1" animBg="1"/>
      <p:bldP spid="33" grpId="0" animBg="1"/>
      <p:bldP spid="33" grpId="1" animBg="1"/>
      <p:bldP spid="33" grpId="2"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Effect of Shifts in Demand and Supply Curves in Isolation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57</a:t>
            </a:r>
          </a:p>
        </p:txBody>
      </p:sp>
      <p:sp>
        <p:nvSpPr>
          <p:cNvPr id="10" name="HDR_0"/>
          <p:cNvSpPr/>
          <p:nvPr/>
        </p:nvSpPr>
        <p:spPr>
          <a:xfrm>
            <a:off x="457200" y="1572768"/>
            <a:ext cx="3017520" cy="96012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800" b="1" i="0">
                <a:solidFill>
                  <a:srgbClr val="FFFFFF"/>
                </a:solidFill>
                <a:latin typeface="Calibri"/>
              </a:rPr>
              <a:t>Curve that shifts</a:t>
            </a:r>
          </a:p>
        </p:txBody>
      </p:sp>
      <p:sp>
        <p:nvSpPr>
          <p:cNvPr id="11" name="HDR_1"/>
          <p:cNvSpPr/>
          <p:nvPr/>
        </p:nvSpPr>
        <p:spPr>
          <a:xfrm>
            <a:off x="3474720" y="1572768"/>
            <a:ext cx="3200400" cy="96012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800" b="1" i="0">
                <a:solidFill>
                  <a:srgbClr val="FFFFFF"/>
                </a:solidFill>
                <a:latin typeface="Calibri"/>
              </a:rPr>
              <a:t>Direction of shift</a:t>
            </a:r>
          </a:p>
        </p:txBody>
      </p:sp>
      <p:sp>
        <p:nvSpPr>
          <p:cNvPr id="12" name="HDR_2"/>
          <p:cNvSpPr/>
          <p:nvPr/>
        </p:nvSpPr>
        <p:spPr>
          <a:xfrm>
            <a:off x="6675120" y="1572768"/>
            <a:ext cx="4937760" cy="457200"/>
          </a:xfrm>
          <a:prstGeom prst="rect">
            <a:avLst/>
          </a:prstGeom>
          <a:solidFill>
            <a:srgbClr val="E09F3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700" b="1" i="0">
                <a:solidFill>
                  <a:srgbClr val="0B2B4E"/>
                </a:solidFill>
                <a:latin typeface="Calibri"/>
              </a:rPr>
              <a:t>Impact on Equilibrium</a:t>
            </a:r>
          </a:p>
        </p:txBody>
      </p:sp>
      <p:sp>
        <p:nvSpPr>
          <p:cNvPr id="13" name="HDR_3"/>
          <p:cNvSpPr/>
          <p:nvPr/>
        </p:nvSpPr>
        <p:spPr>
          <a:xfrm>
            <a:off x="6675120" y="2029967"/>
            <a:ext cx="2468880" cy="50292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800" b="1" i="0">
                <a:solidFill>
                  <a:srgbClr val="FFFFFF"/>
                </a:solidFill>
                <a:latin typeface="Calibri"/>
              </a:rPr>
              <a:t>Price</a:t>
            </a:r>
          </a:p>
        </p:txBody>
      </p:sp>
      <p:sp>
        <p:nvSpPr>
          <p:cNvPr id="14" name="HDR_4"/>
          <p:cNvSpPr/>
          <p:nvPr/>
        </p:nvSpPr>
        <p:spPr>
          <a:xfrm>
            <a:off x="9144000" y="2029967"/>
            <a:ext cx="2468880" cy="50292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800" b="1" i="0">
                <a:solidFill>
                  <a:srgbClr val="FFFFFF"/>
                </a:solidFill>
                <a:latin typeface="Calibri"/>
              </a:rPr>
              <a:t>Quantity</a:t>
            </a:r>
          </a:p>
        </p:txBody>
      </p:sp>
      <p:sp>
        <p:nvSpPr>
          <p:cNvPr id="15" name="LAB_0"/>
          <p:cNvSpPr/>
          <p:nvPr/>
        </p:nvSpPr>
        <p:spPr>
          <a:xfrm>
            <a:off x="457200" y="2532887"/>
            <a:ext cx="3017520" cy="1444752"/>
          </a:xfrm>
          <a:prstGeom prst="rect">
            <a:avLst/>
          </a:prstGeom>
          <a:solidFill>
            <a:srgbClr val="E8EDF3"/>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900" b="1" i="0">
                <a:solidFill>
                  <a:srgbClr val="0B2B4E"/>
                </a:solidFill>
                <a:latin typeface="Calibri"/>
              </a:rPr>
              <a:t>Demand Curve</a:t>
            </a:r>
          </a:p>
        </p:txBody>
      </p:sp>
      <p:sp>
        <p:nvSpPr>
          <p:cNvPr id="16" name="LAB_1"/>
          <p:cNvSpPr/>
          <p:nvPr/>
        </p:nvSpPr>
        <p:spPr>
          <a:xfrm>
            <a:off x="457200" y="3977639"/>
            <a:ext cx="3017520" cy="1444752"/>
          </a:xfrm>
          <a:prstGeom prst="rect">
            <a:avLst/>
          </a:prstGeom>
          <a:solidFill>
            <a:srgbClr val="E8EDF3"/>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900" b="1" i="0">
                <a:solidFill>
                  <a:srgbClr val="0B2B4E"/>
                </a:solidFill>
                <a:latin typeface="Calibri"/>
              </a:rPr>
              <a:t>Supply Curve</a:t>
            </a:r>
          </a:p>
        </p:txBody>
      </p:sp>
      <p:sp>
        <p:nvSpPr>
          <p:cNvPr id="17" name="DIR_0"/>
          <p:cNvSpPr/>
          <p:nvPr/>
        </p:nvSpPr>
        <p:spPr>
          <a:xfrm>
            <a:off x="3474720" y="2532887"/>
            <a:ext cx="3200400" cy="722376"/>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800" b="0" i="0">
                <a:solidFill>
                  <a:srgbClr val="0B2B4E"/>
                </a:solidFill>
                <a:latin typeface="Calibri"/>
              </a:rPr>
              <a:t>Out (increase in D)</a:t>
            </a:r>
          </a:p>
        </p:txBody>
      </p:sp>
      <p:sp>
        <p:nvSpPr>
          <p:cNvPr id="18" name="DIR_1"/>
          <p:cNvSpPr/>
          <p:nvPr/>
        </p:nvSpPr>
        <p:spPr>
          <a:xfrm>
            <a:off x="3474720" y="3255263"/>
            <a:ext cx="3200400" cy="722376"/>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800" b="0" i="0">
                <a:solidFill>
                  <a:srgbClr val="0B2B4E"/>
                </a:solidFill>
                <a:latin typeface="Calibri"/>
              </a:rPr>
              <a:t>In (decrease in D)</a:t>
            </a:r>
          </a:p>
        </p:txBody>
      </p:sp>
      <p:sp>
        <p:nvSpPr>
          <p:cNvPr id="19" name="DIR_2"/>
          <p:cNvSpPr/>
          <p:nvPr/>
        </p:nvSpPr>
        <p:spPr>
          <a:xfrm>
            <a:off x="3474720" y="3977639"/>
            <a:ext cx="3200400" cy="722376"/>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800" b="0" i="0">
                <a:solidFill>
                  <a:srgbClr val="0B2B4E"/>
                </a:solidFill>
                <a:latin typeface="Calibri"/>
              </a:rPr>
              <a:t>Out (increase in S)</a:t>
            </a:r>
          </a:p>
        </p:txBody>
      </p:sp>
      <p:sp>
        <p:nvSpPr>
          <p:cNvPr id="20" name="DIR_3"/>
          <p:cNvSpPr/>
          <p:nvPr/>
        </p:nvSpPr>
        <p:spPr>
          <a:xfrm>
            <a:off x="3474720" y="4700016"/>
            <a:ext cx="3200400" cy="722376"/>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1800" b="0" i="0">
                <a:solidFill>
                  <a:srgbClr val="0B2B4E"/>
                </a:solidFill>
                <a:latin typeface="Calibri"/>
              </a:rPr>
              <a:t>In (decrease in S)</a:t>
            </a:r>
          </a:p>
        </p:txBody>
      </p:sp>
      <p:sp>
        <p:nvSpPr>
          <p:cNvPr id="21" name="ARR_0"/>
          <p:cNvSpPr/>
          <p:nvPr/>
        </p:nvSpPr>
        <p:spPr>
          <a:xfrm>
            <a:off x="6675120" y="2532887"/>
            <a:ext cx="2468880" cy="722376"/>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2600" b="1" i="0">
                <a:solidFill>
                  <a:srgbClr val="0B2B4E"/>
                </a:solidFill>
                <a:latin typeface="Calibri"/>
              </a:rPr>
              <a:t>↑</a:t>
            </a:r>
          </a:p>
        </p:txBody>
      </p:sp>
      <p:sp>
        <p:nvSpPr>
          <p:cNvPr id="22" name="ARR_1"/>
          <p:cNvSpPr/>
          <p:nvPr/>
        </p:nvSpPr>
        <p:spPr>
          <a:xfrm>
            <a:off x="9144000" y="2532887"/>
            <a:ext cx="2468880" cy="722376"/>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2600" b="1" i="0">
                <a:solidFill>
                  <a:srgbClr val="0B2B4E"/>
                </a:solidFill>
                <a:latin typeface="Calibri"/>
              </a:rPr>
              <a:t>↑</a:t>
            </a:r>
          </a:p>
        </p:txBody>
      </p:sp>
      <p:sp>
        <p:nvSpPr>
          <p:cNvPr id="23" name="ARR_2"/>
          <p:cNvSpPr/>
          <p:nvPr/>
        </p:nvSpPr>
        <p:spPr>
          <a:xfrm>
            <a:off x="6675120" y="3255263"/>
            <a:ext cx="2468880" cy="722376"/>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2600" b="1" i="0">
                <a:solidFill>
                  <a:srgbClr val="0B2B4E"/>
                </a:solidFill>
                <a:latin typeface="Calibri"/>
              </a:rPr>
              <a:t>↓</a:t>
            </a:r>
          </a:p>
        </p:txBody>
      </p:sp>
      <p:sp>
        <p:nvSpPr>
          <p:cNvPr id="24" name="ARR_3"/>
          <p:cNvSpPr/>
          <p:nvPr/>
        </p:nvSpPr>
        <p:spPr>
          <a:xfrm>
            <a:off x="9144000" y="3255263"/>
            <a:ext cx="2468880" cy="722376"/>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2600" b="1" i="0">
                <a:solidFill>
                  <a:srgbClr val="0B2B4E"/>
                </a:solidFill>
                <a:latin typeface="Calibri"/>
              </a:rPr>
              <a:t>↓</a:t>
            </a:r>
          </a:p>
        </p:txBody>
      </p:sp>
      <p:sp>
        <p:nvSpPr>
          <p:cNvPr id="25" name="ARR_4"/>
          <p:cNvSpPr/>
          <p:nvPr/>
        </p:nvSpPr>
        <p:spPr>
          <a:xfrm>
            <a:off x="6675120" y="3977639"/>
            <a:ext cx="2468880" cy="722376"/>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2600" b="1" i="0">
                <a:solidFill>
                  <a:srgbClr val="0B2B4E"/>
                </a:solidFill>
                <a:latin typeface="Calibri"/>
              </a:rPr>
              <a:t>↓</a:t>
            </a:r>
          </a:p>
        </p:txBody>
      </p:sp>
      <p:sp>
        <p:nvSpPr>
          <p:cNvPr id="26" name="ARR_5"/>
          <p:cNvSpPr/>
          <p:nvPr/>
        </p:nvSpPr>
        <p:spPr>
          <a:xfrm>
            <a:off x="9144000" y="3977639"/>
            <a:ext cx="2468880" cy="722376"/>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2600" b="1" i="0">
                <a:solidFill>
                  <a:srgbClr val="0B2B4E"/>
                </a:solidFill>
                <a:latin typeface="Calibri"/>
              </a:rPr>
              <a:t>↑</a:t>
            </a:r>
          </a:p>
        </p:txBody>
      </p:sp>
      <p:sp>
        <p:nvSpPr>
          <p:cNvPr id="27" name="ARR_6"/>
          <p:cNvSpPr/>
          <p:nvPr/>
        </p:nvSpPr>
        <p:spPr>
          <a:xfrm>
            <a:off x="6675120" y="4700016"/>
            <a:ext cx="2468880" cy="722376"/>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2600" b="1" i="0">
                <a:solidFill>
                  <a:srgbClr val="0B2B4E"/>
                </a:solidFill>
                <a:latin typeface="Calibri"/>
              </a:rPr>
              <a:t>↑</a:t>
            </a:r>
          </a:p>
        </p:txBody>
      </p:sp>
      <p:sp>
        <p:nvSpPr>
          <p:cNvPr id="28" name="ARR_7"/>
          <p:cNvSpPr/>
          <p:nvPr/>
        </p:nvSpPr>
        <p:spPr>
          <a:xfrm>
            <a:off x="9144000" y="4700016"/>
            <a:ext cx="2468880" cy="722376"/>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09728" tIns="18288" bIns="18288" rtlCol="0" anchor="ctr"/>
          <a:lstStyle/>
          <a:p>
            <a:pPr algn="ctr"/>
            <a:r>
              <a:rPr sz="2600" b="1" i="0">
                <a:solidFill>
                  <a:srgbClr val="0B2B4E"/>
                </a:solidFill>
                <a:latin typeface="Calibri"/>
              </a:rPr>
              <a:t>↓</a:t>
            </a:r>
          </a:p>
        </p:txBody>
      </p:sp>
      <p:sp>
        <p:nvSpPr>
          <p:cNvPr id="29" name="NOTE"/>
          <p:cNvSpPr/>
          <p:nvPr/>
        </p:nvSpPr>
        <p:spPr>
          <a:xfrm>
            <a:off x="457200" y="5559552"/>
            <a:ext cx="11155680" cy="841248"/>
          </a:xfrm>
          <a:prstGeom prst="roundRect">
            <a:avLst>
              <a:gd name="adj" fmla="val 6000"/>
            </a:avLst>
          </a:prstGeom>
          <a:solidFill>
            <a:srgbClr val="FDF6E6"/>
          </a:solidFill>
          <a:ln w="22225">
            <a:solidFill>
              <a:srgbClr val="C0201B"/>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ctr"/>
            <a:r>
              <a:rPr sz="1600" b="1" i="0" dirty="0">
                <a:solidFill>
                  <a:srgbClr val="C0201B"/>
                </a:solidFill>
                <a:latin typeface="Calibri"/>
              </a:rPr>
              <a:t>Important: </a:t>
            </a:r>
            <a:r>
              <a:rPr sz="1600" b="1" i="1" dirty="0">
                <a:solidFill>
                  <a:srgbClr val="0B2B4E"/>
                </a:solidFill>
                <a:latin typeface="Calibri"/>
              </a:rPr>
              <a:t>As a general rule, when </a:t>
            </a:r>
            <a:r>
              <a:rPr sz="1600" b="1" i="1" u="sng" dirty="0">
                <a:solidFill>
                  <a:srgbClr val="0B2B4E"/>
                </a:solidFill>
                <a:latin typeface="Calibri"/>
              </a:rPr>
              <a:t>both</a:t>
            </a:r>
            <a:r>
              <a:rPr sz="1600" b="1" i="1" dirty="0">
                <a:solidFill>
                  <a:srgbClr val="0B2B4E"/>
                </a:solidFill>
                <a:latin typeface="Calibri"/>
              </a:rPr>
              <a:t> curves shift at the same time, we will know with certainty the direction of change of either the equilibrium price or quantity, but never both.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lang="en-US" sz="3000" b="1" i="0" dirty="0">
                <a:solidFill>
                  <a:srgbClr val="0B2B4E"/>
                </a:solidFill>
                <a:latin typeface="Calibri"/>
              </a:rPr>
              <a:t>Mini-</a:t>
            </a:r>
            <a:r>
              <a:rPr sz="3000" b="1" i="0" dirty="0">
                <a:solidFill>
                  <a:srgbClr val="0B2B4E"/>
                </a:solidFill>
                <a:latin typeface="Calibri"/>
              </a:rPr>
              <a:t>Case: The International Copper Market</a:t>
            </a:r>
            <a:r>
              <a:rPr lang="en-US" sz="3000" b="1" i="0" dirty="0">
                <a:solidFill>
                  <a:srgbClr val="0B2B4E"/>
                </a:solidFill>
                <a:latin typeface="Calibri"/>
              </a:rPr>
              <a:t> since 1880</a:t>
            </a:r>
            <a:endParaRPr sz="3000" b="1" i="0" dirty="0">
              <a:solidFill>
                <a:srgbClr val="0B2B4E"/>
              </a:solidFill>
              <a:latin typeface="Calibri"/>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58</a:t>
            </a:r>
          </a:p>
        </p:txBody>
      </p:sp>
      <p:sp>
        <p:nvSpPr>
          <p:cNvPr id="11" name="B1_0"/>
          <p:cNvSpPr txBox="1"/>
          <p:nvPr/>
        </p:nvSpPr>
        <p:spPr>
          <a:xfrm>
            <a:off x="685800" y="2127068"/>
            <a:ext cx="5029200" cy="677108"/>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200" b="0" i="0" dirty="0">
                <a:solidFill>
                  <a:srgbClr val="0B2B4E"/>
                </a:solidFill>
                <a:latin typeface="Calibri"/>
              </a:rPr>
              <a:t>Annual consumption (in tons) increased hundredfold</a:t>
            </a:r>
          </a:p>
        </p:txBody>
      </p:sp>
      <p:sp>
        <p:nvSpPr>
          <p:cNvPr id="12" name="B2_0"/>
          <p:cNvSpPr txBox="1"/>
          <p:nvPr/>
        </p:nvSpPr>
        <p:spPr>
          <a:xfrm>
            <a:off x="685800" y="3224348"/>
            <a:ext cx="5029200" cy="1692771"/>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200" b="0" i="0" dirty="0">
                <a:solidFill>
                  <a:srgbClr val="0B2B4E"/>
                </a:solidFill>
                <a:latin typeface="Calibri"/>
              </a:rPr>
              <a:t>Price (inflation-adjusted) remained constant</a:t>
            </a:r>
            <a:endParaRPr lang="en-US" sz="2200" b="0" i="0" dirty="0">
              <a:solidFill>
                <a:srgbClr val="0B2B4E"/>
              </a:solidFill>
              <a:latin typeface="Calibri"/>
            </a:endParaRPr>
          </a:p>
          <a:p>
            <a:pPr marL="274320" indent="-274320">
              <a:buClr>
                <a:srgbClr val="0B2B4E"/>
              </a:buClr>
              <a:buSzPct val="100000"/>
              <a:buFont typeface="Calibri"/>
              <a:buChar char="▪"/>
            </a:pPr>
            <a:endParaRPr lang="en-US" sz="2200" dirty="0">
              <a:solidFill>
                <a:srgbClr val="0B2B4E"/>
              </a:solidFill>
              <a:latin typeface="Calibri"/>
            </a:endParaRPr>
          </a:p>
          <a:p>
            <a:pPr marL="274320" indent="-274320">
              <a:buClr>
                <a:srgbClr val="0B2B4E"/>
              </a:buClr>
              <a:buSzPct val="100000"/>
              <a:buFont typeface="Calibri"/>
              <a:buChar char="▪"/>
            </a:pPr>
            <a:r>
              <a:rPr lang="en-US" sz="2200" dirty="0">
                <a:solidFill>
                  <a:srgbClr val="0B2B4E"/>
                </a:solidFill>
                <a:latin typeface="Calibri"/>
              </a:rPr>
              <a:t>Use supply + demand framework to explain</a:t>
            </a:r>
            <a:endParaRPr sz="2200" b="0" i="0" dirty="0">
              <a:solidFill>
                <a:srgbClr val="0B2B4E"/>
              </a:solidFill>
              <a:latin typeface="Calibri"/>
            </a:endParaRPr>
          </a:p>
        </p:txBody>
      </p:sp>
      <p:sp>
        <p:nvSpPr>
          <p:cNvPr id="68" name="Google Shape;89;p17">
            <a:extLst>
              <a:ext uri="{FF2B5EF4-FFF2-40B4-BE49-F238E27FC236}">
                <a16:creationId xmlns:a16="http://schemas.microsoft.com/office/drawing/2014/main" id="{8C2C6AB0-586C-A7AE-4912-CC4A6ED04C99}"/>
              </a:ext>
            </a:extLst>
          </p:cNvPr>
          <p:cNvSpPr txBox="1">
            <a:spLocks/>
          </p:cNvSpPr>
          <p:nvPr/>
        </p:nvSpPr>
        <p:spPr>
          <a:xfrm>
            <a:off x="7100064" y="2578261"/>
            <a:ext cx="3426900" cy="1482300"/>
          </a:xfrm>
          <a:prstGeom prst="rect">
            <a:avLst/>
          </a:prstGeom>
        </p:spPr>
        <p:txBody>
          <a:bodyPr spcFirstLastPara="1" wrap="square" lIns="91425" tIns="91425" rIns="91425" bIns="91425" anchor="t"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spcBef>
                <a:spcPts val="0"/>
              </a:spcBef>
            </a:pPr>
            <a:r>
              <a:rPr lang="en-US">
                <a:latin typeface="Roboto"/>
                <a:ea typeface="Roboto"/>
                <a:cs typeface="Roboto"/>
                <a:sym typeface="Roboto"/>
              </a:rPr>
              <a:t>SLIDE TITLE</a:t>
            </a:r>
            <a:endParaRPr lang="en-US" dirty="0">
              <a:latin typeface="Roboto"/>
              <a:ea typeface="Roboto"/>
              <a:cs typeface="Roboto"/>
              <a:sym typeface="Roboto"/>
            </a:endParaRPr>
          </a:p>
        </p:txBody>
      </p:sp>
      <p:pic>
        <p:nvPicPr>
          <p:cNvPr id="69" name="Picture 68">
            <a:extLst>
              <a:ext uri="{FF2B5EF4-FFF2-40B4-BE49-F238E27FC236}">
                <a16:creationId xmlns:a16="http://schemas.microsoft.com/office/drawing/2014/main" id="{8F69B219-5048-21EA-0BDF-08A00A51512E}"/>
              </a:ext>
            </a:extLst>
          </p:cNvPr>
          <p:cNvPicPr>
            <a:picLocks noChangeAspect="1"/>
          </p:cNvPicPr>
          <p:nvPr/>
        </p:nvPicPr>
        <p:blipFill>
          <a:blip r:embed="rId3"/>
          <a:stretch>
            <a:fillRect/>
          </a:stretch>
        </p:blipFill>
        <p:spPr>
          <a:xfrm>
            <a:off x="6619572" y="2106086"/>
            <a:ext cx="4248150" cy="3695700"/>
          </a:xfrm>
          <a:prstGeom prst="rect">
            <a:avLst/>
          </a:prstGeom>
        </p:spPr>
      </p:pic>
      <p:pic>
        <p:nvPicPr>
          <p:cNvPr id="70" name="Picture 69">
            <a:extLst>
              <a:ext uri="{FF2B5EF4-FFF2-40B4-BE49-F238E27FC236}">
                <a16:creationId xmlns:a16="http://schemas.microsoft.com/office/drawing/2014/main" id="{6C8178A3-9B9B-4275-F279-E20FDFB69F81}"/>
              </a:ext>
            </a:extLst>
          </p:cNvPr>
          <p:cNvPicPr>
            <a:picLocks noChangeAspect="1"/>
          </p:cNvPicPr>
          <p:nvPr/>
        </p:nvPicPr>
        <p:blipFill>
          <a:blip r:embed="rId4"/>
          <a:stretch>
            <a:fillRect/>
          </a:stretch>
        </p:blipFill>
        <p:spPr>
          <a:xfrm>
            <a:off x="6619572" y="2106086"/>
            <a:ext cx="4248150" cy="3695700"/>
          </a:xfrm>
          <a:prstGeom prst="rect">
            <a:avLst/>
          </a:prstGeom>
        </p:spPr>
      </p:pic>
      <p:grpSp>
        <p:nvGrpSpPr>
          <p:cNvPr id="71" name="Group 70">
            <a:extLst>
              <a:ext uri="{FF2B5EF4-FFF2-40B4-BE49-F238E27FC236}">
                <a16:creationId xmlns:a16="http://schemas.microsoft.com/office/drawing/2014/main" id="{3981CA2D-EA7E-70C3-4D98-87B8319EF580}"/>
              </a:ext>
            </a:extLst>
          </p:cNvPr>
          <p:cNvGrpSpPr/>
          <p:nvPr/>
        </p:nvGrpSpPr>
        <p:grpSpPr>
          <a:xfrm>
            <a:off x="7037614" y="4532736"/>
            <a:ext cx="3784599" cy="634350"/>
            <a:chOff x="5143500" y="3150250"/>
            <a:chExt cx="3784599" cy="634350"/>
          </a:xfrm>
        </p:grpSpPr>
        <p:sp>
          <p:nvSpPr>
            <p:cNvPr id="72" name="Rectangle 71">
              <a:extLst>
                <a:ext uri="{FF2B5EF4-FFF2-40B4-BE49-F238E27FC236}">
                  <a16:creationId xmlns:a16="http://schemas.microsoft.com/office/drawing/2014/main" id="{0B914F89-6A4F-F693-3269-B6F7BC972088}"/>
                </a:ext>
              </a:extLst>
            </p:cNvPr>
            <p:cNvSpPr/>
            <p:nvPr/>
          </p:nvSpPr>
          <p:spPr>
            <a:xfrm>
              <a:off x="5846516" y="3714750"/>
              <a:ext cx="3081583" cy="69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03A6C84-3464-545F-2A1E-C76905CBC460}"/>
                </a:ext>
              </a:extLst>
            </p:cNvPr>
            <p:cNvSpPr/>
            <p:nvPr/>
          </p:nvSpPr>
          <p:spPr>
            <a:xfrm>
              <a:off x="5143500" y="3639750"/>
              <a:ext cx="574675" cy="1162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DB692F59-8FAA-0B10-21A4-467A85CD640F}"/>
                </a:ext>
              </a:extLst>
            </p:cNvPr>
            <p:cNvSpPr/>
            <p:nvPr/>
          </p:nvSpPr>
          <p:spPr>
            <a:xfrm>
              <a:off x="5699125" y="3677850"/>
              <a:ext cx="105057" cy="69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831929E7-18B3-C838-A93E-1CB78553B8E6}"/>
                </a:ext>
              </a:extLst>
            </p:cNvPr>
            <p:cNvSpPr/>
            <p:nvPr/>
          </p:nvSpPr>
          <p:spPr>
            <a:xfrm>
              <a:off x="6849533" y="3150250"/>
              <a:ext cx="1679574" cy="5625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Rectangle 75">
            <a:extLst>
              <a:ext uri="{FF2B5EF4-FFF2-40B4-BE49-F238E27FC236}">
                <a16:creationId xmlns:a16="http://schemas.microsoft.com/office/drawing/2014/main" id="{C8AF644C-3162-7BEC-8521-EC7547E4A4A7}"/>
              </a:ext>
            </a:extLst>
          </p:cNvPr>
          <p:cNvSpPr/>
          <p:nvPr/>
        </p:nvSpPr>
        <p:spPr>
          <a:xfrm>
            <a:off x="7037614" y="2051409"/>
            <a:ext cx="3784599" cy="33323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76"/>
                                        </p:tgtEl>
                                      </p:cBhvr>
                                    </p:animEffect>
                                    <p:set>
                                      <p:cBhvr>
                                        <p:cTn id="11" dur="1" fill="hold">
                                          <p:stCondLst>
                                            <p:cond delay="499"/>
                                          </p:stCondLst>
                                        </p:cTn>
                                        <p:tgtEl>
                                          <p:spTgt spid="76"/>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71"/>
                                        </p:tgtEl>
                                      </p:cBhvr>
                                    </p:animEffect>
                                    <p:set>
                                      <p:cBhvr>
                                        <p:cTn id="20" dur="1" fill="hold">
                                          <p:stCondLst>
                                            <p:cond delay="499"/>
                                          </p:stCondLst>
                                        </p:cTn>
                                        <p:tgtEl>
                                          <p:spTgt spid="71"/>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The Market for Copper</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59</a:t>
            </a:r>
          </a:p>
        </p:txBody>
      </p:sp>
      <p:cxnSp>
        <p:nvCxnSpPr>
          <p:cNvPr id="10" name="Connector 9"/>
          <p:cNvCxnSpPr/>
          <p:nvPr/>
        </p:nvCxnSpPr>
        <p:spPr>
          <a:xfrm flipV="1">
            <a:off x="3108960" y="2029967"/>
            <a:ext cx="0" cy="3730753"/>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08960" y="5760720"/>
            <a:ext cx="6446520"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280160" y="1993391"/>
            <a:ext cx="1737360" cy="292388"/>
          </a:xfrm>
          <a:prstGeom prst="rect">
            <a:avLst/>
          </a:prstGeom>
          <a:noFill/>
        </p:spPr>
        <p:txBody>
          <a:bodyPr wrap="square" lIns="0" tIns="0" rIns="0" bIns="0" anchor="t">
            <a:spAutoFit/>
          </a:bodyPr>
          <a:lstStyle/>
          <a:p>
            <a:pPr algn="r"/>
            <a:r>
              <a:rPr sz="1900" b="1" i="1" dirty="0">
                <a:solidFill>
                  <a:srgbClr val="0B2B4E"/>
                </a:solidFill>
                <a:latin typeface="Calibri"/>
              </a:rPr>
              <a:t>Price ($)</a:t>
            </a:r>
          </a:p>
        </p:txBody>
      </p:sp>
      <p:sp>
        <p:nvSpPr>
          <p:cNvPr id="13" name="TextBox 12"/>
          <p:cNvSpPr txBox="1"/>
          <p:nvPr/>
        </p:nvSpPr>
        <p:spPr>
          <a:xfrm>
            <a:off x="9281160" y="5833872"/>
            <a:ext cx="1737360" cy="292388"/>
          </a:xfrm>
          <a:prstGeom prst="rect">
            <a:avLst/>
          </a:prstGeom>
          <a:noFill/>
        </p:spPr>
        <p:txBody>
          <a:bodyPr wrap="square" lIns="0" tIns="0" rIns="0" bIns="0" anchor="t">
            <a:spAutoFit/>
          </a:bodyPr>
          <a:lstStyle/>
          <a:p>
            <a:pPr algn="l"/>
            <a:r>
              <a:rPr sz="1900" b="1" i="1" dirty="0">
                <a:solidFill>
                  <a:srgbClr val="0B2B4E"/>
                </a:solidFill>
                <a:latin typeface="Calibri"/>
              </a:rPr>
              <a:t>Quantity</a:t>
            </a:r>
          </a:p>
        </p:txBody>
      </p:sp>
      <p:cxnSp>
        <p:nvCxnSpPr>
          <p:cNvPr id="14" name="SD_0"/>
          <p:cNvCxnSpPr/>
          <p:nvPr/>
        </p:nvCxnSpPr>
        <p:spPr>
          <a:xfrm flipV="1">
            <a:off x="4211726" y="2194560"/>
            <a:ext cx="2695651" cy="2924251"/>
          </a:xfrm>
          <a:prstGeom prst="line">
            <a:avLst/>
          </a:prstGeom>
          <a:ln w="5080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5" name="SD_1"/>
          <p:cNvSpPr txBox="1"/>
          <p:nvPr/>
        </p:nvSpPr>
        <p:spPr>
          <a:xfrm>
            <a:off x="6989238" y="2059577"/>
            <a:ext cx="640080" cy="310896"/>
          </a:xfrm>
          <a:prstGeom prst="rect">
            <a:avLst/>
          </a:prstGeom>
          <a:noFill/>
        </p:spPr>
        <p:txBody>
          <a:bodyPr wrap="square" lIns="0" tIns="0" rIns="0" bIns="0" anchor="t">
            <a:spAutoFit/>
          </a:bodyPr>
          <a:lstStyle/>
          <a:p>
            <a:pPr algn="l"/>
            <a:r>
              <a:rPr sz="2000" b="1" i="0" dirty="0">
                <a:solidFill>
                  <a:srgbClr val="0B2B4E"/>
                </a:solidFill>
                <a:latin typeface="Calibri"/>
              </a:rPr>
              <a:t>S</a:t>
            </a:r>
            <a:r>
              <a:rPr lang="en-US" sz="2000" b="1" i="0" baseline="-25000" dirty="0">
                <a:solidFill>
                  <a:srgbClr val="0B2B4E"/>
                </a:solidFill>
                <a:latin typeface="Calibri"/>
              </a:rPr>
              <a:t>0</a:t>
            </a:r>
            <a:endParaRPr sz="2000" b="1" i="0" baseline="-25000" dirty="0">
              <a:solidFill>
                <a:srgbClr val="0B2B4E"/>
              </a:solidFill>
              <a:latin typeface="Calibri"/>
            </a:endParaRPr>
          </a:p>
        </p:txBody>
      </p:sp>
      <p:cxnSp>
        <p:nvCxnSpPr>
          <p:cNvPr id="16" name="SD_2"/>
          <p:cNvCxnSpPr/>
          <p:nvPr/>
        </p:nvCxnSpPr>
        <p:spPr>
          <a:xfrm>
            <a:off x="4211726" y="2551176"/>
            <a:ext cx="3675888" cy="2496312"/>
          </a:xfrm>
          <a:prstGeom prst="line">
            <a:avLst/>
          </a:prstGeom>
          <a:ln w="5080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7" name="SD_3"/>
          <p:cNvSpPr txBox="1"/>
          <p:nvPr/>
        </p:nvSpPr>
        <p:spPr>
          <a:xfrm>
            <a:off x="7905902" y="5029200"/>
            <a:ext cx="640080" cy="310896"/>
          </a:xfrm>
          <a:prstGeom prst="rect">
            <a:avLst/>
          </a:prstGeom>
          <a:noFill/>
        </p:spPr>
        <p:txBody>
          <a:bodyPr wrap="square" lIns="0" tIns="0" rIns="0" bIns="0" anchor="t">
            <a:spAutoFit/>
          </a:bodyPr>
          <a:lstStyle/>
          <a:p>
            <a:pPr algn="l"/>
            <a:r>
              <a:rPr sz="2000" b="1" i="0" dirty="0">
                <a:solidFill>
                  <a:srgbClr val="0B2B4E"/>
                </a:solidFill>
                <a:latin typeface="Calibri"/>
              </a:rPr>
              <a:t>D</a:t>
            </a:r>
            <a:r>
              <a:rPr lang="en-US" sz="2000" b="1" i="0" baseline="-25000" dirty="0">
                <a:solidFill>
                  <a:srgbClr val="0B2B4E"/>
                </a:solidFill>
                <a:latin typeface="Calibri"/>
              </a:rPr>
              <a:t>0</a:t>
            </a:r>
            <a:endParaRPr sz="2000" b="1" i="0" baseline="-25000" dirty="0">
              <a:solidFill>
                <a:srgbClr val="0B2B4E"/>
              </a:solidFill>
              <a:latin typeface="Calibri"/>
            </a:endParaRPr>
          </a:p>
        </p:txBody>
      </p:sp>
      <p:cxnSp>
        <p:nvCxnSpPr>
          <p:cNvPr id="18" name="ARR_0"/>
          <p:cNvCxnSpPr>
            <a:cxnSpLocks/>
          </p:cNvCxnSpPr>
          <p:nvPr/>
        </p:nvCxnSpPr>
        <p:spPr>
          <a:xfrm>
            <a:off x="6434719" y="2907791"/>
            <a:ext cx="760739" cy="0"/>
          </a:xfrm>
          <a:prstGeom prst="line">
            <a:avLst/>
          </a:prstGeom>
          <a:ln w="38100">
            <a:solidFill>
              <a:srgbClr val="9DC3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ARR_1"/>
          <p:cNvCxnSpPr>
            <a:cxnSpLocks/>
          </p:cNvCxnSpPr>
          <p:nvPr/>
        </p:nvCxnSpPr>
        <p:spPr>
          <a:xfrm>
            <a:off x="7011925" y="4334256"/>
            <a:ext cx="771361" cy="0"/>
          </a:xfrm>
          <a:prstGeom prst="line">
            <a:avLst/>
          </a:prstGeom>
          <a:ln w="44450">
            <a:solidFill>
              <a:srgbClr val="E09F3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SD2_0"/>
          <p:cNvCxnSpPr/>
          <p:nvPr/>
        </p:nvCxnSpPr>
        <p:spPr>
          <a:xfrm flipV="1">
            <a:off x="5437022" y="2194560"/>
            <a:ext cx="2695651" cy="2924251"/>
          </a:xfrm>
          <a:prstGeom prst="line">
            <a:avLst/>
          </a:prstGeom>
          <a:ln w="43180">
            <a:solidFill>
              <a:srgbClr val="9DC3E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SD2_1"/>
          <p:cNvSpPr txBox="1"/>
          <p:nvPr/>
        </p:nvSpPr>
        <p:spPr>
          <a:xfrm>
            <a:off x="8192763" y="2070462"/>
            <a:ext cx="822960" cy="310896"/>
          </a:xfrm>
          <a:prstGeom prst="rect">
            <a:avLst/>
          </a:prstGeom>
          <a:noFill/>
        </p:spPr>
        <p:txBody>
          <a:bodyPr wrap="square" lIns="0" tIns="0" rIns="0" bIns="0" anchor="t">
            <a:spAutoFit/>
          </a:bodyPr>
          <a:lstStyle/>
          <a:p>
            <a:pPr algn="l"/>
            <a:r>
              <a:rPr sz="2000" b="1" i="0" dirty="0">
                <a:solidFill>
                  <a:srgbClr val="0B2B4E"/>
                </a:solidFill>
                <a:latin typeface="Calibri"/>
              </a:rPr>
              <a:t>S</a:t>
            </a:r>
            <a:r>
              <a:rPr lang="en-US" sz="2000" b="1" i="0" baseline="-25000" dirty="0">
                <a:solidFill>
                  <a:srgbClr val="0B2B4E"/>
                </a:solidFill>
                <a:latin typeface="Calibri"/>
              </a:rPr>
              <a:t>1</a:t>
            </a:r>
            <a:endParaRPr sz="2000" b="1" i="0" baseline="-25000" dirty="0">
              <a:solidFill>
                <a:srgbClr val="0B2B4E"/>
              </a:solidFill>
              <a:latin typeface="Calibri"/>
            </a:endParaRPr>
          </a:p>
        </p:txBody>
      </p:sp>
      <p:cxnSp>
        <p:nvCxnSpPr>
          <p:cNvPr id="22" name="SD2_2"/>
          <p:cNvCxnSpPr/>
          <p:nvPr/>
        </p:nvCxnSpPr>
        <p:spPr>
          <a:xfrm>
            <a:off x="5437022" y="2551176"/>
            <a:ext cx="3675888" cy="2496312"/>
          </a:xfrm>
          <a:prstGeom prst="line">
            <a:avLst/>
          </a:prstGeom>
          <a:ln w="43180">
            <a:solidFill>
              <a:srgbClr val="E09F3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SD2_3"/>
          <p:cNvSpPr txBox="1"/>
          <p:nvPr/>
        </p:nvSpPr>
        <p:spPr>
          <a:xfrm>
            <a:off x="9131198" y="5029200"/>
            <a:ext cx="822960" cy="310896"/>
          </a:xfrm>
          <a:prstGeom prst="rect">
            <a:avLst/>
          </a:prstGeom>
          <a:noFill/>
        </p:spPr>
        <p:txBody>
          <a:bodyPr wrap="square" lIns="0" tIns="0" rIns="0" bIns="0" anchor="t">
            <a:spAutoFit/>
          </a:bodyPr>
          <a:lstStyle/>
          <a:p>
            <a:pPr algn="l"/>
            <a:r>
              <a:rPr sz="2000" b="1" i="0" dirty="0">
                <a:solidFill>
                  <a:srgbClr val="0B2B4E"/>
                </a:solidFill>
                <a:latin typeface="Calibri"/>
              </a:rPr>
              <a:t>D</a:t>
            </a:r>
            <a:r>
              <a:rPr lang="en-US" sz="2000" b="1" i="0" baseline="-25000" dirty="0">
                <a:solidFill>
                  <a:srgbClr val="0B2B4E"/>
                </a:solidFill>
                <a:latin typeface="Calibri"/>
              </a:rPr>
              <a:t>1</a:t>
            </a:r>
            <a:endParaRPr sz="2000" b="1" i="0" baseline="-25000" dirty="0">
              <a:solidFill>
                <a:srgbClr val="0B2B4E"/>
              </a:solidFill>
              <a:latin typeface="Calibri"/>
            </a:endParaRPr>
          </a:p>
        </p:txBody>
      </p:sp>
      <p:cxnSp>
        <p:nvCxnSpPr>
          <p:cNvPr id="24" name="EQ_0"/>
          <p:cNvCxnSpPr/>
          <p:nvPr/>
        </p:nvCxnSpPr>
        <p:spPr>
          <a:xfrm>
            <a:off x="3108960" y="3549700"/>
            <a:ext cx="3798417" cy="0"/>
          </a:xfrm>
          <a:prstGeom prst="line">
            <a:avLst/>
          </a:prstGeom>
          <a:ln w="2032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5" name="EQ_1"/>
          <p:cNvCxnSpPr/>
          <p:nvPr/>
        </p:nvCxnSpPr>
        <p:spPr>
          <a:xfrm flipV="1">
            <a:off x="5682081" y="3549700"/>
            <a:ext cx="0" cy="2211020"/>
          </a:xfrm>
          <a:prstGeom prst="line">
            <a:avLst/>
          </a:prstGeom>
          <a:ln w="2032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 name="EQ_2"/>
          <p:cNvCxnSpPr/>
          <p:nvPr/>
        </p:nvCxnSpPr>
        <p:spPr>
          <a:xfrm flipV="1">
            <a:off x="6907377" y="3549700"/>
            <a:ext cx="0" cy="2211020"/>
          </a:xfrm>
          <a:prstGeom prst="line">
            <a:avLst/>
          </a:prstGeom>
          <a:ln w="2032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EQ_3"/>
          <p:cNvSpPr txBox="1"/>
          <p:nvPr/>
        </p:nvSpPr>
        <p:spPr>
          <a:xfrm>
            <a:off x="1874519" y="3403396"/>
            <a:ext cx="1188720" cy="310896"/>
          </a:xfrm>
          <a:prstGeom prst="rect">
            <a:avLst/>
          </a:prstGeom>
          <a:noFill/>
        </p:spPr>
        <p:txBody>
          <a:bodyPr wrap="square" lIns="0" tIns="0" rIns="0" bIns="0" anchor="t">
            <a:spAutoFit/>
          </a:bodyPr>
          <a:lstStyle/>
          <a:p>
            <a:pPr algn="r"/>
            <a:r>
              <a:rPr sz="1800" b="1" i="0">
                <a:solidFill>
                  <a:srgbClr val="0B2B4E"/>
                </a:solidFill>
                <a:latin typeface="Calibri"/>
              </a:rPr>
              <a:t>P₁ = P₀</a:t>
            </a:r>
          </a:p>
        </p:txBody>
      </p:sp>
      <p:sp>
        <p:nvSpPr>
          <p:cNvPr id="28" name="EQ_4"/>
          <p:cNvSpPr txBox="1"/>
          <p:nvPr/>
        </p:nvSpPr>
        <p:spPr>
          <a:xfrm>
            <a:off x="5453481" y="5833872"/>
            <a:ext cx="548640" cy="274320"/>
          </a:xfrm>
          <a:prstGeom prst="rect">
            <a:avLst/>
          </a:prstGeom>
          <a:noFill/>
        </p:spPr>
        <p:txBody>
          <a:bodyPr wrap="square" lIns="0" tIns="0" rIns="0" bIns="0" anchor="t">
            <a:spAutoFit/>
          </a:bodyPr>
          <a:lstStyle/>
          <a:p>
            <a:pPr algn="ctr"/>
            <a:r>
              <a:rPr sz="1700" b="1" i="0">
                <a:solidFill>
                  <a:srgbClr val="0B2B4E"/>
                </a:solidFill>
                <a:latin typeface="Calibri"/>
              </a:rPr>
              <a:t>Q₀</a:t>
            </a:r>
          </a:p>
        </p:txBody>
      </p:sp>
      <p:sp>
        <p:nvSpPr>
          <p:cNvPr id="29" name="EQ_5"/>
          <p:cNvSpPr txBox="1"/>
          <p:nvPr/>
        </p:nvSpPr>
        <p:spPr>
          <a:xfrm>
            <a:off x="6678777" y="5833872"/>
            <a:ext cx="548640" cy="274320"/>
          </a:xfrm>
          <a:prstGeom prst="rect">
            <a:avLst/>
          </a:prstGeom>
          <a:noFill/>
        </p:spPr>
        <p:txBody>
          <a:bodyPr wrap="square" lIns="0" tIns="0" rIns="0" bIns="0" anchor="t">
            <a:spAutoFit/>
          </a:bodyPr>
          <a:lstStyle/>
          <a:p>
            <a:pPr algn="ctr"/>
            <a:r>
              <a:rPr sz="1700" b="1" i="0">
                <a:solidFill>
                  <a:srgbClr val="0B2B4E"/>
                </a:solidFill>
                <a:latin typeface="Calibri"/>
              </a:rPr>
              <a:t>Q₁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Mini-Case</a:t>
            </a:r>
            <a:r>
              <a:rPr lang="en-US" sz="3000" b="1" i="0" dirty="0">
                <a:solidFill>
                  <a:srgbClr val="0B2B4E"/>
                </a:solidFill>
                <a:latin typeface="Calibri"/>
              </a:rPr>
              <a:t>:</a:t>
            </a:r>
            <a:r>
              <a:rPr lang="en-US" sz="3000" b="1" dirty="0">
                <a:solidFill>
                  <a:srgbClr val="0B2B4E"/>
                </a:solidFill>
                <a:latin typeface="Calibri"/>
              </a:rPr>
              <a:t> Los Angeles Residential Real Estate</a:t>
            </a:r>
            <a:endParaRPr sz="3000" b="1" i="0" dirty="0">
              <a:solidFill>
                <a:srgbClr val="0B2B4E"/>
              </a:solidFill>
              <a:latin typeface="Calibri"/>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60</a:t>
            </a:r>
            <a:endParaRPr sz="1100" b="0" i="0" dirty="0">
              <a:solidFill>
                <a:srgbClr val="555B66"/>
              </a:solidFill>
              <a:latin typeface="Calibri"/>
            </a:endParaRPr>
          </a:p>
        </p:txBody>
      </p:sp>
      <p:sp>
        <p:nvSpPr>
          <p:cNvPr id="14" name="Pentagon 13"/>
          <p:cNvSpPr/>
          <p:nvPr/>
        </p:nvSpPr>
        <p:spPr>
          <a:xfrm>
            <a:off x="9402775" y="5806440"/>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a:solidFill>
                  <a:srgbClr val="0B2B4E"/>
                </a:solidFill>
                <a:latin typeface="Calibri"/>
              </a:rPr>
              <a:t>Group discussion</a:t>
            </a:r>
          </a:p>
        </p:txBody>
      </p:sp>
      <p:sp>
        <p:nvSpPr>
          <p:cNvPr id="15" name="Rectangle 14">
            <a:extLst>
              <a:ext uri="{FF2B5EF4-FFF2-40B4-BE49-F238E27FC236}">
                <a16:creationId xmlns:a16="http://schemas.microsoft.com/office/drawing/2014/main" id="{87BD5FA1-EDC6-40C2-418D-81D1880F4E01}"/>
              </a:ext>
            </a:extLst>
          </p:cNvPr>
          <p:cNvSpPr/>
          <p:nvPr/>
        </p:nvSpPr>
        <p:spPr>
          <a:xfrm>
            <a:off x="877824" y="1773936"/>
            <a:ext cx="2980944" cy="4206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house_crop.png">
            <a:extLst>
              <a:ext uri="{FF2B5EF4-FFF2-40B4-BE49-F238E27FC236}">
                <a16:creationId xmlns:a16="http://schemas.microsoft.com/office/drawing/2014/main" id="{F8E6ACAE-DFD7-48C7-2111-D508EBCE82ED}"/>
              </a:ext>
            </a:extLst>
          </p:cNvPr>
          <p:cNvPicPr>
            <a:picLocks noChangeAspect="1"/>
          </p:cNvPicPr>
          <p:nvPr/>
        </p:nvPicPr>
        <p:blipFill>
          <a:blip r:embed="rId3"/>
          <a:stretch>
            <a:fillRect/>
          </a:stretch>
        </p:blipFill>
        <p:spPr>
          <a:xfrm>
            <a:off x="731520" y="1920240"/>
            <a:ext cx="2980944" cy="4206240"/>
          </a:xfrm>
          <a:prstGeom prst="rect">
            <a:avLst/>
          </a:prstGeom>
          <a:effectLst>
            <a:outerShdw blurRad="64008" dist="45720" dir="5400000" rotWithShape="0">
              <a:srgbClr val="000000">
                <a:alpha val="60000"/>
              </a:srgbClr>
            </a:outerShdw>
          </a:effectLst>
        </p:spPr>
      </p:pic>
      <p:sp>
        <p:nvSpPr>
          <p:cNvPr id="17" name="G1_0">
            <a:extLst>
              <a:ext uri="{FF2B5EF4-FFF2-40B4-BE49-F238E27FC236}">
                <a16:creationId xmlns:a16="http://schemas.microsoft.com/office/drawing/2014/main" id="{4B956E81-F7F2-014D-CEBE-78CF7344B361}"/>
              </a:ext>
            </a:extLst>
          </p:cNvPr>
          <p:cNvSpPr txBox="1"/>
          <p:nvPr/>
        </p:nvSpPr>
        <p:spPr>
          <a:xfrm>
            <a:off x="4297680" y="1847088"/>
            <a:ext cx="7406640" cy="1095172"/>
          </a:xfrm>
          <a:prstGeom prst="rect">
            <a:avLst/>
          </a:prstGeom>
          <a:noFill/>
        </p:spPr>
        <p:txBody>
          <a:bodyPr wrap="square" lIns="0" tIns="0" rIns="0" bIns="0" anchor="t">
            <a:spAutoFit/>
          </a:bodyPr>
          <a:lstStyle/>
          <a:p>
            <a:pPr marL="274320" indent="-274320">
              <a:spcAft>
                <a:spcPts val="700"/>
              </a:spcAft>
              <a:buClr>
                <a:srgbClr val="0B2B4E"/>
              </a:buClr>
              <a:buSzPct val="100000"/>
              <a:buFont typeface="Calibri"/>
              <a:buChar char="▪"/>
            </a:pPr>
            <a:r>
              <a:rPr sz="2200" b="0" i="0" dirty="0">
                <a:solidFill>
                  <a:srgbClr val="0B2B4E"/>
                </a:solidFill>
                <a:latin typeface="Calibri"/>
              </a:rPr>
              <a:t>From Sep-2021 to Sep-2025, in Los Angeles (Redfin data):</a:t>
            </a:r>
          </a:p>
          <a:p>
            <a:pPr marL="603504" lvl="1" indent="-603504">
              <a:spcAft>
                <a:spcPts val="400"/>
              </a:spcAft>
              <a:buClr>
                <a:srgbClr val="555B66"/>
              </a:buClr>
              <a:buSzPct val="100000"/>
              <a:buFont typeface="Calibri"/>
              <a:buChar char="–"/>
            </a:pPr>
            <a:r>
              <a:rPr sz="2000" b="0" i="0" dirty="0">
                <a:solidFill>
                  <a:srgbClr val="0B2B4E"/>
                </a:solidFill>
                <a:latin typeface="Calibri"/>
              </a:rPr>
              <a:t>Inflation-adjusted home prices: </a:t>
            </a:r>
            <a:r>
              <a:rPr sz="2000" b="1" i="0" dirty="0">
                <a:solidFill>
                  <a:srgbClr val="D51A1A"/>
                </a:solidFill>
                <a:latin typeface="Calibri"/>
              </a:rPr>
              <a:t>▼5%</a:t>
            </a:r>
          </a:p>
          <a:p>
            <a:pPr marL="603504" lvl="1" indent="-603504">
              <a:spcAft>
                <a:spcPts val="600"/>
              </a:spcAft>
              <a:buClr>
                <a:srgbClr val="555B66"/>
              </a:buClr>
              <a:buSzPct val="100000"/>
              <a:buFont typeface="Calibri"/>
              <a:buChar char="–"/>
            </a:pPr>
            <a:r>
              <a:rPr sz="2000" b="0" i="0" dirty="0">
                <a:solidFill>
                  <a:srgbClr val="0B2B4E"/>
                </a:solidFill>
                <a:latin typeface="Calibri"/>
              </a:rPr>
              <a:t>Home sales: </a:t>
            </a:r>
            <a:r>
              <a:rPr sz="2000" b="1" i="0" dirty="0">
                <a:solidFill>
                  <a:srgbClr val="D51A1A"/>
                </a:solidFill>
                <a:latin typeface="Calibri"/>
              </a:rPr>
              <a:t>▼40%</a:t>
            </a:r>
          </a:p>
        </p:txBody>
      </p:sp>
      <p:sp>
        <p:nvSpPr>
          <p:cNvPr id="18" name="G2_0">
            <a:extLst>
              <a:ext uri="{FF2B5EF4-FFF2-40B4-BE49-F238E27FC236}">
                <a16:creationId xmlns:a16="http://schemas.microsoft.com/office/drawing/2014/main" id="{AE854D2F-182E-33DD-1172-F7B0B010FE28}"/>
              </a:ext>
            </a:extLst>
          </p:cNvPr>
          <p:cNvSpPr txBox="1"/>
          <p:nvPr/>
        </p:nvSpPr>
        <p:spPr>
          <a:xfrm>
            <a:off x="4297680" y="3401568"/>
            <a:ext cx="7406640" cy="338554"/>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lang="en-US" sz="2200" b="0" i="0" dirty="0">
                <a:solidFill>
                  <a:srgbClr val="0B2B4E"/>
                </a:solidFill>
                <a:latin typeface="Calibri"/>
              </a:rPr>
              <a:t>Explain using supply and demand framework!</a:t>
            </a:r>
            <a:endParaRPr sz="2200" b="0" i="0"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lang="en-US" sz="3000" b="1" dirty="0">
                <a:solidFill>
                  <a:srgbClr val="0B2B4E"/>
                </a:solidFill>
              </a:rPr>
              <a:t>Market for Los Angeles Residential Real Estate </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Market Equilibrium</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61</a:t>
            </a:r>
          </a:p>
        </p:txBody>
      </p:sp>
      <p:cxnSp>
        <p:nvCxnSpPr>
          <p:cNvPr id="10" name="Connector 9"/>
          <p:cNvCxnSpPr/>
          <p:nvPr/>
        </p:nvCxnSpPr>
        <p:spPr>
          <a:xfrm flipV="1">
            <a:off x="3108960" y="1605422"/>
            <a:ext cx="0" cy="3730753"/>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08960" y="5336175"/>
            <a:ext cx="6446520"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280160" y="1568846"/>
            <a:ext cx="1737360" cy="292388"/>
          </a:xfrm>
          <a:prstGeom prst="rect">
            <a:avLst/>
          </a:prstGeom>
          <a:noFill/>
        </p:spPr>
        <p:txBody>
          <a:bodyPr wrap="square" lIns="0" tIns="0" rIns="0" bIns="0" anchor="t">
            <a:spAutoFit/>
          </a:bodyPr>
          <a:lstStyle/>
          <a:p>
            <a:pPr algn="r"/>
            <a:r>
              <a:rPr sz="1900" b="1" i="1" dirty="0">
                <a:solidFill>
                  <a:srgbClr val="0B2B4E"/>
                </a:solidFill>
                <a:latin typeface="Calibri"/>
              </a:rPr>
              <a:t>Price ($)</a:t>
            </a:r>
          </a:p>
        </p:txBody>
      </p:sp>
      <p:sp>
        <p:nvSpPr>
          <p:cNvPr id="13" name="TextBox 12"/>
          <p:cNvSpPr txBox="1"/>
          <p:nvPr/>
        </p:nvSpPr>
        <p:spPr>
          <a:xfrm>
            <a:off x="9281160" y="5409327"/>
            <a:ext cx="1737360" cy="292388"/>
          </a:xfrm>
          <a:prstGeom prst="rect">
            <a:avLst/>
          </a:prstGeom>
          <a:noFill/>
        </p:spPr>
        <p:txBody>
          <a:bodyPr wrap="square" lIns="0" tIns="0" rIns="0" bIns="0" anchor="t">
            <a:spAutoFit/>
          </a:bodyPr>
          <a:lstStyle/>
          <a:p>
            <a:pPr algn="l"/>
            <a:r>
              <a:rPr sz="1900" b="1" i="1" dirty="0">
                <a:solidFill>
                  <a:srgbClr val="0B2B4E"/>
                </a:solidFill>
                <a:latin typeface="Calibri"/>
              </a:rPr>
              <a:t>Quantity</a:t>
            </a:r>
          </a:p>
        </p:txBody>
      </p:sp>
      <p:cxnSp>
        <p:nvCxnSpPr>
          <p:cNvPr id="14" name="SD_0"/>
          <p:cNvCxnSpPr/>
          <p:nvPr/>
        </p:nvCxnSpPr>
        <p:spPr>
          <a:xfrm flipV="1">
            <a:off x="5191963" y="1841338"/>
            <a:ext cx="3063240" cy="2781605"/>
          </a:xfrm>
          <a:prstGeom prst="line">
            <a:avLst/>
          </a:prstGeom>
          <a:ln w="5080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5" name="SD_1"/>
          <p:cNvSpPr txBox="1"/>
          <p:nvPr/>
        </p:nvSpPr>
        <p:spPr>
          <a:xfrm>
            <a:off x="8337064" y="1601416"/>
            <a:ext cx="640080" cy="310896"/>
          </a:xfrm>
          <a:prstGeom prst="rect">
            <a:avLst/>
          </a:prstGeom>
          <a:noFill/>
        </p:spPr>
        <p:txBody>
          <a:bodyPr wrap="square" lIns="0" tIns="0" rIns="0" bIns="0" anchor="t">
            <a:spAutoFit/>
          </a:bodyPr>
          <a:lstStyle/>
          <a:p>
            <a:pPr algn="l"/>
            <a:r>
              <a:rPr sz="2000" b="1" i="0" dirty="0">
                <a:solidFill>
                  <a:srgbClr val="0B2B4E"/>
                </a:solidFill>
                <a:latin typeface="Calibri"/>
              </a:rPr>
              <a:t>S</a:t>
            </a:r>
            <a:r>
              <a:rPr lang="en-US" sz="2000" b="1" i="0" baseline="-25000" dirty="0">
                <a:solidFill>
                  <a:srgbClr val="0B2B4E"/>
                </a:solidFill>
                <a:latin typeface="Calibri"/>
              </a:rPr>
              <a:t>0</a:t>
            </a:r>
            <a:endParaRPr sz="2000" b="1" i="0" baseline="-25000" dirty="0">
              <a:solidFill>
                <a:srgbClr val="0B2B4E"/>
              </a:solidFill>
              <a:latin typeface="Calibri"/>
            </a:endParaRPr>
          </a:p>
        </p:txBody>
      </p:sp>
      <p:cxnSp>
        <p:nvCxnSpPr>
          <p:cNvPr id="16" name="SD_2"/>
          <p:cNvCxnSpPr/>
          <p:nvPr/>
        </p:nvCxnSpPr>
        <p:spPr>
          <a:xfrm>
            <a:off x="5191963" y="1841338"/>
            <a:ext cx="3430829" cy="2781605"/>
          </a:xfrm>
          <a:prstGeom prst="line">
            <a:avLst/>
          </a:prstGeom>
          <a:ln w="5080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7" name="SD_3"/>
          <p:cNvSpPr txBox="1"/>
          <p:nvPr/>
        </p:nvSpPr>
        <p:spPr>
          <a:xfrm>
            <a:off x="8662852" y="4593769"/>
            <a:ext cx="640080" cy="310896"/>
          </a:xfrm>
          <a:prstGeom prst="rect">
            <a:avLst/>
          </a:prstGeom>
          <a:noFill/>
        </p:spPr>
        <p:txBody>
          <a:bodyPr wrap="square" lIns="0" tIns="0" rIns="0" bIns="0" anchor="t">
            <a:spAutoFit/>
          </a:bodyPr>
          <a:lstStyle/>
          <a:p>
            <a:pPr algn="l"/>
            <a:r>
              <a:rPr sz="2000" b="1" i="0" dirty="0">
                <a:solidFill>
                  <a:srgbClr val="0B2B4E"/>
                </a:solidFill>
                <a:latin typeface="Calibri"/>
              </a:rPr>
              <a:t>D</a:t>
            </a:r>
            <a:r>
              <a:rPr lang="en-US" sz="2000" b="1" i="0" baseline="-25000" dirty="0">
                <a:solidFill>
                  <a:srgbClr val="0B2B4E"/>
                </a:solidFill>
                <a:latin typeface="Calibri"/>
              </a:rPr>
              <a:t>0</a:t>
            </a:r>
            <a:endParaRPr sz="2000" b="1" i="0" baseline="-25000" dirty="0">
              <a:solidFill>
                <a:srgbClr val="0B2B4E"/>
              </a:solidFill>
              <a:latin typeface="Calibri"/>
            </a:endParaRPr>
          </a:p>
        </p:txBody>
      </p:sp>
      <p:cxnSp>
        <p:nvCxnSpPr>
          <p:cNvPr id="18" name="ARR_0"/>
          <p:cNvCxnSpPr>
            <a:cxnSpLocks/>
          </p:cNvCxnSpPr>
          <p:nvPr/>
        </p:nvCxnSpPr>
        <p:spPr>
          <a:xfrm flipH="1">
            <a:off x="6713960" y="2499010"/>
            <a:ext cx="688326" cy="0"/>
          </a:xfrm>
          <a:prstGeom prst="line">
            <a:avLst/>
          </a:prstGeom>
          <a:ln w="38100">
            <a:solidFill>
              <a:srgbClr val="9DC3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ARR_1"/>
          <p:cNvCxnSpPr>
            <a:cxnSpLocks/>
          </p:cNvCxnSpPr>
          <p:nvPr/>
        </p:nvCxnSpPr>
        <p:spPr>
          <a:xfrm flipH="1">
            <a:off x="6564086" y="3838387"/>
            <a:ext cx="729343" cy="0"/>
          </a:xfrm>
          <a:prstGeom prst="line">
            <a:avLst/>
          </a:prstGeom>
          <a:ln w="44450">
            <a:solidFill>
              <a:srgbClr val="E09F3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SD2_0"/>
          <p:cNvCxnSpPr/>
          <p:nvPr/>
        </p:nvCxnSpPr>
        <p:spPr>
          <a:xfrm flipV="1">
            <a:off x="4089196" y="1983984"/>
            <a:ext cx="3063240" cy="2852928"/>
          </a:xfrm>
          <a:prstGeom prst="line">
            <a:avLst/>
          </a:prstGeom>
          <a:ln w="43180">
            <a:solidFill>
              <a:srgbClr val="9DC3E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SD2_1"/>
          <p:cNvSpPr txBox="1"/>
          <p:nvPr/>
        </p:nvSpPr>
        <p:spPr>
          <a:xfrm>
            <a:off x="7150151" y="1720550"/>
            <a:ext cx="822960" cy="310896"/>
          </a:xfrm>
          <a:prstGeom prst="rect">
            <a:avLst/>
          </a:prstGeom>
          <a:noFill/>
        </p:spPr>
        <p:txBody>
          <a:bodyPr wrap="square" lIns="0" tIns="0" rIns="0" bIns="0" anchor="t">
            <a:spAutoFit/>
          </a:bodyPr>
          <a:lstStyle/>
          <a:p>
            <a:pPr algn="l"/>
            <a:r>
              <a:rPr sz="2000" b="1" i="0" dirty="0">
                <a:solidFill>
                  <a:srgbClr val="0B2B4E"/>
                </a:solidFill>
                <a:latin typeface="Calibri"/>
              </a:rPr>
              <a:t>S</a:t>
            </a:r>
            <a:r>
              <a:rPr lang="en-US" sz="2000" b="1" i="0" baseline="-25000" dirty="0">
                <a:solidFill>
                  <a:srgbClr val="0B2B4E"/>
                </a:solidFill>
                <a:latin typeface="Calibri"/>
              </a:rPr>
              <a:t>1</a:t>
            </a:r>
            <a:endParaRPr sz="2000" b="1" i="0" baseline="-25000" dirty="0">
              <a:solidFill>
                <a:srgbClr val="0B2B4E"/>
              </a:solidFill>
              <a:latin typeface="Calibri"/>
            </a:endParaRPr>
          </a:p>
        </p:txBody>
      </p:sp>
      <p:cxnSp>
        <p:nvCxnSpPr>
          <p:cNvPr id="22" name="SD2_2"/>
          <p:cNvCxnSpPr/>
          <p:nvPr/>
        </p:nvCxnSpPr>
        <p:spPr>
          <a:xfrm>
            <a:off x="3966667" y="1948323"/>
            <a:ext cx="3430829" cy="2781604"/>
          </a:xfrm>
          <a:prstGeom prst="line">
            <a:avLst/>
          </a:prstGeom>
          <a:ln w="43180">
            <a:solidFill>
              <a:srgbClr val="E09F3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SD2_3"/>
          <p:cNvSpPr txBox="1"/>
          <p:nvPr/>
        </p:nvSpPr>
        <p:spPr>
          <a:xfrm>
            <a:off x="7396538" y="4711640"/>
            <a:ext cx="822960" cy="310896"/>
          </a:xfrm>
          <a:prstGeom prst="rect">
            <a:avLst/>
          </a:prstGeom>
          <a:noFill/>
        </p:spPr>
        <p:txBody>
          <a:bodyPr wrap="square" lIns="0" tIns="0" rIns="0" bIns="0" anchor="t">
            <a:spAutoFit/>
          </a:bodyPr>
          <a:lstStyle/>
          <a:p>
            <a:pPr algn="l"/>
            <a:r>
              <a:rPr sz="2000" b="1" i="0" dirty="0">
                <a:solidFill>
                  <a:srgbClr val="0B2B4E"/>
                </a:solidFill>
                <a:latin typeface="Calibri"/>
              </a:rPr>
              <a:t>D</a:t>
            </a:r>
            <a:r>
              <a:rPr lang="en-US" sz="2000" b="1" i="0" baseline="-25000" dirty="0">
                <a:solidFill>
                  <a:srgbClr val="0B2B4E"/>
                </a:solidFill>
                <a:latin typeface="Calibri"/>
              </a:rPr>
              <a:t>1</a:t>
            </a:r>
            <a:endParaRPr sz="2000" b="1" i="0" baseline="-25000" dirty="0">
              <a:solidFill>
                <a:srgbClr val="0B2B4E"/>
              </a:solidFill>
              <a:latin typeface="Calibri"/>
            </a:endParaRPr>
          </a:p>
        </p:txBody>
      </p:sp>
      <p:cxnSp>
        <p:nvCxnSpPr>
          <p:cNvPr id="24" name="EQ_0"/>
          <p:cNvCxnSpPr/>
          <p:nvPr/>
        </p:nvCxnSpPr>
        <p:spPr>
          <a:xfrm>
            <a:off x="3108960" y="3125155"/>
            <a:ext cx="3675888" cy="0"/>
          </a:xfrm>
          <a:prstGeom prst="line">
            <a:avLst/>
          </a:prstGeom>
          <a:ln w="2032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5" name="EQ_1"/>
          <p:cNvCxnSpPr/>
          <p:nvPr/>
        </p:nvCxnSpPr>
        <p:spPr>
          <a:xfrm>
            <a:off x="3108960" y="3339125"/>
            <a:ext cx="2573121" cy="0"/>
          </a:xfrm>
          <a:prstGeom prst="line">
            <a:avLst/>
          </a:prstGeom>
          <a:ln w="2032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 name="EQ_2"/>
          <p:cNvCxnSpPr/>
          <p:nvPr/>
        </p:nvCxnSpPr>
        <p:spPr>
          <a:xfrm flipV="1">
            <a:off x="6784848" y="3125155"/>
            <a:ext cx="0" cy="2211020"/>
          </a:xfrm>
          <a:prstGeom prst="line">
            <a:avLst/>
          </a:prstGeom>
          <a:ln w="2032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7" name="EQ_3"/>
          <p:cNvCxnSpPr/>
          <p:nvPr/>
        </p:nvCxnSpPr>
        <p:spPr>
          <a:xfrm flipV="1">
            <a:off x="5682081" y="3339125"/>
            <a:ext cx="0" cy="1997050"/>
          </a:xfrm>
          <a:prstGeom prst="line">
            <a:avLst/>
          </a:prstGeom>
          <a:ln w="2032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EQ_4"/>
          <p:cNvSpPr txBox="1"/>
          <p:nvPr/>
        </p:nvSpPr>
        <p:spPr>
          <a:xfrm>
            <a:off x="2057400" y="2969707"/>
            <a:ext cx="960120" cy="274320"/>
          </a:xfrm>
          <a:prstGeom prst="rect">
            <a:avLst/>
          </a:prstGeom>
          <a:noFill/>
        </p:spPr>
        <p:txBody>
          <a:bodyPr wrap="square" lIns="0" tIns="0" rIns="0" bIns="0" anchor="t">
            <a:spAutoFit/>
          </a:bodyPr>
          <a:lstStyle/>
          <a:p>
            <a:pPr algn="r"/>
            <a:r>
              <a:rPr sz="1700" b="1" i="0">
                <a:solidFill>
                  <a:srgbClr val="0B2B4E"/>
                </a:solidFill>
                <a:latin typeface="Calibri"/>
              </a:rPr>
              <a:t>P₀</a:t>
            </a:r>
          </a:p>
        </p:txBody>
      </p:sp>
      <p:sp>
        <p:nvSpPr>
          <p:cNvPr id="29" name="EQ_5"/>
          <p:cNvSpPr txBox="1"/>
          <p:nvPr/>
        </p:nvSpPr>
        <p:spPr>
          <a:xfrm>
            <a:off x="2057400" y="3320837"/>
            <a:ext cx="960120" cy="274320"/>
          </a:xfrm>
          <a:prstGeom prst="rect">
            <a:avLst/>
          </a:prstGeom>
          <a:noFill/>
        </p:spPr>
        <p:txBody>
          <a:bodyPr wrap="square" lIns="0" tIns="0" rIns="0" bIns="0" anchor="t">
            <a:spAutoFit/>
          </a:bodyPr>
          <a:lstStyle/>
          <a:p>
            <a:pPr algn="r"/>
            <a:r>
              <a:rPr sz="1700" b="1" i="0">
                <a:solidFill>
                  <a:srgbClr val="0B2B4E"/>
                </a:solidFill>
                <a:latin typeface="Calibri"/>
              </a:rPr>
              <a:t>P₁</a:t>
            </a:r>
          </a:p>
        </p:txBody>
      </p:sp>
      <p:sp>
        <p:nvSpPr>
          <p:cNvPr id="30" name="EQ_6"/>
          <p:cNvSpPr txBox="1"/>
          <p:nvPr/>
        </p:nvSpPr>
        <p:spPr>
          <a:xfrm>
            <a:off x="5453481" y="5409327"/>
            <a:ext cx="548640" cy="274320"/>
          </a:xfrm>
          <a:prstGeom prst="rect">
            <a:avLst/>
          </a:prstGeom>
          <a:noFill/>
        </p:spPr>
        <p:txBody>
          <a:bodyPr wrap="square" lIns="0" tIns="0" rIns="0" bIns="0" anchor="t">
            <a:spAutoFit/>
          </a:bodyPr>
          <a:lstStyle/>
          <a:p>
            <a:pPr algn="ctr"/>
            <a:r>
              <a:rPr sz="1700" b="1" i="0">
                <a:solidFill>
                  <a:srgbClr val="0B2B4E"/>
                </a:solidFill>
                <a:latin typeface="Calibri"/>
              </a:rPr>
              <a:t>Q₁</a:t>
            </a:r>
          </a:p>
        </p:txBody>
      </p:sp>
      <p:sp>
        <p:nvSpPr>
          <p:cNvPr id="31" name="EQ_7"/>
          <p:cNvSpPr txBox="1"/>
          <p:nvPr/>
        </p:nvSpPr>
        <p:spPr>
          <a:xfrm>
            <a:off x="6556248" y="5409327"/>
            <a:ext cx="548640" cy="274320"/>
          </a:xfrm>
          <a:prstGeom prst="rect">
            <a:avLst/>
          </a:prstGeom>
          <a:noFill/>
        </p:spPr>
        <p:txBody>
          <a:bodyPr wrap="square" lIns="0" tIns="0" rIns="0" bIns="0" anchor="t">
            <a:spAutoFit/>
          </a:bodyPr>
          <a:lstStyle/>
          <a:p>
            <a:pPr algn="ctr"/>
            <a:r>
              <a:rPr sz="1700" b="1" i="0">
                <a:solidFill>
                  <a:srgbClr val="0B2B4E"/>
                </a:solidFill>
                <a:latin typeface="Calibri"/>
              </a:rPr>
              <a:t>Q₀</a:t>
            </a:r>
          </a:p>
        </p:txBody>
      </p:sp>
      <p:sp>
        <p:nvSpPr>
          <p:cNvPr id="32" name="BUILD">
            <a:extLst>
              <a:ext uri="{FF2B5EF4-FFF2-40B4-BE49-F238E27FC236}">
                <a16:creationId xmlns:a16="http://schemas.microsoft.com/office/drawing/2014/main" id="{1C69F8C9-8E08-321C-4C9D-2E38D5F15236}"/>
              </a:ext>
            </a:extLst>
          </p:cNvPr>
          <p:cNvSpPr txBox="1"/>
          <p:nvPr/>
        </p:nvSpPr>
        <p:spPr>
          <a:xfrm>
            <a:off x="457200" y="5786855"/>
            <a:ext cx="11155680" cy="666849"/>
          </a:xfrm>
          <a:prstGeom prst="rect">
            <a:avLst/>
          </a:prstGeom>
          <a:noFill/>
        </p:spPr>
        <p:txBody>
          <a:bodyPr wrap="square" lIns="0" tIns="0" rIns="0" bIns="0" anchor="t">
            <a:spAutoFit/>
          </a:bodyPr>
          <a:lstStyle/>
          <a:p>
            <a:pPr marL="274320" indent="-274320">
              <a:spcAft>
                <a:spcPts val="400"/>
              </a:spcAft>
              <a:buClr>
                <a:srgbClr val="0B2B4E"/>
              </a:buClr>
              <a:buSzPct val="100000"/>
              <a:buFont typeface="Calibri"/>
              <a:buChar char="▪"/>
            </a:pPr>
            <a:r>
              <a:rPr sz="2000" b="1" i="0" dirty="0">
                <a:solidFill>
                  <a:srgbClr val="0B2B4E"/>
                </a:solidFill>
                <a:latin typeface="Calibri"/>
              </a:rPr>
              <a:t>Demand curve:</a:t>
            </a:r>
            <a:r>
              <a:rPr sz="2000" b="0" i="0" dirty="0">
                <a:solidFill>
                  <a:srgbClr val="0B2B4E"/>
                </a:solidFill>
                <a:latin typeface="Calibri"/>
              </a:rPr>
              <a:t> </a:t>
            </a:r>
            <a:r>
              <a:rPr lang="en-US" sz="2000" dirty="0">
                <a:solidFill>
                  <a:srgbClr val="0B2B4E"/>
                </a:solidFill>
                <a:latin typeface="Calibri"/>
              </a:rPr>
              <a:t>shift inward due to h</a:t>
            </a:r>
            <a:r>
              <a:rPr lang="en-US" sz="2000" b="0" i="0" dirty="0">
                <a:solidFill>
                  <a:srgbClr val="0B2B4E"/>
                </a:solidFill>
                <a:latin typeface="Calibri"/>
              </a:rPr>
              <a:t>igher </a:t>
            </a:r>
            <a:r>
              <a:rPr lang="en-US" sz="2000" dirty="0">
                <a:solidFill>
                  <a:srgbClr val="0B2B4E"/>
                </a:solidFill>
                <a:latin typeface="Calibri"/>
              </a:rPr>
              <a:t>mortgage rates </a:t>
            </a:r>
            <a:r>
              <a:rPr lang="en-US" sz="2000" b="0" i="0" dirty="0">
                <a:solidFill>
                  <a:srgbClr val="0B2B4E"/>
                </a:solidFill>
                <a:latin typeface="Calibri"/>
              </a:rPr>
              <a:t>and out-migration</a:t>
            </a:r>
            <a:endParaRPr sz="2000" b="0" i="0" dirty="0">
              <a:solidFill>
                <a:srgbClr val="0B2B4E"/>
              </a:solidFill>
              <a:latin typeface="Calibri"/>
            </a:endParaRPr>
          </a:p>
          <a:p>
            <a:pPr marL="274320" indent="-274320">
              <a:spcAft>
                <a:spcPts val="400"/>
              </a:spcAft>
              <a:buClr>
                <a:srgbClr val="0B2B4E"/>
              </a:buClr>
              <a:buSzPct val="100000"/>
              <a:buFont typeface="Calibri"/>
              <a:buChar char="▪"/>
            </a:pPr>
            <a:r>
              <a:rPr sz="2000" b="1" i="0" dirty="0">
                <a:solidFill>
                  <a:srgbClr val="0B2B4E"/>
                </a:solidFill>
                <a:latin typeface="Calibri"/>
              </a:rPr>
              <a:t>Supply curve:</a:t>
            </a:r>
            <a:r>
              <a:rPr sz="2000" b="0" i="0" dirty="0">
                <a:solidFill>
                  <a:srgbClr val="0B2B4E"/>
                </a:solidFill>
                <a:latin typeface="Calibri"/>
              </a:rPr>
              <a:t> </a:t>
            </a:r>
            <a:r>
              <a:rPr lang="en-US" sz="2000" b="0" i="0" dirty="0">
                <a:solidFill>
                  <a:srgbClr val="0B2B4E"/>
                </a:solidFill>
                <a:latin typeface="Calibri"/>
              </a:rPr>
              <a:t>owners ”locked in” to lower mortgage rates and postponed selling</a:t>
            </a:r>
            <a:endParaRPr sz="2000" b="0" i="0"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Equilibrium</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Steps to understand “shocks” to Supply and Demand</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sz="1100" b="0" i="0" dirty="0">
                <a:solidFill>
                  <a:srgbClr val="555B66"/>
                </a:solidFill>
                <a:latin typeface="Calibri"/>
              </a:rPr>
              <a:t>6</a:t>
            </a:r>
            <a:r>
              <a:rPr lang="en-US" sz="1100" b="0" i="0" dirty="0">
                <a:solidFill>
                  <a:srgbClr val="555B66"/>
                </a:solidFill>
                <a:latin typeface="Calibri"/>
              </a:rPr>
              <a:t>2</a:t>
            </a:r>
            <a:endParaRPr sz="1100" b="0" i="0" dirty="0">
              <a:solidFill>
                <a:srgbClr val="555B66"/>
              </a:solidFill>
              <a:latin typeface="Calibri"/>
            </a:endParaRPr>
          </a:p>
        </p:txBody>
      </p:sp>
      <p:sp>
        <p:nvSpPr>
          <p:cNvPr id="10" name="BUILD"/>
          <p:cNvSpPr txBox="1"/>
          <p:nvPr/>
        </p:nvSpPr>
        <p:spPr>
          <a:xfrm>
            <a:off x="640080" y="1691640"/>
            <a:ext cx="10881360" cy="2718693"/>
          </a:xfrm>
          <a:prstGeom prst="rect">
            <a:avLst/>
          </a:prstGeom>
          <a:noFill/>
        </p:spPr>
        <p:txBody>
          <a:bodyPr wrap="square" lIns="0" tIns="0" rIns="0" bIns="0" anchor="t">
            <a:spAutoFit/>
          </a:bodyPr>
          <a:lstStyle/>
          <a:p>
            <a:pPr marL="514350" indent="-514350">
              <a:spcAft>
                <a:spcPts val="1400"/>
              </a:spcAft>
              <a:buClr>
                <a:srgbClr val="0B2B4E"/>
              </a:buClr>
              <a:buSzPct val="100000"/>
              <a:buAutoNum type="arabicPeriod"/>
            </a:pPr>
            <a:r>
              <a:rPr sz="2600" b="0" i="0" dirty="0">
                <a:solidFill>
                  <a:srgbClr val="0B2B4E"/>
                </a:solidFill>
                <a:latin typeface="Calibri"/>
              </a:rPr>
              <a:t>Figure out what the shock is</a:t>
            </a:r>
            <a:endParaRPr lang="en-US" sz="2600" b="0" i="0" dirty="0">
              <a:solidFill>
                <a:srgbClr val="0B2B4E"/>
              </a:solidFill>
              <a:latin typeface="Calibri"/>
            </a:endParaRPr>
          </a:p>
          <a:p>
            <a:pPr marL="514350" indent="-514350">
              <a:spcAft>
                <a:spcPts val="1400"/>
              </a:spcAft>
              <a:buClr>
                <a:srgbClr val="0B2B4E"/>
              </a:buClr>
              <a:buSzPct val="100000"/>
              <a:buAutoNum type="arabicPeriod"/>
            </a:pPr>
            <a:endParaRPr sz="2600" b="0" i="0" dirty="0">
              <a:solidFill>
                <a:srgbClr val="0B2B4E"/>
              </a:solidFill>
              <a:latin typeface="Calibri"/>
            </a:endParaRPr>
          </a:p>
          <a:p>
            <a:pPr>
              <a:spcAft>
                <a:spcPts val="1400"/>
              </a:spcAft>
              <a:buClr>
                <a:srgbClr val="0B2B4E"/>
              </a:buClr>
              <a:buSzPct val="100000"/>
            </a:pPr>
            <a:r>
              <a:rPr lang="en-US" sz="2600" b="0" i="0" dirty="0">
                <a:solidFill>
                  <a:srgbClr val="0B2B4E"/>
                </a:solidFill>
                <a:latin typeface="Calibri"/>
              </a:rPr>
              <a:t>2. </a:t>
            </a:r>
            <a:r>
              <a:rPr sz="2600" b="0" i="0" dirty="0">
                <a:solidFill>
                  <a:srgbClr val="0B2B4E"/>
                </a:solidFill>
                <a:latin typeface="Calibri"/>
              </a:rPr>
              <a:t>Determine whether the shock shifts the demand or supply curve</a:t>
            </a:r>
            <a:endParaRPr lang="en-US" sz="2600" b="0" i="0" dirty="0">
              <a:solidFill>
                <a:srgbClr val="0B2B4E"/>
              </a:solidFill>
              <a:latin typeface="Calibri"/>
            </a:endParaRPr>
          </a:p>
          <a:p>
            <a:pPr>
              <a:spcAft>
                <a:spcPts val="1400"/>
              </a:spcAft>
              <a:buClr>
                <a:srgbClr val="0B2B4E"/>
              </a:buClr>
              <a:buSzPct val="100000"/>
            </a:pPr>
            <a:endParaRPr sz="2600" b="0" i="0" dirty="0">
              <a:solidFill>
                <a:srgbClr val="0B2B4E"/>
              </a:solidFill>
              <a:latin typeface="Calibri"/>
            </a:endParaRPr>
          </a:p>
          <a:p>
            <a:pPr>
              <a:spcAft>
                <a:spcPts val="1400"/>
              </a:spcAft>
              <a:buClr>
                <a:srgbClr val="0B2B4E"/>
              </a:buClr>
              <a:buSzPct val="100000"/>
            </a:pPr>
            <a:r>
              <a:rPr lang="en-US" sz="2600" b="0" i="0" dirty="0">
                <a:solidFill>
                  <a:srgbClr val="0B2B4E"/>
                </a:solidFill>
                <a:latin typeface="Calibri"/>
              </a:rPr>
              <a:t>3. </a:t>
            </a:r>
            <a:r>
              <a:rPr sz="2600" b="0" i="0" dirty="0">
                <a:solidFill>
                  <a:srgbClr val="0B2B4E"/>
                </a:solidFill>
                <a:latin typeface="Calibri"/>
              </a:rPr>
              <a:t>Draw the market’s demand and supply curves before and after the shock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Summary</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Module 1 Summary</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sz="1100" b="0" i="0" dirty="0">
                <a:solidFill>
                  <a:srgbClr val="555B66"/>
                </a:solidFill>
                <a:latin typeface="Calibri"/>
              </a:rPr>
              <a:t>6</a:t>
            </a:r>
            <a:r>
              <a:rPr lang="en-US" sz="1100" b="0" i="0" dirty="0">
                <a:solidFill>
                  <a:srgbClr val="555B66"/>
                </a:solidFill>
                <a:latin typeface="Calibri"/>
              </a:rPr>
              <a:t>3</a:t>
            </a:r>
            <a:endParaRPr sz="1100" b="0" i="0" dirty="0">
              <a:solidFill>
                <a:srgbClr val="555B66"/>
              </a:solidFill>
              <a:latin typeface="Calibri"/>
            </a:endParaRPr>
          </a:p>
        </p:txBody>
      </p:sp>
      <p:sp>
        <p:nvSpPr>
          <p:cNvPr id="10" name="BUILD"/>
          <p:cNvSpPr txBox="1"/>
          <p:nvPr/>
        </p:nvSpPr>
        <p:spPr>
          <a:xfrm>
            <a:off x="640080" y="1691640"/>
            <a:ext cx="10881360" cy="3231654"/>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500" b="0" i="0" dirty="0">
                <a:solidFill>
                  <a:srgbClr val="0B2B4E"/>
                </a:solidFill>
                <a:latin typeface="Calibri"/>
              </a:rPr>
              <a:t>Value of the firm</a:t>
            </a:r>
          </a:p>
          <a:p>
            <a:pPr marL="274320" indent="-274320">
              <a:spcAft>
                <a:spcPts val="1000"/>
              </a:spcAft>
              <a:buClr>
                <a:srgbClr val="0B2B4E"/>
              </a:buClr>
              <a:buSzPct val="100000"/>
              <a:buFont typeface="Calibri"/>
              <a:buChar char="▪"/>
            </a:pPr>
            <a:r>
              <a:rPr sz="2500" b="0" i="0" dirty="0">
                <a:solidFill>
                  <a:srgbClr val="0B2B4E"/>
                </a:solidFill>
                <a:latin typeface="Calibri"/>
              </a:rPr>
              <a:t>Key economic principles for decision-making </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Economic costs include opportunity costs</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Ignore sunk costs</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Use cost-benefit and marginal analysis</a:t>
            </a:r>
          </a:p>
          <a:p>
            <a:pPr marL="274320" indent="-274320">
              <a:spcAft>
                <a:spcPts val="1000"/>
              </a:spcAft>
              <a:buClr>
                <a:srgbClr val="0B2B4E"/>
              </a:buClr>
              <a:buSzPct val="100000"/>
              <a:buFont typeface="Calibri"/>
              <a:buChar char="▪"/>
            </a:pPr>
            <a:r>
              <a:rPr sz="2500" b="0" i="0" dirty="0">
                <a:solidFill>
                  <a:srgbClr val="0B2B4E"/>
                </a:solidFill>
                <a:latin typeface="Calibri"/>
              </a:rPr>
              <a:t>Markets, supply, and demand</a:t>
            </a:r>
          </a:p>
          <a:p>
            <a:pPr marL="274320" indent="-274320">
              <a:spcAft>
                <a:spcPts val="1000"/>
              </a:spcAft>
              <a:buClr>
                <a:srgbClr val="0B2B4E"/>
              </a:buClr>
              <a:buSzPct val="100000"/>
              <a:buFont typeface="Calibri"/>
              <a:buChar char="▪"/>
            </a:pPr>
            <a:r>
              <a:rPr sz="2500" b="0" i="0" dirty="0">
                <a:solidFill>
                  <a:srgbClr val="0B2B4E"/>
                </a:solidFill>
                <a:latin typeface="Calibri"/>
              </a:rPr>
              <a:t>Market equilibrium: intersection of supply and demand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The Economic Way of Thinking · Next Steps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Next Steps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Market Equilibrium</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sz="1100" b="0" i="0" dirty="0">
                <a:solidFill>
                  <a:srgbClr val="555B66"/>
                </a:solidFill>
                <a:latin typeface="Calibri"/>
              </a:rPr>
              <a:t>6</a:t>
            </a:r>
            <a:r>
              <a:rPr lang="en-US" sz="1100" b="0" i="0" dirty="0">
                <a:solidFill>
                  <a:srgbClr val="555B66"/>
                </a:solidFill>
                <a:latin typeface="Calibri"/>
              </a:rPr>
              <a:t>4</a:t>
            </a:r>
            <a:endParaRPr sz="1100" b="0" i="0" dirty="0">
              <a:solidFill>
                <a:srgbClr val="555B66"/>
              </a:solidFill>
              <a:latin typeface="Calibri"/>
            </a:endParaRPr>
          </a:p>
        </p:txBody>
      </p:sp>
      <p:sp>
        <p:nvSpPr>
          <p:cNvPr id="10" name="BUILD"/>
          <p:cNvSpPr txBox="1"/>
          <p:nvPr/>
        </p:nvSpPr>
        <p:spPr>
          <a:xfrm>
            <a:off x="640080" y="1691640"/>
            <a:ext cx="10881360" cy="3590727"/>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500" b="0" i="0" dirty="0">
                <a:solidFill>
                  <a:srgbClr val="0B2B4E"/>
                </a:solidFill>
                <a:latin typeface="Calibri"/>
              </a:rPr>
              <a:t>Problem set 1 posted </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Due October 3 by midnight</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TA will send submission instructions via email/</a:t>
            </a:r>
            <a:r>
              <a:rPr sz="2000" b="0" i="0" dirty="0" err="1">
                <a:solidFill>
                  <a:schemeClr val="bg1">
                    <a:lumMod val="50000"/>
                  </a:schemeClr>
                </a:solidFill>
                <a:latin typeface="Calibri"/>
              </a:rPr>
              <a:t>BruinLearn</a:t>
            </a:r>
            <a:endParaRPr sz="2000" b="0" i="0" dirty="0">
              <a:solidFill>
                <a:schemeClr val="bg1">
                  <a:lumMod val="50000"/>
                </a:schemeClr>
              </a:solidFill>
              <a:latin typeface="Calibri"/>
            </a:endParaRPr>
          </a:p>
          <a:p>
            <a:pPr marL="274320" indent="-274320">
              <a:spcAft>
                <a:spcPts val="1000"/>
              </a:spcAft>
              <a:buClr>
                <a:srgbClr val="0B2B4E"/>
              </a:buClr>
              <a:buSzPct val="100000"/>
              <a:buFont typeface="Calibri"/>
              <a:buChar char="▪"/>
            </a:pPr>
            <a:r>
              <a:rPr sz="2500" b="0" i="0" dirty="0">
                <a:solidFill>
                  <a:srgbClr val="0B2B4E"/>
                </a:solidFill>
                <a:latin typeface="Calibri"/>
              </a:rPr>
              <a:t>Optional practice exercises in the textbook and Achieve</a:t>
            </a:r>
          </a:p>
          <a:p>
            <a:pPr marL="274320" indent="-274320">
              <a:spcAft>
                <a:spcPts val="1000"/>
              </a:spcAft>
              <a:buClr>
                <a:srgbClr val="0B2B4E"/>
              </a:buClr>
              <a:buSzPct val="100000"/>
              <a:buFont typeface="Calibri"/>
              <a:buChar char="▪"/>
            </a:pPr>
            <a:r>
              <a:rPr sz="2500" b="0" i="0" dirty="0">
                <a:solidFill>
                  <a:srgbClr val="0B2B4E"/>
                </a:solidFill>
                <a:latin typeface="Calibri"/>
              </a:rPr>
              <a:t>Module 2: Demand Analysis</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Textbook reading </a:t>
            </a: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Read news article I will send via email/</a:t>
            </a:r>
            <a:r>
              <a:rPr sz="2000" b="0" i="0" dirty="0" err="1">
                <a:solidFill>
                  <a:schemeClr val="bg1">
                    <a:lumMod val="50000"/>
                  </a:schemeClr>
                </a:solidFill>
                <a:latin typeface="Calibri"/>
              </a:rPr>
              <a:t>BruinLearn</a:t>
            </a:r>
            <a:endParaRPr sz="2000" b="0" i="0" dirty="0">
              <a:solidFill>
                <a:schemeClr val="bg1">
                  <a:lumMod val="50000"/>
                </a:schemeClr>
              </a:solidFill>
              <a:latin typeface="Calibri"/>
            </a:endParaRPr>
          </a:p>
          <a:p>
            <a:pPr marL="603504" lvl="1" indent="-310896">
              <a:spcAft>
                <a:spcPts val="1000"/>
              </a:spcAft>
              <a:buClr>
                <a:srgbClr val="555B66"/>
              </a:buClr>
              <a:buSzPct val="100000"/>
              <a:buFont typeface="Calibri"/>
              <a:buChar char="–"/>
            </a:pPr>
            <a:r>
              <a:rPr sz="2000" b="0" i="0" dirty="0">
                <a:solidFill>
                  <a:schemeClr val="bg1">
                    <a:lumMod val="50000"/>
                  </a:schemeClr>
                </a:solidFill>
                <a:latin typeface="Calibri"/>
              </a:rPr>
              <a:t>Take survey I will send via email/</a:t>
            </a:r>
            <a:r>
              <a:rPr sz="2000" b="0" i="0" dirty="0" err="1">
                <a:solidFill>
                  <a:schemeClr val="bg1">
                    <a:lumMod val="50000"/>
                  </a:schemeClr>
                </a:solidFill>
                <a:latin typeface="Calibri"/>
              </a:rPr>
              <a:t>BruinLearn</a:t>
            </a:r>
            <a:endParaRPr sz="2000" b="0" i="0" dirty="0">
              <a:solidFill>
                <a:schemeClr val="bg1">
                  <a:lumMod val="50000"/>
                </a:schemeClr>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851</TotalTime>
  <Words>7728</Words>
  <Application>Microsoft Macintosh PowerPoint</Application>
  <PresentationFormat>Widescreen</PresentationFormat>
  <Paragraphs>970</Paragraphs>
  <Slides>71</Slides>
  <Notes>71</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Aptos</vt:lpstr>
      <vt:lpstr>Arial</vt:lpstr>
      <vt:lpstr>Calibri</vt:lpstr>
      <vt:lpstr>Cambria Math</vt:lpstr>
      <vt:lpstr>Roboto</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Wasserman, Melanie</cp:lastModifiedBy>
  <cp:revision>170</cp:revision>
  <cp:lastPrinted>2026-08-10T18:54:10Z</cp:lastPrinted>
  <dcterms:created xsi:type="dcterms:W3CDTF">2013-01-27T09:14:16Z</dcterms:created>
  <dcterms:modified xsi:type="dcterms:W3CDTF">2026-08-17T23:26:38Z</dcterms:modified>
  <cp:category/>
</cp:coreProperties>
</file>