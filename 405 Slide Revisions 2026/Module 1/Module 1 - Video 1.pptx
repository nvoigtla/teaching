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8"/>
  </p:notesMasterIdLst>
  <p:handoutMasterIdLst>
    <p:handoutMasterId r:id="rId9"/>
  </p:handoutMasterIdLst>
  <p:sldIdLst>
    <p:sldId id="257" r:id="rId5"/>
    <p:sldId id="376" r:id="rId6"/>
    <p:sldId id="667" r:id="rId7"/>
  </p:sldIdLst>
  <p:sldSz cx="9144000" cy="6858000" type="screen4x3"/>
  <p:notesSz cx="7315200" cy="96012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oigtlaender, Nico" initials="VN" lastIdx="34" clrIdx="0">
    <p:extLst>
      <p:ext uri="{19B8F6BF-5375-455C-9EA6-DF929625EA0E}">
        <p15:presenceInfo xmlns:p15="http://schemas.microsoft.com/office/powerpoint/2012/main" userId="Voigtlaender, Nico" providerId="None"/>
      </p:ext>
    </p:extLst>
  </p:cmAuthor>
  <p:cmAuthor id="2" name="Giuliano, Paola" initials="GP" lastIdx="16" clrIdx="1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3" name="Wasserman, Melanie" initials="WM" lastIdx="18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CLEMENCE TRICAUD" initials="CT" lastIdx="10" clrIdx="3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5" name="Nico Voigtlaender" initials="NV" lastIdx="2" clrIdx="4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683" autoAdjust="0"/>
    <p:restoredTop sz="86197" autoAdjust="0"/>
  </p:normalViewPr>
  <p:slideViewPr>
    <p:cSldViewPr snapToGrid="0" snapToObjects="1">
      <p:cViewPr varScale="1">
        <p:scale>
          <a:sx n="109" d="100"/>
          <a:sy n="109" d="100"/>
        </p:scale>
        <p:origin x="1709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03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17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2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D6A2-2BCD-4141-A2F4-39139519DC02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AD7E-7D64-BD40-91A0-C5C5947E2875}" type="datetime1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FA7E-006D-AE49-BC04-143DF79CFA6C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695A-4E14-C44A-BF18-63C4AC7AB7F9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D09D-7ACE-C24D-82D2-2A3474C1C790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9CF3-62E0-EA43-91F0-4EC3CCA8A119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8F7A-95BD-864D-8A9C-B9A5E49A398C}" type="datetime1">
              <a:rPr lang="en-US" smtClean="0"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C734-EBE5-7046-8237-D07E17A8D666}" type="datetime1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8220-CF05-DC41-BC38-7127A5DC38C2}" type="datetime1">
              <a:rPr lang="en-US" smtClean="0"/>
              <a:t>10/7/2021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BC23-2BE1-3A45-B714-AFD04A977F47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8EE9A-7AFA-5A4C-B21A-890A8131A854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61F6-AA39-6442-8DDE-E6CDCA25A876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F32D-FB23-1743-9BD5-BA049F9EF854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8F84-E522-9D45-9A97-DDFB323F750A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881E-FFE2-6D4C-AA34-3308C0ADC68C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4253-A354-6045-AC24-F0724896F255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FF48-91A1-B143-AD51-ED88709050B7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D19D-8740-AD45-8DF9-A83AB358B74C}" type="datetime1">
              <a:rPr lang="en-US" smtClean="0"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6D55-B624-514B-8991-FFF17B93E6E1}" type="datetime1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743B-631B-834F-9DC3-A35DD28CB298}" type="datetime1">
              <a:rPr lang="en-US" smtClean="0"/>
              <a:t>10/7/2021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78B-4E2A-0248-9231-8C418E54563B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8E802-2662-1F45-B7E0-D8C55A851183}" type="datetime1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E5EF2-0429-4B47-94AE-0AE5B8F45E57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ECF2-EFC1-A246-8403-C4EF7E1DDBAF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FD87-0B42-CE4B-9088-C559197E297C}" type="datetime1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081B-112D-D446-B951-6C95BC836B76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0420B-45E2-3D4E-BB99-3B2B4EEF04B8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B162-B9A1-A44E-AC1F-CF3754965C48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6935-97BB-7D47-B7D5-637BCD81C17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D60E-591D-4D46-B5B2-D025F497B61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EE8A-7FEE-5E4F-B84D-DA90C899064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8FF4-C872-4D4D-9BA2-95526D7F077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7247-73A5-C742-9FE4-11842F14DB9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69FB-412E-A34C-BE77-A0FEF84299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337FD-D8F4-EA4C-BEC0-55A323C292F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2FD3-B251-B14B-A31F-C33C0A85D1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4F66-E4B7-F84E-B380-FECBD842D40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44D1-B787-EE40-B7EC-E5D099DD1EC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A7EE9-BDB3-594E-B507-06F4CBFCFAE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5D21-9C4F-DC41-A2D3-7071AC256DF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1695-3215-7642-9658-A90CD260C03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88CA5B7-BF38-844D-A217-8D897D011E98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55AD3-ABED-454E-9734-E14628C9BF4D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C0387D30-8C78-4D48-8A4E-EBB976F8A35E}" type="datetime1">
              <a:rPr lang="en-US" smtClean="0"/>
              <a:t>10/7/2021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9AB94A9C-1A42-8344-8BAD-E473AA7FF13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10/7/2021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15" y="4406901"/>
            <a:ext cx="7772400" cy="1362075"/>
          </a:xfrm>
        </p:spPr>
        <p:txBody>
          <a:bodyPr>
            <a:normAutofit/>
          </a:bodyPr>
          <a:lstStyle/>
          <a:p>
            <a:r>
              <a:rPr lang="en-US" noProof="0" dirty="0"/>
              <a:t>Week 1 – Video 1</a:t>
            </a:r>
            <a:br>
              <a:rPr lang="en-US" noProof="0" dirty="0"/>
            </a:br>
            <a:r>
              <a:rPr lang="en-US" noProof="0" dirty="0"/>
              <a:t>Introduction</a:t>
            </a:r>
            <a:endParaRPr lang="en-US" b="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Professor Nico Voigtländer</a:t>
            </a:r>
          </a:p>
          <a:p>
            <a:r>
              <a:rPr lang="en-US" sz="2400" noProof="0" dirty="0"/>
              <a:t>Management 405: Module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7822B-922F-5646-94B9-B9B91B03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2" descr="data:image/png;base64,iVBORw0KGgoAAAANSUhEUgAAAgQAAABiCAMAAAAY7jvKAAAAw1BMVEX///8Qe7YjHyAAdrQAAACEttYAcrLF3OsbFhcgHB0AeLUIAAAdGBkAdbNqaGkPCAr5+flbWVre3t4WEBH09PR6eHkchr0zLzCYl5hUUVI7ODlwbm9VncgUDg/T09MuKivAv8Dn5ufv9fmMiopMSEmlpKWwr69JlsREQUKCgIE3NDXb2tuLiYrDw8PNzMxsamuqqaptq9Dk8Pat0eWQutibxd7Q4+9opcwwjL+4z+PK4O7a7PSbxN4iib681eePttVssNPmOyI8AAAa7UlEQVR4nO2dB3ujPBKACdY6NJvqHgy4EFzjzbZs+XL3/3/VqUtgitfxnXO7nufuy9oSAjMvo5lRQfnw58hP5SbnSeuPkfb9te/l/63c/TFyg+BsubbqLic3CM6Wa6vucnKD4Gy5tuouJzcIzpZrq+5ycoPgbLm26i4nNwjOlmur7nJyg+BsubbqLic3CM6Wa6vucnKD4Gy5tuouJzcIzpZrq+5y0gRB0lthmTtvu2M70szyba28K7m26i4nTRAMQYgF7N92x5a4HXP0Rpbek1xbdZeTJggyS8USrt52x5Y2akVzbxC8Q2mAYK/qBAI9C950x24QvGNpgGAeqlT8+E137AbBO5Z6CIKxziB4Y39wg+AdSz0EO4C7AkwBeFN/cIPgHUs9BBMfMRBFGIL0LXfsBsE7lloIkjGKDcK5i/743bfcsRsE71hqIYix5sC0hw3C2nvDHbtB8I6lFgJXwxAoSxP9NQ8V1ZxpnKbxPil+H+yGPbc3jJEzUQKBM02HT6h8WnkByUY0utnFaVx2GtjSPp1P3Kdtuqv0W5IdOnhTeaYz5Nqqu5zUQRAAojjFw/+wRlLZYeQiGUINHEaRCQBQs3lOP8Fy4du+Bv+fHUogcFJ4GC43B+5OHLbF7Y6gA+LMR9kgCmhj7sCCJwGmOu7GeXPiDEcqbcnKtpK5GuKm3FhRvN4YHR0O3DcmPmW5tupqxfidynUQUAMA9RHhAAFISh4CDYrZVTwXaLhUt8xIeqa9EaDJRtUCkyMINiN6GDpSAy5vumujhsFS2WempuskJkl1k9XWLR/kVLlcmxZvybLNIbcGPRNf40E5WLbFzrS6WId0iiqIVBaUq8rodNCfTqdllB10kl77z4+nc1ADgYN7Az2CNnSOVWgPReEQf+NPgkhTuVg6144nf6+C7TDMQZCqcjF0PjPGT9cnXU9CGsAQrGw9V1sLY3aeYGVauTI9XDCgsCuj+mkqH+67F2LgBAj6TE4vMTrt/rfP31/v7++/f//40uoYxwedoNbOL+VD64R6RGog2ODnH+ttbxV7dAKBPiI649oZUwUkWe57VV3rcguxTzWn61Q/fuTJEIRD2jCCIAWkrh+GvkYPY7T1ALMBGrMHYebJEOhulEMIXGoks1kTn2jNH0VNv7A2Puc1Zdw9fHmWzzH78sAse+cL/e5rs1aNl5nytX0iArUQED3bcwXpFCvN3xcK4b3H/+V3mBmLLk0367CzBj6vQiGYmvSjGY3Hvk+fUGLGifL1jFoKCIFHlOhnve285xJVa2tynpVJGbKgj5LRZv2MoEYgUAln/Br1wVuiHEma7+0rrXlf1NEDa+NfMgRG++HHUWfl3L+0860VkSo78y9Y7xSL0QgBdQSm4n5K/QGFAOkDAPg/9mQPsCqn9Pk0B8v9fvcEmO0nEAQuUTQYxRvP2z8BciISfFALgL7StdCGEBxwY4C4ncEuwqcC2JdM6VWA7jQJgiRdE/YAuc4es0Z6iK6RIqKaQ+Ui0nxvv9KarwXL3PrI2vgmWXvjoWJd6KdOvrVO04mNPqr3ubFeMwR7kjKO5A86L+UQ+NhLi0f0hpN5B1STJp2KslloMgSpSRpjykjxs6oPEulQ1HLU3Q6HjjJCB/sTduYpBiTsKWhog7Dn82QmCWp1YrIYBLq+gg9/cCD4qNagQbsnSvO9ZZb9e0Ednc+0YPbAITDav6pc1mdsCjq8tUY730KG4BSL0QgBcQb9Hv4QELNg8v6AQWBPiBX36MQDbCw21IBzH8yz5O5gjavaYkSKjFWGWJUcArubkLuCq9uiJ3eBbdtgFHBDYPd4Ge23QowMg8Cnx8bRJUZBuDTf3BmtWXwmuWWfcRfeePlReaJ7onUGwa+mJxx5BFCck+ODSgiSDN+xkIbwPaKnLSumEFhj9sWOWGIMzYEaEZGbIUQRCEhfoYdCFY7GXVAOAeBGG9sJYQmUdD6EsgwUZ0E8koEUulInEuuZQiBooxcNSvJNZ0jjve0zCD4WuoMOU/jzC9WT0X+uOg3sDhAExj+sRqPb36Yu5Mn9QSUEO2Kzx9SLSvENtTJ2/+j9tGN+AHG9NDTCQIyyJg02eKqIDlh0KZ2MBKM20hyFwFrwQvJwa9sj1SVE4blB7oC4gTayKjQ6sLgjSJJeqrkrtnSWNN1a+kBCeSg+kqx7/9lnDNRtE4EffdHat4YH3Hih/crzqfFBJQREGVyRCZlZANj9oyHiWHjaCxpGKowHOa0QUC4QBBPqZAYJk4D0B7hxCoE0h4V+Y5vuPN15UsdJfAuicC6kdWyyevQncJPjUAhi5RLSCMEjU1vRLnOV/2QFX3MtO7PZ8/Nsxn4qfvSNh6rWjs7LYsnGmk0QBCTBIsYLuliL/hP9SCCwRsKmSxBQkyw/cCueLEqoEV9nYybZQFDTLZgcNqkBHW3b+iDrLhkIW9ID2bkRgYNJNO8wCEQXpjjUs4nLf/NvSiME35gW+4XM3wuz7DSWN37J7f74/PDSb7f7/W+/CBv40Ret/VOvWoP3Qs3eQwMEabH7pC59RL+og8Azj7veOU8bU5sCzbQQGt8jf6JggRRkRfgcN+joW5oJXPLssz4/10/EBCKUNjyKa/+3ELQ+sJoFrQkT8YohaH2TWr1/vOuQ1LBhtO4eEAa4NxGtNZyWp6ggYyemCiogcIhV1ceHlMqSmmlqe+sgSCgEshMuxg42Um4pL9iKHEMAsQkLFUMXdUPEOKl27spj7b1AwANBp9A3G1zpX/CjaojOwPmYHy9o9WEggb3H1r9YnfqeXvgOysn9QQUECdWUbjKhISENGU+CQI57JQhoptjSimJXQKAkXRDmRwjCdcD8z3cLQYsZ+Z9FCHiuiPT2n3mTz49FA25AlAgErLVZPQStT9IlfjnNNayAYGhWPK06Nb51EATUJ5D7aqk7ILFn5B4LcvPLIIBh5SoLTV8yIfbEKe8O0pBf2JUhMPjQQUEVwrJ/xE8qjwxmDyWduPGlT/7QSkWkCrX78iU+v8kSLPIPniR0quEpjmEsNUg9dQhBMEIV9fHUCY5EqYIAWoNp2h0D0w6pidI9lnywc3MEaAD65FwfApYS+lRQWyfnvoscsvKt1JEz8q3d10LQkQ1BczhZB8Hequq3VY1MLamFgDj7klvOQgIcIhLdWBXTO6ogILJJt2uakl6ysMGWhwXJ+DfR/JUhuGO39ksxYcgVhQx9h3sEtYMCBmutiFS+FvM56Z9Pb4CA5QN9WegoLpk5UgtBlz/2TKake5GSRXh0skSOIPCmWHhbCakBnZOANOpPJOeD+iM2Ck+vDQHT7ociBF+lJkSoMKt14wzWadTGfYyv53/Tv6cwUA5BQJN0k1SWlS09eLUQ0NytJm72SBMQJDRtLHXl8y2SFXb5ixD0ABZhOAKcZEYZCxLCqKFkVEg+QlfxkVeGgGUDPhaU255JTQiv/3ttOthgBxWRylViHsF9i/7jKFl5MgR0JFjLp1c94tZbC/Tg1ULgkf7AGtNSh61mI8ZhRPNO/NgYL1m2cWLhCAJyplAYDjKYhcKUmE4uEJmlmCYrcU90bQiq8rxt1gJ6Tnlf3xDPGaxa3dABDw0e2tRwvJ4SH5RCQJPuUf5bh032QQ9sLQTsEfUXMTpu32WxBoFgR+YL2i7NOcfUh8BjAEcQTMnFhJzI2KQ+AQwS6XlGdHLaTqX0JeJnXA0C7qcXn0ZegOYIGcxeNIR+d+ygGl+Pdy1f0fwyLM+n5IvKIKArEHNDPEiWtD9Aj1k9BHua6bWs8WIx1vl8Quom0I7Fj9xlHC9dOj2JDDoeO4ZkMoKuLtHQspMssSZ1FdXmQ9Sqe0jTw4J+BHJG8VoQ8Dlkxb5eTC67NyQiah0+cZBTY+C5x/m5xRNSxb7oVAhi+sQX7xV1uqxF0ASBMmFzTmhSWPdlCALq4euabQKbziOmY8fHEOzIMIZuRt1e72lM5iGFT7illE4X0jUTmGzWMaD0XhmCR1qPjxezAj65DPruvFbDCDGvV+M+Cuz6Bh+feD0TApoyHhyN3a5prm/XCEHCZhoR0QdzMYqooCkohXmoaNSfFJWEiEs2mVSDIQp99PkYxnESms8qvzIE7Fn8WbDIIjHwy5Cyh/UhPW+tiJTcMDMEyKi02JyF8yAIfNobHE13YpMI5o0QKJ5qC7XoIN7l1x14C5BLR1mAna0sTzAE+Qnqqh3xgAA6lTkMfLBl131dCHhesDg7uMPHDD+3ROKoPkAUrRWREmI8sh+OOGn9m344oT8ogWAJcFqgZGr2xg9RSQgcZWjqUDQZAh+Z/pBNKUt6zM7r5noHdYWOlPYsWmZ8zQi05Rl3+7o2asbOJ4umru2zyem6HoYTyUglPd3mZb7ZFfFiz0bXKM0rdVQNNX7Uz50nDXeW6/pHQQud76yFf7VErZonPNda9YRz7hG8YiT+oZ/um8eTyyDoYZkcT8IKhrTIK7EETwsswpuMXR0CE2oRmie8meAjpXkmyXKhaWgpga8uUnGuFWmmsCVGMJ1Elo9ra1FvmrdR0zksC9GiBH2yl4qOLYGL284usxatCQKuk+L4Eb/lsAfg0w0bIGgzcr5WVRP+JnEd2cTUhoYrILicBLv4kFYvN1WCfXo47PZH3U65JLC1Q7orXTWQ7A6Hw2XXmzbKqXf2KMXHemvk6HNUGroDnmUsjkYJCFhLP8n5WqyjaV6KdNvM8mxpurMsz1tM8fHJZUjv3MzXhX530pyDqgnnwhBQpXNXshKbGwRvl5MhKCw145PLZn3ZS2x4YJuGDrhJeabTz8R5mhi4QXC+NN1ZPn5UgIBnBtBovwgR65NF/YYJ5yI0+NKmq5fbrNupG224QfA2OfXOFqb/izQBmhkgrPisdiCZP9YV6QQxBPHxkcoLD08arvQGwfnSdGeZfS704uKO4yeUDwwpH8unlJBJp5XT12mtf3gzMyHsm6aphjcIzpYGCDo8WZRL74jegMwdFAHjz36JrowXrEHjoX7CeedVqZGmpUg3CM6WBgj4EEF+TSCP5JSf+HNLTDMtmRZq3P2kqw5YpXJD8ChNMT6W+mmJNwjeIA0QiPFBOUZr80mmyi/s4slTxD8UNdx+mBH7L+amlj7U9YaA2pwbBP8FaYJArC37wDadMYyPXOUO1YyswC93ku9vtPqfHWWGq/E1DM/M95d3PRLeZYU0LEW6QXC2NDEgGfpP/7TbnU679SApnIWEOQ0+f7hrd7ByO+2XzygiIGE/H2f6+VgQ5HAYDYagaYebKgg8tDPgluxBeCzOLv29/HuwHNasB9+nKT1REKeFluEXb9pP978nTRDIhn729dOvL6/PUoJ8xk20kZslPnv98O3x5eHjr6/kaOJWignKs7yggQLhNc6Kwo5qyEmXQhCsBgDYNgBkgthxuQuK047qxQOgegxhpQJAJy8kYwDWMi6eDoD6W6f6b0o6jMWHJggkzZWIGOE17mr2JqBBfrXBfpQGoZTHfl54JFLfH5S27rgmmKRxHM91u3Szr6Br9kq+rhZPq4ZgZ4fugVoCtNNIbqR3aav6hbaXebs4XSANcTdCYPxT7bPLkUDroca3JzOD2pX7F7wYoj957eQfeIO7Jc+1OelSCOYgouP7iRuWrRK5KARLU6wmRMuTNGnnVGeh6e8IgokpGcBGCO6MD1UtvebqSYuQjoSkmtpVmED3UngER9nEFhuArh+eKoVgYfLFQ94gLNn98cIQCC07eKWxGBKegmh9qY2m3i6/CwHZSq5EjhamVdsCkuhpVxU/91t8yuKPI5sv0gu1S5HKIIAds9jLemiKfQaShP6TQhAkOW+v8BF9Zn5lEQJHFBUg8NWJ2K5Imdijni+Kg8LUA6kVXHz8WyrOSa8vYM04ua8LPqw47nchuLsrpeDDUTXjscovIANGnaof9bMvPIKyp539sJ91F1k+5dwUSz12AzUm/zpMFtmihz9gCKa9UbaY8HlhKfw4mghPPhh2F5m7JbrPQ5DMu1k2muNv0mFXi4bDlFwthCCKAX/pVgKvZBVSCKbzVXeyJReTDGG0kcILcldMY/v5yu1t+eVM5z1U2RvSvY6d4VOWuXMyJWU3XMKLcOFn+CGGzTzx656uXPiryEMAYxoPn2WEFkc56XChLZbsUk+DoP3tSLuvL2Vrj43PZcbg/oHYjH5JGZYfd9wQlMWBQr11/UFpd+CGg7j43RTGC9HYBwDtPAohWA3x6jAbEF68BQBWFkI3nyr7AGOLwRrWwHN/cxBA4wIGA/ifFdqBDEDXj7SqEEsQjLlreDDNpEcggAEJEbxp7SYE8Qjvem6T3Y2SEStOWG0t84G7BGTl+g5FIGN4TmxltiDbm2CsmvC8E2CPbfYznB4AYQbr4pc7bCJweCJnAakSZEBT4Q1g66pOggB6h59y5uv+W8UO5J2XIgZiT9vqbNDrHTcER/nGOznT+KkmPiiFYA9/bS/OfbVZm1maJN5StycIAj+zx+nGG0aWiW5XsrDVpYeKfTIZPLXt0T5JNm6IdxmUIUgBLpp2Q2Rc43TiR4cDPRuEwFJ6PP4c2d2AQtC1/dV+s1mp2CJ7qpWBp/1mP/HxDrdO1w7nsLinmmh2ItSshS5nNxjoOrqevQpcdDkTG29ztbWjMboGeLYnsPKSaab5U0KHPfSSJB6baJcLb2yNgbvbTHuWtQ6cYW+sjdJD/DuWAO1S2f/4/cfX59nz1/vvH/vt6mUDnfbjr/uvKLifzZ7vf31ribr9hwp5rNlFmxx5wrbY5QFoasFnwxwNxay9hbkgD8A0Qg9FV6OrP7wQL1DtmTZR8iYK0eRTL7K75F4NAdr8SoJgqrKOdWvjpUIFn8BC3iA5rwfgYz7BEOyBTiz2Dhd6qm6yjRLQjnQx0GNKGEozzIFK+oUERhcJWmHLYrttaAbov36XbLCrkZ7Pi/DflB83ACsEga6RCPlg4q02f98nwNLq3PVfXv7p3xU3rz/mAFV8fISV7/LhnlElTTvg126qXwuB4vUGmh3a9pq+YYLfZEV5Ai7WFZ3w6SJDOgV8Tu/SRPvQr0y2OsQZ+xAfCYInm2eDyK7WRxA4Gd00bWtC00sgWHErbKG1Lx7fLjUxbVh5AhbUqdDQkoQwZMFLChAEB8DWrCYRSnzMbZUEvit7jZsNunivnIyHRUvbdCAEPgtXQ7T28bejg7wyTq54ct0LSfWOpvF8ZILQJ++j6NoL1rN5aexA68s2m5wgCFYmf0FSEKE9ZYHYYRI6B1MJAscWOxMsTbS4VYZAWYUWWvmQ4UvIoG13CAS7ZUzb15AT4IkN8kxkimJWnGjaTtmZYpNNDIEU83ZNaAO2ZkY+DQFlaWVCde90Hgl5KGfljXmqbADeCMF7lroBJCdInwaaD+9XsLBzaWIpT4AhGNk8meA8hZGyASEPMqeROZQg2IWm8MRt9HzlIJjbFjbGqHZsmxsGATltkKQjXyMQsJ7K5DuVwNguXfjQUCxtsY9RZCVKsjYPbOPMng2NwrwcggPsS6h4A2jbPOGiRn8rBFhPrg8OymaQ31ikAEGQhSKdug0BNMIWj9XgsSsJgtQ280V5CLYIAqULUPMQrUBAsFmuXBhtuBG1BKx7oRBMYfEAFUNLMJQgGEAI9ij+YGKrmypLAAkU1eAl/M0QpMxXx/oeQPMOY4PcSwLqIBjaCAKda9pbw/hAQAB7B/GOnHEFBHsw9pQEIGeMQhD0fBC5q0OilEKQwOKBu0qDAEEALQFfoqLC7mAf+b05k+280hJs7cF2y+ulfzMEMHSXE7UT2IlCbeXSxHXdQS800cpDYfMHue4gDsV60KmFDEwJBNCbj9Fyx4RDsAU+3c62FAIcEuIrQxDA+JSfA/kEMKLJb7pSYQmWIJ+h/oshgFZRTu/1zG6guDYf1Un2U+gY5iHAHS0RaBVcJRDRAtQ6fPQFBEkoFeEB5hIIIABZsMDnIBDgwJSIWgLBlA89OjqEIAFsz00U1sArywTDgUeihTIIYk1KkXvBXw3BTgul536B0i9DUxWvnlooRQhSwHcl35sovsNxIa0QWrkQcRy6rGjho31lyiDYqObBwq/YIBDsLKaeBGjHEEDt0Tan2BtxQ/qmLBhyIgh6Joe0N5g48HpLIaDZAnyaLIr/agjgPbR5SLVEDzKMvEK6ANlbwxtV7A6chU3DeGgIUK4t9tko0A4bBQmC2GRxVwrwxkPH0YGCNrfSNAwLgWCvA67VcgiIE+CMUHSgbCLNX26SZOoCnDH0NLbWfWqhC6uwBMqKp0NWpu0cQ/BkS8Pc11bd5aQUAk/1w27sQEm2KlH3wbbxWvVk4ZveEQQwwjbxNlSJ6+Mu33ky9SV+31FkI5sgp417wD+QohCrIgfB0CQQxIDulUcgSLJw5KHr6fpquDyCIFmjl+U4zsa1IhycxqZvrxeZDpY2ThsPTXOygRXisT1wqiFIMjtaBvA0Kw3xWYRAWYX+1GF27Nqqu5yUh4jeApjAjMYqjJWGJEu0BKbZXXVtnHwPSAyH5IkMvaQaDM9Wrs08wmAEQNTrjQHA76r0QsnNcAEY4CLyXtQlkLZJWwIf/03GPrHw0ASjYmg1wGChAj3dwuPQrDPWHkDqQcXrkQWieGIC9E6GPR5vsg4kWYS0Da9nHdIBJg7BnEMAcPYryWC9QUR/trfmEJDXKcLQF/CB7mur7nJSkScIUjdbR1E22vLRg90IIaFlSMlOb83zq12ida879k1/3WW6cZaLyDbVjLwQzVuMpc0D0kVkmjotUg4D8aob5bCmb1UarokBd1ZjXDx9yqJBBq1RMlmsFC/jL1h6ekKK2ndR8SqB17HAl+Z48XCXKAwCVGEQjUdkYHnXpQnNtEtVunwi3kCwXIzh7+7iaMIb8dHUXhf/a5UNBiw3dW3VXU6qk0WBN5XeWa7gd5Mv2XvJg+R4Akeyi3M7SDjTXbxn1ZzceKozjUVRri2Hzehw2EQPXhxMPVExSArzS1Ax/2rKG4eOIvs22ExPegNWMp2KSzs6yyb5W7qD/3cZAWaoVqBbW/MNcm3VXU7+TAhSoGO7H2x9rWa7nLfJtVV3OfkzIUCBrTnIBgCML7NJVZlcW3WXkz8UAmW/WgPgj5aXeQ9mqVxbdZeTPxWC/4FcW3WXkxsEZ8u1VXc5uUFwtlxbdZeTGwRny7VVdzm5QXC2XFt1l5MbBGfLtVV3OblBcLa0/hi5QXC2fPhzpHL3g5vUy38Ad4zCnxrOIc0AAAAASUVORK5CYII=">
            <a:extLst>
              <a:ext uri="{FF2B5EF4-FFF2-40B4-BE49-F238E27FC236}">
                <a16:creationId xmlns:a16="http://schemas.microsoft.com/office/drawing/2014/main" id="{C7D3AE6F-B5BB-CB4F-AF10-8BDAA1F4C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99" y="5871612"/>
            <a:ext cx="2685169" cy="50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0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>
                <a:cs typeface="Times New Roman" pitchFamily="18" charset="0"/>
              </a:rPr>
              <a:t>agenda for the class</a:t>
            </a:r>
            <a:endParaRPr lang="en-US" noProof="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40270" y="1870610"/>
            <a:ext cx="6561139" cy="457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0047" tIns="28399" rIns="20047" bIns="28399" anchor="ctr">
            <a:flatTx/>
          </a:bodyPr>
          <a:lstStyle/>
          <a:p>
            <a:pPr marL="0" marR="0" lvl="0" indent="0" algn="ctr" defTabSz="962025" rtl="0" eaLnBrk="0" fontAlgn="auto" latinLnBrk="0" hangingPunct="0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1013" algn="l"/>
                <a:tab pos="962025" algn="l"/>
                <a:tab pos="14430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hitney-Book" pitchFamily="50" charset="0"/>
                <a:cs typeface="Times New Roman" pitchFamily="18" charset="0"/>
              </a:rPr>
              <a:t>1. Basic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hitney-Book" pitchFamily="50" charset="0"/>
                <a:cs typeface="Times New Roman" pitchFamily="18" charset="0"/>
              </a:rPr>
              <a:t> Concepts and Economic Principles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hitney-Book" pitchFamily="50" charset="0"/>
              <a:cs typeface="Times New Roman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75681" y="3603612"/>
            <a:ext cx="4592638" cy="1250239"/>
            <a:chOff x="2618581" y="4773364"/>
            <a:chExt cx="4592638" cy="1250239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618581" y="5566403"/>
              <a:ext cx="4592638" cy="4572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20047" tIns="28399" rIns="20047" bIns="28399" anchor="ctr">
              <a:flatTx/>
            </a:bodyPr>
            <a:lstStyle/>
            <a:p>
              <a:pPr marL="0" marR="0" lvl="0" indent="0" algn="ctr" defTabSz="962025" rtl="0" eaLnBrk="0" fontAlgn="auto" latinLnBrk="0" hangingPunct="0">
                <a:lnSpc>
                  <a:spcPts val="2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1013" algn="l"/>
                  <a:tab pos="962025" algn="l"/>
                  <a:tab pos="1443038" algn="l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Whitney-Book" pitchFamily="50" charset="0"/>
                  <a:cs typeface="Times New Roman" pitchFamily="18" charset="0"/>
                </a:rPr>
                <a:t>4. Markets, Pricing, and Strategy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290021" y="4773364"/>
              <a:ext cx="1089222" cy="7803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 extrusionH="1905000"/>
          </p:spPr>
          <p:txBody>
            <a:bodyPr wrap="none" lIns="20047" tIns="28399" rIns="20047" bIns="28399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H="1">
              <a:off x="5105398" y="4800600"/>
              <a:ext cx="1089223" cy="7619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 extrusionH="1905000"/>
          </p:spPr>
          <p:txBody>
            <a:bodyPr wrap="none" lIns="20047" tIns="28399" rIns="20047" bIns="28399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27941" y="2340672"/>
            <a:ext cx="3844057" cy="1262940"/>
            <a:chOff x="325439" y="2640690"/>
            <a:chExt cx="4475161" cy="1470283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25439" y="3578712"/>
              <a:ext cx="4475161" cy="5322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20047" tIns="28399" rIns="20047" bIns="28399">
              <a:flatTx/>
            </a:bodyPr>
            <a:lstStyle/>
            <a:p>
              <a:pPr marL="0" marR="0" lvl="0" indent="0" algn="ctr" defTabSz="962025" rtl="0" eaLnBrk="0" fontAlgn="auto" latinLnBrk="0" hangingPunct="0">
                <a:lnSpc>
                  <a:spcPts val="2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1013" algn="l"/>
                  <a:tab pos="962025" algn="l"/>
                  <a:tab pos="1443038" algn="l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Whitney-Book" pitchFamily="50" charset="0"/>
                  <a:cs typeface="Times New Roman" pitchFamily="18" charset="0"/>
                </a:rPr>
                <a:t>2. Buyers, </a:t>
              </a:r>
              <a:r>
                <a:rPr kumimoji="0" lang="en-US" sz="1800" i="0" u="none" strike="noStrike" kern="1200" normalizeH="0" baseline="0" noProof="0" dirty="0">
                  <a:uLnTx/>
                  <a:uFillTx/>
                  <a:latin typeface="Whitney-Book" pitchFamily="50" charset="0"/>
                  <a:cs typeface="Times New Roman" pitchFamily="18" charset="0"/>
                </a:rPr>
                <a:t>Value, and Demand</a:t>
              </a:r>
            </a:p>
            <a:p>
              <a:pPr marL="0" marR="0" lvl="0" indent="0" algn="ctr" defTabSz="962025" rtl="0" eaLnBrk="0" fontAlgn="auto" latinLnBrk="0" hangingPunct="0">
                <a:lnSpc>
                  <a:spcPts val="2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1013" algn="l"/>
                  <a:tab pos="962025" algn="l"/>
                  <a:tab pos="1443038" algn="l"/>
                </a:tabLst>
                <a:defRPr/>
              </a:pP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hitney-Book" pitchFamily="50" charset="0"/>
                <a:cs typeface="Times New Roman" pitchFamily="18" charset="0"/>
              </a:endParaRPr>
            </a:p>
            <a:p>
              <a:pPr marL="0" marR="0" lvl="0" indent="0" algn="ctr" defTabSz="962025" rtl="0" eaLnBrk="0" fontAlgn="auto" latinLnBrk="0" hangingPunct="0">
                <a:lnSpc>
                  <a:spcPts val="2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1013" algn="l"/>
                  <a:tab pos="962025" algn="l"/>
                  <a:tab pos="1443038" algn="l"/>
                </a:tabLst>
                <a:defRPr/>
              </a:pPr>
              <a:endParaRPr lang="fr-FR" b="1" dirty="0">
                <a:latin typeface="Whitney-Book" pitchFamily="50" charset="0"/>
                <a:cs typeface="Times New Roman" pitchFamily="18" charset="0"/>
              </a:endParaRPr>
            </a:p>
            <a:p>
              <a:pPr marL="0" marR="0" lvl="0" indent="0" algn="ctr" defTabSz="962025" rtl="0" eaLnBrk="0" fontAlgn="auto" latinLnBrk="0" hangingPunct="0">
                <a:lnSpc>
                  <a:spcPts val="2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1013" algn="l"/>
                  <a:tab pos="962025" algn="l"/>
                  <a:tab pos="1443038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hitney-Book" pitchFamily="50" charset="0"/>
                <a:cs typeface="Times New Roman" pitchFamily="18" charset="0"/>
              </a:endParaRPr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 flipH="1">
              <a:off x="3428997" y="2640690"/>
              <a:ext cx="1268048" cy="9359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 extrusionH="1905000"/>
          </p:spPr>
          <p:txBody>
            <a:bodyPr wrap="none" lIns="20047" tIns="28399" rIns="20047" bIns="28399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848761" y="2340670"/>
            <a:ext cx="4021018" cy="1262940"/>
            <a:chOff x="4827952" y="2638613"/>
            <a:chExt cx="4681174" cy="1470287"/>
          </a:xfrm>
        </p:grpSpPr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4957763" y="3576638"/>
              <a:ext cx="4551363" cy="5322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lIns="20047" tIns="28399" rIns="20047" bIns="28399">
              <a:flatTx/>
            </a:bodyPr>
            <a:lstStyle/>
            <a:p>
              <a:pPr marL="0" marR="0" lvl="0" indent="0" algn="ctr" defTabSz="962025" rtl="0" eaLnBrk="0" fontAlgn="auto" latinLnBrk="0" hangingPunct="0">
                <a:lnSpc>
                  <a:spcPts val="29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81013" algn="l"/>
                  <a:tab pos="962025" algn="l"/>
                  <a:tab pos="1443038" algn="l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Whitney-Book" pitchFamily="50" charset="0"/>
                  <a:cs typeface="Times New Roman" pitchFamily="18" charset="0"/>
                </a:rPr>
                <a:t>3</a:t>
              </a:r>
              <a:r>
                <a:rPr lang="en-US" dirty="0">
                  <a:latin typeface="Whitney-Book" pitchFamily="50" charset="0"/>
                  <a:cs typeface="Times New Roman" pitchFamily="18" charset="0"/>
                </a:rPr>
                <a:t>.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Whitney-Book" pitchFamily="50" charset="0"/>
                  <a:cs typeface="Times New Roman" pitchFamily="18" charset="0"/>
                </a:rPr>
                <a:t> Supply and Cost</a:t>
              </a:r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>
              <a:off x="4827952" y="2638613"/>
              <a:ext cx="1268048" cy="938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 extrusionH="1905000"/>
          </p:spPr>
          <p:txBody>
            <a:bodyPr wrap="none" lIns="20047" tIns="28399" rIns="20047" bIns="28399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Right Arrow 16"/>
          <p:cNvSpPr/>
          <p:nvPr/>
        </p:nvSpPr>
        <p:spPr bwMode="auto">
          <a:xfrm rot="3176588">
            <a:off x="396951" y="920341"/>
            <a:ext cx="1272506" cy="482669"/>
          </a:xfrm>
          <a:prstGeom prst="rightArrow">
            <a:avLst>
              <a:gd name="adj1" fmla="val 50000"/>
              <a:gd name="adj2" fmla="val 871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C7A0A2-063D-564E-AEFD-11016B4A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5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module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5406"/>
            <a:ext cx="8229600" cy="558537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13" b="1" u="sng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In class</a:t>
            </a: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Basic Principles of Economic Thinking</a:t>
            </a:r>
          </a:p>
          <a:p>
            <a:pPr lvl="1">
              <a:lnSpc>
                <a:spcPct val="120000"/>
              </a:lnSpc>
            </a:pP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Economic costs include opportunity costs</a:t>
            </a:r>
          </a:p>
          <a:p>
            <a:pPr lvl="1">
              <a:lnSpc>
                <a:spcPct val="120000"/>
              </a:lnSpc>
            </a:pP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Ignore sunk costs</a:t>
            </a:r>
          </a:p>
          <a:p>
            <a:pPr lvl="1">
              <a:lnSpc>
                <a:spcPct val="120000"/>
              </a:lnSpc>
            </a:pP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Use cost-benefit and marginal analysis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813" b="1" u="sng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Videos</a:t>
            </a: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2813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Economics Fundamentals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Markets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Demand and Supply</a:t>
            </a:r>
          </a:p>
          <a:p>
            <a:pPr lvl="1">
              <a:lnSpc>
                <a:spcPct val="120000"/>
              </a:lnSpc>
            </a:pPr>
            <a:r>
              <a:rPr lang="en-US" sz="2800" dirty="0">
                <a:solidFill>
                  <a:schemeClr val="tx2"/>
                </a:solidFill>
                <a:latin typeface="Whitney-Book" pitchFamily="50" charset="0"/>
                <a:cs typeface="Whitney-Book" pitchFamily="50" charset="0"/>
              </a:rPr>
              <a:t>Equilibrium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F55A6-1E4F-1342-BCF5-A16BE1EB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5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62723</TotalTime>
  <Words>85</Words>
  <Application>Microsoft Office PowerPoint</Application>
  <PresentationFormat>On-screen Show (4:3)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Lucida Grande</vt:lpstr>
      <vt:lpstr>Times New Roman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Week 1 – Video 1 Introduction</vt:lpstr>
      <vt:lpstr>agenda for the class</vt:lpstr>
      <vt:lpstr>outline of module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VOIGTLAENDER</cp:lastModifiedBy>
  <cp:revision>584</cp:revision>
  <cp:lastPrinted>2019-09-13T20:44:29Z</cp:lastPrinted>
  <dcterms:created xsi:type="dcterms:W3CDTF">2013-01-24T22:32:50Z</dcterms:created>
  <dcterms:modified xsi:type="dcterms:W3CDTF">2021-10-07T16:42:18Z</dcterms:modified>
  <cp:category/>
</cp:coreProperties>
</file>