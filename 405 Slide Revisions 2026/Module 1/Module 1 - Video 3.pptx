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1"/>
    <p:sldMasterId id="2147483756" r:id="rId2"/>
    <p:sldMasterId id="2147483724" r:id="rId3"/>
    <p:sldMasterId id="2147483769" r:id="rId4"/>
  </p:sldMasterIdLst>
  <p:notesMasterIdLst>
    <p:notesMasterId r:id="rId15"/>
  </p:notesMasterIdLst>
  <p:handoutMasterIdLst>
    <p:handoutMasterId r:id="rId16"/>
  </p:handoutMasterIdLst>
  <p:sldIdLst>
    <p:sldId id="257" r:id="rId5"/>
    <p:sldId id="687" r:id="rId6"/>
    <p:sldId id="717" r:id="rId7"/>
    <p:sldId id="350" r:id="rId8"/>
    <p:sldId id="708" r:id="rId9"/>
    <p:sldId id="709" r:id="rId10"/>
    <p:sldId id="375" r:id="rId11"/>
    <p:sldId id="693" r:id="rId12"/>
    <p:sldId id="347" r:id="rId13"/>
    <p:sldId id="377" r:id="rId14"/>
  </p:sldIdLst>
  <p:sldSz cx="9144000" cy="6858000" type="screen4x3"/>
  <p:notesSz cx="7315200" cy="9601200"/>
  <p:custDataLst>
    <p:tags r:id="rId1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oigtlaender, Nico" initials="VN" lastIdx="34" clrIdx="0">
    <p:extLst>
      <p:ext uri="{19B8F6BF-5375-455C-9EA6-DF929625EA0E}">
        <p15:presenceInfo xmlns:p15="http://schemas.microsoft.com/office/powerpoint/2012/main" userId="Voigtlaender, Nico" providerId="None"/>
      </p:ext>
    </p:extLst>
  </p:cmAuthor>
  <p:cmAuthor id="2" name="Giuliano, Paola" initials="GP" lastIdx="16" clrIdx="1">
    <p:extLst>
      <p:ext uri="{19B8F6BF-5375-455C-9EA6-DF929625EA0E}">
        <p15:presenceInfo xmlns:p15="http://schemas.microsoft.com/office/powerpoint/2012/main" userId="S::giulpao@ad.ucla.edu::132bae3d-d350-492a-913b-ab702ff24d3d" providerId="AD"/>
      </p:ext>
    </p:extLst>
  </p:cmAuthor>
  <p:cmAuthor id="3" name="Wasserman, Melanie" initials="WM" lastIdx="18" clrIdx="2">
    <p:extLst>
      <p:ext uri="{19B8F6BF-5375-455C-9EA6-DF929625EA0E}">
        <p15:presenceInfo xmlns:p15="http://schemas.microsoft.com/office/powerpoint/2012/main" userId="S::mswasserman@ad.ucla.edu::dc9d8677-d4c7-4bfe-9320-b2694e2f633d" providerId="AD"/>
      </p:ext>
    </p:extLst>
  </p:cmAuthor>
  <p:cmAuthor id="4" name="CLEMENCE TRICAUD" initials="CT" lastIdx="10" clrIdx="3">
    <p:extLst>
      <p:ext uri="{19B8F6BF-5375-455C-9EA6-DF929625EA0E}">
        <p15:presenceInfo xmlns:p15="http://schemas.microsoft.com/office/powerpoint/2012/main" userId="S-1-5-21-1914341619-2963887621-4192079504-39280" providerId="AD"/>
      </p:ext>
    </p:extLst>
  </p:cmAuthor>
  <p:cmAuthor id="5" name="Nico Voigtlaender" initials="NV" lastIdx="2" clrIdx="4">
    <p:extLst>
      <p:ext uri="{19B8F6BF-5375-455C-9EA6-DF929625EA0E}">
        <p15:presenceInfo xmlns:p15="http://schemas.microsoft.com/office/powerpoint/2012/main" userId="Nico Voigtlaend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1B8BD5"/>
    <a:srgbClr val="FFFFFF"/>
    <a:srgbClr val="002B56"/>
    <a:srgbClr val="002B4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9683" autoAdjust="0"/>
    <p:restoredTop sz="86197" autoAdjust="0"/>
  </p:normalViewPr>
  <p:slideViewPr>
    <p:cSldViewPr snapToGrid="0" snapToObjects="1">
      <p:cViewPr varScale="1">
        <p:scale>
          <a:sx n="109" d="100"/>
          <a:sy n="109" d="100"/>
        </p:scale>
        <p:origin x="1661" y="91"/>
      </p:cViewPr>
      <p:guideLst>
        <p:guide orient="horz" pos="2160"/>
        <p:guide pos="2880"/>
      </p:guideLst>
    </p:cSldViewPr>
  </p:slideViewPr>
  <p:outlineViewPr>
    <p:cViewPr>
      <p:scale>
        <a:sx n="33" d="100"/>
        <a:sy n="33" d="100"/>
      </p:scale>
      <p:origin x="0" y="-50304"/>
    </p:cViewPr>
  </p:outlineViewPr>
  <p:notesTextViewPr>
    <p:cViewPr>
      <p:scale>
        <a:sx n="3" d="2"/>
        <a:sy n="3" d="2"/>
      </p:scale>
      <p:origin x="0" y="0"/>
    </p:cViewPr>
  </p:notesTextViewPr>
  <p:sorterViewPr>
    <p:cViewPr>
      <p:scale>
        <a:sx n="60" d="100"/>
        <a:sy n="60" d="100"/>
      </p:scale>
      <p:origin x="0" y="-5142"/>
    </p:cViewPr>
  </p:sorterViewPr>
  <p:notesViewPr>
    <p:cSldViewPr snapToGrid="0" snapToObjects="1">
      <p:cViewPr varScale="1">
        <p:scale>
          <a:sx n="87" d="100"/>
          <a:sy n="87" d="100"/>
        </p:scale>
        <p:origin x="19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47" tIns="48324" rIns="96647" bIns="48324" rtlCol="0"/>
          <a:lstStyle>
            <a:lvl1pPr algn="r">
              <a:defRPr sz="1300"/>
            </a:lvl1pPr>
          </a:lstStyle>
          <a:p>
            <a:fld id="{F6D47F8B-C2FC-9540-A0E0-B106EE612B16}" type="datetimeFigureOut">
              <a:rPr lang="en-US" smtClean="0"/>
              <a:t>10/7/2021</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47" tIns="48324" rIns="96647" bIns="48324" rtlCol="0" anchor="b"/>
          <a:lstStyle>
            <a:lvl1pPr algn="r">
              <a:defRPr sz="1300"/>
            </a:lvl1pPr>
          </a:lstStyle>
          <a:p>
            <a:fld id="{14208B52-F97A-2D40-B706-CEC41B37499B}" type="slidenum">
              <a:rPr lang="en-US" smtClean="0"/>
              <a:t>‹#›</a:t>
            </a:fld>
            <a:endParaRPr lang="en-US"/>
          </a:p>
        </p:txBody>
      </p:sp>
    </p:spTree>
    <p:extLst>
      <p:ext uri="{BB962C8B-B14F-4D97-AF65-F5344CB8AC3E}">
        <p14:creationId xmlns:p14="http://schemas.microsoft.com/office/powerpoint/2010/main" val="1431928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47" tIns="48324" rIns="96647" bIns="48324" rtlCol="0"/>
          <a:lstStyle>
            <a:lvl1pPr algn="r">
              <a:defRPr sz="1300"/>
            </a:lvl1pPr>
          </a:lstStyle>
          <a:p>
            <a:fld id="{9FAC1A9B-BDAC-6A46-B8D4-E37AE0BBC950}" type="datetimeFigureOut">
              <a:rPr lang="en-US" smtClean="0"/>
              <a:t>10/7/2021</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47" tIns="48324" rIns="96647" bIns="48324"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47" tIns="48324" rIns="96647" bIns="483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47" tIns="48324" rIns="96647" bIns="48324" rtlCol="0" anchor="b"/>
          <a:lstStyle>
            <a:lvl1pPr algn="r">
              <a:defRPr sz="1300"/>
            </a:lvl1pPr>
          </a:lstStyle>
          <a:p>
            <a:fld id="{8D36AC2A-E969-3C46-9ED8-B46D40C5E669}" type="slidenum">
              <a:rPr lang="en-US" smtClean="0"/>
              <a:t>‹#›</a:t>
            </a:fld>
            <a:endParaRPr lang="en-US"/>
          </a:p>
        </p:txBody>
      </p:sp>
    </p:spTree>
    <p:extLst>
      <p:ext uri="{BB962C8B-B14F-4D97-AF65-F5344CB8AC3E}">
        <p14:creationId xmlns:p14="http://schemas.microsoft.com/office/powerpoint/2010/main" val="11917264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36AC2A-E969-3C46-9ED8-B46D40C5E669}" type="slidenum">
              <a:rPr lang="en-US" smtClean="0"/>
              <a:t>1</a:t>
            </a:fld>
            <a:endParaRPr lang="en-US"/>
          </a:p>
        </p:txBody>
      </p:sp>
    </p:spTree>
    <p:extLst>
      <p:ext uri="{BB962C8B-B14F-4D97-AF65-F5344CB8AC3E}">
        <p14:creationId xmlns:p14="http://schemas.microsoft.com/office/powerpoint/2010/main" val="642563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a:t>
            </a:fld>
            <a:endParaRPr lang="en-US"/>
          </a:p>
        </p:txBody>
      </p:sp>
    </p:spTree>
    <p:extLst>
      <p:ext uri="{BB962C8B-B14F-4D97-AF65-F5344CB8AC3E}">
        <p14:creationId xmlns:p14="http://schemas.microsoft.com/office/powerpoint/2010/main" val="936278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3</a:t>
            </a:fld>
            <a:endParaRPr lang="en-US"/>
          </a:p>
        </p:txBody>
      </p:sp>
    </p:spTree>
    <p:extLst>
      <p:ext uri="{BB962C8B-B14F-4D97-AF65-F5344CB8AC3E}">
        <p14:creationId xmlns:p14="http://schemas.microsoft.com/office/powerpoint/2010/main" val="1038047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Note: aside from price, </a:t>
            </a:r>
            <a:r>
              <a:rPr lang="en-US" sz="1200" b="1" kern="1200" dirty="0">
                <a:solidFill>
                  <a:schemeClr val="tx1"/>
                </a:solidFill>
                <a:effectLst/>
                <a:latin typeface="+mn-lt"/>
                <a:ea typeface="+mn-ea"/>
                <a:cs typeface="+mn-cs"/>
              </a:rPr>
              <a:t>we are holding everything else constant, </a:t>
            </a:r>
            <a:r>
              <a:rPr lang="en-US" sz="1200" b="0" kern="1200" dirty="0">
                <a:solidFill>
                  <a:schemeClr val="tx1"/>
                </a:solidFill>
                <a:effectLst/>
                <a:latin typeface="+mn-lt"/>
                <a:ea typeface="+mn-ea"/>
                <a:cs typeface="+mn-cs"/>
              </a:rPr>
              <a:t>including</a:t>
            </a:r>
            <a:r>
              <a:rPr lang="en-US" sz="1200" b="1" kern="1200" dirty="0">
                <a:solidFill>
                  <a:schemeClr val="tx1"/>
                </a:solidFill>
                <a:effectLst/>
                <a:latin typeface="+mn-lt"/>
                <a:ea typeface="+mn-ea"/>
                <a:cs typeface="+mn-cs"/>
              </a:rPr>
              <a:t> </a:t>
            </a:r>
            <a:r>
              <a:rPr lang="en-US" sz="1200" b="0" kern="12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onsumers’ income, tastes, price of other goods.</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Thought experiment: suppose you show up at Pike Place Market on a Saturday and observe the price of tomatoes and total quantity that consumers buy. Suppose you can go back in time to that same Saturday and replace all the price tags using an alternative price and see the quantity that consumers buy. Do this over and over until you trace out the demand curve. If tomatoes are $2/pound in one iteration, some people will buy. If they are $1/pound, additional people will buy. As price declines, more consumers want to purchase it. </a:t>
            </a:r>
            <a:r>
              <a:rPr lang="en-US" dirty="0"/>
              <a:t>This will make the demand curve downward sloping. </a:t>
            </a:r>
            <a:endParaRPr lang="en-US" sz="1200" kern="1200" dirty="0">
              <a:solidFill>
                <a:schemeClr val="tx1"/>
              </a:solidFill>
              <a:effectLst/>
              <a:latin typeface="+mn-lt"/>
              <a:ea typeface="+mn-ea"/>
              <a:cs typeface="+mn-cs"/>
            </a:endParaRPr>
          </a:p>
          <a:p>
            <a:endParaRPr lang="en-US" dirty="0"/>
          </a:p>
          <a:p>
            <a:r>
              <a:rPr lang="en-US" dirty="0"/>
              <a:t>We will get into this in much more detail next week. </a:t>
            </a:r>
          </a:p>
        </p:txBody>
      </p:sp>
      <p:sp>
        <p:nvSpPr>
          <p:cNvPr id="4" name="Slide Number Placeholder 3"/>
          <p:cNvSpPr>
            <a:spLocks noGrp="1"/>
          </p:cNvSpPr>
          <p:nvPr>
            <p:ph type="sldNum" sz="quarter" idx="10"/>
          </p:nvPr>
        </p:nvSpPr>
        <p:spPr/>
        <p:txBody>
          <a:bodyPr/>
          <a:lstStyle/>
          <a:p>
            <a:fld id="{8D36AC2A-E969-3C46-9ED8-B46D40C5E669}" type="slidenum">
              <a:rPr lang="en-US" smtClean="0"/>
              <a:t>4</a:t>
            </a:fld>
            <a:endParaRPr lang="en-US"/>
          </a:p>
        </p:txBody>
      </p:sp>
    </p:spTree>
    <p:extLst>
      <p:ext uri="{BB962C8B-B14F-4D97-AF65-F5344CB8AC3E}">
        <p14:creationId xmlns:p14="http://schemas.microsoft.com/office/powerpoint/2010/main" val="14821388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Note: aside from price, </a:t>
            </a:r>
            <a:r>
              <a:rPr lang="en-US" sz="1200" b="1" kern="1200" dirty="0">
                <a:solidFill>
                  <a:schemeClr val="tx1"/>
                </a:solidFill>
                <a:effectLst/>
                <a:latin typeface="+mn-lt"/>
                <a:ea typeface="+mn-ea"/>
                <a:cs typeface="+mn-cs"/>
              </a:rPr>
              <a:t>we are holding everything else constant, </a:t>
            </a:r>
            <a:r>
              <a:rPr lang="en-US" sz="1200" b="0" kern="1200" dirty="0">
                <a:solidFill>
                  <a:schemeClr val="tx1"/>
                </a:solidFill>
                <a:effectLst/>
                <a:latin typeface="+mn-lt"/>
                <a:ea typeface="+mn-ea"/>
                <a:cs typeface="+mn-cs"/>
              </a:rPr>
              <a:t>including</a:t>
            </a:r>
            <a:r>
              <a:rPr lang="en-US" sz="1200" b="1" kern="1200" dirty="0">
                <a:solidFill>
                  <a:schemeClr val="tx1"/>
                </a:solidFill>
                <a:effectLst/>
                <a:latin typeface="+mn-lt"/>
                <a:ea typeface="+mn-ea"/>
                <a:cs typeface="+mn-cs"/>
              </a:rPr>
              <a:t> </a:t>
            </a:r>
            <a:r>
              <a:rPr lang="en-US" sz="1200" b="0" kern="12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onsumers’ income, tastes, price of other goods.</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Thought experiment: suppose you show up at Pike Place Market on a Saturday and observe the price of tomatoes and total quantity that consumers buy. Suppose you can go back in time to that same Saturday and replace all the price tags using an alternative price and see the quantity that consumers buy. Do this over and over until you trace out the demand curve. If tomatoes are $2/pound in one iteration, some people will buy. If they are $1/pound, additional people will buy. As price declines, more consumers want to purchase it. </a:t>
            </a:r>
            <a:r>
              <a:rPr lang="en-US" dirty="0"/>
              <a:t>This will make the demand curve downward sloping. </a:t>
            </a:r>
            <a:endParaRPr lang="en-US" sz="1200" kern="1200" dirty="0">
              <a:solidFill>
                <a:schemeClr val="tx1"/>
              </a:solidFill>
              <a:effectLst/>
              <a:latin typeface="+mn-lt"/>
              <a:ea typeface="+mn-ea"/>
              <a:cs typeface="+mn-cs"/>
            </a:endParaRPr>
          </a:p>
          <a:p>
            <a:endParaRPr lang="en-US" dirty="0"/>
          </a:p>
          <a:p>
            <a:r>
              <a:rPr lang="en-US" dirty="0"/>
              <a:t>We will get into this in much more detail next week. </a:t>
            </a:r>
          </a:p>
        </p:txBody>
      </p:sp>
      <p:sp>
        <p:nvSpPr>
          <p:cNvPr id="4" name="Slide Number Placeholder 3"/>
          <p:cNvSpPr>
            <a:spLocks noGrp="1"/>
          </p:cNvSpPr>
          <p:nvPr>
            <p:ph type="sldNum" sz="quarter" idx="10"/>
          </p:nvPr>
        </p:nvSpPr>
        <p:spPr/>
        <p:txBody>
          <a:bodyPr/>
          <a:lstStyle/>
          <a:p>
            <a:fld id="{8D36AC2A-E969-3C46-9ED8-B46D40C5E669}" type="slidenum">
              <a:rPr lang="en-US" smtClean="0"/>
              <a:t>5</a:t>
            </a:fld>
            <a:endParaRPr lang="en-US"/>
          </a:p>
        </p:txBody>
      </p:sp>
    </p:spTree>
    <p:extLst>
      <p:ext uri="{BB962C8B-B14F-4D97-AF65-F5344CB8AC3E}">
        <p14:creationId xmlns:p14="http://schemas.microsoft.com/office/powerpoint/2010/main" val="1276802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Note: aside from price, </a:t>
            </a:r>
            <a:r>
              <a:rPr lang="en-US" sz="1200" b="1" kern="1200" dirty="0">
                <a:solidFill>
                  <a:schemeClr val="tx1"/>
                </a:solidFill>
                <a:effectLst/>
                <a:latin typeface="+mn-lt"/>
                <a:ea typeface="+mn-ea"/>
                <a:cs typeface="+mn-cs"/>
              </a:rPr>
              <a:t>we are holding everything else constant, </a:t>
            </a:r>
            <a:r>
              <a:rPr lang="en-US" sz="1200" b="0" kern="1200" dirty="0">
                <a:solidFill>
                  <a:schemeClr val="tx1"/>
                </a:solidFill>
                <a:effectLst/>
                <a:latin typeface="+mn-lt"/>
                <a:ea typeface="+mn-ea"/>
                <a:cs typeface="+mn-cs"/>
              </a:rPr>
              <a:t>including</a:t>
            </a:r>
            <a:r>
              <a:rPr lang="en-US" sz="1200" b="1" kern="1200" dirty="0">
                <a:solidFill>
                  <a:schemeClr val="tx1"/>
                </a:solidFill>
                <a:effectLst/>
                <a:latin typeface="+mn-lt"/>
                <a:ea typeface="+mn-ea"/>
                <a:cs typeface="+mn-cs"/>
              </a:rPr>
              <a:t> </a:t>
            </a:r>
            <a:r>
              <a:rPr lang="en-US" sz="1200" b="0" kern="1200" dirty="0">
                <a:solidFill>
                  <a:schemeClr val="tx1"/>
                </a:solidFill>
                <a:effectLst/>
                <a:latin typeface="+mn-lt"/>
                <a:ea typeface="+mn-ea"/>
                <a:cs typeface="+mn-cs"/>
              </a:rPr>
              <a:t>c</a:t>
            </a:r>
            <a:r>
              <a:rPr lang="en-US" sz="1200" kern="1200" dirty="0">
                <a:solidFill>
                  <a:schemeClr val="tx1"/>
                </a:solidFill>
                <a:effectLst/>
                <a:latin typeface="+mn-lt"/>
                <a:ea typeface="+mn-ea"/>
                <a:cs typeface="+mn-cs"/>
              </a:rPr>
              <a:t>onsumers’ income, tastes, price of other goods.</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Thought experiment: suppose you show up at Pike Place Market on a Saturday and observe the price of tomatoes and total quantity that consumers buy. Suppose you can go back in time to that same Saturday and replace all the price tags using an alternative price and see the quantity that consumers buy. Do this over and over until you trace out the demand curve. If tomatoes are $2/pound in one iteration, some people will buy. If they are $1/pound, additional people will buy. As price declines, more consumers want to purchase it. </a:t>
            </a:r>
            <a:r>
              <a:rPr lang="en-US" dirty="0"/>
              <a:t>This will make the demand curve downward sloping. </a:t>
            </a:r>
            <a:endParaRPr lang="en-US" sz="1200" kern="1200" dirty="0">
              <a:solidFill>
                <a:schemeClr val="tx1"/>
              </a:solidFill>
              <a:effectLst/>
              <a:latin typeface="+mn-lt"/>
              <a:ea typeface="+mn-ea"/>
              <a:cs typeface="+mn-cs"/>
            </a:endParaRPr>
          </a:p>
          <a:p>
            <a:endParaRPr lang="en-US" dirty="0"/>
          </a:p>
          <a:p>
            <a:r>
              <a:rPr lang="en-US" dirty="0"/>
              <a:t>We will get into this in much more detail next week. </a:t>
            </a:r>
          </a:p>
        </p:txBody>
      </p:sp>
      <p:sp>
        <p:nvSpPr>
          <p:cNvPr id="4" name="Slide Number Placeholder 3"/>
          <p:cNvSpPr>
            <a:spLocks noGrp="1"/>
          </p:cNvSpPr>
          <p:nvPr>
            <p:ph type="sldNum" sz="quarter" idx="10"/>
          </p:nvPr>
        </p:nvSpPr>
        <p:spPr/>
        <p:txBody>
          <a:bodyPr/>
          <a:lstStyle/>
          <a:p>
            <a:fld id="{8D36AC2A-E969-3C46-9ED8-B46D40C5E669}" type="slidenum">
              <a:rPr lang="en-US" smtClean="0"/>
              <a:t>6</a:t>
            </a:fld>
            <a:endParaRPr lang="en-US"/>
          </a:p>
        </p:txBody>
      </p:sp>
    </p:spTree>
    <p:extLst>
      <p:ext uri="{BB962C8B-B14F-4D97-AF65-F5344CB8AC3E}">
        <p14:creationId xmlns:p14="http://schemas.microsoft.com/office/powerpoint/2010/main" val="37346736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US" dirty="0"/>
          </a:p>
        </p:txBody>
      </p:sp>
      <p:sp>
        <p:nvSpPr>
          <p:cNvPr id="4" name="Slide Number Placeholder 3"/>
          <p:cNvSpPr>
            <a:spLocks noGrp="1"/>
          </p:cNvSpPr>
          <p:nvPr>
            <p:ph type="sldNum" sz="quarter" idx="10"/>
          </p:nvPr>
        </p:nvSpPr>
        <p:spPr/>
        <p:txBody>
          <a:bodyPr/>
          <a:lstStyle/>
          <a:p>
            <a:fld id="{8D36AC2A-E969-3C46-9ED8-B46D40C5E669}" type="slidenum">
              <a:rPr lang="en-US" smtClean="0"/>
              <a:t>7</a:t>
            </a:fld>
            <a:endParaRPr lang="en-US"/>
          </a:p>
        </p:txBody>
      </p:sp>
    </p:spTree>
    <p:extLst>
      <p:ext uri="{BB962C8B-B14F-4D97-AF65-F5344CB8AC3E}">
        <p14:creationId xmlns:p14="http://schemas.microsoft.com/office/powerpoint/2010/main" val="1287070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As price rises, quantity supplied will increase. Intuition for upward sloping: many firms experience increasing costs of production as their output rises; need to earn higher price in order to be willing to sell more output. We will get into this in much more detail in Module 4. </a:t>
            </a:r>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9</a:t>
            </a:fld>
            <a:endParaRPr lang="en-US"/>
          </a:p>
        </p:txBody>
      </p:sp>
    </p:spTree>
    <p:extLst>
      <p:ext uri="{BB962C8B-B14F-4D97-AF65-F5344CB8AC3E}">
        <p14:creationId xmlns:p14="http://schemas.microsoft.com/office/powerpoint/2010/main" val="15748624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10</a:t>
            </a:fld>
            <a:endParaRPr lang="en-US"/>
          </a:p>
        </p:txBody>
      </p:sp>
    </p:spTree>
    <p:extLst>
      <p:ext uri="{BB962C8B-B14F-4D97-AF65-F5344CB8AC3E}">
        <p14:creationId xmlns:p14="http://schemas.microsoft.com/office/powerpoint/2010/main" val="741569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2C4D6A2-2BCD-4141-A2F4-39139519DC02}" type="datetime1">
              <a:rPr lang="en-US" smtClean="0"/>
              <a:t>10/7/2021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3" name="Text Placeholder 2"/>
          <p:cNvSpPr>
            <a:spLocks noGrp="1"/>
          </p:cNvSpPr>
          <p:nvPr>
            <p:ph type="body" idx="1"/>
          </p:nvPr>
        </p:nvSpPr>
        <p:spPr>
          <a:xfrm>
            <a:off x="518199" y="2906713"/>
            <a:ext cx="7772400" cy="1500187"/>
          </a:xfrm>
        </p:spPr>
        <p:txBody>
          <a:bodyPr anchor="b">
            <a:normAutofit/>
          </a:bodyPr>
          <a:lstStyle>
            <a:lvl1pPr marL="0" indent="0">
              <a:buNone/>
              <a:defRPr sz="1600">
                <a:solidFill>
                  <a:srgbClr val="1B8BD5"/>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Placeholder 1"/>
          <p:cNvSpPr>
            <a:spLocks noGrp="1"/>
          </p:cNvSpPr>
          <p:nvPr>
            <p:ph type="title"/>
          </p:nvPr>
        </p:nvSpPr>
        <p:spPr>
          <a:xfrm>
            <a:off x="518199" y="4401792"/>
            <a:ext cx="8229600" cy="1143000"/>
          </a:xfrm>
          <a:prstGeom prst="rect">
            <a:avLst/>
          </a:prstGeom>
        </p:spPr>
        <p:txBody>
          <a:bodyPr vert="horz" lIns="91440" tIns="45720" rIns="91440" bIns="45720" rtlCol="0" anchor="t" anchorCtr="0">
            <a:normAutofit/>
          </a:bodyPr>
          <a:lstStyle>
            <a:lvl1pPr algn="l">
              <a:defRPr>
                <a:solidFill>
                  <a:schemeClr val="bg1"/>
                </a:solidFill>
              </a:defRPr>
            </a:lvl1pPr>
          </a:lstStyle>
          <a:p>
            <a:r>
              <a:rPr lang="en-US" dirty="0"/>
              <a:t>Click to edit Master title style</a:t>
            </a:r>
          </a:p>
        </p:txBody>
      </p:sp>
      <p:cxnSp>
        <p:nvCxnSpPr>
          <p:cNvPr id="12" name="Straight Connector 11"/>
          <p:cNvCxnSpPr/>
          <p:nvPr userDrawn="1"/>
        </p:nvCxnSpPr>
        <p:spPr>
          <a:xfrm>
            <a:off x="623681" y="4406900"/>
            <a:ext cx="7666919" cy="0"/>
          </a:xfrm>
          <a:prstGeom prst="line">
            <a:avLst/>
          </a:prstGeom>
          <a:ln>
            <a:solidFill>
              <a:schemeClr val="tx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2669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1A2AD7E-7D64-BD40-91A0-C5C5947E2875}" type="datetime1">
              <a:rPr lang="en-US" smtClean="0"/>
              <a:t>10/7/2021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4238967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513FA7E-006D-AE49-BC04-143DF79CFA6C}" type="datetime1">
              <a:rPr lang="en-US" smtClean="0"/>
              <a:t>10/7/2021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923028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20B695A-4E14-C44A-BF18-63C4AC7AB7F9}" type="datetime1">
              <a:rPr lang="en-US" smtClean="0"/>
              <a:t>10/7/2021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155173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noAutofit/>
          </a:bodyPr>
          <a:lstStyle>
            <a:lvl1pPr algn="l">
              <a:defRPr sz="32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A7D09D-7ACE-C24D-82D2-2A3474C1C790}" type="datetime1">
              <a:rPr lang="en-US" smtClean="0"/>
              <a:t>10/7/2021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53757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04839CF3-62E0-EA43-91F0-4EC3CCA8A119}" type="datetime1">
              <a:rPr lang="en-US" smtClean="0"/>
              <a:t>10/7/2021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144116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05A8F7A-95BD-864D-8A9C-B9A5E49A398C}" type="datetime1">
              <a:rPr lang="en-US" smtClean="0"/>
              <a:t>10/7/2021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83145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8E8C734-EBE5-7046-8237-D07E17A8D666}" type="datetime1">
              <a:rPr lang="en-US" smtClean="0"/>
              <a:t>10/7/2021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951736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758220-CF05-DC41-BC38-7127A5DC38C2}" type="datetime1">
              <a:rPr lang="en-US" smtClean="0"/>
              <a:t>10/7/2021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658720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C0BC23-2BE1-3A45-B714-AFD04A977F47}" type="datetime1">
              <a:rPr lang="en-US" smtClean="0"/>
              <a:t>10/7/2021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33965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E8EE9A-7AFA-5A4C-B21A-890A8131A854}" type="datetime1">
              <a:rPr lang="en-US" smtClean="0"/>
              <a:t>10/7/2021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8325473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E061F6-AA39-6442-8DDE-E6CDCA25A876}" type="datetime1">
              <a:rPr lang="en-US" smtClean="0"/>
              <a:t>10/7/2021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9568116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B2F32D-FB23-1743-9BD5-BA049F9EF854}" type="datetime1">
              <a:rPr lang="en-US" smtClean="0"/>
              <a:t>10/7/2021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8343928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06078F84-E522-9D45-9A97-DDFB323F750A}" type="datetime1">
              <a:rPr lang="en-US" smtClean="0"/>
              <a:t>10/7/2021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2927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619881E-FFE2-6D4C-AA34-3308C0ADC68C}" type="datetime1">
              <a:rPr lang="en-US" smtClean="0"/>
              <a:t>10/7/2021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403235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1234253-A354-6045-AC24-F0724896F255}" type="datetime1">
              <a:rPr lang="en-US" smtClean="0"/>
              <a:t>10/7/2021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2598897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5D0FF48-91A1-B143-AD51-ED88709050B7}" type="datetime1">
              <a:rPr lang="en-US" smtClean="0"/>
              <a:t>10/7/2021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581985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FB8D19D-8740-AD45-8DF9-A83AB358B74C}" type="datetime1">
              <a:rPr lang="en-US" smtClean="0"/>
              <a:t>10/7/2021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1172138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ACB6D55-B624-514B-8991-FFF17B93E6E1}" type="datetime1">
              <a:rPr lang="en-US" smtClean="0"/>
              <a:t>10/7/2021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1808808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91743B-631B-834F-9DC3-A35DD28CB298}" type="datetime1">
              <a:rPr lang="en-US" smtClean="0"/>
              <a:t>10/7/2021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461763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7C678B-4E2A-0248-9231-8C418E54563B}" type="datetime1">
              <a:rPr lang="en-US" smtClean="0"/>
              <a:t>10/7/2021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147271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18E802-2662-1F45-B7E0-D8C55A851183}" type="datetime1">
              <a:rPr lang="en-US" smtClean="0"/>
              <a:t>10/7/2021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838477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16E5EF2-0429-4B47-94AE-0AE5B8F45E57}" type="datetime1">
              <a:rPr lang="en-US" smtClean="0"/>
              <a:t>10/7/2021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30325317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4486ECF2-EFC1-A246-8403-C4EF7E1DDBAF}" type="datetime1">
              <a:rPr lang="en-US" smtClean="0"/>
              <a:t>10/7/2021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58220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805FD87-0B42-CE4B-9088-C559197E297C}" type="datetime1">
              <a:rPr lang="en-US" smtClean="0"/>
              <a:t>10/7/2021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12014008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35E1081B-112D-D446-B951-6C95BC836B76}" type="datetime1">
              <a:rPr lang="en-US" smtClean="0"/>
              <a:t>10/7/2021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1949856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140420B-45E2-3D4E-BB99-3B2B4EEF04B8}" type="datetime1">
              <a:rPr lang="en-US" smtClean="0"/>
              <a:t>10/7/2021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028979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2436B162-B9A1-A44E-AC1F-CF3754965C48}" type="datetime1">
              <a:rPr lang="en-US" smtClean="0">
                <a:solidFill>
                  <a:prstClr val="black">
                    <a:lumMod val="75000"/>
                    <a:lumOff val="25000"/>
                  </a:prstClr>
                </a:solidFill>
              </a:rPr>
              <a:t>10/7/2021</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457365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8"/>
          <p:cNvSpPr>
            <a:spLocks noGrp="1"/>
          </p:cNvSpPr>
          <p:nvPr>
            <p:ph type="dt" sz="half" idx="10"/>
          </p:nvPr>
        </p:nvSpPr>
        <p:spPr/>
        <p:txBody>
          <a:bodyPr/>
          <a:lstStyle/>
          <a:p>
            <a:fld id="{FA806935-97BB-7D47-B7D5-637BCD81C172}" type="datetime1">
              <a:rPr lang="en-US" smtClean="0">
                <a:solidFill>
                  <a:prstClr val="black">
                    <a:lumMod val="75000"/>
                    <a:lumOff val="25000"/>
                  </a:prstClr>
                </a:solidFill>
              </a:rPr>
              <a:t>10/7/2021</a:t>
            </a:fld>
            <a:endParaRPr lang="en-US" dirty="0">
              <a:solidFill>
                <a:prstClr val="black">
                  <a:lumMod val="75000"/>
                  <a:lumOff val="25000"/>
                </a:prstClr>
              </a:solidFill>
            </a:endParaRPr>
          </a:p>
        </p:txBody>
      </p:sp>
      <p:sp>
        <p:nvSpPr>
          <p:cNvPr id="10" name="Footer Placeholder 9"/>
          <p:cNvSpPr>
            <a:spLocks noGrp="1"/>
          </p:cNvSpPr>
          <p:nvPr>
            <p:ph type="ftr" sz="quarter" idx="11"/>
          </p:nvPr>
        </p:nvSpPr>
        <p:spPr/>
        <p:txBody>
          <a:bodyPr/>
          <a:lstStyle/>
          <a:p>
            <a:endParaRPr lang="en-US" dirty="0">
              <a:solidFill>
                <a:prstClr val="white">
                  <a:lumMod val="50000"/>
                </a:prstClr>
              </a:solidFill>
            </a:endParaRPr>
          </a:p>
        </p:txBody>
      </p:sp>
      <p:sp>
        <p:nvSpPr>
          <p:cNvPr id="11" name="Slide Number Placeholder 10"/>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30683439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76D60E-591D-4D46-B5B2-D025F497B612}" type="datetime1">
              <a:rPr lang="en-US" smtClean="0">
                <a:solidFill>
                  <a:prstClr val="black">
                    <a:lumMod val="75000"/>
                    <a:lumOff val="25000"/>
                  </a:prstClr>
                </a:solidFill>
              </a:rPr>
              <a:t>10/7/2021</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9706617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1A0EE8A-7FEE-5E4F-B84D-DA90C899064A}" type="datetime1">
              <a:rPr lang="en-US" smtClean="0">
                <a:solidFill>
                  <a:prstClr val="black">
                    <a:lumMod val="75000"/>
                    <a:lumOff val="25000"/>
                  </a:prstClr>
                </a:solidFill>
              </a:rPr>
              <a:t>10/7/2021</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0609592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5E18FF4-C872-4D4D-9BA2-95526D7F0773}" type="datetime1">
              <a:rPr lang="en-US" smtClean="0">
                <a:solidFill>
                  <a:prstClr val="black">
                    <a:lumMod val="75000"/>
                    <a:lumOff val="25000"/>
                  </a:prstClr>
                </a:solidFill>
              </a:rPr>
              <a:t>10/7/2021</a:t>
            </a:fld>
            <a:endParaRPr lang="en-US">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a:solidFill>
                <a:prstClr val="white">
                  <a:lumMod val="50000"/>
                </a:prstClr>
              </a:solidFill>
            </a:endParaRPr>
          </a:p>
        </p:txBody>
      </p:sp>
      <p:sp>
        <p:nvSpPr>
          <p:cNvPr id="9" name="Slide Number Placeholder 8"/>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2464600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7617247-73A5-C742-9FE4-11842F14DB90}" type="datetime1">
              <a:rPr lang="en-US" smtClean="0">
                <a:solidFill>
                  <a:prstClr val="black">
                    <a:lumMod val="75000"/>
                    <a:lumOff val="25000"/>
                  </a:prstClr>
                </a:solidFill>
              </a:rPr>
              <a:t>10/7/2021</a:t>
            </a:fld>
            <a:endParaRPr lang="en-US">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751884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E069FB-412E-A34C-BE77-A0FEF84299AF}" type="datetime1">
              <a:rPr lang="en-US" smtClean="0">
                <a:solidFill>
                  <a:prstClr val="black">
                    <a:lumMod val="75000"/>
                    <a:lumOff val="25000"/>
                  </a:prstClr>
                </a:solidFill>
              </a:rPr>
              <a:t>10/7/2021</a:t>
            </a:fld>
            <a:endParaRPr lang="en-US">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a:solidFill>
                <a:prstClr val="white">
                  <a:lumMod val="50000"/>
                </a:prstClr>
              </a:solidFill>
            </a:endParaRPr>
          </a:p>
        </p:txBody>
      </p:sp>
      <p:sp>
        <p:nvSpPr>
          <p:cNvPr id="4" name="Slide Number Placeholder 3"/>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5014830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3337FD-D8F4-EA4C-BEC0-55A323C292F4}" type="datetime1">
              <a:rPr lang="en-US" smtClean="0">
                <a:solidFill>
                  <a:prstClr val="black">
                    <a:lumMod val="75000"/>
                    <a:lumOff val="25000"/>
                  </a:prstClr>
                </a:solidFill>
              </a:rPr>
              <a:t>10/7/2021</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3301714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682FD3-B251-B14B-A31F-C33C0A85D147}" type="datetime1">
              <a:rPr lang="en-US" smtClean="0">
                <a:solidFill>
                  <a:prstClr val="black">
                    <a:lumMod val="75000"/>
                    <a:lumOff val="25000"/>
                  </a:prstClr>
                </a:solidFill>
              </a:rPr>
              <a:t>10/7/2021</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655065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7DE34F66-E4B7-F84E-B380-FECBD842D400}" type="datetime1">
              <a:rPr lang="en-US" smtClean="0">
                <a:solidFill>
                  <a:prstClr val="black">
                    <a:lumMod val="75000"/>
                    <a:lumOff val="25000"/>
                  </a:prstClr>
                </a:solidFill>
              </a:rPr>
              <a:t>10/7/2021</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11905936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solidFill>
                <a:prstClr val="black"/>
              </a:solidFill>
            </a:endParaRPr>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DC1F44D1-B787-EE40-B7EC-E5D099DD1EC7}" type="datetime1">
              <a:rPr lang="en-US" smtClean="0">
                <a:solidFill>
                  <a:prstClr val="black">
                    <a:lumMod val="75000"/>
                    <a:lumOff val="25000"/>
                  </a:prstClr>
                </a:solidFill>
              </a:rPr>
              <a:t>10/7/2021</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0050649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B3A7EE9-BDB3-594E-B507-06F4CBFCFAE4}" type="datetime1">
              <a:rPr lang="en-US" smtClean="0">
                <a:solidFill>
                  <a:prstClr val="black">
                    <a:lumMod val="75000"/>
                    <a:lumOff val="25000"/>
                  </a:prstClr>
                </a:solidFill>
              </a:rPr>
              <a:t>10/7/2021</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40328916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E8025D21-9C4F-DC41-A2D3-7071AC256DF5}" type="datetime1">
              <a:rPr lang="en-US" smtClean="0">
                <a:solidFill>
                  <a:prstClr val="black">
                    <a:lumMod val="75000"/>
                    <a:lumOff val="25000"/>
                  </a:prstClr>
                </a:solidFill>
              </a:rPr>
              <a:t>10/7/2021</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266788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E5B1695-3215-7642-9658-A90CD260C033}" type="datetime1">
              <a:rPr lang="en-US" smtClean="0">
                <a:solidFill>
                  <a:prstClr val="black">
                    <a:lumMod val="75000"/>
                    <a:lumOff val="25000"/>
                  </a:prstClr>
                </a:solidFill>
              </a:rPr>
              <a:t>10/7/2021</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6281072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3.jpe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4.gi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4.gif"/><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6" Type="http://schemas.openxmlformats.org/officeDocument/2006/relationships/image" Target="../media/image4.gif"/><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4.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2013UCLAAndersonLogoScreen4-3.gif"/>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4" name="Picture 13"/>
          <p:cNvPicPr>
            <a:picLocks/>
          </p:cNvPicPr>
          <p:nvPr userDrawn="1"/>
        </p:nvPicPr>
        <p:blipFill>
          <a:blip r:embed="rId5"/>
          <a:stretch>
            <a:fillRect/>
          </a:stretch>
        </p:blipFill>
        <p:spPr>
          <a:xfrm>
            <a:off x="786049" y="5935664"/>
            <a:ext cx="1973580" cy="381000"/>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7297" y="1417639"/>
            <a:ext cx="7934131" cy="4708525"/>
          </a:xfrm>
          <a:prstGeom prst="rect">
            <a:avLst/>
          </a:prstGeom>
        </p:spPr>
        <p:txBody>
          <a:bodyPr vert="horz" lIns="91440" tIns="45720" rIns="91440" bIns="45720" rtlCol="0">
            <a:normAutofit/>
          </a:bodyPr>
          <a:lstStyle/>
          <a:p>
            <a:pPr lvl="0"/>
            <a:r>
              <a:rPr lang="en-US" dirty="0"/>
              <a:t>Click to edit Master text styles</a:t>
            </a:r>
          </a:p>
        </p:txBody>
      </p:sp>
      <p:sp>
        <p:nvSpPr>
          <p:cNvPr id="4" name="Date Placeholder 3"/>
          <p:cNvSpPr>
            <a:spLocks noGrp="1"/>
          </p:cNvSpPr>
          <p:nvPr>
            <p:ph type="dt" sz="half" idx="2"/>
          </p:nvPr>
        </p:nvSpPr>
        <p:spPr>
          <a:xfrm>
            <a:off x="151030" y="6356351"/>
            <a:ext cx="2133600" cy="365125"/>
          </a:xfrm>
          <a:prstGeom prst="rect">
            <a:avLst/>
          </a:prstGeom>
        </p:spPr>
        <p:txBody>
          <a:bodyPr vert="horz" lIns="91440" tIns="45720" rIns="91440" bIns="45720" rtlCol="0" anchor="ctr"/>
          <a:lstStyle>
            <a:lvl1pPr algn="l">
              <a:defRPr sz="1000" kern="900" spc="400">
                <a:solidFill>
                  <a:schemeClr val="bg1"/>
                </a:solidFill>
                <a:latin typeface=""/>
              </a:defRPr>
            </a:lvl1pPr>
          </a:lstStyle>
          <a:p>
            <a:fld id="{B88CA5B7-BF38-844D-A217-8D897D011E98}" type="datetime1">
              <a:rPr lang="en-US" smtClean="0"/>
              <a:t>10/7/2021</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4290648545"/>
      </p:ext>
    </p:extLst>
  </p:cSld>
  <p:clrMap bg1="lt1" tx1="dk1" bg2="lt2" tx2="dk2" accent1="accent1" accent2="accent2" accent3="accent3" accent4="accent4" accent5="accent5" accent6="accent6" hlink="hlink" folHlink="folHlink"/>
  <p:sldLayoutIdLst>
    <p:sldLayoutId id="2147483712" r:id="rId1"/>
    <p:sldLayoutId id="2147483715" r:id="rId2"/>
  </p:sldLayoutIdLst>
  <p:hf hdr="0" ftr="0" dt="0"/>
  <p:txStyles>
    <p:titleStyle>
      <a:lvl1pPr algn="ctr" defTabSz="457200" rtl="0" eaLnBrk="1" latinLnBrk="0" hangingPunct="1">
        <a:spcBef>
          <a:spcPct val="0"/>
        </a:spcBef>
        <a:buNone/>
        <a:defRPr sz="3000" b="0" i="0" kern="1200" cap="all" spc="400">
          <a:solidFill>
            <a:schemeClr val="bg1"/>
          </a:solidFill>
          <a:latin typeface="Whitney Book"/>
          <a:ea typeface="+mj-ea"/>
          <a:cs typeface="+mj-cs"/>
        </a:defRPr>
      </a:lvl1pPr>
    </p:titleStyle>
    <p:bodyStyle>
      <a:lvl1pPr marL="0" indent="0" algn="l" defTabSz="457200" rtl="0" eaLnBrk="1" latinLnBrk="0" hangingPunct="1">
        <a:spcBef>
          <a:spcPct val="20000"/>
        </a:spcBef>
        <a:buClr>
          <a:srgbClr val="1B8BD5"/>
        </a:buClr>
        <a:buFontTx/>
        <a:buNone/>
        <a:defRPr sz="3200" kern="1100" spc="50" normalizeH="0" baseline="0">
          <a:solidFill>
            <a:schemeClr val="tx2">
              <a:lumMod val="75000"/>
            </a:schemeClr>
          </a:solidFill>
          <a:latin typeface="Whitney-Book"/>
          <a:ea typeface="+mn-ea"/>
          <a:cs typeface="+mn-cs"/>
        </a:defRPr>
      </a:lvl1pPr>
      <a:lvl2pPr marL="457200" indent="0" algn="l" defTabSz="457200" rtl="0" eaLnBrk="1" latinLnBrk="0" hangingPunct="1">
        <a:spcBef>
          <a:spcPct val="20000"/>
        </a:spcBef>
        <a:buClr>
          <a:srgbClr val="1B8BD5"/>
        </a:buClr>
        <a:buFontTx/>
        <a:buNone/>
        <a:defRPr sz="2800" kern="1100" spc="50" normalizeH="0" baseline="0">
          <a:solidFill>
            <a:schemeClr val="tx2">
              <a:lumMod val="75000"/>
            </a:schemeClr>
          </a:solidFill>
          <a:latin typeface="Whitney-Book"/>
          <a:ea typeface="+mn-ea"/>
          <a:cs typeface="+mn-cs"/>
        </a:defRPr>
      </a:lvl2pPr>
      <a:lvl3pPr marL="914400" indent="0" algn="l" defTabSz="457200" rtl="0" eaLnBrk="1" latinLnBrk="0" hangingPunct="1">
        <a:spcBef>
          <a:spcPct val="20000"/>
        </a:spcBef>
        <a:buClr>
          <a:srgbClr val="1B8BD5"/>
        </a:buClr>
        <a:buFontTx/>
        <a:buNone/>
        <a:defRPr sz="2400" kern="1100" spc="50" normalizeH="0" baseline="0">
          <a:solidFill>
            <a:schemeClr val="tx2">
              <a:lumMod val="75000"/>
            </a:schemeClr>
          </a:solidFill>
          <a:latin typeface="Whitney-Book"/>
          <a:ea typeface="+mn-ea"/>
          <a:cs typeface="+mn-cs"/>
        </a:defRPr>
      </a:lvl3pPr>
      <a:lvl4pPr marL="13716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4pPr>
      <a:lvl5pPr marL="18288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810698" y="0"/>
            <a:ext cx="9954698" cy="4782311"/>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52530" y="1600201"/>
            <a:ext cx="7836326"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155AD3-ABED-454E-9734-E14628C9BF4D}" type="datetime1">
              <a:rPr lang="en-US" smtClean="0"/>
              <a:t>10/7/2021</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4DDD2-D94C-1147-A389-2CD6A7EEF184}" type="slidenum">
              <a:rPr lang="en-US" smtClean="0"/>
              <a:t>‹#›</a:t>
            </a:fld>
            <a:endParaRPr lang="en-US"/>
          </a:p>
        </p:txBody>
      </p:sp>
      <p:pic>
        <p:nvPicPr>
          <p:cNvPr id="8" name="Picture 7" descr="AndersonLogo_TITN.gif"/>
          <p:cNvPicPr>
            <a:picLocks/>
          </p:cNvPicPr>
          <p:nvPr userDrawn="1"/>
        </p:nvPicPr>
        <p:blipFill>
          <a:blip r:embed="rId14" cstate="screen">
            <a:extLst>
              <a:ext uri="{28A0092B-C50C-407E-A947-70E740481C1C}">
                <a14:useLocalDpi xmlns:a14="http://schemas.microsoft.com/office/drawing/2010/main"/>
              </a:ext>
            </a:extLst>
          </a:blip>
          <a:stretch>
            <a:fillRect/>
          </a:stretch>
        </p:blipFill>
        <p:spPr>
          <a:xfrm>
            <a:off x="1205668" y="6197715"/>
            <a:ext cx="2194560" cy="438573"/>
          </a:xfrm>
          <a:prstGeom prst="rect">
            <a:avLst/>
          </a:prstGeom>
        </p:spPr>
      </p:pic>
    </p:spTree>
    <p:extLst>
      <p:ext uri="{BB962C8B-B14F-4D97-AF65-F5344CB8AC3E}">
        <p14:creationId xmlns:p14="http://schemas.microsoft.com/office/powerpoint/2010/main" val="342558120"/>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ftr="0" dt="0"/>
  <p:txStyles>
    <p:titleStyle>
      <a:lvl1pPr algn="ctr" defTabSz="457200" rtl="0" eaLnBrk="1" latinLnBrk="0" hangingPunct="1">
        <a:spcBef>
          <a:spcPct val="0"/>
        </a:spcBef>
        <a:buNone/>
        <a:defRPr sz="2800" kern="1200" cap="all" spc="4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1pPr>
      <a:lvl2pPr marL="742950" indent="-28575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2pPr>
      <a:lvl3pPr marL="11430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3pPr>
      <a:lvl4pPr marL="16002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4pPr>
      <a:lvl5pPr marL="20574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C0387D30-8C78-4D48-8A4E-EBB976F8A35E}" type="datetime1">
              <a:rPr lang="en-US" smtClean="0"/>
              <a:t>10/7/2021</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2217867851"/>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7" r:id="rId10"/>
    <p:sldLayoutId id="2147483734" r:id="rId11"/>
    <p:sldLayoutId id="2147483735" r:id="rId12"/>
    <p:sldLayoutId id="2147483738" r:id="rId13"/>
    <p:sldLayoutId id="2147483768" r:id="rId14"/>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9AB94A9C-1A42-8344-8BAD-E473AA7FF132}" type="datetime1">
              <a:rPr lang="en-US" smtClean="0">
                <a:solidFill>
                  <a:prstClr val="black">
                    <a:lumMod val="75000"/>
                    <a:lumOff val="25000"/>
                  </a:prstClr>
                </a:solidFill>
              </a:rPr>
              <a:t>10/7/2021</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solidFill>
                <a:prstClr val="white">
                  <a:lumMod val="50000"/>
                </a:prstClr>
              </a:solidFill>
            </a:endParaRPr>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847157103"/>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hyperlink" Target="https://time.com/5836012/flour-shortage-history/?amp=true" TargetMode="External"/><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115" y="4406901"/>
            <a:ext cx="7772400" cy="1362075"/>
          </a:xfrm>
        </p:spPr>
        <p:txBody>
          <a:bodyPr>
            <a:normAutofit/>
          </a:bodyPr>
          <a:lstStyle/>
          <a:p>
            <a:r>
              <a:rPr lang="en-US" noProof="0" dirty="0"/>
              <a:t>Week 1 – Video 3</a:t>
            </a:r>
            <a:br>
              <a:rPr lang="en-US" noProof="0" dirty="0"/>
            </a:br>
            <a:r>
              <a:rPr lang="en-US" noProof="0" dirty="0"/>
              <a:t>Supply and Demand</a:t>
            </a:r>
            <a:endParaRPr lang="en-US" b="0" noProof="0" dirty="0"/>
          </a:p>
        </p:txBody>
      </p:sp>
      <p:sp>
        <p:nvSpPr>
          <p:cNvPr id="3" name="Text Placeholder 2"/>
          <p:cNvSpPr>
            <a:spLocks noGrp="1"/>
          </p:cNvSpPr>
          <p:nvPr>
            <p:ph type="body" idx="1"/>
          </p:nvPr>
        </p:nvSpPr>
        <p:spPr/>
        <p:txBody>
          <a:bodyPr>
            <a:normAutofit/>
          </a:bodyPr>
          <a:lstStyle/>
          <a:p>
            <a:r>
              <a:rPr lang="en-US" sz="2400" noProof="0" dirty="0"/>
              <a:t>Professor Nico Voigtländer</a:t>
            </a:r>
          </a:p>
          <a:p>
            <a:r>
              <a:rPr lang="en-US" sz="2400" noProof="0" dirty="0"/>
              <a:t>Management 405: Module 1</a:t>
            </a:r>
          </a:p>
        </p:txBody>
      </p:sp>
      <p:sp>
        <p:nvSpPr>
          <p:cNvPr id="5" name="Slide Number Placeholder 4">
            <a:extLst>
              <a:ext uri="{FF2B5EF4-FFF2-40B4-BE49-F238E27FC236}">
                <a16:creationId xmlns:a16="http://schemas.microsoft.com/office/drawing/2014/main" id="{90D7822B-922F-5646-94B9-B9B91B0384D4}"/>
              </a:ext>
            </a:extLst>
          </p:cNvPr>
          <p:cNvSpPr>
            <a:spLocks noGrp="1"/>
          </p:cNvSpPr>
          <p:nvPr>
            <p:ph type="sldNum" sz="quarter" idx="12"/>
          </p:nvPr>
        </p:nvSpPr>
        <p:spPr/>
        <p:txBody>
          <a:bodyPr/>
          <a:lstStyle/>
          <a:p>
            <a:fld id="{0F3206DB-9488-D04D-BDD1-A7C9D84C4579}" type="slidenum">
              <a:rPr lang="en-US" smtClean="0"/>
              <a:t>1</a:t>
            </a:fld>
            <a:endParaRPr lang="en-US"/>
          </a:p>
        </p:txBody>
      </p:sp>
      <p:pic>
        <p:nvPicPr>
          <p:cNvPr id="6" name="Picture 2" descr="data:image/png;base64,iVBORw0KGgoAAAANSUhEUgAAAgQAAABiCAMAAAAY7jvKAAAAw1BMVEX///8Qe7YjHyAAdrQAAACEttYAcrLF3OsbFhcgHB0AeLUIAAAdGBkAdbNqaGkPCAr5+flbWVre3t4WEBH09PR6eHkchr0zLzCYl5hUUVI7ODlwbm9VncgUDg/T09MuKivAv8Dn5ufv9fmMiopMSEmlpKWwr69JlsREQUKCgIE3NDXb2tuLiYrDw8PNzMxsamuqqaptq9Dk8Pat0eWQutibxd7Q4+9opcwwjL+4z+PK4O7a7PSbxN4iib681eePttVssNPmOyI8AAAa7UlEQVR4nO2dB3ujPBKACdY6NJvqHgy4EFzjzbZs+XL3/3/VqUtgitfxnXO7nufuy9oSAjMvo5lRQfnw58hP5SbnSeuPkfb9te/l/63c/TFyg+BsubbqLic3CM6Wa6vucnKD4Gy5tuouJzcIzpZrq+5ycoPgbLm26i4nNwjOlmur7nJyg+BsubbqLic3CM6Wa6vucnKD4Gy5tuouJzcIzpZrq+5y0gRB0lthmTtvu2M70szyba28K7m26i4nTRAMQYgF7N92x5a4HXP0Rpbek1xbdZeTJggyS8USrt52x5Y2akVzbxC8Q2mAYK/qBAI9C950x24QvGNpgGAeqlT8+E137AbBO5Z6CIKxziB4Y39wg+AdSz0EO4C7AkwBeFN/cIPgHUs9BBMfMRBFGIL0LXfsBsE7lloIkjGKDcK5i/743bfcsRsE71hqIYix5sC0hw3C2nvDHbtB8I6lFgJXwxAoSxP9NQ8V1ZxpnKbxPil+H+yGPbc3jJEzUQKBM02HT6h8WnkByUY0utnFaVx2GtjSPp1P3Kdtuqv0W5IdOnhTeaYz5Nqqu5zUQRAAojjFw/+wRlLZYeQiGUINHEaRCQBQs3lOP8Fy4du+Bv+fHUogcFJ4GC43B+5OHLbF7Y6gA+LMR9kgCmhj7sCCJwGmOu7GeXPiDEcqbcnKtpK5GuKm3FhRvN4YHR0O3DcmPmW5tupqxfidynUQUAMA9RHhAAFISh4CDYrZVTwXaLhUt8xIeqa9EaDJRtUCkyMINiN6GDpSAy5vumujhsFS2WempuskJkl1k9XWLR/kVLlcmxZvybLNIbcGPRNf40E5WLbFzrS6WId0iiqIVBaUq8rodNCfTqdllB10kl77z4+nc1ADgYN7Az2CNnSOVWgPReEQf+NPgkhTuVg6144nf6+C7TDMQZCqcjF0PjPGT9cnXU9CGsAQrGw9V1sLY3aeYGVauTI9XDCgsCuj+mkqH+67F2LgBAj6TE4vMTrt/rfP31/v7++/f//40uoYxwedoNbOL+VD64R6RGog2ODnH+ttbxV7dAKBPiI649oZUwUkWe57VV3rcguxTzWn61Q/fuTJEIRD2jCCIAWkrh+GvkYPY7T1ALMBGrMHYebJEOhulEMIXGoks1kTn2jNH0VNv7A2Puc1Zdw9fHmWzzH78sAse+cL/e5rs1aNl5nytX0iArUQED3bcwXpFCvN3xcK4b3H/+V3mBmLLk0367CzBj6vQiGYmvSjGY3Hvk+fUGLGifL1jFoKCIFHlOhnve285xJVa2tynpVJGbKgj5LRZv2MoEYgUAln/Br1wVuiHEma7+0rrXlf1NEDa+NfMgRG++HHUWfl3L+0860VkSo78y9Y7xSL0QgBdQSm4n5K/QGFAOkDAPg/9mQPsCqn9Pk0B8v9fvcEmO0nEAQuUTQYxRvP2z8BciISfFALgL7StdCGEBxwY4C4ncEuwqcC2JdM6VWA7jQJgiRdE/YAuc4es0Z6iK6RIqKaQ+Ui0nxvv9KarwXL3PrI2vgmWXvjoWJd6KdOvrVO04mNPqr3ubFeMwR7kjKO5A86L+UQ+NhLi0f0hpN5B1STJp2KslloMgSpSRpjykjxs6oPEulQ1HLU3Q6HjjJCB/sTduYpBiTsKWhog7Dn82QmCWp1YrIYBLq+gg9/cCD4qNagQbsnSvO9ZZb9e0Ednc+0YPbAITDav6pc1mdsCjq8tUY730KG4BSL0QgBcQb9Hv4QELNg8v6AQWBPiBX36MQDbCw21IBzH8yz5O5gjavaYkSKjFWGWJUcArubkLuCq9uiJ3eBbdtgFHBDYPd4Ge23QowMg8Cnx8bRJUZBuDTf3BmtWXwmuWWfcRfeePlReaJ7onUGwa+mJxx5BFCck+ODSgiSDN+xkIbwPaKnLSumEFhj9sWOWGIMzYEaEZGbIUQRCEhfoYdCFY7GXVAOAeBGG9sJYQmUdD6EsgwUZ0E8koEUulInEuuZQiBooxcNSvJNZ0jjve0zCD4WuoMOU/jzC9WT0X+uOg3sDhAExj+sRqPb36Yu5Mn9QSUEO2Kzx9SLSvENtTJ2/+j9tGN+AHG9NDTCQIyyJg02eKqIDlh0KZ2MBKM20hyFwFrwQvJwa9sj1SVE4blB7oC4gTayKjQ6sLgjSJJeqrkrtnSWNN1a+kBCeSg+kqx7/9lnDNRtE4EffdHat4YH3Hih/crzqfFBJQREGVyRCZlZANj9oyHiWHjaCxpGKowHOa0QUC4QBBPqZAYJk4D0B7hxCoE0h4V+Y5vuPN15UsdJfAuicC6kdWyyevQncJPjUAhi5RLSCMEjU1vRLnOV/2QFX3MtO7PZ8/Nsxn4qfvSNh6rWjs7LYsnGmk0QBCTBIsYLuliL/hP9SCCwRsKmSxBQkyw/cCueLEqoEV9nYybZQFDTLZgcNqkBHW3b+iDrLhkIW9ID2bkRgYNJNO8wCEQXpjjUs4nLf/NvSiME35gW+4XM3wuz7DSWN37J7f74/PDSb7f7/W+/CBv40Ret/VOvWoP3Qs3eQwMEabH7pC59RL+og8Azj7veOU8bU5sCzbQQGt8jf6JggRRkRfgcN+joW5oJXPLssz4/10/EBCKUNjyKa/+3ELQ+sJoFrQkT8YohaH2TWr1/vOuQ1LBhtO4eEAa4NxGtNZyWp6ggYyemCiogcIhV1ceHlMqSmmlqe+sgSCgEshMuxg42Um4pL9iKHEMAsQkLFUMXdUPEOKl27spj7b1AwANBp9A3G1zpX/CjaojOwPmYHy9o9WEggb3H1r9YnfqeXvgOysn9QQUECdWUbjKhISENGU+CQI57JQhoptjSimJXQKAkXRDmRwjCdcD8z3cLQYsZ+Z9FCHiuiPT2n3mTz49FA25AlAgErLVZPQStT9IlfjnNNayAYGhWPK06Nb51EATUJ5D7aqk7ILFn5B4LcvPLIIBh5SoLTV8yIfbEKe8O0pBf2JUhMPjQQUEVwrJ/xE8qjwxmDyWduPGlT/7QSkWkCrX78iU+v8kSLPIPniR0quEpjmEsNUg9dQhBMEIV9fHUCY5EqYIAWoNp2h0D0w6pidI9lnywc3MEaAD65FwfApYS+lRQWyfnvoscsvKt1JEz8q3d10LQkQ1BczhZB8Hequq3VY1MLamFgDj7klvOQgIcIhLdWBXTO6ogILJJt2uakl6ysMGWhwXJ+DfR/JUhuGO39ksxYcgVhQx9h3sEtYMCBmutiFS+FvM56Z9Pb4CA5QN9WegoLpk5UgtBlz/2TKake5GSRXh0skSOIPCmWHhbCakBnZOANOpPJOeD+iM2Ck+vDQHT7ociBF+lJkSoMKt14wzWadTGfYyv53/Tv6cwUA5BQJN0k1SWlS09eLUQ0NytJm72SBMQJDRtLHXl8y2SFXb5ixD0ABZhOAKcZEYZCxLCqKFkVEg+QlfxkVeGgGUDPhaU255JTQiv/3ttOthgBxWRylViHsF9i/7jKFl5MgR0JFjLp1c94tZbC/Tg1ULgkf7AGtNSh61mI8ZhRPNO/NgYL1m2cWLhCAJyplAYDjKYhcKUmE4uEJmlmCYrcU90bQiq8rxt1gJ6Tnlf3xDPGaxa3dABDw0e2tRwvJ4SH5RCQJPuUf5bh032QQ9sLQTsEfUXMTpu32WxBoFgR+YL2i7NOcfUh8BjAEcQTMnFhJzI2KQ+AQwS6XlGdHLaTqX0JeJnXA0C7qcXn0ZegOYIGcxeNIR+d+ygGl+Pdy1f0fwyLM+n5IvKIKArEHNDPEiWtD9Aj1k9BHua6bWs8WIx1vl8Quom0I7Fj9xlHC9dOj2JDDoeO4ZkMoKuLtHQspMssSZ1FdXmQ9Sqe0jTw4J+BHJG8VoQ8Dlkxb5eTC67NyQiah0+cZBTY+C5x/m5xRNSxb7oVAhi+sQX7xV1uqxF0ASBMmFzTmhSWPdlCALq4euabQKbziOmY8fHEOzIMIZuRt1e72lM5iGFT7illE4X0jUTmGzWMaD0XhmCR1qPjxezAj65DPruvFbDCDGvV+M+Cuz6Bh+feD0TApoyHhyN3a5prm/XCEHCZhoR0QdzMYqooCkohXmoaNSfFJWEiEs2mVSDIQp99PkYxnESms8qvzIE7Fn8WbDIIjHwy5Cyh/UhPW+tiJTcMDMEyKi02JyF8yAIfNobHE13YpMI5o0QKJ5qC7XoIN7l1x14C5BLR1mAna0sTzAE+Qnqqh3xgAA6lTkMfLBl131dCHhesDg7uMPHDD+3ROKoPkAUrRWREmI8sh+OOGn9m344oT8ogWAJcFqgZGr2xg9RSQgcZWjqUDQZAh+Z/pBNKUt6zM7r5noHdYWOlPYsWmZ8zQi05Rl3+7o2asbOJ4umru2zyem6HoYTyUglPd3mZb7ZFfFiz0bXKM0rdVQNNX7Uz50nDXeW6/pHQQud76yFf7VErZonPNda9YRz7hG8YiT+oZ/um8eTyyDoYZkcT8IKhrTIK7EETwsswpuMXR0CE2oRmie8meAjpXkmyXKhaWgpga8uUnGuFWmmsCVGMJ1Elo9ra1FvmrdR0zksC9GiBH2yl4qOLYGL284usxatCQKuk+L4Eb/lsAfg0w0bIGgzcr5WVRP+JnEd2cTUhoYrILicBLv4kFYvN1WCfXo47PZH3U65JLC1Q7orXTWQ7A6Hw2XXmzbKqXf2KMXHemvk6HNUGroDnmUsjkYJCFhLP8n5WqyjaV6KdNvM8mxpurMsz1tM8fHJZUjv3MzXhX530pyDqgnnwhBQpXNXshKbGwRvl5MhKCw145PLZn3ZS2x4YJuGDrhJeabTz8R5mhi4QXC+NN1ZPn5UgIBnBtBovwgR65NF/YYJ5yI0+NKmq5fbrNupG224QfA2OfXOFqb/izQBmhkgrPisdiCZP9YV6QQxBPHxkcoLD08arvQGwfnSdGeZfS704uKO4yeUDwwpH8unlJBJp5XT12mtf3gzMyHsm6aphjcIzpYGCDo8WZRL74jegMwdFAHjz36JrowXrEHjoX7CeedVqZGmpUg3CM6WBgj4EEF+TSCP5JSf+HNLTDMtmRZq3P2kqw5YpXJD8ChNMT6W+mmJNwjeIA0QiPFBOUZr80mmyi/s4slTxD8UNdx+mBH7L+amlj7U9YaA2pwbBP8FaYJArC37wDadMYyPXOUO1YyswC93ku9vtPqfHWWGq/E1DM/M95d3PRLeZYU0LEW6QXC2NDEgGfpP/7TbnU679SApnIWEOQ0+f7hrd7ByO+2XzygiIGE/H2f6+VgQ5HAYDYagaYebKgg8tDPgluxBeCzOLv29/HuwHNasB9+nKT1REKeFluEXb9pP978nTRDIhn729dOvL6/PUoJ8xk20kZslPnv98O3x5eHjr6/kaOJWignKs7yggQLhNc6Kwo5qyEmXQhCsBgDYNgBkgthxuQuK047qxQOgegxhpQJAJy8kYwDWMi6eDoD6W6f6b0o6jMWHJggkzZWIGOE17mr2JqBBfrXBfpQGoZTHfl54JFLfH5S27rgmmKRxHM91u3Szr6Br9kq+rhZPq4ZgZ4fugVoCtNNIbqR3aav6hbaXebs4XSANcTdCYPxT7bPLkUDroca3JzOD2pX7F7wYoj957eQfeIO7Jc+1OelSCOYgouP7iRuWrRK5KARLU6wmRMuTNGnnVGeh6e8IgokpGcBGCO6MD1UtvebqSYuQjoSkmtpVmED3UngER9nEFhuArh+eKoVgYfLFQ94gLNn98cIQCC07eKWxGBKegmh9qY2m3i6/CwHZSq5EjhamVdsCkuhpVxU/91t8yuKPI5sv0gu1S5HKIIAds9jLemiKfQaShP6TQhAkOW+v8BF9Zn5lEQJHFBUg8NWJ2K5Imdijni+Kg8LUA6kVXHz8WyrOSa8vYM04ua8LPqw47nchuLsrpeDDUTXjscovIANGnaof9bMvPIKyp539sJ91F1k+5dwUSz12AzUm/zpMFtmihz9gCKa9UbaY8HlhKfw4mghPPhh2F5m7JbrPQ5DMu1k2muNv0mFXi4bDlFwthCCKAX/pVgKvZBVSCKbzVXeyJReTDGG0kcILcldMY/v5yu1t+eVM5z1U2RvSvY6d4VOWuXMyJWU3XMKLcOFn+CGGzTzx656uXPiryEMAYxoPn2WEFkc56XChLZbsUk+DoP3tSLuvL2Vrj43PZcbg/oHYjH5JGZYfd9wQlMWBQr11/UFpd+CGg7j43RTGC9HYBwDtPAohWA3x6jAbEF68BQBWFkI3nyr7AGOLwRrWwHN/cxBA4wIGA/ifFdqBDEDXj7SqEEsQjLlreDDNpEcggAEJEbxp7SYE8Qjvem6T3Y2SEStOWG0t84G7BGTl+g5FIGN4TmxltiDbm2CsmvC8E2CPbfYznB4AYQbr4pc7bCJweCJnAakSZEBT4Q1g66pOggB6h59y5uv+W8UO5J2XIgZiT9vqbNDrHTcER/nGOznT+KkmPiiFYA9/bS/OfbVZm1maJN5StycIAj+zx+nGG0aWiW5XsrDVpYeKfTIZPLXt0T5JNm6IdxmUIUgBLpp2Q2Rc43TiR4cDPRuEwFJ6PP4c2d2AQtC1/dV+s1mp2CJ7qpWBp/1mP/HxDrdO1w7nsLinmmh2ItSshS5nNxjoOrqevQpcdDkTG29ztbWjMboGeLYnsPKSaab5U0KHPfSSJB6baJcLb2yNgbvbTHuWtQ6cYW+sjdJD/DuWAO1S2f/4/cfX59nz1/vvH/vt6mUDnfbjr/uvKLifzZ7vf31ribr9hwp5rNlFmxx5wrbY5QFoasFnwxwNxay9hbkgD8A0Qg9FV6OrP7wQL1DtmTZR8iYK0eRTL7K75F4NAdr8SoJgqrKOdWvjpUIFn8BC3iA5rwfgYz7BEOyBTiz2Dhd6qm6yjRLQjnQx0GNKGEozzIFK+oUERhcJWmHLYrttaAbov36XbLCrkZ7Pi/DflB83ACsEga6RCPlg4q02f98nwNLq3PVfXv7p3xU3rz/mAFV8fISV7/LhnlElTTvg126qXwuB4vUGmh3a9pq+YYLfZEV5Ai7WFZ3w6SJDOgV8Tu/SRPvQr0y2OsQZ+xAfCYInm2eDyK7WRxA4Gd00bWtC00sgWHErbKG1Lx7fLjUxbVh5AhbUqdDQkoQwZMFLChAEB8DWrCYRSnzMbZUEvit7jZsNunivnIyHRUvbdCAEPgtXQ7T28bejg7wyTq54ct0LSfWOpvF8ZILQJ++j6NoL1rN5aexA68s2m5wgCFYmf0FSEKE9ZYHYYRI6B1MJAscWOxMsTbS4VYZAWYUWWvmQ4UvIoG13CAS7ZUzb15AT4IkN8kxkimJWnGjaTtmZYpNNDIEU83ZNaAO2ZkY+DQFlaWVCde90Hgl5KGfljXmqbADeCMF7lroBJCdInwaaD+9XsLBzaWIpT4AhGNk8meA8hZGyASEPMqeROZQg2IWm8MRt9HzlIJjbFjbGqHZsmxsGATltkKQjXyMQsJ7K5DuVwNguXfjQUCxtsY9RZCVKsjYPbOPMng2NwrwcggPsS6h4A2jbPOGiRn8rBFhPrg8OymaQ31ikAEGQhSKdug0BNMIWj9XgsSsJgtQ280V5CLYIAqULUPMQrUBAsFmuXBhtuBG1BKx7oRBMYfEAFUNLMJQgGEAI9ij+YGKrmypLAAkU1eAl/M0QpMxXx/oeQPMOY4PcSwLqIBjaCAKda9pbw/hAQAB7B/GOnHEFBHsw9pQEIGeMQhD0fBC5q0OilEKQwOKBu0qDAEEALQFfoqLC7mAf+b05k+280hJs7cF2y+ulfzMEMHSXE7UT2IlCbeXSxHXdQS800cpDYfMHue4gDsV60KmFDEwJBNCbj9Fyx4RDsAU+3c62FAIcEuIrQxDA+JSfA/kEMKLJb7pSYQmWIJ+h/oshgFZRTu/1zG6guDYf1Un2U+gY5iHAHS0RaBVcJRDRAtQ6fPQFBEkoFeEB5hIIIABZsMDnIBDgwJSIWgLBlA89OjqEIAFsz00U1sArywTDgUeihTIIYk1KkXvBXw3BTgul536B0i9DUxWvnlooRQhSwHcl35sovsNxIa0QWrkQcRy6rGjho31lyiDYqObBwq/YIBDsLKaeBGjHEEDt0Tan2BtxQ/qmLBhyIgh6Joe0N5g48HpLIaDZAnyaLIr/agjgPbR5SLVEDzKMvEK6ANlbwxtV7A6chU3DeGgIUK4t9tko0A4bBQmC2GRxVwrwxkPH0YGCNrfSNAwLgWCvA67VcgiIE+CMUHSgbCLNX26SZOoCnDH0NLbWfWqhC6uwBMqKp0NWpu0cQ/BkS8Pc11bd5aQUAk/1w27sQEm2KlH3wbbxWvVk4ZveEQQwwjbxNlSJ6+Mu33ky9SV+31FkI5sgp417wD+QohCrIgfB0CQQxIDulUcgSLJw5KHr6fpquDyCIFmjl+U4zsa1IhycxqZvrxeZDpY2ThsPTXOygRXisT1wqiFIMjtaBvA0Kw3xWYRAWYX+1GF27Nqqu5yUh4jeApjAjMYqjJWGJEu0BKbZXXVtnHwPSAyH5IkMvaQaDM9Wrs08wmAEQNTrjQHA76r0QsnNcAEY4CLyXtQlkLZJWwIf/03GPrHw0ASjYmg1wGChAj3dwuPQrDPWHkDqQcXrkQWieGIC9E6GPR5vsg4kWYS0Da9nHdIBJg7BnEMAcPYryWC9QUR/trfmEJDXKcLQF/CB7mur7nJSkScIUjdbR1E22vLRg90IIaFlSMlOb83zq12ida879k1/3WW6cZaLyDbVjLwQzVuMpc0D0kVkmjotUg4D8aob5bCmb1UarokBd1ZjXDx9yqJBBq1RMlmsFC/jL1h6ekKK2ndR8SqB17HAl+Z48XCXKAwCVGEQjUdkYHnXpQnNtEtVunwi3kCwXIzh7+7iaMIb8dHUXhf/a5UNBiw3dW3VXU6qk0WBN5XeWa7gd5Mv2XvJg+R4Akeyi3M7SDjTXbxn1ZzceKozjUVRri2Hzehw2EQPXhxMPVExSArzS1Ax/2rKG4eOIvs22ExPegNWMp2KSzs6yyb5W7qD/3cZAWaoVqBbW/MNcm3VXU7+TAhSoGO7H2x9rWa7nLfJtVV3OfkzIUCBrTnIBgCML7NJVZlcW3WXkz8UAmW/WgPgj5aXeQ9mqVxbdZeTPxWC/4FcW3WXkxsEZ8u1VXc5uUFwtlxbdZeTGwRny7VVdzm5QXC2XFt1l5MbBGfLtVV3OblBcLa0/hi5QXC2fPhzpHL3g5vUy38Ad4zCnxrOIc0AAAAASUVORK5CYII=">
            <a:extLst>
              <a:ext uri="{FF2B5EF4-FFF2-40B4-BE49-F238E27FC236}">
                <a16:creationId xmlns:a16="http://schemas.microsoft.com/office/drawing/2014/main" id="{C7D3AE6F-B5BB-CB4F-AF10-8BDAA1F4CC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99" y="5871612"/>
            <a:ext cx="2685169" cy="509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108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outline of module 1</a:t>
            </a:r>
          </a:p>
        </p:txBody>
      </p:sp>
      <p:sp>
        <p:nvSpPr>
          <p:cNvPr id="3" name="Content Placeholder 2"/>
          <p:cNvSpPr>
            <a:spLocks noGrp="1"/>
          </p:cNvSpPr>
          <p:nvPr>
            <p:ph idx="1"/>
          </p:nvPr>
        </p:nvSpPr>
        <p:spPr>
          <a:xfrm>
            <a:off x="457200" y="1094874"/>
            <a:ext cx="8229600" cy="5212407"/>
          </a:xfrm>
        </p:spPr>
        <p:txBody>
          <a:bodyPr>
            <a:normAutofit lnSpcReduction="10000"/>
          </a:bodyPr>
          <a:lstStyle/>
          <a:p>
            <a:pPr>
              <a:lnSpc>
                <a:spcPct val="120000"/>
              </a:lnSpc>
            </a:pPr>
            <a:r>
              <a:rPr lang="en-US" sz="2813" dirty="0">
                <a:solidFill>
                  <a:schemeClr val="bg1">
                    <a:lumMod val="85000"/>
                  </a:schemeClr>
                </a:solidFill>
                <a:latin typeface="Whitney-Book" pitchFamily="50" charset="0"/>
                <a:cs typeface="Whitney-Book" pitchFamily="50" charset="0"/>
              </a:rPr>
              <a:t>Basic Principles of Economic Thinking</a:t>
            </a:r>
          </a:p>
          <a:p>
            <a:pPr lvl="1">
              <a:lnSpc>
                <a:spcPct val="120000"/>
              </a:lnSpc>
            </a:pPr>
            <a:r>
              <a:rPr lang="en-US" sz="2813" dirty="0">
                <a:solidFill>
                  <a:schemeClr val="bg1">
                    <a:lumMod val="85000"/>
                  </a:schemeClr>
                </a:solidFill>
                <a:latin typeface="Whitney-Book" pitchFamily="50" charset="0"/>
                <a:cs typeface="Whitney-Book" pitchFamily="50" charset="0"/>
              </a:rPr>
              <a:t>Economic costs include opportunity costs</a:t>
            </a:r>
          </a:p>
          <a:p>
            <a:pPr lvl="1">
              <a:lnSpc>
                <a:spcPct val="120000"/>
              </a:lnSpc>
            </a:pPr>
            <a:r>
              <a:rPr lang="en-US" sz="2813" dirty="0">
                <a:solidFill>
                  <a:schemeClr val="bg1">
                    <a:lumMod val="85000"/>
                  </a:schemeClr>
                </a:solidFill>
                <a:latin typeface="Whitney-Book" pitchFamily="50" charset="0"/>
                <a:cs typeface="Whitney-Book" pitchFamily="50" charset="0"/>
              </a:rPr>
              <a:t>Ignore sunk costs</a:t>
            </a:r>
          </a:p>
          <a:p>
            <a:pPr lvl="1">
              <a:lnSpc>
                <a:spcPct val="120000"/>
              </a:lnSpc>
            </a:pPr>
            <a:r>
              <a:rPr lang="en-US" sz="2813" dirty="0">
                <a:solidFill>
                  <a:schemeClr val="bg1">
                    <a:lumMod val="85000"/>
                  </a:schemeClr>
                </a:solidFill>
                <a:latin typeface="Whitney-Book" pitchFamily="50" charset="0"/>
                <a:cs typeface="Whitney-Book" pitchFamily="50" charset="0"/>
              </a:rPr>
              <a:t>Use cost-benefit and marginal analysis</a:t>
            </a:r>
          </a:p>
          <a:p>
            <a:pPr marL="457200" lvl="1" indent="0">
              <a:lnSpc>
                <a:spcPct val="120000"/>
              </a:lnSpc>
              <a:buNone/>
            </a:pPr>
            <a:endParaRPr lang="en-US" sz="2813" dirty="0">
              <a:latin typeface="Whitney-Book" pitchFamily="50" charset="0"/>
              <a:cs typeface="Whitney-Book" pitchFamily="50" charset="0"/>
            </a:endParaRPr>
          </a:p>
          <a:p>
            <a:pPr>
              <a:lnSpc>
                <a:spcPct val="120000"/>
              </a:lnSpc>
            </a:pPr>
            <a:r>
              <a:rPr lang="en-US" sz="2813" dirty="0">
                <a:solidFill>
                  <a:schemeClr val="bg1">
                    <a:lumMod val="85000"/>
                  </a:schemeClr>
                </a:solidFill>
                <a:latin typeface="Whitney-Book" pitchFamily="50" charset="0"/>
                <a:cs typeface="Whitney-Book" pitchFamily="50" charset="0"/>
              </a:rPr>
              <a:t>Economics Fundamentals</a:t>
            </a:r>
          </a:p>
          <a:p>
            <a:pPr lvl="1">
              <a:lnSpc>
                <a:spcPct val="120000"/>
              </a:lnSpc>
            </a:pPr>
            <a:r>
              <a:rPr lang="en-US" sz="2800" dirty="0">
                <a:solidFill>
                  <a:schemeClr val="bg1">
                    <a:lumMod val="85000"/>
                  </a:schemeClr>
                </a:solidFill>
                <a:latin typeface="Whitney-Book" pitchFamily="50" charset="0"/>
                <a:cs typeface="Whitney-Book" pitchFamily="50" charset="0"/>
              </a:rPr>
              <a:t>Markets</a:t>
            </a:r>
          </a:p>
          <a:p>
            <a:pPr lvl="1">
              <a:lnSpc>
                <a:spcPct val="120000"/>
              </a:lnSpc>
            </a:pPr>
            <a:r>
              <a:rPr lang="en-US" sz="2800" b="1" dirty="0">
                <a:solidFill>
                  <a:schemeClr val="tx2"/>
                </a:solidFill>
                <a:latin typeface="Whitney-Book" pitchFamily="50" charset="0"/>
                <a:cs typeface="Whitney-Book" pitchFamily="50" charset="0"/>
              </a:rPr>
              <a:t>Demand and Supply</a:t>
            </a:r>
          </a:p>
          <a:p>
            <a:pPr lvl="1">
              <a:lnSpc>
                <a:spcPct val="120000"/>
              </a:lnSpc>
            </a:pPr>
            <a:r>
              <a:rPr lang="en-US" sz="2800" dirty="0">
                <a:solidFill>
                  <a:schemeClr val="bg1">
                    <a:lumMod val="85000"/>
                  </a:schemeClr>
                </a:solidFill>
                <a:latin typeface="Whitney-Book" pitchFamily="50" charset="0"/>
                <a:cs typeface="Whitney-Book" pitchFamily="50" charset="0"/>
              </a:rPr>
              <a:t>Equilibrium</a:t>
            </a:r>
          </a:p>
          <a:p>
            <a:pPr lvl="1"/>
            <a:endParaRPr lang="en-US" dirty="0"/>
          </a:p>
          <a:p>
            <a:pPr marL="457200" lvl="1" indent="0">
              <a:buNone/>
            </a:pPr>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DEEC052F-BEE8-8847-B4CE-D5AA3DA7477A}"/>
              </a:ext>
            </a:extLst>
          </p:cNvPr>
          <p:cNvSpPr>
            <a:spLocks noGrp="1"/>
          </p:cNvSpPr>
          <p:nvPr>
            <p:ph type="sldNum" sz="quarter" idx="12"/>
          </p:nvPr>
        </p:nvSpPr>
        <p:spPr/>
        <p:txBody>
          <a:bodyPr/>
          <a:lstStyle/>
          <a:p>
            <a:fld id="{0F3206DB-9488-D04D-BDD1-A7C9D84C4579}" type="slidenum">
              <a:rPr lang="en-US" smtClean="0"/>
              <a:t>2</a:t>
            </a:fld>
            <a:endParaRPr lang="en-US"/>
          </a:p>
        </p:txBody>
      </p:sp>
    </p:spTree>
    <p:extLst>
      <p:ext uri="{BB962C8B-B14F-4D97-AF65-F5344CB8AC3E}">
        <p14:creationId xmlns:p14="http://schemas.microsoft.com/office/powerpoint/2010/main" val="2225120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Demand-Supply Analysis</a:t>
            </a:r>
          </a:p>
        </p:txBody>
      </p:sp>
      <p:sp>
        <p:nvSpPr>
          <p:cNvPr id="3" name="Content Placeholder 2"/>
          <p:cNvSpPr>
            <a:spLocks noGrp="1"/>
          </p:cNvSpPr>
          <p:nvPr>
            <p:ph idx="1"/>
          </p:nvPr>
        </p:nvSpPr>
        <p:spPr>
          <a:xfrm>
            <a:off x="457200" y="1524000"/>
            <a:ext cx="8229600" cy="4783281"/>
          </a:xfrm>
        </p:spPr>
        <p:txBody>
          <a:bodyPr>
            <a:normAutofit/>
          </a:bodyPr>
          <a:lstStyle/>
          <a:p>
            <a:pPr>
              <a:lnSpc>
                <a:spcPct val="120000"/>
              </a:lnSpc>
            </a:pPr>
            <a:r>
              <a:rPr lang="en-US" dirty="0">
                <a:solidFill>
                  <a:schemeClr val="tx2"/>
                </a:solidFill>
                <a:latin typeface="Whitney-Book" pitchFamily="50" charset="0"/>
                <a:cs typeface="Whitney-Book" pitchFamily="50" charset="0"/>
              </a:rPr>
              <a:t>How do supply and demand determine market prices and the quantity produced/consumed?</a:t>
            </a:r>
          </a:p>
          <a:p>
            <a:pPr>
              <a:lnSpc>
                <a:spcPct val="120000"/>
              </a:lnSpc>
            </a:pPr>
            <a:endParaRPr lang="en-US" dirty="0">
              <a:solidFill>
                <a:schemeClr val="tx2"/>
              </a:solidFill>
              <a:latin typeface="Whitney-Book" pitchFamily="50" charset="0"/>
              <a:cs typeface="Whitney-Book" pitchFamily="50" charset="0"/>
            </a:endParaRPr>
          </a:p>
          <a:p>
            <a:pPr>
              <a:lnSpc>
                <a:spcPct val="120000"/>
              </a:lnSpc>
            </a:pPr>
            <a:r>
              <a:rPr lang="en-US" dirty="0">
                <a:solidFill>
                  <a:schemeClr val="tx2"/>
                </a:solidFill>
                <a:latin typeface="Whitney-Book" pitchFamily="50" charset="0"/>
                <a:cs typeface="Whitney-Book" pitchFamily="50" charset="0"/>
              </a:rPr>
              <a:t>Wide variety of applications</a:t>
            </a:r>
          </a:p>
          <a:p>
            <a:pPr>
              <a:lnSpc>
                <a:spcPct val="120000"/>
              </a:lnSpc>
            </a:pPr>
            <a:endParaRPr lang="en-US" dirty="0">
              <a:solidFill>
                <a:schemeClr val="tx2"/>
              </a:solidFill>
              <a:latin typeface="Whitney-Book" pitchFamily="50" charset="0"/>
              <a:cs typeface="Whitney-Book" pitchFamily="50" charset="0"/>
            </a:endParaRPr>
          </a:p>
          <a:p>
            <a:pPr>
              <a:lnSpc>
                <a:spcPct val="120000"/>
              </a:lnSpc>
            </a:pPr>
            <a:r>
              <a:rPr lang="en-US" dirty="0">
                <a:solidFill>
                  <a:schemeClr val="tx2"/>
                </a:solidFill>
                <a:latin typeface="Whitney-Book" pitchFamily="50" charset="0"/>
                <a:cs typeface="Whitney-Book" pitchFamily="50" charset="0"/>
              </a:rPr>
              <a:t>Example: </a:t>
            </a:r>
          </a:p>
          <a:p>
            <a:pPr lvl="1">
              <a:lnSpc>
                <a:spcPct val="120000"/>
              </a:lnSpc>
            </a:pPr>
            <a:r>
              <a:rPr lang="en-US" sz="2400" dirty="0">
                <a:solidFill>
                  <a:schemeClr val="tx2"/>
                </a:solidFill>
                <a:latin typeface="Whitney-Book" pitchFamily="50" charset="0"/>
                <a:cs typeface="Whitney-Book" pitchFamily="50" charset="0"/>
              </a:rPr>
              <a:t>How does growth in China affect the price of oil? The price of textiles? The price of (electric) cars?</a:t>
            </a:r>
          </a:p>
          <a:p>
            <a:pPr marL="457200" lvl="1" indent="0">
              <a:buNone/>
            </a:pPr>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DEEC052F-BEE8-8847-B4CE-D5AA3DA7477A}"/>
              </a:ext>
            </a:extLst>
          </p:cNvPr>
          <p:cNvSpPr>
            <a:spLocks noGrp="1"/>
          </p:cNvSpPr>
          <p:nvPr>
            <p:ph type="sldNum" sz="quarter" idx="12"/>
          </p:nvPr>
        </p:nvSpPr>
        <p:spPr/>
        <p:txBody>
          <a:bodyPr/>
          <a:lstStyle/>
          <a:p>
            <a:fld id="{0F3206DB-9488-D04D-BDD1-A7C9D84C4579}" type="slidenum">
              <a:rPr lang="en-US" smtClean="0"/>
              <a:t>3</a:t>
            </a:fld>
            <a:endParaRPr lang="en-US"/>
          </a:p>
        </p:txBody>
      </p:sp>
    </p:spTree>
    <p:extLst>
      <p:ext uri="{BB962C8B-B14F-4D97-AF65-F5344CB8AC3E}">
        <p14:creationId xmlns:p14="http://schemas.microsoft.com/office/powerpoint/2010/main" val="3417595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807"/>
            <a:ext cx="8229600" cy="1143000"/>
          </a:xfrm>
        </p:spPr>
        <p:txBody>
          <a:bodyPr/>
          <a:lstStyle/>
          <a:p>
            <a:r>
              <a:rPr lang="en-US" noProof="0" dirty="0"/>
              <a:t>The market demand curve</a:t>
            </a:r>
          </a:p>
        </p:txBody>
      </p:sp>
      <p:sp>
        <p:nvSpPr>
          <p:cNvPr id="5" name="Content Placeholder 4"/>
          <p:cNvSpPr>
            <a:spLocks noGrp="1"/>
          </p:cNvSpPr>
          <p:nvPr>
            <p:ph idx="1"/>
          </p:nvPr>
        </p:nvSpPr>
        <p:spPr>
          <a:xfrm>
            <a:off x="369995" y="905019"/>
            <a:ext cx="8573618" cy="1057779"/>
          </a:xfrm>
        </p:spPr>
        <p:txBody>
          <a:bodyPr>
            <a:normAutofit fontScale="85000" lnSpcReduction="20000"/>
          </a:bodyPr>
          <a:lstStyle/>
          <a:p>
            <a:pPr marL="0" indent="0">
              <a:buNone/>
            </a:pPr>
            <a:r>
              <a:rPr lang="en-US" b="1" noProof="0" dirty="0"/>
              <a:t>Definition</a:t>
            </a:r>
            <a:r>
              <a:rPr lang="en-US" noProof="0" dirty="0"/>
              <a:t>: the relationship between the quantity of a good that consumers are willing to buy and the price of the good, </a:t>
            </a:r>
            <a:r>
              <a:rPr lang="en-US" i="1" u="sng" noProof="0" dirty="0"/>
              <a:t>holding everything else constant</a:t>
            </a:r>
          </a:p>
        </p:txBody>
      </p:sp>
      <p:sp>
        <p:nvSpPr>
          <p:cNvPr id="2" name="Slide Number Placeholder 1">
            <a:extLst>
              <a:ext uri="{FF2B5EF4-FFF2-40B4-BE49-F238E27FC236}">
                <a16:creationId xmlns:a16="http://schemas.microsoft.com/office/drawing/2014/main" id="{5F279A30-CC1C-E341-A94F-0EAC01755A98}"/>
              </a:ext>
            </a:extLst>
          </p:cNvPr>
          <p:cNvSpPr>
            <a:spLocks noGrp="1"/>
          </p:cNvSpPr>
          <p:nvPr>
            <p:ph type="sldNum" sz="quarter" idx="12"/>
          </p:nvPr>
        </p:nvSpPr>
        <p:spPr/>
        <p:txBody>
          <a:bodyPr/>
          <a:lstStyle/>
          <a:p>
            <a:fld id="{0F3206DB-9488-D04D-BDD1-A7C9D84C4579}" type="slidenum">
              <a:rPr lang="en-US" smtClean="0"/>
              <a:pPr/>
              <a:t>4</a:t>
            </a:fld>
            <a:endParaRPr lang="en-US" dirty="0"/>
          </a:p>
        </p:txBody>
      </p:sp>
    </p:spTree>
    <p:extLst>
      <p:ext uri="{BB962C8B-B14F-4D97-AF65-F5344CB8AC3E}">
        <p14:creationId xmlns:p14="http://schemas.microsoft.com/office/powerpoint/2010/main" val="2802611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a:xfrm>
            <a:off x="212035" y="7947"/>
            <a:ext cx="8653669" cy="1143000"/>
          </a:xfrm>
        </p:spPr>
        <p:txBody>
          <a:bodyPr anchor="ctr">
            <a:normAutofit/>
          </a:bodyPr>
          <a:lstStyle/>
          <a:p>
            <a:r>
              <a:rPr lang="en-US" noProof="0" dirty="0"/>
              <a:t>“holding Everything else constant”</a:t>
            </a:r>
            <a:br>
              <a:rPr lang="en-US" noProof="0" dirty="0"/>
            </a:br>
            <a:r>
              <a:rPr lang="en-US" sz="2000" dirty="0"/>
              <a:t>in econ parlance: “ceteris paribus” (</a:t>
            </a:r>
            <a:r>
              <a:rPr lang="en-US" sz="2000" dirty="0" err="1"/>
              <a:t>c.p.</a:t>
            </a:r>
            <a:r>
              <a:rPr lang="en-US" sz="2000" dirty="0"/>
              <a:t>)</a:t>
            </a:r>
            <a:r>
              <a:rPr lang="en-US" sz="2000" noProof="0" dirty="0"/>
              <a:t> </a:t>
            </a:r>
            <a:endParaRPr lang="en-US" noProof="0" dirty="0"/>
          </a:p>
        </p:txBody>
      </p:sp>
      <p:sp>
        <p:nvSpPr>
          <p:cNvPr id="16" name="Content Placeholder 3">
            <a:extLst>
              <a:ext uri="{FF2B5EF4-FFF2-40B4-BE49-F238E27FC236}">
                <a16:creationId xmlns:a16="http://schemas.microsoft.com/office/drawing/2014/main" id="{BA695B96-0B23-496C-8364-8A24B25CEAF4}"/>
              </a:ext>
            </a:extLst>
          </p:cNvPr>
          <p:cNvSpPr>
            <a:spLocks noGrp="1"/>
          </p:cNvSpPr>
          <p:nvPr>
            <p:ph sz="half" idx="2"/>
          </p:nvPr>
        </p:nvSpPr>
        <p:spPr>
          <a:xfrm>
            <a:off x="212035" y="1402593"/>
            <a:ext cx="4285353" cy="5314940"/>
          </a:xfrm>
        </p:spPr>
        <p:txBody>
          <a:bodyPr>
            <a:normAutofit/>
          </a:bodyPr>
          <a:lstStyle/>
          <a:p>
            <a:r>
              <a:rPr lang="en-US" dirty="0">
                <a:solidFill>
                  <a:srgbClr val="C00000"/>
                </a:solidFill>
              </a:rPr>
              <a:t>Want to know:</a:t>
            </a:r>
            <a:r>
              <a:rPr lang="en-US" dirty="0"/>
              <a:t> how the quantity demanded of an ice cream cone changes with a price increase</a:t>
            </a:r>
          </a:p>
          <a:p>
            <a:r>
              <a:rPr lang="en-US" dirty="0">
                <a:solidFill>
                  <a:srgbClr val="C00000"/>
                </a:solidFill>
              </a:rPr>
              <a:t>Assume: </a:t>
            </a:r>
            <a:r>
              <a:rPr lang="en-US" dirty="0">
                <a:solidFill>
                  <a:schemeClr val="tx2"/>
                </a:solidFill>
              </a:rPr>
              <a:t>Everything else that affects the quantity demanded remains constant</a:t>
            </a:r>
          </a:p>
          <a:p>
            <a:r>
              <a:rPr lang="en-US" dirty="0">
                <a:solidFill>
                  <a:srgbClr val="C00000"/>
                </a:solidFill>
              </a:rPr>
              <a:t>What is held constant?</a:t>
            </a:r>
          </a:p>
          <a:p>
            <a:pPr lvl="1">
              <a:spcBef>
                <a:spcPts val="0"/>
              </a:spcBef>
            </a:pPr>
            <a:r>
              <a:rPr lang="en-US" dirty="0"/>
              <a:t>Consumer income</a:t>
            </a:r>
          </a:p>
          <a:p>
            <a:pPr lvl="1">
              <a:spcBef>
                <a:spcPts val="0"/>
              </a:spcBef>
            </a:pPr>
            <a:r>
              <a:rPr lang="en-US" dirty="0"/>
              <a:t>Outside temperature</a:t>
            </a:r>
          </a:p>
          <a:p>
            <a:pPr lvl="1">
              <a:spcBef>
                <a:spcPts val="0"/>
              </a:spcBef>
            </a:pPr>
            <a:r>
              <a:rPr lang="en-US" dirty="0"/>
              <a:t>Prices of related goods</a:t>
            </a:r>
          </a:p>
          <a:p>
            <a:pPr lvl="1">
              <a:spcBef>
                <a:spcPts val="0"/>
              </a:spcBef>
            </a:pPr>
            <a:r>
              <a:rPr lang="en-US" dirty="0"/>
              <a:t>Size, shape, quality of the ice cream cone</a:t>
            </a:r>
          </a:p>
          <a:p>
            <a:pPr lvl="1">
              <a:spcBef>
                <a:spcPts val="0"/>
              </a:spcBef>
            </a:pPr>
            <a:r>
              <a:rPr lang="en-US" u="sng" dirty="0"/>
              <a:t>…everything</a:t>
            </a:r>
            <a:r>
              <a:rPr lang="en-US" dirty="0"/>
              <a:t> other than price </a:t>
            </a:r>
          </a:p>
          <a:p>
            <a:endParaRPr lang="en-US" dirty="0"/>
          </a:p>
          <a:p>
            <a:endParaRPr lang="en-US" dirty="0"/>
          </a:p>
        </p:txBody>
      </p:sp>
      <p:sp>
        <p:nvSpPr>
          <p:cNvPr id="18" name="Text Placeholder 4">
            <a:extLst>
              <a:ext uri="{FF2B5EF4-FFF2-40B4-BE49-F238E27FC236}">
                <a16:creationId xmlns:a16="http://schemas.microsoft.com/office/drawing/2014/main" id="{1CD365B6-86FC-40A1-BFA0-15437D996937}"/>
              </a:ext>
            </a:extLst>
          </p:cNvPr>
          <p:cNvSpPr>
            <a:spLocks noGrp="1"/>
          </p:cNvSpPr>
          <p:nvPr>
            <p:ph type="body" sz="quarter" idx="3"/>
          </p:nvPr>
        </p:nvSpPr>
        <p:spPr>
          <a:xfrm>
            <a:off x="4645027" y="1535113"/>
            <a:ext cx="4041775" cy="639763"/>
          </a:xfrm>
        </p:spPr>
        <p:txBody>
          <a:bodyPr>
            <a:normAutofit fontScale="92500" lnSpcReduction="20000"/>
          </a:bodyPr>
          <a:lstStyle/>
          <a:p>
            <a:pPr algn="ctr"/>
            <a:r>
              <a:rPr lang="en-US" b="0" dirty="0"/>
              <a:t>Things are not held constant between these two cones</a:t>
            </a:r>
          </a:p>
        </p:txBody>
      </p:sp>
      <p:pic>
        <p:nvPicPr>
          <p:cNvPr id="9" name="Content Placeholder 8" descr="A picture containing food, dessert, different, basket&#10;&#10;Description automatically generated">
            <a:extLst>
              <a:ext uri="{FF2B5EF4-FFF2-40B4-BE49-F238E27FC236}">
                <a16:creationId xmlns:a16="http://schemas.microsoft.com/office/drawing/2014/main" id="{F88E9279-F9D6-D743-9A68-FC61F93D7108}"/>
              </a:ext>
            </a:extLst>
          </p:cNvPr>
          <p:cNvPicPr>
            <a:picLocks noGrp="1" noChangeAspect="1"/>
          </p:cNvPicPr>
          <p:nvPr>
            <p:ph sz="quarter" idx="4"/>
          </p:nvPr>
        </p:nvPicPr>
        <p:blipFill>
          <a:blip r:embed="rId3"/>
          <a:stretch>
            <a:fillRect/>
          </a:stretch>
        </p:blipFill>
        <p:spPr>
          <a:xfrm>
            <a:off x="4645027" y="2407504"/>
            <a:ext cx="4041775" cy="3486030"/>
          </a:xfrm>
          <a:noFill/>
        </p:spPr>
      </p:pic>
      <p:sp>
        <p:nvSpPr>
          <p:cNvPr id="2" name="Slide Number Placeholder 1" hidden="1">
            <a:extLst>
              <a:ext uri="{FF2B5EF4-FFF2-40B4-BE49-F238E27FC236}">
                <a16:creationId xmlns:a16="http://schemas.microsoft.com/office/drawing/2014/main" id="{5F279A30-CC1C-E341-A94F-0EAC01755A98}"/>
              </a:ext>
            </a:extLst>
          </p:cNvPr>
          <p:cNvSpPr>
            <a:spLocks noGrp="1"/>
          </p:cNvSpPr>
          <p:nvPr>
            <p:ph type="sldNum" sz="quarter" idx="12"/>
          </p:nvPr>
        </p:nvSpPr>
        <p:spPr/>
        <p:txBody>
          <a:bodyPr/>
          <a:lstStyle/>
          <a:p>
            <a:pPr>
              <a:spcAft>
                <a:spcPts val="600"/>
              </a:spcAft>
            </a:pPr>
            <a:fld id="{0F3206DB-9488-D04D-BDD1-A7C9D84C4579}" type="slidenum">
              <a:rPr lang="en-US" smtClean="0"/>
              <a:pPr>
                <a:spcAft>
                  <a:spcPts val="600"/>
                </a:spcAft>
              </a:pPr>
              <a:t>5</a:t>
            </a:fld>
            <a:endParaRPr lang="en-US"/>
          </a:p>
        </p:txBody>
      </p:sp>
    </p:spTree>
    <p:extLst>
      <p:ext uri="{BB962C8B-B14F-4D97-AF65-F5344CB8AC3E}">
        <p14:creationId xmlns:p14="http://schemas.microsoft.com/office/powerpoint/2010/main" val="1496210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807"/>
            <a:ext cx="8229600" cy="1143000"/>
          </a:xfrm>
        </p:spPr>
        <p:txBody>
          <a:bodyPr/>
          <a:lstStyle/>
          <a:p>
            <a:r>
              <a:rPr lang="en-US" noProof="0" dirty="0"/>
              <a:t>The market demand curve</a:t>
            </a:r>
          </a:p>
        </p:txBody>
      </p:sp>
      <p:sp>
        <p:nvSpPr>
          <p:cNvPr id="5" name="Content Placeholder 4"/>
          <p:cNvSpPr>
            <a:spLocks noGrp="1"/>
          </p:cNvSpPr>
          <p:nvPr>
            <p:ph idx="1"/>
          </p:nvPr>
        </p:nvSpPr>
        <p:spPr>
          <a:xfrm>
            <a:off x="457200" y="981930"/>
            <a:ext cx="8573618" cy="1057779"/>
          </a:xfrm>
        </p:spPr>
        <p:txBody>
          <a:bodyPr>
            <a:normAutofit fontScale="85000" lnSpcReduction="20000"/>
          </a:bodyPr>
          <a:lstStyle/>
          <a:p>
            <a:pPr marL="0" indent="0">
              <a:buNone/>
            </a:pPr>
            <a:r>
              <a:rPr lang="en-US" b="1" noProof="0" dirty="0"/>
              <a:t>Definition</a:t>
            </a:r>
            <a:r>
              <a:rPr lang="en-US" noProof="0" dirty="0"/>
              <a:t>: the relationship between the quantity of a good that consumers are willing to buy and the price of the good, </a:t>
            </a:r>
            <a:r>
              <a:rPr lang="en-US" i="1" noProof="0" dirty="0"/>
              <a:t>holding everything else constant</a:t>
            </a:r>
          </a:p>
        </p:txBody>
      </p:sp>
      <p:sp>
        <p:nvSpPr>
          <p:cNvPr id="7" name="Content Placeholder 4"/>
          <p:cNvSpPr txBox="1">
            <a:spLocks/>
          </p:cNvSpPr>
          <p:nvPr/>
        </p:nvSpPr>
        <p:spPr>
          <a:xfrm>
            <a:off x="457201" y="2893589"/>
            <a:ext cx="3024908" cy="268770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400" dirty="0"/>
              <a:t>The demand curve is</a:t>
            </a:r>
            <a:r>
              <a:rPr lang="en-US" sz="2400" i="1" dirty="0">
                <a:solidFill>
                  <a:srgbClr val="C00000"/>
                </a:solidFill>
              </a:rPr>
              <a:t> downward sloping:</a:t>
            </a:r>
            <a:r>
              <a:rPr lang="en-US" sz="2400" dirty="0"/>
              <a:t> consumers want to purchase more of a good as its price goes down, </a:t>
            </a:r>
            <a:r>
              <a:rPr lang="en-US" sz="2400" i="1" dirty="0"/>
              <a:t>all else constant</a:t>
            </a:r>
            <a:endParaRPr lang="en-US" sz="2400" dirty="0"/>
          </a:p>
          <a:p>
            <a:pPr marL="0" indent="0">
              <a:buNone/>
            </a:pPr>
            <a:endParaRPr lang="en-US" sz="2400" dirty="0"/>
          </a:p>
        </p:txBody>
      </p:sp>
      <p:sp>
        <p:nvSpPr>
          <p:cNvPr id="167" name="Line 4"/>
          <p:cNvSpPr>
            <a:spLocks noChangeShapeType="1"/>
          </p:cNvSpPr>
          <p:nvPr/>
        </p:nvSpPr>
        <p:spPr bwMode="auto">
          <a:xfrm>
            <a:off x="4054079" y="3262321"/>
            <a:ext cx="2499121" cy="3043229"/>
          </a:xfrm>
          <a:prstGeom prst="line">
            <a:avLst/>
          </a:prstGeom>
          <a:noFill/>
          <a:ln w="50800">
            <a:solidFill>
              <a:srgbClr val="FFC000"/>
            </a:solidFill>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168" name="Rectangle 5"/>
          <p:cNvSpPr>
            <a:spLocks noChangeArrowheads="1"/>
          </p:cNvSpPr>
          <p:nvPr/>
        </p:nvSpPr>
        <p:spPr bwMode="auto">
          <a:xfrm>
            <a:off x="6449177" y="5908041"/>
            <a:ext cx="774943" cy="628545"/>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0"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D</a:t>
            </a:r>
          </a:p>
        </p:txBody>
      </p:sp>
      <p:sp>
        <p:nvSpPr>
          <p:cNvPr id="169" name="Line 20"/>
          <p:cNvSpPr>
            <a:spLocks noChangeShapeType="1"/>
          </p:cNvSpPr>
          <p:nvPr/>
        </p:nvSpPr>
        <p:spPr bwMode="auto">
          <a:xfrm>
            <a:off x="4037500" y="2252704"/>
            <a:ext cx="0" cy="4092233"/>
          </a:xfrm>
          <a:prstGeom prst="line">
            <a:avLst/>
          </a:prstGeom>
          <a:noFill/>
          <a:ln w="38100">
            <a:solidFill>
              <a:srgbClr val="002B49"/>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170" name="Line 21"/>
          <p:cNvSpPr>
            <a:spLocks noChangeShapeType="1"/>
          </p:cNvSpPr>
          <p:nvPr/>
        </p:nvSpPr>
        <p:spPr bwMode="auto">
          <a:xfrm>
            <a:off x="4050861" y="6324877"/>
            <a:ext cx="4796633" cy="0"/>
          </a:xfrm>
          <a:prstGeom prst="line">
            <a:avLst/>
          </a:prstGeom>
          <a:noFill/>
          <a:ln w="38100">
            <a:solidFill>
              <a:srgbClr val="002B49"/>
            </a:solidFill>
            <a:round/>
            <a:headEnd type="none" w="med" len="med"/>
            <a:tailEnd type="arrow"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171" name="Rectangle 22"/>
          <p:cNvSpPr>
            <a:spLocks noChangeArrowheads="1"/>
          </p:cNvSpPr>
          <p:nvPr/>
        </p:nvSpPr>
        <p:spPr bwMode="auto">
          <a:xfrm>
            <a:off x="3746708" y="1874420"/>
            <a:ext cx="721499" cy="628546"/>
          </a:xfrm>
          <a:prstGeom prst="rect">
            <a:avLst/>
          </a:prstGeom>
          <a:noFill/>
          <a:ln w="9525">
            <a:noFill/>
            <a:miter lim="800000"/>
            <a:headEnd/>
            <a:tailEnd/>
          </a:ln>
          <a:effectLst/>
        </p:spPr>
        <p:txBody>
          <a:bodyPr wrap="none" lIns="20048" tIns="28402" rIns="20048" bIns="28402"/>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0"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Price ($)</a:t>
            </a:r>
          </a:p>
        </p:txBody>
      </p:sp>
      <p:sp>
        <p:nvSpPr>
          <p:cNvPr id="172" name="Rectangle 35"/>
          <p:cNvSpPr>
            <a:spLocks noChangeArrowheads="1"/>
          </p:cNvSpPr>
          <p:nvPr/>
        </p:nvSpPr>
        <p:spPr bwMode="auto">
          <a:xfrm>
            <a:off x="7589958" y="6324877"/>
            <a:ext cx="1440860" cy="467178"/>
          </a:xfrm>
          <a:prstGeom prst="rect">
            <a:avLst/>
          </a:prstGeom>
          <a:noFill/>
          <a:ln w="9525">
            <a:noFill/>
            <a:miter lim="800000"/>
            <a:headEnd/>
            <a:tailEnd/>
          </a:ln>
          <a:effectLst/>
        </p:spPr>
        <p:txBody>
          <a:bodyPr wrap="square" lIns="96900" tIns="48450" rIns="96900" bIns="4845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Quantity</a:t>
            </a:r>
          </a:p>
        </p:txBody>
      </p:sp>
      <p:sp>
        <p:nvSpPr>
          <p:cNvPr id="2" name="Slide Number Placeholder 1">
            <a:extLst>
              <a:ext uri="{FF2B5EF4-FFF2-40B4-BE49-F238E27FC236}">
                <a16:creationId xmlns:a16="http://schemas.microsoft.com/office/drawing/2014/main" id="{5F279A30-CC1C-E341-A94F-0EAC01755A98}"/>
              </a:ext>
            </a:extLst>
          </p:cNvPr>
          <p:cNvSpPr>
            <a:spLocks noGrp="1"/>
          </p:cNvSpPr>
          <p:nvPr>
            <p:ph type="sldNum" sz="quarter" idx="12"/>
          </p:nvPr>
        </p:nvSpPr>
        <p:spPr/>
        <p:txBody>
          <a:bodyPr/>
          <a:lstStyle/>
          <a:p>
            <a:fld id="{0F3206DB-9488-D04D-BDD1-A7C9D84C4579}" type="slidenum">
              <a:rPr lang="en-US" smtClean="0"/>
              <a:pPr/>
              <a:t>6</a:t>
            </a:fld>
            <a:endParaRPr lang="en-US" dirty="0"/>
          </a:p>
        </p:txBody>
      </p:sp>
    </p:spTree>
    <p:extLst>
      <p:ext uri="{BB962C8B-B14F-4D97-AF65-F5344CB8AC3E}">
        <p14:creationId xmlns:p14="http://schemas.microsoft.com/office/powerpoint/2010/main" val="13030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450"/>
            <a:ext cx="8229600" cy="1143000"/>
          </a:xfrm>
        </p:spPr>
        <p:txBody>
          <a:bodyPr/>
          <a:lstStyle/>
          <a:p>
            <a:r>
              <a:rPr lang="en-US" noProof="0" dirty="0"/>
              <a:t>The market demand curve</a:t>
            </a:r>
          </a:p>
        </p:txBody>
      </p:sp>
      <p:sp>
        <p:nvSpPr>
          <p:cNvPr id="7" name="Content Placeholder 4"/>
          <p:cNvSpPr txBox="1">
            <a:spLocks/>
          </p:cNvSpPr>
          <p:nvPr/>
        </p:nvSpPr>
        <p:spPr>
          <a:xfrm>
            <a:off x="167151" y="1502476"/>
            <a:ext cx="3258949" cy="4697655"/>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400" b="1" dirty="0"/>
              <a:t>Distinguish between:</a:t>
            </a:r>
          </a:p>
          <a:p>
            <a:r>
              <a:rPr lang="en-US" sz="2400" i="1" dirty="0">
                <a:solidFill>
                  <a:srgbClr val="C00000"/>
                </a:solidFill>
              </a:rPr>
              <a:t>i) Movement along D:</a:t>
            </a:r>
            <a:r>
              <a:rPr lang="en-US" sz="2400" dirty="0"/>
              <a:t> changes in quantity demanded when price changes, </a:t>
            </a:r>
            <a:r>
              <a:rPr lang="en-US" sz="2400" i="1" dirty="0"/>
              <a:t>all else constant</a:t>
            </a:r>
            <a:endParaRPr lang="en-US" sz="2400" dirty="0"/>
          </a:p>
          <a:p>
            <a:endParaRPr lang="en-US" sz="2400" dirty="0"/>
          </a:p>
          <a:p>
            <a:r>
              <a:rPr lang="en-US" sz="2400" i="1" dirty="0">
                <a:solidFill>
                  <a:srgbClr val="00B050"/>
                </a:solidFill>
              </a:rPr>
              <a:t>ii) Shift in Demand:</a:t>
            </a:r>
            <a:r>
              <a:rPr lang="en-US" sz="2400" dirty="0"/>
              <a:t> changes in demand due to non-price factors</a:t>
            </a:r>
          </a:p>
          <a:p>
            <a:pPr lvl="1"/>
            <a:r>
              <a:rPr lang="en-US" sz="2200" dirty="0"/>
              <a:t>e.g. higher income shifts the demand curve to the right (from </a:t>
            </a:r>
            <a:r>
              <a:rPr lang="en-US" sz="2200" i="1" dirty="0"/>
              <a:t>D</a:t>
            </a:r>
            <a:r>
              <a:rPr lang="en-US" sz="2200" dirty="0"/>
              <a:t> to </a:t>
            </a:r>
            <a:r>
              <a:rPr lang="en-US" sz="2200" i="1" dirty="0"/>
              <a:t>D′</a:t>
            </a:r>
            <a:r>
              <a:rPr lang="en-US" sz="2200" dirty="0"/>
              <a:t>) </a:t>
            </a:r>
          </a:p>
          <a:p>
            <a:pPr marL="0" indent="0">
              <a:buNone/>
            </a:pPr>
            <a:endParaRPr lang="en-US" sz="2400" dirty="0"/>
          </a:p>
        </p:txBody>
      </p:sp>
      <p:grpSp>
        <p:nvGrpSpPr>
          <p:cNvPr id="166" name="Group 3"/>
          <p:cNvGrpSpPr>
            <a:grpSpLocks/>
          </p:cNvGrpSpPr>
          <p:nvPr/>
        </p:nvGrpSpPr>
        <p:grpSpPr bwMode="auto">
          <a:xfrm>
            <a:off x="4839164" y="2714084"/>
            <a:ext cx="3009586" cy="3547270"/>
            <a:chOff x="2488" y="1648"/>
            <a:chExt cx="1802" cy="2122"/>
          </a:xfrm>
        </p:grpSpPr>
        <p:sp>
          <p:nvSpPr>
            <p:cNvPr id="167" name="Line 4"/>
            <p:cNvSpPr>
              <a:spLocks noChangeShapeType="1"/>
            </p:cNvSpPr>
            <p:nvPr/>
          </p:nvSpPr>
          <p:spPr bwMode="auto">
            <a:xfrm>
              <a:off x="2488" y="1648"/>
              <a:ext cx="1488" cy="1816"/>
            </a:xfrm>
            <a:prstGeom prst="line">
              <a:avLst/>
            </a:prstGeom>
            <a:noFill/>
            <a:ln w="50800">
              <a:solidFill>
                <a:srgbClr val="FFC000"/>
              </a:solidFill>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168" name="Rectangle 5"/>
            <p:cNvSpPr>
              <a:spLocks noChangeArrowheads="1"/>
            </p:cNvSpPr>
            <p:nvPr/>
          </p:nvSpPr>
          <p:spPr bwMode="auto">
            <a:xfrm>
              <a:off x="3826" y="3394"/>
              <a:ext cx="464" cy="37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FFC000"/>
                  </a:solidFill>
                  <a:effectLst/>
                  <a:uLnTx/>
                  <a:uFillTx/>
                  <a:latin typeface="Times New Roman" pitchFamily="18" charset="0"/>
                  <a:ea typeface="+mn-ea"/>
                  <a:cs typeface="Times New Roman" pitchFamily="18" charset="0"/>
                </a:rPr>
                <a:t>D</a:t>
              </a:r>
            </a:p>
          </p:txBody>
        </p:sp>
      </p:grpSp>
      <p:sp>
        <p:nvSpPr>
          <p:cNvPr id="169" name="Line 20"/>
          <p:cNvSpPr>
            <a:spLocks noChangeShapeType="1"/>
          </p:cNvSpPr>
          <p:nvPr/>
        </p:nvSpPr>
        <p:spPr bwMode="auto">
          <a:xfrm>
            <a:off x="4037500" y="2252704"/>
            <a:ext cx="0" cy="4092233"/>
          </a:xfrm>
          <a:prstGeom prst="line">
            <a:avLst/>
          </a:prstGeom>
          <a:noFill/>
          <a:ln w="38100">
            <a:solidFill>
              <a:srgbClr val="002B49"/>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170" name="Line 21"/>
          <p:cNvSpPr>
            <a:spLocks noChangeShapeType="1"/>
          </p:cNvSpPr>
          <p:nvPr/>
        </p:nvSpPr>
        <p:spPr bwMode="auto">
          <a:xfrm>
            <a:off x="4050861" y="6324877"/>
            <a:ext cx="4796633" cy="0"/>
          </a:xfrm>
          <a:prstGeom prst="line">
            <a:avLst/>
          </a:prstGeom>
          <a:noFill/>
          <a:ln w="38100">
            <a:solidFill>
              <a:srgbClr val="002B49"/>
            </a:solidFill>
            <a:round/>
            <a:headEnd type="none" w="med" len="med"/>
            <a:tailEnd type="arrow"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171" name="Rectangle 22"/>
          <p:cNvSpPr>
            <a:spLocks noChangeArrowheads="1"/>
          </p:cNvSpPr>
          <p:nvPr/>
        </p:nvSpPr>
        <p:spPr bwMode="auto">
          <a:xfrm>
            <a:off x="3746708" y="1874420"/>
            <a:ext cx="721499" cy="628546"/>
          </a:xfrm>
          <a:prstGeom prst="rect">
            <a:avLst/>
          </a:prstGeom>
          <a:noFill/>
          <a:ln w="9525">
            <a:noFill/>
            <a:miter lim="800000"/>
            <a:headEnd/>
            <a:tailEnd/>
          </a:ln>
          <a:effectLst/>
        </p:spPr>
        <p:txBody>
          <a:bodyPr wrap="none" lIns="20048" tIns="28402" rIns="20048" bIns="28402"/>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0"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Price ($)</a:t>
            </a:r>
          </a:p>
        </p:txBody>
      </p:sp>
      <p:sp>
        <p:nvSpPr>
          <p:cNvPr id="172" name="Rectangle 35"/>
          <p:cNvSpPr>
            <a:spLocks noChangeArrowheads="1"/>
          </p:cNvSpPr>
          <p:nvPr/>
        </p:nvSpPr>
        <p:spPr bwMode="auto">
          <a:xfrm>
            <a:off x="7589958" y="6324877"/>
            <a:ext cx="1440860" cy="467178"/>
          </a:xfrm>
          <a:prstGeom prst="rect">
            <a:avLst/>
          </a:prstGeom>
          <a:noFill/>
          <a:ln w="9525">
            <a:noFill/>
            <a:miter lim="800000"/>
            <a:headEnd/>
            <a:tailEnd/>
          </a:ln>
          <a:effectLst/>
        </p:spPr>
        <p:txBody>
          <a:bodyPr wrap="square" lIns="96900" tIns="48450" rIns="96900" bIns="4845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Quantity</a:t>
            </a:r>
          </a:p>
        </p:txBody>
      </p:sp>
      <p:grpSp>
        <p:nvGrpSpPr>
          <p:cNvPr id="173" name="Group 172"/>
          <p:cNvGrpSpPr/>
          <p:nvPr/>
        </p:nvGrpSpPr>
        <p:grpSpPr>
          <a:xfrm>
            <a:off x="3458686" y="3977734"/>
            <a:ext cx="3732032" cy="628546"/>
            <a:chOff x="4038855" y="4045297"/>
            <a:chExt cx="3732032" cy="628546"/>
          </a:xfrm>
        </p:grpSpPr>
        <p:sp>
          <p:nvSpPr>
            <p:cNvPr id="174" name="Line 17"/>
            <p:cNvSpPr>
              <a:spLocks noChangeShapeType="1"/>
            </p:cNvSpPr>
            <p:nvPr/>
          </p:nvSpPr>
          <p:spPr bwMode="auto">
            <a:xfrm>
              <a:off x="4659605" y="4299517"/>
              <a:ext cx="3111282" cy="0"/>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175" name="Rectangle 18"/>
            <p:cNvSpPr>
              <a:spLocks noChangeArrowheads="1"/>
            </p:cNvSpPr>
            <p:nvPr/>
          </p:nvSpPr>
          <p:spPr bwMode="auto">
            <a:xfrm>
              <a:off x="4038855" y="4045297"/>
              <a:ext cx="668055" cy="62854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1</a:t>
              </a:r>
            </a:p>
          </p:txBody>
        </p:sp>
      </p:grpSp>
      <p:grpSp>
        <p:nvGrpSpPr>
          <p:cNvPr id="176" name="Group 175"/>
          <p:cNvGrpSpPr/>
          <p:nvPr/>
        </p:nvGrpSpPr>
        <p:grpSpPr>
          <a:xfrm>
            <a:off x="5749143" y="4241327"/>
            <a:ext cx="668055" cy="2550730"/>
            <a:chOff x="6279765" y="4806306"/>
            <a:chExt cx="668055" cy="1950555"/>
          </a:xfrm>
        </p:grpSpPr>
        <p:sp>
          <p:nvSpPr>
            <p:cNvPr id="177" name="Line 17"/>
            <p:cNvSpPr>
              <a:spLocks noChangeShapeType="1"/>
            </p:cNvSpPr>
            <p:nvPr/>
          </p:nvSpPr>
          <p:spPr bwMode="auto">
            <a:xfrm flipV="1">
              <a:off x="6613793" y="4806306"/>
              <a:ext cx="13419" cy="1586131"/>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178" name="Rectangle 18"/>
            <p:cNvSpPr>
              <a:spLocks noChangeArrowheads="1"/>
            </p:cNvSpPr>
            <p:nvPr/>
          </p:nvSpPr>
          <p:spPr bwMode="auto">
            <a:xfrm>
              <a:off x="6279765" y="6392439"/>
              <a:ext cx="668055" cy="364422"/>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1</a:t>
              </a:r>
            </a:p>
          </p:txBody>
        </p:sp>
      </p:grpSp>
      <p:grpSp>
        <p:nvGrpSpPr>
          <p:cNvPr id="179" name="Group 16"/>
          <p:cNvGrpSpPr>
            <a:grpSpLocks/>
          </p:cNvGrpSpPr>
          <p:nvPr/>
        </p:nvGrpSpPr>
        <p:grpSpPr bwMode="auto">
          <a:xfrm>
            <a:off x="3533728" y="2636699"/>
            <a:ext cx="1516119" cy="628546"/>
            <a:chOff x="1871" y="1857"/>
            <a:chExt cx="1527" cy="376"/>
          </a:xfrm>
        </p:grpSpPr>
        <p:sp>
          <p:nvSpPr>
            <p:cNvPr id="180" name="Line 17"/>
            <p:cNvSpPr>
              <a:spLocks noChangeShapeType="1"/>
            </p:cNvSpPr>
            <p:nvPr/>
          </p:nvSpPr>
          <p:spPr bwMode="auto">
            <a:xfrm flipV="1">
              <a:off x="2393" y="2040"/>
              <a:ext cx="1005" cy="0"/>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181" name="Rectangle 18"/>
            <p:cNvSpPr>
              <a:spLocks noChangeArrowheads="1"/>
            </p:cNvSpPr>
            <p:nvPr/>
          </p:nvSpPr>
          <p:spPr bwMode="auto">
            <a:xfrm>
              <a:off x="1871" y="1857"/>
              <a:ext cx="400" cy="37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2</a:t>
              </a:r>
            </a:p>
          </p:txBody>
        </p:sp>
      </p:grpSp>
      <p:grpSp>
        <p:nvGrpSpPr>
          <p:cNvPr id="182" name="Group 181"/>
          <p:cNvGrpSpPr/>
          <p:nvPr/>
        </p:nvGrpSpPr>
        <p:grpSpPr>
          <a:xfrm>
            <a:off x="4701724" y="2913052"/>
            <a:ext cx="668055" cy="4025710"/>
            <a:chOff x="7054363" y="2995275"/>
            <a:chExt cx="668055" cy="4025710"/>
          </a:xfrm>
        </p:grpSpPr>
        <p:sp>
          <p:nvSpPr>
            <p:cNvPr id="183" name="Line 17"/>
            <p:cNvSpPr>
              <a:spLocks noChangeShapeType="1"/>
            </p:cNvSpPr>
            <p:nvPr/>
          </p:nvSpPr>
          <p:spPr bwMode="auto">
            <a:xfrm flipH="1" flipV="1">
              <a:off x="7385768" y="2995275"/>
              <a:ext cx="2624" cy="3397162"/>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Tahoma" pitchFamily="124" charset="0"/>
                <a:ea typeface="+mn-ea"/>
                <a:cs typeface="+mn-cs"/>
              </a:endParaRPr>
            </a:p>
          </p:txBody>
        </p:sp>
        <p:sp>
          <p:nvSpPr>
            <p:cNvPr id="184" name="Rectangle 18"/>
            <p:cNvSpPr>
              <a:spLocks noChangeArrowheads="1"/>
            </p:cNvSpPr>
            <p:nvPr/>
          </p:nvSpPr>
          <p:spPr bwMode="auto">
            <a:xfrm>
              <a:off x="7054363" y="6392439"/>
              <a:ext cx="668055" cy="62854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2</a:t>
              </a:r>
            </a:p>
          </p:txBody>
        </p:sp>
      </p:grpSp>
      <p:sp>
        <p:nvSpPr>
          <p:cNvPr id="2" name="Slide Number Placeholder 1">
            <a:extLst>
              <a:ext uri="{FF2B5EF4-FFF2-40B4-BE49-F238E27FC236}">
                <a16:creationId xmlns:a16="http://schemas.microsoft.com/office/drawing/2014/main" id="{1FEF26DD-5866-2040-B098-7DF90668EEB7}"/>
              </a:ext>
            </a:extLst>
          </p:cNvPr>
          <p:cNvSpPr>
            <a:spLocks noGrp="1"/>
          </p:cNvSpPr>
          <p:nvPr>
            <p:ph type="sldNum" sz="quarter" idx="12"/>
          </p:nvPr>
        </p:nvSpPr>
        <p:spPr/>
        <p:txBody>
          <a:bodyPr/>
          <a:lstStyle/>
          <a:p>
            <a:fld id="{0F3206DB-9488-D04D-BDD1-A7C9D84C4579}" type="slidenum">
              <a:rPr lang="en-US" smtClean="0"/>
              <a:pPr/>
              <a:t>7</a:t>
            </a:fld>
            <a:endParaRPr lang="en-US" dirty="0"/>
          </a:p>
        </p:txBody>
      </p:sp>
      <p:grpSp>
        <p:nvGrpSpPr>
          <p:cNvPr id="6" name="Group 5">
            <a:extLst>
              <a:ext uri="{FF2B5EF4-FFF2-40B4-BE49-F238E27FC236}">
                <a16:creationId xmlns:a16="http://schemas.microsoft.com/office/drawing/2014/main" id="{6075329B-B028-44E0-B8F3-EA4A1DAA0846}"/>
              </a:ext>
            </a:extLst>
          </p:cNvPr>
          <p:cNvGrpSpPr/>
          <p:nvPr/>
        </p:nvGrpSpPr>
        <p:grpSpPr>
          <a:xfrm>
            <a:off x="5210261" y="2942614"/>
            <a:ext cx="934461" cy="1113438"/>
            <a:chOff x="5210261" y="2942614"/>
            <a:chExt cx="934461" cy="1113438"/>
          </a:xfrm>
        </p:grpSpPr>
        <p:cxnSp>
          <p:nvCxnSpPr>
            <p:cNvPr id="5" name="Straight Arrow Connector 4">
              <a:extLst>
                <a:ext uri="{FF2B5EF4-FFF2-40B4-BE49-F238E27FC236}">
                  <a16:creationId xmlns:a16="http://schemas.microsoft.com/office/drawing/2014/main" id="{930B5CCA-0013-4F1E-8A65-E2944792C983}"/>
                </a:ext>
              </a:extLst>
            </p:cNvPr>
            <p:cNvCxnSpPr/>
            <p:nvPr/>
          </p:nvCxnSpPr>
          <p:spPr>
            <a:xfrm flipH="1" flipV="1">
              <a:off x="5210261" y="2942614"/>
              <a:ext cx="928264" cy="111343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0" name="Rectangle 5">
              <a:extLst>
                <a:ext uri="{FF2B5EF4-FFF2-40B4-BE49-F238E27FC236}">
                  <a16:creationId xmlns:a16="http://schemas.microsoft.com/office/drawing/2014/main" id="{8352F1D4-C367-4A6E-A880-5F054FB3A2CF}"/>
                </a:ext>
              </a:extLst>
            </p:cNvPr>
            <p:cNvSpPr>
              <a:spLocks noChangeArrowheads="1"/>
            </p:cNvSpPr>
            <p:nvPr/>
          </p:nvSpPr>
          <p:spPr bwMode="auto">
            <a:xfrm>
              <a:off x="5369779" y="3113235"/>
              <a:ext cx="774943" cy="628545"/>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u="none" strike="noStrike" kern="1200" cap="none" spc="0" normalizeH="0" baseline="0" noProof="0" dirty="0">
                  <a:ln>
                    <a:noFill/>
                  </a:ln>
                  <a:solidFill>
                    <a:srgbClr val="C00000"/>
                  </a:solidFill>
                  <a:effectLst/>
                  <a:uLnTx/>
                  <a:uFillTx/>
                  <a:latin typeface="Times New Roman" pitchFamily="18" charset="0"/>
                  <a:ea typeface="+mn-ea"/>
                  <a:cs typeface="Times New Roman" pitchFamily="18" charset="0"/>
                </a:rPr>
                <a:t>i)</a:t>
              </a:r>
            </a:p>
          </p:txBody>
        </p:sp>
      </p:grpSp>
      <p:grpSp>
        <p:nvGrpSpPr>
          <p:cNvPr id="8" name="Group 7">
            <a:extLst>
              <a:ext uri="{FF2B5EF4-FFF2-40B4-BE49-F238E27FC236}">
                <a16:creationId xmlns:a16="http://schemas.microsoft.com/office/drawing/2014/main" id="{DBB9704E-79D1-49BF-B1E2-5C4E8E82B9CA}"/>
              </a:ext>
            </a:extLst>
          </p:cNvPr>
          <p:cNvGrpSpPr/>
          <p:nvPr/>
        </p:nvGrpSpPr>
        <p:grpSpPr>
          <a:xfrm>
            <a:off x="5696757" y="2474618"/>
            <a:ext cx="2851054" cy="3275207"/>
            <a:chOff x="5696757" y="2474618"/>
            <a:chExt cx="2851054" cy="3275207"/>
          </a:xfrm>
        </p:grpSpPr>
        <p:grpSp>
          <p:nvGrpSpPr>
            <p:cNvPr id="185" name="Group 184"/>
            <p:cNvGrpSpPr/>
            <p:nvPr/>
          </p:nvGrpSpPr>
          <p:grpSpPr>
            <a:xfrm>
              <a:off x="5696757" y="2474618"/>
              <a:ext cx="2851054" cy="3275207"/>
              <a:chOff x="6372223" y="2487293"/>
              <a:chExt cx="2851054" cy="3275207"/>
            </a:xfrm>
          </p:grpSpPr>
          <p:sp>
            <p:nvSpPr>
              <p:cNvPr id="186" name="Line 8"/>
              <p:cNvSpPr>
                <a:spLocks noChangeShapeType="1"/>
              </p:cNvSpPr>
              <p:nvPr/>
            </p:nvSpPr>
            <p:spPr bwMode="auto">
              <a:xfrm flipH="1" flipV="1">
                <a:off x="6372223" y="2487293"/>
                <a:ext cx="2408155" cy="2753372"/>
              </a:xfrm>
              <a:prstGeom prst="line">
                <a:avLst/>
              </a:prstGeom>
              <a:noFill/>
              <a:ln w="50800">
                <a:solidFill>
                  <a:srgbClr val="00B05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Tahoma" pitchFamily="124" charset="0"/>
                  <a:ea typeface="+mn-ea"/>
                  <a:cs typeface="+mn-cs"/>
                </a:endParaRPr>
              </a:p>
            </p:txBody>
          </p:sp>
          <p:sp>
            <p:nvSpPr>
              <p:cNvPr id="187" name="Rectangle 10"/>
              <p:cNvSpPr>
                <a:spLocks noChangeArrowheads="1"/>
              </p:cNvSpPr>
              <p:nvPr/>
            </p:nvSpPr>
            <p:spPr bwMode="auto">
              <a:xfrm>
                <a:off x="8742278" y="5361301"/>
                <a:ext cx="480999" cy="401199"/>
              </a:xfrm>
              <a:prstGeom prst="rect">
                <a:avLst/>
              </a:prstGeom>
              <a:noFill/>
              <a:ln w="9525">
                <a:noFill/>
                <a:prstDash val="sysDash"/>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B050"/>
                    </a:solidFill>
                    <a:effectLst>
                      <a:outerShdw dist="38100" sx="1000" sy="1000" algn="tl">
                        <a:srgbClr val="000000"/>
                      </a:outerShdw>
                    </a:effectLst>
                    <a:uLnTx/>
                    <a:uFillTx/>
                    <a:latin typeface="Times New Roman" pitchFamily="18" charset="0"/>
                    <a:ea typeface="+mn-ea"/>
                    <a:cs typeface="Times New Roman" pitchFamily="18" charset="0"/>
                  </a:rPr>
                  <a:t>D’</a:t>
                </a:r>
              </a:p>
            </p:txBody>
          </p:sp>
          <p:sp>
            <p:nvSpPr>
              <p:cNvPr id="188" name="Line 20"/>
              <p:cNvSpPr>
                <a:spLocks noChangeShapeType="1"/>
              </p:cNvSpPr>
              <p:nvPr/>
            </p:nvSpPr>
            <p:spPr bwMode="auto">
              <a:xfrm flipH="1">
                <a:off x="7800279" y="5240665"/>
                <a:ext cx="799171" cy="0"/>
              </a:xfrm>
              <a:prstGeom prst="line">
                <a:avLst/>
              </a:prstGeom>
              <a:noFill/>
              <a:ln w="38100">
                <a:solidFill>
                  <a:srgbClr val="00B050"/>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grpSp>
        <p:sp>
          <p:nvSpPr>
            <p:cNvPr id="32" name="Rectangle 10">
              <a:extLst>
                <a:ext uri="{FF2B5EF4-FFF2-40B4-BE49-F238E27FC236}">
                  <a16:creationId xmlns:a16="http://schemas.microsoft.com/office/drawing/2014/main" id="{87363578-70F7-465D-90A8-F1DC47C9D24B}"/>
                </a:ext>
              </a:extLst>
            </p:cNvPr>
            <p:cNvSpPr>
              <a:spLocks noChangeArrowheads="1"/>
            </p:cNvSpPr>
            <p:nvPr/>
          </p:nvSpPr>
          <p:spPr bwMode="auto">
            <a:xfrm>
              <a:off x="7244132" y="4855157"/>
              <a:ext cx="480999" cy="401199"/>
            </a:xfrm>
            <a:prstGeom prst="rect">
              <a:avLst/>
            </a:prstGeom>
            <a:noFill/>
            <a:ln w="9525">
              <a:noFill/>
              <a:prstDash val="sysDash"/>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0" u="none" strike="noStrike" kern="1200" cap="none" spc="0" normalizeH="0" baseline="0" noProof="0" dirty="0">
                  <a:ln>
                    <a:noFill/>
                  </a:ln>
                  <a:solidFill>
                    <a:srgbClr val="00B050"/>
                  </a:solidFill>
                  <a:effectLst>
                    <a:outerShdw dist="38100" sx="1000" sy="1000" algn="tl">
                      <a:srgbClr val="000000"/>
                    </a:outerShdw>
                  </a:effectLst>
                  <a:uLnTx/>
                  <a:uFillTx/>
                  <a:latin typeface="Times New Roman" pitchFamily="18" charset="0"/>
                  <a:ea typeface="+mn-ea"/>
                  <a:cs typeface="Times New Roman" pitchFamily="18" charset="0"/>
                </a:rPr>
                <a:t>ii)</a:t>
              </a:r>
            </a:p>
          </p:txBody>
        </p:sp>
      </p:grpSp>
      <p:grpSp>
        <p:nvGrpSpPr>
          <p:cNvPr id="34" name="Group 33">
            <a:extLst>
              <a:ext uri="{FF2B5EF4-FFF2-40B4-BE49-F238E27FC236}">
                <a16:creationId xmlns:a16="http://schemas.microsoft.com/office/drawing/2014/main" id="{896491D0-4CE2-4854-A8BD-B4AC0CC4868F}"/>
              </a:ext>
            </a:extLst>
          </p:cNvPr>
          <p:cNvGrpSpPr/>
          <p:nvPr/>
        </p:nvGrpSpPr>
        <p:grpSpPr>
          <a:xfrm>
            <a:off x="6825703" y="4238226"/>
            <a:ext cx="668055" cy="2550730"/>
            <a:chOff x="6279765" y="4806306"/>
            <a:chExt cx="668055" cy="1950555"/>
          </a:xfrm>
        </p:grpSpPr>
        <p:sp>
          <p:nvSpPr>
            <p:cNvPr id="35" name="Line 17">
              <a:extLst>
                <a:ext uri="{FF2B5EF4-FFF2-40B4-BE49-F238E27FC236}">
                  <a16:creationId xmlns:a16="http://schemas.microsoft.com/office/drawing/2014/main" id="{345BCD44-58AF-4FED-AE74-4D3404FB0B3E}"/>
                </a:ext>
              </a:extLst>
            </p:cNvPr>
            <p:cNvSpPr>
              <a:spLocks noChangeShapeType="1"/>
            </p:cNvSpPr>
            <p:nvPr/>
          </p:nvSpPr>
          <p:spPr bwMode="auto">
            <a:xfrm flipV="1">
              <a:off x="6613793" y="4806306"/>
              <a:ext cx="13419" cy="1586131"/>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ahoma" pitchFamily="124" charset="0"/>
                <a:ea typeface="+mn-ea"/>
                <a:cs typeface="+mn-cs"/>
              </a:endParaRPr>
            </a:p>
          </p:txBody>
        </p:sp>
        <p:sp>
          <p:nvSpPr>
            <p:cNvPr id="36" name="Rectangle 18">
              <a:extLst>
                <a:ext uri="{FF2B5EF4-FFF2-40B4-BE49-F238E27FC236}">
                  <a16:creationId xmlns:a16="http://schemas.microsoft.com/office/drawing/2014/main" id="{7DDFC329-B81B-4828-A80D-59596B61D3B4}"/>
                </a:ext>
              </a:extLst>
            </p:cNvPr>
            <p:cNvSpPr>
              <a:spLocks noChangeArrowheads="1"/>
            </p:cNvSpPr>
            <p:nvPr/>
          </p:nvSpPr>
          <p:spPr bwMode="auto">
            <a:xfrm>
              <a:off x="6279765" y="6392439"/>
              <a:ext cx="668055" cy="364422"/>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3</a:t>
              </a:r>
            </a:p>
          </p:txBody>
        </p:sp>
      </p:grpSp>
    </p:spTree>
    <p:extLst>
      <p:ext uri="{BB962C8B-B14F-4D97-AF65-F5344CB8AC3E}">
        <p14:creationId xmlns:p14="http://schemas.microsoft.com/office/powerpoint/2010/main" val="76593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73"/>
                                        </p:tgtEl>
                                        <p:attrNameLst>
                                          <p:attrName>style.visibility</p:attrName>
                                        </p:attrNameLst>
                                      </p:cBhvr>
                                      <p:to>
                                        <p:strVal val="visible"/>
                                      </p:to>
                                    </p:set>
                                    <p:animEffect transition="in" filter="fade">
                                      <p:cBhvr>
                                        <p:cTn id="15" dur="500"/>
                                        <p:tgtEl>
                                          <p:spTgt spid="17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76"/>
                                        </p:tgtEl>
                                        <p:attrNameLst>
                                          <p:attrName>style.visibility</p:attrName>
                                        </p:attrNameLst>
                                      </p:cBhvr>
                                      <p:to>
                                        <p:strVal val="visible"/>
                                      </p:to>
                                    </p:set>
                                    <p:animEffect transition="in" filter="fade">
                                      <p:cBhvr>
                                        <p:cTn id="20" dur="500"/>
                                        <p:tgtEl>
                                          <p:spTgt spid="17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79"/>
                                        </p:tgtEl>
                                        <p:attrNameLst>
                                          <p:attrName>style.visibility</p:attrName>
                                        </p:attrNameLst>
                                      </p:cBhvr>
                                      <p:to>
                                        <p:strVal val="visible"/>
                                      </p:to>
                                    </p:set>
                                    <p:animEffect transition="in" filter="fade">
                                      <p:cBhvr>
                                        <p:cTn id="25" dur="500"/>
                                        <p:tgtEl>
                                          <p:spTgt spid="17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82"/>
                                        </p:tgtEl>
                                        <p:attrNameLst>
                                          <p:attrName>style.visibility</p:attrName>
                                        </p:attrNameLst>
                                      </p:cBhvr>
                                      <p:to>
                                        <p:strVal val="visible"/>
                                      </p:to>
                                    </p:set>
                                    <p:animEffect transition="in" filter="fade">
                                      <p:cBhvr>
                                        <p:cTn id="30" dur="500"/>
                                        <p:tgtEl>
                                          <p:spTgt spid="182"/>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500"/>
                                        <p:tgtEl>
                                          <p:spTgt spid="34"/>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29F29-EBDD-4856-99EA-CBEED0E4AC01}"/>
              </a:ext>
            </a:extLst>
          </p:cNvPr>
          <p:cNvSpPr>
            <a:spLocks noGrp="1"/>
          </p:cNvSpPr>
          <p:nvPr>
            <p:ph type="title"/>
          </p:nvPr>
        </p:nvSpPr>
        <p:spPr/>
        <p:txBody>
          <a:bodyPr/>
          <a:lstStyle/>
          <a:p>
            <a:r>
              <a:rPr lang="en-US" noProof="0" dirty="0"/>
              <a:t>COVID And demand for flour</a:t>
            </a:r>
          </a:p>
        </p:txBody>
      </p:sp>
      <p:sp>
        <p:nvSpPr>
          <p:cNvPr id="3" name="Content Placeholder 2">
            <a:extLst>
              <a:ext uri="{FF2B5EF4-FFF2-40B4-BE49-F238E27FC236}">
                <a16:creationId xmlns:a16="http://schemas.microsoft.com/office/drawing/2014/main" id="{C3334AEC-D23F-4E15-A02C-BB4218A192D9}"/>
              </a:ext>
            </a:extLst>
          </p:cNvPr>
          <p:cNvSpPr>
            <a:spLocks noGrp="1"/>
          </p:cNvSpPr>
          <p:nvPr>
            <p:ph idx="1"/>
          </p:nvPr>
        </p:nvSpPr>
        <p:spPr/>
        <p:txBody>
          <a:bodyPr/>
          <a:lstStyle/>
          <a:p>
            <a:r>
              <a:rPr lang="en-US" noProof="0" dirty="0"/>
              <a:t>While in quarantine, many people started to bake. How did the COVID lockdown affect the demand for flour?</a:t>
            </a:r>
            <a:br>
              <a:rPr lang="en-US" noProof="0" dirty="0"/>
            </a:br>
            <a:endParaRPr lang="en-US" noProof="0" dirty="0"/>
          </a:p>
          <a:p>
            <a:endParaRPr lang="en-US" noProof="0" dirty="0"/>
          </a:p>
        </p:txBody>
      </p:sp>
      <p:pic>
        <p:nvPicPr>
          <p:cNvPr id="4" name="Picture 3" descr="A screenshot of a cell phone&#10;&#10;Description automatically generated">
            <a:extLst>
              <a:ext uri="{FF2B5EF4-FFF2-40B4-BE49-F238E27FC236}">
                <a16:creationId xmlns:a16="http://schemas.microsoft.com/office/drawing/2014/main" id="{17EA459B-54A6-4024-A109-258928E9D9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0980" y="2905684"/>
            <a:ext cx="3240393" cy="2361642"/>
          </a:xfrm>
          <a:prstGeom prst="rect">
            <a:avLst/>
          </a:prstGeom>
        </p:spPr>
      </p:pic>
      <p:sp>
        <p:nvSpPr>
          <p:cNvPr id="5" name="TextBox 4">
            <a:extLst>
              <a:ext uri="{FF2B5EF4-FFF2-40B4-BE49-F238E27FC236}">
                <a16:creationId xmlns:a16="http://schemas.microsoft.com/office/drawing/2014/main" id="{5CF29735-ACF9-479E-91A2-50A3A0893680}"/>
              </a:ext>
            </a:extLst>
          </p:cNvPr>
          <p:cNvSpPr txBox="1"/>
          <p:nvPr/>
        </p:nvSpPr>
        <p:spPr>
          <a:xfrm>
            <a:off x="3191584" y="3828079"/>
            <a:ext cx="2999184" cy="1261884"/>
          </a:xfrm>
          <a:prstGeom prst="rect">
            <a:avLst/>
          </a:prstGeom>
          <a:solidFill>
            <a:srgbClr val="F1F1F1"/>
          </a:solidFill>
        </p:spPr>
        <p:txBody>
          <a:bodyPr wrap="square" rtlCol="0">
            <a:spAutoFit/>
          </a:bodyPr>
          <a:lstStyle/>
          <a:p>
            <a:r>
              <a:rPr lang="en-US" sz="2000" dirty="0">
                <a:latin typeface="Times New Roman" panose="02020603050405020304" pitchFamily="18" charset="0"/>
                <a:cs typeface="Times New Roman" panose="02020603050405020304" pitchFamily="18" charset="0"/>
              </a:rPr>
              <a:t>“The Coronavirus Baking Boom Has Made It Hard to Find Flour.”</a:t>
            </a:r>
            <a:endParaRPr lang="en-US" sz="2000" i="1" dirty="0">
              <a:latin typeface="Times New Roman" panose="02020603050405020304" pitchFamily="18" charset="0"/>
              <a:cs typeface="Times New Roman" panose="02020603050405020304" pitchFamily="18" charset="0"/>
            </a:endParaRPr>
          </a:p>
          <a:p>
            <a:endParaRPr lang="en-US" sz="800" i="1" dirty="0">
              <a:latin typeface="Times New Roman" panose="02020603050405020304" pitchFamily="18" charset="0"/>
              <a:cs typeface="Times New Roman" panose="02020603050405020304" pitchFamily="18" charset="0"/>
            </a:endParaRPr>
          </a:p>
          <a:p>
            <a:r>
              <a:rPr lang="en-US" sz="800" i="1" dirty="0">
                <a:latin typeface="Times New Roman" panose="02020603050405020304" pitchFamily="18" charset="0"/>
                <a:cs typeface="Times New Roman" panose="02020603050405020304" pitchFamily="18" charset="0"/>
              </a:rPr>
              <a:t>- </a:t>
            </a:r>
            <a:r>
              <a:rPr lang="en-US" sz="800" i="1" dirty="0">
                <a:latin typeface="Times New Roman" panose="02020603050405020304" pitchFamily="18" charset="0"/>
                <a:cs typeface="Times New Roman" panose="02020603050405020304" pitchFamily="18" charset="0"/>
                <a:hlinkClick r:id="rId3"/>
              </a:rPr>
              <a:t>TIME</a:t>
            </a:r>
            <a:r>
              <a:rPr lang="en-US" sz="800" i="1" dirty="0">
                <a:latin typeface="Times New Roman" panose="02020603050405020304" pitchFamily="18" charset="0"/>
                <a:cs typeface="Times New Roman" panose="02020603050405020304" pitchFamily="18" charset="0"/>
              </a:rPr>
              <a:t> </a:t>
            </a:r>
            <a:r>
              <a:rPr lang="en-US" sz="800" dirty="0">
                <a:latin typeface="Times New Roman" panose="02020603050405020304" pitchFamily="18" charset="0"/>
                <a:cs typeface="Times New Roman" panose="02020603050405020304" pitchFamily="18" charset="0"/>
              </a:rPr>
              <a:t>(May 13, 2020)</a:t>
            </a:r>
          </a:p>
        </p:txBody>
      </p:sp>
      <p:sp>
        <p:nvSpPr>
          <p:cNvPr id="6" name="Parallelogram 5">
            <a:extLst>
              <a:ext uri="{FF2B5EF4-FFF2-40B4-BE49-F238E27FC236}">
                <a16:creationId xmlns:a16="http://schemas.microsoft.com/office/drawing/2014/main" id="{4F4EE557-473D-4271-9E8A-656AC16640A6}"/>
              </a:ext>
            </a:extLst>
          </p:cNvPr>
          <p:cNvSpPr/>
          <p:nvPr/>
        </p:nvSpPr>
        <p:spPr>
          <a:xfrm>
            <a:off x="3891778" y="5698273"/>
            <a:ext cx="6090034" cy="1435180"/>
          </a:xfrm>
          <a:prstGeom prst="parallelogram">
            <a:avLst/>
          </a:prstGeom>
          <a:gradFill>
            <a:gsLst>
              <a:gs pos="0">
                <a:schemeClr val="accent2">
                  <a:tint val="100000"/>
                  <a:shade val="100000"/>
                  <a:satMod val="130000"/>
                  <a:alpha val="34000"/>
                </a:schemeClr>
              </a:gs>
              <a:gs pos="100000">
                <a:schemeClr val="accent2">
                  <a:tint val="50000"/>
                  <a:shade val="100000"/>
                  <a:satMod val="350000"/>
                  <a:alpha val="79000"/>
                </a:schemeClr>
              </a:gs>
            </a:gsLst>
          </a:gradFill>
          <a:ln>
            <a:noFill/>
          </a:ln>
        </p:spPr>
        <p:style>
          <a:lnRef idx="1">
            <a:schemeClr val="accent2"/>
          </a:lnRef>
          <a:fillRef idx="3">
            <a:schemeClr val="accent2"/>
          </a:fillRef>
          <a:effectRef idx="2">
            <a:schemeClr val="accent2"/>
          </a:effectRef>
          <a:fontRef idx="minor">
            <a:schemeClr val="lt1"/>
          </a:fontRef>
        </p:style>
        <p:txBody>
          <a:bodyPr rtlCol="0" anchor="ctr"/>
          <a:lstStyle/>
          <a:p>
            <a:pPr>
              <a:defRPr/>
            </a:pPr>
            <a:r>
              <a:rPr lang="en-US" sz="3200" b="1" i="1" dirty="0">
                <a:solidFill>
                  <a:prstClr val="white"/>
                </a:solidFill>
              </a:rPr>
              <a:t>In-class discussion</a:t>
            </a:r>
          </a:p>
        </p:txBody>
      </p:sp>
      <p:sp>
        <p:nvSpPr>
          <p:cNvPr id="7" name="Slide Number Placeholder 6">
            <a:extLst>
              <a:ext uri="{FF2B5EF4-FFF2-40B4-BE49-F238E27FC236}">
                <a16:creationId xmlns:a16="http://schemas.microsoft.com/office/drawing/2014/main" id="{03CA82D6-795E-C848-B47E-D088326E00AA}"/>
              </a:ext>
            </a:extLst>
          </p:cNvPr>
          <p:cNvSpPr>
            <a:spLocks noGrp="1"/>
          </p:cNvSpPr>
          <p:nvPr>
            <p:ph type="sldNum" sz="quarter" idx="12"/>
          </p:nvPr>
        </p:nvSpPr>
        <p:spPr/>
        <p:txBody>
          <a:bodyPr/>
          <a:lstStyle/>
          <a:p>
            <a:fld id="{0F3206DB-9488-D04D-BDD1-A7C9D84C4579}" type="slidenum">
              <a:rPr lang="en-US" smtClean="0"/>
              <a:t>8</a:t>
            </a:fld>
            <a:endParaRPr lang="en-US"/>
          </a:p>
        </p:txBody>
      </p:sp>
    </p:spTree>
    <p:extLst>
      <p:ext uri="{BB962C8B-B14F-4D97-AF65-F5344CB8AC3E}">
        <p14:creationId xmlns:p14="http://schemas.microsoft.com/office/powerpoint/2010/main" val="1752632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451"/>
            <a:ext cx="8229600" cy="1143000"/>
          </a:xfrm>
        </p:spPr>
        <p:txBody>
          <a:bodyPr/>
          <a:lstStyle/>
          <a:p>
            <a:r>
              <a:rPr lang="en-US" noProof="0" dirty="0"/>
              <a:t>The market supply curve</a:t>
            </a:r>
          </a:p>
        </p:txBody>
      </p:sp>
      <p:sp>
        <p:nvSpPr>
          <p:cNvPr id="5" name="Content Placeholder 4"/>
          <p:cNvSpPr>
            <a:spLocks noGrp="1"/>
          </p:cNvSpPr>
          <p:nvPr>
            <p:ph idx="1"/>
          </p:nvPr>
        </p:nvSpPr>
        <p:spPr>
          <a:xfrm>
            <a:off x="276045" y="1026688"/>
            <a:ext cx="8699513" cy="983268"/>
          </a:xfrm>
        </p:spPr>
        <p:txBody>
          <a:bodyPr>
            <a:normAutofit fontScale="85000" lnSpcReduction="20000"/>
          </a:bodyPr>
          <a:lstStyle/>
          <a:p>
            <a:pPr marL="0" indent="0">
              <a:buNone/>
            </a:pPr>
            <a:r>
              <a:rPr lang="en-US" b="1" noProof="0" dirty="0"/>
              <a:t>Definition</a:t>
            </a:r>
            <a:r>
              <a:rPr lang="en-US" noProof="0" dirty="0"/>
              <a:t>: Describes the relationship between the quantity of a good that producers are willing to sell and the price of the good, </a:t>
            </a:r>
            <a:r>
              <a:rPr lang="en-US" i="1" noProof="0" dirty="0"/>
              <a:t>holding everything else constant</a:t>
            </a:r>
            <a:endParaRPr lang="en-US" noProof="0" dirty="0"/>
          </a:p>
        </p:txBody>
      </p:sp>
      <p:sp>
        <p:nvSpPr>
          <p:cNvPr id="7" name="Content Placeholder 4"/>
          <p:cNvSpPr txBox="1">
            <a:spLocks/>
          </p:cNvSpPr>
          <p:nvPr/>
        </p:nvSpPr>
        <p:spPr>
          <a:xfrm>
            <a:off x="373626" y="2833204"/>
            <a:ext cx="3042751" cy="2730832"/>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400" i="1" dirty="0">
                <a:solidFill>
                  <a:srgbClr val="C00000"/>
                </a:solidFill>
              </a:rPr>
              <a:t>Upward sloping:</a:t>
            </a:r>
            <a:r>
              <a:rPr lang="en-US" sz="2400" dirty="0"/>
              <a:t> the higher the price, the more firms are able and willing to produce and sell, </a:t>
            </a:r>
            <a:r>
              <a:rPr lang="en-US" sz="2400" i="1" dirty="0"/>
              <a:t>all else constant</a:t>
            </a:r>
            <a:r>
              <a:rPr lang="en-US" sz="2400" dirty="0"/>
              <a:t> </a:t>
            </a:r>
          </a:p>
          <a:p>
            <a:pPr marL="0" indent="0">
              <a:buNone/>
            </a:pPr>
            <a:endParaRPr lang="en-US" sz="2400" dirty="0"/>
          </a:p>
        </p:txBody>
      </p:sp>
      <p:grpSp>
        <p:nvGrpSpPr>
          <p:cNvPr id="8" name="Group 7"/>
          <p:cNvGrpSpPr>
            <a:grpSpLocks/>
          </p:cNvGrpSpPr>
          <p:nvPr/>
        </p:nvGrpSpPr>
        <p:grpSpPr bwMode="auto">
          <a:xfrm>
            <a:off x="4266946" y="2273829"/>
            <a:ext cx="2926080" cy="3363387"/>
            <a:chOff x="2512" y="1372"/>
            <a:chExt cx="1752" cy="2012"/>
          </a:xfrm>
        </p:grpSpPr>
        <p:sp>
          <p:nvSpPr>
            <p:cNvPr id="9" name="Line 8"/>
            <p:cNvSpPr>
              <a:spLocks noChangeShapeType="1"/>
            </p:cNvSpPr>
            <p:nvPr/>
          </p:nvSpPr>
          <p:spPr bwMode="auto">
            <a:xfrm flipV="1">
              <a:off x="2512" y="1612"/>
              <a:ext cx="1464" cy="1772"/>
            </a:xfrm>
            <a:prstGeom prst="line">
              <a:avLst/>
            </a:prstGeom>
            <a:noFill/>
            <a:ln w="50800">
              <a:solidFill>
                <a:schemeClr val="accent1">
                  <a:lumMod val="50000"/>
                  <a:lumOff val="50000"/>
                </a:schemeClr>
              </a:solidFill>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10" name="Rectangle 10"/>
            <p:cNvSpPr>
              <a:spLocks noChangeArrowheads="1"/>
            </p:cNvSpPr>
            <p:nvPr/>
          </p:nvSpPr>
          <p:spPr bwMode="auto">
            <a:xfrm>
              <a:off x="3976" y="1372"/>
              <a:ext cx="288" cy="240"/>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outerShdw blurRad="38100" dist="38100" dir="2700000" sx="7000" sy="7000" algn="tl">
                      <a:srgbClr val="000000"/>
                    </a:outerShdw>
                  </a:effectLst>
                  <a:uLnTx/>
                  <a:uFillTx/>
                  <a:latin typeface="Times New Roman" pitchFamily="18" charset="0"/>
                  <a:ea typeface="+mn-ea"/>
                  <a:cs typeface="Times New Roman" pitchFamily="18" charset="0"/>
                </a:rPr>
                <a:t>S</a:t>
              </a:r>
            </a:p>
          </p:txBody>
        </p:sp>
      </p:grpSp>
      <p:sp>
        <p:nvSpPr>
          <p:cNvPr id="11" name="Line 20"/>
          <p:cNvSpPr>
            <a:spLocks noChangeShapeType="1"/>
          </p:cNvSpPr>
          <p:nvPr/>
        </p:nvSpPr>
        <p:spPr bwMode="auto">
          <a:xfrm>
            <a:off x="4270678" y="2347489"/>
            <a:ext cx="0" cy="4092233"/>
          </a:xfrm>
          <a:prstGeom prst="line">
            <a:avLst/>
          </a:prstGeom>
          <a:noFill/>
          <a:ln w="38100">
            <a:solidFill>
              <a:srgbClr val="002B56"/>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12" name="Line 21"/>
          <p:cNvSpPr>
            <a:spLocks noChangeShapeType="1"/>
          </p:cNvSpPr>
          <p:nvPr/>
        </p:nvSpPr>
        <p:spPr bwMode="auto">
          <a:xfrm>
            <a:off x="4284039" y="6419662"/>
            <a:ext cx="4796633" cy="0"/>
          </a:xfrm>
          <a:prstGeom prst="line">
            <a:avLst/>
          </a:prstGeom>
          <a:noFill/>
          <a:ln w="38100">
            <a:solidFill>
              <a:srgbClr val="002B56"/>
            </a:solidFill>
            <a:round/>
            <a:headEnd type="none" w="med" len="med"/>
            <a:tailEnd type="arrow"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13" name="Rectangle 22"/>
          <p:cNvSpPr>
            <a:spLocks noChangeArrowheads="1"/>
          </p:cNvSpPr>
          <p:nvPr/>
        </p:nvSpPr>
        <p:spPr bwMode="auto">
          <a:xfrm>
            <a:off x="3909928" y="1958186"/>
            <a:ext cx="721499" cy="628546"/>
          </a:xfrm>
          <a:prstGeom prst="rect">
            <a:avLst/>
          </a:prstGeom>
          <a:noFill/>
          <a:ln w="9525">
            <a:noFill/>
            <a:miter lim="800000"/>
            <a:headEnd/>
            <a:tailEnd/>
          </a:ln>
          <a:effectLst/>
        </p:spPr>
        <p:txBody>
          <a:bodyPr wrap="none" lIns="20048" tIns="28402" rIns="20048" bIns="28402"/>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0"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Price ($)</a:t>
            </a:r>
          </a:p>
        </p:txBody>
      </p:sp>
      <p:sp>
        <p:nvSpPr>
          <p:cNvPr id="14" name="Rectangle 35"/>
          <p:cNvSpPr>
            <a:spLocks noChangeArrowheads="1"/>
          </p:cNvSpPr>
          <p:nvPr/>
        </p:nvSpPr>
        <p:spPr bwMode="auto">
          <a:xfrm>
            <a:off x="7966370" y="6381659"/>
            <a:ext cx="1440860" cy="467178"/>
          </a:xfrm>
          <a:prstGeom prst="rect">
            <a:avLst/>
          </a:prstGeom>
          <a:noFill/>
          <a:ln w="9525">
            <a:noFill/>
            <a:miter lim="800000"/>
            <a:headEnd/>
            <a:tailEnd/>
          </a:ln>
          <a:effectLst/>
        </p:spPr>
        <p:txBody>
          <a:bodyPr wrap="square" lIns="96900" tIns="48450" rIns="96900" bIns="4845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Quantity</a:t>
            </a:r>
          </a:p>
        </p:txBody>
      </p:sp>
      <p:sp>
        <p:nvSpPr>
          <p:cNvPr id="2" name="Slide Number Placeholder 1">
            <a:extLst>
              <a:ext uri="{FF2B5EF4-FFF2-40B4-BE49-F238E27FC236}">
                <a16:creationId xmlns:a16="http://schemas.microsoft.com/office/drawing/2014/main" id="{137B626E-70C4-694E-96CE-A59EF094A17F}"/>
              </a:ext>
            </a:extLst>
          </p:cNvPr>
          <p:cNvSpPr>
            <a:spLocks noGrp="1"/>
          </p:cNvSpPr>
          <p:nvPr>
            <p:ph type="sldNum" sz="quarter" idx="12"/>
          </p:nvPr>
        </p:nvSpPr>
        <p:spPr/>
        <p:txBody>
          <a:bodyPr/>
          <a:lstStyle/>
          <a:p>
            <a:fld id="{0F3206DB-9488-D04D-BDD1-A7C9D84C4579}" type="slidenum">
              <a:rPr lang="en-US" smtClean="0"/>
              <a:pPr/>
              <a:t>9</a:t>
            </a:fld>
            <a:endParaRPr lang="en-US" dirty="0"/>
          </a:p>
        </p:txBody>
      </p:sp>
    </p:spTree>
    <p:extLst>
      <p:ext uri="{BB962C8B-B14F-4D97-AF65-F5344CB8AC3E}">
        <p14:creationId xmlns:p14="http://schemas.microsoft.com/office/powerpoint/2010/main" val="3921563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806"/>
            <a:ext cx="8229600" cy="1143000"/>
          </a:xfrm>
        </p:spPr>
        <p:txBody>
          <a:bodyPr/>
          <a:lstStyle/>
          <a:p>
            <a:r>
              <a:rPr lang="en-US" noProof="0" dirty="0"/>
              <a:t>The market supply curve</a:t>
            </a:r>
          </a:p>
        </p:txBody>
      </p:sp>
      <p:sp>
        <p:nvSpPr>
          <p:cNvPr id="7" name="Content Placeholder 4"/>
          <p:cNvSpPr txBox="1">
            <a:spLocks/>
          </p:cNvSpPr>
          <p:nvPr/>
        </p:nvSpPr>
        <p:spPr>
          <a:xfrm>
            <a:off x="137947" y="1071809"/>
            <a:ext cx="3411233" cy="500620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200" b="1" dirty="0"/>
              <a:t>Distinguish between:</a:t>
            </a:r>
          </a:p>
          <a:p>
            <a:r>
              <a:rPr lang="en-US" sz="2200" i="1" dirty="0">
                <a:solidFill>
                  <a:srgbClr val="C00000"/>
                </a:solidFill>
              </a:rPr>
              <a:t>i) Movement along S:</a:t>
            </a:r>
            <a:r>
              <a:rPr lang="en-US" sz="2200" dirty="0"/>
              <a:t> changes in quantity supplied when price changes</a:t>
            </a:r>
            <a:r>
              <a:rPr lang="en-US" sz="2000" dirty="0"/>
              <a:t>, </a:t>
            </a:r>
            <a:r>
              <a:rPr lang="en-US" sz="2000" i="1" dirty="0"/>
              <a:t>all else constant</a:t>
            </a:r>
            <a:endParaRPr lang="en-US" sz="2200" dirty="0"/>
          </a:p>
          <a:p>
            <a:endParaRPr lang="en-US" sz="2200" dirty="0"/>
          </a:p>
          <a:p>
            <a:r>
              <a:rPr lang="en-US" sz="2200" i="1" dirty="0">
                <a:solidFill>
                  <a:srgbClr val="00B050"/>
                </a:solidFill>
              </a:rPr>
              <a:t>ii) Shifts in S:</a:t>
            </a:r>
            <a:r>
              <a:rPr lang="en-US" sz="2200" dirty="0"/>
              <a:t> changes in supply; e.g. a shift to the right (from </a:t>
            </a:r>
            <a:r>
              <a:rPr lang="en-US" sz="2200" i="1" dirty="0"/>
              <a:t>S</a:t>
            </a:r>
            <a:r>
              <a:rPr lang="en-US" sz="2200" dirty="0"/>
              <a:t> to </a:t>
            </a:r>
            <a:r>
              <a:rPr lang="en-US" sz="2200" i="1" dirty="0"/>
              <a:t>S′</a:t>
            </a:r>
            <a:r>
              <a:rPr lang="en-US" sz="2200" dirty="0"/>
              <a:t>) </a:t>
            </a:r>
          </a:p>
          <a:p>
            <a:pPr lvl="1"/>
            <a:r>
              <a:rPr lang="en-US" sz="2000" dirty="0"/>
              <a:t>Example: better technology, lower input prices</a:t>
            </a:r>
          </a:p>
        </p:txBody>
      </p:sp>
      <p:grpSp>
        <p:nvGrpSpPr>
          <p:cNvPr id="8" name="Group 7"/>
          <p:cNvGrpSpPr>
            <a:grpSpLocks/>
          </p:cNvGrpSpPr>
          <p:nvPr/>
        </p:nvGrpSpPr>
        <p:grpSpPr bwMode="auto">
          <a:xfrm>
            <a:off x="4801780" y="2187567"/>
            <a:ext cx="2926080" cy="3363387"/>
            <a:chOff x="2512" y="1372"/>
            <a:chExt cx="1752" cy="2012"/>
          </a:xfrm>
        </p:grpSpPr>
        <p:sp>
          <p:nvSpPr>
            <p:cNvPr id="9" name="Line 8"/>
            <p:cNvSpPr>
              <a:spLocks noChangeShapeType="1"/>
            </p:cNvSpPr>
            <p:nvPr/>
          </p:nvSpPr>
          <p:spPr bwMode="auto">
            <a:xfrm flipV="1">
              <a:off x="2512" y="1612"/>
              <a:ext cx="1464" cy="1772"/>
            </a:xfrm>
            <a:prstGeom prst="line">
              <a:avLst/>
            </a:prstGeom>
            <a:noFill/>
            <a:ln w="50800">
              <a:solidFill>
                <a:schemeClr val="accent1">
                  <a:lumMod val="50000"/>
                  <a:lumOff val="50000"/>
                </a:schemeClr>
              </a:solidFill>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10" name="Rectangle 10"/>
            <p:cNvSpPr>
              <a:spLocks noChangeArrowheads="1"/>
            </p:cNvSpPr>
            <p:nvPr/>
          </p:nvSpPr>
          <p:spPr bwMode="auto">
            <a:xfrm>
              <a:off x="3976" y="1372"/>
              <a:ext cx="288" cy="240"/>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outerShdw blurRad="38100" dist="38100" dir="2700000" sx="1000" sy="1000" algn="tl">
                      <a:srgbClr val="000000"/>
                    </a:outerShdw>
                  </a:effectLst>
                  <a:uLnTx/>
                  <a:uFillTx/>
                  <a:latin typeface="Times New Roman" pitchFamily="18" charset="0"/>
                  <a:ea typeface="+mn-ea"/>
                  <a:cs typeface="Times New Roman" pitchFamily="18" charset="0"/>
                </a:rPr>
                <a:t>S</a:t>
              </a:r>
            </a:p>
          </p:txBody>
        </p:sp>
      </p:grpSp>
      <p:sp>
        <p:nvSpPr>
          <p:cNvPr id="11" name="Line 20"/>
          <p:cNvSpPr>
            <a:spLocks noChangeShapeType="1"/>
          </p:cNvSpPr>
          <p:nvPr/>
        </p:nvSpPr>
        <p:spPr bwMode="auto">
          <a:xfrm>
            <a:off x="4270678" y="2347489"/>
            <a:ext cx="0" cy="4092233"/>
          </a:xfrm>
          <a:prstGeom prst="line">
            <a:avLst/>
          </a:prstGeom>
          <a:noFill/>
          <a:ln w="38100">
            <a:solidFill>
              <a:srgbClr val="002B56"/>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12" name="Line 21"/>
          <p:cNvSpPr>
            <a:spLocks noChangeShapeType="1"/>
          </p:cNvSpPr>
          <p:nvPr/>
        </p:nvSpPr>
        <p:spPr bwMode="auto">
          <a:xfrm>
            <a:off x="4284039" y="6419662"/>
            <a:ext cx="4796633" cy="0"/>
          </a:xfrm>
          <a:prstGeom prst="line">
            <a:avLst/>
          </a:prstGeom>
          <a:noFill/>
          <a:ln w="38100">
            <a:solidFill>
              <a:srgbClr val="002B56"/>
            </a:solidFill>
            <a:round/>
            <a:headEnd type="none" w="med" len="med"/>
            <a:tailEnd type="arrow"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13" name="Rectangle 22"/>
          <p:cNvSpPr>
            <a:spLocks noChangeArrowheads="1"/>
          </p:cNvSpPr>
          <p:nvPr/>
        </p:nvSpPr>
        <p:spPr bwMode="auto">
          <a:xfrm>
            <a:off x="3909928" y="1958186"/>
            <a:ext cx="721499" cy="628546"/>
          </a:xfrm>
          <a:prstGeom prst="rect">
            <a:avLst/>
          </a:prstGeom>
          <a:noFill/>
          <a:ln w="9525">
            <a:noFill/>
            <a:miter lim="800000"/>
            <a:headEnd/>
            <a:tailEnd/>
          </a:ln>
          <a:effectLst/>
        </p:spPr>
        <p:txBody>
          <a:bodyPr wrap="none" lIns="20048" tIns="28402" rIns="20048" bIns="28402"/>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0"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Price ($)</a:t>
            </a:r>
          </a:p>
        </p:txBody>
      </p:sp>
      <p:sp>
        <p:nvSpPr>
          <p:cNvPr id="14" name="Rectangle 35"/>
          <p:cNvSpPr>
            <a:spLocks noChangeArrowheads="1"/>
          </p:cNvSpPr>
          <p:nvPr/>
        </p:nvSpPr>
        <p:spPr bwMode="auto">
          <a:xfrm>
            <a:off x="7695706" y="6381659"/>
            <a:ext cx="1440860" cy="467178"/>
          </a:xfrm>
          <a:prstGeom prst="rect">
            <a:avLst/>
          </a:prstGeom>
          <a:noFill/>
          <a:ln w="9525">
            <a:noFill/>
            <a:miter lim="800000"/>
            <a:headEnd/>
            <a:tailEnd/>
          </a:ln>
          <a:effectLst/>
        </p:spPr>
        <p:txBody>
          <a:bodyPr wrap="square" lIns="96900" tIns="48450" rIns="96900" bIns="4845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Quantity</a:t>
            </a:r>
          </a:p>
        </p:txBody>
      </p:sp>
      <p:grpSp>
        <p:nvGrpSpPr>
          <p:cNvPr id="15" name="Group 14"/>
          <p:cNvGrpSpPr/>
          <p:nvPr/>
        </p:nvGrpSpPr>
        <p:grpSpPr>
          <a:xfrm>
            <a:off x="5703836" y="4011640"/>
            <a:ext cx="668055" cy="3012382"/>
            <a:chOff x="6279765" y="4008603"/>
            <a:chExt cx="668055" cy="3012382"/>
          </a:xfrm>
        </p:grpSpPr>
        <p:sp>
          <p:nvSpPr>
            <p:cNvPr id="16" name="Line 17"/>
            <p:cNvSpPr>
              <a:spLocks noChangeShapeType="1"/>
            </p:cNvSpPr>
            <p:nvPr/>
          </p:nvSpPr>
          <p:spPr bwMode="auto">
            <a:xfrm flipV="1">
              <a:off x="6613793" y="4008603"/>
              <a:ext cx="13544" cy="2383835"/>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17" name="Rectangle 18"/>
            <p:cNvSpPr>
              <a:spLocks noChangeArrowheads="1"/>
            </p:cNvSpPr>
            <p:nvPr/>
          </p:nvSpPr>
          <p:spPr bwMode="auto">
            <a:xfrm>
              <a:off x="6279765" y="6392439"/>
              <a:ext cx="668055" cy="62854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1</a:t>
              </a:r>
            </a:p>
          </p:txBody>
        </p:sp>
      </p:grpSp>
      <p:grpSp>
        <p:nvGrpSpPr>
          <p:cNvPr id="18" name="Group 17"/>
          <p:cNvGrpSpPr/>
          <p:nvPr/>
        </p:nvGrpSpPr>
        <p:grpSpPr>
          <a:xfrm>
            <a:off x="3646457" y="3776042"/>
            <a:ext cx="3280804" cy="628546"/>
            <a:chOff x="3955348" y="4052110"/>
            <a:chExt cx="3280804" cy="628546"/>
          </a:xfrm>
        </p:grpSpPr>
        <p:sp>
          <p:nvSpPr>
            <p:cNvPr id="19" name="Line 17"/>
            <p:cNvSpPr>
              <a:spLocks noChangeShapeType="1"/>
            </p:cNvSpPr>
            <p:nvPr/>
          </p:nvSpPr>
          <p:spPr bwMode="auto">
            <a:xfrm flipV="1">
              <a:off x="4632826" y="4287708"/>
              <a:ext cx="2603326" cy="0"/>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2B56"/>
                </a:solidFill>
                <a:effectLst/>
                <a:uLnTx/>
                <a:uFillTx/>
                <a:latin typeface="Tahoma" pitchFamily="124" charset="0"/>
                <a:ea typeface="+mn-ea"/>
                <a:cs typeface="+mn-cs"/>
              </a:endParaRPr>
            </a:p>
          </p:txBody>
        </p:sp>
        <p:sp>
          <p:nvSpPr>
            <p:cNvPr id="20" name="Rectangle 18"/>
            <p:cNvSpPr>
              <a:spLocks noChangeArrowheads="1"/>
            </p:cNvSpPr>
            <p:nvPr/>
          </p:nvSpPr>
          <p:spPr bwMode="auto">
            <a:xfrm>
              <a:off x="3955348" y="4052110"/>
              <a:ext cx="668055" cy="62854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1</a:t>
              </a:r>
            </a:p>
          </p:txBody>
        </p:sp>
      </p:grpSp>
      <p:grpSp>
        <p:nvGrpSpPr>
          <p:cNvPr id="21" name="Group 16"/>
          <p:cNvGrpSpPr>
            <a:grpSpLocks/>
          </p:cNvGrpSpPr>
          <p:nvPr/>
        </p:nvGrpSpPr>
        <p:grpSpPr bwMode="auto">
          <a:xfrm>
            <a:off x="3655881" y="4749996"/>
            <a:ext cx="1533186" cy="628546"/>
            <a:chOff x="2061" y="3134"/>
            <a:chExt cx="918" cy="376"/>
          </a:xfrm>
        </p:grpSpPr>
        <p:sp>
          <p:nvSpPr>
            <p:cNvPr id="22" name="Line 17"/>
            <p:cNvSpPr>
              <a:spLocks noChangeShapeType="1"/>
            </p:cNvSpPr>
            <p:nvPr/>
          </p:nvSpPr>
          <p:spPr bwMode="auto">
            <a:xfrm>
              <a:off x="2421" y="3321"/>
              <a:ext cx="558" cy="6"/>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23" name="Rectangle 18"/>
            <p:cNvSpPr>
              <a:spLocks noChangeArrowheads="1"/>
            </p:cNvSpPr>
            <p:nvPr/>
          </p:nvSpPr>
          <p:spPr bwMode="auto">
            <a:xfrm>
              <a:off x="2061" y="3134"/>
              <a:ext cx="400" cy="37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P</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2</a:t>
              </a:r>
            </a:p>
          </p:txBody>
        </p:sp>
      </p:grpSp>
      <p:grpSp>
        <p:nvGrpSpPr>
          <p:cNvPr id="24" name="Group 23"/>
          <p:cNvGrpSpPr/>
          <p:nvPr/>
        </p:nvGrpSpPr>
        <p:grpSpPr>
          <a:xfrm>
            <a:off x="6554702" y="4026303"/>
            <a:ext cx="668055" cy="3023656"/>
            <a:chOff x="6853571" y="4091010"/>
            <a:chExt cx="668055" cy="3023656"/>
          </a:xfrm>
        </p:grpSpPr>
        <p:sp>
          <p:nvSpPr>
            <p:cNvPr id="25" name="Line 17"/>
            <p:cNvSpPr>
              <a:spLocks noChangeShapeType="1"/>
            </p:cNvSpPr>
            <p:nvPr/>
          </p:nvSpPr>
          <p:spPr bwMode="auto">
            <a:xfrm flipV="1">
              <a:off x="7204394" y="4091010"/>
              <a:ext cx="14613" cy="2325615"/>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26" name="Rectangle 18"/>
            <p:cNvSpPr>
              <a:spLocks noChangeArrowheads="1"/>
            </p:cNvSpPr>
            <p:nvPr/>
          </p:nvSpPr>
          <p:spPr bwMode="auto">
            <a:xfrm>
              <a:off x="6853571" y="6486120"/>
              <a:ext cx="668055" cy="62854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3</a:t>
              </a:r>
            </a:p>
          </p:txBody>
        </p:sp>
      </p:grpSp>
      <p:sp>
        <p:nvSpPr>
          <p:cNvPr id="2" name="Slide Number Placeholder 1">
            <a:extLst>
              <a:ext uri="{FF2B5EF4-FFF2-40B4-BE49-F238E27FC236}">
                <a16:creationId xmlns:a16="http://schemas.microsoft.com/office/drawing/2014/main" id="{3C9364D5-D821-F54E-BBB0-DE47AEC5E677}"/>
              </a:ext>
            </a:extLst>
          </p:cNvPr>
          <p:cNvSpPr>
            <a:spLocks noGrp="1"/>
          </p:cNvSpPr>
          <p:nvPr>
            <p:ph type="sldNum" sz="quarter" idx="12"/>
          </p:nvPr>
        </p:nvSpPr>
        <p:spPr>
          <a:xfrm>
            <a:off x="7557795" y="6490335"/>
            <a:ext cx="1299100" cy="365125"/>
          </a:xfrm>
        </p:spPr>
        <p:txBody>
          <a:bodyPr/>
          <a:lstStyle/>
          <a:p>
            <a:fld id="{0F3206DB-9488-D04D-BDD1-A7C9D84C4579}" type="slidenum">
              <a:rPr lang="en-US" smtClean="0"/>
              <a:pPr/>
              <a:t>10</a:t>
            </a:fld>
            <a:endParaRPr lang="en-US" dirty="0"/>
          </a:p>
        </p:txBody>
      </p:sp>
      <p:grpSp>
        <p:nvGrpSpPr>
          <p:cNvPr id="31" name="Group 30">
            <a:extLst>
              <a:ext uri="{FF2B5EF4-FFF2-40B4-BE49-F238E27FC236}">
                <a16:creationId xmlns:a16="http://schemas.microsoft.com/office/drawing/2014/main" id="{C8DF05AE-76E9-48E5-87AC-104901397ABD}"/>
              </a:ext>
            </a:extLst>
          </p:cNvPr>
          <p:cNvGrpSpPr/>
          <p:nvPr/>
        </p:nvGrpSpPr>
        <p:grpSpPr>
          <a:xfrm>
            <a:off x="4925251" y="4075194"/>
            <a:ext cx="896183" cy="933391"/>
            <a:chOff x="4925251" y="4075194"/>
            <a:chExt cx="896183" cy="933391"/>
          </a:xfrm>
        </p:grpSpPr>
        <p:cxnSp>
          <p:nvCxnSpPr>
            <p:cNvPr id="32" name="Straight Arrow Connector 31">
              <a:extLst>
                <a:ext uri="{FF2B5EF4-FFF2-40B4-BE49-F238E27FC236}">
                  <a16:creationId xmlns:a16="http://schemas.microsoft.com/office/drawing/2014/main" id="{E9AC1B2D-506E-4003-9F92-D4BC373A7F61}"/>
                </a:ext>
              </a:extLst>
            </p:cNvPr>
            <p:cNvCxnSpPr>
              <a:cxnSpLocks/>
            </p:cNvCxnSpPr>
            <p:nvPr/>
          </p:nvCxnSpPr>
          <p:spPr>
            <a:xfrm flipH="1">
              <a:off x="5045433" y="4075194"/>
              <a:ext cx="776001" cy="93339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33" name="Rectangle 5">
              <a:extLst>
                <a:ext uri="{FF2B5EF4-FFF2-40B4-BE49-F238E27FC236}">
                  <a16:creationId xmlns:a16="http://schemas.microsoft.com/office/drawing/2014/main" id="{FE869041-96C9-4E10-8D7F-3E75AEADD3C8}"/>
                </a:ext>
              </a:extLst>
            </p:cNvPr>
            <p:cNvSpPr>
              <a:spLocks noChangeArrowheads="1"/>
            </p:cNvSpPr>
            <p:nvPr/>
          </p:nvSpPr>
          <p:spPr bwMode="auto">
            <a:xfrm>
              <a:off x="4925251" y="4193889"/>
              <a:ext cx="774943" cy="628545"/>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u="none" strike="noStrike" kern="1200" cap="none" spc="0" normalizeH="0" baseline="0" noProof="0" dirty="0">
                  <a:ln>
                    <a:noFill/>
                  </a:ln>
                  <a:solidFill>
                    <a:srgbClr val="C00000"/>
                  </a:solidFill>
                  <a:effectLst/>
                  <a:uLnTx/>
                  <a:uFillTx/>
                  <a:latin typeface="Times New Roman" pitchFamily="18" charset="0"/>
                  <a:ea typeface="+mn-ea"/>
                  <a:cs typeface="Times New Roman" pitchFamily="18" charset="0"/>
                </a:rPr>
                <a:t>i)</a:t>
              </a:r>
            </a:p>
          </p:txBody>
        </p:sp>
      </p:grpSp>
      <p:grpSp>
        <p:nvGrpSpPr>
          <p:cNvPr id="34" name="Group 33">
            <a:extLst>
              <a:ext uri="{FF2B5EF4-FFF2-40B4-BE49-F238E27FC236}">
                <a16:creationId xmlns:a16="http://schemas.microsoft.com/office/drawing/2014/main" id="{25237A2B-47F2-4727-BAC0-D4BE6F8AF273}"/>
              </a:ext>
            </a:extLst>
          </p:cNvPr>
          <p:cNvGrpSpPr/>
          <p:nvPr/>
        </p:nvGrpSpPr>
        <p:grpSpPr>
          <a:xfrm>
            <a:off x="4838501" y="5102352"/>
            <a:ext cx="668055" cy="1932944"/>
            <a:chOff x="6853571" y="5181722"/>
            <a:chExt cx="668055" cy="1932944"/>
          </a:xfrm>
        </p:grpSpPr>
        <p:sp>
          <p:nvSpPr>
            <p:cNvPr id="35" name="Line 17">
              <a:extLst>
                <a:ext uri="{FF2B5EF4-FFF2-40B4-BE49-F238E27FC236}">
                  <a16:creationId xmlns:a16="http://schemas.microsoft.com/office/drawing/2014/main" id="{05A8E10C-2B0C-4485-BB29-1D64F94579AB}"/>
                </a:ext>
              </a:extLst>
            </p:cNvPr>
            <p:cNvSpPr>
              <a:spLocks noChangeShapeType="1"/>
            </p:cNvSpPr>
            <p:nvPr/>
          </p:nvSpPr>
          <p:spPr bwMode="auto">
            <a:xfrm flipH="1" flipV="1">
              <a:off x="7193123" y="5181722"/>
              <a:ext cx="11272" cy="1274658"/>
            </a:xfrm>
            <a:prstGeom prst="line">
              <a:avLst/>
            </a:prstGeom>
            <a:noFill/>
            <a:ln w="25400">
              <a:solidFill>
                <a:schemeClr val="bg1">
                  <a:lumMod val="65000"/>
                </a:schemeClr>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36" name="Rectangle 18">
              <a:extLst>
                <a:ext uri="{FF2B5EF4-FFF2-40B4-BE49-F238E27FC236}">
                  <a16:creationId xmlns:a16="http://schemas.microsoft.com/office/drawing/2014/main" id="{7877B491-DB59-453C-B77C-71F0682386B7}"/>
                </a:ext>
              </a:extLst>
            </p:cNvPr>
            <p:cNvSpPr>
              <a:spLocks noChangeArrowheads="1"/>
            </p:cNvSpPr>
            <p:nvPr/>
          </p:nvSpPr>
          <p:spPr bwMode="auto">
            <a:xfrm>
              <a:off x="6853571" y="6486120"/>
              <a:ext cx="668055" cy="628546"/>
            </a:xfrm>
            <a:prstGeom prst="rect">
              <a:avLst/>
            </a:prstGeom>
            <a:noFill/>
            <a:ln w="9525">
              <a:noFill/>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2B56"/>
                  </a:solidFill>
                  <a:effectLst/>
                  <a:uLnTx/>
                  <a:uFillTx/>
                  <a:latin typeface="Times New Roman" pitchFamily="18" charset="0"/>
                  <a:ea typeface="+mn-ea"/>
                  <a:cs typeface="Times New Roman" pitchFamily="18" charset="0"/>
                </a:rPr>
                <a:t>Q</a:t>
              </a:r>
              <a:r>
                <a:rPr kumimoji="0" lang="en-US" sz="2400" b="0" i="1" u="none" strike="noStrike" kern="1200" cap="none" spc="0" normalizeH="0" baseline="-25000" noProof="0" dirty="0">
                  <a:ln>
                    <a:noFill/>
                  </a:ln>
                  <a:solidFill>
                    <a:srgbClr val="002B56"/>
                  </a:solidFill>
                  <a:effectLst/>
                  <a:uLnTx/>
                  <a:uFillTx/>
                  <a:latin typeface="Times New Roman" pitchFamily="18" charset="0"/>
                  <a:ea typeface="+mn-ea"/>
                  <a:cs typeface="Times New Roman" pitchFamily="18" charset="0"/>
                </a:rPr>
                <a:t>2</a:t>
              </a:r>
            </a:p>
          </p:txBody>
        </p:sp>
      </p:grpSp>
      <p:grpSp>
        <p:nvGrpSpPr>
          <p:cNvPr id="5" name="Group 4">
            <a:extLst>
              <a:ext uri="{FF2B5EF4-FFF2-40B4-BE49-F238E27FC236}">
                <a16:creationId xmlns:a16="http://schemas.microsoft.com/office/drawing/2014/main" id="{AC48E8E0-1C68-4512-AEAA-56EF9585B6E1}"/>
              </a:ext>
            </a:extLst>
          </p:cNvPr>
          <p:cNvGrpSpPr/>
          <p:nvPr/>
        </p:nvGrpSpPr>
        <p:grpSpPr>
          <a:xfrm>
            <a:off x="5362524" y="2501840"/>
            <a:ext cx="2926080" cy="3363387"/>
            <a:chOff x="5362524" y="2501840"/>
            <a:chExt cx="2926080" cy="3363387"/>
          </a:xfrm>
        </p:grpSpPr>
        <p:grpSp>
          <p:nvGrpSpPr>
            <p:cNvPr id="27" name="Group 26"/>
            <p:cNvGrpSpPr/>
            <p:nvPr/>
          </p:nvGrpSpPr>
          <p:grpSpPr>
            <a:xfrm>
              <a:off x="5362524" y="2501840"/>
              <a:ext cx="2926080" cy="3363387"/>
              <a:chOff x="5854298" y="2744172"/>
              <a:chExt cx="2926080" cy="3363387"/>
            </a:xfrm>
          </p:grpSpPr>
          <p:sp>
            <p:nvSpPr>
              <p:cNvPr id="28" name="Line 8"/>
              <p:cNvSpPr>
                <a:spLocks noChangeShapeType="1"/>
              </p:cNvSpPr>
              <p:nvPr/>
            </p:nvSpPr>
            <p:spPr bwMode="auto">
              <a:xfrm flipV="1">
                <a:off x="5854298" y="3145371"/>
                <a:ext cx="2445081" cy="2962188"/>
              </a:xfrm>
              <a:prstGeom prst="line">
                <a:avLst/>
              </a:prstGeom>
              <a:noFill/>
              <a:ln w="50800">
                <a:solidFill>
                  <a:srgbClr val="00B050"/>
                </a:solidFill>
                <a:prstDash val="sysDash"/>
                <a:round/>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sp>
            <p:nvSpPr>
              <p:cNvPr id="29" name="Rectangle 10"/>
              <p:cNvSpPr>
                <a:spLocks noChangeArrowheads="1"/>
              </p:cNvSpPr>
              <p:nvPr/>
            </p:nvSpPr>
            <p:spPr bwMode="auto">
              <a:xfrm>
                <a:off x="8299379" y="2744172"/>
                <a:ext cx="480999" cy="401199"/>
              </a:xfrm>
              <a:prstGeom prst="rect">
                <a:avLst/>
              </a:prstGeom>
              <a:noFill/>
              <a:ln w="9525">
                <a:noFill/>
                <a:prstDash val="sysDash"/>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1" u="none" strike="noStrike" kern="1200" cap="none" spc="0" normalizeH="0" baseline="0" noProof="0" dirty="0">
                    <a:ln>
                      <a:noFill/>
                    </a:ln>
                    <a:solidFill>
                      <a:srgbClr val="00B050"/>
                    </a:solidFill>
                    <a:effectLst>
                      <a:outerShdw blurRad="38100" dist="38100" dir="2700000" sx="7000" sy="7000" algn="tl">
                        <a:srgbClr val="000000"/>
                      </a:outerShdw>
                    </a:effectLst>
                    <a:uLnTx/>
                    <a:uFillTx/>
                    <a:latin typeface="Times New Roman" pitchFamily="18" charset="0"/>
                    <a:ea typeface="+mn-ea"/>
                    <a:cs typeface="Times New Roman" pitchFamily="18" charset="0"/>
                  </a:rPr>
                  <a:t>S’</a:t>
                </a:r>
              </a:p>
            </p:txBody>
          </p:sp>
          <p:sp>
            <p:nvSpPr>
              <p:cNvPr id="30" name="Line 20"/>
              <p:cNvSpPr>
                <a:spLocks noChangeShapeType="1"/>
              </p:cNvSpPr>
              <p:nvPr/>
            </p:nvSpPr>
            <p:spPr bwMode="auto">
              <a:xfrm flipH="1" flipV="1">
                <a:off x="7474752" y="3352800"/>
                <a:ext cx="542377" cy="0"/>
              </a:xfrm>
              <a:prstGeom prst="line">
                <a:avLst/>
              </a:prstGeom>
              <a:noFill/>
              <a:ln w="38100">
                <a:solidFill>
                  <a:srgbClr val="00B050"/>
                </a:solidFill>
                <a:round/>
                <a:headEnd type="arrow" w="med" len="med"/>
                <a:tailEnd type="none" w="med" len="med"/>
              </a:ln>
              <a:effectLst/>
            </p:spPr>
            <p:txBody>
              <a:bodyPr wrap="none" lIns="96231" tIns="48116" rIns="96231" bIns="48116"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2B56"/>
                  </a:solidFill>
                  <a:effectLst/>
                  <a:uLnTx/>
                  <a:uFillTx/>
                  <a:latin typeface="Tahoma" pitchFamily="124" charset="0"/>
                  <a:ea typeface="+mn-ea"/>
                  <a:cs typeface="+mn-cs"/>
                </a:endParaRPr>
              </a:p>
            </p:txBody>
          </p:sp>
        </p:grpSp>
        <p:sp>
          <p:nvSpPr>
            <p:cNvPr id="37" name="Rectangle 10">
              <a:extLst>
                <a:ext uri="{FF2B5EF4-FFF2-40B4-BE49-F238E27FC236}">
                  <a16:creationId xmlns:a16="http://schemas.microsoft.com/office/drawing/2014/main" id="{B425867C-62B2-4066-9D0C-8DC86BF0E79E}"/>
                </a:ext>
              </a:extLst>
            </p:cNvPr>
            <p:cNvSpPr>
              <a:spLocks noChangeArrowheads="1"/>
            </p:cNvSpPr>
            <p:nvPr/>
          </p:nvSpPr>
          <p:spPr bwMode="auto">
            <a:xfrm>
              <a:off x="7076796" y="2673933"/>
              <a:ext cx="480999" cy="401199"/>
            </a:xfrm>
            <a:prstGeom prst="rect">
              <a:avLst/>
            </a:prstGeom>
            <a:noFill/>
            <a:ln w="9525">
              <a:noFill/>
              <a:prstDash val="sysDash"/>
              <a:miter lim="800000"/>
              <a:headEnd/>
              <a:tailEnd/>
            </a:ln>
            <a:effectLst/>
          </p:spPr>
          <p:txBody>
            <a:bodyPr wrap="none" lIns="19050" tIns="26988" rIns="19050" bIns="26988"/>
            <a:lstStyle/>
            <a:p>
              <a:pPr marL="0" marR="0" lvl="0" indent="0" algn="ctr" defTabSz="914400" rtl="0" eaLnBrk="1" fontAlgn="base" latinLnBrk="0" hangingPunct="1">
                <a:lnSpc>
                  <a:spcPts val="2947"/>
                </a:lnSpc>
                <a:spcBef>
                  <a:spcPct val="0"/>
                </a:spcBef>
                <a:spcAft>
                  <a:spcPts val="947"/>
                </a:spcAft>
                <a:buClrTx/>
                <a:buSzTx/>
                <a:buFontTx/>
                <a:buNone/>
                <a:tabLst>
                  <a:tab pos="481157" algn="l"/>
                  <a:tab pos="962315" algn="l"/>
                  <a:tab pos="1443472" algn="l"/>
                </a:tabLst>
                <a:defRPr/>
              </a:pPr>
              <a:r>
                <a:rPr kumimoji="0" lang="en-US" sz="2400" b="0" i="0" u="none" strike="noStrike" kern="1200" cap="none" spc="0" normalizeH="0" baseline="0" noProof="0" dirty="0">
                  <a:ln>
                    <a:noFill/>
                  </a:ln>
                  <a:solidFill>
                    <a:srgbClr val="00B050"/>
                  </a:solidFill>
                  <a:effectLst>
                    <a:outerShdw dist="38100" sx="1000" sy="1000" algn="tl">
                      <a:srgbClr val="000000"/>
                    </a:outerShdw>
                  </a:effectLst>
                  <a:uLnTx/>
                  <a:uFillTx/>
                  <a:latin typeface="Times New Roman" pitchFamily="18" charset="0"/>
                  <a:ea typeface="+mn-ea"/>
                  <a:cs typeface="Times New Roman" pitchFamily="18" charset="0"/>
                </a:rPr>
                <a:t>ii)</a:t>
              </a:r>
            </a:p>
          </p:txBody>
        </p:sp>
      </p:grpSp>
    </p:spTree>
    <p:extLst>
      <p:ext uri="{BB962C8B-B14F-4D97-AF65-F5344CB8AC3E}">
        <p14:creationId xmlns:p14="http://schemas.microsoft.com/office/powerpoint/2010/main" val="139892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PPRESENTATIONGUID" val="fb4bfb20-bb85-4e69-83ee-0653ca024c4d"/>
  <p:tag name="TPLASTSAVEVERSION" val="6.2 PC"/>
  <p:tag name="WASPOLLED" val="9395E21AB51D4B2FB317ED88EF6AF71F"/>
  <p:tag name="TPVERSION" val="5"/>
  <p:tag name="TPFULLVERSION" val="5.3.2.24"/>
  <p:tag name="PPTVERSION" val="16"/>
  <p:tag name="TPOS" val="2"/>
</p:tagLst>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62797</TotalTime>
  <Words>1040</Words>
  <Application>Microsoft Office PowerPoint</Application>
  <PresentationFormat>On-screen Show (4:3)</PresentationFormat>
  <Paragraphs>122</Paragraphs>
  <Slides>10</Slides>
  <Notes>9</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10</vt:i4>
      </vt:variant>
    </vt:vector>
  </HeadingPairs>
  <TitlesOfParts>
    <vt:vector size="23" baseType="lpstr">
      <vt:lpstr>Arial</vt:lpstr>
      <vt:lpstr>Calibri</vt:lpstr>
      <vt:lpstr>Lucida Grande</vt:lpstr>
      <vt:lpstr>Tahoma</vt:lpstr>
      <vt:lpstr>Times New Roman</vt:lpstr>
      <vt:lpstr>Trebuchet MS</vt:lpstr>
      <vt:lpstr>Whitney Book</vt:lpstr>
      <vt:lpstr>Whitney-Book</vt:lpstr>
      <vt:lpstr>Whitney-Medium</vt:lpstr>
      <vt:lpstr>2_Custom Design</vt:lpstr>
      <vt:lpstr>Custom Design</vt:lpstr>
      <vt:lpstr>3_Custom Design</vt:lpstr>
      <vt:lpstr>5_Custom Design</vt:lpstr>
      <vt:lpstr>Week 1 – Video 3 Supply and Demand</vt:lpstr>
      <vt:lpstr>outline of module 1</vt:lpstr>
      <vt:lpstr>Demand-Supply Analysis</vt:lpstr>
      <vt:lpstr>The market demand curve</vt:lpstr>
      <vt:lpstr>“holding Everything else constant” in econ parlance: “ceteris paribus” (c.p.) </vt:lpstr>
      <vt:lpstr>The market demand curve</vt:lpstr>
      <vt:lpstr>The market demand curve</vt:lpstr>
      <vt:lpstr>COVID And demand for flour</vt:lpstr>
      <vt:lpstr>The market supply curve</vt:lpstr>
      <vt:lpstr>The market supply curve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Pub Office 3</dc:creator>
  <cp:keywords/>
  <dc:description/>
  <cp:lastModifiedBy>NICO VOIGTLAENDER</cp:lastModifiedBy>
  <cp:revision>589</cp:revision>
  <cp:lastPrinted>2019-09-13T20:44:29Z</cp:lastPrinted>
  <dcterms:created xsi:type="dcterms:W3CDTF">2013-01-24T22:32:50Z</dcterms:created>
  <dcterms:modified xsi:type="dcterms:W3CDTF">2021-10-07T16:56:07Z</dcterms:modified>
  <cp:category/>
</cp:coreProperties>
</file>