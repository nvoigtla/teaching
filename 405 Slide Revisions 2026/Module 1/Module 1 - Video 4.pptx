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Lst>
  <p:notesMasterIdLst>
    <p:notesMasterId r:id="rId12"/>
  </p:notesMasterIdLst>
  <p:handoutMasterIdLst>
    <p:handoutMasterId r:id="rId13"/>
  </p:handoutMasterIdLst>
  <p:sldIdLst>
    <p:sldId id="257" r:id="rId5"/>
    <p:sldId id="721" r:id="rId6"/>
    <p:sldId id="722" r:id="rId7"/>
    <p:sldId id="723" r:id="rId8"/>
    <p:sldId id="724" r:id="rId9"/>
    <p:sldId id="725" r:id="rId10"/>
    <p:sldId id="726" r:id="rId11"/>
  </p:sldIdLst>
  <p:sldSz cx="9144000" cy="6858000" type="screen4x3"/>
  <p:notesSz cx="7315200" cy="96012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oigtlaender, Nico" initials="VN" lastIdx="34" clrIdx="0">
    <p:extLst>
      <p:ext uri="{19B8F6BF-5375-455C-9EA6-DF929625EA0E}">
        <p15:presenceInfo xmlns:p15="http://schemas.microsoft.com/office/powerpoint/2012/main" userId="Voigtlaender, Nico" providerId="None"/>
      </p:ext>
    </p:extLst>
  </p:cmAuthor>
  <p:cmAuthor id="2" name="Giuliano, Paola" initials="GP" lastIdx="16" clrIdx="1">
    <p:extLst>
      <p:ext uri="{19B8F6BF-5375-455C-9EA6-DF929625EA0E}">
        <p15:presenceInfo xmlns:p15="http://schemas.microsoft.com/office/powerpoint/2012/main" userId="S::giulpao@ad.ucla.edu::132bae3d-d350-492a-913b-ab702ff24d3d" providerId="AD"/>
      </p:ext>
    </p:extLst>
  </p:cmAuthor>
  <p:cmAuthor id="3" name="Wasserman, Melanie" initials="WM" lastIdx="18" clrIdx="2">
    <p:extLst>
      <p:ext uri="{19B8F6BF-5375-455C-9EA6-DF929625EA0E}">
        <p15:presenceInfo xmlns:p15="http://schemas.microsoft.com/office/powerpoint/2012/main" userId="S::mswasserman@ad.ucla.edu::dc9d8677-d4c7-4bfe-9320-b2694e2f633d" providerId="AD"/>
      </p:ext>
    </p:extLst>
  </p:cmAuthor>
  <p:cmAuthor id="4" name="CLEMENCE TRICAUD" initials="CT" lastIdx="10" clrIdx="3">
    <p:extLst>
      <p:ext uri="{19B8F6BF-5375-455C-9EA6-DF929625EA0E}">
        <p15:presenceInfo xmlns:p15="http://schemas.microsoft.com/office/powerpoint/2012/main" userId="S-1-5-21-1914341619-2963887621-4192079504-39280" providerId="AD"/>
      </p:ext>
    </p:extLst>
  </p:cmAuthor>
  <p:cmAuthor id="5" name="Nico Voigtlaender" initials="NV" lastIdx="2" clrIdx="4">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683" autoAdjust="0"/>
    <p:restoredTop sz="86197" autoAdjust="0"/>
  </p:normalViewPr>
  <p:slideViewPr>
    <p:cSldViewPr snapToGrid="0" snapToObjects="1">
      <p:cViewPr varScale="1">
        <p:scale>
          <a:sx n="99" d="100"/>
          <a:sy n="99" d="100"/>
        </p:scale>
        <p:origin x="690" y="72"/>
      </p:cViewPr>
      <p:guideLst>
        <p:guide orient="horz" pos="2160"/>
        <p:guide pos="2880"/>
      </p:guideLst>
    </p:cSldViewPr>
  </p:slideViewPr>
  <p:outlineViewPr>
    <p:cViewPr>
      <p:scale>
        <a:sx n="33" d="100"/>
        <a:sy n="33" d="100"/>
      </p:scale>
      <p:origin x="0" y="-50304"/>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10/6/2021</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10/6/2021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2780400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point where they intersect is called market equilibrium, the price at which the quantity supplied equals the quantity demanded.</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see why market equilibrium is stable, let’s go through what happens when the price deviates from the equilibrium condition:</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Suppose the price is higher than P_0; What happens at this price? Producers will start entering the market, wanting to sell at this high price, but they won’t all be able to find willing buyers. Then the quantity supplied will be greater than the quantity demanded. The excess quantity supplied is known as surplus. To eliminate the surplus, producers need to attract more buyers and to do so, they have to lower their prices. As price falls, quantity demanded increases, and the quantity supplied falls until the market reaches equilibrium.</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Suppose the price is lower than P_0; then the quantity demanded will exceed the quantity supplied and shortage will develop; To eliminate this shortage, buyers who cannot find the good available for sale will bid up the price and enterprising producers will be more than willing to raise their prices. As price rises, quantity demanded falls, quantity supplied rises, until we reach equilibrium.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does the market reach equilibrium in practice? Adam Smith’s invisible hand.</a:t>
            </a:r>
          </a:p>
        </p:txBody>
      </p:sp>
      <p:sp>
        <p:nvSpPr>
          <p:cNvPr id="4" name="Slide Number Placeholder 3"/>
          <p:cNvSpPr>
            <a:spLocks noGrp="1"/>
          </p:cNvSpPr>
          <p:nvPr>
            <p:ph type="sldNum" sz="quarter" idx="5"/>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4282786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a:t>
            </a:fld>
            <a:endParaRPr lang="en-US"/>
          </a:p>
        </p:txBody>
      </p:sp>
    </p:spTree>
    <p:extLst>
      <p:ext uri="{BB962C8B-B14F-4D97-AF65-F5344CB8AC3E}">
        <p14:creationId xmlns:p14="http://schemas.microsoft.com/office/powerpoint/2010/main" val="273841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Shift out of demand implies that at any given price, consumers will want to buy more.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the price stayed the same, then a shortage would develop; price needs to rise in order to equilibrate the market.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price rises, quantity demanded falls and quantity supplied increases until we arrive at the new higher equilibrium price and quantity.</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a:t>
            </a:fld>
            <a:endParaRPr lang="en-US"/>
          </a:p>
        </p:txBody>
      </p:sp>
    </p:spTree>
    <p:extLst>
      <p:ext uri="{BB962C8B-B14F-4D97-AF65-F5344CB8AC3E}">
        <p14:creationId xmlns:p14="http://schemas.microsoft.com/office/powerpoint/2010/main" val="4208383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Shift out of supply implies that at any given price, producers are willing to sell a larger quantity.</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the price stayed in its original position then there would be excess supply; price needs to fall to equilibrate the market.</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the price falls, quantity demanded rises and quantity supplied declines.</a:t>
            </a:r>
          </a:p>
          <a:p>
            <a:pPr lvl="0"/>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Price falls until the quantity supplied and quantity demanded are equal.</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3358071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Two shifts simultaneously!</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both curves shift, the prediction for either price or quantity will be </a:t>
            </a:r>
            <a:r>
              <a:rPr lang="en-US" sz="1200" b="1" kern="1200" dirty="0">
                <a:solidFill>
                  <a:schemeClr val="tx1"/>
                </a:solidFill>
                <a:effectLst/>
                <a:latin typeface="+mn-lt"/>
                <a:ea typeface="+mn-ea"/>
                <a:cs typeface="+mn-cs"/>
              </a:rPr>
              <a:t>ambiguous</a:t>
            </a:r>
            <a:r>
              <a:rPr lang="en-US" sz="1200" b="0" kern="1200" dirty="0">
                <a:solidFill>
                  <a:schemeClr val="tx1"/>
                </a:solidFill>
                <a:effectLst/>
                <a:latin typeface="+mn-lt"/>
                <a:ea typeface="+mn-ea"/>
                <a:cs typeface="+mn-cs"/>
              </a:rPr>
              <a:t>. It will depend on the magnitude of the shift in supply and demand.</a:t>
            </a:r>
            <a:r>
              <a:rPr lang="en-US" sz="1200" kern="1200" dirty="0">
                <a:solidFill>
                  <a:schemeClr val="tx1"/>
                </a:solidFill>
                <a:effectLst/>
                <a:latin typeface="+mn-lt"/>
                <a:ea typeface="+mn-ea"/>
                <a:cs typeface="+mn-cs"/>
              </a:rPr>
              <a:t> In the example on this slide, we observe that the prediction for price is ambiguous. It can either increase or decrease depending on how large the shifts in supply and demand are (above a small increase is depicted; as an exercise at home, see if you can shift the curves outward and generate a decrease in the equilibrium price). The prediction for quantity, however, is clear. It increases due to the shift out of both supply and demand.</a:t>
            </a:r>
          </a:p>
        </p:txBody>
      </p:sp>
      <p:sp>
        <p:nvSpPr>
          <p:cNvPr id="4" name="Slide Number Placeholder 3"/>
          <p:cNvSpPr>
            <a:spLocks noGrp="1"/>
          </p:cNvSpPr>
          <p:nvPr>
            <p:ph type="sldNum" sz="quarter" idx="5"/>
          </p:nvPr>
        </p:nvSpPr>
        <p:spPr/>
        <p:txBody>
          <a:bodyPr/>
          <a:lstStyle/>
          <a:p>
            <a:fld id="{8D36AC2A-E969-3C46-9ED8-B46D40C5E669}" type="slidenum">
              <a:rPr lang="en-US" smtClean="0"/>
              <a:t>7</a:t>
            </a:fld>
            <a:endParaRPr lang="en-US"/>
          </a:p>
        </p:txBody>
      </p:sp>
    </p:spTree>
    <p:extLst>
      <p:ext uri="{BB962C8B-B14F-4D97-AF65-F5344CB8AC3E}">
        <p14:creationId xmlns:p14="http://schemas.microsoft.com/office/powerpoint/2010/main" val="454573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C4D6A2-2BCD-4141-A2F4-39139519DC02}"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1A2AD7E-7D64-BD40-91A0-C5C5947E2875}" type="datetime1">
              <a:rPr lang="en-US" smtClean="0"/>
              <a:t>10/6/2021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13FA7E-006D-AE49-BC04-143DF79CFA6C}"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0B695A-4E14-C44A-BF18-63C4AC7AB7F9}"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A7D09D-7ACE-C24D-82D2-2A3474C1C790}"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4839CF3-62E0-EA43-91F0-4EC3CCA8A119}" type="datetime1">
              <a:rPr lang="en-US" smtClean="0"/>
              <a:t>10/6/2021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05A8F7A-95BD-864D-8A9C-B9A5E49A398C}" type="datetime1">
              <a:rPr lang="en-US" smtClean="0"/>
              <a:t>10/6/2021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E8C734-EBE5-7046-8237-D07E17A8D666}" type="datetime1">
              <a:rPr lang="en-US" smtClean="0"/>
              <a:t>10/6/2021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758220-CF05-DC41-BC38-7127A5DC38C2}" type="datetime1">
              <a:rPr lang="en-US" smtClean="0"/>
              <a:t>10/6/2021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C0BC23-2BE1-3A45-B714-AFD04A977F47}" type="datetime1">
              <a:rPr lang="en-US" smtClean="0"/>
              <a:t>10/6/2021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E8EE9A-7AFA-5A4C-B21A-890A8131A854}" type="datetime1">
              <a:rPr lang="en-US" smtClean="0"/>
              <a:t>10/6/2021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E061F6-AA39-6442-8DDE-E6CDCA25A876}"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B2F32D-FB23-1743-9BD5-BA049F9EF854}"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6078F84-E522-9D45-9A97-DDFB323F750A}"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619881E-FFE2-6D4C-AA34-3308C0ADC68C}"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234253-A354-6045-AC24-F0724896F255}"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D0FF48-91A1-B143-AD51-ED88709050B7}" type="datetime1">
              <a:rPr lang="en-US" smtClean="0"/>
              <a:t>10/6/2021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B8D19D-8740-AD45-8DF9-A83AB358B74C}" type="datetime1">
              <a:rPr lang="en-US" smtClean="0"/>
              <a:t>10/6/2021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CB6D55-B624-514B-8991-FFF17B93E6E1}" type="datetime1">
              <a:rPr lang="en-US" smtClean="0"/>
              <a:t>10/6/2021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1743B-631B-834F-9DC3-A35DD28CB298}" type="datetime1">
              <a:rPr lang="en-US" smtClean="0"/>
              <a:t>10/6/2021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7C678B-4E2A-0248-9231-8C418E54563B}" type="datetime1">
              <a:rPr lang="en-US" smtClean="0"/>
              <a:t>10/6/2021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18E802-2662-1F45-B7E0-D8C55A851183}" type="datetime1">
              <a:rPr lang="en-US" smtClean="0"/>
              <a:t>10/6/2021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16E5EF2-0429-4B47-94AE-0AE5B8F45E57}" type="datetime1">
              <a:rPr lang="en-US" smtClean="0"/>
              <a:t>10/6/2021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4486ECF2-EFC1-A246-8403-C4EF7E1DDBAF}"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805FD87-0B42-CE4B-9088-C559197E297C}" type="datetime1">
              <a:rPr lang="en-US" smtClean="0"/>
              <a:t>10/6/2021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35E1081B-112D-D446-B951-6C95BC836B76}" type="datetime1">
              <a:rPr lang="en-US" smtClean="0"/>
              <a:t>10/6/2021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140420B-45E2-3D4E-BB99-3B2B4EEF04B8}" type="datetime1">
              <a:rPr lang="en-US" smtClean="0"/>
              <a:t>10/6/2021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436B162-B9A1-A44E-AC1F-CF3754965C48}"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FA806935-97BB-7D47-B7D5-637BCD81C172}" type="datetime1">
              <a:rPr lang="en-US" smtClean="0">
                <a:solidFill>
                  <a:prstClr val="black">
                    <a:lumMod val="75000"/>
                    <a:lumOff val="25000"/>
                  </a:prstClr>
                </a:solidFill>
              </a:rPr>
              <a:t>10/6/2021</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76D60E-591D-4D46-B5B2-D025F497B612}"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A0EE8A-7FEE-5E4F-B84D-DA90C899064A}"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5E18FF4-C872-4D4D-9BA2-95526D7F0773}"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617247-73A5-C742-9FE4-11842F14DB90}"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E069FB-412E-A34C-BE77-A0FEF84299AF}"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3337FD-D8F4-EA4C-BEC0-55A323C292F4}"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682FD3-B251-B14B-A31F-C33C0A85D147}"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7DE34F66-E4B7-F84E-B380-FECBD842D400}" type="datetime1">
              <a:rPr lang="en-US" smtClean="0">
                <a:solidFill>
                  <a:prstClr val="black">
                    <a:lumMod val="75000"/>
                    <a:lumOff val="25000"/>
                  </a:prstClr>
                </a:solidFill>
              </a:rPr>
              <a:t>10/6/2021</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DC1F44D1-B787-EE40-B7EC-E5D099DD1EC7}"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3A7EE9-BDB3-594E-B507-06F4CBFCFAE4}" type="datetime1">
              <a:rPr lang="en-US" smtClean="0">
                <a:solidFill>
                  <a:prstClr val="black">
                    <a:lumMod val="75000"/>
                    <a:lumOff val="25000"/>
                  </a:prstClr>
                </a:solidFill>
              </a:rPr>
              <a:t>10/6/2021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E8025D21-9C4F-DC41-A2D3-7071AC256DF5}" type="datetime1">
              <a:rPr lang="en-US" smtClean="0">
                <a:solidFill>
                  <a:prstClr val="black">
                    <a:lumMod val="75000"/>
                    <a:lumOff val="25000"/>
                  </a:prstClr>
                </a:solidFill>
              </a:rPr>
              <a:t>10/6/2021</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E5B1695-3215-7642-9658-A90CD260C033}" type="datetime1">
              <a:rPr lang="en-US" smtClean="0">
                <a:solidFill>
                  <a:prstClr val="black">
                    <a:lumMod val="75000"/>
                    <a:lumOff val="25000"/>
                  </a:prstClr>
                </a:solidFill>
              </a:rPr>
              <a:t>10/6/2021</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88CA5B7-BF38-844D-A217-8D897D011E98}" type="datetime1">
              <a:rPr lang="en-US" smtClean="0"/>
              <a:t>10/6/2021</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p:hf hdr="0" ftr="0" dt="0"/>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155AD3-ABED-454E-9734-E14628C9BF4D}" type="datetime1">
              <a:rPr lang="en-US" smtClean="0"/>
              <a:t>10/6/2021</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C0387D30-8C78-4D48-8A4E-EBB976F8A35E}" type="datetime1">
              <a:rPr lang="en-US" smtClean="0"/>
              <a:t>10/6/2021</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9AB94A9C-1A42-8344-8BAD-E473AA7FF132}" type="datetime1">
              <a:rPr lang="en-US" smtClean="0">
                <a:solidFill>
                  <a:prstClr val="black">
                    <a:lumMod val="75000"/>
                    <a:lumOff val="25000"/>
                  </a:prstClr>
                </a:solidFill>
              </a:rPr>
              <a:t>10/6/2021</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a:bodyPr>
          <a:lstStyle/>
          <a:p>
            <a:r>
              <a:rPr lang="en-US" noProof="0" dirty="0"/>
              <a:t>Week 1 – Video 4</a:t>
            </a:r>
            <a:br>
              <a:rPr lang="en-US" noProof="0" dirty="0"/>
            </a:br>
            <a:r>
              <a:rPr lang="en-US" noProof="0" dirty="0"/>
              <a:t>Market Equilibrium</a:t>
            </a:r>
            <a:endParaRPr lang="en-US" b="0" noProof="0" dirty="0"/>
          </a:p>
        </p:txBody>
      </p:sp>
      <p:sp>
        <p:nvSpPr>
          <p:cNvPr id="3" name="Text Placeholder 2"/>
          <p:cNvSpPr>
            <a:spLocks noGrp="1"/>
          </p:cNvSpPr>
          <p:nvPr>
            <p:ph type="body" idx="1"/>
          </p:nvPr>
        </p:nvSpPr>
        <p:spPr/>
        <p:txBody>
          <a:bodyPr>
            <a:normAutofit/>
          </a:bodyPr>
          <a:lstStyle/>
          <a:p>
            <a:r>
              <a:rPr lang="en-US" sz="2400" noProof="0" dirty="0"/>
              <a:t>Professor Nico Voigtländer</a:t>
            </a:r>
          </a:p>
          <a:p>
            <a:r>
              <a:rPr lang="en-US" sz="2400" noProof="0" dirty="0"/>
              <a:t>Management 405: Module 1</a:t>
            </a:r>
          </a:p>
        </p:txBody>
      </p:sp>
      <p:sp>
        <p:nvSpPr>
          <p:cNvPr id="5" name="Slide Number Placeholder 4">
            <a:extLst>
              <a:ext uri="{FF2B5EF4-FFF2-40B4-BE49-F238E27FC236}">
                <a16:creationId xmlns:a16="http://schemas.microsoft.com/office/drawing/2014/main" id="{90D7822B-922F-5646-94B9-B9B91B0384D4}"/>
              </a:ext>
            </a:extLst>
          </p:cNvPr>
          <p:cNvSpPr>
            <a:spLocks noGrp="1"/>
          </p:cNvSpPr>
          <p:nvPr>
            <p:ph type="sldNum" sz="quarter" idx="12"/>
          </p:nvPr>
        </p:nvSpPr>
        <p:spPr/>
        <p:txBody>
          <a:bodyPr/>
          <a:lstStyle/>
          <a:p>
            <a:fld id="{0F3206DB-9488-D04D-BDD1-A7C9D84C4579}" type="slidenum">
              <a:rPr lang="en-US" smtClean="0"/>
              <a:t>1</a:t>
            </a:fld>
            <a:endParaRPr lang="en-US"/>
          </a:p>
        </p:txBody>
      </p:sp>
      <p:pic>
        <p:nvPicPr>
          <p:cNvPr id="6" name="Picture 2"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9Aj1k9BHua6bWs8WIx1vl8Quom0I7Fj9xlHC9dOj2JDDoeO4ZkMoKuLtHQspMssSZ1FdXmQ9Sqe0jTw4J+BHJG8VoQ8Dlkxb5eTC67NyQiah0+cZBTY+C5x/m5xRNSxb7oVAhi+sQX7xV1uqxF0ASBMmFzTmhSWPdlCALq4euabQKbziOmY8fHEOzIMIZuRt1e72lM5iGFT7illE4X0jUTmGzWMaD0XhmCR1qPjxezAj65DPruvFbDCDGvV+M+Cuz6Bh+feD0TApoyHhyN3a5prm/XCEHCZhoR0QdzMYqooCkohXmoaNSfFJWEiEs2mVSDIQp99PkYxnESms8qvzIE7Fn8WbDIIjHwy5Cyh/UhPW+tiJTcMDMEyKi02JyF8yAIfNobHE13YpMI5o0QKJ5qC7XoIN7l1x14C5BLR1mAna0sTzAE+Qnqqh3xgAA6lTkMfLBl131dCHhesDg7uMPHDD+3ROKoPkAUrRWREmI8sh+OOGn9m344oT8ogWAJcFqgZGr2xg9RSQgcZWjqUDQZAh+Z/pBNKUt6zM7r5noHdYWOlPYsWmZ8zQi05Rl3+7o2asbOJ4umru2zyem6HoYTyUglPd3mZb7ZFfFiz0bXKM0rdVQNNX7Uz50nDXeW6/pHQQud76yFf7VErZonPNda9YRz7hG8YiT+oZ/um8eTyyDoYZkcT8IKhrTIK7EETwsswpuMXR0CE2oRmie8meAjpXkmyXKhaWgpga8uUnGuFWmmsCVGMJ1Elo9ra1FvmrdR0zksC9GiBH2yl4qOLYGL284usxatCQKuk+L4Eb/lsAfg0w0bIGgzcr5WVRP+JnEd2cTUhoYrILicBLv4kFYvN1WCfXo47PZH3U65JLC1Q7orXTWQ7A6Hw2XXmzbKqXf2KMXHemvk6HNUGroDnmUsjkYJCFhLP8n5WqyjaV6KdNvM8mxpurMsz1tM8fHJZUjv3MzXhX530pyDqgnnwhBQpXNXshKbGwRvl5MhKCw145PLZn3ZS2x4YJuGDrhJeabTz8R5mhi4QXC+NN1ZPn5UgIBnBtBovwgR65NF/YYJ5yI0+NKmq5fbrNupG224QfA2OfXOFqb/izQBmhkgrPisdiCZP9YV6QQxBPHxkcoLD08arvQGwfnSdGeZfS704uKO4yeUDwwpH8unlJBJp5XT12mtf3gzMyHsm6aphjcIzpYGCDo8WZRL74jegMwdFAHjz36JrowXrEHjoX7CeedVqZGmpUg3CM6WBgj4EEF+TSCP5JSf+HNLTDMtmRZq3P2kqw5YpXJD8ChNMT6W+mmJNwjeIA0QiPFBOUZr80mmyi/s4slTxD8UNdx+mBH7L+amlj7U9YaA2pwbBP8FaYJArC37wDadMYyPXOUO1YyswC93ku9vtPqfHWWGq/E1DM/M95d3PRLeZYU0LEW6QXC2NDEgGfpP/7TbnU679SApnIWEOQ0+f7hrd7ByO+2XzygiIGE/H2f6+VgQ5HAYDYagaYebKgg8tDPgluxBeCzOLv29/HuwHNasB9+nKT1REKeFluEXb9pP978nTRDIhn729dOvL6/PUoJ8xk20kZslPnv98O3x5eHjr6/kaOJWignKs7yggQLhNc6Kwo5qyEmXQhCsBgDYNgBkgthxuQuK047qxQOgegxhpQJAJy8kYwDWMi6eDoD6W6f6b0o6jMWHJggkzZWIGOE17mr2JqBBfrXBfpQGoZTHfl54JFLfH5S27rgmmKRxHM91u3Szr6Br9kq+rhZPq4ZgZ4fugVoCtNNIbqR3aav6hbaXebs4XSANcTdCYPxT7bPLkUDroca3JzOD2pX7F7wYoj957eQfeIO7Jc+1OelSCOYgouP7iRuWrRK5KARLU6wmRMuTNGnnVGeh6e8IgokpGcBGCO6MD1UtvebqSYuQjoSkmtpVmED3UngER9nEFhuArh+eKoVgYfLFQ94gLNn98cIQCC07eKWxGBKegmh9qY2m3i6/CwHZSq5EjhamVdsCkuhpVxU/91t8yuKPI5sv0gu1S5HKIIAds9jLemiKfQaShP6TQhAkOW+v8BF9Zn5lEQJHFBUg8NWJ2K5Imdijni+Kg8LUA6kVXHz8WyrOSa8vYM04ua8LPqw47nchuLsrpeDDUTXjscovIANGnaof9bMvPIKyp539sJ91F1k+5dwUSz12AzUm/zpMFtmihz9gCKa9UbaY8HlhKfw4mghPPhh2F5m7JbrPQ5DMu1k2muNv0mFXi4bDlFwthCCKAX/pVgKvZBVSCKbzVXeyJReTDGG0kcILcldMY/v5yu1t+eVM5z1U2RvSvY6d4VOWuXMyJWU3XMKLcOFn+CGGzTzx656uXPiryEMAYxoPn2WEFkc56XChLZbsUk+DoP3tSLuvL2Vrj43PZcbg/oHYjH5JGZYfd9wQlMWBQr11/UFpd+CGg7j43RTGC9HYBwDtPAohWA3x6jAbEF68BQBWFkI3nyr7AGOLwRrWwHN/cxBA4wIGA/ifFdqBDEDXj7SqEEsQjLlreDDNpEcggAEJEbxp7SYE8Qjvem6T3Y2SEStOWG0t84G7BGTl+g5FIGN4TmxltiDbm2CsmvC8E2CPbfYznB4AYQbr4pc7bCJweCJnAakSZEBT4Q1g66pOggB6h59y5uv+W8UO5J2XIgZiT9vqbNDrHTcER/nGOznT+KkmPiiFYA9/bS/OfbVZm1maJN5StycIAj+zx+nGG0aWiW5XsrDVpYeKfTIZPLXt0T5JNm6IdxmUIUgBLpp2Q2Rc43TiR4cDPRuEwFJ6PP4c2d2AQtC1/dV+s1mp2CJ7qpWBp/1mP/HxDrdO1w7nsLinmmh2ItSshS5nNxjoOrqevQpcdDkTG29ztbWjMboGeLYnsPKSaab5U0KHPfSSJB6baJcLb2yNgbvbTHuWtQ6cYW+sjdJD/DuWAO1S2f/4/cfX59nz1/vvH/vt6mUDnfbjr/uvKLifzZ7vf31ribr9hwp5rNlFmxx5wrbY5QFoasFnwxwNxay9hbkgD8A0Qg9FV6OrP7wQL1DtmTZR8iYK0eRTL7K75F4NAdr8SoJgqrKOdWvjpUIFn8BC3iA5rwfgYz7BEOyBTiz2Dhd6qm6yjRLQjnQx0GNKGEozzIFK+oUERhcJWmHLYrttaAbov36XbLCrkZ7Pi/DflB83ACsEga6RCPlg4q02f98nwNLq3PVfXv7p3xU3rz/mAFV8fISV7/LhnlElTTvg126qXwuB4vUGmh3a9pq+YYLfZEV5Ai7WFZ3w6SJDOgV8Tu/SRPvQr0y2OsQZ+xAfCYInm2eDyK7WRxA4Gd00bWtC00sgWHErbKG1Lx7fLjUxbVh5AhbUqdDQkoQwZMFLChAEB8DWrCYRSnzMbZUEvit7jZsNunivnIyHRUvbdCAEPgtXQ7T28bejg7wyTq54ct0LSfWOpvF8ZILQJ++j6NoL1rN5aexA68s2m5wgCFYmf0FSEKE9ZYHYYRI6B1MJAscWOxMsTbS4VYZAWYUWWvmQ4UvIoG13CAS7ZUzb15AT4IkN8kxkimJWnGjaTtmZYpNNDIEU83ZNaAO2ZkY+DQFlaWVCde90Hgl5KGfljXmqbADeCMF7lroBJCdInwaaD+9XsLBzaWIpT4AhGNk8meA8hZGyASEPMqeROZQg2IWm8MRt9HzlIJjbFjbGqHZsmxsGATltkKQjXyMQsJ7K5DuVwNguXfjQUCxtsY9RZCVKsjYPbOPMng2NwrwcggPsS6h4A2jbPOGiRn8rBFhPrg8OymaQ31ikAEGQhSKdug0BNMIWj9XgsSsJgtQ280V5CLYIAqULUPMQrUBAsFmuXBhtuBG1BKx7oRBMYfEAFUNLMJQgGEAI9ij+YGKrmypLAAkU1eAl/M0QpMxXx/oeQPMOY4PcSwLqIBjaCAKda9pbw/hAQAB7B/GOnHEFBHsw9pQEIGeMQhD0fBC5q0OilEKQwOKBu0qDAEEALQFfoqLC7mAf+b05k+280hJs7cF2y+ulfzMEMHSXE7UT2IlCbeXSxHXdQS800cpDYfMHue4gDsV60KmFDEwJBNCbj9Fyx4RDsAU+3c62FAIcEuIrQxDA+JSfA/kEMKLJb7pSYQmWIJ+h/oshgFZRTu/1zG6guDYf1Un2U+gY5iHAHS0RaBVcJRDRAtQ6fPQFBEkoFeEB5hIIIABZsMDnIBDgwJSIWgLBlA89OjqEIAFsz00U1sArywTDgUeihTIIYk1KkXvBXw3BTgul536B0i9DUxWvnlooRQhSwHcl35sovsNxIa0QWrkQcRy6rGjho31lyiDYqObBwq/YIBDsLKaeBGjHEEDt0Tan2BtxQ/qmLBhyIgh6Joe0N5g48HpLIaDZAnyaLIr/agjgPbR5SLVEDzKMvEK6ANlbwxtV7A6chU3DeGgIUK4t9tko0A4bBQmC2GRxVwrwxkPH0YGCNrfSNAwLgWCvA67VcgiIE+CMUHSgbCLNX26SZOoCnDH0NLbWfWqhC6uwBMqKp0NWpu0cQ/BkS8Pc11bd5aQUAk/1w27sQEm2KlH3wbbxWvVk4ZveEQQwwjbxNlSJ6+Mu33ky9SV+31FkI5sgp417wD+QohCrIgfB0CQQxIDulUcgSLJw5KHr6fpquDyCIFmjl+U4zsa1IhycxqZvrxeZDpY2ThsPTXOygRXisT1wqiFIMjtaBvA0Kw3xWYRAWYX+1GF27Nqqu5yUh4jeApjAjMYqjJWGJEu0BKbZXXVtnHwPSAyH5IkMvaQaDM9Wrs08wmAEQNTrjQHA76r0QsnNcAEY4CLyXtQlkLZJWwIf/03GPrHw0ASjYmg1wGChAj3dwuPQrDPWHkDqQcXrkQWieGIC9E6GPR5vsg4kWYS0Da9nHdIBJg7BnEMAcPYryWC9QUR/trfmEJDXKcLQF/CB7mur7nJSkScIUjdbR1E22vLRg90IIaFlSMlOb83zq12ida879k1/3WW6cZaLyDbVjLwQzVuMpc0D0kVkmjotUg4D8aob5bCmb1UarokBd1ZjXDx9yqJBBq1RMlmsFC/jL1h6ekKK2ndR8SqB17HAl+Z48XCXKAwCVGEQjUdkYHnXpQnNtEtVunwi3kCwXIzh7+7iaMIb8dHUXhf/a5UNBiw3dW3VXU6qk0WBN5XeWa7gd5Mv2XvJg+R4Akeyi3M7SDjTXbxn1ZzceKozjUVRri2Hzehw2EQPXhxMPVExSArzS1Ax/2rKG4eOIvs22ExPegNWMp2KSzs6yyb5W7qD/3cZAWaoVqBbW/MNcm3VXU7+TAhSoGO7H2x9rWa7nLfJtVV3OfkzIUCBrTnIBgCML7NJVZlcW3WXkz8UAmW/WgPgj5aXeQ9mqVxbdZeTPxWC/4FcW3WXkxsEZ8u1VXc5uUFwtlxbdZeTGwRny7VVdzm5QXC2XFt1l5MbBGfLtVV3OblBcLa0/hi5QXC2fPhzpHL3g5vUy38Ad4zCnxrOIc0AAAAASUVORK5CYII=">
            <a:extLst>
              <a:ext uri="{FF2B5EF4-FFF2-40B4-BE49-F238E27FC236}">
                <a16:creationId xmlns:a16="http://schemas.microsoft.com/office/drawing/2014/main" id="{C7D3AE6F-B5BB-CB4F-AF10-8BDAA1F4C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99" y="5871612"/>
            <a:ext cx="2685169" cy="50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1</a:t>
            </a:r>
          </a:p>
        </p:txBody>
      </p:sp>
      <p:sp>
        <p:nvSpPr>
          <p:cNvPr id="3" name="Content Placeholder 2"/>
          <p:cNvSpPr>
            <a:spLocks noGrp="1"/>
          </p:cNvSpPr>
          <p:nvPr>
            <p:ph idx="1"/>
          </p:nvPr>
        </p:nvSpPr>
        <p:spPr>
          <a:xfrm>
            <a:off x="457200" y="1094874"/>
            <a:ext cx="8229600" cy="5212407"/>
          </a:xfrm>
        </p:spPr>
        <p:txBody>
          <a:bodyPr>
            <a:normAutofit lnSpcReduction="10000"/>
          </a:bodyPr>
          <a:lstStyle/>
          <a:p>
            <a:pPr>
              <a:lnSpc>
                <a:spcPct val="120000"/>
              </a:lnSpc>
            </a:pPr>
            <a:r>
              <a:rPr lang="en-US" sz="2813" dirty="0">
                <a:solidFill>
                  <a:schemeClr val="bg1">
                    <a:lumMod val="85000"/>
                  </a:schemeClr>
                </a:solidFill>
                <a:latin typeface="Whitney-Book" pitchFamily="50" charset="0"/>
                <a:cs typeface="Whitney-Book" pitchFamily="50" charset="0"/>
              </a:rPr>
              <a:t>Basic Principles of Economic Thinking</a:t>
            </a:r>
          </a:p>
          <a:p>
            <a:pPr lvl="1">
              <a:lnSpc>
                <a:spcPct val="120000"/>
              </a:lnSpc>
            </a:pPr>
            <a:r>
              <a:rPr lang="en-US" sz="2813" dirty="0">
                <a:solidFill>
                  <a:schemeClr val="bg1">
                    <a:lumMod val="85000"/>
                  </a:schemeClr>
                </a:solidFill>
                <a:latin typeface="Whitney-Book" pitchFamily="50" charset="0"/>
                <a:cs typeface="Whitney-Book" pitchFamily="50" charset="0"/>
              </a:rPr>
              <a:t>Economic costs include opportunity costs</a:t>
            </a:r>
          </a:p>
          <a:p>
            <a:pPr lvl="1">
              <a:lnSpc>
                <a:spcPct val="120000"/>
              </a:lnSpc>
            </a:pPr>
            <a:r>
              <a:rPr lang="en-US" sz="2813" dirty="0">
                <a:solidFill>
                  <a:schemeClr val="bg1">
                    <a:lumMod val="85000"/>
                  </a:schemeClr>
                </a:solidFill>
                <a:latin typeface="Whitney-Book" pitchFamily="50" charset="0"/>
                <a:cs typeface="Whitney-Book" pitchFamily="50" charset="0"/>
              </a:rPr>
              <a:t>Ignore sunk costs</a:t>
            </a:r>
          </a:p>
          <a:p>
            <a:pPr lvl="1">
              <a:lnSpc>
                <a:spcPct val="120000"/>
              </a:lnSpc>
            </a:pPr>
            <a:r>
              <a:rPr lang="en-US" sz="2813" dirty="0">
                <a:solidFill>
                  <a:schemeClr val="bg1">
                    <a:lumMod val="85000"/>
                  </a:schemeClr>
                </a:solidFill>
                <a:latin typeface="Whitney-Book" pitchFamily="50" charset="0"/>
                <a:cs typeface="Whitney-Book" pitchFamily="50" charset="0"/>
              </a:rPr>
              <a:t>Use cost-benefit and marginal analysis</a:t>
            </a:r>
          </a:p>
          <a:p>
            <a:pPr marL="457200" lvl="1" indent="0">
              <a:lnSpc>
                <a:spcPct val="120000"/>
              </a:lnSpc>
              <a:buNone/>
            </a:pPr>
            <a:endParaRPr lang="en-US" sz="2813" dirty="0">
              <a:latin typeface="Whitney-Book" pitchFamily="50" charset="0"/>
              <a:cs typeface="Whitney-Book" pitchFamily="50" charset="0"/>
            </a:endParaRPr>
          </a:p>
          <a:p>
            <a:pPr>
              <a:lnSpc>
                <a:spcPct val="120000"/>
              </a:lnSpc>
            </a:pPr>
            <a:r>
              <a:rPr lang="en-US" sz="2813" dirty="0">
                <a:solidFill>
                  <a:schemeClr val="bg1">
                    <a:lumMod val="85000"/>
                  </a:schemeClr>
                </a:solidFill>
                <a:latin typeface="Whitney-Book" pitchFamily="50" charset="0"/>
                <a:cs typeface="Whitney-Book" pitchFamily="50" charset="0"/>
              </a:rPr>
              <a:t>Economics Fundamentals</a:t>
            </a:r>
          </a:p>
          <a:p>
            <a:pPr lvl="1">
              <a:lnSpc>
                <a:spcPct val="120000"/>
              </a:lnSpc>
            </a:pPr>
            <a:r>
              <a:rPr lang="en-US" sz="2800" dirty="0">
                <a:solidFill>
                  <a:schemeClr val="bg1">
                    <a:lumMod val="85000"/>
                  </a:schemeClr>
                </a:solidFill>
                <a:latin typeface="Whitney-Book" pitchFamily="50" charset="0"/>
                <a:cs typeface="Whitney-Book" pitchFamily="50" charset="0"/>
              </a:rPr>
              <a:t>Markets</a:t>
            </a:r>
          </a:p>
          <a:p>
            <a:pPr lvl="1">
              <a:lnSpc>
                <a:spcPct val="120000"/>
              </a:lnSpc>
            </a:pPr>
            <a:r>
              <a:rPr lang="en-US" sz="2800" dirty="0">
                <a:solidFill>
                  <a:schemeClr val="bg1">
                    <a:lumMod val="85000"/>
                  </a:schemeClr>
                </a:solidFill>
                <a:latin typeface="Whitney-Book" pitchFamily="50" charset="0"/>
                <a:cs typeface="Whitney-Book" pitchFamily="50" charset="0"/>
              </a:rPr>
              <a:t>Demand and Supply</a:t>
            </a:r>
          </a:p>
          <a:p>
            <a:pPr lvl="1">
              <a:lnSpc>
                <a:spcPct val="120000"/>
              </a:lnSpc>
            </a:pPr>
            <a:r>
              <a:rPr lang="en-US" sz="2800" b="1" dirty="0">
                <a:solidFill>
                  <a:schemeClr val="tx2"/>
                </a:solidFill>
                <a:latin typeface="Whitney-Book" pitchFamily="50" charset="0"/>
                <a:cs typeface="Whitney-Book" pitchFamily="50" charset="0"/>
              </a:rPr>
              <a:t>Equilibrium</a:t>
            </a:r>
          </a:p>
          <a:p>
            <a:pPr lvl="1"/>
            <a:endParaRPr lang="en-US" dirty="0"/>
          </a:p>
          <a:p>
            <a:pPr marL="457200" lvl="1" indent="0">
              <a:buNone/>
            </a:pPr>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BCC2442-FDA8-5948-842E-905882F2DF1B}"/>
              </a:ext>
            </a:extLst>
          </p:cNvPr>
          <p:cNvSpPr>
            <a:spLocks noGrp="1"/>
          </p:cNvSpPr>
          <p:nvPr>
            <p:ph type="sldNum" sz="quarter" idx="12"/>
          </p:nvPr>
        </p:nvSpPr>
        <p:spPr/>
        <p:txBody>
          <a:bodyPr/>
          <a:lstStyle/>
          <a:p>
            <a:fld id="{0F3206DB-9488-D04D-BDD1-A7C9D84C4579}" type="slidenum">
              <a:rPr lang="en-US" smtClean="0"/>
              <a:t>2</a:t>
            </a:fld>
            <a:endParaRPr lang="en-US"/>
          </a:p>
        </p:txBody>
      </p:sp>
    </p:spTree>
    <p:extLst>
      <p:ext uri="{BB962C8B-B14F-4D97-AF65-F5344CB8AC3E}">
        <p14:creationId xmlns:p14="http://schemas.microsoft.com/office/powerpoint/2010/main" val="1094148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51"/>
            <a:ext cx="8229600" cy="1143000"/>
          </a:xfrm>
        </p:spPr>
        <p:txBody>
          <a:bodyPr/>
          <a:lstStyle/>
          <a:p>
            <a:r>
              <a:rPr lang="en-US" noProof="0" dirty="0"/>
              <a:t>The market mechanism</a:t>
            </a:r>
          </a:p>
        </p:txBody>
      </p:sp>
      <p:sp>
        <p:nvSpPr>
          <p:cNvPr id="7" name="Content Placeholder 4"/>
          <p:cNvSpPr txBox="1">
            <a:spLocks/>
          </p:cNvSpPr>
          <p:nvPr/>
        </p:nvSpPr>
        <p:spPr>
          <a:xfrm>
            <a:off x="1" y="1558547"/>
            <a:ext cx="3387506" cy="5065942"/>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600" i="1" dirty="0">
                <a:solidFill>
                  <a:srgbClr val="C00000"/>
                </a:solidFill>
              </a:rPr>
              <a:t>Market equilibrium:</a:t>
            </a:r>
            <a:r>
              <a:rPr lang="en-US" sz="2600" dirty="0"/>
              <a:t> where supply and demand intersect, at price </a:t>
            </a:r>
            <a:r>
              <a:rPr lang="en-US" sz="2600" i="1" dirty="0"/>
              <a:t>P</a:t>
            </a:r>
            <a:r>
              <a:rPr lang="en-US" sz="2600" i="1" baseline="-25000" dirty="0"/>
              <a:t>0</a:t>
            </a:r>
            <a:r>
              <a:rPr lang="en-US" sz="2600" dirty="0"/>
              <a:t> and quantity </a:t>
            </a:r>
            <a:r>
              <a:rPr lang="en-US" sz="2600" i="1" dirty="0"/>
              <a:t>Q</a:t>
            </a:r>
            <a:r>
              <a:rPr lang="en-US" sz="2600" i="1" baseline="-25000" dirty="0"/>
              <a:t>0</a:t>
            </a:r>
            <a:r>
              <a:rPr lang="en-US" sz="2600" dirty="0"/>
              <a:t> </a:t>
            </a:r>
          </a:p>
          <a:p>
            <a:pPr marL="0" indent="0">
              <a:buNone/>
            </a:pPr>
            <a:endParaRPr lang="en-US" dirty="0"/>
          </a:p>
          <a:p>
            <a:r>
              <a:rPr lang="en-US" sz="2600" dirty="0"/>
              <a:t>At a higher price </a:t>
            </a:r>
            <a:r>
              <a:rPr lang="en-US" sz="2600" i="1" dirty="0"/>
              <a:t>P</a:t>
            </a:r>
            <a:r>
              <a:rPr lang="en-US" sz="2600" i="1" baseline="-25000" dirty="0"/>
              <a:t>1</a:t>
            </a:r>
            <a:r>
              <a:rPr lang="en-US" sz="2600" dirty="0"/>
              <a:t>, there is </a:t>
            </a:r>
            <a:r>
              <a:rPr lang="en-US" sz="2600" i="1" dirty="0">
                <a:solidFill>
                  <a:srgbClr val="0070C0"/>
                </a:solidFill>
              </a:rPr>
              <a:t>excess supply</a:t>
            </a:r>
            <a:r>
              <a:rPr lang="en-US" sz="2600" dirty="0"/>
              <a:t>, so the price falls </a:t>
            </a:r>
          </a:p>
          <a:p>
            <a:pPr marL="0" indent="0">
              <a:buNone/>
            </a:pPr>
            <a:endParaRPr lang="en-US" sz="2600" dirty="0"/>
          </a:p>
          <a:p>
            <a:r>
              <a:rPr lang="en-US" sz="2600" dirty="0"/>
              <a:t>At a lower price </a:t>
            </a:r>
            <a:r>
              <a:rPr lang="en-US" sz="2600" i="1" dirty="0"/>
              <a:t>P</a:t>
            </a:r>
            <a:r>
              <a:rPr lang="en-US" sz="2600" i="1" baseline="-25000" dirty="0"/>
              <a:t>2,</a:t>
            </a:r>
            <a:r>
              <a:rPr lang="en-US" sz="2600" dirty="0"/>
              <a:t> there is </a:t>
            </a:r>
            <a:r>
              <a:rPr lang="en-US" sz="2600" i="1" dirty="0">
                <a:solidFill>
                  <a:srgbClr val="FFC000"/>
                </a:solidFill>
              </a:rPr>
              <a:t>excess demand</a:t>
            </a:r>
            <a:r>
              <a:rPr lang="en-US" sz="2600" dirty="0"/>
              <a:t>, so the price is bid up</a:t>
            </a:r>
          </a:p>
        </p:txBody>
      </p:sp>
      <p:grpSp>
        <p:nvGrpSpPr>
          <p:cNvPr id="29" name="Group 3"/>
          <p:cNvGrpSpPr>
            <a:grpSpLocks/>
          </p:cNvGrpSpPr>
          <p:nvPr/>
        </p:nvGrpSpPr>
        <p:grpSpPr bwMode="auto">
          <a:xfrm>
            <a:off x="4964114" y="2494122"/>
            <a:ext cx="3126496" cy="3477060"/>
            <a:chOff x="2488" y="1648"/>
            <a:chExt cx="1872" cy="2080"/>
          </a:xfrm>
        </p:grpSpPr>
        <p:sp>
          <p:nvSpPr>
            <p:cNvPr id="30" name="Line 4"/>
            <p:cNvSpPr>
              <a:spLocks noChangeShapeType="1"/>
            </p:cNvSpPr>
            <p:nvPr/>
          </p:nvSpPr>
          <p:spPr bwMode="auto">
            <a:xfrm>
              <a:off x="2488" y="1648"/>
              <a:ext cx="1488" cy="1816"/>
            </a:xfrm>
            <a:prstGeom prst="line">
              <a:avLst/>
            </a:prstGeom>
            <a:noFill/>
            <a:ln w="50800">
              <a:solidFill>
                <a:srgbClr val="FFC000"/>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1" name="Rectangle 5"/>
            <p:cNvSpPr>
              <a:spLocks noChangeArrowheads="1"/>
            </p:cNvSpPr>
            <p:nvPr/>
          </p:nvSpPr>
          <p:spPr bwMode="auto">
            <a:xfrm>
              <a:off x="3896" y="3352"/>
              <a:ext cx="464"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D</a:t>
              </a:r>
            </a:p>
          </p:txBody>
        </p:sp>
      </p:grpSp>
      <p:grpSp>
        <p:nvGrpSpPr>
          <p:cNvPr id="32" name="Group 7"/>
          <p:cNvGrpSpPr>
            <a:grpSpLocks/>
          </p:cNvGrpSpPr>
          <p:nvPr/>
        </p:nvGrpSpPr>
        <p:grpSpPr bwMode="auto">
          <a:xfrm>
            <a:off x="5004198" y="2032743"/>
            <a:ext cx="2926080" cy="3363387"/>
            <a:chOff x="2512" y="1372"/>
            <a:chExt cx="1752" cy="2012"/>
          </a:xfrm>
        </p:grpSpPr>
        <p:sp>
          <p:nvSpPr>
            <p:cNvPr id="33" name="Line 8"/>
            <p:cNvSpPr>
              <a:spLocks noChangeShapeType="1"/>
            </p:cNvSpPr>
            <p:nvPr/>
          </p:nvSpPr>
          <p:spPr bwMode="auto">
            <a:xfrm flipV="1">
              <a:off x="2512" y="1612"/>
              <a:ext cx="1464" cy="1772"/>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4" name="Rectangle 10"/>
            <p:cNvSpPr>
              <a:spLocks noChangeArrowheads="1"/>
            </p:cNvSpPr>
            <p:nvPr/>
          </p:nvSpPr>
          <p:spPr bwMode="auto">
            <a:xfrm>
              <a:off x="3976" y="1372"/>
              <a:ext cx="288" cy="240"/>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outerShdw blurRad="38100" dist="38100" dir="2700000" sx="2000" sy="2000" algn="tl">
                      <a:srgbClr val="000000"/>
                    </a:outerShdw>
                  </a:effectLst>
                  <a:uLnTx/>
                  <a:uFillTx/>
                  <a:latin typeface="Times New Roman" pitchFamily="18" charset="0"/>
                  <a:ea typeface="+mn-ea"/>
                  <a:cs typeface="Times New Roman" pitchFamily="18" charset="0"/>
                </a:rPr>
                <a:t>S</a:t>
              </a:r>
            </a:p>
          </p:txBody>
        </p:sp>
      </p:grpSp>
      <p:grpSp>
        <p:nvGrpSpPr>
          <p:cNvPr id="35" name="Group 11"/>
          <p:cNvGrpSpPr>
            <a:grpSpLocks/>
          </p:cNvGrpSpPr>
          <p:nvPr/>
        </p:nvGrpSpPr>
        <p:grpSpPr bwMode="auto">
          <a:xfrm>
            <a:off x="3440950" y="2627854"/>
            <a:ext cx="3607496" cy="628546"/>
            <a:chOff x="1576" y="1728"/>
            <a:chExt cx="2160" cy="376"/>
          </a:xfrm>
        </p:grpSpPr>
        <p:sp>
          <p:nvSpPr>
            <p:cNvPr id="36" name="Line 12"/>
            <p:cNvSpPr>
              <a:spLocks noChangeShapeType="1"/>
            </p:cNvSpPr>
            <p:nvPr/>
          </p:nvSpPr>
          <p:spPr bwMode="auto">
            <a:xfrm>
              <a:off x="2008" y="1900"/>
              <a:ext cx="1728"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7" name="Rectangle 13"/>
            <p:cNvSpPr>
              <a:spLocks noChangeArrowheads="1"/>
            </p:cNvSpPr>
            <p:nvPr/>
          </p:nvSpPr>
          <p:spPr bwMode="auto">
            <a:xfrm>
              <a:off x="1576" y="1728"/>
              <a:ext cx="408"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sp>
        <p:nvSpPr>
          <p:cNvPr id="38" name="Line 14"/>
          <p:cNvSpPr>
            <a:spLocks noChangeShapeType="1"/>
          </p:cNvSpPr>
          <p:nvPr/>
        </p:nvSpPr>
        <p:spPr bwMode="auto">
          <a:xfrm>
            <a:off x="5284782" y="2915381"/>
            <a:ext cx="1793727" cy="0"/>
          </a:xfrm>
          <a:prstGeom prst="line">
            <a:avLst/>
          </a:prstGeom>
          <a:noFill/>
          <a:ln w="25400">
            <a:solidFill>
              <a:schemeClr val="tx2">
                <a:lumMod val="60000"/>
                <a:lumOff val="40000"/>
              </a:schemeClr>
            </a:solidFill>
            <a:round/>
            <a:headEnd type="stealth" w="med" len="lg"/>
            <a:tailEnd type="stealth" w="med" len="lg"/>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9" name="Rectangle 15"/>
          <p:cNvSpPr>
            <a:spLocks noChangeArrowheads="1"/>
          </p:cNvSpPr>
          <p:nvPr/>
        </p:nvSpPr>
        <p:spPr bwMode="auto">
          <a:xfrm>
            <a:off x="5304291" y="2523600"/>
            <a:ext cx="1777810" cy="433520"/>
          </a:xfrm>
          <a:prstGeom prst="rect">
            <a:avLst/>
          </a:prstGeom>
          <a:noFill/>
          <a:ln w="12700">
            <a:noFill/>
            <a:miter lim="800000"/>
            <a:headEnd/>
            <a:tailEnd/>
          </a:ln>
          <a:effectLst/>
        </p:spPr>
        <p:txBody>
          <a:bodyPr wrap="none" lIns="20048" tIns="28402" rIns="20048" bIns="28402"/>
          <a:lstStyle/>
          <a:p>
            <a:pPr marL="0" marR="0" lvl="0" indent="0" algn="ctr" defTabSz="914400" rtl="0" eaLnBrk="1" fontAlgn="base" latinLnBrk="0" hangingPunct="1">
              <a:lnSpc>
                <a:spcPts val="2736"/>
              </a:lnSpc>
              <a:spcBef>
                <a:spcPct val="0"/>
              </a:spcBef>
              <a:spcAft>
                <a:spcPts val="947"/>
              </a:spcAft>
              <a:buClrTx/>
              <a:buSzTx/>
              <a:buFontTx/>
              <a:buNone/>
              <a:tabLst>
                <a:tab pos="481157" algn="l"/>
                <a:tab pos="962315" algn="l"/>
                <a:tab pos="1443472" algn="l"/>
              </a:tabLst>
              <a:defRPr/>
            </a:pPr>
            <a:r>
              <a:rPr kumimoji="0" lang="en-US" sz="2300" b="0" i="0" u="none" strike="noStrike" kern="1200" cap="none" spc="0" normalizeH="0" baseline="0" noProof="0" dirty="0">
                <a:ln>
                  <a:noFill/>
                </a:ln>
                <a:solidFill>
                  <a:srgbClr val="0070C0"/>
                </a:solidFill>
                <a:effectLst/>
                <a:uLnTx/>
                <a:uFillTx/>
                <a:latin typeface="Times New Roman" pitchFamily="18" charset="0"/>
                <a:ea typeface="+mn-ea"/>
                <a:cs typeface="Times New Roman" pitchFamily="18" charset="0"/>
              </a:rPr>
              <a:t>Excess supply</a:t>
            </a:r>
          </a:p>
        </p:txBody>
      </p:sp>
      <p:grpSp>
        <p:nvGrpSpPr>
          <p:cNvPr id="40" name="Group 16"/>
          <p:cNvGrpSpPr>
            <a:grpSpLocks/>
          </p:cNvGrpSpPr>
          <p:nvPr/>
        </p:nvGrpSpPr>
        <p:grpSpPr bwMode="auto">
          <a:xfrm>
            <a:off x="3427589" y="4673971"/>
            <a:ext cx="3500607" cy="628546"/>
            <a:chOff x="1568" y="2952"/>
            <a:chExt cx="2096" cy="376"/>
          </a:xfrm>
        </p:grpSpPr>
        <p:sp>
          <p:nvSpPr>
            <p:cNvPr id="41" name="Line 17"/>
            <p:cNvSpPr>
              <a:spLocks noChangeShapeType="1"/>
            </p:cNvSpPr>
            <p:nvPr/>
          </p:nvSpPr>
          <p:spPr bwMode="auto">
            <a:xfrm>
              <a:off x="2016" y="3088"/>
              <a:ext cx="1648"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2" name="Rectangle 18"/>
            <p:cNvSpPr>
              <a:spLocks noChangeArrowheads="1"/>
            </p:cNvSpPr>
            <p:nvPr/>
          </p:nvSpPr>
          <p:spPr bwMode="auto">
            <a:xfrm>
              <a:off x="1568" y="2952"/>
              <a:ext cx="400"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2</a:t>
              </a:r>
            </a:p>
          </p:txBody>
        </p:sp>
      </p:grpSp>
      <p:sp>
        <p:nvSpPr>
          <p:cNvPr id="43" name="Line 20"/>
          <p:cNvSpPr>
            <a:spLocks noChangeShapeType="1"/>
          </p:cNvSpPr>
          <p:nvPr/>
        </p:nvSpPr>
        <p:spPr bwMode="auto">
          <a:xfrm>
            <a:off x="4162449" y="2032742"/>
            <a:ext cx="0" cy="4092233"/>
          </a:xfrm>
          <a:prstGeom prst="line">
            <a:avLst/>
          </a:prstGeom>
          <a:noFill/>
          <a:ln w="38100">
            <a:solidFill>
              <a:srgbClr val="002B56"/>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4" name="Line 21"/>
          <p:cNvSpPr>
            <a:spLocks noChangeShapeType="1"/>
          </p:cNvSpPr>
          <p:nvPr/>
        </p:nvSpPr>
        <p:spPr bwMode="auto">
          <a:xfrm>
            <a:off x="4175810" y="6104915"/>
            <a:ext cx="4796633" cy="0"/>
          </a:xfrm>
          <a:prstGeom prst="line">
            <a:avLst/>
          </a:prstGeom>
          <a:noFill/>
          <a:ln w="38100">
            <a:solidFill>
              <a:srgbClr val="002B56"/>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5" name="Rectangle 22"/>
          <p:cNvSpPr>
            <a:spLocks noChangeArrowheads="1"/>
          </p:cNvSpPr>
          <p:nvPr/>
        </p:nvSpPr>
        <p:spPr bwMode="auto">
          <a:xfrm>
            <a:off x="3420908" y="1558547"/>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46" name="Line 24"/>
          <p:cNvSpPr>
            <a:spLocks noChangeShapeType="1"/>
          </p:cNvSpPr>
          <p:nvPr/>
        </p:nvSpPr>
        <p:spPr bwMode="auto">
          <a:xfrm>
            <a:off x="5384989" y="4901318"/>
            <a:ext cx="1603332" cy="3343"/>
          </a:xfrm>
          <a:prstGeom prst="line">
            <a:avLst/>
          </a:prstGeom>
          <a:noFill/>
          <a:ln w="25400">
            <a:solidFill>
              <a:srgbClr val="FFC000"/>
            </a:solidFill>
            <a:round/>
            <a:headEnd type="stealth" w="med" len="lg"/>
            <a:tailEnd type="stealth" w="med" len="lg"/>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7" name="Rectangle 35"/>
          <p:cNvSpPr>
            <a:spLocks noChangeArrowheads="1"/>
          </p:cNvSpPr>
          <p:nvPr/>
        </p:nvSpPr>
        <p:spPr bwMode="auto">
          <a:xfrm>
            <a:off x="7703140" y="6140020"/>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grpSp>
        <p:nvGrpSpPr>
          <p:cNvPr id="48" name="Group 47"/>
          <p:cNvGrpSpPr/>
          <p:nvPr/>
        </p:nvGrpSpPr>
        <p:grpSpPr>
          <a:xfrm>
            <a:off x="3440950" y="3764585"/>
            <a:ext cx="2725664" cy="628546"/>
            <a:chOff x="3898151" y="4052110"/>
            <a:chExt cx="2725664" cy="628546"/>
          </a:xfrm>
        </p:grpSpPr>
        <p:sp>
          <p:nvSpPr>
            <p:cNvPr id="49" name="Line 17"/>
            <p:cNvSpPr>
              <a:spLocks noChangeShapeType="1"/>
            </p:cNvSpPr>
            <p:nvPr/>
          </p:nvSpPr>
          <p:spPr bwMode="auto">
            <a:xfrm>
              <a:off x="4633011" y="4287709"/>
              <a:ext cx="1990804"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50" name="Rectangle 18"/>
            <p:cNvSpPr>
              <a:spLocks noChangeArrowheads="1"/>
            </p:cNvSpPr>
            <p:nvPr/>
          </p:nvSpPr>
          <p:spPr bwMode="auto">
            <a:xfrm>
              <a:off x="3898151" y="4052110"/>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sp>
        <p:nvSpPr>
          <p:cNvPr id="51" name="Rectangle 50"/>
          <p:cNvSpPr>
            <a:spLocks noChangeArrowheads="1"/>
          </p:cNvSpPr>
          <p:nvPr/>
        </p:nvSpPr>
        <p:spPr bwMode="auto">
          <a:xfrm>
            <a:off x="5591623" y="4852966"/>
            <a:ext cx="1342790" cy="361078"/>
          </a:xfrm>
          <a:prstGeom prst="rect">
            <a:avLst/>
          </a:prstGeom>
          <a:noFill/>
          <a:ln w="12700">
            <a:noFill/>
            <a:miter lim="800000"/>
            <a:headEnd/>
            <a:tailEnd/>
          </a:ln>
          <a:effectLst/>
        </p:spPr>
        <p:txBody>
          <a:bodyPr wrap="none" lIns="20048" tIns="28402" rIns="20048" bIns="28402"/>
          <a:lstStyle/>
          <a:p>
            <a:pPr marL="0" marR="0" lvl="0" indent="0" algn="ctr" defTabSz="914400" rtl="0" eaLnBrk="1" fontAlgn="base" latinLnBrk="0" hangingPunct="1">
              <a:lnSpc>
                <a:spcPts val="2526"/>
              </a:lnSpc>
              <a:spcBef>
                <a:spcPct val="0"/>
              </a:spcBef>
              <a:spcAft>
                <a:spcPts val="947"/>
              </a:spcAft>
              <a:buClrTx/>
              <a:buSzTx/>
              <a:buFontTx/>
              <a:buNone/>
              <a:tabLst>
                <a:tab pos="481157" algn="l"/>
                <a:tab pos="962315" algn="l"/>
                <a:tab pos="1443472" algn="l"/>
              </a:tabLst>
              <a:defRPr/>
            </a:pPr>
            <a:r>
              <a:rPr kumimoji="0" lang="en-US" sz="2100" b="0"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Excess demand </a:t>
            </a:r>
          </a:p>
        </p:txBody>
      </p:sp>
      <p:grpSp>
        <p:nvGrpSpPr>
          <p:cNvPr id="52" name="Group 51"/>
          <p:cNvGrpSpPr/>
          <p:nvPr/>
        </p:nvGrpSpPr>
        <p:grpSpPr>
          <a:xfrm>
            <a:off x="5822564" y="4000183"/>
            <a:ext cx="668055" cy="2733277"/>
            <a:chOff x="6279765" y="4287708"/>
            <a:chExt cx="668055" cy="2733277"/>
          </a:xfrm>
        </p:grpSpPr>
        <p:sp>
          <p:nvSpPr>
            <p:cNvPr id="53" name="Line 17"/>
            <p:cNvSpPr>
              <a:spLocks noChangeShapeType="1"/>
            </p:cNvSpPr>
            <p:nvPr/>
          </p:nvSpPr>
          <p:spPr bwMode="auto">
            <a:xfrm flipV="1">
              <a:off x="6613793" y="4287708"/>
              <a:ext cx="13544" cy="2104731"/>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ahoma" pitchFamily="124" charset="0"/>
                <a:ea typeface="+mn-ea"/>
                <a:cs typeface="+mn-cs"/>
              </a:endParaRPr>
            </a:p>
          </p:txBody>
        </p:sp>
        <p:sp>
          <p:nvSpPr>
            <p:cNvPr id="54" name="Rectangle 18"/>
            <p:cNvSpPr>
              <a:spLocks noChangeArrowheads="1"/>
            </p:cNvSpPr>
            <p:nvPr/>
          </p:nvSpPr>
          <p:spPr bwMode="auto">
            <a:xfrm>
              <a:off x="6279765"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sp>
        <p:nvSpPr>
          <p:cNvPr id="2" name="Slide Number Placeholder 1">
            <a:extLst>
              <a:ext uri="{FF2B5EF4-FFF2-40B4-BE49-F238E27FC236}">
                <a16:creationId xmlns:a16="http://schemas.microsoft.com/office/drawing/2014/main" id="{33B04BC2-0A5D-3E44-9700-A92074ACCC4C}"/>
              </a:ext>
            </a:extLst>
          </p:cNvPr>
          <p:cNvSpPr>
            <a:spLocks noGrp="1"/>
          </p:cNvSpPr>
          <p:nvPr>
            <p:ph type="sldNum" sz="quarter" idx="12"/>
          </p:nvPr>
        </p:nvSpPr>
        <p:spPr/>
        <p:txBody>
          <a:bodyPr/>
          <a:lstStyle/>
          <a:p>
            <a:fld id="{0F3206DB-9488-D04D-BDD1-A7C9D84C4579}" type="slidenum">
              <a:rPr lang="en-US" smtClean="0"/>
              <a:pPr/>
              <a:t>3</a:t>
            </a:fld>
            <a:endParaRPr lang="en-US" dirty="0"/>
          </a:p>
        </p:txBody>
      </p:sp>
    </p:spTree>
    <p:extLst>
      <p:ext uri="{BB962C8B-B14F-4D97-AF65-F5344CB8AC3E}">
        <p14:creationId xmlns:p14="http://schemas.microsoft.com/office/powerpoint/2010/main" val="6092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up)">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wipe(left)">
                                      <p:cBhvr>
                                        <p:cTn id="33" dur="500"/>
                                        <p:tgtEl>
                                          <p:spTgt spid="35"/>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box(out)">
                                      <p:cBhvr>
                                        <p:cTn id="38" dur="500"/>
                                        <p:tgtEl>
                                          <p:spTgt spid="38"/>
                                        </p:tgtEl>
                                      </p:cBhvr>
                                    </p:animEffect>
                                  </p:childTnLst>
                                </p:cTn>
                              </p:par>
                            </p:childTnLst>
                          </p:cTn>
                        </p:par>
                        <p:par>
                          <p:cTn id="39" fill="hold">
                            <p:stCondLst>
                              <p:cond delay="500"/>
                            </p:stCondLst>
                            <p:childTnLst>
                              <p:par>
                                <p:cTn id="40" presetID="4" presetClass="entr" presetSubtype="32" fill="hold" grpId="0"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box(out)">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wipe(left)">
                                      <p:cBhvr>
                                        <p:cTn id="51" dur="500"/>
                                        <p:tgtEl>
                                          <p:spTgt spid="40"/>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box(out)">
                                      <p:cBhvr>
                                        <p:cTn id="56" dur="500"/>
                                        <p:tgtEl>
                                          <p:spTgt spid="46"/>
                                        </p:tgtEl>
                                      </p:cBhvr>
                                    </p:animEffect>
                                  </p:childTnLst>
                                </p:cTn>
                              </p:par>
                            </p:childTnLst>
                          </p:cTn>
                        </p:par>
                        <p:par>
                          <p:cTn id="57" fill="hold">
                            <p:stCondLst>
                              <p:cond delay="500"/>
                            </p:stCondLst>
                            <p:childTnLst>
                              <p:par>
                                <p:cTn id="58" presetID="4" presetClass="entr" presetSubtype="32" fill="hold" grpId="0" nodeType="after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box(out)">
                                      <p:cBhvr>
                                        <p:cTn id="6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46" grpId="0" animBg="1"/>
      <p:bldP spid="51"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947"/>
            <a:ext cx="8229600" cy="1143000"/>
          </a:xfrm>
        </p:spPr>
        <p:txBody>
          <a:bodyPr/>
          <a:lstStyle/>
          <a:p>
            <a:r>
              <a:rPr lang="en-US" noProof="0" dirty="0"/>
              <a:t>Summary of Terminology</a:t>
            </a:r>
          </a:p>
        </p:txBody>
      </p:sp>
      <p:sp>
        <p:nvSpPr>
          <p:cNvPr id="3" name="Content Placeholder 2"/>
          <p:cNvSpPr>
            <a:spLocks noGrp="1"/>
          </p:cNvSpPr>
          <p:nvPr>
            <p:ph idx="1"/>
          </p:nvPr>
        </p:nvSpPr>
        <p:spPr>
          <a:xfrm>
            <a:off x="457200" y="962354"/>
            <a:ext cx="8229600" cy="5763126"/>
          </a:xfrm>
        </p:spPr>
        <p:txBody>
          <a:bodyPr>
            <a:normAutofit fontScale="62500" lnSpcReduction="20000"/>
          </a:bodyPr>
          <a:lstStyle/>
          <a:p>
            <a:pPr>
              <a:lnSpc>
                <a:spcPct val="120000"/>
              </a:lnSpc>
            </a:pPr>
            <a:r>
              <a:rPr lang="en-US" sz="3800" b="1" noProof="0" dirty="0">
                <a:latin typeface="Whitney-Book" pitchFamily="50" charset="0"/>
                <a:cs typeface="Whitney-Book" pitchFamily="50" charset="0"/>
              </a:rPr>
              <a:t>Equilibrium (or market clearing) price:</a:t>
            </a:r>
          </a:p>
          <a:p>
            <a:pPr lvl="1">
              <a:lnSpc>
                <a:spcPct val="120000"/>
              </a:lnSpc>
            </a:pPr>
            <a:r>
              <a:rPr lang="en-US" sz="3500" noProof="0" dirty="0">
                <a:latin typeface="Whitney-Book" pitchFamily="50" charset="0"/>
                <a:cs typeface="Whitney-Book" pitchFamily="50" charset="0"/>
              </a:rPr>
              <a:t>Price that equates the quantity supplied to the quantity demanded</a:t>
            </a:r>
          </a:p>
          <a:p>
            <a:pPr>
              <a:lnSpc>
                <a:spcPct val="120000"/>
              </a:lnSpc>
            </a:pPr>
            <a:endParaRPr lang="en-US" sz="2900" noProof="0" dirty="0">
              <a:latin typeface="Whitney-Book" pitchFamily="50" charset="0"/>
              <a:cs typeface="Whitney-Book" pitchFamily="50" charset="0"/>
            </a:endParaRPr>
          </a:p>
          <a:p>
            <a:pPr>
              <a:lnSpc>
                <a:spcPct val="120000"/>
              </a:lnSpc>
            </a:pPr>
            <a:r>
              <a:rPr lang="en-US" sz="3800" b="1" noProof="0" dirty="0">
                <a:latin typeface="Whitney-Book" pitchFamily="50" charset="0"/>
                <a:cs typeface="Whitney-Book" pitchFamily="50" charset="0"/>
              </a:rPr>
              <a:t>Market mechanism:</a:t>
            </a:r>
          </a:p>
          <a:p>
            <a:pPr lvl="1">
              <a:lnSpc>
                <a:spcPct val="120000"/>
              </a:lnSpc>
            </a:pPr>
            <a:r>
              <a:rPr lang="en-US" sz="3500" noProof="0" dirty="0">
                <a:latin typeface="Whitney-Book" pitchFamily="50" charset="0"/>
                <a:cs typeface="Whitney-Book" pitchFamily="50" charset="0"/>
              </a:rPr>
              <a:t>Tendency in a free market for price to change until the market clears</a:t>
            </a:r>
          </a:p>
          <a:p>
            <a:pPr>
              <a:lnSpc>
                <a:spcPct val="120000"/>
              </a:lnSpc>
            </a:pPr>
            <a:endParaRPr lang="en-US" sz="2900" noProof="0" dirty="0">
              <a:latin typeface="Whitney-Book" pitchFamily="50" charset="0"/>
              <a:cs typeface="Whitney-Book" pitchFamily="50" charset="0"/>
            </a:endParaRPr>
          </a:p>
          <a:p>
            <a:pPr>
              <a:lnSpc>
                <a:spcPct val="120000"/>
              </a:lnSpc>
            </a:pPr>
            <a:r>
              <a:rPr lang="en-US" sz="3800" b="1" noProof="0" dirty="0">
                <a:latin typeface="Whitney-Book" pitchFamily="50" charset="0"/>
                <a:cs typeface="Whitney-Book" pitchFamily="50" charset="0"/>
              </a:rPr>
              <a:t>Excess Supply:</a:t>
            </a:r>
          </a:p>
          <a:p>
            <a:pPr lvl="1">
              <a:lnSpc>
                <a:spcPct val="120000"/>
              </a:lnSpc>
            </a:pPr>
            <a:r>
              <a:rPr lang="en-US" sz="3500" noProof="0" dirty="0">
                <a:latin typeface="Whitney-Book" pitchFamily="50" charset="0"/>
                <a:cs typeface="Whitney-Book" pitchFamily="50" charset="0"/>
              </a:rPr>
              <a:t>Situation in which the quantity supplied exceeds the quantity demanded</a:t>
            </a:r>
          </a:p>
          <a:p>
            <a:pPr>
              <a:lnSpc>
                <a:spcPct val="120000"/>
              </a:lnSpc>
            </a:pPr>
            <a:endParaRPr lang="en-US" sz="2900" noProof="0" dirty="0">
              <a:latin typeface="Whitney-Book" pitchFamily="50" charset="0"/>
              <a:cs typeface="Whitney-Book" pitchFamily="50" charset="0"/>
            </a:endParaRPr>
          </a:p>
          <a:p>
            <a:pPr>
              <a:lnSpc>
                <a:spcPct val="120000"/>
              </a:lnSpc>
            </a:pPr>
            <a:r>
              <a:rPr lang="en-US" sz="3800" b="1" noProof="0" dirty="0">
                <a:latin typeface="Whitney-Book" pitchFamily="50" charset="0"/>
                <a:cs typeface="Whitney-Book" pitchFamily="50" charset="0"/>
              </a:rPr>
              <a:t>Excess Demand (shortage): </a:t>
            </a:r>
          </a:p>
          <a:p>
            <a:pPr lvl="1">
              <a:lnSpc>
                <a:spcPct val="120000"/>
              </a:lnSpc>
            </a:pPr>
            <a:r>
              <a:rPr lang="en-US" sz="3500" noProof="0" dirty="0">
                <a:latin typeface="Whitney-Book" pitchFamily="50" charset="0"/>
                <a:cs typeface="Whitney-Book" pitchFamily="50" charset="0"/>
              </a:rPr>
              <a:t>Situation in which the quantity demanded exceeds the quantity supplied</a:t>
            </a:r>
          </a:p>
          <a:p>
            <a:pPr lvl="1"/>
            <a:endParaRPr lang="en-US" noProof="0" dirty="0"/>
          </a:p>
          <a:p>
            <a:pPr marL="457200" lvl="1" indent="0">
              <a:buNone/>
            </a:pPr>
            <a:endParaRPr lang="en-US" noProof="0" dirty="0"/>
          </a:p>
          <a:p>
            <a:pPr lvl="1"/>
            <a:endParaRPr lang="en-US" noProof="0" dirty="0"/>
          </a:p>
          <a:p>
            <a:endParaRPr lang="en-US" noProof="0" dirty="0"/>
          </a:p>
        </p:txBody>
      </p:sp>
      <p:sp>
        <p:nvSpPr>
          <p:cNvPr id="4" name="Slide Number Placeholder 3">
            <a:extLst>
              <a:ext uri="{FF2B5EF4-FFF2-40B4-BE49-F238E27FC236}">
                <a16:creationId xmlns:a16="http://schemas.microsoft.com/office/drawing/2014/main" id="{1E087291-A11A-2248-9B5C-FCA7AA32D8D1}"/>
              </a:ext>
            </a:extLst>
          </p:cNvPr>
          <p:cNvSpPr>
            <a:spLocks noGrp="1"/>
          </p:cNvSpPr>
          <p:nvPr>
            <p:ph type="sldNum" sz="quarter" idx="12"/>
          </p:nvPr>
        </p:nvSpPr>
        <p:spPr/>
        <p:txBody>
          <a:bodyPr/>
          <a:lstStyle/>
          <a:p>
            <a:fld id="{0F3206DB-9488-D04D-BDD1-A7C9D84C4579}" type="slidenum">
              <a:rPr lang="en-US" smtClean="0"/>
              <a:t>4</a:t>
            </a:fld>
            <a:endParaRPr lang="en-US"/>
          </a:p>
        </p:txBody>
      </p:sp>
    </p:spTree>
    <p:extLst>
      <p:ext uri="{BB962C8B-B14F-4D97-AF65-F5344CB8AC3E}">
        <p14:creationId xmlns:p14="http://schemas.microsoft.com/office/powerpoint/2010/main" val="921310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215"/>
            <a:ext cx="8229600" cy="760774"/>
          </a:xfrm>
        </p:spPr>
        <p:txBody>
          <a:bodyPr/>
          <a:lstStyle/>
          <a:p>
            <a:r>
              <a:rPr lang="en-US" noProof="0" dirty="0"/>
              <a:t>Changes in market equilibrium</a:t>
            </a:r>
          </a:p>
        </p:txBody>
      </p:sp>
      <p:sp>
        <p:nvSpPr>
          <p:cNvPr id="4" name="Content Placeholder 4"/>
          <p:cNvSpPr txBox="1">
            <a:spLocks/>
          </p:cNvSpPr>
          <p:nvPr/>
        </p:nvSpPr>
        <p:spPr>
          <a:xfrm>
            <a:off x="192654" y="1591061"/>
            <a:ext cx="2682894" cy="361839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spcBef>
                <a:spcPts val="300"/>
              </a:spcBef>
              <a:buClr>
                <a:schemeClr val="bg1"/>
              </a:buClr>
              <a:buNone/>
            </a:pPr>
            <a:r>
              <a:rPr lang="en-US" sz="2400" dirty="0">
                <a:solidFill>
                  <a:srgbClr val="002B56"/>
                </a:solidFill>
                <a:latin typeface="Whitney-Book" pitchFamily="50" charset="0"/>
                <a:cs typeface="Whitney-Book" pitchFamily="50" charset="0"/>
              </a:rPr>
              <a:t>When the demand curve shifts to the right, the market clears at a higher price </a:t>
            </a:r>
            <a:r>
              <a:rPr lang="en-US" sz="2400" i="1" dirty="0">
                <a:solidFill>
                  <a:srgbClr val="002B56"/>
                </a:solidFill>
                <a:latin typeface="Whitney-Book" pitchFamily="50" charset="0"/>
                <a:cs typeface="Whitney-Book" pitchFamily="50" charset="0"/>
              </a:rPr>
              <a:t>P</a:t>
            </a:r>
            <a:r>
              <a:rPr lang="en-US" sz="2400" i="1" baseline="-25000" dirty="0">
                <a:solidFill>
                  <a:srgbClr val="002B56"/>
                </a:solidFill>
                <a:latin typeface="Whitney-Book" pitchFamily="50" charset="0"/>
                <a:cs typeface="Whitney-Book" pitchFamily="50" charset="0"/>
              </a:rPr>
              <a:t>1</a:t>
            </a:r>
            <a:r>
              <a:rPr lang="en-US" sz="2400" dirty="0">
                <a:solidFill>
                  <a:srgbClr val="002B56"/>
                </a:solidFill>
                <a:latin typeface="Whitney-Book" pitchFamily="50" charset="0"/>
                <a:cs typeface="Whitney-Book" pitchFamily="50" charset="0"/>
              </a:rPr>
              <a:t> and a larger quantity </a:t>
            </a:r>
            <a:r>
              <a:rPr lang="en-US" sz="2400" i="1" dirty="0">
                <a:solidFill>
                  <a:srgbClr val="002B56"/>
                </a:solidFill>
                <a:latin typeface="Whitney-Book" pitchFamily="50" charset="0"/>
                <a:cs typeface="Whitney-Book" pitchFamily="50" charset="0"/>
              </a:rPr>
              <a:t>Q</a:t>
            </a:r>
            <a:r>
              <a:rPr lang="en-US" sz="2400" i="1" baseline="-25000" dirty="0">
                <a:solidFill>
                  <a:srgbClr val="002B56"/>
                </a:solidFill>
                <a:latin typeface="Whitney-Book" pitchFamily="50" charset="0"/>
                <a:cs typeface="Whitney-Book" pitchFamily="50" charset="0"/>
              </a:rPr>
              <a:t>1</a:t>
            </a:r>
            <a:endParaRPr lang="en-US" sz="2400" i="1" dirty="0">
              <a:solidFill>
                <a:srgbClr val="002B56"/>
              </a:solidFill>
              <a:latin typeface="Whitney-Book" pitchFamily="50" charset="0"/>
              <a:cs typeface="Whitney-Book" pitchFamily="50" charset="0"/>
            </a:endParaRPr>
          </a:p>
        </p:txBody>
      </p:sp>
      <p:grpSp>
        <p:nvGrpSpPr>
          <p:cNvPr id="32" name="Group 3"/>
          <p:cNvGrpSpPr>
            <a:grpSpLocks/>
          </p:cNvGrpSpPr>
          <p:nvPr/>
        </p:nvGrpSpPr>
        <p:grpSpPr bwMode="auto">
          <a:xfrm>
            <a:off x="4671958" y="2467374"/>
            <a:ext cx="2999566" cy="3567330"/>
            <a:chOff x="2488" y="1648"/>
            <a:chExt cx="1796" cy="2134"/>
          </a:xfrm>
        </p:grpSpPr>
        <p:sp>
          <p:nvSpPr>
            <p:cNvPr id="33" name="Line 4"/>
            <p:cNvSpPr>
              <a:spLocks noChangeShapeType="1"/>
            </p:cNvSpPr>
            <p:nvPr/>
          </p:nvSpPr>
          <p:spPr bwMode="auto">
            <a:xfrm>
              <a:off x="2488" y="1648"/>
              <a:ext cx="1488" cy="1816"/>
            </a:xfrm>
            <a:prstGeom prst="line">
              <a:avLst/>
            </a:prstGeom>
            <a:noFill/>
            <a:ln w="50800">
              <a:solidFill>
                <a:srgbClr val="FFC000"/>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4" name="Rectangle 5"/>
            <p:cNvSpPr>
              <a:spLocks noChangeArrowheads="1"/>
            </p:cNvSpPr>
            <p:nvPr/>
          </p:nvSpPr>
          <p:spPr bwMode="auto">
            <a:xfrm>
              <a:off x="3820" y="3406"/>
              <a:ext cx="464"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D</a:t>
              </a:r>
            </a:p>
          </p:txBody>
        </p:sp>
      </p:grpSp>
      <p:grpSp>
        <p:nvGrpSpPr>
          <p:cNvPr id="35" name="Group 7"/>
          <p:cNvGrpSpPr>
            <a:grpSpLocks/>
          </p:cNvGrpSpPr>
          <p:nvPr/>
        </p:nvGrpSpPr>
        <p:grpSpPr bwMode="auto">
          <a:xfrm>
            <a:off x="4401394" y="1846072"/>
            <a:ext cx="2926080" cy="3363387"/>
            <a:chOff x="2512" y="1372"/>
            <a:chExt cx="1752" cy="2012"/>
          </a:xfrm>
        </p:grpSpPr>
        <p:sp>
          <p:nvSpPr>
            <p:cNvPr id="36" name="Line 8"/>
            <p:cNvSpPr>
              <a:spLocks noChangeShapeType="1"/>
            </p:cNvSpPr>
            <p:nvPr/>
          </p:nvSpPr>
          <p:spPr bwMode="auto">
            <a:xfrm flipV="1">
              <a:off x="2512" y="1612"/>
              <a:ext cx="1464" cy="1772"/>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7" name="Rectangle 10"/>
            <p:cNvSpPr>
              <a:spLocks noChangeArrowheads="1"/>
            </p:cNvSpPr>
            <p:nvPr/>
          </p:nvSpPr>
          <p:spPr bwMode="auto">
            <a:xfrm>
              <a:off x="3976" y="1372"/>
              <a:ext cx="288" cy="240"/>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outerShdw blurRad="38100" dist="38100" dir="2700000" sx="2000" sy="2000" algn="tl">
                      <a:srgbClr val="000000"/>
                    </a:outerShdw>
                  </a:effectLst>
                  <a:uLnTx/>
                  <a:uFillTx/>
                  <a:latin typeface="Times New Roman" pitchFamily="18" charset="0"/>
                  <a:ea typeface="+mn-ea"/>
                  <a:cs typeface="Times New Roman" pitchFamily="18" charset="0"/>
                </a:rPr>
                <a:t>S</a:t>
              </a:r>
            </a:p>
          </p:txBody>
        </p:sp>
      </p:grpSp>
      <p:sp>
        <p:nvSpPr>
          <p:cNvPr id="38" name="Line 20"/>
          <p:cNvSpPr>
            <a:spLocks noChangeShapeType="1"/>
          </p:cNvSpPr>
          <p:nvPr/>
        </p:nvSpPr>
        <p:spPr bwMode="auto">
          <a:xfrm>
            <a:off x="3870292" y="2005994"/>
            <a:ext cx="0" cy="4092233"/>
          </a:xfrm>
          <a:prstGeom prst="line">
            <a:avLst/>
          </a:prstGeom>
          <a:noFill/>
          <a:ln w="38100">
            <a:solidFill>
              <a:srgbClr val="002B56"/>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9" name="Line 21"/>
          <p:cNvSpPr>
            <a:spLocks noChangeShapeType="1"/>
          </p:cNvSpPr>
          <p:nvPr/>
        </p:nvSpPr>
        <p:spPr bwMode="auto">
          <a:xfrm>
            <a:off x="3883653" y="6078167"/>
            <a:ext cx="4796633" cy="0"/>
          </a:xfrm>
          <a:prstGeom prst="line">
            <a:avLst/>
          </a:prstGeom>
          <a:noFill/>
          <a:ln w="38100">
            <a:solidFill>
              <a:srgbClr val="002B56"/>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0" name="Rectangle 22"/>
          <p:cNvSpPr>
            <a:spLocks noChangeArrowheads="1"/>
          </p:cNvSpPr>
          <p:nvPr/>
        </p:nvSpPr>
        <p:spPr bwMode="auto">
          <a:xfrm>
            <a:off x="3128751" y="1531799"/>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41" name="Rectangle 35"/>
          <p:cNvSpPr>
            <a:spLocks noChangeArrowheads="1"/>
          </p:cNvSpPr>
          <p:nvPr/>
        </p:nvSpPr>
        <p:spPr bwMode="auto">
          <a:xfrm>
            <a:off x="7671524" y="6053981"/>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grpSp>
        <p:nvGrpSpPr>
          <p:cNvPr id="42" name="Group 41"/>
          <p:cNvGrpSpPr/>
          <p:nvPr/>
        </p:nvGrpSpPr>
        <p:grpSpPr>
          <a:xfrm>
            <a:off x="3188874" y="3434547"/>
            <a:ext cx="2448604" cy="628546"/>
            <a:chOff x="3898151" y="4052110"/>
            <a:chExt cx="2448604" cy="628546"/>
          </a:xfrm>
        </p:grpSpPr>
        <p:sp>
          <p:nvSpPr>
            <p:cNvPr id="43" name="Line 17"/>
            <p:cNvSpPr>
              <a:spLocks noChangeShapeType="1"/>
            </p:cNvSpPr>
            <p:nvPr/>
          </p:nvSpPr>
          <p:spPr bwMode="auto">
            <a:xfrm>
              <a:off x="4633011" y="4287709"/>
              <a:ext cx="1713744"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1"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4" name="Rectangle 18"/>
            <p:cNvSpPr>
              <a:spLocks noChangeArrowheads="1"/>
            </p:cNvSpPr>
            <p:nvPr/>
          </p:nvSpPr>
          <p:spPr bwMode="auto">
            <a:xfrm>
              <a:off x="3898151" y="4052110"/>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grpSp>
        <p:nvGrpSpPr>
          <p:cNvPr id="45" name="Group 44"/>
          <p:cNvGrpSpPr/>
          <p:nvPr/>
        </p:nvGrpSpPr>
        <p:grpSpPr>
          <a:xfrm>
            <a:off x="5289906" y="3670145"/>
            <a:ext cx="668055" cy="3012382"/>
            <a:chOff x="6279765" y="4008603"/>
            <a:chExt cx="668055" cy="3012382"/>
          </a:xfrm>
        </p:grpSpPr>
        <p:sp>
          <p:nvSpPr>
            <p:cNvPr id="46" name="Line 17"/>
            <p:cNvSpPr>
              <a:spLocks noChangeShapeType="1"/>
            </p:cNvSpPr>
            <p:nvPr/>
          </p:nvSpPr>
          <p:spPr bwMode="auto">
            <a:xfrm flipV="1">
              <a:off x="6613793" y="4008603"/>
              <a:ext cx="13544" cy="2383835"/>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47" name="Rectangle 18"/>
            <p:cNvSpPr>
              <a:spLocks noChangeArrowheads="1"/>
            </p:cNvSpPr>
            <p:nvPr/>
          </p:nvSpPr>
          <p:spPr bwMode="auto">
            <a:xfrm>
              <a:off x="6279765"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grpSp>
        <p:nvGrpSpPr>
          <p:cNvPr id="48" name="Group 47"/>
          <p:cNvGrpSpPr/>
          <p:nvPr/>
        </p:nvGrpSpPr>
        <p:grpSpPr>
          <a:xfrm>
            <a:off x="3215412" y="2543295"/>
            <a:ext cx="3485165" cy="4148757"/>
            <a:chOff x="3964770" y="2857568"/>
            <a:chExt cx="3485165" cy="4148757"/>
          </a:xfrm>
        </p:grpSpPr>
        <p:grpSp>
          <p:nvGrpSpPr>
            <p:cNvPr id="49" name="Group 16"/>
            <p:cNvGrpSpPr>
              <a:grpSpLocks/>
            </p:cNvGrpSpPr>
            <p:nvPr/>
          </p:nvGrpSpPr>
          <p:grpSpPr bwMode="auto">
            <a:xfrm>
              <a:off x="3964770" y="2857568"/>
              <a:ext cx="3121485" cy="628546"/>
              <a:chOff x="1837" y="1972"/>
              <a:chExt cx="1869" cy="376"/>
            </a:xfrm>
          </p:grpSpPr>
          <p:sp>
            <p:nvSpPr>
              <p:cNvPr id="53" name="Line 17"/>
              <p:cNvSpPr>
                <a:spLocks noChangeShapeType="1"/>
              </p:cNvSpPr>
              <p:nvPr/>
            </p:nvSpPr>
            <p:spPr bwMode="auto">
              <a:xfrm>
                <a:off x="2226" y="2160"/>
                <a:ext cx="1480"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ahoma" pitchFamily="124" charset="0"/>
                  <a:ea typeface="+mn-ea"/>
                  <a:cs typeface="+mn-cs"/>
                </a:endParaRPr>
              </a:p>
            </p:txBody>
          </p:sp>
          <p:sp>
            <p:nvSpPr>
              <p:cNvPr id="54" name="Rectangle 18"/>
              <p:cNvSpPr>
                <a:spLocks noChangeArrowheads="1"/>
              </p:cNvSpPr>
              <p:nvPr/>
            </p:nvSpPr>
            <p:spPr bwMode="auto">
              <a:xfrm>
                <a:off x="1837" y="1972"/>
                <a:ext cx="400"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50" name="Group 49"/>
            <p:cNvGrpSpPr/>
            <p:nvPr/>
          </p:nvGrpSpPr>
          <p:grpSpPr>
            <a:xfrm>
              <a:off x="6781880" y="3171841"/>
              <a:ext cx="668055" cy="3834484"/>
              <a:chOff x="6397749" y="3186501"/>
              <a:chExt cx="668055" cy="3834484"/>
            </a:xfrm>
          </p:grpSpPr>
          <p:sp>
            <p:nvSpPr>
              <p:cNvPr id="51" name="Line 17"/>
              <p:cNvSpPr>
                <a:spLocks noChangeShapeType="1"/>
              </p:cNvSpPr>
              <p:nvPr/>
            </p:nvSpPr>
            <p:spPr bwMode="auto">
              <a:xfrm flipH="1" flipV="1">
                <a:off x="6711004" y="3186501"/>
                <a:ext cx="1" cy="3205936"/>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52" name="Rectangle 18"/>
              <p:cNvSpPr>
                <a:spLocks noChangeArrowheads="1"/>
              </p:cNvSpPr>
              <p:nvPr/>
            </p:nvSpPr>
            <p:spPr bwMode="auto">
              <a:xfrm>
                <a:off x="6397749"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grpSp>
        <p:nvGrpSpPr>
          <p:cNvPr id="55" name="Group 54"/>
          <p:cNvGrpSpPr/>
          <p:nvPr/>
        </p:nvGrpSpPr>
        <p:grpSpPr>
          <a:xfrm>
            <a:off x="5637478" y="2046671"/>
            <a:ext cx="2851054" cy="3154570"/>
            <a:chOff x="6372223" y="2487293"/>
            <a:chExt cx="2851054" cy="3154570"/>
          </a:xfrm>
        </p:grpSpPr>
        <p:sp>
          <p:nvSpPr>
            <p:cNvPr id="56" name="Line 8"/>
            <p:cNvSpPr>
              <a:spLocks noChangeShapeType="1"/>
            </p:cNvSpPr>
            <p:nvPr/>
          </p:nvSpPr>
          <p:spPr bwMode="auto">
            <a:xfrm flipH="1" flipV="1">
              <a:off x="6372223" y="2487293"/>
              <a:ext cx="2408155" cy="2753372"/>
            </a:xfrm>
            <a:prstGeom prst="line">
              <a:avLst/>
            </a:prstGeom>
            <a:noFill/>
            <a:ln w="508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57" name="Rectangle 10"/>
            <p:cNvSpPr>
              <a:spLocks noChangeArrowheads="1"/>
            </p:cNvSpPr>
            <p:nvPr/>
          </p:nvSpPr>
          <p:spPr bwMode="auto">
            <a:xfrm>
              <a:off x="8742278" y="5240664"/>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B050"/>
                  </a:solidFill>
                  <a:effectLst>
                    <a:outerShdw blurRad="38100" dist="38100" dir="2700000" sx="4000" sy="4000" algn="tl">
                      <a:srgbClr val="000000"/>
                    </a:outerShdw>
                  </a:effectLst>
                  <a:uLnTx/>
                  <a:uFillTx/>
                  <a:latin typeface="Times New Roman" pitchFamily="18" charset="0"/>
                  <a:ea typeface="+mn-ea"/>
                  <a:cs typeface="Times New Roman" pitchFamily="18" charset="0"/>
                </a:rPr>
                <a:t>D</a:t>
              </a:r>
              <a:r>
                <a:rPr kumimoji="0" lang="en-US" sz="2400" b="0" i="1" u="none" strike="noStrike" kern="1200" cap="none" spc="0" normalizeH="0" baseline="0" noProof="0" dirty="0">
                  <a:ln>
                    <a:noFill/>
                  </a:ln>
                  <a:solidFill>
                    <a:srgbClr val="00B050"/>
                  </a:solidFill>
                  <a:effectLst>
                    <a:outerShdw blurRad="38100" dist="38100" dir="2700000" sx="1000" sy="1000" algn="tl">
                      <a:srgbClr val="000000"/>
                    </a:outerShdw>
                  </a:effectLst>
                  <a:uLnTx/>
                  <a:uFillTx/>
                  <a:latin typeface="Times New Roman" pitchFamily="18" charset="0"/>
                  <a:ea typeface="+mn-ea"/>
                  <a:cs typeface="Times New Roman" pitchFamily="18" charset="0"/>
                </a:rPr>
                <a:t>’</a:t>
              </a:r>
            </a:p>
          </p:txBody>
        </p:sp>
        <p:sp>
          <p:nvSpPr>
            <p:cNvPr id="58" name="Line 20"/>
            <p:cNvSpPr>
              <a:spLocks noChangeShapeType="1"/>
            </p:cNvSpPr>
            <p:nvPr/>
          </p:nvSpPr>
          <p:spPr bwMode="auto">
            <a:xfrm flipH="1">
              <a:off x="7458040" y="4617163"/>
              <a:ext cx="687688" cy="588482"/>
            </a:xfrm>
            <a:prstGeom prst="line">
              <a:avLst/>
            </a:prstGeom>
            <a:noFill/>
            <a:ln w="38100">
              <a:solidFill>
                <a:srgbClr val="00B050"/>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grpSp>
      <p:sp>
        <p:nvSpPr>
          <p:cNvPr id="59" name="Rectangle 3"/>
          <p:cNvSpPr txBox="1">
            <a:spLocks noChangeArrowheads="1"/>
          </p:cNvSpPr>
          <p:nvPr/>
        </p:nvSpPr>
        <p:spPr bwMode="auto">
          <a:xfrm>
            <a:off x="4780606" y="1075005"/>
            <a:ext cx="2935956" cy="419100"/>
          </a:xfrm>
          <a:prstGeom prst="rect">
            <a:avLst/>
          </a:prstGeom>
          <a:noFill/>
          <a:ln w="9525">
            <a:noFill/>
            <a:miter lim="800000"/>
            <a:headEnd/>
            <a:tailEnd/>
          </a:ln>
          <a:effectLst/>
        </p:spPr>
        <p:txBody>
          <a:bodyPr vert="horz" wrap="square" lIns="98207" tIns="49104" rIns="98207" bIns="49104" numCol="1" anchor="t" anchorCtr="0" compatLnSpc="1">
            <a:prstTxWarp prst="textNoShape">
              <a:avLst/>
            </a:prstTxWarp>
          </a:bodyPr>
          <a:lstStyle>
            <a:lvl1pPr marL="365125" indent="-365125" algn="l" defTabSz="974725" rtl="0" fontAlgn="base">
              <a:spcBef>
                <a:spcPct val="20000"/>
              </a:spcBef>
              <a:spcAft>
                <a:spcPct val="0"/>
              </a:spcAft>
              <a:buClr>
                <a:schemeClr val="folHlink"/>
              </a:buClr>
              <a:buChar char="•"/>
              <a:defRPr sz="3400">
                <a:solidFill>
                  <a:schemeClr val="tx1"/>
                </a:solidFill>
                <a:latin typeface="+mn-lt"/>
                <a:ea typeface="+mn-ea"/>
                <a:cs typeface="+mn-cs"/>
              </a:defRPr>
            </a:lvl1pPr>
            <a:lvl2pPr marL="792163" indent="-304800" algn="l" defTabSz="974725" rtl="0" fontAlgn="base">
              <a:spcBef>
                <a:spcPct val="20000"/>
              </a:spcBef>
              <a:spcAft>
                <a:spcPct val="0"/>
              </a:spcAft>
              <a:buClr>
                <a:schemeClr val="hlink"/>
              </a:buClr>
              <a:buChar char="•"/>
              <a:defRPr sz="3000">
                <a:solidFill>
                  <a:schemeClr val="tx1"/>
                </a:solidFill>
                <a:latin typeface="+mn-lt"/>
              </a:defRPr>
            </a:lvl2pPr>
            <a:lvl3pPr marL="1219200" indent="-244475" algn="l" defTabSz="974725" rtl="0" fontAlgn="base">
              <a:spcBef>
                <a:spcPct val="20000"/>
              </a:spcBef>
              <a:spcAft>
                <a:spcPct val="0"/>
              </a:spcAft>
              <a:buClr>
                <a:schemeClr val="folHlink"/>
              </a:buClr>
              <a:buChar char="•"/>
              <a:defRPr sz="2600">
                <a:solidFill>
                  <a:schemeClr val="tx1"/>
                </a:solidFill>
                <a:latin typeface="+mn-lt"/>
              </a:defRPr>
            </a:lvl3pPr>
            <a:lvl4pPr marL="1706563" indent="-242888" algn="l" defTabSz="974725" rtl="0" fontAlgn="base">
              <a:spcBef>
                <a:spcPct val="20000"/>
              </a:spcBef>
              <a:spcAft>
                <a:spcPct val="0"/>
              </a:spcAft>
              <a:buClr>
                <a:schemeClr val="accent2"/>
              </a:buClr>
              <a:buChar char="•"/>
              <a:defRPr sz="2100">
                <a:solidFill>
                  <a:schemeClr val="tx1"/>
                </a:solidFill>
                <a:latin typeface="+mn-lt"/>
              </a:defRPr>
            </a:lvl4pPr>
            <a:lvl5pPr marL="2193925" indent="-242888" algn="l" defTabSz="974725" rtl="0" fontAlgn="base">
              <a:spcBef>
                <a:spcPct val="20000"/>
              </a:spcBef>
              <a:spcAft>
                <a:spcPct val="0"/>
              </a:spcAft>
              <a:buClr>
                <a:schemeClr val="accent1"/>
              </a:buClr>
              <a:buChar char="•"/>
              <a:defRPr sz="2100">
                <a:solidFill>
                  <a:schemeClr val="tx1"/>
                </a:solidFill>
                <a:latin typeface="+mn-lt"/>
              </a:defRPr>
            </a:lvl5pPr>
            <a:lvl6pPr marL="2651125" indent="-242888" algn="l" defTabSz="974725" rtl="0" fontAlgn="base">
              <a:spcBef>
                <a:spcPct val="20000"/>
              </a:spcBef>
              <a:spcAft>
                <a:spcPct val="0"/>
              </a:spcAft>
              <a:buClr>
                <a:schemeClr val="accent1"/>
              </a:buClr>
              <a:buChar char="•"/>
              <a:defRPr sz="2100">
                <a:solidFill>
                  <a:schemeClr val="tx1"/>
                </a:solidFill>
                <a:latin typeface="+mn-lt"/>
              </a:defRPr>
            </a:lvl6pPr>
            <a:lvl7pPr marL="3108325" indent="-242888" algn="l" defTabSz="974725" rtl="0" fontAlgn="base">
              <a:spcBef>
                <a:spcPct val="20000"/>
              </a:spcBef>
              <a:spcAft>
                <a:spcPct val="0"/>
              </a:spcAft>
              <a:buClr>
                <a:schemeClr val="accent1"/>
              </a:buClr>
              <a:buChar char="•"/>
              <a:defRPr sz="2100">
                <a:solidFill>
                  <a:schemeClr val="tx1"/>
                </a:solidFill>
                <a:latin typeface="+mn-lt"/>
              </a:defRPr>
            </a:lvl7pPr>
            <a:lvl8pPr marL="3565525" indent="-242888" algn="l" defTabSz="974725" rtl="0" fontAlgn="base">
              <a:spcBef>
                <a:spcPct val="20000"/>
              </a:spcBef>
              <a:spcAft>
                <a:spcPct val="0"/>
              </a:spcAft>
              <a:buClr>
                <a:schemeClr val="accent1"/>
              </a:buClr>
              <a:buChar char="•"/>
              <a:defRPr sz="2100">
                <a:solidFill>
                  <a:schemeClr val="tx1"/>
                </a:solidFill>
                <a:latin typeface="+mn-lt"/>
              </a:defRPr>
            </a:lvl8pPr>
            <a:lvl9pPr marL="4022725" indent="-242888" algn="l" defTabSz="974725" rtl="0" fontAlgn="base">
              <a:spcBef>
                <a:spcPct val="20000"/>
              </a:spcBef>
              <a:spcAft>
                <a:spcPct val="0"/>
              </a:spcAft>
              <a:buClr>
                <a:schemeClr val="accent1"/>
              </a:buClr>
              <a:buChar char="•"/>
              <a:defRPr sz="2100">
                <a:solidFill>
                  <a:schemeClr val="tx1"/>
                </a:solidFill>
                <a:latin typeface="+mn-lt"/>
              </a:defRPr>
            </a:lvl9pPr>
          </a:lstStyle>
          <a:p>
            <a:pPr marL="0" marR="0" lvl="0" indent="0" algn="l" defTabSz="914400" rtl="0" eaLnBrk="1" fontAlgn="base" latinLnBrk="0" hangingPunct="1">
              <a:lnSpc>
                <a:spcPct val="100000"/>
              </a:lnSpc>
              <a:spcBef>
                <a:spcPts val="300"/>
              </a:spcBef>
              <a:spcAft>
                <a:spcPct val="0"/>
              </a:spcAft>
              <a:buClr>
                <a:srgbClr val="FFFFFF"/>
              </a:buClr>
              <a:buSzTx/>
              <a:buFontTx/>
              <a:buNone/>
              <a:tabLst/>
              <a:defRPr/>
            </a:pPr>
            <a:r>
              <a:rPr kumimoji="0" lang="en-US" sz="2400" b="1" i="0" u="none" strike="noStrike" kern="1200" cap="none" spc="0" normalizeH="0" baseline="0" noProof="0" dirty="0">
                <a:ln>
                  <a:noFill/>
                </a:ln>
                <a:solidFill>
                  <a:srgbClr val="002B56"/>
                </a:solidFill>
                <a:effectLst/>
                <a:uLnTx/>
                <a:uFillTx/>
                <a:latin typeface="Whitney-Medium" pitchFamily="50" charset="0"/>
                <a:cs typeface="Whitney-Medium" pitchFamily="50" charset="0"/>
              </a:rPr>
              <a:t>SHIFT IN </a:t>
            </a:r>
            <a:r>
              <a:rPr lang="en-US" sz="2400" b="1" dirty="0">
                <a:solidFill>
                  <a:srgbClr val="002B56"/>
                </a:solidFill>
                <a:latin typeface="Whitney-Medium" pitchFamily="50" charset="0"/>
                <a:cs typeface="Whitney-Medium" pitchFamily="50" charset="0"/>
              </a:rPr>
              <a:t>DEMAND</a:t>
            </a:r>
            <a:endParaRPr kumimoji="0" lang="en-US" sz="2400" b="1" i="0" u="none" strike="noStrike" kern="1200" cap="none" spc="0" normalizeH="0" baseline="0" noProof="0" dirty="0">
              <a:ln>
                <a:noFill/>
              </a:ln>
              <a:solidFill>
                <a:srgbClr val="002B56"/>
              </a:solidFill>
              <a:effectLst/>
              <a:uLnTx/>
              <a:uFillTx/>
              <a:latin typeface="Whitney-Medium" pitchFamily="50" charset="0"/>
              <a:cs typeface="Whitney-Medium" pitchFamily="50" charset="0"/>
            </a:endParaRPr>
          </a:p>
        </p:txBody>
      </p:sp>
      <p:sp>
        <p:nvSpPr>
          <p:cNvPr id="3" name="Slide Number Placeholder 2">
            <a:extLst>
              <a:ext uri="{FF2B5EF4-FFF2-40B4-BE49-F238E27FC236}">
                <a16:creationId xmlns:a16="http://schemas.microsoft.com/office/drawing/2014/main" id="{8237FCF1-3021-7E44-B7C5-620389F5656A}"/>
              </a:ext>
            </a:extLst>
          </p:cNvPr>
          <p:cNvSpPr>
            <a:spLocks noGrp="1"/>
          </p:cNvSpPr>
          <p:nvPr>
            <p:ph type="sldNum" sz="quarter" idx="12"/>
          </p:nvPr>
        </p:nvSpPr>
        <p:spPr/>
        <p:txBody>
          <a:bodyPr/>
          <a:lstStyle/>
          <a:p>
            <a:fld id="{0F3206DB-9488-D04D-BDD1-A7C9D84C4579}" type="slidenum">
              <a:rPr lang="en-US" smtClean="0"/>
              <a:pPr/>
              <a:t>5</a:t>
            </a:fld>
            <a:endParaRPr lang="en-US" dirty="0"/>
          </a:p>
        </p:txBody>
      </p:sp>
      <p:sp>
        <p:nvSpPr>
          <p:cNvPr id="62" name="TextBox 61">
            <a:extLst>
              <a:ext uri="{FF2B5EF4-FFF2-40B4-BE49-F238E27FC236}">
                <a16:creationId xmlns:a16="http://schemas.microsoft.com/office/drawing/2014/main" id="{F7493B09-B15C-B24D-99FE-7388027EBC1D}"/>
              </a:ext>
            </a:extLst>
          </p:cNvPr>
          <p:cNvSpPr txBox="1"/>
          <p:nvPr/>
        </p:nvSpPr>
        <p:spPr>
          <a:xfrm>
            <a:off x="6908465" y="4571440"/>
            <a:ext cx="984023" cy="541046"/>
          </a:xfrm>
          <a:prstGeom prst="rect">
            <a:avLst/>
          </a:prstGeom>
          <a:noFill/>
        </p:spPr>
        <p:txBody>
          <a:bodyPr wrap="square" rtlCol="0">
            <a:spAutoFit/>
          </a:bodyPr>
          <a:lstStyle/>
          <a:p>
            <a:pPr>
              <a:lnSpc>
                <a:spcPct val="80000"/>
              </a:lnSpc>
            </a:pPr>
            <a:r>
              <a:rPr lang="en-US" dirty="0">
                <a:solidFill>
                  <a:srgbClr val="00B050"/>
                </a:solidFill>
              </a:rPr>
              <a:t>Shift in </a:t>
            </a:r>
          </a:p>
          <a:p>
            <a:pPr>
              <a:lnSpc>
                <a:spcPct val="80000"/>
              </a:lnSpc>
            </a:pPr>
            <a:r>
              <a:rPr lang="en-US" dirty="0">
                <a:solidFill>
                  <a:srgbClr val="00B050"/>
                </a:solidFill>
              </a:rPr>
              <a:t>demand</a:t>
            </a:r>
          </a:p>
        </p:txBody>
      </p:sp>
    </p:spTree>
    <p:extLst>
      <p:ext uri="{BB962C8B-B14F-4D97-AF65-F5344CB8AC3E}">
        <p14:creationId xmlns:p14="http://schemas.microsoft.com/office/powerpoint/2010/main" val="267484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215"/>
            <a:ext cx="8229600" cy="790699"/>
          </a:xfrm>
        </p:spPr>
        <p:txBody>
          <a:bodyPr/>
          <a:lstStyle/>
          <a:p>
            <a:r>
              <a:rPr lang="en-US" noProof="0" dirty="0"/>
              <a:t>Changes in market equilibrium</a:t>
            </a:r>
          </a:p>
        </p:txBody>
      </p:sp>
      <p:grpSp>
        <p:nvGrpSpPr>
          <p:cNvPr id="4" name="Group 3"/>
          <p:cNvGrpSpPr>
            <a:grpSpLocks/>
          </p:cNvGrpSpPr>
          <p:nvPr/>
        </p:nvGrpSpPr>
        <p:grpSpPr bwMode="auto">
          <a:xfrm>
            <a:off x="4846787" y="2467374"/>
            <a:ext cx="3061361" cy="3502135"/>
            <a:chOff x="2488" y="1648"/>
            <a:chExt cx="1833" cy="2095"/>
          </a:xfrm>
        </p:grpSpPr>
        <p:sp>
          <p:nvSpPr>
            <p:cNvPr id="5" name="Line 4"/>
            <p:cNvSpPr>
              <a:spLocks noChangeShapeType="1"/>
            </p:cNvSpPr>
            <p:nvPr/>
          </p:nvSpPr>
          <p:spPr bwMode="auto">
            <a:xfrm>
              <a:off x="2488" y="1648"/>
              <a:ext cx="1488" cy="1816"/>
            </a:xfrm>
            <a:prstGeom prst="line">
              <a:avLst/>
            </a:prstGeom>
            <a:noFill/>
            <a:ln w="50800">
              <a:solidFill>
                <a:srgbClr val="FFC000"/>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6" name="Rectangle 5"/>
            <p:cNvSpPr>
              <a:spLocks noChangeArrowheads="1"/>
            </p:cNvSpPr>
            <p:nvPr/>
          </p:nvSpPr>
          <p:spPr bwMode="auto">
            <a:xfrm>
              <a:off x="3857" y="3367"/>
              <a:ext cx="464"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D</a:t>
              </a:r>
            </a:p>
          </p:txBody>
        </p:sp>
      </p:grpSp>
      <p:grpSp>
        <p:nvGrpSpPr>
          <p:cNvPr id="7" name="Group 7"/>
          <p:cNvGrpSpPr>
            <a:grpSpLocks/>
          </p:cNvGrpSpPr>
          <p:nvPr/>
        </p:nvGrpSpPr>
        <p:grpSpPr bwMode="auto">
          <a:xfrm>
            <a:off x="4576224" y="1846072"/>
            <a:ext cx="2926080" cy="3363387"/>
            <a:chOff x="2512" y="1372"/>
            <a:chExt cx="1752" cy="2012"/>
          </a:xfrm>
        </p:grpSpPr>
        <p:sp>
          <p:nvSpPr>
            <p:cNvPr id="8" name="Line 8"/>
            <p:cNvSpPr>
              <a:spLocks noChangeShapeType="1"/>
            </p:cNvSpPr>
            <p:nvPr/>
          </p:nvSpPr>
          <p:spPr bwMode="auto">
            <a:xfrm flipV="1">
              <a:off x="2512" y="1612"/>
              <a:ext cx="1464" cy="1772"/>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9" name="Rectangle 10"/>
            <p:cNvSpPr>
              <a:spLocks noChangeArrowheads="1"/>
            </p:cNvSpPr>
            <p:nvPr/>
          </p:nvSpPr>
          <p:spPr bwMode="auto">
            <a:xfrm>
              <a:off x="3976" y="1372"/>
              <a:ext cx="288" cy="240"/>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outerShdw blurRad="38100" dist="38100" dir="2700000" sx="2000" sy="2000" algn="tl">
                      <a:srgbClr val="000000"/>
                    </a:outerShdw>
                  </a:effectLst>
                  <a:uLnTx/>
                  <a:uFillTx/>
                  <a:latin typeface="Times New Roman" pitchFamily="18" charset="0"/>
                  <a:ea typeface="+mn-ea"/>
                  <a:cs typeface="Times New Roman" pitchFamily="18" charset="0"/>
                </a:rPr>
                <a:t>S</a:t>
              </a:r>
            </a:p>
          </p:txBody>
        </p:sp>
      </p:grpSp>
      <p:sp>
        <p:nvSpPr>
          <p:cNvPr id="10" name="Line 20"/>
          <p:cNvSpPr>
            <a:spLocks noChangeShapeType="1"/>
          </p:cNvSpPr>
          <p:nvPr/>
        </p:nvSpPr>
        <p:spPr bwMode="auto">
          <a:xfrm>
            <a:off x="4045122" y="2005994"/>
            <a:ext cx="0" cy="4092233"/>
          </a:xfrm>
          <a:prstGeom prst="line">
            <a:avLst/>
          </a:prstGeom>
          <a:noFill/>
          <a:ln w="38100">
            <a:solidFill>
              <a:srgbClr val="002B56"/>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1" name="Line 21"/>
          <p:cNvSpPr>
            <a:spLocks noChangeShapeType="1"/>
          </p:cNvSpPr>
          <p:nvPr/>
        </p:nvSpPr>
        <p:spPr bwMode="auto">
          <a:xfrm>
            <a:off x="4058483" y="6078167"/>
            <a:ext cx="4796633" cy="0"/>
          </a:xfrm>
          <a:prstGeom prst="line">
            <a:avLst/>
          </a:prstGeom>
          <a:noFill/>
          <a:ln w="38100">
            <a:solidFill>
              <a:srgbClr val="002B56"/>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2" name="Rectangle 22"/>
          <p:cNvSpPr>
            <a:spLocks noChangeArrowheads="1"/>
          </p:cNvSpPr>
          <p:nvPr/>
        </p:nvSpPr>
        <p:spPr bwMode="auto">
          <a:xfrm>
            <a:off x="3303581" y="1531799"/>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13" name="Rectangle 35"/>
          <p:cNvSpPr>
            <a:spLocks noChangeArrowheads="1"/>
          </p:cNvSpPr>
          <p:nvPr/>
        </p:nvSpPr>
        <p:spPr bwMode="auto">
          <a:xfrm>
            <a:off x="7585813" y="6113272"/>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grpSp>
        <p:nvGrpSpPr>
          <p:cNvPr id="14" name="Group 13"/>
          <p:cNvGrpSpPr/>
          <p:nvPr/>
        </p:nvGrpSpPr>
        <p:grpSpPr>
          <a:xfrm>
            <a:off x="3363704" y="3434547"/>
            <a:ext cx="2448604" cy="628546"/>
            <a:chOff x="3898151" y="4052110"/>
            <a:chExt cx="2448604" cy="628546"/>
          </a:xfrm>
        </p:grpSpPr>
        <p:sp>
          <p:nvSpPr>
            <p:cNvPr id="15" name="Line 17"/>
            <p:cNvSpPr>
              <a:spLocks noChangeShapeType="1"/>
            </p:cNvSpPr>
            <p:nvPr/>
          </p:nvSpPr>
          <p:spPr bwMode="auto">
            <a:xfrm>
              <a:off x="4633011" y="4287709"/>
              <a:ext cx="1713744"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6" name="Rectangle 18"/>
            <p:cNvSpPr>
              <a:spLocks noChangeArrowheads="1"/>
            </p:cNvSpPr>
            <p:nvPr/>
          </p:nvSpPr>
          <p:spPr bwMode="auto">
            <a:xfrm>
              <a:off x="3898151" y="4052110"/>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grpSp>
        <p:nvGrpSpPr>
          <p:cNvPr id="17" name="Group 16"/>
          <p:cNvGrpSpPr/>
          <p:nvPr/>
        </p:nvGrpSpPr>
        <p:grpSpPr>
          <a:xfrm>
            <a:off x="5464736" y="3670145"/>
            <a:ext cx="668055" cy="3012382"/>
            <a:chOff x="6279765" y="4008603"/>
            <a:chExt cx="668055" cy="3012382"/>
          </a:xfrm>
        </p:grpSpPr>
        <p:sp>
          <p:nvSpPr>
            <p:cNvPr id="18" name="Line 17"/>
            <p:cNvSpPr>
              <a:spLocks noChangeShapeType="1"/>
            </p:cNvSpPr>
            <p:nvPr/>
          </p:nvSpPr>
          <p:spPr bwMode="auto">
            <a:xfrm flipV="1">
              <a:off x="6613793" y="4008603"/>
              <a:ext cx="13544" cy="2383835"/>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9" name="Rectangle 18"/>
            <p:cNvSpPr>
              <a:spLocks noChangeArrowheads="1"/>
            </p:cNvSpPr>
            <p:nvPr/>
          </p:nvSpPr>
          <p:spPr bwMode="auto">
            <a:xfrm>
              <a:off x="6279765"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grpSp>
        <p:nvGrpSpPr>
          <p:cNvPr id="20" name="Group 19"/>
          <p:cNvGrpSpPr/>
          <p:nvPr/>
        </p:nvGrpSpPr>
        <p:grpSpPr>
          <a:xfrm>
            <a:off x="3376881" y="4171497"/>
            <a:ext cx="3380542" cy="2520555"/>
            <a:chOff x="3951409" y="4485770"/>
            <a:chExt cx="3380542" cy="2520555"/>
          </a:xfrm>
        </p:grpSpPr>
        <p:grpSp>
          <p:nvGrpSpPr>
            <p:cNvPr id="21" name="Group 16"/>
            <p:cNvGrpSpPr>
              <a:grpSpLocks/>
            </p:cNvGrpSpPr>
            <p:nvPr/>
          </p:nvGrpSpPr>
          <p:grpSpPr bwMode="auto">
            <a:xfrm>
              <a:off x="3951409" y="4485770"/>
              <a:ext cx="3064701" cy="628546"/>
              <a:chOff x="1829" y="2946"/>
              <a:chExt cx="1835" cy="376"/>
            </a:xfrm>
          </p:grpSpPr>
          <p:sp>
            <p:nvSpPr>
              <p:cNvPr id="25" name="Line 17"/>
              <p:cNvSpPr>
                <a:spLocks noChangeShapeType="1"/>
              </p:cNvSpPr>
              <p:nvPr/>
            </p:nvSpPr>
            <p:spPr bwMode="auto">
              <a:xfrm>
                <a:off x="2237" y="3088"/>
                <a:ext cx="1427"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6" name="Rectangle 18"/>
              <p:cNvSpPr>
                <a:spLocks noChangeArrowheads="1"/>
              </p:cNvSpPr>
              <p:nvPr/>
            </p:nvSpPr>
            <p:spPr bwMode="auto">
              <a:xfrm>
                <a:off x="1829" y="2946"/>
                <a:ext cx="400"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22" name="Group 21"/>
            <p:cNvGrpSpPr/>
            <p:nvPr/>
          </p:nvGrpSpPr>
          <p:grpSpPr>
            <a:xfrm>
              <a:off x="6663896" y="4723145"/>
              <a:ext cx="668055" cy="2283180"/>
              <a:chOff x="6279765" y="4737805"/>
              <a:chExt cx="668055" cy="2283180"/>
            </a:xfrm>
          </p:grpSpPr>
          <p:sp>
            <p:nvSpPr>
              <p:cNvPr id="23" name="Line 17"/>
              <p:cNvSpPr>
                <a:spLocks noChangeShapeType="1"/>
              </p:cNvSpPr>
              <p:nvPr/>
            </p:nvSpPr>
            <p:spPr bwMode="auto">
              <a:xfrm flipV="1">
                <a:off x="6613793" y="4737805"/>
                <a:ext cx="13544" cy="1654632"/>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4" name="Rectangle 18"/>
              <p:cNvSpPr>
                <a:spLocks noChangeArrowheads="1"/>
              </p:cNvSpPr>
              <p:nvPr/>
            </p:nvSpPr>
            <p:spPr bwMode="auto">
              <a:xfrm>
                <a:off x="6279765"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grpSp>
        <p:nvGrpSpPr>
          <p:cNvPr id="27" name="Group 26"/>
          <p:cNvGrpSpPr/>
          <p:nvPr/>
        </p:nvGrpSpPr>
        <p:grpSpPr>
          <a:xfrm>
            <a:off x="5279770" y="2429899"/>
            <a:ext cx="2926080" cy="3363387"/>
            <a:chOff x="5854298" y="2744172"/>
            <a:chExt cx="2926080" cy="3363387"/>
          </a:xfrm>
        </p:grpSpPr>
        <p:sp>
          <p:nvSpPr>
            <p:cNvPr id="28" name="Line 8"/>
            <p:cNvSpPr>
              <a:spLocks noChangeShapeType="1"/>
            </p:cNvSpPr>
            <p:nvPr/>
          </p:nvSpPr>
          <p:spPr bwMode="auto">
            <a:xfrm flipV="1">
              <a:off x="5854298" y="3145371"/>
              <a:ext cx="2445081" cy="2962188"/>
            </a:xfrm>
            <a:prstGeom prst="line">
              <a:avLst/>
            </a:prstGeom>
            <a:noFill/>
            <a:ln w="50800">
              <a:solidFill>
                <a:srgbClr val="1B8BD5"/>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9" name="Rectangle 10"/>
            <p:cNvSpPr>
              <a:spLocks noChangeArrowheads="1"/>
            </p:cNvSpPr>
            <p:nvPr/>
          </p:nvSpPr>
          <p:spPr bwMode="auto">
            <a:xfrm>
              <a:off x="8299379" y="2744172"/>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70C0"/>
                  </a:solidFill>
                  <a:effectLst>
                    <a:outerShdw blurRad="38100" dist="38100" dir="2700000" sx="5000" sy="5000" algn="tl">
                      <a:srgbClr val="000000"/>
                    </a:outerShdw>
                  </a:effectLst>
                  <a:uLnTx/>
                  <a:uFillTx/>
                  <a:latin typeface="Times New Roman" pitchFamily="18" charset="0"/>
                  <a:ea typeface="+mn-ea"/>
                  <a:cs typeface="Times New Roman" pitchFamily="18" charset="0"/>
                </a:rPr>
                <a:t>S’</a:t>
              </a:r>
            </a:p>
          </p:txBody>
        </p:sp>
        <p:sp>
          <p:nvSpPr>
            <p:cNvPr id="30" name="Line 20"/>
            <p:cNvSpPr>
              <a:spLocks noChangeShapeType="1"/>
            </p:cNvSpPr>
            <p:nvPr/>
          </p:nvSpPr>
          <p:spPr bwMode="auto">
            <a:xfrm flipH="1" flipV="1">
              <a:off x="7174536" y="3352800"/>
              <a:ext cx="842594" cy="0"/>
            </a:xfrm>
            <a:prstGeom prst="line">
              <a:avLst/>
            </a:prstGeom>
            <a:noFill/>
            <a:ln w="38100">
              <a:solidFill>
                <a:srgbClr val="1B8BD5"/>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grpSp>
      <p:sp>
        <p:nvSpPr>
          <p:cNvPr id="31" name="Rectangle 3"/>
          <p:cNvSpPr txBox="1">
            <a:spLocks noChangeArrowheads="1"/>
          </p:cNvSpPr>
          <p:nvPr/>
        </p:nvSpPr>
        <p:spPr bwMode="auto">
          <a:xfrm>
            <a:off x="5203311" y="1123910"/>
            <a:ext cx="2935956" cy="419100"/>
          </a:xfrm>
          <a:prstGeom prst="rect">
            <a:avLst/>
          </a:prstGeom>
          <a:noFill/>
          <a:ln w="9525">
            <a:noFill/>
            <a:miter lim="800000"/>
            <a:headEnd/>
            <a:tailEnd/>
          </a:ln>
          <a:effectLst/>
        </p:spPr>
        <p:txBody>
          <a:bodyPr vert="horz" wrap="square" lIns="98207" tIns="49104" rIns="98207" bIns="49104" numCol="1" anchor="t" anchorCtr="0" compatLnSpc="1">
            <a:prstTxWarp prst="textNoShape">
              <a:avLst/>
            </a:prstTxWarp>
          </a:bodyPr>
          <a:lstStyle>
            <a:lvl1pPr marL="365125" indent="-365125" algn="l" defTabSz="974725" rtl="0" fontAlgn="base">
              <a:spcBef>
                <a:spcPct val="20000"/>
              </a:spcBef>
              <a:spcAft>
                <a:spcPct val="0"/>
              </a:spcAft>
              <a:buClr>
                <a:schemeClr val="folHlink"/>
              </a:buClr>
              <a:buChar char="•"/>
              <a:defRPr sz="3400">
                <a:solidFill>
                  <a:schemeClr val="tx1"/>
                </a:solidFill>
                <a:latin typeface="+mn-lt"/>
                <a:ea typeface="+mn-ea"/>
                <a:cs typeface="+mn-cs"/>
              </a:defRPr>
            </a:lvl1pPr>
            <a:lvl2pPr marL="792163" indent="-304800" algn="l" defTabSz="974725" rtl="0" fontAlgn="base">
              <a:spcBef>
                <a:spcPct val="20000"/>
              </a:spcBef>
              <a:spcAft>
                <a:spcPct val="0"/>
              </a:spcAft>
              <a:buClr>
                <a:schemeClr val="hlink"/>
              </a:buClr>
              <a:buChar char="•"/>
              <a:defRPr sz="3000">
                <a:solidFill>
                  <a:schemeClr val="tx1"/>
                </a:solidFill>
                <a:latin typeface="+mn-lt"/>
              </a:defRPr>
            </a:lvl2pPr>
            <a:lvl3pPr marL="1219200" indent="-244475" algn="l" defTabSz="974725" rtl="0" fontAlgn="base">
              <a:spcBef>
                <a:spcPct val="20000"/>
              </a:spcBef>
              <a:spcAft>
                <a:spcPct val="0"/>
              </a:spcAft>
              <a:buClr>
                <a:schemeClr val="folHlink"/>
              </a:buClr>
              <a:buChar char="•"/>
              <a:defRPr sz="2600">
                <a:solidFill>
                  <a:schemeClr val="tx1"/>
                </a:solidFill>
                <a:latin typeface="+mn-lt"/>
              </a:defRPr>
            </a:lvl3pPr>
            <a:lvl4pPr marL="1706563" indent="-242888" algn="l" defTabSz="974725" rtl="0" fontAlgn="base">
              <a:spcBef>
                <a:spcPct val="20000"/>
              </a:spcBef>
              <a:spcAft>
                <a:spcPct val="0"/>
              </a:spcAft>
              <a:buClr>
                <a:schemeClr val="accent2"/>
              </a:buClr>
              <a:buChar char="•"/>
              <a:defRPr sz="2100">
                <a:solidFill>
                  <a:schemeClr val="tx1"/>
                </a:solidFill>
                <a:latin typeface="+mn-lt"/>
              </a:defRPr>
            </a:lvl4pPr>
            <a:lvl5pPr marL="2193925" indent="-242888" algn="l" defTabSz="974725" rtl="0" fontAlgn="base">
              <a:spcBef>
                <a:spcPct val="20000"/>
              </a:spcBef>
              <a:spcAft>
                <a:spcPct val="0"/>
              </a:spcAft>
              <a:buClr>
                <a:schemeClr val="accent1"/>
              </a:buClr>
              <a:buChar char="•"/>
              <a:defRPr sz="2100">
                <a:solidFill>
                  <a:schemeClr val="tx1"/>
                </a:solidFill>
                <a:latin typeface="+mn-lt"/>
              </a:defRPr>
            </a:lvl5pPr>
            <a:lvl6pPr marL="2651125" indent="-242888" algn="l" defTabSz="974725" rtl="0" fontAlgn="base">
              <a:spcBef>
                <a:spcPct val="20000"/>
              </a:spcBef>
              <a:spcAft>
                <a:spcPct val="0"/>
              </a:spcAft>
              <a:buClr>
                <a:schemeClr val="accent1"/>
              </a:buClr>
              <a:buChar char="•"/>
              <a:defRPr sz="2100">
                <a:solidFill>
                  <a:schemeClr val="tx1"/>
                </a:solidFill>
                <a:latin typeface="+mn-lt"/>
              </a:defRPr>
            </a:lvl6pPr>
            <a:lvl7pPr marL="3108325" indent="-242888" algn="l" defTabSz="974725" rtl="0" fontAlgn="base">
              <a:spcBef>
                <a:spcPct val="20000"/>
              </a:spcBef>
              <a:spcAft>
                <a:spcPct val="0"/>
              </a:spcAft>
              <a:buClr>
                <a:schemeClr val="accent1"/>
              </a:buClr>
              <a:buChar char="•"/>
              <a:defRPr sz="2100">
                <a:solidFill>
                  <a:schemeClr val="tx1"/>
                </a:solidFill>
                <a:latin typeface="+mn-lt"/>
              </a:defRPr>
            </a:lvl7pPr>
            <a:lvl8pPr marL="3565525" indent="-242888" algn="l" defTabSz="974725" rtl="0" fontAlgn="base">
              <a:spcBef>
                <a:spcPct val="20000"/>
              </a:spcBef>
              <a:spcAft>
                <a:spcPct val="0"/>
              </a:spcAft>
              <a:buClr>
                <a:schemeClr val="accent1"/>
              </a:buClr>
              <a:buChar char="•"/>
              <a:defRPr sz="2100">
                <a:solidFill>
                  <a:schemeClr val="tx1"/>
                </a:solidFill>
                <a:latin typeface="+mn-lt"/>
              </a:defRPr>
            </a:lvl8pPr>
            <a:lvl9pPr marL="4022725" indent="-242888" algn="l" defTabSz="974725" rtl="0" fontAlgn="base">
              <a:spcBef>
                <a:spcPct val="20000"/>
              </a:spcBef>
              <a:spcAft>
                <a:spcPct val="0"/>
              </a:spcAft>
              <a:buClr>
                <a:schemeClr val="accent1"/>
              </a:buClr>
              <a:buChar char="•"/>
              <a:defRPr sz="2100">
                <a:solidFill>
                  <a:schemeClr val="tx1"/>
                </a:solidFill>
                <a:latin typeface="+mn-lt"/>
              </a:defRPr>
            </a:lvl9pPr>
          </a:lstStyle>
          <a:p>
            <a:pPr marL="0" marR="0" lvl="0" indent="0" algn="l" defTabSz="914400" rtl="0" eaLnBrk="1" fontAlgn="base" latinLnBrk="0" hangingPunct="1">
              <a:lnSpc>
                <a:spcPct val="100000"/>
              </a:lnSpc>
              <a:spcBef>
                <a:spcPts val="300"/>
              </a:spcBef>
              <a:spcAft>
                <a:spcPct val="0"/>
              </a:spcAft>
              <a:buClr>
                <a:srgbClr val="FFFFFF"/>
              </a:buClr>
              <a:buSzTx/>
              <a:buFontTx/>
              <a:buNone/>
              <a:tabLst/>
              <a:defRPr/>
            </a:pPr>
            <a:r>
              <a:rPr kumimoji="0" lang="en-US" sz="2400" b="1" i="0" u="none" strike="noStrike" kern="1200" cap="none" spc="0" normalizeH="0" baseline="0" noProof="0" dirty="0">
                <a:ln>
                  <a:noFill/>
                </a:ln>
                <a:solidFill>
                  <a:srgbClr val="002B56"/>
                </a:solidFill>
                <a:effectLst/>
                <a:uLnTx/>
                <a:uFillTx/>
                <a:latin typeface="Whitney-Medium" pitchFamily="50" charset="0"/>
                <a:cs typeface="Whitney-Medium" pitchFamily="50" charset="0"/>
              </a:rPr>
              <a:t>SHIFT IN SUPPLY</a:t>
            </a:r>
          </a:p>
        </p:txBody>
      </p:sp>
      <p:sp>
        <p:nvSpPr>
          <p:cNvPr id="32" name="Content Placeholder 4"/>
          <p:cNvSpPr txBox="1">
            <a:spLocks/>
          </p:cNvSpPr>
          <p:nvPr/>
        </p:nvSpPr>
        <p:spPr>
          <a:xfrm>
            <a:off x="192653" y="1591061"/>
            <a:ext cx="2828679" cy="361839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spcBef>
                <a:spcPts val="300"/>
              </a:spcBef>
              <a:buClr>
                <a:schemeClr val="bg1"/>
              </a:buClr>
              <a:buNone/>
            </a:pPr>
            <a:r>
              <a:rPr lang="en-US" sz="2400" dirty="0">
                <a:solidFill>
                  <a:srgbClr val="002B56"/>
                </a:solidFill>
                <a:latin typeface="Whitney-Book" pitchFamily="50" charset="0"/>
                <a:cs typeface="Whitney-Book" pitchFamily="50" charset="0"/>
              </a:rPr>
              <a:t>When the supply curve shifts to the right, the market clears at a lower price </a:t>
            </a:r>
            <a:r>
              <a:rPr lang="en-US" sz="2400" i="1" dirty="0">
                <a:solidFill>
                  <a:srgbClr val="002B56"/>
                </a:solidFill>
                <a:latin typeface="Whitney-Book" pitchFamily="50" charset="0"/>
                <a:cs typeface="Whitney-Book" pitchFamily="50" charset="0"/>
              </a:rPr>
              <a:t>P</a:t>
            </a:r>
            <a:r>
              <a:rPr lang="en-US" sz="2400" i="1" baseline="-25000" dirty="0">
                <a:solidFill>
                  <a:srgbClr val="002B56"/>
                </a:solidFill>
                <a:latin typeface="Whitney-Book" pitchFamily="50" charset="0"/>
                <a:cs typeface="Whitney-Book" pitchFamily="50" charset="0"/>
              </a:rPr>
              <a:t>1</a:t>
            </a:r>
            <a:r>
              <a:rPr lang="en-US" sz="2400" dirty="0">
                <a:solidFill>
                  <a:srgbClr val="002B56"/>
                </a:solidFill>
                <a:latin typeface="Whitney-Book" pitchFamily="50" charset="0"/>
                <a:cs typeface="Whitney-Book" pitchFamily="50" charset="0"/>
              </a:rPr>
              <a:t> and a larger quantity </a:t>
            </a:r>
            <a:r>
              <a:rPr lang="en-US" sz="2400" i="1" dirty="0">
                <a:solidFill>
                  <a:srgbClr val="002B56"/>
                </a:solidFill>
                <a:latin typeface="Whitney-Book" pitchFamily="50" charset="0"/>
                <a:cs typeface="Whitney-Book" pitchFamily="50" charset="0"/>
              </a:rPr>
              <a:t>Q</a:t>
            </a:r>
            <a:r>
              <a:rPr lang="en-US" sz="2400" i="1" baseline="-25000" dirty="0">
                <a:solidFill>
                  <a:srgbClr val="002B56"/>
                </a:solidFill>
                <a:latin typeface="Whitney-Book" pitchFamily="50" charset="0"/>
                <a:cs typeface="Whitney-Book" pitchFamily="50" charset="0"/>
              </a:rPr>
              <a:t>1</a:t>
            </a:r>
            <a:endParaRPr lang="en-US" sz="2400" i="1" dirty="0">
              <a:solidFill>
                <a:srgbClr val="002B56"/>
              </a:solidFill>
              <a:latin typeface="Whitney-Book" pitchFamily="50" charset="0"/>
              <a:cs typeface="Whitney-Book" pitchFamily="50" charset="0"/>
            </a:endParaRPr>
          </a:p>
        </p:txBody>
      </p:sp>
      <p:sp>
        <p:nvSpPr>
          <p:cNvPr id="3" name="Slide Number Placeholder 2">
            <a:extLst>
              <a:ext uri="{FF2B5EF4-FFF2-40B4-BE49-F238E27FC236}">
                <a16:creationId xmlns:a16="http://schemas.microsoft.com/office/drawing/2014/main" id="{52391F4D-E8C3-0543-95A5-F126E4A838EF}"/>
              </a:ext>
            </a:extLst>
          </p:cNvPr>
          <p:cNvSpPr>
            <a:spLocks noGrp="1"/>
          </p:cNvSpPr>
          <p:nvPr>
            <p:ph type="sldNum" sz="quarter" idx="12"/>
          </p:nvPr>
        </p:nvSpPr>
        <p:spPr/>
        <p:txBody>
          <a:bodyPr/>
          <a:lstStyle/>
          <a:p>
            <a:fld id="{0F3206DB-9488-D04D-BDD1-A7C9D84C4579}" type="slidenum">
              <a:rPr lang="en-US" smtClean="0"/>
              <a:pPr/>
              <a:t>6</a:t>
            </a:fld>
            <a:endParaRPr lang="en-US" dirty="0"/>
          </a:p>
        </p:txBody>
      </p:sp>
      <p:sp>
        <p:nvSpPr>
          <p:cNvPr id="34" name="TextBox 33">
            <a:extLst>
              <a:ext uri="{FF2B5EF4-FFF2-40B4-BE49-F238E27FC236}">
                <a16:creationId xmlns:a16="http://schemas.microsoft.com/office/drawing/2014/main" id="{A8F117BE-AA15-D54F-A87E-AD5E569317D5}"/>
              </a:ext>
            </a:extLst>
          </p:cNvPr>
          <p:cNvSpPr txBox="1"/>
          <p:nvPr/>
        </p:nvSpPr>
        <p:spPr>
          <a:xfrm>
            <a:off x="6430168" y="3081309"/>
            <a:ext cx="1151019" cy="541046"/>
          </a:xfrm>
          <a:prstGeom prst="rect">
            <a:avLst/>
          </a:prstGeom>
          <a:noFill/>
        </p:spPr>
        <p:txBody>
          <a:bodyPr wrap="square" rtlCol="0">
            <a:spAutoFit/>
          </a:bodyPr>
          <a:lstStyle/>
          <a:p>
            <a:pPr>
              <a:lnSpc>
                <a:spcPct val="80000"/>
              </a:lnSpc>
            </a:pPr>
            <a:r>
              <a:rPr lang="en-US" dirty="0">
                <a:solidFill>
                  <a:srgbClr val="0070C0"/>
                </a:solidFill>
              </a:rPr>
              <a:t>Shift in supply</a:t>
            </a:r>
          </a:p>
        </p:txBody>
      </p:sp>
    </p:spTree>
    <p:extLst>
      <p:ext uri="{BB962C8B-B14F-4D97-AF65-F5344CB8AC3E}">
        <p14:creationId xmlns:p14="http://schemas.microsoft.com/office/powerpoint/2010/main" val="55760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215"/>
            <a:ext cx="8229600" cy="628515"/>
          </a:xfrm>
        </p:spPr>
        <p:txBody>
          <a:bodyPr/>
          <a:lstStyle/>
          <a:p>
            <a:r>
              <a:rPr lang="en-US" noProof="0" dirty="0"/>
              <a:t>Changes in market equilibrium</a:t>
            </a:r>
          </a:p>
        </p:txBody>
      </p:sp>
      <p:grpSp>
        <p:nvGrpSpPr>
          <p:cNvPr id="4" name="Group 3"/>
          <p:cNvGrpSpPr>
            <a:grpSpLocks/>
          </p:cNvGrpSpPr>
          <p:nvPr/>
        </p:nvGrpSpPr>
        <p:grpSpPr bwMode="auto">
          <a:xfrm>
            <a:off x="4731236" y="2491476"/>
            <a:ext cx="3012927" cy="3477060"/>
            <a:chOff x="2488" y="1648"/>
            <a:chExt cx="1804" cy="2080"/>
          </a:xfrm>
        </p:grpSpPr>
        <p:sp>
          <p:nvSpPr>
            <p:cNvPr id="5" name="Line 4"/>
            <p:cNvSpPr>
              <a:spLocks noChangeShapeType="1"/>
            </p:cNvSpPr>
            <p:nvPr/>
          </p:nvSpPr>
          <p:spPr bwMode="auto">
            <a:xfrm>
              <a:off x="2488" y="1648"/>
              <a:ext cx="1488" cy="1816"/>
            </a:xfrm>
            <a:prstGeom prst="line">
              <a:avLst/>
            </a:prstGeom>
            <a:noFill/>
            <a:ln w="50800">
              <a:solidFill>
                <a:srgbClr val="FFC000"/>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6" name="Rectangle 5"/>
            <p:cNvSpPr>
              <a:spLocks noChangeArrowheads="1"/>
            </p:cNvSpPr>
            <p:nvPr/>
          </p:nvSpPr>
          <p:spPr bwMode="auto">
            <a:xfrm>
              <a:off x="3828" y="3352"/>
              <a:ext cx="464"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D</a:t>
              </a:r>
            </a:p>
          </p:txBody>
        </p:sp>
      </p:grpSp>
      <p:grpSp>
        <p:nvGrpSpPr>
          <p:cNvPr id="7" name="Group 7"/>
          <p:cNvGrpSpPr>
            <a:grpSpLocks/>
          </p:cNvGrpSpPr>
          <p:nvPr/>
        </p:nvGrpSpPr>
        <p:grpSpPr bwMode="auto">
          <a:xfrm>
            <a:off x="4460673" y="1870174"/>
            <a:ext cx="2926080" cy="3363387"/>
            <a:chOff x="2512" y="1372"/>
            <a:chExt cx="1752" cy="2012"/>
          </a:xfrm>
        </p:grpSpPr>
        <p:sp>
          <p:nvSpPr>
            <p:cNvPr id="8" name="Line 8"/>
            <p:cNvSpPr>
              <a:spLocks noChangeShapeType="1"/>
            </p:cNvSpPr>
            <p:nvPr/>
          </p:nvSpPr>
          <p:spPr bwMode="auto">
            <a:xfrm flipV="1">
              <a:off x="2512" y="1612"/>
              <a:ext cx="1464" cy="1772"/>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9" name="Rectangle 10"/>
            <p:cNvSpPr>
              <a:spLocks noChangeArrowheads="1"/>
            </p:cNvSpPr>
            <p:nvPr/>
          </p:nvSpPr>
          <p:spPr bwMode="auto">
            <a:xfrm>
              <a:off x="3976" y="1372"/>
              <a:ext cx="288" cy="240"/>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outerShdw blurRad="38100" dist="38100" dir="2700000" sx="1000" sy="1000" algn="tl">
                      <a:srgbClr val="000000"/>
                    </a:outerShdw>
                  </a:effectLst>
                  <a:uLnTx/>
                  <a:uFillTx/>
                  <a:latin typeface="Times New Roman" pitchFamily="18" charset="0"/>
                  <a:ea typeface="+mn-ea"/>
                  <a:cs typeface="Times New Roman" pitchFamily="18" charset="0"/>
                </a:rPr>
                <a:t>S</a:t>
              </a:r>
            </a:p>
          </p:txBody>
        </p:sp>
      </p:grpSp>
      <p:sp>
        <p:nvSpPr>
          <p:cNvPr id="10" name="Line 20"/>
          <p:cNvSpPr>
            <a:spLocks noChangeShapeType="1"/>
          </p:cNvSpPr>
          <p:nvPr/>
        </p:nvSpPr>
        <p:spPr bwMode="auto">
          <a:xfrm>
            <a:off x="3929571" y="2030096"/>
            <a:ext cx="0" cy="4092233"/>
          </a:xfrm>
          <a:prstGeom prst="line">
            <a:avLst/>
          </a:prstGeom>
          <a:noFill/>
          <a:ln w="38100">
            <a:solidFill>
              <a:srgbClr val="002B56"/>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1" name="Line 21"/>
          <p:cNvSpPr>
            <a:spLocks noChangeShapeType="1"/>
          </p:cNvSpPr>
          <p:nvPr/>
        </p:nvSpPr>
        <p:spPr bwMode="auto">
          <a:xfrm>
            <a:off x="3942932" y="6102269"/>
            <a:ext cx="4796633" cy="0"/>
          </a:xfrm>
          <a:prstGeom prst="line">
            <a:avLst/>
          </a:prstGeom>
          <a:noFill/>
          <a:ln w="38100">
            <a:solidFill>
              <a:srgbClr val="002B56"/>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2" name="Rectangle 22"/>
          <p:cNvSpPr>
            <a:spLocks noChangeArrowheads="1"/>
          </p:cNvSpPr>
          <p:nvPr/>
        </p:nvSpPr>
        <p:spPr bwMode="auto">
          <a:xfrm>
            <a:off x="3188030" y="1555901"/>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13" name="Rectangle 35"/>
          <p:cNvSpPr>
            <a:spLocks noChangeArrowheads="1"/>
          </p:cNvSpPr>
          <p:nvPr/>
        </p:nvSpPr>
        <p:spPr bwMode="auto">
          <a:xfrm>
            <a:off x="7470262" y="6137374"/>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grpSp>
        <p:nvGrpSpPr>
          <p:cNvPr id="14" name="Group 13"/>
          <p:cNvGrpSpPr/>
          <p:nvPr/>
        </p:nvGrpSpPr>
        <p:grpSpPr>
          <a:xfrm>
            <a:off x="3248153" y="3566330"/>
            <a:ext cx="2448604" cy="628546"/>
            <a:chOff x="3898151" y="4159791"/>
            <a:chExt cx="2448604" cy="628546"/>
          </a:xfrm>
        </p:grpSpPr>
        <p:sp>
          <p:nvSpPr>
            <p:cNvPr id="15" name="Line 17"/>
            <p:cNvSpPr>
              <a:spLocks noChangeShapeType="1"/>
            </p:cNvSpPr>
            <p:nvPr/>
          </p:nvSpPr>
          <p:spPr bwMode="auto">
            <a:xfrm>
              <a:off x="4633011" y="4287709"/>
              <a:ext cx="1713744"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6" name="Rectangle 18"/>
            <p:cNvSpPr>
              <a:spLocks noChangeArrowheads="1"/>
            </p:cNvSpPr>
            <p:nvPr/>
          </p:nvSpPr>
          <p:spPr bwMode="auto">
            <a:xfrm>
              <a:off x="3898151" y="4159791"/>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grpSp>
        <p:nvGrpSpPr>
          <p:cNvPr id="17" name="Group 16"/>
          <p:cNvGrpSpPr/>
          <p:nvPr/>
        </p:nvGrpSpPr>
        <p:grpSpPr>
          <a:xfrm>
            <a:off x="5349185" y="3694247"/>
            <a:ext cx="668055" cy="3012382"/>
            <a:chOff x="6279765" y="4008603"/>
            <a:chExt cx="668055" cy="3012382"/>
          </a:xfrm>
        </p:grpSpPr>
        <p:sp>
          <p:nvSpPr>
            <p:cNvPr id="18" name="Line 17"/>
            <p:cNvSpPr>
              <a:spLocks noChangeShapeType="1"/>
            </p:cNvSpPr>
            <p:nvPr/>
          </p:nvSpPr>
          <p:spPr bwMode="auto">
            <a:xfrm flipV="1">
              <a:off x="6613793" y="4008603"/>
              <a:ext cx="13544" cy="2383835"/>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9" name="Rectangle 18"/>
            <p:cNvSpPr>
              <a:spLocks noChangeArrowheads="1"/>
            </p:cNvSpPr>
            <p:nvPr/>
          </p:nvSpPr>
          <p:spPr bwMode="auto">
            <a:xfrm>
              <a:off x="6279765"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0</a:t>
              </a:r>
            </a:p>
          </p:txBody>
        </p:sp>
      </p:grpSp>
      <p:grpSp>
        <p:nvGrpSpPr>
          <p:cNvPr id="20" name="Group 19"/>
          <p:cNvGrpSpPr/>
          <p:nvPr/>
        </p:nvGrpSpPr>
        <p:grpSpPr>
          <a:xfrm>
            <a:off x="3248153" y="3265612"/>
            <a:ext cx="4138600" cy="3465203"/>
            <a:chOff x="3964770" y="2857568"/>
            <a:chExt cx="4138600" cy="3465203"/>
          </a:xfrm>
        </p:grpSpPr>
        <p:grpSp>
          <p:nvGrpSpPr>
            <p:cNvPr id="21" name="Group 16"/>
            <p:cNvGrpSpPr>
              <a:grpSpLocks/>
            </p:cNvGrpSpPr>
            <p:nvPr/>
          </p:nvGrpSpPr>
          <p:grpSpPr bwMode="auto">
            <a:xfrm>
              <a:off x="3964770" y="2857568"/>
              <a:ext cx="3757807" cy="628546"/>
              <a:chOff x="1837" y="1972"/>
              <a:chExt cx="2250" cy="376"/>
            </a:xfrm>
          </p:grpSpPr>
          <p:sp>
            <p:nvSpPr>
              <p:cNvPr id="25" name="Line 17"/>
              <p:cNvSpPr>
                <a:spLocks noChangeShapeType="1"/>
              </p:cNvSpPr>
              <p:nvPr/>
            </p:nvSpPr>
            <p:spPr bwMode="auto">
              <a:xfrm>
                <a:off x="2226" y="2160"/>
                <a:ext cx="1861"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6" name="Rectangle 18"/>
              <p:cNvSpPr>
                <a:spLocks noChangeArrowheads="1"/>
              </p:cNvSpPr>
              <p:nvPr/>
            </p:nvSpPr>
            <p:spPr bwMode="auto">
              <a:xfrm>
                <a:off x="1837" y="1972"/>
                <a:ext cx="400"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22" name="Group 21"/>
            <p:cNvGrpSpPr/>
            <p:nvPr/>
          </p:nvGrpSpPr>
          <p:grpSpPr>
            <a:xfrm>
              <a:off x="7435315" y="3171841"/>
              <a:ext cx="668055" cy="3150930"/>
              <a:chOff x="7051184" y="3186501"/>
              <a:chExt cx="668055" cy="3150930"/>
            </a:xfrm>
          </p:grpSpPr>
          <p:sp>
            <p:nvSpPr>
              <p:cNvPr id="23" name="Line 17"/>
              <p:cNvSpPr>
                <a:spLocks noChangeShapeType="1"/>
              </p:cNvSpPr>
              <p:nvPr/>
            </p:nvSpPr>
            <p:spPr bwMode="auto">
              <a:xfrm flipH="1" flipV="1">
                <a:off x="7338606" y="3186501"/>
                <a:ext cx="1" cy="2522384"/>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24" name="Rectangle 18"/>
              <p:cNvSpPr>
                <a:spLocks noChangeArrowheads="1"/>
              </p:cNvSpPr>
              <p:nvPr/>
            </p:nvSpPr>
            <p:spPr bwMode="auto">
              <a:xfrm>
                <a:off x="7051184" y="5708885"/>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grpSp>
        <p:nvGrpSpPr>
          <p:cNvPr id="28" name="Group 27"/>
          <p:cNvGrpSpPr/>
          <p:nvPr/>
        </p:nvGrpSpPr>
        <p:grpSpPr>
          <a:xfrm>
            <a:off x="5696757" y="2070773"/>
            <a:ext cx="2859226" cy="3148004"/>
            <a:chOff x="6372223" y="2487293"/>
            <a:chExt cx="2859226" cy="3148004"/>
          </a:xfrm>
        </p:grpSpPr>
        <p:sp>
          <p:nvSpPr>
            <p:cNvPr id="33" name="Line 8"/>
            <p:cNvSpPr>
              <a:spLocks noChangeShapeType="1"/>
            </p:cNvSpPr>
            <p:nvPr/>
          </p:nvSpPr>
          <p:spPr bwMode="auto">
            <a:xfrm flipH="1" flipV="1">
              <a:off x="6372223" y="2487293"/>
              <a:ext cx="2408155" cy="2753372"/>
            </a:xfrm>
            <a:prstGeom prst="line">
              <a:avLst/>
            </a:prstGeom>
            <a:noFill/>
            <a:ln w="508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4" name="Rectangle 10"/>
            <p:cNvSpPr>
              <a:spLocks noChangeArrowheads="1"/>
            </p:cNvSpPr>
            <p:nvPr/>
          </p:nvSpPr>
          <p:spPr bwMode="auto">
            <a:xfrm>
              <a:off x="8750450" y="5234098"/>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B050"/>
                  </a:solidFill>
                  <a:effectLst>
                    <a:outerShdw blurRad="38100" dist="38100" dir="2700000" sx="12000" sy="12000" algn="tl">
                      <a:srgbClr val="000000"/>
                    </a:outerShdw>
                  </a:effectLst>
                  <a:uLnTx/>
                  <a:uFillTx/>
                  <a:latin typeface="Times New Roman" pitchFamily="18" charset="0"/>
                  <a:ea typeface="+mn-ea"/>
                  <a:cs typeface="Times New Roman" pitchFamily="18" charset="0"/>
                </a:rPr>
                <a:t>D’</a:t>
              </a:r>
            </a:p>
          </p:txBody>
        </p:sp>
        <p:sp>
          <p:nvSpPr>
            <p:cNvPr id="35" name="Line 20"/>
            <p:cNvSpPr>
              <a:spLocks noChangeShapeType="1"/>
            </p:cNvSpPr>
            <p:nvPr/>
          </p:nvSpPr>
          <p:spPr bwMode="auto">
            <a:xfrm flipH="1">
              <a:off x="7716539" y="4841036"/>
              <a:ext cx="507115" cy="461648"/>
            </a:xfrm>
            <a:prstGeom prst="line">
              <a:avLst/>
            </a:prstGeom>
            <a:noFill/>
            <a:ln w="38100">
              <a:solidFill>
                <a:srgbClr val="00B050"/>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grpSp>
      <p:grpSp>
        <p:nvGrpSpPr>
          <p:cNvPr id="29" name="Group 28"/>
          <p:cNvGrpSpPr/>
          <p:nvPr/>
        </p:nvGrpSpPr>
        <p:grpSpPr>
          <a:xfrm>
            <a:off x="5154665" y="2454001"/>
            <a:ext cx="2926080" cy="3363387"/>
            <a:chOff x="5854298" y="2744172"/>
            <a:chExt cx="2926080" cy="3363387"/>
          </a:xfrm>
        </p:grpSpPr>
        <p:sp>
          <p:nvSpPr>
            <p:cNvPr id="30" name="Line 8"/>
            <p:cNvSpPr>
              <a:spLocks noChangeShapeType="1"/>
            </p:cNvSpPr>
            <p:nvPr/>
          </p:nvSpPr>
          <p:spPr bwMode="auto">
            <a:xfrm flipV="1">
              <a:off x="5854298" y="3145371"/>
              <a:ext cx="2445081" cy="2962188"/>
            </a:xfrm>
            <a:prstGeom prst="line">
              <a:avLst/>
            </a:prstGeom>
            <a:noFill/>
            <a:ln w="50800">
              <a:solidFill>
                <a:srgbClr val="0070C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1" name="Rectangle 10"/>
            <p:cNvSpPr>
              <a:spLocks noChangeArrowheads="1"/>
            </p:cNvSpPr>
            <p:nvPr/>
          </p:nvSpPr>
          <p:spPr bwMode="auto">
            <a:xfrm>
              <a:off x="8299379" y="2744172"/>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70C0"/>
                  </a:solidFill>
                  <a:effectLst>
                    <a:outerShdw blurRad="38100" dist="38100" dir="2700000" sx="1000" sy="1000" algn="tl">
                      <a:srgbClr val="000000"/>
                    </a:outerShdw>
                  </a:effectLst>
                  <a:uLnTx/>
                  <a:uFillTx/>
                  <a:latin typeface="Times New Roman" pitchFamily="18" charset="0"/>
                  <a:ea typeface="+mn-ea"/>
                  <a:cs typeface="Times New Roman" pitchFamily="18" charset="0"/>
                </a:rPr>
                <a:t>S’</a:t>
              </a:r>
            </a:p>
          </p:txBody>
        </p:sp>
        <p:sp>
          <p:nvSpPr>
            <p:cNvPr id="32" name="Line 20"/>
            <p:cNvSpPr>
              <a:spLocks noChangeShapeType="1"/>
            </p:cNvSpPr>
            <p:nvPr/>
          </p:nvSpPr>
          <p:spPr bwMode="auto">
            <a:xfrm flipH="1" flipV="1">
              <a:off x="7267585" y="3110173"/>
              <a:ext cx="902309" cy="56809"/>
            </a:xfrm>
            <a:prstGeom prst="line">
              <a:avLst/>
            </a:prstGeom>
            <a:noFill/>
            <a:ln w="38100">
              <a:solidFill>
                <a:srgbClr val="0070C0"/>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grpSp>
      <p:sp>
        <p:nvSpPr>
          <p:cNvPr id="36" name="Content Placeholder 4"/>
          <p:cNvSpPr txBox="1">
            <a:spLocks/>
          </p:cNvSpPr>
          <p:nvPr/>
        </p:nvSpPr>
        <p:spPr>
          <a:xfrm>
            <a:off x="192654" y="1325591"/>
            <a:ext cx="2682894" cy="477364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spcBef>
                <a:spcPts val="300"/>
              </a:spcBef>
              <a:buClr>
                <a:schemeClr val="bg1"/>
              </a:buClr>
              <a:buNone/>
            </a:pPr>
            <a:r>
              <a:rPr lang="en-US" sz="2200" dirty="0">
                <a:solidFill>
                  <a:srgbClr val="002B56"/>
                </a:solidFill>
                <a:latin typeface="Whitney-Book" pitchFamily="50" charset="0"/>
                <a:cs typeface="Whitney-Book" pitchFamily="50" charset="0"/>
              </a:rPr>
              <a:t>In this case, shifts in both curves lead to a slightly higher price </a:t>
            </a:r>
            <a:r>
              <a:rPr lang="en-US" sz="2200" i="1" dirty="0">
                <a:solidFill>
                  <a:srgbClr val="002B56"/>
                </a:solidFill>
                <a:latin typeface="Whitney-Book" pitchFamily="50" charset="0"/>
                <a:cs typeface="Whitney-Book" pitchFamily="50" charset="0"/>
              </a:rPr>
              <a:t>P</a:t>
            </a:r>
            <a:r>
              <a:rPr lang="en-US" sz="2200" i="1" baseline="-25000" dirty="0">
                <a:solidFill>
                  <a:srgbClr val="002B56"/>
                </a:solidFill>
                <a:latin typeface="Whitney-Book" pitchFamily="50" charset="0"/>
                <a:cs typeface="Whitney-Book" pitchFamily="50" charset="0"/>
              </a:rPr>
              <a:t>1</a:t>
            </a:r>
            <a:r>
              <a:rPr lang="en-US" sz="2200" dirty="0">
                <a:solidFill>
                  <a:srgbClr val="002B56"/>
                </a:solidFill>
                <a:latin typeface="Whitney-Book" pitchFamily="50" charset="0"/>
                <a:cs typeface="Whitney-Book" pitchFamily="50" charset="0"/>
              </a:rPr>
              <a:t> and a much larger quantity </a:t>
            </a:r>
            <a:r>
              <a:rPr lang="en-US" sz="2200" i="1" dirty="0">
                <a:solidFill>
                  <a:srgbClr val="002B56"/>
                </a:solidFill>
                <a:latin typeface="Whitney-Book" pitchFamily="50" charset="0"/>
                <a:cs typeface="Whitney-Book" pitchFamily="50" charset="0"/>
              </a:rPr>
              <a:t>Q</a:t>
            </a:r>
            <a:r>
              <a:rPr lang="en-US" sz="2200" i="1" baseline="-25000" dirty="0">
                <a:solidFill>
                  <a:srgbClr val="002B56"/>
                </a:solidFill>
                <a:latin typeface="Whitney-Book" pitchFamily="50" charset="0"/>
                <a:cs typeface="Whitney-Book" pitchFamily="50" charset="0"/>
              </a:rPr>
              <a:t>1</a:t>
            </a:r>
            <a:endParaRPr lang="en-US" sz="2200" i="1" dirty="0">
              <a:solidFill>
                <a:srgbClr val="002B56"/>
              </a:solidFill>
              <a:latin typeface="Whitney-Book" pitchFamily="50" charset="0"/>
              <a:cs typeface="Whitney-Book" pitchFamily="50" charset="0"/>
            </a:endParaRPr>
          </a:p>
          <a:p>
            <a:pPr marL="0" indent="0" defTabSz="914400">
              <a:spcBef>
                <a:spcPts val="300"/>
              </a:spcBef>
              <a:buClr>
                <a:schemeClr val="bg1"/>
              </a:buClr>
              <a:buNone/>
            </a:pPr>
            <a:endParaRPr lang="en-US" sz="2200" dirty="0">
              <a:solidFill>
                <a:srgbClr val="002B56"/>
              </a:solidFill>
              <a:latin typeface="Whitney-Book" pitchFamily="50" charset="0"/>
              <a:cs typeface="Whitney-Book" pitchFamily="50" charset="0"/>
            </a:endParaRPr>
          </a:p>
          <a:p>
            <a:pPr marL="0" indent="0" defTabSz="914400">
              <a:spcBef>
                <a:spcPts val="300"/>
              </a:spcBef>
              <a:buClr>
                <a:schemeClr val="bg1"/>
              </a:buClr>
              <a:buNone/>
            </a:pPr>
            <a:r>
              <a:rPr lang="en-US" sz="2200" dirty="0">
                <a:solidFill>
                  <a:srgbClr val="002B56"/>
                </a:solidFill>
                <a:latin typeface="Whitney-Book" pitchFamily="50" charset="0"/>
                <a:cs typeface="Whitney-Book" pitchFamily="50" charset="0"/>
              </a:rPr>
              <a:t>Note: An even larger shift in S will lead to a lower price. But quantity unambiguously increases.</a:t>
            </a:r>
          </a:p>
        </p:txBody>
      </p:sp>
      <p:sp>
        <p:nvSpPr>
          <p:cNvPr id="37" name="Rectangle 3"/>
          <p:cNvSpPr txBox="1">
            <a:spLocks noChangeArrowheads="1"/>
          </p:cNvSpPr>
          <p:nvPr/>
        </p:nvSpPr>
        <p:spPr bwMode="auto">
          <a:xfrm>
            <a:off x="4099031" y="1061321"/>
            <a:ext cx="4757864" cy="419100"/>
          </a:xfrm>
          <a:prstGeom prst="rect">
            <a:avLst/>
          </a:prstGeom>
          <a:noFill/>
          <a:ln w="9525">
            <a:noFill/>
            <a:miter lim="800000"/>
            <a:headEnd/>
            <a:tailEnd/>
          </a:ln>
          <a:effectLst/>
        </p:spPr>
        <p:txBody>
          <a:bodyPr vert="horz" wrap="square" lIns="98207" tIns="49104" rIns="98207" bIns="49104" numCol="1" anchor="t" anchorCtr="0" compatLnSpc="1">
            <a:prstTxWarp prst="textNoShape">
              <a:avLst/>
            </a:prstTxWarp>
          </a:bodyPr>
          <a:lstStyle>
            <a:lvl1pPr marL="365125" indent="-365125" algn="l" defTabSz="974725" rtl="0" fontAlgn="base">
              <a:spcBef>
                <a:spcPct val="20000"/>
              </a:spcBef>
              <a:spcAft>
                <a:spcPct val="0"/>
              </a:spcAft>
              <a:buClr>
                <a:schemeClr val="folHlink"/>
              </a:buClr>
              <a:buChar char="•"/>
              <a:defRPr sz="3400">
                <a:solidFill>
                  <a:schemeClr val="tx1"/>
                </a:solidFill>
                <a:latin typeface="+mn-lt"/>
                <a:ea typeface="+mn-ea"/>
                <a:cs typeface="+mn-cs"/>
              </a:defRPr>
            </a:lvl1pPr>
            <a:lvl2pPr marL="792163" indent="-304800" algn="l" defTabSz="974725" rtl="0" fontAlgn="base">
              <a:spcBef>
                <a:spcPct val="20000"/>
              </a:spcBef>
              <a:spcAft>
                <a:spcPct val="0"/>
              </a:spcAft>
              <a:buClr>
                <a:schemeClr val="hlink"/>
              </a:buClr>
              <a:buChar char="•"/>
              <a:defRPr sz="3000">
                <a:solidFill>
                  <a:schemeClr val="tx1"/>
                </a:solidFill>
                <a:latin typeface="+mn-lt"/>
              </a:defRPr>
            </a:lvl2pPr>
            <a:lvl3pPr marL="1219200" indent="-244475" algn="l" defTabSz="974725" rtl="0" fontAlgn="base">
              <a:spcBef>
                <a:spcPct val="20000"/>
              </a:spcBef>
              <a:spcAft>
                <a:spcPct val="0"/>
              </a:spcAft>
              <a:buClr>
                <a:schemeClr val="folHlink"/>
              </a:buClr>
              <a:buChar char="•"/>
              <a:defRPr sz="2600">
                <a:solidFill>
                  <a:schemeClr val="tx1"/>
                </a:solidFill>
                <a:latin typeface="+mn-lt"/>
              </a:defRPr>
            </a:lvl3pPr>
            <a:lvl4pPr marL="1706563" indent="-242888" algn="l" defTabSz="974725" rtl="0" fontAlgn="base">
              <a:spcBef>
                <a:spcPct val="20000"/>
              </a:spcBef>
              <a:spcAft>
                <a:spcPct val="0"/>
              </a:spcAft>
              <a:buClr>
                <a:schemeClr val="accent2"/>
              </a:buClr>
              <a:buChar char="•"/>
              <a:defRPr sz="2100">
                <a:solidFill>
                  <a:schemeClr val="tx1"/>
                </a:solidFill>
                <a:latin typeface="+mn-lt"/>
              </a:defRPr>
            </a:lvl4pPr>
            <a:lvl5pPr marL="2193925" indent="-242888" algn="l" defTabSz="974725" rtl="0" fontAlgn="base">
              <a:spcBef>
                <a:spcPct val="20000"/>
              </a:spcBef>
              <a:spcAft>
                <a:spcPct val="0"/>
              </a:spcAft>
              <a:buClr>
                <a:schemeClr val="accent1"/>
              </a:buClr>
              <a:buChar char="•"/>
              <a:defRPr sz="2100">
                <a:solidFill>
                  <a:schemeClr val="tx1"/>
                </a:solidFill>
                <a:latin typeface="+mn-lt"/>
              </a:defRPr>
            </a:lvl5pPr>
            <a:lvl6pPr marL="2651125" indent="-242888" algn="l" defTabSz="974725" rtl="0" fontAlgn="base">
              <a:spcBef>
                <a:spcPct val="20000"/>
              </a:spcBef>
              <a:spcAft>
                <a:spcPct val="0"/>
              </a:spcAft>
              <a:buClr>
                <a:schemeClr val="accent1"/>
              </a:buClr>
              <a:buChar char="•"/>
              <a:defRPr sz="2100">
                <a:solidFill>
                  <a:schemeClr val="tx1"/>
                </a:solidFill>
                <a:latin typeface="+mn-lt"/>
              </a:defRPr>
            </a:lvl6pPr>
            <a:lvl7pPr marL="3108325" indent="-242888" algn="l" defTabSz="974725" rtl="0" fontAlgn="base">
              <a:spcBef>
                <a:spcPct val="20000"/>
              </a:spcBef>
              <a:spcAft>
                <a:spcPct val="0"/>
              </a:spcAft>
              <a:buClr>
                <a:schemeClr val="accent1"/>
              </a:buClr>
              <a:buChar char="•"/>
              <a:defRPr sz="2100">
                <a:solidFill>
                  <a:schemeClr val="tx1"/>
                </a:solidFill>
                <a:latin typeface="+mn-lt"/>
              </a:defRPr>
            </a:lvl7pPr>
            <a:lvl8pPr marL="3565525" indent="-242888" algn="l" defTabSz="974725" rtl="0" fontAlgn="base">
              <a:spcBef>
                <a:spcPct val="20000"/>
              </a:spcBef>
              <a:spcAft>
                <a:spcPct val="0"/>
              </a:spcAft>
              <a:buClr>
                <a:schemeClr val="accent1"/>
              </a:buClr>
              <a:buChar char="•"/>
              <a:defRPr sz="2100">
                <a:solidFill>
                  <a:schemeClr val="tx1"/>
                </a:solidFill>
                <a:latin typeface="+mn-lt"/>
              </a:defRPr>
            </a:lvl8pPr>
            <a:lvl9pPr marL="4022725" indent="-242888" algn="l" defTabSz="974725" rtl="0" fontAlgn="base">
              <a:spcBef>
                <a:spcPct val="20000"/>
              </a:spcBef>
              <a:spcAft>
                <a:spcPct val="0"/>
              </a:spcAft>
              <a:buClr>
                <a:schemeClr val="accent1"/>
              </a:buClr>
              <a:buChar char="•"/>
              <a:defRPr sz="2100">
                <a:solidFill>
                  <a:schemeClr val="tx1"/>
                </a:solidFill>
                <a:latin typeface="+mn-lt"/>
              </a:defRPr>
            </a:lvl9pPr>
          </a:lstStyle>
          <a:p>
            <a:pPr marL="0" marR="0" lvl="0" indent="0" algn="l" defTabSz="914400" rtl="0" eaLnBrk="1" fontAlgn="base" latinLnBrk="0" hangingPunct="1">
              <a:lnSpc>
                <a:spcPct val="100000"/>
              </a:lnSpc>
              <a:spcBef>
                <a:spcPts val="300"/>
              </a:spcBef>
              <a:spcAft>
                <a:spcPct val="0"/>
              </a:spcAft>
              <a:buClr>
                <a:srgbClr val="FFFFFF"/>
              </a:buClr>
              <a:buSzTx/>
              <a:buFontTx/>
              <a:buNone/>
              <a:tabLst/>
              <a:defRPr/>
            </a:pPr>
            <a:r>
              <a:rPr kumimoji="0" lang="en-US" sz="2400" b="1" i="0" u="none" strike="noStrike" kern="1200" cap="none" spc="0" normalizeH="0" baseline="0" noProof="0" dirty="0">
                <a:ln>
                  <a:noFill/>
                </a:ln>
                <a:solidFill>
                  <a:srgbClr val="002B56"/>
                </a:solidFill>
                <a:effectLst/>
                <a:uLnTx/>
                <a:uFillTx/>
                <a:latin typeface="Whitney-Medium" pitchFamily="50" charset="0"/>
                <a:cs typeface="Whitney-Medium" pitchFamily="50" charset="0"/>
              </a:rPr>
              <a:t>SHIFT IN </a:t>
            </a:r>
            <a:r>
              <a:rPr lang="en-US" sz="2400" b="1" dirty="0">
                <a:solidFill>
                  <a:srgbClr val="002B56"/>
                </a:solidFill>
                <a:latin typeface="Whitney-Medium" pitchFamily="50" charset="0"/>
                <a:cs typeface="Whitney-Medium" pitchFamily="50" charset="0"/>
              </a:rPr>
              <a:t>SUPPLY </a:t>
            </a:r>
            <a:r>
              <a:rPr lang="en-US" sz="2400" b="1" u="sng" dirty="0">
                <a:solidFill>
                  <a:srgbClr val="002B56"/>
                </a:solidFill>
                <a:latin typeface="Whitney-Medium" pitchFamily="50" charset="0"/>
                <a:cs typeface="Whitney-Medium" pitchFamily="50" charset="0"/>
              </a:rPr>
              <a:t>AND</a:t>
            </a:r>
            <a:r>
              <a:rPr lang="en-US" sz="2400" b="1" dirty="0">
                <a:solidFill>
                  <a:srgbClr val="002B56"/>
                </a:solidFill>
                <a:latin typeface="Whitney-Medium" pitchFamily="50" charset="0"/>
                <a:cs typeface="Whitney-Medium" pitchFamily="50" charset="0"/>
              </a:rPr>
              <a:t> DEMAND</a:t>
            </a:r>
            <a:endParaRPr kumimoji="0" lang="en-US" sz="2400" b="1" i="0" u="none" strike="noStrike" kern="1200" cap="none" spc="0" normalizeH="0" baseline="0" noProof="0" dirty="0">
              <a:ln>
                <a:noFill/>
              </a:ln>
              <a:solidFill>
                <a:srgbClr val="002B56"/>
              </a:solidFill>
              <a:effectLst/>
              <a:uLnTx/>
              <a:uFillTx/>
              <a:latin typeface="Whitney-Medium" pitchFamily="50" charset="0"/>
              <a:cs typeface="Whitney-Medium" pitchFamily="50" charset="0"/>
            </a:endParaRPr>
          </a:p>
        </p:txBody>
      </p:sp>
      <p:sp>
        <p:nvSpPr>
          <p:cNvPr id="3" name="Slide Number Placeholder 2">
            <a:extLst>
              <a:ext uri="{FF2B5EF4-FFF2-40B4-BE49-F238E27FC236}">
                <a16:creationId xmlns:a16="http://schemas.microsoft.com/office/drawing/2014/main" id="{0B5E13C1-8F93-EA4F-9A39-4022EA13719A}"/>
              </a:ext>
            </a:extLst>
          </p:cNvPr>
          <p:cNvSpPr>
            <a:spLocks noGrp="1"/>
          </p:cNvSpPr>
          <p:nvPr>
            <p:ph type="sldNum" sz="quarter" idx="12"/>
          </p:nvPr>
        </p:nvSpPr>
        <p:spPr/>
        <p:txBody>
          <a:bodyPr/>
          <a:lstStyle/>
          <a:p>
            <a:fld id="{0F3206DB-9488-D04D-BDD1-A7C9D84C4579}" type="slidenum">
              <a:rPr lang="en-US" smtClean="0"/>
              <a:pPr/>
              <a:t>7</a:t>
            </a:fld>
            <a:endParaRPr lang="en-US" dirty="0"/>
          </a:p>
        </p:txBody>
      </p:sp>
      <p:grpSp>
        <p:nvGrpSpPr>
          <p:cNvPr id="38" name="Group 37">
            <a:extLst>
              <a:ext uri="{FF2B5EF4-FFF2-40B4-BE49-F238E27FC236}">
                <a16:creationId xmlns:a16="http://schemas.microsoft.com/office/drawing/2014/main" id="{94E19024-F125-4649-BC08-F7E0B5D1B120}"/>
              </a:ext>
            </a:extLst>
          </p:cNvPr>
          <p:cNvGrpSpPr/>
          <p:nvPr/>
        </p:nvGrpSpPr>
        <p:grpSpPr>
          <a:xfrm>
            <a:off x="90323" y="6213685"/>
            <a:ext cx="3626912" cy="566487"/>
            <a:chOff x="62403" y="6168852"/>
            <a:chExt cx="3432521" cy="566487"/>
          </a:xfrm>
        </p:grpSpPr>
        <p:sp>
          <p:nvSpPr>
            <p:cNvPr id="39" name="Rectangle 3">
              <a:extLst>
                <a:ext uri="{FF2B5EF4-FFF2-40B4-BE49-F238E27FC236}">
                  <a16:creationId xmlns:a16="http://schemas.microsoft.com/office/drawing/2014/main" id="{017C9368-05B1-41CB-8A46-FE79297310D1}"/>
                </a:ext>
              </a:extLst>
            </p:cNvPr>
            <p:cNvSpPr txBox="1">
              <a:spLocks noChangeArrowheads="1"/>
            </p:cNvSpPr>
            <p:nvPr/>
          </p:nvSpPr>
          <p:spPr>
            <a:xfrm>
              <a:off x="62403" y="6168852"/>
              <a:ext cx="3432521"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Problem Set 1, #2, #3</a:t>
              </a:r>
            </a:p>
          </p:txBody>
        </p:sp>
        <p:sp>
          <p:nvSpPr>
            <p:cNvPr id="40" name="Right Arrow 1">
              <a:extLst>
                <a:ext uri="{FF2B5EF4-FFF2-40B4-BE49-F238E27FC236}">
                  <a16:creationId xmlns:a16="http://schemas.microsoft.com/office/drawing/2014/main" id="{132E584D-1FA0-4C01-8EB6-97F649FACED9}"/>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7544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p:cTn id="27" dur="1000" fill="hold"/>
                                        <p:tgtEl>
                                          <p:spTgt spid="38"/>
                                        </p:tgtEl>
                                        <p:attrNameLst>
                                          <p:attrName>ppt_w</p:attrName>
                                        </p:attrNameLst>
                                      </p:cBhvr>
                                      <p:tavLst>
                                        <p:tav tm="0">
                                          <p:val>
                                            <p:fltVal val="0"/>
                                          </p:val>
                                        </p:tav>
                                        <p:tav tm="100000">
                                          <p:val>
                                            <p:strVal val="#ppt_w"/>
                                          </p:val>
                                        </p:tav>
                                      </p:tavLst>
                                    </p:anim>
                                    <p:anim calcmode="lin" valueType="num">
                                      <p:cBhvr>
                                        <p:cTn id="28" dur="1000" fill="hold"/>
                                        <p:tgtEl>
                                          <p:spTgt spid="38"/>
                                        </p:tgtEl>
                                        <p:attrNameLst>
                                          <p:attrName>ppt_h</p:attrName>
                                        </p:attrNameLst>
                                      </p:cBhvr>
                                      <p:tavLst>
                                        <p:tav tm="0">
                                          <p:val>
                                            <p:fltVal val="0"/>
                                          </p:val>
                                        </p:tav>
                                        <p:tav tm="100000">
                                          <p:val>
                                            <p:strVal val="#ppt_h"/>
                                          </p:val>
                                        </p:tav>
                                      </p:tavLst>
                                    </p:anim>
                                    <p:anim calcmode="lin" valueType="num">
                                      <p:cBhvr>
                                        <p:cTn id="29" dur="1000" fill="hold"/>
                                        <p:tgtEl>
                                          <p:spTgt spid="38"/>
                                        </p:tgtEl>
                                        <p:attrNameLst>
                                          <p:attrName>style.rotation</p:attrName>
                                        </p:attrNameLst>
                                      </p:cBhvr>
                                      <p:tavLst>
                                        <p:tav tm="0">
                                          <p:val>
                                            <p:fltVal val="90"/>
                                          </p:val>
                                        </p:tav>
                                        <p:tav tm="100000">
                                          <p:val>
                                            <p:fltVal val="0"/>
                                          </p:val>
                                        </p:tav>
                                      </p:tavLst>
                                    </p:anim>
                                    <p:animEffect transition="in" filter="fade">
                                      <p:cBhvr>
                                        <p:cTn id="30"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62834</TotalTime>
  <Words>838</Words>
  <Application>Microsoft Office PowerPoint</Application>
  <PresentationFormat>On-screen Show (4:3)</PresentationFormat>
  <Paragraphs>126</Paragraphs>
  <Slides>7</Slides>
  <Notes>7</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7</vt:i4>
      </vt:variant>
    </vt:vector>
  </HeadingPairs>
  <TitlesOfParts>
    <vt:vector size="20" baseType="lpstr">
      <vt:lpstr>Arial</vt:lpstr>
      <vt:lpstr>Calibri</vt:lpstr>
      <vt:lpstr>Lucida Grande</vt:lpstr>
      <vt:lpstr>Tahoma</vt:lpstr>
      <vt:lpstr>Times New Roman</vt:lpstr>
      <vt:lpstr>Trebuchet MS</vt:lpstr>
      <vt:lpstr>Whitney Book</vt:lpstr>
      <vt:lpstr>Whitney-Book</vt:lpstr>
      <vt:lpstr>Whitney-Medium</vt:lpstr>
      <vt:lpstr>2_Custom Design</vt:lpstr>
      <vt:lpstr>Custom Design</vt:lpstr>
      <vt:lpstr>3_Custom Design</vt:lpstr>
      <vt:lpstr>5_Custom Design</vt:lpstr>
      <vt:lpstr>Week 1 – Video 4 Market Equilibrium</vt:lpstr>
      <vt:lpstr>outline of module 1</vt:lpstr>
      <vt:lpstr>The market mechanism</vt:lpstr>
      <vt:lpstr>Summary of Terminology</vt:lpstr>
      <vt:lpstr>Changes in market equilibrium</vt:lpstr>
      <vt:lpstr>Changes in market equilibrium</vt:lpstr>
      <vt:lpstr>Changes in market equilibrium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Voigtlaender, Nico</cp:lastModifiedBy>
  <cp:revision>590</cp:revision>
  <cp:lastPrinted>2019-09-13T20:44:29Z</cp:lastPrinted>
  <dcterms:created xsi:type="dcterms:W3CDTF">2013-01-24T22:32:50Z</dcterms:created>
  <dcterms:modified xsi:type="dcterms:W3CDTF">2021-10-06T23:54:52Z</dcterms:modified>
  <cp:category/>
</cp:coreProperties>
</file>