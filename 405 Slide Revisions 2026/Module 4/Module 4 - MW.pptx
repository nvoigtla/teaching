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323" r:id="rId7"/>
    <p:sldId id="262" r:id="rId8"/>
    <p:sldId id="324" r:id="rId9"/>
    <p:sldId id="263" r:id="rId10"/>
    <p:sldId id="265" r:id="rId11"/>
    <p:sldId id="266" r:id="rId12"/>
    <p:sldId id="326" r:id="rId13"/>
    <p:sldId id="268" r:id="rId14"/>
    <p:sldId id="327" r:id="rId15"/>
    <p:sldId id="363" r:id="rId16"/>
    <p:sldId id="364" r:id="rId17"/>
    <p:sldId id="355" r:id="rId18"/>
    <p:sldId id="273" r:id="rId19"/>
    <p:sldId id="325" r:id="rId20"/>
    <p:sldId id="356" r:id="rId21"/>
    <p:sldId id="358" r:id="rId22"/>
    <p:sldId id="359" r:id="rId23"/>
    <p:sldId id="278" r:id="rId24"/>
    <p:sldId id="279" r:id="rId25"/>
    <p:sldId id="357" r:id="rId26"/>
    <p:sldId id="336" r:id="rId27"/>
    <p:sldId id="360" r:id="rId28"/>
    <p:sldId id="361" r:id="rId29"/>
    <p:sldId id="362" r:id="rId30"/>
    <p:sldId id="337" r:id="rId31"/>
    <p:sldId id="338" r:id="rId32"/>
    <p:sldId id="339" r:id="rId33"/>
    <p:sldId id="340" r:id="rId34"/>
    <p:sldId id="289" r:id="rId35"/>
    <p:sldId id="290" r:id="rId36"/>
    <p:sldId id="291" r:id="rId37"/>
    <p:sldId id="341" r:id="rId38"/>
    <p:sldId id="343" r:id="rId39"/>
    <p:sldId id="344" r:id="rId40"/>
    <p:sldId id="345" r:id="rId41"/>
    <p:sldId id="296" r:id="rId42"/>
    <p:sldId id="297" r:id="rId43"/>
    <p:sldId id="346" r:id="rId44"/>
    <p:sldId id="348" r:id="rId45"/>
    <p:sldId id="350" r:id="rId46"/>
    <p:sldId id="347" r:id="rId47"/>
    <p:sldId id="300" r:id="rId48"/>
    <p:sldId id="301" r:id="rId49"/>
    <p:sldId id="329" r:id="rId50"/>
    <p:sldId id="330" r:id="rId51"/>
    <p:sldId id="332" r:id="rId52"/>
    <p:sldId id="331" r:id="rId53"/>
    <p:sldId id="306" r:id="rId54"/>
    <p:sldId id="333" r:id="rId55"/>
    <p:sldId id="308" r:id="rId56"/>
    <p:sldId id="309" r:id="rId57"/>
    <p:sldId id="310" r:id="rId58"/>
    <p:sldId id="311" r:id="rId59"/>
    <p:sldId id="312" r:id="rId60"/>
    <p:sldId id="313" r:id="rId61"/>
    <p:sldId id="314" r:id="rId62"/>
    <p:sldId id="334" r:id="rId63"/>
    <p:sldId id="319" r:id="rId64"/>
    <p:sldId id="335" r:id="rId65"/>
    <p:sldId id="321" r:id="rId66"/>
    <p:sldId id="351" r:id="rId67"/>
    <p:sldId id="354" r:id="rId68"/>
    <p:sldId id="352" r:id="rId69"/>
    <p:sldId id="353" r:id="rId70"/>
    <p:sldId id="322"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9"/>
    <p:restoredTop sz="94571"/>
  </p:normalViewPr>
  <p:slideViewPr>
    <p:cSldViewPr snapToGrid="0" snapToObjects="1">
      <p:cViewPr varScale="1">
        <p:scale>
          <a:sx n="143" d="100"/>
          <a:sy n="143" d="100"/>
        </p:scale>
        <p:origin x="216" y="6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27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296805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594910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692710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953885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689235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6B811B-218E-224F-9265-7089C6559D3E}" type="slidenum">
              <a:rPr lang="en-US" smtClean="0"/>
              <a:t>6</a:t>
            </a:fld>
            <a:endParaRPr lang="en-US"/>
          </a:p>
        </p:txBody>
      </p:sp>
    </p:spTree>
    <p:extLst>
      <p:ext uri="{BB962C8B-B14F-4D97-AF65-F5344CB8AC3E}">
        <p14:creationId xmlns:p14="http://schemas.microsoft.com/office/powerpoint/2010/main" val="3942557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433364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864902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Oligopoly means markets with few sellers, but more than one (which is monopoly). How few? What is the distinction between oligopoly and monopolistic competition?</a:t>
            </a:r>
          </a:p>
          <a:p>
            <a:r>
              <a:t>There are barriers to entry in oligopolistic markets, keeping the number of competitors low and creating the potential for long term abnormal profits.</a:t>
            </a:r>
          </a:p>
          <a:p>
            <a:r>
              <a:t>There is strategic interdependence in oligopoly: under monopolistic competition, each firm ignores price changes by other firms because each is so small their price behavior does not affect your behavior. Under oligopoly, each has an incentive to respond to others' deviations.</a:t>
            </a:r>
          </a:p>
          <a:p>
            <a:r>
              <a:t>Examples of oligopoly include tobacco, satellite radio (before the merger), wide-bodied aircraft, and mobile phone services.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slides explain the relationship between the market vs. the firm demand. It shows where the demand a price taker is coming from = market price, determined by the market equilibrium.</a:t>
            </a:r>
          </a:p>
          <a:p>
            <a:r>
              <a:t>Now, let’s turn to see how a price taker maximizes profit in the short run.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https://www.vulture.com/article/minari-movie-review-a-gentle-immigrant-drama-set-in-u-s.html</a:t>
            </a:r>
          </a:p>
          <a:p>
            <a:r>
              <a:t>https://time.com/5938842/minari-korean-american-farmers/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986633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011342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601476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3522434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3478059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91957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832004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173744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676980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3922031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953887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measure profit, we subtract total cost from total revenue.</a:t>
            </a:r>
          </a:p>
          <a:p>
            <a:endParaRPr/>
          </a:p>
          <a:p>
            <a:r>
              <a:t>Profit = TR – TC</a:t>
            </a:r>
          </a:p>
          <a:p>
            <a:r>
              <a:t>We can rewrite this as:</a:t>
            </a:r>
          </a:p>
          <a:p>
            <a:r>
              <a:t>Profit = P*Q – ATC*Q</a:t>
            </a:r>
          </a:p>
          <a:p>
            <a:r>
              <a:t>Profit = (P – ATC)*Q</a:t>
            </a:r>
          </a:p>
          <a:p>
            <a:endParaRPr/>
          </a:p>
          <a:p>
            <a:r>
              <a:t>This formula determines whether the firm has positive, zero, or negative profit.</a:t>
            </a:r>
          </a:p>
          <a:p>
            <a:endParaRPr/>
          </a:p>
          <a:p>
            <a:r>
              <a:t>Positive profit: In this figure, the firm’s total revenue is the area of the rectangle with height P and width Q*. The total cost is the area of the rectangle with the height ATC* and the width Q*. Because total revenue exceeds total costs at Q*, the firm is earning positive profits. This equation tells us that profit is positive when P&gt;ATC at the profit maximizing quantity Q*. </a:t>
            </a:r>
          </a:p>
          <a:p>
            <a:endParaRPr/>
          </a:p>
          <a:p>
            <a:r>
              <a:t>Zero profit: Here P=ATC (=MC). We know that MC intersects ATC at its minimum. </a:t>
            </a:r>
          </a:p>
          <a:p>
            <a:endParaRPr/>
          </a:p>
          <a:p>
            <a:r>
              <a:t>Negative profit: P&lt;ATC</a:t>
            </a:r>
          </a:p>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7539297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845673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608554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702665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3129842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6747577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1F47B6-0DA9-9C41-B55C-0A0C669C89AF}" type="slidenum">
              <a:rPr lang="en-US" smtClean="0"/>
              <a:t>30</a:t>
            </a:fld>
            <a:endParaRPr lang="en-US"/>
          </a:p>
        </p:txBody>
      </p:sp>
    </p:spTree>
    <p:extLst>
      <p:ext uri="{BB962C8B-B14F-4D97-AF65-F5344CB8AC3E}">
        <p14:creationId xmlns:p14="http://schemas.microsoft.com/office/powerpoint/2010/main" val="10576701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7053014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8610559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285321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Your firm is a price taker in the coffee bean market. Your goal is to maximize profits in the short run and you have recently optimized your output level. Your costs are: AVC=$12; ATC=$15; MC=$10. Should you continue to operate in the short run?</a:t>
            </a:r>
          </a:p>
          <a:p>
            <a:r>
              <a:t>https://www.polleverywhere.com/multiple_choice_polls/MgZ3JgEwyNMXzPDT3jMAO?display_state=instructions&amp;activity_state=opened&amp;state=opened&amp;flow=Engagement&amp;onscreen=persist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Your firm is a price taker in the coffee bean market. Your goal is to maximize profits in the short run and you have recently optimized your output level. Your costs are: AVC=$12; ATC=$15; MC=$10. Should you continue to operate in the short run?</a:t>
            </a:r>
          </a:p>
          <a:p>
            <a:r>
              <a:t>https://www.polleverywhere.com/multiple_choice_polls/MgZ3JgEwyNMXzPDT3jMAO?display_state=chart&amp;activity_state=opened&amp;state=opened&amp;flow=Engagement&amp;onscreen=persist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6127901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027816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40063150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41288460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4078587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3412492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from the book: because all inputs and costs are variable in the long run, the firm’s long-run supply curve is the part of its long-run marginal cost curve above its long-run average total cost curve ( LATC=LAVC because there are no fixed costs in the long run).</a:t>
            </a:r>
          </a:p>
          <a:p>
            <a:r>
              <a:t>Yi example: in the long run they can decide whether or not to rent the land + how much land to rent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98101AF-3083-7A4F-A327-26EC11D72AE4}" type="slidenum">
              <a:rPr lang="en-US" smtClean="0"/>
              <a:t>43</a:t>
            </a:fld>
            <a:endParaRPr lang="en-US"/>
          </a:p>
        </p:txBody>
      </p:sp>
    </p:spTree>
    <p:extLst>
      <p:ext uri="{BB962C8B-B14F-4D97-AF65-F5344CB8AC3E}">
        <p14:creationId xmlns:p14="http://schemas.microsoft.com/office/powerpoint/2010/main" val="4311685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989518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2683200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4577769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5846066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3795558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5754809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242363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6B3278-5E6B-5B4F-90C6-4DF63C00B517}" type="slidenum">
              <a:rPr lang="en-US" smtClean="0"/>
              <a:t>51</a:t>
            </a:fld>
            <a:endParaRPr lang="en-US"/>
          </a:p>
        </p:txBody>
      </p:sp>
    </p:spTree>
    <p:extLst>
      <p:ext uri="{BB962C8B-B14F-4D97-AF65-F5344CB8AC3E}">
        <p14:creationId xmlns:p14="http://schemas.microsoft.com/office/powerpoint/2010/main" val="18358094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6537997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6000364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4595231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4837869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Where? (Why?)</a:t>
            </a:r>
          </a:p>
          <a:p>
            <a:r>
              <a:t>https://www.polleverywhere.com/multiple_choice_polls/kqkSWxCsJQNjYnTxvAOPF?display_state=instructions&amp;activity_state=opened&amp;state=opened&amp;flow=Engagement&amp;onscreen=persist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Where? (Why?)</a:t>
            </a:r>
          </a:p>
          <a:p>
            <a:r>
              <a:t>https://www.polleverywhere.com/multiple_choice_polls/kqkSWxCsJQNjYnTxvAOPF?display_state=chart&amp;activity_state=opened&amp;state=opened&amp;flow=Engagement&amp;onscreen=persist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7954861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What is the rent?</a:t>
            </a:r>
          </a:p>
          <a:p>
            <a:r>
              <a:t>https://www.polleverywhere.com/multiple_choice_polls/lUVCBDEJcA5zFN6W7fTd3?display_state=instructions&amp;activity_state=opened&amp;state=opened&amp;flow=Engagement&amp;onscreen=persist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modify the notes in this section to avoid tampering with the Poll Everywhere activity.</a:t>
            </a:r>
          </a:p>
          <a:p>
            <a:r>
              <a:t>More info at polleverywhere.com/support</a:t>
            </a:r>
          </a:p>
          <a:p>
            <a:endParaRPr/>
          </a:p>
          <a:p>
            <a:r>
              <a:t>What is the rent?</a:t>
            </a:r>
          </a:p>
          <a:p>
            <a:r>
              <a:t>https://www.polleverywhere.com/multiple_choice_polls/lUVCBDEJcA5zFN6W7fTd3?display_state=chart&amp;activity_state=opened&amp;state=opened&amp;flow=Engagement&amp;onscreen=persist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9878654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306644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geography of residential properties and rent control in Cambridge, Massachusetts. Cambridge residential properties as of 2008 are marked with gray circles. Plots that were rent controlled as of 1994 are overlaid with black circles.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41257277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3726463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5302917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4391387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5206286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522F6-8B19-94BC-1AD2-38101180F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03288-61F2-9AE1-8BF8-CB7235A5BCDA}"/>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0ADE13E-161E-9613-DB34-4D3AE3201071}"/>
              </a:ext>
            </a:extLst>
          </p:cNvPr>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428437263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455022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economics.mit.edu/sites/default/files/publications/housing%20market%202014.pdf" TargetMode="External"/><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jpe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691640"/>
            <a:ext cx="10725912" cy="1234440"/>
          </a:xfrm>
          <a:prstGeom prst="rect">
            <a:avLst/>
          </a:prstGeom>
          <a:noFill/>
        </p:spPr>
        <p:txBody>
          <a:bodyPr wrap="square" lIns="0" tIns="0" rIns="0" bIns="0" anchor="ctr">
            <a:spAutoFit/>
          </a:bodyPr>
          <a:lstStyle/>
          <a:p>
            <a:pPr algn="ctr"/>
            <a:r>
              <a:rPr sz="4800" b="1" i="0">
                <a:solidFill>
                  <a:srgbClr val="0B2B4E"/>
                </a:solidFill>
                <a:latin typeface="Calibri"/>
              </a:rPr>
              <a:t>Perfect Competition</a:t>
            </a:r>
          </a:p>
        </p:txBody>
      </p:sp>
      <p:sp>
        <p:nvSpPr>
          <p:cNvPr id="3" name="TextBox 2"/>
          <p:cNvSpPr txBox="1"/>
          <p:nvPr/>
        </p:nvSpPr>
        <p:spPr>
          <a:xfrm>
            <a:off x="914400" y="2999232"/>
            <a:ext cx="10360152" cy="640080"/>
          </a:xfrm>
          <a:prstGeom prst="rect">
            <a:avLst/>
          </a:prstGeom>
          <a:noFill/>
        </p:spPr>
        <p:txBody>
          <a:bodyPr wrap="square" lIns="0" tIns="0" rIns="0" bIns="0" anchor="ctr">
            <a:spAutoFit/>
          </a:bodyPr>
          <a:lstStyle/>
          <a:p>
            <a:pPr algn="ctr"/>
            <a:endParaRPr/>
          </a:p>
        </p:txBody>
      </p:sp>
      <p:sp>
        <p:nvSpPr>
          <p:cNvPr id="4" name="Rectangle 3"/>
          <p:cNvSpPr/>
          <p:nvPr/>
        </p:nvSpPr>
        <p:spPr>
          <a:xfrm>
            <a:off x="4724247" y="3822191"/>
            <a:ext cx="27432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160520"/>
            <a:ext cx="10360152" cy="1005840"/>
          </a:xfrm>
          <a:prstGeom prst="rect">
            <a:avLst/>
          </a:prstGeom>
          <a:noFill/>
        </p:spPr>
        <p:txBody>
          <a:bodyPr wrap="square" lIns="0" tIns="0" rIns="0" bIns="0" anchor="t">
            <a:spAutoFit/>
          </a:bodyPr>
          <a:lstStyle/>
          <a:p>
            <a:pPr algn="ctr"/>
            <a:r>
              <a:rPr sz="2000" b="1" i="0">
                <a:solidFill>
                  <a:srgbClr val="555B66"/>
                </a:solidFill>
                <a:latin typeface="Calibri"/>
              </a:rPr>
              <a:t>Management 405</a:t>
            </a:r>
          </a:p>
          <a:p>
            <a:pPr algn="ctr">
              <a:spcBef>
                <a:spcPts val="800"/>
              </a:spcBef>
            </a:pPr>
            <a:r>
              <a:rPr sz="1800" b="0" i="0">
                <a:solidFill>
                  <a:srgbClr val="555B66"/>
                </a:solidFill>
                <a:latin typeface="Calibri"/>
              </a:rPr>
              <a:t>Prof. Melanie Wasserman · UCLA Anderson</a:t>
            </a:r>
          </a:p>
        </p:txBody>
      </p:sp>
      <p:cxnSp>
        <p:nvCxnSpPr>
          <p:cNvPr id="6" name="Connector 5"/>
          <p:cNvCxnSpPr/>
          <p:nvPr/>
        </p:nvCxnSpPr>
        <p:spPr>
          <a:xfrm>
            <a:off x="0" y="6510528"/>
            <a:ext cx="12191695" cy="0"/>
          </a:xfrm>
          <a:prstGeom prst="line">
            <a:avLst/>
          </a:prstGeom>
          <a:ln w="635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6812"/>
            <a:ext cx="1828800" cy="2743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Announcements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Announcements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a:t>
            </a:r>
          </a:p>
        </p:txBody>
      </p:sp>
      <p:sp>
        <p:nvSpPr>
          <p:cNvPr id="10" name="BUILD"/>
          <p:cNvSpPr txBox="1"/>
          <p:nvPr/>
        </p:nvSpPr>
        <p:spPr>
          <a:xfrm>
            <a:off x="640080" y="1691640"/>
            <a:ext cx="10881360" cy="902811"/>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Problem sets </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Problem Set 3, due Nov.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Course Roadmap</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Agenda for the Class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a:t>
            </a:r>
          </a:p>
        </p:txBody>
      </p:sp>
      <p:cxnSp>
        <p:nvCxnSpPr>
          <p:cNvPr id="10" name="Connector 9"/>
          <p:cNvCxnSpPr/>
          <p:nvPr/>
        </p:nvCxnSpPr>
        <p:spPr>
          <a:xfrm flipH="1">
            <a:off x="4572000" y="2715768"/>
            <a:ext cx="429768" cy="786384"/>
          </a:xfrm>
          <a:prstGeom prst="line">
            <a:avLst/>
          </a:prstGeom>
          <a:ln w="19050">
            <a:solidFill>
              <a:srgbClr val="B4B8B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96328" y="2715768"/>
            <a:ext cx="438912" cy="786384"/>
          </a:xfrm>
          <a:prstGeom prst="line">
            <a:avLst/>
          </a:prstGeom>
          <a:ln w="19050">
            <a:solidFill>
              <a:srgbClr val="B4B8B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572000" y="4270248"/>
            <a:ext cx="429768" cy="786384"/>
          </a:xfrm>
          <a:prstGeom prst="line">
            <a:avLst/>
          </a:prstGeom>
          <a:ln w="25400">
            <a:solidFill>
              <a:srgbClr val="0B2B4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196328" y="4270248"/>
            <a:ext cx="438912" cy="786384"/>
          </a:xfrm>
          <a:prstGeom prst="line">
            <a:avLst/>
          </a:prstGeom>
          <a:ln w="2540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81528" y="1943100"/>
            <a:ext cx="6035040" cy="777240"/>
          </a:xfrm>
          <a:prstGeom prst="roundRect">
            <a:avLst>
              <a:gd name="adj" fmla="val 10000"/>
            </a:avLst>
          </a:prstGeom>
          <a:solidFill>
            <a:srgbClr val="B4B8B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i="0" dirty="0">
                <a:solidFill>
                  <a:srgbClr val="FFFFFF"/>
                </a:solidFill>
                <a:latin typeface="Calibri"/>
              </a:rPr>
              <a:t>1.  The Economic Way of Thinking</a:t>
            </a:r>
          </a:p>
        </p:txBody>
      </p:sp>
      <p:sp>
        <p:nvSpPr>
          <p:cNvPr id="15" name="Rounded Rectangle 14"/>
          <p:cNvSpPr/>
          <p:nvPr/>
        </p:nvSpPr>
        <p:spPr>
          <a:xfrm>
            <a:off x="1783079" y="3497580"/>
            <a:ext cx="3383280" cy="777240"/>
          </a:xfrm>
          <a:prstGeom prst="roundRect">
            <a:avLst>
              <a:gd name="adj" fmla="val 10000"/>
            </a:avLst>
          </a:prstGeom>
          <a:solidFill>
            <a:srgbClr val="B4B8B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i="0">
                <a:solidFill>
                  <a:srgbClr val="FFFFFF"/>
                </a:solidFill>
                <a:latin typeface="Calibri"/>
              </a:rPr>
              <a:t>2.  Value and Demand</a:t>
            </a:r>
          </a:p>
        </p:txBody>
      </p:sp>
      <p:sp>
        <p:nvSpPr>
          <p:cNvPr id="16" name="Rounded Rectangle 15"/>
          <p:cNvSpPr/>
          <p:nvPr/>
        </p:nvSpPr>
        <p:spPr>
          <a:xfrm>
            <a:off x="7040880" y="3497580"/>
            <a:ext cx="3383280" cy="777240"/>
          </a:xfrm>
          <a:prstGeom prst="roundRect">
            <a:avLst>
              <a:gd name="adj" fmla="val 10000"/>
            </a:avLst>
          </a:prstGeom>
          <a:solidFill>
            <a:srgbClr val="B4B8B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i="0">
                <a:solidFill>
                  <a:srgbClr val="FFFFFF"/>
                </a:solidFill>
                <a:latin typeface="Calibri"/>
              </a:rPr>
              <a:t>3.  Supply and Cost</a:t>
            </a:r>
          </a:p>
        </p:txBody>
      </p:sp>
      <p:sp>
        <p:nvSpPr>
          <p:cNvPr id="17" name="Rounded Rectangle 16"/>
          <p:cNvSpPr/>
          <p:nvPr/>
        </p:nvSpPr>
        <p:spPr>
          <a:xfrm>
            <a:off x="3538728" y="5052060"/>
            <a:ext cx="5120640" cy="777240"/>
          </a:xfrm>
          <a:prstGeom prst="roundRect">
            <a:avLst>
              <a:gd name="adj" fmla="val 10000"/>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i="0">
                <a:solidFill>
                  <a:srgbClr val="FFFFFF"/>
                </a:solidFill>
                <a:latin typeface="Calibri"/>
              </a:rPr>
              <a:t>4.  Markets, Pricing and Strategy</a:t>
            </a:r>
          </a:p>
        </p:txBody>
      </p:sp>
      <p:sp>
        <p:nvSpPr>
          <p:cNvPr id="18" name="Right Arrow 17"/>
          <p:cNvSpPr/>
          <p:nvPr/>
        </p:nvSpPr>
        <p:spPr>
          <a:xfrm>
            <a:off x="2331720" y="5303520"/>
            <a:ext cx="777240" cy="292608"/>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63040" y="4892040"/>
            <a:ext cx="2011680" cy="365760"/>
          </a:xfrm>
          <a:prstGeom prst="rect">
            <a:avLst/>
          </a:prstGeom>
          <a:noFill/>
        </p:spPr>
        <p:txBody>
          <a:bodyPr wrap="square" lIns="0" tIns="0" rIns="0" bIns="0" anchor="t">
            <a:spAutoFit/>
          </a:bodyPr>
          <a:lstStyle/>
          <a:p>
            <a:pPr algn="ctr"/>
            <a:r>
              <a:rPr sz="1800" b="1" i="0">
                <a:solidFill>
                  <a:srgbClr val="E09F3E"/>
                </a:solidFill>
                <a:latin typeface="Calibri"/>
              </a:rPr>
              <a:t>we are 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a:t>
            </a:r>
          </a:p>
        </p:txBody>
      </p:sp>
      <p:sp>
        <p:nvSpPr>
          <p:cNvPr id="10" name="Oval 9"/>
          <p:cNvSpPr/>
          <p:nvPr/>
        </p:nvSpPr>
        <p:spPr>
          <a:xfrm>
            <a:off x="1024128" y="2066544"/>
            <a:ext cx="566928" cy="566928"/>
          </a:xfrm>
          <a:prstGeom prst="ellipse">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75104"/>
            <a:ext cx="9226296" cy="457200"/>
          </a:xfrm>
          <a:prstGeom prst="rect">
            <a:avLst/>
          </a:prstGeom>
          <a:noFill/>
        </p:spPr>
        <p:txBody>
          <a:bodyPr wrap="square" lIns="0" tIns="0" rIns="0" bIns="0" anchor="b">
            <a:spAutoFit/>
          </a:bodyPr>
          <a:lstStyle/>
          <a:p>
            <a:r>
              <a:rPr sz="2400" b="1" i="0">
                <a:solidFill>
                  <a:srgbClr val="0B2B4E"/>
                </a:solidFill>
                <a:latin typeface="Calibri"/>
              </a:rPr>
              <a:t>Introduction to market structures</a:t>
            </a:r>
          </a:p>
        </p:txBody>
      </p:sp>
      <p:sp>
        <p:nvSpPr>
          <p:cNvPr id="12" name="Oval 11"/>
          <p:cNvSpPr/>
          <p:nvPr/>
        </p:nvSpPr>
        <p:spPr>
          <a:xfrm>
            <a:off x="1024128" y="3438144"/>
            <a:ext cx="566928" cy="566928"/>
          </a:xfrm>
          <a:prstGeom prst="ellipse">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3" name="TextBox 12"/>
          <p:cNvSpPr txBox="1"/>
          <p:nvPr/>
        </p:nvSpPr>
        <p:spPr>
          <a:xfrm>
            <a:off x="1883664" y="3346704"/>
            <a:ext cx="9226296" cy="457200"/>
          </a:xfrm>
          <a:prstGeom prst="rect">
            <a:avLst/>
          </a:prstGeom>
          <a:noFill/>
        </p:spPr>
        <p:txBody>
          <a:bodyPr wrap="square" lIns="0" tIns="0" rIns="0" bIns="0" anchor="b">
            <a:spAutoFit/>
          </a:bodyPr>
          <a:lstStyle/>
          <a:p>
            <a:r>
              <a:rPr sz="2400" b="1" i="0">
                <a:solidFill>
                  <a:srgbClr val="0B2B4E"/>
                </a:solidFill>
                <a:latin typeface="Calibri"/>
              </a:rPr>
              <a:t>Perfect competition</a:t>
            </a:r>
          </a:p>
        </p:txBody>
      </p:sp>
      <p:sp>
        <p:nvSpPr>
          <p:cNvPr id="14" name="TextBox 13"/>
          <p:cNvSpPr txBox="1"/>
          <p:nvPr/>
        </p:nvSpPr>
        <p:spPr>
          <a:xfrm>
            <a:off x="1883664" y="3803904"/>
            <a:ext cx="9226296" cy="457200"/>
          </a:xfrm>
          <a:prstGeom prst="rect">
            <a:avLst/>
          </a:prstGeom>
          <a:noFill/>
        </p:spPr>
        <p:txBody>
          <a:bodyPr wrap="square" lIns="0" tIns="0" rIns="0" bIns="0" anchor="t">
            <a:spAutoFit/>
          </a:bodyPr>
          <a:lstStyle/>
          <a:p>
            <a:r>
              <a:rPr sz="1600" b="0" i="0">
                <a:solidFill>
                  <a:srgbClr val="555B66"/>
                </a:solidFill>
                <a:latin typeface="Calibri"/>
              </a:rPr>
              <a:t>Profit maximization of a price taker in the short run  ·  Long-run competitive equilibrium</a:t>
            </a:r>
          </a:p>
        </p:txBody>
      </p:sp>
      <p:sp>
        <p:nvSpPr>
          <p:cNvPr id="15" name="Oval 14"/>
          <p:cNvSpPr/>
          <p:nvPr/>
        </p:nvSpPr>
        <p:spPr>
          <a:xfrm>
            <a:off x="1024128" y="4809744"/>
            <a:ext cx="566928" cy="566928"/>
          </a:xfrm>
          <a:prstGeom prst="ellipse">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6" name="TextBox 15"/>
          <p:cNvSpPr txBox="1"/>
          <p:nvPr/>
        </p:nvSpPr>
        <p:spPr>
          <a:xfrm>
            <a:off x="1883664" y="4806172"/>
            <a:ext cx="9226296" cy="369332"/>
          </a:xfrm>
          <a:prstGeom prst="rect">
            <a:avLst/>
          </a:prstGeom>
          <a:noFill/>
        </p:spPr>
        <p:txBody>
          <a:bodyPr wrap="square" lIns="0" tIns="0" rIns="0" bIns="0" anchor="b">
            <a:spAutoFit/>
          </a:bodyPr>
          <a:lstStyle/>
          <a:p>
            <a:r>
              <a:rPr sz="2400" b="1" i="0" dirty="0">
                <a:solidFill>
                  <a:srgbClr val="0B2B4E"/>
                </a:solidFill>
                <a:latin typeface="Calibri"/>
              </a:rPr>
              <a:t>Market distortions</a:t>
            </a:r>
            <a:r>
              <a:rPr lang="en-US" sz="2400" b="1" dirty="0">
                <a:solidFill>
                  <a:srgbClr val="0B2B4E"/>
                </a:solidFill>
                <a:latin typeface="Calibri"/>
              </a:rPr>
              <a:t>, </a:t>
            </a:r>
            <a:r>
              <a:rPr sz="2400" b="1" i="0" dirty="0">
                <a:solidFill>
                  <a:srgbClr val="0B2B4E"/>
                </a:solidFill>
                <a:latin typeface="Calibri"/>
              </a:rPr>
              <a:t>regulations</a:t>
            </a:r>
            <a:r>
              <a:rPr lang="en-US" sz="2400" b="1" i="0" dirty="0">
                <a:solidFill>
                  <a:srgbClr val="0B2B4E"/>
                </a:solidFill>
                <a:latin typeface="Calibri"/>
              </a:rPr>
              <a:t>, externalities</a:t>
            </a:r>
            <a:endParaRPr sz="2400" b="1" i="0" dirty="0">
              <a:solidFill>
                <a:srgbClr val="0B2B4E"/>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a:t>
            </a:r>
          </a:p>
        </p:txBody>
      </p:sp>
      <p:sp>
        <p:nvSpPr>
          <p:cNvPr id="10" name="Rounded Rectangle 9"/>
          <p:cNvSpPr/>
          <p:nvPr/>
        </p:nvSpPr>
        <p:spPr>
          <a:xfrm>
            <a:off x="822960" y="190195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24128" y="206654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2" name="TextBox 11"/>
          <p:cNvSpPr txBox="1"/>
          <p:nvPr/>
        </p:nvSpPr>
        <p:spPr>
          <a:xfrm>
            <a:off x="1883664" y="1975104"/>
            <a:ext cx="9226296" cy="457200"/>
          </a:xfrm>
          <a:prstGeom prst="rect">
            <a:avLst/>
          </a:prstGeom>
          <a:noFill/>
        </p:spPr>
        <p:txBody>
          <a:bodyPr wrap="square" lIns="0" tIns="0" rIns="0" bIns="0" anchor="b">
            <a:spAutoFit/>
          </a:bodyPr>
          <a:lstStyle/>
          <a:p>
            <a:r>
              <a:rPr sz="2400" b="1" i="0">
                <a:solidFill>
                  <a:srgbClr val="0B2B4E"/>
                </a:solidFill>
                <a:latin typeface="Calibri"/>
              </a:rPr>
              <a:t>Introduction to market structures</a:t>
            </a:r>
          </a:p>
        </p:txBody>
      </p:sp>
      <p:sp>
        <p:nvSpPr>
          <p:cNvPr id="13" name="Oval 12"/>
          <p:cNvSpPr/>
          <p:nvPr/>
        </p:nvSpPr>
        <p:spPr>
          <a:xfrm>
            <a:off x="1024128" y="34381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p:cNvSpPr txBox="1"/>
          <p:nvPr/>
        </p:nvSpPr>
        <p:spPr>
          <a:xfrm>
            <a:off x="1883664" y="3346704"/>
            <a:ext cx="9226296" cy="457200"/>
          </a:xfrm>
          <a:prstGeom prst="rect">
            <a:avLst/>
          </a:prstGeom>
          <a:noFill/>
        </p:spPr>
        <p:txBody>
          <a:bodyPr wrap="square" lIns="0" tIns="0" rIns="0" bIns="0" anchor="b">
            <a:spAutoFit/>
          </a:bodyPr>
          <a:lstStyle/>
          <a:p>
            <a:r>
              <a:rPr sz="2400" b="1" i="0">
                <a:solidFill>
                  <a:srgbClr val="9AA0A8"/>
                </a:solidFill>
                <a:latin typeface="Calibri"/>
              </a:rPr>
              <a:t>Perfect competition</a:t>
            </a:r>
          </a:p>
        </p:txBody>
      </p:sp>
      <p:sp>
        <p:nvSpPr>
          <p:cNvPr id="15" name="TextBox 14"/>
          <p:cNvSpPr txBox="1"/>
          <p:nvPr/>
        </p:nvSpPr>
        <p:spPr>
          <a:xfrm>
            <a:off x="1883664" y="3803904"/>
            <a:ext cx="9226296" cy="457200"/>
          </a:xfrm>
          <a:prstGeom prst="rect">
            <a:avLst/>
          </a:prstGeom>
          <a:noFill/>
        </p:spPr>
        <p:txBody>
          <a:bodyPr wrap="square" lIns="0" tIns="0" rIns="0" bIns="0" anchor="t">
            <a:spAutoFit/>
          </a:bodyPr>
          <a:lstStyle/>
          <a:p>
            <a:r>
              <a:rPr sz="1600" b="0" i="0">
                <a:solidFill>
                  <a:srgbClr val="9AA0A8"/>
                </a:solidFill>
                <a:latin typeface="Calibri"/>
              </a:rPr>
              <a:t>Profit maximization of a price taker in the short run  ·  Long-run competitive equilibrium</a:t>
            </a:r>
          </a:p>
        </p:txBody>
      </p:sp>
      <p:sp>
        <p:nvSpPr>
          <p:cNvPr id="16" name="Oval 15"/>
          <p:cNvSpPr/>
          <p:nvPr/>
        </p:nvSpPr>
        <p:spPr>
          <a:xfrm>
            <a:off x="1024128" y="48097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7" name="TextBox 16"/>
          <p:cNvSpPr txBox="1"/>
          <p:nvPr/>
        </p:nvSpPr>
        <p:spPr>
          <a:xfrm>
            <a:off x="1883664" y="4806172"/>
            <a:ext cx="9226296" cy="369332"/>
          </a:xfrm>
          <a:prstGeom prst="rect">
            <a:avLst/>
          </a:prstGeom>
          <a:noFill/>
        </p:spPr>
        <p:txBody>
          <a:bodyPr wrap="square" lIns="0" tIns="0" rIns="0" bIns="0" anchor="b">
            <a:spAutoFit/>
          </a:bodyPr>
          <a:lstStyle/>
          <a:p>
            <a:r>
              <a:rPr sz="2400" b="1" i="0" dirty="0">
                <a:solidFill>
                  <a:srgbClr val="9AA0A8"/>
                </a:solidFill>
                <a:latin typeface="Calibri"/>
              </a:rPr>
              <a:t>Market distortions</a:t>
            </a:r>
            <a:r>
              <a:rPr lang="en-US" sz="2400" b="1" i="0" dirty="0">
                <a:solidFill>
                  <a:srgbClr val="9AA0A8"/>
                </a:solidFill>
                <a:latin typeface="Calibri"/>
              </a:rPr>
              <a:t>, </a:t>
            </a:r>
            <a:r>
              <a:rPr sz="2400" b="1" i="0" dirty="0">
                <a:solidFill>
                  <a:srgbClr val="9AA0A8"/>
                </a:solidFill>
                <a:latin typeface="Calibri"/>
              </a:rPr>
              <a:t>regulations</a:t>
            </a:r>
            <a:r>
              <a:rPr lang="en-US" sz="2400" b="1" i="0" dirty="0">
                <a:solidFill>
                  <a:srgbClr val="9AA0A8"/>
                </a:solidFill>
                <a:latin typeface="Calibri"/>
              </a:rPr>
              <a:t>, externalities</a:t>
            </a:r>
            <a:endParaRPr sz="2400" b="1" i="0" dirty="0">
              <a:solidFill>
                <a:srgbClr val="9AA0A8"/>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Perfect Competition</a:t>
            </a:r>
            <a:r>
              <a:rPr sz="1600" b="1" i="0" dirty="0">
                <a:solidFill>
                  <a:srgbClr val="FFFFFF"/>
                </a:solidFill>
                <a:latin typeface="Calibri"/>
              </a:rPr>
              <a:t> · Introduction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The </a:t>
            </a:r>
            <a:r>
              <a:rPr lang="en-US" sz="3000" b="1" i="0" dirty="0">
                <a:solidFill>
                  <a:srgbClr val="0B2B4E"/>
                </a:solidFill>
                <a:latin typeface="Calibri"/>
              </a:rPr>
              <a:t>F</a:t>
            </a:r>
            <a:r>
              <a:rPr sz="3000" b="1" i="0" dirty="0">
                <a:solidFill>
                  <a:srgbClr val="0B2B4E"/>
                </a:solidFill>
                <a:latin typeface="Calibri"/>
              </a:rPr>
              <a:t>our </a:t>
            </a:r>
            <a:r>
              <a:rPr lang="en-US" sz="3000" b="1" dirty="0">
                <a:solidFill>
                  <a:srgbClr val="0B2B4E"/>
                </a:solidFill>
                <a:latin typeface="Calibri"/>
              </a:rPr>
              <a:t>B</a:t>
            </a:r>
            <a:r>
              <a:rPr sz="3000" b="1" i="0" dirty="0">
                <a:solidFill>
                  <a:srgbClr val="0B2B4E"/>
                </a:solidFill>
                <a:latin typeface="Calibri"/>
              </a:rPr>
              <a:t>asic </a:t>
            </a:r>
            <a:r>
              <a:rPr lang="en-US" sz="3000" b="1" dirty="0">
                <a:solidFill>
                  <a:srgbClr val="0B2B4E"/>
                </a:solidFill>
                <a:latin typeface="Calibri"/>
              </a:rPr>
              <a:t>M</a:t>
            </a:r>
            <a:r>
              <a:rPr sz="3000" b="1" i="0" dirty="0">
                <a:solidFill>
                  <a:srgbClr val="0B2B4E"/>
                </a:solidFill>
                <a:latin typeface="Calibri"/>
              </a:rPr>
              <a:t>arket </a:t>
            </a:r>
            <a:r>
              <a:rPr lang="en-US" sz="3000" b="1" i="0" dirty="0">
                <a:solidFill>
                  <a:srgbClr val="0B2B4E"/>
                </a:solidFill>
                <a:latin typeface="Calibri"/>
              </a:rPr>
              <a:t>S</a:t>
            </a:r>
            <a:r>
              <a:rPr sz="3000" b="1" i="0" dirty="0">
                <a:solidFill>
                  <a:srgbClr val="0B2B4E"/>
                </a:solidFill>
                <a:latin typeface="Calibri"/>
              </a:rPr>
              <a:t>tructures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6</a:t>
            </a:r>
          </a:p>
        </p:txBody>
      </p:sp>
      <p:sp>
        <p:nvSpPr>
          <p:cNvPr id="10" name="H0"/>
          <p:cNvSpPr/>
          <p:nvPr/>
        </p:nvSpPr>
        <p:spPr>
          <a:xfrm>
            <a:off x="457200" y="2286000"/>
            <a:ext cx="3200400" cy="9144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endParaRPr/>
          </a:p>
        </p:txBody>
      </p:sp>
      <p:sp>
        <p:nvSpPr>
          <p:cNvPr id="11" name="H1"/>
          <p:cNvSpPr/>
          <p:nvPr/>
        </p:nvSpPr>
        <p:spPr>
          <a:xfrm>
            <a:off x="3657600" y="2286000"/>
            <a:ext cx="2011680" cy="9144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1" i="0">
                <a:solidFill>
                  <a:srgbClr val="FFFFFF"/>
                </a:solidFill>
                <a:latin typeface="Calibri"/>
              </a:rPr>
              <a:t>Perfect Competition</a:t>
            </a:r>
          </a:p>
        </p:txBody>
      </p:sp>
      <p:sp>
        <p:nvSpPr>
          <p:cNvPr id="12" name="H2"/>
          <p:cNvSpPr/>
          <p:nvPr/>
        </p:nvSpPr>
        <p:spPr>
          <a:xfrm>
            <a:off x="5669280" y="2286000"/>
            <a:ext cx="2011680" cy="9144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1" i="0">
                <a:solidFill>
                  <a:srgbClr val="FFFFFF"/>
                </a:solidFill>
                <a:latin typeface="Calibri"/>
              </a:rPr>
              <a:t>Monopolistic Competition</a:t>
            </a:r>
          </a:p>
        </p:txBody>
      </p:sp>
      <p:sp>
        <p:nvSpPr>
          <p:cNvPr id="13" name="H3"/>
          <p:cNvSpPr/>
          <p:nvPr/>
        </p:nvSpPr>
        <p:spPr>
          <a:xfrm>
            <a:off x="7680960" y="2286000"/>
            <a:ext cx="2011680" cy="9144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1" i="0">
                <a:solidFill>
                  <a:srgbClr val="FFFFFF"/>
                </a:solidFill>
                <a:latin typeface="Calibri"/>
              </a:rPr>
              <a:t>Oligopoly</a:t>
            </a:r>
          </a:p>
        </p:txBody>
      </p:sp>
      <p:sp>
        <p:nvSpPr>
          <p:cNvPr id="14" name="H4"/>
          <p:cNvSpPr/>
          <p:nvPr/>
        </p:nvSpPr>
        <p:spPr>
          <a:xfrm>
            <a:off x="9692640" y="2286000"/>
            <a:ext cx="2011680" cy="9144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1" i="0">
                <a:solidFill>
                  <a:srgbClr val="FFFFFF"/>
                </a:solidFill>
                <a:latin typeface="Calibri"/>
              </a:rPr>
              <a:t>Monopoly</a:t>
            </a:r>
          </a:p>
        </p:txBody>
      </p:sp>
      <p:sp>
        <p:nvSpPr>
          <p:cNvPr id="15" name="L0"/>
          <p:cNvSpPr/>
          <p:nvPr/>
        </p:nvSpPr>
        <p:spPr>
          <a:xfrm>
            <a:off x="457200" y="3200400"/>
            <a:ext cx="320040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l"/>
            <a:r>
              <a:rPr sz="1800" b="1" i="0">
                <a:solidFill>
                  <a:srgbClr val="0B2B4E"/>
                </a:solidFill>
                <a:latin typeface="Calibri"/>
              </a:rPr>
              <a:t>Number of firms</a:t>
            </a:r>
          </a:p>
        </p:txBody>
      </p:sp>
      <p:sp>
        <p:nvSpPr>
          <p:cNvPr id="16" name="D1_0"/>
          <p:cNvSpPr/>
          <p:nvPr/>
        </p:nvSpPr>
        <p:spPr>
          <a:xfrm>
            <a:off x="3657600" y="320040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Many</a:t>
            </a:r>
          </a:p>
        </p:txBody>
      </p:sp>
      <p:sp>
        <p:nvSpPr>
          <p:cNvPr id="17" name="D2_0"/>
          <p:cNvSpPr/>
          <p:nvPr/>
        </p:nvSpPr>
        <p:spPr>
          <a:xfrm>
            <a:off x="5669280" y="320040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Many</a:t>
            </a:r>
          </a:p>
        </p:txBody>
      </p:sp>
      <p:sp>
        <p:nvSpPr>
          <p:cNvPr id="18" name="D3_0"/>
          <p:cNvSpPr/>
          <p:nvPr/>
        </p:nvSpPr>
        <p:spPr>
          <a:xfrm>
            <a:off x="7680960" y="320040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Few</a:t>
            </a:r>
          </a:p>
        </p:txBody>
      </p:sp>
      <p:sp>
        <p:nvSpPr>
          <p:cNvPr id="19" name="D4_0"/>
          <p:cNvSpPr/>
          <p:nvPr/>
        </p:nvSpPr>
        <p:spPr>
          <a:xfrm>
            <a:off x="9692640" y="320040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One</a:t>
            </a:r>
          </a:p>
        </p:txBody>
      </p:sp>
      <p:sp>
        <p:nvSpPr>
          <p:cNvPr id="20" name="L1"/>
          <p:cNvSpPr/>
          <p:nvPr/>
        </p:nvSpPr>
        <p:spPr>
          <a:xfrm>
            <a:off x="457200" y="4160520"/>
            <a:ext cx="3200400" cy="96012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l"/>
            <a:r>
              <a:rPr sz="1800" b="1" i="0">
                <a:solidFill>
                  <a:srgbClr val="0B2B4E"/>
                </a:solidFill>
                <a:latin typeface="Calibri"/>
              </a:rPr>
              <a:t>Type of products sold</a:t>
            </a:r>
          </a:p>
        </p:txBody>
      </p:sp>
      <p:sp>
        <p:nvSpPr>
          <p:cNvPr id="21" name="D1_1"/>
          <p:cNvSpPr/>
          <p:nvPr/>
        </p:nvSpPr>
        <p:spPr>
          <a:xfrm>
            <a:off x="3657600" y="4160520"/>
            <a:ext cx="2011680" cy="96012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Identical</a:t>
            </a:r>
          </a:p>
        </p:txBody>
      </p:sp>
      <p:sp>
        <p:nvSpPr>
          <p:cNvPr id="22" name="D2_1"/>
          <p:cNvSpPr/>
          <p:nvPr/>
        </p:nvSpPr>
        <p:spPr>
          <a:xfrm>
            <a:off x="5669280" y="4160520"/>
            <a:ext cx="2011680" cy="96012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Differentiated</a:t>
            </a:r>
          </a:p>
        </p:txBody>
      </p:sp>
      <p:sp>
        <p:nvSpPr>
          <p:cNvPr id="23" name="D3_1"/>
          <p:cNvSpPr/>
          <p:nvPr/>
        </p:nvSpPr>
        <p:spPr>
          <a:xfrm>
            <a:off x="7680960" y="4160520"/>
            <a:ext cx="2011680" cy="96012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Identical or Differentiated</a:t>
            </a:r>
          </a:p>
        </p:txBody>
      </p:sp>
      <p:sp>
        <p:nvSpPr>
          <p:cNvPr id="24" name="D4_1"/>
          <p:cNvSpPr/>
          <p:nvPr/>
        </p:nvSpPr>
        <p:spPr>
          <a:xfrm>
            <a:off x="9692640" y="4160520"/>
            <a:ext cx="2011680" cy="96012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Unique</a:t>
            </a:r>
          </a:p>
        </p:txBody>
      </p:sp>
      <p:sp>
        <p:nvSpPr>
          <p:cNvPr id="25" name="L2"/>
          <p:cNvSpPr/>
          <p:nvPr/>
        </p:nvSpPr>
        <p:spPr>
          <a:xfrm>
            <a:off x="457200" y="5120640"/>
            <a:ext cx="320040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l"/>
            <a:r>
              <a:rPr sz="1800" b="1" i="0">
                <a:solidFill>
                  <a:srgbClr val="0B2B4E"/>
                </a:solidFill>
                <a:latin typeface="Calibri"/>
              </a:rPr>
              <a:t>Barriers to entry</a:t>
            </a:r>
          </a:p>
        </p:txBody>
      </p:sp>
      <p:sp>
        <p:nvSpPr>
          <p:cNvPr id="26" name="D1_2"/>
          <p:cNvSpPr/>
          <p:nvPr/>
        </p:nvSpPr>
        <p:spPr>
          <a:xfrm>
            <a:off x="3657600" y="512064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None</a:t>
            </a:r>
          </a:p>
        </p:txBody>
      </p:sp>
      <p:sp>
        <p:nvSpPr>
          <p:cNvPr id="27" name="D2_2"/>
          <p:cNvSpPr/>
          <p:nvPr/>
        </p:nvSpPr>
        <p:spPr>
          <a:xfrm>
            <a:off x="5669280" y="512064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None</a:t>
            </a:r>
          </a:p>
        </p:txBody>
      </p:sp>
      <p:sp>
        <p:nvSpPr>
          <p:cNvPr id="28" name="D3_2"/>
          <p:cNvSpPr/>
          <p:nvPr/>
        </p:nvSpPr>
        <p:spPr>
          <a:xfrm>
            <a:off x="7680960" y="512064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Some</a:t>
            </a:r>
          </a:p>
        </p:txBody>
      </p:sp>
      <p:sp>
        <p:nvSpPr>
          <p:cNvPr id="29" name="D4_2"/>
          <p:cNvSpPr/>
          <p:nvPr/>
        </p:nvSpPr>
        <p:spPr>
          <a:xfrm>
            <a:off x="9692640" y="5120640"/>
            <a:ext cx="2011680" cy="96012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28016" tIns="27432" bIns="27432" rtlCol="0" anchor="ctr"/>
          <a:lstStyle/>
          <a:p>
            <a:pPr algn="ctr"/>
            <a:r>
              <a:rPr sz="1800" b="0" i="0">
                <a:solidFill>
                  <a:srgbClr val="0B2B4E"/>
                </a:solidFill>
                <a:latin typeface="Calibri"/>
              </a:rPr>
              <a:t>Many</a:t>
            </a:r>
          </a:p>
        </p:txBody>
      </p:sp>
      <p:sp>
        <p:nvSpPr>
          <p:cNvPr id="30" name="Oval 29">
            <a:extLst>
              <a:ext uri="{FF2B5EF4-FFF2-40B4-BE49-F238E27FC236}">
                <a16:creationId xmlns:a16="http://schemas.microsoft.com/office/drawing/2014/main" id="{868EF153-F39A-61F9-6823-11CBB6A3EBC9}"/>
              </a:ext>
            </a:extLst>
          </p:cNvPr>
          <p:cNvSpPr/>
          <p:nvPr/>
        </p:nvSpPr>
        <p:spPr>
          <a:xfrm>
            <a:off x="3456432" y="2258569"/>
            <a:ext cx="2414016" cy="1060704"/>
          </a:xfrm>
          <a:prstGeom prst="ellipse">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7</a:t>
            </a:r>
          </a:p>
        </p:txBody>
      </p:sp>
      <p:sp>
        <p:nvSpPr>
          <p:cNvPr id="10" name="Oval 9"/>
          <p:cNvSpPr/>
          <p:nvPr/>
        </p:nvSpPr>
        <p:spPr>
          <a:xfrm>
            <a:off x="1024128" y="20665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75104"/>
            <a:ext cx="9226296" cy="457200"/>
          </a:xfrm>
          <a:prstGeom prst="rect">
            <a:avLst/>
          </a:prstGeom>
          <a:noFill/>
        </p:spPr>
        <p:txBody>
          <a:bodyPr wrap="square" lIns="0" tIns="0" rIns="0" bIns="0" anchor="b">
            <a:spAutoFit/>
          </a:bodyPr>
          <a:lstStyle/>
          <a:p>
            <a:r>
              <a:rPr sz="2400" b="1" i="0">
                <a:solidFill>
                  <a:srgbClr val="9AA0A8"/>
                </a:solidFill>
                <a:latin typeface="Calibri"/>
              </a:rPr>
              <a:t>Introduction to market structures</a:t>
            </a:r>
          </a:p>
        </p:txBody>
      </p:sp>
      <p:sp>
        <p:nvSpPr>
          <p:cNvPr id="12" name="Rounded Rectangle 11"/>
          <p:cNvSpPr/>
          <p:nvPr/>
        </p:nvSpPr>
        <p:spPr>
          <a:xfrm>
            <a:off x="822960" y="327355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3814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p:cNvSpPr txBox="1"/>
          <p:nvPr/>
        </p:nvSpPr>
        <p:spPr>
          <a:xfrm>
            <a:off x="1883664" y="3346704"/>
            <a:ext cx="9226296" cy="457200"/>
          </a:xfrm>
          <a:prstGeom prst="rect">
            <a:avLst/>
          </a:prstGeom>
          <a:noFill/>
        </p:spPr>
        <p:txBody>
          <a:bodyPr wrap="square" lIns="0" tIns="0" rIns="0" bIns="0" anchor="b">
            <a:spAutoFit/>
          </a:bodyPr>
          <a:lstStyle/>
          <a:p>
            <a:r>
              <a:rPr sz="2400" b="1" i="0">
                <a:solidFill>
                  <a:srgbClr val="0B2B4E"/>
                </a:solidFill>
                <a:latin typeface="Calibri"/>
              </a:rPr>
              <a:t>Perfect competition</a:t>
            </a:r>
          </a:p>
        </p:txBody>
      </p:sp>
      <p:sp>
        <p:nvSpPr>
          <p:cNvPr id="15" name="TextBox 14"/>
          <p:cNvSpPr txBox="1"/>
          <p:nvPr/>
        </p:nvSpPr>
        <p:spPr>
          <a:xfrm>
            <a:off x="1883664" y="3803904"/>
            <a:ext cx="9226296" cy="457200"/>
          </a:xfrm>
          <a:prstGeom prst="rect">
            <a:avLst/>
          </a:prstGeom>
          <a:noFill/>
        </p:spPr>
        <p:txBody>
          <a:bodyPr wrap="square" lIns="0" tIns="0" rIns="0" bIns="0" anchor="t">
            <a:spAutoFit/>
          </a:bodyPr>
          <a:lstStyle/>
          <a:p>
            <a:r>
              <a:rPr sz="1600" b="1" i="0">
                <a:solidFill>
                  <a:srgbClr val="0B2B4E"/>
                </a:solidFill>
                <a:latin typeface="Calibri"/>
              </a:rPr>
              <a:t>Profit maximization of a price taker in the short run</a:t>
            </a:r>
            <a:r>
              <a:rPr sz="1600" b="0" i="0">
                <a:solidFill>
                  <a:srgbClr val="555B66"/>
                </a:solidFill>
                <a:latin typeface="Calibri"/>
              </a:rPr>
              <a:t>  ·  Long-run competitive equilibrium</a:t>
            </a:r>
          </a:p>
        </p:txBody>
      </p:sp>
      <p:sp>
        <p:nvSpPr>
          <p:cNvPr id="16" name="Oval 15"/>
          <p:cNvSpPr/>
          <p:nvPr/>
        </p:nvSpPr>
        <p:spPr>
          <a:xfrm>
            <a:off x="1024128" y="48097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7" name="TextBox 16"/>
          <p:cNvSpPr txBox="1"/>
          <p:nvPr/>
        </p:nvSpPr>
        <p:spPr>
          <a:xfrm>
            <a:off x="1883664" y="4806172"/>
            <a:ext cx="9226296" cy="369332"/>
          </a:xfrm>
          <a:prstGeom prst="rect">
            <a:avLst/>
          </a:prstGeom>
          <a:noFill/>
        </p:spPr>
        <p:txBody>
          <a:bodyPr wrap="square" lIns="0" tIns="0" rIns="0" bIns="0" anchor="b">
            <a:spAutoFit/>
          </a:bodyPr>
          <a:lstStyle/>
          <a:p>
            <a:r>
              <a:rPr lang="en-US" sz="2400" b="1" dirty="0">
                <a:solidFill>
                  <a:srgbClr val="9AA0A8"/>
                </a:solidFill>
              </a:rPr>
              <a:t>Market distortions, regulations, externalities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Perfect Competition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Where We Are and Where We Are Going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27632"/>
            <a:ext cx="3291840" cy="430682"/>
          </a:xfrm>
          <a:prstGeom prst="rect">
            <a:avLst/>
          </a:prstGeom>
          <a:noFill/>
        </p:spPr>
        <p:txBody>
          <a:bodyPr wrap="square" lIns="0" tIns="0" rIns="0" bIns="0">
            <a:spAutoFit/>
          </a:bodyPr>
          <a:lstStyle/>
          <a:p>
            <a:pPr algn="l"/>
            <a:r>
              <a:rPr sz="2800" b="1" i="0" u="none">
                <a:solidFill>
                  <a:srgbClr val="0B2B4E"/>
                </a:solidFill>
                <a:latin typeface="Calibri"/>
              </a:rPr>
              <a:t>Least Market Power</a:t>
            </a:r>
          </a:p>
        </p:txBody>
      </p:sp>
      <p:sp>
        <p:nvSpPr>
          <p:cNvPr id="8" name="TextBox 7"/>
          <p:cNvSpPr txBox="1"/>
          <p:nvPr/>
        </p:nvSpPr>
        <p:spPr>
          <a:xfrm>
            <a:off x="8421624" y="1627632"/>
            <a:ext cx="3282696" cy="430682"/>
          </a:xfrm>
          <a:prstGeom prst="rect">
            <a:avLst/>
          </a:prstGeom>
          <a:noFill/>
        </p:spPr>
        <p:txBody>
          <a:bodyPr wrap="square" lIns="0" tIns="0" r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2249424"/>
            <a:ext cx="11274552" cy="0"/>
          </a:xfrm>
          <a:prstGeom prst="line">
            <a:avLst/>
          </a:prstGeom>
          <a:ln w="44450">
            <a:solidFill>
              <a:srgbClr val="0B2B4E"/>
            </a:solidFill>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199" y="2450592"/>
            <a:ext cx="2834640" cy="384048"/>
          </a:xfrm>
          <a:prstGeom prst="rect">
            <a:avLst/>
          </a:prstGeom>
          <a:noFill/>
        </p:spPr>
        <p:txBody>
          <a:bodyPr wrap="square" lIns="0" tIns="0" rIns="0" bIns="0">
            <a:spAutoFit/>
          </a:bodyPr>
          <a:lstStyle/>
          <a:p>
            <a:pPr algn="ctr"/>
            <a:r>
              <a:rPr sz="2200" b="1" i="0" u="none" dirty="0">
                <a:solidFill>
                  <a:srgbClr val="0B2B4E"/>
                </a:solidFill>
                <a:latin typeface="Calibri"/>
              </a:rPr>
              <a:t>Perfect</a:t>
            </a:r>
          </a:p>
        </p:txBody>
      </p:sp>
      <p:sp>
        <p:nvSpPr>
          <p:cNvPr id="11" name="TextBox 10"/>
          <p:cNvSpPr txBox="1"/>
          <p:nvPr/>
        </p:nvSpPr>
        <p:spPr>
          <a:xfrm>
            <a:off x="457199" y="2816352"/>
            <a:ext cx="2834640" cy="384048"/>
          </a:xfrm>
          <a:prstGeom prst="rect">
            <a:avLst/>
          </a:prstGeom>
          <a:noFill/>
        </p:spPr>
        <p:txBody>
          <a:bodyPr wrap="square" lIns="0" tIns="0" rIns="0" bIns="0">
            <a:spAutoFit/>
          </a:bodyPr>
          <a:lstStyle/>
          <a:p>
            <a:pPr algn="ctr"/>
            <a:r>
              <a:rPr sz="2200" b="1" i="0" u="none" dirty="0">
                <a:solidFill>
                  <a:srgbClr val="0B2B4E"/>
                </a:solidFill>
                <a:latin typeface="Calibri"/>
              </a:rPr>
              <a:t>Competition</a:t>
            </a:r>
          </a:p>
        </p:txBody>
      </p:sp>
      <p:sp>
        <p:nvSpPr>
          <p:cNvPr id="12" name="TextBox 11"/>
          <p:cNvSpPr txBox="1"/>
          <p:nvPr/>
        </p:nvSpPr>
        <p:spPr>
          <a:xfrm>
            <a:off x="3154680" y="2450592"/>
            <a:ext cx="2834640" cy="384048"/>
          </a:xfrm>
          <a:prstGeom prst="rect">
            <a:avLst/>
          </a:prstGeom>
          <a:noFill/>
        </p:spPr>
        <p:txBody>
          <a:bodyPr wrap="square" lIns="0" tIns="0" rIns="0" bIns="0">
            <a:spAutoFit/>
          </a:bodyPr>
          <a:lstStyle/>
          <a:p>
            <a:pPr algn="ctr"/>
            <a:r>
              <a:rPr sz="2200" b="1" i="0" u="none" dirty="0">
                <a:solidFill>
                  <a:srgbClr val="0B2B4E"/>
                </a:solidFill>
                <a:latin typeface="Calibri"/>
              </a:rPr>
              <a:t>Monopolistic</a:t>
            </a:r>
          </a:p>
        </p:txBody>
      </p:sp>
      <p:sp>
        <p:nvSpPr>
          <p:cNvPr id="13" name="TextBox 12"/>
          <p:cNvSpPr txBox="1"/>
          <p:nvPr/>
        </p:nvSpPr>
        <p:spPr>
          <a:xfrm>
            <a:off x="3154680" y="2816352"/>
            <a:ext cx="2834640" cy="384048"/>
          </a:xfrm>
          <a:prstGeom prst="rect">
            <a:avLst/>
          </a:prstGeom>
          <a:noFill/>
        </p:spPr>
        <p:txBody>
          <a:bodyPr wrap="square" lIns="0" tIns="0" rIns="0" bIns="0">
            <a:spAutoFit/>
          </a:bodyPr>
          <a:lstStyle/>
          <a:p>
            <a:pPr algn="ctr"/>
            <a:r>
              <a:rPr sz="2200" b="1" i="0" u="none">
                <a:solidFill>
                  <a:srgbClr val="0B2B4E"/>
                </a:solidFill>
                <a:latin typeface="Calibri"/>
              </a:rPr>
              <a:t>Competition</a:t>
            </a:r>
          </a:p>
        </p:txBody>
      </p:sp>
      <p:sp>
        <p:nvSpPr>
          <p:cNvPr id="14" name="TextBox 13"/>
          <p:cNvSpPr txBox="1"/>
          <p:nvPr/>
        </p:nvSpPr>
        <p:spPr>
          <a:xfrm>
            <a:off x="6217920" y="2633472"/>
            <a:ext cx="2834640" cy="384048"/>
          </a:xfrm>
          <a:prstGeom prst="rect">
            <a:avLst/>
          </a:prstGeom>
          <a:noFill/>
        </p:spPr>
        <p:txBody>
          <a:bodyPr wrap="square" lIns="0" tIns="0" rIns="0" bIns="0">
            <a:spAutoFit/>
          </a:bodyPr>
          <a:lstStyle/>
          <a:p>
            <a:pPr algn="ctr"/>
            <a:r>
              <a:rPr sz="2200" b="1" i="0" u="none" dirty="0">
                <a:solidFill>
                  <a:srgbClr val="0B2B4E"/>
                </a:solidFill>
                <a:latin typeface="Calibri"/>
              </a:rPr>
              <a:t>Oligopoly</a:t>
            </a:r>
          </a:p>
        </p:txBody>
      </p:sp>
      <p:sp>
        <p:nvSpPr>
          <p:cNvPr id="15" name="TextBox 14"/>
          <p:cNvSpPr txBox="1"/>
          <p:nvPr/>
        </p:nvSpPr>
        <p:spPr>
          <a:xfrm>
            <a:off x="8915400" y="2633472"/>
            <a:ext cx="2834640" cy="384048"/>
          </a:xfrm>
          <a:prstGeom prst="rect">
            <a:avLst/>
          </a:prstGeom>
          <a:noFill/>
        </p:spPr>
        <p:txBody>
          <a:bodyPr wrap="square" lIns="0" tIns="0" rIns="0" bIns="0">
            <a:spAutoFit/>
          </a:bodyPr>
          <a:lstStyle/>
          <a:p>
            <a:pPr algn="ctr"/>
            <a:r>
              <a:rPr sz="2200" b="1" i="0" u="none" dirty="0">
                <a:solidFill>
                  <a:srgbClr val="0B2B4E"/>
                </a:solidFill>
                <a:latin typeface="Calibri"/>
              </a:rPr>
              <a:t>Monopoly</a:t>
            </a:r>
          </a:p>
        </p:txBody>
      </p:sp>
      <p:sp>
        <p:nvSpPr>
          <p:cNvPr id="16" name="Rectangle 15"/>
          <p:cNvSpPr/>
          <p:nvPr/>
        </p:nvSpPr>
        <p:spPr>
          <a:xfrm>
            <a:off x="3227832" y="2432304"/>
            <a:ext cx="4114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99048" y="2432304"/>
            <a:ext cx="4114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988552" y="2432304"/>
            <a:ext cx="4114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79322" y="3546957"/>
            <a:ext cx="1939442" cy="369417"/>
          </a:xfrm>
          <a:prstGeom prst="roundRect">
            <a:avLst>
              <a:gd name="adj" fmla="val 35000"/>
            </a:avLst>
          </a:prstGeom>
          <a:solidFill>
            <a:srgbClr val="ED7D31"/>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1" dirty="0">
                <a:solidFill>
                  <a:srgbClr val="FFFFFF"/>
                </a:solidFill>
                <a:latin typeface="Calibri"/>
              </a:rPr>
              <a:t>(Price Takers)</a:t>
            </a:r>
          </a:p>
        </p:txBody>
      </p:sp>
      <p:sp>
        <p:nvSpPr>
          <p:cNvPr id="20" name="Rounded Rectangle 19"/>
          <p:cNvSpPr/>
          <p:nvPr/>
        </p:nvSpPr>
        <p:spPr>
          <a:xfrm>
            <a:off x="3959352" y="3546957"/>
            <a:ext cx="7265822" cy="369417"/>
          </a:xfrm>
          <a:prstGeom prst="roundRect">
            <a:avLst>
              <a:gd name="adj" fmla="val 35000"/>
            </a:avLst>
          </a:prstGeom>
          <a:solidFill>
            <a:srgbClr val="ED7D31"/>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1" dirty="0">
                <a:solidFill>
                  <a:srgbClr val="FFFFFF"/>
                </a:solidFill>
                <a:latin typeface="Calibri"/>
              </a:rPr>
              <a:t>(Price Searchers)</a:t>
            </a:r>
          </a:p>
        </p:txBody>
      </p:sp>
      <p:pic>
        <p:nvPicPr>
          <p:cNvPr id="21" name="Picture 20" descr="image14.jpeg"/>
          <p:cNvPicPr>
            <a:picLocks noChangeAspect="1"/>
          </p:cNvPicPr>
          <p:nvPr/>
        </p:nvPicPr>
        <p:blipFill>
          <a:blip r:embed="rId3"/>
          <a:stretch>
            <a:fillRect/>
          </a:stretch>
        </p:blipFill>
        <p:spPr>
          <a:xfrm>
            <a:off x="1164031" y="4315968"/>
            <a:ext cx="1420977" cy="1371600"/>
          </a:xfrm>
          <a:prstGeom prst="rect">
            <a:avLst/>
          </a:prstGeom>
        </p:spPr>
      </p:pic>
      <p:pic>
        <p:nvPicPr>
          <p:cNvPr id="22" name="Picture 21" descr="_s6_image6.png"/>
          <p:cNvPicPr>
            <a:picLocks noChangeAspect="1"/>
          </p:cNvPicPr>
          <p:nvPr/>
        </p:nvPicPr>
        <p:blipFill>
          <a:blip r:embed="rId4"/>
          <a:stretch>
            <a:fillRect/>
          </a:stretch>
        </p:blipFill>
        <p:spPr>
          <a:xfrm>
            <a:off x="3646627" y="4116628"/>
            <a:ext cx="2182672" cy="2072944"/>
          </a:xfrm>
          <a:prstGeom prst="rect">
            <a:avLst/>
          </a:prstGeom>
        </p:spPr>
      </p:pic>
      <p:sp>
        <p:nvSpPr>
          <p:cNvPr id="23" name="TextBox 22"/>
          <p:cNvSpPr txBox="1"/>
          <p:nvPr/>
        </p:nvSpPr>
        <p:spPr>
          <a:xfrm>
            <a:off x="3755440" y="6145682"/>
            <a:ext cx="1912010" cy="343814"/>
          </a:xfrm>
          <a:prstGeom prst="rect">
            <a:avLst/>
          </a:prstGeom>
          <a:noFill/>
        </p:spPr>
        <p:txBody>
          <a:bodyPr wrap="square" lIns="0" tIns="0" rIns="0" bIns="0">
            <a:spAutoFit/>
          </a:bodyPr>
          <a:lstStyle/>
          <a:p>
            <a:pPr algn="ctr"/>
            <a:r>
              <a:rPr sz="1600" b="0" i="0" u="none">
                <a:solidFill>
                  <a:srgbClr val="000000"/>
                </a:solidFill>
                <a:latin typeface="Calibri"/>
              </a:rPr>
              <a:t>Restaurants in WeHo</a:t>
            </a:r>
          </a:p>
        </p:txBody>
      </p:sp>
      <p:pic>
        <p:nvPicPr>
          <p:cNvPr id="24" name="Picture 23" descr="image15.jpeg"/>
          <p:cNvPicPr>
            <a:picLocks noChangeAspect="1"/>
          </p:cNvPicPr>
          <p:nvPr/>
        </p:nvPicPr>
        <p:blipFill>
          <a:blip r:embed="rId5"/>
          <a:stretch>
            <a:fillRect/>
          </a:stretch>
        </p:blipFill>
        <p:spPr>
          <a:xfrm>
            <a:off x="7119518" y="4315968"/>
            <a:ext cx="1031443" cy="685800"/>
          </a:xfrm>
          <a:prstGeom prst="rect">
            <a:avLst/>
          </a:prstGeom>
        </p:spPr>
      </p:pic>
      <p:pic>
        <p:nvPicPr>
          <p:cNvPr id="25" name="Picture 24" descr="image16.png"/>
          <p:cNvPicPr>
            <a:picLocks noChangeAspect="1"/>
          </p:cNvPicPr>
          <p:nvPr/>
        </p:nvPicPr>
        <p:blipFill>
          <a:blip r:embed="rId6"/>
          <a:stretch>
            <a:fillRect/>
          </a:stretch>
        </p:blipFill>
        <p:spPr>
          <a:xfrm>
            <a:off x="7200900" y="5138928"/>
            <a:ext cx="867765" cy="685800"/>
          </a:xfrm>
          <a:prstGeom prst="rect">
            <a:avLst/>
          </a:prstGeom>
        </p:spPr>
      </p:pic>
      <p:pic>
        <p:nvPicPr>
          <p:cNvPr id="26" name="Picture 25" descr="image17.jpeg"/>
          <p:cNvPicPr>
            <a:picLocks noChangeAspect="1"/>
          </p:cNvPicPr>
          <p:nvPr/>
        </p:nvPicPr>
        <p:blipFill>
          <a:blip r:embed="rId7"/>
          <a:stretch>
            <a:fillRect/>
          </a:stretch>
        </p:blipFill>
        <p:spPr>
          <a:xfrm>
            <a:off x="9684410" y="4315968"/>
            <a:ext cx="1295704" cy="1371600"/>
          </a:xfrm>
          <a:prstGeom prst="rect">
            <a:avLst/>
          </a:prstGeom>
        </p:spPr>
      </p:pic>
      <p:grpSp>
        <p:nvGrpSpPr>
          <p:cNvPr id="30" name="WeAreHere 30"/>
          <p:cNvGrpSpPr/>
          <p:nvPr/>
        </p:nvGrpSpPr>
        <p:grpSpPr>
          <a:xfrm>
            <a:off x="423086" y="1481327"/>
            <a:ext cx="5277414" cy="4708135"/>
            <a:chOff x="6845936" y="1481327"/>
            <a:chExt cx="5277414" cy="4708135"/>
          </a:xfrm>
        </p:grpSpPr>
        <p:sp>
          <p:nvSpPr>
            <p:cNvPr id="27" name="TextBox 26"/>
            <p:cNvSpPr txBox="1"/>
            <p:nvPr/>
          </p:nvSpPr>
          <p:spPr>
            <a:xfrm>
              <a:off x="10642022" y="1618676"/>
              <a:ext cx="1481328" cy="338328"/>
            </a:xfrm>
            <a:prstGeom prst="rect">
              <a:avLst/>
            </a:prstGeom>
            <a:noFill/>
          </p:spPr>
          <p:txBody>
            <a:bodyPr wrap="square" lIns="0" tIns="0" rIns="0" bIns="0">
              <a:spAutoFit/>
            </a:bodyPr>
            <a:lstStyle/>
            <a:p>
              <a:pPr algn="l"/>
              <a:r>
                <a:rPr sz="1600" b="1" i="0" u="none" dirty="0">
                  <a:solidFill>
                    <a:srgbClr val="C00000"/>
                  </a:solidFill>
                  <a:latin typeface="Calibri"/>
                </a:rPr>
                <a:t>WE ARE HERE</a:t>
              </a:r>
            </a:p>
          </p:txBody>
        </p:sp>
        <p:sp>
          <p:nvSpPr>
            <p:cNvPr id="28" name="Right Arrow 27"/>
            <p:cNvSpPr/>
            <p:nvPr/>
          </p:nvSpPr>
          <p:spPr>
            <a:xfrm rot="9714650">
              <a:off x="10012366" y="1764558"/>
              <a:ext cx="554095" cy="227202"/>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845936" y="1481327"/>
              <a:ext cx="3053286" cy="4708135"/>
            </a:xfrm>
            <a:prstGeom prst="rect">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184666"/>
          </a:xfrm>
          <a:prstGeom prst="rect">
            <a:avLst/>
          </a:prstGeom>
          <a:noFill/>
        </p:spPr>
        <p:txBody>
          <a:bodyPr wrap="square" lIns="0" tIns="0" rIns="0" bIns="0">
            <a:spAutoFit/>
          </a:bodyPr>
          <a:lstStyle/>
          <a:p>
            <a:r>
              <a:rPr lang="en-US" sz="1200" dirty="0">
                <a:solidFill>
                  <a:srgbClr val="555B66"/>
                </a:solidFill>
              </a:rPr>
              <a:t>Management 405 · Perfect Competition</a:t>
            </a:r>
          </a:p>
        </p:txBody>
      </p:sp>
      <p:sp>
        <p:nvSpPr>
          <p:cNvPr id="34" name="TextBox 33"/>
          <p:cNvSpPr txBox="1"/>
          <p:nvPr/>
        </p:nvSpPr>
        <p:spPr>
          <a:xfrm>
            <a:off x="11299448" y="6583680"/>
            <a:ext cx="502920" cy="292608"/>
          </a:xfrm>
          <a:prstGeom prst="rect">
            <a:avLst/>
          </a:prstGeom>
          <a:noFill/>
        </p:spPr>
        <p:txBody>
          <a:bodyPr wrap="none" lIns="0" tIns="0" rIns="0" bIns="0">
            <a:spAutoFit/>
          </a:bodyPr>
          <a:lstStyle/>
          <a:p>
            <a:pPr algn="r"/>
            <a:fld id="{4206F2E2-5EAA-5828-8AB4-DE184F5AC9D7}"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9" grpId="0" animBg="1"/>
      <p:bldP spid="20" grpId="0" animBg="1"/>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68913"/>
            <a:ext cx="10972800" cy="246221"/>
          </a:xfrm>
          <a:prstGeom prst="rect">
            <a:avLst/>
          </a:prstGeom>
          <a:noFill/>
        </p:spPr>
        <p:txBody>
          <a:bodyPr wrap="square" lIns="0" tIns="0" rIns="0" bIns="0" anchor="ctr">
            <a:spAutoFit/>
          </a:bodyPr>
          <a:lstStyle/>
          <a:p>
            <a:r>
              <a:rPr lang="en-US" sz="1600" b="1" dirty="0">
                <a:solidFill>
                  <a:srgbClr val="FFFFFF"/>
                </a:solidFill>
              </a:rPr>
              <a:t>Perfect Competition · Price Takers </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dirty="0">
                <a:solidFill>
                  <a:srgbClr val="0B2B4E"/>
                </a:solidFill>
                <a:latin typeface="Calibri"/>
              </a:rPr>
              <a:t>Market Structure Characteristics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3727" y="1508760"/>
            <a:ext cx="11064240" cy="45720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871650539"/>
              </p:ext>
            </p:extLst>
          </p:nvPr>
        </p:nvGraphicFramePr>
        <p:xfrm>
          <a:off x="700887" y="1645920"/>
          <a:ext cx="10789919" cy="4297680"/>
        </p:xfrm>
        <a:graphic>
          <a:graphicData uri="http://schemas.openxmlformats.org/drawingml/2006/table">
            <a:tbl>
              <a:tblPr/>
              <a:tblGrid>
                <a:gridCol w="3749039">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502920">
                <a:tc>
                  <a:txBody>
                    <a:bodyPr/>
                    <a:lstStyle/>
                    <a:p>
                      <a:pPr algn="ctr"/>
                      <a:endParaRPr dirty="0"/>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lang="en-US" sz="2000" b="1" dirty="0">
                          <a:solidFill>
                            <a:srgbClr val="FFFFFF"/>
                          </a:solidFill>
                          <a:latin typeface="Calibri"/>
                        </a:rPr>
                        <a:t>Perfect Competition – Price Takers</a:t>
                      </a:r>
                      <a:endParaRPr sz="2000" b="1" dirty="0">
                        <a:solidFill>
                          <a:srgbClr val="FFFFFF"/>
                        </a:solidFill>
                        <a:latin typeface="Calibri"/>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58952">
                <a:tc>
                  <a:txBody>
                    <a:bodyPr/>
                    <a:lstStyle/>
                    <a:p>
                      <a:pPr algn="l"/>
                      <a:r>
                        <a:rPr sz="1800" b="1">
                          <a:solidFill>
                            <a:srgbClr val="0B2B4E"/>
                          </a:solidFill>
                          <a:latin typeface="Calibri"/>
                        </a:rPr>
                        <a:t>Number of actual or potential competitors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marL="0" indent="0" algn="ctr">
                        <a:spcAft>
                          <a:spcPts val="600"/>
                        </a:spcAft>
                        <a:buClr>
                          <a:srgbClr val="0B2B4E"/>
                        </a:buClr>
                        <a:buSzPct val="100000"/>
                        <a:buFont typeface="Calibri"/>
                        <a:buNone/>
                      </a:pPr>
                      <a:r>
                        <a:rPr lang="en-US" sz="1800" b="0" i="0" dirty="0">
                          <a:solidFill>
                            <a:srgbClr val="0B2B4E"/>
                          </a:solidFill>
                          <a:latin typeface="+mn-lt"/>
                        </a:rPr>
                        <a:t>Many small sellers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58952">
                <a:tc>
                  <a:txBody>
                    <a:bodyPr/>
                    <a:lstStyle/>
                    <a:p>
                      <a:pPr algn="l"/>
                      <a:r>
                        <a:rPr sz="1800" b="1">
                          <a:solidFill>
                            <a:srgbClr val="0B2B4E"/>
                          </a:solidFill>
                          <a:latin typeface="Calibri"/>
                        </a:rPr>
                        <a:t>Product differentiation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lang="en-US" sz="1800" b="0" dirty="0">
                          <a:solidFill>
                            <a:srgbClr val="0B2B4E"/>
                          </a:solidFill>
                          <a:latin typeface="Calibri"/>
                        </a:rPr>
                        <a:t>None</a:t>
                      </a:r>
                      <a:endParaRPr sz="1800" b="0" dirty="0">
                        <a:solidFill>
                          <a:srgbClr val="0B2B4E"/>
                        </a:solidFill>
                        <a:latin typeface="Calibri"/>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758952">
                <a:tc>
                  <a:txBody>
                    <a:bodyPr/>
                    <a:lstStyle/>
                    <a:p>
                      <a:pPr algn="l"/>
                      <a:r>
                        <a:rPr sz="1800" b="1">
                          <a:solidFill>
                            <a:srgbClr val="0B2B4E"/>
                          </a:solidFill>
                          <a:latin typeface="Calibri"/>
                        </a:rPr>
                        <a:t>Entry conditions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lang="en-US" sz="1800" b="0" dirty="0">
                          <a:solidFill>
                            <a:srgbClr val="0B2B4E"/>
                          </a:solidFill>
                          <a:latin typeface="Calibri"/>
                        </a:rPr>
                        <a:t>No barriers</a:t>
                      </a:r>
                      <a:endParaRPr sz="1800" b="0" dirty="0">
                        <a:solidFill>
                          <a:srgbClr val="0B2B4E"/>
                        </a:solidFill>
                        <a:latin typeface="Calibri"/>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758952">
                <a:tc>
                  <a:txBody>
                    <a:bodyPr/>
                    <a:lstStyle/>
                    <a:p>
                      <a:pPr algn="l"/>
                      <a:r>
                        <a:rPr sz="1800" b="1">
                          <a:solidFill>
                            <a:srgbClr val="0B2B4E"/>
                          </a:solidFill>
                          <a:latin typeface="Calibri"/>
                        </a:rPr>
                        <a:t>Profit potential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lang="en-US" sz="1800" b="0" dirty="0">
                          <a:solidFill>
                            <a:srgbClr val="0B2B4E"/>
                          </a:solidFill>
                          <a:latin typeface="Calibri"/>
                        </a:rPr>
                        <a:t>Short run: can be positive/negative/zero</a:t>
                      </a:r>
                    </a:p>
                    <a:p>
                      <a:pPr algn="ctr"/>
                      <a:r>
                        <a:rPr lang="en-US" sz="1800" b="0" dirty="0">
                          <a:solidFill>
                            <a:srgbClr val="0B2B4E"/>
                          </a:solidFill>
                          <a:latin typeface="Calibri"/>
                        </a:rPr>
                        <a:t>Long run: zero economic profit</a:t>
                      </a:r>
                      <a:endParaRPr sz="1800" b="0" dirty="0">
                        <a:solidFill>
                          <a:srgbClr val="0B2B4E"/>
                        </a:solidFill>
                        <a:latin typeface="Calibri"/>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758952">
                <a:tc>
                  <a:txBody>
                    <a:bodyPr/>
                    <a:lstStyle/>
                    <a:p>
                      <a:pPr algn="l"/>
                      <a:r>
                        <a:rPr sz="1800" b="1" dirty="0">
                          <a:solidFill>
                            <a:srgbClr val="0B2B4E"/>
                          </a:solidFill>
                          <a:latin typeface="Calibri"/>
                        </a:rPr>
                        <a:t>Examples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lang="en-US" sz="1800" b="0" i="0" dirty="0">
                          <a:solidFill>
                            <a:srgbClr val="0B2B4E"/>
                          </a:solidFill>
                          <a:latin typeface="+mn-lt"/>
                        </a:rPr>
                        <a:t>Agricultural commodities; currency markets; unskilled labor</a:t>
                      </a:r>
                      <a:endParaRPr sz="1800" b="0" dirty="0">
                        <a:solidFill>
                          <a:srgbClr val="0B2B4E"/>
                        </a:solidFill>
                        <a:latin typeface="Calibri"/>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bl>
          </a:graphicData>
        </a:graphic>
      </p:graphicFrame>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184666"/>
          </a:xfrm>
          <a:prstGeom prst="rect">
            <a:avLst/>
          </a:prstGeom>
          <a:noFill/>
        </p:spPr>
        <p:txBody>
          <a:bodyPr wrap="square" lIns="0" tIns="0" rIns="0" bIns="0">
            <a:spAutoFit/>
          </a:bodyPr>
          <a:lstStyle/>
          <a:p>
            <a:r>
              <a:rPr lang="en-US" sz="1200" dirty="0">
                <a:solidFill>
                  <a:srgbClr val="555B66"/>
                </a:solidFill>
              </a:rPr>
              <a:t>Management 405 · Perfect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FF592437-ABCA-5183-A3FC-D436526D7523}"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Price Takers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Perfect </a:t>
            </a:r>
            <a:r>
              <a:rPr lang="en-US" sz="3000" b="1" i="0" dirty="0">
                <a:solidFill>
                  <a:srgbClr val="0B2B4E"/>
                </a:solidFill>
                <a:latin typeface="Calibri"/>
              </a:rPr>
              <a:t>C</a:t>
            </a:r>
            <a:r>
              <a:rPr sz="3000" b="1" i="0" dirty="0">
                <a:solidFill>
                  <a:srgbClr val="0B2B4E"/>
                </a:solidFill>
                <a:latin typeface="Calibri"/>
              </a:rPr>
              <a:t>ompetition: </a:t>
            </a:r>
            <a:r>
              <a:rPr lang="en-US" sz="3000" b="1" i="0" dirty="0">
                <a:solidFill>
                  <a:srgbClr val="0B2B4E"/>
                </a:solidFill>
                <a:latin typeface="Calibri"/>
              </a:rPr>
              <a:t>T</a:t>
            </a:r>
            <a:r>
              <a:rPr sz="3000" b="1" i="0" dirty="0">
                <a:solidFill>
                  <a:srgbClr val="0B2B4E"/>
                </a:solidFill>
                <a:latin typeface="Calibri"/>
              </a:rPr>
              <a:t>he </a:t>
            </a:r>
            <a:r>
              <a:rPr lang="en-US" sz="3000" b="1" dirty="0">
                <a:solidFill>
                  <a:srgbClr val="0B2B4E"/>
                </a:solidFill>
                <a:latin typeface="Calibri"/>
              </a:rPr>
              <a:t>M</a:t>
            </a:r>
            <a:r>
              <a:rPr sz="3000" b="1" i="0" dirty="0">
                <a:solidFill>
                  <a:srgbClr val="0B2B4E"/>
                </a:solidFill>
                <a:latin typeface="Calibri"/>
              </a:rPr>
              <a:t>arket and the </a:t>
            </a:r>
            <a:r>
              <a:rPr lang="en-US" sz="3000" b="1" i="0" dirty="0">
                <a:solidFill>
                  <a:srgbClr val="0B2B4E"/>
                </a:solidFill>
                <a:latin typeface="Calibri"/>
              </a:rPr>
              <a:t>F</a:t>
            </a:r>
            <a:r>
              <a:rPr sz="3000" b="1" i="0" dirty="0">
                <a:solidFill>
                  <a:srgbClr val="0B2B4E"/>
                </a:solidFill>
                <a:latin typeface="Calibri"/>
              </a:rPr>
              <a:t>irm</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10</a:t>
            </a:r>
          </a:p>
        </p:txBody>
      </p:sp>
      <p:cxnSp>
        <p:nvCxnSpPr>
          <p:cNvPr id="10" name="Connector 9"/>
          <p:cNvCxnSpPr/>
          <p:nvPr/>
        </p:nvCxnSpPr>
        <p:spPr>
          <a:xfrm flipV="1">
            <a:off x="1280160" y="2331720"/>
            <a:ext cx="0" cy="324612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80160" y="5577840"/>
            <a:ext cx="3200399"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0119" y="1965959"/>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13" name="TextBox 12"/>
          <p:cNvSpPr txBox="1"/>
          <p:nvPr/>
        </p:nvSpPr>
        <p:spPr>
          <a:xfrm>
            <a:off x="4069079" y="5632703"/>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4" name="Connector 13"/>
          <p:cNvCxnSpPr/>
          <p:nvPr/>
        </p:nvCxnSpPr>
        <p:spPr>
          <a:xfrm flipV="1">
            <a:off x="1581912" y="2717596"/>
            <a:ext cx="2353665" cy="2611527"/>
          </a:xfrm>
          <a:prstGeom prst="line">
            <a:avLst/>
          </a:prstGeom>
          <a:ln w="3556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963009" y="2699308"/>
            <a:ext cx="822960" cy="274320"/>
          </a:xfrm>
          <a:prstGeom prst="rect">
            <a:avLst/>
          </a:prstGeom>
          <a:noFill/>
        </p:spPr>
        <p:txBody>
          <a:bodyPr wrap="square" lIns="0" tIns="0" rIns="0" bIns="0" anchor="t">
            <a:spAutoFit/>
          </a:bodyPr>
          <a:lstStyle/>
          <a:p>
            <a:r>
              <a:rPr sz="1500" b="1" i="0">
                <a:solidFill>
                  <a:srgbClr val="4E79B5"/>
                </a:solidFill>
                <a:latin typeface="Calibri"/>
              </a:rPr>
              <a:t>S</a:t>
            </a:r>
          </a:p>
        </p:txBody>
      </p:sp>
      <p:cxnSp>
        <p:nvCxnSpPr>
          <p:cNvPr id="16" name="Connector 15"/>
          <p:cNvCxnSpPr/>
          <p:nvPr/>
        </p:nvCxnSpPr>
        <p:spPr>
          <a:xfrm>
            <a:off x="1461211" y="2779775"/>
            <a:ext cx="2414016" cy="2611527"/>
          </a:xfrm>
          <a:prstGeom prst="line">
            <a:avLst/>
          </a:prstGeom>
          <a:ln w="3556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902659" y="5373014"/>
            <a:ext cx="822960" cy="274320"/>
          </a:xfrm>
          <a:prstGeom prst="rect">
            <a:avLst/>
          </a:prstGeom>
          <a:noFill/>
        </p:spPr>
        <p:txBody>
          <a:bodyPr wrap="square" lIns="0" tIns="0" rIns="0" bIns="0" anchor="t">
            <a:spAutoFit/>
          </a:bodyPr>
          <a:lstStyle/>
          <a:p>
            <a:r>
              <a:rPr sz="1500" b="1" i="0" dirty="0">
                <a:solidFill>
                  <a:srgbClr val="E09F3E"/>
                </a:solidFill>
                <a:latin typeface="Calibri"/>
              </a:rPr>
              <a:t>D</a:t>
            </a:r>
          </a:p>
        </p:txBody>
      </p:sp>
      <p:cxnSp>
        <p:nvCxnSpPr>
          <p:cNvPr id="18" name="Connector 17"/>
          <p:cNvCxnSpPr>
            <a:cxnSpLocks/>
            <a:endCxn id="26" idx="3"/>
          </p:cNvCxnSpPr>
          <p:nvPr/>
        </p:nvCxnSpPr>
        <p:spPr>
          <a:xfrm>
            <a:off x="1280160" y="4104429"/>
            <a:ext cx="5925312" cy="27432"/>
          </a:xfrm>
          <a:prstGeom prst="line">
            <a:avLst/>
          </a:prstGeom>
          <a:ln w="1651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6112" y="3994701"/>
            <a:ext cx="365760" cy="274320"/>
          </a:xfrm>
          <a:prstGeom prst="rect">
            <a:avLst/>
          </a:prstGeom>
          <a:noFill/>
        </p:spPr>
        <p:txBody>
          <a:bodyPr wrap="square" lIns="0" tIns="0" rIns="0" bIns="0" anchor="t">
            <a:spAutoFit/>
          </a:bodyPr>
          <a:lstStyle/>
          <a:p>
            <a:pPr algn="r"/>
            <a:r>
              <a:rPr sz="1400" b="1" i="0" dirty="0">
                <a:solidFill>
                  <a:srgbClr val="0B2B4E"/>
                </a:solidFill>
                <a:latin typeface="Calibri"/>
              </a:rPr>
              <a:t>P*</a:t>
            </a:r>
          </a:p>
        </p:txBody>
      </p:sp>
      <p:sp>
        <p:nvSpPr>
          <p:cNvPr id="20" name="TextBox 19"/>
          <p:cNvSpPr txBox="1"/>
          <p:nvPr/>
        </p:nvSpPr>
        <p:spPr>
          <a:xfrm>
            <a:off x="1280160" y="1600199"/>
            <a:ext cx="3017520" cy="307777"/>
          </a:xfrm>
          <a:prstGeom prst="rect">
            <a:avLst/>
          </a:prstGeom>
          <a:noFill/>
        </p:spPr>
        <p:txBody>
          <a:bodyPr wrap="square" lIns="0" tIns="0" rIns="0" bIns="0" anchor="t">
            <a:spAutoFit/>
          </a:bodyPr>
          <a:lstStyle/>
          <a:p>
            <a:pPr algn="ctr"/>
            <a:r>
              <a:rPr sz="2000" b="1" i="0" dirty="0">
                <a:solidFill>
                  <a:srgbClr val="0B2B4E"/>
                </a:solidFill>
                <a:latin typeface="Calibri"/>
              </a:rPr>
              <a:t>Market</a:t>
            </a:r>
          </a:p>
        </p:txBody>
      </p:sp>
      <p:cxnSp>
        <p:nvCxnSpPr>
          <p:cNvPr id="21" name="Connector 20"/>
          <p:cNvCxnSpPr/>
          <p:nvPr/>
        </p:nvCxnSpPr>
        <p:spPr>
          <a:xfrm flipV="1">
            <a:off x="7223760" y="2331720"/>
            <a:ext cx="0" cy="324612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223760" y="5577840"/>
            <a:ext cx="347472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03720" y="1965959"/>
            <a:ext cx="1463040" cy="215444"/>
          </a:xfrm>
          <a:prstGeom prst="rect">
            <a:avLst/>
          </a:prstGeom>
          <a:noFill/>
        </p:spPr>
        <p:txBody>
          <a:bodyPr wrap="square" lIns="0" tIns="0" rIns="0" bIns="0" anchor="t">
            <a:spAutoFit/>
          </a:bodyPr>
          <a:lstStyle/>
          <a:p>
            <a:r>
              <a:rPr sz="1400" b="1" i="0" dirty="0">
                <a:solidFill>
                  <a:srgbClr val="0B2B4E"/>
                </a:solidFill>
                <a:latin typeface="Calibri"/>
              </a:rPr>
              <a:t>Price ($)</a:t>
            </a:r>
          </a:p>
        </p:txBody>
      </p:sp>
      <p:sp>
        <p:nvSpPr>
          <p:cNvPr id="24" name="TextBox 23"/>
          <p:cNvSpPr txBox="1"/>
          <p:nvPr/>
        </p:nvSpPr>
        <p:spPr>
          <a:xfrm>
            <a:off x="10287000" y="5632703"/>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25" name="Connector 24"/>
          <p:cNvCxnSpPr>
            <a:cxnSpLocks/>
          </p:cNvCxnSpPr>
          <p:nvPr/>
        </p:nvCxnSpPr>
        <p:spPr>
          <a:xfrm>
            <a:off x="7223760" y="4123679"/>
            <a:ext cx="3474720" cy="0"/>
          </a:xfrm>
          <a:prstGeom prst="line">
            <a:avLst/>
          </a:prstGeom>
          <a:ln w="35560">
            <a:solidFill>
              <a:srgbClr val="C0201B"/>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39712" y="3994701"/>
            <a:ext cx="365760" cy="274320"/>
          </a:xfrm>
          <a:prstGeom prst="rect">
            <a:avLst/>
          </a:prstGeom>
          <a:noFill/>
        </p:spPr>
        <p:txBody>
          <a:bodyPr wrap="square" lIns="0" tIns="0" rIns="0" bIns="0" anchor="t">
            <a:spAutoFit/>
          </a:bodyPr>
          <a:lstStyle/>
          <a:p>
            <a:pPr algn="r"/>
            <a:r>
              <a:rPr sz="1400" b="1" i="0" dirty="0">
                <a:solidFill>
                  <a:srgbClr val="0B2B4E"/>
                </a:solidFill>
                <a:latin typeface="Calibri"/>
              </a:rPr>
              <a:t>P*</a:t>
            </a:r>
          </a:p>
        </p:txBody>
      </p:sp>
      <p:sp>
        <p:nvSpPr>
          <p:cNvPr id="27" name="TextBox 26"/>
          <p:cNvSpPr txBox="1"/>
          <p:nvPr/>
        </p:nvSpPr>
        <p:spPr>
          <a:xfrm>
            <a:off x="8375904" y="3720381"/>
            <a:ext cx="2926080" cy="200055"/>
          </a:xfrm>
          <a:prstGeom prst="rect">
            <a:avLst/>
          </a:prstGeom>
          <a:noFill/>
        </p:spPr>
        <p:txBody>
          <a:bodyPr wrap="square" lIns="0" tIns="0" rIns="0" bIns="0" anchor="t">
            <a:spAutoFit/>
          </a:bodyPr>
          <a:lstStyle/>
          <a:p>
            <a:r>
              <a:rPr lang="en-US" sz="1300" b="0" i="1" dirty="0">
                <a:solidFill>
                  <a:srgbClr val="C0201B"/>
                </a:solidFill>
                <a:latin typeface="Calibri"/>
              </a:rPr>
              <a:t>Demand curve </a:t>
            </a:r>
            <a:r>
              <a:rPr sz="1300" b="0" i="1" dirty="0">
                <a:solidFill>
                  <a:srgbClr val="C0201B"/>
                </a:solidFill>
                <a:latin typeface="Calibri"/>
              </a:rPr>
              <a:t>d = Marginal Revenue (MR)</a:t>
            </a:r>
          </a:p>
        </p:txBody>
      </p:sp>
      <p:sp>
        <p:nvSpPr>
          <p:cNvPr id="28" name="TextBox 27"/>
          <p:cNvSpPr txBox="1"/>
          <p:nvPr/>
        </p:nvSpPr>
        <p:spPr>
          <a:xfrm>
            <a:off x="7483643" y="1600199"/>
            <a:ext cx="3291840" cy="307777"/>
          </a:xfrm>
          <a:prstGeom prst="rect">
            <a:avLst/>
          </a:prstGeom>
          <a:noFill/>
        </p:spPr>
        <p:txBody>
          <a:bodyPr wrap="square" lIns="0" tIns="0" rIns="0" bIns="0" anchor="t">
            <a:spAutoFit/>
          </a:bodyPr>
          <a:lstStyle/>
          <a:p>
            <a:pPr algn="ctr"/>
            <a:r>
              <a:rPr sz="2000" b="1" i="0" dirty="0">
                <a:solidFill>
                  <a:srgbClr val="0B2B4E"/>
                </a:solidFill>
                <a:latin typeface="Calibri"/>
              </a:rPr>
              <a:t>Firm (price taker)</a:t>
            </a:r>
          </a:p>
        </p:txBody>
      </p:sp>
      <p:sp>
        <p:nvSpPr>
          <p:cNvPr id="33" name="TextBox 32">
            <a:extLst>
              <a:ext uri="{FF2B5EF4-FFF2-40B4-BE49-F238E27FC236}">
                <a16:creationId xmlns:a16="http://schemas.microsoft.com/office/drawing/2014/main" id="{C0EA3C37-C856-FEEC-FC7E-291BAD3C61DD}"/>
              </a:ext>
            </a:extLst>
          </p:cNvPr>
          <p:cNvSpPr txBox="1"/>
          <p:nvPr/>
        </p:nvSpPr>
        <p:spPr>
          <a:xfrm>
            <a:off x="2161257" y="2985817"/>
            <a:ext cx="1005454" cy="430887"/>
          </a:xfrm>
          <a:prstGeom prst="rect">
            <a:avLst/>
          </a:prstGeom>
          <a:noFill/>
        </p:spPr>
        <p:txBody>
          <a:bodyPr wrap="square" lIns="0" tIns="0" rIns="0" bIns="0" anchor="t">
            <a:spAutoFit/>
          </a:bodyPr>
          <a:lstStyle/>
          <a:p>
            <a:pPr algn="ctr"/>
            <a:r>
              <a:rPr lang="en-US" sz="1400" i="0" dirty="0">
                <a:solidFill>
                  <a:srgbClr val="0B2B4E"/>
                </a:solidFill>
                <a:latin typeface="Calibri"/>
              </a:rPr>
              <a:t>Market </a:t>
            </a:r>
          </a:p>
          <a:p>
            <a:pPr algn="ctr"/>
            <a:r>
              <a:rPr lang="en-US" sz="1400" i="0" dirty="0">
                <a:solidFill>
                  <a:srgbClr val="0B2B4E"/>
                </a:solidFill>
                <a:latin typeface="Calibri"/>
              </a:rPr>
              <a:t>equilibrium</a:t>
            </a:r>
            <a:endParaRPr sz="1400" i="0" dirty="0">
              <a:solidFill>
                <a:srgbClr val="0B2B4E"/>
              </a:solidFill>
              <a:latin typeface="Calibri"/>
            </a:endParaRPr>
          </a:p>
        </p:txBody>
      </p:sp>
      <p:cxnSp>
        <p:nvCxnSpPr>
          <p:cNvPr id="35" name="Straight Arrow Connector 34">
            <a:extLst>
              <a:ext uri="{FF2B5EF4-FFF2-40B4-BE49-F238E27FC236}">
                <a16:creationId xmlns:a16="http://schemas.microsoft.com/office/drawing/2014/main" id="{4E6F0D48-A805-7A79-CD5F-868238ADC5DB}"/>
              </a:ext>
            </a:extLst>
          </p:cNvPr>
          <p:cNvCxnSpPr>
            <a:cxnSpLocks/>
            <a:stCxn id="33" idx="2"/>
          </p:cNvCxnSpPr>
          <p:nvPr/>
        </p:nvCxnSpPr>
        <p:spPr>
          <a:xfrm>
            <a:off x="2663984" y="3416704"/>
            <a:ext cx="25673" cy="5200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Connector 17">
            <a:extLst>
              <a:ext uri="{FF2B5EF4-FFF2-40B4-BE49-F238E27FC236}">
                <a16:creationId xmlns:a16="http://schemas.microsoft.com/office/drawing/2014/main" id="{4260263C-3E70-F07A-3612-22053A3FCB66}"/>
              </a:ext>
            </a:extLst>
          </p:cNvPr>
          <p:cNvCxnSpPr>
            <a:cxnSpLocks/>
            <a:endCxn id="34" idx="6"/>
          </p:cNvCxnSpPr>
          <p:nvPr/>
        </p:nvCxnSpPr>
        <p:spPr>
          <a:xfrm flipV="1">
            <a:off x="1269722" y="4103588"/>
            <a:ext cx="1484964" cy="2929"/>
          </a:xfrm>
          <a:prstGeom prst="line">
            <a:avLst/>
          </a:prstGeom>
          <a:ln w="16510">
            <a:solidFill>
              <a:srgbClr val="2EA04E"/>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5F2AA5CF-1581-CDEC-5CF3-72BF3C259014}"/>
              </a:ext>
            </a:extLst>
          </p:cNvPr>
          <p:cNvSpPr/>
          <p:nvPr/>
        </p:nvSpPr>
        <p:spPr>
          <a:xfrm>
            <a:off x="2631583" y="4023893"/>
            <a:ext cx="123103" cy="159390"/>
          </a:xfrm>
          <a:prstGeom prst="ellipse">
            <a:avLst/>
          </a:prstGeom>
          <a:solidFill>
            <a:srgbClr val="C00000"/>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6" grpId="0"/>
      <p:bldP spid="27" grpId="0"/>
      <p:bldP spid="33" grpId="0"/>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Price Takers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Example: The Yi family</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11</a:t>
            </a:r>
          </a:p>
        </p:txBody>
      </p:sp>
      <p:sp>
        <p:nvSpPr>
          <p:cNvPr id="10" name="BUILD"/>
          <p:cNvSpPr txBox="1"/>
          <p:nvPr/>
        </p:nvSpPr>
        <p:spPr>
          <a:xfrm>
            <a:off x="640080" y="1783080"/>
            <a:ext cx="6675120" cy="3518912"/>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South Korean family moves from California to rural Arkansas to start a family farm</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Their goal: grow Korean produce to sell to vendors in Dallas</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We focus on their </a:t>
            </a:r>
            <a:r>
              <a:rPr lang="en-US" sz="2600" b="0" i="0" dirty="0">
                <a:solidFill>
                  <a:srgbClr val="0B2B4E"/>
                </a:solidFill>
                <a:latin typeface="Calibri"/>
              </a:rPr>
              <a:t>cabbage </a:t>
            </a:r>
            <a:r>
              <a:rPr sz="2600" b="0" i="0" dirty="0">
                <a:solidFill>
                  <a:srgbClr val="0B2B4E"/>
                </a:solidFill>
                <a:latin typeface="Calibri"/>
              </a:rPr>
              <a:t>production</a:t>
            </a:r>
          </a:p>
        </p:txBody>
      </p:sp>
      <p:pic>
        <p:nvPicPr>
          <p:cNvPr id="11" name="Picture 10" descr="s11_img1.png"/>
          <p:cNvPicPr>
            <a:picLocks noChangeAspect="1"/>
          </p:cNvPicPr>
          <p:nvPr/>
        </p:nvPicPr>
        <p:blipFill>
          <a:blip r:embed="rId3"/>
          <a:stretch>
            <a:fillRect/>
          </a:stretch>
        </p:blipFill>
        <p:spPr>
          <a:xfrm>
            <a:off x="7686040" y="1920240"/>
            <a:ext cx="3738879" cy="2103120"/>
          </a:xfrm>
          <a:prstGeom prst="roundRect">
            <a:avLst>
              <a:gd name="adj" fmla="val 4000"/>
            </a:avLst>
          </a:prstGeom>
          <a:effectLst>
            <a:outerShdw blurRad="54864" dist="41148" dir="5400000" rotWithShape="0">
              <a:srgbClr val="000000">
                <a:alpha val="62000"/>
              </a:srgbClr>
            </a:outerShdw>
          </a:effectLst>
        </p:spPr>
      </p:pic>
      <p:pic>
        <p:nvPicPr>
          <p:cNvPr id="12" name="Picture 11" descr="s11_img2.jpg"/>
          <p:cNvPicPr>
            <a:picLocks noChangeAspect="1"/>
          </p:cNvPicPr>
          <p:nvPr/>
        </p:nvPicPr>
        <p:blipFill>
          <a:blip r:embed="rId4"/>
          <a:stretch>
            <a:fillRect/>
          </a:stretch>
        </p:blipFill>
        <p:spPr>
          <a:xfrm>
            <a:off x="7589520" y="4389120"/>
            <a:ext cx="1828800" cy="1371600"/>
          </a:xfrm>
          <a:prstGeom prst="roundRect">
            <a:avLst>
              <a:gd name="adj" fmla="val 4000"/>
            </a:avLst>
          </a:prstGeom>
          <a:effectLst>
            <a:outerShdw blurRad="54864" dist="41148" dir="5400000" rotWithShape="0">
              <a:srgbClr val="000000">
                <a:alpha val="62000"/>
              </a:srgbClr>
            </a:outerShdw>
          </a:effectLst>
        </p:spPr>
      </p:pic>
      <p:pic>
        <p:nvPicPr>
          <p:cNvPr id="13" name="Picture 12" descr="s11_img3.png"/>
          <p:cNvPicPr>
            <a:picLocks noChangeAspect="1"/>
          </p:cNvPicPr>
          <p:nvPr/>
        </p:nvPicPr>
        <p:blipFill>
          <a:blip r:embed="rId5"/>
          <a:stretch>
            <a:fillRect/>
          </a:stretch>
        </p:blipFill>
        <p:spPr>
          <a:xfrm>
            <a:off x="9601200" y="4370191"/>
            <a:ext cx="1920240" cy="1409456"/>
          </a:xfrm>
          <a:prstGeom prst="roundRect">
            <a:avLst>
              <a:gd name="adj" fmla="val 4000"/>
            </a:avLst>
          </a:prstGeom>
          <a:effectLst>
            <a:outerShdw blurRad="54864" dist="41148" dir="5400000" rotWithShape="0">
              <a:srgbClr val="000000">
                <a:alpha val="62000"/>
              </a:srgbClr>
            </a:outerShdw>
          </a:effectLst>
        </p:spPr>
      </p:pic>
      <p:sp>
        <p:nvSpPr>
          <p:cNvPr id="14" name="Pentagon 13">
            <a:extLst>
              <a:ext uri="{FF2B5EF4-FFF2-40B4-BE49-F238E27FC236}">
                <a16:creationId xmlns:a16="http://schemas.microsoft.com/office/drawing/2014/main" id="{67B38AF6-7219-7828-C3C9-557B5F866CFF}"/>
              </a:ext>
            </a:extLst>
          </p:cNvPr>
          <p:cNvSpPr/>
          <p:nvPr/>
        </p:nvSpPr>
        <p:spPr>
          <a:xfrm>
            <a:off x="9402775" y="5872542"/>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Price Takers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Business Relevance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12</a:t>
            </a:r>
          </a:p>
        </p:txBody>
      </p:sp>
      <p:sp>
        <p:nvSpPr>
          <p:cNvPr id="10" name="Q_0"/>
          <p:cNvSpPr txBox="1"/>
          <p:nvPr/>
        </p:nvSpPr>
        <p:spPr>
          <a:xfrm>
            <a:off x="640080" y="1572768"/>
            <a:ext cx="1005840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Key questions:</a:t>
            </a:r>
          </a:p>
        </p:txBody>
      </p:sp>
      <p:sp>
        <p:nvSpPr>
          <p:cNvPr id="11" name="Q_1"/>
          <p:cNvSpPr/>
          <p:nvPr/>
        </p:nvSpPr>
        <p:spPr>
          <a:xfrm>
            <a:off x="1143000" y="2148840"/>
            <a:ext cx="9921240" cy="822960"/>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051560" rIns="182880" rtlCol="0" anchor="ctr"/>
          <a:lstStyle/>
          <a:p>
            <a:pPr algn="l"/>
            <a:r>
              <a:rPr sz="2200" b="1" i="0">
                <a:solidFill>
                  <a:srgbClr val="0B2B4E"/>
                </a:solidFill>
                <a:latin typeface="Calibri"/>
              </a:rPr>
              <a:t>Should the Yi family operate or not?</a:t>
            </a:r>
          </a:p>
        </p:txBody>
      </p:sp>
      <p:sp>
        <p:nvSpPr>
          <p:cNvPr id="12" name="Q_2"/>
          <p:cNvSpPr/>
          <p:nvPr/>
        </p:nvSpPr>
        <p:spPr>
          <a:xfrm>
            <a:off x="1371600" y="2331720"/>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1</a:t>
            </a:r>
          </a:p>
        </p:txBody>
      </p:sp>
      <p:sp>
        <p:nvSpPr>
          <p:cNvPr id="13" name="Q_3"/>
          <p:cNvSpPr/>
          <p:nvPr/>
        </p:nvSpPr>
        <p:spPr>
          <a:xfrm>
            <a:off x="1143000" y="3154680"/>
            <a:ext cx="9921240" cy="822960"/>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051560" rIns="182880" rtlCol="0" anchor="ctr"/>
          <a:lstStyle/>
          <a:p>
            <a:pPr algn="l"/>
            <a:r>
              <a:rPr sz="2200" b="1" i="0">
                <a:solidFill>
                  <a:srgbClr val="0B2B4E"/>
                </a:solidFill>
                <a:latin typeface="Calibri"/>
              </a:rPr>
              <a:t>How much should the Yi family produce to maximize profits?</a:t>
            </a:r>
          </a:p>
        </p:txBody>
      </p:sp>
      <p:sp>
        <p:nvSpPr>
          <p:cNvPr id="14" name="Q_4"/>
          <p:cNvSpPr/>
          <p:nvPr/>
        </p:nvSpPr>
        <p:spPr>
          <a:xfrm>
            <a:off x="1371600" y="3337560"/>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2</a:t>
            </a:r>
          </a:p>
        </p:txBody>
      </p:sp>
      <p:sp>
        <p:nvSpPr>
          <p:cNvPr id="15" name="C1_0"/>
          <p:cNvSpPr txBox="1"/>
          <p:nvPr/>
        </p:nvSpPr>
        <p:spPr>
          <a:xfrm>
            <a:off x="640080" y="4434840"/>
            <a:ext cx="1097280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We start by analyzing the second: profit maximization</a:t>
            </a:r>
          </a:p>
        </p:txBody>
      </p:sp>
      <p:sp>
        <p:nvSpPr>
          <p:cNvPr id="16" name="C2_0"/>
          <p:cNvSpPr txBox="1"/>
          <p:nvPr/>
        </p:nvSpPr>
        <p:spPr>
          <a:xfrm>
            <a:off x="640080" y="5120640"/>
            <a:ext cx="1097280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Key concept: marginal analysis</a:t>
            </a:r>
          </a:p>
        </p:txBody>
      </p:sp>
      <p:sp>
        <p:nvSpPr>
          <p:cNvPr id="17" name="Pentagon 16"/>
          <p:cNvSpPr/>
          <p:nvPr/>
        </p:nvSpPr>
        <p:spPr>
          <a:xfrm>
            <a:off x="9006840" y="5715000"/>
            <a:ext cx="2743200" cy="603504"/>
          </a:xfrm>
          <a:prstGeom prst="homePlate">
            <a:avLst>
              <a:gd name="adj" fmla="val 50000"/>
            </a:avLst>
          </a:prstGeom>
          <a:solidFill>
            <a:srgbClr val="E09F3E"/>
          </a:solidFill>
          <a:ln w="12700">
            <a:solidFill>
              <a:srgbClr val="C88A2E"/>
            </a:solidFill>
          </a:ln>
          <a:effectLst>
            <a:outerShdw blurRad="45720" dist="27432"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Price Takers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Price Taker Revenue Conditions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13</a:t>
            </a:r>
          </a:p>
        </p:txBody>
      </p:sp>
      <mc:AlternateContent xmlns:mc="http://schemas.openxmlformats.org/markup-compatibility/2006" xmlns:a14="http://schemas.microsoft.com/office/drawing/2010/main">
        <mc:Choice Requires="a14">
          <p:sp>
            <p:nvSpPr>
              <p:cNvPr id="11" name="BUILD"/>
              <p:cNvSpPr txBox="1"/>
              <p:nvPr/>
            </p:nvSpPr>
            <p:spPr>
              <a:xfrm>
                <a:off x="731520" y="4937760"/>
                <a:ext cx="5120640" cy="1358385"/>
              </a:xfrm>
              <a:prstGeom prst="rect">
                <a:avLst/>
              </a:prstGeom>
              <a:noFill/>
            </p:spPr>
            <p:txBody>
              <a:bodyPr wrap="square" lIns="0" tIns="0" rIns="0" bIns="0" anchor="t">
                <a:spAutoFit/>
              </a:bodyPr>
              <a:lstStyle/>
              <a:p>
                <a:pPr marL="274320" indent="-274320">
                  <a:spcAft>
                    <a:spcPts val="800"/>
                  </a:spcAft>
                  <a:buClr>
                    <a:srgbClr val="0B2B4E"/>
                  </a:buClr>
                  <a:buSzPct val="100000"/>
                  <a:buFont typeface="Calibri"/>
                  <a:buChar char="▪"/>
                </a:pPr>
                <a14:m>
                  <m:oMath xmlns:m="http://schemas.openxmlformats.org/officeDocument/2006/math">
                    <m:r>
                      <m:rPr>
                        <m:nor/>
                      </m:rPr>
                      <a:rPr lang="en-US" sz="2000" dirty="0" smtClean="0">
                        <a:solidFill>
                          <a:srgbClr val="0B2B4E"/>
                        </a:solidFill>
                        <a:latin typeface="Cambria Math" panose="02040503050406030204" pitchFamily="18" charset="0"/>
                        <a:ea typeface="Cambria Math" panose="02040503050406030204" pitchFamily="18" charset="0"/>
                      </a:rPr>
                      <m:t>T</m:t>
                    </m:r>
                    <m:r>
                      <m:rPr>
                        <m:nor/>
                      </m:rPr>
                      <a:rPr lang="en-US" sz="2000" b="0" dirty="0" smtClean="0">
                        <a:solidFill>
                          <a:srgbClr val="0B2B4E"/>
                        </a:solidFill>
                        <a:latin typeface="Cambria Math" panose="02040503050406030204" pitchFamily="18" charset="0"/>
                        <a:ea typeface="Cambria Math" panose="02040503050406030204" pitchFamily="18" charset="0"/>
                      </a:rPr>
                      <m:t>R</m:t>
                    </m:r>
                    <m:r>
                      <m:rPr>
                        <m:nor/>
                      </m:rPr>
                      <a:rPr lang="en-US" sz="2000" b="0" dirty="0" smtClean="0">
                        <a:solidFill>
                          <a:srgbClr val="0B2B4E"/>
                        </a:solidFill>
                        <a:latin typeface="Cambria Math" panose="02040503050406030204" pitchFamily="18" charset="0"/>
                        <a:ea typeface="Cambria Math" panose="02040503050406030204" pitchFamily="18" charset="0"/>
                      </a:rPr>
                      <m:t> = </m:t>
                    </m:r>
                    <m:r>
                      <m:rPr>
                        <m:nor/>
                      </m:rPr>
                      <a:rPr lang="en-US" sz="2000" dirty="0" smtClean="0">
                        <a:solidFill>
                          <a:srgbClr val="0B2B4E"/>
                        </a:solidFill>
                        <a:latin typeface="Cambria Math" panose="02040503050406030204" pitchFamily="18" charset="0"/>
                        <a:ea typeface="Cambria Math" panose="02040503050406030204" pitchFamily="18" charset="0"/>
                      </a:rPr>
                      <m:t>P</m:t>
                    </m:r>
                    <m:r>
                      <m:rPr>
                        <m:nor/>
                      </m:rPr>
                      <a:rPr lang="en-US" sz="2000" dirty="0" smtClean="0">
                        <a:solidFill>
                          <a:srgbClr val="0B2B4E"/>
                        </a:solidFill>
                        <a:latin typeface="Cambria Math" panose="02040503050406030204" pitchFamily="18" charset="0"/>
                        <a:ea typeface="Cambria Math" panose="02040503050406030204" pitchFamily="18" charset="0"/>
                      </a:rPr>
                      <m:t>·</m:t>
                    </m:r>
                    <m:r>
                      <m:rPr>
                        <m:nor/>
                      </m:rPr>
                      <a:rPr lang="en-US" sz="2000" dirty="0" smtClean="0">
                        <a:solidFill>
                          <a:srgbClr val="0B2B4E"/>
                        </a:solidFill>
                        <a:latin typeface="Cambria Math" panose="02040503050406030204" pitchFamily="18" charset="0"/>
                        <a:ea typeface="Cambria Math" panose="02040503050406030204" pitchFamily="18" charset="0"/>
                      </a:rPr>
                      <m:t>Q</m:t>
                    </m:r>
                    <m:r>
                      <m:rPr>
                        <m:nor/>
                      </m:rPr>
                      <a:rPr lang="en-US" sz="2000" dirty="0" smtClean="0">
                        <a:solidFill>
                          <a:srgbClr val="0B2B4E"/>
                        </a:solidFill>
                        <a:latin typeface="Cambria Math" panose="02040503050406030204" pitchFamily="18" charset="0"/>
                        <a:ea typeface="Cambria Math" panose="02040503050406030204" pitchFamily="18" charset="0"/>
                      </a:rPr>
                      <m:t> = 3</m:t>
                    </m:r>
                    <m:r>
                      <m:rPr>
                        <m:nor/>
                      </m:rPr>
                      <a:rPr lang="en-US" sz="2000" dirty="0" smtClean="0">
                        <a:solidFill>
                          <a:srgbClr val="0B2B4E"/>
                        </a:solidFill>
                        <a:latin typeface="Cambria Math" panose="02040503050406030204" pitchFamily="18" charset="0"/>
                        <a:ea typeface="Cambria Math" panose="02040503050406030204" pitchFamily="18" charset="0"/>
                      </a:rPr>
                      <m:t>Q</m:t>
                    </m:r>
                  </m:oMath>
                </a14:m>
                <a:endParaRPr lang="en-US" sz="2000" dirty="0">
                  <a:solidFill>
                    <a:srgbClr val="0B2B4E"/>
                  </a:solidFill>
                  <a:latin typeface="Cambria Math" panose="02040503050406030204" pitchFamily="18" charset="0"/>
                  <a:ea typeface="Cambria Math" panose="02040503050406030204" pitchFamily="18" charset="0"/>
                </a:endParaRPr>
              </a:p>
              <a:p>
                <a:pPr marL="274320" indent="-274320">
                  <a:spcAft>
                    <a:spcPts val="800"/>
                  </a:spcAft>
                  <a:buClr>
                    <a:srgbClr val="0B2B4E"/>
                  </a:buClr>
                  <a:buSzPct val="100000"/>
                  <a:buFont typeface="Calibri"/>
                  <a:buChar char="▪"/>
                </a:pPr>
                <a14:m>
                  <m:oMath xmlns:m="http://schemas.openxmlformats.org/officeDocument/2006/math">
                    <m:r>
                      <m:rPr>
                        <m:sty m:val="p"/>
                      </m:rPr>
                      <a:rPr lang="en-US" sz="2000" i="0">
                        <a:solidFill>
                          <a:srgbClr val="002060"/>
                        </a:solidFill>
                        <a:latin typeface="Cambria Math" panose="02040503050406030204" pitchFamily="18" charset="0"/>
                        <a:ea typeface="Cambria Math" panose="02040503050406030204" pitchFamily="18" charset="0"/>
                      </a:rPr>
                      <m:t>MR</m:t>
                    </m:r>
                    <m:r>
                      <a:rPr lang="en-US" sz="2000" i="0">
                        <a:solidFill>
                          <a:srgbClr val="002060"/>
                        </a:solidFill>
                        <a:latin typeface="Cambria Math" panose="02040503050406030204" pitchFamily="18" charset="0"/>
                        <a:ea typeface="Cambria Math" panose="02040503050406030204" pitchFamily="18" charset="0"/>
                      </a:rPr>
                      <m:t>=</m:t>
                    </m:r>
                    <m:f>
                      <m:fPr>
                        <m:ctrlPr>
                          <a:rPr lang="en-US" sz="2000" i="1">
                            <a:solidFill>
                              <a:srgbClr val="002060"/>
                            </a:solidFill>
                            <a:latin typeface="Cambria Math" panose="02040503050406030204" pitchFamily="18" charset="0"/>
                            <a:ea typeface="Cambria Math" panose="02040503050406030204" pitchFamily="18" charset="0"/>
                          </a:rPr>
                        </m:ctrlPr>
                      </m:fPr>
                      <m:num>
                        <m:r>
                          <m:rPr>
                            <m:nor/>
                          </m:rPr>
                          <a:rPr lang="en-US" sz="2000">
                            <a:solidFill>
                              <a:srgbClr val="002060"/>
                            </a:solidFill>
                            <a:latin typeface="Cambria Math" panose="02040503050406030204" pitchFamily="18" charset="0"/>
                            <a:ea typeface="Cambria Math" panose="02040503050406030204" pitchFamily="18" charset="0"/>
                            <a:cs typeface="Calibri" panose="020F0502020204030204" pitchFamily="34" charset="0"/>
                          </a:rPr>
                          <m:t>Δ</m:t>
                        </m:r>
                        <m:r>
                          <m:rPr>
                            <m:nor/>
                          </m:rPr>
                          <a:rPr lang="en-US" sz="2000">
                            <a:solidFill>
                              <a:srgbClr val="002060"/>
                            </a:solidFill>
                            <a:latin typeface="Cambria Math" panose="02040503050406030204" pitchFamily="18" charset="0"/>
                            <a:ea typeface="Cambria Math" panose="02040503050406030204" pitchFamily="18" charset="0"/>
                            <a:cs typeface="Calibri" panose="020F0502020204030204" pitchFamily="34" charset="0"/>
                          </a:rPr>
                          <m:t>𝑇𝑅</m:t>
                        </m:r>
                      </m:num>
                      <m:den>
                        <m:r>
                          <m:rPr>
                            <m:nor/>
                          </m:rPr>
                          <a:rPr lang="en-US" sz="2000">
                            <a:solidFill>
                              <a:srgbClr val="002060"/>
                            </a:solidFill>
                            <a:latin typeface="Cambria Math" panose="02040503050406030204" pitchFamily="18" charset="0"/>
                            <a:ea typeface="Cambria Math" panose="02040503050406030204" pitchFamily="18" charset="0"/>
                            <a:cs typeface="Calibri" panose="020F0502020204030204" pitchFamily="34" charset="0"/>
                          </a:rPr>
                          <m:t>Δ</m:t>
                        </m:r>
                        <m:r>
                          <m:rPr>
                            <m:nor/>
                          </m:rPr>
                          <a:rPr lang="en-US" sz="2000" b="0" smtClean="0">
                            <a:solidFill>
                              <a:srgbClr val="002060"/>
                            </a:solidFill>
                            <a:latin typeface="Cambria Math" panose="02040503050406030204" pitchFamily="18" charset="0"/>
                            <a:ea typeface="Cambria Math" panose="02040503050406030204" pitchFamily="18" charset="0"/>
                            <a:cs typeface="Calibri" panose="020F0502020204030204" pitchFamily="34" charset="0"/>
                          </a:rPr>
                          <m:t>Q</m:t>
                        </m:r>
                      </m:den>
                    </m:f>
                    <m:r>
                      <a:rPr lang="en-US" sz="2000" i="0">
                        <a:solidFill>
                          <a:srgbClr val="002060"/>
                        </a:solidFill>
                        <a:latin typeface="Cambria Math" panose="02040503050406030204" pitchFamily="18" charset="0"/>
                        <a:ea typeface="Cambria Math" panose="02040503050406030204" pitchFamily="18" charset="0"/>
                      </a:rPr>
                      <m:t>=3</m:t>
                    </m:r>
                  </m:oMath>
                </a14:m>
                <a:endParaRPr lang="en-US" sz="2000" dirty="0">
                  <a:solidFill>
                    <a:srgbClr val="002060"/>
                  </a:solidFill>
                  <a:latin typeface="Cambria Math" panose="02040503050406030204" pitchFamily="18" charset="0"/>
                  <a:ea typeface="Cambria Math" panose="02040503050406030204" pitchFamily="18" charset="0"/>
                  <a:cs typeface="Calibri" panose="020F0502020204030204" pitchFamily="34" charset="0"/>
                </a:endParaRPr>
              </a:p>
              <a:p>
                <a:pPr marL="274320" indent="-274320">
                  <a:spcAft>
                    <a:spcPts val="800"/>
                  </a:spcAft>
                  <a:buClr>
                    <a:srgbClr val="0B2B4E"/>
                  </a:buClr>
                  <a:buSzPct val="100000"/>
                  <a:buFont typeface="Calibri"/>
                  <a:buChar char="▪"/>
                </a:pPr>
                <a:endParaRPr sz="2000" b="0" dirty="0">
                  <a:solidFill>
                    <a:srgbClr val="0B2B4E"/>
                  </a:solidFill>
                  <a:latin typeface="Cambria Math" panose="02040503050406030204" pitchFamily="18" charset="0"/>
                  <a:ea typeface="Cambria Math" panose="02040503050406030204" pitchFamily="18" charset="0"/>
                </a:endParaRPr>
              </a:p>
            </p:txBody>
          </p:sp>
        </mc:Choice>
        <mc:Fallback xmlns="">
          <p:sp>
            <p:nvSpPr>
              <p:cNvPr id="11" name="BUILD"/>
              <p:cNvSpPr txBox="1">
                <a:spLocks noRot="1" noChangeAspect="1" noMove="1" noResize="1" noEditPoints="1" noAdjustHandles="1" noChangeArrowheads="1" noChangeShapeType="1" noTextEdit="1"/>
              </p:cNvSpPr>
              <p:nvPr/>
            </p:nvSpPr>
            <p:spPr>
              <a:xfrm>
                <a:off x="731520" y="4937760"/>
                <a:ext cx="5120640" cy="1358385"/>
              </a:xfrm>
              <a:prstGeom prst="rect">
                <a:avLst/>
              </a:prstGeom>
              <a:blipFill>
                <a:blip r:embed="rId3"/>
                <a:stretch>
                  <a:fillRect l="-3218" t="-6481"/>
                </a:stretch>
              </a:blipFill>
            </p:spPr>
            <p:txBody>
              <a:bodyPr/>
              <a:lstStyle/>
              <a:p>
                <a:r>
                  <a:rPr lang="en-US">
                    <a:noFill/>
                  </a:rPr>
                  <a:t> </a:t>
                </a:r>
              </a:p>
            </p:txBody>
          </p:sp>
        </mc:Fallback>
      </mc:AlternateContent>
      <p:cxnSp>
        <p:nvCxnSpPr>
          <p:cNvPr id="12" name="Connector 11"/>
          <p:cNvCxnSpPr/>
          <p:nvPr/>
        </p:nvCxnSpPr>
        <p:spPr>
          <a:xfrm flipV="1">
            <a:off x="7498079" y="2081636"/>
            <a:ext cx="0" cy="342900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79" y="5510636"/>
            <a:ext cx="384048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92315" y="1715876"/>
            <a:ext cx="1463040" cy="430887"/>
          </a:xfrm>
          <a:prstGeom prst="rect">
            <a:avLst/>
          </a:prstGeom>
          <a:noFill/>
        </p:spPr>
        <p:txBody>
          <a:bodyPr wrap="square" lIns="0" tIns="0" rIns="0" bIns="0" anchor="t">
            <a:spAutoFit/>
          </a:bodyPr>
          <a:lstStyle/>
          <a:p>
            <a:r>
              <a:rPr lang="en-US" sz="1400" b="1" i="0" dirty="0">
                <a:solidFill>
                  <a:srgbClr val="0B2B4E"/>
                </a:solidFill>
                <a:latin typeface="Calibri"/>
              </a:rPr>
              <a:t>TR ($)</a:t>
            </a:r>
          </a:p>
          <a:p>
            <a:r>
              <a:rPr lang="en-US" sz="1400" b="1" dirty="0">
                <a:solidFill>
                  <a:srgbClr val="0B2B4E"/>
                </a:solidFill>
                <a:latin typeface="Calibri"/>
              </a:rPr>
              <a:t>P ($)</a:t>
            </a:r>
            <a:endParaRPr sz="1400" b="1" i="0" dirty="0">
              <a:solidFill>
                <a:srgbClr val="0B2B4E"/>
              </a:solidFill>
              <a:latin typeface="Calibri"/>
            </a:endParaRPr>
          </a:p>
        </p:txBody>
      </p:sp>
      <p:sp>
        <p:nvSpPr>
          <p:cNvPr id="15" name="TextBox 14"/>
          <p:cNvSpPr txBox="1"/>
          <p:nvPr/>
        </p:nvSpPr>
        <p:spPr>
          <a:xfrm>
            <a:off x="10927080" y="5565500"/>
            <a:ext cx="1463040" cy="215444"/>
          </a:xfrm>
          <a:prstGeom prst="rect">
            <a:avLst/>
          </a:prstGeom>
          <a:noFill/>
        </p:spPr>
        <p:txBody>
          <a:bodyPr wrap="square" lIns="0" tIns="0" rIns="0" bIns="0" anchor="t">
            <a:spAutoFit/>
          </a:bodyPr>
          <a:lstStyle/>
          <a:p>
            <a:r>
              <a:rPr sz="1400" b="1" i="0" dirty="0">
                <a:solidFill>
                  <a:srgbClr val="0B2B4E"/>
                </a:solidFill>
                <a:latin typeface="Calibri"/>
              </a:rPr>
              <a:t>Quantity</a:t>
            </a:r>
          </a:p>
        </p:txBody>
      </p:sp>
      <p:cxnSp>
        <p:nvCxnSpPr>
          <p:cNvPr id="16" name="Connector 15"/>
          <p:cNvCxnSpPr>
            <a:cxnSpLocks/>
          </p:cNvCxnSpPr>
          <p:nvPr/>
        </p:nvCxnSpPr>
        <p:spPr>
          <a:xfrm flipV="1">
            <a:off x="7507224" y="2218796"/>
            <a:ext cx="1941576" cy="3291839"/>
          </a:xfrm>
          <a:prstGeom prst="line">
            <a:avLst/>
          </a:prstGeom>
          <a:ln w="3810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643110" y="2108534"/>
            <a:ext cx="822960" cy="274320"/>
          </a:xfrm>
          <a:prstGeom prst="rect">
            <a:avLst/>
          </a:prstGeom>
          <a:noFill/>
        </p:spPr>
        <p:txBody>
          <a:bodyPr wrap="square" lIns="0" tIns="0" rIns="0" bIns="0" anchor="t">
            <a:spAutoFit/>
          </a:bodyPr>
          <a:lstStyle/>
          <a:p>
            <a:r>
              <a:rPr sz="1400" b="1" i="0" dirty="0">
                <a:solidFill>
                  <a:srgbClr val="0B2B4E"/>
                </a:solidFill>
                <a:latin typeface="Calibri"/>
              </a:rPr>
              <a:t>TR = P·Q</a:t>
            </a:r>
          </a:p>
        </p:txBody>
      </p:sp>
      <p:sp>
        <p:nvSpPr>
          <p:cNvPr id="21" name="COLP_h">
            <a:extLst>
              <a:ext uri="{FF2B5EF4-FFF2-40B4-BE49-F238E27FC236}">
                <a16:creationId xmlns:a16="http://schemas.microsoft.com/office/drawing/2014/main" id="{21D0AAE1-B997-B723-69CF-8945B0DC0BE0}"/>
              </a:ext>
            </a:extLst>
          </p:cNvPr>
          <p:cNvSpPr/>
          <p:nvPr/>
        </p:nvSpPr>
        <p:spPr>
          <a:xfrm>
            <a:off x="731520" y="1737360"/>
            <a:ext cx="1005840" cy="4572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FFFFFF"/>
                </a:solidFill>
                <a:latin typeface="Calibri"/>
              </a:rPr>
              <a:t>P</a:t>
            </a:r>
          </a:p>
        </p:txBody>
      </p:sp>
      <p:sp>
        <p:nvSpPr>
          <p:cNvPr id="22" name="COLP_0">
            <a:extLst>
              <a:ext uri="{FF2B5EF4-FFF2-40B4-BE49-F238E27FC236}">
                <a16:creationId xmlns:a16="http://schemas.microsoft.com/office/drawing/2014/main" id="{6675B9DF-B785-4E81-C30D-DBF7A0088315}"/>
              </a:ext>
            </a:extLst>
          </p:cNvPr>
          <p:cNvSpPr/>
          <p:nvPr/>
        </p:nvSpPr>
        <p:spPr>
          <a:xfrm>
            <a:off x="731520" y="21945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0B2B4E"/>
                </a:solidFill>
                <a:latin typeface="Calibri"/>
              </a:rPr>
              <a:t>$3</a:t>
            </a:r>
          </a:p>
        </p:txBody>
      </p:sp>
      <p:sp>
        <p:nvSpPr>
          <p:cNvPr id="23" name="COLP_1">
            <a:extLst>
              <a:ext uri="{FF2B5EF4-FFF2-40B4-BE49-F238E27FC236}">
                <a16:creationId xmlns:a16="http://schemas.microsoft.com/office/drawing/2014/main" id="{D9037900-54CE-BE57-47C3-A594A4D8B2A1}"/>
              </a:ext>
            </a:extLst>
          </p:cNvPr>
          <p:cNvSpPr/>
          <p:nvPr/>
        </p:nvSpPr>
        <p:spPr>
          <a:xfrm>
            <a:off x="731520" y="26517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0B2B4E"/>
                </a:solidFill>
                <a:latin typeface="Calibri"/>
              </a:rPr>
              <a:t>3</a:t>
            </a:r>
          </a:p>
        </p:txBody>
      </p:sp>
      <p:sp>
        <p:nvSpPr>
          <p:cNvPr id="24" name="COLP_2">
            <a:extLst>
              <a:ext uri="{FF2B5EF4-FFF2-40B4-BE49-F238E27FC236}">
                <a16:creationId xmlns:a16="http://schemas.microsoft.com/office/drawing/2014/main" id="{80B94F62-7A64-460F-CF3B-890E0FD36DF5}"/>
              </a:ext>
            </a:extLst>
          </p:cNvPr>
          <p:cNvSpPr/>
          <p:nvPr/>
        </p:nvSpPr>
        <p:spPr>
          <a:xfrm>
            <a:off x="731520" y="31089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0B2B4E"/>
                </a:solidFill>
                <a:latin typeface="Calibri"/>
              </a:rPr>
              <a:t>3</a:t>
            </a:r>
          </a:p>
        </p:txBody>
      </p:sp>
      <p:sp>
        <p:nvSpPr>
          <p:cNvPr id="25" name="COLP_3">
            <a:extLst>
              <a:ext uri="{FF2B5EF4-FFF2-40B4-BE49-F238E27FC236}">
                <a16:creationId xmlns:a16="http://schemas.microsoft.com/office/drawing/2014/main" id="{9DD5003F-8A0D-AE00-84B6-D49DD6B2E5CF}"/>
              </a:ext>
            </a:extLst>
          </p:cNvPr>
          <p:cNvSpPr/>
          <p:nvPr/>
        </p:nvSpPr>
        <p:spPr>
          <a:xfrm>
            <a:off x="731520" y="35661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0B2B4E"/>
                </a:solidFill>
                <a:latin typeface="Calibri"/>
              </a:rPr>
              <a:t>3</a:t>
            </a:r>
          </a:p>
        </p:txBody>
      </p:sp>
      <p:sp>
        <p:nvSpPr>
          <p:cNvPr id="26" name="COLQ_h">
            <a:extLst>
              <a:ext uri="{FF2B5EF4-FFF2-40B4-BE49-F238E27FC236}">
                <a16:creationId xmlns:a16="http://schemas.microsoft.com/office/drawing/2014/main" id="{BA36C686-0F7F-8C8D-272C-1FCFE8D53F17}"/>
              </a:ext>
            </a:extLst>
          </p:cNvPr>
          <p:cNvSpPr/>
          <p:nvPr/>
        </p:nvSpPr>
        <p:spPr>
          <a:xfrm>
            <a:off x="1737360" y="1737360"/>
            <a:ext cx="1005840" cy="4572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FFFFFF"/>
                </a:solidFill>
                <a:latin typeface="Calibri"/>
              </a:rPr>
              <a:t>Q</a:t>
            </a:r>
          </a:p>
        </p:txBody>
      </p:sp>
      <p:sp>
        <p:nvSpPr>
          <p:cNvPr id="27" name="COLQ_0">
            <a:extLst>
              <a:ext uri="{FF2B5EF4-FFF2-40B4-BE49-F238E27FC236}">
                <a16:creationId xmlns:a16="http://schemas.microsoft.com/office/drawing/2014/main" id="{973B4EC8-0B1D-9813-2175-BB593742B5FA}"/>
              </a:ext>
            </a:extLst>
          </p:cNvPr>
          <p:cNvSpPr/>
          <p:nvPr/>
        </p:nvSpPr>
        <p:spPr>
          <a:xfrm>
            <a:off x="1737360" y="21945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10</a:t>
            </a:r>
          </a:p>
        </p:txBody>
      </p:sp>
      <p:sp>
        <p:nvSpPr>
          <p:cNvPr id="28" name="COLQ_1">
            <a:extLst>
              <a:ext uri="{FF2B5EF4-FFF2-40B4-BE49-F238E27FC236}">
                <a16:creationId xmlns:a16="http://schemas.microsoft.com/office/drawing/2014/main" id="{CAD8C4F3-E346-16A2-3638-D27E628039C1}"/>
              </a:ext>
            </a:extLst>
          </p:cNvPr>
          <p:cNvSpPr/>
          <p:nvPr/>
        </p:nvSpPr>
        <p:spPr>
          <a:xfrm>
            <a:off x="1737360" y="26517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11</a:t>
            </a:r>
          </a:p>
        </p:txBody>
      </p:sp>
      <p:sp>
        <p:nvSpPr>
          <p:cNvPr id="29" name="COLQ_2">
            <a:extLst>
              <a:ext uri="{FF2B5EF4-FFF2-40B4-BE49-F238E27FC236}">
                <a16:creationId xmlns:a16="http://schemas.microsoft.com/office/drawing/2014/main" id="{E31A9066-EAF8-09A4-DFC3-080F35901121}"/>
              </a:ext>
            </a:extLst>
          </p:cNvPr>
          <p:cNvSpPr/>
          <p:nvPr/>
        </p:nvSpPr>
        <p:spPr>
          <a:xfrm>
            <a:off x="1737360" y="31089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12</a:t>
            </a:r>
          </a:p>
        </p:txBody>
      </p:sp>
      <p:sp>
        <p:nvSpPr>
          <p:cNvPr id="30" name="COLQ_3">
            <a:extLst>
              <a:ext uri="{FF2B5EF4-FFF2-40B4-BE49-F238E27FC236}">
                <a16:creationId xmlns:a16="http://schemas.microsoft.com/office/drawing/2014/main" id="{8F9A6CA3-7444-29AA-F032-E1A586280531}"/>
              </a:ext>
            </a:extLst>
          </p:cNvPr>
          <p:cNvSpPr/>
          <p:nvPr/>
        </p:nvSpPr>
        <p:spPr>
          <a:xfrm>
            <a:off x="1737360" y="35661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13</a:t>
            </a:r>
          </a:p>
        </p:txBody>
      </p:sp>
      <p:sp>
        <p:nvSpPr>
          <p:cNvPr id="31" name="COLTR_h">
            <a:extLst>
              <a:ext uri="{FF2B5EF4-FFF2-40B4-BE49-F238E27FC236}">
                <a16:creationId xmlns:a16="http://schemas.microsoft.com/office/drawing/2014/main" id="{EF4A91CF-3FCA-6AF6-DF98-1C504BF99D97}"/>
              </a:ext>
            </a:extLst>
          </p:cNvPr>
          <p:cNvSpPr/>
          <p:nvPr/>
        </p:nvSpPr>
        <p:spPr>
          <a:xfrm>
            <a:off x="2743200" y="1737360"/>
            <a:ext cx="1005840" cy="4572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FFFFFF"/>
                </a:solidFill>
                <a:latin typeface="Calibri"/>
              </a:rPr>
              <a:t>TR</a:t>
            </a:r>
          </a:p>
        </p:txBody>
      </p:sp>
      <p:sp>
        <p:nvSpPr>
          <p:cNvPr id="32" name="COLTR_0">
            <a:extLst>
              <a:ext uri="{FF2B5EF4-FFF2-40B4-BE49-F238E27FC236}">
                <a16:creationId xmlns:a16="http://schemas.microsoft.com/office/drawing/2014/main" id="{E16A74FA-7F4E-7E07-7A53-29924BBC5AA3}"/>
              </a:ext>
            </a:extLst>
          </p:cNvPr>
          <p:cNvSpPr/>
          <p:nvPr/>
        </p:nvSpPr>
        <p:spPr>
          <a:xfrm>
            <a:off x="2743200" y="21945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$30</a:t>
            </a:r>
          </a:p>
        </p:txBody>
      </p:sp>
      <p:sp>
        <p:nvSpPr>
          <p:cNvPr id="33" name="COLTR_1">
            <a:extLst>
              <a:ext uri="{FF2B5EF4-FFF2-40B4-BE49-F238E27FC236}">
                <a16:creationId xmlns:a16="http://schemas.microsoft.com/office/drawing/2014/main" id="{3B24A618-38B1-7DB4-ED6F-75D74083F615}"/>
              </a:ext>
            </a:extLst>
          </p:cNvPr>
          <p:cNvSpPr/>
          <p:nvPr/>
        </p:nvSpPr>
        <p:spPr>
          <a:xfrm>
            <a:off x="2743200" y="26517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33</a:t>
            </a:r>
          </a:p>
        </p:txBody>
      </p:sp>
      <p:sp>
        <p:nvSpPr>
          <p:cNvPr id="34" name="COLTR_2">
            <a:extLst>
              <a:ext uri="{FF2B5EF4-FFF2-40B4-BE49-F238E27FC236}">
                <a16:creationId xmlns:a16="http://schemas.microsoft.com/office/drawing/2014/main" id="{D3B71C6C-C849-2EA3-DEA9-C7D7F22A167C}"/>
              </a:ext>
            </a:extLst>
          </p:cNvPr>
          <p:cNvSpPr/>
          <p:nvPr/>
        </p:nvSpPr>
        <p:spPr>
          <a:xfrm>
            <a:off x="2743200" y="31089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36</a:t>
            </a:r>
          </a:p>
        </p:txBody>
      </p:sp>
      <p:sp>
        <p:nvSpPr>
          <p:cNvPr id="35" name="COLTR_3">
            <a:extLst>
              <a:ext uri="{FF2B5EF4-FFF2-40B4-BE49-F238E27FC236}">
                <a16:creationId xmlns:a16="http://schemas.microsoft.com/office/drawing/2014/main" id="{9A514889-B2D1-2097-8496-5E5D64DEF811}"/>
              </a:ext>
            </a:extLst>
          </p:cNvPr>
          <p:cNvSpPr/>
          <p:nvPr/>
        </p:nvSpPr>
        <p:spPr>
          <a:xfrm>
            <a:off x="2743200" y="35661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39</a:t>
            </a:r>
          </a:p>
        </p:txBody>
      </p:sp>
      <p:sp>
        <p:nvSpPr>
          <p:cNvPr id="36" name="COLMR_h">
            <a:extLst>
              <a:ext uri="{FF2B5EF4-FFF2-40B4-BE49-F238E27FC236}">
                <a16:creationId xmlns:a16="http://schemas.microsoft.com/office/drawing/2014/main" id="{BF21DEFF-F88F-708E-EC96-8970D5DE6B2C}"/>
              </a:ext>
            </a:extLst>
          </p:cNvPr>
          <p:cNvSpPr/>
          <p:nvPr/>
        </p:nvSpPr>
        <p:spPr>
          <a:xfrm>
            <a:off x="3749040" y="1737360"/>
            <a:ext cx="1005840" cy="457200"/>
          </a:xfrm>
          <a:prstGeom prst="rect">
            <a:avLst/>
          </a:prstGeom>
          <a:solidFill>
            <a:srgbClr val="0B2B4E"/>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1" i="0">
                <a:solidFill>
                  <a:srgbClr val="FFFFFF"/>
                </a:solidFill>
                <a:latin typeface="Calibri"/>
              </a:rPr>
              <a:t>MR</a:t>
            </a:r>
          </a:p>
        </p:txBody>
      </p:sp>
      <p:sp>
        <p:nvSpPr>
          <p:cNvPr id="37" name="COLMR_0">
            <a:extLst>
              <a:ext uri="{FF2B5EF4-FFF2-40B4-BE49-F238E27FC236}">
                <a16:creationId xmlns:a16="http://schemas.microsoft.com/office/drawing/2014/main" id="{6415410A-9EC8-F1B9-B453-468CD390BC47}"/>
              </a:ext>
            </a:extLst>
          </p:cNvPr>
          <p:cNvSpPr/>
          <p:nvPr/>
        </p:nvSpPr>
        <p:spPr>
          <a:xfrm>
            <a:off x="3749040" y="21945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a:t>
            </a:r>
          </a:p>
        </p:txBody>
      </p:sp>
      <p:sp>
        <p:nvSpPr>
          <p:cNvPr id="38" name="COLMR_1">
            <a:extLst>
              <a:ext uri="{FF2B5EF4-FFF2-40B4-BE49-F238E27FC236}">
                <a16:creationId xmlns:a16="http://schemas.microsoft.com/office/drawing/2014/main" id="{24990B74-9551-FC8E-6C11-0F2981C2799F}"/>
              </a:ext>
            </a:extLst>
          </p:cNvPr>
          <p:cNvSpPr/>
          <p:nvPr/>
        </p:nvSpPr>
        <p:spPr>
          <a:xfrm>
            <a:off x="3749040" y="26517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a:t>
            </a:r>
          </a:p>
        </p:txBody>
      </p:sp>
      <p:sp>
        <p:nvSpPr>
          <p:cNvPr id="39" name="COLMR_2">
            <a:extLst>
              <a:ext uri="{FF2B5EF4-FFF2-40B4-BE49-F238E27FC236}">
                <a16:creationId xmlns:a16="http://schemas.microsoft.com/office/drawing/2014/main" id="{900A74BC-BAAC-059C-374F-544CFEAA728A}"/>
              </a:ext>
            </a:extLst>
          </p:cNvPr>
          <p:cNvSpPr/>
          <p:nvPr/>
        </p:nvSpPr>
        <p:spPr>
          <a:xfrm>
            <a:off x="3749040" y="3108960"/>
            <a:ext cx="1005840" cy="457200"/>
          </a:xfrm>
          <a:prstGeom prst="rect">
            <a:avLst/>
          </a:prstGeom>
          <a:solidFill>
            <a:srgbClr val="FFFFFF"/>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a:t>
            </a:r>
          </a:p>
        </p:txBody>
      </p:sp>
      <p:sp>
        <p:nvSpPr>
          <p:cNvPr id="40" name="COLMR_3">
            <a:extLst>
              <a:ext uri="{FF2B5EF4-FFF2-40B4-BE49-F238E27FC236}">
                <a16:creationId xmlns:a16="http://schemas.microsoft.com/office/drawing/2014/main" id="{89A6F036-25E6-4F0C-0EC1-DC503714FAED}"/>
              </a:ext>
            </a:extLst>
          </p:cNvPr>
          <p:cNvSpPr/>
          <p:nvPr/>
        </p:nvSpPr>
        <p:spPr>
          <a:xfrm>
            <a:off x="3749040" y="3566160"/>
            <a:ext cx="1005840" cy="457200"/>
          </a:xfrm>
          <a:prstGeom prst="rect">
            <a:avLst/>
          </a:prstGeom>
          <a:solidFill>
            <a:srgbClr val="FDF6E6"/>
          </a:solidFill>
          <a:ln w="12700">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2000" b="0" i="0">
                <a:solidFill>
                  <a:srgbClr val="0B2B4E"/>
                </a:solidFill>
                <a:latin typeface="Calibri"/>
              </a:rPr>
              <a:t>3</a:t>
            </a:r>
          </a:p>
        </p:txBody>
      </p:sp>
      <p:cxnSp>
        <p:nvCxnSpPr>
          <p:cNvPr id="44" name="TRG6">
            <a:extLst>
              <a:ext uri="{FF2B5EF4-FFF2-40B4-BE49-F238E27FC236}">
                <a16:creationId xmlns:a16="http://schemas.microsoft.com/office/drawing/2014/main" id="{FFD4FB82-E196-403D-EDD0-F58A6B71ABEB}"/>
              </a:ext>
            </a:extLst>
          </p:cNvPr>
          <p:cNvCxnSpPr>
            <a:cxnSpLocks/>
          </p:cNvCxnSpPr>
          <p:nvPr/>
        </p:nvCxnSpPr>
        <p:spPr>
          <a:xfrm>
            <a:off x="7488935" y="3444625"/>
            <a:ext cx="1197865" cy="0"/>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6" name="TRG6">
            <a:extLst>
              <a:ext uri="{FF2B5EF4-FFF2-40B4-BE49-F238E27FC236}">
                <a16:creationId xmlns:a16="http://schemas.microsoft.com/office/drawing/2014/main" id="{456071F9-C3CA-F4F9-119D-3261E4B72AA8}"/>
              </a:ext>
            </a:extLst>
          </p:cNvPr>
          <p:cNvCxnSpPr>
            <a:cxnSpLocks/>
          </p:cNvCxnSpPr>
          <p:nvPr/>
        </p:nvCxnSpPr>
        <p:spPr>
          <a:xfrm>
            <a:off x="8755760" y="3453236"/>
            <a:ext cx="0" cy="2057400"/>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52" name="TRG9">
            <a:extLst>
              <a:ext uri="{FF2B5EF4-FFF2-40B4-BE49-F238E27FC236}">
                <a16:creationId xmlns:a16="http://schemas.microsoft.com/office/drawing/2014/main" id="{FE892258-59CC-99B0-DDC0-89E8ACDD4F61}"/>
              </a:ext>
            </a:extLst>
          </p:cNvPr>
          <p:cNvSpPr txBox="1"/>
          <p:nvPr/>
        </p:nvSpPr>
        <p:spPr>
          <a:xfrm>
            <a:off x="8481440" y="5643784"/>
            <a:ext cx="548640" cy="274320"/>
          </a:xfrm>
          <a:prstGeom prst="rect">
            <a:avLst/>
          </a:prstGeom>
          <a:noFill/>
        </p:spPr>
        <p:txBody>
          <a:bodyPr wrap="square" lIns="0" tIns="0" rIns="0" bIns="0" anchor="t">
            <a:spAutoFit/>
          </a:bodyPr>
          <a:lstStyle/>
          <a:p>
            <a:pPr algn="ctr"/>
            <a:r>
              <a:rPr sz="1400" b="0" i="0" dirty="0">
                <a:solidFill>
                  <a:srgbClr val="0B2B4E"/>
                </a:solidFill>
                <a:latin typeface="Calibri"/>
              </a:rPr>
              <a:t>10</a:t>
            </a:r>
          </a:p>
        </p:txBody>
      </p:sp>
      <p:sp>
        <p:nvSpPr>
          <p:cNvPr id="53" name="TRG9">
            <a:extLst>
              <a:ext uri="{FF2B5EF4-FFF2-40B4-BE49-F238E27FC236}">
                <a16:creationId xmlns:a16="http://schemas.microsoft.com/office/drawing/2014/main" id="{AC7EDEA0-1829-5BFF-9F03-5C171AC0082C}"/>
              </a:ext>
            </a:extLst>
          </p:cNvPr>
          <p:cNvSpPr txBox="1"/>
          <p:nvPr/>
        </p:nvSpPr>
        <p:spPr>
          <a:xfrm>
            <a:off x="6913244" y="3366775"/>
            <a:ext cx="548640" cy="215444"/>
          </a:xfrm>
          <a:prstGeom prst="rect">
            <a:avLst/>
          </a:prstGeom>
          <a:noFill/>
        </p:spPr>
        <p:txBody>
          <a:bodyPr wrap="square" lIns="0" tIns="0" rIns="0" bIns="0" anchor="t">
            <a:spAutoFit/>
          </a:bodyPr>
          <a:lstStyle/>
          <a:p>
            <a:pPr algn="ctr"/>
            <a:r>
              <a:rPr lang="en-US" sz="1400" b="0" i="0" dirty="0">
                <a:solidFill>
                  <a:srgbClr val="0B2B4E"/>
                </a:solidFill>
                <a:latin typeface="Calibri"/>
              </a:rPr>
              <a:t>30</a:t>
            </a:r>
            <a:endParaRPr sz="1400" b="0" i="0" dirty="0">
              <a:solidFill>
                <a:srgbClr val="0B2B4E"/>
              </a:solidFill>
              <a:latin typeface="Calibri"/>
            </a:endParaRPr>
          </a:p>
        </p:txBody>
      </p:sp>
      <p:cxnSp>
        <p:nvCxnSpPr>
          <p:cNvPr id="55" name="DMR4">
            <a:extLst>
              <a:ext uri="{FF2B5EF4-FFF2-40B4-BE49-F238E27FC236}">
                <a16:creationId xmlns:a16="http://schemas.microsoft.com/office/drawing/2014/main" id="{60D5BAC2-9E17-4DDE-916B-1EF8D17EE39A}"/>
              </a:ext>
            </a:extLst>
          </p:cNvPr>
          <p:cNvCxnSpPr/>
          <p:nvPr/>
        </p:nvCxnSpPr>
        <p:spPr>
          <a:xfrm>
            <a:off x="7498079" y="5261183"/>
            <a:ext cx="3774643" cy="0"/>
          </a:xfrm>
          <a:prstGeom prst="line">
            <a:avLst/>
          </a:prstGeom>
          <a:ln w="40640">
            <a:solidFill>
              <a:srgbClr val="C0201B"/>
            </a:solidFill>
          </a:ln>
          <a:effectLst/>
        </p:spPr>
        <p:style>
          <a:lnRef idx="2">
            <a:schemeClr val="accent1"/>
          </a:lnRef>
          <a:fillRef idx="0">
            <a:schemeClr val="accent1"/>
          </a:fillRef>
          <a:effectRef idx="1">
            <a:schemeClr val="accent1"/>
          </a:effectRef>
          <a:fontRef idx="minor">
            <a:schemeClr val="tx1"/>
          </a:fontRef>
        </p:style>
      </p:cxnSp>
      <p:sp>
        <p:nvSpPr>
          <p:cNvPr id="56" name="DMR5">
            <a:extLst>
              <a:ext uri="{FF2B5EF4-FFF2-40B4-BE49-F238E27FC236}">
                <a16:creationId xmlns:a16="http://schemas.microsoft.com/office/drawing/2014/main" id="{CB0FDE04-7ECC-2A60-F0BB-59A9C39A20E2}"/>
              </a:ext>
            </a:extLst>
          </p:cNvPr>
          <p:cNvSpPr txBox="1"/>
          <p:nvPr/>
        </p:nvSpPr>
        <p:spPr>
          <a:xfrm>
            <a:off x="8939027" y="4956753"/>
            <a:ext cx="3054085" cy="184666"/>
          </a:xfrm>
          <a:prstGeom prst="rect">
            <a:avLst/>
          </a:prstGeom>
          <a:noFill/>
        </p:spPr>
        <p:txBody>
          <a:bodyPr wrap="square" lIns="0" tIns="0" rIns="0" bIns="0" anchor="t">
            <a:spAutoFit/>
          </a:bodyPr>
          <a:lstStyle/>
          <a:p>
            <a:r>
              <a:rPr lang="en-US" sz="1200" i="1" dirty="0">
                <a:solidFill>
                  <a:srgbClr val="C0201B"/>
                </a:solidFill>
              </a:rPr>
              <a:t>Demand curve d = P = Marginal Revenue (MR)</a:t>
            </a:r>
          </a:p>
        </p:txBody>
      </p:sp>
      <p:sp>
        <p:nvSpPr>
          <p:cNvPr id="57" name="TRG9">
            <a:extLst>
              <a:ext uri="{FF2B5EF4-FFF2-40B4-BE49-F238E27FC236}">
                <a16:creationId xmlns:a16="http://schemas.microsoft.com/office/drawing/2014/main" id="{FC95B3D3-B3BD-4C66-65CA-067BD35B0E50}"/>
              </a:ext>
            </a:extLst>
          </p:cNvPr>
          <p:cNvSpPr txBox="1"/>
          <p:nvPr/>
        </p:nvSpPr>
        <p:spPr>
          <a:xfrm>
            <a:off x="6996684" y="5155391"/>
            <a:ext cx="548640" cy="215444"/>
          </a:xfrm>
          <a:prstGeom prst="rect">
            <a:avLst/>
          </a:prstGeom>
          <a:noFill/>
        </p:spPr>
        <p:txBody>
          <a:bodyPr wrap="square" lIns="0" tIns="0" rIns="0" bIns="0" anchor="t">
            <a:spAutoFit/>
          </a:bodyPr>
          <a:lstStyle/>
          <a:p>
            <a:pPr algn="ctr"/>
            <a:r>
              <a:rPr lang="en-US" sz="1400" b="0" i="0" dirty="0">
                <a:solidFill>
                  <a:schemeClr val="accent2"/>
                </a:solidFill>
                <a:latin typeface="Calibri"/>
              </a:rPr>
              <a:t>3</a:t>
            </a:r>
            <a:endParaRPr sz="1400" b="0" i="0" dirty="0">
              <a:solidFill>
                <a:schemeClr val="accent2"/>
              </a:solidFill>
              <a:latin typeface="Calibri"/>
            </a:endParaRPr>
          </a:p>
        </p:txBody>
      </p:sp>
      <p:sp>
        <p:nvSpPr>
          <p:cNvPr id="18" name="Pentagon 17">
            <a:extLst>
              <a:ext uri="{FF2B5EF4-FFF2-40B4-BE49-F238E27FC236}">
                <a16:creationId xmlns:a16="http://schemas.microsoft.com/office/drawing/2014/main" id="{B1D50100-889C-576E-4C1F-5273D3D30BB7}"/>
              </a:ext>
            </a:extLst>
          </p:cNvPr>
          <p:cNvSpPr/>
          <p:nvPr/>
        </p:nvSpPr>
        <p:spPr>
          <a:xfrm>
            <a:off x="9402775" y="5850508"/>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4" grpId="0"/>
      <p:bldP spid="15"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Perfect Competition · </a:t>
            </a:r>
            <a:r>
              <a:rPr lang="en-US" sz="1600" b="1" dirty="0">
                <a:solidFill>
                  <a:srgbClr val="FFFFFF"/>
                </a:solidFill>
              </a:rPr>
              <a:t>Profit Maximization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Price </a:t>
            </a:r>
            <a:r>
              <a:rPr lang="en-US" sz="3000" b="1" i="0" dirty="0">
                <a:solidFill>
                  <a:srgbClr val="0B2B4E"/>
                </a:solidFill>
                <a:latin typeface="Calibri"/>
              </a:rPr>
              <a:t>T</a:t>
            </a:r>
            <a:r>
              <a:rPr sz="3000" b="1" i="0" dirty="0">
                <a:solidFill>
                  <a:srgbClr val="0B2B4E"/>
                </a:solidFill>
                <a:latin typeface="Calibri"/>
              </a:rPr>
              <a:t>aker </a:t>
            </a:r>
            <a:r>
              <a:rPr lang="en-US" sz="3000" b="1" dirty="0">
                <a:solidFill>
                  <a:srgbClr val="0B2B4E"/>
                </a:solidFill>
                <a:latin typeface="Calibri"/>
              </a:rPr>
              <a:t>P</a:t>
            </a:r>
            <a:r>
              <a:rPr sz="3000" b="1" i="0" dirty="0">
                <a:solidFill>
                  <a:srgbClr val="0B2B4E"/>
                </a:solidFill>
                <a:latin typeface="Calibri"/>
              </a:rPr>
              <a:t>rofit </a:t>
            </a:r>
            <a:r>
              <a:rPr lang="en-US" sz="3000" b="1" dirty="0">
                <a:solidFill>
                  <a:srgbClr val="0B2B4E"/>
                </a:solidFill>
                <a:latin typeface="Calibri"/>
              </a:rPr>
              <a:t>M</a:t>
            </a:r>
            <a:r>
              <a:rPr sz="3000" b="1" i="0" dirty="0">
                <a:solidFill>
                  <a:srgbClr val="0B2B4E"/>
                </a:solidFill>
                <a:latin typeface="Calibri"/>
              </a:rPr>
              <a:t>aximization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14</a:t>
            </a:r>
          </a:p>
        </p:txBody>
      </p:sp>
      <p:sp>
        <p:nvSpPr>
          <p:cNvPr id="10" name="A_0"/>
          <p:cNvSpPr txBox="1"/>
          <p:nvPr/>
        </p:nvSpPr>
        <p:spPr>
          <a:xfrm>
            <a:off x="640080" y="1600200"/>
            <a:ext cx="1097280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Set </a:t>
            </a:r>
            <a:r>
              <a:rPr sz="2400" b="1" i="0">
                <a:solidFill>
                  <a:srgbClr val="0B2B4E"/>
                </a:solidFill>
                <a:latin typeface="Calibri"/>
              </a:rPr>
              <a:t>MR = MC</a:t>
            </a:r>
            <a:r>
              <a:rPr sz="2400" b="0" i="0">
                <a:solidFill>
                  <a:srgbClr val="0B2B4E"/>
                </a:solidFill>
                <a:latin typeface="Calibri"/>
              </a:rPr>
              <a:t> (true for all profit maximizers!)</a:t>
            </a:r>
          </a:p>
        </p:txBody>
      </p:sp>
      <p:sp>
        <p:nvSpPr>
          <p:cNvPr id="11" name="B_0"/>
          <p:cNvSpPr txBox="1"/>
          <p:nvPr/>
        </p:nvSpPr>
        <p:spPr>
          <a:xfrm>
            <a:off x="640080" y="2788920"/>
            <a:ext cx="1097280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However, MR is easier to compute, </a:t>
            </a:r>
            <a:r>
              <a:rPr sz="2400" b="1" i="0">
                <a:solidFill>
                  <a:srgbClr val="0B2B4E"/>
                </a:solidFill>
                <a:latin typeface="Calibri"/>
              </a:rPr>
              <a:t>MR = P</a:t>
            </a:r>
          </a:p>
        </p:txBody>
      </p:sp>
      <p:sp>
        <p:nvSpPr>
          <p:cNvPr id="12" name="B_1"/>
          <p:cNvSpPr txBox="1"/>
          <p:nvPr/>
        </p:nvSpPr>
        <p:spPr>
          <a:xfrm>
            <a:off x="1234440" y="3364992"/>
            <a:ext cx="10058400" cy="502920"/>
          </a:xfrm>
          <a:prstGeom prst="rect">
            <a:avLst/>
          </a:prstGeom>
          <a:noFill/>
        </p:spPr>
        <p:txBody>
          <a:bodyPr wrap="square" lIns="0" tIns="0" rIns="0" bIns="0" anchor="t">
            <a:spAutoFit/>
          </a:bodyPr>
          <a:lstStyle/>
          <a:p>
            <a:pPr marL="603504" lvl="1" indent="-603504">
              <a:buClr>
                <a:srgbClr val="555B66"/>
              </a:buClr>
              <a:buSzPct val="100000"/>
              <a:buFont typeface="Calibri"/>
              <a:buChar char="–"/>
            </a:pPr>
            <a:r>
              <a:rPr sz="2000" b="0" i="0">
                <a:solidFill>
                  <a:srgbClr val="555B66"/>
                </a:solidFill>
                <a:latin typeface="Calibri"/>
              </a:rPr>
              <a:t>P fixed (market price)</a:t>
            </a:r>
          </a:p>
        </p:txBody>
      </p:sp>
      <p:sp>
        <p:nvSpPr>
          <p:cNvPr id="13" name="C_0"/>
          <p:cNvSpPr txBox="1"/>
          <p:nvPr/>
        </p:nvSpPr>
        <p:spPr>
          <a:xfrm>
            <a:off x="640080" y="4343400"/>
            <a:ext cx="1097280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Only decision: how much to produce</a:t>
            </a:r>
          </a:p>
        </p:txBody>
      </p:sp>
      <p:sp>
        <p:nvSpPr>
          <p:cNvPr id="14" name="C_1"/>
          <p:cNvSpPr/>
          <p:nvPr/>
        </p:nvSpPr>
        <p:spPr>
          <a:xfrm>
            <a:off x="1463040" y="4956048"/>
            <a:ext cx="5669280" cy="822960"/>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051560" rIns="182880" rtlCol="0" anchor="ctr"/>
          <a:lstStyle/>
          <a:p>
            <a:pPr algn="l"/>
            <a:r>
              <a:rPr sz="2200" b="1" i="0">
                <a:solidFill>
                  <a:srgbClr val="0B2B4E"/>
                </a:solidFill>
                <a:latin typeface="Calibri"/>
              </a:rPr>
              <a:t>Set Q* such that </a:t>
            </a:r>
            <a:r>
              <a:rPr sz="2200" b="1" i="0">
                <a:solidFill>
                  <a:srgbClr val="C0201B"/>
                </a:solidFill>
                <a:latin typeface="Calibri"/>
              </a:rPr>
              <a:t>MC = P</a:t>
            </a:r>
          </a:p>
        </p:txBody>
      </p:sp>
      <p:sp>
        <p:nvSpPr>
          <p:cNvPr id="15" name="C_2"/>
          <p:cNvSpPr/>
          <p:nvPr/>
        </p:nvSpPr>
        <p:spPr>
          <a:xfrm>
            <a:off x="1691640" y="513892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Cabbage Production Costs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15</a:t>
            </a:r>
          </a:p>
        </p:txBody>
      </p:sp>
      <p:graphicFrame>
        <p:nvGraphicFramePr>
          <p:cNvPr id="10" name="Table 9"/>
          <p:cNvGraphicFramePr>
            <a:graphicFrameLocks noGrp="1"/>
          </p:cNvGraphicFramePr>
          <p:nvPr/>
        </p:nvGraphicFramePr>
        <p:xfrm>
          <a:off x="731520" y="2103120"/>
          <a:ext cx="5852160" cy="3566160"/>
        </p:xfrm>
        <a:graphic>
          <a:graphicData uri="http://schemas.openxmlformats.org/drawingml/2006/table">
            <a:tbl>
              <a:tblPr>
                <a:tableStyleId>{5C22544A-7EE6-4342-B048-85BDC9FD1C3A}</a:tableStyleId>
              </a:tblPr>
              <a:tblGrid>
                <a:gridCol w="128016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509451">
                <a:tc>
                  <a:txBody>
                    <a:bodyPr/>
                    <a:lstStyle/>
                    <a:p>
                      <a:pPr algn="l"/>
                      <a:r>
                        <a:rPr sz="1500" b="1">
                          <a:solidFill>
                            <a:srgbClr val="FFFFFF"/>
                          </a:solidFill>
                          <a:latin typeface="Calibri"/>
                        </a:rPr>
                        <a:t>Q</a:t>
                      </a:r>
                    </a:p>
                  </a:txBody>
                  <a:tcPr marL="109728" marT="36576" marB="36576" anchor="ctr">
                    <a:solidFill>
                      <a:srgbClr val="0B2B4E"/>
                    </a:solidFill>
                  </a:tcPr>
                </a:tc>
                <a:tc>
                  <a:txBody>
                    <a:bodyPr/>
                    <a:lstStyle/>
                    <a:p>
                      <a:pPr algn="ctr"/>
                      <a:r>
                        <a:rPr sz="1500" b="1">
                          <a:solidFill>
                            <a:srgbClr val="FFFFFF"/>
                          </a:solidFill>
                          <a:latin typeface="Calibri"/>
                        </a:rPr>
                        <a:t>TC</a:t>
                      </a:r>
                    </a:p>
                  </a:txBody>
                  <a:tcPr marL="109728" marT="36576" marB="36576" anchor="ctr">
                    <a:solidFill>
                      <a:srgbClr val="0B2B4E"/>
                    </a:solidFill>
                  </a:tcPr>
                </a:tc>
                <a:tc>
                  <a:txBody>
                    <a:bodyPr/>
                    <a:lstStyle/>
                    <a:p>
                      <a:pPr algn="ctr"/>
                      <a:r>
                        <a:rPr sz="1500" b="1">
                          <a:solidFill>
                            <a:srgbClr val="FFFFFF"/>
                          </a:solidFill>
                          <a:latin typeface="Calibri"/>
                        </a:rPr>
                        <a:t>TFC</a:t>
                      </a:r>
                    </a:p>
                  </a:txBody>
                  <a:tcPr marL="109728" marT="36576" marB="36576" anchor="ctr">
                    <a:solidFill>
                      <a:srgbClr val="0B2B4E"/>
                    </a:solidFill>
                  </a:tcPr>
                </a:tc>
                <a:tc>
                  <a:txBody>
                    <a:bodyPr/>
                    <a:lstStyle/>
                    <a:p>
                      <a:pPr algn="ctr"/>
                      <a:r>
                        <a:rPr sz="1500" b="1">
                          <a:solidFill>
                            <a:srgbClr val="FFFFFF"/>
                          </a:solidFill>
                          <a:latin typeface="Calibri"/>
                        </a:rPr>
                        <a:t>TVC</a:t>
                      </a:r>
                    </a:p>
                  </a:txBody>
                  <a:tcPr marL="109728" marT="36576" marB="36576" anchor="ctr">
                    <a:solidFill>
                      <a:srgbClr val="0B2B4E"/>
                    </a:solidFill>
                  </a:tcPr>
                </a:tc>
                <a:extLst>
                  <a:ext uri="{0D108BD9-81ED-4DB2-BD59-A6C34878D82A}">
                    <a16:rowId xmlns:a16="http://schemas.microsoft.com/office/drawing/2014/main" val="10000"/>
                  </a:ext>
                </a:extLst>
              </a:tr>
              <a:tr h="509451">
                <a:tc>
                  <a:txBody>
                    <a:bodyPr/>
                    <a:lstStyle/>
                    <a:p>
                      <a:pPr algn="l"/>
                      <a:r>
                        <a:rPr sz="1700" b="1">
                          <a:solidFill>
                            <a:srgbClr val="0B2B4E"/>
                          </a:solidFill>
                          <a:latin typeface="Calibri"/>
                        </a:rPr>
                        <a:t>50</a:t>
                      </a:r>
                    </a:p>
                  </a:txBody>
                  <a:tcPr marL="109728" marT="36576" marB="36576" anchor="ctr">
                    <a:solidFill>
                      <a:srgbClr val="FDF6E6"/>
                    </a:solidFill>
                  </a:tcPr>
                </a:tc>
                <a:tc>
                  <a:txBody>
                    <a:bodyPr/>
                    <a:lstStyle/>
                    <a:p>
                      <a:pPr algn="ctr"/>
                      <a:r>
                        <a:rPr sz="1700" b="0">
                          <a:solidFill>
                            <a:srgbClr val="0B2B4E"/>
                          </a:solidFill>
                          <a:latin typeface="Calibri"/>
                        </a:rPr>
                        <a:t>67,250</a:t>
                      </a:r>
                    </a:p>
                  </a:txBody>
                  <a:tcPr marL="109728" marT="36576" marB="36576" anchor="ctr">
                    <a:solidFill>
                      <a:srgbClr val="FDF6E6"/>
                    </a:solidFill>
                  </a:tcPr>
                </a:tc>
                <a:tc>
                  <a:txBody>
                    <a:bodyPr/>
                    <a:lstStyle/>
                    <a:p>
                      <a:pPr algn="ctr"/>
                      <a:r>
                        <a:rPr sz="1700" b="0">
                          <a:solidFill>
                            <a:srgbClr val="0B2B4E"/>
                          </a:solidFill>
                          <a:latin typeface="Calibri"/>
                        </a:rPr>
                        <a:t>60,000</a:t>
                      </a:r>
                    </a:p>
                  </a:txBody>
                  <a:tcPr marL="109728" marT="36576" marB="36576" anchor="ctr">
                    <a:solidFill>
                      <a:srgbClr val="FDF6E6"/>
                    </a:solidFill>
                  </a:tcPr>
                </a:tc>
                <a:tc>
                  <a:txBody>
                    <a:bodyPr/>
                    <a:lstStyle/>
                    <a:p>
                      <a:pPr algn="ctr"/>
                      <a:r>
                        <a:rPr sz="1700" b="0">
                          <a:solidFill>
                            <a:srgbClr val="0B2B4E"/>
                          </a:solidFill>
                          <a:latin typeface="Calibri"/>
                        </a:rPr>
                        <a:t>7,250</a:t>
                      </a:r>
                    </a:p>
                  </a:txBody>
                  <a:tcPr marL="109728" marT="36576" marB="36576" anchor="ctr">
                    <a:solidFill>
                      <a:srgbClr val="FDF6E6"/>
                    </a:solidFill>
                  </a:tcPr>
                </a:tc>
                <a:extLst>
                  <a:ext uri="{0D108BD9-81ED-4DB2-BD59-A6C34878D82A}">
                    <a16:rowId xmlns:a16="http://schemas.microsoft.com/office/drawing/2014/main" val="10001"/>
                  </a:ext>
                </a:extLst>
              </a:tr>
              <a:tr h="509451">
                <a:tc>
                  <a:txBody>
                    <a:bodyPr/>
                    <a:lstStyle/>
                    <a:p>
                      <a:pPr algn="l"/>
                      <a:r>
                        <a:rPr sz="1700" b="1">
                          <a:solidFill>
                            <a:srgbClr val="0B2B4E"/>
                          </a:solidFill>
                          <a:latin typeface="Calibri"/>
                        </a:rPr>
                        <a:t>200</a:t>
                      </a:r>
                    </a:p>
                  </a:txBody>
                  <a:tcPr marL="109728" marT="36576" marB="36576" anchor="ctr">
                    <a:solidFill>
                      <a:srgbClr val="FFFFFF"/>
                    </a:solidFill>
                  </a:tcPr>
                </a:tc>
                <a:tc>
                  <a:txBody>
                    <a:bodyPr/>
                    <a:lstStyle/>
                    <a:p>
                      <a:pPr algn="ctr"/>
                      <a:r>
                        <a:rPr sz="1700" b="0">
                          <a:solidFill>
                            <a:srgbClr val="0B2B4E"/>
                          </a:solidFill>
                          <a:latin typeface="Calibri"/>
                        </a:rPr>
                        <a:t>95,000</a:t>
                      </a:r>
                    </a:p>
                  </a:txBody>
                  <a:tcPr marL="109728" marT="36576" marB="36576" anchor="ctr">
                    <a:solidFill>
                      <a:srgbClr val="FFFFFF"/>
                    </a:solidFill>
                  </a:tcPr>
                </a:tc>
                <a:tc>
                  <a:txBody>
                    <a:bodyPr/>
                    <a:lstStyle/>
                    <a:p>
                      <a:pPr algn="ctr"/>
                      <a:r>
                        <a:rPr sz="1700" b="0">
                          <a:solidFill>
                            <a:srgbClr val="0B2B4E"/>
                          </a:solidFill>
                          <a:latin typeface="Calibri"/>
                        </a:rPr>
                        <a:t>60,000</a:t>
                      </a:r>
                    </a:p>
                  </a:txBody>
                  <a:tcPr marL="109728" marT="36576" marB="36576" anchor="ctr">
                    <a:solidFill>
                      <a:srgbClr val="FFFFFF"/>
                    </a:solidFill>
                  </a:tcPr>
                </a:tc>
                <a:tc>
                  <a:txBody>
                    <a:bodyPr/>
                    <a:lstStyle/>
                    <a:p>
                      <a:pPr algn="ctr"/>
                      <a:r>
                        <a:rPr sz="1700" b="0">
                          <a:solidFill>
                            <a:srgbClr val="0B2B4E"/>
                          </a:solidFill>
                          <a:latin typeface="Calibri"/>
                        </a:rPr>
                        <a:t>35,000</a:t>
                      </a:r>
                    </a:p>
                  </a:txBody>
                  <a:tcPr marL="109728" marT="36576" marB="36576" anchor="ctr">
                    <a:solidFill>
                      <a:srgbClr val="FFFFFF"/>
                    </a:solidFill>
                  </a:tcPr>
                </a:tc>
                <a:extLst>
                  <a:ext uri="{0D108BD9-81ED-4DB2-BD59-A6C34878D82A}">
                    <a16:rowId xmlns:a16="http://schemas.microsoft.com/office/drawing/2014/main" val="10002"/>
                  </a:ext>
                </a:extLst>
              </a:tr>
              <a:tr h="509451">
                <a:tc>
                  <a:txBody>
                    <a:bodyPr/>
                    <a:lstStyle/>
                    <a:p>
                      <a:pPr algn="l"/>
                      <a:r>
                        <a:rPr sz="1700" b="1">
                          <a:solidFill>
                            <a:srgbClr val="0B2B4E"/>
                          </a:solidFill>
                          <a:latin typeface="Calibri"/>
                        </a:rPr>
                        <a:t>400</a:t>
                      </a:r>
                    </a:p>
                  </a:txBody>
                  <a:tcPr marL="109728" marT="36576" marB="36576" anchor="ctr">
                    <a:solidFill>
                      <a:srgbClr val="FDF6E6"/>
                    </a:solidFill>
                  </a:tcPr>
                </a:tc>
                <a:tc>
                  <a:txBody>
                    <a:bodyPr/>
                    <a:lstStyle/>
                    <a:p>
                      <a:pPr algn="ctr"/>
                      <a:r>
                        <a:rPr sz="1700" b="0">
                          <a:solidFill>
                            <a:srgbClr val="0B2B4E"/>
                          </a:solidFill>
                          <a:latin typeface="Calibri"/>
                        </a:rPr>
                        <a:t>146,000</a:t>
                      </a:r>
                    </a:p>
                  </a:txBody>
                  <a:tcPr marL="109728" marT="36576" marB="36576" anchor="ctr">
                    <a:solidFill>
                      <a:srgbClr val="FDF6E6"/>
                    </a:solidFill>
                  </a:tcPr>
                </a:tc>
                <a:tc>
                  <a:txBody>
                    <a:bodyPr/>
                    <a:lstStyle/>
                    <a:p>
                      <a:pPr algn="ctr"/>
                      <a:r>
                        <a:rPr sz="1700" b="0">
                          <a:solidFill>
                            <a:srgbClr val="0B2B4E"/>
                          </a:solidFill>
                          <a:latin typeface="Calibri"/>
                        </a:rPr>
                        <a:t>60,000</a:t>
                      </a:r>
                    </a:p>
                  </a:txBody>
                  <a:tcPr marL="109728" marT="36576" marB="36576" anchor="ctr">
                    <a:solidFill>
                      <a:srgbClr val="FDF6E6"/>
                    </a:solidFill>
                  </a:tcPr>
                </a:tc>
                <a:tc>
                  <a:txBody>
                    <a:bodyPr/>
                    <a:lstStyle/>
                    <a:p>
                      <a:pPr algn="ctr"/>
                      <a:r>
                        <a:rPr sz="1700" b="0">
                          <a:solidFill>
                            <a:srgbClr val="0B2B4E"/>
                          </a:solidFill>
                          <a:latin typeface="Calibri"/>
                        </a:rPr>
                        <a:t>86,000</a:t>
                      </a:r>
                    </a:p>
                  </a:txBody>
                  <a:tcPr marL="109728" marT="36576" marB="36576" anchor="ctr">
                    <a:solidFill>
                      <a:srgbClr val="FDF6E6"/>
                    </a:solidFill>
                  </a:tcPr>
                </a:tc>
                <a:extLst>
                  <a:ext uri="{0D108BD9-81ED-4DB2-BD59-A6C34878D82A}">
                    <a16:rowId xmlns:a16="http://schemas.microsoft.com/office/drawing/2014/main" val="10003"/>
                  </a:ext>
                </a:extLst>
              </a:tr>
              <a:tr h="509451">
                <a:tc>
                  <a:txBody>
                    <a:bodyPr/>
                    <a:lstStyle/>
                    <a:p>
                      <a:pPr algn="l"/>
                      <a:r>
                        <a:rPr sz="1700" b="1">
                          <a:solidFill>
                            <a:srgbClr val="0B2B4E"/>
                          </a:solidFill>
                          <a:latin typeface="Calibri"/>
                        </a:rPr>
                        <a:t>600</a:t>
                      </a:r>
                    </a:p>
                  </a:txBody>
                  <a:tcPr marL="109728" marT="36576" marB="36576" anchor="ctr">
                    <a:solidFill>
                      <a:srgbClr val="FFFFFF"/>
                    </a:solidFill>
                  </a:tcPr>
                </a:tc>
                <a:tc>
                  <a:txBody>
                    <a:bodyPr/>
                    <a:lstStyle/>
                    <a:p>
                      <a:pPr algn="ctr"/>
                      <a:r>
                        <a:rPr sz="1700" b="0">
                          <a:solidFill>
                            <a:srgbClr val="0B2B4E"/>
                          </a:solidFill>
                          <a:latin typeface="Calibri"/>
                        </a:rPr>
                        <a:t>213,000</a:t>
                      </a:r>
                    </a:p>
                  </a:txBody>
                  <a:tcPr marL="109728" marT="36576" marB="36576" anchor="ctr">
                    <a:solidFill>
                      <a:srgbClr val="FFFFFF"/>
                    </a:solidFill>
                  </a:tcPr>
                </a:tc>
                <a:tc>
                  <a:txBody>
                    <a:bodyPr/>
                    <a:lstStyle/>
                    <a:p>
                      <a:pPr algn="ctr"/>
                      <a:r>
                        <a:rPr sz="1700" b="0">
                          <a:solidFill>
                            <a:srgbClr val="0B2B4E"/>
                          </a:solidFill>
                          <a:latin typeface="Calibri"/>
                        </a:rPr>
                        <a:t>60,000</a:t>
                      </a:r>
                    </a:p>
                  </a:txBody>
                  <a:tcPr marL="109728" marT="36576" marB="36576" anchor="ctr">
                    <a:solidFill>
                      <a:srgbClr val="FFFFFF"/>
                    </a:solidFill>
                  </a:tcPr>
                </a:tc>
                <a:tc>
                  <a:txBody>
                    <a:bodyPr/>
                    <a:lstStyle/>
                    <a:p>
                      <a:pPr algn="ctr"/>
                      <a:r>
                        <a:rPr sz="1700" b="0">
                          <a:solidFill>
                            <a:srgbClr val="0B2B4E"/>
                          </a:solidFill>
                          <a:latin typeface="Calibri"/>
                        </a:rPr>
                        <a:t>153,000</a:t>
                      </a:r>
                    </a:p>
                  </a:txBody>
                  <a:tcPr marL="109728" marT="36576" marB="36576" anchor="ctr">
                    <a:solidFill>
                      <a:srgbClr val="FFFFFF"/>
                    </a:solidFill>
                  </a:tcPr>
                </a:tc>
                <a:extLst>
                  <a:ext uri="{0D108BD9-81ED-4DB2-BD59-A6C34878D82A}">
                    <a16:rowId xmlns:a16="http://schemas.microsoft.com/office/drawing/2014/main" val="10004"/>
                  </a:ext>
                </a:extLst>
              </a:tr>
              <a:tr h="509451">
                <a:tc>
                  <a:txBody>
                    <a:bodyPr/>
                    <a:lstStyle/>
                    <a:p>
                      <a:pPr algn="l"/>
                      <a:r>
                        <a:rPr sz="1700" b="1">
                          <a:solidFill>
                            <a:srgbClr val="0B2B4E"/>
                          </a:solidFill>
                          <a:latin typeface="Calibri"/>
                        </a:rPr>
                        <a:t>800</a:t>
                      </a:r>
                    </a:p>
                  </a:txBody>
                  <a:tcPr marL="109728" marT="36576" marB="36576" anchor="ctr">
                    <a:solidFill>
                      <a:srgbClr val="FDF6E6"/>
                    </a:solidFill>
                  </a:tcPr>
                </a:tc>
                <a:tc>
                  <a:txBody>
                    <a:bodyPr/>
                    <a:lstStyle/>
                    <a:p>
                      <a:pPr algn="ctr"/>
                      <a:r>
                        <a:rPr sz="1700" b="0">
                          <a:solidFill>
                            <a:srgbClr val="0B2B4E"/>
                          </a:solidFill>
                          <a:latin typeface="Calibri"/>
                        </a:rPr>
                        <a:t>296,000</a:t>
                      </a:r>
                    </a:p>
                  </a:txBody>
                  <a:tcPr marL="109728" marT="36576" marB="36576" anchor="ctr">
                    <a:solidFill>
                      <a:srgbClr val="FDF6E6"/>
                    </a:solidFill>
                  </a:tcPr>
                </a:tc>
                <a:tc>
                  <a:txBody>
                    <a:bodyPr/>
                    <a:lstStyle/>
                    <a:p>
                      <a:pPr algn="ctr"/>
                      <a:r>
                        <a:rPr sz="1700" b="0">
                          <a:solidFill>
                            <a:srgbClr val="0B2B4E"/>
                          </a:solidFill>
                          <a:latin typeface="Calibri"/>
                        </a:rPr>
                        <a:t>60,000</a:t>
                      </a:r>
                    </a:p>
                  </a:txBody>
                  <a:tcPr marL="109728" marT="36576" marB="36576" anchor="ctr">
                    <a:solidFill>
                      <a:srgbClr val="FDF6E6"/>
                    </a:solidFill>
                  </a:tcPr>
                </a:tc>
                <a:tc>
                  <a:txBody>
                    <a:bodyPr/>
                    <a:lstStyle/>
                    <a:p>
                      <a:pPr algn="ctr"/>
                      <a:r>
                        <a:rPr sz="1700" b="0">
                          <a:solidFill>
                            <a:srgbClr val="0B2B4E"/>
                          </a:solidFill>
                          <a:latin typeface="Calibri"/>
                        </a:rPr>
                        <a:t>236,000</a:t>
                      </a:r>
                    </a:p>
                  </a:txBody>
                  <a:tcPr marL="109728" marT="36576" marB="36576" anchor="ctr">
                    <a:solidFill>
                      <a:srgbClr val="FDF6E6"/>
                    </a:solidFill>
                  </a:tcPr>
                </a:tc>
                <a:extLst>
                  <a:ext uri="{0D108BD9-81ED-4DB2-BD59-A6C34878D82A}">
                    <a16:rowId xmlns:a16="http://schemas.microsoft.com/office/drawing/2014/main" val="10005"/>
                  </a:ext>
                </a:extLst>
              </a:tr>
              <a:tr h="509454">
                <a:tc>
                  <a:txBody>
                    <a:bodyPr/>
                    <a:lstStyle/>
                    <a:p>
                      <a:pPr algn="l"/>
                      <a:r>
                        <a:rPr sz="1700" b="1">
                          <a:solidFill>
                            <a:srgbClr val="0B2B4E"/>
                          </a:solidFill>
                          <a:latin typeface="Calibri"/>
                        </a:rPr>
                        <a:t>1000</a:t>
                      </a:r>
                    </a:p>
                  </a:txBody>
                  <a:tcPr marL="109728" marT="36576" marB="36576" anchor="ctr">
                    <a:solidFill>
                      <a:srgbClr val="FFFFFF"/>
                    </a:solidFill>
                  </a:tcPr>
                </a:tc>
                <a:tc>
                  <a:txBody>
                    <a:bodyPr/>
                    <a:lstStyle/>
                    <a:p>
                      <a:pPr algn="ctr"/>
                      <a:r>
                        <a:rPr sz="1700" b="0">
                          <a:solidFill>
                            <a:srgbClr val="0B2B4E"/>
                          </a:solidFill>
                          <a:latin typeface="Calibri"/>
                        </a:rPr>
                        <a:t>395,000</a:t>
                      </a:r>
                    </a:p>
                  </a:txBody>
                  <a:tcPr marL="109728" marT="36576" marB="36576" anchor="ctr">
                    <a:solidFill>
                      <a:srgbClr val="FFFFFF"/>
                    </a:solidFill>
                  </a:tcPr>
                </a:tc>
                <a:tc>
                  <a:txBody>
                    <a:bodyPr/>
                    <a:lstStyle/>
                    <a:p>
                      <a:pPr algn="ctr"/>
                      <a:r>
                        <a:rPr sz="1700" b="0">
                          <a:solidFill>
                            <a:srgbClr val="0B2B4E"/>
                          </a:solidFill>
                          <a:latin typeface="Calibri"/>
                        </a:rPr>
                        <a:t>60,000</a:t>
                      </a:r>
                    </a:p>
                  </a:txBody>
                  <a:tcPr marL="109728" marT="36576" marB="36576" anchor="ctr">
                    <a:solidFill>
                      <a:srgbClr val="FFFFFF"/>
                    </a:solidFill>
                  </a:tcPr>
                </a:tc>
                <a:tc>
                  <a:txBody>
                    <a:bodyPr/>
                    <a:lstStyle/>
                    <a:p>
                      <a:pPr algn="ctr"/>
                      <a:r>
                        <a:rPr sz="1700" b="0">
                          <a:solidFill>
                            <a:srgbClr val="0B2B4E"/>
                          </a:solidFill>
                          <a:latin typeface="Calibri"/>
                        </a:rPr>
                        <a:t>335,000</a:t>
                      </a:r>
                    </a:p>
                  </a:txBody>
                  <a:tcPr marL="109728" marT="36576" marB="36576" anchor="ctr">
                    <a:solidFill>
                      <a:srgbClr val="FFFFFF"/>
                    </a:solidFill>
                  </a:tcPr>
                </a:tc>
                <a:extLst>
                  <a:ext uri="{0D108BD9-81ED-4DB2-BD59-A6C34878D82A}">
                    <a16:rowId xmlns:a16="http://schemas.microsoft.com/office/drawing/2014/main" val="10006"/>
                  </a:ext>
                </a:extLst>
              </a:tr>
            </a:tbl>
          </a:graphicData>
        </a:graphic>
      </p:graphicFrame>
      <p:pic>
        <p:nvPicPr>
          <p:cNvPr id="11" name="Picture 10" descr="s15_img1.jpg"/>
          <p:cNvPicPr>
            <a:picLocks noChangeAspect="1"/>
          </p:cNvPicPr>
          <p:nvPr/>
        </p:nvPicPr>
        <p:blipFill>
          <a:blip r:embed="rId3"/>
          <a:stretch>
            <a:fillRect/>
          </a:stretch>
        </p:blipFill>
        <p:spPr>
          <a:xfrm>
            <a:off x="6949440" y="1916654"/>
            <a:ext cx="2194560" cy="1828800"/>
          </a:xfrm>
          <a:prstGeom prst="roundRect">
            <a:avLst>
              <a:gd name="adj" fmla="val 3000"/>
            </a:avLst>
          </a:prstGeom>
          <a:effectLst>
            <a:outerShdw blurRad="54864" dist="41148" dir="5400000" rotWithShape="0">
              <a:srgbClr val="000000">
                <a:alpha val="62000"/>
              </a:srgbClr>
            </a:outerShdw>
          </a:effectLst>
        </p:spPr>
      </p:pic>
      <p:pic>
        <p:nvPicPr>
          <p:cNvPr id="12" name="Picture 11" descr="s15_img2_new.png"/>
          <p:cNvPicPr>
            <a:picLocks noChangeAspect="1"/>
          </p:cNvPicPr>
          <p:nvPr/>
        </p:nvPicPr>
        <p:blipFill>
          <a:blip r:embed="rId4"/>
          <a:stretch>
            <a:fillRect/>
          </a:stretch>
        </p:blipFill>
        <p:spPr>
          <a:xfrm>
            <a:off x="9235440" y="1916654"/>
            <a:ext cx="2286000" cy="1828800"/>
          </a:xfrm>
          <a:prstGeom prst="roundRect">
            <a:avLst>
              <a:gd name="adj" fmla="val 3000"/>
            </a:avLst>
          </a:prstGeom>
          <a:effectLst>
            <a:outerShdw blurRad="54864" dist="41148" dir="5400000" rotWithShape="0">
              <a:srgbClr val="000000">
                <a:alpha val="62000"/>
              </a:srgbClr>
            </a:outerShdw>
          </a:effectLst>
        </p:spPr>
      </p:pic>
      <p:pic>
        <p:nvPicPr>
          <p:cNvPr id="13" name="Picture 12" descr="s15_img3.jpg"/>
          <p:cNvPicPr>
            <a:picLocks noChangeAspect="1"/>
          </p:cNvPicPr>
          <p:nvPr/>
        </p:nvPicPr>
        <p:blipFill>
          <a:blip r:embed="rId5"/>
          <a:stretch>
            <a:fillRect/>
          </a:stretch>
        </p:blipFill>
        <p:spPr>
          <a:xfrm>
            <a:off x="6949440" y="3928334"/>
            <a:ext cx="2194560" cy="1737360"/>
          </a:xfrm>
          <a:prstGeom prst="roundRect">
            <a:avLst>
              <a:gd name="adj" fmla="val 3000"/>
            </a:avLst>
          </a:prstGeom>
          <a:effectLst>
            <a:outerShdw blurRad="54864" dist="41148" dir="5400000" rotWithShape="0">
              <a:srgbClr val="000000">
                <a:alpha val="62000"/>
              </a:srgbClr>
            </a:outerShdw>
          </a:effectLst>
        </p:spPr>
      </p:pic>
      <p:pic>
        <p:nvPicPr>
          <p:cNvPr id="14" name="Picture 13" descr="s15_img4.jpg"/>
          <p:cNvPicPr>
            <a:picLocks noChangeAspect="1"/>
          </p:cNvPicPr>
          <p:nvPr/>
        </p:nvPicPr>
        <p:blipFill>
          <a:blip r:embed="rId6"/>
          <a:stretch>
            <a:fillRect/>
          </a:stretch>
        </p:blipFill>
        <p:spPr>
          <a:xfrm>
            <a:off x="9235440" y="3928334"/>
            <a:ext cx="2286000" cy="1737360"/>
          </a:xfrm>
          <a:prstGeom prst="roundRect">
            <a:avLst>
              <a:gd name="adj" fmla="val 3000"/>
            </a:avLst>
          </a:prstGeom>
          <a:effectLst>
            <a:outerShdw blurRad="54864" dist="41148" dir="5400000" rotWithShape="0">
              <a:srgbClr val="000000">
                <a:alpha val="62000"/>
              </a:srgbClr>
            </a:outerShdw>
          </a:effectLst>
        </p:spPr>
      </p:pic>
      <p:sp>
        <p:nvSpPr>
          <p:cNvPr id="16" name="Pentagon 15">
            <a:extLst>
              <a:ext uri="{FF2B5EF4-FFF2-40B4-BE49-F238E27FC236}">
                <a16:creationId xmlns:a16="http://schemas.microsoft.com/office/drawing/2014/main" id="{1D1050EB-AAC1-E032-006C-35CF37365A2E}"/>
              </a:ext>
            </a:extLst>
          </p:cNvPr>
          <p:cNvSpPr/>
          <p:nvPr/>
        </p:nvSpPr>
        <p:spPr>
          <a:xfrm>
            <a:off x="9402775" y="5894576"/>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67F26ED-1263-E03F-5A0F-CBF3F59021D2}"/>
              </a:ext>
            </a:extLst>
          </p:cNvPr>
          <p:cNvPicPr>
            <a:picLocks noChangeAspect="1"/>
          </p:cNvPicPr>
          <p:nvPr/>
        </p:nvPicPr>
        <p:blipFill>
          <a:blip r:embed="rId3"/>
          <a:stretch>
            <a:fillRect/>
          </a:stretch>
        </p:blipFill>
        <p:spPr>
          <a:xfrm>
            <a:off x="2010615" y="1814663"/>
            <a:ext cx="7772400" cy="4128330"/>
          </a:xfrm>
          <a:prstGeom prst="rect">
            <a:avLst/>
          </a:prstGeom>
        </p:spPr>
      </p:pic>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Cabbage Total Cost Function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16</a:t>
            </a:r>
          </a:p>
        </p:txBody>
      </p:sp>
      <p:sp>
        <p:nvSpPr>
          <p:cNvPr id="13" name="Pentagon 12">
            <a:extLst>
              <a:ext uri="{FF2B5EF4-FFF2-40B4-BE49-F238E27FC236}">
                <a16:creationId xmlns:a16="http://schemas.microsoft.com/office/drawing/2014/main" id="{0497C574-A535-CDA3-7676-1DA5AD543BB6}"/>
              </a:ext>
            </a:extLst>
          </p:cNvPr>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
        <p:nvSpPr>
          <p:cNvPr id="14" name="Rounded Rectangle 13">
            <a:extLst>
              <a:ext uri="{FF2B5EF4-FFF2-40B4-BE49-F238E27FC236}">
                <a16:creationId xmlns:a16="http://schemas.microsoft.com/office/drawing/2014/main" id="{7BE69E4F-4541-D05E-A907-38A7F3F257EB}"/>
              </a:ext>
            </a:extLst>
          </p:cNvPr>
          <p:cNvSpPr/>
          <p:nvPr/>
        </p:nvSpPr>
        <p:spPr>
          <a:xfrm>
            <a:off x="3914775" y="1732028"/>
            <a:ext cx="4143375" cy="607674"/>
          </a:xfrm>
          <a:prstGeom prst="roundRect">
            <a:avLst>
              <a:gd name="adj" fmla="val 6000"/>
            </a:avLst>
          </a:prstGeom>
          <a:solidFill>
            <a:srgbClr val="FDF6E6"/>
          </a:solidFill>
          <a:ln w="1270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2600" b="1" i="0" dirty="0">
                <a:solidFill>
                  <a:srgbClr val="0B2B4E"/>
                </a:solidFill>
                <a:latin typeface="Calibri"/>
              </a:rPr>
              <a:t>TC = </a:t>
            </a:r>
            <a:r>
              <a:rPr lang="en-US" sz="2600" b="1" i="0" dirty="0">
                <a:solidFill>
                  <a:srgbClr val="0B2B4E"/>
                </a:solidFill>
                <a:latin typeface="Calibri"/>
              </a:rPr>
              <a:t>60</a:t>
            </a:r>
            <a:r>
              <a:rPr sz="2600" b="1" i="0" dirty="0">
                <a:solidFill>
                  <a:srgbClr val="0B2B4E"/>
                </a:solidFill>
                <a:latin typeface="Calibri"/>
              </a:rPr>
              <a:t>,000 + </a:t>
            </a:r>
            <a:r>
              <a:rPr lang="en-US" sz="2600" b="1" dirty="0">
                <a:solidFill>
                  <a:srgbClr val="0B2B4E"/>
                </a:solidFill>
                <a:latin typeface="Calibri"/>
              </a:rPr>
              <a:t>135</a:t>
            </a:r>
            <a:r>
              <a:rPr sz="2600" b="1" i="0" dirty="0">
                <a:solidFill>
                  <a:srgbClr val="0B2B4E"/>
                </a:solidFill>
                <a:latin typeface="Calibri"/>
              </a:rPr>
              <a:t>Q + 0.2Q²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Maximizing Profit: Cabbage Production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17</a:t>
            </a:r>
          </a:p>
        </p:txBody>
      </p:sp>
      <p:sp>
        <p:nvSpPr>
          <p:cNvPr id="11" name="G1_0"/>
          <p:cNvSpPr txBox="1"/>
          <p:nvPr/>
        </p:nvSpPr>
        <p:spPr>
          <a:xfrm>
            <a:off x="640080" y="1536192"/>
            <a:ext cx="1097280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The Yi family has the following total cost</a:t>
            </a:r>
            <a:r>
              <a:rPr lang="en-US" sz="2400" b="0" i="0" dirty="0">
                <a:solidFill>
                  <a:srgbClr val="0B2B4E"/>
                </a:solidFill>
                <a:latin typeface="Calibri"/>
              </a:rPr>
              <a:t> function</a:t>
            </a:r>
            <a:r>
              <a:rPr sz="2400" b="0" i="0" dirty="0">
                <a:solidFill>
                  <a:srgbClr val="0B2B4E"/>
                </a:solidFill>
                <a:latin typeface="Calibri"/>
              </a:rPr>
              <a:t>:</a:t>
            </a:r>
          </a:p>
        </p:txBody>
      </p:sp>
      <p:sp>
        <p:nvSpPr>
          <p:cNvPr id="12" name="G1_1"/>
          <p:cNvSpPr txBox="1"/>
          <p:nvPr/>
        </p:nvSpPr>
        <p:spPr>
          <a:xfrm>
            <a:off x="640080" y="2371082"/>
            <a:ext cx="10607040" cy="369332"/>
          </a:xfrm>
          <a:prstGeom prst="rect">
            <a:avLst/>
          </a:prstGeom>
          <a:noFill/>
        </p:spPr>
        <p:txBody>
          <a:bodyPr wrap="square" lIns="0" tIns="0" rIns="0" bIns="0" anchor="ctr">
            <a:spAutoFit/>
          </a:bodyPr>
          <a:lstStyle/>
          <a:p>
            <a:pPr algn="ctr"/>
            <a:r>
              <a:rPr sz="2400" b="0" i="1" dirty="0">
                <a:solidFill>
                  <a:srgbClr val="0B2B4E"/>
                </a:solidFill>
                <a:latin typeface="Cambria Math"/>
              </a:rPr>
              <a:t>TC</a:t>
            </a:r>
            <a:r>
              <a:rPr sz="2400" b="0" i="0" dirty="0">
                <a:solidFill>
                  <a:srgbClr val="0B2B4E"/>
                </a:solidFill>
                <a:latin typeface="Cambria Math"/>
              </a:rPr>
              <a:t> = 60,000 + 135</a:t>
            </a:r>
            <a:r>
              <a:rPr sz="2400" b="0" i="1" dirty="0">
                <a:solidFill>
                  <a:srgbClr val="0B2B4E"/>
                </a:solidFill>
                <a:latin typeface="Cambria Math"/>
              </a:rPr>
              <a:t>Q</a:t>
            </a:r>
            <a:r>
              <a:rPr sz="2400" b="0" i="0" dirty="0">
                <a:solidFill>
                  <a:srgbClr val="0B2B4E"/>
                </a:solidFill>
                <a:latin typeface="Cambria Math"/>
              </a:rPr>
              <a:t> + 0.2</a:t>
            </a:r>
            <a:r>
              <a:rPr sz="2400" b="0" i="1" dirty="0">
                <a:solidFill>
                  <a:srgbClr val="0B2B4E"/>
                </a:solidFill>
                <a:latin typeface="Cambria Math"/>
              </a:rPr>
              <a:t>Q</a:t>
            </a:r>
            <a:r>
              <a:rPr sz="2400" b="0" i="1" baseline="46000" dirty="0">
                <a:solidFill>
                  <a:srgbClr val="0B2B4E"/>
                </a:solidFill>
                <a:latin typeface="Cambria Math"/>
              </a:rPr>
              <a:t>2</a:t>
            </a:r>
          </a:p>
        </p:txBody>
      </p:sp>
      <p:sp>
        <p:nvSpPr>
          <p:cNvPr id="13" name="G2_0"/>
          <p:cNvSpPr txBox="1"/>
          <p:nvPr/>
        </p:nvSpPr>
        <p:spPr>
          <a:xfrm>
            <a:off x="640080" y="3127248"/>
            <a:ext cx="10972800" cy="54864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Q is the quantity produced (in tons)</a:t>
            </a:r>
          </a:p>
        </p:txBody>
      </p:sp>
      <p:sp>
        <p:nvSpPr>
          <p:cNvPr id="14" name="G3_0"/>
          <p:cNvSpPr txBox="1"/>
          <p:nvPr/>
        </p:nvSpPr>
        <p:spPr>
          <a:xfrm>
            <a:off x="640080" y="3913632"/>
            <a:ext cx="1097280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The market price of cabbage is $</a:t>
            </a:r>
            <a:r>
              <a:rPr lang="en-US" sz="2400" dirty="0">
                <a:solidFill>
                  <a:srgbClr val="0B2B4E"/>
                </a:solidFill>
                <a:latin typeface="Calibri"/>
              </a:rPr>
              <a:t>400</a:t>
            </a:r>
            <a:r>
              <a:rPr sz="2400" b="0" i="0" dirty="0">
                <a:solidFill>
                  <a:srgbClr val="0B2B4E"/>
                </a:solidFill>
                <a:latin typeface="Calibri"/>
              </a:rPr>
              <a:t> per ton</a:t>
            </a:r>
          </a:p>
        </p:txBody>
      </p:sp>
      <p:sp>
        <p:nvSpPr>
          <p:cNvPr id="15" name="G4_0"/>
          <p:cNvSpPr txBox="1"/>
          <p:nvPr/>
        </p:nvSpPr>
        <p:spPr>
          <a:xfrm>
            <a:off x="640079" y="4700016"/>
            <a:ext cx="9176273"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a:solidFill>
                  <a:srgbClr val="0B2B4E"/>
                </a:solidFill>
                <a:latin typeface="Calibri"/>
              </a:rPr>
              <a:t>How many tons should the Yi family produce to maximize profits?</a:t>
            </a:r>
          </a:p>
        </p:txBody>
      </p:sp>
      <p:sp>
        <p:nvSpPr>
          <p:cNvPr id="16" name="Pentagon 15">
            <a:extLst>
              <a:ext uri="{FF2B5EF4-FFF2-40B4-BE49-F238E27FC236}">
                <a16:creationId xmlns:a16="http://schemas.microsoft.com/office/drawing/2014/main" id="{5933D09C-1D98-A0BF-03B8-D02BBD3B4B5D}"/>
              </a:ext>
            </a:extLst>
          </p:cNvPr>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2200" b="1" i="0" dirty="0">
                <a:solidFill>
                  <a:srgbClr val="0B2B4E"/>
                </a:solidFill>
                <a:latin typeface="Calibri"/>
              </a:rPr>
              <a:t>Group Exercise</a:t>
            </a:r>
            <a:endParaRPr sz="2200" b="1"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Perfect Competition · </a:t>
            </a:r>
            <a:r>
              <a:rPr lang="en-US" sz="1600" b="1" dirty="0">
                <a:solidFill>
                  <a:srgbClr val="FFFFFF"/>
                </a:solidFill>
              </a:rPr>
              <a:t>Profit Maximization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Profit </a:t>
            </a:r>
            <a:r>
              <a:rPr lang="en-US" sz="3000" b="1" dirty="0">
                <a:solidFill>
                  <a:srgbClr val="0B2B4E"/>
                </a:solidFill>
                <a:latin typeface="Calibri"/>
              </a:rPr>
              <a:t>M</a:t>
            </a:r>
            <a:r>
              <a:rPr sz="3000" b="1" i="0" dirty="0">
                <a:solidFill>
                  <a:srgbClr val="0B2B4E"/>
                </a:solidFill>
                <a:latin typeface="Calibri"/>
              </a:rPr>
              <a:t>aximizing </a:t>
            </a:r>
            <a:r>
              <a:rPr lang="en-US" sz="3000" b="1" dirty="0">
                <a:solidFill>
                  <a:srgbClr val="0B2B4E"/>
                </a:solidFill>
                <a:latin typeface="Calibri"/>
              </a:rPr>
              <a:t>Q</a:t>
            </a:r>
            <a:r>
              <a:rPr sz="3000" b="1" i="0" dirty="0">
                <a:solidFill>
                  <a:srgbClr val="0B2B4E"/>
                </a:solidFill>
                <a:latin typeface="Calibri"/>
              </a:rPr>
              <a:t>uantity: </a:t>
            </a:r>
            <a:r>
              <a:rPr lang="en-US" sz="3000" b="1" i="0" dirty="0">
                <a:solidFill>
                  <a:srgbClr val="0B2B4E"/>
                </a:solidFill>
                <a:latin typeface="Calibri"/>
              </a:rPr>
              <a:t>S</a:t>
            </a:r>
            <a:r>
              <a:rPr sz="3000" b="1" i="0" dirty="0">
                <a:solidFill>
                  <a:srgbClr val="0B2B4E"/>
                </a:solidFill>
                <a:latin typeface="Calibri"/>
              </a:rPr>
              <a:t>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18</a:t>
            </a:r>
          </a:p>
        </p:txBody>
      </p:sp>
      <p:sp>
        <p:nvSpPr>
          <p:cNvPr id="10" name="BUILD"/>
          <p:cNvSpPr txBox="1"/>
          <p:nvPr/>
        </p:nvSpPr>
        <p:spPr>
          <a:xfrm>
            <a:off x="640080" y="1828800"/>
            <a:ext cx="10972800" cy="1371600"/>
          </a:xfrm>
          <a:prstGeom prst="rect">
            <a:avLst/>
          </a:prstGeom>
          <a:noFill/>
        </p:spPr>
        <p:txBody>
          <a:bodyPr wrap="square" lIns="0" tIns="0" rIns="0" bIns="0" anchor="t">
            <a:spAutoFit/>
          </a:bodyPr>
          <a:lstStyle/>
          <a:p>
            <a:pPr marL="274320" indent="-274320">
              <a:spcAft>
                <a:spcPts val="800"/>
              </a:spcAft>
              <a:buClr>
                <a:srgbClr val="0B2B4E"/>
              </a:buClr>
              <a:buSzPct val="100000"/>
              <a:buFont typeface="Calibri"/>
              <a:buChar char="▪"/>
            </a:pPr>
            <a:r>
              <a:rPr sz="2200" b="0" i="0" dirty="0">
                <a:solidFill>
                  <a:srgbClr val="0B2B4E"/>
                </a:solidFill>
                <a:latin typeface="Calibri"/>
              </a:rPr>
              <a:t>We need to set </a:t>
            </a:r>
            <a:r>
              <a:rPr sz="2200" b="1" i="0" dirty="0">
                <a:solidFill>
                  <a:srgbClr val="0B2B4E"/>
                </a:solidFill>
                <a:latin typeface="Calibri"/>
              </a:rPr>
              <a:t>MR = MC</a:t>
            </a:r>
          </a:p>
          <a:p>
            <a:pPr marL="274320" indent="-274320">
              <a:spcAft>
                <a:spcPts val="800"/>
              </a:spcAft>
              <a:buClr>
                <a:srgbClr val="0B2B4E"/>
              </a:buClr>
              <a:buSzPct val="100000"/>
              <a:buFont typeface="Calibri"/>
              <a:buChar char="▪"/>
            </a:pPr>
            <a:r>
              <a:rPr sz="2200" b="1" i="0" dirty="0">
                <a:solidFill>
                  <a:srgbClr val="0B2B4E"/>
                </a:solidFill>
                <a:latin typeface="Calibri"/>
              </a:rPr>
              <a:t>MC</a:t>
            </a:r>
            <a:r>
              <a:rPr sz="2200" b="0" i="0" dirty="0">
                <a:solidFill>
                  <a:srgbClr val="0B2B4E"/>
                </a:solidFill>
                <a:latin typeface="Calibri"/>
              </a:rPr>
              <a:t>: derivative of TC with respect to Q</a:t>
            </a:r>
          </a:p>
        </p:txBody>
      </p:sp>
      <p:sp>
        <p:nvSpPr>
          <p:cNvPr id="12" name="TextBox 11"/>
          <p:cNvSpPr txBox="1"/>
          <p:nvPr/>
        </p:nvSpPr>
        <p:spPr>
          <a:xfrm>
            <a:off x="640080" y="3625329"/>
            <a:ext cx="10972800" cy="1280160"/>
          </a:xfrm>
          <a:prstGeom prst="rect">
            <a:avLst/>
          </a:prstGeom>
          <a:noFill/>
        </p:spPr>
        <p:txBody>
          <a:bodyPr wrap="square" lIns="0" tIns="0" rIns="0" bIns="0" anchor="t">
            <a:spAutoFit/>
          </a:bodyPr>
          <a:lstStyle/>
          <a:p>
            <a:pPr marL="274320" indent="-274320">
              <a:spcAft>
                <a:spcPts val="800"/>
              </a:spcAft>
              <a:buClr>
                <a:srgbClr val="0B2B4E"/>
              </a:buClr>
              <a:buSzPct val="100000"/>
              <a:buFont typeface="Calibri"/>
              <a:buChar char="▪"/>
            </a:pPr>
            <a:r>
              <a:rPr lang="en-US" sz="2200" b="1" i="0" dirty="0">
                <a:solidFill>
                  <a:srgbClr val="0B2B4E"/>
                </a:solidFill>
                <a:latin typeface="Calibri"/>
              </a:rPr>
              <a:t>MR</a:t>
            </a:r>
            <a:r>
              <a:rPr lang="en-US" sz="2200" b="0" i="0" dirty="0">
                <a:solidFill>
                  <a:srgbClr val="0B2B4E"/>
                </a:solidFill>
                <a:latin typeface="Calibri"/>
              </a:rPr>
              <a:t>: the market is perfectly competitive, so MR is the market price</a:t>
            </a:r>
          </a:p>
        </p:txBody>
      </p:sp>
      <p:sp>
        <p:nvSpPr>
          <p:cNvPr id="13" name="TextBox 12"/>
          <p:cNvSpPr txBox="1"/>
          <p:nvPr/>
        </p:nvSpPr>
        <p:spPr>
          <a:xfrm>
            <a:off x="4229552" y="4112111"/>
            <a:ext cx="2072640" cy="369332"/>
          </a:xfrm>
          <a:prstGeom prst="rect">
            <a:avLst/>
          </a:prstGeom>
          <a:noFill/>
        </p:spPr>
        <p:txBody>
          <a:bodyPr wrap="square" lIns="0" tIns="0" rIns="0" bIns="0" anchor="t">
            <a:spAutoFit/>
          </a:bodyPr>
          <a:lstStyle/>
          <a:p>
            <a:r>
              <a:rPr sz="2400" b="0" i="1" dirty="0">
                <a:solidFill>
                  <a:srgbClr val="0B2B4E"/>
                </a:solidFill>
                <a:latin typeface="Cambria Math"/>
              </a:rPr>
              <a:t>MR</a:t>
            </a:r>
            <a:r>
              <a:rPr sz="2400" b="0" i="0" dirty="0">
                <a:solidFill>
                  <a:srgbClr val="0B2B4E"/>
                </a:solidFill>
                <a:latin typeface="Cambria Math"/>
              </a:rPr>
              <a:t> = P = </a:t>
            </a:r>
            <a:r>
              <a:rPr lang="en-US" sz="2400" b="0" i="0" dirty="0">
                <a:solidFill>
                  <a:srgbClr val="0B2B4E"/>
                </a:solidFill>
                <a:latin typeface="Cambria Math"/>
              </a:rPr>
              <a:t>400</a:t>
            </a:r>
            <a:endParaRPr sz="2400" b="0" i="0" dirty="0">
              <a:solidFill>
                <a:srgbClr val="0B2B4E"/>
              </a:solidFill>
              <a:latin typeface="Cambria Math"/>
            </a:endParaRPr>
          </a:p>
        </p:txBody>
      </p:sp>
      <p:sp>
        <p:nvSpPr>
          <p:cNvPr id="14" name="TextBox 13"/>
          <p:cNvSpPr txBox="1"/>
          <p:nvPr/>
        </p:nvSpPr>
        <p:spPr>
          <a:xfrm>
            <a:off x="4229552" y="4641800"/>
            <a:ext cx="2467083" cy="738664"/>
          </a:xfrm>
          <a:prstGeom prst="rect">
            <a:avLst/>
          </a:prstGeom>
          <a:noFill/>
        </p:spPr>
        <p:txBody>
          <a:bodyPr wrap="square" lIns="0" tIns="0" rIns="0" bIns="0" anchor="t">
            <a:spAutoFit/>
          </a:bodyPr>
          <a:lstStyle/>
          <a:p>
            <a:r>
              <a:rPr sz="2400" b="1" i="0" dirty="0">
                <a:solidFill>
                  <a:srgbClr val="0B2B4E"/>
                </a:solidFill>
                <a:latin typeface="Cambria Math"/>
              </a:rPr>
              <a:t>  </a:t>
            </a:r>
            <a:endParaRPr lang="en-US" sz="2400" b="1" i="0" dirty="0">
              <a:solidFill>
                <a:srgbClr val="0B2B4E"/>
              </a:solidFill>
              <a:latin typeface="Cambria Math"/>
            </a:endParaRPr>
          </a:p>
          <a:p>
            <a:r>
              <a:rPr lang="en-US" sz="2400" dirty="0">
                <a:solidFill>
                  <a:srgbClr val="0B2B4E"/>
                </a:solidFill>
                <a:latin typeface="Cambria Math"/>
              </a:rPr>
              <a:t>135</a:t>
            </a:r>
            <a:r>
              <a:rPr sz="2400" b="0" i="0" dirty="0">
                <a:solidFill>
                  <a:srgbClr val="0B2B4E"/>
                </a:solidFill>
                <a:latin typeface="Cambria Math"/>
              </a:rPr>
              <a:t> + 0.4Q </a:t>
            </a:r>
            <a:r>
              <a:rPr lang="en-US" sz="2400" b="0" i="0" dirty="0">
                <a:solidFill>
                  <a:srgbClr val="0B2B4E"/>
                </a:solidFill>
                <a:latin typeface="Cambria Math"/>
              </a:rPr>
              <a:t> </a:t>
            </a:r>
            <a:r>
              <a:rPr sz="2400" b="0" i="0" dirty="0">
                <a:solidFill>
                  <a:srgbClr val="0B2B4E"/>
                </a:solidFill>
                <a:latin typeface="Cambria Math"/>
              </a:rPr>
              <a:t>= </a:t>
            </a:r>
            <a:r>
              <a:rPr lang="en-US" sz="2400" b="0" i="0" dirty="0">
                <a:solidFill>
                  <a:srgbClr val="0B2B4E"/>
                </a:solidFill>
                <a:latin typeface="Cambria Math"/>
              </a:rPr>
              <a:t>400</a:t>
            </a:r>
            <a:endParaRPr sz="2400" b="0" i="0" dirty="0">
              <a:solidFill>
                <a:srgbClr val="0B2B4E"/>
              </a:solidFill>
              <a:latin typeface="Cambria Math"/>
            </a:endParaRPr>
          </a:p>
        </p:txBody>
      </p:sp>
      <p:sp>
        <p:nvSpPr>
          <p:cNvPr id="15" name="Rounded Rectangle 14"/>
          <p:cNvSpPr/>
          <p:nvPr/>
        </p:nvSpPr>
        <p:spPr>
          <a:xfrm>
            <a:off x="3485472" y="5643283"/>
            <a:ext cx="4114800" cy="50292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1" dirty="0">
                <a:solidFill>
                  <a:srgbClr val="0B2B4E"/>
                </a:solidFill>
                <a:latin typeface="Calibri"/>
              </a:rPr>
              <a:t>Q* = </a:t>
            </a:r>
            <a:r>
              <a:rPr lang="en-US" b="1" i="1" dirty="0">
                <a:solidFill>
                  <a:srgbClr val="0B2B4E"/>
                </a:solidFill>
                <a:latin typeface="Calibri"/>
              </a:rPr>
              <a:t>662.5</a:t>
            </a:r>
            <a:r>
              <a:rPr sz="1800" b="1" i="1" dirty="0">
                <a:solidFill>
                  <a:srgbClr val="0B2B4E"/>
                </a:solidFill>
                <a:latin typeface="Calibri"/>
              </a:rPr>
              <a:t> tons</a:t>
            </a:r>
          </a:p>
        </p:txBody>
      </p:sp>
      <p:sp>
        <p:nvSpPr>
          <p:cNvPr id="16" name="Pentagon 15">
            <a:extLst>
              <a:ext uri="{FF2B5EF4-FFF2-40B4-BE49-F238E27FC236}">
                <a16:creationId xmlns:a16="http://schemas.microsoft.com/office/drawing/2014/main" id="{7D3D293E-635E-F317-3271-D121EC9C4A3F}"/>
              </a:ext>
            </a:extLst>
          </p:cNvPr>
          <p:cNvSpPr/>
          <p:nvPr/>
        </p:nvSpPr>
        <p:spPr>
          <a:xfrm>
            <a:off x="9402775" y="5850508"/>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
        <p:nvSpPr>
          <p:cNvPr id="17" name="G2_2">
            <a:extLst>
              <a:ext uri="{FF2B5EF4-FFF2-40B4-BE49-F238E27FC236}">
                <a16:creationId xmlns:a16="http://schemas.microsoft.com/office/drawing/2014/main" id="{1E398806-B7F9-FD9C-4365-94E8F69859B3}"/>
              </a:ext>
            </a:extLst>
          </p:cNvPr>
          <p:cNvSpPr txBox="1"/>
          <p:nvPr/>
        </p:nvSpPr>
        <p:spPr>
          <a:xfrm>
            <a:off x="3429000" y="3162038"/>
            <a:ext cx="1508760" cy="369332"/>
          </a:xfrm>
          <a:prstGeom prst="rect">
            <a:avLst/>
          </a:prstGeom>
          <a:noFill/>
        </p:spPr>
        <p:txBody>
          <a:bodyPr wrap="square" lIns="0" tIns="0" rIns="0" bIns="0" anchor="ctr">
            <a:spAutoFit/>
          </a:bodyPr>
          <a:lstStyle/>
          <a:p>
            <a:pPr algn="r"/>
            <a:r>
              <a:rPr sz="2400" b="0" i="1" dirty="0">
                <a:solidFill>
                  <a:srgbClr val="0B2B4E"/>
                </a:solidFill>
                <a:latin typeface="Cambria Math"/>
              </a:rPr>
              <a:t>MC =</a:t>
            </a:r>
          </a:p>
        </p:txBody>
      </p:sp>
      <p:sp>
        <p:nvSpPr>
          <p:cNvPr id="18" name="G2_3">
            <a:extLst>
              <a:ext uri="{FF2B5EF4-FFF2-40B4-BE49-F238E27FC236}">
                <a16:creationId xmlns:a16="http://schemas.microsoft.com/office/drawing/2014/main" id="{C2A05659-4F27-A249-5C03-728380336D60}"/>
              </a:ext>
            </a:extLst>
          </p:cNvPr>
          <p:cNvSpPr txBox="1"/>
          <p:nvPr/>
        </p:nvSpPr>
        <p:spPr>
          <a:xfrm>
            <a:off x="4974336" y="2962656"/>
            <a:ext cx="896112" cy="347472"/>
          </a:xfrm>
          <a:prstGeom prst="rect">
            <a:avLst/>
          </a:prstGeom>
          <a:noFill/>
        </p:spPr>
        <p:txBody>
          <a:bodyPr wrap="square" lIns="0" tIns="0" rIns="0" bIns="0" anchor="ctr">
            <a:spAutoFit/>
          </a:bodyPr>
          <a:lstStyle/>
          <a:p>
            <a:pPr algn="ctr"/>
            <a:r>
              <a:rPr sz="1700" b="0" i="1" dirty="0">
                <a:solidFill>
                  <a:srgbClr val="0B2B4E"/>
                </a:solidFill>
                <a:latin typeface="Cambria Math"/>
              </a:rPr>
              <a:t>ΔTC</a:t>
            </a:r>
          </a:p>
        </p:txBody>
      </p:sp>
      <p:sp>
        <p:nvSpPr>
          <p:cNvPr id="19" name="G2_4">
            <a:extLst>
              <a:ext uri="{FF2B5EF4-FFF2-40B4-BE49-F238E27FC236}">
                <a16:creationId xmlns:a16="http://schemas.microsoft.com/office/drawing/2014/main" id="{857BF369-325B-54B7-B0D6-255724641B91}"/>
              </a:ext>
            </a:extLst>
          </p:cNvPr>
          <p:cNvSpPr txBox="1"/>
          <p:nvPr/>
        </p:nvSpPr>
        <p:spPr>
          <a:xfrm>
            <a:off x="4974336" y="3383280"/>
            <a:ext cx="896112" cy="347472"/>
          </a:xfrm>
          <a:prstGeom prst="rect">
            <a:avLst/>
          </a:prstGeom>
          <a:noFill/>
        </p:spPr>
        <p:txBody>
          <a:bodyPr wrap="square" lIns="0" tIns="0" rIns="0" bIns="0" anchor="ctr">
            <a:spAutoFit/>
          </a:bodyPr>
          <a:lstStyle/>
          <a:p>
            <a:pPr algn="ctr"/>
            <a:r>
              <a:rPr sz="1700" b="0" i="1">
                <a:solidFill>
                  <a:srgbClr val="0B2B4E"/>
                </a:solidFill>
                <a:latin typeface="Cambria Math"/>
              </a:rPr>
              <a:t>ΔQ</a:t>
            </a:r>
          </a:p>
        </p:txBody>
      </p:sp>
      <p:cxnSp>
        <p:nvCxnSpPr>
          <p:cNvPr id="20" name="G2_5">
            <a:extLst>
              <a:ext uri="{FF2B5EF4-FFF2-40B4-BE49-F238E27FC236}">
                <a16:creationId xmlns:a16="http://schemas.microsoft.com/office/drawing/2014/main" id="{608CEDE1-5E0D-0CBC-3AA5-CC1BC1E9F8FB}"/>
              </a:ext>
            </a:extLst>
          </p:cNvPr>
          <p:cNvCxnSpPr/>
          <p:nvPr/>
        </p:nvCxnSpPr>
        <p:spPr>
          <a:xfrm>
            <a:off x="5084064" y="3346704"/>
            <a:ext cx="676656" cy="0"/>
          </a:xfrm>
          <a:prstGeom prst="line">
            <a:avLst/>
          </a:prstGeom>
          <a:ln w="1905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21" name="G2_6">
            <a:extLst>
              <a:ext uri="{FF2B5EF4-FFF2-40B4-BE49-F238E27FC236}">
                <a16:creationId xmlns:a16="http://schemas.microsoft.com/office/drawing/2014/main" id="{854C6BEC-8E55-2942-0698-AFDD16378CBA}"/>
              </a:ext>
            </a:extLst>
          </p:cNvPr>
          <p:cNvSpPr txBox="1"/>
          <p:nvPr/>
        </p:nvSpPr>
        <p:spPr>
          <a:xfrm>
            <a:off x="5852160" y="3162038"/>
            <a:ext cx="3108960" cy="369332"/>
          </a:xfrm>
          <a:prstGeom prst="rect">
            <a:avLst/>
          </a:prstGeom>
          <a:noFill/>
        </p:spPr>
        <p:txBody>
          <a:bodyPr wrap="square" lIns="0" tIns="0" rIns="0" bIns="0" anchor="ctr">
            <a:spAutoFit/>
          </a:bodyPr>
          <a:lstStyle/>
          <a:p>
            <a:pPr algn="l"/>
            <a:r>
              <a:rPr sz="2400" b="0" i="0" dirty="0">
                <a:solidFill>
                  <a:srgbClr val="0B2B4E"/>
                </a:solidFill>
                <a:latin typeface="Cambria Math"/>
              </a:rPr>
              <a:t>= 135 + 0.4</a:t>
            </a:r>
            <a:r>
              <a:rPr sz="2400" b="0" i="1" dirty="0">
                <a:solidFill>
                  <a:srgbClr val="0B2B4E"/>
                </a:solidFill>
                <a:latin typeface="Cambria Math"/>
              </a:rPr>
              <a:t>Q</a:t>
            </a:r>
          </a:p>
        </p:txBody>
      </p:sp>
      <p:sp>
        <p:nvSpPr>
          <p:cNvPr id="22" name="G1_1">
            <a:extLst>
              <a:ext uri="{FF2B5EF4-FFF2-40B4-BE49-F238E27FC236}">
                <a16:creationId xmlns:a16="http://schemas.microsoft.com/office/drawing/2014/main" id="{F78F07AF-E34E-393E-0BAC-B985A5A767B2}"/>
              </a:ext>
            </a:extLst>
          </p:cNvPr>
          <p:cNvSpPr txBox="1"/>
          <p:nvPr/>
        </p:nvSpPr>
        <p:spPr>
          <a:xfrm>
            <a:off x="640080" y="2648990"/>
            <a:ext cx="10607040" cy="369332"/>
          </a:xfrm>
          <a:prstGeom prst="rect">
            <a:avLst/>
          </a:prstGeom>
          <a:noFill/>
        </p:spPr>
        <p:txBody>
          <a:bodyPr wrap="square" lIns="0" tIns="0" rIns="0" bIns="0" anchor="ctr">
            <a:spAutoFit/>
          </a:bodyPr>
          <a:lstStyle/>
          <a:p>
            <a:pPr algn="ctr"/>
            <a:r>
              <a:rPr sz="2400" b="0" i="1" dirty="0">
                <a:solidFill>
                  <a:srgbClr val="0B2B4E"/>
                </a:solidFill>
                <a:latin typeface="Cambria Math"/>
              </a:rPr>
              <a:t>TC</a:t>
            </a:r>
            <a:r>
              <a:rPr sz="2400" b="0" i="0" dirty="0">
                <a:solidFill>
                  <a:srgbClr val="0B2B4E"/>
                </a:solidFill>
                <a:latin typeface="Cambria Math"/>
              </a:rPr>
              <a:t> = 60,000 + 135</a:t>
            </a:r>
            <a:r>
              <a:rPr sz="2400" b="0" i="1" dirty="0">
                <a:solidFill>
                  <a:srgbClr val="0B2B4E"/>
                </a:solidFill>
                <a:latin typeface="Cambria Math"/>
              </a:rPr>
              <a:t>Q</a:t>
            </a:r>
            <a:r>
              <a:rPr sz="2400" b="0" i="0" dirty="0">
                <a:solidFill>
                  <a:srgbClr val="0B2B4E"/>
                </a:solidFill>
                <a:latin typeface="Cambria Math"/>
              </a:rPr>
              <a:t> + 0.2</a:t>
            </a:r>
            <a:r>
              <a:rPr sz="2400" b="0" i="1" dirty="0">
                <a:solidFill>
                  <a:srgbClr val="0B2B4E"/>
                </a:solidFill>
                <a:latin typeface="Cambria Math"/>
              </a:rPr>
              <a:t>Q</a:t>
            </a:r>
            <a:r>
              <a:rPr sz="2400" b="0" i="1" baseline="46000" dirty="0">
                <a:solidFill>
                  <a:srgbClr val="0B2B4E"/>
                </a:solidFill>
                <a:latin typeface="Cambria Math"/>
              </a:rPr>
              <a:t>2</a:t>
            </a:r>
          </a:p>
        </p:txBody>
      </p:sp>
      <p:sp>
        <p:nvSpPr>
          <p:cNvPr id="25" name="TextBox 24">
            <a:extLst>
              <a:ext uri="{FF2B5EF4-FFF2-40B4-BE49-F238E27FC236}">
                <a16:creationId xmlns:a16="http://schemas.microsoft.com/office/drawing/2014/main" id="{8C030A78-D2E0-3AE9-F103-B03A325CA3B0}"/>
              </a:ext>
            </a:extLst>
          </p:cNvPr>
          <p:cNvSpPr txBox="1"/>
          <p:nvPr/>
        </p:nvSpPr>
        <p:spPr>
          <a:xfrm>
            <a:off x="640080" y="4677770"/>
            <a:ext cx="10972800" cy="338554"/>
          </a:xfrm>
          <a:prstGeom prst="rect">
            <a:avLst/>
          </a:prstGeom>
          <a:noFill/>
        </p:spPr>
        <p:txBody>
          <a:bodyPr wrap="square" lIns="0" tIns="0" rIns="0" bIns="0" anchor="t">
            <a:spAutoFit/>
          </a:bodyPr>
          <a:lstStyle/>
          <a:p>
            <a:pPr marL="274320" indent="-274320">
              <a:spcAft>
                <a:spcPts val="800"/>
              </a:spcAft>
              <a:buClr>
                <a:srgbClr val="0B2B4E"/>
              </a:buClr>
              <a:buSzPct val="100000"/>
              <a:buFont typeface="Calibri"/>
              <a:buChar char="▪"/>
            </a:pPr>
            <a:r>
              <a:rPr lang="en-US" sz="2200" b="1" i="1" dirty="0">
                <a:solidFill>
                  <a:srgbClr val="0B2B4E"/>
                </a:solidFill>
                <a:latin typeface="Cambria Math"/>
              </a:rPr>
              <a:t>MR </a:t>
            </a:r>
            <a:r>
              <a:rPr lang="en-US" sz="2200" b="1" dirty="0">
                <a:solidFill>
                  <a:srgbClr val="0B2B4E"/>
                </a:solidFill>
                <a:latin typeface="Cambria Math"/>
              </a:rPr>
              <a:t>= </a:t>
            </a:r>
            <a:r>
              <a:rPr lang="en-US" sz="2200" b="1" i="1" dirty="0">
                <a:solidFill>
                  <a:srgbClr val="0B2B4E"/>
                </a:solidFill>
                <a:latin typeface="Cambria Math"/>
              </a:rPr>
              <a:t>MC</a:t>
            </a:r>
            <a:endParaRPr lang="en-US" sz="2200" b="0"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p:bldP spid="13" grpId="0"/>
      <p:bldP spid="14" grpId="0"/>
      <p:bldP spid="15" grpId="0" animBg="1"/>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MAX_0"/>
          <p:cNvCxnSpPr>
            <a:cxnSpLocks/>
          </p:cNvCxnSpPr>
          <p:nvPr/>
        </p:nvCxnSpPr>
        <p:spPr>
          <a:xfrm flipV="1">
            <a:off x="6606311" y="2821514"/>
            <a:ext cx="0" cy="2664886"/>
          </a:xfrm>
          <a:prstGeom prst="line">
            <a:avLst/>
          </a:prstGeom>
          <a:ln w="1524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50" name="Freeform: Shape 31">
            <a:extLst>
              <a:ext uri="{FF2B5EF4-FFF2-40B4-BE49-F238E27FC236}">
                <a16:creationId xmlns:a16="http://schemas.microsoft.com/office/drawing/2014/main" id="{634F8C7A-06D2-F178-4643-DB29C58621FD}"/>
              </a:ext>
            </a:extLst>
          </p:cNvPr>
          <p:cNvSpPr/>
          <p:nvPr/>
        </p:nvSpPr>
        <p:spPr>
          <a:xfrm>
            <a:off x="3543622" y="5005804"/>
            <a:ext cx="3963582" cy="1174700"/>
          </a:xfrm>
          <a:custGeom>
            <a:avLst/>
            <a:gdLst>
              <a:gd name="connsiteX0" fmla="*/ 0 w 4515439"/>
              <a:gd name="connsiteY0" fmla="*/ 1151451 h 1151451"/>
              <a:gd name="connsiteX1" fmla="*/ 2611225 w 4515439"/>
              <a:gd name="connsiteY1" fmla="*/ 39088 h 1151451"/>
              <a:gd name="connsiteX2" fmla="*/ 4515439 w 4515439"/>
              <a:gd name="connsiteY2" fmla="*/ 359599 h 1151451"/>
              <a:gd name="connsiteX0" fmla="*/ 0 w 4515439"/>
              <a:gd name="connsiteY0" fmla="*/ 1151451 h 1151451"/>
              <a:gd name="connsiteX1" fmla="*/ 2743200 w 4515439"/>
              <a:gd name="connsiteY1" fmla="*/ 39088 h 1151451"/>
              <a:gd name="connsiteX2" fmla="*/ 4515439 w 4515439"/>
              <a:gd name="connsiteY2" fmla="*/ 359599 h 1151451"/>
              <a:gd name="connsiteX0" fmla="*/ 0 w 4515439"/>
              <a:gd name="connsiteY0" fmla="*/ 1116380 h 1116380"/>
              <a:gd name="connsiteX1" fmla="*/ 2743200 w 4515439"/>
              <a:gd name="connsiteY1" fmla="*/ 4017 h 1116380"/>
              <a:gd name="connsiteX2" fmla="*/ 4515439 w 4515439"/>
              <a:gd name="connsiteY2" fmla="*/ 324528 h 1116380"/>
              <a:gd name="connsiteX0" fmla="*/ 0 w 4515439"/>
              <a:gd name="connsiteY0" fmla="*/ 1147807 h 1147807"/>
              <a:gd name="connsiteX1" fmla="*/ 2743200 w 4515439"/>
              <a:gd name="connsiteY1" fmla="*/ 35444 h 1147807"/>
              <a:gd name="connsiteX2" fmla="*/ 4515439 w 4515439"/>
              <a:gd name="connsiteY2" fmla="*/ 355955 h 1147807"/>
              <a:gd name="connsiteX0" fmla="*/ 0 w 4515439"/>
              <a:gd name="connsiteY0" fmla="*/ 1133819 h 1133819"/>
              <a:gd name="connsiteX1" fmla="*/ 2743200 w 4515439"/>
              <a:gd name="connsiteY1" fmla="*/ 21456 h 1133819"/>
              <a:gd name="connsiteX2" fmla="*/ 4515439 w 4515439"/>
              <a:gd name="connsiteY2" fmla="*/ 341967 h 1133819"/>
              <a:gd name="connsiteX0" fmla="*/ 0 w 4647414"/>
              <a:gd name="connsiteY0" fmla="*/ 1148301 h 1148301"/>
              <a:gd name="connsiteX1" fmla="*/ 2743200 w 4647414"/>
              <a:gd name="connsiteY1" fmla="*/ 35938 h 1148301"/>
              <a:gd name="connsiteX2" fmla="*/ 4647414 w 4647414"/>
              <a:gd name="connsiteY2" fmla="*/ 375302 h 1148301"/>
              <a:gd name="connsiteX0" fmla="*/ 0 w 3940404"/>
              <a:gd name="connsiteY0" fmla="*/ 1226538 h 1226538"/>
              <a:gd name="connsiteX1" fmla="*/ 2743200 w 3940404"/>
              <a:gd name="connsiteY1" fmla="*/ 114175 h 1226538"/>
              <a:gd name="connsiteX2" fmla="*/ 3940404 w 3940404"/>
              <a:gd name="connsiteY2" fmla="*/ 189588 h 1226538"/>
              <a:gd name="connsiteX0" fmla="*/ 0 w 3940404"/>
              <a:gd name="connsiteY0" fmla="*/ 1190588 h 1190588"/>
              <a:gd name="connsiteX1" fmla="*/ 2743200 w 3940404"/>
              <a:gd name="connsiteY1" fmla="*/ 78225 h 1190588"/>
              <a:gd name="connsiteX2" fmla="*/ 3940404 w 3940404"/>
              <a:gd name="connsiteY2" fmla="*/ 153638 h 1190588"/>
              <a:gd name="connsiteX0" fmla="*/ 0 w 3940404"/>
              <a:gd name="connsiteY0" fmla="*/ 1133612 h 1133612"/>
              <a:gd name="connsiteX1" fmla="*/ 2384982 w 3940404"/>
              <a:gd name="connsiteY1" fmla="*/ 106090 h 1133612"/>
              <a:gd name="connsiteX2" fmla="*/ 3940404 w 3940404"/>
              <a:gd name="connsiteY2" fmla="*/ 96662 h 1133612"/>
              <a:gd name="connsiteX0" fmla="*/ 0 w 3846136"/>
              <a:gd name="connsiteY0" fmla="*/ 1078855 h 1078855"/>
              <a:gd name="connsiteX1" fmla="*/ 2384982 w 3846136"/>
              <a:gd name="connsiteY1" fmla="*/ 51333 h 1078855"/>
              <a:gd name="connsiteX2" fmla="*/ 3846136 w 3846136"/>
              <a:gd name="connsiteY2" fmla="*/ 202161 h 1078855"/>
              <a:gd name="connsiteX0" fmla="*/ 0 w 3846136"/>
              <a:gd name="connsiteY0" fmla="*/ 1097354 h 1097354"/>
              <a:gd name="connsiteX1" fmla="*/ 2384982 w 3846136"/>
              <a:gd name="connsiteY1" fmla="*/ 69832 h 1097354"/>
              <a:gd name="connsiteX2" fmla="*/ 3846136 w 3846136"/>
              <a:gd name="connsiteY2" fmla="*/ 220660 h 1097354"/>
              <a:gd name="connsiteX0" fmla="*/ 0 w 3846136"/>
              <a:gd name="connsiteY0" fmla="*/ 1111642 h 1111642"/>
              <a:gd name="connsiteX1" fmla="*/ 2460397 w 3846136"/>
              <a:gd name="connsiteY1" fmla="*/ 65266 h 1111642"/>
              <a:gd name="connsiteX2" fmla="*/ 3846136 w 3846136"/>
              <a:gd name="connsiteY2" fmla="*/ 234948 h 1111642"/>
              <a:gd name="connsiteX0" fmla="*/ 0 w 3963582"/>
              <a:gd name="connsiteY0" fmla="*/ 1174700 h 1174700"/>
              <a:gd name="connsiteX1" fmla="*/ 2577843 w 3963582"/>
              <a:gd name="connsiteY1" fmla="*/ 69601 h 1174700"/>
              <a:gd name="connsiteX2" fmla="*/ 3963582 w 3963582"/>
              <a:gd name="connsiteY2" fmla="*/ 239283 h 1174700"/>
            </a:gdLst>
            <a:ahLst/>
            <a:cxnLst>
              <a:cxn ang="0">
                <a:pos x="connsiteX0" y="connsiteY0"/>
              </a:cxn>
              <a:cxn ang="0">
                <a:pos x="connsiteX1" y="connsiteY1"/>
              </a:cxn>
              <a:cxn ang="0">
                <a:pos x="connsiteX2" y="connsiteY2"/>
              </a:cxn>
            </a:cxnLst>
            <a:rect l="l" t="t" r="r" b="b"/>
            <a:pathLst>
              <a:path w="3963582" h="1174700">
                <a:moveTo>
                  <a:pt x="0" y="1174700"/>
                </a:moveTo>
                <a:cubicBezTo>
                  <a:pt x="929326" y="684506"/>
                  <a:pt x="1917246" y="225504"/>
                  <a:pt x="2577843" y="69601"/>
                </a:cubicBezTo>
                <a:cubicBezTo>
                  <a:pt x="3238440" y="-86302"/>
                  <a:pt x="3453749" y="41321"/>
                  <a:pt x="3963582" y="239283"/>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dirty="0"/>
          </a:p>
        </p:txBody>
      </p:sp>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Perfect Competition · </a:t>
            </a:r>
            <a:r>
              <a:rPr lang="en-US" sz="1600" b="1" dirty="0">
                <a:solidFill>
                  <a:srgbClr val="FFFFFF"/>
                </a:solidFill>
              </a:rPr>
              <a:t>Profit Maximization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Profit maximization of a </a:t>
            </a:r>
            <a:r>
              <a:rPr lang="en-US" sz="3000" b="1" i="0" dirty="0">
                <a:solidFill>
                  <a:srgbClr val="0B2B4E"/>
                </a:solidFill>
                <a:latin typeface="Calibri"/>
              </a:rPr>
              <a:t>P</a:t>
            </a:r>
            <a:r>
              <a:rPr sz="3000" b="1" i="0" dirty="0">
                <a:solidFill>
                  <a:srgbClr val="0B2B4E"/>
                </a:solidFill>
                <a:latin typeface="Calibri"/>
              </a:rPr>
              <a:t>rice </a:t>
            </a:r>
            <a:r>
              <a:rPr lang="en-US" sz="3000" b="1" dirty="0">
                <a:solidFill>
                  <a:srgbClr val="0B2B4E"/>
                </a:solidFill>
                <a:latin typeface="Calibri"/>
              </a:rPr>
              <a:t>T</a:t>
            </a:r>
            <a:r>
              <a:rPr sz="3000" b="1" i="0" dirty="0">
                <a:solidFill>
                  <a:srgbClr val="0B2B4E"/>
                </a:solidFill>
                <a:latin typeface="Calibri"/>
              </a:rPr>
              <a:t>aker: </a:t>
            </a:r>
            <a:r>
              <a:rPr lang="en-US" sz="3000" b="1" i="0" dirty="0">
                <a:solidFill>
                  <a:srgbClr val="0B2B4E"/>
                </a:solidFill>
                <a:latin typeface="Calibri"/>
              </a:rPr>
              <a:t>V</a:t>
            </a:r>
            <a:r>
              <a:rPr sz="3000" b="1" i="0" dirty="0">
                <a:solidFill>
                  <a:srgbClr val="0B2B4E"/>
                </a:solidFill>
                <a:latin typeface="Calibri"/>
              </a:rPr>
              <a:t>isual </a:t>
            </a:r>
            <a:r>
              <a:rPr lang="en-US" sz="3000" b="1" dirty="0">
                <a:solidFill>
                  <a:srgbClr val="0B2B4E"/>
                </a:solidFill>
                <a:latin typeface="Calibri"/>
              </a:rPr>
              <a:t>R</a:t>
            </a:r>
            <a:r>
              <a:rPr sz="3000" b="1" i="0" dirty="0">
                <a:solidFill>
                  <a:srgbClr val="0B2B4E"/>
                </a:solidFill>
                <a:latin typeface="Calibri"/>
              </a:rPr>
              <a:t>epresentation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19</a:t>
            </a:r>
          </a:p>
        </p:txBody>
      </p:sp>
      <p:cxnSp>
        <p:nvCxnSpPr>
          <p:cNvPr id="10" name="Connector 9"/>
          <p:cNvCxnSpPr/>
          <p:nvPr/>
        </p:nvCxnSpPr>
        <p:spPr>
          <a:xfrm flipV="1">
            <a:off x="2194560" y="1709928"/>
            <a:ext cx="0" cy="3776472"/>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194560" y="5486400"/>
            <a:ext cx="653796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1375029"/>
            <a:ext cx="6766560" cy="365760"/>
          </a:xfrm>
          <a:prstGeom prst="rect">
            <a:avLst/>
          </a:prstGeom>
          <a:noFill/>
        </p:spPr>
        <p:txBody>
          <a:bodyPr wrap="square" lIns="0" tIns="0" rIns="0" bIns="0" anchor="t">
            <a:spAutoFit/>
          </a:bodyPr>
          <a:lstStyle/>
          <a:p>
            <a:pPr algn="l"/>
            <a:r>
              <a:rPr sz="2200" b="0" i="1" dirty="0">
                <a:solidFill>
                  <a:srgbClr val="0B2B4E"/>
                </a:solidFill>
                <a:latin typeface="Calibri"/>
              </a:rPr>
              <a:t>Firm revenue, cost, and profit ($)</a:t>
            </a:r>
          </a:p>
        </p:txBody>
      </p:sp>
      <p:sp>
        <p:nvSpPr>
          <p:cNvPr id="13" name="TextBox 12"/>
          <p:cNvSpPr txBox="1"/>
          <p:nvPr/>
        </p:nvSpPr>
        <p:spPr>
          <a:xfrm>
            <a:off x="8394192" y="5572887"/>
            <a:ext cx="2194560" cy="365760"/>
          </a:xfrm>
          <a:prstGeom prst="rect">
            <a:avLst/>
          </a:prstGeom>
          <a:noFill/>
        </p:spPr>
        <p:txBody>
          <a:bodyPr wrap="square" lIns="0" tIns="0" rIns="0" bIns="0" anchor="t">
            <a:spAutoFit/>
          </a:bodyPr>
          <a:lstStyle/>
          <a:p>
            <a:pPr algn="l"/>
            <a:r>
              <a:rPr sz="2200" b="0" i="1" dirty="0">
                <a:solidFill>
                  <a:srgbClr val="0B2B4E"/>
                </a:solidFill>
                <a:latin typeface="Calibri"/>
              </a:rPr>
              <a:t>Quantity (Q)</a:t>
            </a:r>
          </a:p>
        </p:txBody>
      </p:sp>
      <p:cxnSp>
        <p:nvCxnSpPr>
          <p:cNvPr id="14" name="TR_0"/>
          <p:cNvCxnSpPr/>
          <p:nvPr/>
        </p:nvCxnSpPr>
        <p:spPr>
          <a:xfrm flipV="1">
            <a:off x="2194560" y="2090365"/>
            <a:ext cx="5552236" cy="3396035"/>
          </a:xfrm>
          <a:prstGeom prst="line">
            <a:avLst/>
          </a:prstGeom>
          <a:ln w="40640">
            <a:solidFill>
              <a:srgbClr val="C0201B"/>
            </a:solidFill>
          </a:ln>
          <a:effectLst/>
        </p:spPr>
        <p:style>
          <a:lnRef idx="2">
            <a:schemeClr val="accent1"/>
          </a:lnRef>
          <a:fillRef idx="0">
            <a:schemeClr val="accent1"/>
          </a:fillRef>
          <a:effectRef idx="1">
            <a:schemeClr val="accent1"/>
          </a:effectRef>
          <a:fontRef idx="minor">
            <a:schemeClr val="tx1"/>
          </a:fontRef>
        </p:style>
      </p:cxnSp>
      <p:sp>
        <p:nvSpPr>
          <p:cNvPr id="15" name="TR_1"/>
          <p:cNvSpPr txBox="1"/>
          <p:nvPr/>
        </p:nvSpPr>
        <p:spPr>
          <a:xfrm>
            <a:off x="7628534" y="1750161"/>
            <a:ext cx="822960" cy="365760"/>
          </a:xfrm>
          <a:prstGeom prst="rect">
            <a:avLst/>
          </a:prstGeom>
          <a:noFill/>
        </p:spPr>
        <p:txBody>
          <a:bodyPr wrap="square" lIns="0" tIns="0" rIns="0" bIns="0" anchor="t">
            <a:spAutoFit/>
          </a:bodyPr>
          <a:lstStyle/>
          <a:p>
            <a:pPr algn="l"/>
            <a:r>
              <a:rPr sz="2000" b="1" i="1" dirty="0">
                <a:solidFill>
                  <a:srgbClr val="C0201B"/>
                </a:solidFill>
                <a:latin typeface="Calibri"/>
              </a:rPr>
              <a:t>TR</a:t>
            </a:r>
          </a:p>
        </p:txBody>
      </p:sp>
      <p:cxnSp>
        <p:nvCxnSpPr>
          <p:cNvPr id="16" name="TRS_0"/>
          <p:cNvCxnSpPr/>
          <p:nvPr/>
        </p:nvCxnSpPr>
        <p:spPr>
          <a:xfrm flipV="1">
            <a:off x="5558256" y="2550003"/>
            <a:ext cx="1448410" cy="885922"/>
          </a:xfrm>
          <a:prstGeom prst="line">
            <a:avLst/>
          </a:prstGeom>
          <a:ln w="22225">
            <a:solidFill>
              <a:srgbClr val="1A1A1A"/>
            </a:solidFill>
          </a:ln>
          <a:effectLst/>
        </p:spPr>
        <p:style>
          <a:lnRef idx="2">
            <a:schemeClr val="accent1"/>
          </a:lnRef>
          <a:fillRef idx="0">
            <a:schemeClr val="accent1"/>
          </a:fillRef>
          <a:effectRef idx="1">
            <a:schemeClr val="accent1"/>
          </a:effectRef>
          <a:fontRef idx="minor">
            <a:schemeClr val="tx1"/>
          </a:fontRef>
        </p:style>
      </p:cxnSp>
      <p:sp>
        <p:nvSpPr>
          <p:cNvPr id="17" name="TRS_1"/>
          <p:cNvSpPr txBox="1"/>
          <p:nvPr/>
        </p:nvSpPr>
        <p:spPr>
          <a:xfrm>
            <a:off x="4720361" y="2361818"/>
            <a:ext cx="3291840" cy="365760"/>
          </a:xfrm>
          <a:prstGeom prst="rect">
            <a:avLst/>
          </a:prstGeom>
          <a:noFill/>
        </p:spPr>
        <p:txBody>
          <a:bodyPr wrap="square" lIns="0" tIns="0" rIns="0" bIns="0" anchor="t">
            <a:spAutoFit/>
          </a:bodyPr>
          <a:lstStyle/>
          <a:p>
            <a:pPr algn="l"/>
            <a:r>
              <a:rPr sz="1800" b="1" i="1">
                <a:solidFill>
                  <a:srgbClr val="C0201B"/>
                </a:solidFill>
                <a:latin typeface="Calibri"/>
              </a:rPr>
              <a:t>TR Slope = MR = P</a:t>
            </a:r>
          </a:p>
        </p:txBody>
      </p:sp>
      <p:sp>
        <p:nvSpPr>
          <p:cNvPr id="27" name="TC_9"/>
          <p:cNvSpPr txBox="1"/>
          <p:nvPr/>
        </p:nvSpPr>
        <p:spPr>
          <a:xfrm>
            <a:off x="7909560" y="2125979"/>
            <a:ext cx="822960" cy="365760"/>
          </a:xfrm>
          <a:prstGeom prst="rect">
            <a:avLst/>
          </a:prstGeom>
          <a:noFill/>
        </p:spPr>
        <p:txBody>
          <a:bodyPr wrap="square" lIns="0" tIns="0" rIns="0" bIns="0" anchor="t">
            <a:spAutoFit/>
          </a:bodyPr>
          <a:lstStyle/>
          <a:p>
            <a:pPr algn="l"/>
            <a:r>
              <a:rPr sz="2000" b="1" i="1" dirty="0">
                <a:solidFill>
                  <a:srgbClr val="4E79B5"/>
                </a:solidFill>
                <a:latin typeface="Calibri"/>
              </a:rPr>
              <a:t>TC</a:t>
            </a:r>
          </a:p>
        </p:txBody>
      </p:sp>
      <p:cxnSp>
        <p:nvCxnSpPr>
          <p:cNvPr id="28" name="TCS_0"/>
          <p:cNvCxnSpPr>
            <a:cxnSpLocks/>
          </p:cNvCxnSpPr>
          <p:nvPr/>
        </p:nvCxnSpPr>
        <p:spPr>
          <a:xfrm flipV="1">
            <a:off x="5612207" y="2817071"/>
            <a:ext cx="1569109" cy="850890"/>
          </a:xfrm>
          <a:prstGeom prst="line">
            <a:avLst/>
          </a:prstGeom>
          <a:ln w="22225">
            <a:solidFill>
              <a:srgbClr val="1A1A1A"/>
            </a:solidFill>
          </a:ln>
          <a:effectLst/>
        </p:spPr>
        <p:style>
          <a:lnRef idx="2">
            <a:schemeClr val="accent1"/>
          </a:lnRef>
          <a:fillRef idx="0">
            <a:schemeClr val="accent1"/>
          </a:fillRef>
          <a:effectRef idx="1">
            <a:schemeClr val="accent1"/>
          </a:effectRef>
          <a:fontRef idx="minor">
            <a:schemeClr val="tx1"/>
          </a:fontRef>
        </p:style>
      </p:cxnSp>
      <p:sp>
        <p:nvSpPr>
          <p:cNvPr id="29" name="TCS_1"/>
          <p:cNvSpPr txBox="1"/>
          <p:nvPr/>
        </p:nvSpPr>
        <p:spPr>
          <a:xfrm>
            <a:off x="6660489" y="3319272"/>
            <a:ext cx="3017520" cy="365760"/>
          </a:xfrm>
          <a:prstGeom prst="rect">
            <a:avLst/>
          </a:prstGeom>
          <a:noFill/>
        </p:spPr>
        <p:txBody>
          <a:bodyPr wrap="square" lIns="0" tIns="0" rIns="0" bIns="0" anchor="t">
            <a:spAutoFit/>
          </a:bodyPr>
          <a:lstStyle/>
          <a:p>
            <a:pPr algn="l"/>
            <a:r>
              <a:rPr sz="1800" b="1" i="1">
                <a:solidFill>
                  <a:srgbClr val="4E79B5"/>
                </a:solidFill>
                <a:latin typeface="Calibri"/>
              </a:rPr>
              <a:t>TC Slope = MC</a:t>
            </a:r>
          </a:p>
        </p:txBody>
      </p:sp>
      <p:sp>
        <p:nvSpPr>
          <p:cNvPr id="30" name="TCS_2"/>
          <p:cNvSpPr txBox="1"/>
          <p:nvPr/>
        </p:nvSpPr>
        <p:spPr>
          <a:xfrm>
            <a:off x="1536192" y="5007102"/>
            <a:ext cx="548640" cy="274320"/>
          </a:xfrm>
          <a:prstGeom prst="rect">
            <a:avLst/>
          </a:prstGeom>
          <a:noFill/>
        </p:spPr>
        <p:txBody>
          <a:bodyPr wrap="square" lIns="0" tIns="0" rIns="0" bIns="0" anchor="t">
            <a:spAutoFit/>
          </a:bodyPr>
          <a:lstStyle/>
          <a:p>
            <a:pPr algn="r"/>
            <a:r>
              <a:rPr sz="1600" b="1" i="1" dirty="0">
                <a:solidFill>
                  <a:srgbClr val="1A1A1A"/>
                </a:solidFill>
                <a:latin typeface="Calibri"/>
              </a:rPr>
              <a:t>TFC</a:t>
            </a:r>
          </a:p>
        </p:txBody>
      </p:sp>
      <p:sp>
        <p:nvSpPr>
          <p:cNvPr id="40" name="PF_9"/>
          <p:cNvSpPr txBox="1"/>
          <p:nvPr/>
        </p:nvSpPr>
        <p:spPr>
          <a:xfrm>
            <a:off x="7240219" y="4854321"/>
            <a:ext cx="2103120" cy="365760"/>
          </a:xfrm>
          <a:prstGeom prst="rect">
            <a:avLst/>
          </a:prstGeom>
          <a:noFill/>
        </p:spPr>
        <p:txBody>
          <a:bodyPr wrap="square" lIns="0" tIns="0" rIns="0" bIns="0" anchor="t">
            <a:spAutoFit/>
          </a:bodyPr>
          <a:lstStyle/>
          <a:p>
            <a:pPr algn="l"/>
            <a:r>
              <a:rPr sz="1600" b="1" i="1">
                <a:solidFill>
                  <a:srgbClr val="8DB63C"/>
                </a:solidFill>
                <a:latin typeface="Calibri"/>
              </a:rPr>
              <a:t>Profit = TR-TC</a:t>
            </a:r>
          </a:p>
        </p:txBody>
      </p:sp>
      <p:sp>
        <p:nvSpPr>
          <p:cNvPr id="41" name="DOT_0"/>
          <p:cNvSpPr/>
          <p:nvPr/>
        </p:nvSpPr>
        <p:spPr>
          <a:xfrm>
            <a:off x="6523710" y="2738170"/>
            <a:ext cx="146304" cy="146304"/>
          </a:xfrm>
          <a:prstGeom prst="ellipse">
            <a:avLst/>
          </a:prstGeom>
          <a:solidFill>
            <a:srgbClr val="7F7F7F"/>
          </a:solidFill>
          <a:ln w="9525">
            <a:solidFill>
              <a:srgbClr val="555555"/>
            </a:solidFill>
          </a:ln>
          <a:effectLst>
            <a:outerShdw blurRad="27432" dist="18288"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OT_2"/>
          <p:cNvSpPr/>
          <p:nvPr/>
        </p:nvSpPr>
        <p:spPr>
          <a:xfrm>
            <a:off x="6533159" y="4941722"/>
            <a:ext cx="146304" cy="146304"/>
          </a:xfrm>
          <a:prstGeom prst="ellipse">
            <a:avLst/>
          </a:prstGeom>
          <a:solidFill>
            <a:srgbClr val="7F7F7F"/>
          </a:solidFill>
          <a:ln w="9525">
            <a:solidFill>
              <a:srgbClr val="555555"/>
            </a:solidFill>
          </a:ln>
          <a:effectLst>
            <a:outerShdw blurRad="27432" dist="18288"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MAX_1"/>
          <p:cNvSpPr txBox="1"/>
          <p:nvPr/>
        </p:nvSpPr>
        <p:spPr>
          <a:xfrm>
            <a:off x="6366281" y="5541264"/>
            <a:ext cx="548640" cy="274320"/>
          </a:xfrm>
          <a:prstGeom prst="rect">
            <a:avLst/>
          </a:prstGeom>
          <a:noFill/>
        </p:spPr>
        <p:txBody>
          <a:bodyPr wrap="square" lIns="0" tIns="0" rIns="0" bIns="0" anchor="t">
            <a:spAutoFit/>
          </a:bodyPr>
          <a:lstStyle/>
          <a:p>
            <a:pPr algn="ctr"/>
            <a:r>
              <a:rPr sz="1900" b="1" i="1" dirty="0">
                <a:solidFill>
                  <a:srgbClr val="0B2B4E"/>
                </a:solidFill>
                <a:latin typeface="Calibri"/>
              </a:rPr>
              <a:t>Q*</a:t>
            </a:r>
          </a:p>
        </p:txBody>
      </p:sp>
      <p:sp>
        <p:nvSpPr>
          <p:cNvPr id="46" name="MAX_2"/>
          <p:cNvSpPr txBox="1"/>
          <p:nvPr/>
        </p:nvSpPr>
        <p:spPr>
          <a:xfrm>
            <a:off x="6668414" y="3969410"/>
            <a:ext cx="2743200" cy="365760"/>
          </a:xfrm>
          <a:prstGeom prst="rect">
            <a:avLst/>
          </a:prstGeom>
          <a:noFill/>
        </p:spPr>
        <p:txBody>
          <a:bodyPr wrap="square" lIns="0" tIns="0" rIns="0" bIns="0" anchor="t">
            <a:spAutoFit/>
          </a:bodyPr>
          <a:lstStyle/>
          <a:p>
            <a:pPr algn="l"/>
            <a:r>
              <a:rPr sz="1600" b="1" i="0" dirty="0">
                <a:solidFill>
                  <a:srgbClr val="1A1A1A"/>
                </a:solidFill>
                <a:latin typeface="Calibri"/>
              </a:rPr>
              <a:t>Maximum profit</a:t>
            </a:r>
          </a:p>
        </p:txBody>
      </p:sp>
      <p:cxnSp>
        <p:nvCxnSpPr>
          <p:cNvPr id="47" name="MAX_3"/>
          <p:cNvCxnSpPr/>
          <p:nvPr/>
        </p:nvCxnSpPr>
        <p:spPr>
          <a:xfrm flipH="1" flipV="1">
            <a:off x="7045071" y="2953855"/>
            <a:ext cx="155448" cy="451485"/>
          </a:xfrm>
          <a:prstGeom prst="line">
            <a:avLst/>
          </a:prstGeom>
          <a:ln w="22225">
            <a:solidFill>
              <a:srgbClr val="1A1A1A"/>
            </a:solidFill>
            <a:head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MAX_4"/>
          <p:cNvCxnSpPr/>
          <p:nvPr/>
        </p:nvCxnSpPr>
        <p:spPr>
          <a:xfrm flipH="1">
            <a:off x="6673519" y="4233213"/>
            <a:ext cx="155448" cy="614020"/>
          </a:xfrm>
          <a:prstGeom prst="line">
            <a:avLst/>
          </a:prstGeom>
          <a:ln w="22225">
            <a:solidFill>
              <a:srgbClr val="1A1A1A"/>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49" name="Freeform: Shape 15">
            <a:extLst>
              <a:ext uri="{FF2B5EF4-FFF2-40B4-BE49-F238E27FC236}">
                <a16:creationId xmlns:a16="http://schemas.microsoft.com/office/drawing/2014/main" id="{876E47E8-B0C8-CC32-C672-18E26EE07B2B}"/>
              </a:ext>
            </a:extLst>
          </p:cNvPr>
          <p:cNvSpPr/>
          <p:nvPr/>
        </p:nvSpPr>
        <p:spPr>
          <a:xfrm>
            <a:off x="2190066" y="2209032"/>
            <a:ext cx="5636131" cy="2979388"/>
          </a:xfrm>
          <a:custGeom>
            <a:avLst/>
            <a:gdLst>
              <a:gd name="connsiteX0" fmla="*/ 0 w 3487918"/>
              <a:gd name="connsiteY0" fmla="*/ 2846895 h 2846895"/>
              <a:gd name="connsiteX1" fmla="*/ 1084082 w 3487918"/>
              <a:gd name="connsiteY1" fmla="*/ 1998483 h 2846895"/>
              <a:gd name="connsiteX2" fmla="*/ 2498103 w 3487918"/>
              <a:gd name="connsiteY2" fmla="*/ 1027522 h 2846895"/>
              <a:gd name="connsiteX3" fmla="*/ 3487918 w 3487918"/>
              <a:gd name="connsiteY3" fmla="*/ 0 h 2846895"/>
              <a:gd name="connsiteX0" fmla="*/ 0 w 3478491"/>
              <a:gd name="connsiteY0" fmla="*/ 2828041 h 2828041"/>
              <a:gd name="connsiteX1" fmla="*/ 1084082 w 3478491"/>
              <a:gd name="connsiteY1" fmla="*/ 1979629 h 2828041"/>
              <a:gd name="connsiteX2" fmla="*/ 2498103 w 3478491"/>
              <a:gd name="connsiteY2" fmla="*/ 1008668 h 2828041"/>
              <a:gd name="connsiteX3" fmla="*/ 3478491 w 3478491"/>
              <a:gd name="connsiteY3" fmla="*/ 0 h 2828041"/>
              <a:gd name="connsiteX0" fmla="*/ 0 w 3479159"/>
              <a:gd name="connsiteY0" fmla="*/ 2829473 h 2829473"/>
              <a:gd name="connsiteX1" fmla="*/ 1084082 w 3479159"/>
              <a:gd name="connsiteY1" fmla="*/ 1981061 h 2829473"/>
              <a:gd name="connsiteX2" fmla="*/ 2498103 w 3479159"/>
              <a:gd name="connsiteY2" fmla="*/ 1010100 h 2829473"/>
              <a:gd name="connsiteX3" fmla="*/ 3478491 w 3479159"/>
              <a:gd name="connsiteY3" fmla="*/ 1432 h 2829473"/>
              <a:gd name="connsiteX0" fmla="*/ 0 w 3479159"/>
              <a:gd name="connsiteY0" fmla="*/ 2829456 h 2829456"/>
              <a:gd name="connsiteX1" fmla="*/ 1084082 w 3479159"/>
              <a:gd name="connsiteY1" fmla="*/ 1981044 h 2829456"/>
              <a:gd name="connsiteX2" fmla="*/ 2498103 w 3479159"/>
              <a:gd name="connsiteY2" fmla="*/ 1019510 h 2829456"/>
              <a:gd name="connsiteX3" fmla="*/ 3478491 w 3479159"/>
              <a:gd name="connsiteY3" fmla="*/ 1415 h 2829456"/>
              <a:gd name="connsiteX0" fmla="*/ 0 w 3479159"/>
              <a:gd name="connsiteY0" fmla="*/ 2829456 h 2829456"/>
              <a:gd name="connsiteX1" fmla="*/ 1084082 w 3479159"/>
              <a:gd name="connsiteY1" fmla="*/ 1981044 h 2829456"/>
              <a:gd name="connsiteX2" fmla="*/ 2498103 w 3479159"/>
              <a:gd name="connsiteY2" fmla="*/ 1019510 h 2829456"/>
              <a:gd name="connsiteX3" fmla="*/ 3478491 w 3479159"/>
              <a:gd name="connsiteY3" fmla="*/ 1415 h 2829456"/>
              <a:gd name="connsiteX0" fmla="*/ 0 w 3432070"/>
              <a:gd name="connsiteY0" fmla="*/ 2885932 h 2885932"/>
              <a:gd name="connsiteX1" fmla="*/ 1084082 w 3432070"/>
              <a:gd name="connsiteY1" fmla="*/ 2037520 h 2885932"/>
              <a:gd name="connsiteX2" fmla="*/ 2498103 w 3432070"/>
              <a:gd name="connsiteY2" fmla="*/ 1075986 h 2885932"/>
              <a:gd name="connsiteX3" fmla="*/ 3431357 w 3432070"/>
              <a:gd name="connsiteY3" fmla="*/ 1331 h 2885932"/>
              <a:gd name="connsiteX0" fmla="*/ 0 w 3432432"/>
              <a:gd name="connsiteY0" fmla="*/ 2886394 h 2886394"/>
              <a:gd name="connsiteX1" fmla="*/ 1084082 w 3432432"/>
              <a:gd name="connsiteY1" fmla="*/ 2037982 h 2886394"/>
              <a:gd name="connsiteX2" fmla="*/ 2696065 w 3432432"/>
              <a:gd name="connsiteY2" fmla="*/ 869059 h 2886394"/>
              <a:gd name="connsiteX3" fmla="*/ 3431357 w 3432432"/>
              <a:gd name="connsiteY3" fmla="*/ 1793 h 2886394"/>
            </a:gdLst>
            <a:ahLst/>
            <a:cxnLst>
              <a:cxn ang="0">
                <a:pos x="connsiteX0" y="connsiteY0"/>
              </a:cxn>
              <a:cxn ang="0">
                <a:pos x="connsiteX1" y="connsiteY1"/>
              </a:cxn>
              <a:cxn ang="0">
                <a:pos x="connsiteX2" y="connsiteY2"/>
              </a:cxn>
              <a:cxn ang="0">
                <a:pos x="connsiteX3" y="connsiteY3"/>
              </a:cxn>
            </a:cxnLst>
            <a:rect l="l" t="t" r="r" b="b"/>
            <a:pathLst>
              <a:path w="3432432" h="2886394">
                <a:moveTo>
                  <a:pt x="0" y="2886394"/>
                </a:moveTo>
                <a:cubicBezTo>
                  <a:pt x="333866" y="2613802"/>
                  <a:pt x="634738" y="2374204"/>
                  <a:pt x="1084082" y="2037982"/>
                </a:cubicBezTo>
                <a:cubicBezTo>
                  <a:pt x="1533426" y="1701760"/>
                  <a:pt x="2304853" y="1208424"/>
                  <a:pt x="2696065" y="869059"/>
                </a:cubicBezTo>
                <a:cubicBezTo>
                  <a:pt x="3087277" y="529694"/>
                  <a:pt x="3454924" y="-35915"/>
                  <a:pt x="3431357" y="1793"/>
                </a:cubicBezTo>
              </a:path>
            </a:pathLst>
          </a:custGeom>
          <a:ln w="412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2" name="DOT_1"/>
          <p:cNvSpPr/>
          <p:nvPr/>
        </p:nvSpPr>
        <p:spPr>
          <a:xfrm>
            <a:off x="6533159" y="3078374"/>
            <a:ext cx="146304" cy="146304"/>
          </a:xfrm>
          <a:prstGeom prst="ellipse">
            <a:avLst/>
          </a:prstGeom>
          <a:solidFill>
            <a:srgbClr val="7F7F7F"/>
          </a:solidFill>
          <a:ln w="9525">
            <a:solidFill>
              <a:srgbClr val="555555"/>
            </a:solidFill>
          </a:ln>
          <a:effectLst>
            <a:outerShdw blurRad="27432" dist="18288"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Two Ways to Write Profit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20</a:t>
            </a:r>
          </a:p>
        </p:txBody>
      </p:sp>
      <p:sp>
        <p:nvSpPr>
          <p:cNvPr id="10" name="G1_0"/>
          <p:cNvSpPr/>
          <p:nvPr/>
        </p:nvSpPr>
        <p:spPr>
          <a:xfrm>
            <a:off x="713232" y="167335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1</a:t>
            </a:r>
          </a:p>
        </p:txBody>
      </p:sp>
      <p:sp>
        <p:nvSpPr>
          <p:cNvPr id="11" name="G1_1"/>
          <p:cNvSpPr txBox="1"/>
          <p:nvPr/>
        </p:nvSpPr>
        <p:spPr>
          <a:xfrm>
            <a:off x="1874519" y="1627632"/>
            <a:ext cx="1463040" cy="548640"/>
          </a:xfrm>
          <a:prstGeom prst="rect">
            <a:avLst/>
          </a:prstGeom>
          <a:noFill/>
        </p:spPr>
        <p:txBody>
          <a:bodyPr wrap="square" lIns="0" tIns="0" rIns="0" bIns="0" anchor="ctr">
            <a:spAutoFit/>
          </a:bodyPr>
          <a:lstStyle/>
          <a:p>
            <a:pPr algn="l"/>
            <a:r>
              <a:rPr sz="3200" b="0" i="0" dirty="0">
                <a:solidFill>
                  <a:srgbClr val="0B2B4E"/>
                </a:solidFill>
                <a:latin typeface="Calibri"/>
              </a:rPr>
              <a:t>Profit</a:t>
            </a:r>
          </a:p>
        </p:txBody>
      </p:sp>
      <p:sp>
        <p:nvSpPr>
          <p:cNvPr id="12" name="G1_2"/>
          <p:cNvSpPr txBox="1"/>
          <p:nvPr/>
        </p:nvSpPr>
        <p:spPr>
          <a:xfrm>
            <a:off x="3246120" y="1627632"/>
            <a:ext cx="7863840" cy="548640"/>
          </a:xfrm>
          <a:prstGeom prst="rect">
            <a:avLst/>
          </a:prstGeom>
          <a:noFill/>
        </p:spPr>
        <p:txBody>
          <a:bodyPr wrap="square" lIns="0" tIns="0" rIns="0" bIns="0" anchor="ctr">
            <a:spAutoFit/>
          </a:bodyPr>
          <a:lstStyle/>
          <a:p>
            <a:pPr algn="l"/>
            <a:r>
              <a:rPr sz="3200" b="0" i="0" dirty="0">
                <a:solidFill>
                  <a:srgbClr val="0B2B4E"/>
                </a:solidFill>
                <a:latin typeface="Cambria Math"/>
              </a:rPr>
              <a:t>= </a:t>
            </a:r>
            <a:r>
              <a:rPr sz="3200" b="0" i="1" dirty="0">
                <a:solidFill>
                  <a:srgbClr val="0B2B4E"/>
                </a:solidFill>
                <a:latin typeface="Cambria Math"/>
              </a:rPr>
              <a:t>TR</a:t>
            </a:r>
            <a:r>
              <a:rPr sz="3200" b="0" i="0" dirty="0">
                <a:solidFill>
                  <a:srgbClr val="0B2B4E"/>
                </a:solidFill>
                <a:latin typeface="Cambria Math"/>
              </a:rPr>
              <a:t> − </a:t>
            </a:r>
            <a:r>
              <a:rPr sz="3200" b="0" i="1" dirty="0">
                <a:solidFill>
                  <a:srgbClr val="0B2B4E"/>
                </a:solidFill>
                <a:latin typeface="Cambria Math"/>
              </a:rPr>
              <a:t>TC</a:t>
            </a:r>
          </a:p>
        </p:txBody>
      </p:sp>
      <p:sp>
        <p:nvSpPr>
          <p:cNvPr id="13" name="G2_0"/>
          <p:cNvSpPr txBox="1"/>
          <p:nvPr/>
        </p:nvSpPr>
        <p:spPr>
          <a:xfrm>
            <a:off x="3246120" y="2295811"/>
            <a:ext cx="7863840" cy="492443"/>
          </a:xfrm>
          <a:prstGeom prst="rect">
            <a:avLst/>
          </a:prstGeom>
          <a:noFill/>
        </p:spPr>
        <p:txBody>
          <a:bodyPr wrap="square" lIns="0" tIns="0" rIns="0" bIns="0" anchor="ctr">
            <a:spAutoFit/>
          </a:bodyPr>
          <a:lstStyle/>
          <a:p>
            <a:pPr algn="l"/>
            <a:r>
              <a:rPr sz="3200" b="0" i="0" dirty="0">
                <a:solidFill>
                  <a:srgbClr val="0B2B4E"/>
                </a:solidFill>
                <a:latin typeface="Cambria Math"/>
              </a:rPr>
              <a:t>= (</a:t>
            </a:r>
            <a:r>
              <a:rPr sz="3200" b="0" i="1" dirty="0">
                <a:solidFill>
                  <a:srgbClr val="0B2B4E"/>
                </a:solidFill>
                <a:latin typeface="Cambria Math"/>
              </a:rPr>
              <a:t>P</a:t>
            </a:r>
            <a:r>
              <a:rPr sz="3200" b="0" i="0" dirty="0">
                <a:solidFill>
                  <a:srgbClr val="0B2B4E"/>
                </a:solidFill>
                <a:latin typeface="Cambria Math"/>
              </a:rPr>
              <a:t> · </a:t>
            </a:r>
            <a:r>
              <a:rPr sz="3200" b="0" i="1" dirty="0">
                <a:solidFill>
                  <a:srgbClr val="0B2B4E"/>
                </a:solidFill>
                <a:latin typeface="Cambria Math"/>
              </a:rPr>
              <a:t>Q</a:t>
            </a:r>
            <a:r>
              <a:rPr lang="en-US" sz="3200" b="0" i="1" dirty="0">
                <a:solidFill>
                  <a:srgbClr val="0B2B4E"/>
                </a:solidFill>
                <a:latin typeface="Cambria Math"/>
              </a:rPr>
              <a:t> </a:t>
            </a:r>
            <a:r>
              <a:rPr sz="3200" b="0" i="0" dirty="0">
                <a:solidFill>
                  <a:srgbClr val="0B2B4E"/>
                </a:solidFill>
                <a:latin typeface="Cambria Math"/>
              </a:rPr>
              <a:t>) − (</a:t>
            </a:r>
            <a:r>
              <a:rPr sz="3200" b="0" i="1" dirty="0">
                <a:solidFill>
                  <a:srgbClr val="0B2B4E"/>
                </a:solidFill>
                <a:latin typeface="Cambria Math"/>
              </a:rPr>
              <a:t>ATC</a:t>
            </a:r>
            <a:r>
              <a:rPr sz="3200" b="0" i="0" dirty="0">
                <a:solidFill>
                  <a:srgbClr val="0B2B4E"/>
                </a:solidFill>
                <a:latin typeface="Cambria Math"/>
              </a:rPr>
              <a:t> · </a:t>
            </a:r>
            <a:r>
              <a:rPr sz="3200" b="0" i="1" dirty="0">
                <a:solidFill>
                  <a:srgbClr val="0B2B4E"/>
                </a:solidFill>
                <a:latin typeface="Cambria Math"/>
              </a:rPr>
              <a:t>Q</a:t>
            </a:r>
            <a:r>
              <a:rPr lang="en-US" sz="3200" b="0" i="1" dirty="0">
                <a:solidFill>
                  <a:srgbClr val="0B2B4E"/>
                </a:solidFill>
                <a:latin typeface="Cambria Math"/>
              </a:rPr>
              <a:t> </a:t>
            </a:r>
            <a:r>
              <a:rPr sz="3200" b="0" i="0" dirty="0">
                <a:solidFill>
                  <a:srgbClr val="0B2B4E"/>
                </a:solidFill>
                <a:latin typeface="Cambria Math"/>
              </a:rPr>
              <a:t>)</a:t>
            </a:r>
          </a:p>
        </p:txBody>
      </p:sp>
      <p:sp>
        <p:nvSpPr>
          <p:cNvPr id="14" name="G3_0"/>
          <p:cNvSpPr txBox="1"/>
          <p:nvPr/>
        </p:nvSpPr>
        <p:spPr>
          <a:xfrm>
            <a:off x="3246120" y="2935891"/>
            <a:ext cx="7863840" cy="492443"/>
          </a:xfrm>
          <a:prstGeom prst="rect">
            <a:avLst/>
          </a:prstGeom>
          <a:noFill/>
        </p:spPr>
        <p:txBody>
          <a:bodyPr wrap="square" lIns="0" tIns="0" rIns="0" bIns="0" anchor="ctr">
            <a:spAutoFit/>
          </a:bodyPr>
          <a:lstStyle/>
          <a:p>
            <a:pPr algn="l"/>
            <a:r>
              <a:rPr sz="3200" b="0" i="0" dirty="0">
                <a:solidFill>
                  <a:srgbClr val="0B2B4E"/>
                </a:solidFill>
                <a:latin typeface="Cambria Math"/>
              </a:rPr>
              <a:t>= (</a:t>
            </a:r>
            <a:r>
              <a:rPr sz="3200" b="0" i="1" dirty="0">
                <a:solidFill>
                  <a:srgbClr val="C0201B"/>
                </a:solidFill>
                <a:latin typeface="Cambria Math"/>
              </a:rPr>
              <a:t>P</a:t>
            </a:r>
            <a:r>
              <a:rPr sz="3200" b="0" i="0" dirty="0">
                <a:solidFill>
                  <a:srgbClr val="C0201B"/>
                </a:solidFill>
                <a:latin typeface="Cambria Math"/>
              </a:rPr>
              <a:t> − </a:t>
            </a:r>
            <a:r>
              <a:rPr sz="3200" b="0" i="1" dirty="0">
                <a:solidFill>
                  <a:srgbClr val="C0201B"/>
                </a:solidFill>
                <a:latin typeface="Cambria Math"/>
              </a:rPr>
              <a:t>ATC</a:t>
            </a:r>
            <a:r>
              <a:rPr lang="en-US" sz="3200" b="0" i="1" dirty="0">
                <a:solidFill>
                  <a:srgbClr val="C0201B"/>
                </a:solidFill>
                <a:latin typeface="Cambria Math"/>
              </a:rPr>
              <a:t> </a:t>
            </a:r>
            <a:r>
              <a:rPr sz="3200" b="0" i="0" dirty="0">
                <a:solidFill>
                  <a:srgbClr val="0B2B4E"/>
                </a:solidFill>
                <a:latin typeface="Cambria Math"/>
              </a:rPr>
              <a:t>) · </a:t>
            </a:r>
            <a:r>
              <a:rPr sz="3200" b="0" i="1" dirty="0">
                <a:solidFill>
                  <a:srgbClr val="0B2B4E"/>
                </a:solidFill>
                <a:latin typeface="Cambria Math"/>
              </a:rPr>
              <a:t>Q</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Computing Profits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21</a:t>
            </a:r>
          </a:p>
        </p:txBody>
      </p:sp>
      <p:sp>
        <p:nvSpPr>
          <p:cNvPr id="10" name="G1_0"/>
          <p:cNvSpPr txBox="1"/>
          <p:nvPr/>
        </p:nvSpPr>
        <p:spPr>
          <a:xfrm>
            <a:off x="640080" y="1554480"/>
            <a:ext cx="89611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Profit = (</a:t>
            </a:r>
            <a:r>
              <a:rPr sz="2400" b="0" i="1" dirty="0">
                <a:solidFill>
                  <a:srgbClr val="C0201B"/>
                </a:solidFill>
                <a:latin typeface="Cambria Math"/>
              </a:rPr>
              <a:t>P</a:t>
            </a:r>
            <a:r>
              <a:rPr sz="2400" b="0" i="0" dirty="0">
                <a:solidFill>
                  <a:srgbClr val="C0201B"/>
                </a:solidFill>
                <a:latin typeface="Cambria Math"/>
              </a:rPr>
              <a:t> − </a:t>
            </a:r>
            <a:r>
              <a:rPr sz="2400" b="0" i="1" dirty="0">
                <a:solidFill>
                  <a:srgbClr val="C0201B"/>
                </a:solidFill>
                <a:latin typeface="Cambria Math"/>
              </a:rPr>
              <a:t>ATC</a:t>
            </a:r>
            <a:r>
              <a:rPr lang="en-US" sz="2400" b="0" i="1" dirty="0">
                <a:solidFill>
                  <a:srgbClr val="C0201B"/>
                </a:solidFill>
                <a:latin typeface="Cambria Math"/>
              </a:rPr>
              <a:t> </a:t>
            </a:r>
            <a:r>
              <a:rPr sz="2400" b="0" i="0" dirty="0">
                <a:solidFill>
                  <a:srgbClr val="0B2B4E"/>
                </a:solidFill>
                <a:latin typeface="Cambria Math"/>
              </a:rPr>
              <a:t>) · </a:t>
            </a:r>
            <a:r>
              <a:rPr sz="2400" b="0" i="1" dirty="0">
                <a:solidFill>
                  <a:srgbClr val="0B2B4E"/>
                </a:solidFill>
                <a:latin typeface="Cambria Math"/>
              </a:rPr>
              <a:t>Q</a:t>
            </a:r>
          </a:p>
        </p:txBody>
      </p:sp>
      <p:sp>
        <p:nvSpPr>
          <p:cNvPr id="11" name="G2_0"/>
          <p:cNvSpPr txBox="1"/>
          <p:nvPr/>
        </p:nvSpPr>
        <p:spPr>
          <a:xfrm>
            <a:off x="640080" y="2304288"/>
            <a:ext cx="89611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Profit is positive if </a:t>
            </a:r>
            <a:r>
              <a:rPr sz="2400" b="0" i="1" dirty="0">
                <a:solidFill>
                  <a:srgbClr val="0B2B4E"/>
                </a:solidFill>
                <a:latin typeface="Cambria Math"/>
              </a:rPr>
              <a:t>P</a:t>
            </a:r>
            <a:r>
              <a:rPr sz="2400" b="0" i="0" dirty="0">
                <a:solidFill>
                  <a:srgbClr val="0B2B4E"/>
                </a:solidFill>
                <a:latin typeface="Cambria Math"/>
              </a:rPr>
              <a:t> ≥ </a:t>
            </a:r>
            <a:r>
              <a:rPr sz="2400" b="0" i="1" dirty="0">
                <a:solidFill>
                  <a:srgbClr val="0B2B4E"/>
                </a:solidFill>
                <a:latin typeface="Cambria Math"/>
              </a:rPr>
              <a:t>ATC</a:t>
            </a:r>
          </a:p>
        </p:txBody>
      </p:sp>
      <p:sp>
        <p:nvSpPr>
          <p:cNvPr id="12" name="G3_0"/>
          <p:cNvSpPr txBox="1"/>
          <p:nvPr/>
        </p:nvSpPr>
        <p:spPr>
          <a:xfrm>
            <a:off x="640080" y="3054096"/>
            <a:ext cx="8961120" cy="738664"/>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What is the economic profit of the Yi family at the profit-maximizing output level (</a:t>
            </a:r>
            <a:r>
              <a:rPr sz="2400" b="0" i="1" dirty="0">
                <a:solidFill>
                  <a:srgbClr val="0B2B4E"/>
                </a:solidFill>
                <a:latin typeface="Cambria Math"/>
              </a:rPr>
              <a:t>Q</a:t>
            </a:r>
            <a:r>
              <a:rPr lang="en-US" sz="2400" b="0" i="1" dirty="0">
                <a:solidFill>
                  <a:srgbClr val="0B2B4E"/>
                </a:solidFill>
                <a:latin typeface="Cambria Math"/>
              </a:rPr>
              <a:t>*</a:t>
            </a:r>
            <a:r>
              <a:rPr sz="2400" b="0" i="0" dirty="0">
                <a:solidFill>
                  <a:srgbClr val="0B2B4E"/>
                </a:solidFill>
                <a:latin typeface="Cambria Math"/>
              </a:rPr>
              <a:t> = 662.5</a:t>
            </a:r>
            <a:r>
              <a:rPr sz="2400" b="0" i="0" dirty="0">
                <a:solidFill>
                  <a:srgbClr val="0B2B4E"/>
                </a:solidFill>
                <a:latin typeface="Calibri"/>
              </a:rPr>
              <a:t>) ?</a:t>
            </a:r>
          </a:p>
        </p:txBody>
      </p:sp>
      <p:sp>
        <p:nvSpPr>
          <p:cNvPr id="13" name="G4_0"/>
          <p:cNvSpPr txBox="1"/>
          <p:nvPr/>
        </p:nvSpPr>
        <p:spPr>
          <a:xfrm>
            <a:off x="640080" y="4370832"/>
            <a:ext cx="89611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lang="en-US" sz="2400" i="1" dirty="0">
                <a:solidFill>
                  <a:srgbClr val="0B2B4E"/>
                </a:solidFill>
                <a:latin typeface="Cambria Math"/>
              </a:rPr>
              <a:t>Q* </a:t>
            </a:r>
            <a:r>
              <a:rPr sz="2400" b="0" i="0" dirty="0">
                <a:solidFill>
                  <a:srgbClr val="0B2B4E"/>
                </a:solidFill>
                <a:latin typeface="Cambria Math"/>
              </a:rPr>
              <a:t>= 662.5</a:t>
            </a:r>
            <a:r>
              <a:rPr sz="2400" b="0" i="0" dirty="0">
                <a:solidFill>
                  <a:srgbClr val="0B2B4E"/>
                </a:solidFill>
                <a:latin typeface="Calibri"/>
              </a:rPr>
              <a:t> using MR=MC</a:t>
            </a:r>
          </a:p>
        </p:txBody>
      </p:sp>
      <p:sp>
        <p:nvSpPr>
          <p:cNvPr id="14" name="G4_1"/>
          <p:cNvSpPr txBox="1"/>
          <p:nvPr/>
        </p:nvSpPr>
        <p:spPr>
          <a:xfrm>
            <a:off x="1234440" y="5102352"/>
            <a:ext cx="7772400" cy="369332"/>
          </a:xfrm>
          <a:prstGeom prst="rect">
            <a:avLst/>
          </a:prstGeom>
          <a:noFill/>
        </p:spPr>
        <p:txBody>
          <a:bodyPr wrap="square" lIns="0" tIns="0" rIns="0" bIns="0" anchor="t">
            <a:spAutoFit/>
          </a:bodyPr>
          <a:lstStyle/>
          <a:p>
            <a:pPr marL="603504" indent="-603504">
              <a:buClr>
                <a:srgbClr val="555B66"/>
              </a:buClr>
              <a:buSzPct val="100000"/>
              <a:buFont typeface="Calibri"/>
              <a:buChar char="–"/>
            </a:pPr>
            <a:r>
              <a:rPr sz="2400" b="0" i="1" dirty="0">
                <a:solidFill>
                  <a:schemeClr val="tx1">
                    <a:lumMod val="65000"/>
                    <a:lumOff val="35000"/>
                  </a:schemeClr>
                </a:solidFill>
                <a:latin typeface="Cambria Math"/>
              </a:rPr>
              <a:t>P</a:t>
            </a:r>
            <a:r>
              <a:rPr sz="2400" b="0" i="0" dirty="0">
                <a:solidFill>
                  <a:schemeClr val="tx1">
                    <a:lumMod val="65000"/>
                    <a:lumOff val="35000"/>
                  </a:schemeClr>
                </a:solidFill>
                <a:latin typeface="Cambria Math"/>
              </a:rPr>
              <a:t> = 400</a:t>
            </a:r>
          </a:p>
        </p:txBody>
      </p:sp>
      <p:sp>
        <p:nvSpPr>
          <p:cNvPr id="15" name="Pentagon 14">
            <a:extLst>
              <a:ext uri="{FF2B5EF4-FFF2-40B4-BE49-F238E27FC236}">
                <a16:creationId xmlns:a16="http://schemas.microsoft.com/office/drawing/2014/main" id="{EBD19CC1-E5D7-C980-15D7-923399999A74}"/>
              </a:ext>
            </a:extLst>
          </p:cNvPr>
          <p:cNvSpPr/>
          <p:nvPr/>
        </p:nvSpPr>
        <p:spPr>
          <a:xfrm>
            <a:off x="9402775" y="5850508"/>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Profit at Q*: 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22</a:t>
            </a:r>
          </a:p>
        </p:txBody>
      </p:sp>
      <p:sp>
        <p:nvSpPr>
          <p:cNvPr id="11" name="G1_0"/>
          <p:cNvSpPr txBox="1"/>
          <p:nvPr/>
        </p:nvSpPr>
        <p:spPr>
          <a:xfrm>
            <a:off x="640080" y="1463040"/>
            <a:ext cx="1060704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Profit = </a:t>
            </a:r>
            <a:r>
              <a:rPr sz="2400" b="0" i="1" dirty="0">
                <a:solidFill>
                  <a:srgbClr val="0B2B4E"/>
                </a:solidFill>
                <a:latin typeface="Cambria Math"/>
              </a:rPr>
              <a:t>TR</a:t>
            </a:r>
            <a:r>
              <a:rPr sz="2400" b="0" i="0" dirty="0">
                <a:solidFill>
                  <a:srgbClr val="0B2B4E"/>
                </a:solidFill>
                <a:latin typeface="Cambria Math"/>
              </a:rPr>
              <a:t> − </a:t>
            </a:r>
            <a:r>
              <a:rPr sz="2400" b="0" i="1" dirty="0">
                <a:solidFill>
                  <a:srgbClr val="0B2B4E"/>
                </a:solidFill>
                <a:latin typeface="Cambria Math"/>
              </a:rPr>
              <a:t>TC</a:t>
            </a:r>
          </a:p>
        </p:txBody>
      </p:sp>
      <p:sp>
        <p:nvSpPr>
          <p:cNvPr id="12" name="G1_1"/>
          <p:cNvSpPr txBox="1"/>
          <p:nvPr/>
        </p:nvSpPr>
        <p:spPr>
          <a:xfrm>
            <a:off x="1234440" y="1993392"/>
            <a:ext cx="9875520" cy="457200"/>
          </a:xfrm>
          <a:prstGeom prst="rect">
            <a:avLst/>
          </a:prstGeom>
          <a:noFill/>
        </p:spPr>
        <p:txBody>
          <a:bodyPr wrap="square" lIns="0" tIns="0" rIns="0" bIns="0" anchor="t">
            <a:spAutoFit/>
          </a:bodyPr>
          <a:lstStyle/>
          <a:p>
            <a:pPr marL="603504" indent="-603504">
              <a:buClr>
                <a:srgbClr val="555B66"/>
              </a:buClr>
              <a:buSzPct val="100000"/>
              <a:buFont typeface="Calibri"/>
              <a:buChar char="–"/>
            </a:pPr>
            <a:r>
              <a:rPr sz="2200" b="0" i="1" dirty="0">
                <a:solidFill>
                  <a:srgbClr val="0B2B4E"/>
                </a:solidFill>
                <a:latin typeface="Cambria Math"/>
              </a:rPr>
              <a:t>TR</a:t>
            </a:r>
            <a:r>
              <a:rPr sz="2200" b="0" i="0" dirty="0">
                <a:solidFill>
                  <a:srgbClr val="0B2B4E"/>
                </a:solidFill>
                <a:latin typeface="Cambria Math"/>
              </a:rPr>
              <a:t> = </a:t>
            </a:r>
            <a:r>
              <a:rPr sz="2200" b="0" i="1" dirty="0">
                <a:solidFill>
                  <a:srgbClr val="0B2B4E"/>
                </a:solidFill>
                <a:latin typeface="Cambria Math"/>
              </a:rPr>
              <a:t>P</a:t>
            </a:r>
            <a:r>
              <a:rPr sz="2200" b="0" i="0" dirty="0">
                <a:solidFill>
                  <a:srgbClr val="0B2B4E"/>
                </a:solidFill>
                <a:latin typeface="Cambria Math"/>
              </a:rPr>
              <a:t> · </a:t>
            </a:r>
            <a:r>
              <a:rPr sz="2200" b="0" i="1" dirty="0">
                <a:solidFill>
                  <a:srgbClr val="0B2B4E"/>
                </a:solidFill>
                <a:latin typeface="Cambria Math"/>
              </a:rPr>
              <a:t>Q</a:t>
            </a:r>
            <a:r>
              <a:rPr sz="2200" b="0" i="0" dirty="0">
                <a:solidFill>
                  <a:srgbClr val="0B2B4E"/>
                </a:solidFill>
                <a:latin typeface="Cambria Math"/>
              </a:rPr>
              <a:t> = 400 · 662.5 = 265,000</a:t>
            </a:r>
          </a:p>
        </p:txBody>
      </p:sp>
      <p:sp>
        <p:nvSpPr>
          <p:cNvPr id="13" name="G1_2"/>
          <p:cNvSpPr txBox="1"/>
          <p:nvPr/>
        </p:nvSpPr>
        <p:spPr>
          <a:xfrm>
            <a:off x="1234440" y="2432304"/>
            <a:ext cx="9875520" cy="338554"/>
          </a:xfrm>
          <a:prstGeom prst="rect">
            <a:avLst/>
          </a:prstGeom>
          <a:noFill/>
        </p:spPr>
        <p:txBody>
          <a:bodyPr wrap="square" lIns="0" tIns="0" rIns="0" bIns="0" anchor="t">
            <a:spAutoFit/>
          </a:bodyPr>
          <a:lstStyle/>
          <a:p>
            <a:pPr marL="603504" indent="-603504">
              <a:buClr>
                <a:srgbClr val="555B66"/>
              </a:buClr>
              <a:buSzPct val="100000"/>
              <a:buFont typeface="Calibri"/>
              <a:buChar char="–"/>
            </a:pPr>
            <a:r>
              <a:rPr sz="2200" b="0" i="1" dirty="0">
                <a:solidFill>
                  <a:srgbClr val="0B2B4E"/>
                </a:solidFill>
                <a:latin typeface="Cambria Math"/>
              </a:rPr>
              <a:t>TC</a:t>
            </a:r>
            <a:r>
              <a:rPr sz="2200" b="0" i="0" dirty="0">
                <a:solidFill>
                  <a:srgbClr val="0B2B4E"/>
                </a:solidFill>
                <a:latin typeface="Cambria Math"/>
              </a:rPr>
              <a:t> = 60,000 + 135 · 662.5 + 0.2 · 662.</a:t>
            </a:r>
            <a:r>
              <a:rPr lang="en-US" sz="2200" b="0" i="0" dirty="0">
                <a:solidFill>
                  <a:srgbClr val="0B2B4E"/>
                </a:solidFill>
                <a:latin typeface="Cambria Math"/>
              </a:rPr>
              <a:t>5</a:t>
            </a:r>
            <a:r>
              <a:rPr lang="en-US" sz="2200" b="0" i="0" baseline="30000" dirty="0">
                <a:solidFill>
                  <a:srgbClr val="0B2B4E"/>
                </a:solidFill>
                <a:latin typeface="Cambria Math"/>
              </a:rPr>
              <a:t>2</a:t>
            </a:r>
            <a:r>
              <a:rPr sz="2200" b="0" i="0" dirty="0">
                <a:solidFill>
                  <a:srgbClr val="0B2B4E"/>
                </a:solidFill>
                <a:latin typeface="Cambria Math"/>
              </a:rPr>
              <a:t> = 237,218.75</a:t>
            </a:r>
          </a:p>
        </p:txBody>
      </p:sp>
      <p:sp>
        <p:nvSpPr>
          <p:cNvPr id="14" name="G1_3"/>
          <p:cNvSpPr txBox="1"/>
          <p:nvPr/>
        </p:nvSpPr>
        <p:spPr>
          <a:xfrm>
            <a:off x="1234440" y="2871216"/>
            <a:ext cx="9875520" cy="457200"/>
          </a:xfrm>
          <a:prstGeom prst="rect">
            <a:avLst/>
          </a:prstGeom>
          <a:noFill/>
        </p:spPr>
        <p:txBody>
          <a:bodyPr wrap="square" lIns="0" tIns="0" rIns="0" bIns="0" anchor="t">
            <a:spAutoFit/>
          </a:bodyPr>
          <a:lstStyle/>
          <a:p>
            <a:pPr marL="603504" indent="-603504">
              <a:buClr>
                <a:srgbClr val="555B66"/>
              </a:buClr>
              <a:buSzPct val="100000"/>
              <a:buFont typeface="Calibri"/>
              <a:buChar char="–"/>
            </a:pPr>
            <a:r>
              <a:rPr sz="2200" b="0" i="0">
                <a:solidFill>
                  <a:srgbClr val="0B2B4E"/>
                </a:solidFill>
                <a:latin typeface="Cambria Math"/>
              </a:rPr>
              <a:t>Profit = 265,000 − 237,218.75 = 27,781.25</a:t>
            </a:r>
          </a:p>
        </p:txBody>
      </p:sp>
      <p:sp>
        <p:nvSpPr>
          <p:cNvPr id="15" name="G2_0"/>
          <p:cNvSpPr txBox="1"/>
          <p:nvPr/>
        </p:nvSpPr>
        <p:spPr>
          <a:xfrm>
            <a:off x="640080" y="3493008"/>
            <a:ext cx="1060704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Profit = (</a:t>
            </a:r>
            <a:r>
              <a:rPr sz="2400" b="0" i="1" dirty="0">
                <a:solidFill>
                  <a:srgbClr val="0B2B4E"/>
                </a:solidFill>
                <a:latin typeface="Cambria Math"/>
              </a:rPr>
              <a:t>P</a:t>
            </a:r>
            <a:r>
              <a:rPr sz="2400" b="0" i="0" dirty="0">
                <a:solidFill>
                  <a:srgbClr val="0B2B4E"/>
                </a:solidFill>
                <a:latin typeface="Cambria Math"/>
              </a:rPr>
              <a:t> − </a:t>
            </a:r>
            <a:r>
              <a:rPr sz="2400" b="0" i="1" dirty="0">
                <a:solidFill>
                  <a:srgbClr val="0B2B4E"/>
                </a:solidFill>
                <a:latin typeface="Cambria Math"/>
              </a:rPr>
              <a:t>ATC</a:t>
            </a:r>
            <a:r>
              <a:rPr lang="en-US" sz="2400" b="0" i="1" dirty="0">
                <a:solidFill>
                  <a:srgbClr val="0B2B4E"/>
                </a:solidFill>
                <a:latin typeface="Cambria Math"/>
              </a:rPr>
              <a:t> </a:t>
            </a:r>
            <a:r>
              <a:rPr sz="2400" b="0" i="0" dirty="0">
                <a:solidFill>
                  <a:srgbClr val="0B2B4E"/>
                </a:solidFill>
                <a:latin typeface="Cambria Math"/>
              </a:rPr>
              <a:t>) · </a:t>
            </a:r>
            <a:r>
              <a:rPr sz="2400" b="0" i="1" dirty="0">
                <a:solidFill>
                  <a:srgbClr val="0B2B4E"/>
                </a:solidFill>
                <a:latin typeface="Cambria Math"/>
              </a:rPr>
              <a:t>Q</a:t>
            </a:r>
          </a:p>
        </p:txBody>
      </p:sp>
      <p:sp>
        <p:nvSpPr>
          <p:cNvPr id="16" name="G2_1"/>
          <p:cNvSpPr txBox="1"/>
          <p:nvPr/>
        </p:nvSpPr>
        <p:spPr>
          <a:xfrm>
            <a:off x="1234440" y="3995928"/>
            <a:ext cx="365760" cy="457200"/>
          </a:xfrm>
          <a:prstGeom prst="rect">
            <a:avLst/>
          </a:prstGeom>
          <a:noFill/>
        </p:spPr>
        <p:txBody>
          <a:bodyPr wrap="square" lIns="0" tIns="0" rIns="0" bIns="0" anchor="ctr">
            <a:spAutoFit/>
          </a:bodyPr>
          <a:lstStyle/>
          <a:p>
            <a:pPr algn="l"/>
            <a:r>
              <a:rPr sz="2200" b="0" i="0">
                <a:solidFill>
                  <a:srgbClr val="555B66"/>
                </a:solidFill>
                <a:latin typeface="Calibri"/>
              </a:rPr>
              <a:t>–</a:t>
            </a:r>
          </a:p>
        </p:txBody>
      </p:sp>
      <p:sp>
        <p:nvSpPr>
          <p:cNvPr id="17" name="G2_2"/>
          <p:cNvSpPr txBox="1"/>
          <p:nvPr/>
        </p:nvSpPr>
        <p:spPr>
          <a:xfrm>
            <a:off x="1463040" y="3995928"/>
            <a:ext cx="1298448" cy="457200"/>
          </a:xfrm>
          <a:prstGeom prst="rect">
            <a:avLst/>
          </a:prstGeom>
          <a:noFill/>
        </p:spPr>
        <p:txBody>
          <a:bodyPr wrap="square" lIns="0" tIns="0" rIns="0" bIns="0" anchor="ctr">
            <a:spAutoFit/>
          </a:bodyPr>
          <a:lstStyle/>
          <a:p>
            <a:pPr algn="r"/>
            <a:r>
              <a:rPr sz="2200" b="0" i="1">
                <a:solidFill>
                  <a:srgbClr val="0B2B4E"/>
                </a:solidFill>
                <a:latin typeface="Cambria Math"/>
              </a:rPr>
              <a:t>ATC</a:t>
            </a:r>
            <a:r>
              <a:rPr sz="2200" b="0" i="0">
                <a:solidFill>
                  <a:srgbClr val="0B2B4E"/>
                </a:solidFill>
                <a:latin typeface="Cambria Math"/>
              </a:rPr>
              <a:t> =</a:t>
            </a:r>
          </a:p>
        </p:txBody>
      </p:sp>
      <p:sp>
        <p:nvSpPr>
          <p:cNvPr id="18" name="G2_3"/>
          <p:cNvSpPr txBox="1"/>
          <p:nvPr/>
        </p:nvSpPr>
        <p:spPr>
          <a:xfrm>
            <a:off x="2752344" y="3895344"/>
            <a:ext cx="566928" cy="292608"/>
          </a:xfrm>
          <a:prstGeom prst="rect">
            <a:avLst/>
          </a:prstGeom>
          <a:noFill/>
        </p:spPr>
        <p:txBody>
          <a:bodyPr wrap="square" lIns="0" tIns="0" rIns="0" bIns="0" anchor="ctr">
            <a:spAutoFit/>
          </a:bodyPr>
          <a:lstStyle/>
          <a:p>
            <a:pPr algn="ctr"/>
            <a:r>
              <a:rPr sz="1400" b="0" i="1">
                <a:solidFill>
                  <a:srgbClr val="0B2B4E"/>
                </a:solidFill>
                <a:latin typeface="Cambria Math"/>
              </a:rPr>
              <a:t>TC</a:t>
            </a:r>
          </a:p>
        </p:txBody>
      </p:sp>
      <p:sp>
        <p:nvSpPr>
          <p:cNvPr id="19" name="G2_4"/>
          <p:cNvSpPr txBox="1"/>
          <p:nvPr/>
        </p:nvSpPr>
        <p:spPr>
          <a:xfrm>
            <a:off x="2752344" y="4251960"/>
            <a:ext cx="566928" cy="292608"/>
          </a:xfrm>
          <a:prstGeom prst="rect">
            <a:avLst/>
          </a:prstGeom>
          <a:noFill/>
        </p:spPr>
        <p:txBody>
          <a:bodyPr wrap="square" lIns="0" tIns="0" rIns="0" bIns="0" anchor="ctr">
            <a:spAutoFit/>
          </a:bodyPr>
          <a:lstStyle/>
          <a:p>
            <a:pPr algn="ctr"/>
            <a:r>
              <a:rPr sz="1400" b="0" i="1">
                <a:solidFill>
                  <a:srgbClr val="0B2B4E"/>
                </a:solidFill>
                <a:latin typeface="Cambria Math"/>
              </a:rPr>
              <a:t>Q</a:t>
            </a:r>
          </a:p>
        </p:txBody>
      </p:sp>
      <p:cxnSp>
        <p:nvCxnSpPr>
          <p:cNvPr id="20" name="G2_5"/>
          <p:cNvCxnSpPr/>
          <p:nvPr/>
        </p:nvCxnSpPr>
        <p:spPr>
          <a:xfrm>
            <a:off x="2807208" y="4224528"/>
            <a:ext cx="457200" cy="0"/>
          </a:xfrm>
          <a:prstGeom prst="line">
            <a:avLst/>
          </a:prstGeom>
          <a:ln w="1778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21" name="G2_6"/>
          <p:cNvSpPr txBox="1"/>
          <p:nvPr/>
        </p:nvSpPr>
        <p:spPr>
          <a:xfrm>
            <a:off x="3374136" y="3995928"/>
            <a:ext cx="310896" cy="457200"/>
          </a:xfrm>
          <a:prstGeom prst="rect">
            <a:avLst/>
          </a:prstGeom>
          <a:noFill/>
        </p:spPr>
        <p:txBody>
          <a:bodyPr wrap="square" lIns="0" tIns="0" rIns="0" bIns="0" anchor="ctr">
            <a:spAutoFit/>
          </a:bodyPr>
          <a:lstStyle/>
          <a:p>
            <a:pPr algn="l"/>
            <a:r>
              <a:rPr sz="2200" b="0" i="0">
                <a:solidFill>
                  <a:srgbClr val="0B2B4E"/>
                </a:solidFill>
                <a:latin typeface="Cambria Math"/>
              </a:rPr>
              <a:t>=</a:t>
            </a:r>
          </a:p>
        </p:txBody>
      </p:sp>
      <p:sp>
        <p:nvSpPr>
          <p:cNvPr id="22" name="G2_7"/>
          <p:cNvSpPr txBox="1"/>
          <p:nvPr/>
        </p:nvSpPr>
        <p:spPr>
          <a:xfrm>
            <a:off x="3666744" y="3895344"/>
            <a:ext cx="1298448" cy="292608"/>
          </a:xfrm>
          <a:prstGeom prst="rect">
            <a:avLst/>
          </a:prstGeom>
          <a:noFill/>
        </p:spPr>
        <p:txBody>
          <a:bodyPr wrap="square" lIns="0" tIns="0" rIns="0" bIns="0" anchor="ctr">
            <a:spAutoFit/>
          </a:bodyPr>
          <a:lstStyle/>
          <a:p>
            <a:pPr algn="ctr"/>
            <a:r>
              <a:rPr sz="1400" b="0" i="0">
                <a:solidFill>
                  <a:srgbClr val="0B2B4E"/>
                </a:solidFill>
                <a:latin typeface="Cambria Math"/>
              </a:rPr>
              <a:t>237,218.75</a:t>
            </a:r>
          </a:p>
        </p:txBody>
      </p:sp>
      <p:sp>
        <p:nvSpPr>
          <p:cNvPr id="23" name="G2_8"/>
          <p:cNvSpPr txBox="1"/>
          <p:nvPr/>
        </p:nvSpPr>
        <p:spPr>
          <a:xfrm>
            <a:off x="3666744" y="4251960"/>
            <a:ext cx="1298448" cy="292608"/>
          </a:xfrm>
          <a:prstGeom prst="rect">
            <a:avLst/>
          </a:prstGeom>
          <a:noFill/>
        </p:spPr>
        <p:txBody>
          <a:bodyPr wrap="square" lIns="0" tIns="0" rIns="0" bIns="0" anchor="ctr">
            <a:spAutoFit/>
          </a:bodyPr>
          <a:lstStyle/>
          <a:p>
            <a:pPr algn="ctr"/>
            <a:r>
              <a:rPr sz="1400" b="0" i="0">
                <a:solidFill>
                  <a:srgbClr val="0B2B4E"/>
                </a:solidFill>
                <a:latin typeface="Cambria Math"/>
              </a:rPr>
              <a:t>662.5</a:t>
            </a:r>
          </a:p>
        </p:txBody>
      </p:sp>
      <p:cxnSp>
        <p:nvCxnSpPr>
          <p:cNvPr id="24" name="G2_9"/>
          <p:cNvCxnSpPr/>
          <p:nvPr/>
        </p:nvCxnSpPr>
        <p:spPr>
          <a:xfrm>
            <a:off x="3721607" y="4224528"/>
            <a:ext cx="1188721" cy="0"/>
          </a:xfrm>
          <a:prstGeom prst="line">
            <a:avLst/>
          </a:prstGeom>
          <a:ln w="1778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25" name="G2_10"/>
          <p:cNvSpPr txBox="1"/>
          <p:nvPr/>
        </p:nvSpPr>
        <p:spPr>
          <a:xfrm>
            <a:off x="5020055" y="3995928"/>
            <a:ext cx="2194560" cy="457200"/>
          </a:xfrm>
          <a:prstGeom prst="rect">
            <a:avLst/>
          </a:prstGeom>
          <a:noFill/>
        </p:spPr>
        <p:txBody>
          <a:bodyPr wrap="square" lIns="0" tIns="0" rIns="0" bIns="0" anchor="ctr">
            <a:spAutoFit/>
          </a:bodyPr>
          <a:lstStyle/>
          <a:p>
            <a:pPr algn="l"/>
            <a:r>
              <a:rPr sz="2200" b="0" i="0">
                <a:solidFill>
                  <a:srgbClr val="0B2B4E"/>
                </a:solidFill>
                <a:latin typeface="Cambria Math"/>
              </a:rPr>
              <a:t>= 358.066</a:t>
            </a:r>
          </a:p>
        </p:txBody>
      </p:sp>
      <p:sp>
        <p:nvSpPr>
          <p:cNvPr id="26" name="G2_11"/>
          <p:cNvSpPr txBox="1"/>
          <p:nvPr/>
        </p:nvSpPr>
        <p:spPr>
          <a:xfrm>
            <a:off x="1234440" y="4700016"/>
            <a:ext cx="9875520" cy="457200"/>
          </a:xfrm>
          <a:prstGeom prst="rect">
            <a:avLst/>
          </a:prstGeom>
          <a:noFill/>
        </p:spPr>
        <p:txBody>
          <a:bodyPr wrap="square" lIns="0" tIns="0" rIns="0" bIns="0" anchor="t">
            <a:spAutoFit/>
          </a:bodyPr>
          <a:lstStyle/>
          <a:p>
            <a:pPr marL="603504" indent="-603504">
              <a:buClr>
                <a:srgbClr val="555B66"/>
              </a:buClr>
              <a:buSzPct val="100000"/>
              <a:buFont typeface="Calibri"/>
              <a:buChar char="–"/>
            </a:pPr>
            <a:r>
              <a:rPr sz="2200" b="0" i="0">
                <a:solidFill>
                  <a:srgbClr val="0B2B4E"/>
                </a:solidFill>
                <a:latin typeface="Cambria Math"/>
              </a:rPr>
              <a:t>Profit = (400 − 358.066) · 662.5 = 27,781.25</a:t>
            </a:r>
          </a:p>
        </p:txBody>
      </p:sp>
      <p:sp>
        <p:nvSpPr>
          <p:cNvPr id="27" name="G3_0"/>
          <p:cNvSpPr txBox="1"/>
          <p:nvPr/>
        </p:nvSpPr>
        <p:spPr>
          <a:xfrm>
            <a:off x="640079" y="5303520"/>
            <a:ext cx="9579685"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The Yi family makes </a:t>
            </a:r>
            <a:r>
              <a:rPr sz="2400" b="1" i="0" dirty="0">
                <a:solidFill>
                  <a:srgbClr val="0B2B4E"/>
                </a:solidFill>
                <a:latin typeface="Calibri"/>
              </a:rPr>
              <a:t>positive</a:t>
            </a:r>
            <a:r>
              <a:rPr sz="2400" b="0" i="0" dirty="0">
                <a:solidFill>
                  <a:srgbClr val="0B2B4E"/>
                </a:solidFill>
                <a:latin typeface="Calibri"/>
              </a:rPr>
              <a:t> economic profit at the optimal output level</a:t>
            </a:r>
          </a:p>
        </p:txBody>
      </p:sp>
      <p:sp>
        <p:nvSpPr>
          <p:cNvPr id="28" name="Pentagon 27">
            <a:extLst>
              <a:ext uri="{FF2B5EF4-FFF2-40B4-BE49-F238E27FC236}">
                <a16:creationId xmlns:a16="http://schemas.microsoft.com/office/drawing/2014/main" id="{A806D892-F6B2-5ED8-D0DA-32F935228887}"/>
              </a:ext>
            </a:extLst>
          </p:cNvPr>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Perfect Competition · </a:t>
            </a:r>
            <a:r>
              <a:rPr lang="en-US" sz="1600" b="1" dirty="0">
                <a:solidFill>
                  <a:srgbClr val="FFFFFF"/>
                </a:solidFill>
              </a:rPr>
              <a:t>Profit Maximization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Maximizing </a:t>
            </a:r>
            <a:r>
              <a:rPr lang="en-US" sz="3000" b="1" i="0" dirty="0">
                <a:solidFill>
                  <a:srgbClr val="0B2B4E"/>
                </a:solidFill>
                <a:latin typeface="Calibri"/>
              </a:rPr>
              <a:t>P</a:t>
            </a:r>
            <a:r>
              <a:rPr sz="3000" b="1" i="0" dirty="0">
                <a:solidFill>
                  <a:srgbClr val="0B2B4E"/>
                </a:solidFill>
                <a:latin typeface="Calibri"/>
              </a:rPr>
              <a:t>rofits in the </a:t>
            </a:r>
            <a:r>
              <a:rPr lang="en-US" sz="3000" b="1" i="0" dirty="0">
                <a:solidFill>
                  <a:srgbClr val="0B2B4E"/>
                </a:solidFill>
                <a:latin typeface="Calibri"/>
              </a:rPr>
              <a:t>S</a:t>
            </a:r>
            <a:r>
              <a:rPr sz="3000" b="1" i="0" dirty="0">
                <a:solidFill>
                  <a:srgbClr val="0B2B4E"/>
                </a:solidFill>
                <a:latin typeface="Calibri"/>
              </a:rPr>
              <a:t>hort </a:t>
            </a:r>
            <a:r>
              <a:rPr lang="en-US" sz="3000" b="1" dirty="0">
                <a:solidFill>
                  <a:srgbClr val="0B2B4E"/>
                </a:solidFill>
                <a:latin typeface="Calibri"/>
              </a:rPr>
              <a:t>R</a:t>
            </a:r>
            <a:r>
              <a:rPr sz="3000" b="1" i="0" dirty="0">
                <a:solidFill>
                  <a:srgbClr val="0B2B4E"/>
                </a:solidFill>
                <a:latin typeface="Calibri"/>
              </a:rPr>
              <a:t>un</a:t>
            </a:r>
            <a:r>
              <a:rPr lang="en-US" sz="3000" b="1" i="0" dirty="0">
                <a:solidFill>
                  <a:srgbClr val="0B2B4E"/>
                </a:solidFill>
                <a:latin typeface="Calibri"/>
              </a:rPr>
              <a:t>: G</a:t>
            </a:r>
            <a:r>
              <a:rPr sz="3000" b="1" i="0" dirty="0">
                <a:solidFill>
                  <a:srgbClr val="0B2B4E"/>
                </a:solidFill>
                <a:latin typeface="Calibri"/>
              </a:rPr>
              <a:t>eneral </a:t>
            </a:r>
            <a:r>
              <a:rPr lang="en-US" sz="3000" b="1" dirty="0">
                <a:solidFill>
                  <a:srgbClr val="0B2B4E"/>
                </a:solidFill>
                <a:latin typeface="Calibri"/>
              </a:rPr>
              <a:t>C</a:t>
            </a:r>
            <a:r>
              <a:rPr sz="3000" b="1" i="0" dirty="0">
                <a:solidFill>
                  <a:srgbClr val="0B2B4E"/>
                </a:solidFill>
                <a:latin typeface="Calibri"/>
              </a:rPr>
              <a:t>ase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23</a:t>
            </a:r>
          </a:p>
        </p:txBody>
      </p:sp>
      <p:grpSp>
        <p:nvGrpSpPr>
          <p:cNvPr id="182" name="Group 181">
            <a:extLst>
              <a:ext uri="{FF2B5EF4-FFF2-40B4-BE49-F238E27FC236}">
                <a16:creationId xmlns:a16="http://schemas.microsoft.com/office/drawing/2014/main" id="{DCDDB7CC-30BF-1BD8-9475-FF7F98B44548}"/>
              </a:ext>
            </a:extLst>
          </p:cNvPr>
          <p:cNvGrpSpPr/>
          <p:nvPr/>
        </p:nvGrpSpPr>
        <p:grpSpPr>
          <a:xfrm>
            <a:off x="8827302" y="2112774"/>
            <a:ext cx="1775867" cy="1256429"/>
            <a:chOff x="6655601" y="1255523"/>
            <a:chExt cx="1775867" cy="1256429"/>
          </a:xfrm>
        </p:grpSpPr>
        <p:sp>
          <p:nvSpPr>
            <p:cNvPr id="183" name="Arc 182">
              <a:extLst>
                <a:ext uri="{FF2B5EF4-FFF2-40B4-BE49-F238E27FC236}">
                  <a16:creationId xmlns:a16="http://schemas.microsoft.com/office/drawing/2014/main" id="{B06DD229-F050-D582-BAF9-AD45018B28D3}"/>
                </a:ext>
              </a:extLst>
            </p:cNvPr>
            <p:cNvSpPr/>
            <p:nvPr/>
          </p:nvSpPr>
          <p:spPr>
            <a:xfrm rot="10800000">
              <a:off x="6655601" y="1255523"/>
              <a:ext cx="1479793" cy="1256429"/>
            </a:xfrm>
            <a:prstGeom prst="arc">
              <a:avLst>
                <a:gd name="adj1" fmla="val 10885267"/>
                <a:gd name="adj2" fmla="val 21500385"/>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184" name="TextBox 183">
              <a:extLst>
                <a:ext uri="{FF2B5EF4-FFF2-40B4-BE49-F238E27FC236}">
                  <a16:creationId xmlns:a16="http://schemas.microsoft.com/office/drawing/2014/main" id="{BE96F415-32BB-35FD-9468-297A844D18BC}"/>
                </a:ext>
              </a:extLst>
            </p:cNvPr>
            <p:cNvSpPr txBox="1"/>
            <p:nvPr/>
          </p:nvSpPr>
          <p:spPr>
            <a:xfrm>
              <a:off x="7940529" y="1664205"/>
              <a:ext cx="490939"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endParaRPr lang="en-US" sz="1200" dirty="0">
                <a:latin typeface="Whitney Book" pitchFamily="50" charset="0"/>
                <a:cs typeface="Whitney Book" pitchFamily="50" charset="0"/>
              </a:endParaRPr>
            </a:p>
          </p:txBody>
        </p:sp>
      </p:grpSp>
      <p:grpSp>
        <p:nvGrpSpPr>
          <p:cNvPr id="185" name="Group 184">
            <a:extLst>
              <a:ext uri="{FF2B5EF4-FFF2-40B4-BE49-F238E27FC236}">
                <a16:creationId xmlns:a16="http://schemas.microsoft.com/office/drawing/2014/main" id="{CC68C519-C41B-72F0-14E2-5608ADCB9B6D}"/>
              </a:ext>
            </a:extLst>
          </p:cNvPr>
          <p:cNvGrpSpPr/>
          <p:nvPr/>
        </p:nvGrpSpPr>
        <p:grpSpPr>
          <a:xfrm>
            <a:off x="1120526" y="2930050"/>
            <a:ext cx="1074364" cy="1051798"/>
            <a:chOff x="501401" y="2072800"/>
            <a:chExt cx="1074364" cy="1051798"/>
          </a:xfrm>
        </p:grpSpPr>
        <p:sp>
          <p:nvSpPr>
            <p:cNvPr id="186" name="Rectangle 185">
              <a:extLst>
                <a:ext uri="{FF2B5EF4-FFF2-40B4-BE49-F238E27FC236}">
                  <a16:creationId xmlns:a16="http://schemas.microsoft.com/office/drawing/2014/main" id="{83B877C5-D931-A146-97A7-2146CDD7AF76}"/>
                </a:ext>
              </a:extLst>
            </p:cNvPr>
            <p:cNvSpPr/>
            <p:nvPr/>
          </p:nvSpPr>
          <p:spPr>
            <a:xfrm>
              <a:off x="501401" y="2789552"/>
              <a:ext cx="849247" cy="335046"/>
            </a:xfrm>
            <a:prstGeom prst="rect">
              <a:avLst/>
            </a:prstGeom>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Whitney Book" pitchFamily="50" charset="0"/>
                <a:cs typeface="Whitney Book" pitchFamily="50" charset="0"/>
              </a:endParaRPr>
            </a:p>
          </p:txBody>
        </p:sp>
        <p:cxnSp>
          <p:nvCxnSpPr>
            <p:cNvPr id="187" name="Straight Arrow Connector 186">
              <a:extLst>
                <a:ext uri="{FF2B5EF4-FFF2-40B4-BE49-F238E27FC236}">
                  <a16:creationId xmlns:a16="http://schemas.microsoft.com/office/drawing/2014/main" id="{AFD2B811-2F45-8A16-15E7-A03D23E8FAF2}"/>
                </a:ext>
              </a:extLst>
            </p:cNvPr>
            <p:cNvCxnSpPr/>
            <p:nvPr/>
          </p:nvCxnSpPr>
          <p:spPr>
            <a:xfrm>
              <a:off x="1040033" y="2331992"/>
              <a:ext cx="1" cy="60075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88" name="TextBox 187">
              <a:extLst>
                <a:ext uri="{FF2B5EF4-FFF2-40B4-BE49-F238E27FC236}">
                  <a16:creationId xmlns:a16="http://schemas.microsoft.com/office/drawing/2014/main" id="{418F5492-C700-8630-80A4-8390EDD27A05}"/>
                </a:ext>
              </a:extLst>
            </p:cNvPr>
            <p:cNvSpPr txBox="1"/>
            <p:nvPr/>
          </p:nvSpPr>
          <p:spPr>
            <a:xfrm>
              <a:off x="604362" y="2072800"/>
              <a:ext cx="971403" cy="276999"/>
            </a:xfrm>
            <a:prstGeom prst="rect">
              <a:avLst/>
            </a:prstGeom>
            <a:noFill/>
          </p:spPr>
          <p:txBody>
            <a:bodyPr wrap="square" rtlCol="0">
              <a:spAutoFit/>
            </a:bodyPr>
            <a:lstStyle/>
            <a:p>
              <a:r>
                <a:rPr lang="en-US" sz="1200" dirty="0">
                  <a:latin typeface="Whitney Book" pitchFamily="50" charset="0"/>
                  <a:cs typeface="Whitney Book" pitchFamily="50" charset="0"/>
                </a:rPr>
                <a:t>Profit, </a:t>
              </a:r>
              <a:r>
                <a:rPr lang="el-GR" sz="1200" dirty="0">
                  <a:latin typeface="Whitney Book" pitchFamily="50" charset="0"/>
                  <a:cs typeface="Whitney Book" pitchFamily="50" charset="0"/>
                </a:rPr>
                <a:t>π</a:t>
              </a:r>
              <a:r>
                <a:rPr lang="en-US" sz="1200" dirty="0">
                  <a:latin typeface="Whitney Book" pitchFamily="50" charset="0"/>
                  <a:cs typeface="Whitney Book" pitchFamily="50" charset="0"/>
                </a:rPr>
                <a:t> &gt; 0</a:t>
              </a:r>
            </a:p>
          </p:txBody>
        </p:sp>
      </p:grpSp>
      <p:grpSp>
        <p:nvGrpSpPr>
          <p:cNvPr id="189" name="Group 188">
            <a:extLst>
              <a:ext uri="{FF2B5EF4-FFF2-40B4-BE49-F238E27FC236}">
                <a16:creationId xmlns:a16="http://schemas.microsoft.com/office/drawing/2014/main" id="{EA4C2D65-5EB1-A841-D4C5-F59DBC7FB423}"/>
              </a:ext>
            </a:extLst>
          </p:cNvPr>
          <p:cNvGrpSpPr/>
          <p:nvPr/>
        </p:nvGrpSpPr>
        <p:grpSpPr>
          <a:xfrm>
            <a:off x="619125" y="3850328"/>
            <a:ext cx="1366938" cy="276999"/>
            <a:chOff x="0" y="2993077"/>
            <a:chExt cx="1366938" cy="276999"/>
          </a:xfrm>
        </p:grpSpPr>
        <p:sp>
          <p:nvSpPr>
            <p:cNvPr id="190" name="TextBox 189">
              <a:extLst>
                <a:ext uri="{FF2B5EF4-FFF2-40B4-BE49-F238E27FC236}">
                  <a16:creationId xmlns:a16="http://schemas.microsoft.com/office/drawing/2014/main" id="{8D88430C-E7A1-C280-2C34-92E6B5C2EA78}"/>
                </a:ext>
              </a:extLst>
            </p:cNvPr>
            <p:cNvSpPr txBox="1"/>
            <p:nvPr/>
          </p:nvSpPr>
          <p:spPr>
            <a:xfrm>
              <a:off x="0" y="2993077"/>
              <a:ext cx="563055"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p>
          </p:txBody>
        </p:sp>
        <p:cxnSp>
          <p:nvCxnSpPr>
            <p:cNvPr id="191" name="Straight Connector 190">
              <a:extLst>
                <a:ext uri="{FF2B5EF4-FFF2-40B4-BE49-F238E27FC236}">
                  <a16:creationId xmlns:a16="http://schemas.microsoft.com/office/drawing/2014/main" id="{BC97B984-B10A-A923-27BC-66D24C17846C}"/>
                </a:ext>
              </a:extLst>
            </p:cNvPr>
            <p:cNvCxnSpPr/>
            <p:nvPr/>
          </p:nvCxnSpPr>
          <p:spPr>
            <a:xfrm>
              <a:off x="508380" y="3124599"/>
              <a:ext cx="85855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grpSp>
      <p:grpSp>
        <p:nvGrpSpPr>
          <p:cNvPr id="192" name="Group 191">
            <a:extLst>
              <a:ext uri="{FF2B5EF4-FFF2-40B4-BE49-F238E27FC236}">
                <a16:creationId xmlns:a16="http://schemas.microsoft.com/office/drawing/2014/main" id="{1BD32E72-8695-0DDF-7A27-20AAB158E308}"/>
              </a:ext>
            </a:extLst>
          </p:cNvPr>
          <p:cNvGrpSpPr/>
          <p:nvPr/>
        </p:nvGrpSpPr>
        <p:grpSpPr>
          <a:xfrm>
            <a:off x="1134486" y="2725419"/>
            <a:ext cx="2334270" cy="1256429"/>
            <a:chOff x="515361" y="1868168"/>
            <a:chExt cx="2334270" cy="1256429"/>
          </a:xfrm>
        </p:grpSpPr>
        <p:sp>
          <p:nvSpPr>
            <p:cNvPr id="193" name="Arc 192">
              <a:extLst>
                <a:ext uri="{FF2B5EF4-FFF2-40B4-BE49-F238E27FC236}">
                  <a16:creationId xmlns:a16="http://schemas.microsoft.com/office/drawing/2014/main" id="{245FDE6A-8459-4D64-9B74-FB52B630DA10}"/>
                </a:ext>
              </a:extLst>
            </p:cNvPr>
            <p:cNvSpPr/>
            <p:nvPr/>
          </p:nvSpPr>
          <p:spPr>
            <a:xfrm rot="10800000">
              <a:off x="515361" y="1868168"/>
              <a:ext cx="1479793" cy="1256429"/>
            </a:xfrm>
            <a:prstGeom prst="arc">
              <a:avLst>
                <a:gd name="adj1" fmla="val 10885267"/>
                <a:gd name="adj2" fmla="val 21500385"/>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194" name="TextBox 193">
              <a:extLst>
                <a:ext uri="{FF2B5EF4-FFF2-40B4-BE49-F238E27FC236}">
                  <a16:creationId xmlns:a16="http://schemas.microsoft.com/office/drawing/2014/main" id="{BE1AE828-01D3-AA75-522A-04C795057EC3}"/>
                </a:ext>
              </a:extLst>
            </p:cNvPr>
            <p:cNvSpPr txBox="1"/>
            <p:nvPr/>
          </p:nvSpPr>
          <p:spPr>
            <a:xfrm>
              <a:off x="1786913" y="2081739"/>
              <a:ext cx="1062718" cy="461665"/>
            </a:xfrm>
            <a:prstGeom prst="rect">
              <a:avLst/>
            </a:prstGeom>
            <a:noFill/>
          </p:spPr>
          <p:txBody>
            <a:bodyPr wrap="square" rtlCol="0">
              <a:spAutoFit/>
            </a:bodyPr>
            <a:lstStyle/>
            <a:p>
              <a:r>
                <a:rPr lang="en-US" sz="1200" dirty="0">
                  <a:latin typeface="Whitney Book" pitchFamily="50" charset="0"/>
                  <a:cs typeface="Whitney Book" pitchFamily="50" charset="0"/>
                </a:rPr>
                <a:t>Average total cost </a:t>
              </a:r>
              <a:r>
                <a:rPr lang="en-US" sz="1200" i="1" dirty="0">
                  <a:latin typeface="Whitney Book" pitchFamily="50" charset="0"/>
                  <a:cs typeface="Whitney Book" pitchFamily="50" charset="0"/>
                </a:rPr>
                <a:t>ATC</a:t>
              </a:r>
              <a:endParaRPr lang="en-US" sz="1200" dirty="0">
                <a:latin typeface="Whitney Book" pitchFamily="50" charset="0"/>
                <a:cs typeface="Whitney Book" pitchFamily="50" charset="0"/>
              </a:endParaRPr>
            </a:p>
          </p:txBody>
        </p:sp>
      </p:grpSp>
      <p:grpSp>
        <p:nvGrpSpPr>
          <p:cNvPr id="195" name="Group 194">
            <a:extLst>
              <a:ext uri="{FF2B5EF4-FFF2-40B4-BE49-F238E27FC236}">
                <a16:creationId xmlns:a16="http://schemas.microsoft.com/office/drawing/2014/main" id="{80E91BB6-4E59-805C-D5F8-1E54B0A10276}"/>
              </a:ext>
            </a:extLst>
          </p:cNvPr>
          <p:cNvGrpSpPr/>
          <p:nvPr/>
        </p:nvGrpSpPr>
        <p:grpSpPr>
          <a:xfrm>
            <a:off x="1134489" y="2555507"/>
            <a:ext cx="1762488" cy="1810714"/>
            <a:chOff x="515364" y="1698257"/>
            <a:chExt cx="1762488" cy="1810714"/>
          </a:xfrm>
        </p:grpSpPr>
        <p:sp>
          <p:nvSpPr>
            <p:cNvPr id="196" name="Freeform 195">
              <a:extLst>
                <a:ext uri="{FF2B5EF4-FFF2-40B4-BE49-F238E27FC236}">
                  <a16:creationId xmlns:a16="http://schemas.microsoft.com/office/drawing/2014/main" id="{49454C56-8BBD-8D41-5A30-5573CA3E64E9}"/>
                </a:ext>
              </a:extLst>
            </p:cNvPr>
            <p:cNvSpPr/>
            <p:nvPr/>
          </p:nvSpPr>
          <p:spPr>
            <a:xfrm>
              <a:off x="515364" y="1972874"/>
              <a:ext cx="1193606" cy="1536097"/>
            </a:xfrm>
            <a:custGeom>
              <a:avLst/>
              <a:gdLst>
                <a:gd name="connsiteX0" fmla="*/ 0 w 970242"/>
                <a:gd name="connsiteY0" fmla="*/ 1026082 h 1621251"/>
                <a:gd name="connsiteX1" fmla="*/ 349008 w 970242"/>
                <a:gd name="connsiteY1" fmla="*/ 1577514 h 1621251"/>
                <a:gd name="connsiteX2" fmla="*/ 970242 w 970242"/>
                <a:gd name="connsiteY2" fmla="*/ 0 h 1621251"/>
              </a:gdLst>
              <a:ahLst/>
              <a:cxnLst>
                <a:cxn ang="0">
                  <a:pos x="connsiteX0" y="connsiteY0"/>
                </a:cxn>
                <a:cxn ang="0">
                  <a:pos x="connsiteX1" y="connsiteY1"/>
                </a:cxn>
                <a:cxn ang="0">
                  <a:pos x="connsiteX2" y="connsiteY2"/>
                </a:cxn>
              </a:cxnLst>
              <a:rect l="l" t="t" r="r" b="b"/>
              <a:pathLst>
                <a:path w="970242" h="1621251">
                  <a:moveTo>
                    <a:pt x="0" y="1026082"/>
                  </a:moveTo>
                  <a:cubicBezTo>
                    <a:pt x="93650" y="1387305"/>
                    <a:pt x="187301" y="1748528"/>
                    <a:pt x="349008" y="1577514"/>
                  </a:cubicBezTo>
                  <a:cubicBezTo>
                    <a:pt x="510715" y="1406500"/>
                    <a:pt x="740478" y="703250"/>
                    <a:pt x="970242"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latin typeface="Whitney Book" pitchFamily="50" charset="0"/>
                <a:cs typeface="Whitney Book" pitchFamily="50" charset="0"/>
              </a:endParaRPr>
            </a:p>
          </p:txBody>
        </p:sp>
        <p:sp>
          <p:nvSpPr>
            <p:cNvPr id="197" name="TextBox 196">
              <a:extLst>
                <a:ext uri="{FF2B5EF4-FFF2-40B4-BE49-F238E27FC236}">
                  <a16:creationId xmlns:a16="http://schemas.microsoft.com/office/drawing/2014/main" id="{50FD3260-E146-71CE-001C-81834EAA87F3}"/>
                </a:ext>
              </a:extLst>
            </p:cNvPr>
            <p:cNvSpPr txBox="1"/>
            <p:nvPr/>
          </p:nvSpPr>
          <p:spPr>
            <a:xfrm>
              <a:off x="1558897" y="1698257"/>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MC</a:t>
              </a:r>
            </a:p>
          </p:txBody>
        </p:sp>
      </p:grpSp>
      <p:cxnSp>
        <p:nvCxnSpPr>
          <p:cNvPr id="198" name="Straight Connector 197">
            <a:extLst>
              <a:ext uri="{FF2B5EF4-FFF2-40B4-BE49-F238E27FC236}">
                <a16:creationId xmlns:a16="http://schemas.microsoft.com/office/drawing/2014/main" id="{38807735-C61C-5724-9DCF-8561DF19841E}"/>
              </a:ext>
            </a:extLst>
          </p:cNvPr>
          <p:cNvCxnSpPr>
            <a:endCxn id="250" idx="4"/>
          </p:cNvCxnSpPr>
          <p:nvPr/>
        </p:nvCxnSpPr>
        <p:spPr>
          <a:xfrm flipV="1">
            <a:off x="1967445" y="3675199"/>
            <a:ext cx="2328" cy="1228033"/>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99" name="TextBox 198">
            <a:extLst>
              <a:ext uri="{FF2B5EF4-FFF2-40B4-BE49-F238E27FC236}">
                <a16:creationId xmlns:a16="http://schemas.microsoft.com/office/drawing/2014/main" id="{15814E9E-9860-B45E-8209-FE9FBB899962}"/>
              </a:ext>
            </a:extLst>
          </p:cNvPr>
          <p:cNvSpPr txBox="1"/>
          <p:nvPr/>
        </p:nvSpPr>
        <p:spPr>
          <a:xfrm>
            <a:off x="1818545" y="4903229"/>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Q*</a:t>
            </a:r>
          </a:p>
        </p:txBody>
      </p:sp>
      <p:grpSp>
        <p:nvGrpSpPr>
          <p:cNvPr id="200" name="Group 199">
            <a:extLst>
              <a:ext uri="{FF2B5EF4-FFF2-40B4-BE49-F238E27FC236}">
                <a16:creationId xmlns:a16="http://schemas.microsoft.com/office/drawing/2014/main" id="{10F89812-DAD8-695E-C407-3EF1E1A0B4EF}"/>
              </a:ext>
            </a:extLst>
          </p:cNvPr>
          <p:cNvGrpSpPr/>
          <p:nvPr/>
        </p:nvGrpSpPr>
        <p:grpSpPr>
          <a:xfrm>
            <a:off x="741259" y="1922689"/>
            <a:ext cx="2648983" cy="3301933"/>
            <a:chOff x="122133" y="1065439"/>
            <a:chExt cx="2648983" cy="3301933"/>
          </a:xfrm>
        </p:grpSpPr>
        <p:sp>
          <p:nvSpPr>
            <p:cNvPr id="201" name="TextBox 200">
              <a:extLst>
                <a:ext uri="{FF2B5EF4-FFF2-40B4-BE49-F238E27FC236}">
                  <a16:creationId xmlns:a16="http://schemas.microsoft.com/office/drawing/2014/main" id="{829A832C-7593-A2BB-FF4A-9C196AAA89EB}"/>
                </a:ext>
              </a:extLst>
            </p:cNvPr>
            <p:cNvSpPr txBox="1"/>
            <p:nvPr/>
          </p:nvSpPr>
          <p:spPr>
            <a:xfrm>
              <a:off x="122133" y="1065439"/>
              <a:ext cx="938831" cy="461665"/>
            </a:xfrm>
            <a:prstGeom prst="rect">
              <a:avLst/>
            </a:prstGeom>
            <a:noFill/>
          </p:spPr>
          <p:txBody>
            <a:bodyPr wrap="square" rtlCol="0">
              <a:spAutoFit/>
            </a:bodyPr>
            <a:lstStyle/>
            <a:p>
              <a:r>
                <a:rPr lang="en-US" sz="1200" dirty="0">
                  <a:latin typeface="Whitney Book" pitchFamily="50" charset="0"/>
                  <a:cs typeface="Whitney Book" pitchFamily="50" charset="0"/>
                </a:rPr>
                <a:t>Price &amp; cost ($/unit)</a:t>
              </a:r>
            </a:p>
          </p:txBody>
        </p:sp>
        <p:grpSp>
          <p:nvGrpSpPr>
            <p:cNvPr id="202" name="Group 201">
              <a:extLst>
                <a:ext uri="{FF2B5EF4-FFF2-40B4-BE49-F238E27FC236}">
                  <a16:creationId xmlns:a16="http://schemas.microsoft.com/office/drawing/2014/main" id="{10D510DD-900E-B305-56F9-12FD3BDEF91B}"/>
                </a:ext>
              </a:extLst>
            </p:cNvPr>
            <p:cNvGrpSpPr/>
            <p:nvPr/>
          </p:nvGrpSpPr>
          <p:grpSpPr>
            <a:xfrm>
              <a:off x="237306" y="1644807"/>
              <a:ext cx="2533810" cy="2722565"/>
              <a:chOff x="237306" y="1644807"/>
              <a:chExt cx="2533810" cy="2722565"/>
            </a:xfrm>
          </p:grpSpPr>
          <p:cxnSp>
            <p:nvCxnSpPr>
              <p:cNvPr id="203" name="Straight Arrow Connector 202">
                <a:extLst>
                  <a:ext uri="{FF2B5EF4-FFF2-40B4-BE49-F238E27FC236}">
                    <a16:creationId xmlns:a16="http://schemas.microsoft.com/office/drawing/2014/main" id="{21E3A938-45F0-CC2C-F4AB-C982342EC661}"/>
                  </a:ext>
                </a:extLst>
              </p:cNvPr>
              <p:cNvCxnSpPr/>
              <p:nvPr/>
            </p:nvCxnSpPr>
            <p:spPr>
              <a:xfrm flipV="1">
                <a:off x="501404" y="1644807"/>
                <a:ext cx="0" cy="24151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04" name="Straight Arrow Connector 203">
                <a:extLst>
                  <a:ext uri="{FF2B5EF4-FFF2-40B4-BE49-F238E27FC236}">
                    <a16:creationId xmlns:a16="http://schemas.microsoft.com/office/drawing/2014/main" id="{3F2575D7-0795-8232-F42B-27B540838D31}"/>
                  </a:ext>
                </a:extLst>
              </p:cNvPr>
              <p:cNvCxnSpPr/>
              <p:nvPr/>
            </p:nvCxnSpPr>
            <p:spPr>
              <a:xfrm>
                <a:off x="487444" y="4045981"/>
                <a:ext cx="2261569" cy="139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05" name="TextBox 204">
                <a:extLst>
                  <a:ext uri="{FF2B5EF4-FFF2-40B4-BE49-F238E27FC236}">
                    <a16:creationId xmlns:a16="http://schemas.microsoft.com/office/drawing/2014/main" id="{C557FECF-05F9-210B-9924-80FEA898DCAD}"/>
                  </a:ext>
                </a:extLst>
              </p:cNvPr>
              <p:cNvSpPr txBox="1"/>
              <p:nvPr/>
            </p:nvSpPr>
            <p:spPr>
              <a:xfrm>
                <a:off x="1960263" y="4090373"/>
                <a:ext cx="810853" cy="276999"/>
              </a:xfrm>
              <a:prstGeom prst="rect">
                <a:avLst/>
              </a:prstGeom>
              <a:noFill/>
            </p:spPr>
            <p:txBody>
              <a:bodyPr wrap="square" rtlCol="0">
                <a:spAutoFit/>
              </a:bodyPr>
              <a:lstStyle/>
              <a:p>
                <a:r>
                  <a:rPr lang="en-US" sz="1200" dirty="0">
                    <a:latin typeface="Whitney Book" pitchFamily="50" charset="0"/>
                    <a:cs typeface="Whitney Book" pitchFamily="50" charset="0"/>
                  </a:rPr>
                  <a:t>Quantity</a:t>
                </a:r>
              </a:p>
            </p:txBody>
          </p:sp>
          <p:sp>
            <p:nvSpPr>
              <p:cNvPr id="206" name="TextBox 205">
                <a:extLst>
                  <a:ext uri="{FF2B5EF4-FFF2-40B4-BE49-F238E27FC236}">
                    <a16:creationId xmlns:a16="http://schemas.microsoft.com/office/drawing/2014/main" id="{F0404761-046E-70DA-81E7-2321E4A859C4}"/>
                  </a:ext>
                </a:extLst>
              </p:cNvPr>
              <p:cNvSpPr txBox="1"/>
              <p:nvPr/>
            </p:nvSpPr>
            <p:spPr>
              <a:xfrm>
                <a:off x="237306" y="2655749"/>
                <a:ext cx="500245" cy="276999"/>
              </a:xfrm>
              <a:prstGeom prst="rect">
                <a:avLst/>
              </a:prstGeom>
              <a:noFill/>
            </p:spPr>
            <p:txBody>
              <a:bodyPr wrap="square" rtlCol="0">
                <a:spAutoFit/>
              </a:bodyPr>
              <a:lstStyle/>
              <a:p>
                <a:r>
                  <a:rPr lang="en-US" sz="1200" i="1" dirty="0">
                    <a:latin typeface="Whitney Book" pitchFamily="50" charset="0"/>
                    <a:cs typeface="Whitney Book" pitchFamily="50" charset="0"/>
                  </a:rPr>
                  <a:t>P</a:t>
                </a:r>
              </a:p>
            </p:txBody>
          </p:sp>
        </p:grpSp>
      </p:grpSp>
      <p:sp>
        <p:nvSpPr>
          <p:cNvPr id="207" name="TextBox 206">
            <a:extLst>
              <a:ext uri="{FF2B5EF4-FFF2-40B4-BE49-F238E27FC236}">
                <a16:creationId xmlns:a16="http://schemas.microsoft.com/office/drawing/2014/main" id="{23F66E5C-48FA-B2B5-3535-A42CD3E721FB}"/>
              </a:ext>
            </a:extLst>
          </p:cNvPr>
          <p:cNvSpPr txBox="1"/>
          <p:nvPr/>
        </p:nvSpPr>
        <p:spPr>
          <a:xfrm>
            <a:off x="1320994" y="1600251"/>
            <a:ext cx="1747345" cy="400110"/>
          </a:xfrm>
          <a:prstGeom prst="rect">
            <a:avLst/>
          </a:prstGeom>
          <a:noFill/>
        </p:spPr>
        <p:txBody>
          <a:bodyPr wrap="square" rtlCol="0">
            <a:spAutoFit/>
          </a:bodyPr>
          <a:lstStyle/>
          <a:p>
            <a:r>
              <a:rPr lang="en-US" sz="2000" dirty="0">
                <a:latin typeface="Whitney Book" pitchFamily="50" charset="0"/>
                <a:cs typeface="Whitney Book" pitchFamily="50" charset="0"/>
              </a:rPr>
              <a:t>Positive Profit</a:t>
            </a:r>
          </a:p>
        </p:txBody>
      </p:sp>
      <p:cxnSp>
        <p:nvCxnSpPr>
          <p:cNvPr id="208" name="Straight Connector 207">
            <a:extLst>
              <a:ext uri="{FF2B5EF4-FFF2-40B4-BE49-F238E27FC236}">
                <a16:creationId xmlns:a16="http://schemas.microsoft.com/office/drawing/2014/main" id="{ED509236-DA8F-2867-571E-C6FA9E7D4472}"/>
              </a:ext>
            </a:extLst>
          </p:cNvPr>
          <p:cNvCxnSpPr>
            <a:endCxn id="252" idx="4"/>
          </p:cNvCxnSpPr>
          <p:nvPr/>
        </p:nvCxnSpPr>
        <p:spPr>
          <a:xfrm flipV="1">
            <a:off x="5593447" y="3727406"/>
            <a:ext cx="2328" cy="1228033"/>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grpSp>
        <p:nvGrpSpPr>
          <p:cNvPr id="209" name="Group 208">
            <a:extLst>
              <a:ext uri="{FF2B5EF4-FFF2-40B4-BE49-F238E27FC236}">
                <a16:creationId xmlns:a16="http://schemas.microsoft.com/office/drawing/2014/main" id="{66607D6E-329A-B628-75F9-8E8AE79EC26D}"/>
              </a:ext>
            </a:extLst>
          </p:cNvPr>
          <p:cNvGrpSpPr/>
          <p:nvPr/>
        </p:nvGrpSpPr>
        <p:grpSpPr>
          <a:xfrm>
            <a:off x="4830257" y="2441769"/>
            <a:ext cx="1827680" cy="1256429"/>
            <a:chOff x="3534857" y="1584518"/>
            <a:chExt cx="1827680" cy="1256429"/>
          </a:xfrm>
        </p:grpSpPr>
        <p:sp>
          <p:nvSpPr>
            <p:cNvPr id="210" name="Arc 209">
              <a:extLst>
                <a:ext uri="{FF2B5EF4-FFF2-40B4-BE49-F238E27FC236}">
                  <a16:creationId xmlns:a16="http://schemas.microsoft.com/office/drawing/2014/main" id="{FCB63801-8683-3B6F-74F3-4277D20F59A4}"/>
                </a:ext>
              </a:extLst>
            </p:cNvPr>
            <p:cNvSpPr/>
            <p:nvPr/>
          </p:nvSpPr>
          <p:spPr>
            <a:xfrm rot="10800000">
              <a:off x="3534857" y="1584518"/>
              <a:ext cx="1479793" cy="1256429"/>
            </a:xfrm>
            <a:prstGeom prst="arc">
              <a:avLst>
                <a:gd name="adj1" fmla="val 10885267"/>
                <a:gd name="adj2" fmla="val 21500385"/>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211" name="TextBox 210">
              <a:extLst>
                <a:ext uri="{FF2B5EF4-FFF2-40B4-BE49-F238E27FC236}">
                  <a16:creationId xmlns:a16="http://schemas.microsoft.com/office/drawing/2014/main" id="{6F025967-C099-98B2-153B-D1ADF52F7D9D}"/>
                </a:ext>
              </a:extLst>
            </p:cNvPr>
            <p:cNvSpPr txBox="1"/>
            <p:nvPr/>
          </p:nvSpPr>
          <p:spPr>
            <a:xfrm>
              <a:off x="4848864" y="1981851"/>
              <a:ext cx="513673"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endParaRPr lang="en-US" sz="1200" dirty="0">
                <a:latin typeface="Whitney Book" pitchFamily="50" charset="0"/>
                <a:cs typeface="Whitney Book" pitchFamily="50" charset="0"/>
              </a:endParaRPr>
            </a:p>
          </p:txBody>
        </p:sp>
      </p:grpSp>
      <p:grpSp>
        <p:nvGrpSpPr>
          <p:cNvPr id="212" name="Group 211">
            <a:extLst>
              <a:ext uri="{FF2B5EF4-FFF2-40B4-BE49-F238E27FC236}">
                <a16:creationId xmlns:a16="http://schemas.microsoft.com/office/drawing/2014/main" id="{10827538-CE0E-57A2-9362-CBBC36F211FA}"/>
              </a:ext>
            </a:extLst>
          </p:cNvPr>
          <p:cNvGrpSpPr/>
          <p:nvPr/>
        </p:nvGrpSpPr>
        <p:grpSpPr>
          <a:xfrm>
            <a:off x="4760491" y="2607714"/>
            <a:ext cx="1762488" cy="1810714"/>
            <a:chOff x="3465091" y="1750464"/>
            <a:chExt cx="1762488" cy="1810714"/>
          </a:xfrm>
        </p:grpSpPr>
        <p:sp>
          <p:nvSpPr>
            <p:cNvPr id="213" name="Freeform 212">
              <a:extLst>
                <a:ext uri="{FF2B5EF4-FFF2-40B4-BE49-F238E27FC236}">
                  <a16:creationId xmlns:a16="http://schemas.microsoft.com/office/drawing/2014/main" id="{46AD0010-C353-1AA0-40E1-C85BDEFCB345}"/>
                </a:ext>
              </a:extLst>
            </p:cNvPr>
            <p:cNvSpPr/>
            <p:nvPr/>
          </p:nvSpPr>
          <p:spPr>
            <a:xfrm>
              <a:off x="3465091" y="2025081"/>
              <a:ext cx="1193606" cy="1536097"/>
            </a:xfrm>
            <a:custGeom>
              <a:avLst/>
              <a:gdLst>
                <a:gd name="connsiteX0" fmla="*/ 0 w 970242"/>
                <a:gd name="connsiteY0" fmla="*/ 1026082 h 1621251"/>
                <a:gd name="connsiteX1" fmla="*/ 349008 w 970242"/>
                <a:gd name="connsiteY1" fmla="*/ 1577514 h 1621251"/>
                <a:gd name="connsiteX2" fmla="*/ 970242 w 970242"/>
                <a:gd name="connsiteY2" fmla="*/ 0 h 1621251"/>
              </a:gdLst>
              <a:ahLst/>
              <a:cxnLst>
                <a:cxn ang="0">
                  <a:pos x="connsiteX0" y="connsiteY0"/>
                </a:cxn>
                <a:cxn ang="0">
                  <a:pos x="connsiteX1" y="connsiteY1"/>
                </a:cxn>
                <a:cxn ang="0">
                  <a:pos x="connsiteX2" y="connsiteY2"/>
                </a:cxn>
              </a:cxnLst>
              <a:rect l="l" t="t" r="r" b="b"/>
              <a:pathLst>
                <a:path w="970242" h="1621251">
                  <a:moveTo>
                    <a:pt x="0" y="1026082"/>
                  </a:moveTo>
                  <a:cubicBezTo>
                    <a:pt x="93650" y="1387305"/>
                    <a:pt x="187301" y="1748528"/>
                    <a:pt x="349008" y="1577514"/>
                  </a:cubicBezTo>
                  <a:cubicBezTo>
                    <a:pt x="510715" y="1406500"/>
                    <a:pt x="740478" y="703250"/>
                    <a:pt x="970242"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214" name="TextBox 213">
              <a:extLst>
                <a:ext uri="{FF2B5EF4-FFF2-40B4-BE49-F238E27FC236}">
                  <a16:creationId xmlns:a16="http://schemas.microsoft.com/office/drawing/2014/main" id="{B805C8CA-AF00-BC35-9B08-048700D8221D}"/>
                </a:ext>
              </a:extLst>
            </p:cNvPr>
            <p:cNvSpPr txBox="1"/>
            <p:nvPr/>
          </p:nvSpPr>
          <p:spPr>
            <a:xfrm>
              <a:off x="4508624" y="1750464"/>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MC</a:t>
              </a:r>
            </a:p>
          </p:txBody>
        </p:sp>
      </p:grpSp>
      <p:sp>
        <p:nvSpPr>
          <p:cNvPr id="215" name="TextBox 214">
            <a:extLst>
              <a:ext uri="{FF2B5EF4-FFF2-40B4-BE49-F238E27FC236}">
                <a16:creationId xmlns:a16="http://schemas.microsoft.com/office/drawing/2014/main" id="{D5FDA109-C3FD-5D0A-AF69-5AE1ED2A1439}"/>
              </a:ext>
            </a:extLst>
          </p:cNvPr>
          <p:cNvSpPr txBox="1"/>
          <p:nvPr/>
        </p:nvSpPr>
        <p:spPr>
          <a:xfrm>
            <a:off x="5444547" y="4955436"/>
            <a:ext cx="423428" cy="276999"/>
          </a:xfrm>
          <a:prstGeom prst="rect">
            <a:avLst/>
          </a:prstGeom>
          <a:noFill/>
        </p:spPr>
        <p:txBody>
          <a:bodyPr wrap="square" rtlCol="0">
            <a:spAutoFit/>
          </a:bodyPr>
          <a:lstStyle/>
          <a:p>
            <a:r>
              <a:rPr lang="en-US" sz="1200" i="1" dirty="0">
                <a:latin typeface="Whitney Book" pitchFamily="50" charset="0"/>
                <a:cs typeface="Whitney Book" pitchFamily="50" charset="0"/>
              </a:rPr>
              <a:t>Q*</a:t>
            </a:r>
          </a:p>
        </p:txBody>
      </p:sp>
      <p:sp>
        <p:nvSpPr>
          <p:cNvPr id="216" name="TextBox 215">
            <a:extLst>
              <a:ext uri="{FF2B5EF4-FFF2-40B4-BE49-F238E27FC236}">
                <a16:creationId xmlns:a16="http://schemas.microsoft.com/office/drawing/2014/main" id="{4A58FF33-43C2-6322-68F4-AE4078BA9280}"/>
              </a:ext>
            </a:extLst>
          </p:cNvPr>
          <p:cNvSpPr txBox="1"/>
          <p:nvPr/>
        </p:nvSpPr>
        <p:spPr>
          <a:xfrm>
            <a:off x="4244482" y="3480492"/>
            <a:ext cx="592186" cy="461665"/>
          </a:xfrm>
          <a:prstGeom prst="rect">
            <a:avLst/>
          </a:prstGeom>
          <a:noFill/>
        </p:spPr>
        <p:txBody>
          <a:bodyPr wrap="square" rtlCol="0">
            <a:spAutoFit/>
          </a:bodyPr>
          <a:lstStyle/>
          <a:p>
            <a:r>
              <a:rPr lang="en-US" sz="1200" i="1" dirty="0">
                <a:latin typeface="Whitney Book" pitchFamily="50" charset="0"/>
                <a:cs typeface="Whitney Book" pitchFamily="50" charset="0"/>
              </a:rPr>
              <a:t>ATC* = P</a:t>
            </a:r>
          </a:p>
        </p:txBody>
      </p:sp>
      <p:grpSp>
        <p:nvGrpSpPr>
          <p:cNvPr id="217" name="Group 216">
            <a:extLst>
              <a:ext uri="{FF2B5EF4-FFF2-40B4-BE49-F238E27FC236}">
                <a16:creationId xmlns:a16="http://schemas.microsoft.com/office/drawing/2014/main" id="{AA53401C-520A-0A77-5155-68E3F1BB8793}"/>
              </a:ext>
            </a:extLst>
          </p:cNvPr>
          <p:cNvGrpSpPr/>
          <p:nvPr/>
        </p:nvGrpSpPr>
        <p:grpSpPr>
          <a:xfrm>
            <a:off x="4746532" y="3559345"/>
            <a:ext cx="2399991" cy="276999"/>
            <a:chOff x="3451131" y="2702094"/>
            <a:chExt cx="2399991" cy="276999"/>
          </a:xfrm>
        </p:grpSpPr>
        <p:cxnSp>
          <p:nvCxnSpPr>
            <p:cNvPr id="218" name="Straight Connector 217">
              <a:extLst>
                <a:ext uri="{FF2B5EF4-FFF2-40B4-BE49-F238E27FC236}">
                  <a16:creationId xmlns:a16="http://schemas.microsoft.com/office/drawing/2014/main" id="{A0813EFD-2EEA-DA5C-A845-C03072E1EAFA}"/>
                </a:ext>
              </a:extLst>
            </p:cNvPr>
            <p:cNvCxnSpPr/>
            <p:nvPr/>
          </p:nvCxnSpPr>
          <p:spPr>
            <a:xfrm>
              <a:off x="3451131" y="2841759"/>
              <a:ext cx="1689197" cy="0"/>
            </a:xfrm>
            <a:prstGeom prst="line">
              <a:avLst/>
            </a:prstGeom>
          </p:spPr>
          <p:style>
            <a:lnRef idx="2">
              <a:schemeClr val="accent1"/>
            </a:lnRef>
            <a:fillRef idx="0">
              <a:schemeClr val="accent1"/>
            </a:fillRef>
            <a:effectRef idx="1">
              <a:schemeClr val="accent1"/>
            </a:effectRef>
            <a:fontRef idx="minor">
              <a:schemeClr val="tx1"/>
            </a:fontRef>
          </p:style>
        </p:cxnSp>
        <p:sp>
          <p:nvSpPr>
            <p:cNvPr id="219" name="TextBox 218">
              <a:extLst>
                <a:ext uri="{FF2B5EF4-FFF2-40B4-BE49-F238E27FC236}">
                  <a16:creationId xmlns:a16="http://schemas.microsoft.com/office/drawing/2014/main" id="{269B18E8-AC57-ED91-A5B2-CF03F9D2F192}"/>
                </a:ext>
              </a:extLst>
            </p:cNvPr>
            <p:cNvSpPr txBox="1"/>
            <p:nvPr/>
          </p:nvSpPr>
          <p:spPr>
            <a:xfrm>
              <a:off x="5100758" y="2702094"/>
              <a:ext cx="750364" cy="276999"/>
            </a:xfrm>
            <a:prstGeom prst="rect">
              <a:avLst/>
            </a:prstGeom>
            <a:noFill/>
          </p:spPr>
          <p:txBody>
            <a:bodyPr wrap="square" rtlCol="0">
              <a:spAutoFit/>
            </a:bodyPr>
            <a:lstStyle/>
            <a:p>
              <a:r>
                <a:rPr lang="en-US" sz="1200" i="1" dirty="0">
                  <a:latin typeface="Whitney Book" pitchFamily="50" charset="0"/>
                  <a:cs typeface="Whitney Book" pitchFamily="50" charset="0"/>
                </a:rPr>
                <a:t>d = MR</a:t>
              </a:r>
            </a:p>
          </p:txBody>
        </p:sp>
      </p:grpSp>
      <p:grpSp>
        <p:nvGrpSpPr>
          <p:cNvPr id="220" name="Group 219">
            <a:extLst>
              <a:ext uri="{FF2B5EF4-FFF2-40B4-BE49-F238E27FC236}">
                <a16:creationId xmlns:a16="http://schemas.microsoft.com/office/drawing/2014/main" id="{570FF866-2009-7C1F-4822-24AD62658993}"/>
              </a:ext>
            </a:extLst>
          </p:cNvPr>
          <p:cNvGrpSpPr/>
          <p:nvPr/>
        </p:nvGrpSpPr>
        <p:grpSpPr>
          <a:xfrm>
            <a:off x="4367261" y="1985913"/>
            <a:ext cx="2648983" cy="3290916"/>
            <a:chOff x="3071860" y="1128663"/>
            <a:chExt cx="2648983" cy="3290916"/>
          </a:xfrm>
        </p:grpSpPr>
        <p:cxnSp>
          <p:nvCxnSpPr>
            <p:cNvPr id="221" name="Straight Arrow Connector 220">
              <a:extLst>
                <a:ext uri="{FF2B5EF4-FFF2-40B4-BE49-F238E27FC236}">
                  <a16:creationId xmlns:a16="http://schemas.microsoft.com/office/drawing/2014/main" id="{3C9B1DB3-5D30-81BC-339F-58D7F3A5CFE4}"/>
                </a:ext>
              </a:extLst>
            </p:cNvPr>
            <p:cNvCxnSpPr/>
            <p:nvPr/>
          </p:nvCxnSpPr>
          <p:spPr>
            <a:xfrm flipV="1">
              <a:off x="3451131" y="1697014"/>
              <a:ext cx="0" cy="24151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22" name="Straight Arrow Connector 221">
              <a:extLst>
                <a:ext uri="{FF2B5EF4-FFF2-40B4-BE49-F238E27FC236}">
                  <a16:creationId xmlns:a16="http://schemas.microsoft.com/office/drawing/2014/main" id="{06F9C52F-70A4-A8D4-E756-FE29912246A4}"/>
                </a:ext>
              </a:extLst>
            </p:cNvPr>
            <p:cNvCxnSpPr/>
            <p:nvPr/>
          </p:nvCxnSpPr>
          <p:spPr>
            <a:xfrm>
              <a:off x="3437171" y="4098188"/>
              <a:ext cx="2261569" cy="139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23" name="TextBox 222">
              <a:extLst>
                <a:ext uri="{FF2B5EF4-FFF2-40B4-BE49-F238E27FC236}">
                  <a16:creationId xmlns:a16="http://schemas.microsoft.com/office/drawing/2014/main" id="{9FDB37D8-274A-E702-9290-365E1286962C}"/>
                </a:ext>
              </a:extLst>
            </p:cNvPr>
            <p:cNvSpPr txBox="1"/>
            <p:nvPr/>
          </p:nvSpPr>
          <p:spPr>
            <a:xfrm>
              <a:off x="3071860" y="1128663"/>
              <a:ext cx="938831" cy="461665"/>
            </a:xfrm>
            <a:prstGeom prst="rect">
              <a:avLst/>
            </a:prstGeom>
            <a:noFill/>
          </p:spPr>
          <p:txBody>
            <a:bodyPr wrap="square" rtlCol="0">
              <a:spAutoFit/>
            </a:bodyPr>
            <a:lstStyle/>
            <a:p>
              <a:r>
                <a:rPr lang="en-US" sz="1200" dirty="0">
                  <a:latin typeface="Whitney Book" pitchFamily="50" charset="0"/>
                  <a:cs typeface="Whitney Book" pitchFamily="50" charset="0"/>
                </a:rPr>
                <a:t>Price &amp; cost ($/unit)</a:t>
              </a:r>
            </a:p>
          </p:txBody>
        </p:sp>
        <p:sp>
          <p:nvSpPr>
            <p:cNvPr id="224" name="TextBox 223">
              <a:extLst>
                <a:ext uri="{FF2B5EF4-FFF2-40B4-BE49-F238E27FC236}">
                  <a16:creationId xmlns:a16="http://schemas.microsoft.com/office/drawing/2014/main" id="{B11C9C9F-A008-8F35-D650-FD40BF6F0443}"/>
                </a:ext>
              </a:extLst>
            </p:cNvPr>
            <p:cNvSpPr txBox="1"/>
            <p:nvPr/>
          </p:nvSpPr>
          <p:spPr>
            <a:xfrm>
              <a:off x="4909990" y="4142580"/>
              <a:ext cx="810853" cy="276999"/>
            </a:xfrm>
            <a:prstGeom prst="rect">
              <a:avLst/>
            </a:prstGeom>
            <a:noFill/>
          </p:spPr>
          <p:txBody>
            <a:bodyPr wrap="square" rtlCol="0">
              <a:spAutoFit/>
            </a:bodyPr>
            <a:lstStyle/>
            <a:p>
              <a:r>
                <a:rPr lang="en-US" sz="1200" dirty="0">
                  <a:latin typeface="Whitney Book" pitchFamily="50" charset="0"/>
                  <a:cs typeface="Whitney Book" pitchFamily="50" charset="0"/>
                </a:rPr>
                <a:t>Quantity</a:t>
              </a:r>
            </a:p>
          </p:txBody>
        </p:sp>
      </p:grpSp>
      <p:sp>
        <p:nvSpPr>
          <p:cNvPr id="225" name="TextBox 224">
            <a:extLst>
              <a:ext uri="{FF2B5EF4-FFF2-40B4-BE49-F238E27FC236}">
                <a16:creationId xmlns:a16="http://schemas.microsoft.com/office/drawing/2014/main" id="{D2459B1E-4C27-4F17-FDEA-825CA0D500EB}"/>
              </a:ext>
            </a:extLst>
          </p:cNvPr>
          <p:cNvSpPr txBox="1"/>
          <p:nvPr/>
        </p:nvSpPr>
        <p:spPr>
          <a:xfrm>
            <a:off x="5094958" y="1621061"/>
            <a:ext cx="1615405" cy="400110"/>
          </a:xfrm>
          <a:prstGeom prst="rect">
            <a:avLst/>
          </a:prstGeom>
          <a:noFill/>
        </p:spPr>
        <p:txBody>
          <a:bodyPr wrap="square" rtlCol="0">
            <a:spAutoFit/>
          </a:bodyPr>
          <a:lstStyle/>
          <a:p>
            <a:pPr algn="ctr"/>
            <a:r>
              <a:rPr lang="en-US" sz="2000" dirty="0">
                <a:latin typeface="Whitney Book" pitchFamily="50" charset="0"/>
                <a:cs typeface="Whitney Book" pitchFamily="50" charset="0"/>
              </a:rPr>
              <a:t>Zero Profit</a:t>
            </a:r>
          </a:p>
        </p:txBody>
      </p:sp>
      <p:cxnSp>
        <p:nvCxnSpPr>
          <p:cNvPr id="226" name="Straight Connector 225">
            <a:extLst>
              <a:ext uri="{FF2B5EF4-FFF2-40B4-BE49-F238E27FC236}">
                <a16:creationId xmlns:a16="http://schemas.microsoft.com/office/drawing/2014/main" id="{7E2B3B0C-F8F2-16D5-6B01-DA4A967773D3}"/>
              </a:ext>
            </a:extLst>
          </p:cNvPr>
          <p:cNvCxnSpPr>
            <a:cxnSpLocks/>
          </p:cNvCxnSpPr>
          <p:nvPr/>
        </p:nvCxnSpPr>
        <p:spPr>
          <a:xfrm flipV="1">
            <a:off x="9478770" y="3739721"/>
            <a:ext cx="2328" cy="1228033"/>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227" name="Oval 226">
            <a:extLst>
              <a:ext uri="{FF2B5EF4-FFF2-40B4-BE49-F238E27FC236}">
                <a16:creationId xmlns:a16="http://schemas.microsoft.com/office/drawing/2014/main" id="{56DFD013-8AE6-30A2-0315-C05DE938290D}"/>
              </a:ext>
            </a:extLst>
          </p:cNvPr>
          <p:cNvSpPr/>
          <p:nvPr/>
        </p:nvSpPr>
        <p:spPr>
          <a:xfrm>
            <a:off x="9456700" y="3337992"/>
            <a:ext cx="48861" cy="48861"/>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grpSp>
        <p:nvGrpSpPr>
          <p:cNvPr id="228" name="Group 227">
            <a:extLst>
              <a:ext uri="{FF2B5EF4-FFF2-40B4-BE49-F238E27FC236}">
                <a16:creationId xmlns:a16="http://schemas.microsoft.com/office/drawing/2014/main" id="{6900BAED-F895-0750-6EDB-0B4A6AB97B97}"/>
              </a:ext>
            </a:extLst>
          </p:cNvPr>
          <p:cNvGrpSpPr/>
          <p:nvPr/>
        </p:nvGrpSpPr>
        <p:grpSpPr>
          <a:xfrm>
            <a:off x="8645814" y="2620029"/>
            <a:ext cx="1762488" cy="1810714"/>
            <a:chOff x="6474114" y="1762779"/>
            <a:chExt cx="1762488" cy="1810714"/>
          </a:xfrm>
        </p:grpSpPr>
        <p:sp>
          <p:nvSpPr>
            <p:cNvPr id="229" name="Freeform 228">
              <a:extLst>
                <a:ext uri="{FF2B5EF4-FFF2-40B4-BE49-F238E27FC236}">
                  <a16:creationId xmlns:a16="http://schemas.microsoft.com/office/drawing/2014/main" id="{87638969-2116-94B4-CF44-8C1446C040C6}"/>
                </a:ext>
              </a:extLst>
            </p:cNvPr>
            <p:cNvSpPr/>
            <p:nvPr/>
          </p:nvSpPr>
          <p:spPr>
            <a:xfrm>
              <a:off x="6474114" y="2037396"/>
              <a:ext cx="1193606" cy="1536097"/>
            </a:xfrm>
            <a:custGeom>
              <a:avLst/>
              <a:gdLst>
                <a:gd name="connsiteX0" fmla="*/ 0 w 970242"/>
                <a:gd name="connsiteY0" fmla="*/ 1026082 h 1621251"/>
                <a:gd name="connsiteX1" fmla="*/ 349008 w 970242"/>
                <a:gd name="connsiteY1" fmla="*/ 1577514 h 1621251"/>
                <a:gd name="connsiteX2" fmla="*/ 970242 w 970242"/>
                <a:gd name="connsiteY2" fmla="*/ 0 h 1621251"/>
              </a:gdLst>
              <a:ahLst/>
              <a:cxnLst>
                <a:cxn ang="0">
                  <a:pos x="connsiteX0" y="connsiteY0"/>
                </a:cxn>
                <a:cxn ang="0">
                  <a:pos x="connsiteX1" y="connsiteY1"/>
                </a:cxn>
                <a:cxn ang="0">
                  <a:pos x="connsiteX2" y="connsiteY2"/>
                </a:cxn>
              </a:cxnLst>
              <a:rect l="l" t="t" r="r" b="b"/>
              <a:pathLst>
                <a:path w="970242" h="1621251">
                  <a:moveTo>
                    <a:pt x="0" y="1026082"/>
                  </a:moveTo>
                  <a:cubicBezTo>
                    <a:pt x="93650" y="1387305"/>
                    <a:pt x="187301" y="1748528"/>
                    <a:pt x="349008" y="1577514"/>
                  </a:cubicBezTo>
                  <a:cubicBezTo>
                    <a:pt x="510715" y="1406500"/>
                    <a:pt x="740478" y="703250"/>
                    <a:pt x="970242"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230" name="TextBox 229">
              <a:extLst>
                <a:ext uri="{FF2B5EF4-FFF2-40B4-BE49-F238E27FC236}">
                  <a16:creationId xmlns:a16="http://schemas.microsoft.com/office/drawing/2014/main" id="{C375570D-545D-0B01-0452-52494C50BE38}"/>
                </a:ext>
              </a:extLst>
            </p:cNvPr>
            <p:cNvSpPr txBox="1"/>
            <p:nvPr/>
          </p:nvSpPr>
          <p:spPr>
            <a:xfrm>
              <a:off x="7517647" y="1762779"/>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MC</a:t>
              </a:r>
            </a:p>
          </p:txBody>
        </p:sp>
      </p:grpSp>
      <p:grpSp>
        <p:nvGrpSpPr>
          <p:cNvPr id="231" name="Group 230">
            <a:extLst>
              <a:ext uri="{FF2B5EF4-FFF2-40B4-BE49-F238E27FC236}">
                <a16:creationId xmlns:a16="http://schemas.microsoft.com/office/drawing/2014/main" id="{FA311FB9-D0AD-D232-EB04-2F86DF65BAC5}"/>
              </a:ext>
            </a:extLst>
          </p:cNvPr>
          <p:cNvGrpSpPr/>
          <p:nvPr/>
        </p:nvGrpSpPr>
        <p:grpSpPr>
          <a:xfrm>
            <a:off x="8620833" y="2390613"/>
            <a:ext cx="1418671" cy="1307532"/>
            <a:chOff x="6449132" y="1533363"/>
            <a:chExt cx="1418671" cy="1307532"/>
          </a:xfrm>
        </p:grpSpPr>
        <p:sp>
          <p:nvSpPr>
            <p:cNvPr id="232" name="Rectangle 231">
              <a:extLst>
                <a:ext uri="{FF2B5EF4-FFF2-40B4-BE49-F238E27FC236}">
                  <a16:creationId xmlns:a16="http://schemas.microsoft.com/office/drawing/2014/main" id="{AFC7B9FE-43CF-9105-24F8-4EAB5A645534}"/>
                </a:ext>
              </a:extLst>
            </p:cNvPr>
            <p:cNvSpPr/>
            <p:nvPr/>
          </p:nvSpPr>
          <p:spPr>
            <a:xfrm>
              <a:off x="6449132" y="2505849"/>
              <a:ext cx="849247" cy="33504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latin typeface="Whitney Book" pitchFamily="50" charset="0"/>
                <a:cs typeface="Whitney Book" pitchFamily="50" charset="0"/>
              </a:endParaRPr>
            </a:p>
          </p:txBody>
        </p:sp>
        <p:cxnSp>
          <p:nvCxnSpPr>
            <p:cNvPr id="233" name="Straight Arrow Connector 232">
              <a:extLst>
                <a:ext uri="{FF2B5EF4-FFF2-40B4-BE49-F238E27FC236}">
                  <a16:creationId xmlns:a16="http://schemas.microsoft.com/office/drawing/2014/main" id="{3AF9DF3C-0850-F19A-A3B9-3DABAB3DEF94}"/>
                </a:ext>
              </a:extLst>
            </p:cNvPr>
            <p:cNvCxnSpPr/>
            <p:nvPr/>
          </p:nvCxnSpPr>
          <p:spPr>
            <a:xfrm flipH="1">
              <a:off x="6609071" y="1965303"/>
              <a:ext cx="396688" cy="7660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4" name="TextBox 233">
              <a:extLst>
                <a:ext uri="{FF2B5EF4-FFF2-40B4-BE49-F238E27FC236}">
                  <a16:creationId xmlns:a16="http://schemas.microsoft.com/office/drawing/2014/main" id="{B290292A-58A8-078B-0146-7CDCEE003BE3}"/>
                </a:ext>
              </a:extLst>
            </p:cNvPr>
            <p:cNvSpPr txBox="1"/>
            <p:nvPr/>
          </p:nvSpPr>
          <p:spPr>
            <a:xfrm>
              <a:off x="6853524" y="1533363"/>
              <a:ext cx="1014279" cy="276999"/>
            </a:xfrm>
            <a:prstGeom prst="rect">
              <a:avLst/>
            </a:prstGeom>
            <a:noFill/>
          </p:spPr>
          <p:txBody>
            <a:bodyPr wrap="square" rtlCol="0">
              <a:spAutoFit/>
            </a:bodyPr>
            <a:lstStyle/>
            <a:p>
              <a:r>
                <a:rPr lang="en-US" sz="1200" dirty="0">
                  <a:latin typeface="Whitney Book" pitchFamily="50" charset="0"/>
                  <a:cs typeface="Whitney Book" pitchFamily="50" charset="0"/>
                </a:rPr>
                <a:t>Loss, </a:t>
              </a:r>
              <a:r>
                <a:rPr lang="el-GR" sz="1200" dirty="0">
                  <a:latin typeface="Whitney Book" pitchFamily="50" charset="0"/>
                  <a:cs typeface="Whitney Book" pitchFamily="50" charset="0"/>
                </a:rPr>
                <a:t>π</a:t>
              </a:r>
              <a:r>
                <a:rPr lang="en-US" sz="1200" dirty="0">
                  <a:latin typeface="Whitney Book" pitchFamily="50" charset="0"/>
                  <a:cs typeface="Whitney Book" pitchFamily="50" charset="0"/>
                </a:rPr>
                <a:t> &lt;0</a:t>
              </a:r>
            </a:p>
          </p:txBody>
        </p:sp>
      </p:grpSp>
      <p:sp>
        <p:nvSpPr>
          <p:cNvPr id="235" name="TextBox 234">
            <a:extLst>
              <a:ext uri="{FF2B5EF4-FFF2-40B4-BE49-F238E27FC236}">
                <a16:creationId xmlns:a16="http://schemas.microsoft.com/office/drawing/2014/main" id="{2BAFFA84-998A-A3ED-C37C-5FA033C76D42}"/>
              </a:ext>
            </a:extLst>
          </p:cNvPr>
          <p:cNvSpPr txBox="1"/>
          <p:nvPr/>
        </p:nvSpPr>
        <p:spPr>
          <a:xfrm>
            <a:off x="9329870" y="4967751"/>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Q*</a:t>
            </a:r>
          </a:p>
        </p:txBody>
      </p:sp>
      <p:grpSp>
        <p:nvGrpSpPr>
          <p:cNvPr id="236" name="Group 235">
            <a:extLst>
              <a:ext uri="{FF2B5EF4-FFF2-40B4-BE49-F238E27FC236}">
                <a16:creationId xmlns:a16="http://schemas.microsoft.com/office/drawing/2014/main" id="{6DFB6CC9-7E87-D32B-95EF-0B60FAEDFF25}"/>
              </a:ext>
            </a:extLst>
          </p:cNvPr>
          <p:cNvGrpSpPr/>
          <p:nvPr/>
        </p:nvGrpSpPr>
        <p:grpSpPr>
          <a:xfrm>
            <a:off x="8367757" y="3571660"/>
            <a:ext cx="2664089" cy="282861"/>
            <a:chOff x="6196056" y="2714409"/>
            <a:chExt cx="2664089" cy="282861"/>
          </a:xfrm>
        </p:grpSpPr>
        <p:sp>
          <p:nvSpPr>
            <p:cNvPr id="237" name="TextBox 236">
              <a:extLst>
                <a:ext uri="{FF2B5EF4-FFF2-40B4-BE49-F238E27FC236}">
                  <a16:creationId xmlns:a16="http://schemas.microsoft.com/office/drawing/2014/main" id="{B0C7B26E-A417-7B82-C788-BB7157ED08CD}"/>
                </a:ext>
              </a:extLst>
            </p:cNvPr>
            <p:cNvSpPr txBox="1"/>
            <p:nvPr/>
          </p:nvSpPr>
          <p:spPr>
            <a:xfrm>
              <a:off x="6196056" y="2720271"/>
              <a:ext cx="500245" cy="276999"/>
            </a:xfrm>
            <a:prstGeom prst="rect">
              <a:avLst/>
            </a:prstGeom>
            <a:noFill/>
          </p:spPr>
          <p:txBody>
            <a:bodyPr wrap="square" rtlCol="0">
              <a:spAutoFit/>
            </a:bodyPr>
            <a:lstStyle/>
            <a:p>
              <a:r>
                <a:rPr lang="en-US" sz="1200" i="1" dirty="0">
                  <a:latin typeface="Whitney Book" pitchFamily="50" charset="0"/>
                  <a:cs typeface="Whitney Book" pitchFamily="50" charset="0"/>
                </a:rPr>
                <a:t>P</a:t>
              </a:r>
            </a:p>
          </p:txBody>
        </p:sp>
        <p:grpSp>
          <p:nvGrpSpPr>
            <p:cNvPr id="238" name="Group 237">
              <a:extLst>
                <a:ext uri="{FF2B5EF4-FFF2-40B4-BE49-F238E27FC236}">
                  <a16:creationId xmlns:a16="http://schemas.microsoft.com/office/drawing/2014/main" id="{41EC4D23-A33A-C923-F1BE-5277FA5F8456}"/>
                </a:ext>
              </a:extLst>
            </p:cNvPr>
            <p:cNvGrpSpPr/>
            <p:nvPr/>
          </p:nvGrpSpPr>
          <p:grpSpPr>
            <a:xfrm>
              <a:off x="6460154" y="2714409"/>
              <a:ext cx="2399991" cy="276999"/>
              <a:chOff x="6460154" y="2714409"/>
              <a:chExt cx="2399991" cy="276999"/>
            </a:xfrm>
          </p:grpSpPr>
          <p:cxnSp>
            <p:nvCxnSpPr>
              <p:cNvPr id="239" name="Straight Connector 238">
                <a:extLst>
                  <a:ext uri="{FF2B5EF4-FFF2-40B4-BE49-F238E27FC236}">
                    <a16:creationId xmlns:a16="http://schemas.microsoft.com/office/drawing/2014/main" id="{CEDFC966-6451-5C64-C680-0BD9A8136D31}"/>
                  </a:ext>
                </a:extLst>
              </p:cNvPr>
              <p:cNvCxnSpPr/>
              <p:nvPr/>
            </p:nvCxnSpPr>
            <p:spPr>
              <a:xfrm>
                <a:off x="6460154" y="2854074"/>
                <a:ext cx="1689197" cy="0"/>
              </a:xfrm>
              <a:prstGeom prst="line">
                <a:avLst/>
              </a:prstGeom>
            </p:spPr>
            <p:style>
              <a:lnRef idx="2">
                <a:schemeClr val="accent1"/>
              </a:lnRef>
              <a:fillRef idx="0">
                <a:schemeClr val="accent1"/>
              </a:fillRef>
              <a:effectRef idx="1">
                <a:schemeClr val="accent1"/>
              </a:effectRef>
              <a:fontRef idx="minor">
                <a:schemeClr val="tx1"/>
              </a:fontRef>
            </p:style>
          </p:cxnSp>
          <p:sp>
            <p:nvSpPr>
              <p:cNvPr id="240" name="TextBox 239">
                <a:extLst>
                  <a:ext uri="{FF2B5EF4-FFF2-40B4-BE49-F238E27FC236}">
                    <a16:creationId xmlns:a16="http://schemas.microsoft.com/office/drawing/2014/main" id="{0C8146CD-5849-C57B-5140-0C3CD91FB47A}"/>
                  </a:ext>
                </a:extLst>
              </p:cNvPr>
              <p:cNvSpPr txBox="1"/>
              <p:nvPr/>
            </p:nvSpPr>
            <p:spPr>
              <a:xfrm>
                <a:off x="8109781" y="2714409"/>
                <a:ext cx="750364" cy="276999"/>
              </a:xfrm>
              <a:prstGeom prst="rect">
                <a:avLst/>
              </a:prstGeom>
              <a:noFill/>
            </p:spPr>
            <p:txBody>
              <a:bodyPr wrap="square" rtlCol="0">
                <a:spAutoFit/>
              </a:bodyPr>
              <a:lstStyle/>
              <a:p>
                <a:r>
                  <a:rPr lang="en-US" sz="1200" i="1" dirty="0">
                    <a:latin typeface="Whitney Book" pitchFamily="50" charset="0"/>
                    <a:cs typeface="Whitney Book" pitchFamily="50" charset="0"/>
                  </a:rPr>
                  <a:t>d = MR</a:t>
                </a:r>
              </a:p>
            </p:txBody>
          </p:sp>
        </p:grpSp>
      </p:grpSp>
      <p:grpSp>
        <p:nvGrpSpPr>
          <p:cNvPr id="241" name="Group 240">
            <a:extLst>
              <a:ext uri="{FF2B5EF4-FFF2-40B4-BE49-F238E27FC236}">
                <a16:creationId xmlns:a16="http://schemas.microsoft.com/office/drawing/2014/main" id="{0E09A30A-FF3A-37F6-743F-1C718B87D293}"/>
              </a:ext>
            </a:extLst>
          </p:cNvPr>
          <p:cNvGrpSpPr/>
          <p:nvPr/>
        </p:nvGrpSpPr>
        <p:grpSpPr>
          <a:xfrm>
            <a:off x="8252584" y="1998228"/>
            <a:ext cx="2648983" cy="3290916"/>
            <a:chOff x="6080883" y="1140978"/>
            <a:chExt cx="2648983" cy="3290916"/>
          </a:xfrm>
        </p:grpSpPr>
        <p:cxnSp>
          <p:nvCxnSpPr>
            <p:cNvPr id="242" name="Straight Arrow Connector 241">
              <a:extLst>
                <a:ext uri="{FF2B5EF4-FFF2-40B4-BE49-F238E27FC236}">
                  <a16:creationId xmlns:a16="http://schemas.microsoft.com/office/drawing/2014/main" id="{C9045148-71C9-A657-1348-650CDF5D5D9A}"/>
                </a:ext>
              </a:extLst>
            </p:cNvPr>
            <p:cNvCxnSpPr/>
            <p:nvPr/>
          </p:nvCxnSpPr>
          <p:spPr>
            <a:xfrm flipV="1">
              <a:off x="6460154" y="1709329"/>
              <a:ext cx="0" cy="24151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43" name="Straight Arrow Connector 242">
              <a:extLst>
                <a:ext uri="{FF2B5EF4-FFF2-40B4-BE49-F238E27FC236}">
                  <a16:creationId xmlns:a16="http://schemas.microsoft.com/office/drawing/2014/main" id="{7B0D8143-D6B3-1B8A-C511-4274C11F8F69}"/>
                </a:ext>
              </a:extLst>
            </p:cNvPr>
            <p:cNvCxnSpPr/>
            <p:nvPr/>
          </p:nvCxnSpPr>
          <p:spPr>
            <a:xfrm>
              <a:off x="6446194" y="4110503"/>
              <a:ext cx="2261569" cy="139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44" name="TextBox 243">
              <a:extLst>
                <a:ext uri="{FF2B5EF4-FFF2-40B4-BE49-F238E27FC236}">
                  <a16:creationId xmlns:a16="http://schemas.microsoft.com/office/drawing/2014/main" id="{37FFFB6A-042F-8C3C-E540-70BC7486534A}"/>
                </a:ext>
              </a:extLst>
            </p:cNvPr>
            <p:cNvSpPr txBox="1"/>
            <p:nvPr/>
          </p:nvSpPr>
          <p:spPr>
            <a:xfrm>
              <a:off x="6080883" y="1140978"/>
              <a:ext cx="938831" cy="461665"/>
            </a:xfrm>
            <a:prstGeom prst="rect">
              <a:avLst/>
            </a:prstGeom>
            <a:noFill/>
          </p:spPr>
          <p:txBody>
            <a:bodyPr wrap="square" rtlCol="0">
              <a:spAutoFit/>
            </a:bodyPr>
            <a:lstStyle/>
            <a:p>
              <a:r>
                <a:rPr lang="en-US" sz="1200" dirty="0">
                  <a:latin typeface="Whitney Book" pitchFamily="50" charset="0"/>
                  <a:cs typeface="Whitney Book" pitchFamily="50" charset="0"/>
                </a:rPr>
                <a:t>Price &amp; cost ($/unit)</a:t>
              </a:r>
            </a:p>
          </p:txBody>
        </p:sp>
        <p:sp>
          <p:nvSpPr>
            <p:cNvPr id="245" name="TextBox 244">
              <a:extLst>
                <a:ext uri="{FF2B5EF4-FFF2-40B4-BE49-F238E27FC236}">
                  <a16:creationId xmlns:a16="http://schemas.microsoft.com/office/drawing/2014/main" id="{0FB21F1D-3516-3791-F20B-4F14688CFEA1}"/>
                </a:ext>
              </a:extLst>
            </p:cNvPr>
            <p:cNvSpPr txBox="1"/>
            <p:nvPr/>
          </p:nvSpPr>
          <p:spPr>
            <a:xfrm>
              <a:off x="7919013" y="4154895"/>
              <a:ext cx="810853" cy="276999"/>
            </a:xfrm>
            <a:prstGeom prst="rect">
              <a:avLst/>
            </a:prstGeom>
            <a:noFill/>
          </p:spPr>
          <p:txBody>
            <a:bodyPr wrap="square" rtlCol="0">
              <a:spAutoFit/>
            </a:bodyPr>
            <a:lstStyle/>
            <a:p>
              <a:r>
                <a:rPr lang="en-US" sz="1200" dirty="0">
                  <a:latin typeface="Whitney Book" pitchFamily="50" charset="0"/>
                  <a:cs typeface="Whitney Book" pitchFamily="50" charset="0"/>
                </a:rPr>
                <a:t>Quantity</a:t>
              </a:r>
            </a:p>
          </p:txBody>
        </p:sp>
      </p:grpSp>
      <p:sp>
        <p:nvSpPr>
          <p:cNvPr id="246" name="TextBox 245">
            <a:extLst>
              <a:ext uri="{FF2B5EF4-FFF2-40B4-BE49-F238E27FC236}">
                <a16:creationId xmlns:a16="http://schemas.microsoft.com/office/drawing/2014/main" id="{C997601F-9175-7F41-C09F-892F942703A5}"/>
              </a:ext>
            </a:extLst>
          </p:cNvPr>
          <p:cNvSpPr txBox="1"/>
          <p:nvPr/>
        </p:nvSpPr>
        <p:spPr>
          <a:xfrm>
            <a:off x="8390242" y="1625881"/>
            <a:ext cx="2664089" cy="400110"/>
          </a:xfrm>
          <a:prstGeom prst="rect">
            <a:avLst/>
          </a:prstGeom>
          <a:noFill/>
        </p:spPr>
        <p:txBody>
          <a:bodyPr wrap="square" rtlCol="0">
            <a:spAutoFit/>
          </a:bodyPr>
          <a:lstStyle/>
          <a:p>
            <a:r>
              <a:rPr lang="en-US" sz="2000" dirty="0">
                <a:latin typeface="Whitney Book" pitchFamily="50" charset="0"/>
                <a:cs typeface="Whitney Book" pitchFamily="50" charset="0"/>
              </a:rPr>
              <a:t>   Negative Profit (Loss)</a:t>
            </a:r>
          </a:p>
        </p:txBody>
      </p:sp>
      <p:grpSp>
        <p:nvGrpSpPr>
          <p:cNvPr id="247" name="Group 246">
            <a:extLst>
              <a:ext uri="{FF2B5EF4-FFF2-40B4-BE49-F238E27FC236}">
                <a16:creationId xmlns:a16="http://schemas.microsoft.com/office/drawing/2014/main" id="{CB6FB788-5834-7DC6-2195-97857D6C6306}"/>
              </a:ext>
            </a:extLst>
          </p:cNvPr>
          <p:cNvGrpSpPr/>
          <p:nvPr/>
        </p:nvGrpSpPr>
        <p:grpSpPr>
          <a:xfrm>
            <a:off x="1120530" y="3507138"/>
            <a:ext cx="2399991" cy="276999"/>
            <a:chOff x="501404" y="2649887"/>
            <a:chExt cx="2399991" cy="276999"/>
          </a:xfrm>
        </p:grpSpPr>
        <p:cxnSp>
          <p:nvCxnSpPr>
            <p:cNvPr id="248" name="Straight Connector 247">
              <a:extLst>
                <a:ext uri="{FF2B5EF4-FFF2-40B4-BE49-F238E27FC236}">
                  <a16:creationId xmlns:a16="http://schemas.microsoft.com/office/drawing/2014/main" id="{2EFB2FF8-EF5E-FC06-AE1B-D48C901CA927}"/>
                </a:ext>
              </a:extLst>
            </p:cNvPr>
            <p:cNvCxnSpPr/>
            <p:nvPr/>
          </p:nvCxnSpPr>
          <p:spPr>
            <a:xfrm>
              <a:off x="501404" y="2789552"/>
              <a:ext cx="1689197" cy="0"/>
            </a:xfrm>
            <a:prstGeom prst="line">
              <a:avLst/>
            </a:prstGeom>
          </p:spPr>
          <p:style>
            <a:lnRef idx="2">
              <a:schemeClr val="accent1"/>
            </a:lnRef>
            <a:fillRef idx="0">
              <a:schemeClr val="accent1"/>
            </a:fillRef>
            <a:effectRef idx="1">
              <a:schemeClr val="accent1"/>
            </a:effectRef>
            <a:fontRef idx="minor">
              <a:schemeClr val="tx1"/>
            </a:fontRef>
          </p:style>
        </p:cxnSp>
        <p:sp>
          <p:nvSpPr>
            <p:cNvPr id="249" name="TextBox 248">
              <a:extLst>
                <a:ext uri="{FF2B5EF4-FFF2-40B4-BE49-F238E27FC236}">
                  <a16:creationId xmlns:a16="http://schemas.microsoft.com/office/drawing/2014/main" id="{3DD6784C-8228-1C1F-33F1-AE54103FB9B1}"/>
                </a:ext>
              </a:extLst>
            </p:cNvPr>
            <p:cNvSpPr txBox="1"/>
            <p:nvPr/>
          </p:nvSpPr>
          <p:spPr>
            <a:xfrm>
              <a:off x="2151031" y="2649887"/>
              <a:ext cx="750364" cy="276999"/>
            </a:xfrm>
            <a:prstGeom prst="rect">
              <a:avLst/>
            </a:prstGeom>
            <a:noFill/>
          </p:spPr>
          <p:txBody>
            <a:bodyPr wrap="square" rtlCol="0">
              <a:spAutoFit/>
            </a:bodyPr>
            <a:lstStyle/>
            <a:p>
              <a:r>
                <a:rPr lang="en-US" sz="1200" i="1" dirty="0">
                  <a:latin typeface="Whitney Book" pitchFamily="50" charset="0"/>
                  <a:cs typeface="Whitney Book" pitchFamily="50" charset="0"/>
                </a:rPr>
                <a:t>d = MR</a:t>
              </a:r>
            </a:p>
          </p:txBody>
        </p:sp>
      </p:grpSp>
      <p:sp>
        <p:nvSpPr>
          <p:cNvPr id="250" name="Oval 249">
            <a:extLst>
              <a:ext uri="{FF2B5EF4-FFF2-40B4-BE49-F238E27FC236}">
                <a16:creationId xmlns:a16="http://schemas.microsoft.com/office/drawing/2014/main" id="{FD74644F-8DDD-ED36-546A-B5558E036076}"/>
              </a:ext>
            </a:extLst>
          </p:cNvPr>
          <p:cNvSpPr/>
          <p:nvPr/>
        </p:nvSpPr>
        <p:spPr>
          <a:xfrm>
            <a:off x="1945343" y="3616076"/>
            <a:ext cx="48861" cy="59122"/>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sp>
        <p:nvSpPr>
          <p:cNvPr id="251" name="Oval 250">
            <a:extLst>
              <a:ext uri="{FF2B5EF4-FFF2-40B4-BE49-F238E27FC236}">
                <a16:creationId xmlns:a16="http://schemas.microsoft.com/office/drawing/2014/main" id="{AD53D820-8728-AD13-8F84-7467FB582DC8}"/>
              </a:ext>
            </a:extLst>
          </p:cNvPr>
          <p:cNvSpPr/>
          <p:nvPr/>
        </p:nvSpPr>
        <p:spPr>
          <a:xfrm>
            <a:off x="1932545" y="3964398"/>
            <a:ext cx="48861" cy="48861"/>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sp>
        <p:nvSpPr>
          <p:cNvPr id="252" name="Oval 251">
            <a:extLst>
              <a:ext uri="{FF2B5EF4-FFF2-40B4-BE49-F238E27FC236}">
                <a16:creationId xmlns:a16="http://schemas.microsoft.com/office/drawing/2014/main" id="{1BF44C9E-9F7A-1EA4-DBCF-E9529D39C2CF}"/>
              </a:ext>
            </a:extLst>
          </p:cNvPr>
          <p:cNvSpPr/>
          <p:nvPr/>
        </p:nvSpPr>
        <p:spPr>
          <a:xfrm>
            <a:off x="5571345" y="3668283"/>
            <a:ext cx="48861" cy="59122"/>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sp>
        <p:nvSpPr>
          <p:cNvPr id="253" name="Oval 252">
            <a:extLst>
              <a:ext uri="{FF2B5EF4-FFF2-40B4-BE49-F238E27FC236}">
                <a16:creationId xmlns:a16="http://schemas.microsoft.com/office/drawing/2014/main" id="{F15AEC53-6170-B347-7BCD-3B6C2E381751}"/>
              </a:ext>
            </a:extLst>
          </p:cNvPr>
          <p:cNvSpPr/>
          <p:nvPr/>
        </p:nvSpPr>
        <p:spPr>
          <a:xfrm>
            <a:off x="9456700" y="3680892"/>
            <a:ext cx="48861" cy="48861"/>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grpSp>
        <p:nvGrpSpPr>
          <p:cNvPr id="254" name="Group 253">
            <a:extLst>
              <a:ext uri="{FF2B5EF4-FFF2-40B4-BE49-F238E27FC236}">
                <a16:creationId xmlns:a16="http://schemas.microsoft.com/office/drawing/2014/main" id="{4D7D3168-1EE3-50FF-BF5E-B21B018A824F}"/>
              </a:ext>
            </a:extLst>
          </p:cNvPr>
          <p:cNvGrpSpPr/>
          <p:nvPr/>
        </p:nvGrpSpPr>
        <p:grpSpPr>
          <a:xfrm>
            <a:off x="8162284" y="3217620"/>
            <a:ext cx="1318814" cy="276999"/>
            <a:chOff x="5990584" y="2360369"/>
            <a:chExt cx="1318814" cy="276999"/>
          </a:xfrm>
        </p:grpSpPr>
        <p:cxnSp>
          <p:nvCxnSpPr>
            <p:cNvPr id="255" name="Straight Connector 254">
              <a:extLst>
                <a:ext uri="{FF2B5EF4-FFF2-40B4-BE49-F238E27FC236}">
                  <a16:creationId xmlns:a16="http://schemas.microsoft.com/office/drawing/2014/main" id="{9587CB03-4FBE-E03C-3294-8C8FCE77A17C}"/>
                </a:ext>
              </a:extLst>
            </p:cNvPr>
            <p:cNvCxnSpPr/>
            <p:nvPr/>
          </p:nvCxnSpPr>
          <p:spPr>
            <a:xfrm>
              <a:off x="6450840" y="2498869"/>
              <a:ext cx="85855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256" name="TextBox 255">
              <a:extLst>
                <a:ext uri="{FF2B5EF4-FFF2-40B4-BE49-F238E27FC236}">
                  <a16:creationId xmlns:a16="http://schemas.microsoft.com/office/drawing/2014/main" id="{CAC16256-15A0-33E3-C7B5-0B1D6C245491}"/>
                </a:ext>
              </a:extLst>
            </p:cNvPr>
            <p:cNvSpPr txBox="1"/>
            <p:nvPr/>
          </p:nvSpPr>
          <p:spPr>
            <a:xfrm>
              <a:off x="5990584" y="2360369"/>
              <a:ext cx="563055"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p>
          </p:txBody>
        </p:sp>
      </p:gr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DC7B60C9-679B-6547-77B5-153E88953F4B}"/>
                  </a:ext>
                </a:extLst>
              </p:cNvPr>
              <p:cNvSpPr txBox="1"/>
              <p:nvPr/>
            </p:nvSpPr>
            <p:spPr>
              <a:xfrm>
                <a:off x="3584108" y="5346775"/>
                <a:ext cx="5120312" cy="1200329"/>
              </a:xfrm>
              <a:prstGeom prst="rect">
                <a:avLst/>
              </a:prstGeom>
              <a:noFill/>
            </p:spPr>
            <p:txBody>
              <a:bodyPr wrap="none" rtlCol="0">
                <a:spAutoFit/>
              </a:bodyPr>
              <a:lstStyle/>
              <a:p>
                <a:pPr lvl="1"/>
                <a:r>
                  <a:rPr lang="en-US" sz="2400" dirty="0">
                    <a:latin typeface="Whitney Book" pitchFamily="50" charset="0"/>
                    <a:cs typeface="Whitney Book" pitchFamily="50" charset="0"/>
                  </a:rPr>
                  <a:t> Profit = </a:t>
                </a:r>
                <a14:m>
                  <m:oMath xmlns:m="http://schemas.openxmlformats.org/officeDocument/2006/math">
                    <m:r>
                      <a:rPr lang="en-US" sz="2400" i="1" dirty="0">
                        <a:latin typeface="Cambria Math" charset="0"/>
                      </a:rPr>
                      <m:t>𝑇𝑅</m:t>
                    </m:r>
                    <m:r>
                      <a:rPr lang="en-US" sz="2400" i="1" dirty="0">
                        <a:latin typeface="Cambria Math" charset="0"/>
                      </a:rPr>
                      <m:t> – </m:t>
                    </m:r>
                    <m:r>
                      <a:rPr lang="en-US" sz="2400" i="1" dirty="0">
                        <a:latin typeface="Cambria Math" charset="0"/>
                      </a:rPr>
                      <m:t>𝑇𝐶</m:t>
                    </m:r>
                  </m:oMath>
                </a14:m>
                <a:endParaRPr lang="en-US" sz="2400" dirty="0">
                  <a:latin typeface="Whitney Book" pitchFamily="50" charset="0"/>
                  <a:cs typeface="Whitney Book" pitchFamily="50" charset="0"/>
                </a:endParaRPr>
              </a:p>
              <a:p>
                <a:pPr lvl="1" algn="ctr"/>
                <a:r>
                  <a:rPr lang="en-US" sz="2400" dirty="0">
                    <a:latin typeface="Whitney Book" pitchFamily="50" charset="0"/>
                    <a:cs typeface="Whitney Book" pitchFamily="50" charset="0"/>
                  </a:rPr>
                  <a:t>                   = </a:t>
                </a:r>
                <a14:m>
                  <m:oMath xmlns:m="http://schemas.openxmlformats.org/officeDocument/2006/math">
                    <m:d>
                      <m:dPr>
                        <m:ctrlPr>
                          <a:rPr lang="en-US" sz="2400" i="1">
                            <a:latin typeface="Cambria Math" panose="02040503050406030204" pitchFamily="18" charset="0"/>
                          </a:rPr>
                        </m:ctrlPr>
                      </m:dPr>
                      <m:e>
                        <m:r>
                          <a:rPr lang="en-US" sz="2400" i="1">
                            <a:latin typeface="Cambria Math" charset="0"/>
                          </a:rPr>
                          <m:t>𝑃</m:t>
                        </m:r>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𝑄</m:t>
                        </m:r>
                      </m:e>
                    </m:d>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𝐴𝑇𝐶</m:t>
                    </m:r>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𝑄</m:t>
                    </m:r>
                    <m:r>
                      <a:rPr lang="en-US" sz="2400" i="1">
                        <a:latin typeface="Cambria Math" charset="0"/>
                        <a:ea typeface="Cambria Math" charset="0"/>
                        <a:cs typeface="Cambria Math" charset="0"/>
                      </a:rPr>
                      <m:t>)</m:t>
                    </m:r>
                  </m:oMath>
                </a14:m>
                <a:endParaRPr lang="en-US" sz="2400" dirty="0">
                  <a:latin typeface="Whitney Book" pitchFamily="50" charset="0"/>
                  <a:cs typeface="Whitney Book" pitchFamily="50" charset="0"/>
                </a:endParaRPr>
              </a:p>
              <a:p>
                <a:pPr lvl="1" algn="ctr"/>
                <a:r>
                  <a:rPr lang="en-US" sz="2400" dirty="0">
                    <a:latin typeface="Whitney Book" pitchFamily="50" charset="0"/>
                    <a:cs typeface="Whitney Book" pitchFamily="50" charset="0"/>
                  </a:rPr>
                  <a:t>          = </a:t>
                </a:r>
                <a14:m>
                  <m:oMath xmlns:m="http://schemas.openxmlformats.org/officeDocument/2006/math">
                    <m:r>
                      <a:rPr lang="en-US" sz="2400">
                        <a:latin typeface="Cambria Math" charset="0"/>
                        <a:ea typeface="Cambria Math" charset="0"/>
                        <a:cs typeface="Cambria Math" charset="0"/>
                      </a:rPr>
                      <m:t>(</m:t>
                    </m:r>
                    <m:r>
                      <a:rPr lang="en-US" sz="2400" i="1">
                        <a:solidFill>
                          <a:srgbClr val="C00000"/>
                        </a:solidFill>
                        <a:latin typeface="Cambria Math" charset="0"/>
                        <a:ea typeface="Cambria Math" charset="0"/>
                        <a:cs typeface="Cambria Math" charset="0"/>
                      </a:rPr>
                      <m:t>𝑃</m:t>
                    </m:r>
                    <m:r>
                      <a:rPr lang="en-US" sz="2400" i="1">
                        <a:solidFill>
                          <a:srgbClr val="C00000"/>
                        </a:solidFill>
                        <a:latin typeface="Cambria Math" charset="0"/>
                        <a:ea typeface="Cambria Math" charset="0"/>
                        <a:cs typeface="Cambria Math" charset="0"/>
                      </a:rPr>
                      <m:t>−</m:t>
                    </m:r>
                    <m:r>
                      <a:rPr lang="en-US" sz="2400" i="1">
                        <a:solidFill>
                          <a:srgbClr val="C00000"/>
                        </a:solidFill>
                        <a:latin typeface="Cambria Math" charset="0"/>
                        <a:ea typeface="Cambria Math" charset="0"/>
                        <a:cs typeface="Cambria Math" charset="0"/>
                      </a:rPr>
                      <m:t>𝐴𝑇𝐶</m:t>
                    </m:r>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𝑄</m:t>
                    </m:r>
                  </m:oMath>
                </a14:m>
                <a:endParaRPr lang="en-US" dirty="0"/>
              </a:p>
            </p:txBody>
          </p:sp>
        </mc:Choice>
        <mc:Fallback xmlns="">
          <p:sp>
            <p:nvSpPr>
              <p:cNvPr id="258" name="TextBox 257">
                <a:extLst>
                  <a:ext uri="{FF2B5EF4-FFF2-40B4-BE49-F238E27FC236}">
                    <a16:creationId xmlns:a16="http://schemas.microsoft.com/office/drawing/2014/main" id="{DC7B60C9-679B-6547-77B5-153E88953F4B}"/>
                  </a:ext>
                </a:extLst>
              </p:cNvPr>
              <p:cNvSpPr txBox="1">
                <a:spLocks noRot="1" noChangeAspect="1" noMove="1" noResize="1" noEditPoints="1" noAdjustHandles="1" noChangeArrowheads="1" noChangeShapeType="1" noTextEdit="1"/>
              </p:cNvSpPr>
              <p:nvPr/>
            </p:nvSpPr>
            <p:spPr>
              <a:xfrm>
                <a:off x="3584108" y="5346775"/>
                <a:ext cx="5120312" cy="1200329"/>
              </a:xfrm>
              <a:prstGeom prst="rect">
                <a:avLst/>
              </a:prstGeom>
              <a:blipFill>
                <a:blip r:embed="rId3"/>
                <a:stretch>
                  <a:fillRect t="-3125" b="-1041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 calcmode="lin" valueType="num">
                                      <p:cBhvr additive="base">
                                        <p:cTn id="7" dur="500" fill="hold"/>
                                        <p:tgtEl>
                                          <p:spTgt spid="200"/>
                                        </p:tgtEl>
                                        <p:attrNameLst>
                                          <p:attrName>ppt_x</p:attrName>
                                        </p:attrNameLst>
                                      </p:cBhvr>
                                      <p:tavLst>
                                        <p:tav tm="0">
                                          <p:val>
                                            <p:strVal val="0-#ppt_w/2"/>
                                          </p:val>
                                        </p:tav>
                                        <p:tav tm="100000">
                                          <p:val>
                                            <p:strVal val="#ppt_x"/>
                                          </p:val>
                                        </p:tav>
                                      </p:tavLst>
                                    </p:anim>
                                    <p:anim calcmode="lin" valueType="num">
                                      <p:cBhvr additive="base">
                                        <p:cTn id="8" dur="500" fill="hold"/>
                                        <p:tgtEl>
                                          <p:spTgt spid="2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0"/>
                                        </p:tgtEl>
                                        <p:attrNameLst>
                                          <p:attrName>style.visibility</p:attrName>
                                        </p:attrNameLst>
                                      </p:cBhvr>
                                      <p:to>
                                        <p:strVal val="visible"/>
                                      </p:to>
                                    </p:set>
                                  </p:childTnLst>
                                </p:cTn>
                              </p:par>
                              <p:par>
                                <p:cTn id="25" presetID="31" presetClass="entr" presetSubtype="0" fill="hold" grpId="0" nodeType="withEffect">
                                  <p:stCondLst>
                                    <p:cond delay="0"/>
                                  </p:stCondLst>
                                  <p:childTnLst>
                                    <p:set>
                                      <p:cBhvr>
                                        <p:cTn id="26" dur="1" fill="hold">
                                          <p:stCondLst>
                                            <p:cond delay="0"/>
                                          </p:stCondLst>
                                        </p:cTn>
                                        <p:tgtEl>
                                          <p:spTgt spid="199"/>
                                        </p:tgtEl>
                                        <p:attrNameLst>
                                          <p:attrName>style.visibility</p:attrName>
                                        </p:attrNameLst>
                                      </p:cBhvr>
                                      <p:to>
                                        <p:strVal val="visible"/>
                                      </p:to>
                                    </p:set>
                                    <p:anim calcmode="lin" valueType="num">
                                      <p:cBhvr>
                                        <p:cTn id="27" dur="1000" fill="hold"/>
                                        <p:tgtEl>
                                          <p:spTgt spid="199"/>
                                        </p:tgtEl>
                                        <p:attrNameLst>
                                          <p:attrName>ppt_w</p:attrName>
                                        </p:attrNameLst>
                                      </p:cBhvr>
                                      <p:tavLst>
                                        <p:tav tm="0">
                                          <p:val>
                                            <p:fltVal val="0"/>
                                          </p:val>
                                        </p:tav>
                                        <p:tav tm="100000">
                                          <p:val>
                                            <p:strVal val="#ppt_w"/>
                                          </p:val>
                                        </p:tav>
                                      </p:tavLst>
                                    </p:anim>
                                    <p:anim calcmode="lin" valueType="num">
                                      <p:cBhvr>
                                        <p:cTn id="28" dur="1000" fill="hold"/>
                                        <p:tgtEl>
                                          <p:spTgt spid="199"/>
                                        </p:tgtEl>
                                        <p:attrNameLst>
                                          <p:attrName>ppt_h</p:attrName>
                                        </p:attrNameLst>
                                      </p:cBhvr>
                                      <p:tavLst>
                                        <p:tav tm="0">
                                          <p:val>
                                            <p:fltVal val="0"/>
                                          </p:val>
                                        </p:tav>
                                        <p:tav tm="100000">
                                          <p:val>
                                            <p:strVal val="#ppt_h"/>
                                          </p:val>
                                        </p:tav>
                                      </p:tavLst>
                                    </p:anim>
                                    <p:anim calcmode="lin" valueType="num">
                                      <p:cBhvr>
                                        <p:cTn id="29" dur="1000" fill="hold"/>
                                        <p:tgtEl>
                                          <p:spTgt spid="199"/>
                                        </p:tgtEl>
                                        <p:attrNameLst>
                                          <p:attrName>style.rotation</p:attrName>
                                        </p:attrNameLst>
                                      </p:cBhvr>
                                      <p:tavLst>
                                        <p:tav tm="0">
                                          <p:val>
                                            <p:fltVal val="90"/>
                                          </p:val>
                                        </p:tav>
                                        <p:tav tm="100000">
                                          <p:val>
                                            <p:fltVal val="0"/>
                                          </p:val>
                                        </p:tav>
                                      </p:tavLst>
                                    </p:anim>
                                    <p:animEffect transition="in" filter="fade">
                                      <p:cBhvr>
                                        <p:cTn id="30" dur="1000"/>
                                        <p:tgtEl>
                                          <p:spTgt spid="199"/>
                                        </p:tgtEl>
                                      </p:cBhvr>
                                    </p:animEffect>
                                  </p:childTnLst>
                                </p:cTn>
                              </p:par>
                              <p:par>
                                <p:cTn id="31" presetID="2" presetClass="entr" presetSubtype="4" fill="hold" nodeType="withEffect">
                                  <p:stCondLst>
                                    <p:cond delay="0"/>
                                  </p:stCondLst>
                                  <p:childTnLst>
                                    <p:set>
                                      <p:cBhvr>
                                        <p:cTn id="32" dur="1" fill="hold">
                                          <p:stCondLst>
                                            <p:cond delay="0"/>
                                          </p:stCondLst>
                                        </p:cTn>
                                        <p:tgtEl>
                                          <p:spTgt spid="198"/>
                                        </p:tgtEl>
                                        <p:attrNameLst>
                                          <p:attrName>style.visibility</p:attrName>
                                        </p:attrNameLst>
                                      </p:cBhvr>
                                      <p:to>
                                        <p:strVal val="visible"/>
                                      </p:to>
                                    </p:set>
                                    <p:anim calcmode="lin" valueType="num">
                                      <p:cBhvr additive="base">
                                        <p:cTn id="33" dur="500" fill="hold"/>
                                        <p:tgtEl>
                                          <p:spTgt spid="198"/>
                                        </p:tgtEl>
                                        <p:attrNameLst>
                                          <p:attrName>ppt_x</p:attrName>
                                        </p:attrNameLst>
                                      </p:cBhvr>
                                      <p:tavLst>
                                        <p:tav tm="0">
                                          <p:val>
                                            <p:strVal val="#ppt_x"/>
                                          </p:val>
                                        </p:tav>
                                        <p:tav tm="100000">
                                          <p:val>
                                            <p:strVal val="#ppt_x"/>
                                          </p:val>
                                        </p:tav>
                                      </p:tavLst>
                                    </p:anim>
                                    <p:anim calcmode="lin" valueType="num">
                                      <p:cBhvr additive="base">
                                        <p:cTn id="34" dur="500" fill="hold"/>
                                        <p:tgtEl>
                                          <p:spTgt spid="19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89"/>
                                        </p:tgtEl>
                                        <p:attrNameLst>
                                          <p:attrName>style.visibility</p:attrName>
                                        </p:attrNameLst>
                                      </p:cBhvr>
                                      <p:to>
                                        <p:strVal val="visible"/>
                                      </p:to>
                                    </p:set>
                                    <p:anim calcmode="lin" valueType="num">
                                      <p:cBhvr additive="base">
                                        <p:cTn id="39" dur="500" fill="hold"/>
                                        <p:tgtEl>
                                          <p:spTgt spid="189"/>
                                        </p:tgtEl>
                                        <p:attrNameLst>
                                          <p:attrName>ppt_x</p:attrName>
                                        </p:attrNameLst>
                                      </p:cBhvr>
                                      <p:tavLst>
                                        <p:tav tm="0">
                                          <p:val>
                                            <p:strVal val="0-#ppt_w/2"/>
                                          </p:val>
                                        </p:tav>
                                        <p:tav tm="100000">
                                          <p:val>
                                            <p:strVal val="#ppt_x"/>
                                          </p:val>
                                        </p:tav>
                                      </p:tavLst>
                                    </p:anim>
                                    <p:anim calcmode="lin" valueType="num">
                                      <p:cBhvr additive="base">
                                        <p:cTn id="40" dur="500" fill="hold"/>
                                        <p:tgtEl>
                                          <p:spTgt spid="189"/>
                                        </p:tgtEl>
                                        <p:attrNameLst>
                                          <p:attrName>ppt_y</p:attrName>
                                        </p:attrNameLst>
                                      </p:cBhvr>
                                      <p:tavLst>
                                        <p:tav tm="0">
                                          <p:val>
                                            <p:strVal val="#ppt_y"/>
                                          </p:val>
                                        </p:tav>
                                        <p:tav tm="100000">
                                          <p:val>
                                            <p:strVal val="#ppt_y"/>
                                          </p:val>
                                        </p:tav>
                                      </p:tavLst>
                                    </p:anim>
                                  </p:childTnLst>
                                </p:cTn>
                              </p:par>
                              <p:par>
                                <p:cTn id="41" presetID="1" presetClass="entr" presetSubtype="0" fill="hold" grpId="0" nodeType="withEffect">
                                  <p:stCondLst>
                                    <p:cond delay="0"/>
                                  </p:stCondLst>
                                  <p:childTnLst>
                                    <p:set>
                                      <p:cBhvr>
                                        <p:cTn id="42" dur="1" fill="hold">
                                          <p:stCondLst>
                                            <p:cond delay="0"/>
                                          </p:stCondLst>
                                        </p:cTn>
                                        <p:tgtEl>
                                          <p:spTgt spid="2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20"/>
                                        </p:tgtEl>
                                        <p:attrNameLst>
                                          <p:attrName>style.visibility</p:attrName>
                                        </p:attrNameLst>
                                      </p:cBhvr>
                                      <p:to>
                                        <p:strVal val="visible"/>
                                      </p:to>
                                    </p:set>
                                    <p:anim calcmode="lin" valueType="num">
                                      <p:cBhvr additive="base">
                                        <p:cTn id="55" dur="500" fill="hold"/>
                                        <p:tgtEl>
                                          <p:spTgt spid="220"/>
                                        </p:tgtEl>
                                        <p:attrNameLst>
                                          <p:attrName>ppt_x</p:attrName>
                                        </p:attrNameLst>
                                      </p:cBhvr>
                                      <p:tavLst>
                                        <p:tav tm="0">
                                          <p:val>
                                            <p:strVal val="#ppt_x"/>
                                          </p:val>
                                        </p:tav>
                                        <p:tav tm="100000">
                                          <p:val>
                                            <p:strVal val="#ppt_x"/>
                                          </p:val>
                                        </p:tav>
                                      </p:tavLst>
                                    </p:anim>
                                    <p:anim calcmode="lin" valueType="num">
                                      <p:cBhvr additive="base">
                                        <p:cTn id="56" dur="500" fill="hold"/>
                                        <p:tgtEl>
                                          <p:spTgt spid="22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0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1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52"/>
                                        </p:tgtEl>
                                        <p:attrNameLst>
                                          <p:attrName>style.visibility</p:attrName>
                                        </p:attrNameLst>
                                      </p:cBhvr>
                                      <p:to>
                                        <p:strVal val="visible"/>
                                      </p:to>
                                    </p:set>
                                  </p:childTnLst>
                                </p:cTn>
                              </p:par>
                              <p:par>
                                <p:cTn id="73" presetID="2" presetClass="entr" presetSubtype="4" fill="hold" nodeType="with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additive="base">
                                        <p:cTn id="75" dur="500" fill="hold"/>
                                        <p:tgtEl>
                                          <p:spTgt spid="208"/>
                                        </p:tgtEl>
                                        <p:attrNameLst>
                                          <p:attrName>ppt_x</p:attrName>
                                        </p:attrNameLst>
                                      </p:cBhvr>
                                      <p:tavLst>
                                        <p:tav tm="0">
                                          <p:val>
                                            <p:strVal val="#ppt_x"/>
                                          </p:val>
                                        </p:tav>
                                        <p:tav tm="100000">
                                          <p:val>
                                            <p:strVal val="#ppt_x"/>
                                          </p:val>
                                        </p:tav>
                                      </p:tavLst>
                                    </p:anim>
                                    <p:anim calcmode="lin" valueType="num">
                                      <p:cBhvr additive="base">
                                        <p:cTn id="76" dur="500" fill="hold"/>
                                        <p:tgtEl>
                                          <p:spTgt spid="208"/>
                                        </p:tgtEl>
                                        <p:attrNameLst>
                                          <p:attrName>ppt_y</p:attrName>
                                        </p:attrNameLst>
                                      </p:cBhvr>
                                      <p:tavLst>
                                        <p:tav tm="0">
                                          <p:val>
                                            <p:strVal val="1+#ppt_h/2"/>
                                          </p:val>
                                        </p:tav>
                                        <p:tav tm="100000">
                                          <p:val>
                                            <p:strVal val="#ppt_y"/>
                                          </p:val>
                                        </p:tav>
                                      </p:tavLst>
                                    </p:anim>
                                  </p:childTnLst>
                                </p:cTn>
                              </p:par>
                              <p:par>
                                <p:cTn id="77" presetID="31" presetClass="entr" presetSubtype="0" fill="hold" grpId="0" nodeType="withEffect">
                                  <p:stCondLst>
                                    <p:cond delay="0"/>
                                  </p:stCondLst>
                                  <p:childTnLst>
                                    <p:set>
                                      <p:cBhvr>
                                        <p:cTn id="78" dur="1" fill="hold">
                                          <p:stCondLst>
                                            <p:cond delay="0"/>
                                          </p:stCondLst>
                                        </p:cTn>
                                        <p:tgtEl>
                                          <p:spTgt spid="215"/>
                                        </p:tgtEl>
                                        <p:attrNameLst>
                                          <p:attrName>style.visibility</p:attrName>
                                        </p:attrNameLst>
                                      </p:cBhvr>
                                      <p:to>
                                        <p:strVal val="visible"/>
                                      </p:to>
                                    </p:set>
                                    <p:anim calcmode="lin" valueType="num">
                                      <p:cBhvr>
                                        <p:cTn id="79" dur="1000" fill="hold"/>
                                        <p:tgtEl>
                                          <p:spTgt spid="215"/>
                                        </p:tgtEl>
                                        <p:attrNameLst>
                                          <p:attrName>ppt_w</p:attrName>
                                        </p:attrNameLst>
                                      </p:cBhvr>
                                      <p:tavLst>
                                        <p:tav tm="0">
                                          <p:val>
                                            <p:fltVal val="0"/>
                                          </p:val>
                                        </p:tav>
                                        <p:tav tm="100000">
                                          <p:val>
                                            <p:strVal val="#ppt_w"/>
                                          </p:val>
                                        </p:tav>
                                      </p:tavLst>
                                    </p:anim>
                                    <p:anim calcmode="lin" valueType="num">
                                      <p:cBhvr>
                                        <p:cTn id="80" dur="1000" fill="hold"/>
                                        <p:tgtEl>
                                          <p:spTgt spid="215"/>
                                        </p:tgtEl>
                                        <p:attrNameLst>
                                          <p:attrName>ppt_h</p:attrName>
                                        </p:attrNameLst>
                                      </p:cBhvr>
                                      <p:tavLst>
                                        <p:tav tm="0">
                                          <p:val>
                                            <p:fltVal val="0"/>
                                          </p:val>
                                        </p:tav>
                                        <p:tav tm="100000">
                                          <p:val>
                                            <p:strVal val="#ppt_h"/>
                                          </p:val>
                                        </p:tav>
                                      </p:tavLst>
                                    </p:anim>
                                    <p:anim calcmode="lin" valueType="num">
                                      <p:cBhvr>
                                        <p:cTn id="81" dur="1000" fill="hold"/>
                                        <p:tgtEl>
                                          <p:spTgt spid="215"/>
                                        </p:tgtEl>
                                        <p:attrNameLst>
                                          <p:attrName>style.rotation</p:attrName>
                                        </p:attrNameLst>
                                      </p:cBhvr>
                                      <p:tavLst>
                                        <p:tav tm="0">
                                          <p:val>
                                            <p:fltVal val="90"/>
                                          </p:val>
                                        </p:tav>
                                        <p:tav tm="100000">
                                          <p:val>
                                            <p:fltVal val="0"/>
                                          </p:val>
                                        </p:tav>
                                      </p:tavLst>
                                    </p:anim>
                                    <p:animEffect transition="in" filter="fade">
                                      <p:cBhvr>
                                        <p:cTn id="82" dur="1000"/>
                                        <p:tgtEl>
                                          <p:spTgt spid="215"/>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 presetClass="entr" presetSubtype="2" fill="hold" nodeType="clickEffect">
                                  <p:stCondLst>
                                    <p:cond delay="0"/>
                                  </p:stCondLst>
                                  <p:childTnLst>
                                    <p:set>
                                      <p:cBhvr>
                                        <p:cTn id="94" dur="1" fill="hold">
                                          <p:stCondLst>
                                            <p:cond delay="0"/>
                                          </p:stCondLst>
                                        </p:cTn>
                                        <p:tgtEl>
                                          <p:spTgt spid="241"/>
                                        </p:tgtEl>
                                        <p:attrNameLst>
                                          <p:attrName>style.visibility</p:attrName>
                                        </p:attrNameLst>
                                      </p:cBhvr>
                                      <p:to>
                                        <p:strVal val="visible"/>
                                      </p:to>
                                    </p:set>
                                    <p:anim calcmode="lin" valueType="num">
                                      <p:cBhvr additive="base">
                                        <p:cTn id="95" dur="500" fill="hold"/>
                                        <p:tgtEl>
                                          <p:spTgt spid="241"/>
                                        </p:tgtEl>
                                        <p:attrNameLst>
                                          <p:attrName>ppt_x</p:attrName>
                                        </p:attrNameLst>
                                      </p:cBhvr>
                                      <p:tavLst>
                                        <p:tav tm="0">
                                          <p:val>
                                            <p:strVal val="1+#ppt_w/2"/>
                                          </p:val>
                                        </p:tav>
                                        <p:tav tm="100000">
                                          <p:val>
                                            <p:strVal val="#ppt_x"/>
                                          </p:val>
                                        </p:tav>
                                      </p:tavLst>
                                    </p:anim>
                                    <p:anim calcmode="lin" valueType="num">
                                      <p:cBhvr additive="base">
                                        <p:cTn id="96" dur="500" fill="hold"/>
                                        <p:tgtEl>
                                          <p:spTgt spid="241"/>
                                        </p:tgtEl>
                                        <p:attrNameLst>
                                          <p:attrName>ppt_y</p:attrName>
                                        </p:attrNameLst>
                                      </p:cBhvr>
                                      <p:tavLst>
                                        <p:tav tm="0">
                                          <p:val>
                                            <p:strVal val="#ppt_y"/>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2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8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3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nodeType="clickEffect">
                                  <p:stCondLst>
                                    <p:cond delay="0"/>
                                  </p:stCondLst>
                                  <p:childTnLst>
                                    <p:set>
                                      <p:cBhvr>
                                        <p:cTn id="112" dur="1" fill="hold">
                                          <p:stCondLst>
                                            <p:cond delay="0"/>
                                          </p:stCondLst>
                                        </p:cTn>
                                        <p:tgtEl>
                                          <p:spTgt spid="226"/>
                                        </p:tgtEl>
                                        <p:attrNameLst>
                                          <p:attrName>style.visibility</p:attrName>
                                        </p:attrNameLst>
                                      </p:cBhvr>
                                      <p:to>
                                        <p:strVal val="visible"/>
                                      </p:to>
                                    </p:set>
                                    <p:anim calcmode="lin" valueType="num">
                                      <p:cBhvr additive="base">
                                        <p:cTn id="113" dur="500" fill="hold"/>
                                        <p:tgtEl>
                                          <p:spTgt spid="226"/>
                                        </p:tgtEl>
                                        <p:attrNameLst>
                                          <p:attrName>ppt_x</p:attrName>
                                        </p:attrNameLst>
                                      </p:cBhvr>
                                      <p:tavLst>
                                        <p:tav tm="0">
                                          <p:val>
                                            <p:strVal val="#ppt_x"/>
                                          </p:val>
                                        </p:tav>
                                        <p:tav tm="100000">
                                          <p:val>
                                            <p:strVal val="#ppt_x"/>
                                          </p:val>
                                        </p:tav>
                                      </p:tavLst>
                                    </p:anim>
                                    <p:anim calcmode="lin" valueType="num">
                                      <p:cBhvr additive="base">
                                        <p:cTn id="114" dur="500" fill="hold"/>
                                        <p:tgtEl>
                                          <p:spTgt spid="226"/>
                                        </p:tgtEl>
                                        <p:attrNameLst>
                                          <p:attrName>ppt_y</p:attrName>
                                        </p:attrNameLst>
                                      </p:cBhvr>
                                      <p:tavLst>
                                        <p:tav tm="0">
                                          <p:val>
                                            <p:strVal val="1+#ppt_h/2"/>
                                          </p:val>
                                        </p:tav>
                                        <p:tav tm="100000">
                                          <p:val>
                                            <p:strVal val="#ppt_y"/>
                                          </p:val>
                                        </p:tav>
                                      </p:tavLst>
                                    </p:anim>
                                  </p:childTnLst>
                                </p:cTn>
                              </p:par>
                              <p:par>
                                <p:cTn id="115" presetID="1" presetClass="entr" presetSubtype="0" fill="hold" grpId="0" nodeType="withEffect">
                                  <p:stCondLst>
                                    <p:cond delay="0"/>
                                  </p:stCondLst>
                                  <p:childTnLst>
                                    <p:set>
                                      <p:cBhvr>
                                        <p:cTn id="116" dur="1" fill="hold">
                                          <p:stCondLst>
                                            <p:cond delay="0"/>
                                          </p:stCondLst>
                                        </p:cTn>
                                        <p:tgtEl>
                                          <p:spTgt spid="253"/>
                                        </p:tgtEl>
                                        <p:attrNameLst>
                                          <p:attrName>style.visibility</p:attrName>
                                        </p:attrNameLst>
                                      </p:cBhvr>
                                      <p:to>
                                        <p:strVal val="visible"/>
                                      </p:to>
                                    </p:set>
                                  </p:childTnLst>
                                </p:cTn>
                              </p:par>
                              <p:par>
                                <p:cTn id="117" presetID="31" presetClass="entr" presetSubtype="0" fill="hold" grpId="0" nodeType="withEffect">
                                  <p:stCondLst>
                                    <p:cond delay="0"/>
                                  </p:stCondLst>
                                  <p:childTnLst>
                                    <p:set>
                                      <p:cBhvr>
                                        <p:cTn id="118" dur="1" fill="hold">
                                          <p:stCondLst>
                                            <p:cond delay="0"/>
                                          </p:stCondLst>
                                        </p:cTn>
                                        <p:tgtEl>
                                          <p:spTgt spid="235"/>
                                        </p:tgtEl>
                                        <p:attrNameLst>
                                          <p:attrName>style.visibility</p:attrName>
                                        </p:attrNameLst>
                                      </p:cBhvr>
                                      <p:to>
                                        <p:strVal val="visible"/>
                                      </p:to>
                                    </p:set>
                                    <p:anim calcmode="lin" valueType="num">
                                      <p:cBhvr>
                                        <p:cTn id="119" dur="1000" fill="hold"/>
                                        <p:tgtEl>
                                          <p:spTgt spid="235"/>
                                        </p:tgtEl>
                                        <p:attrNameLst>
                                          <p:attrName>ppt_w</p:attrName>
                                        </p:attrNameLst>
                                      </p:cBhvr>
                                      <p:tavLst>
                                        <p:tav tm="0">
                                          <p:val>
                                            <p:fltVal val="0"/>
                                          </p:val>
                                        </p:tav>
                                        <p:tav tm="100000">
                                          <p:val>
                                            <p:strVal val="#ppt_w"/>
                                          </p:val>
                                        </p:tav>
                                      </p:tavLst>
                                    </p:anim>
                                    <p:anim calcmode="lin" valueType="num">
                                      <p:cBhvr>
                                        <p:cTn id="120" dur="1000" fill="hold"/>
                                        <p:tgtEl>
                                          <p:spTgt spid="235"/>
                                        </p:tgtEl>
                                        <p:attrNameLst>
                                          <p:attrName>ppt_h</p:attrName>
                                        </p:attrNameLst>
                                      </p:cBhvr>
                                      <p:tavLst>
                                        <p:tav tm="0">
                                          <p:val>
                                            <p:fltVal val="0"/>
                                          </p:val>
                                        </p:tav>
                                        <p:tav tm="100000">
                                          <p:val>
                                            <p:strVal val="#ppt_h"/>
                                          </p:val>
                                        </p:tav>
                                      </p:tavLst>
                                    </p:anim>
                                    <p:anim calcmode="lin" valueType="num">
                                      <p:cBhvr>
                                        <p:cTn id="121" dur="1000" fill="hold"/>
                                        <p:tgtEl>
                                          <p:spTgt spid="235"/>
                                        </p:tgtEl>
                                        <p:attrNameLst>
                                          <p:attrName>style.rotation</p:attrName>
                                        </p:attrNameLst>
                                      </p:cBhvr>
                                      <p:tavLst>
                                        <p:tav tm="0">
                                          <p:val>
                                            <p:fltVal val="90"/>
                                          </p:val>
                                        </p:tav>
                                        <p:tav tm="100000">
                                          <p:val>
                                            <p:fltVal val="0"/>
                                          </p:val>
                                        </p:tav>
                                      </p:tavLst>
                                    </p:anim>
                                    <p:animEffect transition="in" filter="fade">
                                      <p:cBhvr>
                                        <p:cTn id="122" dur="1000"/>
                                        <p:tgtEl>
                                          <p:spTgt spid="235"/>
                                        </p:tgtEl>
                                      </p:cBhvr>
                                    </p:animEffect>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nodeType="clickEffect">
                                  <p:stCondLst>
                                    <p:cond delay="0"/>
                                  </p:stCondLst>
                                  <p:childTnLst>
                                    <p:set>
                                      <p:cBhvr>
                                        <p:cTn id="126" dur="1" fill="hold">
                                          <p:stCondLst>
                                            <p:cond delay="0"/>
                                          </p:stCondLst>
                                        </p:cTn>
                                        <p:tgtEl>
                                          <p:spTgt spid="254"/>
                                        </p:tgtEl>
                                        <p:attrNameLst>
                                          <p:attrName>style.visibility</p:attrName>
                                        </p:attrNameLst>
                                      </p:cBhvr>
                                      <p:to>
                                        <p:strVal val="visible"/>
                                      </p:to>
                                    </p:set>
                                    <p:anim calcmode="lin" valueType="num">
                                      <p:cBhvr additive="base">
                                        <p:cTn id="127" dur="500" fill="hold"/>
                                        <p:tgtEl>
                                          <p:spTgt spid="254"/>
                                        </p:tgtEl>
                                        <p:attrNameLst>
                                          <p:attrName>ppt_x</p:attrName>
                                        </p:attrNameLst>
                                      </p:cBhvr>
                                      <p:tavLst>
                                        <p:tav tm="0">
                                          <p:val>
                                            <p:strVal val="0-#ppt_w/2"/>
                                          </p:val>
                                        </p:tav>
                                        <p:tav tm="100000">
                                          <p:val>
                                            <p:strVal val="#ppt_x"/>
                                          </p:val>
                                        </p:tav>
                                      </p:tavLst>
                                    </p:anim>
                                    <p:anim calcmode="lin" valueType="num">
                                      <p:cBhvr additive="base">
                                        <p:cTn id="128" dur="500" fill="hold"/>
                                        <p:tgtEl>
                                          <p:spTgt spid="254"/>
                                        </p:tgtEl>
                                        <p:attrNameLst>
                                          <p:attrName>ppt_y</p:attrName>
                                        </p:attrNameLst>
                                      </p:cBhvr>
                                      <p:tavLst>
                                        <p:tav tm="0">
                                          <p:val>
                                            <p:strVal val="#ppt_y"/>
                                          </p:val>
                                        </p:tav>
                                        <p:tav tm="100000">
                                          <p:val>
                                            <p:strVal val="#ppt_y"/>
                                          </p:val>
                                        </p:tav>
                                      </p:tavLst>
                                    </p:anim>
                                  </p:childTnLst>
                                </p:cTn>
                              </p:par>
                              <p:par>
                                <p:cTn id="129" presetID="1" presetClass="entr" presetSubtype="0" fill="hold" grpId="0" nodeType="withEffect">
                                  <p:stCondLst>
                                    <p:cond delay="0"/>
                                  </p:stCondLst>
                                  <p:childTnLst>
                                    <p:set>
                                      <p:cBhvr>
                                        <p:cTn id="130" dur="1" fill="hold">
                                          <p:stCondLst>
                                            <p:cond delay="0"/>
                                          </p:stCondLst>
                                        </p:cTn>
                                        <p:tgtEl>
                                          <p:spTgt spid="22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3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p:bldP spid="207" grpId="0"/>
      <p:bldP spid="215" grpId="0"/>
      <p:bldP spid="216" grpId="0"/>
      <p:bldP spid="225" grpId="0"/>
      <p:bldP spid="227" grpId="0" animBg="1"/>
      <p:bldP spid="235" grpId="0"/>
      <p:bldP spid="246" grpId="0"/>
      <p:bldP spid="250" grpId="0" animBg="1"/>
      <p:bldP spid="251" grpId="0" animBg="1"/>
      <p:bldP spid="252" grpId="0" animBg="1"/>
      <p:bldP spid="25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Perfect Competition · </a:t>
            </a:r>
            <a:r>
              <a:rPr lang="en-US" sz="1600" b="1" dirty="0">
                <a:solidFill>
                  <a:srgbClr val="FFFFFF"/>
                </a:solidFill>
              </a:rPr>
              <a:t>Profit Maximization</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If </a:t>
            </a:r>
            <a:r>
              <a:rPr lang="en-US" sz="3000" b="1" i="0" dirty="0">
                <a:solidFill>
                  <a:srgbClr val="0B2B4E"/>
                </a:solidFill>
                <a:latin typeface="Calibri"/>
              </a:rPr>
              <a:t>P</a:t>
            </a:r>
            <a:r>
              <a:rPr sz="3000" b="1" i="0" dirty="0">
                <a:solidFill>
                  <a:srgbClr val="0B2B4E"/>
                </a:solidFill>
                <a:latin typeface="Calibri"/>
              </a:rPr>
              <a:t>rofit is </a:t>
            </a:r>
            <a:r>
              <a:rPr lang="en-US" sz="3000" b="1" i="0" dirty="0">
                <a:solidFill>
                  <a:srgbClr val="0B2B4E"/>
                </a:solidFill>
                <a:latin typeface="Calibri"/>
              </a:rPr>
              <a:t>N</a:t>
            </a:r>
            <a:r>
              <a:rPr sz="3000" b="1" i="0" dirty="0">
                <a:solidFill>
                  <a:srgbClr val="0B2B4E"/>
                </a:solidFill>
                <a:latin typeface="Calibri"/>
              </a:rPr>
              <a:t>egative, </a:t>
            </a:r>
            <a:r>
              <a:rPr lang="en-US" sz="3000" b="1" i="0" dirty="0">
                <a:solidFill>
                  <a:srgbClr val="0B2B4E"/>
                </a:solidFill>
                <a:latin typeface="Calibri"/>
              </a:rPr>
              <a:t>S</a:t>
            </a:r>
            <a:r>
              <a:rPr sz="3000" b="1" i="0" dirty="0">
                <a:solidFill>
                  <a:srgbClr val="0B2B4E"/>
                </a:solidFill>
                <a:latin typeface="Calibri"/>
              </a:rPr>
              <a:t>hould a </a:t>
            </a:r>
            <a:r>
              <a:rPr lang="en-US" sz="3000" b="1" i="0" dirty="0">
                <a:solidFill>
                  <a:srgbClr val="0B2B4E"/>
                </a:solidFill>
                <a:latin typeface="Calibri"/>
              </a:rPr>
              <a:t>F</a:t>
            </a:r>
            <a:r>
              <a:rPr sz="3000" b="1" i="0" dirty="0">
                <a:solidFill>
                  <a:srgbClr val="0B2B4E"/>
                </a:solidFill>
                <a:latin typeface="Calibri"/>
              </a:rPr>
              <a:t>irm </a:t>
            </a:r>
            <a:r>
              <a:rPr lang="en-US" sz="3000" b="1" dirty="0">
                <a:solidFill>
                  <a:srgbClr val="0B2B4E"/>
                </a:solidFill>
                <a:latin typeface="Calibri"/>
              </a:rPr>
              <a:t>S</a:t>
            </a:r>
            <a:r>
              <a:rPr sz="3000" b="1" i="0" dirty="0">
                <a:solidFill>
                  <a:srgbClr val="0B2B4E"/>
                </a:solidFill>
                <a:latin typeface="Calibri"/>
              </a:rPr>
              <a:t>hut </a:t>
            </a:r>
            <a:r>
              <a:rPr lang="en-US" sz="3000" b="1" dirty="0">
                <a:solidFill>
                  <a:srgbClr val="0B2B4E"/>
                </a:solidFill>
                <a:latin typeface="Calibri"/>
              </a:rPr>
              <a:t>D</a:t>
            </a:r>
            <a:r>
              <a:rPr sz="3000" b="1" i="0" dirty="0">
                <a:solidFill>
                  <a:srgbClr val="0B2B4E"/>
                </a:solidFill>
                <a:latin typeface="Calibri"/>
              </a:rPr>
              <a:t>own?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24</a:t>
            </a:r>
          </a:p>
        </p:txBody>
      </p:sp>
      <p:sp>
        <p:nvSpPr>
          <p:cNvPr id="10" name="BUILD"/>
          <p:cNvSpPr txBox="1"/>
          <p:nvPr/>
        </p:nvSpPr>
        <p:spPr>
          <a:xfrm>
            <a:off x="640080" y="1691640"/>
            <a:ext cx="10881360" cy="4426853"/>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Is a firm better off operating at a loss or shutting down and producing zero output?</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Shutting down: Long run vs. Short run</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Long run: exit the industry</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Short run: </a:t>
            </a:r>
            <a:r>
              <a:rPr lang="en-US" sz="2100" b="0" i="0" dirty="0">
                <a:solidFill>
                  <a:schemeClr val="tx1">
                    <a:lumMod val="65000"/>
                    <a:lumOff val="35000"/>
                  </a:schemeClr>
                </a:solidFill>
                <a:latin typeface="Calibri"/>
              </a:rPr>
              <a:t>still </a:t>
            </a:r>
            <a:r>
              <a:rPr sz="2100" b="0" i="0" dirty="0">
                <a:solidFill>
                  <a:schemeClr val="tx1">
                    <a:lumMod val="65000"/>
                    <a:lumOff val="35000"/>
                  </a:schemeClr>
                </a:solidFill>
                <a:latin typeface="Calibri"/>
              </a:rPr>
              <a:t>need to pay for the fixed costs </a:t>
            </a:r>
          </a:p>
          <a:p>
            <a:pPr lvl="2" indent="-171450">
              <a:spcAft>
                <a:spcPts val="1400"/>
              </a:spcAft>
              <a:buClr>
                <a:srgbClr val="555B66"/>
              </a:buClr>
              <a:buSzPct val="80000"/>
              <a:buFont typeface="Calibri"/>
              <a:buChar char="•"/>
            </a:pPr>
            <a:r>
              <a:rPr sz="1700" b="0" i="0" dirty="0">
                <a:solidFill>
                  <a:schemeClr val="tx1">
                    <a:lumMod val="65000"/>
                    <a:lumOff val="35000"/>
                  </a:schemeClr>
                </a:solidFill>
                <a:latin typeface="Calibri"/>
              </a:rPr>
              <a:t>e.g., land rental contract for the year</a:t>
            </a:r>
            <a:endParaRPr lang="en-US" sz="1700" b="0" i="0" dirty="0">
              <a:solidFill>
                <a:schemeClr val="tx1">
                  <a:lumMod val="65000"/>
                  <a:lumOff val="35000"/>
                </a:schemeClr>
              </a:solidFill>
              <a:latin typeface="Calibri"/>
            </a:endParaRPr>
          </a:p>
          <a:p>
            <a:pPr lvl="2" indent="-171450">
              <a:spcAft>
                <a:spcPts val="1400"/>
              </a:spcAft>
              <a:buClr>
                <a:srgbClr val="555B66"/>
              </a:buClr>
              <a:buSzPct val="80000"/>
              <a:buFont typeface="Calibri"/>
              <a:buChar char="•"/>
            </a:pPr>
            <a:endParaRPr sz="1700" b="0" i="0" dirty="0">
              <a:solidFill>
                <a:srgbClr val="222B3A"/>
              </a:solidFill>
              <a:latin typeface="Calibri"/>
            </a:endParaRPr>
          </a:p>
          <a:p>
            <a:pPr marL="274320" indent="-274320">
              <a:spcAft>
                <a:spcPts val="1400"/>
              </a:spcAft>
              <a:buClr>
                <a:srgbClr val="0B2B4E"/>
              </a:buClr>
              <a:buSzPct val="100000"/>
              <a:buFont typeface="Calibri"/>
              <a:buChar char="▪"/>
            </a:pPr>
            <a:r>
              <a:rPr sz="2600" b="0" i="0" dirty="0">
                <a:solidFill>
                  <a:srgbClr val="C0201B"/>
                </a:solidFill>
                <a:latin typeface="Calibri"/>
              </a:rPr>
              <a:t>We first focus on short-run decisions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Two Ways to Write Profit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25</a:t>
            </a:r>
          </a:p>
        </p:txBody>
      </p:sp>
      <p:sp>
        <p:nvSpPr>
          <p:cNvPr id="10" name="A1_0"/>
          <p:cNvSpPr/>
          <p:nvPr/>
        </p:nvSpPr>
        <p:spPr>
          <a:xfrm>
            <a:off x="713232" y="160934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1</a:t>
            </a:r>
          </a:p>
        </p:txBody>
      </p:sp>
      <p:sp>
        <p:nvSpPr>
          <p:cNvPr id="11" name="A1_1"/>
          <p:cNvSpPr txBox="1"/>
          <p:nvPr/>
        </p:nvSpPr>
        <p:spPr>
          <a:xfrm>
            <a:off x="1874519" y="1572768"/>
            <a:ext cx="1463040" cy="530352"/>
          </a:xfrm>
          <a:prstGeom prst="rect">
            <a:avLst/>
          </a:prstGeom>
          <a:noFill/>
        </p:spPr>
        <p:txBody>
          <a:bodyPr wrap="square" lIns="0" tIns="0" rIns="0" bIns="0" anchor="ctr">
            <a:spAutoFit/>
          </a:bodyPr>
          <a:lstStyle/>
          <a:p>
            <a:pPr algn="l"/>
            <a:r>
              <a:rPr sz="3000" b="0" i="0">
                <a:solidFill>
                  <a:srgbClr val="0B2B4E"/>
                </a:solidFill>
                <a:latin typeface="Calibri"/>
              </a:rPr>
              <a:t>Profit</a:t>
            </a:r>
          </a:p>
        </p:txBody>
      </p:sp>
      <p:sp>
        <p:nvSpPr>
          <p:cNvPr id="12" name="A1_2"/>
          <p:cNvSpPr txBox="1"/>
          <p:nvPr/>
        </p:nvSpPr>
        <p:spPr>
          <a:xfrm>
            <a:off x="3246120" y="1572768"/>
            <a:ext cx="8229600" cy="530352"/>
          </a:xfrm>
          <a:prstGeom prst="rect">
            <a:avLst/>
          </a:prstGeom>
          <a:noFill/>
        </p:spPr>
        <p:txBody>
          <a:bodyPr wrap="square" lIns="0" tIns="0" rIns="0" bIns="0" anchor="ctr">
            <a:spAutoFit/>
          </a:bodyPr>
          <a:lstStyle/>
          <a:p>
            <a:pPr algn="l"/>
            <a:r>
              <a:rPr sz="3000" b="0" i="0">
                <a:solidFill>
                  <a:srgbClr val="0B2B4E"/>
                </a:solidFill>
                <a:latin typeface="Cambria Math"/>
              </a:rPr>
              <a:t>= </a:t>
            </a:r>
            <a:r>
              <a:rPr sz="3000" b="0" i="1">
                <a:solidFill>
                  <a:srgbClr val="0B2B4E"/>
                </a:solidFill>
                <a:latin typeface="Cambria Math"/>
              </a:rPr>
              <a:t>TR</a:t>
            </a:r>
            <a:r>
              <a:rPr sz="3000" b="0" i="0">
                <a:solidFill>
                  <a:srgbClr val="0B2B4E"/>
                </a:solidFill>
                <a:latin typeface="Cambria Math"/>
              </a:rPr>
              <a:t> − </a:t>
            </a:r>
            <a:r>
              <a:rPr sz="3000" b="0" i="1">
                <a:solidFill>
                  <a:srgbClr val="0B2B4E"/>
                </a:solidFill>
                <a:latin typeface="Cambria Math"/>
              </a:rPr>
              <a:t>TC</a:t>
            </a:r>
          </a:p>
        </p:txBody>
      </p:sp>
      <p:sp>
        <p:nvSpPr>
          <p:cNvPr id="13" name="A2_0"/>
          <p:cNvSpPr txBox="1"/>
          <p:nvPr/>
        </p:nvSpPr>
        <p:spPr>
          <a:xfrm>
            <a:off x="3246120" y="2228903"/>
            <a:ext cx="8229600" cy="461665"/>
          </a:xfrm>
          <a:prstGeom prst="rect">
            <a:avLst/>
          </a:prstGeom>
          <a:noFill/>
        </p:spPr>
        <p:txBody>
          <a:bodyPr wrap="square" lIns="0" tIns="0" rIns="0" bIns="0" anchor="ctr">
            <a:spAutoFit/>
          </a:bodyPr>
          <a:lstStyle/>
          <a:p>
            <a:pPr algn="l"/>
            <a:r>
              <a:rPr sz="3000" b="0" i="0" dirty="0">
                <a:solidFill>
                  <a:srgbClr val="0B2B4E"/>
                </a:solidFill>
                <a:latin typeface="Cambria Math"/>
              </a:rPr>
              <a:t>= (</a:t>
            </a:r>
            <a:r>
              <a:rPr sz="3000" b="0" i="1" dirty="0">
                <a:solidFill>
                  <a:srgbClr val="0B2B4E"/>
                </a:solidFill>
                <a:latin typeface="Cambria Math"/>
              </a:rPr>
              <a:t>P</a:t>
            </a:r>
            <a:r>
              <a:rPr sz="3000" b="0" i="0" dirty="0">
                <a:solidFill>
                  <a:srgbClr val="0B2B4E"/>
                </a:solidFill>
                <a:latin typeface="Cambria Math"/>
              </a:rPr>
              <a:t> · </a:t>
            </a:r>
            <a:r>
              <a:rPr sz="3000" b="0" i="1" dirty="0">
                <a:solidFill>
                  <a:srgbClr val="0B2B4E"/>
                </a:solidFill>
                <a:latin typeface="Cambria Math"/>
              </a:rPr>
              <a:t>Q</a:t>
            </a:r>
            <a:r>
              <a:rPr lang="en-US" sz="3000" b="0" i="1" dirty="0">
                <a:solidFill>
                  <a:srgbClr val="0B2B4E"/>
                </a:solidFill>
                <a:latin typeface="Cambria Math"/>
              </a:rPr>
              <a:t> </a:t>
            </a:r>
            <a:r>
              <a:rPr sz="3000" b="0" i="0" dirty="0">
                <a:solidFill>
                  <a:srgbClr val="0B2B4E"/>
                </a:solidFill>
                <a:latin typeface="Cambria Math"/>
              </a:rPr>
              <a:t>) − (</a:t>
            </a:r>
            <a:r>
              <a:rPr sz="3000" b="0" i="1" dirty="0">
                <a:solidFill>
                  <a:srgbClr val="0B2B4E"/>
                </a:solidFill>
                <a:latin typeface="Cambria Math"/>
              </a:rPr>
              <a:t>ATC</a:t>
            </a:r>
            <a:r>
              <a:rPr sz="3000" b="0" i="0" dirty="0">
                <a:solidFill>
                  <a:srgbClr val="0B2B4E"/>
                </a:solidFill>
                <a:latin typeface="Cambria Math"/>
              </a:rPr>
              <a:t> · </a:t>
            </a:r>
            <a:r>
              <a:rPr sz="3000" b="0" i="1" dirty="0">
                <a:solidFill>
                  <a:srgbClr val="0B2B4E"/>
                </a:solidFill>
                <a:latin typeface="Cambria Math"/>
              </a:rPr>
              <a:t>Q</a:t>
            </a:r>
            <a:r>
              <a:rPr lang="en-US" sz="3000" b="0" i="1" dirty="0">
                <a:solidFill>
                  <a:srgbClr val="0B2B4E"/>
                </a:solidFill>
                <a:latin typeface="Cambria Math"/>
              </a:rPr>
              <a:t> </a:t>
            </a:r>
            <a:r>
              <a:rPr sz="3000" b="0" i="0" dirty="0">
                <a:solidFill>
                  <a:srgbClr val="0B2B4E"/>
                </a:solidFill>
                <a:latin typeface="Cambria Math"/>
              </a:rPr>
              <a:t>)</a:t>
            </a:r>
          </a:p>
        </p:txBody>
      </p:sp>
      <p:sp>
        <p:nvSpPr>
          <p:cNvPr id="14" name="A3_0"/>
          <p:cNvSpPr txBox="1"/>
          <p:nvPr/>
        </p:nvSpPr>
        <p:spPr>
          <a:xfrm>
            <a:off x="3246120" y="2850695"/>
            <a:ext cx="8229600" cy="461665"/>
          </a:xfrm>
          <a:prstGeom prst="rect">
            <a:avLst/>
          </a:prstGeom>
          <a:noFill/>
        </p:spPr>
        <p:txBody>
          <a:bodyPr wrap="square" lIns="0" tIns="0" rIns="0" bIns="0" anchor="ctr">
            <a:spAutoFit/>
          </a:bodyPr>
          <a:lstStyle/>
          <a:p>
            <a:pPr algn="l"/>
            <a:r>
              <a:rPr sz="3000" b="0" i="0" dirty="0">
                <a:solidFill>
                  <a:srgbClr val="0B2B4E"/>
                </a:solidFill>
                <a:latin typeface="Cambria Math"/>
              </a:rPr>
              <a:t>= (</a:t>
            </a:r>
            <a:r>
              <a:rPr sz="3000" b="0" i="1" dirty="0">
                <a:solidFill>
                  <a:srgbClr val="C0201B"/>
                </a:solidFill>
                <a:latin typeface="Cambria Math"/>
              </a:rPr>
              <a:t>P</a:t>
            </a:r>
            <a:r>
              <a:rPr sz="3000" b="0" i="0" dirty="0">
                <a:solidFill>
                  <a:srgbClr val="C0201B"/>
                </a:solidFill>
                <a:latin typeface="Cambria Math"/>
              </a:rPr>
              <a:t> − </a:t>
            </a:r>
            <a:r>
              <a:rPr sz="3000" b="0" i="1" dirty="0">
                <a:solidFill>
                  <a:srgbClr val="C0201B"/>
                </a:solidFill>
                <a:latin typeface="Cambria Math"/>
              </a:rPr>
              <a:t>ATC</a:t>
            </a:r>
            <a:r>
              <a:rPr lang="en-US" sz="3000" b="0" i="1" dirty="0">
                <a:solidFill>
                  <a:srgbClr val="C0201B"/>
                </a:solidFill>
                <a:latin typeface="Cambria Math"/>
              </a:rPr>
              <a:t> </a:t>
            </a:r>
            <a:r>
              <a:rPr sz="3000" b="0" i="0" dirty="0">
                <a:solidFill>
                  <a:srgbClr val="0B2B4E"/>
                </a:solidFill>
                <a:latin typeface="Cambria Math"/>
              </a:rPr>
              <a:t>) · </a:t>
            </a:r>
            <a:r>
              <a:rPr sz="3000" b="0" i="1" dirty="0">
                <a:solidFill>
                  <a:srgbClr val="0B2B4E"/>
                </a:solidFill>
                <a:latin typeface="Cambria Math"/>
              </a:rPr>
              <a:t>Q</a:t>
            </a:r>
          </a:p>
        </p:txBody>
      </p:sp>
      <p:sp>
        <p:nvSpPr>
          <p:cNvPr id="15" name="B1_0"/>
          <p:cNvSpPr/>
          <p:nvPr/>
        </p:nvSpPr>
        <p:spPr>
          <a:xfrm>
            <a:off x="713232" y="3749039"/>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2</a:t>
            </a:r>
          </a:p>
        </p:txBody>
      </p:sp>
      <p:sp>
        <p:nvSpPr>
          <p:cNvPr id="16" name="B1_1"/>
          <p:cNvSpPr txBox="1"/>
          <p:nvPr/>
        </p:nvSpPr>
        <p:spPr>
          <a:xfrm>
            <a:off x="1874519" y="3712463"/>
            <a:ext cx="1463040" cy="530352"/>
          </a:xfrm>
          <a:prstGeom prst="rect">
            <a:avLst/>
          </a:prstGeom>
          <a:noFill/>
        </p:spPr>
        <p:txBody>
          <a:bodyPr wrap="square" lIns="0" tIns="0" rIns="0" bIns="0" anchor="ctr">
            <a:spAutoFit/>
          </a:bodyPr>
          <a:lstStyle/>
          <a:p>
            <a:pPr algn="l"/>
            <a:r>
              <a:rPr sz="3000" b="0" i="0">
                <a:solidFill>
                  <a:srgbClr val="0B2B4E"/>
                </a:solidFill>
                <a:latin typeface="Calibri"/>
              </a:rPr>
              <a:t>Profit</a:t>
            </a:r>
          </a:p>
        </p:txBody>
      </p:sp>
      <p:sp>
        <p:nvSpPr>
          <p:cNvPr id="17" name="B1_2"/>
          <p:cNvSpPr txBox="1"/>
          <p:nvPr/>
        </p:nvSpPr>
        <p:spPr>
          <a:xfrm>
            <a:off x="3246120" y="3712463"/>
            <a:ext cx="8229600" cy="530352"/>
          </a:xfrm>
          <a:prstGeom prst="rect">
            <a:avLst/>
          </a:prstGeom>
          <a:noFill/>
        </p:spPr>
        <p:txBody>
          <a:bodyPr wrap="square" lIns="0" tIns="0" rIns="0" bIns="0" anchor="ctr">
            <a:spAutoFit/>
          </a:bodyPr>
          <a:lstStyle/>
          <a:p>
            <a:pPr algn="l"/>
            <a:r>
              <a:rPr sz="3000" b="0" i="0">
                <a:solidFill>
                  <a:srgbClr val="0B2B4E"/>
                </a:solidFill>
                <a:latin typeface="Cambria Math"/>
              </a:rPr>
              <a:t>= </a:t>
            </a:r>
            <a:r>
              <a:rPr sz="3000" b="0" i="1">
                <a:solidFill>
                  <a:srgbClr val="0B2B4E"/>
                </a:solidFill>
                <a:latin typeface="Cambria Math"/>
              </a:rPr>
              <a:t>TR</a:t>
            </a:r>
            <a:r>
              <a:rPr sz="3000" b="0" i="0">
                <a:solidFill>
                  <a:srgbClr val="0B2B4E"/>
                </a:solidFill>
                <a:latin typeface="Cambria Math"/>
              </a:rPr>
              <a:t> − </a:t>
            </a:r>
            <a:r>
              <a:rPr sz="3000" b="0" i="1">
                <a:solidFill>
                  <a:srgbClr val="0B2B4E"/>
                </a:solidFill>
                <a:latin typeface="Cambria Math"/>
              </a:rPr>
              <a:t>TC</a:t>
            </a:r>
          </a:p>
        </p:txBody>
      </p:sp>
      <p:sp>
        <p:nvSpPr>
          <p:cNvPr id="18" name="B2_0"/>
          <p:cNvSpPr txBox="1"/>
          <p:nvPr/>
        </p:nvSpPr>
        <p:spPr>
          <a:xfrm>
            <a:off x="3246120" y="4334256"/>
            <a:ext cx="8229600" cy="530352"/>
          </a:xfrm>
          <a:prstGeom prst="rect">
            <a:avLst/>
          </a:prstGeom>
          <a:noFill/>
        </p:spPr>
        <p:txBody>
          <a:bodyPr wrap="square" lIns="0" tIns="0" rIns="0" bIns="0" anchor="ctr">
            <a:spAutoFit/>
          </a:bodyPr>
          <a:lstStyle/>
          <a:p>
            <a:pPr algn="l"/>
            <a:r>
              <a:rPr sz="3000" b="0" i="0">
                <a:solidFill>
                  <a:srgbClr val="0B2B4E"/>
                </a:solidFill>
                <a:latin typeface="Cambria Math"/>
              </a:rPr>
              <a:t>= </a:t>
            </a:r>
            <a:r>
              <a:rPr sz="3000" b="0" i="1">
                <a:solidFill>
                  <a:srgbClr val="0B2B4E"/>
                </a:solidFill>
                <a:latin typeface="Cambria Math"/>
              </a:rPr>
              <a:t>PQ</a:t>
            </a:r>
            <a:r>
              <a:rPr sz="3000" b="0" i="0">
                <a:solidFill>
                  <a:srgbClr val="0B2B4E"/>
                </a:solidFill>
                <a:latin typeface="Cambria Math"/>
              </a:rPr>
              <a:t> − </a:t>
            </a:r>
            <a:r>
              <a:rPr sz="3000" b="0" i="1">
                <a:solidFill>
                  <a:srgbClr val="0B2B4E"/>
                </a:solidFill>
                <a:latin typeface="Cambria Math"/>
              </a:rPr>
              <a:t>TVC</a:t>
            </a:r>
            <a:r>
              <a:rPr sz="3000" b="0" i="0">
                <a:solidFill>
                  <a:srgbClr val="0B2B4E"/>
                </a:solidFill>
                <a:latin typeface="Cambria Math"/>
              </a:rPr>
              <a:t> − </a:t>
            </a:r>
            <a:r>
              <a:rPr sz="3000" b="0" i="1">
                <a:solidFill>
                  <a:srgbClr val="0B2B4E"/>
                </a:solidFill>
                <a:latin typeface="Cambria Math"/>
              </a:rPr>
              <a:t>TFC</a:t>
            </a:r>
          </a:p>
        </p:txBody>
      </p:sp>
      <p:sp>
        <p:nvSpPr>
          <p:cNvPr id="19" name="B3_0"/>
          <p:cNvSpPr txBox="1"/>
          <p:nvPr/>
        </p:nvSpPr>
        <p:spPr>
          <a:xfrm>
            <a:off x="3246120" y="4956048"/>
            <a:ext cx="8229600" cy="530352"/>
          </a:xfrm>
          <a:prstGeom prst="rect">
            <a:avLst/>
          </a:prstGeom>
          <a:noFill/>
        </p:spPr>
        <p:txBody>
          <a:bodyPr wrap="square" lIns="0" tIns="0" rIns="0" bIns="0" anchor="ctr">
            <a:spAutoFit/>
          </a:bodyPr>
          <a:lstStyle/>
          <a:p>
            <a:pPr algn="l"/>
            <a:r>
              <a:rPr sz="3000" b="0" i="0">
                <a:solidFill>
                  <a:srgbClr val="0B2B4E"/>
                </a:solidFill>
                <a:latin typeface="Cambria Math"/>
              </a:rPr>
              <a:t>= </a:t>
            </a:r>
            <a:r>
              <a:rPr sz="3000" b="0" i="1">
                <a:solidFill>
                  <a:srgbClr val="0B2B4E"/>
                </a:solidFill>
                <a:latin typeface="Cambria Math"/>
              </a:rPr>
              <a:t>P</a:t>
            </a:r>
            <a:r>
              <a:rPr sz="3000" b="0" i="0">
                <a:solidFill>
                  <a:srgbClr val="0B2B4E"/>
                </a:solidFill>
                <a:latin typeface="Cambria Math"/>
              </a:rPr>
              <a:t> · </a:t>
            </a:r>
            <a:r>
              <a:rPr sz="3000" b="0" i="1">
                <a:solidFill>
                  <a:srgbClr val="0B2B4E"/>
                </a:solidFill>
                <a:latin typeface="Cambria Math"/>
              </a:rPr>
              <a:t>Q</a:t>
            </a:r>
            <a:r>
              <a:rPr sz="3000" b="0" i="0">
                <a:solidFill>
                  <a:srgbClr val="0B2B4E"/>
                </a:solidFill>
                <a:latin typeface="Cambria Math"/>
              </a:rPr>
              <a:t> − </a:t>
            </a:r>
            <a:r>
              <a:rPr sz="3000" b="0" i="1">
                <a:solidFill>
                  <a:srgbClr val="0B2B4E"/>
                </a:solidFill>
                <a:latin typeface="Cambria Math"/>
              </a:rPr>
              <a:t>AVC</a:t>
            </a:r>
            <a:r>
              <a:rPr sz="3000" b="0" i="0">
                <a:solidFill>
                  <a:srgbClr val="0B2B4E"/>
                </a:solidFill>
                <a:latin typeface="Cambria Math"/>
              </a:rPr>
              <a:t> · </a:t>
            </a:r>
            <a:r>
              <a:rPr sz="3000" b="0" i="1">
                <a:solidFill>
                  <a:srgbClr val="0B2B4E"/>
                </a:solidFill>
                <a:latin typeface="Cambria Math"/>
              </a:rPr>
              <a:t>Q</a:t>
            </a:r>
            <a:r>
              <a:rPr sz="3000" b="0" i="0">
                <a:solidFill>
                  <a:srgbClr val="0B2B4E"/>
                </a:solidFill>
                <a:latin typeface="Cambria Math"/>
              </a:rPr>
              <a:t> − </a:t>
            </a:r>
            <a:r>
              <a:rPr sz="3000" b="0" i="1">
                <a:solidFill>
                  <a:srgbClr val="0B2B4E"/>
                </a:solidFill>
                <a:latin typeface="Cambria Math"/>
              </a:rPr>
              <a:t>TFC</a:t>
            </a:r>
          </a:p>
        </p:txBody>
      </p:sp>
      <p:sp>
        <p:nvSpPr>
          <p:cNvPr id="20" name="B4_0"/>
          <p:cNvSpPr txBox="1"/>
          <p:nvPr/>
        </p:nvSpPr>
        <p:spPr>
          <a:xfrm>
            <a:off x="3246120" y="5612183"/>
            <a:ext cx="8229600" cy="461665"/>
          </a:xfrm>
          <a:prstGeom prst="rect">
            <a:avLst/>
          </a:prstGeom>
          <a:noFill/>
        </p:spPr>
        <p:txBody>
          <a:bodyPr wrap="square" lIns="0" tIns="0" rIns="0" bIns="0" anchor="ctr">
            <a:spAutoFit/>
          </a:bodyPr>
          <a:lstStyle/>
          <a:p>
            <a:pPr algn="l"/>
            <a:r>
              <a:rPr sz="3000" b="0" i="0" dirty="0">
                <a:solidFill>
                  <a:srgbClr val="0B2B4E"/>
                </a:solidFill>
                <a:latin typeface="Cambria Math"/>
              </a:rPr>
              <a:t>= (</a:t>
            </a:r>
            <a:r>
              <a:rPr sz="3000" b="0" i="1" dirty="0">
                <a:solidFill>
                  <a:srgbClr val="C0201B"/>
                </a:solidFill>
                <a:latin typeface="Cambria Math"/>
              </a:rPr>
              <a:t>P</a:t>
            </a:r>
            <a:r>
              <a:rPr sz="3000" b="0" i="0" dirty="0">
                <a:solidFill>
                  <a:srgbClr val="C0201B"/>
                </a:solidFill>
                <a:latin typeface="Cambria Math"/>
              </a:rPr>
              <a:t> − </a:t>
            </a:r>
            <a:r>
              <a:rPr sz="3000" b="0" i="1" dirty="0">
                <a:solidFill>
                  <a:srgbClr val="C0201B"/>
                </a:solidFill>
                <a:latin typeface="Cambria Math"/>
              </a:rPr>
              <a:t>AVC</a:t>
            </a:r>
            <a:r>
              <a:rPr lang="en-US" sz="3000" b="0" i="1" dirty="0">
                <a:solidFill>
                  <a:srgbClr val="C0201B"/>
                </a:solidFill>
                <a:latin typeface="Cambria Math"/>
              </a:rPr>
              <a:t> </a:t>
            </a:r>
            <a:r>
              <a:rPr sz="3000" b="0" i="0" dirty="0">
                <a:solidFill>
                  <a:srgbClr val="0B2B4E"/>
                </a:solidFill>
                <a:latin typeface="Cambria Math"/>
              </a:rPr>
              <a:t>) · </a:t>
            </a:r>
            <a:r>
              <a:rPr sz="3000" b="0" i="1" dirty="0">
                <a:solidFill>
                  <a:srgbClr val="0B2B4E"/>
                </a:solidFill>
                <a:latin typeface="Cambria Math"/>
              </a:rPr>
              <a:t>Q</a:t>
            </a:r>
            <a:r>
              <a:rPr sz="3000" b="0" i="0" dirty="0">
                <a:solidFill>
                  <a:srgbClr val="0B2B4E"/>
                </a:solidFill>
                <a:latin typeface="Cambria Math"/>
              </a:rPr>
              <a:t> − </a:t>
            </a:r>
            <a:r>
              <a:rPr sz="3000" b="0" i="1" dirty="0">
                <a:solidFill>
                  <a:srgbClr val="0B2B4E"/>
                </a:solidFill>
                <a:latin typeface="Cambria Math"/>
              </a:rPr>
              <a:t>TFC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sz="1600" b="1" i="0" dirty="0">
                <a:solidFill>
                  <a:srgbClr val="FFFFFF"/>
                </a:solidFill>
                <a:latin typeface="Calibri"/>
              </a:rPr>
              <a:t>Perfect Competition · </a:t>
            </a:r>
            <a:r>
              <a:rPr lang="en-US" sz="1600" b="1" dirty="0">
                <a:solidFill>
                  <a:srgbClr val="FFFFFF"/>
                </a:solidFill>
              </a:rPr>
              <a:t>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26</a:t>
            </a:r>
          </a:p>
        </p:txBody>
      </p:sp>
      <p:sp>
        <p:nvSpPr>
          <p:cNvPr id="10" name="TextBox 9"/>
          <p:cNvSpPr txBox="1"/>
          <p:nvPr/>
        </p:nvSpPr>
        <p:spPr>
          <a:xfrm>
            <a:off x="36212" y="692585"/>
            <a:ext cx="12385141" cy="461665"/>
          </a:xfrm>
          <a:prstGeom prst="rect">
            <a:avLst/>
          </a:prstGeom>
          <a:noFill/>
        </p:spPr>
        <p:txBody>
          <a:bodyPr wrap="square" lIns="0" tIns="0" rIns="0" bIns="0" anchor="t">
            <a:spAutoFit/>
          </a:bodyPr>
          <a:lstStyle/>
          <a:p>
            <a:r>
              <a:rPr sz="3000" b="1" i="0" dirty="0">
                <a:solidFill>
                  <a:srgbClr val="C0201B"/>
                </a:solidFill>
                <a:latin typeface="Calibri"/>
              </a:rPr>
              <a:t>In the Short Run, </a:t>
            </a:r>
            <a:r>
              <a:rPr sz="3000" b="1" i="0" dirty="0">
                <a:solidFill>
                  <a:srgbClr val="0B2B4E"/>
                </a:solidFill>
                <a:latin typeface="Calibri"/>
              </a:rPr>
              <a:t>If Profit Is Negative, Should a Firm Shut Down Temporarily?</a:t>
            </a:r>
          </a:p>
        </p:txBody>
      </p:sp>
      <p:sp>
        <p:nvSpPr>
          <p:cNvPr id="11" name="BOX_0"/>
          <p:cNvSpPr/>
          <p:nvPr/>
        </p:nvSpPr>
        <p:spPr>
          <a:xfrm>
            <a:off x="640080" y="1536192"/>
            <a:ext cx="5074920" cy="1051560"/>
          </a:xfrm>
          <a:prstGeom prst="roundRect">
            <a:avLst>
              <a:gd name="adj" fmla="val 8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2200" b="0" i="0">
                <a:solidFill>
                  <a:srgbClr val="0B2B4E"/>
                </a:solidFill>
                <a:latin typeface="Cambria Math"/>
              </a:rPr>
              <a:t>Profit = </a:t>
            </a:r>
            <a:r>
              <a:rPr sz="2200" b="1" i="0">
                <a:solidFill>
                  <a:srgbClr val="0B2B4E"/>
                </a:solidFill>
                <a:latin typeface="Cambria Math"/>
              </a:rPr>
              <a:t>Q · (</a:t>
            </a:r>
            <a:r>
              <a:rPr sz="2200" b="1" i="0">
                <a:solidFill>
                  <a:srgbClr val="C0201B"/>
                </a:solidFill>
                <a:latin typeface="Cambria Math"/>
              </a:rPr>
              <a:t>P − AVC</a:t>
            </a:r>
            <a:r>
              <a:rPr sz="2200" b="1" i="0">
                <a:solidFill>
                  <a:srgbClr val="0B2B4E"/>
                </a:solidFill>
                <a:latin typeface="Cambria Math"/>
              </a:rPr>
              <a:t>) − TFC</a:t>
            </a:r>
          </a:p>
        </p:txBody>
      </p:sp>
      <p:sp>
        <p:nvSpPr>
          <p:cNvPr id="12" name="BOX_1"/>
          <p:cNvSpPr/>
          <p:nvPr/>
        </p:nvSpPr>
        <p:spPr>
          <a:xfrm>
            <a:off x="6172200" y="1536192"/>
            <a:ext cx="5349240" cy="1051560"/>
          </a:xfrm>
          <a:prstGeom prst="roundRect">
            <a:avLst>
              <a:gd name="adj" fmla="val 8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2200" b="0" i="0">
                <a:solidFill>
                  <a:srgbClr val="0B2B4E"/>
                </a:solidFill>
                <a:latin typeface="Cambria Math"/>
              </a:rPr>
              <a:t>Operate if </a:t>
            </a:r>
            <a:r>
              <a:rPr sz="2200" b="1" i="0">
                <a:solidFill>
                  <a:srgbClr val="C0201B"/>
                </a:solidFill>
                <a:latin typeface="Cambria Math"/>
              </a:rPr>
              <a:t>P ≥ AVC</a:t>
            </a:r>
          </a:p>
          <a:p>
            <a:pPr algn="ctr">
              <a:spcBef>
                <a:spcPts val="600"/>
              </a:spcBef>
            </a:pPr>
            <a:r>
              <a:rPr sz="2200" b="0" i="0">
                <a:solidFill>
                  <a:srgbClr val="0B2B4E"/>
                </a:solidFill>
                <a:latin typeface="Cambria Math"/>
              </a:rPr>
              <a:t>Shut down if </a:t>
            </a:r>
            <a:r>
              <a:rPr sz="2200" b="1" i="0">
                <a:solidFill>
                  <a:srgbClr val="C0201B"/>
                </a:solidFill>
                <a:latin typeface="Cambria Math"/>
              </a:rPr>
              <a:t>P &lt; AVC</a:t>
            </a:r>
          </a:p>
        </p:txBody>
      </p:sp>
      <p:sp>
        <p:nvSpPr>
          <p:cNvPr id="13" name="O1_0"/>
          <p:cNvSpPr txBox="1"/>
          <p:nvPr/>
        </p:nvSpPr>
        <p:spPr>
          <a:xfrm>
            <a:off x="640080" y="2971800"/>
            <a:ext cx="10972800" cy="1005840"/>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400" b="0" i="0" dirty="0">
                <a:solidFill>
                  <a:srgbClr val="0B2B4E"/>
                </a:solidFill>
                <a:latin typeface="Calibri"/>
              </a:rPr>
              <a:t>Option 1: Shut down (but need to pay for the fixed costs)</a:t>
            </a:r>
          </a:p>
          <a:p>
            <a:pPr marL="603504" lvl="1" indent="-603504">
              <a:spcAft>
                <a:spcPts val="0"/>
              </a:spcAft>
              <a:buClr>
                <a:srgbClr val="555B66"/>
              </a:buClr>
              <a:buSzPct val="100000"/>
              <a:buFont typeface="Calibri"/>
              <a:buChar char="–"/>
            </a:pPr>
            <a:r>
              <a:rPr sz="2000" b="0" i="0" dirty="0">
                <a:solidFill>
                  <a:srgbClr val="0B2B4E"/>
                </a:solidFill>
                <a:latin typeface="Calibri"/>
              </a:rPr>
              <a:t>Loss = </a:t>
            </a:r>
            <a:r>
              <a:rPr sz="2000" b="0" i="0" dirty="0">
                <a:solidFill>
                  <a:srgbClr val="C0201B"/>
                </a:solidFill>
                <a:latin typeface="Cambria Math"/>
              </a:rPr>
              <a:t>−TFC</a:t>
            </a:r>
          </a:p>
        </p:txBody>
      </p:sp>
      <p:sp>
        <p:nvSpPr>
          <p:cNvPr id="14" name="O2_0"/>
          <p:cNvSpPr txBox="1"/>
          <p:nvPr/>
        </p:nvSpPr>
        <p:spPr>
          <a:xfrm>
            <a:off x="640080" y="4160520"/>
            <a:ext cx="10972800" cy="1005840"/>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400" b="0" i="0" dirty="0">
                <a:solidFill>
                  <a:srgbClr val="0B2B4E"/>
                </a:solidFill>
                <a:latin typeface="Calibri"/>
              </a:rPr>
              <a:t>Option 2: Operate</a:t>
            </a:r>
          </a:p>
          <a:p>
            <a:pPr marL="603504" lvl="1" indent="-603504">
              <a:spcAft>
                <a:spcPts val="0"/>
              </a:spcAft>
              <a:buClr>
                <a:srgbClr val="555B66"/>
              </a:buClr>
              <a:buSzPct val="100000"/>
              <a:buFont typeface="Calibri"/>
              <a:buChar char="–"/>
            </a:pPr>
            <a:r>
              <a:rPr sz="2000" b="0" i="0" dirty="0">
                <a:solidFill>
                  <a:srgbClr val="0B2B4E"/>
                </a:solidFill>
                <a:latin typeface="Calibri"/>
              </a:rPr>
              <a:t>Loss = </a:t>
            </a:r>
            <a:r>
              <a:rPr sz="2000" b="0" i="0" dirty="0">
                <a:solidFill>
                  <a:srgbClr val="0B2B4E"/>
                </a:solidFill>
                <a:latin typeface="Cambria Math"/>
              </a:rPr>
              <a:t>Q · (</a:t>
            </a:r>
            <a:r>
              <a:rPr sz="2000" b="0" i="0" dirty="0">
                <a:solidFill>
                  <a:srgbClr val="C0201B"/>
                </a:solidFill>
                <a:latin typeface="Cambria Math"/>
              </a:rPr>
              <a:t>P − AVC</a:t>
            </a:r>
            <a:r>
              <a:rPr sz="2000" b="0" i="0" dirty="0">
                <a:solidFill>
                  <a:srgbClr val="0B2B4E"/>
                </a:solidFill>
                <a:latin typeface="Cambria Math"/>
              </a:rPr>
              <a:t>) − TFC</a:t>
            </a:r>
          </a:p>
        </p:txBody>
      </p:sp>
      <p:sp>
        <p:nvSpPr>
          <p:cNvPr id="15" name="IF_0"/>
          <p:cNvSpPr txBox="1"/>
          <p:nvPr/>
        </p:nvSpPr>
        <p:spPr>
          <a:xfrm>
            <a:off x="640080" y="5349240"/>
            <a:ext cx="10972800" cy="914400"/>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200" b="0" i="0">
                <a:solidFill>
                  <a:srgbClr val="0B2B4E"/>
                </a:solidFill>
                <a:latin typeface="Calibri"/>
              </a:rPr>
              <a:t>If </a:t>
            </a:r>
            <a:r>
              <a:rPr sz="2200" b="0" i="0">
                <a:solidFill>
                  <a:srgbClr val="C0201B"/>
                </a:solidFill>
                <a:latin typeface="Cambria Math"/>
              </a:rPr>
              <a:t>P ≥ AVC</a:t>
            </a:r>
            <a:r>
              <a:rPr sz="2200" b="0" i="0">
                <a:solidFill>
                  <a:srgbClr val="0B2B4E"/>
                </a:solidFill>
                <a:latin typeface="Calibri"/>
              </a:rPr>
              <a:t>, the loss is lower than TFC</a:t>
            </a:r>
          </a:p>
          <a:p>
            <a:pPr marL="274320" indent="-274320">
              <a:spcAft>
                <a:spcPts val="0"/>
              </a:spcAft>
              <a:buClr>
                <a:srgbClr val="0B2B4E"/>
              </a:buClr>
              <a:buSzPct val="100000"/>
              <a:buFont typeface="Calibri"/>
              <a:buChar char="▪"/>
            </a:pPr>
            <a:r>
              <a:rPr sz="2200" b="0" i="0">
                <a:solidFill>
                  <a:srgbClr val="0B2B4E"/>
                </a:solidFill>
                <a:latin typeface="Calibri"/>
              </a:rPr>
              <a:t>If </a:t>
            </a:r>
            <a:r>
              <a:rPr sz="2200" b="0" i="0">
                <a:solidFill>
                  <a:srgbClr val="C0201B"/>
                </a:solidFill>
                <a:latin typeface="Cambria Math"/>
              </a:rPr>
              <a:t>P &lt; AVC</a:t>
            </a:r>
            <a:r>
              <a:rPr sz="2200" b="0" i="0">
                <a:solidFill>
                  <a:srgbClr val="0B2B4E"/>
                </a:solidFill>
                <a:latin typeface="Calibri"/>
              </a:rPr>
              <a:t>, the loss is larger than TFC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Optimizing in the Short Run: New Market Price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27</a:t>
            </a:r>
          </a:p>
        </p:txBody>
      </p:sp>
      <p:sp>
        <p:nvSpPr>
          <p:cNvPr id="11" name="G1_0"/>
          <p:cNvSpPr txBox="1"/>
          <p:nvPr/>
        </p:nvSpPr>
        <p:spPr>
          <a:xfrm>
            <a:off x="640080" y="1481328"/>
            <a:ext cx="1078992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500" b="0" i="0">
                <a:solidFill>
                  <a:srgbClr val="0B2B4E"/>
                </a:solidFill>
                <a:latin typeface="Calibri"/>
              </a:rPr>
              <a:t>The US starts importing large quantities of cabbage from China</a:t>
            </a:r>
          </a:p>
        </p:txBody>
      </p:sp>
      <p:sp>
        <p:nvSpPr>
          <p:cNvPr id="12" name="G2_0"/>
          <p:cNvSpPr txBox="1"/>
          <p:nvPr/>
        </p:nvSpPr>
        <p:spPr>
          <a:xfrm>
            <a:off x="640080" y="2103120"/>
            <a:ext cx="1078992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500" b="0" i="0">
                <a:solidFill>
                  <a:srgbClr val="0B2B4E"/>
                </a:solidFill>
                <a:latin typeface="Calibri"/>
              </a:rPr>
              <a:t>This leads to a drop in the US market price</a:t>
            </a:r>
          </a:p>
        </p:txBody>
      </p:sp>
      <p:sp>
        <p:nvSpPr>
          <p:cNvPr id="13" name="G2_1"/>
          <p:cNvSpPr txBox="1"/>
          <p:nvPr/>
        </p:nvSpPr>
        <p:spPr>
          <a:xfrm>
            <a:off x="1234440" y="2596896"/>
            <a:ext cx="9509760" cy="323165"/>
          </a:xfrm>
          <a:prstGeom prst="rect">
            <a:avLst/>
          </a:prstGeom>
          <a:noFill/>
        </p:spPr>
        <p:txBody>
          <a:bodyPr wrap="square" lIns="0" tIns="0" rIns="0" bIns="0" anchor="t">
            <a:spAutoFit/>
          </a:bodyPr>
          <a:lstStyle/>
          <a:p>
            <a:pPr marL="603504" indent="-603504">
              <a:buClr>
                <a:srgbClr val="555B66"/>
              </a:buClr>
              <a:buSzPct val="100000"/>
              <a:buFont typeface="Calibri"/>
              <a:buChar char="–"/>
            </a:pPr>
            <a:r>
              <a:rPr sz="2100" b="0" i="0" dirty="0">
                <a:solidFill>
                  <a:schemeClr val="tx1">
                    <a:lumMod val="65000"/>
                    <a:lumOff val="35000"/>
                  </a:schemeClr>
                </a:solidFill>
                <a:latin typeface="Calibri"/>
              </a:rPr>
              <a:t>New price is $210 per ton</a:t>
            </a:r>
          </a:p>
        </p:txBody>
      </p:sp>
      <p:sp>
        <p:nvSpPr>
          <p:cNvPr id="14" name="G3_0"/>
          <p:cNvSpPr txBox="1"/>
          <p:nvPr/>
        </p:nvSpPr>
        <p:spPr>
          <a:xfrm>
            <a:off x="640080" y="3182112"/>
            <a:ext cx="10789920" cy="384721"/>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500" b="0" i="0" dirty="0">
                <a:solidFill>
                  <a:srgbClr val="0B2B4E"/>
                </a:solidFill>
                <a:latin typeface="Calibri"/>
              </a:rPr>
              <a:t>Remember: </a:t>
            </a:r>
            <a:r>
              <a:rPr sz="2500" b="0" i="1" dirty="0">
                <a:solidFill>
                  <a:srgbClr val="0B2B4E"/>
                </a:solidFill>
                <a:latin typeface="Cambria Math"/>
              </a:rPr>
              <a:t>TC</a:t>
            </a:r>
            <a:r>
              <a:rPr sz="2500" b="0" i="0" dirty="0">
                <a:solidFill>
                  <a:srgbClr val="0B2B4E"/>
                </a:solidFill>
                <a:latin typeface="Cambria Math"/>
              </a:rPr>
              <a:t> = 60,000 + 135</a:t>
            </a:r>
            <a:r>
              <a:rPr sz="2500" b="0" i="1" dirty="0">
                <a:solidFill>
                  <a:srgbClr val="0B2B4E"/>
                </a:solidFill>
                <a:latin typeface="Cambria Math"/>
              </a:rPr>
              <a:t>Q</a:t>
            </a:r>
            <a:r>
              <a:rPr sz="2500" b="0" i="0" dirty="0">
                <a:solidFill>
                  <a:srgbClr val="0B2B4E"/>
                </a:solidFill>
                <a:latin typeface="Cambria Math"/>
              </a:rPr>
              <a:t> + 0.2</a:t>
            </a:r>
            <a:r>
              <a:rPr sz="2500" b="0" i="1" dirty="0">
                <a:solidFill>
                  <a:srgbClr val="0B2B4E"/>
                </a:solidFill>
                <a:latin typeface="Cambria Math"/>
              </a:rPr>
              <a:t>Q</a:t>
            </a:r>
            <a:r>
              <a:rPr lang="en-US" sz="2500" b="0" i="1" baseline="30000" dirty="0">
                <a:solidFill>
                  <a:srgbClr val="0B2B4E"/>
                </a:solidFill>
                <a:latin typeface="Cambria Math"/>
              </a:rPr>
              <a:t>2</a:t>
            </a:r>
            <a:endParaRPr sz="1700" b="0" i="0" baseline="30000" dirty="0">
              <a:solidFill>
                <a:srgbClr val="0B2B4E"/>
              </a:solidFill>
              <a:latin typeface="Cambria Math"/>
            </a:endParaRPr>
          </a:p>
        </p:txBody>
      </p:sp>
      <p:sp>
        <p:nvSpPr>
          <p:cNvPr id="15" name="G4_0"/>
          <p:cNvSpPr txBox="1"/>
          <p:nvPr/>
        </p:nvSpPr>
        <p:spPr>
          <a:xfrm>
            <a:off x="640080" y="3803904"/>
            <a:ext cx="10789920" cy="502920"/>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500" b="0" i="0">
                <a:solidFill>
                  <a:srgbClr val="0B2B4E"/>
                </a:solidFill>
                <a:latin typeface="Calibri"/>
              </a:rPr>
              <a:t>Questions</a:t>
            </a:r>
          </a:p>
        </p:txBody>
      </p:sp>
      <p:sp>
        <p:nvSpPr>
          <p:cNvPr id="16" name="G4_1"/>
          <p:cNvSpPr txBox="1"/>
          <p:nvPr/>
        </p:nvSpPr>
        <p:spPr>
          <a:xfrm>
            <a:off x="1234440" y="4297680"/>
            <a:ext cx="8778240" cy="868680"/>
          </a:xfrm>
          <a:prstGeom prst="rect">
            <a:avLst/>
          </a:prstGeom>
          <a:noFill/>
        </p:spPr>
        <p:txBody>
          <a:bodyPr wrap="square" lIns="0" tIns="0" rIns="0" bIns="0" anchor="t">
            <a:spAutoFit/>
          </a:bodyPr>
          <a:lstStyle/>
          <a:p>
            <a:pPr marL="438912" indent="-438912"/>
            <a:r>
              <a:rPr sz="2300" b="1" i="0" dirty="0">
                <a:solidFill>
                  <a:srgbClr val="2E6DB5"/>
                </a:solidFill>
                <a:latin typeface="Calibri"/>
              </a:rPr>
              <a:t>1.   </a:t>
            </a:r>
            <a:r>
              <a:rPr sz="2300" b="0" i="0" dirty="0">
                <a:solidFill>
                  <a:srgbClr val="0B2B4E"/>
                </a:solidFill>
                <a:latin typeface="Calibri"/>
              </a:rPr>
              <a:t>What quantity of cabbage should the Yi family produce to maximize profits under this new price?</a:t>
            </a:r>
          </a:p>
        </p:txBody>
      </p:sp>
      <p:sp>
        <p:nvSpPr>
          <p:cNvPr id="17" name="G4_2"/>
          <p:cNvSpPr txBox="1"/>
          <p:nvPr/>
        </p:nvSpPr>
        <p:spPr>
          <a:xfrm>
            <a:off x="1234440" y="5138928"/>
            <a:ext cx="9509760" cy="457200"/>
          </a:xfrm>
          <a:prstGeom prst="rect">
            <a:avLst/>
          </a:prstGeom>
          <a:noFill/>
        </p:spPr>
        <p:txBody>
          <a:bodyPr wrap="square" lIns="0" tIns="0" rIns="0" bIns="0" anchor="t">
            <a:spAutoFit/>
          </a:bodyPr>
          <a:lstStyle/>
          <a:p>
            <a:pPr marL="438912" indent="-438912"/>
            <a:r>
              <a:rPr sz="2300" b="1" i="0" dirty="0">
                <a:solidFill>
                  <a:srgbClr val="2E6DB5"/>
                </a:solidFill>
                <a:latin typeface="Calibri"/>
              </a:rPr>
              <a:t>2.   </a:t>
            </a:r>
            <a:r>
              <a:rPr sz="2300" b="0" i="0" dirty="0">
                <a:solidFill>
                  <a:srgbClr val="0B2B4E"/>
                </a:solidFill>
                <a:latin typeface="Calibri"/>
              </a:rPr>
              <a:t>What profits do they achieve at this quantity?</a:t>
            </a:r>
          </a:p>
        </p:txBody>
      </p:sp>
      <p:sp>
        <p:nvSpPr>
          <p:cNvPr id="18" name="G4_3"/>
          <p:cNvSpPr txBox="1"/>
          <p:nvPr/>
        </p:nvSpPr>
        <p:spPr>
          <a:xfrm>
            <a:off x="1234440" y="5577840"/>
            <a:ext cx="9509760" cy="457200"/>
          </a:xfrm>
          <a:prstGeom prst="rect">
            <a:avLst/>
          </a:prstGeom>
          <a:noFill/>
        </p:spPr>
        <p:txBody>
          <a:bodyPr wrap="square" lIns="0" tIns="0" rIns="0" bIns="0" anchor="t">
            <a:spAutoFit/>
          </a:bodyPr>
          <a:lstStyle/>
          <a:p>
            <a:pPr marL="438912" indent="-438912"/>
            <a:r>
              <a:rPr sz="2300" b="1" i="0">
                <a:solidFill>
                  <a:srgbClr val="2E6DB5"/>
                </a:solidFill>
                <a:latin typeface="Calibri"/>
              </a:rPr>
              <a:t>3.   </a:t>
            </a:r>
            <a:r>
              <a:rPr sz="2300" b="0" i="0">
                <a:solidFill>
                  <a:srgbClr val="0B2B4E"/>
                </a:solidFill>
                <a:latin typeface="Calibri"/>
              </a:rPr>
              <a:t>Should the Yi family continue to operate in the short run?</a:t>
            </a:r>
          </a:p>
        </p:txBody>
      </p:sp>
      <p:sp>
        <p:nvSpPr>
          <p:cNvPr id="19" name="Pentagon 18">
            <a:extLst>
              <a:ext uri="{FF2B5EF4-FFF2-40B4-BE49-F238E27FC236}">
                <a16:creationId xmlns:a16="http://schemas.microsoft.com/office/drawing/2014/main" id="{CB634223-A62C-15A7-0F00-3DD4D74DDCD3}"/>
              </a:ext>
            </a:extLst>
          </p:cNvPr>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100" b="1" i="0" dirty="0">
                <a:solidFill>
                  <a:srgbClr val="0B2B4E"/>
                </a:solidFill>
                <a:latin typeface="Calibri"/>
              </a:rPr>
              <a:t>Yi Family Example</a:t>
            </a:r>
            <a:endParaRPr lang="en-US" sz="2100" b="1" i="0" dirty="0">
              <a:solidFill>
                <a:srgbClr val="0B2B4E"/>
              </a:solidFill>
              <a:latin typeface="Calibri"/>
            </a:endParaRPr>
          </a:p>
          <a:p>
            <a:pPr algn="ctr"/>
            <a:r>
              <a:rPr lang="en-US" sz="2100" b="1" i="1" dirty="0">
                <a:solidFill>
                  <a:srgbClr val="0B2B4E"/>
                </a:solidFill>
                <a:latin typeface="Calibri"/>
              </a:rPr>
              <a:t>(Group exercise)</a:t>
            </a:r>
            <a:endParaRPr sz="2100" b="1" i="1"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New Q* and Profit: 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28</a:t>
            </a:r>
          </a:p>
        </p:txBody>
      </p:sp>
      <p:sp>
        <p:nvSpPr>
          <p:cNvPr id="11" name="G1_0"/>
          <p:cNvSpPr txBox="1"/>
          <p:nvPr/>
        </p:nvSpPr>
        <p:spPr>
          <a:xfrm>
            <a:off x="640080" y="1517904"/>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1" dirty="0">
                <a:solidFill>
                  <a:srgbClr val="0B2B4E"/>
                </a:solidFill>
                <a:latin typeface="Cambria Math"/>
              </a:rPr>
              <a:t>MC=MR=P</a:t>
            </a:r>
          </a:p>
        </p:txBody>
      </p:sp>
      <p:sp>
        <p:nvSpPr>
          <p:cNvPr id="12" name="G1_1"/>
          <p:cNvSpPr txBox="1"/>
          <p:nvPr/>
        </p:nvSpPr>
        <p:spPr>
          <a:xfrm>
            <a:off x="640080" y="2066543"/>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mbria Math"/>
              </a:rPr>
              <a:t>135 + 0.4</a:t>
            </a:r>
            <a:r>
              <a:rPr sz="2400" b="0" i="1" dirty="0">
                <a:solidFill>
                  <a:srgbClr val="0B2B4E"/>
                </a:solidFill>
                <a:latin typeface="Cambria Math"/>
              </a:rPr>
              <a:t>Q</a:t>
            </a:r>
            <a:r>
              <a:rPr sz="2400" b="0" i="0" dirty="0">
                <a:solidFill>
                  <a:srgbClr val="0B2B4E"/>
                </a:solidFill>
                <a:latin typeface="Cambria Math"/>
              </a:rPr>
              <a:t> = 210</a:t>
            </a:r>
            <a:r>
              <a:rPr sz="2400" b="0" i="0" dirty="0">
                <a:solidFill>
                  <a:srgbClr val="0B2B4E"/>
                </a:solidFill>
                <a:latin typeface="Calibri"/>
              </a:rPr>
              <a:t>   →   </a:t>
            </a:r>
            <a:r>
              <a:rPr sz="2400" b="0" i="1" dirty="0">
                <a:solidFill>
                  <a:srgbClr val="0B2B4E"/>
                </a:solidFill>
                <a:latin typeface="Cambria Math"/>
              </a:rPr>
              <a:t>Q</a:t>
            </a:r>
            <a:r>
              <a:rPr sz="2400" b="0" i="0" dirty="0">
                <a:solidFill>
                  <a:srgbClr val="0B2B4E"/>
                </a:solidFill>
                <a:latin typeface="Cambria Math"/>
              </a:rPr>
              <a:t> * = 187.5</a:t>
            </a:r>
          </a:p>
        </p:txBody>
      </p:sp>
      <p:sp>
        <p:nvSpPr>
          <p:cNvPr id="13" name="G2_0"/>
          <p:cNvSpPr txBox="1"/>
          <p:nvPr/>
        </p:nvSpPr>
        <p:spPr>
          <a:xfrm>
            <a:off x="640080" y="2980944"/>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1" dirty="0">
                <a:solidFill>
                  <a:srgbClr val="0B2B4E"/>
                </a:solidFill>
                <a:latin typeface="Cambria Math"/>
              </a:rPr>
              <a:t>TR</a:t>
            </a:r>
            <a:r>
              <a:rPr sz="2400" b="0" i="0" dirty="0">
                <a:solidFill>
                  <a:srgbClr val="0B2B4E"/>
                </a:solidFill>
                <a:latin typeface="Cambria Math"/>
              </a:rPr>
              <a:t> = </a:t>
            </a:r>
            <a:r>
              <a:rPr sz="2400" b="0" i="1" dirty="0">
                <a:solidFill>
                  <a:srgbClr val="0B2B4E"/>
                </a:solidFill>
                <a:latin typeface="Cambria Math"/>
              </a:rPr>
              <a:t>P</a:t>
            </a:r>
            <a:r>
              <a:rPr sz="2400" b="0" i="0" dirty="0">
                <a:solidFill>
                  <a:srgbClr val="0B2B4E"/>
                </a:solidFill>
                <a:latin typeface="Cambria Math"/>
              </a:rPr>
              <a:t> · </a:t>
            </a:r>
            <a:r>
              <a:rPr sz="2400" b="0" i="1" dirty="0">
                <a:solidFill>
                  <a:srgbClr val="0B2B4E"/>
                </a:solidFill>
                <a:latin typeface="Cambria Math"/>
              </a:rPr>
              <a:t>Q</a:t>
            </a:r>
            <a:r>
              <a:rPr sz="2400" b="0" i="0" dirty="0">
                <a:solidFill>
                  <a:srgbClr val="0B2B4E"/>
                </a:solidFill>
                <a:latin typeface="Cambria Math"/>
              </a:rPr>
              <a:t> = 210 · 187.5 = 39,375</a:t>
            </a:r>
          </a:p>
        </p:txBody>
      </p:sp>
      <p:sp>
        <p:nvSpPr>
          <p:cNvPr id="14" name="G2_1"/>
          <p:cNvSpPr txBox="1"/>
          <p:nvPr/>
        </p:nvSpPr>
        <p:spPr>
          <a:xfrm>
            <a:off x="640080" y="3547872"/>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1" dirty="0">
                <a:solidFill>
                  <a:srgbClr val="0B2B4E"/>
                </a:solidFill>
                <a:latin typeface="Cambria Math"/>
              </a:rPr>
              <a:t>TC</a:t>
            </a:r>
            <a:r>
              <a:rPr sz="2400" b="0" i="0" dirty="0">
                <a:solidFill>
                  <a:srgbClr val="0B2B4E"/>
                </a:solidFill>
                <a:latin typeface="Cambria Math"/>
              </a:rPr>
              <a:t> = 60,000 + 135 · 187.5 + 0.2 · 187.5 ² = 92,343.75</a:t>
            </a:r>
          </a:p>
        </p:txBody>
      </p:sp>
      <p:sp>
        <p:nvSpPr>
          <p:cNvPr id="15" name="G2_2"/>
          <p:cNvSpPr txBox="1"/>
          <p:nvPr/>
        </p:nvSpPr>
        <p:spPr>
          <a:xfrm>
            <a:off x="640080" y="4114800"/>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mbria Math"/>
              </a:rPr>
              <a:t>Profit = 39,375 − 92,343.75 = </a:t>
            </a:r>
            <a:r>
              <a:rPr sz="2400" b="0" i="0" dirty="0">
                <a:solidFill>
                  <a:schemeClr val="accent2"/>
                </a:solidFill>
                <a:latin typeface="Cambria Math"/>
              </a:rPr>
              <a:t>−52,968.75</a:t>
            </a:r>
          </a:p>
        </p:txBody>
      </p:sp>
      <p:sp>
        <p:nvSpPr>
          <p:cNvPr id="16" name="G3_0"/>
          <p:cNvSpPr txBox="1"/>
          <p:nvPr/>
        </p:nvSpPr>
        <p:spPr>
          <a:xfrm>
            <a:off x="640080" y="5029200"/>
            <a:ext cx="9794838"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0" dirty="0">
                <a:solidFill>
                  <a:srgbClr val="0B2B4E"/>
                </a:solidFill>
                <a:latin typeface="Calibri"/>
              </a:rPr>
              <a:t>The Yi family makes </a:t>
            </a:r>
            <a:r>
              <a:rPr sz="2400" b="1" i="0" dirty="0">
                <a:solidFill>
                  <a:schemeClr val="accent2"/>
                </a:solidFill>
                <a:latin typeface="Calibri"/>
              </a:rPr>
              <a:t>negative</a:t>
            </a:r>
            <a:r>
              <a:rPr sz="2400" b="0" i="0" dirty="0">
                <a:solidFill>
                  <a:srgbClr val="0B2B4E"/>
                </a:solidFill>
                <a:latin typeface="Calibri"/>
              </a:rPr>
              <a:t> economic profit at the optimal output level</a:t>
            </a:r>
          </a:p>
        </p:txBody>
      </p:sp>
      <p:sp>
        <p:nvSpPr>
          <p:cNvPr id="17" name="Pentagon 16">
            <a:extLst>
              <a:ext uri="{FF2B5EF4-FFF2-40B4-BE49-F238E27FC236}">
                <a16:creationId xmlns:a16="http://schemas.microsoft.com/office/drawing/2014/main" id="{67B6DFCD-A130-C37E-BB81-BC423FAC4053}"/>
              </a:ext>
            </a:extLst>
          </p:cNvPr>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Profit Maximization</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Decision to Operate: 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29</a:t>
            </a:r>
          </a:p>
        </p:txBody>
      </p:sp>
      <p:sp>
        <p:nvSpPr>
          <p:cNvPr id="11" name="G1_0"/>
          <p:cNvSpPr txBox="1"/>
          <p:nvPr/>
        </p:nvSpPr>
        <p:spPr>
          <a:xfrm>
            <a:off x="640080" y="1499616"/>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1" dirty="0">
                <a:solidFill>
                  <a:srgbClr val="0B2B4E"/>
                </a:solidFill>
                <a:latin typeface="Cambria Math"/>
              </a:rPr>
              <a:t>TC</a:t>
            </a:r>
            <a:r>
              <a:rPr sz="2400" b="0" i="0" dirty="0">
                <a:solidFill>
                  <a:srgbClr val="0B2B4E"/>
                </a:solidFill>
                <a:latin typeface="Cambria Math"/>
              </a:rPr>
              <a:t> = 60,000 + 135</a:t>
            </a:r>
            <a:r>
              <a:rPr sz="2400" b="0" i="1" dirty="0">
                <a:solidFill>
                  <a:srgbClr val="0B2B4E"/>
                </a:solidFill>
                <a:latin typeface="Cambria Math"/>
              </a:rPr>
              <a:t>Q</a:t>
            </a:r>
            <a:r>
              <a:rPr sz="2400" b="0" i="0" dirty="0">
                <a:solidFill>
                  <a:srgbClr val="0B2B4E"/>
                </a:solidFill>
                <a:latin typeface="Cambria Math"/>
              </a:rPr>
              <a:t> + 0.2</a:t>
            </a:r>
            <a:r>
              <a:rPr sz="2400" b="0" i="1" dirty="0">
                <a:solidFill>
                  <a:srgbClr val="0B2B4E"/>
                </a:solidFill>
                <a:latin typeface="Cambria Math"/>
              </a:rPr>
              <a:t>Q</a:t>
            </a:r>
            <a:r>
              <a:rPr sz="2400" b="0" i="0" dirty="0">
                <a:solidFill>
                  <a:srgbClr val="0B2B4E"/>
                </a:solidFill>
                <a:latin typeface="Cambria Math"/>
              </a:rPr>
              <a:t> ²</a:t>
            </a:r>
          </a:p>
        </p:txBody>
      </p:sp>
      <p:sp>
        <p:nvSpPr>
          <p:cNvPr id="12" name="G1_1"/>
          <p:cNvSpPr txBox="1"/>
          <p:nvPr/>
        </p:nvSpPr>
        <p:spPr>
          <a:xfrm>
            <a:off x="640080" y="2139696"/>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1" dirty="0">
                <a:solidFill>
                  <a:srgbClr val="0B2B4E"/>
                </a:solidFill>
                <a:latin typeface="Cambria Math"/>
              </a:rPr>
              <a:t>P</a:t>
            </a:r>
            <a:r>
              <a:rPr sz="2400" b="0" i="0" dirty="0">
                <a:solidFill>
                  <a:srgbClr val="0B2B4E"/>
                </a:solidFill>
                <a:latin typeface="Cambria Math"/>
              </a:rPr>
              <a:t> = 210,   </a:t>
            </a:r>
            <a:r>
              <a:rPr sz="2400" b="0" i="1" dirty="0">
                <a:solidFill>
                  <a:srgbClr val="0B2B4E"/>
                </a:solidFill>
                <a:latin typeface="Cambria Math"/>
              </a:rPr>
              <a:t>Q</a:t>
            </a:r>
            <a:r>
              <a:rPr sz="2400" b="0" i="0" dirty="0">
                <a:solidFill>
                  <a:srgbClr val="0B2B4E"/>
                </a:solidFill>
                <a:latin typeface="Cambria Math"/>
              </a:rPr>
              <a:t> * = 187.5</a:t>
            </a:r>
          </a:p>
        </p:txBody>
      </p:sp>
      <p:sp>
        <p:nvSpPr>
          <p:cNvPr id="15" name="G2_2"/>
          <p:cNvSpPr txBox="1"/>
          <p:nvPr/>
        </p:nvSpPr>
        <p:spPr>
          <a:xfrm>
            <a:off x="2244852" y="2852928"/>
            <a:ext cx="1874519" cy="329184"/>
          </a:xfrm>
          <a:prstGeom prst="rect">
            <a:avLst/>
          </a:prstGeom>
          <a:noFill/>
        </p:spPr>
        <p:txBody>
          <a:bodyPr wrap="square" lIns="0" tIns="0" rIns="0" bIns="0" anchor="ctr">
            <a:spAutoFit/>
          </a:bodyPr>
          <a:lstStyle/>
          <a:p>
            <a:pPr algn="ctr"/>
            <a:r>
              <a:rPr sz="1700" b="0" i="0">
                <a:solidFill>
                  <a:srgbClr val="0B2B4E"/>
                </a:solidFill>
                <a:latin typeface="Cambria Math"/>
              </a:rPr>
              <a:t>135</a:t>
            </a:r>
            <a:r>
              <a:rPr sz="1700" b="0" i="1">
                <a:solidFill>
                  <a:srgbClr val="0B2B4E"/>
                </a:solidFill>
                <a:latin typeface="Cambria Math"/>
              </a:rPr>
              <a:t>Q</a:t>
            </a:r>
            <a:r>
              <a:rPr sz="1700" b="0" i="0">
                <a:solidFill>
                  <a:srgbClr val="0B2B4E"/>
                </a:solidFill>
                <a:latin typeface="Cambria Math"/>
              </a:rPr>
              <a:t> + 0.2</a:t>
            </a:r>
            <a:r>
              <a:rPr sz="1700" b="0" i="1">
                <a:solidFill>
                  <a:srgbClr val="0B2B4E"/>
                </a:solidFill>
                <a:latin typeface="Cambria Math"/>
              </a:rPr>
              <a:t>Q</a:t>
            </a:r>
            <a:r>
              <a:rPr sz="1700" b="0" i="0">
                <a:solidFill>
                  <a:srgbClr val="0B2B4E"/>
                </a:solidFill>
                <a:latin typeface="Cambria Math"/>
              </a:rPr>
              <a:t> ²</a:t>
            </a:r>
          </a:p>
        </p:txBody>
      </p:sp>
      <p:sp>
        <p:nvSpPr>
          <p:cNvPr id="16" name="G2_3"/>
          <p:cNvSpPr txBox="1"/>
          <p:nvPr/>
        </p:nvSpPr>
        <p:spPr>
          <a:xfrm>
            <a:off x="2244852" y="3255264"/>
            <a:ext cx="1874519" cy="329184"/>
          </a:xfrm>
          <a:prstGeom prst="rect">
            <a:avLst/>
          </a:prstGeom>
          <a:noFill/>
        </p:spPr>
        <p:txBody>
          <a:bodyPr wrap="square" lIns="0" tIns="0" rIns="0" bIns="0" anchor="ctr">
            <a:spAutoFit/>
          </a:bodyPr>
          <a:lstStyle/>
          <a:p>
            <a:pPr algn="ctr"/>
            <a:r>
              <a:rPr sz="1700" b="0" i="1">
                <a:solidFill>
                  <a:srgbClr val="0B2B4E"/>
                </a:solidFill>
                <a:latin typeface="Cambria Math"/>
              </a:rPr>
              <a:t>Q</a:t>
            </a:r>
          </a:p>
        </p:txBody>
      </p:sp>
      <p:cxnSp>
        <p:nvCxnSpPr>
          <p:cNvPr id="17" name="G2_4"/>
          <p:cNvCxnSpPr/>
          <p:nvPr/>
        </p:nvCxnSpPr>
        <p:spPr>
          <a:xfrm>
            <a:off x="2299716" y="3218688"/>
            <a:ext cx="1764792" cy="0"/>
          </a:xfrm>
          <a:prstGeom prst="line">
            <a:avLst/>
          </a:prstGeom>
          <a:ln w="17780">
            <a:solidFill>
              <a:srgbClr val="0B2B4E"/>
            </a:solidFill>
          </a:ln>
          <a:effectLst/>
        </p:spPr>
        <p:style>
          <a:lnRef idx="2">
            <a:schemeClr val="accent1"/>
          </a:lnRef>
          <a:fillRef idx="0">
            <a:schemeClr val="accent1"/>
          </a:fillRef>
          <a:effectRef idx="1">
            <a:schemeClr val="accent1"/>
          </a:effectRef>
          <a:fontRef idx="minor">
            <a:schemeClr val="tx1"/>
          </a:fontRef>
        </p:style>
      </p:cxnSp>
      <p:sp>
        <p:nvSpPr>
          <p:cNvPr id="18" name="G2_5"/>
          <p:cNvSpPr txBox="1"/>
          <p:nvPr/>
        </p:nvSpPr>
        <p:spPr>
          <a:xfrm>
            <a:off x="4210812" y="2962656"/>
            <a:ext cx="3291840" cy="512064"/>
          </a:xfrm>
          <a:prstGeom prst="rect">
            <a:avLst/>
          </a:prstGeom>
          <a:noFill/>
        </p:spPr>
        <p:txBody>
          <a:bodyPr wrap="square" lIns="0" tIns="0" rIns="0" bIns="0" anchor="ctr">
            <a:spAutoFit/>
          </a:bodyPr>
          <a:lstStyle/>
          <a:p>
            <a:pPr algn="l"/>
            <a:r>
              <a:rPr sz="2500" b="0" i="0">
                <a:solidFill>
                  <a:srgbClr val="0B2B4E"/>
                </a:solidFill>
                <a:latin typeface="Cambria Math"/>
              </a:rPr>
              <a:t>= 135 + 0.2</a:t>
            </a:r>
            <a:r>
              <a:rPr sz="2500" b="0" i="1">
                <a:solidFill>
                  <a:srgbClr val="0B2B4E"/>
                </a:solidFill>
                <a:latin typeface="Cambria Math"/>
              </a:rPr>
              <a:t>Q</a:t>
            </a:r>
          </a:p>
        </p:txBody>
      </p:sp>
      <p:sp>
        <p:nvSpPr>
          <p:cNvPr id="19" name="G3_0"/>
          <p:cNvSpPr txBox="1"/>
          <p:nvPr/>
        </p:nvSpPr>
        <p:spPr>
          <a:xfrm>
            <a:off x="640080" y="4041648"/>
            <a:ext cx="10789920"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lang="en-US" sz="2400" b="0" i="1" dirty="0">
                <a:solidFill>
                  <a:srgbClr val="0B2B4E"/>
                </a:solidFill>
                <a:latin typeface="Cambria Math"/>
              </a:rPr>
              <a:t>AVC</a:t>
            </a:r>
            <a:r>
              <a:rPr lang="en-US" sz="2400" b="0" i="0" dirty="0">
                <a:solidFill>
                  <a:srgbClr val="0B2B4E"/>
                </a:solidFill>
                <a:latin typeface="Calibri"/>
              </a:rPr>
              <a:t> at the profit maximizing quantity = 172.5</a:t>
            </a:r>
          </a:p>
        </p:txBody>
      </p:sp>
      <p:sp>
        <p:nvSpPr>
          <p:cNvPr id="20" name="G4_0"/>
          <p:cNvSpPr txBox="1"/>
          <p:nvPr/>
        </p:nvSpPr>
        <p:spPr>
          <a:xfrm>
            <a:off x="640080" y="4828032"/>
            <a:ext cx="9472108"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sz="2400" b="0" i="1" dirty="0">
                <a:solidFill>
                  <a:srgbClr val="0B2B4E"/>
                </a:solidFill>
                <a:latin typeface="Cambria Math"/>
              </a:rPr>
              <a:t>P</a:t>
            </a:r>
            <a:r>
              <a:rPr sz="2400" b="0" i="0" dirty="0">
                <a:solidFill>
                  <a:srgbClr val="0B2B4E"/>
                </a:solidFill>
                <a:latin typeface="Cambria Math"/>
              </a:rPr>
              <a:t> &gt; </a:t>
            </a:r>
            <a:r>
              <a:rPr sz="2400" b="0" i="1" dirty="0">
                <a:solidFill>
                  <a:srgbClr val="0B2B4E"/>
                </a:solidFill>
                <a:latin typeface="Cambria Math"/>
              </a:rPr>
              <a:t>AVC</a:t>
            </a:r>
            <a:r>
              <a:rPr sz="2400" b="0" i="0" dirty="0">
                <a:solidFill>
                  <a:srgbClr val="0B2B4E"/>
                </a:solidFill>
                <a:latin typeface="Calibri"/>
              </a:rPr>
              <a:t>   →   the Yi family should continue to operate in the short run</a:t>
            </a:r>
          </a:p>
        </p:txBody>
      </p:sp>
      <p:sp>
        <p:nvSpPr>
          <p:cNvPr id="21" name="Pentagon 20">
            <a:extLst>
              <a:ext uri="{FF2B5EF4-FFF2-40B4-BE49-F238E27FC236}">
                <a16:creationId xmlns:a16="http://schemas.microsoft.com/office/drawing/2014/main" id="{C72CF794-DC78-A615-FA5F-DE9408B23CBB}"/>
              </a:ext>
            </a:extLst>
          </p:cNvPr>
          <p:cNvSpPr/>
          <p:nvPr/>
        </p:nvSpPr>
        <p:spPr>
          <a:xfrm>
            <a:off x="9402775"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Yi Family Example</a:t>
            </a:r>
          </a:p>
        </p:txBody>
      </p:sp>
      <p:sp>
        <p:nvSpPr>
          <p:cNvPr id="22" name="G3_0">
            <a:extLst>
              <a:ext uri="{FF2B5EF4-FFF2-40B4-BE49-F238E27FC236}">
                <a16:creationId xmlns:a16="http://schemas.microsoft.com/office/drawing/2014/main" id="{20EB4C74-F5BF-B60C-C770-7F0125C117A0}"/>
              </a:ext>
            </a:extLst>
          </p:cNvPr>
          <p:cNvSpPr txBox="1"/>
          <p:nvPr/>
        </p:nvSpPr>
        <p:spPr>
          <a:xfrm>
            <a:off x="642770" y="3034022"/>
            <a:ext cx="1221889" cy="369332"/>
          </a:xfrm>
          <a:prstGeom prst="rect">
            <a:avLst/>
          </a:prstGeom>
          <a:noFill/>
        </p:spPr>
        <p:txBody>
          <a:bodyPr wrap="square" lIns="0" tIns="0" rIns="0" bIns="0" anchor="t">
            <a:spAutoFit/>
          </a:bodyPr>
          <a:lstStyle/>
          <a:p>
            <a:pPr marL="274320" indent="-274320">
              <a:buClr>
                <a:srgbClr val="0B2B4E"/>
              </a:buClr>
              <a:buSzPct val="100000"/>
              <a:buFont typeface="Calibri"/>
              <a:buChar char="▪"/>
            </a:pPr>
            <a:r>
              <a:rPr lang="en-US" sz="2400" i="1" dirty="0">
                <a:solidFill>
                  <a:srgbClr val="0B2B4E"/>
                </a:solidFill>
                <a:latin typeface="Cambria Math"/>
              </a:rPr>
              <a:t>AVC =</a:t>
            </a:r>
            <a:endParaRPr lang="en-US" sz="2400" b="0"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High Price: Positive Profits in the Short Run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30</a:t>
            </a:r>
          </a:p>
        </p:txBody>
      </p:sp>
      <p:cxnSp>
        <p:nvCxnSpPr>
          <p:cNvPr id="10" name="Connector 9"/>
          <p:cNvCxnSpPr/>
          <p:nvPr/>
        </p:nvCxnSpPr>
        <p:spPr>
          <a:xfrm flipV="1">
            <a:off x="1417320" y="1938528"/>
            <a:ext cx="0" cy="3502152"/>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a:cxnSpLocks/>
          </p:cNvCxnSpPr>
          <p:nvPr/>
        </p:nvCxnSpPr>
        <p:spPr>
          <a:xfrm>
            <a:off x="1417320" y="5440680"/>
            <a:ext cx="6842425"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68680" y="1709928"/>
            <a:ext cx="1097280" cy="310896"/>
          </a:xfrm>
          <a:prstGeom prst="rect">
            <a:avLst/>
          </a:prstGeom>
          <a:noFill/>
        </p:spPr>
        <p:txBody>
          <a:bodyPr wrap="square" lIns="0" tIns="0" rIns="0" bIns="0" anchor="t">
            <a:spAutoFit/>
          </a:bodyPr>
          <a:lstStyle/>
          <a:p>
            <a:pPr algn="l"/>
            <a:r>
              <a:rPr sz="2000" b="0" i="1" dirty="0">
                <a:solidFill>
                  <a:srgbClr val="0B2B4E"/>
                </a:solidFill>
                <a:latin typeface="Calibri"/>
              </a:rPr>
              <a:t>$/Q</a:t>
            </a:r>
          </a:p>
        </p:txBody>
      </p:sp>
      <p:sp>
        <p:nvSpPr>
          <p:cNvPr id="13" name="TextBox 12"/>
          <p:cNvSpPr txBox="1"/>
          <p:nvPr/>
        </p:nvSpPr>
        <p:spPr>
          <a:xfrm>
            <a:off x="8183879" y="5453572"/>
            <a:ext cx="731520" cy="310896"/>
          </a:xfrm>
          <a:prstGeom prst="rect">
            <a:avLst/>
          </a:prstGeom>
          <a:noFill/>
        </p:spPr>
        <p:txBody>
          <a:bodyPr wrap="square" lIns="0" tIns="0" rIns="0" bIns="0" anchor="t">
            <a:spAutoFit/>
          </a:bodyPr>
          <a:lstStyle/>
          <a:p>
            <a:pPr algn="l"/>
            <a:r>
              <a:rPr sz="2000" b="0" i="1" dirty="0">
                <a:solidFill>
                  <a:srgbClr val="0B2B4E"/>
                </a:solidFill>
                <a:latin typeface="Calibri"/>
              </a:rPr>
              <a:t>Q</a:t>
            </a:r>
          </a:p>
        </p:txBody>
      </p:sp>
      <p:sp>
        <p:nvSpPr>
          <p:cNvPr id="15" name="CV_1"/>
          <p:cNvSpPr txBox="1"/>
          <p:nvPr/>
        </p:nvSpPr>
        <p:spPr>
          <a:xfrm>
            <a:off x="6998307" y="2330669"/>
            <a:ext cx="914400" cy="310896"/>
          </a:xfrm>
          <a:prstGeom prst="rect">
            <a:avLst/>
          </a:prstGeom>
          <a:noFill/>
        </p:spPr>
        <p:txBody>
          <a:bodyPr wrap="square" lIns="0" tIns="0" rIns="0" bIns="0" anchor="t">
            <a:spAutoFit/>
          </a:bodyPr>
          <a:lstStyle/>
          <a:p>
            <a:pPr algn="l"/>
            <a:r>
              <a:rPr sz="2200" b="0" i="1" dirty="0">
                <a:solidFill>
                  <a:srgbClr val="2EA03E"/>
                </a:solidFill>
                <a:latin typeface="Calibri"/>
              </a:rPr>
              <a:t>AVC</a:t>
            </a:r>
          </a:p>
        </p:txBody>
      </p:sp>
      <p:sp>
        <p:nvSpPr>
          <p:cNvPr id="17" name="CV_3"/>
          <p:cNvSpPr txBox="1"/>
          <p:nvPr/>
        </p:nvSpPr>
        <p:spPr>
          <a:xfrm>
            <a:off x="6339836" y="2367244"/>
            <a:ext cx="914400" cy="310896"/>
          </a:xfrm>
          <a:prstGeom prst="rect">
            <a:avLst/>
          </a:prstGeom>
          <a:noFill/>
        </p:spPr>
        <p:txBody>
          <a:bodyPr wrap="square" lIns="0" tIns="0" rIns="0" bIns="0" anchor="t">
            <a:spAutoFit/>
          </a:bodyPr>
          <a:lstStyle/>
          <a:p>
            <a:pPr algn="l"/>
            <a:r>
              <a:rPr sz="2200" b="0" i="1" dirty="0">
                <a:solidFill>
                  <a:srgbClr val="B02A2A"/>
                </a:solidFill>
                <a:latin typeface="Calibri"/>
              </a:rPr>
              <a:t>ATC</a:t>
            </a:r>
          </a:p>
        </p:txBody>
      </p:sp>
      <p:sp>
        <p:nvSpPr>
          <p:cNvPr id="19" name="CV_5"/>
          <p:cNvSpPr txBox="1"/>
          <p:nvPr/>
        </p:nvSpPr>
        <p:spPr>
          <a:xfrm>
            <a:off x="5700373" y="2003462"/>
            <a:ext cx="914400" cy="310896"/>
          </a:xfrm>
          <a:prstGeom prst="rect">
            <a:avLst/>
          </a:prstGeom>
          <a:noFill/>
        </p:spPr>
        <p:txBody>
          <a:bodyPr wrap="square" lIns="0" tIns="0" rIns="0" bIns="0" anchor="t">
            <a:spAutoFit/>
          </a:bodyPr>
          <a:lstStyle/>
          <a:p>
            <a:pPr algn="l"/>
            <a:r>
              <a:rPr sz="2200" b="0" i="1" dirty="0">
                <a:solidFill>
                  <a:srgbClr val="F08C1E"/>
                </a:solidFill>
                <a:latin typeface="Calibri"/>
              </a:rPr>
              <a:t>MC</a:t>
            </a:r>
          </a:p>
        </p:txBody>
      </p:sp>
      <p:cxnSp>
        <p:nvCxnSpPr>
          <p:cNvPr id="20" name="PMR_0"/>
          <p:cNvCxnSpPr>
            <a:cxnSpLocks/>
          </p:cNvCxnSpPr>
          <p:nvPr/>
        </p:nvCxnSpPr>
        <p:spPr>
          <a:xfrm>
            <a:off x="1417320" y="3622852"/>
            <a:ext cx="6922812" cy="9144"/>
          </a:xfrm>
          <a:prstGeom prst="line">
            <a:avLst/>
          </a:prstGeom>
          <a:ln w="3175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21" name="PMR_1"/>
          <p:cNvSpPr txBox="1"/>
          <p:nvPr/>
        </p:nvSpPr>
        <p:spPr>
          <a:xfrm>
            <a:off x="8456394" y="3476548"/>
            <a:ext cx="1280160" cy="310896"/>
          </a:xfrm>
          <a:prstGeom prst="rect">
            <a:avLst/>
          </a:prstGeom>
          <a:noFill/>
        </p:spPr>
        <p:txBody>
          <a:bodyPr wrap="square" lIns="0" tIns="0" rIns="0" bIns="0" anchor="t">
            <a:spAutoFit/>
          </a:bodyPr>
          <a:lstStyle/>
          <a:p>
            <a:pPr algn="l"/>
            <a:r>
              <a:rPr sz="2200" b="0" i="1" dirty="0">
                <a:solidFill>
                  <a:srgbClr val="4E79B5"/>
                </a:solidFill>
                <a:latin typeface="Calibri"/>
              </a:rPr>
              <a:t>P=MR</a:t>
            </a:r>
          </a:p>
        </p:txBody>
      </p:sp>
      <p:sp>
        <p:nvSpPr>
          <p:cNvPr id="22" name="PMR_2"/>
          <p:cNvSpPr txBox="1"/>
          <p:nvPr/>
        </p:nvSpPr>
        <p:spPr>
          <a:xfrm>
            <a:off x="518496" y="3476548"/>
            <a:ext cx="822960" cy="310896"/>
          </a:xfrm>
          <a:prstGeom prst="rect">
            <a:avLst/>
          </a:prstGeom>
          <a:noFill/>
        </p:spPr>
        <p:txBody>
          <a:bodyPr wrap="square" lIns="0" tIns="0" rIns="0" bIns="0" anchor="t">
            <a:spAutoFit/>
          </a:bodyPr>
          <a:lstStyle/>
          <a:p>
            <a:pPr algn="r"/>
            <a:r>
              <a:rPr sz="2000" b="0" i="0" dirty="0" err="1">
                <a:solidFill>
                  <a:srgbClr val="0B2B4E"/>
                </a:solidFill>
                <a:latin typeface="Calibri"/>
              </a:rPr>
              <a:t>P</a:t>
            </a:r>
            <a:r>
              <a:rPr sz="2000" b="0" i="0" baseline="-25000" dirty="0" err="1">
                <a:solidFill>
                  <a:srgbClr val="0B2B4E"/>
                </a:solidFill>
                <a:latin typeface="Calibri"/>
              </a:rPr>
              <a:t>High</a:t>
            </a:r>
            <a:endParaRPr sz="2000" b="0" i="0" baseline="-25000" dirty="0">
              <a:solidFill>
                <a:srgbClr val="0B2B4E"/>
              </a:solidFill>
              <a:latin typeface="Calibri"/>
            </a:endParaRPr>
          </a:p>
        </p:txBody>
      </p:sp>
      <p:sp>
        <p:nvSpPr>
          <p:cNvPr id="23" name="PROF_0"/>
          <p:cNvSpPr/>
          <p:nvPr/>
        </p:nvSpPr>
        <p:spPr>
          <a:xfrm>
            <a:off x="1417320" y="3622852"/>
            <a:ext cx="3861091" cy="325437"/>
          </a:xfrm>
          <a:prstGeom prst="rect">
            <a:avLst/>
          </a:prstGeom>
          <a:solidFill>
            <a:srgbClr val="B4A7D6">
              <a:alpha val="55000"/>
            </a:srgbClr>
          </a:solidFill>
          <a:ln w="158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PROF_1"/>
          <p:cNvCxnSpPr/>
          <p:nvPr/>
        </p:nvCxnSpPr>
        <p:spPr>
          <a:xfrm flipV="1">
            <a:off x="5274100" y="3622852"/>
            <a:ext cx="0" cy="1817828"/>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PROF_2"/>
          <p:cNvSpPr txBox="1"/>
          <p:nvPr/>
        </p:nvSpPr>
        <p:spPr>
          <a:xfrm>
            <a:off x="5038165" y="5486400"/>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p>
        </p:txBody>
      </p:sp>
      <p:sp>
        <p:nvSpPr>
          <p:cNvPr id="26" name="PROF_3"/>
          <p:cNvSpPr/>
          <p:nvPr/>
        </p:nvSpPr>
        <p:spPr>
          <a:xfrm>
            <a:off x="8729504" y="2616098"/>
            <a:ext cx="1737360" cy="566928"/>
          </a:xfrm>
          <a:prstGeom prst="roundRect">
            <a:avLst>
              <a:gd name="adj" fmla="val 12000"/>
            </a:avLst>
          </a:prstGeom>
          <a:solidFill>
            <a:srgbClr val="B4A7D6"/>
          </a:solidFill>
          <a:ln w="12700">
            <a:solidFill>
              <a:srgbClr val="9A8CC0"/>
            </a:solidFill>
          </a:ln>
          <a:effectLst>
            <a:outerShdw blurRad="45720" dist="27432"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0" i="0" dirty="0">
                <a:solidFill>
                  <a:srgbClr val="0B2B4E"/>
                </a:solidFill>
                <a:latin typeface="Calibri"/>
              </a:rPr>
              <a:t>Profit</a:t>
            </a:r>
          </a:p>
        </p:txBody>
      </p:sp>
      <p:sp>
        <p:nvSpPr>
          <p:cNvPr id="27" name="C_0"/>
          <p:cNvSpPr/>
          <p:nvPr/>
        </p:nvSpPr>
        <p:spPr>
          <a:xfrm>
            <a:off x="914400" y="5779008"/>
            <a:ext cx="10332720" cy="603504"/>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0" i="0" dirty="0">
                <a:solidFill>
                  <a:srgbClr val="0B2B4E"/>
                </a:solidFill>
                <a:latin typeface="Calibri"/>
              </a:rPr>
              <a:t>Optimal output is where </a:t>
            </a:r>
            <a:r>
              <a:rPr b="1" i="0" dirty="0">
                <a:solidFill>
                  <a:srgbClr val="0B2B4E"/>
                </a:solidFill>
                <a:latin typeface="Calibri"/>
              </a:rPr>
              <a:t>MC = MR = P</a:t>
            </a:r>
            <a:r>
              <a:rPr b="0" i="0" dirty="0">
                <a:solidFill>
                  <a:srgbClr val="0B2B4E"/>
                </a:solidFill>
                <a:latin typeface="Calibri"/>
              </a:rPr>
              <a:t>.  This occurs at Q*.  </a:t>
            </a:r>
            <a:endParaRPr lang="en-US" b="0" i="0" dirty="0">
              <a:solidFill>
                <a:srgbClr val="0B2B4E"/>
              </a:solidFill>
              <a:latin typeface="Calibri"/>
            </a:endParaRPr>
          </a:p>
          <a:p>
            <a:pPr algn="ctr"/>
            <a:r>
              <a:rPr b="0" i="0" dirty="0">
                <a:solidFill>
                  <a:srgbClr val="0B2B4E"/>
                </a:solidFill>
                <a:latin typeface="Calibri"/>
              </a:rPr>
              <a:t>At that output positive economic profits are being made because </a:t>
            </a:r>
            <a:r>
              <a:rPr b="1" i="0" dirty="0">
                <a:solidFill>
                  <a:srgbClr val="C0201B"/>
                </a:solidFill>
                <a:latin typeface="Calibri"/>
              </a:rPr>
              <a:t>P &gt; ATC</a:t>
            </a:r>
            <a:r>
              <a:rPr b="0" i="0" dirty="0">
                <a:solidFill>
                  <a:srgbClr val="0B2B4E"/>
                </a:solidFill>
                <a:latin typeface="Calibri"/>
              </a:rPr>
              <a:t>.</a:t>
            </a:r>
          </a:p>
        </p:txBody>
      </p:sp>
      <p:sp>
        <p:nvSpPr>
          <p:cNvPr id="33" name="Arc 11">
            <a:extLst>
              <a:ext uri="{FF2B5EF4-FFF2-40B4-BE49-F238E27FC236}">
                <a16:creationId xmlns:a16="http://schemas.microsoft.com/office/drawing/2014/main" id="{30C24C26-473A-0A78-E1AC-EDFA75D1DD97}"/>
              </a:ext>
            </a:extLst>
          </p:cNvPr>
          <p:cNvSpPr/>
          <p:nvPr/>
        </p:nvSpPr>
        <p:spPr>
          <a:xfrm rot="9232845">
            <a:off x="3768691" y="2286303"/>
            <a:ext cx="2729521" cy="1702328"/>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34" name="Arc 11">
            <a:extLst>
              <a:ext uri="{FF2B5EF4-FFF2-40B4-BE49-F238E27FC236}">
                <a16:creationId xmlns:a16="http://schemas.microsoft.com/office/drawing/2014/main" id="{14966CBA-5901-8E70-9E59-11BF5F332A68}"/>
              </a:ext>
            </a:extLst>
          </p:cNvPr>
          <p:cNvSpPr/>
          <p:nvPr/>
        </p:nvSpPr>
        <p:spPr>
          <a:xfrm rot="8747880">
            <a:off x="3131292" y="2276827"/>
            <a:ext cx="4088485" cy="2324838"/>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a:ln>
            <a:solidFill>
              <a:srgbClr val="00B05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35" name="Freeform 55">
            <a:extLst>
              <a:ext uri="{FF2B5EF4-FFF2-40B4-BE49-F238E27FC236}">
                <a16:creationId xmlns:a16="http://schemas.microsoft.com/office/drawing/2014/main" id="{79193DBD-7320-E493-6614-DA383488F082}"/>
              </a:ext>
            </a:extLst>
          </p:cNvPr>
          <p:cNvSpPr/>
          <p:nvPr/>
        </p:nvSpPr>
        <p:spPr>
          <a:xfrm>
            <a:off x="2763560" y="2319643"/>
            <a:ext cx="2906230" cy="2818480"/>
          </a:xfrm>
          <a:custGeom>
            <a:avLst/>
            <a:gdLst>
              <a:gd name="connsiteX0" fmla="*/ 0 w 970242"/>
              <a:gd name="connsiteY0" fmla="*/ 1026082 h 1621251"/>
              <a:gd name="connsiteX1" fmla="*/ 349008 w 970242"/>
              <a:gd name="connsiteY1" fmla="*/ 1577514 h 1621251"/>
              <a:gd name="connsiteX2" fmla="*/ 970242 w 970242"/>
              <a:gd name="connsiteY2" fmla="*/ 0 h 1621251"/>
              <a:gd name="connsiteX0" fmla="*/ 0 w 1191341"/>
              <a:gd name="connsiteY0" fmla="*/ 1313721 h 1665430"/>
              <a:gd name="connsiteX1" fmla="*/ 570107 w 1191341"/>
              <a:gd name="connsiteY1" fmla="*/ 1577514 h 1665430"/>
              <a:gd name="connsiteX2" fmla="*/ 1191341 w 1191341"/>
              <a:gd name="connsiteY2" fmla="*/ 0 h 1665430"/>
              <a:gd name="connsiteX0" fmla="*/ 0 w 1210850"/>
              <a:gd name="connsiteY0" fmla="*/ 1428777 h 1780486"/>
              <a:gd name="connsiteX1" fmla="*/ 570107 w 1210850"/>
              <a:gd name="connsiteY1" fmla="*/ 1692570 h 1780486"/>
              <a:gd name="connsiteX2" fmla="*/ 1210850 w 1210850"/>
              <a:gd name="connsiteY2" fmla="*/ 0 h 1780486"/>
              <a:gd name="connsiteX0" fmla="*/ 0 w 1334405"/>
              <a:gd name="connsiteY0" fmla="*/ 1400013 h 1773258"/>
              <a:gd name="connsiteX1" fmla="*/ 693662 w 1334405"/>
              <a:gd name="connsiteY1" fmla="*/ 1692570 h 1773258"/>
              <a:gd name="connsiteX2" fmla="*/ 1334405 w 133440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302093"/>
              <a:gd name="connsiteY0" fmla="*/ 1645406 h 1870155"/>
              <a:gd name="connsiteX1" fmla="*/ 817420 w 1302093"/>
              <a:gd name="connsiteY1" fmla="*/ 1692570 h 1870155"/>
              <a:gd name="connsiteX2" fmla="*/ 1302093 w 1302093"/>
              <a:gd name="connsiteY2" fmla="*/ 0 h 1870155"/>
              <a:gd name="connsiteX0" fmla="*/ 0 w 1302093"/>
              <a:gd name="connsiteY0" fmla="*/ 1645406 h 1867442"/>
              <a:gd name="connsiteX1" fmla="*/ 804617 w 1302093"/>
              <a:gd name="connsiteY1" fmla="*/ 1686278 h 1867442"/>
              <a:gd name="connsiteX2" fmla="*/ 1302093 w 1302093"/>
              <a:gd name="connsiteY2" fmla="*/ 0 h 1867442"/>
              <a:gd name="connsiteX0" fmla="*/ 0 w 1302093"/>
              <a:gd name="connsiteY0" fmla="*/ 1645406 h 1859603"/>
              <a:gd name="connsiteX1" fmla="*/ 787547 w 1302093"/>
              <a:gd name="connsiteY1" fmla="*/ 1667402 h 1859603"/>
              <a:gd name="connsiteX2" fmla="*/ 1302093 w 1302093"/>
              <a:gd name="connsiteY2" fmla="*/ 0 h 1859603"/>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61857"/>
              <a:gd name="connsiteX1" fmla="*/ 785414 w 1302093"/>
              <a:gd name="connsiteY1" fmla="*/ 1657963 h 1861857"/>
              <a:gd name="connsiteX2" fmla="*/ 1302093 w 1302093"/>
              <a:gd name="connsiteY2" fmla="*/ 0 h 1861857"/>
            </a:gdLst>
            <a:ahLst/>
            <a:cxnLst>
              <a:cxn ang="0">
                <a:pos x="connsiteX0" y="connsiteY0"/>
              </a:cxn>
              <a:cxn ang="0">
                <a:pos x="connsiteX1" y="connsiteY1"/>
              </a:cxn>
              <a:cxn ang="0">
                <a:pos x="connsiteX2" y="connsiteY2"/>
              </a:cxn>
            </a:cxnLst>
            <a:rect l="l" t="t" r="r" b="b"/>
            <a:pathLst>
              <a:path w="1302093" h="1861857">
                <a:moveTo>
                  <a:pt x="0" y="1645406"/>
                </a:moveTo>
                <a:cubicBezTo>
                  <a:pt x="93650" y="2006629"/>
                  <a:pt x="651446" y="1847854"/>
                  <a:pt x="785414" y="1657963"/>
                </a:cubicBezTo>
                <a:cubicBezTo>
                  <a:pt x="947121" y="1486949"/>
                  <a:pt x="1195885" y="712838"/>
                  <a:pt x="1302093" y="0"/>
                </a:cubicBezTo>
              </a:path>
            </a:pathLst>
          </a:cu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dirty="0">
              <a:latin typeface="Whitney Book" pitchFamily="50" charset="0"/>
              <a:cs typeface="Whitney Book" pitchFamily="50" charset="0"/>
            </a:endParaRPr>
          </a:p>
        </p:txBody>
      </p:sp>
      <p:cxnSp>
        <p:nvCxnSpPr>
          <p:cNvPr id="14" name="PROF_1">
            <a:extLst>
              <a:ext uri="{FF2B5EF4-FFF2-40B4-BE49-F238E27FC236}">
                <a16:creationId xmlns:a16="http://schemas.microsoft.com/office/drawing/2014/main" id="{044D3B00-2143-298E-36AA-9DFB11DB50F7}"/>
              </a:ext>
            </a:extLst>
          </p:cNvPr>
          <p:cNvCxnSpPr>
            <a:cxnSpLocks/>
          </p:cNvCxnSpPr>
          <p:nvPr/>
        </p:nvCxnSpPr>
        <p:spPr>
          <a:xfrm>
            <a:off x="1417320" y="3947263"/>
            <a:ext cx="3864328" cy="0"/>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1" grpId="0"/>
      <p:bldP spid="22" grpId="0"/>
      <p:bldP spid="23" grpId="0" animBg="1"/>
      <p:bldP spid="25" grpId="0"/>
      <p:bldP spid="26" grpId="0" animBg="1"/>
      <p:bldP spid="27" grpId="0" animBg="1"/>
      <p:bldP spid="33" grpId="0" animBg="1"/>
      <p:bldP spid="34" grpId="0" animBg="1"/>
      <p:bldP spid="3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Low Price: Operating at a Loss in the Short Run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31</a:t>
            </a:r>
          </a:p>
        </p:txBody>
      </p:sp>
      <p:sp>
        <p:nvSpPr>
          <p:cNvPr id="28" name="C_0"/>
          <p:cNvSpPr/>
          <p:nvPr/>
        </p:nvSpPr>
        <p:spPr>
          <a:xfrm>
            <a:off x="914400" y="5742432"/>
            <a:ext cx="10332720" cy="658368"/>
          </a:xfrm>
          <a:prstGeom prst="roundRect">
            <a:avLst>
              <a:gd name="adj" fmla="val 10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b="0" i="0" dirty="0">
                <a:solidFill>
                  <a:srgbClr val="0B2B4E"/>
                </a:solidFill>
                <a:latin typeface="Calibri"/>
              </a:rPr>
              <a:t>Negative economic profits (losses) are being made because </a:t>
            </a:r>
            <a:r>
              <a:rPr b="1" i="0" dirty="0">
                <a:solidFill>
                  <a:srgbClr val="C0201B"/>
                </a:solidFill>
                <a:latin typeface="Calibri"/>
              </a:rPr>
              <a:t>P &lt; ATC</a:t>
            </a:r>
            <a:r>
              <a:rPr b="0" i="0" dirty="0">
                <a:solidFill>
                  <a:srgbClr val="0B2B4E"/>
                </a:solidFill>
                <a:latin typeface="Calibri"/>
              </a:rPr>
              <a:t>.</a:t>
            </a:r>
          </a:p>
          <a:p>
            <a:pPr algn="ctr">
              <a:spcBef>
                <a:spcPts val="300"/>
              </a:spcBef>
            </a:pPr>
            <a:r>
              <a:rPr b="0" i="0" dirty="0">
                <a:solidFill>
                  <a:srgbClr val="0B2B4E"/>
                </a:solidFill>
                <a:latin typeface="Calibri"/>
              </a:rPr>
              <a:t>But </a:t>
            </a:r>
            <a:r>
              <a:rPr b="1" i="0" dirty="0">
                <a:solidFill>
                  <a:srgbClr val="C0201B"/>
                </a:solidFill>
                <a:latin typeface="Calibri"/>
              </a:rPr>
              <a:t>P ≥ AVC</a:t>
            </a:r>
            <a:r>
              <a:rPr b="0" i="0" dirty="0">
                <a:solidFill>
                  <a:srgbClr val="0B2B4E"/>
                </a:solidFill>
                <a:latin typeface="Calibri"/>
              </a:rPr>
              <a:t>  →  The firm should continue to operate in the short run.</a:t>
            </a:r>
          </a:p>
        </p:txBody>
      </p:sp>
      <p:cxnSp>
        <p:nvCxnSpPr>
          <p:cNvPr id="29" name="Connector 9">
            <a:extLst>
              <a:ext uri="{FF2B5EF4-FFF2-40B4-BE49-F238E27FC236}">
                <a16:creationId xmlns:a16="http://schemas.microsoft.com/office/drawing/2014/main" id="{C4A26070-6594-395C-2512-D4569277AF92}"/>
              </a:ext>
            </a:extLst>
          </p:cNvPr>
          <p:cNvCxnSpPr/>
          <p:nvPr/>
        </p:nvCxnSpPr>
        <p:spPr>
          <a:xfrm flipV="1">
            <a:off x="1417320" y="1938528"/>
            <a:ext cx="0" cy="3502152"/>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10">
            <a:extLst>
              <a:ext uri="{FF2B5EF4-FFF2-40B4-BE49-F238E27FC236}">
                <a16:creationId xmlns:a16="http://schemas.microsoft.com/office/drawing/2014/main" id="{D56381D8-8176-8F8B-7DE3-DB3A86AB0E35}"/>
              </a:ext>
            </a:extLst>
          </p:cNvPr>
          <p:cNvCxnSpPr>
            <a:cxnSpLocks/>
          </p:cNvCxnSpPr>
          <p:nvPr/>
        </p:nvCxnSpPr>
        <p:spPr>
          <a:xfrm>
            <a:off x="1417320" y="5440680"/>
            <a:ext cx="6842425"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9E0048D4-C6E5-793F-11B6-C04F86ACBFF1}"/>
              </a:ext>
            </a:extLst>
          </p:cNvPr>
          <p:cNvSpPr txBox="1"/>
          <p:nvPr/>
        </p:nvSpPr>
        <p:spPr>
          <a:xfrm>
            <a:off x="868680" y="1709928"/>
            <a:ext cx="1097280" cy="310896"/>
          </a:xfrm>
          <a:prstGeom prst="rect">
            <a:avLst/>
          </a:prstGeom>
          <a:noFill/>
        </p:spPr>
        <p:txBody>
          <a:bodyPr wrap="square" lIns="0" tIns="0" rIns="0" bIns="0" anchor="t">
            <a:spAutoFit/>
          </a:bodyPr>
          <a:lstStyle/>
          <a:p>
            <a:pPr algn="l"/>
            <a:r>
              <a:rPr sz="2000" b="0" i="1" dirty="0">
                <a:solidFill>
                  <a:srgbClr val="0B2B4E"/>
                </a:solidFill>
                <a:latin typeface="Calibri"/>
              </a:rPr>
              <a:t>$/Q</a:t>
            </a:r>
          </a:p>
        </p:txBody>
      </p:sp>
      <p:sp>
        <p:nvSpPr>
          <p:cNvPr id="32" name="TextBox 31">
            <a:extLst>
              <a:ext uri="{FF2B5EF4-FFF2-40B4-BE49-F238E27FC236}">
                <a16:creationId xmlns:a16="http://schemas.microsoft.com/office/drawing/2014/main" id="{5CF50780-2B1E-C62C-96F4-DC24B7D63895}"/>
              </a:ext>
            </a:extLst>
          </p:cNvPr>
          <p:cNvSpPr txBox="1"/>
          <p:nvPr/>
        </p:nvSpPr>
        <p:spPr>
          <a:xfrm>
            <a:off x="8183879" y="5453572"/>
            <a:ext cx="731520" cy="310896"/>
          </a:xfrm>
          <a:prstGeom prst="rect">
            <a:avLst/>
          </a:prstGeom>
          <a:noFill/>
        </p:spPr>
        <p:txBody>
          <a:bodyPr wrap="square" lIns="0" tIns="0" rIns="0" bIns="0" anchor="t">
            <a:spAutoFit/>
          </a:bodyPr>
          <a:lstStyle/>
          <a:p>
            <a:pPr algn="l"/>
            <a:r>
              <a:rPr sz="2000" b="0" i="1" dirty="0">
                <a:solidFill>
                  <a:srgbClr val="0B2B4E"/>
                </a:solidFill>
                <a:latin typeface="Calibri"/>
              </a:rPr>
              <a:t>Q</a:t>
            </a:r>
          </a:p>
        </p:txBody>
      </p:sp>
      <p:sp>
        <p:nvSpPr>
          <p:cNvPr id="33" name="CV_1">
            <a:extLst>
              <a:ext uri="{FF2B5EF4-FFF2-40B4-BE49-F238E27FC236}">
                <a16:creationId xmlns:a16="http://schemas.microsoft.com/office/drawing/2014/main" id="{00961C4C-7F6C-1229-CADB-148CA354605D}"/>
              </a:ext>
            </a:extLst>
          </p:cNvPr>
          <p:cNvSpPr txBox="1"/>
          <p:nvPr/>
        </p:nvSpPr>
        <p:spPr>
          <a:xfrm>
            <a:off x="6998307" y="2330669"/>
            <a:ext cx="914400" cy="310896"/>
          </a:xfrm>
          <a:prstGeom prst="rect">
            <a:avLst/>
          </a:prstGeom>
          <a:noFill/>
        </p:spPr>
        <p:txBody>
          <a:bodyPr wrap="square" lIns="0" tIns="0" rIns="0" bIns="0" anchor="t">
            <a:spAutoFit/>
          </a:bodyPr>
          <a:lstStyle/>
          <a:p>
            <a:pPr algn="l"/>
            <a:r>
              <a:rPr sz="2200" b="0" i="1" dirty="0">
                <a:solidFill>
                  <a:srgbClr val="2EA03E"/>
                </a:solidFill>
                <a:latin typeface="Calibri"/>
              </a:rPr>
              <a:t>AVC</a:t>
            </a:r>
          </a:p>
        </p:txBody>
      </p:sp>
      <p:sp>
        <p:nvSpPr>
          <p:cNvPr id="34" name="CV_3">
            <a:extLst>
              <a:ext uri="{FF2B5EF4-FFF2-40B4-BE49-F238E27FC236}">
                <a16:creationId xmlns:a16="http://schemas.microsoft.com/office/drawing/2014/main" id="{424BF2B3-E974-865F-1791-FBCEF2EE4D23}"/>
              </a:ext>
            </a:extLst>
          </p:cNvPr>
          <p:cNvSpPr txBox="1"/>
          <p:nvPr/>
        </p:nvSpPr>
        <p:spPr>
          <a:xfrm>
            <a:off x="6339836" y="2367244"/>
            <a:ext cx="914400" cy="310896"/>
          </a:xfrm>
          <a:prstGeom prst="rect">
            <a:avLst/>
          </a:prstGeom>
          <a:noFill/>
        </p:spPr>
        <p:txBody>
          <a:bodyPr wrap="square" lIns="0" tIns="0" rIns="0" bIns="0" anchor="t">
            <a:spAutoFit/>
          </a:bodyPr>
          <a:lstStyle/>
          <a:p>
            <a:pPr algn="l"/>
            <a:r>
              <a:rPr sz="2200" b="0" i="1" dirty="0">
                <a:solidFill>
                  <a:srgbClr val="B02A2A"/>
                </a:solidFill>
                <a:latin typeface="Calibri"/>
              </a:rPr>
              <a:t>ATC</a:t>
            </a:r>
          </a:p>
        </p:txBody>
      </p:sp>
      <p:sp>
        <p:nvSpPr>
          <p:cNvPr id="35" name="CV_5">
            <a:extLst>
              <a:ext uri="{FF2B5EF4-FFF2-40B4-BE49-F238E27FC236}">
                <a16:creationId xmlns:a16="http://schemas.microsoft.com/office/drawing/2014/main" id="{17AC4B09-CCE6-3015-7E6D-C08B1262F7FF}"/>
              </a:ext>
            </a:extLst>
          </p:cNvPr>
          <p:cNvSpPr txBox="1"/>
          <p:nvPr/>
        </p:nvSpPr>
        <p:spPr>
          <a:xfrm>
            <a:off x="5700373" y="2003462"/>
            <a:ext cx="914400" cy="310896"/>
          </a:xfrm>
          <a:prstGeom prst="rect">
            <a:avLst/>
          </a:prstGeom>
          <a:noFill/>
        </p:spPr>
        <p:txBody>
          <a:bodyPr wrap="square" lIns="0" tIns="0" rIns="0" bIns="0" anchor="t">
            <a:spAutoFit/>
          </a:bodyPr>
          <a:lstStyle/>
          <a:p>
            <a:pPr algn="l"/>
            <a:r>
              <a:rPr sz="2200" b="0" i="1" dirty="0">
                <a:solidFill>
                  <a:srgbClr val="F08C1E"/>
                </a:solidFill>
                <a:latin typeface="Calibri"/>
              </a:rPr>
              <a:t>MC</a:t>
            </a:r>
          </a:p>
        </p:txBody>
      </p:sp>
      <p:cxnSp>
        <p:nvCxnSpPr>
          <p:cNvPr id="36" name="PMR_0">
            <a:extLst>
              <a:ext uri="{FF2B5EF4-FFF2-40B4-BE49-F238E27FC236}">
                <a16:creationId xmlns:a16="http://schemas.microsoft.com/office/drawing/2014/main" id="{07A3A8F0-1535-6B1D-127D-DEA7F814B549}"/>
              </a:ext>
            </a:extLst>
          </p:cNvPr>
          <p:cNvCxnSpPr>
            <a:cxnSpLocks/>
          </p:cNvCxnSpPr>
          <p:nvPr/>
        </p:nvCxnSpPr>
        <p:spPr>
          <a:xfrm>
            <a:off x="1417320" y="4301856"/>
            <a:ext cx="6922812" cy="9144"/>
          </a:xfrm>
          <a:prstGeom prst="line">
            <a:avLst/>
          </a:prstGeom>
          <a:ln w="3175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37" name="PMR_1">
            <a:extLst>
              <a:ext uri="{FF2B5EF4-FFF2-40B4-BE49-F238E27FC236}">
                <a16:creationId xmlns:a16="http://schemas.microsoft.com/office/drawing/2014/main" id="{638701A2-92FB-C6E7-CD0C-E2DE82327F71}"/>
              </a:ext>
            </a:extLst>
          </p:cNvPr>
          <p:cNvSpPr txBox="1"/>
          <p:nvPr/>
        </p:nvSpPr>
        <p:spPr>
          <a:xfrm>
            <a:off x="8456394" y="4155552"/>
            <a:ext cx="1280160" cy="310896"/>
          </a:xfrm>
          <a:prstGeom prst="rect">
            <a:avLst/>
          </a:prstGeom>
          <a:noFill/>
        </p:spPr>
        <p:txBody>
          <a:bodyPr wrap="square" lIns="0" tIns="0" rIns="0" bIns="0" anchor="t">
            <a:spAutoFit/>
          </a:bodyPr>
          <a:lstStyle/>
          <a:p>
            <a:pPr algn="l"/>
            <a:r>
              <a:rPr sz="2200" b="0" i="1" dirty="0">
                <a:solidFill>
                  <a:srgbClr val="4E79B5"/>
                </a:solidFill>
                <a:latin typeface="Calibri"/>
              </a:rPr>
              <a:t>P=MR</a:t>
            </a:r>
          </a:p>
        </p:txBody>
      </p:sp>
      <p:sp>
        <p:nvSpPr>
          <p:cNvPr id="38" name="PMR_2">
            <a:extLst>
              <a:ext uri="{FF2B5EF4-FFF2-40B4-BE49-F238E27FC236}">
                <a16:creationId xmlns:a16="http://schemas.microsoft.com/office/drawing/2014/main" id="{D2F51D1E-FD3C-ACF6-313B-4C9C45B18204}"/>
              </a:ext>
            </a:extLst>
          </p:cNvPr>
          <p:cNvSpPr txBox="1"/>
          <p:nvPr/>
        </p:nvSpPr>
        <p:spPr>
          <a:xfrm>
            <a:off x="518496" y="4155552"/>
            <a:ext cx="822960" cy="310896"/>
          </a:xfrm>
          <a:prstGeom prst="rect">
            <a:avLst/>
          </a:prstGeom>
          <a:noFill/>
        </p:spPr>
        <p:txBody>
          <a:bodyPr wrap="square" lIns="0" tIns="0" rIns="0" bIns="0" anchor="t">
            <a:spAutoFit/>
          </a:bodyPr>
          <a:lstStyle/>
          <a:p>
            <a:pPr algn="r"/>
            <a:r>
              <a:rPr sz="2000" b="0" i="0" dirty="0" err="1">
                <a:solidFill>
                  <a:srgbClr val="0B2B4E"/>
                </a:solidFill>
                <a:latin typeface="Calibri"/>
              </a:rPr>
              <a:t>P</a:t>
            </a:r>
            <a:r>
              <a:rPr lang="en-US" sz="2000" b="0" i="0" baseline="-25000" dirty="0" err="1">
                <a:solidFill>
                  <a:srgbClr val="0B2B4E"/>
                </a:solidFill>
                <a:latin typeface="Calibri"/>
              </a:rPr>
              <a:t>Low</a:t>
            </a:r>
            <a:endParaRPr sz="2000" b="0" i="0" baseline="-25000" dirty="0">
              <a:solidFill>
                <a:srgbClr val="0B2B4E"/>
              </a:solidFill>
              <a:latin typeface="Calibri"/>
            </a:endParaRPr>
          </a:p>
        </p:txBody>
      </p:sp>
      <p:cxnSp>
        <p:nvCxnSpPr>
          <p:cNvPr id="40" name="PROF_1">
            <a:extLst>
              <a:ext uri="{FF2B5EF4-FFF2-40B4-BE49-F238E27FC236}">
                <a16:creationId xmlns:a16="http://schemas.microsoft.com/office/drawing/2014/main" id="{2D3EE88F-48D5-9518-CCC8-08D49DE19FA1}"/>
              </a:ext>
            </a:extLst>
          </p:cNvPr>
          <p:cNvCxnSpPr>
            <a:cxnSpLocks/>
          </p:cNvCxnSpPr>
          <p:nvPr/>
        </p:nvCxnSpPr>
        <p:spPr>
          <a:xfrm flipH="1" flipV="1">
            <a:off x="4948173" y="4019687"/>
            <a:ext cx="3" cy="1420993"/>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41" name="PROF_2">
            <a:extLst>
              <a:ext uri="{FF2B5EF4-FFF2-40B4-BE49-F238E27FC236}">
                <a16:creationId xmlns:a16="http://schemas.microsoft.com/office/drawing/2014/main" id="{DC429310-9E13-79D2-AE60-FFB747C33E99}"/>
              </a:ext>
            </a:extLst>
          </p:cNvPr>
          <p:cNvSpPr txBox="1"/>
          <p:nvPr/>
        </p:nvSpPr>
        <p:spPr>
          <a:xfrm>
            <a:off x="4703190" y="5486400"/>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p>
        </p:txBody>
      </p:sp>
      <p:sp>
        <p:nvSpPr>
          <p:cNvPr id="43" name="Arc 11">
            <a:extLst>
              <a:ext uri="{FF2B5EF4-FFF2-40B4-BE49-F238E27FC236}">
                <a16:creationId xmlns:a16="http://schemas.microsoft.com/office/drawing/2014/main" id="{C6CFB6FE-F0C8-576E-9ED9-F3DD5BA1E36D}"/>
              </a:ext>
            </a:extLst>
          </p:cNvPr>
          <p:cNvSpPr/>
          <p:nvPr/>
        </p:nvSpPr>
        <p:spPr>
          <a:xfrm rot="9232845">
            <a:off x="3768691" y="2286303"/>
            <a:ext cx="2729521" cy="1702328"/>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44" name="Freeform 55">
            <a:extLst>
              <a:ext uri="{FF2B5EF4-FFF2-40B4-BE49-F238E27FC236}">
                <a16:creationId xmlns:a16="http://schemas.microsoft.com/office/drawing/2014/main" id="{F9E4CFC6-5A7E-7357-F42F-31D20C0322E9}"/>
              </a:ext>
            </a:extLst>
          </p:cNvPr>
          <p:cNvSpPr/>
          <p:nvPr/>
        </p:nvSpPr>
        <p:spPr>
          <a:xfrm>
            <a:off x="2763560" y="2319643"/>
            <a:ext cx="2906230" cy="2818480"/>
          </a:xfrm>
          <a:custGeom>
            <a:avLst/>
            <a:gdLst>
              <a:gd name="connsiteX0" fmla="*/ 0 w 970242"/>
              <a:gd name="connsiteY0" fmla="*/ 1026082 h 1621251"/>
              <a:gd name="connsiteX1" fmla="*/ 349008 w 970242"/>
              <a:gd name="connsiteY1" fmla="*/ 1577514 h 1621251"/>
              <a:gd name="connsiteX2" fmla="*/ 970242 w 970242"/>
              <a:gd name="connsiteY2" fmla="*/ 0 h 1621251"/>
              <a:gd name="connsiteX0" fmla="*/ 0 w 1191341"/>
              <a:gd name="connsiteY0" fmla="*/ 1313721 h 1665430"/>
              <a:gd name="connsiteX1" fmla="*/ 570107 w 1191341"/>
              <a:gd name="connsiteY1" fmla="*/ 1577514 h 1665430"/>
              <a:gd name="connsiteX2" fmla="*/ 1191341 w 1191341"/>
              <a:gd name="connsiteY2" fmla="*/ 0 h 1665430"/>
              <a:gd name="connsiteX0" fmla="*/ 0 w 1210850"/>
              <a:gd name="connsiteY0" fmla="*/ 1428777 h 1780486"/>
              <a:gd name="connsiteX1" fmla="*/ 570107 w 1210850"/>
              <a:gd name="connsiteY1" fmla="*/ 1692570 h 1780486"/>
              <a:gd name="connsiteX2" fmla="*/ 1210850 w 1210850"/>
              <a:gd name="connsiteY2" fmla="*/ 0 h 1780486"/>
              <a:gd name="connsiteX0" fmla="*/ 0 w 1334405"/>
              <a:gd name="connsiteY0" fmla="*/ 1400013 h 1773258"/>
              <a:gd name="connsiteX1" fmla="*/ 693662 w 1334405"/>
              <a:gd name="connsiteY1" fmla="*/ 1692570 h 1773258"/>
              <a:gd name="connsiteX2" fmla="*/ 1334405 w 133440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302093"/>
              <a:gd name="connsiteY0" fmla="*/ 1645406 h 1870155"/>
              <a:gd name="connsiteX1" fmla="*/ 817420 w 1302093"/>
              <a:gd name="connsiteY1" fmla="*/ 1692570 h 1870155"/>
              <a:gd name="connsiteX2" fmla="*/ 1302093 w 1302093"/>
              <a:gd name="connsiteY2" fmla="*/ 0 h 1870155"/>
              <a:gd name="connsiteX0" fmla="*/ 0 w 1302093"/>
              <a:gd name="connsiteY0" fmla="*/ 1645406 h 1867442"/>
              <a:gd name="connsiteX1" fmla="*/ 804617 w 1302093"/>
              <a:gd name="connsiteY1" fmla="*/ 1686278 h 1867442"/>
              <a:gd name="connsiteX2" fmla="*/ 1302093 w 1302093"/>
              <a:gd name="connsiteY2" fmla="*/ 0 h 1867442"/>
              <a:gd name="connsiteX0" fmla="*/ 0 w 1302093"/>
              <a:gd name="connsiteY0" fmla="*/ 1645406 h 1859603"/>
              <a:gd name="connsiteX1" fmla="*/ 787547 w 1302093"/>
              <a:gd name="connsiteY1" fmla="*/ 1667402 h 1859603"/>
              <a:gd name="connsiteX2" fmla="*/ 1302093 w 1302093"/>
              <a:gd name="connsiteY2" fmla="*/ 0 h 1859603"/>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61857"/>
              <a:gd name="connsiteX1" fmla="*/ 785414 w 1302093"/>
              <a:gd name="connsiteY1" fmla="*/ 1657963 h 1861857"/>
              <a:gd name="connsiteX2" fmla="*/ 1302093 w 1302093"/>
              <a:gd name="connsiteY2" fmla="*/ 0 h 1861857"/>
            </a:gdLst>
            <a:ahLst/>
            <a:cxnLst>
              <a:cxn ang="0">
                <a:pos x="connsiteX0" y="connsiteY0"/>
              </a:cxn>
              <a:cxn ang="0">
                <a:pos x="connsiteX1" y="connsiteY1"/>
              </a:cxn>
              <a:cxn ang="0">
                <a:pos x="connsiteX2" y="connsiteY2"/>
              </a:cxn>
            </a:cxnLst>
            <a:rect l="l" t="t" r="r" b="b"/>
            <a:pathLst>
              <a:path w="1302093" h="1861857">
                <a:moveTo>
                  <a:pt x="0" y="1645406"/>
                </a:moveTo>
                <a:cubicBezTo>
                  <a:pt x="93650" y="2006629"/>
                  <a:pt x="651446" y="1847854"/>
                  <a:pt x="785414" y="1657963"/>
                </a:cubicBezTo>
                <a:cubicBezTo>
                  <a:pt x="947121" y="1486949"/>
                  <a:pt x="1195885" y="712838"/>
                  <a:pt x="1302093" y="0"/>
                </a:cubicBezTo>
              </a:path>
            </a:pathLst>
          </a:cu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dirty="0">
              <a:latin typeface="Whitney Book" pitchFamily="50" charset="0"/>
              <a:cs typeface="Whitney Book" pitchFamily="50" charset="0"/>
            </a:endParaRPr>
          </a:p>
        </p:txBody>
      </p:sp>
      <p:cxnSp>
        <p:nvCxnSpPr>
          <p:cNvPr id="45" name="PROF_1">
            <a:extLst>
              <a:ext uri="{FF2B5EF4-FFF2-40B4-BE49-F238E27FC236}">
                <a16:creationId xmlns:a16="http://schemas.microsoft.com/office/drawing/2014/main" id="{988E677D-7168-AF2F-7063-05F0AE39C39C}"/>
              </a:ext>
            </a:extLst>
          </p:cNvPr>
          <p:cNvCxnSpPr>
            <a:cxnSpLocks/>
          </p:cNvCxnSpPr>
          <p:nvPr/>
        </p:nvCxnSpPr>
        <p:spPr>
          <a:xfrm>
            <a:off x="1417320" y="4019687"/>
            <a:ext cx="3530856" cy="0"/>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Arc 11">
            <a:extLst>
              <a:ext uri="{FF2B5EF4-FFF2-40B4-BE49-F238E27FC236}">
                <a16:creationId xmlns:a16="http://schemas.microsoft.com/office/drawing/2014/main" id="{4AB1F3D5-5BB5-18C8-C099-97596A82A0F8}"/>
              </a:ext>
            </a:extLst>
          </p:cNvPr>
          <p:cNvSpPr/>
          <p:nvPr/>
        </p:nvSpPr>
        <p:spPr>
          <a:xfrm rot="8747880">
            <a:off x="3131292" y="2276827"/>
            <a:ext cx="4088485" cy="2324838"/>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a:ln>
            <a:solidFill>
              <a:srgbClr val="00B05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48" name="LOSS_4">
            <a:extLst>
              <a:ext uri="{FF2B5EF4-FFF2-40B4-BE49-F238E27FC236}">
                <a16:creationId xmlns:a16="http://schemas.microsoft.com/office/drawing/2014/main" id="{C73F9E45-9A91-6D1D-F94B-7B02E19ECD90}"/>
              </a:ext>
            </a:extLst>
          </p:cNvPr>
          <p:cNvSpPr/>
          <p:nvPr/>
        </p:nvSpPr>
        <p:spPr>
          <a:xfrm>
            <a:off x="8287811" y="2712390"/>
            <a:ext cx="1737360" cy="566928"/>
          </a:xfrm>
          <a:prstGeom prst="roundRect">
            <a:avLst>
              <a:gd name="adj" fmla="val 12000"/>
            </a:avLst>
          </a:prstGeom>
          <a:solidFill>
            <a:srgbClr val="E01B1B"/>
          </a:solidFill>
          <a:ln w="12700">
            <a:solidFill>
              <a:srgbClr val="A01010"/>
            </a:solidFill>
          </a:ln>
          <a:effectLst>
            <a:outerShdw blurRad="45720" dist="27432"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i="0">
                <a:solidFill>
                  <a:srgbClr val="FFFFFF"/>
                </a:solidFill>
                <a:latin typeface="Calibri"/>
              </a:rPr>
              <a:t>Loss</a:t>
            </a:r>
          </a:p>
        </p:txBody>
      </p:sp>
      <p:sp>
        <p:nvSpPr>
          <p:cNvPr id="49" name="LOSS_0">
            <a:extLst>
              <a:ext uri="{FF2B5EF4-FFF2-40B4-BE49-F238E27FC236}">
                <a16:creationId xmlns:a16="http://schemas.microsoft.com/office/drawing/2014/main" id="{3BA45EF0-FF5E-3C20-ADF0-37974EC07346}"/>
              </a:ext>
            </a:extLst>
          </p:cNvPr>
          <p:cNvSpPr/>
          <p:nvPr/>
        </p:nvSpPr>
        <p:spPr>
          <a:xfrm>
            <a:off x="1417320" y="4028338"/>
            <a:ext cx="3530853" cy="261541"/>
          </a:xfrm>
          <a:prstGeom prst="rect">
            <a:avLst/>
          </a:prstGeom>
          <a:solidFill>
            <a:srgbClr val="E01B1B">
              <a:alpha val="62000"/>
            </a:srgbClr>
          </a:solidFill>
          <a:ln w="12700">
            <a:solidFill>
              <a:srgbClr val="A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PROF_1">
            <a:extLst>
              <a:ext uri="{FF2B5EF4-FFF2-40B4-BE49-F238E27FC236}">
                <a16:creationId xmlns:a16="http://schemas.microsoft.com/office/drawing/2014/main" id="{ACA30AF0-021D-AC54-E1FE-D9E7F235938E}"/>
              </a:ext>
            </a:extLst>
          </p:cNvPr>
          <p:cNvCxnSpPr>
            <a:cxnSpLocks/>
          </p:cNvCxnSpPr>
          <p:nvPr/>
        </p:nvCxnSpPr>
        <p:spPr>
          <a:xfrm flipH="1" flipV="1">
            <a:off x="4946666" y="4301947"/>
            <a:ext cx="3" cy="1146285"/>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7" grpId="0"/>
      <p:bldP spid="38" grpId="0"/>
      <p:bldP spid="41" grpId="0"/>
      <p:bldP spid="43" grpId="0" animBg="1"/>
      <p:bldP spid="44" grpId="0" animBg="1"/>
      <p:bldP spid="4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Very Low Price: Shutting Down in the Short Run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32</a:t>
            </a:r>
          </a:p>
        </p:txBody>
      </p:sp>
      <p:sp>
        <p:nvSpPr>
          <p:cNvPr id="22" name="PMR_2"/>
          <p:cNvSpPr txBox="1"/>
          <p:nvPr/>
        </p:nvSpPr>
        <p:spPr>
          <a:xfrm>
            <a:off x="274320" y="4696463"/>
            <a:ext cx="1051560" cy="276999"/>
          </a:xfrm>
          <a:prstGeom prst="rect">
            <a:avLst/>
          </a:prstGeom>
          <a:noFill/>
        </p:spPr>
        <p:txBody>
          <a:bodyPr wrap="square" lIns="0" tIns="0" rIns="0" bIns="0" anchor="t">
            <a:spAutoFit/>
          </a:bodyPr>
          <a:lstStyle/>
          <a:p>
            <a:pPr algn="r"/>
            <a:r>
              <a:rPr b="0" i="0" dirty="0" err="1">
                <a:solidFill>
                  <a:srgbClr val="0B2B4E"/>
                </a:solidFill>
                <a:latin typeface="Calibri"/>
              </a:rPr>
              <a:t>P</a:t>
            </a:r>
            <a:r>
              <a:rPr b="0" i="0" baseline="-25000" dirty="0" err="1">
                <a:solidFill>
                  <a:srgbClr val="0B2B4E"/>
                </a:solidFill>
                <a:latin typeface="Calibri"/>
              </a:rPr>
              <a:t>Very</a:t>
            </a:r>
            <a:r>
              <a:rPr b="0" i="0" baseline="-25000" dirty="0">
                <a:solidFill>
                  <a:srgbClr val="0B2B4E"/>
                </a:solidFill>
                <a:latin typeface="Calibri"/>
              </a:rPr>
              <a:t> low</a:t>
            </a:r>
          </a:p>
        </p:txBody>
      </p:sp>
      <p:sp>
        <p:nvSpPr>
          <p:cNvPr id="28" name="C_0"/>
          <p:cNvSpPr/>
          <p:nvPr/>
        </p:nvSpPr>
        <p:spPr>
          <a:xfrm>
            <a:off x="640080" y="5742432"/>
            <a:ext cx="10881360" cy="658368"/>
          </a:xfrm>
          <a:prstGeom prst="roundRect">
            <a:avLst>
              <a:gd name="adj" fmla="val 10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b="0" i="0" dirty="0">
                <a:solidFill>
                  <a:srgbClr val="0B2B4E"/>
                </a:solidFill>
                <a:latin typeface="Calibri"/>
              </a:rPr>
              <a:t>Negative economic profits (losses) are being made because </a:t>
            </a:r>
            <a:r>
              <a:rPr b="1" i="0" dirty="0">
                <a:solidFill>
                  <a:srgbClr val="C0201B"/>
                </a:solidFill>
                <a:latin typeface="Calibri"/>
              </a:rPr>
              <a:t>P &lt; ATC</a:t>
            </a:r>
            <a:r>
              <a:rPr b="0" i="0" dirty="0">
                <a:solidFill>
                  <a:srgbClr val="0B2B4E"/>
                </a:solidFill>
                <a:latin typeface="Calibri"/>
              </a:rPr>
              <a:t>.</a:t>
            </a:r>
          </a:p>
          <a:p>
            <a:pPr algn="ctr">
              <a:spcBef>
                <a:spcPts val="300"/>
              </a:spcBef>
            </a:pPr>
            <a:r>
              <a:rPr b="1" i="0" dirty="0">
                <a:solidFill>
                  <a:srgbClr val="C0201B"/>
                </a:solidFill>
                <a:latin typeface="Calibri"/>
              </a:rPr>
              <a:t>P &lt; AVC</a:t>
            </a:r>
            <a:r>
              <a:rPr b="0" i="0" dirty="0">
                <a:solidFill>
                  <a:srgbClr val="0B2B4E"/>
                </a:solidFill>
                <a:latin typeface="Calibri"/>
              </a:rPr>
              <a:t>  →  The firm should shut down; operating does not positively contribute to recover TFC.</a:t>
            </a:r>
          </a:p>
        </p:txBody>
      </p:sp>
      <p:cxnSp>
        <p:nvCxnSpPr>
          <p:cNvPr id="29" name="Connector 9">
            <a:extLst>
              <a:ext uri="{FF2B5EF4-FFF2-40B4-BE49-F238E27FC236}">
                <a16:creationId xmlns:a16="http://schemas.microsoft.com/office/drawing/2014/main" id="{584CE2D3-F8BA-374B-13F6-0DB82C47B59F}"/>
              </a:ext>
            </a:extLst>
          </p:cNvPr>
          <p:cNvCxnSpPr/>
          <p:nvPr/>
        </p:nvCxnSpPr>
        <p:spPr>
          <a:xfrm flipV="1">
            <a:off x="1417320" y="1938528"/>
            <a:ext cx="0" cy="3502152"/>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10">
            <a:extLst>
              <a:ext uri="{FF2B5EF4-FFF2-40B4-BE49-F238E27FC236}">
                <a16:creationId xmlns:a16="http://schemas.microsoft.com/office/drawing/2014/main" id="{F745B553-35D6-04BE-1AF6-973DC3B6CBBD}"/>
              </a:ext>
            </a:extLst>
          </p:cNvPr>
          <p:cNvCxnSpPr>
            <a:cxnSpLocks/>
          </p:cNvCxnSpPr>
          <p:nvPr/>
        </p:nvCxnSpPr>
        <p:spPr>
          <a:xfrm>
            <a:off x="1417320" y="5440680"/>
            <a:ext cx="6842425"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02FC6FE8-B26E-48CB-E095-35F1D39E79B7}"/>
              </a:ext>
            </a:extLst>
          </p:cNvPr>
          <p:cNvSpPr txBox="1"/>
          <p:nvPr/>
        </p:nvSpPr>
        <p:spPr>
          <a:xfrm>
            <a:off x="868680" y="1709928"/>
            <a:ext cx="1097280" cy="310896"/>
          </a:xfrm>
          <a:prstGeom prst="rect">
            <a:avLst/>
          </a:prstGeom>
          <a:noFill/>
        </p:spPr>
        <p:txBody>
          <a:bodyPr wrap="square" lIns="0" tIns="0" rIns="0" bIns="0" anchor="t">
            <a:spAutoFit/>
          </a:bodyPr>
          <a:lstStyle/>
          <a:p>
            <a:pPr algn="l"/>
            <a:r>
              <a:rPr sz="2000" b="0" i="1" dirty="0">
                <a:solidFill>
                  <a:srgbClr val="0B2B4E"/>
                </a:solidFill>
                <a:latin typeface="Calibri"/>
              </a:rPr>
              <a:t>$/Q</a:t>
            </a:r>
          </a:p>
        </p:txBody>
      </p:sp>
      <p:sp>
        <p:nvSpPr>
          <p:cNvPr id="32" name="TextBox 31">
            <a:extLst>
              <a:ext uri="{FF2B5EF4-FFF2-40B4-BE49-F238E27FC236}">
                <a16:creationId xmlns:a16="http://schemas.microsoft.com/office/drawing/2014/main" id="{7E52E930-0CBA-5CC1-A4DC-D78AF275514A}"/>
              </a:ext>
            </a:extLst>
          </p:cNvPr>
          <p:cNvSpPr txBox="1"/>
          <p:nvPr/>
        </p:nvSpPr>
        <p:spPr>
          <a:xfrm>
            <a:off x="8183879" y="5453572"/>
            <a:ext cx="731520" cy="310896"/>
          </a:xfrm>
          <a:prstGeom prst="rect">
            <a:avLst/>
          </a:prstGeom>
          <a:noFill/>
        </p:spPr>
        <p:txBody>
          <a:bodyPr wrap="square" lIns="0" tIns="0" rIns="0" bIns="0" anchor="t">
            <a:spAutoFit/>
          </a:bodyPr>
          <a:lstStyle/>
          <a:p>
            <a:pPr algn="l"/>
            <a:r>
              <a:rPr sz="2000" b="0" i="1" dirty="0">
                <a:solidFill>
                  <a:srgbClr val="0B2B4E"/>
                </a:solidFill>
                <a:latin typeface="Calibri"/>
              </a:rPr>
              <a:t>Q</a:t>
            </a:r>
          </a:p>
        </p:txBody>
      </p:sp>
      <p:sp>
        <p:nvSpPr>
          <p:cNvPr id="33" name="CV_1">
            <a:extLst>
              <a:ext uri="{FF2B5EF4-FFF2-40B4-BE49-F238E27FC236}">
                <a16:creationId xmlns:a16="http://schemas.microsoft.com/office/drawing/2014/main" id="{0FA669EE-306D-EF09-9A38-2D94C187B186}"/>
              </a:ext>
            </a:extLst>
          </p:cNvPr>
          <p:cNvSpPr txBox="1"/>
          <p:nvPr/>
        </p:nvSpPr>
        <p:spPr>
          <a:xfrm>
            <a:off x="6998307" y="2330669"/>
            <a:ext cx="914400" cy="310896"/>
          </a:xfrm>
          <a:prstGeom prst="rect">
            <a:avLst/>
          </a:prstGeom>
          <a:noFill/>
        </p:spPr>
        <p:txBody>
          <a:bodyPr wrap="square" lIns="0" tIns="0" rIns="0" bIns="0" anchor="t">
            <a:spAutoFit/>
          </a:bodyPr>
          <a:lstStyle/>
          <a:p>
            <a:pPr algn="l"/>
            <a:r>
              <a:rPr sz="2200" b="0" i="1" dirty="0">
                <a:solidFill>
                  <a:srgbClr val="2EA03E"/>
                </a:solidFill>
                <a:latin typeface="Calibri"/>
              </a:rPr>
              <a:t>AVC</a:t>
            </a:r>
          </a:p>
        </p:txBody>
      </p:sp>
      <p:sp>
        <p:nvSpPr>
          <p:cNvPr id="34" name="CV_3">
            <a:extLst>
              <a:ext uri="{FF2B5EF4-FFF2-40B4-BE49-F238E27FC236}">
                <a16:creationId xmlns:a16="http://schemas.microsoft.com/office/drawing/2014/main" id="{8188B823-0593-117B-635C-DAB50AF50937}"/>
              </a:ext>
            </a:extLst>
          </p:cNvPr>
          <p:cNvSpPr txBox="1"/>
          <p:nvPr/>
        </p:nvSpPr>
        <p:spPr>
          <a:xfrm>
            <a:off x="6339836" y="2367244"/>
            <a:ext cx="914400" cy="310896"/>
          </a:xfrm>
          <a:prstGeom prst="rect">
            <a:avLst/>
          </a:prstGeom>
          <a:noFill/>
        </p:spPr>
        <p:txBody>
          <a:bodyPr wrap="square" lIns="0" tIns="0" rIns="0" bIns="0" anchor="t">
            <a:spAutoFit/>
          </a:bodyPr>
          <a:lstStyle/>
          <a:p>
            <a:pPr algn="l"/>
            <a:r>
              <a:rPr sz="2200" b="0" i="1" dirty="0">
                <a:solidFill>
                  <a:srgbClr val="B02A2A"/>
                </a:solidFill>
                <a:latin typeface="Calibri"/>
              </a:rPr>
              <a:t>ATC</a:t>
            </a:r>
          </a:p>
        </p:txBody>
      </p:sp>
      <p:sp>
        <p:nvSpPr>
          <p:cNvPr id="35" name="CV_5">
            <a:extLst>
              <a:ext uri="{FF2B5EF4-FFF2-40B4-BE49-F238E27FC236}">
                <a16:creationId xmlns:a16="http://schemas.microsoft.com/office/drawing/2014/main" id="{ECCB8C3C-9489-6CBE-9633-6FC603118E21}"/>
              </a:ext>
            </a:extLst>
          </p:cNvPr>
          <p:cNvSpPr txBox="1"/>
          <p:nvPr/>
        </p:nvSpPr>
        <p:spPr>
          <a:xfrm>
            <a:off x="5700373" y="2003462"/>
            <a:ext cx="914400" cy="310896"/>
          </a:xfrm>
          <a:prstGeom prst="rect">
            <a:avLst/>
          </a:prstGeom>
          <a:noFill/>
        </p:spPr>
        <p:txBody>
          <a:bodyPr wrap="square" lIns="0" tIns="0" rIns="0" bIns="0" anchor="t">
            <a:spAutoFit/>
          </a:bodyPr>
          <a:lstStyle/>
          <a:p>
            <a:pPr algn="l"/>
            <a:r>
              <a:rPr sz="2200" b="0" i="1" dirty="0">
                <a:solidFill>
                  <a:srgbClr val="F08C1E"/>
                </a:solidFill>
                <a:latin typeface="Calibri"/>
              </a:rPr>
              <a:t>MC</a:t>
            </a:r>
          </a:p>
        </p:txBody>
      </p:sp>
      <p:cxnSp>
        <p:nvCxnSpPr>
          <p:cNvPr id="36" name="PMR_0">
            <a:extLst>
              <a:ext uri="{FF2B5EF4-FFF2-40B4-BE49-F238E27FC236}">
                <a16:creationId xmlns:a16="http://schemas.microsoft.com/office/drawing/2014/main" id="{362DCD08-6B46-4CAD-745B-97938D32264D}"/>
              </a:ext>
            </a:extLst>
          </p:cNvPr>
          <p:cNvCxnSpPr>
            <a:cxnSpLocks/>
          </p:cNvCxnSpPr>
          <p:nvPr/>
        </p:nvCxnSpPr>
        <p:spPr>
          <a:xfrm>
            <a:off x="1417320" y="4872216"/>
            <a:ext cx="6922812" cy="9144"/>
          </a:xfrm>
          <a:prstGeom prst="line">
            <a:avLst/>
          </a:prstGeom>
          <a:ln w="31750">
            <a:solidFill>
              <a:srgbClr val="4E79B5"/>
            </a:solidFill>
          </a:ln>
          <a:effectLst/>
        </p:spPr>
        <p:style>
          <a:lnRef idx="2">
            <a:schemeClr val="accent1"/>
          </a:lnRef>
          <a:fillRef idx="0">
            <a:schemeClr val="accent1"/>
          </a:fillRef>
          <a:effectRef idx="1">
            <a:schemeClr val="accent1"/>
          </a:effectRef>
          <a:fontRef idx="minor">
            <a:schemeClr val="tx1"/>
          </a:fontRef>
        </p:style>
      </p:cxnSp>
      <p:sp>
        <p:nvSpPr>
          <p:cNvPr id="37" name="PMR_1">
            <a:extLst>
              <a:ext uri="{FF2B5EF4-FFF2-40B4-BE49-F238E27FC236}">
                <a16:creationId xmlns:a16="http://schemas.microsoft.com/office/drawing/2014/main" id="{BD7AA05C-41BC-D4D2-ED5F-D5F8D9159B91}"/>
              </a:ext>
            </a:extLst>
          </p:cNvPr>
          <p:cNvSpPr txBox="1"/>
          <p:nvPr/>
        </p:nvSpPr>
        <p:spPr>
          <a:xfrm>
            <a:off x="8456394" y="4689703"/>
            <a:ext cx="1280160" cy="310896"/>
          </a:xfrm>
          <a:prstGeom prst="rect">
            <a:avLst/>
          </a:prstGeom>
          <a:noFill/>
        </p:spPr>
        <p:txBody>
          <a:bodyPr wrap="square" lIns="0" tIns="0" rIns="0" bIns="0" anchor="t">
            <a:spAutoFit/>
          </a:bodyPr>
          <a:lstStyle/>
          <a:p>
            <a:pPr algn="l"/>
            <a:r>
              <a:rPr sz="2200" b="0" i="1" dirty="0">
                <a:solidFill>
                  <a:srgbClr val="4E79B5"/>
                </a:solidFill>
                <a:latin typeface="Calibri"/>
              </a:rPr>
              <a:t>P=MR</a:t>
            </a:r>
          </a:p>
        </p:txBody>
      </p:sp>
      <p:sp>
        <p:nvSpPr>
          <p:cNvPr id="40" name="PROF_2">
            <a:extLst>
              <a:ext uri="{FF2B5EF4-FFF2-40B4-BE49-F238E27FC236}">
                <a16:creationId xmlns:a16="http://schemas.microsoft.com/office/drawing/2014/main" id="{0A38C77B-6ABC-0D36-318B-C5CD5660A3CD}"/>
              </a:ext>
            </a:extLst>
          </p:cNvPr>
          <p:cNvSpPr txBox="1"/>
          <p:nvPr/>
        </p:nvSpPr>
        <p:spPr>
          <a:xfrm>
            <a:off x="4232416" y="5486400"/>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p>
        </p:txBody>
      </p:sp>
      <p:sp>
        <p:nvSpPr>
          <p:cNvPr id="41" name="Arc 11">
            <a:extLst>
              <a:ext uri="{FF2B5EF4-FFF2-40B4-BE49-F238E27FC236}">
                <a16:creationId xmlns:a16="http://schemas.microsoft.com/office/drawing/2014/main" id="{02B3DA9B-19C5-FE23-AC2D-6C1269B69B7B}"/>
              </a:ext>
            </a:extLst>
          </p:cNvPr>
          <p:cNvSpPr/>
          <p:nvPr/>
        </p:nvSpPr>
        <p:spPr>
          <a:xfrm rot="9232845">
            <a:off x="3768691" y="2286303"/>
            <a:ext cx="2729521" cy="1702328"/>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42" name="Freeform 55">
            <a:extLst>
              <a:ext uri="{FF2B5EF4-FFF2-40B4-BE49-F238E27FC236}">
                <a16:creationId xmlns:a16="http://schemas.microsoft.com/office/drawing/2014/main" id="{ADF761FB-700B-18E4-D528-5C794EE4442F}"/>
              </a:ext>
            </a:extLst>
          </p:cNvPr>
          <p:cNvSpPr/>
          <p:nvPr/>
        </p:nvSpPr>
        <p:spPr>
          <a:xfrm>
            <a:off x="2763560" y="2319643"/>
            <a:ext cx="2906230" cy="2818480"/>
          </a:xfrm>
          <a:custGeom>
            <a:avLst/>
            <a:gdLst>
              <a:gd name="connsiteX0" fmla="*/ 0 w 970242"/>
              <a:gd name="connsiteY0" fmla="*/ 1026082 h 1621251"/>
              <a:gd name="connsiteX1" fmla="*/ 349008 w 970242"/>
              <a:gd name="connsiteY1" fmla="*/ 1577514 h 1621251"/>
              <a:gd name="connsiteX2" fmla="*/ 970242 w 970242"/>
              <a:gd name="connsiteY2" fmla="*/ 0 h 1621251"/>
              <a:gd name="connsiteX0" fmla="*/ 0 w 1191341"/>
              <a:gd name="connsiteY0" fmla="*/ 1313721 h 1665430"/>
              <a:gd name="connsiteX1" fmla="*/ 570107 w 1191341"/>
              <a:gd name="connsiteY1" fmla="*/ 1577514 h 1665430"/>
              <a:gd name="connsiteX2" fmla="*/ 1191341 w 1191341"/>
              <a:gd name="connsiteY2" fmla="*/ 0 h 1665430"/>
              <a:gd name="connsiteX0" fmla="*/ 0 w 1210850"/>
              <a:gd name="connsiteY0" fmla="*/ 1428777 h 1780486"/>
              <a:gd name="connsiteX1" fmla="*/ 570107 w 1210850"/>
              <a:gd name="connsiteY1" fmla="*/ 1692570 h 1780486"/>
              <a:gd name="connsiteX2" fmla="*/ 1210850 w 1210850"/>
              <a:gd name="connsiteY2" fmla="*/ 0 h 1780486"/>
              <a:gd name="connsiteX0" fmla="*/ 0 w 1334405"/>
              <a:gd name="connsiteY0" fmla="*/ 1400013 h 1773258"/>
              <a:gd name="connsiteX1" fmla="*/ 693662 w 1334405"/>
              <a:gd name="connsiteY1" fmla="*/ 1692570 h 1773258"/>
              <a:gd name="connsiteX2" fmla="*/ 1334405 w 133440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302093"/>
              <a:gd name="connsiteY0" fmla="*/ 1645406 h 1870155"/>
              <a:gd name="connsiteX1" fmla="*/ 817420 w 1302093"/>
              <a:gd name="connsiteY1" fmla="*/ 1692570 h 1870155"/>
              <a:gd name="connsiteX2" fmla="*/ 1302093 w 1302093"/>
              <a:gd name="connsiteY2" fmla="*/ 0 h 1870155"/>
              <a:gd name="connsiteX0" fmla="*/ 0 w 1302093"/>
              <a:gd name="connsiteY0" fmla="*/ 1645406 h 1867442"/>
              <a:gd name="connsiteX1" fmla="*/ 804617 w 1302093"/>
              <a:gd name="connsiteY1" fmla="*/ 1686278 h 1867442"/>
              <a:gd name="connsiteX2" fmla="*/ 1302093 w 1302093"/>
              <a:gd name="connsiteY2" fmla="*/ 0 h 1867442"/>
              <a:gd name="connsiteX0" fmla="*/ 0 w 1302093"/>
              <a:gd name="connsiteY0" fmla="*/ 1645406 h 1859603"/>
              <a:gd name="connsiteX1" fmla="*/ 787547 w 1302093"/>
              <a:gd name="connsiteY1" fmla="*/ 1667402 h 1859603"/>
              <a:gd name="connsiteX2" fmla="*/ 1302093 w 1302093"/>
              <a:gd name="connsiteY2" fmla="*/ 0 h 1859603"/>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61857"/>
              <a:gd name="connsiteX1" fmla="*/ 785414 w 1302093"/>
              <a:gd name="connsiteY1" fmla="*/ 1657963 h 1861857"/>
              <a:gd name="connsiteX2" fmla="*/ 1302093 w 1302093"/>
              <a:gd name="connsiteY2" fmla="*/ 0 h 1861857"/>
            </a:gdLst>
            <a:ahLst/>
            <a:cxnLst>
              <a:cxn ang="0">
                <a:pos x="connsiteX0" y="connsiteY0"/>
              </a:cxn>
              <a:cxn ang="0">
                <a:pos x="connsiteX1" y="connsiteY1"/>
              </a:cxn>
              <a:cxn ang="0">
                <a:pos x="connsiteX2" y="connsiteY2"/>
              </a:cxn>
            </a:cxnLst>
            <a:rect l="l" t="t" r="r" b="b"/>
            <a:pathLst>
              <a:path w="1302093" h="1861857">
                <a:moveTo>
                  <a:pt x="0" y="1645406"/>
                </a:moveTo>
                <a:cubicBezTo>
                  <a:pt x="93650" y="2006629"/>
                  <a:pt x="651446" y="1847854"/>
                  <a:pt x="785414" y="1657963"/>
                </a:cubicBezTo>
                <a:cubicBezTo>
                  <a:pt x="947121" y="1486949"/>
                  <a:pt x="1195885" y="712838"/>
                  <a:pt x="1302093" y="0"/>
                </a:cubicBezTo>
              </a:path>
            </a:pathLst>
          </a:cu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dirty="0">
              <a:latin typeface="Whitney Book" pitchFamily="50" charset="0"/>
              <a:cs typeface="Whitney Book" pitchFamily="50" charset="0"/>
            </a:endParaRPr>
          </a:p>
        </p:txBody>
      </p:sp>
      <p:cxnSp>
        <p:nvCxnSpPr>
          <p:cNvPr id="43" name="PROF_1">
            <a:extLst>
              <a:ext uri="{FF2B5EF4-FFF2-40B4-BE49-F238E27FC236}">
                <a16:creationId xmlns:a16="http://schemas.microsoft.com/office/drawing/2014/main" id="{F1F8C969-0C41-4A20-A23C-CE80E4325B2B}"/>
              </a:ext>
            </a:extLst>
          </p:cNvPr>
          <p:cNvCxnSpPr>
            <a:cxnSpLocks/>
          </p:cNvCxnSpPr>
          <p:nvPr/>
        </p:nvCxnSpPr>
        <p:spPr>
          <a:xfrm>
            <a:off x="1417320" y="3956316"/>
            <a:ext cx="3067625" cy="0"/>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44" name="LOSS_4">
            <a:extLst>
              <a:ext uri="{FF2B5EF4-FFF2-40B4-BE49-F238E27FC236}">
                <a16:creationId xmlns:a16="http://schemas.microsoft.com/office/drawing/2014/main" id="{17BEDD44-2F41-6BC2-8901-A89C91764963}"/>
              </a:ext>
            </a:extLst>
          </p:cNvPr>
          <p:cNvSpPr/>
          <p:nvPr/>
        </p:nvSpPr>
        <p:spPr>
          <a:xfrm>
            <a:off x="8287811" y="2712390"/>
            <a:ext cx="1737360" cy="566928"/>
          </a:xfrm>
          <a:prstGeom prst="roundRect">
            <a:avLst>
              <a:gd name="adj" fmla="val 12000"/>
            </a:avLst>
          </a:prstGeom>
          <a:solidFill>
            <a:srgbClr val="E01B1B"/>
          </a:solidFill>
          <a:ln w="12700">
            <a:solidFill>
              <a:srgbClr val="A01010"/>
            </a:solidFill>
          </a:ln>
          <a:effectLst>
            <a:outerShdw blurRad="45720" dist="27432"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i="0">
                <a:solidFill>
                  <a:srgbClr val="FFFFFF"/>
                </a:solidFill>
                <a:latin typeface="Calibri"/>
              </a:rPr>
              <a:t>Loss</a:t>
            </a:r>
          </a:p>
        </p:txBody>
      </p:sp>
      <p:sp>
        <p:nvSpPr>
          <p:cNvPr id="45" name="LOSS_0">
            <a:extLst>
              <a:ext uri="{FF2B5EF4-FFF2-40B4-BE49-F238E27FC236}">
                <a16:creationId xmlns:a16="http://schemas.microsoft.com/office/drawing/2014/main" id="{0B5576AE-75E7-54BD-5EA8-DC31753367FF}"/>
              </a:ext>
            </a:extLst>
          </p:cNvPr>
          <p:cNvSpPr/>
          <p:nvPr/>
        </p:nvSpPr>
        <p:spPr>
          <a:xfrm>
            <a:off x="1417321" y="3962718"/>
            <a:ext cx="3067624" cy="896607"/>
          </a:xfrm>
          <a:prstGeom prst="rect">
            <a:avLst/>
          </a:prstGeom>
          <a:solidFill>
            <a:srgbClr val="E01B1B">
              <a:alpha val="62000"/>
            </a:srgbClr>
          </a:solidFill>
          <a:ln w="12700">
            <a:solidFill>
              <a:srgbClr val="A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PROF_1">
            <a:extLst>
              <a:ext uri="{FF2B5EF4-FFF2-40B4-BE49-F238E27FC236}">
                <a16:creationId xmlns:a16="http://schemas.microsoft.com/office/drawing/2014/main" id="{F86F80A1-3B42-E989-AD14-4CD9F0CEB04D}"/>
              </a:ext>
            </a:extLst>
          </p:cNvPr>
          <p:cNvCxnSpPr>
            <a:cxnSpLocks/>
          </p:cNvCxnSpPr>
          <p:nvPr/>
        </p:nvCxnSpPr>
        <p:spPr>
          <a:xfrm flipV="1">
            <a:off x="4484945" y="3956316"/>
            <a:ext cx="0" cy="1491916"/>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47" name="Arc 11">
            <a:extLst>
              <a:ext uri="{FF2B5EF4-FFF2-40B4-BE49-F238E27FC236}">
                <a16:creationId xmlns:a16="http://schemas.microsoft.com/office/drawing/2014/main" id="{FD8F7B80-7876-2515-CBCC-3941792B3A14}"/>
              </a:ext>
            </a:extLst>
          </p:cNvPr>
          <p:cNvSpPr/>
          <p:nvPr/>
        </p:nvSpPr>
        <p:spPr>
          <a:xfrm rot="8747880">
            <a:off x="3131292" y="2276827"/>
            <a:ext cx="4088485" cy="2324838"/>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a:ln>
            <a:solidFill>
              <a:srgbClr val="00B05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cxnSp>
        <p:nvCxnSpPr>
          <p:cNvPr id="51" name="PROF_1">
            <a:extLst>
              <a:ext uri="{FF2B5EF4-FFF2-40B4-BE49-F238E27FC236}">
                <a16:creationId xmlns:a16="http://schemas.microsoft.com/office/drawing/2014/main" id="{433F4B71-54A0-EB3B-3261-D44F160CF160}"/>
              </a:ext>
            </a:extLst>
          </p:cNvPr>
          <p:cNvCxnSpPr>
            <a:cxnSpLocks/>
          </p:cNvCxnSpPr>
          <p:nvPr/>
        </p:nvCxnSpPr>
        <p:spPr>
          <a:xfrm flipV="1">
            <a:off x="4483439" y="4890413"/>
            <a:ext cx="0" cy="559320"/>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7" grpId="0"/>
      <p:bldP spid="40" grpId="0"/>
      <p:bldP spid="41" grpId="0" animBg="1"/>
      <p:bldP spid="42" grpId="0" animBg="1"/>
      <p:bldP spid="4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ffee.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4" name="TextBox 3"/>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Coffee Bean Producer</a:t>
            </a:r>
          </a:p>
        </p:txBody>
      </p:sp>
      <p:cxnSp>
        <p:nvCxnSpPr>
          <p:cNvPr id="5" name="Connector 4"/>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10" name="TextBox 9"/>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33</a:t>
            </a:r>
          </a:p>
        </p:txBody>
      </p:sp>
      <p:sp>
        <p:nvSpPr>
          <p:cNvPr id="11" name="G1_0"/>
          <p:cNvSpPr txBox="1"/>
          <p:nvPr/>
        </p:nvSpPr>
        <p:spPr>
          <a:xfrm>
            <a:off x="640080" y="1572768"/>
            <a:ext cx="10515600" cy="86868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a:solidFill>
                  <a:srgbClr val="0B2B4E"/>
                </a:solidFill>
                <a:latin typeface="Calibri"/>
              </a:rPr>
              <a:t>Your firm is a price taker in the coffee bean market.</a:t>
            </a:r>
          </a:p>
        </p:txBody>
      </p:sp>
      <p:sp>
        <p:nvSpPr>
          <p:cNvPr id="12" name="G2_0"/>
          <p:cNvSpPr txBox="1"/>
          <p:nvPr/>
        </p:nvSpPr>
        <p:spPr>
          <a:xfrm>
            <a:off x="640080" y="2743200"/>
            <a:ext cx="10789920" cy="5486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a:solidFill>
                  <a:srgbClr val="0B2B4E"/>
                </a:solidFill>
                <a:latin typeface="Calibri"/>
              </a:rPr>
              <a:t>Your goal is to maximize profits in the short run</a:t>
            </a:r>
          </a:p>
        </p:txBody>
      </p:sp>
      <p:sp>
        <p:nvSpPr>
          <p:cNvPr id="13" name="G3_0"/>
          <p:cNvSpPr txBox="1"/>
          <p:nvPr/>
        </p:nvSpPr>
        <p:spPr>
          <a:xfrm>
            <a:off x="640080" y="3383280"/>
            <a:ext cx="10789920" cy="1446550"/>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You have recently </a:t>
            </a:r>
            <a:r>
              <a:rPr sz="2400" b="0" i="0" u="sng" dirty="0">
                <a:solidFill>
                  <a:srgbClr val="0B2B4E"/>
                </a:solidFill>
                <a:latin typeface="Calibri"/>
              </a:rPr>
              <a:t>optimized</a:t>
            </a:r>
            <a:r>
              <a:rPr sz="2400" b="0" i="0" dirty="0">
                <a:solidFill>
                  <a:srgbClr val="0B2B4E"/>
                </a:solidFill>
                <a:latin typeface="Calibri"/>
              </a:rPr>
              <a:t> your output level.</a:t>
            </a:r>
          </a:p>
          <a:p>
            <a:pPr marL="603504" lvl="1" indent="-603504">
              <a:spcAft>
                <a:spcPts val="300"/>
              </a:spcAft>
              <a:buClr>
                <a:srgbClr val="555B66"/>
              </a:buClr>
              <a:buSzPct val="100000"/>
              <a:buFont typeface="Calibri"/>
              <a:buChar char="–"/>
            </a:pPr>
            <a:r>
              <a:rPr sz="2000" b="0" i="1" dirty="0">
                <a:solidFill>
                  <a:schemeClr val="tx1">
                    <a:lumMod val="65000"/>
                    <a:lumOff val="35000"/>
                  </a:schemeClr>
                </a:solidFill>
                <a:latin typeface="Calibri"/>
              </a:rPr>
              <a:t>AVC = $12</a:t>
            </a:r>
          </a:p>
          <a:p>
            <a:pPr marL="603504" lvl="1" indent="-603504">
              <a:spcAft>
                <a:spcPts val="300"/>
              </a:spcAft>
              <a:buClr>
                <a:srgbClr val="555B66"/>
              </a:buClr>
              <a:buSzPct val="100000"/>
              <a:buFont typeface="Calibri"/>
              <a:buChar char="–"/>
            </a:pPr>
            <a:r>
              <a:rPr sz="2000" b="0" i="1" dirty="0">
                <a:solidFill>
                  <a:schemeClr val="tx1">
                    <a:lumMod val="65000"/>
                    <a:lumOff val="35000"/>
                  </a:schemeClr>
                </a:solidFill>
                <a:latin typeface="Calibri"/>
              </a:rPr>
              <a:t>ATC = $15</a:t>
            </a:r>
          </a:p>
          <a:p>
            <a:pPr marL="603504" lvl="1" indent="-603504">
              <a:spcAft>
                <a:spcPts val="0"/>
              </a:spcAft>
              <a:buClr>
                <a:srgbClr val="555B66"/>
              </a:buClr>
              <a:buSzPct val="100000"/>
              <a:buFont typeface="Calibri"/>
              <a:buChar char="–"/>
            </a:pPr>
            <a:r>
              <a:rPr sz="2000" b="0" i="1" dirty="0">
                <a:solidFill>
                  <a:schemeClr val="tx1">
                    <a:lumMod val="65000"/>
                    <a:lumOff val="35000"/>
                  </a:schemeClr>
                </a:solidFill>
                <a:latin typeface="Calibri"/>
              </a:rPr>
              <a:t>MC = $10</a:t>
            </a:r>
          </a:p>
        </p:txBody>
      </p:sp>
      <p:sp>
        <p:nvSpPr>
          <p:cNvPr id="14" name="G4_0"/>
          <p:cNvSpPr txBox="1"/>
          <p:nvPr/>
        </p:nvSpPr>
        <p:spPr>
          <a:xfrm>
            <a:off x="640080" y="5349240"/>
            <a:ext cx="10789920" cy="5486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a:solidFill>
                  <a:srgbClr val="0B2B4E"/>
                </a:solidFill>
                <a:latin typeface="Calibri"/>
              </a:rPr>
              <a:t>Should you continue to operate in the short run?</a:t>
            </a:r>
          </a:p>
        </p:txBody>
      </p:sp>
      <p:sp>
        <p:nvSpPr>
          <p:cNvPr id="16" name="Rounded Rectangle 15">
            <a:extLst>
              <a:ext uri="{FF2B5EF4-FFF2-40B4-BE49-F238E27FC236}">
                <a16:creationId xmlns:a16="http://schemas.microsoft.com/office/drawing/2014/main" id="{4AF40862-F945-C4B2-1600-01CAFA707CFD}"/>
              </a:ext>
            </a:extLst>
          </p:cNvPr>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pic>
        <p:nvPicPr>
          <p:cNvPr id="17" name="Picture 2" descr="Top Coffee Producing Countries - WorldAtlas">
            <a:extLst>
              <a:ext uri="{FF2B5EF4-FFF2-40B4-BE49-F238E27FC236}">
                <a16:creationId xmlns:a16="http://schemas.microsoft.com/office/drawing/2014/main" id="{3468BAA0-2DB1-88F6-C5DA-A066278C4F93}"/>
              </a:ext>
            </a:extLst>
          </p:cNvPr>
          <p:cNvPicPr>
            <a:picLocks noChangeAspect="1" noChangeArrowheads="1"/>
          </p:cNvPicPr>
          <p:nvPr/>
        </p:nvPicPr>
        <p:blipFill>
          <a:blip r:embed="rId4">
            <a:alphaModFix amt="14000"/>
            <a:extLst>
              <a:ext uri="{28A0092B-C50C-407E-A947-70E740481C1C}">
                <a14:useLocalDpi xmlns:a14="http://schemas.microsoft.com/office/drawing/2010/main" val="0"/>
              </a:ext>
            </a:extLst>
          </a:blip>
          <a:srcRect/>
          <a:stretch>
            <a:fillRect/>
          </a:stretch>
        </p:blipFill>
        <p:spPr bwMode="auto">
          <a:xfrm>
            <a:off x="0" y="-756507"/>
            <a:ext cx="12409662" cy="8279573"/>
          </a:xfrm>
          <a:prstGeom prst="rect">
            <a:avLst/>
          </a:prstGeom>
          <a:noFill/>
          <a:effectLst>
            <a:reflection endPos="0" dist="508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34</a:t>
            </a:r>
          </a:p>
        </p:txBody>
      </p:sp>
      <p:pic>
        <p:nvPicPr>
          <p:cNvPr id="10" name="Picture 9" descr="s34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35</a:t>
            </a:r>
          </a:p>
        </p:txBody>
      </p:sp>
      <p:pic>
        <p:nvPicPr>
          <p:cNvPr id="10" name="Picture 9" descr="s35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Coffee </a:t>
            </a:r>
            <a:r>
              <a:rPr lang="en-US" sz="3000" b="1" i="0" dirty="0">
                <a:solidFill>
                  <a:srgbClr val="0B2B4E"/>
                </a:solidFill>
                <a:latin typeface="Calibri"/>
              </a:rPr>
              <a:t>B</a:t>
            </a:r>
            <a:r>
              <a:rPr sz="3000" b="1" i="0" dirty="0">
                <a:solidFill>
                  <a:srgbClr val="0B2B4E"/>
                </a:solidFill>
                <a:latin typeface="Calibri"/>
              </a:rPr>
              <a:t>ean </a:t>
            </a:r>
            <a:r>
              <a:rPr lang="en-US" sz="3000" b="1" dirty="0">
                <a:solidFill>
                  <a:srgbClr val="0B2B4E"/>
                </a:solidFill>
                <a:latin typeface="Calibri"/>
              </a:rPr>
              <a:t>P</a:t>
            </a:r>
            <a:r>
              <a:rPr sz="3000" b="1" i="0" dirty="0">
                <a:solidFill>
                  <a:srgbClr val="0B2B4E"/>
                </a:solidFill>
                <a:latin typeface="Calibri"/>
              </a:rPr>
              <a:t>roducer: Solution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36</a:t>
            </a:r>
          </a:p>
        </p:txBody>
      </p:sp>
      <p:sp>
        <p:nvSpPr>
          <p:cNvPr id="10" name="BUILD"/>
          <p:cNvSpPr txBox="1"/>
          <p:nvPr/>
        </p:nvSpPr>
        <p:spPr>
          <a:xfrm>
            <a:off x="640080" y="1828800"/>
            <a:ext cx="10972800" cy="3508653"/>
          </a:xfrm>
          <a:prstGeom prst="rect">
            <a:avLst/>
          </a:prstGeom>
          <a:noFill/>
        </p:spPr>
        <p:txBody>
          <a:bodyPr wrap="square" lIns="0" tIns="0" rIns="0" bIns="0" anchor="t">
            <a:spAutoFit/>
          </a:bodyPr>
          <a:lstStyle/>
          <a:p>
            <a:pPr marL="274320" indent="-274320">
              <a:spcAft>
                <a:spcPts val="1200"/>
              </a:spcAft>
              <a:buClr>
                <a:srgbClr val="0B2B4E"/>
              </a:buClr>
              <a:buSzPct val="100000"/>
              <a:buFont typeface="Calibri"/>
              <a:buChar char="▪"/>
            </a:pPr>
            <a:r>
              <a:rPr sz="2400" b="0" i="0" dirty="0">
                <a:solidFill>
                  <a:srgbClr val="0B2B4E"/>
                </a:solidFill>
                <a:latin typeface="Calibri"/>
              </a:rPr>
              <a:t>Current level of output is profit-maximizing implies that MR = MC</a:t>
            </a:r>
            <a:endParaRPr lang="en-US" sz="2400" b="0" i="0" dirty="0">
              <a:solidFill>
                <a:srgbClr val="0B2B4E"/>
              </a:solidFill>
              <a:latin typeface="Calibri"/>
            </a:endParaRPr>
          </a:p>
          <a:p>
            <a:pPr marL="274320" indent="-274320">
              <a:spcAft>
                <a:spcPts val="1200"/>
              </a:spcAft>
              <a:buClr>
                <a:srgbClr val="0B2B4E"/>
              </a:buClr>
              <a:buSzPct val="100000"/>
              <a:buFont typeface="Calibri"/>
              <a:buChar char="▪"/>
            </a:pPr>
            <a:endParaRPr sz="2400" b="0" i="0" dirty="0">
              <a:solidFill>
                <a:srgbClr val="0B2B4E"/>
              </a:solidFill>
              <a:latin typeface="Calibri"/>
            </a:endParaRPr>
          </a:p>
          <a:p>
            <a:pPr marL="274320" indent="-274320">
              <a:spcAft>
                <a:spcPts val="1200"/>
              </a:spcAft>
              <a:buClr>
                <a:srgbClr val="0B2B4E"/>
              </a:buClr>
              <a:buSzPct val="100000"/>
              <a:buFont typeface="Calibri"/>
              <a:buChar char="▪"/>
            </a:pPr>
            <a:r>
              <a:rPr sz="2400" b="0" i="0" dirty="0">
                <a:solidFill>
                  <a:srgbClr val="0B2B4E"/>
                </a:solidFill>
                <a:latin typeface="Calibri"/>
              </a:rPr>
              <a:t>We know that MC = 10, so MR = 10, and the market price must also be $10</a:t>
            </a:r>
            <a:endParaRPr lang="en-US" sz="2400" b="0" i="0" dirty="0">
              <a:solidFill>
                <a:srgbClr val="0B2B4E"/>
              </a:solidFill>
              <a:latin typeface="Calibri"/>
            </a:endParaRPr>
          </a:p>
          <a:p>
            <a:pPr marL="274320" indent="-274320">
              <a:spcAft>
                <a:spcPts val="1200"/>
              </a:spcAft>
              <a:buClr>
                <a:srgbClr val="0B2B4E"/>
              </a:buClr>
              <a:buSzPct val="100000"/>
              <a:buFont typeface="Calibri"/>
              <a:buChar char="▪"/>
            </a:pPr>
            <a:endParaRPr sz="2400" b="0" i="0" dirty="0">
              <a:solidFill>
                <a:srgbClr val="0B2B4E"/>
              </a:solidFill>
              <a:latin typeface="Calibri"/>
            </a:endParaRPr>
          </a:p>
          <a:p>
            <a:pPr marL="274320" indent="-274320">
              <a:spcAft>
                <a:spcPts val="1200"/>
              </a:spcAft>
              <a:buClr>
                <a:srgbClr val="0B2B4E"/>
              </a:buClr>
              <a:buSzPct val="100000"/>
              <a:buFont typeface="Calibri"/>
              <a:buChar char="▪"/>
            </a:pPr>
            <a:r>
              <a:rPr sz="2400" b="0" i="0" dirty="0">
                <a:solidFill>
                  <a:srgbClr val="0B2B4E"/>
                </a:solidFill>
                <a:latin typeface="Calibri"/>
              </a:rPr>
              <a:t>Since AVC = 12, we have that P &lt; AVC</a:t>
            </a:r>
            <a:endParaRPr lang="en-US" sz="2400" b="0" i="0" dirty="0">
              <a:solidFill>
                <a:srgbClr val="0B2B4E"/>
              </a:solidFill>
              <a:latin typeface="Calibri"/>
            </a:endParaRPr>
          </a:p>
          <a:p>
            <a:pPr marL="274320" indent="-274320">
              <a:spcAft>
                <a:spcPts val="1200"/>
              </a:spcAft>
              <a:buClr>
                <a:srgbClr val="0B2B4E"/>
              </a:buClr>
              <a:buSzPct val="100000"/>
              <a:buFont typeface="Calibri"/>
              <a:buChar char="▪"/>
            </a:pPr>
            <a:endParaRPr sz="2400" b="0" i="0" dirty="0">
              <a:solidFill>
                <a:srgbClr val="0B2B4E"/>
              </a:solidFill>
              <a:latin typeface="Calibri"/>
            </a:endParaRPr>
          </a:p>
          <a:p>
            <a:pPr marL="274320" indent="-274320">
              <a:spcAft>
                <a:spcPts val="1200"/>
              </a:spcAft>
              <a:buClr>
                <a:srgbClr val="0B2B4E"/>
              </a:buClr>
              <a:buSzPct val="100000"/>
              <a:buFont typeface="Calibri"/>
              <a:buChar char="▪"/>
            </a:pPr>
            <a:r>
              <a:rPr sz="2400" b="1" i="0" dirty="0">
                <a:solidFill>
                  <a:srgbClr val="0B2B4E"/>
                </a:solidFill>
                <a:latin typeface="Calibri"/>
              </a:rPr>
              <a:t>This means you are losing money on every unit sold. You should shut down.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Summary: Short-Run Decisions for a Price Taker</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37</a:t>
            </a:r>
          </a:p>
        </p:txBody>
      </p:sp>
      <p:sp>
        <p:nvSpPr>
          <p:cNvPr id="10" name="T_0"/>
          <p:cNvSpPr txBox="1"/>
          <p:nvPr/>
        </p:nvSpPr>
        <p:spPr>
          <a:xfrm>
            <a:off x="3048302" y="1470124"/>
            <a:ext cx="10972800" cy="369332"/>
          </a:xfrm>
          <a:prstGeom prst="rect">
            <a:avLst/>
          </a:prstGeom>
          <a:noFill/>
        </p:spPr>
        <p:txBody>
          <a:bodyPr wrap="square" lIns="0" tIns="0" rIns="0" bIns="0" anchor="t">
            <a:spAutoFit/>
          </a:bodyPr>
          <a:lstStyle/>
          <a:p>
            <a:pPr>
              <a:spcAft>
                <a:spcPts val="0"/>
              </a:spcAft>
              <a:buClr>
                <a:srgbClr val="0B2B4E"/>
              </a:buClr>
              <a:buSzPct val="100000"/>
            </a:pPr>
            <a:r>
              <a:rPr sz="2400" b="0" i="0" dirty="0">
                <a:solidFill>
                  <a:srgbClr val="0B2B4E"/>
                </a:solidFill>
                <a:latin typeface="Calibri"/>
              </a:rPr>
              <a:t>Optimal output level: </a:t>
            </a:r>
            <a:r>
              <a:rPr sz="2400" b="0" i="0" dirty="0">
                <a:solidFill>
                  <a:srgbClr val="0B2B4E"/>
                </a:solidFill>
                <a:latin typeface="Cambria Math"/>
              </a:rPr>
              <a:t>Q*</a:t>
            </a:r>
            <a:r>
              <a:rPr sz="2400" b="0" i="0" dirty="0">
                <a:solidFill>
                  <a:srgbClr val="0B2B4E"/>
                </a:solidFill>
                <a:latin typeface="Calibri"/>
              </a:rPr>
              <a:t> where </a:t>
            </a:r>
            <a:r>
              <a:rPr sz="2400" b="0" i="0" dirty="0">
                <a:solidFill>
                  <a:srgbClr val="0B2B4E"/>
                </a:solidFill>
                <a:latin typeface="Cambria Math"/>
              </a:rPr>
              <a:t>MC = MR = P</a:t>
            </a:r>
          </a:p>
        </p:txBody>
      </p:sp>
      <p:sp>
        <p:nvSpPr>
          <p:cNvPr id="11" name="A_0"/>
          <p:cNvSpPr/>
          <p:nvPr/>
        </p:nvSpPr>
        <p:spPr>
          <a:xfrm>
            <a:off x="640080" y="2011680"/>
            <a:ext cx="10881360" cy="749808"/>
          </a:xfrm>
          <a:prstGeom prst="roundRect">
            <a:avLst>
              <a:gd name="adj" fmla="val 10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005840" rIns="182880" rtlCol="0" anchor="ctr"/>
          <a:lstStyle/>
          <a:p>
            <a:pPr algn="l"/>
            <a:r>
              <a:rPr sz="2200" b="1" i="0">
                <a:solidFill>
                  <a:srgbClr val="0B2B4E"/>
                </a:solidFill>
                <a:latin typeface="Calibri"/>
              </a:rPr>
              <a:t>If </a:t>
            </a:r>
            <a:r>
              <a:rPr sz="2200" b="1" i="0">
                <a:solidFill>
                  <a:srgbClr val="0B2B4E"/>
                </a:solidFill>
                <a:latin typeface="Cambria Math"/>
              </a:rPr>
              <a:t>P ≥ AVC</a:t>
            </a:r>
            <a:r>
              <a:rPr sz="2200" b="1" i="0">
                <a:solidFill>
                  <a:srgbClr val="0B2B4E"/>
                </a:solidFill>
                <a:latin typeface="Calibri"/>
              </a:rPr>
              <a:t> at </a:t>
            </a:r>
            <a:r>
              <a:rPr sz="2200" b="1" i="0">
                <a:solidFill>
                  <a:srgbClr val="0B2B4E"/>
                </a:solidFill>
                <a:latin typeface="Cambria Math"/>
              </a:rPr>
              <a:t>Q*</a:t>
            </a:r>
            <a:r>
              <a:rPr sz="2200" b="1" i="0">
                <a:solidFill>
                  <a:srgbClr val="0B2B4E"/>
                </a:solidFill>
                <a:latin typeface="Calibri"/>
              </a:rPr>
              <a:t>: Operate</a:t>
            </a:r>
          </a:p>
        </p:txBody>
      </p:sp>
      <p:sp>
        <p:nvSpPr>
          <p:cNvPr id="12" name="A_1"/>
          <p:cNvSpPr/>
          <p:nvPr/>
        </p:nvSpPr>
        <p:spPr>
          <a:xfrm>
            <a:off x="868680" y="215798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1</a:t>
            </a:r>
          </a:p>
        </p:txBody>
      </p:sp>
      <p:sp>
        <p:nvSpPr>
          <p:cNvPr id="13" name="A_2"/>
          <p:cNvSpPr txBox="1"/>
          <p:nvPr/>
        </p:nvSpPr>
        <p:spPr>
          <a:xfrm>
            <a:off x="1371600" y="2880360"/>
            <a:ext cx="10058400" cy="938719"/>
          </a:xfrm>
          <a:prstGeom prst="rect">
            <a:avLst/>
          </a:prstGeom>
          <a:noFill/>
        </p:spPr>
        <p:txBody>
          <a:bodyPr wrap="square" lIns="0" tIns="0" rIns="0" bIns="0" anchor="t">
            <a:spAutoFit/>
          </a:bodyPr>
          <a:lstStyle/>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Profits at </a:t>
            </a:r>
            <a:r>
              <a:rPr sz="2000" b="0" i="0" dirty="0">
                <a:solidFill>
                  <a:schemeClr val="tx1">
                    <a:lumMod val="65000"/>
                    <a:lumOff val="35000"/>
                  </a:schemeClr>
                </a:solidFill>
                <a:latin typeface="Cambria Math"/>
              </a:rPr>
              <a:t>Q*</a:t>
            </a:r>
            <a:r>
              <a:rPr sz="2000" b="0" i="0" dirty="0">
                <a:solidFill>
                  <a:schemeClr val="tx1">
                    <a:lumMod val="65000"/>
                    <a:lumOff val="35000"/>
                  </a:schemeClr>
                </a:solidFill>
                <a:latin typeface="Calibri"/>
              </a:rPr>
              <a:t> can be negative or positive</a:t>
            </a:r>
          </a:p>
          <a:p>
            <a:pPr marL="914400" lvl="2" indent="-914400">
              <a:spcAft>
                <a:spcPts val="300"/>
              </a:spcAft>
              <a:buClr>
                <a:srgbClr val="555B66"/>
              </a:buClr>
              <a:buSzPct val="80000"/>
              <a:buFont typeface="Calibri"/>
              <a:buChar char="•"/>
            </a:pPr>
            <a:r>
              <a:rPr sz="1800" b="0" i="0" dirty="0">
                <a:solidFill>
                  <a:schemeClr val="tx1">
                    <a:lumMod val="65000"/>
                    <a:lumOff val="35000"/>
                  </a:schemeClr>
                </a:solidFill>
                <a:latin typeface="Calibri"/>
              </a:rPr>
              <a:t>Positive profits if </a:t>
            </a:r>
            <a:r>
              <a:rPr sz="1800" b="0" i="0" dirty="0">
                <a:solidFill>
                  <a:schemeClr val="tx1">
                    <a:lumMod val="65000"/>
                    <a:lumOff val="35000"/>
                  </a:schemeClr>
                </a:solidFill>
                <a:latin typeface="Cambria Math"/>
              </a:rPr>
              <a:t>P ≥ ATC</a:t>
            </a:r>
          </a:p>
          <a:p>
            <a:pPr marL="914400" lvl="2" indent="-914400">
              <a:spcAft>
                <a:spcPts val="0"/>
              </a:spcAft>
              <a:buClr>
                <a:srgbClr val="555B66"/>
              </a:buClr>
              <a:buSzPct val="80000"/>
              <a:buFont typeface="Calibri"/>
              <a:buChar char="•"/>
            </a:pPr>
            <a:r>
              <a:rPr sz="1800" b="0" i="0" dirty="0">
                <a:solidFill>
                  <a:schemeClr val="tx1">
                    <a:lumMod val="65000"/>
                    <a:lumOff val="35000"/>
                  </a:schemeClr>
                </a:solidFill>
                <a:latin typeface="Calibri"/>
              </a:rPr>
              <a:t>Negative profits if </a:t>
            </a:r>
            <a:r>
              <a:rPr sz="1800" b="0" i="0" dirty="0">
                <a:solidFill>
                  <a:schemeClr val="tx1">
                    <a:lumMod val="65000"/>
                    <a:lumOff val="35000"/>
                  </a:schemeClr>
                </a:solidFill>
                <a:latin typeface="Cambria Math"/>
              </a:rPr>
              <a:t>P &lt; ATC</a:t>
            </a:r>
          </a:p>
        </p:txBody>
      </p:sp>
      <p:sp>
        <p:nvSpPr>
          <p:cNvPr id="14" name="B_0"/>
          <p:cNvSpPr/>
          <p:nvPr/>
        </p:nvSpPr>
        <p:spPr>
          <a:xfrm>
            <a:off x="640080" y="3977639"/>
            <a:ext cx="10881360" cy="749808"/>
          </a:xfrm>
          <a:prstGeom prst="roundRect">
            <a:avLst>
              <a:gd name="adj" fmla="val 10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005840" rIns="182880" rtlCol="0" anchor="ctr"/>
          <a:lstStyle/>
          <a:p>
            <a:pPr algn="l"/>
            <a:r>
              <a:rPr sz="2200" b="1" i="0">
                <a:solidFill>
                  <a:srgbClr val="0B2B4E"/>
                </a:solidFill>
                <a:latin typeface="Calibri"/>
              </a:rPr>
              <a:t>If </a:t>
            </a:r>
            <a:r>
              <a:rPr sz="2200" b="1" i="0">
                <a:solidFill>
                  <a:srgbClr val="0B2B4E"/>
                </a:solidFill>
                <a:latin typeface="Cambria Math"/>
              </a:rPr>
              <a:t>P &lt; AVC</a:t>
            </a:r>
            <a:r>
              <a:rPr sz="2200" b="1" i="0">
                <a:solidFill>
                  <a:srgbClr val="0B2B4E"/>
                </a:solidFill>
                <a:latin typeface="Calibri"/>
              </a:rPr>
              <a:t> at </a:t>
            </a:r>
            <a:r>
              <a:rPr sz="2200" b="1" i="0">
                <a:solidFill>
                  <a:srgbClr val="0B2B4E"/>
                </a:solidFill>
                <a:latin typeface="Cambria Math"/>
              </a:rPr>
              <a:t>Q*</a:t>
            </a:r>
            <a:r>
              <a:rPr sz="2200" b="1" i="0">
                <a:solidFill>
                  <a:srgbClr val="0B2B4E"/>
                </a:solidFill>
                <a:latin typeface="Calibri"/>
              </a:rPr>
              <a:t>: Shut down</a:t>
            </a:r>
          </a:p>
        </p:txBody>
      </p:sp>
      <p:sp>
        <p:nvSpPr>
          <p:cNvPr id="15" name="B_1"/>
          <p:cNvSpPr/>
          <p:nvPr/>
        </p:nvSpPr>
        <p:spPr>
          <a:xfrm>
            <a:off x="868680" y="412394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0B2B4E"/>
                </a:solidFill>
                <a:latin typeface="Calibri"/>
              </a:rPr>
              <a:t>2</a:t>
            </a:r>
          </a:p>
        </p:txBody>
      </p:sp>
      <p:sp>
        <p:nvSpPr>
          <p:cNvPr id="16" name="B_2"/>
          <p:cNvSpPr txBox="1"/>
          <p:nvPr/>
        </p:nvSpPr>
        <p:spPr>
          <a:xfrm>
            <a:off x="1371600" y="4846320"/>
            <a:ext cx="10241280" cy="654025"/>
          </a:xfrm>
          <a:prstGeom prst="rect">
            <a:avLst/>
          </a:prstGeom>
          <a:noFill/>
        </p:spPr>
        <p:txBody>
          <a:bodyPr wrap="square" lIns="0" tIns="0" rIns="0" bIns="0" anchor="t">
            <a:spAutoFit/>
          </a:bodyPr>
          <a:lstStyle/>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Losses = </a:t>
            </a:r>
            <a:r>
              <a:rPr sz="2000" b="0" i="1" dirty="0">
                <a:solidFill>
                  <a:schemeClr val="tx1">
                    <a:lumMod val="65000"/>
                    <a:lumOff val="35000"/>
                  </a:schemeClr>
                </a:solidFill>
                <a:latin typeface="Cambria Math"/>
              </a:rPr>
              <a:t>TFC</a:t>
            </a:r>
          </a:p>
          <a:p>
            <a:pPr marL="603504" lvl="1" indent="-603504">
              <a:spcAft>
                <a:spcPts val="0"/>
              </a:spcAft>
              <a:buClr>
                <a:srgbClr val="555B66"/>
              </a:buClr>
              <a:buSzPct val="100000"/>
              <a:buFont typeface="Calibri"/>
              <a:buChar char="–"/>
            </a:pPr>
            <a:r>
              <a:rPr sz="2000" b="0" i="0" dirty="0">
                <a:solidFill>
                  <a:schemeClr val="tx1">
                    <a:lumMod val="65000"/>
                    <a:lumOff val="35000"/>
                  </a:schemeClr>
                </a:solidFill>
                <a:latin typeface="Calibri"/>
              </a:rPr>
              <a:t>If you continued to produce, your losses would be </a:t>
            </a:r>
            <a:r>
              <a:rPr sz="2000" b="0" i="0" u="sng" dirty="0">
                <a:solidFill>
                  <a:schemeClr val="tx1">
                    <a:lumMod val="65000"/>
                    <a:lumOff val="35000"/>
                  </a:schemeClr>
                </a:solidFill>
                <a:latin typeface="Calibri"/>
              </a:rPr>
              <a:t>higher</a:t>
            </a:r>
            <a:r>
              <a:rPr sz="2000" b="0" i="0" dirty="0">
                <a:solidFill>
                  <a:schemeClr val="tx1">
                    <a:lumMod val="65000"/>
                    <a:lumOff val="35000"/>
                  </a:schemeClr>
                </a:solidFill>
                <a:latin typeface="Calibri"/>
              </a:rPr>
              <a:t> than </a:t>
            </a:r>
            <a:r>
              <a:rPr sz="2000" b="0" i="1" dirty="0">
                <a:solidFill>
                  <a:schemeClr val="tx1">
                    <a:lumMod val="65000"/>
                    <a:lumOff val="35000"/>
                  </a:schemeClr>
                </a:solidFill>
                <a:latin typeface="Cambria Math"/>
              </a:rPr>
              <a:t>TFC</a:t>
            </a:r>
          </a:p>
        </p:txBody>
      </p:sp>
      <p:sp>
        <p:nvSpPr>
          <p:cNvPr id="17" name="Rounded Rectangle 16"/>
          <p:cNvSpPr/>
          <p:nvPr/>
        </p:nvSpPr>
        <p:spPr>
          <a:xfrm>
            <a:off x="4572000" y="5943600"/>
            <a:ext cx="2377440" cy="457200"/>
          </a:xfrm>
          <a:prstGeom prst="roundRect">
            <a:avLst>
              <a:gd name="adj" fmla="val 20000"/>
            </a:avLst>
          </a:prstGeom>
          <a:solidFill>
            <a:srgbClr val="E09F3E"/>
          </a:solidFill>
          <a:ln w="12700">
            <a:solidFill>
              <a:srgbClr val="C88A2E"/>
            </a:solidFill>
          </a:ln>
          <a:effectLst>
            <a:outerShdw blurRad="45720" dist="27432"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46304" rtlCol="0" anchor="ctr"/>
          <a:lstStyle/>
          <a:p>
            <a:pPr algn="ctr"/>
            <a:r>
              <a:rPr sz="1800" b="1" i="0">
                <a:solidFill>
                  <a:srgbClr val="C0201B"/>
                </a:solidFill>
                <a:latin typeface="Calibri"/>
              </a:rPr>
              <a:t>➜  </a:t>
            </a:r>
            <a:r>
              <a:rPr sz="1800" b="1" i="0">
                <a:solidFill>
                  <a:srgbClr val="0B2B4E"/>
                </a:solidFill>
                <a:latin typeface="Calibri"/>
              </a:rPr>
              <a:t>PS 3,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Price Taker’s Short Run Supply Curve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38</a:t>
            </a:r>
          </a:p>
        </p:txBody>
      </p:sp>
      <p:cxnSp>
        <p:nvCxnSpPr>
          <p:cNvPr id="10" name="G1_0"/>
          <p:cNvCxnSpPr/>
          <p:nvPr/>
        </p:nvCxnSpPr>
        <p:spPr>
          <a:xfrm flipV="1">
            <a:off x="1143000" y="2103119"/>
            <a:ext cx="0" cy="3703321"/>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G1_1"/>
          <p:cNvCxnSpPr/>
          <p:nvPr/>
        </p:nvCxnSpPr>
        <p:spPr>
          <a:xfrm>
            <a:off x="1143000" y="5806440"/>
            <a:ext cx="438912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G1_2"/>
          <p:cNvSpPr txBox="1"/>
          <p:nvPr/>
        </p:nvSpPr>
        <p:spPr>
          <a:xfrm>
            <a:off x="822960" y="1821743"/>
            <a:ext cx="1280160" cy="320040"/>
          </a:xfrm>
          <a:prstGeom prst="rect">
            <a:avLst/>
          </a:prstGeom>
          <a:noFill/>
        </p:spPr>
        <p:txBody>
          <a:bodyPr wrap="square" lIns="0" tIns="0" rIns="0" bIns="0" anchor="t">
            <a:spAutoFit/>
          </a:bodyPr>
          <a:lstStyle/>
          <a:p>
            <a:pPr algn="l"/>
            <a:r>
              <a:rPr sz="2000" b="0" i="0" dirty="0">
                <a:solidFill>
                  <a:srgbClr val="0B2B4E"/>
                </a:solidFill>
                <a:latin typeface="Calibri"/>
              </a:rPr>
              <a:t>Price</a:t>
            </a:r>
          </a:p>
        </p:txBody>
      </p:sp>
      <p:sp>
        <p:nvSpPr>
          <p:cNvPr id="13" name="G1_3"/>
          <p:cNvSpPr txBox="1"/>
          <p:nvPr/>
        </p:nvSpPr>
        <p:spPr>
          <a:xfrm>
            <a:off x="5349240" y="5769864"/>
            <a:ext cx="548640" cy="320040"/>
          </a:xfrm>
          <a:prstGeom prst="rect">
            <a:avLst/>
          </a:prstGeom>
          <a:noFill/>
        </p:spPr>
        <p:txBody>
          <a:bodyPr wrap="square" lIns="0" tIns="0" rIns="0" bIns="0" anchor="t">
            <a:spAutoFit/>
          </a:bodyPr>
          <a:lstStyle/>
          <a:p>
            <a:pPr algn="l"/>
            <a:r>
              <a:rPr sz="2000" b="0" i="1">
                <a:solidFill>
                  <a:srgbClr val="0B2B4E"/>
                </a:solidFill>
                <a:latin typeface="Calibri"/>
              </a:rPr>
              <a:t>Q</a:t>
            </a:r>
          </a:p>
        </p:txBody>
      </p:sp>
      <p:cxnSp>
        <p:nvCxnSpPr>
          <p:cNvPr id="14" name="G2_0"/>
          <p:cNvCxnSpPr/>
          <p:nvPr/>
        </p:nvCxnSpPr>
        <p:spPr>
          <a:xfrm flipV="1">
            <a:off x="1143000" y="2336481"/>
            <a:ext cx="4063365" cy="2938571"/>
          </a:xfrm>
          <a:prstGeom prst="line">
            <a:avLst/>
          </a:prstGeom>
          <a:ln w="43180">
            <a:solidFill>
              <a:srgbClr val="C0392B"/>
            </a:solidFill>
          </a:ln>
          <a:effectLst/>
        </p:spPr>
        <p:style>
          <a:lnRef idx="2">
            <a:schemeClr val="accent1"/>
          </a:lnRef>
          <a:fillRef idx="0">
            <a:schemeClr val="accent1"/>
          </a:fillRef>
          <a:effectRef idx="1">
            <a:schemeClr val="accent1"/>
          </a:effectRef>
          <a:fontRef idx="minor">
            <a:schemeClr val="tx1"/>
          </a:fontRef>
        </p:style>
      </p:cxnSp>
      <p:sp>
        <p:nvSpPr>
          <p:cNvPr id="15" name="G2_1"/>
          <p:cNvSpPr txBox="1"/>
          <p:nvPr/>
        </p:nvSpPr>
        <p:spPr>
          <a:xfrm>
            <a:off x="5256220" y="2182121"/>
            <a:ext cx="822960" cy="320040"/>
          </a:xfrm>
          <a:prstGeom prst="rect">
            <a:avLst/>
          </a:prstGeom>
          <a:noFill/>
        </p:spPr>
        <p:txBody>
          <a:bodyPr wrap="square" lIns="0" tIns="0" rIns="0" bIns="0" anchor="t">
            <a:spAutoFit/>
          </a:bodyPr>
          <a:lstStyle/>
          <a:p>
            <a:pPr algn="l"/>
            <a:r>
              <a:rPr sz="2200" b="0" i="0" dirty="0">
                <a:solidFill>
                  <a:srgbClr val="0B2B4E"/>
                </a:solidFill>
                <a:latin typeface="Calibri"/>
              </a:rPr>
              <a:t>MC</a:t>
            </a:r>
          </a:p>
        </p:txBody>
      </p:sp>
      <p:cxnSp>
        <p:nvCxnSpPr>
          <p:cNvPr id="16" name="G2_2"/>
          <p:cNvCxnSpPr/>
          <p:nvPr/>
        </p:nvCxnSpPr>
        <p:spPr>
          <a:xfrm flipV="1">
            <a:off x="1143000" y="3218053"/>
            <a:ext cx="4063365" cy="2056999"/>
          </a:xfrm>
          <a:prstGeom prst="line">
            <a:avLst/>
          </a:prstGeom>
          <a:ln w="43180">
            <a:solidFill>
              <a:srgbClr val="9BBB59"/>
            </a:solidFill>
          </a:ln>
          <a:effectLst/>
        </p:spPr>
        <p:style>
          <a:lnRef idx="2">
            <a:schemeClr val="accent1"/>
          </a:lnRef>
          <a:fillRef idx="0">
            <a:schemeClr val="accent1"/>
          </a:fillRef>
          <a:effectRef idx="1">
            <a:schemeClr val="accent1"/>
          </a:effectRef>
          <a:fontRef idx="minor">
            <a:schemeClr val="tx1"/>
          </a:fontRef>
        </p:style>
      </p:cxnSp>
      <p:sp>
        <p:nvSpPr>
          <p:cNvPr id="17" name="G2_3"/>
          <p:cNvSpPr txBox="1"/>
          <p:nvPr/>
        </p:nvSpPr>
        <p:spPr>
          <a:xfrm>
            <a:off x="5251494" y="3022639"/>
            <a:ext cx="914400" cy="320040"/>
          </a:xfrm>
          <a:prstGeom prst="rect">
            <a:avLst/>
          </a:prstGeom>
          <a:noFill/>
        </p:spPr>
        <p:txBody>
          <a:bodyPr wrap="square" lIns="0" tIns="0" rIns="0" bIns="0" anchor="t">
            <a:spAutoFit/>
          </a:bodyPr>
          <a:lstStyle/>
          <a:p>
            <a:pPr algn="l"/>
            <a:r>
              <a:rPr sz="2200" b="0" i="0">
                <a:solidFill>
                  <a:srgbClr val="0B2B4E"/>
                </a:solidFill>
                <a:latin typeface="Calibri"/>
              </a:rPr>
              <a:t>AVC</a:t>
            </a:r>
          </a:p>
        </p:txBody>
      </p:sp>
      <p:sp>
        <p:nvSpPr>
          <p:cNvPr id="18" name="G2_4"/>
          <p:cNvSpPr txBox="1"/>
          <p:nvPr/>
        </p:nvSpPr>
        <p:spPr>
          <a:xfrm>
            <a:off x="429768" y="5128748"/>
            <a:ext cx="566928" cy="292608"/>
          </a:xfrm>
          <a:prstGeom prst="rect">
            <a:avLst/>
          </a:prstGeom>
          <a:noFill/>
        </p:spPr>
        <p:txBody>
          <a:bodyPr wrap="square" lIns="0" tIns="0" rIns="0" bIns="0" anchor="t">
            <a:spAutoFit/>
          </a:bodyPr>
          <a:lstStyle/>
          <a:p>
            <a:pPr algn="r"/>
            <a:r>
              <a:rPr sz="1700" b="0" i="0">
                <a:solidFill>
                  <a:srgbClr val="0B2B4E"/>
                </a:solidFill>
                <a:latin typeface="Calibri"/>
              </a:rPr>
              <a:t>40</a:t>
            </a:r>
          </a:p>
        </p:txBody>
      </p:sp>
      <p:cxnSp>
        <p:nvCxnSpPr>
          <p:cNvPr id="19" name="G3_0"/>
          <p:cNvCxnSpPr/>
          <p:nvPr/>
        </p:nvCxnSpPr>
        <p:spPr>
          <a:xfrm>
            <a:off x="1143000" y="3680891"/>
            <a:ext cx="2204357" cy="0"/>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 name="G3_1"/>
          <p:cNvCxnSpPr/>
          <p:nvPr/>
        </p:nvCxnSpPr>
        <p:spPr>
          <a:xfrm flipV="1">
            <a:off x="3347357" y="3680891"/>
            <a:ext cx="0" cy="2125549"/>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G3_2"/>
          <p:cNvSpPr txBox="1"/>
          <p:nvPr/>
        </p:nvSpPr>
        <p:spPr>
          <a:xfrm>
            <a:off x="429768" y="3534587"/>
            <a:ext cx="566928" cy="292608"/>
          </a:xfrm>
          <a:prstGeom prst="rect">
            <a:avLst/>
          </a:prstGeom>
          <a:noFill/>
        </p:spPr>
        <p:txBody>
          <a:bodyPr wrap="square" lIns="0" tIns="0" rIns="0" bIns="0" anchor="t">
            <a:spAutoFit/>
          </a:bodyPr>
          <a:lstStyle/>
          <a:p>
            <a:pPr algn="r"/>
            <a:r>
              <a:rPr sz="1700" b="0" i="0">
                <a:solidFill>
                  <a:srgbClr val="0B2B4E"/>
                </a:solidFill>
                <a:latin typeface="Calibri"/>
              </a:rPr>
              <a:t>160</a:t>
            </a:r>
          </a:p>
        </p:txBody>
      </p:sp>
      <p:sp>
        <p:nvSpPr>
          <p:cNvPr id="22" name="G3_3"/>
          <p:cNvSpPr txBox="1"/>
          <p:nvPr/>
        </p:nvSpPr>
        <p:spPr>
          <a:xfrm>
            <a:off x="3027317" y="5861303"/>
            <a:ext cx="640080" cy="274320"/>
          </a:xfrm>
          <a:prstGeom prst="rect">
            <a:avLst/>
          </a:prstGeom>
          <a:noFill/>
        </p:spPr>
        <p:txBody>
          <a:bodyPr wrap="square" lIns="0" tIns="0" rIns="0" bIns="0" anchor="t">
            <a:spAutoFit/>
          </a:bodyPr>
          <a:lstStyle/>
          <a:p>
            <a:pPr algn="ctr"/>
            <a:r>
              <a:rPr sz="1700" b="0" i="0">
                <a:solidFill>
                  <a:srgbClr val="0B2B4E"/>
                </a:solidFill>
                <a:latin typeface="Calibri"/>
              </a:rPr>
              <a:t>300</a:t>
            </a:r>
          </a:p>
        </p:txBody>
      </p:sp>
      <p:cxnSp>
        <p:nvCxnSpPr>
          <p:cNvPr id="23" name="G4_0"/>
          <p:cNvCxnSpPr/>
          <p:nvPr/>
        </p:nvCxnSpPr>
        <p:spPr>
          <a:xfrm>
            <a:off x="1143000" y="2750963"/>
            <a:ext cx="3490232" cy="0"/>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 name="G4_1"/>
          <p:cNvCxnSpPr/>
          <p:nvPr/>
        </p:nvCxnSpPr>
        <p:spPr>
          <a:xfrm flipV="1">
            <a:off x="4633232" y="2750963"/>
            <a:ext cx="0" cy="3055477"/>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G4_2"/>
          <p:cNvSpPr txBox="1"/>
          <p:nvPr/>
        </p:nvSpPr>
        <p:spPr>
          <a:xfrm>
            <a:off x="429768" y="2604659"/>
            <a:ext cx="566928" cy="292608"/>
          </a:xfrm>
          <a:prstGeom prst="rect">
            <a:avLst/>
          </a:prstGeom>
          <a:noFill/>
        </p:spPr>
        <p:txBody>
          <a:bodyPr wrap="square" lIns="0" tIns="0" rIns="0" bIns="0" anchor="t">
            <a:spAutoFit/>
          </a:bodyPr>
          <a:lstStyle/>
          <a:p>
            <a:pPr algn="r"/>
            <a:r>
              <a:rPr sz="1700" b="0" i="0">
                <a:solidFill>
                  <a:srgbClr val="0B2B4E"/>
                </a:solidFill>
                <a:latin typeface="Calibri"/>
              </a:rPr>
              <a:t>230</a:t>
            </a:r>
          </a:p>
        </p:txBody>
      </p:sp>
      <p:sp>
        <p:nvSpPr>
          <p:cNvPr id="26" name="G4_3"/>
          <p:cNvSpPr txBox="1"/>
          <p:nvPr/>
        </p:nvSpPr>
        <p:spPr>
          <a:xfrm>
            <a:off x="4313192" y="5861303"/>
            <a:ext cx="640080" cy="274320"/>
          </a:xfrm>
          <a:prstGeom prst="rect">
            <a:avLst/>
          </a:prstGeom>
          <a:noFill/>
        </p:spPr>
        <p:txBody>
          <a:bodyPr wrap="square" lIns="0" tIns="0" rIns="0" bIns="0" anchor="t">
            <a:spAutoFit/>
          </a:bodyPr>
          <a:lstStyle/>
          <a:p>
            <a:pPr algn="ctr"/>
            <a:r>
              <a:rPr sz="1700" b="0" i="0">
                <a:solidFill>
                  <a:srgbClr val="0B2B4E"/>
                </a:solidFill>
                <a:latin typeface="Calibri"/>
              </a:rPr>
              <a:t>475</a:t>
            </a:r>
          </a:p>
        </p:txBody>
      </p:sp>
      <p:cxnSp>
        <p:nvCxnSpPr>
          <p:cNvPr id="27" name="G5_0"/>
          <p:cNvCxnSpPr/>
          <p:nvPr/>
        </p:nvCxnSpPr>
        <p:spPr>
          <a:xfrm flipV="1">
            <a:off x="6720840" y="2103119"/>
            <a:ext cx="0" cy="3703321"/>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G5_1"/>
          <p:cNvCxnSpPr/>
          <p:nvPr/>
        </p:nvCxnSpPr>
        <p:spPr>
          <a:xfrm>
            <a:off x="6720840" y="5806440"/>
            <a:ext cx="438912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G5_2"/>
          <p:cNvSpPr txBox="1"/>
          <p:nvPr/>
        </p:nvSpPr>
        <p:spPr>
          <a:xfrm>
            <a:off x="6400800" y="1848899"/>
            <a:ext cx="1280160" cy="320040"/>
          </a:xfrm>
          <a:prstGeom prst="rect">
            <a:avLst/>
          </a:prstGeom>
          <a:noFill/>
        </p:spPr>
        <p:txBody>
          <a:bodyPr wrap="square" lIns="0" tIns="0" rIns="0" bIns="0" anchor="t">
            <a:spAutoFit/>
          </a:bodyPr>
          <a:lstStyle/>
          <a:p>
            <a:pPr algn="l"/>
            <a:r>
              <a:rPr sz="2000" b="0" i="0">
                <a:solidFill>
                  <a:srgbClr val="0B2B4E"/>
                </a:solidFill>
                <a:latin typeface="Calibri"/>
              </a:rPr>
              <a:t>Price</a:t>
            </a:r>
          </a:p>
        </p:txBody>
      </p:sp>
      <p:sp>
        <p:nvSpPr>
          <p:cNvPr id="30" name="G5_3"/>
          <p:cNvSpPr txBox="1"/>
          <p:nvPr/>
        </p:nvSpPr>
        <p:spPr>
          <a:xfrm>
            <a:off x="10927080" y="5769864"/>
            <a:ext cx="548640" cy="320040"/>
          </a:xfrm>
          <a:prstGeom prst="rect">
            <a:avLst/>
          </a:prstGeom>
          <a:noFill/>
        </p:spPr>
        <p:txBody>
          <a:bodyPr wrap="square" lIns="0" tIns="0" rIns="0" bIns="0" anchor="t">
            <a:spAutoFit/>
          </a:bodyPr>
          <a:lstStyle/>
          <a:p>
            <a:pPr algn="l"/>
            <a:r>
              <a:rPr sz="2000" b="0" i="1">
                <a:solidFill>
                  <a:srgbClr val="0B2B4E"/>
                </a:solidFill>
                <a:latin typeface="Calibri"/>
              </a:rPr>
              <a:t>Q</a:t>
            </a:r>
          </a:p>
        </p:txBody>
      </p:sp>
      <p:cxnSp>
        <p:nvCxnSpPr>
          <p:cNvPr id="31" name="G6_0"/>
          <p:cNvCxnSpPr/>
          <p:nvPr/>
        </p:nvCxnSpPr>
        <p:spPr>
          <a:xfrm flipV="1">
            <a:off x="6720840" y="2336481"/>
            <a:ext cx="4063365" cy="2938571"/>
          </a:xfrm>
          <a:prstGeom prst="line">
            <a:avLst/>
          </a:prstGeom>
          <a:ln w="43180">
            <a:solidFill>
              <a:srgbClr val="C0392B"/>
            </a:solidFill>
          </a:ln>
          <a:effectLst/>
        </p:spPr>
        <p:style>
          <a:lnRef idx="2">
            <a:schemeClr val="accent1"/>
          </a:lnRef>
          <a:fillRef idx="0">
            <a:schemeClr val="accent1"/>
          </a:fillRef>
          <a:effectRef idx="1">
            <a:schemeClr val="accent1"/>
          </a:effectRef>
          <a:fontRef idx="minor">
            <a:schemeClr val="tx1"/>
          </a:fontRef>
        </p:style>
      </p:cxnSp>
      <p:sp>
        <p:nvSpPr>
          <p:cNvPr id="32" name="G6_1"/>
          <p:cNvSpPr txBox="1"/>
          <p:nvPr/>
        </p:nvSpPr>
        <p:spPr>
          <a:xfrm>
            <a:off x="10834061" y="2154961"/>
            <a:ext cx="822960" cy="320040"/>
          </a:xfrm>
          <a:prstGeom prst="rect">
            <a:avLst/>
          </a:prstGeom>
          <a:noFill/>
        </p:spPr>
        <p:txBody>
          <a:bodyPr wrap="square" lIns="0" tIns="0" rIns="0" bIns="0" anchor="t">
            <a:spAutoFit/>
          </a:bodyPr>
          <a:lstStyle/>
          <a:p>
            <a:pPr algn="l"/>
            <a:r>
              <a:rPr sz="2200" b="0" i="0" dirty="0">
                <a:solidFill>
                  <a:srgbClr val="0B2B4E"/>
                </a:solidFill>
                <a:latin typeface="Calibri"/>
              </a:rPr>
              <a:t>S</a:t>
            </a:r>
          </a:p>
        </p:txBody>
      </p:sp>
      <p:cxnSp>
        <p:nvCxnSpPr>
          <p:cNvPr id="33" name="G6_2"/>
          <p:cNvCxnSpPr/>
          <p:nvPr/>
        </p:nvCxnSpPr>
        <p:spPr>
          <a:xfrm>
            <a:off x="6720840" y="3680891"/>
            <a:ext cx="2204357" cy="0"/>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4" name="G6_3"/>
          <p:cNvCxnSpPr/>
          <p:nvPr/>
        </p:nvCxnSpPr>
        <p:spPr>
          <a:xfrm flipV="1">
            <a:off x="8925197" y="3680891"/>
            <a:ext cx="0" cy="2125549"/>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5" name="G6_4"/>
          <p:cNvCxnSpPr/>
          <p:nvPr/>
        </p:nvCxnSpPr>
        <p:spPr>
          <a:xfrm>
            <a:off x="6720840" y="2750963"/>
            <a:ext cx="3490232" cy="0"/>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6" name="G6_5"/>
          <p:cNvCxnSpPr/>
          <p:nvPr/>
        </p:nvCxnSpPr>
        <p:spPr>
          <a:xfrm flipV="1">
            <a:off x="10211072" y="2750963"/>
            <a:ext cx="0" cy="3055477"/>
          </a:xfrm>
          <a:prstGeom prst="line">
            <a:avLst/>
          </a:prstGeom>
          <a:ln w="12700">
            <a:solidFill>
              <a:srgbClr val="555B66"/>
            </a:solidFill>
            <a:prstDash val="dash"/>
          </a:ln>
          <a:effectLst/>
        </p:spPr>
        <p:style>
          <a:lnRef idx="2">
            <a:schemeClr val="accent1"/>
          </a:lnRef>
          <a:fillRef idx="0">
            <a:schemeClr val="accent1"/>
          </a:fillRef>
          <a:effectRef idx="1">
            <a:schemeClr val="accent1"/>
          </a:effectRef>
          <a:fontRef idx="minor">
            <a:schemeClr val="tx1"/>
          </a:fontRef>
        </p:style>
      </p:cxnSp>
      <p:sp>
        <p:nvSpPr>
          <p:cNvPr id="37" name="G6_6"/>
          <p:cNvSpPr txBox="1"/>
          <p:nvPr/>
        </p:nvSpPr>
        <p:spPr>
          <a:xfrm>
            <a:off x="8605157" y="5861303"/>
            <a:ext cx="640080" cy="274320"/>
          </a:xfrm>
          <a:prstGeom prst="rect">
            <a:avLst/>
          </a:prstGeom>
          <a:noFill/>
        </p:spPr>
        <p:txBody>
          <a:bodyPr wrap="square" lIns="0" tIns="0" rIns="0" bIns="0" anchor="t">
            <a:spAutoFit/>
          </a:bodyPr>
          <a:lstStyle/>
          <a:p>
            <a:pPr algn="ctr"/>
            <a:r>
              <a:rPr sz="1700" b="0" i="0">
                <a:solidFill>
                  <a:srgbClr val="0B2B4E"/>
                </a:solidFill>
                <a:latin typeface="Calibri"/>
              </a:rPr>
              <a:t>300</a:t>
            </a:r>
          </a:p>
        </p:txBody>
      </p:sp>
      <p:sp>
        <p:nvSpPr>
          <p:cNvPr id="38" name="G6_7"/>
          <p:cNvSpPr txBox="1"/>
          <p:nvPr/>
        </p:nvSpPr>
        <p:spPr>
          <a:xfrm>
            <a:off x="9891032" y="5861303"/>
            <a:ext cx="640080" cy="274320"/>
          </a:xfrm>
          <a:prstGeom prst="rect">
            <a:avLst/>
          </a:prstGeom>
          <a:noFill/>
        </p:spPr>
        <p:txBody>
          <a:bodyPr wrap="square" lIns="0" tIns="0" rIns="0" bIns="0" anchor="t">
            <a:spAutoFit/>
          </a:bodyPr>
          <a:lstStyle/>
          <a:p>
            <a:pPr algn="ctr"/>
            <a:r>
              <a:rPr sz="1700" b="0" i="0">
                <a:solidFill>
                  <a:srgbClr val="0B2B4E"/>
                </a:solidFill>
                <a:latin typeface="Calibri"/>
              </a:rPr>
              <a:t>475</a:t>
            </a:r>
          </a:p>
        </p:txBody>
      </p:sp>
      <p:sp>
        <p:nvSpPr>
          <p:cNvPr id="39" name="G6_8"/>
          <p:cNvSpPr/>
          <p:nvPr/>
        </p:nvSpPr>
        <p:spPr>
          <a:xfrm>
            <a:off x="2103120" y="1335843"/>
            <a:ext cx="7955279" cy="658368"/>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i="0">
                <a:solidFill>
                  <a:srgbClr val="0B2B4E"/>
                </a:solidFill>
                <a:latin typeface="Calibri"/>
              </a:rPr>
              <a:t>MC curve </a:t>
            </a:r>
            <a:r>
              <a:rPr sz="2200" b="1" i="0" u="sng">
                <a:solidFill>
                  <a:srgbClr val="0B2B4E"/>
                </a:solidFill>
                <a:latin typeface="Calibri"/>
              </a:rPr>
              <a:t>is</a:t>
            </a:r>
            <a:r>
              <a:rPr sz="2200" b="1" i="0">
                <a:solidFill>
                  <a:srgbClr val="0B2B4E"/>
                </a:solidFill>
                <a:latin typeface="Calibri"/>
              </a:rPr>
              <a:t> the firm’s short run supply curve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The Effect of Changing Marginal Costs on a Firm’s Supply</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39</a:t>
            </a:r>
          </a:p>
        </p:txBody>
      </p:sp>
      <p:cxnSp>
        <p:nvCxnSpPr>
          <p:cNvPr id="10" name="S1a_0"/>
          <p:cNvCxnSpPr/>
          <p:nvPr/>
        </p:nvCxnSpPr>
        <p:spPr>
          <a:xfrm flipV="1">
            <a:off x="1920240" y="2011679"/>
            <a:ext cx="0" cy="3749041"/>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S1a_1"/>
          <p:cNvCxnSpPr>
            <a:cxnSpLocks/>
          </p:cNvCxnSpPr>
          <p:nvPr/>
        </p:nvCxnSpPr>
        <p:spPr>
          <a:xfrm>
            <a:off x="1920240" y="5760720"/>
            <a:ext cx="6870675"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S1a_2"/>
          <p:cNvSpPr txBox="1"/>
          <p:nvPr/>
        </p:nvSpPr>
        <p:spPr>
          <a:xfrm>
            <a:off x="1554480" y="1938528"/>
            <a:ext cx="457200" cy="320040"/>
          </a:xfrm>
          <a:prstGeom prst="rect">
            <a:avLst/>
          </a:prstGeom>
          <a:noFill/>
        </p:spPr>
        <p:txBody>
          <a:bodyPr wrap="square" lIns="0" tIns="0" rIns="0" bIns="0" anchor="t">
            <a:spAutoFit/>
          </a:bodyPr>
          <a:lstStyle/>
          <a:p>
            <a:pPr algn="l"/>
            <a:r>
              <a:rPr sz="2200" b="0" i="1">
                <a:solidFill>
                  <a:srgbClr val="0B2B4E"/>
                </a:solidFill>
                <a:latin typeface="Calibri"/>
              </a:rPr>
              <a:t>$</a:t>
            </a:r>
          </a:p>
        </p:txBody>
      </p:sp>
      <p:sp>
        <p:nvSpPr>
          <p:cNvPr id="13" name="S1a_3"/>
          <p:cNvSpPr txBox="1"/>
          <p:nvPr/>
        </p:nvSpPr>
        <p:spPr>
          <a:xfrm>
            <a:off x="8785032" y="5706038"/>
            <a:ext cx="457200" cy="320040"/>
          </a:xfrm>
          <a:prstGeom prst="rect">
            <a:avLst/>
          </a:prstGeom>
          <a:noFill/>
        </p:spPr>
        <p:txBody>
          <a:bodyPr wrap="square" lIns="0" tIns="0" rIns="0" bIns="0" anchor="t">
            <a:spAutoFit/>
          </a:bodyPr>
          <a:lstStyle/>
          <a:p>
            <a:pPr algn="l"/>
            <a:r>
              <a:rPr sz="2200" b="0" i="1" dirty="0">
                <a:solidFill>
                  <a:srgbClr val="0B2B4E"/>
                </a:solidFill>
                <a:latin typeface="Calibri"/>
              </a:rPr>
              <a:t>q</a:t>
            </a:r>
          </a:p>
        </p:txBody>
      </p:sp>
      <p:cxnSp>
        <p:nvCxnSpPr>
          <p:cNvPr id="14" name="S1b_0"/>
          <p:cNvCxnSpPr>
            <a:cxnSpLocks/>
          </p:cNvCxnSpPr>
          <p:nvPr/>
        </p:nvCxnSpPr>
        <p:spPr>
          <a:xfrm>
            <a:off x="1920240" y="3906316"/>
            <a:ext cx="6698659" cy="0"/>
          </a:xfrm>
          <a:prstGeom prst="line">
            <a:avLst/>
          </a:prstGeom>
          <a:ln w="38100">
            <a:solidFill>
              <a:srgbClr val="C0201B"/>
            </a:solidFill>
          </a:ln>
          <a:effectLst/>
        </p:spPr>
        <p:style>
          <a:lnRef idx="2">
            <a:schemeClr val="accent1"/>
          </a:lnRef>
          <a:fillRef idx="0">
            <a:schemeClr val="accent1"/>
          </a:fillRef>
          <a:effectRef idx="1">
            <a:schemeClr val="accent1"/>
          </a:effectRef>
          <a:fontRef idx="minor">
            <a:schemeClr val="tx1"/>
          </a:fontRef>
        </p:style>
      </p:cxnSp>
      <p:sp>
        <p:nvSpPr>
          <p:cNvPr id="15" name="S1b_1"/>
          <p:cNvSpPr txBox="1"/>
          <p:nvPr/>
        </p:nvSpPr>
        <p:spPr>
          <a:xfrm>
            <a:off x="8781955" y="3760012"/>
            <a:ext cx="1463040" cy="320040"/>
          </a:xfrm>
          <a:prstGeom prst="rect">
            <a:avLst/>
          </a:prstGeom>
          <a:noFill/>
        </p:spPr>
        <p:txBody>
          <a:bodyPr wrap="square" lIns="0" tIns="0" rIns="0" bIns="0" anchor="t">
            <a:spAutoFit/>
          </a:bodyPr>
          <a:lstStyle/>
          <a:p>
            <a:pPr algn="l"/>
            <a:r>
              <a:rPr sz="2200" b="0" i="1" dirty="0">
                <a:solidFill>
                  <a:srgbClr val="0B2B4E"/>
                </a:solidFill>
                <a:latin typeface="Calibri"/>
              </a:rPr>
              <a:t>P = MR</a:t>
            </a:r>
          </a:p>
        </p:txBody>
      </p:sp>
      <p:cxnSp>
        <p:nvCxnSpPr>
          <p:cNvPr id="16" name="S1c_0"/>
          <p:cNvCxnSpPr/>
          <p:nvPr/>
        </p:nvCxnSpPr>
        <p:spPr>
          <a:xfrm flipV="1">
            <a:off x="2265883" y="2266810"/>
            <a:ext cx="3110789" cy="2852001"/>
          </a:xfrm>
          <a:prstGeom prst="line">
            <a:avLst/>
          </a:prstGeom>
          <a:ln w="57150">
            <a:solidFill>
              <a:srgbClr val="8E7CC3"/>
            </a:solidFill>
          </a:ln>
          <a:effectLst/>
        </p:spPr>
        <p:style>
          <a:lnRef idx="2">
            <a:schemeClr val="accent1"/>
          </a:lnRef>
          <a:fillRef idx="0">
            <a:schemeClr val="accent1"/>
          </a:fillRef>
          <a:effectRef idx="1">
            <a:schemeClr val="accent1"/>
          </a:effectRef>
          <a:fontRef idx="minor">
            <a:schemeClr val="tx1"/>
          </a:fontRef>
        </p:style>
      </p:cxnSp>
      <p:sp>
        <p:nvSpPr>
          <p:cNvPr id="17" name="S1c_1"/>
          <p:cNvSpPr txBox="1"/>
          <p:nvPr/>
        </p:nvSpPr>
        <p:spPr>
          <a:xfrm>
            <a:off x="5451576" y="2085018"/>
            <a:ext cx="822960" cy="338554"/>
          </a:xfrm>
          <a:prstGeom prst="rect">
            <a:avLst/>
          </a:prstGeom>
          <a:noFill/>
        </p:spPr>
        <p:txBody>
          <a:bodyPr wrap="square" lIns="0" tIns="0" rIns="0" bIns="0" anchor="t">
            <a:spAutoFit/>
          </a:bodyPr>
          <a:lstStyle/>
          <a:p>
            <a:pPr algn="l"/>
            <a:r>
              <a:rPr sz="2200" b="0" i="1" dirty="0">
                <a:solidFill>
                  <a:srgbClr val="0B2B4E"/>
                </a:solidFill>
                <a:latin typeface="Calibri"/>
              </a:rPr>
              <a:t>MC</a:t>
            </a:r>
            <a:r>
              <a:rPr lang="en-US" sz="2200" i="1" baseline="-25000" dirty="0">
                <a:solidFill>
                  <a:srgbClr val="0B2B4E"/>
                </a:solidFill>
                <a:latin typeface="Calibri"/>
              </a:rPr>
              <a:t>0</a:t>
            </a:r>
            <a:endParaRPr sz="2200" b="0" i="1" baseline="-25000" dirty="0">
              <a:solidFill>
                <a:srgbClr val="0B2B4E"/>
              </a:solidFill>
              <a:latin typeface="Calibri"/>
            </a:endParaRPr>
          </a:p>
        </p:txBody>
      </p:sp>
      <p:cxnSp>
        <p:nvCxnSpPr>
          <p:cNvPr id="18" name="S1d_0"/>
          <p:cNvCxnSpPr/>
          <p:nvPr/>
        </p:nvCxnSpPr>
        <p:spPr>
          <a:xfrm>
            <a:off x="3991620" y="3714867"/>
            <a:ext cx="0" cy="570585"/>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S1e_0"/>
          <p:cNvCxnSpPr/>
          <p:nvPr/>
        </p:nvCxnSpPr>
        <p:spPr>
          <a:xfrm flipV="1">
            <a:off x="3418027" y="2266810"/>
            <a:ext cx="3110789" cy="2852001"/>
          </a:xfrm>
          <a:prstGeom prst="line">
            <a:avLst/>
          </a:prstGeom>
          <a:ln w="57150">
            <a:solidFill>
              <a:srgbClr val="9BBB59"/>
            </a:solidFill>
          </a:ln>
          <a:effectLst/>
        </p:spPr>
        <p:style>
          <a:lnRef idx="2">
            <a:schemeClr val="accent1"/>
          </a:lnRef>
          <a:fillRef idx="0">
            <a:schemeClr val="accent1"/>
          </a:fillRef>
          <a:effectRef idx="1">
            <a:schemeClr val="accent1"/>
          </a:effectRef>
          <a:fontRef idx="minor">
            <a:schemeClr val="tx1"/>
          </a:fontRef>
        </p:style>
      </p:cxnSp>
      <p:sp>
        <p:nvSpPr>
          <p:cNvPr id="20" name="S1e_1"/>
          <p:cNvSpPr txBox="1"/>
          <p:nvPr/>
        </p:nvSpPr>
        <p:spPr>
          <a:xfrm>
            <a:off x="6621828" y="2075965"/>
            <a:ext cx="914400" cy="338554"/>
          </a:xfrm>
          <a:prstGeom prst="rect">
            <a:avLst/>
          </a:prstGeom>
          <a:noFill/>
        </p:spPr>
        <p:txBody>
          <a:bodyPr wrap="square" lIns="0" tIns="0" rIns="0" bIns="0" anchor="t">
            <a:spAutoFit/>
          </a:bodyPr>
          <a:lstStyle/>
          <a:p>
            <a:pPr algn="l"/>
            <a:r>
              <a:rPr sz="2200" b="0" i="1" dirty="0">
                <a:solidFill>
                  <a:srgbClr val="0B2B4E"/>
                </a:solidFill>
                <a:latin typeface="Calibri"/>
              </a:rPr>
              <a:t>MC</a:t>
            </a:r>
            <a:r>
              <a:rPr lang="en-US" sz="2200" b="0" i="1" baseline="-25000" dirty="0">
                <a:solidFill>
                  <a:srgbClr val="0B2B4E"/>
                </a:solidFill>
                <a:latin typeface="Calibri"/>
              </a:rPr>
              <a:t>1</a:t>
            </a:r>
            <a:endParaRPr sz="2200" b="0" i="1" baseline="-25000" dirty="0">
              <a:solidFill>
                <a:srgbClr val="0B2B4E"/>
              </a:solidFill>
              <a:latin typeface="Calibri"/>
            </a:endParaRPr>
          </a:p>
        </p:txBody>
      </p:sp>
      <p:sp>
        <p:nvSpPr>
          <p:cNvPr id="21" name="S1e_2"/>
          <p:cNvSpPr txBox="1"/>
          <p:nvPr/>
        </p:nvSpPr>
        <p:spPr>
          <a:xfrm>
            <a:off x="2841955" y="4334256"/>
            <a:ext cx="1554480" cy="276999"/>
          </a:xfrm>
          <a:prstGeom prst="rect">
            <a:avLst/>
          </a:prstGeom>
          <a:noFill/>
        </p:spPr>
        <p:txBody>
          <a:bodyPr wrap="square" lIns="0" tIns="0" rIns="0" bIns="0" anchor="t">
            <a:spAutoFit/>
          </a:bodyPr>
          <a:lstStyle/>
          <a:p>
            <a:pPr algn="l"/>
            <a:r>
              <a:rPr b="0" i="0" dirty="0">
                <a:solidFill>
                  <a:srgbClr val="0B2B4E"/>
                </a:solidFill>
                <a:latin typeface="Calibri"/>
              </a:rPr>
              <a:t>High-yield seeds</a:t>
            </a:r>
          </a:p>
        </p:txBody>
      </p:sp>
      <p:cxnSp>
        <p:nvCxnSpPr>
          <p:cNvPr id="22" name="S1e_3"/>
          <p:cNvCxnSpPr/>
          <p:nvPr/>
        </p:nvCxnSpPr>
        <p:spPr>
          <a:xfrm flipV="1">
            <a:off x="3590848" y="3906316"/>
            <a:ext cx="0" cy="1854404"/>
          </a:xfrm>
          <a:prstGeom prst="line">
            <a:avLst/>
          </a:prstGeom>
          <a:ln w="12700">
            <a:solidFill>
              <a:srgbClr val="606670"/>
            </a:solidFill>
            <a:prstDash val="dot"/>
          </a:ln>
          <a:effectLst/>
        </p:spPr>
        <p:style>
          <a:lnRef idx="2">
            <a:schemeClr val="accent1"/>
          </a:lnRef>
          <a:fillRef idx="0">
            <a:schemeClr val="accent1"/>
          </a:fillRef>
          <a:effectRef idx="1">
            <a:schemeClr val="accent1"/>
          </a:effectRef>
          <a:fontRef idx="minor">
            <a:schemeClr val="tx1"/>
          </a:fontRef>
        </p:style>
      </p:cxnSp>
      <p:cxnSp>
        <p:nvCxnSpPr>
          <p:cNvPr id="23" name="S1f_0"/>
          <p:cNvCxnSpPr/>
          <p:nvPr/>
        </p:nvCxnSpPr>
        <p:spPr>
          <a:xfrm flipV="1">
            <a:off x="4742992" y="3906316"/>
            <a:ext cx="0" cy="1854404"/>
          </a:xfrm>
          <a:prstGeom prst="line">
            <a:avLst/>
          </a:prstGeom>
          <a:ln w="12700">
            <a:solidFill>
              <a:srgbClr val="606670"/>
            </a:solidFill>
            <a:prstDash val="dot"/>
          </a:ln>
          <a:effectLst/>
        </p:spPr>
        <p:style>
          <a:lnRef idx="2">
            <a:schemeClr val="accent1"/>
          </a:lnRef>
          <a:fillRef idx="0">
            <a:schemeClr val="accent1"/>
          </a:fillRef>
          <a:effectRef idx="1">
            <a:schemeClr val="accent1"/>
          </a:effectRef>
          <a:fontRef idx="minor">
            <a:schemeClr val="tx1"/>
          </a:fontRef>
        </p:style>
      </p:cxnSp>
      <p:cxnSp>
        <p:nvCxnSpPr>
          <p:cNvPr id="24" name="S1f_1"/>
          <p:cNvCxnSpPr/>
          <p:nvPr/>
        </p:nvCxnSpPr>
        <p:spPr>
          <a:xfrm>
            <a:off x="3692067" y="5972755"/>
            <a:ext cx="877824" cy="0"/>
          </a:xfrm>
          <a:prstGeom prst="line">
            <a:avLst/>
          </a:prstGeom>
          <a:ln w="2794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S1f_2"/>
          <p:cNvSpPr txBox="1"/>
          <p:nvPr/>
        </p:nvSpPr>
        <p:spPr>
          <a:xfrm>
            <a:off x="3271443" y="5844739"/>
            <a:ext cx="548640" cy="310896"/>
          </a:xfrm>
          <a:prstGeom prst="rect">
            <a:avLst/>
          </a:prstGeom>
          <a:noFill/>
        </p:spPr>
        <p:txBody>
          <a:bodyPr wrap="square" lIns="0" tIns="0" rIns="0" bIns="0" anchor="t">
            <a:spAutoFit/>
          </a:bodyPr>
          <a:lstStyle/>
          <a:p>
            <a:pPr algn="ctr"/>
            <a:r>
              <a:rPr sz="1800" b="0" i="1">
                <a:solidFill>
                  <a:srgbClr val="0B2B4E"/>
                </a:solidFill>
                <a:latin typeface="Calibri"/>
              </a:rPr>
              <a:t>q</a:t>
            </a:r>
            <a:r>
              <a:rPr sz="1100" b="0" i="1" baseline="-25000">
                <a:solidFill>
                  <a:srgbClr val="0B2B4E"/>
                </a:solidFill>
                <a:latin typeface="Calibri"/>
              </a:rPr>
              <a:t>0</a:t>
            </a:r>
          </a:p>
        </p:txBody>
      </p:sp>
      <p:sp>
        <p:nvSpPr>
          <p:cNvPr id="26" name="S1f_3"/>
          <p:cNvSpPr txBox="1"/>
          <p:nvPr/>
        </p:nvSpPr>
        <p:spPr>
          <a:xfrm>
            <a:off x="4588179" y="5844739"/>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r>
              <a:rPr sz="1100" b="0" i="1" baseline="-25000" dirty="0">
                <a:solidFill>
                  <a:srgbClr val="0B2B4E"/>
                </a:solidFill>
                <a:latin typeface="Calibri"/>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Profit Maximization</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Firm and Market Dynamics When MC Falls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40</a:t>
            </a:r>
          </a:p>
        </p:txBody>
      </p:sp>
      <p:sp>
        <p:nvSpPr>
          <p:cNvPr id="11" name="TextBox 10"/>
          <p:cNvSpPr txBox="1"/>
          <p:nvPr/>
        </p:nvSpPr>
        <p:spPr>
          <a:xfrm>
            <a:off x="1280160" y="2148840"/>
            <a:ext cx="2743200" cy="365760"/>
          </a:xfrm>
          <a:prstGeom prst="rect">
            <a:avLst/>
          </a:prstGeom>
          <a:noFill/>
        </p:spPr>
        <p:txBody>
          <a:bodyPr wrap="square" lIns="0" tIns="0" rIns="0" bIns="0" anchor="t">
            <a:spAutoFit/>
          </a:bodyPr>
          <a:lstStyle/>
          <a:p>
            <a:pPr algn="ctr"/>
            <a:r>
              <a:rPr sz="2200" b="0" i="0">
                <a:solidFill>
                  <a:srgbClr val="0B2B4E"/>
                </a:solidFill>
                <a:latin typeface="Calibri"/>
              </a:rPr>
              <a:t>Market</a:t>
            </a:r>
          </a:p>
        </p:txBody>
      </p:sp>
      <p:sp>
        <p:nvSpPr>
          <p:cNvPr id="12" name="TextBox 11"/>
          <p:cNvSpPr txBox="1"/>
          <p:nvPr/>
        </p:nvSpPr>
        <p:spPr>
          <a:xfrm>
            <a:off x="7315200" y="2148840"/>
            <a:ext cx="3200400" cy="365760"/>
          </a:xfrm>
          <a:prstGeom prst="rect">
            <a:avLst/>
          </a:prstGeom>
          <a:noFill/>
        </p:spPr>
        <p:txBody>
          <a:bodyPr wrap="square" lIns="0" tIns="0" rIns="0" bIns="0" anchor="t">
            <a:spAutoFit/>
          </a:bodyPr>
          <a:lstStyle/>
          <a:p>
            <a:pPr algn="ctr"/>
            <a:r>
              <a:rPr sz="2200" b="0" i="0">
                <a:solidFill>
                  <a:srgbClr val="0B2B4E"/>
                </a:solidFill>
                <a:latin typeface="Calibri"/>
              </a:rPr>
              <a:t>Firm (farmer)</a:t>
            </a:r>
          </a:p>
        </p:txBody>
      </p:sp>
      <p:cxnSp>
        <p:nvCxnSpPr>
          <p:cNvPr id="13" name="M1_0"/>
          <p:cNvCxnSpPr/>
          <p:nvPr/>
        </p:nvCxnSpPr>
        <p:spPr>
          <a:xfrm flipV="1">
            <a:off x="868680" y="2624327"/>
            <a:ext cx="0" cy="3364993"/>
          </a:xfrm>
          <a:prstGeom prst="line">
            <a:avLst/>
          </a:prstGeom>
          <a:ln w="29209">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M1_1"/>
          <p:cNvCxnSpPr/>
          <p:nvPr/>
        </p:nvCxnSpPr>
        <p:spPr>
          <a:xfrm>
            <a:off x="868680" y="5989320"/>
            <a:ext cx="4389120" cy="0"/>
          </a:xfrm>
          <a:prstGeom prst="line">
            <a:avLst/>
          </a:prstGeom>
          <a:ln w="29209">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M1_2"/>
          <p:cNvSpPr txBox="1"/>
          <p:nvPr/>
        </p:nvSpPr>
        <p:spPr>
          <a:xfrm>
            <a:off x="594359" y="2569463"/>
            <a:ext cx="457200" cy="274320"/>
          </a:xfrm>
          <a:prstGeom prst="rect">
            <a:avLst/>
          </a:prstGeom>
          <a:noFill/>
        </p:spPr>
        <p:txBody>
          <a:bodyPr wrap="square" lIns="0" tIns="0" rIns="0" bIns="0" anchor="t">
            <a:spAutoFit/>
          </a:bodyPr>
          <a:lstStyle/>
          <a:p>
            <a:pPr algn="l"/>
            <a:r>
              <a:rPr sz="1800" b="0" i="1">
                <a:solidFill>
                  <a:srgbClr val="0B2B4E"/>
                </a:solidFill>
                <a:latin typeface="Calibri"/>
              </a:rPr>
              <a:t>P</a:t>
            </a:r>
          </a:p>
        </p:txBody>
      </p:sp>
      <p:sp>
        <p:nvSpPr>
          <p:cNvPr id="16" name="M1_3"/>
          <p:cNvSpPr txBox="1"/>
          <p:nvPr/>
        </p:nvSpPr>
        <p:spPr>
          <a:xfrm>
            <a:off x="5074920" y="5971032"/>
            <a:ext cx="457200" cy="274320"/>
          </a:xfrm>
          <a:prstGeom prst="rect">
            <a:avLst/>
          </a:prstGeom>
          <a:noFill/>
        </p:spPr>
        <p:txBody>
          <a:bodyPr wrap="square" lIns="0" tIns="0" rIns="0" bIns="0" anchor="t">
            <a:spAutoFit/>
          </a:bodyPr>
          <a:lstStyle/>
          <a:p>
            <a:pPr algn="l"/>
            <a:r>
              <a:rPr sz="1800" b="0" i="1">
                <a:solidFill>
                  <a:srgbClr val="0B2B4E"/>
                </a:solidFill>
                <a:latin typeface="Calibri"/>
              </a:rPr>
              <a:t>Q</a:t>
            </a:r>
          </a:p>
        </p:txBody>
      </p:sp>
      <p:sp>
        <p:nvSpPr>
          <p:cNvPr id="17" name="M1_4"/>
          <p:cNvSpPr txBox="1"/>
          <p:nvPr/>
        </p:nvSpPr>
        <p:spPr>
          <a:xfrm>
            <a:off x="4041195" y="2731016"/>
            <a:ext cx="457200" cy="274320"/>
          </a:xfrm>
          <a:prstGeom prst="rect">
            <a:avLst/>
          </a:prstGeom>
          <a:noFill/>
        </p:spPr>
        <p:txBody>
          <a:bodyPr wrap="square" lIns="0" tIns="0" rIns="0" bIns="0" anchor="t">
            <a:spAutoFit/>
          </a:bodyPr>
          <a:lstStyle/>
          <a:p>
            <a:pPr algn="l"/>
            <a:r>
              <a:rPr sz="1800" b="0" i="1" dirty="0">
                <a:solidFill>
                  <a:srgbClr val="0B2B4E"/>
                </a:solidFill>
                <a:latin typeface="Calibri"/>
              </a:rPr>
              <a:t>S</a:t>
            </a:r>
            <a:r>
              <a:rPr lang="en-US" sz="1800" b="0" i="1" baseline="-25000" dirty="0">
                <a:solidFill>
                  <a:srgbClr val="0B2B4E"/>
                </a:solidFill>
                <a:latin typeface="Calibri"/>
              </a:rPr>
              <a:t>0</a:t>
            </a:r>
            <a:endParaRPr sz="1800" b="0" i="1" baseline="-25000" dirty="0">
              <a:solidFill>
                <a:srgbClr val="0B2B4E"/>
              </a:solidFill>
              <a:latin typeface="Calibri"/>
            </a:endParaRPr>
          </a:p>
        </p:txBody>
      </p:sp>
      <p:sp>
        <p:nvSpPr>
          <p:cNvPr id="18" name="M1_5"/>
          <p:cNvSpPr txBox="1"/>
          <p:nvPr/>
        </p:nvSpPr>
        <p:spPr>
          <a:xfrm>
            <a:off x="4160520" y="5330952"/>
            <a:ext cx="457200" cy="274320"/>
          </a:xfrm>
          <a:prstGeom prst="rect">
            <a:avLst/>
          </a:prstGeom>
          <a:noFill/>
        </p:spPr>
        <p:txBody>
          <a:bodyPr wrap="square" lIns="0" tIns="0" rIns="0" bIns="0" anchor="t">
            <a:spAutoFit/>
          </a:bodyPr>
          <a:lstStyle/>
          <a:p>
            <a:pPr algn="l"/>
            <a:r>
              <a:rPr sz="1800" b="0" i="1">
                <a:solidFill>
                  <a:srgbClr val="0B2B4E"/>
                </a:solidFill>
                <a:latin typeface="Calibri"/>
              </a:rPr>
              <a:t>D</a:t>
            </a:r>
          </a:p>
        </p:txBody>
      </p:sp>
      <p:cxnSp>
        <p:nvCxnSpPr>
          <p:cNvPr id="19" name="M2_0"/>
          <p:cNvCxnSpPr/>
          <p:nvPr/>
        </p:nvCxnSpPr>
        <p:spPr>
          <a:xfrm>
            <a:off x="1280160" y="3044951"/>
            <a:ext cx="3044952" cy="2368297"/>
          </a:xfrm>
          <a:prstGeom prst="line">
            <a:avLst/>
          </a:prstGeom>
          <a:ln w="45720">
            <a:solidFill>
              <a:srgbClr val="2E6DB5"/>
            </a:solidFill>
          </a:ln>
          <a:effectLst/>
        </p:spPr>
        <p:style>
          <a:lnRef idx="2">
            <a:schemeClr val="accent1"/>
          </a:lnRef>
          <a:fillRef idx="0">
            <a:schemeClr val="accent1"/>
          </a:fillRef>
          <a:effectRef idx="1">
            <a:schemeClr val="accent1"/>
          </a:effectRef>
          <a:fontRef idx="minor">
            <a:schemeClr val="tx1"/>
          </a:fontRef>
        </p:style>
      </p:cxnSp>
      <p:cxnSp>
        <p:nvCxnSpPr>
          <p:cNvPr id="20" name="M3_0"/>
          <p:cNvCxnSpPr/>
          <p:nvPr/>
        </p:nvCxnSpPr>
        <p:spPr>
          <a:xfrm flipV="1">
            <a:off x="1444752" y="2926537"/>
            <a:ext cx="2551176" cy="2083460"/>
          </a:xfrm>
          <a:prstGeom prst="line">
            <a:avLst/>
          </a:prstGeom>
          <a:ln w="45720">
            <a:solidFill>
              <a:srgbClr val="2E6DB5"/>
            </a:solidFill>
          </a:ln>
          <a:effectLst/>
        </p:spPr>
        <p:style>
          <a:lnRef idx="2">
            <a:schemeClr val="accent1"/>
          </a:lnRef>
          <a:fillRef idx="0">
            <a:schemeClr val="accent1"/>
          </a:fillRef>
          <a:effectRef idx="1">
            <a:schemeClr val="accent1"/>
          </a:effectRef>
          <a:fontRef idx="minor">
            <a:schemeClr val="tx1"/>
          </a:fontRef>
        </p:style>
      </p:cxnSp>
      <p:cxnSp>
        <p:nvCxnSpPr>
          <p:cNvPr id="21" name="M3_1"/>
          <p:cNvCxnSpPr/>
          <p:nvPr/>
        </p:nvCxnSpPr>
        <p:spPr>
          <a:xfrm>
            <a:off x="868680" y="4069079"/>
            <a:ext cx="1728216" cy="0"/>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M3_2"/>
          <p:cNvCxnSpPr/>
          <p:nvPr/>
        </p:nvCxnSpPr>
        <p:spPr>
          <a:xfrm flipV="1">
            <a:off x="2596896" y="4069079"/>
            <a:ext cx="0" cy="1920241"/>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M3_3"/>
          <p:cNvSpPr/>
          <p:nvPr/>
        </p:nvSpPr>
        <p:spPr>
          <a:xfrm>
            <a:off x="2523744" y="3995927"/>
            <a:ext cx="146304" cy="146304"/>
          </a:xfrm>
          <a:prstGeom prst="ellipse">
            <a:avLst/>
          </a:prstGeom>
          <a:solidFill>
            <a:srgbClr val="C0201B"/>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3_4"/>
          <p:cNvSpPr txBox="1"/>
          <p:nvPr/>
        </p:nvSpPr>
        <p:spPr>
          <a:xfrm>
            <a:off x="484632" y="3931919"/>
            <a:ext cx="365760" cy="246221"/>
          </a:xfrm>
          <a:prstGeom prst="rect">
            <a:avLst/>
          </a:prstGeom>
          <a:noFill/>
        </p:spPr>
        <p:txBody>
          <a:bodyPr wrap="square" lIns="0" tIns="0" rIns="0" bIns="0" anchor="t">
            <a:spAutoFit/>
          </a:bodyPr>
          <a:lstStyle/>
          <a:p>
            <a:pPr algn="r"/>
            <a:r>
              <a:rPr sz="1600" b="0" i="1" dirty="0">
                <a:solidFill>
                  <a:srgbClr val="0B2B4E"/>
                </a:solidFill>
                <a:latin typeface="Calibri"/>
              </a:rPr>
              <a:t>P</a:t>
            </a:r>
            <a:r>
              <a:rPr lang="en-US" sz="1600" b="0" i="1" baseline="-25000" dirty="0">
                <a:solidFill>
                  <a:srgbClr val="0B2B4E"/>
                </a:solidFill>
                <a:latin typeface="Calibri"/>
              </a:rPr>
              <a:t>0</a:t>
            </a:r>
            <a:endParaRPr sz="1600" b="0" i="1" baseline="-25000" dirty="0">
              <a:solidFill>
                <a:srgbClr val="0B2B4E"/>
              </a:solidFill>
              <a:latin typeface="Calibri"/>
            </a:endParaRPr>
          </a:p>
        </p:txBody>
      </p:sp>
      <p:sp>
        <p:nvSpPr>
          <p:cNvPr id="25" name="M3_5"/>
          <p:cNvSpPr txBox="1"/>
          <p:nvPr/>
        </p:nvSpPr>
        <p:spPr>
          <a:xfrm>
            <a:off x="2414015" y="6025896"/>
            <a:ext cx="365760" cy="276999"/>
          </a:xfrm>
          <a:prstGeom prst="rect">
            <a:avLst/>
          </a:prstGeom>
          <a:noFill/>
        </p:spPr>
        <p:txBody>
          <a:bodyPr wrap="square" lIns="0" tIns="0" rIns="0" bIns="0" anchor="t">
            <a:spAutoFit/>
          </a:bodyPr>
          <a:lstStyle/>
          <a:p>
            <a:pPr algn="ctr"/>
            <a:r>
              <a:rPr b="0" i="1" dirty="0">
                <a:solidFill>
                  <a:srgbClr val="0B2B4E"/>
                </a:solidFill>
                <a:latin typeface="Calibri"/>
              </a:rPr>
              <a:t>Q</a:t>
            </a:r>
            <a:r>
              <a:rPr lang="en-US" b="0" i="1" baseline="-25000" dirty="0">
                <a:solidFill>
                  <a:srgbClr val="0B2B4E"/>
                </a:solidFill>
                <a:latin typeface="Calibri"/>
              </a:rPr>
              <a:t>0</a:t>
            </a:r>
            <a:endParaRPr b="0" i="1" baseline="-25000" dirty="0">
              <a:solidFill>
                <a:srgbClr val="0B2B4E"/>
              </a:solidFill>
              <a:latin typeface="Calibri"/>
            </a:endParaRPr>
          </a:p>
        </p:txBody>
      </p:sp>
      <p:cxnSp>
        <p:nvCxnSpPr>
          <p:cNvPr id="26" name="F1_0"/>
          <p:cNvCxnSpPr/>
          <p:nvPr/>
        </p:nvCxnSpPr>
        <p:spPr>
          <a:xfrm flipV="1">
            <a:off x="6537960" y="2624327"/>
            <a:ext cx="0" cy="3364993"/>
          </a:xfrm>
          <a:prstGeom prst="line">
            <a:avLst/>
          </a:prstGeom>
          <a:ln w="29209">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F1_1"/>
          <p:cNvCxnSpPr/>
          <p:nvPr/>
        </p:nvCxnSpPr>
        <p:spPr>
          <a:xfrm>
            <a:off x="6537960" y="5989320"/>
            <a:ext cx="4480560" cy="0"/>
          </a:xfrm>
          <a:prstGeom prst="line">
            <a:avLst/>
          </a:prstGeom>
          <a:ln w="29209">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F1_2"/>
          <p:cNvSpPr txBox="1"/>
          <p:nvPr/>
        </p:nvSpPr>
        <p:spPr>
          <a:xfrm>
            <a:off x="6263640" y="2569463"/>
            <a:ext cx="457200" cy="274320"/>
          </a:xfrm>
          <a:prstGeom prst="rect">
            <a:avLst/>
          </a:prstGeom>
          <a:noFill/>
        </p:spPr>
        <p:txBody>
          <a:bodyPr wrap="square" lIns="0" tIns="0" rIns="0" bIns="0" anchor="t">
            <a:spAutoFit/>
          </a:bodyPr>
          <a:lstStyle/>
          <a:p>
            <a:pPr algn="l"/>
            <a:r>
              <a:rPr sz="1800" b="0" i="1">
                <a:solidFill>
                  <a:srgbClr val="0B2B4E"/>
                </a:solidFill>
                <a:latin typeface="Calibri"/>
              </a:rPr>
              <a:t>P</a:t>
            </a:r>
          </a:p>
        </p:txBody>
      </p:sp>
      <p:sp>
        <p:nvSpPr>
          <p:cNvPr id="29" name="F1_3"/>
          <p:cNvSpPr txBox="1"/>
          <p:nvPr/>
        </p:nvSpPr>
        <p:spPr>
          <a:xfrm>
            <a:off x="10835640" y="5971032"/>
            <a:ext cx="457200" cy="274320"/>
          </a:xfrm>
          <a:prstGeom prst="rect">
            <a:avLst/>
          </a:prstGeom>
          <a:noFill/>
        </p:spPr>
        <p:txBody>
          <a:bodyPr wrap="square" lIns="0" tIns="0" rIns="0" bIns="0" anchor="t">
            <a:spAutoFit/>
          </a:bodyPr>
          <a:lstStyle/>
          <a:p>
            <a:pPr algn="l"/>
            <a:r>
              <a:rPr sz="1800" b="0" i="1">
                <a:solidFill>
                  <a:srgbClr val="0B2B4E"/>
                </a:solidFill>
                <a:latin typeface="Calibri"/>
              </a:rPr>
              <a:t>q</a:t>
            </a:r>
          </a:p>
        </p:txBody>
      </p:sp>
      <p:cxnSp>
        <p:nvCxnSpPr>
          <p:cNvPr id="30" name="F2_0"/>
          <p:cNvCxnSpPr/>
          <p:nvPr/>
        </p:nvCxnSpPr>
        <p:spPr>
          <a:xfrm flipV="1">
            <a:off x="6874459" y="2868929"/>
            <a:ext cx="2439619" cy="2320291"/>
          </a:xfrm>
          <a:prstGeom prst="line">
            <a:avLst/>
          </a:prstGeom>
          <a:ln w="53340">
            <a:solidFill>
              <a:srgbClr val="8E7CC3"/>
            </a:solidFill>
          </a:ln>
          <a:effectLst/>
        </p:spPr>
        <p:style>
          <a:lnRef idx="2">
            <a:schemeClr val="accent1"/>
          </a:lnRef>
          <a:fillRef idx="0">
            <a:schemeClr val="accent1"/>
          </a:fillRef>
          <a:effectRef idx="1">
            <a:schemeClr val="accent1"/>
          </a:effectRef>
          <a:fontRef idx="minor">
            <a:schemeClr val="tx1"/>
          </a:fontRef>
        </p:style>
      </p:cxnSp>
      <p:sp>
        <p:nvSpPr>
          <p:cNvPr id="31" name="F2_1"/>
          <p:cNvSpPr txBox="1"/>
          <p:nvPr/>
        </p:nvSpPr>
        <p:spPr>
          <a:xfrm>
            <a:off x="9233717" y="2605840"/>
            <a:ext cx="548640" cy="274320"/>
          </a:xfrm>
          <a:prstGeom prst="rect">
            <a:avLst/>
          </a:prstGeom>
          <a:noFill/>
        </p:spPr>
        <p:txBody>
          <a:bodyPr wrap="square" lIns="0" tIns="0" rIns="0" bIns="0" anchor="t">
            <a:spAutoFit/>
          </a:bodyPr>
          <a:lstStyle/>
          <a:p>
            <a:pPr algn="l"/>
            <a:r>
              <a:rPr sz="1800" b="0" i="1" dirty="0">
                <a:solidFill>
                  <a:srgbClr val="0B2B4E"/>
                </a:solidFill>
                <a:latin typeface="Calibri"/>
              </a:rPr>
              <a:t>MC</a:t>
            </a:r>
            <a:r>
              <a:rPr lang="en-US" i="1" baseline="-25000" dirty="0">
                <a:solidFill>
                  <a:srgbClr val="0B2B4E"/>
                </a:solidFill>
                <a:latin typeface="Calibri"/>
              </a:rPr>
              <a:t>0</a:t>
            </a:r>
            <a:endParaRPr sz="1800" b="0" i="1" baseline="-25000" dirty="0">
              <a:solidFill>
                <a:srgbClr val="0B2B4E"/>
              </a:solidFill>
              <a:latin typeface="Calibri"/>
            </a:endParaRPr>
          </a:p>
        </p:txBody>
      </p:sp>
      <p:cxnSp>
        <p:nvCxnSpPr>
          <p:cNvPr id="32" name="F3_0"/>
          <p:cNvCxnSpPr/>
          <p:nvPr/>
        </p:nvCxnSpPr>
        <p:spPr>
          <a:xfrm>
            <a:off x="6537960" y="4133087"/>
            <a:ext cx="4206240" cy="0"/>
          </a:xfrm>
          <a:prstGeom prst="line">
            <a:avLst/>
          </a:prstGeom>
          <a:ln w="38100">
            <a:solidFill>
              <a:srgbClr val="C0201B"/>
            </a:solidFill>
          </a:ln>
          <a:effectLst/>
        </p:spPr>
        <p:style>
          <a:lnRef idx="2">
            <a:schemeClr val="accent1"/>
          </a:lnRef>
          <a:fillRef idx="0">
            <a:schemeClr val="accent1"/>
          </a:fillRef>
          <a:effectRef idx="1">
            <a:schemeClr val="accent1"/>
          </a:effectRef>
          <a:fontRef idx="minor">
            <a:schemeClr val="tx1"/>
          </a:fontRef>
        </p:style>
      </p:cxnSp>
      <p:sp>
        <p:nvSpPr>
          <p:cNvPr id="33" name="F3_1"/>
          <p:cNvSpPr txBox="1"/>
          <p:nvPr/>
        </p:nvSpPr>
        <p:spPr>
          <a:xfrm>
            <a:off x="10817352" y="3986783"/>
            <a:ext cx="1463040" cy="246221"/>
          </a:xfrm>
          <a:prstGeom prst="rect">
            <a:avLst/>
          </a:prstGeom>
          <a:noFill/>
        </p:spPr>
        <p:txBody>
          <a:bodyPr wrap="square" lIns="0" tIns="0" rIns="0" bIns="0" anchor="t">
            <a:spAutoFit/>
          </a:bodyPr>
          <a:lstStyle/>
          <a:p>
            <a:pPr algn="l"/>
            <a:r>
              <a:rPr sz="1600" b="0" i="1" dirty="0">
                <a:solidFill>
                  <a:srgbClr val="0B2B4E"/>
                </a:solidFill>
                <a:latin typeface="Calibri"/>
              </a:rPr>
              <a:t>MR</a:t>
            </a:r>
            <a:r>
              <a:rPr lang="en-US" sz="1600" b="0" i="1" baseline="-25000" dirty="0">
                <a:solidFill>
                  <a:srgbClr val="0B2B4E"/>
                </a:solidFill>
                <a:latin typeface="Calibri"/>
              </a:rPr>
              <a:t>0</a:t>
            </a:r>
            <a:r>
              <a:rPr sz="1600" b="0" i="1" dirty="0">
                <a:solidFill>
                  <a:srgbClr val="0B2B4E"/>
                </a:solidFill>
                <a:latin typeface="Calibri"/>
              </a:rPr>
              <a:t> = P</a:t>
            </a:r>
            <a:r>
              <a:rPr lang="en-US" sz="1600" b="0" i="1" baseline="-25000" dirty="0">
                <a:solidFill>
                  <a:srgbClr val="0B2B4E"/>
                </a:solidFill>
                <a:latin typeface="Calibri"/>
              </a:rPr>
              <a:t>0</a:t>
            </a:r>
            <a:endParaRPr sz="1600" b="0" i="1" baseline="-25000" dirty="0">
              <a:solidFill>
                <a:srgbClr val="0B2B4E"/>
              </a:solidFill>
              <a:latin typeface="Calibri"/>
            </a:endParaRPr>
          </a:p>
        </p:txBody>
      </p:sp>
      <p:cxnSp>
        <p:nvCxnSpPr>
          <p:cNvPr id="34" name="F3_2"/>
          <p:cNvCxnSpPr/>
          <p:nvPr/>
        </p:nvCxnSpPr>
        <p:spPr>
          <a:xfrm flipV="1">
            <a:off x="7984906" y="4133087"/>
            <a:ext cx="0" cy="1856233"/>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sp>
        <p:nvSpPr>
          <p:cNvPr id="35" name="F3_3"/>
          <p:cNvSpPr txBox="1"/>
          <p:nvPr/>
        </p:nvSpPr>
        <p:spPr>
          <a:xfrm>
            <a:off x="7802026" y="6025896"/>
            <a:ext cx="457200" cy="274320"/>
          </a:xfrm>
          <a:prstGeom prst="rect">
            <a:avLst/>
          </a:prstGeom>
          <a:noFill/>
        </p:spPr>
        <p:txBody>
          <a:bodyPr wrap="square" lIns="0" tIns="0" rIns="0" bIns="0" anchor="t">
            <a:spAutoFit/>
          </a:bodyPr>
          <a:lstStyle/>
          <a:p>
            <a:pPr algn="ctr"/>
            <a:r>
              <a:rPr sz="1500" b="0" i="1">
                <a:solidFill>
                  <a:srgbClr val="0B2B4E"/>
                </a:solidFill>
                <a:latin typeface="Calibri"/>
              </a:rPr>
              <a:t>q</a:t>
            </a:r>
            <a:r>
              <a:rPr sz="900" b="0" i="1" baseline="-25000">
                <a:solidFill>
                  <a:srgbClr val="0B2B4E"/>
                </a:solidFill>
                <a:latin typeface="Calibri"/>
              </a:rPr>
              <a:t>0</a:t>
            </a:r>
          </a:p>
        </p:txBody>
      </p:sp>
      <p:cxnSp>
        <p:nvCxnSpPr>
          <p:cNvPr id="36" name="F4_0"/>
          <p:cNvCxnSpPr/>
          <p:nvPr/>
        </p:nvCxnSpPr>
        <p:spPr>
          <a:xfrm flipV="1">
            <a:off x="7631582" y="2868929"/>
            <a:ext cx="2439619" cy="2320291"/>
          </a:xfrm>
          <a:prstGeom prst="line">
            <a:avLst/>
          </a:prstGeom>
          <a:ln w="53340">
            <a:solidFill>
              <a:srgbClr val="9BBB59"/>
            </a:solidFill>
          </a:ln>
          <a:effectLst/>
        </p:spPr>
        <p:style>
          <a:lnRef idx="2">
            <a:schemeClr val="accent1"/>
          </a:lnRef>
          <a:fillRef idx="0">
            <a:schemeClr val="accent1"/>
          </a:fillRef>
          <a:effectRef idx="1">
            <a:schemeClr val="accent1"/>
          </a:effectRef>
          <a:fontRef idx="minor">
            <a:schemeClr val="tx1"/>
          </a:fontRef>
        </p:style>
      </p:cxnSp>
      <p:sp>
        <p:nvSpPr>
          <p:cNvPr id="37" name="F4_1"/>
          <p:cNvSpPr txBox="1"/>
          <p:nvPr/>
        </p:nvSpPr>
        <p:spPr>
          <a:xfrm>
            <a:off x="10087660" y="2605840"/>
            <a:ext cx="640080" cy="274320"/>
          </a:xfrm>
          <a:prstGeom prst="rect">
            <a:avLst/>
          </a:prstGeom>
          <a:noFill/>
        </p:spPr>
        <p:txBody>
          <a:bodyPr wrap="square" lIns="0" tIns="0" rIns="0" bIns="0" anchor="t">
            <a:spAutoFit/>
          </a:bodyPr>
          <a:lstStyle/>
          <a:p>
            <a:pPr algn="l"/>
            <a:r>
              <a:rPr sz="1800" b="0" i="1" dirty="0">
                <a:solidFill>
                  <a:srgbClr val="0B2B4E"/>
                </a:solidFill>
                <a:latin typeface="Calibri"/>
              </a:rPr>
              <a:t>MC</a:t>
            </a:r>
            <a:r>
              <a:rPr lang="en-US" i="1" baseline="-25000" dirty="0">
                <a:solidFill>
                  <a:srgbClr val="0B2B4E"/>
                </a:solidFill>
                <a:latin typeface="Calibri"/>
              </a:rPr>
              <a:t>1</a:t>
            </a:r>
            <a:endParaRPr sz="1800" b="0" i="1" baseline="-25000" dirty="0">
              <a:solidFill>
                <a:srgbClr val="0B2B4E"/>
              </a:solidFill>
              <a:latin typeface="Calibri"/>
            </a:endParaRPr>
          </a:p>
        </p:txBody>
      </p:sp>
      <p:cxnSp>
        <p:nvCxnSpPr>
          <p:cNvPr id="38" name="F4_2"/>
          <p:cNvCxnSpPr/>
          <p:nvPr/>
        </p:nvCxnSpPr>
        <p:spPr>
          <a:xfrm>
            <a:off x="8851392" y="3403744"/>
            <a:ext cx="0" cy="448055"/>
          </a:xfrm>
          <a:prstGeom prst="line">
            <a:avLst/>
          </a:prstGeom>
          <a:ln w="2794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F4_3"/>
          <p:cNvCxnSpPr/>
          <p:nvPr/>
        </p:nvCxnSpPr>
        <p:spPr>
          <a:xfrm flipV="1">
            <a:off x="8742029" y="4133087"/>
            <a:ext cx="0" cy="1856233"/>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sp>
        <p:nvSpPr>
          <p:cNvPr id="40" name="F4_4"/>
          <p:cNvSpPr txBox="1"/>
          <p:nvPr/>
        </p:nvSpPr>
        <p:spPr>
          <a:xfrm>
            <a:off x="8559149" y="6025896"/>
            <a:ext cx="457200" cy="274320"/>
          </a:xfrm>
          <a:prstGeom prst="rect">
            <a:avLst/>
          </a:prstGeom>
          <a:noFill/>
        </p:spPr>
        <p:txBody>
          <a:bodyPr wrap="square" lIns="0" tIns="0" rIns="0" bIns="0" anchor="t">
            <a:spAutoFit/>
          </a:bodyPr>
          <a:lstStyle/>
          <a:p>
            <a:pPr algn="ctr"/>
            <a:r>
              <a:rPr sz="1500" b="0" i="1">
                <a:solidFill>
                  <a:srgbClr val="0B2B4E"/>
                </a:solidFill>
                <a:latin typeface="Calibri"/>
              </a:rPr>
              <a:t>q</a:t>
            </a:r>
            <a:r>
              <a:rPr sz="900" b="0" i="1" baseline="-25000">
                <a:solidFill>
                  <a:srgbClr val="0B2B4E"/>
                </a:solidFill>
                <a:latin typeface="Calibri"/>
              </a:rPr>
              <a:t>1</a:t>
            </a:r>
          </a:p>
        </p:txBody>
      </p:sp>
      <p:cxnSp>
        <p:nvCxnSpPr>
          <p:cNvPr id="41" name="M4_0"/>
          <p:cNvCxnSpPr/>
          <p:nvPr/>
        </p:nvCxnSpPr>
        <p:spPr>
          <a:xfrm flipV="1">
            <a:off x="2267712" y="2993745"/>
            <a:ext cx="2468880" cy="2016252"/>
          </a:xfrm>
          <a:prstGeom prst="line">
            <a:avLst/>
          </a:prstGeom>
          <a:ln w="45720">
            <a:solidFill>
              <a:srgbClr val="9BBB59"/>
            </a:solidFill>
          </a:ln>
          <a:effectLst/>
        </p:spPr>
        <p:style>
          <a:lnRef idx="2">
            <a:schemeClr val="accent1"/>
          </a:lnRef>
          <a:fillRef idx="0">
            <a:schemeClr val="accent1"/>
          </a:fillRef>
          <a:effectRef idx="1">
            <a:schemeClr val="accent1"/>
          </a:effectRef>
          <a:fontRef idx="minor">
            <a:schemeClr val="tx1"/>
          </a:fontRef>
        </p:style>
      </p:cxnSp>
      <p:sp>
        <p:nvSpPr>
          <p:cNvPr id="42" name="M4_1"/>
          <p:cNvSpPr txBox="1"/>
          <p:nvPr/>
        </p:nvSpPr>
        <p:spPr>
          <a:xfrm>
            <a:off x="4825496" y="2821551"/>
            <a:ext cx="548640" cy="274320"/>
          </a:xfrm>
          <a:prstGeom prst="rect">
            <a:avLst/>
          </a:prstGeom>
          <a:noFill/>
        </p:spPr>
        <p:txBody>
          <a:bodyPr wrap="square" lIns="0" tIns="0" rIns="0" bIns="0" anchor="t">
            <a:spAutoFit/>
          </a:bodyPr>
          <a:lstStyle/>
          <a:p>
            <a:pPr algn="l"/>
            <a:r>
              <a:rPr sz="1800" b="0" i="1" dirty="0">
                <a:solidFill>
                  <a:srgbClr val="0B2B4E"/>
                </a:solidFill>
                <a:latin typeface="Calibri"/>
              </a:rPr>
              <a:t>S</a:t>
            </a:r>
            <a:r>
              <a:rPr lang="en-US" sz="1800" b="0" i="1" baseline="-25000" dirty="0">
                <a:solidFill>
                  <a:srgbClr val="0B2B4E"/>
                </a:solidFill>
                <a:latin typeface="Calibri"/>
              </a:rPr>
              <a:t>1</a:t>
            </a:r>
            <a:endParaRPr sz="1800" b="0" i="1" baseline="-25000" dirty="0">
              <a:solidFill>
                <a:srgbClr val="0B2B4E"/>
              </a:solidFill>
              <a:latin typeface="Calibri"/>
            </a:endParaRPr>
          </a:p>
        </p:txBody>
      </p:sp>
      <p:cxnSp>
        <p:nvCxnSpPr>
          <p:cNvPr id="43" name="M4_2"/>
          <p:cNvCxnSpPr/>
          <p:nvPr/>
        </p:nvCxnSpPr>
        <p:spPr>
          <a:xfrm>
            <a:off x="3131820" y="3749677"/>
            <a:ext cx="0" cy="448056"/>
          </a:xfrm>
          <a:prstGeom prst="line">
            <a:avLst/>
          </a:prstGeom>
          <a:ln w="2794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M5_0"/>
          <p:cNvCxnSpPr/>
          <p:nvPr/>
        </p:nvCxnSpPr>
        <p:spPr>
          <a:xfrm>
            <a:off x="868680" y="4395520"/>
            <a:ext cx="2147925" cy="0"/>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M5_1"/>
          <p:cNvCxnSpPr/>
          <p:nvPr/>
        </p:nvCxnSpPr>
        <p:spPr>
          <a:xfrm flipV="1">
            <a:off x="3016605" y="4395520"/>
            <a:ext cx="0" cy="1593800"/>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M5_2"/>
          <p:cNvSpPr/>
          <p:nvPr/>
        </p:nvSpPr>
        <p:spPr>
          <a:xfrm>
            <a:off x="2943453" y="4322368"/>
            <a:ext cx="146304" cy="146304"/>
          </a:xfrm>
          <a:prstGeom prst="ellipse">
            <a:avLst/>
          </a:prstGeom>
          <a:solidFill>
            <a:srgbClr val="9BBB59"/>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M5_3"/>
          <p:cNvSpPr txBox="1"/>
          <p:nvPr/>
        </p:nvSpPr>
        <p:spPr>
          <a:xfrm>
            <a:off x="484632" y="4258360"/>
            <a:ext cx="365760" cy="246221"/>
          </a:xfrm>
          <a:prstGeom prst="rect">
            <a:avLst/>
          </a:prstGeom>
          <a:noFill/>
        </p:spPr>
        <p:txBody>
          <a:bodyPr wrap="square" lIns="0" tIns="0" rIns="0" bIns="0" anchor="t">
            <a:spAutoFit/>
          </a:bodyPr>
          <a:lstStyle/>
          <a:p>
            <a:pPr algn="r"/>
            <a:r>
              <a:rPr sz="1600" b="0" i="1" dirty="0">
                <a:solidFill>
                  <a:srgbClr val="0B2B4E"/>
                </a:solidFill>
                <a:latin typeface="Calibri"/>
              </a:rPr>
              <a:t>P</a:t>
            </a:r>
            <a:r>
              <a:rPr lang="en-US" sz="900" i="1" dirty="0">
                <a:solidFill>
                  <a:srgbClr val="0B2B4E"/>
                </a:solidFill>
                <a:latin typeface="Calibri"/>
              </a:rPr>
              <a:t>1</a:t>
            </a:r>
            <a:endParaRPr sz="900" b="0" i="1" dirty="0">
              <a:solidFill>
                <a:srgbClr val="0B2B4E"/>
              </a:solidFill>
              <a:latin typeface="Calibri"/>
            </a:endParaRPr>
          </a:p>
        </p:txBody>
      </p:sp>
      <p:sp>
        <p:nvSpPr>
          <p:cNvPr id="48" name="M5_4"/>
          <p:cNvSpPr txBox="1"/>
          <p:nvPr/>
        </p:nvSpPr>
        <p:spPr>
          <a:xfrm>
            <a:off x="2906877" y="6025895"/>
            <a:ext cx="524386" cy="276999"/>
          </a:xfrm>
          <a:prstGeom prst="rect">
            <a:avLst/>
          </a:prstGeom>
          <a:noFill/>
        </p:spPr>
        <p:txBody>
          <a:bodyPr wrap="square" lIns="0" tIns="0" rIns="0" bIns="0" anchor="t">
            <a:spAutoFit/>
          </a:bodyPr>
          <a:lstStyle/>
          <a:p>
            <a:pPr algn="ctr"/>
            <a:r>
              <a:rPr b="0" i="1" dirty="0">
                <a:solidFill>
                  <a:srgbClr val="0B2B4E"/>
                </a:solidFill>
                <a:latin typeface="Calibri"/>
              </a:rPr>
              <a:t>Q</a:t>
            </a:r>
            <a:r>
              <a:rPr lang="en-US" i="1" baseline="-25000" dirty="0">
                <a:solidFill>
                  <a:srgbClr val="0B2B4E"/>
                </a:solidFill>
                <a:latin typeface="Calibri"/>
              </a:rPr>
              <a:t>1</a:t>
            </a:r>
            <a:endParaRPr b="0" i="1" baseline="-25000" dirty="0">
              <a:solidFill>
                <a:srgbClr val="0B2B4E"/>
              </a:solidFill>
              <a:latin typeface="Calibri"/>
            </a:endParaRPr>
          </a:p>
        </p:txBody>
      </p:sp>
      <p:cxnSp>
        <p:nvCxnSpPr>
          <p:cNvPr id="49" name="M5_5"/>
          <p:cNvCxnSpPr/>
          <p:nvPr/>
        </p:nvCxnSpPr>
        <p:spPr>
          <a:xfrm>
            <a:off x="2760944" y="6201355"/>
            <a:ext cx="236829"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F5_0"/>
          <p:cNvCxnSpPr/>
          <p:nvPr/>
        </p:nvCxnSpPr>
        <p:spPr>
          <a:xfrm>
            <a:off x="6537960" y="4581144"/>
            <a:ext cx="4206240" cy="0"/>
          </a:xfrm>
          <a:prstGeom prst="line">
            <a:avLst/>
          </a:prstGeom>
          <a:ln w="38100">
            <a:solidFill>
              <a:srgbClr val="E88A2E"/>
            </a:solidFill>
          </a:ln>
          <a:effectLst/>
        </p:spPr>
        <p:style>
          <a:lnRef idx="2">
            <a:schemeClr val="accent1"/>
          </a:lnRef>
          <a:fillRef idx="0">
            <a:schemeClr val="accent1"/>
          </a:fillRef>
          <a:effectRef idx="1">
            <a:schemeClr val="accent1"/>
          </a:effectRef>
          <a:fontRef idx="minor">
            <a:schemeClr val="tx1"/>
          </a:fontRef>
        </p:style>
      </p:cxnSp>
      <p:sp>
        <p:nvSpPr>
          <p:cNvPr id="51" name="F5_1"/>
          <p:cNvSpPr txBox="1"/>
          <p:nvPr/>
        </p:nvSpPr>
        <p:spPr>
          <a:xfrm>
            <a:off x="10817352" y="4434840"/>
            <a:ext cx="1645920" cy="246221"/>
          </a:xfrm>
          <a:prstGeom prst="rect">
            <a:avLst/>
          </a:prstGeom>
          <a:noFill/>
        </p:spPr>
        <p:txBody>
          <a:bodyPr wrap="square" lIns="0" tIns="0" rIns="0" bIns="0" anchor="t">
            <a:spAutoFit/>
          </a:bodyPr>
          <a:lstStyle/>
          <a:p>
            <a:pPr algn="l"/>
            <a:r>
              <a:rPr sz="1600" b="0" i="1" dirty="0">
                <a:solidFill>
                  <a:srgbClr val="0B2B4E"/>
                </a:solidFill>
                <a:latin typeface="Calibri"/>
              </a:rPr>
              <a:t>MR</a:t>
            </a:r>
            <a:r>
              <a:rPr lang="en-US" sz="1600" b="0" i="1" baseline="-25000" dirty="0">
                <a:solidFill>
                  <a:srgbClr val="0B2B4E"/>
                </a:solidFill>
                <a:latin typeface="Calibri"/>
              </a:rPr>
              <a:t>1</a:t>
            </a:r>
            <a:r>
              <a:rPr sz="1600" b="0" i="1" dirty="0">
                <a:solidFill>
                  <a:srgbClr val="0B2B4E"/>
                </a:solidFill>
                <a:latin typeface="Calibri"/>
              </a:rPr>
              <a:t> = P</a:t>
            </a:r>
            <a:r>
              <a:rPr lang="en-US" sz="1600" b="0" i="1" baseline="-25000" dirty="0">
                <a:solidFill>
                  <a:srgbClr val="0B2B4E"/>
                </a:solidFill>
                <a:latin typeface="Calibri"/>
              </a:rPr>
              <a:t>1</a:t>
            </a:r>
            <a:endParaRPr sz="1600" b="0" i="1" baseline="-25000" dirty="0">
              <a:solidFill>
                <a:srgbClr val="0B2B4E"/>
              </a:solidFill>
              <a:latin typeface="Calibri"/>
            </a:endParaRPr>
          </a:p>
        </p:txBody>
      </p:sp>
      <p:cxnSp>
        <p:nvCxnSpPr>
          <p:cNvPr id="52" name="F6_0"/>
          <p:cNvCxnSpPr/>
          <p:nvPr/>
        </p:nvCxnSpPr>
        <p:spPr>
          <a:xfrm flipV="1">
            <a:off x="8270930" y="4581144"/>
            <a:ext cx="0" cy="1408176"/>
          </a:xfrm>
          <a:prstGeom prst="line">
            <a:avLst/>
          </a:prstGeom>
          <a:ln w="12700">
            <a:solidFill>
              <a:srgbClr val="606670"/>
            </a:solidFill>
            <a:prstDash val="dash"/>
          </a:ln>
          <a:effectLst/>
        </p:spPr>
        <p:style>
          <a:lnRef idx="2">
            <a:schemeClr val="accent1"/>
          </a:lnRef>
          <a:fillRef idx="0">
            <a:schemeClr val="accent1"/>
          </a:fillRef>
          <a:effectRef idx="1">
            <a:schemeClr val="accent1"/>
          </a:effectRef>
          <a:fontRef idx="minor">
            <a:schemeClr val="tx1"/>
          </a:fontRef>
        </p:style>
      </p:cxnSp>
      <p:sp>
        <p:nvSpPr>
          <p:cNvPr id="53" name="F6_1"/>
          <p:cNvSpPr txBox="1"/>
          <p:nvPr/>
        </p:nvSpPr>
        <p:spPr>
          <a:xfrm>
            <a:off x="8088050" y="6025896"/>
            <a:ext cx="457200" cy="274320"/>
          </a:xfrm>
          <a:prstGeom prst="rect">
            <a:avLst/>
          </a:prstGeom>
          <a:noFill/>
        </p:spPr>
        <p:txBody>
          <a:bodyPr wrap="square" lIns="0" tIns="0" rIns="0" bIns="0" anchor="t">
            <a:spAutoFit/>
          </a:bodyPr>
          <a:lstStyle/>
          <a:p>
            <a:pPr algn="ctr"/>
            <a:r>
              <a:rPr sz="1500" b="0" i="1">
                <a:solidFill>
                  <a:srgbClr val="0B2B4E"/>
                </a:solidFill>
                <a:latin typeface="Calibri"/>
              </a:rPr>
              <a:t>q</a:t>
            </a:r>
            <a:r>
              <a:rPr sz="900" b="0" i="1" baseline="-25000">
                <a:solidFill>
                  <a:srgbClr val="0B2B4E"/>
                </a:solidFill>
                <a:latin typeface="Calibri"/>
              </a:rPr>
              <a:t>2</a:t>
            </a:r>
          </a:p>
        </p:txBody>
      </p:sp>
      <p:cxnSp>
        <p:nvCxnSpPr>
          <p:cNvPr id="54" name="F6_2"/>
          <p:cNvCxnSpPr/>
          <p:nvPr/>
        </p:nvCxnSpPr>
        <p:spPr>
          <a:xfrm>
            <a:off x="8103507" y="6137980"/>
            <a:ext cx="139720" cy="0"/>
          </a:xfrm>
          <a:prstGeom prst="line">
            <a:avLst/>
          </a:prstGeom>
          <a:ln w="2540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G6_8">
            <a:extLst>
              <a:ext uri="{FF2B5EF4-FFF2-40B4-BE49-F238E27FC236}">
                <a16:creationId xmlns:a16="http://schemas.microsoft.com/office/drawing/2014/main" id="{4767AABC-0009-F858-438C-23A030A254E3}"/>
              </a:ext>
            </a:extLst>
          </p:cNvPr>
          <p:cNvSpPr/>
          <p:nvPr/>
        </p:nvSpPr>
        <p:spPr>
          <a:xfrm>
            <a:off x="432074" y="1488465"/>
            <a:ext cx="5131398" cy="483812"/>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2200" dirty="0">
                <a:solidFill>
                  <a:srgbClr val="0B2B4E"/>
                </a:solidFill>
              </a:rPr>
              <a:t>New high-yield seeds arrive on the market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41</a:t>
            </a:r>
          </a:p>
        </p:txBody>
      </p:sp>
      <p:sp>
        <p:nvSpPr>
          <p:cNvPr id="10" name="Oval 9"/>
          <p:cNvSpPr/>
          <p:nvPr/>
        </p:nvSpPr>
        <p:spPr>
          <a:xfrm>
            <a:off x="1024128" y="20665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75104"/>
            <a:ext cx="9226296" cy="457200"/>
          </a:xfrm>
          <a:prstGeom prst="rect">
            <a:avLst/>
          </a:prstGeom>
          <a:noFill/>
        </p:spPr>
        <p:txBody>
          <a:bodyPr wrap="square" lIns="0" tIns="0" rIns="0" bIns="0" anchor="b">
            <a:spAutoFit/>
          </a:bodyPr>
          <a:lstStyle/>
          <a:p>
            <a:r>
              <a:rPr sz="2400" b="1" i="0">
                <a:solidFill>
                  <a:srgbClr val="9AA0A8"/>
                </a:solidFill>
                <a:latin typeface="Calibri"/>
              </a:rPr>
              <a:t>Introduction to market structures</a:t>
            </a:r>
          </a:p>
        </p:txBody>
      </p:sp>
      <p:sp>
        <p:nvSpPr>
          <p:cNvPr id="12" name="Rounded Rectangle 11"/>
          <p:cNvSpPr/>
          <p:nvPr/>
        </p:nvSpPr>
        <p:spPr>
          <a:xfrm>
            <a:off x="822960" y="327355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3814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4" name="TextBox 13"/>
          <p:cNvSpPr txBox="1"/>
          <p:nvPr/>
        </p:nvSpPr>
        <p:spPr>
          <a:xfrm>
            <a:off x="1883664" y="3346704"/>
            <a:ext cx="9226296" cy="457200"/>
          </a:xfrm>
          <a:prstGeom prst="rect">
            <a:avLst/>
          </a:prstGeom>
          <a:noFill/>
        </p:spPr>
        <p:txBody>
          <a:bodyPr wrap="square" lIns="0" tIns="0" rIns="0" bIns="0" anchor="b">
            <a:spAutoFit/>
          </a:bodyPr>
          <a:lstStyle/>
          <a:p>
            <a:r>
              <a:rPr sz="2400" b="1" i="0">
                <a:solidFill>
                  <a:srgbClr val="0B2B4E"/>
                </a:solidFill>
                <a:latin typeface="Calibri"/>
              </a:rPr>
              <a:t>Perfect competition</a:t>
            </a:r>
          </a:p>
        </p:txBody>
      </p:sp>
      <p:sp>
        <p:nvSpPr>
          <p:cNvPr id="15" name="TextBox 14"/>
          <p:cNvSpPr txBox="1"/>
          <p:nvPr/>
        </p:nvSpPr>
        <p:spPr>
          <a:xfrm>
            <a:off x="1883664" y="3803904"/>
            <a:ext cx="9226296" cy="457200"/>
          </a:xfrm>
          <a:prstGeom prst="rect">
            <a:avLst/>
          </a:prstGeom>
          <a:noFill/>
        </p:spPr>
        <p:txBody>
          <a:bodyPr wrap="square" lIns="0" tIns="0" rIns="0" bIns="0" anchor="t">
            <a:spAutoFit/>
          </a:bodyPr>
          <a:lstStyle/>
          <a:p>
            <a:r>
              <a:rPr sz="1600" b="0" i="0">
                <a:solidFill>
                  <a:srgbClr val="555B66"/>
                </a:solidFill>
                <a:latin typeface="Calibri"/>
              </a:rPr>
              <a:t>Profit maximization of a price taker in the short run  ·  </a:t>
            </a:r>
            <a:r>
              <a:rPr sz="1600" b="1" i="0">
                <a:solidFill>
                  <a:srgbClr val="0B2B4E"/>
                </a:solidFill>
                <a:latin typeface="Calibri"/>
              </a:rPr>
              <a:t>Long-run competitive equilibrium</a:t>
            </a:r>
          </a:p>
        </p:txBody>
      </p:sp>
      <p:sp>
        <p:nvSpPr>
          <p:cNvPr id="16" name="Oval 15"/>
          <p:cNvSpPr/>
          <p:nvPr/>
        </p:nvSpPr>
        <p:spPr>
          <a:xfrm>
            <a:off x="1024128" y="48097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7" name="TextBox 16"/>
          <p:cNvSpPr txBox="1"/>
          <p:nvPr/>
        </p:nvSpPr>
        <p:spPr>
          <a:xfrm>
            <a:off x="1883664" y="4806172"/>
            <a:ext cx="9226296" cy="369332"/>
          </a:xfrm>
          <a:prstGeom prst="rect">
            <a:avLst/>
          </a:prstGeom>
          <a:noFill/>
        </p:spPr>
        <p:txBody>
          <a:bodyPr wrap="square" lIns="0" tIns="0" rIns="0" bIns="0" anchor="b">
            <a:spAutoFit/>
          </a:bodyPr>
          <a:lstStyle/>
          <a:p>
            <a:r>
              <a:rPr lang="en-US" sz="2400" b="1" dirty="0">
                <a:solidFill>
                  <a:srgbClr val="9AA0A8"/>
                </a:solidFill>
              </a:rPr>
              <a:t>Market distortions, regulations, externalities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Long-Run Equilibrium</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dirty="0">
                <a:solidFill>
                  <a:srgbClr val="0B2B4E"/>
                </a:solidFill>
                <a:latin typeface="Calibri"/>
              </a:rPr>
              <a:t>Perfect Competition in the Long Run</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42</a:t>
            </a:r>
          </a:p>
        </p:txBody>
      </p:sp>
      <p:sp>
        <p:nvSpPr>
          <p:cNvPr id="10" name="BUILD"/>
          <p:cNvSpPr txBox="1"/>
          <p:nvPr/>
        </p:nvSpPr>
        <p:spPr>
          <a:xfrm>
            <a:off x="640080" y="1691640"/>
            <a:ext cx="10881360" cy="3647152"/>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What changes?</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Can choose whether to incur fixed costs (e.g. rent, salaried employees)</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Focus on Long Run Average Costs (LAC)</a:t>
            </a:r>
            <a:endParaRPr lang="en-US" sz="2100" b="0" i="0" dirty="0">
              <a:solidFill>
                <a:schemeClr val="tx1">
                  <a:lumMod val="65000"/>
                  <a:lumOff val="35000"/>
                </a:schemeClr>
              </a:solidFill>
              <a:latin typeface="Calibri"/>
            </a:endParaRPr>
          </a:p>
          <a:p>
            <a:pPr marL="603504" lvl="1" indent="-603504">
              <a:spcAft>
                <a:spcPts val="1400"/>
              </a:spcAft>
              <a:buClr>
                <a:srgbClr val="555B66"/>
              </a:buClr>
              <a:buSzPct val="100000"/>
              <a:buFont typeface="Calibri"/>
              <a:buChar char="–"/>
            </a:pPr>
            <a:endParaRPr sz="2100" b="0" i="0" dirty="0">
              <a:solidFill>
                <a:srgbClr val="222B3A"/>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Market entry and exit</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Affect the market price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Long-Run Equilibrium</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43</a:t>
            </a:r>
          </a:p>
        </p:txBody>
      </p:sp>
      <p:sp>
        <p:nvSpPr>
          <p:cNvPr id="10" name="TextBox 9"/>
          <p:cNvSpPr txBox="1"/>
          <p:nvPr/>
        </p:nvSpPr>
        <p:spPr>
          <a:xfrm>
            <a:off x="-348904" y="722890"/>
            <a:ext cx="11338560" cy="892552"/>
          </a:xfrm>
          <a:prstGeom prst="rect">
            <a:avLst/>
          </a:prstGeom>
          <a:noFill/>
        </p:spPr>
        <p:txBody>
          <a:bodyPr wrap="square" lIns="0" tIns="0" rIns="0" bIns="0" anchor="t">
            <a:spAutoFit/>
          </a:bodyPr>
          <a:lstStyle/>
          <a:p>
            <a:pPr algn="ctr"/>
            <a:r>
              <a:rPr sz="3000" b="1" i="0" dirty="0">
                <a:solidFill>
                  <a:srgbClr val="0B2B4E"/>
                </a:solidFill>
                <a:latin typeface="Calibri"/>
              </a:rPr>
              <a:t>Long Run Competitive Equilibrium</a:t>
            </a:r>
            <a:r>
              <a:rPr lang="en-US" sz="2800" b="1" i="0" dirty="0">
                <a:solidFill>
                  <a:srgbClr val="0B2B4E"/>
                </a:solidFill>
                <a:latin typeface="Calibri"/>
              </a:rPr>
              <a:t> </a:t>
            </a:r>
            <a:r>
              <a:rPr lang="en-US" dirty="0">
                <a:solidFill>
                  <a:srgbClr val="0B2B4E"/>
                </a:solidFill>
              </a:rPr>
              <a:t>(assuming there are many identical producers)</a:t>
            </a:r>
          </a:p>
          <a:p>
            <a:pPr algn="ctr"/>
            <a:endParaRPr sz="2800" b="1" i="0" dirty="0">
              <a:solidFill>
                <a:srgbClr val="0B2B4E"/>
              </a:solidFill>
              <a:latin typeface="Calibri"/>
            </a:endParaRPr>
          </a:p>
        </p:txBody>
      </p:sp>
      <p:cxnSp>
        <p:nvCxnSpPr>
          <p:cNvPr id="11" name="Connector 10"/>
          <p:cNvCxnSpPr/>
          <p:nvPr/>
        </p:nvCxnSpPr>
        <p:spPr>
          <a:xfrm flipV="1">
            <a:off x="2666107" y="1600199"/>
            <a:ext cx="0" cy="3977641"/>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a:cxnSpLocks/>
          </p:cNvCxnSpPr>
          <p:nvPr/>
        </p:nvCxnSpPr>
        <p:spPr>
          <a:xfrm>
            <a:off x="2666107" y="5577840"/>
            <a:ext cx="6182061" cy="45719"/>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117467" y="1536191"/>
            <a:ext cx="914400" cy="320040"/>
          </a:xfrm>
          <a:prstGeom prst="rect">
            <a:avLst/>
          </a:prstGeom>
          <a:noFill/>
        </p:spPr>
        <p:txBody>
          <a:bodyPr wrap="square" lIns="0" tIns="0" rIns="0" bIns="0" anchor="t">
            <a:spAutoFit/>
          </a:bodyPr>
          <a:lstStyle/>
          <a:p>
            <a:pPr algn="l"/>
            <a:r>
              <a:rPr sz="2200" b="0" i="1">
                <a:solidFill>
                  <a:srgbClr val="0B2B4E"/>
                </a:solidFill>
                <a:latin typeface="Calibri"/>
              </a:rPr>
              <a:t>$/Q</a:t>
            </a:r>
          </a:p>
        </p:txBody>
      </p:sp>
      <p:sp>
        <p:nvSpPr>
          <p:cNvPr id="14" name="TextBox 13"/>
          <p:cNvSpPr txBox="1"/>
          <p:nvPr/>
        </p:nvSpPr>
        <p:spPr>
          <a:xfrm>
            <a:off x="8620258" y="5705855"/>
            <a:ext cx="457200" cy="320040"/>
          </a:xfrm>
          <a:prstGeom prst="rect">
            <a:avLst/>
          </a:prstGeom>
          <a:noFill/>
        </p:spPr>
        <p:txBody>
          <a:bodyPr wrap="square" lIns="0" tIns="0" rIns="0" bIns="0" anchor="t">
            <a:spAutoFit/>
          </a:bodyPr>
          <a:lstStyle/>
          <a:p>
            <a:pPr algn="l"/>
            <a:r>
              <a:rPr sz="2200" b="0" i="1">
                <a:solidFill>
                  <a:srgbClr val="0B2B4E"/>
                </a:solidFill>
                <a:latin typeface="Calibri"/>
              </a:rPr>
              <a:t>Q</a:t>
            </a:r>
          </a:p>
        </p:txBody>
      </p:sp>
      <p:sp>
        <p:nvSpPr>
          <p:cNvPr id="15" name="Freeform 14"/>
          <p:cNvSpPr/>
          <p:nvPr/>
        </p:nvSpPr>
        <p:spPr>
          <a:xfrm>
            <a:off x="2739614" y="2357144"/>
            <a:ext cx="5149317" cy="1355434"/>
          </a:xfrm>
          <a:custGeom>
            <a:avLst/>
            <a:gdLst/>
            <a:ahLst/>
            <a:cxnLst/>
            <a:rect l="l" t="t" r="r" b="b"/>
            <a:pathLst>
              <a:path w="2084832" h="1579482">
                <a:moveTo>
                  <a:pt x="0" y="300216"/>
                </a:moveTo>
                <a:lnTo>
                  <a:pt x="50849" y="428625"/>
                </a:lnTo>
                <a:lnTo>
                  <a:pt x="101699" y="550247"/>
                </a:lnTo>
                <a:lnTo>
                  <a:pt x="152548" y="665083"/>
                </a:lnTo>
                <a:lnTo>
                  <a:pt x="203398" y="773132"/>
                </a:lnTo>
                <a:lnTo>
                  <a:pt x="254247" y="874394"/>
                </a:lnTo>
                <a:lnTo>
                  <a:pt x="305097" y="968870"/>
                </a:lnTo>
                <a:lnTo>
                  <a:pt x="355946" y="1056560"/>
                </a:lnTo>
                <a:lnTo>
                  <a:pt x="406796" y="1137463"/>
                </a:lnTo>
                <a:lnTo>
                  <a:pt x="457646" y="1211579"/>
                </a:lnTo>
                <a:lnTo>
                  <a:pt x="508495" y="1278909"/>
                </a:lnTo>
                <a:lnTo>
                  <a:pt x="559345" y="1339452"/>
                </a:lnTo>
                <a:lnTo>
                  <a:pt x="610194" y="1393209"/>
                </a:lnTo>
                <a:lnTo>
                  <a:pt x="661044" y="1440179"/>
                </a:lnTo>
                <a:lnTo>
                  <a:pt x="711893" y="1480362"/>
                </a:lnTo>
                <a:lnTo>
                  <a:pt x="762743" y="1513759"/>
                </a:lnTo>
                <a:lnTo>
                  <a:pt x="813592" y="1540370"/>
                </a:lnTo>
                <a:lnTo>
                  <a:pt x="864442" y="1560194"/>
                </a:lnTo>
                <a:lnTo>
                  <a:pt x="915292" y="1573231"/>
                </a:lnTo>
                <a:lnTo>
                  <a:pt x="966141" y="1579482"/>
                </a:lnTo>
                <a:lnTo>
                  <a:pt x="1016991" y="1578946"/>
                </a:lnTo>
                <a:lnTo>
                  <a:pt x="1067840" y="1571624"/>
                </a:lnTo>
                <a:lnTo>
                  <a:pt x="1118690" y="1557515"/>
                </a:lnTo>
                <a:lnTo>
                  <a:pt x="1169539" y="1536619"/>
                </a:lnTo>
                <a:lnTo>
                  <a:pt x="1220389" y="1508937"/>
                </a:lnTo>
                <a:lnTo>
                  <a:pt x="1271239" y="1474469"/>
                </a:lnTo>
                <a:lnTo>
                  <a:pt x="1322088" y="1433214"/>
                </a:lnTo>
                <a:lnTo>
                  <a:pt x="1372938" y="1385172"/>
                </a:lnTo>
                <a:lnTo>
                  <a:pt x="1423787" y="1330344"/>
                </a:lnTo>
                <a:lnTo>
                  <a:pt x="1474637" y="1268729"/>
                </a:lnTo>
                <a:lnTo>
                  <a:pt x="1525486" y="1200328"/>
                </a:lnTo>
                <a:lnTo>
                  <a:pt x="1576336" y="1125140"/>
                </a:lnTo>
                <a:lnTo>
                  <a:pt x="1627185" y="1043165"/>
                </a:lnTo>
                <a:lnTo>
                  <a:pt x="1678035" y="954404"/>
                </a:lnTo>
                <a:lnTo>
                  <a:pt x="1728885" y="858857"/>
                </a:lnTo>
                <a:lnTo>
                  <a:pt x="1779734" y="756523"/>
                </a:lnTo>
                <a:lnTo>
                  <a:pt x="1830584" y="647402"/>
                </a:lnTo>
                <a:lnTo>
                  <a:pt x="1881433" y="531495"/>
                </a:lnTo>
                <a:lnTo>
                  <a:pt x="1932283" y="408801"/>
                </a:lnTo>
                <a:lnTo>
                  <a:pt x="1983132" y="279321"/>
                </a:lnTo>
                <a:lnTo>
                  <a:pt x="2033982" y="143054"/>
                </a:lnTo>
                <a:lnTo>
                  <a:pt x="2084832" y="0"/>
                </a:lnTo>
              </a:path>
            </a:pathLst>
          </a:custGeom>
          <a:noFill/>
          <a:ln w="63500" cap="rnd">
            <a:solidFill>
              <a:srgbClr val="A9C3E0"/>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81365" y="1980786"/>
            <a:ext cx="914400" cy="320040"/>
          </a:xfrm>
          <a:prstGeom prst="rect">
            <a:avLst/>
          </a:prstGeom>
          <a:noFill/>
        </p:spPr>
        <p:txBody>
          <a:bodyPr wrap="square" lIns="0" tIns="0" rIns="0" bIns="0" anchor="t">
            <a:spAutoFit/>
          </a:bodyPr>
          <a:lstStyle/>
          <a:p>
            <a:pPr algn="l"/>
            <a:r>
              <a:rPr sz="2200" b="0" i="1" dirty="0">
                <a:solidFill>
                  <a:srgbClr val="0B2B4E"/>
                </a:solidFill>
                <a:latin typeface="Calibri"/>
              </a:rPr>
              <a:t>LAC</a:t>
            </a:r>
          </a:p>
        </p:txBody>
      </p:sp>
      <p:sp>
        <p:nvSpPr>
          <p:cNvPr id="17" name="TextBox 16"/>
          <p:cNvSpPr txBox="1"/>
          <p:nvPr/>
        </p:nvSpPr>
        <p:spPr>
          <a:xfrm>
            <a:off x="6135074" y="2048255"/>
            <a:ext cx="914400" cy="320040"/>
          </a:xfrm>
          <a:prstGeom prst="rect">
            <a:avLst/>
          </a:prstGeom>
          <a:noFill/>
        </p:spPr>
        <p:txBody>
          <a:bodyPr wrap="square" lIns="0" tIns="0" rIns="0" bIns="0" anchor="t">
            <a:spAutoFit/>
          </a:bodyPr>
          <a:lstStyle/>
          <a:p>
            <a:pPr algn="l"/>
            <a:r>
              <a:rPr sz="2200" b="0" i="1" dirty="0">
                <a:solidFill>
                  <a:srgbClr val="0B2B4E"/>
                </a:solidFill>
                <a:latin typeface="Calibri"/>
              </a:rPr>
              <a:t>LMC</a:t>
            </a:r>
          </a:p>
        </p:txBody>
      </p:sp>
      <p:cxnSp>
        <p:nvCxnSpPr>
          <p:cNvPr id="18" name="C1_0"/>
          <p:cNvCxnSpPr>
            <a:cxnSpLocks/>
          </p:cNvCxnSpPr>
          <p:nvPr/>
        </p:nvCxnSpPr>
        <p:spPr>
          <a:xfrm>
            <a:off x="2666107" y="3749039"/>
            <a:ext cx="6182061" cy="0"/>
          </a:xfrm>
          <a:prstGeom prst="line">
            <a:avLst/>
          </a:prstGeom>
          <a:ln w="381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9" name="C1_1"/>
          <p:cNvSpPr txBox="1"/>
          <p:nvPr/>
        </p:nvSpPr>
        <p:spPr>
          <a:xfrm>
            <a:off x="9069057" y="3593591"/>
            <a:ext cx="1737360" cy="320040"/>
          </a:xfrm>
          <a:prstGeom prst="rect">
            <a:avLst/>
          </a:prstGeom>
          <a:noFill/>
        </p:spPr>
        <p:txBody>
          <a:bodyPr wrap="square" lIns="0" tIns="0" rIns="0" bIns="0" anchor="t">
            <a:spAutoFit/>
          </a:bodyPr>
          <a:lstStyle/>
          <a:p>
            <a:pPr algn="l"/>
            <a:r>
              <a:rPr sz="2200" b="0" i="1" dirty="0">
                <a:solidFill>
                  <a:srgbClr val="0B2B4E"/>
                </a:solidFill>
                <a:latin typeface="Calibri"/>
              </a:rPr>
              <a:t>MR=P</a:t>
            </a:r>
            <a:r>
              <a:rPr sz="1300" b="0" i="1" baseline="-25000" dirty="0">
                <a:solidFill>
                  <a:srgbClr val="0B2B4E"/>
                </a:solidFill>
                <a:latin typeface="Calibri"/>
              </a:rPr>
              <a:t>LR</a:t>
            </a:r>
          </a:p>
        </p:txBody>
      </p:sp>
      <p:sp>
        <p:nvSpPr>
          <p:cNvPr id="20" name="C1_2"/>
          <p:cNvSpPr txBox="1"/>
          <p:nvPr/>
        </p:nvSpPr>
        <p:spPr>
          <a:xfrm>
            <a:off x="1824858" y="3602735"/>
            <a:ext cx="731520" cy="292608"/>
          </a:xfrm>
          <a:prstGeom prst="rect">
            <a:avLst/>
          </a:prstGeom>
          <a:noFill/>
        </p:spPr>
        <p:txBody>
          <a:bodyPr wrap="square" lIns="0" tIns="0" rIns="0" bIns="0" anchor="t">
            <a:spAutoFit/>
          </a:bodyPr>
          <a:lstStyle/>
          <a:p>
            <a:pPr algn="r"/>
            <a:r>
              <a:rPr sz="1800" b="0" i="1">
                <a:solidFill>
                  <a:srgbClr val="0B2B4E"/>
                </a:solidFill>
                <a:latin typeface="Calibri"/>
              </a:rPr>
              <a:t>P</a:t>
            </a:r>
            <a:r>
              <a:rPr sz="1000" b="0" i="1" baseline="-25000">
                <a:solidFill>
                  <a:srgbClr val="0B2B4E"/>
                </a:solidFill>
                <a:latin typeface="Calibri"/>
              </a:rPr>
              <a:t>LR</a:t>
            </a:r>
          </a:p>
        </p:txBody>
      </p:sp>
      <p:cxnSp>
        <p:nvCxnSpPr>
          <p:cNvPr id="21" name="C1_3"/>
          <p:cNvCxnSpPr/>
          <p:nvPr/>
        </p:nvCxnSpPr>
        <p:spPr>
          <a:xfrm flipV="1">
            <a:off x="5278066" y="3749039"/>
            <a:ext cx="0" cy="1828801"/>
          </a:xfrm>
          <a:prstGeom prst="line">
            <a:avLst/>
          </a:prstGeom>
          <a:ln w="12700">
            <a:solidFill>
              <a:srgbClr val="606670"/>
            </a:solidFill>
            <a:prstDash val="dot"/>
          </a:ln>
          <a:effectLst/>
        </p:spPr>
        <p:style>
          <a:lnRef idx="2">
            <a:schemeClr val="accent1"/>
          </a:lnRef>
          <a:fillRef idx="0">
            <a:schemeClr val="accent1"/>
          </a:fillRef>
          <a:effectRef idx="1">
            <a:schemeClr val="accent1"/>
          </a:effectRef>
          <a:fontRef idx="minor">
            <a:schemeClr val="tx1"/>
          </a:fontRef>
        </p:style>
      </p:cxnSp>
      <p:sp>
        <p:nvSpPr>
          <p:cNvPr id="22" name="C1_4"/>
          <p:cNvSpPr txBox="1"/>
          <p:nvPr/>
        </p:nvSpPr>
        <p:spPr>
          <a:xfrm>
            <a:off x="5048928" y="5623559"/>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r>
              <a:rPr sz="1000" b="0" i="1" baseline="-25000" dirty="0">
                <a:solidFill>
                  <a:srgbClr val="0B2B4E"/>
                </a:solidFill>
                <a:latin typeface="Calibri"/>
              </a:rPr>
              <a:t>LR</a:t>
            </a:r>
          </a:p>
        </p:txBody>
      </p:sp>
      <p:cxnSp>
        <p:nvCxnSpPr>
          <p:cNvPr id="23" name="C2_0"/>
          <p:cNvCxnSpPr>
            <a:cxnSpLocks/>
          </p:cNvCxnSpPr>
          <p:nvPr/>
        </p:nvCxnSpPr>
        <p:spPr>
          <a:xfrm flipV="1">
            <a:off x="4094495" y="2365659"/>
            <a:ext cx="2234531" cy="2949641"/>
          </a:xfrm>
          <a:prstGeom prst="line">
            <a:avLst/>
          </a:prstGeom>
          <a:ln w="33020">
            <a:solidFill>
              <a:srgbClr val="222222"/>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C3_0"/>
          <p:cNvSpPr/>
          <p:nvPr/>
        </p:nvSpPr>
        <p:spPr>
          <a:xfrm>
            <a:off x="3799963" y="5990952"/>
            <a:ext cx="4714721" cy="472226"/>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i="0">
                <a:solidFill>
                  <a:srgbClr val="0B2B4E"/>
                </a:solidFill>
                <a:latin typeface="Calibri"/>
              </a:rPr>
              <a:t>At Q</a:t>
            </a:r>
            <a:r>
              <a:rPr sz="1200" b="0" i="0" baseline="-25000">
                <a:solidFill>
                  <a:srgbClr val="0B2B4E"/>
                </a:solidFill>
                <a:latin typeface="Calibri"/>
              </a:rPr>
              <a:t>LR</a:t>
            </a:r>
            <a:r>
              <a:rPr sz="2000" b="0" i="0">
                <a:solidFill>
                  <a:srgbClr val="0B2B4E"/>
                </a:solidFill>
                <a:latin typeface="Calibri"/>
              </a:rPr>
              <a:t>, P = LAC = LMC</a:t>
            </a:r>
          </a:p>
        </p:txBody>
      </p:sp>
      <p:cxnSp>
        <p:nvCxnSpPr>
          <p:cNvPr id="25" name="C4_0"/>
          <p:cNvCxnSpPr>
            <a:cxnSpLocks/>
          </p:cNvCxnSpPr>
          <p:nvPr/>
        </p:nvCxnSpPr>
        <p:spPr>
          <a:xfrm>
            <a:off x="2666107" y="2944368"/>
            <a:ext cx="6182061" cy="0"/>
          </a:xfrm>
          <a:prstGeom prst="line">
            <a:avLst/>
          </a:prstGeom>
          <a:ln w="3810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C4_1"/>
          <p:cNvSpPr txBox="1"/>
          <p:nvPr/>
        </p:nvSpPr>
        <p:spPr>
          <a:xfrm>
            <a:off x="9069057" y="2788920"/>
            <a:ext cx="1737360" cy="320040"/>
          </a:xfrm>
          <a:prstGeom prst="rect">
            <a:avLst/>
          </a:prstGeom>
          <a:noFill/>
        </p:spPr>
        <p:txBody>
          <a:bodyPr wrap="square" lIns="0" tIns="0" rIns="0" bIns="0" anchor="t">
            <a:spAutoFit/>
          </a:bodyPr>
          <a:lstStyle/>
          <a:p>
            <a:pPr algn="l"/>
            <a:r>
              <a:rPr sz="2200" b="0" i="1" dirty="0">
                <a:solidFill>
                  <a:srgbClr val="0B2B4E"/>
                </a:solidFill>
                <a:latin typeface="Calibri"/>
              </a:rPr>
              <a:t>MR=P</a:t>
            </a:r>
            <a:r>
              <a:rPr sz="1300" b="0" i="1" baseline="-25000" dirty="0">
                <a:solidFill>
                  <a:srgbClr val="0B2B4E"/>
                </a:solidFill>
                <a:latin typeface="Calibri"/>
              </a:rPr>
              <a:t>1</a:t>
            </a:r>
          </a:p>
        </p:txBody>
      </p:sp>
      <p:sp>
        <p:nvSpPr>
          <p:cNvPr id="27" name="C4_2"/>
          <p:cNvSpPr txBox="1"/>
          <p:nvPr/>
        </p:nvSpPr>
        <p:spPr>
          <a:xfrm>
            <a:off x="1824858" y="2798063"/>
            <a:ext cx="731520" cy="292608"/>
          </a:xfrm>
          <a:prstGeom prst="rect">
            <a:avLst/>
          </a:prstGeom>
          <a:noFill/>
        </p:spPr>
        <p:txBody>
          <a:bodyPr wrap="square" lIns="0" tIns="0" rIns="0" bIns="0" anchor="t">
            <a:spAutoFit/>
          </a:bodyPr>
          <a:lstStyle/>
          <a:p>
            <a:pPr algn="r"/>
            <a:r>
              <a:rPr sz="1800" b="0" i="1">
                <a:solidFill>
                  <a:srgbClr val="0B2B4E"/>
                </a:solidFill>
                <a:latin typeface="Calibri"/>
              </a:rPr>
              <a:t>P</a:t>
            </a:r>
            <a:r>
              <a:rPr sz="1000" b="0" i="1" baseline="-25000">
                <a:solidFill>
                  <a:srgbClr val="0B2B4E"/>
                </a:solidFill>
                <a:latin typeface="Calibri"/>
              </a:rPr>
              <a:t>1</a:t>
            </a:r>
          </a:p>
        </p:txBody>
      </p:sp>
      <p:cxnSp>
        <p:nvCxnSpPr>
          <p:cNvPr id="28" name="C4_3"/>
          <p:cNvCxnSpPr/>
          <p:nvPr/>
        </p:nvCxnSpPr>
        <p:spPr>
          <a:xfrm flipV="1">
            <a:off x="5870146" y="2944368"/>
            <a:ext cx="0" cy="2633472"/>
          </a:xfrm>
          <a:prstGeom prst="line">
            <a:avLst/>
          </a:prstGeom>
          <a:ln w="12700">
            <a:solidFill>
              <a:srgbClr val="606670"/>
            </a:solidFill>
            <a:prstDash val="dot"/>
          </a:ln>
          <a:effectLst/>
        </p:spPr>
        <p:style>
          <a:lnRef idx="2">
            <a:schemeClr val="accent1"/>
          </a:lnRef>
          <a:fillRef idx="0">
            <a:schemeClr val="accent1"/>
          </a:fillRef>
          <a:effectRef idx="1">
            <a:schemeClr val="accent1"/>
          </a:effectRef>
          <a:fontRef idx="minor">
            <a:schemeClr val="tx1"/>
          </a:fontRef>
        </p:style>
      </p:cxnSp>
      <p:sp>
        <p:nvSpPr>
          <p:cNvPr id="29" name="C4_4"/>
          <p:cNvSpPr txBox="1"/>
          <p:nvPr/>
        </p:nvSpPr>
        <p:spPr>
          <a:xfrm>
            <a:off x="5595826" y="5616281"/>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r>
              <a:rPr sz="1000" b="0" i="1" baseline="-25000" dirty="0">
                <a:solidFill>
                  <a:srgbClr val="0B2B4E"/>
                </a:solidFill>
                <a:latin typeface="Calibri"/>
              </a:rPr>
              <a:t>1</a:t>
            </a:r>
          </a:p>
        </p:txBody>
      </p:sp>
      <p:cxnSp>
        <p:nvCxnSpPr>
          <p:cNvPr id="30" name="C5_0"/>
          <p:cNvCxnSpPr>
            <a:cxnSpLocks/>
          </p:cNvCxnSpPr>
          <p:nvPr/>
        </p:nvCxnSpPr>
        <p:spPr>
          <a:xfrm>
            <a:off x="6412997" y="2961939"/>
            <a:ext cx="0" cy="777240"/>
          </a:xfrm>
          <a:prstGeom prst="line">
            <a:avLst/>
          </a:prstGeom>
          <a:ln w="88900">
            <a:solidFill>
              <a:srgbClr val="E9C4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C6_0"/>
          <p:cNvSpPr txBox="1"/>
          <p:nvPr/>
        </p:nvSpPr>
        <p:spPr>
          <a:xfrm>
            <a:off x="6559302" y="3383279"/>
            <a:ext cx="1280160" cy="320040"/>
          </a:xfrm>
          <a:prstGeom prst="rect">
            <a:avLst/>
          </a:prstGeom>
          <a:noFill/>
        </p:spPr>
        <p:txBody>
          <a:bodyPr wrap="square" lIns="0" tIns="0" rIns="0" bIns="0" anchor="t">
            <a:spAutoFit/>
          </a:bodyPr>
          <a:lstStyle/>
          <a:p>
            <a:pPr algn="l"/>
            <a:r>
              <a:rPr sz="1800" b="0" i="0">
                <a:solidFill>
                  <a:srgbClr val="0B2B4E"/>
                </a:solidFill>
                <a:latin typeface="Calibri"/>
              </a:rPr>
              <a:t>Entry</a:t>
            </a:r>
          </a:p>
        </p:txBody>
      </p:sp>
      <p:cxnSp>
        <p:nvCxnSpPr>
          <p:cNvPr id="32" name="C8_0"/>
          <p:cNvCxnSpPr>
            <a:cxnSpLocks/>
          </p:cNvCxnSpPr>
          <p:nvPr/>
        </p:nvCxnSpPr>
        <p:spPr>
          <a:xfrm>
            <a:off x="2666107" y="4407407"/>
            <a:ext cx="6182061" cy="0"/>
          </a:xfrm>
          <a:prstGeom prst="line">
            <a:avLst/>
          </a:prstGeom>
          <a:ln w="3810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33" name="C8_1"/>
          <p:cNvSpPr txBox="1"/>
          <p:nvPr/>
        </p:nvSpPr>
        <p:spPr>
          <a:xfrm>
            <a:off x="9069057" y="4251959"/>
            <a:ext cx="1737360" cy="320040"/>
          </a:xfrm>
          <a:prstGeom prst="rect">
            <a:avLst/>
          </a:prstGeom>
          <a:noFill/>
        </p:spPr>
        <p:txBody>
          <a:bodyPr wrap="square" lIns="0" tIns="0" rIns="0" bIns="0" anchor="t">
            <a:spAutoFit/>
          </a:bodyPr>
          <a:lstStyle/>
          <a:p>
            <a:pPr algn="l"/>
            <a:r>
              <a:rPr sz="2200" b="0" i="1">
                <a:solidFill>
                  <a:srgbClr val="0B2B4E"/>
                </a:solidFill>
                <a:latin typeface="Calibri"/>
              </a:rPr>
              <a:t>MR=P</a:t>
            </a:r>
            <a:r>
              <a:rPr sz="1300" b="0" i="1" baseline="-25000">
                <a:solidFill>
                  <a:srgbClr val="0B2B4E"/>
                </a:solidFill>
                <a:latin typeface="Calibri"/>
              </a:rPr>
              <a:t>2</a:t>
            </a:r>
          </a:p>
        </p:txBody>
      </p:sp>
      <p:sp>
        <p:nvSpPr>
          <p:cNvPr id="34" name="C8_2"/>
          <p:cNvSpPr txBox="1"/>
          <p:nvPr/>
        </p:nvSpPr>
        <p:spPr>
          <a:xfrm>
            <a:off x="1824858" y="4261103"/>
            <a:ext cx="731520" cy="292608"/>
          </a:xfrm>
          <a:prstGeom prst="rect">
            <a:avLst/>
          </a:prstGeom>
          <a:noFill/>
        </p:spPr>
        <p:txBody>
          <a:bodyPr wrap="square" lIns="0" tIns="0" rIns="0" bIns="0" anchor="t">
            <a:spAutoFit/>
          </a:bodyPr>
          <a:lstStyle/>
          <a:p>
            <a:pPr algn="r"/>
            <a:r>
              <a:rPr sz="1800" b="0" i="1">
                <a:solidFill>
                  <a:srgbClr val="0B2B4E"/>
                </a:solidFill>
                <a:latin typeface="Calibri"/>
              </a:rPr>
              <a:t>P</a:t>
            </a:r>
            <a:r>
              <a:rPr sz="1000" b="0" i="1" baseline="-25000">
                <a:solidFill>
                  <a:srgbClr val="0B2B4E"/>
                </a:solidFill>
                <a:latin typeface="Calibri"/>
              </a:rPr>
              <a:t>2</a:t>
            </a:r>
          </a:p>
        </p:txBody>
      </p:sp>
      <p:cxnSp>
        <p:nvCxnSpPr>
          <p:cNvPr id="35" name="C8_3"/>
          <p:cNvCxnSpPr/>
          <p:nvPr/>
        </p:nvCxnSpPr>
        <p:spPr>
          <a:xfrm flipV="1">
            <a:off x="4753696" y="4407407"/>
            <a:ext cx="0" cy="1170433"/>
          </a:xfrm>
          <a:prstGeom prst="line">
            <a:avLst/>
          </a:prstGeom>
          <a:ln w="12700">
            <a:solidFill>
              <a:srgbClr val="606670"/>
            </a:solidFill>
            <a:prstDash val="dot"/>
          </a:ln>
          <a:effectLst/>
        </p:spPr>
        <p:style>
          <a:lnRef idx="2">
            <a:schemeClr val="accent1"/>
          </a:lnRef>
          <a:fillRef idx="0">
            <a:schemeClr val="accent1"/>
          </a:fillRef>
          <a:effectRef idx="1">
            <a:schemeClr val="accent1"/>
          </a:effectRef>
          <a:fontRef idx="minor">
            <a:schemeClr val="tx1"/>
          </a:fontRef>
        </p:style>
      </p:cxnSp>
      <p:sp>
        <p:nvSpPr>
          <p:cNvPr id="36" name="C8_4"/>
          <p:cNvSpPr txBox="1"/>
          <p:nvPr/>
        </p:nvSpPr>
        <p:spPr>
          <a:xfrm>
            <a:off x="4506632" y="5623559"/>
            <a:ext cx="548640" cy="310896"/>
          </a:xfrm>
          <a:prstGeom prst="rect">
            <a:avLst/>
          </a:prstGeom>
          <a:noFill/>
        </p:spPr>
        <p:txBody>
          <a:bodyPr wrap="square" lIns="0" tIns="0" rIns="0" bIns="0" anchor="t">
            <a:spAutoFit/>
          </a:bodyPr>
          <a:lstStyle/>
          <a:p>
            <a:pPr algn="ctr"/>
            <a:r>
              <a:rPr sz="1800" b="0" i="1" dirty="0">
                <a:solidFill>
                  <a:srgbClr val="0B2B4E"/>
                </a:solidFill>
                <a:latin typeface="Calibri"/>
              </a:rPr>
              <a:t>Q</a:t>
            </a:r>
            <a:r>
              <a:rPr sz="1000" b="0" i="1" baseline="-25000" dirty="0">
                <a:solidFill>
                  <a:srgbClr val="0B2B4E"/>
                </a:solidFill>
                <a:latin typeface="Calibri"/>
              </a:rPr>
              <a:t>2</a:t>
            </a:r>
          </a:p>
        </p:txBody>
      </p:sp>
      <p:cxnSp>
        <p:nvCxnSpPr>
          <p:cNvPr id="37" name="C9_0"/>
          <p:cNvCxnSpPr>
            <a:cxnSpLocks/>
          </p:cNvCxnSpPr>
          <p:nvPr/>
        </p:nvCxnSpPr>
        <p:spPr>
          <a:xfrm flipV="1">
            <a:off x="4355059" y="3757109"/>
            <a:ext cx="0" cy="659621"/>
          </a:xfrm>
          <a:prstGeom prst="line">
            <a:avLst/>
          </a:prstGeom>
          <a:ln w="88900">
            <a:solidFill>
              <a:srgbClr val="E9C4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C10_0"/>
          <p:cNvSpPr txBox="1"/>
          <p:nvPr/>
        </p:nvSpPr>
        <p:spPr>
          <a:xfrm>
            <a:off x="3842995" y="3968496"/>
            <a:ext cx="1097280" cy="320040"/>
          </a:xfrm>
          <a:prstGeom prst="rect">
            <a:avLst/>
          </a:prstGeom>
          <a:noFill/>
        </p:spPr>
        <p:txBody>
          <a:bodyPr wrap="square" lIns="0" tIns="0" rIns="0" bIns="0" anchor="t">
            <a:spAutoFit/>
          </a:bodyPr>
          <a:lstStyle/>
          <a:p>
            <a:pPr algn="l"/>
            <a:r>
              <a:rPr sz="1800" b="0" i="0">
                <a:solidFill>
                  <a:srgbClr val="0B2B4E"/>
                </a:solidFill>
                <a:latin typeface="Calibri"/>
              </a:rPr>
              <a:t>Exit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 calcmode="lin" valueType="num">
                                      <p:cBhvr additive="base">
                                        <p:cTn id="28" dur="700" fill="hold"/>
                                        <p:tgtEl>
                                          <p:spTgt spid="25"/>
                                        </p:tgtEl>
                                        <p:attrNameLst>
                                          <p:attrName>style.opacity</p:attrName>
                                        </p:attrNameLst>
                                      </p:cBhvr>
                                      <p:tavLst>
                                        <p:tav tm="0">
                                          <p:val>
                                            <p:fltVal val="1"/>
                                          </p:val>
                                        </p:tav>
                                        <p:tav tm="100000">
                                          <p:val>
                                            <p:fltVal val="0"/>
                                          </p:val>
                                        </p:tav>
                                      </p:tavLst>
                                    </p:anim>
                                    <p:set>
                                      <p:cBhvr>
                                        <p:cTn id="29" dur="1" fill="hold">
                                          <p:stCondLst>
                                            <p:cond delay="700"/>
                                          </p:stCondLst>
                                        </p:cTn>
                                        <p:tgtEl>
                                          <p:spTgt spid="25"/>
                                        </p:tgtEl>
                                        <p:attrNameLst>
                                          <p:attrName>style.visibility</p:attrName>
                                        </p:attrNameLst>
                                      </p:cBhvr>
                                      <p:to>
                                        <p:strVal val="hidden"/>
                                      </p:to>
                                    </p:set>
                                  </p:childTnLst>
                                </p:cTn>
                              </p:par>
                              <p:par>
                                <p:cTn id="30" presetID="10" presetClass="exit" presetSubtype="0" fill="hold" nodeType="withEffect">
                                  <p:stCondLst>
                                    <p:cond delay="0"/>
                                  </p:stCondLst>
                                  <p:childTnLst>
                                    <p:anim calcmode="lin" valueType="num">
                                      <p:cBhvr additive="base">
                                        <p:cTn id="31" dur="700" fill="hold"/>
                                        <p:tgtEl>
                                          <p:spTgt spid="26"/>
                                        </p:tgtEl>
                                        <p:attrNameLst>
                                          <p:attrName>style.opacity</p:attrName>
                                        </p:attrNameLst>
                                      </p:cBhvr>
                                      <p:tavLst>
                                        <p:tav tm="0">
                                          <p:val>
                                            <p:fltVal val="1"/>
                                          </p:val>
                                        </p:tav>
                                        <p:tav tm="100000">
                                          <p:val>
                                            <p:fltVal val="0"/>
                                          </p:val>
                                        </p:tav>
                                      </p:tavLst>
                                    </p:anim>
                                    <p:set>
                                      <p:cBhvr>
                                        <p:cTn id="32" dur="1" fill="hold">
                                          <p:stCondLst>
                                            <p:cond delay="700"/>
                                          </p:stCondLst>
                                        </p:cTn>
                                        <p:tgtEl>
                                          <p:spTgt spid="26"/>
                                        </p:tgtEl>
                                        <p:attrNameLst>
                                          <p:attrName>style.visibility</p:attrName>
                                        </p:attrNameLst>
                                      </p:cBhvr>
                                      <p:to>
                                        <p:strVal val="hidden"/>
                                      </p:to>
                                    </p:set>
                                  </p:childTnLst>
                                </p:cTn>
                              </p:par>
                              <p:par>
                                <p:cTn id="33" presetID="10" presetClass="exit" presetSubtype="0" fill="hold" nodeType="withEffect">
                                  <p:stCondLst>
                                    <p:cond delay="0"/>
                                  </p:stCondLst>
                                  <p:childTnLst>
                                    <p:anim calcmode="lin" valueType="num">
                                      <p:cBhvr additive="base">
                                        <p:cTn id="34" dur="700" fill="hold"/>
                                        <p:tgtEl>
                                          <p:spTgt spid="27"/>
                                        </p:tgtEl>
                                        <p:attrNameLst>
                                          <p:attrName>style.opacity</p:attrName>
                                        </p:attrNameLst>
                                      </p:cBhvr>
                                      <p:tavLst>
                                        <p:tav tm="0">
                                          <p:val>
                                            <p:fltVal val="1"/>
                                          </p:val>
                                        </p:tav>
                                        <p:tav tm="100000">
                                          <p:val>
                                            <p:fltVal val="0"/>
                                          </p:val>
                                        </p:tav>
                                      </p:tavLst>
                                    </p:anim>
                                    <p:set>
                                      <p:cBhvr>
                                        <p:cTn id="35" dur="1" fill="hold">
                                          <p:stCondLst>
                                            <p:cond delay="700"/>
                                          </p:stCondLst>
                                        </p:cTn>
                                        <p:tgtEl>
                                          <p:spTgt spid="27"/>
                                        </p:tgtEl>
                                        <p:attrNameLst>
                                          <p:attrName>style.visibility</p:attrName>
                                        </p:attrNameLst>
                                      </p:cBhvr>
                                      <p:to>
                                        <p:strVal val="hidden"/>
                                      </p:to>
                                    </p:set>
                                  </p:childTnLst>
                                </p:cTn>
                              </p:par>
                              <p:par>
                                <p:cTn id="36" presetID="10" presetClass="exit" presetSubtype="0" fill="hold" nodeType="withEffect">
                                  <p:stCondLst>
                                    <p:cond delay="0"/>
                                  </p:stCondLst>
                                  <p:childTnLst>
                                    <p:anim calcmode="lin" valueType="num">
                                      <p:cBhvr additive="base">
                                        <p:cTn id="37" dur="700" fill="hold"/>
                                        <p:tgtEl>
                                          <p:spTgt spid="28"/>
                                        </p:tgtEl>
                                        <p:attrNameLst>
                                          <p:attrName>style.opacity</p:attrName>
                                        </p:attrNameLst>
                                      </p:cBhvr>
                                      <p:tavLst>
                                        <p:tav tm="0">
                                          <p:val>
                                            <p:fltVal val="1"/>
                                          </p:val>
                                        </p:tav>
                                        <p:tav tm="100000">
                                          <p:val>
                                            <p:fltVal val="0"/>
                                          </p:val>
                                        </p:tav>
                                      </p:tavLst>
                                    </p:anim>
                                    <p:set>
                                      <p:cBhvr>
                                        <p:cTn id="38" dur="1" fill="hold">
                                          <p:stCondLst>
                                            <p:cond delay="700"/>
                                          </p:stCondLst>
                                        </p:cTn>
                                        <p:tgtEl>
                                          <p:spTgt spid="28"/>
                                        </p:tgtEl>
                                        <p:attrNameLst>
                                          <p:attrName>style.visibility</p:attrName>
                                        </p:attrNameLst>
                                      </p:cBhvr>
                                      <p:to>
                                        <p:strVal val="hidden"/>
                                      </p:to>
                                    </p:set>
                                  </p:childTnLst>
                                </p:cTn>
                              </p:par>
                              <p:par>
                                <p:cTn id="39" presetID="10" presetClass="exit" presetSubtype="0" fill="hold" nodeType="withEffect">
                                  <p:stCondLst>
                                    <p:cond delay="0"/>
                                  </p:stCondLst>
                                  <p:childTnLst>
                                    <p:anim calcmode="lin" valueType="num">
                                      <p:cBhvr additive="base">
                                        <p:cTn id="40" dur="700" fill="hold"/>
                                        <p:tgtEl>
                                          <p:spTgt spid="30"/>
                                        </p:tgtEl>
                                        <p:attrNameLst>
                                          <p:attrName>style.opacity</p:attrName>
                                        </p:attrNameLst>
                                      </p:cBhvr>
                                      <p:tavLst>
                                        <p:tav tm="0">
                                          <p:val>
                                            <p:fltVal val="1"/>
                                          </p:val>
                                        </p:tav>
                                        <p:tav tm="100000">
                                          <p:val>
                                            <p:fltVal val="0"/>
                                          </p:val>
                                        </p:tav>
                                      </p:tavLst>
                                    </p:anim>
                                    <p:set>
                                      <p:cBhvr>
                                        <p:cTn id="41" dur="1" fill="hold">
                                          <p:stCondLst>
                                            <p:cond delay="700"/>
                                          </p:stCondLst>
                                        </p:cTn>
                                        <p:tgtEl>
                                          <p:spTgt spid="30"/>
                                        </p:tgtEl>
                                        <p:attrNameLst>
                                          <p:attrName>style.visibility</p:attrName>
                                        </p:attrNameLst>
                                      </p:cBhvr>
                                      <p:to>
                                        <p:strVal val="hidden"/>
                                      </p:to>
                                    </p:set>
                                  </p:childTnLst>
                                </p:cTn>
                              </p:par>
                              <p:par>
                                <p:cTn id="42" presetID="10" presetClass="exit" presetSubtype="0" fill="hold" nodeType="withEffect">
                                  <p:stCondLst>
                                    <p:cond delay="0"/>
                                  </p:stCondLst>
                                  <p:childTnLst>
                                    <p:anim calcmode="lin" valueType="num">
                                      <p:cBhvr additive="base">
                                        <p:cTn id="43" dur="700" fill="hold"/>
                                        <p:tgtEl>
                                          <p:spTgt spid="31"/>
                                        </p:tgtEl>
                                        <p:attrNameLst>
                                          <p:attrName>style.opacity</p:attrName>
                                        </p:attrNameLst>
                                      </p:cBhvr>
                                      <p:tavLst>
                                        <p:tav tm="0">
                                          <p:val>
                                            <p:fltVal val="1"/>
                                          </p:val>
                                        </p:tav>
                                        <p:tav tm="100000">
                                          <p:val>
                                            <p:fltVal val="0"/>
                                          </p:val>
                                        </p:tav>
                                      </p:tavLst>
                                    </p:anim>
                                    <p:set>
                                      <p:cBhvr>
                                        <p:cTn id="44" dur="1" fill="hold">
                                          <p:stCondLst>
                                            <p:cond delay="700"/>
                                          </p:stCondLst>
                                        </p:cTn>
                                        <p:tgtEl>
                                          <p:spTgt spid="31"/>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29"/>
                                        </p:tgtEl>
                                      </p:cBhvr>
                                    </p:animEffect>
                                    <p:set>
                                      <p:cBhvr>
                                        <p:cTn id="47" dur="1" fill="hold">
                                          <p:stCondLst>
                                            <p:cond delay="499"/>
                                          </p:stCondLst>
                                        </p:cTn>
                                        <p:tgtEl>
                                          <p:spTgt spid="29"/>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7"/>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 calcmode="lin" valueType="num">
                                      <p:cBhvr additive="base">
                                        <p:cTn id="69" dur="700" fill="hold"/>
                                        <p:tgtEl>
                                          <p:spTgt spid="32"/>
                                        </p:tgtEl>
                                        <p:attrNameLst>
                                          <p:attrName>style.opacity</p:attrName>
                                        </p:attrNameLst>
                                      </p:cBhvr>
                                      <p:tavLst>
                                        <p:tav tm="0">
                                          <p:val>
                                            <p:fltVal val="1"/>
                                          </p:val>
                                        </p:tav>
                                        <p:tav tm="100000">
                                          <p:val>
                                            <p:fltVal val="0"/>
                                          </p:val>
                                        </p:tav>
                                      </p:tavLst>
                                    </p:anim>
                                    <p:set>
                                      <p:cBhvr>
                                        <p:cTn id="70" dur="1" fill="hold">
                                          <p:stCondLst>
                                            <p:cond delay="700"/>
                                          </p:stCondLst>
                                        </p:cTn>
                                        <p:tgtEl>
                                          <p:spTgt spid="32"/>
                                        </p:tgtEl>
                                        <p:attrNameLst>
                                          <p:attrName>style.visibility</p:attrName>
                                        </p:attrNameLst>
                                      </p:cBhvr>
                                      <p:to>
                                        <p:strVal val="hidden"/>
                                      </p:to>
                                    </p:set>
                                  </p:childTnLst>
                                </p:cTn>
                              </p:par>
                              <p:par>
                                <p:cTn id="71" presetID="10" presetClass="exit" presetSubtype="0" fill="hold" nodeType="withEffect">
                                  <p:stCondLst>
                                    <p:cond delay="0"/>
                                  </p:stCondLst>
                                  <p:childTnLst>
                                    <p:anim calcmode="lin" valueType="num">
                                      <p:cBhvr additive="base">
                                        <p:cTn id="72" dur="700" fill="hold"/>
                                        <p:tgtEl>
                                          <p:spTgt spid="33"/>
                                        </p:tgtEl>
                                        <p:attrNameLst>
                                          <p:attrName>style.opacity</p:attrName>
                                        </p:attrNameLst>
                                      </p:cBhvr>
                                      <p:tavLst>
                                        <p:tav tm="0">
                                          <p:val>
                                            <p:fltVal val="1"/>
                                          </p:val>
                                        </p:tav>
                                        <p:tav tm="100000">
                                          <p:val>
                                            <p:fltVal val="0"/>
                                          </p:val>
                                        </p:tav>
                                      </p:tavLst>
                                    </p:anim>
                                    <p:set>
                                      <p:cBhvr>
                                        <p:cTn id="73" dur="1" fill="hold">
                                          <p:stCondLst>
                                            <p:cond delay="700"/>
                                          </p:stCondLst>
                                        </p:cTn>
                                        <p:tgtEl>
                                          <p:spTgt spid="33"/>
                                        </p:tgtEl>
                                        <p:attrNameLst>
                                          <p:attrName>style.visibility</p:attrName>
                                        </p:attrNameLst>
                                      </p:cBhvr>
                                      <p:to>
                                        <p:strVal val="hidden"/>
                                      </p:to>
                                    </p:set>
                                  </p:childTnLst>
                                </p:cTn>
                              </p:par>
                              <p:par>
                                <p:cTn id="74" presetID="10" presetClass="exit" presetSubtype="0" fill="hold" nodeType="withEffect">
                                  <p:stCondLst>
                                    <p:cond delay="0"/>
                                  </p:stCondLst>
                                  <p:childTnLst>
                                    <p:anim calcmode="lin" valueType="num">
                                      <p:cBhvr additive="base">
                                        <p:cTn id="75" dur="700" fill="hold"/>
                                        <p:tgtEl>
                                          <p:spTgt spid="34"/>
                                        </p:tgtEl>
                                        <p:attrNameLst>
                                          <p:attrName>style.opacity</p:attrName>
                                        </p:attrNameLst>
                                      </p:cBhvr>
                                      <p:tavLst>
                                        <p:tav tm="0">
                                          <p:val>
                                            <p:fltVal val="1"/>
                                          </p:val>
                                        </p:tav>
                                        <p:tav tm="100000">
                                          <p:val>
                                            <p:fltVal val="0"/>
                                          </p:val>
                                        </p:tav>
                                      </p:tavLst>
                                    </p:anim>
                                    <p:set>
                                      <p:cBhvr>
                                        <p:cTn id="76" dur="1" fill="hold">
                                          <p:stCondLst>
                                            <p:cond delay="700"/>
                                          </p:stCondLst>
                                        </p:cTn>
                                        <p:tgtEl>
                                          <p:spTgt spid="34"/>
                                        </p:tgtEl>
                                        <p:attrNameLst>
                                          <p:attrName>style.visibility</p:attrName>
                                        </p:attrNameLst>
                                      </p:cBhvr>
                                      <p:to>
                                        <p:strVal val="hidden"/>
                                      </p:to>
                                    </p:set>
                                  </p:childTnLst>
                                </p:cTn>
                              </p:par>
                              <p:par>
                                <p:cTn id="77" presetID="10" presetClass="exit" presetSubtype="0" fill="hold" nodeType="withEffect">
                                  <p:stCondLst>
                                    <p:cond delay="0"/>
                                  </p:stCondLst>
                                  <p:childTnLst>
                                    <p:anim calcmode="lin" valueType="num">
                                      <p:cBhvr additive="base">
                                        <p:cTn id="78" dur="700" fill="hold"/>
                                        <p:tgtEl>
                                          <p:spTgt spid="35"/>
                                        </p:tgtEl>
                                        <p:attrNameLst>
                                          <p:attrName>style.opacity</p:attrName>
                                        </p:attrNameLst>
                                      </p:cBhvr>
                                      <p:tavLst>
                                        <p:tav tm="0">
                                          <p:val>
                                            <p:fltVal val="1"/>
                                          </p:val>
                                        </p:tav>
                                        <p:tav tm="100000">
                                          <p:val>
                                            <p:fltVal val="0"/>
                                          </p:val>
                                        </p:tav>
                                      </p:tavLst>
                                    </p:anim>
                                    <p:set>
                                      <p:cBhvr>
                                        <p:cTn id="79" dur="1" fill="hold">
                                          <p:stCondLst>
                                            <p:cond delay="700"/>
                                          </p:stCondLst>
                                        </p:cTn>
                                        <p:tgtEl>
                                          <p:spTgt spid="35"/>
                                        </p:tgtEl>
                                        <p:attrNameLst>
                                          <p:attrName>style.visibility</p:attrName>
                                        </p:attrNameLst>
                                      </p:cBhvr>
                                      <p:to>
                                        <p:strVal val="hidden"/>
                                      </p:to>
                                    </p:set>
                                  </p:childTnLst>
                                </p:cTn>
                              </p:par>
                              <p:par>
                                <p:cTn id="80" presetID="10" presetClass="exit" presetSubtype="0" fill="hold" nodeType="withEffect">
                                  <p:stCondLst>
                                    <p:cond delay="0"/>
                                  </p:stCondLst>
                                  <p:childTnLst>
                                    <p:anim calcmode="lin" valueType="num">
                                      <p:cBhvr additive="base">
                                        <p:cTn id="81" dur="700" fill="hold"/>
                                        <p:tgtEl>
                                          <p:spTgt spid="36"/>
                                        </p:tgtEl>
                                        <p:attrNameLst>
                                          <p:attrName>style.opacity</p:attrName>
                                        </p:attrNameLst>
                                      </p:cBhvr>
                                      <p:tavLst>
                                        <p:tav tm="0">
                                          <p:val>
                                            <p:fltVal val="1"/>
                                          </p:val>
                                        </p:tav>
                                        <p:tav tm="100000">
                                          <p:val>
                                            <p:fltVal val="0"/>
                                          </p:val>
                                        </p:tav>
                                      </p:tavLst>
                                    </p:anim>
                                    <p:set>
                                      <p:cBhvr>
                                        <p:cTn id="82" dur="1" fill="hold">
                                          <p:stCondLst>
                                            <p:cond delay="700"/>
                                          </p:stCondLst>
                                        </p:cTn>
                                        <p:tgtEl>
                                          <p:spTgt spid="36"/>
                                        </p:tgtEl>
                                        <p:attrNameLst>
                                          <p:attrName>style.visibility</p:attrName>
                                        </p:attrNameLst>
                                      </p:cBhvr>
                                      <p:to>
                                        <p:strVal val="hidden"/>
                                      </p:to>
                                    </p:set>
                                  </p:childTnLst>
                                </p:cTn>
                              </p:par>
                              <p:par>
                                <p:cTn id="83" presetID="10" presetClass="exit" presetSubtype="0" fill="hold" nodeType="withEffect">
                                  <p:stCondLst>
                                    <p:cond delay="0"/>
                                  </p:stCondLst>
                                  <p:childTnLst>
                                    <p:anim calcmode="lin" valueType="num">
                                      <p:cBhvr additive="base">
                                        <p:cTn id="84" dur="700" fill="hold"/>
                                        <p:tgtEl>
                                          <p:spTgt spid="37"/>
                                        </p:tgtEl>
                                        <p:attrNameLst>
                                          <p:attrName>style.opacity</p:attrName>
                                        </p:attrNameLst>
                                      </p:cBhvr>
                                      <p:tavLst>
                                        <p:tav tm="0">
                                          <p:val>
                                            <p:fltVal val="1"/>
                                          </p:val>
                                        </p:tav>
                                        <p:tav tm="100000">
                                          <p:val>
                                            <p:fltVal val="0"/>
                                          </p:val>
                                        </p:tav>
                                      </p:tavLst>
                                    </p:anim>
                                    <p:set>
                                      <p:cBhvr>
                                        <p:cTn id="85" dur="1" fill="hold">
                                          <p:stCondLst>
                                            <p:cond delay="700"/>
                                          </p:stCondLst>
                                        </p:cTn>
                                        <p:tgtEl>
                                          <p:spTgt spid="37"/>
                                        </p:tgtEl>
                                        <p:attrNameLst>
                                          <p:attrName>style.visibility</p:attrName>
                                        </p:attrNameLst>
                                      </p:cBhvr>
                                      <p:to>
                                        <p:strVal val="hidden"/>
                                      </p:to>
                                    </p:set>
                                  </p:childTnLst>
                                </p:cTn>
                              </p:par>
                              <p:par>
                                <p:cTn id="86" presetID="10" presetClass="exit" presetSubtype="0" fill="hold" nodeType="withEffect">
                                  <p:stCondLst>
                                    <p:cond delay="0"/>
                                  </p:stCondLst>
                                  <p:childTnLst>
                                    <p:anim calcmode="lin" valueType="num">
                                      <p:cBhvr additive="base">
                                        <p:cTn id="87" dur="700" fill="hold"/>
                                        <p:tgtEl>
                                          <p:spTgt spid="38"/>
                                        </p:tgtEl>
                                        <p:attrNameLst>
                                          <p:attrName>style.opacity</p:attrName>
                                        </p:attrNameLst>
                                      </p:cBhvr>
                                      <p:tavLst>
                                        <p:tav tm="0">
                                          <p:val>
                                            <p:fltVal val="1"/>
                                          </p:val>
                                        </p:tav>
                                        <p:tav tm="100000">
                                          <p:val>
                                            <p:fltVal val="0"/>
                                          </p:val>
                                        </p:tav>
                                      </p:tavLst>
                                    </p:anim>
                                    <p:set>
                                      <p:cBhvr>
                                        <p:cTn id="88" dur="1" fill="hold">
                                          <p:stCondLst>
                                            <p:cond delay="70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Long-Run Equilibrium</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Long Run Equilibrium: Drug Market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44</a:t>
            </a:r>
          </a:p>
        </p:txBody>
      </p:sp>
      <p:sp>
        <p:nvSpPr>
          <p:cNvPr id="10" name="G1_0"/>
          <p:cNvSpPr txBox="1"/>
          <p:nvPr/>
        </p:nvSpPr>
        <p:spPr>
          <a:xfrm>
            <a:off x="640080" y="1481328"/>
            <a:ext cx="10972800" cy="754053"/>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Can we use our toolbox to analyze the drug market?</a:t>
            </a:r>
          </a:p>
          <a:p>
            <a:pPr marL="603504" indent="-603504">
              <a:spcAft>
                <a:spcPts val="0"/>
              </a:spcAft>
              <a:buClr>
                <a:srgbClr val="555B66"/>
              </a:buClr>
              <a:buSzPct val="100000"/>
              <a:buFont typeface="Calibri"/>
              <a:buChar char="–"/>
            </a:pPr>
            <a:r>
              <a:rPr sz="2000" b="0" i="0" dirty="0">
                <a:solidFill>
                  <a:schemeClr val="tx1">
                    <a:lumMod val="65000"/>
                    <a:lumOff val="35000"/>
                  </a:schemeClr>
                </a:solidFill>
                <a:latin typeface="Calibri"/>
              </a:rPr>
              <a:t>Assume: individual drug dealers are price takers</a:t>
            </a:r>
          </a:p>
        </p:txBody>
      </p:sp>
      <p:sp>
        <p:nvSpPr>
          <p:cNvPr id="11" name="G2_0"/>
          <p:cNvSpPr txBox="1"/>
          <p:nvPr/>
        </p:nvSpPr>
        <p:spPr>
          <a:xfrm>
            <a:off x="640080" y="3154680"/>
            <a:ext cx="11155680" cy="1161857"/>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Suppose that the government has two options to tackle the drug problem:</a:t>
            </a:r>
          </a:p>
          <a:p>
            <a:pPr marL="411480" indent="-411480">
              <a:spcAft>
                <a:spcPts val="300"/>
              </a:spcAft>
            </a:pPr>
            <a:r>
              <a:rPr sz="2200" b="1" i="0" dirty="0">
                <a:solidFill>
                  <a:srgbClr val="2E6DB5"/>
                </a:solidFill>
                <a:latin typeface="Calibri"/>
              </a:rPr>
              <a:t>1.   </a:t>
            </a:r>
            <a:r>
              <a:rPr sz="2200" b="0" i="0" dirty="0">
                <a:solidFill>
                  <a:schemeClr val="tx1">
                    <a:lumMod val="65000"/>
                    <a:lumOff val="35000"/>
                  </a:schemeClr>
                </a:solidFill>
                <a:latin typeface="Calibri"/>
              </a:rPr>
              <a:t>Arrest drug dealers (one time)</a:t>
            </a:r>
          </a:p>
          <a:p>
            <a:pPr marL="411480" indent="-411480">
              <a:spcAft>
                <a:spcPts val="0"/>
              </a:spcAft>
            </a:pPr>
            <a:r>
              <a:rPr sz="2200" b="1" i="0" dirty="0">
                <a:solidFill>
                  <a:srgbClr val="2E6DB5"/>
                </a:solidFill>
                <a:latin typeface="Calibri"/>
              </a:rPr>
              <a:t>2.   </a:t>
            </a:r>
            <a:r>
              <a:rPr sz="2200" b="0" i="0" dirty="0">
                <a:solidFill>
                  <a:schemeClr val="tx1">
                    <a:lumMod val="65000"/>
                    <a:lumOff val="35000"/>
                  </a:schemeClr>
                </a:solidFill>
                <a:latin typeface="Calibri"/>
              </a:rPr>
              <a:t>Arrest / punish drug users (one time)</a:t>
            </a:r>
          </a:p>
        </p:txBody>
      </p:sp>
      <p:sp>
        <p:nvSpPr>
          <p:cNvPr id="12" name="G3_0"/>
          <p:cNvSpPr txBox="1"/>
          <p:nvPr/>
        </p:nvSpPr>
        <p:spPr>
          <a:xfrm>
            <a:off x="640080" y="5349240"/>
            <a:ext cx="10972800" cy="10058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a:solidFill>
                  <a:srgbClr val="0B2B4E"/>
                </a:solidFill>
                <a:latin typeface="Calibri"/>
              </a:rPr>
              <a:t>Which policy is more promising if the aim is to eradicate drugs?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Long-Run Equilibrium</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Comparison of Effects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45</a:t>
            </a:r>
          </a:p>
        </p:txBody>
      </p:sp>
      <p:sp>
        <p:nvSpPr>
          <p:cNvPr id="10" name="L_0"/>
          <p:cNvSpPr txBox="1"/>
          <p:nvPr/>
        </p:nvSpPr>
        <p:spPr>
          <a:xfrm>
            <a:off x="640080" y="1737360"/>
            <a:ext cx="5486400" cy="411480"/>
          </a:xfrm>
          <a:prstGeom prst="rect">
            <a:avLst/>
          </a:prstGeom>
          <a:noFill/>
        </p:spPr>
        <p:txBody>
          <a:bodyPr wrap="square" lIns="0" tIns="0" rIns="0" bIns="0" anchor="t">
            <a:spAutoFit/>
          </a:bodyPr>
          <a:lstStyle/>
          <a:p>
            <a:r>
              <a:rPr sz="2400" b="1" i="0">
                <a:solidFill>
                  <a:srgbClr val="0B2B4E"/>
                </a:solidFill>
                <a:latin typeface="Calibri"/>
              </a:rPr>
              <a:t>Arrest drug dealers</a:t>
            </a:r>
          </a:p>
        </p:txBody>
      </p:sp>
      <p:sp>
        <p:nvSpPr>
          <p:cNvPr id="11" name="L_1"/>
          <p:cNvSpPr txBox="1"/>
          <p:nvPr/>
        </p:nvSpPr>
        <p:spPr>
          <a:xfrm>
            <a:off x="914400" y="2331720"/>
            <a:ext cx="5486400" cy="1949252"/>
          </a:xfrm>
          <a:prstGeom prst="rect">
            <a:avLst/>
          </a:prstGeom>
          <a:noFill/>
        </p:spPr>
        <p:txBody>
          <a:bodyPr wrap="square" lIns="0" tIns="0" rIns="0" bIns="0" anchor="t">
            <a:spAutoFit/>
          </a:bodyPr>
          <a:lstStyle/>
          <a:p>
            <a:pPr marL="411480" indent="-411480">
              <a:spcAft>
                <a:spcPts val="500"/>
              </a:spcAft>
            </a:pPr>
            <a:r>
              <a:rPr sz="2200" b="0" i="0" dirty="0">
                <a:solidFill>
                  <a:schemeClr val="tx1">
                    <a:lumMod val="65000"/>
                    <a:lumOff val="35000"/>
                  </a:schemeClr>
                </a:solidFill>
                <a:latin typeface="Calibri"/>
              </a:rPr>
              <a:t>1. Supply declines</a:t>
            </a:r>
          </a:p>
          <a:p>
            <a:pPr marL="411480" indent="-411480">
              <a:spcAft>
                <a:spcPts val="500"/>
              </a:spcAft>
            </a:pPr>
            <a:r>
              <a:rPr sz="2200" b="0" i="0" dirty="0">
                <a:solidFill>
                  <a:schemeClr val="tx1">
                    <a:lumMod val="65000"/>
                    <a:lumOff val="35000"/>
                  </a:schemeClr>
                </a:solidFill>
                <a:latin typeface="Calibri"/>
              </a:rPr>
              <a:t>2. Market price goes up</a:t>
            </a:r>
          </a:p>
          <a:p>
            <a:pPr marL="411480" indent="-411480">
              <a:spcAft>
                <a:spcPts val="500"/>
              </a:spcAft>
            </a:pPr>
            <a:r>
              <a:rPr sz="2200" b="0" i="0" dirty="0">
                <a:solidFill>
                  <a:schemeClr val="tx1">
                    <a:lumMod val="65000"/>
                    <a:lumOff val="35000"/>
                  </a:schemeClr>
                </a:solidFill>
                <a:latin typeface="Calibri"/>
              </a:rPr>
              <a:t>3. Dealers make profits</a:t>
            </a:r>
          </a:p>
          <a:p>
            <a:pPr marL="411480" indent="-411480">
              <a:spcAft>
                <a:spcPts val="500"/>
              </a:spcAft>
            </a:pPr>
            <a:r>
              <a:rPr sz="2200" b="0" i="0" dirty="0">
                <a:solidFill>
                  <a:schemeClr val="tx1">
                    <a:lumMod val="65000"/>
                    <a:lumOff val="35000"/>
                  </a:schemeClr>
                </a:solidFill>
                <a:latin typeface="Calibri"/>
              </a:rPr>
              <a:t>4. New dealers enter</a:t>
            </a:r>
          </a:p>
          <a:p>
            <a:pPr marL="411480" indent="-411480">
              <a:spcAft>
                <a:spcPts val="500"/>
              </a:spcAft>
            </a:pPr>
            <a:r>
              <a:rPr sz="2200" b="0" i="0" dirty="0">
                <a:solidFill>
                  <a:schemeClr val="tx1">
                    <a:lumMod val="65000"/>
                    <a:lumOff val="35000"/>
                  </a:schemeClr>
                </a:solidFill>
                <a:latin typeface="Calibri"/>
              </a:rPr>
              <a:t>5. Go back to the old equilibrium</a:t>
            </a:r>
          </a:p>
        </p:txBody>
      </p:sp>
      <p:sp>
        <p:nvSpPr>
          <p:cNvPr id="12" name="R_0"/>
          <p:cNvSpPr txBox="1"/>
          <p:nvPr/>
        </p:nvSpPr>
        <p:spPr>
          <a:xfrm>
            <a:off x="6309360" y="1737360"/>
            <a:ext cx="5486400" cy="411480"/>
          </a:xfrm>
          <a:prstGeom prst="rect">
            <a:avLst/>
          </a:prstGeom>
          <a:noFill/>
        </p:spPr>
        <p:txBody>
          <a:bodyPr wrap="square" lIns="0" tIns="0" rIns="0" bIns="0" anchor="t">
            <a:spAutoFit/>
          </a:bodyPr>
          <a:lstStyle/>
          <a:p>
            <a:r>
              <a:rPr sz="2400" b="1" i="0">
                <a:solidFill>
                  <a:srgbClr val="0B2B4E"/>
                </a:solidFill>
                <a:latin typeface="Calibri"/>
              </a:rPr>
              <a:t>Deter consumers</a:t>
            </a:r>
          </a:p>
        </p:txBody>
      </p:sp>
      <p:sp>
        <p:nvSpPr>
          <p:cNvPr id="13" name="R_1"/>
          <p:cNvSpPr txBox="1"/>
          <p:nvPr/>
        </p:nvSpPr>
        <p:spPr>
          <a:xfrm>
            <a:off x="6583680" y="2331720"/>
            <a:ext cx="5486400" cy="1949252"/>
          </a:xfrm>
          <a:prstGeom prst="rect">
            <a:avLst/>
          </a:prstGeom>
          <a:noFill/>
        </p:spPr>
        <p:txBody>
          <a:bodyPr wrap="square" lIns="0" tIns="0" rIns="0" bIns="0" anchor="t">
            <a:spAutoFit/>
          </a:bodyPr>
          <a:lstStyle/>
          <a:p>
            <a:pPr marL="411480" indent="-411480">
              <a:spcAft>
                <a:spcPts val="500"/>
              </a:spcAft>
            </a:pPr>
            <a:r>
              <a:rPr sz="2200" b="0" i="0" dirty="0">
                <a:solidFill>
                  <a:schemeClr val="tx1">
                    <a:lumMod val="65000"/>
                    <a:lumOff val="35000"/>
                  </a:schemeClr>
                </a:solidFill>
                <a:latin typeface="Calibri"/>
              </a:rPr>
              <a:t>1. Demand declines</a:t>
            </a:r>
          </a:p>
          <a:p>
            <a:pPr marL="411480" indent="-411480">
              <a:spcAft>
                <a:spcPts val="500"/>
              </a:spcAft>
            </a:pPr>
            <a:r>
              <a:rPr sz="2200" b="0" i="0" dirty="0">
                <a:solidFill>
                  <a:schemeClr val="tx1">
                    <a:lumMod val="65000"/>
                    <a:lumOff val="35000"/>
                  </a:schemeClr>
                </a:solidFill>
                <a:latin typeface="Calibri"/>
              </a:rPr>
              <a:t>2. Market price goes down</a:t>
            </a:r>
          </a:p>
          <a:p>
            <a:pPr marL="411480" indent="-411480">
              <a:spcAft>
                <a:spcPts val="500"/>
              </a:spcAft>
            </a:pPr>
            <a:r>
              <a:rPr sz="2200" b="0" i="0" dirty="0">
                <a:solidFill>
                  <a:schemeClr val="tx1">
                    <a:lumMod val="65000"/>
                    <a:lumOff val="35000"/>
                  </a:schemeClr>
                </a:solidFill>
                <a:latin typeface="Calibri"/>
              </a:rPr>
              <a:t>3. Dealers make losses</a:t>
            </a:r>
          </a:p>
          <a:p>
            <a:pPr marL="411480" indent="-411480">
              <a:spcAft>
                <a:spcPts val="500"/>
              </a:spcAft>
            </a:pPr>
            <a:r>
              <a:rPr sz="2200" b="0" i="0" dirty="0">
                <a:solidFill>
                  <a:schemeClr val="tx1">
                    <a:lumMod val="65000"/>
                    <a:lumOff val="35000"/>
                  </a:schemeClr>
                </a:solidFill>
                <a:latin typeface="Calibri"/>
              </a:rPr>
              <a:t>4. Dealers exit</a:t>
            </a:r>
          </a:p>
          <a:p>
            <a:pPr marL="411480" indent="-411480">
              <a:spcAft>
                <a:spcPts val="500"/>
              </a:spcAft>
            </a:pPr>
            <a:r>
              <a:rPr sz="2200" b="0" i="0" dirty="0">
                <a:solidFill>
                  <a:schemeClr val="tx1">
                    <a:lumMod val="65000"/>
                    <a:lumOff val="35000"/>
                  </a:schemeClr>
                </a:solidFill>
                <a:latin typeface="Calibri"/>
              </a:rPr>
              <a:t>5. New equilibrium with lower quantity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a:t>
            </a:r>
            <a:r>
              <a:rPr lang="en-US" sz="1600" b="1" i="0" dirty="0">
                <a:solidFill>
                  <a:srgbClr val="FFFFFF"/>
                </a:solidFill>
                <a:latin typeface="Calibri"/>
              </a:rPr>
              <a:t>Long-Run Market Equilibrium</a:t>
            </a:r>
            <a:endParaRPr sz="1600" b="1" i="0" dirty="0">
              <a:solidFill>
                <a:srgbClr val="FFFFFF"/>
              </a:solidFill>
              <a:latin typeface="Calibri"/>
            </a:endParaRP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Summary: Long-Run Decisions for a Price Taker</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44</a:t>
            </a:r>
          </a:p>
        </p:txBody>
      </p:sp>
      <p:sp>
        <p:nvSpPr>
          <p:cNvPr id="10" name="G1_0"/>
          <p:cNvSpPr txBox="1"/>
          <p:nvPr/>
        </p:nvSpPr>
        <p:spPr>
          <a:xfrm>
            <a:off x="640080" y="1705087"/>
            <a:ext cx="10972800" cy="45720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dirty="0">
                <a:solidFill>
                  <a:srgbClr val="0B2B4E"/>
                </a:solidFill>
                <a:latin typeface="Calibri"/>
              </a:rPr>
              <a:t>Optimal output level: Q* where LMC = MR = P</a:t>
            </a:r>
          </a:p>
        </p:txBody>
      </p:sp>
      <p:sp>
        <p:nvSpPr>
          <p:cNvPr id="11" name="G2_0"/>
          <p:cNvSpPr txBox="1"/>
          <p:nvPr/>
        </p:nvSpPr>
        <p:spPr>
          <a:xfrm>
            <a:off x="640080" y="2390887"/>
            <a:ext cx="10972800" cy="728405"/>
          </a:xfrm>
          <a:prstGeom prst="rect">
            <a:avLst/>
          </a:prstGeom>
          <a:noFill/>
        </p:spPr>
        <p:txBody>
          <a:bodyPr wrap="square" lIns="0" tIns="0" rIns="0" bIns="0" anchor="t">
            <a:spAutoFit/>
          </a:bodyPr>
          <a:lstStyle/>
          <a:p>
            <a:pPr marL="384048" indent="-384048">
              <a:spcAft>
                <a:spcPts val="400"/>
              </a:spcAft>
            </a:pPr>
            <a:r>
              <a:rPr sz="2400" b="1" i="0" dirty="0">
                <a:solidFill>
                  <a:srgbClr val="2E6DB5"/>
                </a:solidFill>
                <a:latin typeface="Calibri"/>
              </a:rPr>
              <a:t>1.   </a:t>
            </a:r>
            <a:r>
              <a:rPr sz="2400" b="0" i="0" dirty="0">
                <a:solidFill>
                  <a:srgbClr val="0B2B4E"/>
                </a:solidFill>
                <a:latin typeface="Calibri"/>
              </a:rPr>
              <a:t>If P ≥ LAC at Q*: operate</a:t>
            </a:r>
          </a:p>
          <a:p>
            <a:pPr marL="603504" indent="-603504">
              <a:spcAft>
                <a:spcPts val="0"/>
              </a:spcAft>
              <a:buClr>
                <a:srgbClr val="555B66"/>
              </a:buClr>
              <a:buSzPct val="100000"/>
              <a:buFont typeface="Calibri"/>
              <a:buChar char="–"/>
            </a:pPr>
            <a:r>
              <a:rPr sz="2000" b="0" i="0" dirty="0">
                <a:solidFill>
                  <a:schemeClr val="tx1">
                    <a:lumMod val="65000"/>
                    <a:lumOff val="35000"/>
                  </a:schemeClr>
                </a:solidFill>
                <a:latin typeface="Calibri"/>
              </a:rPr>
              <a:t>Positive profits, so other firms will enter in the long run</a:t>
            </a:r>
          </a:p>
        </p:txBody>
      </p:sp>
      <p:sp>
        <p:nvSpPr>
          <p:cNvPr id="12" name="G3_0"/>
          <p:cNvSpPr txBox="1"/>
          <p:nvPr/>
        </p:nvSpPr>
        <p:spPr>
          <a:xfrm>
            <a:off x="640080" y="3762487"/>
            <a:ext cx="11155680" cy="914400"/>
          </a:xfrm>
          <a:prstGeom prst="rect">
            <a:avLst/>
          </a:prstGeom>
          <a:noFill/>
        </p:spPr>
        <p:txBody>
          <a:bodyPr wrap="square" lIns="0" tIns="0" rIns="0" bIns="0" anchor="t">
            <a:spAutoFit/>
          </a:bodyPr>
          <a:lstStyle/>
          <a:p>
            <a:pPr marL="384048" indent="-384048">
              <a:spcAft>
                <a:spcPts val="0"/>
              </a:spcAft>
            </a:pPr>
            <a:r>
              <a:rPr sz="2400" b="1" i="0">
                <a:solidFill>
                  <a:srgbClr val="2E6DB5"/>
                </a:solidFill>
                <a:latin typeface="Calibri"/>
              </a:rPr>
              <a:t>2.   </a:t>
            </a:r>
            <a:r>
              <a:rPr sz="2400" b="0" i="0">
                <a:solidFill>
                  <a:srgbClr val="0B2B4E"/>
                </a:solidFill>
                <a:latin typeface="Calibri"/>
              </a:rPr>
              <a:t>If P &lt; LAC at Q*: exit the market permanently or do not enter in the first place</a:t>
            </a:r>
          </a:p>
        </p:txBody>
      </p:sp>
      <p:sp>
        <p:nvSpPr>
          <p:cNvPr id="13" name="G4_0"/>
          <p:cNvSpPr/>
          <p:nvPr/>
        </p:nvSpPr>
        <p:spPr>
          <a:xfrm>
            <a:off x="1599304" y="4709160"/>
            <a:ext cx="8790791" cy="717805"/>
          </a:xfrm>
          <a:prstGeom prst="roundRect">
            <a:avLst>
              <a:gd name="adj" fmla="val 10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228600" rtlCol="0" anchor="ctr"/>
          <a:lstStyle/>
          <a:p>
            <a:pPr algn="ctr"/>
            <a:endParaRPr lang="en-US" sz="2400" b="1" i="0" dirty="0">
              <a:solidFill>
                <a:srgbClr val="0B2B4E"/>
              </a:solidFill>
              <a:latin typeface="Calibri"/>
            </a:endParaRPr>
          </a:p>
          <a:p>
            <a:pPr algn="ctr"/>
            <a:r>
              <a:rPr sz="2400" b="1" i="0" dirty="0">
                <a:solidFill>
                  <a:srgbClr val="0B2B4E"/>
                </a:solidFill>
                <a:latin typeface="Calibri"/>
              </a:rPr>
              <a:t>Long run competitive equilibrium: LMC = P = LAC</a:t>
            </a:r>
            <a:endParaRPr lang="en-US" sz="2400" b="1" i="0" dirty="0">
              <a:solidFill>
                <a:srgbClr val="0B2B4E"/>
              </a:solidFill>
              <a:latin typeface="Calibri"/>
            </a:endParaRPr>
          </a:p>
          <a:p>
            <a:pPr algn="ctr"/>
            <a:r>
              <a:rPr lang="en-US" dirty="0">
                <a:solidFill>
                  <a:srgbClr val="0B2B4E"/>
                </a:solidFill>
              </a:rPr>
              <a:t>“Normal profits”: economic profits are zero in the long run</a:t>
            </a:r>
          </a:p>
          <a:p>
            <a:pPr algn="ctr"/>
            <a:endParaRPr sz="2200" b="1" i="0"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Outline</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Outline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45</a:t>
            </a:r>
          </a:p>
        </p:txBody>
      </p:sp>
      <p:sp>
        <p:nvSpPr>
          <p:cNvPr id="10" name="Oval 9"/>
          <p:cNvSpPr/>
          <p:nvPr/>
        </p:nvSpPr>
        <p:spPr>
          <a:xfrm>
            <a:off x="1024128" y="20665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1</a:t>
            </a:r>
          </a:p>
        </p:txBody>
      </p:sp>
      <p:sp>
        <p:nvSpPr>
          <p:cNvPr id="11" name="TextBox 10"/>
          <p:cNvSpPr txBox="1"/>
          <p:nvPr/>
        </p:nvSpPr>
        <p:spPr>
          <a:xfrm>
            <a:off x="1883664" y="1975104"/>
            <a:ext cx="9226296" cy="457200"/>
          </a:xfrm>
          <a:prstGeom prst="rect">
            <a:avLst/>
          </a:prstGeom>
          <a:noFill/>
        </p:spPr>
        <p:txBody>
          <a:bodyPr wrap="square" lIns="0" tIns="0" rIns="0" bIns="0" anchor="b">
            <a:spAutoFit/>
          </a:bodyPr>
          <a:lstStyle/>
          <a:p>
            <a:r>
              <a:rPr sz="2400" b="1" i="0">
                <a:solidFill>
                  <a:srgbClr val="9AA0A8"/>
                </a:solidFill>
                <a:latin typeface="Calibri"/>
              </a:rPr>
              <a:t>Introduction to market structures</a:t>
            </a:r>
          </a:p>
        </p:txBody>
      </p:sp>
      <p:sp>
        <p:nvSpPr>
          <p:cNvPr id="12" name="Oval 11"/>
          <p:cNvSpPr/>
          <p:nvPr/>
        </p:nvSpPr>
        <p:spPr>
          <a:xfrm>
            <a:off x="1024128" y="3438144"/>
            <a:ext cx="566928" cy="566928"/>
          </a:xfrm>
          <a:prstGeom prst="ellipse">
            <a:avLst/>
          </a:prstGeom>
          <a:solidFill>
            <a:srgbClr val="A7AD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2</a:t>
            </a:r>
          </a:p>
        </p:txBody>
      </p:sp>
      <p:sp>
        <p:nvSpPr>
          <p:cNvPr id="13" name="TextBox 12"/>
          <p:cNvSpPr txBox="1"/>
          <p:nvPr/>
        </p:nvSpPr>
        <p:spPr>
          <a:xfrm>
            <a:off x="1883664" y="3346704"/>
            <a:ext cx="9226296" cy="457200"/>
          </a:xfrm>
          <a:prstGeom prst="rect">
            <a:avLst/>
          </a:prstGeom>
          <a:noFill/>
        </p:spPr>
        <p:txBody>
          <a:bodyPr wrap="square" lIns="0" tIns="0" rIns="0" bIns="0" anchor="b">
            <a:spAutoFit/>
          </a:bodyPr>
          <a:lstStyle/>
          <a:p>
            <a:r>
              <a:rPr sz="2400" b="1" i="0">
                <a:solidFill>
                  <a:srgbClr val="9AA0A8"/>
                </a:solidFill>
                <a:latin typeface="Calibri"/>
              </a:rPr>
              <a:t>Perfect competition</a:t>
            </a:r>
          </a:p>
        </p:txBody>
      </p:sp>
      <p:sp>
        <p:nvSpPr>
          <p:cNvPr id="14" name="TextBox 13"/>
          <p:cNvSpPr txBox="1"/>
          <p:nvPr/>
        </p:nvSpPr>
        <p:spPr>
          <a:xfrm>
            <a:off x="1883664" y="3803904"/>
            <a:ext cx="9226296" cy="457200"/>
          </a:xfrm>
          <a:prstGeom prst="rect">
            <a:avLst/>
          </a:prstGeom>
          <a:noFill/>
        </p:spPr>
        <p:txBody>
          <a:bodyPr wrap="square" lIns="0" tIns="0" rIns="0" bIns="0" anchor="t">
            <a:spAutoFit/>
          </a:bodyPr>
          <a:lstStyle/>
          <a:p>
            <a:r>
              <a:rPr sz="1600" b="0" i="0">
                <a:solidFill>
                  <a:srgbClr val="9AA0A8"/>
                </a:solidFill>
                <a:latin typeface="Calibri"/>
              </a:rPr>
              <a:t>Profit maximization of a price taker in the short run  ·  Long-run competitive equilibrium</a:t>
            </a:r>
          </a:p>
        </p:txBody>
      </p:sp>
      <p:sp>
        <p:nvSpPr>
          <p:cNvPr id="15" name="Rounded Rectangle 14"/>
          <p:cNvSpPr/>
          <p:nvPr/>
        </p:nvSpPr>
        <p:spPr>
          <a:xfrm>
            <a:off x="822960" y="4645152"/>
            <a:ext cx="10515600" cy="932688"/>
          </a:xfrm>
          <a:prstGeom prst="roundRect">
            <a:avLst>
              <a:gd name="adj" fmla="val 10000"/>
            </a:avLst>
          </a:prstGeom>
          <a:solidFill>
            <a:srgbClr val="FDF6E6"/>
          </a:solidFill>
          <a:ln w="19050">
            <a:solidFill>
              <a:srgbClr val="E09F3E"/>
            </a:solid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24128" y="4809744"/>
            <a:ext cx="566928" cy="566928"/>
          </a:xfrm>
          <a:prstGeom prst="ellipse">
            <a:avLst/>
          </a:prstGeom>
          <a:solidFill>
            <a:srgbClr val="0B2B4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Calibri"/>
              </a:rPr>
              <a:t>3</a:t>
            </a:r>
          </a:p>
        </p:txBody>
      </p:sp>
      <p:sp>
        <p:nvSpPr>
          <p:cNvPr id="17" name="TextBox 16"/>
          <p:cNvSpPr txBox="1"/>
          <p:nvPr/>
        </p:nvSpPr>
        <p:spPr>
          <a:xfrm>
            <a:off x="1883664" y="4806172"/>
            <a:ext cx="9226296" cy="369332"/>
          </a:xfrm>
          <a:prstGeom prst="rect">
            <a:avLst/>
          </a:prstGeom>
          <a:noFill/>
        </p:spPr>
        <p:txBody>
          <a:bodyPr wrap="square" lIns="0" tIns="0" rIns="0" bIns="0" anchor="b">
            <a:spAutoFit/>
          </a:bodyPr>
          <a:lstStyle/>
          <a:p>
            <a:r>
              <a:rPr sz="2400" b="1" i="0" dirty="0">
                <a:solidFill>
                  <a:srgbClr val="0B2B4E"/>
                </a:solidFill>
                <a:latin typeface="Calibri"/>
              </a:rPr>
              <a:t>Market distortions</a:t>
            </a:r>
            <a:r>
              <a:rPr lang="en-US" sz="2400" b="1" i="0" dirty="0">
                <a:solidFill>
                  <a:srgbClr val="0B2B4E"/>
                </a:solidFill>
                <a:latin typeface="Calibri"/>
              </a:rPr>
              <a:t>,</a:t>
            </a:r>
            <a:r>
              <a:rPr sz="2400" b="1" i="0" dirty="0">
                <a:solidFill>
                  <a:srgbClr val="0B2B4E"/>
                </a:solidFill>
                <a:latin typeface="Calibri"/>
              </a:rPr>
              <a:t> regulations</a:t>
            </a:r>
            <a:r>
              <a:rPr lang="en-US" sz="2400" b="1" i="0" dirty="0">
                <a:solidFill>
                  <a:srgbClr val="0B2B4E"/>
                </a:solidFill>
                <a:latin typeface="Calibri"/>
              </a:rPr>
              <a:t>, externalities</a:t>
            </a:r>
            <a:endParaRPr sz="2400" b="1" i="0" dirty="0">
              <a:solidFill>
                <a:srgbClr val="0B2B4E"/>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Market </a:t>
            </a:r>
            <a:r>
              <a:rPr lang="en-US" sz="3000" b="1" dirty="0">
                <a:solidFill>
                  <a:srgbClr val="0B2B4E"/>
                </a:solidFill>
                <a:latin typeface="Calibri"/>
              </a:rPr>
              <a:t>D</a:t>
            </a:r>
            <a:r>
              <a:rPr sz="3000" b="1" i="0" dirty="0">
                <a:solidFill>
                  <a:srgbClr val="0B2B4E"/>
                </a:solidFill>
                <a:latin typeface="Calibri"/>
              </a:rPr>
              <a:t>istortions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46</a:t>
            </a:r>
          </a:p>
        </p:txBody>
      </p:sp>
      <p:sp>
        <p:nvSpPr>
          <p:cNvPr id="10" name="BUILD"/>
          <p:cNvSpPr txBox="1"/>
          <p:nvPr/>
        </p:nvSpPr>
        <p:spPr>
          <a:xfrm>
            <a:off x="640080" y="1691640"/>
            <a:ext cx="10881360" cy="3965188"/>
          </a:xfrm>
          <a:prstGeom prst="rect">
            <a:avLst/>
          </a:prstGeom>
          <a:noFill/>
        </p:spPr>
        <p:txBody>
          <a:bodyPr wrap="square" lIns="0" tIns="0" rIns="0" bIns="0" anchor="t">
            <a:spAutoFit/>
          </a:bodyPr>
          <a:lstStyle/>
          <a:p>
            <a:pPr marL="274320" indent="-274320">
              <a:spcAft>
                <a:spcPts val="1000"/>
              </a:spcAft>
              <a:buClr>
                <a:srgbClr val="0B2B4E"/>
              </a:buClr>
              <a:buSzPct val="100000"/>
              <a:buFont typeface="Calibri"/>
              <a:buChar char="▪"/>
            </a:pPr>
            <a:r>
              <a:rPr sz="2300" b="0" i="0" dirty="0">
                <a:solidFill>
                  <a:srgbClr val="0B2B4E"/>
                </a:solidFill>
                <a:latin typeface="Calibri"/>
              </a:rPr>
              <a:t>In competitive markets, equilibrium given by intersection of supply and demand curves</a:t>
            </a:r>
            <a:endParaRPr lang="en-US" sz="2300" b="0" i="0" dirty="0">
              <a:solidFill>
                <a:srgbClr val="0B2B4E"/>
              </a:solidFill>
              <a:latin typeface="Calibri"/>
            </a:endParaRPr>
          </a:p>
          <a:p>
            <a:pPr marL="274320" indent="-274320">
              <a:spcAft>
                <a:spcPts val="1000"/>
              </a:spcAft>
              <a:buClr>
                <a:srgbClr val="0B2B4E"/>
              </a:buClr>
              <a:buSzPct val="100000"/>
              <a:buFont typeface="Calibri"/>
              <a:buChar char="▪"/>
            </a:pPr>
            <a:endParaRPr sz="2300" b="0" i="0" dirty="0">
              <a:solidFill>
                <a:srgbClr val="0B2B4E"/>
              </a:solidFill>
              <a:latin typeface="Calibri"/>
            </a:endParaRPr>
          </a:p>
          <a:p>
            <a:pPr marL="274320" indent="-274320">
              <a:spcAft>
                <a:spcPts val="1000"/>
              </a:spcAft>
              <a:buClr>
                <a:srgbClr val="0B2B4E"/>
              </a:buClr>
              <a:buSzPct val="100000"/>
              <a:buFont typeface="Calibri"/>
              <a:buChar char="▪"/>
            </a:pPr>
            <a:r>
              <a:rPr sz="2300" b="0" i="0" dirty="0">
                <a:solidFill>
                  <a:srgbClr val="0B2B4E"/>
                </a:solidFill>
                <a:latin typeface="Calibri"/>
              </a:rPr>
              <a:t>External forces can distort equilibrium:</a:t>
            </a:r>
          </a:p>
          <a:p>
            <a:pPr marL="603504" lvl="1" indent="-603504">
              <a:spcAft>
                <a:spcPts val="1000"/>
              </a:spcAft>
              <a:buClr>
                <a:srgbClr val="555B66"/>
              </a:buClr>
              <a:buSzPct val="100000"/>
              <a:buFont typeface="Calibri"/>
              <a:buChar char="–"/>
            </a:pPr>
            <a:r>
              <a:rPr sz="2000" b="0" i="0" dirty="0">
                <a:solidFill>
                  <a:schemeClr val="tx1">
                    <a:lumMod val="65000"/>
                    <a:lumOff val="35000"/>
                  </a:schemeClr>
                </a:solidFill>
                <a:latin typeface="Calibri"/>
              </a:rPr>
              <a:t>Price controls  </a:t>
            </a:r>
          </a:p>
          <a:p>
            <a:pPr marL="603504" lvl="1" indent="-603504">
              <a:spcAft>
                <a:spcPts val="1000"/>
              </a:spcAft>
              <a:buClr>
                <a:srgbClr val="555B66"/>
              </a:buClr>
              <a:buSzPct val="100000"/>
              <a:buFont typeface="Calibri"/>
              <a:buChar char="–"/>
            </a:pPr>
            <a:r>
              <a:rPr sz="2000" b="0" i="0" dirty="0">
                <a:solidFill>
                  <a:schemeClr val="tx1">
                    <a:lumMod val="65000"/>
                    <a:lumOff val="35000"/>
                  </a:schemeClr>
                </a:solidFill>
                <a:latin typeface="Calibri"/>
              </a:rPr>
              <a:t>Taxes and subsidies</a:t>
            </a:r>
            <a:endParaRPr lang="en-US" sz="2000" b="0" i="0" dirty="0">
              <a:solidFill>
                <a:schemeClr val="tx1">
                  <a:lumMod val="65000"/>
                  <a:lumOff val="35000"/>
                </a:schemeClr>
              </a:solidFill>
              <a:latin typeface="Calibri"/>
            </a:endParaRPr>
          </a:p>
          <a:p>
            <a:pPr marL="603504" lvl="1" indent="-603504">
              <a:spcAft>
                <a:spcPts val="1000"/>
              </a:spcAft>
              <a:buClr>
                <a:srgbClr val="555B66"/>
              </a:buClr>
              <a:buSzPct val="100000"/>
              <a:buFont typeface="Calibri"/>
              <a:buChar char="–"/>
            </a:pPr>
            <a:endParaRPr sz="1900" b="0" i="0" dirty="0">
              <a:solidFill>
                <a:srgbClr val="222B3A"/>
              </a:solidFill>
              <a:latin typeface="Calibri"/>
            </a:endParaRPr>
          </a:p>
          <a:p>
            <a:pPr marL="274320" indent="-274320">
              <a:spcAft>
                <a:spcPts val="1000"/>
              </a:spcAft>
              <a:buClr>
                <a:srgbClr val="0B2B4E"/>
              </a:buClr>
              <a:buSzPct val="100000"/>
              <a:buFont typeface="Calibri"/>
              <a:buChar char="▪"/>
            </a:pPr>
            <a:r>
              <a:rPr sz="2300" b="0" i="0" dirty="0">
                <a:solidFill>
                  <a:srgbClr val="0B2B4E"/>
                </a:solidFill>
                <a:latin typeface="Calibri"/>
              </a:rPr>
              <a:t>How to assess who benefits and who loses?</a:t>
            </a:r>
          </a:p>
          <a:p>
            <a:pPr marL="603504" lvl="1" indent="-603504">
              <a:spcAft>
                <a:spcPts val="1000"/>
              </a:spcAft>
              <a:buClr>
                <a:srgbClr val="555B66"/>
              </a:buClr>
              <a:buSzPct val="100000"/>
              <a:buFont typeface="Calibri"/>
              <a:buChar char="–"/>
            </a:pPr>
            <a:r>
              <a:rPr sz="2000" b="0" i="0" dirty="0">
                <a:solidFill>
                  <a:schemeClr val="tx1">
                    <a:lumMod val="65000"/>
                    <a:lumOff val="35000"/>
                  </a:schemeClr>
                </a:solidFill>
                <a:latin typeface="Calibri"/>
              </a:rPr>
              <a:t>Consumer and Producer Surplus</a:t>
            </a:r>
          </a:p>
          <a:p>
            <a:pPr marL="603504" lvl="1" indent="-603504">
              <a:spcAft>
                <a:spcPts val="1000"/>
              </a:spcAft>
              <a:buClr>
                <a:srgbClr val="555B66"/>
              </a:buClr>
              <a:buSzPct val="100000"/>
              <a:buFont typeface="Calibri"/>
              <a:buChar char="–"/>
            </a:pPr>
            <a:r>
              <a:rPr sz="2000" b="0" i="0" dirty="0">
                <a:solidFill>
                  <a:schemeClr val="tx1">
                    <a:lumMod val="65000"/>
                    <a:lumOff val="35000"/>
                  </a:schemeClr>
                </a:solidFill>
                <a:latin typeface="Calibri"/>
              </a:rPr>
              <a:t>Deadweight loss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lang="en-US" sz="1600" b="1" i="0" dirty="0">
                <a:solidFill>
                  <a:srgbClr val="FFFFFF"/>
                </a:solidFill>
                <a:latin typeface="Calibri"/>
              </a:rPr>
              <a:t>Perfection Competition</a:t>
            </a:r>
            <a:r>
              <a:rPr sz="1600" b="1" i="0" dirty="0">
                <a:solidFill>
                  <a:srgbClr val="FFFFFF"/>
                </a:solidFill>
                <a:latin typeface="Calibri"/>
              </a:rPr>
              <a:t> · Surplus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Consumer Surplus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sz="1100" b="0" i="0" dirty="0">
                <a:solidFill>
                  <a:srgbClr val="555B66"/>
                </a:solidFill>
                <a:latin typeface="Calibri"/>
              </a:rPr>
              <a:t>Management 405 · </a:t>
            </a:r>
            <a:r>
              <a:rPr lang="en-US" sz="1100" b="0" i="0" dirty="0">
                <a:solidFill>
                  <a:srgbClr val="555B66"/>
                </a:solidFill>
                <a:latin typeface="Calibri"/>
              </a:rPr>
              <a:t>Perfect Competition</a:t>
            </a:r>
            <a:endParaRPr sz="1100" b="0" i="0" dirty="0">
              <a:solidFill>
                <a:srgbClr val="555B66"/>
              </a:solidFill>
              <a:latin typeface="Calibri"/>
            </a:endParaRP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47</a:t>
            </a:r>
          </a:p>
        </p:txBody>
      </p:sp>
      <p:sp>
        <p:nvSpPr>
          <p:cNvPr id="10" name="T_0"/>
          <p:cNvSpPr txBox="1"/>
          <p:nvPr/>
        </p:nvSpPr>
        <p:spPr>
          <a:xfrm>
            <a:off x="640080" y="1536192"/>
            <a:ext cx="11155680" cy="822960"/>
          </a:xfrm>
          <a:prstGeom prst="rect">
            <a:avLst/>
          </a:prstGeom>
          <a:noFill/>
        </p:spPr>
        <p:txBody>
          <a:bodyPr wrap="square" lIns="0" tIns="0" rIns="0" bIns="0" anchor="t">
            <a:spAutoFit/>
          </a:bodyPr>
          <a:lstStyle/>
          <a:p>
            <a:pPr marL="274320" indent="-274320" algn="l">
              <a:buClr>
                <a:srgbClr val="0B2B4E"/>
              </a:buClr>
              <a:buSzPct val="100000"/>
              <a:buFont typeface="Calibri"/>
              <a:buChar char="▪"/>
            </a:pPr>
            <a:r>
              <a:rPr sz="2200" b="0" i="0">
                <a:solidFill>
                  <a:srgbClr val="0B2B4E"/>
                </a:solidFill>
                <a:latin typeface="Calibri"/>
              </a:rPr>
              <a:t>CS: difference between the consumers’ willingness to pay </a:t>
            </a:r>
            <a:r>
              <a:rPr sz="2200" b="1" i="0">
                <a:solidFill>
                  <a:srgbClr val="0B2B4E"/>
                </a:solidFill>
                <a:latin typeface="Calibri"/>
              </a:rPr>
              <a:t>(D curve)</a:t>
            </a:r>
            <a:r>
              <a:rPr sz="2200" b="0" i="0">
                <a:solidFill>
                  <a:srgbClr val="0B2B4E"/>
                </a:solidFill>
                <a:latin typeface="Calibri"/>
              </a:rPr>
              <a:t> and the actual price </a:t>
            </a:r>
            <a:r>
              <a:rPr sz="2200" b="1" i="0">
                <a:solidFill>
                  <a:srgbClr val="0B2B4E"/>
                </a:solidFill>
                <a:latin typeface="Calibri"/>
              </a:rPr>
              <a:t>(P*)</a:t>
            </a:r>
          </a:p>
        </p:txBody>
      </p:sp>
      <p:cxnSp>
        <p:nvCxnSpPr>
          <p:cNvPr id="11" name="G_0"/>
          <p:cNvCxnSpPr/>
          <p:nvPr/>
        </p:nvCxnSpPr>
        <p:spPr>
          <a:xfrm flipV="1">
            <a:off x="1737360" y="2148840"/>
            <a:ext cx="0" cy="384048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G_1"/>
          <p:cNvCxnSpPr/>
          <p:nvPr/>
        </p:nvCxnSpPr>
        <p:spPr>
          <a:xfrm>
            <a:off x="1737360" y="5989320"/>
            <a:ext cx="384048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G_2"/>
          <p:cNvSpPr txBox="1"/>
          <p:nvPr/>
        </p:nvSpPr>
        <p:spPr>
          <a:xfrm>
            <a:off x="1326154" y="1992914"/>
            <a:ext cx="1371600" cy="338554"/>
          </a:xfrm>
          <a:prstGeom prst="rect">
            <a:avLst/>
          </a:prstGeom>
          <a:noFill/>
        </p:spPr>
        <p:txBody>
          <a:bodyPr wrap="square" lIns="0" tIns="0" rIns="0" bIns="0" anchor="t">
            <a:spAutoFit/>
          </a:bodyPr>
          <a:lstStyle/>
          <a:p>
            <a:pPr algn="l"/>
            <a:r>
              <a:rPr sz="2200" b="0" i="0" dirty="0">
                <a:solidFill>
                  <a:srgbClr val="0B2B4E"/>
                </a:solidFill>
                <a:latin typeface="Calibri"/>
              </a:rPr>
              <a:t>P</a:t>
            </a:r>
          </a:p>
        </p:txBody>
      </p:sp>
      <p:sp>
        <p:nvSpPr>
          <p:cNvPr id="14" name="G_3"/>
          <p:cNvSpPr txBox="1"/>
          <p:nvPr/>
        </p:nvSpPr>
        <p:spPr>
          <a:xfrm>
            <a:off x="5491824" y="6051416"/>
            <a:ext cx="640080" cy="320040"/>
          </a:xfrm>
          <a:prstGeom prst="rect">
            <a:avLst/>
          </a:prstGeom>
          <a:noFill/>
        </p:spPr>
        <p:txBody>
          <a:bodyPr wrap="square" lIns="0" tIns="0" rIns="0" bIns="0" anchor="t">
            <a:spAutoFit/>
          </a:bodyPr>
          <a:lstStyle/>
          <a:p>
            <a:pPr algn="l"/>
            <a:r>
              <a:rPr sz="2200" b="0" i="1">
                <a:solidFill>
                  <a:srgbClr val="0B2B4E"/>
                </a:solidFill>
                <a:latin typeface="Calibri"/>
              </a:rPr>
              <a:t>Q</a:t>
            </a:r>
          </a:p>
        </p:txBody>
      </p:sp>
      <p:cxnSp>
        <p:nvCxnSpPr>
          <p:cNvPr id="15" name="G_4"/>
          <p:cNvCxnSpPr/>
          <p:nvPr/>
        </p:nvCxnSpPr>
        <p:spPr>
          <a:xfrm>
            <a:off x="1737360" y="2708452"/>
            <a:ext cx="3066897" cy="3066898"/>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6" name="G_5"/>
          <p:cNvSpPr txBox="1"/>
          <p:nvPr/>
        </p:nvSpPr>
        <p:spPr>
          <a:xfrm>
            <a:off x="4868265" y="5633618"/>
            <a:ext cx="640080" cy="320040"/>
          </a:xfrm>
          <a:prstGeom prst="rect">
            <a:avLst/>
          </a:prstGeom>
          <a:noFill/>
        </p:spPr>
        <p:txBody>
          <a:bodyPr wrap="square" lIns="0" tIns="0" rIns="0" bIns="0" anchor="t">
            <a:spAutoFit/>
          </a:bodyPr>
          <a:lstStyle/>
          <a:p>
            <a:pPr algn="l"/>
            <a:r>
              <a:rPr sz="2200" b="0" i="0" dirty="0">
                <a:solidFill>
                  <a:srgbClr val="0B2B4E"/>
                </a:solidFill>
                <a:latin typeface="Calibri"/>
              </a:rPr>
              <a:t>D</a:t>
            </a:r>
          </a:p>
        </p:txBody>
      </p:sp>
      <p:cxnSp>
        <p:nvCxnSpPr>
          <p:cNvPr id="17" name="G_6"/>
          <p:cNvCxnSpPr/>
          <p:nvPr/>
        </p:nvCxnSpPr>
        <p:spPr>
          <a:xfrm flipV="1">
            <a:off x="2011954" y="3008010"/>
            <a:ext cx="2079071" cy="2909986"/>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8" name="G_7"/>
          <p:cNvSpPr txBox="1"/>
          <p:nvPr/>
        </p:nvSpPr>
        <p:spPr>
          <a:xfrm>
            <a:off x="4164178" y="2766060"/>
            <a:ext cx="640080" cy="320040"/>
          </a:xfrm>
          <a:prstGeom prst="rect">
            <a:avLst/>
          </a:prstGeom>
          <a:noFill/>
        </p:spPr>
        <p:txBody>
          <a:bodyPr wrap="square" lIns="0" tIns="0" rIns="0" bIns="0" anchor="t">
            <a:spAutoFit/>
          </a:bodyPr>
          <a:lstStyle/>
          <a:p>
            <a:pPr algn="l"/>
            <a:r>
              <a:rPr sz="2200" b="0" i="0">
                <a:solidFill>
                  <a:srgbClr val="0B2B4E"/>
                </a:solidFill>
                <a:latin typeface="Calibri"/>
              </a:rPr>
              <a:t>S</a:t>
            </a:r>
          </a:p>
        </p:txBody>
      </p:sp>
      <p:cxnSp>
        <p:nvCxnSpPr>
          <p:cNvPr id="19" name="E_0"/>
          <p:cNvCxnSpPr/>
          <p:nvPr/>
        </p:nvCxnSpPr>
        <p:spPr>
          <a:xfrm>
            <a:off x="1737360" y="4206240"/>
            <a:ext cx="2567635" cy="0"/>
          </a:xfrm>
          <a:prstGeom prst="line">
            <a:avLst/>
          </a:prstGeom>
          <a:ln w="31750">
            <a:solidFill>
              <a:srgbClr val="1FA02E"/>
            </a:solidFill>
          </a:ln>
          <a:effectLst/>
        </p:spPr>
        <p:style>
          <a:lnRef idx="2">
            <a:schemeClr val="accent1"/>
          </a:lnRef>
          <a:fillRef idx="0">
            <a:schemeClr val="accent1"/>
          </a:fillRef>
          <a:effectRef idx="1">
            <a:schemeClr val="accent1"/>
          </a:effectRef>
          <a:fontRef idx="minor">
            <a:schemeClr val="tx1"/>
          </a:fontRef>
        </p:style>
      </p:cxnSp>
      <p:sp>
        <p:nvSpPr>
          <p:cNvPr id="20" name="E_1"/>
          <p:cNvSpPr txBox="1"/>
          <p:nvPr/>
        </p:nvSpPr>
        <p:spPr>
          <a:xfrm>
            <a:off x="1115567" y="4050791"/>
            <a:ext cx="548640" cy="310896"/>
          </a:xfrm>
          <a:prstGeom prst="rect">
            <a:avLst/>
          </a:prstGeom>
          <a:noFill/>
        </p:spPr>
        <p:txBody>
          <a:bodyPr wrap="square" lIns="0" tIns="0" rIns="0" bIns="0" anchor="t">
            <a:spAutoFit/>
          </a:bodyPr>
          <a:lstStyle/>
          <a:p>
            <a:pPr algn="r"/>
            <a:r>
              <a:rPr sz="2200" b="0" i="0">
                <a:solidFill>
                  <a:srgbClr val="1FA02E"/>
                </a:solidFill>
                <a:latin typeface="Calibri"/>
              </a:rPr>
              <a:t>P*</a:t>
            </a:r>
          </a:p>
        </p:txBody>
      </p:sp>
      <p:cxnSp>
        <p:nvCxnSpPr>
          <p:cNvPr id="21" name="E_2"/>
          <p:cNvCxnSpPr/>
          <p:nvPr/>
        </p:nvCxnSpPr>
        <p:spPr>
          <a:xfrm flipV="1">
            <a:off x="3235147" y="4206240"/>
            <a:ext cx="0" cy="1783080"/>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2" name="E_3"/>
          <p:cNvSpPr txBox="1"/>
          <p:nvPr/>
        </p:nvSpPr>
        <p:spPr>
          <a:xfrm>
            <a:off x="3006547" y="6044183"/>
            <a:ext cx="548640" cy="274320"/>
          </a:xfrm>
          <a:prstGeom prst="rect">
            <a:avLst/>
          </a:prstGeom>
          <a:noFill/>
        </p:spPr>
        <p:txBody>
          <a:bodyPr wrap="square" lIns="0" tIns="0" rIns="0" bIns="0" anchor="t">
            <a:spAutoFit/>
          </a:bodyPr>
          <a:lstStyle/>
          <a:p>
            <a:pPr algn="ctr"/>
            <a:r>
              <a:rPr sz="1800" b="0" i="1">
                <a:solidFill>
                  <a:srgbClr val="0B2B4E"/>
                </a:solidFill>
                <a:latin typeface="Calibri"/>
              </a:rPr>
              <a:t>Q*</a:t>
            </a:r>
          </a:p>
        </p:txBody>
      </p:sp>
      <p:sp>
        <p:nvSpPr>
          <p:cNvPr id="23" name="E_4"/>
          <p:cNvSpPr/>
          <p:nvPr/>
        </p:nvSpPr>
        <p:spPr>
          <a:xfrm>
            <a:off x="3171139" y="4142231"/>
            <a:ext cx="128016" cy="128016"/>
          </a:xfrm>
          <a:prstGeom prst="ellipse">
            <a:avLst/>
          </a:prstGeom>
          <a:solidFill>
            <a:srgbClr val="1FA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S_0"/>
          <p:cNvSpPr/>
          <p:nvPr/>
        </p:nvSpPr>
        <p:spPr>
          <a:xfrm>
            <a:off x="1737360" y="2708452"/>
            <a:ext cx="1497787" cy="1497788"/>
          </a:xfrm>
          <a:custGeom>
            <a:avLst/>
            <a:gdLst/>
            <a:ahLst/>
            <a:cxnLst/>
            <a:rect l="l" t="t" r="r" b="b"/>
            <a:pathLst>
              <a:path w="1497787" h="1497788">
                <a:moveTo>
                  <a:pt x="0" y="0"/>
                </a:moveTo>
                <a:lnTo>
                  <a:pt x="0" y="1497788"/>
                </a:lnTo>
                <a:lnTo>
                  <a:pt x="1497787" y="1497788"/>
                </a:lnTo>
                <a:lnTo>
                  <a:pt x="0" y="0"/>
                </a:lnTo>
                <a:close/>
              </a:path>
            </a:pathLst>
          </a:custGeom>
          <a:solidFill>
            <a:srgbClr val="C0201B">
              <a:alpha val="26000"/>
            </a:srgbClr>
          </a:solidFill>
          <a:ln w="127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S_1"/>
          <p:cNvSpPr txBox="1"/>
          <p:nvPr/>
        </p:nvSpPr>
        <p:spPr>
          <a:xfrm>
            <a:off x="2093976" y="3635654"/>
            <a:ext cx="822960" cy="310896"/>
          </a:xfrm>
          <a:prstGeom prst="rect">
            <a:avLst/>
          </a:prstGeom>
          <a:noFill/>
        </p:spPr>
        <p:txBody>
          <a:bodyPr wrap="square" lIns="0" tIns="0" rIns="0" bIns="0" anchor="t">
            <a:spAutoFit/>
          </a:bodyPr>
          <a:lstStyle/>
          <a:p>
            <a:pPr algn="l"/>
            <a:r>
              <a:rPr sz="2000" b="1" i="0">
                <a:solidFill>
                  <a:srgbClr val="0B2B4E"/>
                </a:solidFill>
                <a:latin typeface="Calibri"/>
              </a:rPr>
              <a:t>CS</a:t>
            </a:r>
          </a:p>
        </p:txBody>
      </p:sp>
      <p:sp>
        <p:nvSpPr>
          <p:cNvPr id="26" name="NOTE_0"/>
          <p:cNvSpPr/>
          <p:nvPr/>
        </p:nvSpPr>
        <p:spPr>
          <a:xfrm>
            <a:off x="7086600" y="3383280"/>
            <a:ext cx="3566160" cy="1417320"/>
          </a:xfrm>
          <a:prstGeom prst="rect">
            <a:avLst/>
          </a:prstGeom>
          <a:solidFill>
            <a:srgbClr val="FFFFFF"/>
          </a:solidFill>
          <a:ln w="19050">
            <a:solidFill>
              <a:srgbClr val="C0201B"/>
            </a:solid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700" b="1" i="0" dirty="0">
                <a:solidFill>
                  <a:srgbClr val="C0201B"/>
                </a:solidFill>
                <a:latin typeface="Calibri"/>
              </a:rPr>
              <a:t>Consumer surplus (CS) is the area below the demand curve and above the price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Perfection Competition</a:t>
            </a:r>
            <a:r>
              <a:rPr sz="1600" b="1" i="0" dirty="0">
                <a:solidFill>
                  <a:srgbClr val="FFFFFF"/>
                </a:solidFill>
                <a:latin typeface="Calibri"/>
              </a:rPr>
              <a:t> · Surplus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Producer Surplus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sz="1100" b="0" i="0" dirty="0">
                <a:solidFill>
                  <a:srgbClr val="555B66"/>
                </a:solidFill>
                <a:latin typeface="Calibri"/>
              </a:rPr>
              <a:t>Management 405 · </a:t>
            </a:r>
            <a:r>
              <a:rPr lang="en-US" sz="1100" b="0" i="0" dirty="0">
                <a:solidFill>
                  <a:srgbClr val="555B66"/>
                </a:solidFill>
                <a:latin typeface="Calibri"/>
              </a:rPr>
              <a:t>Perfect Competition</a:t>
            </a:r>
            <a:endParaRPr sz="1100" b="0" i="0" dirty="0">
              <a:solidFill>
                <a:srgbClr val="555B66"/>
              </a:solidFill>
              <a:latin typeface="Calibri"/>
            </a:endParaRP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48</a:t>
            </a:r>
          </a:p>
        </p:txBody>
      </p:sp>
      <p:sp>
        <p:nvSpPr>
          <p:cNvPr id="10" name="T_0"/>
          <p:cNvSpPr txBox="1"/>
          <p:nvPr/>
        </p:nvSpPr>
        <p:spPr>
          <a:xfrm>
            <a:off x="640080" y="1405564"/>
            <a:ext cx="11155680" cy="822960"/>
          </a:xfrm>
          <a:prstGeom prst="rect">
            <a:avLst/>
          </a:prstGeom>
          <a:noFill/>
        </p:spPr>
        <p:txBody>
          <a:bodyPr wrap="square" lIns="0" tIns="0" rIns="0" bIns="0" anchor="t">
            <a:spAutoFit/>
          </a:bodyPr>
          <a:lstStyle/>
          <a:p>
            <a:pPr marL="274320" indent="-274320" algn="l">
              <a:buClr>
                <a:srgbClr val="0B2B4E"/>
              </a:buClr>
              <a:buSzPct val="100000"/>
              <a:buFont typeface="Calibri"/>
              <a:buChar char="▪"/>
            </a:pPr>
            <a:r>
              <a:rPr sz="2200" b="0" i="0" dirty="0">
                <a:solidFill>
                  <a:srgbClr val="0B2B4E"/>
                </a:solidFill>
                <a:latin typeface="Calibri"/>
              </a:rPr>
              <a:t>PS: difference between the price at which producers are willing to sell </a:t>
            </a:r>
            <a:r>
              <a:rPr sz="2200" b="1" i="0" dirty="0">
                <a:solidFill>
                  <a:srgbClr val="0B2B4E"/>
                </a:solidFill>
                <a:latin typeface="Calibri"/>
              </a:rPr>
              <a:t>(S curve)</a:t>
            </a:r>
            <a:r>
              <a:rPr sz="2200" b="0" i="0" dirty="0">
                <a:solidFill>
                  <a:srgbClr val="0B2B4E"/>
                </a:solidFill>
                <a:latin typeface="Calibri"/>
              </a:rPr>
              <a:t> and the price producers actually receive for their goods </a:t>
            </a:r>
            <a:r>
              <a:rPr sz="2200" b="1" i="0" dirty="0">
                <a:solidFill>
                  <a:srgbClr val="0B2B4E"/>
                </a:solidFill>
                <a:latin typeface="Calibri"/>
              </a:rPr>
              <a:t>(P*)</a:t>
            </a:r>
          </a:p>
        </p:txBody>
      </p:sp>
      <p:cxnSp>
        <p:nvCxnSpPr>
          <p:cNvPr id="11" name="G_0"/>
          <p:cNvCxnSpPr/>
          <p:nvPr/>
        </p:nvCxnSpPr>
        <p:spPr>
          <a:xfrm flipV="1">
            <a:off x="1737360" y="2148840"/>
            <a:ext cx="0" cy="384048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G_1"/>
          <p:cNvCxnSpPr/>
          <p:nvPr/>
        </p:nvCxnSpPr>
        <p:spPr>
          <a:xfrm>
            <a:off x="1737360" y="5989320"/>
            <a:ext cx="384048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G_2"/>
          <p:cNvSpPr txBox="1"/>
          <p:nvPr/>
        </p:nvSpPr>
        <p:spPr>
          <a:xfrm>
            <a:off x="1240469" y="2126226"/>
            <a:ext cx="1371600" cy="338554"/>
          </a:xfrm>
          <a:prstGeom prst="rect">
            <a:avLst/>
          </a:prstGeom>
          <a:noFill/>
        </p:spPr>
        <p:txBody>
          <a:bodyPr wrap="square" lIns="0" tIns="0" rIns="0" bIns="0" anchor="t">
            <a:spAutoFit/>
          </a:bodyPr>
          <a:lstStyle/>
          <a:p>
            <a:pPr algn="l"/>
            <a:r>
              <a:rPr sz="2200" b="0" i="0" dirty="0">
                <a:solidFill>
                  <a:srgbClr val="0B2B4E"/>
                </a:solidFill>
                <a:latin typeface="Calibri"/>
              </a:rPr>
              <a:t>P</a:t>
            </a:r>
          </a:p>
        </p:txBody>
      </p:sp>
      <p:sp>
        <p:nvSpPr>
          <p:cNvPr id="14" name="G_3"/>
          <p:cNvSpPr txBox="1"/>
          <p:nvPr/>
        </p:nvSpPr>
        <p:spPr>
          <a:xfrm>
            <a:off x="5431536" y="5971032"/>
            <a:ext cx="640080" cy="320040"/>
          </a:xfrm>
          <a:prstGeom prst="rect">
            <a:avLst/>
          </a:prstGeom>
          <a:noFill/>
        </p:spPr>
        <p:txBody>
          <a:bodyPr wrap="square" lIns="0" tIns="0" rIns="0" bIns="0" anchor="t">
            <a:spAutoFit/>
          </a:bodyPr>
          <a:lstStyle/>
          <a:p>
            <a:pPr algn="l"/>
            <a:r>
              <a:rPr sz="2200" b="0" i="1">
                <a:solidFill>
                  <a:srgbClr val="0B2B4E"/>
                </a:solidFill>
                <a:latin typeface="Calibri"/>
              </a:rPr>
              <a:t>Q</a:t>
            </a:r>
          </a:p>
        </p:txBody>
      </p:sp>
      <p:cxnSp>
        <p:nvCxnSpPr>
          <p:cNvPr id="15" name="G_4"/>
          <p:cNvCxnSpPr/>
          <p:nvPr/>
        </p:nvCxnSpPr>
        <p:spPr>
          <a:xfrm>
            <a:off x="1737360" y="2708452"/>
            <a:ext cx="3066897" cy="3066898"/>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6" name="G_5"/>
          <p:cNvSpPr txBox="1"/>
          <p:nvPr/>
        </p:nvSpPr>
        <p:spPr>
          <a:xfrm>
            <a:off x="4937760" y="5591556"/>
            <a:ext cx="640080" cy="320040"/>
          </a:xfrm>
          <a:prstGeom prst="rect">
            <a:avLst/>
          </a:prstGeom>
          <a:noFill/>
        </p:spPr>
        <p:txBody>
          <a:bodyPr wrap="square" lIns="0" tIns="0" rIns="0" bIns="0" anchor="t">
            <a:spAutoFit/>
          </a:bodyPr>
          <a:lstStyle/>
          <a:p>
            <a:pPr algn="l"/>
            <a:r>
              <a:rPr sz="2200" b="0" i="0" dirty="0">
                <a:solidFill>
                  <a:srgbClr val="0B2B4E"/>
                </a:solidFill>
                <a:latin typeface="Calibri"/>
              </a:rPr>
              <a:t>D</a:t>
            </a:r>
          </a:p>
        </p:txBody>
      </p:sp>
      <p:cxnSp>
        <p:nvCxnSpPr>
          <p:cNvPr id="17" name="G_6"/>
          <p:cNvCxnSpPr/>
          <p:nvPr/>
        </p:nvCxnSpPr>
        <p:spPr>
          <a:xfrm flipV="1">
            <a:off x="1737360" y="3018708"/>
            <a:ext cx="2496312" cy="2970612"/>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8" name="G_7"/>
          <p:cNvSpPr txBox="1"/>
          <p:nvPr/>
        </p:nvSpPr>
        <p:spPr>
          <a:xfrm>
            <a:off x="4297680" y="2824968"/>
            <a:ext cx="640080" cy="320040"/>
          </a:xfrm>
          <a:prstGeom prst="rect">
            <a:avLst/>
          </a:prstGeom>
          <a:noFill/>
        </p:spPr>
        <p:txBody>
          <a:bodyPr wrap="square" lIns="0" tIns="0" rIns="0" bIns="0" anchor="t">
            <a:spAutoFit/>
          </a:bodyPr>
          <a:lstStyle/>
          <a:p>
            <a:pPr algn="l"/>
            <a:r>
              <a:rPr sz="2200" b="0" i="0">
                <a:solidFill>
                  <a:srgbClr val="0B2B4E"/>
                </a:solidFill>
                <a:latin typeface="Calibri"/>
              </a:rPr>
              <a:t>S</a:t>
            </a:r>
          </a:p>
        </p:txBody>
      </p:sp>
      <p:cxnSp>
        <p:nvCxnSpPr>
          <p:cNvPr id="19" name="E_0"/>
          <p:cNvCxnSpPr/>
          <p:nvPr/>
        </p:nvCxnSpPr>
        <p:spPr>
          <a:xfrm>
            <a:off x="1737360" y="4206240"/>
            <a:ext cx="2567635" cy="0"/>
          </a:xfrm>
          <a:prstGeom prst="line">
            <a:avLst/>
          </a:prstGeom>
          <a:ln w="31750">
            <a:solidFill>
              <a:srgbClr val="1FA02E"/>
            </a:solidFill>
          </a:ln>
          <a:effectLst/>
        </p:spPr>
        <p:style>
          <a:lnRef idx="2">
            <a:schemeClr val="accent1"/>
          </a:lnRef>
          <a:fillRef idx="0">
            <a:schemeClr val="accent1"/>
          </a:fillRef>
          <a:effectRef idx="1">
            <a:schemeClr val="accent1"/>
          </a:effectRef>
          <a:fontRef idx="minor">
            <a:schemeClr val="tx1"/>
          </a:fontRef>
        </p:style>
      </p:cxnSp>
      <p:sp>
        <p:nvSpPr>
          <p:cNvPr id="20" name="E_1"/>
          <p:cNvSpPr txBox="1"/>
          <p:nvPr/>
        </p:nvSpPr>
        <p:spPr>
          <a:xfrm>
            <a:off x="1115567" y="4050791"/>
            <a:ext cx="548640" cy="310896"/>
          </a:xfrm>
          <a:prstGeom prst="rect">
            <a:avLst/>
          </a:prstGeom>
          <a:noFill/>
        </p:spPr>
        <p:txBody>
          <a:bodyPr wrap="square" lIns="0" tIns="0" rIns="0" bIns="0" anchor="t">
            <a:spAutoFit/>
          </a:bodyPr>
          <a:lstStyle/>
          <a:p>
            <a:pPr algn="r"/>
            <a:r>
              <a:rPr sz="2200" b="0" i="0">
                <a:solidFill>
                  <a:srgbClr val="1FA02E"/>
                </a:solidFill>
                <a:latin typeface="Calibri"/>
              </a:rPr>
              <a:t>P*</a:t>
            </a:r>
          </a:p>
        </p:txBody>
      </p:sp>
      <p:cxnSp>
        <p:nvCxnSpPr>
          <p:cNvPr id="21" name="E_2"/>
          <p:cNvCxnSpPr/>
          <p:nvPr/>
        </p:nvCxnSpPr>
        <p:spPr>
          <a:xfrm flipV="1">
            <a:off x="3235147" y="4206240"/>
            <a:ext cx="0" cy="1783080"/>
          </a:xfrm>
          <a:prstGeom prst="line">
            <a:avLst/>
          </a:prstGeom>
          <a:ln w="1651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2" name="E_3"/>
          <p:cNvSpPr txBox="1"/>
          <p:nvPr/>
        </p:nvSpPr>
        <p:spPr>
          <a:xfrm>
            <a:off x="3006547" y="6044183"/>
            <a:ext cx="548640" cy="274320"/>
          </a:xfrm>
          <a:prstGeom prst="rect">
            <a:avLst/>
          </a:prstGeom>
          <a:noFill/>
        </p:spPr>
        <p:txBody>
          <a:bodyPr wrap="square" lIns="0" tIns="0" rIns="0" bIns="0" anchor="t">
            <a:spAutoFit/>
          </a:bodyPr>
          <a:lstStyle/>
          <a:p>
            <a:pPr algn="ctr"/>
            <a:r>
              <a:rPr sz="1800" b="0" i="1">
                <a:solidFill>
                  <a:srgbClr val="0B2B4E"/>
                </a:solidFill>
                <a:latin typeface="Calibri"/>
              </a:rPr>
              <a:t>Q*</a:t>
            </a:r>
          </a:p>
        </p:txBody>
      </p:sp>
      <p:sp>
        <p:nvSpPr>
          <p:cNvPr id="23" name="E_4"/>
          <p:cNvSpPr/>
          <p:nvPr/>
        </p:nvSpPr>
        <p:spPr>
          <a:xfrm>
            <a:off x="3171139" y="4142231"/>
            <a:ext cx="128016" cy="128016"/>
          </a:xfrm>
          <a:prstGeom prst="ellipse">
            <a:avLst/>
          </a:prstGeom>
          <a:solidFill>
            <a:srgbClr val="1FA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S_0"/>
          <p:cNvSpPr/>
          <p:nvPr/>
        </p:nvSpPr>
        <p:spPr>
          <a:xfrm>
            <a:off x="1737360" y="4206240"/>
            <a:ext cx="1497787" cy="1783080"/>
          </a:xfrm>
          <a:custGeom>
            <a:avLst/>
            <a:gdLst/>
            <a:ahLst/>
            <a:cxnLst/>
            <a:rect l="l" t="t" r="r" b="b"/>
            <a:pathLst>
              <a:path w="1497787" h="1783080">
                <a:moveTo>
                  <a:pt x="0" y="1783080"/>
                </a:moveTo>
                <a:lnTo>
                  <a:pt x="0" y="0"/>
                </a:lnTo>
                <a:lnTo>
                  <a:pt x="1497787" y="0"/>
                </a:lnTo>
                <a:lnTo>
                  <a:pt x="0" y="1783080"/>
                </a:lnTo>
                <a:close/>
              </a:path>
            </a:pathLst>
          </a:custGeom>
          <a:solidFill>
            <a:srgbClr val="4E79B5">
              <a:alpha val="34000"/>
            </a:srgbClr>
          </a:solidFill>
          <a:ln w="12700">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S_1"/>
          <p:cNvSpPr txBox="1"/>
          <p:nvPr/>
        </p:nvSpPr>
        <p:spPr>
          <a:xfrm>
            <a:off x="2037283" y="4707331"/>
            <a:ext cx="822960" cy="310896"/>
          </a:xfrm>
          <a:prstGeom prst="rect">
            <a:avLst/>
          </a:prstGeom>
          <a:noFill/>
        </p:spPr>
        <p:txBody>
          <a:bodyPr wrap="square" lIns="0" tIns="0" rIns="0" bIns="0" anchor="t">
            <a:spAutoFit/>
          </a:bodyPr>
          <a:lstStyle/>
          <a:p>
            <a:pPr algn="l"/>
            <a:r>
              <a:rPr sz="2000" b="1" i="0" dirty="0">
                <a:solidFill>
                  <a:srgbClr val="0B2B4E"/>
                </a:solidFill>
                <a:latin typeface="Calibri"/>
              </a:rPr>
              <a:t>PS</a:t>
            </a:r>
          </a:p>
        </p:txBody>
      </p:sp>
      <p:sp>
        <p:nvSpPr>
          <p:cNvPr id="26" name="NOTE_0"/>
          <p:cNvSpPr/>
          <p:nvPr/>
        </p:nvSpPr>
        <p:spPr>
          <a:xfrm>
            <a:off x="7086600" y="3383280"/>
            <a:ext cx="3566160" cy="1417320"/>
          </a:xfrm>
          <a:prstGeom prst="rect">
            <a:avLst/>
          </a:prstGeom>
          <a:solidFill>
            <a:srgbClr val="FFFFFF"/>
          </a:solidFill>
          <a:ln w="19050">
            <a:solidFill>
              <a:srgbClr val="2E5AA8"/>
            </a:solid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700" b="1" i="0" dirty="0">
                <a:solidFill>
                  <a:srgbClr val="2E5AA8"/>
                </a:solidFill>
                <a:latin typeface="Calibri"/>
              </a:rPr>
              <a:t>Producer surplus (PS) is the area above the supply curve and below the price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lang="en-US" sz="1600" b="1" i="0" dirty="0">
                <a:solidFill>
                  <a:srgbClr val="FFFFFF"/>
                </a:solidFill>
                <a:latin typeface="Calibri"/>
              </a:rPr>
              <a:t>Perfect Competition</a:t>
            </a:r>
            <a:r>
              <a:rPr sz="1600" b="1" i="0" dirty="0">
                <a:solidFill>
                  <a:srgbClr val="FFFFFF"/>
                </a:solidFill>
                <a:latin typeface="Calibri"/>
              </a:rPr>
              <a:t> · Price Controls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dirty="0">
                <a:solidFill>
                  <a:srgbClr val="0B2B4E"/>
                </a:solidFill>
                <a:latin typeface="Calibri"/>
              </a:rPr>
              <a:t>Deadweight Loss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sz="1100" b="0" i="0" dirty="0">
                <a:solidFill>
                  <a:srgbClr val="555B66"/>
                </a:solidFill>
                <a:latin typeface="Calibri"/>
              </a:rPr>
              <a:t>Management 405 · </a:t>
            </a:r>
            <a:r>
              <a:rPr lang="en-US" sz="1100" b="0" i="0" dirty="0">
                <a:solidFill>
                  <a:srgbClr val="555B66"/>
                </a:solidFill>
                <a:latin typeface="Calibri"/>
              </a:rPr>
              <a:t>Perfect Competition</a:t>
            </a:r>
            <a:endParaRPr sz="1100" b="0" i="0" dirty="0">
              <a:solidFill>
                <a:srgbClr val="555B66"/>
              </a:solidFill>
              <a:latin typeface="Calibri"/>
            </a:endParaRP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49</a:t>
            </a:r>
            <a:endParaRPr sz="1100" b="0" i="0" dirty="0">
              <a:solidFill>
                <a:srgbClr val="555B66"/>
              </a:solidFill>
              <a:latin typeface="Calibri"/>
            </a:endParaRPr>
          </a:p>
        </p:txBody>
      </p:sp>
      <p:sp>
        <p:nvSpPr>
          <p:cNvPr id="10" name="A_0"/>
          <p:cNvSpPr txBox="1"/>
          <p:nvPr/>
        </p:nvSpPr>
        <p:spPr>
          <a:xfrm>
            <a:off x="640080" y="1600200"/>
            <a:ext cx="11155680" cy="5486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a:solidFill>
                  <a:srgbClr val="0B2B4E"/>
                </a:solidFill>
                <a:latin typeface="Calibri"/>
              </a:rPr>
              <a:t>Inefficiencies that arise under market intervention</a:t>
            </a:r>
          </a:p>
        </p:txBody>
      </p:sp>
      <p:sp>
        <p:nvSpPr>
          <p:cNvPr id="11" name="B_0"/>
          <p:cNvSpPr txBox="1"/>
          <p:nvPr/>
        </p:nvSpPr>
        <p:spPr>
          <a:xfrm>
            <a:off x="640080" y="2514600"/>
            <a:ext cx="11155680" cy="754053"/>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Loss of mutually beneficial transactions</a:t>
            </a:r>
          </a:p>
          <a:p>
            <a:pPr marL="603504" lvl="1" indent="-603504">
              <a:spcAft>
                <a:spcPts val="0"/>
              </a:spcAft>
              <a:buClr>
                <a:srgbClr val="555B66"/>
              </a:buClr>
              <a:buSzPct val="100000"/>
              <a:buFont typeface="Calibri"/>
              <a:buChar char="–"/>
            </a:pPr>
            <a:r>
              <a:rPr lang="en-US" sz="2000" dirty="0">
                <a:solidFill>
                  <a:srgbClr val="0B2B4E"/>
                </a:solidFill>
                <a:latin typeface="Calibri"/>
              </a:rPr>
              <a:t>e</a:t>
            </a:r>
            <a:r>
              <a:rPr sz="2000" b="0" i="0" dirty="0">
                <a:solidFill>
                  <a:srgbClr val="0B2B4E"/>
                </a:solidFill>
                <a:latin typeface="Calibri"/>
              </a:rPr>
              <a:t>.g., workers willing to work at the free market wage and firms willing to hire them</a:t>
            </a:r>
          </a:p>
        </p:txBody>
      </p:sp>
      <p:sp>
        <p:nvSpPr>
          <p:cNvPr id="12" name="C_0"/>
          <p:cNvSpPr txBox="1"/>
          <p:nvPr/>
        </p:nvSpPr>
        <p:spPr>
          <a:xfrm>
            <a:off x="640080" y="4160520"/>
            <a:ext cx="11155680" cy="5486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dirty="0">
                <a:solidFill>
                  <a:srgbClr val="0B2B4E"/>
                </a:solidFill>
                <a:latin typeface="Calibri"/>
              </a:rPr>
              <a:t>Deadweight loss:</a:t>
            </a:r>
          </a:p>
        </p:txBody>
      </p:sp>
      <p:sp>
        <p:nvSpPr>
          <p:cNvPr id="13" name="F_0"/>
          <p:cNvSpPr/>
          <p:nvPr/>
        </p:nvSpPr>
        <p:spPr>
          <a:xfrm>
            <a:off x="1005840" y="4892040"/>
            <a:ext cx="10149840" cy="1051560"/>
          </a:xfrm>
          <a:prstGeom prst="roundRect">
            <a:avLst>
              <a:gd name="adj" fmla="val 10000"/>
            </a:avLst>
          </a:prstGeom>
          <a:solidFill>
            <a:srgbClr val="FDF6E6"/>
          </a:solidFill>
          <a:ln w="22225">
            <a:solidFill>
              <a:srgbClr val="E09F3E"/>
            </a:solidFill>
          </a:ln>
          <a:effectLst>
            <a:outerShdw blurRad="64008" dist="45720" dir="5400000" rotWithShape="0">
              <a:srgbClr val="000000">
                <a:alpha val="4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dirty="0">
                <a:solidFill>
                  <a:srgbClr val="0B2B4E"/>
                </a:solidFill>
                <a:latin typeface="Cambria Math"/>
              </a:rPr>
              <a:t>Welfare (CS + PS)</a:t>
            </a:r>
            <a:r>
              <a:rPr sz="2000" b="0" i="0" baseline="-22000" dirty="0">
                <a:solidFill>
                  <a:srgbClr val="0B2B4E"/>
                </a:solidFill>
                <a:latin typeface="Cambria Math"/>
              </a:rPr>
              <a:t>Free Market</a:t>
            </a:r>
            <a:r>
              <a:rPr sz="2400" b="0" i="0" dirty="0">
                <a:solidFill>
                  <a:srgbClr val="0B2B4E"/>
                </a:solidFill>
                <a:latin typeface="Cambria Math"/>
              </a:rPr>
              <a:t>  −  Welfare (CS + PS)</a:t>
            </a:r>
            <a:r>
              <a:rPr sz="2000" b="0" i="0" baseline="-22000" dirty="0">
                <a:solidFill>
                  <a:srgbClr val="0B2B4E"/>
                </a:solidFill>
                <a:latin typeface="Cambria Math"/>
              </a:rPr>
              <a:t>Regulation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lang="en-US" sz="1600" b="1" i="0" dirty="0">
                <a:solidFill>
                  <a:srgbClr val="FFFFFF"/>
                </a:solidFill>
                <a:latin typeface="Calibri"/>
              </a:rPr>
              <a:t>Perfect Competition</a:t>
            </a:r>
            <a:r>
              <a:rPr sz="1600" b="1" i="0" dirty="0">
                <a:solidFill>
                  <a:srgbClr val="FFFFFF"/>
                </a:solidFill>
                <a:latin typeface="Calibri"/>
              </a:rPr>
              <a:t> · Price Controls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Price Floor: Minimum Wage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sz="1100" b="0" i="0" dirty="0">
                <a:solidFill>
                  <a:srgbClr val="555B66"/>
                </a:solidFill>
                <a:latin typeface="Calibri"/>
              </a:rPr>
              <a:t>Management 405 · </a:t>
            </a:r>
            <a:r>
              <a:rPr lang="en-US" sz="1100" b="0" i="0" dirty="0">
                <a:solidFill>
                  <a:srgbClr val="555B66"/>
                </a:solidFill>
                <a:latin typeface="Calibri"/>
              </a:rPr>
              <a:t>Perfect Competition</a:t>
            </a:r>
            <a:endParaRPr sz="1100" b="0" i="0" dirty="0">
              <a:solidFill>
                <a:srgbClr val="555B66"/>
              </a:solidFill>
              <a:latin typeface="Calibri"/>
            </a:endParaRP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50</a:t>
            </a:r>
            <a:endParaRPr sz="1100" b="0" i="0" dirty="0">
              <a:solidFill>
                <a:srgbClr val="555B66"/>
              </a:solidFill>
              <a:latin typeface="Calibri"/>
            </a:endParaRPr>
          </a:p>
        </p:txBody>
      </p:sp>
      <p:cxnSp>
        <p:nvCxnSpPr>
          <p:cNvPr id="10" name="Connector 9"/>
          <p:cNvCxnSpPr/>
          <p:nvPr/>
        </p:nvCxnSpPr>
        <p:spPr>
          <a:xfrm flipV="1">
            <a:off x="868680" y="1709927"/>
            <a:ext cx="0" cy="3867913"/>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68680" y="5577840"/>
            <a:ext cx="388620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82880" y="1709927"/>
            <a:ext cx="1280160" cy="310896"/>
          </a:xfrm>
          <a:prstGeom prst="rect">
            <a:avLst/>
          </a:prstGeom>
          <a:noFill/>
        </p:spPr>
        <p:txBody>
          <a:bodyPr wrap="square" lIns="0" tIns="0" rIns="0" bIns="0" anchor="t">
            <a:spAutoFit/>
          </a:bodyPr>
          <a:lstStyle/>
          <a:p>
            <a:pPr algn="l"/>
            <a:r>
              <a:rPr sz="1800" b="0" i="0">
                <a:solidFill>
                  <a:srgbClr val="0B2B4E"/>
                </a:solidFill>
                <a:latin typeface="Calibri"/>
              </a:rPr>
              <a:t>Wage</a:t>
            </a:r>
          </a:p>
        </p:txBody>
      </p:sp>
      <p:sp>
        <p:nvSpPr>
          <p:cNvPr id="13" name="TextBox 12"/>
          <p:cNvSpPr txBox="1"/>
          <p:nvPr/>
        </p:nvSpPr>
        <p:spPr>
          <a:xfrm>
            <a:off x="4590288" y="5596127"/>
            <a:ext cx="1097280" cy="310896"/>
          </a:xfrm>
          <a:prstGeom prst="rect">
            <a:avLst/>
          </a:prstGeom>
          <a:noFill/>
        </p:spPr>
        <p:txBody>
          <a:bodyPr wrap="square" lIns="0" tIns="0" rIns="0" bIns="0" anchor="t">
            <a:spAutoFit/>
          </a:bodyPr>
          <a:lstStyle/>
          <a:p>
            <a:pPr algn="l"/>
            <a:r>
              <a:rPr sz="1800" b="0" i="0">
                <a:solidFill>
                  <a:srgbClr val="0B2B4E"/>
                </a:solidFill>
                <a:latin typeface="Calibri"/>
              </a:rPr>
              <a:t>Labor</a:t>
            </a:r>
          </a:p>
        </p:txBody>
      </p:sp>
      <p:cxnSp>
        <p:nvCxnSpPr>
          <p:cNvPr id="14" name="G1_0"/>
          <p:cNvCxnSpPr/>
          <p:nvPr/>
        </p:nvCxnSpPr>
        <p:spPr>
          <a:xfrm>
            <a:off x="868680" y="2327147"/>
            <a:ext cx="3611880" cy="3250693"/>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5" name="G1_1"/>
          <p:cNvSpPr txBox="1"/>
          <p:nvPr/>
        </p:nvSpPr>
        <p:spPr>
          <a:xfrm>
            <a:off x="4490010" y="5158359"/>
            <a:ext cx="731520" cy="310896"/>
          </a:xfrm>
          <a:prstGeom prst="rect">
            <a:avLst/>
          </a:prstGeom>
          <a:noFill/>
        </p:spPr>
        <p:txBody>
          <a:bodyPr wrap="square" lIns="0" tIns="0" rIns="0" bIns="0" anchor="t">
            <a:spAutoFit/>
          </a:bodyPr>
          <a:lstStyle/>
          <a:p>
            <a:pPr algn="l"/>
            <a:r>
              <a:rPr sz="2000" b="0" i="0" dirty="0">
                <a:solidFill>
                  <a:srgbClr val="0B2B4E"/>
                </a:solidFill>
                <a:latin typeface="Calibri"/>
              </a:rPr>
              <a:t>L</a:t>
            </a:r>
            <a:r>
              <a:rPr sz="1300" b="0" i="0" baseline="-25000" dirty="0">
                <a:solidFill>
                  <a:srgbClr val="0B2B4E"/>
                </a:solidFill>
                <a:latin typeface="Calibri"/>
              </a:rPr>
              <a:t>D</a:t>
            </a:r>
          </a:p>
        </p:txBody>
      </p:sp>
      <p:cxnSp>
        <p:nvCxnSpPr>
          <p:cNvPr id="16" name="G1_2"/>
          <p:cNvCxnSpPr>
            <a:cxnSpLocks/>
          </p:cNvCxnSpPr>
          <p:nvPr/>
        </p:nvCxnSpPr>
        <p:spPr>
          <a:xfrm flipV="1">
            <a:off x="868680" y="2327147"/>
            <a:ext cx="3611880" cy="3250693"/>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7" name="G1_3"/>
          <p:cNvSpPr txBox="1"/>
          <p:nvPr/>
        </p:nvSpPr>
        <p:spPr>
          <a:xfrm>
            <a:off x="4521582" y="2085976"/>
            <a:ext cx="731520" cy="310896"/>
          </a:xfrm>
          <a:prstGeom prst="rect">
            <a:avLst/>
          </a:prstGeom>
          <a:noFill/>
        </p:spPr>
        <p:txBody>
          <a:bodyPr wrap="square" lIns="0" tIns="0" rIns="0" bIns="0" anchor="t">
            <a:spAutoFit/>
          </a:bodyPr>
          <a:lstStyle/>
          <a:p>
            <a:pPr algn="l"/>
            <a:r>
              <a:rPr sz="2000" b="0" i="0" dirty="0">
                <a:solidFill>
                  <a:srgbClr val="0B2B4E"/>
                </a:solidFill>
                <a:latin typeface="Calibri"/>
              </a:rPr>
              <a:t>L</a:t>
            </a:r>
            <a:r>
              <a:rPr sz="1300" b="0" i="0" baseline="-25000" dirty="0">
                <a:solidFill>
                  <a:srgbClr val="0B2B4E"/>
                </a:solidFill>
                <a:latin typeface="Calibri"/>
              </a:rPr>
              <a:t>S</a:t>
            </a:r>
          </a:p>
        </p:txBody>
      </p:sp>
      <p:sp>
        <p:nvSpPr>
          <p:cNvPr id="19" name="G1_5"/>
          <p:cNvSpPr txBox="1"/>
          <p:nvPr/>
        </p:nvSpPr>
        <p:spPr>
          <a:xfrm>
            <a:off x="228600" y="3806189"/>
            <a:ext cx="548640" cy="310896"/>
          </a:xfrm>
          <a:prstGeom prst="rect">
            <a:avLst/>
          </a:prstGeom>
          <a:noFill/>
        </p:spPr>
        <p:txBody>
          <a:bodyPr wrap="square" lIns="0" tIns="0" rIns="0" bIns="0" anchor="t">
            <a:spAutoFit/>
          </a:bodyPr>
          <a:lstStyle/>
          <a:p>
            <a:pPr algn="r"/>
            <a:r>
              <a:rPr sz="1800" b="0" i="0" dirty="0">
                <a:solidFill>
                  <a:srgbClr val="0B2B4E"/>
                </a:solidFill>
                <a:latin typeface="Calibri"/>
              </a:rPr>
              <a:t>w*</a:t>
            </a:r>
          </a:p>
        </p:txBody>
      </p:sp>
      <p:cxnSp>
        <p:nvCxnSpPr>
          <p:cNvPr id="20" name="G1_6"/>
          <p:cNvCxnSpPr>
            <a:cxnSpLocks/>
          </p:cNvCxnSpPr>
          <p:nvPr/>
        </p:nvCxnSpPr>
        <p:spPr>
          <a:xfrm flipV="1">
            <a:off x="2674620" y="3952493"/>
            <a:ext cx="0" cy="1625347"/>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G1_7"/>
          <p:cNvSpPr txBox="1"/>
          <p:nvPr/>
        </p:nvSpPr>
        <p:spPr>
          <a:xfrm>
            <a:off x="2418587" y="5605272"/>
            <a:ext cx="548640" cy="276999"/>
          </a:xfrm>
          <a:prstGeom prst="rect">
            <a:avLst/>
          </a:prstGeom>
          <a:noFill/>
        </p:spPr>
        <p:txBody>
          <a:bodyPr wrap="square" lIns="0" tIns="0" rIns="0" bIns="0" anchor="t">
            <a:spAutoFit/>
          </a:bodyPr>
          <a:lstStyle/>
          <a:p>
            <a:pPr algn="ctr"/>
            <a:r>
              <a:rPr b="0" i="0" dirty="0">
                <a:solidFill>
                  <a:srgbClr val="0B2B4E"/>
                </a:solidFill>
                <a:latin typeface="Calibri"/>
              </a:rPr>
              <a:t>L*</a:t>
            </a:r>
          </a:p>
        </p:txBody>
      </p:sp>
      <p:sp>
        <p:nvSpPr>
          <p:cNvPr id="22" name="G1_8"/>
          <p:cNvSpPr/>
          <p:nvPr/>
        </p:nvSpPr>
        <p:spPr>
          <a:xfrm>
            <a:off x="2610612" y="3888485"/>
            <a:ext cx="128016" cy="128016"/>
          </a:xfrm>
          <a:prstGeom prst="ellipse">
            <a:avLst/>
          </a:prstGeom>
          <a:solidFill>
            <a:srgbClr val="1FA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G2_0"/>
          <p:cNvCxnSpPr/>
          <p:nvPr/>
        </p:nvCxnSpPr>
        <p:spPr>
          <a:xfrm>
            <a:off x="868680" y="3338474"/>
            <a:ext cx="2488585" cy="0"/>
          </a:xfrm>
          <a:prstGeom prst="line">
            <a:avLst/>
          </a:prstGeom>
          <a:ln w="19050">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4" name="G2_1"/>
          <p:cNvSpPr txBox="1"/>
          <p:nvPr/>
        </p:nvSpPr>
        <p:spPr>
          <a:xfrm>
            <a:off x="82295" y="3192170"/>
            <a:ext cx="731520" cy="276999"/>
          </a:xfrm>
          <a:prstGeom prst="rect">
            <a:avLst/>
          </a:prstGeom>
          <a:noFill/>
        </p:spPr>
        <p:txBody>
          <a:bodyPr wrap="square" lIns="0" tIns="0" rIns="0" bIns="0" anchor="t">
            <a:spAutoFit/>
          </a:bodyPr>
          <a:lstStyle/>
          <a:p>
            <a:pPr algn="r"/>
            <a:r>
              <a:rPr lang="en-US" dirty="0" err="1">
                <a:solidFill>
                  <a:schemeClr val="accent2"/>
                </a:solidFill>
                <a:latin typeface="Calibri"/>
              </a:rPr>
              <a:t>w</a:t>
            </a:r>
            <a:r>
              <a:rPr sz="1200" b="0" i="0" baseline="-25000" dirty="0" err="1">
                <a:solidFill>
                  <a:schemeClr val="accent2"/>
                </a:solidFill>
                <a:latin typeface="Calibri"/>
              </a:rPr>
              <a:t>min</a:t>
            </a:r>
            <a:endParaRPr sz="1200" b="0" i="0" baseline="-25000" dirty="0">
              <a:solidFill>
                <a:schemeClr val="accent2"/>
              </a:solidFill>
              <a:latin typeface="Calibri"/>
            </a:endParaRPr>
          </a:p>
        </p:txBody>
      </p:sp>
      <p:cxnSp>
        <p:nvCxnSpPr>
          <p:cNvPr id="25" name="G2_2"/>
          <p:cNvCxnSpPr/>
          <p:nvPr/>
        </p:nvCxnSpPr>
        <p:spPr>
          <a:xfrm flipV="1">
            <a:off x="1991974" y="3338474"/>
            <a:ext cx="0" cy="2239366"/>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G2_3"/>
          <p:cNvCxnSpPr/>
          <p:nvPr/>
        </p:nvCxnSpPr>
        <p:spPr>
          <a:xfrm flipV="1">
            <a:off x="3357265" y="3338474"/>
            <a:ext cx="0" cy="2239366"/>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G2_4"/>
          <p:cNvSpPr txBox="1"/>
          <p:nvPr/>
        </p:nvSpPr>
        <p:spPr>
          <a:xfrm>
            <a:off x="1735942" y="5605272"/>
            <a:ext cx="548640" cy="276999"/>
          </a:xfrm>
          <a:prstGeom prst="rect">
            <a:avLst/>
          </a:prstGeom>
          <a:noFill/>
        </p:spPr>
        <p:txBody>
          <a:bodyPr wrap="square" lIns="0" tIns="0" rIns="0" bIns="0" anchor="t">
            <a:spAutoFit/>
          </a:bodyPr>
          <a:lstStyle/>
          <a:p>
            <a:pPr algn="ctr"/>
            <a:r>
              <a:rPr b="0" i="0" dirty="0" err="1">
                <a:solidFill>
                  <a:srgbClr val="0B2B4E"/>
                </a:solidFill>
                <a:latin typeface="Calibri"/>
              </a:rPr>
              <a:t>L</a:t>
            </a:r>
            <a:r>
              <a:rPr b="0" i="0" baseline="-25000" dirty="0" err="1">
                <a:solidFill>
                  <a:srgbClr val="0B2B4E"/>
                </a:solidFill>
                <a:latin typeface="Calibri"/>
              </a:rPr>
              <a:t>d</a:t>
            </a:r>
            <a:endParaRPr b="0" i="0" baseline="-25000" dirty="0">
              <a:solidFill>
                <a:srgbClr val="0B2B4E"/>
              </a:solidFill>
              <a:latin typeface="Calibri"/>
            </a:endParaRPr>
          </a:p>
        </p:txBody>
      </p:sp>
      <p:sp>
        <p:nvSpPr>
          <p:cNvPr id="28" name="G2_5"/>
          <p:cNvSpPr txBox="1"/>
          <p:nvPr/>
        </p:nvSpPr>
        <p:spPr>
          <a:xfrm>
            <a:off x="3101233" y="5605272"/>
            <a:ext cx="548640" cy="276999"/>
          </a:xfrm>
          <a:prstGeom prst="rect">
            <a:avLst/>
          </a:prstGeom>
          <a:noFill/>
        </p:spPr>
        <p:txBody>
          <a:bodyPr wrap="square" lIns="0" tIns="0" rIns="0" bIns="0" anchor="t">
            <a:spAutoFit/>
          </a:bodyPr>
          <a:lstStyle/>
          <a:p>
            <a:pPr algn="ctr"/>
            <a:r>
              <a:rPr b="0" i="0" dirty="0">
                <a:solidFill>
                  <a:srgbClr val="0B2B4E"/>
                </a:solidFill>
                <a:latin typeface="Calibri"/>
              </a:rPr>
              <a:t>L</a:t>
            </a:r>
            <a:r>
              <a:rPr b="0" i="0" baseline="-25000" dirty="0">
                <a:solidFill>
                  <a:srgbClr val="0B2B4E"/>
                </a:solidFill>
                <a:latin typeface="Calibri"/>
              </a:rPr>
              <a:t>s</a:t>
            </a:r>
          </a:p>
        </p:txBody>
      </p:sp>
      <p:sp>
        <p:nvSpPr>
          <p:cNvPr id="30" name="G2_7"/>
          <p:cNvSpPr/>
          <p:nvPr/>
        </p:nvSpPr>
        <p:spPr>
          <a:xfrm>
            <a:off x="1991974" y="3338474"/>
            <a:ext cx="682646" cy="614020"/>
          </a:xfrm>
          <a:custGeom>
            <a:avLst/>
            <a:gdLst/>
            <a:ahLst/>
            <a:cxnLst/>
            <a:rect l="l" t="t" r="r" b="b"/>
            <a:pathLst>
              <a:path w="682646" h="614020">
                <a:moveTo>
                  <a:pt x="0" y="0"/>
                </a:moveTo>
                <a:lnTo>
                  <a:pt x="682646" y="614020"/>
                </a:lnTo>
                <a:lnTo>
                  <a:pt x="0" y="614020"/>
                </a:lnTo>
                <a:lnTo>
                  <a:pt x="0" y="0"/>
                </a:lnTo>
                <a:close/>
              </a:path>
            </a:pathLst>
          </a:custGeom>
          <a:solidFill>
            <a:srgbClr val="8A8F98">
              <a:alpha val="72000"/>
            </a:srgbClr>
          </a:solidFill>
          <a:ln w="1270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2_8"/>
          <p:cNvSpPr/>
          <p:nvPr/>
        </p:nvSpPr>
        <p:spPr>
          <a:xfrm>
            <a:off x="1991974" y="3952494"/>
            <a:ext cx="682646" cy="614380"/>
          </a:xfrm>
          <a:custGeom>
            <a:avLst/>
            <a:gdLst/>
            <a:ahLst/>
            <a:cxnLst/>
            <a:rect l="l" t="t" r="r" b="b"/>
            <a:pathLst>
              <a:path w="682646" h="614380">
                <a:moveTo>
                  <a:pt x="0" y="0"/>
                </a:moveTo>
                <a:lnTo>
                  <a:pt x="682646" y="0"/>
                </a:lnTo>
                <a:lnTo>
                  <a:pt x="0" y="614380"/>
                </a:lnTo>
                <a:lnTo>
                  <a:pt x="0" y="0"/>
                </a:lnTo>
                <a:close/>
              </a:path>
            </a:pathLst>
          </a:custGeom>
          <a:solidFill>
            <a:srgbClr val="33B033">
              <a:alpha val="85000"/>
            </a:srgbClr>
          </a:solidFill>
          <a:ln w="12700">
            <a:solidFill>
              <a:srgbClr val="33B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G2_9"/>
          <p:cNvSpPr txBox="1"/>
          <p:nvPr/>
        </p:nvSpPr>
        <p:spPr>
          <a:xfrm>
            <a:off x="1338317" y="3527933"/>
            <a:ext cx="457200" cy="310896"/>
          </a:xfrm>
          <a:prstGeom prst="rect">
            <a:avLst/>
          </a:prstGeom>
          <a:noFill/>
        </p:spPr>
        <p:txBody>
          <a:bodyPr wrap="square" lIns="0" tIns="0" rIns="0" bIns="0" anchor="t">
            <a:spAutoFit/>
          </a:bodyPr>
          <a:lstStyle/>
          <a:p>
            <a:pPr algn="l"/>
            <a:r>
              <a:rPr sz="1800" b="1" i="0" dirty="0">
                <a:solidFill>
                  <a:srgbClr val="0B2B4E"/>
                </a:solidFill>
                <a:latin typeface="Calibri"/>
              </a:rPr>
              <a:t>A</a:t>
            </a:r>
          </a:p>
        </p:txBody>
      </p:sp>
      <p:sp>
        <p:nvSpPr>
          <p:cNvPr id="33" name="G2_10"/>
          <p:cNvSpPr txBox="1"/>
          <p:nvPr/>
        </p:nvSpPr>
        <p:spPr>
          <a:xfrm>
            <a:off x="2132838" y="3595379"/>
            <a:ext cx="457200" cy="310896"/>
          </a:xfrm>
          <a:prstGeom prst="rect">
            <a:avLst/>
          </a:prstGeom>
          <a:noFill/>
        </p:spPr>
        <p:txBody>
          <a:bodyPr wrap="square" lIns="0" tIns="0" rIns="0" bIns="0" anchor="t">
            <a:spAutoFit/>
          </a:bodyPr>
          <a:lstStyle/>
          <a:p>
            <a:pPr algn="l"/>
            <a:r>
              <a:rPr sz="1800" b="1" i="0" dirty="0">
                <a:solidFill>
                  <a:srgbClr val="0B2B4E"/>
                </a:solidFill>
                <a:latin typeface="Calibri"/>
              </a:rPr>
              <a:t>B</a:t>
            </a:r>
          </a:p>
        </p:txBody>
      </p:sp>
      <p:sp>
        <p:nvSpPr>
          <p:cNvPr id="34" name="G2_11"/>
          <p:cNvSpPr txBox="1"/>
          <p:nvPr/>
        </p:nvSpPr>
        <p:spPr>
          <a:xfrm>
            <a:off x="2112917" y="4022905"/>
            <a:ext cx="457200" cy="310896"/>
          </a:xfrm>
          <a:prstGeom prst="rect">
            <a:avLst/>
          </a:prstGeom>
          <a:noFill/>
        </p:spPr>
        <p:txBody>
          <a:bodyPr wrap="square" lIns="0" tIns="0" rIns="0" bIns="0" anchor="t">
            <a:spAutoFit/>
          </a:bodyPr>
          <a:lstStyle/>
          <a:p>
            <a:pPr algn="l"/>
            <a:r>
              <a:rPr sz="1800" b="1" i="0" dirty="0">
                <a:solidFill>
                  <a:srgbClr val="0B2B4E"/>
                </a:solidFill>
                <a:latin typeface="Calibri"/>
              </a:rPr>
              <a:t>C</a:t>
            </a:r>
          </a:p>
        </p:txBody>
      </p:sp>
      <p:sp>
        <p:nvSpPr>
          <p:cNvPr id="35" name="G2_12"/>
          <p:cNvSpPr/>
          <p:nvPr/>
        </p:nvSpPr>
        <p:spPr>
          <a:xfrm rot="16200000">
            <a:off x="2583179" y="5306674"/>
            <a:ext cx="182880" cy="1365290"/>
          </a:xfrm>
          <a:prstGeom prst="leftBrace">
            <a:avLst/>
          </a:prstGeom>
          <a:noFill/>
          <a:ln w="254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G2_unemp"/>
          <p:cNvSpPr txBox="1"/>
          <p:nvPr/>
        </p:nvSpPr>
        <p:spPr>
          <a:xfrm>
            <a:off x="1595502" y="6163118"/>
            <a:ext cx="2926080" cy="276999"/>
          </a:xfrm>
          <a:prstGeom prst="rect">
            <a:avLst/>
          </a:prstGeom>
          <a:noFill/>
        </p:spPr>
        <p:txBody>
          <a:bodyPr wrap="square" lIns="0" tIns="0" rIns="0" bIns="0" anchor="t">
            <a:spAutoFit/>
          </a:bodyPr>
          <a:lstStyle/>
          <a:p>
            <a:pPr algn="ctr"/>
            <a:r>
              <a:rPr b="0" i="0" dirty="0">
                <a:solidFill>
                  <a:srgbClr val="C0201B"/>
                </a:solidFill>
                <a:latin typeface="Calibri"/>
              </a:rPr>
              <a:t>L</a:t>
            </a:r>
            <a:r>
              <a:rPr b="0" i="0" baseline="-25000" dirty="0">
                <a:solidFill>
                  <a:srgbClr val="C0201B"/>
                </a:solidFill>
                <a:latin typeface="Calibri"/>
              </a:rPr>
              <a:t>s</a:t>
            </a:r>
            <a:r>
              <a:rPr b="0" i="0" dirty="0">
                <a:solidFill>
                  <a:srgbClr val="C0201B"/>
                </a:solidFill>
                <a:latin typeface="Calibri"/>
              </a:rPr>
              <a:t>  − </a:t>
            </a:r>
            <a:r>
              <a:rPr b="0" i="0" dirty="0" err="1">
                <a:solidFill>
                  <a:srgbClr val="C0201B"/>
                </a:solidFill>
                <a:latin typeface="Calibri"/>
              </a:rPr>
              <a:t>L</a:t>
            </a:r>
            <a:r>
              <a:rPr b="0" i="0" baseline="-25000" dirty="0" err="1">
                <a:solidFill>
                  <a:srgbClr val="C0201B"/>
                </a:solidFill>
                <a:latin typeface="Calibri"/>
              </a:rPr>
              <a:t>d</a:t>
            </a:r>
            <a:r>
              <a:rPr b="0" i="0" dirty="0">
                <a:solidFill>
                  <a:srgbClr val="C0201B"/>
                </a:solidFill>
                <a:latin typeface="Calibri"/>
              </a:rPr>
              <a:t>  = unemployment</a:t>
            </a:r>
          </a:p>
        </p:txBody>
      </p:sp>
      <p:sp>
        <p:nvSpPr>
          <p:cNvPr id="37" name="W_0"/>
          <p:cNvSpPr txBox="1"/>
          <p:nvPr/>
        </p:nvSpPr>
        <p:spPr>
          <a:xfrm>
            <a:off x="6126480" y="1572768"/>
            <a:ext cx="5669280" cy="1762021"/>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200" b="0" i="0" dirty="0">
                <a:solidFill>
                  <a:srgbClr val="0B2B4E"/>
                </a:solidFill>
                <a:latin typeface="Calibri"/>
              </a:rPr>
              <a:t>Welfare effects:</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Some workers win A</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Some workers lose C</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Firms lose A + B</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Deadweight loss B + C</a:t>
            </a:r>
          </a:p>
        </p:txBody>
      </p:sp>
      <p:sp>
        <p:nvSpPr>
          <p:cNvPr id="38" name="CV_0"/>
          <p:cNvSpPr txBox="1"/>
          <p:nvPr/>
        </p:nvSpPr>
        <p:spPr>
          <a:xfrm>
            <a:off x="6126480" y="3977639"/>
            <a:ext cx="5669280" cy="1415772"/>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200" b="0" i="0" dirty="0">
                <a:solidFill>
                  <a:srgbClr val="0B2B4E"/>
                </a:solidFill>
                <a:latin typeface="Calibri"/>
              </a:rPr>
              <a:t>Circumvention?</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Underground labor market</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Cutting non-wage benefits</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Unpaid internships</a:t>
            </a:r>
          </a:p>
        </p:txBody>
      </p:sp>
      <p:cxnSp>
        <p:nvCxnSpPr>
          <p:cNvPr id="40" name="G1_6">
            <a:extLst>
              <a:ext uri="{FF2B5EF4-FFF2-40B4-BE49-F238E27FC236}">
                <a16:creationId xmlns:a16="http://schemas.microsoft.com/office/drawing/2014/main" id="{592E49BA-4D0B-B7F8-4DEB-8D4406C365CA}"/>
              </a:ext>
            </a:extLst>
          </p:cNvPr>
          <p:cNvCxnSpPr>
            <a:cxnSpLocks/>
          </p:cNvCxnSpPr>
          <p:nvPr/>
        </p:nvCxnSpPr>
        <p:spPr>
          <a:xfrm flipH="1">
            <a:off x="881399" y="3961543"/>
            <a:ext cx="1729213" cy="0"/>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G2_6">
            <a:extLst>
              <a:ext uri="{FF2B5EF4-FFF2-40B4-BE49-F238E27FC236}">
                <a16:creationId xmlns:a16="http://schemas.microsoft.com/office/drawing/2014/main" id="{484758F9-711E-ADDE-D68C-F00136F20D04}"/>
              </a:ext>
            </a:extLst>
          </p:cNvPr>
          <p:cNvSpPr/>
          <p:nvPr/>
        </p:nvSpPr>
        <p:spPr>
          <a:xfrm>
            <a:off x="868680" y="3338474"/>
            <a:ext cx="1123294" cy="614019"/>
          </a:xfrm>
          <a:prstGeom prst="rect">
            <a:avLst/>
          </a:prstGeom>
          <a:solidFill>
            <a:srgbClr val="C0201B">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
                                            <p:txEl>
                                              <p:pRg st="1" end="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xEl>
                                              <p:pRg st="2" end="2"/>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7">
                                            <p:txEl>
                                              <p:pRg st="3" end="3"/>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7">
                                            <p:txEl>
                                              <p:pRg st="4" end="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8">
                                            <p:txEl>
                                              <p:pRg st="1" end="1"/>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8">
                                            <p:txEl>
                                              <p:pRg st="2" end="2"/>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1" grpId="0"/>
      <p:bldP spid="22" grpId="0" animBg="1"/>
      <p:bldP spid="24" grpId="0"/>
      <p:bldP spid="27" grpId="0"/>
      <p:bldP spid="28" grpId="0"/>
      <p:bldP spid="30" grpId="0" animBg="1"/>
      <p:bldP spid="31" grpId="0" animBg="1"/>
      <p:bldP spid="32" grpId="0"/>
      <p:bldP spid="33" grpId="0"/>
      <p:bldP spid="34" grpId="0"/>
      <p:bldP spid="35" grpId="0" animBg="1"/>
      <p:bldP spid="36" grpId="0"/>
      <p:bldP spid="4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lang="en-US" sz="3000" b="1" dirty="0">
                <a:solidFill>
                  <a:srgbClr val="0B2B4E"/>
                </a:solidFill>
                <a:latin typeface="Calibri"/>
              </a:rPr>
              <a:t>The Minimum Wage: A Popular Policy Tool</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51</a:t>
            </a:r>
          </a:p>
        </p:txBody>
      </p:sp>
      <p:sp>
        <p:nvSpPr>
          <p:cNvPr id="11" name="Pentagon 10"/>
          <p:cNvSpPr/>
          <p:nvPr/>
        </p:nvSpPr>
        <p:spPr>
          <a:xfrm>
            <a:off x="9638161"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Class discussion</a:t>
            </a:r>
          </a:p>
        </p:txBody>
      </p:sp>
      <p:pic>
        <p:nvPicPr>
          <p:cNvPr id="1026" name="Picture 2" descr="r/MapPorn - U.S. State Minimum Wage in 2026">
            <a:extLst>
              <a:ext uri="{FF2B5EF4-FFF2-40B4-BE49-F238E27FC236}">
                <a16:creationId xmlns:a16="http://schemas.microsoft.com/office/drawing/2014/main" id="{365DECDC-E015-BF91-BE46-DB271336D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496551"/>
            <a:ext cx="7246765" cy="483416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9AEC4C2-369F-E69F-84EC-6C524CF6FB6C}"/>
              </a:ext>
            </a:extLst>
          </p:cNvPr>
          <p:cNvSpPr txBox="1"/>
          <p:nvPr/>
        </p:nvSpPr>
        <p:spPr>
          <a:xfrm>
            <a:off x="143807" y="6007546"/>
            <a:ext cx="1877245" cy="646331"/>
          </a:xfrm>
          <a:prstGeom prst="rect">
            <a:avLst/>
          </a:prstGeom>
          <a:noFill/>
        </p:spPr>
        <p:txBody>
          <a:bodyPr wrap="none" rtlCol="0">
            <a:spAutoFit/>
          </a:bodyPr>
          <a:lstStyle/>
          <a:p>
            <a:r>
              <a:rPr lang="en-US" dirty="0"/>
              <a:t>Source: Wikipedia</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The Minimum Wage: How Much Is Too Much?</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52</a:t>
            </a:r>
          </a:p>
        </p:txBody>
      </p:sp>
      <p:sp>
        <p:nvSpPr>
          <p:cNvPr id="10" name="G1_0"/>
          <p:cNvSpPr txBox="1"/>
          <p:nvPr/>
        </p:nvSpPr>
        <p:spPr>
          <a:xfrm>
            <a:off x="502920" y="1426464"/>
            <a:ext cx="6126480" cy="307777"/>
          </a:xfrm>
          <a:prstGeom prst="rect">
            <a:avLst/>
          </a:prstGeom>
          <a:noFill/>
        </p:spPr>
        <p:txBody>
          <a:bodyPr wrap="square" lIns="0" tIns="0" rIns="0" bIns="0" anchor="t">
            <a:spAutoFit/>
          </a:bodyPr>
          <a:lstStyle/>
          <a:p>
            <a:pPr>
              <a:spcAft>
                <a:spcPts val="0"/>
              </a:spcAft>
            </a:pPr>
            <a:r>
              <a:rPr sz="2000" b="1" i="0" dirty="0">
                <a:solidFill>
                  <a:srgbClr val="0B2B4E"/>
                </a:solidFill>
                <a:latin typeface="Calibri"/>
              </a:rPr>
              <a:t>Conflicting evidence on the effects of the minimum wage</a:t>
            </a:r>
          </a:p>
        </p:txBody>
      </p:sp>
      <p:sp>
        <p:nvSpPr>
          <p:cNvPr id="11" name="G2_0"/>
          <p:cNvSpPr txBox="1"/>
          <p:nvPr/>
        </p:nvSpPr>
        <p:spPr>
          <a:xfrm>
            <a:off x="502920" y="1859041"/>
            <a:ext cx="5943600" cy="68580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1900" b="0" i="0" dirty="0">
                <a:solidFill>
                  <a:srgbClr val="0B2B4E"/>
                </a:solidFill>
                <a:latin typeface="Calibri"/>
              </a:rPr>
              <a:t>“Natural” experiments: changes to state and city minimum wages</a:t>
            </a:r>
          </a:p>
        </p:txBody>
      </p:sp>
      <p:sp>
        <p:nvSpPr>
          <p:cNvPr id="12" name="G3_0"/>
          <p:cNvSpPr txBox="1"/>
          <p:nvPr/>
        </p:nvSpPr>
        <p:spPr>
          <a:xfrm>
            <a:off x="502920" y="2590019"/>
            <a:ext cx="5943600" cy="68580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1900" b="0" i="0" dirty="0">
                <a:solidFill>
                  <a:srgbClr val="0B2B4E"/>
                </a:solidFill>
                <a:latin typeface="Calibri"/>
              </a:rPr>
              <a:t>Early evidence: No effect on employment, except teen employment</a:t>
            </a:r>
          </a:p>
        </p:txBody>
      </p:sp>
      <p:sp>
        <p:nvSpPr>
          <p:cNvPr id="13" name="G4_0"/>
          <p:cNvSpPr txBox="1"/>
          <p:nvPr/>
        </p:nvSpPr>
        <p:spPr>
          <a:xfrm>
            <a:off x="502920" y="3285505"/>
            <a:ext cx="5943600" cy="292388"/>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1900" b="0" i="0" dirty="0">
                <a:solidFill>
                  <a:srgbClr val="0B2B4E"/>
                </a:solidFill>
                <a:latin typeface="Calibri"/>
              </a:rPr>
              <a:t>Even the authors of the study remain cautious, however</a:t>
            </a:r>
          </a:p>
        </p:txBody>
      </p:sp>
      <p:pic>
        <p:nvPicPr>
          <p:cNvPr id="14" name="G4_1" descr="nyt_hl.png"/>
          <p:cNvPicPr>
            <a:picLocks noChangeAspect="1"/>
          </p:cNvPicPr>
          <p:nvPr/>
        </p:nvPicPr>
        <p:blipFill>
          <a:blip r:embed="rId3"/>
          <a:stretch>
            <a:fillRect/>
          </a:stretch>
        </p:blipFill>
        <p:spPr>
          <a:xfrm>
            <a:off x="6629400" y="1874519"/>
            <a:ext cx="4937760" cy="1205732"/>
          </a:xfrm>
          <a:prstGeom prst="rect">
            <a:avLst/>
          </a:prstGeom>
          <a:ln w="12700">
            <a:solidFill>
              <a:srgbClr val="C8CDD3"/>
            </a:solidFill>
          </a:ln>
          <a:effectLst>
            <a:outerShdw blurRad="45720" dist="27432" dir="5400000" rotWithShape="0">
              <a:srgbClr val="000000">
                <a:alpha val="35000"/>
              </a:srgbClr>
            </a:outerShdw>
          </a:effectLst>
        </p:spPr>
      </p:pic>
      <p:sp>
        <p:nvSpPr>
          <p:cNvPr id="15" name="G5_0"/>
          <p:cNvSpPr txBox="1"/>
          <p:nvPr/>
        </p:nvSpPr>
        <p:spPr>
          <a:xfrm>
            <a:off x="502920" y="3808072"/>
            <a:ext cx="5943600" cy="292388"/>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1900" b="0" i="0" dirty="0">
                <a:solidFill>
                  <a:srgbClr val="0B2B4E"/>
                </a:solidFill>
                <a:latin typeface="Calibri"/>
              </a:rPr>
              <a:t>More recent evidence</a:t>
            </a:r>
          </a:p>
        </p:txBody>
      </p:sp>
      <p:pic>
        <p:nvPicPr>
          <p:cNvPr id="16" name="G5_1" descr="vox_hl.png"/>
          <p:cNvPicPr>
            <a:picLocks noChangeAspect="1"/>
          </p:cNvPicPr>
          <p:nvPr/>
        </p:nvPicPr>
        <p:blipFill>
          <a:blip r:embed="rId4"/>
          <a:stretch>
            <a:fillRect/>
          </a:stretch>
        </p:blipFill>
        <p:spPr>
          <a:xfrm>
            <a:off x="6537960" y="3611880"/>
            <a:ext cx="5120640" cy="1038758"/>
          </a:xfrm>
          <a:prstGeom prst="rect">
            <a:avLst/>
          </a:prstGeom>
          <a:ln w="12700">
            <a:solidFill>
              <a:srgbClr val="C8CDD3"/>
            </a:solidFill>
          </a:ln>
          <a:effectLst>
            <a:outerShdw blurRad="45720" dist="27432" dir="5400000" rotWithShape="0">
              <a:srgbClr val="000000">
                <a:alpha val="35000"/>
              </a:srgbClr>
            </a:outerShdw>
          </a:effectLst>
        </p:spPr>
      </p:pic>
      <p:sp>
        <p:nvSpPr>
          <p:cNvPr id="17" name="G6_0"/>
          <p:cNvSpPr txBox="1"/>
          <p:nvPr/>
        </p:nvSpPr>
        <p:spPr>
          <a:xfrm>
            <a:off x="502920" y="4709160"/>
            <a:ext cx="5943600" cy="1645920"/>
          </a:xfrm>
          <a:prstGeom prst="rect">
            <a:avLst/>
          </a:prstGeom>
          <a:noFill/>
        </p:spPr>
        <p:txBody>
          <a:bodyPr wrap="square" lIns="0" tIns="0" rIns="0" bIns="0" anchor="t">
            <a:spAutoFit/>
          </a:bodyPr>
          <a:lstStyle/>
          <a:p>
            <a:pPr>
              <a:spcAft>
                <a:spcPts val="600"/>
              </a:spcAft>
            </a:pPr>
            <a:r>
              <a:rPr sz="1900" b="1" i="0" dirty="0">
                <a:solidFill>
                  <a:srgbClr val="0B2B4E"/>
                </a:solidFill>
                <a:latin typeface="Calibri"/>
              </a:rPr>
              <a:t>The minimum wage: how much is too much? From the perspective of…</a:t>
            </a:r>
          </a:p>
          <a:p>
            <a:pPr marL="274320" indent="-274320">
              <a:spcAft>
                <a:spcPts val="400"/>
              </a:spcAft>
              <a:buClr>
                <a:srgbClr val="0B2B4E"/>
              </a:buClr>
              <a:buSzPct val="100000"/>
              <a:buFont typeface="Calibri"/>
              <a:buChar char="▪"/>
            </a:pPr>
            <a:r>
              <a:rPr sz="1900" b="0" i="0" dirty="0">
                <a:solidFill>
                  <a:srgbClr val="0B2B4E"/>
                </a:solidFill>
                <a:latin typeface="Calibri"/>
              </a:rPr>
              <a:t>Business owners?</a:t>
            </a:r>
          </a:p>
          <a:p>
            <a:pPr marL="274320" indent="-274320">
              <a:spcAft>
                <a:spcPts val="400"/>
              </a:spcAft>
              <a:buClr>
                <a:srgbClr val="0B2B4E"/>
              </a:buClr>
              <a:buSzPct val="100000"/>
              <a:buFont typeface="Calibri"/>
              <a:buChar char="▪"/>
            </a:pPr>
            <a:r>
              <a:rPr sz="1900" b="0" i="0" dirty="0">
                <a:solidFill>
                  <a:srgbClr val="0B2B4E"/>
                </a:solidFill>
                <a:latin typeface="Calibri"/>
              </a:rPr>
              <a:t>Workers?</a:t>
            </a:r>
          </a:p>
          <a:p>
            <a:pPr marL="274320" indent="-274320">
              <a:spcAft>
                <a:spcPts val="0"/>
              </a:spcAft>
              <a:buClr>
                <a:srgbClr val="0B2B4E"/>
              </a:buClr>
              <a:buSzPct val="100000"/>
              <a:buFont typeface="Calibri"/>
              <a:buChar char="▪"/>
            </a:pPr>
            <a:r>
              <a:rPr sz="1900" b="0" i="0" dirty="0">
                <a:solidFill>
                  <a:srgbClr val="0B2B4E"/>
                </a:solidFill>
                <a:latin typeface="Calibri"/>
              </a:rPr>
              <a:t>Consumers?</a:t>
            </a:r>
          </a:p>
        </p:txBody>
      </p:sp>
      <p:sp>
        <p:nvSpPr>
          <p:cNvPr id="19" name="Pentagon 18">
            <a:extLst>
              <a:ext uri="{FF2B5EF4-FFF2-40B4-BE49-F238E27FC236}">
                <a16:creationId xmlns:a16="http://schemas.microsoft.com/office/drawing/2014/main" id="{D242BE20-D7B9-3161-1E19-3AB65E09BC2D}"/>
              </a:ext>
            </a:extLst>
          </p:cNvPr>
          <p:cNvSpPr/>
          <p:nvPr/>
        </p:nvSpPr>
        <p:spPr>
          <a:xfrm>
            <a:off x="9638161" y="5806440"/>
            <a:ext cx="2468880" cy="548640"/>
          </a:xfrm>
          <a:prstGeom prst="homePlate">
            <a:avLst>
              <a:gd name="adj" fmla="val 35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200" b="1" i="0" dirty="0">
                <a:solidFill>
                  <a:srgbClr val="0B2B4E"/>
                </a:solidFill>
                <a:latin typeface="Calibri"/>
              </a:rPr>
              <a:t>Class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r>
              <a:rPr lang="en-US" sz="3000" b="1" i="0" dirty="0">
                <a:solidFill>
                  <a:srgbClr val="0B2B4E"/>
                </a:solidFill>
                <a:latin typeface="Calibri"/>
              </a:rPr>
              <a:t>: Where is this?</a:t>
            </a:r>
            <a:endParaRPr sz="3000" b="1" i="0" dirty="0">
              <a:solidFill>
                <a:srgbClr val="0B2B4E"/>
              </a:solidFill>
              <a:latin typeface="Calibri"/>
            </a:endParaRP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53</a:t>
            </a:r>
          </a:p>
        </p:txBody>
      </p:sp>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pic>
        <p:nvPicPr>
          <p:cNvPr id="12" name="Picture 11">
            <a:extLst>
              <a:ext uri="{FF2B5EF4-FFF2-40B4-BE49-F238E27FC236}">
                <a16:creationId xmlns:a16="http://schemas.microsoft.com/office/drawing/2014/main" id="{50039A5D-8D1A-452E-A176-DE700626D9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4386" y="1180178"/>
            <a:ext cx="7085542" cy="5314156"/>
          </a:xfrm>
          <a:prstGeom prst="rect">
            <a:avLst/>
          </a:prstGeom>
        </p:spPr>
      </p:pic>
      <p:pic>
        <p:nvPicPr>
          <p:cNvPr id="13" name="Picture 12">
            <a:extLst>
              <a:ext uri="{FF2B5EF4-FFF2-40B4-BE49-F238E27FC236}">
                <a16:creationId xmlns:a16="http://schemas.microsoft.com/office/drawing/2014/main" id="{231D0C93-05FA-7CFA-755B-0351410670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79053" y="1254819"/>
            <a:ext cx="7091853" cy="5318889"/>
          </a:xfrm>
          <a:prstGeom prst="rect">
            <a:avLst/>
          </a:prstGeom>
        </p:spPr>
      </p:pic>
      <p:pic>
        <p:nvPicPr>
          <p:cNvPr id="14" name="Picture 13">
            <a:extLst>
              <a:ext uri="{FF2B5EF4-FFF2-40B4-BE49-F238E27FC236}">
                <a16:creationId xmlns:a16="http://schemas.microsoft.com/office/drawing/2014/main" id="{B34941BB-BC94-3B7F-E473-478F495F73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81647" y="1152397"/>
            <a:ext cx="4012406" cy="5349875"/>
          </a:xfrm>
          <a:prstGeom prst="rect">
            <a:avLst/>
          </a:prstGeom>
        </p:spPr>
      </p:pic>
      <p:pic>
        <p:nvPicPr>
          <p:cNvPr id="15" name="Picture 14">
            <a:extLst>
              <a:ext uri="{FF2B5EF4-FFF2-40B4-BE49-F238E27FC236}">
                <a16:creationId xmlns:a16="http://schemas.microsoft.com/office/drawing/2014/main" id="{8507C00E-F368-3991-C24A-C0B2A95D20E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50678" y="1144459"/>
            <a:ext cx="4070748" cy="54276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2"/>
                                        </p:tgtEl>
                                      </p:cBhvr>
                                    </p:animEffect>
                                    <p:set>
                                      <p:cBhvr>
                                        <p:cTn id="18" dur="1" fill="hold">
                                          <p:stCondLst>
                                            <p:cond delay="499"/>
                                          </p:stCondLst>
                                        </p:cTn>
                                        <p:tgtEl>
                                          <p:spTgt spid="12"/>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500"/>
                                        <p:tgtEl>
                                          <p:spTgt spid="14"/>
                                        </p:tgtEl>
                                      </p:cBhvr>
                                    </p:animEffect>
                                    <p:set>
                                      <p:cBhvr>
                                        <p:cTn id="26" dur="1" fill="hold">
                                          <p:stCondLst>
                                            <p:cond delay="499"/>
                                          </p:stCondLst>
                                        </p:cTn>
                                        <p:tgtEl>
                                          <p:spTgt spid="14"/>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54</a:t>
            </a:r>
          </a:p>
        </p:txBody>
      </p:sp>
      <p:pic>
        <p:nvPicPr>
          <p:cNvPr id="10" name="Picture 9" descr="s54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55</a:t>
            </a:r>
          </a:p>
        </p:txBody>
      </p:sp>
      <p:pic>
        <p:nvPicPr>
          <p:cNvPr id="10" name="Picture 9" descr="s55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lang="en-US" sz="3000" b="1" i="0" dirty="0">
                <a:solidFill>
                  <a:srgbClr val="0B2B4E"/>
                </a:solidFill>
                <a:latin typeface="Calibri"/>
              </a:rPr>
              <a:t>Poll: </a:t>
            </a:r>
            <a:r>
              <a:rPr sz="3000" b="1" i="0" dirty="0">
                <a:solidFill>
                  <a:srgbClr val="0B2B4E"/>
                </a:solidFill>
                <a:latin typeface="Calibri"/>
              </a:rPr>
              <a:t>What is the </a:t>
            </a:r>
            <a:r>
              <a:rPr lang="en-US" sz="3000" b="1" i="0" dirty="0">
                <a:solidFill>
                  <a:srgbClr val="0B2B4E"/>
                </a:solidFill>
                <a:latin typeface="Calibri"/>
              </a:rPr>
              <a:t>R</a:t>
            </a:r>
            <a:r>
              <a:rPr sz="3000" b="1" i="0" dirty="0">
                <a:solidFill>
                  <a:srgbClr val="0B2B4E"/>
                </a:solidFill>
                <a:latin typeface="Calibri"/>
              </a:rPr>
              <a:t>ent?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56</a:t>
            </a:r>
          </a:p>
        </p:txBody>
      </p:sp>
      <p:sp>
        <p:nvSpPr>
          <p:cNvPr id="10" name="BUILD"/>
          <p:cNvSpPr txBox="1"/>
          <p:nvPr/>
        </p:nvSpPr>
        <p:spPr>
          <a:xfrm>
            <a:off x="640080" y="1783080"/>
            <a:ext cx="5943600" cy="2564805"/>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1 Bed, 1 Bath</a:t>
            </a:r>
          </a:p>
          <a:p>
            <a:pPr marL="274320" indent="-274320">
              <a:spcAft>
                <a:spcPts val="1400"/>
              </a:spcAft>
              <a:buClr>
                <a:srgbClr val="0B2B4E"/>
              </a:buClr>
              <a:buSzPct val="100000"/>
              <a:buFont typeface="Calibri"/>
              <a:buChar char="▪"/>
            </a:pPr>
            <a:r>
              <a:rPr sz="2600" b="0" i="0" dirty="0">
                <a:solidFill>
                  <a:srgbClr val="0B2B4E"/>
                </a:solidFill>
                <a:latin typeface="Calibri"/>
              </a:rPr>
              <a:t>900 </a:t>
            </a:r>
            <a:r>
              <a:rPr sz="2600" b="0" i="0" dirty="0" err="1">
                <a:solidFill>
                  <a:srgbClr val="0B2B4E"/>
                </a:solidFill>
                <a:latin typeface="Calibri"/>
              </a:rPr>
              <a:t>sqft</a:t>
            </a: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401 San Vicente Blvd., Santa Monica</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5-minute walk to the beach</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Best public school district in West LA</a:t>
            </a:r>
          </a:p>
        </p:txBody>
      </p:sp>
      <p:pic>
        <p:nvPicPr>
          <p:cNvPr id="12" name="Picture 11">
            <a:extLst>
              <a:ext uri="{FF2B5EF4-FFF2-40B4-BE49-F238E27FC236}">
                <a16:creationId xmlns:a16="http://schemas.microsoft.com/office/drawing/2014/main" id="{CD0E02DE-263F-A0E0-C26C-AAF44579C09C}"/>
              </a:ext>
            </a:extLst>
          </p:cNvPr>
          <p:cNvPicPr>
            <a:picLocks noChangeAspect="1"/>
          </p:cNvPicPr>
          <p:nvPr/>
        </p:nvPicPr>
        <p:blipFill>
          <a:blip r:embed="rId3"/>
          <a:stretch>
            <a:fillRect/>
          </a:stretch>
        </p:blipFill>
        <p:spPr>
          <a:xfrm>
            <a:off x="6097179" y="1585924"/>
            <a:ext cx="5454741" cy="4378469"/>
          </a:xfrm>
          <a:prstGeom prst="rect">
            <a:avLst/>
          </a:prstGeom>
        </p:spPr>
      </p:pic>
      <p:sp>
        <p:nvSpPr>
          <p:cNvPr id="13" name="Rounded Rectangle 12">
            <a:extLst>
              <a:ext uri="{FF2B5EF4-FFF2-40B4-BE49-F238E27FC236}">
                <a16:creationId xmlns:a16="http://schemas.microsoft.com/office/drawing/2014/main" id="{BF3162D4-343D-614C-DC50-743319FC5A01}"/>
              </a:ext>
            </a:extLst>
          </p:cNvPr>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57</a:t>
            </a:r>
          </a:p>
        </p:txBody>
      </p:sp>
      <p:pic>
        <p:nvPicPr>
          <p:cNvPr id="10" name="Picture 9" descr="s57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PollEV</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Poll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58</a:t>
            </a:r>
          </a:p>
        </p:txBody>
      </p:sp>
      <p:pic>
        <p:nvPicPr>
          <p:cNvPr id="10" name="Picture 9" descr="s58_img1.png"/>
          <p:cNvPicPr>
            <a:picLocks noChangeAspect="1"/>
          </p:cNvPicPr>
          <p:nvPr/>
        </p:nvPicPr>
        <p:blipFill>
          <a:blip r:embed="rId3"/>
          <a:stretch>
            <a:fillRect/>
          </a:stretch>
        </p:blipFill>
        <p:spPr>
          <a:xfrm>
            <a:off x="2971800" y="1645920"/>
            <a:ext cx="6217919" cy="4663440"/>
          </a:xfrm>
          <a:prstGeom prst="roundRect">
            <a:avLst>
              <a:gd name="adj" fmla="val 4000"/>
            </a:avLst>
          </a:prstGeom>
          <a:effectLst>
            <a:outerShdw blurRad="54864" dist="41148" dir="5400000" rotWithShape="0">
              <a:srgbClr val="000000">
                <a:alpha val="62000"/>
              </a:srgbClr>
            </a:outerShdw>
          </a:effectLst>
        </p:spPr>
      </p:pic>
      <p:sp>
        <p:nvSpPr>
          <p:cNvPr id="11" name="Rounded Rectangle 10"/>
          <p:cNvSpPr/>
          <p:nvPr/>
        </p:nvSpPr>
        <p:spPr>
          <a:xfrm>
            <a:off x="10500055" y="5989320"/>
            <a:ext cx="1371600" cy="457200"/>
          </a:xfrm>
          <a:prstGeom prst="roundRect">
            <a:avLst>
              <a:gd name="adj" fmla="val 50000"/>
            </a:avLst>
          </a:prstGeom>
          <a:solidFill>
            <a:srgbClr val="E09F3E"/>
          </a:solidFill>
          <a:ln>
            <a:noFill/>
          </a:ln>
          <a:effectLst>
            <a:outerShdw blurRad="54864" dist="41148" dir="5400000" rotWithShape="0">
              <a:srgbClr val="000000">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0B2B4E"/>
                </a:solidFill>
                <a:latin typeface="Calibri"/>
              </a:rPr>
              <a:t>PollEV</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What is the </a:t>
            </a:r>
            <a:r>
              <a:rPr lang="en-US" sz="3000" b="1" i="0" dirty="0">
                <a:solidFill>
                  <a:srgbClr val="0B2B4E"/>
                </a:solidFill>
                <a:latin typeface="Calibri"/>
              </a:rPr>
              <a:t>R</a:t>
            </a:r>
            <a:r>
              <a:rPr sz="3000" b="1" i="0" dirty="0">
                <a:solidFill>
                  <a:srgbClr val="0B2B4E"/>
                </a:solidFill>
                <a:latin typeface="Calibri"/>
              </a:rPr>
              <a:t>ent?</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59</a:t>
            </a:r>
          </a:p>
        </p:txBody>
      </p:sp>
      <p:pic>
        <p:nvPicPr>
          <p:cNvPr id="15" name="Picture 14" descr="A screenshot of a computer&#10;&#10;AI-generated content may be incorrect.">
            <a:extLst>
              <a:ext uri="{FF2B5EF4-FFF2-40B4-BE49-F238E27FC236}">
                <a16:creationId xmlns:a16="http://schemas.microsoft.com/office/drawing/2014/main" id="{4405E133-4E63-C125-49B3-F1DDB66741E9}"/>
              </a:ext>
            </a:extLst>
          </p:cNvPr>
          <p:cNvPicPr>
            <a:picLocks noChangeAspect="1"/>
          </p:cNvPicPr>
          <p:nvPr/>
        </p:nvPicPr>
        <p:blipFill>
          <a:blip r:embed="rId3"/>
          <a:stretch>
            <a:fillRect/>
          </a:stretch>
        </p:blipFill>
        <p:spPr>
          <a:xfrm>
            <a:off x="1865013" y="2052880"/>
            <a:ext cx="7772400" cy="2289239"/>
          </a:xfrm>
          <a:prstGeom prst="rect">
            <a:avLst/>
          </a:prstGeom>
        </p:spPr>
      </p:pic>
      <p:sp>
        <p:nvSpPr>
          <p:cNvPr id="13" name="Rectangle 12">
            <a:extLst>
              <a:ext uri="{FF2B5EF4-FFF2-40B4-BE49-F238E27FC236}">
                <a16:creationId xmlns:a16="http://schemas.microsoft.com/office/drawing/2014/main" id="{3D9293FA-0904-F96B-E07F-8AB018121485}"/>
              </a:ext>
            </a:extLst>
          </p:cNvPr>
          <p:cNvSpPr/>
          <p:nvPr/>
        </p:nvSpPr>
        <p:spPr>
          <a:xfrm>
            <a:off x="3132657" y="3324645"/>
            <a:ext cx="5609230" cy="423081"/>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Price Ceiling: Rent Control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sz="1100" b="0" i="0" dirty="0">
                <a:solidFill>
                  <a:srgbClr val="555B66"/>
                </a:solidFill>
                <a:latin typeface="Calibri"/>
              </a:rPr>
              <a:t>6</a:t>
            </a:r>
            <a:r>
              <a:rPr lang="en-US" sz="1100" b="0" i="0" dirty="0">
                <a:solidFill>
                  <a:srgbClr val="555B66"/>
                </a:solidFill>
                <a:latin typeface="Calibri"/>
              </a:rPr>
              <a:t>0</a:t>
            </a:r>
            <a:endParaRPr sz="1100" b="0" i="0" dirty="0">
              <a:solidFill>
                <a:srgbClr val="555B66"/>
              </a:solidFill>
              <a:latin typeface="Calibri"/>
            </a:endParaRPr>
          </a:p>
        </p:txBody>
      </p:sp>
      <p:cxnSp>
        <p:nvCxnSpPr>
          <p:cNvPr id="10" name="Connector 9"/>
          <p:cNvCxnSpPr/>
          <p:nvPr/>
        </p:nvCxnSpPr>
        <p:spPr>
          <a:xfrm flipV="1">
            <a:off x="868680" y="1755647"/>
            <a:ext cx="0" cy="3822193"/>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68680" y="5577840"/>
            <a:ext cx="3840479"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0040" y="1737359"/>
            <a:ext cx="731520" cy="310896"/>
          </a:xfrm>
          <a:prstGeom prst="rect">
            <a:avLst/>
          </a:prstGeom>
          <a:noFill/>
        </p:spPr>
        <p:txBody>
          <a:bodyPr wrap="square" lIns="0" tIns="0" rIns="0" bIns="0" anchor="t">
            <a:spAutoFit/>
          </a:bodyPr>
          <a:lstStyle/>
          <a:p>
            <a:r>
              <a:rPr sz="1800" b="0" i="0">
                <a:solidFill>
                  <a:srgbClr val="0B2B4E"/>
                </a:solidFill>
                <a:latin typeface="Calibri"/>
              </a:rPr>
              <a:t>P</a:t>
            </a:r>
          </a:p>
        </p:txBody>
      </p:sp>
      <p:sp>
        <p:nvSpPr>
          <p:cNvPr id="13" name="TextBox 12"/>
          <p:cNvSpPr txBox="1"/>
          <p:nvPr/>
        </p:nvSpPr>
        <p:spPr>
          <a:xfrm>
            <a:off x="4544568" y="5596127"/>
            <a:ext cx="914400" cy="310896"/>
          </a:xfrm>
          <a:prstGeom prst="rect">
            <a:avLst/>
          </a:prstGeom>
          <a:noFill/>
        </p:spPr>
        <p:txBody>
          <a:bodyPr wrap="square" lIns="0" tIns="0" rIns="0" bIns="0" anchor="t">
            <a:spAutoFit/>
          </a:bodyPr>
          <a:lstStyle/>
          <a:p>
            <a:r>
              <a:rPr sz="1800" b="0" i="0">
                <a:solidFill>
                  <a:srgbClr val="0B2B4E"/>
                </a:solidFill>
                <a:latin typeface="Calibri"/>
              </a:rPr>
              <a:t>Q</a:t>
            </a:r>
          </a:p>
        </p:txBody>
      </p:sp>
      <p:cxnSp>
        <p:nvCxnSpPr>
          <p:cNvPr id="14" name="G1_0"/>
          <p:cNvCxnSpPr/>
          <p:nvPr/>
        </p:nvCxnSpPr>
        <p:spPr>
          <a:xfrm>
            <a:off x="1046988" y="2011679"/>
            <a:ext cx="3031236" cy="3031237"/>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5" name="G1_1"/>
          <p:cNvSpPr txBox="1"/>
          <p:nvPr/>
        </p:nvSpPr>
        <p:spPr>
          <a:xfrm>
            <a:off x="4157778" y="4887468"/>
            <a:ext cx="640080" cy="310896"/>
          </a:xfrm>
          <a:prstGeom prst="rect">
            <a:avLst/>
          </a:prstGeom>
          <a:noFill/>
        </p:spPr>
        <p:txBody>
          <a:bodyPr wrap="square" lIns="0" tIns="0" rIns="0" bIns="0" anchor="t">
            <a:spAutoFit/>
          </a:bodyPr>
          <a:lstStyle/>
          <a:p>
            <a:pPr algn="l"/>
            <a:r>
              <a:rPr sz="2000" b="0" i="0" dirty="0">
                <a:solidFill>
                  <a:srgbClr val="0B2B4E"/>
                </a:solidFill>
                <a:latin typeface="Calibri"/>
              </a:rPr>
              <a:t>D</a:t>
            </a:r>
          </a:p>
        </p:txBody>
      </p:sp>
      <p:cxnSp>
        <p:nvCxnSpPr>
          <p:cNvPr id="16" name="G1_2"/>
          <p:cNvCxnSpPr/>
          <p:nvPr/>
        </p:nvCxnSpPr>
        <p:spPr>
          <a:xfrm flipV="1">
            <a:off x="943569" y="2140061"/>
            <a:ext cx="2992008" cy="3437779"/>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7" name="G1_3"/>
          <p:cNvSpPr txBox="1"/>
          <p:nvPr/>
        </p:nvSpPr>
        <p:spPr>
          <a:xfrm>
            <a:off x="4078224" y="1950415"/>
            <a:ext cx="640080" cy="310896"/>
          </a:xfrm>
          <a:prstGeom prst="rect">
            <a:avLst/>
          </a:prstGeom>
          <a:noFill/>
        </p:spPr>
        <p:txBody>
          <a:bodyPr wrap="square" lIns="0" tIns="0" rIns="0" bIns="0" anchor="t">
            <a:spAutoFit/>
          </a:bodyPr>
          <a:lstStyle/>
          <a:p>
            <a:pPr algn="l"/>
            <a:r>
              <a:rPr sz="2000" b="0" i="0" dirty="0">
                <a:solidFill>
                  <a:srgbClr val="0B2B4E"/>
                </a:solidFill>
                <a:latin typeface="Calibri"/>
              </a:rPr>
              <a:t>S</a:t>
            </a:r>
          </a:p>
        </p:txBody>
      </p:sp>
      <p:cxnSp>
        <p:nvCxnSpPr>
          <p:cNvPr id="18" name="G1_4"/>
          <p:cNvCxnSpPr/>
          <p:nvPr/>
        </p:nvCxnSpPr>
        <p:spPr>
          <a:xfrm>
            <a:off x="868680" y="3616451"/>
            <a:ext cx="1783080" cy="0"/>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G1_5"/>
          <p:cNvSpPr txBox="1"/>
          <p:nvPr/>
        </p:nvSpPr>
        <p:spPr>
          <a:xfrm>
            <a:off x="228600" y="3470147"/>
            <a:ext cx="548640" cy="310896"/>
          </a:xfrm>
          <a:prstGeom prst="rect">
            <a:avLst/>
          </a:prstGeom>
          <a:noFill/>
        </p:spPr>
        <p:txBody>
          <a:bodyPr wrap="square" lIns="0" tIns="0" rIns="0" bIns="0" anchor="t">
            <a:spAutoFit/>
          </a:bodyPr>
          <a:lstStyle/>
          <a:p>
            <a:pPr algn="r"/>
            <a:r>
              <a:rPr sz="1800" b="0" i="0">
                <a:solidFill>
                  <a:srgbClr val="0B2B4E"/>
                </a:solidFill>
                <a:latin typeface="Calibri"/>
              </a:rPr>
              <a:t>P*</a:t>
            </a:r>
          </a:p>
        </p:txBody>
      </p:sp>
      <p:cxnSp>
        <p:nvCxnSpPr>
          <p:cNvPr id="20" name="G1_6"/>
          <p:cNvCxnSpPr/>
          <p:nvPr/>
        </p:nvCxnSpPr>
        <p:spPr>
          <a:xfrm flipV="1">
            <a:off x="2651760" y="3616451"/>
            <a:ext cx="0" cy="1961389"/>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G1_7"/>
          <p:cNvSpPr txBox="1"/>
          <p:nvPr/>
        </p:nvSpPr>
        <p:spPr>
          <a:xfrm>
            <a:off x="2395728" y="5605272"/>
            <a:ext cx="548640" cy="310896"/>
          </a:xfrm>
          <a:prstGeom prst="rect">
            <a:avLst/>
          </a:prstGeom>
          <a:noFill/>
        </p:spPr>
        <p:txBody>
          <a:bodyPr wrap="square" lIns="0" tIns="0" rIns="0" bIns="0" anchor="t">
            <a:spAutoFit/>
          </a:bodyPr>
          <a:lstStyle/>
          <a:p>
            <a:pPr algn="ctr"/>
            <a:r>
              <a:rPr sz="1600" b="0" i="0">
                <a:solidFill>
                  <a:srgbClr val="0B2B4E"/>
                </a:solidFill>
                <a:latin typeface="Calibri"/>
              </a:rPr>
              <a:t>Q*</a:t>
            </a:r>
          </a:p>
        </p:txBody>
      </p:sp>
      <p:sp>
        <p:nvSpPr>
          <p:cNvPr id="22" name="G1_8"/>
          <p:cNvSpPr/>
          <p:nvPr/>
        </p:nvSpPr>
        <p:spPr>
          <a:xfrm>
            <a:off x="2587752" y="3552444"/>
            <a:ext cx="128016" cy="128016"/>
          </a:xfrm>
          <a:prstGeom prst="ellipse">
            <a:avLst/>
          </a:prstGeom>
          <a:solidFill>
            <a:srgbClr val="1FA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G2_0"/>
          <p:cNvCxnSpPr/>
          <p:nvPr/>
        </p:nvCxnSpPr>
        <p:spPr>
          <a:xfrm>
            <a:off x="868680" y="4436668"/>
            <a:ext cx="2603296" cy="0"/>
          </a:xfrm>
          <a:prstGeom prst="line">
            <a:avLst/>
          </a:prstGeom>
          <a:ln w="20320">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4" name="G2_1"/>
          <p:cNvSpPr txBox="1"/>
          <p:nvPr/>
        </p:nvSpPr>
        <p:spPr>
          <a:xfrm>
            <a:off x="0" y="4290364"/>
            <a:ext cx="822960" cy="276999"/>
          </a:xfrm>
          <a:prstGeom prst="rect">
            <a:avLst/>
          </a:prstGeom>
          <a:noFill/>
        </p:spPr>
        <p:txBody>
          <a:bodyPr wrap="square" lIns="0" tIns="0" rIns="0" bIns="0" anchor="t">
            <a:spAutoFit/>
          </a:bodyPr>
          <a:lstStyle/>
          <a:p>
            <a:pPr algn="r"/>
            <a:r>
              <a:rPr sz="1800" b="0" i="0" dirty="0">
                <a:solidFill>
                  <a:schemeClr val="accent2"/>
                </a:solidFill>
                <a:latin typeface="Calibri"/>
              </a:rPr>
              <a:t>P</a:t>
            </a:r>
            <a:r>
              <a:rPr sz="1200" b="0" i="0" baseline="-25000" dirty="0">
                <a:solidFill>
                  <a:schemeClr val="accent2"/>
                </a:solidFill>
                <a:latin typeface="Calibri"/>
              </a:rPr>
              <a:t>max</a:t>
            </a:r>
          </a:p>
        </p:txBody>
      </p:sp>
      <p:cxnSp>
        <p:nvCxnSpPr>
          <p:cNvPr id="25" name="G2_2"/>
          <p:cNvCxnSpPr/>
          <p:nvPr/>
        </p:nvCxnSpPr>
        <p:spPr>
          <a:xfrm flipV="1">
            <a:off x="3471976" y="4436668"/>
            <a:ext cx="0" cy="1141172"/>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G2_3"/>
          <p:cNvSpPr/>
          <p:nvPr/>
        </p:nvSpPr>
        <p:spPr>
          <a:xfrm>
            <a:off x="868680" y="3616451"/>
            <a:ext cx="1069848" cy="820216"/>
          </a:xfrm>
          <a:prstGeom prst="rect">
            <a:avLst/>
          </a:prstGeom>
          <a:solidFill>
            <a:srgbClr val="C0201B">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2_4"/>
          <p:cNvSpPr/>
          <p:nvPr/>
        </p:nvSpPr>
        <p:spPr>
          <a:xfrm>
            <a:off x="1938528" y="2903220"/>
            <a:ext cx="713232" cy="713231"/>
          </a:xfrm>
          <a:custGeom>
            <a:avLst/>
            <a:gdLst/>
            <a:ahLst/>
            <a:cxnLst/>
            <a:rect l="l" t="t" r="r" b="b"/>
            <a:pathLst>
              <a:path w="713232" h="713231">
                <a:moveTo>
                  <a:pt x="0" y="713231"/>
                </a:moveTo>
                <a:lnTo>
                  <a:pt x="713232" y="713231"/>
                </a:lnTo>
                <a:lnTo>
                  <a:pt x="0" y="0"/>
                </a:lnTo>
                <a:lnTo>
                  <a:pt x="0" y="713231"/>
                </a:lnTo>
                <a:close/>
              </a:path>
            </a:pathLst>
          </a:custGeom>
          <a:solidFill>
            <a:srgbClr val="8A8F98">
              <a:alpha val="72000"/>
            </a:srgbClr>
          </a:solidFill>
          <a:ln w="1270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2_5"/>
          <p:cNvSpPr/>
          <p:nvPr/>
        </p:nvSpPr>
        <p:spPr>
          <a:xfrm>
            <a:off x="1938528" y="3616451"/>
            <a:ext cx="713232" cy="820217"/>
          </a:xfrm>
          <a:custGeom>
            <a:avLst/>
            <a:gdLst/>
            <a:ahLst/>
            <a:cxnLst/>
            <a:rect l="l" t="t" r="r" b="b"/>
            <a:pathLst>
              <a:path w="713232" h="820217">
                <a:moveTo>
                  <a:pt x="0" y="0"/>
                </a:moveTo>
                <a:lnTo>
                  <a:pt x="713232" y="0"/>
                </a:lnTo>
                <a:lnTo>
                  <a:pt x="0" y="820217"/>
                </a:lnTo>
                <a:lnTo>
                  <a:pt x="0" y="0"/>
                </a:lnTo>
                <a:close/>
              </a:path>
            </a:pathLst>
          </a:custGeom>
          <a:solidFill>
            <a:srgbClr val="33B033">
              <a:alpha val="85000"/>
            </a:srgbClr>
          </a:solidFill>
          <a:ln w="12700">
            <a:solidFill>
              <a:srgbClr val="33B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G2_7"/>
          <p:cNvSpPr txBox="1"/>
          <p:nvPr/>
        </p:nvSpPr>
        <p:spPr>
          <a:xfrm>
            <a:off x="1682496" y="5605272"/>
            <a:ext cx="548640" cy="310896"/>
          </a:xfrm>
          <a:prstGeom prst="rect">
            <a:avLst/>
          </a:prstGeom>
          <a:noFill/>
        </p:spPr>
        <p:txBody>
          <a:bodyPr wrap="square" lIns="0" tIns="0" rIns="0" bIns="0" anchor="t">
            <a:spAutoFit/>
          </a:bodyPr>
          <a:lstStyle/>
          <a:p>
            <a:pPr algn="ctr"/>
            <a:r>
              <a:rPr sz="1600" b="0" i="0">
                <a:solidFill>
                  <a:srgbClr val="0B2B4E"/>
                </a:solidFill>
                <a:latin typeface="Calibri"/>
              </a:rPr>
              <a:t>Q</a:t>
            </a:r>
            <a:r>
              <a:rPr sz="1000" b="0" i="0" baseline="-25000">
                <a:solidFill>
                  <a:srgbClr val="0B2B4E"/>
                </a:solidFill>
                <a:latin typeface="Calibri"/>
              </a:rPr>
              <a:t>s</a:t>
            </a:r>
          </a:p>
        </p:txBody>
      </p:sp>
      <p:sp>
        <p:nvSpPr>
          <p:cNvPr id="31" name="G2_8"/>
          <p:cNvSpPr txBox="1"/>
          <p:nvPr/>
        </p:nvSpPr>
        <p:spPr>
          <a:xfrm>
            <a:off x="3215944" y="5605272"/>
            <a:ext cx="548640" cy="310896"/>
          </a:xfrm>
          <a:prstGeom prst="rect">
            <a:avLst/>
          </a:prstGeom>
          <a:noFill/>
        </p:spPr>
        <p:txBody>
          <a:bodyPr wrap="square" lIns="0" tIns="0" rIns="0" bIns="0" anchor="t">
            <a:spAutoFit/>
          </a:bodyPr>
          <a:lstStyle/>
          <a:p>
            <a:pPr algn="ctr"/>
            <a:r>
              <a:rPr sz="1600" b="0" i="0">
                <a:solidFill>
                  <a:srgbClr val="0B2B4E"/>
                </a:solidFill>
                <a:latin typeface="Calibri"/>
              </a:rPr>
              <a:t>Q</a:t>
            </a:r>
            <a:r>
              <a:rPr sz="1000" b="0" i="0" baseline="-25000">
                <a:solidFill>
                  <a:srgbClr val="0B2B4E"/>
                </a:solidFill>
                <a:latin typeface="Calibri"/>
              </a:rPr>
              <a:t>d</a:t>
            </a:r>
          </a:p>
        </p:txBody>
      </p:sp>
      <p:sp>
        <p:nvSpPr>
          <p:cNvPr id="32" name="G2_9"/>
          <p:cNvSpPr txBox="1"/>
          <p:nvPr/>
        </p:nvSpPr>
        <p:spPr>
          <a:xfrm>
            <a:off x="1296067" y="3891036"/>
            <a:ext cx="457200" cy="310896"/>
          </a:xfrm>
          <a:prstGeom prst="rect">
            <a:avLst/>
          </a:prstGeom>
          <a:noFill/>
        </p:spPr>
        <p:txBody>
          <a:bodyPr wrap="square" lIns="0" tIns="0" rIns="0" bIns="0" anchor="t">
            <a:spAutoFit/>
          </a:bodyPr>
          <a:lstStyle/>
          <a:p>
            <a:r>
              <a:rPr sz="1800" b="1" i="0" dirty="0">
                <a:solidFill>
                  <a:srgbClr val="0B2B4E"/>
                </a:solidFill>
                <a:latin typeface="Calibri"/>
              </a:rPr>
              <a:t>A</a:t>
            </a:r>
          </a:p>
        </p:txBody>
      </p:sp>
      <p:sp>
        <p:nvSpPr>
          <p:cNvPr id="33" name="G2_10"/>
          <p:cNvSpPr txBox="1"/>
          <p:nvPr/>
        </p:nvSpPr>
        <p:spPr>
          <a:xfrm>
            <a:off x="2063343" y="3224174"/>
            <a:ext cx="457200" cy="310896"/>
          </a:xfrm>
          <a:prstGeom prst="rect">
            <a:avLst/>
          </a:prstGeom>
          <a:noFill/>
        </p:spPr>
        <p:txBody>
          <a:bodyPr wrap="square" lIns="0" tIns="0" rIns="0" bIns="0" anchor="t">
            <a:spAutoFit/>
          </a:bodyPr>
          <a:lstStyle/>
          <a:p>
            <a:r>
              <a:rPr sz="1800" b="1" i="0">
                <a:solidFill>
                  <a:srgbClr val="0B2B4E"/>
                </a:solidFill>
                <a:latin typeface="Calibri"/>
              </a:rPr>
              <a:t>B</a:t>
            </a:r>
          </a:p>
        </p:txBody>
      </p:sp>
      <p:sp>
        <p:nvSpPr>
          <p:cNvPr id="34" name="G2_11"/>
          <p:cNvSpPr txBox="1"/>
          <p:nvPr/>
        </p:nvSpPr>
        <p:spPr>
          <a:xfrm>
            <a:off x="2072396" y="3783500"/>
            <a:ext cx="457200" cy="310896"/>
          </a:xfrm>
          <a:prstGeom prst="rect">
            <a:avLst/>
          </a:prstGeom>
          <a:noFill/>
        </p:spPr>
        <p:txBody>
          <a:bodyPr wrap="square" lIns="0" tIns="0" rIns="0" bIns="0" anchor="t">
            <a:spAutoFit/>
          </a:bodyPr>
          <a:lstStyle/>
          <a:p>
            <a:r>
              <a:rPr sz="1800" b="1" i="0" dirty="0">
                <a:solidFill>
                  <a:srgbClr val="0B2B4E"/>
                </a:solidFill>
                <a:latin typeface="Calibri"/>
              </a:rPr>
              <a:t>C</a:t>
            </a:r>
          </a:p>
        </p:txBody>
      </p:sp>
      <p:sp>
        <p:nvSpPr>
          <p:cNvPr id="35" name="G2_12"/>
          <p:cNvSpPr/>
          <p:nvPr/>
        </p:nvSpPr>
        <p:spPr>
          <a:xfrm rot="16200000">
            <a:off x="2613812" y="5222595"/>
            <a:ext cx="182880" cy="1533448"/>
          </a:xfrm>
          <a:prstGeom prst="leftBrace">
            <a:avLst/>
          </a:prstGeom>
          <a:noFill/>
          <a:ln w="254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G2_13"/>
          <p:cNvSpPr txBox="1"/>
          <p:nvPr/>
        </p:nvSpPr>
        <p:spPr>
          <a:xfrm>
            <a:off x="1242212" y="6181344"/>
            <a:ext cx="2926080" cy="310896"/>
          </a:xfrm>
          <a:prstGeom prst="rect">
            <a:avLst/>
          </a:prstGeom>
          <a:noFill/>
        </p:spPr>
        <p:txBody>
          <a:bodyPr wrap="square" lIns="0" tIns="0" rIns="0" bIns="0" anchor="t">
            <a:spAutoFit/>
          </a:bodyPr>
          <a:lstStyle/>
          <a:p>
            <a:pPr algn="ctr"/>
            <a:r>
              <a:rPr sz="1600" b="0" i="0">
                <a:solidFill>
                  <a:srgbClr val="C0201B"/>
                </a:solidFill>
                <a:latin typeface="Calibri"/>
              </a:rPr>
              <a:t>Q</a:t>
            </a:r>
            <a:r>
              <a:rPr sz="1100" b="0" i="0" baseline="-25000">
                <a:solidFill>
                  <a:srgbClr val="C0201B"/>
                </a:solidFill>
                <a:latin typeface="Calibri"/>
              </a:rPr>
              <a:t>d</a:t>
            </a:r>
            <a:r>
              <a:rPr sz="1600" b="0" i="0">
                <a:solidFill>
                  <a:srgbClr val="C0201B"/>
                </a:solidFill>
                <a:latin typeface="Calibri"/>
              </a:rPr>
              <a:t> − Q</a:t>
            </a:r>
            <a:r>
              <a:rPr sz="1100" b="0" i="0" baseline="-25000">
                <a:solidFill>
                  <a:srgbClr val="C0201B"/>
                </a:solidFill>
                <a:latin typeface="Calibri"/>
              </a:rPr>
              <a:t>s</a:t>
            </a:r>
            <a:r>
              <a:rPr sz="1600" b="0" i="0">
                <a:solidFill>
                  <a:srgbClr val="C0201B"/>
                </a:solidFill>
                <a:latin typeface="Calibri"/>
              </a:rPr>
              <a:t> = shortage</a:t>
            </a:r>
          </a:p>
        </p:txBody>
      </p:sp>
      <p:sp>
        <p:nvSpPr>
          <p:cNvPr id="37" name="W_0"/>
          <p:cNvSpPr txBox="1"/>
          <p:nvPr/>
        </p:nvSpPr>
        <p:spPr>
          <a:xfrm>
            <a:off x="6035040" y="1481328"/>
            <a:ext cx="5852160" cy="1746632"/>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100" b="0" i="0" dirty="0">
                <a:solidFill>
                  <a:srgbClr val="0B2B4E"/>
                </a:solidFill>
                <a:latin typeface="Calibri"/>
              </a:rPr>
              <a:t>Welfare effects:</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Some renters win A</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Some renters lose B</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Landlords lose A + C</a:t>
            </a:r>
          </a:p>
          <a:p>
            <a:pPr marL="603504" lvl="1" indent="-603504">
              <a:spcAft>
                <a:spcPts val="0"/>
              </a:spcAft>
              <a:buClr>
                <a:srgbClr val="555B66"/>
              </a:buClr>
              <a:buSzPct val="100000"/>
              <a:buFont typeface="Calibri"/>
              <a:buChar char="–"/>
            </a:pPr>
            <a:r>
              <a:rPr sz="2000" b="0" i="0" dirty="0">
                <a:solidFill>
                  <a:schemeClr val="tx1">
                    <a:lumMod val="65000"/>
                    <a:lumOff val="35000"/>
                  </a:schemeClr>
                </a:solidFill>
                <a:latin typeface="Calibri"/>
              </a:rPr>
              <a:t>Deadweight loss: B + C</a:t>
            </a:r>
          </a:p>
        </p:txBody>
      </p:sp>
      <p:sp>
        <p:nvSpPr>
          <p:cNvPr id="38" name="R_0"/>
          <p:cNvSpPr txBox="1"/>
          <p:nvPr/>
        </p:nvSpPr>
        <p:spPr>
          <a:xfrm>
            <a:off x="6035040" y="3794760"/>
            <a:ext cx="5852160" cy="1400383"/>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100" b="0" i="0" dirty="0">
                <a:solidFill>
                  <a:srgbClr val="0B2B4E"/>
                </a:solidFill>
                <a:latin typeface="Calibri"/>
              </a:rPr>
              <a:t>How do landlords react?</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Non-price adjustments (e.g., maintenance)</a:t>
            </a:r>
          </a:p>
          <a:p>
            <a:pPr marL="603504" lvl="1" indent="-603504">
              <a:spcAft>
                <a:spcPts val="300"/>
              </a:spcAft>
              <a:buClr>
                <a:srgbClr val="555B66"/>
              </a:buClr>
              <a:buSzPct val="100000"/>
              <a:buFont typeface="Calibri"/>
              <a:buChar char="–"/>
            </a:pPr>
            <a:r>
              <a:rPr sz="2000" b="0" i="0" dirty="0">
                <a:solidFill>
                  <a:schemeClr val="tx1">
                    <a:lumMod val="65000"/>
                    <a:lumOff val="35000"/>
                  </a:schemeClr>
                </a:solidFill>
                <a:latin typeface="Calibri"/>
              </a:rPr>
              <a:t>Buy out the tenants (legal)</a:t>
            </a:r>
          </a:p>
          <a:p>
            <a:pPr marL="603504" lvl="1" indent="-603504">
              <a:spcAft>
                <a:spcPts val="0"/>
              </a:spcAft>
              <a:buClr>
                <a:srgbClr val="555B66"/>
              </a:buClr>
              <a:buSzPct val="100000"/>
              <a:buFont typeface="Calibri"/>
              <a:buChar char="–"/>
            </a:pPr>
            <a:r>
              <a:rPr sz="2000" b="0" i="0" dirty="0">
                <a:solidFill>
                  <a:schemeClr val="tx1">
                    <a:lumMod val="65000"/>
                    <a:lumOff val="35000"/>
                  </a:schemeClr>
                </a:solidFill>
                <a:latin typeface="Calibri"/>
              </a:rPr>
              <a:t>Harass the tenants (illegal!)</a:t>
            </a:r>
          </a:p>
        </p:txBody>
      </p:sp>
      <p:cxnSp>
        <p:nvCxnSpPr>
          <p:cNvPr id="39" name="G2_2">
            <a:extLst>
              <a:ext uri="{FF2B5EF4-FFF2-40B4-BE49-F238E27FC236}">
                <a16:creationId xmlns:a16="http://schemas.microsoft.com/office/drawing/2014/main" id="{FCE2CF13-3B8D-5D59-F258-C3D8710DA9F0}"/>
              </a:ext>
            </a:extLst>
          </p:cNvPr>
          <p:cNvCxnSpPr/>
          <p:nvPr/>
        </p:nvCxnSpPr>
        <p:spPr>
          <a:xfrm flipV="1">
            <a:off x="1940428" y="4453273"/>
            <a:ext cx="0" cy="1141172"/>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8">
                                            <p:txEl>
                                              <p:pRg st="1" end="1"/>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8">
                                            <p:txEl>
                                              <p:pRg st="2" end="2"/>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Evidence on </a:t>
            </a:r>
            <a:r>
              <a:rPr lang="en-US" sz="3000" b="1" i="0" dirty="0">
                <a:solidFill>
                  <a:srgbClr val="0B2B4E"/>
                </a:solidFill>
                <a:latin typeface="Calibri"/>
              </a:rPr>
              <a:t>R</a:t>
            </a:r>
            <a:r>
              <a:rPr sz="3000" b="1" i="0" dirty="0">
                <a:solidFill>
                  <a:srgbClr val="0B2B4E"/>
                </a:solidFill>
                <a:latin typeface="Calibri"/>
              </a:rPr>
              <a:t>ent </a:t>
            </a:r>
            <a:r>
              <a:rPr lang="en-US" sz="3000" b="1" dirty="0">
                <a:solidFill>
                  <a:srgbClr val="0B2B4E"/>
                </a:solidFill>
                <a:latin typeface="Calibri"/>
              </a:rPr>
              <a:t>C</a:t>
            </a:r>
            <a:r>
              <a:rPr sz="3000" b="1" i="0" dirty="0">
                <a:solidFill>
                  <a:srgbClr val="0B2B4E"/>
                </a:solidFill>
                <a:latin typeface="Calibri"/>
              </a:rPr>
              <a:t>ontrol</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64</a:t>
            </a:r>
          </a:p>
        </p:txBody>
      </p:sp>
      <p:sp>
        <p:nvSpPr>
          <p:cNvPr id="10" name="BUILD"/>
          <p:cNvSpPr txBox="1"/>
          <p:nvPr/>
        </p:nvSpPr>
        <p:spPr>
          <a:xfrm>
            <a:off x="640079" y="1783080"/>
            <a:ext cx="10785393" cy="2857192"/>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“Natural” experiment: sudden end of rent control in Cambridge, MA in 1995</a:t>
            </a:r>
            <a:r>
              <a:rPr lang="en-US" sz="2600" b="0" i="0" dirty="0">
                <a:solidFill>
                  <a:srgbClr val="0B2B4E"/>
                </a:solidFill>
                <a:latin typeface="Calibri"/>
              </a:rPr>
              <a:t>: </a:t>
            </a:r>
            <a:r>
              <a:rPr lang="en-US" sz="1400" dirty="0">
                <a:solidFill>
                  <a:srgbClr val="0B2B4E"/>
                </a:solidFill>
                <a:hlinkClick r:id="rId3"/>
              </a:rPr>
              <a:t>Source: Autor, Palmer, Pathak (2014)</a:t>
            </a:r>
            <a:r>
              <a:rPr lang="en-US" sz="2600" dirty="0">
                <a:solidFill>
                  <a:srgbClr val="0B2B4E"/>
                </a:solidFill>
              </a:rPr>
              <a:t> </a:t>
            </a:r>
            <a:endParaRPr sz="2600" b="0" i="0" dirty="0">
              <a:solidFill>
                <a:srgbClr val="0B2B4E"/>
              </a:solidFill>
              <a:latin typeface="Calibri"/>
            </a:endParaRPr>
          </a:p>
          <a:p>
            <a:pPr marL="603504" lvl="1" indent="-603504">
              <a:spcAft>
                <a:spcPts val="1400"/>
              </a:spcAft>
              <a:buClr>
                <a:srgbClr val="555B66"/>
              </a:buClr>
              <a:buSzPct val="100000"/>
              <a:buFont typeface="Calibri"/>
              <a:buChar char="–"/>
            </a:pPr>
            <a:r>
              <a:rPr sz="2000" b="0" i="0" dirty="0">
                <a:solidFill>
                  <a:schemeClr val="tx1">
                    <a:lumMod val="65000"/>
                    <a:lumOff val="35000"/>
                  </a:schemeClr>
                </a:solidFill>
                <a:latin typeface="Calibri"/>
              </a:rPr>
              <a:t>Rental price for previously rent-controlled units</a:t>
            </a:r>
            <a:r>
              <a:rPr lang="en-US" sz="2000" dirty="0">
                <a:solidFill>
                  <a:schemeClr val="tx1">
                    <a:lumMod val="65000"/>
                    <a:lumOff val="35000"/>
                  </a:schemeClr>
                </a:solidFill>
              </a:rPr>
              <a:t>: </a:t>
            </a:r>
            <a:endParaRPr sz="2000" b="0" i="0" dirty="0">
              <a:solidFill>
                <a:schemeClr val="tx1">
                  <a:lumMod val="65000"/>
                  <a:lumOff val="35000"/>
                </a:schemeClr>
              </a:solidFill>
              <a:latin typeface="Calibri"/>
            </a:endParaRPr>
          </a:p>
          <a:p>
            <a:pPr marL="603504" lvl="1" indent="-603504">
              <a:spcAft>
                <a:spcPts val="1400"/>
              </a:spcAft>
              <a:buClr>
                <a:srgbClr val="555B66"/>
              </a:buClr>
              <a:buSzPct val="100000"/>
              <a:buFont typeface="Calibri"/>
              <a:buChar char="–"/>
            </a:pPr>
            <a:r>
              <a:rPr sz="2000" b="0" i="0" dirty="0">
                <a:solidFill>
                  <a:schemeClr val="tx1">
                    <a:lumMod val="65000"/>
                    <a:lumOff val="35000"/>
                  </a:schemeClr>
                </a:solidFill>
                <a:latin typeface="Calibri"/>
              </a:rPr>
              <a:t>Investment in previously rent-controlled units</a:t>
            </a:r>
            <a:r>
              <a:rPr lang="en-US" sz="2000" b="0" i="0" dirty="0">
                <a:solidFill>
                  <a:schemeClr val="tx1">
                    <a:lumMod val="65000"/>
                    <a:lumOff val="35000"/>
                  </a:schemeClr>
                </a:solidFill>
                <a:latin typeface="Calibri"/>
              </a:rPr>
              <a:t>: </a:t>
            </a:r>
            <a:endParaRPr sz="2000" b="0" i="0" dirty="0">
              <a:solidFill>
                <a:schemeClr val="tx1">
                  <a:lumMod val="65000"/>
                  <a:lumOff val="35000"/>
                </a:schemeClr>
              </a:solidFill>
              <a:latin typeface="Calibri"/>
            </a:endParaRPr>
          </a:p>
          <a:p>
            <a:pPr marL="603504" lvl="1" indent="-603504">
              <a:spcAft>
                <a:spcPts val="1400"/>
              </a:spcAft>
              <a:buClr>
                <a:srgbClr val="555B66"/>
              </a:buClr>
              <a:buSzPct val="100000"/>
              <a:buFont typeface="Calibri"/>
              <a:buChar char="–"/>
            </a:pPr>
            <a:r>
              <a:rPr sz="2000" b="0" i="0" dirty="0">
                <a:solidFill>
                  <a:schemeClr val="tx1">
                    <a:lumMod val="65000"/>
                    <a:lumOff val="35000"/>
                  </a:schemeClr>
                </a:solidFill>
                <a:latin typeface="Calibri"/>
              </a:rPr>
              <a:t>Price/investment for nearby never-controlled units</a:t>
            </a:r>
            <a:r>
              <a:rPr lang="en-US" sz="2000" b="0" i="0" dirty="0">
                <a:solidFill>
                  <a:schemeClr val="tx1">
                    <a:lumMod val="65000"/>
                    <a:lumOff val="35000"/>
                  </a:schemeClr>
                </a:solidFill>
                <a:latin typeface="Calibri"/>
              </a:rPr>
              <a:t>:</a:t>
            </a:r>
          </a:p>
          <a:p>
            <a:pPr marL="274320" indent="-274320">
              <a:spcAft>
                <a:spcPts val="1400"/>
              </a:spcAft>
              <a:buClr>
                <a:srgbClr val="0B2B4E"/>
              </a:buClr>
              <a:buSzPct val="100000"/>
              <a:buFont typeface="Calibri"/>
              <a:buChar char="▪"/>
            </a:pPr>
            <a:r>
              <a:rPr lang="en-US" sz="2400" dirty="0">
                <a:solidFill>
                  <a:srgbClr val="0B2B4E"/>
                </a:solidFill>
              </a:rPr>
              <a:t>More recently:</a:t>
            </a:r>
          </a:p>
        </p:txBody>
      </p:sp>
      <p:pic>
        <p:nvPicPr>
          <p:cNvPr id="11" name="Picture 10" descr="s64_img1.png"/>
          <p:cNvPicPr>
            <a:picLocks noChangeAspect="1"/>
          </p:cNvPicPr>
          <p:nvPr/>
        </p:nvPicPr>
        <p:blipFill>
          <a:blip r:embed="rId4"/>
          <a:stretch>
            <a:fillRect/>
          </a:stretch>
        </p:blipFill>
        <p:spPr>
          <a:xfrm>
            <a:off x="1375219" y="4686029"/>
            <a:ext cx="8674125" cy="1740262"/>
          </a:xfrm>
          <a:prstGeom prst="roundRect">
            <a:avLst>
              <a:gd name="adj" fmla="val 4000"/>
            </a:avLst>
          </a:prstGeom>
          <a:effectLst>
            <a:outerShdw blurRad="54864" dist="41148" dir="5400000" rotWithShape="0">
              <a:srgbClr val="000000">
                <a:alpha val="62000"/>
              </a:srgbClr>
            </a:outerShdw>
          </a:effectLst>
        </p:spPr>
      </p:pic>
      <p:sp>
        <p:nvSpPr>
          <p:cNvPr id="12" name="TextBox 11">
            <a:extLst>
              <a:ext uri="{FF2B5EF4-FFF2-40B4-BE49-F238E27FC236}">
                <a16:creationId xmlns:a16="http://schemas.microsoft.com/office/drawing/2014/main" id="{9F029CC7-0457-E1C9-1784-B489F2106F34}"/>
              </a:ext>
            </a:extLst>
          </p:cNvPr>
          <p:cNvSpPr txBox="1"/>
          <p:nvPr/>
        </p:nvSpPr>
        <p:spPr>
          <a:xfrm>
            <a:off x="6400800" y="2803172"/>
            <a:ext cx="521297" cy="369332"/>
          </a:xfrm>
          <a:prstGeom prst="rect">
            <a:avLst/>
          </a:prstGeom>
          <a:noFill/>
        </p:spPr>
        <p:txBody>
          <a:bodyPr wrap="none" rtlCol="0">
            <a:spAutoFit/>
          </a:bodyPr>
          <a:lstStyle/>
          <a:p>
            <a:r>
              <a:rPr lang="en-US" dirty="0">
                <a:solidFill>
                  <a:srgbClr val="222B3A"/>
                </a:solidFill>
              </a:rPr>
              <a:t> ⬆️ </a:t>
            </a:r>
            <a:endParaRPr lang="en-US" dirty="0"/>
          </a:p>
        </p:txBody>
      </p:sp>
      <p:sp>
        <p:nvSpPr>
          <p:cNvPr id="13" name="TextBox 12">
            <a:extLst>
              <a:ext uri="{FF2B5EF4-FFF2-40B4-BE49-F238E27FC236}">
                <a16:creationId xmlns:a16="http://schemas.microsoft.com/office/drawing/2014/main" id="{01DBB78F-6580-33CE-D20D-9559C2634EFE}"/>
              </a:ext>
            </a:extLst>
          </p:cNvPr>
          <p:cNvSpPr txBox="1"/>
          <p:nvPr/>
        </p:nvSpPr>
        <p:spPr>
          <a:xfrm>
            <a:off x="6194469" y="3292924"/>
            <a:ext cx="521297" cy="369332"/>
          </a:xfrm>
          <a:prstGeom prst="rect">
            <a:avLst/>
          </a:prstGeom>
          <a:noFill/>
        </p:spPr>
        <p:txBody>
          <a:bodyPr wrap="none" rtlCol="0">
            <a:spAutoFit/>
          </a:bodyPr>
          <a:lstStyle/>
          <a:p>
            <a:r>
              <a:rPr lang="en-US" dirty="0">
                <a:solidFill>
                  <a:srgbClr val="222B3A"/>
                </a:solidFill>
              </a:rPr>
              <a:t> ⬆️ </a:t>
            </a:r>
            <a:endParaRPr lang="en-US" dirty="0"/>
          </a:p>
        </p:txBody>
      </p:sp>
      <p:sp>
        <p:nvSpPr>
          <p:cNvPr id="14" name="TextBox 13">
            <a:extLst>
              <a:ext uri="{FF2B5EF4-FFF2-40B4-BE49-F238E27FC236}">
                <a16:creationId xmlns:a16="http://schemas.microsoft.com/office/drawing/2014/main" id="{B894CDE6-6235-233E-E88A-BCE28CFF6ED7}"/>
              </a:ext>
            </a:extLst>
          </p:cNvPr>
          <p:cNvSpPr txBox="1"/>
          <p:nvPr/>
        </p:nvSpPr>
        <p:spPr>
          <a:xfrm>
            <a:off x="6770482" y="3799671"/>
            <a:ext cx="521297" cy="369332"/>
          </a:xfrm>
          <a:prstGeom prst="rect">
            <a:avLst/>
          </a:prstGeom>
          <a:noFill/>
        </p:spPr>
        <p:txBody>
          <a:bodyPr wrap="none" rtlCol="0">
            <a:spAutoFit/>
          </a:bodyPr>
          <a:lstStyle/>
          <a:p>
            <a:r>
              <a:rPr lang="en-US" dirty="0">
                <a:solidFill>
                  <a:srgbClr val="222B3A"/>
                </a:solidFill>
              </a:rPr>
              <a:t> ⬆️ </a:t>
            </a:r>
            <a:endParaRPr lang="en-US" dirty="0"/>
          </a:p>
        </p:txBody>
      </p:sp>
      <p:sp>
        <p:nvSpPr>
          <p:cNvPr id="15" name="TextBox 14">
            <a:extLst>
              <a:ext uri="{FF2B5EF4-FFF2-40B4-BE49-F238E27FC236}">
                <a16:creationId xmlns:a16="http://schemas.microsoft.com/office/drawing/2014/main" id="{38FE1DFE-12BD-A9CC-B06A-17C5F4C2BF71}"/>
              </a:ext>
            </a:extLst>
          </p:cNvPr>
          <p:cNvSpPr txBox="1"/>
          <p:nvPr/>
        </p:nvSpPr>
        <p:spPr>
          <a:xfrm>
            <a:off x="11271564" y="4798337"/>
            <a:ext cx="184731"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2" grpId="0"/>
      <p:bldP spid="13" grpId="0"/>
      <p:bldP spid="1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Market Distortions: Per-Unit Sales Tax</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dirty="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65</a:t>
            </a:r>
          </a:p>
        </p:txBody>
      </p:sp>
      <p:sp>
        <p:nvSpPr>
          <p:cNvPr id="10" name="TextBox 9"/>
          <p:cNvSpPr txBox="1"/>
          <p:nvPr/>
        </p:nvSpPr>
        <p:spPr>
          <a:xfrm>
            <a:off x="502920" y="1539718"/>
            <a:ext cx="4754880" cy="310896"/>
          </a:xfrm>
          <a:prstGeom prst="rect">
            <a:avLst/>
          </a:prstGeom>
          <a:noFill/>
        </p:spPr>
        <p:txBody>
          <a:bodyPr wrap="square" lIns="0" tIns="0" rIns="0" bIns="0" anchor="t">
            <a:spAutoFit/>
          </a:bodyPr>
          <a:lstStyle/>
          <a:p>
            <a:r>
              <a:rPr sz="1900" b="0" i="0" dirty="0">
                <a:solidFill>
                  <a:srgbClr val="0B2B4E"/>
                </a:solidFill>
                <a:latin typeface="Calibri"/>
              </a:rPr>
              <a:t>$ per gallon of gasoline</a:t>
            </a:r>
          </a:p>
        </p:txBody>
      </p:sp>
      <p:cxnSp>
        <p:nvCxnSpPr>
          <p:cNvPr id="11" name="Connector 10"/>
          <p:cNvCxnSpPr/>
          <p:nvPr/>
        </p:nvCxnSpPr>
        <p:spPr>
          <a:xfrm flipV="1">
            <a:off x="1920240" y="1874520"/>
            <a:ext cx="0" cy="379476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20240" y="5669280"/>
            <a:ext cx="4892039"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04407" y="5785914"/>
            <a:ext cx="2468880" cy="731520"/>
          </a:xfrm>
          <a:prstGeom prst="rect">
            <a:avLst/>
          </a:prstGeom>
          <a:noFill/>
        </p:spPr>
        <p:txBody>
          <a:bodyPr wrap="square" lIns="0" tIns="0" rIns="0" bIns="0" anchor="t">
            <a:spAutoFit/>
          </a:bodyPr>
          <a:lstStyle/>
          <a:p>
            <a:r>
              <a:rPr sz="1800" b="0" i="0" dirty="0">
                <a:solidFill>
                  <a:srgbClr val="0B2B4E"/>
                </a:solidFill>
                <a:latin typeface="Calibri"/>
              </a:rPr>
              <a:t>Gallons of gasoline</a:t>
            </a:r>
          </a:p>
        </p:txBody>
      </p:sp>
      <p:cxnSp>
        <p:nvCxnSpPr>
          <p:cNvPr id="14" name="G1_0"/>
          <p:cNvCxnSpPr/>
          <p:nvPr/>
        </p:nvCxnSpPr>
        <p:spPr>
          <a:xfrm flipV="1">
            <a:off x="1920240" y="2664255"/>
            <a:ext cx="4343400" cy="3005025"/>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5" name="G1_1"/>
          <p:cNvSpPr txBox="1"/>
          <p:nvPr/>
        </p:nvSpPr>
        <p:spPr>
          <a:xfrm>
            <a:off x="6344384" y="2474577"/>
            <a:ext cx="640080" cy="310896"/>
          </a:xfrm>
          <a:prstGeom prst="rect">
            <a:avLst/>
          </a:prstGeom>
          <a:noFill/>
        </p:spPr>
        <p:txBody>
          <a:bodyPr wrap="square" lIns="0" tIns="0" rIns="0" bIns="0" anchor="t">
            <a:spAutoFit/>
          </a:bodyPr>
          <a:lstStyle/>
          <a:p>
            <a:pPr algn="l"/>
            <a:r>
              <a:rPr sz="2000" b="0" i="0" dirty="0">
                <a:solidFill>
                  <a:srgbClr val="0B2B4E"/>
                </a:solidFill>
                <a:latin typeface="Calibri"/>
              </a:rPr>
              <a:t>S</a:t>
            </a:r>
          </a:p>
        </p:txBody>
      </p:sp>
      <p:cxnSp>
        <p:nvCxnSpPr>
          <p:cNvPr id="16" name="G1_2"/>
          <p:cNvCxnSpPr/>
          <p:nvPr/>
        </p:nvCxnSpPr>
        <p:spPr>
          <a:xfrm>
            <a:off x="2057400" y="2281000"/>
            <a:ext cx="4526279" cy="2457226"/>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sp>
        <p:nvSpPr>
          <p:cNvPr id="17" name="G1_3"/>
          <p:cNvSpPr txBox="1"/>
          <p:nvPr/>
        </p:nvSpPr>
        <p:spPr>
          <a:xfrm>
            <a:off x="6602408" y="4737409"/>
            <a:ext cx="640080" cy="310896"/>
          </a:xfrm>
          <a:prstGeom prst="rect">
            <a:avLst/>
          </a:prstGeom>
          <a:noFill/>
        </p:spPr>
        <p:txBody>
          <a:bodyPr wrap="square" lIns="0" tIns="0" rIns="0" bIns="0" anchor="t">
            <a:spAutoFit/>
          </a:bodyPr>
          <a:lstStyle/>
          <a:p>
            <a:pPr algn="l"/>
            <a:r>
              <a:rPr sz="2000" b="0" i="0" dirty="0">
                <a:solidFill>
                  <a:srgbClr val="0B2B4E"/>
                </a:solidFill>
                <a:latin typeface="Calibri"/>
              </a:rPr>
              <a:t>D</a:t>
            </a:r>
            <a:r>
              <a:rPr lang="en-US" sz="2000" baseline="-25000" dirty="0">
                <a:solidFill>
                  <a:srgbClr val="0B2B4E"/>
                </a:solidFill>
                <a:latin typeface="Calibri"/>
              </a:rPr>
              <a:t>0</a:t>
            </a:r>
            <a:endParaRPr sz="2000" b="0" i="0" baseline="-25000" dirty="0">
              <a:solidFill>
                <a:srgbClr val="0B2B4E"/>
              </a:solidFill>
              <a:latin typeface="Calibri"/>
            </a:endParaRPr>
          </a:p>
        </p:txBody>
      </p:sp>
      <p:sp>
        <p:nvSpPr>
          <p:cNvPr id="18" name="G1_4"/>
          <p:cNvSpPr txBox="1"/>
          <p:nvPr/>
        </p:nvSpPr>
        <p:spPr>
          <a:xfrm>
            <a:off x="1371600" y="3582984"/>
            <a:ext cx="502920" cy="310896"/>
          </a:xfrm>
          <a:prstGeom prst="rect">
            <a:avLst/>
          </a:prstGeom>
          <a:noFill/>
        </p:spPr>
        <p:txBody>
          <a:bodyPr wrap="square" lIns="0" tIns="0" rIns="0" bIns="0" anchor="t">
            <a:spAutoFit/>
          </a:bodyPr>
          <a:lstStyle/>
          <a:p>
            <a:pPr algn="r"/>
            <a:r>
              <a:rPr sz="1800" b="0" i="0">
                <a:solidFill>
                  <a:srgbClr val="0B2B4E"/>
                </a:solidFill>
                <a:latin typeface="Calibri"/>
              </a:rPr>
              <a:t>P</a:t>
            </a:r>
            <a:r>
              <a:rPr sz="1100" b="0" i="0" baseline="-25000">
                <a:solidFill>
                  <a:srgbClr val="0B2B4E"/>
                </a:solidFill>
                <a:latin typeface="Calibri"/>
              </a:rPr>
              <a:t>0</a:t>
            </a:r>
          </a:p>
        </p:txBody>
      </p:sp>
      <p:cxnSp>
        <p:nvCxnSpPr>
          <p:cNvPr id="19" name="G1_5"/>
          <p:cNvCxnSpPr/>
          <p:nvPr/>
        </p:nvCxnSpPr>
        <p:spPr>
          <a:xfrm>
            <a:off x="1920240" y="3729288"/>
            <a:ext cx="2802636" cy="0"/>
          </a:xfrm>
          <a:prstGeom prst="line">
            <a:avLst/>
          </a:prstGeom>
          <a:ln w="1143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 name="G1_6"/>
          <p:cNvCxnSpPr/>
          <p:nvPr/>
        </p:nvCxnSpPr>
        <p:spPr>
          <a:xfrm flipV="1">
            <a:off x="4722876" y="3729288"/>
            <a:ext cx="0" cy="1939992"/>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G1_7"/>
          <p:cNvSpPr txBox="1"/>
          <p:nvPr/>
        </p:nvSpPr>
        <p:spPr>
          <a:xfrm>
            <a:off x="4485132" y="5715000"/>
            <a:ext cx="548640" cy="310896"/>
          </a:xfrm>
          <a:prstGeom prst="rect">
            <a:avLst/>
          </a:prstGeom>
          <a:noFill/>
        </p:spPr>
        <p:txBody>
          <a:bodyPr wrap="square" lIns="0" tIns="0" rIns="0" bIns="0" anchor="t">
            <a:spAutoFit/>
          </a:bodyPr>
          <a:lstStyle/>
          <a:p>
            <a:pPr algn="ctr"/>
            <a:r>
              <a:rPr sz="1600" b="0" i="0">
                <a:solidFill>
                  <a:srgbClr val="0B2B4E"/>
                </a:solidFill>
                <a:latin typeface="Calibri"/>
              </a:rPr>
              <a:t>Q</a:t>
            </a:r>
            <a:r>
              <a:rPr sz="1000" b="0" i="0" baseline="-25000">
                <a:solidFill>
                  <a:srgbClr val="0B2B4E"/>
                </a:solidFill>
                <a:latin typeface="Calibri"/>
              </a:rPr>
              <a:t>0</a:t>
            </a:r>
          </a:p>
        </p:txBody>
      </p:sp>
      <p:sp>
        <p:nvSpPr>
          <p:cNvPr id="22" name="G1_8"/>
          <p:cNvSpPr/>
          <p:nvPr/>
        </p:nvSpPr>
        <p:spPr>
          <a:xfrm>
            <a:off x="4658868" y="3665280"/>
            <a:ext cx="128016" cy="128016"/>
          </a:xfrm>
          <a:prstGeom prst="ellipse">
            <a:avLst/>
          </a:prstGeom>
          <a:solidFill>
            <a:srgbClr val="1FA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G2_0"/>
          <p:cNvCxnSpPr/>
          <p:nvPr/>
        </p:nvCxnSpPr>
        <p:spPr>
          <a:xfrm>
            <a:off x="2057400" y="3065555"/>
            <a:ext cx="4434840" cy="2407586"/>
          </a:xfrm>
          <a:prstGeom prst="line">
            <a:avLst/>
          </a:prstGeom>
          <a:ln w="43180">
            <a:solidFill>
              <a:srgbClr val="E09F3E"/>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G2_1"/>
          <p:cNvSpPr txBox="1"/>
          <p:nvPr/>
        </p:nvSpPr>
        <p:spPr>
          <a:xfrm>
            <a:off x="6551676" y="5289502"/>
            <a:ext cx="822960" cy="310896"/>
          </a:xfrm>
          <a:prstGeom prst="rect">
            <a:avLst/>
          </a:prstGeom>
          <a:noFill/>
        </p:spPr>
        <p:txBody>
          <a:bodyPr wrap="square" lIns="0" tIns="0" rIns="0" bIns="0" anchor="t">
            <a:spAutoFit/>
          </a:bodyPr>
          <a:lstStyle/>
          <a:p>
            <a:pPr algn="l"/>
            <a:r>
              <a:rPr sz="2000" b="0" i="0" dirty="0">
                <a:solidFill>
                  <a:srgbClr val="0B2B4E"/>
                </a:solidFill>
                <a:latin typeface="Calibri"/>
              </a:rPr>
              <a:t>D</a:t>
            </a:r>
            <a:r>
              <a:rPr lang="en-US" sz="2000" b="0" i="0" baseline="-25000" dirty="0">
                <a:solidFill>
                  <a:srgbClr val="0B2B4E"/>
                </a:solidFill>
                <a:latin typeface="Calibri"/>
              </a:rPr>
              <a:t>1</a:t>
            </a:r>
            <a:endParaRPr sz="2000" b="0" i="0" baseline="-25000" dirty="0">
              <a:solidFill>
                <a:srgbClr val="0B2B4E"/>
              </a:solidFill>
              <a:latin typeface="Calibri"/>
            </a:endParaRPr>
          </a:p>
        </p:txBody>
      </p:sp>
      <p:sp>
        <p:nvSpPr>
          <p:cNvPr id="25" name="G2_2"/>
          <p:cNvSpPr txBox="1"/>
          <p:nvPr/>
        </p:nvSpPr>
        <p:spPr>
          <a:xfrm>
            <a:off x="1371600" y="3237067"/>
            <a:ext cx="502920" cy="310896"/>
          </a:xfrm>
          <a:prstGeom prst="rect">
            <a:avLst/>
          </a:prstGeom>
          <a:noFill/>
        </p:spPr>
        <p:txBody>
          <a:bodyPr wrap="square" lIns="0" tIns="0" rIns="0" bIns="0" anchor="t">
            <a:spAutoFit/>
          </a:bodyPr>
          <a:lstStyle/>
          <a:p>
            <a:pPr algn="r"/>
            <a:r>
              <a:rPr sz="1800" b="0" i="0">
                <a:solidFill>
                  <a:srgbClr val="0B2B4E"/>
                </a:solidFill>
                <a:latin typeface="Calibri"/>
              </a:rPr>
              <a:t>P</a:t>
            </a:r>
            <a:r>
              <a:rPr sz="1100" b="0" i="0" baseline="-25000">
                <a:solidFill>
                  <a:srgbClr val="0B2B4E"/>
                </a:solidFill>
                <a:latin typeface="Calibri"/>
              </a:rPr>
              <a:t>B</a:t>
            </a:r>
          </a:p>
        </p:txBody>
      </p:sp>
      <p:sp>
        <p:nvSpPr>
          <p:cNvPr id="26" name="G2_3"/>
          <p:cNvSpPr txBox="1"/>
          <p:nvPr/>
        </p:nvSpPr>
        <p:spPr>
          <a:xfrm>
            <a:off x="1371600" y="4021622"/>
            <a:ext cx="502920" cy="310896"/>
          </a:xfrm>
          <a:prstGeom prst="rect">
            <a:avLst/>
          </a:prstGeom>
          <a:noFill/>
        </p:spPr>
        <p:txBody>
          <a:bodyPr wrap="square" lIns="0" tIns="0" rIns="0" bIns="0" anchor="t">
            <a:spAutoFit/>
          </a:bodyPr>
          <a:lstStyle/>
          <a:p>
            <a:pPr algn="r"/>
            <a:r>
              <a:rPr sz="1800" b="0" i="0">
                <a:solidFill>
                  <a:srgbClr val="0B2B4E"/>
                </a:solidFill>
                <a:latin typeface="Calibri"/>
              </a:rPr>
              <a:t>P</a:t>
            </a:r>
            <a:r>
              <a:rPr sz="1100" b="0" i="0" baseline="-25000">
                <a:solidFill>
                  <a:srgbClr val="0B2B4E"/>
                </a:solidFill>
                <a:latin typeface="Calibri"/>
              </a:rPr>
              <a:t>S</a:t>
            </a:r>
          </a:p>
        </p:txBody>
      </p:sp>
      <p:cxnSp>
        <p:nvCxnSpPr>
          <p:cNvPr id="27" name="G2_4"/>
          <p:cNvCxnSpPr/>
          <p:nvPr/>
        </p:nvCxnSpPr>
        <p:spPr>
          <a:xfrm>
            <a:off x="1920240" y="3383371"/>
            <a:ext cx="2167128" cy="0"/>
          </a:xfrm>
          <a:prstGeom prst="line">
            <a:avLst/>
          </a:prstGeom>
          <a:ln w="11430">
            <a:solidFill>
              <a:srgbClr val="0B2B4E"/>
            </a:solidFill>
          </a:ln>
          <a:effectLst/>
        </p:spPr>
        <p:style>
          <a:lnRef idx="2">
            <a:schemeClr val="accent1"/>
          </a:lnRef>
          <a:fillRef idx="0">
            <a:schemeClr val="accent1"/>
          </a:fillRef>
          <a:effectRef idx="1">
            <a:schemeClr val="accent1"/>
          </a:effectRef>
          <a:fontRef idx="minor">
            <a:schemeClr val="tx1"/>
          </a:fontRef>
        </p:style>
      </p:cxnSp>
      <p:cxnSp>
        <p:nvCxnSpPr>
          <p:cNvPr id="28" name="G2_5"/>
          <p:cNvCxnSpPr/>
          <p:nvPr/>
        </p:nvCxnSpPr>
        <p:spPr>
          <a:xfrm>
            <a:off x="1920240" y="4167926"/>
            <a:ext cx="2167128" cy="0"/>
          </a:xfrm>
          <a:prstGeom prst="line">
            <a:avLst/>
          </a:prstGeom>
          <a:ln w="11430">
            <a:solidFill>
              <a:srgbClr val="0B2B4E"/>
            </a:solidFill>
          </a:ln>
          <a:effectLst/>
        </p:spPr>
        <p:style>
          <a:lnRef idx="2">
            <a:schemeClr val="accent1"/>
          </a:lnRef>
          <a:fillRef idx="0">
            <a:schemeClr val="accent1"/>
          </a:fillRef>
          <a:effectRef idx="1">
            <a:schemeClr val="accent1"/>
          </a:effectRef>
          <a:fontRef idx="minor">
            <a:schemeClr val="tx1"/>
          </a:fontRef>
        </p:style>
      </p:cxnSp>
      <p:cxnSp>
        <p:nvCxnSpPr>
          <p:cNvPr id="29" name="G2_6"/>
          <p:cNvCxnSpPr/>
          <p:nvPr/>
        </p:nvCxnSpPr>
        <p:spPr>
          <a:xfrm flipV="1">
            <a:off x="4087368" y="3383371"/>
            <a:ext cx="0" cy="2285909"/>
          </a:xfrm>
          <a:prstGeom prst="line">
            <a:avLst/>
          </a:prstGeom>
          <a:ln w="1397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G2_7"/>
          <p:cNvSpPr txBox="1"/>
          <p:nvPr/>
        </p:nvSpPr>
        <p:spPr>
          <a:xfrm>
            <a:off x="3849624" y="5715000"/>
            <a:ext cx="548640" cy="310896"/>
          </a:xfrm>
          <a:prstGeom prst="rect">
            <a:avLst/>
          </a:prstGeom>
          <a:noFill/>
        </p:spPr>
        <p:txBody>
          <a:bodyPr wrap="square" lIns="0" tIns="0" rIns="0" bIns="0" anchor="t">
            <a:spAutoFit/>
          </a:bodyPr>
          <a:lstStyle/>
          <a:p>
            <a:pPr algn="ctr"/>
            <a:r>
              <a:rPr sz="1600" b="0" i="0" dirty="0">
                <a:solidFill>
                  <a:srgbClr val="0B2B4E"/>
                </a:solidFill>
                <a:latin typeface="Calibri"/>
              </a:rPr>
              <a:t>Q</a:t>
            </a:r>
            <a:r>
              <a:rPr sz="1000" b="0" i="0" baseline="-25000" dirty="0">
                <a:solidFill>
                  <a:srgbClr val="0B2B4E"/>
                </a:solidFill>
                <a:latin typeface="Calibri"/>
              </a:rPr>
              <a:t>1</a:t>
            </a:r>
          </a:p>
        </p:txBody>
      </p:sp>
      <p:sp>
        <p:nvSpPr>
          <p:cNvPr id="31" name="G2_8"/>
          <p:cNvSpPr/>
          <p:nvPr/>
        </p:nvSpPr>
        <p:spPr>
          <a:xfrm>
            <a:off x="1353312" y="3383371"/>
            <a:ext cx="164592" cy="784555"/>
          </a:xfrm>
          <a:prstGeom prst="leftBrace">
            <a:avLst/>
          </a:prstGeom>
          <a:noFill/>
          <a:ln w="22225">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G2_9"/>
          <p:cNvSpPr txBox="1"/>
          <p:nvPr/>
        </p:nvSpPr>
        <p:spPr>
          <a:xfrm>
            <a:off x="18561" y="3629345"/>
            <a:ext cx="1234440" cy="310896"/>
          </a:xfrm>
          <a:prstGeom prst="rect">
            <a:avLst/>
          </a:prstGeom>
          <a:noFill/>
        </p:spPr>
        <p:txBody>
          <a:bodyPr wrap="square" lIns="0" tIns="0" rIns="0" bIns="0" anchor="t">
            <a:spAutoFit/>
          </a:bodyPr>
          <a:lstStyle/>
          <a:p>
            <a:pPr algn="r"/>
            <a:r>
              <a:rPr sz="2000" b="0" i="0" dirty="0">
                <a:solidFill>
                  <a:srgbClr val="C0201B"/>
                </a:solidFill>
                <a:latin typeface="Calibri"/>
              </a:rPr>
              <a:t>P</a:t>
            </a:r>
            <a:r>
              <a:rPr sz="2000" b="0" i="0" baseline="-25000" dirty="0">
                <a:solidFill>
                  <a:srgbClr val="C0201B"/>
                </a:solidFill>
                <a:latin typeface="Calibri"/>
              </a:rPr>
              <a:t>B</a:t>
            </a:r>
            <a:r>
              <a:rPr sz="2000" b="0" i="0" dirty="0">
                <a:solidFill>
                  <a:srgbClr val="C0201B"/>
                </a:solidFill>
                <a:latin typeface="Calibri"/>
              </a:rPr>
              <a:t>−P</a:t>
            </a:r>
            <a:r>
              <a:rPr sz="2000" b="0" i="0" baseline="-25000" dirty="0">
                <a:solidFill>
                  <a:srgbClr val="C0201B"/>
                </a:solidFill>
                <a:latin typeface="Calibri"/>
              </a:rPr>
              <a:t>S</a:t>
            </a:r>
            <a:r>
              <a:rPr sz="2000" b="0" i="0" dirty="0">
                <a:solidFill>
                  <a:srgbClr val="C0201B"/>
                </a:solidFill>
                <a:latin typeface="Calibri"/>
              </a:rPr>
              <a:t>=t</a:t>
            </a:r>
          </a:p>
        </p:txBody>
      </p:sp>
      <p:sp>
        <p:nvSpPr>
          <p:cNvPr id="33" name="G3_0"/>
          <p:cNvSpPr/>
          <p:nvPr/>
        </p:nvSpPr>
        <p:spPr>
          <a:xfrm>
            <a:off x="1920240" y="3383371"/>
            <a:ext cx="2167128" cy="345917"/>
          </a:xfrm>
          <a:prstGeom prst="rect">
            <a:avLst/>
          </a:prstGeom>
          <a:solidFill>
            <a:srgbClr val="8EB4D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G3_1"/>
          <p:cNvSpPr/>
          <p:nvPr/>
        </p:nvSpPr>
        <p:spPr>
          <a:xfrm>
            <a:off x="4087368" y="3383371"/>
            <a:ext cx="635508" cy="345917"/>
          </a:xfrm>
          <a:custGeom>
            <a:avLst/>
            <a:gdLst/>
            <a:ahLst/>
            <a:cxnLst/>
            <a:rect l="l" t="t" r="r" b="b"/>
            <a:pathLst>
              <a:path w="635508" h="345917">
                <a:moveTo>
                  <a:pt x="0" y="0"/>
                </a:moveTo>
                <a:lnTo>
                  <a:pt x="635508" y="345917"/>
                </a:lnTo>
                <a:lnTo>
                  <a:pt x="0" y="345917"/>
                </a:lnTo>
                <a:lnTo>
                  <a:pt x="0" y="0"/>
                </a:lnTo>
                <a:close/>
              </a:path>
            </a:pathLst>
          </a:custGeom>
          <a:solidFill>
            <a:srgbClr val="8A8F98">
              <a:alpha val="70000"/>
            </a:srgbClr>
          </a:solidFill>
          <a:ln w="12700">
            <a:solidFill>
              <a:srgbClr val="8A8F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G3_3"/>
          <p:cNvSpPr/>
          <p:nvPr/>
        </p:nvSpPr>
        <p:spPr>
          <a:xfrm>
            <a:off x="4087368" y="3729288"/>
            <a:ext cx="635508" cy="438638"/>
          </a:xfrm>
          <a:custGeom>
            <a:avLst/>
            <a:gdLst/>
            <a:ahLst/>
            <a:cxnLst/>
            <a:rect l="l" t="t" r="r" b="b"/>
            <a:pathLst>
              <a:path w="635508" h="438638">
                <a:moveTo>
                  <a:pt x="0" y="438638"/>
                </a:moveTo>
                <a:lnTo>
                  <a:pt x="635508" y="0"/>
                </a:lnTo>
                <a:lnTo>
                  <a:pt x="0" y="0"/>
                </a:lnTo>
                <a:lnTo>
                  <a:pt x="0" y="438638"/>
                </a:lnTo>
                <a:close/>
              </a:path>
            </a:pathLst>
          </a:custGeom>
          <a:solidFill>
            <a:srgbClr val="33B033">
              <a:alpha val="85000"/>
            </a:srgbClr>
          </a:solidFill>
          <a:ln w="12700">
            <a:solidFill>
              <a:srgbClr val="33B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G3_4"/>
          <p:cNvSpPr txBox="1"/>
          <p:nvPr/>
        </p:nvSpPr>
        <p:spPr>
          <a:xfrm>
            <a:off x="2834640" y="3429721"/>
            <a:ext cx="457200" cy="310896"/>
          </a:xfrm>
          <a:prstGeom prst="rect">
            <a:avLst/>
          </a:prstGeom>
          <a:noFill/>
        </p:spPr>
        <p:txBody>
          <a:bodyPr wrap="square" lIns="0" tIns="0" rIns="0" bIns="0" anchor="t">
            <a:spAutoFit/>
          </a:bodyPr>
          <a:lstStyle/>
          <a:p>
            <a:r>
              <a:rPr sz="1800" b="1" i="0" dirty="0">
                <a:solidFill>
                  <a:srgbClr val="0B2B4E"/>
                </a:solidFill>
                <a:latin typeface="Calibri"/>
              </a:rPr>
              <a:t>A</a:t>
            </a:r>
          </a:p>
        </p:txBody>
      </p:sp>
      <p:sp>
        <p:nvSpPr>
          <p:cNvPr id="38" name="G3_5"/>
          <p:cNvSpPr txBox="1"/>
          <p:nvPr/>
        </p:nvSpPr>
        <p:spPr>
          <a:xfrm>
            <a:off x="4170028" y="3474437"/>
            <a:ext cx="457200" cy="310896"/>
          </a:xfrm>
          <a:prstGeom prst="rect">
            <a:avLst/>
          </a:prstGeom>
          <a:noFill/>
        </p:spPr>
        <p:txBody>
          <a:bodyPr wrap="square" lIns="0" tIns="0" rIns="0" bIns="0" anchor="t">
            <a:spAutoFit/>
          </a:bodyPr>
          <a:lstStyle/>
          <a:p>
            <a:r>
              <a:rPr sz="1800" b="1" i="0" dirty="0">
                <a:solidFill>
                  <a:srgbClr val="0B2B4E"/>
                </a:solidFill>
                <a:latin typeface="Calibri"/>
              </a:rPr>
              <a:t>B</a:t>
            </a:r>
          </a:p>
        </p:txBody>
      </p:sp>
      <p:sp>
        <p:nvSpPr>
          <p:cNvPr id="40" name="G3_7"/>
          <p:cNvSpPr txBox="1"/>
          <p:nvPr/>
        </p:nvSpPr>
        <p:spPr>
          <a:xfrm>
            <a:off x="4174327" y="3775639"/>
            <a:ext cx="457200" cy="310896"/>
          </a:xfrm>
          <a:prstGeom prst="rect">
            <a:avLst/>
          </a:prstGeom>
          <a:noFill/>
        </p:spPr>
        <p:txBody>
          <a:bodyPr wrap="square" lIns="0" tIns="0" rIns="0" bIns="0" anchor="t">
            <a:spAutoFit/>
          </a:bodyPr>
          <a:lstStyle/>
          <a:p>
            <a:r>
              <a:rPr sz="1800" b="1" i="0" dirty="0">
                <a:solidFill>
                  <a:srgbClr val="0B2B4E"/>
                </a:solidFill>
                <a:latin typeface="Calibri"/>
              </a:rPr>
              <a:t>D</a:t>
            </a:r>
          </a:p>
        </p:txBody>
      </p:sp>
      <p:sp>
        <p:nvSpPr>
          <p:cNvPr id="41" name="C1_0"/>
          <p:cNvSpPr/>
          <p:nvPr/>
        </p:nvSpPr>
        <p:spPr>
          <a:xfrm>
            <a:off x="6903720" y="1371600"/>
            <a:ext cx="3611880" cy="1691641"/>
          </a:xfrm>
          <a:prstGeom prst="rect">
            <a:avLst/>
          </a:prstGeom>
          <a:solidFill>
            <a:srgbClr val="FFFFFF"/>
          </a:solidFill>
          <a:ln w="19050">
            <a:solidFill>
              <a:srgbClr val="C0201B"/>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46304" bIns="73152" rtlCol="0" anchor="ctr"/>
          <a:lstStyle/>
          <a:p>
            <a:pPr algn="l">
              <a:spcAft>
                <a:spcPts val="200"/>
              </a:spcAft>
            </a:pPr>
            <a:r>
              <a:rPr b="0" i="0" dirty="0">
                <a:solidFill>
                  <a:srgbClr val="C0201B"/>
                </a:solidFill>
                <a:latin typeface="Calibri"/>
              </a:rPr>
              <a:t>The price paid to seller (P</a:t>
            </a:r>
            <a:r>
              <a:rPr b="0" i="0" baseline="-25000" dirty="0">
                <a:solidFill>
                  <a:srgbClr val="C0201B"/>
                </a:solidFill>
                <a:latin typeface="Calibri"/>
              </a:rPr>
              <a:t>S</a:t>
            </a:r>
            <a:r>
              <a:rPr b="0" i="0" dirty="0">
                <a:solidFill>
                  <a:srgbClr val="C0201B"/>
                </a:solidFill>
                <a:latin typeface="Calibri"/>
              </a:rPr>
              <a:t>) drops. The total price paid by the buyer (P</a:t>
            </a:r>
            <a:r>
              <a:rPr b="0" i="0" baseline="-25000" dirty="0">
                <a:solidFill>
                  <a:srgbClr val="C0201B"/>
                </a:solidFill>
                <a:latin typeface="Calibri"/>
              </a:rPr>
              <a:t>B</a:t>
            </a:r>
            <a:r>
              <a:rPr b="0" i="0" dirty="0">
                <a:solidFill>
                  <a:srgbClr val="C0201B"/>
                </a:solidFill>
                <a:latin typeface="Calibri"/>
              </a:rPr>
              <a:t>, inclusive of tax) increases, but by less than the tax.</a:t>
            </a:r>
          </a:p>
        </p:txBody>
      </p:sp>
      <p:sp>
        <p:nvSpPr>
          <p:cNvPr id="42" name="C2_0"/>
          <p:cNvSpPr/>
          <p:nvPr/>
        </p:nvSpPr>
        <p:spPr>
          <a:xfrm>
            <a:off x="6922448" y="3336749"/>
            <a:ext cx="3368032" cy="1539580"/>
          </a:xfrm>
          <a:prstGeom prst="rect">
            <a:avLst/>
          </a:prstGeom>
          <a:solidFill>
            <a:srgbClr val="FFFFFF"/>
          </a:solidFill>
          <a:ln w="19050">
            <a:solidFill>
              <a:srgbClr val="C0201B"/>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46304" bIns="73152" rtlCol="0" anchor="ctr"/>
          <a:lstStyle/>
          <a:p>
            <a:pPr algn="l">
              <a:spcAft>
                <a:spcPts val="200"/>
              </a:spcAft>
            </a:pPr>
            <a:r>
              <a:rPr b="0" i="0" dirty="0">
                <a:solidFill>
                  <a:srgbClr val="C0201B"/>
                </a:solidFill>
                <a:latin typeface="Calibri"/>
              </a:rPr>
              <a:t>The buyers lose A + B</a:t>
            </a:r>
          </a:p>
          <a:p>
            <a:pPr algn="l">
              <a:spcAft>
                <a:spcPts val="200"/>
              </a:spcAft>
            </a:pPr>
            <a:r>
              <a:rPr b="0" i="0" dirty="0">
                <a:solidFill>
                  <a:srgbClr val="C0201B"/>
                </a:solidFill>
                <a:latin typeface="Calibri"/>
              </a:rPr>
              <a:t>The sellers lose C + D</a:t>
            </a:r>
          </a:p>
          <a:p>
            <a:pPr algn="l">
              <a:spcAft>
                <a:spcPts val="200"/>
              </a:spcAft>
            </a:pPr>
            <a:r>
              <a:rPr b="0" i="0" dirty="0">
                <a:solidFill>
                  <a:srgbClr val="C0201B"/>
                </a:solidFill>
                <a:latin typeface="Calibri"/>
              </a:rPr>
              <a:t>Deadweight loss: B + D</a:t>
            </a:r>
          </a:p>
          <a:p>
            <a:pPr algn="l">
              <a:spcAft>
                <a:spcPts val="200"/>
              </a:spcAft>
            </a:pPr>
            <a:r>
              <a:rPr b="0" i="0" dirty="0">
                <a:solidFill>
                  <a:srgbClr val="C0201B"/>
                </a:solidFill>
                <a:latin typeface="Calibri"/>
              </a:rPr>
              <a:t>The government gets A + C</a:t>
            </a:r>
          </a:p>
        </p:txBody>
      </p:sp>
      <p:sp>
        <p:nvSpPr>
          <p:cNvPr id="43" name="Rounded Rectangle 42"/>
          <p:cNvSpPr/>
          <p:nvPr/>
        </p:nvSpPr>
        <p:spPr>
          <a:xfrm>
            <a:off x="9304020" y="5961887"/>
            <a:ext cx="2377440" cy="457200"/>
          </a:xfrm>
          <a:prstGeom prst="roundRect">
            <a:avLst>
              <a:gd name="adj" fmla="val 20000"/>
            </a:avLst>
          </a:prstGeom>
          <a:solidFill>
            <a:srgbClr val="E09F3E"/>
          </a:solidFill>
          <a:ln w="12700">
            <a:solidFill>
              <a:srgbClr val="C88A2E"/>
            </a:solidFill>
          </a:ln>
          <a:effectLst>
            <a:outerShdw blurRad="45720" dist="27432"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146304" rtlCol="0" anchor="ctr"/>
          <a:lstStyle/>
          <a:p>
            <a:pPr algn="ctr"/>
            <a:r>
              <a:rPr sz="1800" b="1" i="0" dirty="0">
                <a:solidFill>
                  <a:srgbClr val="C0201B"/>
                </a:solidFill>
                <a:latin typeface="Calibri"/>
              </a:rPr>
              <a:t>➜  </a:t>
            </a:r>
            <a:r>
              <a:rPr sz="1800" b="1" i="0" dirty="0">
                <a:solidFill>
                  <a:srgbClr val="0B2B4E"/>
                </a:solidFill>
                <a:latin typeface="Calibri"/>
              </a:rPr>
              <a:t>PS 3, #4</a:t>
            </a:r>
          </a:p>
        </p:txBody>
      </p:sp>
      <p:sp>
        <p:nvSpPr>
          <p:cNvPr id="44" name="G3_2">
            <a:extLst>
              <a:ext uri="{FF2B5EF4-FFF2-40B4-BE49-F238E27FC236}">
                <a16:creationId xmlns:a16="http://schemas.microsoft.com/office/drawing/2014/main" id="{D01DEECB-77A8-B7A9-338E-3563066D7CE7}"/>
              </a:ext>
            </a:extLst>
          </p:cNvPr>
          <p:cNvSpPr/>
          <p:nvPr/>
        </p:nvSpPr>
        <p:spPr>
          <a:xfrm>
            <a:off x="1920240" y="3729288"/>
            <a:ext cx="2167128" cy="438637"/>
          </a:xfrm>
          <a:prstGeom prst="rect">
            <a:avLst/>
          </a:prstGeom>
          <a:solidFill>
            <a:srgbClr val="C0201B">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G3_6"/>
          <p:cNvSpPr txBox="1"/>
          <p:nvPr/>
        </p:nvSpPr>
        <p:spPr>
          <a:xfrm>
            <a:off x="2834640" y="3831054"/>
            <a:ext cx="457200" cy="310896"/>
          </a:xfrm>
          <a:prstGeom prst="rect">
            <a:avLst/>
          </a:prstGeom>
          <a:noFill/>
        </p:spPr>
        <p:txBody>
          <a:bodyPr wrap="square" lIns="0" tIns="0" rIns="0" bIns="0" anchor="t">
            <a:spAutoFit/>
          </a:bodyPr>
          <a:lstStyle/>
          <a:p>
            <a:r>
              <a:rPr sz="1800" b="1" i="0">
                <a:solidFill>
                  <a:srgbClr val="0B2B4E"/>
                </a:solidFill>
                <a:latin typeface="Calibri"/>
              </a:rPr>
              <a:t>C</a:t>
            </a:r>
          </a:p>
        </p:txBody>
      </p:sp>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Market Distortions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dirty="0">
                <a:solidFill>
                  <a:srgbClr val="FFFFFF"/>
                </a:solidFill>
                <a:latin typeface="Calibri"/>
              </a:rPr>
              <a:t>Perfect Competition · Market Distortions</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Tax </a:t>
            </a:r>
            <a:r>
              <a:rPr lang="en-US" sz="3000" b="1" i="0" dirty="0">
                <a:solidFill>
                  <a:srgbClr val="0B2B4E"/>
                </a:solidFill>
                <a:latin typeface="Calibri"/>
              </a:rPr>
              <a:t>I</a:t>
            </a:r>
            <a:r>
              <a:rPr sz="3000" b="1" i="0" dirty="0">
                <a:solidFill>
                  <a:srgbClr val="0B2B4E"/>
                </a:solidFill>
                <a:latin typeface="Calibri"/>
              </a:rPr>
              <a:t>ncidence</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274320"/>
          </a:xfrm>
          <a:prstGeom prst="rect">
            <a:avLst/>
          </a:prstGeom>
          <a:noFill/>
        </p:spPr>
        <p:txBody>
          <a:bodyPr wrap="square" lIns="0" tIns="0" rIns="0" bIns="0" anchor="t">
            <a:spAutoFit/>
          </a:bodyPr>
          <a:lstStyle/>
          <a:p>
            <a:pPr algn="r"/>
            <a:r>
              <a:rPr sz="1100" b="0" i="0">
                <a:solidFill>
                  <a:srgbClr val="555B66"/>
                </a:solidFill>
                <a:latin typeface="Calibri"/>
              </a:rPr>
              <a:t>66</a:t>
            </a:r>
          </a:p>
        </p:txBody>
      </p:sp>
      <p:sp>
        <p:nvSpPr>
          <p:cNvPr id="10" name="BUILD"/>
          <p:cNvSpPr txBox="1"/>
          <p:nvPr/>
        </p:nvSpPr>
        <p:spPr>
          <a:xfrm>
            <a:off x="449962" y="1691640"/>
            <a:ext cx="11247120" cy="4047262"/>
          </a:xfrm>
          <a:prstGeom prst="rect">
            <a:avLst/>
          </a:prstGeom>
          <a:noFill/>
        </p:spPr>
        <p:txBody>
          <a:bodyPr wrap="square" lIns="0" tIns="0" rIns="0" bIns="0" anchor="t">
            <a:spAutoFit/>
          </a:bodyPr>
          <a:lstStyle/>
          <a:p>
            <a:pPr marL="274320" indent="-274320">
              <a:spcAft>
                <a:spcPts val="1400"/>
              </a:spcAft>
              <a:buClr>
                <a:srgbClr val="0B2B4E"/>
              </a:buClr>
              <a:buSzPct val="100000"/>
              <a:buFont typeface="Calibri"/>
              <a:buChar char="▪"/>
            </a:pPr>
            <a:r>
              <a:rPr sz="2600" b="0" i="0" dirty="0">
                <a:solidFill>
                  <a:srgbClr val="0B2B4E"/>
                </a:solidFill>
                <a:latin typeface="Calibri"/>
              </a:rPr>
              <a:t>Tax incidence/burden: the group (consumers or producers) that </a:t>
            </a:r>
            <a:r>
              <a:rPr sz="2600" b="1" i="0" dirty="0">
                <a:solidFill>
                  <a:srgbClr val="0B2B4E"/>
                </a:solidFill>
                <a:latin typeface="Calibri"/>
              </a:rPr>
              <a:t>ultimately</a:t>
            </a:r>
            <a:r>
              <a:rPr sz="2600" b="0" i="0" dirty="0">
                <a:solidFill>
                  <a:srgbClr val="0B2B4E"/>
                </a:solidFill>
                <a:latin typeface="Calibri"/>
              </a:rPr>
              <a:t> bears the burden of the tax</a:t>
            </a:r>
            <a:endParaRPr lang="en-US" sz="2600" b="0" i="0" dirty="0">
              <a:solidFill>
                <a:srgbClr val="0B2B4E"/>
              </a:solidFill>
              <a:latin typeface="Calibri"/>
            </a:endParaRPr>
          </a:p>
          <a:p>
            <a:pPr marL="274320" indent="-274320">
              <a:spcAft>
                <a:spcPts val="1400"/>
              </a:spcAft>
              <a:buClr>
                <a:srgbClr val="0B2B4E"/>
              </a:buClr>
              <a:buSzPct val="100000"/>
              <a:buFont typeface="Calibri"/>
              <a:buChar char="▪"/>
            </a:pPr>
            <a:endParaRPr sz="2600" b="0" i="0" dirty="0">
              <a:solidFill>
                <a:srgbClr val="0B2B4E"/>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The payer does </a:t>
            </a:r>
            <a:r>
              <a:rPr sz="2600" b="1" i="0" dirty="0">
                <a:solidFill>
                  <a:srgbClr val="C0201B"/>
                </a:solidFill>
                <a:latin typeface="Calibri"/>
              </a:rPr>
              <a:t>not</a:t>
            </a:r>
            <a:r>
              <a:rPr sz="2600" b="0" i="0" dirty="0">
                <a:solidFill>
                  <a:srgbClr val="0B2B4E"/>
                </a:solidFill>
                <a:latin typeface="Calibri"/>
              </a:rPr>
              <a:t> matter</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It does not depend on whether the consumers or the suppliers </a:t>
            </a:r>
            <a:r>
              <a:rPr lang="en-US" sz="2100" b="0" i="0" dirty="0">
                <a:solidFill>
                  <a:schemeClr val="tx1">
                    <a:lumMod val="65000"/>
                    <a:lumOff val="35000"/>
                  </a:schemeClr>
                </a:solidFill>
                <a:latin typeface="Calibri"/>
              </a:rPr>
              <a:t>send the money</a:t>
            </a:r>
          </a:p>
          <a:p>
            <a:pPr marL="603504" lvl="1" indent="-603504">
              <a:spcAft>
                <a:spcPts val="1400"/>
              </a:spcAft>
              <a:buClr>
                <a:srgbClr val="555B66"/>
              </a:buClr>
              <a:buSzPct val="100000"/>
              <a:buFont typeface="Calibri"/>
              <a:buChar char="–"/>
            </a:pPr>
            <a:endParaRPr sz="2100" b="0" i="0" dirty="0">
              <a:solidFill>
                <a:srgbClr val="222B3A"/>
              </a:solidFill>
              <a:latin typeface="Calibri"/>
            </a:endParaRPr>
          </a:p>
          <a:p>
            <a:pPr marL="274320" indent="-274320">
              <a:spcAft>
                <a:spcPts val="1400"/>
              </a:spcAft>
              <a:buClr>
                <a:srgbClr val="0B2B4E"/>
              </a:buClr>
              <a:buSzPct val="100000"/>
              <a:buFont typeface="Calibri"/>
              <a:buChar char="▪"/>
            </a:pPr>
            <a:r>
              <a:rPr sz="2600" b="0" i="0" dirty="0">
                <a:solidFill>
                  <a:srgbClr val="0B2B4E"/>
                </a:solidFill>
                <a:latin typeface="Calibri"/>
              </a:rPr>
              <a:t>It depends on the supply and demand elasticities</a:t>
            </a:r>
          </a:p>
          <a:p>
            <a:pPr marL="603504" lvl="1" indent="-603504">
              <a:spcAft>
                <a:spcPts val="1400"/>
              </a:spcAft>
              <a:buClr>
                <a:srgbClr val="555B66"/>
              </a:buClr>
              <a:buSzPct val="100000"/>
              <a:buFont typeface="Calibri"/>
              <a:buChar char="–"/>
            </a:pPr>
            <a:r>
              <a:rPr sz="2100" b="0" i="0" dirty="0">
                <a:solidFill>
                  <a:schemeClr val="tx1">
                    <a:lumMod val="65000"/>
                    <a:lumOff val="35000"/>
                  </a:schemeClr>
                </a:solidFill>
                <a:latin typeface="Calibri"/>
              </a:rPr>
              <a:t>The group who is the least price responsive will bear the higher share of the </a:t>
            </a:r>
            <a:r>
              <a:rPr lang="en-US" sz="2100" b="0" i="0" dirty="0">
                <a:solidFill>
                  <a:schemeClr val="tx1">
                    <a:lumMod val="65000"/>
                    <a:lumOff val="35000"/>
                  </a:schemeClr>
                </a:solidFill>
                <a:latin typeface="Calibri"/>
              </a:rPr>
              <a:t>tax </a:t>
            </a:r>
            <a:r>
              <a:rPr sz="2100" b="0" i="0" dirty="0">
                <a:solidFill>
                  <a:schemeClr val="tx1">
                    <a:lumMod val="65000"/>
                    <a:lumOff val="35000"/>
                  </a:schemeClr>
                </a:solidFill>
                <a:latin typeface="Calibri"/>
              </a:rPr>
              <a:t>burden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Perfect Competition · Externalities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Externalities: Definitions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Perfect Competition</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67</a:t>
            </a:r>
            <a:endParaRPr sz="1100" b="0" i="0" dirty="0">
              <a:solidFill>
                <a:srgbClr val="555B66"/>
              </a:solidFill>
              <a:latin typeface="Calibri"/>
            </a:endParaRPr>
          </a:p>
        </p:txBody>
      </p:sp>
      <p:sp>
        <p:nvSpPr>
          <p:cNvPr id="10" name="G1_0"/>
          <p:cNvSpPr txBox="1"/>
          <p:nvPr/>
        </p:nvSpPr>
        <p:spPr>
          <a:xfrm>
            <a:off x="640080" y="1554480"/>
            <a:ext cx="11155680" cy="10058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600" b="0" i="0">
                <a:solidFill>
                  <a:srgbClr val="0B2B4E"/>
                </a:solidFill>
                <a:latin typeface="Calibri"/>
              </a:rPr>
              <a:t>Externalities: A cost or benefit that affects a party not directly involved in a transaction</a:t>
            </a:r>
          </a:p>
        </p:txBody>
      </p:sp>
      <p:sp>
        <p:nvSpPr>
          <p:cNvPr id="11" name="G2_0"/>
          <p:cNvSpPr txBox="1"/>
          <p:nvPr/>
        </p:nvSpPr>
        <p:spPr>
          <a:xfrm>
            <a:off x="640080" y="2743200"/>
            <a:ext cx="11155680" cy="1463040"/>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600" b="1" i="0" dirty="0">
                <a:solidFill>
                  <a:srgbClr val="0B2B4E"/>
                </a:solidFill>
                <a:latin typeface="Calibri"/>
              </a:rPr>
              <a:t>Negative</a:t>
            </a:r>
            <a:r>
              <a:rPr sz="2600" b="0" i="0" dirty="0">
                <a:solidFill>
                  <a:srgbClr val="0B2B4E"/>
                </a:solidFill>
                <a:latin typeface="Calibri"/>
              </a:rPr>
              <a:t> externality: A </a:t>
            </a:r>
            <a:r>
              <a:rPr sz="2600" b="0" i="0" u="sng" dirty="0">
                <a:solidFill>
                  <a:srgbClr val="0B2B4E"/>
                </a:solidFill>
                <a:latin typeface="Calibri"/>
              </a:rPr>
              <a:t>cost</a:t>
            </a:r>
            <a:r>
              <a:rPr sz="2600" b="0" i="0" dirty="0">
                <a:solidFill>
                  <a:srgbClr val="0B2B4E"/>
                </a:solidFill>
                <a:latin typeface="Calibri"/>
              </a:rPr>
              <a:t> imposed on a party not directly involved in a transaction</a:t>
            </a:r>
          </a:p>
          <a:p>
            <a:pPr marL="603504" indent="-603504">
              <a:spcAft>
                <a:spcPts val="0"/>
              </a:spcAft>
              <a:buClr>
                <a:srgbClr val="555B66"/>
              </a:buClr>
              <a:buSzPct val="100000"/>
              <a:buFont typeface="Calibri"/>
              <a:buChar char="–"/>
            </a:pPr>
            <a:r>
              <a:rPr sz="2200" b="0" i="0" dirty="0">
                <a:solidFill>
                  <a:srgbClr val="555B66"/>
                </a:solidFill>
                <a:latin typeface="Calibri"/>
              </a:rPr>
              <a:t>Example: air pollution from coal-fired power plants</a:t>
            </a:r>
          </a:p>
        </p:txBody>
      </p:sp>
      <p:sp>
        <p:nvSpPr>
          <p:cNvPr id="12" name="G3_0"/>
          <p:cNvSpPr txBox="1"/>
          <p:nvPr/>
        </p:nvSpPr>
        <p:spPr>
          <a:xfrm>
            <a:off x="640080" y="4434840"/>
            <a:ext cx="11155680" cy="1828800"/>
          </a:xfrm>
          <a:prstGeom prst="rect">
            <a:avLst/>
          </a:prstGeom>
          <a:noFill/>
        </p:spPr>
        <p:txBody>
          <a:bodyPr wrap="square" lIns="0" tIns="0" rIns="0" bIns="0" anchor="t">
            <a:spAutoFit/>
          </a:bodyPr>
          <a:lstStyle/>
          <a:p>
            <a:pPr marL="274320" indent="-274320">
              <a:spcAft>
                <a:spcPts val="400"/>
              </a:spcAft>
              <a:buClr>
                <a:srgbClr val="0B2B4E"/>
              </a:buClr>
              <a:buSzPct val="100000"/>
              <a:buFont typeface="Calibri"/>
              <a:buChar char="▪"/>
            </a:pPr>
            <a:r>
              <a:rPr sz="2600" b="1" i="0" dirty="0">
                <a:solidFill>
                  <a:srgbClr val="0B2B4E"/>
                </a:solidFill>
                <a:latin typeface="Calibri"/>
              </a:rPr>
              <a:t>Positive</a:t>
            </a:r>
            <a:r>
              <a:rPr sz="2600" b="0" i="0" dirty="0">
                <a:solidFill>
                  <a:srgbClr val="0B2B4E"/>
                </a:solidFill>
                <a:latin typeface="Calibri"/>
              </a:rPr>
              <a:t> externality: A </a:t>
            </a:r>
            <a:r>
              <a:rPr sz="2600" b="0" i="0" u="sng" dirty="0">
                <a:solidFill>
                  <a:srgbClr val="0B2B4E"/>
                </a:solidFill>
                <a:latin typeface="Calibri"/>
              </a:rPr>
              <a:t>benefit</a:t>
            </a:r>
            <a:r>
              <a:rPr sz="2600" b="0" i="0" dirty="0">
                <a:solidFill>
                  <a:srgbClr val="0B2B4E"/>
                </a:solidFill>
                <a:latin typeface="Calibri"/>
              </a:rPr>
              <a:t> conferred on a party not directly involved in a transaction</a:t>
            </a:r>
          </a:p>
          <a:p>
            <a:pPr marL="603504" indent="-603504">
              <a:spcAft>
                <a:spcPts val="0"/>
              </a:spcAft>
              <a:buClr>
                <a:srgbClr val="555B66"/>
              </a:buClr>
              <a:buSzPct val="100000"/>
              <a:buFont typeface="Calibri"/>
              <a:buChar char="–"/>
            </a:pPr>
            <a:r>
              <a:rPr sz="2200" b="0" i="0" dirty="0">
                <a:solidFill>
                  <a:srgbClr val="555B66"/>
                </a:solidFill>
                <a:latin typeface="Calibri"/>
              </a:rPr>
              <a:t>Example: A beekeeper's bees not only produce honey but can help neighboring farmers by pollinating crops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Perfect Competition · Externalities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Correcting for Externalities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Perfect Competition</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68</a:t>
            </a:r>
            <a:endParaRPr sz="1100" b="0" i="0" dirty="0">
              <a:solidFill>
                <a:srgbClr val="555B66"/>
              </a:solidFill>
              <a:latin typeface="Calibri"/>
            </a:endParaRPr>
          </a:p>
        </p:txBody>
      </p:sp>
      <p:pic>
        <p:nvPicPr>
          <p:cNvPr id="10" name="Picture 9" descr="annoying.png"/>
          <p:cNvPicPr>
            <a:picLocks noChangeAspect="1"/>
          </p:cNvPicPr>
          <p:nvPr/>
        </p:nvPicPr>
        <p:blipFill>
          <a:blip r:embed="rId3"/>
          <a:stretch>
            <a:fillRect/>
          </a:stretch>
        </p:blipFill>
        <p:spPr>
          <a:xfrm>
            <a:off x="8275320" y="1572768"/>
            <a:ext cx="2651760" cy="4398264"/>
          </a:xfrm>
          <a:prstGeom prst="roundRect">
            <a:avLst>
              <a:gd name="adj" fmla="val 2000"/>
            </a:avLst>
          </a:prstGeom>
          <a:effectLst>
            <a:outerShdw blurRad="54864" dist="41148" dir="5400000" rotWithShape="0">
              <a:srgbClr val="000000">
                <a:alpha val="62000"/>
              </a:srgbClr>
            </a:outerShdw>
          </a:effectLst>
        </p:spPr>
      </p:pic>
      <p:sp>
        <p:nvSpPr>
          <p:cNvPr id="11" name="G1_0"/>
          <p:cNvSpPr txBox="1"/>
          <p:nvPr/>
        </p:nvSpPr>
        <p:spPr>
          <a:xfrm>
            <a:off x="640080" y="1572768"/>
            <a:ext cx="7040880" cy="109728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dirty="0">
                <a:solidFill>
                  <a:srgbClr val="0B2B4E"/>
                </a:solidFill>
                <a:latin typeface="Calibri"/>
              </a:rPr>
              <a:t>Goal of the intervention: move a market with externalities toward the efficient outcome</a:t>
            </a:r>
          </a:p>
        </p:txBody>
      </p:sp>
      <p:sp>
        <p:nvSpPr>
          <p:cNvPr id="12" name="G2_0"/>
          <p:cNvSpPr txBox="1"/>
          <p:nvPr/>
        </p:nvSpPr>
        <p:spPr>
          <a:xfrm>
            <a:off x="640080" y="2907792"/>
            <a:ext cx="7040880" cy="548640"/>
          </a:xfrm>
          <a:prstGeom prst="rect">
            <a:avLst/>
          </a:prstGeom>
          <a:noFill/>
        </p:spPr>
        <p:txBody>
          <a:bodyPr wrap="square" lIns="0" tIns="0" rIns="0" bIns="0" anchor="t">
            <a:spAutoFit/>
          </a:bodyPr>
          <a:lstStyle/>
          <a:p>
            <a:pPr marL="274320" indent="-274320">
              <a:spcAft>
                <a:spcPts val="0"/>
              </a:spcAft>
              <a:buClr>
                <a:srgbClr val="0B2B4E"/>
              </a:buClr>
              <a:buSzPct val="100000"/>
              <a:buFont typeface="Calibri"/>
              <a:buChar char="▪"/>
            </a:pPr>
            <a:r>
              <a:rPr sz="2400" b="0" i="0">
                <a:solidFill>
                  <a:srgbClr val="0B2B4E"/>
                </a:solidFill>
                <a:latin typeface="Calibri"/>
              </a:rPr>
              <a:t>Price Mechanisms: Tax or Subsidies</a:t>
            </a:r>
          </a:p>
        </p:txBody>
      </p:sp>
      <p:sp>
        <p:nvSpPr>
          <p:cNvPr id="13" name="G3_0"/>
          <p:cNvSpPr txBox="1"/>
          <p:nvPr/>
        </p:nvSpPr>
        <p:spPr>
          <a:xfrm>
            <a:off x="640080" y="3749039"/>
            <a:ext cx="7040880" cy="2103120"/>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Quantity Mechanisms: Quota</a:t>
            </a:r>
          </a:p>
          <a:p>
            <a:pPr marL="603504" indent="-603504">
              <a:spcAft>
                <a:spcPts val="0"/>
              </a:spcAft>
              <a:buClr>
                <a:srgbClr val="555B66"/>
              </a:buClr>
              <a:buSzPct val="100000"/>
              <a:buFont typeface="Calibri"/>
              <a:buChar char="–"/>
            </a:pPr>
            <a:r>
              <a:rPr sz="2100" b="0" i="0" dirty="0">
                <a:solidFill>
                  <a:srgbClr val="555B66"/>
                </a:solidFill>
                <a:latin typeface="Calibri"/>
              </a:rPr>
              <a:t>Regulation mandating that the production or consumption of a certain quantity of a good or externality be limited (negative externality) or required (positive externality)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Perfect Competition · Externalities</a:t>
            </a:r>
          </a:p>
        </p:txBody>
      </p:sp>
      <p:sp>
        <p:nvSpPr>
          <p:cNvPr id="3" name="TextBox 2"/>
          <p:cNvSpPr txBox="1"/>
          <p:nvPr/>
        </p:nvSpPr>
        <p:spPr>
          <a:xfrm>
            <a:off x="457200" y="731520"/>
            <a:ext cx="11274552" cy="566928"/>
          </a:xfrm>
          <a:prstGeom prst="rect">
            <a:avLst/>
          </a:prstGeom>
          <a:noFill/>
        </p:spPr>
        <p:txBody>
          <a:bodyPr wrap="square" lIns="0" tIns="0" rIns="0" bIns="0" anchor="t">
            <a:spAutoFit/>
          </a:bodyPr>
          <a:lstStyle/>
          <a:p>
            <a:r>
              <a:rPr sz="3000" b="1" i="0">
                <a:solidFill>
                  <a:srgbClr val="0B2B4E"/>
                </a:solidFill>
                <a:latin typeface="Calibri"/>
              </a:rPr>
              <a:t>Negative Externalities: Gas</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Perfect Competition</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69</a:t>
            </a:r>
            <a:endParaRPr sz="1100" b="0" i="0" dirty="0">
              <a:solidFill>
                <a:srgbClr val="555B66"/>
              </a:solidFill>
              <a:latin typeface="Calibri"/>
            </a:endParaRPr>
          </a:p>
        </p:txBody>
      </p:sp>
      <p:cxnSp>
        <p:nvCxnSpPr>
          <p:cNvPr id="10" name="Connector 9"/>
          <p:cNvCxnSpPr/>
          <p:nvPr/>
        </p:nvCxnSpPr>
        <p:spPr>
          <a:xfrm flipV="1">
            <a:off x="3200400" y="1645920"/>
            <a:ext cx="0" cy="406908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200400" y="5715000"/>
            <a:ext cx="534924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25496" y="1361682"/>
            <a:ext cx="1097280" cy="276999"/>
          </a:xfrm>
          <a:prstGeom prst="rect">
            <a:avLst/>
          </a:prstGeom>
          <a:noFill/>
        </p:spPr>
        <p:txBody>
          <a:bodyPr wrap="square" lIns="0" tIns="0" rIns="0" bIns="0" anchor="t">
            <a:spAutoFit/>
          </a:bodyPr>
          <a:lstStyle/>
          <a:p>
            <a:pPr algn="l">
              <a:spcAft>
                <a:spcPts val="0"/>
              </a:spcAft>
            </a:pPr>
            <a:r>
              <a:rPr lang="en-US" sz="1800" b="0" i="0" dirty="0">
                <a:solidFill>
                  <a:srgbClr val="0B2B4E"/>
                </a:solidFill>
                <a:latin typeface="Calibri"/>
              </a:rPr>
              <a:t>$/gallon</a:t>
            </a:r>
            <a:endParaRPr sz="1800" b="0" i="0" dirty="0">
              <a:solidFill>
                <a:srgbClr val="0B2B4E"/>
              </a:solidFill>
              <a:latin typeface="Calibri"/>
            </a:endParaRPr>
          </a:p>
        </p:txBody>
      </p:sp>
      <p:sp>
        <p:nvSpPr>
          <p:cNvPr id="13" name="TextBox 12"/>
          <p:cNvSpPr txBox="1"/>
          <p:nvPr/>
        </p:nvSpPr>
        <p:spPr>
          <a:xfrm>
            <a:off x="7765541" y="5886503"/>
            <a:ext cx="1828800" cy="553998"/>
          </a:xfrm>
          <a:prstGeom prst="rect">
            <a:avLst/>
          </a:prstGeom>
          <a:noFill/>
        </p:spPr>
        <p:txBody>
          <a:bodyPr wrap="square" lIns="0" tIns="0" rIns="0" bIns="0" anchor="t">
            <a:spAutoFit/>
          </a:bodyPr>
          <a:lstStyle/>
          <a:p>
            <a:pPr algn="l">
              <a:spcAft>
                <a:spcPts val="0"/>
              </a:spcAft>
            </a:pPr>
            <a:r>
              <a:rPr b="0" i="0" dirty="0">
                <a:solidFill>
                  <a:srgbClr val="0B2B4E"/>
                </a:solidFill>
                <a:latin typeface="Calibri"/>
              </a:rPr>
              <a:t>Gallons of gasoline</a:t>
            </a:r>
          </a:p>
          <a:p>
            <a:pPr algn="l">
              <a:spcAft>
                <a:spcPts val="0"/>
              </a:spcAft>
            </a:pPr>
            <a:r>
              <a:rPr b="0" i="0" dirty="0">
                <a:solidFill>
                  <a:srgbClr val="0B2B4E"/>
                </a:solidFill>
                <a:latin typeface="Calibri"/>
              </a:rPr>
              <a:t>per year</a:t>
            </a:r>
          </a:p>
        </p:txBody>
      </p:sp>
      <p:cxnSp>
        <p:nvCxnSpPr>
          <p:cNvPr id="14" name="Connector 13"/>
          <p:cNvCxnSpPr/>
          <p:nvPr/>
        </p:nvCxnSpPr>
        <p:spPr>
          <a:xfrm>
            <a:off x="3794760" y="2079482"/>
            <a:ext cx="3227832" cy="3469920"/>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364992" y="2660446"/>
            <a:ext cx="3995928" cy="2597354"/>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88935" y="2457547"/>
            <a:ext cx="3291840" cy="553998"/>
          </a:xfrm>
          <a:prstGeom prst="rect">
            <a:avLst/>
          </a:prstGeom>
          <a:noFill/>
        </p:spPr>
        <p:txBody>
          <a:bodyPr wrap="square" lIns="0" tIns="0" rIns="0" bIns="0" anchor="t">
            <a:spAutoFit/>
          </a:bodyPr>
          <a:lstStyle/>
          <a:p>
            <a:pPr algn="l">
              <a:spcAft>
                <a:spcPts val="0"/>
              </a:spcAft>
            </a:pPr>
            <a:r>
              <a:rPr sz="1800" b="0" i="0" dirty="0">
                <a:solidFill>
                  <a:srgbClr val="9DC3E6"/>
                </a:solidFill>
                <a:latin typeface="Calibri"/>
              </a:rPr>
              <a:t>Supply = Internal</a:t>
            </a:r>
          </a:p>
          <a:p>
            <a:pPr algn="l">
              <a:spcAft>
                <a:spcPts val="0"/>
              </a:spcAft>
            </a:pPr>
            <a:r>
              <a:rPr sz="1800" b="0" i="0" dirty="0">
                <a:solidFill>
                  <a:srgbClr val="9DC3E6"/>
                </a:solidFill>
                <a:latin typeface="Calibri"/>
              </a:rPr>
              <a:t>marginal cost (MC</a:t>
            </a:r>
            <a:r>
              <a:rPr lang="en-US" baseline="-25000" dirty="0">
                <a:solidFill>
                  <a:srgbClr val="9DC3E6"/>
                </a:solidFill>
                <a:latin typeface="Calibri"/>
              </a:rPr>
              <a:t>1</a:t>
            </a:r>
            <a:r>
              <a:rPr sz="1800" b="0" i="0" dirty="0">
                <a:solidFill>
                  <a:srgbClr val="9DC3E6"/>
                </a:solidFill>
                <a:latin typeface="Calibri"/>
              </a:rPr>
              <a:t>)</a:t>
            </a:r>
          </a:p>
        </p:txBody>
      </p:sp>
      <p:cxnSp>
        <p:nvCxnSpPr>
          <p:cNvPr id="18" name="C1_0"/>
          <p:cNvCxnSpPr/>
          <p:nvPr/>
        </p:nvCxnSpPr>
        <p:spPr>
          <a:xfrm>
            <a:off x="3200400" y="3886200"/>
            <a:ext cx="2275027" cy="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 name="C1_1"/>
          <p:cNvCxnSpPr/>
          <p:nvPr/>
        </p:nvCxnSpPr>
        <p:spPr>
          <a:xfrm flipV="1">
            <a:off x="5475427" y="3886200"/>
            <a:ext cx="0" cy="182880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sp>
        <p:nvSpPr>
          <p:cNvPr id="20" name="C1_2"/>
          <p:cNvSpPr txBox="1"/>
          <p:nvPr/>
        </p:nvSpPr>
        <p:spPr>
          <a:xfrm>
            <a:off x="2468880" y="3749039"/>
            <a:ext cx="621792" cy="261610"/>
          </a:xfrm>
          <a:prstGeom prst="rect">
            <a:avLst/>
          </a:prstGeom>
          <a:noFill/>
        </p:spPr>
        <p:txBody>
          <a:bodyPr wrap="square" lIns="0" tIns="0" rIns="0" bIns="0" anchor="t">
            <a:spAutoFit/>
          </a:bodyPr>
          <a:lstStyle/>
          <a:p>
            <a:pPr algn="r">
              <a:spcAft>
                <a:spcPts val="0"/>
              </a:spcAft>
            </a:pPr>
            <a:r>
              <a:rPr lang="en-US" sz="1700" dirty="0" err="1">
                <a:solidFill>
                  <a:srgbClr val="0B2B4E"/>
                </a:solidFill>
                <a:latin typeface="Calibri"/>
              </a:rPr>
              <a:t>P</a:t>
            </a:r>
            <a:r>
              <a:rPr lang="en-US" sz="1700" baseline="-25000" dirty="0" err="1">
                <a:solidFill>
                  <a:srgbClr val="0B2B4E"/>
                </a:solidFill>
                <a:latin typeface="Calibri"/>
              </a:rPr>
              <a:t>Market</a:t>
            </a:r>
            <a:endParaRPr sz="1700" b="0" i="0" baseline="-25000" dirty="0">
              <a:solidFill>
                <a:srgbClr val="0B2B4E"/>
              </a:solidFill>
              <a:latin typeface="Calibri"/>
            </a:endParaRPr>
          </a:p>
        </p:txBody>
      </p:sp>
      <p:sp>
        <p:nvSpPr>
          <p:cNvPr id="21" name="C1_3"/>
          <p:cNvSpPr txBox="1"/>
          <p:nvPr/>
        </p:nvSpPr>
        <p:spPr>
          <a:xfrm>
            <a:off x="5330235" y="5779008"/>
            <a:ext cx="667153" cy="276999"/>
          </a:xfrm>
          <a:prstGeom prst="rect">
            <a:avLst/>
          </a:prstGeom>
          <a:noFill/>
        </p:spPr>
        <p:txBody>
          <a:bodyPr wrap="square" lIns="0" tIns="0" rIns="0" bIns="0" anchor="t">
            <a:spAutoFit/>
          </a:bodyPr>
          <a:lstStyle/>
          <a:p>
            <a:pPr algn="ctr"/>
            <a:r>
              <a:rPr lang="en-US" dirty="0" err="1">
                <a:solidFill>
                  <a:srgbClr val="0B2B4E"/>
                </a:solidFill>
              </a:rPr>
              <a:t>Q</a:t>
            </a:r>
            <a:r>
              <a:rPr lang="en-US" baseline="-25000" dirty="0" err="1">
                <a:solidFill>
                  <a:srgbClr val="0B2B4E"/>
                </a:solidFill>
              </a:rPr>
              <a:t>Market</a:t>
            </a:r>
            <a:endParaRPr lang="en-US" baseline="-25000" dirty="0">
              <a:solidFill>
                <a:srgbClr val="0B2B4E"/>
              </a:solidFill>
            </a:endParaRPr>
          </a:p>
        </p:txBody>
      </p:sp>
      <p:cxnSp>
        <p:nvCxnSpPr>
          <p:cNvPr id="22" name="C2_0"/>
          <p:cNvCxnSpPr/>
          <p:nvPr/>
        </p:nvCxnSpPr>
        <p:spPr>
          <a:xfrm>
            <a:off x="3200400" y="5257800"/>
            <a:ext cx="4617720" cy="0"/>
          </a:xfrm>
          <a:prstGeom prst="line">
            <a:avLst/>
          </a:prstGeom>
          <a:ln w="50800">
            <a:solidFill>
              <a:srgbClr val="E9A8A8"/>
            </a:solidFill>
          </a:ln>
          <a:effectLst/>
        </p:spPr>
        <p:style>
          <a:lnRef idx="2">
            <a:schemeClr val="accent1"/>
          </a:lnRef>
          <a:fillRef idx="0">
            <a:schemeClr val="accent1"/>
          </a:fillRef>
          <a:effectRef idx="1">
            <a:schemeClr val="accent1"/>
          </a:effectRef>
          <a:fontRef idx="minor">
            <a:schemeClr val="tx1"/>
          </a:fontRef>
        </p:style>
      </p:cxnSp>
      <p:sp>
        <p:nvSpPr>
          <p:cNvPr id="23" name="C2_1"/>
          <p:cNvSpPr txBox="1"/>
          <p:nvPr/>
        </p:nvSpPr>
        <p:spPr>
          <a:xfrm>
            <a:off x="2560320" y="5120640"/>
            <a:ext cx="530352" cy="261610"/>
          </a:xfrm>
          <a:prstGeom prst="rect">
            <a:avLst/>
          </a:prstGeom>
          <a:noFill/>
        </p:spPr>
        <p:txBody>
          <a:bodyPr wrap="square" lIns="0" tIns="0" rIns="0" bIns="0" anchor="t">
            <a:spAutoFit/>
          </a:bodyPr>
          <a:lstStyle/>
          <a:p>
            <a:pPr algn="r">
              <a:spcAft>
                <a:spcPts val="0"/>
              </a:spcAft>
            </a:pPr>
            <a:r>
              <a:rPr sz="1700" b="0" i="0" dirty="0">
                <a:solidFill>
                  <a:srgbClr val="0B2B4E"/>
                </a:solidFill>
                <a:latin typeface="Calibri"/>
              </a:rPr>
              <a:t>1</a:t>
            </a:r>
            <a:r>
              <a:rPr lang="en-US" sz="1700" b="0" i="0" dirty="0">
                <a:solidFill>
                  <a:srgbClr val="0B2B4E"/>
                </a:solidFill>
                <a:latin typeface="Calibri"/>
              </a:rPr>
              <a:t>.5</a:t>
            </a:r>
            <a:endParaRPr sz="1700" b="0" i="0" dirty="0">
              <a:solidFill>
                <a:srgbClr val="0B2B4E"/>
              </a:solidFill>
              <a:latin typeface="Calibri"/>
            </a:endParaRPr>
          </a:p>
        </p:txBody>
      </p:sp>
      <p:sp>
        <p:nvSpPr>
          <p:cNvPr id="24" name="C2_2"/>
          <p:cNvSpPr txBox="1"/>
          <p:nvPr/>
        </p:nvSpPr>
        <p:spPr>
          <a:xfrm>
            <a:off x="7900416" y="4809744"/>
            <a:ext cx="2651760" cy="731520"/>
          </a:xfrm>
          <a:prstGeom prst="rect">
            <a:avLst/>
          </a:prstGeom>
          <a:noFill/>
        </p:spPr>
        <p:txBody>
          <a:bodyPr wrap="square" lIns="0" tIns="0" rIns="0" bIns="0" anchor="t">
            <a:spAutoFit/>
          </a:bodyPr>
          <a:lstStyle/>
          <a:p>
            <a:pPr algn="l">
              <a:spcAft>
                <a:spcPts val="0"/>
              </a:spcAft>
            </a:pPr>
            <a:r>
              <a:rPr sz="1800" b="0" i="0">
                <a:solidFill>
                  <a:srgbClr val="DE8B8B"/>
                </a:solidFill>
                <a:latin typeface="Calibri"/>
              </a:rPr>
              <a:t>External marginal</a:t>
            </a:r>
          </a:p>
          <a:p>
            <a:pPr algn="l">
              <a:spcAft>
                <a:spcPts val="0"/>
              </a:spcAft>
            </a:pPr>
            <a:r>
              <a:rPr sz="1800" b="0" i="0">
                <a:solidFill>
                  <a:srgbClr val="DE8B8B"/>
                </a:solidFill>
                <a:latin typeface="Calibri"/>
              </a:rPr>
              <a:t>cost (“EMC”)</a:t>
            </a:r>
          </a:p>
        </p:txBody>
      </p:sp>
      <p:cxnSp>
        <p:nvCxnSpPr>
          <p:cNvPr id="25" name="C3_0"/>
          <p:cNvCxnSpPr/>
          <p:nvPr/>
        </p:nvCxnSpPr>
        <p:spPr>
          <a:xfrm flipV="1">
            <a:off x="6126480" y="3005632"/>
            <a:ext cx="0" cy="457200"/>
          </a:xfrm>
          <a:prstGeom prst="line">
            <a:avLst/>
          </a:prstGeom>
          <a:ln w="44450">
            <a:solidFill>
              <a:srgbClr val="E9A8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C3_1"/>
          <p:cNvSpPr txBox="1"/>
          <p:nvPr/>
        </p:nvSpPr>
        <p:spPr>
          <a:xfrm>
            <a:off x="6254496" y="2971800"/>
            <a:ext cx="822960" cy="274320"/>
          </a:xfrm>
          <a:prstGeom prst="rect">
            <a:avLst/>
          </a:prstGeom>
          <a:noFill/>
        </p:spPr>
        <p:txBody>
          <a:bodyPr wrap="square" lIns="0" tIns="0" rIns="0" bIns="0" anchor="t">
            <a:spAutoFit/>
          </a:bodyPr>
          <a:lstStyle/>
          <a:p>
            <a:pPr algn="l">
              <a:spcAft>
                <a:spcPts val="0"/>
              </a:spcAft>
            </a:pPr>
            <a:r>
              <a:rPr sz="1600" b="0" i="0">
                <a:solidFill>
                  <a:srgbClr val="DE8B8B"/>
                </a:solidFill>
                <a:latin typeface="Calibri"/>
              </a:rPr>
              <a:t>EMC</a:t>
            </a:r>
          </a:p>
        </p:txBody>
      </p:sp>
      <p:cxnSp>
        <p:nvCxnSpPr>
          <p:cNvPr id="27" name="C4_0"/>
          <p:cNvCxnSpPr/>
          <p:nvPr/>
        </p:nvCxnSpPr>
        <p:spPr>
          <a:xfrm flipV="1">
            <a:off x="3200400" y="2458821"/>
            <a:ext cx="3767328" cy="2448763"/>
          </a:xfrm>
          <a:prstGeom prst="line">
            <a:avLst/>
          </a:prstGeom>
          <a:ln w="5080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C4_1"/>
          <p:cNvSpPr txBox="1"/>
          <p:nvPr/>
        </p:nvSpPr>
        <p:spPr>
          <a:xfrm>
            <a:off x="6094476" y="1831606"/>
            <a:ext cx="3383280" cy="553998"/>
          </a:xfrm>
          <a:prstGeom prst="rect">
            <a:avLst/>
          </a:prstGeom>
          <a:noFill/>
        </p:spPr>
        <p:txBody>
          <a:bodyPr wrap="square" lIns="0" tIns="0" rIns="0" bIns="0" anchor="t">
            <a:spAutoFit/>
          </a:bodyPr>
          <a:lstStyle/>
          <a:p>
            <a:pPr algn="ctr">
              <a:spcAft>
                <a:spcPts val="0"/>
              </a:spcAft>
            </a:pPr>
            <a:r>
              <a:rPr sz="1800" b="0" i="0" dirty="0">
                <a:solidFill>
                  <a:srgbClr val="0B2B4E"/>
                </a:solidFill>
                <a:latin typeface="Calibri"/>
              </a:rPr>
              <a:t>Social marginal cost</a:t>
            </a:r>
          </a:p>
          <a:p>
            <a:pPr algn="ctr">
              <a:spcAft>
                <a:spcPts val="0"/>
              </a:spcAft>
            </a:pPr>
            <a:r>
              <a:rPr sz="1800" b="0" i="0" dirty="0">
                <a:solidFill>
                  <a:srgbClr val="0B2B4E"/>
                </a:solidFill>
                <a:latin typeface="Calibri"/>
              </a:rPr>
              <a:t>SMC=MC</a:t>
            </a:r>
            <a:r>
              <a:rPr lang="en-US" sz="1800" b="0" i="0" baseline="-25000" dirty="0">
                <a:solidFill>
                  <a:srgbClr val="0B2B4E"/>
                </a:solidFill>
                <a:latin typeface="Calibri"/>
              </a:rPr>
              <a:t>1</a:t>
            </a:r>
            <a:r>
              <a:rPr sz="1800" b="0" i="0" dirty="0">
                <a:solidFill>
                  <a:srgbClr val="0B2B4E"/>
                </a:solidFill>
                <a:latin typeface="Calibri"/>
              </a:rPr>
              <a:t>+EMC</a:t>
            </a:r>
          </a:p>
        </p:txBody>
      </p:sp>
      <p:cxnSp>
        <p:nvCxnSpPr>
          <p:cNvPr id="29" name="C5_0"/>
          <p:cNvCxnSpPr/>
          <p:nvPr/>
        </p:nvCxnSpPr>
        <p:spPr>
          <a:xfrm>
            <a:off x="3200400" y="3601181"/>
            <a:ext cx="2009851" cy="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0" name="C5_1"/>
          <p:cNvCxnSpPr/>
          <p:nvPr/>
        </p:nvCxnSpPr>
        <p:spPr>
          <a:xfrm flipV="1">
            <a:off x="5210251" y="3601181"/>
            <a:ext cx="0" cy="2113819"/>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C5_2"/>
          <p:cNvSpPr txBox="1"/>
          <p:nvPr/>
        </p:nvSpPr>
        <p:spPr>
          <a:xfrm>
            <a:off x="2560320" y="3464021"/>
            <a:ext cx="530352" cy="261610"/>
          </a:xfrm>
          <a:prstGeom prst="rect">
            <a:avLst/>
          </a:prstGeom>
          <a:noFill/>
        </p:spPr>
        <p:txBody>
          <a:bodyPr wrap="square" lIns="0" tIns="0" rIns="0" bIns="0" anchor="t">
            <a:spAutoFit/>
          </a:bodyPr>
          <a:lstStyle/>
          <a:p>
            <a:pPr algn="r">
              <a:spcAft>
                <a:spcPts val="0"/>
              </a:spcAft>
            </a:pPr>
            <a:r>
              <a:rPr lang="en-US" sz="1700" dirty="0" err="1">
                <a:solidFill>
                  <a:srgbClr val="0B2B4E"/>
                </a:solidFill>
              </a:rPr>
              <a:t>P</a:t>
            </a:r>
            <a:r>
              <a:rPr lang="en-US" sz="1700" baseline="-25000" dirty="0" err="1">
                <a:solidFill>
                  <a:srgbClr val="0B2B4E"/>
                </a:solidFill>
              </a:rPr>
              <a:t>Ext</a:t>
            </a:r>
            <a:endParaRPr lang="en-US" sz="1700" baseline="-25000" dirty="0">
              <a:solidFill>
                <a:srgbClr val="0B2B4E"/>
              </a:solidFill>
            </a:endParaRPr>
          </a:p>
        </p:txBody>
      </p:sp>
      <p:sp>
        <p:nvSpPr>
          <p:cNvPr id="32" name="C5_3"/>
          <p:cNvSpPr txBox="1"/>
          <p:nvPr/>
        </p:nvSpPr>
        <p:spPr>
          <a:xfrm>
            <a:off x="4855464" y="5805903"/>
            <a:ext cx="502920" cy="246221"/>
          </a:xfrm>
          <a:prstGeom prst="rect">
            <a:avLst/>
          </a:prstGeom>
          <a:noFill/>
        </p:spPr>
        <p:txBody>
          <a:bodyPr wrap="square" lIns="0" tIns="0" rIns="0" bIns="0" anchor="t">
            <a:spAutoFit/>
          </a:bodyPr>
          <a:lstStyle/>
          <a:p>
            <a:pPr algn="ctr"/>
            <a:r>
              <a:rPr lang="en-US" sz="1600" dirty="0" err="1">
                <a:solidFill>
                  <a:srgbClr val="0B2B4E"/>
                </a:solidFill>
              </a:rPr>
              <a:t>Q</a:t>
            </a:r>
            <a:r>
              <a:rPr lang="en-US" sz="1600" baseline="-25000" dirty="0" err="1">
                <a:solidFill>
                  <a:srgbClr val="0B2B4E"/>
                </a:solidFill>
              </a:rPr>
              <a:t>Ext</a:t>
            </a:r>
            <a:endParaRPr lang="en-US" sz="1600" baseline="-25000" dirty="0">
              <a:solidFill>
                <a:srgbClr val="0B2B4E"/>
              </a:solidFill>
            </a:endParaRPr>
          </a:p>
        </p:txBody>
      </p:sp>
      <p:sp>
        <p:nvSpPr>
          <p:cNvPr id="33" name="TextBox 32">
            <a:extLst>
              <a:ext uri="{FF2B5EF4-FFF2-40B4-BE49-F238E27FC236}">
                <a16:creationId xmlns:a16="http://schemas.microsoft.com/office/drawing/2014/main" id="{E2005E7B-7BC3-499E-01E7-FE3D971925AA}"/>
              </a:ext>
            </a:extLst>
          </p:cNvPr>
          <p:cNvSpPr txBox="1"/>
          <p:nvPr/>
        </p:nvSpPr>
        <p:spPr>
          <a:xfrm>
            <a:off x="7127748" y="5377789"/>
            <a:ext cx="1463040" cy="329184"/>
          </a:xfrm>
          <a:prstGeom prst="rect">
            <a:avLst/>
          </a:prstGeom>
          <a:noFill/>
        </p:spPr>
        <p:txBody>
          <a:bodyPr wrap="square" lIns="0" tIns="0" rIns="0" bIns="0" anchor="t">
            <a:spAutoFit/>
          </a:bodyPr>
          <a:lstStyle/>
          <a:p>
            <a:pPr algn="l">
              <a:spcAft>
                <a:spcPts val="0"/>
              </a:spcAft>
            </a:pPr>
            <a:r>
              <a:rPr sz="1800" b="0" i="0" dirty="0">
                <a:solidFill>
                  <a:srgbClr val="E09F3E"/>
                </a:solidFill>
                <a:latin typeface="Calibri"/>
              </a:rPr>
              <a:t>Demand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DFCB6-5CA9-FDD7-342F-412B74A24E7A}"/>
            </a:ext>
          </a:extLst>
        </p:cNvPr>
        <p:cNvGrpSpPr/>
        <p:nvPr/>
      </p:nvGrpSpPr>
      <p:grpSpPr>
        <a:xfrm>
          <a:off x="0" y="0"/>
          <a:ext cx="0" cy="0"/>
          <a:chOff x="0" y="0"/>
          <a:chExt cx="0" cy="0"/>
        </a:xfrm>
      </p:grpSpPr>
      <p:sp>
        <p:nvSpPr>
          <p:cNvPr id="35" name="C3_0">
            <a:extLst>
              <a:ext uri="{FF2B5EF4-FFF2-40B4-BE49-F238E27FC236}">
                <a16:creationId xmlns:a16="http://schemas.microsoft.com/office/drawing/2014/main" id="{87B59743-DFC9-8D88-2A5B-AA3387A7DEC3}"/>
              </a:ext>
            </a:extLst>
          </p:cNvPr>
          <p:cNvSpPr/>
          <p:nvPr/>
        </p:nvSpPr>
        <p:spPr>
          <a:xfrm>
            <a:off x="10119779" y="1353313"/>
            <a:ext cx="1494413" cy="2247868"/>
          </a:xfrm>
          <a:prstGeom prst="roundRect">
            <a:avLst>
              <a:gd name="adj" fmla="val 12000"/>
            </a:avLst>
          </a:prstGeom>
          <a:solidFill>
            <a:srgbClr val="FDF6E6"/>
          </a:solidFill>
          <a:ln w="22225">
            <a:solidFill>
              <a:srgbClr val="E09F3E"/>
            </a:solidFill>
          </a:ln>
          <a:effectLst>
            <a:outerShdw blurRad="54864" dist="36576"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0" i="0" dirty="0">
              <a:solidFill>
                <a:srgbClr val="0B2B4E"/>
              </a:solidFill>
              <a:latin typeface="Calibri"/>
            </a:endParaRPr>
          </a:p>
          <a:p>
            <a:pPr algn="ctr"/>
            <a:endParaRPr lang="en-US" sz="1600" dirty="0">
              <a:solidFill>
                <a:srgbClr val="0B2B4E"/>
              </a:solidFill>
              <a:latin typeface="Calibri"/>
            </a:endParaRPr>
          </a:p>
          <a:p>
            <a:pPr algn="ctr"/>
            <a:endParaRPr lang="en-US" sz="1600" b="0" i="0" dirty="0">
              <a:solidFill>
                <a:srgbClr val="0B2B4E"/>
              </a:solidFill>
              <a:latin typeface="Calibri"/>
            </a:endParaRPr>
          </a:p>
          <a:p>
            <a:pPr algn="ctr"/>
            <a:endParaRPr lang="en-US" sz="1600" dirty="0">
              <a:solidFill>
                <a:srgbClr val="0B2B4E"/>
              </a:solidFill>
              <a:latin typeface="Calibri"/>
            </a:endParaRPr>
          </a:p>
          <a:p>
            <a:pPr algn="ctr"/>
            <a:endParaRPr lang="en-US" sz="1600" b="0" i="0" dirty="0">
              <a:solidFill>
                <a:srgbClr val="0B2B4E"/>
              </a:solidFill>
              <a:latin typeface="Calibri"/>
            </a:endParaRPr>
          </a:p>
          <a:p>
            <a:pPr algn="ctr"/>
            <a:endParaRPr lang="en-US" sz="1600" dirty="0">
              <a:solidFill>
                <a:srgbClr val="0B2B4E"/>
              </a:solidFill>
              <a:latin typeface="Calibri"/>
            </a:endParaRPr>
          </a:p>
          <a:p>
            <a:pPr algn="ctr"/>
            <a:endParaRPr lang="en-US" sz="1600" b="0" i="0" dirty="0">
              <a:solidFill>
                <a:srgbClr val="0B2B4E"/>
              </a:solidFill>
              <a:latin typeface="Calibri"/>
            </a:endParaRPr>
          </a:p>
          <a:p>
            <a:pPr algn="ctr"/>
            <a:endParaRPr lang="en-US" sz="1600" b="0" i="0" dirty="0">
              <a:solidFill>
                <a:srgbClr val="0B2B4E"/>
              </a:solidFill>
              <a:latin typeface="Calibri"/>
            </a:endParaRPr>
          </a:p>
          <a:p>
            <a:pPr algn="ctr"/>
            <a:r>
              <a:rPr lang="en-US" sz="1600" b="0" i="0" dirty="0">
                <a:solidFill>
                  <a:srgbClr val="0B2B4E"/>
                </a:solidFill>
                <a:latin typeface="Calibri"/>
              </a:rPr>
              <a:t>Arthur Pigou</a:t>
            </a:r>
            <a:endParaRPr sz="1600" b="0" i="0" dirty="0">
              <a:solidFill>
                <a:srgbClr val="0B2B4E"/>
              </a:solidFill>
              <a:latin typeface="Calibri"/>
            </a:endParaRPr>
          </a:p>
        </p:txBody>
      </p:sp>
      <p:sp>
        <p:nvSpPr>
          <p:cNvPr id="2" name="Rectangle 1">
            <a:extLst>
              <a:ext uri="{FF2B5EF4-FFF2-40B4-BE49-F238E27FC236}">
                <a16:creationId xmlns:a16="http://schemas.microsoft.com/office/drawing/2014/main" id="{D99D2EA0-856B-BA05-E064-5DAEFA31E756}"/>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r>
              <a:rPr lang="en-US" sz="1600" b="1" dirty="0">
                <a:solidFill>
                  <a:srgbClr val="FFFFFF"/>
                </a:solidFill>
              </a:rPr>
              <a:t>Perfect Competition · Externalities</a:t>
            </a:r>
          </a:p>
        </p:txBody>
      </p:sp>
      <p:sp>
        <p:nvSpPr>
          <p:cNvPr id="3" name="TextBox 2">
            <a:extLst>
              <a:ext uri="{FF2B5EF4-FFF2-40B4-BE49-F238E27FC236}">
                <a16:creationId xmlns:a16="http://schemas.microsoft.com/office/drawing/2014/main" id="{82639AA7-6AD8-2B95-E28B-D100468B16CE}"/>
              </a:ext>
            </a:extLst>
          </p:cNvPr>
          <p:cNvSpPr txBox="1"/>
          <p:nvPr/>
        </p:nvSpPr>
        <p:spPr>
          <a:xfrm>
            <a:off x="457200" y="731520"/>
            <a:ext cx="11274552" cy="461665"/>
          </a:xfrm>
          <a:prstGeom prst="rect">
            <a:avLst/>
          </a:prstGeom>
          <a:noFill/>
        </p:spPr>
        <p:txBody>
          <a:bodyPr wrap="square" lIns="0" tIns="0" rIns="0" bIns="0" anchor="t">
            <a:spAutoFit/>
          </a:bodyPr>
          <a:lstStyle/>
          <a:p>
            <a:r>
              <a:rPr lang="en-US" sz="3000" b="1" i="0" dirty="0">
                <a:solidFill>
                  <a:srgbClr val="0B2B4E"/>
                </a:solidFill>
                <a:latin typeface="Calibri"/>
              </a:rPr>
              <a:t>Carbon Tax to Correct for the Negative Externality</a:t>
            </a:r>
            <a:endParaRPr sz="3000" b="1" i="0" dirty="0">
              <a:solidFill>
                <a:srgbClr val="0B2B4E"/>
              </a:solidFill>
              <a:latin typeface="Calibri"/>
            </a:endParaRPr>
          </a:p>
        </p:txBody>
      </p:sp>
      <p:cxnSp>
        <p:nvCxnSpPr>
          <p:cNvPr id="4" name="Connector 3">
            <a:extLst>
              <a:ext uri="{FF2B5EF4-FFF2-40B4-BE49-F238E27FC236}">
                <a16:creationId xmlns:a16="http://schemas.microsoft.com/office/drawing/2014/main" id="{35F8923D-3615-6008-4321-818B2784452E}"/>
              </a:ext>
            </a:extLst>
          </p:cNvPr>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DC31FF5E-FFEE-8EE1-6A3D-BA5424F20113}"/>
              </a:ext>
            </a:extLst>
          </p:cNvPr>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a:extLst>
              <a:ext uri="{FF2B5EF4-FFF2-40B4-BE49-F238E27FC236}">
                <a16:creationId xmlns:a16="http://schemas.microsoft.com/office/drawing/2014/main" id="{34182CED-F30C-68DB-6B36-3CC5345F935C}"/>
              </a:ext>
            </a:extLst>
          </p:cNvPr>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2F970896-F1B1-C88E-00F3-142A6C0DAC6C}"/>
              </a:ext>
            </a:extLst>
          </p:cNvPr>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19D94AF5-5E9C-57F5-E84D-93923A3CFA33}"/>
              </a:ext>
            </a:extLst>
          </p:cNvPr>
          <p:cNvSpPr txBox="1"/>
          <p:nvPr/>
        </p:nvSpPr>
        <p:spPr>
          <a:xfrm>
            <a:off x="457200" y="6547104"/>
            <a:ext cx="8229600" cy="169277"/>
          </a:xfrm>
          <a:prstGeom prst="rect">
            <a:avLst/>
          </a:prstGeom>
          <a:noFill/>
        </p:spPr>
        <p:txBody>
          <a:bodyPr wrap="square" lIns="0" tIns="0" rIns="0" bIns="0" anchor="t">
            <a:spAutoFit/>
          </a:bodyPr>
          <a:lstStyle/>
          <a:p>
            <a:r>
              <a:rPr lang="en-US" sz="1100" dirty="0">
                <a:solidFill>
                  <a:srgbClr val="555B66"/>
                </a:solidFill>
              </a:rPr>
              <a:t>Management 405 · Perfect Competition</a:t>
            </a:r>
          </a:p>
        </p:txBody>
      </p:sp>
      <p:sp>
        <p:nvSpPr>
          <p:cNvPr id="9" name="TextBox 8">
            <a:extLst>
              <a:ext uri="{FF2B5EF4-FFF2-40B4-BE49-F238E27FC236}">
                <a16:creationId xmlns:a16="http://schemas.microsoft.com/office/drawing/2014/main" id="{506C370A-87F5-0C85-943B-3090DB0D77A8}"/>
              </a:ext>
            </a:extLst>
          </p:cNvPr>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70</a:t>
            </a:r>
            <a:endParaRPr sz="1100" b="0" i="0" dirty="0">
              <a:solidFill>
                <a:srgbClr val="555B66"/>
              </a:solidFill>
              <a:latin typeface="Calibri"/>
            </a:endParaRPr>
          </a:p>
        </p:txBody>
      </p:sp>
      <p:cxnSp>
        <p:nvCxnSpPr>
          <p:cNvPr id="10" name="Connector 9">
            <a:extLst>
              <a:ext uri="{FF2B5EF4-FFF2-40B4-BE49-F238E27FC236}">
                <a16:creationId xmlns:a16="http://schemas.microsoft.com/office/drawing/2014/main" id="{E2DE0E89-1AC4-503A-2514-3B31E1B54734}"/>
              </a:ext>
            </a:extLst>
          </p:cNvPr>
          <p:cNvCxnSpPr/>
          <p:nvPr/>
        </p:nvCxnSpPr>
        <p:spPr>
          <a:xfrm flipV="1">
            <a:off x="2070849" y="1852111"/>
            <a:ext cx="0" cy="406908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a:extLst>
              <a:ext uri="{FF2B5EF4-FFF2-40B4-BE49-F238E27FC236}">
                <a16:creationId xmlns:a16="http://schemas.microsoft.com/office/drawing/2014/main" id="{51D72BEE-9643-8A93-0A92-577319191DD5}"/>
              </a:ext>
            </a:extLst>
          </p:cNvPr>
          <p:cNvCxnSpPr/>
          <p:nvPr/>
        </p:nvCxnSpPr>
        <p:spPr>
          <a:xfrm>
            <a:off x="2070849" y="5921191"/>
            <a:ext cx="5349240" cy="0"/>
          </a:xfrm>
          <a:prstGeom prst="line">
            <a:avLst/>
          </a:prstGeom>
          <a:ln w="31750">
            <a:solidFill>
              <a:srgbClr val="0B2B4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B79E39C-8527-1EA4-2CC1-9310C298E142}"/>
              </a:ext>
            </a:extLst>
          </p:cNvPr>
          <p:cNvSpPr txBox="1"/>
          <p:nvPr/>
        </p:nvSpPr>
        <p:spPr>
          <a:xfrm>
            <a:off x="1138161" y="1852110"/>
            <a:ext cx="1097280" cy="276999"/>
          </a:xfrm>
          <a:prstGeom prst="rect">
            <a:avLst/>
          </a:prstGeom>
          <a:noFill/>
        </p:spPr>
        <p:txBody>
          <a:bodyPr wrap="square" lIns="0" tIns="0" rIns="0" bIns="0" anchor="t">
            <a:spAutoFit/>
          </a:bodyPr>
          <a:lstStyle/>
          <a:p>
            <a:pPr algn="l">
              <a:spcAft>
                <a:spcPts val="0"/>
              </a:spcAft>
            </a:pPr>
            <a:r>
              <a:rPr lang="en-US" sz="1800" b="0" i="0" dirty="0">
                <a:solidFill>
                  <a:srgbClr val="0B2B4E"/>
                </a:solidFill>
                <a:latin typeface="Calibri"/>
              </a:rPr>
              <a:t>$/gallon</a:t>
            </a:r>
            <a:endParaRPr sz="1800" b="0" i="0" dirty="0">
              <a:solidFill>
                <a:srgbClr val="0B2B4E"/>
              </a:solidFill>
              <a:latin typeface="Calibri"/>
            </a:endParaRPr>
          </a:p>
        </p:txBody>
      </p:sp>
      <p:sp>
        <p:nvSpPr>
          <p:cNvPr id="13" name="TextBox 12">
            <a:extLst>
              <a:ext uri="{FF2B5EF4-FFF2-40B4-BE49-F238E27FC236}">
                <a16:creationId xmlns:a16="http://schemas.microsoft.com/office/drawing/2014/main" id="{78001FA2-66C1-A342-E3DB-26E9348E657E}"/>
              </a:ext>
            </a:extLst>
          </p:cNvPr>
          <p:cNvSpPr txBox="1"/>
          <p:nvPr/>
        </p:nvSpPr>
        <p:spPr>
          <a:xfrm>
            <a:off x="6359384" y="6101392"/>
            <a:ext cx="2786635" cy="276999"/>
          </a:xfrm>
          <a:prstGeom prst="rect">
            <a:avLst/>
          </a:prstGeom>
          <a:noFill/>
        </p:spPr>
        <p:txBody>
          <a:bodyPr wrap="square" lIns="0" tIns="0" rIns="0" bIns="0" anchor="t">
            <a:spAutoFit/>
          </a:bodyPr>
          <a:lstStyle/>
          <a:p>
            <a:pPr algn="l">
              <a:spcAft>
                <a:spcPts val="0"/>
              </a:spcAft>
            </a:pPr>
            <a:r>
              <a:rPr b="0" i="0" dirty="0">
                <a:solidFill>
                  <a:srgbClr val="0B2B4E"/>
                </a:solidFill>
                <a:latin typeface="Calibri"/>
              </a:rPr>
              <a:t>Gallons of gasoline</a:t>
            </a:r>
            <a:r>
              <a:rPr lang="en-US" b="0" i="0" dirty="0">
                <a:solidFill>
                  <a:srgbClr val="0B2B4E"/>
                </a:solidFill>
                <a:latin typeface="Calibri"/>
              </a:rPr>
              <a:t> </a:t>
            </a:r>
            <a:r>
              <a:rPr b="0" i="0" dirty="0">
                <a:solidFill>
                  <a:srgbClr val="0B2B4E"/>
                </a:solidFill>
                <a:latin typeface="Calibri"/>
              </a:rPr>
              <a:t>per year</a:t>
            </a:r>
          </a:p>
        </p:txBody>
      </p:sp>
      <p:cxnSp>
        <p:nvCxnSpPr>
          <p:cNvPr id="14" name="Connector 13">
            <a:extLst>
              <a:ext uri="{FF2B5EF4-FFF2-40B4-BE49-F238E27FC236}">
                <a16:creationId xmlns:a16="http://schemas.microsoft.com/office/drawing/2014/main" id="{71230FC3-6623-265E-57A5-B0CBAB8050A3}"/>
              </a:ext>
            </a:extLst>
          </p:cNvPr>
          <p:cNvCxnSpPr/>
          <p:nvPr/>
        </p:nvCxnSpPr>
        <p:spPr>
          <a:xfrm>
            <a:off x="2665209" y="2285673"/>
            <a:ext cx="3227832" cy="3469920"/>
          </a:xfrm>
          <a:prstGeom prst="line">
            <a:avLst/>
          </a:prstGeom>
          <a:ln w="50800">
            <a:solidFill>
              <a:srgbClr val="E09F3E"/>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a:extLst>
              <a:ext uri="{FF2B5EF4-FFF2-40B4-BE49-F238E27FC236}">
                <a16:creationId xmlns:a16="http://schemas.microsoft.com/office/drawing/2014/main" id="{A8C2966D-14AE-43B8-24AF-80A1B1DDA9F2}"/>
              </a:ext>
            </a:extLst>
          </p:cNvPr>
          <p:cNvCxnSpPr/>
          <p:nvPr/>
        </p:nvCxnSpPr>
        <p:spPr>
          <a:xfrm flipV="1">
            <a:off x="2235441" y="2866637"/>
            <a:ext cx="3995928" cy="2597354"/>
          </a:xfrm>
          <a:prstGeom prst="line">
            <a:avLst/>
          </a:prstGeom>
          <a:ln w="5080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BBDFF9D-D196-F282-8090-A8912CFAE247}"/>
              </a:ext>
            </a:extLst>
          </p:cNvPr>
          <p:cNvSpPr txBox="1"/>
          <p:nvPr/>
        </p:nvSpPr>
        <p:spPr>
          <a:xfrm>
            <a:off x="6359384" y="2663738"/>
            <a:ext cx="3291840" cy="553998"/>
          </a:xfrm>
          <a:prstGeom prst="rect">
            <a:avLst/>
          </a:prstGeom>
          <a:noFill/>
        </p:spPr>
        <p:txBody>
          <a:bodyPr wrap="square" lIns="0" tIns="0" rIns="0" bIns="0" anchor="t">
            <a:spAutoFit/>
          </a:bodyPr>
          <a:lstStyle/>
          <a:p>
            <a:pPr algn="l">
              <a:spcAft>
                <a:spcPts val="0"/>
              </a:spcAft>
            </a:pPr>
            <a:r>
              <a:rPr sz="1800" b="0" i="0" dirty="0">
                <a:solidFill>
                  <a:srgbClr val="9DC3E6"/>
                </a:solidFill>
                <a:latin typeface="Calibri"/>
              </a:rPr>
              <a:t>Supply = Internal</a:t>
            </a:r>
          </a:p>
          <a:p>
            <a:pPr algn="l">
              <a:spcAft>
                <a:spcPts val="0"/>
              </a:spcAft>
            </a:pPr>
            <a:r>
              <a:rPr sz="1800" b="0" i="0" dirty="0">
                <a:solidFill>
                  <a:srgbClr val="9DC3E6"/>
                </a:solidFill>
                <a:latin typeface="Calibri"/>
              </a:rPr>
              <a:t>marginal cost (MC</a:t>
            </a:r>
            <a:r>
              <a:rPr lang="en-US" baseline="-25000" dirty="0">
                <a:solidFill>
                  <a:srgbClr val="9DC3E6"/>
                </a:solidFill>
                <a:latin typeface="Calibri"/>
              </a:rPr>
              <a:t>1</a:t>
            </a:r>
            <a:r>
              <a:rPr sz="1800" b="0" i="0" dirty="0">
                <a:solidFill>
                  <a:srgbClr val="9DC3E6"/>
                </a:solidFill>
                <a:latin typeface="Calibri"/>
              </a:rPr>
              <a:t>)</a:t>
            </a:r>
          </a:p>
        </p:txBody>
      </p:sp>
      <p:cxnSp>
        <p:nvCxnSpPr>
          <p:cNvPr id="18" name="C1_0">
            <a:extLst>
              <a:ext uri="{FF2B5EF4-FFF2-40B4-BE49-F238E27FC236}">
                <a16:creationId xmlns:a16="http://schemas.microsoft.com/office/drawing/2014/main" id="{E771622E-B5E5-EA83-51B7-5D900EC05FD9}"/>
              </a:ext>
            </a:extLst>
          </p:cNvPr>
          <p:cNvCxnSpPr/>
          <p:nvPr/>
        </p:nvCxnSpPr>
        <p:spPr>
          <a:xfrm>
            <a:off x="2070849" y="4092391"/>
            <a:ext cx="2275027" cy="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 name="C1_1">
            <a:extLst>
              <a:ext uri="{FF2B5EF4-FFF2-40B4-BE49-F238E27FC236}">
                <a16:creationId xmlns:a16="http://schemas.microsoft.com/office/drawing/2014/main" id="{104BF28D-5BD2-B060-D9E1-6496205D145E}"/>
              </a:ext>
            </a:extLst>
          </p:cNvPr>
          <p:cNvCxnSpPr/>
          <p:nvPr/>
        </p:nvCxnSpPr>
        <p:spPr>
          <a:xfrm flipV="1">
            <a:off x="4345876" y="4092391"/>
            <a:ext cx="0" cy="182880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C1_3">
            <a:extLst>
              <a:ext uri="{FF2B5EF4-FFF2-40B4-BE49-F238E27FC236}">
                <a16:creationId xmlns:a16="http://schemas.microsoft.com/office/drawing/2014/main" id="{9098C615-5F76-9033-97CB-78A426E5638B}"/>
              </a:ext>
            </a:extLst>
          </p:cNvPr>
          <p:cNvSpPr txBox="1"/>
          <p:nvPr/>
        </p:nvSpPr>
        <p:spPr>
          <a:xfrm>
            <a:off x="4227580" y="5985199"/>
            <a:ext cx="694048" cy="276999"/>
          </a:xfrm>
          <a:prstGeom prst="rect">
            <a:avLst/>
          </a:prstGeom>
          <a:noFill/>
        </p:spPr>
        <p:txBody>
          <a:bodyPr wrap="square" lIns="0" tIns="0" rIns="0" bIns="0" anchor="t">
            <a:spAutoFit/>
          </a:bodyPr>
          <a:lstStyle/>
          <a:p>
            <a:pPr algn="ctr"/>
            <a:r>
              <a:rPr lang="en-US" dirty="0" err="1">
                <a:solidFill>
                  <a:srgbClr val="0B2B4E"/>
                </a:solidFill>
              </a:rPr>
              <a:t>Q</a:t>
            </a:r>
            <a:r>
              <a:rPr lang="en-US" baseline="-25000" dirty="0" err="1">
                <a:solidFill>
                  <a:srgbClr val="0B2B4E"/>
                </a:solidFill>
              </a:rPr>
              <a:t>Market</a:t>
            </a:r>
            <a:endParaRPr lang="en-US" baseline="-25000" dirty="0">
              <a:solidFill>
                <a:srgbClr val="0B2B4E"/>
              </a:solidFill>
            </a:endParaRPr>
          </a:p>
        </p:txBody>
      </p:sp>
      <p:cxnSp>
        <p:nvCxnSpPr>
          <p:cNvPr id="22" name="C2_0">
            <a:extLst>
              <a:ext uri="{FF2B5EF4-FFF2-40B4-BE49-F238E27FC236}">
                <a16:creationId xmlns:a16="http://schemas.microsoft.com/office/drawing/2014/main" id="{9DD072F3-B76D-E611-65AC-12BD324064C5}"/>
              </a:ext>
            </a:extLst>
          </p:cNvPr>
          <p:cNvCxnSpPr/>
          <p:nvPr/>
        </p:nvCxnSpPr>
        <p:spPr>
          <a:xfrm>
            <a:off x="2070849" y="5463991"/>
            <a:ext cx="4617720" cy="0"/>
          </a:xfrm>
          <a:prstGeom prst="line">
            <a:avLst/>
          </a:prstGeom>
          <a:ln w="50800">
            <a:solidFill>
              <a:srgbClr val="E9A8A8"/>
            </a:solidFill>
          </a:ln>
          <a:effectLst/>
        </p:spPr>
        <p:style>
          <a:lnRef idx="2">
            <a:schemeClr val="accent1"/>
          </a:lnRef>
          <a:fillRef idx="0">
            <a:schemeClr val="accent1"/>
          </a:fillRef>
          <a:effectRef idx="1">
            <a:schemeClr val="accent1"/>
          </a:effectRef>
          <a:fontRef idx="minor">
            <a:schemeClr val="tx1"/>
          </a:fontRef>
        </p:style>
      </p:cxnSp>
      <p:sp>
        <p:nvSpPr>
          <p:cNvPr id="23" name="C2_1">
            <a:extLst>
              <a:ext uri="{FF2B5EF4-FFF2-40B4-BE49-F238E27FC236}">
                <a16:creationId xmlns:a16="http://schemas.microsoft.com/office/drawing/2014/main" id="{CE66EAE0-3D3B-4D2F-7B0B-AFCB029F4C44}"/>
              </a:ext>
            </a:extLst>
          </p:cNvPr>
          <p:cNvSpPr txBox="1"/>
          <p:nvPr/>
        </p:nvSpPr>
        <p:spPr>
          <a:xfrm>
            <a:off x="1430769" y="5326831"/>
            <a:ext cx="530352" cy="261610"/>
          </a:xfrm>
          <a:prstGeom prst="rect">
            <a:avLst/>
          </a:prstGeom>
          <a:noFill/>
        </p:spPr>
        <p:txBody>
          <a:bodyPr wrap="square" lIns="0" tIns="0" rIns="0" bIns="0" anchor="t">
            <a:spAutoFit/>
          </a:bodyPr>
          <a:lstStyle/>
          <a:p>
            <a:pPr algn="r">
              <a:spcAft>
                <a:spcPts val="0"/>
              </a:spcAft>
            </a:pPr>
            <a:r>
              <a:rPr sz="1700" b="0" i="0" dirty="0">
                <a:solidFill>
                  <a:srgbClr val="0B2B4E"/>
                </a:solidFill>
                <a:latin typeface="Calibri"/>
              </a:rPr>
              <a:t>1</a:t>
            </a:r>
            <a:r>
              <a:rPr lang="en-US" sz="1700" b="0" i="0" dirty="0">
                <a:solidFill>
                  <a:srgbClr val="0B2B4E"/>
                </a:solidFill>
                <a:latin typeface="Calibri"/>
              </a:rPr>
              <a:t>.5</a:t>
            </a:r>
            <a:endParaRPr sz="1700" b="0" i="0" dirty="0">
              <a:solidFill>
                <a:srgbClr val="0B2B4E"/>
              </a:solidFill>
              <a:latin typeface="Calibri"/>
            </a:endParaRPr>
          </a:p>
        </p:txBody>
      </p:sp>
      <p:sp>
        <p:nvSpPr>
          <p:cNvPr id="24" name="C2_2">
            <a:extLst>
              <a:ext uri="{FF2B5EF4-FFF2-40B4-BE49-F238E27FC236}">
                <a16:creationId xmlns:a16="http://schemas.microsoft.com/office/drawing/2014/main" id="{57C28865-8F6F-6FA1-4F20-6AF6BBD01AAC}"/>
              </a:ext>
            </a:extLst>
          </p:cNvPr>
          <p:cNvSpPr txBox="1"/>
          <p:nvPr/>
        </p:nvSpPr>
        <p:spPr>
          <a:xfrm>
            <a:off x="6770865" y="5015935"/>
            <a:ext cx="2651760" cy="731520"/>
          </a:xfrm>
          <a:prstGeom prst="rect">
            <a:avLst/>
          </a:prstGeom>
          <a:noFill/>
        </p:spPr>
        <p:txBody>
          <a:bodyPr wrap="square" lIns="0" tIns="0" rIns="0" bIns="0" anchor="t">
            <a:spAutoFit/>
          </a:bodyPr>
          <a:lstStyle/>
          <a:p>
            <a:pPr algn="l">
              <a:spcAft>
                <a:spcPts val="0"/>
              </a:spcAft>
            </a:pPr>
            <a:r>
              <a:rPr sz="1800" b="0" i="0">
                <a:solidFill>
                  <a:srgbClr val="DE8B8B"/>
                </a:solidFill>
                <a:latin typeface="Calibri"/>
              </a:rPr>
              <a:t>External marginal</a:t>
            </a:r>
          </a:p>
          <a:p>
            <a:pPr algn="l">
              <a:spcAft>
                <a:spcPts val="0"/>
              </a:spcAft>
            </a:pPr>
            <a:r>
              <a:rPr sz="1800" b="0" i="0">
                <a:solidFill>
                  <a:srgbClr val="DE8B8B"/>
                </a:solidFill>
                <a:latin typeface="Calibri"/>
              </a:rPr>
              <a:t>cost (“EMC”)</a:t>
            </a:r>
          </a:p>
        </p:txBody>
      </p:sp>
      <p:cxnSp>
        <p:nvCxnSpPr>
          <p:cNvPr id="25" name="C3_0">
            <a:extLst>
              <a:ext uri="{FF2B5EF4-FFF2-40B4-BE49-F238E27FC236}">
                <a16:creationId xmlns:a16="http://schemas.microsoft.com/office/drawing/2014/main" id="{A2DD8811-3210-7EB2-5430-91AE0A8894FB}"/>
              </a:ext>
            </a:extLst>
          </p:cNvPr>
          <p:cNvCxnSpPr/>
          <p:nvPr/>
        </p:nvCxnSpPr>
        <p:spPr>
          <a:xfrm flipV="1">
            <a:off x="4996929" y="3211823"/>
            <a:ext cx="0" cy="457200"/>
          </a:xfrm>
          <a:prstGeom prst="line">
            <a:avLst/>
          </a:prstGeom>
          <a:ln w="44450">
            <a:solidFill>
              <a:srgbClr val="E9A8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C3_1">
            <a:extLst>
              <a:ext uri="{FF2B5EF4-FFF2-40B4-BE49-F238E27FC236}">
                <a16:creationId xmlns:a16="http://schemas.microsoft.com/office/drawing/2014/main" id="{C9A3168F-9B5E-E782-852A-7D729A0FD4C6}"/>
              </a:ext>
            </a:extLst>
          </p:cNvPr>
          <p:cNvSpPr txBox="1"/>
          <p:nvPr/>
        </p:nvSpPr>
        <p:spPr>
          <a:xfrm>
            <a:off x="3645546" y="2907568"/>
            <a:ext cx="1468325" cy="246221"/>
          </a:xfrm>
          <a:prstGeom prst="rect">
            <a:avLst/>
          </a:prstGeom>
          <a:noFill/>
        </p:spPr>
        <p:txBody>
          <a:bodyPr wrap="square" lIns="0" tIns="0" rIns="0" bIns="0" anchor="t">
            <a:spAutoFit/>
          </a:bodyPr>
          <a:lstStyle/>
          <a:p>
            <a:pPr algn="l">
              <a:spcAft>
                <a:spcPts val="0"/>
              </a:spcAft>
            </a:pPr>
            <a:r>
              <a:rPr lang="en-US" sz="1600" b="0" i="0" dirty="0">
                <a:solidFill>
                  <a:srgbClr val="DE8B8B"/>
                </a:solidFill>
                <a:latin typeface="Calibri"/>
              </a:rPr>
              <a:t>Tax =</a:t>
            </a:r>
            <a:r>
              <a:rPr sz="1600" b="0" i="0" dirty="0">
                <a:solidFill>
                  <a:srgbClr val="DE8B8B"/>
                </a:solidFill>
                <a:latin typeface="Calibri"/>
              </a:rPr>
              <a:t>EMC</a:t>
            </a:r>
            <a:r>
              <a:rPr lang="en-US" sz="1600" b="0" i="0" dirty="0">
                <a:solidFill>
                  <a:srgbClr val="DE8B8B"/>
                </a:solidFill>
                <a:latin typeface="Calibri"/>
              </a:rPr>
              <a:t> ($1.50)</a:t>
            </a:r>
            <a:endParaRPr sz="1600" b="0" i="0" dirty="0">
              <a:solidFill>
                <a:srgbClr val="DE8B8B"/>
              </a:solidFill>
              <a:latin typeface="Calibri"/>
            </a:endParaRPr>
          </a:p>
        </p:txBody>
      </p:sp>
      <p:cxnSp>
        <p:nvCxnSpPr>
          <p:cNvPr id="27" name="C4_0">
            <a:extLst>
              <a:ext uri="{FF2B5EF4-FFF2-40B4-BE49-F238E27FC236}">
                <a16:creationId xmlns:a16="http://schemas.microsoft.com/office/drawing/2014/main" id="{D6D9C03E-CA6B-92D9-BA69-C3A4D6E1168B}"/>
              </a:ext>
            </a:extLst>
          </p:cNvPr>
          <p:cNvCxnSpPr/>
          <p:nvPr/>
        </p:nvCxnSpPr>
        <p:spPr>
          <a:xfrm flipV="1">
            <a:off x="2070849" y="2665012"/>
            <a:ext cx="3767328" cy="2448763"/>
          </a:xfrm>
          <a:prstGeom prst="line">
            <a:avLst/>
          </a:prstGeom>
          <a:ln w="50800">
            <a:solidFill>
              <a:srgbClr val="0B2B4E"/>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C4_1">
            <a:extLst>
              <a:ext uri="{FF2B5EF4-FFF2-40B4-BE49-F238E27FC236}">
                <a16:creationId xmlns:a16="http://schemas.microsoft.com/office/drawing/2014/main" id="{5D5366FB-A4FA-C45D-9AD6-5A74E7207379}"/>
              </a:ext>
            </a:extLst>
          </p:cNvPr>
          <p:cNvSpPr txBox="1"/>
          <p:nvPr/>
        </p:nvSpPr>
        <p:spPr>
          <a:xfrm>
            <a:off x="4795760" y="2296639"/>
            <a:ext cx="3383280" cy="276999"/>
          </a:xfrm>
          <a:prstGeom prst="rect">
            <a:avLst/>
          </a:prstGeom>
          <a:noFill/>
        </p:spPr>
        <p:txBody>
          <a:bodyPr wrap="square" lIns="0" tIns="0" rIns="0" bIns="0" anchor="t">
            <a:spAutoFit/>
          </a:bodyPr>
          <a:lstStyle/>
          <a:p>
            <a:pPr algn="ctr">
              <a:spcAft>
                <a:spcPts val="0"/>
              </a:spcAft>
            </a:pPr>
            <a:r>
              <a:rPr sz="1800" b="0" i="0" dirty="0">
                <a:solidFill>
                  <a:srgbClr val="0B2B4E"/>
                </a:solidFill>
                <a:latin typeface="Calibri"/>
              </a:rPr>
              <a:t>MC</a:t>
            </a:r>
            <a:r>
              <a:rPr lang="en-US" sz="1800" b="0" i="0" baseline="-25000" dirty="0">
                <a:solidFill>
                  <a:srgbClr val="0B2B4E"/>
                </a:solidFill>
                <a:latin typeface="Calibri"/>
              </a:rPr>
              <a:t>1</a:t>
            </a:r>
            <a:r>
              <a:rPr sz="1800" b="0" i="0" dirty="0">
                <a:solidFill>
                  <a:srgbClr val="0B2B4E"/>
                </a:solidFill>
                <a:latin typeface="Calibri"/>
              </a:rPr>
              <a:t>+</a:t>
            </a:r>
            <a:r>
              <a:rPr lang="en-US" sz="1800" b="0" i="0" dirty="0">
                <a:solidFill>
                  <a:srgbClr val="0B2B4E"/>
                </a:solidFill>
                <a:latin typeface="Calibri"/>
              </a:rPr>
              <a:t> Tax </a:t>
            </a:r>
            <a:r>
              <a:rPr lang="en-US" dirty="0">
                <a:solidFill>
                  <a:srgbClr val="0B2B4E"/>
                </a:solidFill>
              </a:rPr>
              <a:t>= SMC</a:t>
            </a:r>
            <a:endParaRPr sz="1800" b="0" i="0" dirty="0">
              <a:solidFill>
                <a:srgbClr val="0B2B4E"/>
              </a:solidFill>
              <a:latin typeface="Calibri"/>
            </a:endParaRPr>
          </a:p>
        </p:txBody>
      </p:sp>
      <p:cxnSp>
        <p:nvCxnSpPr>
          <p:cNvPr id="29" name="C5_0">
            <a:extLst>
              <a:ext uri="{FF2B5EF4-FFF2-40B4-BE49-F238E27FC236}">
                <a16:creationId xmlns:a16="http://schemas.microsoft.com/office/drawing/2014/main" id="{6EEF9D19-C07B-7CCA-EC7E-74D7E2C84DA0}"/>
              </a:ext>
            </a:extLst>
          </p:cNvPr>
          <p:cNvCxnSpPr/>
          <p:nvPr/>
        </p:nvCxnSpPr>
        <p:spPr>
          <a:xfrm>
            <a:off x="2070849" y="3807372"/>
            <a:ext cx="2009851" cy="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0" name="C5_1">
            <a:extLst>
              <a:ext uri="{FF2B5EF4-FFF2-40B4-BE49-F238E27FC236}">
                <a16:creationId xmlns:a16="http://schemas.microsoft.com/office/drawing/2014/main" id="{1AEB801C-0AC5-AD74-0ACB-4AE9DCD55672}"/>
              </a:ext>
            </a:extLst>
          </p:cNvPr>
          <p:cNvCxnSpPr/>
          <p:nvPr/>
        </p:nvCxnSpPr>
        <p:spPr>
          <a:xfrm flipV="1">
            <a:off x="4080700" y="3807372"/>
            <a:ext cx="0" cy="2113819"/>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1" name="C5_2">
                <a:extLst>
                  <a:ext uri="{FF2B5EF4-FFF2-40B4-BE49-F238E27FC236}">
                    <a16:creationId xmlns:a16="http://schemas.microsoft.com/office/drawing/2014/main" id="{66212D2D-B4B5-A90C-722A-2311DD14FB5F}"/>
                  </a:ext>
                </a:extLst>
              </p:cNvPr>
              <p:cNvSpPr txBox="1"/>
              <p:nvPr/>
            </p:nvSpPr>
            <p:spPr>
              <a:xfrm>
                <a:off x="1193025" y="3625387"/>
                <a:ext cx="768096" cy="268663"/>
              </a:xfrm>
              <a:prstGeom prst="rect">
                <a:avLst/>
              </a:prstGeom>
              <a:noFill/>
            </p:spPr>
            <p:txBody>
              <a:bodyPr wrap="square" lIns="0" tIns="0" rIns="0" bIns="0" anchor="t">
                <a:spAutoFit/>
              </a:bodyPr>
              <a:lstStyle/>
              <a:p>
                <a:pPr algn="r">
                  <a:spcAft>
                    <a:spcPts val="0"/>
                  </a:spcAft>
                </a:pPr>
                <a14:m>
                  <m:oMath xmlns:m="http://schemas.openxmlformats.org/officeDocument/2006/math">
                    <m:sSubSup>
                      <m:sSubSupPr>
                        <m:ctrlPr>
                          <a:rPr lang="en-US" sz="1700" i="1" smtClean="0">
                            <a:solidFill>
                              <a:srgbClr val="C00000"/>
                            </a:solidFill>
                            <a:latin typeface="Cambria Math" panose="02040503050406030204" pitchFamily="18" charset="0"/>
                            <a:cs typeface="Whitney Book" pitchFamily="50" charset="0"/>
                          </a:rPr>
                        </m:ctrlPr>
                      </m:sSubSupPr>
                      <m:e>
                        <m:r>
                          <a:rPr lang="en-US" sz="1700" i="1">
                            <a:solidFill>
                              <a:srgbClr val="C00000"/>
                            </a:solidFill>
                            <a:latin typeface="Cambria Math" panose="02040503050406030204" pitchFamily="18" charset="0"/>
                            <a:cs typeface="Whitney Book" pitchFamily="50" charset="0"/>
                          </a:rPr>
                          <m:t>𝑃</m:t>
                        </m:r>
                      </m:e>
                      <m:sub>
                        <m:r>
                          <a:rPr lang="en-US" sz="1700" i="1">
                            <a:solidFill>
                              <a:srgbClr val="C00000"/>
                            </a:solidFill>
                            <a:latin typeface="Cambria Math" panose="02040503050406030204" pitchFamily="18" charset="0"/>
                            <a:cs typeface="Whitney Book" pitchFamily="50" charset="0"/>
                          </a:rPr>
                          <m:t>𝐸</m:t>
                        </m:r>
                      </m:sub>
                      <m:sup>
                        <m:r>
                          <a:rPr lang="en-US" sz="1700" i="1">
                            <a:solidFill>
                              <a:srgbClr val="C00000"/>
                            </a:solidFill>
                            <a:latin typeface="Cambria Math" panose="02040503050406030204" pitchFamily="18" charset="0"/>
                            <a:cs typeface="Whitney Book" pitchFamily="50" charset="0"/>
                          </a:rPr>
                          <m:t>𝐶</m:t>
                        </m:r>
                      </m:sup>
                    </m:sSubSup>
                    <m:r>
                      <a:rPr lang="en-US" sz="1700" i="1" smtClean="0">
                        <a:solidFill>
                          <a:srgbClr val="C00000"/>
                        </a:solidFill>
                        <a:latin typeface="Cambria Math" panose="02040503050406030204" pitchFamily="18" charset="0"/>
                        <a:cs typeface="Whitney Book" pitchFamily="50" charset="0"/>
                      </a:rPr>
                      <m:t> </m:t>
                    </m:r>
                  </m:oMath>
                </a14:m>
                <a:r>
                  <a:rPr lang="en-US" sz="1700" dirty="0">
                    <a:solidFill>
                      <a:srgbClr val="C00000"/>
                    </a:solidFill>
                    <a:latin typeface="Calibri"/>
                  </a:rPr>
                  <a:t>= 5.5</a:t>
                </a:r>
                <a:endParaRPr sz="1700" b="0" i="0" dirty="0">
                  <a:solidFill>
                    <a:srgbClr val="0B2B4E"/>
                  </a:solidFill>
                  <a:latin typeface="Calibri"/>
                </a:endParaRPr>
              </a:p>
            </p:txBody>
          </p:sp>
        </mc:Choice>
        <mc:Fallback>
          <p:sp>
            <p:nvSpPr>
              <p:cNvPr id="31" name="C5_2">
                <a:extLst>
                  <a:ext uri="{FF2B5EF4-FFF2-40B4-BE49-F238E27FC236}">
                    <a16:creationId xmlns:a16="http://schemas.microsoft.com/office/drawing/2014/main" id="{66212D2D-B4B5-A90C-722A-2311DD14FB5F}"/>
                  </a:ext>
                </a:extLst>
              </p:cNvPr>
              <p:cNvSpPr txBox="1">
                <a:spLocks noRot="1" noChangeAspect="1" noMove="1" noResize="1" noEditPoints="1" noAdjustHandles="1" noChangeArrowheads="1" noChangeShapeType="1" noTextEdit="1"/>
              </p:cNvSpPr>
              <p:nvPr/>
            </p:nvSpPr>
            <p:spPr>
              <a:xfrm>
                <a:off x="1193025" y="3625387"/>
                <a:ext cx="768096" cy="268663"/>
              </a:xfrm>
              <a:prstGeom prst="rect">
                <a:avLst/>
              </a:prstGeom>
              <a:blipFill>
                <a:blip r:embed="rId3"/>
                <a:stretch>
                  <a:fillRect l="-4918" t="-18182" r="-16393" b="-45455"/>
                </a:stretch>
              </a:blipFill>
            </p:spPr>
            <p:txBody>
              <a:bodyPr/>
              <a:lstStyle/>
              <a:p>
                <a:r>
                  <a:rPr lang="en-US">
                    <a:noFill/>
                  </a:rPr>
                  <a:t> </a:t>
                </a:r>
              </a:p>
            </p:txBody>
          </p:sp>
        </mc:Fallback>
      </mc:AlternateContent>
      <p:sp>
        <p:nvSpPr>
          <p:cNvPr id="32" name="C5_3">
            <a:extLst>
              <a:ext uri="{FF2B5EF4-FFF2-40B4-BE49-F238E27FC236}">
                <a16:creationId xmlns:a16="http://schemas.microsoft.com/office/drawing/2014/main" id="{C3EEB577-4B8D-94B9-418C-7E01EA445D08}"/>
              </a:ext>
            </a:extLst>
          </p:cNvPr>
          <p:cNvSpPr txBox="1"/>
          <p:nvPr/>
        </p:nvSpPr>
        <p:spPr>
          <a:xfrm>
            <a:off x="3752808" y="5985199"/>
            <a:ext cx="502920" cy="276999"/>
          </a:xfrm>
          <a:prstGeom prst="rect">
            <a:avLst/>
          </a:prstGeom>
          <a:noFill/>
        </p:spPr>
        <p:txBody>
          <a:bodyPr wrap="square" lIns="0" tIns="0" rIns="0" bIns="0" anchor="t">
            <a:spAutoFit/>
          </a:bodyPr>
          <a:lstStyle/>
          <a:p>
            <a:pPr algn="ctr"/>
            <a:r>
              <a:rPr lang="en-US" dirty="0" err="1">
                <a:solidFill>
                  <a:srgbClr val="0B2B4E"/>
                </a:solidFill>
              </a:rPr>
              <a:t>Q</a:t>
            </a:r>
            <a:r>
              <a:rPr lang="en-US" baseline="-25000" dirty="0" err="1">
                <a:solidFill>
                  <a:srgbClr val="0B2B4E"/>
                </a:solidFill>
              </a:rPr>
              <a:t>Ext</a:t>
            </a:r>
            <a:endParaRPr lang="en-US" baseline="-25000" dirty="0">
              <a:solidFill>
                <a:srgbClr val="0B2B4E"/>
              </a:solidFill>
            </a:endParaRPr>
          </a:p>
        </p:txBody>
      </p:sp>
      <p:pic>
        <p:nvPicPr>
          <p:cNvPr id="33" name="Picture 4" descr="http://www.samarreine.com/images/pigou_1_.jpg">
            <a:extLst>
              <a:ext uri="{FF2B5EF4-FFF2-40B4-BE49-F238E27FC236}">
                <a16:creationId xmlns:a16="http://schemas.microsoft.com/office/drawing/2014/main" id="{FC7B157E-7D48-CA19-ACDD-B6DCBBA9D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4895" y="1481328"/>
            <a:ext cx="1151930" cy="1754684"/>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C1_0">
            <a:extLst>
              <a:ext uri="{FF2B5EF4-FFF2-40B4-BE49-F238E27FC236}">
                <a16:creationId xmlns:a16="http://schemas.microsoft.com/office/drawing/2014/main" id="{C3D4EA0F-F81D-18E5-A325-4C1F7B156F62}"/>
              </a:ext>
            </a:extLst>
          </p:cNvPr>
          <p:cNvCxnSpPr>
            <a:cxnSpLocks/>
          </p:cNvCxnSpPr>
          <p:nvPr/>
        </p:nvCxnSpPr>
        <p:spPr>
          <a:xfrm>
            <a:off x="2070849" y="4271686"/>
            <a:ext cx="2006084" cy="0"/>
          </a:xfrm>
          <a:prstGeom prst="line">
            <a:avLst/>
          </a:prstGeom>
          <a:ln w="12700">
            <a:solidFill>
              <a:srgbClr val="3A3F46"/>
            </a:solidFill>
            <a:prstDash val="dash"/>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8" name="C1_2">
                <a:extLst>
                  <a:ext uri="{FF2B5EF4-FFF2-40B4-BE49-F238E27FC236}">
                    <a16:creationId xmlns:a16="http://schemas.microsoft.com/office/drawing/2014/main" id="{C80A8115-1BCE-7A11-48A1-4ABB9DB3A872}"/>
                  </a:ext>
                </a:extLst>
              </p:cNvPr>
              <p:cNvSpPr txBox="1"/>
              <p:nvPr/>
            </p:nvSpPr>
            <p:spPr>
              <a:xfrm>
                <a:off x="1165594" y="4210139"/>
                <a:ext cx="791760" cy="265457"/>
              </a:xfrm>
              <a:prstGeom prst="rect">
                <a:avLst/>
              </a:prstGeom>
              <a:noFill/>
            </p:spPr>
            <p:txBody>
              <a:bodyPr wrap="square" lIns="0" tIns="0" rIns="0" bIns="0" anchor="t">
                <a:spAutoFit/>
              </a:bodyPr>
              <a:lstStyle/>
              <a:p>
                <a:pPr algn="r">
                  <a:spcAft>
                    <a:spcPts val="0"/>
                  </a:spcAft>
                </a:pPr>
                <a14:m>
                  <m:oMath xmlns:m="http://schemas.openxmlformats.org/officeDocument/2006/math">
                    <m:sSubSup>
                      <m:sSubSupPr>
                        <m:ctrlPr>
                          <a:rPr lang="en-US" sz="1700" i="1">
                            <a:solidFill>
                              <a:srgbClr val="C00000"/>
                            </a:solidFill>
                            <a:latin typeface="Cambria Math" panose="02040503050406030204" pitchFamily="18" charset="0"/>
                            <a:cs typeface="Whitney Book" pitchFamily="50" charset="0"/>
                          </a:rPr>
                        </m:ctrlPr>
                      </m:sSubSupPr>
                      <m:e>
                        <m:r>
                          <a:rPr lang="en-US" sz="1700" i="1">
                            <a:solidFill>
                              <a:srgbClr val="C00000"/>
                            </a:solidFill>
                            <a:latin typeface="Cambria Math" panose="02040503050406030204" pitchFamily="18" charset="0"/>
                            <a:cs typeface="Whitney Book" pitchFamily="50" charset="0"/>
                          </a:rPr>
                          <m:t>𝑃</m:t>
                        </m:r>
                      </m:e>
                      <m:sub>
                        <m:r>
                          <a:rPr lang="en-US" sz="1700" i="1">
                            <a:solidFill>
                              <a:srgbClr val="C00000"/>
                            </a:solidFill>
                            <a:latin typeface="Cambria Math" panose="02040503050406030204" pitchFamily="18" charset="0"/>
                            <a:cs typeface="Whitney Book" pitchFamily="50" charset="0"/>
                          </a:rPr>
                          <m:t>𝐸</m:t>
                        </m:r>
                      </m:sub>
                      <m:sup>
                        <m:r>
                          <a:rPr lang="en-US" sz="1700" i="1">
                            <a:solidFill>
                              <a:srgbClr val="C00000"/>
                            </a:solidFill>
                            <a:latin typeface="Cambria Math" panose="02040503050406030204" pitchFamily="18" charset="0"/>
                            <a:cs typeface="Whitney Book" pitchFamily="50" charset="0"/>
                          </a:rPr>
                          <m:t>𝑃</m:t>
                        </m:r>
                      </m:sup>
                    </m:sSubSup>
                    <m:r>
                      <a:rPr lang="en-US" sz="1700" i="1">
                        <a:solidFill>
                          <a:srgbClr val="C00000"/>
                        </a:solidFill>
                        <a:latin typeface="Cambria Math" panose="02040503050406030204" pitchFamily="18" charset="0"/>
                        <a:cs typeface="Whitney Book" pitchFamily="50" charset="0"/>
                      </a:rPr>
                      <m:t> </m:t>
                    </m:r>
                  </m:oMath>
                </a14:m>
                <a:r>
                  <a:rPr lang="en-US" sz="1700" dirty="0">
                    <a:solidFill>
                      <a:srgbClr val="C00000"/>
                    </a:solidFill>
                  </a:rPr>
                  <a:t>= </a:t>
                </a:r>
                <a:r>
                  <a:rPr lang="en-US" sz="1700" b="0" i="0" dirty="0">
                    <a:solidFill>
                      <a:srgbClr val="C00000"/>
                    </a:solidFill>
                    <a:latin typeface="Calibri"/>
                  </a:rPr>
                  <a:t>4.0</a:t>
                </a:r>
                <a:endParaRPr sz="1700" b="0" i="0" dirty="0">
                  <a:solidFill>
                    <a:srgbClr val="C00000"/>
                  </a:solidFill>
                  <a:latin typeface="Calibri"/>
                </a:endParaRPr>
              </a:p>
            </p:txBody>
          </p:sp>
        </mc:Choice>
        <mc:Fallback>
          <p:sp>
            <p:nvSpPr>
              <p:cNvPr id="38" name="C1_2">
                <a:extLst>
                  <a:ext uri="{FF2B5EF4-FFF2-40B4-BE49-F238E27FC236}">
                    <a16:creationId xmlns:a16="http://schemas.microsoft.com/office/drawing/2014/main" id="{C80A8115-1BCE-7A11-48A1-4ABB9DB3A872}"/>
                  </a:ext>
                </a:extLst>
              </p:cNvPr>
              <p:cNvSpPr txBox="1">
                <a:spLocks noRot="1" noChangeAspect="1" noMove="1" noResize="1" noEditPoints="1" noAdjustHandles="1" noChangeArrowheads="1" noChangeShapeType="1" noTextEdit="1"/>
              </p:cNvSpPr>
              <p:nvPr/>
            </p:nvSpPr>
            <p:spPr>
              <a:xfrm>
                <a:off x="1165594" y="4210139"/>
                <a:ext cx="791760" cy="265457"/>
              </a:xfrm>
              <a:prstGeom prst="rect">
                <a:avLst/>
              </a:prstGeom>
              <a:blipFill>
                <a:blip r:embed="rId5"/>
                <a:stretch>
                  <a:fillRect l="-1563" t="-22727" r="-15625" b="-409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Rectangle 18">
                <a:extLst>
                  <a:ext uri="{FF2B5EF4-FFF2-40B4-BE49-F238E27FC236}">
                    <a16:creationId xmlns:a16="http://schemas.microsoft.com/office/drawing/2014/main" id="{58446EC5-007F-E44D-3CB1-3BEF2B762590}"/>
                  </a:ext>
                </a:extLst>
              </p:cNvPr>
              <p:cNvSpPr>
                <a:spLocks noChangeArrowheads="1"/>
              </p:cNvSpPr>
              <p:nvPr/>
            </p:nvSpPr>
            <p:spPr bwMode="auto">
              <a:xfrm>
                <a:off x="6231369" y="3733941"/>
                <a:ext cx="4618761" cy="592759"/>
              </a:xfrm>
              <a:prstGeom prst="rect">
                <a:avLst/>
              </a:prstGeom>
              <a:noFill/>
              <a:ln w="9525">
                <a:noFill/>
                <a:miter lim="800000"/>
                <a:headEnd/>
                <a:tailEnd/>
              </a:ln>
              <a:effectLst/>
            </p:spPr>
            <p:txBody>
              <a:bodyPr wrap="none" lIns="17859" tIns="25301" rIns="17859" bIns="25301"/>
              <a:lstStyle/>
              <a:p>
                <a:pPr>
                  <a:spcAft>
                    <a:spcPts val="600"/>
                  </a:spcAft>
                  <a:tabLst>
                    <a:tab pos="451085" algn="l"/>
                    <a:tab pos="902170" algn="l"/>
                    <a:tab pos="1353255" algn="l"/>
                  </a:tabLst>
                </a:pPr>
                <a14:m>
                  <m:oMath xmlns:m="http://schemas.openxmlformats.org/officeDocument/2006/math">
                    <m:sSubSup>
                      <m:sSubSupPr>
                        <m:ctrlPr>
                          <a:rPr lang="en-US" sz="1600" b="0" i="1" smtClean="0">
                            <a:solidFill>
                              <a:srgbClr val="C00000"/>
                            </a:solidFill>
                            <a:latin typeface="Cambria Math" panose="02040503050406030204" pitchFamily="18" charset="0"/>
                            <a:cs typeface="Whitney Book" pitchFamily="50" charset="0"/>
                          </a:rPr>
                        </m:ctrlPr>
                      </m:sSubSupPr>
                      <m:e>
                        <m:r>
                          <a:rPr lang="en-US" sz="1600" b="0" i="1" smtClean="0">
                            <a:solidFill>
                              <a:srgbClr val="C00000"/>
                            </a:solidFill>
                            <a:latin typeface="Cambria Math" panose="02040503050406030204" pitchFamily="18" charset="0"/>
                            <a:cs typeface="Whitney Book" pitchFamily="50" charset="0"/>
                          </a:rPr>
                          <m:t>𝑃</m:t>
                        </m:r>
                      </m:e>
                      <m:sub>
                        <m:r>
                          <a:rPr lang="en-US" sz="1600" b="0" i="1" smtClean="0">
                            <a:solidFill>
                              <a:srgbClr val="C00000"/>
                            </a:solidFill>
                            <a:latin typeface="Cambria Math" panose="02040503050406030204" pitchFamily="18" charset="0"/>
                            <a:cs typeface="Whitney Book" pitchFamily="50" charset="0"/>
                          </a:rPr>
                          <m:t>𝐸</m:t>
                        </m:r>
                      </m:sub>
                      <m:sup>
                        <m:r>
                          <a:rPr lang="en-US" sz="1600" b="0" i="1" smtClean="0">
                            <a:solidFill>
                              <a:srgbClr val="C00000"/>
                            </a:solidFill>
                            <a:latin typeface="Cambria Math" panose="02040503050406030204" pitchFamily="18" charset="0"/>
                            <a:cs typeface="Whitney Book" pitchFamily="50" charset="0"/>
                          </a:rPr>
                          <m:t>𝐶</m:t>
                        </m:r>
                      </m:sup>
                    </m:sSubSup>
                  </m:oMath>
                </a14:m>
                <a:r>
                  <a:rPr lang="en-US" sz="1600" i="1" baseline="-25000" dirty="0">
                    <a:solidFill>
                      <a:srgbClr val="C00000"/>
                    </a:solidFill>
                    <a:latin typeface="Calibri" panose="020F0502020204030204" pitchFamily="34" charset="0"/>
                    <a:cs typeface="Calibri" panose="020F0502020204030204" pitchFamily="34" charset="0"/>
                  </a:rPr>
                  <a:t> </a:t>
                </a:r>
                <a:r>
                  <a:rPr lang="en-US" sz="1600" dirty="0">
                    <a:solidFill>
                      <a:srgbClr val="C00000"/>
                    </a:solidFill>
                    <a:latin typeface="Calibri" panose="020F0502020204030204" pitchFamily="34" charset="0"/>
                    <a:cs typeface="Calibri" panose="020F0502020204030204" pitchFamily="34" charset="0"/>
                  </a:rPr>
                  <a:t>: Price paid by consumer with tax on externality</a:t>
                </a:r>
              </a:p>
              <a:p>
                <a:pPr algn="ctr">
                  <a:spcAft>
                    <a:spcPts val="600"/>
                  </a:spcAft>
                  <a:tabLst>
                    <a:tab pos="451085" algn="l"/>
                    <a:tab pos="902170" algn="l"/>
                    <a:tab pos="1353255" algn="l"/>
                  </a:tabLst>
                </a:pPr>
                <a14:m>
                  <m:oMath xmlns:m="http://schemas.openxmlformats.org/officeDocument/2006/math">
                    <m:sSubSup>
                      <m:sSubSupPr>
                        <m:ctrlPr>
                          <a:rPr lang="en-US" sz="1600" i="1">
                            <a:solidFill>
                              <a:srgbClr val="C00000"/>
                            </a:solidFill>
                            <a:latin typeface="Cambria Math" panose="02040503050406030204" pitchFamily="18" charset="0"/>
                            <a:cs typeface="Whitney Book" pitchFamily="50" charset="0"/>
                          </a:rPr>
                        </m:ctrlPr>
                      </m:sSubSupPr>
                      <m:e>
                        <m:r>
                          <a:rPr lang="en-US" sz="1600" i="1">
                            <a:solidFill>
                              <a:srgbClr val="C00000"/>
                            </a:solidFill>
                            <a:latin typeface="Cambria Math" panose="02040503050406030204" pitchFamily="18" charset="0"/>
                            <a:cs typeface="Whitney Book" pitchFamily="50" charset="0"/>
                          </a:rPr>
                          <m:t>𝑃</m:t>
                        </m:r>
                      </m:e>
                      <m:sub>
                        <m:r>
                          <a:rPr lang="en-US" sz="1600" i="1">
                            <a:solidFill>
                              <a:srgbClr val="C00000"/>
                            </a:solidFill>
                            <a:latin typeface="Cambria Math" panose="02040503050406030204" pitchFamily="18" charset="0"/>
                            <a:cs typeface="Whitney Book" pitchFamily="50" charset="0"/>
                          </a:rPr>
                          <m:t>𝐸</m:t>
                        </m:r>
                      </m:sub>
                      <m:sup>
                        <m:r>
                          <a:rPr lang="en-US" sz="1600" b="0" i="1" smtClean="0">
                            <a:solidFill>
                              <a:srgbClr val="C00000"/>
                            </a:solidFill>
                            <a:latin typeface="Cambria Math" panose="02040503050406030204" pitchFamily="18" charset="0"/>
                            <a:cs typeface="Whitney Book" pitchFamily="50" charset="0"/>
                          </a:rPr>
                          <m:t>𝑃</m:t>
                        </m:r>
                      </m:sup>
                    </m:sSubSup>
                  </m:oMath>
                </a14:m>
                <a:r>
                  <a:rPr lang="en-US" sz="1600" dirty="0">
                    <a:solidFill>
                      <a:srgbClr val="C00000"/>
                    </a:solidFill>
                    <a:latin typeface="Calibri" panose="020F0502020204030204" pitchFamily="34" charset="0"/>
                    <a:cs typeface="Calibri" panose="020F0502020204030204" pitchFamily="34" charset="0"/>
                  </a:rPr>
                  <a:t> : Price received by producer with tax on externality</a:t>
                </a:r>
                <a:endParaRPr lang="en-US" sz="1600" baseline="30000" dirty="0">
                  <a:solidFill>
                    <a:srgbClr val="C00000"/>
                  </a:solidFill>
                  <a:latin typeface="Calibri" panose="020F0502020204030204" pitchFamily="34" charset="0"/>
                  <a:cs typeface="Calibri" panose="020F0502020204030204" pitchFamily="34" charset="0"/>
                </a:endParaRPr>
              </a:p>
            </p:txBody>
          </p:sp>
        </mc:Choice>
        <mc:Fallback>
          <p:sp>
            <p:nvSpPr>
              <p:cNvPr id="39" name="Rectangle 18">
                <a:extLst>
                  <a:ext uri="{FF2B5EF4-FFF2-40B4-BE49-F238E27FC236}">
                    <a16:creationId xmlns:a16="http://schemas.microsoft.com/office/drawing/2014/main" id="{58446EC5-007F-E44D-3CB1-3BEF2B762590}"/>
                  </a:ext>
                </a:extLst>
              </p:cNvPr>
              <p:cNvSpPr>
                <a:spLocks noRot="1" noChangeAspect="1" noMove="1" noResize="1" noEditPoints="1" noAdjustHandles="1" noChangeArrowheads="1" noChangeShapeType="1" noTextEdit="1"/>
              </p:cNvSpPr>
              <p:nvPr/>
            </p:nvSpPr>
            <p:spPr bwMode="auto">
              <a:xfrm>
                <a:off x="6231369" y="3733941"/>
                <a:ext cx="4618761" cy="592759"/>
              </a:xfrm>
              <a:prstGeom prst="rect">
                <a:avLst/>
              </a:prstGeom>
              <a:blipFill>
                <a:blip r:embed="rId6"/>
                <a:stretch>
                  <a:fillRect l="-1096" t="-6383" r="-1096" b="-21277"/>
                </a:stretch>
              </a:blipFill>
              <a:ln w="9525">
                <a:noFill/>
                <a:miter lim="800000"/>
                <a:headEnd/>
                <a:tailEnd/>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C1_2">
                <a:extLst>
                  <a:ext uri="{FF2B5EF4-FFF2-40B4-BE49-F238E27FC236}">
                    <a16:creationId xmlns:a16="http://schemas.microsoft.com/office/drawing/2014/main" id="{86C9D260-0CC0-6521-1336-99D8718F5809}"/>
                  </a:ext>
                </a:extLst>
              </p:cNvPr>
              <p:cNvSpPr txBox="1"/>
              <p:nvPr/>
            </p:nvSpPr>
            <p:spPr>
              <a:xfrm>
                <a:off x="1192485" y="3923368"/>
                <a:ext cx="791760" cy="288477"/>
              </a:xfrm>
              <a:prstGeom prst="rect">
                <a:avLst/>
              </a:prstGeom>
              <a:noFill/>
            </p:spPr>
            <p:txBody>
              <a:bodyPr wrap="square" lIns="0" tIns="0" rIns="0" bIns="0" anchor="t">
                <a:spAutoFit/>
              </a:bodyPr>
              <a:lstStyle/>
              <a:p>
                <a:pPr algn="r">
                  <a:spcAft>
                    <a:spcPts val="0"/>
                  </a:spcAft>
                </a:pPr>
                <a14:m>
                  <m:oMath xmlns:m="http://schemas.openxmlformats.org/officeDocument/2006/math">
                    <m:sSubSup>
                      <m:sSubSupPr>
                        <m:ctrlPr>
                          <a:rPr lang="en-US" sz="1700" i="1" smtClean="0">
                            <a:solidFill>
                              <a:srgbClr val="002060"/>
                            </a:solidFill>
                            <a:latin typeface="Cambria Math" panose="02040503050406030204" pitchFamily="18" charset="0"/>
                            <a:cs typeface="Whitney Book" pitchFamily="50" charset="0"/>
                          </a:rPr>
                        </m:ctrlPr>
                      </m:sSubSupPr>
                      <m:e>
                        <m:r>
                          <a:rPr lang="en-US" sz="1700" i="1">
                            <a:solidFill>
                              <a:srgbClr val="002060"/>
                            </a:solidFill>
                            <a:latin typeface="Cambria Math" panose="02040503050406030204" pitchFamily="18" charset="0"/>
                            <a:cs typeface="Whitney Book" pitchFamily="50" charset="0"/>
                          </a:rPr>
                          <m:t>𝑃</m:t>
                        </m:r>
                      </m:e>
                      <m:sub>
                        <m:r>
                          <a:rPr lang="en-US" sz="1700" b="0" i="1" smtClean="0">
                            <a:solidFill>
                              <a:srgbClr val="002060"/>
                            </a:solidFill>
                            <a:latin typeface="Cambria Math" panose="02040503050406030204" pitchFamily="18" charset="0"/>
                            <a:cs typeface="Whitney Book" pitchFamily="50" charset="0"/>
                          </a:rPr>
                          <m:t>𝑀</m:t>
                        </m:r>
                      </m:sub>
                      <m:sup/>
                    </m:sSubSup>
                    <m:r>
                      <a:rPr lang="en-US" sz="1700" i="1">
                        <a:solidFill>
                          <a:srgbClr val="C00000"/>
                        </a:solidFill>
                        <a:latin typeface="Cambria Math" panose="02040503050406030204" pitchFamily="18" charset="0"/>
                        <a:cs typeface="Whitney Book" pitchFamily="50" charset="0"/>
                      </a:rPr>
                      <m:t> </m:t>
                    </m:r>
                  </m:oMath>
                </a14:m>
                <a:r>
                  <a:rPr lang="en-US" sz="1700" dirty="0">
                    <a:solidFill>
                      <a:srgbClr val="0B2B4E"/>
                    </a:solidFill>
                  </a:rPr>
                  <a:t>= </a:t>
                </a:r>
                <a:r>
                  <a:rPr lang="en-US" sz="1700" b="0" i="0" dirty="0">
                    <a:solidFill>
                      <a:srgbClr val="0B2B4E"/>
                    </a:solidFill>
                    <a:latin typeface="Calibri"/>
                  </a:rPr>
                  <a:t>4.5</a:t>
                </a:r>
                <a:endParaRPr sz="1700" b="0" i="0" dirty="0">
                  <a:solidFill>
                    <a:srgbClr val="0B2B4E"/>
                  </a:solidFill>
                  <a:latin typeface="Calibri"/>
                </a:endParaRPr>
              </a:p>
            </p:txBody>
          </p:sp>
        </mc:Choice>
        <mc:Fallback>
          <p:sp>
            <p:nvSpPr>
              <p:cNvPr id="40" name="C1_2">
                <a:extLst>
                  <a:ext uri="{FF2B5EF4-FFF2-40B4-BE49-F238E27FC236}">
                    <a16:creationId xmlns:a16="http://schemas.microsoft.com/office/drawing/2014/main" id="{86C9D260-0CC0-6521-1336-99D8718F5809}"/>
                  </a:ext>
                </a:extLst>
              </p:cNvPr>
              <p:cNvSpPr txBox="1">
                <a:spLocks noRot="1" noChangeAspect="1" noMove="1" noResize="1" noEditPoints="1" noAdjustHandles="1" noChangeArrowheads="1" noChangeShapeType="1" noTextEdit="1"/>
              </p:cNvSpPr>
              <p:nvPr/>
            </p:nvSpPr>
            <p:spPr>
              <a:xfrm>
                <a:off x="1192485" y="3923368"/>
                <a:ext cx="791760" cy="288477"/>
              </a:xfrm>
              <a:prstGeom prst="rect">
                <a:avLst/>
              </a:prstGeom>
              <a:blipFill>
                <a:blip r:embed="rId7"/>
                <a:stretch>
                  <a:fillRect l="-8065" t="-17391" r="-17742" b="-43478"/>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802277E7-6A10-8B27-C87C-80C6FB34FAE5}"/>
              </a:ext>
            </a:extLst>
          </p:cNvPr>
          <p:cNvSpPr txBox="1"/>
          <p:nvPr/>
        </p:nvSpPr>
        <p:spPr>
          <a:xfrm>
            <a:off x="457200" y="1398495"/>
            <a:ext cx="8778240" cy="329184"/>
          </a:xfrm>
          <a:prstGeom prst="rect">
            <a:avLst/>
          </a:prstGeom>
          <a:noFill/>
        </p:spPr>
        <p:txBody>
          <a:bodyPr wrap="square" lIns="0" tIns="0" rIns="0" bIns="0" anchor="t">
            <a:spAutoFit/>
          </a:bodyPr>
          <a:lstStyle/>
          <a:p>
            <a:pPr algn="l">
              <a:spcAft>
                <a:spcPts val="0"/>
              </a:spcAft>
            </a:pPr>
            <a:r>
              <a:rPr sz="1900" b="0" i="0" dirty="0">
                <a:solidFill>
                  <a:srgbClr val="C0201B"/>
                </a:solidFill>
                <a:latin typeface="Calibri"/>
              </a:rPr>
              <a:t>External marginal cost (“EMC”) of gasoline is $1.50 per gallon</a:t>
            </a:r>
          </a:p>
        </p:txBody>
      </p:sp>
      <p:sp>
        <p:nvSpPr>
          <p:cNvPr id="43" name="TextBox 42">
            <a:extLst>
              <a:ext uri="{FF2B5EF4-FFF2-40B4-BE49-F238E27FC236}">
                <a16:creationId xmlns:a16="http://schemas.microsoft.com/office/drawing/2014/main" id="{E3803F10-E735-47D6-17AB-5A3D86B02F9F}"/>
              </a:ext>
            </a:extLst>
          </p:cNvPr>
          <p:cNvSpPr txBox="1"/>
          <p:nvPr/>
        </p:nvSpPr>
        <p:spPr>
          <a:xfrm>
            <a:off x="6002771" y="5585912"/>
            <a:ext cx="1463040" cy="329184"/>
          </a:xfrm>
          <a:prstGeom prst="rect">
            <a:avLst/>
          </a:prstGeom>
          <a:noFill/>
        </p:spPr>
        <p:txBody>
          <a:bodyPr wrap="square" lIns="0" tIns="0" rIns="0" bIns="0" anchor="t">
            <a:spAutoFit/>
          </a:bodyPr>
          <a:lstStyle/>
          <a:p>
            <a:pPr algn="l">
              <a:spcAft>
                <a:spcPts val="0"/>
              </a:spcAft>
            </a:pPr>
            <a:r>
              <a:rPr sz="1800" b="0" i="0" dirty="0">
                <a:solidFill>
                  <a:srgbClr val="E09F3E"/>
                </a:solidFill>
                <a:latin typeface="Calibri"/>
              </a:rPr>
              <a:t>Demand</a:t>
            </a:r>
          </a:p>
        </p:txBody>
      </p:sp>
    </p:spTree>
    <p:extLst>
      <p:ext uri="{BB962C8B-B14F-4D97-AF65-F5344CB8AC3E}">
        <p14:creationId xmlns:p14="http://schemas.microsoft.com/office/powerpoint/2010/main" val="146712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p:bldP spid="3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none" lIns="292608" tIns="0" bIns="0" rtlCol="0" anchor="ctr"/>
          <a:lstStyle/>
          <a:p>
            <a:pPr algn="l"/>
            <a:r>
              <a:rPr sz="1600" b="1" i="0">
                <a:solidFill>
                  <a:srgbClr val="FFFFFF"/>
                </a:solidFill>
                <a:latin typeface="Calibri"/>
              </a:rPr>
              <a:t>Perfect Competition · Summary</a:t>
            </a:r>
          </a:p>
        </p:txBody>
      </p:sp>
      <p:sp>
        <p:nvSpPr>
          <p:cNvPr id="3" name="TextBox 2"/>
          <p:cNvSpPr txBox="1"/>
          <p:nvPr/>
        </p:nvSpPr>
        <p:spPr>
          <a:xfrm>
            <a:off x="457200" y="731520"/>
            <a:ext cx="11274552" cy="461665"/>
          </a:xfrm>
          <a:prstGeom prst="rect">
            <a:avLst/>
          </a:prstGeom>
          <a:noFill/>
        </p:spPr>
        <p:txBody>
          <a:bodyPr wrap="square" lIns="0" tIns="0" rIns="0" bIns="0" anchor="t">
            <a:spAutoFit/>
          </a:bodyPr>
          <a:lstStyle/>
          <a:p>
            <a:r>
              <a:rPr sz="3000" b="1" i="0" dirty="0">
                <a:solidFill>
                  <a:srgbClr val="0B2B4E"/>
                </a:solidFill>
                <a:latin typeface="Calibri"/>
              </a:rPr>
              <a:t>Module 4 </a:t>
            </a:r>
            <a:r>
              <a:rPr lang="en-US" sz="3000" b="1" i="0" dirty="0">
                <a:solidFill>
                  <a:srgbClr val="0B2B4E"/>
                </a:solidFill>
                <a:latin typeface="Calibri"/>
              </a:rPr>
              <a:t>S</a:t>
            </a:r>
            <a:r>
              <a:rPr sz="3000" b="1" i="0" dirty="0">
                <a:solidFill>
                  <a:srgbClr val="0B2B4E"/>
                </a:solidFill>
                <a:latin typeface="Calibri"/>
              </a:rPr>
              <a:t>ummary</a:t>
            </a:r>
          </a:p>
        </p:txBody>
      </p:sp>
      <p:cxnSp>
        <p:nvCxnSpPr>
          <p:cNvPr id="4" name="Connector 3"/>
          <p:cNvCxnSpPr/>
          <p:nvPr/>
        </p:nvCxnSpPr>
        <p:spPr>
          <a:xfrm>
            <a:off x="2468880" y="1298448"/>
            <a:ext cx="9418320" cy="0"/>
          </a:xfrm>
          <a:prstGeom prst="line">
            <a:avLst/>
          </a:prstGeom>
          <a:ln w="12700">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011680" cy="3657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0" y="6510528"/>
            <a:ext cx="12191695" cy="0"/>
          </a:xfrm>
          <a:prstGeom prst="line">
            <a:avLst/>
          </a:prstGeom>
          <a:ln w="15875">
            <a:solidFill>
              <a:srgbClr val="C8CDD3"/>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6490411"/>
            <a:ext cx="182880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47104"/>
            <a:ext cx="8229600" cy="274320"/>
          </a:xfrm>
          <a:prstGeom prst="rect">
            <a:avLst/>
          </a:prstGeom>
          <a:noFill/>
        </p:spPr>
        <p:txBody>
          <a:bodyPr wrap="square" lIns="0" tIns="0" rIns="0" bIns="0" anchor="t">
            <a:spAutoFit/>
          </a:bodyPr>
          <a:lstStyle/>
          <a:p>
            <a:r>
              <a:rPr sz="1100" b="0" i="0">
                <a:solidFill>
                  <a:srgbClr val="555B66"/>
                </a:solidFill>
                <a:latin typeface="Calibri"/>
              </a:rPr>
              <a:t>Management 405 · Perfect Competition</a:t>
            </a:r>
          </a:p>
        </p:txBody>
      </p:sp>
      <p:sp>
        <p:nvSpPr>
          <p:cNvPr id="9" name="TextBox 8"/>
          <p:cNvSpPr txBox="1"/>
          <p:nvPr/>
        </p:nvSpPr>
        <p:spPr>
          <a:xfrm>
            <a:off x="10515600" y="6547104"/>
            <a:ext cx="1216152" cy="169277"/>
          </a:xfrm>
          <a:prstGeom prst="rect">
            <a:avLst/>
          </a:prstGeom>
          <a:noFill/>
        </p:spPr>
        <p:txBody>
          <a:bodyPr wrap="square" lIns="0" tIns="0" rIns="0" bIns="0" anchor="t">
            <a:spAutoFit/>
          </a:bodyPr>
          <a:lstStyle/>
          <a:p>
            <a:pPr algn="r"/>
            <a:r>
              <a:rPr lang="en-US" sz="1100" dirty="0">
                <a:solidFill>
                  <a:srgbClr val="555B66"/>
                </a:solidFill>
                <a:latin typeface="Calibri"/>
              </a:rPr>
              <a:t>71</a:t>
            </a:r>
            <a:endParaRPr sz="1100" b="0" i="0" dirty="0">
              <a:solidFill>
                <a:srgbClr val="555B66"/>
              </a:solidFill>
              <a:latin typeface="Calibri"/>
            </a:endParaRPr>
          </a:p>
        </p:txBody>
      </p:sp>
      <p:sp>
        <p:nvSpPr>
          <p:cNvPr id="10" name="BUILD"/>
          <p:cNvSpPr txBox="1"/>
          <p:nvPr/>
        </p:nvSpPr>
        <p:spPr>
          <a:xfrm>
            <a:off x="640080" y="1691640"/>
            <a:ext cx="10881360" cy="4847481"/>
          </a:xfrm>
          <a:prstGeom prst="rect">
            <a:avLst/>
          </a:prstGeom>
          <a:noFill/>
        </p:spPr>
        <p:txBody>
          <a:bodyPr wrap="square" lIns="0" tIns="0" rIns="0" bIns="0" anchor="t">
            <a:spAutoFit/>
          </a:bodyPr>
          <a:lstStyle/>
          <a:p>
            <a:pPr marL="274320" indent="-274320">
              <a:spcAft>
                <a:spcPts val="600"/>
              </a:spcAft>
              <a:buClr>
                <a:srgbClr val="0B2B4E"/>
              </a:buClr>
              <a:buSzPct val="100000"/>
              <a:buFont typeface="Calibri"/>
              <a:buChar char="▪"/>
            </a:pPr>
            <a:r>
              <a:rPr sz="2400" b="0" i="0" dirty="0">
                <a:solidFill>
                  <a:srgbClr val="0B2B4E"/>
                </a:solidFill>
                <a:latin typeface="Calibri"/>
              </a:rPr>
              <a:t>Perfect competition: price taker, MR=P</a:t>
            </a:r>
          </a:p>
          <a:p>
            <a:pPr marL="274320" indent="-274320">
              <a:spcAft>
                <a:spcPts val="600"/>
              </a:spcAft>
              <a:buClr>
                <a:srgbClr val="0B2B4E"/>
              </a:buClr>
              <a:buSzPct val="100000"/>
              <a:buFont typeface="Calibri"/>
              <a:buChar char="▪"/>
            </a:pPr>
            <a:r>
              <a:rPr sz="2400" b="0" i="0" dirty="0">
                <a:solidFill>
                  <a:srgbClr val="0B2B4E"/>
                </a:solidFill>
                <a:latin typeface="Calibri"/>
              </a:rPr>
              <a:t>Profit maximization: MC=MR=P </a:t>
            </a:r>
            <a:r>
              <a:rPr lang="en-US" sz="2400" b="0" i="0" dirty="0">
                <a:solidFill>
                  <a:srgbClr val="0B2B4E"/>
                </a:solidFill>
                <a:latin typeface="Calibri"/>
              </a:rPr>
              <a:t>→</a:t>
            </a:r>
            <a:r>
              <a:rPr lang="en-US" sz="2400" dirty="0">
                <a:solidFill>
                  <a:srgbClr val="0B2B4E"/>
                </a:solidFill>
                <a:latin typeface="Calibri"/>
              </a:rPr>
              <a:t> </a:t>
            </a:r>
            <a:r>
              <a:rPr sz="2400" b="0" i="0" dirty="0">
                <a:solidFill>
                  <a:srgbClr val="0B2B4E"/>
                </a:solidFill>
                <a:latin typeface="Calibri"/>
              </a:rPr>
              <a:t>Q*</a:t>
            </a:r>
          </a:p>
          <a:p>
            <a:pPr marL="274320" indent="-274320">
              <a:spcAft>
                <a:spcPts val="600"/>
              </a:spcAft>
              <a:buClr>
                <a:srgbClr val="0B2B4E"/>
              </a:buClr>
              <a:buSzPct val="100000"/>
              <a:buFont typeface="Calibri"/>
              <a:buChar char="▪"/>
            </a:pPr>
            <a:r>
              <a:rPr sz="2400" b="0" i="0" dirty="0">
                <a:solidFill>
                  <a:srgbClr val="0B2B4E"/>
                </a:solidFill>
                <a:latin typeface="Calibri"/>
              </a:rPr>
              <a:t>Decision to operate in the short run</a:t>
            </a:r>
          </a:p>
          <a:p>
            <a:pPr marL="603504" lvl="1" indent="-603504">
              <a:spcAft>
                <a:spcPts val="600"/>
              </a:spcAft>
              <a:buClr>
                <a:srgbClr val="555B66"/>
              </a:buClr>
              <a:buSzPct val="100000"/>
              <a:buFont typeface="Calibri"/>
              <a:buChar char="–"/>
            </a:pPr>
            <a:r>
              <a:rPr sz="2000" b="0" i="0" dirty="0">
                <a:solidFill>
                  <a:srgbClr val="222B3A"/>
                </a:solidFill>
                <a:latin typeface="Calibri"/>
              </a:rPr>
              <a:t>Operate if P ≥ AVC</a:t>
            </a:r>
          </a:p>
          <a:p>
            <a:pPr marL="603504" lvl="1" indent="-603504">
              <a:spcAft>
                <a:spcPts val="600"/>
              </a:spcAft>
              <a:buClr>
                <a:srgbClr val="555B66"/>
              </a:buClr>
              <a:buSzPct val="100000"/>
              <a:buFont typeface="Calibri"/>
              <a:buChar char="–"/>
            </a:pPr>
            <a:r>
              <a:rPr sz="2000" b="0" i="0" dirty="0">
                <a:solidFill>
                  <a:srgbClr val="222B3A"/>
                </a:solidFill>
                <a:latin typeface="Calibri"/>
              </a:rPr>
              <a:t>Shut Down if P &lt; AVC</a:t>
            </a:r>
          </a:p>
          <a:p>
            <a:pPr marL="274320" indent="-274320">
              <a:spcAft>
                <a:spcPts val="600"/>
              </a:spcAft>
              <a:buClr>
                <a:srgbClr val="0B2B4E"/>
              </a:buClr>
              <a:buSzPct val="100000"/>
              <a:buFont typeface="Calibri"/>
              <a:buChar char="▪"/>
            </a:pPr>
            <a:r>
              <a:rPr sz="2400" b="0" i="0" dirty="0">
                <a:solidFill>
                  <a:srgbClr val="0B2B4E"/>
                </a:solidFill>
                <a:latin typeface="Calibri"/>
              </a:rPr>
              <a:t>Decision to operate in the long run</a:t>
            </a:r>
          </a:p>
          <a:p>
            <a:pPr marL="603504" lvl="1" indent="-603504">
              <a:spcAft>
                <a:spcPts val="600"/>
              </a:spcAft>
              <a:buClr>
                <a:srgbClr val="555B66"/>
              </a:buClr>
              <a:buSzPct val="100000"/>
              <a:buFont typeface="Calibri"/>
              <a:buChar char="–"/>
            </a:pPr>
            <a:r>
              <a:rPr sz="2000" b="0" i="0" dirty="0">
                <a:solidFill>
                  <a:srgbClr val="222B3A"/>
                </a:solidFill>
                <a:latin typeface="Calibri"/>
              </a:rPr>
              <a:t>Operate if P ≥ LAC </a:t>
            </a:r>
          </a:p>
          <a:p>
            <a:pPr marL="603504" lvl="1" indent="-603504">
              <a:spcAft>
                <a:spcPts val="600"/>
              </a:spcAft>
              <a:buClr>
                <a:srgbClr val="555B66"/>
              </a:buClr>
              <a:buSzPct val="100000"/>
              <a:buFont typeface="Calibri"/>
              <a:buChar char="–"/>
            </a:pPr>
            <a:r>
              <a:rPr sz="2000" b="0" i="0" dirty="0">
                <a:solidFill>
                  <a:srgbClr val="222B3A"/>
                </a:solidFill>
                <a:latin typeface="Calibri"/>
              </a:rPr>
              <a:t>Exit/do not enter if P &lt; LAC</a:t>
            </a:r>
          </a:p>
          <a:p>
            <a:pPr marL="603504" lvl="1" indent="-603504">
              <a:spcAft>
                <a:spcPts val="600"/>
              </a:spcAft>
              <a:buClr>
                <a:srgbClr val="555B66"/>
              </a:buClr>
              <a:buSzPct val="100000"/>
              <a:buFont typeface="Calibri"/>
              <a:buChar char="–"/>
            </a:pPr>
            <a:r>
              <a:rPr sz="2000" b="0" i="0" dirty="0">
                <a:solidFill>
                  <a:srgbClr val="222B3A"/>
                </a:solidFill>
                <a:latin typeface="Calibri"/>
              </a:rPr>
              <a:t>Long run competitive equilibrium: P = LMC = LAC</a:t>
            </a:r>
          </a:p>
          <a:p>
            <a:pPr marL="274320" indent="-274320">
              <a:spcAft>
                <a:spcPts val="600"/>
              </a:spcAft>
              <a:buClr>
                <a:srgbClr val="0B2B4E"/>
              </a:buClr>
              <a:buSzPct val="100000"/>
              <a:buFont typeface="Calibri"/>
              <a:buChar char="▪"/>
            </a:pPr>
            <a:r>
              <a:rPr lang="en-US" sz="2400" dirty="0">
                <a:solidFill>
                  <a:srgbClr val="0B2B4E"/>
                </a:solidFill>
              </a:rPr>
              <a:t>Market distortions, regulations, externalities</a:t>
            </a:r>
          </a:p>
          <a:p>
            <a:pPr marL="603504" lvl="1" indent="-603504">
              <a:spcAft>
                <a:spcPts val="600"/>
              </a:spcAft>
              <a:buClr>
                <a:srgbClr val="555B66"/>
              </a:buClr>
              <a:buSzPct val="100000"/>
              <a:buFont typeface="Calibri"/>
              <a:buChar char="–"/>
            </a:pPr>
            <a:r>
              <a:rPr lang="en-US" sz="2000" b="0" i="0" dirty="0">
                <a:solidFill>
                  <a:srgbClr val="222B3A"/>
                </a:solidFill>
                <a:latin typeface="Calibri"/>
              </a:rPr>
              <a:t>Winners, Losers, Deadweight loss</a:t>
            </a:r>
          </a:p>
          <a:p>
            <a:pPr marL="146304" indent="-603504">
              <a:spcAft>
                <a:spcPts val="600"/>
              </a:spcAft>
              <a:buClr>
                <a:srgbClr val="555B66"/>
              </a:buClr>
              <a:buSzPct val="100000"/>
              <a:buFont typeface="Calibri"/>
              <a:buChar char="–"/>
            </a:pPr>
            <a:endParaRPr sz="2000" b="0" i="0" dirty="0">
              <a:solidFill>
                <a:srgbClr val="222B3A"/>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879</TotalTime>
  <Words>5098</Words>
  <Application>Microsoft Macintosh PowerPoint</Application>
  <PresentationFormat>Widescreen</PresentationFormat>
  <Paragraphs>1011</Paragraphs>
  <Slides>70</Slides>
  <Notes>70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Cambria Math</vt:lpstr>
      <vt:lpstr>Whitney 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Wasserman, Melanie</cp:lastModifiedBy>
  <cp:revision>184</cp:revision>
  <dcterms:created xsi:type="dcterms:W3CDTF">2013-01-27T09:14:16Z</dcterms:created>
  <dcterms:modified xsi:type="dcterms:W3CDTF">2026-08-25T00:11:50Z</dcterms:modified>
  <cp:category/>
</cp:coreProperties>
</file>