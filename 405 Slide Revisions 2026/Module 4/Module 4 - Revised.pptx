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v1_notesSlide1.xml" ContentType="application/vnd.openxmlformats-officedocument.presentationml.notesSlide+xml"/>
  <Override PartName="/ppt/notesSlides/v1_notesSlide2.xml" ContentType="application/vnd.openxmlformats-officedocument.presentationml.notesSlide+xml"/>
  <Override PartName="/ppt/notesSlides/v2_notesSlide1.xml" ContentType="application/vnd.openxmlformats-officedocument.presentationml.notesSlide+xml"/>
  <Override PartName="/ppt/notesSlides/v2_notesSlide2.xml" ContentType="application/vnd.openxmlformats-officedocument.presentationml.notesSlide+xml"/>
  <Override PartName="/ppt/notesSlides/v2_notesSlide3.xml" ContentType="application/vnd.openxmlformats-officedocument.presentationml.notesSlide+xml"/>
  <Override PartName="/ppt/notesSlides/v3_notesSlide1.xml" ContentType="application/vnd.openxmlformats-officedocument.presentationml.notesSlide+xml"/>
  <Override PartName="/ppt/notesSlides/v3_notesSlide2.xml" ContentType="application/vnd.openxmlformats-officedocument.presentationml.notesSlide+xml"/>
  <Override PartName="/ppt/notesSlides/v3_notesSlide3.xml" ContentType="application/vnd.openxmlformats-officedocument.presentationml.notesSlide+xml"/>
  <Override PartName="/ppt/notesSlides/v3_notesSlide4.xml" ContentType="application/vnd.openxmlformats-officedocument.presentationml.notesSlide+xml"/>
  <Override PartName="/ppt/notesSlides/v3_notesSlide5.xml" ContentType="application/vnd.openxmlformats-officedocument.presentationml.notesSlide+xml"/>
  <Override PartName="/ppt/notesSlides/v3_notesSlide6.xml" ContentType="application/vnd.openxmlformats-officedocument.presentationml.notesSlide+xml"/>
  <Override PartName="/ppt/notesSlides/v3_notesSlide7.xml" ContentType="application/vnd.openxmlformats-officedocument.presentationml.notesSlide+xml"/>
  <Override PartName="/ppt/notesSlides/v3_notesSlide8.xml" ContentType="application/vnd.openxmlformats-officedocument.presentationml.notesSlide+xml"/>
  <Override PartName="/ppt/notesSlides/v3_notesSlide9.xml" ContentType="application/vnd.openxmlformats-officedocument.presentationml.notesSlide+xml"/>
  <Override PartName="/ppt/notesSlides/v3_notesSlide10.xml" ContentType="application/vnd.openxmlformats-officedocument.presentationml.notesSlide+xml"/>
  <Override PartName="/ppt/notesSlides/v3_notesSlide11.xml" ContentType="application/vnd.openxmlformats-officedocument.presentationml.notesSlide+xml"/>
  <Override PartName="/ppt/notesSlides/v3_notesSlide12.xml" ContentType="application/vnd.openxmlformats-officedocument.presentationml.notesSlide+xml"/>
  <Override PartName="/ppt/notesSlides/v3_notesSlide13.xml" ContentType="application/vnd.openxmlformats-officedocument.presentationml.notesSlide+xml"/>
  <Override PartName="/ppt/notesSlides/v3_notesSlide14.xml" ContentType="application/vnd.openxmlformats-officedocument.presentationml.notesSlide+xml"/>
  <Override PartName="/ppt/notesSlides/v3_notesSlide15.xml" ContentType="application/vnd.openxmlformats-officedocument.presentationml.notesSlide+xml"/>
  <Override PartName="/ppt/notesSlides/v3_notesSlide16.xml" ContentType="application/vnd.openxmlformats-officedocument.presentationml.notesSlide+xml"/>
  <Override PartName="/ppt/notesSlides/v3_notesSlide17.xml" ContentType="application/vnd.openxmlformats-officedocument.presentationml.notesSlide+xml"/>
  <Override PartName="/ppt/notesSlides/v3_notesSlide18.xml" ContentType="application/vnd.openxmlformats-officedocument.presentationml.notesSlide+xml"/>
  <Override PartName="/ppt/notesSlides/v3_notesSlide19.xml" ContentType="application/vnd.openxmlformats-officedocument.presentationml.notesSlide+xml"/>
  <Override PartName="/ppt/notesSlides/v3_notesSlide20.xml" ContentType="application/vnd.openxmlformats-officedocument.presentationml.notesSlide+xml"/>
  <Override PartName="/ppt/notesSlides/v3_notesSlide21.xml" ContentType="application/vnd.openxmlformats-officedocument.presentationml.notesSlide+xml"/>
  <Override PartName="/ppt/notesSlides/v3_notesSlide22.xml" ContentType="application/vnd.openxmlformats-officedocument.presentationml.notesSlide+xml"/>
  <Override PartName="/ppt/notesSlides/v3_notesSlide23.xml" ContentType="application/vnd.openxmlformats-officedocument.presentationml.notesSlide+xml"/>
  <Override PartName="/ppt/notesSlides/v3_notesSlide24.xml" ContentType="application/vnd.openxmlformats-officedocument.presentationml.notesSlide+xml"/>
  <Override PartName="/ppt/notesSlides/v3_notesSlide25.xml" ContentType="application/vnd.openxmlformats-officedocument.presentationml.notesSlide+xml"/>
  <Override PartName="/ppt/notesSlides/v3_notesSlide26.xml" ContentType="application/vnd.openxmlformats-officedocument.presentationml.notesSlide+xml"/>
  <Override PartName="/ppt/tags/v3_tag1.xml" ContentType="application/vnd.openxmlformats-officedocument.presentationml.tags+xml"/>
  <Override PartName="/ppt/notesSlides/v3_notesSlide27.xml" ContentType="application/vnd.openxmlformats-officedocument.presentationml.notesSlide+xml"/>
  <Override PartName="/ppt/notesSlides/v3_notesSlide28.xml" ContentType="application/vnd.openxmlformats-officedocument.presentationml.notesSlide+xml"/>
  <Override PartName="/ppt/notesSlides/v4_notesSlide1.xml" ContentType="application/vnd.openxmlformats-officedocument.presentationml.notesSlide+xml"/>
  <Override PartName="/ppt/notesSlides/v4_notesSlide2.xml" ContentType="application/vnd.openxmlformats-officedocument.presentationml.notesSlide+xml"/>
  <Override PartName="/ppt/notesSlides/v4_notesSlide3.xml" ContentType="application/vnd.openxmlformats-officedocument.presentationml.notesSlide+xml"/>
  <Override PartName="/ppt/notesSlides/v5_notesSlide1.xml" ContentType="application/vnd.openxmlformats-officedocument.presentationml.notesSlide+xml"/>
  <Override PartName="/ppt/notesSlides/v5_notesSlide2.xml" ContentType="application/vnd.openxmlformats-officedocument.presentationml.notesSlide+xml"/>
  <Override PartName="/ppt/notesSlides/v5_notesSlide3.xml" ContentType="application/vnd.openxmlformats-officedocument.presentationml.notesSlide+xml"/>
  <Override PartName="/ppt/notesSlides/v5_notesSlide4.xml" ContentType="application/vnd.openxmlformats-officedocument.presentationml.notesSlide+xml"/>
  <Override PartName="/ppt/slides/slide91.xml" ContentType="application/vnd.openxmlformats-officedocument.presentationml.slide+xml"/>
  <Override PartName="/ppt/notesSlides/dup3_notesSlide1.xml" ContentType="application/vnd.openxmlformats-officedocument.presentationml.notesSlide+xml"/>
  <Override PartName="/ppt/slides/slide92.xml" ContentType="application/vnd.openxmlformats-officedocument.presentationml.slide+xml"/>
  <Override PartName="/ppt/notesSlides/dup29_notesSlide20.xml" ContentType="application/vnd.openxmlformats-officedocument.presentationml.notes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Slides/dup59_notesSlide42.xml" ContentType="application/vnd.openxmlformats-officedocument.presentationml.notesSlide+xml"/>
  <Override PartName="/ppt/slides/slide97.xml" ContentType="application/vnd.openxmlformats-officedocument.presentationml.slide+xml"/>
  <Override PartName="/ppt/slides/slide98.xml" ContentType="application/vnd.openxmlformats-officedocument.presentationml.slide+xml"/>
  <Override PartName="/ppt/notesSlides/dup61_notesSlide43.xml" ContentType="application/vnd.openxmlformats-officedocument.presentationml.notesSlide+xml"/>
  <Override PartName="/ppt/slides/slide99.xml" ContentType="application/vnd.openxmlformats-officedocument.presentationml.slide+xml"/>
  <Override PartName="/ppt/notesSlides/dup62_notesSlide44.xml" ContentType="application/vnd.openxmlformats-officedocument.presentationml.notesSlide+xml"/>
  <Override PartName="/ppt/slides/slide100.xml" ContentType="application/vnd.openxmlformats-officedocument.presentationml.slide+xml"/>
  <Override PartName="/ppt/slides/slide10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7"/>
    <p:sldId id="347" r:id="rId98"/>
    <p:sldId id="348" r:id="rId99"/>
    <p:sldId id="349" r:id="rId100"/>
    <p:sldId id="350" r:id="rId101"/>
    <p:sldId id="351" r:id="rId102"/>
    <p:sldId id="352" r:id="rId103"/>
    <p:sldId id="353" r:id="rId104"/>
    <p:sldId id="354" r:id="rId105"/>
    <p:sldId id="355" r:id="rId106"/>
    <p:sldId id="356" r:id="rId10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505D57-B5B1-42E8-9F79-99CE7754156E}" type="datetimeFigureOut">
              <a:rPr lang="en-US" smtClean="0"/>
              <a:t>8/30/2026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A79474-3F6C-4F5A-AEB7-943304FF46E0}" type="slidenum">
              <a:rPr lang="en-US" smtClean="0"/>
              <a:t>‹#›</a:t>
            </a:fld>
            <a:endParaRPr lang="en-US"/>
          </a:p>
        </p:txBody>
      </p:sp>
    </p:spTree>
    <p:extLst>
      <p:ext uri="{BB962C8B-B14F-4D97-AF65-F5344CB8AC3E}">
        <p14:creationId xmlns:p14="http://schemas.microsoft.com/office/powerpoint/2010/main" val="1969772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dup3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dup29_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dup59_notesSlide4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dup61_notesSlide4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dup62_notesSlide4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v1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v1_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v2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v2_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v2_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v3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v3_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v3_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v3_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v3_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v3_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v3_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v3_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v3_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v3_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v3_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v3_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v3_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v3_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v3_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v3_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v3_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v3_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v3_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v3_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v3_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v3_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v3_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v3_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v3_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v3_notesSlide2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v3_notesSlide2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v3_notesSlide2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v4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v4_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v4_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v5_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v5_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v5_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v5_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dup3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few housekeeping points before we start. The problem set for this module is on BruinLearn, and the practice videos are there too. Everything we do today builds on the cost curves from Module 3, so keep those handy.</a:t>
            </a:r>
          </a:p>
        </p:txBody>
      </p:sp>
      <p:sp>
        <p:nvSpPr>
          <p:cNvPr id="4" name="Slide Number Placeholder 3"/>
          <p:cNvSpPr>
            <a:spLocks noGrp="1"/>
          </p:cNvSpPr>
          <p:nvPr>
            <p:ph type="sldNum" sz="quarter" idx="5"/>
          </p:nvPr>
        </p:nvSpPr>
        <p:spPr/>
      </p:sp>
    </p:spTree>
  </p:cSld>
  <p:clrMapOvr>
    <a:masterClrMapping/>
  </p:clrMapOvr>
</p:notes>
</file>

<file path=ppt/notesSlides/dup29_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Using Ross Stores Annual report for illustration: https://www.sec.gov/ix?doc=/Archives/edgar/data/745732/000074573222000014/rost-20220129.htm#i84f0090916e6417881836bdad18ed609_64 </a:t>
            </a:r>
          </a:p>
          <a:p>
            <a:r>
              <a:t>Highlight the 3 items under “costs and expenses”</a:t>
            </a:r>
          </a:p>
          <a:p>
            <a:r>
              <a:t>	Costs of goods sold = variable</a:t>
            </a:r>
          </a:p>
          <a:p>
            <a:r>
              <a:t>	Selling, general and administrative = a bit of both (sales commissions would be variable but the CEO salary fixed)	</a:t>
            </a:r>
          </a:p>
          <a:p>
            <a:r>
              <a:t>	Interest expense (the cost of borrowing money) = fixed</a:t>
            </a:r>
          </a:p>
        </p:txBody>
      </p:sp>
      <p:sp>
        <p:nvSpPr>
          <p:cNvPr id="4" name="Slide Number Placeholder 3"/>
          <p:cNvSpPr>
            <a:spLocks noGrp="1"/>
          </p:cNvSpPr>
          <p:nvPr>
            <p:ph type="sldNum" sz="quarter" idx="5"/>
          </p:nvPr>
        </p:nvSpPr>
        <p:spPr/>
      </p:sp>
    </p:spTree>
  </p:cSld>
  <p:clrMapOvr>
    <a:masterClrMapping/>
  </p:clrMapOvr>
</p:notes>
</file>

<file path=ppt/notesSlides/dup59_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toolbox goes somewhere less comfortable. Treat individual drug dealers as price takers in a competitive market, and the entry-and-exit logic we just built tells you what happens when policy targets sellers rather than buyers. The two slides that follow work through each case.</a:t>
            </a:r>
          </a:p>
          <a:p>
            <a:endParaRPr/>
          </a:p>
          <a:p>
            <a:r>
              <a:t>Can we characterize the drug market as a “constant cost industry?”  Yes.</a:t>
            </a:r>
          </a:p>
          <a:p>
            <a:r>
              <a:t>Fixed cost: gun, car…</a:t>
            </a:r>
          </a:p>
          <a:p>
            <a:r>
              <a:t>Variable cost: drugs</a:t>
            </a:r>
          </a:p>
          <a:p>
            <a:r>
              <a:t>Same for each dealer</a:t>
            </a:r>
          </a:p>
        </p:txBody>
      </p:sp>
      <p:sp>
        <p:nvSpPr>
          <p:cNvPr id="4" name="Slide Number Placeholder 3"/>
          <p:cNvSpPr>
            <a:spLocks noGrp="1"/>
          </p:cNvSpPr>
          <p:nvPr>
            <p:ph type="sldNum" sz="quarter" idx="5"/>
          </p:nvPr>
        </p:nvSpPr>
        <p:spPr/>
      </p:sp>
    </p:spTree>
  </p:cSld>
  <p:clrMapOvr>
    <a:masterClrMapping/>
  </p:clrMapOvr>
</p:notes>
</file>

<file path=ppt/notesSlides/dup61_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Arresting dealers raises the cost of supplying, which shifts supply back. Quantity falls, but the price rises - so revenue in the market can easily go UP, and the surviving dealers make more per unit. That is the uncomfortable arithmetic behind supply-side enforcement.</a:t>
            </a:r>
          </a:p>
          <a:p>
            <a:endParaRPr/>
          </a:p>
          <a:p>
            <a:r>
              <a:t>SR effect: More drugs supplied by remaining dealers at higher P. Profits!</a:t>
            </a:r>
          </a:p>
          <a:p>
            <a:r>
              <a:t>LR effect: Entry  Return to old equilibrium.</a:t>
            </a:r>
          </a:p>
        </p:txBody>
      </p:sp>
      <p:sp>
        <p:nvSpPr>
          <p:cNvPr id="4" name="Slide Number Placeholder 3"/>
          <p:cNvSpPr>
            <a:spLocks noGrp="1"/>
          </p:cNvSpPr>
          <p:nvPr>
            <p:ph type="sldNum" sz="quarter" idx="5"/>
          </p:nvPr>
        </p:nvSpPr>
        <p:spPr/>
      </p:sp>
    </p:spTree>
  </p:cSld>
  <p:clrMapOvr>
    <a:masterClrMapping/>
  </p:clrMapOvr>
</p:notes>
</file>

<file path=ppt/notesSlides/dup62_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Going after users works on the other side of the market. Demand shifts back, so both quantity and price fall. Dealers make less, and the trade shrinks on both counts - which is why economists generally favour demand-side policy here.</a:t>
            </a:r>
          </a:p>
          <a:p>
            <a:endParaRPr/>
          </a:p>
          <a:p>
            <a:r>
              <a:t>SR effect: Less drugs supplied by each dealer. Loss!</a:t>
            </a:r>
          </a:p>
          <a:p>
            <a:r>
              <a:t>LR effect: Exit  Converge to new equilibrium with less drugs consumed!</a:t>
            </a:r>
          </a:p>
        </p:txBody>
      </p:sp>
      <p:sp>
        <p:nvSpPr>
          <p:cNvPr id="4" name="Slide Number Placeholder 3"/>
          <p:cNvSpPr>
            <a:spLocks noGrp="1"/>
          </p:cNvSpPr>
          <p:nvPr>
            <p:ph type="sldNum" sz="quarter" idx="5"/>
          </p:nvPr>
        </p:nvSpPr>
        <p:spPr/>
      </p:sp>
    </p:spTree>
  </p:cSld>
  <p:clrMapOvr>
    <a:masterClrMapping/>
  </p:clrMapOvr>
</p:note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few housekeeping points before we start. The problem set for this module is on BruinLearn, and the practice videos are there too. Everything we do today builds on the cost curves from Module 3, so keep those handy.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start thinking about a firm’s competitive environment or market structure. We categorize market structure using three characteristics:</a:t>
            </a:r>
          </a:p>
          <a:p>
            <a:endParaRPr/>
          </a:p>
          <a:p>
            <a:r>
              <a:t>1. Number of firms: in general, when there are more companies in the market, the market is more competitive.</a:t>
            </a:r>
          </a:p>
          <a:p>
            <a:r>
              <a:t>2. Whether the consumer cares which company made the good: are the goods identical or can the consumer distinguish who made the good? In general, if goods are closer to identical, the market is more competitive.</a:t>
            </a:r>
          </a:p>
          <a:p>
            <a:r>
              <a:t>3. Barriers to entry: if new firms can enter the market easily, the market is more competitive.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Extent of market power. The spectrum runs from price taker (today’s topic) to price searchers with increasing degrees of market power (subject of subsequent sessions): </a:t>
            </a:r>
          </a:p>
          <a:p>
            <a:r>
              <a:t> </a:t>
            </a:r>
          </a:p>
          <a:p>
            <a:r>
              <a:t>A perfectly competitive firm has no market power; it has such a small percentage of the market that it can exert no effect on price. </a:t>
            </a:r>
          </a:p>
          <a:p>
            <a:r>
              <a:t> </a:t>
            </a:r>
          </a:p>
          <a:p>
            <a:r>
              <a:t>A monopolistically competitive firm, such as gas stations and restaurants, offers a differentiated product and thus faces a downward sloping demand curve – offerings of other firms are not perfect substitutes. There is still intense competition because the products can substitute for each other so the elasticity of demand facing each firm tends to be high. Free entry drives long-run profits to zero.</a:t>
            </a:r>
          </a:p>
          <a:p>
            <a:r>
              <a:t> </a:t>
            </a:r>
          </a:p>
          <a:p>
            <a:r>
              <a:t>Oligopolistic markets are cases of few firms. For example, a duopoly is a special case of an oligopoly with only 2 firms. Interesting strategic issues arise here as you need to think hard about your rivals’ response to your firm’s behavior. Entry may be limited.</a:t>
            </a:r>
          </a:p>
          <a:p>
            <a:r>
              <a:t> </a:t>
            </a:r>
          </a:p>
          <a:p>
            <a:r>
              <a:t>Monopolistic markets are markets with only one seller, such as utilities in most cities (legal monopoly) or Microsoft (quasi-monopoly, due to demand-side economies of scale, i.e. network effects).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Characteristics of a price taker market. Today we focus on perfect competition. For a market to be perfectly competitive, three conditions must be satisfied:</a:t>
            </a:r>
          </a:p>
          <a:p>
            <a:endParaRPr/>
          </a:p>
          <a:p>
            <a:r>
              <a:t>There are many firms. Thus, the impact of any one firm on the market equilibrium is negligible. </a:t>
            </a:r>
          </a:p>
          <a:p>
            <a:r>
              <a:t>All firms produce an identical product.</a:t>
            </a:r>
          </a:p>
          <a:p>
            <a:r>
              <a:t>There are no barriers to entry.</a:t>
            </a:r>
          </a:p>
          <a:p>
            <a:endParaRPr/>
          </a:p>
          <a:p>
            <a:r>
              <a:t>The implications of these conditions is that firms in perfectly competitive markets are price takers, i.e. they do not have discretion over the price to charge. In the case of price takers, they face perfectly elastic demand (horizontal demand curve), there is no product differentiation, and they cannot deviate in price. Examples include Indian rice producers, sellers of currency, etc. If the firm chooses a price above the market price, the firm will lose all sales. Since the firm can sell as much as it would like at the market price, it has no incentive to sell at a quantity below the market price.</a:t>
            </a:r>
          </a:p>
          <a:p>
            <a:endParaRPr/>
          </a:p>
          <a:p>
            <a:r>
              <a:t>Why study perfect competition? There are 3 main reasons:</a:t>
            </a:r>
          </a:p>
          <a:p>
            <a:r>
              <a:t> </a:t>
            </a:r>
          </a:p>
          <a:p>
            <a:r>
              <a:t>You need to understand how perfectly competitive markets around you function. For instance, the bond market, the currency markets, commodity markets, labor markets, etc, where price taking behavior is frequent. </a:t>
            </a:r>
          </a:p>
          <a:p>
            <a:r>
              <a:t>You might have to act in perfectly competitive markets on occasion.</a:t>
            </a:r>
          </a:p>
          <a:p>
            <a:r>
              <a:t>By understanding perfect competition in depth you can come up with ways to make the market in which you operate look more like an imperfect competition market. This is what businesses do – differentiate, raise barriers to entry, gain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slides explain the relationship between the market vs. the firm demand. It shows where the demand a price taker is coming from = market price, determined by the market equilibrium.</a:t>
            </a:r>
          </a:p>
          <a:p>
            <a:r>
              <a:t>Now, let’s turn to see how a price taker maximizes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behind price taking. A single wheat farmer who tries to charge more than the going price simply sells nothing, because buyers have thousands of identical alternatives. That is what we mean when we say the firm faces a horizontal demand curve at the market price.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a price taker, revenue is simple: every extra unit sells at the same market price, so marginal revenue equals that price and never falls. This is the one case where MR = P, and it is why the profit-maximising rule collapses to P = MC. Keep that in mind, because it will not hold once we get to firms with market power.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perfectly competitive firm sells at the price set by the market. Perfectly competitive firms then have one decision to make: the quantity to supply.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profit maximisation seen through totals rather than margins. Total revenue is a straight line because price is constant; total cost rises and then curves up as diminishing returns bite. Profit is the vertical gap between them, and it is widest exactly where the two curves are parallel - which is the same thing as saying marginal revenue equals marginal cost.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Meet the Yi family. They have moved from California to rural Arkansas to grow Korean cabbage and sell it to vendors in Dallas at whatever the market price happens to be. We will follow their cabbage crop for the rest of this section, so every abstract rule gets tested against a real set of numbers.</a:t>
            </a:r>
          </a:p>
          <a:p>
            <a:endParaRPr/>
          </a:p>
          <a:p>
            <a:r>
              <a:t>https://www.vulture.com/article/minari-movie-review-a-gentle-immigrant-drama-set-in-u-s.html</a:t>
            </a:r>
          </a:p>
          <a:p>
            <a:r>
              <a:t>https://time.com/5938842/minari-korean-american-farmers/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matters to you as a manager: almost no business is a textbook price taker, but many face something close to it in at least one market - a commodity input, a contract-manufacturing line, a spot market. The discipline of asking what you can and cannot influence about your price is the useful part.</a:t>
            </a:r>
          </a:p>
          <a:p>
            <a:endParaRPr/>
          </a:p>
          <a:p>
            <a:r>
              <a:t>In bullet number 2: emphasize that no price decision since we are price takers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for the costs: https://ucanr.edu/sites/Farm_Management/files/179212.pdf</a:t>
            </a:r>
          </a:p>
          <a:p>
            <a:r>
              <a:t>Opportunity costs: salary from working somewhere else, estimated at about 15k</a:t>
            </a:r>
          </a:p>
          <a:p>
            <a:endParaRPr/>
          </a:p>
          <a:p>
            <a:r>
              <a:t>Quantity in tons</a:t>
            </a:r>
          </a:p>
          <a:p>
            <a:endParaRPr/>
          </a:p>
          <a:p>
            <a:r>
              <a:t>Fixed Costs: land rent, equipment + opportunity costs</a:t>
            </a:r>
          </a:p>
          <a:p>
            <a:r>
              <a:t>Variable Costs: seeds, water, fertilizers, pesticides</a:t>
            </a:r>
          </a:p>
          <a:p>
            <a:endParaRPr/>
          </a:p>
          <a:p>
            <a:r>
              <a:t>Images: right (water), top left (fertilizers), bottom left (seeds)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Yi family's cost function. The fixed cost of 60,000 dollars is the land and equipment they are committed to for the season. The variable part rises more than proportionally with output, which is exactly the diminishing returns we saw in Module 3 showing up in dollars.</a:t>
            </a:r>
          </a:p>
          <a:p>
            <a:endParaRPr/>
          </a:p>
          <a:p>
            <a:r>
              <a:t>Source for the costs: https://ucanr.edu/sites/Farm_Management/files/179212.pdf</a:t>
            </a:r>
          </a:p>
          <a:p>
            <a:r>
              <a:t>Opportunity costs: salary from working somewhere else, estimated at about 15k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Market price: $400 per ton is about $20 per cwt, which is the USDA season-average price for fresh-market cabbage in 2020. Recent years run higher — $31.10 per cwt in 2024.</a:t>
            </a:r>
          </a:p>
          <a:p>
            <a:r>
              <a:t>https://www.agmrc.org/commodities-products/vegetables/cabbage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the optimal quantity produced?
https://www.polleverywhere.com/multiple_choice_polls/Zwza1GbC7sIapRu20fIpK?state=opened&amp;flow=Default&amp;onscreen=persist</a:t>
            </a:r>
          </a:p>
        </p:txBody>
      </p:sp>
      <p:sp>
        <p:nvSpPr>
          <p:cNvPr id="4" name="Slide Number Placeholder 3"/>
          <p:cNvSpPr>
            <a:spLocks noGrp="1"/>
          </p:cNvSpPr>
          <p:nvPr>
            <p:ph type="sldNum" sz="quarter" idx="5"/>
          </p:nvPr>
        </p:nvSpPr>
        <p:spPr/>
        <p:txBody>
          <a:bodyPr/>
          <a:lstStyle/>
          <a:p>
            <a:fld id="{8D36AC2A-E969-3C46-9ED8-B46D40C5E669}" type="slidenum">
              <a:rPr lang="en-US" smtClean="0"/>
              <a:t>24</a:t>
            </a:fld>
            <a:endParaRPr lang="en-US"/>
          </a:p>
        </p:txBody>
      </p:sp>
      <p:sp>
        <p:nvSpPr>
          <p:cNvPr id="5" name="TextBox 4">
            <a:extLst>
              <a:ext uri="{FF2B5EF4-FFF2-40B4-BE49-F238E27FC236}">
                <a16:creationId xmlns:a16="http://schemas.microsoft.com/office/drawing/2014/main" id="{A4698888-41E8-4EDD-92FA-A9EF84BD3094}"/>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1173081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 through the algebra with me. Marginal cost is the derivative of total cost, we set it equal to the market price, and we solve for quantity. The answer is the only output level at which the family cannot do better by producing one more or one less ton.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profit itself. We take the optimal quantity, compute total revenue and total cost at that quantity, and take the difference. Notice that the answer is positive here - that will not always be the case, and the rest of this section is about what to do when it is not.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total cost is the second lens on the same problem. Total cost divided by quantity tells you what each ton costs on average, and comparing that to the price tells you immediately whether you are making money. It is the version of the calculation that most managers actually carry in their head.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picture behind the arithmetic. The height of the shaded box is price minus average total cost - the profit on each ton - and the width is the number of tons. Multiply the two and you have total profit, which is why the box is the profit.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Using Ross Stores Annual report for illustration: https://www.sec.gov/ix?doc=/Archives/edgar/data/745732/000074573222000014/rost-20220129.htm#i84f0090916e6417881836bdad18ed609_64 </a:t>
            </a:r>
          </a:p>
          <a:p>
            <a:r>
              <a:t>Highlight the 3 items under “costs and expenses”</a:t>
            </a:r>
          </a:p>
          <a:p>
            <a:r>
              <a:t>	Costs of goods sold = variable</a:t>
            </a:r>
          </a:p>
          <a:p>
            <a:r>
              <a:t>	Selling, general and administrative = a bit of both (sales commissions would be variable but the CEO salary fixed)	</a:t>
            </a:r>
          </a:p>
          <a:p>
            <a:r>
              <a:t>	Interest expense (the cost of borrowing money) = fixed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measure profit, we subtract total cost from total revenue.</a:t>
            </a:r>
          </a:p>
          <a:p>
            <a:endParaRPr/>
          </a:p>
          <a:p>
            <a:r>
              <a:t>Profit = TR – TC</a:t>
            </a:r>
          </a:p>
          <a:p>
            <a:r>
              <a:t>We can rewrite this as:</a:t>
            </a:r>
          </a:p>
          <a:p>
            <a:r>
              <a:t>Profit = P*Q – ATC*Q</a:t>
            </a:r>
          </a:p>
          <a:p>
            <a:r>
              <a:t>Profit = (P – ATC)*Q</a:t>
            </a:r>
          </a:p>
          <a:p>
            <a:endParaRPr/>
          </a:p>
          <a:p>
            <a:r>
              <a:t>This formula determines whether the firm has positive, zero, or negative profit.</a:t>
            </a:r>
          </a:p>
          <a:p>
            <a:endParaRPr/>
          </a:p>
          <a:p>
            <a:r>
              <a:t>Positive profit: In this figure, the firm’s total revenue is the area of the rectangle with height P and width Q*. The total cost is the area of the rectangle with the height ATC* and the width Q*. Because total revenue exceeds total costs at Q*, the firm is earning positive profits. This equation tells us that profit is positive when P&gt;ATC at the profit maximizing quantity Q*. </a:t>
            </a:r>
          </a:p>
          <a:p>
            <a:endParaRPr/>
          </a:p>
          <a:p>
            <a:r>
              <a:t>Zero profit: Here P=ATC (=MC). We know that MC intersects ATC at its minimum. </a:t>
            </a:r>
          </a:p>
          <a:p>
            <a:endParaRPr/>
          </a:p>
          <a:p>
            <a:r>
              <a:t>Negative profit: P&lt;ATC</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question that trips people up. If profit is negative, should the firm stop? Not necessarily - the fixed costs are owed either way in the short run, so the only question is whether revenue covers the costs that producing actually adds. That is the distinction the next slide makes precise.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short-run rule in one line. Compare price to average VARIABLE cost, not to average total cost. If price covers the variable cost of each unit, producing contributes something towards the fixed costs and the firm should keep going; if it does not, producing makes the loss bigger than the fixed costs alone.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market moves against the Yi family. Cheap Chinese imports push the US price down from 400 to 210 dollars a ton. Work through the three questions with the person next to you before we look at the answer - the numbers are all on the earlier slides.</a:t>
            </a:r>
          </a:p>
          <a:p>
            <a:endParaRPr/>
          </a:p>
          <a:p>
            <a:r>
              <a:t>Questions 2 and 3 solved by instructor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new optimum. Same rule, new price: set marginal cost equal to 210 and solve. The quantity falls, and when we compute profit at that quantity it is now negative - so the interesting question is the one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the decision. At the new price the family loses money, but price still exceeds average variable cost, so every ton they sell contributes something towards the land and equipment they are paying for anyway. They should keep producing through the season and reconsider in the long run.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slides, say that we show them in the general case (MC not linear)</a:t>
            </a:r>
          </a:p>
          <a:p>
            <a:r>
              <a:t>Context: At the beginning can sell at a very high price… Profit maximization in the short run. This figure depicts positive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logic on a more realistic cost function, where average variable cost is U-shaped rather than rising throughout. Optimal output is still where marginal cost meets price. Here price sits above average total cost at that quantity, so the shaded rectangle is genuine economic profit.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general case at a lower price. Q* is still where MC meets P, but now price is below average total cost, so the rectangle is a loss. The firm keeps producing anyway, because price is still above average variable cost.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loss case on the complex cost function. Notice that nothing about the rule changed - only where the price line happens to sit relative to the two average-cost curves.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lowest price case. Here the price line lies below average variable cost at every output, so there is no quantity at which producing helps. The firm stops production and eats the fixed costs.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same conclusion on the complex cost function. Because marginal cost really does dip below average variable cost here, there IS a quantity where MC equals P - but price is still below AVC at that quantity, so producing would lose more than the fixed costs. Stopping is still right.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A coffee bean producer, marginal cost of 10, average variable cost of 12, and a market price you can read off the slide. Decide what they should do before we work it through.</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answer. The output level is already profit-maximising, because for a price taker marginal cost equals price - so price is 10. But average variable cost is 12, which means every unit sold loses money on its own variable cost. Stop production; the fixed costs still have to be paid, and that is the smaller loss.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from this section on one slide. Find the quantity where marginal cost equals price, then use the price-versus-AVC test to decide whether to produce at all. Problem Set 3 works through both steps on new numbers.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price taker’s supply curve. We can trace out the supply curve of the firm.</a:t>
            </a:r>
          </a:p>
          <a:p>
            <a:r>
              <a:t>At P = 210, you maximize profits by producing 187.5 tons.</a:t>
            </a:r>
          </a:p>
          <a:p>
            <a:r>
              <a:t>At P = 400, you expand more.</a:t>
            </a:r>
          </a:p>
          <a:p>
            <a:r>
              <a:t>Bottom line: the MC curve is the firm’s short-run supply curve. We can draw the supply curve.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change the firm's costs and watch what happens. High-yield seeds cut the marginal cost of every ton by the same amount, so the MC curve shifts down in parallel. At the unchanged market price the farmer's optimum moves out from q0 to q1 - lower costs mean more output, not just more profit per ton.</a:t>
            </a:r>
          </a:p>
          <a:p>
            <a:endParaRPr/>
          </a:p>
          <a:p>
            <a:r>
              <a:t>Example: the Yi family starts using new high-yield seeds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assume every farmers are using those new high-yield seeds.</a:t>
            </a:r>
          </a:p>
          <a:p>
            <a:r>
              <a:t>First, you see the effect on the individual farmer we just saw on the previous slide. However, because all farmers face lower costs, this changes the market supply: downward shift of the market supply curve, leading to a lower market price and higher aggregate quantity.</a:t>
            </a:r>
          </a:p>
          <a:p>
            <a:r>
              <a:t>New market price = new demand curve for the individual farmer, so that the new quantity provided by the farmer is the intersection of this new D curve with the new MC curve (MC’ and MR’). The farmer produces more than before, but less than if he/she was the only one to have the new seeds (which would be the quantity given by the intersection of MC’ and MR)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Notes from the book: because all inputs and costs are variable in the long run, the firm’s long-run supply curve is the part of its long-run marginal cost curve above its long-run average total cost curve ( LATC=LAVC because there are no fixed costs in the long run).</a:t>
            </a:r>
          </a:p>
          <a:p>
            <a:r>
              <a:t>Yi example: in the long run they can decide whether or not to rent the land + how much land to rent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LAC is downward sloping because of economies of scale initially, and then upward-sloping because of dis-economies of scale. Note that this is different from ATC being down-ward sloping because of Fixed costs of a GIVEN technology.</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Cecile Steele of Ocean View, Delaware ordered 50 chicks in 1923 and received 500 by mistake. She kept them, made a large profit, and within five years hundreds of neighbouring farmers were raising chickens for meat. That is entry in action - and it is why her extraordinary margins did not last.</a:t>
            </a:r>
          </a:p>
          <a:p>
            <a:endParaRPr/>
          </a:p>
          <a:p>
            <a:r>
              <a:t>https://www.vox.com/future-perfect/2023/2/10/23589333/cecile-steele-chicken-meat-poultry-eggs-delaware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toolbox goes somewhere less comfortable. Treat individual drug dealers as price takers in a competitive market, and the entry-and-exit logic we just built tells you what happens when policy targets sellers rather than buyers. The two slides that follow work through each case.</a:t>
            </a:r>
          </a:p>
          <a:p>
            <a:endParaRPr/>
          </a:p>
          <a:p>
            <a:r>
              <a:t>Can we characterize the drug market as a “constant cost industry?”  Yes.</a:t>
            </a:r>
          </a:p>
          <a:p>
            <a:r>
              <a:t>Fixed cost: gun, car…</a:t>
            </a:r>
          </a:p>
          <a:p>
            <a:r>
              <a:t>Variable cost: drugs</a:t>
            </a:r>
          </a:p>
          <a:p>
            <a:r>
              <a:t>Same for each dealer</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Arresting dealers raises the cost of supplying, which shifts supply back. Quantity falls, but the price rises - so revenue in the market can easily go UP, and the surviving dealers make more per unit. That is the uncomfortable arithmetic behind supply-side enforcement.</a:t>
            </a:r>
          </a:p>
          <a:p>
            <a:endParaRPr/>
          </a:p>
          <a:p>
            <a:r>
              <a:t>SR effect: More drugs supplied by remaining dealers at higher P. Profits!</a:t>
            </a:r>
          </a:p>
          <a:p>
            <a:r>
              <a:t>LR effect: Entry  Return to old equilibrium.</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Going after users works on the other side of the market. Demand shifts back, so both quantity and price fall. Dealers make less, and the trade shrinks on both counts - which is why economists generally favour demand-side policy here.</a:t>
            </a:r>
          </a:p>
          <a:p>
            <a:endParaRPr/>
          </a:p>
          <a:p>
            <a:r>
              <a:t>SR effect: Less drugs supplied by each dealer. Loss!</a:t>
            </a:r>
          </a:p>
          <a:p>
            <a:r>
              <a:t>LR effect: Exit  Converge to new equilibrium with less drugs consumed!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long-run rules in one place. Optimal output is still where marginal cost meets price, but now the comparison is with LONG-RUN average cost, because capital is adjustable. If price cannot cover LAC the firm exits, and entry and exit push the market to the point where economic profit is zero.</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is about what happens when something pushes a market away from its competitive equilibrium - price controls, taxes, subsidies. The tools we need are consumer surplus, producer surplus and deadweight loss, and the next three slides build them.</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consumers would be willing to pay = MPV we have seen in Module 2</a:t>
            </a:r>
          </a:p>
          <a:p>
            <a:endParaRPr/>
          </a:p>
          <a:p>
            <a:r>
              <a:t>We can tell them to check in the textbook how to compute CS from the demand curve (triangle area) + that it will be covered by the TA</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this example PS&gt;CS but it all depends on the relative steepness of the D and S curves</a:t>
            </a:r>
          </a:p>
          <a:p>
            <a:r>
              <a:t>Willingness to sell depends on the producer cost structure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Deadweight loss is the value that simply disappears - trades that both sides would have been happy to make, which the intervention prevents. It is the difference between total welfare in the free market and total welfare under the regulation, where welfare means consumer surplus plus producer surplus.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Example: gasoline</a:t>
            </a:r>
          </a:p>
          <a:p>
            <a:endParaRPr/>
          </a:p>
          <a:p>
            <a:r>
              <a:t>The welfare losses and incidence (who pays the tax) depends on elasticities of demand and supply. For example, if supply is perfectly elastic (the supply curve is horizontal), all of the tax is paid by the consumers.</a:t>
            </a:r>
          </a:p>
          <a:p>
            <a:endParaRPr/>
          </a:p>
          <a:p>
            <a:r>
              <a:t>The analysis of a subsidy is similar, except the demand (or supply) curve will shift outward.</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point that surprises most people. It does not matter which side of the market physically hands the money to the government - the burden splits the same way either way. What determines the split is elasticity: whichever side responds less to price ends up paying more of the tax.</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theory, some context. Minimum wages are one of the most widely used price floors in the world, and the map shows how much the level varies across US states. Keep that variation in mind - it is what makes the empirical evidence possible.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podcast slide. The theory says a minimum wage should reduce employment, but the evidence is genuinely mixed: employment itself often does not fall much, while hours worked do. Listen for the distinction between experienced workers, whose total income can still rise, and low-skilled or new entrants, who tend to lose on both counts.</a:t>
            </a:r>
          </a:p>
          <a:p>
            <a:endParaRPr/>
          </a:p>
          <a:p>
            <a:r>
              <a:t>https://www.epi.org/minimum-wage-tracker/</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minimum wage as a price floor. Set above the market wage, it raises the wage for those who keep their jobs (area A), but firms hire fewer workers, so some who would have worked do not (area C). The gap between labour supplied and labour demanded at the floor is unemployment, and B plus C is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do rent control, a quick calibration exercise. Look at the flat, the location and the map, and write down what you think it rents for. Hold your number - the answer on the next slide is usually a surprise.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answer. The unit is rent-controlled, and the Maximum Allowable Rent on the city's own database is far below what the neighbouring units fetch. That gap between the controlled rent and the market rent is the whole subject of the next few slides.</a:t>
            </a:r>
          </a:p>
          <a:p>
            <a:endParaRPr/>
          </a:p>
          <a:p>
            <a:r>
              <a:t>https://www.smgov.net/departments/rentcontrol/mar.aspx</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Rent control is the mirror image: a ceiling below the market price. Renters lucky enough to hold a place gain (area A), but landlords list fewer flats, so the quantity supplied falls and a shortage opens up between what renters want and what is offered. B plus C is again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is not the only thing landlords can adjust. When they cannot raise the rent they can let maintenance slide, buy tenants out, or - illegally - make life unpleasant enough that people leave. The photographs are from rent-controlled buildings in Santa Monica.</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geography of residential properties and rent control in Cambridge, Massachusetts. Cambridge residential properties as of 2008 are marked with gray circles. Plots that were rent controlled as of 1994 are overlaid with black circles.</a:t>
            </a:r>
          </a:p>
          <a:p>
            <a:endParaRPr/>
          </a:p>
          <a:p>
            <a:r>
              <a:t>Source: Autor, Palmer and Pathak (2014), “Housing Market Spillovers: Evidence from the End of Rent Control in Cambridge, Massachusetts” — https://economics.mit.edu/files/9774</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Cambridge, Massachusetts gives us an unusually clean test. Rent control ended there suddenly in 1995, so we can compare what happened to controlled units against never-controlled units nearby. Think about your prediction for each of the three questions before we look.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results. Rents rose sharply at the decontrolled units, as you would expect - but they also rose at units nearby that were never controlled, and investment went up at both. The spillover is the surprising part: rent control was holding down the value of the whole neighbourhood, not just the controlled flats.</a:t>
            </a:r>
          </a:p>
          <a:p>
            <a:endParaRPr/>
          </a:p>
          <a:p>
            <a:r>
              <a:t>Source of all three panels: Autor, Palmer and Pathak (2014), “Housing Market Spillovers: Evidence from the End of Rent Control in Cambridge, Massachusetts”.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Magnitudes are as reported in the press, not from a study. Source: The Wall Street Journal, “Argentina Scrapped Its Rent Controls. Now the Market Is Thriving.”</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definitions we need. An externality is a cost or a benefit that lands on someone who is not part of the transaction - pollution from a power plant on one side, a well-kept front yard on the other. The gasoline number on this slide, about $1.50 a gallon in external cost, is the one we use in the worked example.</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families of fix. Price mechanisms - a tax on the harm or a subsidy for the benefit - change what the decision-maker faces and let the market find the quantity. Quantity mechanisms - quotas, standards, outright bans - set the quantity directly. Each has its place, and the next slides work through the price route.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wedge. Drivers weigh only their own cost of a gallon, so the market settles where demand meets private marginal cost. Add the external cost that everyone else bears and the socially efficient quantity is smaller. The gap between the two supply curves is the external marginal cost - about $1.50 a gallon.</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Externality of gas is approx $1.5 per gallon: https://energyathaas.wordpress.com/2015/01/05/raise-the-gas-tax/ </a:t>
            </a:r>
          </a:p>
          <a:p>
            <a:endParaRPr/>
          </a:p>
          <a:p>
            <a:r>
              <a:t>77 countries have committed to achieving net zero emissions by 2050</a:t>
            </a:r>
          </a:p>
          <a:p>
            <a:r>
              <a:t>Half of emissions cuts must be in place by 2030 to keep warming below 1.5°C</a:t>
            </a:r>
          </a:p>
          <a:p>
            <a:endParaRPr/>
          </a:p>
          <a:p>
            <a:r>
              <a:t>Carbon taxes have been implemented (or scheduled) in 46 countries</a:t>
            </a:r>
          </a:p>
          <a:p>
            <a:r>
              <a:t>$44 billion raised in carbon pricing revenues in 2018</a:t>
            </a:r>
          </a:p>
          <a:p>
            <a:endParaRPr/>
          </a:p>
          <a:p>
            <a:r>
              <a:t>But this is not enough</a:t>
            </a:r>
          </a:p>
          <a:p>
            <a:r>
              <a:t>Covers only 20% of emissions</a:t>
            </a:r>
          </a:p>
          <a:p>
            <a:r>
              <a:t>No carbon tax in the US nor in China…</a:t>
            </a:r>
          </a:p>
          <a:p>
            <a:r>
              <a:t>Incentives for Coal countries to burn their coal even faster now, before regulation goes into effect</a:t>
            </a:r>
          </a:p>
          <a:p>
            <a:endParaRPr/>
          </a:p>
          <a:p>
            <a:r>
              <a:t>Other ways of limiting emissions?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Airport noise is the same problem in a form you can hear. Every flight in and out of Santa Monica imposes a cost on the neighbourhood that the pilot does not pay, and the article shows how sharply the community has pushed back.</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where the arithmetic gets uncomfortable. Add the noise cost to the pilots' own cost and social marginal cost lies above willingness to pay at EVERY quantity - so the efficient number of flights is zero. This is a corner solution, and in Santa Monica it is close to what actually happened.</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Pulling it together. In the short run a price taker produces where MC equals price and keeps going as long as price covers average variable cost. In the long run entry and exit compete profit away. And once we intervene - or once a cost lands on someone outside the transaction - surplus and deadweight loss are how we judge who gains and who loses.</a:t>
            </a:r>
          </a:p>
        </p:txBody>
      </p:sp>
      <p:sp>
        <p:nvSpPr>
          <p:cNvPr id="4" name="Slide Number Placeholder 3"/>
          <p:cNvSpPr>
            <a:spLocks noGrp="1"/>
          </p:cNvSpPr>
          <p:nvPr>
            <p:ph type="sldNum" sz="quarter" idx="5"/>
          </p:nvPr>
        </p:nvSpPr>
        <p:spPr/>
      </p:sp>
    </p:spTree>
  </p:cSld>
  <p:clrMapOvr>
    <a:masterClrMapping/>
  </p:clrMapOvr>
</p:notes>
</file>

<file path=ppt/notesSlides/v1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start thinking about a firm’s competitive environment or market structure. We categorize market structure using three characteristics:</a:t>
            </a:r>
          </a:p>
          <a:p>
            <a:endParaRPr/>
          </a:p>
          <a:p>
            <a:r>
              <a:t>1. Number of firms: in general, when there are more companies in the market, the market is more competitive.</a:t>
            </a:r>
          </a:p>
          <a:p>
            <a:r>
              <a:t>2. Whether the consumer cares which company made the good: are the goods identical or can the consumer distinguish who made the good? In general, if goods are closer to identical, the market is more competitive.</a:t>
            </a:r>
          </a:p>
          <a:p>
            <a:r>
              <a:t>3. Barriers to entry: if new firms can enter the market easily, the market is more competitive.</a:t>
            </a:r>
          </a:p>
        </p:txBody>
      </p:sp>
      <p:sp>
        <p:nvSpPr>
          <p:cNvPr id="4" name="Slide Number Placeholder 3"/>
          <p:cNvSpPr>
            <a:spLocks noGrp="1"/>
          </p:cNvSpPr>
          <p:nvPr>
            <p:ph type="sldNum" sz="quarter" idx="5"/>
          </p:nvPr>
        </p:nvSpPr>
        <p:spPr/>
      </p:sp>
    </p:spTree>
  </p:cSld>
  <p:clrMapOvr>
    <a:masterClrMapping/>
  </p:clrMapOvr>
</p:notes>
</file>

<file path=ppt/notesSlides/v1_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Extent of market power. The spectrum runs from price taker (today’s topic) to price searchers with increasing degrees of market power (subject of subsequent sessions): </a:t>
            </a:r>
          </a:p>
          <a:p>
            <a:r>
              <a:t> </a:t>
            </a:r>
          </a:p>
          <a:p>
            <a:r>
              <a:t>A perfectly competitive firm has no market power; it has such a small percentage of the market that it can exert no effect on price. </a:t>
            </a:r>
          </a:p>
          <a:p>
            <a:r>
              <a:t> </a:t>
            </a:r>
          </a:p>
          <a:p>
            <a:r>
              <a:t>A monopolistically competitive firm, such as gas stations and restaurants, offers a differentiated product and thus faces a downward sloping demand curve – offerings of other firms are not perfect substitutes. There is still intense competition because the products can substitute for each other so the elasticity of demand facing each firm tends to be high. Free entry drives long-run profits to zero.</a:t>
            </a:r>
          </a:p>
          <a:p>
            <a:r>
              <a:t> </a:t>
            </a:r>
          </a:p>
          <a:p>
            <a:r>
              <a:t>Oligopolistic markets are cases of few firms. For example, a duopoly is a special case of an oligopoly with only 2 firms. Interesting strategic issues arise here as you need to think hard about your rivals’ response to your firm’s behavior. Entry may be limited.</a:t>
            </a:r>
          </a:p>
          <a:p>
            <a:r>
              <a:t> </a:t>
            </a:r>
          </a:p>
          <a:p>
            <a:r>
              <a:t>Monopolistic markets are markets with only one seller, such as utilities in most cities (legal monopoly) or Microsoft (quasi-monopoly, due to demand-side economies of scale, i.e. network effects).</a:t>
            </a:r>
          </a:p>
        </p:txBody>
      </p:sp>
      <p:sp>
        <p:nvSpPr>
          <p:cNvPr id="4" name="Slide Number Placeholder 3"/>
          <p:cNvSpPr>
            <a:spLocks noGrp="1"/>
          </p:cNvSpPr>
          <p:nvPr>
            <p:ph type="sldNum" sz="quarter" idx="5"/>
          </p:nvPr>
        </p:nvSpPr>
        <p:spPr/>
      </p:sp>
    </p:spTree>
  </p:cSld>
  <p:clrMapOvr>
    <a:masterClrMapping/>
  </p:clrMapOvr>
</p:notes>
</file>

<file path=ppt/notesSlides/v2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Characteristics of a price taker market. Today we focus on perfect competition. For a market to be perfectly competitive, three conditions must be satisfied:</a:t>
            </a:r>
          </a:p>
          <a:p>
            <a:endParaRPr/>
          </a:p>
          <a:p>
            <a:r>
              <a:t>There are many firms. Thus, the impact of any one firm on the market equilibrium is negligible. </a:t>
            </a:r>
          </a:p>
          <a:p>
            <a:r>
              <a:t>All firms produce an identical product.</a:t>
            </a:r>
          </a:p>
          <a:p>
            <a:r>
              <a:t>There are no barriers to entry.</a:t>
            </a:r>
          </a:p>
          <a:p>
            <a:endParaRPr/>
          </a:p>
          <a:p>
            <a:r>
              <a:t>The implications of these conditions is that firms in perfectly competitive markets are price takers, i.e. they do not have discretion over the price to charge. In the case of price takers, they face perfectly elastic demand (horizontal demand curve), there is no product differentiation, and they cannot deviate in price. Examples include Indian rice producers, sellers of currency, etc. If the firm chooses a price above the market price, the firm will lose all sales. Since the firm can sell as much as it would like at the market price, it has no incentive to sell at a quantity below the market price.</a:t>
            </a:r>
          </a:p>
          <a:p>
            <a:endParaRPr/>
          </a:p>
          <a:p>
            <a:r>
              <a:t>Why study perfect competition? There are 3 main reasons:</a:t>
            </a:r>
          </a:p>
          <a:p>
            <a:r>
              <a:t> </a:t>
            </a:r>
          </a:p>
          <a:p>
            <a:r>
              <a:t>You need to understand how perfectly competitive markets around you function. For instance, the bond market, the currency markets, commodity markets, labor markets, etc, where price taking behavior is frequent. </a:t>
            </a:r>
          </a:p>
          <a:p>
            <a:r>
              <a:t>You might have to act in perfectly competitive markets on occasion.</a:t>
            </a:r>
          </a:p>
          <a:p>
            <a:r>
              <a:t>By understanding perfect competition in depth you can come up with ways to make the market in which you operate look more like an imperfect competition market. This is what businesses do – differentiate, raise barriers to entry, gain market power.</a:t>
            </a:r>
          </a:p>
        </p:txBody>
      </p:sp>
      <p:sp>
        <p:nvSpPr>
          <p:cNvPr id="4" name="Slide Number Placeholder 3"/>
          <p:cNvSpPr>
            <a:spLocks noGrp="1"/>
          </p:cNvSpPr>
          <p:nvPr>
            <p:ph type="sldNum" sz="quarter" idx="5"/>
          </p:nvPr>
        </p:nvSpPr>
        <p:spPr/>
      </p:sp>
    </p:spTree>
  </p:cSld>
  <p:clrMapOvr>
    <a:masterClrMapping/>
  </p:clrMapOvr>
</p:notes>
</file>

<file path=ppt/notesSlides/v2_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slides explain the relationship between the market vs. the firm demand. It shows where the demand a price taker is coming from = market price, determined by the market equilibrium.</a:t>
            </a:r>
          </a:p>
          <a:p>
            <a:r>
              <a:t>Now, let’s turn to see how a price taker maximizes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v2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intuition behind price taking. A single wheat farmer who tries to charge more than the going price simply sells nothing, because buyers have thousands of identical alternatives. That is what we mean when we say the firm faces a horizontal demand curve at the market price.</a:t>
            </a:r>
          </a:p>
        </p:txBody>
      </p:sp>
      <p:sp>
        <p:nvSpPr>
          <p:cNvPr id="4" name="Slide Number Placeholder 3"/>
          <p:cNvSpPr>
            <a:spLocks noGrp="1"/>
          </p:cNvSpPr>
          <p:nvPr>
            <p:ph type="sldNum" sz="quarter" idx="5"/>
          </p:nvPr>
        </p:nvSpPr>
        <p:spPr/>
      </p:sp>
    </p:spTree>
  </p:cSld>
  <p:clrMapOvr>
    <a:masterClrMapping/>
  </p:clrMapOvr>
</p:notes>
</file>

<file path=ppt/notesSlides/v3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a price taker, revenue is simple: every extra unit sells at the same market price, so marginal revenue equals that price and never falls. This is the one case where MR = P, and it is why the profit-maximising rule collapses to P = MC. Keep that in mind, because it will not hold once we get to firms with market power.</a:t>
            </a:r>
          </a:p>
        </p:txBody>
      </p:sp>
      <p:sp>
        <p:nvSpPr>
          <p:cNvPr id="4" name="Slide Number Placeholder 3"/>
          <p:cNvSpPr>
            <a:spLocks noGrp="1"/>
          </p:cNvSpPr>
          <p:nvPr>
            <p:ph type="sldNum" sz="quarter" idx="5"/>
          </p:nvPr>
        </p:nvSpPr>
        <p:spPr/>
      </p:sp>
    </p:spTree>
  </p:cSld>
  <p:clrMapOvr>
    <a:masterClrMapping/>
  </p:clrMapOvr>
</p:notes>
</file>

<file path=ppt/notesSlides/v3_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perfectly competitive firm sells at the price set by the market. Perfectly competitive firms then have one decision to make: the quantity to supply.</a:t>
            </a:r>
          </a:p>
        </p:txBody>
      </p:sp>
      <p:sp>
        <p:nvSpPr>
          <p:cNvPr id="4" name="Slide Number Placeholder 3"/>
          <p:cNvSpPr>
            <a:spLocks noGrp="1"/>
          </p:cNvSpPr>
          <p:nvPr>
            <p:ph type="sldNum" sz="quarter" idx="5"/>
          </p:nvPr>
        </p:nvSpPr>
        <p:spPr/>
      </p:sp>
    </p:spTree>
  </p:cSld>
  <p:clrMapOvr>
    <a:masterClrMapping/>
  </p:clrMapOvr>
</p:notes>
</file>

<file path=ppt/notesSlides/v3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profit maximisation seen through totals rather than margins. Total revenue is a straight line because price is constant; total cost rises and then curves up as diminishing returns bite. Profit is the vertical gap between them, and it is widest exactly where the two curves are parallel - which is the same thing as saying marginal revenue equals marginal cost.</a:t>
            </a:r>
          </a:p>
        </p:txBody>
      </p:sp>
      <p:sp>
        <p:nvSpPr>
          <p:cNvPr id="4" name="Slide Number Placeholder 3"/>
          <p:cNvSpPr>
            <a:spLocks noGrp="1"/>
          </p:cNvSpPr>
          <p:nvPr>
            <p:ph type="sldNum" sz="quarter" idx="5"/>
          </p:nvPr>
        </p:nvSpPr>
        <p:spPr/>
      </p:sp>
    </p:spTree>
  </p:cSld>
  <p:clrMapOvr>
    <a:masterClrMapping/>
  </p:clrMapOvr>
</p:notes>
</file>

<file path=ppt/notesSlides/v3_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Meet the Yi family. They have moved from California to rural Arkansas to grow Korean cabbage and sell it to vendors in Dallas at whatever the market price happens to be. We will follow their cabbage crop for the rest of this section, so every abstract rule gets tested against a real set of numbers.</a:t>
            </a:r>
          </a:p>
          <a:p>
            <a:endParaRPr/>
          </a:p>
          <a:p>
            <a:r>
              <a:t>https://www.vulture.com/article/minari-movie-review-a-gentle-immigrant-drama-set-in-u-s.html</a:t>
            </a:r>
          </a:p>
          <a:p>
            <a:r>
              <a:t>https://time.com/5938842/minari-korean-american-farmers/</a:t>
            </a:r>
          </a:p>
        </p:txBody>
      </p:sp>
      <p:sp>
        <p:nvSpPr>
          <p:cNvPr id="4" name="Slide Number Placeholder 3"/>
          <p:cNvSpPr>
            <a:spLocks noGrp="1"/>
          </p:cNvSpPr>
          <p:nvPr>
            <p:ph type="sldNum" sz="quarter" idx="5"/>
          </p:nvPr>
        </p:nvSpPr>
        <p:spPr/>
      </p:sp>
    </p:spTree>
  </p:cSld>
  <p:clrMapOvr>
    <a:masterClrMapping/>
  </p:clrMapOvr>
</p:notes>
</file>

<file path=ppt/notesSlides/v3_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matters to you as a manager: almost no business is a textbook price taker, but many face something close to it in at least one market - a commodity input, a contract-manufacturing line, a spot market. The discipline of asking what you can and cannot influence about your price is the useful part.</a:t>
            </a:r>
          </a:p>
          <a:p>
            <a:endParaRPr/>
          </a:p>
          <a:p>
            <a:r>
              <a:t>In bullet number 2: emphasize that no price decision since we are price takers</a:t>
            </a:r>
          </a:p>
        </p:txBody>
      </p:sp>
      <p:sp>
        <p:nvSpPr>
          <p:cNvPr id="4" name="Slide Number Placeholder 3"/>
          <p:cNvSpPr>
            <a:spLocks noGrp="1"/>
          </p:cNvSpPr>
          <p:nvPr>
            <p:ph type="sldNum" sz="quarter" idx="5"/>
          </p:nvPr>
        </p:nvSpPr>
        <p:spPr/>
      </p:sp>
    </p:spTree>
  </p:cSld>
  <p:clrMapOvr>
    <a:masterClrMapping/>
  </p:clrMapOvr>
</p:notes>
</file>

<file path=ppt/notesSlides/v3_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 for the costs: https://ucanr.edu/sites/Farm_Management/files/179212.pdf</a:t>
            </a:r>
          </a:p>
          <a:p>
            <a:r>
              <a:t>Opportunity costs: salary from working somewhere else, estimated at about 15k</a:t>
            </a:r>
          </a:p>
          <a:p>
            <a:endParaRPr/>
          </a:p>
          <a:p>
            <a:r>
              <a:t>Quantity in tons</a:t>
            </a:r>
          </a:p>
          <a:p>
            <a:endParaRPr/>
          </a:p>
          <a:p>
            <a:r>
              <a:t>Fixed Costs: land rent, equipment + opportunity costs</a:t>
            </a:r>
          </a:p>
          <a:p>
            <a:r>
              <a:t>Variable Costs: seeds, water, fertilizers, pesticides</a:t>
            </a:r>
          </a:p>
          <a:p>
            <a:endParaRPr/>
          </a:p>
          <a:p>
            <a:r>
              <a:t>Images: right (water), top left (fertilizers), bottom left (seeds)</a:t>
            </a:r>
          </a:p>
        </p:txBody>
      </p:sp>
      <p:sp>
        <p:nvSpPr>
          <p:cNvPr id="4" name="Slide Number Placeholder 3"/>
          <p:cNvSpPr>
            <a:spLocks noGrp="1"/>
          </p:cNvSpPr>
          <p:nvPr>
            <p:ph type="sldNum" sz="quarter" idx="5"/>
          </p:nvPr>
        </p:nvSpPr>
        <p:spPr/>
      </p:sp>
    </p:spTree>
  </p:cSld>
  <p:clrMapOvr>
    <a:masterClrMapping/>
  </p:clrMapOvr>
</p:notes>
</file>

<file path=ppt/notesSlides/v3_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Yi family's cost function. The fixed cost of 60,000 dollars is the land and equipment they are committed to for the season. The variable part rises more than proportionally with output, which is exactly the diminishing returns we saw in Module 3 showing up in dollars.</a:t>
            </a:r>
          </a:p>
          <a:p>
            <a:endParaRPr/>
          </a:p>
          <a:p>
            <a:r>
              <a:t>Source for the costs: https://ucanr.edu/sites/Farm_Management/files/179212.pdf</a:t>
            </a:r>
          </a:p>
          <a:p>
            <a:r>
              <a:t>Opportunity costs: salary from working somewhere else, estimated at about 15k</a:t>
            </a:r>
          </a:p>
        </p:txBody>
      </p:sp>
      <p:sp>
        <p:nvSpPr>
          <p:cNvPr id="4" name="Slide Number Placeholder 3"/>
          <p:cNvSpPr>
            <a:spLocks noGrp="1"/>
          </p:cNvSpPr>
          <p:nvPr>
            <p:ph type="sldNum" sz="quarter" idx="5"/>
          </p:nvPr>
        </p:nvSpPr>
        <p:spPr/>
      </p:sp>
    </p:spTree>
  </p:cSld>
  <p:clrMapOvr>
    <a:masterClrMapping/>
  </p:clrMapOvr>
</p:notes>
</file>

<file path=ppt/notesSlides/v3_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Market price: $400 per ton is about $20 per cwt, which is the USDA season-average price for fresh-market cabbage in 2020. Recent years run higher — $31.10 per cwt in 2024.</a:t>
            </a:r>
          </a:p>
          <a:p>
            <a:r>
              <a:t>https://www.agmrc.org/commodities-products/vegetables/cabbage</a:t>
            </a:r>
          </a:p>
        </p:txBody>
      </p:sp>
      <p:sp>
        <p:nvSpPr>
          <p:cNvPr id="4" name="Slide Number Placeholder 3"/>
          <p:cNvSpPr>
            <a:spLocks noGrp="1"/>
          </p:cNvSpPr>
          <p:nvPr>
            <p:ph type="sldNum" sz="quarter" idx="5"/>
          </p:nvPr>
        </p:nvSpPr>
        <p:spPr/>
      </p:sp>
    </p:spTree>
  </p:cSld>
  <p:clrMapOvr>
    <a:masterClrMapping/>
  </p:clrMapOvr>
</p:notes>
</file>

<file path=ppt/notesSlides/v3_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 through the algebra with me. Marginal cost is the derivative of total cost, we set it equal to the market price, and we solve for quantity. The answer is the only output level at which the family cannot do better by producing one more or one less ton.</a:t>
            </a:r>
          </a:p>
        </p:txBody>
      </p:sp>
      <p:sp>
        <p:nvSpPr>
          <p:cNvPr id="4" name="Slide Number Placeholder 3"/>
          <p:cNvSpPr>
            <a:spLocks noGrp="1"/>
          </p:cNvSpPr>
          <p:nvPr>
            <p:ph type="sldNum" sz="quarter" idx="5"/>
          </p:nvPr>
        </p:nvSpPr>
        <p:spPr/>
      </p:sp>
    </p:spTree>
  </p:cSld>
  <p:clrMapOvr>
    <a:masterClrMapping/>
  </p:clrMapOvr>
</p:notes>
</file>

<file path=ppt/notesSlides/v3_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profit itself. We take the optimal quantity, compute total revenue and total cost at that quantity, and take the difference. Notice that the answer is positive here - that will not always be the case, and the rest of this section is about what to do when it is not.</a:t>
            </a:r>
          </a:p>
        </p:txBody>
      </p:sp>
      <p:sp>
        <p:nvSpPr>
          <p:cNvPr id="4" name="Slide Number Placeholder 3"/>
          <p:cNvSpPr>
            <a:spLocks noGrp="1"/>
          </p:cNvSpPr>
          <p:nvPr>
            <p:ph type="sldNum" sz="quarter" idx="5"/>
          </p:nvPr>
        </p:nvSpPr>
        <p:spPr/>
      </p:sp>
    </p:spTree>
  </p:cSld>
  <p:clrMapOvr>
    <a:masterClrMapping/>
  </p:clrMapOvr>
</p:notes>
</file>

<file path=ppt/notesSlides/v3_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total cost is the second lens on the same problem. Total cost divided by quantity tells you what each ton costs on average, and comparing that to the price tells you immediately whether you are making money. It is the version of the calculation that most managers actually carry in their head.</a:t>
            </a:r>
          </a:p>
        </p:txBody>
      </p:sp>
      <p:sp>
        <p:nvSpPr>
          <p:cNvPr id="4" name="Slide Number Placeholder 3"/>
          <p:cNvSpPr>
            <a:spLocks noGrp="1"/>
          </p:cNvSpPr>
          <p:nvPr>
            <p:ph type="sldNum" sz="quarter" idx="5"/>
          </p:nvPr>
        </p:nvSpPr>
        <p:spPr/>
      </p:sp>
    </p:spTree>
  </p:cSld>
  <p:clrMapOvr>
    <a:masterClrMapping/>
  </p:clrMapOvr>
</p:notes>
</file>

<file path=ppt/notesSlides/v3_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picture behind the arithmetic. The height of the shaded box is price minus average total cost - the profit on each ton - and the width is the number of tons. Multiply the two and you have total profit, which is why the box is the profit.</a:t>
            </a:r>
          </a:p>
        </p:txBody>
      </p:sp>
      <p:sp>
        <p:nvSpPr>
          <p:cNvPr id="4" name="Slide Number Placeholder 3"/>
          <p:cNvSpPr>
            <a:spLocks noGrp="1"/>
          </p:cNvSpPr>
          <p:nvPr>
            <p:ph type="sldNum" sz="quarter" idx="5"/>
          </p:nvPr>
        </p:nvSpPr>
        <p:spPr/>
      </p:sp>
    </p:spTree>
  </p:cSld>
  <p:clrMapOvr>
    <a:masterClrMapping/>
  </p:clrMapOvr>
</p:notes>
</file>

<file path=ppt/notesSlides/v3_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measure profit, we subtract total cost from total revenue.</a:t>
            </a:r>
          </a:p>
          <a:p>
            <a:endParaRPr/>
          </a:p>
          <a:p>
            <a:r>
              <a:t>Profit = TR – TC</a:t>
            </a:r>
          </a:p>
          <a:p>
            <a:r>
              <a:t>We can rewrite this as:</a:t>
            </a:r>
          </a:p>
          <a:p>
            <a:r>
              <a:t>Profit = P*Q – ATC*Q</a:t>
            </a:r>
          </a:p>
          <a:p>
            <a:r>
              <a:t>Profit = (P – ATC)*Q</a:t>
            </a:r>
          </a:p>
          <a:p>
            <a:endParaRPr/>
          </a:p>
          <a:p>
            <a:r>
              <a:t>This formula determines whether the firm has positive, zero, or negative profit.</a:t>
            </a:r>
          </a:p>
          <a:p>
            <a:endParaRPr/>
          </a:p>
          <a:p>
            <a:r>
              <a:t>Positive profit: In this figure, the firm’s total revenue is the area of the rectangle with height P and width Q*. The total cost is the area of the rectangle with the height ATC* and the width Q*. Because total revenue exceeds total costs at Q*, the firm is earning positive profits. This equation tells us that profit is positive when P&gt;ATC at the profit maximizing quantity Q*. </a:t>
            </a:r>
          </a:p>
          <a:p>
            <a:endParaRPr/>
          </a:p>
          <a:p>
            <a:r>
              <a:t>Zero profit: Here P=ATC (=MC). We know that MC intersects ATC at its minimum. </a:t>
            </a:r>
          </a:p>
          <a:p>
            <a:endParaRPr/>
          </a:p>
          <a:p>
            <a:r>
              <a:t>Negative profit: P&lt;ATC</a:t>
            </a:r>
          </a:p>
        </p:txBody>
      </p:sp>
      <p:sp>
        <p:nvSpPr>
          <p:cNvPr id="4" name="Slide Number Placeholder 3"/>
          <p:cNvSpPr>
            <a:spLocks noGrp="1"/>
          </p:cNvSpPr>
          <p:nvPr>
            <p:ph type="sldNum" sz="quarter" idx="5"/>
          </p:nvPr>
        </p:nvSpPr>
        <p:spPr/>
      </p:sp>
    </p:spTree>
  </p:cSld>
  <p:clrMapOvr>
    <a:masterClrMapping/>
  </p:clrMapOvr>
</p:notes>
</file>

<file path=ppt/notesSlides/v3_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question that trips people up. If profit is negative, should the firm stop? Not necessarily - the fixed costs are owed either way in the short run, so the only question is whether revenue covers the costs that producing actually adds. That is the distinction the next slide makes precise.</a:t>
            </a:r>
          </a:p>
        </p:txBody>
      </p:sp>
      <p:sp>
        <p:nvSpPr>
          <p:cNvPr id="4" name="Slide Number Placeholder 3"/>
          <p:cNvSpPr>
            <a:spLocks noGrp="1"/>
          </p:cNvSpPr>
          <p:nvPr>
            <p:ph type="sldNum" sz="quarter" idx="5"/>
          </p:nvPr>
        </p:nvSpPr>
        <p:spPr/>
      </p:sp>
    </p:spTree>
  </p:cSld>
  <p:clrMapOvr>
    <a:masterClrMapping/>
  </p:clrMapOvr>
</p:notes>
</file>

<file path=ppt/notesSlides/v3_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short-run rule in one line. Compare price to average VARIABLE cost, not to average total cost. If price covers the variable cost of each unit, producing contributes something towards the fixed costs and the firm should keep going; if it does not, producing makes the loss bigger than the fixed costs alone.</a:t>
            </a:r>
          </a:p>
        </p:txBody>
      </p:sp>
      <p:sp>
        <p:nvSpPr>
          <p:cNvPr id="4" name="Slide Number Placeholder 3"/>
          <p:cNvSpPr>
            <a:spLocks noGrp="1"/>
          </p:cNvSpPr>
          <p:nvPr>
            <p:ph type="sldNum" sz="quarter" idx="5"/>
          </p:nvPr>
        </p:nvSpPr>
        <p:spPr/>
      </p:sp>
    </p:spTree>
  </p:cSld>
  <p:clrMapOvr>
    <a:masterClrMapping/>
  </p:clrMapOvr>
</p:notes>
</file>

<file path=ppt/notesSlides/v3_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market moves against the Yi family. Cheap Chinese imports push the US price down from 400 to 210 dollars a ton. Work through the three questions with the person next to you before we look at the answer - the numbers are all on the earlier slides.</a:t>
            </a:r>
          </a:p>
          <a:p>
            <a:endParaRPr/>
          </a:p>
          <a:p>
            <a:r>
              <a:t>Questions 2 and 3 solved by instructor</a:t>
            </a:r>
          </a:p>
        </p:txBody>
      </p:sp>
      <p:sp>
        <p:nvSpPr>
          <p:cNvPr id="4" name="Slide Number Placeholder 3"/>
          <p:cNvSpPr>
            <a:spLocks noGrp="1"/>
          </p:cNvSpPr>
          <p:nvPr>
            <p:ph type="sldNum" sz="quarter" idx="5"/>
          </p:nvPr>
        </p:nvSpPr>
        <p:spPr/>
      </p:sp>
    </p:spTree>
  </p:cSld>
  <p:clrMapOvr>
    <a:masterClrMapping/>
  </p:clrMapOvr>
</p:notes>
</file>

<file path=ppt/notesSlides/v3_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new optimum. Same rule, new price: set marginal cost equal to 210 and solve. The quantity falls, and when we compute profit at that quantity it is now negative - so the interesting question is the one on the next slide.</a:t>
            </a:r>
          </a:p>
        </p:txBody>
      </p:sp>
      <p:sp>
        <p:nvSpPr>
          <p:cNvPr id="4" name="Slide Number Placeholder 3"/>
          <p:cNvSpPr>
            <a:spLocks noGrp="1"/>
          </p:cNvSpPr>
          <p:nvPr>
            <p:ph type="sldNum" sz="quarter" idx="5"/>
          </p:nvPr>
        </p:nvSpPr>
        <p:spPr/>
      </p:sp>
    </p:spTree>
  </p:cSld>
  <p:clrMapOvr>
    <a:masterClrMapping/>
  </p:clrMapOvr>
</p:notes>
</file>

<file path=ppt/notesSlides/v3_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the decision. At the new price the family loses money, but price still exceeds average variable cost, so every ton they sell contributes something towards the land and equipment they are paying for anyway. They should keep producing through the season and reconsider in the long run.</a:t>
            </a:r>
          </a:p>
        </p:txBody>
      </p:sp>
      <p:sp>
        <p:nvSpPr>
          <p:cNvPr id="4" name="Slide Number Placeholder 3"/>
          <p:cNvSpPr>
            <a:spLocks noGrp="1"/>
          </p:cNvSpPr>
          <p:nvPr>
            <p:ph type="sldNum" sz="quarter" idx="5"/>
          </p:nvPr>
        </p:nvSpPr>
        <p:spPr/>
      </p:sp>
    </p:spTree>
  </p:cSld>
  <p:clrMapOvr>
    <a:masterClrMapping/>
  </p:clrMapOvr>
</p:notes>
</file>

<file path=ppt/notesSlides/v3_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slides, say that we show them in the general case (MC not linear)</a:t>
            </a:r>
          </a:p>
          <a:p>
            <a:r>
              <a:t>Context: At the beginning can sell at a very high price… Profit maximization in the short run. This figure depicts positive profit in the short run.</a:t>
            </a:r>
          </a:p>
        </p:txBody>
      </p:sp>
      <p:sp>
        <p:nvSpPr>
          <p:cNvPr id="4" name="Slide Number Placeholder 3"/>
          <p:cNvSpPr>
            <a:spLocks noGrp="1"/>
          </p:cNvSpPr>
          <p:nvPr>
            <p:ph type="sldNum" sz="quarter" idx="5"/>
          </p:nvPr>
        </p:nvSpPr>
        <p:spPr/>
      </p:sp>
    </p:spTree>
  </p:cSld>
  <p:clrMapOvr>
    <a:masterClrMapping/>
  </p:clrMapOvr>
</p:notes>
</file>

<file path=ppt/notesSlides/v3_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logic on a more realistic cost function, where average variable cost is U-shaped rather than rising throughout. Optimal output is still where marginal cost meets price. Here price sits above average total cost at that quantity, so the shaded rectangle is genuine economic profit.</a:t>
            </a:r>
          </a:p>
        </p:txBody>
      </p:sp>
      <p:sp>
        <p:nvSpPr>
          <p:cNvPr id="4" name="Slide Number Placeholder 3"/>
          <p:cNvSpPr>
            <a:spLocks noGrp="1"/>
          </p:cNvSpPr>
          <p:nvPr>
            <p:ph type="sldNum" sz="quarter" idx="5"/>
          </p:nvPr>
        </p:nvSpPr>
        <p:spPr/>
      </p:sp>
    </p:spTree>
  </p:cSld>
  <p:clrMapOvr>
    <a:masterClrMapping/>
  </p:clrMapOvr>
</p:notes>
</file>

<file path=ppt/notesSlides/v3_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general case at a lower price. Q* is still where MC meets P, but now price is below average total cost, so the rectangle is a loss. The firm keeps producing anyway, because price is still above average variable cost.</a:t>
            </a:r>
          </a:p>
        </p:txBody>
      </p:sp>
      <p:sp>
        <p:nvSpPr>
          <p:cNvPr id="4" name="Slide Number Placeholder 3"/>
          <p:cNvSpPr>
            <a:spLocks noGrp="1"/>
          </p:cNvSpPr>
          <p:nvPr>
            <p:ph type="sldNum" sz="quarter" idx="5"/>
          </p:nvPr>
        </p:nvSpPr>
        <p:spPr/>
      </p:sp>
    </p:spTree>
  </p:cSld>
  <p:clrMapOvr>
    <a:masterClrMapping/>
  </p:clrMapOvr>
</p:notes>
</file>

<file path=ppt/notesSlides/v3_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loss case on the complex cost function. Notice that nothing about the rule changed - only where the price line happens to sit relative to the two average-cost curves.</a:t>
            </a:r>
          </a:p>
        </p:txBody>
      </p:sp>
      <p:sp>
        <p:nvSpPr>
          <p:cNvPr id="4" name="Slide Number Placeholder 3"/>
          <p:cNvSpPr>
            <a:spLocks noGrp="1"/>
          </p:cNvSpPr>
          <p:nvPr>
            <p:ph type="sldNum" sz="quarter" idx="5"/>
          </p:nvPr>
        </p:nvSpPr>
        <p:spPr/>
      </p:sp>
    </p:spTree>
  </p:cSld>
  <p:clrMapOvr>
    <a:masterClrMapping/>
  </p:clrMapOvr>
</p:notes>
</file>

<file path=ppt/notesSlides/v3_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lowest price case. Here the price line lies below average variable cost at every output, so there is no quantity at which producing helps. The firm stops production and eats the fixed costs.</a:t>
            </a:r>
          </a:p>
        </p:txBody>
      </p:sp>
      <p:sp>
        <p:nvSpPr>
          <p:cNvPr id="4" name="Slide Number Placeholder 3"/>
          <p:cNvSpPr>
            <a:spLocks noGrp="1"/>
          </p:cNvSpPr>
          <p:nvPr>
            <p:ph type="sldNum" sz="quarter" idx="5"/>
          </p:nvPr>
        </p:nvSpPr>
        <p:spPr/>
      </p:sp>
    </p:spTree>
  </p:cSld>
  <p:clrMapOvr>
    <a:masterClrMapping/>
  </p:clrMapOvr>
</p:notes>
</file>

<file path=ppt/notesSlides/v3_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same conclusion on the complex cost function. Because marginal cost really does dip below average variable cost here, there IS a quantity where MC equals P - but price is still below AVC at that quantity, so producing would lose more than the fixed costs. Stopping is still right.</a:t>
            </a:r>
          </a:p>
        </p:txBody>
      </p:sp>
      <p:sp>
        <p:nvSpPr>
          <p:cNvPr id="4" name="Slide Number Placeholder 3"/>
          <p:cNvSpPr>
            <a:spLocks noGrp="1"/>
          </p:cNvSpPr>
          <p:nvPr>
            <p:ph type="sldNum" sz="quarter" idx="5"/>
          </p:nvPr>
        </p:nvSpPr>
        <p:spPr/>
      </p:sp>
    </p:spTree>
  </p:cSld>
  <p:clrMapOvr>
    <a:masterClrMapping/>
  </p:clrMapOvr>
</p:notes>
</file>

<file path=ppt/notesSlides/v3_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A coffee bean producer, marginal cost of 10, average variable cost of 12, and a market price you can read off the slide. Decide what they should do before we work it through.</a:t>
            </a:r>
          </a:p>
        </p:txBody>
      </p:sp>
      <p:sp>
        <p:nvSpPr>
          <p:cNvPr id="4" name="Slide Number Placeholder 3"/>
          <p:cNvSpPr>
            <a:spLocks noGrp="1"/>
          </p:cNvSpPr>
          <p:nvPr>
            <p:ph type="sldNum" sz="quarter" idx="5"/>
          </p:nvPr>
        </p:nvSpPr>
        <p:spPr/>
      </p:sp>
    </p:spTree>
  </p:cSld>
  <p:clrMapOvr>
    <a:masterClrMapping/>
  </p:clrMapOvr>
</p:notes>
</file>

<file path=ppt/notesSlides/v3_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The Coffee Bean Producer Should...
https://www.polleverywhere.com/multiple_choice_polls/sry3DICjteteqyV1Ny4gL?state=opened&amp;flow=Default&amp;onscreen=persist</a:t>
            </a:r>
          </a:p>
        </p:txBody>
      </p:sp>
      <p:sp>
        <p:nvSpPr>
          <p:cNvPr id="4" name="Slide Number Placeholder 3"/>
          <p:cNvSpPr>
            <a:spLocks noGrp="1"/>
          </p:cNvSpPr>
          <p:nvPr>
            <p:ph type="sldNum" sz="quarter" idx="5"/>
          </p:nvPr>
        </p:nvSpPr>
        <p:spPr/>
        <p:txBody>
          <a:bodyPr/>
          <a:lstStyle/>
          <a:p>
            <a:fld id="{C5A79474-3F6C-4F5A-AEB7-943304FF46E0}" type="slidenum">
              <a:rPr lang="en-US" smtClean="0"/>
              <a:t>29</a:t>
            </a:fld>
            <a:endParaRPr lang="en-US"/>
          </a:p>
        </p:txBody>
      </p:sp>
      <p:sp>
        <p:nvSpPr>
          <p:cNvPr id="5" name="TextBox 4">
            <a:extLst>
              <a:ext uri="{FF2B5EF4-FFF2-40B4-BE49-F238E27FC236}">
                <a16:creationId xmlns:a16="http://schemas.microsoft.com/office/drawing/2014/main" id="{AA3E9647-4D33-E488-B5CB-ECE5EC715DC4}"/>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470976391"/>
      </p:ext>
    </p:extLst>
  </p:cSld>
  <p:clrMapOvr>
    <a:masterClrMapping/>
  </p:clrMapOvr>
</p:notes>
</file>

<file path=ppt/notesSlides/v3_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answer. The output level is already profit-maximising, because for a price taker marginal cost equals price - so price is 10. But average variable cost is 12, which means every unit sold loses money on its own variable cost. Stop production; the fixed costs still have to be paid, and that is the smaller loss.</a:t>
            </a:r>
          </a:p>
        </p:txBody>
      </p:sp>
      <p:sp>
        <p:nvSpPr>
          <p:cNvPr id="4" name="Slide Number Placeholder 3"/>
          <p:cNvSpPr>
            <a:spLocks noGrp="1"/>
          </p:cNvSpPr>
          <p:nvPr>
            <p:ph type="sldNum" sz="quarter" idx="5"/>
          </p:nvPr>
        </p:nvSpPr>
        <p:spPr/>
      </p:sp>
    </p:spTree>
  </p:cSld>
  <p:clrMapOvr>
    <a:masterClrMapping/>
  </p:clrMapOvr>
</p:notes>
</file>

<file path=ppt/notesSlides/v3_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from this section on one slide. Find the quantity where marginal cost equals price, then use the price-versus-AVC test to decide whether to produce at all. Problem Set 3 works through both steps on new numbers.</a:t>
            </a:r>
          </a:p>
        </p:txBody>
      </p:sp>
      <p:sp>
        <p:nvSpPr>
          <p:cNvPr id="4" name="Slide Number Placeholder 3"/>
          <p:cNvSpPr>
            <a:spLocks noGrp="1"/>
          </p:cNvSpPr>
          <p:nvPr>
            <p:ph type="sldNum" sz="quarter" idx="5"/>
          </p:nvPr>
        </p:nvSpPr>
        <p:spPr/>
      </p:sp>
    </p:spTree>
  </p:cSld>
  <p:clrMapOvr>
    <a:masterClrMapping/>
  </p:clrMapOvr>
</p:notes>
</file>

<file path=ppt/notesSlides/v4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price taker’s supply curve. We can trace out the supply curve of the firm.</a:t>
            </a:r>
          </a:p>
          <a:p>
            <a:r>
              <a:t>At P = 210, you maximize profits by producing 187.5 tons.</a:t>
            </a:r>
          </a:p>
          <a:p>
            <a:r>
              <a:t>At P = 400, you expand more.</a:t>
            </a:r>
          </a:p>
          <a:p>
            <a:r>
              <a:t>Bottom line: the MC curve is the firm’s short-run supply curve. We can draw the supply curve.</a:t>
            </a:r>
          </a:p>
        </p:txBody>
      </p:sp>
      <p:sp>
        <p:nvSpPr>
          <p:cNvPr id="4" name="Slide Number Placeholder 3"/>
          <p:cNvSpPr>
            <a:spLocks noGrp="1"/>
          </p:cNvSpPr>
          <p:nvPr>
            <p:ph type="sldNum" sz="quarter" idx="5"/>
          </p:nvPr>
        </p:nvSpPr>
        <p:spPr/>
      </p:sp>
    </p:spTree>
  </p:cSld>
  <p:clrMapOvr>
    <a:masterClrMapping/>
  </p:clrMapOvr>
</p:notes>
</file>

<file path=ppt/notesSlides/v4_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change the firm's costs and watch what happens. High-yield seeds cut the marginal cost of every ton by the same amount, so the MC curve shifts down in parallel. At the unchanged market price the farmer's optimum moves out from q0 to q1 - lower costs mean more output, not just more profit per ton.</a:t>
            </a:r>
          </a:p>
          <a:p>
            <a:endParaRPr/>
          </a:p>
          <a:p>
            <a:r>
              <a:t>Example: the Yi family starts using new high-yield seeds</a:t>
            </a:r>
          </a:p>
        </p:txBody>
      </p:sp>
      <p:sp>
        <p:nvSpPr>
          <p:cNvPr id="4" name="Slide Number Placeholder 3"/>
          <p:cNvSpPr>
            <a:spLocks noGrp="1"/>
          </p:cNvSpPr>
          <p:nvPr>
            <p:ph type="sldNum" sz="quarter" idx="5"/>
          </p:nvPr>
        </p:nvSpPr>
        <p:spPr/>
      </p:sp>
    </p:spTree>
  </p:cSld>
  <p:clrMapOvr>
    <a:masterClrMapping/>
  </p:clrMapOvr>
</p:notes>
</file>

<file path=ppt/notesSlides/v4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assume every farmers are using those new high-yield seeds.</a:t>
            </a:r>
          </a:p>
          <a:p>
            <a:r>
              <a:t>First, you see the effect on the individual farmer we just saw on the previous slide. However, because all farmers face lower costs, this changes the market supply: downward shift of the market supply curve, leading to a lower market price and higher aggregate quantity.</a:t>
            </a:r>
          </a:p>
          <a:p>
            <a:r>
              <a:t>New market price = new demand curve for the individual farmer, so that the new quantity provided by the farmer is the intersection of this new D curve with the new MC curve (MC’ and MR’). The farmer produces more than before, but less than if he/she was the only one to have the new seeds (which would be the quantity given by the intersection of MC’ and MR)</a:t>
            </a:r>
          </a:p>
        </p:txBody>
      </p:sp>
      <p:sp>
        <p:nvSpPr>
          <p:cNvPr id="4" name="Slide Number Placeholder 3"/>
          <p:cNvSpPr>
            <a:spLocks noGrp="1"/>
          </p:cNvSpPr>
          <p:nvPr>
            <p:ph type="sldNum" sz="quarter" idx="5"/>
          </p:nvPr>
        </p:nvSpPr>
        <p:spPr/>
      </p:sp>
    </p:spTree>
  </p:cSld>
  <p:clrMapOvr>
    <a:masterClrMapping/>
  </p:clrMapOvr>
</p:notes>
</file>

<file path=ppt/notesSlides/v5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Notes from the book: because all inputs and costs are variable in the long run, the firm’s long-run supply curve is the part of its long-run marginal cost curve above its long-run average total cost curve ( LATC=LAVC because there are no fixed costs in the long run).</a:t>
            </a:r>
          </a:p>
          <a:p>
            <a:r>
              <a:t>Yi example: in the long run they can decide whether or not to rent the land + how much land to rent</a:t>
            </a:r>
          </a:p>
        </p:txBody>
      </p:sp>
      <p:sp>
        <p:nvSpPr>
          <p:cNvPr id="4" name="Slide Number Placeholder 3"/>
          <p:cNvSpPr>
            <a:spLocks noGrp="1"/>
          </p:cNvSpPr>
          <p:nvPr>
            <p:ph type="sldNum" sz="quarter" idx="5"/>
          </p:nvPr>
        </p:nvSpPr>
        <p:spPr/>
      </p:sp>
    </p:spTree>
  </p:cSld>
  <p:clrMapOvr>
    <a:masterClrMapping/>
  </p:clrMapOvr>
</p:notes>
</file>

<file path=ppt/notesSlides/v5_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LAC is downward sloping because of economies of scale initially, and then upward-sloping because of dis-economies of scale. Note that this is different from ATC being down-ward sloping because of Fixed costs of a GIVEN technology.</a:t>
            </a:r>
          </a:p>
        </p:txBody>
      </p:sp>
      <p:sp>
        <p:nvSpPr>
          <p:cNvPr id="4" name="Slide Number Placeholder 3"/>
          <p:cNvSpPr>
            <a:spLocks noGrp="1"/>
          </p:cNvSpPr>
          <p:nvPr>
            <p:ph type="sldNum" sz="quarter" idx="5"/>
          </p:nvPr>
        </p:nvSpPr>
        <p:spPr/>
      </p:sp>
    </p:spTree>
  </p:cSld>
  <p:clrMapOvr>
    <a:masterClrMapping/>
  </p:clrMapOvr>
</p:notes>
</file>

<file path=ppt/notesSlides/v5_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Cecile Steele of Ocean View, Delaware ordered 50 chicks in 1923 and received 500 by mistake. She kept them, made a large profit, and within five years hundreds of neighbouring farmers were raising chickens for meat. That is entry in action - and it is why her extraordinary margins did not last.</a:t>
            </a:r>
          </a:p>
          <a:p>
            <a:endParaRPr/>
          </a:p>
          <a:p>
            <a:r>
              <a:t>https://www.vox.com/future-perfect/2023/2/10/23589333/cecile-steele-chicken-meat-poultry-eggs-delaware</a:t>
            </a:r>
          </a:p>
        </p:txBody>
      </p:sp>
      <p:sp>
        <p:nvSpPr>
          <p:cNvPr id="4" name="Slide Number Placeholder 3"/>
          <p:cNvSpPr>
            <a:spLocks noGrp="1"/>
          </p:cNvSpPr>
          <p:nvPr>
            <p:ph type="sldNum" sz="quarter" idx="5"/>
          </p:nvPr>
        </p:nvSpPr>
        <p:spPr/>
      </p:sp>
    </p:spTree>
  </p:cSld>
  <p:clrMapOvr>
    <a:masterClrMapping/>
  </p:clrMapOvr>
</p:notes>
</file>

<file path=ppt/notesSlides/v5_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long-run rules in one place. Optimal output is still where marginal cost meets price, but now the comparison is with LONG-RUN average cost, because capital is adjustable. If price cannot cover LAC the firm exits, and entry and exit push the market to the point where economic profit is zero.</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2" Type="http://schemas.openxmlformats.org/officeDocument/2006/relationships/notesSlide" Target="../notesSlides/v1_notesSlide1.xml"/><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v1_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v2_notesSlide1.xml"/><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2" Type="http://schemas.openxmlformats.org/officeDocument/2006/relationships/notesSlide" Target="../notesSlides/v2_notesSlide2.xml"/><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v2_notesSlide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2" Type="http://schemas.openxmlformats.org/officeDocument/2006/relationships/notesSlide" Target="../notesSlides/v3_notesSlide1.xml"/><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v3_notesSlide2.xml"/><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3" Type="http://schemas.openxmlformats.org/officeDocument/2006/relationships/image" Target="../media/v3_image1.png"/><Relationship Id="rId2" Type="http://schemas.openxmlformats.org/officeDocument/2006/relationships/notesSlide" Target="../notesSlides/v3_notesSlide3.xml"/><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v3_notesSlide4.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jpg"/></Relationships>
</file>

<file path=ppt/slides/_rels/slide20.xml.rels><?xml version="1.0" encoding="UTF-8" standalone="yes"?><Relationships xmlns="http://schemas.openxmlformats.org/package/2006/relationships"><Relationship Id="rId2" Type="http://schemas.openxmlformats.org/officeDocument/2006/relationships/notesSlide" Target="../notesSlides/v3_notesSlide5.xml"/><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v3_notesSlide6.xml"/><Relationship Id="rId1" Type="http://schemas.openxmlformats.org/officeDocument/2006/relationships/slideLayout" Target="../slideLayouts/slideLayout1.xml"/><Relationship Id="rId5" Type="http://schemas.openxmlformats.org/officeDocument/2006/relationships/image" Target="../media/image15.jpg"/><Relationship Id="rId4" Type="http://schemas.openxmlformats.org/officeDocument/2006/relationships/image" Target="../media/image14.jpg"/></Relationships>
</file>

<file path=ppt/slides/_rels/slide22.xml.rels><?xml version="1.0" encoding="UTF-8" standalone="yes"?><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v3_notesSlide7.xml"/><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v3_notesSlide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3" Type="http://schemas.openxmlformats.org/officeDocument/2006/relationships/image" Target="../media/v3_image8.png"/><Relationship Id="rId7" Type="http://schemas.openxmlformats.org/officeDocument/2006/relationships/image" Target="../media/image23.png"/><Relationship Id="rId2" Type="http://schemas.openxmlformats.org/officeDocument/2006/relationships/notesSlide" Target="../notesSlides/v3_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6.xml.rels><?xml version="1.0" encoding="UTF-8" standalone="yes"?><Relationships xmlns="http://schemas.openxmlformats.org/package/2006/relationships"><Relationship Id="rId3" Type="http://schemas.openxmlformats.org/officeDocument/2006/relationships/image" Target="../media/v3_image10.png"/><Relationship Id="rId2" Type="http://schemas.openxmlformats.org/officeDocument/2006/relationships/notesSlide" Target="../notesSlides/v3_notesSlide10.xml"/><Relationship Id="rId1" Type="http://schemas.openxmlformats.org/officeDocument/2006/relationships/slideLayout" Target="../slideLayouts/slideLayout1.xml"/><Relationship Id="rId6" Type="http://schemas.openxmlformats.org/officeDocument/2006/relationships/image" Target="../media/v3_image11.png"/><Relationship Id="rId5" Type="http://schemas.openxmlformats.org/officeDocument/2006/relationships/image" Target="../media/image26.png"/><Relationship Id="rId4" Type="http://schemas.openxmlformats.org/officeDocument/2006/relationships/image" Target="../media/image25.png"/></Relationships>
</file>

<file path=ppt/slides/_rels/slide27.xml.rels><?xml version="1.0" encoding="UTF-8" standalone="yes"?><Relationships xmlns="http://schemas.openxmlformats.org/package/2006/relationships"><Relationship Id="rId3" Type="http://schemas.openxmlformats.org/officeDocument/2006/relationships/image" Target="../media/v3_image12.png"/><Relationship Id="rId7" Type="http://schemas.openxmlformats.org/officeDocument/2006/relationships/image" Target="../media/image32.png"/><Relationship Id="rId2" Type="http://schemas.openxmlformats.org/officeDocument/2006/relationships/notesSlide" Target="../notesSlides/v3_notesSlide11.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v3_image14.png"/><Relationship Id="rId4" Type="http://schemas.openxmlformats.org/officeDocument/2006/relationships/image" Target="../media/v3_image13.png"/></Relationships>
</file>

<file path=ppt/slides/_rels/slide28.xml.rels><?xml version="1.0" encoding="UTF-8" standalone="yes"?><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v3_notesSlide12.xml"/><Relationship Id="rId1" Type="http://schemas.openxmlformats.org/officeDocument/2006/relationships/slideLayout" Target="../slideLayouts/slideLayout1.xml"/><Relationship Id="rId4" Type="http://schemas.openxmlformats.org/officeDocument/2006/relationships/image" Target="../media/v3_image8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2" Type="http://schemas.openxmlformats.org/officeDocument/2006/relationships/notesSlide" Target="../notesSlides/v3_notesSlide13.xml"/><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3" Type="http://schemas.openxmlformats.org/officeDocument/2006/relationships/image" Target="../media/v3_image15.png"/><Relationship Id="rId2" Type="http://schemas.openxmlformats.org/officeDocument/2006/relationships/notesSlide" Target="../notesSlides/v3_notesSlide14.xml"/><Relationship Id="rId1" Type="http://schemas.openxmlformats.org/officeDocument/2006/relationships/slideLayout" Target="../slideLayouts/slideLayout1.xml"/><Relationship Id="rId4" Type="http://schemas.openxmlformats.org/officeDocument/2006/relationships/image" Target="../media/v3_image19.png"/></Relationships>
</file>

<file path=ppt/slides/_rels/slide32.xml.rels><?xml version="1.0" encoding="UTF-8" standalone="yes"?><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v3_notesSlide15.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33.xml.rels><?xml version="1.0" encoding="UTF-8" standalone="yes"?><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v3_notesSlide1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v3_notesSlide17.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8.xml.rels><?xml version="1.0" encoding="UTF-8" standalone="yes"?><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v3_notesSlide18.xml"/><Relationship Id="rId1" Type="http://schemas.openxmlformats.org/officeDocument/2006/relationships/slideLayout" Target="../slideLayouts/slideLayout1.xml"/><Relationship Id="rId6" Type="http://schemas.openxmlformats.org/officeDocument/2006/relationships/image" Target="../media/v3_image24.png"/><Relationship Id="rId5" Type="http://schemas.openxmlformats.org/officeDocument/2006/relationships/image" Target="../media/image48.png"/><Relationship Id="rId4" Type="http://schemas.openxmlformats.org/officeDocument/2006/relationships/image" Target="../media/image47.png"/></Relationships>
</file>

<file path=ppt/slides/_rels/slide39.xml.rels><?xml version="1.0" encoding="UTF-8" standalone="yes"?><Relationships xmlns="http://schemas.openxmlformats.org/package/2006/relationships"><Relationship Id="rId2" Type="http://schemas.openxmlformats.org/officeDocument/2006/relationships/notesSlide" Target="../notesSlides/v3_notesSlide19.xml"/><Relationship Id="rId1" Type="http://schemas.openxmlformats.org/officeDocument/2006/relationships/slideLayout" Target="../slideLayouts/slideLayout1.xml"/></Relationships>
</file>

<file path=ppt/slides/_rels/slide40.xml.rels><?xml version="1.0" encoding="UTF-8" standalone="yes"?><Relationships xmlns="http://schemas.openxmlformats.org/package/2006/relationships"><Relationship Id="rId2" Type="http://schemas.openxmlformats.org/officeDocument/2006/relationships/notesSlide" Target="../notesSlides/v3_notesSlide20.xml"/><Relationship Id="rId1" Type="http://schemas.openxmlformats.org/officeDocument/2006/relationships/slideLayout" Target="../slideLayouts/slideLayout1.xml"/></Relationships>
</file>

<file path=ppt/slides/_rels/slide41.xml.rels><?xml version="1.0" encoding="UTF-8" standalone="yes"?><Relationships xmlns="http://schemas.openxmlformats.org/package/2006/relationships"><Relationship Id="rId2" Type="http://schemas.openxmlformats.org/officeDocument/2006/relationships/notesSlide" Target="../notesSlides/v3_notesSlide21.xml"/><Relationship Id="rId1" Type="http://schemas.openxmlformats.org/officeDocument/2006/relationships/slideLayout" Target="../slideLayouts/slideLayout1.xml"/></Relationships>
</file>

<file path=ppt/slides/_rels/slide42.xml.rels><?xml version="1.0" encoding="UTF-8" standalone="yes"?><Relationships xmlns="http://schemas.openxmlformats.org/package/2006/relationships"><Relationship Id="rId2" Type="http://schemas.openxmlformats.org/officeDocument/2006/relationships/notesSlide" Target="../notesSlides/v3_notesSlide22.xml"/><Relationship Id="rId1" Type="http://schemas.openxmlformats.org/officeDocument/2006/relationships/slideLayout" Target="../slideLayouts/slideLayout1.xml"/></Relationships>
</file>

<file path=ppt/slides/_rels/slide43.xml.rels><?xml version="1.0" encoding="UTF-8" standalone="yes"?><Relationships xmlns="http://schemas.openxmlformats.org/package/2006/relationships"><Relationship Id="rId2" Type="http://schemas.openxmlformats.org/officeDocument/2006/relationships/notesSlide" Target="../notesSlides/v3_notesSlide23.xml"/><Relationship Id="rId1" Type="http://schemas.openxmlformats.org/officeDocument/2006/relationships/slideLayout" Target="../slideLayouts/slideLayout1.xml"/></Relationships>
</file>

<file path=ppt/slides/_rels/slide44.xml.rels><?xml version="1.0" encoding="UTF-8" standalone="yes"?><Relationships xmlns="http://schemas.openxmlformats.org/package/2006/relationships"><Relationship Id="rId2" Type="http://schemas.openxmlformats.org/officeDocument/2006/relationships/notesSlide" Target="../notesSlides/v3_notesSlide24.xml"/><Relationship Id="rId1" Type="http://schemas.openxmlformats.org/officeDocument/2006/relationships/slideLayout" Target="../slideLayouts/slideLayout1.xml"/></Relationships>
</file>

<file path=ppt/slides/_rels/slide45.xml.rels><?xml version="1.0" encoding="UTF-8" standalone="yes"?><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v3_notesSlide25.xml"/><Relationship Id="rId1" Type="http://schemas.openxmlformats.org/officeDocument/2006/relationships/slideLayout" Target="../slideLayouts/slideLayout1.xml"/></Relationships>
</file>

<file path=ppt/slides/_rels/slide46.xml.rels><?xml version="1.0" encoding="UTF-8" standalone="yes"?><Relationships xmlns="http://schemas.openxmlformats.org/package/2006/relationships"><Relationship Id="rId3" Type="http://schemas.openxmlformats.org/officeDocument/2006/relationships/notesSlide" Target="../notesSlides/v3_notesSlide26.xml"/><Relationship Id="rId2" Type="http://schemas.openxmlformats.org/officeDocument/2006/relationships/slideLayout" Target="../slideLayouts/slideLayout1.xml"/><Relationship Id="rId1" Type="http://schemas.openxmlformats.org/officeDocument/2006/relationships/tags" Target="../tags/v3_tag1.xml"/><Relationship Id="rId4" Type="http://schemas.openxmlformats.org/officeDocument/2006/relationships/image" Target="../media/v3_image27.png"/></Relationships>
</file>

<file path=ppt/slides/_rels/slide47.xml.rels><?xml version="1.0" encoding="UTF-8" standalone="yes"?><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v3_notesSlide27.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48.xml.rels><?xml version="1.0" encoding="UTF-8" standalone="yes"?><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v3_notesSlide28.xml"/><Relationship Id="rId1" Type="http://schemas.openxmlformats.org/officeDocument/2006/relationships/slideLayout" Target="../slideLayouts/slideLayout1.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Relationships xmlns="http://schemas.openxmlformats.org/package/2006/relationships"><Relationship Id="rId2" Type="http://schemas.openxmlformats.org/officeDocument/2006/relationships/notesSlide" Target="../notesSlides/v4_notesSlide1.xml"/><Relationship Id="rId1" Type="http://schemas.openxmlformats.org/officeDocument/2006/relationships/slideLayout" Target="../slideLayouts/slideLayout1.xml"/></Relationships>
</file>

<file path=ppt/slides/_rels/slide52.xml.rels><?xml version="1.0" encoding="UTF-8" standalone="yes"?><Relationships xmlns="http://schemas.openxmlformats.org/package/2006/relationships"><Relationship Id="rId2" Type="http://schemas.openxmlformats.org/officeDocument/2006/relationships/notesSlide" Target="../notesSlides/v4_notesSlide2.xml"/><Relationship Id="rId1" Type="http://schemas.openxmlformats.org/officeDocument/2006/relationships/slideLayout" Target="../slideLayouts/slideLayout1.xml"/></Relationships>
</file>

<file path=ppt/slides/_rels/slide53.xml.rels><?xml version="1.0" encoding="UTF-8" standalone="yes"?><Relationships xmlns="http://schemas.openxmlformats.org/package/2006/relationships"><Relationship Id="rId2" Type="http://schemas.openxmlformats.org/officeDocument/2006/relationships/notesSlide" Target="../notesSlides/v4_notesSlide3.xml"/><Relationship Id="rId1" Type="http://schemas.openxmlformats.org/officeDocument/2006/relationships/slideLayout" Target="../slideLayouts/slideLayout1.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v5_notesSlide1.xml"/><Relationship Id="rId1" Type="http://schemas.openxmlformats.org/officeDocument/2006/relationships/slideLayout" Target="../slideLayouts/slideLayout1.xml"/></Relationships>
</file>

<file path=ppt/slides/_rels/slide57.xml.rels><?xml version="1.0" encoding="UTF-8" standalone="yes"?><Relationships xmlns="http://schemas.openxmlformats.org/package/2006/relationships"><Relationship Id="rId2" Type="http://schemas.openxmlformats.org/officeDocument/2006/relationships/notesSlide" Target="../notesSlides/v5_notesSlide2.xml"/><Relationship Id="rId1" Type="http://schemas.openxmlformats.org/officeDocument/2006/relationships/slideLayout" Target="../slideLayouts/slideLayout1.xml"/></Relationships>
</file>

<file path=ppt/slides/_rels/slide58.xml.rels><?xml version="1.0" encoding="UTF-8" standalone="yes"?><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v5_notesSlide3.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63.xml.rels><?xml version="1.0" encoding="UTF-8" standalone="yes"?><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v5_notesSlide4.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3.xml"/><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5.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70.jp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71.jpg"/></Relationships>
</file>

<file path=ppt/slides/_rels/slide7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75.png"/><Relationship Id="rId4" Type="http://schemas.openxmlformats.org/officeDocument/2006/relationships/image" Target="../media/image74.png"/></Relationships>
</file>

<file path=ppt/slides/_rels/slide8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3" Type="http://schemas.openxmlformats.org/officeDocument/2006/relationships/image" Target="../media/image78.jp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79.wmf"/><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Relationships xmlns="http://schemas.openxmlformats.org/package/2006/relationships"><Relationship Id="rId2" Type="http://schemas.openxmlformats.org/officeDocument/2006/relationships/notesSlide" Target="../notesSlides/dup3_notesSlide1.xml"/><Relationship Id="rId1" Type="http://schemas.openxmlformats.org/officeDocument/2006/relationships/slideLayout" Target="../slideLayouts/slideLayout1.xml"/></Relationships>
</file>

<file path=ppt/slides/_rels/slide93.xml.rels><?xml version="1.0" encoding="UTF-8" standalone="yes"?><Relationships xmlns="http://schemas.openxmlformats.org/package/2006/relationships"><Relationship Id="rId2" Type="http://schemas.openxmlformats.org/officeDocument/2006/relationships/notesSlide" Target="../notesSlides/dup29_notesSlide20.xml"/><Relationship Id="rId1" Type="http://schemas.openxmlformats.org/officeDocument/2006/relationships/slideLayout" Target="../slideLayouts/slideLayout1.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Relationships xmlns="http://schemas.openxmlformats.org/package/2006/relationships"><Relationship Id="rId2" Type="http://schemas.openxmlformats.org/officeDocument/2006/relationships/notesSlide" Target="../notesSlides/dup59_notesSlide42.xml"/><Relationship Id="rId1" Type="http://schemas.openxmlformats.org/officeDocument/2006/relationships/slideLayout" Target="../slideLayouts/slideLayout1.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Relationships xmlns="http://schemas.openxmlformats.org/package/2006/relationships"><Relationship Id="rId2" Type="http://schemas.openxmlformats.org/officeDocument/2006/relationships/notesSlide" Target="../notesSlides/dup61_notesSlide43.xml"/><Relationship Id="rId1" Type="http://schemas.openxmlformats.org/officeDocument/2006/relationships/slideLayout" Target="../slideLayouts/slideLayout1.xml"/></Relationships>
</file>

<file path=ppt/slides/_rels/slide100.xml.rels><?xml version="1.0" encoding="UTF-8" standalone="yes"?><Relationships xmlns="http://schemas.openxmlformats.org/package/2006/relationships"><Relationship Id="rId2" Type="http://schemas.openxmlformats.org/officeDocument/2006/relationships/notesSlide" Target="../notesSlides/dup62_notesSlide44.xml"/><Relationship Id="rId1" Type="http://schemas.openxmlformats.org/officeDocument/2006/relationships/slideLayout" Target="../slideLayouts/slideLayout1.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a:solidFill>
                  <a:srgbClr val="0B2B4E"/>
                </a:solidFill>
                <a:latin typeface="Calibri"/>
              </a:rPr>
              <a:t>Introduction to Market Structures</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1</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783080"/>
            <a:ext cx="11687697" cy="1554480"/>
          </a:xfrm>
          <a:prstGeom prst="rect">
            <a:avLst/>
          </a:prstGeom>
          <a:noFill/>
        </p:spPr>
        <p:txBody>
          <a:bodyPr wrap="square" lIns="0" tIns="0" rIns="0" bIns="0">
            <a:spAutoFit/>
          </a:bodyPr>
          <a:lstStyle/>
          <a:p>
            <a:pPr algn="ctr"/>
            <a:r>
              <a:rPr sz="5000" b="1" i="0" u="none">
                <a:solidFill>
                  <a:srgbClr val="0B2B4E"/>
                </a:solidFill>
                <a:latin typeface="Calibri"/>
              </a:rPr>
              <a:t>Competitive Markets and Market Interventions</a:t>
            </a:r>
          </a:p>
        </p:txBody>
      </p:sp>
      <p:sp>
        <p:nvSpPr>
          <p:cNvPr id="3" name="TextBox 2"/>
          <p:cNvSpPr txBox="1"/>
          <p:nvPr/>
        </p:nvSpPr>
        <p:spPr>
          <a:xfrm>
            <a:off x="251999" y="3401568"/>
            <a:ext cx="11687697" cy="731520"/>
          </a:xfrm>
          <a:prstGeom prst="rect">
            <a:avLst/>
          </a:prstGeom>
          <a:noFill/>
        </p:spPr>
        <p:txBody>
          <a:bodyPr wrap="square" lIns="0" tIns="0" rIns="0" bIns="0">
            <a:spAutoFit/>
          </a:bodyPr>
          <a:lstStyle/>
          <a:p>
            <a:pPr algn="ctr"/>
            <a:r>
              <a:rPr sz="4000" b="1" i="0" u="none">
                <a:solidFill>
                  <a:srgbClr val="E09F3E"/>
                </a:solidFill>
                <a:latin typeface="Calibri"/>
              </a:rPr>
              <a:t>Module 4</a:t>
            </a:r>
          </a:p>
        </p:txBody>
      </p:sp>
      <p:sp>
        <p:nvSpPr>
          <p:cNvPr id="4" name="Rectangle 3"/>
          <p:cNvSpPr/>
          <p:nvPr/>
        </p:nvSpPr>
        <p:spPr>
          <a:xfrm>
            <a:off x="4267047" y="4224528"/>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553712"/>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5047488"/>
            <a:ext cx="11687697" cy="41148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251999" y="653796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Logistics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Some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11687697" cy="489204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Coffee &amp; Econ office hours restart next week</a:t>
            </a:r>
          </a:p>
          <a:p>
            <a:pPr algn="l"/>
            <a:r>
              <a:rPr>
                <a:latin typeface="Calibri"/>
              </a:rPr>
              <a:t>Final exam period: December 11 – 13, 2026</a:t>
            </a:r>
          </a:p>
          <a:p>
            <a:pPr lvl="1" algn="l"/>
            <a:r>
              <a:rPr>
                <a:latin typeface="Calibri"/>
              </a:rPr>
              <a:t>One 3.5-hour window — the same window for everyone</a:t>
            </a:r>
          </a:p>
          <a:p>
            <a:pPr lvl="1" algn="l"/>
            <a:r>
              <a:rPr>
                <a:latin typeface="Calibri"/>
              </a:rPr>
              <a:t>The exact date and time will be announced later</a:t>
            </a:r>
          </a:p>
          <a:p>
            <a:pPr lvl="1" algn="l"/>
            <a:r>
              <a:rPr>
                <a:latin typeface="Calibri"/>
              </a:rPr>
              <a:t>Online, open book, open notes; covers all material</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A45A4D84-7183-56C5-AAA9-0FBCD4EF9048}" type="slidenum">
              <a:rPr lang="en-US" sz="1200" dirty="0">
                <a:solidFill>
                  <a:srgbClr val="555B66"/>
                </a:solidFill>
                <a:latin typeface="Calibri"/>
              </a:rPr>
              <a:t>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Right Arrow 14"/>
          <p:cNvSpPr/>
          <p:nvPr/>
        </p:nvSpPr>
        <p:spPr>
          <a:xfrm>
            <a:off x="1505559" y="5189220"/>
            <a:ext cx="548640" cy="45720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 y="5271516"/>
            <a:ext cx="1325880" cy="292608"/>
          </a:xfrm>
          <a:prstGeom prst="rect">
            <a:avLst/>
          </a:prstGeom>
          <a:noFill/>
        </p:spPr>
        <p:txBody>
          <a:bodyPr wrap="square" lIns="0" tIns="0" rIns="0" bIns="0">
            <a:spAutoFit/>
          </a:bodyPr>
          <a:lstStyle/>
          <a:p>
            <a:pPr algn="r"/>
            <a:r>
              <a:rPr sz="1600" b="1" i="1" u="none">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5B941D9-D594-59B7-AD0C-322EB1EE6C39}"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1</a:t>
            </a:r>
          </a:p>
        </p:txBody>
      </p:sp>
      <p:sp>
        <p:nvSpPr>
          <p:cNvPr id="9" name="TextBox 8"/>
          <p:cNvSpPr txBox="1"/>
          <p:nvPr/>
        </p:nvSpPr>
        <p:spPr>
          <a:xfrm>
            <a:off x="1874519" y="137845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Market Structures</a:t>
            </a:r>
          </a:p>
          <a:p>
            <a:pPr algn="l">
              <a:spcBef>
                <a:spcPts val="0"/>
              </a:spcBef>
              <a:buNone/>
            </a:pPr>
            <a:r>
              <a:rPr sz="2200">
                <a:solidFill>
                  <a:srgbClr val="555B66"/>
                </a:solidFill>
                <a:latin typeface="Calibri"/>
              </a:rPr>
              <a:t>Where a firm sits between price taker and price setter</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2</a:t>
            </a:r>
          </a:p>
        </p:txBody>
      </p:sp>
      <p:sp>
        <p:nvSpPr>
          <p:cNvPr id="12" name="TextBox 11"/>
          <p:cNvSpPr txBox="1"/>
          <p:nvPr/>
        </p:nvSpPr>
        <p:spPr>
          <a:xfrm>
            <a:off x="1874519" y="209626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Perfect Competition</a:t>
            </a:r>
          </a:p>
          <a:p>
            <a:pPr algn="l">
              <a:spcBef>
                <a:spcPts val="0"/>
              </a:spcBef>
              <a:buNone/>
            </a:pPr>
            <a:r>
              <a:rPr sz="2200">
                <a:solidFill>
                  <a:srgbClr val="555B66"/>
                </a:solidFill>
                <a:latin typeface="Calibri"/>
              </a:rPr>
              <a:t>Many small sellers, an identical product, and free entry</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5" name="TextBox 14"/>
          <p:cNvSpPr txBox="1"/>
          <p:nvPr/>
        </p:nvSpPr>
        <p:spPr>
          <a:xfrm>
            <a:off x="2148840" y="281406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Profit Maximization of a Price Taker in the Short Run</a:t>
            </a:r>
          </a:p>
          <a:p>
            <a:pPr algn="l">
              <a:spcBef>
                <a:spcPts val="0"/>
              </a:spcBef>
              <a:buNone/>
            </a:pPr>
            <a:r>
              <a:rPr sz="2000">
                <a:solidFill>
                  <a:srgbClr val="555B66"/>
                </a:solidFill>
                <a:latin typeface="Calibri"/>
              </a:rPr>
              <a:t>How much to produce, and when to stop production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4</a:t>
            </a:r>
          </a:p>
        </p:txBody>
      </p:sp>
      <p:sp>
        <p:nvSpPr>
          <p:cNvPr id="18" name="TextBox 17"/>
          <p:cNvSpPr txBox="1"/>
          <p:nvPr/>
        </p:nvSpPr>
        <p:spPr>
          <a:xfrm>
            <a:off x="2148840" y="353187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Firm-Level and Market Supply</a:t>
            </a:r>
          </a:p>
          <a:p>
            <a:pPr algn="l">
              <a:spcBef>
                <a:spcPts val="0"/>
              </a:spcBef>
              <a:buNone/>
            </a:pPr>
            <a:r>
              <a:rPr sz="2000">
                <a:solidFill>
                  <a:srgbClr val="555B66"/>
                </a:solidFill>
                <a:latin typeface="Calibri"/>
              </a:rPr>
              <a:t>Marginal cost is one firm’s supply curve; market supply sums across firms</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5</a:t>
            </a:r>
          </a:p>
        </p:txBody>
      </p:sp>
      <p:sp>
        <p:nvSpPr>
          <p:cNvPr id="21" name="TextBox 20"/>
          <p:cNvSpPr txBox="1"/>
          <p:nvPr/>
        </p:nvSpPr>
        <p:spPr>
          <a:xfrm>
            <a:off x="2148840" y="4249674"/>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Long-Run Competitive Equilibrium</a:t>
            </a:r>
          </a:p>
          <a:p>
            <a:pPr algn="l">
              <a:spcBef>
                <a:spcPts val="0"/>
              </a:spcBef>
              <a:buNone/>
            </a:pPr>
            <a:r>
              <a:rPr sz="2000">
                <a:solidFill>
                  <a:srgbClr val="555B66"/>
                </a:solidFill>
                <a:latin typeface="Calibri"/>
              </a:rPr>
              <a:t>Entry and exit drive economic profits to zero</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5" name="Oval 24"/>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6" name="Rounded Rectangle 25"/>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7" name="TextBox 26"/>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Externalities</a:t>
            </a:r>
          </a:p>
          <a:p>
            <a:pPr algn="l">
              <a:spcBef>
                <a:spcPts val="0"/>
              </a:spcBef>
              <a:buNone/>
            </a:pPr>
            <a:r>
              <a:rPr sz="2200">
                <a:solidFill>
                  <a:srgbClr val="555B66"/>
                </a:solidFill>
                <a:latin typeface="Calibri"/>
              </a:rPr>
              <a:t>Costs and benefits that land on people outside the deal</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93248381-6920-52FA-A239-9A7875F0D053}" type="slidenum">
              <a:rPr lang="en-US" sz="1200" dirty="0">
                <a:solidFill>
                  <a:srgbClr val="555B66"/>
                </a:solidFill>
                <a:latin typeface="Calibri"/>
              </a:rPr>
              <a:t>5</a:t>
            </a:fld>
            <a:endParaRPr lang="en-US" sz="1200" dirty="0">
              <a:solidFill>
                <a:srgbClr val="555B66"/>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32359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9" name="Rounded Rectangle 8"/>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1</a:t>
            </a:r>
          </a:p>
        </p:txBody>
      </p:sp>
      <p:sp>
        <p:nvSpPr>
          <p:cNvPr id="10" name="TextBox 9"/>
          <p:cNvSpPr txBox="1"/>
          <p:nvPr/>
        </p:nvSpPr>
        <p:spPr>
          <a:xfrm>
            <a:off x="1874519" y="137845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Market Structures</a:t>
            </a:r>
          </a:p>
          <a:p>
            <a:pPr algn="l">
              <a:spcBef>
                <a:spcPts val="0"/>
              </a:spcBef>
              <a:buNone/>
            </a:pPr>
            <a:r>
              <a:rPr sz="2200">
                <a:solidFill>
                  <a:srgbClr val="555B66"/>
                </a:solidFill>
                <a:latin typeface="Calibri"/>
              </a:rPr>
              <a:t>Where a firm sits between price taker and price setter</a:t>
            </a:r>
          </a:p>
        </p:txBody>
      </p:sp>
      <p:sp>
        <p:nvSpPr>
          <p:cNvPr id="11" name="Oval 10"/>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2" name="Rounded Rectangle 11"/>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3" name="TextBox 12"/>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6" name="TextBox 15"/>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9AF6752B-E42B-5771-9B4C-30619DDD446A}" type="slidenum">
              <a:rPr lang="en-US" sz="1200" dirty="0">
                <a:solidFill>
                  <a:srgbClr val="555B66"/>
                </a:solidFill>
                <a:latin typeface="Calibri"/>
              </a:rPr>
              <a:t>6</a:t>
            </a:fld>
            <a:endParaRPr lang="en-US" sz="1200" dirty="0">
              <a:solidFill>
                <a:srgbClr val="555B66"/>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Four Basic Market Structures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380847" y="1783080"/>
            <a:ext cx="11430000" cy="3383280"/>
            <a:chOff x="380847" y="1783080"/>
            <a:chExt cx="11430000" cy="3383280"/>
          </a:xfrm>
        </p:grpSpPr>
        <p:sp>
          <p:nvSpPr>
            <p:cNvPr id="7" name="Rectangle 6"/>
            <p:cNvSpPr/>
            <p:nvPr/>
          </p:nvSpPr>
          <p:spPr>
            <a:xfrm>
              <a:off x="380847" y="1783080"/>
              <a:ext cx="11430000"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18007" y="1920240"/>
            <a:ext cx="11155680" cy="3108960"/>
          </p:xfrm>
          <a:graphic>
            <a:graphicData uri="http://schemas.openxmlformats.org/drawingml/2006/table">
              <a:tbl>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91440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Perfect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Monopolistic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Oligopoly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731520">
                  <a:tc>
                    <a:txBody>
                      <a:bodyPr/>
                      <a:lstStyle/>
                      <a:p>
                        <a:pPr algn="l"/>
                        <a:r>
                          <a:rPr sz="2000" b="1">
                            <a:solidFill>
                              <a:srgbClr val="0B2B4E"/>
                            </a:solidFill>
                            <a:latin typeface="Calibri"/>
                          </a:rPr>
                          <a:t>Number of firms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Few</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731520">
                  <a:tc>
                    <a:txBody>
                      <a:bodyPr/>
                      <a:lstStyle/>
                      <a:p>
                        <a:pPr algn="l"/>
                        <a:r>
                          <a:rPr sz="2000" b="1">
                            <a:solidFill>
                              <a:srgbClr val="0B2B4E"/>
                            </a:solidFill>
                            <a:latin typeface="Calibri"/>
                          </a:rPr>
                          <a:t>Type of products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 or
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“Unique”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731520">
                  <a:tc>
                    <a:txBody>
                      <a:bodyPr/>
                      <a:lstStyle/>
                      <a:p>
                        <a:pPr algn="l"/>
                        <a:r>
                          <a:rPr sz="2000" b="1">
                            <a:solidFill>
                              <a:srgbClr val="0B2B4E"/>
                            </a:solidFill>
                            <a:latin typeface="Calibri"/>
                          </a:rPr>
                          <a:t>Barriers to entry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Some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sp>
        <p:nvSpPr>
          <p:cNvPr id="9" name="Rounded Rectangle 8"/>
          <p:cNvSpPr/>
          <p:nvPr/>
        </p:nvSpPr>
        <p:spPr>
          <a:xfrm>
            <a:off x="3867911" y="5303520"/>
            <a:ext cx="7531455" cy="9326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bIns="109728" rtlCol="0" anchor="b"/>
          <a:lstStyle/>
          <a:p>
            <a:pPr algn="ctr"/>
            <a:r>
              <a:rPr sz="1900" b="1" dirty="0">
                <a:solidFill>
                  <a:srgbClr val="0B2B4E"/>
                </a:solidFill>
                <a:latin typeface="Calibri"/>
              </a:rPr>
              <a:t>More firms, more similar products, easier entry → more competition</a:t>
            </a:r>
          </a:p>
        </p:txBody>
      </p:sp>
      <p:cxnSp>
        <p:nvCxnSpPr>
          <p:cNvPr id="10" name="Connector 9"/>
          <p:cNvCxnSpPr>
            <a:cxnSpLocks/>
          </p:cNvCxnSpPr>
          <p:nvPr/>
        </p:nvCxnSpPr>
        <p:spPr>
          <a:xfrm flipH="1">
            <a:off x="4626864" y="5596128"/>
            <a:ext cx="6144768" cy="0"/>
          </a:xfrm>
          <a:prstGeom prst="line">
            <a:avLst/>
          </a:prstGeom>
          <a:ln w="63500">
            <a:solidFill>
              <a:srgbClr val="0B2B4E"/>
            </a:solidFill>
            <a:tailEnd type="triangle" w="lg"/>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7D93220A-BEE9-5825-A0F6-F5D6DED4371C}" type="slidenum">
              <a:rPr lang="en-US" sz="1200" dirty="0">
                <a:solidFill>
                  <a:srgbClr val="555B66"/>
                </a:solidFill>
                <a:latin typeface="Calibri"/>
              </a:rPr>
              <a:t>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Extent of Market Power: Price Takers vs. Price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261872"/>
            <a:ext cx="3657600" cy="457200"/>
          </a:xfrm>
          <a:prstGeom prst="rect">
            <a:avLst/>
          </a:prstGeom>
          <a:noFill/>
        </p:spPr>
        <p:txBody>
          <a:bodyPr wrap="square" lIns="0" tIns="0" rIns="0" bIns="0">
            <a:spAutoFit/>
          </a:bodyPr>
          <a:lstStyle/>
          <a:p>
            <a:pPr algn="l"/>
            <a:r>
              <a:rPr sz="2800" b="1" i="0" u="none">
                <a:solidFill>
                  <a:srgbClr val="0B2B4E"/>
                </a:solidFill>
                <a:latin typeface="Calibri"/>
              </a:rPr>
              <a:t>Least Market Power</a:t>
            </a:r>
          </a:p>
        </p:txBody>
      </p:sp>
      <p:sp>
        <p:nvSpPr>
          <p:cNvPr id="8" name="TextBox 7"/>
          <p:cNvSpPr txBox="1"/>
          <p:nvPr/>
        </p:nvSpPr>
        <p:spPr>
          <a:xfrm>
            <a:off x="8028431" y="1261872"/>
            <a:ext cx="3657600" cy="457200"/>
          </a:xfrm>
          <a:prstGeom prst="rect">
            <a:avLst/>
          </a:prstGeom>
          <a:noFill/>
        </p:spPr>
        <p:txBody>
          <a:bodyPr wrap="square" lIns="0" tIns="0" rIns="0" bIns="0">
            <a:spAutoFit/>
          </a:bodyPr>
          <a:lstStyle/>
          <a:p>
            <a:pPr algn="r"/>
            <a:r>
              <a:rPr sz="2800" b="1" i="0" u="none">
                <a:solidFill>
                  <a:srgbClr val="0B2B4E"/>
                </a:solidFill>
                <a:latin typeface="Calibri"/>
              </a:rPr>
              <a:t>Most Market Power</a:t>
            </a:r>
          </a:p>
        </p:txBody>
      </p:sp>
      <p:cxnSp>
        <p:nvCxnSpPr>
          <p:cNvPr id="9" name="Connector 8"/>
          <p:cNvCxnSpPr/>
          <p:nvPr/>
        </p:nvCxnSpPr>
        <p:spPr>
          <a:xfrm>
            <a:off x="457200" y="1847088"/>
            <a:ext cx="11274552" cy="0"/>
          </a:xfrm>
          <a:prstGeom prst="line">
            <a:avLst/>
          </a:prstGeom>
          <a:ln w="44450">
            <a:solidFill>
              <a:srgbClr val="0B2B4E"/>
            </a:solidFill>
            <a:headEnd type="triangle" w="lg"/>
            <a:tailEnd type="triangle" w="lg"/>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Perfect
Competition</a:t>
            </a:r>
          </a:p>
        </p:txBody>
      </p:sp>
      <p:sp>
        <p:nvSpPr>
          <p:cNvPr id="11" name="TextBox 10"/>
          <p:cNvSpPr txBox="1"/>
          <p:nvPr/>
        </p:nvSpPr>
        <p:spPr>
          <a:xfrm>
            <a:off x="329184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Monopolistic
Competition</a:t>
            </a:r>
          </a:p>
        </p:txBody>
      </p:sp>
      <p:sp>
        <p:nvSpPr>
          <p:cNvPr id="12" name="TextBox 11"/>
          <p:cNvSpPr txBox="1"/>
          <p:nvPr/>
        </p:nvSpPr>
        <p:spPr>
          <a:xfrm>
            <a:off x="612648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Oligopoly</a:t>
            </a:r>
          </a:p>
        </p:txBody>
      </p:sp>
      <p:sp>
        <p:nvSpPr>
          <p:cNvPr id="13" name="TextBox 12"/>
          <p:cNvSpPr txBox="1"/>
          <p:nvPr/>
        </p:nvSpPr>
        <p:spPr>
          <a:xfrm>
            <a:off x="891540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Monopoly</a:t>
            </a:r>
          </a:p>
        </p:txBody>
      </p:sp>
      <p:sp>
        <p:nvSpPr>
          <p:cNvPr id="14" name="Rectangle 13"/>
          <p:cNvSpPr/>
          <p:nvPr/>
        </p:nvSpPr>
        <p:spPr>
          <a:xfrm>
            <a:off x="315468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7824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22960" y="2852928"/>
            <a:ext cx="205740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Takers)</a:t>
            </a:r>
          </a:p>
        </p:txBody>
      </p:sp>
      <p:sp>
        <p:nvSpPr>
          <p:cNvPr id="18" name="Rounded Rectangle 17"/>
          <p:cNvSpPr/>
          <p:nvPr/>
        </p:nvSpPr>
        <p:spPr>
          <a:xfrm>
            <a:off x="3566160" y="2852928"/>
            <a:ext cx="790956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Searchers)</a:t>
            </a:r>
          </a:p>
        </p:txBody>
      </p:sp>
      <p:sp>
        <p:nvSpPr>
          <p:cNvPr id="19" name="Rounded Rectangle 18"/>
          <p:cNvSpPr/>
          <p:nvPr/>
        </p:nvSpPr>
        <p:spPr>
          <a:xfrm>
            <a:off x="448056" y="1956816"/>
            <a:ext cx="2724912" cy="4251960"/>
          </a:xfrm>
          <a:prstGeom prst="roundRect">
            <a:avLst>
              <a:gd name="adj" fmla="val 4000"/>
            </a:avLst>
          </a:prstGeom>
          <a:noFill/>
          <a:ln w="444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5" name="Group pair 135"/>
          <p:cNvGrpSpPr/>
          <p:nvPr/>
        </p:nvGrpSpPr>
        <p:grpSpPr>
          <a:xfrm>
            <a:off x="502920" y="3401568"/>
            <a:ext cx="2697480" cy="2560320"/>
            <a:chOff x="502920" y="3401568"/>
            <a:chExt cx="2697480" cy="2560320"/>
          </a:xfrm>
        </p:grpSpPr>
        <p:pic>
          <p:nvPicPr>
            <p:cNvPr id="20" name="Picture 19" descr="NV_s07_10_f9f010a8.jpg"/>
            <p:cNvPicPr>
              <a:picLocks noChangeAspect="1"/>
            </p:cNvPicPr>
            <p:nvPr/>
          </p:nvPicPr>
          <p:blipFill>
            <a:blip r:embed="rId3"/>
            <a:stretch>
              <a:fillRect/>
            </a:stretch>
          </p:blipFill>
          <p:spPr>
            <a:xfrm>
              <a:off x="713232" y="3401568"/>
              <a:ext cx="2273881" cy="2194560"/>
            </a:xfrm>
            <a:prstGeom prst="roundRect">
              <a:avLst>
                <a:gd name="adj" fmla="val 8000"/>
              </a:avLst>
            </a:prstGeom>
            <a:effectLst>
              <a:outerShdw blurRad="50800" dist="38100" dir="2700000" algn="tl" rotWithShape="0">
                <a:srgbClr val="000000">
                  <a:alpha val="50000"/>
                </a:srgbClr>
              </a:outerShdw>
            </a:effectLst>
          </p:spPr>
        </p:pic>
        <p:sp>
          <p:nvSpPr>
            <p:cNvPr id="25" name="TextBox 24"/>
            <p:cNvSpPr txBox="1"/>
            <p:nvPr/>
          </p:nvSpPr>
          <p:spPr>
            <a:xfrm>
              <a:off x="50292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Commodity markets</a:t>
              </a:r>
            </a:p>
          </p:txBody>
        </p:sp>
      </p:grpSp>
      <p:grpSp>
        <p:nvGrpSpPr>
          <p:cNvPr id="136" name="Group pair 136"/>
          <p:cNvGrpSpPr/>
          <p:nvPr/>
        </p:nvGrpSpPr>
        <p:grpSpPr>
          <a:xfrm>
            <a:off x="3291840" y="3401568"/>
            <a:ext cx="2697480" cy="2560320"/>
            <a:chOff x="3291840" y="3401568"/>
            <a:chExt cx="2697480" cy="2560320"/>
          </a:xfrm>
        </p:grpSpPr>
        <p:pic>
          <p:nvPicPr>
            <p:cNvPr id="21" name="Picture 20" descr="NV_s07_g1.1_1f7061fb.png"/>
            <p:cNvPicPr>
              <a:picLocks noChangeAspect="1"/>
            </p:cNvPicPr>
            <p:nvPr/>
          </p:nvPicPr>
          <p:blipFill>
            <a:blip r:embed="rId4"/>
            <a:stretch>
              <a:fillRect/>
            </a:stretch>
          </p:blipFill>
          <p:spPr>
            <a:xfrm>
              <a:off x="3465576" y="3401568"/>
              <a:ext cx="2348495" cy="2194560"/>
            </a:xfrm>
            <a:prstGeom prst="roundRect">
              <a:avLst>
                <a:gd name="adj" fmla="val 8000"/>
              </a:avLst>
            </a:prstGeom>
            <a:effectLst>
              <a:outerShdw blurRad="50800" dist="38100" dir="2700000" algn="tl" rotWithShape="0">
                <a:srgbClr val="000000">
                  <a:alpha val="50000"/>
                </a:srgbClr>
              </a:outerShdw>
            </a:effectLst>
          </p:spPr>
        </p:pic>
        <p:sp>
          <p:nvSpPr>
            <p:cNvPr id="26" name="TextBox 25"/>
            <p:cNvSpPr txBox="1"/>
            <p:nvPr/>
          </p:nvSpPr>
          <p:spPr>
            <a:xfrm>
              <a:off x="329184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Restaurants in WeHo</a:t>
              </a:r>
            </a:p>
          </p:txBody>
        </p:sp>
      </p:grpSp>
      <p:pic>
        <p:nvPicPr>
          <p:cNvPr id="22" name="Picture 21" descr="NV_s07_g12.1_a0b89503.jpg"/>
          <p:cNvPicPr>
            <a:picLocks noChangeAspect="1"/>
          </p:cNvPicPr>
          <p:nvPr/>
        </p:nvPicPr>
        <p:blipFill>
          <a:blip r:embed="rId5"/>
          <a:stretch>
            <a:fillRect/>
          </a:stretch>
        </p:blipFill>
        <p:spPr>
          <a:xfrm>
            <a:off x="6746443" y="3401568"/>
            <a:ext cx="1457553" cy="969326"/>
          </a:xfrm>
          <a:prstGeom prst="rect">
            <a:avLst/>
          </a:prstGeom>
        </p:spPr>
      </p:pic>
      <p:grpSp>
        <p:nvGrpSpPr>
          <p:cNvPr id="137" name="Group pair 137"/>
          <p:cNvGrpSpPr/>
          <p:nvPr/>
        </p:nvGrpSpPr>
        <p:grpSpPr>
          <a:xfrm>
            <a:off x="6126480" y="4443984"/>
            <a:ext cx="2697480" cy="1517904"/>
            <a:chOff x="6126480" y="4443984"/>
            <a:chExt cx="2697480" cy="1517904"/>
          </a:xfrm>
        </p:grpSpPr>
        <p:pic>
          <p:nvPicPr>
            <p:cNvPr id="23" name="Picture 22" descr="NV_s07_g12.2_3444df7e.png"/>
            <p:cNvPicPr>
              <a:picLocks noChangeAspect="1"/>
            </p:cNvPicPr>
            <p:nvPr/>
          </p:nvPicPr>
          <p:blipFill>
            <a:blip r:embed="rId6"/>
            <a:stretch>
              <a:fillRect/>
            </a:stretch>
          </p:blipFill>
          <p:spPr>
            <a:xfrm>
              <a:off x="6746443" y="4443984"/>
              <a:ext cx="1457553" cy="1151467"/>
            </a:xfrm>
            <a:prstGeom prst="rect">
              <a:avLst/>
            </a:prstGeom>
          </p:spPr>
        </p:pic>
        <p:sp>
          <p:nvSpPr>
            <p:cNvPr id="27" name="TextBox 26"/>
            <p:cNvSpPr txBox="1"/>
            <p:nvPr/>
          </p:nvSpPr>
          <p:spPr>
            <a:xfrm>
              <a:off x="612648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Wide-body aircraft</a:t>
              </a:r>
            </a:p>
          </p:txBody>
        </p:sp>
      </p:grpSp>
      <p:grpSp>
        <p:nvGrpSpPr>
          <p:cNvPr id="138" name="Group pair 138"/>
          <p:cNvGrpSpPr/>
          <p:nvPr/>
        </p:nvGrpSpPr>
        <p:grpSpPr>
          <a:xfrm>
            <a:off x="8915400" y="3401568"/>
            <a:ext cx="2697480" cy="2560320"/>
            <a:chOff x="8915400" y="3401568"/>
            <a:chExt cx="2697480" cy="2560320"/>
          </a:xfrm>
        </p:grpSpPr>
        <p:pic>
          <p:nvPicPr>
            <p:cNvPr id="24" name="Picture 23" descr="NV_s07_13_4dc4c7c4.jpg"/>
            <p:cNvPicPr>
              <a:picLocks noChangeAspect="1"/>
            </p:cNvPicPr>
            <p:nvPr/>
          </p:nvPicPr>
          <p:blipFill>
            <a:blip r:embed="rId7"/>
            <a:stretch>
              <a:fillRect/>
            </a:stretch>
          </p:blipFill>
          <p:spPr>
            <a:xfrm>
              <a:off x="9226296" y="3401568"/>
              <a:ext cx="2073700" cy="2194560"/>
            </a:xfrm>
            <a:prstGeom prst="rect">
              <a:avLst/>
            </a:prstGeom>
          </p:spPr>
        </p:pic>
        <p:sp>
          <p:nvSpPr>
            <p:cNvPr id="28" name="TextBox 27"/>
            <p:cNvSpPr txBox="1"/>
            <p:nvPr/>
          </p:nvSpPr>
          <p:spPr>
            <a:xfrm>
              <a:off x="891540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Municipal utilities</a:t>
              </a:r>
            </a:p>
          </p:txBody>
        </p:sp>
      </p:grpSp>
      <p:grpSp>
        <p:nvGrpSpPr>
          <p:cNvPr id="134" name="Group pair 134"/>
          <p:cNvGrpSpPr/>
          <p:nvPr/>
        </p:nvGrpSpPr>
        <p:grpSpPr>
          <a:xfrm>
            <a:off x="1033271" y="5998464"/>
            <a:ext cx="1554480" cy="420624"/>
            <a:chOff x="1033271" y="5998464"/>
            <a:chExt cx="1554480" cy="420624"/>
          </a:xfrm>
        </p:grpSpPr>
        <p:sp>
          <p:nvSpPr>
            <p:cNvPr id="29" name="Rounded Rectangle 28"/>
            <p:cNvSpPr/>
            <p:nvPr/>
          </p:nvSpPr>
          <p:spPr>
            <a:xfrm>
              <a:off x="1033271" y="5998464"/>
              <a:ext cx="1554480" cy="42062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ounded Rectangle 29"/>
            <p:cNvSpPr/>
            <p:nvPr/>
          </p:nvSpPr>
          <p:spPr>
            <a:xfrm>
              <a:off x="1033271" y="5998464"/>
              <a:ext cx="1554480" cy="420624"/>
            </a:xfrm>
            <a:prstGeom prst="roundRect">
              <a:avLst>
                <a:gd name="adj" fmla="val 30000"/>
              </a:avLst>
            </a:prstGeom>
            <a:solidFill>
              <a:srgbClr val="C00000">
                <a:alpha val="30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TODAY</a:t>
              </a:r>
            </a:p>
          </p:txBody>
        </p:sp>
      </p:gr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FDE0808A-C7B3-55BB-BE33-D789A22A62C4}" type="slidenum">
              <a:rPr lang="en-US" sz="1200" dirty="0">
                <a:solidFill>
                  <a:srgbClr val="555B66"/>
                </a:solidFill>
                <a:latin typeface="Calibri"/>
              </a:rPr>
              <a:t>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5"/>
                                        </p:tgtEl>
                                        <p:attrNameLst>
                                          <p:attrName>style.visibility</p:attrName>
                                        </p:attrNameLst>
                                      </p:cBhvr>
                                      <p:to>
                                        <p:strVal val="visible"/>
                                      </p:to>
                                    </p:set>
                                    <p:animEffect transition="in" filter="fade">
                                      <p:cBhvr>
                                        <p:cTn id="17" dur="500"/>
                                        <p:tgtEl>
                                          <p:spTgt spid="1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6"/>
                                        </p:tgtEl>
                                        <p:attrNameLst>
                                          <p:attrName>style.visibility</p:attrName>
                                        </p:attrNameLst>
                                      </p:cBhvr>
                                      <p:to>
                                        <p:strVal val="visible"/>
                                      </p:to>
                                    </p:set>
                                    <p:animEffect transition="in" filter="fade">
                                      <p:cBhvr>
                                        <p:cTn id="22" dur="500"/>
                                        <p:tgtEl>
                                          <p:spTgt spid="1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nodeType="withEffect">
                                  <p:stCondLst>
                                    <p:cond delay="0"/>
                                  </p:stCondLst>
                                  <p:childTnLst>
                                    <p:set>
                                      <p:cBhvr>
                                        <p:cTn id="29" dur="1" fill="hold">
                                          <p:stCondLst>
                                            <p:cond delay="0"/>
                                          </p:stCondLst>
                                        </p:cTn>
                                        <p:tgtEl>
                                          <p:spTgt spid="137"/>
                                        </p:tgtEl>
                                        <p:attrNameLst>
                                          <p:attrName>style.visibility</p:attrName>
                                        </p:attrNameLst>
                                      </p:cBhvr>
                                      <p:to>
                                        <p:strVal val="visible"/>
                                      </p:to>
                                    </p:set>
                                    <p:animEffect transition="in" filter="fade">
                                      <p:cBhvr>
                                        <p:cTn id="30" dur="500"/>
                                        <p:tgtEl>
                                          <p:spTgt spid="13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38"/>
                                        </p:tgtEl>
                                        <p:attrNameLst>
                                          <p:attrName>style.visibility</p:attrName>
                                        </p:attrNameLst>
                                      </p:cBhvr>
                                      <p:to>
                                        <p:strVal val="visible"/>
                                      </p:to>
                                    </p:set>
                                    <p:animEffect transition="in" filter="fade">
                                      <p:cBhvr>
                                        <p:cTn id="35" dur="500"/>
                                        <p:tgtEl>
                                          <p:spTgt spid="13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animEffect transition="in" filter="fade">
                                      <p:cBhvr>
                                        <p:cTn id="4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dirty="0">
                <a:solidFill>
                  <a:srgbClr val="0B2B4E"/>
                </a:solidFill>
                <a:latin typeface="Calibri"/>
              </a:rPr>
              <a:t>Perfect Competition</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2</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Rounded Rectangle 9"/>
          <p:cNvSpPr/>
          <p:nvPr/>
        </p:nvSpPr>
        <p:spPr>
          <a:xfrm>
            <a:off x="822960" y="204139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2" name="Rounded Rectangle 11"/>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2</a:t>
            </a:r>
          </a:p>
        </p:txBody>
      </p:sp>
      <p:sp>
        <p:nvSpPr>
          <p:cNvPr id="13" name="TextBox 12"/>
          <p:cNvSpPr txBox="1"/>
          <p:nvPr/>
        </p:nvSpPr>
        <p:spPr>
          <a:xfrm>
            <a:off x="1874519" y="209626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Perfect Competition</a:t>
            </a:r>
          </a:p>
          <a:p>
            <a:pPr algn="l">
              <a:spcBef>
                <a:spcPts val="0"/>
              </a:spcBef>
              <a:buNone/>
            </a:pPr>
            <a:r>
              <a:rPr sz="2200">
                <a:solidFill>
                  <a:srgbClr val="555B66"/>
                </a:solidFill>
                <a:latin typeface="Calibri"/>
              </a:rPr>
              <a:t>Many small sellers, an identical product, and free entry</a:t>
            </a: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6" name="TextBox 15"/>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26EFB99A-B290-50B4-9E80-1277B2FA641F}" type="slidenum">
              <a:rPr lang="en-US" sz="1200" dirty="0">
                <a:solidFill>
                  <a:srgbClr val="555B66"/>
                </a:solidFill>
                <a:latin typeface="Calibri"/>
              </a:rPr>
              <a:t>10</a:t>
            </a:fld>
            <a:endParaRPr lang="en-US" sz="1200" dirty="0">
              <a:solidFill>
                <a:srgbClr val="555B66"/>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The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274320" y="1554480"/>
            <a:ext cx="7955280" cy="4489704"/>
            <a:chOff x="274320" y="1554480"/>
            <a:chExt cx="7955280" cy="4489704"/>
          </a:xfrm>
        </p:grpSpPr>
        <p:sp>
          <p:nvSpPr>
            <p:cNvPr id="7" name="Rectangle 6"/>
            <p:cNvSpPr/>
            <p:nvPr/>
          </p:nvSpPr>
          <p:spPr>
            <a:xfrm>
              <a:off x="274320" y="1554480"/>
              <a:ext cx="7955280" cy="44805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411480" y="1691640"/>
            <a:ext cx="7680960" cy="4352544"/>
          </p:xfrm>
          <a:graphic>
            <a:graphicData uri="http://schemas.openxmlformats.org/drawingml/2006/table">
              <a:tbl>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66928">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200" b="1">
                            <a:solidFill>
                              <a:srgbClr val="FFFFFF"/>
                            </a:solidFill>
                            <a:latin typeface="Calibri"/>
                          </a:rPr>
                          <a:t>Perfect competition — price takers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822960">
                  <a:tc>
                    <a:txBody>
                      <a:bodyPr/>
                      <a:lstStyle/>
                      <a:p>
                        <a:pPr algn="l"/>
                        <a:r>
                          <a:rPr sz="2000" b="1">
                            <a:solidFill>
                              <a:srgbClr val="0B2B4E"/>
                            </a:solidFill>
                            <a:latin typeface="Calibri"/>
                          </a:rPr>
                          <a:t>Number of actual or
potential competitors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 small sellers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658368">
                  <a:tc>
                    <a:txBody>
                      <a:bodyPr/>
                      <a:lstStyle/>
                      <a:p>
                        <a:pPr algn="l"/>
                        <a:r>
                          <a:rPr sz="2000" b="1">
                            <a:solidFill>
                              <a:srgbClr val="0B2B4E"/>
                            </a:solidFill>
                            <a:latin typeface="Calibri"/>
                          </a:rPr>
                          <a:t>Product differentiation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658368">
                  <a:tc>
                    <a:txBody>
                      <a:bodyPr/>
                      <a:lstStyle/>
                      <a:p>
                        <a:pPr algn="l"/>
                        <a:r>
                          <a:rPr sz="2000" b="1">
                            <a:solidFill>
                              <a:srgbClr val="0B2B4E"/>
                            </a:solidFill>
                            <a:latin typeface="Calibri"/>
                          </a:rPr>
                          <a:t>Entry conditions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 barriers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914400">
                  <a:tc>
                    <a:txBody>
                      <a:bodyPr/>
                      <a:lstStyle/>
                      <a:p>
                        <a:pPr algn="l"/>
                        <a:r>
                          <a:rPr sz="2000" b="1">
                            <a:solidFill>
                              <a:srgbClr val="0B2B4E"/>
                            </a:solidFill>
                            <a:latin typeface="Calibri"/>
                          </a:rPr>
                          <a:t>Profit potential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Short run: can be positive, negative or zero
Long run: zero economic profit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731520">
                  <a:tc>
                    <a:txBody>
                      <a:bodyPr/>
                      <a:lstStyle/>
                      <a:p>
                        <a:pPr algn="l"/>
                        <a:r>
                          <a:rPr sz="2000" b="1">
                            <a:solidFill>
                              <a:srgbClr val="0B2B4E"/>
                            </a:solidFill>
                            <a:latin typeface="Calibri"/>
                          </a:rPr>
                          <a:t>Examples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Agricultural commodities; currency markets; unskilled labor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pic>
        <p:nvPicPr>
          <p:cNvPr id="9" name="Picture 8" descr="Wheat Famers.png"/>
          <p:cNvPicPr>
            <a:picLocks noChangeAspect="1"/>
          </p:cNvPicPr>
          <p:nvPr/>
        </p:nvPicPr>
        <p:blipFill>
          <a:blip r:embed="rId3"/>
          <a:stretch>
            <a:fillRect/>
          </a:stretch>
        </p:blipFill>
        <p:spPr>
          <a:xfrm>
            <a:off x="8613648" y="2304288"/>
            <a:ext cx="3108960" cy="3108960"/>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DD9ABE14-3AE8-5115-8866-7D6C21C4E047}" type="slidenum">
              <a:rPr lang="en-US" sz="1200" dirty="0">
                <a:solidFill>
                  <a:srgbClr val="555B66"/>
                </a:solidFill>
                <a:latin typeface="Calibri"/>
              </a:rPr>
              <a:t>11</a:t>
            </a:fld>
            <a:endParaRPr lang="en-US" sz="1200" dirty="0">
              <a:solidFill>
                <a:srgbClr val="555B66"/>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The Market and the Firm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66444" y="1890522"/>
            <a:ext cx="3200400" cy="365760"/>
          </a:xfrm>
          <a:prstGeom prst="rect">
            <a:avLst/>
          </a:prstGeom>
          <a:noFill/>
        </p:spPr>
        <p:txBody>
          <a:bodyPr wrap="square" lIns="0" tIns="0" rIns="0" bIns="0">
            <a:spAutoFit/>
          </a:bodyPr>
          <a:lstStyle/>
          <a:p>
            <a:pPr algn="ctr"/>
            <a:r>
              <a:rPr sz="2200" b="1" i="0" u="none" dirty="0">
                <a:solidFill>
                  <a:srgbClr val="0B2B4E"/>
                </a:solidFill>
                <a:latin typeface="Calibri"/>
              </a:rPr>
              <a:t>Market</a:t>
            </a:r>
          </a:p>
        </p:txBody>
      </p:sp>
      <p:sp>
        <p:nvSpPr>
          <p:cNvPr id="8" name="TextBox 7"/>
          <p:cNvSpPr txBox="1"/>
          <p:nvPr/>
        </p:nvSpPr>
        <p:spPr>
          <a:xfrm>
            <a:off x="7450836" y="1984248"/>
            <a:ext cx="3474720" cy="365760"/>
          </a:xfrm>
          <a:prstGeom prst="rect">
            <a:avLst/>
          </a:prstGeom>
          <a:noFill/>
        </p:spPr>
        <p:txBody>
          <a:bodyPr wrap="square" lIns="0" tIns="0" rIns="0" bIns="0">
            <a:spAutoFit/>
          </a:bodyPr>
          <a:lstStyle/>
          <a:p>
            <a:pPr algn="ctr"/>
            <a:r>
              <a:rPr sz="2200" b="1" i="0" u="none" dirty="0">
                <a:solidFill>
                  <a:srgbClr val="0B2B4E"/>
                </a:solidFill>
                <a:latin typeface="Calibri"/>
              </a:rPr>
              <a:t>Firm (price taker)</a:t>
            </a:r>
          </a:p>
        </p:txBody>
      </p:sp>
      <p:cxnSp>
        <p:nvCxnSpPr>
          <p:cNvPr id="9" name="Connector 8"/>
          <p:cNvCxnSpPr/>
          <p:nvPr/>
        </p:nvCxnSpPr>
        <p:spPr>
          <a:xfrm flipV="1">
            <a:off x="12801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0160" y="5806440"/>
            <a:ext cx="33649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0430"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2" name="TextBox 11"/>
          <p:cNvSpPr txBox="1"/>
          <p:nvPr/>
        </p:nvSpPr>
        <p:spPr>
          <a:xfrm>
            <a:off x="4199001"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3" name="Connector 12"/>
          <p:cNvCxnSpPr/>
          <p:nvPr/>
        </p:nvCxnSpPr>
        <p:spPr>
          <a:xfrm flipV="1">
            <a:off x="72237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223760" y="5806440"/>
            <a:ext cx="3639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44031"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6" name="TextBox 15"/>
          <p:cNvSpPr txBox="1"/>
          <p:nvPr/>
        </p:nvSpPr>
        <p:spPr>
          <a:xfrm>
            <a:off x="10416920"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7" name="Connector 16"/>
          <p:cNvCxnSpPr/>
          <p:nvPr/>
        </p:nvCxnSpPr>
        <p:spPr>
          <a:xfrm flipV="1">
            <a:off x="1472184" y="2884932"/>
            <a:ext cx="2752343" cy="259689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72184" y="2884932"/>
            <a:ext cx="2752343" cy="2596895"/>
          </a:xfrm>
          <a:prstGeom prst="line">
            <a:avLst/>
          </a:prstGeom>
          <a:ln w="31750">
            <a:solidFill>
              <a:srgbClr val="B8860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72533" y="2738628"/>
            <a:ext cx="206502" cy="292608"/>
          </a:xfrm>
          <a:prstGeom prst="rect">
            <a:avLst/>
          </a:prstGeom>
          <a:noFill/>
        </p:spPr>
        <p:txBody>
          <a:bodyPr wrap="square" lIns="0" tIns="0" rIns="0" bIns="0">
            <a:spAutoFit/>
          </a:bodyPr>
          <a:lstStyle/>
          <a:p>
            <a:pPr algn="l"/>
            <a:r>
              <a:rPr sz="2000" b="1" i="1" u="none">
                <a:solidFill>
                  <a:srgbClr val="0B2B4E"/>
                </a:solidFill>
                <a:latin typeface="Calibri"/>
              </a:rPr>
              <a:t>S</a:t>
            </a:r>
          </a:p>
        </p:txBody>
      </p:sp>
      <p:sp>
        <p:nvSpPr>
          <p:cNvPr id="20" name="TextBox 19"/>
          <p:cNvSpPr txBox="1"/>
          <p:nvPr/>
        </p:nvSpPr>
        <p:spPr>
          <a:xfrm>
            <a:off x="4272533" y="5303062"/>
            <a:ext cx="235077" cy="292608"/>
          </a:xfrm>
          <a:prstGeom prst="rect">
            <a:avLst/>
          </a:prstGeom>
          <a:noFill/>
        </p:spPr>
        <p:txBody>
          <a:bodyPr wrap="square" lIns="0" tIns="0" rIns="0" bIns="0">
            <a:spAutoFit/>
          </a:bodyPr>
          <a:lstStyle/>
          <a:p>
            <a:pPr algn="l"/>
            <a:r>
              <a:rPr sz="2000" b="1" i="1" u="none">
                <a:solidFill>
                  <a:srgbClr val="B8860B"/>
                </a:solidFill>
                <a:latin typeface="Calibri"/>
              </a:rPr>
              <a:t>D</a:t>
            </a:r>
          </a:p>
        </p:txBody>
      </p:sp>
      <p:sp>
        <p:nvSpPr>
          <p:cNvPr id="21" name="Oval 20"/>
          <p:cNvSpPr/>
          <p:nvPr/>
        </p:nvSpPr>
        <p:spPr>
          <a:xfrm>
            <a:off x="2784348" y="4119371"/>
            <a:ext cx="128016" cy="128016"/>
          </a:xfrm>
          <a:prstGeom prst="ellipse">
            <a:avLst/>
          </a:prstGeom>
          <a:solidFill>
            <a:srgbClr val="C0000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2848356" y="4183379"/>
            <a:ext cx="4375404" cy="0"/>
          </a:xfrm>
          <a:prstGeom prst="line">
            <a:avLst/>
          </a:prstGeom>
          <a:ln w="25400">
            <a:solidFill>
              <a:srgbClr val="C00000"/>
            </a:solidFill>
            <a:prstDash val="dash"/>
            <a:tailEnd type="triangle" w="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80160" y="4183379"/>
            <a:ext cx="1568196"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95731" y="4046219"/>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5" name="TextBox 24"/>
          <p:cNvSpPr txBox="1"/>
          <p:nvPr/>
        </p:nvSpPr>
        <p:spPr>
          <a:xfrm>
            <a:off x="1979676" y="2450592"/>
            <a:ext cx="1737360" cy="548640"/>
          </a:xfrm>
          <a:prstGeom prst="rect">
            <a:avLst/>
          </a:prstGeom>
          <a:noFill/>
        </p:spPr>
        <p:txBody>
          <a:bodyPr wrap="square" lIns="0" tIns="0" rIns="0" bIns="0">
            <a:spAutoFit/>
          </a:bodyPr>
          <a:lstStyle/>
          <a:p>
            <a:pPr algn="ctr"/>
            <a:r>
              <a:rPr sz="1500" b="0" i="1" u="none">
                <a:solidFill>
                  <a:srgbClr val="C00000"/>
                </a:solidFill>
                <a:latin typeface="Calibri"/>
              </a:rPr>
              <a:t>Market
equilibrium</a:t>
            </a:r>
          </a:p>
        </p:txBody>
      </p:sp>
      <p:cxnSp>
        <p:nvCxnSpPr>
          <p:cNvPr id="26" name="Connector 25"/>
          <p:cNvCxnSpPr/>
          <p:nvPr/>
        </p:nvCxnSpPr>
        <p:spPr>
          <a:xfrm>
            <a:off x="2848356" y="3108960"/>
            <a:ext cx="0" cy="960120"/>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23760" y="4183379"/>
            <a:ext cx="3266236" cy="0"/>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281928" y="3931920"/>
            <a:ext cx="868680"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9" name="TextBox 28"/>
          <p:cNvSpPr txBox="1"/>
          <p:nvPr/>
        </p:nvSpPr>
        <p:spPr>
          <a:xfrm>
            <a:off x="7406640" y="3840480"/>
            <a:ext cx="4434840" cy="365760"/>
          </a:xfrm>
          <a:prstGeom prst="rect">
            <a:avLst/>
          </a:prstGeom>
          <a:noFill/>
        </p:spPr>
        <p:txBody>
          <a:bodyPr wrap="square" lIns="0" tIns="0" rIns="0" bIns="0">
            <a:spAutoFit/>
          </a:bodyPr>
          <a:lstStyle/>
          <a:p>
            <a:pPr algn="l"/>
            <a:r>
              <a:rPr sz="1700" b="1" i="0" u="none" dirty="0">
                <a:solidFill>
                  <a:srgbClr val="C00000"/>
                </a:solidFill>
                <a:latin typeface="Calibri"/>
              </a:rPr>
              <a:t>Demand curve  d  =  Marginal Revenue (MR)</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972B4CC0-F718-5ECA-B75E-378D901D90F2}" type="slidenum">
              <a:rPr lang="en-US" sz="1200" dirty="0">
                <a:solidFill>
                  <a:srgbClr val="555B66"/>
                </a:solidFill>
                <a:latin typeface="Calibri"/>
              </a:rPr>
              <a:t>12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5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10"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lang="en-US" sz="3200" b="1" i="0" u="none" dirty="0">
                <a:solidFill>
                  <a:srgbClr val="0B2B4E"/>
                </a:solidFill>
                <a:latin typeface="Calibri"/>
              </a:rPr>
              <a:t>Perfect Competition and Farmer Protests</a:t>
            </a:r>
            <a:endParaRPr sz="3200" b="1" i="0" u="none" dirty="0">
              <a:solidFill>
                <a:srgbClr val="0B2B4E"/>
              </a:solidFill>
              <a:latin typeface="Calibri"/>
            </a:endParaRP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9509760" cy="11887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Germany cut its farm subsidies in 2024</a:t>
            </a:r>
          </a:p>
          <a:p>
            <a:pPr algn="l"/>
            <a:r>
              <a:rPr>
                <a:latin typeface="Calibri"/>
              </a:rPr>
              <a:t>Some farmers stood to lose up to €10,000 a year</a:t>
            </a:r>
          </a:p>
        </p:txBody>
      </p:sp>
      <p:grpSp>
        <p:nvGrpSpPr>
          <p:cNvPr id="117" name="Group pair 117"/>
          <p:cNvGrpSpPr/>
          <p:nvPr/>
        </p:nvGrpSpPr>
        <p:grpSpPr>
          <a:xfrm>
            <a:off x="457200" y="2651760"/>
            <a:ext cx="5888736" cy="3840480"/>
            <a:chOff x="457200" y="2651760"/>
            <a:chExt cx="5888736" cy="3840480"/>
          </a:xfrm>
        </p:grpSpPr>
        <p:pic>
          <p:nvPicPr>
            <p:cNvPr id="8" name="Picture 7" descr="NV_s11_4_e363d6f5.png"/>
            <p:cNvPicPr>
              <a:picLocks noChangeAspect="1"/>
            </p:cNvPicPr>
            <p:nvPr/>
          </p:nvPicPr>
          <p:blipFill>
            <a:blip r:embed="rId3"/>
            <a:stretch>
              <a:fillRect/>
            </a:stretch>
          </p:blipFill>
          <p:spPr>
            <a:xfrm>
              <a:off x="457200" y="2651760"/>
              <a:ext cx="5888736" cy="3486752"/>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457200" y="6199632"/>
              <a:ext cx="5888736" cy="292608"/>
            </a:xfrm>
            <a:prstGeom prst="rect">
              <a:avLst/>
            </a:prstGeom>
            <a:noFill/>
          </p:spPr>
          <p:txBody>
            <a:bodyPr wrap="square" lIns="0" tIns="0" rIns="0" bIns="0">
              <a:spAutoFit/>
            </a:bodyPr>
            <a:lstStyle/>
            <a:p>
              <a:pPr algn="ctr"/>
              <a:r>
                <a:rPr sz="1200" b="0" i="1" u="none">
                  <a:solidFill>
                    <a:srgbClr val="555B66"/>
                  </a:solidFill>
                  <a:latin typeface="Calibri"/>
                </a:rPr>
                <a:t>Farmer protests in Berlin, January 2024. Photo: The Guardian</a:t>
              </a:r>
            </a:p>
          </p:txBody>
        </p:sp>
      </p:grpSp>
      <p:grpSp>
        <p:nvGrpSpPr>
          <p:cNvPr id="116" name="Group pair 116"/>
          <p:cNvGrpSpPr/>
          <p:nvPr/>
        </p:nvGrpSpPr>
        <p:grpSpPr>
          <a:xfrm>
            <a:off x="6784848" y="3200400"/>
            <a:ext cx="4965192" cy="1512752"/>
            <a:chOff x="7095744" y="3200400"/>
            <a:chExt cx="4654296" cy="2240280"/>
          </a:xfrm>
        </p:grpSpPr>
        <p:sp>
          <p:nvSpPr>
            <p:cNvPr id="10" name="Rounded Rectangle 9"/>
            <p:cNvSpPr/>
            <p:nvPr/>
          </p:nvSpPr>
          <p:spPr>
            <a:xfrm>
              <a:off x="7095744" y="3200400"/>
              <a:ext cx="4654296" cy="224028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78624" y="3310128"/>
              <a:ext cx="4288536" cy="2020824"/>
            </a:xfrm>
            <a:prstGeom prst="rect">
              <a:avLst/>
            </a:prstGeom>
            <a:noFill/>
          </p:spPr>
          <p:txBody>
            <a:bodyPr wrap="square" lIns="45720" tIns="0" rIns="45720" bIns="0" anchor="ctr">
              <a:spAutoFit/>
            </a:bodyPr>
            <a:lstStyle/>
            <a:p>
              <a:pPr algn="l"/>
              <a:r>
                <a:rPr sz="1900" b="0" i="1" u="none" dirty="0">
                  <a:solidFill>
                    <a:srgbClr val="0B2B4E"/>
                  </a:solidFill>
                  <a:latin typeface="Calibri"/>
                </a:rPr>
                <a:t>“For farmers there is a structural problem: they cannot pass on their production costs, because the prices are not made by them.”</a:t>
              </a:r>
              <a:r>
                <a:rPr sz="1900" b="0" i="0" u="none" dirty="0">
                  <a:solidFill>
                    <a:srgbClr val="0B2B4E"/>
                  </a:solidFill>
                  <a:latin typeface="Calibri"/>
                </a:rPr>
                <a:t>
</a:t>
              </a:r>
              <a:r>
                <a:rPr sz="1700" b="1" i="0" u="none" dirty="0">
                  <a:solidFill>
                    <a:srgbClr val="0B2B4E"/>
                  </a:solidFill>
                  <a:latin typeface="Calibri"/>
                </a:rPr>
                <a:t>— Germany's Minister of Economic Affairs, 2024</a:t>
              </a:r>
            </a:p>
          </p:txBody>
        </p:sp>
      </p:grpSp>
      <p:pic>
        <p:nvPicPr>
          <p:cNvPr id="12" name="Picture 11" descr="NV_s11_5_d816cef7.png"/>
          <p:cNvPicPr>
            <a:picLocks noChangeAspect="1"/>
          </p:cNvPicPr>
          <p:nvPr/>
        </p:nvPicPr>
        <p:blipFill>
          <a:blip r:embed="rId4"/>
          <a:stretch>
            <a:fillRect/>
          </a:stretch>
        </p:blipFill>
        <p:spPr>
          <a:xfrm>
            <a:off x="10149840" y="1417320"/>
            <a:ext cx="1600200" cy="562937"/>
          </a:xfrm>
          <a:prstGeom prst="rect">
            <a:avLst/>
          </a:prstGeom>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F2164A52-DE7E-5885-B494-5082134294D2}" type="slidenum">
              <a:rPr lang="en-US" sz="1200" dirty="0">
                <a:solidFill>
                  <a:srgbClr val="555B66"/>
                </a:solidFill>
                <a:latin typeface="Calibri"/>
              </a:rPr>
              <a:t>13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7"/>
                                        </p:tgtEl>
                                        <p:attrNameLst>
                                          <p:attrName>style.visibility</p:attrName>
                                        </p:attrNameLst>
                                      </p:cBhvr>
                                      <p:to>
                                        <p:strVal val="visible"/>
                                      </p:to>
                                    </p:set>
                                    <p:animEffect transition="in" filter="fade">
                                      <p:cBhvr>
                                        <p:cTn id="12" dur="500"/>
                                        <p:tgtEl>
                                          <p:spTgt spid="1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6"/>
                                        </p:tgtEl>
                                        <p:attrNameLst>
                                          <p:attrName>style.visibility</p:attrName>
                                        </p:attrNameLst>
                                      </p:cBhvr>
                                      <p:to>
                                        <p:strVal val="visible"/>
                                      </p:to>
                                    </p:set>
                                    <p:animEffect transition="in" filter="fade">
                                      <p:cBhvr>
                                        <p:cTn id="17"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dirty="0">
                <a:solidFill>
                  <a:srgbClr val="0B2B4E"/>
                </a:solidFill>
                <a:latin typeface="Calibri"/>
              </a:rPr>
              <a:t>Profit Maximization of a Price Taker</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3</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Rounded Rectangle 12"/>
          <p:cNvSpPr/>
          <p:nvPr/>
        </p:nvSpPr>
        <p:spPr>
          <a:xfrm>
            <a:off x="822960" y="2759202"/>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2a</a:t>
            </a:r>
          </a:p>
        </p:txBody>
      </p:sp>
      <p:sp>
        <p:nvSpPr>
          <p:cNvPr id="15" name="Rounded Rectangle 14"/>
          <p:cNvSpPr/>
          <p:nvPr/>
        </p:nvSpPr>
        <p:spPr>
          <a:xfrm>
            <a:off x="10707625" y="297865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6" name="TextBox 15"/>
          <p:cNvSpPr txBox="1"/>
          <p:nvPr/>
        </p:nvSpPr>
        <p:spPr>
          <a:xfrm>
            <a:off x="2148840" y="281406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Profit Maximization of a Price Taker in the Short Run</a:t>
            </a:r>
          </a:p>
          <a:p>
            <a:pPr algn="l">
              <a:spcBef>
                <a:spcPts val="0"/>
              </a:spcBef>
              <a:buNone/>
            </a:pPr>
            <a:r>
              <a:rPr sz="2000">
                <a:solidFill>
                  <a:srgbClr val="555B66"/>
                </a:solidFill>
                <a:latin typeface="Calibri"/>
              </a:rPr>
              <a:t>How much to produce, and when to stop production</a:t>
            </a: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9" name="TextBox 18"/>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53793BDB-F8E4-5A87-9208-0FE1942BB6AD}" type="slidenum">
              <a:rPr lang="en-US" sz="1200" dirty="0">
                <a:solidFill>
                  <a:srgbClr val="555B66"/>
                </a:solidFill>
                <a:latin typeface="Calibri"/>
              </a:rPr>
              <a:t>15</a:t>
            </a:fld>
            <a:endParaRPr lang="en-US" sz="1200" dirty="0">
              <a:solidFill>
                <a:srgbClr val="555B66"/>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Taker Revenue Conditions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4" name="Group pair 134"/>
          <p:cNvGrpSpPr/>
          <p:nvPr/>
        </p:nvGrpSpPr>
        <p:grpSpPr>
          <a:xfrm>
            <a:off x="548640" y="1965960"/>
            <a:ext cx="4297680" cy="2880360"/>
            <a:chOff x="548640" y="1965960"/>
            <a:chExt cx="4297680" cy="2880360"/>
          </a:xfrm>
        </p:grpSpPr>
        <p:sp>
          <p:nvSpPr>
            <p:cNvPr id="7" name="Rectangle 6"/>
            <p:cNvSpPr/>
            <p:nvPr/>
          </p:nvSpPr>
          <p:spPr>
            <a:xfrm>
              <a:off x="548640" y="1965960"/>
              <a:ext cx="4297680" cy="28803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extLst>
                <p:ext uri="{D42A27DB-BD31-4B8C-83A1-F6EECF244321}">
                  <p14:modId xmlns:p14="http://schemas.microsoft.com/office/powerpoint/2010/main" val="1976952268"/>
                </p:ext>
              </p:extLst>
            </p:nvPr>
          </p:nvGraphicFramePr>
          <p:xfrm>
            <a:off x="685800" y="2103120"/>
            <a:ext cx="4023360" cy="2615184"/>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66928">
                  <a:tc>
                    <a:txBody>
                      <a:bodyPr/>
                      <a:lstStyle/>
                      <a:p>
                        <a:pPr algn="ctr"/>
                        <a:r>
                          <a:rPr sz="1900" b="1">
                            <a:solidFill>
                              <a:srgbClr val="FFFFFF"/>
                            </a:solidFill>
                            <a:latin typeface="Calibri"/>
                          </a:rPr>
                          <a:t>P</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Q</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MR</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12064">
                  <a:tc>
                    <a:txBody>
                      <a:bodyPr/>
                      <a:lstStyle/>
                      <a:p>
                        <a:pPr algn="ctr"/>
                        <a:r>
                          <a:rPr sz="1900" b="1" dirty="0">
                            <a:solidFill>
                              <a:srgbClr val="C00000"/>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12064">
                  <a:tc>
                    <a:txBody>
                      <a:bodyPr/>
                      <a:lstStyle/>
                      <a:p>
                        <a:pPr algn="ctr"/>
                        <a:r>
                          <a:rPr sz="1900" b="1" dirty="0">
                            <a:solidFill>
                              <a:srgbClr val="C00000"/>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12064">
                  <a:tc>
                    <a:txBody>
                      <a:bodyPr/>
                      <a:lstStyle/>
                      <a:p>
                        <a:pPr algn="ctr"/>
                        <a:r>
                          <a:rPr sz="1900" b="1" dirty="0">
                            <a:solidFill>
                              <a:srgbClr val="C00000"/>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36</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12064">
                  <a:tc>
                    <a:txBody>
                      <a:bodyPr/>
                      <a:lstStyle/>
                      <a:p>
                        <a:pPr algn="ctr"/>
                        <a:r>
                          <a:rPr sz="1900" b="1" dirty="0">
                            <a:solidFill>
                              <a:srgbClr val="C00000"/>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dirty="0">
                            <a:solidFill>
                              <a:srgbClr val="0B2B4E"/>
                            </a:solidFill>
                            <a:latin typeface="Calibri"/>
                          </a:rPr>
                          <a:t>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bl>
            </a:graphicData>
          </a:graphic>
        </p:graphicFrame>
      </p:grpSp>
      <p:grpSp>
        <p:nvGrpSpPr>
          <p:cNvPr id="36" name="Group 35">
            <a:extLst>
              <a:ext uri="{FF2B5EF4-FFF2-40B4-BE49-F238E27FC236}">
                <a16:creationId xmlns:a16="http://schemas.microsoft.com/office/drawing/2014/main" id="{0D157F33-95B2-0C57-5F17-48D20FC425F3}"/>
              </a:ext>
            </a:extLst>
          </p:cNvPr>
          <p:cNvGrpSpPr/>
          <p:nvPr/>
        </p:nvGrpSpPr>
        <p:grpSpPr>
          <a:xfrm>
            <a:off x="5285232" y="1572768"/>
            <a:ext cx="3662934" cy="4197096"/>
            <a:chOff x="5285232" y="1572768"/>
            <a:chExt cx="3662934" cy="4197096"/>
          </a:xfrm>
        </p:grpSpPr>
        <p:sp>
          <p:nvSpPr>
            <p:cNvPr id="9" name="TextBox 8"/>
            <p:cNvSpPr txBox="1"/>
            <p:nvPr/>
          </p:nvSpPr>
          <p:spPr>
            <a:xfrm>
              <a:off x="5303520" y="1572768"/>
              <a:ext cx="3291840" cy="329184"/>
            </a:xfrm>
            <a:prstGeom prst="rect">
              <a:avLst/>
            </a:prstGeom>
            <a:noFill/>
          </p:spPr>
          <p:txBody>
            <a:bodyPr wrap="square" lIns="0" tIns="0" rIns="0" bIns="0">
              <a:spAutoFit/>
            </a:bodyPr>
            <a:lstStyle/>
            <a:p>
              <a:pPr algn="ctr"/>
              <a:r>
                <a:rPr sz="2000" b="1" i="0" u="none" dirty="0">
                  <a:solidFill>
                    <a:srgbClr val="0B2B4E"/>
                  </a:solidFill>
                  <a:latin typeface="Calibri"/>
                </a:rPr>
                <a:t>Total Revenue</a:t>
              </a:r>
            </a:p>
          </p:txBody>
        </p:sp>
        <p:cxnSp>
          <p:nvCxnSpPr>
            <p:cNvPr id="11" name="Connector 10"/>
            <p:cNvCxnSpPr/>
            <p:nvPr/>
          </p:nvCxnSpPr>
          <p:spPr>
            <a:xfrm flipV="1">
              <a:off x="5760720" y="2258568"/>
              <a:ext cx="0" cy="31821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60720" y="5440680"/>
              <a:ext cx="25420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41589" y="5504688"/>
              <a:ext cx="806577" cy="265176"/>
            </a:xfrm>
            <a:prstGeom prst="rect">
              <a:avLst/>
            </a:prstGeom>
            <a:noFill/>
          </p:spPr>
          <p:txBody>
            <a:bodyPr wrap="square" lIns="0" tIns="0" rIns="0" bIns="0">
              <a:spAutoFit/>
            </a:bodyPr>
            <a:lstStyle/>
            <a:p>
              <a:pPr algn="l"/>
              <a:r>
                <a:rPr sz="1600" b="1" i="1" u="none" dirty="0">
                  <a:solidFill>
                    <a:srgbClr val="0B2B4E"/>
                  </a:solidFill>
                  <a:latin typeface="Calibri"/>
                </a:rPr>
                <a:t>Quantity</a:t>
              </a:r>
            </a:p>
          </p:txBody>
        </p:sp>
        <p:sp>
          <p:nvSpPr>
            <p:cNvPr id="14" name="TextBox 13"/>
            <p:cNvSpPr txBox="1"/>
            <p:nvPr/>
          </p:nvSpPr>
          <p:spPr>
            <a:xfrm>
              <a:off x="5285232" y="1984248"/>
              <a:ext cx="640080" cy="246888"/>
            </a:xfrm>
            <a:prstGeom prst="rect">
              <a:avLst/>
            </a:prstGeom>
            <a:noFill/>
          </p:spPr>
          <p:txBody>
            <a:bodyPr wrap="square" lIns="0" tIns="0" rIns="0" bIns="0">
              <a:spAutoFit/>
            </a:bodyPr>
            <a:lstStyle/>
            <a:p>
              <a:pPr algn="l"/>
              <a:r>
                <a:rPr sz="1600" b="1" i="1" u="none" dirty="0">
                  <a:solidFill>
                    <a:srgbClr val="0B2B4E"/>
                  </a:solidFill>
                  <a:latin typeface="Calibri"/>
                </a:rPr>
                <a:t>TR ($)</a:t>
              </a:r>
            </a:p>
          </p:txBody>
        </p:sp>
      </p:grpSp>
      <p:grpSp>
        <p:nvGrpSpPr>
          <p:cNvPr id="37" name="Group 36">
            <a:extLst>
              <a:ext uri="{FF2B5EF4-FFF2-40B4-BE49-F238E27FC236}">
                <a16:creationId xmlns:a16="http://schemas.microsoft.com/office/drawing/2014/main" id="{567659F6-BEB2-57E5-296F-08DC8A69189D}"/>
              </a:ext>
            </a:extLst>
          </p:cNvPr>
          <p:cNvGrpSpPr/>
          <p:nvPr/>
        </p:nvGrpSpPr>
        <p:grpSpPr>
          <a:xfrm>
            <a:off x="5760720" y="2496312"/>
            <a:ext cx="2542031" cy="2944368"/>
            <a:chOff x="5760720" y="2496312"/>
            <a:chExt cx="2542031" cy="2944368"/>
          </a:xfrm>
        </p:grpSpPr>
        <p:cxnSp>
          <p:nvCxnSpPr>
            <p:cNvPr id="15" name="Connector 14"/>
            <p:cNvCxnSpPr/>
            <p:nvPr/>
          </p:nvCxnSpPr>
          <p:spPr>
            <a:xfrm flipV="1">
              <a:off x="5760720" y="2800350"/>
              <a:ext cx="2218944" cy="264033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970775" y="2496312"/>
              <a:ext cx="1331976" cy="276999"/>
            </a:xfrm>
            <a:prstGeom prst="rect">
              <a:avLst/>
            </a:prstGeom>
            <a:noFill/>
          </p:spPr>
          <p:txBody>
            <a:bodyPr wrap="square" lIns="0" tIns="0" rIns="0" bIns="0">
              <a:spAutoFit/>
            </a:bodyPr>
            <a:lstStyle/>
            <a:p>
              <a:pPr algn="l"/>
              <a:r>
                <a:rPr sz="1800" b="1" i="1" u="none" dirty="0">
                  <a:solidFill>
                    <a:srgbClr val="0B2B4E"/>
                  </a:solidFill>
                  <a:latin typeface="Calibri"/>
                </a:rPr>
                <a:t>TR  =  P · Q</a:t>
              </a:r>
            </a:p>
          </p:txBody>
        </p:sp>
      </p:grpSp>
      <p:grpSp>
        <p:nvGrpSpPr>
          <p:cNvPr id="38" name="Group 37">
            <a:extLst>
              <a:ext uri="{FF2B5EF4-FFF2-40B4-BE49-F238E27FC236}">
                <a16:creationId xmlns:a16="http://schemas.microsoft.com/office/drawing/2014/main" id="{99A289BC-A0A1-6AB2-401D-E3BA90CAC0E4}"/>
              </a:ext>
            </a:extLst>
          </p:cNvPr>
          <p:cNvGrpSpPr/>
          <p:nvPr/>
        </p:nvGrpSpPr>
        <p:grpSpPr>
          <a:xfrm>
            <a:off x="5414391" y="3417570"/>
            <a:ext cx="2067878" cy="2352294"/>
            <a:chOff x="5414391" y="3417570"/>
            <a:chExt cx="2067878" cy="2352294"/>
          </a:xfrm>
        </p:grpSpPr>
        <p:cxnSp>
          <p:nvCxnSpPr>
            <p:cNvPr id="17" name="Connector 16"/>
            <p:cNvCxnSpPr/>
            <p:nvPr/>
          </p:nvCxnSpPr>
          <p:spPr>
            <a:xfrm>
              <a:off x="5760720" y="3554730"/>
              <a:ext cx="158496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45680" y="3554730"/>
              <a:ext cx="0" cy="188595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209092" y="5495544"/>
              <a:ext cx="273177" cy="274320"/>
            </a:xfrm>
            <a:prstGeom prst="rect">
              <a:avLst/>
            </a:prstGeom>
            <a:noFill/>
          </p:spPr>
          <p:txBody>
            <a:bodyPr wrap="square" lIns="0" tIns="0" rIns="0" bIns="0">
              <a:spAutoFit/>
            </a:bodyPr>
            <a:lstStyle/>
            <a:p>
              <a:pPr algn="ctr"/>
              <a:r>
                <a:rPr sz="1500" b="0" i="1" u="none">
                  <a:solidFill>
                    <a:srgbClr val="0B2B4E"/>
                  </a:solidFill>
                  <a:latin typeface="Calibri"/>
                </a:rPr>
                <a:t>10</a:t>
              </a:r>
            </a:p>
          </p:txBody>
        </p:sp>
        <p:sp>
          <p:nvSpPr>
            <p:cNvPr id="20" name="TextBox 19"/>
            <p:cNvSpPr txBox="1"/>
            <p:nvPr/>
          </p:nvSpPr>
          <p:spPr>
            <a:xfrm>
              <a:off x="5414391" y="3417570"/>
              <a:ext cx="273177" cy="274320"/>
            </a:xfrm>
            <a:prstGeom prst="rect">
              <a:avLst/>
            </a:prstGeom>
            <a:noFill/>
          </p:spPr>
          <p:txBody>
            <a:bodyPr wrap="square" lIns="0" tIns="0" rIns="0" bIns="0">
              <a:spAutoFit/>
            </a:bodyPr>
            <a:lstStyle/>
            <a:p>
              <a:pPr algn="r"/>
              <a:r>
                <a:rPr sz="1500" b="0" i="1" u="none">
                  <a:solidFill>
                    <a:srgbClr val="0B2B4E"/>
                  </a:solidFill>
                  <a:latin typeface="Calibri"/>
                </a:rPr>
                <a:t>30</a:t>
              </a:r>
            </a:p>
          </p:txBody>
        </p:sp>
      </p:grpSp>
      <p:grpSp>
        <p:nvGrpSpPr>
          <p:cNvPr id="40" name="Group 39">
            <a:extLst>
              <a:ext uri="{FF2B5EF4-FFF2-40B4-BE49-F238E27FC236}">
                <a16:creationId xmlns:a16="http://schemas.microsoft.com/office/drawing/2014/main" id="{0F4C636A-E794-F3E1-103F-FD2339751E30}"/>
              </a:ext>
            </a:extLst>
          </p:cNvPr>
          <p:cNvGrpSpPr/>
          <p:nvPr/>
        </p:nvGrpSpPr>
        <p:grpSpPr>
          <a:xfrm>
            <a:off x="8732520" y="1572768"/>
            <a:ext cx="3402520" cy="4178808"/>
            <a:chOff x="8732520" y="1572768"/>
            <a:chExt cx="3402520" cy="4178808"/>
          </a:xfrm>
        </p:grpSpPr>
        <p:sp>
          <p:nvSpPr>
            <p:cNvPr id="10" name="TextBox 9"/>
            <p:cNvSpPr txBox="1"/>
            <p:nvPr/>
          </p:nvSpPr>
          <p:spPr>
            <a:xfrm>
              <a:off x="8732520" y="1572768"/>
              <a:ext cx="3291840" cy="329184"/>
            </a:xfrm>
            <a:prstGeom prst="rect">
              <a:avLst/>
            </a:prstGeom>
            <a:noFill/>
          </p:spPr>
          <p:txBody>
            <a:bodyPr wrap="square" lIns="0" tIns="0" rIns="0" bIns="0">
              <a:spAutoFit/>
            </a:bodyPr>
            <a:lstStyle/>
            <a:p>
              <a:pPr algn="ctr"/>
              <a:r>
                <a:rPr sz="2000" b="1" i="0" u="none" dirty="0">
                  <a:solidFill>
                    <a:srgbClr val="0B2B4E"/>
                  </a:solidFill>
                  <a:latin typeface="Calibri"/>
                </a:rPr>
                <a:t>The Firm's Demand</a:t>
              </a:r>
            </a:p>
          </p:txBody>
        </p:sp>
        <p:grpSp>
          <p:nvGrpSpPr>
            <p:cNvPr id="39" name="Group 38">
              <a:extLst>
                <a:ext uri="{FF2B5EF4-FFF2-40B4-BE49-F238E27FC236}">
                  <a16:creationId xmlns:a16="http://schemas.microsoft.com/office/drawing/2014/main" id="{042EE6DC-77B9-AAC0-F69A-EF3C4ADE415F}"/>
                </a:ext>
              </a:extLst>
            </p:cNvPr>
            <p:cNvGrpSpPr/>
            <p:nvPr/>
          </p:nvGrpSpPr>
          <p:grpSpPr>
            <a:xfrm>
              <a:off x="8759952" y="2048256"/>
              <a:ext cx="3375088" cy="3703320"/>
              <a:chOff x="8759952" y="2048256"/>
              <a:chExt cx="3375088" cy="3703320"/>
            </a:xfrm>
          </p:grpSpPr>
          <p:cxnSp>
            <p:nvCxnSpPr>
              <p:cNvPr id="21" name="Connector 20"/>
              <p:cNvCxnSpPr/>
              <p:nvPr/>
            </p:nvCxnSpPr>
            <p:spPr>
              <a:xfrm flipV="1">
                <a:off x="9189720" y="2258568"/>
                <a:ext cx="0" cy="31821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189720" y="5440680"/>
                <a:ext cx="25420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328463" y="5486400"/>
                <a:ext cx="806577" cy="265176"/>
              </a:xfrm>
              <a:prstGeom prst="rect">
                <a:avLst/>
              </a:prstGeom>
              <a:noFill/>
            </p:spPr>
            <p:txBody>
              <a:bodyPr wrap="square" lIns="0" tIns="0" rIns="0" bIns="0">
                <a:spAutoFit/>
              </a:bodyPr>
              <a:lstStyle/>
              <a:p>
                <a:pPr algn="l"/>
                <a:r>
                  <a:rPr sz="1600" b="1" i="1" u="none">
                    <a:solidFill>
                      <a:srgbClr val="0B2B4E"/>
                    </a:solidFill>
                    <a:latin typeface="Calibri"/>
                  </a:rPr>
                  <a:t>Quantity</a:t>
                </a:r>
              </a:p>
            </p:txBody>
          </p:sp>
          <p:sp>
            <p:nvSpPr>
              <p:cNvPr id="24" name="TextBox 23"/>
              <p:cNvSpPr txBox="1"/>
              <p:nvPr/>
            </p:nvSpPr>
            <p:spPr>
              <a:xfrm>
                <a:off x="8759952" y="2048256"/>
                <a:ext cx="493776" cy="246888"/>
              </a:xfrm>
              <a:prstGeom prst="rect">
                <a:avLst/>
              </a:prstGeom>
              <a:noFill/>
            </p:spPr>
            <p:txBody>
              <a:bodyPr wrap="square" lIns="0" tIns="0" rIns="0" bIns="0">
                <a:spAutoFit/>
              </a:bodyPr>
              <a:lstStyle/>
              <a:p>
                <a:pPr algn="l"/>
                <a:r>
                  <a:rPr sz="1600" b="1" i="1" u="none" dirty="0">
                    <a:solidFill>
                      <a:srgbClr val="0B2B4E"/>
                    </a:solidFill>
                    <a:latin typeface="Calibri"/>
                  </a:rPr>
                  <a:t>P ($)</a:t>
                </a:r>
              </a:p>
            </p:txBody>
          </p:sp>
        </p:grpSp>
      </p:grpSp>
      <p:grpSp>
        <p:nvGrpSpPr>
          <p:cNvPr id="41" name="Group 40">
            <a:extLst>
              <a:ext uri="{FF2B5EF4-FFF2-40B4-BE49-F238E27FC236}">
                <a16:creationId xmlns:a16="http://schemas.microsoft.com/office/drawing/2014/main" id="{73BD5F60-AE55-38F7-E454-3B4BF189E3EE}"/>
              </a:ext>
            </a:extLst>
          </p:cNvPr>
          <p:cNvGrpSpPr/>
          <p:nvPr/>
        </p:nvGrpSpPr>
        <p:grpSpPr>
          <a:xfrm>
            <a:off x="8948166" y="3968496"/>
            <a:ext cx="2820162" cy="477774"/>
            <a:chOff x="8948166" y="3968496"/>
            <a:chExt cx="2820162" cy="477774"/>
          </a:xfrm>
        </p:grpSpPr>
        <p:cxnSp>
          <p:nvCxnSpPr>
            <p:cNvPr id="25" name="Connector 24"/>
            <p:cNvCxnSpPr/>
            <p:nvPr/>
          </p:nvCxnSpPr>
          <p:spPr>
            <a:xfrm>
              <a:off x="9189720" y="4309110"/>
              <a:ext cx="2218944" cy="0"/>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948166" y="4171950"/>
              <a:ext cx="168402" cy="274320"/>
            </a:xfrm>
            <a:prstGeom prst="rect">
              <a:avLst/>
            </a:prstGeom>
            <a:noFill/>
          </p:spPr>
          <p:txBody>
            <a:bodyPr wrap="square" lIns="0" tIns="0" rIns="0" bIns="0">
              <a:spAutoFit/>
            </a:bodyPr>
            <a:lstStyle/>
            <a:p>
              <a:pPr algn="r"/>
              <a:r>
                <a:rPr sz="1500" b="0" i="1" u="none">
                  <a:solidFill>
                    <a:srgbClr val="C00000"/>
                  </a:solidFill>
                  <a:latin typeface="Calibri"/>
                </a:rPr>
                <a:t>3</a:t>
              </a:r>
            </a:p>
          </p:txBody>
        </p:sp>
        <p:sp>
          <p:nvSpPr>
            <p:cNvPr id="27" name="TextBox 26"/>
            <p:cNvSpPr txBox="1"/>
            <p:nvPr/>
          </p:nvSpPr>
          <p:spPr>
            <a:xfrm>
              <a:off x="9162288" y="3968496"/>
              <a:ext cx="2606040" cy="310896"/>
            </a:xfrm>
            <a:prstGeom prst="rect">
              <a:avLst/>
            </a:prstGeom>
            <a:noFill/>
          </p:spPr>
          <p:txBody>
            <a:bodyPr wrap="square" lIns="0" tIns="0" rIns="0" bIns="0">
              <a:spAutoFit/>
            </a:bodyPr>
            <a:lstStyle/>
            <a:p>
              <a:pPr algn="ctr"/>
              <a:r>
                <a:rPr sz="1800" b="1" i="1" u="none" dirty="0">
                  <a:solidFill>
                    <a:srgbClr val="C00000"/>
                  </a:solidFill>
                  <a:latin typeface="Calibri"/>
                </a:rPr>
                <a:t>d  =  P  =  MR</a:t>
              </a:r>
            </a:p>
          </p:txBody>
        </p:sp>
      </p:grpSp>
      <p:grpSp>
        <p:nvGrpSpPr>
          <p:cNvPr id="133" name="Group pair 133"/>
          <p:cNvGrpSpPr/>
          <p:nvPr/>
        </p:nvGrpSpPr>
        <p:grpSpPr>
          <a:xfrm>
            <a:off x="685800" y="5074920"/>
            <a:ext cx="4023360" cy="868680"/>
            <a:chOff x="685800" y="5074920"/>
            <a:chExt cx="4023360" cy="868680"/>
          </a:xfrm>
        </p:grpSpPr>
        <p:sp>
          <p:nvSpPr>
            <p:cNvPr id="28" name="Rounded Rectangle 27"/>
            <p:cNvSpPr/>
            <p:nvPr/>
          </p:nvSpPr>
          <p:spPr>
            <a:xfrm>
              <a:off x="685800" y="5074920"/>
              <a:ext cx="4023360" cy="8686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68680" y="5263039"/>
              <a:ext cx="3657600" cy="492443"/>
            </a:xfrm>
            <a:prstGeom prst="rect">
              <a:avLst/>
            </a:prstGeom>
            <a:noFill/>
          </p:spPr>
          <p:txBody>
            <a:bodyPr wrap="square" lIns="45720" tIns="0" rIns="45720" bIns="0" anchor="ctr">
              <a:spAutoFit/>
            </a:bodyPr>
            <a:lstStyle/>
            <a:p>
              <a:pPr algn="l"/>
              <a:r>
                <a:rPr sz="1600" b="0" i="0" u="none" dirty="0">
                  <a:solidFill>
                    <a:srgbClr val="0B2B4E"/>
                  </a:solidFill>
                  <a:latin typeface="Calibri"/>
                </a:rPr>
                <a:t>Selling one more unit always brings in the same </a:t>
              </a:r>
              <a:r>
                <a:rPr sz="1600" b="0" i="0" u="none" dirty="0">
                  <a:solidFill>
                    <a:srgbClr val="C00000"/>
                  </a:solidFill>
                  <a:latin typeface="Calibri"/>
                </a:rPr>
                <a:t>$3</a:t>
              </a:r>
              <a:r>
                <a:rPr sz="1600" b="0" i="0" u="none" dirty="0">
                  <a:solidFill>
                    <a:srgbClr val="0B2B4E"/>
                  </a:solidFill>
                  <a:latin typeface="Calibri"/>
                </a:rPr>
                <a:t>, so MR = P at every quantity</a:t>
              </a:r>
            </a:p>
          </p:txBody>
        </p:sp>
      </p:gr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889F1E5C-E4B8-512C-94F0-E88E46A52CE2}" type="slidenum">
              <a:rPr lang="en-US" sz="1200" dirty="0">
                <a:solidFill>
                  <a:srgbClr val="555B66"/>
                </a:solidFill>
                <a:latin typeface="Calibri"/>
              </a:rPr>
              <a:t>16</a:t>
            </a:fld>
            <a:endParaRPr lang="en-US" sz="1200" dirty="0">
              <a:solidFill>
                <a:srgbClr val="555B66"/>
              </a:solidFill>
              <a:latin typeface="Calibri"/>
            </a:endParaRPr>
          </a:p>
        </p:txBody>
      </p:sp>
      <p:sp>
        <p:nvSpPr>
          <p:cNvPr id="35" name="TextBox 34">
            <a:extLst>
              <a:ext uri="{FF2B5EF4-FFF2-40B4-BE49-F238E27FC236}">
                <a16:creationId xmlns:a16="http://schemas.microsoft.com/office/drawing/2014/main" id="{BC2F87CF-5C72-E7E4-E856-AF4F72955040}"/>
              </a:ext>
            </a:extLst>
          </p:cNvPr>
          <p:cNvSpPr txBox="1"/>
          <p:nvPr/>
        </p:nvSpPr>
        <p:spPr>
          <a:xfrm>
            <a:off x="1101852" y="1621607"/>
            <a:ext cx="3291840" cy="307777"/>
          </a:xfrm>
          <a:prstGeom prst="rect">
            <a:avLst/>
          </a:prstGeom>
          <a:noFill/>
        </p:spPr>
        <p:txBody>
          <a:bodyPr wrap="square" lIns="0" tIns="0" rIns="0" bIns="0">
            <a:spAutoFit/>
          </a:bodyPr>
          <a:lstStyle/>
          <a:p>
            <a:pPr algn="ctr"/>
            <a:r>
              <a:rPr lang="de-DE" sz="2000" b="1" i="0" u="none" dirty="0">
                <a:solidFill>
                  <a:srgbClr val="C00000"/>
                </a:solidFill>
                <a:latin typeface="Calibri"/>
              </a:rPr>
              <a:t>Market Price P=$3</a:t>
            </a:r>
            <a:endParaRPr sz="2000" b="1" i="0" u="none" dirty="0">
              <a:solidFill>
                <a:srgbClr val="C00000"/>
              </a:solidFill>
              <a:latin typeface="Calibri"/>
            </a:endParaRPr>
          </a:p>
        </p:txBody>
      </p:sp>
      <p:grpSp>
        <p:nvGrpSpPr>
          <p:cNvPr id="42" name="Group 41">
            <a:extLst>
              <a:ext uri="{FF2B5EF4-FFF2-40B4-BE49-F238E27FC236}">
                <a16:creationId xmlns:a16="http://schemas.microsoft.com/office/drawing/2014/main" id="{88D550A2-CAB0-FA8D-FAB7-4CB6BD534926}"/>
              </a:ext>
            </a:extLst>
          </p:cNvPr>
          <p:cNvGrpSpPr/>
          <p:nvPr/>
        </p:nvGrpSpPr>
        <p:grpSpPr>
          <a:xfrm>
            <a:off x="5412430" y="2916936"/>
            <a:ext cx="2497510" cy="2809440"/>
            <a:chOff x="5003332" y="3417570"/>
            <a:chExt cx="2497510" cy="2809440"/>
          </a:xfrm>
        </p:grpSpPr>
        <p:cxnSp>
          <p:nvCxnSpPr>
            <p:cNvPr id="43" name="Connector 16">
              <a:extLst>
                <a:ext uri="{FF2B5EF4-FFF2-40B4-BE49-F238E27FC236}">
                  <a16:creationId xmlns:a16="http://schemas.microsoft.com/office/drawing/2014/main" id="{B4B46810-0DFF-6860-53FA-9FF334A9D947}"/>
                </a:ext>
              </a:extLst>
            </p:cNvPr>
            <p:cNvCxnSpPr>
              <a:cxnSpLocks/>
            </p:cNvCxnSpPr>
            <p:nvPr/>
          </p:nvCxnSpPr>
          <p:spPr>
            <a:xfrm>
              <a:off x="5351622" y="3554730"/>
              <a:ext cx="1994058"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17">
              <a:extLst>
                <a:ext uri="{FF2B5EF4-FFF2-40B4-BE49-F238E27FC236}">
                  <a16:creationId xmlns:a16="http://schemas.microsoft.com/office/drawing/2014/main" id="{D3DE4990-4244-3D13-077E-7AFF4C13E8F1}"/>
                </a:ext>
              </a:extLst>
            </p:cNvPr>
            <p:cNvCxnSpPr>
              <a:cxnSpLocks/>
              <a:endCxn id="45" idx="0"/>
            </p:cNvCxnSpPr>
            <p:nvPr/>
          </p:nvCxnSpPr>
          <p:spPr>
            <a:xfrm>
              <a:off x="7345680" y="3526155"/>
              <a:ext cx="18574" cy="2470023"/>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7A16FB1E-882A-4237-8156-22F961F5A8BD}"/>
                </a:ext>
              </a:extLst>
            </p:cNvPr>
            <p:cNvSpPr txBox="1"/>
            <p:nvPr/>
          </p:nvSpPr>
          <p:spPr>
            <a:xfrm>
              <a:off x="7227665" y="5996178"/>
              <a:ext cx="273177" cy="230832"/>
            </a:xfrm>
            <a:prstGeom prst="rect">
              <a:avLst/>
            </a:prstGeom>
            <a:noFill/>
          </p:spPr>
          <p:txBody>
            <a:bodyPr wrap="square" lIns="0" tIns="0" rIns="0" bIns="0">
              <a:spAutoFit/>
            </a:bodyPr>
            <a:lstStyle/>
            <a:p>
              <a:pPr algn="ctr"/>
              <a:r>
                <a:rPr sz="1500" b="0" i="1" u="none" dirty="0">
                  <a:solidFill>
                    <a:srgbClr val="0B2B4E"/>
                  </a:solidFill>
                  <a:latin typeface="Calibri"/>
                </a:rPr>
                <a:t>1</a:t>
              </a:r>
              <a:r>
                <a:rPr lang="en-US" sz="1500" b="0" i="1" u="none" dirty="0">
                  <a:solidFill>
                    <a:srgbClr val="0B2B4E"/>
                  </a:solidFill>
                  <a:latin typeface="Calibri"/>
                </a:rPr>
                <a:t>2</a:t>
              </a:r>
              <a:endParaRPr sz="1500" b="0" i="1" u="none" dirty="0">
                <a:solidFill>
                  <a:srgbClr val="0B2B4E"/>
                </a:solidFill>
                <a:latin typeface="Calibri"/>
              </a:endParaRPr>
            </a:p>
          </p:txBody>
        </p:sp>
        <p:sp>
          <p:nvSpPr>
            <p:cNvPr id="46" name="TextBox 45">
              <a:extLst>
                <a:ext uri="{FF2B5EF4-FFF2-40B4-BE49-F238E27FC236}">
                  <a16:creationId xmlns:a16="http://schemas.microsoft.com/office/drawing/2014/main" id="{82F083EA-4596-3A8A-2523-D241AC9C1E8E}"/>
                </a:ext>
              </a:extLst>
            </p:cNvPr>
            <p:cNvSpPr txBox="1"/>
            <p:nvPr/>
          </p:nvSpPr>
          <p:spPr>
            <a:xfrm>
              <a:off x="5003332" y="3417570"/>
              <a:ext cx="273177" cy="230832"/>
            </a:xfrm>
            <a:prstGeom prst="rect">
              <a:avLst/>
            </a:prstGeom>
            <a:noFill/>
          </p:spPr>
          <p:txBody>
            <a:bodyPr wrap="square" lIns="0" tIns="0" rIns="0" bIns="0">
              <a:spAutoFit/>
            </a:bodyPr>
            <a:lstStyle/>
            <a:p>
              <a:pPr algn="r"/>
              <a:r>
                <a:rPr lang="en-US" sz="1500" b="0" i="1" u="none" dirty="0">
                  <a:solidFill>
                    <a:srgbClr val="0B2B4E"/>
                  </a:solidFill>
                  <a:latin typeface="Calibri"/>
                </a:rPr>
                <a:t>36</a:t>
              </a:r>
              <a:endParaRPr sz="1500" b="0" i="1" u="none" dirty="0">
                <a:solidFill>
                  <a:srgbClr val="0B2B4E"/>
                </a:solidFill>
                <a:latin typeface="Calibri"/>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Taker Profit Maximization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45920"/>
            <a:ext cx="11338560" cy="283464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dirty="0">
                <a:latin typeface="Calibri"/>
              </a:rPr>
              <a:t>Set </a:t>
            </a:r>
            <a:r>
              <a:rPr dirty="0">
                <a:solidFill>
                  <a:srgbClr val="C00000"/>
                </a:solidFill>
                <a:latin typeface="Calibri"/>
              </a:rPr>
              <a:t>MR = MC</a:t>
            </a:r>
            <a:r>
              <a:rPr dirty="0">
                <a:latin typeface="Calibri"/>
              </a:rPr>
              <a:t> — the rule for every profit maximizer</a:t>
            </a:r>
          </a:p>
          <a:p>
            <a:pPr algn="l"/>
            <a:r>
              <a:rPr dirty="0">
                <a:latin typeface="Calibri"/>
              </a:rPr>
              <a:t>But MR is far easier to </a:t>
            </a:r>
            <a:r>
              <a:rPr lang="en-US" dirty="0">
                <a:latin typeface="Calibri"/>
              </a:rPr>
              <a:t>"</a:t>
            </a:r>
            <a:r>
              <a:rPr dirty="0">
                <a:latin typeface="Calibri"/>
              </a:rPr>
              <a:t>compute</a:t>
            </a:r>
            <a:r>
              <a:rPr lang="en-US" dirty="0">
                <a:latin typeface="Calibri"/>
              </a:rPr>
              <a:t>"</a:t>
            </a:r>
            <a:r>
              <a:rPr dirty="0">
                <a:latin typeface="Calibri"/>
              </a:rPr>
              <a:t> for a price taker</a:t>
            </a:r>
          </a:p>
          <a:p>
            <a:pPr lvl="1" algn="l"/>
            <a:r>
              <a:rPr dirty="0">
                <a:latin typeface="Calibri"/>
              </a:rPr>
              <a:t>For a price taker, </a:t>
            </a:r>
            <a:r>
              <a:rPr dirty="0">
                <a:solidFill>
                  <a:srgbClr val="C00000"/>
                </a:solidFill>
                <a:latin typeface="Calibri"/>
              </a:rPr>
              <a:t>MR = P</a:t>
            </a:r>
            <a:r>
              <a:rPr dirty="0">
                <a:latin typeface="Calibri"/>
              </a:rPr>
              <a:t>, the market price</a:t>
            </a:r>
          </a:p>
          <a:p>
            <a:pPr lvl="1" algn="l"/>
            <a:r>
              <a:rPr dirty="0">
                <a:latin typeface="Calibri"/>
              </a:rPr>
              <a:t>P is given: the firm cannot set it</a:t>
            </a:r>
          </a:p>
          <a:p>
            <a:pPr algn="l"/>
            <a:r>
              <a:rPr dirty="0">
                <a:latin typeface="Calibri"/>
              </a:rPr>
              <a:t>So there is only one decision left: how much to produce</a:t>
            </a:r>
          </a:p>
        </p:txBody>
      </p:sp>
      <mc:AlternateContent xmlns:mc="http://schemas.openxmlformats.org/markup-compatibility/2006" xmlns:a14="http://schemas.microsoft.com/office/drawing/2010/main">
        <mc:Choice Requires="a14">
          <p:sp>
            <p:nvSpPr>
              <p:cNvPr id="8" name="TextBox 7"/>
              <p:cNvSpPr txBox="1"/>
              <p:nvPr/>
            </p:nvSpPr>
            <p:spPr>
              <a:xfrm>
                <a:off x="2788920" y="4754880"/>
                <a:ext cx="6583680" cy="91440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a:solidFill>
                            <a:srgbClr val="0B2B4E"/>
                          </a:solidFill>
                          <a:latin typeface="Cambria Math"/>
                        </a:rPr>
                        <m:t>Find</m:t>
                      </m:r>
                      <m:r>
                        <a:rPr lang="en-US" sz="3000" b="0" i="0">
                          <a:solidFill>
                            <a:srgbClr val="0B2B4E"/>
                          </a:solidFill>
                          <a:latin typeface="Cambria Math"/>
                        </a:rPr>
                        <m:t> </m:t>
                      </m:r>
                      <m:sSup>
                        <m:sSupPr>
                          <m:ctrlPr>
                            <a:rPr lang="en-US" sz="3000" b="0" i="1">
                              <a:solidFill>
                                <a:srgbClr val="0B2B4E"/>
                              </a:solidFill>
                              <a:latin typeface="Cambria Math"/>
                              <a:ea typeface="Cambria Math"/>
                            </a:rPr>
                          </m:ctrlPr>
                        </m:sSupPr>
                        <m:e>
                          <m:r>
                            <a:rPr lang="en-US" sz="3000" b="0" i="1">
                              <a:solidFill>
                                <a:srgbClr val="0B2B4E"/>
                              </a:solidFill>
                              <a:latin typeface="Cambria Math"/>
                              <a:ea typeface="Cambria Math"/>
                            </a:rPr>
                            <m:t>𝑄</m:t>
                          </m:r>
                        </m:e>
                        <m:sup>
                          <m:r>
                            <a:rPr lang="en-US" sz="3000" b="0" i="0">
                              <a:solidFill>
                                <a:srgbClr val="0B2B4E"/>
                              </a:solidFill>
                              <a:latin typeface="Cambria Math"/>
                            </a:rPr>
                            <m:t>∗</m:t>
                          </m:r>
                        </m:sup>
                      </m:sSup>
                      <m:r>
                        <a:rPr lang="en-US" sz="3000" b="0" i="0">
                          <a:solidFill>
                            <a:srgbClr val="0B2B4E"/>
                          </a:solidFill>
                          <a:latin typeface="Cambria Math"/>
                        </a:rPr>
                        <m:t> </m:t>
                      </m:r>
                      <m:r>
                        <m:rPr>
                          <m:sty m:val="p"/>
                        </m:rPr>
                        <a:rPr lang="en-US" sz="3000" b="0" i="0">
                          <a:solidFill>
                            <a:srgbClr val="0B2B4E"/>
                          </a:solidFill>
                          <a:latin typeface="Cambria Math"/>
                        </a:rPr>
                        <m:t>such</m:t>
                      </m:r>
                      <m:r>
                        <a:rPr lang="en-US" sz="3000" b="0" i="0">
                          <a:solidFill>
                            <a:srgbClr val="0B2B4E"/>
                          </a:solidFill>
                          <a:latin typeface="Cambria Math"/>
                        </a:rPr>
                        <m:t> </m:t>
                      </m:r>
                      <m:r>
                        <m:rPr>
                          <m:sty m:val="p"/>
                        </m:rPr>
                        <a:rPr lang="en-US" sz="3000" b="0" i="0">
                          <a:solidFill>
                            <a:srgbClr val="0B2B4E"/>
                          </a:solidFill>
                          <a:latin typeface="Cambria Math"/>
                        </a:rPr>
                        <m:t>that</m:t>
                      </m:r>
                      <m:r>
                        <a:rPr lang="en-US" sz="3000" b="0" i="0">
                          <a:solidFill>
                            <a:srgbClr val="0B2B4E"/>
                          </a:solidFill>
                          <a:latin typeface="Cambria Math"/>
                        </a:rPr>
                        <m:t>  </m:t>
                      </m:r>
                      <m:r>
                        <a:rPr lang="en-US" sz="3000" b="1" i="1">
                          <a:solidFill>
                            <a:srgbClr val="C00000"/>
                          </a:solidFill>
                          <a:latin typeface="Cambria Math"/>
                          <a:ea typeface="Cambria Math"/>
                        </a:rPr>
                        <m:t>𝑃</m:t>
                      </m:r>
                      <m:r>
                        <a:rPr lang="en-US" sz="3000" b="1" i="0">
                          <a:solidFill>
                            <a:srgbClr val="C00000"/>
                          </a:solidFill>
                          <a:latin typeface="Cambria Math"/>
                        </a:rPr>
                        <m:t> = </m:t>
                      </m:r>
                      <m:r>
                        <m:rPr>
                          <m:sty m:val="p"/>
                        </m:rPr>
                        <a:rPr lang="en-US" sz="3000" b="1" i="0">
                          <a:solidFill>
                            <a:srgbClr val="C00000"/>
                          </a:solidFill>
                          <a:latin typeface="Cambria Math"/>
                        </a:rPr>
                        <m:t>MC</m:t>
                      </m:r>
                    </m:oMath>
                  </m:oMathPara>
                </a14:m>
                <a:endParaRPr lang="en-US" sz="3000"/>
              </a:p>
            </p:txBody>
          </p:sp>
        </mc:Choice>
        <mc:Fallback xmlns="">
          <p:sp>
            <p:nvSpPr>
              <p:cNvPr id="8" name="TextBox 7"/>
              <p:cNvSpPr txBox="1">
                <a:spLocks noRot="1" noChangeAspect="1" noMove="1" noResize="1" noEditPoints="1" noAdjustHandles="1" noChangeArrowheads="1" noChangeShapeType="1" noTextEdit="1"/>
              </p:cNvSpPr>
              <p:nvPr/>
            </p:nvSpPr>
            <p:spPr>
              <a:xfrm>
                <a:off x="2788920" y="4754880"/>
                <a:ext cx="6583680" cy="914400"/>
              </a:xfrm>
              <a:prstGeom prst="roundRect">
                <a:avLst>
                  <a:gd name="adj" fmla="val 12000"/>
                </a:avLst>
              </a:prstGeom>
              <a:blipFill>
                <a:blip r:embed="rId3"/>
                <a:stretch>
                  <a:fillRect/>
                </a:stretch>
              </a:blipFill>
              <a:ln w="22225">
                <a:solidFill>
                  <a:srgbClr val="E09F3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9" name="Oval 8"/>
          <p:cNvSpPr/>
          <p:nvPr/>
        </p:nvSpPr>
        <p:spPr>
          <a:xfrm>
            <a:off x="3017520" y="4983480"/>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61BE8715-22EA-5792-B9AF-FD5475CC3481}" type="slidenum">
              <a:rPr lang="en-US" sz="1200" dirty="0">
                <a:solidFill>
                  <a:srgbClr val="555B66"/>
                </a:solidFill>
                <a:latin typeface="Calibri"/>
              </a:rPr>
              <a:t>17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Maximization of a Price Taker: Visual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331720" y="1572768"/>
            <a:ext cx="0" cy="4159316"/>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120640"/>
            <a:ext cx="6035040"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371600" y="1261872"/>
            <a:ext cx="1828800" cy="1005840"/>
          </a:xfrm>
          <a:prstGeom prst="rect">
            <a:avLst/>
          </a:prstGeom>
          <a:noFill/>
        </p:spPr>
        <p:txBody>
          <a:bodyPr wrap="square" lIns="0" tIns="0" rIns="0" bIns="0">
            <a:spAutoFit/>
          </a:bodyPr>
          <a:lstStyle/>
          <a:p>
            <a:pPr algn="l"/>
            <a:r>
              <a:rPr sz="1600" b="1" i="1" u="none" dirty="0">
                <a:solidFill>
                  <a:srgbClr val="0B2B4E"/>
                </a:solidFill>
                <a:latin typeface="Calibri"/>
              </a:rPr>
              <a:t>Firm revenue,
cost and
profit ($)</a:t>
            </a:r>
          </a:p>
        </p:txBody>
      </p:sp>
      <p:sp>
        <p:nvSpPr>
          <p:cNvPr id="10" name="TextBox 9"/>
          <p:cNvSpPr txBox="1"/>
          <p:nvPr/>
        </p:nvSpPr>
        <p:spPr>
          <a:xfrm>
            <a:off x="8430768" y="4991986"/>
            <a:ext cx="1554480" cy="329184"/>
          </a:xfrm>
          <a:prstGeom prst="rect">
            <a:avLst/>
          </a:prstGeom>
          <a:noFill/>
        </p:spPr>
        <p:txBody>
          <a:bodyPr wrap="square" lIns="0" tIns="0" rIns="0" bIns="0">
            <a:spAutoFit/>
          </a:bodyPr>
          <a:lstStyle/>
          <a:p>
            <a:pPr algn="l"/>
            <a:r>
              <a:rPr sz="1600" b="1" i="1" u="none" dirty="0">
                <a:solidFill>
                  <a:srgbClr val="0B2B4E"/>
                </a:solidFill>
                <a:latin typeface="Calibri"/>
              </a:rPr>
              <a:t>Quantity (Q)</a:t>
            </a:r>
          </a:p>
        </p:txBody>
      </p:sp>
      <p:cxnSp>
        <p:nvCxnSpPr>
          <p:cNvPr id="11" name="Connector 10"/>
          <p:cNvCxnSpPr>
            <a:cxnSpLocks/>
          </p:cNvCxnSpPr>
          <p:nvPr/>
        </p:nvCxnSpPr>
        <p:spPr>
          <a:xfrm flipV="1">
            <a:off x="2331720" y="1881084"/>
            <a:ext cx="6035040" cy="3239556"/>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331720" y="1785486"/>
            <a:ext cx="5760720" cy="2871938"/>
          </a:xfrm>
          <a:custGeom>
            <a:avLst/>
            <a:gdLst/>
            <a:ahLst/>
            <a:cxnLst/>
            <a:rect l="0" t="0" r="r" b="b"/>
            <a:pathLst>
              <a:path w="5760720" h="2871938">
                <a:moveTo>
                  <a:pt x="0" y="2871938"/>
                </a:moveTo>
                <a:cubicBezTo>
                  <a:pt x="240030" y="2860840"/>
                  <a:pt x="960120" y="2870972"/>
                  <a:pt x="1440180" y="2805350"/>
                </a:cubicBezTo>
                <a:cubicBezTo>
                  <a:pt x="1920239" y="2739727"/>
                  <a:pt x="2400299" y="2674105"/>
                  <a:pt x="2880359" y="2478204"/>
                </a:cubicBezTo>
                <a:cubicBezTo>
                  <a:pt x="3360418" y="2282302"/>
                  <a:pt x="3840478" y="2042974"/>
                  <a:pt x="4320539" y="1629940"/>
                </a:cubicBezTo>
                <a:cubicBezTo>
                  <a:pt x="4800599" y="1216906"/>
                  <a:pt x="5520689" y="271656"/>
                  <a:pt x="5760720" y="0"/>
                </a:cubicBezTo>
              </a:path>
            </a:pathLst>
          </a:custGeom>
          <a:noFill/>
          <a:ln w="44450">
            <a:solidFill>
              <a:srgbClr val="0070C0"/>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0768" y="1804292"/>
            <a:ext cx="822960" cy="329184"/>
          </a:xfrm>
          <a:prstGeom prst="rect">
            <a:avLst/>
          </a:prstGeom>
          <a:noFill/>
        </p:spPr>
        <p:txBody>
          <a:bodyPr wrap="square" lIns="0" tIns="0" rIns="0" bIns="0">
            <a:spAutoFit/>
          </a:bodyPr>
          <a:lstStyle/>
          <a:p>
            <a:pPr algn="l"/>
            <a:r>
              <a:rPr sz="1900" b="1" i="1" u="none" dirty="0">
                <a:solidFill>
                  <a:srgbClr val="C00000"/>
                </a:solidFill>
                <a:latin typeface="Calibri"/>
              </a:rPr>
              <a:t>TR</a:t>
            </a:r>
          </a:p>
        </p:txBody>
      </p:sp>
      <p:sp>
        <p:nvSpPr>
          <p:cNvPr id="15" name="TextBox 14"/>
          <p:cNvSpPr txBox="1"/>
          <p:nvPr/>
        </p:nvSpPr>
        <p:spPr>
          <a:xfrm>
            <a:off x="7973845" y="1480009"/>
            <a:ext cx="822960" cy="329184"/>
          </a:xfrm>
          <a:prstGeom prst="rect">
            <a:avLst/>
          </a:prstGeom>
          <a:noFill/>
        </p:spPr>
        <p:txBody>
          <a:bodyPr wrap="square" lIns="0" tIns="0" rIns="0" bIns="0">
            <a:spAutoFit/>
          </a:bodyPr>
          <a:lstStyle/>
          <a:p>
            <a:pPr algn="l"/>
            <a:r>
              <a:rPr sz="1900" b="1" i="1" u="none" dirty="0">
                <a:solidFill>
                  <a:srgbClr val="0070C0"/>
                </a:solidFill>
                <a:latin typeface="Calibri"/>
              </a:rPr>
              <a:t>TC</a:t>
            </a:r>
          </a:p>
        </p:txBody>
      </p:sp>
      <p:sp>
        <p:nvSpPr>
          <p:cNvPr id="16" name="TextBox 15"/>
          <p:cNvSpPr txBox="1"/>
          <p:nvPr/>
        </p:nvSpPr>
        <p:spPr>
          <a:xfrm>
            <a:off x="1554480" y="4511120"/>
            <a:ext cx="731520" cy="292608"/>
          </a:xfrm>
          <a:prstGeom prst="rect">
            <a:avLst/>
          </a:prstGeom>
          <a:noFill/>
        </p:spPr>
        <p:txBody>
          <a:bodyPr wrap="square" lIns="0" tIns="0" rIns="0" bIns="0">
            <a:spAutoFit/>
          </a:bodyPr>
          <a:lstStyle/>
          <a:p>
            <a:pPr algn="r"/>
            <a:r>
              <a:rPr sz="1600" b="1" i="1" u="none">
                <a:solidFill>
                  <a:srgbClr val="0070C0"/>
                </a:solidFill>
                <a:latin typeface="Calibri"/>
              </a:rPr>
              <a:t>TFC</a:t>
            </a:r>
          </a:p>
        </p:txBody>
      </p:sp>
      <p:cxnSp>
        <p:nvCxnSpPr>
          <p:cNvPr id="17" name="Connector 16"/>
          <p:cNvCxnSpPr>
            <a:cxnSpLocks/>
            <a:stCxn id="23" idx="0"/>
          </p:cNvCxnSpPr>
          <p:nvPr/>
        </p:nvCxnSpPr>
        <p:spPr>
          <a:xfrm flipV="1">
            <a:off x="5788152" y="3264071"/>
            <a:ext cx="0" cy="1911433"/>
          </a:xfrm>
          <a:prstGeom prst="line">
            <a:avLst/>
          </a:prstGeom>
          <a:ln w="15875">
            <a:solidFill>
              <a:srgbClr val="0B2B4E"/>
            </a:solidFill>
            <a:prstDash val="dash"/>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327294" y="3016528"/>
            <a:ext cx="921715" cy="49508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327294" y="3753968"/>
            <a:ext cx="921715" cy="49508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710428" y="3186347"/>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5710428" y="3923786"/>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76672" y="5175504"/>
            <a:ext cx="822960" cy="310896"/>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4" name="TextBox 23"/>
          <p:cNvSpPr txBox="1"/>
          <p:nvPr/>
        </p:nvSpPr>
        <p:spPr>
          <a:xfrm>
            <a:off x="8887968" y="3291840"/>
            <a:ext cx="2103120" cy="461665"/>
          </a:xfrm>
          <a:prstGeom prst="rect">
            <a:avLst/>
          </a:prstGeom>
          <a:noFill/>
        </p:spPr>
        <p:txBody>
          <a:bodyPr wrap="square" lIns="0" tIns="0" rIns="0" bIns="0">
            <a:spAutoFit/>
          </a:bodyPr>
          <a:lstStyle/>
          <a:p>
            <a:pPr algn="l"/>
            <a:r>
              <a:rPr sz="1500" b="1" i="1" u="none" dirty="0">
                <a:solidFill>
                  <a:srgbClr val="0070C0"/>
                </a:solidFill>
                <a:latin typeface="Calibri"/>
              </a:rPr>
              <a:t>Slope of TR = slope of TC</a:t>
            </a:r>
            <a:r>
              <a:rPr lang="en-US" sz="1500" b="1" i="1" u="none" dirty="0">
                <a:solidFill>
                  <a:srgbClr val="0070C0"/>
                </a:solidFill>
                <a:latin typeface="Calibri"/>
              </a:rPr>
              <a:t>:</a:t>
            </a:r>
            <a:r>
              <a:rPr sz="1500" b="1" i="1" u="none" dirty="0">
                <a:solidFill>
                  <a:srgbClr val="0070C0"/>
                </a:solidFill>
                <a:latin typeface="Calibri"/>
              </a:rPr>
              <a:t>
MR = MC</a:t>
            </a:r>
          </a:p>
        </p:txBody>
      </p:sp>
      <p:cxnSp>
        <p:nvCxnSpPr>
          <p:cNvPr id="25" name="Connector 24"/>
          <p:cNvCxnSpPr/>
          <p:nvPr/>
        </p:nvCxnSpPr>
        <p:spPr>
          <a:xfrm flipH="1">
            <a:off x="5934456" y="3566160"/>
            <a:ext cx="2907792" cy="43535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nvGrpSpPr>
          <p:cNvPr id="42" name="Group 41">
            <a:extLst>
              <a:ext uri="{FF2B5EF4-FFF2-40B4-BE49-F238E27FC236}">
                <a16:creationId xmlns:a16="http://schemas.microsoft.com/office/drawing/2014/main" id="{56ADEE32-897C-E604-38AD-439042F05AFE}"/>
              </a:ext>
            </a:extLst>
          </p:cNvPr>
          <p:cNvGrpSpPr/>
          <p:nvPr/>
        </p:nvGrpSpPr>
        <p:grpSpPr>
          <a:xfrm>
            <a:off x="5710428" y="4077889"/>
            <a:ext cx="5475732" cy="383035"/>
            <a:chOff x="5710428" y="4077889"/>
            <a:chExt cx="5475732" cy="383035"/>
          </a:xfrm>
        </p:grpSpPr>
        <p:sp>
          <p:nvSpPr>
            <p:cNvPr id="22" name="Oval 21"/>
            <p:cNvSpPr/>
            <p:nvPr/>
          </p:nvSpPr>
          <p:spPr>
            <a:xfrm>
              <a:off x="5710428" y="4305476"/>
              <a:ext cx="155448" cy="155448"/>
            </a:xfrm>
            <a:prstGeom prst="ellipse">
              <a:avLst/>
            </a:prstGeom>
            <a:solidFill>
              <a:srgbClr val="BFBFB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41" name="Group 40">
              <a:extLst>
                <a:ext uri="{FF2B5EF4-FFF2-40B4-BE49-F238E27FC236}">
                  <a16:creationId xmlns:a16="http://schemas.microsoft.com/office/drawing/2014/main" id="{29DCE774-4F6F-4069-C436-60063C2925DB}"/>
                </a:ext>
              </a:extLst>
            </p:cNvPr>
            <p:cNvGrpSpPr/>
            <p:nvPr/>
          </p:nvGrpSpPr>
          <p:grpSpPr>
            <a:xfrm>
              <a:off x="5934456" y="4077889"/>
              <a:ext cx="5251704" cy="329184"/>
              <a:chOff x="5934456" y="4077889"/>
              <a:chExt cx="5251704" cy="329184"/>
            </a:xfrm>
          </p:grpSpPr>
          <p:sp>
            <p:nvSpPr>
              <p:cNvPr id="26" name="TextBox 25"/>
              <p:cNvSpPr txBox="1"/>
              <p:nvPr/>
            </p:nvSpPr>
            <p:spPr>
              <a:xfrm>
                <a:off x="8808720" y="4077889"/>
                <a:ext cx="2377440" cy="329184"/>
              </a:xfrm>
              <a:prstGeom prst="rect">
                <a:avLst/>
              </a:prstGeom>
              <a:noFill/>
            </p:spPr>
            <p:txBody>
              <a:bodyPr wrap="square" lIns="0" tIns="0" rIns="0" bIns="0">
                <a:spAutoFit/>
              </a:bodyPr>
              <a:lstStyle/>
              <a:p>
                <a:pPr algn="l"/>
                <a:r>
                  <a:rPr sz="1700" b="1" i="0" u="none" dirty="0">
                    <a:solidFill>
                      <a:srgbClr val="0B2B4E"/>
                    </a:solidFill>
                    <a:latin typeface="Calibri"/>
                  </a:rPr>
                  <a:t>Maximum profit</a:t>
                </a:r>
              </a:p>
            </p:txBody>
          </p:sp>
          <p:cxnSp>
            <p:nvCxnSpPr>
              <p:cNvPr id="27" name="Connector 26"/>
              <p:cNvCxnSpPr>
                <a:cxnSpLocks/>
              </p:cNvCxnSpPr>
              <p:nvPr/>
            </p:nvCxnSpPr>
            <p:spPr>
              <a:xfrm flipH="1">
                <a:off x="5934456" y="4206240"/>
                <a:ext cx="2756962" cy="109728"/>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grpSp>
      <p:grpSp>
        <p:nvGrpSpPr>
          <p:cNvPr id="43" name="Group 42">
            <a:extLst>
              <a:ext uri="{FF2B5EF4-FFF2-40B4-BE49-F238E27FC236}">
                <a16:creationId xmlns:a16="http://schemas.microsoft.com/office/drawing/2014/main" id="{4BDBA23D-1B37-FDE9-66CF-6DD78BA195D2}"/>
              </a:ext>
            </a:extLst>
          </p:cNvPr>
          <p:cNvGrpSpPr/>
          <p:nvPr/>
        </p:nvGrpSpPr>
        <p:grpSpPr>
          <a:xfrm>
            <a:off x="1874519" y="3977639"/>
            <a:ext cx="1417320" cy="1143001"/>
            <a:chOff x="1874519" y="3977639"/>
            <a:chExt cx="1417320" cy="1143001"/>
          </a:xfrm>
        </p:grpSpPr>
        <p:cxnSp>
          <p:nvCxnSpPr>
            <p:cNvPr id="28" name="Connector 27"/>
            <p:cNvCxnSpPr/>
            <p:nvPr/>
          </p:nvCxnSpPr>
          <p:spPr>
            <a:xfrm flipV="1">
              <a:off x="3241747" y="4631832"/>
              <a:ext cx="0" cy="488808"/>
            </a:xfrm>
            <a:prstGeom prst="line">
              <a:avLst/>
            </a:prstGeom>
            <a:ln w="15875">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874519" y="3977639"/>
              <a:ext cx="1417320" cy="329184"/>
            </a:xfrm>
            <a:prstGeom prst="rect">
              <a:avLst/>
            </a:prstGeom>
            <a:noFill/>
          </p:spPr>
          <p:txBody>
            <a:bodyPr wrap="square" lIns="0" tIns="0" rIns="0" bIns="0">
              <a:spAutoFit/>
            </a:bodyPr>
            <a:lstStyle/>
            <a:p>
              <a:pPr algn="r"/>
              <a:r>
                <a:rPr sz="1700" b="1" i="0" u="none" dirty="0">
                  <a:solidFill>
                    <a:srgbClr val="0B2B4E"/>
                  </a:solidFill>
                  <a:latin typeface="Calibri"/>
                </a:rPr>
                <a:t>Profit = 0</a:t>
              </a:r>
            </a:p>
          </p:txBody>
        </p:sp>
        <p:cxnSp>
          <p:nvCxnSpPr>
            <p:cNvPr id="30" name="Connector 29"/>
            <p:cNvCxnSpPr/>
            <p:nvPr/>
          </p:nvCxnSpPr>
          <p:spPr>
            <a:xfrm>
              <a:off x="3017520" y="4315968"/>
              <a:ext cx="196795" cy="26100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grpSp>
      <p:sp>
        <p:nvSpPr>
          <p:cNvPr id="31" name="TextBox 30"/>
          <p:cNvSpPr txBox="1"/>
          <p:nvPr/>
        </p:nvSpPr>
        <p:spPr>
          <a:xfrm>
            <a:off x="8808720" y="1787060"/>
            <a:ext cx="2103120" cy="548640"/>
          </a:xfrm>
          <a:prstGeom prst="rect">
            <a:avLst/>
          </a:prstGeom>
          <a:noFill/>
        </p:spPr>
        <p:txBody>
          <a:bodyPr wrap="square" lIns="0" tIns="0" rIns="0" bIns="0">
            <a:spAutoFit/>
          </a:bodyPr>
          <a:lstStyle/>
          <a:p>
            <a:pPr algn="l"/>
            <a:r>
              <a:rPr sz="1300" b="0" i="1" u="none" dirty="0">
                <a:solidFill>
                  <a:srgbClr val="C00000"/>
                </a:solidFill>
                <a:latin typeface="Calibri"/>
              </a:rPr>
              <a:t>(TR has constant slope
for a price taker)</a:t>
            </a:r>
          </a:p>
        </p:txBody>
      </p:sp>
      <p:grpSp>
        <p:nvGrpSpPr>
          <p:cNvPr id="138" name="Group pair 138"/>
          <p:cNvGrpSpPr/>
          <p:nvPr/>
        </p:nvGrpSpPr>
        <p:grpSpPr>
          <a:xfrm>
            <a:off x="8385325" y="5571282"/>
            <a:ext cx="3044952" cy="868680"/>
            <a:chOff x="8887968" y="1645920"/>
            <a:chExt cx="3044952" cy="1325880"/>
          </a:xfrm>
        </p:grpSpPr>
        <p:sp>
          <p:nvSpPr>
            <p:cNvPr id="33" name="Rounded Rectangle 32"/>
            <p:cNvSpPr/>
            <p:nvPr/>
          </p:nvSpPr>
          <p:spPr>
            <a:xfrm>
              <a:off x="8887968" y="1645920"/>
              <a:ext cx="3044952" cy="1325880"/>
            </a:xfrm>
            <a:prstGeom prst="roundRect">
              <a:avLst>
                <a:gd name="adj" fmla="val 12000"/>
              </a:avLst>
            </a:prstGeom>
            <a:solidFill>
              <a:schemeClr val="accent3">
                <a:lumMod val="75000"/>
                <a:alpha val="16000"/>
              </a:schemeClr>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70848" y="1755648"/>
              <a:ext cx="2679192" cy="1106424"/>
            </a:xfrm>
            <a:prstGeom prst="rect">
              <a:avLst/>
            </a:prstGeom>
            <a:noFill/>
          </p:spPr>
          <p:txBody>
            <a:bodyPr wrap="square" lIns="45720" tIns="0" rIns="45720" bIns="0" anchor="ctr">
              <a:spAutoFit/>
            </a:bodyPr>
            <a:lstStyle/>
            <a:p>
              <a:pPr algn="l"/>
              <a:r>
                <a:rPr sz="1900" b="1" i="0" u="none" dirty="0">
                  <a:solidFill>
                    <a:srgbClr val="0B2B4E"/>
                  </a:solidFill>
                  <a:latin typeface="Calibri"/>
                </a:rPr>
                <a:t>Profit = TR − TC</a:t>
              </a:r>
              <a:r>
                <a:rPr sz="1800" b="0" i="0" u="none" dirty="0">
                  <a:solidFill>
                    <a:srgbClr val="0B2B4E"/>
                  </a:solidFill>
                  <a:latin typeface="Calibri"/>
                </a:rPr>
                <a:t>
</a:t>
              </a:r>
              <a:r>
                <a:rPr sz="1600" b="0" i="0" u="none" dirty="0">
                  <a:solidFill>
                    <a:srgbClr val="0B2B4E"/>
                  </a:solidFill>
                  <a:latin typeface="Calibri"/>
                </a:rPr>
                <a:t>Widest where the two slopes are equal (MR = MC)</a:t>
              </a:r>
            </a:p>
          </p:txBody>
        </p:sp>
      </p:gr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8" name="TextBox 37"/>
          <p:cNvSpPr txBox="1"/>
          <p:nvPr/>
        </p:nvSpPr>
        <p:spPr>
          <a:xfrm>
            <a:off x="11475720" y="6583680"/>
            <a:ext cx="502920" cy="292608"/>
          </a:xfrm>
          <a:prstGeom prst="rect">
            <a:avLst/>
          </a:prstGeom>
          <a:noFill/>
        </p:spPr>
        <p:txBody>
          <a:bodyPr wrap="none" lIns="0" tIns="0" rIns="0" bIns="0">
            <a:spAutoFit/>
          </a:bodyPr>
          <a:lstStyle/>
          <a:p>
            <a:pPr algn="r"/>
            <a:fld id="{7A6F22D0-723E-561A-A382-778B47BF3598}" type="slidenum">
              <a:rPr lang="en-US" sz="1200" dirty="0">
                <a:solidFill>
                  <a:srgbClr val="555B66"/>
                </a:solidFill>
                <a:latin typeface="Calibri"/>
              </a:rPr>
              <a:t>18</a:t>
            </a:fld>
            <a:endParaRPr lang="en-US" sz="1200" dirty="0">
              <a:solidFill>
                <a:srgbClr val="555B66"/>
              </a:solidFill>
              <a:latin typeface="Calibri"/>
            </a:endParaRPr>
          </a:p>
        </p:txBody>
      </p:sp>
      <p:grpSp>
        <p:nvGrpSpPr>
          <p:cNvPr id="44" name="Group 43">
            <a:extLst>
              <a:ext uri="{FF2B5EF4-FFF2-40B4-BE49-F238E27FC236}">
                <a16:creationId xmlns:a16="http://schemas.microsoft.com/office/drawing/2014/main" id="{5DA86E65-5903-C336-8203-6D472F14451E}"/>
              </a:ext>
            </a:extLst>
          </p:cNvPr>
          <p:cNvGrpSpPr/>
          <p:nvPr/>
        </p:nvGrpSpPr>
        <p:grpSpPr>
          <a:xfrm>
            <a:off x="2331720" y="4349964"/>
            <a:ext cx="5801868" cy="1247607"/>
            <a:chOff x="2331720" y="4349964"/>
            <a:chExt cx="5801868" cy="1247607"/>
          </a:xfrm>
        </p:grpSpPr>
        <p:sp>
          <p:nvSpPr>
            <p:cNvPr id="13" name="Rectangle 12"/>
            <p:cNvSpPr/>
            <p:nvPr/>
          </p:nvSpPr>
          <p:spPr>
            <a:xfrm>
              <a:off x="2331720" y="4349964"/>
              <a:ext cx="5760720" cy="1233891"/>
            </a:xfrm>
            <a:custGeom>
              <a:avLst/>
              <a:gdLst/>
              <a:ahLst/>
              <a:cxnLst/>
              <a:rect l="0" t="0" r="r" b="b"/>
              <a:pathLst>
                <a:path w="5760720" h="1233891">
                  <a:moveTo>
                    <a:pt x="0" y="1233891"/>
                  </a:moveTo>
                  <a:cubicBezTo>
                    <a:pt x="240030" y="1116060"/>
                    <a:pt x="960120" y="719142"/>
                    <a:pt x="1440180" y="526908"/>
                  </a:cubicBezTo>
                  <a:cubicBezTo>
                    <a:pt x="1920239" y="334673"/>
                    <a:pt x="2400299" y="142439"/>
                    <a:pt x="2880359" y="80484"/>
                  </a:cubicBezTo>
                  <a:cubicBezTo>
                    <a:pt x="3360418" y="18529"/>
                    <a:pt x="3840478" y="0"/>
                    <a:pt x="4320539" y="155178"/>
                  </a:cubicBezTo>
                  <a:cubicBezTo>
                    <a:pt x="4800599" y="310355"/>
                    <a:pt x="5520689" y="868819"/>
                    <a:pt x="5760720" y="1011548"/>
                  </a:cubicBezTo>
                </a:path>
              </a:pathLst>
            </a:custGeom>
            <a:noFill/>
            <a:ln w="38100">
              <a:solidFill>
                <a:srgbClr val="007A33"/>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E63CA56-FF04-7518-8588-BD65A78CDE49}"/>
                    </a:ext>
                  </a:extLst>
                </p:cNvPr>
                <p:cNvSpPr txBox="1"/>
                <p:nvPr/>
              </p:nvSpPr>
              <p:spPr>
                <a:xfrm>
                  <a:off x="7444133" y="5351350"/>
                  <a:ext cx="689455" cy="246221"/>
                </a:xfrm>
                <a:prstGeom prst="rect">
                  <a:avLst/>
                </a:prstGeom>
                <a:noFill/>
              </p:spPr>
              <p:txBody>
                <a:bodyPr wrap="square" lIns="0" tIns="0" rIns="0" bIns="0">
                  <a:spAutoFit/>
                </a:bodyPr>
                <a:lstStyle/>
                <a:p>
                  <a:pPr algn="l"/>
                  <a:r>
                    <a:rPr lang="en-US" sz="1600" b="0" i="1" u="none" dirty="0">
                      <a:solidFill>
                        <a:srgbClr val="007A33"/>
                      </a:solidFill>
                      <a:latin typeface="Calibri"/>
                    </a:rPr>
                    <a:t>Profit </a:t>
                  </a:r>
                  <a14:m>
                    <m:oMath xmlns:m="http://schemas.openxmlformats.org/officeDocument/2006/math">
                      <m:r>
                        <a:rPr lang="en-US" sz="1600" b="0" i="1" u="none" smtClean="0">
                          <a:solidFill>
                            <a:srgbClr val="007A33"/>
                          </a:solidFill>
                          <a:latin typeface="Cambria Math" panose="02040503050406030204" pitchFamily="18" charset="0"/>
                        </a:rPr>
                        <m:t>𝜋</m:t>
                      </m:r>
                    </m:oMath>
                  </a14:m>
                  <a:endParaRPr sz="1600" b="0" i="1" u="none" dirty="0">
                    <a:solidFill>
                      <a:srgbClr val="007A33"/>
                    </a:solidFill>
                    <a:latin typeface="Calibri"/>
                  </a:endParaRPr>
                </a:p>
              </p:txBody>
            </p:sp>
          </mc:Choice>
          <mc:Fallback xmlns="">
            <p:sp>
              <p:nvSpPr>
                <p:cNvPr id="39" name="TextBox 38">
                  <a:extLst>
                    <a:ext uri="{FF2B5EF4-FFF2-40B4-BE49-F238E27FC236}">
                      <a16:creationId xmlns:a16="http://schemas.microsoft.com/office/drawing/2014/main" id="{BE63CA56-FF04-7518-8588-BD65A78CDE49}"/>
                    </a:ext>
                  </a:extLst>
                </p:cNvPr>
                <p:cNvSpPr txBox="1">
                  <a:spLocks noRot="1" noChangeAspect="1" noMove="1" noResize="1" noEditPoints="1" noAdjustHandles="1" noChangeArrowheads="1" noChangeShapeType="1" noTextEdit="1"/>
                </p:cNvSpPr>
                <p:nvPr/>
              </p:nvSpPr>
              <p:spPr>
                <a:xfrm>
                  <a:off x="7444133" y="5351350"/>
                  <a:ext cx="689455" cy="246221"/>
                </a:xfrm>
                <a:prstGeom prst="rect">
                  <a:avLst/>
                </a:prstGeom>
                <a:blipFill>
                  <a:blip r:embed="rId3"/>
                  <a:stretch>
                    <a:fillRect l="-17699" t="-27500" b="-50000"/>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5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par>
                                <p:cTn id="19" presetID="10"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5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3"/>
                                        </p:tgtEl>
                                        <p:attrNameLst>
                                          <p:attrName>style.visibility</p:attrName>
                                        </p:attrNameLst>
                                      </p:cBhvr>
                                      <p:to>
                                        <p:strVal val="visible"/>
                                      </p:to>
                                    </p:set>
                                    <p:animEffect transition="in" filter="fade">
                                      <p:cBhvr>
                                        <p:cTn id="29" dur="500"/>
                                        <p:tgtEl>
                                          <p:spTgt spid="4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animEffect transition="in" filter="fade">
                                      <p:cBhvr>
                                        <p:cTn id="34" dur="5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500"/>
                                        <p:tgtEl>
                                          <p:spTgt spid="4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00"/>
                                        <p:tgtEl>
                                          <p:spTgt spid="17"/>
                                        </p:tgtEl>
                                      </p:cBhvr>
                                    </p:animEffect>
                                  </p:childTnLst>
                                </p:cTn>
                              </p:par>
                              <p:par>
                                <p:cTn id="45" presetID="10" presetClass="entr" presetSubtype="0" fill="hold"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500"/>
                                        <p:tgtEl>
                                          <p:spTgt spid="23"/>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38"/>
                                        </p:tgtEl>
                                        <p:attrNameLst>
                                          <p:attrName>style.visibility</p:attrName>
                                        </p:attrNameLst>
                                      </p:cBhvr>
                                      <p:to>
                                        <p:strVal val="visible"/>
                                      </p:to>
                                    </p:set>
                                    <p:animEffect transition="in" filter="fade">
                                      <p:cBhvr>
                                        <p:cTn id="64" dur="500"/>
                                        <p:tgtEl>
                                          <p:spTgt spid="138"/>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Example: The Yi Family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91640"/>
            <a:ext cx="6400800" cy="3291840"/>
          </a:xfrm>
          <a:prstGeom prst="rect">
            <a:avLst/>
          </a:prstGeom>
          <a:noFill/>
        </p:spPr>
        <p:txBody>
          <a:bodyPr wrap="square" lIns="0" tIns="0" rIns="0" bIns="0">
            <a:noAutofit/>
          </a:bodyPr>
          <a:lstStyle>
            <a:lvl1pPr marL="342900" indent="-342900">
              <a:spcBef>
                <a:spcPts val="20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 South Korean family moves from California to rural Arkansas to start a farm</a:t>
            </a:r>
          </a:p>
          <a:p>
            <a:pPr algn="l"/>
            <a:r>
              <a:rPr>
                <a:latin typeface="Calibri"/>
              </a:rPr>
              <a:t>Their goal: grow Korean produce and sell it to vendors in Dallas, at the market price</a:t>
            </a:r>
          </a:p>
          <a:p>
            <a:pPr algn="l"/>
            <a:r>
              <a:rPr>
                <a:latin typeface="Calibri"/>
              </a:rPr>
              <a:t>We follow their cabbage crop — the raw material for kimchi</a:t>
            </a:r>
          </a:p>
        </p:txBody>
      </p:sp>
      <p:grpSp>
        <p:nvGrpSpPr>
          <p:cNvPr id="116" name="Group pair 116"/>
          <p:cNvGrpSpPr/>
          <p:nvPr/>
        </p:nvGrpSpPr>
        <p:grpSpPr>
          <a:xfrm>
            <a:off x="7360920" y="1325880"/>
            <a:ext cx="4206240" cy="2743200"/>
            <a:chOff x="7360920" y="1325880"/>
            <a:chExt cx="4206240" cy="2743200"/>
          </a:xfrm>
        </p:grpSpPr>
        <p:pic>
          <p:nvPicPr>
            <p:cNvPr id="8" name="Picture 7" descr="NV_s12_3_534a7244.png"/>
            <p:cNvPicPr>
              <a:picLocks noChangeAspect="1"/>
            </p:cNvPicPr>
            <p:nvPr/>
          </p:nvPicPr>
          <p:blipFill>
            <a:blip r:embed="rId3"/>
            <a:stretch>
              <a:fillRect/>
            </a:stretch>
          </p:blipFill>
          <p:spPr>
            <a:xfrm>
              <a:off x="7360920" y="1325880"/>
              <a:ext cx="4206240" cy="236601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360920" y="3794760"/>
              <a:ext cx="4206240" cy="274320"/>
            </a:xfrm>
            <a:prstGeom prst="rect">
              <a:avLst/>
            </a:prstGeom>
            <a:noFill/>
          </p:spPr>
          <p:txBody>
            <a:bodyPr wrap="square" lIns="0" tIns="0" rIns="0" bIns="0">
              <a:spAutoFit/>
            </a:bodyPr>
            <a:lstStyle/>
            <a:p>
              <a:pPr algn="ctr"/>
              <a:r>
                <a:rPr sz="1200" b="0" i="1" u="none">
                  <a:solidFill>
                    <a:srgbClr val="555B66"/>
                  </a:solidFill>
                  <a:latin typeface="Calibri"/>
                </a:rPr>
                <a:t>Minari (2020)</a:t>
              </a:r>
            </a:p>
          </p:txBody>
        </p:sp>
      </p:grpSp>
      <p:pic>
        <p:nvPicPr>
          <p:cNvPr id="10" name="Picture 9" descr="NV_s12_4_53752c12.jpg"/>
          <p:cNvPicPr>
            <a:picLocks noChangeAspect="1"/>
          </p:cNvPicPr>
          <p:nvPr/>
        </p:nvPicPr>
        <p:blipFill>
          <a:blip r:embed="rId4"/>
          <a:stretch>
            <a:fillRect/>
          </a:stretch>
        </p:blipFill>
        <p:spPr>
          <a:xfrm>
            <a:off x="7360920" y="4206240"/>
            <a:ext cx="2011680" cy="150876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NV_s12_5_042a9a61.png"/>
          <p:cNvPicPr>
            <a:picLocks noChangeAspect="1"/>
          </p:cNvPicPr>
          <p:nvPr/>
        </p:nvPicPr>
        <p:blipFill>
          <a:blip r:embed="rId5"/>
          <a:stretch>
            <a:fillRect/>
          </a:stretch>
        </p:blipFill>
        <p:spPr>
          <a:xfrm>
            <a:off x="9555480" y="4215384"/>
            <a:ext cx="2011680" cy="1476573"/>
          </a:xfrm>
          <a:prstGeom prst="roundRect">
            <a:avLst>
              <a:gd name="adj" fmla="val 8000"/>
            </a:avLst>
          </a:prstGeom>
          <a:effectLst>
            <a:outerShdw blurRad="50800" dist="38100" dir="2700000" algn="tl" rotWithShape="0">
              <a:srgbClr val="000000">
                <a:alpha val="50000"/>
              </a:srgbClr>
            </a:outerShdw>
          </a:effectLst>
        </p:spPr>
      </p:pic>
      <p:sp>
        <p:nvSpPr>
          <p:cNvPr id="12" name="Rounded Rectangle 11"/>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C1454909-D6FF-5F1F-980F-67DB08190285}" type="slidenum">
              <a:rPr lang="en-US" sz="1200" dirty="0">
                <a:solidFill>
                  <a:srgbClr val="555B66"/>
                </a:solidFill>
                <a:latin typeface="Calibri"/>
              </a:rPr>
              <a:t>19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6"/>
                                        </p:tgtEl>
                                        <p:attrNameLst>
                                          <p:attrName>style.visibility</p:attrName>
                                        </p:attrNameLst>
                                      </p:cBhvr>
                                      <p:to>
                                        <p:strVal val="visible"/>
                                      </p:to>
                                    </p:set>
                                    <p:animEffect transition="in" filter="fade">
                                      <p:cBhvr>
                                        <p:cTn id="10" dur="500"/>
                                        <p:tgtEl>
                                          <p:spTgt spid="116"/>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7">
                                            <p:txEl>
                                              <p:pRg st="2" end="2"/>
                                            </p:txEl>
                                          </p:spTgt>
                                        </p:tgtEl>
                                        <p:attrNameLst>
                                          <p:attrName>style.visibility</p:attrName>
                                        </p:attrNameLst>
                                      </p:cBhvr>
                                      <p:to>
                                        <p:strVal val="visible"/>
                                      </p:to>
                                    </p:set>
                                    <p:animEffect transition="in" filter="fade">
                                      <p:cBhvr>
                                        <p:cTn id="24"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Business Relevance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7315200" cy="411480"/>
          </a:xfrm>
          <a:prstGeom prst="rect">
            <a:avLst/>
          </a:prstGeom>
          <a:noFill/>
        </p:spPr>
        <p:txBody>
          <a:bodyPr wrap="square" lIns="0" tIns="0" rIns="0" bIns="0">
            <a:spAutoFit/>
          </a:bodyPr>
          <a:lstStyle/>
          <a:p>
            <a:pPr algn="l"/>
            <a:r>
              <a:rPr sz="2800" b="1" i="0" u="none">
                <a:solidFill>
                  <a:srgbClr val="0B2B4E"/>
                </a:solidFill>
                <a:latin typeface="Calibri"/>
              </a:rPr>
              <a:t>Key questions:</a:t>
            </a:r>
          </a:p>
        </p:txBody>
      </p:sp>
      <p:sp>
        <p:nvSpPr>
          <p:cNvPr id="8" name="Rounded Rectangle 7"/>
          <p:cNvSpPr/>
          <p:nvPr/>
        </p:nvSpPr>
        <p:spPr>
          <a:xfrm>
            <a:off x="960120" y="2212848"/>
            <a:ext cx="10332720" cy="86868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Should the Yi family produce at all?</a:t>
            </a:r>
          </a:p>
        </p:txBody>
      </p:sp>
      <p:sp>
        <p:nvSpPr>
          <p:cNvPr id="9" name="Oval 8"/>
          <p:cNvSpPr/>
          <p:nvPr/>
        </p:nvSpPr>
        <p:spPr>
          <a:xfrm>
            <a:off x="1188720" y="2395728"/>
            <a:ext cx="502920" cy="50292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1</a:t>
            </a:r>
          </a:p>
        </p:txBody>
      </p:sp>
      <p:sp>
        <p:nvSpPr>
          <p:cNvPr id="10" name="Rounded Rectangle 9"/>
          <p:cNvSpPr/>
          <p:nvPr/>
        </p:nvSpPr>
        <p:spPr>
          <a:xfrm>
            <a:off x="960120" y="3355848"/>
            <a:ext cx="10332720" cy="868680"/>
          </a:xfrm>
          <a:prstGeom prst="roundRect">
            <a:avLst>
              <a:gd name="adj" fmla="val 12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How much should they produce?</a:t>
            </a:r>
          </a:p>
        </p:txBody>
      </p:sp>
      <p:sp>
        <p:nvSpPr>
          <p:cNvPr id="11" name="Oval 10"/>
          <p:cNvSpPr/>
          <p:nvPr/>
        </p:nvSpPr>
        <p:spPr>
          <a:xfrm>
            <a:off x="1188720" y="3538728"/>
            <a:ext cx="502920" cy="50292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2</a:t>
            </a:r>
          </a:p>
        </p:txBody>
      </p:sp>
      <p:sp>
        <p:nvSpPr>
          <p:cNvPr id="12" name="TextBox 11"/>
          <p:cNvSpPr txBox="1"/>
          <p:nvPr/>
        </p:nvSpPr>
        <p:spPr>
          <a:xfrm>
            <a:off x="389159" y="4434840"/>
            <a:ext cx="11338560" cy="118872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We start with the second question: profit maximization</a:t>
            </a:r>
          </a:p>
          <a:p>
            <a:pPr algn="l"/>
            <a:r>
              <a:rPr>
                <a:latin typeface="Calibri"/>
              </a:rPr>
              <a:t>Key concept: </a:t>
            </a:r>
            <a:r>
              <a:rPr b="1">
                <a:solidFill>
                  <a:srgbClr val="0070C0"/>
                </a:solidFill>
                <a:latin typeface="Calibri"/>
              </a:rPr>
              <a:t>marginal analysis</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94EC799B-974A-5988-A91E-35B1A66E405C}" type="slidenum">
              <a:rPr lang="en-US" sz="1200" dirty="0">
                <a:solidFill>
                  <a:srgbClr val="555B66"/>
                </a:solidFill>
                <a:latin typeface="Calibri"/>
              </a:rPr>
              <a:t>20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fade">
                                      <p:cBhvr>
                                        <p:cTn id="28" dur="5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xEl>
                                              <p:pRg st="1" end="1"/>
                                            </p:txEl>
                                          </p:spTgt>
                                        </p:tgtEl>
                                        <p:attrNameLst>
                                          <p:attrName>style.visibility</p:attrName>
                                        </p:attrNameLst>
                                      </p:cBhvr>
                                      <p:to>
                                        <p:strVal val="visible"/>
                                      </p:to>
                                    </p:set>
                                    <p:animEffect transition="in" filter="fade">
                                      <p:cBhvr>
                                        <p:cTn id="33" dur="500"/>
                                        <p:tgtEl>
                                          <p:spTgt spid="1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Cabbage Production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3" name="Group pair 123"/>
          <p:cNvGrpSpPr/>
          <p:nvPr/>
        </p:nvGrpSpPr>
        <p:grpSpPr>
          <a:xfrm>
            <a:off x="548640" y="1645920"/>
            <a:ext cx="6309360" cy="4114800"/>
            <a:chOff x="548640" y="1645920"/>
            <a:chExt cx="6309360" cy="4114800"/>
          </a:xfrm>
        </p:grpSpPr>
        <p:sp>
          <p:nvSpPr>
            <p:cNvPr id="7" name="Rectangle 6"/>
            <p:cNvSpPr/>
            <p:nvPr/>
          </p:nvSpPr>
          <p:spPr>
            <a:xfrm>
              <a:off x="548640" y="1645920"/>
              <a:ext cx="6309360" cy="41148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85800" y="1783080"/>
            <a:ext cx="6035040" cy="3840480"/>
          </p:xfrm>
          <a:graphic>
            <a:graphicData uri="http://schemas.openxmlformats.org/drawingml/2006/table">
              <a:tbl>
                <a:tblPr/>
                <a:tblGrid>
                  <a:gridCol w="1508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603504">
                  <a:tc>
                    <a:txBody>
                      <a:bodyPr/>
                      <a:lstStyle/>
                      <a:p>
                        <a:pPr algn="ctr"/>
                        <a:r>
                          <a:rPr sz="1900" b="1">
                            <a:solidFill>
                              <a:srgbClr val="FFFFFF"/>
                            </a:solidFill>
                            <a:latin typeface="Calibri"/>
                          </a:rPr>
                          <a:t>Q  (tons)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TFC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TVC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39496">
                  <a:tc>
                    <a:txBody>
                      <a:bodyPr/>
                      <a:lstStyle/>
                      <a:p>
                        <a:pPr algn="ctr"/>
                        <a:r>
                          <a:rPr sz="1900" b="1">
                            <a:solidFill>
                              <a:srgbClr val="0B2B4E"/>
                            </a:solidFill>
                            <a:latin typeface="Calibri"/>
                          </a:rPr>
                          <a:t>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39496">
                  <a:tc>
                    <a:txBody>
                      <a:bodyPr/>
                      <a:lstStyle/>
                      <a:p>
                        <a:pPr algn="ctr"/>
                        <a:r>
                          <a:rPr sz="1900" b="1">
                            <a:solidFill>
                              <a:srgbClr val="0B2B4E"/>
                            </a:solidFill>
                            <a:latin typeface="Calibri"/>
                          </a:rPr>
                          <a:t>200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39496">
                  <a:tc>
                    <a:txBody>
                      <a:bodyPr/>
                      <a:lstStyle/>
                      <a:p>
                        <a:pPr algn="ctr"/>
                        <a:r>
                          <a:rPr sz="1900" b="1">
                            <a:solidFill>
                              <a:srgbClr val="0B2B4E"/>
                            </a:solidFill>
                            <a:latin typeface="Calibri"/>
                          </a:rPr>
                          <a:t>400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146,000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86,000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39496">
                  <a:tc>
                    <a:txBody>
                      <a:bodyPr/>
                      <a:lstStyle/>
                      <a:p>
                        <a:pPr algn="ctr"/>
                        <a:r>
                          <a:rPr sz="1900" b="1">
                            <a:solidFill>
                              <a:srgbClr val="0B2B4E"/>
                            </a:solidFill>
                            <a:latin typeface="Calibri"/>
                          </a:rPr>
                          <a:t>600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213,000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153,000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539496">
                  <a:tc>
                    <a:txBody>
                      <a:bodyPr/>
                      <a:lstStyle/>
                      <a:p>
                        <a:pPr algn="ctr"/>
                        <a:r>
                          <a:rPr sz="1900" b="1">
                            <a:solidFill>
                              <a:srgbClr val="0B2B4E"/>
                            </a:solidFill>
                            <a:latin typeface="Calibri"/>
                          </a:rPr>
                          <a:t>800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296,000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900" b="0">
                            <a:solidFill>
                              <a:srgbClr val="0B2B4E"/>
                            </a:solidFill>
                            <a:latin typeface="Calibri"/>
                          </a:rPr>
                          <a:t>236,000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r h="539496">
                  <a:tc>
                    <a:txBody>
                      <a:bodyPr/>
                      <a:lstStyle/>
                      <a:p>
                        <a:pPr algn="ctr"/>
                        <a:r>
                          <a:rPr sz="1900" b="1">
                            <a:solidFill>
                              <a:srgbClr val="0B2B4E"/>
                            </a:solidFill>
                            <a:latin typeface="Calibri"/>
                          </a:rPr>
                          <a:t>1,000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60,000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900" b="0">
                            <a:solidFill>
                              <a:srgbClr val="0B2B4E"/>
                            </a:solidFill>
                            <a:latin typeface="Calibri"/>
                          </a:rPr>
                          <a:t>335,000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6"/>
                    </a:ext>
                  </a:extLst>
                </a:tr>
              </a:tbl>
            </a:graphicData>
          </a:graphic>
        </p:graphicFrame>
      </p:grpSp>
      <p:grpSp>
        <p:nvGrpSpPr>
          <p:cNvPr id="121" name="Group pair 121"/>
          <p:cNvGrpSpPr/>
          <p:nvPr/>
        </p:nvGrpSpPr>
        <p:grpSpPr>
          <a:xfrm>
            <a:off x="6903720" y="1783080"/>
            <a:ext cx="4846320" cy="1051560"/>
            <a:chOff x="6903720" y="1783080"/>
            <a:chExt cx="4846320" cy="1051560"/>
          </a:xfrm>
        </p:grpSpPr>
        <p:sp>
          <p:nvSpPr>
            <p:cNvPr id="9" name="Rounded Rectangle 8"/>
            <p:cNvSpPr/>
            <p:nvPr/>
          </p:nvSpPr>
          <p:spPr>
            <a:xfrm>
              <a:off x="6903720" y="1783080"/>
              <a:ext cx="4846320" cy="105156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86600" y="1892808"/>
              <a:ext cx="4480560" cy="832104"/>
            </a:xfrm>
            <a:prstGeom prst="rect">
              <a:avLst/>
            </a:prstGeom>
            <a:noFill/>
          </p:spPr>
          <p:txBody>
            <a:bodyPr wrap="square" lIns="45720" tIns="0" rIns="45720" bIns="0" anchor="ctr">
              <a:spAutoFit/>
            </a:bodyPr>
            <a:lstStyle/>
            <a:p>
              <a:pPr algn="l"/>
              <a:r>
                <a:rPr sz="1700" b="1" i="0" u="none">
                  <a:solidFill>
                    <a:srgbClr val="0B2B4E"/>
                  </a:solidFill>
                  <a:latin typeface="Calibri"/>
                </a:rPr>
                <a:t>Fixed costs: </a:t>
              </a:r>
              <a:r>
                <a:rPr sz="1700" b="0" i="0" u="none">
                  <a:solidFill>
                    <a:srgbClr val="0B2B4E"/>
                  </a:solidFill>
                  <a:latin typeface="Calibri"/>
                </a:rPr>
                <a:t>land rent, equipment, and the salary the family gives up (opportunity cost)</a:t>
              </a:r>
            </a:p>
          </p:txBody>
        </p:sp>
      </p:grpSp>
      <p:grpSp>
        <p:nvGrpSpPr>
          <p:cNvPr id="122" name="Group pair 122"/>
          <p:cNvGrpSpPr/>
          <p:nvPr/>
        </p:nvGrpSpPr>
        <p:grpSpPr>
          <a:xfrm>
            <a:off x="6903720" y="2971800"/>
            <a:ext cx="4846320" cy="914400"/>
            <a:chOff x="6903720" y="2971800"/>
            <a:chExt cx="4846320" cy="914400"/>
          </a:xfrm>
        </p:grpSpPr>
        <p:sp>
          <p:nvSpPr>
            <p:cNvPr id="11" name="Rounded Rectangle 10"/>
            <p:cNvSpPr/>
            <p:nvPr/>
          </p:nvSpPr>
          <p:spPr>
            <a:xfrm>
              <a:off x="6903720" y="2971800"/>
              <a:ext cx="484632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086600" y="3081528"/>
              <a:ext cx="4480560" cy="694944"/>
            </a:xfrm>
            <a:prstGeom prst="rect">
              <a:avLst/>
            </a:prstGeom>
            <a:noFill/>
          </p:spPr>
          <p:txBody>
            <a:bodyPr wrap="square" lIns="45720" tIns="0" rIns="45720" bIns="0" anchor="ctr">
              <a:spAutoFit/>
            </a:bodyPr>
            <a:lstStyle/>
            <a:p>
              <a:pPr algn="l"/>
              <a:r>
                <a:rPr sz="1700" b="1" i="0" u="none">
                  <a:solidFill>
                    <a:srgbClr val="0B2B4E"/>
                  </a:solidFill>
                  <a:latin typeface="Calibri"/>
                </a:rPr>
                <a:t>Variable costs: </a:t>
              </a:r>
              <a:r>
                <a:rPr sz="1700" b="0" i="0" u="none">
                  <a:solidFill>
                    <a:srgbClr val="0B2B4E"/>
                  </a:solidFill>
                  <a:latin typeface="Calibri"/>
                </a:rPr>
                <a:t>seeds, water, fertilizer, pesticides, fuel…</a:t>
              </a:r>
            </a:p>
          </p:txBody>
        </p:sp>
      </p:grpSp>
      <p:grpSp>
        <p:nvGrpSpPr>
          <p:cNvPr id="124" name="Group pair 124"/>
          <p:cNvGrpSpPr/>
          <p:nvPr/>
        </p:nvGrpSpPr>
        <p:grpSpPr>
          <a:xfrm>
            <a:off x="6903720" y="4114800"/>
            <a:ext cx="4846320" cy="1508760"/>
            <a:chOff x="6903720" y="4114800"/>
            <a:chExt cx="4846320" cy="1508760"/>
          </a:xfrm>
        </p:grpSpPr>
        <p:pic>
          <p:nvPicPr>
            <p:cNvPr id="13" name="Picture 12" descr="NV_s13_5_cd8d8b01.jpg"/>
            <p:cNvPicPr>
              <a:picLocks noChangeAspect="1"/>
            </p:cNvPicPr>
            <p:nvPr/>
          </p:nvPicPr>
          <p:blipFill>
            <a:blip r:embed="rId3"/>
            <a:stretch>
              <a:fillRect/>
            </a:stretch>
          </p:blipFill>
          <p:spPr>
            <a:xfrm>
              <a:off x="6903720" y="4114800"/>
              <a:ext cx="1554480" cy="1170432"/>
            </a:xfrm>
            <a:prstGeom prst="roundRect">
              <a:avLst>
                <a:gd name="adj" fmla="val 8000"/>
              </a:avLst>
            </a:prstGeom>
            <a:effectLst>
              <a:outerShdw blurRad="50800" dist="38100" dir="2700000" algn="tl" rotWithShape="0">
                <a:srgbClr val="000000">
                  <a:alpha val="50000"/>
                </a:srgbClr>
              </a:outerShdw>
            </a:effectLst>
          </p:spPr>
        </p:pic>
        <p:pic>
          <p:nvPicPr>
            <p:cNvPr id="14" name="Picture 13" descr="NV_s13_4_3f29b09c.jpg"/>
            <p:cNvPicPr>
              <a:picLocks noChangeAspect="1"/>
            </p:cNvPicPr>
            <p:nvPr/>
          </p:nvPicPr>
          <p:blipFill>
            <a:blip r:embed="rId4"/>
            <a:stretch>
              <a:fillRect/>
            </a:stretch>
          </p:blipFill>
          <p:spPr>
            <a:xfrm>
              <a:off x="8549640" y="4114800"/>
              <a:ext cx="1554480" cy="1170432"/>
            </a:xfrm>
            <a:prstGeom prst="roundRect">
              <a:avLst>
                <a:gd name="adj" fmla="val 8000"/>
              </a:avLst>
            </a:prstGeom>
            <a:effectLst>
              <a:outerShdw blurRad="50800" dist="38100" dir="2700000" algn="tl" rotWithShape="0">
                <a:srgbClr val="000000">
                  <a:alpha val="50000"/>
                </a:srgbClr>
              </a:outerShdw>
            </a:effectLst>
          </p:spPr>
        </p:pic>
        <p:pic>
          <p:nvPicPr>
            <p:cNvPr id="15" name="Picture 14" descr="NV_s13_1_dd9ab3ce.jpg"/>
            <p:cNvPicPr>
              <a:picLocks noChangeAspect="1"/>
            </p:cNvPicPr>
            <p:nvPr/>
          </p:nvPicPr>
          <p:blipFill>
            <a:blip r:embed="rId5"/>
            <a:stretch>
              <a:fillRect/>
            </a:stretch>
          </p:blipFill>
          <p:spPr>
            <a:xfrm>
              <a:off x="10195560" y="4114800"/>
              <a:ext cx="1554480" cy="1170432"/>
            </a:xfrm>
            <a:prstGeom prst="roundRect">
              <a:avLst>
                <a:gd name="adj" fmla="val 8000"/>
              </a:avLst>
            </a:prstGeom>
            <a:effectLst>
              <a:outerShdw blurRad="50800" dist="38100" dir="2700000" algn="tl" rotWithShape="0">
                <a:srgbClr val="000000">
                  <a:alpha val="50000"/>
                </a:srgbClr>
              </a:outerShdw>
            </a:effectLst>
          </p:spPr>
        </p:pic>
        <p:sp>
          <p:nvSpPr>
            <p:cNvPr id="16" name="TextBox 15"/>
            <p:cNvSpPr txBox="1"/>
            <p:nvPr/>
          </p:nvSpPr>
          <p:spPr>
            <a:xfrm>
              <a:off x="6903720" y="5349240"/>
              <a:ext cx="4846320" cy="274320"/>
            </a:xfrm>
            <a:prstGeom prst="rect">
              <a:avLst/>
            </a:prstGeom>
            <a:noFill/>
          </p:spPr>
          <p:txBody>
            <a:bodyPr wrap="square" lIns="0" tIns="0" rIns="0" bIns="0">
              <a:spAutoFit/>
            </a:bodyPr>
            <a:lstStyle/>
            <a:p>
              <a:pPr algn="ctr"/>
              <a:r>
                <a:rPr sz="1200" b="0" i="1" u="none">
                  <a:solidFill>
                    <a:srgbClr val="555B66"/>
                  </a:solidFill>
                  <a:latin typeface="Calibri"/>
                </a:rPr>
                <a:t>Seeds  ·  irrigation  ·  fertilizer</a:t>
              </a:r>
            </a:p>
          </p:txBody>
        </p:sp>
      </p:grpSp>
      <p:sp>
        <p:nvSpPr>
          <p:cNvPr id="17" name="Rounded Rectangle 16"/>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1" name="TextBox 20"/>
          <p:cNvSpPr txBox="1"/>
          <p:nvPr/>
        </p:nvSpPr>
        <p:spPr>
          <a:xfrm>
            <a:off x="11475720" y="6583680"/>
            <a:ext cx="502920" cy="292608"/>
          </a:xfrm>
          <a:prstGeom prst="rect">
            <a:avLst/>
          </a:prstGeom>
          <a:noFill/>
        </p:spPr>
        <p:txBody>
          <a:bodyPr wrap="none" lIns="0" tIns="0" rIns="0" bIns="0">
            <a:spAutoFit/>
          </a:bodyPr>
          <a:lstStyle/>
          <a:p>
            <a:pPr algn="r"/>
            <a:fld id="{95394DCA-4CDA-5B1D-BE09-0AD834A5DD78}" type="slidenum">
              <a:rPr lang="en-US" sz="1200" dirty="0">
                <a:solidFill>
                  <a:srgbClr val="555B66"/>
                </a:solidFill>
                <a:latin typeface="Calibri"/>
              </a:rPr>
              <a:t>21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p:cTn id="7" dur="5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par>
                                <p:cTn id="18" presetID="10" presetClass="entr" presetSubtype="0" fill="hold" nodeType="withEffect">
                                  <p:stCondLst>
                                    <p:cond delay="0"/>
                                  </p:stCondLst>
                                  <p:childTnLst>
                                    <p:set>
                                      <p:cBhvr>
                                        <p:cTn id="19" dur="1" fill="hold">
                                          <p:stCondLst>
                                            <p:cond delay="0"/>
                                          </p:stCondLst>
                                        </p:cTn>
                                        <p:tgtEl>
                                          <p:spTgt spid="124"/>
                                        </p:tgtEl>
                                        <p:attrNameLst>
                                          <p:attrName>style.visibility</p:attrName>
                                        </p:attrNameLst>
                                      </p:cBhvr>
                                      <p:to>
                                        <p:strVal val="visible"/>
                                      </p:to>
                                    </p:set>
                                    <p:animEffect transition="in" filter="fade">
                                      <p:cBhvr>
                                        <p:cTn id="20"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Cabbage Total Cost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4" name="Group pair 134"/>
          <p:cNvGrpSpPr/>
          <p:nvPr/>
        </p:nvGrpSpPr>
        <p:grpSpPr>
          <a:xfrm>
            <a:off x="411480" y="1828800"/>
            <a:ext cx="3291840" cy="3630168"/>
            <a:chOff x="411480" y="1828800"/>
            <a:chExt cx="3291840" cy="3630168"/>
          </a:xfrm>
        </p:grpSpPr>
        <p:sp>
          <p:nvSpPr>
            <p:cNvPr id="7" name="Rectangle 6"/>
            <p:cNvSpPr/>
            <p:nvPr/>
          </p:nvSpPr>
          <p:spPr>
            <a:xfrm>
              <a:off x="411480" y="1828800"/>
              <a:ext cx="3291840" cy="363016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48640" y="1965960"/>
            <a:ext cx="3017520" cy="3355848"/>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502920">
                  <a:tc>
                    <a:txBody>
                      <a:bodyPr/>
                      <a:lstStyle/>
                      <a:p>
                        <a:pPr algn="ctr"/>
                        <a:r>
                          <a:rPr sz="1800" b="1">
                            <a:solidFill>
                              <a:srgbClr val="FFFFFF"/>
                            </a:solidFill>
                            <a:latin typeface="Calibri"/>
                          </a:rPr>
                          <a:t>Q  (tons)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TC  ($)</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475488">
                  <a:tc>
                    <a:txBody>
                      <a:bodyPr/>
                      <a:lstStyle/>
                      <a:p>
                        <a:pPr algn="ctr"/>
                        <a:r>
                          <a:rPr sz="1800" b="1">
                            <a:solidFill>
                              <a:srgbClr val="0B2B4E"/>
                            </a:solidFill>
                            <a:latin typeface="Calibri"/>
                          </a:rPr>
                          <a:t>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67,250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475488">
                  <a:tc>
                    <a:txBody>
                      <a:bodyPr/>
                      <a:lstStyle/>
                      <a:p>
                        <a:pPr algn="ctr"/>
                        <a:r>
                          <a:rPr sz="1800" b="1">
                            <a:solidFill>
                              <a:srgbClr val="0B2B4E"/>
                            </a:solidFill>
                            <a:latin typeface="Calibri"/>
                          </a:rPr>
                          <a:t>200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475488">
                  <a:tc>
                    <a:txBody>
                      <a:bodyPr/>
                      <a:lstStyle/>
                      <a:p>
                        <a:pPr algn="ctr"/>
                        <a:r>
                          <a:rPr sz="1800" b="1">
                            <a:solidFill>
                              <a:srgbClr val="0B2B4E"/>
                            </a:solidFill>
                            <a:latin typeface="Calibri"/>
                          </a:rPr>
                          <a:t>400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146,000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475488">
                  <a:tc>
                    <a:txBody>
                      <a:bodyPr/>
                      <a:lstStyle/>
                      <a:p>
                        <a:pPr algn="ctr"/>
                        <a:r>
                          <a:rPr sz="1800" b="1">
                            <a:solidFill>
                              <a:srgbClr val="0B2B4E"/>
                            </a:solidFill>
                            <a:latin typeface="Calibri"/>
                          </a:rPr>
                          <a:t>600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213,000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475488">
                  <a:tc>
                    <a:txBody>
                      <a:bodyPr/>
                      <a:lstStyle/>
                      <a:p>
                        <a:pPr algn="ctr"/>
                        <a:r>
                          <a:rPr sz="1800" b="1">
                            <a:solidFill>
                              <a:srgbClr val="0B2B4E"/>
                            </a:solidFill>
                            <a:latin typeface="Calibri"/>
                          </a:rPr>
                          <a:t>800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296,000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r h="475488">
                  <a:tc>
                    <a:txBody>
                      <a:bodyPr/>
                      <a:lstStyle/>
                      <a:p>
                        <a:pPr algn="ctr"/>
                        <a:r>
                          <a:rPr sz="1800" b="1">
                            <a:solidFill>
                              <a:srgbClr val="0B2B4E"/>
                            </a:solidFill>
                            <a:latin typeface="Calibri"/>
                          </a:rPr>
                          <a:t>1,000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395,000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6"/>
                    </a:ext>
                  </a:extLst>
                </a:tr>
              </a:tbl>
            </a:graphicData>
          </a:graphic>
        </p:graphicFrame>
      </p:grpSp>
      <p:cxnSp>
        <p:nvCxnSpPr>
          <p:cNvPr id="9" name="Connector 8"/>
          <p:cNvCxnSpPr/>
          <p:nvPr/>
        </p:nvCxnSpPr>
        <p:spPr>
          <a:xfrm flipV="1">
            <a:off x="5074920" y="2304287"/>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74920" y="5532120"/>
            <a:ext cx="58338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941064" y="2036571"/>
            <a:ext cx="1292352" cy="265176"/>
          </a:xfrm>
          <a:prstGeom prst="rect">
            <a:avLst/>
          </a:prstGeom>
          <a:noFill/>
        </p:spPr>
        <p:txBody>
          <a:bodyPr wrap="square" lIns="0" tIns="0" rIns="0" bIns="0">
            <a:spAutoFit/>
          </a:bodyPr>
          <a:lstStyle/>
          <a:p>
            <a:pPr algn="l"/>
            <a:r>
              <a:rPr sz="1800" b="1" i="1" u="none" dirty="0">
                <a:solidFill>
                  <a:srgbClr val="0B2B4E"/>
                </a:solidFill>
                <a:latin typeface="Calibri"/>
              </a:rPr>
              <a:t>Total cost ($)</a:t>
            </a:r>
          </a:p>
        </p:txBody>
      </p:sp>
      <p:sp>
        <p:nvSpPr>
          <p:cNvPr id="12" name="TextBox 11"/>
          <p:cNvSpPr txBox="1"/>
          <p:nvPr/>
        </p:nvSpPr>
        <p:spPr>
          <a:xfrm>
            <a:off x="10157841" y="5577840"/>
            <a:ext cx="1501902" cy="265176"/>
          </a:xfrm>
          <a:prstGeom prst="rect">
            <a:avLst/>
          </a:prstGeom>
          <a:noFill/>
        </p:spPr>
        <p:txBody>
          <a:bodyPr wrap="square" lIns="0" tIns="0" rIns="0" bIns="0">
            <a:spAutoFit/>
          </a:bodyPr>
          <a:lstStyle/>
          <a:p>
            <a:pPr algn="l"/>
            <a:r>
              <a:rPr sz="1800" b="1" i="1" u="none">
                <a:solidFill>
                  <a:srgbClr val="0B2B4E"/>
                </a:solidFill>
                <a:latin typeface="Calibri"/>
              </a:rPr>
              <a:t>Quantity (tons)</a:t>
            </a:r>
          </a:p>
        </p:txBody>
      </p:sp>
      <p:sp>
        <p:nvSpPr>
          <p:cNvPr id="13" name="TextBox 12"/>
          <p:cNvSpPr txBox="1"/>
          <p:nvPr/>
        </p:nvSpPr>
        <p:spPr>
          <a:xfrm>
            <a:off x="582606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200</a:t>
            </a:r>
          </a:p>
        </p:txBody>
      </p:sp>
      <p:sp>
        <p:nvSpPr>
          <p:cNvPr id="14" name="TextBox 13"/>
          <p:cNvSpPr txBox="1"/>
          <p:nvPr/>
        </p:nvSpPr>
        <p:spPr>
          <a:xfrm>
            <a:off x="677094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400</a:t>
            </a:r>
          </a:p>
        </p:txBody>
      </p:sp>
      <p:sp>
        <p:nvSpPr>
          <p:cNvPr id="15" name="TextBox 14"/>
          <p:cNvSpPr txBox="1"/>
          <p:nvPr/>
        </p:nvSpPr>
        <p:spPr>
          <a:xfrm>
            <a:off x="771582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600</a:t>
            </a:r>
          </a:p>
        </p:txBody>
      </p:sp>
      <p:sp>
        <p:nvSpPr>
          <p:cNvPr id="16" name="TextBox 15"/>
          <p:cNvSpPr txBox="1"/>
          <p:nvPr/>
        </p:nvSpPr>
        <p:spPr>
          <a:xfrm>
            <a:off x="8660702" y="5586983"/>
            <a:ext cx="387477" cy="274320"/>
          </a:xfrm>
          <a:prstGeom prst="rect">
            <a:avLst/>
          </a:prstGeom>
          <a:noFill/>
        </p:spPr>
        <p:txBody>
          <a:bodyPr wrap="square" lIns="0" tIns="0" rIns="0" bIns="0">
            <a:spAutoFit/>
          </a:bodyPr>
          <a:lstStyle/>
          <a:p>
            <a:pPr algn="ctr"/>
            <a:r>
              <a:rPr sz="1600" b="0" i="1" u="none">
                <a:solidFill>
                  <a:srgbClr val="0B2B4E"/>
                </a:solidFill>
                <a:latin typeface="Calibri"/>
              </a:rPr>
              <a:t>800</a:t>
            </a:r>
          </a:p>
        </p:txBody>
      </p:sp>
      <p:sp>
        <p:nvSpPr>
          <p:cNvPr id="17" name="TextBox 16"/>
          <p:cNvSpPr txBox="1"/>
          <p:nvPr/>
        </p:nvSpPr>
        <p:spPr>
          <a:xfrm>
            <a:off x="9529382" y="5586983"/>
            <a:ext cx="539876" cy="274320"/>
          </a:xfrm>
          <a:prstGeom prst="rect">
            <a:avLst/>
          </a:prstGeom>
          <a:noFill/>
        </p:spPr>
        <p:txBody>
          <a:bodyPr wrap="square" lIns="0" tIns="0" rIns="0" bIns="0">
            <a:spAutoFit/>
          </a:bodyPr>
          <a:lstStyle/>
          <a:p>
            <a:pPr algn="ctr"/>
            <a:r>
              <a:rPr sz="1600" b="0" i="1" u="none">
                <a:solidFill>
                  <a:srgbClr val="0B2B4E"/>
                </a:solidFill>
                <a:latin typeface="Calibri"/>
              </a:rPr>
              <a:t>1,000</a:t>
            </a:r>
          </a:p>
        </p:txBody>
      </p:sp>
      <p:sp>
        <p:nvSpPr>
          <p:cNvPr id="18" name="TextBox 17"/>
          <p:cNvSpPr txBox="1"/>
          <p:nvPr/>
        </p:nvSpPr>
        <p:spPr>
          <a:xfrm>
            <a:off x="4252341" y="4714240"/>
            <a:ext cx="749427" cy="274320"/>
          </a:xfrm>
          <a:prstGeom prst="rect">
            <a:avLst/>
          </a:prstGeom>
          <a:noFill/>
        </p:spPr>
        <p:txBody>
          <a:bodyPr wrap="square" lIns="0" tIns="0" rIns="0" bIns="0">
            <a:spAutoFit/>
          </a:bodyPr>
          <a:lstStyle/>
          <a:p>
            <a:pPr algn="r"/>
            <a:r>
              <a:rPr sz="1600" b="0" i="1" u="none">
                <a:solidFill>
                  <a:srgbClr val="0B2B4E"/>
                </a:solidFill>
                <a:latin typeface="Calibri"/>
              </a:rPr>
              <a:t>100,000</a:t>
            </a:r>
          </a:p>
        </p:txBody>
      </p:sp>
      <p:sp>
        <p:nvSpPr>
          <p:cNvPr id="19" name="TextBox 18"/>
          <p:cNvSpPr txBox="1"/>
          <p:nvPr/>
        </p:nvSpPr>
        <p:spPr>
          <a:xfrm>
            <a:off x="4252341" y="4033520"/>
            <a:ext cx="749427" cy="274320"/>
          </a:xfrm>
          <a:prstGeom prst="rect">
            <a:avLst/>
          </a:prstGeom>
          <a:noFill/>
        </p:spPr>
        <p:txBody>
          <a:bodyPr wrap="square" lIns="0" tIns="0" rIns="0" bIns="0">
            <a:spAutoFit/>
          </a:bodyPr>
          <a:lstStyle/>
          <a:p>
            <a:pPr algn="r"/>
            <a:r>
              <a:rPr sz="1600" b="0" i="1" u="none">
                <a:solidFill>
                  <a:srgbClr val="0B2B4E"/>
                </a:solidFill>
                <a:latin typeface="Calibri"/>
              </a:rPr>
              <a:t>200,000</a:t>
            </a:r>
          </a:p>
        </p:txBody>
      </p:sp>
      <p:sp>
        <p:nvSpPr>
          <p:cNvPr id="20" name="TextBox 19"/>
          <p:cNvSpPr txBox="1"/>
          <p:nvPr/>
        </p:nvSpPr>
        <p:spPr>
          <a:xfrm>
            <a:off x="4252341" y="3352800"/>
            <a:ext cx="749427" cy="274320"/>
          </a:xfrm>
          <a:prstGeom prst="rect">
            <a:avLst/>
          </a:prstGeom>
          <a:noFill/>
        </p:spPr>
        <p:txBody>
          <a:bodyPr wrap="square" lIns="0" tIns="0" rIns="0" bIns="0">
            <a:spAutoFit/>
          </a:bodyPr>
          <a:lstStyle/>
          <a:p>
            <a:pPr algn="r"/>
            <a:r>
              <a:rPr sz="1600" b="0" i="1" u="none">
                <a:solidFill>
                  <a:srgbClr val="0B2B4E"/>
                </a:solidFill>
                <a:latin typeface="Calibri"/>
              </a:rPr>
              <a:t>300,000</a:t>
            </a:r>
          </a:p>
        </p:txBody>
      </p:sp>
      <p:sp>
        <p:nvSpPr>
          <p:cNvPr id="21" name="TextBox 20"/>
          <p:cNvSpPr txBox="1"/>
          <p:nvPr/>
        </p:nvSpPr>
        <p:spPr>
          <a:xfrm>
            <a:off x="4252341" y="2672079"/>
            <a:ext cx="749427" cy="274320"/>
          </a:xfrm>
          <a:prstGeom prst="rect">
            <a:avLst/>
          </a:prstGeom>
          <a:noFill/>
        </p:spPr>
        <p:txBody>
          <a:bodyPr wrap="square" lIns="0" tIns="0" rIns="0" bIns="0">
            <a:spAutoFit/>
          </a:bodyPr>
          <a:lstStyle/>
          <a:p>
            <a:pPr algn="r"/>
            <a:r>
              <a:rPr sz="1600" b="0" i="1" u="none">
                <a:solidFill>
                  <a:srgbClr val="0B2B4E"/>
                </a:solidFill>
                <a:latin typeface="Calibri"/>
              </a:rPr>
              <a:t>400,000</a:t>
            </a:r>
          </a:p>
        </p:txBody>
      </p:sp>
      <p:sp>
        <p:nvSpPr>
          <p:cNvPr id="22" name="Rectangle 21"/>
          <p:cNvSpPr/>
          <p:nvPr/>
        </p:nvSpPr>
        <p:spPr>
          <a:xfrm>
            <a:off x="5074920" y="2657779"/>
            <a:ext cx="4960620" cy="2465909"/>
          </a:xfrm>
          <a:custGeom>
            <a:avLst/>
            <a:gdLst/>
            <a:ahLst/>
            <a:cxnLst/>
            <a:rect l="0" t="0" r="r" b="b"/>
            <a:pathLst>
              <a:path w="4960620" h="2465909">
                <a:moveTo>
                  <a:pt x="0" y="2465909"/>
                </a:moveTo>
                <a:cubicBezTo>
                  <a:pt x="206692" y="2410068"/>
                  <a:pt x="826770" y="2273818"/>
                  <a:pt x="1240155" y="2130867"/>
                </a:cubicBezTo>
                <a:cubicBezTo>
                  <a:pt x="1653539" y="1987915"/>
                  <a:pt x="2066924" y="1813693"/>
                  <a:pt x="2480309" y="1608201"/>
                </a:cubicBezTo>
                <a:cubicBezTo>
                  <a:pt x="2893693" y="1402708"/>
                  <a:pt x="3307078" y="1165946"/>
                  <a:pt x="3720464" y="897913"/>
                </a:cubicBezTo>
                <a:cubicBezTo>
                  <a:pt x="4133849" y="629879"/>
                  <a:pt x="4753927" y="149652"/>
                  <a:pt x="4960620" y="0"/>
                </a:cubicBezTo>
              </a:path>
            </a:pathLst>
          </a:custGeom>
          <a:noFill/>
          <a:ln w="38100">
            <a:solidFill>
              <a:srgbClr val="0B2B4E"/>
            </a:solidFill>
            <a:prstDash val="dash"/>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5233416" y="4996611"/>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942076" y="480771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6886956" y="4460544"/>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831836" y="400446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776716" y="3439464"/>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9721596" y="2765552"/>
            <a:ext cx="155448" cy="155448"/>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9" name="TextBox 28"/>
              <p:cNvSpPr txBox="1"/>
              <p:nvPr/>
            </p:nvSpPr>
            <p:spPr>
              <a:xfrm>
                <a:off x="6309360" y="1353312"/>
                <a:ext cx="5394960" cy="868680"/>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50000"/>
                  </a:srgbClr>
                </a:outerShdw>
              </a:effectLst>
            </p:spPr>
            <p:txBody>
              <a:bodyPr wrap="square" lIns="45720" tIns="0" rIns="45720" bIns="0">
                <a:spAutoFit/>
              </a:bodyPr>
              <a:lstStyle/>
              <a:p>
                <a:pPr algn="ctr"/>
                <a:r>
                  <a:rPr lang="en-US" sz="1800" b="1">
                    <a:solidFill>
                      <a:srgbClr val="0B2B4E"/>
                    </a:solidFill>
                    <a:latin typeface="Calibri"/>
                  </a:rPr>
                  <a:t>Regression line:</a:t>
                </a:r>
                <a:endParaRPr lang="en-US"/>
              </a:p>
              <a:p>
                <a:pPr algn="ct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m:t>
                      </m:r>
                      <m:r>
                        <a:rPr lang="en-US" sz="2400" b="0" i="1">
                          <a:solidFill>
                            <a:srgbClr val="0B2B4E"/>
                          </a:solidFill>
                          <a:latin typeface="Cambria Math"/>
                          <a:ea typeface="Cambria Math"/>
                        </a:rPr>
                        <m:t>𝑄</m:t>
                      </m:r>
                      <m:r>
                        <a:rPr lang="en-US" sz="2400" b="0" i="0">
                          <a:solidFill>
                            <a:srgbClr val="0B2B4E"/>
                          </a:solidFill>
                          <a:latin typeface="Cambria Math"/>
                        </a:rPr>
                        <m:t> + 0.2</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2</m:t>
                          </m:r>
                        </m:sup>
                      </m:sSup>
                    </m:oMath>
                  </m:oMathPara>
                </a14:m>
                <a:endParaRPr lang="en-US"/>
              </a:p>
            </p:txBody>
          </p:sp>
        </mc:Choice>
        <mc:Fallback xmlns="">
          <p:sp>
            <p:nvSpPr>
              <p:cNvPr id="29" name="TextBox 28"/>
              <p:cNvSpPr txBox="1">
                <a:spLocks noRot="1" noChangeAspect="1" noMove="1" noResize="1" noEditPoints="1" noAdjustHandles="1" noChangeArrowheads="1" noChangeShapeType="1" noTextEdit="1"/>
              </p:cNvSpPr>
              <p:nvPr/>
            </p:nvSpPr>
            <p:spPr>
              <a:xfrm>
                <a:off x="6309360" y="1353312"/>
                <a:ext cx="5394960" cy="868680"/>
              </a:xfrm>
              <a:prstGeom prst="roundRect">
                <a:avLst>
                  <a:gd name="adj" fmla="val 10000"/>
                </a:avLst>
              </a:prstGeom>
              <a:blipFill>
                <a:blip r:embed="rId3"/>
                <a:stretch>
                  <a:fillRect/>
                </a:stretch>
              </a:blipFill>
              <a:ln w="22225">
                <a:solidFill>
                  <a:srgbClr val="E09F3E"/>
                </a:solidFill>
              </a:ln>
              <a:effectLst>
                <a:outerShdw blurRad="50800" dist="38100" dir="2700000" algn="tl" rotWithShape="0">
                  <a:srgbClr val="000000">
                    <a:alpha val="50000"/>
                  </a:srgbClr>
                </a:outerShdw>
              </a:effectLst>
            </p:spPr>
            <p:txBody>
              <a:bodyPr/>
              <a:lstStyle/>
              <a:p>
                <a:r>
                  <a:rPr lang="en-US">
                    <a:noFill/>
                  </a:rPr>
                  <a:t> </a:t>
                </a:r>
              </a:p>
            </p:txBody>
          </p:sp>
        </mc:Fallback>
      </mc:AlternateContent>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6603627C-E725-5B69-BFB3-C73EC154E645}" type="slidenum">
              <a:rPr lang="en-US" sz="1200" dirty="0">
                <a:solidFill>
                  <a:srgbClr val="555B66"/>
                </a:solidFill>
                <a:latin typeface="Calibri"/>
              </a:rPr>
              <a:t>22</a:t>
            </a:fld>
            <a:endParaRPr lang="en-US" sz="1200" dirty="0">
              <a:solidFill>
                <a:srgbClr val="555B66"/>
              </a:solidFill>
              <a:latin typeface="Calibri"/>
            </a:endParaRPr>
          </a:p>
        </p:txBody>
      </p:sp>
      <p:sp>
        <p:nvSpPr>
          <p:cNvPr id="34" name="Rounded Rectangle 33"/>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50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Maximizing Profit: Cabbage Production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81328"/>
            <a:ext cx="11338560" cy="411480"/>
          </a:xfrm>
          <a:prstGeom prst="rect">
            <a:avLst/>
          </a:prstGeom>
          <a:noFill/>
        </p:spPr>
        <p:txBody>
          <a:bodyPr wrap="square" lIns="0" tIns="0" rIns="0" bIns="0">
            <a:spAutoFit/>
          </a:bodyPr>
          <a:lstStyle/>
          <a:p>
            <a:pPr algn="l"/>
            <a:r>
              <a:rPr sz="2600" b="0" i="0" u="none">
                <a:solidFill>
                  <a:srgbClr val="0B2B4E"/>
                </a:solidFill>
                <a:latin typeface="Calibri"/>
              </a:rPr>
              <a:t>The Yi family has estimated its total cost:</a:t>
            </a:r>
          </a:p>
        </p:txBody>
      </p:sp>
      <mc:AlternateContent xmlns:mc="http://schemas.openxmlformats.org/markup-compatibility/2006" xmlns:a14="http://schemas.microsoft.com/office/drawing/2010/main">
        <mc:Choice Requires="a14">
          <p:sp>
            <p:nvSpPr>
              <p:cNvPr id="8" name="TextBox 7"/>
              <p:cNvSpPr txBox="1"/>
              <p:nvPr/>
            </p:nvSpPr>
            <p:spPr>
              <a:xfrm>
                <a:off x="3246120" y="2011680"/>
                <a:ext cx="5669280" cy="86868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a:solidFill>
                            <a:srgbClr val="0B2B4E"/>
                          </a:solidFill>
                          <a:latin typeface="Cambria Math"/>
                        </a:rPr>
                        <m:t>TC</m:t>
                      </m:r>
                      <m:r>
                        <a:rPr lang="en-US" sz="3000" b="0" i="0">
                          <a:solidFill>
                            <a:srgbClr val="0B2B4E"/>
                          </a:solidFill>
                          <a:latin typeface="Cambria Math"/>
                        </a:rPr>
                        <m:t> = 60,000 + 135</m:t>
                      </m:r>
                      <m:r>
                        <a:rPr lang="en-US" sz="3000" b="0" i="1">
                          <a:solidFill>
                            <a:srgbClr val="0B2B4E"/>
                          </a:solidFill>
                          <a:latin typeface="Cambria Math"/>
                          <a:ea typeface="Cambria Math"/>
                        </a:rPr>
                        <m:t>𝑄</m:t>
                      </m:r>
                      <m:r>
                        <a:rPr lang="en-US" sz="3000" b="0" i="0">
                          <a:solidFill>
                            <a:srgbClr val="0B2B4E"/>
                          </a:solidFill>
                          <a:latin typeface="Cambria Math"/>
                        </a:rPr>
                        <m:t> + 0.2</m:t>
                      </m:r>
                      <m:sSup>
                        <m:sSupPr>
                          <m:ctrlPr>
                            <a:rPr lang="en-US" sz="3000" b="0" i="1">
                              <a:solidFill>
                                <a:srgbClr val="0B2B4E"/>
                              </a:solidFill>
                              <a:latin typeface="Cambria Math"/>
                              <a:ea typeface="Cambria Math"/>
                            </a:rPr>
                          </m:ctrlPr>
                        </m:sSupPr>
                        <m:e>
                          <m:r>
                            <a:rPr lang="en-US" sz="3000" b="0" i="1">
                              <a:solidFill>
                                <a:srgbClr val="0B2B4E"/>
                              </a:solidFill>
                              <a:latin typeface="Cambria Math"/>
                              <a:ea typeface="Cambria Math"/>
                            </a:rPr>
                            <m:t>𝑄</m:t>
                          </m:r>
                        </m:e>
                        <m:sup>
                          <m:r>
                            <a:rPr lang="en-US" sz="3000" b="0" i="0">
                              <a:solidFill>
                                <a:srgbClr val="0B2B4E"/>
                              </a:solidFill>
                              <a:latin typeface="Cambria Math"/>
                            </a:rPr>
                            <m:t>2</m:t>
                          </m:r>
                        </m:sup>
                      </m:sSup>
                    </m:oMath>
                  </m:oMathPara>
                </a14:m>
                <a:endParaRPr lang="en-US" sz="3000" dirty="0"/>
              </a:p>
            </p:txBody>
          </p:sp>
        </mc:Choice>
        <mc:Fallback xmlns="">
          <p:sp>
            <p:nvSpPr>
              <p:cNvPr id="8" name="TextBox 7"/>
              <p:cNvSpPr txBox="1">
                <a:spLocks noRot="1" noChangeAspect="1" noMove="1" noResize="1" noEditPoints="1" noAdjustHandles="1" noChangeArrowheads="1" noChangeShapeType="1" noTextEdit="1"/>
              </p:cNvSpPr>
              <p:nvPr/>
            </p:nvSpPr>
            <p:spPr>
              <a:xfrm>
                <a:off x="3246120" y="2011680"/>
                <a:ext cx="5669280" cy="868680"/>
              </a:xfrm>
              <a:prstGeom prst="roundRect">
                <a:avLst>
                  <a:gd name="adj" fmla="val 25000"/>
                </a:avLst>
              </a:prstGeom>
              <a:blipFill>
                <a:blip r:embed="rId3"/>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9" name="TextBox 8"/>
          <p:cNvSpPr txBox="1"/>
          <p:nvPr/>
        </p:nvSpPr>
        <p:spPr>
          <a:xfrm>
            <a:off x="389159" y="2999232"/>
            <a:ext cx="11338560" cy="41148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r>
              <a:rPr i="1" dirty="0">
                <a:latin typeface="Calibri"/>
              </a:rPr>
              <a:t>Q</a:t>
            </a:r>
            <a:r>
              <a:rPr dirty="0">
                <a:latin typeface="Calibri"/>
              </a:rPr>
              <a:t> is the quantity produced, in tons</a:t>
            </a:r>
          </a:p>
        </p:txBody>
      </p:sp>
      <p:sp>
        <p:nvSpPr>
          <p:cNvPr id="10" name="TextBox 9"/>
          <p:cNvSpPr txBox="1"/>
          <p:nvPr/>
        </p:nvSpPr>
        <p:spPr>
          <a:xfrm>
            <a:off x="389159" y="3529584"/>
            <a:ext cx="11338560" cy="411480"/>
          </a:xfrm>
          <a:prstGeom prst="rect">
            <a:avLst/>
          </a:prstGeom>
          <a:noFill/>
        </p:spPr>
        <p:txBody>
          <a:bodyPr wrap="square" lIns="0" tIns="0" rIns="0" bIns="0">
            <a:spAutoFit/>
          </a:bodyPr>
          <a:lstStyle/>
          <a:p>
            <a:pPr algn="l"/>
            <a:r>
              <a:rPr sz="2600" b="0" i="0" u="none" dirty="0">
                <a:solidFill>
                  <a:srgbClr val="0B2B4E"/>
                </a:solidFill>
                <a:latin typeface="Calibri"/>
              </a:rPr>
              <a:t>The market price of cabbage is:</a:t>
            </a:r>
          </a:p>
        </p:txBody>
      </p:sp>
      <mc:AlternateContent xmlns:mc="http://schemas.openxmlformats.org/markup-compatibility/2006" xmlns:a14="http://schemas.microsoft.com/office/drawing/2010/main">
        <mc:Choice Requires="a14">
          <p:sp>
            <p:nvSpPr>
              <p:cNvPr id="11" name="TextBox 10"/>
              <p:cNvSpPr txBox="1"/>
              <p:nvPr/>
            </p:nvSpPr>
            <p:spPr>
              <a:xfrm>
                <a:off x="3246120" y="4041648"/>
                <a:ext cx="5669280" cy="7772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1">
                          <a:solidFill>
                            <a:srgbClr val="0B2B4E"/>
                          </a:solidFill>
                          <a:latin typeface="Cambria Math"/>
                          <a:ea typeface="Cambria Math"/>
                        </a:rPr>
                        <m:t>𝑃</m:t>
                      </m:r>
                      <m:r>
                        <a:rPr lang="en-US" sz="3000" b="0" i="0">
                          <a:solidFill>
                            <a:srgbClr val="0B2B4E"/>
                          </a:solidFill>
                          <a:latin typeface="Cambria Math"/>
                        </a:rPr>
                        <m:t> = $400 </m:t>
                      </m:r>
                      <m:r>
                        <m:rPr>
                          <m:sty m:val="p"/>
                        </m:rPr>
                        <a:rPr lang="en-US" sz="3000" b="0" i="0">
                          <a:solidFill>
                            <a:srgbClr val="0B2B4E"/>
                          </a:solidFill>
                          <a:latin typeface="Cambria Math"/>
                        </a:rPr>
                        <m:t>per</m:t>
                      </m:r>
                      <m:r>
                        <a:rPr lang="en-US" sz="3000" b="0" i="0">
                          <a:solidFill>
                            <a:srgbClr val="0B2B4E"/>
                          </a:solidFill>
                          <a:latin typeface="Cambria Math"/>
                        </a:rPr>
                        <m:t> </m:t>
                      </m:r>
                      <m:r>
                        <m:rPr>
                          <m:sty m:val="p"/>
                        </m:rPr>
                        <a:rPr lang="en-US" sz="3000" b="0" i="0">
                          <a:solidFill>
                            <a:srgbClr val="0B2B4E"/>
                          </a:solidFill>
                          <a:latin typeface="Cambria Math"/>
                        </a:rPr>
                        <m:t>ton</m:t>
                      </m:r>
                    </m:oMath>
                  </m:oMathPara>
                </a14:m>
                <a:endParaRPr lang="en-US" sz="3000"/>
              </a:p>
            </p:txBody>
          </p:sp>
        </mc:Choice>
        <mc:Fallback xmlns="">
          <p:sp>
            <p:nvSpPr>
              <p:cNvPr id="11" name="TextBox 10"/>
              <p:cNvSpPr txBox="1">
                <a:spLocks noRot="1" noChangeAspect="1" noMove="1" noResize="1" noEditPoints="1" noAdjustHandles="1" noChangeArrowheads="1" noChangeShapeType="1" noTextEdit="1"/>
              </p:cNvSpPr>
              <p:nvPr/>
            </p:nvSpPr>
            <p:spPr>
              <a:xfrm>
                <a:off x="3246120" y="4041648"/>
                <a:ext cx="5669280" cy="777240"/>
              </a:xfrm>
              <a:prstGeom prst="roundRect">
                <a:avLst>
                  <a:gd name="adj" fmla="val 25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2" name="Rounded Rectangle 11"/>
          <p:cNvSpPr/>
          <p:nvPr/>
        </p:nvSpPr>
        <p:spPr>
          <a:xfrm>
            <a:off x="960120" y="5029200"/>
            <a:ext cx="10332720" cy="868680"/>
          </a:xfrm>
          <a:prstGeom prst="roundRect">
            <a:avLst>
              <a:gd name="adj" fmla="val 12000"/>
            </a:avLst>
          </a:prstGeom>
          <a:solidFill>
            <a:srgbClr val="0070C0">
              <a:alpha val="15000"/>
            </a:srgbClr>
          </a:solidFill>
          <a:ln w="22225">
            <a:solidFill>
              <a:srgbClr val="0070C0"/>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2B4E"/>
                </a:solidFill>
                <a:latin typeface="Calibri"/>
              </a:rPr>
              <a:t>How many tons should the Yi family produce to maximize profits?</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15A1638E-6AF0-5CE8-ADCD-D4408AB556F4}" type="slidenum">
              <a:rPr lang="en-US" sz="1200" dirty="0">
                <a:solidFill>
                  <a:srgbClr val="555B66"/>
                </a:solidFill>
                <a:latin typeface="Calibri"/>
              </a:rPr>
              <a:t>23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P spid="1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B0708-AEB8-7096-670C-2B38FBE9C73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2EB601A-DC71-8018-BDC3-77109C9C412D}"/>
              </a:ext>
            </a:extLst>
          </p:cNvPr>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81594F41-B7DE-8C25-A84E-7017EAEE2BAF}"/>
              </a:ext>
            </a:extLst>
          </p:cNvPr>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a:extLst>
              <a:ext uri="{FF2B5EF4-FFF2-40B4-BE49-F238E27FC236}">
                <a16:creationId xmlns:a16="http://schemas.microsoft.com/office/drawing/2014/main" id="{5457BAA4-6C21-6D65-5E40-0E9023E45106}"/>
              </a:ext>
            </a:extLst>
          </p:cNvPr>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a:extLst>
              <a:ext uri="{FF2B5EF4-FFF2-40B4-BE49-F238E27FC236}">
                <a16:creationId xmlns:a16="http://schemas.microsoft.com/office/drawing/2014/main" id="{D4189D32-96F0-5C17-3541-BED6FB1D3508}"/>
              </a:ext>
            </a:extLst>
          </p:cNvPr>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E0337FDA-F9EC-7BB5-317D-394731D82540}"/>
              </a:ext>
            </a:extLst>
          </p:cNvPr>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a:extLst>
              <a:ext uri="{FF2B5EF4-FFF2-40B4-BE49-F238E27FC236}">
                <a16:creationId xmlns:a16="http://schemas.microsoft.com/office/drawing/2014/main" id="{48A990FA-80EE-9A33-0062-42A9B2DE5D84}"/>
              </a:ext>
            </a:extLst>
          </p:cNvPr>
          <p:cNvSpPr txBox="1"/>
          <p:nvPr/>
        </p:nvSpPr>
        <p:spPr>
          <a:xfrm>
            <a:off x="11475720" y="6583680"/>
            <a:ext cx="502920" cy="292608"/>
          </a:xfrm>
          <a:prstGeom prst="rect">
            <a:avLst/>
          </a:prstGeom>
          <a:noFill/>
        </p:spPr>
        <p:txBody>
          <a:bodyPr wrap="none" lIns="0" tIns="0" rIns="0" bIns="0">
            <a:spAutoFit/>
          </a:bodyPr>
          <a:lstStyle/>
          <a:p>
            <a:pPr algn="r"/>
            <a:fld id="{EEE26DBA-C36C-5B3F-8E1B-6361AB288404}" type="slidenum">
              <a:rPr lang="en-US" sz="1200" dirty="0">
                <a:solidFill>
                  <a:srgbClr val="555B66"/>
                </a:solidFill>
                <a:latin typeface="Calibri"/>
              </a:rPr>
              <a:t>24</a:t>
            </a:fld>
            <a:endParaRPr lang="en-US" sz="1200" dirty="0">
              <a:solidFill>
                <a:srgbClr val="555B66"/>
              </a:solidFill>
              <a:latin typeface="Calibri"/>
            </a:endParaRPr>
          </a:p>
        </p:txBody>
      </p:sp>
      <p:sp>
        <p:nvSpPr>
          <p:cNvPr id="8" name="Rounded Rectangle 7">
            <a:extLst>
              <a:ext uri="{FF2B5EF4-FFF2-40B4-BE49-F238E27FC236}">
                <a16:creationId xmlns:a16="http://schemas.microsoft.com/office/drawing/2014/main" id="{E0C21A97-6F6E-8E37-57D8-D095D11BBC46}"/>
              </a:ext>
            </a:extLst>
          </p:cNvPr>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090D5C1-A401-2591-44B6-F4511318197C}"/>
              </a:ext>
            </a:extLst>
          </p:cNvPr>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extLst>
      <p:ext uri="{BB962C8B-B14F-4D97-AF65-F5344CB8AC3E}">
        <p14:creationId xmlns:p14="http://schemas.microsoft.com/office/powerpoint/2010/main" val="14571223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Profit-Maximizing Quantity: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389159" y="1298448"/>
                <a:ext cx="11338560" cy="67665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dirty="0">
                    <a:latin typeface="Calibri"/>
                  </a:rPr>
                  <a:t>We need to set </a:t>
                </a:r>
                <a:r>
                  <a:rPr b="1" dirty="0">
                    <a:latin typeface="Calibri"/>
                  </a:rPr>
                  <a:t>MR = MC</a:t>
                </a:r>
              </a:p>
              <a:p>
                <a:r>
                  <a:rPr dirty="0">
                    <a:latin typeface="Calibri"/>
                  </a:rPr>
                  <a:t>MC is the derivative of TC with respect to </a:t>
                </a:r>
                <a:r>
                  <a:rPr i="1" dirty="0">
                    <a:latin typeface="Calibri"/>
                  </a:rPr>
                  <a:t>Q</a:t>
                </a:r>
                <a:r>
                  <a:rPr lang="en-US" dirty="0"/>
                  <a:t>, with </a:t>
                </a:r>
                <a14:m>
                  <m:oMath xmlns:m="http://schemas.openxmlformats.org/officeDocument/2006/math">
                    <m:r>
                      <m:rPr>
                        <m:sty m:val="p"/>
                      </m:rPr>
                      <a:rPr lang="en-US">
                        <a:latin typeface="Cambria Math"/>
                      </a:rPr>
                      <m:t>TC</m:t>
                    </m:r>
                    <m:r>
                      <a:rPr lang="en-US">
                        <a:latin typeface="Cambria Math"/>
                      </a:rPr>
                      <m:t> = 60,000 + 135</m:t>
                    </m:r>
                    <m:r>
                      <a:rPr lang="en-US" i="1">
                        <a:latin typeface="Cambria Math"/>
                        <a:ea typeface="Cambria Math"/>
                      </a:rPr>
                      <m:t>𝑄</m:t>
                    </m:r>
                    <m:r>
                      <a:rPr lang="en-US">
                        <a:latin typeface="Cambria Math"/>
                      </a:rPr>
                      <m:t> + 0.2</m:t>
                    </m:r>
                    <m:sSup>
                      <m:sSupPr>
                        <m:ctrlPr>
                          <a:rPr lang="en-US" i="1">
                            <a:latin typeface="Cambria Math"/>
                            <a:ea typeface="Cambria Math"/>
                          </a:rPr>
                        </m:ctrlPr>
                      </m:sSupPr>
                      <m:e>
                        <m:r>
                          <a:rPr lang="en-US" i="1">
                            <a:latin typeface="Cambria Math"/>
                            <a:ea typeface="Cambria Math"/>
                          </a:rPr>
                          <m:t>𝑄</m:t>
                        </m:r>
                      </m:e>
                      <m:sup>
                        <m:r>
                          <a:rPr lang="en-US">
                            <a:latin typeface="Cambria Math"/>
                          </a:rPr>
                          <m:t>2</m:t>
                        </m:r>
                      </m:sup>
                    </m:sSup>
                  </m:oMath>
                </a14:m>
                <a:endParaRPr lang="en-US" dirty="0"/>
              </a:p>
              <a:p>
                <a:pPr algn="l"/>
                <a:endParaRPr dirty="0">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389159" y="1298448"/>
                <a:ext cx="11338560" cy="676656"/>
              </a:xfrm>
              <a:prstGeom prst="rect">
                <a:avLst/>
              </a:prstGeom>
              <a:blipFill>
                <a:blip r:embed="rId3"/>
                <a:stretch>
                  <a:fillRect l="-1667" t="-15315" b="-36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2103120" y="2139696"/>
                <a:ext cx="7955279" cy="82296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MC</m:t>
                      </m:r>
                      <m:r>
                        <a:rPr lang="en-US" sz="2600" b="0" i="0">
                          <a:solidFill>
                            <a:srgbClr val="0B2B4E"/>
                          </a:solidFill>
                          <a:latin typeface="Cambria Math"/>
                        </a:rPr>
                        <m:t> = </m:t>
                      </m:r>
                      <m:f>
                        <m:fPr>
                          <m:ctrlPr>
                            <a:rPr lang="en-US" sz="2600" b="0" i="0">
                              <a:solidFill>
                                <a:srgbClr val="0B2B4E"/>
                              </a:solidFill>
                              <a:latin typeface="Cambria Math"/>
                            </a:rPr>
                          </m:ctrlPr>
                        </m:fPr>
                        <m:num>
                          <m:r>
                            <m:rPr>
                              <m:sty m:val="p"/>
                            </m:rPr>
                            <a:rPr lang="en-US" sz="2600" b="0" i="0">
                              <a:solidFill>
                                <a:srgbClr val="0B2B4E"/>
                              </a:solidFill>
                              <a:latin typeface="Cambria Math"/>
                            </a:rPr>
                            <m:t>dTC</m:t>
                          </m:r>
                        </m:num>
                        <m:den>
                          <m:r>
                            <m:rPr>
                              <m:sty m:val="p"/>
                            </m:rPr>
                            <a:rPr lang="en-US" sz="2600" b="0" i="0">
                              <a:solidFill>
                                <a:srgbClr val="0B2B4E"/>
                              </a:solidFill>
                              <a:latin typeface="Cambria Math"/>
                            </a:rPr>
                            <m:t>d</m:t>
                          </m:r>
                          <m:r>
                            <a:rPr lang="en-US" sz="2600" b="0" i="1">
                              <a:solidFill>
                                <a:srgbClr val="0B2B4E"/>
                              </a:solidFill>
                              <a:latin typeface="Cambria Math"/>
                              <a:ea typeface="Cambria Math"/>
                            </a:rPr>
                            <m:t>𝑄</m:t>
                          </m:r>
                        </m:den>
                      </m:f>
                      <m:r>
                        <a:rPr lang="en-US" sz="2600" b="0" i="0">
                          <a:solidFill>
                            <a:srgbClr val="0B2B4E"/>
                          </a:solidFill>
                          <a:latin typeface="Cambria Math"/>
                        </a:rPr>
                        <m:t> = 135 + 0.4</m:t>
                      </m:r>
                      <m:r>
                        <a:rPr lang="en-US" sz="2600" b="0" i="1">
                          <a:solidFill>
                            <a:srgbClr val="0B2B4E"/>
                          </a:solidFill>
                          <a:latin typeface="Cambria Math"/>
                          <a:ea typeface="Cambria Math"/>
                        </a:rPr>
                        <m:t>𝑄</m:t>
                      </m:r>
                    </m:oMath>
                  </m:oMathPara>
                </a14:m>
                <a:endParaRPr lang="en-US" sz="2600" dirty="0"/>
              </a:p>
            </p:txBody>
          </p:sp>
        </mc:Choice>
        <mc:Fallback xmlns="">
          <p:sp>
            <p:nvSpPr>
              <p:cNvPr id="8" name="TextBox 7"/>
              <p:cNvSpPr txBox="1">
                <a:spLocks noRot="1" noChangeAspect="1" noMove="1" noResize="1" noEditPoints="1" noAdjustHandles="1" noChangeArrowheads="1" noChangeShapeType="1" noTextEdit="1"/>
              </p:cNvSpPr>
              <p:nvPr/>
            </p:nvSpPr>
            <p:spPr>
              <a:xfrm>
                <a:off x="2103120" y="2139696"/>
                <a:ext cx="7955279" cy="822960"/>
              </a:xfrm>
              <a:prstGeom prst="rect">
                <a:avLst/>
              </a:prstGeom>
              <a:blipFill>
                <a:blip r:embed="rId4"/>
                <a:stretch>
                  <a:fillRect/>
                </a:stretch>
              </a:blipFill>
            </p:spPr>
            <p:txBody>
              <a:bodyPr/>
              <a:lstStyle/>
              <a:p>
                <a:r>
                  <a:rPr lang="en-US">
                    <a:noFill/>
                  </a:rPr>
                  <a:t> </a:t>
                </a:r>
              </a:p>
            </p:txBody>
          </p:sp>
        </mc:Fallback>
      </mc:AlternateContent>
      <p:sp>
        <p:nvSpPr>
          <p:cNvPr id="9" name="TextBox 8"/>
          <p:cNvSpPr txBox="1"/>
          <p:nvPr/>
        </p:nvSpPr>
        <p:spPr>
          <a:xfrm>
            <a:off x="389159" y="3035808"/>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dirty="0">
                <a:latin typeface="Calibri"/>
              </a:rPr>
              <a:t>The cabbage market is competitive, so MR is just the market price:</a:t>
            </a:r>
          </a:p>
        </p:txBody>
      </p:sp>
      <mc:AlternateContent xmlns:mc="http://schemas.openxmlformats.org/markup-compatibility/2006" xmlns:a14="http://schemas.microsoft.com/office/drawing/2010/main">
        <mc:Choice Requires="a14">
          <p:sp>
            <p:nvSpPr>
              <p:cNvPr id="10" name="TextBox 9"/>
              <p:cNvSpPr txBox="1"/>
              <p:nvPr/>
            </p:nvSpPr>
            <p:spPr>
              <a:xfrm>
                <a:off x="2103120" y="3511296"/>
                <a:ext cx="7955279" cy="475488"/>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400</m:t>
                      </m:r>
                    </m:oMath>
                  </m:oMathPara>
                </a14:m>
                <a:endParaRPr lang="en-US" sz="2600"/>
              </a:p>
            </p:txBody>
          </p:sp>
        </mc:Choice>
        <mc:Fallback xmlns="">
          <p:sp>
            <p:nvSpPr>
              <p:cNvPr id="10" name="TextBox 9"/>
              <p:cNvSpPr txBox="1">
                <a:spLocks noRot="1" noChangeAspect="1" noMove="1" noResize="1" noEditPoints="1" noAdjustHandles="1" noChangeArrowheads="1" noChangeShapeType="1" noTextEdit="1"/>
              </p:cNvSpPr>
              <p:nvPr/>
            </p:nvSpPr>
            <p:spPr>
              <a:xfrm>
                <a:off x="2103120" y="3511296"/>
                <a:ext cx="7955279" cy="475488"/>
              </a:xfrm>
              <a:prstGeom prst="rect">
                <a:avLst/>
              </a:prstGeom>
              <a:blipFill>
                <a:blip r:embed="rId5"/>
                <a:stretch>
                  <a:fillRect/>
                </a:stretch>
              </a:blipFill>
            </p:spPr>
            <p:txBody>
              <a:bodyPr/>
              <a:lstStyle/>
              <a:p>
                <a:r>
                  <a:rPr lang="en-US">
                    <a:noFill/>
                  </a:rPr>
                  <a:t> </a:t>
                </a:r>
              </a:p>
            </p:txBody>
          </p:sp>
        </mc:Fallback>
      </mc:AlternateContent>
      <p:sp>
        <p:nvSpPr>
          <p:cNvPr id="11" name="TextBox 10"/>
          <p:cNvSpPr txBox="1"/>
          <p:nvPr/>
        </p:nvSpPr>
        <p:spPr>
          <a:xfrm>
            <a:off x="389159" y="4096512"/>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dirty="0">
                <a:latin typeface="Calibri"/>
              </a:rPr>
              <a:t>MR = MC</a:t>
            </a:r>
            <a:r>
              <a:rPr dirty="0">
                <a:latin typeface="Calibri"/>
              </a:rPr>
              <a:t> thus implies:</a:t>
            </a:r>
          </a:p>
        </p:txBody>
      </p:sp>
      <mc:AlternateContent xmlns:mc="http://schemas.openxmlformats.org/markup-compatibility/2006" xmlns:a14="http://schemas.microsoft.com/office/drawing/2010/main">
        <mc:Choice Requires="a14">
          <p:sp>
            <p:nvSpPr>
              <p:cNvPr id="12" name="TextBox 11"/>
              <p:cNvSpPr txBox="1"/>
              <p:nvPr/>
            </p:nvSpPr>
            <p:spPr>
              <a:xfrm>
                <a:off x="2103120" y="4462272"/>
                <a:ext cx="7955279" cy="475488"/>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a:rPr lang="en-US" sz="2600" b="0" i="0">
                          <a:solidFill>
                            <a:srgbClr val="0B2B4E"/>
                          </a:solidFill>
                          <a:latin typeface="Cambria Math"/>
                        </a:rPr>
                        <m:t>135 + 0.4</m:t>
                      </m:r>
                      <m:r>
                        <a:rPr lang="en-US" sz="2600" b="0" i="1">
                          <a:solidFill>
                            <a:srgbClr val="0B2B4E"/>
                          </a:solidFill>
                          <a:latin typeface="Cambria Math"/>
                          <a:ea typeface="Cambria Math"/>
                        </a:rPr>
                        <m:t>𝑄</m:t>
                      </m:r>
                      <m:r>
                        <a:rPr lang="en-US" sz="2600" b="0" i="0">
                          <a:solidFill>
                            <a:srgbClr val="0B2B4E"/>
                          </a:solidFill>
                          <a:latin typeface="Cambria Math"/>
                        </a:rPr>
                        <m:t> = 400</m:t>
                      </m:r>
                    </m:oMath>
                  </m:oMathPara>
                </a14:m>
                <a:endParaRPr lang="en-US" sz="2600"/>
              </a:p>
            </p:txBody>
          </p:sp>
        </mc:Choice>
        <mc:Fallback xmlns="">
          <p:sp>
            <p:nvSpPr>
              <p:cNvPr id="12" name="TextBox 11"/>
              <p:cNvSpPr txBox="1">
                <a:spLocks noRot="1" noChangeAspect="1" noMove="1" noResize="1" noEditPoints="1" noAdjustHandles="1" noChangeArrowheads="1" noChangeShapeType="1" noTextEdit="1"/>
              </p:cNvSpPr>
              <p:nvPr/>
            </p:nvSpPr>
            <p:spPr>
              <a:xfrm>
                <a:off x="2103120" y="4462272"/>
                <a:ext cx="7955279" cy="475488"/>
              </a:xfrm>
              <a:prstGeom prst="rect">
                <a:avLst/>
              </a:prstGeom>
              <a:blipFill>
                <a:blip r:embed="rId6"/>
                <a:stretch>
                  <a:fillRect/>
                </a:stretch>
              </a:blipFill>
            </p:spPr>
            <p:txBody>
              <a:bodyPr/>
              <a:lstStyle/>
              <a:p>
                <a:r>
                  <a:rPr lang="en-US">
                    <a:noFill/>
                  </a:rPr>
                  <a:t> </a:t>
                </a:r>
              </a:p>
            </p:txBody>
          </p:sp>
        </mc:Fallback>
      </mc:AlternateContent>
      <p:sp>
        <p:nvSpPr>
          <p:cNvPr id="13" name="TextBox 12"/>
          <p:cNvSpPr txBox="1"/>
          <p:nvPr/>
        </p:nvSpPr>
        <p:spPr>
          <a:xfrm>
            <a:off x="389159" y="5157216"/>
            <a:ext cx="11338560" cy="34747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dirty="0">
                <a:latin typeface="Calibri"/>
              </a:rPr>
              <a:t>Solve for </a:t>
            </a:r>
            <a:r>
              <a:rPr i="1" dirty="0">
                <a:latin typeface="Calibri"/>
              </a:rPr>
              <a:t>Q</a:t>
            </a:r>
            <a:r>
              <a:rPr dirty="0">
                <a:latin typeface="Calibri"/>
              </a:rPr>
              <a:t>*  (the optimal production)</a:t>
            </a:r>
          </a:p>
        </p:txBody>
      </p:sp>
      <mc:AlternateContent xmlns:mc="http://schemas.openxmlformats.org/markup-compatibility/2006" xmlns:a14="http://schemas.microsoft.com/office/drawing/2010/main">
        <mc:Choice Requires="a14">
          <p:sp>
            <p:nvSpPr>
              <p:cNvPr id="14" name="TextBox 13"/>
              <p:cNvSpPr txBox="1"/>
              <p:nvPr/>
            </p:nvSpPr>
            <p:spPr>
              <a:xfrm>
                <a:off x="2121408" y="5632704"/>
                <a:ext cx="7955279" cy="530352"/>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sSup>
                        <m:sSupPr>
                          <m:ctrlPr>
                            <a:rPr lang="en-US" sz="3000" b="0" i="1">
                              <a:solidFill>
                                <a:srgbClr val="A2162A"/>
                              </a:solidFill>
                              <a:latin typeface="Cambria Math"/>
                              <a:ea typeface="Cambria Math"/>
                            </a:rPr>
                          </m:ctrlPr>
                        </m:sSupPr>
                        <m:e>
                          <m:r>
                            <a:rPr lang="en-US" sz="3000" b="0" i="1">
                              <a:solidFill>
                                <a:srgbClr val="A2162A"/>
                              </a:solidFill>
                              <a:latin typeface="Cambria Math"/>
                              <a:ea typeface="Cambria Math"/>
                            </a:rPr>
                            <m:t>𝑄</m:t>
                          </m:r>
                        </m:e>
                        <m:sup>
                          <m:r>
                            <a:rPr lang="en-US" sz="3000" b="0" i="0">
                              <a:solidFill>
                                <a:srgbClr val="A2162A"/>
                              </a:solidFill>
                              <a:latin typeface="Cambria Math"/>
                            </a:rPr>
                            <m:t>∗</m:t>
                          </m:r>
                        </m:sup>
                      </m:sSup>
                      <m:r>
                        <a:rPr lang="en-US" sz="3000" b="0" i="0">
                          <a:solidFill>
                            <a:srgbClr val="A2162A"/>
                          </a:solidFill>
                          <a:latin typeface="Cambria Math"/>
                        </a:rPr>
                        <m:t> = 662.5 </m:t>
                      </m:r>
                      <m:r>
                        <m:rPr>
                          <m:sty m:val="p"/>
                        </m:rPr>
                        <a:rPr lang="en-US" sz="3000" b="0" i="0">
                          <a:solidFill>
                            <a:srgbClr val="A2162A"/>
                          </a:solidFill>
                          <a:latin typeface="Cambria Math"/>
                        </a:rPr>
                        <m:t>tons</m:t>
                      </m:r>
                    </m:oMath>
                  </m:oMathPara>
                </a14:m>
                <a:endParaRPr lang="en-US" sz="3000"/>
              </a:p>
            </p:txBody>
          </p:sp>
        </mc:Choice>
        <mc:Fallback xmlns="">
          <p:sp>
            <p:nvSpPr>
              <p:cNvPr id="14" name="TextBox 13"/>
              <p:cNvSpPr txBox="1">
                <a:spLocks noRot="1" noChangeAspect="1" noMove="1" noResize="1" noEditPoints="1" noAdjustHandles="1" noChangeArrowheads="1" noChangeShapeType="1" noTextEdit="1"/>
              </p:cNvSpPr>
              <p:nvPr/>
            </p:nvSpPr>
            <p:spPr>
              <a:xfrm>
                <a:off x="2121408" y="5632704"/>
                <a:ext cx="7955279" cy="530352"/>
              </a:xfrm>
              <a:prstGeom prst="rect">
                <a:avLst/>
              </a:prstGeom>
              <a:blipFill>
                <a:blip r:embed="rId7"/>
                <a:stretch>
                  <a:fillRect/>
                </a:stretch>
              </a:blipFill>
            </p:spPr>
            <p:txBody>
              <a:bodyPr/>
              <a:lstStyle/>
              <a:p>
                <a:r>
                  <a:rPr lang="en-US">
                    <a:noFill/>
                  </a:rPr>
                  <a:t> </a:t>
                </a:r>
              </a:p>
            </p:txBody>
          </p:sp>
        </mc:Fallback>
      </mc:AlternateContent>
      <p:sp>
        <p:nvSpPr>
          <p:cNvPr id="15" name="Rounded Rectangle 14"/>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6773EA49-D0AA-5C82-B6A2-E6B8F0B9249A}" type="slidenum">
              <a:rPr lang="en-US" sz="1200" dirty="0">
                <a:solidFill>
                  <a:srgbClr val="555B66"/>
                </a:solidFill>
                <a:latin typeface="Calibri"/>
              </a:rPr>
              <a:t>25</a:t>
            </a:fld>
            <a:endParaRPr lang="en-US" sz="1200" dirty="0">
              <a:solidFill>
                <a:srgbClr val="555B66"/>
              </a:solidFill>
              <a:latin typeface="Calibri"/>
            </a:endParaRPr>
          </a:p>
        </p:txBody>
      </p:sp>
      <p:cxnSp>
        <p:nvCxnSpPr>
          <p:cNvPr id="21" name="Straight Arrow Connector 20">
            <a:extLst>
              <a:ext uri="{FF2B5EF4-FFF2-40B4-BE49-F238E27FC236}">
                <a16:creationId xmlns:a16="http://schemas.microsoft.com/office/drawing/2014/main" id="{C76E4051-7B65-E3AB-05C0-2484EEAA6217}"/>
              </a:ext>
            </a:extLst>
          </p:cNvPr>
          <p:cNvCxnSpPr/>
          <p:nvPr/>
        </p:nvCxnSpPr>
        <p:spPr>
          <a:xfrm flipH="1">
            <a:off x="6684264" y="1975104"/>
            <a:ext cx="2487168" cy="402336"/>
          </a:xfrm>
          <a:prstGeom prst="straightConnector1">
            <a:avLst/>
          </a:prstGeom>
          <a:ln>
            <a:prstDash val="sysDash"/>
            <a:tailEnd type="triangle"/>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7F74AB1C-8A95-419C-1589-F48D4A44A38B}"/>
              </a:ext>
            </a:extLst>
          </p:cNvPr>
          <p:cNvGrpSpPr/>
          <p:nvPr/>
        </p:nvGrpSpPr>
        <p:grpSpPr>
          <a:xfrm>
            <a:off x="7589519" y="1570182"/>
            <a:ext cx="3568008" cy="843834"/>
            <a:chOff x="7589519" y="1570182"/>
            <a:chExt cx="3568008" cy="843834"/>
          </a:xfrm>
        </p:grpSpPr>
        <p:cxnSp>
          <p:nvCxnSpPr>
            <p:cNvPr id="27" name="Straight Arrow Connector 26">
              <a:extLst>
                <a:ext uri="{FF2B5EF4-FFF2-40B4-BE49-F238E27FC236}">
                  <a16:creationId xmlns:a16="http://schemas.microsoft.com/office/drawing/2014/main" id="{26929226-07AC-A2D5-AF3E-E506CC20B6AD}"/>
                </a:ext>
              </a:extLst>
            </p:cNvPr>
            <p:cNvCxnSpPr>
              <a:cxnSpLocks/>
            </p:cNvCxnSpPr>
            <p:nvPr/>
          </p:nvCxnSpPr>
          <p:spPr>
            <a:xfrm flipH="1">
              <a:off x="7589519" y="2002536"/>
              <a:ext cx="2926081" cy="411480"/>
            </a:xfrm>
            <a:prstGeom prst="straightConnector1">
              <a:avLst/>
            </a:prstGeom>
            <a:ln>
              <a:prstDash val="sysDash"/>
              <a:tailEnd type="triangle"/>
            </a:ln>
          </p:spPr>
          <p:style>
            <a:lnRef idx="2">
              <a:schemeClr val="accent1"/>
            </a:lnRef>
            <a:fillRef idx="0">
              <a:schemeClr val="accent1"/>
            </a:fillRef>
            <a:effectRef idx="1">
              <a:schemeClr val="accent1"/>
            </a:effectRef>
            <a:fontRef idx="minor">
              <a:schemeClr val="tx1"/>
            </a:fontRef>
          </p:style>
        </p:cxnSp>
        <p:sp>
          <p:nvSpPr>
            <p:cNvPr id="29" name="Oval 28">
              <a:extLst>
                <a:ext uri="{FF2B5EF4-FFF2-40B4-BE49-F238E27FC236}">
                  <a16:creationId xmlns:a16="http://schemas.microsoft.com/office/drawing/2014/main" id="{56DD9D17-22B4-C20C-49D1-76A3C5C14A51}"/>
                </a:ext>
              </a:extLst>
            </p:cNvPr>
            <p:cNvSpPr/>
            <p:nvPr/>
          </p:nvSpPr>
          <p:spPr>
            <a:xfrm>
              <a:off x="10898909" y="1570182"/>
              <a:ext cx="258618" cy="304338"/>
            </a:xfrm>
            <a:prstGeom prst="ellipse">
              <a:avLst/>
            </a:prstGeom>
            <a:noFill/>
            <a:ln w="15875">
              <a:solidFill>
                <a:schemeClr val="accent1">
                  <a:shade val="95000"/>
                  <a:satMod val="10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 at Q*: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36192"/>
            <a:ext cx="11338560" cy="73152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dirty="0">
                <a:latin typeface="Calibri"/>
              </a:rPr>
              <a:t>What is the economic profit at the profit-maximizing output level (</a:t>
            </a:r>
            <a:r>
              <a:rPr b="1" dirty="0">
                <a:latin typeface="Calibri"/>
              </a:rPr>
              <a:t>Q* = 662.5</a:t>
            </a:r>
            <a:r>
              <a:rPr dirty="0">
                <a:latin typeface="Calibri"/>
              </a:rPr>
              <a:t>) ?</a:t>
            </a:r>
          </a:p>
        </p:txBody>
      </p:sp>
      <mc:AlternateContent xmlns:mc="http://schemas.openxmlformats.org/markup-compatibility/2006">
        <mc:Choice xmlns:a14="http://schemas.microsoft.com/office/drawing/2010/main" Requires="a14">
          <p:sp>
            <p:nvSpPr>
              <p:cNvPr id="8" name="TextBox 7"/>
              <p:cNvSpPr txBox="1"/>
              <p:nvPr/>
            </p:nvSpPr>
            <p:spPr>
              <a:xfrm>
                <a:off x="1554480" y="2435870"/>
                <a:ext cx="9144000" cy="5232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smtClean="0">
                          <a:solidFill>
                            <a:srgbClr val="0B2B4E"/>
                          </a:solidFill>
                          <a:latin typeface="Cambria Math"/>
                        </a:rPr>
                        <m:t>Profit</m:t>
                      </m:r>
                      <m:r>
                        <a:rPr lang="en-US" sz="2800" b="0" i="0" smtClean="0">
                          <a:solidFill>
                            <a:srgbClr val="0B2B4E"/>
                          </a:solidFill>
                          <a:latin typeface="Cambria Math" panose="02040503050406030204" pitchFamily="18" charset="0"/>
                        </a:rPr>
                        <m:t>: </m:t>
                      </m:r>
                      <m:r>
                        <a:rPr lang="en-US" sz="2800" b="0" i="1" smtClean="0">
                          <a:solidFill>
                            <a:srgbClr val="0B2B4E"/>
                          </a:solidFill>
                          <a:latin typeface="Cambria Math" panose="02040503050406030204" pitchFamily="18" charset="0"/>
                        </a:rPr>
                        <m:t>    </m:t>
                      </m:r>
                      <m:r>
                        <a:rPr lang="en-US" sz="2800" b="0" i="1" smtClean="0">
                          <a:solidFill>
                            <a:srgbClr val="0B2B4E"/>
                          </a:solidFill>
                          <a:latin typeface="Cambria Math" panose="02040503050406030204" pitchFamily="18" charset="0"/>
                        </a:rPr>
                        <m:t>𝜋</m:t>
                      </m:r>
                      <m:r>
                        <a:rPr lang="en-US" sz="2800" b="0" i="0">
                          <a:solidFill>
                            <a:srgbClr val="0B2B4E"/>
                          </a:solidFill>
                          <a:latin typeface="Cambria Math"/>
                        </a:rPr>
                        <m:t> = </m:t>
                      </m:r>
                      <m:r>
                        <m:rPr>
                          <m:sty m:val="p"/>
                        </m:rPr>
                        <a:rPr lang="en-US" sz="2800" b="0" i="0">
                          <a:solidFill>
                            <a:srgbClr val="0B2B4E"/>
                          </a:solidFill>
                          <a:latin typeface="Cambria Math"/>
                        </a:rPr>
                        <m:t>TR</m:t>
                      </m:r>
                      <m:r>
                        <a:rPr lang="en-US" sz="2800" b="0" i="0">
                          <a:solidFill>
                            <a:srgbClr val="0B2B4E"/>
                          </a:solidFill>
                          <a:latin typeface="Cambria Math"/>
                        </a:rPr>
                        <m:t> − </m:t>
                      </m:r>
                      <m:r>
                        <m:rPr>
                          <m:sty m:val="p"/>
                        </m:rPr>
                        <a:rPr lang="en-US" sz="2800" b="0" i="0">
                          <a:solidFill>
                            <a:srgbClr val="0B2B4E"/>
                          </a:solidFill>
                          <a:latin typeface="Cambria Math"/>
                        </a:rPr>
                        <m:t>TC</m:t>
                      </m:r>
                    </m:oMath>
                  </m:oMathPara>
                </a14:m>
                <a:endParaRPr lang="en-US" sz="2800" dirty="0"/>
              </a:p>
            </p:txBody>
          </p:sp>
        </mc:Choice>
        <mc:Fallback>
          <p:sp>
            <p:nvSpPr>
              <p:cNvPr id="8" name="TextBox 7"/>
              <p:cNvSpPr txBox="1">
                <a:spLocks noRot="1" noChangeAspect="1" noMove="1" noResize="1" noEditPoints="1" noAdjustHandles="1" noChangeArrowheads="1" noChangeShapeType="1" noTextEdit="1"/>
              </p:cNvSpPr>
              <p:nvPr/>
            </p:nvSpPr>
            <p:spPr>
              <a:xfrm>
                <a:off x="1554480" y="2435870"/>
                <a:ext cx="9144000" cy="5232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554480" y="3136392"/>
                <a:ext cx="9144000"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TR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400 · 662.5 = 265,000</m:t>
                      </m:r>
                    </m:oMath>
                  </m:oMathPara>
                </a14:m>
                <a:endParaRPr lang="en-US" sz="2600"/>
              </a:p>
            </p:txBody>
          </p:sp>
        </mc:Choice>
        <mc:Fallback xmlns="">
          <p:sp>
            <p:nvSpPr>
              <p:cNvPr id="9" name="TextBox 8"/>
              <p:cNvSpPr txBox="1">
                <a:spLocks noRot="1" noChangeAspect="1" noMove="1" noResize="1" noEditPoints="1" noAdjustHandles="1" noChangeArrowheads="1" noChangeShapeType="1" noTextEdit="1"/>
              </p:cNvSpPr>
              <p:nvPr/>
            </p:nvSpPr>
            <p:spPr>
              <a:xfrm>
                <a:off x="1554480" y="3136392"/>
                <a:ext cx="9144000" cy="7315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1554480" y="3941064"/>
                <a:ext cx="9144000" cy="73152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 · 662.5 + 0.2 · </m:t>
                      </m:r>
                      <m:sSup>
                        <m:sSupPr>
                          <m:ctrlPr>
                            <a:rPr lang="en-US" sz="2400" b="0" i="0">
                              <a:solidFill>
                                <a:srgbClr val="0B2B4E"/>
                              </a:solidFill>
                              <a:latin typeface="Cambria Math"/>
                            </a:rPr>
                          </m:ctrlPr>
                        </m:sSupPr>
                        <m:e>
                          <m:r>
                            <a:rPr lang="en-US" sz="2400" b="0" i="0">
                              <a:solidFill>
                                <a:srgbClr val="0B2B4E"/>
                              </a:solidFill>
                              <a:latin typeface="Cambria Math"/>
                            </a:rPr>
                            <m:t>662.5</m:t>
                          </m:r>
                        </m:e>
                        <m:sup>
                          <m:r>
                            <a:rPr lang="en-US" sz="2400" b="0" i="0">
                              <a:solidFill>
                                <a:srgbClr val="0B2B4E"/>
                              </a:solidFill>
                              <a:latin typeface="Cambria Math"/>
                            </a:rPr>
                            <m:t>2</m:t>
                          </m:r>
                        </m:sup>
                      </m:sSup>
                      <m:r>
                        <a:rPr lang="en-US" sz="2400" b="0" i="0">
                          <a:solidFill>
                            <a:srgbClr val="0B2B4E"/>
                          </a:solidFill>
                          <a:latin typeface="Cambria Math"/>
                        </a:rPr>
                        <m:t> = 237,218.75</m:t>
                      </m:r>
                    </m:oMath>
                  </m:oMathPara>
                </a14:m>
                <a:endParaRPr lang="en-US" sz="2400"/>
              </a:p>
            </p:txBody>
          </p:sp>
        </mc:Choice>
        <mc:Fallback xmlns="">
          <p:sp>
            <p:nvSpPr>
              <p:cNvPr id="10" name="TextBox 9"/>
              <p:cNvSpPr txBox="1">
                <a:spLocks noRot="1" noChangeAspect="1" noMove="1" noResize="1" noEditPoints="1" noAdjustHandles="1" noChangeArrowheads="1" noChangeShapeType="1" noTextEdit="1"/>
              </p:cNvSpPr>
              <p:nvPr/>
            </p:nvSpPr>
            <p:spPr>
              <a:xfrm>
                <a:off x="1554480" y="3941064"/>
                <a:ext cx="9144000" cy="7315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1554480" y="4834497"/>
                <a:ext cx="9144000" cy="553998"/>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r>
                        <m:rPr>
                          <m:sty m:val="p"/>
                        </m:rPr>
                        <a:rPr lang="en-US" sz="3000" b="0" i="0" smtClean="0">
                          <a:solidFill>
                            <a:srgbClr val="A2162A"/>
                          </a:solidFill>
                          <a:latin typeface="Cambria Math"/>
                        </a:rPr>
                        <m:t>Profit</m:t>
                      </m:r>
                      <m:r>
                        <a:rPr lang="en-US" sz="3000" b="0" i="0" smtClean="0">
                          <a:solidFill>
                            <a:srgbClr val="A2162A"/>
                          </a:solidFill>
                          <a:latin typeface="Cambria Math" panose="02040503050406030204" pitchFamily="18" charset="0"/>
                        </a:rPr>
                        <m:t>:    </m:t>
                      </m:r>
                      <m:r>
                        <a:rPr lang="en-US" sz="3000" b="0" i="1" smtClean="0">
                          <a:solidFill>
                            <a:srgbClr val="A2162A"/>
                          </a:solidFill>
                          <a:latin typeface="Cambria Math" panose="02040503050406030204" pitchFamily="18" charset="0"/>
                        </a:rPr>
                        <m:t>𝜋</m:t>
                      </m:r>
                      <m:r>
                        <a:rPr lang="en-US" sz="3000" b="0" i="0">
                          <a:solidFill>
                            <a:srgbClr val="A2162A"/>
                          </a:solidFill>
                          <a:latin typeface="Cambria Math"/>
                        </a:rPr>
                        <m:t> = 265,000 − 237,218.75 = 27,781.25</m:t>
                      </m:r>
                    </m:oMath>
                  </m:oMathPara>
                </a14:m>
                <a:endParaRPr lang="en-US" sz="3000" dirty="0"/>
              </a:p>
            </p:txBody>
          </p:sp>
        </mc:Choice>
        <mc:Fallback>
          <p:sp>
            <p:nvSpPr>
              <p:cNvPr id="11" name="TextBox 10"/>
              <p:cNvSpPr txBox="1">
                <a:spLocks noRot="1" noChangeAspect="1" noMove="1" noResize="1" noEditPoints="1" noAdjustHandles="1" noChangeArrowheads="1" noChangeShapeType="1" noTextEdit="1"/>
              </p:cNvSpPr>
              <p:nvPr/>
            </p:nvSpPr>
            <p:spPr>
              <a:xfrm>
                <a:off x="1554480" y="4834497"/>
                <a:ext cx="9144000" cy="553998"/>
              </a:xfrm>
              <a:prstGeom prst="rect">
                <a:avLst/>
              </a:prstGeom>
              <a:blipFill>
                <a:blip r:embed="rId6"/>
                <a:stretch>
                  <a:fillRect/>
                </a:stretch>
              </a:blipFill>
            </p:spPr>
            <p:txBody>
              <a:bodyPr/>
              <a:lstStyle/>
              <a:p>
                <a:r>
                  <a:rPr lang="en-US">
                    <a:noFill/>
                  </a:rPr>
                  <a:t> </a:t>
                </a:r>
              </a:p>
            </p:txBody>
          </p:sp>
        </mc:Fallback>
      </mc:AlternateContent>
      <p:sp>
        <p:nvSpPr>
          <p:cNvPr id="12" name="Rounded Rectangle 11"/>
          <p:cNvSpPr/>
          <p:nvPr/>
        </p:nvSpPr>
        <p:spPr>
          <a:xfrm>
            <a:off x="685800" y="5687568"/>
            <a:ext cx="786384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The Yi family makes a positive economic profit at Q*</a:t>
            </a:r>
          </a:p>
        </p:txBody>
      </p:sp>
      <p:sp>
        <p:nvSpPr>
          <p:cNvPr id="13" name="Rounded Rectangle 12"/>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9346563A-B51D-5037-A2A5-90204D319424}" type="slidenum">
              <a:rPr lang="en-US" sz="1200" dirty="0">
                <a:solidFill>
                  <a:srgbClr val="555B66"/>
                </a:solidFill>
                <a:latin typeface="Calibri"/>
              </a:rPr>
              <a:t>26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794C2A95-1EE4-A360-DADE-2DEB926791EE}"/>
              </a:ext>
            </a:extLst>
          </p:cNvPr>
          <p:cNvSpPr txBox="1"/>
          <p:nvPr/>
        </p:nvSpPr>
        <p:spPr>
          <a:xfrm>
            <a:off x="5079846" y="3474720"/>
            <a:ext cx="2032001" cy="609243"/>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800" b="0" i="1">
                <a:solidFill>
                  <a:srgbClr val="0B2B4E"/>
                </a:solidFill>
                <a:latin typeface="Cambria Math"/>
              </a:defRPr>
            </a:pPr>
            <a:endParaRPr lang="en-US" sz="2800" dirty="0"/>
          </a:p>
        </p:txBody>
      </p:sp>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Profits and Average Total Costs (ATC)</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2240280" y="1780401"/>
                <a:ext cx="7680960" cy="553998"/>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m:rPr>
                          <m:sty m:val="p"/>
                        </m:rPr>
                        <a:rPr lang="en-US" sz="3000" b="0" i="0" smtClean="0">
                          <a:solidFill>
                            <a:srgbClr val="0B2B4E"/>
                          </a:solidFill>
                          <a:latin typeface="Cambria Math"/>
                        </a:rPr>
                        <m:t>Profit</m:t>
                      </m:r>
                      <m:r>
                        <a:rPr lang="en-US" sz="3000" b="0" i="0" smtClean="0">
                          <a:solidFill>
                            <a:srgbClr val="0B2B4E"/>
                          </a:solidFill>
                          <a:latin typeface="Cambria Math" panose="02040503050406030204" pitchFamily="18" charset="0"/>
                        </a:rPr>
                        <m:t>:   </m:t>
                      </m:r>
                      <m:r>
                        <a:rPr lang="en-US" sz="3000" b="0" i="1" smtClean="0">
                          <a:solidFill>
                            <a:srgbClr val="0B2B4E"/>
                          </a:solidFill>
                          <a:latin typeface="Cambria Math" panose="02040503050406030204" pitchFamily="18" charset="0"/>
                        </a:rPr>
                        <m:t>𝜋</m:t>
                      </m:r>
                      <m:r>
                        <a:rPr lang="en-US" sz="3000" b="0" i="0">
                          <a:solidFill>
                            <a:srgbClr val="0B2B4E"/>
                          </a:solidFill>
                          <a:latin typeface="Cambria Math"/>
                        </a:rPr>
                        <m:t> = </m:t>
                      </m:r>
                      <m:r>
                        <m:rPr>
                          <m:sty m:val="p"/>
                        </m:rPr>
                        <a:rPr lang="en-US" sz="3000" b="0" i="0">
                          <a:solidFill>
                            <a:srgbClr val="0B2B4E"/>
                          </a:solidFill>
                          <a:latin typeface="Cambria Math"/>
                        </a:rPr>
                        <m:t>TR</m:t>
                      </m:r>
                      <m:r>
                        <a:rPr lang="en-US" sz="3000" b="0" i="0">
                          <a:solidFill>
                            <a:srgbClr val="0B2B4E"/>
                          </a:solidFill>
                          <a:latin typeface="Cambria Math"/>
                        </a:rPr>
                        <m:t> − </m:t>
                      </m:r>
                      <m:r>
                        <m:rPr>
                          <m:sty m:val="p"/>
                        </m:rPr>
                        <a:rPr lang="en-US" sz="3000" b="0" i="0">
                          <a:solidFill>
                            <a:srgbClr val="0B2B4E"/>
                          </a:solidFill>
                          <a:latin typeface="Cambria Math"/>
                        </a:rPr>
                        <m:t>TC</m:t>
                      </m:r>
                    </m:oMath>
                  </m:oMathPara>
                </a14:m>
                <a:endParaRPr lang="en-US" sz="3000" dirty="0"/>
              </a:p>
            </p:txBody>
          </p:sp>
        </mc:Choice>
        <mc:Fallback>
          <p:sp>
            <p:nvSpPr>
              <p:cNvPr id="7" name="TextBox 6"/>
              <p:cNvSpPr txBox="1">
                <a:spLocks noRot="1" noChangeAspect="1" noMove="1" noResize="1" noEditPoints="1" noAdjustHandles="1" noChangeArrowheads="1" noChangeShapeType="1" noTextEdit="1"/>
              </p:cNvSpPr>
              <p:nvPr/>
            </p:nvSpPr>
            <p:spPr>
              <a:xfrm>
                <a:off x="2240280" y="1780401"/>
                <a:ext cx="7680960"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2240280" y="2621649"/>
                <a:ext cx="7680960" cy="553998"/>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1" smtClean="0">
                          <a:solidFill>
                            <a:srgbClr val="0B2B4E"/>
                          </a:solidFill>
                          <a:latin typeface="Cambria Math" panose="02040503050406030204" pitchFamily="18" charset="0"/>
                        </a:rPr>
                        <m:t>𝜋</m:t>
                      </m:r>
                      <m:r>
                        <a:rPr lang="en-US" sz="3000" b="0" i="0">
                          <a:solidFill>
                            <a:srgbClr val="0B2B4E"/>
                          </a:solidFill>
                          <a:latin typeface="Cambria Math"/>
                        </a:rPr>
                        <m:t>= (</m:t>
                      </m:r>
                      <m:r>
                        <a:rPr lang="en-US" sz="3000" b="0" i="1">
                          <a:solidFill>
                            <a:srgbClr val="0B2B4E"/>
                          </a:solidFill>
                          <a:latin typeface="Cambria Math"/>
                          <a:ea typeface="Cambria Math"/>
                        </a:rPr>
                        <m:t>𝑃</m:t>
                      </m:r>
                      <m:r>
                        <a:rPr lang="en-US" sz="3000" b="0" i="0">
                          <a:solidFill>
                            <a:srgbClr val="0B2B4E"/>
                          </a:solidFill>
                          <a:latin typeface="Cambria Math"/>
                        </a:rPr>
                        <m:t> · </m:t>
                      </m:r>
                      <m:r>
                        <a:rPr lang="en-US" sz="3000" b="0" i="1">
                          <a:solidFill>
                            <a:srgbClr val="0B2B4E"/>
                          </a:solidFill>
                          <a:latin typeface="Cambria Math"/>
                          <a:ea typeface="Cambria Math"/>
                        </a:rPr>
                        <m:t>𝑄</m:t>
                      </m:r>
                      <m:r>
                        <a:rPr lang="en-US" sz="3000" b="0" i="0">
                          <a:solidFill>
                            <a:srgbClr val="0B2B4E"/>
                          </a:solidFill>
                          <a:latin typeface="Cambria Math"/>
                        </a:rPr>
                        <m:t>) − (</m:t>
                      </m:r>
                      <m:r>
                        <m:rPr>
                          <m:sty m:val="p"/>
                        </m:rPr>
                        <a:rPr lang="en-US" sz="3000" b="0" i="0">
                          <a:solidFill>
                            <a:srgbClr val="0B2B4E"/>
                          </a:solidFill>
                          <a:latin typeface="Cambria Math"/>
                        </a:rPr>
                        <m:t>ATC</m:t>
                      </m:r>
                      <m:r>
                        <a:rPr lang="en-US" sz="3000" b="0" i="0">
                          <a:solidFill>
                            <a:srgbClr val="0B2B4E"/>
                          </a:solidFill>
                          <a:latin typeface="Cambria Math"/>
                        </a:rPr>
                        <m:t> · </m:t>
                      </m:r>
                      <m:r>
                        <a:rPr lang="en-US" sz="3000" b="0" i="1">
                          <a:solidFill>
                            <a:srgbClr val="0B2B4E"/>
                          </a:solidFill>
                          <a:latin typeface="Cambria Math"/>
                          <a:ea typeface="Cambria Math"/>
                        </a:rPr>
                        <m:t>𝑄</m:t>
                      </m:r>
                      <m:r>
                        <a:rPr lang="en-US" sz="3000" b="0" i="0">
                          <a:solidFill>
                            <a:srgbClr val="0B2B4E"/>
                          </a:solidFill>
                          <a:latin typeface="Cambria Math"/>
                        </a:rPr>
                        <m:t>)</m:t>
                      </m:r>
                    </m:oMath>
                  </m:oMathPara>
                </a14:m>
                <a:endParaRPr lang="en-US" sz="3000" dirty="0"/>
              </a:p>
            </p:txBody>
          </p:sp>
        </mc:Choice>
        <mc:Fallback>
          <p:sp>
            <p:nvSpPr>
              <p:cNvPr id="8" name="TextBox 7"/>
              <p:cNvSpPr txBox="1">
                <a:spLocks noRot="1" noChangeAspect="1" noMove="1" noResize="1" noEditPoints="1" noAdjustHandles="1" noChangeArrowheads="1" noChangeShapeType="1" noTextEdit="1"/>
              </p:cNvSpPr>
              <p:nvPr/>
            </p:nvSpPr>
            <p:spPr>
              <a:xfrm>
                <a:off x="2240280" y="2621649"/>
                <a:ext cx="7680960" cy="55399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2240280" y="3462897"/>
                <a:ext cx="7680960" cy="553998"/>
              </a:xfrm>
              <a:prstGeom prst="rect">
                <a:avLst/>
              </a:prstGeom>
              <a:noFill/>
            </p:spPr>
            <p:txBody>
              <a:bodyPr wrap="square" anchor="ctr">
                <a:spAutoFit/>
              </a:bodyPr>
              <a:lstStyle/>
              <a:p>
                <a:pPr algn="ctr">
                  <a:defRPr sz="3000" b="0" i="1">
                    <a:solidFill>
                      <a:srgbClr val="0B2B4E"/>
                    </a:solidFill>
                    <a:latin typeface="Cambria Math"/>
                  </a:defRPr>
                </a:pPr>
                <a14:m>
                  <m:oMathPara xmlns:m="http://schemas.openxmlformats.org/officeDocument/2006/math">
                    <m:oMath>
                      <m:r>
                        <a:rPr lang="en-US" sz="3000" b="0" i="1" smtClean="0">
                          <a:solidFill>
                            <a:srgbClr val="0B2B4E"/>
                          </a:solidFill>
                          <a:latin typeface="Cambria Math" panose="02040503050406030204" pitchFamily="18" charset="0"/>
                        </a:rPr>
                        <m:t>𝜋</m:t>
                      </m:r>
                      <m:r>
                        <a:rPr lang="en-US" sz="3000" b="0" i="0">
                          <a:solidFill>
                            <a:srgbClr val="0B2B4E"/>
                          </a:solidFill>
                          <a:latin typeface="Cambria Math"/>
                        </a:rPr>
                        <m:t>= (</m:t>
                      </m:r>
                      <m:r>
                        <a:rPr lang="en-US" sz="3000" b="0" i="1">
                          <a:solidFill>
                            <a:srgbClr val="0B2B4E"/>
                          </a:solidFill>
                          <a:latin typeface="Cambria Math"/>
                          <a:ea typeface="Cambria Math"/>
                        </a:rPr>
                        <m:t>𝑃</m:t>
                      </m:r>
                      <m:r>
                        <a:rPr lang="en-US" sz="3000" b="0" i="0">
                          <a:solidFill>
                            <a:srgbClr val="0B2B4E"/>
                          </a:solidFill>
                          <a:latin typeface="Cambria Math"/>
                        </a:rPr>
                        <m:t> − </m:t>
                      </m:r>
                      <m:r>
                        <m:rPr>
                          <m:sty m:val="p"/>
                        </m:rPr>
                        <a:rPr lang="en-US" sz="3000" b="0" i="0">
                          <a:solidFill>
                            <a:srgbClr val="0B2B4E"/>
                          </a:solidFill>
                          <a:latin typeface="Cambria Math"/>
                        </a:rPr>
                        <m:t>ATC</m:t>
                      </m:r>
                      <m:r>
                        <a:rPr lang="en-US" sz="3000" b="0" i="0">
                          <a:solidFill>
                            <a:srgbClr val="0B2B4E"/>
                          </a:solidFill>
                          <a:latin typeface="Cambria Math"/>
                        </a:rPr>
                        <m:t>) · </m:t>
                      </m:r>
                      <m:r>
                        <a:rPr lang="en-US" sz="3000" b="0" i="1">
                          <a:solidFill>
                            <a:srgbClr val="0B2B4E"/>
                          </a:solidFill>
                          <a:latin typeface="Cambria Math"/>
                          <a:ea typeface="Cambria Math"/>
                        </a:rPr>
                        <m:t>𝑄</m:t>
                      </m:r>
                    </m:oMath>
                  </m:oMathPara>
                </a14:m>
                <a:endParaRPr lang="en-US" sz="3000" dirty="0"/>
              </a:p>
            </p:txBody>
          </p:sp>
        </mc:Choice>
        <mc:Fallback>
          <p:sp>
            <p:nvSpPr>
              <p:cNvPr id="9" name="TextBox 8"/>
              <p:cNvSpPr txBox="1">
                <a:spLocks noRot="1" noChangeAspect="1" noMove="1" noResize="1" noEditPoints="1" noAdjustHandles="1" noChangeArrowheads="1" noChangeShapeType="1" noTextEdit="1"/>
              </p:cNvSpPr>
              <p:nvPr/>
            </p:nvSpPr>
            <p:spPr>
              <a:xfrm>
                <a:off x="2240280" y="3462897"/>
                <a:ext cx="7680960" cy="55399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2240280" y="4315968"/>
                <a:ext cx="7680960" cy="914400"/>
              </a:xfrm>
              <a:prstGeom prst="rect">
                <a:avLst/>
              </a:prstGeom>
              <a:noFill/>
            </p:spPr>
            <p:txBody>
              <a:bodyPr wrap="square" anchor="ctr">
                <a:spAutoFit/>
              </a:bodyPr>
              <a:lstStyle/>
              <a:p>
                <a:pPr algn="ctr">
                  <a:defRPr sz="2400" b="0" i="1">
                    <a:solidFill>
                      <a:srgbClr val="555B66"/>
                    </a:solidFill>
                    <a:latin typeface="Cambria Math"/>
                  </a:defRPr>
                </a:pPr>
                <a14:m>
                  <m:oMathPara xmlns:m="http://schemas.openxmlformats.org/officeDocument/2006/math">
                    <m:oMath>
                      <m:r>
                        <m:rPr>
                          <m:sty m:val="p"/>
                        </m:rPr>
                        <a:rPr lang="en-US" sz="2400" b="0" i="0">
                          <a:solidFill>
                            <a:srgbClr val="555B66"/>
                          </a:solidFill>
                          <a:latin typeface="Cambria Math"/>
                        </a:rPr>
                        <m:t>where</m:t>
                      </m:r>
                      <m:r>
                        <a:rPr lang="en-US" sz="2400" b="0" i="0">
                          <a:solidFill>
                            <a:srgbClr val="555B66"/>
                          </a:solidFill>
                          <a:latin typeface="Cambria Math"/>
                        </a:rPr>
                        <m:t>  </m:t>
                      </m:r>
                      <m:r>
                        <m:rPr>
                          <m:sty m:val="p"/>
                        </m:rPr>
                        <a:rPr lang="en-US" sz="2400" b="0" i="0">
                          <a:solidFill>
                            <a:srgbClr val="555B66"/>
                          </a:solidFill>
                          <a:latin typeface="Cambria Math"/>
                        </a:rPr>
                        <m:t>ATC</m:t>
                      </m:r>
                      <m:r>
                        <a:rPr lang="en-US" sz="2400" b="0" i="0">
                          <a:solidFill>
                            <a:srgbClr val="555B66"/>
                          </a:solidFill>
                          <a:latin typeface="Cambria Math"/>
                        </a:rPr>
                        <m:t> = </m:t>
                      </m:r>
                      <m:f>
                        <m:fPr>
                          <m:ctrlPr>
                            <a:rPr lang="en-US" sz="2400" b="0" i="0">
                              <a:solidFill>
                                <a:srgbClr val="555B66"/>
                              </a:solidFill>
                              <a:latin typeface="Cambria Math"/>
                            </a:rPr>
                          </m:ctrlPr>
                        </m:fPr>
                        <m:num>
                          <m:r>
                            <m:rPr>
                              <m:sty m:val="p"/>
                            </m:rPr>
                            <a:rPr lang="en-US" sz="2400" b="0" i="0">
                              <a:solidFill>
                                <a:srgbClr val="555B66"/>
                              </a:solidFill>
                              <a:latin typeface="Cambria Math"/>
                            </a:rPr>
                            <m:t>TC</m:t>
                          </m:r>
                        </m:num>
                        <m:den>
                          <m:r>
                            <a:rPr lang="en-US" sz="2400" b="0" i="1">
                              <a:solidFill>
                                <a:srgbClr val="555B66"/>
                              </a:solidFill>
                              <a:latin typeface="Cambria Math"/>
                              <a:ea typeface="Cambria Math"/>
                            </a:rPr>
                            <m:t>𝑄</m:t>
                          </m:r>
                        </m:den>
                      </m:f>
                      <m:r>
                        <a:rPr lang="en-US" sz="2400" b="0" i="0">
                          <a:solidFill>
                            <a:srgbClr val="555B66"/>
                          </a:solidFill>
                          <a:latin typeface="Cambria Math"/>
                        </a:rPr>
                        <m:t>   (</m:t>
                      </m:r>
                      <m:r>
                        <m:rPr>
                          <m:sty m:val="p"/>
                        </m:rPr>
                        <a:rPr lang="en-US" sz="2400" b="0" i="0">
                          <a:solidFill>
                            <a:srgbClr val="555B66"/>
                          </a:solidFill>
                          <a:latin typeface="Cambria Math"/>
                        </a:rPr>
                        <m:t>average</m:t>
                      </m:r>
                      <m:r>
                        <a:rPr lang="en-US" sz="2400" b="0" i="0">
                          <a:solidFill>
                            <a:srgbClr val="555B66"/>
                          </a:solidFill>
                          <a:latin typeface="Cambria Math"/>
                        </a:rPr>
                        <m:t> </m:t>
                      </m:r>
                      <m:r>
                        <m:rPr>
                          <m:sty m:val="p"/>
                        </m:rPr>
                        <a:rPr lang="en-US" sz="2400" b="0" i="0">
                          <a:solidFill>
                            <a:srgbClr val="555B66"/>
                          </a:solidFill>
                          <a:latin typeface="Cambria Math"/>
                        </a:rPr>
                        <m:t>total</m:t>
                      </m:r>
                      <m:r>
                        <a:rPr lang="en-US" sz="2400" b="0" i="0">
                          <a:solidFill>
                            <a:srgbClr val="555B66"/>
                          </a:solidFill>
                          <a:latin typeface="Cambria Math"/>
                        </a:rPr>
                        <m:t> </m:t>
                      </m:r>
                      <m:r>
                        <m:rPr>
                          <m:sty m:val="p"/>
                        </m:rPr>
                        <a:rPr lang="en-US" sz="2400" b="0" i="0">
                          <a:solidFill>
                            <a:srgbClr val="555B66"/>
                          </a:solidFill>
                          <a:latin typeface="Cambria Math"/>
                        </a:rPr>
                        <m:t>cost</m:t>
                      </m:r>
                      <m:r>
                        <a:rPr lang="en-US" sz="2400" b="0" i="0">
                          <a:solidFill>
                            <a:srgbClr val="555B66"/>
                          </a:solidFill>
                          <a:latin typeface="Cambria Math"/>
                        </a:rPr>
                        <m:t> </m:t>
                      </m:r>
                      <m:r>
                        <m:rPr>
                          <m:sty m:val="p"/>
                        </m:rPr>
                        <a:rPr lang="en-US" sz="2400" b="0" i="0">
                          <a:solidFill>
                            <a:srgbClr val="555B66"/>
                          </a:solidFill>
                          <a:latin typeface="Cambria Math"/>
                        </a:rPr>
                        <m:t>per</m:t>
                      </m:r>
                      <m:r>
                        <a:rPr lang="en-US" sz="2400" b="0" i="0">
                          <a:solidFill>
                            <a:srgbClr val="555B66"/>
                          </a:solidFill>
                          <a:latin typeface="Cambria Math"/>
                        </a:rPr>
                        <m:t> </m:t>
                      </m:r>
                      <m:r>
                        <m:rPr>
                          <m:sty m:val="p"/>
                        </m:rPr>
                        <a:rPr lang="en-US" sz="2400" b="0" i="0">
                          <a:solidFill>
                            <a:srgbClr val="555B66"/>
                          </a:solidFill>
                          <a:latin typeface="Cambria Math"/>
                        </a:rPr>
                        <m:t>ton</m:t>
                      </m:r>
                      <m:r>
                        <a:rPr lang="en-US" sz="2400" b="0" i="0">
                          <a:solidFill>
                            <a:srgbClr val="555B66"/>
                          </a:solidFill>
                          <a:latin typeface="Cambria Math"/>
                        </a:rPr>
                        <m:t>)</m:t>
                      </m:r>
                    </m:oMath>
                  </m:oMathPara>
                </a14:m>
                <a:endParaRPr lang="en-US" sz="2400"/>
              </a:p>
            </p:txBody>
          </p:sp>
        </mc:Choice>
        <mc:Fallback xmlns="">
          <p:sp>
            <p:nvSpPr>
              <p:cNvPr id="10" name="TextBox 9"/>
              <p:cNvSpPr txBox="1">
                <a:spLocks noRot="1" noChangeAspect="1" noMove="1" noResize="1" noEditPoints="1" noAdjustHandles="1" noChangeArrowheads="1" noChangeShapeType="1" noTextEdit="1"/>
              </p:cNvSpPr>
              <p:nvPr/>
            </p:nvSpPr>
            <p:spPr>
              <a:xfrm>
                <a:off x="2240280" y="4315968"/>
                <a:ext cx="7680960" cy="91440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2240280" y="5394960"/>
                <a:ext cx="7680960" cy="7772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Profit</m:t>
                      </m:r>
                      <m:r>
                        <a:rPr lang="en-US" sz="2800" b="0" i="0">
                          <a:solidFill>
                            <a:srgbClr val="0B2B4E"/>
                          </a:solidFill>
                          <a:latin typeface="Cambria Math"/>
                        </a:rPr>
                        <m:t> </m:t>
                      </m:r>
                      <m:r>
                        <m:rPr>
                          <m:sty m:val="p"/>
                        </m:rPr>
                        <a:rPr lang="en-US" sz="2800" b="0" i="0">
                          <a:solidFill>
                            <a:srgbClr val="0B2B4E"/>
                          </a:solidFill>
                          <a:latin typeface="Cambria Math"/>
                        </a:rPr>
                        <m:t>is</m:t>
                      </m:r>
                      <m:r>
                        <a:rPr lang="en-US" sz="2800" b="0" i="0">
                          <a:solidFill>
                            <a:srgbClr val="0B2B4E"/>
                          </a:solidFill>
                          <a:latin typeface="Cambria Math"/>
                        </a:rPr>
                        <m:t> </m:t>
                      </m:r>
                      <m:r>
                        <m:rPr>
                          <m:sty m:val="p"/>
                        </m:rPr>
                        <a:rPr lang="en-US" sz="2800" b="0" i="0">
                          <a:solidFill>
                            <a:srgbClr val="0B2B4E"/>
                          </a:solidFill>
                          <a:latin typeface="Cambria Math"/>
                        </a:rPr>
                        <m:t>positive</m:t>
                      </m:r>
                      <m:r>
                        <a:rPr lang="en-US" sz="2800" b="0" i="0">
                          <a:solidFill>
                            <a:srgbClr val="0B2B4E"/>
                          </a:solidFill>
                          <a:latin typeface="Cambria Math"/>
                        </a:rPr>
                        <m:t> </m:t>
                      </m:r>
                      <m:r>
                        <m:rPr>
                          <m:sty m:val="p"/>
                        </m:rPr>
                        <a:rPr lang="en-US" sz="2800" b="0" i="0">
                          <a:solidFill>
                            <a:srgbClr val="0B2B4E"/>
                          </a:solidFill>
                          <a:latin typeface="Cambria Math"/>
                        </a:rPr>
                        <m:t>if</m:t>
                      </m:r>
                      <m:r>
                        <a:rPr lang="en-US" sz="2800" b="0" i="0">
                          <a:solidFill>
                            <a:srgbClr val="0B2B4E"/>
                          </a:solidFill>
                          <a:latin typeface="Cambria Math"/>
                        </a:rPr>
                        <m:t>  </m:t>
                      </m:r>
                      <m:r>
                        <a:rPr lang="en-US" sz="2800" b="0" i="1">
                          <a:solidFill>
                            <a:srgbClr val="0B2B4E"/>
                          </a:solidFill>
                          <a:latin typeface="Cambria Math"/>
                          <a:ea typeface="Cambria Math"/>
                        </a:rPr>
                        <m:t>𝑃</m:t>
                      </m:r>
                      <m:r>
                        <a:rPr lang="en-US" sz="2800" b="0" i="0">
                          <a:solidFill>
                            <a:srgbClr val="0B2B4E"/>
                          </a:solidFill>
                          <a:latin typeface="Cambria Math"/>
                        </a:rPr>
                        <m:t> ≥ </m:t>
                      </m:r>
                      <m:r>
                        <m:rPr>
                          <m:sty m:val="p"/>
                        </m:rPr>
                        <a:rPr lang="en-US" sz="2800" b="0" i="0">
                          <a:solidFill>
                            <a:srgbClr val="0B2B4E"/>
                          </a:solidFill>
                          <a:latin typeface="Cambria Math"/>
                        </a:rPr>
                        <m:t>ATC</m:t>
                      </m:r>
                    </m:oMath>
                  </m:oMathPara>
                </a14:m>
                <a:endParaRPr lang="en-US" sz="2800"/>
              </a:p>
            </p:txBody>
          </p:sp>
        </mc:Choice>
        <mc:Fallback xmlns="">
          <p:sp>
            <p:nvSpPr>
              <p:cNvPr id="11" name="TextBox 10"/>
              <p:cNvSpPr txBox="1">
                <a:spLocks noRot="1" noChangeAspect="1" noMove="1" noResize="1" noEditPoints="1" noAdjustHandles="1" noChangeArrowheads="1" noChangeShapeType="1" noTextEdit="1"/>
              </p:cNvSpPr>
              <p:nvPr/>
            </p:nvSpPr>
            <p:spPr>
              <a:xfrm>
                <a:off x="2240280" y="5394960"/>
                <a:ext cx="7680960" cy="777240"/>
              </a:xfrm>
              <a:prstGeom prst="roundRect">
                <a:avLst>
                  <a:gd name="adj" fmla="val 25000"/>
                </a:avLst>
              </a:prstGeom>
              <a:blipFill>
                <a:blip r:embed="rId7"/>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E147C3F4-51FB-5672-BCCD-B2C49AC14D38}" type="slidenum">
              <a:rPr lang="en-US" sz="1200" dirty="0">
                <a:solidFill>
                  <a:srgbClr val="555B66"/>
                </a:solidFill>
                <a:latin typeface="Calibri"/>
              </a:rPr>
              <a:t>27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Illustrating Positive Profits of the Yi Family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463040" y="1801368"/>
            <a:ext cx="0" cy="36850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486400"/>
            <a:ext cx="74797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92911" y="166878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8215693" y="5532120"/>
            <a:ext cx="1454277" cy="265176"/>
          </a:xfrm>
          <a:prstGeom prst="rect">
            <a:avLst/>
          </a:prstGeom>
          <a:noFill/>
        </p:spPr>
        <p:txBody>
          <a:bodyPr wrap="square" lIns="0" tIns="0" rIns="0" bIns="0">
            <a:spAutoFit/>
          </a:bodyPr>
          <a:lstStyle/>
          <a:p>
            <a:pPr algn="l"/>
            <a:r>
              <a:rPr sz="1700" b="1" i="1" u="none">
                <a:solidFill>
                  <a:srgbClr val="0B2B4E"/>
                </a:solidFill>
                <a:latin typeface="Calibri"/>
              </a:rPr>
              <a:t>Quantity (tons)</a:t>
            </a:r>
          </a:p>
        </p:txBody>
      </p:sp>
      <p:sp>
        <p:nvSpPr>
          <p:cNvPr id="11" name="Rectangle 10"/>
          <p:cNvSpPr/>
          <p:nvPr/>
        </p:nvSpPr>
        <p:spPr>
          <a:xfrm>
            <a:off x="1463040" y="2670048"/>
            <a:ext cx="5101389" cy="295251"/>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flipV="1">
            <a:off x="1463040" y="2282799"/>
            <a:ext cx="6160168" cy="2253082"/>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53803" y="1883023"/>
            <a:ext cx="416052" cy="292608"/>
          </a:xfrm>
          <a:prstGeom prst="rect">
            <a:avLst/>
          </a:prstGeom>
          <a:noFill/>
        </p:spPr>
        <p:txBody>
          <a:bodyPr wrap="square" lIns="0" tIns="0" rIns="0" bIns="0">
            <a:spAutoFit/>
          </a:bodyPr>
          <a:lstStyle/>
          <a:p>
            <a:pPr algn="l"/>
            <a:r>
              <a:rPr sz="1900" b="1" i="1" u="none">
                <a:solidFill>
                  <a:srgbClr val="0B2B4E"/>
                </a:solidFill>
                <a:latin typeface="Calibri"/>
              </a:rPr>
              <a:t>MC</a:t>
            </a:r>
          </a:p>
        </p:txBody>
      </p:sp>
      <p:sp>
        <p:nvSpPr>
          <p:cNvPr id="14" name="TextBox 13"/>
          <p:cNvSpPr txBox="1"/>
          <p:nvPr/>
        </p:nvSpPr>
        <p:spPr>
          <a:xfrm>
            <a:off x="1030986" y="4398721"/>
            <a:ext cx="358902" cy="274320"/>
          </a:xfrm>
          <a:prstGeom prst="rect">
            <a:avLst/>
          </a:prstGeom>
          <a:noFill/>
        </p:spPr>
        <p:txBody>
          <a:bodyPr wrap="square" lIns="0" tIns="0" rIns="0" bIns="0">
            <a:spAutoFit/>
          </a:bodyPr>
          <a:lstStyle/>
          <a:p>
            <a:pPr algn="r"/>
            <a:r>
              <a:rPr sz="1500" b="0" i="1" u="none">
                <a:solidFill>
                  <a:srgbClr val="0B2B4E"/>
                </a:solidFill>
                <a:latin typeface="Calibri"/>
              </a:rPr>
              <a:t>135</a:t>
            </a:r>
          </a:p>
        </p:txBody>
      </p:sp>
      <p:sp>
        <p:nvSpPr>
          <p:cNvPr id="15" name="Rectangle 14"/>
          <p:cNvSpPr/>
          <p:nvPr/>
        </p:nvSpPr>
        <p:spPr>
          <a:xfrm>
            <a:off x="3080084" y="2228484"/>
            <a:ext cx="4543124" cy="766581"/>
          </a:xfrm>
          <a:custGeom>
            <a:avLst/>
            <a:gdLst/>
            <a:ahLst/>
            <a:cxnLst/>
            <a:rect l="0" t="0" r="r" b="b"/>
            <a:pathLst>
              <a:path w="4543124" h="766581">
                <a:moveTo>
                  <a:pt x="0" y="0"/>
                </a:moveTo>
                <a:cubicBezTo>
                  <a:pt x="151437" y="92924"/>
                  <a:pt x="605750" y="435524"/>
                  <a:pt x="908625" y="557549"/>
                </a:cubicBezTo>
                <a:cubicBezTo>
                  <a:pt x="1211499" y="679573"/>
                  <a:pt x="1514374" y="697712"/>
                  <a:pt x="1817249" y="732147"/>
                </a:cubicBezTo>
                <a:cubicBezTo>
                  <a:pt x="2120123" y="766581"/>
                  <a:pt x="2422999" y="764915"/>
                  <a:pt x="2725874" y="764156"/>
                </a:cubicBezTo>
                <a:cubicBezTo>
                  <a:pt x="3028749" y="763396"/>
                  <a:pt x="3331624" y="746149"/>
                  <a:pt x="3634499" y="727588"/>
                </a:cubicBezTo>
                <a:cubicBezTo>
                  <a:pt x="3937374" y="709027"/>
                  <a:pt x="4391686" y="665256"/>
                  <a:pt x="4543124" y="652790"/>
                </a:cubicBezTo>
              </a:path>
            </a:pathLst>
          </a:custGeom>
          <a:noFill/>
          <a:ln w="4127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53803" y="3044769"/>
            <a:ext cx="473201" cy="292608"/>
          </a:xfrm>
          <a:prstGeom prst="rect">
            <a:avLst/>
          </a:prstGeom>
          <a:noFill/>
        </p:spPr>
        <p:txBody>
          <a:bodyPr wrap="square" lIns="0" tIns="0" rIns="0" bIns="0">
            <a:spAutoFit/>
          </a:bodyPr>
          <a:lstStyle/>
          <a:p>
            <a:pPr algn="l"/>
            <a:r>
              <a:rPr sz="1900" b="1" i="1" u="none">
                <a:solidFill>
                  <a:srgbClr val="E09F3E"/>
                </a:solidFill>
                <a:latin typeface="Calibri"/>
              </a:rPr>
              <a:t>ATC</a:t>
            </a:r>
          </a:p>
        </p:txBody>
      </p:sp>
      <p:sp>
        <p:nvSpPr>
          <p:cNvPr id="17" name="TextBox 16"/>
          <p:cNvSpPr txBox="1"/>
          <p:nvPr/>
        </p:nvSpPr>
        <p:spPr>
          <a:xfrm>
            <a:off x="2103120" y="2697480"/>
            <a:ext cx="2194560" cy="292608"/>
          </a:xfrm>
          <a:prstGeom prst="rect">
            <a:avLst/>
          </a:prstGeom>
          <a:noFill/>
        </p:spPr>
        <p:txBody>
          <a:bodyPr wrap="square" lIns="0" tIns="0" rIns="0" bIns="0">
            <a:spAutoFit/>
          </a:bodyPr>
          <a:lstStyle/>
          <a:p>
            <a:pPr algn="ctr"/>
            <a:r>
              <a:rPr sz="1600" b="1" i="0" u="none">
                <a:solidFill>
                  <a:srgbClr val="0B2B4E"/>
                </a:solidFill>
                <a:latin typeface="Calibri"/>
              </a:rPr>
              <a:t>Profit</a:t>
            </a:r>
          </a:p>
        </p:txBody>
      </p:sp>
      <p:cxnSp>
        <p:nvCxnSpPr>
          <p:cNvPr id="18" name="Connector 17"/>
          <p:cNvCxnSpPr/>
          <p:nvPr/>
        </p:nvCxnSpPr>
        <p:spPr>
          <a:xfrm>
            <a:off x="1463040" y="2670048"/>
            <a:ext cx="6622181"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006164" y="2228027"/>
            <a:ext cx="739901" cy="292608"/>
          </a:xfrm>
          <a:prstGeom prst="rect">
            <a:avLst/>
          </a:prstGeom>
          <a:noFill/>
        </p:spPr>
        <p:txBody>
          <a:bodyPr wrap="square" lIns="0" tIns="0" rIns="0" bIns="0">
            <a:spAutoFit/>
          </a:bodyPr>
          <a:lstStyle/>
          <a:p>
            <a:pPr algn="l"/>
            <a:r>
              <a:rPr sz="1800" b="1" i="1" u="none">
                <a:solidFill>
                  <a:srgbClr val="C00000"/>
                </a:solidFill>
                <a:latin typeface="Calibri"/>
              </a:rPr>
              <a:t>P = MR</a:t>
            </a:r>
          </a:p>
        </p:txBody>
      </p:sp>
      <p:sp>
        <p:nvSpPr>
          <p:cNvPr id="20" name="TextBox 19"/>
          <p:cNvSpPr txBox="1"/>
          <p:nvPr/>
        </p:nvSpPr>
        <p:spPr>
          <a:xfrm>
            <a:off x="973836" y="2532888"/>
            <a:ext cx="416052" cy="274320"/>
          </a:xfrm>
          <a:prstGeom prst="rect">
            <a:avLst/>
          </a:prstGeom>
          <a:noFill/>
        </p:spPr>
        <p:txBody>
          <a:bodyPr wrap="square" lIns="0" tIns="0" rIns="0" bIns="0">
            <a:spAutoFit/>
          </a:bodyPr>
          <a:lstStyle/>
          <a:p>
            <a:pPr algn="r"/>
            <a:r>
              <a:rPr sz="1700" b="1" i="1" u="none">
                <a:solidFill>
                  <a:srgbClr val="C00000"/>
                </a:solidFill>
                <a:latin typeface="Calibri"/>
              </a:rPr>
              <a:t>400</a:t>
            </a:r>
          </a:p>
        </p:txBody>
      </p:sp>
      <p:sp>
        <p:nvSpPr>
          <p:cNvPr id="21" name="TextBox 20"/>
          <p:cNvSpPr txBox="1"/>
          <p:nvPr/>
        </p:nvSpPr>
        <p:spPr>
          <a:xfrm>
            <a:off x="973836" y="2828139"/>
            <a:ext cx="416052" cy="274320"/>
          </a:xfrm>
          <a:prstGeom prst="rect">
            <a:avLst/>
          </a:prstGeom>
          <a:noFill/>
        </p:spPr>
        <p:txBody>
          <a:bodyPr wrap="square" lIns="0" tIns="0" rIns="0" bIns="0">
            <a:spAutoFit/>
          </a:bodyPr>
          <a:lstStyle/>
          <a:p>
            <a:pPr algn="r"/>
            <a:r>
              <a:rPr sz="1700" b="0" i="1" u="none">
                <a:solidFill>
                  <a:srgbClr val="0B2B4E"/>
                </a:solidFill>
                <a:latin typeface="Calibri"/>
              </a:rPr>
              <a:t>358</a:t>
            </a:r>
          </a:p>
        </p:txBody>
      </p:sp>
      <p:cxnSp>
        <p:nvCxnSpPr>
          <p:cNvPr id="22" name="Connector 21"/>
          <p:cNvCxnSpPr/>
          <p:nvPr/>
        </p:nvCxnSpPr>
        <p:spPr>
          <a:xfrm flipV="1">
            <a:off x="6564429" y="2670048"/>
            <a:ext cx="0" cy="281635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42078" y="5541264"/>
            <a:ext cx="1044702" cy="274320"/>
          </a:xfrm>
          <a:prstGeom prst="rect">
            <a:avLst/>
          </a:prstGeom>
          <a:noFill/>
        </p:spPr>
        <p:txBody>
          <a:bodyPr wrap="square" lIns="0" tIns="0" rIns="0" bIns="0">
            <a:spAutoFit/>
          </a:bodyPr>
          <a:lstStyle/>
          <a:p>
            <a:pPr algn="ctr"/>
            <a:r>
              <a:rPr sz="1700" b="1" i="1" u="none">
                <a:solidFill>
                  <a:srgbClr val="0B2B4E"/>
                </a:solidFill>
                <a:latin typeface="Calibri"/>
              </a:rPr>
              <a:t>Q* = 662.5</a:t>
            </a:r>
          </a:p>
        </p:txBody>
      </p:sp>
      <p:sp>
        <p:nvSpPr>
          <p:cNvPr id="24" name="Oval 23"/>
          <p:cNvSpPr/>
          <p:nvPr/>
        </p:nvSpPr>
        <p:spPr>
          <a:xfrm>
            <a:off x="6495849" y="2601468"/>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24"/>
              <p:cNvSpPr txBox="1"/>
              <p:nvPr/>
            </p:nvSpPr>
            <p:spPr>
              <a:xfrm>
                <a:off x="9098280" y="1874519"/>
                <a:ext cx="2834640" cy="548640"/>
              </a:xfrm>
              <a:prstGeom prst="rect">
                <a:avLst/>
              </a:prstGeom>
              <a:noFill/>
            </p:spPr>
            <p:txBody>
              <a:bodyPr wrap="square" lIns="45720" tIns="0" rIns="45720" bIns="0">
                <a:spAutoFit/>
              </a:bodyPr>
              <a:lstStyle/>
              <a:p>
                <a:pPr algn="ctr"/>
                <a14:m>
                  <m:oMathPara xmlns:m="http://schemas.openxmlformats.org/officeDocument/2006/math">
                    <m:oMath>
                      <m:r>
                        <m:rPr>
                          <m:sty m:val="p"/>
                        </m:rPr>
                        <a:rPr lang="en-US" sz="2400" b="0" i="0">
                          <a:solidFill>
                            <a:srgbClr val="0B2B4E"/>
                          </a:solidFill>
                          <a:latin typeface="Cambria Math"/>
                        </a:rPr>
                        <m:t>MC</m:t>
                      </m:r>
                      <m:r>
                        <a:rPr lang="en-US" sz="2400" b="0" i="0">
                          <a:solidFill>
                            <a:srgbClr val="0B2B4E"/>
                          </a:solidFill>
                          <a:latin typeface="Cambria Math"/>
                        </a:rPr>
                        <m:t> = 135 + 0.4</m:t>
                      </m:r>
                      <m:r>
                        <a:rPr lang="en-US" sz="2400" b="0" i="1">
                          <a:solidFill>
                            <a:srgbClr val="0B2B4E"/>
                          </a:solidFill>
                          <a:latin typeface="Cambria Math"/>
                          <a:ea typeface="Cambria Math"/>
                        </a:rPr>
                        <m:t>𝑄</m:t>
                      </m:r>
                    </m:oMath>
                  </m:oMathPara>
                </a14:m>
                <a:endParaRPr lang="en-US"/>
              </a:p>
            </p:txBody>
          </p:sp>
        </mc:Choice>
        <mc:Fallback xmlns="">
          <p:sp>
            <p:nvSpPr>
              <p:cNvPr id="25" name="TextBox 24"/>
              <p:cNvSpPr txBox="1">
                <a:spLocks noRot="1" noChangeAspect="1" noMove="1" noResize="1" noEditPoints="1" noAdjustHandles="1" noChangeArrowheads="1" noChangeShapeType="1" noTextEdit="1"/>
              </p:cNvSpPr>
              <p:nvPr/>
            </p:nvSpPr>
            <p:spPr>
              <a:xfrm>
                <a:off x="9098280" y="1874519"/>
                <a:ext cx="2834640" cy="548640"/>
              </a:xfrm>
              <a:prstGeom prst="rect">
                <a:avLst/>
              </a:prstGeom>
              <a:blipFill>
                <a:blip r:embed="rId3"/>
                <a:stretch>
                  <a:fillRect l="-215"/>
                </a:stretch>
              </a:blipFill>
            </p:spPr>
            <p:txBody>
              <a:bodyPr/>
              <a:lstStyle/>
              <a:p>
                <a:r>
                  <a:rPr lang="en-US">
                    <a:noFill/>
                  </a:rPr>
                  <a:t> </a:t>
                </a:r>
              </a:p>
            </p:txBody>
          </p:sp>
        </mc:Fallback>
      </mc:AlternateContent>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C293036A-BD4D-57C7-9687-30C5AEE01332}" type="slidenum">
              <a:rPr lang="en-US" sz="1200" dirty="0">
                <a:solidFill>
                  <a:srgbClr val="555B66"/>
                </a:solidFill>
                <a:latin typeface="Calibri"/>
              </a:rPr>
              <a:t>28</a:t>
            </a:fld>
            <a:endParaRPr lang="en-US" sz="1200" dirty="0">
              <a:solidFill>
                <a:srgbClr val="555B66"/>
              </a:solidFill>
              <a:latin typeface="Calibri"/>
            </a:endParaRPr>
          </a:p>
        </p:txBody>
      </p:sp>
      <mc:AlternateContent xmlns:mc="http://schemas.openxmlformats.org/markup-compatibility/2006" xmlns:a14="http://schemas.microsoft.com/office/drawing/2010/main">
        <mc:Choice Requires="a14">
          <p:sp>
            <p:nvSpPr>
              <p:cNvPr id="30" name="TextBox 29"/>
              <p:cNvSpPr txBox="1"/>
              <p:nvPr/>
            </p:nvSpPr>
            <p:spPr>
              <a:xfrm>
                <a:off x="8215693" y="3654660"/>
                <a:ext cx="3794761" cy="624364"/>
              </a:xfrm>
              <a:prstGeom prst="roundRect">
                <a:avLst>
                  <a:gd name="adj" fmla="val 12000"/>
                </a:avLst>
              </a:prstGeom>
              <a:solidFill>
                <a:srgbClr val="C00000">
                  <a:alpha val="18000"/>
                </a:srgbClr>
              </a:solidFill>
              <a:ln w="15875">
                <a:solidFill>
                  <a:srgbClr val="C00000"/>
                </a:solidFill>
              </a:ln>
              <a:effectLst>
                <a:outerShdw blurRad="50800" dist="38100" dir="2700000" algn="tl" rotWithShape="0">
                  <a:srgbClr val="000000">
                    <a:alpha val="50000"/>
                  </a:srgbClr>
                </a:outerShdw>
              </a:effectLst>
            </p:spPr>
            <p:txBody>
              <a:bodyPr wrap="square" lIns="45720" tIns="0" rIns="45720" bIns="0">
                <a:spAutoFit/>
              </a:bodyPr>
              <a:lstStyle/>
              <a:p>
                <a:pPr algn="ct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ATC</m:t>
                      </m:r>
                      <m:r>
                        <a:rPr lang="en-US" sz="2400" b="0" i="0">
                          <a:solidFill>
                            <a:srgbClr val="0B2B4E"/>
                          </a:solidFill>
                          <a:latin typeface="Cambria Math"/>
                        </a:rPr>
                        <m:t>) · </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m:t>
                          </m:r>
                        </m:sup>
                      </m:sSup>
                    </m:oMath>
                  </m:oMathPara>
                </a14:m>
                <a:endParaRPr lang="en-US" dirty="0"/>
              </a:p>
              <a:p>
                <a:pPr algn="ctr"/>
                <a:r>
                  <a:rPr lang="en-US" sz="1400" dirty="0">
                    <a:solidFill>
                      <a:srgbClr val="0B2B4E"/>
                    </a:solidFill>
                    <a:latin typeface="Calibri"/>
                  </a:rPr>
                  <a:t>where ATC is evaluated at the optimal point Q*</a:t>
                </a:r>
                <a:endParaRPr lang="en-US" dirty="0"/>
              </a:p>
            </p:txBody>
          </p:sp>
        </mc:Choice>
        <mc:Fallback xmlns="">
          <p:sp>
            <p:nvSpPr>
              <p:cNvPr id="30" name="TextBox 29"/>
              <p:cNvSpPr txBox="1">
                <a:spLocks noRot="1" noChangeAspect="1" noMove="1" noResize="1" noEditPoints="1" noAdjustHandles="1" noChangeArrowheads="1" noChangeShapeType="1" noTextEdit="1"/>
              </p:cNvSpPr>
              <p:nvPr/>
            </p:nvSpPr>
            <p:spPr>
              <a:xfrm>
                <a:off x="8215693" y="3654660"/>
                <a:ext cx="3794761" cy="624364"/>
              </a:xfrm>
              <a:prstGeom prst="roundRect">
                <a:avLst>
                  <a:gd name="adj" fmla="val 12000"/>
                </a:avLst>
              </a:prstGeom>
              <a:blipFill>
                <a:blip r:embed="rId4"/>
                <a:stretch>
                  <a:fillRect/>
                </a:stretch>
              </a:blipFill>
              <a:ln w="15875">
                <a:solidFill>
                  <a:srgbClr val="C00000"/>
                </a:solidFill>
              </a:ln>
              <a:effectLst>
                <a:outerShdw blurRad="50800" dist="38100" dir="2700000" algn="tl" rotWithShape="0">
                  <a:srgbClr val="000000">
                    <a:alpha val="50000"/>
                  </a:srgbClr>
                </a:outerShdw>
              </a:effectLst>
            </p:spPr>
            <p:txBody>
              <a:bodyPr/>
              <a:lstStyle/>
              <a:p>
                <a:r>
                  <a:rPr lang="en-US">
                    <a:noFill/>
                  </a:rPr>
                  <a:t> </a:t>
                </a:r>
              </a:p>
            </p:txBody>
          </p:sp>
        </mc:Fallback>
      </mc:AlternateContent>
      <p:sp>
        <p:nvSpPr>
          <p:cNvPr id="31" name="Rounded Rectangle 30"/>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50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5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par>
                                <p:cTn id="22" presetID="10"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5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childTnLst>
                                </p:cTn>
                              </p:par>
                              <p:par>
                                <p:cTn id="41" presetID="10"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500"/>
                                        <p:tgtEl>
                                          <p:spTgt spid="23"/>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500"/>
                                        <p:tgtEl>
                                          <p:spTgt spid="11"/>
                                        </p:tgtEl>
                                      </p:cBhvr>
                                    </p:animEffect>
                                  </p:childTnLst>
                                </p:cTn>
                              </p:par>
                              <p:par>
                                <p:cTn id="52" presetID="10" presetClass="entr" presetSubtype="0" fill="hold" nodeType="withEffect">
                                  <p:stCondLst>
                                    <p:cond delay="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500"/>
                                        <p:tgtEl>
                                          <p:spTgt spid="17"/>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50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472287" y="1645920"/>
            <a:ext cx="11247120" cy="3703320"/>
            <a:chOff x="472287" y="1645920"/>
            <a:chExt cx="11247120" cy="3703320"/>
          </a:xfrm>
        </p:grpSpPr>
        <p:sp>
          <p:nvSpPr>
            <p:cNvPr id="7" name="Rectangle 6"/>
            <p:cNvSpPr/>
            <p:nvPr/>
          </p:nvSpPr>
          <p:spPr>
            <a:xfrm>
              <a:off x="472287" y="1645920"/>
              <a:ext cx="11247120" cy="37033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09447" y="1783080"/>
            <a:ext cx="10972800" cy="3429000"/>
          </p:xfrm>
          <a:graphic>
            <a:graphicData uri="http://schemas.openxmlformats.org/drawingml/2006/table">
              <a:tbl>
                <a:tblPr/>
                <a:tblGrid>
                  <a:gridCol w="3657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77724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Economic cost concept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29, 2022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30, 2021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30352">
                  <a:tc>
                    <a:txBody>
                      <a:bodyPr/>
                      <a:lstStyle/>
                      <a:p>
                        <a:pPr algn="l"/>
                        <a:r>
                          <a:rPr sz="1800" b="1">
                            <a:solidFill>
                              <a:srgbClr val="0B2B4E"/>
                            </a:solidFill>
                            <a:latin typeface="Calibri"/>
                          </a:rPr>
                          <a:t>Sales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18,916,244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12,531,565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30352">
                  <a:tc>
                    <a:txBody>
                      <a:bodyPr/>
                      <a:lstStyle/>
                      <a:p>
                        <a:pPr algn="l"/>
                        <a:r>
                          <a:rPr sz="1800" b="1">
                            <a:solidFill>
                              <a:srgbClr val="0B2B4E"/>
                            </a:solidFill>
                            <a:latin typeface="Calibri"/>
                          </a:rPr>
                          <a:t>Cost of goods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 TVC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13,708,907</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9,838,574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30352">
                  <a:tc>
                    <a:txBody>
                      <a:bodyPr/>
                      <a:lstStyle/>
                      <a:p>
                        <a:pPr algn="l"/>
                        <a:r>
                          <a:rPr sz="1800" b="1">
                            <a:solidFill>
                              <a:srgbClr val="0B2B4E"/>
                            </a:solidFill>
                            <a:latin typeface="Calibri"/>
                          </a:rPr>
                          <a:t>Selling, general and administrative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Mix of FC &amp; 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2,874,469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2,503,281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30352">
                  <a:tc>
                    <a:txBody>
                      <a:bodyPr/>
                      <a:lstStyle/>
                      <a:p>
                        <a:pPr algn="l"/>
                        <a:r>
                          <a:rPr sz="1800" b="1">
                            <a:solidFill>
                              <a:srgbClr val="0B2B4E"/>
                            </a:solidFill>
                            <a:latin typeface="Calibri"/>
                          </a:rPr>
                          <a:t>Interest expense (income), net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Part of FC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74,328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83,413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530352">
                  <a:tc>
                    <a:txBody>
                      <a:bodyPr/>
                      <a:lstStyle/>
                      <a:p>
                        <a:pPr algn="l"/>
                        <a:r>
                          <a:rPr sz="1800" b="1">
                            <a:solidFill>
                              <a:srgbClr val="0B2B4E"/>
                            </a:solidFill>
                            <a:latin typeface="Calibri"/>
                          </a:rPr>
                          <a:t>Total costs and expenses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 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16,657,704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12,425,268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sp>
        <p:nvSpPr>
          <p:cNvPr id="9" name="TextBox 8"/>
          <p:cNvSpPr txBox="1"/>
          <p:nvPr/>
        </p:nvSpPr>
        <p:spPr>
          <a:xfrm>
            <a:off x="609447" y="5413248"/>
            <a:ext cx="10972800" cy="274320"/>
          </a:xfrm>
          <a:prstGeom prst="rect">
            <a:avLst/>
          </a:prstGeom>
          <a:noFill/>
        </p:spPr>
        <p:txBody>
          <a:bodyPr wrap="square" lIns="0" tIns="0" rIns="0" bIns="0">
            <a:spAutoFit/>
          </a:bodyPr>
          <a:lstStyle/>
          <a:p>
            <a:pPr algn="ctr"/>
            <a:r>
              <a:rPr sz="1200" b="0" i="1" u="none">
                <a:solidFill>
                  <a:srgbClr val="555B66"/>
                </a:solidFill>
                <a:latin typeface="Calibri"/>
              </a:rPr>
              <a:t>Ross Stores, Form 10-K, fiscal 2021  ·  $ thousands</a:t>
            </a:r>
          </a:p>
        </p:txBody>
      </p:sp>
      <p:sp>
        <p:nvSpPr>
          <p:cNvPr id="10" name="Rounded Rectangle 9"/>
          <p:cNvSpPr/>
          <p:nvPr/>
        </p:nvSpPr>
        <p:spPr>
          <a:xfrm>
            <a:off x="3169767" y="5833872"/>
            <a:ext cx="585216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Accounting costs leave out opportunity costs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AA53AB96-9CAD-5F6C-A822-DD60D8EF7580}" type="slidenum">
              <a:rPr lang="en-US" sz="1200" dirty="0">
                <a:solidFill>
                  <a:srgbClr val="555B66"/>
                </a:solidFill>
                <a:latin typeface="Calibri"/>
              </a:rPr>
              <a:t>29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Maximizing Profits in the Short Run: The General Case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02920" y="1335024"/>
            <a:ext cx="11466576"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Profit Levels for Different Market Prices</a:t>
            </a:r>
          </a:p>
        </p:txBody>
      </p:sp>
      <p:sp>
        <p:nvSpPr>
          <p:cNvPr id="8" name="Rounded Rectangle 7"/>
          <p:cNvSpPr/>
          <p:nvPr/>
        </p:nvSpPr>
        <p:spPr>
          <a:xfrm>
            <a:off x="502920"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Positive Profit</a:t>
            </a:r>
          </a:p>
        </p:txBody>
      </p:sp>
      <p:cxnSp>
        <p:nvCxnSpPr>
          <p:cNvPr id="9" name="Connector 8"/>
          <p:cNvCxnSpPr/>
          <p:nvPr/>
        </p:nvCxnSpPr>
        <p:spPr>
          <a:xfrm flipV="1">
            <a:off x="1188720"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88720"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8591"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2" name="TextBox 11"/>
          <p:cNvSpPr txBox="1"/>
          <p:nvPr/>
        </p:nvSpPr>
        <p:spPr>
          <a:xfrm>
            <a:off x="3846576"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3" name="Rectangle 12"/>
          <p:cNvSpPr/>
          <p:nvPr/>
        </p:nvSpPr>
        <p:spPr>
          <a:xfrm>
            <a:off x="1188720" y="3706327"/>
            <a:ext cx="1487005" cy="470114"/>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521405"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521405"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1188720" y="3706327"/>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54145" y="3550879"/>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8" name="Connector 17"/>
          <p:cNvCxnSpPr/>
          <p:nvPr/>
        </p:nvCxnSpPr>
        <p:spPr>
          <a:xfrm flipV="1">
            <a:off x="2675725" y="3706327"/>
            <a:ext cx="0" cy="20285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05799"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0" name="TextBox 19"/>
          <p:cNvSpPr txBox="1"/>
          <p:nvPr/>
        </p:nvSpPr>
        <p:spPr>
          <a:xfrm>
            <a:off x="918591" y="3569167"/>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21" name="TextBox 20"/>
          <p:cNvSpPr txBox="1"/>
          <p:nvPr/>
        </p:nvSpPr>
        <p:spPr>
          <a:xfrm>
            <a:off x="3073940"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22" name="TextBox 21"/>
          <p:cNvSpPr txBox="1"/>
          <p:nvPr/>
        </p:nvSpPr>
        <p:spPr>
          <a:xfrm>
            <a:off x="3190380"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23" name="TextBox 22"/>
          <p:cNvSpPr txBox="1"/>
          <p:nvPr/>
        </p:nvSpPr>
        <p:spPr>
          <a:xfrm>
            <a:off x="1520742" y="3817940"/>
            <a:ext cx="822960" cy="246888"/>
          </a:xfrm>
          <a:prstGeom prst="rect">
            <a:avLst/>
          </a:prstGeom>
          <a:noFill/>
        </p:spPr>
        <p:txBody>
          <a:bodyPr wrap="square" lIns="0" tIns="0" rIns="0" bIns="0">
            <a:spAutoFit/>
          </a:bodyPr>
          <a:lstStyle/>
          <a:p>
            <a:pPr algn="ctr"/>
            <a:r>
              <a:rPr sz="1600" b="1" i="0" u="none">
                <a:solidFill>
                  <a:srgbClr val="C00000"/>
                </a:solidFill>
                <a:latin typeface="Calibri"/>
              </a:rPr>
              <a:t>π &gt; 0</a:t>
            </a:r>
          </a:p>
        </p:txBody>
      </p:sp>
      <p:grpSp>
        <p:nvGrpSpPr>
          <p:cNvPr id="164" name="Group pair 164"/>
          <p:cNvGrpSpPr/>
          <p:nvPr/>
        </p:nvGrpSpPr>
        <p:grpSpPr>
          <a:xfrm>
            <a:off x="2194560" y="4674148"/>
            <a:ext cx="1536192" cy="310896"/>
            <a:chOff x="2194560" y="4517136"/>
            <a:chExt cx="1536192" cy="310896"/>
          </a:xfrm>
        </p:grpSpPr>
        <p:sp>
          <p:nvSpPr>
            <p:cNvPr id="24" name="Rounded Rectangle 23"/>
            <p:cNvSpPr/>
            <p:nvPr/>
          </p:nvSpPr>
          <p:spPr>
            <a:xfrm>
              <a:off x="2194560"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231136"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&gt; ATC at Q*</a:t>
              </a:r>
            </a:p>
          </p:txBody>
        </p:sp>
      </p:grpSp>
      <p:sp>
        <p:nvSpPr>
          <p:cNvPr id="26" name="Rounded Rectangle 25"/>
          <p:cNvSpPr/>
          <p:nvPr/>
        </p:nvSpPr>
        <p:spPr>
          <a:xfrm>
            <a:off x="4453128"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Zero Profit</a:t>
            </a:r>
          </a:p>
        </p:txBody>
      </p:sp>
      <p:cxnSp>
        <p:nvCxnSpPr>
          <p:cNvPr id="27" name="Connector 26"/>
          <p:cNvCxnSpPr/>
          <p:nvPr/>
        </p:nvCxnSpPr>
        <p:spPr>
          <a:xfrm flipV="1">
            <a:off x="5138928"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38928"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868799"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30" name="TextBox 29"/>
          <p:cNvSpPr txBox="1"/>
          <p:nvPr/>
        </p:nvSpPr>
        <p:spPr>
          <a:xfrm>
            <a:off x="7796784"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31" name="Rectangle 30"/>
          <p:cNvSpPr/>
          <p:nvPr/>
        </p:nvSpPr>
        <p:spPr>
          <a:xfrm>
            <a:off x="5471613"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71613"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5138928" y="4279309"/>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04353" y="4123861"/>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35" name="Connector 34"/>
          <p:cNvCxnSpPr/>
          <p:nvPr/>
        </p:nvCxnSpPr>
        <p:spPr>
          <a:xfrm flipV="1">
            <a:off x="6092006" y="4279309"/>
            <a:ext cx="0" cy="1455543"/>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22080"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37" name="TextBox 36"/>
          <p:cNvSpPr txBox="1"/>
          <p:nvPr/>
        </p:nvSpPr>
        <p:spPr>
          <a:xfrm>
            <a:off x="4868799" y="4142149"/>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38" name="TextBox 37"/>
          <p:cNvSpPr txBox="1"/>
          <p:nvPr/>
        </p:nvSpPr>
        <p:spPr>
          <a:xfrm>
            <a:off x="7024148"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39" name="TextBox 38"/>
          <p:cNvSpPr txBox="1"/>
          <p:nvPr/>
        </p:nvSpPr>
        <p:spPr>
          <a:xfrm>
            <a:off x="7140588"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grpSp>
        <p:nvGrpSpPr>
          <p:cNvPr id="165" name="Group pair 165"/>
          <p:cNvGrpSpPr/>
          <p:nvPr/>
        </p:nvGrpSpPr>
        <p:grpSpPr>
          <a:xfrm>
            <a:off x="6144768" y="4674148"/>
            <a:ext cx="1536192" cy="310896"/>
            <a:chOff x="6144768" y="4517136"/>
            <a:chExt cx="1536192" cy="310896"/>
          </a:xfrm>
        </p:grpSpPr>
        <p:sp>
          <p:nvSpPr>
            <p:cNvPr id="40" name="Rounded Rectangle 39"/>
            <p:cNvSpPr/>
            <p:nvPr/>
          </p:nvSpPr>
          <p:spPr>
            <a:xfrm>
              <a:off x="6144768"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81344"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 ATC at Q*</a:t>
              </a:r>
            </a:p>
          </p:txBody>
        </p:sp>
      </p:grpSp>
      <p:sp>
        <p:nvSpPr>
          <p:cNvPr id="42" name="Rounded Rectangle 41"/>
          <p:cNvSpPr/>
          <p:nvPr/>
        </p:nvSpPr>
        <p:spPr>
          <a:xfrm>
            <a:off x="8403336"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Negative Profit (Loss)</a:t>
            </a:r>
          </a:p>
        </p:txBody>
      </p:sp>
      <p:cxnSp>
        <p:nvCxnSpPr>
          <p:cNvPr id="43" name="Connector 42"/>
          <p:cNvCxnSpPr/>
          <p:nvPr/>
        </p:nvCxnSpPr>
        <p:spPr>
          <a:xfrm flipV="1">
            <a:off x="9089136"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089136"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819007"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46" name="TextBox 45"/>
          <p:cNvSpPr txBox="1"/>
          <p:nvPr/>
        </p:nvSpPr>
        <p:spPr>
          <a:xfrm>
            <a:off x="11746992"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47" name="Rectangle 46"/>
          <p:cNvSpPr/>
          <p:nvPr/>
        </p:nvSpPr>
        <p:spPr>
          <a:xfrm>
            <a:off x="9089136" y="4232778"/>
            <a:ext cx="705697" cy="312006"/>
          </a:xfrm>
          <a:prstGeom prst="rect">
            <a:avLst/>
          </a:prstGeom>
          <a:solidFill>
            <a:srgbClr val="555B66">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9421821"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9421821"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a:off x="9089136" y="4544784"/>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1154561" y="4389336"/>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52" name="Connector 51"/>
          <p:cNvCxnSpPr/>
          <p:nvPr/>
        </p:nvCxnSpPr>
        <p:spPr>
          <a:xfrm flipV="1">
            <a:off x="9794833" y="4544784"/>
            <a:ext cx="0" cy="119006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24907"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54" name="TextBox 53"/>
          <p:cNvSpPr txBox="1"/>
          <p:nvPr/>
        </p:nvSpPr>
        <p:spPr>
          <a:xfrm>
            <a:off x="8819007" y="4407624"/>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55" name="TextBox 54"/>
          <p:cNvSpPr txBox="1"/>
          <p:nvPr/>
        </p:nvSpPr>
        <p:spPr>
          <a:xfrm>
            <a:off x="10974356"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56" name="TextBox 55"/>
          <p:cNvSpPr txBox="1"/>
          <p:nvPr/>
        </p:nvSpPr>
        <p:spPr>
          <a:xfrm>
            <a:off x="11090796"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57" name="TextBox 56"/>
          <p:cNvSpPr txBox="1"/>
          <p:nvPr/>
        </p:nvSpPr>
        <p:spPr>
          <a:xfrm>
            <a:off x="9030504" y="4265337"/>
            <a:ext cx="822960" cy="246888"/>
          </a:xfrm>
          <a:prstGeom prst="rect">
            <a:avLst/>
          </a:prstGeom>
          <a:noFill/>
        </p:spPr>
        <p:txBody>
          <a:bodyPr wrap="square" lIns="0" tIns="0" rIns="0" bIns="0">
            <a:spAutoFit/>
          </a:bodyPr>
          <a:lstStyle/>
          <a:p>
            <a:pPr algn="ctr"/>
            <a:r>
              <a:rPr sz="1600" b="1" i="0" u="none">
                <a:solidFill>
                  <a:srgbClr val="0B2B4E"/>
                </a:solidFill>
                <a:latin typeface="Calibri"/>
              </a:rPr>
              <a:t>π &lt; 0</a:t>
            </a:r>
          </a:p>
        </p:txBody>
      </p:sp>
      <p:grpSp>
        <p:nvGrpSpPr>
          <p:cNvPr id="166" name="Group pair 166"/>
          <p:cNvGrpSpPr/>
          <p:nvPr/>
        </p:nvGrpSpPr>
        <p:grpSpPr>
          <a:xfrm>
            <a:off x="10094976" y="4674148"/>
            <a:ext cx="1536192" cy="310896"/>
            <a:chOff x="10094976" y="4517136"/>
            <a:chExt cx="1536192" cy="310896"/>
          </a:xfrm>
        </p:grpSpPr>
        <p:sp>
          <p:nvSpPr>
            <p:cNvPr id="58" name="Rounded Rectangle 57"/>
            <p:cNvSpPr/>
            <p:nvPr/>
          </p:nvSpPr>
          <p:spPr>
            <a:xfrm>
              <a:off x="10094976"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131552"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&lt; ATC at Q*</a:t>
              </a:r>
            </a:p>
          </p:txBody>
        </p:sp>
      </p:grpSp>
      <p:sp>
        <p:nvSpPr>
          <p:cNvPr id="60" name="Rectangle 5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63" name="TextBox 62"/>
          <p:cNvSpPr txBox="1"/>
          <p:nvPr/>
        </p:nvSpPr>
        <p:spPr>
          <a:xfrm>
            <a:off x="11475720" y="6583680"/>
            <a:ext cx="502920" cy="292608"/>
          </a:xfrm>
          <a:prstGeom prst="rect">
            <a:avLst/>
          </a:prstGeom>
          <a:noFill/>
        </p:spPr>
        <p:txBody>
          <a:bodyPr wrap="none" lIns="0" tIns="0" rIns="0" bIns="0">
            <a:spAutoFit/>
          </a:bodyPr>
          <a:lstStyle/>
          <a:p>
            <a:pPr algn="r"/>
            <a:fld id="{7373E417-ECEB-5E52-B810-17214CB68111}" type="slidenum">
              <a:rPr lang="en-US" sz="1200" dirty="0">
                <a:solidFill>
                  <a:srgbClr val="555B66"/>
                </a:solidFill>
                <a:latin typeface="Calibri"/>
              </a:rPr>
              <a:t>30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65"/>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p:bldP spid="12" grpId="0"/>
      <p:bldP spid="13" grpId="0" animBg="1"/>
      <p:bldP spid="14" grpId="0" animBg="1"/>
      <p:bldP spid="15" grpId="0" animBg="1"/>
      <p:bldP spid="17" grpId="0"/>
      <p:bldP spid="19" grpId="0"/>
      <p:bldP spid="20" grpId="0"/>
      <p:bldP spid="21" grpId="0"/>
      <p:bldP spid="22" grpId="0"/>
      <p:bldP spid="23" grpId="0"/>
      <p:bldP spid="26" grpId="0" animBg="1"/>
      <p:bldP spid="29" grpId="0"/>
      <p:bldP spid="30" grpId="0"/>
      <p:bldP spid="31" grpId="0" animBg="1"/>
      <p:bldP spid="32" grpId="0" animBg="1"/>
      <p:bldP spid="34" grpId="0"/>
      <p:bldP spid="36" grpId="0"/>
      <p:bldP spid="37" grpId="0"/>
      <p:bldP spid="38" grpId="0"/>
      <p:bldP spid="39" grpId="0"/>
      <p:bldP spid="42" grpId="0" animBg="1"/>
      <p:bldP spid="45" grpId="0"/>
      <p:bldP spid="46" grpId="0"/>
      <p:bldP spid="47" grpId="0" animBg="1"/>
      <p:bldP spid="48" grpId="0" animBg="1"/>
      <p:bldP spid="49" grpId="0" animBg="1"/>
      <p:bldP spid="51" grpId="0"/>
      <p:bldP spid="53" grpId="0"/>
      <p:bldP spid="54" grpId="0"/>
      <p:bldP spid="55" grpId="0"/>
      <p:bldP spid="56" grpId="0"/>
      <p:bldP spid="5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If Profit Is Negative, Should a Firm Stop Production / Shut Down?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371600"/>
            <a:ext cx="10908792" cy="566928"/>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“Shutting down” in the long run is different from “Stopping production” in the short run</a:t>
            </a:r>
          </a:p>
        </p:txBody>
      </p:sp>
      <p:grpSp>
        <p:nvGrpSpPr>
          <p:cNvPr id="120" name="Group pair 120"/>
          <p:cNvGrpSpPr/>
          <p:nvPr/>
        </p:nvGrpSpPr>
        <p:grpSpPr>
          <a:xfrm>
            <a:off x="640080" y="2011680"/>
            <a:ext cx="5456224" cy="1783080"/>
            <a:chOff x="640080" y="2011680"/>
            <a:chExt cx="5456224" cy="1783080"/>
          </a:xfrm>
        </p:grpSpPr>
        <p:sp>
          <p:nvSpPr>
            <p:cNvPr id="8" name="Rounded Rectangle 7"/>
            <p:cNvSpPr/>
            <p:nvPr/>
          </p:nvSpPr>
          <p:spPr>
            <a:xfrm>
              <a:off x="640080" y="2011680"/>
              <a:ext cx="5456224" cy="1783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121408"/>
              <a:ext cx="5456224" cy="1563624"/>
            </a:xfrm>
            <a:prstGeom prst="rect">
              <a:avLst/>
            </a:prstGeom>
            <a:noFill/>
          </p:spPr>
          <p:txBody>
            <a:bodyPr wrap="square" lIns="45720" tIns="0" rIns="45720" bIns="0" anchor="t">
              <a:spAutoFit/>
            </a:bodyPr>
            <a:lstStyle/>
            <a:p>
              <a:pPr algn="ctr">
                <a:spcBef>
                  <a:spcPts val="600"/>
                </a:spcBef>
              </a:pPr>
              <a:r>
                <a:rPr sz="2400" b="1" i="0" u="none">
                  <a:solidFill>
                    <a:srgbClr val="0B2B4E"/>
                  </a:solidFill>
                  <a:latin typeface="Calibri"/>
                </a:rPr>
                <a:t>Short Run</a:t>
              </a:r>
              <a:r>
                <a:rPr sz="1900" b="1" i="0" u="none">
                  <a:solidFill>
                    <a:srgbClr val="0B2B4E"/>
                  </a:solidFill>
                  <a:latin typeface="Calibri"/>
                </a:rPr>
                <a:t>
</a:t>
              </a:r>
              <a:r>
                <a:rPr sz="1700" b="0" i="0" u="none">
                  <a:solidFill>
                    <a:srgbClr val="0B2B4E"/>
                  </a:solidFill>
                  <a:latin typeface="Calibri"/>
                </a:rPr>
                <a:t>Temporarily halt production, with the option to restart later
</a:t>
              </a:r>
              <a:r>
                <a:rPr sz="1700" b="1" i="0" u="none">
                  <a:solidFill>
                    <a:srgbClr val="C00000"/>
                  </a:solidFill>
                  <a:latin typeface="Calibri"/>
                </a:rPr>
                <a:t>Fixed costs still have to be paid
</a:t>
              </a:r>
              <a:r>
                <a:rPr sz="1700" b="0" i="0" u="none">
                  <a:solidFill>
                    <a:srgbClr val="0B2B4E"/>
                  </a:solidFill>
                  <a:latin typeface="Calibri"/>
                </a:rPr>
                <a:t>— e.g. a building rent or a business truck lease</a:t>
              </a:r>
            </a:p>
          </p:txBody>
        </p:sp>
      </p:grpSp>
      <p:grpSp>
        <p:nvGrpSpPr>
          <p:cNvPr id="121" name="Group pair 121"/>
          <p:cNvGrpSpPr/>
          <p:nvPr/>
        </p:nvGrpSpPr>
        <p:grpSpPr>
          <a:xfrm>
            <a:off x="6437376" y="2011680"/>
            <a:ext cx="5111496" cy="1783080"/>
            <a:chOff x="6437376" y="2011680"/>
            <a:chExt cx="5111496" cy="1783080"/>
          </a:xfrm>
        </p:grpSpPr>
        <p:sp>
          <p:nvSpPr>
            <p:cNvPr id="10" name="Rounded Rectangle 9"/>
            <p:cNvSpPr/>
            <p:nvPr/>
          </p:nvSpPr>
          <p:spPr>
            <a:xfrm>
              <a:off x="6437376" y="2011680"/>
              <a:ext cx="5111496" cy="1783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37376" y="2121408"/>
              <a:ext cx="5111496" cy="1563624"/>
            </a:xfrm>
            <a:prstGeom prst="rect">
              <a:avLst/>
            </a:prstGeom>
            <a:noFill/>
          </p:spPr>
          <p:txBody>
            <a:bodyPr wrap="square" lIns="45720" tIns="0" rIns="45720" bIns="0" anchor="t">
              <a:spAutoFit/>
            </a:bodyPr>
            <a:lstStyle/>
            <a:p>
              <a:pPr algn="ctr">
                <a:spcBef>
                  <a:spcPts val="600"/>
                </a:spcBef>
              </a:pPr>
              <a:r>
                <a:rPr sz="2400" b="1" i="0" u="none">
                  <a:solidFill>
                    <a:srgbClr val="0B2B4E"/>
                  </a:solidFill>
                  <a:latin typeface="Calibri"/>
                </a:rPr>
                <a:t>Long Run</a:t>
              </a:r>
              <a:r>
                <a:rPr sz="1900" b="1" i="0" u="none">
                  <a:solidFill>
                    <a:srgbClr val="0B2B4E"/>
                  </a:solidFill>
                  <a:latin typeface="Calibri"/>
                </a:rPr>
                <a:t>
</a:t>
              </a:r>
              <a:r>
                <a:rPr sz="1700" b="0" i="0" u="none">
                  <a:solidFill>
                    <a:srgbClr val="0B2B4E"/>
                  </a:solidFill>
                  <a:latin typeface="Calibri"/>
                </a:rPr>
                <a:t>Exit the industry altogether, shut down
</a:t>
              </a:r>
              <a:r>
                <a:rPr sz="1700" b="1" i="0" u="none">
                  <a:solidFill>
                    <a:srgbClr val="C00000"/>
                  </a:solidFill>
                  <a:latin typeface="Calibri"/>
                </a:rPr>
                <a:t>No further payment of fixed costs
</a:t>
              </a:r>
              <a:r>
                <a:rPr sz="1700" b="0" i="0" u="none">
                  <a:solidFill>
                    <a:srgbClr val="0B2B4E"/>
                  </a:solidFill>
                  <a:latin typeface="Calibri"/>
                </a:rPr>
                <a:t>— e.g. sell the truck and let the building lease expire</a:t>
              </a:r>
            </a:p>
          </p:txBody>
        </p:sp>
      </p:grpSp>
      <p:sp>
        <p:nvSpPr>
          <p:cNvPr id="12" name="Rounded Rectangle 11"/>
          <p:cNvSpPr/>
          <p:nvPr/>
        </p:nvSpPr>
        <p:spPr>
          <a:xfrm>
            <a:off x="640080" y="3895344"/>
            <a:ext cx="10908792"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rgbClr val="0B2B4E"/>
                </a:solidFill>
                <a:latin typeface="Calibri"/>
              </a:rPr>
              <a:t>We decompose TC into TVC (Short Run) and TFC (Long Run)</a:t>
            </a:r>
            <a:r>
              <a:rPr sz="2000" b="1" dirty="0">
                <a:solidFill>
                  <a:srgbClr val="0B2B4E"/>
                </a:solidFill>
                <a:latin typeface="Calibri"/>
              </a:rPr>
              <a:t>:</a:t>
            </a:r>
          </a:p>
        </p:txBody>
      </p:sp>
      <mc:AlternateContent xmlns:mc="http://schemas.openxmlformats.org/markup-compatibility/2006">
        <mc:Choice xmlns:a14="http://schemas.microsoft.com/office/drawing/2010/main" Requires="a14">
          <p:sp>
            <p:nvSpPr>
              <p:cNvPr id="13" name="TextBox 12"/>
              <p:cNvSpPr txBox="1"/>
              <p:nvPr/>
            </p:nvSpPr>
            <p:spPr>
              <a:xfrm>
                <a:off x="1097280" y="4568986"/>
                <a:ext cx="9235440" cy="774123"/>
              </a:xfrm>
              <a:prstGeom prst="rect">
                <a:avLst/>
              </a:prstGeom>
              <a:noFill/>
            </p:spPr>
            <p:txBody>
              <a:bodyPr wrap="square" anchor="ctr">
                <a:spAutoFit/>
              </a:bodyPr>
              <a:lstStyle/>
              <a:p>
                <a:pPr algn="ctr">
                  <a:defRPr sz="2600" b="0" i="1">
                    <a:solidFill>
                      <a:srgbClr val="0B2B4E"/>
                    </a:solidFill>
                    <a:latin typeface="Cambria Math"/>
                  </a:defRPr>
                </a:pPr>
                <a14:m>
                  <m:oMath xmlns:m="http://schemas.openxmlformats.org/officeDocument/2006/math">
                    <m:r>
                      <m:rPr>
                        <m:sty m:val="p"/>
                      </m:rPr>
                      <a:rPr lang="en-US" sz="2600" b="0" i="0" smtClean="0">
                        <a:solidFill>
                          <a:srgbClr val="0B2B4E"/>
                        </a:solidFill>
                        <a:latin typeface="Cambria Math"/>
                      </a:rPr>
                      <m:t>Short</m:t>
                    </m:r>
                    <m:r>
                      <a:rPr lang="en-US" sz="2600" b="0" i="0" smtClean="0">
                        <a:solidFill>
                          <a:srgbClr val="0B2B4E"/>
                        </a:solidFill>
                        <a:latin typeface="Cambria Math"/>
                      </a:rPr>
                      <m:t> </m:t>
                    </m:r>
                    <m:r>
                      <m:rPr>
                        <m:sty m:val="p"/>
                      </m:rPr>
                      <a:rPr lang="en-US" sz="2600" b="0" i="0" smtClean="0">
                        <a:solidFill>
                          <a:srgbClr val="0B2B4E"/>
                        </a:solidFill>
                        <a:latin typeface="Cambria Math"/>
                      </a:rPr>
                      <m:t>run</m:t>
                    </m:r>
                    <m:r>
                      <a:rPr lang="en-US" sz="2600" b="0" i="0" smtClean="0">
                        <a:solidFill>
                          <a:srgbClr val="0B2B4E"/>
                        </a:solidFill>
                        <a:latin typeface="Cambria Math"/>
                      </a:rPr>
                      <m:t>:   </m:t>
                    </m:r>
                    <m:r>
                      <m:rPr>
                        <m:sty m:val="p"/>
                      </m:rPr>
                      <a:rPr lang="en-US" sz="2600" b="0" i="0" smtClean="0">
                        <a:solidFill>
                          <a:srgbClr val="0B2B4E"/>
                        </a:solidFill>
                        <a:latin typeface="Cambria Math"/>
                      </a:rPr>
                      <m:t>Profit</m:t>
                    </m:r>
                    <m:r>
                      <a:rPr lang="en-US" sz="2600" b="0" i="0" smtClean="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m:t>
                    </m:r>
                    <m:limLow>
                      <m:limLowPr>
                        <m:ctrlPr>
                          <a:rPr lang="en-US" sz="2600" b="0" i="1">
                            <a:solidFill>
                              <a:srgbClr val="0B2B4E"/>
                            </a:solidFill>
                            <a:latin typeface="Cambria Math" panose="02040503050406030204" pitchFamily="18" charset="0"/>
                          </a:rPr>
                        </m:ctrlPr>
                      </m:limLowPr>
                      <m:e>
                        <m:groupChr>
                          <m:groupChrPr>
                            <m:chr m:val="⏟"/>
                            <m:pos m:val="bot"/>
                            <m:vertJc m:val="top"/>
                            <m:ctrlPr>
                              <a:rPr lang="en-US" sz="2600" b="0" i="0">
                                <a:solidFill>
                                  <a:srgbClr val="0B2B4E"/>
                                </a:solidFill>
                                <a:latin typeface="Cambria Math"/>
                              </a:rPr>
                            </m:ctrlPr>
                          </m:groupChrPr>
                          <m:e>
                            <m:r>
                              <m:rPr>
                                <m:sty m:val="p"/>
                              </m:rPr>
                              <a:rPr lang="en-US" sz="2600" b="0" i="0">
                                <a:solidFill>
                                  <a:srgbClr val="0B2B4E"/>
                                </a:solidFill>
                                <a:latin typeface="Cambria Math"/>
                              </a:rPr>
                              <m:t>TVC</m:t>
                            </m:r>
                            <m:r>
                              <a:rPr lang="en-US" sz="2600" b="0" i="0">
                                <a:solidFill>
                                  <a:srgbClr val="0B2B4E"/>
                                </a:solidFill>
                                <a:latin typeface="Cambria Math"/>
                              </a:rPr>
                              <m:t> − </m:t>
                            </m:r>
                            <m:r>
                              <m:rPr>
                                <m:sty m:val="p"/>
                              </m:rPr>
                              <a:rPr lang="en-US" sz="2600" b="0" i="0">
                                <a:solidFill>
                                  <a:srgbClr val="0B2B4E"/>
                                </a:solidFill>
                                <a:latin typeface="Cambria Math"/>
                              </a:rPr>
                              <m:t>TFC</m:t>
                            </m:r>
                          </m:e>
                        </m:groupChr>
                      </m:e>
                      <m:lim>
                        <m:r>
                          <a:rPr lang="en-US" sz="2600" b="0" i="0">
                            <a:solidFill>
                              <a:srgbClr val="0B2B4E"/>
                            </a:solidFill>
                            <a:latin typeface="Cambria Math"/>
                          </a:rPr>
                          <m:t> </m:t>
                        </m:r>
                        <m:r>
                          <m:rPr>
                            <m:sty m:val="p"/>
                          </m:rPr>
                          <a:rPr lang="en-US" sz="2600" b="0" i="0">
                            <a:solidFill>
                              <a:srgbClr val="0B2B4E"/>
                            </a:solidFill>
                            <a:latin typeface="Cambria Math"/>
                          </a:rPr>
                          <m:t>TC</m:t>
                        </m:r>
                      </m:lim>
                    </m:limLow>
                  </m:oMath>
                </a14:m>
                <a:r>
                  <a:rPr lang="en-US" sz="2000" dirty="0"/>
                  <a:t>,  where </a:t>
                </a:r>
                <a14:m>
                  <m:oMath xmlns:m="http://schemas.openxmlformats.org/officeDocument/2006/math">
                    <m:r>
                      <a:rPr lang="en-US" sz="2000" b="0" i="0" smtClean="0">
                        <a:solidFill>
                          <a:srgbClr val="0B2B4E"/>
                        </a:solidFill>
                        <a:latin typeface="Cambria Math" panose="02040503050406030204" pitchFamily="18" charset="0"/>
                      </a:rPr>
                      <m:t>  </m:t>
                    </m:r>
                    <m:r>
                      <m:rPr>
                        <m:sty m:val="p"/>
                      </m:rPr>
                      <a:rPr lang="en-US" sz="2000">
                        <a:solidFill>
                          <a:srgbClr val="0B2B4E"/>
                        </a:solidFill>
                        <a:latin typeface="Cambria Math"/>
                      </a:rPr>
                      <m:t>TVC</m:t>
                    </m:r>
                    <m:r>
                      <a:rPr lang="en-US" sz="2000" b="0" i="1" smtClean="0">
                        <a:solidFill>
                          <a:srgbClr val="0B2B4E"/>
                        </a:solidFill>
                        <a:latin typeface="Cambria Math" panose="02040503050406030204" pitchFamily="18" charset="0"/>
                      </a:rPr>
                      <m:t>=</m:t>
                    </m:r>
                    <m:r>
                      <a:rPr lang="en-US" sz="2000" b="0" i="1" smtClean="0">
                        <a:solidFill>
                          <a:srgbClr val="0B2B4E"/>
                        </a:solidFill>
                        <a:latin typeface="Cambria Math" panose="02040503050406030204" pitchFamily="18" charset="0"/>
                      </a:rPr>
                      <m:t>𝐴𝑉𝐶</m:t>
                    </m:r>
                    <m:r>
                      <a:rPr lang="en-US" sz="2000" b="0" i="1" smtClean="0">
                        <a:solidFill>
                          <a:srgbClr val="0B2B4E"/>
                        </a:solidFill>
                        <a:latin typeface="Cambria Math" panose="02040503050406030204" pitchFamily="18" charset="0"/>
                      </a:rPr>
                      <m:t>⋅</m:t>
                    </m:r>
                    <m:r>
                      <a:rPr lang="en-US" sz="2000" b="0" i="1" smtClean="0">
                        <a:solidFill>
                          <a:srgbClr val="0B2B4E"/>
                        </a:solidFill>
                        <a:latin typeface="Cambria Math" panose="02040503050406030204" pitchFamily="18" charset="0"/>
                      </a:rPr>
                      <m:t>𝑄</m:t>
                    </m:r>
                  </m:oMath>
                </a14:m>
                <a:r>
                  <a:rPr lang="en-US" sz="2000" dirty="0"/>
                  <a:t> </a:t>
                </a:r>
                <a:endParaRPr lang="en-US" sz="2600" dirty="0"/>
              </a:p>
            </p:txBody>
          </p:sp>
        </mc:Choice>
        <mc:Fallback>
          <p:sp>
            <p:nvSpPr>
              <p:cNvPr id="13" name="TextBox 12"/>
              <p:cNvSpPr txBox="1">
                <a:spLocks noRot="1" noChangeAspect="1" noMove="1" noResize="1" noEditPoints="1" noAdjustHandles="1" noChangeArrowheads="1" noChangeShapeType="1" noTextEdit="1"/>
              </p:cNvSpPr>
              <p:nvPr/>
            </p:nvSpPr>
            <p:spPr>
              <a:xfrm>
                <a:off x="1097280" y="4568986"/>
                <a:ext cx="9235440" cy="77412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1188720" y="5564552"/>
                <a:ext cx="6035040" cy="492919"/>
              </a:xfrm>
              <a:prstGeom prst="roundRect">
                <a:avLst>
                  <a:gd name="adj" fmla="val 12000"/>
                </a:avLst>
              </a:prstGeom>
              <a:solidFill>
                <a:srgbClr val="FFFFFF"/>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smtClean="0">
                          <a:solidFill>
                            <a:srgbClr val="0B2B4E"/>
                          </a:solidFill>
                          <a:latin typeface="Cambria Math"/>
                        </a:rPr>
                        <m:t>Profit</m:t>
                      </m:r>
                      <m:r>
                        <a:rPr lang="en-US" sz="2400" b="0" i="0" smtClean="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smtClean="0">
                          <a:solidFill>
                            <a:srgbClr val="B8860B"/>
                          </a:solidFill>
                          <a:latin typeface="Cambria Math" panose="02040503050406030204" pitchFamily="18" charset="0"/>
                        </a:rPr>
                        <m:t>𝑃</m:t>
                      </m:r>
                      <m:r>
                        <a:rPr lang="en-US" sz="2400" b="0" i="0" smtClean="0">
                          <a:solidFill>
                            <a:srgbClr val="B8860B"/>
                          </a:solidFill>
                          <a:latin typeface="Cambria Math" panose="02040503050406030204" pitchFamily="18" charset="0"/>
                        </a:rPr>
                        <m:t>−</m:t>
                      </m:r>
                      <m:r>
                        <m:rPr>
                          <m:sty m:val="p"/>
                        </m:rPr>
                        <a:rPr lang="en-US" sz="2400" b="0" i="0" smtClean="0">
                          <a:solidFill>
                            <a:srgbClr val="B8860B"/>
                          </a:solidFill>
                          <a:latin typeface="Cambria Math" panose="02040503050406030204" pitchFamily="18" charset="0"/>
                        </a:rPr>
                        <m:t>AVC</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m:rPr>
                          <m:sty m:val="p"/>
                        </m:rPr>
                        <a:rPr lang="en-US" sz="2400" b="0" i="0">
                          <a:solidFill>
                            <a:srgbClr val="C00000"/>
                          </a:solidFill>
                          <a:latin typeface="Cambria Math"/>
                        </a:rPr>
                        <m:t>TFC</m:t>
                      </m:r>
                    </m:oMath>
                  </m:oMathPara>
                </a14:m>
                <a:endParaRPr lang="en-US" sz="2400" dirty="0"/>
              </a:p>
            </p:txBody>
          </p:sp>
        </mc:Choice>
        <mc:Fallback>
          <p:sp>
            <p:nvSpPr>
              <p:cNvPr id="14" name="TextBox 13"/>
              <p:cNvSpPr txBox="1">
                <a:spLocks noRot="1" noChangeAspect="1" noMove="1" noResize="1" noEditPoints="1" noAdjustHandles="1" noChangeArrowheads="1" noChangeShapeType="1" noTextEdit="1"/>
              </p:cNvSpPr>
              <p:nvPr/>
            </p:nvSpPr>
            <p:spPr>
              <a:xfrm>
                <a:off x="1188720" y="5564552"/>
                <a:ext cx="6035040" cy="492919"/>
              </a:xfrm>
              <a:prstGeom prst="roundRect">
                <a:avLst>
                  <a:gd name="adj" fmla="val 12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14D1F605-67F4-99C2-47B2-C1DD4B8A1498}"/>
              </a:ext>
            </a:extLst>
          </p:cNvPr>
          <p:cNvGrpSpPr/>
          <p:nvPr/>
        </p:nvGrpSpPr>
        <p:grpSpPr>
          <a:xfrm>
            <a:off x="6665976" y="5815584"/>
            <a:ext cx="4718304" cy="548640"/>
            <a:chOff x="6665976" y="5815584"/>
            <a:chExt cx="4718304" cy="548640"/>
          </a:xfrm>
        </p:grpSpPr>
        <p:cxnSp>
          <p:nvCxnSpPr>
            <p:cNvPr id="15" name="Connector 14"/>
            <p:cNvCxnSpPr/>
            <p:nvPr/>
          </p:nvCxnSpPr>
          <p:spPr>
            <a:xfrm flipH="1" flipV="1">
              <a:off x="6665976" y="5815584"/>
              <a:ext cx="1426464" cy="210312"/>
            </a:xfrm>
            <a:prstGeom prst="line">
              <a:avLst/>
            </a:prstGeom>
            <a:ln w="3175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092440" y="5907024"/>
              <a:ext cx="3291840" cy="457200"/>
            </a:xfrm>
            <a:prstGeom prst="roundRect">
              <a:avLst>
                <a:gd name="adj" fmla="val 14000"/>
              </a:avLst>
            </a:prstGeom>
            <a:solidFill>
              <a:srgbClr val="C00000">
                <a:alpha val="15000"/>
              </a:srgbClr>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1">
                  <a:solidFill>
                    <a:srgbClr val="0B2B4E"/>
                  </a:solidFill>
                  <a:latin typeface="Calibri"/>
                </a:rPr>
                <a:t>Fixed costs still have to be paid</a:t>
              </a:r>
            </a:p>
          </p:txBody>
        </p:sp>
      </p:gr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9B1978F4-5072-5BCF-94F0-DCD91FB47F0D}" type="slidenum">
              <a:rPr lang="en-US" sz="1200" dirty="0">
                <a:solidFill>
                  <a:srgbClr val="555B66"/>
                </a:solidFill>
                <a:latin typeface="Calibri"/>
              </a:rPr>
              <a:t>31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Short Run Decision to Stop Production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22" name="Group pair 122"/>
          <p:cNvGrpSpPr/>
          <p:nvPr/>
        </p:nvGrpSpPr>
        <p:grpSpPr>
          <a:xfrm>
            <a:off x="1325880" y="1444752"/>
            <a:ext cx="9555480" cy="548640"/>
            <a:chOff x="1325880" y="1444752"/>
            <a:chExt cx="9555480" cy="548640"/>
          </a:xfrm>
        </p:grpSpPr>
        <p:sp>
          <p:nvSpPr>
            <p:cNvPr id="7" name="Rounded Rectangle 6"/>
            <p:cNvSpPr/>
            <p:nvPr/>
          </p:nvSpPr>
          <p:spPr>
            <a:xfrm>
              <a:off x="1325880" y="1444752"/>
              <a:ext cx="9555480" cy="548640"/>
            </a:xfrm>
            <a:prstGeom prst="roundRect">
              <a:avLst>
                <a:gd name="adj" fmla="val 14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554480"/>
              <a:ext cx="9189720" cy="329184"/>
            </a:xfrm>
            <a:prstGeom prst="rect">
              <a:avLst/>
            </a:prstGeom>
            <a:noFill/>
          </p:spPr>
          <p:txBody>
            <a:bodyPr wrap="square" lIns="45720" tIns="0" rIns="45720" bIns="0" anchor="ctr">
              <a:spAutoFit/>
            </a:bodyPr>
            <a:lstStyle/>
            <a:p>
              <a:pPr algn="ctr"/>
              <a:r>
                <a:rPr sz="2000" b="1" i="0" u="none">
                  <a:solidFill>
                    <a:srgbClr val="0B2B4E"/>
                  </a:solidFill>
                  <a:latin typeface="Calibri"/>
                </a:rPr>
                <a:t>In the short run, fixed costs have to be paid even if the firm does not produce</a:t>
              </a:r>
            </a:p>
          </p:txBody>
        </p:sp>
      </p:grpSp>
      <p:sp>
        <p:nvSpPr>
          <p:cNvPr id="9" name="Rounded Rectangle 8"/>
          <p:cNvSpPr/>
          <p:nvPr/>
        </p:nvSpPr>
        <p:spPr>
          <a:xfrm>
            <a:off x="640080" y="2194560"/>
            <a:ext cx="534924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Option 1: continue to produce</a:t>
            </a:r>
          </a:p>
        </p:txBody>
      </p:sp>
      <p:sp>
        <p:nvSpPr>
          <p:cNvPr id="10" name="Rounded Rectangle 9"/>
          <p:cNvSpPr/>
          <p:nvPr/>
        </p:nvSpPr>
        <p:spPr>
          <a:xfrm>
            <a:off x="6309360" y="2194560"/>
            <a:ext cx="534924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Option 2: stop production</a:t>
            </a:r>
          </a:p>
        </p:txBody>
      </p:sp>
      <mc:AlternateContent xmlns:mc="http://schemas.openxmlformats.org/markup-compatibility/2006" xmlns:a14="http://schemas.microsoft.com/office/drawing/2010/main">
        <mc:Choice Requires="a14">
          <p:sp>
            <p:nvSpPr>
              <p:cNvPr id="11" name="TextBox 10"/>
              <p:cNvSpPr txBox="1"/>
              <p:nvPr/>
            </p:nvSpPr>
            <p:spPr>
              <a:xfrm>
                <a:off x="640080" y="3008376"/>
                <a:ext cx="5349240" cy="45720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AVC</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m:rPr>
                          <m:sty m:val="p"/>
                        </m:rPr>
                        <a:rPr lang="en-US" sz="2400" b="0" i="0">
                          <a:solidFill>
                            <a:srgbClr val="0B2B4E"/>
                          </a:solidFill>
                          <a:latin typeface="Cambria Math"/>
                        </a:rPr>
                        <m:t>TFC</m:t>
                      </m:r>
                    </m:oMath>
                  </m:oMathPara>
                </a14:m>
                <a:endParaRPr lang="en-US" sz="2400"/>
              </a:p>
            </p:txBody>
          </p:sp>
        </mc:Choice>
        <mc:Fallback xmlns="">
          <p:sp>
            <p:nvSpPr>
              <p:cNvPr id="11" name="TextBox 10"/>
              <p:cNvSpPr txBox="1">
                <a:spLocks noRot="1" noChangeAspect="1" noMove="1" noResize="1" noEditPoints="1" noAdjustHandles="1" noChangeArrowheads="1" noChangeShapeType="1" noTextEdit="1"/>
              </p:cNvSpPr>
              <p:nvPr/>
            </p:nvSpPr>
            <p:spPr>
              <a:xfrm>
                <a:off x="640080" y="3008376"/>
                <a:ext cx="5349240" cy="457200"/>
              </a:xfrm>
              <a:prstGeom prst="rect">
                <a:avLst/>
              </a:prstGeom>
              <a:blipFill>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6309360" y="2999232"/>
                <a:ext cx="5349240" cy="493776"/>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Profit</m:t>
                      </m:r>
                      <m:r>
                        <a:rPr lang="en-US" sz="2400" b="0" i="0">
                          <a:solidFill>
                            <a:srgbClr val="0B2B4E"/>
                          </a:solidFill>
                          <a:latin typeface="Cambria Math"/>
                        </a:rPr>
                        <m:t>:  </m:t>
                      </m:r>
                      <m:r>
                        <a:rPr lang="en-US" sz="2400" b="0" i="1">
                          <a:solidFill>
                            <a:srgbClr val="0B2B4E"/>
                          </a:solidFill>
                          <a:latin typeface="Cambria Math"/>
                          <a:ea typeface="Cambria Math"/>
                        </a:rPr>
                        <m:t>𝜋</m:t>
                      </m:r>
                      <m:r>
                        <a:rPr lang="en-US" sz="2400" b="0" i="0">
                          <a:solidFill>
                            <a:srgbClr val="0B2B4E"/>
                          </a:solidFill>
                          <a:latin typeface="Cambria Math"/>
                        </a:rPr>
                        <m:t> = − </m:t>
                      </m:r>
                      <m:r>
                        <m:rPr>
                          <m:sty m:val="p"/>
                        </m:rPr>
                        <a:rPr lang="en-US" sz="2400" b="0" i="0">
                          <a:solidFill>
                            <a:srgbClr val="0B2B4E"/>
                          </a:solidFill>
                          <a:latin typeface="Cambria Math"/>
                        </a:rPr>
                        <m:t>TFC</m:t>
                      </m:r>
                    </m:oMath>
                  </m:oMathPara>
                </a14:m>
                <a:endParaRPr lang="en-US" sz="2400"/>
              </a:p>
            </p:txBody>
          </p:sp>
        </mc:Choice>
        <mc:Fallback xmlns="">
          <p:sp>
            <p:nvSpPr>
              <p:cNvPr id="12" name="TextBox 11"/>
              <p:cNvSpPr txBox="1">
                <a:spLocks noRot="1" noChangeAspect="1" noMove="1" noResize="1" noEditPoints="1" noAdjustHandles="1" noChangeArrowheads="1" noChangeShapeType="1" noTextEdit="1"/>
              </p:cNvSpPr>
              <p:nvPr/>
            </p:nvSpPr>
            <p:spPr>
              <a:xfrm>
                <a:off x="6309360" y="2999232"/>
                <a:ext cx="5349240" cy="493776"/>
              </a:xfrm>
              <a:prstGeom prst="rect">
                <a:avLst/>
              </a:prstGeom>
              <a:blipFill>
                <a:blip r:embed="rId4"/>
                <a:stretch>
                  <a:fillRect/>
                </a:stretch>
              </a:blipFill>
            </p:spPr>
            <p:txBody>
              <a:bodyPr/>
              <a:lstStyle/>
              <a:p>
                <a:r>
                  <a:rPr lang="en-US">
                    <a:noFill/>
                  </a:rPr>
                  <a:t> </a:t>
                </a:r>
              </a:p>
            </p:txBody>
          </p:sp>
        </mc:Fallback>
      </mc:AlternateContent>
      <p:sp>
        <p:nvSpPr>
          <p:cNvPr id="13" name="TextBox 12"/>
          <p:cNvSpPr txBox="1"/>
          <p:nvPr/>
        </p:nvSpPr>
        <p:spPr>
          <a:xfrm>
            <a:off x="640080" y="3675887"/>
            <a:ext cx="5349240" cy="292388"/>
          </a:xfrm>
          <a:prstGeom prst="rect">
            <a:avLst/>
          </a:prstGeom>
          <a:noFill/>
        </p:spPr>
        <p:txBody>
          <a:bodyPr wrap="square" lIns="0" tIns="0" rIns="0" bIns="0">
            <a:spAutoFit/>
          </a:bodyPr>
          <a:lstStyle/>
          <a:p>
            <a:pPr algn="ctr"/>
            <a:r>
              <a:rPr sz="1900" b="0" i="1" u="none" dirty="0">
                <a:solidFill>
                  <a:srgbClr val="555B66"/>
                </a:solidFill>
                <a:latin typeface="Calibri"/>
              </a:rPr>
              <a:t>Producing adds (P − AVC) · Q </a:t>
            </a:r>
            <a:r>
              <a:rPr lang="en-US" sz="1900" b="0" i="1" u="none" dirty="0">
                <a:solidFill>
                  <a:srgbClr val="555B66"/>
                </a:solidFill>
                <a:latin typeface="Calibri"/>
              </a:rPr>
              <a:t> to cover fixed costs</a:t>
            </a:r>
            <a:endParaRPr sz="1900" b="0" i="1" u="none" dirty="0">
              <a:solidFill>
                <a:srgbClr val="555B66"/>
              </a:solidFill>
              <a:latin typeface="Calibri"/>
            </a:endParaRPr>
          </a:p>
        </p:txBody>
      </p:sp>
      <p:sp>
        <p:nvSpPr>
          <p:cNvPr id="14" name="TextBox 13"/>
          <p:cNvSpPr txBox="1"/>
          <p:nvPr/>
        </p:nvSpPr>
        <p:spPr>
          <a:xfrm>
            <a:off x="6309360" y="3675887"/>
            <a:ext cx="5349240" cy="292388"/>
          </a:xfrm>
          <a:prstGeom prst="rect">
            <a:avLst/>
          </a:prstGeom>
          <a:noFill/>
        </p:spPr>
        <p:txBody>
          <a:bodyPr wrap="square" lIns="0" tIns="0" rIns="0" bIns="0">
            <a:spAutoFit/>
          </a:bodyPr>
          <a:lstStyle/>
          <a:p>
            <a:pPr algn="ctr"/>
            <a:r>
              <a:rPr lang="en-US" sz="1900" i="1" dirty="0">
                <a:solidFill>
                  <a:srgbClr val="555B66"/>
                </a:solidFill>
                <a:latin typeface="Calibri"/>
              </a:rPr>
              <a:t>Continue to pay the full</a:t>
            </a:r>
            <a:r>
              <a:rPr sz="1900" b="0" i="1" u="none" dirty="0">
                <a:solidFill>
                  <a:srgbClr val="555B66"/>
                </a:solidFill>
                <a:latin typeface="Calibri"/>
              </a:rPr>
              <a:t> fixed costs</a:t>
            </a:r>
          </a:p>
        </p:txBody>
      </p:sp>
      <p:cxnSp>
        <p:nvCxnSpPr>
          <p:cNvPr id="15" name="Connector 14"/>
          <p:cNvCxnSpPr/>
          <p:nvPr/>
        </p:nvCxnSpPr>
        <p:spPr>
          <a:xfrm>
            <a:off x="3310128" y="4160520"/>
            <a:ext cx="1581912" cy="429768"/>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7397496" y="4160520"/>
            <a:ext cx="1581912" cy="429768"/>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1463040" y="4663440"/>
                <a:ext cx="9235440" cy="704088"/>
              </a:xfrm>
              <a:prstGeom prst="rect">
                <a:avLst/>
              </a:prstGeom>
              <a:noFill/>
            </p:spPr>
            <p:txBody>
              <a:bodyPr wrap="square" lIns="45720" tIns="0" rIns="45720" bIns="0">
                <a:spAutoFit/>
              </a:bodyPr>
              <a:lstStyle/>
              <a:p>
                <a:pPr algn="ctr"/>
                <a:r>
                  <a:rPr lang="en-US" sz="2200">
                    <a:solidFill>
                      <a:srgbClr val="0B2B4E"/>
                    </a:solidFill>
                    <a:latin typeface="Calibri"/>
                  </a:rPr>
                  <a:t>Difference in profits when producing:</a:t>
                </a:r>
                <a:endParaRPr lang="en-US"/>
              </a:p>
              <a:p>
                <a:pPr algn="ctr"/>
                <a14:m>
                  <m:oMathPara xmlns:m="http://schemas.openxmlformats.org/officeDocument/2006/math">
                    <m:oMath>
                      <m:r>
                        <m:rPr>
                          <m:sty m:val="p"/>
                        </m:rPr>
                        <a:rPr lang="en-US" sz="2400" b="0" i="0">
                          <a:solidFill>
                            <a:srgbClr val="0B2B4E"/>
                          </a:solidFill>
                          <a:latin typeface="Cambria Math"/>
                        </a:rPr>
                        <m:t>Δ</m:t>
                      </m:r>
                      <m:r>
                        <a:rPr lang="en-US" sz="2400" b="0" i="1">
                          <a:solidFill>
                            <a:srgbClr val="0B2B4E"/>
                          </a:solidFill>
                          <a:latin typeface="Cambria Math"/>
                          <a:ea typeface="Cambria Math"/>
                        </a:rPr>
                        <m:t>𝜋</m:t>
                      </m:r>
                      <m:r>
                        <a:rPr lang="en-US" sz="2400" b="0" i="0">
                          <a:solidFill>
                            <a:srgbClr val="0B2B4E"/>
                          </a:solidFill>
                          <a:latin typeface="Cambria Math"/>
                        </a:rPr>
                        <m:t> = </m:t>
                      </m:r>
                      <m:r>
                        <a:rPr lang="en-US" sz="2400" b="0" i="1">
                          <a:solidFill>
                            <a:srgbClr val="0B2B4E"/>
                          </a:solidFill>
                          <a:latin typeface="Cambria Math"/>
                          <a:ea typeface="Cambria Math"/>
                        </a:rPr>
                        <m:t>𝑄</m:t>
                      </m:r>
                      <m:r>
                        <a:rPr lang="en-US" sz="2400" b="0" i="0">
                          <a:solidFill>
                            <a:srgbClr val="0B2B4E"/>
                          </a:solidFill>
                          <a:latin typeface="Cambria Math"/>
                        </a:rPr>
                        <m:t> · (</m:t>
                      </m:r>
                      <m:r>
                        <a:rPr lang="en-US" sz="2400" b="0" i="1">
                          <a:solidFill>
                            <a:srgbClr val="0B2B4E"/>
                          </a:solidFill>
                          <a:latin typeface="Cambria Math"/>
                          <a:ea typeface="Cambria Math"/>
                        </a:rPr>
                        <m:t>𝑃</m:t>
                      </m:r>
                      <m:r>
                        <a:rPr lang="en-US" sz="2400" b="0" i="0">
                          <a:solidFill>
                            <a:srgbClr val="0B2B4E"/>
                          </a:solidFill>
                          <a:latin typeface="Cambria Math"/>
                        </a:rPr>
                        <m:t> − </m:t>
                      </m:r>
                      <m:r>
                        <m:rPr>
                          <m:sty m:val="p"/>
                        </m:rPr>
                        <a:rPr lang="en-US" sz="2400" b="0" i="0">
                          <a:solidFill>
                            <a:srgbClr val="0B2B4E"/>
                          </a:solidFill>
                          <a:latin typeface="Cambria Math"/>
                        </a:rPr>
                        <m:t>AVC</m:t>
                      </m:r>
                      <m:r>
                        <a:rPr lang="en-US" sz="2400" b="0" i="0">
                          <a:solidFill>
                            <a:srgbClr val="0B2B4E"/>
                          </a:solidFill>
                          <a:latin typeface="Cambria Math"/>
                        </a:rPr>
                        <m:t>)</m:t>
                      </m:r>
                    </m:oMath>
                  </m:oMathPara>
                </a14:m>
                <a:endParaRPr lang="en-US"/>
              </a:p>
            </p:txBody>
          </p:sp>
        </mc:Choice>
        <mc:Fallback xmlns="">
          <p:sp>
            <p:nvSpPr>
              <p:cNvPr id="17" name="TextBox 16"/>
              <p:cNvSpPr txBox="1">
                <a:spLocks noRot="1" noChangeAspect="1" noMove="1" noResize="1" noEditPoints="1" noAdjustHandles="1" noChangeArrowheads="1" noChangeShapeType="1" noTextEdit="1"/>
              </p:cNvSpPr>
              <p:nvPr/>
            </p:nvSpPr>
            <p:spPr>
              <a:xfrm>
                <a:off x="1463040" y="4663440"/>
                <a:ext cx="9235440" cy="704088"/>
              </a:xfrm>
              <a:prstGeom prst="rect">
                <a:avLst/>
              </a:prstGeom>
              <a:blipFill>
                <a:blip r:embed="rId5"/>
                <a:stretch>
                  <a:fillRect t="-12069" b="-17241"/>
                </a:stretch>
              </a:blipFill>
            </p:spPr>
            <p:txBody>
              <a:bodyPr/>
              <a:lstStyle/>
              <a:p>
                <a:r>
                  <a:rPr lang="en-US">
                    <a:noFill/>
                  </a:rPr>
                  <a:t> </a:t>
                </a:r>
              </a:p>
            </p:txBody>
          </p:sp>
        </mc:Fallback>
      </mc:AlternateContent>
      <p:sp>
        <p:nvSpPr>
          <p:cNvPr id="18" name="Rounded Rectangle 17"/>
          <p:cNvSpPr/>
          <p:nvPr/>
        </p:nvSpPr>
        <p:spPr>
          <a:xfrm>
            <a:off x="1417320" y="5596128"/>
            <a:ext cx="9326880" cy="566928"/>
          </a:xfrm>
          <a:prstGeom prst="roundRect">
            <a:avLst>
              <a:gd name="adj" fmla="val 30000"/>
            </a:avLst>
          </a:prstGeom>
          <a:solidFill>
            <a:srgbClr val="C00000">
              <a:alpha val="22000"/>
            </a:srgbClr>
          </a:solidFill>
          <a:ln w="952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   Rule: Continue to produce if  P ≥ AVC        ·        Stop production if  P &lt; AVC</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2" name="TextBox 21"/>
          <p:cNvSpPr txBox="1"/>
          <p:nvPr/>
        </p:nvSpPr>
        <p:spPr>
          <a:xfrm>
            <a:off x="11475720" y="6583680"/>
            <a:ext cx="502920" cy="292608"/>
          </a:xfrm>
          <a:prstGeom prst="rect">
            <a:avLst/>
          </a:prstGeom>
          <a:noFill/>
        </p:spPr>
        <p:txBody>
          <a:bodyPr wrap="none" lIns="0" tIns="0" rIns="0" bIns="0">
            <a:spAutoFit/>
          </a:bodyPr>
          <a:lstStyle/>
          <a:p>
            <a:pPr algn="r"/>
            <a:fld id="{30D31416-194B-5A00-B3A6-15F79A5666DC}" type="slidenum">
              <a:rPr lang="en-US" sz="1200" dirty="0">
                <a:solidFill>
                  <a:srgbClr val="555B66"/>
                </a:solidFill>
                <a:latin typeface="Calibri"/>
              </a:rPr>
              <a:t>32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dirty="0">
                <a:solidFill>
                  <a:srgbClr val="0B2B4E"/>
                </a:solidFill>
                <a:latin typeface="Calibri"/>
              </a:rPr>
              <a:t>Optimizing in the Short Run: A New Market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63040"/>
            <a:ext cx="11338560" cy="11887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dirty="0">
                <a:latin typeface="Calibri"/>
              </a:rPr>
              <a:t>The US starts importing large quantities of cabbage from China</a:t>
            </a:r>
          </a:p>
          <a:p>
            <a:pPr algn="l"/>
            <a:r>
              <a:rPr dirty="0">
                <a:latin typeface="Calibri"/>
              </a:rPr>
              <a:t>The US market price drops from $400 to </a:t>
            </a:r>
            <a:r>
              <a:rPr sz="2800" b="1" dirty="0">
                <a:solidFill>
                  <a:srgbClr val="C00000"/>
                </a:solidFill>
                <a:latin typeface="Calibri"/>
              </a:rPr>
              <a:t>$210 per ton</a:t>
            </a:r>
          </a:p>
        </p:txBody>
      </p:sp>
      <mc:AlternateContent xmlns:mc="http://schemas.openxmlformats.org/markup-compatibility/2006" xmlns:a14="http://schemas.microsoft.com/office/drawing/2010/main">
        <mc:Choice Requires="a14">
          <p:sp>
            <p:nvSpPr>
              <p:cNvPr id="8" name="TextBox 7"/>
              <p:cNvSpPr txBox="1"/>
              <p:nvPr/>
            </p:nvSpPr>
            <p:spPr>
              <a:xfrm>
                <a:off x="389159" y="2788920"/>
                <a:ext cx="11338560" cy="502920"/>
              </a:xfrm>
              <a:prstGeom prst="rect">
                <a:avLst/>
              </a:prstGeom>
              <a:noFill/>
            </p:spPr>
            <p:txBody>
              <a:bodyPr wrap="square" lIns="45720" tIns="0" rIns="45720" bIns="0">
                <a:spAutoFit/>
              </a:bodyPr>
              <a:lstStyle/>
              <a:p>
                <a:r>
                  <a:rPr lang="en-US" sz="2400" dirty="0">
                    <a:solidFill>
                      <a:srgbClr val="0B2B4E"/>
                    </a:solidFill>
                    <a:latin typeface="Calibri"/>
                  </a:rPr>
                  <a:t>Remember:   </a:t>
                </a:r>
                <a14:m>
                  <m:oMath xmlns:m="http://schemas.openxmlformats.org/officeDocument/2006/math">
                    <m:r>
                      <m:rPr>
                        <m:sty m:val="p"/>
                      </m:rPr>
                      <a:rPr lang="en-US" sz="2400" b="0" i="0">
                        <a:solidFill>
                          <a:srgbClr val="0B2B4E"/>
                        </a:solidFill>
                        <a:latin typeface="Cambria Math"/>
                      </a:rPr>
                      <m:t>TC</m:t>
                    </m:r>
                    <m:r>
                      <a:rPr lang="en-US" sz="2400" b="0" i="0">
                        <a:solidFill>
                          <a:srgbClr val="0B2B4E"/>
                        </a:solidFill>
                        <a:latin typeface="Cambria Math"/>
                      </a:rPr>
                      <m:t> = 60,000 + 135</m:t>
                    </m:r>
                    <m:r>
                      <a:rPr lang="en-US" sz="2400" b="0" i="1">
                        <a:solidFill>
                          <a:srgbClr val="0B2B4E"/>
                        </a:solidFill>
                        <a:latin typeface="Cambria Math"/>
                        <a:ea typeface="Cambria Math"/>
                      </a:rPr>
                      <m:t>𝑄</m:t>
                    </m:r>
                    <m:r>
                      <a:rPr lang="en-US" sz="2400" b="0" i="0">
                        <a:solidFill>
                          <a:srgbClr val="0B2B4E"/>
                        </a:solidFill>
                        <a:latin typeface="Cambria Math"/>
                      </a:rPr>
                      <m:t> + 0.2</m:t>
                    </m:r>
                    <m:sSup>
                      <m:sSupPr>
                        <m:ctrlPr>
                          <a:rPr lang="en-US" sz="2400" b="0" i="1">
                            <a:solidFill>
                              <a:srgbClr val="0B2B4E"/>
                            </a:solidFill>
                            <a:latin typeface="Cambria Math"/>
                            <a:ea typeface="Cambria Math"/>
                          </a:rPr>
                        </m:ctrlPr>
                      </m:sSupPr>
                      <m:e>
                        <m:r>
                          <a:rPr lang="en-US" sz="2400" b="0" i="1">
                            <a:solidFill>
                              <a:srgbClr val="0B2B4E"/>
                            </a:solidFill>
                            <a:latin typeface="Cambria Math"/>
                            <a:ea typeface="Cambria Math"/>
                          </a:rPr>
                          <m:t>𝑄</m:t>
                        </m:r>
                      </m:e>
                      <m:sup>
                        <m:r>
                          <a:rPr lang="en-US" sz="2400" b="0" i="0">
                            <a:solidFill>
                              <a:srgbClr val="0B2B4E"/>
                            </a:solidFill>
                            <a:latin typeface="Cambria Math"/>
                          </a:rPr>
                          <m:t>2</m:t>
                        </m:r>
                      </m:sup>
                    </m:sSup>
                  </m:oMath>
                </a14:m>
                <a:endParaRPr lang="en-US" dirty="0"/>
              </a:p>
            </p:txBody>
          </p:sp>
        </mc:Choice>
        <mc:Fallback xmlns="">
          <p:sp>
            <p:nvSpPr>
              <p:cNvPr id="8" name="TextBox 7"/>
              <p:cNvSpPr txBox="1">
                <a:spLocks noRot="1" noChangeAspect="1" noMove="1" noResize="1" noEditPoints="1" noAdjustHandles="1" noChangeArrowheads="1" noChangeShapeType="1" noTextEdit="1"/>
              </p:cNvSpPr>
              <p:nvPr/>
            </p:nvSpPr>
            <p:spPr>
              <a:xfrm>
                <a:off x="389159" y="2788920"/>
                <a:ext cx="11338560" cy="502920"/>
              </a:xfrm>
              <a:prstGeom prst="rect">
                <a:avLst/>
              </a:prstGeom>
              <a:blipFill>
                <a:blip r:embed="rId3"/>
                <a:stretch>
                  <a:fillRect l="-1237" t="-19512" b="-9756"/>
                </a:stretch>
              </a:blipFill>
            </p:spPr>
            <p:txBody>
              <a:bodyPr/>
              <a:lstStyle/>
              <a:p>
                <a:r>
                  <a:rPr lang="en-US">
                    <a:noFill/>
                  </a:rPr>
                  <a:t> </a:t>
                </a:r>
              </a:p>
            </p:txBody>
          </p:sp>
        </mc:Fallback>
      </mc:AlternateContent>
      <p:sp>
        <p:nvSpPr>
          <p:cNvPr id="9" name="TextBox 8"/>
          <p:cNvSpPr txBox="1"/>
          <p:nvPr/>
        </p:nvSpPr>
        <p:spPr>
          <a:xfrm>
            <a:off x="389159" y="3529584"/>
            <a:ext cx="11338560" cy="384048"/>
          </a:xfrm>
          <a:prstGeom prst="rect">
            <a:avLst/>
          </a:prstGeom>
          <a:noFill/>
        </p:spPr>
        <p:txBody>
          <a:bodyPr wrap="square" lIns="0" tIns="0" rIns="0" bIns="0">
            <a:spAutoFit/>
          </a:bodyPr>
          <a:lstStyle/>
          <a:p>
            <a:pPr algn="l"/>
            <a:r>
              <a:rPr sz="2500" b="1" i="0" u="none" dirty="0">
                <a:solidFill>
                  <a:srgbClr val="0B2B4E"/>
                </a:solidFill>
                <a:latin typeface="Calibri"/>
              </a:rPr>
              <a:t>Questions</a:t>
            </a:r>
          </a:p>
        </p:txBody>
      </p:sp>
      <p:sp>
        <p:nvSpPr>
          <p:cNvPr id="10" name="TextBox 9"/>
          <p:cNvSpPr txBox="1"/>
          <p:nvPr/>
        </p:nvSpPr>
        <p:spPr>
          <a:xfrm>
            <a:off x="754919" y="4041648"/>
            <a:ext cx="10241280" cy="17373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400" dirty="0">
                <a:solidFill>
                  <a:srgbClr val="0B2B4E"/>
                </a:solidFill>
                <a:latin typeface="Calibri"/>
              </a:rPr>
              <a:t>1.   What quantity should the Yi family now produce?</a:t>
            </a:r>
          </a:p>
          <a:p>
            <a:pPr algn="l">
              <a:spcBef>
                <a:spcPts val="1600"/>
              </a:spcBef>
              <a:buNone/>
            </a:pPr>
            <a:r>
              <a:rPr sz="2400" dirty="0">
                <a:solidFill>
                  <a:srgbClr val="0B2B4E"/>
                </a:solidFill>
                <a:latin typeface="Calibri"/>
              </a:rPr>
              <a:t>2.   What profit do they make at that quantity?</a:t>
            </a:r>
          </a:p>
          <a:p>
            <a:pPr algn="l">
              <a:spcBef>
                <a:spcPts val="1600"/>
              </a:spcBef>
              <a:buNone/>
            </a:pPr>
            <a:r>
              <a:rPr sz="2400" dirty="0">
                <a:solidFill>
                  <a:srgbClr val="0B2B4E"/>
                </a:solidFill>
                <a:latin typeface="Calibri"/>
              </a:rPr>
              <a:t>3.   Should they continue to produce in the short run?</a:t>
            </a:r>
          </a:p>
        </p:txBody>
      </p:sp>
      <p:sp>
        <p:nvSpPr>
          <p:cNvPr id="11" name="Rounded Rectangle 10"/>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FA77B120-AE11-5A98-8297-21B9F13CAFCC}" type="slidenum">
              <a:rPr lang="en-US" sz="1200" dirty="0">
                <a:solidFill>
                  <a:srgbClr val="555B66"/>
                </a:solidFill>
                <a:latin typeface="Calibri"/>
              </a:rPr>
              <a:t>33</a:t>
            </a:fld>
            <a:endParaRPr lang="en-US" sz="1200" dirty="0">
              <a:solidFill>
                <a:srgbClr val="555B66"/>
              </a:solidFill>
              <a:latin typeface="Calibri"/>
            </a:endParaRPr>
          </a:p>
        </p:txBody>
      </p:sp>
      <p:grpSp>
        <p:nvGrpSpPr>
          <p:cNvPr id="9600" name="PollBreakBadge"/>
          <p:cNvGrpSpPr/>
          <p:nvPr/>
        </p:nvGrpSpPr>
        <p:grpSpPr>
          <a:xfrm>
            <a:off x="9361444" y="6190030"/>
            <a:ext cx="2697480" cy="487009"/>
            <a:chOff x="9361444" y="6190030"/>
            <a:chExt cx="2697480" cy="487009"/>
          </a:xfrm>
        </p:grpSpPr>
        <p:sp>
          <p:nvSpPr>
            <p:cNvPr id="960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0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build="allAtOnce"/>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EEE26DBA-C36C-5B3F-8E1B-6361AB288404}" type="slidenum">
              <a:rPr lang="en-US" sz="1200" dirty="0">
                <a:solidFill>
                  <a:srgbClr val="555B66"/>
                </a:solidFill>
                <a:latin typeface="Calibri"/>
              </a:rPr>
              <a:t>34</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8D8E8DC1-E83C-550A-90CE-5A4FE1AC3CB9}" type="slidenum">
              <a:rPr lang="en-US" sz="1200" dirty="0">
                <a:solidFill>
                  <a:srgbClr val="555B66"/>
                </a:solidFill>
                <a:latin typeface="Calibri"/>
              </a:rPr>
              <a:t>35</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14F192E9-C2AB-5E74-ADC9-1E69D7BE0674}" type="slidenum">
              <a:rPr lang="en-US" sz="1200" dirty="0">
                <a:solidFill>
                  <a:srgbClr val="555B66"/>
                </a:solidFill>
                <a:latin typeface="Calibri"/>
              </a:rPr>
              <a:t>36</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r>
              <a:rPr lang="en-US" sz="3200" b="1" dirty="0">
                <a:solidFill>
                  <a:srgbClr val="0B2B4E"/>
                </a:solidFill>
              </a:rPr>
              <a:t>Solution: </a:t>
            </a:r>
            <a:r>
              <a:rPr sz="3200" b="1" i="0" u="none" dirty="0">
                <a:solidFill>
                  <a:srgbClr val="0B2B4E"/>
                </a:solidFill>
                <a:latin typeface="Calibri"/>
              </a:rPr>
              <a:t>New Q* and Profit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261872"/>
            <a:ext cx="4108950" cy="369332"/>
          </a:xfrm>
          <a:prstGeom prst="rect">
            <a:avLst/>
          </a:prstGeom>
          <a:noFill/>
        </p:spPr>
        <p:txBody>
          <a:bodyPr wrap="square" lIns="0" tIns="0" rIns="0" bIns="0">
            <a:spAutoFit/>
          </a:bodyPr>
          <a:lstStyle/>
          <a:p>
            <a:pPr algn="l"/>
            <a:r>
              <a:rPr sz="2400" b="1" i="0" u="none" dirty="0">
                <a:solidFill>
                  <a:srgbClr val="0B2B4E"/>
                </a:solidFill>
                <a:latin typeface="Calibri"/>
              </a:rPr>
              <a:t>Question 1:</a:t>
            </a:r>
            <a:r>
              <a:rPr lang="en-US" sz="2400" b="1" i="0" u="none" dirty="0">
                <a:solidFill>
                  <a:srgbClr val="0B2B4E"/>
                </a:solidFill>
                <a:latin typeface="Calibri"/>
              </a:rPr>
              <a:t> Optimal Quantity</a:t>
            </a:r>
            <a:endParaRPr sz="2400" b="1" i="0" u="none" dirty="0">
              <a:solidFill>
                <a:srgbClr val="0B2B4E"/>
              </a:solidFill>
              <a:latin typeface="Calibri"/>
            </a:endParaRPr>
          </a:p>
        </p:txBody>
      </p:sp>
      <p:sp>
        <p:nvSpPr>
          <p:cNvPr id="8" name="TextBox 7"/>
          <p:cNvSpPr txBox="1"/>
          <p:nvPr/>
        </p:nvSpPr>
        <p:spPr>
          <a:xfrm>
            <a:off x="389159" y="2798064"/>
            <a:ext cx="3657600" cy="369332"/>
          </a:xfrm>
          <a:prstGeom prst="rect">
            <a:avLst/>
          </a:prstGeom>
          <a:noFill/>
        </p:spPr>
        <p:txBody>
          <a:bodyPr wrap="square" lIns="0" tIns="0" rIns="0" bIns="0">
            <a:spAutoFit/>
          </a:bodyPr>
          <a:lstStyle/>
          <a:p>
            <a:pPr algn="l"/>
            <a:r>
              <a:rPr sz="2400" b="1" i="0" u="none" dirty="0">
                <a:solidFill>
                  <a:srgbClr val="0B2B4E"/>
                </a:solidFill>
                <a:latin typeface="Calibri"/>
              </a:rPr>
              <a:t>Question 2:</a:t>
            </a:r>
            <a:r>
              <a:rPr lang="en-US" sz="2400" b="1" i="0" u="none" dirty="0">
                <a:solidFill>
                  <a:srgbClr val="0B2B4E"/>
                </a:solidFill>
                <a:latin typeface="Calibri"/>
              </a:rPr>
              <a:t> Profits</a:t>
            </a:r>
            <a:endParaRPr sz="2400" b="1" i="0" u="none" dirty="0">
              <a:solidFill>
                <a:srgbClr val="0B2B4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417320" y="1645920"/>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xmlns="">
          <p:sp>
            <p:nvSpPr>
              <p:cNvPr id="9" name="TextBox 8"/>
              <p:cNvSpPr txBox="1">
                <a:spLocks noRot="1" noChangeAspect="1" noMove="1" noResize="1" noEditPoints="1" noAdjustHandles="1" noChangeArrowheads="1" noChangeShapeType="1" noTextEdit="1"/>
              </p:cNvSpPr>
              <p:nvPr/>
            </p:nvSpPr>
            <p:spPr>
              <a:xfrm>
                <a:off x="1417320" y="1645920"/>
                <a:ext cx="9418320" cy="64008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1417320" y="2176272"/>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a:rPr lang="en-US" sz="2600" b="0" i="0">
                          <a:solidFill>
                            <a:srgbClr val="0B2B4E"/>
                          </a:solidFill>
                          <a:latin typeface="Cambria Math"/>
                        </a:rPr>
                        <m:t>135 + 0.4</m:t>
                      </m:r>
                      <m:r>
                        <a:rPr lang="en-US" sz="2600" b="0" i="1">
                          <a:solidFill>
                            <a:srgbClr val="0B2B4E"/>
                          </a:solidFill>
                          <a:latin typeface="Cambria Math"/>
                          <a:ea typeface="Cambria Math"/>
                        </a:rPr>
                        <m:t>𝑄</m:t>
                      </m:r>
                      <m:r>
                        <a:rPr lang="en-US" sz="2600" b="0" i="0">
                          <a:solidFill>
                            <a:srgbClr val="0B2B4E"/>
                          </a:solidFill>
                          <a:latin typeface="Cambria Math"/>
                        </a:rPr>
                        <m:t> = 210     →     </m:t>
                      </m:r>
                      <m:sSup>
                        <m:sSupPr>
                          <m:ctrlPr>
                            <a:rPr lang="en-US" sz="2600" b="0" i="1">
                              <a:solidFill>
                                <a:srgbClr val="C00000"/>
                              </a:solidFill>
                              <a:latin typeface="Cambria Math"/>
                              <a:ea typeface="Cambria Math"/>
                            </a:rPr>
                          </m:ctrlPr>
                        </m:sSupPr>
                        <m:e>
                          <m:r>
                            <a:rPr lang="en-US" sz="2600" b="0" i="1">
                              <a:solidFill>
                                <a:srgbClr val="C00000"/>
                              </a:solidFill>
                              <a:latin typeface="Cambria Math"/>
                              <a:ea typeface="Cambria Math"/>
                            </a:rPr>
                            <m:t>𝑄</m:t>
                          </m:r>
                        </m:e>
                        <m:sup>
                          <m:r>
                            <a:rPr lang="en-US" sz="2600" b="0" i="0">
                              <a:solidFill>
                                <a:srgbClr val="C00000"/>
                              </a:solidFill>
                              <a:latin typeface="Cambria Math"/>
                            </a:rPr>
                            <m:t>∗</m:t>
                          </m:r>
                        </m:sup>
                      </m:sSup>
                      <m:r>
                        <a:rPr lang="en-US" sz="2600" b="0" i="0">
                          <a:solidFill>
                            <a:srgbClr val="C00000"/>
                          </a:solidFill>
                          <a:latin typeface="Cambria Math"/>
                        </a:rPr>
                        <m:t> = 187.5</m:t>
                      </m:r>
                    </m:oMath>
                  </m:oMathPara>
                </a14:m>
                <a:endParaRPr lang="en-US" sz="2600"/>
              </a:p>
            </p:txBody>
          </p:sp>
        </mc:Choice>
        <mc:Fallback xmlns="">
          <p:sp>
            <p:nvSpPr>
              <p:cNvPr id="10" name="TextBox 9"/>
              <p:cNvSpPr txBox="1">
                <a:spLocks noRot="1" noChangeAspect="1" noMove="1" noResize="1" noEditPoints="1" noAdjustHandles="1" noChangeArrowheads="1" noChangeShapeType="1" noTextEdit="1"/>
              </p:cNvSpPr>
              <p:nvPr/>
            </p:nvSpPr>
            <p:spPr>
              <a:xfrm>
                <a:off x="1417320" y="2176272"/>
                <a:ext cx="9418320" cy="6400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417320" y="3182112"/>
                <a:ext cx="9418320" cy="64008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TR</m:t>
                      </m:r>
                      <m:r>
                        <a:rPr lang="en-US" sz="2600" b="0" i="0">
                          <a:solidFill>
                            <a:srgbClr val="0B2B4E"/>
                          </a:solidFill>
                          <a:latin typeface="Cambria Math"/>
                        </a:rPr>
                        <m:t> = </m:t>
                      </m:r>
                      <m:r>
                        <a:rPr lang="en-US" sz="2600" b="0" i="1">
                          <a:solidFill>
                            <a:srgbClr val="0B2B4E"/>
                          </a:solidFill>
                          <a:latin typeface="Cambria Math"/>
                          <a:ea typeface="Cambria Math"/>
                        </a:rPr>
                        <m:t>𝑃</m:t>
                      </m:r>
                      <m:r>
                        <a:rPr lang="en-US" sz="2600" b="0" i="0">
                          <a:solidFill>
                            <a:srgbClr val="0B2B4E"/>
                          </a:solidFill>
                          <a:latin typeface="Cambria Math"/>
                        </a:rPr>
                        <m:t> · </m:t>
                      </m:r>
                      <m:r>
                        <a:rPr lang="en-US" sz="2600" b="0" i="1">
                          <a:solidFill>
                            <a:srgbClr val="0B2B4E"/>
                          </a:solidFill>
                          <a:latin typeface="Cambria Math"/>
                          <a:ea typeface="Cambria Math"/>
                        </a:rPr>
                        <m:t>𝑄</m:t>
                      </m:r>
                      <m:r>
                        <a:rPr lang="en-US" sz="2600" b="0" i="0">
                          <a:solidFill>
                            <a:srgbClr val="0B2B4E"/>
                          </a:solidFill>
                          <a:latin typeface="Cambria Math"/>
                        </a:rPr>
                        <m:t> = 210 · 187.5 = 39,375</m:t>
                      </m:r>
                    </m:oMath>
                  </m:oMathPara>
                </a14:m>
                <a:endParaRPr lang="en-US" sz="2600"/>
              </a:p>
            </p:txBody>
          </p:sp>
        </mc:Choice>
        <mc:Fallback xmlns="">
          <p:sp>
            <p:nvSpPr>
              <p:cNvPr id="11" name="TextBox 10"/>
              <p:cNvSpPr txBox="1">
                <a:spLocks noRot="1" noChangeAspect="1" noMove="1" noResize="1" noEditPoints="1" noAdjustHandles="1" noChangeArrowheads="1" noChangeShapeType="1" noTextEdit="1"/>
              </p:cNvSpPr>
              <p:nvPr/>
            </p:nvSpPr>
            <p:spPr>
              <a:xfrm>
                <a:off x="1417320" y="3182112"/>
                <a:ext cx="9418320" cy="64008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1417320" y="3675887"/>
                <a:ext cx="9418320" cy="64008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
                      <m:r>
                        <m:rPr>
                          <m:sty m:val="p"/>
                        </m:rPr>
                        <a:rPr lang="en-US" sz="2400" b="0" i="0">
                          <a:solidFill>
                            <a:srgbClr val="0B2B4E"/>
                          </a:solidFill>
                          <a:latin typeface="Cambria Math"/>
                        </a:rPr>
                        <m:t>TC</m:t>
                      </m:r>
                      <m:r>
                        <a:rPr lang="en-US" sz="2400" b="0" i="0">
                          <a:solidFill>
                            <a:srgbClr val="0B2B4E"/>
                          </a:solidFill>
                          <a:latin typeface="Cambria Math"/>
                        </a:rPr>
                        <m:t> = 60,000 + 135 · 187.5 + 0.2 · </m:t>
                      </m:r>
                      <m:sSup>
                        <m:sSupPr>
                          <m:ctrlPr>
                            <a:rPr lang="en-US" sz="2400" b="0" i="0">
                              <a:solidFill>
                                <a:srgbClr val="0B2B4E"/>
                              </a:solidFill>
                              <a:latin typeface="Cambria Math"/>
                            </a:rPr>
                          </m:ctrlPr>
                        </m:sSupPr>
                        <m:e>
                          <m:r>
                            <a:rPr lang="en-US" sz="2400" b="0" i="0">
                              <a:solidFill>
                                <a:srgbClr val="0B2B4E"/>
                              </a:solidFill>
                              <a:latin typeface="Cambria Math"/>
                            </a:rPr>
                            <m:t>187.5</m:t>
                          </m:r>
                        </m:e>
                        <m:sup>
                          <m:r>
                            <a:rPr lang="en-US" sz="2400" b="0" i="0">
                              <a:solidFill>
                                <a:srgbClr val="0B2B4E"/>
                              </a:solidFill>
                              <a:latin typeface="Cambria Math"/>
                            </a:rPr>
                            <m:t>2</m:t>
                          </m:r>
                        </m:sup>
                      </m:sSup>
                      <m:r>
                        <a:rPr lang="en-US" sz="2400" b="0" i="0">
                          <a:solidFill>
                            <a:srgbClr val="0B2B4E"/>
                          </a:solidFill>
                          <a:latin typeface="Cambria Math"/>
                        </a:rPr>
                        <m:t> = 92,343.75</m:t>
                      </m:r>
                    </m:oMath>
                  </m:oMathPara>
                </a14:m>
                <a:endParaRPr lang="en-US" sz="2400"/>
              </a:p>
            </p:txBody>
          </p:sp>
        </mc:Choice>
        <mc:Fallback xmlns="">
          <p:sp>
            <p:nvSpPr>
              <p:cNvPr id="12" name="TextBox 11"/>
              <p:cNvSpPr txBox="1">
                <a:spLocks noRot="1" noChangeAspect="1" noMove="1" noResize="1" noEditPoints="1" noAdjustHandles="1" noChangeArrowheads="1" noChangeShapeType="1" noTextEdit="1"/>
              </p:cNvSpPr>
              <p:nvPr/>
            </p:nvSpPr>
            <p:spPr>
              <a:xfrm>
                <a:off x="1417320" y="3675887"/>
                <a:ext cx="9418320" cy="64008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1417320" y="4206240"/>
                <a:ext cx="9418320" cy="640080"/>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a:rPr lang="en-US" sz="2800" b="0" i="1">
                          <a:solidFill>
                            <a:srgbClr val="A2162A"/>
                          </a:solidFill>
                          <a:latin typeface="Cambria Math"/>
                          <a:ea typeface="Cambria Math"/>
                        </a:rPr>
                        <m:t>𝜋</m:t>
                      </m:r>
                      <m:r>
                        <a:rPr lang="en-US" sz="2800" b="0" i="0">
                          <a:solidFill>
                            <a:srgbClr val="A2162A"/>
                          </a:solidFill>
                          <a:latin typeface="Cambria Math"/>
                        </a:rPr>
                        <m:t> = 39,375 − 92,343.75 = −52,968.75</m:t>
                      </m:r>
                    </m:oMath>
                  </m:oMathPara>
                </a14:m>
                <a:endParaRPr lang="en-US" sz="2800"/>
              </a:p>
            </p:txBody>
          </p:sp>
        </mc:Choice>
        <mc:Fallback xmlns="">
          <p:sp>
            <p:nvSpPr>
              <p:cNvPr id="13" name="TextBox 12"/>
              <p:cNvSpPr txBox="1">
                <a:spLocks noRot="1" noChangeAspect="1" noMove="1" noResize="1" noEditPoints="1" noAdjustHandles="1" noChangeArrowheads="1" noChangeShapeType="1" noTextEdit="1"/>
              </p:cNvSpPr>
              <p:nvPr/>
            </p:nvSpPr>
            <p:spPr>
              <a:xfrm>
                <a:off x="1417320" y="4206240"/>
                <a:ext cx="9418320" cy="640080"/>
              </a:xfrm>
              <a:prstGeom prst="rect">
                <a:avLst/>
              </a:prstGeom>
              <a:blipFill>
                <a:blip r:embed="rId7"/>
                <a:stretch>
                  <a:fillRect/>
                </a:stretch>
              </a:blipFill>
            </p:spPr>
            <p:txBody>
              <a:bodyPr/>
              <a:lstStyle/>
              <a:p>
                <a:r>
                  <a:rPr lang="en-US">
                    <a:noFill/>
                  </a:rPr>
                  <a:t> </a:t>
                </a:r>
              </a:p>
            </p:txBody>
          </p:sp>
        </mc:Fallback>
      </mc:AlternateContent>
      <p:sp>
        <p:nvSpPr>
          <p:cNvPr id="14" name="Rounded Rectangle 13"/>
          <p:cNvSpPr/>
          <p:nvPr/>
        </p:nvSpPr>
        <p:spPr>
          <a:xfrm>
            <a:off x="685800" y="4892040"/>
            <a:ext cx="841248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0B2B4E"/>
                </a:solidFill>
                <a:latin typeface="Calibri"/>
              </a:rPr>
              <a:t>At the new price, the Yi family makes a loss at the optimal output level</a:t>
            </a:r>
          </a:p>
        </p:txBody>
      </p:sp>
      <p:sp>
        <p:nvSpPr>
          <p:cNvPr id="15" name="Rounded Rectangle 14"/>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9" name="TextBox 18"/>
          <p:cNvSpPr txBox="1"/>
          <p:nvPr/>
        </p:nvSpPr>
        <p:spPr>
          <a:xfrm>
            <a:off x="11475720" y="6583680"/>
            <a:ext cx="502920" cy="292608"/>
          </a:xfrm>
          <a:prstGeom prst="rect">
            <a:avLst/>
          </a:prstGeom>
          <a:noFill/>
        </p:spPr>
        <p:txBody>
          <a:bodyPr wrap="none" lIns="0" tIns="0" rIns="0" bIns="0">
            <a:spAutoFit/>
          </a:bodyPr>
          <a:lstStyle/>
          <a:p>
            <a:pPr algn="r"/>
            <a:fld id="{C60CDA10-FF3E-5A5D-8B64-443D504D2432}" type="slidenum">
              <a:rPr lang="en-US" sz="1200" dirty="0">
                <a:solidFill>
                  <a:srgbClr val="555B66"/>
                </a:solidFill>
                <a:latin typeface="Calibri"/>
              </a:rPr>
              <a:t>37</a:t>
            </a:fld>
            <a:endParaRPr lang="en-US" sz="1200" dirty="0">
              <a:solidFill>
                <a:srgbClr val="555B66"/>
              </a:solidFill>
              <a:latin typeface="Calibri"/>
            </a:endParaRPr>
          </a:p>
        </p:txBody>
      </p:sp>
      <p:grpSp>
        <p:nvGrpSpPr>
          <p:cNvPr id="9610" name="PollBreakBadge"/>
          <p:cNvGrpSpPr/>
          <p:nvPr/>
        </p:nvGrpSpPr>
        <p:grpSpPr>
          <a:xfrm>
            <a:off x="9361444" y="6190030"/>
            <a:ext cx="2697480" cy="487009"/>
            <a:chOff x="9361444" y="6190030"/>
            <a:chExt cx="2697480" cy="487009"/>
          </a:xfrm>
        </p:grpSpPr>
        <p:sp>
          <p:nvSpPr>
            <p:cNvPr id="961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1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r>
              <a:rPr lang="en-US" sz="3200" b="1" dirty="0">
                <a:solidFill>
                  <a:srgbClr val="0B2B4E"/>
                </a:solidFill>
              </a:rPr>
              <a:t>Solution to Question </a:t>
            </a:r>
            <a:r>
              <a:rPr lang="en-US" sz="3200" b="1" i="0" u="none" dirty="0">
                <a:solidFill>
                  <a:srgbClr val="0B2B4E"/>
                </a:solidFill>
                <a:latin typeface="Calibri"/>
              </a:rPr>
              <a:t>3: </a:t>
            </a:r>
            <a:r>
              <a:rPr sz="3200" b="1" i="0" u="none" dirty="0">
                <a:solidFill>
                  <a:srgbClr val="0B2B4E"/>
                </a:solidFill>
                <a:latin typeface="Calibri"/>
              </a:rPr>
              <a:t>Decision to Continue Production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1417320" y="1426464"/>
                <a:ext cx="9418320" cy="91440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AVC</m:t>
                      </m:r>
                      <m:r>
                        <a:rPr lang="en-US" sz="2600" b="0" i="0">
                          <a:solidFill>
                            <a:srgbClr val="0B2B4E"/>
                          </a:solidFill>
                          <a:latin typeface="Cambria Math"/>
                        </a:rPr>
                        <m:t> = </m:t>
                      </m:r>
                      <m:f>
                        <m:fPr>
                          <m:ctrlPr>
                            <a:rPr lang="en-US" sz="2600" b="0" i="0">
                              <a:solidFill>
                                <a:srgbClr val="0B2B4E"/>
                              </a:solidFill>
                              <a:latin typeface="Cambria Math"/>
                            </a:rPr>
                          </m:ctrlPr>
                        </m:fPr>
                        <m:num>
                          <m:r>
                            <a:rPr lang="en-US" sz="2600" b="0" i="0">
                              <a:solidFill>
                                <a:srgbClr val="0B2B4E"/>
                              </a:solidFill>
                              <a:latin typeface="Cambria Math"/>
                            </a:rPr>
                            <m:t>135</m:t>
                          </m:r>
                          <m:r>
                            <a:rPr lang="en-US" sz="2600" b="0" i="1">
                              <a:solidFill>
                                <a:srgbClr val="0B2B4E"/>
                              </a:solidFill>
                              <a:latin typeface="Cambria Math"/>
                              <a:ea typeface="Cambria Math"/>
                            </a:rPr>
                            <m:t>𝑄</m:t>
                          </m:r>
                          <m:r>
                            <a:rPr lang="en-US" sz="2600" b="0" i="0">
                              <a:solidFill>
                                <a:srgbClr val="0B2B4E"/>
                              </a:solidFill>
                              <a:latin typeface="Cambria Math"/>
                            </a:rPr>
                            <m:t> + 0.2</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2</m:t>
                              </m:r>
                            </m:sup>
                          </m:sSup>
                        </m:num>
                        <m:den>
                          <m:r>
                            <a:rPr lang="en-US" sz="2600" b="0" i="1">
                              <a:solidFill>
                                <a:srgbClr val="0B2B4E"/>
                              </a:solidFill>
                              <a:latin typeface="Cambria Math"/>
                              <a:ea typeface="Cambria Math"/>
                            </a:rPr>
                            <m:t>𝑄</m:t>
                          </m:r>
                        </m:den>
                      </m:f>
                      <m:r>
                        <a:rPr lang="en-US" sz="2600" b="0" i="0">
                          <a:solidFill>
                            <a:srgbClr val="0B2B4E"/>
                          </a:solidFill>
                          <a:latin typeface="Cambria Math"/>
                        </a:rPr>
                        <m:t> = 135 + 0.2</m:t>
                      </m:r>
                      <m:r>
                        <a:rPr lang="en-US" sz="2600" b="0" i="1">
                          <a:solidFill>
                            <a:srgbClr val="0B2B4E"/>
                          </a:solidFill>
                          <a:latin typeface="Cambria Math"/>
                          <a:ea typeface="Cambria Math"/>
                        </a:rPr>
                        <m:t>𝑄</m:t>
                      </m:r>
                    </m:oMath>
                  </m:oMathPara>
                </a14:m>
                <a:endParaRPr lang="en-US" sz="2600"/>
              </a:p>
            </p:txBody>
          </p:sp>
        </mc:Choice>
        <mc:Fallback xmlns="">
          <p:sp>
            <p:nvSpPr>
              <p:cNvPr id="7" name="TextBox 6"/>
              <p:cNvSpPr txBox="1">
                <a:spLocks noRot="1" noChangeAspect="1" noMove="1" noResize="1" noEditPoints="1" noAdjustHandles="1" noChangeArrowheads="1" noChangeShapeType="1" noTextEdit="1"/>
              </p:cNvSpPr>
              <p:nvPr/>
            </p:nvSpPr>
            <p:spPr>
              <a:xfrm>
                <a:off x="1417320" y="1426464"/>
                <a:ext cx="9418320" cy="9144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1417320" y="2432304"/>
                <a:ext cx="9418320" cy="713232"/>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AVC</m:t>
                      </m:r>
                      <m:r>
                        <a:rPr lang="en-US" sz="2600" b="0" i="0">
                          <a:solidFill>
                            <a:srgbClr val="0B2B4E"/>
                          </a:solidFill>
                          <a:latin typeface="Cambria Math"/>
                        </a:rPr>
                        <m:t> </m:t>
                      </m:r>
                      <m:r>
                        <m:rPr>
                          <m:sty m:val="p"/>
                        </m:rPr>
                        <a:rPr lang="en-US" sz="2600" b="0" i="0">
                          <a:solidFill>
                            <a:srgbClr val="0B2B4E"/>
                          </a:solidFill>
                          <a:latin typeface="Cambria Math"/>
                        </a:rPr>
                        <m:t>at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 187.5  </m:t>
                      </m:r>
                      <m:r>
                        <m:rPr>
                          <m:sty m:val="p"/>
                        </m:rPr>
                        <a:rPr lang="en-US" sz="2600" b="0" i="0">
                          <a:solidFill>
                            <a:srgbClr val="0B2B4E"/>
                          </a:solidFill>
                          <a:latin typeface="Cambria Math"/>
                        </a:rPr>
                        <m:t>is</m:t>
                      </m:r>
                      <m:r>
                        <a:rPr lang="en-US" sz="2600" b="0" i="0">
                          <a:solidFill>
                            <a:srgbClr val="0B2B4E"/>
                          </a:solidFill>
                          <a:latin typeface="Cambria Math"/>
                        </a:rPr>
                        <m:t>  135 + 37.5 = 172.5</m:t>
                      </m:r>
                    </m:oMath>
                  </m:oMathPara>
                </a14:m>
                <a:endParaRPr lang="en-US" sz="2600" dirty="0"/>
              </a:p>
            </p:txBody>
          </p:sp>
        </mc:Choice>
        <mc:Fallback xmlns="">
          <p:sp>
            <p:nvSpPr>
              <p:cNvPr id="8" name="TextBox 7"/>
              <p:cNvSpPr txBox="1">
                <a:spLocks noRot="1" noChangeAspect="1" noMove="1" noResize="1" noEditPoints="1" noAdjustHandles="1" noChangeArrowheads="1" noChangeShapeType="1" noTextEdit="1"/>
              </p:cNvSpPr>
              <p:nvPr/>
            </p:nvSpPr>
            <p:spPr>
              <a:xfrm>
                <a:off x="1417320" y="2432304"/>
                <a:ext cx="9418320" cy="7132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417320" y="3200400"/>
                <a:ext cx="9418320" cy="621792"/>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Recall</m:t>
                      </m:r>
                      <m:r>
                        <a:rPr lang="en-US" sz="2600" b="0" i="0">
                          <a:solidFill>
                            <a:srgbClr val="0B2B4E"/>
                          </a:solidFill>
                          <a:latin typeface="Cambria Math"/>
                        </a:rPr>
                        <m:t>:   </m:t>
                      </m:r>
                      <m:r>
                        <a:rPr lang="en-US" sz="2600" b="0" i="1">
                          <a:solidFill>
                            <a:srgbClr val="0B2B4E"/>
                          </a:solidFill>
                          <a:latin typeface="Cambria Math"/>
                          <a:ea typeface="Cambria Math"/>
                        </a:rPr>
                        <m:t>𝑃</m:t>
                      </m:r>
                      <m:r>
                        <a:rPr lang="en-US" sz="2600" b="0" i="0">
                          <a:solidFill>
                            <a:srgbClr val="0B2B4E"/>
                          </a:solidFill>
                          <a:latin typeface="Cambria Math"/>
                        </a:rPr>
                        <m:t> = 210</m:t>
                      </m:r>
                    </m:oMath>
                  </m:oMathPara>
                </a14:m>
                <a:endParaRPr lang="en-US" sz="2600" dirty="0"/>
              </a:p>
            </p:txBody>
          </p:sp>
        </mc:Choice>
        <mc:Fallback xmlns="">
          <p:sp>
            <p:nvSpPr>
              <p:cNvPr id="9" name="TextBox 8"/>
              <p:cNvSpPr txBox="1">
                <a:spLocks noRot="1" noChangeAspect="1" noMove="1" noResize="1" noEditPoints="1" noAdjustHandles="1" noChangeArrowheads="1" noChangeShapeType="1" noTextEdit="1"/>
              </p:cNvSpPr>
              <p:nvPr/>
            </p:nvSpPr>
            <p:spPr>
              <a:xfrm>
                <a:off x="1417320" y="3200400"/>
                <a:ext cx="9418320" cy="62179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1417320" y="3926342"/>
                <a:ext cx="9418320" cy="523220"/>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m:rPr>
                          <m:sty m:val="p"/>
                        </m:rPr>
                        <a:rPr lang="en-US" sz="2800" b="0" i="0" smtClean="0">
                          <a:solidFill>
                            <a:srgbClr val="A2162A"/>
                          </a:solidFill>
                          <a:latin typeface="Cambria Math" panose="02040503050406030204" pitchFamily="18" charset="0"/>
                        </a:rPr>
                        <m:t>Thus</m:t>
                      </m:r>
                      <m:r>
                        <a:rPr lang="en-US" sz="2800" b="0" i="0" smtClean="0">
                          <a:solidFill>
                            <a:srgbClr val="A2162A"/>
                          </a:solidFill>
                          <a:latin typeface="Cambria Math" panose="02040503050406030204" pitchFamily="18" charset="0"/>
                        </a:rPr>
                        <m:t>:   </m:t>
                      </m:r>
                      <m:r>
                        <a:rPr lang="en-US" sz="2800" b="0" i="1">
                          <a:solidFill>
                            <a:srgbClr val="A2162A"/>
                          </a:solidFill>
                          <a:latin typeface="Cambria Math"/>
                          <a:ea typeface="Cambria Math"/>
                        </a:rPr>
                        <m:t>𝑃</m:t>
                      </m:r>
                      <m:r>
                        <a:rPr lang="en-US" sz="2800" b="0" i="0">
                          <a:solidFill>
                            <a:srgbClr val="A2162A"/>
                          </a:solidFill>
                          <a:latin typeface="Cambria Math"/>
                        </a:rPr>
                        <m:t>  &gt;  </m:t>
                      </m:r>
                      <m:r>
                        <m:rPr>
                          <m:sty m:val="p"/>
                        </m:rPr>
                        <a:rPr lang="en-US" sz="2800" b="0" i="0">
                          <a:solidFill>
                            <a:srgbClr val="A2162A"/>
                          </a:solidFill>
                          <a:latin typeface="Cambria Math"/>
                        </a:rPr>
                        <m:t>AVC</m:t>
                      </m:r>
                    </m:oMath>
                  </m:oMathPara>
                </a14:m>
                <a:endParaRPr lang="en-US" sz="2800" dirty="0"/>
              </a:p>
            </p:txBody>
          </p:sp>
        </mc:Choice>
        <mc:Fallback>
          <p:sp>
            <p:nvSpPr>
              <p:cNvPr id="10" name="TextBox 9"/>
              <p:cNvSpPr txBox="1">
                <a:spLocks noRot="1" noChangeAspect="1" noMove="1" noResize="1" noEditPoints="1" noAdjustHandles="1" noChangeArrowheads="1" noChangeShapeType="1" noTextEdit="1"/>
              </p:cNvSpPr>
              <p:nvPr/>
            </p:nvSpPr>
            <p:spPr>
              <a:xfrm>
                <a:off x="1417320" y="3926342"/>
                <a:ext cx="9418320" cy="523220"/>
              </a:xfrm>
              <a:prstGeom prst="rect">
                <a:avLst/>
              </a:prstGeom>
              <a:blipFill>
                <a:blip r:embed="rId6"/>
                <a:stretch>
                  <a:fillRect/>
                </a:stretch>
              </a:blipFill>
            </p:spPr>
            <p:txBody>
              <a:bodyPr/>
              <a:lstStyle/>
              <a:p>
                <a:r>
                  <a:rPr lang="en-US">
                    <a:noFill/>
                  </a:rPr>
                  <a:t> </a:t>
                </a:r>
              </a:p>
            </p:txBody>
          </p:sp>
        </mc:Fallback>
      </mc:AlternateContent>
      <p:sp>
        <p:nvSpPr>
          <p:cNvPr id="11" name="Rounded Rectangle 10"/>
          <p:cNvSpPr/>
          <p:nvPr/>
        </p:nvSpPr>
        <p:spPr>
          <a:xfrm>
            <a:off x="2621127" y="4590288"/>
            <a:ext cx="6949440" cy="548640"/>
          </a:xfrm>
          <a:prstGeom prst="roundRect">
            <a:avLst>
              <a:gd name="adj" fmla="val 14000"/>
            </a:avLst>
          </a:prstGeom>
          <a:solidFill>
            <a:srgbClr val="0070C0">
              <a:alpha val="15000"/>
            </a:srgbClr>
          </a:solidFill>
          <a:ln w="9525">
            <a:solidFill>
              <a:srgbClr val="0070C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100" b="1">
                <a:solidFill>
                  <a:srgbClr val="0B2B4E"/>
                </a:solidFill>
                <a:latin typeface="Calibri"/>
              </a:rPr>
              <a:t>⇒   Keep producing in the short run</a:t>
            </a:r>
          </a:p>
        </p:txBody>
      </p:sp>
      <p:sp>
        <p:nvSpPr>
          <p:cNvPr id="12" name="TextBox 11"/>
          <p:cNvSpPr txBox="1"/>
          <p:nvPr/>
        </p:nvSpPr>
        <p:spPr>
          <a:xfrm>
            <a:off x="256032" y="5404104"/>
            <a:ext cx="5705856" cy="1005840"/>
          </a:xfrm>
          <a:prstGeom prst="roundRect">
            <a:avLst>
              <a:gd name="adj" fmla="val 10000"/>
            </a:avLst>
          </a:prstGeom>
          <a:solidFill>
            <a:srgbClr val="FDF6E6"/>
          </a:solidFill>
          <a:ln w="15875">
            <a:solidFill>
              <a:srgbClr val="E09F3E"/>
            </a:solidFill>
          </a:ln>
          <a:effectLst>
            <a:outerShdw blurRad="50800" dist="38100" dir="2700000" algn="tl" rotWithShape="0">
              <a:srgbClr val="000000">
                <a:alpha val="50000"/>
              </a:srgbClr>
            </a:outerShdw>
          </a:effectLst>
        </p:spPr>
        <p:txBody>
          <a:bodyPr wrap="square" lIns="45720" tIns="0" rIns="45720" bIns="0">
            <a:spAutoFit/>
          </a:bodyPr>
          <a:lstStyle/>
          <a:p>
            <a:r>
              <a:rPr lang="en-US" sz="2200" dirty="0">
                <a:solidFill>
                  <a:srgbClr val="0B2B4E"/>
                </a:solidFill>
                <a:latin typeface="Calibri"/>
              </a:rPr>
              <a:t>Alternatively, compare the two options directly:</a:t>
            </a:r>
            <a:endParaRPr lang="en-US" dirty="0"/>
          </a:p>
          <a:p>
            <a:r>
              <a:rPr lang="en-US" sz="2000" dirty="0">
                <a:solidFill>
                  <a:srgbClr val="0B2B4E"/>
                </a:solidFill>
                <a:latin typeface="Calibri"/>
              </a:rPr>
              <a:t>▪   Continue to produce:  loss of 52,968.75</a:t>
            </a:r>
            <a:endParaRPr lang="en-US" dirty="0"/>
          </a:p>
          <a:p>
            <a:r>
              <a:rPr lang="en-US" sz="2000" dirty="0">
                <a:solidFill>
                  <a:srgbClr val="0B2B4E"/>
                </a:solidFill>
                <a:latin typeface="Calibri"/>
              </a:rPr>
              <a:t>▪   Stop production:  loss of 60,000, the whole of TFC</a:t>
            </a:r>
            <a:endParaRPr lang="en-US" dirty="0"/>
          </a:p>
        </p:txBody>
      </p:sp>
      <p:sp>
        <p:nvSpPr>
          <p:cNvPr id="13" name="Rounded Rectangle 12"/>
          <p:cNvSpPr/>
          <p:nvPr/>
        </p:nvSpPr>
        <p:spPr>
          <a:xfrm>
            <a:off x="9253728" y="5577840"/>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433A1C14-F9FE-5E90-BC8F-F32C6B24A3E5}" type="slidenum">
              <a:rPr lang="en-US" sz="1200" dirty="0">
                <a:solidFill>
                  <a:srgbClr val="555B66"/>
                </a:solidFill>
                <a:latin typeface="Calibri"/>
              </a:rPr>
              <a:t>38</a:t>
            </a:fld>
            <a:endParaRPr lang="en-US" sz="1200" dirty="0">
              <a:solidFill>
                <a:srgbClr val="555B66"/>
              </a:solidFill>
              <a:latin typeface="Calibri"/>
            </a:endParaRPr>
          </a:p>
        </p:txBody>
      </p:sp>
      <p:grpSp>
        <p:nvGrpSpPr>
          <p:cNvPr id="9620" name="PollBreakBadge"/>
          <p:cNvGrpSpPr/>
          <p:nvPr/>
        </p:nvGrpSpPr>
        <p:grpSpPr>
          <a:xfrm>
            <a:off x="9361444" y="6190030"/>
            <a:ext cx="2697480" cy="487009"/>
            <a:chOff x="9361444" y="6190030"/>
            <a:chExt cx="2697480" cy="487009"/>
          </a:xfrm>
        </p:grpSpPr>
        <p:sp>
          <p:nvSpPr>
            <p:cNvPr id="962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2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animBg="1"/>
      <p:bldP spid="12"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High Price: Positive Profits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18791"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1" name="Rectangle 10"/>
          <p:cNvSpPr/>
          <p:nvPr/>
        </p:nvSpPr>
        <p:spPr>
          <a:xfrm>
            <a:off x="2788920" y="2466473"/>
            <a:ext cx="4191644" cy="593916"/>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726711" y="1851419"/>
            <a:ext cx="4532660" cy="2180026"/>
          </a:xfrm>
          <a:custGeom>
            <a:avLst/>
            <a:gdLst/>
            <a:ahLst/>
            <a:cxnLst/>
            <a:rect l="0" t="0" r="r" b="b"/>
            <a:pathLst>
              <a:path w="4532660" h="2180026">
                <a:moveTo>
                  <a:pt x="0" y="2180026"/>
                </a:moveTo>
                <a:cubicBezTo>
                  <a:pt x="188860" y="2089191"/>
                  <a:pt x="755443" y="1816687"/>
                  <a:pt x="1133165" y="1635019"/>
                </a:cubicBezTo>
                <a:cubicBezTo>
                  <a:pt x="1510886" y="1453350"/>
                  <a:pt x="1888608" y="1271681"/>
                  <a:pt x="2266330" y="1090013"/>
                </a:cubicBezTo>
                <a:cubicBezTo>
                  <a:pt x="2644051" y="908344"/>
                  <a:pt x="3021773" y="726674"/>
                  <a:pt x="3399495" y="545006"/>
                </a:cubicBezTo>
                <a:cubicBezTo>
                  <a:pt x="3777216" y="363337"/>
                  <a:pt x="4343799" y="90834"/>
                  <a:pt x="4532660"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726711" y="2406107"/>
            <a:ext cx="4532660" cy="788004"/>
          </a:xfrm>
          <a:custGeom>
            <a:avLst/>
            <a:gdLst/>
            <a:ahLst/>
            <a:cxnLst/>
            <a:rect l="0" t="0" r="r" b="b"/>
            <a:pathLst>
              <a:path w="4532660" h="788004">
                <a:moveTo>
                  <a:pt x="0" y="0"/>
                </a:moveTo>
                <a:cubicBezTo>
                  <a:pt x="94430" y="93470"/>
                  <a:pt x="377722" y="437452"/>
                  <a:pt x="566583" y="560824"/>
                </a:cubicBezTo>
                <a:cubicBezTo>
                  <a:pt x="755443" y="684195"/>
                  <a:pt x="944304" y="703030"/>
                  <a:pt x="1133165" y="740230"/>
                </a:cubicBezTo>
                <a:cubicBezTo>
                  <a:pt x="1322025" y="777429"/>
                  <a:pt x="1510886" y="780035"/>
                  <a:pt x="1699747" y="784020"/>
                </a:cubicBezTo>
                <a:cubicBezTo>
                  <a:pt x="1888607" y="788004"/>
                  <a:pt x="2077469" y="776593"/>
                  <a:pt x="2266330" y="764137"/>
                </a:cubicBezTo>
                <a:cubicBezTo>
                  <a:pt x="2455190" y="751680"/>
                  <a:pt x="2644051" y="731112"/>
                  <a:pt x="2832912" y="709283"/>
                </a:cubicBezTo>
                <a:cubicBezTo>
                  <a:pt x="3021772" y="687453"/>
                  <a:pt x="3210634" y="660851"/>
                  <a:pt x="3399495" y="633162"/>
                </a:cubicBezTo>
                <a:cubicBezTo>
                  <a:pt x="3588355" y="605472"/>
                  <a:pt x="3777216" y="574748"/>
                  <a:pt x="3966077" y="543147"/>
                </a:cubicBezTo>
                <a:cubicBezTo>
                  <a:pt x="4154937" y="511545"/>
                  <a:pt x="4438229" y="460153"/>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26711" y="3166952"/>
            <a:ext cx="4532660" cy="1090013"/>
          </a:xfrm>
          <a:custGeom>
            <a:avLst/>
            <a:gdLst/>
            <a:ahLst/>
            <a:cxnLst/>
            <a:rect l="0" t="0" r="r" b="b"/>
            <a:pathLst>
              <a:path w="4532660" h="1090013">
                <a:moveTo>
                  <a:pt x="0" y="1090013"/>
                </a:moveTo>
                <a:cubicBezTo>
                  <a:pt x="188860" y="1044595"/>
                  <a:pt x="755443" y="908343"/>
                  <a:pt x="1133165" y="817509"/>
                </a:cubicBezTo>
                <a:cubicBezTo>
                  <a:pt x="1510886" y="726674"/>
                  <a:pt x="1888608" y="635840"/>
                  <a:pt x="2266330" y="545006"/>
                </a:cubicBezTo>
                <a:cubicBezTo>
                  <a:pt x="2644051" y="454171"/>
                  <a:pt x="3021773" y="363337"/>
                  <a:pt x="3399495" y="272503"/>
                </a:cubicBezTo>
                <a:cubicBezTo>
                  <a:pt x="3777216" y="181668"/>
                  <a:pt x="4343799" y="45417"/>
                  <a:pt x="4532660"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2788920" y="2466473"/>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11043" y="2311025"/>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7" name="Connector 16"/>
          <p:cNvCxnSpPr/>
          <p:nvPr/>
        </p:nvCxnSpPr>
        <p:spPr>
          <a:xfrm flipV="1">
            <a:off x="6980564" y="2466473"/>
            <a:ext cx="0" cy="256272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10638"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19" name="TextBox 18"/>
          <p:cNvSpPr txBox="1"/>
          <p:nvPr/>
        </p:nvSpPr>
        <p:spPr>
          <a:xfrm>
            <a:off x="2080641" y="2329313"/>
            <a:ext cx="635127" cy="274320"/>
          </a:xfrm>
          <a:prstGeom prst="rect">
            <a:avLst/>
          </a:prstGeom>
          <a:noFill/>
        </p:spPr>
        <p:txBody>
          <a:bodyPr wrap="square" lIns="0" tIns="0" rIns="0" bIns="0">
            <a:spAutoFit/>
          </a:bodyPr>
          <a:lstStyle/>
          <a:p>
            <a:pPr algn="r"/>
            <a:r>
              <a:rPr sz="1700" b="1" i="1" u="none">
                <a:solidFill>
                  <a:srgbClr val="C00000"/>
                </a:solidFill>
                <a:latin typeface="Calibri"/>
              </a:rPr>
              <a:t>P high</a:t>
            </a:r>
          </a:p>
        </p:txBody>
      </p:sp>
      <p:sp>
        <p:nvSpPr>
          <p:cNvPr id="20" name="TextBox 19"/>
          <p:cNvSpPr txBox="1"/>
          <p:nvPr/>
        </p:nvSpPr>
        <p:spPr>
          <a:xfrm>
            <a:off x="7907699" y="148301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1" name="TextBox 20"/>
          <p:cNvSpPr txBox="1"/>
          <p:nvPr/>
        </p:nvSpPr>
        <p:spPr>
          <a:xfrm>
            <a:off x="8415669" y="2566679"/>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2" name="TextBox 21"/>
          <p:cNvSpPr txBox="1"/>
          <p:nvPr/>
        </p:nvSpPr>
        <p:spPr>
          <a:xfrm>
            <a:off x="8415669" y="3157326"/>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3" name="TextBox 22"/>
          <p:cNvSpPr txBox="1"/>
          <p:nvPr/>
        </p:nvSpPr>
        <p:spPr>
          <a:xfrm>
            <a:off x="4244662" y="2589695"/>
            <a:ext cx="1280160" cy="347472"/>
          </a:xfrm>
          <a:prstGeom prst="rect">
            <a:avLst/>
          </a:prstGeom>
          <a:noFill/>
        </p:spPr>
        <p:txBody>
          <a:bodyPr wrap="square" lIns="0" tIns="0" rIns="0" bIns="0">
            <a:spAutoFit/>
          </a:bodyPr>
          <a:lstStyle/>
          <a:p>
            <a:pPr algn="ctr"/>
            <a:r>
              <a:rPr sz="1800" b="1" i="0" u="none">
                <a:solidFill>
                  <a:srgbClr val="0B2B4E"/>
                </a:solidFill>
                <a:latin typeface="Calibri"/>
              </a:rPr>
              <a:t>Profit</a:t>
            </a:r>
          </a:p>
        </p:txBody>
      </p:sp>
      <p:grpSp>
        <p:nvGrpSpPr>
          <p:cNvPr id="129" name="Group pair 129"/>
          <p:cNvGrpSpPr/>
          <p:nvPr/>
        </p:nvGrpSpPr>
        <p:grpSpPr>
          <a:xfrm>
            <a:off x="914400" y="5577840"/>
            <a:ext cx="10332720" cy="731520"/>
            <a:chOff x="914400" y="5577840"/>
            <a:chExt cx="10332720" cy="731520"/>
          </a:xfrm>
        </p:grpSpPr>
        <p:sp>
          <p:nvSpPr>
            <p:cNvPr id="24" name="Rounded Rectangle 23"/>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Optimal output is where </a:t>
              </a:r>
              <a:r>
                <a:rPr sz="1800" b="1" i="0" u="none">
                  <a:solidFill>
                    <a:srgbClr val="0B2B4E"/>
                  </a:solidFill>
                  <a:latin typeface="Calibri"/>
                </a:rPr>
                <a:t>MC = MR = P</a:t>
              </a:r>
              <a:r>
                <a:rPr sz="1800" b="0" i="0" u="none">
                  <a:solidFill>
                    <a:srgbClr val="0B2B4E"/>
                  </a:solidFill>
                  <a:latin typeface="Calibri"/>
                </a:rPr>
                <a:t>.  This occurs at Q*.  At that output positive economic profits are being made because </a:t>
              </a:r>
              <a:r>
                <a:rPr sz="1800" b="1" i="0" u="none">
                  <a:solidFill>
                    <a:srgbClr val="C00000"/>
                  </a:solidFill>
                  <a:latin typeface="Calibri"/>
                </a:rPr>
                <a:t>P &gt; ATC</a:t>
              </a:r>
              <a:r>
                <a:rPr sz="1800" b="0" i="0" u="none">
                  <a:solidFill>
                    <a:srgbClr val="0B2B4E"/>
                  </a:solidFill>
                  <a:latin typeface="Calibri"/>
                </a:rPr>
                <a:t>.</a:t>
              </a:r>
            </a:p>
          </p:txBody>
        </p:sp>
      </p:gr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00273E6D-AA26-540D-9B06-B4F98BEF93DB}" type="slidenum">
              <a:rPr lang="en-US" sz="1200" dirty="0">
                <a:solidFill>
                  <a:srgbClr val="555B66"/>
                </a:solidFill>
                <a:latin typeface="Calibri"/>
              </a:rPr>
              <a:t>39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5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childTnLst>
                                </p:cTn>
                              </p:par>
                              <p:par>
                                <p:cTn id="51" presetID="10"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9"/>
                                        </p:tgtEl>
                                        <p:attrNameLst>
                                          <p:attrName>style.visibility</p:attrName>
                                        </p:attrNameLst>
                                      </p:cBhvr>
                                      <p:to>
                                        <p:strVal val="visible"/>
                                      </p:to>
                                    </p:set>
                                    <p:animEffect transition="in" filter="fade">
                                      <p:cBhvr>
                                        <p:cTn id="58"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High Price: Positive Profits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grpSp>
        <p:nvGrpSpPr>
          <p:cNvPr id="31" name="Group 30">
            <a:extLst>
              <a:ext uri="{FF2B5EF4-FFF2-40B4-BE49-F238E27FC236}">
                <a16:creationId xmlns:a16="http://schemas.microsoft.com/office/drawing/2014/main" id="{E258E901-31B9-8440-B0BE-1ED8B7B8FD90}"/>
              </a:ext>
            </a:extLst>
          </p:cNvPr>
          <p:cNvGrpSpPr/>
          <p:nvPr/>
        </p:nvGrpSpPr>
        <p:grpSpPr>
          <a:xfrm>
            <a:off x="2518791" y="1897379"/>
            <a:ext cx="7268335" cy="3442717"/>
            <a:chOff x="2518791" y="1897379"/>
            <a:chExt cx="7268335" cy="3442717"/>
          </a:xfrm>
        </p:grpSpPr>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dirty="0">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grpSp>
      <p:grpSp>
        <p:nvGrpSpPr>
          <p:cNvPr id="32" name="Group 31">
            <a:extLst>
              <a:ext uri="{FF2B5EF4-FFF2-40B4-BE49-F238E27FC236}">
                <a16:creationId xmlns:a16="http://schemas.microsoft.com/office/drawing/2014/main" id="{093F7129-A83C-73E6-9EEA-82E6E494908C}"/>
              </a:ext>
            </a:extLst>
          </p:cNvPr>
          <p:cNvGrpSpPr/>
          <p:nvPr/>
        </p:nvGrpSpPr>
        <p:grpSpPr>
          <a:xfrm>
            <a:off x="2518791" y="3469930"/>
            <a:ext cx="7106472" cy="310896"/>
            <a:chOff x="2518791" y="3469930"/>
            <a:chExt cx="7106472" cy="310896"/>
          </a:xfrm>
        </p:grpSpPr>
        <p:cxnSp>
          <p:nvCxnSpPr>
            <p:cNvPr id="16" name="Connector 15"/>
            <p:cNvCxnSpPr/>
            <p:nvPr/>
          </p:nvCxnSpPr>
          <p:spPr>
            <a:xfrm>
              <a:off x="2788920" y="3625378"/>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3469930"/>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3488218"/>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grpSp>
      <p:grpSp>
        <p:nvGrpSpPr>
          <p:cNvPr id="33" name="Group 32">
            <a:extLst>
              <a:ext uri="{FF2B5EF4-FFF2-40B4-BE49-F238E27FC236}">
                <a16:creationId xmlns:a16="http://schemas.microsoft.com/office/drawing/2014/main" id="{90176308-F760-4B5F-FF81-7BE9CA8CC306}"/>
              </a:ext>
            </a:extLst>
          </p:cNvPr>
          <p:cNvGrpSpPr/>
          <p:nvPr/>
        </p:nvGrpSpPr>
        <p:grpSpPr>
          <a:xfrm>
            <a:off x="7089107" y="3625378"/>
            <a:ext cx="339852" cy="1733006"/>
            <a:chOff x="7089107" y="3625378"/>
            <a:chExt cx="339852" cy="1733006"/>
          </a:xfrm>
        </p:grpSpPr>
        <p:cxnSp>
          <p:nvCxnSpPr>
            <p:cNvPr id="19" name="Connector 18"/>
            <p:cNvCxnSpPr/>
            <p:nvPr/>
          </p:nvCxnSpPr>
          <p:spPr>
            <a:xfrm flipV="1">
              <a:off x="7259033" y="3625378"/>
              <a:ext cx="0" cy="140382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089107"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grpSp>
      <p:grpSp>
        <p:nvGrpSpPr>
          <p:cNvPr id="36" name="Group 35">
            <a:extLst>
              <a:ext uri="{FF2B5EF4-FFF2-40B4-BE49-F238E27FC236}">
                <a16:creationId xmlns:a16="http://schemas.microsoft.com/office/drawing/2014/main" id="{4C7645DF-B7D7-9507-D9EF-3F72083C870B}"/>
              </a:ext>
            </a:extLst>
          </p:cNvPr>
          <p:cNvGrpSpPr/>
          <p:nvPr/>
        </p:nvGrpSpPr>
        <p:grpSpPr>
          <a:xfrm>
            <a:off x="3805889" y="2041128"/>
            <a:ext cx="4658205" cy="2688445"/>
            <a:chOff x="3805889" y="2041128"/>
            <a:chExt cx="4658205" cy="2688445"/>
          </a:xfrm>
        </p:grpSpPr>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57567" y="2041128"/>
              <a:ext cx="406527" cy="292608"/>
            </a:xfrm>
            <a:prstGeom prst="rect">
              <a:avLst/>
            </a:prstGeom>
            <a:noFill/>
          </p:spPr>
          <p:txBody>
            <a:bodyPr wrap="square" lIns="0" tIns="0" rIns="0" bIns="0">
              <a:spAutoFit/>
            </a:bodyPr>
            <a:lstStyle/>
            <a:p>
              <a:pPr algn="l"/>
              <a:r>
                <a:rPr sz="1800" b="1" i="1" u="none" dirty="0">
                  <a:solidFill>
                    <a:srgbClr val="0B2B4E"/>
                  </a:solidFill>
                  <a:latin typeface="Calibri"/>
                </a:rPr>
                <a:t>MC</a:t>
              </a:r>
            </a:p>
          </p:txBody>
        </p:sp>
      </p:grpSp>
      <p:grpSp>
        <p:nvGrpSpPr>
          <p:cNvPr id="37" name="Group 36">
            <a:extLst>
              <a:ext uri="{FF2B5EF4-FFF2-40B4-BE49-F238E27FC236}">
                <a16:creationId xmlns:a16="http://schemas.microsoft.com/office/drawing/2014/main" id="{19359268-C86A-2604-B0CB-5AE9B4F1A65B}"/>
              </a:ext>
            </a:extLst>
          </p:cNvPr>
          <p:cNvGrpSpPr/>
          <p:nvPr/>
        </p:nvGrpSpPr>
        <p:grpSpPr>
          <a:xfrm>
            <a:off x="3805889" y="2810352"/>
            <a:ext cx="4904331" cy="1267324"/>
            <a:chOff x="3805889" y="2810352"/>
            <a:chExt cx="4904331" cy="1267324"/>
          </a:xfrm>
        </p:grpSpPr>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37019" y="3652811"/>
              <a:ext cx="473201" cy="292608"/>
            </a:xfrm>
            <a:prstGeom prst="rect">
              <a:avLst/>
            </a:prstGeom>
            <a:noFill/>
          </p:spPr>
          <p:txBody>
            <a:bodyPr wrap="square" lIns="0" tIns="0" rIns="0" bIns="0">
              <a:spAutoFit/>
            </a:bodyPr>
            <a:lstStyle/>
            <a:p>
              <a:pPr algn="l"/>
              <a:r>
                <a:rPr sz="1800" b="1" i="1" u="none" dirty="0">
                  <a:solidFill>
                    <a:srgbClr val="E09F3E"/>
                  </a:solidFill>
                  <a:latin typeface="Calibri"/>
                </a:rPr>
                <a:t>ATC</a:t>
              </a:r>
            </a:p>
          </p:txBody>
        </p:sp>
      </p:grpSp>
      <p:grpSp>
        <p:nvGrpSpPr>
          <p:cNvPr id="35" name="Group 34">
            <a:extLst>
              <a:ext uri="{FF2B5EF4-FFF2-40B4-BE49-F238E27FC236}">
                <a16:creationId xmlns:a16="http://schemas.microsoft.com/office/drawing/2014/main" id="{9C148E9C-045E-01B0-8E3E-E28D26D7EDD2}"/>
              </a:ext>
            </a:extLst>
          </p:cNvPr>
          <p:cNvGrpSpPr/>
          <p:nvPr/>
        </p:nvGrpSpPr>
        <p:grpSpPr>
          <a:xfrm>
            <a:off x="3805889" y="3514611"/>
            <a:ext cx="4913857" cy="789227"/>
            <a:chOff x="3805889" y="3514611"/>
            <a:chExt cx="4913857" cy="789227"/>
          </a:xfrm>
        </p:grpSpPr>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dirty="0">
                  <a:solidFill>
                    <a:srgbClr val="555B66"/>
                  </a:solidFill>
                  <a:latin typeface="Calibri"/>
                </a:rPr>
                <a:t>AVC</a:t>
              </a:r>
            </a:p>
          </p:txBody>
        </p:sp>
      </p:grpSp>
      <p:grpSp>
        <p:nvGrpSpPr>
          <p:cNvPr id="34" name="Group 33">
            <a:extLst>
              <a:ext uri="{FF2B5EF4-FFF2-40B4-BE49-F238E27FC236}">
                <a16:creationId xmlns:a16="http://schemas.microsoft.com/office/drawing/2014/main" id="{D97C0064-D65F-D442-E621-822416220FD9}"/>
              </a:ext>
            </a:extLst>
          </p:cNvPr>
          <p:cNvGrpSpPr/>
          <p:nvPr/>
        </p:nvGrpSpPr>
        <p:grpSpPr>
          <a:xfrm>
            <a:off x="2788920" y="3625378"/>
            <a:ext cx="4470113" cy="427552"/>
            <a:chOff x="2788920" y="3625378"/>
            <a:chExt cx="4470113" cy="427552"/>
          </a:xfrm>
        </p:grpSpPr>
        <p:sp>
          <p:nvSpPr>
            <p:cNvPr id="12" name="Rectangle 11"/>
            <p:cNvSpPr/>
            <p:nvPr/>
          </p:nvSpPr>
          <p:spPr>
            <a:xfrm>
              <a:off x="2788920" y="3625378"/>
              <a:ext cx="4470113" cy="427552"/>
            </a:xfrm>
            <a:prstGeom prst="rect">
              <a:avLst/>
            </a:prstGeom>
            <a:solidFill>
              <a:srgbClr val="C00000">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1508" y="3700166"/>
              <a:ext cx="1280160" cy="277063"/>
            </a:xfrm>
            <a:prstGeom prst="rect">
              <a:avLst/>
            </a:prstGeom>
            <a:noFill/>
          </p:spPr>
          <p:txBody>
            <a:bodyPr wrap="square" lIns="0" tIns="0" rIns="0" bIns="0">
              <a:spAutoFit/>
            </a:bodyPr>
            <a:lstStyle/>
            <a:p>
              <a:pPr algn="ctr"/>
              <a:r>
                <a:rPr sz="1800" b="1" i="0" u="none">
                  <a:solidFill>
                    <a:srgbClr val="A2162A"/>
                  </a:solidFill>
                  <a:latin typeface="Calibri"/>
                </a:rPr>
                <a:t>Profit</a:t>
              </a:r>
            </a:p>
          </p:txBody>
        </p:sp>
      </p:gr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Optimal output is where </a:t>
              </a:r>
              <a:r>
                <a:rPr sz="1800" b="1" i="0" u="none">
                  <a:solidFill>
                    <a:srgbClr val="0B2B4E"/>
                  </a:solidFill>
                  <a:latin typeface="Calibri"/>
                </a:rPr>
                <a:t>MC = MR = P</a:t>
              </a:r>
              <a:r>
                <a:rPr sz="1800" b="0" i="0" u="none">
                  <a:solidFill>
                    <a:srgbClr val="0B2B4E"/>
                  </a:solidFill>
                  <a:latin typeface="Calibri"/>
                </a:rPr>
                <a:t>.  This occurs at Q*.  At that output positive economic profits are being made because </a:t>
              </a:r>
              <a:r>
                <a:rPr sz="1800" b="1" i="0" u="none">
                  <a:solidFill>
                    <a:srgbClr val="C00000"/>
                  </a:solidFill>
                  <a:latin typeface="Calibri"/>
                </a:rPr>
                <a:t>P &gt; ATC</a:t>
              </a:r>
              <a:r>
                <a:rPr sz="1800" b="0" i="0" u="none">
                  <a:solidFill>
                    <a:srgbClr val="0B2B4E"/>
                  </a:solidFill>
                  <a:latin typeface="Calibri"/>
                </a:rPr>
                <a:t>.</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47E29B0C-E2C2-52A9-874E-F3FCE5D42D6E}" type="slidenum">
              <a:rPr lang="en-US" sz="1200" dirty="0">
                <a:solidFill>
                  <a:srgbClr val="555B66"/>
                </a:solidFill>
                <a:latin typeface="Calibri"/>
              </a:rPr>
              <a:t>40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Low Price: Producing at a Loss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91944"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2" name="Rectangle 11"/>
          <p:cNvSpPr/>
          <p:nvPr/>
        </p:nvSpPr>
        <p:spPr>
          <a:xfrm>
            <a:off x="3726711" y="1851419"/>
            <a:ext cx="4532660" cy="2180026"/>
          </a:xfrm>
          <a:custGeom>
            <a:avLst/>
            <a:gdLst/>
            <a:ahLst/>
            <a:cxnLst/>
            <a:rect l="0" t="0" r="r" b="b"/>
            <a:pathLst>
              <a:path w="4532660" h="2180026">
                <a:moveTo>
                  <a:pt x="0" y="2180026"/>
                </a:moveTo>
                <a:cubicBezTo>
                  <a:pt x="188860" y="2089191"/>
                  <a:pt x="755443" y="1816687"/>
                  <a:pt x="1133165" y="1635019"/>
                </a:cubicBezTo>
                <a:cubicBezTo>
                  <a:pt x="1510886" y="1453350"/>
                  <a:pt x="1888608" y="1271681"/>
                  <a:pt x="2266330" y="1090013"/>
                </a:cubicBezTo>
                <a:cubicBezTo>
                  <a:pt x="2644051" y="908344"/>
                  <a:pt x="3021773" y="726674"/>
                  <a:pt x="3399495" y="545006"/>
                </a:cubicBezTo>
                <a:cubicBezTo>
                  <a:pt x="3777216" y="363337"/>
                  <a:pt x="4343799" y="90834"/>
                  <a:pt x="4532660"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726711" y="2406107"/>
            <a:ext cx="4532660" cy="788004"/>
          </a:xfrm>
          <a:custGeom>
            <a:avLst/>
            <a:gdLst/>
            <a:ahLst/>
            <a:cxnLst/>
            <a:rect l="0" t="0" r="r" b="b"/>
            <a:pathLst>
              <a:path w="4532660" h="788004">
                <a:moveTo>
                  <a:pt x="0" y="0"/>
                </a:moveTo>
                <a:cubicBezTo>
                  <a:pt x="94430" y="93470"/>
                  <a:pt x="377722" y="437452"/>
                  <a:pt x="566583" y="560824"/>
                </a:cubicBezTo>
                <a:cubicBezTo>
                  <a:pt x="755443" y="684195"/>
                  <a:pt x="944304" y="703030"/>
                  <a:pt x="1133165" y="740230"/>
                </a:cubicBezTo>
                <a:cubicBezTo>
                  <a:pt x="1322025" y="777429"/>
                  <a:pt x="1510886" y="780035"/>
                  <a:pt x="1699747" y="784020"/>
                </a:cubicBezTo>
                <a:cubicBezTo>
                  <a:pt x="1888607" y="788004"/>
                  <a:pt x="2077469" y="776593"/>
                  <a:pt x="2266330" y="764137"/>
                </a:cubicBezTo>
                <a:cubicBezTo>
                  <a:pt x="2455190" y="751680"/>
                  <a:pt x="2644051" y="731112"/>
                  <a:pt x="2832912" y="709283"/>
                </a:cubicBezTo>
                <a:cubicBezTo>
                  <a:pt x="3021772" y="687453"/>
                  <a:pt x="3210634" y="660851"/>
                  <a:pt x="3399495" y="633162"/>
                </a:cubicBezTo>
                <a:cubicBezTo>
                  <a:pt x="3588355" y="605472"/>
                  <a:pt x="3777216" y="574748"/>
                  <a:pt x="3966077" y="543147"/>
                </a:cubicBezTo>
                <a:cubicBezTo>
                  <a:pt x="4154937" y="511545"/>
                  <a:pt x="4438229" y="460153"/>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726711" y="3166952"/>
            <a:ext cx="4532660" cy="1090013"/>
          </a:xfrm>
          <a:custGeom>
            <a:avLst/>
            <a:gdLst/>
            <a:ahLst/>
            <a:cxnLst/>
            <a:rect l="0" t="0" r="r" b="b"/>
            <a:pathLst>
              <a:path w="4532660" h="1090013">
                <a:moveTo>
                  <a:pt x="0" y="1090013"/>
                </a:moveTo>
                <a:cubicBezTo>
                  <a:pt x="188860" y="1044595"/>
                  <a:pt x="755443" y="908343"/>
                  <a:pt x="1133165" y="817509"/>
                </a:cubicBezTo>
                <a:cubicBezTo>
                  <a:pt x="1510886" y="726674"/>
                  <a:pt x="1888608" y="635840"/>
                  <a:pt x="2266330" y="545006"/>
                </a:cubicBezTo>
                <a:cubicBezTo>
                  <a:pt x="2644051" y="454171"/>
                  <a:pt x="3021773" y="363337"/>
                  <a:pt x="3399495" y="272503"/>
                </a:cubicBezTo>
                <a:cubicBezTo>
                  <a:pt x="3777216" y="181668"/>
                  <a:pt x="4343799" y="45417"/>
                  <a:pt x="4532660"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1" name="Group 30">
            <a:extLst>
              <a:ext uri="{FF2B5EF4-FFF2-40B4-BE49-F238E27FC236}">
                <a16:creationId xmlns:a16="http://schemas.microsoft.com/office/drawing/2014/main" id="{43D6B979-3216-9451-9755-DDEB562EAE24}"/>
              </a:ext>
            </a:extLst>
          </p:cNvPr>
          <p:cNvGrpSpPr/>
          <p:nvPr/>
        </p:nvGrpSpPr>
        <p:grpSpPr>
          <a:xfrm>
            <a:off x="4324069" y="3662412"/>
            <a:ext cx="339852" cy="1695972"/>
            <a:chOff x="4324069" y="3662412"/>
            <a:chExt cx="339852" cy="1695972"/>
          </a:xfrm>
        </p:grpSpPr>
        <p:cxnSp>
          <p:nvCxnSpPr>
            <p:cNvPr id="17" name="Connector 16"/>
            <p:cNvCxnSpPr/>
            <p:nvPr/>
          </p:nvCxnSpPr>
          <p:spPr>
            <a:xfrm flipV="1">
              <a:off x="4493995" y="3662412"/>
              <a:ext cx="0" cy="136678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24069" y="5084064"/>
              <a:ext cx="339852" cy="274320"/>
            </a:xfrm>
            <a:prstGeom prst="rect">
              <a:avLst/>
            </a:prstGeom>
            <a:noFill/>
          </p:spPr>
          <p:txBody>
            <a:bodyPr wrap="square" lIns="0" tIns="0" rIns="0" bIns="0">
              <a:spAutoFit/>
            </a:bodyPr>
            <a:lstStyle/>
            <a:p>
              <a:pPr algn="ctr"/>
              <a:r>
                <a:rPr sz="1700" b="1" i="1" u="none" dirty="0">
                  <a:solidFill>
                    <a:srgbClr val="0B2B4E"/>
                  </a:solidFill>
                  <a:latin typeface="Calibri"/>
                </a:rPr>
                <a:t>Q*</a:t>
              </a:r>
            </a:p>
          </p:txBody>
        </p:sp>
      </p:grpSp>
      <p:grpSp>
        <p:nvGrpSpPr>
          <p:cNvPr id="30" name="Group 29">
            <a:extLst>
              <a:ext uri="{FF2B5EF4-FFF2-40B4-BE49-F238E27FC236}">
                <a16:creationId xmlns:a16="http://schemas.microsoft.com/office/drawing/2014/main" id="{79E2DB85-96D1-0735-6EB4-461B5C659171}"/>
              </a:ext>
            </a:extLst>
          </p:cNvPr>
          <p:cNvGrpSpPr/>
          <p:nvPr/>
        </p:nvGrpSpPr>
        <p:grpSpPr>
          <a:xfrm>
            <a:off x="2137791" y="3525252"/>
            <a:ext cx="7258394" cy="356645"/>
            <a:chOff x="2137791" y="3525252"/>
            <a:chExt cx="7258394" cy="356645"/>
          </a:xfrm>
        </p:grpSpPr>
        <p:cxnSp>
          <p:nvCxnSpPr>
            <p:cNvPr id="15" name="Connector 14"/>
            <p:cNvCxnSpPr/>
            <p:nvPr/>
          </p:nvCxnSpPr>
          <p:spPr>
            <a:xfrm>
              <a:off x="2788920" y="3662412"/>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573225" y="3571001"/>
              <a:ext cx="822960" cy="310896"/>
            </a:xfrm>
            <a:prstGeom prst="rect">
              <a:avLst/>
            </a:prstGeom>
            <a:noFill/>
          </p:spPr>
          <p:txBody>
            <a:bodyPr wrap="square" lIns="0" tIns="0" rIns="0" bIns="0">
              <a:spAutoFit/>
            </a:bodyPr>
            <a:lstStyle/>
            <a:p>
              <a:pPr algn="l"/>
              <a:r>
                <a:rPr sz="1500" b="1" i="1" u="none" dirty="0">
                  <a:solidFill>
                    <a:srgbClr val="C00000"/>
                  </a:solidFill>
                  <a:latin typeface="Calibri"/>
                </a:rPr>
                <a:t>d = MR</a:t>
              </a:r>
            </a:p>
          </p:txBody>
        </p:sp>
        <p:sp>
          <p:nvSpPr>
            <p:cNvPr id="19" name="TextBox 18"/>
            <p:cNvSpPr txBox="1"/>
            <p:nvPr/>
          </p:nvSpPr>
          <p:spPr>
            <a:xfrm>
              <a:off x="2137791" y="3525252"/>
              <a:ext cx="577977" cy="274320"/>
            </a:xfrm>
            <a:prstGeom prst="rect">
              <a:avLst/>
            </a:prstGeom>
            <a:noFill/>
          </p:spPr>
          <p:txBody>
            <a:bodyPr wrap="square" lIns="0" tIns="0" rIns="0" bIns="0">
              <a:spAutoFit/>
            </a:bodyPr>
            <a:lstStyle/>
            <a:p>
              <a:pPr algn="r"/>
              <a:r>
                <a:rPr sz="1700" b="1" i="1" u="none" dirty="0">
                  <a:solidFill>
                    <a:srgbClr val="C00000"/>
                  </a:solidFill>
                  <a:latin typeface="Calibri"/>
                </a:rPr>
                <a:t>P low</a:t>
              </a:r>
            </a:p>
          </p:txBody>
        </p:sp>
      </p:grpSp>
      <p:sp>
        <p:nvSpPr>
          <p:cNvPr id="20" name="TextBox 19"/>
          <p:cNvSpPr txBox="1"/>
          <p:nvPr/>
        </p:nvSpPr>
        <p:spPr>
          <a:xfrm>
            <a:off x="8327099" y="1630993"/>
            <a:ext cx="406527" cy="292608"/>
          </a:xfrm>
          <a:prstGeom prst="rect">
            <a:avLst/>
          </a:prstGeom>
          <a:noFill/>
        </p:spPr>
        <p:txBody>
          <a:bodyPr wrap="square" lIns="0" tIns="0" rIns="0" bIns="0">
            <a:spAutoFit/>
          </a:bodyPr>
          <a:lstStyle/>
          <a:p>
            <a:pPr algn="l"/>
            <a:r>
              <a:rPr sz="1800" b="1" i="1" u="none" dirty="0">
                <a:solidFill>
                  <a:srgbClr val="0B2B4E"/>
                </a:solidFill>
                <a:latin typeface="Calibri"/>
              </a:rPr>
              <a:t>MC</a:t>
            </a:r>
          </a:p>
        </p:txBody>
      </p:sp>
      <p:sp>
        <p:nvSpPr>
          <p:cNvPr id="21" name="TextBox 20"/>
          <p:cNvSpPr txBox="1"/>
          <p:nvPr/>
        </p:nvSpPr>
        <p:spPr>
          <a:xfrm>
            <a:off x="8314226" y="2686411"/>
            <a:ext cx="473201" cy="292608"/>
          </a:xfrm>
          <a:prstGeom prst="rect">
            <a:avLst/>
          </a:prstGeom>
          <a:noFill/>
        </p:spPr>
        <p:txBody>
          <a:bodyPr wrap="square" lIns="0" tIns="0" rIns="0" bIns="0">
            <a:spAutoFit/>
          </a:bodyPr>
          <a:lstStyle/>
          <a:p>
            <a:pPr algn="l"/>
            <a:r>
              <a:rPr sz="1800" b="1" i="1" u="none" dirty="0">
                <a:solidFill>
                  <a:srgbClr val="E09F3E"/>
                </a:solidFill>
                <a:latin typeface="Calibri"/>
              </a:rPr>
              <a:t>ATC</a:t>
            </a:r>
          </a:p>
        </p:txBody>
      </p:sp>
      <p:sp>
        <p:nvSpPr>
          <p:cNvPr id="22" name="TextBox 21"/>
          <p:cNvSpPr txBox="1"/>
          <p:nvPr/>
        </p:nvSpPr>
        <p:spPr>
          <a:xfrm>
            <a:off x="8327099" y="3083814"/>
            <a:ext cx="492252" cy="292608"/>
          </a:xfrm>
          <a:prstGeom prst="rect">
            <a:avLst/>
          </a:prstGeom>
          <a:noFill/>
        </p:spPr>
        <p:txBody>
          <a:bodyPr wrap="square" lIns="0" tIns="0" rIns="0" bIns="0">
            <a:spAutoFit/>
          </a:bodyPr>
          <a:lstStyle/>
          <a:p>
            <a:pPr algn="l"/>
            <a:r>
              <a:rPr sz="1800" b="1" i="1" u="none" dirty="0" err="1">
                <a:solidFill>
                  <a:srgbClr val="555B66"/>
                </a:solidFill>
                <a:latin typeface="Calibri"/>
              </a:rPr>
              <a:t>AVC</a:t>
            </a:r>
            <a:endParaRPr sz="1800" b="1" i="1" u="none" dirty="0">
              <a:solidFill>
                <a:srgbClr val="555B66"/>
              </a:solidFill>
              <a:latin typeface="Calibri"/>
            </a:endParaRPr>
          </a:p>
        </p:txBody>
      </p:sp>
      <p:grpSp>
        <p:nvGrpSpPr>
          <p:cNvPr id="32" name="Group 31">
            <a:extLst>
              <a:ext uri="{FF2B5EF4-FFF2-40B4-BE49-F238E27FC236}">
                <a16:creationId xmlns:a16="http://schemas.microsoft.com/office/drawing/2014/main" id="{AF0EBD33-72E6-8C15-787B-81784A4A6BDB}"/>
              </a:ext>
            </a:extLst>
          </p:cNvPr>
          <p:cNvGrpSpPr/>
          <p:nvPr/>
        </p:nvGrpSpPr>
        <p:grpSpPr>
          <a:xfrm>
            <a:off x="2788920" y="3054477"/>
            <a:ext cx="1705075" cy="607935"/>
            <a:chOff x="2788920" y="3054477"/>
            <a:chExt cx="1705075" cy="607935"/>
          </a:xfrm>
        </p:grpSpPr>
        <p:sp>
          <p:nvSpPr>
            <p:cNvPr id="11" name="Rectangle 10"/>
            <p:cNvSpPr/>
            <p:nvPr/>
          </p:nvSpPr>
          <p:spPr>
            <a:xfrm>
              <a:off x="2788920" y="3054477"/>
              <a:ext cx="1705075" cy="607935"/>
            </a:xfrm>
            <a:prstGeom prst="rect">
              <a:avLst/>
            </a:prstGeom>
            <a:solidFill>
              <a:srgbClr val="555B66">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001377" y="3184708"/>
              <a:ext cx="1280160" cy="347472"/>
            </a:xfrm>
            <a:prstGeom prst="rect">
              <a:avLst/>
            </a:prstGeom>
            <a:noFill/>
          </p:spPr>
          <p:txBody>
            <a:bodyPr wrap="square" lIns="0" tIns="0" rIns="0" bIns="0">
              <a:spAutoFit/>
            </a:bodyPr>
            <a:lstStyle/>
            <a:p>
              <a:pPr algn="ctr"/>
              <a:r>
                <a:rPr sz="1800" b="1" i="0" u="none">
                  <a:solidFill>
                    <a:srgbClr val="0B2B4E"/>
                  </a:solidFill>
                  <a:latin typeface="Calibri"/>
                </a:rPr>
                <a:t>Loss</a:t>
              </a:r>
            </a:p>
          </p:txBody>
        </p:sp>
      </p:grpSp>
      <p:grpSp>
        <p:nvGrpSpPr>
          <p:cNvPr id="129" name="Group pair 129"/>
          <p:cNvGrpSpPr/>
          <p:nvPr/>
        </p:nvGrpSpPr>
        <p:grpSpPr>
          <a:xfrm>
            <a:off x="914400" y="5577840"/>
            <a:ext cx="10332720" cy="731520"/>
            <a:chOff x="914400" y="5577840"/>
            <a:chExt cx="10332720" cy="731520"/>
          </a:xfrm>
        </p:grpSpPr>
        <p:sp>
          <p:nvSpPr>
            <p:cNvPr id="24" name="Rounded Rectangle 23"/>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Negative economic profits (losses) are being made because </a:t>
              </a:r>
              <a:r>
                <a:rPr sz="1800" b="1" i="0" u="none">
                  <a:solidFill>
                    <a:srgbClr val="C00000"/>
                  </a:solidFill>
                  <a:latin typeface="Calibri"/>
                </a:rPr>
                <a:t>P &lt; ATC</a:t>
              </a:r>
              <a:r>
                <a:rPr sz="1800" b="0" i="0" u="none">
                  <a:solidFill>
                    <a:srgbClr val="0B2B4E"/>
                  </a:solidFill>
                  <a:latin typeface="Calibri"/>
                </a:rPr>
                <a:t>.  But </a:t>
              </a:r>
              <a:r>
                <a:rPr sz="1800" b="1" i="0" u="none">
                  <a:solidFill>
                    <a:srgbClr val="C00000"/>
                  </a:solidFill>
                  <a:latin typeface="Calibri"/>
                </a:rPr>
                <a:t>P &gt; AVC</a:t>
              </a:r>
              <a:r>
                <a:rPr sz="1800" b="0" i="0" u="none">
                  <a:solidFill>
                    <a:srgbClr val="0B2B4E"/>
                  </a:solidFill>
                  <a:latin typeface="Calibri"/>
                </a:rPr>
                <a:t>   →   the firm should continue to produce in the short run.</a:t>
              </a:r>
            </a:p>
          </p:txBody>
        </p:sp>
      </p:gr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9" name="TextBox 28"/>
          <p:cNvSpPr txBox="1"/>
          <p:nvPr/>
        </p:nvSpPr>
        <p:spPr>
          <a:xfrm>
            <a:off x="11475720" y="6583680"/>
            <a:ext cx="502920" cy="292608"/>
          </a:xfrm>
          <a:prstGeom prst="rect">
            <a:avLst/>
          </a:prstGeom>
          <a:noFill/>
        </p:spPr>
        <p:txBody>
          <a:bodyPr wrap="none" lIns="0" tIns="0" rIns="0" bIns="0">
            <a:spAutoFit/>
          </a:bodyPr>
          <a:lstStyle/>
          <a:p>
            <a:pPr algn="r"/>
            <a:fld id="{87FE5336-91BC-514F-BE87-DB3CCAAE3B2B}" type="slidenum">
              <a:rPr lang="en-US" sz="1200" dirty="0">
                <a:solidFill>
                  <a:srgbClr val="555B66"/>
                </a:solidFill>
                <a:latin typeface="Calibri"/>
              </a:rPr>
              <a:t>41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29"/>
                                        </p:tgtEl>
                                        <p:attrNameLst>
                                          <p:attrName>style.visibility</p:attrName>
                                        </p:attrNameLst>
                                      </p:cBhvr>
                                      <p:to>
                                        <p:strVal val="visible"/>
                                      </p:to>
                                    </p:set>
                                    <p:animEffect transition="in" filter="fade">
                                      <p:cBhvr>
                                        <p:cTn id="19"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Low Price: Producing at a Loss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Group 32">
            <a:extLst>
              <a:ext uri="{FF2B5EF4-FFF2-40B4-BE49-F238E27FC236}">
                <a16:creationId xmlns:a16="http://schemas.microsoft.com/office/drawing/2014/main" id="{3B9FB607-2B95-1A9E-22D6-EB36A47DBA3D}"/>
              </a:ext>
            </a:extLst>
          </p:cNvPr>
          <p:cNvGrpSpPr/>
          <p:nvPr/>
        </p:nvGrpSpPr>
        <p:grpSpPr>
          <a:xfrm>
            <a:off x="2518791" y="4009861"/>
            <a:ext cx="7106472" cy="310896"/>
            <a:chOff x="2518791" y="4009861"/>
            <a:chExt cx="7106472" cy="310896"/>
          </a:xfrm>
        </p:grpSpPr>
        <p:cxnSp>
          <p:nvCxnSpPr>
            <p:cNvPr id="16" name="Connector 15"/>
            <p:cNvCxnSpPr/>
            <p:nvPr/>
          </p:nvCxnSpPr>
          <p:spPr>
            <a:xfrm>
              <a:off x="2788920" y="4165309"/>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4009861"/>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4028149"/>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grpSp>
      <p:grpSp>
        <p:nvGrpSpPr>
          <p:cNvPr id="31" name="Group 30">
            <a:extLst>
              <a:ext uri="{FF2B5EF4-FFF2-40B4-BE49-F238E27FC236}">
                <a16:creationId xmlns:a16="http://schemas.microsoft.com/office/drawing/2014/main" id="{E883C68E-6682-F932-C8BC-67A5A3540321}"/>
              </a:ext>
            </a:extLst>
          </p:cNvPr>
          <p:cNvGrpSpPr/>
          <p:nvPr/>
        </p:nvGrpSpPr>
        <p:grpSpPr>
          <a:xfrm>
            <a:off x="6529518" y="4165309"/>
            <a:ext cx="339852" cy="1193075"/>
            <a:chOff x="6529518" y="4165309"/>
            <a:chExt cx="339852" cy="1193075"/>
          </a:xfrm>
        </p:grpSpPr>
        <p:cxnSp>
          <p:nvCxnSpPr>
            <p:cNvPr id="19" name="Connector 18"/>
            <p:cNvCxnSpPr/>
            <p:nvPr/>
          </p:nvCxnSpPr>
          <p:spPr>
            <a:xfrm flipV="1">
              <a:off x="6699444" y="4165309"/>
              <a:ext cx="0" cy="863891"/>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29518"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grpSp>
      <p:sp>
        <p:nvSpPr>
          <p:cNvPr id="21" name="TextBox 20"/>
          <p:cNvSpPr txBox="1"/>
          <p:nvPr/>
        </p:nvSpPr>
        <p:spPr>
          <a:xfrm>
            <a:off x="7696901" y="2041128"/>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2" name="TextBox 21"/>
          <p:cNvSpPr txBox="1"/>
          <p:nvPr/>
        </p:nvSpPr>
        <p:spPr>
          <a:xfrm>
            <a:off x="8227494" y="3608494"/>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grpSp>
        <p:nvGrpSpPr>
          <p:cNvPr id="32" name="Group 31">
            <a:extLst>
              <a:ext uri="{FF2B5EF4-FFF2-40B4-BE49-F238E27FC236}">
                <a16:creationId xmlns:a16="http://schemas.microsoft.com/office/drawing/2014/main" id="{08C79B84-93B8-080A-6617-DC5267AE0341}"/>
              </a:ext>
            </a:extLst>
          </p:cNvPr>
          <p:cNvGrpSpPr/>
          <p:nvPr/>
        </p:nvGrpSpPr>
        <p:grpSpPr>
          <a:xfrm>
            <a:off x="2788920" y="3980324"/>
            <a:ext cx="3910524" cy="277063"/>
            <a:chOff x="2788920" y="3980324"/>
            <a:chExt cx="3910524" cy="277063"/>
          </a:xfrm>
        </p:grpSpPr>
        <p:sp>
          <p:nvSpPr>
            <p:cNvPr id="12" name="Rectangle 11"/>
            <p:cNvSpPr/>
            <p:nvPr/>
          </p:nvSpPr>
          <p:spPr>
            <a:xfrm>
              <a:off x="2788920" y="4073314"/>
              <a:ext cx="3910524" cy="91995"/>
            </a:xfrm>
            <a:prstGeom prst="rect">
              <a:avLst/>
            </a:prstGeom>
            <a:solidFill>
              <a:srgbClr val="555B66">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1508" y="3980324"/>
              <a:ext cx="1280160" cy="277063"/>
            </a:xfrm>
            <a:prstGeom prst="rect">
              <a:avLst/>
            </a:prstGeom>
            <a:noFill/>
          </p:spPr>
          <p:txBody>
            <a:bodyPr wrap="square" lIns="0" tIns="0" rIns="0" bIns="0">
              <a:spAutoFit/>
            </a:bodyPr>
            <a:lstStyle/>
            <a:p>
              <a:pPr algn="ctr"/>
              <a:r>
                <a:rPr sz="1800" b="1" i="0" u="none" dirty="0">
                  <a:solidFill>
                    <a:srgbClr val="0B2B4E"/>
                  </a:solidFill>
                  <a:latin typeface="Calibri"/>
                </a:rPr>
                <a:t>Loss</a:t>
              </a:r>
            </a:p>
          </p:txBody>
        </p:sp>
      </p:gr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Negative economic profits (losses) are being made because </a:t>
              </a:r>
              <a:r>
                <a:rPr sz="1800" b="1" i="0" u="none">
                  <a:solidFill>
                    <a:srgbClr val="C00000"/>
                  </a:solidFill>
                  <a:latin typeface="Calibri"/>
                </a:rPr>
                <a:t>P &lt; ATC</a:t>
              </a:r>
              <a:r>
                <a:rPr sz="1800" b="0" i="0" u="none">
                  <a:solidFill>
                    <a:srgbClr val="0B2B4E"/>
                  </a:solidFill>
                  <a:latin typeface="Calibri"/>
                </a:rPr>
                <a:t>.  But </a:t>
              </a:r>
              <a:r>
                <a:rPr sz="1800" b="1" i="0" u="none">
                  <a:solidFill>
                    <a:srgbClr val="C00000"/>
                  </a:solidFill>
                  <a:latin typeface="Calibri"/>
                </a:rPr>
                <a:t>P &gt; AVC</a:t>
              </a:r>
              <a:r>
                <a:rPr sz="1800" b="0" i="0" u="none">
                  <a:solidFill>
                    <a:srgbClr val="0B2B4E"/>
                  </a:solidFill>
                  <a:latin typeface="Calibri"/>
                </a:rPr>
                <a:t>   →   the firm should continue to produce in the short run.</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A9745B44-8DC3-5093-8076-16734C04D8AD}" type="slidenum">
              <a:rPr lang="en-US" sz="1200" dirty="0">
                <a:solidFill>
                  <a:srgbClr val="555B66"/>
                </a:solidFill>
                <a:latin typeface="Calibri"/>
              </a:rPr>
              <a:t>42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Very Low Price: Stopping Production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788920" y="1618488"/>
            <a:ext cx="0" cy="34107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518791" y="1485900"/>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TextBox 9"/>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1" name="Rectangle 10"/>
          <p:cNvSpPr/>
          <p:nvPr/>
        </p:nvSpPr>
        <p:spPr>
          <a:xfrm>
            <a:off x="2788920" y="1851419"/>
            <a:ext cx="5470451" cy="2631066"/>
          </a:xfrm>
          <a:custGeom>
            <a:avLst/>
            <a:gdLst/>
            <a:ahLst/>
            <a:cxnLst/>
            <a:rect l="0" t="0" r="r" b="b"/>
            <a:pathLst>
              <a:path w="5470451" h="2631066">
                <a:moveTo>
                  <a:pt x="0" y="2631066"/>
                </a:moveTo>
                <a:cubicBezTo>
                  <a:pt x="227935" y="2521438"/>
                  <a:pt x="911741" y="2192554"/>
                  <a:pt x="1367612" y="1973299"/>
                </a:cubicBezTo>
                <a:cubicBezTo>
                  <a:pt x="1823482" y="1754043"/>
                  <a:pt x="2279354" y="1534788"/>
                  <a:pt x="2735225" y="1315533"/>
                </a:cubicBezTo>
                <a:cubicBezTo>
                  <a:pt x="3191096" y="1096277"/>
                  <a:pt x="3646967" y="877021"/>
                  <a:pt x="4102838" y="657766"/>
                </a:cubicBezTo>
                <a:cubicBezTo>
                  <a:pt x="4558709" y="438510"/>
                  <a:pt x="5242515" y="109627"/>
                  <a:pt x="5470451"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726711" y="2406107"/>
            <a:ext cx="4532660" cy="867586"/>
          </a:xfrm>
          <a:custGeom>
            <a:avLst/>
            <a:gdLst/>
            <a:ahLst/>
            <a:cxnLst/>
            <a:rect l="0" t="0" r="r" b="b"/>
            <a:pathLst>
              <a:path w="4532660" h="867586">
                <a:moveTo>
                  <a:pt x="0" y="0"/>
                </a:moveTo>
                <a:cubicBezTo>
                  <a:pt x="188860" y="123371"/>
                  <a:pt x="755443" y="612873"/>
                  <a:pt x="1133165" y="740230"/>
                </a:cubicBezTo>
                <a:cubicBezTo>
                  <a:pt x="1510886" y="867586"/>
                  <a:pt x="1888608" y="781981"/>
                  <a:pt x="2266330" y="764137"/>
                </a:cubicBezTo>
                <a:cubicBezTo>
                  <a:pt x="2644051" y="746292"/>
                  <a:pt x="3021773" y="686592"/>
                  <a:pt x="3399495" y="633162"/>
                </a:cubicBezTo>
                <a:cubicBezTo>
                  <a:pt x="3777216" y="579731"/>
                  <a:pt x="4343799" y="475156"/>
                  <a:pt x="4532660" y="443555"/>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88920" y="3166952"/>
            <a:ext cx="5470451" cy="1315533"/>
          </a:xfrm>
          <a:custGeom>
            <a:avLst/>
            <a:gdLst/>
            <a:ahLst/>
            <a:cxnLst/>
            <a:rect l="0" t="0" r="r" b="b"/>
            <a:pathLst>
              <a:path w="5470451" h="1315533">
                <a:moveTo>
                  <a:pt x="0" y="1315533"/>
                </a:moveTo>
                <a:cubicBezTo>
                  <a:pt x="227935" y="1260719"/>
                  <a:pt x="911741" y="1096276"/>
                  <a:pt x="1367612" y="986649"/>
                </a:cubicBezTo>
                <a:cubicBezTo>
                  <a:pt x="1823482" y="877021"/>
                  <a:pt x="2279354" y="767393"/>
                  <a:pt x="2735225" y="657766"/>
                </a:cubicBezTo>
                <a:cubicBezTo>
                  <a:pt x="3191096" y="548138"/>
                  <a:pt x="3646967" y="438510"/>
                  <a:pt x="4102838" y="328883"/>
                </a:cubicBezTo>
                <a:cubicBezTo>
                  <a:pt x="4558709" y="219255"/>
                  <a:pt x="5242515" y="54813"/>
                  <a:pt x="5470451" y="0"/>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7" name="Group 26">
            <a:extLst>
              <a:ext uri="{FF2B5EF4-FFF2-40B4-BE49-F238E27FC236}">
                <a16:creationId xmlns:a16="http://schemas.microsoft.com/office/drawing/2014/main" id="{1C47E014-A661-B879-38EC-A045D25D3569}"/>
              </a:ext>
            </a:extLst>
          </p:cNvPr>
          <p:cNvGrpSpPr/>
          <p:nvPr/>
        </p:nvGrpSpPr>
        <p:grpSpPr>
          <a:xfrm>
            <a:off x="1699640" y="4480800"/>
            <a:ext cx="7734363" cy="310896"/>
            <a:chOff x="1699640" y="4480800"/>
            <a:chExt cx="7734363" cy="310896"/>
          </a:xfrm>
        </p:grpSpPr>
        <p:cxnSp>
          <p:nvCxnSpPr>
            <p:cNvPr id="14" name="Connector 13"/>
            <p:cNvCxnSpPr/>
            <p:nvPr/>
          </p:nvCxnSpPr>
          <p:spPr>
            <a:xfrm>
              <a:off x="2788920" y="4636248"/>
              <a:ext cx="570489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11043" y="4480800"/>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6" name="TextBox 15"/>
            <p:cNvSpPr txBox="1"/>
            <p:nvPr/>
          </p:nvSpPr>
          <p:spPr>
            <a:xfrm>
              <a:off x="1699640" y="4499088"/>
              <a:ext cx="1016127" cy="274320"/>
            </a:xfrm>
            <a:prstGeom prst="rect">
              <a:avLst/>
            </a:prstGeom>
            <a:noFill/>
          </p:spPr>
          <p:txBody>
            <a:bodyPr wrap="square" lIns="0" tIns="0" rIns="0" bIns="0">
              <a:spAutoFit/>
            </a:bodyPr>
            <a:lstStyle/>
            <a:p>
              <a:pPr algn="r"/>
              <a:r>
                <a:rPr sz="1700" b="1" i="1" u="none" dirty="0">
                  <a:solidFill>
                    <a:srgbClr val="C00000"/>
                  </a:solidFill>
                  <a:latin typeface="Calibri"/>
                </a:rPr>
                <a:t>P very low</a:t>
              </a:r>
            </a:p>
          </p:txBody>
        </p:sp>
      </p:grpSp>
      <p:sp>
        <p:nvSpPr>
          <p:cNvPr id="17" name="TextBox 16"/>
          <p:cNvSpPr txBox="1"/>
          <p:nvPr/>
        </p:nvSpPr>
        <p:spPr>
          <a:xfrm>
            <a:off x="7907699" y="148301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18" name="TextBox 17"/>
          <p:cNvSpPr txBox="1"/>
          <p:nvPr/>
        </p:nvSpPr>
        <p:spPr>
          <a:xfrm>
            <a:off x="8415669" y="2566679"/>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19" name="TextBox 18"/>
          <p:cNvSpPr txBox="1"/>
          <p:nvPr/>
        </p:nvSpPr>
        <p:spPr>
          <a:xfrm>
            <a:off x="8415669" y="327692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sp>
        <p:nvSpPr>
          <p:cNvPr id="20" name="TextBox 19"/>
          <p:cNvSpPr txBox="1"/>
          <p:nvPr/>
        </p:nvSpPr>
        <p:spPr>
          <a:xfrm>
            <a:off x="4039308" y="4727688"/>
            <a:ext cx="3291840" cy="310896"/>
          </a:xfrm>
          <a:prstGeom prst="rect">
            <a:avLst/>
          </a:prstGeom>
          <a:noFill/>
        </p:spPr>
        <p:txBody>
          <a:bodyPr wrap="square" lIns="0" tIns="0" rIns="0" bIns="0">
            <a:spAutoFit/>
          </a:bodyPr>
          <a:lstStyle/>
          <a:p>
            <a:pPr algn="l"/>
            <a:r>
              <a:rPr sz="1700" b="1" i="1" u="none" dirty="0">
                <a:solidFill>
                  <a:srgbClr val="3F444C"/>
                </a:solidFill>
                <a:latin typeface="Calibri"/>
              </a:rPr>
              <a:t>P &lt; AVC at every output</a:t>
            </a:r>
          </a:p>
        </p:txBody>
      </p:sp>
      <p:grpSp>
        <p:nvGrpSpPr>
          <p:cNvPr id="126" name="Group pair 126"/>
          <p:cNvGrpSpPr/>
          <p:nvPr/>
        </p:nvGrpSpPr>
        <p:grpSpPr>
          <a:xfrm>
            <a:off x="914400" y="5577840"/>
            <a:ext cx="10332720" cy="731520"/>
            <a:chOff x="914400" y="5577840"/>
            <a:chExt cx="10332720" cy="731520"/>
          </a:xfrm>
        </p:grpSpPr>
        <p:sp>
          <p:nvSpPr>
            <p:cNvPr id="21" name="Rounded Rectangle 20"/>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97280" y="5687568"/>
              <a:ext cx="9966960" cy="512064"/>
            </a:xfrm>
            <a:prstGeom prst="rect">
              <a:avLst/>
            </a:prstGeom>
            <a:noFill/>
          </p:spPr>
          <p:txBody>
            <a:bodyPr wrap="square" lIns="45720" tIns="0" rIns="45720" bIns="0" anchor="ctr">
              <a:spAutoFit/>
            </a:bodyPr>
            <a:lstStyle/>
            <a:p>
              <a:pPr algn="ctr"/>
              <a:r>
                <a:rPr sz="1800" b="0" i="0" u="none">
                  <a:solidFill>
                    <a:srgbClr val="0B2B4E"/>
                  </a:solidFill>
                  <a:latin typeface="Calibri"/>
                </a:rPr>
                <a:t>There is no output at which producing covers variable cost: </a:t>
              </a:r>
              <a:r>
                <a:rPr sz="1800" b="1" i="0" u="none">
                  <a:solidFill>
                    <a:srgbClr val="C00000"/>
                  </a:solidFill>
                  <a:latin typeface="Calibri"/>
                </a:rPr>
                <a:t>P &lt; AVC everywhere</a:t>
              </a:r>
              <a:r>
                <a:rPr sz="1800" b="0" i="0" u="none">
                  <a:solidFill>
                    <a:srgbClr val="0B2B4E"/>
                  </a:solidFill>
                  <a:latin typeface="Calibri"/>
                </a:rPr>
                <a:t>   →   the firm should stop production, and its loss is then </a:t>
              </a:r>
              <a:r>
                <a:rPr sz="1800" b="1" i="0" u="none">
                  <a:solidFill>
                    <a:srgbClr val="C00000"/>
                  </a:solidFill>
                  <a:latin typeface="Calibri"/>
                </a:rPr>
                <a:t>TFC</a:t>
              </a:r>
              <a:r>
                <a:rPr sz="1800" b="0" i="0" u="none">
                  <a:solidFill>
                    <a:srgbClr val="0B2B4E"/>
                  </a:solidFill>
                  <a:latin typeface="Calibri"/>
                </a:rPr>
                <a:t>.</a:t>
              </a:r>
            </a:p>
          </p:txBody>
        </p:sp>
      </p:gr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6" name="TextBox 25"/>
          <p:cNvSpPr txBox="1"/>
          <p:nvPr/>
        </p:nvSpPr>
        <p:spPr>
          <a:xfrm>
            <a:off x="11475720" y="6583680"/>
            <a:ext cx="502920" cy="292608"/>
          </a:xfrm>
          <a:prstGeom prst="rect">
            <a:avLst/>
          </a:prstGeom>
          <a:noFill/>
        </p:spPr>
        <p:txBody>
          <a:bodyPr wrap="none" lIns="0" tIns="0" rIns="0" bIns="0">
            <a:spAutoFit/>
          </a:bodyPr>
          <a:lstStyle/>
          <a:p>
            <a:pPr algn="r"/>
            <a:fld id="{9F386A92-D12C-5D81-A2EA-B3A7E8744320}" type="slidenum">
              <a:rPr lang="en-US" sz="1200" dirty="0">
                <a:solidFill>
                  <a:srgbClr val="555B66"/>
                </a:solidFill>
                <a:latin typeface="Calibri"/>
              </a:rPr>
              <a:t>43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Very Low Price: Stopping Production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651760" y="1335024"/>
            <a:ext cx="6903720" cy="512064"/>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Example with more complex cost functions</a:t>
            </a:r>
          </a:p>
        </p:txBody>
      </p:sp>
      <p:cxnSp>
        <p:nvCxnSpPr>
          <p:cNvPr id="8" name="Connector 7"/>
          <p:cNvCxnSpPr/>
          <p:nvPr/>
        </p:nvCxnSpPr>
        <p:spPr>
          <a:xfrm flipV="1">
            <a:off x="2788920" y="2029967"/>
            <a:ext cx="0" cy="29992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88920" y="5029200"/>
            <a:ext cx="68854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518791" y="18973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9561575" y="507492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3" name="Rectangle 12"/>
          <p:cNvSpPr/>
          <p:nvPr/>
        </p:nvSpPr>
        <p:spPr>
          <a:xfrm>
            <a:off x="3805889" y="2335914"/>
            <a:ext cx="4377389" cy="2393659"/>
          </a:xfrm>
          <a:custGeom>
            <a:avLst/>
            <a:gdLst/>
            <a:ahLst/>
            <a:cxnLst/>
            <a:rect l="0" t="0" r="r" b="b"/>
            <a:pathLst>
              <a:path w="4377389" h="2393659">
                <a:moveTo>
                  <a:pt x="0" y="1723866"/>
                </a:moveTo>
                <a:cubicBezTo>
                  <a:pt x="91195" y="1789241"/>
                  <a:pt x="364781" y="2014308"/>
                  <a:pt x="547173" y="2116120"/>
                </a:cubicBezTo>
                <a:cubicBezTo>
                  <a:pt x="729564" y="2217931"/>
                  <a:pt x="911955" y="2290804"/>
                  <a:pt x="1094347" y="2334736"/>
                </a:cubicBezTo>
                <a:cubicBezTo>
                  <a:pt x="1276738" y="2378667"/>
                  <a:pt x="1459129" y="2393659"/>
                  <a:pt x="1641521" y="2379711"/>
                </a:cubicBezTo>
                <a:cubicBezTo>
                  <a:pt x="1823912" y="2365763"/>
                  <a:pt x="2006302" y="2322875"/>
                  <a:pt x="2188694" y="2251048"/>
                </a:cubicBezTo>
                <a:cubicBezTo>
                  <a:pt x="2371085" y="2179220"/>
                  <a:pt x="2553476" y="2078452"/>
                  <a:pt x="2735868" y="1948745"/>
                </a:cubicBezTo>
                <a:cubicBezTo>
                  <a:pt x="2918259" y="1819037"/>
                  <a:pt x="3100650" y="1660390"/>
                  <a:pt x="3283042" y="1472803"/>
                </a:cubicBezTo>
                <a:cubicBezTo>
                  <a:pt x="3465433" y="1285215"/>
                  <a:pt x="3647823" y="1068688"/>
                  <a:pt x="3830215" y="823221"/>
                </a:cubicBezTo>
                <a:cubicBezTo>
                  <a:pt x="4012606" y="577753"/>
                  <a:pt x="4286193" y="137203"/>
                  <a:pt x="4377389"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805889" y="2810352"/>
            <a:ext cx="4377389" cy="1267324"/>
          </a:xfrm>
          <a:custGeom>
            <a:avLst/>
            <a:gdLst/>
            <a:ahLst/>
            <a:cxnLst/>
            <a:rect l="0" t="0" r="r" b="b"/>
            <a:pathLst>
              <a:path w="4377389" h="1267324">
                <a:moveTo>
                  <a:pt x="0" y="0"/>
                </a:moveTo>
                <a:cubicBezTo>
                  <a:pt x="91195" y="85125"/>
                  <a:pt x="364781" y="371430"/>
                  <a:pt x="547173" y="510751"/>
                </a:cubicBezTo>
                <a:cubicBezTo>
                  <a:pt x="729564" y="650071"/>
                  <a:pt x="911955" y="745321"/>
                  <a:pt x="1094347" y="835924"/>
                </a:cubicBezTo>
                <a:cubicBezTo>
                  <a:pt x="1276738" y="926527"/>
                  <a:pt x="1459129" y="995173"/>
                  <a:pt x="1641521" y="1054369"/>
                </a:cubicBezTo>
                <a:cubicBezTo>
                  <a:pt x="1823912" y="1113564"/>
                  <a:pt x="2006302" y="1157403"/>
                  <a:pt x="2188694" y="1191098"/>
                </a:cubicBezTo>
                <a:cubicBezTo>
                  <a:pt x="2371085" y="1224793"/>
                  <a:pt x="2553476" y="1245753"/>
                  <a:pt x="2735868" y="1256539"/>
                </a:cubicBezTo>
                <a:cubicBezTo>
                  <a:pt x="2918259" y="1267324"/>
                  <a:pt x="3100650" y="1266613"/>
                  <a:pt x="3283042" y="1255810"/>
                </a:cubicBezTo>
                <a:cubicBezTo>
                  <a:pt x="3465433" y="1245006"/>
                  <a:pt x="3647823" y="1223363"/>
                  <a:pt x="3830215" y="1191717"/>
                </a:cubicBezTo>
                <a:cubicBezTo>
                  <a:pt x="4012606" y="1160070"/>
                  <a:pt x="4286193" y="1086895"/>
                  <a:pt x="4377389" y="1065931"/>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805889" y="3514611"/>
            <a:ext cx="4377389" cy="744433"/>
          </a:xfrm>
          <a:custGeom>
            <a:avLst/>
            <a:gdLst/>
            <a:ahLst/>
            <a:cxnLst/>
            <a:rect l="0" t="0" r="r" b="b"/>
            <a:pathLst>
              <a:path w="4377389" h="744433">
                <a:moveTo>
                  <a:pt x="0" y="0"/>
                </a:moveTo>
                <a:cubicBezTo>
                  <a:pt x="91195" y="44064"/>
                  <a:pt x="364781" y="185902"/>
                  <a:pt x="547173" y="264384"/>
                </a:cubicBezTo>
                <a:cubicBezTo>
                  <a:pt x="729564" y="342865"/>
                  <a:pt x="911955" y="411700"/>
                  <a:pt x="1094347" y="470889"/>
                </a:cubicBezTo>
                <a:cubicBezTo>
                  <a:pt x="1276738" y="530077"/>
                  <a:pt x="1459129" y="579619"/>
                  <a:pt x="1641521" y="619514"/>
                </a:cubicBezTo>
                <a:cubicBezTo>
                  <a:pt x="1823912" y="659409"/>
                  <a:pt x="2006302" y="689657"/>
                  <a:pt x="2188694" y="710259"/>
                </a:cubicBezTo>
                <a:cubicBezTo>
                  <a:pt x="2371085" y="730860"/>
                  <a:pt x="2553476" y="741816"/>
                  <a:pt x="2735868" y="743125"/>
                </a:cubicBezTo>
                <a:cubicBezTo>
                  <a:pt x="2918259" y="744433"/>
                  <a:pt x="3100650" y="736094"/>
                  <a:pt x="3283042" y="718110"/>
                </a:cubicBezTo>
                <a:cubicBezTo>
                  <a:pt x="3465433" y="700125"/>
                  <a:pt x="3647823" y="672494"/>
                  <a:pt x="3830215" y="635216"/>
                </a:cubicBezTo>
                <a:cubicBezTo>
                  <a:pt x="4012606" y="597938"/>
                  <a:pt x="4286193" y="517904"/>
                  <a:pt x="4377389" y="494442"/>
                </a:cubicBezTo>
              </a:path>
            </a:pathLst>
          </a:custGeom>
          <a:noFill/>
          <a:ln w="31750">
            <a:solidFill>
              <a:srgbClr val="555B66"/>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1" name="Group 30">
            <a:extLst>
              <a:ext uri="{FF2B5EF4-FFF2-40B4-BE49-F238E27FC236}">
                <a16:creationId xmlns:a16="http://schemas.microsoft.com/office/drawing/2014/main" id="{2BC59B8A-0CF7-492B-DFE3-2928B009EF1E}"/>
              </a:ext>
            </a:extLst>
          </p:cNvPr>
          <p:cNvGrpSpPr/>
          <p:nvPr/>
        </p:nvGrpSpPr>
        <p:grpSpPr>
          <a:xfrm>
            <a:off x="2518791" y="4279827"/>
            <a:ext cx="7106472" cy="310896"/>
            <a:chOff x="2518791" y="4279827"/>
            <a:chExt cx="7106472" cy="310896"/>
          </a:xfrm>
        </p:grpSpPr>
        <p:cxnSp>
          <p:nvCxnSpPr>
            <p:cNvPr id="16" name="Connector 15"/>
            <p:cNvCxnSpPr/>
            <p:nvPr/>
          </p:nvCxnSpPr>
          <p:spPr>
            <a:xfrm>
              <a:off x="2788920" y="4435275"/>
              <a:ext cx="5880735"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802303" y="4279827"/>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sp>
          <p:nvSpPr>
            <p:cNvPr id="18" name="TextBox 17"/>
            <p:cNvSpPr txBox="1"/>
            <p:nvPr/>
          </p:nvSpPr>
          <p:spPr>
            <a:xfrm>
              <a:off x="2518791" y="4298115"/>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grpSp>
      <p:grpSp>
        <p:nvGrpSpPr>
          <p:cNvPr id="32" name="Group 31">
            <a:extLst>
              <a:ext uri="{FF2B5EF4-FFF2-40B4-BE49-F238E27FC236}">
                <a16:creationId xmlns:a16="http://schemas.microsoft.com/office/drawing/2014/main" id="{582B4DC9-8B52-2FAF-9E52-9B5B0DCF1E67}"/>
              </a:ext>
            </a:extLst>
          </p:cNvPr>
          <p:cNvGrpSpPr/>
          <p:nvPr/>
        </p:nvGrpSpPr>
        <p:grpSpPr>
          <a:xfrm>
            <a:off x="6137683" y="4432610"/>
            <a:ext cx="339852" cy="925774"/>
            <a:chOff x="6137683" y="4432610"/>
            <a:chExt cx="339852" cy="925774"/>
          </a:xfrm>
        </p:grpSpPr>
        <p:cxnSp>
          <p:nvCxnSpPr>
            <p:cNvPr id="19" name="Connector 18"/>
            <p:cNvCxnSpPr/>
            <p:nvPr/>
          </p:nvCxnSpPr>
          <p:spPr>
            <a:xfrm flipV="1">
              <a:off x="6307609" y="4432610"/>
              <a:ext cx="0" cy="593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37683" y="508406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grpSp>
      <p:sp>
        <p:nvSpPr>
          <p:cNvPr id="21" name="TextBox 20"/>
          <p:cNvSpPr txBox="1"/>
          <p:nvPr/>
        </p:nvSpPr>
        <p:spPr>
          <a:xfrm>
            <a:off x="7696901" y="2041128"/>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22" name="TextBox 21"/>
          <p:cNvSpPr txBox="1"/>
          <p:nvPr/>
        </p:nvSpPr>
        <p:spPr>
          <a:xfrm>
            <a:off x="8227494" y="3608494"/>
            <a:ext cx="473201" cy="292608"/>
          </a:xfrm>
          <a:prstGeom prst="rect">
            <a:avLst/>
          </a:prstGeom>
          <a:noFill/>
        </p:spPr>
        <p:txBody>
          <a:bodyPr wrap="square" lIns="0" tIns="0" rIns="0" bIns="0">
            <a:spAutoFit/>
          </a:bodyPr>
          <a:lstStyle/>
          <a:p>
            <a:pPr algn="l"/>
            <a:r>
              <a:rPr sz="1800" b="1" i="1" u="none">
                <a:solidFill>
                  <a:srgbClr val="E09F3E"/>
                </a:solidFill>
                <a:latin typeface="Calibri"/>
              </a:rPr>
              <a:t>ATC</a:t>
            </a:r>
          </a:p>
        </p:txBody>
      </p:sp>
      <p:sp>
        <p:nvSpPr>
          <p:cNvPr id="23" name="TextBox 22"/>
          <p:cNvSpPr txBox="1"/>
          <p:nvPr/>
        </p:nvSpPr>
        <p:spPr>
          <a:xfrm>
            <a:off x="8227494" y="4011230"/>
            <a:ext cx="492252" cy="292608"/>
          </a:xfrm>
          <a:prstGeom prst="rect">
            <a:avLst/>
          </a:prstGeom>
          <a:noFill/>
        </p:spPr>
        <p:txBody>
          <a:bodyPr wrap="square" lIns="0" tIns="0" rIns="0" bIns="0">
            <a:spAutoFit/>
          </a:bodyPr>
          <a:lstStyle/>
          <a:p>
            <a:pPr algn="l"/>
            <a:r>
              <a:rPr sz="1800" b="1" i="1" u="none">
                <a:solidFill>
                  <a:srgbClr val="555B66"/>
                </a:solidFill>
                <a:latin typeface="Calibri"/>
              </a:rPr>
              <a:t>AVC</a:t>
            </a:r>
          </a:p>
        </p:txBody>
      </p:sp>
      <p:grpSp>
        <p:nvGrpSpPr>
          <p:cNvPr id="33" name="Group 32">
            <a:extLst>
              <a:ext uri="{FF2B5EF4-FFF2-40B4-BE49-F238E27FC236}">
                <a16:creationId xmlns:a16="http://schemas.microsoft.com/office/drawing/2014/main" id="{41494B7C-ABD0-76EE-6107-15F2461526A8}"/>
              </a:ext>
            </a:extLst>
          </p:cNvPr>
          <p:cNvGrpSpPr/>
          <p:nvPr/>
        </p:nvGrpSpPr>
        <p:grpSpPr>
          <a:xfrm>
            <a:off x="2788920" y="4047212"/>
            <a:ext cx="3518689" cy="388063"/>
            <a:chOff x="2788920" y="4047212"/>
            <a:chExt cx="3518689" cy="388063"/>
          </a:xfrm>
        </p:grpSpPr>
        <p:sp>
          <p:nvSpPr>
            <p:cNvPr id="12" name="Rectangle 11"/>
            <p:cNvSpPr/>
            <p:nvPr/>
          </p:nvSpPr>
          <p:spPr>
            <a:xfrm>
              <a:off x="2788920" y="4047212"/>
              <a:ext cx="3518689" cy="388063"/>
            </a:xfrm>
            <a:prstGeom prst="rect">
              <a:avLst/>
            </a:prstGeom>
            <a:solidFill>
              <a:srgbClr val="3F444C">
                <a:alpha val="25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1508" y="4102256"/>
              <a:ext cx="1280160" cy="277063"/>
            </a:xfrm>
            <a:prstGeom prst="rect">
              <a:avLst/>
            </a:prstGeom>
            <a:noFill/>
          </p:spPr>
          <p:txBody>
            <a:bodyPr wrap="square" lIns="0" tIns="0" rIns="0" bIns="0">
              <a:spAutoFit/>
            </a:bodyPr>
            <a:lstStyle/>
            <a:p>
              <a:pPr algn="ctr"/>
              <a:r>
                <a:rPr sz="1800" b="1" i="0" u="none">
                  <a:solidFill>
                    <a:srgbClr val="0B2B4E"/>
                  </a:solidFill>
                  <a:latin typeface="Calibri"/>
                </a:rPr>
                <a:t>Loss</a:t>
              </a:r>
            </a:p>
          </p:txBody>
        </p:sp>
      </p:grpSp>
      <p:grpSp>
        <p:nvGrpSpPr>
          <p:cNvPr id="130" name="Group pair 130"/>
          <p:cNvGrpSpPr/>
          <p:nvPr/>
        </p:nvGrpSpPr>
        <p:grpSpPr>
          <a:xfrm>
            <a:off x="914400" y="5577840"/>
            <a:ext cx="10332720" cy="731520"/>
            <a:chOff x="914400" y="5577840"/>
            <a:chExt cx="10332720" cy="731520"/>
          </a:xfrm>
        </p:grpSpPr>
        <p:sp>
          <p:nvSpPr>
            <p:cNvPr id="25" name="Rounded Rectangle 24"/>
            <p:cNvSpPr/>
            <p:nvPr/>
          </p:nvSpPr>
          <p:spPr>
            <a:xfrm>
              <a:off x="914400" y="5577840"/>
              <a:ext cx="10332720" cy="731520"/>
            </a:xfrm>
            <a:prstGeom prst="roundRect">
              <a:avLst>
                <a:gd name="adj" fmla="val 12000"/>
              </a:avLst>
            </a:prstGeom>
            <a:solidFill>
              <a:srgbClr val="FDF6E6"/>
            </a:solidFill>
            <a:ln w="22225">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66601"/>
              <a:ext cx="9966960" cy="553998"/>
            </a:xfrm>
            <a:prstGeom prst="rect">
              <a:avLst/>
            </a:prstGeom>
            <a:noFill/>
          </p:spPr>
          <p:txBody>
            <a:bodyPr wrap="square" lIns="45720" tIns="0" rIns="45720" bIns="0" anchor="ctr">
              <a:spAutoFit/>
            </a:bodyPr>
            <a:lstStyle/>
            <a:p>
              <a:pPr algn="ctr"/>
              <a:r>
                <a:rPr sz="1800" b="0" i="0" u="none" dirty="0">
                  <a:solidFill>
                    <a:srgbClr val="0B2B4E"/>
                  </a:solidFill>
                  <a:latin typeface="Calibri"/>
                </a:rPr>
                <a:t>MC really does run below AVC for a while, so there </a:t>
              </a:r>
              <a:r>
                <a:rPr lang="en-US" sz="1800" b="0" i="0" u="sng" dirty="0">
                  <a:solidFill>
                    <a:srgbClr val="0B2B4E"/>
                  </a:solidFill>
                  <a:latin typeface="Calibri"/>
                </a:rPr>
                <a:t>is</a:t>
              </a:r>
              <a:r>
                <a:rPr sz="1800" b="0" i="0" u="none" dirty="0">
                  <a:solidFill>
                    <a:srgbClr val="0B2B4E"/>
                  </a:solidFill>
                  <a:latin typeface="Calibri"/>
                </a:rPr>
                <a:t> a Q* where MC = P.  But </a:t>
              </a:r>
              <a:r>
                <a:rPr sz="1800" b="1" i="0" u="none" dirty="0">
                  <a:solidFill>
                    <a:srgbClr val="C00000"/>
                  </a:solidFill>
                  <a:latin typeface="Calibri"/>
                </a:rPr>
                <a:t>P &lt; AVC at Q*</a:t>
              </a:r>
              <a:r>
                <a:rPr sz="1800" b="0" i="0" u="none" dirty="0">
                  <a:solidFill>
                    <a:srgbClr val="0B2B4E"/>
                  </a:solidFill>
                  <a:latin typeface="Calibri"/>
                </a:rPr>
                <a:t>   →   producing would lose more than TFC, so the firm stops production.</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99DE5288-7E28-53A2-BA5C-A68EAE30E11A}" type="slidenum">
              <a:rPr lang="en-US" sz="1200" dirty="0">
                <a:solidFill>
                  <a:srgbClr val="555B66"/>
                </a:solidFill>
                <a:latin typeface="Calibri"/>
              </a:rPr>
              <a:t>44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Coffee Bean Producer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6949440" cy="118872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Your firm is a price taker in the coffee bean market</a:t>
            </a:r>
          </a:p>
          <a:p>
            <a:pPr algn="l"/>
            <a:r>
              <a:rPr>
                <a:latin typeface="Calibri"/>
              </a:rPr>
              <a:t>You have just </a:t>
            </a:r>
            <a:r>
              <a:rPr b="1" u="sng">
                <a:latin typeface="Calibri"/>
              </a:rPr>
              <a:t>optimized</a:t>
            </a:r>
            <a:r>
              <a:rPr>
                <a:latin typeface="Calibri"/>
              </a:rPr>
              <a:t> your output level for the short run</a:t>
            </a:r>
          </a:p>
        </p:txBody>
      </p:sp>
      <p:grpSp>
        <p:nvGrpSpPr>
          <p:cNvPr id="9732" name="Group pair 9732"/>
          <p:cNvGrpSpPr/>
          <p:nvPr/>
        </p:nvGrpSpPr>
        <p:grpSpPr>
          <a:xfrm>
            <a:off x="548640" y="3017520"/>
            <a:ext cx="4480560" cy="2377440"/>
            <a:chOff x="548640" y="3017520"/>
            <a:chExt cx="4480560" cy="2377440"/>
          </a:xfrm>
        </p:grpSpPr>
        <p:sp>
          <p:nvSpPr>
            <p:cNvPr id="8" name="Rectangle 7"/>
            <p:cNvSpPr/>
            <p:nvPr/>
          </p:nvSpPr>
          <p:spPr>
            <a:xfrm>
              <a:off x="548640" y="3017520"/>
              <a:ext cx="4480560" cy="23774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685800" y="3154680"/>
            <a:ext cx="4206240" cy="2188464"/>
          </p:xfrm>
          <a:graphic>
            <a:graphicData uri="http://schemas.openxmlformats.org/drawingml/2006/table">
              <a:tbl>
                <a:tblPr/>
                <a:tblGrid>
                  <a:gridCol w="16002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tblGrid>
                <a:tr h="566928">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900" b="1">
                            <a:solidFill>
                              <a:srgbClr val="FFFFFF"/>
                            </a:solidFill>
                            <a:latin typeface="Calibri"/>
                          </a:rPr>
                          <a:t>Your costs at that output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12064">
                  <a:tc>
                    <a:txBody>
                      <a:bodyPr/>
                      <a:lstStyle/>
                      <a:p>
                        <a:pPr algn="l"/>
                        <a:r>
                          <a:rPr sz="2000" b="1">
                            <a:solidFill>
                              <a:srgbClr val="0B2B4E"/>
                            </a:solidFill>
                            <a:latin typeface="Calibri"/>
                          </a:rPr>
                          <a:t>AVC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$12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12064">
                  <a:tc>
                    <a:txBody>
                      <a:bodyPr/>
                      <a:lstStyle/>
                      <a:p>
                        <a:pPr algn="l"/>
                        <a:r>
                          <a:rPr sz="2000" b="1">
                            <a:solidFill>
                              <a:srgbClr val="0B2B4E"/>
                            </a:solidFill>
                            <a:latin typeface="Calibri"/>
                          </a:rPr>
                          <a:t>ATC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$15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12064">
                  <a:tc>
                    <a:txBody>
                      <a:bodyPr/>
                      <a:lstStyle/>
                      <a:p>
                        <a:pPr algn="l"/>
                        <a:r>
                          <a:rPr sz="2000" b="1">
                            <a:solidFill>
                              <a:srgbClr val="0B2B4E"/>
                            </a:solidFill>
                            <a:latin typeface="Calibri"/>
                          </a:rPr>
                          <a:t>MC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$10</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sp>
        <p:nvSpPr>
          <p:cNvPr id="10" name="Rounded Rectangle 9"/>
          <p:cNvSpPr/>
          <p:nvPr/>
        </p:nvSpPr>
        <p:spPr>
          <a:xfrm>
            <a:off x="685800" y="5504688"/>
            <a:ext cx="69494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B2B4E"/>
                </a:solidFill>
                <a:latin typeface="Calibri"/>
              </a:rPr>
              <a:t>Should you continue to produce in the short run?</a:t>
            </a:r>
          </a:p>
        </p:txBody>
      </p:sp>
      <p:pic>
        <p:nvPicPr>
          <p:cNvPr id="11" name="Picture 10" descr="NV_s36_4_7cb0fc52.jpg"/>
          <p:cNvPicPr>
            <a:picLocks noChangeAspect="1"/>
          </p:cNvPicPr>
          <p:nvPr/>
        </p:nvPicPr>
        <p:blipFill>
          <a:blip r:embed="rId3"/>
          <a:stretch>
            <a:fillRect/>
          </a:stretch>
        </p:blipFill>
        <p:spPr>
          <a:xfrm>
            <a:off x="8092440" y="1417320"/>
            <a:ext cx="3657600" cy="2440617"/>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A5706A8A-BC76-5991-A5F9-3B2D52CD6AB0}" type="slidenum">
              <a:rPr lang="en-US" sz="1200" dirty="0">
                <a:solidFill>
                  <a:srgbClr val="555B66"/>
                </a:solidFill>
                <a:latin typeface="Calibri"/>
              </a:rPr>
              <a:t>45</a:t>
            </a:fld>
            <a:endParaRPr lang="en-US" sz="1200" dirty="0">
              <a:solidFill>
                <a:srgbClr val="555B66"/>
              </a:solidFill>
              <a:latin typeface="Calibri"/>
            </a:endParaRPr>
          </a:p>
        </p:txBody>
      </p:sp>
      <p:grpSp>
        <p:nvGrpSpPr>
          <p:cNvPr id="9630" name="PollBreakBadge"/>
          <p:cNvGrpSpPr/>
          <p:nvPr/>
        </p:nvGrpSpPr>
        <p:grpSpPr>
          <a:xfrm>
            <a:off x="9361444" y="6190030"/>
            <a:ext cx="2697480" cy="487009"/>
            <a:chOff x="9361444" y="6190030"/>
            <a:chExt cx="2697480" cy="487009"/>
          </a:xfrm>
        </p:grpSpPr>
        <p:sp>
          <p:nvSpPr>
            <p:cNvPr id="963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3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732"/>
                                        </p:tgtEl>
                                        <p:attrNameLst>
                                          <p:attrName>style.visibility</p:attrName>
                                        </p:attrNameLst>
                                      </p:cBhvr>
                                      <p:to>
                                        <p:strVal val="visible"/>
                                      </p:to>
                                    </p:set>
                                    <p:animEffect transition="in" filter="fade">
                                      <p:cBhvr>
                                        <p:cTn id="12" dur="500"/>
                                        <p:tgtEl>
                                          <p:spTgt spid="97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9F841-4D7C-C8BD-C6E9-2975101F1001}"/>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
        <p:nvSpPr>
          <p:cNvPr id="7" name="Rounded Rectangle 7">
            <a:extLst>
              <a:ext uri="{FF2B5EF4-FFF2-40B4-BE49-F238E27FC236}">
                <a16:creationId xmlns:a16="http://schemas.microsoft.com/office/drawing/2014/main" id="{D67C4CE3-BFF4-A849-E7FF-D232582B049B}"/>
              </a:ext>
            </a:extLst>
          </p:cNvPr>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224B0F7C-D308-0B0C-6743-18760EEAC296}"/>
              </a:ext>
            </a:extLst>
          </p:cNvPr>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extLst>
      <p:ext uri="{BB962C8B-B14F-4D97-AF65-F5344CB8AC3E}">
        <p14:creationId xmlns:p14="http://schemas.microsoft.com/office/powerpoint/2010/main" val="5432380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Coffee Bean Producer: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54480"/>
            <a:ext cx="10972800" cy="100584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dirty="0">
                <a:latin typeface="Calibri"/>
              </a:rPr>
              <a:t>The output level is already profit-maximizing, so for a price taker P = MC</a:t>
            </a:r>
          </a:p>
        </p:txBody>
      </p:sp>
      <mc:AlternateContent xmlns:mc="http://schemas.openxmlformats.org/markup-compatibility/2006" xmlns:a14="http://schemas.microsoft.com/office/drawing/2010/main">
        <mc:Choice Requires="a14">
          <p:sp>
            <p:nvSpPr>
              <p:cNvPr id="8" name="TextBox 7"/>
              <p:cNvSpPr txBox="1"/>
              <p:nvPr/>
            </p:nvSpPr>
            <p:spPr>
              <a:xfrm>
                <a:off x="2103120" y="2093976"/>
                <a:ext cx="7955279" cy="7315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MC</m:t>
                      </m:r>
                      <m:r>
                        <a:rPr lang="en-US" sz="2800" b="0" i="0">
                          <a:solidFill>
                            <a:srgbClr val="0B2B4E"/>
                          </a:solidFill>
                          <a:latin typeface="Cambria Math"/>
                        </a:rPr>
                        <m:t> = 10     →     </m:t>
                      </m:r>
                      <m:r>
                        <a:rPr lang="en-US" sz="2800" b="0" i="1">
                          <a:solidFill>
                            <a:srgbClr val="0B2B4E"/>
                          </a:solidFill>
                          <a:latin typeface="Cambria Math"/>
                          <a:ea typeface="Cambria Math"/>
                        </a:rPr>
                        <m:t>𝑃</m:t>
                      </m:r>
                      <m:r>
                        <a:rPr lang="en-US" sz="2800" b="0" i="0">
                          <a:solidFill>
                            <a:srgbClr val="0B2B4E"/>
                          </a:solidFill>
                          <a:latin typeface="Cambria Math"/>
                        </a:rPr>
                        <m:t> = 10</m:t>
                      </m:r>
                    </m:oMath>
                  </m:oMathPara>
                </a14:m>
                <a:endParaRPr lang="en-US" sz="2800" dirty="0"/>
              </a:p>
            </p:txBody>
          </p:sp>
        </mc:Choice>
        <mc:Fallback xmlns="">
          <p:sp>
            <p:nvSpPr>
              <p:cNvPr id="8" name="TextBox 7"/>
              <p:cNvSpPr txBox="1">
                <a:spLocks noRot="1" noChangeAspect="1" noMove="1" noResize="1" noEditPoints="1" noAdjustHandles="1" noChangeArrowheads="1" noChangeShapeType="1" noTextEdit="1"/>
              </p:cNvSpPr>
              <p:nvPr/>
            </p:nvSpPr>
            <p:spPr>
              <a:xfrm>
                <a:off x="2103120" y="2093976"/>
                <a:ext cx="7955279" cy="7315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103120" y="2761488"/>
                <a:ext cx="7955279" cy="73152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m:rPr>
                          <m:sty m:val="p"/>
                        </m:rPr>
                        <a:rPr lang="en-US" sz="2800" b="0" i="0">
                          <a:solidFill>
                            <a:srgbClr val="0B2B4E"/>
                          </a:solidFill>
                          <a:latin typeface="Cambria Math"/>
                        </a:rPr>
                        <m:t>AVC</m:t>
                      </m:r>
                      <m:r>
                        <a:rPr lang="en-US" sz="2800" b="0" i="0">
                          <a:solidFill>
                            <a:srgbClr val="0B2B4E"/>
                          </a:solidFill>
                          <a:latin typeface="Cambria Math"/>
                        </a:rPr>
                        <m:t> = 12</m:t>
                      </m:r>
                    </m:oMath>
                  </m:oMathPara>
                </a14:m>
                <a:endParaRPr lang="en-US" sz="2800" dirty="0"/>
              </a:p>
            </p:txBody>
          </p:sp>
        </mc:Choice>
        <mc:Fallback xmlns="">
          <p:sp>
            <p:nvSpPr>
              <p:cNvPr id="9" name="TextBox 8"/>
              <p:cNvSpPr txBox="1">
                <a:spLocks noRot="1" noChangeAspect="1" noMove="1" noResize="1" noEditPoints="1" noAdjustHandles="1" noChangeArrowheads="1" noChangeShapeType="1" noTextEdit="1"/>
              </p:cNvSpPr>
              <p:nvPr/>
            </p:nvSpPr>
            <p:spPr>
              <a:xfrm>
                <a:off x="2103120" y="2761488"/>
                <a:ext cx="7955279" cy="7315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2121408" y="3913632"/>
                <a:ext cx="7955279" cy="521207"/>
              </a:xfrm>
              <a:prstGeom prst="rect">
                <a:avLst/>
              </a:prstGeom>
              <a:noFill/>
            </p:spPr>
            <p:txBody>
              <a:bodyPr wrap="square" anchor="ctr">
                <a:spAutoFit/>
              </a:bodyPr>
              <a:lstStyle/>
              <a:p>
                <a:pPr algn="ctr">
                  <a:defRPr sz="2800" b="0" i="1">
                    <a:solidFill>
                      <a:srgbClr val="A2162A"/>
                    </a:solidFill>
                    <a:latin typeface="Cambria Math"/>
                  </a:defRPr>
                </a:pPr>
                <a14:m>
                  <m:oMathPara xmlns:m="http://schemas.openxmlformats.org/officeDocument/2006/math">
                    <m:oMath>
                      <m:r>
                        <m:rPr>
                          <m:sty m:val="p"/>
                        </m:rPr>
                        <a:rPr lang="en-US" sz="2800" b="0" i="0">
                          <a:solidFill>
                            <a:srgbClr val="A2162A"/>
                          </a:solidFill>
                          <a:latin typeface="Cambria Math"/>
                        </a:rPr>
                        <m:t>Thus</m:t>
                      </m:r>
                      <m:r>
                        <a:rPr lang="en-US" sz="2800" b="0" i="0">
                          <a:solidFill>
                            <a:srgbClr val="A2162A"/>
                          </a:solidFill>
                          <a:latin typeface="Cambria Math"/>
                        </a:rPr>
                        <m:t>:  </m:t>
                      </m:r>
                      <m:r>
                        <a:rPr lang="en-US" sz="2800" b="0" i="1">
                          <a:solidFill>
                            <a:srgbClr val="A2162A"/>
                          </a:solidFill>
                          <a:latin typeface="Cambria Math"/>
                          <a:ea typeface="Cambria Math"/>
                        </a:rPr>
                        <m:t>𝑃</m:t>
                      </m:r>
                      <m:r>
                        <a:rPr lang="en-US" sz="2800" b="0" i="0">
                          <a:solidFill>
                            <a:srgbClr val="A2162A"/>
                          </a:solidFill>
                          <a:latin typeface="Cambria Math"/>
                        </a:rPr>
                        <m:t> &lt; </m:t>
                      </m:r>
                      <m:r>
                        <m:rPr>
                          <m:sty m:val="p"/>
                        </m:rPr>
                        <a:rPr lang="en-US" sz="2800" b="0" i="0">
                          <a:solidFill>
                            <a:srgbClr val="A2162A"/>
                          </a:solidFill>
                          <a:latin typeface="Cambria Math"/>
                        </a:rPr>
                        <m:t>AVC</m:t>
                      </m:r>
                    </m:oMath>
                  </m:oMathPara>
                </a14:m>
                <a:endParaRPr lang="en-US" sz="2800" dirty="0"/>
              </a:p>
            </p:txBody>
          </p:sp>
        </mc:Choice>
        <mc:Fallback xmlns="">
          <p:sp>
            <p:nvSpPr>
              <p:cNvPr id="10" name="TextBox 9"/>
              <p:cNvSpPr txBox="1">
                <a:spLocks noRot="1" noChangeAspect="1" noMove="1" noResize="1" noEditPoints="1" noAdjustHandles="1" noChangeArrowheads="1" noChangeShapeType="1" noTextEdit="1"/>
              </p:cNvSpPr>
              <p:nvPr/>
            </p:nvSpPr>
            <p:spPr>
              <a:xfrm>
                <a:off x="2121408" y="3913632"/>
                <a:ext cx="7955279" cy="52120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2103120" y="4590288"/>
                <a:ext cx="7955279" cy="731520"/>
              </a:xfrm>
              <a:prstGeom prst="rect">
                <a:avLst/>
              </a:prstGeom>
              <a:noFill/>
            </p:spPr>
            <p:txBody>
              <a:bodyPr wrap="square" anchor="ctr">
                <a:spAutoFit/>
              </a:bodyPr>
              <a:lstStyle/>
              <a:p>
                <a:pPr algn="ctr">
                  <a:defRPr sz="3000" b="0" i="1">
                    <a:solidFill>
                      <a:srgbClr val="A2162A"/>
                    </a:solidFill>
                    <a:latin typeface="Cambria Math"/>
                  </a:defRPr>
                </a:pPr>
                <a14:m>
                  <m:oMathPara xmlns:m="http://schemas.openxmlformats.org/officeDocument/2006/math">
                    <m:oMath>
                      <m:r>
                        <m:rPr>
                          <m:sty m:val="p"/>
                        </m:rPr>
                        <a:rPr lang="en-US" sz="3000" b="0" i="0">
                          <a:solidFill>
                            <a:srgbClr val="A2162A"/>
                          </a:solidFill>
                          <a:latin typeface="Cambria Math"/>
                        </a:rPr>
                        <m:t>You</m:t>
                      </m:r>
                      <m:r>
                        <a:rPr lang="en-US" sz="3000" b="0" i="0">
                          <a:solidFill>
                            <a:srgbClr val="A2162A"/>
                          </a:solidFill>
                          <a:latin typeface="Cambria Math"/>
                        </a:rPr>
                        <m:t> </m:t>
                      </m:r>
                      <m:r>
                        <m:rPr>
                          <m:sty m:val="p"/>
                        </m:rPr>
                        <a:rPr lang="en-US" sz="3000" b="0" i="0">
                          <a:solidFill>
                            <a:srgbClr val="A2162A"/>
                          </a:solidFill>
                          <a:latin typeface="Cambria Math"/>
                        </a:rPr>
                        <m:t>lose</m:t>
                      </m:r>
                      <m:r>
                        <a:rPr lang="en-US" sz="3000" b="0" i="0">
                          <a:solidFill>
                            <a:srgbClr val="A2162A"/>
                          </a:solidFill>
                          <a:latin typeface="Cambria Math"/>
                        </a:rPr>
                        <m:t> </m:t>
                      </m:r>
                      <m:r>
                        <m:rPr>
                          <m:sty m:val="p"/>
                        </m:rPr>
                        <a:rPr lang="en-US" sz="3000" b="0" i="0">
                          <a:solidFill>
                            <a:srgbClr val="A2162A"/>
                          </a:solidFill>
                          <a:latin typeface="Cambria Math"/>
                        </a:rPr>
                        <m:t>money</m:t>
                      </m:r>
                      <m:r>
                        <a:rPr lang="en-US" sz="3000" b="0" i="0">
                          <a:solidFill>
                            <a:srgbClr val="A2162A"/>
                          </a:solidFill>
                          <a:latin typeface="Cambria Math"/>
                        </a:rPr>
                        <m:t> </m:t>
                      </m:r>
                      <m:r>
                        <m:rPr>
                          <m:sty m:val="p"/>
                        </m:rPr>
                        <a:rPr lang="en-US" sz="3000" b="0" i="0">
                          <a:solidFill>
                            <a:srgbClr val="A2162A"/>
                          </a:solidFill>
                          <a:latin typeface="Cambria Math"/>
                        </a:rPr>
                        <m:t>on</m:t>
                      </m:r>
                      <m:r>
                        <a:rPr lang="en-US" sz="3000" b="0" i="0">
                          <a:solidFill>
                            <a:srgbClr val="A2162A"/>
                          </a:solidFill>
                          <a:latin typeface="Cambria Math"/>
                        </a:rPr>
                        <m:t> </m:t>
                      </m:r>
                      <m:r>
                        <m:rPr>
                          <m:sty m:val="p"/>
                        </m:rPr>
                        <a:rPr lang="en-US" sz="3000" b="0" i="0">
                          <a:solidFill>
                            <a:srgbClr val="A2162A"/>
                          </a:solidFill>
                          <a:latin typeface="Cambria Math"/>
                        </a:rPr>
                        <m:t>every</m:t>
                      </m:r>
                      <m:r>
                        <a:rPr lang="en-US" sz="3000" b="0" i="0">
                          <a:solidFill>
                            <a:srgbClr val="A2162A"/>
                          </a:solidFill>
                          <a:latin typeface="Cambria Math"/>
                        </a:rPr>
                        <m:t> </m:t>
                      </m:r>
                      <m:r>
                        <m:rPr>
                          <m:sty m:val="p"/>
                        </m:rPr>
                        <a:rPr lang="en-US" sz="3000" b="0" i="0">
                          <a:solidFill>
                            <a:srgbClr val="A2162A"/>
                          </a:solidFill>
                          <a:latin typeface="Cambria Math"/>
                        </a:rPr>
                        <m:t>unit</m:t>
                      </m:r>
                      <m:r>
                        <a:rPr lang="en-US" sz="3000" b="0" i="0">
                          <a:solidFill>
                            <a:srgbClr val="A2162A"/>
                          </a:solidFill>
                          <a:latin typeface="Cambria Math"/>
                        </a:rPr>
                        <m:t> — </m:t>
                      </m:r>
                      <m:r>
                        <m:rPr>
                          <m:sty m:val="p"/>
                        </m:rPr>
                        <a:rPr lang="en-US" sz="3000" b="0" i="0">
                          <a:solidFill>
                            <a:srgbClr val="A2162A"/>
                          </a:solidFill>
                          <a:latin typeface="Cambria Math"/>
                        </a:rPr>
                        <m:t>stop</m:t>
                      </m:r>
                      <m:r>
                        <a:rPr lang="en-US" sz="3000" b="0" i="0">
                          <a:solidFill>
                            <a:srgbClr val="A2162A"/>
                          </a:solidFill>
                          <a:latin typeface="Cambria Math"/>
                        </a:rPr>
                        <m:t> </m:t>
                      </m:r>
                      <m:r>
                        <m:rPr>
                          <m:sty m:val="p"/>
                        </m:rPr>
                        <a:rPr lang="en-US" sz="3000" b="0" i="0">
                          <a:solidFill>
                            <a:srgbClr val="A2162A"/>
                          </a:solidFill>
                          <a:latin typeface="Cambria Math"/>
                        </a:rPr>
                        <m:t>production</m:t>
                      </m:r>
                    </m:oMath>
                  </m:oMathPara>
                </a14:m>
                <a:endParaRPr lang="en-US" sz="3000" dirty="0"/>
              </a:p>
            </p:txBody>
          </p:sp>
        </mc:Choice>
        <mc:Fallback xmlns="">
          <p:sp>
            <p:nvSpPr>
              <p:cNvPr id="11" name="TextBox 10"/>
              <p:cNvSpPr txBox="1">
                <a:spLocks noRot="1" noChangeAspect="1" noMove="1" noResize="1" noEditPoints="1" noAdjustHandles="1" noChangeArrowheads="1" noChangeShapeType="1" noTextEdit="1"/>
              </p:cNvSpPr>
              <p:nvPr/>
            </p:nvSpPr>
            <p:spPr>
              <a:xfrm>
                <a:off x="2103120" y="4590288"/>
                <a:ext cx="7955279" cy="731520"/>
              </a:xfrm>
              <a:prstGeom prst="rect">
                <a:avLst/>
              </a:prstGeom>
              <a:blipFill>
                <a:blip r:embed="rId6"/>
                <a:stretch>
                  <a:fillRect l="-920"/>
                </a:stretch>
              </a:blipFill>
            </p:spPr>
            <p:txBody>
              <a:bodyPr/>
              <a:lstStyle/>
              <a:p>
                <a:r>
                  <a:rPr lang="en-US">
                    <a:noFill/>
                  </a:rPr>
                  <a:t> </a:t>
                </a:r>
              </a:p>
            </p:txBody>
          </p:sp>
        </mc:Fallback>
      </mc:AlternateContent>
      <p:sp>
        <p:nvSpPr>
          <p:cNvPr id="12" name="Rounded Rectangle 11"/>
          <p:cNvSpPr/>
          <p:nvPr/>
        </p:nvSpPr>
        <p:spPr>
          <a:xfrm>
            <a:off x="2501798" y="5385816"/>
            <a:ext cx="6748272" cy="62179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dirty="0">
                <a:solidFill>
                  <a:srgbClr val="0B2B4E"/>
                </a:solidFill>
                <a:latin typeface="Calibri"/>
              </a:rPr>
              <a:t>You will then continue to pay the fixed costs in the short run </a:t>
            </a:r>
          </a:p>
          <a:p>
            <a:pPr algn="ctr"/>
            <a:r>
              <a:rPr sz="1900" b="1" dirty="0">
                <a:solidFill>
                  <a:srgbClr val="0B2B4E"/>
                </a:solidFill>
                <a:latin typeface="Calibri"/>
              </a:rPr>
              <a:t>— that minimizes the loss</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B38D1FD4-E120-5B60-A5FE-8016C3F29564}" type="slidenum">
              <a:rPr lang="en-US" sz="1200" dirty="0">
                <a:solidFill>
                  <a:srgbClr val="555B66"/>
                </a:solidFill>
                <a:latin typeface="Calibri"/>
              </a:rPr>
              <a:t>47</a:t>
            </a:fld>
            <a:endParaRPr lang="en-US" sz="1200" dirty="0">
              <a:solidFill>
                <a:srgbClr val="555B66"/>
              </a:solidFill>
              <a:latin typeface="Calibri"/>
            </a:endParaRPr>
          </a:p>
        </p:txBody>
      </p:sp>
      <p:grpSp>
        <p:nvGrpSpPr>
          <p:cNvPr id="9640" name="PollBreakBadge"/>
          <p:cNvGrpSpPr/>
          <p:nvPr/>
        </p:nvGrpSpPr>
        <p:grpSpPr>
          <a:xfrm>
            <a:off x="9361444" y="6190030"/>
            <a:ext cx="2697480" cy="487009"/>
            <a:chOff x="9361444" y="6190030"/>
            <a:chExt cx="2697480" cy="487009"/>
          </a:xfrm>
        </p:grpSpPr>
        <p:sp>
          <p:nvSpPr>
            <p:cNvPr id="964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4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bg/>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xEl>
                                              <p:pRg st="0" end="0"/>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build="allAtOnce"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Summary: Short-Run Decisions for a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2331720" y="1481328"/>
                <a:ext cx="7498079"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Optimal</m:t>
                      </m:r>
                      <m:r>
                        <a:rPr lang="en-US" sz="2600" b="0" i="0">
                          <a:solidFill>
                            <a:srgbClr val="0B2B4E"/>
                          </a:solidFill>
                          <a:latin typeface="Cambria Math"/>
                        </a:rPr>
                        <m:t> </m:t>
                      </m:r>
                      <m:r>
                        <m:rPr>
                          <m:sty m:val="p"/>
                        </m:rPr>
                        <a:rPr lang="en-US" sz="2600" b="0" i="0">
                          <a:solidFill>
                            <a:srgbClr val="0B2B4E"/>
                          </a:solidFill>
                          <a:latin typeface="Cambria Math"/>
                        </a:rPr>
                        <m:t>output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m:t>
                      </m:r>
                      <m:r>
                        <m:rPr>
                          <m:sty m:val="p"/>
                        </m:rPr>
                        <a:rPr lang="en-US" sz="2600" b="0" i="0">
                          <a:solidFill>
                            <a:srgbClr val="0B2B4E"/>
                          </a:solidFill>
                          <a:latin typeface="Cambria Math"/>
                        </a:rPr>
                        <m:t>where</m:t>
                      </m:r>
                      <m:r>
                        <a:rPr lang="en-US" sz="2600" b="0" i="0">
                          <a:solidFill>
                            <a:srgbClr val="0B2B4E"/>
                          </a:solidFill>
                          <a:latin typeface="Cambria Math"/>
                        </a:rPr>
                        <m:t>  </m:t>
                      </m:r>
                      <m:r>
                        <m:rPr>
                          <m:sty m:val="p"/>
                        </m:rPr>
                        <a:rPr lang="en-US" sz="2600" b="0" i="0">
                          <a:solidFill>
                            <a:srgbClr val="0B2B4E"/>
                          </a:solidFill>
                          <a:latin typeface="Cambria Math"/>
                        </a:rPr>
                        <m:t>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xmlns="">
          <p:sp>
            <p:nvSpPr>
              <p:cNvPr id="7" name="TextBox 6"/>
              <p:cNvSpPr txBox="1">
                <a:spLocks noRot="1" noChangeAspect="1" noMove="1" noResize="1" noEditPoints="1" noAdjustHandles="1" noChangeArrowheads="1" noChangeShapeType="1" noTextEdit="1"/>
              </p:cNvSpPr>
              <p:nvPr/>
            </p:nvSpPr>
            <p:spPr>
              <a:xfrm>
                <a:off x="2331720" y="1481328"/>
                <a:ext cx="7498079" cy="731520"/>
              </a:xfrm>
              <a:prstGeom prst="rect">
                <a:avLst/>
              </a:prstGeom>
              <a:blipFill>
                <a:blip r:embed="rId3"/>
                <a:stretch>
                  <a:fillRect/>
                </a:stretch>
              </a:blipFill>
            </p:spPr>
            <p:txBody>
              <a:bodyPr/>
              <a:lstStyle/>
              <a:p>
                <a:r>
                  <a:rPr lang="en-US">
                    <a:noFill/>
                  </a:rPr>
                  <a:t> </a:t>
                </a:r>
              </a:p>
            </p:txBody>
          </p:sp>
        </mc:Fallback>
      </mc:AlternateContent>
      <p:sp>
        <p:nvSpPr>
          <p:cNvPr id="8" name="Rounded Rectangle 7"/>
          <p:cNvSpPr/>
          <p:nvPr/>
        </p:nvSpPr>
        <p:spPr>
          <a:xfrm>
            <a:off x="640080" y="2331720"/>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 AVC at Q*:  continue to produce</a:t>
            </a:r>
          </a:p>
        </p:txBody>
      </p:sp>
      <p:sp>
        <p:nvSpPr>
          <p:cNvPr id="9" name="TextBox 8"/>
          <p:cNvSpPr txBox="1"/>
          <p:nvPr/>
        </p:nvSpPr>
        <p:spPr>
          <a:xfrm>
            <a:off x="1188720" y="3118104"/>
            <a:ext cx="9966960" cy="91440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dirty="0">
                <a:latin typeface="Calibri"/>
              </a:rPr>
              <a:t>Profits can still be positive or negative</a:t>
            </a:r>
          </a:p>
          <a:p>
            <a:pPr lvl="1" algn="l"/>
            <a:r>
              <a:rPr dirty="0">
                <a:latin typeface="Calibri"/>
              </a:rPr>
              <a:t>Positive if P ≥ ATC, negative if P &lt; ATC</a:t>
            </a:r>
          </a:p>
        </p:txBody>
      </p:sp>
      <p:sp>
        <p:nvSpPr>
          <p:cNvPr id="10" name="Rounded Rectangle 9"/>
          <p:cNvSpPr/>
          <p:nvPr/>
        </p:nvSpPr>
        <p:spPr>
          <a:xfrm>
            <a:off x="640080" y="4407408"/>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&lt; AVC at Q*:  stop production</a:t>
            </a:r>
          </a:p>
        </p:txBody>
      </p:sp>
      <p:sp>
        <p:nvSpPr>
          <p:cNvPr id="11" name="TextBox 10"/>
          <p:cNvSpPr txBox="1"/>
          <p:nvPr/>
        </p:nvSpPr>
        <p:spPr>
          <a:xfrm>
            <a:off x="1188720" y="5193792"/>
            <a:ext cx="9966960" cy="91440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dirty="0">
                <a:latin typeface="Calibri"/>
              </a:rPr>
              <a:t>The loss is then TFC</a:t>
            </a:r>
          </a:p>
          <a:p>
            <a:pPr lvl="1" algn="l"/>
            <a:r>
              <a:rPr dirty="0">
                <a:latin typeface="Calibri"/>
              </a:rPr>
              <a:t>Producing anyway would make the loss larger than TFC</a:t>
            </a:r>
          </a:p>
        </p:txBody>
      </p:sp>
      <p:sp>
        <p:nvSpPr>
          <p:cNvPr id="12" name="Rounded Rectangle 11"/>
          <p:cNvSpPr/>
          <p:nvPr/>
        </p:nvSpPr>
        <p:spPr>
          <a:xfrm>
            <a:off x="9299448" y="5971032"/>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3</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6BF35810-F1C9-5B1B-AF76-36B14C127958}" type="slidenum">
              <a:rPr lang="en-US" sz="1200" dirty="0">
                <a:solidFill>
                  <a:srgbClr val="555B66"/>
                </a:solidFill>
                <a:latin typeface="Calibri"/>
              </a:rPr>
              <a:t>48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dirty="0">
                <a:solidFill>
                  <a:srgbClr val="0B2B4E"/>
                </a:solidFill>
                <a:latin typeface="Calibri"/>
              </a:rPr>
              <a:t>Firm-Level and Market Supply</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4</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Rounded Rectangle 15"/>
          <p:cNvSpPr/>
          <p:nvPr/>
        </p:nvSpPr>
        <p:spPr>
          <a:xfrm>
            <a:off x="822960" y="3477006"/>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2b</a:t>
            </a:r>
          </a:p>
        </p:txBody>
      </p:sp>
      <p:sp>
        <p:nvSpPr>
          <p:cNvPr id="18" name="Rounded Rectangle 17"/>
          <p:cNvSpPr/>
          <p:nvPr/>
        </p:nvSpPr>
        <p:spPr>
          <a:xfrm>
            <a:off x="10707625" y="3696462"/>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4</a:t>
            </a:r>
          </a:p>
        </p:txBody>
      </p:sp>
      <p:sp>
        <p:nvSpPr>
          <p:cNvPr id="19" name="TextBox 18"/>
          <p:cNvSpPr txBox="1"/>
          <p:nvPr/>
        </p:nvSpPr>
        <p:spPr>
          <a:xfrm>
            <a:off x="2148840" y="353187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Firm-Level and Market Supply</a:t>
            </a:r>
          </a:p>
          <a:p>
            <a:pPr algn="l">
              <a:spcBef>
                <a:spcPts val="0"/>
              </a:spcBef>
              <a:buNone/>
            </a:pPr>
            <a:r>
              <a:rPr sz="2000">
                <a:solidFill>
                  <a:srgbClr val="555B66"/>
                </a:solidFill>
                <a:latin typeface="Calibri"/>
              </a:rPr>
              <a:t>Marginal cost is one firm’s supply curve; market supply sums across firms</a:t>
            </a: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2" name="TextBox 21"/>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88267FBA-0D55-5805-AC0F-6C0CD68EDD40}" type="slidenum">
              <a:rPr lang="en-US" sz="1200" dirty="0">
                <a:solidFill>
                  <a:srgbClr val="555B66"/>
                </a:solidFill>
                <a:latin typeface="Calibri"/>
              </a:rPr>
              <a:t>50</a:t>
            </a:fld>
            <a:endParaRPr lang="en-US" sz="1200" dirty="0">
              <a:solidFill>
                <a:srgbClr val="555B66"/>
              </a:solidFill>
              <a:latin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MC Curve Is the Price Taker's Short-Run Supply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984247"/>
            <a:ext cx="0" cy="35478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53212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08991" y="185165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0" name="TextBox 9"/>
          <p:cNvSpPr txBox="1"/>
          <p:nvPr/>
        </p:nvSpPr>
        <p:spPr>
          <a:xfrm>
            <a:off x="5401056" y="5577840"/>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11" name="Connector 10"/>
          <p:cNvCxnSpPr/>
          <p:nvPr/>
        </p:nvCxnSpPr>
        <p:spPr>
          <a:xfrm flipV="1">
            <a:off x="1188720" y="2561600"/>
            <a:ext cx="3856091" cy="205703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43335" y="2239365"/>
            <a:ext cx="416052" cy="292608"/>
          </a:xfrm>
          <a:prstGeom prst="rect">
            <a:avLst/>
          </a:prstGeom>
          <a:noFill/>
        </p:spPr>
        <p:txBody>
          <a:bodyPr wrap="square" lIns="0" tIns="0" rIns="0" bIns="0">
            <a:spAutoFit/>
          </a:bodyPr>
          <a:lstStyle/>
          <a:p>
            <a:pPr algn="l"/>
            <a:r>
              <a:rPr sz="1900" b="1" i="1" u="none">
                <a:solidFill>
                  <a:srgbClr val="0B2B4E"/>
                </a:solidFill>
                <a:latin typeface="Calibri"/>
              </a:rPr>
              <a:t>MC</a:t>
            </a:r>
          </a:p>
        </p:txBody>
      </p:sp>
      <p:cxnSp>
        <p:nvCxnSpPr>
          <p:cNvPr id="13" name="Connector 12"/>
          <p:cNvCxnSpPr/>
          <p:nvPr/>
        </p:nvCxnSpPr>
        <p:spPr>
          <a:xfrm>
            <a:off x="1188720" y="4111142"/>
            <a:ext cx="95133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40058" y="4111142"/>
            <a:ext cx="0" cy="142097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28091" y="3973982"/>
            <a:ext cx="387477" cy="274320"/>
          </a:xfrm>
          <a:prstGeom prst="rect">
            <a:avLst/>
          </a:prstGeom>
          <a:noFill/>
        </p:spPr>
        <p:txBody>
          <a:bodyPr wrap="square" lIns="0" tIns="0" rIns="0" bIns="0">
            <a:spAutoFit/>
          </a:bodyPr>
          <a:lstStyle/>
          <a:p>
            <a:pPr algn="r"/>
            <a:r>
              <a:rPr sz="1600" b="0" i="1" u="none">
                <a:solidFill>
                  <a:srgbClr val="0B2B4E"/>
                </a:solidFill>
                <a:latin typeface="Calibri"/>
              </a:rPr>
              <a:t>210</a:t>
            </a:r>
          </a:p>
        </p:txBody>
      </p:sp>
      <p:sp>
        <p:nvSpPr>
          <p:cNvPr id="16" name="TextBox 15"/>
          <p:cNvSpPr txBox="1"/>
          <p:nvPr/>
        </p:nvSpPr>
        <p:spPr>
          <a:xfrm>
            <a:off x="1746866"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187.5</a:t>
            </a:r>
          </a:p>
        </p:txBody>
      </p:sp>
      <p:sp>
        <p:nvSpPr>
          <p:cNvPr id="17" name="Oval 16"/>
          <p:cNvSpPr/>
          <p:nvPr/>
        </p:nvSpPr>
        <p:spPr>
          <a:xfrm>
            <a:off x="2080622" y="4051706"/>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1188720" y="2825496"/>
            <a:ext cx="3361395"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550115" y="2825496"/>
            <a:ext cx="0" cy="2706624"/>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28091" y="2688336"/>
            <a:ext cx="387477" cy="274320"/>
          </a:xfrm>
          <a:prstGeom prst="rect">
            <a:avLst/>
          </a:prstGeom>
          <a:noFill/>
        </p:spPr>
        <p:txBody>
          <a:bodyPr wrap="square" lIns="0" tIns="0" rIns="0" bIns="0">
            <a:spAutoFit/>
          </a:bodyPr>
          <a:lstStyle/>
          <a:p>
            <a:pPr algn="r"/>
            <a:r>
              <a:rPr sz="1600" b="0" i="1" u="none">
                <a:solidFill>
                  <a:srgbClr val="0B2B4E"/>
                </a:solidFill>
                <a:latin typeface="Calibri"/>
              </a:rPr>
              <a:t>400</a:t>
            </a:r>
          </a:p>
        </p:txBody>
      </p:sp>
      <p:sp>
        <p:nvSpPr>
          <p:cNvPr id="21" name="TextBox 20"/>
          <p:cNvSpPr txBox="1"/>
          <p:nvPr/>
        </p:nvSpPr>
        <p:spPr>
          <a:xfrm>
            <a:off x="4156923"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662.5</a:t>
            </a:r>
          </a:p>
        </p:txBody>
      </p:sp>
      <p:sp>
        <p:nvSpPr>
          <p:cNvPr id="22" name="Oval 21"/>
          <p:cNvSpPr/>
          <p:nvPr/>
        </p:nvSpPr>
        <p:spPr>
          <a:xfrm>
            <a:off x="4490679" y="2766060"/>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flipV="1">
            <a:off x="6903720" y="1984247"/>
            <a:ext cx="0" cy="354787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903720" y="5532120"/>
            <a:ext cx="43251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23991" y="185165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26" name="TextBox 25"/>
          <p:cNvSpPr txBox="1"/>
          <p:nvPr/>
        </p:nvSpPr>
        <p:spPr>
          <a:xfrm>
            <a:off x="11116056" y="5577840"/>
            <a:ext cx="225551" cy="265176"/>
          </a:xfrm>
          <a:prstGeom prst="rect">
            <a:avLst/>
          </a:prstGeom>
          <a:noFill/>
        </p:spPr>
        <p:txBody>
          <a:bodyPr wrap="square" lIns="0" tIns="0" rIns="0" bIns="0">
            <a:spAutoFit/>
          </a:bodyPr>
          <a:lstStyle/>
          <a:p>
            <a:pPr algn="l"/>
            <a:r>
              <a:rPr lang="en-US" sz="1700" b="1" i="1" u="none" dirty="0">
                <a:solidFill>
                  <a:srgbClr val="0B2B4E"/>
                </a:solidFill>
                <a:latin typeface="Calibri"/>
              </a:rPr>
              <a:t>q</a:t>
            </a:r>
            <a:endParaRPr sz="1700" b="1" i="1" u="none" dirty="0">
              <a:solidFill>
                <a:srgbClr val="0B2B4E"/>
              </a:solidFill>
              <a:latin typeface="Calibri"/>
            </a:endParaRPr>
          </a:p>
        </p:txBody>
      </p:sp>
      <p:cxnSp>
        <p:nvCxnSpPr>
          <p:cNvPr id="27" name="Connector 26"/>
          <p:cNvCxnSpPr/>
          <p:nvPr/>
        </p:nvCxnSpPr>
        <p:spPr>
          <a:xfrm flipV="1">
            <a:off x="6903720" y="2561600"/>
            <a:ext cx="3856091" cy="205703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658335" y="2239365"/>
            <a:ext cx="196976" cy="292608"/>
          </a:xfrm>
          <a:prstGeom prst="rect">
            <a:avLst/>
          </a:prstGeom>
          <a:noFill/>
        </p:spPr>
        <p:txBody>
          <a:bodyPr wrap="square" lIns="0" tIns="0" rIns="0" bIns="0">
            <a:spAutoFit/>
          </a:bodyPr>
          <a:lstStyle/>
          <a:p>
            <a:pPr algn="l"/>
            <a:r>
              <a:rPr sz="1900" b="1" i="1" u="none" dirty="0">
                <a:solidFill>
                  <a:srgbClr val="0B2B4E"/>
                </a:solidFill>
                <a:latin typeface="Calibri"/>
              </a:rPr>
              <a:t>S</a:t>
            </a:r>
          </a:p>
        </p:txBody>
      </p:sp>
      <p:cxnSp>
        <p:nvCxnSpPr>
          <p:cNvPr id="29" name="Connector 28"/>
          <p:cNvCxnSpPr/>
          <p:nvPr/>
        </p:nvCxnSpPr>
        <p:spPr>
          <a:xfrm>
            <a:off x="6903720" y="4111142"/>
            <a:ext cx="95133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855058" y="4111142"/>
            <a:ext cx="0" cy="142097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43091" y="3973982"/>
            <a:ext cx="387477" cy="274320"/>
          </a:xfrm>
          <a:prstGeom prst="rect">
            <a:avLst/>
          </a:prstGeom>
          <a:noFill/>
        </p:spPr>
        <p:txBody>
          <a:bodyPr wrap="square" lIns="0" tIns="0" rIns="0" bIns="0">
            <a:spAutoFit/>
          </a:bodyPr>
          <a:lstStyle/>
          <a:p>
            <a:pPr algn="r"/>
            <a:r>
              <a:rPr sz="1600" b="0" i="1" u="none">
                <a:solidFill>
                  <a:srgbClr val="0B2B4E"/>
                </a:solidFill>
                <a:latin typeface="Calibri"/>
              </a:rPr>
              <a:t>210</a:t>
            </a:r>
          </a:p>
        </p:txBody>
      </p:sp>
      <p:sp>
        <p:nvSpPr>
          <p:cNvPr id="32" name="TextBox 31"/>
          <p:cNvSpPr txBox="1"/>
          <p:nvPr/>
        </p:nvSpPr>
        <p:spPr>
          <a:xfrm>
            <a:off x="7461866"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187.5</a:t>
            </a:r>
          </a:p>
        </p:txBody>
      </p:sp>
      <p:sp>
        <p:nvSpPr>
          <p:cNvPr id="33" name="Oval 32"/>
          <p:cNvSpPr/>
          <p:nvPr/>
        </p:nvSpPr>
        <p:spPr>
          <a:xfrm>
            <a:off x="7795622" y="4051706"/>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4" name="Connector 33"/>
          <p:cNvCxnSpPr/>
          <p:nvPr/>
        </p:nvCxnSpPr>
        <p:spPr>
          <a:xfrm>
            <a:off x="6903720" y="2825496"/>
            <a:ext cx="3361395"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265115" y="2825496"/>
            <a:ext cx="0" cy="2706624"/>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43091" y="2688336"/>
            <a:ext cx="387477" cy="274320"/>
          </a:xfrm>
          <a:prstGeom prst="rect">
            <a:avLst/>
          </a:prstGeom>
          <a:noFill/>
        </p:spPr>
        <p:txBody>
          <a:bodyPr wrap="square" lIns="0" tIns="0" rIns="0" bIns="0">
            <a:spAutoFit/>
          </a:bodyPr>
          <a:lstStyle/>
          <a:p>
            <a:pPr algn="r"/>
            <a:r>
              <a:rPr sz="1600" b="0" i="1" u="none">
                <a:solidFill>
                  <a:srgbClr val="0B2B4E"/>
                </a:solidFill>
                <a:latin typeface="Calibri"/>
              </a:rPr>
              <a:t>400</a:t>
            </a:r>
          </a:p>
        </p:txBody>
      </p:sp>
      <p:sp>
        <p:nvSpPr>
          <p:cNvPr id="37" name="TextBox 36"/>
          <p:cNvSpPr txBox="1"/>
          <p:nvPr/>
        </p:nvSpPr>
        <p:spPr>
          <a:xfrm>
            <a:off x="9871923" y="5586983"/>
            <a:ext cx="786384" cy="274320"/>
          </a:xfrm>
          <a:prstGeom prst="rect">
            <a:avLst/>
          </a:prstGeom>
          <a:noFill/>
        </p:spPr>
        <p:txBody>
          <a:bodyPr wrap="square" lIns="0" tIns="0" rIns="0" bIns="0">
            <a:spAutoFit/>
          </a:bodyPr>
          <a:lstStyle/>
          <a:p>
            <a:pPr algn="ctr"/>
            <a:r>
              <a:rPr sz="1600" b="0" i="1" u="none">
                <a:solidFill>
                  <a:srgbClr val="0B2B4E"/>
                </a:solidFill>
                <a:latin typeface="Calibri"/>
              </a:rPr>
              <a:t>662.5</a:t>
            </a:r>
          </a:p>
        </p:txBody>
      </p:sp>
      <p:sp>
        <p:nvSpPr>
          <p:cNvPr id="38" name="Oval 37"/>
          <p:cNvSpPr/>
          <p:nvPr/>
        </p:nvSpPr>
        <p:spPr>
          <a:xfrm>
            <a:off x="10205679" y="2766060"/>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flipV="1">
            <a:off x="1188720" y="3590117"/>
            <a:ext cx="3856091" cy="1028517"/>
          </a:xfrm>
          <a:prstGeom prst="line">
            <a:avLst/>
          </a:prstGeom>
          <a:ln w="28575">
            <a:solidFill>
              <a:srgbClr val="555B66"/>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43335" y="3267882"/>
            <a:ext cx="473201" cy="292608"/>
          </a:xfrm>
          <a:prstGeom prst="rect">
            <a:avLst/>
          </a:prstGeom>
          <a:noFill/>
        </p:spPr>
        <p:txBody>
          <a:bodyPr wrap="square" lIns="0" tIns="0" rIns="0" bIns="0">
            <a:spAutoFit/>
          </a:bodyPr>
          <a:lstStyle/>
          <a:p>
            <a:pPr algn="l"/>
            <a:r>
              <a:rPr sz="1700" b="1" i="1" u="none">
                <a:solidFill>
                  <a:srgbClr val="555B66"/>
                </a:solidFill>
                <a:latin typeface="Calibri"/>
              </a:rPr>
              <a:t>AVC</a:t>
            </a:r>
          </a:p>
        </p:txBody>
      </p:sp>
      <p:sp>
        <p:nvSpPr>
          <p:cNvPr id="41" name="TextBox 40"/>
          <p:cNvSpPr txBox="1"/>
          <p:nvPr/>
        </p:nvSpPr>
        <p:spPr>
          <a:xfrm>
            <a:off x="1188720" y="1444752"/>
            <a:ext cx="4160520" cy="347472"/>
          </a:xfrm>
          <a:prstGeom prst="rect">
            <a:avLst/>
          </a:prstGeom>
          <a:noFill/>
        </p:spPr>
        <p:txBody>
          <a:bodyPr wrap="square" lIns="0" tIns="0" rIns="0" bIns="0">
            <a:spAutoFit/>
          </a:bodyPr>
          <a:lstStyle/>
          <a:p>
            <a:pPr algn="ctr"/>
            <a:r>
              <a:rPr sz="2000" b="1" i="0" u="none">
                <a:solidFill>
                  <a:srgbClr val="0B2B4E"/>
                </a:solidFill>
                <a:latin typeface="Calibri"/>
              </a:rPr>
              <a:t>The firm's cost curves</a:t>
            </a:r>
          </a:p>
        </p:txBody>
      </p:sp>
      <p:sp>
        <p:nvSpPr>
          <p:cNvPr id="42" name="TextBox 41"/>
          <p:cNvSpPr txBox="1"/>
          <p:nvPr/>
        </p:nvSpPr>
        <p:spPr>
          <a:xfrm>
            <a:off x="6903720" y="1444752"/>
            <a:ext cx="4160520" cy="347472"/>
          </a:xfrm>
          <a:prstGeom prst="rect">
            <a:avLst/>
          </a:prstGeom>
          <a:noFill/>
        </p:spPr>
        <p:txBody>
          <a:bodyPr wrap="square" lIns="0" tIns="0" rIns="0" bIns="0">
            <a:spAutoFit/>
          </a:bodyPr>
          <a:lstStyle/>
          <a:p>
            <a:pPr algn="ctr"/>
            <a:r>
              <a:rPr sz="2000" b="1" i="0" u="none">
                <a:solidFill>
                  <a:srgbClr val="0B2B4E"/>
                </a:solidFill>
                <a:latin typeface="Calibri"/>
              </a:rPr>
              <a:t>The firm's supply curve</a:t>
            </a:r>
          </a:p>
        </p:txBody>
      </p:sp>
      <p:sp>
        <p:nvSpPr>
          <p:cNvPr id="43" name="Rectangle 4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6" name="TextBox 45"/>
          <p:cNvSpPr txBox="1"/>
          <p:nvPr/>
        </p:nvSpPr>
        <p:spPr>
          <a:xfrm>
            <a:off x="11475720" y="6583680"/>
            <a:ext cx="502920" cy="292608"/>
          </a:xfrm>
          <a:prstGeom prst="rect">
            <a:avLst/>
          </a:prstGeom>
          <a:noFill/>
        </p:spPr>
        <p:txBody>
          <a:bodyPr wrap="none" lIns="0" tIns="0" rIns="0" bIns="0">
            <a:spAutoFit/>
          </a:bodyPr>
          <a:lstStyle/>
          <a:p>
            <a:pPr algn="r"/>
            <a:fld id="{AE1A0E2C-A5F1-53C8-BA1B-63E6B0B179FF}" type="slidenum">
              <a:rPr lang="en-US" sz="1200" dirty="0">
                <a:solidFill>
                  <a:srgbClr val="555B66"/>
                </a:solidFill>
                <a:latin typeface="Calibri"/>
              </a:rPr>
              <a:t>51</a:t>
            </a:fld>
            <a:endParaRPr lang="en-US" sz="1200" dirty="0">
              <a:solidFill>
                <a:srgbClr val="555B66"/>
              </a:solidFill>
              <a:latin typeface="Calibri"/>
            </a:endParaRPr>
          </a:p>
        </p:txBody>
      </p:sp>
      <p:sp>
        <p:nvSpPr>
          <p:cNvPr id="47" name="TextBox 46"/>
          <p:cNvSpPr txBox="1"/>
          <p:nvPr/>
        </p:nvSpPr>
        <p:spPr>
          <a:xfrm>
            <a:off x="594360" y="5936766"/>
            <a:ext cx="8138160" cy="370284"/>
          </a:xfrm>
          <a:prstGeom prst="roundRect">
            <a:avLst>
              <a:gd name="adj" fmla="val 30000"/>
            </a:avLst>
          </a:prstGeom>
          <a:solidFill>
            <a:srgbClr val="E09F3E"/>
          </a:solidFill>
          <a:ln>
            <a:noFill/>
          </a:ln>
          <a:effectLst>
            <a:outerShdw blurRad="50800" dist="38100" dir="2700000" algn="tl" rotWithShape="0">
              <a:srgbClr val="000000">
                <a:alpha val="50000"/>
              </a:srgbClr>
            </a:outerShdw>
          </a:effectLst>
        </p:spPr>
        <p:txBody>
          <a:bodyPr wrap="square" lIns="45720" tIns="0" rIns="45720" bIns="0" anchor="ctr">
            <a:spAutoFit/>
          </a:bodyPr>
          <a:lstStyle/>
          <a:p>
            <a:pPr algn="ctr"/>
            <a:r>
              <a:rPr lang="en-US" sz="2000" b="1" dirty="0">
                <a:solidFill>
                  <a:srgbClr val="0B2B4E"/>
                </a:solidFill>
                <a:latin typeface="Calibri"/>
              </a:rPr>
              <a:t>The MC curve </a:t>
            </a:r>
            <a:r>
              <a:rPr lang="en-US" sz="2000" b="1" u="sng" dirty="0">
                <a:solidFill>
                  <a:srgbClr val="0B2B4E"/>
                </a:solidFill>
                <a:latin typeface="Calibri"/>
              </a:rPr>
              <a:t>is</a:t>
            </a:r>
            <a:r>
              <a:rPr lang="en-US" sz="2000" b="1" dirty="0">
                <a:solidFill>
                  <a:srgbClr val="0B2B4E"/>
                </a:solidFill>
                <a:latin typeface="Calibri"/>
              </a:rPr>
              <a:t> the firm's short-run supply curve</a:t>
            </a:r>
            <a:endParaRPr lang="en-US" dirty="0"/>
          </a:p>
        </p:txBody>
      </p:sp>
      <p:sp>
        <p:nvSpPr>
          <p:cNvPr id="48" name="Rounded Rectangle 47"/>
          <p:cNvSpPr/>
          <p:nvPr/>
        </p:nvSpPr>
        <p:spPr>
          <a:xfrm>
            <a:off x="9098280" y="5961888"/>
            <a:ext cx="2834640" cy="457200"/>
          </a:xfrm>
          <a:prstGeom prst="roundRect">
            <a:avLst>
              <a:gd name="adj" fmla="val 50000"/>
            </a:avLst>
          </a:prstGeom>
          <a:solidFill>
            <a:srgbClr val="B8860B">
              <a:alpha val="35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  Yi Family Example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500"/>
                                        <p:tgtEl>
                                          <p:spTgt spid="39"/>
                                        </p:tgtEl>
                                      </p:cBhvr>
                                    </p:animEffect>
                                  </p:childTnLst>
                                </p:cTn>
                              </p:par>
                              <p:par>
                                <p:cTn id="14" presetID="10" presetClass="entr" presetSubtype="0" fill="hold"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500"/>
                                        <p:tgtEl>
                                          <p:spTgt spid="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par>
                                <p:cTn id="31" presetID="10"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500"/>
                                        <p:tgtEl>
                                          <p:spTgt spid="27"/>
                                        </p:tgtEl>
                                      </p:cBhvr>
                                    </p:animEffect>
                                  </p:childTnLst>
                                </p:cTn>
                              </p:par>
                              <p:par>
                                <p:cTn id="56" presetID="10" presetClass="entr" presetSubtype="0" fill="hold"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00"/>
                                        <p:tgtEl>
                                          <p:spTgt spid="29"/>
                                        </p:tgtEl>
                                      </p:cBhvr>
                                    </p:animEffect>
                                  </p:childTnLst>
                                </p:cTn>
                              </p:par>
                              <p:par>
                                <p:cTn id="64" presetID="10" presetClass="entr" presetSubtype="0" fill="hold" nodeType="with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500"/>
                                        <p:tgtEl>
                                          <p:spTgt spid="30"/>
                                        </p:tgtEl>
                                      </p:cBhvr>
                                    </p:animEffect>
                                  </p:childTnLst>
                                </p:cTn>
                              </p:par>
                              <p:par>
                                <p:cTn id="67" presetID="10" presetClass="entr" presetSubtype="0" fill="hold" nodeType="with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00"/>
                                        <p:tgtEl>
                                          <p:spTgt spid="31"/>
                                        </p:tgtEl>
                                      </p:cBhvr>
                                    </p:animEffect>
                                  </p:childTnLst>
                                </p:cTn>
                              </p:par>
                              <p:par>
                                <p:cTn id="70" presetID="10" presetClass="entr" presetSubtype="0" fill="hold" nodeType="with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par>
                                <p:cTn id="73" presetID="10" presetClass="entr" presetSubtype="0" fill="hold" nodeType="with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00"/>
                                        <p:tgtEl>
                                          <p:spTgt spid="33"/>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50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00"/>
                                        <p:tgtEl>
                                          <p:spTgt spid="35"/>
                                        </p:tgtEl>
                                      </p:cBhvr>
                                    </p:animEffect>
                                  </p:childTnLst>
                                </p:cTn>
                              </p:par>
                              <p:par>
                                <p:cTn id="84" presetID="10" presetClass="entr" presetSubtype="0" fill="hold" nodeType="withEffect">
                                  <p:stCondLst>
                                    <p:cond delay="0"/>
                                  </p:stCondLst>
                                  <p:childTnLst>
                                    <p:set>
                                      <p:cBhvr>
                                        <p:cTn id="85" dur="1" fill="hold">
                                          <p:stCondLst>
                                            <p:cond delay="0"/>
                                          </p:stCondLst>
                                        </p:cTn>
                                        <p:tgtEl>
                                          <p:spTgt spid="36"/>
                                        </p:tgtEl>
                                        <p:attrNameLst>
                                          <p:attrName>style.visibility</p:attrName>
                                        </p:attrNameLst>
                                      </p:cBhvr>
                                      <p:to>
                                        <p:strVal val="visible"/>
                                      </p:to>
                                    </p:set>
                                    <p:animEffect transition="in" filter="fade">
                                      <p:cBhvr>
                                        <p:cTn id="86" dur="500"/>
                                        <p:tgtEl>
                                          <p:spTgt spid="36"/>
                                        </p:tgtEl>
                                      </p:cBhvr>
                                    </p:animEffect>
                                  </p:childTnLst>
                                </p:cTn>
                              </p:par>
                              <p:par>
                                <p:cTn id="87" presetID="10" presetClass="entr" presetSubtype="0" fill="hold" nodeType="with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0" presetID="10" presetClass="entr" presetSubtype="0" fill="hold" nodeType="withEffect">
                                  <p:stCondLst>
                                    <p:cond delay="0"/>
                                  </p:stCondLst>
                                  <p:childTnLst>
                                    <p:set>
                                      <p:cBhvr>
                                        <p:cTn id="91" dur="1" fill="hold">
                                          <p:stCondLst>
                                            <p:cond delay="0"/>
                                          </p:stCondLst>
                                        </p:cTn>
                                        <p:tgtEl>
                                          <p:spTgt spid="38"/>
                                        </p:tgtEl>
                                        <p:attrNameLst>
                                          <p:attrName>style.visibility</p:attrName>
                                        </p:attrNameLst>
                                      </p:cBhvr>
                                      <p:to>
                                        <p:strVal val="visible"/>
                                      </p:to>
                                    </p:set>
                                    <p:animEffect transition="in" filter="fade">
                                      <p:cBhvr>
                                        <p:cTn id="92" dur="500"/>
                                        <p:tgtEl>
                                          <p:spTgt spid="38"/>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Effect of Changing Marginal Costs on a Price Taker's Supply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331720" y="1801368"/>
            <a:ext cx="0" cy="359359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394960"/>
            <a:ext cx="68397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052066" y="166878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9072943" y="5440680"/>
            <a:ext cx="196976"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cxnSp>
        <p:nvCxnSpPr>
          <p:cNvPr id="11" name="Connector 10"/>
          <p:cNvCxnSpPr/>
          <p:nvPr/>
        </p:nvCxnSpPr>
        <p:spPr>
          <a:xfrm flipV="1">
            <a:off x="2331720" y="2192403"/>
            <a:ext cx="5224006" cy="232913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39637" y="1852005"/>
            <a:ext cx="501776" cy="292608"/>
          </a:xfrm>
          <a:prstGeom prst="rect">
            <a:avLst/>
          </a:prstGeom>
          <a:noFill/>
        </p:spPr>
        <p:txBody>
          <a:bodyPr wrap="square" lIns="0" tIns="0" rIns="0" bIns="0">
            <a:spAutoFit/>
          </a:bodyPr>
          <a:lstStyle/>
          <a:p>
            <a:pPr algn="l"/>
            <a:r>
              <a:rPr sz="1900" b="1" i="1" u="none">
                <a:solidFill>
                  <a:srgbClr val="0B2B4E"/>
                </a:solidFill>
                <a:latin typeface="Calibri"/>
              </a:rPr>
              <a:t>MC₀</a:t>
            </a:r>
          </a:p>
        </p:txBody>
      </p:sp>
      <p:cxnSp>
        <p:nvCxnSpPr>
          <p:cNvPr id="13" name="Connector 12"/>
          <p:cNvCxnSpPr/>
          <p:nvPr/>
        </p:nvCxnSpPr>
        <p:spPr>
          <a:xfrm flipV="1">
            <a:off x="2331720" y="2308860"/>
            <a:ext cx="6268808" cy="279495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84439" y="1968461"/>
            <a:ext cx="463677" cy="292608"/>
          </a:xfrm>
          <a:prstGeom prst="rect">
            <a:avLst/>
          </a:prstGeom>
          <a:noFill/>
        </p:spPr>
        <p:txBody>
          <a:bodyPr wrap="square" lIns="0" tIns="0" rIns="0" bIns="0">
            <a:spAutoFit/>
          </a:bodyPr>
          <a:lstStyle/>
          <a:p>
            <a:pPr algn="l"/>
            <a:r>
              <a:rPr sz="1900" b="1" i="1" u="none">
                <a:solidFill>
                  <a:srgbClr val="E09F3E"/>
                </a:solidFill>
                <a:latin typeface="Calibri"/>
              </a:rPr>
              <a:t>MC₁</a:t>
            </a:r>
          </a:p>
        </p:txBody>
      </p:sp>
      <p:cxnSp>
        <p:nvCxnSpPr>
          <p:cNvPr id="15" name="Connector 14"/>
          <p:cNvCxnSpPr/>
          <p:nvPr/>
        </p:nvCxnSpPr>
        <p:spPr>
          <a:xfrm>
            <a:off x="2331720" y="2807035"/>
            <a:ext cx="6500986"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890750" y="2651587"/>
            <a:ext cx="1463040" cy="310896"/>
          </a:xfrm>
          <a:prstGeom prst="rect">
            <a:avLst/>
          </a:prstGeom>
          <a:noFill/>
        </p:spPr>
        <p:txBody>
          <a:bodyPr wrap="square" lIns="0" tIns="0" rIns="0" bIns="0">
            <a:spAutoFit/>
          </a:bodyPr>
          <a:lstStyle/>
          <a:p>
            <a:pPr algn="l"/>
            <a:r>
              <a:rPr sz="1800" b="1" i="1" u="none">
                <a:solidFill>
                  <a:srgbClr val="C00000"/>
                </a:solidFill>
                <a:latin typeface="Calibri"/>
              </a:rPr>
              <a:t>P = MR</a:t>
            </a:r>
          </a:p>
        </p:txBody>
      </p:sp>
      <p:cxnSp>
        <p:nvCxnSpPr>
          <p:cNvPr id="17" name="Connector 16"/>
          <p:cNvCxnSpPr/>
          <p:nvPr/>
        </p:nvCxnSpPr>
        <p:spPr>
          <a:xfrm flipV="1">
            <a:off x="6177169" y="2807035"/>
            <a:ext cx="0" cy="2587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117733" y="2747599"/>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flipV="1">
            <a:off x="7483171" y="2807035"/>
            <a:ext cx="0" cy="25879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7423735" y="2747599"/>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28529" y="5486400"/>
            <a:ext cx="502920" cy="310896"/>
          </a:xfrm>
          <a:prstGeom prst="rect">
            <a:avLst/>
          </a:prstGeom>
          <a:noFill/>
        </p:spPr>
        <p:txBody>
          <a:bodyPr wrap="square" lIns="0" tIns="0" rIns="0" bIns="0">
            <a:spAutoFit/>
          </a:bodyPr>
          <a:lstStyle/>
          <a:p>
            <a:pPr algn="r"/>
            <a:r>
              <a:rPr sz="1800" b="1" i="1" u="none">
                <a:solidFill>
                  <a:srgbClr val="0B2B4E"/>
                </a:solidFill>
                <a:latin typeface="Calibri"/>
              </a:rPr>
              <a:t>q₀</a:t>
            </a:r>
          </a:p>
        </p:txBody>
      </p:sp>
      <p:sp>
        <p:nvSpPr>
          <p:cNvPr id="22" name="TextBox 21"/>
          <p:cNvSpPr txBox="1"/>
          <p:nvPr/>
        </p:nvSpPr>
        <p:spPr>
          <a:xfrm>
            <a:off x="7556323" y="5486400"/>
            <a:ext cx="502920" cy="310896"/>
          </a:xfrm>
          <a:prstGeom prst="rect">
            <a:avLst/>
          </a:prstGeom>
          <a:noFill/>
        </p:spPr>
        <p:txBody>
          <a:bodyPr wrap="square" lIns="0" tIns="0" rIns="0" bIns="0">
            <a:spAutoFit/>
          </a:bodyPr>
          <a:lstStyle/>
          <a:p>
            <a:pPr algn="l"/>
            <a:r>
              <a:rPr sz="1800" b="1" i="1" u="none">
                <a:solidFill>
                  <a:srgbClr val="0B2B4E"/>
                </a:solidFill>
                <a:latin typeface="Calibri"/>
              </a:rPr>
              <a:t>q₁</a:t>
            </a:r>
          </a:p>
        </p:txBody>
      </p:sp>
      <p:cxnSp>
        <p:nvCxnSpPr>
          <p:cNvPr id="23" name="Connector 22"/>
          <p:cNvCxnSpPr/>
          <p:nvPr/>
        </p:nvCxnSpPr>
        <p:spPr>
          <a:xfrm>
            <a:off x="6158881" y="5641848"/>
            <a:ext cx="1342578" cy="0"/>
          </a:xfrm>
          <a:prstGeom prst="line">
            <a:avLst/>
          </a:prstGeom>
          <a:ln w="2857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30480" y="3033478"/>
            <a:ext cx="0" cy="349370"/>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grpSp>
        <p:nvGrpSpPr>
          <p:cNvPr id="130" name="Group pair 130"/>
          <p:cNvGrpSpPr/>
          <p:nvPr/>
        </p:nvGrpSpPr>
        <p:grpSpPr>
          <a:xfrm>
            <a:off x="4222699" y="3771900"/>
            <a:ext cx="1792224" cy="585216"/>
            <a:chOff x="4222699" y="3771900"/>
            <a:chExt cx="1792224" cy="585216"/>
          </a:xfrm>
        </p:grpSpPr>
        <p:sp>
          <p:nvSpPr>
            <p:cNvPr id="25" name="Rounded Rectangle 24"/>
            <p:cNvSpPr/>
            <p:nvPr/>
          </p:nvSpPr>
          <p:spPr>
            <a:xfrm>
              <a:off x="4222699" y="3771900"/>
              <a:ext cx="1792224" cy="585216"/>
            </a:xfrm>
            <a:prstGeom prst="roundRect">
              <a:avLst>
                <a:gd name="adj" fmla="val 14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22699" y="3771900"/>
              <a:ext cx="1792224" cy="585216"/>
            </a:xfrm>
            <a:prstGeom prst="rect">
              <a:avLst/>
            </a:prstGeom>
            <a:noFill/>
          </p:spPr>
          <p:txBody>
            <a:bodyPr wrap="square" lIns="45720" tIns="0" rIns="45720" bIns="0" anchor="ctr">
              <a:spAutoFit/>
            </a:bodyPr>
            <a:lstStyle/>
            <a:p>
              <a:pPr algn="l"/>
              <a:r>
                <a:rPr sz="1900" b="1" i="0" u="none" dirty="0">
                  <a:solidFill>
                    <a:srgbClr val="E09F3E"/>
                  </a:solidFill>
                  <a:latin typeface="Calibri"/>
                </a:rPr>
                <a:t>High-yield seeds</a:t>
              </a:r>
            </a:p>
            <a:p>
              <a:pPr algn="l"/>
              <a:r>
                <a:rPr sz="1900" b="1" i="0" u="none" dirty="0">
                  <a:solidFill>
                    <a:srgbClr val="E09F3E"/>
                  </a:solidFill>
                  <a:latin typeface="Calibri"/>
                </a:rPr>
                <a:t>reduce MC</a:t>
              </a:r>
            </a:p>
          </p:txBody>
        </p:sp>
      </p:gr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0" name="TextBox 29"/>
          <p:cNvSpPr txBox="1"/>
          <p:nvPr/>
        </p:nvSpPr>
        <p:spPr>
          <a:xfrm>
            <a:off x="11475720" y="6583680"/>
            <a:ext cx="502920" cy="292608"/>
          </a:xfrm>
          <a:prstGeom prst="rect">
            <a:avLst/>
          </a:prstGeom>
          <a:noFill/>
        </p:spPr>
        <p:txBody>
          <a:bodyPr wrap="none" lIns="0" tIns="0" rIns="0" bIns="0">
            <a:spAutoFit/>
          </a:bodyPr>
          <a:lstStyle/>
          <a:p>
            <a:pPr algn="r"/>
            <a:fld id="{575638B4-5400-58A4-8BD9-C9DF1FBBA574}" type="slidenum">
              <a:rPr lang="en-US" sz="1200" dirty="0">
                <a:solidFill>
                  <a:srgbClr val="555B66"/>
                </a:solidFill>
                <a:latin typeface="Calibri"/>
              </a:rPr>
              <a:t>52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par>
                                <p:cTn id="35" presetID="10"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par>
                                <p:cTn id="52" presetID="10" presetClass="entr" presetSubtype="0" fill="hold"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4 · Firm-Level and Market Supply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Firm and Market Dynamics When MC Falls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1810512"/>
            <a:ext cx="3977639" cy="347472"/>
          </a:xfrm>
          <a:prstGeom prst="rect">
            <a:avLst/>
          </a:prstGeom>
          <a:noFill/>
        </p:spPr>
        <p:txBody>
          <a:bodyPr wrap="square" lIns="0" tIns="0" rIns="0" bIns="0">
            <a:spAutoFit/>
          </a:bodyPr>
          <a:lstStyle/>
          <a:p>
            <a:pPr algn="ctr"/>
            <a:r>
              <a:rPr sz="2100" b="1" i="0" u="none">
                <a:solidFill>
                  <a:srgbClr val="0B2B4E"/>
                </a:solidFill>
                <a:latin typeface="Calibri"/>
              </a:rPr>
              <a:t>Market</a:t>
            </a:r>
          </a:p>
        </p:txBody>
      </p:sp>
      <p:sp>
        <p:nvSpPr>
          <p:cNvPr id="8" name="TextBox 7"/>
          <p:cNvSpPr txBox="1"/>
          <p:nvPr/>
        </p:nvSpPr>
        <p:spPr>
          <a:xfrm>
            <a:off x="6720840" y="1810512"/>
            <a:ext cx="4069080" cy="347472"/>
          </a:xfrm>
          <a:prstGeom prst="rect">
            <a:avLst/>
          </a:prstGeom>
          <a:noFill/>
        </p:spPr>
        <p:txBody>
          <a:bodyPr wrap="square" lIns="0" tIns="0" rIns="0" bIns="0">
            <a:spAutoFit/>
          </a:bodyPr>
          <a:lstStyle/>
          <a:p>
            <a:pPr algn="ctr"/>
            <a:r>
              <a:rPr sz="2100" b="1" i="0" u="none">
                <a:solidFill>
                  <a:srgbClr val="0B2B4E"/>
                </a:solidFill>
                <a:latin typeface="Calibri"/>
              </a:rPr>
              <a:t>Firm (farmer)</a:t>
            </a:r>
          </a:p>
        </p:txBody>
      </p:sp>
      <p:cxnSp>
        <p:nvCxnSpPr>
          <p:cNvPr id="9" name="Connector 8"/>
          <p:cNvCxnSpPr/>
          <p:nvPr/>
        </p:nvCxnSpPr>
        <p:spPr>
          <a:xfrm flipV="1">
            <a:off x="960120" y="2276855"/>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60120" y="5504688"/>
            <a:ext cx="41422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9991" y="214426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2" name="TextBox 11"/>
          <p:cNvSpPr txBox="1"/>
          <p:nvPr/>
        </p:nvSpPr>
        <p:spPr>
          <a:xfrm>
            <a:off x="4989575" y="5550407"/>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cxnSp>
        <p:nvCxnSpPr>
          <p:cNvPr id="13" name="Connector 12"/>
          <p:cNvCxnSpPr/>
          <p:nvPr/>
        </p:nvCxnSpPr>
        <p:spPr>
          <a:xfrm flipV="1">
            <a:off x="6720840" y="2276855"/>
            <a:ext cx="0" cy="322783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20840" y="5504688"/>
            <a:ext cx="42336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50710" y="214426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6" name="TextBox 15"/>
          <p:cNvSpPr txBox="1"/>
          <p:nvPr/>
        </p:nvSpPr>
        <p:spPr>
          <a:xfrm>
            <a:off x="10841736" y="5550407"/>
            <a:ext cx="225551" cy="265176"/>
          </a:xfrm>
          <a:prstGeom prst="rect">
            <a:avLst/>
          </a:prstGeom>
          <a:noFill/>
        </p:spPr>
        <p:txBody>
          <a:bodyPr wrap="square" lIns="0" tIns="0" rIns="0" bIns="0">
            <a:spAutoFit/>
          </a:bodyPr>
          <a:lstStyle/>
          <a:p>
            <a:pPr algn="l"/>
            <a:r>
              <a:rPr lang="en-US" sz="1700" b="1" i="1" u="none" dirty="0">
                <a:solidFill>
                  <a:srgbClr val="0B2B4E"/>
                </a:solidFill>
                <a:latin typeface="Calibri"/>
              </a:rPr>
              <a:t>q</a:t>
            </a:r>
            <a:endParaRPr sz="1700" b="1" i="1" u="none" dirty="0">
              <a:solidFill>
                <a:srgbClr val="0B2B4E"/>
              </a:solidFill>
              <a:latin typeface="Calibri"/>
            </a:endParaRPr>
          </a:p>
        </p:txBody>
      </p:sp>
      <p:cxnSp>
        <p:nvCxnSpPr>
          <p:cNvPr id="17" name="Connector 16"/>
          <p:cNvCxnSpPr/>
          <p:nvPr/>
        </p:nvCxnSpPr>
        <p:spPr>
          <a:xfrm flipV="1">
            <a:off x="1321723" y="2887010"/>
            <a:ext cx="3037471" cy="233920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41114" y="2657163"/>
            <a:ext cx="282702" cy="292608"/>
          </a:xfrm>
          <a:prstGeom prst="rect">
            <a:avLst/>
          </a:prstGeom>
          <a:noFill/>
        </p:spPr>
        <p:txBody>
          <a:bodyPr wrap="square" lIns="0" tIns="0" rIns="0" bIns="0">
            <a:spAutoFit/>
          </a:bodyPr>
          <a:lstStyle/>
          <a:p>
            <a:pPr algn="l"/>
            <a:r>
              <a:rPr sz="1800" b="1" i="1" u="none">
                <a:solidFill>
                  <a:srgbClr val="0B2B4E"/>
                </a:solidFill>
                <a:latin typeface="Calibri"/>
              </a:rPr>
              <a:t>S₀</a:t>
            </a:r>
          </a:p>
        </p:txBody>
      </p:sp>
      <p:cxnSp>
        <p:nvCxnSpPr>
          <p:cNvPr id="19" name="Connector 18"/>
          <p:cNvCxnSpPr/>
          <p:nvPr/>
        </p:nvCxnSpPr>
        <p:spPr>
          <a:xfrm flipV="1">
            <a:off x="2189572" y="3276877"/>
            <a:ext cx="2531225" cy="1949334"/>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684637" y="3019182"/>
            <a:ext cx="244602" cy="292608"/>
          </a:xfrm>
          <a:prstGeom prst="rect">
            <a:avLst/>
          </a:prstGeom>
          <a:noFill/>
        </p:spPr>
        <p:txBody>
          <a:bodyPr wrap="square" lIns="0" tIns="0" rIns="0" bIns="0">
            <a:spAutoFit/>
          </a:bodyPr>
          <a:lstStyle/>
          <a:p>
            <a:pPr algn="l"/>
            <a:r>
              <a:rPr sz="1800" b="1" i="1" u="none">
                <a:solidFill>
                  <a:srgbClr val="E09F3E"/>
                </a:solidFill>
                <a:latin typeface="Calibri"/>
              </a:rPr>
              <a:t>S₁</a:t>
            </a:r>
          </a:p>
        </p:txBody>
      </p:sp>
      <p:cxnSp>
        <p:nvCxnSpPr>
          <p:cNvPr id="21" name="Connector 20"/>
          <p:cNvCxnSpPr/>
          <p:nvPr/>
        </p:nvCxnSpPr>
        <p:spPr>
          <a:xfrm>
            <a:off x="1321723" y="2998400"/>
            <a:ext cx="3109791" cy="2394897"/>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95354" y="5107755"/>
            <a:ext cx="216027" cy="292608"/>
          </a:xfrm>
          <a:prstGeom prst="rect">
            <a:avLst/>
          </a:prstGeom>
          <a:noFill/>
        </p:spPr>
        <p:txBody>
          <a:bodyPr wrap="square" lIns="0" tIns="0" rIns="0" bIns="0">
            <a:spAutoFit/>
          </a:bodyPr>
          <a:lstStyle/>
          <a:p>
            <a:pPr algn="l"/>
            <a:r>
              <a:rPr sz="1800" b="1" i="1" u="none">
                <a:solidFill>
                  <a:srgbClr val="C00000"/>
                </a:solidFill>
                <a:latin typeface="Calibri"/>
              </a:rPr>
              <a:t>D</a:t>
            </a:r>
          </a:p>
        </p:txBody>
      </p:sp>
      <p:cxnSp>
        <p:nvCxnSpPr>
          <p:cNvPr id="23" name="Connector 22"/>
          <p:cNvCxnSpPr/>
          <p:nvPr/>
        </p:nvCxnSpPr>
        <p:spPr>
          <a:xfrm>
            <a:off x="960120" y="4112306"/>
            <a:ext cx="1808018"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768138" y="4112306"/>
            <a:ext cx="0" cy="1392382"/>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516678" y="5559551"/>
            <a:ext cx="502920" cy="274320"/>
          </a:xfrm>
          <a:prstGeom prst="rect">
            <a:avLst/>
          </a:prstGeom>
          <a:noFill/>
        </p:spPr>
        <p:txBody>
          <a:bodyPr wrap="square" lIns="0" tIns="0" rIns="0" bIns="0">
            <a:spAutoFit/>
          </a:bodyPr>
          <a:lstStyle/>
          <a:p>
            <a:pPr algn="ctr"/>
            <a:r>
              <a:rPr sz="1700" b="1" i="1" u="none">
                <a:solidFill>
                  <a:srgbClr val="0B2B4E"/>
                </a:solidFill>
                <a:latin typeface="Calibri"/>
              </a:rPr>
              <a:t>Q₀</a:t>
            </a:r>
          </a:p>
        </p:txBody>
      </p:sp>
      <p:sp>
        <p:nvSpPr>
          <p:cNvPr id="26" name="Oval 25"/>
          <p:cNvSpPr/>
          <p:nvPr/>
        </p:nvSpPr>
        <p:spPr>
          <a:xfrm>
            <a:off x="2708702" y="4052870"/>
            <a:ext cx="118872" cy="118872"/>
          </a:xfrm>
          <a:prstGeom prst="ellipse">
            <a:avLst/>
          </a:prstGeom>
          <a:solidFill>
            <a:srgbClr val="C00000"/>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960120" y="4446477"/>
            <a:ext cx="2241942"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202062" y="4446477"/>
            <a:ext cx="0" cy="1058211"/>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950602" y="5559551"/>
            <a:ext cx="502920" cy="274320"/>
          </a:xfrm>
          <a:prstGeom prst="rect">
            <a:avLst/>
          </a:prstGeom>
          <a:noFill/>
        </p:spPr>
        <p:txBody>
          <a:bodyPr wrap="square" lIns="0" tIns="0" rIns="0" bIns="0">
            <a:spAutoFit/>
          </a:bodyPr>
          <a:lstStyle/>
          <a:p>
            <a:pPr algn="ctr"/>
            <a:r>
              <a:rPr sz="1700" b="1" i="1" u="none">
                <a:solidFill>
                  <a:srgbClr val="0B2B4E"/>
                </a:solidFill>
                <a:latin typeface="Calibri"/>
              </a:rPr>
              <a:t>Q₁</a:t>
            </a:r>
          </a:p>
        </p:txBody>
      </p:sp>
      <p:sp>
        <p:nvSpPr>
          <p:cNvPr id="30" name="Oval 29"/>
          <p:cNvSpPr/>
          <p:nvPr/>
        </p:nvSpPr>
        <p:spPr>
          <a:xfrm>
            <a:off x="3142626" y="4387041"/>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3852949" y="3346496"/>
            <a:ext cx="0" cy="529105"/>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3791" y="3975146"/>
            <a:ext cx="273177" cy="274320"/>
          </a:xfrm>
          <a:prstGeom prst="rect">
            <a:avLst/>
          </a:prstGeom>
          <a:noFill/>
        </p:spPr>
        <p:txBody>
          <a:bodyPr wrap="square" lIns="0" tIns="0" rIns="0" bIns="0">
            <a:spAutoFit/>
          </a:bodyPr>
          <a:lstStyle/>
          <a:p>
            <a:pPr algn="r"/>
            <a:r>
              <a:rPr sz="1700" b="1" i="1" u="none">
                <a:solidFill>
                  <a:srgbClr val="C00000"/>
                </a:solidFill>
                <a:latin typeface="Calibri"/>
              </a:rPr>
              <a:t>P₀</a:t>
            </a:r>
          </a:p>
        </p:txBody>
      </p:sp>
      <p:sp>
        <p:nvSpPr>
          <p:cNvPr id="33" name="TextBox 32"/>
          <p:cNvSpPr txBox="1"/>
          <p:nvPr/>
        </p:nvSpPr>
        <p:spPr>
          <a:xfrm>
            <a:off x="642366" y="4309317"/>
            <a:ext cx="244602" cy="274320"/>
          </a:xfrm>
          <a:prstGeom prst="rect">
            <a:avLst/>
          </a:prstGeom>
          <a:noFill/>
        </p:spPr>
        <p:txBody>
          <a:bodyPr wrap="square" lIns="0" tIns="0" rIns="0" bIns="0">
            <a:spAutoFit/>
          </a:bodyPr>
          <a:lstStyle/>
          <a:p>
            <a:pPr algn="r"/>
            <a:r>
              <a:rPr sz="1700" b="1" i="1" u="none">
                <a:solidFill>
                  <a:srgbClr val="E09F3E"/>
                </a:solidFill>
                <a:latin typeface="Calibri"/>
              </a:rPr>
              <a:t>P₁</a:t>
            </a:r>
          </a:p>
        </p:txBody>
      </p:sp>
      <p:cxnSp>
        <p:nvCxnSpPr>
          <p:cNvPr id="34" name="Connector 33"/>
          <p:cNvCxnSpPr/>
          <p:nvPr/>
        </p:nvCxnSpPr>
        <p:spPr>
          <a:xfrm flipV="1">
            <a:off x="6720840" y="2764480"/>
            <a:ext cx="3033314" cy="2740208"/>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98666" y="2517925"/>
            <a:ext cx="482727" cy="292608"/>
          </a:xfrm>
          <a:prstGeom prst="rect">
            <a:avLst/>
          </a:prstGeom>
          <a:noFill/>
        </p:spPr>
        <p:txBody>
          <a:bodyPr wrap="square" lIns="0" tIns="0" rIns="0" bIns="0">
            <a:spAutoFit/>
          </a:bodyPr>
          <a:lstStyle/>
          <a:p>
            <a:pPr algn="l"/>
            <a:r>
              <a:rPr sz="1800" b="1" i="1" u="none">
                <a:solidFill>
                  <a:srgbClr val="0B2B4E"/>
                </a:solidFill>
                <a:latin typeface="Calibri"/>
              </a:rPr>
              <a:t>MC₀</a:t>
            </a:r>
          </a:p>
        </p:txBody>
      </p:sp>
      <p:cxnSp>
        <p:nvCxnSpPr>
          <p:cNvPr id="36" name="Connector 35"/>
          <p:cNvCxnSpPr/>
          <p:nvPr/>
        </p:nvCxnSpPr>
        <p:spPr>
          <a:xfrm flipV="1">
            <a:off x="7460672" y="3138752"/>
            <a:ext cx="2619008" cy="2365936"/>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10161062" y="2988550"/>
            <a:ext cx="444627" cy="292608"/>
          </a:xfrm>
          <a:prstGeom prst="rect">
            <a:avLst/>
          </a:prstGeom>
          <a:noFill/>
        </p:spPr>
        <p:txBody>
          <a:bodyPr wrap="square" lIns="0" tIns="0" rIns="0" bIns="0">
            <a:spAutoFit/>
          </a:bodyPr>
          <a:lstStyle/>
          <a:p>
            <a:pPr algn="l"/>
            <a:r>
              <a:rPr sz="1800" b="1" i="1" u="none">
                <a:solidFill>
                  <a:srgbClr val="E09F3E"/>
                </a:solidFill>
                <a:latin typeface="Calibri"/>
              </a:rPr>
              <a:t>MC₁</a:t>
            </a:r>
          </a:p>
        </p:txBody>
      </p:sp>
      <p:cxnSp>
        <p:nvCxnSpPr>
          <p:cNvPr id="38" name="Connector 37"/>
          <p:cNvCxnSpPr/>
          <p:nvPr/>
        </p:nvCxnSpPr>
        <p:spPr>
          <a:xfrm>
            <a:off x="6720840" y="4112306"/>
            <a:ext cx="3921113"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720840" y="4446477"/>
            <a:ext cx="3921113" cy="0"/>
          </a:xfrm>
          <a:prstGeom prst="line">
            <a:avLst/>
          </a:prstGeom>
          <a:ln w="28575">
            <a:solidFill>
              <a:srgbClr val="E09F3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789920" y="3956858"/>
            <a:ext cx="1371600" cy="310896"/>
          </a:xfrm>
          <a:prstGeom prst="rect">
            <a:avLst/>
          </a:prstGeom>
          <a:noFill/>
        </p:spPr>
        <p:txBody>
          <a:bodyPr wrap="square" lIns="0" tIns="0" rIns="0" bIns="0">
            <a:spAutoFit/>
          </a:bodyPr>
          <a:lstStyle/>
          <a:p>
            <a:pPr algn="l"/>
            <a:r>
              <a:rPr sz="1500" b="1" i="0" u="none">
                <a:solidFill>
                  <a:srgbClr val="C00000"/>
                </a:solidFill>
                <a:latin typeface="Calibri"/>
              </a:rPr>
              <a:t>MR₀ = P₀</a:t>
            </a:r>
          </a:p>
        </p:txBody>
      </p:sp>
      <p:sp>
        <p:nvSpPr>
          <p:cNvPr id="41" name="TextBox 40"/>
          <p:cNvSpPr txBox="1"/>
          <p:nvPr/>
        </p:nvSpPr>
        <p:spPr>
          <a:xfrm>
            <a:off x="10789920" y="4291029"/>
            <a:ext cx="1371600" cy="310896"/>
          </a:xfrm>
          <a:prstGeom prst="rect">
            <a:avLst/>
          </a:prstGeom>
          <a:noFill/>
        </p:spPr>
        <p:txBody>
          <a:bodyPr wrap="square" lIns="0" tIns="0" rIns="0" bIns="0">
            <a:spAutoFit/>
          </a:bodyPr>
          <a:lstStyle/>
          <a:p>
            <a:pPr algn="l"/>
            <a:r>
              <a:rPr sz="1500" b="1" i="0" u="none">
                <a:solidFill>
                  <a:srgbClr val="E09F3E"/>
                </a:solidFill>
                <a:latin typeface="Calibri"/>
              </a:rPr>
              <a:t>MR₁ = P₁</a:t>
            </a:r>
          </a:p>
        </p:txBody>
      </p:sp>
      <p:cxnSp>
        <p:nvCxnSpPr>
          <p:cNvPr id="42" name="Connector 41"/>
          <p:cNvCxnSpPr/>
          <p:nvPr/>
        </p:nvCxnSpPr>
        <p:spPr>
          <a:xfrm flipV="1">
            <a:off x="8262158" y="4112306"/>
            <a:ext cx="0" cy="1392382"/>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125570" y="5559551"/>
            <a:ext cx="273177" cy="274320"/>
          </a:xfrm>
          <a:prstGeom prst="rect">
            <a:avLst/>
          </a:prstGeom>
          <a:noFill/>
        </p:spPr>
        <p:txBody>
          <a:bodyPr wrap="square" lIns="0" tIns="0" rIns="0" bIns="0">
            <a:spAutoFit/>
          </a:bodyPr>
          <a:lstStyle/>
          <a:p>
            <a:pPr algn="ctr"/>
            <a:r>
              <a:rPr sz="1700" b="1" i="1" u="none">
                <a:solidFill>
                  <a:srgbClr val="0B2B4E"/>
                </a:solidFill>
                <a:latin typeface="Calibri"/>
              </a:rPr>
              <a:t>q₀</a:t>
            </a:r>
          </a:p>
        </p:txBody>
      </p:sp>
      <p:cxnSp>
        <p:nvCxnSpPr>
          <p:cNvPr id="44" name="Connector 43"/>
          <p:cNvCxnSpPr/>
          <p:nvPr/>
        </p:nvCxnSpPr>
        <p:spPr>
          <a:xfrm flipV="1">
            <a:off x="8632074" y="4446477"/>
            <a:ext cx="0" cy="105821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500248" y="5559551"/>
            <a:ext cx="263652" cy="274320"/>
          </a:xfrm>
          <a:prstGeom prst="rect">
            <a:avLst/>
          </a:prstGeom>
          <a:noFill/>
        </p:spPr>
        <p:txBody>
          <a:bodyPr wrap="square" lIns="0" tIns="0" rIns="0" bIns="0">
            <a:spAutoFit/>
          </a:bodyPr>
          <a:lstStyle/>
          <a:p>
            <a:pPr algn="ctr"/>
            <a:r>
              <a:rPr sz="1700" b="1" i="1" u="none">
                <a:solidFill>
                  <a:srgbClr val="0B2B4E"/>
                </a:solidFill>
                <a:latin typeface="Calibri"/>
              </a:rPr>
              <a:t>q₂</a:t>
            </a:r>
          </a:p>
        </p:txBody>
      </p:sp>
      <p:cxnSp>
        <p:nvCxnSpPr>
          <p:cNvPr id="46" name="Connector 45"/>
          <p:cNvCxnSpPr/>
          <p:nvPr/>
        </p:nvCxnSpPr>
        <p:spPr>
          <a:xfrm flipV="1">
            <a:off x="9001990" y="4112306"/>
            <a:ext cx="0" cy="1392382"/>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879689" y="5559551"/>
            <a:ext cx="244602" cy="274320"/>
          </a:xfrm>
          <a:prstGeom prst="rect">
            <a:avLst/>
          </a:prstGeom>
          <a:noFill/>
        </p:spPr>
        <p:txBody>
          <a:bodyPr wrap="square" lIns="0" tIns="0" rIns="0" bIns="0">
            <a:spAutoFit/>
          </a:bodyPr>
          <a:lstStyle/>
          <a:p>
            <a:pPr algn="ctr"/>
            <a:r>
              <a:rPr sz="1700" b="1" i="1" u="none">
                <a:solidFill>
                  <a:srgbClr val="0B2B4E"/>
                </a:solidFill>
                <a:latin typeface="Calibri"/>
              </a:rPr>
              <a:t>q₁</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52" name="TextBox 51"/>
          <p:cNvSpPr txBox="1"/>
          <p:nvPr/>
        </p:nvSpPr>
        <p:spPr>
          <a:xfrm>
            <a:off x="11475720" y="6583680"/>
            <a:ext cx="502920" cy="292608"/>
          </a:xfrm>
          <a:prstGeom prst="rect">
            <a:avLst/>
          </a:prstGeom>
          <a:noFill/>
        </p:spPr>
        <p:txBody>
          <a:bodyPr wrap="none" lIns="0" tIns="0" rIns="0" bIns="0">
            <a:spAutoFit/>
          </a:bodyPr>
          <a:lstStyle/>
          <a:p>
            <a:pPr algn="r"/>
            <a:fld id="{15974B3E-5559-500D-AAEF-02DA76F24ED1}" type="slidenum">
              <a:rPr lang="en-US" sz="1200" dirty="0">
                <a:solidFill>
                  <a:srgbClr val="555B66"/>
                </a:solidFill>
                <a:latin typeface="Calibri"/>
              </a:rPr>
              <a:t>53</a:t>
            </a:fld>
            <a:endParaRPr lang="en-US" sz="1200" dirty="0">
              <a:solidFill>
                <a:srgbClr val="555B66"/>
              </a:solidFill>
              <a:latin typeface="Calibri"/>
            </a:endParaRPr>
          </a:p>
        </p:txBody>
      </p:sp>
      <p:sp>
        <p:nvSpPr>
          <p:cNvPr id="53" name="Rounded Rectangle 52"/>
          <p:cNvSpPr/>
          <p:nvPr/>
        </p:nvSpPr>
        <p:spPr>
          <a:xfrm>
            <a:off x="3667238" y="5916167"/>
            <a:ext cx="4857217"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800" b="1" dirty="0">
                <a:solidFill>
                  <a:srgbClr val="0B2B4E"/>
                </a:solidFill>
                <a:latin typeface="Calibri"/>
              </a:rPr>
              <a:t>If all firms’ costs fall, </a:t>
            </a:r>
            <a:r>
              <a:rPr sz="1800" b="1" dirty="0">
                <a:solidFill>
                  <a:srgbClr val="0B2B4E"/>
                </a:solidFill>
                <a:latin typeface="Calibri"/>
              </a:rPr>
              <a:t>the </a:t>
            </a:r>
            <a:r>
              <a:rPr lang="en-US" sz="1800" b="1" dirty="0">
                <a:solidFill>
                  <a:srgbClr val="0B2B4E"/>
                </a:solidFill>
                <a:latin typeface="Calibri"/>
              </a:rPr>
              <a:t>market </a:t>
            </a:r>
            <a:r>
              <a:rPr sz="1800" b="1" dirty="0">
                <a:solidFill>
                  <a:srgbClr val="0B2B4E"/>
                </a:solidFill>
                <a:latin typeface="Calibri"/>
              </a:rPr>
              <a:t>price falls too</a:t>
            </a:r>
          </a:p>
        </p:txBody>
      </p:sp>
      <p:grpSp>
        <p:nvGrpSpPr>
          <p:cNvPr id="59" name="Group 58">
            <a:extLst>
              <a:ext uri="{FF2B5EF4-FFF2-40B4-BE49-F238E27FC236}">
                <a16:creationId xmlns:a16="http://schemas.microsoft.com/office/drawing/2014/main" id="{3F006826-2EA6-7AD5-60BD-97D3166A0A04}"/>
              </a:ext>
            </a:extLst>
          </p:cNvPr>
          <p:cNvGrpSpPr/>
          <p:nvPr/>
        </p:nvGrpSpPr>
        <p:grpSpPr>
          <a:xfrm>
            <a:off x="4736314" y="4623053"/>
            <a:ext cx="1792224" cy="881635"/>
            <a:chOff x="4736314" y="4623053"/>
            <a:chExt cx="1792224" cy="881635"/>
          </a:xfrm>
        </p:grpSpPr>
        <p:cxnSp>
          <p:nvCxnSpPr>
            <p:cNvPr id="54" name="Connector 23">
              <a:extLst>
                <a:ext uri="{FF2B5EF4-FFF2-40B4-BE49-F238E27FC236}">
                  <a16:creationId xmlns:a16="http://schemas.microsoft.com/office/drawing/2014/main" id="{97E45BFD-DDB3-8FE5-E7EE-CE4420453EF8}"/>
                </a:ext>
              </a:extLst>
            </p:cNvPr>
            <p:cNvCxnSpPr>
              <a:cxnSpLocks/>
            </p:cNvCxnSpPr>
            <p:nvPr/>
          </p:nvCxnSpPr>
          <p:spPr>
            <a:xfrm flipH="1">
              <a:off x="5192862" y="5226211"/>
              <a:ext cx="220386" cy="278477"/>
            </a:xfrm>
            <a:prstGeom prst="line">
              <a:avLst/>
            </a:prstGeom>
            <a:ln w="38100">
              <a:solidFill>
                <a:schemeClr val="tx2">
                  <a:lumMod val="50000"/>
                </a:schemeClr>
              </a:solidFill>
              <a:tailEnd type="triangle" w="lg"/>
            </a:ln>
          </p:spPr>
          <p:style>
            <a:lnRef idx="2">
              <a:schemeClr val="accent1"/>
            </a:lnRef>
            <a:fillRef idx="0">
              <a:schemeClr val="accent1"/>
            </a:fillRef>
            <a:effectRef idx="1">
              <a:schemeClr val="accent1"/>
            </a:effectRef>
            <a:fontRef idx="minor">
              <a:schemeClr val="tx1"/>
            </a:fontRef>
          </p:style>
        </p:cxnSp>
        <p:grpSp>
          <p:nvGrpSpPr>
            <p:cNvPr id="55" name="Group pair 130">
              <a:extLst>
                <a:ext uri="{FF2B5EF4-FFF2-40B4-BE49-F238E27FC236}">
                  <a16:creationId xmlns:a16="http://schemas.microsoft.com/office/drawing/2014/main" id="{AC0A5D3D-2E95-6D26-60ED-06CB0B501790}"/>
                </a:ext>
              </a:extLst>
            </p:cNvPr>
            <p:cNvGrpSpPr/>
            <p:nvPr/>
          </p:nvGrpSpPr>
          <p:grpSpPr>
            <a:xfrm>
              <a:off x="4736314" y="4623053"/>
              <a:ext cx="1792224" cy="585216"/>
              <a:chOff x="4222699" y="3771900"/>
              <a:chExt cx="1792224" cy="585216"/>
            </a:xfrm>
          </p:grpSpPr>
          <p:sp>
            <p:nvSpPr>
              <p:cNvPr id="56" name="Rounded Rectangle 24">
                <a:extLst>
                  <a:ext uri="{FF2B5EF4-FFF2-40B4-BE49-F238E27FC236}">
                    <a16:creationId xmlns:a16="http://schemas.microsoft.com/office/drawing/2014/main" id="{92B72393-23E4-E3CD-7CB6-ACECB150B035}"/>
                  </a:ext>
                </a:extLst>
              </p:cNvPr>
              <p:cNvSpPr/>
              <p:nvPr/>
            </p:nvSpPr>
            <p:spPr>
              <a:xfrm>
                <a:off x="4222699" y="3771900"/>
                <a:ext cx="1792224" cy="585216"/>
              </a:xfrm>
              <a:prstGeom prst="roundRect">
                <a:avLst>
                  <a:gd name="adj" fmla="val 14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a:extLst>
                  <a:ext uri="{FF2B5EF4-FFF2-40B4-BE49-F238E27FC236}">
                    <a16:creationId xmlns:a16="http://schemas.microsoft.com/office/drawing/2014/main" id="{E33AC5FC-1C71-34E1-C688-42621695401C}"/>
                  </a:ext>
                </a:extLst>
              </p:cNvPr>
              <p:cNvSpPr txBox="1"/>
              <p:nvPr/>
            </p:nvSpPr>
            <p:spPr>
              <a:xfrm>
                <a:off x="4222699" y="3772121"/>
                <a:ext cx="1666668" cy="584775"/>
              </a:xfrm>
              <a:prstGeom prst="rect">
                <a:avLst/>
              </a:prstGeom>
              <a:noFill/>
            </p:spPr>
            <p:txBody>
              <a:bodyPr wrap="square" lIns="45720" tIns="0" rIns="45720" bIns="0" anchor="ctr">
                <a:spAutoFit/>
              </a:bodyPr>
              <a:lstStyle/>
              <a:p>
                <a:pPr algn="l"/>
                <a:r>
                  <a:rPr lang="en-US" sz="1900" i="0" u="none" dirty="0">
                    <a:solidFill>
                      <a:schemeClr val="tx2">
                        <a:lumMod val="50000"/>
                      </a:schemeClr>
                    </a:solidFill>
                    <a:latin typeface="Calibri"/>
                  </a:rPr>
                  <a:t>Capital </a:t>
                </a:r>
                <a:r>
                  <a:rPr lang="en-US" sz="1900" b="1" i="0" u="none" dirty="0">
                    <a:solidFill>
                      <a:schemeClr val="tx2">
                        <a:lumMod val="50000"/>
                      </a:schemeClr>
                    </a:solidFill>
                    <a:latin typeface="Calibri"/>
                  </a:rPr>
                  <a:t>Q</a:t>
                </a:r>
                <a:r>
                  <a:rPr lang="en-US" sz="1900" i="0" u="none" dirty="0">
                    <a:solidFill>
                      <a:schemeClr val="tx2">
                        <a:lumMod val="50000"/>
                      </a:schemeClr>
                    </a:solidFill>
                    <a:latin typeface="Calibri"/>
                  </a:rPr>
                  <a:t> for market quantity</a:t>
                </a:r>
                <a:endParaRPr sz="1900" i="0" u="none" dirty="0">
                  <a:solidFill>
                    <a:schemeClr val="tx2">
                      <a:lumMod val="50000"/>
                    </a:schemeClr>
                  </a:solidFill>
                  <a:latin typeface="Calibri"/>
                </a:endParaRPr>
              </a:p>
            </p:txBody>
          </p:sp>
        </p:grpSp>
      </p:grpSp>
      <p:grpSp>
        <p:nvGrpSpPr>
          <p:cNvPr id="60" name="Group 59">
            <a:extLst>
              <a:ext uri="{FF2B5EF4-FFF2-40B4-BE49-F238E27FC236}">
                <a16:creationId xmlns:a16="http://schemas.microsoft.com/office/drawing/2014/main" id="{281A1B40-BB45-6E8A-4568-40B14CE4C912}"/>
              </a:ext>
            </a:extLst>
          </p:cNvPr>
          <p:cNvGrpSpPr/>
          <p:nvPr/>
        </p:nvGrpSpPr>
        <p:grpSpPr>
          <a:xfrm>
            <a:off x="9940029" y="4767231"/>
            <a:ext cx="1466880" cy="859606"/>
            <a:chOff x="4736314" y="4623053"/>
            <a:chExt cx="1466880" cy="859606"/>
          </a:xfrm>
        </p:grpSpPr>
        <p:cxnSp>
          <p:nvCxnSpPr>
            <p:cNvPr id="61" name="Connector 23">
              <a:extLst>
                <a:ext uri="{FF2B5EF4-FFF2-40B4-BE49-F238E27FC236}">
                  <a16:creationId xmlns:a16="http://schemas.microsoft.com/office/drawing/2014/main" id="{F53A88B1-D110-5B05-2136-FC05CD920C6D}"/>
                </a:ext>
              </a:extLst>
            </p:cNvPr>
            <p:cNvCxnSpPr>
              <a:cxnSpLocks/>
            </p:cNvCxnSpPr>
            <p:nvPr/>
          </p:nvCxnSpPr>
          <p:spPr>
            <a:xfrm>
              <a:off x="5377702" y="5170053"/>
              <a:ext cx="224773" cy="312606"/>
            </a:xfrm>
            <a:prstGeom prst="line">
              <a:avLst/>
            </a:prstGeom>
            <a:ln w="38100">
              <a:solidFill>
                <a:schemeClr val="tx2">
                  <a:lumMod val="50000"/>
                </a:schemeClr>
              </a:solidFill>
              <a:tailEnd type="triangle" w="lg"/>
            </a:ln>
          </p:spPr>
          <p:style>
            <a:lnRef idx="2">
              <a:schemeClr val="accent1"/>
            </a:lnRef>
            <a:fillRef idx="0">
              <a:schemeClr val="accent1"/>
            </a:fillRef>
            <a:effectRef idx="1">
              <a:schemeClr val="accent1"/>
            </a:effectRef>
            <a:fontRef idx="minor">
              <a:schemeClr val="tx1"/>
            </a:fontRef>
          </p:style>
        </p:cxnSp>
        <p:grpSp>
          <p:nvGrpSpPr>
            <p:cNvPr id="62" name="Group pair 130">
              <a:extLst>
                <a:ext uri="{FF2B5EF4-FFF2-40B4-BE49-F238E27FC236}">
                  <a16:creationId xmlns:a16="http://schemas.microsoft.com/office/drawing/2014/main" id="{311EF8E4-7548-CECF-EF68-9B046EF05E13}"/>
                </a:ext>
              </a:extLst>
            </p:cNvPr>
            <p:cNvGrpSpPr/>
            <p:nvPr/>
          </p:nvGrpSpPr>
          <p:grpSpPr>
            <a:xfrm>
              <a:off x="4736314" y="4623053"/>
              <a:ext cx="1466880" cy="585216"/>
              <a:chOff x="4222699" y="3771900"/>
              <a:chExt cx="1466880" cy="585216"/>
            </a:xfrm>
          </p:grpSpPr>
          <p:sp>
            <p:nvSpPr>
              <p:cNvPr id="63" name="Rounded Rectangle 24">
                <a:extLst>
                  <a:ext uri="{FF2B5EF4-FFF2-40B4-BE49-F238E27FC236}">
                    <a16:creationId xmlns:a16="http://schemas.microsoft.com/office/drawing/2014/main" id="{C49B66D9-CC2C-743A-484E-9812A46E99D9}"/>
                  </a:ext>
                </a:extLst>
              </p:cNvPr>
              <p:cNvSpPr/>
              <p:nvPr/>
            </p:nvSpPr>
            <p:spPr>
              <a:xfrm>
                <a:off x="4222699" y="3771900"/>
                <a:ext cx="1367898" cy="585216"/>
              </a:xfrm>
              <a:prstGeom prst="roundRect">
                <a:avLst>
                  <a:gd name="adj" fmla="val 14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a:extLst>
                  <a:ext uri="{FF2B5EF4-FFF2-40B4-BE49-F238E27FC236}">
                    <a16:creationId xmlns:a16="http://schemas.microsoft.com/office/drawing/2014/main" id="{D874B867-AD7E-697E-E423-CCE6509E4E68}"/>
                  </a:ext>
                </a:extLst>
              </p:cNvPr>
              <p:cNvSpPr txBox="1"/>
              <p:nvPr/>
            </p:nvSpPr>
            <p:spPr>
              <a:xfrm>
                <a:off x="4222699" y="3772121"/>
                <a:ext cx="1466880" cy="584775"/>
              </a:xfrm>
              <a:prstGeom prst="rect">
                <a:avLst/>
              </a:prstGeom>
              <a:noFill/>
            </p:spPr>
            <p:txBody>
              <a:bodyPr wrap="square" lIns="45720" tIns="0" rIns="45720" bIns="0" anchor="ctr">
                <a:spAutoFit/>
              </a:bodyPr>
              <a:lstStyle/>
              <a:p>
                <a:pPr algn="l"/>
                <a:r>
                  <a:rPr lang="en-US" sz="1900" i="0" u="none" dirty="0">
                    <a:solidFill>
                      <a:schemeClr val="tx2">
                        <a:lumMod val="50000"/>
                      </a:schemeClr>
                    </a:solidFill>
                    <a:latin typeface="Calibri"/>
                  </a:rPr>
                  <a:t>Small </a:t>
                </a:r>
                <a:r>
                  <a:rPr lang="en-US" sz="1900" b="1" i="0" u="none" dirty="0">
                    <a:solidFill>
                      <a:schemeClr val="tx2">
                        <a:lumMod val="50000"/>
                      </a:schemeClr>
                    </a:solidFill>
                    <a:latin typeface="Calibri"/>
                  </a:rPr>
                  <a:t>q</a:t>
                </a:r>
                <a:r>
                  <a:rPr lang="en-US" sz="1900" i="0" u="none" dirty="0">
                    <a:solidFill>
                      <a:schemeClr val="tx2">
                        <a:lumMod val="50000"/>
                      </a:schemeClr>
                    </a:solidFill>
                    <a:latin typeface="Calibri"/>
                  </a:rPr>
                  <a:t> for firm quantity</a:t>
                </a:r>
                <a:endParaRPr sz="1900" i="0" u="none" dirty="0">
                  <a:solidFill>
                    <a:schemeClr val="tx2">
                      <a:lumMod val="50000"/>
                    </a:schemeClr>
                  </a:solidFill>
                  <a:latin typeface="Calibri"/>
                </a:endParaRPr>
              </a:p>
            </p:txBody>
          </p:sp>
        </p:grpSp>
      </p:grpSp>
      <p:grpSp>
        <p:nvGrpSpPr>
          <p:cNvPr id="74" name="Group 73">
            <a:extLst>
              <a:ext uri="{FF2B5EF4-FFF2-40B4-BE49-F238E27FC236}">
                <a16:creationId xmlns:a16="http://schemas.microsoft.com/office/drawing/2014/main" id="{D3EB2C31-87BB-14FA-8C55-56F883BE93DA}"/>
              </a:ext>
            </a:extLst>
          </p:cNvPr>
          <p:cNvGrpSpPr/>
          <p:nvPr/>
        </p:nvGrpSpPr>
        <p:grpSpPr>
          <a:xfrm>
            <a:off x="7581830" y="2764480"/>
            <a:ext cx="1913382" cy="832644"/>
            <a:chOff x="7581830" y="2764480"/>
            <a:chExt cx="1913382" cy="832644"/>
          </a:xfrm>
        </p:grpSpPr>
        <p:cxnSp>
          <p:nvCxnSpPr>
            <p:cNvPr id="48" name="Connector 47"/>
            <p:cNvCxnSpPr/>
            <p:nvPr/>
          </p:nvCxnSpPr>
          <p:spPr>
            <a:xfrm>
              <a:off x="9495212" y="3068019"/>
              <a:ext cx="0" cy="529105"/>
            </a:xfrm>
            <a:prstGeom prst="line">
              <a:avLst/>
            </a:prstGeom>
            <a:ln w="38100">
              <a:solidFill>
                <a:srgbClr val="E09F3E"/>
              </a:solidFill>
              <a:tailEnd type="triangle" w="lg"/>
            </a:ln>
          </p:spPr>
          <p:style>
            <a:lnRef idx="2">
              <a:schemeClr val="accent1"/>
            </a:lnRef>
            <a:fillRef idx="0">
              <a:schemeClr val="accent1"/>
            </a:fillRef>
            <a:effectRef idx="1">
              <a:schemeClr val="accent1"/>
            </a:effectRef>
            <a:fontRef idx="minor">
              <a:schemeClr val="tx1"/>
            </a:fontRef>
          </p:style>
        </p:cxnSp>
        <p:grpSp>
          <p:nvGrpSpPr>
            <p:cNvPr id="71" name="Group pair 130">
              <a:extLst>
                <a:ext uri="{FF2B5EF4-FFF2-40B4-BE49-F238E27FC236}">
                  <a16:creationId xmlns:a16="http://schemas.microsoft.com/office/drawing/2014/main" id="{296A0E84-3155-4BD5-7A03-F2CDBDCA03DC}"/>
                </a:ext>
              </a:extLst>
            </p:cNvPr>
            <p:cNvGrpSpPr/>
            <p:nvPr/>
          </p:nvGrpSpPr>
          <p:grpSpPr>
            <a:xfrm>
              <a:off x="7581830" y="2764480"/>
              <a:ext cx="1792224" cy="585216"/>
              <a:chOff x="4222699" y="3771900"/>
              <a:chExt cx="1792224" cy="585216"/>
            </a:xfrm>
          </p:grpSpPr>
          <p:sp>
            <p:nvSpPr>
              <p:cNvPr id="72" name="Rounded Rectangle 24">
                <a:extLst>
                  <a:ext uri="{FF2B5EF4-FFF2-40B4-BE49-F238E27FC236}">
                    <a16:creationId xmlns:a16="http://schemas.microsoft.com/office/drawing/2014/main" id="{75C640CC-8F9E-30CA-38D8-C7217F40AB30}"/>
                  </a:ext>
                </a:extLst>
              </p:cNvPr>
              <p:cNvSpPr/>
              <p:nvPr/>
            </p:nvSpPr>
            <p:spPr>
              <a:xfrm>
                <a:off x="4222699" y="3771900"/>
                <a:ext cx="1792224" cy="585216"/>
              </a:xfrm>
              <a:prstGeom prst="roundRect">
                <a:avLst>
                  <a:gd name="adj" fmla="val 14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a:extLst>
                  <a:ext uri="{FF2B5EF4-FFF2-40B4-BE49-F238E27FC236}">
                    <a16:creationId xmlns:a16="http://schemas.microsoft.com/office/drawing/2014/main" id="{128B6F7E-28C3-2B1F-2108-7DB3D3B7EDE1}"/>
                  </a:ext>
                </a:extLst>
              </p:cNvPr>
              <p:cNvSpPr txBox="1"/>
              <p:nvPr/>
            </p:nvSpPr>
            <p:spPr>
              <a:xfrm>
                <a:off x="4222699" y="3771900"/>
                <a:ext cx="1792224" cy="585216"/>
              </a:xfrm>
              <a:prstGeom prst="rect">
                <a:avLst/>
              </a:prstGeom>
              <a:noFill/>
            </p:spPr>
            <p:txBody>
              <a:bodyPr wrap="square" lIns="45720" tIns="0" rIns="45720" bIns="0" anchor="ctr">
                <a:spAutoFit/>
              </a:bodyPr>
              <a:lstStyle/>
              <a:p>
                <a:pPr algn="l"/>
                <a:r>
                  <a:rPr sz="1900" b="1" i="0" u="none" dirty="0">
                    <a:solidFill>
                      <a:srgbClr val="E09F3E"/>
                    </a:solidFill>
                    <a:latin typeface="Calibri"/>
                  </a:rPr>
                  <a:t>High-yield seeds</a:t>
                </a:r>
              </a:p>
              <a:p>
                <a:pPr algn="l"/>
                <a:r>
                  <a:rPr sz="1900" b="1" i="0" u="none" dirty="0">
                    <a:solidFill>
                      <a:srgbClr val="E09F3E"/>
                    </a:solidFill>
                    <a:latin typeface="Calibri"/>
                  </a:rPr>
                  <a:t>reduce MC</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childTnLst>
                                </p:cTn>
                              </p:par>
                              <p:par>
                                <p:cTn id="12" presetID="10" presetClass="entr" presetSubtype="0" fill="hold"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500"/>
                                        <p:tgtEl>
                                          <p:spTgt spid="18"/>
                                        </p:tgtEl>
                                      </p:cBhvr>
                                    </p:animEffect>
                                  </p:childTnLst>
                                </p:cTn>
                              </p:par>
                              <p:par>
                                <p:cTn id="15" presetID="10"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par>
                                <p:cTn id="18" presetID="10" presetClass="entr" presetSubtype="0" fill="hold"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50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nodeType="clickEffect">
                                  <p:stCondLst>
                                    <p:cond delay="0"/>
                                  </p:stCondLst>
                                  <p:childTnLst>
                                    <p:set>
                                      <p:cBhvr>
                                        <p:cTn id="41" dur="1" fill="hold">
                                          <p:stCondLst>
                                            <p:cond delay="0"/>
                                          </p:stCondLst>
                                        </p:cTn>
                                        <p:tgtEl>
                                          <p:spTgt spid="60"/>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50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500"/>
                                        <p:tgtEl>
                                          <p:spTgt spid="38"/>
                                        </p:tgtEl>
                                      </p:cBhvr>
                                    </p:animEffect>
                                  </p:childTnLst>
                                </p:cTn>
                              </p:par>
                              <p:par>
                                <p:cTn id="53" presetID="10" presetClass="entr" presetSubtype="0" fill="hold" nodeType="withEffect">
                                  <p:stCondLst>
                                    <p:cond delay="0"/>
                                  </p:stCondLst>
                                  <p:childTnLst>
                                    <p:set>
                                      <p:cBhvr>
                                        <p:cTn id="54" dur="1" fill="hold">
                                          <p:stCondLst>
                                            <p:cond delay="0"/>
                                          </p:stCondLst>
                                        </p:cTn>
                                        <p:tgtEl>
                                          <p:spTgt spid="40"/>
                                        </p:tgtEl>
                                        <p:attrNameLst>
                                          <p:attrName>style.visibility</p:attrName>
                                        </p:attrNameLst>
                                      </p:cBhvr>
                                      <p:to>
                                        <p:strVal val="visible"/>
                                      </p:to>
                                    </p:set>
                                    <p:animEffect transition="in" filter="fade">
                                      <p:cBhvr>
                                        <p:cTn id="55" dur="500"/>
                                        <p:tgtEl>
                                          <p:spTgt spid="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500"/>
                                        <p:tgtEl>
                                          <p:spTgt spid="43"/>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nodeType="clickEffect">
                                  <p:stCondLst>
                                    <p:cond delay="0"/>
                                  </p:stCondLst>
                                  <p:childTnLst>
                                    <p:set>
                                      <p:cBhvr>
                                        <p:cTn id="67" dur="1" fill="hold">
                                          <p:stCondLst>
                                            <p:cond delay="0"/>
                                          </p:stCondLst>
                                        </p:cTn>
                                        <p:tgtEl>
                                          <p:spTgt spid="74"/>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6"/>
                                        </p:tgtEl>
                                        <p:attrNameLst>
                                          <p:attrName>style.visibility</p:attrName>
                                        </p:attrNameLst>
                                      </p:cBhvr>
                                      <p:to>
                                        <p:strVal val="visible"/>
                                      </p:to>
                                    </p:set>
                                    <p:animEffect transition="in" filter="fade">
                                      <p:cBhvr>
                                        <p:cTn id="72" dur="500"/>
                                        <p:tgtEl>
                                          <p:spTgt spid="36"/>
                                        </p:tgtEl>
                                      </p:cBhvr>
                                    </p:animEffect>
                                  </p:childTnLst>
                                </p:cTn>
                              </p:par>
                              <p:par>
                                <p:cTn id="73" presetID="10" presetClass="entr" presetSubtype="0" fill="hold" nodeType="with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fade">
                                      <p:cBhvr>
                                        <p:cTn id="75" dur="500"/>
                                        <p:tgtEl>
                                          <p:spTgt spid="37"/>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500"/>
                                        <p:tgtEl>
                                          <p:spTgt spid="46"/>
                                        </p:tgtEl>
                                      </p:cBhvr>
                                    </p:animEffect>
                                  </p:childTnLst>
                                </p:cTn>
                              </p:par>
                              <p:par>
                                <p:cTn id="81" presetID="10" presetClass="entr" presetSubtype="0" fill="hold" nodeType="withEffect">
                                  <p:stCondLst>
                                    <p:cond delay="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500"/>
                                        <p:tgtEl>
                                          <p:spTgt spid="47"/>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500"/>
                                        <p:tgtEl>
                                          <p:spTgt spid="19"/>
                                        </p:tgtEl>
                                      </p:cBhvr>
                                    </p:animEffect>
                                  </p:childTnLst>
                                </p:cTn>
                              </p:par>
                              <p:par>
                                <p:cTn id="89" presetID="10" presetClass="entr" presetSubtype="0" fill="hold"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500"/>
                                        <p:tgtEl>
                                          <p:spTgt spid="20"/>
                                        </p:tgtEl>
                                      </p:cBhvr>
                                    </p:animEffect>
                                  </p:childTnLst>
                                </p:cTn>
                              </p:par>
                              <p:par>
                                <p:cTn id="92" presetID="10" presetClass="entr" presetSubtype="0" fill="hold"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27"/>
                                        </p:tgtEl>
                                        <p:attrNameLst>
                                          <p:attrName>style.visibility</p:attrName>
                                        </p:attrNameLst>
                                      </p:cBhvr>
                                      <p:to>
                                        <p:strVal val="visible"/>
                                      </p:to>
                                    </p:set>
                                    <p:animEffect transition="in" filter="fade">
                                      <p:cBhvr>
                                        <p:cTn id="99" dur="500"/>
                                        <p:tgtEl>
                                          <p:spTgt spid="27"/>
                                        </p:tgtEl>
                                      </p:cBhvr>
                                    </p:animEffect>
                                  </p:childTnLst>
                                </p:cTn>
                              </p:par>
                              <p:par>
                                <p:cTn id="100" presetID="10" presetClass="entr" presetSubtype="0" fill="hold" nodeType="withEffect">
                                  <p:stCondLst>
                                    <p:cond delay="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500"/>
                                        <p:tgtEl>
                                          <p:spTgt spid="28"/>
                                        </p:tgtEl>
                                      </p:cBhvr>
                                    </p:animEffect>
                                  </p:childTnLst>
                                </p:cTn>
                              </p:par>
                              <p:par>
                                <p:cTn id="103" presetID="10" presetClass="entr" presetSubtype="0" fill="hold"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500"/>
                                        <p:tgtEl>
                                          <p:spTgt spid="29"/>
                                        </p:tgtEl>
                                      </p:cBhvr>
                                    </p:animEffect>
                                  </p:childTnLst>
                                </p:cTn>
                              </p:par>
                              <p:par>
                                <p:cTn id="106" presetID="10" presetClass="entr" presetSubtype="0" fill="hold" nodeType="withEffect">
                                  <p:stCondLst>
                                    <p:cond delay="0"/>
                                  </p:stCondLst>
                                  <p:childTnLst>
                                    <p:set>
                                      <p:cBhvr>
                                        <p:cTn id="107" dur="1" fill="hold">
                                          <p:stCondLst>
                                            <p:cond delay="0"/>
                                          </p:stCondLst>
                                        </p:cTn>
                                        <p:tgtEl>
                                          <p:spTgt spid="33"/>
                                        </p:tgtEl>
                                        <p:attrNameLst>
                                          <p:attrName>style.visibility</p:attrName>
                                        </p:attrNameLst>
                                      </p:cBhvr>
                                      <p:to>
                                        <p:strVal val="visible"/>
                                      </p:to>
                                    </p:set>
                                    <p:animEffect transition="in" filter="fade">
                                      <p:cBhvr>
                                        <p:cTn id="108" dur="500"/>
                                        <p:tgtEl>
                                          <p:spTgt spid="33"/>
                                        </p:tgtEl>
                                      </p:cBhvr>
                                    </p:animEffect>
                                  </p:childTnLst>
                                </p:cTn>
                              </p:par>
                              <p:par>
                                <p:cTn id="109" presetID="10" presetClass="entr" presetSubtype="0" fill="hold" nodeType="withEffect">
                                  <p:stCondLst>
                                    <p:cond delay="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00"/>
                                        <p:tgtEl>
                                          <p:spTgt spid="30"/>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500"/>
                                        <p:tgtEl>
                                          <p:spTgt spid="39"/>
                                        </p:tgtEl>
                                      </p:cBhvr>
                                    </p:animEffect>
                                  </p:childTnLst>
                                </p:cTn>
                              </p:par>
                              <p:par>
                                <p:cTn id="117" presetID="10" presetClass="entr" presetSubtype="0" fill="hold"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nodeType="click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fade">
                                      <p:cBhvr>
                                        <p:cTn id="124" dur="500"/>
                                        <p:tgtEl>
                                          <p:spTgt spid="44"/>
                                        </p:tgtEl>
                                      </p:cBhvr>
                                    </p:animEffect>
                                  </p:childTnLst>
                                </p:cTn>
                              </p:par>
                              <p:par>
                                <p:cTn id="125" presetID="10" presetClass="entr" presetSubtype="0" fill="hold" nodeType="withEffect">
                                  <p:stCondLst>
                                    <p:cond delay="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500"/>
                                        <p:tgtEl>
                                          <p:spTgt spid="45"/>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nodeType="clickEffect">
                                  <p:stCondLst>
                                    <p:cond delay="0"/>
                                  </p:stCondLst>
                                  <p:childTnLst>
                                    <p:set>
                                      <p:cBhvr>
                                        <p:cTn id="131" dur="1" fill="hold">
                                          <p:stCondLst>
                                            <p:cond delay="0"/>
                                          </p:stCondLst>
                                        </p:cTn>
                                        <p:tgtEl>
                                          <p:spTgt spid="53"/>
                                        </p:tgtEl>
                                        <p:attrNameLst>
                                          <p:attrName>style.visibility</p:attrName>
                                        </p:attrNameLst>
                                      </p:cBhvr>
                                      <p:to>
                                        <p:strVal val="visible"/>
                                      </p:to>
                                    </p:set>
                                    <p:animEffect transition="in" filter="fade">
                                      <p:cBhvr>
                                        <p:cTn id="13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920240"/>
            <a:ext cx="11687697" cy="914400"/>
          </a:xfrm>
          <a:prstGeom prst="rect">
            <a:avLst/>
          </a:prstGeom>
          <a:noFill/>
        </p:spPr>
        <p:txBody>
          <a:bodyPr wrap="square" lIns="0" tIns="0" rIns="0" bIns="0">
            <a:spAutoFit/>
          </a:bodyPr>
          <a:lstStyle/>
          <a:p>
            <a:pPr algn="ctr"/>
            <a:r>
              <a:rPr sz="6000" b="1" i="0" u="none" dirty="0">
                <a:solidFill>
                  <a:srgbClr val="0B2B4E"/>
                </a:solidFill>
                <a:latin typeface="Calibri"/>
              </a:rPr>
              <a:t>Long-Run Competitive Equilibrium</a:t>
            </a:r>
          </a:p>
        </p:txBody>
      </p:sp>
      <p:sp>
        <p:nvSpPr>
          <p:cNvPr id="3" name="TextBox 2"/>
          <p:cNvSpPr txBox="1"/>
          <p:nvPr/>
        </p:nvSpPr>
        <p:spPr>
          <a:xfrm>
            <a:off x="251999" y="2971800"/>
            <a:ext cx="11687697" cy="640080"/>
          </a:xfrm>
          <a:prstGeom prst="rect">
            <a:avLst/>
          </a:prstGeom>
          <a:noFill/>
        </p:spPr>
        <p:txBody>
          <a:bodyPr wrap="square" lIns="0" tIns="0" rIns="0" bIns="0">
            <a:spAutoFit/>
          </a:bodyPr>
          <a:lstStyle/>
          <a:p>
            <a:pPr algn="ctr"/>
            <a:r>
              <a:rPr sz="4000" b="1" i="0" u="none">
                <a:solidFill>
                  <a:srgbClr val="E09F3E"/>
                </a:solidFill>
                <a:latin typeface="Calibri"/>
              </a:rPr>
              <a:t>Module 4  ·  Video 5</a:t>
            </a:r>
          </a:p>
        </p:txBody>
      </p:sp>
      <p:sp>
        <p:nvSpPr>
          <p:cNvPr id="4" name="Rectangle 3"/>
          <p:cNvSpPr/>
          <p:nvPr/>
        </p:nvSpPr>
        <p:spPr>
          <a:xfrm>
            <a:off x="4267047" y="3913632"/>
            <a:ext cx="365760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224528"/>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4864608"/>
            <a:ext cx="11687697" cy="36576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Rounded Rectangle 18"/>
          <p:cNvSpPr/>
          <p:nvPr/>
        </p:nvSpPr>
        <p:spPr>
          <a:xfrm>
            <a:off x="822960" y="4194810"/>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2c</a:t>
            </a:r>
          </a:p>
        </p:txBody>
      </p:sp>
      <p:sp>
        <p:nvSpPr>
          <p:cNvPr id="21" name="Rounded Rectangle 20"/>
          <p:cNvSpPr/>
          <p:nvPr/>
        </p:nvSpPr>
        <p:spPr>
          <a:xfrm>
            <a:off x="10707625" y="441426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5</a:t>
            </a:r>
          </a:p>
        </p:txBody>
      </p:sp>
      <p:sp>
        <p:nvSpPr>
          <p:cNvPr id="22" name="TextBox 21"/>
          <p:cNvSpPr txBox="1"/>
          <p:nvPr/>
        </p:nvSpPr>
        <p:spPr>
          <a:xfrm>
            <a:off x="2148840" y="4249674"/>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Long-Run Competitive Equilibrium</a:t>
            </a:r>
          </a:p>
          <a:p>
            <a:pPr algn="l">
              <a:spcBef>
                <a:spcPts val="0"/>
              </a:spcBef>
              <a:buNone/>
            </a:pPr>
            <a:r>
              <a:rPr sz="2000">
                <a:solidFill>
                  <a:srgbClr val="555B66"/>
                </a:solidFill>
                <a:latin typeface="Calibri"/>
              </a:rPr>
              <a:t>Entry and exit drive economic profits to zero</a:t>
            </a: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47E09EE4-0FC8-5620-AA5C-342E46D91750}" type="slidenum">
              <a:rPr lang="en-US" sz="1200" dirty="0">
                <a:solidFill>
                  <a:srgbClr val="555B66"/>
                </a:solidFill>
                <a:latin typeface="Calibri"/>
              </a:rPr>
              <a:t>55</a:t>
            </a:fld>
            <a:endParaRPr lang="en-US" sz="1200" dirty="0">
              <a:solidFill>
                <a:srgbClr val="555B66"/>
              </a:solidFill>
              <a:latin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in the Long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024128"/>
            <a:ext cx="5844001" cy="489204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buNone/>
            </a:pPr>
            <a:r>
              <a:rPr sz="2800" b="1" dirty="0">
                <a:solidFill>
                  <a:srgbClr val="0B2B4E"/>
                </a:solidFill>
                <a:latin typeface="Calibri"/>
              </a:rPr>
              <a:t>What changes in the long run?</a:t>
            </a:r>
          </a:p>
          <a:p>
            <a:pPr algn="l">
              <a:spcBef>
                <a:spcPts val="1800"/>
              </a:spcBef>
              <a:buNone/>
            </a:pPr>
            <a:r>
              <a:rPr sz="2800" dirty="0">
                <a:solidFill>
                  <a:srgbClr val="0B2B4E"/>
                </a:solidFill>
                <a:latin typeface="Calibri"/>
              </a:rPr>
              <a:t>1.   Capital can also be adjusted</a:t>
            </a:r>
          </a:p>
          <a:p>
            <a:pPr lvl="1" algn="l"/>
            <a:r>
              <a:rPr dirty="0">
                <a:latin typeface="Calibri"/>
              </a:rPr>
              <a:t>All costs are considered variable</a:t>
            </a:r>
          </a:p>
          <a:p>
            <a:pPr lvl="1" algn="l"/>
            <a:r>
              <a:rPr lang="en-US" dirty="0">
                <a:latin typeface="Calibri"/>
              </a:rPr>
              <a:t>We thus </a:t>
            </a:r>
            <a:r>
              <a:rPr lang="en-US" dirty="0"/>
              <a:t>f</a:t>
            </a:r>
            <a:r>
              <a:rPr dirty="0">
                <a:latin typeface="Calibri"/>
              </a:rPr>
              <a:t>ocus on </a:t>
            </a:r>
            <a:r>
              <a:rPr dirty="0">
                <a:solidFill>
                  <a:srgbClr val="C00000"/>
                </a:solidFill>
                <a:latin typeface="Calibri"/>
              </a:rPr>
              <a:t>Long Run </a:t>
            </a:r>
            <a:r>
              <a:rPr dirty="0">
                <a:latin typeface="Calibri"/>
              </a:rPr>
              <a:t>Average Costs (</a:t>
            </a:r>
            <a:r>
              <a:rPr dirty="0">
                <a:solidFill>
                  <a:srgbClr val="C00000"/>
                </a:solidFill>
                <a:latin typeface="Calibri"/>
              </a:rPr>
              <a:t>LAC</a:t>
            </a:r>
            <a:r>
              <a:rPr dirty="0">
                <a:latin typeface="Calibri"/>
              </a:rPr>
              <a:t>)</a:t>
            </a:r>
          </a:p>
          <a:p>
            <a:pPr algn="l">
              <a:spcBef>
                <a:spcPts val="1800"/>
              </a:spcBef>
              <a:buNone/>
            </a:pPr>
            <a:r>
              <a:rPr sz="2800" dirty="0">
                <a:solidFill>
                  <a:srgbClr val="0B2B4E"/>
                </a:solidFill>
                <a:latin typeface="Calibri"/>
              </a:rPr>
              <a:t>2.   </a:t>
            </a:r>
            <a:r>
              <a:rPr lang="en-US" sz="2800" dirty="0">
                <a:solidFill>
                  <a:srgbClr val="0B2B4E"/>
                </a:solidFill>
                <a:latin typeface="Calibri"/>
              </a:rPr>
              <a:t>Firms can enter </a:t>
            </a:r>
            <a:r>
              <a:rPr sz="2800" dirty="0">
                <a:solidFill>
                  <a:srgbClr val="0B2B4E"/>
                </a:solidFill>
                <a:latin typeface="Calibri"/>
              </a:rPr>
              <a:t>and exit</a:t>
            </a:r>
            <a:r>
              <a:rPr lang="en-US" sz="2800" dirty="0">
                <a:solidFill>
                  <a:srgbClr val="0B2B4E"/>
                </a:solidFill>
                <a:latin typeface="Calibri"/>
              </a:rPr>
              <a:t> the market</a:t>
            </a:r>
            <a:endParaRPr sz="2800" dirty="0">
              <a:solidFill>
                <a:srgbClr val="0B2B4E"/>
              </a:solidFill>
              <a:latin typeface="Calibri"/>
            </a:endParaRPr>
          </a:p>
          <a:p>
            <a:pPr lvl="1" algn="l"/>
            <a:r>
              <a:rPr lang="en-US" dirty="0">
                <a:latin typeface="Calibri"/>
              </a:rPr>
              <a:t>Shifts the supply curve and thus a</a:t>
            </a:r>
            <a:r>
              <a:rPr dirty="0">
                <a:latin typeface="Calibri"/>
              </a:rPr>
              <a:t>ffect</a:t>
            </a:r>
            <a:r>
              <a:rPr lang="en-US" dirty="0">
                <a:latin typeface="Calibri"/>
              </a:rPr>
              <a:t>s</a:t>
            </a:r>
            <a:r>
              <a:rPr dirty="0">
                <a:latin typeface="Calibri"/>
              </a:rPr>
              <a:t> the market price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C1DD69E8-90E4-5231-B2B9-F4E752D42306}" type="slidenum">
              <a:rPr lang="en-US" sz="1200" dirty="0">
                <a:solidFill>
                  <a:srgbClr val="555B66"/>
                </a:solidFill>
                <a:latin typeface="Calibri"/>
              </a:rPr>
              <a:t>56</a:t>
            </a:fld>
            <a:endParaRPr lang="en-US" sz="1200" dirty="0">
              <a:solidFill>
                <a:srgbClr val="555B66"/>
              </a:solidFill>
              <a:latin typeface="Calibri"/>
            </a:endParaRPr>
          </a:p>
        </p:txBody>
      </p:sp>
      <p:pic>
        <p:nvPicPr>
          <p:cNvPr id="12" name="Picture 11" descr="Old_New_Factory.png"/>
          <p:cNvPicPr>
            <a:picLocks noChangeAspect="1"/>
          </p:cNvPicPr>
          <p:nvPr/>
        </p:nvPicPr>
        <p:blipFill>
          <a:blip r:embed="rId3"/>
          <a:stretch>
            <a:fillRect/>
          </a:stretch>
        </p:blipFill>
        <p:spPr>
          <a:xfrm>
            <a:off x="6949440" y="1435607"/>
            <a:ext cx="4663439" cy="4663439"/>
          </a:xfrm>
          <a:prstGeom prst="roundRect">
            <a:avLst>
              <a:gd name="adj" fmla="val 8000"/>
            </a:avLst>
          </a:prstGeom>
          <a:effectLst>
            <a:outerShdw blurRad="50800" dist="38100" dir="2700000" algn="tl" rotWithShape="0">
              <a:srgbClr val="000000">
                <a:alpha val="50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Competitive Equilibrium With Many Identical Producers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a:cxnSpLocks/>
          </p:cNvCxnSpPr>
          <p:nvPr/>
        </p:nvCxnSpPr>
        <p:spPr>
          <a:xfrm flipV="1">
            <a:off x="2331720" y="2276856"/>
            <a:ext cx="15088" cy="3300984"/>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577840"/>
            <a:ext cx="66568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155316" y="2107692"/>
            <a:ext cx="206502" cy="265176"/>
          </a:xfrm>
          <a:prstGeom prst="rect">
            <a:avLst/>
          </a:prstGeom>
          <a:noFill/>
        </p:spPr>
        <p:txBody>
          <a:bodyPr wrap="square" lIns="0" tIns="0" rIns="0" bIns="0">
            <a:spAutoFit/>
          </a:bodyPr>
          <a:lstStyle/>
          <a:p>
            <a:pPr algn="l"/>
            <a:r>
              <a:rPr sz="1800" b="1" i="1" u="none" dirty="0">
                <a:solidFill>
                  <a:srgbClr val="0B2B4E"/>
                </a:solidFill>
                <a:latin typeface="Calibri"/>
              </a:rPr>
              <a:t>P</a:t>
            </a:r>
          </a:p>
        </p:txBody>
      </p:sp>
      <p:sp>
        <p:nvSpPr>
          <p:cNvPr id="10" name="TextBox 9"/>
          <p:cNvSpPr txBox="1"/>
          <p:nvPr/>
        </p:nvSpPr>
        <p:spPr>
          <a:xfrm>
            <a:off x="8875775" y="5623559"/>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3346132" y="3019575"/>
            <a:ext cx="4915654" cy="1347291"/>
          </a:xfrm>
          <a:custGeom>
            <a:avLst/>
            <a:gdLst/>
            <a:ahLst/>
            <a:cxnLst/>
            <a:rect l="0" t="0" r="r" b="b"/>
            <a:pathLst>
              <a:path w="4936808" h="1508910">
                <a:moveTo>
                  <a:pt x="0" y="225285"/>
                </a:moveTo>
                <a:cubicBezTo>
                  <a:pt x="164560" y="363960"/>
                  <a:pt x="658240" y="853080"/>
                  <a:pt x="987361" y="1057339"/>
                </a:cubicBezTo>
                <a:cubicBezTo>
                  <a:pt x="1316481" y="1261597"/>
                  <a:pt x="1645602" y="1392763"/>
                  <a:pt x="1974723" y="1450837"/>
                </a:cubicBezTo>
                <a:cubicBezTo>
                  <a:pt x="2303843" y="1508910"/>
                  <a:pt x="2632964" y="1493891"/>
                  <a:pt x="2962085" y="1405780"/>
                </a:cubicBezTo>
                <a:cubicBezTo>
                  <a:pt x="3291205" y="1317668"/>
                  <a:pt x="3620325" y="1156464"/>
                  <a:pt x="3949446" y="922168"/>
                </a:cubicBezTo>
                <a:cubicBezTo>
                  <a:pt x="4278566" y="687871"/>
                  <a:pt x="4772247" y="153694"/>
                  <a:pt x="4936808" y="0"/>
                </a:cubicBezTo>
              </a:path>
            </a:pathLst>
          </a:custGeom>
          <a:noFill/>
          <a:ln w="4127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83979" y="2761488"/>
            <a:ext cx="454152" cy="292608"/>
          </a:xfrm>
          <a:prstGeom prst="rect">
            <a:avLst/>
          </a:prstGeom>
          <a:noFill/>
        </p:spPr>
        <p:txBody>
          <a:bodyPr wrap="square" lIns="0" tIns="0" rIns="0" bIns="0">
            <a:spAutoFit/>
          </a:bodyPr>
          <a:lstStyle/>
          <a:p>
            <a:pPr algn="l"/>
            <a:r>
              <a:rPr sz="1900" b="1" i="1" u="none" dirty="0">
                <a:solidFill>
                  <a:srgbClr val="E09F3E"/>
                </a:solidFill>
                <a:latin typeface="Calibri"/>
              </a:rPr>
              <a:t>LAC</a:t>
            </a:r>
          </a:p>
        </p:txBody>
      </p:sp>
      <p:cxnSp>
        <p:nvCxnSpPr>
          <p:cNvPr id="13" name="Connector 12"/>
          <p:cNvCxnSpPr/>
          <p:nvPr/>
        </p:nvCxnSpPr>
        <p:spPr>
          <a:xfrm flipV="1">
            <a:off x="4245578" y="2781833"/>
            <a:ext cx="3699224" cy="2588415"/>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77174" y="2388641"/>
            <a:ext cx="520827" cy="292608"/>
          </a:xfrm>
          <a:prstGeom prst="rect">
            <a:avLst/>
          </a:prstGeom>
          <a:noFill/>
        </p:spPr>
        <p:txBody>
          <a:bodyPr wrap="square" lIns="0" tIns="0" rIns="0" bIns="0">
            <a:spAutoFit/>
          </a:bodyPr>
          <a:lstStyle/>
          <a:p>
            <a:pPr algn="l"/>
            <a:r>
              <a:rPr sz="1900" b="1" i="1" u="none">
                <a:solidFill>
                  <a:srgbClr val="0B2B4E"/>
                </a:solidFill>
                <a:latin typeface="Calibri"/>
              </a:rPr>
              <a:t>LMC</a:t>
            </a:r>
          </a:p>
        </p:txBody>
      </p:sp>
      <p:cxnSp>
        <p:nvCxnSpPr>
          <p:cNvPr id="15" name="Connector 14"/>
          <p:cNvCxnSpPr/>
          <p:nvPr/>
        </p:nvCxnSpPr>
        <p:spPr>
          <a:xfrm>
            <a:off x="2331720" y="310896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961120" y="295351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1</a:t>
            </a:r>
          </a:p>
        </p:txBody>
      </p:sp>
      <p:sp>
        <p:nvSpPr>
          <p:cNvPr id="17" name="TextBox 16"/>
          <p:cNvSpPr txBox="1"/>
          <p:nvPr/>
        </p:nvSpPr>
        <p:spPr>
          <a:xfrm>
            <a:off x="1956815" y="297180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1</a:t>
            </a:r>
          </a:p>
        </p:txBody>
      </p:sp>
      <p:cxnSp>
        <p:nvCxnSpPr>
          <p:cNvPr id="18" name="Connector 17"/>
          <p:cNvCxnSpPr/>
          <p:nvPr/>
        </p:nvCxnSpPr>
        <p:spPr>
          <a:xfrm flipV="1">
            <a:off x="7477290" y="3108960"/>
            <a:ext cx="0" cy="24688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307364"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sp>
        <p:nvSpPr>
          <p:cNvPr id="20" name="Oval 19"/>
          <p:cNvSpPr/>
          <p:nvPr/>
        </p:nvSpPr>
        <p:spPr>
          <a:xfrm>
            <a:off x="7417854" y="304952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2331720" y="4343400"/>
            <a:ext cx="6221730" cy="0"/>
          </a:xfrm>
          <a:prstGeom prst="line">
            <a:avLst/>
          </a:prstGeom>
          <a:ln w="31750">
            <a:solidFill>
              <a:srgbClr val="A2162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61120" y="4187952"/>
            <a:ext cx="1828800" cy="310896"/>
          </a:xfrm>
          <a:prstGeom prst="rect">
            <a:avLst/>
          </a:prstGeom>
          <a:noFill/>
        </p:spPr>
        <p:txBody>
          <a:bodyPr wrap="square" lIns="0" tIns="0" rIns="0" bIns="0">
            <a:spAutoFit/>
          </a:bodyPr>
          <a:lstStyle/>
          <a:p>
            <a:pPr algn="l"/>
            <a:r>
              <a:rPr sz="1700" b="1" i="1" u="none">
                <a:solidFill>
                  <a:srgbClr val="A2162A"/>
                </a:solidFill>
                <a:latin typeface="Calibri"/>
              </a:rPr>
              <a:t>MR = P</a:t>
            </a:r>
            <a:r>
              <a:rPr sz="1700" b="1" i="1" u="none" baseline="-25000">
                <a:solidFill>
                  <a:srgbClr val="A2162A"/>
                </a:solidFill>
                <a:latin typeface="Calibri"/>
              </a:rPr>
              <a:t>LR</a:t>
            </a:r>
          </a:p>
        </p:txBody>
      </p:sp>
      <p:sp>
        <p:nvSpPr>
          <p:cNvPr id="23" name="TextBox 22"/>
          <p:cNvSpPr txBox="1"/>
          <p:nvPr/>
        </p:nvSpPr>
        <p:spPr>
          <a:xfrm>
            <a:off x="1852041" y="4206240"/>
            <a:ext cx="406527"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LR</a:t>
            </a:r>
          </a:p>
        </p:txBody>
      </p:sp>
      <p:cxnSp>
        <p:nvCxnSpPr>
          <p:cNvPr id="24" name="Connector 23"/>
          <p:cNvCxnSpPr/>
          <p:nvPr/>
        </p:nvCxnSpPr>
        <p:spPr>
          <a:xfrm flipV="1">
            <a:off x="5713095" y="4343400"/>
            <a:ext cx="0" cy="12344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90782" y="5632703"/>
            <a:ext cx="444627"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LR</a:t>
            </a:r>
          </a:p>
        </p:txBody>
      </p:sp>
      <p:sp>
        <p:nvSpPr>
          <p:cNvPr id="26" name="Oval 25"/>
          <p:cNvSpPr/>
          <p:nvPr/>
        </p:nvSpPr>
        <p:spPr>
          <a:xfrm>
            <a:off x="5653659" y="428396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2331720" y="496062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961120" y="480517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2</a:t>
            </a:r>
          </a:p>
        </p:txBody>
      </p:sp>
      <p:sp>
        <p:nvSpPr>
          <p:cNvPr id="29" name="TextBox 28"/>
          <p:cNvSpPr txBox="1"/>
          <p:nvPr/>
        </p:nvSpPr>
        <p:spPr>
          <a:xfrm>
            <a:off x="1956815" y="482346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2</a:t>
            </a:r>
          </a:p>
        </p:txBody>
      </p:sp>
      <p:cxnSp>
        <p:nvCxnSpPr>
          <p:cNvPr id="30" name="Connector 29"/>
          <p:cNvCxnSpPr/>
          <p:nvPr/>
        </p:nvCxnSpPr>
        <p:spPr>
          <a:xfrm flipV="1">
            <a:off x="4830997" y="4960620"/>
            <a:ext cx="0" cy="61722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661071"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2</a:t>
            </a:r>
          </a:p>
        </p:txBody>
      </p:sp>
      <p:sp>
        <p:nvSpPr>
          <p:cNvPr id="32" name="Oval 31"/>
          <p:cNvSpPr/>
          <p:nvPr/>
        </p:nvSpPr>
        <p:spPr>
          <a:xfrm>
            <a:off x="4771561" y="490118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3048095" y="3172968"/>
            <a:ext cx="0" cy="111099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144013" y="3650308"/>
            <a:ext cx="1188720" cy="310896"/>
          </a:xfrm>
          <a:prstGeom prst="rect">
            <a:avLst/>
          </a:prstGeom>
          <a:noFill/>
        </p:spPr>
        <p:txBody>
          <a:bodyPr wrap="square" lIns="0" tIns="0" rIns="0" bIns="0">
            <a:spAutoFit/>
          </a:bodyPr>
          <a:lstStyle/>
          <a:p>
            <a:pPr algn="l"/>
            <a:r>
              <a:rPr sz="1700" b="1" i="0" u="none" dirty="0">
                <a:solidFill>
                  <a:srgbClr val="A2162A"/>
                </a:solidFill>
                <a:latin typeface="Calibri"/>
              </a:rPr>
              <a:t>Entry</a:t>
            </a:r>
          </a:p>
        </p:txBody>
      </p:sp>
      <p:cxnSp>
        <p:nvCxnSpPr>
          <p:cNvPr id="35" name="Connector 34"/>
          <p:cNvCxnSpPr/>
          <p:nvPr/>
        </p:nvCxnSpPr>
        <p:spPr>
          <a:xfrm flipV="1">
            <a:off x="4090035" y="4405122"/>
            <a:ext cx="0" cy="49377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236339" y="4475988"/>
            <a:ext cx="1188720" cy="310896"/>
          </a:xfrm>
          <a:prstGeom prst="rect">
            <a:avLst/>
          </a:prstGeom>
          <a:noFill/>
        </p:spPr>
        <p:txBody>
          <a:bodyPr wrap="square" lIns="0" tIns="0" rIns="0" bIns="0">
            <a:spAutoFit/>
          </a:bodyPr>
          <a:lstStyle/>
          <a:p>
            <a:pPr algn="l"/>
            <a:r>
              <a:rPr sz="1700" b="1" i="0" u="none">
                <a:solidFill>
                  <a:srgbClr val="A2162A"/>
                </a:solidFill>
                <a:latin typeface="Calibri"/>
              </a:rPr>
              <a:t>Exit</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B0142077-D761-56B3-949B-5E0727ACD2FB}" type="slidenum">
              <a:rPr lang="en-US" sz="1200" dirty="0">
                <a:solidFill>
                  <a:srgbClr val="555B66"/>
                </a:solidFill>
                <a:latin typeface="Calibri"/>
              </a:rPr>
              <a:t>57</a:t>
            </a:fld>
            <a:endParaRPr lang="en-US" sz="1200" dirty="0">
              <a:solidFill>
                <a:srgbClr val="555B66"/>
              </a:solidFill>
              <a:latin typeface="Calibri"/>
            </a:endParaRPr>
          </a:p>
        </p:txBody>
      </p:sp>
      <p:sp>
        <p:nvSpPr>
          <p:cNvPr id="41" name="Rounded Rectangle 40"/>
          <p:cNvSpPr/>
          <p:nvPr/>
        </p:nvSpPr>
        <p:spPr>
          <a:xfrm>
            <a:off x="2346808" y="5987466"/>
            <a:ext cx="7498079" cy="413333"/>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1">
                <a:solidFill>
                  <a:srgbClr val="0B2B4E"/>
                </a:solidFill>
                <a:latin typeface="Calibri"/>
              </a:rPr>
              <a:t>At Q</a:t>
            </a:r>
            <a:r>
              <a:rPr sz="2000" b="1" i="1" baseline="-25000">
                <a:solidFill>
                  <a:srgbClr val="0B2B4E"/>
                </a:solidFill>
                <a:latin typeface="Calibri"/>
              </a:rPr>
              <a:t>LR</a:t>
            </a:r>
            <a:r>
              <a:rPr sz="2000" b="1" i="1">
                <a:solidFill>
                  <a:srgbClr val="0B2B4E"/>
                </a:solidFill>
                <a:latin typeface="Calibri"/>
              </a:rPr>
              <a:t>:  P = LAC = LMC, and economic profit is zero</a:t>
            </a:r>
          </a:p>
        </p:txBody>
      </p:sp>
      <p:sp>
        <p:nvSpPr>
          <p:cNvPr id="43" name="Rounded Rectangle 6">
            <a:extLst>
              <a:ext uri="{FF2B5EF4-FFF2-40B4-BE49-F238E27FC236}">
                <a16:creationId xmlns:a16="http://schemas.microsoft.com/office/drawing/2014/main" id="{38B5ED52-3EDB-D3B0-7352-E619F90E1FD2}"/>
              </a:ext>
            </a:extLst>
          </p:cNvPr>
          <p:cNvSpPr/>
          <p:nvPr/>
        </p:nvSpPr>
        <p:spPr>
          <a:xfrm>
            <a:off x="2155316" y="1299443"/>
            <a:ext cx="7360920" cy="703425"/>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dirty="0">
                <a:solidFill>
                  <a:srgbClr val="FFFFFF"/>
                </a:solidFill>
                <a:latin typeface="Calibri"/>
              </a:rPr>
              <a:t>Competitive Markets: Large number of (actual and potential) firms that have the same cost structure and compete with each other </a:t>
            </a:r>
            <a:endParaRPr sz="2000" b="1" dirty="0">
              <a:solidFill>
                <a:srgbClr val="FFFFFF"/>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par>
                                <p:cTn id="28" presetID="10" presetClass="entr" presetSubtype="0" fill="hold"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par>
                                <p:cTn id="31" presetID="10"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00"/>
                                        <p:tgtEl>
                                          <p:spTgt spid="23"/>
                                        </p:tgtEl>
                                      </p:cBhvr>
                                    </p:animEffect>
                                  </p:childTnLst>
                                </p:cTn>
                              </p:par>
                              <p:par>
                                <p:cTn id="34" presetID="10" presetClass="entr" presetSubtype="0" fill="hold"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childTnLst>
                                </p:cTn>
                              </p:par>
                              <p:par>
                                <p:cTn id="68" presetID="10" presetClass="entr" presetSubtype="0" fill="hold"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500"/>
                                        <p:tgtEl>
                                          <p:spTgt spid="3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500"/>
                                        <p:tgtEl>
                                          <p:spTgt spid="27"/>
                                        </p:tgtEl>
                                      </p:cBhvr>
                                    </p:animEffect>
                                  </p:childTnLst>
                                </p:cTn>
                              </p:par>
                              <p:par>
                                <p:cTn id="76" presetID="10" presetClass="entr" presetSubtype="0" fill="hold"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5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500"/>
                                        <p:tgtEl>
                                          <p:spTgt spid="29"/>
                                        </p:tgtEl>
                                      </p:cBhvr>
                                    </p:animEffect>
                                  </p:childTnLst>
                                </p:cTn>
                              </p:par>
                              <p:par>
                                <p:cTn id="82" presetID="10" presetClass="entr" presetSubtype="0" fill="hold" nodeType="with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500"/>
                                        <p:tgtEl>
                                          <p:spTgt spid="30"/>
                                        </p:tgtEl>
                                      </p:cBhvr>
                                    </p:animEffect>
                                  </p:childTnLst>
                                </p:cTn>
                              </p:par>
                              <p:par>
                                <p:cTn id="85" presetID="10" presetClass="entr" presetSubtype="0" fill="hold"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500"/>
                                        <p:tgtEl>
                                          <p:spTgt spid="31"/>
                                        </p:tgtEl>
                                      </p:cBhvr>
                                    </p:animEffect>
                                  </p:childTnLst>
                                </p:cTn>
                              </p:par>
                              <p:par>
                                <p:cTn id="88" presetID="10" presetClass="entr" presetSubtype="0" fill="hold" nodeType="withEffect">
                                  <p:stCondLst>
                                    <p:cond delay="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500"/>
                                        <p:tgtEl>
                                          <p:spTgt spid="32"/>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00"/>
                                        <p:tgtEl>
                                          <p:spTgt spid="35"/>
                                        </p:tgtEl>
                                      </p:cBhvr>
                                    </p:animEffect>
                                  </p:childTnLst>
                                </p:cTn>
                              </p:par>
                              <p:par>
                                <p:cTn id="96" presetID="10" presetClass="entr" presetSubtype="0" fill="hold"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500"/>
                                        <p:tgtEl>
                                          <p:spTgt spid="36"/>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41"/>
                                        </p:tgtEl>
                                        <p:attrNameLst>
                                          <p:attrName>style.visibility</p:attrName>
                                        </p:attrNameLst>
                                      </p:cBhvr>
                                      <p:to>
                                        <p:strVal val="visible"/>
                                      </p:to>
                                    </p:set>
                                    <p:animEffect transition="in" filter="fade">
                                      <p:cBhvr>
                                        <p:cTn id="10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Entry Follows Profit: The Broiler Chicken Industry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54480"/>
            <a:ext cx="6309360" cy="26517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r>
              <a:rPr dirty="0">
                <a:latin typeface="Calibri"/>
              </a:rPr>
              <a:t>In the 1920s the farmer Cecile Steele of Ocean View, Delaware kept a small flock of chickens for eggs</a:t>
            </a:r>
          </a:p>
          <a:p>
            <a:pPr algn="l"/>
            <a:r>
              <a:rPr dirty="0">
                <a:latin typeface="Calibri"/>
              </a:rPr>
              <a:t>In 1923 she ordered 50 chicks and, by accident, received 500. She kept them and made a sizable profit</a:t>
            </a:r>
          </a:p>
          <a:p>
            <a:pPr algn="l"/>
            <a:r>
              <a:rPr dirty="0">
                <a:latin typeface="Calibri"/>
              </a:rPr>
              <a:t>Word of her success spread, and by 1928 hundreds of farmers in the area were raising chickens for meat</a:t>
            </a:r>
          </a:p>
        </p:txBody>
      </p:sp>
      <p:grpSp>
        <p:nvGrpSpPr>
          <p:cNvPr id="114" name="Group pair 114"/>
          <p:cNvGrpSpPr/>
          <p:nvPr/>
        </p:nvGrpSpPr>
        <p:grpSpPr>
          <a:xfrm>
            <a:off x="6903720" y="1691640"/>
            <a:ext cx="4782312" cy="3886200"/>
            <a:chOff x="6903720" y="1691640"/>
            <a:chExt cx="3931920" cy="3429000"/>
          </a:xfrm>
        </p:grpSpPr>
        <p:pic>
          <p:nvPicPr>
            <p:cNvPr id="8" name="Picture 7" descr="NV_s47_2_f42d0c16.png"/>
            <p:cNvPicPr>
              <a:picLocks noChangeAspect="1"/>
            </p:cNvPicPr>
            <p:nvPr/>
          </p:nvPicPr>
          <p:blipFill>
            <a:blip r:embed="rId3"/>
            <a:stretch>
              <a:fillRect/>
            </a:stretch>
          </p:blipFill>
          <p:spPr>
            <a:xfrm>
              <a:off x="6903720" y="1691640"/>
              <a:ext cx="3931920" cy="314381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03720" y="4846320"/>
              <a:ext cx="3931920" cy="274320"/>
            </a:xfrm>
            <a:prstGeom prst="rect">
              <a:avLst/>
            </a:prstGeom>
            <a:noFill/>
          </p:spPr>
          <p:txBody>
            <a:bodyPr wrap="square" lIns="0" tIns="0" rIns="0" bIns="0">
              <a:spAutoFit/>
            </a:bodyPr>
            <a:lstStyle/>
            <a:p>
              <a:pPr algn="ctr"/>
              <a:r>
                <a:rPr sz="1200" b="0" i="1" u="none">
                  <a:solidFill>
                    <a:srgbClr val="555B66"/>
                  </a:solidFill>
                  <a:latin typeface="Calibri"/>
                </a:rPr>
                <a:t>An early Delaware broiler farm. Photo: Vox</a:t>
              </a:r>
            </a:p>
          </p:txBody>
        </p:sp>
      </p:grpSp>
      <p:sp>
        <p:nvSpPr>
          <p:cNvPr id="10" name="Rounded Rectangle 9"/>
          <p:cNvSpPr/>
          <p:nvPr/>
        </p:nvSpPr>
        <p:spPr>
          <a:xfrm>
            <a:off x="548640" y="5703570"/>
            <a:ext cx="822960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Profit in a market with low entry barriers → new firms enter</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EE7A44E1-3B49-5FD8-ABEA-DC399809A862}" type="slidenum">
              <a:rPr lang="en-US" sz="1200" dirty="0">
                <a:solidFill>
                  <a:srgbClr val="555B66"/>
                </a:solidFill>
                <a:latin typeface="Calibri"/>
              </a:rPr>
              <a:t>58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Equilibrium: The Drug Market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08760"/>
            <a:ext cx="11338560" cy="1097280"/>
          </a:xfrm>
          <a:prstGeom prst="rect">
            <a:avLst/>
          </a:prstGeom>
          <a:noFill/>
        </p:spPr>
        <p:txBody>
          <a:bodyPr wrap="square" lIns="0" tIns="0" rIns="0" bIns="0">
            <a:noAutofit/>
          </a:bodyPr>
          <a:lstStyle>
            <a:lvl1pPr marL="342900" indent="-342900">
              <a:spcBef>
                <a:spcPts val="10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Can we use the toolbox on the market for illegal drugs?</a:t>
            </a:r>
          </a:p>
          <a:p>
            <a:pPr lvl="1" algn="l"/>
            <a:r>
              <a:rPr>
                <a:latin typeface="Calibri"/>
              </a:rPr>
              <a:t>Assume individual dealers are price takers</a:t>
            </a:r>
          </a:p>
        </p:txBody>
      </p:sp>
      <p:sp>
        <p:nvSpPr>
          <p:cNvPr id="8" name="TextBox 7"/>
          <p:cNvSpPr txBox="1"/>
          <p:nvPr/>
        </p:nvSpPr>
        <p:spPr>
          <a:xfrm>
            <a:off x="389159" y="2788920"/>
            <a:ext cx="11338560" cy="384048"/>
          </a:xfrm>
          <a:prstGeom prst="rect">
            <a:avLst/>
          </a:prstGeom>
          <a:noFill/>
        </p:spPr>
        <p:txBody>
          <a:bodyPr wrap="square" lIns="0" tIns="0" rIns="0" bIns="0">
            <a:spAutoFit/>
          </a:bodyPr>
          <a:lstStyle/>
          <a:p>
            <a:pPr algn="l"/>
            <a:r>
              <a:rPr sz="2500" b="0" i="0" u="none">
                <a:solidFill>
                  <a:srgbClr val="0B2B4E"/>
                </a:solidFill>
                <a:latin typeface="Calibri"/>
              </a:rPr>
              <a:t>The government has two one-time options:</a:t>
            </a:r>
          </a:p>
        </p:txBody>
      </p:sp>
      <p:sp>
        <p:nvSpPr>
          <p:cNvPr id="9" name="Rounded Rectangle 8"/>
          <p:cNvSpPr/>
          <p:nvPr/>
        </p:nvSpPr>
        <p:spPr>
          <a:xfrm>
            <a:off x="960120" y="338328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1</a:t>
            </a:r>
          </a:p>
        </p:txBody>
      </p:sp>
      <p:sp>
        <p:nvSpPr>
          <p:cNvPr id="10" name="TextBox 9"/>
          <p:cNvSpPr txBox="1"/>
          <p:nvPr/>
        </p:nvSpPr>
        <p:spPr>
          <a:xfrm>
            <a:off x="1783080" y="341071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the drug dealers</a:t>
            </a:r>
          </a:p>
        </p:txBody>
      </p:sp>
      <p:sp>
        <p:nvSpPr>
          <p:cNvPr id="11" name="Rounded Rectangle 10"/>
          <p:cNvSpPr/>
          <p:nvPr/>
        </p:nvSpPr>
        <p:spPr>
          <a:xfrm>
            <a:off x="960120" y="416052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2</a:t>
            </a:r>
          </a:p>
        </p:txBody>
      </p:sp>
      <p:sp>
        <p:nvSpPr>
          <p:cNvPr id="12" name="TextBox 11"/>
          <p:cNvSpPr txBox="1"/>
          <p:nvPr/>
        </p:nvSpPr>
        <p:spPr>
          <a:xfrm>
            <a:off x="1783080" y="418795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or punish the drug users</a:t>
            </a:r>
          </a:p>
        </p:txBody>
      </p:sp>
      <p:sp>
        <p:nvSpPr>
          <p:cNvPr id="13" name="Rounded Rectangle 12"/>
          <p:cNvSpPr/>
          <p:nvPr/>
        </p:nvSpPr>
        <p:spPr>
          <a:xfrm>
            <a:off x="1706727" y="5257800"/>
            <a:ext cx="87782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0B2B4E"/>
                </a:solidFill>
                <a:latin typeface="Calibri"/>
              </a:rPr>
              <a:t>Which policy does more to reduce the use of illegal drugs?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AB707137-F7EE-5E7D-AC74-68ACA2259F27}" type="slidenum">
              <a:rPr lang="en-US" sz="1200" dirty="0">
                <a:solidFill>
                  <a:srgbClr val="555B66"/>
                </a:solidFill>
                <a:latin typeface="Calibri"/>
              </a:rPr>
              <a:t>59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5F820920-0CE3-5A0E-8143-66704159DDCE}" type="slidenum">
              <a:rPr lang="en-US" sz="1200" dirty="0">
                <a:solidFill>
                  <a:srgbClr val="555B66"/>
                </a:solidFill>
                <a:latin typeface="Calibri"/>
              </a:rPr>
              <a:t>60</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Drug Dealers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0F6C8757-91A0-56B1-BB2E-C8D834533948}" type="slidenum">
              <a:rPr lang="en-US" sz="1200" dirty="0">
                <a:solidFill>
                  <a:srgbClr val="555B66"/>
                </a:solidFill>
                <a:latin typeface="Calibri"/>
              </a:rPr>
              <a:t>61</a:t>
            </a:fld>
            <a:endParaRPr lang="en-US" sz="1200" dirty="0">
              <a:solidFill>
                <a:srgbClr val="555B66"/>
              </a:solidFill>
              <a:latin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 Punish Drug Users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26C31B40-B3B2-576C-9AE7-BEDF2C7178F0}" type="slidenum">
              <a:rPr lang="en-US" sz="1200" dirty="0">
                <a:solidFill>
                  <a:srgbClr val="555B66"/>
                </a:solidFill>
                <a:latin typeface="Calibri"/>
              </a:rPr>
              <a:t>62</a:t>
            </a:fld>
            <a:endParaRPr lang="en-US" sz="1200" dirty="0">
              <a:solidFill>
                <a:srgbClr val="555B66"/>
              </a:solidFill>
              <a:latin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Summary: Long-Run Decisions for a Price Taker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2331720" y="1252728"/>
                <a:ext cx="7498079" cy="731520"/>
              </a:xfrm>
              <a:prstGeom prst="rect">
                <a:avLst/>
              </a:prstGeom>
              <a:noFill/>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0B2B4E"/>
                          </a:solidFill>
                          <a:latin typeface="Cambria Math"/>
                        </a:rPr>
                        <m:t>Optimal</m:t>
                      </m:r>
                      <m:r>
                        <a:rPr lang="en-US" sz="2600" b="0" i="0">
                          <a:solidFill>
                            <a:srgbClr val="0B2B4E"/>
                          </a:solidFill>
                          <a:latin typeface="Cambria Math"/>
                        </a:rPr>
                        <m:t> </m:t>
                      </m:r>
                      <m:r>
                        <m:rPr>
                          <m:sty m:val="p"/>
                        </m:rPr>
                        <a:rPr lang="en-US" sz="2600" b="0" i="0">
                          <a:solidFill>
                            <a:srgbClr val="0B2B4E"/>
                          </a:solidFill>
                          <a:latin typeface="Cambria Math"/>
                        </a:rPr>
                        <m:t>output</m:t>
                      </m:r>
                      <m:r>
                        <a:rPr lang="en-US" sz="2600" b="0" i="0">
                          <a:solidFill>
                            <a:srgbClr val="0B2B4E"/>
                          </a:solidFill>
                          <a:latin typeface="Cambria Math"/>
                        </a:rPr>
                        <m:t>: </m:t>
                      </m:r>
                      <m:sSup>
                        <m:sSupPr>
                          <m:ctrlPr>
                            <a:rPr lang="en-US" sz="2600" b="0" i="1">
                              <a:solidFill>
                                <a:srgbClr val="0B2B4E"/>
                              </a:solidFill>
                              <a:latin typeface="Cambria Math"/>
                              <a:ea typeface="Cambria Math"/>
                            </a:rPr>
                          </m:ctrlPr>
                        </m:sSupPr>
                        <m:e>
                          <m:r>
                            <a:rPr lang="en-US" sz="2600" b="0" i="1">
                              <a:solidFill>
                                <a:srgbClr val="0B2B4E"/>
                              </a:solidFill>
                              <a:latin typeface="Cambria Math"/>
                              <a:ea typeface="Cambria Math"/>
                            </a:rPr>
                            <m:t>𝑄</m:t>
                          </m:r>
                        </m:e>
                        <m:sup>
                          <m:r>
                            <a:rPr lang="en-US" sz="2600" b="0" i="0">
                              <a:solidFill>
                                <a:srgbClr val="0B2B4E"/>
                              </a:solidFill>
                              <a:latin typeface="Cambria Math"/>
                            </a:rPr>
                            <m:t>∗</m:t>
                          </m:r>
                        </m:sup>
                      </m:sSup>
                      <m:r>
                        <a:rPr lang="en-US" sz="2600" b="0" i="0">
                          <a:solidFill>
                            <a:srgbClr val="0B2B4E"/>
                          </a:solidFill>
                          <a:latin typeface="Cambria Math"/>
                        </a:rPr>
                        <m:t> </m:t>
                      </m:r>
                      <m:r>
                        <m:rPr>
                          <m:sty m:val="p"/>
                        </m:rPr>
                        <a:rPr lang="en-US" sz="2600" b="0" i="0">
                          <a:solidFill>
                            <a:srgbClr val="0B2B4E"/>
                          </a:solidFill>
                          <a:latin typeface="Cambria Math"/>
                        </a:rPr>
                        <m:t>where</m:t>
                      </m:r>
                      <m:r>
                        <a:rPr lang="en-US" sz="2600" b="0" i="0">
                          <a:solidFill>
                            <a:srgbClr val="0B2B4E"/>
                          </a:solidFill>
                          <a:latin typeface="Cambria Math"/>
                        </a:rPr>
                        <m:t>  </m:t>
                      </m:r>
                      <m:r>
                        <m:rPr>
                          <m:sty m:val="p"/>
                        </m:rPr>
                        <a:rPr lang="en-US" sz="2600" b="0" i="0">
                          <a:solidFill>
                            <a:srgbClr val="0B2B4E"/>
                          </a:solidFill>
                          <a:latin typeface="Cambria Math"/>
                        </a:rPr>
                        <m:t>LMC</m:t>
                      </m:r>
                      <m:r>
                        <a:rPr lang="en-US" sz="2600" b="0" i="0">
                          <a:solidFill>
                            <a:srgbClr val="0B2B4E"/>
                          </a:solidFill>
                          <a:latin typeface="Cambria Math"/>
                        </a:rPr>
                        <m:t> = </m:t>
                      </m:r>
                      <m:r>
                        <m:rPr>
                          <m:sty m:val="p"/>
                        </m:rPr>
                        <a:rPr lang="en-US" sz="2600" b="0" i="0">
                          <a:solidFill>
                            <a:srgbClr val="0B2B4E"/>
                          </a:solidFill>
                          <a:latin typeface="Cambria Math"/>
                        </a:rPr>
                        <m:t>MR</m:t>
                      </m:r>
                      <m:r>
                        <a:rPr lang="en-US" sz="2600" b="0" i="0">
                          <a:solidFill>
                            <a:srgbClr val="0B2B4E"/>
                          </a:solidFill>
                          <a:latin typeface="Cambria Math"/>
                        </a:rPr>
                        <m:t> = </m:t>
                      </m:r>
                      <m:r>
                        <a:rPr lang="en-US" sz="2600" b="0" i="1">
                          <a:solidFill>
                            <a:srgbClr val="0B2B4E"/>
                          </a:solidFill>
                          <a:latin typeface="Cambria Math"/>
                          <a:ea typeface="Cambria Math"/>
                        </a:rPr>
                        <m:t>𝑃</m:t>
                      </m:r>
                    </m:oMath>
                  </m:oMathPara>
                </a14:m>
                <a:endParaRPr lang="en-US" sz="2600"/>
              </a:p>
            </p:txBody>
          </p:sp>
        </mc:Choice>
        <mc:Fallback xmlns="">
          <p:sp>
            <p:nvSpPr>
              <p:cNvPr id="7" name="TextBox 6"/>
              <p:cNvSpPr txBox="1">
                <a:spLocks noRot="1" noChangeAspect="1" noMove="1" noResize="1" noEditPoints="1" noAdjustHandles="1" noChangeArrowheads="1" noChangeShapeType="1" noTextEdit="1"/>
              </p:cNvSpPr>
              <p:nvPr/>
            </p:nvSpPr>
            <p:spPr>
              <a:xfrm>
                <a:off x="2331720" y="1252728"/>
                <a:ext cx="7498079" cy="731520"/>
              </a:xfrm>
              <a:prstGeom prst="rect">
                <a:avLst/>
              </a:prstGeom>
              <a:blipFill>
                <a:blip r:embed="rId3"/>
                <a:stretch>
                  <a:fillRect/>
                </a:stretch>
              </a:blipFill>
            </p:spPr>
            <p:txBody>
              <a:bodyPr/>
              <a:lstStyle/>
              <a:p>
                <a:r>
                  <a:rPr lang="en-US">
                    <a:noFill/>
                  </a:rPr>
                  <a:t> </a:t>
                </a:r>
              </a:p>
            </p:txBody>
          </p:sp>
        </mc:Fallback>
      </mc:AlternateContent>
      <p:sp>
        <p:nvSpPr>
          <p:cNvPr id="8" name="Rounded Rectangle 7"/>
          <p:cNvSpPr/>
          <p:nvPr/>
        </p:nvSpPr>
        <p:spPr>
          <a:xfrm>
            <a:off x="640080" y="2107692"/>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 LAC at Q*:  stay in the industry</a:t>
            </a:r>
          </a:p>
        </p:txBody>
      </p:sp>
      <p:sp>
        <p:nvSpPr>
          <p:cNvPr id="9" name="TextBox 8"/>
          <p:cNvSpPr txBox="1"/>
          <p:nvPr/>
        </p:nvSpPr>
        <p:spPr>
          <a:xfrm>
            <a:off x="1188720" y="2894076"/>
            <a:ext cx="9966960" cy="50292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Positive profits attract entry in the long run</a:t>
            </a:r>
          </a:p>
        </p:txBody>
      </p:sp>
      <p:sp>
        <p:nvSpPr>
          <p:cNvPr id="10" name="Rounded Rectangle 9"/>
          <p:cNvSpPr/>
          <p:nvPr/>
        </p:nvSpPr>
        <p:spPr>
          <a:xfrm>
            <a:off x="640080" y="3835908"/>
            <a:ext cx="10881360" cy="658368"/>
          </a:xfrm>
          <a:prstGeom prst="roundRect">
            <a:avLst>
              <a:gd name="adj" fmla="val 10000"/>
            </a:avLst>
          </a:prstGeom>
          <a:solidFill>
            <a:srgbClr val="FDF6E6"/>
          </a:solidFill>
          <a:ln w="2222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If P &lt; LAC at Q*:  exit, or never enter</a:t>
            </a:r>
          </a:p>
        </p:txBody>
      </p:sp>
      <p:sp>
        <p:nvSpPr>
          <p:cNvPr id="11" name="TextBox 10"/>
          <p:cNvSpPr txBox="1"/>
          <p:nvPr/>
        </p:nvSpPr>
        <p:spPr>
          <a:xfrm>
            <a:off x="1188720" y="4622292"/>
            <a:ext cx="9966960" cy="502920"/>
          </a:xfrm>
          <a:prstGeom prst="rect">
            <a:avLst/>
          </a:prstGeom>
          <a:noFill/>
        </p:spPr>
        <p:txBody>
          <a:bodyPr wrap="square" lIns="0" tIns="0" rIns="0" bIns="0">
            <a:noAutofit/>
          </a:bodyPr>
          <a:lstStyle>
            <a:lvl1pPr marL="342900" indent="-342900">
              <a:spcBef>
                <a:spcPts val="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lvl="1" algn="l"/>
            <a:r>
              <a:rPr>
                <a:latin typeface="Calibri"/>
              </a:rPr>
              <a:t>Losses cannot be sustained once capital is adjustable</a:t>
            </a:r>
          </a:p>
        </p:txBody>
      </p:sp>
      <p:grpSp>
        <p:nvGrpSpPr>
          <p:cNvPr id="117" name="Group pair 117"/>
          <p:cNvGrpSpPr/>
          <p:nvPr/>
        </p:nvGrpSpPr>
        <p:grpSpPr>
          <a:xfrm>
            <a:off x="1600200" y="5449824"/>
            <a:ext cx="8961120" cy="859536"/>
            <a:chOff x="1600200" y="5303520"/>
            <a:chExt cx="8961120" cy="1005840"/>
          </a:xfrm>
        </p:grpSpPr>
        <p:sp>
          <p:nvSpPr>
            <p:cNvPr id="12" name="Rounded Rectangle 11"/>
            <p:cNvSpPr/>
            <p:nvPr/>
          </p:nvSpPr>
          <p:spPr>
            <a:xfrm>
              <a:off x="1600200" y="5303520"/>
              <a:ext cx="8961120" cy="1005840"/>
            </a:xfrm>
            <a:prstGeom prst="roundRect">
              <a:avLst>
                <a:gd name="adj" fmla="val 10000"/>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783080" y="5413248"/>
              <a:ext cx="8595360" cy="786384"/>
            </a:xfrm>
            <a:prstGeom prst="rect">
              <a:avLst/>
            </a:prstGeom>
            <a:noFill/>
          </p:spPr>
          <p:txBody>
            <a:bodyPr wrap="square" lIns="45720" tIns="0" rIns="45720" bIns="0" anchor="ctr">
              <a:spAutoFit/>
            </a:bodyPr>
            <a:lstStyle/>
            <a:p>
              <a:pPr algn="ctr"/>
              <a:r>
                <a:rPr sz="2000" b="1" i="0" u="none">
                  <a:solidFill>
                    <a:srgbClr val="FFFFFF"/>
                  </a:solidFill>
                  <a:latin typeface="Calibri"/>
                </a:rPr>
                <a:t>Long-run competitive equilibrium:  LMC = P = LAC</a:t>
              </a:r>
              <a:r>
                <a:rPr sz="2000" b="0" i="0" u="none">
                  <a:solidFill>
                    <a:srgbClr val="0B2B4E"/>
                  </a:solidFill>
                  <a:latin typeface="Calibri"/>
                </a:rPr>
                <a:t>
</a:t>
              </a:r>
              <a:r>
                <a:rPr sz="1800" b="0" i="0" u="none">
                  <a:solidFill>
                    <a:srgbClr val="FFFFFF"/>
                  </a:solidFill>
                  <a:latin typeface="Calibri"/>
                </a:rPr>
                <a:t>“Normal profits” — economic profit is zero in the long run</a:t>
              </a:r>
            </a:p>
          </p:txBody>
        </p:sp>
      </p:gr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21A80A6E-165F-5783-AAF6-988F3E4BDE1E}" type="slidenum">
              <a:rPr lang="en-US" sz="1200" dirty="0">
                <a:solidFill>
                  <a:srgbClr val="555B66"/>
                </a:solidFill>
                <a:latin typeface="Calibri"/>
              </a:rPr>
              <a:t>63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animBg="1"/>
      <p:bldP spid="11"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Rounded Rectangle 21"/>
          <p:cNvSpPr/>
          <p:nvPr/>
        </p:nvSpPr>
        <p:spPr>
          <a:xfrm>
            <a:off x="822960" y="491261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CE89B108-9381-5E04-A273-4FE9F535F17B}" type="slidenum">
              <a:rPr lang="en-US" sz="1200" dirty="0">
                <a:solidFill>
                  <a:srgbClr val="555B66"/>
                </a:solidFill>
                <a:latin typeface="Calibri"/>
              </a:rPr>
              <a:t>64</a:t>
            </a:fld>
            <a:endParaRPr lang="en-US" sz="1200" dirty="0">
              <a:solidFill>
                <a:srgbClr val="555B66"/>
              </a:solidFill>
              <a:latin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Welfare in a Market Economy and Distortions: Introduction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5843016" cy="4892040"/>
          </a:xfrm>
          <a:prstGeom prst="rect">
            <a:avLst/>
          </a:prstGeom>
          <a:noFill/>
        </p:spPr>
        <p:txBody>
          <a:bodyPr wrap="square" lIns="0" tIns="0" rIns="0" bIns="0" anchor="ctr">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a competitive market, equilibrium is where supply meets demand</a:t>
            </a:r>
          </a:p>
          <a:p>
            <a:pPr algn="l"/>
            <a:r>
              <a:rPr>
                <a:latin typeface="Calibri"/>
              </a:rPr>
              <a:t>Outside forces can push the market away from it</a:t>
            </a:r>
          </a:p>
          <a:p>
            <a:pPr lvl="1" algn="l"/>
            <a:r>
              <a:rPr>
                <a:latin typeface="Calibri"/>
              </a:rPr>
              <a:t>Price controls — rent control, minimum wages</a:t>
            </a:r>
          </a:p>
          <a:p>
            <a:pPr lvl="1" algn="l"/>
            <a:r>
              <a:rPr>
                <a:latin typeface="Calibri"/>
              </a:rPr>
              <a:t>Taxes and subsidies</a:t>
            </a:r>
          </a:p>
          <a:p>
            <a:pPr algn="l"/>
            <a:r>
              <a:rPr>
                <a:latin typeface="Calibri"/>
              </a:rPr>
              <a:t>How do we tell who gains and who loses?</a:t>
            </a:r>
          </a:p>
          <a:p>
            <a:pPr lvl="1" algn="l"/>
            <a:r>
              <a:rPr>
                <a:latin typeface="Calibri"/>
              </a:rPr>
              <a:t>Consumer and producer surplus</a:t>
            </a:r>
          </a:p>
          <a:p>
            <a:pPr lvl="1" algn="l"/>
            <a:r>
              <a:rPr>
                <a:latin typeface="Calibri"/>
              </a:rPr>
              <a:t>Deadweight loss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B3935316-30D0-5953-85AF-5E090D7EBF07}" type="slidenum">
              <a:rPr lang="en-US" sz="1200" dirty="0">
                <a:solidFill>
                  <a:srgbClr val="555B66"/>
                </a:solidFill>
                <a:latin typeface="Calibri"/>
              </a:rPr>
              <a:t>65</a:t>
            </a:fld>
            <a:endParaRPr lang="en-US" sz="1200" dirty="0">
              <a:solidFill>
                <a:srgbClr val="555B66"/>
              </a:solidFill>
              <a:latin typeface="Calibri"/>
            </a:endParaRPr>
          </a:p>
        </p:txBody>
      </p:sp>
      <p:grpSp>
        <p:nvGrpSpPr>
          <p:cNvPr id="113" name="Group pair 113"/>
          <p:cNvGrpSpPr/>
          <p:nvPr/>
        </p:nvGrpSpPr>
        <p:grpSpPr>
          <a:xfrm>
            <a:off x="6446520" y="1417320"/>
            <a:ext cx="5212080" cy="3880548"/>
            <a:chOff x="6446520" y="1417320"/>
            <a:chExt cx="5212080" cy="3880548"/>
          </a:xfrm>
        </p:grpSpPr>
        <p:sp>
          <p:nvSpPr>
            <p:cNvPr id="12" name="TextBox 11"/>
            <p:cNvSpPr txBox="1"/>
            <p:nvPr/>
          </p:nvSpPr>
          <p:spPr>
            <a:xfrm>
              <a:off x="6446520" y="1417320"/>
              <a:ext cx="5212080" cy="329184"/>
            </a:xfrm>
            <a:prstGeom prst="rect">
              <a:avLst/>
            </a:prstGeom>
            <a:noFill/>
          </p:spPr>
          <p:txBody>
            <a:bodyPr wrap="square" lIns="0" tIns="0" rIns="0" bIns="0">
              <a:spAutoFit/>
            </a:bodyPr>
            <a:lstStyle/>
            <a:p>
              <a:pPr algn="ctr"/>
              <a:r>
                <a:rPr sz="1500" b="1" i="1" u="none">
                  <a:solidFill>
                    <a:srgbClr val="0B2B4E"/>
                  </a:solidFill>
                  <a:latin typeface="Calibri"/>
                </a:rPr>
                <a:t>A competitive market with many consumers and producers</a:t>
              </a:r>
            </a:p>
          </p:txBody>
        </p:sp>
        <p:pic>
          <p:nvPicPr>
            <p:cNvPr id="13" name="Picture 12" descr="Competitve Market Illustration.png"/>
            <p:cNvPicPr>
              <a:picLocks noChangeAspect="1"/>
            </p:cNvPicPr>
            <p:nvPr/>
          </p:nvPicPr>
          <p:blipFill>
            <a:blip r:embed="rId3"/>
            <a:stretch>
              <a:fillRect/>
            </a:stretch>
          </p:blipFill>
          <p:spPr>
            <a:xfrm>
              <a:off x="6446520" y="1828800"/>
              <a:ext cx="5212080" cy="3469068"/>
            </a:xfrm>
            <a:prstGeom prst="roundRect">
              <a:avLst>
                <a:gd name="adj" fmla="val 8000"/>
              </a:avLst>
            </a:prstGeom>
            <a:effectLst>
              <a:outerShdw blurRad="50800" dist="38100" dir="2700000" algn="tl" rotWithShape="0">
                <a:srgbClr val="000000">
                  <a:alpha val="50000"/>
                </a:srgbClr>
              </a:outerShdw>
            </a:effectLst>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500"/>
                                        <p:tgtEl>
                                          <p:spTgt spid="7">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animEffect transition="in" filter="fade">
                                      <p:cBhvr>
                                        <p:cTn id="27"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Consumer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2568632"/>
            <a:ext cx="1462284" cy="1343261"/>
          </a:xfrm>
          <a:custGeom>
            <a:avLst/>
            <a:gdLst/>
            <a:ahLst/>
            <a:cxnLst/>
            <a:rect l="0" t="0" r="r" b="b"/>
            <a:pathLst>
              <a:path w="1462284" h="1343261">
                <a:moveTo>
                  <a:pt x="0" y="1343261"/>
                </a:moveTo>
                <a:lnTo>
                  <a:pt x="0" y="0"/>
                </a:lnTo>
                <a:lnTo>
                  <a:pt x="1462284" y="1343261"/>
                </a:lnTo>
                <a:close/>
              </a:path>
            </a:pathLst>
          </a:custGeom>
          <a:solidFill>
            <a:srgbClr val="C0201B">
              <a:alpha val="26000"/>
            </a:srgbClr>
          </a:solidFill>
          <a:ln w="1587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3281260"/>
            <a:ext cx="822960" cy="365760"/>
          </a:xfrm>
          <a:prstGeom prst="rect">
            <a:avLst/>
          </a:prstGeom>
          <a:noFill/>
        </p:spPr>
        <p:txBody>
          <a:bodyPr wrap="square" lIns="0" tIns="0" rIns="0" bIns="0">
            <a:spAutoFit/>
          </a:bodyPr>
          <a:lstStyle/>
          <a:p>
            <a:pPr algn="ctr"/>
            <a:r>
              <a:rPr sz="2200" b="1" i="0" u="none">
                <a:solidFill>
                  <a:srgbClr val="0B2B4E"/>
                </a:solidFill>
                <a:latin typeface="Calibri"/>
              </a:rPr>
              <a:t>CS</a:t>
            </a:r>
          </a:p>
        </p:txBody>
      </p:sp>
      <p:grpSp>
        <p:nvGrpSpPr>
          <p:cNvPr id="128" name="Group pair 128"/>
          <p:cNvGrpSpPr/>
          <p:nvPr/>
        </p:nvGrpSpPr>
        <p:grpSpPr>
          <a:xfrm>
            <a:off x="6400800" y="3054096"/>
            <a:ext cx="5074920" cy="1307592"/>
            <a:chOff x="6400800" y="3054096"/>
            <a:chExt cx="5074920" cy="1307592"/>
          </a:xfrm>
        </p:grpSpPr>
        <p:sp>
          <p:nvSpPr>
            <p:cNvPr id="22" name="Rounded Rectangle 21"/>
            <p:cNvSpPr/>
            <p:nvPr/>
          </p:nvSpPr>
          <p:spPr>
            <a:xfrm>
              <a:off x="6400800" y="3054096"/>
              <a:ext cx="5074920" cy="1307592"/>
            </a:xfrm>
            <a:prstGeom prst="roundRect">
              <a:avLst>
                <a:gd name="adj" fmla="val 10000"/>
              </a:avLst>
            </a:pr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3081528"/>
              <a:ext cx="4709160" cy="1252728"/>
            </a:xfrm>
            <a:prstGeom prst="rect">
              <a:avLst/>
            </a:prstGeom>
            <a:noFill/>
          </p:spPr>
          <p:txBody>
            <a:bodyPr wrap="square" lIns="45720" tIns="0" rIns="45720" bIns="0" anchor="ctr">
              <a:spAutoFit/>
            </a:bodyPr>
            <a:lstStyle/>
            <a:p>
              <a:pPr algn="l">
                <a:spcBef>
                  <a:spcPts val="600"/>
                </a:spcBef>
              </a:pPr>
              <a:r>
                <a:rPr sz="2000" b="0" i="0" u="none">
                  <a:solidFill>
                    <a:srgbClr val="0B2B4E"/>
                  </a:solidFill>
                  <a:latin typeface="Calibri"/>
                </a:rPr>
                <a:t>Consumer surplus (CS) is the area below the demand curve and above the price line</a:t>
              </a:r>
            </a:p>
            <a:p>
              <a:pPr algn="l">
                <a:spcBef>
                  <a:spcPts val="600"/>
                </a:spcBef>
              </a:pPr>
              <a:r>
                <a:rPr sz="2000" b="0" i="0" u="none">
                  <a:solidFill>
                    <a:srgbClr val="0B2B4E"/>
                  </a:solidFill>
                  <a:latin typeface="Calibri"/>
                </a:rPr>
                <a:t>What buyers were willing to pay, less what they actually paid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C6B2407C-84A4-5AB5-8015-477A8A4534C9}" type="slidenum">
              <a:rPr lang="en-US" sz="1200" dirty="0">
                <a:solidFill>
                  <a:srgbClr val="555B66"/>
                </a:solidFill>
                <a:latin typeface="Calibri"/>
              </a:rPr>
              <a:t>66</a:t>
            </a:fld>
            <a:endParaRPr lang="en-US" sz="1200" dirty="0">
              <a:solidFill>
                <a:srgbClr val="555B66"/>
              </a:solidFill>
              <a:latin typeface="Calibri"/>
            </a:endParaRPr>
          </a:p>
        </p:txBody>
      </p:sp>
      <p:sp>
        <p:nvSpPr>
          <p:cNvPr id="28" name="TextBox 27"/>
          <p:cNvSpPr txBox="1"/>
          <p:nvPr/>
        </p:nvSpPr>
        <p:spPr>
          <a:xfrm>
            <a:off x="389159" y="1243584"/>
            <a:ext cx="11338560" cy="384048"/>
          </a:xfrm>
          <a:prstGeom prst="rect">
            <a:avLst/>
          </a:prstGeom>
          <a:noFill/>
        </p:spPr>
        <p:txBody>
          <a:bodyPr wrap="square" lIns="0" tIns="0" rIns="0" bIns="0">
            <a:spAutoFit/>
          </a:bodyPr>
          <a:lstStyle/>
          <a:p>
            <a:pPr algn="l"/>
            <a:r>
              <a:rPr sz="2100" b="0" i="0" u="none">
                <a:solidFill>
                  <a:srgbClr val="0B2B4E"/>
                </a:solidFill>
                <a:latin typeface="Calibri"/>
              </a:rPr>
              <a:t>CS: the gap between what consumers would pay (the D curve) and what they do pay (P*)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Producer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3911893"/>
            <a:ext cx="1462284" cy="1611914"/>
          </a:xfrm>
          <a:custGeom>
            <a:avLst/>
            <a:gdLst/>
            <a:ahLst/>
            <a:cxnLst/>
            <a:rect l="0" t="0" r="r" b="b"/>
            <a:pathLst>
              <a:path w="1462284" h="1611914">
                <a:moveTo>
                  <a:pt x="0" y="0"/>
                </a:moveTo>
                <a:lnTo>
                  <a:pt x="0" y="1611914"/>
                </a:lnTo>
                <a:lnTo>
                  <a:pt x="1462284" y="0"/>
                </a:lnTo>
                <a:close/>
              </a:path>
            </a:pathLst>
          </a:custGeom>
          <a:solidFill>
            <a:srgbClr val="4E79B5">
              <a:alpha val="34000"/>
            </a:srgbClr>
          </a:solidFill>
          <a:ln w="1587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4266318"/>
            <a:ext cx="822960" cy="365760"/>
          </a:xfrm>
          <a:prstGeom prst="rect">
            <a:avLst/>
          </a:prstGeom>
          <a:noFill/>
        </p:spPr>
        <p:txBody>
          <a:bodyPr wrap="square" lIns="0" tIns="0" rIns="0" bIns="0">
            <a:spAutoFit/>
          </a:bodyPr>
          <a:lstStyle/>
          <a:p>
            <a:pPr algn="ctr"/>
            <a:r>
              <a:rPr sz="2200" b="1" i="0" u="none">
                <a:solidFill>
                  <a:srgbClr val="0B2B4E"/>
                </a:solidFill>
                <a:latin typeface="Calibri"/>
              </a:rPr>
              <a:t>PS</a:t>
            </a:r>
          </a:p>
        </p:txBody>
      </p:sp>
      <p:grpSp>
        <p:nvGrpSpPr>
          <p:cNvPr id="128" name="Group pair 128"/>
          <p:cNvGrpSpPr/>
          <p:nvPr/>
        </p:nvGrpSpPr>
        <p:grpSpPr>
          <a:xfrm>
            <a:off x="6629400" y="2898648"/>
            <a:ext cx="5074920" cy="1389888"/>
            <a:chOff x="6629400" y="2898648"/>
            <a:chExt cx="5074920" cy="1389888"/>
          </a:xfrm>
        </p:grpSpPr>
        <p:sp>
          <p:nvSpPr>
            <p:cNvPr id="22" name="Rounded Rectangle 21"/>
            <p:cNvSpPr/>
            <p:nvPr/>
          </p:nvSpPr>
          <p:spPr>
            <a:xfrm>
              <a:off x="6629400" y="2898648"/>
              <a:ext cx="5074920" cy="1389888"/>
            </a:xfrm>
            <a:prstGeom prst="roundRect">
              <a:avLst>
                <a:gd name="adj" fmla="val 10000"/>
              </a:avLst>
            </a:prstGeom>
            <a:solidFill>
              <a:srgbClr val="4E79B5">
                <a:alpha val="34000"/>
              </a:srgbClr>
            </a:solidFill>
            <a:ln w="12700">
              <a:solidFill>
                <a:srgbClr val="2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12280" y="2898648"/>
              <a:ext cx="4709160" cy="1389888"/>
            </a:xfrm>
            <a:prstGeom prst="rect">
              <a:avLst/>
            </a:prstGeom>
            <a:noFill/>
          </p:spPr>
          <p:txBody>
            <a:bodyPr wrap="square" lIns="45720" tIns="0" rIns="45720" bIns="0" anchor="ctr">
              <a:spAutoFit/>
            </a:bodyPr>
            <a:lstStyle/>
            <a:p>
              <a:pPr algn="l">
                <a:spcBef>
                  <a:spcPts val="600"/>
                </a:spcBef>
              </a:pPr>
              <a:r>
                <a:rPr sz="1900" b="0" i="0" u="none">
                  <a:solidFill>
                    <a:srgbClr val="0B2B4E"/>
                  </a:solidFill>
                  <a:latin typeface="Calibri"/>
                </a:rPr>
                <a:t>Producer surplus (PS) is the area above the supply curve and below the price line</a:t>
              </a:r>
            </a:p>
            <a:p>
              <a:pPr algn="l">
                <a:spcBef>
                  <a:spcPts val="600"/>
                </a:spcBef>
              </a:pPr>
              <a:r>
                <a:rPr sz="1900" b="0" i="0" u="none">
                  <a:solidFill>
                    <a:srgbClr val="0B2B4E"/>
                  </a:solidFill>
                  <a:latin typeface="Calibri"/>
                </a:rPr>
                <a:t>What sellers received, less the least they would have accepted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A8010BAA-C654-50BB-8399-63D01C1D2EDA}" type="slidenum">
              <a:rPr lang="en-US" sz="1200" dirty="0">
                <a:solidFill>
                  <a:srgbClr val="555B66"/>
                </a:solidFill>
                <a:latin typeface="Calibri"/>
              </a:rPr>
              <a:t>67</a:t>
            </a:fld>
            <a:endParaRPr lang="en-US" sz="1200" dirty="0">
              <a:solidFill>
                <a:srgbClr val="555B66"/>
              </a:solidFill>
              <a:latin typeface="Calibri"/>
            </a:endParaRPr>
          </a:p>
        </p:txBody>
      </p:sp>
      <p:sp>
        <p:nvSpPr>
          <p:cNvPr id="28" name="TextBox 27"/>
          <p:cNvSpPr txBox="1"/>
          <p:nvPr/>
        </p:nvSpPr>
        <p:spPr>
          <a:xfrm>
            <a:off x="389159" y="1243584"/>
            <a:ext cx="11338560" cy="384048"/>
          </a:xfrm>
          <a:prstGeom prst="rect">
            <a:avLst/>
          </a:prstGeom>
          <a:noFill/>
        </p:spPr>
        <p:txBody>
          <a:bodyPr wrap="square" lIns="0" tIns="0" rIns="0" bIns="0">
            <a:spAutoFit/>
          </a:bodyPr>
          <a:lstStyle/>
          <a:p>
            <a:pPr algn="l"/>
            <a:r>
              <a:rPr sz="2100" b="0" i="0" u="none">
                <a:solidFill>
                  <a:srgbClr val="0B2B4E"/>
                </a:solidFill>
                <a:latin typeface="Calibri"/>
              </a:rPr>
              <a:t>PS: the gap between the price at which producers would sell (the S curve) and what they do receive (P*)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Market Distortions: Deadweight Loss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5916168" cy="210312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The inefficiency that a market intervention creates</a:t>
            </a:r>
          </a:p>
          <a:p>
            <a:pPr algn="l"/>
            <a:r>
              <a:rPr>
                <a:latin typeface="Calibri"/>
              </a:rPr>
              <a:t>Mutually beneficial transactions that no longer happen</a:t>
            </a:r>
          </a:p>
          <a:p>
            <a:pPr lvl="1" algn="l"/>
            <a:r>
              <a:rPr>
                <a:latin typeface="Calibri"/>
              </a:rPr>
              <a:t>Workers willing to work at the market wage and firms willing to hire them — but a minimum wage stands in the way</a:t>
            </a:r>
          </a:p>
        </p:txBody>
      </p:sp>
      <p:pic>
        <p:nvPicPr>
          <p:cNvPr id="8" name="Picture 7" descr="Red Tape.png"/>
          <p:cNvPicPr>
            <a:picLocks noChangeAspect="1"/>
          </p:cNvPicPr>
          <p:nvPr/>
        </p:nvPicPr>
        <p:blipFill>
          <a:blip r:embed="rId3"/>
          <a:stretch>
            <a:fillRect/>
          </a:stretch>
        </p:blipFill>
        <p:spPr>
          <a:xfrm>
            <a:off x="6903720" y="1325880"/>
            <a:ext cx="3520440" cy="3520440"/>
          </a:xfrm>
          <a:prstGeom prst="roundRect">
            <a:avLst>
              <a:gd name="adj" fmla="val 8000"/>
            </a:avLst>
          </a:prstGeom>
          <a:effectLst>
            <a:outerShdw blurRad="50800" dist="38100" dir="2700000" algn="tl" rotWithShape="0">
              <a:srgbClr val="000000">
                <a:alpha val="50000"/>
              </a:srgbClr>
            </a:outerShdw>
          </a:effectLst>
        </p:spPr>
      </p:pic>
      <mc:AlternateContent xmlns:mc="http://schemas.openxmlformats.org/markup-compatibility/2006">
        <mc:Choice xmlns:a14="http://schemas.microsoft.com/office/drawing/2010/main" Requires="a14">
          <p:sp>
            <p:nvSpPr>
              <p:cNvPr id="9" name="TextBox 8"/>
              <p:cNvSpPr txBox="1"/>
              <p:nvPr/>
            </p:nvSpPr>
            <p:spPr>
              <a:xfrm>
                <a:off x="1865376" y="5047488"/>
                <a:ext cx="8887968" cy="768096"/>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A2162A"/>
                          </a:solidFill>
                          <a:latin typeface="Cambria Math"/>
                        </a:rPr>
                        <m:t>Deadweight</m:t>
                      </m:r>
                      <m:r>
                        <a:rPr lang="en-US" sz="2600" b="0" i="0">
                          <a:solidFill>
                            <a:srgbClr val="A2162A"/>
                          </a:solidFill>
                          <a:latin typeface="Cambria Math"/>
                        </a:rPr>
                        <m:t> </m:t>
                      </m:r>
                      <m:r>
                        <m:rPr>
                          <m:sty m:val="p"/>
                        </m:rPr>
                        <a:rPr lang="en-US" sz="2600" b="0" i="0">
                          <a:solidFill>
                            <a:srgbClr val="A2162A"/>
                          </a:solidFill>
                          <a:latin typeface="Cambria Math"/>
                        </a:rPr>
                        <m:t>loss</m:t>
                      </m:r>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free</m:t>
                          </m:r>
                          <m:r>
                            <a:rPr lang="en-US" sz="2600" b="0" i="0">
                              <a:solidFill>
                                <a:srgbClr val="0B2B4E"/>
                              </a:solidFill>
                              <a:latin typeface="Cambria Math"/>
                            </a:rPr>
                            <m:t> </m:t>
                          </m:r>
                          <m:r>
                            <m:rPr>
                              <m:sty m:val="p"/>
                            </m:rPr>
                            <a:rPr lang="en-US" sz="2600" b="0" i="0">
                              <a:solidFill>
                                <a:srgbClr val="0B2B4E"/>
                              </a:solidFill>
                              <a:latin typeface="Cambria Math"/>
                            </a:rPr>
                            <m:t>market</m:t>
                          </m:r>
                        </m:sub>
                      </m:sSub>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regulation</m:t>
                          </m:r>
                        </m:sub>
                      </m:sSub>
                    </m:oMath>
                  </m:oMathPara>
                </a14:m>
                <a:endParaRPr lang="en-US" sz="2600"/>
              </a:p>
            </p:txBody>
          </p:sp>
        </mc:Choice>
        <mc:Fallback>
          <p:sp>
            <p:nvSpPr>
              <p:cNvPr id="9" name="TextBox 8"/>
              <p:cNvSpPr txBox="1">
                <a:spLocks noRot="1" noChangeAspect="1" noMove="1" noResize="1" noEditPoints="1" noAdjustHandles="1" noChangeArrowheads="1" noChangeShapeType="1" noTextEdit="1"/>
              </p:cNvSpPr>
              <p:nvPr/>
            </p:nvSpPr>
            <p:spPr>
              <a:xfrm>
                <a:off x="1865376" y="5047488"/>
                <a:ext cx="8887968" cy="768096"/>
              </a:xfrm>
              <a:prstGeom prst="roundRect">
                <a:avLst>
                  <a:gd name="adj" fmla="val 25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3721608" y="5907024"/>
                <a:ext cx="4754880" cy="5486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200" b="0" i="1">
                    <a:solidFill>
                      <a:srgbClr val="0B2B4E"/>
                    </a:solidFill>
                    <a:latin typeface="Cambria Math"/>
                  </a:defRPr>
                </a:pPr>
                <a14:m>
                  <m:oMathPara xmlns:m="http://schemas.openxmlformats.org/officeDocument/2006/math">
                    <m:oMath>
                      <m:r>
                        <m:rPr>
                          <m:sty m:val="p"/>
                        </m:rPr>
                        <a:rPr lang="en-US" sz="2200" b="0" i="0">
                          <a:solidFill>
                            <a:srgbClr val="0B2B4E"/>
                          </a:solidFill>
                          <a:latin typeface="Cambria Math"/>
                        </a:rPr>
                        <m:t>with</m:t>
                      </m:r>
                      <m:r>
                        <a:rPr lang="en-US" sz="2200" b="0" i="0">
                          <a:solidFill>
                            <a:srgbClr val="0B2B4E"/>
                          </a:solidFill>
                          <a:latin typeface="Cambria Math"/>
                        </a:rPr>
                        <m:t>   </m:t>
                      </m:r>
                      <m:r>
                        <m:rPr>
                          <m:sty m:val="p"/>
                        </m:rPr>
                        <a:rPr lang="en-US" sz="2200" b="0" i="0">
                          <a:solidFill>
                            <a:srgbClr val="0B2B4E"/>
                          </a:solidFill>
                          <a:latin typeface="Cambria Math"/>
                        </a:rPr>
                        <m:t>Welfare</m:t>
                      </m:r>
                      <m:r>
                        <a:rPr lang="en-US" sz="2200" b="0" i="0">
                          <a:solidFill>
                            <a:srgbClr val="0B2B4E"/>
                          </a:solidFill>
                          <a:latin typeface="Cambria Math"/>
                        </a:rPr>
                        <m:t> = </m:t>
                      </m:r>
                      <m:r>
                        <m:rPr>
                          <m:sty m:val="p"/>
                        </m:rPr>
                        <a:rPr lang="en-US" sz="2200" b="0" i="0">
                          <a:solidFill>
                            <a:srgbClr val="0B2B4E"/>
                          </a:solidFill>
                          <a:latin typeface="Cambria Math"/>
                        </a:rPr>
                        <m:t>CS</m:t>
                      </m:r>
                      <m:r>
                        <a:rPr lang="en-US" sz="2200" b="0" i="0">
                          <a:solidFill>
                            <a:srgbClr val="0B2B4E"/>
                          </a:solidFill>
                          <a:latin typeface="Cambria Math"/>
                        </a:rPr>
                        <m:t> + </m:t>
                      </m:r>
                      <m:r>
                        <m:rPr>
                          <m:sty m:val="p"/>
                        </m:rPr>
                        <a:rPr lang="en-US" sz="2200" b="0" i="0">
                          <a:solidFill>
                            <a:srgbClr val="0B2B4E"/>
                          </a:solidFill>
                          <a:latin typeface="Cambria Math"/>
                        </a:rPr>
                        <m:t>PS</m:t>
                      </m:r>
                    </m:oMath>
                  </m:oMathPara>
                </a14:m>
                <a:endParaRPr lang="en-US" sz="2200"/>
              </a:p>
            </p:txBody>
          </p:sp>
        </mc:Choice>
        <mc:Fallback>
          <p:sp>
            <p:nvSpPr>
              <p:cNvPr id="10" name="TextBox 9"/>
              <p:cNvSpPr txBox="1">
                <a:spLocks noRot="1" noChangeAspect="1" noMove="1" noResize="1" noEditPoints="1" noAdjustHandles="1" noChangeArrowheads="1" noChangeShapeType="1" noTextEdit="1"/>
              </p:cNvSpPr>
              <p:nvPr/>
            </p:nvSpPr>
            <p:spPr>
              <a:xfrm>
                <a:off x="3721608" y="5907024"/>
                <a:ext cx="4754880" cy="548640"/>
              </a:xfrm>
              <a:prstGeom prst="roundRect">
                <a:avLst>
                  <a:gd name="adj" fmla="val 25000"/>
                </a:avLst>
              </a:prstGeom>
              <a:blipFill>
                <a:blip r:embed="rId5"/>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93E6277-CDA5-5C83-80DB-FFFD2EA37ECF}" type="slidenum">
              <a:rPr lang="en-US" sz="1200" dirty="0">
                <a:solidFill>
                  <a:srgbClr val="555B66"/>
                </a:solidFill>
                <a:latin typeface="Calibri"/>
              </a:rPr>
              <a:t>68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Sales Tax: a 10 % Tax on Top of the Listed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70432" y="1792224"/>
            <a:ext cx="0" cy="40965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70432" y="5888736"/>
            <a:ext cx="5285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90778" y="1659636"/>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6342888" y="5934456"/>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170432" y="3505754"/>
            <a:ext cx="1551709" cy="397163"/>
          </a:xfrm>
          <a:custGeom>
            <a:avLst/>
            <a:gdLst/>
            <a:ahLst/>
            <a:cxnLst/>
            <a:rect l="0" t="0" r="r" b="b"/>
            <a:pathLst>
              <a:path w="1551709" h="397163">
                <a:moveTo>
                  <a:pt x="0" y="397163"/>
                </a:moveTo>
                <a:lnTo>
                  <a:pt x="0" y="0"/>
                </a:lnTo>
                <a:lnTo>
                  <a:pt x="1551709" y="0"/>
                </a:lnTo>
                <a:lnTo>
                  <a:pt x="1551709" y="397163"/>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170432" y="3902917"/>
            <a:ext cx="1551709" cy="317731"/>
          </a:xfrm>
          <a:custGeom>
            <a:avLst/>
            <a:gdLst/>
            <a:ahLst/>
            <a:cxnLst/>
            <a:rect l="0" t="0" r="r" b="b"/>
            <a:pathLst>
              <a:path w="1551709" h="317731">
                <a:moveTo>
                  <a:pt x="0" y="317731"/>
                </a:moveTo>
                <a:lnTo>
                  <a:pt x="0" y="0"/>
                </a:lnTo>
                <a:lnTo>
                  <a:pt x="1551709" y="0"/>
                </a:lnTo>
                <a:lnTo>
                  <a:pt x="1551709" y="317731"/>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22141" y="3505754"/>
            <a:ext cx="517236" cy="397163"/>
          </a:xfrm>
          <a:custGeom>
            <a:avLst/>
            <a:gdLst/>
            <a:ahLst/>
            <a:cxnLst/>
            <a:rect l="0" t="0" r="r" b="b"/>
            <a:pathLst>
              <a:path w="517236" h="397163">
                <a:moveTo>
                  <a:pt x="0" y="397163"/>
                </a:moveTo>
                <a:lnTo>
                  <a:pt x="0" y="0"/>
                </a:lnTo>
                <a:lnTo>
                  <a:pt x="517236" y="397163"/>
                </a:lnTo>
                <a:close/>
              </a:path>
            </a:pathLst>
          </a:custGeom>
          <a:solidFill>
            <a:srgbClr val="2E5AA8">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22141" y="3902917"/>
            <a:ext cx="517236" cy="317731"/>
          </a:xfrm>
          <a:custGeom>
            <a:avLst/>
            <a:gdLst/>
            <a:ahLst/>
            <a:cxnLst/>
            <a:rect l="0" t="0" r="r" b="b"/>
            <a:pathLst>
              <a:path w="517236" h="317731">
                <a:moveTo>
                  <a:pt x="0" y="317731"/>
                </a:moveTo>
                <a:lnTo>
                  <a:pt x="0" y="0"/>
                </a:lnTo>
                <a:lnTo>
                  <a:pt x="517236" y="0"/>
                </a:lnTo>
                <a:close/>
              </a:path>
            </a:pathLst>
          </a:custGeom>
          <a:solidFill>
            <a:srgbClr val="B8860B">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V="1">
            <a:off x="1170432" y="2714604"/>
            <a:ext cx="4003409" cy="245923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20392" y="2478938"/>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7" name="Connector 16"/>
          <p:cNvCxnSpPr/>
          <p:nvPr/>
        </p:nvCxnSpPr>
        <p:spPr>
          <a:xfrm flipV="1">
            <a:off x="1170432" y="2191711"/>
            <a:ext cx="3049108" cy="2675747"/>
          </a:xfrm>
          <a:prstGeom prst="line">
            <a:avLst/>
          </a:prstGeom>
          <a:ln w="34925">
            <a:solidFill>
              <a:srgbClr val="007A3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61606" y="1642511"/>
            <a:ext cx="273177" cy="292608"/>
          </a:xfrm>
          <a:prstGeom prst="rect">
            <a:avLst/>
          </a:prstGeom>
          <a:noFill/>
        </p:spPr>
        <p:txBody>
          <a:bodyPr wrap="square" lIns="0" tIns="0" rIns="0" bIns="0">
            <a:spAutoFit/>
          </a:bodyPr>
          <a:lstStyle/>
          <a:p>
            <a:pPr algn="l"/>
            <a:r>
              <a:rPr sz="1900" b="1" i="1" u="none">
                <a:solidFill>
                  <a:srgbClr val="007A33"/>
                </a:solidFill>
                <a:latin typeface="Calibri"/>
              </a:rPr>
              <a:t>S’</a:t>
            </a:r>
          </a:p>
        </p:txBody>
      </p:sp>
      <p:cxnSp>
        <p:nvCxnSpPr>
          <p:cNvPr id="19" name="Connector 18"/>
          <p:cNvCxnSpPr/>
          <p:nvPr/>
        </p:nvCxnSpPr>
        <p:spPr>
          <a:xfrm>
            <a:off x="1170432" y="2314263"/>
            <a:ext cx="4468922" cy="3431494"/>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592802" y="5420729"/>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21" name="Connector 20"/>
          <p:cNvCxnSpPr/>
          <p:nvPr/>
        </p:nvCxnSpPr>
        <p:spPr>
          <a:xfrm>
            <a:off x="1170432" y="3505754"/>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1228" y="3368594"/>
            <a:ext cx="4160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B</a:t>
            </a:r>
          </a:p>
        </p:txBody>
      </p:sp>
      <p:cxnSp>
        <p:nvCxnSpPr>
          <p:cNvPr id="23" name="Connector 22"/>
          <p:cNvCxnSpPr/>
          <p:nvPr/>
        </p:nvCxnSpPr>
        <p:spPr>
          <a:xfrm>
            <a:off x="1170432" y="3902917"/>
            <a:ext cx="2068945"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3765757"/>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0</a:t>
            </a:r>
          </a:p>
        </p:txBody>
      </p:sp>
      <p:cxnSp>
        <p:nvCxnSpPr>
          <p:cNvPr id="25" name="Connector 24"/>
          <p:cNvCxnSpPr/>
          <p:nvPr/>
        </p:nvCxnSpPr>
        <p:spPr>
          <a:xfrm>
            <a:off x="1170432" y="4220648"/>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00278" y="4083488"/>
            <a:ext cx="39700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S</a:t>
            </a:r>
          </a:p>
        </p:txBody>
      </p:sp>
      <p:cxnSp>
        <p:nvCxnSpPr>
          <p:cNvPr id="27" name="Connector 26"/>
          <p:cNvCxnSpPr/>
          <p:nvPr/>
        </p:nvCxnSpPr>
        <p:spPr>
          <a:xfrm flipV="1">
            <a:off x="2722141" y="3505754"/>
            <a:ext cx="0" cy="2382982"/>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52215"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cxnSp>
        <p:nvCxnSpPr>
          <p:cNvPr id="29" name="Connector 28"/>
          <p:cNvCxnSpPr/>
          <p:nvPr/>
        </p:nvCxnSpPr>
        <p:spPr>
          <a:xfrm flipV="1">
            <a:off x="3239377" y="3902917"/>
            <a:ext cx="0" cy="1985819"/>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69451"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0</a:t>
            </a:r>
          </a:p>
        </p:txBody>
      </p:sp>
      <p:sp>
        <p:nvSpPr>
          <p:cNvPr id="31" name="TextBox 30"/>
          <p:cNvSpPr txBox="1"/>
          <p:nvPr/>
        </p:nvSpPr>
        <p:spPr>
          <a:xfrm>
            <a:off x="1640101" y="354888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2" name="TextBox 31"/>
          <p:cNvSpPr txBox="1"/>
          <p:nvPr/>
        </p:nvSpPr>
        <p:spPr>
          <a:xfrm>
            <a:off x="1640101" y="3906335"/>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2651815" y="3640235"/>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4" name="TextBox 33"/>
          <p:cNvSpPr txBox="1"/>
          <p:nvPr/>
        </p:nvSpPr>
        <p:spPr>
          <a:xfrm>
            <a:off x="2651815" y="3897597"/>
            <a:ext cx="457200" cy="310896"/>
          </a:xfrm>
          <a:prstGeom prst="rect">
            <a:avLst/>
          </a:prstGeom>
          <a:noFill/>
        </p:spPr>
        <p:txBody>
          <a:bodyPr wrap="square" lIns="0" tIns="0" rIns="0" bIns="0">
            <a:spAutoFit/>
          </a:bodyPr>
          <a:lstStyle/>
          <a:p>
            <a:pPr algn="ctr"/>
            <a:r>
              <a:rPr sz="1700" b="1" i="0" u="none">
                <a:solidFill>
                  <a:srgbClr val="0B2B4E"/>
                </a:solidFill>
                <a:latin typeface="Calibri"/>
              </a:rPr>
              <a:t>D</a:t>
            </a:r>
          </a:p>
        </p:txBody>
      </p:sp>
      <p:sp>
        <p:nvSpPr>
          <p:cNvPr id="35" name="Left Brace 34"/>
          <p:cNvSpPr/>
          <p:nvPr/>
        </p:nvSpPr>
        <p:spPr>
          <a:xfrm>
            <a:off x="694944" y="3505754"/>
            <a:ext cx="146304" cy="714894"/>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rot="16200000">
            <a:off x="-219456" y="3712463"/>
            <a:ext cx="1554480" cy="310896"/>
          </a:xfrm>
          <a:prstGeom prst="rect">
            <a:avLst/>
          </a:prstGeom>
          <a:noFill/>
        </p:spPr>
        <p:txBody>
          <a:bodyPr wrap="square" lIns="0" tIns="0" rIns="0" bIns="0">
            <a:spAutoFit/>
          </a:bodyPr>
          <a:lstStyle/>
          <a:p>
            <a:pPr algn="ctr"/>
            <a:r>
              <a:rPr sz="1500" b="1" i="1" u="none">
                <a:solidFill>
                  <a:srgbClr val="A2162A"/>
                </a:solidFill>
                <a:latin typeface="Calibri"/>
              </a:rPr>
              <a:t>P</a:t>
            </a:r>
            <a:r>
              <a:rPr sz="1500" b="1" i="1" u="none" baseline="-25000">
                <a:solidFill>
                  <a:srgbClr val="A2162A"/>
                </a:solidFill>
                <a:latin typeface="Calibri"/>
              </a:rPr>
              <a:t>B</a:t>
            </a:r>
            <a:r>
              <a:rPr sz="1500" b="1" i="1" u="none">
                <a:solidFill>
                  <a:srgbClr val="A2162A"/>
                </a:solidFill>
                <a:latin typeface="Calibri"/>
              </a:rPr>
              <a:t> − P</a:t>
            </a:r>
            <a:r>
              <a:rPr sz="1500" b="1" i="1" u="none" baseline="-25000">
                <a:solidFill>
                  <a:srgbClr val="A2162A"/>
                </a:solidFill>
                <a:latin typeface="Calibri"/>
              </a:rPr>
              <a:t>S</a:t>
            </a:r>
            <a:r>
              <a:rPr sz="1500" b="1" i="1" u="none">
                <a:solidFill>
                  <a:srgbClr val="A2162A"/>
                </a:solidFill>
                <a:latin typeface="Calibri"/>
              </a:rPr>
              <a:t> = t</a:t>
            </a:r>
          </a:p>
        </p:txBody>
      </p:sp>
      <p:cxnSp>
        <p:nvCxnSpPr>
          <p:cNvPr id="37" name="Connector 36"/>
          <p:cNvCxnSpPr/>
          <p:nvPr/>
        </p:nvCxnSpPr>
        <p:spPr>
          <a:xfrm flipV="1">
            <a:off x="3591098" y="2743200"/>
            <a:ext cx="0" cy="943660"/>
          </a:xfrm>
          <a:prstGeom prst="line">
            <a:avLst/>
          </a:prstGeom>
          <a:ln w="31750">
            <a:solidFill>
              <a:srgbClr val="007A33"/>
            </a:solidFill>
            <a:headEnd type="triangle" w="med"/>
            <a:tailEnd type="triangle" w="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682538" y="2870135"/>
            <a:ext cx="1005840" cy="310896"/>
          </a:xfrm>
          <a:prstGeom prst="rect">
            <a:avLst/>
          </a:prstGeom>
          <a:noFill/>
        </p:spPr>
        <p:txBody>
          <a:bodyPr wrap="square" lIns="0" tIns="0" rIns="0" bIns="0">
            <a:spAutoFit/>
          </a:bodyPr>
          <a:lstStyle/>
          <a:p>
            <a:pPr algn="l"/>
            <a:r>
              <a:rPr sz="1500" b="1" i="0" u="none">
                <a:solidFill>
                  <a:srgbClr val="007A33"/>
                </a:solidFill>
                <a:latin typeface="Calibri"/>
              </a:rPr>
              <a:t>tax (t)</a:t>
            </a:r>
          </a:p>
        </p:txBody>
      </p:sp>
      <p:grpSp>
        <p:nvGrpSpPr>
          <p:cNvPr id="159" name="Group pair 159"/>
          <p:cNvGrpSpPr/>
          <p:nvPr/>
        </p:nvGrpSpPr>
        <p:grpSpPr>
          <a:xfrm>
            <a:off x="7040880" y="1417320"/>
            <a:ext cx="4709160" cy="1600200"/>
            <a:chOff x="7040880" y="1417320"/>
            <a:chExt cx="4709160" cy="1600200"/>
          </a:xfrm>
        </p:grpSpPr>
        <p:sp>
          <p:nvSpPr>
            <p:cNvPr id="39" name="Rounded Rectangle 38"/>
            <p:cNvSpPr/>
            <p:nvPr/>
          </p:nvSpPr>
          <p:spPr>
            <a:xfrm>
              <a:off x="7040880" y="1417320"/>
              <a:ext cx="4709160" cy="1600200"/>
            </a:xfrm>
            <a:prstGeom prst="roundRect">
              <a:avLst>
                <a:gd name="adj" fmla="val 10000"/>
              </a:avLst>
            </a:prstGeom>
            <a:solidFill>
              <a:srgbClr val="FDF6E6"/>
            </a:solidFill>
            <a:ln w="12700">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95744" y="1554480"/>
              <a:ext cx="4599432" cy="1325880"/>
            </a:xfrm>
            <a:prstGeom prst="rect">
              <a:avLst/>
            </a:prstGeom>
            <a:noFill/>
          </p:spPr>
          <p:txBody>
            <a:bodyPr wrap="square" lIns="45720" tIns="0" rIns="45720" bIns="0" anchor="ctr">
              <a:spAutoFit/>
            </a:bodyPr>
            <a:lstStyle/>
            <a:p>
              <a:pPr marL="285750" indent="-285750" algn="l">
                <a:buFont typeface="Arial" panose="020B0604020202020204" pitchFamily="34" charset="0"/>
                <a:buChar char="•"/>
              </a:pPr>
              <a:r>
                <a:rPr sz="1800" b="0" i="1" u="none">
                  <a:solidFill>
                    <a:srgbClr val="0B2B4E"/>
                  </a:solidFill>
                  <a:latin typeface="Calibri"/>
                </a:rPr>
                <a:t>Price received by the seller (P</a:t>
              </a:r>
              <a:r>
                <a:rPr sz="1800" b="0" i="1" u="none" baseline="-25000">
                  <a:solidFill>
                    <a:srgbClr val="0B2B4E"/>
                  </a:solidFill>
                  <a:latin typeface="Calibri"/>
                </a:rPr>
                <a:t>S</a:t>
              </a:r>
              <a:r>
                <a:rPr sz="1800" b="0" i="1" u="none">
                  <a:solidFill>
                    <a:srgbClr val="0B2B4E"/>
                  </a:solidFill>
                  <a:latin typeface="Calibri"/>
                </a:rPr>
                <a:t>) drops.</a:t>
              </a:r>
            </a:p>
            <a:p>
              <a:pPr marL="285750" indent="-285750" algn="l">
                <a:buFont typeface="Arial" panose="020B0604020202020204" pitchFamily="34" charset="0"/>
                <a:buChar char="•"/>
              </a:pPr>
              <a:r>
                <a:rPr sz="1800" b="0" i="1" u="none">
                  <a:solidFill>
                    <a:srgbClr val="0B2B4E"/>
                  </a:solidFill>
                  <a:latin typeface="Calibri"/>
                </a:rPr>
                <a:t>Total price paid by the buyer (P</a:t>
              </a:r>
              <a:r>
                <a:rPr sz="1800" b="0" i="1" u="none" baseline="-25000">
                  <a:solidFill>
                    <a:srgbClr val="0B2B4E"/>
                  </a:solidFill>
                  <a:latin typeface="Calibri"/>
                </a:rPr>
                <a:t>B</a:t>
              </a:r>
              <a:r>
                <a:rPr sz="1800" b="0" i="1" u="none">
                  <a:solidFill>
                    <a:srgbClr val="0B2B4E"/>
                  </a:solidFill>
                  <a:latin typeface="Calibri"/>
                </a:rPr>
                <a:t>, inclusive of tax) increases, but by less than the tax.</a:t>
              </a:r>
            </a:p>
          </p:txBody>
        </p:sp>
      </p:grpSp>
      <p:sp>
        <p:nvSpPr>
          <p:cNvPr id="41" name="Rectangle 40"/>
          <p:cNvSpPr/>
          <p:nvPr/>
        </p:nvSpPr>
        <p:spPr>
          <a:xfrm>
            <a:off x="7324344" y="31272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a:off x="7525512" y="31272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891272" y="3063240"/>
            <a:ext cx="3959352" cy="310896"/>
          </a:xfrm>
          <a:prstGeom prst="rect">
            <a:avLst/>
          </a:prstGeom>
          <a:noFill/>
        </p:spPr>
        <p:txBody>
          <a:bodyPr wrap="square" lIns="0" tIns="0" rIns="0" bIns="0">
            <a:spAutoFit/>
          </a:bodyPr>
          <a:lstStyle/>
          <a:p>
            <a:pPr algn="l"/>
            <a:r>
              <a:rPr sz="2000" b="0" i="0" u="none">
                <a:solidFill>
                  <a:srgbClr val="0B2B4E"/>
                </a:solidFill>
                <a:latin typeface="Calibri"/>
              </a:rPr>
              <a:t>The buyers lose A + B</a:t>
            </a:r>
          </a:p>
        </p:txBody>
      </p:sp>
      <p:sp>
        <p:nvSpPr>
          <p:cNvPr id="44" name="Rectangle 43"/>
          <p:cNvSpPr/>
          <p:nvPr/>
        </p:nvSpPr>
        <p:spPr>
          <a:xfrm>
            <a:off x="7324344" y="3584448"/>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ight Triangle 44"/>
          <p:cNvSpPr/>
          <p:nvPr/>
        </p:nvSpPr>
        <p:spPr>
          <a:xfrm flipV="1">
            <a:off x="7525512" y="3584448"/>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91272" y="3520439"/>
            <a:ext cx="3959352" cy="310896"/>
          </a:xfrm>
          <a:prstGeom prst="rect">
            <a:avLst/>
          </a:prstGeom>
          <a:noFill/>
        </p:spPr>
        <p:txBody>
          <a:bodyPr wrap="square" lIns="0" tIns="0" rIns="0" bIns="0">
            <a:spAutoFit/>
          </a:bodyPr>
          <a:lstStyle/>
          <a:p>
            <a:pPr algn="l"/>
            <a:r>
              <a:rPr sz="2000" b="0" i="0" u="none">
                <a:solidFill>
                  <a:srgbClr val="0B2B4E"/>
                </a:solidFill>
                <a:latin typeface="Calibri"/>
              </a:rPr>
              <a:t>The sellers lose C + D</a:t>
            </a:r>
          </a:p>
        </p:txBody>
      </p:sp>
      <p:sp>
        <p:nvSpPr>
          <p:cNvPr id="47" name="Right Triangle 46"/>
          <p:cNvSpPr/>
          <p:nvPr/>
        </p:nvSpPr>
        <p:spPr>
          <a:xfrm>
            <a:off x="7324344" y="40416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ight Triangle 47"/>
          <p:cNvSpPr/>
          <p:nvPr/>
        </p:nvSpPr>
        <p:spPr>
          <a:xfrm flipV="1">
            <a:off x="7324344" y="4233672"/>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891272" y="4073652"/>
            <a:ext cx="3959352" cy="310896"/>
          </a:xfrm>
          <a:prstGeom prst="rect">
            <a:avLst/>
          </a:prstGeom>
          <a:noFill/>
        </p:spPr>
        <p:txBody>
          <a:bodyPr wrap="square" lIns="0" tIns="0" rIns="0" bIns="0">
            <a:spAutoFit/>
          </a:bodyPr>
          <a:lstStyle/>
          <a:p>
            <a:pPr algn="l"/>
            <a:r>
              <a:rPr sz="2000" b="0" i="0" u="none">
                <a:solidFill>
                  <a:srgbClr val="0B2B4E"/>
                </a:solidFill>
                <a:latin typeface="Calibri"/>
              </a:rPr>
              <a:t>Deadweight loss: B + D</a:t>
            </a:r>
          </a:p>
        </p:txBody>
      </p:sp>
      <p:sp>
        <p:nvSpPr>
          <p:cNvPr id="50" name="Rectangle 49"/>
          <p:cNvSpPr/>
          <p:nvPr/>
        </p:nvSpPr>
        <p:spPr>
          <a:xfrm>
            <a:off x="7324344" y="44988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324344" y="4690872"/>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891272" y="4530852"/>
            <a:ext cx="3959352" cy="310896"/>
          </a:xfrm>
          <a:prstGeom prst="rect">
            <a:avLst/>
          </a:prstGeom>
          <a:noFill/>
        </p:spPr>
        <p:txBody>
          <a:bodyPr wrap="square" lIns="0" tIns="0" rIns="0" bIns="0">
            <a:spAutoFit/>
          </a:bodyPr>
          <a:lstStyle/>
          <a:p>
            <a:pPr algn="l"/>
            <a:r>
              <a:rPr sz="2000" b="0" i="0" u="none">
                <a:solidFill>
                  <a:srgbClr val="0B2B4E"/>
                </a:solidFill>
                <a:latin typeface="Calibri"/>
              </a:rPr>
              <a:t>The government gets A + C</a:t>
            </a:r>
          </a:p>
        </p:txBody>
      </p:sp>
      <p:sp>
        <p:nvSpPr>
          <p:cNvPr id="53" name="Rectangle 5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56" name="TextBox 55"/>
          <p:cNvSpPr txBox="1"/>
          <p:nvPr/>
        </p:nvSpPr>
        <p:spPr>
          <a:xfrm>
            <a:off x="11475720" y="6583680"/>
            <a:ext cx="502920" cy="292608"/>
          </a:xfrm>
          <a:prstGeom prst="rect">
            <a:avLst/>
          </a:prstGeom>
          <a:noFill/>
        </p:spPr>
        <p:txBody>
          <a:bodyPr wrap="none" lIns="0" tIns="0" rIns="0" bIns="0">
            <a:spAutoFit/>
          </a:bodyPr>
          <a:lstStyle/>
          <a:p>
            <a:pPr algn="r"/>
            <a:fld id="{859291FE-DB9D-5F65-9427-6E3356439D96}" type="slidenum">
              <a:rPr lang="en-US" sz="1200" dirty="0">
                <a:solidFill>
                  <a:srgbClr val="555B66"/>
                </a:solidFill>
                <a:latin typeface="Calibri"/>
              </a:rPr>
              <a:t>69</a:t>
            </a:fld>
            <a:endParaRPr lang="en-US" sz="1200" dirty="0">
              <a:solidFill>
                <a:srgbClr val="555B66"/>
              </a:solidFill>
              <a:latin typeface="Calibri"/>
            </a:endParaRPr>
          </a:p>
        </p:txBody>
      </p:sp>
      <p:grpSp>
        <p:nvGrpSpPr>
          <p:cNvPr id="160" name="Group pair 160"/>
          <p:cNvGrpSpPr/>
          <p:nvPr/>
        </p:nvGrpSpPr>
        <p:grpSpPr>
          <a:xfrm>
            <a:off x="7040880" y="5102352"/>
            <a:ext cx="4709160" cy="786384"/>
            <a:chOff x="7040880" y="5102352"/>
            <a:chExt cx="4709160" cy="786384"/>
          </a:xfrm>
        </p:grpSpPr>
        <p:sp>
          <p:nvSpPr>
            <p:cNvPr id="57" name="Rounded Rectangle 56"/>
            <p:cNvSpPr/>
            <p:nvPr/>
          </p:nvSpPr>
          <p:spPr>
            <a:xfrm>
              <a:off x="7040880" y="5102352"/>
              <a:ext cx="4709160" cy="786384"/>
            </a:xfrm>
            <a:prstGeom prst="roundRect">
              <a:avLst>
                <a:gd name="adj" fmla="val 12000"/>
              </a:avLst>
            </a:prstGeom>
            <a:solidFill>
              <a:srgbClr val="2E5AA8"/>
            </a:solidFill>
            <a:ln w="19050">
              <a:solidFill>
                <a:srgbClr val="2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223760" y="5129784"/>
              <a:ext cx="4343400" cy="731520"/>
            </a:xfrm>
            <a:prstGeom prst="rect">
              <a:avLst/>
            </a:prstGeom>
            <a:noFill/>
          </p:spPr>
          <p:txBody>
            <a:bodyPr wrap="square" lIns="45720" tIns="0" rIns="45720" bIns="0" anchor="ctr">
              <a:spAutoFit/>
            </a:bodyPr>
            <a:lstStyle/>
            <a:p>
              <a:pPr algn="ctr"/>
              <a:r>
                <a:rPr sz="1800" b="1" i="0" u="none">
                  <a:solidFill>
                    <a:srgbClr val="FFFFFF"/>
                  </a:solidFill>
                  <a:latin typeface="Calibri"/>
                </a:rPr>
                <a:t>Taxes on some goods (e.g. cigarettes, gasoline…) can still make sense due to externalities (more below)</a:t>
              </a:r>
            </a:p>
          </p:txBody>
        </p:sp>
      </p:grpSp>
      <p:sp>
        <p:nvSpPr>
          <p:cNvPr id="59" name="Rounded Rectangle 58"/>
          <p:cNvSpPr/>
          <p:nvPr/>
        </p:nvSpPr>
        <p:spPr>
          <a:xfrm>
            <a:off x="9692640" y="5998464"/>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5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childTnLst>
                                </p:cTn>
                              </p:par>
                              <p:par>
                                <p:cTn id="27" presetID="10"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00"/>
                                        <p:tgtEl>
                                          <p:spTgt spid="29"/>
                                        </p:tgtEl>
                                      </p:cBhvr>
                                    </p:animEffect>
                                  </p:childTnLst>
                                </p:cTn>
                              </p:par>
                              <p:par>
                                <p:cTn id="30" presetID="10" presetClass="entr" presetSubtype="0" fill="hold"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par>
                                <p:cTn id="44" presetID="10" presetClass="entr" presetSubtype="0" fill="hold"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00"/>
                                        <p:tgtEl>
                                          <p:spTgt spid="21"/>
                                        </p:tgtEl>
                                      </p:cBhvr>
                                    </p:animEffect>
                                  </p:childTnLst>
                                </p:cTn>
                              </p:par>
                              <p:par>
                                <p:cTn id="52" presetID="10" presetClass="entr" presetSubtype="0"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childTnLst>
                                </p:cTn>
                              </p:par>
                              <p:par>
                                <p:cTn id="55" presetID="10"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par>
                                <p:cTn id="58" presetID="10" presetClass="entr" presetSubtype="0" fill="hold"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500"/>
                                        <p:tgtEl>
                                          <p:spTgt spid="26"/>
                                        </p:tgtEl>
                                      </p:cBhvr>
                                    </p:animEffect>
                                  </p:childTnLst>
                                </p:cTn>
                              </p:par>
                              <p:par>
                                <p:cTn id="61" presetID="10"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500"/>
                                        <p:tgtEl>
                                          <p:spTgt spid="27"/>
                                        </p:tgtEl>
                                      </p:cBhvr>
                                    </p:animEffect>
                                  </p:childTnLst>
                                </p:cTn>
                              </p:par>
                              <p:par>
                                <p:cTn id="64" presetID="10" presetClass="entr" presetSubtype="0" fill="hold"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500"/>
                                        <p:tgtEl>
                                          <p:spTgt spid="2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00"/>
                                        <p:tgtEl>
                                          <p:spTgt spid="35"/>
                                        </p:tgtEl>
                                      </p:cBhvr>
                                    </p:animEffect>
                                  </p:childTnLst>
                                </p:cTn>
                              </p:par>
                              <p:par>
                                <p:cTn id="72" presetID="10" presetClass="entr" presetSubtype="0" fill="hold"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500"/>
                                        <p:tgtEl>
                                          <p:spTgt spid="36"/>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fade">
                                      <p:cBhvr>
                                        <p:cTn id="79" dur="500"/>
                                        <p:tgtEl>
                                          <p:spTgt spid="11"/>
                                        </p:tgtEl>
                                      </p:cBhvr>
                                    </p:animEffect>
                                  </p:childTnLst>
                                </p:cTn>
                              </p:par>
                              <p:par>
                                <p:cTn id="80" presetID="10" presetClass="entr" presetSubtype="0" fill="hold" nodeType="withEffect">
                                  <p:stCondLst>
                                    <p:cond delay="0"/>
                                  </p:stCondLst>
                                  <p:childTnLst>
                                    <p:set>
                                      <p:cBhvr>
                                        <p:cTn id="81" dur="1" fill="hold">
                                          <p:stCondLst>
                                            <p:cond delay="0"/>
                                          </p:stCondLst>
                                        </p:cTn>
                                        <p:tgtEl>
                                          <p:spTgt spid="31"/>
                                        </p:tgtEl>
                                        <p:attrNameLst>
                                          <p:attrName>style.visibility</p:attrName>
                                        </p:attrNameLst>
                                      </p:cBhvr>
                                      <p:to>
                                        <p:strVal val="visible"/>
                                      </p:to>
                                    </p:set>
                                    <p:animEffect transition="in" filter="fade">
                                      <p:cBhvr>
                                        <p:cTn id="82" dur="500"/>
                                        <p:tgtEl>
                                          <p:spTgt spid="31"/>
                                        </p:tgtEl>
                                      </p:cBhvr>
                                    </p:animEffect>
                                  </p:childTnLst>
                                </p:cTn>
                              </p:par>
                              <p:par>
                                <p:cTn id="83" presetID="10" presetClass="entr" presetSubtype="0" fill="hold" nodeType="withEffect">
                                  <p:stCondLst>
                                    <p:cond delay="0"/>
                                  </p:stCondLst>
                                  <p:childTnLst>
                                    <p:set>
                                      <p:cBhvr>
                                        <p:cTn id="84" dur="1" fill="hold">
                                          <p:stCondLst>
                                            <p:cond delay="0"/>
                                          </p:stCondLst>
                                        </p:cTn>
                                        <p:tgtEl>
                                          <p:spTgt spid="12"/>
                                        </p:tgtEl>
                                        <p:attrNameLst>
                                          <p:attrName>style.visibility</p:attrName>
                                        </p:attrNameLst>
                                      </p:cBhvr>
                                      <p:to>
                                        <p:strVal val="visible"/>
                                      </p:to>
                                    </p:set>
                                    <p:animEffect transition="in" filter="fade">
                                      <p:cBhvr>
                                        <p:cTn id="85" dur="500"/>
                                        <p:tgtEl>
                                          <p:spTgt spid="12"/>
                                        </p:tgtEl>
                                      </p:cBhvr>
                                    </p:animEffect>
                                  </p:childTnLst>
                                </p:cTn>
                              </p:par>
                              <p:par>
                                <p:cTn id="86" presetID="10" presetClass="entr" presetSubtype="0" fill="hold"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500"/>
                                        <p:tgtEl>
                                          <p:spTgt spid="3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3"/>
                                        </p:tgtEl>
                                        <p:attrNameLst>
                                          <p:attrName>style.visibility</p:attrName>
                                        </p:attrNameLst>
                                      </p:cBhvr>
                                      <p:to>
                                        <p:strVal val="visible"/>
                                      </p:to>
                                    </p:set>
                                    <p:animEffect transition="in" filter="fade">
                                      <p:cBhvr>
                                        <p:cTn id="93" dur="500"/>
                                        <p:tgtEl>
                                          <p:spTgt spid="13"/>
                                        </p:tgtEl>
                                      </p:cBhvr>
                                    </p:animEffect>
                                  </p:childTnLst>
                                </p:cTn>
                              </p:par>
                              <p:par>
                                <p:cTn id="94" presetID="10" presetClass="entr" presetSubtype="0" fill="hold"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nodeType="withEffect">
                                  <p:stCondLst>
                                    <p:cond delay="0"/>
                                  </p:stCondLst>
                                  <p:childTnLst>
                                    <p:set>
                                      <p:cBhvr>
                                        <p:cTn id="98" dur="1" fill="hold">
                                          <p:stCondLst>
                                            <p:cond delay="0"/>
                                          </p:stCondLst>
                                        </p:cTn>
                                        <p:tgtEl>
                                          <p:spTgt spid="14"/>
                                        </p:tgtEl>
                                        <p:attrNameLst>
                                          <p:attrName>style.visibility</p:attrName>
                                        </p:attrNameLst>
                                      </p:cBhvr>
                                      <p:to>
                                        <p:strVal val="visible"/>
                                      </p:to>
                                    </p:set>
                                    <p:animEffect transition="in" filter="fade">
                                      <p:cBhvr>
                                        <p:cTn id="99" dur="500"/>
                                        <p:tgtEl>
                                          <p:spTgt spid="14"/>
                                        </p:tgtEl>
                                      </p:cBhvr>
                                    </p:animEffect>
                                  </p:childTnLst>
                                </p:cTn>
                              </p:par>
                              <p:par>
                                <p:cTn id="100" presetID="10" presetClass="entr" presetSubtype="0" fill="hold"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500"/>
                                        <p:tgtEl>
                                          <p:spTgt spid="34"/>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9"/>
                                        </p:tgtEl>
                                        <p:attrNameLst>
                                          <p:attrName>style.visibility</p:attrName>
                                        </p:attrNameLst>
                                      </p:cBhvr>
                                      <p:to>
                                        <p:strVal val="visible"/>
                                      </p:to>
                                    </p:set>
                                    <p:animEffect transition="in" filter="fade">
                                      <p:cBhvr>
                                        <p:cTn id="107" dur="500"/>
                                        <p:tgtEl>
                                          <p:spTgt spid="159"/>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500"/>
                                        <p:tgtEl>
                                          <p:spTgt spid="41"/>
                                        </p:tgtEl>
                                      </p:cBhvr>
                                    </p:animEffect>
                                  </p:childTnLst>
                                </p:cTn>
                              </p:par>
                              <p:par>
                                <p:cTn id="113" presetID="10" presetClass="entr" presetSubtype="0" fill="hold"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500"/>
                                        <p:tgtEl>
                                          <p:spTgt spid="42"/>
                                        </p:tgtEl>
                                      </p:cBhvr>
                                    </p:animEffect>
                                  </p:childTnLst>
                                </p:cTn>
                              </p:par>
                              <p:par>
                                <p:cTn id="116" presetID="10" presetClass="entr" presetSubtype="0" fill="hold"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500"/>
                                        <p:tgtEl>
                                          <p:spTgt spid="43"/>
                                        </p:tgtEl>
                                      </p:cBhvr>
                                    </p:animEffect>
                                  </p:childTnLst>
                                </p:cTn>
                              </p:par>
                            </p:childTnLst>
                          </p:cTn>
                        </p:par>
                      </p:childTnLst>
                    </p:cTn>
                  </p:par>
                  <p:par>
                    <p:cTn id="119" fill="hold">
                      <p:stCondLst>
                        <p:cond delay="indefinite"/>
                      </p:stCondLst>
                      <p:childTnLst>
                        <p:par>
                          <p:cTn id="120" fill="hold">
                            <p:stCondLst>
                              <p:cond delay="0"/>
                            </p:stCondLst>
                            <p:childTnLst>
                              <p:par>
                                <p:cTn id="121" presetID="10" presetClass="entr" presetSubtype="0" fill="hold" nodeType="click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00"/>
                                        <p:tgtEl>
                                          <p:spTgt spid="44"/>
                                        </p:tgtEl>
                                      </p:cBhvr>
                                    </p:animEffect>
                                  </p:childTnLst>
                                </p:cTn>
                              </p:par>
                              <p:par>
                                <p:cTn id="124" presetID="10" presetClass="entr" presetSubtype="0" fill="hold" nodeType="withEffect">
                                  <p:stCondLst>
                                    <p:cond delay="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00"/>
                                        <p:tgtEl>
                                          <p:spTgt spid="45"/>
                                        </p:tgtEl>
                                      </p:cBhvr>
                                    </p:animEffect>
                                  </p:childTnLst>
                                </p:cTn>
                              </p:par>
                              <p:par>
                                <p:cTn id="127" presetID="10" presetClass="entr" presetSubtype="0" fill="hold" nodeType="withEffect">
                                  <p:stCondLst>
                                    <p:cond delay="0"/>
                                  </p:stCondLst>
                                  <p:childTnLst>
                                    <p:set>
                                      <p:cBhvr>
                                        <p:cTn id="128" dur="1" fill="hold">
                                          <p:stCondLst>
                                            <p:cond delay="0"/>
                                          </p:stCondLst>
                                        </p:cTn>
                                        <p:tgtEl>
                                          <p:spTgt spid="46"/>
                                        </p:tgtEl>
                                        <p:attrNameLst>
                                          <p:attrName>style.visibility</p:attrName>
                                        </p:attrNameLst>
                                      </p:cBhvr>
                                      <p:to>
                                        <p:strVal val="visible"/>
                                      </p:to>
                                    </p:set>
                                    <p:animEffect transition="in" filter="fade">
                                      <p:cBhvr>
                                        <p:cTn id="129" dur="500"/>
                                        <p:tgtEl>
                                          <p:spTgt spid="46"/>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nodeType="clickEffect">
                                  <p:stCondLst>
                                    <p:cond delay="0"/>
                                  </p:stCondLst>
                                  <p:childTnLst>
                                    <p:set>
                                      <p:cBhvr>
                                        <p:cTn id="133" dur="1" fill="hold">
                                          <p:stCondLst>
                                            <p:cond delay="0"/>
                                          </p:stCondLst>
                                        </p:cTn>
                                        <p:tgtEl>
                                          <p:spTgt spid="47"/>
                                        </p:tgtEl>
                                        <p:attrNameLst>
                                          <p:attrName>style.visibility</p:attrName>
                                        </p:attrNameLst>
                                      </p:cBhvr>
                                      <p:to>
                                        <p:strVal val="visible"/>
                                      </p:to>
                                    </p:set>
                                    <p:animEffect transition="in" filter="fade">
                                      <p:cBhvr>
                                        <p:cTn id="134" dur="500"/>
                                        <p:tgtEl>
                                          <p:spTgt spid="47"/>
                                        </p:tgtEl>
                                      </p:cBhvr>
                                    </p:animEffect>
                                  </p:childTnLst>
                                </p:cTn>
                              </p:par>
                              <p:par>
                                <p:cTn id="135" presetID="10" presetClass="entr" presetSubtype="0" fill="hold" nodeType="withEffect">
                                  <p:stCondLst>
                                    <p:cond delay="0"/>
                                  </p:stCondLst>
                                  <p:childTnLst>
                                    <p:set>
                                      <p:cBhvr>
                                        <p:cTn id="136" dur="1" fill="hold">
                                          <p:stCondLst>
                                            <p:cond delay="0"/>
                                          </p:stCondLst>
                                        </p:cTn>
                                        <p:tgtEl>
                                          <p:spTgt spid="48"/>
                                        </p:tgtEl>
                                        <p:attrNameLst>
                                          <p:attrName>style.visibility</p:attrName>
                                        </p:attrNameLst>
                                      </p:cBhvr>
                                      <p:to>
                                        <p:strVal val="visible"/>
                                      </p:to>
                                    </p:set>
                                    <p:animEffect transition="in" filter="fade">
                                      <p:cBhvr>
                                        <p:cTn id="137" dur="500"/>
                                        <p:tgtEl>
                                          <p:spTgt spid="48"/>
                                        </p:tgtEl>
                                      </p:cBhvr>
                                    </p:animEffect>
                                  </p:childTnLst>
                                </p:cTn>
                              </p:par>
                              <p:par>
                                <p:cTn id="138" presetID="10" presetClass="entr" presetSubtype="0" fill="hold" nodeType="withEffect">
                                  <p:stCondLst>
                                    <p:cond delay="0"/>
                                  </p:stCondLst>
                                  <p:childTnLst>
                                    <p:set>
                                      <p:cBhvr>
                                        <p:cTn id="139" dur="1" fill="hold">
                                          <p:stCondLst>
                                            <p:cond delay="0"/>
                                          </p:stCondLst>
                                        </p:cTn>
                                        <p:tgtEl>
                                          <p:spTgt spid="49"/>
                                        </p:tgtEl>
                                        <p:attrNameLst>
                                          <p:attrName>style.visibility</p:attrName>
                                        </p:attrNameLst>
                                      </p:cBhvr>
                                      <p:to>
                                        <p:strVal val="visible"/>
                                      </p:to>
                                    </p:set>
                                    <p:animEffect transition="in" filter="fade">
                                      <p:cBhvr>
                                        <p:cTn id="140" dur="500"/>
                                        <p:tgtEl>
                                          <p:spTgt spid="49"/>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nodeType="clickEffect">
                                  <p:stCondLst>
                                    <p:cond delay="0"/>
                                  </p:stCondLst>
                                  <p:childTnLst>
                                    <p:set>
                                      <p:cBhvr>
                                        <p:cTn id="144" dur="1" fill="hold">
                                          <p:stCondLst>
                                            <p:cond delay="0"/>
                                          </p:stCondLst>
                                        </p:cTn>
                                        <p:tgtEl>
                                          <p:spTgt spid="50"/>
                                        </p:tgtEl>
                                        <p:attrNameLst>
                                          <p:attrName>style.visibility</p:attrName>
                                        </p:attrNameLst>
                                      </p:cBhvr>
                                      <p:to>
                                        <p:strVal val="visible"/>
                                      </p:to>
                                    </p:set>
                                    <p:animEffect transition="in" filter="fade">
                                      <p:cBhvr>
                                        <p:cTn id="145" dur="500"/>
                                        <p:tgtEl>
                                          <p:spTgt spid="50"/>
                                        </p:tgtEl>
                                      </p:cBhvr>
                                    </p:animEffect>
                                  </p:childTnLst>
                                </p:cTn>
                              </p:par>
                              <p:par>
                                <p:cTn id="146" presetID="10" presetClass="entr" presetSubtype="0" fill="hold" nodeType="withEffect">
                                  <p:stCondLst>
                                    <p:cond delay="0"/>
                                  </p:stCondLst>
                                  <p:childTnLst>
                                    <p:set>
                                      <p:cBhvr>
                                        <p:cTn id="147" dur="1" fill="hold">
                                          <p:stCondLst>
                                            <p:cond delay="0"/>
                                          </p:stCondLst>
                                        </p:cTn>
                                        <p:tgtEl>
                                          <p:spTgt spid="51"/>
                                        </p:tgtEl>
                                        <p:attrNameLst>
                                          <p:attrName>style.visibility</p:attrName>
                                        </p:attrNameLst>
                                      </p:cBhvr>
                                      <p:to>
                                        <p:strVal val="visible"/>
                                      </p:to>
                                    </p:set>
                                    <p:animEffect transition="in" filter="fade">
                                      <p:cBhvr>
                                        <p:cTn id="148" dur="500"/>
                                        <p:tgtEl>
                                          <p:spTgt spid="51"/>
                                        </p:tgtEl>
                                      </p:cBhvr>
                                    </p:animEffect>
                                  </p:childTnLst>
                                </p:cTn>
                              </p:par>
                              <p:par>
                                <p:cTn id="149" presetID="10" presetClass="entr" presetSubtype="0" fill="hold" nodeType="withEffect">
                                  <p:stCondLst>
                                    <p:cond delay="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1" dur="500"/>
                                        <p:tgtEl>
                                          <p:spTgt spid="52"/>
                                        </p:tgtEl>
                                      </p:cBhvr>
                                    </p:animEffect>
                                  </p:childTnLst>
                                </p:cTn>
                              </p:par>
                            </p:childTnLst>
                          </p:cTn>
                        </p:par>
                      </p:childTnLst>
                    </p:cTn>
                  </p:par>
                  <p:par>
                    <p:cTn id="152" fill="hold">
                      <p:stCondLst>
                        <p:cond delay="indefinite"/>
                      </p:stCondLst>
                      <p:childTnLst>
                        <p:par>
                          <p:cTn id="153" fill="hold">
                            <p:stCondLst>
                              <p:cond delay="0"/>
                            </p:stCondLst>
                            <p:childTnLst>
                              <p:par>
                                <p:cTn id="154" presetID="10" presetClass="entr" presetSubtype="0" fill="hold" nodeType="clickEffect">
                                  <p:stCondLst>
                                    <p:cond delay="0"/>
                                  </p:stCondLst>
                                  <p:childTnLst>
                                    <p:set>
                                      <p:cBhvr>
                                        <p:cTn id="155" dur="1" fill="hold">
                                          <p:stCondLst>
                                            <p:cond delay="0"/>
                                          </p:stCondLst>
                                        </p:cTn>
                                        <p:tgtEl>
                                          <p:spTgt spid="160"/>
                                        </p:tgtEl>
                                        <p:attrNameLst>
                                          <p:attrName>style.visibility</p:attrName>
                                        </p:attrNameLst>
                                      </p:cBhvr>
                                      <p:to>
                                        <p:strVal val="visible"/>
                                      </p:to>
                                    </p:set>
                                    <p:animEffect transition="in" filter="fade">
                                      <p:cBhvr>
                                        <p:cTn id="156" dur="500"/>
                                        <p:tgtEl>
                                          <p:spTgt spid="1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Tax Incidence: Who Really Pays?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1097280" y="1481328"/>
            <a:ext cx="10058400" cy="960120"/>
            <a:chOff x="1097280" y="1481328"/>
            <a:chExt cx="10058400" cy="960120"/>
          </a:xfrm>
        </p:grpSpPr>
        <p:sp>
          <p:nvSpPr>
            <p:cNvPr id="7" name="Rounded Rectangle 6"/>
            <p:cNvSpPr/>
            <p:nvPr/>
          </p:nvSpPr>
          <p:spPr>
            <a:xfrm>
              <a:off x="1097280" y="1481328"/>
              <a:ext cx="10058400" cy="9601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1591056"/>
              <a:ext cx="9692640" cy="740664"/>
            </a:xfrm>
            <a:prstGeom prst="rect">
              <a:avLst/>
            </a:prstGeom>
            <a:noFill/>
          </p:spPr>
          <p:txBody>
            <a:bodyPr wrap="square" lIns="45720" tIns="0" rIns="45720" bIns="0" anchor="ctr">
              <a:spAutoFit/>
            </a:bodyPr>
            <a:lstStyle/>
            <a:p>
              <a:pPr algn="l"/>
              <a:r>
                <a:rPr sz="2100" b="1" i="0" u="none">
                  <a:solidFill>
                    <a:srgbClr val="0B2B4E"/>
                  </a:solidFill>
                  <a:latin typeface="Calibri"/>
                </a:rPr>
                <a:t>Tax incidence:  </a:t>
              </a:r>
              <a:r>
                <a:rPr sz="2100" b="0" i="0" u="none">
                  <a:solidFill>
                    <a:srgbClr val="0B2B4E"/>
                  </a:solidFill>
                  <a:latin typeface="Calibri"/>
                </a:rPr>
                <a:t>which side of the market — buyers or sellers — ends up bearing the burden of the tax</a:t>
              </a:r>
            </a:p>
          </p:txBody>
        </p:sp>
      </p:grpSp>
      <p:sp>
        <p:nvSpPr>
          <p:cNvPr id="9" name="TextBox 8"/>
          <p:cNvSpPr txBox="1"/>
          <p:nvPr/>
        </p:nvSpPr>
        <p:spPr>
          <a:xfrm>
            <a:off x="572039" y="2788920"/>
            <a:ext cx="11155680" cy="260604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Who hands the money to the government does not matter</a:t>
            </a:r>
          </a:p>
          <a:p>
            <a:pPr lvl="1" algn="l"/>
            <a:r>
              <a:rPr>
                <a:latin typeface="Calibri"/>
              </a:rPr>
              <a:t>The incidence is the same whether the tax is collected from the buyer or from the seller</a:t>
            </a:r>
          </a:p>
          <a:p>
            <a:pPr algn="l"/>
            <a:r>
              <a:rPr>
                <a:latin typeface="Calibri"/>
              </a:rPr>
              <a:t>What matters is the elasticity of supply and demand</a:t>
            </a:r>
          </a:p>
          <a:p>
            <a:pPr lvl="1" algn="l"/>
            <a:r>
              <a:rPr>
                <a:latin typeface="Calibri"/>
              </a:rPr>
              <a:t>The side that responds less to price bears more of the tax</a:t>
            </a:r>
          </a:p>
        </p:txBody>
      </p:sp>
      <p:sp>
        <p:nvSpPr>
          <p:cNvPr id="10" name="Rounded Rectangle 9"/>
          <p:cNvSpPr/>
          <p:nvPr/>
        </p:nvSpPr>
        <p:spPr>
          <a:xfrm>
            <a:off x="1615287" y="5669280"/>
            <a:ext cx="896112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0B2B4E"/>
                </a:solidFill>
                <a:latin typeface="Calibri"/>
              </a:rPr>
              <a:t>The less price-responsive side of the market pays the larger share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0EF2B8D-DFB0-5EE2-BA1B-BC0C48F01538}" type="slidenum">
              <a:rPr lang="en-US" sz="1200" dirty="0">
                <a:solidFill>
                  <a:srgbClr val="555B66"/>
                </a:solidFill>
                <a:latin typeface="Calibri"/>
              </a:rPr>
              <a:t>70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fade">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fade">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fade">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Minimum Wage: A Popular Policy Tool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2" name="Group pair 112"/>
          <p:cNvGrpSpPr/>
          <p:nvPr/>
        </p:nvGrpSpPr>
        <p:grpSpPr>
          <a:xfrm>
            <a:off x="2468880" y="1371600"/>
            <a:ext cx="7251192" cy="5157216"/>
            <a:chOff x="2468880" y="1371600"/>
            <a:chExt cx="7251192" cy="5157216"/>
          </a:xfrm>
        </p:grpSpPr>
        <p:pic>
          <p:nvPicPr>
            <p:cNvPr id="7" name="Picture 6" descr="MW_minwage_map.jpg"/>
            <p:cNvPicPr>
              <a:picLocks noChangeAspect="1"/>
            </p:cNvPicPr>
            <p:nvPr/>
          </p:nvPicPr>
          <p:blipFill>
            <a:blip r:embed="rId3"/>
            <a:stretch>
              <a:fillRect/>
            </a:stretch>
          </p:blipFill>
          <p:spPr>
            <a:xfrm>
              <a:off x="2468880" y="1371600"/>
              <a:ext cx="7251192" cy="4837176"/>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2468880" y="6272784"/>
              <a:ext cx="7251192" cy="256032"/>
            </a:xfrm>
            <a:prstGeom prst="rect">
              <a:avLst/>
            </a:prstGeom>
            <a:noFill/>
          </p:spPr>
          <p:txBody>
            <a:bodyPr wrap="square" lIns="0" tIns="0" rIns="0" bIns="0">
              <a:spAutoFit/>
            </a:bodyPr>
            <a:lstStyle/>
            <a:p>
              <a:pPr algn="ctr"/>
              <a:r>
                <a:rPr sz="1100" b="0" i="1" u="none">
                  <a:solidFill>
                    <a:srgbClr val="555B66"/>
                  </a:solidFill>
                  <a:latin typeface="Calibri"/>
                </a:rPr>
                <a:t>Source: Wikipedia / US Department of Labor</a:t>
              </a:r>
            </a:p>
          </p:txBody>
        </p:sp>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A4C6DCD1-CCBD-540B-BF60-3B7B5F405290}" type="slidenum">
              <a:rPr lang="en-US" sz="1200" dirty="0">
                <a:solidFill>
                  <a:srgbClr val="555B66"/>
                </a:solidFill>
                <a:latin typeface="Calibri"/>
              </a:rPr>
              <a:t>71</a:t>
            </a:fld>
            <a:endParaRPr lang="en-US" sz="1200" dirty="0">
              <a:solidFill>
                <a:srgbClr val="555B66"/>
              </a:solidFill>
              <a:latin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Podcast: What Does the Evidence Say on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17320"/>
            <a:ext cx="5760720" cy="3611880"/>
          </a:xfrm>
          <a:prstGeom prst="rect">
            <a:avLst/>
          </a:prstGeom>
          <a:noFill/>
        </p:spPr>
        <p:txBody>
          <a:bodyPr wrap="square" lIns="0" tIns="0" rIns="0" bIns="0">
            <a:noAutofit/>
          </a:bodyPr>
          <a:lstStyle>
            <a:lvl1pPr marL="342900" indent="-342900">
              <a:spcBef>
                <a:spcPts val="7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is the expected effect of raising the minimum wage on employment?</a:t>
            </a:r>
          </a:p>
          <a:p>
            <a:pPr lvl="1" algn="l"/>
            <a:r>
              <a:rPr>
                <a:latin typeface="Calibri"/>
              </a:rPr>
              <a:t>According to economic theory: Negative</a:t>
            </a:r>
          </a:p>
          <a:p>
            <a:pPr algn="l"/>
            <a:r>
              <a:rPr>
                <a:latin typeface="Calibri"/>
              </a:rPr>
              <a:t>Evidence: Mixed results</a:t>
            </a:r>
          </a:p>
          <a:p>
            <a:pPr lvl="1" algn="l"/>
            <a:r>
              <a:rPr>
                <a:latin typeface="Calibri"/>
              </a:rPr>
              <a:t>Employment does not seem to decline, BUT:</a:t>
            </a:r>
          </a:p>
          <a:p>
            <a:pPr lvl="1" algn="l"/>
            <a:r>
              <a:rPr>
                <a:latin typeface="Calibri"/>
              </a:rPr>
              <a:t>Hours worked decline (Seattle study)</a:t>
            </a:r>
          </a:p>
          <a:p>
            <a:pPr marL="1028700" lvl="2" indent="-228600" algn="l">
              <a:spcBef>
                <a:spcPts val="300"/>
              </a:spcBef>
              <a:buClr>
                <a:srgbClr val="555B66"/>
              </a:buClr>
              <a:buFont typeface="Calibri"/>
              <a:buChar char="–"/>
            </a:pPr>
            <a:r>
              <a:rPr sz="1800">
                <a:solidFill>
                  <a:srgbClr val="555B66"/>
                </a:solidFill>
                <a:latin typeface="Calibri"/>
              </a:rPr>
              <a:t>Experienced workers: moderate decline in hours, so total income ↑</a:t>
            </a:r>
          </a:p>
          <a:p>
            <a:pPr marL="1028700" lvl="2" indent="-228600" algn="l">
              <a:spcBef>
                <a:spcPts val="300"/>
              </a:spcBef>
              <a:buClr>
                <a:srgbClr val="555B66"/>
              </a:buClr>
              <a:buFont typeface="Calibri"/>
              <a:buChar char="–"/>
            </a:pPr>
            <a:r>
              <a:rPr sz="1800">
                <a:solidFill>
                  <a:srgbClr val="555B66"/>
                </a:solidFill>
                <a:latin typeface="Calibri"/>
              </a:rPr>
              <a:t>Low-skilled, inexperienced workers: substantial decline in hours and thus income ↓</a:t>
            </a:r>
          </a:p>
          <a:p>
            <a:pPr marL="1028700" lvl="2" indent="-228600" algn="l">
              <a:spcBef>
                <a:spcPts val="300"/>
              </a:spcBef>
              <a:buClr>
                <a:srgbClr val="555B66"/>
              </a:buClr>
              <a:buFont typeface="Calibri"/>
              <a:buChar char="–"/>
            </a:pPr>
            <a:r>
              <a:rPr sz="1800">
                <a:solidFill>
                  <a:srgbClr val="555B66"/>
                </a:solidFill>
                <a:latin typeface="Calibri"/>
              </a:rPr>
              <a:t>New workers: harder to find first job</a:t>
            </a:r>
          </a:p>
          <a:p>
            <a:pPr algn="l"/>
            <a:r>
              <a:rPr>
                <a:latin typeface="Calibri"/>
              </a:rPr>
              <a:t>What are possible long-run effects of a (high) minimum wage?</a:t>
            </a:r>
          </a:p>
        </p:txBody>
      </p:sp>
      <p:pic>
        <p:nvPicPr>
          <p:cNvPr id="8" name="Picture 7" descr="mw_headline_krueger_nyt_2015.png"/>
          <p:cNvPicPr>
            <a:picLocks noChangeAspect="1"/>
          </p:cNvPicPr>
          <p:nvPr/>
        </p:nvPicPr>
        <p:blipFill>
          <a:blip r:embed="rId3"/>
          <a:stretch>
            <a:fillRect/>
          </a:stretch>
        </p:blipFill>
        <p:spPr>
          <a:xfrm>
            <a:off x="6327648" y="1316736"/>
            <a:ext cx="5394960" cy="1317374"/>
          </a:xfrm>
          <a:prstGeom prst="rect">
            <a:avLst/>
          </a:prstGeom>
          <a:effectLst>
            <a:outerShdw blurRad="50800" dist="38100" dir="2700000" algn="tl" rotWithShape="0">
              <a:srgbClr val="000000">
                <a:alpha val="45000"/>
              </a:srgbClr>
            </a:outerShdw>
          </a:effectLst>
        </p:spPr>
      </p:pic>
      <p:pic>
        <p:nvPicPr>
          <p:cNvPr id="9" name="Picture 8" descr="mw_headline_vox_2017.png"/>
          <p:cNvPicPr>
            <a:picLocks noChangeAspect="1"/>
          </p:cNvPicPr>
          <p:nvPr/>
        </p:nvPicPr>
        <p:blipFill>
          <a:blip r:embed="rId4"/>
          <a:stretch>
            <a:fillRect/>
          </a:stretch>
        </p:blipFill>
        <p:spPr>
          <a:xfrm>
            <a:off x="6355080" y="2715768"/>
            <a:ext cx="5394960" cy="1094406"/>
          </a:xfrm>
          <a:prstGeom prst="rect">
            <a:avLst/>
          </a:prstGeom>
          <a:effectLst>
            <a:outerShdw blurRad="50800" dist="38100" dir="2700000" algn="tl" rotWithShape="0">
              <a:srgbClr val="000000">
                <a:alpha val="45000"/>
              </a:srgbClr>
            </a:outerShdw>
          </a:effectLst>
        </p:spPr>
      </p:pic>
      <p:grpSp>
        <p:nvGrpSpPr>
          <p:cNvPr id="115" name="Group pair 115"/>
          <p:cNvGrpSpPr/>
          <p:nvPr/>
        </p:nvGrpSpPr>
        <p:grpSpPr>
          <a:xfrm>
            <a:off x="6355080" y="3968496"/>
            <a:ext cx="3264408" cy="2514600"/>
            <a:chOff x="6355080" y="3968496"/>
            <a:chExt cx="3264408" cy="2514600"/>
          </a:xfrm>
        </p:grpSpPr>
        <p:pic>
          <p:nvPicPr>
            <p:cNvPr id="10" name="Picture 9" descr="NV_s59_3_3e55694d.png"/>
            <p:cNvPicPr>
              <a:picLocks noChangeAspect="1"/>
            </p:cNvPicPr>
            <p:nvPr/>
          </p:nvPicPr>
          <p:blipFill>
            <a:blip r:embed="rId5"/>
            <a:stretch>
              <a:fillRect/>
            </a:stretch>
          </p:blipFill>
          <p:spPr>
            <a:xfrm>
              <a:off x="6355080" y="3968496"/>
              <a:ext cx="3264408" cy="2212848"/>
            </a:xfrm>
            <a:prstGeom prst="roundRect">
              <a:avLst>
                <a:gd name="adj" fmla="val 8000"/>
              </a:avLst>
            </a:prstGeom>
            <a:effectLst>
              <a:outerShdw blurRad="50800" dist="38100" dir="2700000" algn="tl" rotWithShape="0">
                <a:srgbClr val="000000">
                  <a:alpha val="50000"/>
                </a:srgbClr>
              </a:outerShdw>
            </a:effectLst>
          </p:spPr>
        </p:pic>
        <p:sp>
          <p:nvSpPr>
            <p:cNvPr id="11" name="TextBox 10"/>
            <p:cNvSpPr txBox="1"/>
            <p:nvPr/>
          </p:nvSpPr>
          <p:spPr>
            <a:xfrm>
              <a:off x="6446520" y="6208776"/>
              <a:ext cx="3099816" cy="274320"/>
            </a:xfrm>
            <a:prstGeom prst="rect">
              <a:avLst/>
            </a:prstGeom>
            <a:noFill/>
          </p:spPr>
          <p:txBody>
            <a:bodyPr wrap="square" lIns="0" tIns="0" rIns="0" bIns="0">
              <a:spAutoFit/>
            </a:bodyPr>
            <a:lstStyle/>
            <a:p>
              <a:pPr algn="ctr"/>
              <a:r>
                <a:rPr sz="1200" b="0" i="1" u="none">
                  <a:solidFill>
                    <a:srgbClr val="555B66"/>
                  </a:solidFill>
                  <a:latin typeface="Calibri"/>
                </a:rPr>
                <a:t>One way firms respond to a higher wage floor</a:t>
              </a:r>
            </a:p>
          </p:txBody>
        </p:sp>
      </p:gr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CB972BC2-82CB-5C6F-AF19-7106BC1EEDA4}" type="slidenum">
              <a:rPr lang="en-US" sz="1200" dirty="0">
                <a:solidFill>
                  <a:srgbClr val="555B66"/>
                </a:solidFill>
                <a:latin typeface="Calibri"/>
              </a:rPr>
              <a:t>72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3" end="3"/>
                                            </p:txEl>
                                          </p:spTgt>
                                        </p:tgtEl>
                                        <p:attrNameLst>
                                          <p:attrName>style.visibility</p:attrName>
                                        </p:attrNameLst>
                                      </p:cBhvr>
                                      <p:to>
                                        <p:strVal val="visible"/>
                                      </p:to>
                                    </p:set>
                                    <p:animEffect transition="in" filter="fade">
                                      <p:cBhvr>
                                        <p:cTn id="18" dur="500"/>
                                        <p:tgtEl>
                                          <p:spTgt spid="7">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15"/>
                                        </p:tgtEl>
                                        <p:attrNameLst>
                                          <p:attrName>style.visibility</p:attrName>
                                        </p:attrNameLst>
                                      </p:cBhvr>
                                      <p:to>
                                        <p:strVal val="visible"/>
                                      </p:to>
                                    </p:set>
                                    <p:animEffect transition="in" filter="fade">
                                      <p:cBhvr>
                                        <p:cTn id="36" dur="500"/>
                                        <p:tgtEl>
                                          <p:spTgt spid="11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7">
                                            <p:txEl>
                                              <p:pRg st="5" end="5"/>
                                            </p:txEl>
                                          </p:spTgt>
                                        </p:tgtEl>
                                        <p:attrNameLst>
                                          <p:attrName>style.visibility</p:attrName>
                                        </p:attrNameLst>
                                      </p:cBhvr>
                                      <p:to>
                                        <p:strVal val="visible"/>
                                      </p:to>
                                    </p:set>
                                    <p:animEffect transition="in" filter="fade">
                                      <p:cBhvr>
                                        <p:cTn id="41" dur="500"/>
                                        <p:tgtEl>
                                          <p:spTgt spid="7">
                                            <p:txEl>
                                              <p:pRg st="5" end="5"/>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
                                            <p:txEl>
                                              <p:pRg st="6" end="6"/>
                                            </p:txEl>
                                          </p:spTgt>
                                        </p:tgtEl>
                                        <p:attrNameLst>
                                          <p:attrName>style.visibility</p:attrName>
                                        </p:attrNameLst>
                                      </p:cBhvr>
                                      <p:to>
                                        <p:strVal val="visible"/>
                                      </p:to>
                                    </p:set>
                                    <p:animEffect transition="in" filter="fade">
                                      <p:cBhvr>
                                        <p:cTn id="44" dur="500"/>
                                        <p:tgtEl>
                                          <p:spTgt spid="7">
                                            <p:txEl>
                                              <p:pRg st="6" end="6"/>
                                            </p:txEl>
                                          </p:spTgt>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
                                            <p:txEl>
                                              <p:pRg st="7" end="7"/>
                                            </p:txEl>
                                          </p:spTgt>
                                        </p:tgtEl>
                                        <p:attrNameLst>
                                          <p:attrName>style.visibility</p:attrName>
                                        </p:attrNameLst>
                                      </p:cBhvr>
                                      <p:to>
                                        <p:strVal val="visible"/>
                                      </p:to>
                                    </p:set>
                                    <p:animEffect transition="in" filter="fade">
                                      <p:cBhvr>
                                        <p:cTn id="47" dur="500"/>
                                        <p:tgtEl>
                                          <p:spTgt spid="7">
                                            <p:txEl>
                                              <p:pRg st="7" end="7"/>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7">
                                            <p:txEl>
                                              <p:pRg st="8" end="8"/>
                                            </p:txEl>
                                          </p:spTgt>
                                        </p:tgtEl>
                                        <p:attrNameLst>
                                          <p:attrName>style.visibility</p:attrName>
                                        </p:attrNameLst>
                                      </p:cBhvr>
                                      <p:to>
                                        <p:strVal val="visible"/>
                                      </p:to>
                                    </p:set>
                                    <p:animEffect transition="in" filter="fade">
                                      <p:cBhvr>
                                        <p:cTn id="5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Floor: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70916" y="1531620"/>
            <a:ext cx="644652" cy="265176"/>
          </a:xfrm>
          <a:prstGeom prst="rect">
            <a:avLst/>
          </a:prstGeom>
          <a:noFill/>
        </p:spPr>
        <p:txBody>
          <a:bodyPr wrap="square" lIns="0" tIns="0" rIns="0" bIns="0">
            <a:spAutoFit/>
          </a:bodyPr>
          <a:lstStyle/>
          <a:p>
            <a:pPr algn="l"/>
            <a:r>
              <a:rPr sz="1800" b="1" i="1" u="none">
                <a:solidFill>
                  <a:srgbClr val="0B2B4E"/>
                </a:solidFill>
                <a:latin typeface="Calibri"/>
              </a:rPr>
              <a:t>Wage</a:t>
            </a:r>
          </a:p>
        </p:txBody>
      </p:sp>
      <p:sp>
        <p:nvSpPr>
          <p:cNvPr id="10" name="TextBox 9"/>
          <p:cNvSpPr txBox="1"/>
          <p:nvPr/>
        </p:nvSpPr>
        <p:spPr>
          <a:xfrm>
            <a:off x="5196268" y="5669280"/>
            <a:ext cx="635127" cy="265176"/>
          </a:xfrm>
          <a:prstGeom prst="rect">
            <a:avLst/>
          </a:prstGeom>
          <a:noFill/>
        </p:spPr>
        <p:txBody>
          <a:bodyPr wrap="square" lIns="0" tIns="0" rIns="0" bIns="0">
            <a:spAutoFit/>
          </a:bodyPr>
          <a:lstStyle/>
          <a:p>
            <a:pPr algn="l"/>
            <a:r>
              <a:rPr sz="1800" b="1" i="1" u="none">
                <a:solidFill>
                  <a:srgbClr val="0B2B4E"/>
                </a:solidFill>
                <a:latin typeface="Calibri"/>
              </a:rPr>
              <a:t>Labor</a:t>
            </a:r>
          </a:p>
        </p:txBody>
      </p:sp>
      <p:sp>
        <p:nvSpPr>
          <p:cNvPr id="11" name="Rectangle 10"/>
          <p:cNvSpPr/>
          <p:nvPr/>
        </p:nvSpPr>
        <p:spPr>
          <a:xfrm>
            <a:off x="1188720" y="3208712"/>
            <a:ext cx="945572" cy="517468"/>
          </a:xfrm>
          <a:custGeom>
            <a:avLst/>
            <a:gdLst/>
            <a:ahLst/>
            <a:cxnLst/>
            <a:rect l="0" t="0" r="r" b="b"/>
            <a:pathLst>
              <a:path w="945572" h="517468">
                <a:moveTo>
                  <a:pt x="0" y="517468"/>
                </a:moveTo>
                <a:lnTo>
                  <a:pt x="0" y="0"/>
                </a:lnTo>
                <a:lnTo>
                  <a:pt x="945572" y="0"/>
                </a:lnTo>
                <a:lnTo>
                  <a:pt x="945572" y="517468"/>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134292" y="3208712"/>
            <a:ext cx="472787" cy="517468"/>
          </a:xfrm>
          <a:custGeom>
            <a:avLst/>
            <a:gdLst/>
            <a:ahLst/>
            <a:cxnLst/>
            <a:rect l="0" t="0" r="r" b="b"/>
            <a:pathLst>
              <a:path w="472787" h="517468">
                <a:moveTo>
                  <a:pt x="0" y="517468"/>
                </a:moveTo>
                <a:lnTo>
                  <a:pt x="0" y="0"/>
                </a:lnTo>
                <a:lnTo>
                  <a:pt x="472787" y="517468"/>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134292" y="3726180"/>
            <a:ext cx="472787" cy="517467"/>
          </a:xfrm>
          <a:custGeom>
            <a:avLst/>
            <a:gdLst/>
            <a:ahLst/>
            <a:cxnLst/>
            <a:rect l="0" t="0" r="r" b="b"/>
            <a:pathLst>
              <a:path w="472787" h="517467">
                <a:moveTo>
                  <a:pt x="0" y="0"/>
                </a:moveTo>
                <a:lnTo>
                  <a:pt x="472787" y="0"/>
                </a:lnTo>
                <a:lnTo>
                  <a:pt x="0" y="517467"/>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188720" y="2173778"/>
            <a:ext cx="3025832"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233464" y="5028784"/>
            <a:ext cx="844677" cy="292608"/>
          </a:xfrm>
          <a:prstGeom prst="rect">
            <a:avLst/>
          </a:prstGeom>
          <a:noFill/>
        </p:spPr>
        <p:txBody>
          <a:bodyPr wrap="square" lIns="0" tIns="0" rIns="0" bIns="0">
            <a:spAutoFit/>
          </a:bodyPr>
          <a:lstStyle/>
          <a:p>
            <a:pPr algn="l"/>
            <a:r>
              <a:rPr sz="1700" b="1" i="1" u="none">
                <a:solidFill>
                  <a:srgbClr val="C00000"/>
                </a:solidFill>
                <a:latin typeface="Calibri"/>
              </a:rPr>
              <a:t>D</a:t>
            </a:r>
            <a:r>
              <a:rPr sz="1700" b="1" i="1" u="none" baseline="-25000">
                <a:solidFill>
                  <a:srgbClr val="C00000"/>
                </a:solidFill>
                <a:latin typeface="Calibri"/>
              </a:rPr>
              <a:t>Labor</a:t>
            </a:r>
          </a:p>
        </p:txBody>
      </p:sp>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33464" y="1492757"/>
            <a:ext cx="816102" cy="292608"/>
          </a:xfrm>
          <a:prstGeom prst="rect">
            <a:avLst/>
          </a:prstGeom>
          <a:noFill/>
        </p:spPr>
        <p:txBody>
          <a:bodyPr wrap="square" lIns="0" tIns="0" rIns="0" bIns="0">
            <a:spAutoFit/>
          </a:bodyPr>
          <a:lstStyle/>
          <a:p>
            <a:pPr algn="l"/>
            <a:r>
              <a:rPr sz="1700" b="1" i="1" u="none">
                <a:solidFill>
                  <a:srgbClr val="0B2B4E"/>
                </a:solidFill>
                <a:latin typeface="Calibri"/>
              </a:rPr>
              <a:t>S</a:t>
            </a:r>
            <a:r>
              <a:rPr sz="1700" b="1" i="1" u="none" baseline="-25000">
                <a:solidFill>
                  <a:srgbClr val="0B2B4E"/>
                </a:solidFill>
                <a:latin typeface="Calibri"/>
              </a:rPr>
              <a:t>Labor</a:t>
            </a:r>
          </a:p>
        </p:txBody>
      </p:sp>
      <p:cxnSp>
        <p:nvCxnSpPr>
          <p:cNvPr id="18" name="Connector 17"/>
          <p:cNvCxnSpPr/>
          <p:nvPr/>
        </p:nvCxnSpPr>
        <p:spPr>
          <a:xfrm>
            <a:off x="1188720" y="3726180"/>
            <a:ext cx="141835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607079" y="3726180"/>
            <a:ext cx="0" cy="18973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6191" y="3589020"/>
            <a:ext cx="349377" cy="274320"/>
          </a:xfrm>
          <a:prstGeom prst="rect">
            <a:avLst/>
          </a:prstGeom>
          <a:noFill/>
        </p:spPr>
        <p:txBody>
          <a:bodyPr wrap="square" lIns="0" tIns="0" rIns="0" bIns="0">
            <a:spAutoFit/>
          </a:bodyPr>
          <a:lstStyle/>
          <a:p>
            <a:pPr algn="r"/>
            <a:r>
              <a:rPr sz="1700" b="1" i="1" u="none">
                <a:solidFill>
                  <a:srgbClr val="0B2B4E"/>
                </a:solidFill>
                <a:latin typeface="Calibri"/>
              </a:rPr>
              <a:t>w*</a:t>
            </a:r>
          </a:p>
        </p:txBody>
      </p:sp>
      <p:sp>
        <p:nvSpPr>
          <p:cNvPr id="21" name="TextBox 20"/>
          <p:cNvSpPr txBox="1"/>
          <p:nvPr/>
        </p:nvSpPr>
        <p:spPr>
          <a:xfrm>
            <a:off x="2465728" y="5678424"/>
            <a:ext cx="282702" cy="274320"/>
          </a:xfrm>
          <a:prstGeom prst="rect">
            <a:avLst/>
          </a:prstGeom>
          <a:noFill/>
        </p:spPr>
        <p:txBody>
          <a:bodyPr wrap="square" lIns="0" tIns="0" rIns="0" bIns="0">
            <a:spAutoFit/>
          </a:bodyPr>
          <a:lstStyle/>
          <a:p>
            <a:pPr algn="ctr"/>
            <a:r>
              <a:rPr sz="1700" b="1" i="1" u="none">
                <a:solidFill>
                  <a:srgbClr val="0B2B4E"/>
                </a:solidFill>
                <a:latin typeface="Calibri"/>
              </a:rPr>
              <a:t>L*</a:t>
            </a:r>
          </a:p>
        </p:txBody>
      </p:sp>
      <p:cxnSp>
        <p:nvCxnSpPr>
          <p:cNvPr id="22" name="Connector 21"/>
          <p:cNvCxnSpPr/>
          <p:nvPr/>
        </p:nvCxnSpPr>
        <p:spPr>
          <a:xfrm>
            <a:off x="1188720" y="3208712"/>
            <a:ext cx="2534134" cy="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7591" y="3071552"/>
            <a:ext cx="577977" cy="274320"/>
          </a:xfrm>
          <a:prstGeom prst="rect">
            <a:avLst/>
          </a:prstGeom>
          <a:noFill/>
        </p:spPr>
        <p:txBody>
          <a:bodyPr wrap="square" lIns="0" tIns="0" rIns="0" bIns="0">
            <a:spAutoFit/>
          </a:bodyPr>
          <a:lstStyle/>
          <a:p>
            <a:pPr algn="r"/>
            <a:r>
              <a:rPr sz="1700" b="1" i="1" u="none">
                <a:solidFill>
                  <a:srgbClr val="0B2B4E"/>
                </a:solidFill>
                <a:latin typeface="Calibri"/>
              </a:rPr>
              <a:t>w</a:t>
            </a:r>
            <a:r>
              <a:rPr sz="1700" b="1" i="1" u="none" baseline="-25000">
                <a:solidFill>
                  <a:srgbClr val="0B2B4E"/>
                </a:solidFill>
                <a:latin typeface="Calibri"/>
              </a:rPr>
              <a:t>min</a:t>
            </a:r>
          </a:p>
        </p:txBody>
      </p:sp>
      <p:cxnSp>
        <p:nvCxnSpPr>
          <p:cNvPr id="24" name="Connector 23"/>
          <p:cNvCxnSpPr/>
          <p:nvPr/>
        </p:nvCxnSpPr>
        <p:spPr>
          <a:xfrm flipV="1">
            <a:off x="2134292"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926266" y="5678424"/>
            <a:ext cx="4160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D</a:t>
            </a:r>
          </a:p>
        </p:txBody>
      </p:sp>
      <p:cxnSp>
        <p:nvCxnSpPr>
          <p:cNvPr id="26" name="Connector 25"/>
          <p:cNvCxnSpPr/>
          <p:nvPr/>
        </p:nvCxnSpPr>
        <p:spPr>
          <a:xfrm flipV="1">
            <a:off x="3079865"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90889" y="5678424"/>
            <a:ext cx="3779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S</a:t>
            </a:r>
          </a:p>
        </p:txBody>
      </p:sp>
      <p:sp>
        <p:nvSpPr>
          <p:cNvPr id="28" name="Left Brace 27"/>
          <p:cNvSpPr/>
          <p:nvPr/>
        </p:nvSpPr>
        <p:spPr>
          <a:xfrm rot="16200000">
            <a:off x="2524782" y="5571397"/>
            <a:ext cx="164592" cy="945573"/>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5478" y="6181344"/>
            <a:ext cx="2743200" cy="310896"/>
          </a:xfrm>
          <a:prstGeom prst="rect">
            <a:avLst/>
          </a:prstGeom>
          <a:noFill/>
        </p:spPr>
        <p:txBody>
          <a:bodyPr wrap="square" lIns="0" tIns="0" rIns="0" bIns="0">
            <a:spAutoFit/>
          </a:bodyPr>
          <a:lstStyle/>
          <a:p>
            <a:pPr algn="ctr"/>
            <a:r>
              <a:rPr sz="1400" b="1" i="1" u="none">
                <a:solidFill>
                  <a:srgbClr val="A2162A"/>
                </a:solidFill>
                <a:latin typeface="Calibri"/>
              </a:rPr>
              <a:t>L</a:t>
            </a:r>
            <a:r>
              <a:rPr sz="1400" b="1" i="1" u="none" baseline="-25000">
                <a:solidFill>
                  <a:srgbClr val="A2162A"/>
                </a:solidFill>
                <a:latin typeface="Calibri"/>
              </a:rPr>
              <a:t>S</a:t>
            </a:r>
            <a:r>
              <a:rPr sz="1400" b="1" i="1" u="none">
                <a:solidFill>
                  <a:srgbClr val="A2162A"/>
                </a:solidFill>
                <a:latin typeface="Calibri"/>
              </a:rPr>
              <a:t> − L</a:t>
            </a:r>
            <a:r>
              <a:rPr sz="1400" b="1" i="1" u="none" baseline="-25000">
                <a:solidFill>
                  <a:srgbClr val="A2162A"/>
                </a:solidFill>
                <a:latin typeface="Calibri"/>
              </a:rPr>
              <a:t>D</a:t>
            </a:r>
            <a:r>
              <a:rPr sz="1400" b="1" i="1" u="none">
                <a:solidFill>
                  <a:srgbClr val="A2162A"/>
                </a:solidFill>
                <a:latin typeface="Calibri"/>
              </a:rPr>
              <a:t> = unemployment</a:t>
            </a:r>
          </a:p>
        </p:txBody>
      </p:sp>
      <p:sp>
        <p:nvSpPr>
          <p:cNvPr id="30" name="TextBox 29"/>
          <p:cNvSpPr txBox="1"/>
          <p:nvPr/>
        </p:nvSpPr>
        <p:spPr>
          <a:xfrm>
            <a:off x="1413994" y="331199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1" name="TextBox 30"/>
          <p:cNvSpPr txBox="1"/>
          <p:nvPr/>
        </p:nvSpPr>
        <p:spPr>
          <a:xfrm>
            <a:off x="2019161" y="3346496"/>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2" name="TextBox 31"/>
          <p:cNvSpPr txBox="1"/>
          <p:nvPr/>
        </p:nvSpPr>
        <p:spPr>
          <a:xfrm>
            <a:off x="2019161" y="3760470"/>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5989320" y="1481328"/>
            <a:ext cx="5806440" cy="365760"/>
          </a:xfrm>
          <a:prstGeom prst="rect">
            <a:avLst/>
          </a:prstGeom>
          <a:noFill/>
        </p:spPr>
        <p:txBody>
          <a:bodyPr wrap="square" lIns="0" tIns="0" rIns="0" bIns="0">
            <a:spAutoFit/>
          </a:bodyPr>
          <a:lstStyle/>
          <a:p>
            <a:pPr algn="l"/>
            <a:r>
              <a:rPr sz="2100" b="1" i="0" u="none">
                <a:solidFill>
                  <a:srgbClr val="0B2B4E"/>
                </a:solidFill>
                <a:latin typeface="Calibri"/>
              </a:rPr>
              <a:t>Welfare effects</a:t>
            </a:r>
          </a:p>
        </p:txBody>
      </p:sp>
      <p:sp>
        <p:nvSpPr>
          <p:cNvPr id="34" name="Rectangle 33"/>
          <p:cNvSpPr/>
          <p:nvPr/>
        </p:nvSpPr>
        <p:spPr>
          <a:xfrm>
            <a:off x="6126480" y="2011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1947672"/>
            <a:ext cx="5102352" cy="310896"/>
          </a:xfrm>
          <a:prstGeom prst="rect">
            <a:avLst/>
          </a:prstGeom>
          <a:noFill/>
        </p:spPr>
        <p:txBody>
          <a:bodyPr wrap="square" lIns="0" tIns="0" rIns="0" bIns="0">
            <a:spAutoFit/>
          </a:bodyPr>
          <a:lstStyle/>
          <a:p>
            <a:pPr algn="l"/>
            <a:r>
              <a:rPr sz="1900" b="0" i="0" u="none">
                <a:solidFill>
                  <a:srgbClr val="0B2B4E"/>
                </a:solidFill>
                <a:latin typeface="Calibri"/>
              </a:rPr>
              <a:t>Some workers win A — they are paid more</a:t>
            </a:r>
          </a:p>
        </p:txBody>
      </p:sp>
      <p:sp>
        <p:nvSpPr>
          <p:cNvPr id="36" name="Right Triangle 35"/>
          <p:cNvSpPr/>
          <p:nvPr/>
        </p:nvSpPr>
        <p:spPr>
          <a:xfrm flipV="1">
            <a:off x="6126480" y="243230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368296"/>
            <a:ext cx="5102352" cy="310896"/>
          </a:xfrm>
          <a:prstGeom prst="rect">
            <a:avLst/>
          </a:prstGeom>
          <a:noFill/>
        </p:spPr>
        <p:txBody>
          <a:bodyPr wrap="square" lIns="0" tIns="0" rIns="0" bIns="0">
            <a:spAutoFit/>
          </a:bodyPr>
          <a:lstStyle/>
          <a:p>
            <a:pPr algn="l"/>
            <a:r>
              <a:rPr sz="1900" b="0" i="0" u="none">
                <a:solidFill>
                  <a:srgbClr val="0B2B4E"/>
                </a:solidFill>
                <a:latin typeface="Calibri"/>
              </a:rPr>
              <a:t>Some workers lose C — they are not hired</a:t>
            </a:r>
          </a:p>
        </p:txBody>
      </p:sp>
      <p:sp>
        <p:nvSpPr>
          <p:cNvPr id="38" name="Rectangle 37"/>
          <p:cNvSpPr/>
          <p:nvPr/>
        </p:nvSpPr>
        <p:spPr>
          <a:xfrm>
            <a:off x="6126480" y="285292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a:off x="6327648" y="2852928"/>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2788920"/>
            <a:ext cx="5102352" cy="310896"/>
          </a:xfrm>
          <a:prstGeom prst="rect">
            <a:avLst/>
          </a:prstGeom>
          <a:noFill/>
        </p:spPr>
        <p:txBody>
          <a:bodyPr wrap="square" lIns="0" tIns="0" rIns="0" bIns="0">
            <a:spAutoFit/>
          </a:bodyPr>
          <a:lstStyle/>
          <a:p>
            <a:pPr algn="l"/>
            <a:r>
              <a:rPr sz="1900" b="0" i="0" u="none">
                <a:solidFill>
                  <a:srgbClr val="0B2B4E"/>
                </a:solidFill>
                <a:latin typeface="Calibri"/>
              </a:rPr>
              <a:t>Firms lose A + B</a:t>
            </a:r>
          </a:p>
        </p:txBody>
      </p:sp>
      <p:sp>
        <p:nvSpPr>
          <p:cNvPr id="41" name="Right Triangle 40"/>
          <p:cNvSpPr/>
          <p:nvPr/>
        </p:nvSpPr>
        <p:spPr>
          <a:xfrm>
            <a:off x="6126480" y="3273552"/>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465576"/>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305556"/>
            <a:ext cx="5102352" cy="310896"/>
          </a:xfrm>
          <a:prstGeom prst="rect">
            <a:avLst/>
          </a:prstGeom>
          <a:noFill/>
        </p:spPr>
        <p:txBody>
          <a:bodyPr wrap="square" lIns="0" tIns="0" rIns="0" bIns="0">
            <a:spAutoFit/>
          </a:bodyPr>
          <a:lstStyle/>
          <a:p>
            <a:pPr algn="l"/>
            <a:r>
              <a:rPr sz="1900" b="0" i="0" u="none">
                <a:solidFill>
                  <a:srgbClr val="0B2B4E"/>
                </a:solidFill>
                <a:latin typeface="Calibri"/>
              </a:rPr>
              <a:t>Deadweight loss: B + C</a:t>
            </a:r>
          </a:p>
        </p:txBody>
      </p:sp>
      <p:grpSp>
        <p:nvGrpSpPr>
          <p:cNvPr id="149" name="Group pair 149"/>
          <p:cNvGrpSpPr/>
          <p:nvPr/>
        </p:nvGrpSpPr>
        <p:grpSpPr>
          <a:xfrm>
            <a:off x="7406640" y="4608576"/>
            <a:ext cx="4069080" cy="1581912"/>
            <a:chOff x="7406640" y="4608576"/>
            <a:chExt cx="4069080" cy="1581912"/>
          </a:xfrm>
        </p:grpSpPr>
        <p:sp>
          <p:nvSpPr>
            <p:cNvPr id="44" name="Rounded Rectangle 43"/>
            <p:cNvSpPr/>
            <p:nvPr/>
          </p:nvSpPr>
          <p:spPr>
            <a:xfrm>
              <a:off x="7406640" y="4608576"/>
              <a:ext cx="4069080" cy="1581912"/>
            </a:xfrm>
            <a:prstGeom prst="roundRect">
              <a:avLst>
                <a:gd name="adj" fmla="val 10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7571231" y="4736592"/>
              <a:ext cx="3776472" cy="1353312"/>
            </a:xfrm>
            <a:prstGeom prst="rect">
              <a:avLst/>
            </a:prstGeom>
            <a:noFill/>
          </p:spPr>
          <p:txBody>
            <a:bodyPr wrap="square" lIns="0" tIns="0" rIns="0" bIns="0">
              <a:noAutofit/>
            </a:bodyPr>
            <a:lstStyle>
              <a:lvl1pPr marL="342900" indent="-342900">
                <a:spcBef>
                  <a:spcPts val="600"/>
                </a:spcBef>
                <a:buClr>
                  <a:srgbClr val="0B2B4E"/>
                </a:buClr>
                <a:buFont typeface="Calibri"/>
                <a:buChar char="▪"/>
                <a:defRPr sz="18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000" b="1">
                  <a:solidFill>
                    <a:srgbClr val="0B2B4E"/>
                  </a:solidFill>
                  <a:latin typeface="Calibri"/>
                </a:rPr>
                <a:t>Circumvention of minimum wages?</a:t>
              </a:r>
            </a:p>
            <a:p>
              <a:pPr lvl="1" algn="l"/>
              <a:r>
                <a:rPr>
                  <a:latin typeface="Calibri"/>
                </a:rPr>
                <a:t>Underground labor market</a:t>
              </a:r>
            </a:p>
            <a:p>
              <a:pPr lvl="1" algn="l"/>
              <a:r>
                <a:rPr>
                  <a:latin typeface="Calibri"/>
                </a:rPr>
                <a:t>Cutting non-wage benefits</a:t>
              </a:r>
            </a:p>
            <a:p>
              <a:pPr lvl="1" algn="l"/>
              <a:r>
                <a:rPr>
                  <a:latin typeface="Calibri"/>
                </a:rPr>
                <a:t>Unpaid internships</a:t>
              </a:r>
            </a:p>
          </p:txBody>
        </p:sp>
      </p:grpSp>
      <p:sp>
        <p:nvSpPr>
          <p:cNvPr id="46" name="Rectangle 4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9" name="TextBox 48"/>
          <p:cNvSpPr txBox="1"/>
          <p:nvPr/>
        </p:nvSpPr>
        <p:spPr>
          <a:xfrm>
            <a:off x="11475720" y="6583680"/>
            <a:ext cx="502920" cy="292608"/>
          </a:xfrm>
          <a:prstGeom prst="rect">
            <a:avLst/>
          </a:prstGeom>
          <a:noFill/>
        </p:spPr>
        <p:txBody>
          <a:bodyPr wrap="none" lIns="0" tIns="0" rIns="0" bIns="0">
            <a:spAutoFit/>
          </a:bodyPr>
          <a:lstStyle/>
          <a:p>
            <a:pPr algn="r"/>
            <a:fld id="{8BE8F451-805B-50E6-9893-1EE6C8D1B9CA}" type="slidenum">
              <a:rPr lang="en-US" sz="1200" dirty="0">
                <a:solidFill>
                  <a:srgbClr val="555B66"/>
                </a:solidFill>
                <a:latin typeface="Calibri"/>
              </a:rPr>
              <a:t>73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00"/>
                                        <p:tgtEl>
                                          <p:spTgt spid="28"/>
                                        </p:tgtEl>
                                      </p:cBhvr>
                                    </p:animEffect>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childTnLst>
                                </p:cTn>
                              </p:par>
                              <p:par>
                                <p:cTn id="68" presetID="10" presetClass="entr" presetSubtype="0"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500"/>
                                        <p:tgtEl>
                                          <p:spTgt spid="12"/>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79" presetID="10" presetClass="entr" presetSubtype="0" fill="hold" nodeType="with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500"/>
                                        <p:tgtEl>
                                          <p:spTgt spid="13"/>
                                        </p:tgtEl>
                                      </p:cBhvr>
                                    </p:animEffect>
                                  </p:childTnLst>
                                </p:cTn>
                              </p:par>
                              <p:par>
                                <p:cTn id="82" presetID="10" presetClass="entr" presetSubtype="0" fill="hold"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presetID="10" presetClass="entr" presetSubtype="0" fill="hold"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3" presetID="10" presetClass="entr" presetSubtype="0" fill="hold"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childTnLst>
                          </p:cTn>
                        </p:par>
                      </p:childTnLst>
                    </p:cTn>
                  </p:par>
                  <p:par>
                    <p:cTn id="128" fill="hold">
                      <p:stCondLst>
                        <p:cond delay="indefinite"/>
                      </p:stCondLst>
                      <p:childTnLst>
                        <p:par>
                          <p:cTn id="129" fill="hold">
                            <p:stCondLst>
                              <p:cond delay="0"/>
                            </p:stCondLst>
                            <p:childTnLst>
                              <p:par>
                                <p:cTn id="130" presetID="10" presetClass="entr" presetSubtype="0" fill="hold" nodeType="clickEffect">
                                  <p:stCondLst>
                                    <p:cond delay="0"/>
                                  </p:stCondLst>
                                  <p:childTnLst>
                                    <p:set>
                                      <p:cBhvr>
                                        <p:cTn id="131" dur="1" fill="hold">
                                          <p:stCondLst>
                                            <p:cond delay="0"/>
                                          </p:stCondLst>
                                        </p:cTn>
                                        <p:tgtEl>
                                          <p:spTgt spid="149"/>
                                        </p:tgtEl>
                                        <p:attrNameLst>
                                          <p:attrName>style.visibility</p:attrName>
                                        </p:attrNameLst>
                                      </p:cBhvr>
                                      <p:to>
                                        <p:strVal val="visible"/>
                                      </p:to>
                                    </p:set>
                                    <p:animEffect transition="in" filter="fade">
                                      <p:cBhvr>
                                        <p:cTn id="132"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Guess the Rent!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61_6_fb7ae0ee.png"/>
          <p:cNvPicPr>
            <a:picLocks noChangeAspect="1"/>
          </p:cNvPicPr>
          <p:nvPr/>
        </p:nvPicPr>
        <p:blipFill>
          <a:blip r:embed="rId3"/>
          <a:stretch>
            <a:fillRect/>
          </a:stretch>
        </p:blipFill>
        <p:spPr>
          <a:xfrm>
            <a:off x="256032" y="1408176"/>
            <a:ext cx="5833872" cy="4946904"/>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6501384" y="1271016"/>
            <a:ext cx="5330952" cy="2560320"/>
          </a:xfrm>
          <a:prstGeom prst="rect">
            <a:avLst/>
          </a:prstGeom>
          <a:noFill/>
        </p:spPr>
        <p:txBody>
          <a:bodyPr wrap="square" lIns="0" tIns="0" rIns="0" bIns="0">
            <a:no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1 bed, 1 bath</a:t>
            </a:r>
          </a:p>
          <a:p>
            <a:pPr algn="l"/>
            <a:r>
              <a:rPr>
                <a:latin typeface="Calibri"/>
              </a:rPr>
              <a:t>900 sqft</a:t>
            </a:r>
          </a:p>
          <a:p>
            <a:pPr algn="l"/>
            <a:r>
              <a:rPr>
                <a:latin typeface="Calibri"/>
              </a:rPr>
              <a:t>401 San Vicente Blvd., Santa Monica</a:t>
            </a:r>
          </a:p>
          <a:p>
            <a:pPr lvl="1" algn="l"/>
            <a:r>
              <a:rPr>
                <a:latin typeface="Calibri"/>
              </a:rPr>
              <a:t>5-minute walk to the beach</a:t>
            </a:r>
          </a:p>
          <a:p>
            <a:pPr lvl="1" algn="l"/>
            <a:r>
              <a:rPr>
                <a:latin typeface="Calibri"/>
              </a:rPr>
              <a:t>Best public school district in West LA</a:t>
            </a:r>
          </a:p>
        </p:txBody>
      </p:sp>
      <p:pic>
        <p:nvPicPr>
          <p:cNvPr id="9" name="Picture 8" descr="NV_flat_map.png"/>
          <p:cNvPicPr>
            <a:picLocks noChangeAspect="1"/>
          </p:cNvPicPr>
          <p:nvPr/>
        </p:nvPicPr>
        <p:blipFill>
          <a:blip r:embed="rId4"/>
          <a:stretch>
            <a:fillRect/>
          </a:stretch>
        </p:blipFill>
        <p:spPr>
          <a:xfrm>
            <a:off x="6300216" y="3776472"/>
            <a:ext cx="3319272" cy="2670048"/>
          </a:xfrm>
          <a:prstGeom prst="roundRect">
            <a:avLst>
              <a:gd name="adj" fmla="val 8000"/>
            </a:avLst>
          </a:prstGeom>
          <a:effectLst>
            <a:outerShdw blurRad="50800" dist="38100" dir="2700000" algn="tl" rotWithShape="0">
              <a:srgbClr val="000000">
                <a:alpha val="50000"/>
              </a:srgbClr>
            </a:outerShdw>
          </a:effectLst>
        </p:spPr>
      </p:pic>
      <p:sp>
        <p:nvSpPr>
          <p:cNvPr id="10" name="Oval 9"/>
          <p:cNvSpPr/>
          <p:nvPr/>
        </p:nvSpPr>
        <p:spPr>
          <a:xfrm>
            <a:off x="7902236" y="4422634"/>
            <a:ext cx="219456" cy="219456"/>
          </a:xfrm>
          <a:prstGeom prst="ellipse">
            <a:avLst/>
          </a:prstGeom>
          <a:solidFill>
            <a:srgbClr val="A2162A"/>
          </a:solidFill>
          <a:ln>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E098812F-7B2C-5338-A27D-12F45D1836F7}" type="slidenum">
              <a:rPr lang="en-US" sz="1200" dirty="0">
                <a:solidFill>
                  <a:srgbClr val="555B66"/>
                </a:solidFill>
                <a:latin typeface="Calibri"/>
              </a:rPr>
              <a:t>74</a:t>
            </a:fld>
            <a:endParaRPr lang="en-US" sz="1200" dirty="0">
              <a:solidFill>
                <a:srgbClr val="555B66"/>
              </a:solidFill>
              <a:latin typeface="Calibri"/>
            </a:endParaRPr>
          </a:p>
        </p:txBody>
      </p:sp>
      <p:grpSp>
        <p:nvGrpSpPr>
          <p:cNvPr id="9650" name="PollBreakBadge"/>
          <p:cNvGrpSpPr/>
          <p:nvPr/>
        </p:nvGrpSpPr>
        <p:grpSpPr>
          <a:xfrm>
            <a:off x="9361444" y="6190030"/>
            <a:ext cx="2697480" cy="487009"/>
            <a:chOff x="9361444" y="6190030"/>
            <a:chExt cx="2697480" cy="487009"/>
          </a:xfrm>
        </p:grpSpPr>
        <p:sp>
          <p:nvSpPr>
            <p:cNvPr id="965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5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500"/>
                                        <p:tgtEl>
                                          <p:spTgt spid="8">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fade">
                                      <p:cBhvr>
                                        <p:cTn id="21" dur="500"/>
                                        <p:tgtEl>
                                          <p:spTgt spid="8">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xEl>
                                              <p:pRg st="4" end="4"/>
                                            </p:txEl>
                                          </p:spTgt>
                                        </p:tgtEl>
                                        <p:attrNameLst>
                                          <p:attrName>style.visibility</p:attrName>
                                        </p:attrNameLst>
                                      </p:cBhvr>
                                      <p:to>
                                        <p:strVal val="visible"/>
                                      </p:to>
                                    </p:set>
                                    <p:animEffect transition="in" filter="fade">
                                      <p:cBhvr>
                                        <p:cTn id="24"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EC317E35-AC66-538C-932E-02B1EFBB37F1}" type="slidenum">
              <a:rPr lang="en-US" sz="1200" dirty="0">
                <a:solidFill>
                  <a:srgbClr val="555B66"/>
                </a:solidFill>
                <a:latin typeface="Calibri"/>
              </a:rPr>
              <a:t>75</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Rent 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W_rent_is.png"/>
          <p:cNvPicPr>
            <a:picLocks noChangeAspect="1"/>
          </p:cNvPicPr>
          <p:nvPr/>
        </p:nvPicPr>
        <p:blipFill>
          <a:blip r:embed="rId3"/>
          <a:stretch>
            <a:fillRect/>
          </a:stretch>
        </p:blipFill>
        <p:spPr>
          <a:xfrm>
            <a:off x="1527048" y="2057400"/>
            <a:ext cx="9144000" cy="2697480"/>
          </a:xfrm>
          <a:prstGeom prst="rect">
            <a:avLst/>
          </a:prstGeom>
        </p:spPr>
      </p:pic>
      <p:sp>
        <p:nvSpPr>
          <p:cNvPr id="8" name="Rectangle 7"/>
          <p:cNvSpPr/>
          <p:nvPr/>
        </p:nvSpPr>
        <p:spPr>
          <a:xfrm>
            <a:off x="3136392" y="3593592"/>
            <a:ext cx="6007608" cy="420624"/>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3655CD08-94F7-5EC5-BB1A-BBA38EEAC6D6}" type="slidenum">
              <a:rPr lang="en-US" sz="1200" dirty="0">
                <a:solidFill>
                  <a:srgbClr val="555B66"/>
                </a:solidFill>
                <a:latin typeface="Calibri"/>
              </a:rPr>
              <a:t>76</a:t>
            </a:fld>
            <a:endParaRPr lang="en-US" sz="1200" dirty="0">
              <a:solidFill>
                <a:srgbClr val="555B66"/>
              </a:solidFill>
              <a:latin typeface="Calibri"/>
            </a:endParaRPr>
          </a:p>
        </p:txBody>
      </p:sp>
      <p:grpSp>
        <p:nvGrpSpPr>
          <p:cNvPr id="9660" name="PollBreakBadge"/>
          <p:cNvGrpSpPr/>
          <p:nvPr/>
        </p:nvGrpSpPr>
        <p:grpSpPr>
          <a:xfrm>
            <a:off x="9361444" y="6190030"/>
            <a:ext cx="2697480" cy="487009"/>
            <a:chOff x="9361444" y="6190030"/>
            <a:chExt cx="2697480" cy="487009"/>
          </a:xfrm>
        </p:grpSpPr>
        <p:sp>
          <p:nvSpPr>
            <p:cNvPr id="966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6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Ceiling: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09066" y="153162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401056" y="56692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188720" y="3585052"/>
            <a:ext cx="787977" cy="831084"/>
          </a:xfrm>
          <a:custGeom>
            <a:avLst/>
            <a:gdLst/>
            <a:ahLst/>
            <a:cxnLst/>
            <a:rect l="0" t="0" r="r" b="b"/>
            <a:pathLst>
              <a:path w="787977" h="831084">
                <a:moveTo>
                  <a:pt x="0" y="831084"/>
                </a:moveTo>
                <a:lnTo>
                  <a:pt x="0" y="0"/>
                </a:lnTo>
                <a:lnTo>
                  <a:pt x="787977" y="0"/>
                </a:lnTo>
                <a:lnTo>
                  <a:pt x="787977" y="831084"/>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976697" y="2892482"/>
            <a:ext cx="759323" cy="692570"/>
          </a:xfrm>
          <a:custGeom>
            <a:avLst/>
            <a:gdLst/>
            <a:ahLst/>
            <a:cxnLst/>
            <a:rect l="0" t="0" r="r" b="b"/>
            <a:pathLst>
              <a:path w="759323" h="692570">
                <a:moveTo>
                  <a:pt x="0" y="692570"/>
                </a:moveTo>
                <a:lnTo>
                  <a:pt x="759323" y="692570"/>
                </a:lnTo>
                <a:lnTo>
                  <a:pt x="0" y="0"/>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976697" y="3585052"/>
            <a:ext cx="759323" cy="831084"/>
          </a:xfrm>
          <a:custGeom>
            <a:avLst/>
            <a:gdLst/>
            <a:ahLst/>
            <a:cxnLst/>
            <a:rect l="0" t="0" r="r" b="b"/>
            <a:pathLst>
              <a:path w="759323" h="831084">
                <a:moveTo>
                  <a:pt x="0" y="0"/>
                </a:moveTo>
                <a:lnTo>
                  <a:pt x="759323" y="0"/>
                </a:lnTo>
                <a:lnTo>
                  <a:pt x="0" y="831084"/>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a:off x="1188720" y="2173778"/>
            <a:ext cx="3630999"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98685" y="5073631"/>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82633" y="1768740"/>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8" name="Connector 17"/>
          <p:cNvCxnSpPr/>
          <p:nvPr/>
        </p:nvCxnSpPr>
        <p:spPr>
          <a:xfrm>
            <a:off x="1188720" y="3585052"/>
            <a:ext cx="15473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736020" y="3585052"/>
            <a:ext cx="0" cy="203850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13816" y="3447892"/>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p>
        </p:txBody>
      </p:sp>
      <p:sp>
        <p:nvSpPr>
          <p:cNvPr id="21" name="TextBox 20"/>
          <p:cNvSpPr txBox="1"/>
          <p:nvPr/>
        </p:nvSpPr>
        <p:spPr>
          <a:xfrm>
            <a:off x="2566094" y="567842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cxnSp>
        <p:nvCxnSpPr>
          <p:cNvPr id="22" name="Connector 21"/>
          <p:cNvCxnSpPr/>
          <p:nvPr/>
        </p:nvCxnSpPr>
        <p:spPr>
          <a:xfrm>
            <a:off x="1188720" y="4416136"/>
            <a:ext cx="3221251" cy="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8066" y="4278976"/>
            <a:ext cx="58750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max</a:t>
            </a:r>
          </a:p>
        </p:txBody>
      </p:sp>
      <p:cxnSp>
        <p:nvCxnSpPr>
          <p:cNvPr id="24" name="Connector 23"/>
          <p:cNvCxnSpPr/>
          <p:nvPr/>
        </p:nvCxnSpPr>
        <p:spPr>
          <a:xfrm flipV="1">
            <a:off x="1976697" y="4416136"/>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59146" y="5678424"/>
            <a:ext cx="43510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S</a:t>
            </a:r>
          </a:p>
        </p:txBody>
      </p:sp>
      <p:cxnSp>
        <p:nvCxnSpPr>
          <p:cNvPr id="26" name="Connector 25"/>
          <p:cNvCxnSpPr/>
          <p:nvPr/>
        </p:nvCxnSpPr>
        <p:spPr>
          <a:xfrm flipV="1">
            <a:off x="3237460" y="4416136"/>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000860" y="5678424"/>
            <a:ext cx="473201"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D</a:t>
            </a:r>
          </a:p>
        </p:txBody>
      </p:sp>
      <p:sp>
        <p:nvSpPr>
          <p:cNvPr id="28" name="Left Brace 27"/>
          <p:cNvSpPr/>
          <p:nvPr/>
        </p:nvSpPr>
        <p:spPr>
          <a:xfrm rot="16200000">
            <a:off x="2524782" y="5413802"/>
            <a:ext cx="164592" cy="1260763"/>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5478" y="6181344"/>
            <a:ext cx="2743200" cy="310896"/>
          </a:xfrm>
          <a:prstGeom prst="rect">
            <a:avLst/>
          </a:prstGeom>
          <a:noFill/>
        </p:spPr>
        <p:txBody>
          <a:bodyPr wrap="square" lIns="0" tIns="0" rIns="0" bIns="0">
            <a:spAutoFit/>
          </a:bodyPr>
          <a:lstStyle/>
          <a:p>
            <a:pPr algn="ctr"/>
            <a:r>
              <a:rPr sz="1400" b="1" i="1" u="none">
                <a:solidFill>
                  <a:srgbClr val="A2162A"/>
                </a:solidFill>
                <a:latin typeface="Calibri"/>
              </a:rPr>
              <a:t>Q</a:t>
            </a:r>
            <a:r>
              <a:rPr sz="1400" b="1" i="1" u="none" baseline="-25000">
                <a:solidFill>
                  <a:srgbClr val="A2162A"/>
                </a:solidFill>
                <a:latin typeface="Calibri"/>
              </a:rPr>
              <a:t>D</a:t>
            </a:r>
            <a:r>
              <a:rPr sz="1400" b="1" i="1" u="none">
                <a:solidFill>
                  <a:srgbClr val="A2162A"/>
                </a:solidFill>
                <a:latin typeface="Calibri"/>
              </a:rPr>
              <a:t> − Q</a:t>
            </a:r>
            <a:r>
              <a:rPr sz="1400" b="1" i="1" u="none" baseline="-25000">
                <a:solidFill>
                  <a:srgbClr val="A2162A"/>
                </a:solidFill>
                <a:latin typeface="Calibri"/>
              </a:rPr>
              <a:t>S</a:t>
            </a:r>
            <a:r>
              <a:rPr sz="1400" b="1" i="1" u="none">
                <a:solidFill>
                  <a:srgbClr val="A2162A"/>
                </a:solidFill>
                <a:latin typeface="Calibri"/>
              </a:rPr>
              <a:t> = shortage</a:t>
            </a:r>
          </a:p>
        </p:txBody>
      </p:sp>
      <p:sp>
        <p:nvSpPr>
          <p:cNvPr id="30" name="TextBox 29"/>
          <p:cNvSpPr txBox="1"/>
          <p:nvPr/>
        </p:nvSpPr>
        <p:spPr>
          <a:xfrm>
            <a:off x="1338349" y="3932959"/>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1" name="TextBox 30"/>
          <p:cNvSpPr txBox="1"/>
          <p:nvPr/>
        </p:nvSpPr>
        <p:spPr>
          <a:xfrm>
            <a:off x="1869130" y="3346496"/>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sp>
        <p:nvSpPr>
          <p:cNvPr id="32" name="TextBox 31"/>
          <p:cNvSpPr txBox="1"/>
          <p:nvPr/>
        </p:nvSpPr>
        <p:spPr>
          <a:xfrm>
            <a:off x="1869130" y="3760470"/>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3" name="TextBox 32"/>
          <p:cNvSpPr txBox="1"/>
          <p:nvPr/>
        </p:nvSpPr>
        <p:spPr>
          <a:xfrm>
            <a:off x="5989320" y="1600200"/>
            <a:ext cx="5806440" cy="365760"/>
          </a:xfrm>
          <a:prstGeom prst="rect">
            <a:avLst/>
          </a:prstGeom>
          <a:noFill/>
        </p:spPr>
        <p:txBody>
          <a:bodyPr wrap="square" lIns="0" tIns="0" rIns="0" bIns="0">
            <a:spAutoFit/>
          </a:bodyPr>
          <a:lstStyle/>
          <a:p>
            <a:pPr algn="l"/>
            <a:r>
              <a:rPr sz="2100" b="1" i="0" u="none">
                <a:solidFill>
                  <a:srgbClr val="0B2B4E"/>
                </a:solidFill>
                <a:latin typeface="Calibri"/>
              </a:rPr>
              <a:t>Welfare effects</a:t>
            </a:r>
          </a:p>
        </p:txBody>
      </p:sp>
      <p:sp>
        <p:nvSpPr>
          <p:cNvPr id="34" name="Rectangle 33"/>
          <p:cNvSpPr/>
          <p:nvPr/>
        </p:nvSpPr>
        <p:spPr>
          <a:xfrm>
            <a:off x="6126480" y="214884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2084832"/>
            <a:ext cx="5102352" cy="310896"/>
          </a:xfrm>
          <a:prstGeom prst="rect">
            <a:avLst/>
          </a:prstGeom>
          <a:noFill/>
        </p:spPr>
        <p:txBody>
          <a:bodyPr wrap="square" lIns="0" tIns="0" rIns="0" bIns="0">
            <a:spAutoFit/>
          </a:bodyPr>
          <a:lstStyle/>
          <a:p>
            <a:pPr algn="l"/>
            <a:r>
              <a:rPr sz="1800" b="0" i="0" u="none">
                <a:solidFill>
                  <a:srgbClr val="0B2B4E"/>
                </a:solidFill>
                <a:latin typeface="Calibri"/>
              </a:rPr>
              <a:t>Some renters win A — those who keep a place</a:t>
            </a:r>
          </a:p>
        </p:txBody>
      </p:sp>
      <p:sp>
        <p:nvSpPr>
          <p:cNvPr id="36" name="Right Triangle 35"/>
          <p:cNvSpPr/>
          <p:nvPr/>
        </p:nvSpPr>
        <p:spPr>
          <a:xfrm>
            <a:off x="6126480" y="265176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587752"/>
            <a:ext cx="5102352" cy="310896"/>
          </a:xfrm>
          <a:prstGeom prst="rect">
            <a:avLst/>
          </a:prstGeom>
          <a:noFill/>
        </p:spPr>
        <p:txBody>
          <a:bodyPr wrap="square" lIns="0" tIns="0" rIns="0" bIns="0">
            <a:spAutoFit/>
          </a:bodyPr>
          <a:lstStyle/>
          <a:p>
            <a:pPr algn="l"/>
            <a:r>
              <a:rPr sz="1800" b="0" i="0" u="none">
                <a:solidFill>
                  <a:srgbClr val="0B2B4E"/>
                </a:solidFill>
                <a:latin typeface="Calibri"/>
              </a:rPr>
              <a:t>Some renters lose B — they cannot find one</a:t>
            </a:r>
          </a:p>
        </p:txBody>
      </p:sp>
      <p:sp>
        <p:nvSpPr>
          <p:cNvPr id="38" name="Rectangle 37"/>
          <p:cNvSpPr/>
          <p:nvPr/>
        </p:nvSpPr>
        <p:spPr>
          <a:xfrm>
            <a:off x="6126480" y="3154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flipV="1">
            <a:off x="6327648" y="3154680"/>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3090672"/>
            <a:ext cx="5102352" cy="310896"/>
          </a:xfrm>
          <a:prstGeom prst="rect">
            <a:avLst/>
          </a:prstGeom>
          <a:noFill/>
        </p:spPr>
        <p:txBody>
          <a:bodyPr wrap="square" lIns="0" tIns="0" rIns="0" bIns="0">
            <a:spAutoFit/>
          </a:bodyPr>
          <a:lstStyle/>
          <a:p>
            <a:pPr algn="l"/>
            <a:r>
              <a:rPr sz="1800" b="0" i="0" u="none">
                <a:solidFill>
                  <a:srgbClr val="0B2B4E"/>
                </a:solidFill>
                <a:latin typeface="Calibri"/>
              </a:rPr>
              <a:t>Landlords lose A + C</a:t>
            </a:r>
          </a:p>
        </p:txBody>
      </p:sp>
      <p:sp>
        <p:nvSpPr>
          <p:cNvPr id="41" name="Right Triangle 40"/>
          <p:cNvSpPr/>
          <p:nvPr/>
        </p:nvSpPr>
        <p:spPr>
          <a:xfrm>
            <a:off x="6126480" y="365760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84962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689604"/>
            <a:ext cx="5102352" cy="310896"/>
          </a:xfrm>
          <a:prstGeom prst="rect">
            <a:avLst/>
          </a:prstGeom>
          <a:noFill/>
        </p:spPr>
        <p:txBody>
          <a:bodyPr wrap="square" lIns="0" tIns="0" rIns="0" bIns="0">
            <a:spAutoFit/>
          </a:bodyPr>
          <a:lstStyle/>
          <a:p>
            <a:pPr algn="l"/>
            <a:r>
              <a:rPr sz="1800" b="0" i="0" u="none">
                <a:solidFill>
                  <a:srgbClr val="0B2B4E"/>
                </a:solidFill>
                <a:latin typeface="Calibri"/>
              </a:rPr>
              <a:t>Deadweight loss: B + C</a:t>
            </a:r>
          </a:p>
        </p:txBody>
      </p:sp>
      <p:sp>
        <p:nvSpPr>
          <p:cNvPr id="44" name="Rectangle 4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7" name="TextBox 46"/>
          <p:cNvSpPr txBox="1"/>
          <p:nvPr/>
        </p:nvSpPr>
        <p:spPr>
          <a:xfrm>
            <a:off x="11475720" y="6583680"/>
            <a:ext cx="502920" cy="292608"/>
          </a:xfrm>
          <a:prstGeom prst="rect">
            <a:avLst/>
          </a:prstGeom>
          <a:noFill/>
        </p:spPr>
        <p:txBody>
          <a:bodyPr wrap="none" lIns="0" tIns="0" rIns="0" bIns="0">
            <a:spAutoFit/>
          </a:bodyPr>
          <a:lstStyle/>
          <a:p>
            <a:pPr algn="r"/>
            <a:fld id="{2D51E997-482C-5AB1-8E65-EB8009E358F8}" type="slidenum">
              <a:rPr lang="en-US" sz="1200" dirty="0">
                <a:solidFill>
                  <a:srgbClr val="555B66"/>
                </a:solidFill>
                <a:latin typeface="Calibri"/>
              </a:rPr>
              <a:t>77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5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500"/>
                                        <p:tgtEl>
                                          <p:spTgt spid="19"/>
                                        </p:tgtEl>
                                      </p:cBhvr>
                                    </p:animEffect>
                                  </p:childTnLst>
                                </p:cTn>
                              </p:par>
                              <p:par>
                                <p:cTn id="27" presetID="10"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500"/>
                                        <p:tgtEl>
                                          <p:spTgt spid="20"/>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0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00"/>
                                        <p:tgtEl>
                                          <p:spTgt spid="28"/>
                                        </p:tgtEl>
                                      </p:cBhvr>
                                    </p:animEffect>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500"/>
                                        <p:tgtEl>
                                          <p:spTgt spid="2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childTnLst>
                                </p:cTn>
                              </p:par>
                              <p:par>
                                <p:cTn id="68" presetID="10" presetClass="entr" presetSubtype="0"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fade">
                                      <p:cBhvr>
                                        <p:cTn id="75" dur="500"/>
                                        <p:tgtEl>
                                          <p:spTgt spid="12"/>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79" presetID="10" presetClass="entr" presetSubtype="0" fill="hold" nodeType="withEffect">
                                  <p:stCondLst>
                                    <p:cond delay="0"/>
                                  </p:stCondLst>
                                  <p:childTnLst>
                                    <p:set>
                                      <p:cBhvr>
                                        <p:cTn id="80" dur="1" fill="hold">
                                          <p:stCondLst>
                                            <p:cond delay="0"/>
                                          </p:stCondLst>
                                        </p:cTn>
                                        <p:tgtEl>
                                          <p:spTgt spid="13"/>
                                        </p:tgtEl>
                                        <p:attrNameLst>
                                          <p:attrName>style.visibility</p:attrName>
                                        </p:attrNameLst>
                                      </p:cBhvr>
                                      <p:to>
                                        <p:strVal val="visible"/>
                                      </p:to>
                                    </p:set>
                                    <p:animEffect transition="in" filter="fade">
                                      <p:cBhvr>
                                        <p:cTn id="81" dur="500"/>
                                        <p:tgtEl>
                                          <p:spTgt spid="13"/>
                                        </p:tgtEl>
                                      </p:cBhvr>
                                    </p:animEffect>
                                  </p:childTnLst>
                                </p:cTn>
                              </p:par>
                              <p:par>
                                <p:cTn id="82" presetID="10" presetClass="entr" presetSubtype="0" fill="hold"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500"/>
                                        <p:tgtEl>
                                          <p:spTgt spid="32"/>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00"/>
                                        <p:tgtEl>
                                          <p:spTgt spid="3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nodeType="click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500"/>
                                        <p:tgtEl>
                                          <p:spTgt spid="34"/>
                                        </p:tgtEl>
                                      </p:cBhvr>
                                    </p:animEffect>
                                  </p:childTnLst>
                                </p:cTn>
                              </p:par>
                              <p:par>
                                <p:cTn id="95" presetID="10" presetClass="entr" presetSubtype="0" fill="hold"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500"/>
                                        <p:tgtEl>
                                          <p:spTgt spid="35"/>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500"/>
                                        <p:tgtEl>
                                          <p:spTgt spid="36"/>
                                        </p:tgtEl>
                                      </p:cBhvr>
                                    </p:animEffect>
                                  </p:childTnLst>
                                </p:cTn>
                              </p:par>
                              <p:par>
                                <p:cTn id="103" presetID="10" presetClass="entr" presetSubtype="0" fill="hold" nodeType="with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00"/>
                                        <p:tgtEl>
                                          <p:spTgt spid="3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How Do Landlords React to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99032"/>
            <a:ext cx="3986784" cy="1929384"/>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Non-price adjustments (e.g. neglect maintenance)</a:t>
            </a:r>
          </a:p>
          <a:p>
            <a:pPr algn="l"/>
            <a:r>
              <a:rPr>
                <a:latin typeface="Calibri"/>
              </a:rPr>
              <a:t>Buy the tenants out (legal)</a:t>
            </a:r>
          </a:p>
          <a:p>
            <a:pPr algn="l"/>
            <a:r>
              <a:rPr>
                <a:latin typeface="Calibri"/>
              </a:rPr>
              <a:t>Harass the tenants (illegal)</a:t>
            </a:r>
          </a:p>
        </p:txBody>
      </p:sp>
      <p:pic>
        <p:nvPicPr>
          <p:cNvPr id="8" name="Picture 7" descr="NV_s67_5_9b9eb200.jpg"/>
          <p:cNvPicPr>
            <a:picLocks noChangeAspect="1"/>
          </p:cNvPicPr>
          <p:nvPr/>
        </p:nvPicPr>
        <p:blipFill>
          <a:blip r:embed="rId3"/>
          <a:stretch>
            <a:fillRect/>
          </a:stretch>
        </p:blipFill>
        <p:spPr>
          <a:xfrm>
            <a:off x="1901952" y="3392424"/>
            <a:ext cx="4041648" cy="3026664"/>
          </a:xfrm>
          <a:prstGeom prst="roundRect">
            <a:avLst>
              <a:gd name="adj" fmla="val 8000"/>
            </a:avLst>
          </a:prstGeom>
          <a:effectLst>
            <a:outerShdw blurRad="50800" dist="38100" dir="2700000" algn="tl" rotWithShape="0">
              <a:srgbClr val="000000">
                <a:alpha val="50000"/>
              </a:srgbClr>
            </a:outerShdw>
          </a:effectLst>
        </p:spPr>
      </p:pic>
      <p:pic>
        <p:nvPicPr>
          <p:cNvPr id="9" name="Picture 8" descr="NV_s67_4_868e46cb.jpg"/>
          <p:cNvPicPr>
            <a:picLocks noChangeAspect="1"/>
          </p:cNvPicPr>
          <p:nvPr/>
        </p:nvPicPr>
        <p:blipFill>
          <a:blip r:embed="rId4"/>
          <a:stretch>
            <a:fillRect/>
          </a:stretch>
        </p:blipFill>
        <p:spPr>
          <a:xfrm>
            <a:off x="7680960" y="1289304"/>
            <a:ext cx="3877056" cy="517550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919582EC-26A3-5FDE-9A63-332CE2516606}" type="slidenum">
              <a:rPr lang="en-US" sz="1200" dirty="0">
                <a:solidFill>
                  <a:srgbClr val="555B66"/>
                </a:solidFill>
                <a:latin typeface="Calibri"/>
              </a:rPr>
              <a:t>78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Cambridge, MA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89888"/>
            <a:ext cx="11338560" cy="384048"/>
          </a:xfrm>
          <a:prstGeom prst="rect">
            <a:avLst/>
          </a:prstGeom>
          <a:noFill/>
        </p:spPr>
        <p:txBody>
          <a:bodyPr wrap="square" lIns="0" tIns="0" rIns="0" bIns="0">
            <a:spAutoFit/>
          </a:bodyPr>
          <a:lstStyle/>
          <a:p>
            <a:pPr algn="l"/>
            <a:r>
              <a:rPr sz="2300" b="0" i="0" u="none">
                <a:solidFill>
                  <a:srgbClr val="0B2B4E"/>
                </a:solidFill>
                <a:latin typeface="Calibri"/>
              </a:rPr>
              <a:t>A natural experiment: rent control in Cambridge ended suddenly in 1995</a:t>
            </a:r>
          </a:p>
        </p:txBody>
      </p:sp>
      <p:grpSp>
        <p:nvGrpSpPr>
          <p:cNvPr id="113" name="Group pair 113"/>
          <p:cNvGrpSpPr/>
          <p:nvPr/>
        </p:nvGrpSpPr>
        <p:grpSpPr>
          <a:xfrm>
            <a:off x="2542032" y="1874519"/>
            <a:ext cx="7022592" cy="4672585"/>
            <a:chOff x="2542032" y="1874519"/>
            <a:chExt cx="7022592" cy="4672585"/>
          </a:xfrm>
        </p:grpSpPr>
        <p:pic>
          <p:nvPicPr>
            <p:cNvPr id="8" name="Picture 7" descr="NV_s68_5_5777e352.png"/>
            <p:cNvPicPr>
              <a:picLocks noChangeAspect="1"/>
            </p:cNvPicPr>
            <p:nvPr/>
          </p:nvPicPr>
          <p:blipFill>
            <a:blip r:embed="rId3"/>
            <a:stretch>
              <a:fillRect/>
            </a:stretch>
          </p:blipFill>
          <p:spPr>
            <a:xfrm>
              <a:off x="2542032" y="1874519"/>
              <a:ext cx="7022592" cy="4306824"/>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3063240" y="6272784"/>
              <a:ext cx="6080760" cy="274320"/>
            </a:xfrm>
            <a:prstGeom prst="rect">
              <a:avLst/>
            </a:prstGeom>
            <a:noFill/>
          </p:spPr>
          <p:txBody>
            <a:bodyPr wrap="square" lIns="0" tIns="0" rIns="0" bIns="0">
              <a:spAutoFit/>
            </a:bodyPr>
            <a:lstStyle/>
            <a:p>
              <a:pPr algn="ctr"/>
              <a:r>
                <a:rPr sz="1200" b="0" i="1" u="none">
                  <a:solidFill>
                    <a:srgbClr val="555B66"/>
                  </a:solidFill>
                  <a:latin typeface="Calibri"/>
                </a:rPr>
                <a:t>Source: Autor, Palmer and Pathak (2014)</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A60025ED-E43E-5422-B56E-66247596E0AB}" type="slidenum">
              <a:rPr lang="en-US" sz="1200" dirty="0">
                <a:solidFill>
                  <a:srgbClr val="555B66"/>
                </a:solidFill>
                <a:latin typeface="Calibri"/>
              </a:rPr>
              <a:t>79</a:t>
            </a:fld>
            <a:endParaRPr lang="en-US" sz="1200" dirty="0">
              <a:solidFill>
                <a:srgbClr val="555B66"/>
              </a:solidFill>
              <a:latin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What Happened When Rent Control Ended?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2039" y="1737360"/>
            <a:ext cx="10972800" cy="329184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“Natural” experiment: sudden end of rent control in Cambridge, MA in 1995</a:t>
            </a:r>
          </a:p>
          <a:p>
            <a:pPr algn="l"/>
            <a:r>
              <a:rPr>
                <a:latin typeface="Calibri"/>
              </a:rPr>
              <a:t>What do you think happened to:</a:t>
            </a:r>
          </a:p>
          <a:p>
            <a:pPr lvl="1" algn="l"/>
            <a:r>
              <a:rPr>
                <a:latin typeface="Calibri"/>
              </a:rPr>
              <a:t>Rental price for previously rent-controlled units?</a:t>
            </a:r>
          </a:p>
          <a:p>
            <a:pPr lvl="1" algn="l"/>
            <a:r>
              <a:rPr>
                <a:latin typeface="Calibri"/>
              </a:rPr>
              <a:t>Investment in previously rent-controlled units?</a:t>
            </a:r>
          </a:p>
          <a:p>
            <a:pPr lvl="1" algn="l"/>
            <a:r>
              <a:rPr>
                <a:latin typeface="Calibri"/>
              </a:rPr>
              <a:t>Price/investment for nearby never-controlled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6C154A0D-CC2C-5E04-B2ED-6C5EC1C1A25E}" type="slidenum">
              <a:rPr lang="en-US" sz="1200" dirty="0">
                <a:solidFill>
                  <a:srgbClr val="555B66"/>
                </a:solidFill>
                <a:latin typeface="Calibri"/>
              </a:rPr>
              <a:t>80</a:t>
            </a:fld>
            <a:endParaRPr lang="en-US" sz="1200" dirty="0">
              <a:solidFill>
                <a:srgbClr val="555B66"/>
              </a:solidFill>
              <a:latin typeface="Calibri"/>
            </a:endParaRPr>
          </a:p>
        </p:txBody>
      </p:sp>
      <p:grpSp>
        <p:nvGrpSpPr>
          <p:cNvPr id="9670" name="PollBreakBadge"/>
          <p:cNvGrpSpPr/>
          <p:nvPr/>
        </p:nvGrpSpPr>
        <p:grpSpPr>
          <a:xfrm>
            <a:off x="9361444" y="6190030"/>
            <a:ext cx="2697480" cy="487009"/>
            <a:chOff x="9361444" y="6190030"/>
            <a:chExt cx="2697480" cy="487009"/>
          </a:xfrm>
        </p:grpSpPr>
        <p:sp>
          <p:nvSpPr>
            <p:cNvPr id="967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7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9670"/>
                                        </p:tgtEl>
                                        <p:attrNameLst>
                                          <p:attrName>style.visibility</p:attrName>
                                        </p:attrNameLst>
                                      </p:cBhvr>
                                      <p:to>
                                        <p:strVal val="visible"/>
                                      </p:to>
                                    </p:set>
                                    <p:animEffect transition="in" filter="fade">
                                      <p:cBhvr>
                                        <p:cTn id="19" dur="500"/>
                                        <p:tgtEl>
                                          <p:spTgt spid="96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Results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 y="1508760"/>
            <a:ext cx="438912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decontrolled units</a:t>
            </a:r>
          </a:p>
        </p:txBody>
      </p:sp>
      <p:pic>
        <p:nvPicPr>
          <p:cNvPr id="8" name="Picture 7" descr="NV_s70_2_95e7216e.png"/>
          <p:cNvPicPr>
            <a:picLocks noChangeAspect="1"/>
          </p:cNvPicPr>
          <p:nvPr/>
        </p:nvPicPr>
        <p:blipFill>
          <a:blip r:embed="rId3"/>
          <a:stretch>
            <a:fillRect/>
          </a:stretch>
        </p:blipFill>
        <p:spPr>
          <a:xfrm>
            <a:off x="201168" y="1792224"/>
            <a:ext cx="4133087" cy="2578608"/>
          </a:xfrm>
          <a:prstGeom prst="rect">
            <a:avLst/>
          </a:prstGeom>
          <a:effectLst>
            <a:outerShdw blurRad="50800" dist="38100" dir="2700000" algn="tl" rotWithShape="0">
              <a:srgbClr val="000000">
                <a:alpha val="45000"/>
              </a:srgbClr>
            </a:outerShdw>
          </a:effectLst>
        </p:spPr>
      </p:pic>
      <p:cxnSp>
        <p:nvCxnSpPr>
          <p:cNvPr id="9" name="Connector 8"/>
          <p:cNvCxnSpPr/>
          <p:nvPr/>
        </p:nvCxnSpPr>
        <p:spPr>
          <a:xfrm flipV="1">
            <a:off x="1925905" y="2378341"/>
            <a:ext cx="2057451" cy="56703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0" y="1463040"/>
            <a:ext cx="384048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never-controlled units</a:t>
            </a:r>
          </a:p>
        </p:txBody>
      </p:sp>
      <p:pic>
        <p:nvPicPr>
          <p:cNvPr id="11" name="Picture 10" descr="NV_s70_4_5ecaba44.png"/>
          <p:cNvPicPr>
            <a:picLocks noChangeAspect="1"/>
          </p:cNvPicPr>
          <p:nvPr/>
        </p:nvPicPr>
        <p:blipFill>
          <a:blip r:embed="rId4"/>
          <a:stretch>
            <a:fillRect/>
          </a:stretch>
        </p:blipFill>
        <p:spPr>
          <a:xfrm>
            <a:off x="4837176" y="1783080"/>
            <a:ext cx="3429000" cy="2523744"/>
          </a:xfrm>
          <a:prstGeom prst="rect">
            <a:avLst/>
          </a:prstGeom>
          <a:effectLst>
            <a:outerShdw blurRad="50800" dist="38100" dir="2700000" algn="tl" rotWithShape="0">
              <a:srgbClr val="000000">
                <a:alpha val="45000"/>
              </a:srgbClr>
            </a:outerShdw>
          </a:effectLst>
        </p:spPr>
      </p:pic>
      <p:cxnSp>
        <p:nvCxnSpPr>
          <p:cNvPr id="12" name="Connector 11"/>
          <p:cNvCxnSpPr/>
          <p:nvPr/>
        </p:nvCxnSpPr>
        <p:spPr>
          <a:xfrm flipV="1">
            <a:off x="6314046" y="2868542"/>
            <a:ext cx="1828685" cy="501972"/>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120" name="Group pair 120"/>
          <p:cNvGrpSpPr/>
          <p:nvPr/>
        </p:nvGrpSpPr>
        <p:grpSpPr>
          <a:xfrm>
            <a:off x="8769096" y="1344168"/>
            <a:ext cx="3209544" cy="4041648"/>
            <a:chOff x="8769096" y="1344168"/>
            <a:chExt cx="3209544" cy="4041648"/>
          </a:xfrm>
        </p:grpSpPr>
        <p:sp>
          <p:nvSpPr>
            <p:cNvPr id="13" name="TextBox 12"/>
            <p:cNvSpPr txBox="1"/>
            <p:nvPr/>
          </p:nvSpPr>
          <p:spPr>
            <a:xfrm>
              <a:off x="8823960" y="1344168"/>
              <a:ext cx="3154680" cy="429768"/>
            </a:xfrm>
            <a:prstGeom prst="rect">
              <a:avLst/>
            </a:prstGeom>
            <a:noFill/>
          </p:spPr>
          <p:txBody>
            <a:bodyPr wrap="square" lIns="0" tIns="0" rIns="0" bIns="0">
              <a:spAutoFit/>
            </a:bodyPr>
            <a:lstStyle/>
            <a:p>
              <a:pPr algn="ctr"/>
              <a:r>
                <a:rPr sz="1400" b="1" i="1" u="none">
                  <a:solidFill>
                    <a:srgbClr val="0B2B4E"/>
                  </a:solidFill>
                  <a:latin typeface="Calibri"/>
                </a:rPr>
                <a:t>Impact on investment activities at decontrolled units ($1000s)</a:t>
              </a:r>
            </a:p>
          </p:txBody>
        </p:sp>
        <p:pic>
          <p:nvPicPr>
            <p:cNvPr id="14" name="Picture 13" descr="NV_s70_6_08feed5a.png"/>
            <p:cNvPicPr>
              <a:picLocks noChangeAspect="1"/>
            </p:cNvPicPr>
            <p:nvPr/>
          </p:nvPicPr>
          <p:blipFill>
            <a:blip r:embed="rId5"/>
            <a:stretch>
              <a:fillRect/>
            </a:stretch>
          </p:blipFill>
          <p:spPr>
            <a:xfrm>
              <a:off x="8769096" y="1801368"/>
              <a:ext cx="3090672" cy="3584448"/>
            </a:xfrm>
            <a:prstGeom prst="rect">
              <a:avLst/>
            </a:prstGeom>
            <a:effectLst>
              <a:outerShdw blurRad="50800" dist="38100" dir="2700000" algn="tl" rotWithShape="0">
                <a:srgbClr val="000000">
                  <a:alpha val="45000"/>
                </a:srgbClr>
              </a:outerShdw>
            </a:effectLst>
          </p:spPr>
        </p:pic>
      </p:grpSp>
      <p:cxnSp>
        <p:nvCxnSpPr>
          <p:cNvPr id="15" name="Connector 14"/>
          <p:cNvCxnSpPr/>
          <p:nvPr/>
        </p:nvCxnSpPr>
        <p:spPr>
          <a:xfrm flipV="1">
            <a:off x="9736476" y="3018288"/>
            <a:ext cx="1147566" cy="62548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615287" y="5788152"/>
            <a:ext cx="8961120" cy="502920"/>
          </a:xfrm>
          <a:prstGeom prst="roundRect">
            <a:avLst>
              <a:gd name="adj" fmla="val 30000"/>
            </a:avLst>
          </a:prstGeom>
          <a:solidFill>
            <a:srgbClr val="2E5AA8"/>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Calibri"/>
              </a:rPr>
              <a:t>Rents rose, and so did investment — including at the units next door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89B3304-CDE3-5386-93BE-6E7B3B0EFE8D}" type="slidenum">
              <a:rPr lang="en-US" sz="1200" dirty="0">
                <a:solidFill>
                  <a:srgbClr val="555B66"/>
                </a:solidFill>
                <a:latin typeface="Calibri"/>
              </a:rPr>
              <a:t>81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0"/>
                                        </p:tgtEl>
                                        <p:attrNameLst>
                                          <p:attrName>style.visibility</p:attrName>
                                        </p:attrNameLst>
                                      </p:cBhvr>
                                      <p:to>
                                        <p:strVal val="visible"/>
                                      </p:to>
                                    </p:set>
                                    <p:animEffect transition="in" filter="fade">
                                      <p:cBhvr>
                                        <p:cTn id="29" dur="500"/>
                                        <p:tgtEl>
                                          <p:spTgt spid="120"/>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Argentina Scrapped Its Rent Controls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w_headline_wsj_argentina.png"/>
          <p:cNvPicPr>
            <a:picLocks noChangeAspect="1"/>
          </p:cNvPicPr>
          <p:nvPr/>
        </p:nvPicPr>
        <p:blipFill>
          <a:blip r:embed="rId3"/>
          <a:stretch>
            <a:fillRect/>
          </a:stretch>
        </p:blipFill>
        <p:spPr>
          <a:xfrm>
            <a:off x="1417320" y="1508760"/>
            <a:ext cx="9326880" cy="1871224"/>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754919" y="3566160"/>
            <a:ext cx="10607040" cy="17373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Argentina repealed its rent-control law at the end of 2023</a:t>
            </a:r>
          </a:p>
          <a:p>
            <a:pPr algn="l"/>
            <a:r>
              <a:rPr>
                <a:latin typeface="Calibri"/>
              </a:rPr>
              <a:t>Reported since: many more flats listed, and rents lower in real terms</a:t>
            </a:r>
          </a:p>
          <a:p>
            <a:pPr algn="l"/>
            <a:r>
              <a:rPr>
                <a:latin typeface="Calibri"/>
              </a:rPr>
              <a:t>Not everyone gains — sitting tenants lost their protection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EBC46955-A002-5DA8-B6D4-80773DB8CA62}" type="slidenum">
              <a:rPr lang="en-US" sz="1200" dirty="0">
                <a:solidFill>
                  <a:srgbClr val="555B66"/>
                </a:solidFill>
                <a:latin typeface="Calibri"/>
              </a:rPr>
              <a:t>82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5" name="Rounded Rectangle 24"/>
          <p:cNvSpPr/>
          <p:nvPr/>
        </p:nvSpPr>
        <p:spPr>
          <a:xfrm>
            <a:off x="822960" y="563041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Externalities</a:t>
            </a:r>
          </a:p>
          <a:p>
            <a:pPr algn="l">
              <a:spcBef>
                <a:spcPts val="0"/>
              </a:spcBef>
              <a:buNone/>
            </a:pPr>
            <a:r>
              <a:rPr sz="2200">
                <a:solidFill>
                  <a:srgbClr val="555B66"/>
                </a:solidFill>
                <a:latin typeface="Calibri"/>
              </a:rPr>
              <a:t>Costs and benefits that land on people outside the deal</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9D3E3D20-3DC9-5483-AA90-4FD580D513B5}" type="slidenum">
              <a:rPr lang="en-US" sz="1200" dirty="0">
                <a:solidFill>
                  <a:srgbClr val="555B66"/>
                </a:solidFill>
                <a:latin typeface="Calibri"/>
              </a:rPr>
              <a:t>83</a:t>
            </a:fld>
            <a:endParaRPr lang="en-US" sz="1200" dirty="0">
              <a:solidFill>
                <a:srgbClr val="555B66"/>
              </a:solidFill>
              <a:latin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Externalities: Definitions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914400" y="1463040"/>
            <a:ext cx="10332720" cy="914400"/>
            <a:chOff x="914400" y="1463040"/>
            <a:chExt cx="10332720" cy="914400"/>
          </a:xfrm>
        </p:grpSpPr>
        <p:sp>
          <p:nvSpPr>
            <p:cNvPr id="7" name="Rounded Rectangle 6"/>
            <p:cNvSpPr/>
            <p:nvPr/>
          </p:nvSpPr>
          <p:spPr>
            <a:xfrm>
              <a:off x="914400" y="1463040"/>
              <a:ext cx="10332720" cy="91440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1572768"/>
              <a:ext cx="9966960" cy="694944"/>
            </a:xfrm>
            <a:prstGeom prst="rect">
              <a:avLst/>
            </a:prstGeom>
            <a:noFill/>
          </p:spPr>
          <p:txBody>
            <a:bodyPr wrap="square" lIns="45720" tIns="0" rIns="45720" bIns="0" anchor="ctr">
              <a:spAutoFit/>
            </a:bodyPr>
            <a:lstStyle/>
            <a:p>
              <a:pPr algn="l"/>
              <a:r>
                <a:rPr sz="2200" b="1" i="0" u="none">
                  <a:solidFill>
                    <a:srgbClr val="0B2B4E"/>
                  </a:solidFill>
                  <a:latin typeface="Calibri"/>
                </a:rPr>
                <a:t>Externality:  </a:t>
              </a:r>
              <a:r>
                <a:rPr sz="2200" b="0" i="0" u="none">
                  <a:solidFill>
                    <a:srgbClr val="0B2B4E"/>
                  </a:solidFill>
                  <a:latin typeface="Calibri"/>
                </a:rPr>
                <a:t>A cost or a benefit that falls on someone who is not part of the transaction</a:t>
              </a:r>
            </a:p>
          </p:txBody>
        </p:sp>
      </p:grpSp>
      <p:sp>
        <p:nvSpPr>
          <p:cNvPr id="9" name="TextBox 8"/>
          <p:cNvSpPr txBox="1"/>
          <p:nvPr/>
        </p:nvSpPr>
        <p:spPr>
          <a:xfrm>
            <a:off x="572039" y="2743200"/>
            <a:ext cx="11155680" cy="301752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b="1">
                <a:solidFill>
                  <a:srgbClr val="0070C0"/>
                </a:solidFill>
                <a:latin typeface="Calibri"/>
              </a:rPr>
              <a:t>Negative externality</a:t>
            </a:r>
            <a:r>
              <a:rPr>
                <a:latin typeface="Calibri"/>
              </a:rPr>
              <a:t> — A </a:t>
            </a:r>
            <a:r>
              <a:rPr b="1" u="sng">
                <a:latin typeface="Calibri"/>
              </a:rPr>
              <a:t>cost</a:t>
            </a:r>
            <a:r>
              <a:rPr>
                <a:latin typeface="Calibri"/>
              </a:rPr>
              <a:t> imposed on an outsider</a:t>
            </a:r>
          </a:p>
          <a:p>
            <a:pPr lvl="1" algn="l"/>
            <a:r>
              <a:rPr>
                <a:latin typeface="Calibri"/>
              </a:rPr>
              <a:t>Air pollution from coal-fired power plants</a:t>
            </a:r>
          </a:p>
          <a:p>
            <a:pPr lvl="1" algn="l"/>
            <a:r>
              <a:rPr>
                <a:latin typeface="Calibri"/>
              </a:rPr>
              <a:t>The external cost of gasoline is about $1.50 per gallon</a:t>
            </a:r>
          </a:p>
          <a:p>
            <a:pPr algn="l"/>
            <a:r>
              <a:rPr b="1">
                <a:solidFill>
                  <a:srgbClr val="0070C0"/>
                </a:solidFill>
                <a:latin typeface="Calibri"/>
              </a:rPr>
              <a:t>Positive externality</a:t>
            </a:r>
            <a:r>
              <a:rPr>
                <a:latin typeface="Calibri"/>
              </a:rPr>
              <a:t> — A </a:t>
            </a:r>
            <a:r>
              <a:rPr b="1" u="sng">
                <a:latin typeface="Calibri"/>
              </a:rPr>
              <a:t>benefit</a:t>
            </a:r>
            <a:r>
              <a:rPr>
                <a:latin typeface="Calibri"/>
              </a:rPr>
              <a:t> conferred on an outsider</a:t>
            </a:r>
          </a:p>
          <a:p>
            <a:pPr lvl="1" algn="l"/>
            <a:r>
              <a:rPr>
                <a:latin typeface="Calibri"/>
              </a:rPr>
              <a:t>Your neighbor's well-kept front yard is a pleasure for you to look at too</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D0F75885-460E-5C4B-B276-65C6A0E048D9}" type="slidenum">
              <a:rPr lang="en-US" sz="1200" dirty="0">
                <a:solidFill>
                  <a:srgbClr val="555B66"/>
                </a:solidFill>
                <a:latin typeface="Calibri"/>
              </a:rPr>
              <a:t>84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2" end="2"/>
                                            </p:txEl>
                                          </p:spTgt>
                                        </p:tgtEl>
                                        <p:attrNameLst>
                                          <p:attrName>style.visibility</p:attrName>
                                        </p:attrNameLst>
                                      </p:cBhvr>
                                      <p:to>
                                        <p:strVal val="visible"/>
                                      </p:to>
                                    </p:set>
                                    <p:animEffect transition="in" filter="fade">
                                      <p:cBhvr>
                                        <p:cTn id="10" dur="500"/>
                                        <p:tgtEl>
                                          <p:spTgt spid="9">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fade">
                                      <p:cBhvr>
                                        <p:cTn id="15" dur="500"/>
                                        <p:tgtEl>
                                          <p:spTgt spid="9">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fade">
                                      <p:cBhvr>
                                        <p:cTn id="18"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Correcting for Externalities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71600"/>
            <a:ext cx="7589520" cy="685800"/>
          </a:xfrm>
          <a:prstGeom prst="rect">
            <a:avLst/>
          </a:prstGeom>
          <a:noFill/>
        </p:spPr>
        <p:txBody>
          <a:bodyPr wrap="square" lIns="0" tIns="0" rIns="0" bIns="0">
            <a:spAutoFit/>
          </a:bodyPr>
          <a:lstStyle/>
          <a:p>
            <a:pPr algn="l"/>
            <a:r>
              <a:rPr sz="2100" b="0" i="0" u="none">
                <a:solidFill>
                  <a:srgbClr val="0B2B4E"/>
                </a:solidFill>
                <a:latin typeface="Calibri"/>
              </a:rPr>
              <a:t>The aim of the intervention: move the market toward the quantity that would be chosen if the outside cost or benefit were counted</a:t>
            </a:r>
          </a:p>
        </p:txBody>
      </p:sp>
      <p:sp>
        <p:nvSpPr>
          <p:cNvPr id="8" name="Rounded Rectangle 7"/>
          <p:cNvSpPr/>
          <p:nvPr/>
        </p:nvSpPr>
        <p:spPr>
          <a:xfrm>
            <a:off x="502920" y="233172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Price mechanisms:  taxes and subsidies</a:t>
            </a:r>
          </a:p>
        </p:txBody>
      </p:sp>
      <p:sp>
        <p:nvSpPr>
          <p:cNvPr id="9" name="TextBox 8"/>
          <p:cNvSpPr txBox="1"/>
          <p:nvPr/>
        </p:nvSpPr>
        <p:spPr>
          <a:xfrm>
            <a:off x="777240" y="2926080"/>
            <a:ext cx="7315200" cy="82296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Tax the activity that imposes the cost, subsidize the one that confers the benefit</a:t>
            </a:r>
          </a:p>
        </p:txBody>
      </p:sp>
      <p:sp>
        <p:nvSpPr>
          <p:cNvPr id="10" name="Rounded Rectangle 9"/>
          <p:cNvSpPr/>
          <p:nvPr/>
        </p:nvSpPr>
        <p:spPr>
          <a:xfrm>
            <a:off x="502920" y="379476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Quantity mechanisms:  quotas and mandates</a:t>
            </a:r>
          </a:p>
        </p:txBody>
      </p:sp>
      <p:sp>
        <p:nvSpPr>
          <p:cNvPr id="11" name="TextBox 10"/>
          <p:cNvSpPr txBox="1"/>
          <p:nvPr/>
        </p:nvSpPr>
        <p:spPr>
          <a:xfrm>
            <a:off x="777240" y="4434840"/>
            <a:ext cx="7315200" cy="1463040"/>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r>
              <a:rPr b="1">
                <a:latin typeface="Calibri"/>
              </a:rPr>
              <a:t>Negative externality — cap it:</a:t>
            </a:r>
            <a:r>
              <a:rPr>
                <a:latin typeface="Calibri"/>
              </a:rPr>
              <a:t> a limit on the tonnes of sulphur dioxide a power plant may emit in a year</a:t>
            </a:r>
          </a:p>
          <a:p>
            <a:pPr algn="l"/>
            <a:r>
              <a:rPr b="1">
                <a:latin typeface="Calibri"/>
              </a:rPr>
              <a:t>Positive externality — require it:</a:t>
            </a:r>
            <a:r>
              <a:rPr>
                <a:latin typeface="Calibri"/>
              </a:rPr>
              <a:t> childhood vaccination as a condition of school entry</a:t>
            </a:r>
          </a:p>
        </p:txBody>
      </p:sp>
      <p:pic>
        <p:nvPicPr>
          <p:cNvPr id="12" name="Picture 11" descr="NV_s73_4_e69d8d25.png"/>
          <p:cNvPicPr>
            <a:picLocks noChangeAspect="1"/>
          </p:cNvPicPr>
          <p:nvPr/>
        </p:nvPicPr>
        <p:blipFill>
          <a:blip r:embed="rId3"/>
          <a:stretch>
            <a:fillRect/>
          </a:stretch>
        </p:blipFill>
        <p:spPr>
          <a:xfrm>
            <a:off x="8549640" y="1417320"/>
            <a:ext cx="2926080" cy="4585965"/>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A2ADB6C1-50E7-5338-8389-6273BB9D5E18}" type="slidenum">
              <a:rPr lang="en-US" sz="1200" dirty="0">
                <a:solidFill>
                  <a:srgbClr val="555B66"/>
                </a:solidFill>
                <a:latin typeface="Calibri"/>
              </a:rPr>
              <a:t>85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xEl>
                                              <p:pRg st="0" end="0"/>
                                            </p:txEl>
                                          </p:spTgt>
                                        </p:tgtEl>
                                        <p:attrNameLst>
                                          <p:attrName>style.visibility</p:attrName>
                                        </p:attrNameLst>
                                      </p:cBhvr>
                                      <p:to>
                                        <p:strVal val="visible"/>
                                      </p:to>
                                    </p:set>
                                    <p:animEffect transition="in" filter="fade">
                                      <p:cBhvr>
                                        <p:cTn id="18" dur="500"/>
                                        <p:tgtEl>
                                          <p:spTgt spid="11">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1" end="1"/>
                                            </p:txEl>
                                          </p:spTgt>
                                        </p:tgtEl>
                                        <p:attrNameLst>
                                          <p:attrName>style.visibility</p:attrName>
                                        </p:attrNameLst>
                                      </p:cBhvr>
                                      <p:to>
                                        <p:strVal val="visible"/>
                                      </p:to>
                                    </p:set>
                                    <p:animEffect transition="in" filter="fade">
                                      <p:cBhvr>
                                        <p:cTn id="23" dur="500"/>
                                        <p:tgtEl>
                                          <p:spTgt spid="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Externality: Gasoline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103120" y="1664208"/>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03120" y="5806440"/>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0515" y="1531620"/>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6592633" y="5852159"/>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2103120" y="2270760"/>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379208" y="4242816"/>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2103120" y="3225393"/>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03120" y="2756915"/>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3120" y="3884874"/>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744648" y="3884874"/>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88973" y="5861303"/>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1147190" y="3747714"/>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5685212" y="3825438"/>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2103120" y="353899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64320" y="3538993"/>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80095" y="5861303"/>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TextBox 22"/>
          <p:cNvSpPr txBox="1"/>
          <p:nvPr/>
        </p:nvSpPr>
        <p:spPr>
          <a:xfrm>
            <a:off x="1490090" y="3401833"/>
            <a:ext cx="5398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Ext</a:t>
            </a:r>
          </a:p>
        </p:txBody>
      </p:sp>
      <p:sp>
        <p:nvSpPr>
          <p:cNvPr id="24" name="Oval 23"/>
          <p:cNvSpPr/>
          <p:nvPr/>
        </p:nvSpPr>
        <p:spPr>
          <a:xfrm>
            <a:off x="4904884" y="3479557"/>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2103120" y="5143500"/>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690115" y="5006340"/>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7" name="TextBox 26"/>
          <p:cNvSpPr txBox="1"/>
          <p:nvPr/>
        </p:nvSpPr>
        <p:spPr>
          <a:xfrm>
            <a:off x="7516368" y="4937760"/>
            <a:ext cx="1517904" cy="49377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8" name="TextBox 27"/>
          <p:cNvSpPr txBox="1"/>
          <p:nvPr/>
        </p:nvSpPr>
        <p:spPr>
          <a:xfrm>
            <a:off x="6885432" y="2203704"/>
            <a:ext cx="1947672" cy="566928"/>
          </a:xfrm>
          <a:prstGeom prst="rect">
            <a:avLst/>
          </a:prstGeom>
          <a:noFill/>
        </p:spPr>
        <p:txBody>
          <a:bodyPr wrap="square" lIns="0" tIns="0" rIns="0" bIns="0">
            <a:spAutoFit/>
          </a:bodyPr>
          <a:lstStyle/>
          <a:p>
            <a:pPr algn="l"/>
            <a:r>
              <a:rPr sz="1700" b="1" i="1" u="none">
                <a:solidFill>
                  <a:srgbClr val="E09F3E"/>
                </a:solidFill>
                <a:latin typeface="Calibri"/>
              </a:rPr>
              <a:t>Social marginal cost
SMC = MC</a:t>
            </a:r>
            <a:r>
              <a:rPr sz="1700" b="1" i="1" u="none" baseline="-25000">
                <a:solidFill>
                  <a:srgbClr val="E09F3E"/>
                </a:solidFill>
                <a:latin typeface="Calibri"/>
              </a:rPr>
              <a:t>I</a:t>
            </a:r>
            <a:r>
              <a:rPr sz="1700" b="1" i="1" u="none">
                <a:solidFill>
                  <a:srgbClr val="E09F3E"/>
                </a:solidFill>
                <a:latin typeface="Calibri"/>
              </a:rPr>
              <a:t> + EMC</a:t>
            </a:r>
          </a:p>
        </p:txBody>
      </p:sp>
      <p:sp>
        <p:nvSpPr>
          <p:cNvPr id="29" name="TextBox 28"/>
          <p:cNvSpPr txBox="1"/>
          <p:nvPr/>
        </p:nvSpPr>
        <p:spPr>
          <a:xfrm>
            <a:off x="7424927" y="3017520"/>
            <a:ext cx="1947672"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30" name="Connector 29"/>
          <p:cNvCxnSpPr/>
          <p:nvPr/>
        </p:nvCxnSpPr>
        <p:spPr>
          <a:xfrm flipV="1">
            <a:off x="3419272" y="4166768"/>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57800" y="2551176"/>
            <a:ext cx="1179576" cy="521207"/>
          </a:xfrm>
          <a:prstGeom prst="rect">
            <a:avLst/>
          </a:prstGeom>
          <a:noFill/>
        </p:spPr>
        <p:txBody>
          <a:bodyPr wrap="square" lIns="0" tIns="0" rIns="0" bIns="0">
            <a:spAutoFit/>
          </a:bodyPr>
          <a:lstStyle/>
          <a:p>
            <a:pPr algn="l"/>
            <a:r>
              <a:rPr sz="1700" b="1" i="0" u="none">
                <a:solidFill>
                  <a:srgbClr val="7030A0"/>
                </a:solidFill>
                <a:latin typeface="Calibri"/>
              </a:rPr>
              <a:t>EMC = $1.50 
per gallon</a:t>
            </a:r>
          </a:p>
        </p:txBody>
      </p:sp>
      <p:grpSp>
        <p:nvGrpSpPr>
          <p:cNvPr id="137" name="Group pair 137"/>
          <p:cNvGrpSpPr/>
          <p:nvPr/>
        </p:nvGrpSpPr>
        <p:grpSpPr>
          <a:xfrm>
            <a:off x="8001000" y="3977639"/>
            <a:ext cx="3794760" cy="1691640"/>
            <a:chOff x="8001000" y="3977639"/>
            <a:chExt cx="3794760" cy="1691640"/>
          </a:xfrm>
        </p:grpSpPr>
        <p:sp>
          <p:nvSpPr>
            <p:cNvPr id="32" name="Rounded Rectangle 31"/>
            <p:cNvSpPr/>
            <p:nvPr/>
          </p:nvSpPr>
          <p:spPr>
            <a:xfrm>
              <a:off x="8001000" y="3977639"/>
              <a:ext cx="3794760" cy="169164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83880" y="4087367"/>
              <a:ext cx="3429000" cy="1472184"/>
            </a:xfrm>
            <a:prstGeom prst="rect">
              <a:avLst/>
            </a:prstGeom>
            <a:noFill/>
          </p:spPr>
          <p:txBody>
            <a:bodyPr wrap="square" lIns="45720" tIns="0" rIns="45720" bIns="0" anchor="ctr">
              <a:spAutoFit/>
            </a:bodyPr>
            <a:lstStyle/>
            <a:p>
              <a:pPr algn="l"/>
              <a:r>
                <a:rPr sz="1800" b="0" i="1" u="none">
                  <a:solidFill>
                    <a:srgbClr val="0B2B4E"/>
                  </a:solidFill>
                  <a:latin typeface="Calibri"/>
                </a:rPr>
                <a:t>Drivers weigh only their own cost, so the market settles at Q</a:t>
              </a:r>
              <a:r>
                <a:rPr sz="1800" b="0" i="1" u="none" baseline="-25000">
                  <a:solidFill>
                    <a:srgbClr val="0B2B4E"/>
                  </a:solidFill>
                  <a:latin typeface="Calibri"/>
                </a:rPr>
                <a:t>Market</a:t>
              </a:r>
              <a:r>
                <a:rPr sz="1800" b="0" i="1" u="none">
                  <a:solidFill>
                    <a:srgbClr val="0B2B4E"/>
                  </a:solidFill>
                  <a:latin typeface="Calibri"/>
                </a:rPr>
                <a:t>. Counting the cost borne by everyone else, the efficient quantity is the smaller Q</a:t>
              </a:r>
              <a:r>
                <a:rPr sz="1800" b="0" i="1" u="none" baseline="-25000">
                  <a:solidFill>
                    <a:srgbClr val="0B2B4E"/>
                  </a:solidFill>
                  <a:latin typeface="Calibri"/>
                </a:rPr>
                <a:t>Ext</a:t>
              </a:r>
              <a:r>
                <a:rPr sz="1800" b="0" i="1" u="none">
                  <a:solidFill>
                    <a:srgbClr val="0B2B4E"/>
                  </a:solidFill>
                  <a:latin typeface="Calibri"/>
                </a:rPr>
                <a:t>.</a:t>
              </a:r>
            </a:p>
          </p:txBody>
        </p:sp>
      </p:grpSp>
      <p:sp>
        <p:nvSpPr>
          <p:cNvPr id="34" name="Rectangle 3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7" name="TextBox 36"/>
          <p:cNvSpPr txBox="1"/>
          <p:nvPr/>
        </p:nvSpPr>
        <p:spPr>
          <a:xfrm>
            <a:off x="11475720" y="6583680"/>
            <a:ext cx="502920" cy="292608"/>
          </a:xfrm>
          <a:prstGeom prst="rect">
            <a:avLst/>
          </a:prstGeom>
          <a:noFill/>
        </p:spPr>
        <p:txBody>
          <a:bodyPr wrap="none" lIns="0" tIns="0" rIns="0" bIns="0">
            <a:spAutoFit/>
          </a:bodyPr>
          <a:lstStyle/>
          <a:p>
            <a:pPr algn="r"/>
            <a:fld id="{BB114F74-4707-5ABC-A309-223687E85D1E}" type="slidenum">
              <a:rPr lang="en-US" sz="1200" dirty="0">
                <a:solidFill>
                  <a:srgbClr val="555B66"/>
                </a:solidFill>
                <a:latin typeface="Calibri"/>
              </a:rPr>
              <a:t>86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500"/>
                                        <p:tgtEl>
                                          <p:spTgt spid="25"/>
                                        </p:tgtEl>
                                      </p:cBhvr>
                                    </p:animEffect>
                                  </p:childTnLst>
                                </p:cTn>
                              </p:par>
                              <p:par>
                                <p:cTn id="41" presetID="10"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500"/>
                                        <p:tgtEl>
                                          <p:spTgt spid="26"/>
                                        </p:tgtEl>
                                      </p:cBhvr>
                                    </p:animEffect>
                                  </p:childTnLst>
                                </p:cTn>
                              </p:par>
                              <p:par>
                                <p:cTn id="44" presetID="10" presetClass="entr" presetSubtype="0"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5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00"/>
                                        <p:tgtEl>
                                          <p:spTgt spid="30"/>
                                        </p:tgtEl>
                                      </p:cBhvr>
                                    </p:animEffect>
                                  </p:childTnLst>
                                </p:cTn>
                              </p:par>
                              <p:par>
                                <p:cTn id="60" presetID="10" presetClass="entr" presetSubtype="0" fill="hold" nodeType="withEffect">
                                  <p:stCondLst>
                                    <p:cond delay="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500"/>
                                        <p:tgtEl>
                                          <p:spTgt spid="3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37"/>
                                        </p:tgtEl>
                                        <p:attrNameLst>
                                          <p:attrName>style.visibility</p:attrName>
                                        </p:attrNameLst>
                                      </p:cBhvr>
                                      <p:to>
                                        <p:strVal val="visible"/>
                                      </p:to>
                                    </p:set>
                                    <p:animEffect transition="in" filter="fade">
                                      <p:cBhvr>
                                        <p:cTn id="84"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Carbon Tax to Correct the Negative Externality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103120" y="1664208"/>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03120" y="5806440"/>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0515" y="1531620"/>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6592633" y="5852159"/>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2103120" y="2270760"/>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50024" y="4151376"/>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2103120" y="3225393"/>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03120" y="2756915"/>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3120" y="3884874"/>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744648" y="3884874"/>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88973" y="5861303"/>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1147190" y="3747714"/>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5685212" y="3825438"/>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2103120" y="353899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64320" y="3538993"/>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680095" y="5861303"/>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Oval 22"/>
          <p:cNvSpPr/>
          <p:nvPr/>
        </p:nvSpPr>
        <p:spPr>
          <a:xfrm>
            <a:off x="4904884" y="3479557"/>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2103120" y="5143500"/>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90115" y="5006340"/>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6" name="TextBox 25"/>
          <p:cNvSpPr txBox="1"/>
          <p:nvPr/>
        </p:nvSpPr>
        <p:spPr>
          <a:xfrm>
            <a:off x="4261104" y="5221224"/>
            <a:ext cx="3291840" cy="31089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7" name="TextBox 26"/>
          <p:cNvSpPr txBox="1"/>
          <p:nvPr/>
        </p:nvSpPr>
        <p:spPr>
          <a:xfrm>
            <a:off x="7022592" y="2368296"/>
            <a:ext cx="3977639" cy="566928"/>
          </a:xfrm>
          <a:prstGeom prst="rect">
            <a:avLst/>
          </a:prstGeom>
          <a:noFill/>
        </p:spPr>
        <p:txBody>
          <a:bodyPr wrap="square" lIns="0" tIns="0" rIns="0" bIns="0">
            <a:spAutoFit/>
          </a:bodyPr>
          <a:lstStyle/>
          <a:p>
            <a:pPr algn="l"/>
            <a:r>
              <a:rPr sz="1700" b="1" i="1" u="none">
                <a:solidFill>
                  <a:srgbClr val="E09F3E"/>
                </a:solidFill>
                <a:latin typeface="Calibri"/>
              </a:rPr>
              <a:t>Social marginal cost
SMC = MC</a:t>
            </a:r>
            <a:r>
              <a:rPr sz="1700" b="1" i="1" u="none" baseline="-25000">
                <a:solidFill>
                  <a:srgbClr val="E09F3E"/>
                </a:solidFill>
                <a:latin typeface="Calibri"/>
              </a:rPr>
              <a:t>I</a:t>
            </a:r>
            <a:r>
              <a:rPr sz="1700" b="1" i="1" u="none">
                <a:solidFill>
                  <a:srgbClr val="E09F3E"/>
                </a:solidFill>
                <a:latin typeface="Calibri"/>
              </a:rPr>
              <a:t> + EMC</a:t>
            </a:r>
          </a:p>
        </p:txBody>
      </p:sp>
      <p:sp>
        <p:nvSpPr>
          <p:cNvPr id="28" name="TextBox 27"/>
          <p:cNvSpPr txBox="1"/>
          <p:nvPr/>
        </p:nvSpPr>
        <p:spPr>
          <a:xfrm>
            <a:off x="7424927" y="3035808"/>
            <a:ext cx="1883664"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29" name="Connector 28"/>
          <p:cNvCxnSpPr/>
          <p:nvPr/>
        </p:nvCxnSpPr>
        <p:spPr>
          <a:xfrm>
            <a:off x="2103120" y="420193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81352" y="4064773"/>
            <a:ext cx="348615" cy="274320"/>
          </a:xfrm>
          <a:prstGeom prst="rect">
            <a:avLst/>
          </a:prstGeom>
          <a:noFill/>
        </p:spPr>
        <p:txBody>
          <a:bodyPr wrap="square" lIns="0" tIns="0" rIns="0" bIns="0">
            <a:spAutoFit/>
          </a:bodyPr>
          <a:lstStyle/>
          <a:p>
            <a:pPr algn="r"/>
            <a:r>
              <a:rPr sz="1600" b="1" i="1">
                <a:solidFill>
                  <a:srgbClr val="C00000"/>
                </a:solidFill>
                <a:latin typeface="Calibri"/>
              </a:rPr>
              <a:t>P</a:t>
            </a:r>
            <a:r>
              <a:rPr sz="1600" b="1" i="1" baseline="-25000">
                <a:solidFill>
                  <a:srgbClr val="C00000"/>
                </a:solidFill>
                <a:latin typeface="Calibri"/>
              </a:rPr>
              <a:t>E</a:t>
            </a:r>
            <a:r>
              <a:rPr sz="1600" b="1" i="1" baseline="30000">
                <a:solidFill>
                  <a:srgbClr val="C00000"/>
                </a:solidFill>
                <a:latin typeface="Calibri"/>
              </a:rPr>
              <a:t>P</a:t>
            </a:r>
          </a:p>
        </p:txBody>
      </p:sp>
      <p:sp>
        <p:nvSpPr>
          <p:cNvPr id="31" name="TextBox 30"/>
          <p:cNvSpPr txBox="1"/>
          <p:nvPr/>
        </p:nvSpPr>
        <p:spPr>
          <a:xfrm>
            <a:off x="1681352" y="3401833"/>
            <a:ext cx="348615" cy="274320"/>
          </a:xfrm>
          <a:prstGeom prst="rect">
            <a:avLst/>
          </a:prstGeom>
          <a:noFill/>
        </p:spPr>
        <p:txBody>
          <a:bodyPr wrap="square" lIns="0" tIns="0" rIns="0" bIns="0">
            <a:spAutoFit/>
          </a:bodyPr>
          <a:lstStyle/>
          <a:p>
            <a:pPr algn="r"/>
            <a:r>
              <a:rPr sz="1600" b="1" i="1">
                <a:solidFill>
                  <a:srgbClr val="C00000"/>
                </a:solidFill>
                <a:latin typeface="Calibri"/>
              </a:rPr>
              <a:t>P</a:t>
            </a:r>
            <a:r>
              <a:rPr sz="1600" b="1" i="1" baseline="-25000">
                <a:solidFill>
                  <a:srgbClr val="C00000"/>
                </a:solidFill>
                <a:latin typeface="Calibri"/>
              </a:rPr>
              <a:t>E</a:t>
            </a:r>
            <a:r>
              <a:rPr sz="1600" b="1" i="1" baseline="30000">
                <a:solidFill>
                  <a:srgbClr val="C00000"/>
                </a:solidFill>
                <a:latin typeface="Calibri"/>
              </a:rPr>
              <a:t>C</a:t>
            </a:r>
          </a:p>
        </p:txBody>
      </p:sp>
      <p:cxnSp>
        <p:nvCxnSpPr>
          <p:cNvPr id="32" name="Connector 31"/>
          <p:cNvCxnSpPr/>
          <p:nvPr/>
        </p:nvCxnSpPr>
        <p:spPr>
          <a:xfrm flipV="1">
            <a:off x="3419272" y="4166768"/>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764024" y="2734056"/>
            <a:ext cx="2743200" cy="310896"/>
          </a:xfrm>
          <a:prstGeom prst="rect">
            <a:avLst/>
          </a:prstGeom>
          <a:noFill/>
        </p:spPr>
        <p:txBody>
          <a:bodyPr wrap="square" lIns="0" tIns="0" rIns="0" bIns="0">
            <a:spAutoFit/>
          </a:bodyPr>
          <a:lstStyle/>
          <a:p>
            <a:pPr algn="l"/>
            <a:r>
              <a:rPr sz="1700" b="1" i="0" u="none">
                <a:solidFill>
                  <a:srgbClr val="7030A0"/>
                </a:solidFill>
                <a:latin typeface="Calibri"/>
              </a:rPr>
              <a:t>Tax = EMC = $1.50</a:t>
            </a:r>
          </a:p>
        </p:txBody>
      </p:sp>
      <p:grpSp>
        <p:nvGrpSpPr>
          <p:cNvPr id="144" name="Group pair 144"/>
          <p:cNvGrpSpPr/>
          <p:nvPr/>
        </p:nvGrpSpPr>
        <p:grpSpPr>
          <a:xfrm>
            <a:off x="10012680" y="1463040"/>
            <a:ext cx="1965960" cy="2514600"/>
            <a:chOff x="10012680" y="1463040"/>
            <a:chExt cx="1965960" cy="2514600"/>
          </a:xfrm>
        </p:grpSpPr>
        <p:pic>
          <p:nvPicPr>
            <p:cNvPr id="34" name="Picture 33" descr="NV_s74_g13.g2.1_862b02c9.jpg"/>
            <p:cNvPicPr>
              <a:picLocks noChangeAspect="1"/>
            </p:cNvPicPr>
            <p:nvPr/>
          </p:nvPicPr>
          <p:blipFill>
            <a:blip r:embed="rId3"/>
            <a:stretch>
              <a:fillRect/>
            </a:stretch>
          </p:blipFill>
          <p:spPr>
            <a:xfrm>
              <a:off x="10287000" y="1463040"/>
              <a:ext cx="1417320" cy="2158941"/>
            </a:xfrm>
            <a:prstGeom prst="roundRect">
              <a:avLst>
                <a:gd name="adj" fmla="val 8000"/>
              </a:avLst>
            </a:prstGeom>
            <a:effectLst>
              <a:outerShdw blurRad="50800" dist="38100" dir="2700000" algn="tl" rotWithShape="0">
                <a:srgbClr val="000000">
                  <a:alpha val="50000"/>
                </a:srgbClr>
              </a:outerShdw>
            </a:effectLst>
          </p:spPr>
        </p:pic>
        <p:sp>
          <p:nvSpPr>
            <p:cNvPr id="35" name="TextBox 34"/>
            <p:cNvSpPr txBox="1"/>
            <p:nvPr/>
          </p:nvSpPr>
          <p:spPr>
            <a:xfrm>
              <a:off x="10012680" y="3703320"/>
              <a:ext cx="1965960" cy="274320"/>
            </a:xfrm>
            <a:prstGeom prst="rect">
              <a:avLst/>
            </a:prstGeom>
            <a:noFill/>
          </p:spPr>
          <p:txBody>
            <a:bodyPr wrap="square" lIns="0" tIns="0" rIns="0" bIns="0">
              <a:spAutoFit/>
            </a:bodyPr>
            <a:lstStyle/>
            <a:p>
              <a:pPr algn="ctr"/>
              <a:r>
                <a:rPr sz="1300" b="0" i="1" u="none">
                  <a:solidFill>
                    <a:srgbClr val="555B66"/>
                  </a:solidFill>
                  <a:latin typeface="Calibri"/>
                </a:rPr>
                <a:t>Arthur Pigou</a:t>
              </a:r>
            </a:p>
          </p:txBody>
        </p:sp>
      </p:grpSp>
      <p:sp>
        <p:nvSpPr>
          <p:cNvPr id="36" name="TextBox 35"/>
          <p:cNvSpPr txBox="1"/>
          <p:nvPr/>
        </p:nvSpPr>
        <p:spPr>
          <a:xfrm>
            <a:off x="502920" y="5961888"/>
            <a:ext cx="5120640" cy="274320"/>
          </a:xfrm>
          <a:prstGeom prst="rect">
            <a:avLst/>
          </a:prstGeom>
          <a:noFill/>
        </p:spPr>
        <p:txBody>
          <a:bodyPr wrap="square" lIns="0" tIns="0" rIns="0" bIns="0">
            <a:spAutoFit/>
          </a:bodyPr>
          <a:lstStyle/>
          <a:p>
            <a:pPr algn="l"/>
            <a:r>
              <a:rPr sz="1300" i="1">
                <a:solidFill>
                  <a:srgbClr val="C00000"/>
                </a:solidFill>
                <a:latin typeface="Calibri"/>
              </a:rPr>
              <a:t>P</a:t>
            </a:r>
            <a:r>
              <a:rPr sz="1300" i="1" baseline="-25000">
                <a:solidFill>
                  <a:srgbClr val="C00000"/>
                </a:solidFill>
                <a:latin typeface="Calibri"/>
              </a:rPr>
              <a:t>E</a:t>
            </a:r>
            <a:r>
              <a:rPr sz="1300" i="1" baseline="30000">
                <a:solidFill>
                  <a:srgbClr val="C00000"/>
                </a:solidFill>
                <a:latin typeface="Calibri"/>
              </a:rPr>
              <a:t>C</a:t>
            </a:r>
            <a:r>
              <a:rPr sz="1300" i="0">
                <a:solidFill>
                  <a:srgbClr val="C00000"/>
                </a:solidFill>
                <a:latin typeface="Calibri"/>
              </a:rPr>
              <a:t> : Price paid by consumer with tax on externality</a:t>
            </a:r>
          </a:p>
        </p:txBody>
      </p:sp>
      <p:sp>
        <p:nvSpPr>
          <p:cNvPr id="37" name="TextBox 36"/>
          <p:cNvSpPr txBox="1"/>
          <p:nvPr/>
        </p:nvSpPr>
        <p:spPr>
          <a:xfrm>
            <a:off x="502920" y="6236207"/>
            <a:ext cx="5120640" cy="274320"/>
          </a:xfrm>
          <a:prstGeom prst="rect">
            <a:avLst/>
          </a:prstGeom>
          <a:noFill/>
        </p:spPr>
        <p:txBody>
          <a:bodyPr wrap="square" lIns="0" tIns="0" rIns="0" bIns="0">
            <a:spAutoFit/>
          </a:bodyPr>
          <a:lstStyle/>
          <a:p>
            <a:pPr algn="l"/>
            <a:r>
              <a:rPr sz="1300" i="1">
                <a:solidFill>
                  <a:srgbClr val="C00000"/>
                </a:solidFill>
                <a:latin typeface="Calibri"/>
              </a:rPr>
              <a:t>P</a:t>
            </a:r>
            <a:r>
              <a:rPr sz="1300" i="1" baseline="-25000">
                <a:solidFill>
                  <a:srgbClr val="C00000"/>
                </a:solidFill>
                <a:latin typeface="Calibri"/>
              </a:rPr>
              <a:t>E</a:t>
            </a:r>
            <a:r>
              <a:rPr sz="1300" i="1" baseline="30000">
                <a:solidFill>
                  <a:srgbClr val="C00000"/>
                </a:solidFill>
                <a:latin typeface="Calibri"/>
              </a:rPr>
              <a:t>P</a:t>
            </a:r>
            <a:r>
              <a:rPr sz="1300" i="0">
                <a:solidFill>
                  <a:srgbClr val="C00000"/>
                </a:solidFill>
                <a:latin typeface="Calibri"/>
              </a:rPr>
              <a:t> : Price received by producer with tax on externality</a:t>
            </a:r>
          </a:p>
        </p:txBody>
      </p:sp>
      <p:grpSp>
        <p:nvGrpSpPr>
          <p:cNvPr id="143" name="Group pair 143"/>
          <p:cNvGrpSpPr/>
          <p:nvPr/>
        </p:nvGrpSpPr>
        <p:grpSpPr>
          <a:xfrm>
            <a:off x="8001000" y="4251960"/>
            <a:ext cx="3794760" cy="1417320"/>
            <a:chOff x="8001000" y="4251960"/>
            <a:chExt cx="3794760" cy="1417320"/>
          </a:xfrm>
        </p:grpSpPr>
        <p:sp>
          <p:nvSpPr>
            <p:cNvPr id="38" name="Rounded Rectangle 37"/>
            <p:cNvSpPr/>
            <p:nvPr/>
          </p:nvSpPr>
          <p:spPr>
            <a:xfrm>
              <a:off x="8001000" y="4251960"/>
              <a:ext cx="3794760" cy="14173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183880" y="4361688"/>
              <a:ext cx="3429000" cy="1197864"/>
            </a:xfrm>
            <a:prstGeom prst="rect">
              <a:avLst/>
            </a:prstGeom>
            <a:noFill/>
          </p:spPr>
          <p:txBody>
            <a:bodyPr wrap="square" lIns="45720" tIns="0" rIns="45720" bIns="0" anchor="ctr">
              <a:spAutoFit/>
            </a:bodyPr>
            <a:lstStyle/>
            <a:p>
              <a:pPr algn="l"/>
              <a:r>
                <a:rPr sz="1800" b="0" i="1" u="none">
                  <a:solidFill>
                    <a:srgbClr val="0B2B4E"/>
                  </a:solidFill>
                  <a:latin typeface="Calibri"/>
                </a:rPr>
                <a:t>A tax equal to the external cost makes each driver face the social marginal cost, and the market lands on Q</a:t>
              </a:r>
              <a:r>
                <a:rPr sz="1800" b="0" i="1" u="none" baseline="-25000">
                  <a:solidFill>
                    <a:srgbClr val="0B2B4E"/>
                  </a:solidFill>
                  <a:latin typeface="Calibri"/>
                </a:rPr>
                <a:t>Ext</a:t>
              </a:r>
              <a:r>
                <a:rPr sz="1800" b="0" i="1" u="none">
                  <a:solidFill>
                    <a:srgbClr val="0B2B4E"/>
                  </a:solidFill>
                  <a:latin typeface="Calibri"/>
                </a:rPr>
                <a:t> on its own.</a:t>
              </a:r>
            </a:p>
          </p:txBody>
        </p:sp>
      </p:grpSp>
      <p:sp>
        <p:nvSpPr>
          <p:cNvPr id="40" name="Rectangle 3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3" name="TextBox 42"/>
          <p:cNvSpPr txBox="1"/>
          <p:nvPr/>
        </p:nvSpPr>
        <p:spPr>
          <a:xfrm>
            <a:off x="11475720" y="6583680"/>
            <a:ext cx="502920" cy="292608"/>
          </a:xfrm>
          <a:prstGeom prst="rect">
            <a:avLst/>
          </a:prstGeom>
          <a:noFill/>
        </p:spPr>
        <p:txBody>
          <a:bodyPr wrap="none" lIns="0" tIns="0" rIns="0" bIns="0">
            <a:spAutoFit/>
          </a:bodyPr>
          <a:lstStyle/>
          <a:p>
            <a:pPr algn="r"/>
            <a:fld id="{5154735C-6D06-5F94-A242-8E28D2FC9792}" type="slidenum">
              <a:rPr lang="en-US" sz="1200" dirty="0">
                <a:solidFill>
                  <a:srgbClr val="555B66"/>
                </a:solidFill>
                <a:latin typeface="Calibri"/>
              </a:rPr>
              <a:t>87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500"/>
                                        <p:tgtEl>
                                          <p:spTgt spid="24"/>
                                        </p:tgtEl>
                                      </p:cBhvr>
                                    </p:animEffect>
                                  </p:childTnLst>
                                </p:cTn>
                              </p:par>
                              <p:par>
                                <p:cTn id="41" presetID="10"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par>
                                <p:cTn id="44" presetID="10" presetClass="entr" presetSubtype="0" fill="hold" nodeType="with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par>
                                <p:cTn id="60" presetID="10" presetClass="entr" presetSubtype="0" fill="hold" nodeType="withEffect">
                                  <p:stCondLst>
                                    <p:cond delay="0"/>
                                  </p:stCondLst>
                                  <p:childTnLst>
                                    <p:set>
                                      <p:cBhvr>
                                        <p:cTn id="61" dur="1" fill="hold">
                                          <p:stCondLst>
                                            <p:cond delay="0"/>
                                          </p:stCondLst>
                                        </p:cTn>
                                        <p:tgtEl>
                                          <p:spTgt spid="33"/>
                                        </p:tgtEl>
                                        <p:attrNameLst>
                                          <p:attrName>style.visibility</p:attrName>
                                        </p:attrNameLst>
                                      </p:cBhvr>
                                      <p:to>
                                        <p:strVal val="visible"/>
                                      </p:to>
                                    </p:set>
                                    <p:animEffect transition="in" filter="fade">
                                      <p:cBhvr>
                                        <p:cTn id="62" dur="500"/>
                                        <p:tgtEl>
                                          <p:spTgt spid="3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500"/>
                                        <p:tgtEl>
                                          <p:spTgt spid="31"/>
                                        </p:tgtEl>
                                      </p:cBhvr>
                                    </p:animEffect>
                                  </p:childTnLst>
                                </p:cTn>
                              </p:par>
                              <p:par>
                                <p:cTn id="77" presetID="10" presetClass="entr" presetSubtype="0" fill="hold"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500"/>
                                        <p:tgtEl>
                                          <p:spTgt spid="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44"/>
                                        </p:tgtEl>
                                        <p:attrNameLst>
                                          <p:attrName>style.visibility</p:attrName>
                                        </p:attrNameLst>
                                      </p:cBhvr>
                                      <p:to>
                                        <p:strVal val="visible"/>
                                      </p:to>
                                    </p:set>
                                    <p:animEffect transition="in" filter="fade">
                                      <p:cBhvr>
                                        <p:cTn id="92" dur="500"/>
                                        <p:tgtEl>
                                          <p:spTgt spid="144"/>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143"/>
                                        </p:tgtEl>
                                        <p:attrNameLst>
                                          <p:attrName>style.visibility</p:attrName>
                                        </p:attrNameLst>
                                      </p:cBhvr>
                                      <p:to>
                                        <p:strVal val="visible"/>
                                      </p:to>
                                    </p:set>
                                    <p:animEffect transition="in" filter="fade">
                                      <p:cBhvr>
                                        <p:cTn id="97"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Externality: Airplane Noise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548640" y="1463040"/>
            <a:ext cx="6949440" cy="3986784"/>
            <a:chOff x="548640" y="1463040"/>
            <a:chExt cx="6949440" cy="3986784"/>
          </a:xfrm>
        </p:grpSpPr>
        <p:pic>
          <p:nvPicPr>
            <p:cNvPr id="7" name="Picture 6" descr="NV_s75_3_4d362b83.wmf"/>
            <p:cNvPicPr>
              <a:picLocks noChangeAspect="1"/>
            </p:cNvPicPr>
            <p:nvPr/>
          </p:nvPicPr>
          <p:blipFill>
            <a:blip r:embed="rId3"/>
            <a:stretch>
              <a:fillRect/>
            </a:stretch>
          </p:blipFill>
          <p:spPr>
            <a:xfrm>
              <a:off x="548640" y="1463040"/>
              <a:ext cx="6949440" cy="364894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548640" y="5175504"/>
              <a:ext cx="6949440" cy="274320"/>
            </a:xfrm>
            <a:prstGeom prst="rect">
              <a:avLst/>
            </a:prstGeom>
            <a:noFill/>
          </p:spPr>
          <p:txBody>
            <a:bodyPr wrap="square" lIns="0" tIns="0" rIns="0" bIns="0">
              <a:spAutoFit/>
            </a:bodyPr>
            <a:lstStyle/>
            <a:p>
              <a:pPr algn="ctr"/>
              <a:r>
                <a:rPr sz="1200" b="0" i="1" u="none">
                  <a:solidFill>
                    <a:srgbClr val="555B66"/>
                  </a:solidFill>
                  <a:latin typeface="Calibri"/>
                </a:rPr>
                <a:t>Noise contours around Santa Monica Airport</a:t>
              </a:r>
            </a:p>
          </p:txBody>
        </p:sp>
      </p:grpSp>
      <p:pic>
        <p:nvPicPr>
          <p:cNvPr id="8" name="Picture 7" descr="nv_smo_lookout_article.png"/>
          <p:cNvPicPr>
            <a:picLocks noChangeAspect="1"/>
          </p:cNvPicPr>
          <p:nvPr/>
        </p:nvPicPr>
        <p:blipFill>
          <a:blip r:embed="rId4"/>
          <a:stretch>
            <a:fillRect/>
          </a:stretch>
        </p:blipFill>
        <p:spPr>
          <a:xfrm>
            <a:off x="7507224" y="3749039"/>
            <a:ext cx="4690872" cy="279806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14580A6D-8BBA-5AE2-B3DB-1D0EDBA037F0}" type="slidenum">
              <a:rPr lang="en-US" sz="1200" dirty="0">
                <a:solidFill>
                  <a:srgbClr val="555B66"/>
                </a:solidFill>
                <a:latin typeface="Calibri"/>
              </a:rPr>
              <a:t>88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Pigouvian Tax for Noise? The Case of Santa Monica Airport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691640" y="1709928"/>
            <a:ext cx="0" cy="39136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91640" y="5623560"/>
            <a:ext cx="5925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07186" y="1577340"/>
            <a:ext cx="511302" cy="265176"/>
          </a:xfrm>
          <a:prstGeom prst="rect">
            <a:avLst/>
          </a:prstGeom>
          <a:noFill/>
        </p:spPr>
        <p:txBody>
          <a:bodyPr wrap="square" lIns="0" tIns="0" rIns="0" bIns="0">
            <a:spAutoFit/>
          </a:bodyPr>
          <a:lstStyle/>
          <a:p>
            <a:pPr algn="l"/>
            <a:r>
              <a:rPr sz="1700" b="1" i="1" u="none">
                <a:solidFill>
                  <a:srgbClr val="0B2B4E"/>
                </a:solidFill>
                <a:latin typeface="Calibri"/>
              </a:rPr>
              <a:t>Price</a:t>
            </a:r>
          </a:p>
        </p:txBody>
      </p:sp>
      <p:sp>
        <p:nvSpPr>
          <p:cNvPr id="10" name="TextBox 9"/>
          <p:cNvSpPr txBox="1"/>
          <p:nvPr/>
        </p:nvSpPr>
        <p:spPr>
          <a:xfrm>
            <a:off x="6908863" y="5669280"/>
            <a:ext cx="1416177" cy="265176"/>
          </a:xfrm>
          <a:prstGeom prst="rect">
            <a:avLst/>
          </a:prstGeom>
          <a:noFill/>
        </p:spPr>
        <p:txBody>
          <a:bodyPr wrap="square" lIns="0" tIns="0" rIns="0" bIns="0">
            <a:spAutoFit/>
          </a:bodyPr>
          <a:lstStyle/>
          <a:p>
            <a:pPr algn="l"/>
            <a:r>
              <a:rPr sz="1700" b="1" i="1" u="none">
                <a:solidFill>
                  <a:srgbClr val="0B2B4E"/>
                </a:solidFill>
                <a:latin typeface="Calibri"/>
              </a:rPr>
              <a:t>Flights per day</a:t>
            </a:r>
          </a:p>
        </p:txBody>
      </p:sp>
      <p:cxnSp>
        <p:nvCxnSpPr>
          <p:cNvPr id="11" name="Connector 10"/>
          <p:cNvCxnSpPr/>
          <p:nvPr/>
        </p:nvCxnSpPr>
        <p:spPr>
          <a:xfrm>
            <a:off x="1691640" y="3540760"/>
            <a:ext cx="5270445" cy="187452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22592" y="5303520"/>
            <a:ext cx="3291840" cy="310896"/>
          </a:xfrm>
          <a:prstGeom prst="rect">
            <a:avLst/>
          </a:prstGeom>
          <a:noFill/>
        </p:spPr>
        <p:txBody>
          <a:bodyPr wrap="square" lIns="0" tIns="0" rIns="0" bIns="0">
            <a:spAutoFit/>
          </a:bodyPr>
          <a:lstStyle/>
          <a:p>
            <a:pPr algn="l"/>
            <a:r>
              <a:rPr sz="1700" b="1" i="0" u="none">
                <a:solidFill>
                  <a:srgbClr val="C00000"/>
                </a:solidFill>
                <a:latin typeface="Calibri"/>
              </a:rPr>
              <a:t>D  (MB of flying)</a:t>
            </a:r>
          </a:p>
        </p:txBody>
      </p:sp>
      <p:cxnSp>
        <p:nvCxnSpPr>
          <p:cNvPr id="13" name="Connector 12"/>
          <p:cNvCxnSpPr/>
          <p:nvPr/>
        </p:nvCxnSpPr>
        <p:spPr>
          <a:xfrm>
            <a:off x="1691640" y="4790440"/>
            <a:ext cx="5270445" cy="0"/>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086600" y="4480560"/>
            <a:ext cx="3931920" cy="566928"/>
          </a:xfrm>
          <a:prstGeom prst="rect">
            <a:avLst/>
          </a:prstGeom>
          <a:noFill/>
        </p:spPr>
        <p:txBody>
          <a:bodyPr wrap="square" lIns="0" tIns="0" rIns="0" bIns="0">
            <a:spAutoFit/>
          </a:bodyPr>
          <a:lstStyle/>
          <a:p>
            <a:pPr algn="l"/>
            <a:r>
              <a:rPr sz="1700" b="1" i="1" u="none">
                <a:solidFill>
                  <a:srgbClr val="0B2B4E"/>
                </a:solidFill>
                <a:latin typeface="Calibri"/>
              </a:rPr>
              <a:t>Pilots' internal
MC</a:t>
            </a:r>
            <a:r>
              <a:rPr sz="1700" b="1" i="1" u="none" baseline="-25000">
                <a:solidFill>
                  <a:srgbClr val="0B2B4E"/>
                </a:solidFill>
                <a:latin typeface="Calibri"/>
              </a:rPr>
              <a:t>I</a:t>
            </a:r>
            <a:r>
              <a:rPr sz="1700" b="1" i="1" u="none">
                <a:solidFill>
                  <a:srgbClr val="0B2B4E"/>
                </a:solidFill>
                <a:latin typeface="Calibri"/>
              </a:rPr>
              <a:t> of flying</a:t>
            </a:r>
          </a:p>
        </p:txBody>
      </p:sp>
      <p:cxnSp>
        <p:nvCxnSpPr>
          <p:cNvPr id="15" name="Connector 14"/>
          <p:cNvCxnSpPr/>
          <p:nvPr/>
        </p:nvCxnSpPr>
        <p:spPr>
          <a:xfrm>
            <a:off x="1691640" y="3124200"/>
            <a:ext cx="5270445" cy="0"/>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123176" y="2880360"/>
            <a:ext cx="3931920" cy="566928"/>
          </a:xfrm>
          <a:prstGeom prst="rect">
            <a:avLst/>
          </a:prstGeom>
          <a:noFill/>
        </p:spPr>
        <p:txBody>
          <a:bodyPr wrap="square" lIns="0" tIns="0" rIns="0" bIns="0">
            <a:spAutoFit/>
          </a:bodyPr>
          <a:lstStyle/>
          <a:p>
            <a:pPr algn="l"/>
            <a:r>
              <a:rPr sz="1700" b="1" i="1" u="none">
                <a:solidFill>
                  <a:srgbClr val="E09F3E"/>
                </a:solidFill>
                <a:latin typeface="Calibri"/>
              </a:rPr>
              <a:t>MC</a:t>
            </a:r>
            <a:r>
              <a:rPr sz="1700" b="1" i="1" u="none" baseline="-25000">
                <a:solidFill>
                  <a:srgbClr val="E09F3E"/>
                </a:solidFill>
                <a:latin typeface="Calibri"/>
              </a:rPr>
              <a:t>I</a:t>
            </a:r>
            <a:r>
              <a:rPr sz="1700" b="1" i="1" u="none">
                <a:solidFill>
                  <a:srgbClr val="E09F3E"/>
                </a:solidFill>
                <a:latin typeface="Calibri"/>
              </a:rPr>
              <a:t> + tax = SMC
(social marginal cost)</a:t>
            </a:r>
          </a:p>
        </p:txBody>
      </p:sp>
      <p:cxnSp>
        <p:nvCxnSpPr>
          <p:cNvPr id="17" name="Connector 16"/>
          <p:cNvCxnSpPr/>
          <p:nvPr/>
        </p:nvCxnSpPr>
        <p:spPr>
          <a:xfrm flipV="1">
            <a:off x="3162462" y="3124200"/>
            <a:ext cx="0" cy="16662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255264" y="3547872"/>
            <a:ext cx="2926080" cy="310896"/>
          </a:xfrm>
          <a:prstGeom prst="rect">
            <a:avLst/>
          </a:prstGeom>
          <a:noFill/>
        </p:spPr>
        <p:txBody>
          <a:bodyPr wrap="square" lIns="0" tIns="0" rIns="0" bIns="0">
            <a:spAutoFit/>
          </a:bodyPr>
          <a:lstStyle/>
          <a:p>
            <a:pPr algn="l"/>
            <a:r>
              <a:rPr sz="1700" b="1" i="0" u="none">
                <a:solidFill>
                  <a:srgbClr val="7030A0"/>
                </a:solidFill>
                <a:latin typeface="Calibri"/>
              </a:rPr>
              <a:t>Noise pollution (EMC)</a:t>
            </a:r>
          </a:p>
        </p:txBody>
      </p:sp>
      <p:sp>
        <p:nvSpPr>
          <p:cNvPr id="19" name="TextBox 18"/>
          <p:cNvSpPr txBox="1"/>
          <p:nvPr/>
        </p:nvSpPr>
        <p:spPr>
          <a:xfrm>
            <a:off x="3255264" y="3803904"/>
            <a:ext cx="2743200" cy="310896"/>
          </a:xfrm>
          <a:prstGeom prst="rect">
            <a:avLst/>
          </a:prstGeom>
          <a:noFill/>
        </p:spPr>
        <p:txBody>
          <a:bodyPr wrap="square" lIns="0" tIns="0" rIns="0" bIns="0">
            <a:spAutoFit/>
          </a:bodyPr>
          <a:lstStyle/>
          <a:p>
            <a:pPr algn="l"/>
            <a:r>
              <a:rPr sz="1700" b="1" i="0" u="none">
                <a:solidFill>
                  <a:srgbClr val="7030A0"/>
                </a:solidFill>
                <a:latin typeface="Calibri"/>
              </a:rPr>
              <a:t>Noise tax = EMC</a:t>
            </a:r>
          </a:p>
        </p:txBody>
      </p:sp>
      <p:cxnSp>
        <p:nvCxnSpPr>
          <p:cNvPr id="20" name="Connector 19"/>
          <p:cNvCxnSpPr/>
          <p:nvPr/>
        </p:nvCxnSpPr>
        <p:spPr>
          <a:xfrm flipV="1">
            <a:off x="5205270" y="4790440"/>
            <a:ext cx="0" cy="833120"/>
          </a:xfrm>
          <a:prstGeom prst="line">
            <a:avLst/>
          </a:prstGeom>
          <a:ln w="1778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754357" y="5678424"/>
            <a:ext cx="901827"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current</a:t>
            </a:r>
          </a:p>
        </p:txBody>
      </p:sp>
      <p:sp>
        <p:nvSpPr>
          <p:cNvPr id="22" name="Oval 21"/>
          <p:cNvSpPr/>
          <p:nvPr/>
        </p:nvSpPr>
        <p:spPr>
          <a:xfrm>
            <a:off x="5145834" y="473100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69314" y="5678424"/>
            <a:ext cx="644652" cy="274320"/>
          </a:xfrm>
          <a:prstGeom prst="rect">
            <a:avLst/>
          </a:prstGeom>
          <a:noFill/>
        </p:spPr>
        <p:txBody>
          <a:bodyPr wrap="square" lIns="0" tIns="0" rIns="0" bIns="0">
            <a:spAutoFit/>
          </a:bodyPr>
          <a:lstStyle/>
          <a:p>
            <a:pPr algn="ctr"/>
            <a:r>
              <a:rPr sz="1700" b="1" i="1" u="none">
                <a:solidFill>
                  <a:srgbClr val="0B2B4E"/>
                </a:solidFill>
                <a:latin typeface="Calibri"/>
              </a:rPr>
              <a:t>Q* = 0</a:t>
            </a:r>
          </a:p>
        </p:txBody>
      </p:sp>
      <p:sp>
        <p:nvSpPr>
          <p:cNvPr id="24" name="Oval 23"/>
          <p:cNvSpPr/>
          <p:nvPr/>
        </p:nvSpPr>
        <p:spPr>
          <a:xfrm>
            <a:off x="1623060" y="347218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490472" y="3339592"/>
            <a:ext cx="402336" cy="402336"/>
          </a:xfrm>
          <a:prstGeom prst="ellipse">
            <a:avLst/>
          </a:prstGeom>
          <a:noFill/>
          <a:ln w="317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56231" y="2267712"/>
            <a:ext cx="2715768" cy="521207"/>
          </a:xfrm>
          <a:prstGeom prst="rect">
            <a:avLst/>
          </a:prstGeom>
          <a:noFill/>
        </p:spPr>
        <p:txBody>
          <a:bodyPr wrap="square" lIns="0" tIns="0" rIns="0" bIns="0">
            <a:spAutoFit/>
          </a:bodyPr>
          <a:lstStyle/>
          <a:p>
            <a:pPr algn="l"/>
            <a:r>
              <a:rPr sz="1700" b="1" i="0" u="none">
                <a:solidFill>
                  <a:srgbClr val="7030A0"/>
                </a:solidFill>
                <a:latin typeface="Calibri"/>
              </a:rPr>
              <a:t>“Corner solution” with Q* = 0
→ shut down the airport</a:t>
            </a:r>
          </a:p>
        </p:txBody>
      </p:sp>
      <p:cxnSp>
        <p:nvCxnSpPr>
          <p:cNvPr id="27" name="Connector 26"/>
          <p:cNvCxnSpPr/>
          <p:nvPr/>
        </p:nvCxnSpPr>
        <p:spPr>
          <a:xfrm flipH="1">
            <a:off x="1837944" y="2743200"/>
            <a:ext cx="82296" cy="614680"/>
          </a:xfrm>
          <a:prstGeom prst="line">
            <a:avLst/>
          </a:prstGeom>
          <a:ln w="22225">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76C892E0-E170-528A-8749-40DA1FE018D8}" type="slidenum">
              <a:rPr lang="en-US" sz="1200" dirty="0">
                <a:solidFill>
                  <a:srgbClr val="555B66"/>
                </a:solidFill>
                <a:latin typeface="Calibri"/>
              </a:rPr>
              <a:t>89</a:t>
            </a:fld>
            <a:endParaRPr lang="en-US" sz="1200" dirty="0">
              <a:solidFill>
                <a:srgbClr val="555B66"/>
              </a:solidFill>
              <a:latin typeface="Calibri"/>
            </a:endParaRPr>
          </a:p>
        </p:txBody>
      </p:sp>
      <p:sp>
        <p:nvSpPr>
          <p:cNvPr id="32" name="Rounded Rectangle 31"/>
          <p:cNvSpPr/>
          <p:nvPr/>
        </p:nvSpPr>
        <p:spPr>
          <a:xfrm>
            <a:off x="883767" y="6016752"/>
            <a:ext cx="10424160" cy="4754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SMC lies above willingness to pay at every quantity — a corner solution at Q* = 0, so close the airport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5" presetID="10"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500"/>
                                        <p:tgtEl>
                                          <p:spTgt spid="2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Summary</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Module 4: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11687697" cy="4892040"/>
          </a:xfrm>
          <a:prstGeom prst="rect">
            <a:avLst/>
          </a:prstGeom>
          <a:noFill/>
        </p:spPr>
        <p:txBody>
          <a:bodyPr wrap="square" lIns="0" tIns="0" rIns="0" bIns="0" anchor="ctr">
            <a:noAutofit/>
          </a:bodyPr>
          <a:lstStyle>
            <a:lvl1pPr marL="342900" indent="-342900">
              <a:spcBef>
                <a:spcPts val="11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Perfect competition: the firm is a price taker, so MR = P</a:t>
            </a:r>
          </a:p>
          <a:p>
            <a:pPr lvl="1" algn="l"/>
            <a:r>
              <a:rPr>
                <a:latin typeface="Calibri"/>
              </a:rPr>
              <a:t>Profit maximization: MC = MR = P gives Q*</a:t>
            </a:r>
          </a:p>
          <a:p>
            <a:pPr algn="l"/>
            <a:r>
              <a:rPr>
                <a:latin typeface="Calibri"/>
              </a:rPr>
              <a:t>The decision to produce in the short run</a:t>
            </a:r>
          </a:p>
          <a:p>
            <a:pPr lvl="1" algn="l"/>
            <a:r>
              <a:rPr>
                <a:latin typeface="Calibri"/>
              </a:rPr>
              <a:t>Continue to produce if P ≥ AVC; stop production if P &lt; AVC</a:t>
            </a:r>
          </a:p>
          <a:p>
            <a:pPr algn="l"/>
            <a:r>
              <a:rPr>
                <a:latin typeface="Calibri"/>
              </a:rPr>
              <a:t>The decision to stay in the industry in the long run</a:t>
            </a:r>
          </a:p>
          <a:p>
            <a:pPr lvl="1" algn="l"/>
            <a:r>
              <a:rPr>
                <a:latin typeface="Calibri"/>
              </a:rPr>
              <a:t>Stay if P ≥ LAC; exit or never enter if P &lt; LAC</a:t>
            </a:r>
          </a:p>
          <a:p>
            <a:pPr lvl="1" algn="l"/>
            <a:r>
              <a:rPr>
                <a:latin typeface="Calibri"/>
              </a:rPr>
              <a:t>Long-run equilibrium: P = LMC = LAC, so profit is zero</a:t>
            </a:r>
          </a:p>
          <a:p>
            <a:pPr algn="l"/>
            <a:r>
              <a:rPr>
                <a:latin typeface="Calibri"/>
              </a:rPr>
              <a:t>Market distortions: price controls and taxes</a:t>
            </a:r>
          </a:p>
          <a:p>
            <a:pPr lvl="1" algn="l"/>
            <a:r>
              <a:rPr>
                <a:latin typeface="Calibri"/>
              </a:rPr>
              <a:t>Winners, losers, and deadweight loss</a:t>
            </a:r>
          </a:p>
          <a:p>
            <a:pPr algn="l"/>
            <a:r>
              <a:rPr>
                <a:latin typeface="Calibri"/>
              </a:rPr>
              <a:t>Externalities, and the Pigouvian tax that corrects them</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7316A9CC-BCD9-5D15-81D9-F67A23B0DEA3}" type="slidenum">
              <a:rPr lang="en-US" sz="1200" dirty="0">
                <a:solidFill>
                  <a:srgbClr val="555B66"/>
                </a:solidFill>
                <a:latin typeface="Calibri"/>
              </a:rPr>
              <a:t>90</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animEffect transition="in" filter="fade">
                                      <p:cBhvr>
                                        <p:cTn id="15" dur="500"/>
                                        <p:tgtEl>
                                          <p:spTgt spid="7">
                                            <p:txEl>
                                              <p:pRg st="4" end="4"/>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5" end="5"/>
                                            </p:txEl>
                                          </p:spTgt>
                                        </p:tgtEl>
                                        <p:attrNameLst>
                                          <p:attrName>style.visibility</p:attrName>
                                        </p:attrNameLst>
                                      </p:cBhvr>
                                      <p:to>
                                        <p:strVal val="visible"/>
                                      </p:to>
                                    </p:set>
                                    <p:animEffect transition="in" filter="fade">
                                      <p:cBhvr>
                                        <p:cTn id="18" dur="500"/>
                                        <p:tgtEl>
                                          <p:spTgt spid="7">
                                            <p:txEl>
                                              <p:pRg st="5" end="5"/>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animEffect transition="in" filter="fade">
                                      <p:cBhvr>
                                        <p:cTn id="21" dur="500"/>
                                        <p:tgtEl>
                                          <p:spTgt spid="7">
                                            <p:txEl>
                                              <p:pRg st="6" end="6"/>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xEl>
                                              <p:pRg st="7" end="7"/>
                                            </p:txEl>
                                          </p:spTgt>
                                        </p:tgtEl>
                                        <p:attrNameLst>
                                          <p:attrName>style.visibility</p:attrName>
                                        </p:attrNameLst>
                                      </p:cBhvr>
                                      <p:to>
                                        <p:strVal val="visible"/>
                                      </p:to>
                                    </p:set>
                                    <p:animEffect transition="in" filter="fade">
                                      <p:cBhvr>
                                        <p:cTn id="26" dur="500"/>
                                        <p:tgtEl>
                                          <p:spTgt spid="7">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xEl>
                                              <p:pRg st="8" end="8"/>
                                            </p:txEl>
                                          </p:spTgt>
                                        </p:tgtEl>
                                        <p:attrNameLst>
                                          <p:attrName>style.visibility</p:attrName>
                                        </p:attrNameLst>
                                      </p:cBhvr>
                                      <p:to>
                                        <p:strVal val="visible"/>
                                      </p:to>
                                    </p:set>
                                    <p:animEffect transition="in" filter="fade">
                                      <p:cBhvr>
                                        <p:cTn id="29" dur="500"/>
                                        <p:tgtEl>
                                          <p:spTgt spid="7">
                                            <p:txEl>
                                              <p:pRg st="8" end="8"/>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2400300"/>
            <a:ext cx="12191695" cy="1691640"/>
          </a:xfrm>
          <a:prstGeom prst="rect">
            <a:avLst/>
          </a:prstGeom>
          <a:noFill/>
        </p:spPr>
        <p:txBody>
          <a:bodyPr wrap="square" lIns="0" rIns="0" tIns="0" bIns="0">
            <a:spAutoFit/>
          </a:bodyPr>
          <a:lstStyle/>
          <a:p>
            <a:pPr algn="ctr"/>
            <a:r>
              <a:rPr sz="5400" b="1" i="0" u="none">
                <a:solidFill>
                  <a:srgbClr val="0B2B4E"/>
                </a:solidFill>
                <a:latin typeface="Calibri"/>
              </a:rPr>
              <a:t>Slides Not Included</a:t>
            </a:r>
          </a:p>
          <a:p>
            <a:pPr algn="ctr"/>
            <a:r>
              <a:rPr sz="5400" b="1" i="0" u="none">
                <a:solidFill>
                  <a:srgbClr val="0B2B4E"/>
                </a:solidFill>
                <a:latin typeface="Calibri"/>
              </a:rPr>
              <a:t>in the Videos</a:t>
            </a:r>
          </a:p>
        </p:txBody>
      </p:sp>
      <p:sp>
        <p:nvSpPr>
          <p:cNvPr id="3" name="Rectangle 2"/>
          <p:cNvSpPr/>
          <p:nvPr/>
        </p:nvSpPr>
        <p:spPr>
          <a:xfrm>
            <a:off x="975207" y="4229100"/>
            <a:ext cx="10241280" cy="54864"/>
          </a:xfrm>
          <a:prstGeom prst="rect">
            <a:avLst/>
          </a:prstGeom>
          <a:solidFill>
            <a:srgbClr val="E09F3E"/>
          </a:solidFill>
          <a:ln>
            <a:noFill/>
          </a:ln>
          <a:effectLst/>
        </p:spPr>
        <p:txBody>
          <a:bodyPr rtlCol="0" anchor="ctr"/>
          <a:lstStyle/>
          <a:p>
            <a:pPr algn="ctr"/>
          </a:p>
        </p:txBody>
      </p:sp>
      <p:sp>
        <p:nvSpPr>
          <p:cNvPr id="4" name="Rectangle 3"/>
          <p:cNvSpPr/>
          <p:nvPr/>
        </p:nvSpPr>
        <p:spPr>
          <a:xfrm>
            <a:off x="0" y="6537960"/>
            <a:ext cx="12191695" cy="18288"/>
          </a:xfrm>
          <a:prstGeom prst="rect">
            <a:avLst/>
          </a:prstGeom>
          <a:solidFill>
            <a:srgbClr val="C8CDD3"/>
          </a:solidFill>
          <a:ln>
            <a:noFill/>
          </a:ln>
          <a:effectLst/>
        </p:spPr>
        <p:txBody>
          <a:bodyPr rtlCol="0" anchor="ctr"/>
          <a:lstStyle/>
          <a:p>
            <a:pPr algn="ctr"/>
          </a:p>
        </p:txBody>
      </p:sp>
      <p:sp>
        <p:nvSpPr>
          <p:cNvPr id="5" name="Rectangle 4"/>
          <p:cNvSpPr/>
          <p:nvPr/>
        </p:nvSpPr>
        <p:spPr>
          <a:xfrm>
            <a:off x="251999" y="6524244"/>
            <a:ext cx="2011680" cy="45720"/>
          </a:xfrm>
          <a:prstGeom prst="rect">
            <a:avLst/>
          </a:prstGeom>
          <a:solidFill>
            <a:srgbClr val="E09F3E"/>
          </a:solidFill>
          <a:ln>
            <a:noFill/>
          </a:ln>
          <a:effectLst/>
        </p:spPr>
        <p:txBody>
          <a:bodyPr rtlCol="0" anchor="ctr"/>
          <a:lstStyle/>
          <a:p>
            <a:pPr algn="ctr"/>
          </a:p>
        </p:txBody>
      </p:sp>
      <p:sp>
        <p:nvSpPr>
          <p:cNvPr id="6" name="TextBox 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rIns="0" tIns="0" bIns="0">
            <a:spAutoFit/>
          </a:bodyPr>
          <a:lstStyle/>
          <a:p>
            <a:pPr algn="r"/>
            <a:fld id="{B38D1FD4-E120-5B60-A5FE-8016C3F29565}" type="slidenum">
              <a:rPr lang="en-US" sz="1200" dirty="0">
                <a:solidFill>
                  <a:srgbClr val="555B66"/>
                </a:solidFill>
                <a:latin typeface="Calibri"/>
              </a:rPr>
              <a:t>91</a:t>
            </a:fld>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Logistics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Some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11687697" cy="4892040"/>
          </a:xfrm>
          <a:prstGeom prst="rect">
            <a:avLst/>
          </a:prstGeom>
          <a:noFill/>
        </p:spPr>
        <p:txBody>
          <a:bodyPr wrap="square" lIns="0" tIns="0" rIns="0" bIns="0" anchor="ctr">
            <a:no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Coffee &amp; Econ office hours restart next week</a:t>
            </a:r>
          </a:p>
          <a:p>
            <a:pPr algn="l"/>
            <a:r>
              <a:rPr>
                <a:latin typeface="Calibri"/>
              </a:rPr>
              <a:t>Final exam period: December 11 – 13, 2026</a:t>
            </a:r>
          </a:p>
          <a:p>
            <a:pPr lvl="1" algn="l"/>
            <a:r>
              <a:rPr>
                <a:latin typeface="Calibri"/>
              </a:rPr>
              <a:t>One 3.5-hour window — the same window for everyone</a:t>
            </a:r>
          </a:p>
          <a:p>
            <a:pPr lvl="1" algn="l"/>
            <a:r>
              <a:rPr>
                <a:latin typeface="Calibri"/>
              </a:rPr>
              <a:t>The exact date and time will be announced later</a:t>
            </a:r>
          </a:p>
          <a:p>
            <a:pPr lvl="1" algn="l"/>
            <a:r>
              <a:rPr>
                <a:latin typeface="Calibri"/>
              </a:rPr>
              <a:t>Online, open book, open notes; covers all material</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A45A4D84-7183-56C5-AAA9-0FBCD4EF9048}" type="slidenum">
              <a:rPr lang="en-US" sz="1200" dirty="0">
                <a:solidFill>
                  <a:srgbClr val="555B66"/>
                </a:solidFill>
                <a:latin typeface="Calibri"/>
              </a:rPr>
              <a:t>92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Relationship to Accounting: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472287" y="1645920"/>
            <a:ext cx="11247120" cy="3703320"/>
            <a:chOff x="472287" y="1645920"/>
            <a:chExt cx="11247120" cy="3703320"/>
          </a:xfrm>
        </p:grpSpPr>
        <p:sp>
          <p:nvSpPr>
            <p:cNvPr id="7" name="Rectangle 6"/>
            <p:cNvSpPr/>
            <p:nvPr/>
          </p:nvSpPr>
          <p:spPr>
            <a:xfrm>
              <a:off x="472287" y="1645920"/>
              <a:ext cx="11247120" cy="37033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609447" y="1783080"/>
            <a:ext cx="10972800" cy="3429000"/>
          </p:xfrm>
          <a:graphic>
            <a:graphicData uri="http://schemas.openxmlformats.org/drawingml/2006/table">
              <a:tbl>
                <a:tblPr/>
                <a:tblGrid>
                  <a:gridCol w="3657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77724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Economic cost concept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29, 2022</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1800" b="1">
                            <a:solidFill>
                              <a:srgbClr val="FFFFFF"/>
                            </a:solidFill>
                            <a:latin typeface="Calibri"/>
                          </a:rPr>
                          <a:t>Year ended
Jan 30, 2021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530352">
                  <a:tc>
                    <a:txBody>
                      <a:bodyPr/>
                      <a:lstStyle/>
                      <a:p>
                        <a:pPr algn="l"/>
                        <a:r>
                          <a:rPr sz="1800" b="1">
                            <a:solidFill>
                              <a:srgbClr val="0B2B4E"/>
                            </a:solidFill>
                            <a:latin typeface="Calibri"/>
                          </a:rPr>
                          <a:t>Sales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18,916,244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12,531,565</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530352">
                  <a:tc>
                    <a:txBody>
                      <a:bodyPr/>
                      <a:lstStyle/>
                      <a:p>
                        <a:pPr algn="l"/>
                        <a:r>
                          <a:rPr sz="1800" b="1">
                            <a:solidFill>
                              <a:srgbClr val="0B2B4E"/>
                            </a:solidFill>
                            <a:latin typeface="Calibri"/>
                          </a:rPr>
                          <a:t>Cost of goods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 TVC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13,708,907</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9,838,574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530352">
                  <a:tc>
                    <a:txBody>
                      <a:bodyPr/>
                      <a:lstStyle/>
                      <a:p>
                        <a:pPr algn="l"/>
                        <a:r>
                          <a:rPr sz="1800" b="1">
                            <a:solidFill>
                              <a:srgbClr val="0B2B4E"/>
                            </a:solidFill>
                            <a:latin typeface="Calibri"/>
                          </a:rPr>
                          <a:t>Selling, general and administrative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Mix of FC &amp; VC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2,874,469</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2,503,281</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r h="530352">
                  <a:tc>
                    <a:txBody>
                      <a:bodyPr/>
                      <a:lstStyle/>
                      <a:p>
                        <a:pPr algn="l"/>
                        <a:r>
                          <a:rPr sz="1800" b="1">
                            <a:solidFill>
                              <a:srgbClr val="0B2B4E"/>
                            </a:solidFill>
                            <a:latin typeface="Calibri"/>
                          </a:rPr>
                          <a:t>Interest expense (income), net</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C00000"/>
                            </a:solidFill>
                            <a:latin typeface="Calibri"/>
                          </a:rPr>
                          <a:t>Part of FC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74,328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1800" b="0">
                            <a:solidFill>
                              <a:srgbClr val="0B2B4E"/>
                            </a:solidFill>
                            <a:latin typeface="Calibri"/>
                          </a:rPr>
                          <a:t>83,413</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4"/>
                    </a:ext>
                  </a:extLst>
                </a:tr>
                <a:tr h="530352">
                  <a:tc>
                    <a:txBody>
                      <a:bodyPr/>
                      <a:lstStyle/>
                      <a:p>
                        <a:pPr algn="l"/>
                        <a:r>
                          <a:rPr sz="1800" b="1">
                            <a:solidFill>
                              <a:srgbClr val="0B2B4E"/>
                            </a:solidFill>
                            <a:latin typeface="Calibri"/>
                          </a:rPr>
                          <a:t>Total costs and expenses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C00000"/>
                            </a:solidFill>
                            <a:latin typeface="Calibri"/>
                          </a:rPr>
                          <a:t>≈ TC</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16,657,704</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1800" b="0">
                            <a:solidFill>
                              <a:srgbClr val="0B2B4E"/>
                            </a:solidFill>
                            <a:latin typeface="Calibri"/>
                          </a:rPr>
                          <a:t>12,425,268</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5"/>
                    </a:ext>
                  </a:extLst>
                </a:tr>
              </a:tbl>
            </a:graphicData>
          </a:graphic>
        </p:graphicFrame>
      </p:grpSp>
      <p:sp>
        <p:nvSpPr>
          <p:cNvPr id="9" name="TextBox 8"/>
          <p:cNvSpPr txBox="1"/>
          <p:nvPr/>
        </p:nvSpPr>
        <p:spPr>
          <a:xfrm>
            <a:off x="609447" y="5413248"/>
            <a:ext cx="10972800" cy="274320"/>
          </a:xfrm>
          <a:prstGeom prst="rect">
            <a:avLst/>
          </a:prstGeom>
          <a:noFill/>
        </p:spPr>
        <p:txBody>
          <a:bodyPr wrap="square" lIns="0" tIns="0" rIns="0" bIns="0">
            <a:spAutoFit/>
          </a:bodyPr>
          <a:lstStyle/>
          <a:p>
            <a:pPr algn="ctr"/>
            <a:r>
              <a:rPr sz="1200" b="0" i="1" u="none">
                <a:solidFill>
                  <a:srgbClr val="555B66"/>
                </a:solidFill>
                <a:latin typeface="Calibri"/>
              </a:rPr>
              <a:t>Ross Stores, Form 10-K, fiscal 2021  ·  $ thousands</a:t>
            </a:r>
          </a:p>
        </p:txBody>
      </p:sp>
      <p:sp>
        <p:nvSpPr>
          <p:cNvPr id="10" name="Rounded Rectangle 9"/>
          <p:cNvSpPr/>
          <p:nvPr/>
        </p:nvSpPr>
        <p:spPr>
          <a:xfrm>
            <a:off x="3169767" y="5833872"/>
            <a:ext cx="585216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Accounting costs leave out opportunity costs</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AA53AB96-9CAD-5F6C-A822-DD60D8EF7580}" type="slidenum">
              <a:rPr lang="en-US" sz="1200" dirty="0">
                <a:solidFill>
                  <a:srgbClr val="555B66"/>
                </a:solidFill>
                <a:latin typeface="Calibri"/>
              </a:rPr>
              <a:t>93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EEE26DBA-C36C-5B3F-8E1B-6361AB288404}" type="slidenum">
              <a:rPr lang="en-US" sz="1200" dirty="0">
                <a:solidFill>
                  <a:srgbClr val="555B66"/>
                </a:solidFill>
                <a:latin typeface="Calibri"/>
              </a:rPr>
              <a:t>94</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8D8E8DC1-E83C-550A-90CE-5A4FE1AC3CB9}" type="slidenum">
              <a:rPr lang="en-US" sz="1200" dirty="0">
                <a:solidFill>
                  <a:srgbClr val="555B66"/>
                </a:solidFill>
                <a:latin typeface="Calibri"/>
              </a:rPr>
              <a:t>95</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14F192E9-C2AB-5E74-ADC9-1E69D7BE0674}" type="slidenum">
              <a:rPr lang="en-US" sz="1200" dirty="0">
                <a:solidFill>
                  <a:srgbClr val="555B66"/>
                </a:solidFill>
                <a:latin typeface="Calibri"/>
              </a:rPr>
              <a:t>96</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Equilibrium: The Drug Market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08760"/>
            <a:ext cx="11338560" cy="1097280"/>
          </a:xfrm>
          <a:prstGeom prst="rect">
            <a:avLst/>
          </a:prstGeom>
          <a:noFill/>
        </p:spPr>
        <p:txBody>
          <a:bodyPr wrap="square" lIns="0" tIns="0" rIns="0" bIns="0">
            <a:noAutofit/>
          </a:bodyPr>
          <a:lstStyle>
            <a:lvl1pPr marL="342900" indent="-342900">
              <a:spcBef>
                <a:spcPts val="10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Can we use the toolbox on the market for illegal drugs?</a:t>
            </a:r>
          </a:p>
          <a:p>
            <a:pPr lvl="1" algn="l"/>
            <a:r>
              <a:rPr>
                <a:latin typeface="Calibri"/>
              </a:rPr>
              <a:t>Assume individual dealers are price takers</a:t>
            </a:r>
          </a:p>
        </p:txBody>
      </p:sp>
      <p:sp>
        <p:nvSpPr>
          <p:cNvPr id="8" name="TextBox 7"/>
          <p:cNvSpPr txBox="1"/>
          <p:nvPr/>
        </p:nvSpPr>
        <p:spPr>
          <a:xfrm>
            <a:off x="389159" y="2788920"/>
            <a:ext cx="11338560" cy="384048"/>
          </a:xfrm>
          <a:prstGeom prst="rect">
            <a:avLst/>
          </a:prstGeom>
          <a:noFill/>
        </p:spPr>
        <p:txBody>
          <a:bodyPr wrap="square" lIns="0" tIns="0" rIns="0" bIns="0">
            <a:spAutoFit/>
          </a:bodyPr>
          <a:lstStyle/>
          <a:p>
            <a:pPr algn="l"/>
            <a:r>
              <a:rPr sz="2500" b="0" i="0" u="none">
                <a:solidFill>
                  <a:srgbClr val="0B2B4E"/>
                </a:solidFill>
                <a:latin typeface="Calibri"/>
              </a:rPr>
              <a:t>The government has two one-time options:</a:t>
            </a:r>
          </a:p>
        </p:txBody>
      </p:sp>
      <p:sp>
        <p:nvSpPr>
          <p:cNvPr id="9" name="Rounded Rectangle 8"/>
          <p:cNvSpPr/>
          <p:nvPr/>
        </p:nvSpPr>
        <p:spPr>
          <a:xfrm>
            <a:off x="960120" y="338328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1</a:t>
            </a:r>
          </a:p>
        </p:txBody>
      </p:sp>
      <p:sp>
        <p:nvSpPr>
          <p:cNvPr id="10" name="TextBox 9"/>
          <p:cNvSpPr txBox="1"/>
          <p:nvPr/>
        </p:nvSpPr>
        <p:spPr>
          <a:xfrm>
            <a:off x="1783080" y="341071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the drug dealers</a:t>
            </a:r>
          </a:p>
        </p:txBody>
      </p:sp>
      <p:sp>
        <p:nvSpPr>
          <p:cNvPr id="11" name="Rounded Rectangle 10"/>
          <p:cNvSpPr/>
          <p:nvPr/>
        </p:nvSpPr>
        <p:spPr>
          <a:xfrm>
            <a:off x="960120" y="416052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2</a:t>
            </a:r>
          </a:p>
        </p:txBody>
      </p:sp>
      <p:sp>
        <p:nvSpPr>
          <p:cNvPr id="12" name="TextBox 11"/>
          <p:cNvSpPr txBox="1"/>
          <p:nvPr/>
        </p:nvSpPr>
        <p:spPr>
          <a:xfrm>
            <a:off x="1783080" y="4187952"/>
            <a:ext cx="9601200" cy="457200"/>
          </a:xfrm>
          <a:prstGeom prst="rect">
            <a:avLst/>
          </a:prstGeom>
          <a:noFill/>
        </p:spPr>
        <p:txBody>
          <a:bodyPr wrap="square" lIns="0" tIns="0" rIns="0" bIns="0">
            <a:spAutoFit/>
          </a:bodyPr>
          <a:lstStyle/>
          <a:p>
            <a:pPr algn="l"/>
            <a:r>
              <a:rPr sz="2600" b="0" i="0" u="none">
                <a:solidFill>
                  <a:srgbClr val="0B2B4E"/>
                </a:solidFill>
                <a:latin typeface="Calibri"/>
              </a:rPr>
              <a:t>Arrest or punish the drug users</a:t>
            </a:r>
          </a:p>
        </p:txBody>
      </p:sp>
      <p:sp>
        <p:nvSpPr>
          <p:cNvPr id="13" name="Rounded Rectangle 12"/>
          <p:cNvSpPr/>
          <p:nvPr/>
        </p:nvSpPr>
        <p:spPr>
          <a:xfrm>
            <a:off x="1706727" y="5257800"/>
            <a:ext cx="87782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0B2B4E"/>
                </a:solidFill>
                <a:latin typeface="Calibri"/>
              </a:rPr>
              <a:t>Which policy does more to reduce the use of illegal drugs?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AB707137-F7EE-5E7D-AC74-68ACA2259F27}" type="slidenum">
              <a:rPr lang="en-US" sz="1200" dirty="0">
                <a:solidFill>
                  <a:srgbClr val="555B66"/>
                </a:solidFill>
                <a:latin typeface="Calibri"/>
              </a:rPr>
              <a:t>97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5F820920-0CE3-5A0E-8143-66704159DDCE}" type="slidenum">
              <a:rPr lang="en-US" sz="1200" dirty="0">
                <a:solidFill>
                  <a:srgbClr val="555B66"/>
                </a:solidFill>
                <a:latin typeface="Calibri"/>
              </a:rPr>
              <a:t>98</a:t>
            </a:fld>
            <a:endParaRPr lang="en-US" sz="1200" dirty="0">
              <a:solidFill>
                <a:srgbClr val="555B66"/>
              </a:solidFill>
              <a:latin typeface="Calibri"/>
            </a:endParaRPr>
          </a:p>
        </p:txBody>
      </p:sp>
      <p:sp>
        <p:nvSpPr>
          <p:cNvPr id="8" name="Rounded Rectangle 7"/>
          <p:cNvSpPr/>
          <p:nvPr/>
        </p:nvSpPr>
        <p:spPr>
          <a:xfrm>
            <a:off x="10577240" y="5907024"/>
            <a:ext cx="1362456"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77240" y="5907024"/>
            <a:ext cx="1362456" cy="466344"/>
          </a:xfrm>
          <a:prstGeom prst="rect">
            <a:avLst/>
          </a:prstGeom>
          <a:noFill/>
        </p:spPr>
        <p:txBody>
          <a:bodyPr wrap="square" lIns="0" tIns="0" rIns="0" bIns="0" anchor="ctr">
            <a:spAutoFit/>
          </a:bodyPr>
          <a:lstStyle/>
          <a:p>
            <a:pPr algn="ctr"/>
            <a:r>
              <a:rPr sz="2000" b="1" i="0" u="none">
                <a:solidFill>
                  <a:srgbClr val="0B2B4E"/>
                </a:solidFill>
                <a:latin typeface="Calibri"/>
              </a:rPr>
              <a:t>POLL</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Drug Dealers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0F6C8757-91A0-56B1-BB2E-C8D834533948}" type="slidenum">
              <a:rPr lang="en-US" sz="1200" dirty="0">
                <a:solidFill>
                  <a:srgbClr val="555B66"/>
                </a:solidFill>
                <a:latin typeface="Calibri"/>
              </a:rPr>
              <a:t>99</a:t>
            </a:fld>
            <a:endParaRPr lang="en-US" sz="1200" dirty="0">
              <a:solidFill>
                <a:srgbClr val="555B66"/>
              </a:solidFill>
              <a:latin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 Punish Drug Users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26C31B40-B3B2-576C-9AE7-BEDF2C7178F0}" type="slidenum">
              <a:rPr lang="en-US" sz="1200" dirty="0">
                <a:solidFill>
                  <a:srgbClr val="555B66"/>
                </a:solidFill>
                <a:latin typeface="Calibri"/>
              </a:rPr>
              <a:t>100</a:t>
            </a:fld>
            <a:endParaRPr lang="en-US" sz="1200" dirty="0">
              <a:solidFill>
                <a:srgbClr val="555B66"/>
              </a:solidFill>
              <a:latin typeface="Calibri"/>
            </a:endParaRP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2400300"/>
            <a:ext cx="12191695" cy="1691640"/>
          </a:xfrm>
          <a:prstGeom prst="rect">
            <a:avLst/>
          </a:prstGeom>
          <a:noFill/>
        </p:spPr>
        <p:txBody>
          <a:bodyPr wrap="square" lIns="0" rIns="0" tIns="0" bIns="0">
            <a:spAutoFit/>
          </a:bodyPr>
          <a:lstStyle/>
          <a:p>
            <a:pPr algn="ctr"/>
            <a:r>
              <a:rPr sz="5400" b="1" i="0" u="none">
                <a:solidFill>
                  <a:srgbClr val="0B2B4E"/>
                </a:solidFill>
                <a:latin typeface="Calibri"/>
              </a:rPr>
              <a:t>Some Applications of the Material</a:t>
            </a:r>
          </a:p>
          <a:p>
            <a:pPr algn="ctr"/>
            <a:r>
              <a:rPr sz="5400" b="1" i="0" u="none">
                <a:solidFill>
                  <a:srgbClr val="0B2B4E"/>
                </a:solidFill>
                <a:latin typeface="Calibri"/>
              </a:rPr>
              <a:t>Covered in Module 4, Videos 1 – 5</a:t>
            </a:r>
          </a:p>
        </p:txBody>
      </p:sp>
      <p:sp>
        <p:nvSpPr>
          <p:cNvPr id="3" name="Rectangle 2"/>
          <p:cNvSpPr/>
          <p:nvPr/>
        </p:nvSpPr>
        <p:spPr>
          <a:xfrm>
            <a:off x="975207" y="4229100"/>
            <a:ext cx="10241280" cy="54864"/>
          </a:xfrm>
          <a:prstGeom prst="rect">
            <a:avLst/>
          </a:prstGeom>
          <a:solidFill>
            <a:srgbClr val="E09F3E"/>
          </a:solidFill>
          <a:ln>
            <a:noFill/>
          </a:ln>
          <a:effectLst/>
        </p:spPr>
        <p:txBody>
          <a:bodyPr rtlCol="0" anchor="ctr"/>
          <a:lstStyle/>
          <a:p>
            <a:pPr algn="ctr"/>
          </a:p>
        </p:txBody>
      </p:sp>
      <p:sp>
        <p:nvSpPr>
          <p:cNvPr id="4" name="Rectangle 3"/>
          <p:cNvSpPr/>
          <p:nvPr/>
        </p:nvSpPr>
        <p:spPr>
          <a:xfrm>
            <a:off x="0" y="6537960"/>
            <a:ext cx="12191695" cy="18288"/>
          </a:xfrm>
          <a:prstGeom prst="rect">
            <a:avLst/>
          </a:prstGeom>
          <a:solidFill>
            <a:srgbClr val="C8CDD3"/>
          </a:solidFill>
          <a:ln>
            <a:noFill/>
          </a:ln>
          <a:effectLst/>
        </p:spPr>
        <p:txBody>
          <a:bodyPr rtlCol="0" anchor="ctr"/>
          <a:lstStyle/>
          <a:p>
            <a:pPr algn="ctr"/>
          </a:p>
        </p:txBody>
      </p:sp>
      <p:sp>
        <p:nvSpPr>
          <p:cNvPr id="5" name="Rectangle 4"/>
          <p:cNvSpPr/>
          <p:nvPr/>
        </p:nvSpPr>
        <p:spPr>
          <a:xfrm>
            <a:off x="251999" y="6524244"/>
            <a:ext cx="2011680" cy="45720"/>
          </a:xfrm>
          <a:prstGeom prst="rect">
            <a:avLst/>
          </a:prstGeom>
          <a:solidFill>
            <a:srgbClr val="E09F3E"/>
          </a:solidFill>
          <a:ln>
            <a:noFill/>
          </a:ln>
          <a:effectLst/>
        </p:spPr>
        <p:txBody>
          <a:bodyPr rtlCol="0" anchor="ctr"/>
          <a:lstStyle/>
          <a:p>
            <a:pPr algn="ctr"/>
          </a:p>
        </p:txBody>
      </p:sp>
      <p:sp>
        <p:nvSpPr>
          <p:cNvPr id="6" name="TextBox 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rIns="0" tIns="0" bIns="0">
            <a:spAutoFit/>
          </a:bodyPr>
          <a:lstStyle/>
          <a:p>
            <a:pPr algn="r"/>
            <a:fld id="{B38D1FD4-E120-5B60-A5FE-8016C3F29565}" type="slidenum">
              <a:rPr lang="en-US" sz="1200" dirty="0">
                <a:solidFill>
                  <a:srgbClr val="555B66"/>
                </a:solidFill>
                <a:latin typeface="Calibri"/>
              </a:rPr>
              <a:t>101</a:t>
            </a:fld>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_PE_POLL_EMBED_ID" val="b363c6a6-df7f-4ab4-9628-e909e22aff9b"/>
</p:tagLst>
</file>

<file path=ppt/tags/v3_tag1.xml><?xml version="1.0" encoding="utf-8"?>
<p:tagLst xmlns:a="http://schemas.openxmlformats.org/drawingml/2006/main" xmlns:r="http://schemas.openxmlformats.org/officeDocument/2006/relationships" xmlns:p="http://schemas.openxmlformats.org/presentationml/2006/main">
  <p:tag name="__PE_POLL_EMBED_ID" val="9aba19fa-5507-487c-8824-9ae36fae4faf"/>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11534</Words>
  <Application>Microsoft Office PowerPoint</Application>
  <PresentationFormat>Widescreen</PresentationFormat>
  <Paragraphs>1439</Paragraphs>
  <Slides>90</Slides>
  <Notes>69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90</vt:i4>
      </vt:variant>
    </vt:vector>
  </HeadingPairs>
  <TitlesOfParts>
    <vt:vector size="95"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4</cp:revision>
  <dcterms:created xsi:type="dcterms:W3CDTF">2013-01-27T09:14:16Z</dcterms:created>
  <dcterms:modified xsi:type="dcterms:W3CDTF">2026-08-31T05:10:08Z</dcterms:modified>
  <cp:category/>
</cp:coreProperties>
</file>