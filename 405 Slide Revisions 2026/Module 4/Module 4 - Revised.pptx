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start thinking about a firm’s competitive environment or market structure. We categorize market structure using three characteristics:</a:t>
            </a:r>
          </a:p>
          <a:p/>
          <a:p>
            <a:r>
              <a:t>1. Number of firms: in general, when there are more companies in the market, the market is more competitive.</a:t>
            </a:r>
          </a:p>
          <a:p>
            <a:r>
              <a:t>2. Whether the consumer cares which company made the good: are the goods identical or can the consumer distinguish who made the good? In general, if goods are closer to identical, the market is more competitive.</a:t>
            </a:r>
          </a:p>
          <a:p>
            <a:r>
              <a:t>3. Barriers to entry: if new firms can enter the market easily, the market is more competitive.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Extent of market power. The spectrum runs from price taker (today’s topic) to price searchers with increasing degrees of market power (subject of subsequent sessions): </a:t>
            </a:r>
          </a:p>
          <a:p>
            <a:r>
              <a:t> </a:t>
            </a:r>
          </a:p>
          <a:p>
            <a:r>
              <a:t>A perfectly competitive firm has no market power; it has such a small percentage of the market that it can exert no effect on price. </a:t>
            </a:r>
          </a:p>
          <a:p>
            <a:r>
              <a:t> </a:t>
            </a:r>
          </a:p>
          <a:p>
            <a:r>
              <a:t>A monopolistically competitive firm, such as gas stations and restaurants, offers a differentiated product and thus faces a downward sloping demand curve – offerings of other firms are not perfect substitutes. There is still intense competition because the products can substitute for each other so the elasticity of demand facing each firm tends to be high. Free entry drives long-run profits to zero.</a:t>
            </a:r>
          </a:p>
          <a:p>
            <a:r>
              <a:t> </a:t>
            </a:r>
          </a:p>
          <a:p>
            <a:r>
              <a:t>Oligopolistic markets are cases of few firms. For example, a duopoly is a special case of an oligopoly with only 2 firms. Interesting strategic issues arise here as you need to think hard about your rivals’ response to your firm’s behavior. Entry may be limited.</a:t>
            </a:r>
          </a:p>
          <a:p>
            <a:r>
              <a:t> </a:t>
            </a:r>
          </a:p>
          <a:p>
            <a:r>
              <a:t>Monopolistic markets are markets with only one seller, such as utilities in most cities (legal monopoly) or Microsoft (quasi-monopoly, due to demand-side economies of scale, i.e. network effects).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Characteristics of a price taker market. Today we focus on perfect competition. For a market to be perfectly competitive, three conditions must be satisfied:</a:t>
            </a:r>
          </a:p>
          <a:p/>
          <a:p>
            <a:r>
              <a:t>There are many firms. Thus, the impact of any one firm on the market equilibrium is negligible. </a:t>
            </a:r>
          </a:p>
          <a:p>
            <a:r>
              <a:t>All firms produce an identical product.</a:t>
            </a:r>
          </a:p>
          <a:p>
            <a:r>
              <a:t>There are no barriers to entry.</a:t>
            </a:r>
          </a:p>
          <a:p/>
          <a:p>
            <a:r>
              <a:t>The implications of these conditions is that firms in perfectly competitive markets are price takers, i.e. they do not have discretion over the price to charge. In the case of price takers, they face perfectly elastic demand (horizontal demand curve), there is no product differentiation, and they cannot deviate in price. Examples include Indian rice producers, sellers of currency, etc. If the firm chooses a price above the market price, the firm will lose all sales. Since the firm can sell as much as it would like at the market price, it has no incentive to sell at a quantity below the market price.</a:t>
            </a:r>
          </a:p>
          <a:p/>
          <a:p>
            <a:r>
              <a:t>Why study perfect competition? There are 3 main reasons:</a:t>
            </a:r>
          </a:p>
          <a:p>
            <a:r>
              <a:t> </a:t>
            </a:r>
          </a:p>
          <a:p>
            <a:r>
              <a:t>You need to understand how perfectly competitive markets around you function. For instance, the bond market, the currency markets, commodity markets, labor markets, etc, where price taking behavior is frequent. </a:t>
            </a:r>
          </a:p>
          <a:p>
            <a:r>
              <a:t>You might have to act in perfectly competitive markets on occasion.</a:t>
            </a:r>
          </a:p>
          <a:p>
            <a:r>
              <a:t>By understanding perfect competition in depth you can come up with ways to make the market in which you operate look more like an imperfect competition market. This is what businesses do – differentiate, raise barriers to entry, gain market power.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slides explain the relationship between the market vs. the firm demand. It shows where the demand a price taker is coming from = market price, determined by the market equilibrium.</a:t>
            </a:r>
          </a:p>
          <a:p>
            <a:r>
              <a:t>Now, let’s turn to see how a price taker maximizes profit in the short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https://www.vulture.com/article/minari-movie-review-a-gentle-immigrant-drama-set-in-u-s.html</a:t>
            </a:r>
          </a:p>
          <a:p>
            <a:r>
              <a:t>https://time.com/5938842/minari-korean-american-farmers/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for the costs: https://ucanr.edu/sites/Farm_Management/files/179212.pdf</a:t>
            </a:r>
          </a:p>
          <a:p>
            <a:r>
              <a:t>Opportunity costs: salary from working somewhere else, estimated at about 15k</a:t>
            </a:r>
          </a:p>
          <a:p/>
          <a:p>
            <a:r>
              <a:t>Quantity in tons</a:t>
            </a:r>
          </a:p>
          <a:p/>
          <a:p>
            <a:r>
              <a:t>Fixed Costs: land rent, equipment + opportunity costs</a:t>
            </a:r>
          </a:p>
          <a:p>
            <a:r>
              <a:t>Variable Costs: seeds, water, fertilizers, pesticides</a:t>
            </a:r>
          </a:p>
          <a:p/>
          <a:p>
            <a:r>
              <a:t>Images: right (water), top left (fertilizers), bottom left (seeds)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for the costs: https://ucanr.edu/sites/Farm_Management/files/179212.pdf</a:t>
            </a:r>
          </a:p>
          <a:p>
            <a:r>
              <a:t>Opportunity costs: salary from working somewhere else, estimated at about 15k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bullet number 2: emphasize that no price decision since we are price takers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perfectly competitive firm sells at the price set by the market. Perfectly competitive firms then have one decision to make: the quantity to supply.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price: $400 per ton is about $20 per cwt, which is the USDA season-average price for fresh-market cabbage in 2020. Recent years run higher — $31.10 per cwt in 2024.</a:t>
            </a:r>
          </a:p>
          <a:p>
            <a:r>
              <a:t>https://www.agmrc.org/commodities-products/vegetables/cabbage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Ross Stores Annual report for illustration: https://www.sec.gov/ix?doc=/Archives/edgar/data/745732/000074573222000014/rost-20220129.htm#i84f0090916e6417881836bdad18ed609_64 </a:t>
            </a:r>
          </a:p>
          <a:p>
            <a:r>
              <a:t>Highlight the 3 items under “costs and expenses”</a:t>
            </a:r>
          </a:p>
          <a:p>
            <a:r>
              <a:t>	Costs of goods sold = variable</a:t>
            </a:r>
          </a:p>
          <a:p>
            <a:r>
              <a:t>	Selling, general and administrative = a bit of both (sales commissions would be variable but the CEO salary fixed)	</a:t>
            </a:r>
          </a:p>
          <a:p>
            <a:r>
              <a:t>	Interest expense (the cost of borrowing money) = fixed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profit, we subtract total cost from total revenue.</a:t>
            </a:r>
          </a:p>
          <a:p/>
          <a:p>
            <a:r>
              <a:t>Profit = TR – TC</a:t>
            </a:r>
          </a:p>
          <a:p>
            <a:r>
              <a:t>We can rewrite this as:</a:t>
            </a:r>
          </a:p>
          <a:p>
            <a:r>
              <a:t>Profit = P*Q – ATC*Q</a:t>
            </a:r>
          </a:p>
          <a:p>
            <a:r>
              <a:t>Profit = (P – ATC)*Q</a:t>
            </a:r>
          </a:p>
          <a:p/>
          <a:p>
            <a:r>
              <a:t>This formula determines whether the firm has positive, zero, or negative profit.</a:t>
            </a:r>
          </a:p>
          <a:p/>
          <a:p>
            <a:r>
              <a:t>Positive profit: In this figure, the firm’s total revenue is the area of the rectangle with height P and width Q*. The total cost is the area of the rectangle with the height ATC* and the width Q*. Because total revenue exceeds total costs at Q*, the firm is earning positive profits. This equation tells us that profit is positive when P&gt;ATC at the profit maximizing quantity Q*. </a:t>
            </a:r>
          </a:p>
          <a:p/>
          <a:p>
            <a:r>
              <a:t>Zero profit: Here P=ATC (=MC). We know that MC intersects ATC at its minimum. </a:t>
            </a:r>
          </a:p>
          <a:p/>
          <a:p>
            <a:r>
              <a:t>Negative profit: P&lt;ATC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2 and 3 solved by instructor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slides, say that we show them in the general case (MC not linear)</a:t>
            </a:r>
          </a:p>
          <a:p>
            <a:r>
              <a:t>Context: At the beginning can sell at a very high price… Profit maximization in the short run. This figure depicts positive profit in the short run.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price taker’s supply curve. We can trace out the supply curve of the firm.</a:t>
            </a:r>
          </a:p>
          <a:p>
            <a:r>
              <a:t>At P = 210, you maximize profits by producing 187.5 tons.</a:t>
            </a:r>
          </a:p>
          <a:p>
            <a:r>
              <a:t>At P = 400, you expand more.</a:t>
            </a:r>
          </a:p>
          <a:p>
            <a:r>
              <a:t>Bottom line: the MC curve is the firm’s short-run supply curve. We can draw the supply curve.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the Yi family starts using new high-yield seeds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assume every farmers are using those new high-yield seeds.</a:t>
            </a:r>
          </a:p>
          <a:p>
            <a:r>
              <a:t>First, you see the effect on the individual farmer we just saw on the previous slide. However, because all farmers face lower costs, this changes the market supply: downward shift of the market supply curve, leading to a lower market price and higher aggregate quantity.</a:t>
            </a:r>
          </a:p>
          <a:p>
            <a:r>
              <a:t>New market price = new demand curve for the individual farmer, so that the new quantity provided by the farmer is the intersection of this new D curve with the new MC curve (MC’ and MR’). The farmer produces more than before, but less than if he/she was the only one to have the new seeds (which would be the quantity given by the intersection of MC’ and MR)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from the book: because all inputs and costs are variable in the long run, the firm’s long-run supply curve is the part of its long-run marginal cost curve above its long-run average total cost curve ( LATC=LAVC because there are no fixed costs in the long run).</a:t>
            </a:r>
          </a:p>
          <a:p>
            <a:r>
              <a:t>Yi example: in the long run they can decide whether or not to rent the land + how much land to rent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 is downward sloping because of economies of scale initially, and then upward-sloping because of dis-economies of scale. Note that this is different from ATC being down-ward sloping because of Fixed costs of a GIVEN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https://www.vox.com/future-perfect/2023/2/10/23589333/cecile-steele-chicken-meat-poultry-eggs-delaware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characterize the drug market as a “constant cost industry?”  Yes.</a:t>
            </a:r>
          </a:p>
          <a:p>
            <a:r>
              <a:t>Fixed cost: gun, car…</a:t>
            </a:r>
          </a:p>
          <a:p>
            <a:r>
              <a:t>Variable cost: drugs</a:t>
            </a:r>
          </a:p>
          <a:p>
            <a:r>
              <a:t>Same for each dealer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 effect: More drugs supplied by remaining dealers at higher P. Profits!</a:t>
            </a:r>
          </a:p>
          <a:p>
            <a:r>
              <a:t>LR effect: Entry  Return to old equilibrium.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 effect: Less drugs supplied by each dealer. Loss!</a:t>
            </a:r>
          </a:p>
          <a:p>
            <a:r>
              <a:t>LR effect: Exit  Converge to new equilibrium with less drugs consumed!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 consumers would be willing to pay = MPV we have seen in Module 2</a:t>
            </a:r>
          </a:p>
          <a:p/>
          <a:p>
            <a:r>
              <a:t>We can tell them to check in the textbook how to compute CS from the demand curve (triangle area) + that it will be covered by the 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PS&gt;CS but it all depends on the relative steepness of the D and S curves</a:t>
            </a:r>
          </a:p>
          <a:p>
            <a:r>
              <a:t>Willingness to sell depends on the producer cost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gasoline</a:t>
            </a:r>
          </a:p>
          <a:p/>
          <a:p>
            <a:r>
              <a:t>The welfare losses and incidence (who pays the tax) depends on elasticities of demand and supply. For example, if supply is perfectly elastic (the supply curve is horizontal), all of the tax is paid by the consumers.</a:t>
            </a:r>
          </a:p>
          <a:p/>
          <a:p>
            <a:r>
              <a:t>The analysis of a subsidy is similar, except the demand (or supply) curve will shift outward.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https://www.epi.org/minimum-wage-tracker/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https://www.smgov.net/departments/rentcontrol/mar.aspx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https://caanet.org/voters-reject-prop-33-extreme-rent-control-defeated-again/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geography of residential properties and rent control in Cambridge, Massachusetts. Cambridge residential properties as of 2008 are marked with gray circles. Plots that were rent controlled as of 1994 are overlaid with black circles.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study on the end of rent control in Cambridge, MA finds results consistent with economic theory. When the price control is removed, the price of previously controlled units goes up, i.e. adjusts to the free market equilibrium price. Investment in these units also rises, consistent with landlords’ improvement of their units in order to command a higher price. Interestingly, the study finds that price and investment in nearby never-controlled units also rise. This is likely due to a positive spillover from the improvement in the quality of the controlled units. </a:t>
            </a:r>
          </a:p>
          <a:p/>
          <a:p>
            <a:r>
              <a:t>For more, see the original study: https://economics.mit.edu/files/9774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Externality of gas is approx $1.5 per gallon: https://energyathaas.wordpress.com/2015/01/05/raise-the-gas-tax/ </a:t>
            </a:r>
          </a:p>
          <a:p/>
          <a:p>
            <a:r>
              <a:t>77 countries have committed to achieving net zero emissions by 2050</a:t>
            </a:r>
          </a:p>
          <a:p>
            <a:r>
              <a:t>Half of emissions cuts must be in place by 2030 to keep warming below 1.5°C</a:t>
            </a:r>
          </a:p>
          <a:p/>
          <a:p>
            <a:r>
              <a:t>Carbon taxes have been implemented (or scheduled) in 46 countries</a:t>
            </a:r>
          </a:p>
          <a:p>
            <a:r>
              <a:t>$44 billion raised in carbon pricing revenues in 2018</a:t>
            </a:r>
          </a:p>
          <a:p/>
          <a:p>
            <a:r>
              <a:t>But this is not enough</a:t>
            </a:r>
          </a:p>
          <a:p>
            <a:r>
              <a:t>Covers only 20% of emissions</a:t>
            </a:r>
          </a:p>
          <a:p>
            <a:r>
              <a:t>No carbon tax in the US nor in China…</a:t>
            </a:r>
          </a:p>
          <a:p>
            <a:r>
              <a:t>Incentives for Coal countries to burn their coal even faster now, before regulation goes into effect</a:t>
            </a:r>
          </a:p>
          <a:p/>
          <a:p>
            <a:r>
              <a:t>Other ways of limiting emissions?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5.png"/><Relationship Id="rId6" Type="http://schemas.openxmlformats.org/officeDocument/2006/relationships/image" Target="../media/image6.jpg"/><Relationship Id="rId7"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2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2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wmf"/><Relationship Id="rId3" Type="http://schemas.openxmlformats.org/officeDocument/2006/relationships/image" Target="../media/image3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1999" y="1783080"/>
            <a:ext cx="11687697" cy="1554480"/>
          </a:xfrm>
          <a:prstGeom prst="rect">
            <a:avLst/>
          </a:prstGeom>
          <a:noFill/>
        </p:spPr>
        <p:txBody>
          <a:bodyPr wrap="square" lIns="0" rIns="0" tIns="0" bIns="0">
            <a:spAutoFit/>
          </a:bodyPr>
          <a:lstStyle/>
          <a:p>
            <a:pPr algn="ctr"/>
            <a:r>
              <a:rPr sz="5000" b="1" i="0" u="none">
                <a:solidFill>
                  <a:srgbClr val="0B2B4E"/>
                </a:solidFill>
                <a:latin typeface="Calibri"/>
              </a:rPr>
              <a:t>Competitive Markets and Market Interventions</a:t>
            </a:r>
          </a:p>
        </p:txBody>
      </p:sp>
      <p:sp>
        <p:nvSpPr>
          <p:cNvPr id="3" name="TextBox 2"/>
          <p:cNvSpPr txBox="1"/>
          <p:nvPr/>
        </p:nvSpPr>
        <p:spPr>
          <a:xfrm>
            <a:off x="251999" y="3401568"/>
            <a:ext cx="11687697" cy="731520"/>
          </a:xfrm>
          <a:prstGeom prst="rect">
            <a:avLst/>
          </a:prstGeom>
          <a:noFill/>
        </p:spPr>
        <p:txBody>
          <a:bodyPr wrap="square" lIns="0" rIns="0" tIns="0" bIns="0">
            <a:spAutoFit/>
          </a:bodyPr>
          <a:lstStyle/>
          <a:p>
            <a:pPr algn="ctr"/>
            <a:r>
              <a:rPr sz="4000" b="1" i="0" u="none">
                <a:solidFill>
                  <a:srgbClr val="E09F3E"/>
                </a:solidFill>
                <a:latin typeface="Calibri"/>
              </a:rPr>
              <a:t>Module 4</a:t>
            </a:r>
          </a:p>
        </p:txBody>
      </p:sp>
      <p:sp>
        <p:nvSpPr>
          <p:cNvPr id="4" name="Rectangle 3"/>
          <p:cNvSpPr/>
          <p:nvPr/>
        </p:nvSpPr>
        <p:spPr>
          <a:xfrm>
            <a:off x="4267047" y="4224528"/>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1999" y="4553712"/>
            <a:ext cx="11687697" cy="41148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251999" y="5047488"/>
            <a:ext cx="11687697" cy="411480"/>
          </a:xfrm>
          <a:prstGeom prst="rect">
            <a:avLst/>
          </a:prstGeom>
          <a:noFill/>
        </p:spPr>
        <p:txBody>
          <a:bodyPr wrap="square" lIns="0" rIns="0" t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251999" y="653796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NV_s01_4_67f56784.jpg"/>
          <p:cNvPicPr>
            <a:picLocks noChangeAspect="1"/>
          </p:cNvPicPr>
          <p:nvPr/>
        </p:nvPicPr>
        <p:blipFill>
          <a:blip r:embed="rId2"/>
          <a:stretch>
            <a:fillRect/>
          </a:stretch>
        </p:blipFill>
        <p:spPr>
          <a:xfrm>
            <a:off x="548640" y="5870448"/>
            <a:ext cx="2011680" cy="3852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Logistics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Some Logistics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Coffee &amp; Econ office hours restart next week</a:t>
            </a:r>
          </a:p>
          <a:p>
            <a:pPr algn="l"/>
            <a:r>
              <a:rPr>
                <a:latin typeface="Calibri"/>
              </a:rPr>
              <a:t>Final exam period: December 11 – 13, 2026</a:t>
            </a:r>
          </a:p>
          <a:p>
            <a:pPr algn="l" lvl="1"/>
            <a:r>
              <a:rPr>
                <a:latin typeface="Calibri"/>
              </a:rPr>
              <a:t>One 3.5-hour window — the same window for everyone</a:t>
            </a:r>
          </a:p>
          <a:p>
            <a:pPr algn="l" lvl="1"/>
            <a:r>
              <a:rPr>
                <a:latin typeface="Calibri"/>
              </a:rPr>
              <a:t>The exact date and time will be announced later</a:t>
            </a:r>
          </a:p>
          <a:p>
            <a:pPr algn="l" lvl="1"/>
            <a:r>
              <a:rPr>
                <a:latin typeface="Calibri"/>
              </a:rPr>
              <a:t>Online, open book, open notes; covers all material</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2B64BE3-EAA0-5B55-B44E-8B588CEF81A4}" type="slidenum">
              <a:rPr lang="en-US" sz="1200" dirty="0">
                <a:solidFill>
                  <a:srgbClr val="555B66"/>
                </a:solidFill>
                <a:latin typeface="Calibri"/>
              </a:rPr>
              <a:t>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Course Roadmap</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39" y="5271516"/>
            <a:ext cx="1325880" cy="292608"/>
          </a:xfrm>
          <a:prstGeom prst="rect">
            <a:avLst/>
          </a:prstGeom>
          <a:noFill/>
        </p:spPr>
        <p:txBody>
          <a:bodyPr wrap="square" lIns="0" rIns="0" t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A45A4D84-7183-56C5-AAA9-0FBCD4EF9048}" type="slidenum">
              <a:rPr lang="en-US" sz="1200" dirty="0">
                <a:solidFill>
                  <a:srgbClr val="555B66"/>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37845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Market Structures</a:t>
            </a:r>
          </a:p>
          <a:p>
            <a:pPr algn="l">
              <a:spcBef>
                <a:spcPts val="0"/>
              </a:spcBef>
              <a:buNone/>
            </a:pPr>
            <a:r>
              <a:rPr sz="2200">
                <a:solidFill>
                  <a:srgbClr val="555B66"/>
                </a:solidFill>
                <a:latin typeface="Calibri"/>
              </a:rPr>
              <a:t>Where a firm sits between price taker and price setter</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096262"/>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Perfect Competition</a:t>
            </a:r>
          </a:p>
          <a:p>
            <a:pPr algn="l">
              <a:spcBef>
                <a:spcPts val="0"/>
              </a:spcBef>
              <a:buNone/>
            </a:pPr>
            <a:r>
              <a:rPr sz="2200">
                <a:solidFill>
                  <a:srgbClr val="555B66"/>
                </a:solidFill>
                <a:latin typeface="Calibri"/>
              </a:rPr>
              <a:t>Many small sellers, an identical product, and free entry</a:t>
            </a:r>
          </a:p>
        </p:txBody>
      </p:sp>
      <p:sp>
        <p:nvSpPr>
          <p:cNvPr id="11" name="Oval 10"/>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2a</a:t>
            </a:r>
          </a:p>
        </p:txBody>
      </p:sp>
      <p:sp>
        <p:nvSpPr>
          <p:cNvPr id="12" name="TextBox 11"/>
          <p:cNvSpPr txBox="1"/>
          <p:nvPr/>
        </p:nvSpPr>
        <p:spPr>
          <a:xfrm>
            <a:off x="2148840" y="281406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Profit Maximization of a Price Taker in the Short Run</a:t>
            </a:r>
          </a:p>
          <a:p>
            <a:pPr algn="l">
              <a:spcBef>
                <a:spcPts val="0"/>
              </a:spcBef>
              <a:buNone/>
            </a:pPr>
            <a:r>
              <a:rPr sz="2000">
                <a:solidFill>
                  <a:srgbClr val="555B66"/>
                </a:solidFill>
                <a:latin typeface="Calibri"/>
              </a:rPr>
              <a:t>How much to produce, and when to shut down</a:t>
            </a:r>
          </a:p>
        </p:txBody>
      </p:sp>
      <p:sp>
        <p:nvSpPr>
          <p:cNvPr id="13" name="Oval 12"/>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2b</a:t>
            </a:r>
          </a:p>
        </p:txBody>
      </p:sp>
      <p:sp>
        <p:nvSpPr>
          <p:cNvPr id="14" name="TextBox 13"/>
          <p:cNvSpPr txBox="1"/>
          <p:nvPr/>
        </p:nvSpPr>
        <p:spPr>
          <a:xfrm>
            <a:off x="2148840" y="353187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Firm-Level and Market Supply</a:t>
            </a:r>
          </a:p>
          <a:p>
            <a:pPr algn="l">
              <a:spcBef>
                <a:spcPts val="0"/>
              </a:spcBef>
              <a:buNone/>
            </a:pPr>
            <a:r>
              <a:rPr sz="2000">
                <a:solidFill>
                  <a:srgbClr val="555B66"/>
                </a:solidFill>
                <a:latin typeface="Calibri"/>
              </a:rPr>
              <a:t>Why the marginal cost curve is the supply curve</a:t>
            </a:r>
          </a:p>
        </p:txBody>
      </p:sp>
      <p:sp>
        <p:nvSpPr>
          <p:cNvPr id="15" name="Oval 14"/>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2c</a:t>
            </a:r>
          </a:p>
        </p:txBody>
      </p:sp>
      <p:sp>
        <p:nvSpPr>
          <p:cNvPr id="16" name="TextBox 15"/>
          <p:cNvSpPr txBox="1"/>
          <p:nvPr/>
        </p:nvSpPr>
        <p:spPr>
          <a:xfrm>
            <a:off x="2148840" y="4249674"/>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Long-Run Competitive Equilibrium</a:t>
            </a:r>
          </a:p>
          <a:p>
            <a:pPr algn="l">
              <a:spcBef>
                <a:spcPts val="0"/>
              </a:spcBef>
              <a:buNone/>
            </a:pPr>
            <a:r>
              <a:rPr sz="2000">
                <a:solidFill>
                  <a:srgbClr val="555B66"/>
                </a:solidFill>
                <a:latin typeface="Calibri"/>
              </a:rPr>
              <a:t>Entry and exit drive economic profits to zero</a:t>
            </a:r>
          </a:p>
        </p:txBody>
      </p:sp>
      <p:sp>
        <p:nvSpPr>
          <p:cNvPr id="17" name="Oval 16"/>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8" name="TextBox 17"/>
          <p:cNvSpPr txBox="1"/>
          <p:nvPr/>
        </p:nvSpPr>
        <p:spPr>
          <a:xfrm>
            <a:off x="1874519" y="496747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 Distortions and Regulations</a:t>
            </a:r>
          </a:p>
          <a:p>
            <a:pPr algn="l">
              <a:spcBef>
                <a:spcPts val="0"/>
              </a:spcBef>
              <a:buNone/>
            </a:pPr>
            <a:r>
              <a:rPr sz="2200">
                <a:solidFill>
                  <a:srgbClr val="555B66"/>
                </a:solidFill>
                <a:latin typeface="Calibri"/>
              </a:rPr>
              <a:t>Who wins, who loses, and what is lost outright</a:t>
            </a:r>
          </a:p>
        </p:txBody>
      </p:sp>
      <p:sp>
        <p:nvSpPr>
          <p:cNvPr id="19" name="Oval 18"/>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20" name="TextBox 19"/>
          <p:cNvSpPr txBox="1"/>
          <p:nvPr/>
        </p:nvSpPr>
        <p:spPr>
          <a:xfrm>
            <a:off x="1874519" y="5685282"/>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Externalities</a:t>
            </a:r>
          </a:p>
          <a:p>
            <a:pPr algn="l">
              <a:spcBef>
                <a:spcPts val="0"/>
              </a:spcBef>
              <a:buNone/>
            </a:pPr>
            <a:r>
              <a:rPr sz="2200">
                <a:solidFill>
                  <a:srgbClr val="555B66"/>
                </a:solidFill>
                <a:latin typeface="Calibri"/>
              </a:rPr>
              <a:t>Costs and benefits that land on people outside the deal</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4" name="TextBox 23"/>
          <p:cNvSpPr txBox="1"/>
          <p:nvPr/>
        </p:nvSpPr>
        <p:spPr>
          <a:xfrm>
            <a:off x="11475720" y="6583680"/>
            <a:ext cx="502920" cy="292608"/>
          </a:xfrm>
          <a:prstGeom prst="rect">
            <a:avLst/>
          </a:prstGeom>
          <a:noFill/>
        </p:spPr>
        <p:txBody>
          <a:bodyPr wrap="none" lIns="0" rIns="0" tIns="0" bIns="0">
            <a:spAutoFit/>
          </a:bodyPr>
          <a:lstStyle/>
          <a:p>
            <a:pPr algn="r"/>
            <a:fld id="{15B941D9-D594-59B7-AD0C-322EB1EE6C39}" type="slidenum">
              <a:rPr lang="en-US" sz="1200" dirty="0">
                <a:solidFill>
                  <a:srgbClr val="555B66"/>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32359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9" name="TextBox 8"/>
          <p:cNvSpPr txBox="1"/>
          <p:nvPr/>
        </p:nvSpPr>
        <p:spPr>
          <a:xfrm>
            <a:off x="1874519" y="137845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Introduction to Market Structures</a:t>
            </a:r>
          </a:p>
          <a:p>
            <a:pPr algn="l">
              <a:spcBef>
                <a:spcPts val="0"/>
              </a:spcBef>
              <a:buNone/>
            </a:pPr>
            <a:r>
              <a:rPr sz="2200">
                <a:solidFill>
                  <a:srgbClr val="555B66"/>
                </a:solidFill>
                <a:latin typeface="Calibri"/>
              </a:rPr>
              <a:t>Where a firm sits between price taker and price setter</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1" name="TextBox 10"/>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2" name="Oval 11"/>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3" name="TextBox 12"/>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4" name="Oval 13"/>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5" name="TextBox 14"/>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6" name="Oval 15"/>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7" name="TextBox 16"/>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9" name="TextBox 18"/>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93248381-6920-52FA-A239-9A7875F0D053}" type="slidenum">
              <a:rPr lang="en-US" sz="1200" dirty="0">
                <a:solidFill>
                  <a:srgbClr val="555B66"/>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Introduction to Market Structures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Four Basic Market Structures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3" name="Group pair 113"/>
          <p:cNvGrpSpPr/>
          <p:nvPr/>
        </p:nvGrpSpPr>
        <p:grpSpPr>
          <a:xfrm>
            <a:off x="380847" y="1783080"/>
            <a:ext cx="11430000" cy="3383280"/>
            <a:chOff x="380847" y="1783080"/>
            <a:chExt cx="11430000" cy="3383280"/>
          </a:xfrm>
        </p:grpSpPr>
        <p:sp>
          <p:nvSpPr>
            <p:cNvPr id="7" name="Rectangle 6"/>
            <p:cNvSpPr/>
            <p:nvPr/>
          </p:nvSpPr>
          <p:spPr>
            <a:xfrm>
              <a:off x="380847" y="1783080"/>
              <a:ext cx="11430000"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18007" y="1920240"/>
            <a:ext cx="11155680" cy="3108960"/>
          </p:xfrm>
          <a:graphic>
            <a:graphicData uri="http://schemas.openxmlformats.org/drawingml/2006/table">
              <a:tbl>
                <a:tblPr firstRow="0" bandRow="0"/>
                <a:tblGrid>
                  <a:gridCol w="2743200"/>
                  <a:gridCol w="2103120"/>
                  <a:gridCol w="2103120"/>
                  <a:gridCol w="2103120"/>
                  <a:gridCol w="2103120"/>
                </a:tblGrid>
                <a:tr h="914400">
                  <a:tc>
                    <a:txBody>
                      <a:bodyPr wrap="square"/>
                      <a:lstStyle/>
                      <a:p>
                        <a:pPr algn="ctr"/>
                        <a:r>
                          <a:rPr sz="2000" b="1">
                            <a:solidFill>
                              <a:srgbClr val="FFFFFF"/>
                            </a:solidFill>
                            <a:latin typeface="Calibri"/>
                          </a:rPr>
                          <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Perfect
Competition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Monopolistic
Competition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Oligopoly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000" b="1">
                            <a:solidFill>
                              <a:srgbClr val="FFFFFF"/>
                            </a:solidFill>
                            <a:latin typeface="Calibri"/>
                          </a:rPr>
                          <a:t>Monopoly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731520">
                  <a:tc>
                    <a:txBody>
                      <a:bodyPr wrap="square"/>
                      <a:lstStyle/>
                      <a:p>
                        <a:pPr algn="l"/>
                        <a:r>
                          <a:rPr sz="2000" b="1">
                            <a:solidFill>
                              <a:srgbClr val="0B2B4E"/>
                            </a:solidFill>
                            <a:latin typeface="Calibri"/>
                          </a:rPr>
                          <a:t>Number of firms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Few</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731520">
                  <a:tc>
                    <a:txBody>
                      <a:bodyPr wrap="square"/>
                      <a:lstStyle/>
                      <a:p>
                        <a:pPr algn="l"/>
                        <a:r>
                          <a:rPr sz="2000" b="1">
                            <a:solidFill>
                              <a:srgbClr val="0B2B4E"/>
                            </a:solidFill>
                            <a:latin typeface="Calibri"/>
                          </a:rPr>
                          <a:t>Type of products sold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Identical</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Differentiated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Identical or
Differentiated</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“Unique”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731520">
                  <a:tc>
                    <a:txBody>
                      <a:bodyPr wrap="square"/>
                      <a:lstStyle/>
                      <a:p>
                        <a:pPr algn="l"/>
                        <a:r>
                          <a:rPr sz="2000" b="1">
                            <a:solidFill>
                              <a:srgbClr val="0B2B4E"/>
                            </a:solidFill>
                            <a:latin typeface="Calibri"/>
                          </a:rPr>
                          <a:t>Barriers to entry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None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None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Some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bl>
            </a:graphicData>
          </a:graphic>
        </p:graphicFrame>
      </p:grpSp>
      <p:sp>
        <p:nvSpPr>
          <p:cNvPr id="9" name="Rounded Rectangle 8"/>
          <p:cNvSpPr/>
          <p:nvPr/>
        </p:nvSpPr>
        <p:spPr>
          <a:xfrm>
            <a:off x="1706727" y="5577840"/>
            <a:ext cx="877824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More firms, more similar products, easier entry → more competition</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9AF6752B-E42B-5771-9B4C-30619DDD446A}" type="slidenum">
              <a:rPr lang="en-US" sz="1200" dirty="0">
                <a:solidFill>
                  <a:srgbClr val="555B66"/>
                </a:solidFill>
                <a:latin typeface="Calibri"/>
              </a:rPr>
              <a:t>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Introduction to Market Structures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Extent of Market Power: Price Takers vs. Price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16736"/>
            <a:ext cx="3291840" cy="365760"/>
          </a:xfrm>
          <a:prstGeom prst="rect">
            <a:avLst/>
          </a:prstGeom>
          <a:noFill/>
        </p:spPr>
        <p:txBody>
          <a:bodyPr wrap="square" lIns="0" rIns="0" tIns="0" bIns="0">
            <a:spAutoFit/>
          </a:bodyPr>
          <a:lstStyle/>
          <a:p>
            <a:pPr algn="l"/>
            <a:r>
              <a:rPr sz="1700" b="0" i="1" u="none">
                <a:solidFill>
                  <a:srgbClr val="555B66"/>
                </a:solidFill>
                <a:latin typeface="Calibri"/>
              </a:rPr>
              <a:t>Least market power</a:t>
            </a:r>
          </a:p>
        </p:txBody>
      </p:sp>
      <p:sp>
        <p:nvSpPr>
          <p:cNvPr id="8" name="TextBox 7"/>
          <p:cNvSpPr txBox="1"/>
          <p:nvPr/>
        </p:nvSpPr>
        <p:spPr>
          <a:xfrm>
            <a:off x="8412480" y="1316736"/>
            <a:ext cx="3291840" cy="365760"/>
          </a:xfrm>
          <a:prstGeom prst="rect">
            <a:avLst/>
          </a:prstGeom>
          <a:noFill/>
        </p:spPr>
        <p:txBody>
          <a:bodyPr wrap="square" lIns="0" rIns="0" tIns="0" bIns="0">
            <a:spAutoFit/>
          </a:bodyPr>
          <a:lstStyle/>
          <a:p>
            <a:pPr algn="r"/>
            <a:r>
              <a:rPr sz="1700" b="0" i="1" u="none">
                <a:solidFill>
                  <a:srgbClr val="555B66"/>
                </a:solidFill>
                <a:latin typeface="Calibri"/>
              </a:rPr>
              <a:t>Most market power</a:t>
            </a:r>
          </a:p>
        </p:txBody>
      </p:sp>
      <p:cxnSp>
        <p:nvCxnSpPr>
          <p:cNvPr id="9" name="Connector 8"/>
          <p:cNvCxnSpPr/>
          <p:nvPr/>
        </p:nvCxnSpPr>
        <p:spPr>
          <a:xfrm>
            <a:off x="502920" y="1810512"/>
            <a:ext cx="11183112" cy="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1975104"/>
            <a:ext cx="2697480" cy="685800"/>
          </a:xfrm>
          <a:prstGeom prst="rect">
            <a:avLst/>
          </a:prstGeom>
          <a:noFill/>
        </p:spPr>
        <p:txBody>
          <a:bodyPr wrap="square" lIns="0" rIns="0" t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1975104"/>
            <a:ext cx="2697480" cy="685800"/>
          </a:xfrm>
          <a:prstGeom prst="rect">
            <a:avLst/>
          </a:prstGeom>
          <a:noFill/>
        </p:spPr>
        <p:txBody>
          <a:bodyPr wrap="square" lIns="0" rIns="0" t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1975104"/>
            <a:ext cx="2697480" cy="685800"/>
          </a:xfrm>
          <a:prstGeom prst="rect">
            <a:avLst/>
          </a:prstGeom>
          <a:noFill/>
        </p:spPr>
        <p:txBody>
          <a:bodyPr wrap="square" lIns="0" rIns="0" t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1975104"/>
            <a:ext cx="2697480" cy="685800"/>
          </a:xfrm>
          <a:prstGeom prst="rect">
            <a:avLst/>
          </a:prstGeom>
          <a:noFill/>
        </p:spPr>
        <p:txBody>
          <a:bodyPr wrap="square" lIns="0" rIns="0" tIns="0" bIns="0">
            <a:spAutoFit/>
          </a:bodyPr>
          <a:lstStyle/>
          <a:p>
            <a:pPr algn="ctr"/>
            <a:r>
              <a:rPr sz="2200" b="1" i="0" u="none">
                <a:solidFill>
                  <a:srgbClr val="0B2B4E"/>
                </a:solidFill>
                <a:latin typeface="Calibri"/>
              </a:rPr>
              <a:t>Monopoly</a:t>
            </a:r>
          </a:p>
        </p:txBody>
      </p:sp>
      <p:sp>
        <p:nvSpPr>
          <p:cNvPr id="14" name="Rectangle 13"/>
          <p:cNvSpPr/>
          <p:nvPr/>
        </p:nvSpPr>
        <p:spPr>
          <a:xfrm>
            <a:off x="3154680" y="1956816"/>
            <a:ext cx="27432" cy="731520"/>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89320" y="1956816"/>
            <a:ext cx="27432" cy="731520"/>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78240" y="1956816"/>
            <a:ext cx="27432" cy="731520"/>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761488"/>
            <a:ext cx="2697480" cy="320040"/>
          </a:xfrm>
          <a:prstGeom prst="rect">
            <a:avLst/>
          </a:prstGeom>
          <a:noFill/>
        </p:spPr>
        <p:txBody>
          <a:bodyPr wrap="square" lIns="0" rIns="0" tIns="0" bIns="0">
            <a:spAutoFit/>
          </a:bodyPr>
          <a:lstStyle/>
          <a:p>
            <a:pPr algn="ctr"/>
            <a:r>
              <a:rPr sz="1800" b="0" i="1" u="none">
                <a:solidFill>
                  <a:srgbClr val="555B66"/>
                </a:solidFill>
                <a:latin typeface="Calibri"/>
              </a:rPr>
              <a:t>(Price takers)</a:t>
            </a:r>
          </a:p>
        </p:txBody>
      </p:sp>
      <p:sp>
        <p:nvSpPr>
          <p:cNvPr id="18" name="TextBox 17"/>
          <p:cNvSpPr txBox="1"/>
          <p:nvPr/>
        </p:nvSpPr>
        <p:spPr>
          <a:xfrm>
            <a:off x="3291840" y="2761488"/>
            <a:ext cx="8321040" cy="320040"/>
          </a:xfrm>
          <a:prstGeom prst="rect">
            <a:avLst/>
          </a:prstGeom>
          <a:noFill/>
        </p:spPr>
        <p:txBody>
          <a:bodyPr wrap="square" lIns="0" rIns="0" tIns="0" bIns="0">
            <a:spAutoFit/>
          </a:bodyPr>
          <a:lstStyle/>
          <a:p>
            <a:pPr algn="ctr"/>
            <a:r>
              <a:rPr sz="1800" b="0" i="1" u="none">
                <a:solidFill>
                  <a:srgbClr val="555B66"/>
                </a:solidFill>
                <a:latin typeface="Calibri"/>
              </a:rPr>
              <a:t>(Price searchers)</a:t>
            </a:r>
          </a:p>
        </p:txBody>
      </p:sp>
      <p:sp>
        <p:nvSpPr>
          <p:cNvPr id="19" name="Rounded Rectangle 18"/>
          <p:cNvSpPr/>
          <p:nvPr/>
        </p:nvSpPr>
        <p:spPr>
          <a:xfrm>
            <a:off x="365760" y="1737360"/>
            <a:ext cx="2926080" cy="3657600"/>
          </a:xfrm>
          <a:prstGeom prst="roundRect">
            <a:avLst>
              <a:gd name="adj" fmla="val 4000"/>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34" name="Group pair 134"/>
          <p:cNvGrpSpPr/>
          <p:nvPr/>
        </p:nvGrpSpPr>
        <p:grpSpPr>
          <a:xfrm>
            <a:off x="502920" y="3291840"/>
            <a:ext cx="2697480" cy="1956816"/>
            <a:chOff x="502920" y="3291840"/>
            <a:chExt cx="2697480" cy="1956816"/>
          </a:xfrm>
        </p:grpSpPr>
        <p:pic>
          <p:nvPicPr>
            <p:cNvPr id="20" name="Picture 19" descr="NV_s07_10_f9f010a8.jpg"/>
            <p:cNvPicPr>
              <a:picLocks noChangeAspect="1"/>
            </p:cNvPicPr>
            <p:nvPr/>
          </p:nvPicPr>
          <p:blipFill>
            <a:blip r:embed="rId2"/>
            <a:stretch>
              <a:fillRect/>
            </a:stretch>
          </p:blipFill>
          <p:spPr>
            <a:xfrm>
              <a:off x="1024128" y="3291840"/>
              <a:ext cx="1610666" cy="155448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502920" y="4956048"/>
              <a:ext cx="2697480" cy="292608"/>
            </a:xfrm>
            <a:prstGeom prst="rect">
              <a:avLst/>
            </a:prstGeom>
            <a:noFill/>
          </p:spPr>
          <p:txBody>
            <a:bodyPr wrap="square" lIns="0" rIns="0" tIns="0" bIns="0">
              <a:spAutoFit/>
            </a:bodyPr>
            <a:lstStyle/>
            <a:p>
              <a:pPr algn="ctr"/>
              <a:r>
                <a:rPr sz="1300" b="0" i="1" u="none">
                  <a:solidFill>
                    <a:srgbClr val="555B66"/>
                  </a:solidFill>
                  <a:latin typeface="Calibri"/>
                </a:rPr>
                <a:t>Commodity markets</a:t>
              </a:r>
            </a:p>
          </p:txBody>
        </p:sp>
      </p:grpSp>
      <p:grpSp>
        <p:nvGrpSpPr>
          <p:cNvPr id="135" name="Group pair 135"/>
          <p:cNvGrpSpPr/>
          <p:nvPr/>
        </p:nvGrpSpPr>
        <p:grpSpPr>
          <a:xfrm>
            <a:off x="3291840" y="3291840"/>
            <a:ext cx="2697480" cy="1956816"/>
            <a:chOff x="3291840" y="3291840"/>
            <a:chExt cx="2697480" cy="1956816"/>
          </a:xfrm>
        </p:grpSpPr>
        <p:pic>
          <p:nvPicPr>
            <p:cNvPr id="21" name="Picture 20" descr="NV_s07_g1.1_1f7061fb.png"/>
            <p:cNvPicPr>
              <a:picLocks noChangeAspect="1"/>
            </p:cNvPicPr>
            <p:nvPr/>
          </p:nvPicPr>
          <p:blipFill>
            <a:blip r:embed="rId3"/>
            <a:stretch>
              <a:fillRect/>
            </a:stretch>
          </p:blipFill>
          <p:spPr>
            <a:xfrm>
              <a:off x="3785615" y="3291840"/>
              <a:ext cx="1663517" cy="1554480"/>
            </a:xfrm>
            <a:prstGeom prst="roundRect">
              <a:avLst>
                <a:gd name="adj" fmla="val 8000"/>
              </a:avLst>
            </a:prstGeom>
            <a:effectLst>
              <a:outerShdw blurRad="50800" dist="38100" dir="2700000" algn="tl" rotWithShape="0">
                <a:srgbClr val="000000">
                  <a:alpha val="50000"/>
                </a:srgbClr>
              </a:outerShdw>
            </a:effectLst>
          </p:spPr>
        </p:pic>
        <p:sp>
          <p:nvSpPr>
            <p:cNvPr id="26" name="TextBox 25"/>
            <p:cNvSpPr txBox="1"/>
            <p:nvPr/>
          </p:nvSpPr>
          <p:spPr>
            <a:xfrm>
              <a:off x="3291840" y="4956048"/>
              <a:ext cx="2697480" cy="292608"/>
            </a:xfrm>
            <a:prstGeom prst="rect">
              <a:avLst/>
            </a:prstGeom>
            <a:noFill/>
          </p:spPr>
          <p:txBody>
            <a:bodyPr wrap="square" lIns="0" rIns="0" tIns="0" bIns="0">
              <a:spAutoFit/>
            </a:bodyPr>
            <a:lstStyle/>
            <a:p>
              <a:pPr algn="ctr"/>
              <a:r>
                <a:rPr sz="1300" b="0" i="1" u="none">
                  <a:solidFill>
                    <a:srgbClr val="555B66"/>
                  </a:solidFill>
                  <a:latin typeface="Calibri"/>
                </a:rPr>
                <a:t>Restaurants in WeHo</a:t>
              </a:r>
            </a:p>
          </p:txBody>
        </p:sp>
      </p:grpSp>
      <p:pic>
        <p:nvPicPr>
          <p:cNvPr id="22" name="Picture 21" descr="NV_s07_g12.1_a0b89503.jpg"/>
          <p:cNvPicPr>
            <a:picLocks noChangeAspect="1"/>
          </p:cNvPicPr>
          <p:nvPr/>
        </p:nvPicPr>
        <p:blipFill>
          <a:blip r:embed="rId4"/>
          <a:stretch>
            <a:fillRect/>
          </a:stretch>
        </p:blipFill>
        <p:spPr>
          <a:xfrm>
            <a:off x="6949440" y="3337560"/>
            <a:ext cx="1051560" cy="699326"/>
          </a:xfrm>
          <a:prstGeom prst="rect">
            <a:avLst/>
          </a:prstGeom>
        </p:spPr>
      </p:pic>
      <p:grpSp>
        <p:nvGrpSpPr>
          <p:cNvPr id="136" name="Group pair 136"/>
          <p:cNvGrpSpPr/>
          <p:nvPr/>
        </p:nvGrpSpPr>
        <p:grpSpPr>
          <a:xfrm>
            <a:off x="6126480" y="4133087"/>
            <a:ext cx="2697480" cy="1115569"/>
            <a:chOff x="6126480" y="4133087"/>
            <a:chExt cx="2697480" cy="1115569"/>
          </a:xfrm>
        </p:grpSpPr>
        <p:pic>
          <p:nvPicPr>
            <p:cNvPr id="23" name="Picture 22" descr="NV_s07_g12.2_3444df7e.png"/>
            <p:cNvPicPr>
              <a:picLocks noChangeAspect="1"/>
            </p:cNvPicPr>
            <p:nvPr/>
          </p:nvPicPr>
          <p:blipFill>
            <a:blip r:embed="rId5"/>
            <a:stretch>
              <a:fillRect/>
            </a:stretch>
          </p:blipFill>
          <p:spPr>
            <a:xfrm>
              <a:off x="7022592" y="4133087"/>
              <a:ext cx="914400" cy="722376"/>
            </a:xfrm>
            <a:prstGeom prst="rect">
              <a:avLst/>
            </a:prstGeom>
          </p:spPr>
        </p:pic>
        <p:sp>
          <p:nvSpPr>
            <p:cNvPr id="27" name="TextBox 26"/>
            <p:cNvSpPr txBox="1"/>
            <p:nvPr/>
          </p:nvSpPr>
          <p:spPr>
            <a:xfrm>
              <a:off x="6126480" y="4956048"/>
              <a:ext cx="2697480" cy="292608"/>
            </a:xfrm>
            <a:prstGeom prst="rect">
              <a:avLst/>
            </a:prstGeom>
            <a:noFill/>
          </p:spPr>
          <p:txBody>
            <a:bodyPr wrap="square" lIns="0" rIns="0" tIns="0" bIns="0">
              <a:spAutoFit/>
            </a:bodyPr>
            <a:lstStyle/>
            <a:p>
              <a:pPr algn="ctr"/>
              <a:r>
                <a:rPr sz="1300" b="0" i="1" u="none">
                  <a:solidFill>
                    <a:srgbClr val="555B66"/>
                  </a:solidFill>
                  <a:latin typeface="Calibri"/>
                </a:rPr>
                <a:t>Wide-body aircraft</a:t>
              </a:r>
            </a:p>
          </p:txBody>
        </p:sp>
      </p:grpSp>
      <p:grpSp>
        <p:nvGrpSpPr>
          <p:cNvPr id="137" name="Group pair 137"/>
          <p:cNvGrpSpPr/>
          <p:nvPr/>
        </p:nvGrpSpPr>
        <p:grpSpPr>
          <a:xfrm>
            <a:off x="8915400" y="3291840"/>
            <a:ext cx="2697480" cy="1956816"/>
            <a:chOff x="8915400" y="3291840"/>
            <a:chExt cx="2697480" cy="1956816"/>
          </a:xfrm>
        </p:grpSpPr>
        <p:pic>
          <p:nvPicPr>
            <p:cNvPr id="24" name="Picture 23" descr="NV_s07_13_4dc4c7c4.jpg"/>
            <p:cNvPicPr>
              <a:picLocks noChangeAspect="1"/>
            </p:cNvPicPr>
            <p:nvPr/>
          </p:nvPicPr>
          <p:blipFill>
            <a:blip r:embed="rId6"/>
            <a:stretch>
              <a:fillRect/>
            </a:stretch>
          </p:blipFill>
          <p:spPr>
            <a:xfrm>
              <a:off x="9528048" y="3291840"/>
              <a:ext cx="1468871" cy="1554480"/>
            </a:xfrm>
            <a:prstGeom prst="rect">
              <a:avLst/>
            </a:prstGeom>
          </p:spPr>
        </p:pic>
        <p:sp>
          <p:nvSpPr>
            <p:cNvPr id="28" name="TextBox 27"/>
            <p:cNvSpPr txBox="1"/>
            <p:nvPr/>
          </p:nvSpPr>
          <p:spPr>
            <a:xfrm>
              <a:off x="8915400" y="4956048"/>
              <a:ext cx="2697480" cy="292608"/>
            </a:xfrm>
            <a:prstGeom prst="rect">
              <a:avLst/>
            </a:prstGeom>
            <a:noFill/>
          </p:spPr>
          <p:txBody>
            <a:bodyPr wrap="square" lIns="0" rIns="0" tIns="0" bIns="0">
              <a:spAutoFit/>
            </a:bodyPr>
            <a:lstStyle/>
            <a:p>
              <a:pPr algn="ctr"/>
              <a:r>
                <a:rPr sz="1300" b="0" i="1" u="none">
                  <a:solidFill>
                    <a:srgbClr val="555B66"/>
                  </a:solidFill>
                  <a:latin typeface="Calibri"/>
                </a:rPr>
                <a:t>Municipal utilities</a:t>
              </a:r>
            </a:p>
          </p:txBody>
        </p:sp>
      </p:grpSp>
      <p:sp>
        <p:nvSpPr>
          <p:cNvPr id="29" name="Rounded Rectangle 28"/>
          <p:cNvSpPr/>
          <p:nvPr/>
        </p:nvSpPr>
        <p:spPr>
          <a:xfrm>
            <a:off x="1051560" y="5193792"/>
            <a:ext cx="1554480" cy="402336"/>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TODAY</a:t>
            </a:r>
          </a:p>
        </p:txBody>
      </p:sp>
      <p:sp>
        <p:nvSpPr>
          <p:cNvPr id="30" name="Rounded Rectangle 29"/>
          <p:cNvSpPr/>
          <p:nvPr/>
        </p:nvSpPr>
        <p:spPr>
          <a:xfrm>
            <a:off x="2804007" y="5897880"/>
            <a:ext cx="658368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Today: firms with no market power at all</a:t>
            </a: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4" name="TextBox 33"/>
          <p:cNvSpPr txBox="1"/>
          <p:nvPr/>
        </p:nvSpPr>
        <p:spPr>
          <a:xfrm>
            <a:off x="11475720" y="6583680"/>
            <a:ext cx="502920" cy="292608"/>
          </a:xfrm>
          <a:prstGeom prst="rect">
            <a:avLst/>
          </a:prstGeom>
          <a:noFill/>
        </p:spPr>
        <p:txBody>
          <a:bodyPr wrap="none" lIns="0" rIns="0" tIns="0" bIns="0">
            <a:spAutoFit/>
          </a:bodyPr>
          <a:lstStyle/>
          <a:p>
            <a:pPr algn="r"/>
            <a:fld id="{7D93220A-BEE9-5825-A0F6-F5D6DED4371C}" type="slidenum">
              <a:rPr lang="en-US" sz="1200" dirty="0">
                <a:solidFill>
                  <a:srgbClr val="555B66"/>
                </a:solidFill>
                <a:latin typeface="Calibri"/>
              </a:rPr>
              <a:t>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4"/>
                                        </p:tgtEl>
                                        <p:attrNameLst>
                                          <p:attrName>style.visibility</p:attrName>
                                        </p:attrNameLst>
                                      </p:cBhvr>
                                      <p:to>
                                        <p:strVal val="visible"/>
                                      </p:to>
                                    </p:set>
                                    <p:animEffect transition="in" filter="fade">
                                      <p:cBhvr>
                                        <p:cTn id="17" dur="500"/>
                                        <p:tgtEl>
                                          <p:spTgt spid="1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5"/>
                                        </p:tgtEl>
                                        <p:attrNameLst>
                                          <p:attrName>style.visibility</p:attrName>
                                        </p:attrNameLst>
                                      </p:cBhvr>
                                      <p:to>
                                        <p:strVal val="visible"/>
                                      </p:to>
                                    </p:set>
                                    <p:animEffect transition="in" filter="fade">
                                      <p:cBhvr>
                                        <p:cTn id="22" dur="500"/>
                                        <p:tgtEl>
                                          <p:spTgt spid="1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6"/>
                                        </p:tgtEl>
                                        <p:attrNameLst>
                                          <p:attrName>style.visibility</p:attrName>
                                        </p:attrNameLst>
                                      </p:cBhvr>
                                      <p:to>
                                        <p:strVal val="visible"/>
                                      </p:to>
                                    </p:set>
                                    <p:animEffect transition="in" filter="fade">
                                      <p:cBhvr>
                                        <p:cTn id="30" dur="500"/>
                                        <p:tgtEl>
                                          <p:spTgt spid="13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7"/>
                                        </p:tgtEl>
                                        <p:attrNameLst>
                                          <p:attrName>style.visibility</p:attrName>
                                        </p:attrNameLst>
                                      </p:cBhvr>
                                      <p:to>
                                        <p:strVal val="visible"/>
                                      </p:to>
                                    </p:set>
                                    <p:animEffect transition="in" filter="fade">
                                      <p:cBhvr>
                                        <p:cTn id="35" dur="500"/>
                                        <p:tgtEl>
                                          <p:spTgt spid="13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Rounded Rectangle 8"/>
          <p:cNvSpPr/>
          <p:nvPr/>
        </p:nvSpPr>
        <p:spPr>
          <a:xfrm>
            <a:off x="822960" y="204139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1" name="TextBox 10"/>
          <p:cNvSpPr txBox="1"/>
          <p:nvPr/>
        </p:nvSpPr>
        <p:spPr>
          <a:xfrm>
            <a:off x="1874519" y="2096262"/>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Perfect Competition</a:t>
            </a:r>
          </a:p>
          <a:p>
            <a:pPr algn="l">
              <a:spcBef>
                <a:spcPts val="0"/>
              </a:spcBef>
              <a:buNone/>
            </a:pPr>
            <a:r>
              <a:rPr sz="2200">
                <a:solidFill>
                  <a:srgbClr val="555B66"/>
                </a:solidFill>
                <a:latin typeface="Calibri"/>
              </a:rPr>
              <a:t>Many small sellers, an identical product, and free entry</a:t>
            </a:r>
          </a:p>
        </p:txBody>
      </p:sp>
      <p:sp>
        <p:nvSpPr>
          <p:cNvPr id="12" name="Oval 11"/>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3" name="TextBox 12"/>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4" name="Oval 13"/>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5" name="TextBox 14"/>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6" name="Oval 15"/>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7" name="TextBox 16"/>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9" name="TextBox 18"/>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FDE0808A-C7B3-55BB-BE33-D789A22A62C4}" type="slidenum">
              <a:rPr lang="en-US" sz="1200" dirty="0">
                <a:solidFill>
                  <a:srgbClr val="555B66"/>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Perfect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Perfect Competition: The Price Taker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2" name="Group pair 112"/>
          <p:cNvGrpSpPr/>
          <p:nvPr/>
        </p:nvGrpSpPr>
        <p:grpSpPr>
          <a:xfrm>
            <a:off x="563727" y="1554480"/>
            <a:ext cx="11064240" cy="4489704"/>
            <a:chOff x="563727" y="1554480"/>
            <a:chExt cx="11064240" cy="4489704"/>
          </a:xfrm>
        </p:grpSpPr>
        <p:sp>
          <p:nvSpPr>
            <p:cNvPr id="7" name="Rectangle 6"/>
            <p:cNvSpPr/>
            <p:nvPr/>
          </p:nvSpPr>
          <p:spPr>
            <a:xfrm>
              <a:off x="563727" y="1554480"/>
              <a:ext cx="11064240" cy="44805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700887" y="1691640"/>
            <a:ext cx="10789920" cy="4352544"/>
          </p:xfrm>
          <a:graphic>
            <a:graphicData uri="http://schemas.openxmlformats.org/drawingml/2006/table">
              <a:tbl>
                <a:tblPr firstRow="0" bandRow="0"/>
                <a:tblGrid>
                  <a:gridCol w="3931920"/>
                  <a:gridCol w="6858000"/>
                </a:tblGrid>
                <a:tr h="566928">
                  <a:tc>
                    <a:txBody>
                      <a:bodyPr wrap="square"/>
                      <a:lstStyle/>
                      <a:p>
                        <a:pPr algn="ctr"/>
                        <a:r>
                          <a:rPr sz="2200" b="1">
                            <a:solidFill>
                              <a:srgbClr val="FFFFFF"/>
                            </a:solidFill>
                            <a:latin typeface="Calibri"/>
                          </a:rPr>
                          <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200" b="1">
                            <a:solidFill>
                              <a:srgbClr val="FFFFFF"/>
                            </a:solidFill>
                            <a:latin typeface="Calibri"/>
                          </a:rPr>
                          <a:t>Perfect competition — price takers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822960">
                  <a:tc>
                    <a:txBody>
                      <a:bodyPr wrap="square"/>
                      <a:lstStyle/>
                      <a:p>
                        <a:pPr algn="l"/>
                        <a:r>
                          <a:rPr sz="2000" b="1">
                            <a:solidFill>
                              <a:srgbClr val="0B2B4E"/>
                            </a:solidFill>
                            <a:latin typeface="Calibri"/>
                          </a:rPr>
                          <a:t>Number of actual or
potential competitors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Many small sellers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658368">
                  <a:tc>
                    <a:txBody>
                      <a:bodyPr wrap="square"/>
                      <a:lstStyle/>
                      <a:p>
                        <a:pPr algn="l"/>
                        <a:r>
                          <a:rPr sz="2000" b="1">
                            <a:solidFill>
                              <a:srgbClr val="0B2B4E"/>
                            </a:solidFill>
                            <a:latin typeface="Calibri"/>
                          </a:rPr>
                          <a:t>Product differentiation</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None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658368">
                  <a:tc>
                    <a:txBody>
                      <a:bodyPr wrap="square"/>
                      <a:lstStyle/>
                      <a:p>
                        <a:pPr algn="l"/>
                        <a:r>
                          <a:rPr sz="2000" b="1">
                            <a:solidFill>
                              <a:srgbClr val="0B2B4E"/>
                            </a:solidFill>
                            <a:latin typeface="Calibri"/>
                          </a:rPr>
                          <a:t>Entry conditions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No barriers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914400">
                  <a:tc>
                    <a:txBody>
                      <a:bodyPr wrap="square"/>
                      <a:lstStyle/>
                      <a:p>
                        <a:pPr algn="l"/>
                        <a:r>
                          <a:rPr sz="2000" b="1">
                            <a:solidFill>
                              <a:srgbClr val="0B2B4E"/>
                            </a:solidFill>
                            <a:latin typeface="Calibri"/>
                          </a:rPr>
                          <a:t>Profit potential</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Short run: can be positive, negative or zero
Long run: zero economic profit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731520">
                  <a:tc>
                    <a:txBody>
                      <a:bodyPr wrap="square"/>
                      <a:lstStyle/>
                      <a:p>
                        <a:pPr algn="l"/>
                        <a:r>
                          <a:rPr sz="2000" b="1">
                            <a:solidFill>
                              <a:srgbClr val="0B2B4E"/>
                            </a:solidFill>
                            <a:latin typeface="Calibri"/>
                          </a:rPr>
                          <a:t>Examples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Agricultural commodities; currency markets; unskilled labor</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bl>
            </a:graphicData>
          </a:graphic>
        </p:graphicFrame>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1D9370A3-FA17-5659-A86A-2BA5B8731561}" type="slidenum">
              <a:rPr lang="en-US" sz="1200" dirty="0">
                <a:solidFill>
                  <a:srgbClr val="555B66"/>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Perfect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Perfect Competition: The Market and the Firm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1371600"/>
            <a:ext cx="3200400" cy="365760"/>
          </a:xfrm>
          <a:prstGeom prst="rect">
            <a:avLst/>
          </a:prstGeom>
          <a:noFill/>
        </p:spPr>
        <p:txBody>
          <a:bodyPr wrap="square" lIns="0" rIns="0" tIns="0" bIns="0">
            <a:spAutoFit/>
          </a:bodyPr>
          <a:lstStyle/>
          <a:p>
            <a:pPr algn="ctr"/>
            <a:r>
              <a:rPr sz="2200" b="1" i="0" u="none">
                <a:solidFill>
                  <a:srgbClr val="0B2B4E"/>
                </a:solidFill>
                <a:latin typeface="Calibri"/>
              </a:rPr>
              <a:t>Market</a:t>
            </a:r>
          </a:p>
        </p:txBody>
      </p:sp>
      <p:sp>
        <p:nvSpPr>
          <p:cNvPr id="8" name="TextBox 7"/>
          <p:cNvSpPr txBox="1"/>
          <p:nvPr/>
        </p:nvSpPr>
        <p:spPr>
          <a:xfrm>
            <a:off x="7223760" y="1371600"/>
            <a:ext cx="3474720" cy="365760"/>
          </a:xfrm>
          <a:prstGeom prst="rect">
            <a:avLst/>
          </a:prstGeom>
          <a:noFill/>
        </p:spPr>
        <p:txBody>
          <a:bodyPr wrap="square" lIns="0" rIns="0" tIns="0" bIns="0">
            <a:spAutoFit/>
          </a:bodyPr>
          <a:lstStyle/>
          <a:p>
            <a:pPr algn="ctr"/>
            <a:r>
              <a:rPr sz="2200" b="1" i="0" u="none">
                <a:solidFill>
                  <a:srgbClr val="0B2B4E"/>
                </a:solidFill>
                <a:latin typeface="Calibri"/>
              </a:rPr>
              <a:t>Firm (price taker)</a:t>
            </a:r>
          </a:p>
        </p:txBody>
      </p:sp>
      <p:cxnSp>
        <p:nvCxnSpPr>
          <p:cNvPr id="9" name="Connector 8"/>
          <p:cNvCxnSpPr/>
          <p:nvPr/>
        </p:nvCxnSpPr>
        <p:spPr>
          <a:xfrm flipV="1">
            <a:off x="1280160" y="2395727"/>
            <a:ext cx="0" cy="341071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5806440"/>
            <a:ext cx="336499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59" y="1993391"/>
            <a:ext cx="1828800" cy="292608"/>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12" name="TextBox 11"/>
          <p:cNvSpPr txBox="1"/>
          <p:nvPr/>
        </p:nvSpPr>
        <p:spPr>
          <a:xfrm>
            <a:off x="4114800" y="5897879"/>
            <a:ext cx="1645920" cy="292608"/>
          </a:xfrm>
          <a:prstGeom prst="rect">
            <a:avLst/>
          </a:prstGeom>
          <a:noFill/>
        </p:spPr>
        <p:txBody>
          <a:bodyPr wrap="square" lIns="0" rIns="0" tIns="0" bIns="0">
            <a:spAutoFit/>
          </a:bodyPr>
          <a:lstStyle/>
          <a:p>
            <a:pPr algn="l"/>
            <a:r>
              <a:rPr sz="1700" b="1" i="1" u="none">
                <a:solidFill>
                  <a:srgbClr val="0B2B4E"/>
                </a:solidFill>
                <a:latin typeface="Calibri"/>
              </a:rPr>
              <a:t>Quantity</a:t>
            </a:r>
          </a:p>
        </p:txBody>
      </p:sp>
      <p:cxnSp>
        <p:nvCxnSpPr>
          <p:cNvPr id="13" name="Connector 12"/>
          <p:cNvCxnSpPr/>
          <p:nvPr/>
        </p:nvCxnSpPr>
        <p:spPr>
          <a:xfrm flipV="1">
            <a:off x="7223760" y="2395727"/>
            <a:ext cx="0" cy="341071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223760" y="5806440"/>
            <a:ext cx="36393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60" y="1993391"/>
            <a:ext cx="1828800" cy="292608"/>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16" name="TextBox 15"/>
          <p:cNvSpPr txBox="1"/>
          <p:nvPr/>
        </p:nvSpPr>
        <p:spPr>
          <a:xfrm>
            <a:off x="10332719" y="5897879"/>
            <a:ext cx="1645920" cy="292608"/>
          </a:xfrm>
          <a:prstGeom prst="rect">
            <a:avLst/>
          </a:prstGeom>
          <a:noFill/>
        </p:spPr>
        <p:txBody>
          <a:bodyPr wrap="square" lIns="0" rIns="0" tIns="0" bIns="0">
            <a:spAutoFit/>
          </a:bodyPr>
          <a:lstStyle/>
          <a:p>
            <a:pPr algn="l"/>
            <a:r>
              <a:rPr sz="1700" b="1" i="1" u="none">
                <a:solidFill>
                  <a:srgbClr val="0B2B4E"/>
                </a:solidFill>
                <a:latin typeface="Calibri"/>
              </a:rPr>
              <a:t>Quantity</a:t>
            </a:r>
          </a:p>
        </p:txBody>
      </p:sp>
      <p:cxnSp>
        <p:nvCxnSpPr>
          <p:cNvPr id="17" name="Connector 16"/>
          <p:cNvCxnSpPr/>
          <p:nvPr/>
        </p:nvCxnSpPr>
        <p:spPr>
          <a:xfrm flipV="1">
            <a:off x="1472184" y="2884932"/>
            <a:ext cx="2752343" cy="259689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72184" y="2884932"/>
            <a:ext cx="2752343" cy="2596895"/>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272533" y="2738628"/>
            <a:ext cx="822960" cy="292608"/>
          </a:xfrm>
          <a:prstGeom prst="rect">
            <a:avLst/>
          </a:prstGeom>
          <a:noFill/>
        </p:spPr>
        <p:txBody>
          <a:bodyPr wrap="square" lIns="0" rIns="0" tIns="0" bIns="0">
            <a:spAutoFit/>
          </a:bodyPr>
          <a:lstStyle/>
          <a:p>
            <a:pPr algn="l"/>
            <a:r>
              <a:rPr sz="2000" b="1" i="1" u="none">
                <a:solidFill>
                  <a:srgbClr val="0B2B4E"/>
                </a:solidFill>
                <a:latin typeface="Calibri"/>
              </a:rPr>
              <a:t>S</a:t>
            </a:r>
          </a:p>
        </p:txBody>
      </p:sp>
      <p:sp>
        <p:nvSpPr>
          <p:cNvPr id="20" name="TextBox 19"/>
          <p:cNvSpPr txBox="1"/>
          <p:nvPr/>
        </p:nvSpPr>
        <p:spPr>
          <a:xfrm>
            <a:off x="4272533" y="5303062"/>
            <a:ext cx="822960" cy="292608"/>
          </a:xfrm>
          <a:prstGeom prst="rect">
            <a:avLst/>
          </a:prstGeom>
          <a:noFill/>
        </p:spPr>
        <p:txBody>
          <a:bodyPr wrap="square" lIns="0" rIns="0" tIns="0" bIns="0">
            <a:spAutoFit/>
          </a:bodyPr>
          <a:lstStyle/>
          <a:p>
            <a:pPr algn="l"/>
            <a:r>
              <a:rPr sz="2000" b="1" i="1" u="none">
                <a:solidFill>
                  <a:srgbClr val="0B2B4E"/>
                </a:solidFill>
                <a:latin typeface="Calibri"/>
              </a:rPr>
              <a:t>D</a:t>
            </a:r>
          </a:p>
        </p:txBody>
      </p:sp>
      <p:sp>
        <p:nvSpPr>
          <p:cNvPr id="21" name="Oval 20"/>
          <p:cNvSpPr/>
          <p:nvPr/>
        </p:nvSpPr>
        <p:spPr>
          <a:xfrm>
            <a:off x="2784348" y="4119371"/>
            <a:ext cx="128016" cy="128016"/>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2848356" y="4183379"/>
            <a:ext cx="4375404" cy="0"/>
          </a:xfrm>
          <a:prstGeom prst="line">
            <a:avLst/>
          </a:prstGeom>
          <a:ln w="25400">
            <a:solidFill>
              <a:srgbClr val="E09F3E"/>
            </a:solidFill>
            <a:prstDash val="dash"/>
            <a:tailEnd type="triangle" w="med" h="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 y="4183379"/>
            <a:ext cx="156819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38327" y="4046219"/>
            <a:ext cx="868680" cy="274320"/>
          </a:xfrm>
          <a:prstGeom prst="rect">
            <a:avLst/>
          </a:prstGeom>
          <a:noFill/>
        </p:spPr>
        <p:txBody>
          <a:bodyPr wrap="square" lIns="0" rIns="0" tIns="0" bIns="0">
            <a:spAutoFit/>
          </a:bodyPr>
          <a:lstStyle/>
          <a:p>
            <a:pPr algn="r"/>
            <a:r>
              <a:rPr sz="1800" b="1" i="1" u="none">
                <a:solidFill>
                  <a:srgbClr val="0B2B4E"/>
                </a:solidFill>
                <a:latin typeface="Calibri"/>
              </a:rPr>
              <a:t>P*</a:t>
            </a:r>
          </a:p>
        </p:txBody>
      </p:sp>
      <p:sp>
        <p:nvSpPr>
          <p:cNvPr id="25" name="TextBox 24"/>
          <p:cNvSpPr txBox="1"/>
          <p:nvPr/>
        </p:nvSpPr>
        <p:spPr>
          <a:xfrm>
            <a:off x="1874519" y="2487168"/>
            <a:ext cx="1737360" cy="548640"/>
          </a:xfrm>
          <a:prstGeom prst="rect">
            <a:avLst/>
          </a:prstGeom>
          <a:noFill/>
        </p:spPr>
        <p:txBody>
          <a:bodyPr wrap="square" lIns="0" rIns="0" tIns="0" bIns="0">
            <a:spAutoFit/>
          </a:bodyPr>
          <a:lstStyle/>
          <a:p>
            <a:pPr algn="ctr"/>
            <a:r>
              <a:rPr sz="1500" b="0" i="1" u="none">
                <a:solidFill>
                  <a:srgbClr val="555B66"/>
                </a:solidFill>
                <a:latin typeface="Calibri"/>
              </a:rPr>
              <a:t>Market
equilibrium</a:t>
            </a:r>
          </a:p>
        </p:txBody>
      </p:sp>
      <p:cxnSp>
        <p:nvCxnSpPr>
          <p:cNvPr id="26" name="Connector 25"/>
          <p:cNvCxnSpPr/>
          <p:nvPr/>
        </p:nvCxnSpPr>
        <p:spPr>
          <a:xfrm>
            <a:off x="7223760" y="4183379"/>
            <a:ext cx="3266236" cy="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81928" y="4046219"/>
            <a:ext cx="868680" cy="274320"/>
          </a:xfrm>
          <a:prstGeom prst="rect">
            <a:avLst/>
          </a:prstGeom>
          <a:noFill/>
        </p:spPr>
        <p:txBody>
          <a:bodyPr wrap="square" lIns="0" rIns="0" tIns="0" bIns="0">
            <a:spAutoFit/>
          </a:bodyPr>
          <a:lstStyle/>
          <a:p>
            <a:pPr algn="r"/>
            <a:r>
              <a:rPr sz="1800" b="1" i="1" u="none">
                <a:solidFill>
                  <a:srgbClr val="0B2B4E"/>
                </a:solidFill>
                <a:latin typeface="Calibri"/>
              </a:rPr>
              <a:t>P*</a:t>
            </a:r>
          </a:p>
        </p:txBody>
      </p:sp>
      <p:sp>
        <p:nvSpPr>
          <p:cNvPr id="28" name="TextBox 27"/>
          <p:cNvSpPr txBox="1"/>
          <p:nvPr/>
        </p:nvSpPr>
        <p:spPr>
          <a:xfrm>
            <a:off x="7498079" y="3520440"/>
            <a:ext cx="3931920" cy="365760"/>
          </a:xfrm>
          <a:prstGeom prst="rect">
            <a:avLst/>
          </a:prstGeom>
          <a:noFill/>
        </p:spPr>
        <p:txBody>
          <a:bodyPr wrap="square" lIns="0" rIns="0" tIns="0" bIns="0">
            <a:spAutoFit/>
          </a:bodyPr>
          <a:lstStyle/>
          <a:p>
            <a:pPr algn="l"/>
            <a:r>
              <a:rPr sz="1700" b="1" i="0" u="none">
                <a:solidFill>
                  <a:srgbClr val="0B2B4E"/>
                </a:solidFill>
                <a:latin typeface="Calibri"/>
              </a:rPr>
              <a:t>Demand curve  d  =  Marginal Revenue (MR)</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rIns="0" tIns="0" bIns="0">
            <a:spAutoFit/>
          </a:bodyPr>
          <a:lstStyle/>
          <a:p>
            <a:pPr algn="r"/>
            <a:fld id="{26EFB99A-B290-50B4-9E80-1277B2FA641F}" type="slidenum">
              <a:rPr lang="en-US" sz="1200" dirty="0">
                <a:solidFill>
                  <a:srgbClr val="555B66"/>
                </a:solidFill>
                <a:latin typeface="Calibri"/>
              </a:rPr>
              <a:t>10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Perfect Competition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Why Farmers Cannot Pass On Their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9509760" cy="118872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Germany cut its farm subsidies in 2024</a:t>
            </a:r>
          </a:p>
          <a:p>
            <a:pPr algn="l"/>
            <a:r>
              <a:rPr>
                <a:latin typeface="Calibri"/>
              </a:rPr>
              <a:t>Some farmers stood to lose up to €10,000 a year</a:t>
            </a:r>
          </a:p>
        </p:txBody>
      </p:sp>
      <p:grpSp>
        <p:nvGrpSpPr>
          <p:cNvPr id="117" name="Group pair 117"/>
          <p:cNvGrpSpPr/>
          <p:nvPr/>
        </p:nvGrpSpPr>
        <p:grpSpPr>
          <a:xfrm>
            <a:off x="457200" y="2788920"/>
            <a:ext cx="5120640" cy="3429000"/>
            <a:chOff x="457200" y="2788920"/>
            <a:chExt cx="5120640" cy="3429000"/>
          </a:xfrm>
        </p:grpSpPr>
        <p:pic>
          <p:nvPicPr>
            <p:cNvPr id="8" name="Picture 7" descr="NV_s11_4_e363d6f5.png"/>
            <p:cNvPicPr>
              <a:picLocks noChangeAspect="1"/>
            </p:cNvPicPr>
            <p:nvPr/>
          </p:nvPicPr>
          <p:blipFill>
            <a:blip r:embed="rId2"/>
            <a:stretch>
              <a:fillRect/>
            </a:stretch>
          </p:blipFill>
          <p:spPr>
            <a:xfrm>
              <a:off x="457200" y="2788920"/>
              <a:ext cx="5120640" cy="3031958"/>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457200" y="5925312"/>
              <a:ext cx="5120640" cy="292608"/>
            </a:xfrm>
            <a:prstGeom prst="rect">
              <a:avLst/>
            </a:prstGeom>
            <a:noFill/>
          </p:spPr>
          <p:txBody>
            <a:bodyPr wrap="square" lIns="0" rIns="0" tIns="0" bIns="0">
              <a:spAutoFit/>
            </a:bodyPr>
            <a:lstStyle/>
            <a:p>
              <a:pPr algn="ctr"/>
              <a:r>
                <a:rPr sz="1200" b="0" i="1" u="none">
                  <a:solidFill>
                    <a:srgbClr val="555B66"/>
                  </a:solidFill>
                  <a:latin typeface="Calibri"/>
                </a:rPr>
                <a:t>Farmer protests in Berlin, January 2024. Photo: The Guardian</a:t>
              </a:r>
            </a:p>
          </p:txBody>
        </p:sp>
      </p:grpSp>
      <p:grpSp>
        <p:nvGrpSpPr>
          <p:cNvPr id="116" name="Group pair 116"/>
          <p:cNvGrpSpPr/>
          <p:nvPr/>
        </p:nvGrpSpPr>
        <p:grpSpPr>
          <a:xfrm>
            <a:off x="6217920" y="3291840"/>
            <a:ext cx="5532120" cy="2148840"/>
            <a:chOff x="6217920" y="3291840"/>
            <a:chExt cx="5532120" cy="2148840"/>
          </a:xfrm>
        </p:grpSpPr>
        <p:sp>
          <p:nvSpPr>
            <p:cNvPr id="10" name="Rounded Rectangle 9"/>
            <p:cNvSpPr/>
            <p:nvPr/>
          </p:nvSpPr>
          <p:spPr>
            <a:xfrm>
              <a:off x="6217920" y="3291840"/>
              <a:ext cx="5532120" cy="21488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401568"/>
              <a:ext cx="5166360" cy="1929384"/>
            </a:xfrm>
            <a:prstGeom prst="rect">
              <a:avLst/>
            </a:prstGeom>
            <a:noFill/>
          </p:spPr>
          <p:txBody>
            <a:bodyPr wrap="square" lIns="45720" rIns="45720" tIns="0" bIns="0" anchor="ctr">
              <a:spAutoFit/>
            </a:bodyPr>
            <a:lstStyle/>
            <a:p>
              <a:pPr algn="l"/>
              <a:r>
                <a:rPr sz="1900" b="0" i="1" u="none">
                  <a:solidFill>
                    <a:srgbClr val="0B2B4E"/>
                  </a:solidFill>
                  <a:latin typeface="Calibri"/>
                </a:rPr>
                <a:t>“For farmers there is a structural problem: they cannot pass on their production costs, because the prices are not made by them.”</a:t>
              </a:r>
              <a:r>
                <a:rPr sz="1900" b="0" i="0" u="none">
                  <a:solidFill>
                    <a:srgbClr val="0B2B4E"/>
                  </a:solidFill>
                  <a:latin typeface="Calibri"/>
                </a:rPr>
                <a:t>
</a:t>
              </a:r>
              <a:r>
                <a:rPr sz="1700" b="1" i="0" u="none">
                  <a:solidFill>
                    <a:srgbClr val="0B2B4E"/>
                  </a:solidFill>
                  <a:latin typeface="Calibri"/>
                </a:rPr>
                <a:t>— Germany's Minister of Economic Affairs, 2024</a:t>
              </a:r>
            </a:p>
          </p:txBody>
        </p:sp>
      </p:grpSp>
      <p:pic>
        <p:nvPicPr>
          <p:cNvPr id="12" name="Picture 11" descr="NV_s11_5_d816cef7.png"/>
          <p:cNvPicPr>
            <a:picLocks noChangeAspect="1"/>
          </p:cNvPicPr>
          <p:nvPr/>
        </p:nvPicPr>
        <p:blipFill>
          <a:blip r:embed="rId3"/>
          <a:stretch>
            <a:fillRect/>
          </a:stretch>
        </p:blipFill>
        <p:spPr>
          <a:xfrm>
            <a:off x="10149840" y="1417320"/>
            <a:ext cx="1600200" cy="562937"/>
          </a:xfrm>
          <a:prstGeom prst="rect">
            <a:avLst/>
          </a:prstGeom>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DD9ABE14-3AE8-5115-8866-7D6C21C4E047}" type="slidenum">
              <a:rPr lang="en-US" sz="1200" dirty="0">
                <a:solidFill>
                  <a:srgbClr val="555B66"/>
                </a:solidFill>
                <a:latin typeface="Calibri"/>
              </a:rPr>
              <a:t>11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fade">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fade">
                                      <p:cBhvr>
                                        <p:cTn id="17"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1" name="Rounded Rectangle 10"/>
          <p:cNvSpPr/>
          <p:nvPr/>
        </p:nvSpPr>
        <p:spPr>
          <a:xfrm>
            <a:off x="822960" y="2759202"/>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2a</a:t>
            </a:r>
          </a:p>
        </p:txBody>
      </p:sp>
      <p:sp>
        <p:nvSpPr>
          <p:cNvPr id="13" name="TextBox 12"/>
          <p:cNvSpPr txBox="1"/>
          <p:nvPr/>
        </p:nvSpPr>
        <p:spPr>
          <a:xfrm>
            <a:off x="2148840" y="281406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Profit Maximization of a Price Taker in the Short Run</a:t>
            </a:r>
          </a:p>
          <a:p>
            <a:pPr algn="l">
              <a:spcBef>
                <a:spcPts val="0"/>
              </a:spcBef>
              <a:buNone/>
            </a:pPr>
            <a:r>
              <a:rPr sz="2000">
                <a:solidFill>
                  <a:srgbClr val="555B66"/>
                </a:solidFill>
                <a:latin typeface="Calibri"/>
              </a:rPr>
              <a:t>How much to produce, and when to shut down</a:t>
            </a:r>
          </a:p>
        </p:txBody>
      </p:sp>
      <p:sp>
        <p:nvSpPr>
          <p:cNvPr id="14" name="Oval 13"/>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5" name="TextBox 14"/>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6" name="Oval 15"/>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7" name="TextBox 16"/>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9" name="TextBox 18"/>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972B4CC0-F718-5ECA-B75E-378D901D90F2}" type="slidenum">
              <a:rPr lang="en-US" sz="1200" dirty="0">
                <a:solidFill>
                  <a:srgbClr val="555B66"/>
                </a:solidFill>
                <a:latin typeface="Calibri"/>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Example: The Yi Family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91640"/>
            <a:ext cx="6400800" cy="3291840"/>
          </a:xfrm>
          <a:prstGeom prst="rect">
            <a:avLst/>
          </a:prstGeom>
          <a:noFill/>
        </p:spPr>
        <p:txBody>
          <a:bodyPr wrap="square" lIns="0" rIns="0" tIns="0" bIns="0">
            <a:sp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A South Korean family moves from California to rural Arkansas to start a farm</a:t>
            </a:r>
          </a:p>
          <a:p>
            <a:pPr algn="l"/>
            <a:r>
              <a:rPr>
                <a:latin typeface="Calibri"/>
              </a:rPr>
              <a:t>Their goal: grow Korean produce and sell it to vendors in Dallas, at the market price</a:t>
            </a:r>
          </a:p>
          <a:p>
            <a:pPr algn="l"/>
            <a:r>
              <a:rPr>
                <a:latin typeface="Calibri"/>
              </a:rPr>
              <a:t>We follow their cabbage crop — the raw material for kimchi</a:t>
            </a:r>
          </a:p>
        </p:txBody>
      </p:sp>
      <p:grpSp>
        <p:nvGrpSpPr>
          <p:cNvPr id="116" name="Group pair 116"/>
          <p:cNvGrpSpPr/>
          <p:nvPr/>
        </p:nvGrpSpPr>
        <p:grpSpPr>
          <a:xfrm>
            <a:off x="7360920" y="1645920"/>
            <a:ext cx="4206240" cy="2743200"/>
            <a:chOff x="7360920" y="1645920"/>
            <a:chExt cx="4206240" cy="2743200"/>
          </a:xfrm>
        </p:grpSpPr>
        <p:pic>
          <p:nvPicPr>
            <p:cNvPr id="8" name="Picture 7" descr="NV_s12_3_534a7244.png"/>
            <p:cNvPicPr>
              <a:picLocks noChangeAspect="1"/>
            </p:cNvPicPr>
            <p:nvPr/>
          </p:nvPicPr>
          <p:blipFill>
            <a:blip r:embed="rId2"/>
            <a:stretch>
              <a:fillRect/>
            </a:stretch>
          </p:blipFill>
          <p:spPr>
            <a:xfrm>
              <a:off x="7360920" y="1645920"/>
              <a:ext cx="4206240" cy="236601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7360920" y="4114800"/>
              <a:ext cx="4206240" cy="274320"/>
            </a:xfrm>
            <a:prstGeom prst="rect">
              <a:avLst/>
            </a:prstGeom>
            <a:noFill/>
          </p:spPr>
          <p:txBody>
            <a:bodyPr wrap="square" lIns="0" rIns="0" tIns="0" bIns="0">
              <a:spAutoFit/>
            </a:bodyPr>
            <a:lstStyle/>
            <a:p>
              <a:pPr algn="ctr"/>
              <a:r>
                <a:rPr sz="1200" b="0" i="1" u="none">
                  <a:solidFill>
                    <a:srgbClr val="555B66"/>
                  </a:solidFill>
                  <a:latin typeface="Calibri"/>
                </a:rPr>
                <a:t>Minari (2020)</a:t>
              </a:r>
            </a:p>
          </p:txBody>
        </p:sp>
      </p:grpSp>
      <p:pic>
        <p:nvPicPr>
          <p:cNvPr id="10" name="Picture 9" descr="NV_s12_4_53752c12.jpg"/>
          <p:cNvPicPr>
            <a:picLocks noChangeAspect="1"/>
          </p:cNvPicPr>
          <p:nvPr/>
        </p:nvPicPr>
        <p:blipFill>
          <a:blip r:embed="rId3"/>
          <a:stretch>
            <a:fillRect/>
          </a:stretch>
        </p:blipFill>
        <p:spPr>
          <a:xfrm>
            <a:off x="7360920" y="4526280"/>
            <a:ext cx="2011680" cy="1508760"/>
          </a:xfrm>
          <a:prstGeom prst="roundRect">
            <a:avLst>
              <a:gd name="adj" fmla="val 8000"/>
            </a:avLst>
          </a:prstGeom>
          <a:effectLst>
            <a:outerShdw blurRad="50800" dist="38100" dir="2700000" algn="tl" rotWithShape="0">
              <a:srgbClr val="000000">
                <a:alpha val="50000"/>
              </a:srgbClr>
            </a:outerShdw>
          </a:effectLst>
        </p:spPr>
      </p:pic>
      <p:pic>
        <p:nvPicPr>
          <p:cNvPr id="11" name="Picture 10" descr="NV_s12_5_042a9a61.png"/>
          <p:cNvPicPr>
            <a:picLocks noChangeAspect="1"/>
          </p:cNvPicPr>
          <p:nvPr/>
        </p:nvPicPr>
        <p:blipFill>
          <a:blip r:embed="rId4"/>
          <a:stretch>
            <a:fillRect/>
          </a:stretch>
        </p:blipFill>
        <p:spPr>
          <a:xfrm>
            <a:off x="9555480" y="4526280"/>
            <a:ext cx="2011680" cy="1476573"/>
          </a:xfrm>
          <a:prstGeom prst="roundRect">
            <a:avLst>
              <a:gd name="adj" fmla="val 8000"/>
            </a:avLst>
          </a:prstGeom>
          <a:effectLst>
            <a:outerShdw blurRad="50800" dist="38100" dir="2700000" algn="tl" rotWithShape="0">
              <a:srgbClr val="000000">
                <a:alpha val="50000"/>
              </a:srgbClr>
            </a:outerShdw>
          </a:effectLst>
        </p:spPr>
      </p:pic>
      <p:sp>
        <p:nvSpPr>
          <p:cNvPr id="12" name="Rounded Rectangle 11"/>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F2164A52-DE7E-5885-B494-5082134294D2}" type="slidenum">
              <a:rPr lang="en-US" sz="1200" dirty="0">
                <a:solidFill>
                  <a:srgbClr val="555B66"/>
                </a:solidFill>
                <a:latin typeface="Calibri"/>
              </a:rPr>
              <a:t>13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Cabbage Production Costs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3" name="Group pair 123"/>
          <p:cNvGrpSpPr/>
          <p:nvPr/>
        </p:nvGrpSpPr>
        <p:grpSpPr>
          <a:xfrm>
            <a:off x="548640" y="1645920"/>
            <a:ext cx="6172200" cy="4114800"/>
            <a:chOff x="548640" y="1645920"/>
            <a:chExt cx="6172200" cy="4114800"/>
          </a:xfrm>
        </p:grpSpPr>
        <p:sp>
          <p:nvSpPr>
            <p:cNvPr id="7" name="Rectangle 6"/>
            <p:cNvSpPr/>
            <p:nvPr/>
          </p:nvSpPr>
          <p:spPr>
            <a:xfrm>
              <a:off x="548640" y="1645920"/>
              <a:ext cx="6035040" cy="41148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85800" y="1783080"/>
            <a:ext cx="6035040" cy="3840480"/>
          </p:xfrm>
          <a:graphic>
            <a:graphicData uri="http://schemas.openxmlformats.org/drawingml/2006/table">
              <a:tbl>
                <a:tblPr firstRow="0" bandRow="0"/>
                <a:tblGrid>
                  <a:gridCol w="1508760"/>
                  <a:gridCol w="1508760"/>
                  <a:gridCol w="1508760"/>
                  <a:gridCol w="1508760"/>
                </a:tblGrid>
                <a:tr h="603504">
                  <a:tc>
                    <a:txBody>
                      <a:bodyPr wrap="square"/>
                      <a:lstStyle/>
                      <a:p>
                        <a:pPr algn="ctr"/>
                        <a:r>
                          <a:rPr sz="1900" b="1">
                            <a:solidFill>
                              <a:srgbClr val="FFFFFF"/>
                            </a:solidFill>
                            <a:latin typeface="Calibri"/>
                          </a:rPr>
                          <a:t>Q  (tons)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TC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TFC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TVC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539496">
                  <a:tc>
                    <a:txBody>
                      <a:bodyPr wrap="square"/>
                      <a:lstStyle/>
                      <a:p>
                        <a:pPr algn="ctr"/>
                        <a:r>
                          <a:rPr sz="1900" b="1">
                            <a:solidFill>
                              <a:srgbClr val="0B2B4E"/>
                            </a:solidFill>
                            <a:latin typeface="Calibri"/>
                          </a:rPr>
                          <a:t>50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67,250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7,250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39496">
                  <a:tc>
                    <a:txBody>
                      <a:bodyPr wrap="square"/>
                      <a:lstStyle/>
                      <a:p>
                        <a:pPr algn="ctr"/>
                        <a:r>
                          <a:rPr sz="1900" b="1">
                            <a:solidFill>
                              <a:srgbClr val="0B2B4E"/>
                            </a:solidFill>
                            <a:latin typeface="Calibri"/>
                          </a:rPr>
                          <a:t>200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95,000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35,000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539496">
                  <a:tc>
                    <a:txBody>
                      <a:bodyPr wrap="square"/>
                      <a:lstStyle/>
                      <a:p>
                        <a:pPr algn="ctr"/>
                        <a:r>
                          <a:rPr sz="1900" b="1">
                            <a:solidFill>
                              <a:srgbClr val="0B2B4E"/>
                            </a:solidFill>
                            <a:latin typeface="Calibri"/>
                          </a:rPr>
                          <a:t>400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146,000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86,000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39496">
                  <a:tc>
                    <a:txBody>
                      <a:bodyPr wrap="square"/>
                      <a:lstStyle/>
                      <a:p>
                        <a:pPr algn="ctr"/>
                        <a:r>
                          <a:rPr sz="1900" b="1">
                            <a:solidFill>
                              <a:srgbClr val="0B2B4E"/>
                            </a:solidFill>
                            <a:latin typeface="Calibri"/>
                          </a:rPr>
                          <a:t>600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213,000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153,000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539496">
                  <a:tc>
                    <a:txBody>
                      <a:bodyPr wrap="square"/>
                      <a:lstStyle/>
                      <a:p>
                        <a:pPr algn="ctr"/>
                        <a:r>
                          <a:rPr sz="1900" b="1">
                            <a:solidFill>
                              <a:srgbClr val="0B2B4E"/>
                            </a:solidFill>
                            <a:latin typeface="Calibri"/>
                          </a:rPr>
                          <a:t>800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296,000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236,000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39496">
                  <a:tc>
                    <a:txBody>
                      <a:bodyPr wrap="square"/>
                      <a:lstStyle/>
                      <a:p>
                        <a:pPr algn="ctr"/>
                        <a:r>
                          <a:rPr sz="1900" b="1">
                            <a:solidFill>
                              <a:srgbClr val="0B2B4E"/>
                            </a:solidFill>
                            <a:latin typeface="Calibri"/>
                          </a:rPr>
                          <a:t>1,000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395,000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60,000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335,000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grpSp>
        <p:nvGrpSpPr>
          <p:cNvPr id="121" name="Group pair 121"/>
          <p:cNvGrpSpPr/>
          <p:nvPr/>
        </p:nvGrpSpPr>
        <p:grpSpPr>
          <a:xfrm>
            <a:off x="6903720" y="1783080"/>
            <a:ext cx="4846320" cy="1051560"/>
            <a:chOff x="6903720" y="1783080"/>
            <a:chExt cx="4846320" cy="1051560"/>
          </a:xfrm>
        </p:grpSpPr>
        <p:sp>
          <p:nvSpPr>
            <p:cNvPr id="9" name="Rounded Rectangle 8"/>
            <p:cNvSpPr/>
            <p:nvPr/>
          </p:nvSpPr>
          <p:spPr>
            <a:xfrm>
              <a:off x="6903720" y="1783080"/>
              <a:ext cx="4846320" cy="105156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1892808"/>
              <a:ext cx="4480560" cy="832104"/>
            </a:xfrm>
            <a:prstGeom prst="rect">
              <a:avLst/>
            </a:prstGeom>
            <a:noFill/>
          </p:spPr>
          <p:txBody>
            <a:bodyPr wrap="square" lIns="45720" rIns="45720" tIns="0" bIns="0" anchor="ctr">
              <a:spAutoFit/>
            </a:bodyPr>
            <a:lstStyle/>
            <a:p>
              <a:pPr algn="l"/>
              <a:r>
                <a:rPr sz="1700" b="1" i="0" u="none">
                  <a:solidFill>
                    <a:srgbClr val="0B2B4E"/>
                  </a:solidFill>
                  <a:latin typeface="Calibri"/>
                </a:rPr>
                <a:t>Fixed costs: </a:t>
              </a:r>
              <a:r>
                <a:rPr sz="1700" b="0" i="0" u="none">
                  <a:solidFill>
                    <a:srgbClr val="0B2B4E"/>
                  </a:solidFill>
                  <a:latin typeface="Calibri"/>
                </a:rPr>
                <a:t>land rent, equipment, and the salary the family gives up</a:t>
              </a:r>
            </a:p>
          </p:txBody>
        </p:sp>
      </p:grpSp>
      <p:grpSp>
        <p:nvGrpSpPr>
          <p:cNvPr id="122" name="Group pair 122"/>
          <p:cNvGrpSpPr/>
          <p:nvPr/>
        </p:nvGrpSpPr>
        <p:grpSpPr>
          <a:xfrm>
            <a:off x="6903720" y="2971800"/>
            <a:ext cx="4846320" cy="914400"/>
            <a:chOff x="6903720" y="2971800"/>
            <a:chExt cx="4846320" cy="914400"/>
          </a:xfrm>
        </p:grpSpPr>
        <p:sp>
          <p:nvSpPr>
            <p:cNvPr id="11" name="Rounded Rectangle 10"/>
            <p:cNvSpPr/>
            <p:nvPr/>
          </p:nvSpPr>
          <p:spPr>
            <a:xfrm>
              <a:off x="6903720" y="2971800"/>
              <a:ext cx="4846320"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86600" y="3081528"/>
              <a:ext cx="4480560" cy="694944"/>
            </a:xfrm>
            <a:prstGeom prst="rect">
              <a:avLst/>
            </a:prstGeom>
            <a:noFill/>
          </p:spPr>
          <p:txBody>
            <a:bodyPr wrap="square" lIns="45720" rIns="45720" tIns="0" bIns="0" anchor="ctr">
              <a:spAutoFit/>
            </a:bodyPr>
            <a:lstStyle/>
            <a:p>
              <a:pPr algn="l"/>
              <a:r>
                <a:rPr sz="1700" b="1" i="0" u="none">
                  <a:solidFill>
                    <a:srgbClr val="0B2B4E"/>
                  </a:solidFill>
                  <a:latin typeface="Calibri"/>
                </a:rPr>
                <a:t>Variable costs: </a:t>
              </a:r>
              <a:r>
                <a:rPr sz="1700" b="0" i="0" u="none">
                  <a:solidFill>
                    <a:srgbClr val="0B2B4E"/>
                  </a:solidFill>
                  <a:latin typeface="Calibri"/>
                </a:rPr>
                <a:t>seeds, water, fertilizer, pesticides</a:t>
              </a:r>
            </a:p>
          </p:txBody>
        </p:sp>
      </p:grpSp>
      <p:grpSp>
        <p:nvGrpSpPr>
          <p:cNvPr id="124" name="Group pair 124"/>
          <p:cNvGrpSpPr/>
          <p:nvPr/>
        </p:nvGrpSpPr>
        <p:grpSpPr>
          <a:xfrm>
            <a:off x="6903720" y="4114800"/>
            <a:ext cx="4846320" cy="1508760"/>
            <a:chOff x="6903720" y="4114800"/>
            <a:chExt cx="4846320" cy="1508760"/>
          </a:xfrm>
        </p:grpSpPr>
        <p:pic>
          <p:nvPicPr>
            <p:cNvPr id="13" name="Picture 12" descr="NV_s13_5_cd8d8b01.jpg"/>
            <p:cNvPicPr>
              <a:picLocks noChangeAspect="1"/>
            </p:cNvPicPr>
            <p:nvPr/>
          </p:nvPicPr>
          <p:blipFill>
            <a:blip r:embed="rId2"/>
            <a:stretch>
              <a:fillRect/>
            </a:stretch>
          </p:blipFill>
          <p:spPr>
            <a:xfrm>
              <a:off x="6903720" y="4114800"/>
              <a:ext cx="1554480" cy="1170432"/>
            </a:xfrm>
            <a:prstGeom prst="roundRect">
              <a:avLst>
                <a:gd name="adj" fmla="val 8000"/>
              </a:avLst>
            </a:prstGeom>
            <a:effectLst>
              <a:outerShdw blurRad="50800" dist="38100" dir="2700000" algn="tl" rotWithShape="0">
                <a:srgbClr val="000000">
                  <a:alpha val="50000"/>
                </a:srgbClr>
              </a:outerShdw>
            </a:effectLst>
          </p:spPr>
        </p:pic>
        <p:pic>
          <p:nvPicPr>
            <p:cNvPr id="14" name="Picture 13" descr="NV_s13_4_3f29b09c.jpg"/>
            <p:cNvPicPr>
              <a:picLocks noChangeAspect="1"/>
            </p:cNvPicPr>
            <p:nvPr/>
          </p:nvPicPr>
          <p:blipFill>
            <a:blip r:embed="rId3"/>
            <a:stretch>
              <a:fillRect/>
            </a:stretch>
          </p:blipFill>
          <p:spPr>
            <a:xfrm>
              <a:off x="8549640" y="4114800"/>
              <a:ext cx="1554480" cy="1170432"/>
            </a:xfrm>
            <a:prstGeom prst="roundRect">
              <a:avLst>
                <a:gd name="adj" fmla="val 8000"/>
              </a:avLst>
            </a:prstGeom>
            <a:effectLst>
              <a:outerShdw blurRad="50800" dist="38100" dir="2700000" algn="tl" rotWithShape="0">
                <a:srgbClr val="000000">
                  <a:alpha val="50000"/>
                </a:srgbClr>
              </a:outerShdw>
            </a:effectLst>
          </p:spPr>
        </p:pic>
        <p:pic>
          <p:nvPicPr>
            <p:cNvPr id="15" name="Picture 14" descr="NV_s13_1_dd9ab3ce.jpg"/>
            <p:cNvPicPr>
              <a:picLocks noChangeAspect="1"/>
            </p:cNvPicPr>
            <p:nvPr/>
          </p:nvPicPr>
          <p:blipFill>
            <a:blip r:embed="rId4"/>
            <a:stretch>
              <a:fillRect/>
            </a:stretch>
          </p:blipFill>
          <p:spPr>
            <a:xfrm>
              <a:off x="10195560" y="4114800"/>
              <a:ext cx="1554480" cy="1170432"/>
            </a:xfrm>
            <a:prstGeom prst="roundRect">
              <a:avLst>
                <a:gd name="adj" fmla="val 8000"/>
              </a:avLst>
            </a:prstGeom>
            <a:effectLst>
              <a:outerShdw blurRad="50800" dist="38100" dir="2700000" algn="tl" rotWithShape="0">
                <a:srgbClr val="000000">
                  <a:alpha val="50000"/>
                </a:srgbClr>
              </a:outerShdw>
            </a:effectLst>
          </p:spPr>
        </p:pic>
        <p:sp>
          <p:nvSpPr>
            <p:cNvPr id="16" name="TextBox 15"/>
            <p:cNvSpPr txBox="1"/>
            <p:nvPr/>
          </p:nvSpPr>
          <p:spPr>
            <a:xfrm>
              <a:off x="6903720" y="5349240"/>
              <a:ext cx="4846320" cy="274320"/>
            </a:xfrm>
            <a:prstGeom prst="rect">
              <a:avLst/>
            </a:prstGeom>
            <a:noFill/>
          </p:spPr>
          <p:txBody>
            <a:bodyPr wrap="square" lIns="0" rIns="0" tIns="0" bIns="0">
              <a:spAutoFit/>
            </a:bodyPr>
            <a:lstStyle/>
            <a:p>
              <a:pPr algn="ctr"/>
              <a:r>
                <a:rPr sz="1200" b="0" i="1" u="none">
                  <a:solidFill>
                    <a:srgbClr val="555B66"/>
                  </a:solidFill>
                  <a:latin typeface="Calibri"/>
                </a:rPr>
                <a:t>Seeds  ·  irrigation  ·  fertilizer</a:t>
              </a:r>
            </a:p>
          </p:txBody>
        </p:sp>
      </p:grpSp>
      <p:sp>
        <p:nvSpPr>
          <p:cNvPr id="17" name="Rounded Rectangle 16"/>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1" name="TextBox 20"/>
          <p:cNvSpPr txBox="1"/>
          <p:nvPr/>
        </p:nvSpPr>
        <p:spPr>
          <a:xfrm>
            <a:off x="11475720" y="6583680"/>
            <a:ext cx="502920" cy="292608"/>
          </a:xfrm>
          <a:prstGeom prst="rect">
            <a:avLst/>
          </a:prstGeom>
          <a:noFill/>
        </p:spPr>
        <p:txBody>
          <a:bodyPr wrap="none" lIns="0" rIns="0" tIns="0" bIns="0">
            <a:spAutoFit/>
          </a:bodyPr>
          <a:lstStyle/>
          <a:p>
            <a:pPr algn="r"/>
            <a:fld id="{AF1F879C-4422-5B2F-9ACB-B5B0A26AFC20}" type="slidenum">
              <a:rPr lang="en-US" sz="1200" dirty="0">
                <a:solidFill>
                  <a:srgbClr val="555B66"/>
                </a:solidFill>
                <a:latin typeface="Calibri"/>
              </a:rPr>
              <a:t>14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4"/>
                                        </p:tgtEl>
                                        <p:attrNameLst>
                                          <p:attrName>style.visibility</p:attrName>
                                        </p:attrNameLst>
                                      </p:cBhvr>
                                      <p:to>
                                        <p:strVal val="visible"/>
                                      </p:to>
                                    </p:set>
                                    <p:animEffect transition="in" filter="fade">
                                      <p:cBhvr>
                                        <p:cTn id="22"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Cabbage Total Cost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17320" y="2075688"/>
            <a:ext cx="0" cy="34107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5486400"/>
            <a:ext cx="75255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1673352"/>
            <a:ext cx="1828800" cy="292608"/>
          </a:xfrm>
          <a:prstGeom prst="rect">
            <a:avLst/>
          </a:prstGeom>
          <a:noFill/>
        </p:spPr>
        <p:txBody>
          <a:bodyPr wrap="square" lIns="0" rIns="0" tIns="0" bIns="0">
            <a:spAutoFit/>
          </a:bodyPr>
          <a:lstStyle/>
          <a:p>
            <a:pPr algn="l"/>
            <a:r>
              <a:rPr sz="1800" b="1" i="1" u="none">
                <a:solidFill>
                  <a:srgbClr val="0B2B4E"/>
                </a:solidFill>
                <a:latin typeface="Calibri"/>
              </a:rPr>
              <a:t>Total cost ($)</a:t>
            </a:r>
          </a:p>
        </p:txBody>
      </p:sp>
      <p:sp>
        <p:nvSpPr>
          <p:cNvPr id="10" name="TextBox 9"/>
          <p:cNvSpPr txBox="1"/>
          <p:nvPr/>
        </p:nvSpPr>
        <p:spPr>
          <a:xfrm>
            <a:off x="8412480" y="5577840"/>
            <a:ext cx="1645920" cy="292608"/>
          </a:xfrm>
          <a:prstGeom prst="rect">
            <a:avLst/>
          </a:prstGeom>
          <a:noFill/>
        </p:spPr>
        <p:txBody>
          <a:bodyPr wrap="square" lIns="0" rIns="0" tIns="0" bIns="0">
            <a:spAutoFit/>
          </a:bodyPr>
          <a:lstStyle/>
          <a:p>
            <a:pPr algn="l"/>
            <a:r>
              <a:rPr sz="1800" b="1" i="1" u="none">
                <a:solidFill>
                  <a:srgbClr val="0B2B4E"/>
                </a:solidFill>
                <a:latin typeface="Calibri"/>
              </a:rPr>
              <a:t>Quantity (tons)</a:t>
            </a:r>
          </a:p>
        </p:txBody>
      </p:sp>
      <p:sp>
        <p:nvSpPr>
          <p:cNvPr id="11" name="Rectangle 10"/>
          <p:cNvSpPr/>
          <p:nvPr/>
        </p:nvSpPr>
        <p:spPr>
          <a:xfrm>
            <a:off x="1417320" y="2535381"/>
            <a:ext cx="7026332" cy="2531691"/>
          </a:xfrm>
          <a:custGeom>
            <a:avLst/>
            <a:gdLst/>
            <a:ahLst/>
            <a:cxnLst/>
            <a:rect l="0" t="0" r="r" b="b"/>
            <a:pathLst>
              <a:path w="7026332" h="2531691">
                <a:moveTo>
                  <a:pt x="0" y="2531691"/>
                </a:moveTo>
                <a:cubicBezTo>
                  <a:pt x="292763" y="2474361"/>
                  <a:pt x="1171055" y="2334475"/>
                  <a:pt x="1756583" y="2187711"/>
                </a:cubicBezTo>
                <a:cubicBezTo>
                  <a:pt x="2342110" y="2040946"/>
                  <a:pt x="2927638" y="1862077"/>
                  <a:pt x="3513166" y="1651103"/>
                </a:cubicBezTo>
                <a:cubicBezTo>
                  <a:pt x="4098693" y="1440128"/>
                  <a:pt x="4684221" y="1197049"/>
                  <a:pt x="5269749" y="921866"/>
                </a:cubicBezTo>
                <a:cubicBezTo>
                  <a:pt x="5855276" y="646682"/>
                  <a:pt x="6733568" y="153644"/>
                  <a:pt x="7026332" y="0"/>
                </a:cubicBezTo>
              </a:path>
            </a:pathLst>
          </a:custGeom>
          <a:noFill/>
          <a:ln w="4445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417320" y="5067072"/>
            <a:ext cx="7026332" cy="0"/>
          </a:xfrm>
          <a:prstGeom prst="line">
            <a:avLst/>
          </a:prstGeom>
          <a:ln w="2222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5488" y="4929912"/>
            <a:ext cx="868680" cy="274320"/>
          </a:xfrm>
          <a:prstGeom prst="rect">
            <a:avLst/>
          </a:prstGeom>
          <a:noFill/>
        </p:spPr>
        <p:txBody>
          <a:bodyPr wrap="square" lIns="0" rIns="0" tIns="0" bIns="0">
            <a:spAutoFit/>
          </a:bodyPr>
          <a:lstStyle/>
          <a:p>
            <a:pPr algn="r"/>
            <a:r>
              <a:rPr sz="1600" b="0" i="1" u="none">
                <a:solidFill>
                  <a:srgbClr val="0B2B4E"/>
                </a:solidFill>
                <a:latin typeface="Calibri"/>
              </a:rPr>
              <a:t>60,000</a:t>
            </a:r>
          </a:p>
        </p:txBody>
      </p:sp>
      <p:sp>
        <p:nvSpPr>
          <p:cNvPr id="14" name="TextBox 13"/>
          <p:cNvSpPr txBox="1"/>
          <p:nvPr/>
        </p:nvSpPr>
        <p:spPr>
          <a:xfrm>
            <a:off x="5120640" y="4736592"/>
            <a:ext cx="3566160" cy="310896"/>
          </a:xfrm>
          <a:prstGeom prst="rect">
            <a:avLst/>
          </a:prstGeom>
          <a:noFill/>
        </p:spPr>
        <p:txBody>
          <a:bodyPr wrap="square" lIns="0" rIns="0" tIns="0" bIns="0">
            <a:spAutoFit/>
          </a:bodyPr>
          <a:lstStyle/>
          <a:p>
            <a:pPr algn="l"/>
            <a:r>
              <a:rPr sz="1600" b="0" i="1" u="none">
                <a:solidFill>
                  <a:srgbClr val="555B66"/>
                </a:solidFill>
                <a:latin typeface="Calibri"/>
              </a:rPr>
              <a:t>TFC — paid whatever the crop</a:t>
            </a:r>
          </a:p>
        </p:txBody>
      </p:sp>
      <p:sp>
        <p:nvSpPr>
          <p:cNvPr id="15" name="TextBox 14"/>
          <p:cNvSpPr txBox="1"/>
          <p:nvPr/>
        </p:nvSpPr>
        <p:spPr>
          <a:xfrm>
            <a:off x="2633056" y="5541264"/>
            <a:ext cx="914400" cy="274320"/>
          </a:xfrm>
          <a:prstGeom prst="rect">
            <a:avLst/>
          </a:prstGeom>
          <a:noFill/>
        </p:spPr>
        <p:txBody>
          <a:bodyPr wrap="square" lIns="0" rIns="0" tIns="0" bIns="0">
            <a:spAutoFit/>
          </a:bodyPr>
          <a:lstStyle/>
          <a:p>
            <a:pPr algn="ctr"/>
            <a:r>
              <a:rPr sz="1600" b="0" i="1" u="none">
                <a:solidFill>
                  <a:srgbClr val="0B2B4E"/>
                </a:solidFill>
                <a:latin typeface="Calibri"/>
              </a:rPr>
              <a:t>250</a:t>
            </a:r>
          </a:p>
        </p:txBody>
      </p:sp>
      <p:sp>
        <p:nvSpPr>
          <p:cNvPr id="16" name="TextBox 15"/>
          <p:cNvSpPr txBox="1"/>
          <p:nvPr/>
        </p:nvSpPr>
        <p:spPr>
          <a:xfrm>
            <a:off x="4305992" y="5541264"/>
            <a:ext cx="914400" cy="274320"/>
          </a:xfrm>
          <a:prstGeom prst="rect">
            <a:avLst/>
          </a:prstGeom>
          <a:noFill/>
        </p:spPr>
        <p:txBody>
          <a:bodyPr wrap="square" lIns="0" rIns="0" tIns="0" bIns="0">
            <a:spAutoFit/>
          </a:bodyPr>
          <a:lstStyle/>
          <a:p>
            <a:pPr algn="ctr"/>
            <a:r>
              <a:rPr sz="1600" b="0" i="1" u="none">
                <a:solidFill>
                  <a:srgbClr val="0B2B4E"/>
                </a:solidFill>
                <a:latin typeface="Calibri"/>
              </a:rPr>
              <a:t>500</a:t>
            </a:r>
          </a:p>
        </p:txBody>
      </p:sp>
      <p:sp>
        <p:nvSpPr>
          <p:cNvPr id="17" name="TextBox 16"/>
          <p:cNvSpPr txBox="1"/>
          <p:nvPr/>
        </p:nvSpPr>
        <p:spPr>
          <a:xfrm>
            <a:off x="5978929" y="5541264"/>
            <a:ext cx="914400" cy="274320"/>
          </a:xfrm>
          <a:prstGeom prst="rect">
            <a:avLst/>
          </a:prstGeom>
          <a:noFill/>
        </p:spPr>
        <p:txBody>
          <a:bodyPr wrap="square" lIns="0" rIns="0" tIns="0" bIns="0">
            <a:spAutoFit/>
          </a:bodyPr>
          <a:lstStyle/>
          <a:p>
            <a:pPr algn="ctr"/>
            <a:r>
              <a:rPr sz="1600" b="0" i="1" u="none">
                <a:solidFill>
                  <a:srgbClr val="0B2B4E"/>
                </a:solidFill>
                <a:latin typeface="Calibri"/>
              </a:rPr>
              <a:t>750</a:t>
            </a:r>
          </a:p>
        </p:txBody>
      </p:sp>
      <p:sp>
        <p:nvSpPr>
          <p:cNvPr id="18" name="TextBox 17"/>
          <p:cNvSpPr txBox="1"/>
          <p:nvPr/>
        </p:nvSpPr>
        <p:spPr>
          <a:xfrm>
            <a:off x="7651865" y="5541264"/>
            <a:ext cx="914400" cy="274320"/>
          </a:xfrm>
          <a:prstGeom prst="rect">
            <a:avLst/>
          </a:prstGeom>
          <a:noFill/>
        </p:spPr>
        <p:txBody>
          <a:bodyPr wrap="square" lIns="0" rIns="0" tIns="0" bIns="0">
            <a:spAutoFit/>
          </a:bodyPr>
          <a:lstStyle/>
          <a:p>
            <a:pPr algn="ctr"/>
            <a:r>
              <a:rPr sz="1600" b="0" i="1" u="none">
                <a:solidFill>
                  <a:srgbClr val="0B2B4E"/>
                </a:solidFill>
                <a:latin typeface="Calibri"/>
              </a:rPr>
              <a:t>1,000</a:t>
            </a:r>
          </a:p>
        </p:txBody>
      </p:sp>
      <p:sp>
        <p:nvSpPr>
          <p:cNvPr id="19" name="TextBox 18"/>
          <p:cNvSpPr txBox="1"/>
          <p:nvPr/>
        </p:nvSpPr>
        <p:spPr>
          <a:xfrm>
            <a:off x="3749039" y="1572768"/>
            <a:ext cx="4937760" cy="548640"/>
          </a:xfrm>
          <a:prstGeom prst="rect">
            <a:avLst/>
          </a:prstGeom>
          <a:noFill/>
        </p:spPr>
        <p:txBody>
          <a:bodyPr wrap="square" lIns="45720" rIns="45720" tIns="0" bIns="0">
            <a:spAutoFit/>
          </a:bodyPr>
          <a:lstStyle/>
          <a:p xmlns:m="http://schemas.openxmlformats.org/officeDocument/2006/math" xmlns:a14="http://schemas.microsoft.com/office/drawing/2010/main">
            <a:pPr algn="ctr"/>
            <a14:m>
              <m:oMath>
                <m:r>
                  <m:rPr>
                    <m:sty m:val="p"/>
                  </m:rPr>
                  <a:rPr lang="en-US" b="0" i="0" sz="2400">
                    <a:solidFill>
                      <a:srgbClr val="0B2B4E"/>
                    </a:solidFill>
                    <a:latin typeface="Cambria Math"/>
                  </a:rPr>
                  <m:t xml:space="preserve">TC</m:t>
                </m:r>
                <m:r>
                  <m:rPr>
                    <m:sty m:val="p"/>
                  </m:rPr>
                  <a:rPr lang="en-US" b="0" i="0" sz="2400">
                    <a:solidFill>
                      <a:srgbClr val="0B2B4E"/>
                    </a:solidFill>
                    <a:latin typeface="Cambria Math"/>
                  </a:rPr>
                  <m:t xml:space="preserve"> = 60,000 + 135</m:t>
                </m:r>
                <m:r>
                  <a:rPr lang="en-US" b="0" i="1" sz="2400">
                    <a:solidFill>
                      <a:srgbClr val="0B2B4E"/>
                    </a:solidFill>
                    <a:latin typeface="Cambria Math"/>
                    <a:ea typeface="Cambria Math"/>
                  </a:rPr>
                  <m:t>Q</m:t>
                </m:r>
                <m:r>
                  <m:rPr>
                    <m:sty m:val="p"/>
                  </m:rPr>
                  <a:rPr lang="en-US" b="0" i="0" sz="2400">
                    <a:solidFill>
                      <a:srgbClr val="0B2B4E"/>
                    </a:solidFill>
                    <a:latin typeface="Cambria Math"/>
                  </a:rPr>
                  <m:t xml:space="preserve"> + 0.2</m:t>
                </m:r>
                <m:sSup>
                  <m:sSupPr>
                    <m:ctrlPr>
                      <a:rPr lang="en-US" i="1">
                        <a:latin typeface="Cambria Math"/>
                      </a:rPr>
                    </m:ctrlPr>
                  </m:sSupPr>
                  <m:e>
                    <m:r>
                      <a:rPr lang="en-US" b="0" i="1" sz="2400">
                        <a:solidFill>
                          <a:srgbClr val="0B2B4E"/>
                        </a:solidFill>
                        <a:latin typeface="Cambria Math"/>
                        <a:ea typeface="Cambria Math"/>
                      </a:rPr>
                      <m:t>Q</m:t>
                    </m:r>
                  </m:e>
                  <m:sup>
                    <m:r>
                      <m:rPr>
                        <m:sty m:val="p"/>
                      </m:rPr>
                      <a:rPr lang="en-US" b="0" i="0" sz="2400">
                        <a:solidFill>
                          <a:srgbClr val="0B2B4E"/>
                        </a:solidFill>
                        <a:latin typeface="Cambria Math"/>
                      </a:rPr>
                      <m:t xml:space="preserve">2</m:t>
                    </m:r>
                  </m:sup>
                </m:sSup>
              </m:oMath>
            </a14:m>
            <a:endParaRPr lang="en-US"/>
          </a:p>
        </p:txBody>
      </p:sp>
      <p:sp>
        <p:nvSpPr>
          <p:cNvPr id="20" name="TextBox 19"/>
          <p:cNvSpPr txBox="1"/>
          <p:nvPr/>
        </p:nvSpPr>
        <p:spPr>
          <a:xfrm>
            <a:off x="8175982" y="2212016"/>
            <a:ext cx="822960" cy="292608"/>
          </a:xfrm>
          <a:prstGeom prst="rect">
            <a:avLst/>
          </a:prstGeom>
          <a:noFill/>
        </p:spPr>
        <p:txBody>
          <a:bodyPr wrap="square" lIns="0" rIns="0" tIns="0" bIns="0">
            <a:spAutoFit/>
          </a:bodyPr>
          <a:lstStyle/>
          <a:p>
            <a:pPr algn="l"/>
            <a:r>
              <a:rPr sz="2000" b="1" i="1" u="none">
                <a:solidFill>
                  <a:srgbClr val="0B2B4E"/>
                </a:solidFill>
                <a:latin typeface="Calibri"/>
              </a:rPr>
              <a:t>TC</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4" name="TextBox 23"/>
          <p:cNvSpPr txBox="1"/>
          <p:nvPr/>
        </p:nvSpPr>
        <p:spPr>
          <a:xfrm>
            <a:off x="11475720" y="6583680"/>
            <a:ext cx="502920" cy="292608"/>
          </a:xfrm>
          <a:prstGeom prst="rect">
            <a:avLst/>
          </a:prstGeom>
          <a:noFill/>
        </p:spPr>
        <p:txBody>
          <a:bodyPr wrap="none" lIns="0" rIns="0" tIns="0" bIns="0">
            <a:spAutoFit/>
          </a:bodyPr>
          <a:lstStyle/>
          <a:p>
            <a:pPr algn="r"/>
            <a:fld id="{53793BDB-F8E4-5A87-9208-0FE1942BB6AD}" type="slidenum">
              <a:rPr lang="en-US" sz="1200" dirty="0">
                <a:solidFill>
                  <a:srgbClr val="555B66"/>
                </a:solidFill>
                <a:latin typeface="Calibri"/>
              </a:rPr>
              <a:t>15</a:t>
            </a:fld>
          </a:p>
        </p:txBody>
      </p:sp>
      <p:sp>
        <p:nvSpPr>
          <p:cNvPr id="25" name="Rounded Rectangle 24"/>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Business Relevance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7315200" cy="411480"/>
          </a:xfrm>
          <a:prstGeom prst="rect">
            <a:avLst/>
          </a:prstGeom>
          <a:noFill/>
        </p:spPr>
        <p:txBody>
          <a:bodyPr wrap="square" lIns="0" rIns="0" tIns="0" bIns="0">
            <a:spAutoFit/>
          </a:bodyPr>
          <a:lstStyle/>
          <a:p>
            <a:pPr algn="l"/>
            <a:r>
              <a:rPr sz="2800" b="1" i="0" u="none">
                <a:solidFill>
                  <a:srgbClr val="0B2B4E"/>
                </a:solidFill>
                <a:latin typeface="Calibri"/>
              </a:rPr>
              <a:t>Key questions:</a:t>
            </a:r>
          </a:p>
        </p:txBody>
      </p:sp>
      <p:sp>
        <p:nvSpPr>
          <p:cNvPr id="8" name="Oval 7"/>
          <p:cNvSpPr/>
          <p:nvPr/>
        </p:nvSpPr>
        <p:spPr>
          <a:xfrm>
            <a:off x="960120" y="233172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B2B4E"/>
                </a:solidFill>
                <a:latin typeface="Calibri"/>
              </a:rPr>
              <a:t>1</a:t>
            </a:r>
          </a:p>
        </p:txBody>
      </p:sp>
      <p:sp>
        <p:nvSpPr>
          <p:cNvPr id="9" name="TextBox 8"/>
          <p:cNvSpPr txBox="1"/>
          <p:nvPr/>
        </p:nvSpPr>
        <p:spPr>
          <a:xfrm>
            <a:off x="1783080" y="2359152"/>
            <a:ext cx="9601200" cy="457200"/>
          </a:xfrm>
          <a:prstGeom prst="rect">
            <a:avLst/>
          </a:prstGeom>
          <a:noFill/>
        </p:spPr>
        <p:txBody>
          <a:bodyPr wrap="square" lIns="0" rIns="0" tIns="0" bIns="0">
            <a:spAutoFit/>
          </a:bodyPr>
          <a:lstStyle/>
          <a:p>
            <a:pPr algn="l"/>
            <a:r>
              <a:rPr sz="2800" b="0" i="0" u="none">
                <a:solidFill>
                  <a:srgbClr val="0B2B4E"/>
                </a:solidFill>
                <a:latin typeface="Calibri"/>
              </a:rPr>
              <a:t>Should the Yi family operate at all?</a:t>
            </a:r>
          </a:p>
        </p:txBody>
      </p:sp>
      <p:sp>
        <p:nvSpPr>
          <p:cNvPr id="10" name="Oval 9"/>
          <p:cNvSpPr/>
          <p:nvPr/>
        </p:nvSpPr>
        <p:spPr>
          <a:xfrm>
            <a:off x="960120" y="329184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B2B4E"/>
                </a:solidFill>
                <a:latin typeface="Calibri"/>
              </a:rPr>
              <a:t>2</a:t>
            </a:r>
          </a:p>
        </p:txBody>
      </p:sp>
      <p:sp>
        <p:nvSpPr>
          <p:cNvPr id="11" name="TextBox 10"/>
          <p:cNvSpPr txBox="1"/>
          <p:nvPr/>
        </p:nvSpPr>
        <p:spPr>
          <a:xfrm>
            <a:off x="1783080" y="3319272"/>
            <a:ext cx="9601200" cy="457200"/>
          </a:xfrm>
          <a:prstGeom prst="rect">
            <a:avLst/>
          </a:prstGeom>
          <a:noFill/>
        </p:spPr>
        <p:txBody>
          <a:bodyPr wrap="square" lIns="0" rIns="0" tIns="0" bIns="0">
            <a:spAutoFit/>
          </a:bodyPr>
          <a:lstStyle/>
          <a:p>
            <a:pPr algn="l"/>
            <a:r>
              <a:rPr sz="2800" b="0" i="0" u="none">
                <a:solidFill>
                  <a:srgbClr val="0B2B4E"/>
                </a:solidFill>
                <a:latin typeface="Calibri"/>
              </a:rPr>
              <a:t>How much should they produce?</a:t>
            </a:r>
          </a:p>
        </p:txBody>
      </p:sp>
      <p:sp>
        <p:nvSpPr>
          <p:cNvPr id="12" name="TextBox 11"/>
          <p:cNvSpPr txBox="1"/>
          <p:nvPr/>
        </p:nvSpPr>
        <p:spPr>
          <a:xfrm>
            <a:off x="389159" y="4434840"/>
            <a:ext cx="11338560" cy="11887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We start with the second question: profit maximization</a:t>
            </a:r>
          </a:p>
          <a:p>
            <a:pPr algn="l"/>
            <a:r>
              <a:rPr>
                <a:latin typeface="Calibri"/>
              </a:rPr>
              <a:t>Key concept: </a:t>
            </a:r>
            <a:r>
              <a:rPr b="1">
                <a:solidFill>
                  <a:srgbClr val="0070C0"/>
                </a:solidFill>
                <a:latin typeface="Calibri"/>
              </a:rPr>
              <a:t>marginal analysis</a:t>
            </a:r>
          </a:p>
        </p:txBody>
      </p:sp>
      <p:sp>
        <p:nvSpPr>
          <p:cNvPr id="13" name="Rounded Rectangle 12"/>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889F1E5C-E4B8-512C-94F0-E88E46A52CE2}" type="slidenum">
              <a:rPr lang="en-US" sz="1200" dirty="0">
                <a:solidFill>
                  <a:srgbClr val="555B66"/>
                </a:solidFill>
                <a:latin typeface="Calibri"/>
              </a:rPr>
              <a:t>16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fade">
                                      <p:cBhvr>
                                        <p:cTn id="28" dur="500"/>
                                        <p:tgtEl>
                                          <p:spTgt spid="12">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xEl>
                                              <p:pRg st="1" end="1"/>
                                            </p:txEl>
                                          </p:spTgt>
                                        </p:tgtEl>
                                        <p:attrNameLst>
                                          <p:attrName>style.visibility</p:attrName>
                                        </p:attrNameLst>
                                      </p:cBhvr>
                                      <p:to>
                                        <p:strVal val="visible"/>
                                      </p:to>
                                    </p:set>
                                    <p:animEffect transition="in" filter="fade">
                                      <p:cBhvr>
                                        <p:cTn id="33"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Price Taker Profit Maximization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45920"/>
            <a:ext cx="11338560" cy="283464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Set MR = MC — the rule for every profit maximizer</a:t>
            </a:r>
          </a:p>
          <a:p>
            <a:pPr algn="l"/>
            <a:r>
              <a:rPr>
                <a:latin typeface="Calibri"/>
              </a:rPr>
              <a:t>But MR is far easier to compute for a price taker</a:t>
            </a:r>
          </a:p>
          <a:p>
            <a:pPr algn="l" lvl="1"/>
            <a:r>
              <a:rPr>
                <a:latin typeface="Calibri"/>
              </a:rPr>
              <a:t>For a price taker, MR = P, the market price</a:t>
            </a:r>
          </a:p>
          <a:p>
            <a:pPr algn="l" lvl="1"/>
            <a:r>
              <a:rPr>
                <a:latin typeface="Calibri"/>
              </a:rPr>
              <a:t>P is given: the firm cannot set it</a:t>
            </a:r>
          </a:p>
          <a:p>
            <a:pPr algn="l"/>
            <a:r>
              <a:rPr>
                <a:latin typeface="Calibri"/>
              </a:rPr>
              <a:t>So there is only one decision left: how much to produce</a:t>
            </a:r>
          </a:p>
        </p:txBody>
      </p:sp>
      <p:sp>
        <p:nvSpPr>
          <p:cNvPr id="8" name="TextBox 7"/>
          <p:cNvSpPr txBox="1"/>
          <p:nvPr/>
        </p:nvSpPr>
        <p:spPr>
          <a:xfrm>
            <a:off x="3520440" y="4754880"/>
            <a:ext cx="5120640" cy="96012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Find </m:t>
                  </m:r>
                  <m:sSup>
                    <m:sSupPr>
                      <m:ctrlPr>
                        <a:rPr lang="en-US" i="1">
                          <a:latin typeface="Cambria Math"/>
                        </a:rPr>
                      </m:ctrlPr>
                    </m:sSupPr>
                    <m:e>
                      <m:r>
                        <a:rPr lang="en-US" b="0" i="1" sz="3000">
                          <a:solidFill>
                            <a:srgbClr val="0B2B4E"/>
                          </a:solidFill>
                          <a:latin typeface="Cambria Math"/>
                          <a:ea typeface="Cambria Math"/>
                        </a:rPr>
                        <m:t>Q</m:t>
                      </m:r>
                    </m:e>
                    <m:sup>
                      <m:r>
                        <m:rPr>
                          <m:sty m:val="p"/>
                        </m:rPr>
                        <a:rPr lang="en-US" b="0" i="0" sz="3000">
                          <a:solidFill>
                            <a:srgbClr val="0B2B4E"/>
                          </a:solidFill>
                          <a:latin typeface="Cambria Math"/>
                        </a:rPr>
                        <m:t xml:space="preserve">*</m:t>
                      </m:r>
                    </m:sup>
                  </m:sSup>
                  <m:r>
                    <m:rPr>
                      <m:sty m:val="p"/>
                    </m:rPr>
                    <a:rPr lang="en-US" b="0" i="0" sz="3000">
                      <a:solidFill>
                        <a:srgbClr val="0B2B4E"/>
                      </a:solidFill>
                      <a:latin typeface="Cambria Math"/>
                    </a:rPr>
                    <m:t xml:space="preserve"> such that  </m:t>
                  </m:r>
                  <m:r>
                    <a:rPr lang="en-US" b="0" i="1" sz="3000">
                      <a:solidFill>
                        <a:srgbClr val="0B2B4E"/>
                      </a:solidFill>
                      <a:latin typeface="Cambria Math"/>
                      <a:ea typeface="Cambria Math"/>
                    </a:rPr>
                    <m:t>P</m:t>
                  </m:r>
                  <m:r>
                    <m:rPr>
                      <m:sty m:val="p"/>
                    </m:rPr>
                    <a:rPr lang="en-US" b="0" i="0" sz="3000">
                      <a:solidFill>
                        <a:srgbClr val="0B2B4E"/>
                      </a:solidFill>
                      <a:latin typeface="Cambria Math"/>
                    </a:rPr>
                    <m:t xml:space="preserve"> = </m:t>
                  </m:r>
                  <m:r>
                    <m:rPr>
                      <m:sty m:val="p"/>
                    </m:rPr>
                    <a:rPr lang="en-US" b="0" i="0" sz="3000">
                      <a:solidFill>
                        <a:srgbClr val="0B2B4E"/>
                      </a:solidFill>
                      <a:latin typeface="Cambria Math"/>
                    </a:rPr>
                    <m:t xml:space="preserve">MC</m:t>
                  </m:r>
                </m:oMath>
              </m:oMathPara>
            </a14:m>
            <a:endParaRPr lang="en-US" sz="3000"/>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61BE8715-22EA-5792-B9AF-FD5475CC3481}" type="slidenum">
              <a:rPr lang="en-US" sz="1200" dirty="0">
                <a:solidFill>
                  <a:srgbClr val="555B66"/>
                </a:solidFill>
                <a:latin typeface="Calibri"/>
              </a:rPr>
              <a:t>17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Price Taker Revenue Conditions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32" name="Group pair 132"/>
          <p:cNvGrpSpPr/>
          <p:nvPr/>
        </p:nvGrpSpPr>
        <p:grpSpPr>
          <a:xfrm>
            <a:off x="548640" y="1965960"/>
            <a:ext cx="4297680" cy="2880360"/>
            <a:chOff x="548640" y="1965960"/>
            <a:chExt cx="4297680" cy="2880360"/>
          </a:xfrm>
        </p:grpSpPr>
        <p:sp>
          <p:nvSpPr>
            <p:cNvPr id="7" name="Rectangle 6"/>
            <p:cNvSpPr/>
            <p:nvPr/>
          </p:nvSpPr>
          <p:spPr>
            <a:xfrm>
              <a:off x="548640" y="1965960"/>
              <a:ext cx="4297680" cy="28803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685800" y="2103120"/>
            <a:ext cx="4023360" cy="2615184"/>
          </p:xfrm>
          <a:graphic>
            <a:graphicData uri="http://schemas.openxmlformats.org/drawingml/2006/table">
              <a:tbl>
                <a:tblPr firstRow="0" bandRow="0"/>
                <a:tblGrid>
                  <a:gridCol w="1005840"/>
                  <a:gridCol w="1005840"/>
                  <a:gridCol w="1005840"/>
                  <a:gridCol w="1005840"/>
                </a:tblGrid>
                <a:tr h="566928">
                  <a:tc>
                    <a:txBody>
                      <a:bodyPr wrap="square"/>
                      <a:lstStyle/>
                      <a:p>
                        <a:pPr algn="ctr"/>
                        <a:r>
                          <a:rPr sz="1900" b="1">
                            <a:solidFill>
                              <a:srgbClr val="FFFFFF"/>
                            </a:solidFill>
                            <a:latin typeface="Calibri"/>
                          </a:rPr>
                          <a:t>P</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TR</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MR</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512064">
                  <a:tc>
                    <a:txBody>
                      <a:bodyPr wrap="square"/>
                      <a:lstStyle/>
                      <a:p>
                        <a:pPr algn="ctr"/>
                        <a:r>
                          <a:rPr sz="1900" b="1">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10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$30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12064">
                  <a:tc>
                    <a:txBody>
                      <a:bodyPr wrap="square"/>
                      <a:lstStyle/>
                      <a:p>
                        <a:pPr algn="ctr"/>
                        <a:r>
                          <a:rPr sz="1900" b="1">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11</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512064">
                  <a:tc>
                    <a:txBody>
                      <a:bodyPr wrap="square"/>
                      <a:lstStyle/>
                      <a:p>
                        <a:pPr algn="ctr"/>
                        <a:r>
                          <a:rPr sz="1900" b="1">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12</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36</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900" b="0">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12064">
                  <a:tc>
                    <a:txBody>
                      <a:bodyPr wrap="square"/>
                      <a:lstStyle/>
                      <a:p>
                        <a:pPr algn="ctr"/>
                        <a:r>
                          <a:rPr sz="1900" b="1">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13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39</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900" b="0">
                            <a:solidFill>
                              <a:srgbClr val="0B2B4E"/>
                            </a:solidFill>
                            <a:latin typeface="Calibri"/>
                          </a:rPr>
                          <a:t>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cxnSp>
        <p:nvCxnSpPr>
          <p:cNvPr id="9" name="Connector 8"/>
          <p:cNvCxnSpPr/>
          <p:nvPr/>
        </p:nvCxnSpPr>
        <p:spPr>
          <a:xfrm flipV="1">
            <a:off x="5760720" y="2258568"/>
            <a:ext cx="0" cy="31821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760720" y="5440680"/>
            <a:ext cx="25420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74920" y="1856232"/>
            <a:ext cx="1828800" cy="292608"/>
          </a:xfrm>
          <a:prstGeom prst="rect">
            <a:avLst/>
          </a:prstGeom>
          <a:noFill/>
        </p:spPr>
        <p:txBody>
          <a:bodyPr wrap="square" lIns="0" rIns="0" tIns="0" bIns="0">
            <a:spAutoFit/>
          </a:bodyPr>
          <a:lstStyle/>
          <a:p>
            <a:pPr algn="l"/>
            <a:r>
              <a:rPr sz="1600" b="1" i="1" u="none">
                <a:solidFill>
                  <a:srgbClr val="0B2B4E"/>
                </a:solidFill>
                <a:latin typeface="Calibri"/>
              </a:rPr>
              <a:t>TR ($)</a:t>
            </a:r>
          </a:p>
        </p:txBody>
      </p:sp>
      <p:sp>
        <p:nvSpPr>
          <p:cNvPr id="12" name="TextBox 11"/>
          <p:cNvSpPr txBox="1"/>
          <p:nvPr/>
        </p:nvSpPr>
        <p:spPr>
          <a:xfrm>
            <a:off x="7772400" y="5532120"/>
            <a:ext cx="1645920" cy="292608"/>
          </a:xfrm>
          <a:prstGeom prst="rect">
            <a:avLst/>
          </a:prstGeom>
          <a:noFill/>
        </p:spPr>
        <p:txBody>
          <a:bodyPr wrap="square" lIns="0" rIns="0" tIns="0" bIns="0">
            <a:spAutoFit/>
          </a:bodyPr>
          <a:lstStyle/>
          <a:p>
            <a:pPr algn="l"/>
            <a:r>
              <a:rPr sz="1600" b="1" i="1" u="none">
                <a:solidFill>
                  <a:srgbClr val="0B2B4E"/>
                </a:solidFill>
                <a:latin typeface="Calibri"/>
              </a:rPr>
              <a:t>Quantity</a:t>
            </a:r>
          </a:p>
        </p:txBody>
      </p:sp>
      <p:cxnSp>
        <p:nvCxnSpPr>
          <p:cNvPr id="13" name="Connector 12"/>
          <p:cNvCxnSpPr/>
          <p:nvPr/>
        </p:nvCxnSpPr>
        <p:spPr>
          <a:xfrm flipV="1">
            <a:off x="5760720" y="2800350"/>
            <a:ext cx="2218944" cy="264033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89320" y="1874519"/>
            <a:ext cx="2377440" cy="310896"/>
          </a:xfrm>
          <a:prstGeom prst="rect">
            <a:avLst/>
          </a:prstGeom>
          <a:noFill/>
        </p:spPr>
        <p:txBody>
          <a:bodyPr wrap="square" lIns="0" rIns="0" tIns="0" bIns="0">
            <a:spAutoFit/>
          </a:bodyPr>
          <a:lstStyle/>
          <a:p>
            <a:pPr algn="l"/>
            <a:r>
              <a:rPr sz="1800" b="1" i="1" u="none">
                <a:solidFill>
                  <a:srgbClr val="0B2B4E"/>
                </a:solidFill>
                <a:latin typeface="Calibri"/>
              </a:rPr>
              <a:t>TR  =  P · Q</a:t>
            </a:r>
          </a:p>
        </p:txBody>
      </p:sp>
      <p:cxnSp>
        <p:nvCxnSpPr>
          <p:cNvPr id="15" name="Connector 14"/>
          <p:cNvCxnSpPr/>
          <p:nvPr/>
        </p:nvCxnSpPr>
        <p:spPr>
          <a:xfrm>
            <a:off x="5760720" y="3554730"/>
            <a:ext cx="158496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345680" y="3554730"/>
            <a:ext cx="0" cy="188595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88480" y="5495544"/>
            <a:ext cx="914400" cy="274320"/>
          </a:xfrm>
          <a:prstGeom prst="rect">
            <a:avLst/>
          </a:prstGeom>
          <a:noFill/>
        </p:spPr>
        <p:txBody>
          <a:bodyPr wrap="square" lIns="0" rIns="0" tIns="0" bIns="0">
            <a:spAutoFit/>
          </a:bodyPr>
          <a:lstStyle/>
          <a:p>
            <a:pPr algn="ctr"/>
            <a:r>
              <a:rPr sz="1500" b="0" i="1" u="none">
                <a:solidFill>
                  <a:srgbClr val="0B2B4E"/>
                </a:solidFill>
                <a:latin typeface="Calibri"/>
              </a:rPr>
              <a:t>10</a:t>
            </a:r>
          </a:p>
        </p:txBody>
      </p:sp>
      <p:sp>
        <p:nvSpPr>
          <p:cNvPr id="18" name="TextBox 17"/>
          <p:cNvSpPr txBox="1"/>
          <p:nvPr/>
        </p:nvSpPr>
        <p:spPr>
          <a:xfrm>
            <a:off x="4818888" y="3417570"/>
            <a:ext cx="868680" cy="274320"/>
          </a:xfrm>
          <a:prstGeom prst="rect">
            <a:avLst/>
          </a:prstGeom>
          <a:noFill/>
        </p:spPr>
        <p:txBody>
          <a:bodyPr wrap="square" lIns="0" rIns="0" tIns="0" bIns="0">
            <a:spAutoFit/>
          </a:bodyPr>
          <a:lstStyle/>
          <a:p>
            <a:pPr algn="r"/>
            <a:r>
              <a:rPr sz="1500" b="0" i="1" u="none">
                <a:solidFill>
                  <a:srgbClr val="0B2B4E"/>
                </a:solidFill>
                <a:latin typeface="Calibri"/>
              </a:rPr>
              <a:t>30</a:t>
            </a:r>
          </a:p>
        </p:txBody>
      </p:sp>
      <p:cxnSp>
        <p:nvCxnSpPr>
          <p:cNvPr id="19" name="Connector 18"/>
          <p:cNvCxnSpPr/>
          <p:nvPr/>
        </p:nvCxnSpPr>
        <p:spPr>
          <a:xfrm flipV="1">
            <a:off x="9189720" y="2258568"/>
            <a:ext cx="0" cy="31821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189720" y="5440680"/>
            <a:ext cx="25420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503920" y="1856232"/>
            <a:ext cx="1828800" cy="292608"/>
          </a:xfrm>
          <a:prstGeom prst="rect">
            <a:avLst/>
          </a:prstGeom>
          <a:noFill/>
        </p:spPr>
        <p:txBody>
          <a:bodyPr wrap="square" lIns="0" rIns="0" tIns="0" bIns="0">
            <a:spAutoFit/>
          </a:bodyPr>
          <a:lstStyle/>
          <a:p>
            <a:pPr algn="l"/>
            <a:r>
              <a:rPr sz="1600" b="1" i="1" u="none">
                <a:solidFill>
                  <a:srgbClr val="0B2B4E"/>
                </a:solidFill>
                <a:latin typeface="Calibri"/>
              </a:rPr>
              <a:t>P ($)</a:t>
            </a:r>
          </a:p>
        </p:txBody>
      </p:sp>
      <p:sp>
        <p:nvSpPr>
          <p:cNvPr id="22" name="TextBox 21"/>
          <p:cNvSpPr txBox="1"/>
          <p:nvPr/>
        </p:nvSpPr>
        <p:spPr>
          <a:xfrm>
            <a:off x="11201400" y="5532120"/>
            <a:ext cx="1645920" cy="292608"/>
          </a:xfrm>
          <a:prstGeom prst="rect">
            <a:avLst/>
          </a:prstGeom>
          <a:noFill/>
        </p:spPr>
        <p:txBody>
          <a:bodyPr wrap="square" lIns="0" rIns="0" tIns="0" bIns="0">
            <a:spAutoFit/>
          </a:bodyPr>
          <a:lstStyle/>
          <a:p>
            <a:pPr algn="l"/>
            <a:r>
              <a:rPr sz="1600" b="1" i="1" u="none">
                <a:solidFill>
                  <a:srgbClr val="0B2B4E"/>
                </a:solidFill>
                <a:latin typeface="Calibri"/>
              </a:rPr>
              <a:t>Quantity</a:t>
            </a:r>
          </a:p>
        </p:txBody>
      </p:sp>
      <p:cxnSp>
        <p:nvCxnSpPr>
          <p:cNvPr id="23" name="Connector 22"/>
          <p:cNvCxnSpPr/>
          <p:nvPr/>
        </p:nvCxnSpPr>
        <p:spPr>
          <a:xfrm>
            <a:off x="9189720" y="3931920"/>
            <a:ext cx="2218944" cy="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47888" y="3794760"/>
            <a:ext cx="868680" cy="274320"/>
          </a:xfrm>
          <a:prstGeom prst="rect">
            <a:avLst/>
          </a:prstGeom>
          <a:noFill/>
        </p:spPr>
        <p:txBody>
          <a:bodyPr wrap="square" lIns="0" rIns="0" tIns="0" bIns="0">
            <a:spAutoFit/>
          </a:bodyPr>
          <a:lstStyle/>
          <a:p>
            <a:pPr algn="r"/>
            <a:r>
              <a:rPr sz="1500" b="0" i="1" u="none">
                <a:solidFill>
                  <a:srgbClr val="0B2B4E"/>
                </a:solidFill>
                <a:latin typeface="Calibri"/>
              </a:rPr>
              <a:t>3</a:t>
            </a:r>
          </a:p>
        </p:txBody>
      </p:sp>
      <p:sp>
        <p:nvSpPr>
          <p:cNvPr id="25" name="TextBox 24"/>
          <p:cNvSpPr txBox="1"/>
          <p:nvPr/>
        </p:nvSpPr>
        <p:spPr>
          <a:xfrm>
            <a:off x="9189720" y="3401568"/>
            <a:ext cx="2606040" cy="310896"/>
          </a:xfrm>
          <a:prstGeom prst="rect">
            <a:avLst/>
          </a:prstGeom>
          <a:noFill/>
        </p:spPr>
        <p:txBody>
          <a:bodyPr wrap="square" lIns="0" rIns="0" tIns="0" bIns="0">
            <a:spAutoFit/>
          </a:bodyPr>
          <a:lstStyle/>
          <a:p>
            <a:pPr algn="ctr"/>
            <a:r>
              <a:rPr sz="1800" b="1" i="1" u="none">
                <a:solidFill>
                  <a:srgbClr val="0B2B4E"/>
                </a:solidFill>
                <a:latin typeface="Calibri"/>
              </a:rPr>
              <a:t>d  =  P  =  MR</a:t>
            </a:r>
          </a:p>
        </p:txBody>
      </p:sp>
      <p:grpSp>
        <p:nvGrpSpPr>
          <p:cNvPr id="131" name="Group pair 131"/>
          <p:cNvGrpSpPr/>
          <p:nvPr/>
        </p:nvGrpSpPr>
        <p:grpSpPr>
          <a:xfrm>
            <a:off x="685800" y="5074920"/>
            <a:ext cx="4023360" cy="868680"/>
            <a:chOff x="685800" y="5074920"/>
            <a:chExt cx="4023360" cy="868680"/>
          </a:xfrm>
        </p:grpSpPr>
        <p:sp>
          <p:nvSpPr>
            <p:cNvPr id="26" name="Rounded Rectangle 25"/>
            <p:cNvSpPr/>
            <p:nvPr/>
          </p:nvSpPr>
          <p:spPr>
            <a:xfrm>
              <a:off x="685800" y="5074920"/>
              <a:ext cx="4023360" cy="8686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84648"/>
              <a:ext cx="3657600" cy="649224"/>
            </a:xfrm>
            <a:prstGeom prst="rect">
              <a:avLst/>
            </a:prstGeom>
            <a:noFill/>
          </p:spPr>
          <p:txBody>
            <a:bodyPr wrap="square" lIns="45720" rIns="45720" tIns="0" bIns="0" anchor="ctr">
              <a:spAutoFit/>
            </a:bodyPr>
            <a:lstStyle/>
            <a:p>
              <a:pPr algn="l"/>
              <a:r>
                <a:rPr sz="1600" b="0" i="0" u="none">
                  <a:solidFill>
                    <a:srgbClr val="0B2B4E"/>
                  </a:solidFill>
                  <a:latin typeface="Calibri"/>
                </a:rPr>
                <a:t>Selling one more unit always brings in the same $3, so MR = P at every quantity</a:t>
              </a:r>
            </a:p>
          </p:txBody>
        </p:sp>
      </p:gr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1" name="TextBox 30"/>
          <p:cNvSpPr txBox="1"/>
          <p:nvPr/>
        </p:nvSpPr>
        <p:spPr>
          <a:xfrm>
            <a:off x="11475720" y="6583680"/>
            <a:ext cx="502920" cy="292608"/>
          </a:xfrm>
          <a:prstGeom prst="rect">
            <a:avLst/>
          </a:prstGeom>
          <a:noFill/>
        </p:spPr>
        <p:txBody>
          <a:bodyPr wrap="none" lIns="0" rIns="0" tIns="0" bIns="0">
            <a:spAutoFit/>
          </a:bodyPr>
          <a:lstStyle/>
          <a:p>
            <a:pPr algn="r"/>
            <a:fld id="{7A6F22D0-723E-561A-A382-778B47BF3598}" type="slidenum">
              <a:rPr lang="en-US" sz="1200" dirty="0">
                <a:solidFill>
                  <a:srgbClr val="555B66"/>
                </a:solidFill>
                <a:latin typeface="Calibri"/>
              </a:rPr>
              <a:t>18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31"/>
                                        </p:tgtEl>
                                        <p:attrNameLst>
                                          <p:attrName>style.visibility</p:attrName>
                                        </p:attrNameLst>
                                      </p:cBhvr>
                                      <p:to>
                                        <p:strVal val="visible"/>
                                      </p:to>
                                    </p:set>
                                    <p:animEffect transition="in" filter="fade">
                                      <p:cBhvr>
                                        <p:cTn id="45"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Profit Maximization of a Price Taker: Visual Representation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194560" y="1527047"/>
            <a:ext cx="0" cy="395935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94560" y="5486400"/>
            <a:ext cx="670255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508760" y="1124711"/>
            <a:ext cx="1828800" cy="292608"/>
          </a:xfrm>
          <a:prstGeom prst="rect">
            <a:avLst/>
          </a:prstGeom>
          <a:noFill/>
        </p:spPr>
        <p:txBody>
          <a:bodyPr wrap="square" lIns="0" rIns="0" tIns="0" bIns="0">
            <a:spAutoFit/>
          </a:bodyPr>
          <a:lstStyle/>
          <a:p>
            <a:pPr algn="l"/>
            <a:r>
              <a:rPr sz="1700" b="1" i="1" u="none">
                <a:solidFill>
                  <a:srgbClr val="0B2B4E"/>
                </a:solidFill>
                <a:latin typeface="Calibri"/>
              </a:rPr>
              <a:t>Firm revenue, cost and profit ($)</a:t>
            </a:r>
          </a:p>
        </p:txBody>
      </p:sp>
      <p:sp>
        <p:nvSpPr>
          <p:cNvPr id="10" name="TextBox 9"/>
          <p:cNvSpPr txBox="1"/>
          <p:nvPr/>
        </p:nvSpPr>
        <p:spPr>
          <a:xfrm>
            <a:off x="8366760" y="5577840"/>
            <a:ext cx="1645920" cy="292608"/>
          </a:xfrm>
          <a:prstGeom prst="rect">
            <a:avLst/>
          </a:prstGeom>
          <a:noFill/>
        </p:spPr>
        <p:txBody>
          <a:bodyPr wrap="square" lIns="0" rIns="0" tIns="0" bIns="0">
            <a:spAutoFit/>
          </a:bodyPr>
          <a:lstStyle/>
          <a:p>
            <a:pPr algn="l"/>
            <a:r>
              <a:rPr sz="1700" b="1" i="1" u="none">
                <a:solidFill>
                  <a:srgbClr val="0B2B4E"/>
                </a:solidFill>
                <a:latin typeface="Calibri"/>
              </a:rPr>
              <a:t>Quantity (Q)</a:t>
            </a:r>
          </a:p>
        </p:txBody>
      </p:sp>
      <p:cxnSp>
        <p:nvCxnSpPr>
          <p:cNvPr id="11" name="Connector 10"/>
          <p:cNvCxnSpPr/>
          <p:nvPr/>
        </p:nvCxnSpPr>
        <p:spPr>
          <a:xfrm flipV="1">
            <a:off x="2194560" y="1900351"/>
            <a:ext cx="5884164" cy="3586049"/>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194560" y="1703024"/>
            <a:ext cx="5884164" cy="3176214"/>
          </a:xfrm>
          <a:custGeom>
            <a:avLst/>
            <a:gdLst/>
            <a:ahLst/>
            <a:cxnLst/>
            <a:rect l="0" t="0" r="r" b="b"/>
            <a:pathLst>
              <a:path w="5884164" h="3176214">
                <a:moveTo>
                  <a:pt x="0" y="3176214"/>
                </a:moveTo>
                <a:cubicBezTo>
                  <a:pt x="245173" y="3111110"/>
                  <a:pt x="980694" y="2960624"/>
                  <a:pt x="1471041" y="2785591"/>
                </a:cubicBezTo>
                <a:cubicBezTo>
                  <a:pt x="1961388" y="2610557"/>
                  <a:pt x="2451735" y="2390698"/>
                  <a:pt x="2942082" y="2126014"/>
                </a:cubicBezTo>
                <a:cubicBezTo>
                  <a:pt x="3432429" y="1861329"/>
                  <a:pt x="3922776" y="1551819"/>
                  <a:pt x="4413123" y="1197484"/>
                </a:cubicBezTo>
                <a:cubicBezTo>
                  <a:pt x="4903470" y="843148"/>
                  <a:pt x="5638990" y="199580"/>
                  <a:pt x="5884164" y="0"/>
                </a:cubicBezTo>
              </a:path>
            </a:pathLst>
          </a:custGeom>
          <a:noFill/>
          <a:ln w="4445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194560" y="4879238"/>
            <a:ext cx="5884164"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252728" y="4742078"/>
            <a:ext cx="868680" cy="274320"/>
          </a:xfrm>
          <a:prstGeom prst="rect">
            <a:avLst/>
          </a:prstGeom>
          <a:noFill/>
        </p:spPr>
        <p:txBody>
          <a:bodyPr wrap="square" lIns="0" rIns="0" tIns="0" bIns="0">
            <a:spAutoFit/>
          </a:bodyPr>
          <a:lstStyle/>
          <a:p>
            <a:pPr algn="r"/>
            <a:r>
              <a:rPr sz="1600" b="0" i="1" u="none">
                <a:solidFill>
                  <a:srgbClr val="0B2B4E"/>
                </a:solidFill>
                <a:latin typeface="Calibri"/>
              </a:rPr>
              <a:t>TFC</a:t>
            </a:r>
          </a:p>
        </p:txBody>
      </p:sp>
      <p:sp>
        <p:nvSpPr>
          <p:cNvPr id="15" name="TextBox 14"/>
          <p:cNvSpPr txBox="1"/>
          <p:nvPr/>
        </p:nvSpPr>
        <p:spPr>
          <a:xfrm>
            <a:off x="7817205" y="2141113"/>
            <a:ext cx="822960" cy="292608"/>
          </a:xfrm>
          <a:prstGeom prst="rect">
            <a:avLst/>
          </a:prstGeom>
          <a:noFill/>
        </p:spPr>
        <p:txBody>
          <a:bodyPr wrap="square" lIns="0" rIns="0" tIns="0" bIns="0">
            <a:spAutoFit/>
          </a:bodyPr>
          <a:lstStyle/>
          <a:p>
            <a:pPr algn="l"/>
            <a:r>
              <a:rPr sz="1900" b="1" i="1" u="none">
                <a:solidFill>
                  <a:srgbClr val="0B2B4E"/>
                </a:solidFill>
                <a:latin typeface="Calibri"/>
              </a:rPr>
              <a:t>TR</a:t>
            </a:r>
          </a:p>
        </p:txBody>
      </p:sp>
      <p:sp>
        <p:nvSpPr>
          <p:cNvPr id="16" name="TextBox 15"/>
          <p:cNvSpPr txBox="1"/>
          <p:nvPr/>
        </p:nvSpPr>
        <p:spPr>
          <a:xfrm>
            <a:off x="7621066" y="1635537"/>
            <a:ext cx="822960" cy="292608"/>
          </a:xfrm>
          <a:prstGeom prst="rect">
            <a:avLst/>
          </a:prstGeom>
          <a:noFill/>
        </p:spPr>
        <p:txBody>
          <a:bodyPr wrap="square" lIns="0" rIns="0" tIns="0" bIns="0">
            <a:spAutoFit/>
          </a:bodyPr>
          <a:lstStyle/>
          <a:p>
            <a:pPr algn="l"/>
            <a:r>
              <a:rPr sz="1900" b="1" i="1" u="none">
                <a:solidFill>
                  <a:srgbClr val="E09F3E"/>
                </a:solidFill>
                <a:latin typeface="Calibri"/>
              </a:rPr>
              <a:t>TC</a:t>
            </a:r>
          </a:p>
        </p:txBody>
      </p:sp>
      <p:cxnSp>
        <p:nvCxnSpPr>
          <p:cNvPr id="17" name="Connector 16"/>
          <p:cNvCxnSpPr/>
          <p:nvPr/>
        </p:nvCxnSpPr>
        <p:spPr>
          <a:xfrm flipV="1">
            <a:off x="5697038" y="3351847"/>
            <a:ext cx="0" cy="155179"/>
          </a:xfrm>
          <a:prstGeom prst="line">
            <a:avLst/>
          </a:prstGeom>
          <a:ln w="38100">
            <a:solidFill>
              <a:srgbClr val="A2162A"/>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637602" y="3292411"/>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37602" y="344759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5697038" y="3507026"/>
            <a:ext cx="0" cy="197937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39838" y="5541264"/>
            <a:ext cx="914400" cy="274320"/>
          </a:xfrm>
          <a:prstGeom prst="rect">
            <a:avLst/>
          </a:prstGeom>
          <a:noFill/>
        </p:spPr>
        <p:txBody>
          <a:bodyPr wrap="square" lIns="0" rIns="0" tIns="0" bIns="0">
            <a:spAutoFit/>
          </a:bodyPr>
          <a:lstStyle/>
          <a:p>
            <a:pPr algn="ctr"/>
            <a:r>
              <a:rPr sz="1800" b="1" i="1" u="none">
                <a:solidFill>
                  <a:srgbClr val="0B2B4E"/>
                </a:solidFill>
                <a:latin typeface="Calibri"/>
              </a:rPr>
              <a:t>Q*</a:t>
            </a:r>
          </a:p>
        </p:txBody>
      </p:sp>
      <p:sp>
        <p:nvSpPr>
          <p:cNvPr id="22" name="TextBox 21"/>
          <p:cNvSpPr txBox="1"/>
          <p:nvPr/>
        </p:nvSpPr>
        <p:spPr>
          <a:xfrm>
            <a:off x="9006840" y="2011680"/>
            <a:ext cx="3017520" cy="640080"/>
          </a:xfrm>
          <a:prstGeom prst="rect">
            <a:avLst/>
          </a:prstGeom>
          <a:noFill/>
        </p:spPr>
        <p:txBody>
          <a:bodyPr wrap="square" lIns="0" rIns="0" tIns="0" bIns="0">
            <a:spAutoFit/>
          </a:bodyPr>
          <a:lstStyle/>
          <a:p>
            <a:pPr algn="l"/>
            <a:r>
              <a:rPr sz="1800" b="1" i="0" u="none">
                <a:solidFill>
                  <a:srgbClr val="0B2B4E"/>
                </a:solidFill>
                <a:latin typeface="Calibri"/>
              </a:rPr>
              <a:t>TR slope = MR = P</a:t>
            </a:r>
          </a:p>
        </p:txBody>
      </p:sp>
      <p:sp>
        <p:nvSpPr>
          <p:cNvPr id="23" name="TextBox 22"/>
          <p:cNvSpPr txBox="1"/>
          <p:nvPr/>
        </p:nvSpPr>
        <p:spPr>
          <a:xfrm>
            <a:off x="9006840" y="2788920"/>
            <a:ext cx="3017520" cy="640080"/>
          </a:xfrm>
          <a:prstGeom prst="rect">
            <a:avLst/>
          </a:prstGeom>
          <a:noFill/>
        </p:spPr>
        <p:txBody>
          <a:bodyPr wrap="square" lIns="0" rIns="0" tIns="0" bIns="0">
            <a:spAutoFit/>
          </a:bodyPr>
          <a:lstStyle/>
          <a:p>
            <a:pPr algn="l"/>
            <a:r>
              <a:rPr sz="1800" b="1" i="0" u="none">
                <a:solidFill>
                  <a:srgbClr val="E09F3E"/>
                </a:solidFill>
                <a:latin typeface="Calibri"/>
              </a:rPr>
              <a:t>TC slope = MC</a:t>
            </a:r>
          </a:p>
        </p:txBody>
      </p:sp>
      <p:grpSp>
        <p:nvGrpSpPr>
          <p:cNvPr id="129" name="Group pair 129"/>
          <p:cNvGrpSpPr/>
          <p:nvPr/>
        </p:nvGrpSpPr>
        <p:grpSpPr>
          <a:xfrm>
            <a:off x="9006840" y="3611880"/>
            <a:ext cx="3017520" cy="1417320"/>
            <a:chOff x="9006840" y="3611880"/>
            <a:chExt cx="3017520" cy="1417320"/>
          </a:xfrm>
        </p:grpSpPr>
        <p:sp>
          <p:nvSpPr>
            <p:cNvPr id="24" name="Rounded Rectangle 23"/>
            <p:cNvSpPr/>
            <p:nvPr/>
          </p:nvSpPr>
          <p:spPr>
            <a:xfrm>
              <a:off x="9006840" y="3611880"/>
              <a:ext cx="3017520" cy="14173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20" y="3721608"/>
              <a:ext cx="2651760" cy="1197864"/>
            </a:xfrm>
            <a:prstGeom prst="rect">
              <a:avLst/>
            </a:prstGeom>
            <a:noFill/>
          </p:spPr>
          <p:txBody>
            <a:bodyPr wrap="square" lIns="45720" rIns="45720" tIns="0" bIns="0" anchor="ctr">
              <a:spAutoFit/>
            </a:bodyPr>
            <a:lstStyle/>
            <a:p>
              <a:pPr algn="l"/>
              <a:r>
                <a:rPr sz="1900" b="1" i="0" u="none">
                  <a:solidFill>
                    <a:srgbClr val="0B2B4E"/>
                  </a:solidFill>
                  <a:latin typeface="Calibri"/>
                </a:rPr>
                <a:t>Profit = TR − TC</a:t>
              </a:r>
              <a:r>
                <a:rPr sz="1800" b="0" i="0" u="none">
                  <a:solidFill>
                    <a:srgbClr val="0B2B4E"/>
                  </a:solidFill>
                  <a:latin typeface="Calibri"/>
                </a:rPr>
                <a:t>
</a:t>
              </a:r>
              <a:r>
                <a:rPr sz="1700" b="0" i="0" u="none">
                  <a:solidFill>
                    <a:srgbClr val="0B2B4E"/>
                  </a:solidFill>
                  <a:latin typeface="Calibri"/>
                </a:rPr>
                <a:t>It is widest where the two slopes are equal — MR = MC</a:t>
              </a:r>
            </a:p>
          </p:txBody>
        </p:sp>
      </p:grpSp>
      <p:sp>
        <p:nvSpPr>
          <p:cNvPr id="26" name="Rectangle 2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9" name="TextBox 28"/>
          <p:cNvSpPr txBox="1"/>
          <p:nvPr/>
        </p:nvSpPr>
        <p:spPr>
          <a:xfrm>
            <a:off x="11475720" y="6583680"/>
            <a:ext cx="502920" cy="292608"/>
          </a:xfrm>
          <a:prstGeom prst="rect">
            <a:avLst/>
          </a:prstGeom>
          <a:noFill/>
        </p:spPr>
        <p:txBody>
          <a:bodyPr wrap="none" lIns="0" rIns="0" tIns="0" bIns="0">
            <a:spAutoFit/>
          </a:bodyPr>
          <a:lstStyle/>
          <a:p>
            <a:pPr algn="r"/>
            <a:fld id="{C1454909-D6FF-5F1F-980F-67DB08190285}" type="slidenum">
              <a:rPr lang="en-US" sz="1200" dirty="0">
                <a:solidFill>
                  <a:srgbClr val="555B66"/>
                </a:solidFill>
                <a:latin typeface="Calibri"/>
              </a:rPr>
              <a:t>19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29"/>
                                        </p:tgtEl>
                                        <p:attrNameLst>
                                          <p:attrName>style.visibility</p:attrName>
                                        </p:attrNameLst>
                                      </p:cBhvr>
                                      <p:to>
                                        <p:strVal val="visible"/>
                                      </p:to>
                                    </p:set>
                                    <p:animEffect transition="in" filter="fade">
                                      <p:cBhvr>
                                        <p:cTn id="58"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Maximizing Profit: Cabbage Production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11338560" cy="411480"/>
          </a:xfrm>
          <a:prstGeom prst="rect">
            <a:avLst/>
          </a:prstGeom>
          <a:noFill/>
        </p:spPr>
        <p:txBody>
          <a:bodyPr wrap="square" lIns="0" rIns="0" tIns="0" bIns="0">
            <a:spAutoFit/>
          </a:bodyPr>
          <a:lstStyle/>
          <a:p>
            <a:pPr algn="l"/>
            <a:r>
              <a:rPr sz="2600" b="0" i="0" u="none">
                <a:solidFill>
                  <a:srgbClr val="0B2B4E"/>
                </a:solidFill>
                <a:latin typeface="Calibri"/>
              </a:rPr>
              <a:t>The Yi family has estimated its total cost:</a:t>
            </a:r>
          </a:p>
        </p:txBody>
      </p:sp>
      <p:sp>
        <p:nvSpPr>
          <p:cNvPr id="8" name="TextBox 7"/>
          <p:cNvSpPr txBox="1"/>
          <p:nvPr/>
        </p:nvSpPr>
        <p:spPr>
          <a:xfrm>
            <a:off x="3246120" y="2240280"/>
            <a:ext cx="5669280" cy="96012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TC</m:t>
                  </m:r>
                  <m:r>
                    <m:rPr>
                      <m:sty m:val="p"/>
                    </m:rPr>
                    <a:rPr lang="en-US" b="0" i="0" sz="3000">
                      <a:solidFill>
                        <a:srgbClr val="0B2B4E"/>
                      </a:solidFill>
                      <a:latin typeface="Cambria Math"/>
                    </a:rPr>
                    <m:t xml:space="preserve"> = 60,000 + 135</m:t>
                  </m:r>
                  <m:r>
                    <a:rPr lang="en-US" b="0" i="1" sz="3000">
                      <a:solidFill>
                        <a:srgbClr val="0B2B4E"/>
                      </a:solidFill>
                      <a:latin typeface="Cambria Math"/>
                      <a:ea typeface="Cambria Math"/>
                    </a:rPr>
                    <m:t>Q</m:t>
                  </m:r>
                  <m:r>
                    <m:rPr>
                      <m:sty m:val="p"/>
                    </m:rPr>
                    <a:rPr lang="en-US" b="0" i="0" sz="3000">
                      <a:solidFill>
                        <a:srgbClr val="0B2B4E"/>
                      </a:solidFill>
                      <a:latin typeface="Cambria Math"/>
                    </a:rPr>
                    <m:t xml:space="preserve"> + 0.2</m:t>
                  </m:r>
                  <m:sSup>
                    <m:sSupPr>
                      <m:ctrlPr>
                        <a:rPr lang="en-US" i="1">
                          <a:latin typeface="Cambria Math"/>
                        </a:rPr>
                      </m:ctrlPr>
                    </m:sSupPr>
                    <m:e>
                      <m:r>
                        <a:rPr lang="en-US" b="0" i="1" sz="3000">
                          <a:solidFill>
                            <a:srgbClr val="0B2B4E"/>
                          </a:solidFill>
                          <a:latin typeface="Cambria Math"/>
                          <a:ea typeface="Cambria Math"/>
                        </a:rPr>
                        <m:t>Q</m:t>
                      </m:r>
                    </m:e>
                    <m:sup>
                      <m:r>
                        <m:rPr>
                          <m:sty m:val="p"/>
                        </m:rPr>
                        <a:rPr lang="en-US" b="0" i="0" sz="3000">
                          <a:solidFill>
                            <a:srgbClr val="0B2B4E"/>
                          </a:solidFill>
                          <a:latin typeface="Cambria Math"/>
                        </a:rPr>
                        <m:t xml:space="preserve">2</m:t>
                      </m:r>
                    </m:sup>
                  </m:sSup>
                </m:oMath>
              </m:oMathPara>
            </a14:m>
            <a:endParaRPr lang="en-US" sz="3000"/>
          </a:p>
        </p:txBody>
      </p:sp>
      <p:sp>
        <p:nvSpPr>
          <p:cNvPr id="9" name="TextBox 8"/>
          <p:cNvSpPr txBox="1"/>
          <p:nvPr/>
        </p:nvSpPr>
        <p:spPr>
          <a:xfrm>
            <a:off x="389159" y="3520440"/>
            <a:ext cx="11338560" cy="2011680"/>
          </a:xfrm>
          <a:prstGeom prst="rect">
            <a:avLst/>
          </a:prstGeom>
          <a:noFill/>
        </p:spPr>
        <p:txBody>
          <a:bodyPr wrap="square" lIns="0" rIns="0" tIns="0" bIns="0">
            <a:spAutoFit/>
          </a:bodyPr>
          <a:lstStyle>
            <a:lvl1pPr marL="342900" indent="-342900">
              <a:spcBef>
                <a:spcPts val="20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i="1">
                <a:latin typeface="Calibri"/>
              </a:rPr>
              <a:t>Q</a:t>
            </a:r>
            <a:r>
              <a:rPr>
                <a:latin typeface="Calibri"/>
              </a:rPr>
              <a:t> is the quantity produced, in tons</a:t>
            </a:r>
          </a:p>
          <a:p>
            <a:pPr algn="l"/>
            <a:r>
              <a:rPr>
                <a:latin typeface="Calibri"/>
              </a:rPr>
              <a:t>The market price of cabbage is $400 per ton</a:t>
            </a:r>
          </a:p>
          <a:p>
            <a:pPr algn="l"/>
            <a:r>
              <a:rPr b="1">
                <a:latin typeface="Calibri"/>
              </a:rPr>
              <a:t>How many tons should the Yi family produce to maximize profits?</a:t>
            </a:r>
          </a:p>
        </p:txBody>
      </p:sp>
      <p:sp>
        <p:nvSpPr>
          <p:cNvPr id="10" name="Rounded Rectangle 9"/>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94EC799B-974A-5988-A91E-35B1A66E405C}" type="slidenum">
              <a:rPr lang="en-US" sz="1200" dirty="0">
                <a:solidFill>
                  <a:srgbClr val="555B66"/>
                </a:solidFill>
                <a:latin typeface="Calibri"/>
              </a:rPr>
              <a:t>20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The Optimal Quantity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5394DCA-4CDA-5B1D-BE09-0AD834A5DD78}" type="slidenum">
              <a:rPr lang="en-US" sz="1200" dirty="0">
                <a:solidFill>
                  <a:srgbClr val="555B66"/>
                </a:solidFill>
                <a:latin typeface="Calibri"/>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Profit-Maximizing Quantity: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54480"/>
            <a:ext cx="11338560" cy="77724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We need to set </a:t>
            </a:r>
            <a:r>
              <a:rPr b="1">
                <a:latin typeface="Calibri"/>
              </a:rPr>
              <a:t>MR = MC</a:t>
            </a:r>
            <a:r>
              <a:rPr>
                <a:latin typeface="Calibri"/>
              </a:rPr>
              <a:t>.  MC is the derivative of TC with respect to </a:t>
            </a:r>
            <a:r>
              <a:rPr i="1">
                <a:latin typeface="Calibri"/>
              </a:rPr>
              <a:t>Q</a:t>
            </a:r>
            <a:r>
              <a:rPr>
                <a:latin typeface="Calibri"/>
              </a:rPr>
              <a:t>:</a:t>
            </a:r>
          </a:p>
        </p:txBody>
      </p:sp>
      <p:sp>
        <p:nvSpPr>
          <p:cNvPr id="8" name="TextBox 7"/>
          <p:cNvSpPr txBox="1"/>
          <p:nvPr/>
        </p:nvSpPr>
        <p:spPr>
          <a:xfrm>
            <a:off x="2103120" y="2240280"/>
            <a:ext cx="7955279" cy="77724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MC</m:t>
                  </m:r>
                  <m:r>
                    <m:rPr>
                      <m:sty m:val="p"/>
                    </m:rPr>
                    <a:rPr lang="en-US" b="0" i="0" sz="2800">
                      <a:solidFill>
                        <a:srgbClr val="0B2B4E"/>
                      </a:solidFill>
                      <a:latin typeface="Cambria Math"/>
                    </a:rPr>
                    <m:t xml:space="preserve"> = </m:t>
                  </m:r>
                  <m:f>
                    <m:fPr>
                      <m:ctrlPr>
                        <a:rPr lang="en-US" i="1">
                          <a:latin typeface="Cambria Math"/>
                        </a:rPr>
                      </m:ctrlPr>
                    </m:fPr>
                    <m:num>
                      <m:r>
                        <m:rPr>
                          <m:sty m:val="p"/>
                        </m:rPr>
                        <a:rPr lang="en-US" b="0" i="0" sz="2800">
                          <a:solidFill>
                            <a:srgbClr val="0B2B4E"/>
                          </a:solidFill>
                          <a:latin typeface="Cambria Math"/>
                        </a:rPr>
                        <m:t xml:space="preserve">d</m:t>
                      </m:r>
                      <m:r>
                        <m:rPr>
                          <m:sty m:val="p"/>
                        </m:rPr>
                        <a:rPr lang="en-US" b="0" i="0" sz="2800">
                          <a:solidFill>
                            <a:srgbClr val="0B2B4E"/>
                          </a:solidFill>
                          <a:latin typeface="Cambria Math"/>
                        </a:rPr>
                        <m:t xml:space="preserve">TC</m:t>
                      </m:r>
                    </m:num>
                    <m:den>
                      <m:r>
                        <m:rPr>
                          <m:sty m:val="p"/>
                        </m:rPr>
                        <a:rPr lang="en-US" b="0" i="0" sz="2800">
                          <a:solidFill>
                            <a:srgbClr val="0B2B4E"/>
                          </a:solidFill>
                          <a:latin typeface="Cambria Math"/>
                        </a:rPr>
                        <m:t xml:space="preserve">d</m:t>
                      </m:r>
                      <m:r>
                        <a:rPr lang="en-US" b="0" i="1" sz="2800">
                          <a:solidFill>
                            <a:srgbClr val="0B2B4E"/>
                          </a:solidFill>
                          <a:latin typeface="Cambria Math"/>
                          <a:ea typeface="Cambria Math"/>
                        </a:rPr>
                        <m:t>Q</m:t>
                      </m:r>
                    </m:den>
                  </m:f>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135 + 0.4</m:t>
                  </m:r>
                  <m:r>
                    <a:rPr lang="en-US" b="0" i="1" sz="2800">
                      <a:solidFill>
                        <a:srgbClr val="0B2B4E"/>
                      </a:solidFill>
                      <a:latin typeface="Cambria Math"/>
                      <a:ea typeface="Cambria Math"/>
                    </a:rPr>
                    <m:t>Q</m:t>
                  </m:r>
                </m:oMath>
              </m:oMathPara>
            </a14:m>
            <a:endParaRPr lang="en-US" sz="2800"/>
          </a:p>
        </p:txBody>
      </p:sp>
      <p:sp>
        <p:nvSpPr>
          <p:cNvPr id="9" name="TextBox 8"/>
          <p:cNvSpPr txBox="1"/>
          <p:nvPr/>
        </p:nvSpPr>
        <p:spPr>
          <a:xfrm>
            <a:off x="389159" y="3246120"/>
            <a:ext cx="11338560" cy="77724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The cabbage market is competitive, so MR is just the market price:</a:t>
            </a:r>
          </a:p>
        </p:txBody>
      </p:sp>
      <p:sp>
        <p:nvSpPr>
          <p:cNvPr id="10" name="TextBox 9"/>
          <p:cNvSpPr txBox="1"/>
          <p:nvPr/>
        </p:nvSpPr>
        <p:spPr>
          <a:xfrm>
            <a:off x="2103120" y="3794760"/>
            <a:ext cx="7955279" cy="64008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MR</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400</m:t>
                  </m:r>
                </m:oMath>
              </m:oMathPara>
            </a14:m>
            <a:endParaRPr lang="en-US" sz="2800"/>
          </a:p>
        </p:txBody>
      </p:sp>
      <p:sp>
        <p:nvSpPr>
          <p:cNvPr id="11" name="TextBox 10"/>
          <p:cNvSpPr txBox="1"/>
          <p:nvPr/>
        </p:nvSpPr>
        <p:spPr>
          <a:xfrm>
            <a:off x="2103120" y="4663440"/>
            <a:ext cx="7955279" cy="64008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135 + 0.4</m:t>
                  </m:r>
                  <m:r>
                    <a:rPr lang="en-US" b="0" i="1" sz="2800">
                      <a:solidFill>
                        <a:srgbClr val="0B2B4E"/>
                      </a:solidFill>
                      <a:latin typeface="Cambria Math"/>
                      <a:ea typeface="Cambria Math"/>
                    </a:rPr>
                    <m:t>Q</m:t>
                  </m:r>
                  <m:r>
                    <m:rPr>
                      <m:sty m:val="p"/>
                    </m:rPr>
                    <a:rPr lang="en-US" b="0" i="0" sz="2800">
                      <a:solidFill>
                        <a:srgbClr val="0B2B4E"/>
                      </a:solidFill>
                      <a:latin typeface="Cambria Math"/>
                    </a:rPr>
                    <m:t xml:space="preserve"> = 400</m:t>
                  </m:r>
                </m:oMath>
              </m:oMathPara>
            </a14:m>
            <a:endParaRPr lang="en-US" sz="2800"/>
          </a:p>
        </p:txBody>
      </p:sp>
      <p:sp>
        <p:nvSpPr>
          <p:cNvPr id="12" name="TextBox 11"/>
          <p:cNvSpPr txBox="1"/>
          <p:nvPr/>
        </p:nvSpPr>
        <p:spPr>
          <a:xfrm>
            <a:off x="2103120" y="5349240"/>
            <a:ext cx="7955279" cy="731520"/>
          </a:xfrm>
          <a:prstGeom prst="rect">
            <a:avLst/>
          </a:prstGeom>
          <a:noFill/>
        </p:spPr>
        <p:txBody>
          <a:bodyPr wrap="square" anchor="ctr">
            <a:spAutoFit/>
          </a:bodyPr>
          <a:lstStyle/>
          <a:p xmlns:m="http://schemas.openxmlformats.org/officeDocument/2006/math" xmlns:a14="http://schemas.microsoft.com/office/drawing/2010/main">
            <a:pPr algn="ctr">
              <a:defRPr sz="3200" b="0" i="1">
                <a:solidFill>
                  <a:srgbClr val="A2162A"/>
                </a:solidFill>
                <a:latin typeface="Cambria Math"/>
              </a:defRPr>
            </a:pPr>
            <a14:m>
              <m:oMathPara>
                <m:oMathParaPr>
                  <m:jc m:val="centerGroup"/>
                </m:oMathParaPr>
                <m:oMath>
                  <m:sSup>
                    <m:sSupPr>
                      <m:ctrlPr>
                        <a:rPr lang="en-US" i="1">
                          <a:latin typeface="Cambria Math"/>
                        </a:rPr>
                      </m:ctrlPr>
                    </m:sSupPr>
                    <m:e>
                      <m:r>
                        <a:rPr lang="en-US" b="0" i="1" sz="3200">
                          <a:solidFill>
                            <a:srgbClr val="A2162A"/>
                          </a:solidFill>
                          <a:latin typeface="Cambria Math"/>
                          <a:ea typeface="Cambria Math"/>
                        </a:rPr>
                        <m:t>Q</m:t>
                      </m:r>
                    </m:e>
                    <m:sup>
                      <m:r>
                        <m:rPr>
                          <m:sty m:val="p"/>
                        </m:rPr>
                        <a:rPr lang="en-US" b="0" i="0" sz="3200">
                          <a:solidFill>
                            <a:srgbClr val="A2162A"/>
                          </a:solidFill>
                          <a:latin typeface="Cambria Math"/>
                        </a:rPr>
                        <m:t xml:space="preserve">*</m:t>
                      </m:r>
                    </m:sup>
                  </m:sSup>
                  <m:r>
                    <m:rPr>
                      <m:sty m:val="p"/>
                    </m:rPr>
                    <a:rPr lang="en-US" b="0" i="0" sz="3200">
                      <a:solidFill>
                        <a:srgbClr val="A2162A"/>
                      </a:solidFill>
                      <a:latin typeface="Cambria Math"/>
                    </a:rPr>
                    <m:t xml:space="preserve"> = 662.5 tons</m:t>
                  </m:r>
                </m:oMath>
              </m:oMathPara>
            </a14:m>
            <a:endParaRPr lang="en-US" sz="3200"/>
          </a:p>
        </p:txBody>
      </p:sp>
      <p:sp>
        <p:nvSpPr>
          <p:cNvPr id="13" name="Rounded Rectangle 12"/>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6603627C-E725-5B69-BFB3-C73EC154E645}" type="slidenum">
              <a:rPr lang="en-US" sz="1200" dirty="0">
                <a:solidFill>
                  <a:srgbClr val="555B66"/>
                </a:solidFill>
                <a:latin typeface="Calibri"/>
              </a:rPr>
              <a:t>22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Ways to Write Profit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234440" y="1755648"/>
            <a:ext cx="566928" cy="566928"/>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500" b="1">
                <a:solidFill>
                  <a:srgbClr val="0B2B4E"/>
                </a:solidFill>
                <a:latin typeface="Calibri"/>
              </a:rPr>
              <a:t>1</a:t>
            </a:r>
          </a:p>
        </p:txBody>
      </p:sp>
      <p:sp>
        <p:nvSpPr>
          <p:cNvPr id="8" name="TextBox 7"/>
          <p:cNvSpPr txBox="1"/>
          <p:nvPr/>
        </p:nvSpPr>
        <p:spPr>
          <a:xfrm>
            <a:off x="2240280" y="1691640"/>
            <a:ext cx="7680960" cy="731520"/>
          </a:xfrm>
          <a:prstGeom prst="rect">
            <a:avLst/>
          </a:prstGeom>
          <a:noFill/>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Profit</m:t>
                  </m:r>
                  <m:r>
                    <m:rPr>
                      <m:sty m:val="p"/>
                    </m:rPr>
                    <a:rPr lang="en-US" b="0" i="0" sz="3000">
                      <a:solidFill>
                        <a:srgbClr val="0B2B4E"/>
                      </a:solidFill>
                      <a:latin typeface="Cambria Math"/>
                    </a:rPr>
                    <m:t xml:space="preserve"> = </m:t>
                  </m:r>
                  <m:r>
                    <m:rPr>
                      <m:sty m:val="p"/>
                    </m:rPr>
                    <a:rPr lang="en-US" b="0" i="0" sz="3000">
                      <a:solidFill>
                        <a:srgbClr val="0B2B4E"/>
                      </a:solidFill>
                      <a:latin typeface="Cambria Math"/>
                    </a:rPr>
                    <m:t xml:space="preserve">TR</m:t>
                  </m:r>
                  <m:r>
                    <m:rPr>
                      <m:sty m:val="p"/>
                    </m:rPr>
                    <a:rPr lang="en-US" b="0" i="0" sz="3000">
                      <a:solidFill>
                        <a:srgbClr val="0B2B4E"/>
                      </a:solidFill>
                      <a:latin typeface="Cambria Math"/>
                    </a:rPr>
                    <m:t xml:space="preserve"> − </m:t>
                  </m:r>
                  <m:r>
                    <m:rPr>
                      <m:sty m:val="p"/>
                    </m:rPr>
                    <a:rPr lang="en-US" b="0" i="0" sz="3000">
                      <a:solidFill>
                        <a:srgbClr val="0B2B4E"/>
                      </a:solidFill>
                      <a:latin typeface="Cambria Math"/>
                    </a:rPr>
                    <m:t xml:space="preserve">TC</m:t>
                  </m:r>
                </m:oMath>
              </m:oMathPara>
            </a14:m>
            <a:endParaRPr lang="en-US" sz="3000"/>
          </a:p>
        </p:txBody>
      </p:sp>
      <p:sp>
        <p:nvSpPr>
          <p:cNvPr id="9" name="TextBox 8"/>
          <p:cNvSpPr txBox="1"/>
          <p:nvPr/>
        </p:nvSpPr>
        <p:spPr>
          <a:xfrm>
            <a:off x="2240280" y="2532888"/>
            <a:ext cx="7680960" cy="731520"/>
          </a:xfrm>
          <a:prstGeom prst="rect">
            <a:avLst/>
          </a:prstGeom>
          <a:noFill/>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 (</m:t>
                  </m:r>
                  <m:r>
                    <a:rPr lang="en-US" b="0" i="1" sz="3000">
                      <a:solidFill>
                        <a:srgbClr val="0B2B4E"/>
                      </a:solidFill>
                      <a:latin typeface="Cambria Math"/>
                      <a:ea typeface="Cambria Math"/>
                    </a:rPr>
                    <m:t>P</m:t>
                  </m:r>
                  <m:r>
                    <m:rPr>
                      <m:sty m:val="p"/>
                    </m:rPr>
                    <a:rPr lang="en-US" b="0" i="0" sz="3000">
                      <a:solidFill>
                        <a:srgbClr val="0B2B4E"/>
                      </a:solidFill>
                      <a:latin typeface="Cambria Math"/>
                    </a:rPr>
                    <m:t xml:space="preserve"> · </m:t>
                  </m:r>
                  <m:r>
                    <a:rPr lang="en-US" b="0" i="1" sz="3000">
                      <a:solidFill>
                        <a:srgbClr val="0B2B4E"/>
                      </a:solidFill>
                      <a:latin typeface="Cambria Math"/>
                      <a:ea typeface="Cambria Math"/>
                    </a:rPr>
                    <m:t>Q</m:t>
                  </m:r>
                  <m:r>
                    <m:rPr>
                      <m:sty m:val="p"/>
                    </m:rPr>
                    <a:rPr lang="en-US" b="0" i="0" sz="3000">
                      <a:solidFill>
                        <a:srgbClr val="0B2B4E"/>
                      </a:solidFill>
                      <a:latin typeface="Cambria Math"/>
                    </a:rPr>
                    <m:t xml:space="preserve">) − (</m:t>
                  </m:r>
                  <m:r>
                    <m:rPr>
                      <m:sty m:val="p"/>
                    </m:rPr>
                    <a:rPr lang="en-US" b="0" i="0" sz="3000">
                      <a:solidFill>
                        <a:srgbClr val="0B2B4E"/>
                      </a:solidFill>
                      <a:latin typeface="Cambria Math"/>
                    </a:rPr>
                    <m:t xml:space="preserve">ATC</m:t>
                  </m:r>
                  <m:r>
                    <m:rPr>
                      <m:sty m:val="p"/>
                    </m:rPr>
                    <a:rPr lang="en-US" b="0" i="0" sz="3000">
                      <a:solidFill>
                        <a:srgbClr val="0B2B4E"/>
                      </a:solidFill>
                      <a:latin typeface="Cambria Math"/>
                    </a:rPr>
                    <m:t xml:space="preserve"> · </m:t>
                  </m:r>
                  <m:r>
                    <a:rPr lang="en-US" b="0" i="1" sz="3000">
                      <a:solidFill>
                        <a:srgbClr val="0B2B4E"/>
                      </a:solidFill>
                      <a:latin typeface="Cambria Math"/>
                      <a:ea typeface="Cambria Math"/>
                    </a:rPr>
                    <m:t>Q</m:t>
                  </m:r>
                  <m:r>
                    <m:rPr>
                      <m:sty m:val="p"/>
                    </m:rPr>
                    <a:rPr lang="en-US" b="0" i="0" sz="3000">
                      <a:solidFill>
                        <a:srgbClr val="0B2B4E"/>
                      </a:solidFill>
                      <a:latin typeface="Cambria Math"/>
                    </a:rPr>
                    <m:t xml:space="preserve">)</m:t>
                  </m:r>
                </m:oMath>
              </m:oMathPara>
            </a14:m>
            <a:endParaRPr lang="en-US" sz="3000"/>
          </a:p>
        </p:txBody>
      </p:sp>
      <p:sp>
        <p:nvSpPr>
          <p:cNvPr id="10" name="TextBox 9"/>
          <p:cNvSpPr txBox="1"/>
          <p:nvPr/>
        </p:nvSpPr>
        <p:spPr>
          <a:xfrm>
            <a:off x="2240280" y="3374136"/>
            <a:ext cx="7680960" cy="731520"/>
          </a:xfrm>
          <a:prstGeom prst="rect">
            <a:avLst/>
          </a:prstGeom>
          <a:noFill/>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 (</m:t>
                  </m:r>
                  <m:r>
                    <a:rPr lang="en-US" b="0" i="1" sz="3000">
                      <a:solidFill>
                        <a:srgbClr val="0B2B4E"/>
                      </a:solidFill>
                      <a:latin typeface="Cambria Math"/>
                      <a:ea typeface="Cambria Math"/>
                    </a:rPr>
                    <m:t>P</m:t>
                  </m:r>
                  <m:r>
                    <m:rPr>
                      <m:sty m:val="p"/>
                    </m:rPr>
                    <a:rPr lang="en-US" b="0" i="0" sz="3000">
                      <a:solidFill>
                        <a:srgbClr val="0B2B4E"/>
                      </a:solidFill>
                      <a:latin typeface="Cambria Math"/>
                    </a:rPr>
                    <m:t xml:space="preserve"> − </m:t>
                  </m:r>
                  <m:r>
                    <m:rPr>
                      <m:sty m:val="p"/>
                    </m:rPr>
                    <a:rPr lang="en-US" b="0" i="0" sz="3000">
                      <a:solidFill>
                        <a:srgbClr val="0B2B4E"/>
                      </a:solidFill>
                      <a:latin typeface="Cambria Math"/>
                    </a:rPr>
                    <m:t xml:space="preserve">ATC</m:t>
                  </m:r>
                  <m:r>
                    <m:rPr>
                      <m:sty m:val="p"/>
                    </m:rPr>
                    <a:rPr lang="en-US" b="0" i="0" sz="3000">
                      <a:solidFill>
                        <a:srgbClr val="0B2B4E"/>
                      </a:solidFill>
                      <a:latin typeface="Cambria Math"/>
                    </a:rPr>
                    <m:t xml:space="preserve">) · </m:t>
                  </m:r>
                  <m:r>
                    <a:rPr lang="en-US" b="0" i="1" sz="3000">
                      <a:solidFill>
                        <a:srgbClr val="0B2B4E"/>
                      </a:solidFill>
                      <a:latin typeface="Cambria Math"/>
                      <a:ea typeface="Cambria Math"/>
                    </a:rPr>
                    <m:t>Q</m:t>
                  </m:r>
                </m:oMath>
              </m:oMathPara>
            </a14:m>
            <a:endParaRPr lang="en-US" sz="3000"/>
          </a:p>
        </p:txBody>
      </p:sp>
      <p:sp>
        <p:nvSpPr>
          <p:cNvPr id="11" name="TextBox 10"/>
          <p:cNvSpPr txBox="1"/>
          <p:nvPr/>
        </p:nvSpPr>
        <p:spPr>
          <a:xfrm>
            <a:off x="2240280" y="4315968"/>
            <a:ext cx="7680960" cy="91440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555B66"/>
                </a:solidFill>
                <a:latin typeface="Cambria Math"/>
              </a:defRPr>
            </a:pPr>
            <a14:m>
              <m:oMathPara>
                <m:oMathParaPr>
                  <m:jc m:val="centerGroup"/>
                </m:oMathParaPr>
                <m:oMath>
                  <m:r>
                    <m:rPr>
                      <m:sty m:val="p"/>
                    </m:rPr>
                    <a:rPr lang="en-US" b="0" i="0" sz="2400">
                      <a:solidFill>
                        <a:srgbClr val="555B66"/>
                      </a:solidFill>
                      <a:latin typeface="Cambria Math"/>
                    </a:rPr>
                    <m:t xml:space="preserve">where  </m:t>
                  </m:r>
                  <m:r>
                    <m:rPr>
                      <m:sty m:val="p"/>
                    </m:rPr>
                    <a:rPr lang="en-US" b="0" i="0" sz="2400">
                      <a:solidFill>
                        <a:srgbClr val="555B66"/>
                      </a:solidFill>
                      <a:latin typeface="Cambria Math"/>
                    </a:rPr>
                    <m:t xml:space="preserve">ATC</m:t>
                  </m:r>
                  <m:r>
                    <m:rPr>
                      <m:sty m:val="p"/>
                    </m:rPr>
                    <a:rPr lang="en-US" b="0" i="0" sz="2400">
                      <a:solidFill>
                        <a:srgbClr val="555B66"/>
                      </a:solidFill>
                      <a:latin typeface="Cambria Math"/>
                    </a:rPr>
                    <m:t xml:space="preserve"> = </m:t>
                  </m:r>
                  <m:f>
                    <m:fPr>
                      <m:ctrlPr>
                        <a:rPr lang="en-US" i="1">
                          <a:latin typeface="Cambria Math"/>
                        </a:rPr>
                      </m:ctrlPr>
                    </m:fPr>
                    <m:num>
                      <m:r>
                        <m:rPr>
                          <m:sty m:val="p"/>
                        </m:rPr>
                        <a:rPr lang="en-US" b="0" i="0" sz="2400">
                          <a:solidFill>
                            <a:srgbClr val="555B66"/>
                          </a:solidFill>
                          <a:latin typeface="Cambria Math"/>
                        </a:rPr>
                        <m:t xml:space="preserve">TC</m:t>
                      </m:r>
                    </m:num>
                    <m:den>
                      <m:r>
                        <a:rPr lang="en-US" b="0" i="1" sz="2400">
                          <a:solidFill>
                            <a:srgbClr val="555B66"/>
                          </a:solidFill>
                          <a:latin typeface="Cambria Math"/>
                          <a:ea typeface="Cambria Math"/>
                        </a:rPr>
                        <m:t>Q</m:t>
                      </m:r>
                    </m:den>
                  </m:f>
                  <m:r>
                    <m:rPr>
                      <m:sty m:val="p"/>
                    </m:rPr>
                    <a:rPr lang="en-US" b="0" i="0" sz="2400">
                      <a:solidFill>
                        <a:srgbClr val="555B66"/>
                      </a:solidFill>
                      <a:latin typeface="Cambria Math"/>
                    </a:rPr>
                    <m:t xml:space="preserve">   (average total cost per ton)</m:t>
                  </m:r>
                </m:oMath>
              </m:oMathPara>
            </a14:m>
            <a:endParaRPr lang="en-US" sz="2400"/>
          </a:p>
        </p:txBody>
      </p:sp>
      <p:sp>
        <p:nvSpPr>
          <p:cNvPr id="12" name="TextBox 11"/>
          <p:cNvSpPr txBox="1"/>
          <p:nvPr/>
        </p:nvSpPr>
        <p:spPr>
          <a:xfrm>
            <a:off x="2240280" y="5394960"/>
            <a:ext cx="7680960" cy="7772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Profit is positive if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ATC</m:t>
                  </m:r>
                </m:oMath>
              </m:oMathPara>
            </a14:m>
            <a:endParaRPr lang="en-US" sz="2800"/>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15A1638E-6AF0-5CE8-ADCD-D4408AB556F4}" type="slidenum">
              <a:rPr lang="en-US" sz="1200" dirty="0">
                <a:solidFill>
                  <a:srgbClr val="555B66"/>
                </a:solidFill>
                <a:latin typeface="Calibri"/>
              </a:rPr>
              <a:t>23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Profit at Q*: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36192"/>
            <a:ext cx="1133856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What is the economic profit at the profit-maximizing output level (</a:t>
            </a:r>
            <a:r>
              <a:rPr b="1">
                <a:latin typeface="Calibri"/>
              </a:rPr>
              <a:t>Q* = 662.5</a:t>
            </a:r>
            <a:r>
              <a:rPr>
                <a:latin typeface="Calibri"/>
              </a:rPr>
              <a:t>) ?</a:t>
            </a:r>
          </a:p>
        </p:txBody>
      </p:sp>
      <p:sp>
        <p:nvSpPr>
          <p:cNvPr id="8" name="TextBox 7"/>
          <p:cNvSpPr txBox="1"/>
          <p:nvPr/>
        </p:nvSpPr>
        <p:spPr>
          <a:xfrm>
            <a:off x="1554480" y="2331720"/>
            <a:ext cx="9144000" cy="73152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Profit</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TR</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TC</m:t>
                  </m:r>
                </m:oMath>
              </m:oMathPara>
            </a14:m>
            <a:endParaRPr lang="en-US" sz="2800"/>
          </a:p>
        </p:txBody>
      </p:sp>
      <p:sp>
        <p:nvSpPr>
          <p:cNvPr id="9" name="TextBox 8"/>
          <p:cNvSpPr txBox="1"/>
          <p:nvPr/>
        </p:nvSpPr>
        <p:spPr>
          <a:xfrm>
            <a:off x="1554480" y="3136392"/>
            <a:ext cx="9144000"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TR</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400 · 662.5 = 265,000</m:t>
                  </m:r>
                </m:oMath>
              </m:oMathPara>
            </a14:m>
            <a:endParaRPr lang="en-US" sz="2600"/>
          </a:p>
        </p:txBody>
      </p:sp>
      <p:sp>
        <p:nvSpPr>
          <p:cNvPr id="10" name="TextBox 9"/>
          <p:cNvSpPr txBox="1"/>
          <p:nvPr/>
        </p:nvSpPr>
        <p:spPr>
          <a:xfrm>
            <a:off x="1554480" y="3941064"/>
            <a:ext cx="9144000" cy="7315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m:rPr>
                      <m:sty m:val="p"/>
                    </m:rPr>
                    <a:rPr lang="en-US" b="0" i="0" sz="2400">
                      <a:solidFill>
                        <a:srgbClr val="0B2B4E"/>
                      </a:solidFill>
                      <a:latin typeface="Cambria Math"/>
                    </a:rPr>
                    <m:t xml:space="preserve">TC</m:t>
                  </m:r>
                  <m:r>
                    <m:rPr>
                      <m:sty m:val="p"/>
                    </m:rPr>
                    <a:rPr lang="en-US" b="0" i="0" sz="2400">
                      <a:solidFill>
                        <a:srgbClr val="0B2B4E"/>
                      </a:solidFill>
                      <a:latin typeface="Cambria Math"/>
                    </a:rPr>
                    <m:t xml:space="preserve"> = 60,000 + 135 · 662.5 + 0.2 · </m:t>
                  </m:r>
                  <m:sSup>
                    <m:sSupPr>
                      <m:ctrlPr>
                        <a:rPr lang="en-US" i="1">
                          <a:latin typeface="Cambria Math"/>
                        </a:rPr>
                      </m:ctrlPr>
                    </m:sSupPr>
                    <m:e>
                      <m:r>
                        <m:rPr>
                          <m:sty m:val="p"/>
                        </m:rPr>
                        <a:rPr lang="en-US" b="0" i="0" sz="2400">
                          <a:solidFill>
                            <a:srgbClr val="0B2B4E"/>
                          </a:solidFill>
                          <a:latin typeface="Cambria Math"/>
                        </a:rPr>
                        <m:t xml:space="preserve">662.5</m:t>
                      </m:r>
                    </m:e>
                    <m:sup>
                      <m:r>
                        <m:rPr>
                          <m:sty m:val="p"/>
                        </m:rPr>
                        <a:rPr lang="en-US" b="0" i="0" sz="2400">
                          <a:solidFill>
                            <a:srgbClr val="0B2B4E"/>
                          </a:solidFill>
                          <a:latin typeface="Cambria Math"/>
                        </a:rPr>
                        <m:t xml:space="preserve">2</m:t>
                      </m:r>
                    </m:sup>
                  </m:sSup>
                  <m:r>
                    <m:rPr>
                      <m:sty m:val="p"/>
                    </m:rPr>
                    <a:rPr lang="en-US" b="0" i="0" sz="2400">
                      <a:solidFill>
                        <a:srgbClr val="0B2B4E"/>
                      </a:solidFill>
                      <a:latin typeface="Cambria Math"/>
                    </a:rPr>
                    <m:t xml:space="preserve"> = 237,218.75</m:t>
                  </m:r>
                </m:oMath>
              </m:oMathPara>
            </a14:m>
            <a:endParaRPr lang="en-US" sz="2400"/>
          </a:p>
        </p:txBody>
      </p:sp>
      <p:sp>
        <p:nvSpPr>
          <p:cNvPr id="11" name="TextBox 10"/>
          <p:cNvSpPr txBox="1"/>
          <p:nvPr/>
        </p:nvSpPr>
        <p:spPr>
          <a:xfrm>
            <a:off x="1554480" y="4745736"/>
            <a:ext cx="9144000" cy="731520"/>
          </a:xfrm>
          <a:prstGeom prst="rect">
            <a:avLst/>
          </a:prstGeom>
          <a:noFill/>
        </p:spPr>
        <p:txBody>
          <a:bodyPr wrap="square" anchor="ctr">
            <a:spAutoFit/>
          </a:bodyPr>
          <a:lstStyle/>
          <a:p xmlns:m="http://schemas.openxmlformats.org/officeDocument/2006/math" xmlns:a14="http://schemas.microsoft.com/office/drawing/2010/main">
            <a:pPr algn="ctr">
              <a:defRPr sz="3000" b="0" i="1">
                <a:solidFill>
                  <a:srgbClr val="A2162A"/>
                </a:solidFill>
                <a:latin typeface="Cambria Math"/>
              </a:defRPr>
            </a:pPr>
            <a14:m>
              <m:oMathPara>
                <m:oMathParaPr>
                  <m:jc m:val="centerGroup"/>
                </m:oMathParaPr>
                <m:oMath>
                  <m:r>
                    <m:rPr>
                      <m:sty m:val="p"/>
                    </m:rPr>
                    <a:rPr lang="en-US" b="0" i="0" sz="3000">
                      <a:solidFill>
                        <a:srgbClr val="A2162A"/>
                      </a:solidFill>
                      <a:latin typeface="Cambria Math"/>
                    </a:rPr>
                    <m:t xml:space="preserve">Profit</m:t>
                  </m:r>
                  <m:r>
                    <m:rPr>
                      <m:sty m:val="p"/>
                    </m:rPr>
                    <a:rPr lang="en-US" b="0" i="0" sz="3000">
                      <a:solidFill>
                        <a:srgbClr val="A2162A"/>
                      </a:solidFill>
                      <a:latin typeface="Cambria Math"/>
                    </a:rPr>
                    <m:t xml:space="preserve"> = 265,000 − 237,218.75 = 27,781.25</m:t>
                  </m:r>
                </m:oMath>
              </m:oMathPara>
            </a14:m>
            <a:endParaRPr lang="en-US" sz="3000"/>
          </a:p>
        </p:txBody>
      </p:sp>
      <p:sp>
        <p:nvSpPr>
          <p:cNvPr id="12" name="Rounded Rectangle 11"/>
          <p:cNvSpPr/>
          <p:nvPr/>
        </p:nvSpPr>
        <p:spPr>
          <a:xfrm>
            <a:off x="685800" y="5687568"/>
            <a:ext cx="786384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The Yi family makes a positive economic profit at Q*</a:t>
            </a:r>
          </a:p>
        </p:txBody>
      </p:sp>
      <p:sp>
        <p:nvSpPr>
          <p:cNvPr id="13" name="Rounded Rectangle 12"/>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5A2F87EC-4A6B-531B-8453-F11102C9B084}" type="slidenum">
              <a:rPr lang="en-US" sz="1200" dirty="0">
                <a:solidFill>
                  <a:srgbClr val="555B66"/>
                </a:solidFill>
                <a:latin typeface="Calibri"/>
              </a:rPr>
              <a:t>24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Illustrating Positive Profits of the Yi Family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63040" y="1801368"/>
            <a:ext cx="0" cy="36850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5486400"/>
            <a:ext cx="747979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1399031"/>
            <a:ext cx="1828800" cy="292608"/>
          </a:xfrm>
          <a:prstGeom prst="rect">
            <a:avLst/>
          </a:prstGeom>
          <a:noFill/>
        </p:spPr>
        <p:txBody>
          <a:bodyPr wrap="square" lIns="0" rIns="0" tIns="0" bIns="0">
            <a:spAutoFit/>
          </a:bodyPr>
          <a:lstStyle/>
          <a:p>
            <a:pPr algn="l"/>
            <a:r>
              <a:rPr sz="1700" b="1" i="1" u="none">
                <a:solidFill>
                  <a:srgbClr val="0B2B4E"/>
                </a:solidFill>
                <a:latin typeface="Calibri"/>
              </a:rPr>
              <a:t>Price and cost ($/ton)</a:t>
            </a:r>
          </a:p>
        </p:txBody>
      </p:sp>
      <p:sp>
        <p:nvSpPr>
          <p:cNvPr id="10" name="TextBox 9"/>
          <p:cNvSpPr txBox="1"/>
          <p:nvPr/>
        </p:nvSpPr>
        <p:spPr>
          <a:xfrm>
            <a:off x="8412480" y="5577840"/>
            <a:ext cx="1645920" cy="292608"/>
          </a:xfrm>
          <a:prstGeom prst="rect">
            <a:avLst/>
          </a:prstGeom>
          <a:noFill/>
        </p:spPr>
        <p:txBody>
          <a:bodyPr wrap="square" lIns="0" rIns="0" tIns="0" bIns="0">
            <a:spAutoFit/>
          </a:bodyPr>
          <a:lstStyle/>
          <a:p>
            <a:pPr algn="l"/>
            <a:r>
              <a:rPr sz="1700" b="1" i="1" u="none">
                <a:solidFill>
                  <a:srgbClr val="0B2B4E"/>
                </a:solidFill>
                <a:latin typeface="Calibri"/>
              </a:rPr>
              <a:t>Quantity (tons)</a:t>
            </a:r>
          </a:p>
        </p:txBody>
      </p:sp>
      <p:sp>
        <p:nvSpPr>
          <p:cNvPr id="11" name="Rectangle 10"/>
          <p:cNvSpPr/>
          <p:nvPr/>
        </p:nvSpPr>
        <p:spPr>
          <a:xfrm>
            <a:off x="1463040" y="2670048"/>
            <a:ext cx="5101389" cy="295251"/>
          </a:xfrm>
          <a:prstGeom prst="rect">
            <a:avLst/>
          </a:pr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1463040" y="2282799"/>
            <a:ext cx="6160168" cy="2253082"/>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53803" y="1883023"/>
            <a:ext cx="822960" cy="292608"/>
          </a:xfrm>
          <a:prstGeom prst="rect">
            <a:avLst/>
          </a:prstGeom>
          <a:noFill/>
        </p:spPr>
        <p:txBody>
          <a:bodyPr wrap="square" lIns="0" rIns="0" tIns="0" bIns="0">
            <a:spAutoFit/>
          </a:bodyPr>
          <a:lstStyle/>
          <a:p>
            <a:pPr algn="l"/>
            <a:r>
              <a:rPr sz="1900" b="1" i="1" u="none">
                <a:solidFill>
                  <a:srgbClr val="0B2B4E"/>
                </a:solidFill>
                <a:latin typeface="Calibri"/>
              </a:rPr>
              <a:t>MC</a:t>
            </a:r>
          </a:p>
        </p:txBody>
      </p:sp>
      <p:sp>
        <p:nvSpPr>
          <p:cNvPr id="14" name="Rectangle 13"/>
          <p:cNvSpPr/>
          <p:nvPr/>
        </p:nvSpPr>
        <p:spPr>
          <a:xfrm>
            <a:off x="3080084" y="2228484"/>
            <a:ext cx="4543124" cy="766581"/>
          </a:xfrm>
          <a:custGeom>
            <a:avLst/>
            <a:gdLst/>
            <a:ahLst/>
            <a:cxnLst/>
            <a:rect l="0" t="0" r="r" b="b"/>
            <a:pathLst>
              <a:path w="4543124" h="766581">
                <a:moveTo>
                  <a:pt x="0" y="0"/>
                </a:moveTo>
                <a:cubicBezTo>
                  <a:pt x="151437" y="92924"/>
                  <a:pt x="605750" y="435524"/>
                  <a:pt x="908625" y="557549"/>
                </a:cubicBezTo>
                <a:cubicBezTo>
                  <a:pt x="1211499" y="679573"/>
                  <a:pt x="1514374" y="697712"/>
                  <a:pt x="1817249" y="732147"/>
                </a:cubicBezTo>
                <a:cubicBezTo>
                  <a:pt x="2120123" y="766581"/>
                  <a:pt x="2422999" y="764915"/>
                  <a:pt x="2725874" y="764156"/>
                </a:cubicBezTo>
                <a:cubicBezTo>
                  <a:pt x="3028749" y="763396"/>
                  <a:pt x="3331624" y="746149"/>
                  <a:pt x="3634499" y="727588"/>
                </a:cubicBezTo>
                <a:cubicBezTo>
                  <a:pt x="3937374" y="709027"/>
                  <a:pt x="4391686" y="665256"/>
                  <a:pt x="4543124" y="652790"/>
                </a:cubicBezTo>
              </a:path>
            </a:pathLst>
          </a:custGeom>
          <a:noFill/>
          <a:ln w="4127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3803" y="3044769"/>
            <a:ext cx="822960" cy="292608"/>
          </a:xfrm>
          <a:prstGeom prst="rect">
            <a:avLst/>
          </a:prstGeom>
          <a:noFill/>
        </p:spPr>
        <p:txBody>
          <a:bodyPr wrap="square" lIns="0" rIns="0" tIns="0" bIns="0">
            <a:spAutoFit/>
          </a:bodyPr>
          <a:lstStyle/>
          <a:p>
            <a:pPr algn="l"/>
            <a:r>
              <a:rPr sz="1900" b="1" i="1" u="none">
                <a:solidFill>
                  <a:srgbClr val="E09F3E"/>
                </a:solidFill>
                <a:latin typeface="Calibri"/>
              </a:rPr>
              <a:t>ATC</a:t>
            </a:r>
          </a:p>
        </p:txBody>
      </p:sp>
      <p:sp>
        <p:nvSpPr>
          <p:cNvPr id="16" name="TextBox 15"/>
          <p:cNvSpPr txBox="1"/>
          <p:nvPr/>
        </p:nvSpPr>
        <p:spPr>
          <a:xfrm>
            <a:off x="2103120" y="2697480"/>
            <a:ext cx="2194560" cy="292608"/>
          </a:xfrm>
          <a:prstGeom prst="rect">
            <a:avLst/>
          </a:prstGeom>
          <a:noFill/>
        </p:spPr>
        <p:txBody>
          <a:bodyPr wrap="square" lIns="0" rIns="0" tIns="0" bIns="0">
            <a:spAutoFit/>
          </a:bodyPr>
          <a:lstStyle/>
          <a:p>
            <a:pPr algn="ctr"/>
            <a:r>
              <a:rPr sz="1600" b="1" i="0" u="none">
                <a:solidFill>
                  <a:srgbClr val="0B2B4E"/>
                </a:solidFill>
                <a:latin typeface="Calibri"/>
              </a:rPr>
              <a:t>Profit</a:t>
            </a:r>
          </a:p>
        </p:txBody>
      </p:sp>
      <p:cxnSp>
        <p:nvCxnSpPr>
          <p:cNvPr id="17" name="Connector 16"/>
          <p:cNvCxnSpPr/>
          <p:nvPr/>
        </p:nvCxnSpPr>
        <p:spPr>
          <a:xfrm>
            <a:off x="1463040" y="2670048"/>
            <a:ext cx="6622181"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06164" y="2228027"/>
            <a:ext cx="822960" cy="292608"/>
          </a:xfrm>
          <a:prstGeom prst="rect">
            <a:avLst/>
          </a:prstGeom>
          <a:noFill/>
        </p:spPr>
        <p:txBody>
          <a:bodyPr wrap="square" lIns="0" rIns="0" tIns="0" bIns="0">
            <a:spAutoFit/>
          </a:bodyPr>
          <a:lstStyle/>
          <a:p>
            <a:pPr algn="l"/>
            <a:r>
              <a:rPr sz="1800" b="1" i="1" u="none">
                <a:solidFill>
                  <a:srgbClr val="0B2B4E"/>
                </a:solidFill>
                <a:latin typeface="Calibri"/>
              </a:rPr>
              <a:t>P = MR</a:t>
            </a:r>
          </a:p>
        </p:txBody>
      </p:sp>
      <p:sp>
        <p:nvSpPr>
          <p:cNvPr id="19" name="TextBox 18"/>
          <p:cNvSpPr txBox="1"/>
          <p:nvPr/>
        </p:nvSpPr>
        <p:spPr>
          <a:xfrm>
            <a:off x="521208" y="2532888"/>
            <a:ext cx="868680" cy="274320"/>
          </a:xfrm>
          <a:prstGeom prst="rect">
            <a:avLst/>
          </a:prstGeom>
          <a:noFill/>
        </p:spPr>
        <p:txBody>
          <a:bodyPr wrap="square" lIns="0" rIns="0" tIns="0" bIns="0">
            <a:spAutoFit/>
          </a:bodyPr>
          <a:lstStyle/>
          <a:p>
            <a:pPr algn="r"/>
            <a:r>
              <a:rPr sz="1700" b="1" i="1" u="none">
                <a:solidFill>
                  <a:srgbClr val="0B2B4E"/>
                </a:solidFill>
                <a:latin typeface="Calibri"/>
              </a:rPr>
              <a:t>400</a:t>
            </a:r>
          </a:p>
        </p:txBody>
      </p:sp>
      <p:sp>
        <p:nvSpPr>
          <p:cNvPr id="20" name="TextBox 19"/>
          <p:cNvSpPr txBox="1"/>
          <p:nvPr/>
        </p:nvSpPr>
        <p:spPr>
          <a:xfrm>
            <a:off x="521208" y="2828139"/>
            <a:ext cx="868680" cy="274320"/>
          </a:xfrm>
          <a:prstGeom prst="rect">
            <a:avLst/>
          </a:prstGeom>
          <a:noFill/>
        </p:spPr>
        <p:txBody>
          <a:bodyPr wrap="square" lIns="0" rIns="0" tIns="0" bIns="0">
            <a:spAutoFit/>
          </a:bodyPr>
          <a:lstStyle/>
          <a:p>
            <a:pPr algn="r"/>
            <a:r>
              <a:rPr sz="1700" b="0" i="1" u="none">
                <a:solidFill>
                  <a:srgbClr val="0B2B4E"/>
                </a:solidFill>
                <a:latin typeface="Calibri"/>
              </a:rPr>
              <a:t>358</a:t>
            </a:r>
          </a:p>
        </p:txBody>
      </p:sp>
      <p:cxnSp>
        <p:nvCxnSpPr>
          <p:cNvPr id="21" name="Connector 20"/>
          <p:cNvCxnSpPr/>
          <p:nvPr/>
        </p:nvCxnSpPr>
        <p:spPr>
          <a:xfrm flipV="1">
            <a:off x="6564429" y="2670048"/>
            <a:ext cx="0" cy="281635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07229" y="5541264"/>
            <a:ext cx="914400" cy="274320"/>
          </a:xfrm>
          <a:prstGeom prst="rect">
            <a:avLst/>
          </a:prstGeom>
          <a:noFill/>
        </p:spPr>
        <p:txBody>
          <a:bodyPr wrap="square" lIns="0" rIns="0" tIns="0" bIns="0">
            <a:spAutoFit/>
          </a:bodyPr>
          <a:lstStyle/>
          <a:p>
            <a:pPr algn="ctr"/>
            <a:r>
              <a:rPr sz="1700" b="1" i="1" u="none">
                <a:solidFill>
                  <a:srgbClr val="0B2B4E"/>
                </a:solidFill>
                <a:latin typeface="Calibri"/>
              </a:rPr>
              <a:t>Q* = 662.5</a:t>
            </a:r>
          </a:p>
        </p:txBody>
      </p:sp>
      <p:sp>
        <p:nvSpPr>
          <p:cNvPr id="23" name="Oval 22"/>
          <p:cNvSpPr/>
          <p:nvPr/>
        </p:nvSpPr>
        <p:spPr>
          <a:xfrm>
            <a:off x="6495849" y="2601468"/>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6773EA49-D0AA-5C82-B6A2-E6B8F0B9249A}" type="slidenum">
              <a:rPr lang="en-US" sz="1200" dirty="0">
                <a:solidFill>
                  <a:srgbClr val="555B66"/>
                </a:solidFill>
                <a:latin typeface="Calibri"/>
              </a:rPr>
              <a:t>25</a:t>
            </a:fld>
          </a:p>
        </p:txBody>
      </p:sp>
      <p:sp>
        <p:nvSpPr>
          <p:cNvPr id="28" name="Rounded Rectangle 27"/>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Relationship to Accounting: Ross Stores Annual Report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7" name="Group pair 117"/>
          <p:cNvGrpSpPr/>
          <p:nvPr/>
        </p:nvGrpSpPr>
        <p:grpSpPr>
          <a:xfrm>
            <a:off x="320040" y="1728216"/>
            <a:ext cx="7315200" cy="2980944"/>
            <a:chOff x="320040" y="1728216"/>
            <a:chExt cx="7315200" cy="2980944"/>
          </a:xfrm>
        </p:grpSpPr>
        <p:pic>
          <p:nvPicPr>
            <p:cNvPr id="7" name="Picture 6" descr="NV_s25_g2.1_6ae9af97.png"/>
            <p:cNvPicPr>
              <a:picLocks noChangeAspect="1"/>
            </p:cNvPicPr>
            <p:nvPr/>
          </p:nvPicPr>
          <p:blipFill>
            <a:blip r:embed="rId2"/>
            <a:stretch>
              <a:fillRect/>
            </a:stretch>
          </p:blipFill>
          <p:spPr>
            <a:xfrm>
              <a:off x="320040" y="2331720"/>
              <a:ext cx="2916936" cy="1874519"/>
            </a:xfrm>
            <a:prstGeom prst="rect">
              <a:avLst/>
            </a:prstGeom>
          </p:spPr>
        </p:pic>
        <p:pic>
          <p:nvPicPr>
            <p:cNvPr id="8" name="Picture 7" descr="NV_s25_g2.2_79ddddc9.png"/>
            <p:cNvPicPr>
              <a:picLocks noChangeAspect="1"/>
            </p:cNvPicPr>
            <p:nvPr/>
          </p:nvPicPr>
          <p:blipFill>
            <a:blip r:embed="rId3"/>
            <a:stretch>
              <a:fillRect/>
            </a:stretch>
          </p:blipFill>
          <p:spPr>
            <a:xfrm>
              <a:off x="3639312" y="1810512"/>
              <a:ext cx="2139696" cy="2414016"/>
            </a:xfrm>
            <a:prstGeom prst="rect">
              <a:avLst/>
            </a:prstGeom>
          </p:spPr>
        </p:pic>
        <p:pic>
          <p:nvPicPr>
            <p:cNvPr id="9" name="Picture 8" descr="NV_s25_g2.3_1fcdd894.png"/>
            <p:cNvPicPr>
              <a:picLocks noChangeAspect="1"/>
            </p:cNvPicPr>
            <p:nvPr/>
          </p:nvPicPr>
          <p:blipFill>
            <a:blip r:embed="rId4"/>
            <a:stretch>
              <a:fillRect/>
            </a:stretch>
          </p:blipFill>
          <p:spPr>
            <a:xfrm>
              <a:off x="5861304" y="1728216"/>
              <a:ext cx="1746504" cy="2505456"/>
            </a:xfrm>
            <a:prstGeom prst="rect">
              <a:avLst/>
            </a:prstGeom>
          </p:spPr>
        </p:pic>
        <p:sp>
          <p:nvSpPr>
            <p:cNvPr id="10" name="TextBox 9"/>
            <p:cNvSpPr txBox="1"/>
            <p:nvPr/>
          </p:nvSpPr>
          <p:spPr>
            <a:xfrm>
              <a:off x="320040" y="4434840"/>
              <a:ext cx="7315200" cy="274320"/>
            </a:xfrm>
            <a:prstGeom prst="rect">
              <a:avLst/>
            </a:prstGeom>
            <a:noFill/>
          </p:spPr>
          <p:txBody>
            <a:bodyPr wrap="square" lIns="0" rIns="0" tIns="0" bIns="0">
              <a:spAutoFit/>
            </a:bodyPr>
            <a:lstStyle/>
            <a:p>
              <a:pPr algn="ctr"/>
              <a:r>
                <a:rPr sz="1200" b="0" i="1" u="none">
                  <a:solidFill>
                    <a:srgbClr val="555B66"/>
                  </a:solidFill>
                  <a:latin typeface="Calibri"/>
                </a:rPr>
                <a:t>Ross Stores, Form 10-K, fiscal 2021</a:t>
              </a:r>
            </a:p>
          </p:txBody>
        </p:sp>
      </p:grpSp>
      <p:sp>
        <p:nvSpPr>
          <p:cNvPr id="11" name="Rounded Rectangle 10"/>
          <p:cNvSpPr/>
          <p:nvPr/>
        </p:nvSpPr>
        <p:spPr>
          <a:xfrm>
            <a:off x="8092440" y="1810512"/>
            <a:ext cx="3840480" cy="28346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920240"/>
            <a:ext cx="3474720" cy="2615184"/>
          </a:xfrm>
          <a:prstGeom prst="rect">
            <a:avLst/>
          </a:prstGeom>
          <a:noFill/>
        </p:spPr>
        <p:txBody>
          <a:bodyPr wrap="square" lIns="45720" rIns="45720" tIns="0" bIns="0" anchor="ctr">
            <a:spAutoFit/>
          </a:bodyPr>
          <a:lstStyle/>
          <a:p>
            <a:pPr algn="l"/>
            <a:r>
              <a:rPr sz="1700" b="1" i="0" u="none">
                <a:solidFill>
                  <a:srgbClr val="0B2B4E"/>
                </a:solidFill>
                <a:latin typeface="Calibri"/>
              </a:rPr>
              <a:t>Cost of goods sold</a:t>
            </a:r>
            <a:r>
              <a:rPr sz="1700" b="0" i="0" u="none">
                <a:solidFill>
                  <a:srgbClr val="0B2B4E"/>
                </a:solidFill>
                <a:latin typeface="Calibri"/>
              </a:rPr>
              <a:t>  —  variable
</a:t>
            </a:r>
            <a:r>
              <a:rPr sz="1700" b="1" i="0" u="none">
                <a:solidFill>
                  <a:srgbClr val="0B2B4E"/>
                </a:solidFill>
                <a:latin typeface="Calibri"/>
              </a:rPr>
              <a:t>Selling, general and administrative</a:t>
            </a:r>
            <a:r>
              <a:rPr sz="1700" b="0" i="0" u="none">
                <a:solidFill>
                  <a:srgbClr val="0B2B4E"/>
                </a:solidFill>
                <a:latin typeface="Calibri"/>
              </a:rPr>
              <a:t>  —  a mix of fixed and variable
</a:t>
            </a:r>
            <a:r>
              <a:rPr sz="1700" b="1" i="0" u="none">
                <a:solidFill>
                  <a:srgbClr val="0B2B4E"/>
                </a:solidFill>
                <a:latin typeface="Calibri"/>
              </a:rPr>
              <a:t>Interest expense</a:t>
            </a:r>
            <a:r>
              <a:rPr sz="1700" b="0" i="0" u="none">
                <a:solidFill>
                  <a:srgbClr val="0B2B4E"/>
                </a:solidFill>
                <a:latin typeface="Calibri"/>
              </a:rPr>
              <a:t>  —  fixed</a:t>
            </a:r>
          </a:p>
        </p:txBody>
      </p:sp>
      <p:sp>
        <p:nvSpPr>
          <p:cNvPr id="13" name="Rounded Rectangle 12"/>
          <p:cNvSpPr/>
          <p:nvPr/>
        </p:nvSpPr>
        <p:spPr>
          <a:xfrm>
            <a:off x="1066647" y="5623560"/>
            <a:ext cx="100584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The accounting statement does not hand you TFC and TVC — you have to read them out of it</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9346563A-B51D-5037-A2A5-90204D319424}" type="slidenum">
              <a:rPr lang="en-US" sz="1200" dirty="0">
                <a:solidFill>
                  <a:srgbClr val="555B66"/>
                </a:solidFill>
                <a:latin typeface="Calibri"/>
              </a:rPr>
              <a:t>26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Maximizing Profits in the Short Run: The General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81328"/>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Positive Profit</a:t>
            </a:r>
          </a:p>
        </p:txBody>
      </p:sp>
      <p:cxnSp>
        <p:nvCxnSpPr>
          <p:cNvPr id="8" name="Connector 7"/>
          <p:cNvCxnSpPr/>
          <p:nvPr/>
        </p:nvCxnSpPr>
        <p:spPr>
          <a:xfrm flipV="1">
            <a:off x="1188720" y="2441448"/>
            <a:ext cx="0" cy="31821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88720" y="5623560"/>
            <a:ext cx="27706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39112"/>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1" name="TextBox 10"/>
          <p:cNvSpPr txBox="1"/>
          <p:nvPr/>
        </p:nvSpPr>
        <p:spPr>
          <a:xfrm>
            <a:off x="3429000" y="5715000"/>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2" name="Rectangle 11"/>
          <p:cNvSpPr/>
          <p:nvPr/>
        </p:nvSpPr>
        <p:spPr>
          <a:xfrm>
            <a:off x="1188720" y="3241307"/>
            <a:ext cx="1620863" cy="582470"/>
          </a:xfrm>
          <a:prstGeom prst="rect">
            <a:avLst/>
          </a:pr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20434" y="2610494"/>
            <a:ext cx="937066" cy="2346035"/>
          </a:xfrm>
          <a:custGeom>
            <a:avLst/>
            <a:gdLst/>
            <a:ahLst/>
            <a:cxnLst/>
            <a:rect l="0" t="0" r="r" b="b"/>
            <a:pathLst>
              <a:path w="937066" h="2346035">
                <a:moveTo>
                  <a:pt x="0" y="2346035"/>
                </a:moveTo>
                <a:cubicBezTo>
                  <a:pt x="39044" y="2309519"/>
                  <a:pt x="156178" y="2240794"/>
                  <a:pt x="234267" y="2126939"/>
                </a:cubicBezTo>
                <a:cubicBezTo>
                  <a:pt x="312355" y="2013083"/>
                  <a:pt x="390444" y="1858404"/>
                  <a:pt x="468533" y="1662902"/>
                </a:cubicBezTo>
                <a:cubicBezTo>
                  <a:pt x="546621" y="1467399"/>
                  <a:pt x="624710" y="1231072"/>
                  <a:pt x="702799" y="953922"/>
                </a:cubicBezTo>
                <a:cubicBezTo>
                  <a:pt x="780887" y="676771"/>
                  <a:pt x="898021" y="158987"/>
                  <a:pt x="937066"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20434" y="3342950"/>
            <a:ext cx="1108954" cy="523037"/>
          </a:xfrm>
          <a:custGeom>
            <a:avLst/>
            <a:gdLst/>
            <a:ahLst/>
            <a:cxnLst/>
            <a:rect l="0" t="0" r="r" b="b"/>
            <a:pathLst>
              <a:path w="1108954" h="523037">
                <a:moveTo>
                  <a:pt x="0" y="0"/>
                </a:moveTo>
                <a:cubicBezTo>
                  <a:pt x="46206" y="62467"/>
                  <a:pt x="184826" y="290104"/>
                  <a:pt x="277239" y="374807"/>
                </a:cubicBezTo>
                <a:cubicBezTo>
                  <a:pt x="369651" y="459509"/>
                  <a:pt x="462064" y="493391"/>
                  <a:pt x="554477" y="508214"/>
                </a:cubicBezTo>
                <a:cubicBezTo>
                  <a:pt x="646889" y="523037"/>
                  <a:pt x="739302" y="503676"/>
                  <a:pt x="831715" y="463745"/>
                </a:cubicBezTo>
                <a:cubicBezTo>
                  <a:pt x="924127" y="423813"/>
                  <a:pt x="1062747" y="301146"/>
                  <a:pt x="1108954" y="268627"/>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88720" y="3241307"/>
            <a:ext cx="198225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809583" y="3241307"/>
            <a:ext cx="0" cy="2382253"/>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52383" y="5678424"/>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18" name="TextBox 17"/>
          <p:cNvSpPr txBox="1"/>
          <p:nvPr/>
        </p:nvSpPr>
        <p:spPr>
          <a:xfrm>
            <a:off x="246888" y="3104147"/>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p>
        </p:txBody>
      </p:sp>
      <p:sp>
        <p:nvSpPr>
          <p:cNvPr id="19" name="TextBox 18"/>
          <p:cNvSpPr txBox="1"/>
          <p:nvPr/>
        </p:nvSpPr>
        <p:spPr>
          <a:xfrm>
            <a:off x="2805019" y="2225965"/>
            <a:ext cx="822960" cy="292608"/>
          </a:xfrm>
          <a:prstGeom prst="rect">
            <a:avLst/>
          </a:prstGeom>
          <a:noFill/>
        </p:spPr>
        <p:txBody>
          <a:bodyPr wrap="square" lIns="0" rIns="0" tIns="0" bIns="0">
            <a:spAutoFit/>
          </a:bodyPr>
          <a:lstStyle/>
          <a:p>
            <a:pPr algn="l"/>
            <a:r>
              <a:rPr sz="1600" b="1" i="1" u="none">
                <a:solidFill>
                  <a:srgbClr val="0B2B4E"/>
                </a:solidFill>
                <a:latin typeface="Calibri"/>
              </a:rPr>
              <a:t>MC</a:t>
            </a:r>
          </a:p>
        </p:txBody>
      </p:sp>
      <p:sp>
        <p:nvSpPr>
          <p:cNvPr id="20" name="TextBox 19"/>
          <p:cNvSpPr txBox="1"/>
          <p:nvPr/>
        </p:nvSpPr>
        <p:spPr>
          <a:xfrm>
            <a:off x="3101664" y="3227048"/>
            <a:ext cx="822960" cy="292608"/>
          </a:xfrm>
          <a:prstGeom prst="rect">
            <a:avLst/>
          </a:prstGeom>
          <a:noFill/>
        </p:spPr>
        <p:txBody>
          <a:bodyPr wrap="square" lIns="0" rIns="0" tIns="0" bIns="0">
            <a:spAutoFit/>
          </a:bodyPr>
          <a:lstStyle/>
          <a:p>
            <a:pPr algn="l"/>
            <a:r>
              <a:rPr sz="1600" b="1" i="1" u="none">
                <a:solidFill>
                  <a:srgbClr val="E09F3E"/>
                </a:solidFill>
                <a:latin typeface="Calibri"/>
              </a:rPr>
              <a:t>ATC</a:t>
            </a:r>
          </a:p>
        </p:txBody>
      </p:sp>
      <p:sp>
        <p:nvSpPr>
          <p:cNvPr id="21" name="TextBox 20"/>
          <p:cNvSpPr txBox="1"/>
          <p:nvPr/>
        </p:nvSpPr>
        <p:spPr>
          <a:xfrm>
            <a:off x="594360" y="5074920"/>
            <a:ext cx="3474720" cy="310896"/>
          </a:xfrm>
          <a:prstGeom prst="rect">
            <a:avLst/>
          </a:prstGeom>
          <a:noFill/>
        </p:spPr>
        <p:txBody>
          <a:bodyPr wrap="square" lIns="0" rIns="0" tIns="0" bIns="0">
            <a:spAutoFit/>
          </a:bodyPr>
          <a:lstStyle/>
          <a:p>
            <a:pPr algn="ctr"/>
            <a:r>
              <a:rPr sz="1600" b="1" i="0" u="none">
                <a:solidFill>
                  <a:srgbClr val="0B2B4E"/>
                </a:solidFill>
                <a:latin typeface="Calibri"/>
              </a:rPr>
              <a:t>Profit, π &gt; 0</a:t>
            </a:r>
          </a:p>
        </p:txBody>
      </p:sp>
      <p:sp>
        <p:nvSpPr>
          <p:cNvPr id="22" name="Rounded Rectangle 21"/>
          <p:cNvSpPr/>
          <p:nvPr/>
        </p:nvSpPr>
        <p:spPr>
          <a:xfrm>
            <a:off x="4453128" y="1481328"/>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Zero Profit</a:t>
            </a:r>
          </a:p>
        </p:txBody>
      </p:sp>
      <p:cxnSp>
        <p:nvCxnSpPr>
          <p:cNvPr id="23" name="Connector 22"/>
          <p:cNvCxnSpPr/>
          <p:nvPr/>
        </p:nvCxnSpPr>
        <p:spPr>
          <a:xfrm flipV="1">
            <a:off x="5138928" y="2441448"/>
            <a:ext cx="0" cy="31821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38928" y="5623560"/>
            <a:ext cx="27706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53128" y="2039112"/>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26" name="TextBox 25"/>
          <p:cNvSpPr txBox="1"/>
          <p:nvPr/>
        </p:nvSpPr>
        <p:spPr>
          <a:xfrm>
            <a:off x="7379208" y="5715000"/>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27" name="Rectangle 26"/>
          <p:cNvSpPr/>
          <p:nvPr/>
        </p:nvSpPr>
        <p:spPr>
          <a:xfrm>
            <a:off x="5970642" y="2610494"/>
            <a:ext cx="937066" cy="2346035"/>
          </a:xfrm>
          <a:custGeom>
            <a:avLst/>
            <a:gdLst/>
            <a:ahLst/>
            <a:cxnLst/>
            <a:rect l="0" t="0" r="r" b="b"/>
            <a:pathLst>
              <a:path w="937066" h="2346035">
                <a:moveTo>
                  <a:pt x="0" y="2346035"/>
                </a:moveTo>
                <a:cubicBezTo>
                  <a:pt x="39044" y="2309519"/>
                  <a:pt x="156178" y="2240794"/>
                  <a:pt x="234267" y="2126939"/>
                </a:cubicBezTo>
                <a:cubicBezTo>
                  <a:pt x="312355" y="2013083"/>
                  <a:pt x="390444" y="1858404"/>
                  <a:pt x="468533" y="1662902"/>
                </a:cubicBezTo>
                <a:cubicBezTo>
                  <a:pt x="546621" y="1467399"/>
                  <a:pt x="624710" y="1231072"/>
                  <a:pt x="702799" y="953922"/>
                </a:cubicBezTo>
                <a:cubicBezTo>
                  <a:pt x="780887" y="676771"/>
                  <a:pt x="898021" y="158987"/>
                  <a:pt x="937066"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70642" y="3342950"/>
            <a:ext cx="1108954" cy="523037"/>
          </a:xfrm>
          <a:custGeom>
            <a:avLst/>
            <a:gdLst/>
            <a:ahLst/>
            <a:cxnLst/>
            <a:rect l="0" t="0" r="r" b="b"/>
            <a:pathLst>
              <a:path w="1108954" h="523037">
                <a:moveTo>
                  <a:pt x="0" y="0"/>
                </a:moveTo>
                <a:cubicBezTo>
                  <a:pt x="46206" y="62467"/>
                  <a:pt x="184826" y="290104"/>
                  <a:pt x="277239" y="374807"/>
                </a:cubicBezTo>
                <a:cubicBezTo>
                  <a:pt x="369651" y="459509"/>
                  <a:pt x="462064" y="493391"/>
                  <a:pt x="554477" y="508214"/>
                </a:cubicBezTo>
                <a:cubicBezTo>
                  <a:pt x="646889" y="523037"/>
                  <a:pt x="739302" y="503676"/>
                  <a:pt x="831715" y="463745"/>
                </a:cubicBezTo>
                <a:cubicBezTo>
                  <a:pt x="924127" y="423813"/>
                  <a:pt x="1062747" y="301146"/>
                  <a:pt x="1108954" y="268627"/>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138928" y="3855369"/>
            <a:ext cx="198225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6737" y="3855369"/>
            <a:ext cx="0" cy="1768191"/>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29537" y="5678424"/>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32" name="TextBox 31"/>
          <p:cNvSpPr txBox="1"/>
          <p:nvPr/>
        </p:nvSpPr>
        <p:spPr>
          <a:xfrm>
            <a:off x="4197096" y="3718209"/>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p>
        </p:txBody>
      </p:sp>
      <p:sp>
        <p:nvSpPr>
          <p:cNvPr id="33" name="TextBox 32"/>
          <p:cNvSpPr txBox="1"/>
          <p:nvPr/>
        </p:nvSpPr>
        <p:spPr>
          <a:xfrm>
            <a:off x="6755227" y="2225965"/>
            <a:ext cx="822960" cy="292608"/>
          </a:xfrm>
          <a:prstGeom prst="rect">
            <a:avLst/>
          </a:prstGeom>
          <a:noFill/>
        </p:spPr>
        <p:txBody>
          <a:bodyPr wrap="square" lIns="0" rIns="0" tIns="0" bIns="0">
            <a:spAutoFit/>
          </a:bodyPr>
          <a:lstStyle/>
          <a:p>
            <a:pPr algn="l"/>
            <a:r>
              <a:rPr sz="1600" b="1" i="1" u="none">
                <a:solidFill>
                  <a:srgbClr val="0B2B4E"/>
                </a:solidFill>
                <a:latin typeface="Calibri"/>
              </a:rPr>
              <a:t>MC</a:t>
            </a:r>
          </a:p>
        </p:txBody>
      </p:sp>
      <p:sp>
        <p:nvSpPr>
          <p:cNvPr id="34" name="TextBox 33"/>
          <p:cNvSpPr txBox="1"/>
          <p:nvPr/>
        </p:nvSpPr>
        <p:spPr>
          <a:xfrm>
            <a:off x="7051872" y="3227048"/>
            <a:ext cx="822960" cy="292608"/>
          </a:xfrm>
          <a:prstGeom prst="rect">
            <a:avLst/>
          </a:prstGeom>
          <a:noFill/>
        </p:spPr>
        <p:txBody>
          <a:bodyPr wrap="square" lIns="0" rIns="0" tIns="0" bIns="0">
            <a:spAutoFit/>
          </a:bodyPr>
          <a:lstStyle/>
          <a:p>
            <a:pPr algn="l"/>
            <a:r>
              <a:rPr sz="1600" b="1" i="1" u="none">
                <a:solidFill>
                  <a:srgbClr val="E09F3E"/>
                </a:solidFill>
                <a:latin typeface="Calibri"/>
              </a:rPr>
              <a:t>ATC</a:t>
            </a:r>
          </a:p>
        </p:txBody>
      </p:sp>
      <p:sp>
        <p:nvSpPr>
          <p:cNvPr id="35" name="TextBox 34"/>
          <p:cNvSpPr txBox="1"/>
          <p:nvPr/>
        </p:nvSpPr>
        <p:spPr>
          <a:xfrm>
            <a:off x="4544568" y="5074920"/>
            <a:ext cx="3474720" cy="310896"/>
          </a:xfrm>
          <a:prstGeom prst="rect">
            <a:avLst/>
          </a:prstGeom>
          <a:noFill/>
        </p:spPr>
        <p:txBody>
          <a:bodyPr wrap="square" lIns="0" rIns="0" tIns="0" bIns="0">
            <a:spAutoFit/>
          </a:bodyPr>
          <a:lstStyle/>
          <a:p>
            <a:pPr algn="ctr"/>
            <a:r>
              <a:rPr sz="1600" b="1" i="0" u="none">
                <a:solidFill>
                  <a:srgbClr val="0B2B4E"/>
                </a:solidFill>
                <a:latin typeface="Calibri"/>
              </a:rPr>
              <a:t>P = ATC at Q*</a:t>
            </a:r>
          </a:p>
        </p:txBody>
      </p:sp>
      <p:sp>
        <p:nvSpPr>
          <p:cNvPr id="36" name="Rounded Rectangle 35"/>
          <p:cNvSpPr/>
          <p:nvPr/>
        </p:nvSpPr>
        <p:spPr>
          <a:xfrm>
            <a:off x="8403336" y="1481328"/>
            <a:ext cx="3566160" cy="475488"/>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latin typeface="Calibri"/>
              </a:rPr>
              <a:t>Negative Profit (Loss)</a:t>
            </a:r>
          </a:p>
        </p:txBody>
      </p:sp>
      <p:cxnSp>
        <p:nvCxnSpPr>
          <p:cNvPr id="37" name="Connector 36"/>
          <p:cNvCxnSpPr/>
          <p:nvPr/>
        </p:nvCxnSpPr>
        <p:spPr>
          <a:xfrm flipV="1">
            <a:off x="9089136" y="2441448"/>
            <a:ext cx="0" cy="31821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089136" y="5623560"/>
            <a:ext cx="27706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403336" y="2039112"/>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40" name="TextBox 39"/>
          <p:cNvSpPr txBox="1"/>
          <p:nvPr/>
        </p:nvSpPr>
        <p:spPr>
          <a:xfrm>
            <a:off x="11329416" y="5715000"/>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41" name="Rectangle 40"/>
          <p:cNvSpPr/>
          <p:nvPr/>
        </p:nvSpPr>
        <p:spPr>
          <a:xfrm>
            <a:off x="9089136" y="3836650"/>
            <a:ext cx="1318880" cy="389321"/>
          </a:xfrm>
          <a:prstGeom prst="rect">
            <a:avLst/>
          </a:pr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920850" y="2610494"/>
            <a:ext cx="937066" cy="2346035"/>
          </a:xfrm>
          <a:custGeom>
            <a:avLst/>
            <a:gdLst/>
            <a:ahLst/>
            <a:cxnLst/>
            <a:rect l="0" t="0" r="r" b="b"/>
            <a:pathLst>
              <a:path w="937066" h="2346035">
                <a:moveTo>
                  <a:pt x="0" y="2346035"/>
                </a:moveTo>
                <a:cubicBezTo>
                  <a:pt x="39044" y="2309519"/>
                  <a:pt x="156178" y="2240794"/>
                  <a:pt x="234267" y="2126939"/>
                </a:cubicBezTo>
                <a:cubicBezTo>
                  <a:pt x="312355" y="2013083"/>
                  <a:pt x="390444" y="1858404"/>
                  <a:pt x="468533" y="1662902"/>
                </a:cubicBezTo>
                <a:cubicBezTo>
                  <a:pt x="546621" y="1467399"/>
                  <a:pt x="624710" y="1231072"/>
                  <a:pt x="702799" y="953922"/>
                </a:cubicBezTo>
                <a:cubicBezTo>
                  <a:pt x="780887" y="676771"/>
                  <a:pt x="898021" y="158987"/>
                  <a:pt x="937066"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20850" y="3342950"/>
            <a:ext cx="1108954" cy="523037"/>
          </a:xfrm>
          <a:custGeom>
            <a:avLst/>
            <a:gdLst/>
            <a:ahLst/>
            <a:cxnLst/>
            <a:rect l="0" t="0" r="r" b="b"/>
            <a:pathLst>
              <a:path w="1108954" h="523037">
                <a:moveTo>
                  <a:pt x="0" y="0"/>
                </a:moveTo>
                <a:cubicBezTo>
                  <a:pt x="46206" y="62467"/>
                  <a:pt x="184826" y="290104"/>
                  <a:pt x="277239" y="374807"/>
                </a:cubicBezTo>
                <a:cubicBezTo>
                  <a:pt x="369651" y="459509"/>
                  <a:pt x="462064" y="493391"/>
                  <a:pt x="554477" y="508214"/>
                </a:cubicBezTo>
                <a:cubicBezTo>
                  <a:pt x="646889" y="523037"/>
                  <a:pt x="739302" y="503676"/>
                  <a:pt x="831715" y="463745"/>
                </a:cubicBezTo>
                <a:cubicBezTo>
                  <a:pt x="924127" y="423813"/>
                  <a:pt x="1062747" y="301146"/>
                  <a:pt x="1108954" y="268627"/>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9089136" y="4225971"/>
            <a:ext cx="198225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408016" y="4225971"/>
            <a:ext cx="0" cy="1397589"/>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950816" y="5678424"/>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47" name="TextBox 46"/>
          <p:cNvSpPr txBox="1"/>
          <p:nvPr/>
        </p:nvSpPr>
        <p:spPr>
          <a:xfrm>
            <a:off x="8147304" y="4088811"/>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p>
        </p:txBody>
      </p:sp>
      <p:sp>
        <p:nvSpPr>
          <p:cNvPr id="48" name="TextBox 47"/>
          <p:cNvSpPr txBox="1"/>
          <p:nvPr/>
        </p:nvSpPr>
        <p:spPr>
          <a:xfrm>
            <a:off x="10705435" y="2225965"/>
            <a:ext cx="822960" cy="292608"/>
          </a:xfrm>
          <a:prstGeom prst="rect">
            <a:avLst/>
          </a:prstGeom>
          <a:noFill/>
        </p:spPr>
        <p:txBody>
          <a:bodyPr wrap="square" lIns="0" rIns="0" tIns="0" bIns="0">
            <a:spAutoFit/>
          </a:bodyPr>
          <a:lstStyle/>
          <a:p>
            <a:pPr algn="l"/>
            <a:r>
              <a:rPr sz="1600" b="1" i="1" u="none">
                <a:solidFill>
                  <a:srgbClr val="0B2B4E"/>
                </a:solidFill>
                <a:latin typeface="Calibri"/>
              </a:rPr>
              <a:t>MC</a:t>
            </a:r>
          </a:p>
        </p:txBody>
      </p:sp>
      <p:sp>
        <p:nvSpPr>
          <p:cNvPr id="49" name="TextBox 48"/>
          <p:cNvSpPr txBox="1"/>
          <p:nvPr/>
        </p:nvSpPr>
        <p:spPr>
          <a:xfrm>
            <a:off x="11002080" y="3227048"/>
            <a:ext cx="822960" cy="292608"/>
          </a:xfrm>
          <a:prstGeom prst="rect">
            <a:avLst/>
          </a:prstGeom>
          <a:noFill/>
        </p:spPr>
        <p:txBody>
          <a:bodyPr wrap="square" lIns="0" rIns="0" tIns="0" bIns="0">
            <a:spAutoFit/>
          </a:bodyPr>
          <a:lstStyle/>
          <a:p>
            <a:pPr algn="l"/>
            <a:r>
              <a:rPr sz="1600" b="1" i="1" u="none">
                <a:solidFill>
                  <a:srgbClr val="E09F3E"/>
                </a:solidFill>
                <a:latin typeface="Calibri"/>
              </a:rPr>
              <a:t>ATC</a:t>
            </a:r>
          </a:p>
        </p:txBody>
      </p:sp>
      <p:sp>
        <p:nvSpPr>
          <p:cNvPr id="50" name="TextBox 49"/>
          <p:cNvSpPr txBox="1"/>
          <p:nvPr/>
        </p:nvSpPr>
        <p:spPr>
          <a:xfrm>
            <a:off x="8494776" y="5074920"/>
            <a:ext cx="3474720" cy="310896"/>
          </a:xfrm>
          <a:prstGeom prst="rect">
            <a:avLst/>
          </a:prstGeom>
          <a:noFill/>
        </p:spPr>
        <p:txBody>
          <a:bodyPr wrap="square" lIns="0" rIns="0" tIns="0" bIns="0">
            <a:spAutoFit/>
          </a:bodyPr>
          <a:lstStyle/>
          <a:p>
            <a:pPr algn="ctr"/>
            <a:r>
              <a:rPr sz="1600" b="1" i="0" u="none">
                <a:solidFill>
                  <a:srgbClr val="0B2B4E"/>
                </a:solidFill>
                <a:latin typeface="Calibri"/>
              </a:rPr>
              <a:t>Loss, π &lt; 0</a:t>
            </a:r>
          </a:p>
        </p:txBody>
      </p:sp>
      <p:sp>
        <p:nvSpPr>
          <p:cNvPr id="51" name="Rectangle 5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54" name="TextBox 53"/>
          <p:cNvSpPr txBox="1"/>
          <p:nvPr/>
        </p:nvSpPr>
        <p:spPr>
          <a:xfrm>
            <a:off x="11475720" y="6583680"/>
            <a:ext cx="502920" cy="292608"/>
          </a:xfrm>
          <a:prstGeom prst="rect">
            <a:avLst/>
          </a:prstGeom>
          <a:noFill/>
        </p:spPr>
        <p:txBody>
          <a:bodyPr wrap="none" lIns="0" rIns="0" tIns="0" bIns="0">
            <a:spAutoFit/>
          </a:bodyPr>
          <a:lstStyle/>
          <a:p>
            <a:pPr algn="r"/>
            <a:fld id="{E147C3F4-51FB-5672-BCCD-B2C49AC14D38}" type="slidenum">
              <a:rPr lang="en-US" sz="1200" dirty="0">
                <a:solidFill>
                  <a:srgbClr val="555B66"/>
                </a:solidFill>
                <a:latin typeface="Calibri"/>
              </a:rPr>
              <a:t>27</a:t>
            </a:fld>
          </a:p>
        </p:txBody>
      </p:sp>
      <p:sp>
        <p:nvSpPr>
          <p:cNvPr id="55" name="Rounded Rectangle 54"/>
          <p:cNvSpPr/>
          <p:nvPr/>
        </p:nvSpPr>
        <p:spPr>
          <a:xfrm>
            <a:off x="1340967" y="5897880"/>
            <a:ext cx="9509760" cy="47548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Profit = (P − ATC) · Q*, so the sign of the profit is the sign of P −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fade">
                                      <p:cBhvr>
                                        <p:cTn id="74" dur="500"/>
                                        <p:tgtEl>
                                          <p:spTgt spid="3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fade">
                                      <p:cBhvr>
                                        <p:cTn id="83" dur="500"/>
                                        <p:tgtEl>
                                          <p:spTgt spid="4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500"/>
                                        <p:tgtEl>
                                          <p:spTgt spid="4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500"/>
                                        <p:tgtEl>
                                          <p:spTgt spid="4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500"/>
                                        <p:tgtEl>
                                          <p:spTgt spid="48"/>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500"/>
                                        <p:tgtEl>
                                          <p:spTgt spid="4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5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5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500"/>
                                        <p:tgtEl>
                                          <p:spTgt spid="50"/>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If Profit Is Negative, Should a Firm Stop Producing?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Is a firm better off operating at a loss, or shutting down and producing nothing?</a:t>
            </a:r>
          </a:p>
          <a:p>
            <a:pPr algn="l"/>
            <a:r>
              <a:rPr>
                <a:latin typeface="Calibri"/>
              </a:rPr>
              <a:t>Stopping production means something different in each horizon</a:t>
            </a:r>
          </a:p>
          <a:p>
            <a:pPr algn="l" lvl="1"/>
            <a:r>
              <a:rPr>
                <a:latin typeface="Calibri"/>
              </a:rPr>
              <a:t>Long run: exit the industry altogether</a:t>
            </a:r>
          </a:p>
          <a:p>
            <a:pPr algn="l" lvl="1"/>
            <a:r>
              <a:rPr>
                <a:latin typeface="Calibri"/>
              </a:rPr>
              <a:t>Short run: the fixed costs still have to be paid</a:t>
            </a:r>
          </a:p>
          <a:p>
            <a:pPr algn="l" lvl="1"/>
            <a:r>
              <a:rPr>
                <a:latin typeface="Calibri"/>
              </a:rPr>
              <a:t>e.g. a land rental contract that runs to the end of the year</a:t>
            </a:r>
          </a:p>
          <a:p>
            <a:pPr algn="l"/>
            <a:r>
              <a:rPr>
                <a:latin typeface="Calibri"/>
              </a:rPr>
              <a:t>We take the short-run decision first</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293036A-BD4D-57C7-9687-30C5AEE01332}" type="slidenum">
              <a:rPr lang="en-US" sz="1200" dirty="0">
                <a:solidFill>
                  <a:srgbClr val="555B66"/>
                </a:solidFill>
                <a:latin typeface="Calibri"/>
              </a:rPr>
              <a:t>28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Two Ways to Write Profit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88720" y="1847088"/>
            <a:ext cx="566928" cy="566928"/>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500" b="1">
                <a:solidFill>
                  <a:srgbClr val="0B2B4E"/>
                </a:solidFill>
                <a:latin typeface="Calibri"/>
              </a:rPr>
              <a:t>1</a:t>
            </a:r>
          </a:p>
        </p:txBody>
      </p:sp>
      <p:sp>
        <p:nvSpPr>
          <p:cNvPr id="8" name="TextBox 7"/>
          <p:cNvSpPr txBox="1"/>
          <p:nvPr/>
        </p:nvSpPr>
        <p:spPr>
          <a:xfrm>
            <a:off x="2194560" y="1572768"/>
            <a:ext cx="8595360" cy="713232"/>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Profit</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TR</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TC</m:t>
                  </m:r>
                </m:oMath>
              </m:oMathPara>
            </a14:m>
            <a:endParaRPr lang="en-US" sz="2800"/>
          </a:p>
        </p:txBody>
      </p:sp>
      <p:sp>
        <p:nvSpPr>
          <p:cNvPr id="9" name="TextBox 8"/>
          <p:cNvSpPr txBox="1"/>
          <p:nvPr/>
        </p:nvSpPr>
        <p:spPr>
          <a:xfrm>
            <a:off x="2194560" y="2350008"/>
            <a:ext cx="8595360" cy="713232"/>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ATC</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Q</m:t>
                  </m:r>
                </m:oMath>
              </m:oMathPara>
            </a14:m>
            <a:endParaRPr lang="en-US" sz="2800"/>
          </a:p>
        </p:txBody>
      </p:sp>
      <p:sp>
        <p:nvSpPr>
          <p:cNvPr id="10" name="Rounded Rectangle 9"/>
          <p:cNvSpPr/>
          <p:nvPr/>
        </p:nvSpPr>
        <p:spPr>
          <a:xfrm>
            <a:off x="1188720" y="3657600"/>
            <a:ext cx="566928" cy="566928"/>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500" b="1">
                <a:solidFill>
                  <a:srgbClr val="0B2B4E"/>
                </a:solidFill>
                <a:latin typeface="Calibri"/>
              </a:rPr>
              <a:t>2</a:t>
            </a:r>
          </a:p>
        </p:txBody>
      </p:sp>
      <p:sp>
        <p:nvSpPr>
          <p:cNvPr id="11" name="TextBox 10"/>
          <p:cNvSpPr txBox="1"/>
          <p:nvPr/>
        </p:nvSpPr>
        <p:spPr>
          <a:xfrm>
            <a:off x="2194560" y="3383280"/>
            <a:ext cx="8595360" cy="713232"/>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Profit</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Q</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TVC</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TFC</m:t>
                  </m:r>
                </m:oMath>
              </m:oMathPara>
            </a14:m>
            <a:endParaRPr lang="en-US" sz="2800"/>
          </a:p>
        </p:txBody>
      </p:sp>
      <p:sp>
        <p:nvSpPr>
          <p:cNvPr id="12" name="TextBox 11"/>
          <p:cNvSpPr txBox="1"/>
          <p:nvPr/>
        </p:nvSpPr>
        <p:spPr>
          <a:xfrm>
            <a:off x="2194560" y="4160520"/>
            <a:ext cx="8595360" cy="713232"/>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AVC</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Q</m:t>
                  </m:r>
                  <m:r>
                    <m:rPr>
                      <m:sty m:val="p"/>
                    </m:rPr>
                    <a:rPr lang="en-US" b="0" i="0" sz="2800">
                      <a:solidFill>
                        <a:srgbClr val="0B2B4E"/>
                      </a:solidFill>
                      <a:latin typeface="Cambria Math"/>
                    </a:rPr>
                    <m:t xml:space="preserve"> − </m:t>
                  </m:r>
                  <m:r>
                    <m:rPr>
                      <m:sty m:val="p"/>
                    </m:rPr>
                    <a:rPr lang="en-US" b="0" i="0" sz="2800">
                      <a:solidFill>
                        <a:srgbClr val="0B2B4E"/>
                      </a:solidFill>
                      <a:latin typeface="Cambria Math"/>
                    </a:rPr>
                    <m:t xml:space="preserve">TFC</m:t>
                  </m:r>
                </m:oMath>
              </m:oMathPara>
            </a14:m>
            <a:endParaRPr lang="en-US" sz="2800"/>
          </a:p>
        </p:txBody>
      </p:sp>
      <p:sp>
        <p:nvSpPr>
          <p:cNvPr id="13" name="TextBox 12"/>
          <p:cNvSpPr txBox="1"/>
          <p:nvPr/>
        </p:nvSpPr>
        <p:spPr>
          <a:xfrm>
            <a:off x="2194560" y="5212080"/>
            <a:ext cx="8595360" cy="86868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m:rPr>
                      <m:sty m:val="p"/>
                    </m:rPr>
                    <a:rPr lang="en-US" b="0" i="0" sz="2400">
                      <a:solidFill>
                        <a:srgbClr val="0B2B4E"/>
                      </a:solidFill>
                      <a:latin typeface="Cambria Math"/>
                    </a:rPr>
                    <m:t xml:space="preserve">The second form is what the decision to operate turns on</m:t>
                  </m:r>
                </m:oMath>
              </m:oMathPara>
            </a14:m>
            <a:endParaRPr lang="en-US" sz="2400"/>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AA53AB96-9CAD-5F6C-A822-DD60D8EF7580}" type="slidenum">
              <a:rPr lang="en-US" sz="1200" dirty="0">
                <a:solidFill>
                  <a:srgbClr val="555B66"/>
                </a:solidFill>
                <a:latin typeface="Calibri"/>
              </a:rPr>
              <a:t>29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If Profit Is Negative, Should a Firm Shut Down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481328"/>
            <a:ext cx="11338560" cy="365760"/>
          </a:xfrm>
          <a:prstGeom prst="rect">
            <a:avLst/>
          </a:prstGeom>
          <a:noFill/>
        </p:spPr>
        <p:txBody>
          <a:bodyPr wrap="square" lIns="0" rIns="0" tIns="0" bIns="0">
            <a:spAutoFit/>
          </a:bodyPr>
          <a:lstStyle/>
          <a:p>
            <a:pPr algn="l"/>
            <a:r>
              <a:rPr sz="2400" b="0" i="0" u="none">
                <a:solidFill>
                  <a:srgbClr val="0B2B4E"/>
                </a:solidFill>
                <a:latin typeface="Calibri"/>
              </a:rPr>
              <a:t>Compare what the firm earns under the two options:</a:t>
            </a:r>
          </a:p>
        </p:txBody>
      </p:sp>
      <p:sp>
        <p:nvSpPr>
          <p:cNvPr id="8" name="Rounded Rectangle 7"/>
          <p:cNvSpPr/>
          <p:nvPr/>
        </p:nvSpPr>
        <p:spPr>
          <a:xfrm>
            <a:off x="640080" y="2057400"/>
            <a:ext cx="534924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Option 1: shut down</a:t>
            </a:r>
          </a:p>
        </p:txBody>
      </p:sp>
      <p:sp>
        <p:nvSpPr>
          <p:cNvPr id="9" name="Rounded Rectangle 8"/>
          <p:cNvSpPr/>
          <p:nvPr/>
        </p:nvSpPr>
        <p:spPr>
          <a:xfrm>
            <a:off x="6309360" y="2057400"/>
            <a:ext cx="534924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Option 2: operate</a:t>
            </a:r>
          </a:p>
        </p:txBody>
      </p:sp>
      <p:sp>
        <p:nvSpPr>
          <p:cNvPr id="10" name="TextBox 9"/>
          <p:cNvSpPr txBox="1"/>
          <p:nvPr/>
        </p:nvSpPr>
        <p:spPr>
          <a:xfrm>
            <a:off x="640080" y="2788920"/>
            <a:ext cx="5349240" cy="77724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Profit</m:t>
                  </m:r>
                  <m:r>
                    <m:rPr>
                      <m:sty m:val="p"/>
                    </m:rPr>
                    <a:rPr lang="en-US" b="0" i="0" sz="2600">
                      <a:solidFill>
                        <a:srgbClr val="0B2B4E"/>
                      </a:solidFill>
                      <a:latin typeface="Cambria Math"/>
                    </a:rPr>
                    <m:t xml:space="preserve"> = − </m:t>
                  </m:r>
                  <m:r>
                    <m:rPr>
                      <m:sty m:val="p"/>
                    </m:rPr>
                    <a:rPr lang="en-US" b="0" i="0" sz="2600">
                      <a:solidFill>
                        <a:srgbClr val="0B2B4E"/>
                      </a:solidFill>
                      <a:latin typeface="Cambria Math"/>
                    </a:rPr>
                    <m:t xml:space="preserve">TFC</m:t>
                  </m:r>
                </m:oMath>
              </m:oMathPara>
            </a14:m>
            <a:endParaRPr lang="en-US" sz="2600"/>
          </a:p>
        </p:txBody>
      </p:sp>
      <p:sp>
        <p:nvSpPr>
          <p:cNvPr id="11" name="TextBox 10"/>
          <p:cNvSpPr txBox="1"/>
          <p:nvPr/>
        </p:nvSpPr>
        <p:spPr>
          <a:xfrm>
            <a:off x="6309360" y="2788920"/>
            <a:ext cx="5349240" cy="77724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m:rPr>
                      <m:sty m:val="p"/>
                    </m:rPr>
                    <a:rPr lang="en-US" b="0" i="0" sz="2400">
                      <a:solidFill>
                        <a:srgbClr val="0B2B4E"/>
                      </a:solidFill>
                      <a:latin typeface="Cambria Math"/>
                    </a:rPr>
                    <m:t xml:space="preserve">Profit</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P</m:t>
                  </m:r>
                  <m:r>
                    <m:rPr>
                      <m:sty m:val="p"/>
                    </m:rPr>
                    <a:rPr lang="en-US" b="0" i="0" sz="2400">
                      <a:solidFill>
                        <a:srgbClr val="0B2B4E"/>
                      </a:solidFill>
                      <a:latin typeface="Cambria Math"/>
                    </a:rPr>
                    <m:t xml:space="preserve"> − </m:t>
                  </m:r>
                  <m:r>
                    <m:rPr>
                      <m:sty m:val="p"/>
                    </m:rPr>
                    <a:rPr lang="en-US" b="0" i="0" sz="2400">
                      <a:solidFill>
                        <a:srgbClr val="0B2B4E"/>
                      </a:solidFill>
                      <a:latin typeface="Cambria Math"/>
                    </a:rPr>
                    <m:t xml:space="preserve">AVC</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Q</m:t>
                  </m:r>
                  <m:r>
                    <m:rPr>
                      <m:sty m:val="p"/>
                    </m:rPr>
                    <a:rPr lang="en-US" b="0" i="0" sz="2400">
                      <a:solidFill>
                        <a:srgbClr val="0B2B4E"/>
                      </a:solidFill>
                      <a:latin typeface="Cambria Math"/>
                    </a:rPr>
                    <m:t xml:space="preserve"> − </m:t>
                  </m:r>
                  <m:r>
                    <m:rPr>
                      <m:sty m:val="p"/>
                    </m:rPr>
                    <a:rPr lang="en-US" b="0" i="0" sz="2400">
                      <a:solidFill>
                        <a:srgbClr val="0B2B4E"/>
                      </a:solidFill>
                      <a:latin typeface="Cambria Math"/>
                    </a:rPr>
                    <m:t xml:space="preserve">TFC</m:t>
                  </m:r>
                </m:oMath>
              </m:oMathPara>
            </a14:m>
            <a:endParaRPr lang="en-US" sz="2400"/>
          </a:p>
        </p:txBody>
      </p:sp>
      <p:sp>
        <p:nvSpPr>
          <p:cNvPr id="12" name="TextBox 11"/>
          <p:cNvSpPr txBox="1"/>
          <p:nvPr/>
        </p:nvSpPr>
        <p:spPr>
          <a:xfrm>
            <a:off x="640080" y="3611880"/>
            <a:ext cx="5349240" cy="384048"/>
          </a:xfrm>
          <a:prstGeom prst="rect">
            <a:avLst/>
          </a:prstGeom>
          <a:noFill/>
        </p:spPr>
        <p:txBody>
          <a:bodyPr wrap="square" lIns="0" rIns="0" tIns="0" bIns="0">
            <a:spAutoFit/>
          </a:bodyPr>
          <a:lstStyle/>
          <a:p>
            <a:pPr algn="ctr"/>
            <a:r>
              <a:rPr sz="1900" b="0" i="1" u="none">
                <a:solidFill>
                  <a:srgbClr val="555B66"/>
                </a:solidFill>
                <a:latin typeface="Calibri"/>
              </a:rPr>
              <a:t>The fixed costs are lost either way</a:t>
            </a:r>
          </a:p>
        </p:txBody>
      </p:sp>
      <p:sp>
        <p:nvSpPr>
          <p:cNvPr id="13" name="TextBox 12"/>
          <p:cNvSpPr txBox="1"/>
          <p:nvPr/>
        </p:nvSpPr>
        <p:spPr>
          <a:xfrm>
            <a:off x="6309360" y="3611880"/>
            <a:ext cx="5349240" cy="384048"/>
          </a:xfrm>
          <a:prstGeom prst="rect">
            <a:avLst/>
          </a:prstGeom>
          <a:noFill/>
        </p:spPr>
        <p:txBody>
          <a:bodyPr wrap="square" lIns="0" rIns="0" tIns="0" bIns="0">
            <a:spAutoFit/>
          </a:bodyPr>
          <a:lstStyle/>
          <a:p>
            <a:pPr algn="ctr"/>
            <a:r>
              <a:rPr sz="1900" b="0" i="1" u="none">
                <a:solidFill>
                  <a:srgbClr val="555B66"/>
                </a:solidFill>
                <a:latin typeface="Calibri"/>
              </a:rPr>
              <a:t>Operating adds (P − AVC) · Q on top</a:t>
            </a:r>
          </a:p>
        </p:txBody>
      </p:sp>
      <p:sp>
        <p:nvSpPr>
          <p:cNvPr id="14" name="TextBox 13"/>
          <p:cNvSpPr txBox="1"/>
          <p:nvPr/>
        </p:nvSpPr>
        <p:spPr>
          <a:xfrm>
            <a:off x="2331720" y="4315968"/>
            <a:ext cx="7498079" cy="77724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Difference</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r>
                    <m:rPr>
                      <m:sty m:val="p"/>
                    </m:rPr>
                    <a:rPr lang="en-US" b="0" i="0" sz="2600">
                      <a:solidFill>
                        <a:srgbClr val="0B2B4E"/>
                      </a:solidFill>
                      <a:latin typeface="Cambria Math"/>
                    </a:rPr>
                    <m:t xml:space="preserve"> − </m:t>
                  </m:r>
                  <m:r>
                    <m:rPr>
                      <m:sty m:val="p"/>
                    </m:rPr>
                    <a:rPr lang="en-US" b="0" i="0" sz="2600">
                      <a:solidFill>
                        <a:srgbClr val="0B2B4E"/>
                      </a:solidFill>
                      <a:latin typeface="Cambria Math"/>
                    </a:rPr>
                    <m:t xml:space="preserve">AVC</m:t>
                  </m:r>
                  <m:r>
                    <m:rPr>
                      <m:sty m:val="p"/>
                    </m:rPr>
                    <a:rPr lang="en-US" b="0" i="0" sz="2600">
                      <a:solidFill>
                        <a:srgbClr val="0B2B4E"/>
                      </a:solidFill>
                      <a:latin typeface="Cambria Math"/>
                    </a:rPr>
                    <m:t xml:space="preserve">)</m:t>
                  </m:r>
                </m:oMath>
              </m:oMathPara>
            </a14:m>
            <a:endParaRPr lang="en-US" sz="2600"/>
          </a:p>
        </p:txBody>
      </p:sp>
      <p:sp>
        <p:nvSpPr>
          <p:cNvPr id="15" name="Rounded Rectangle 14"/>
          <p:cNvSpPr/>
          <p:nvPr/>
        </p:nvSpPr>
        <p:spPr>
          <a:xfrm>
            <a:off x="1432407" y="5349240"/>
            <a:ext cx="9326880" cy="56692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0B2B4E"/>
                </a:solidFill>
                <a:latin typeface="Calibri"/>
              </a:rPr>
              <a:t>Operate if  P ≥ AVC        ·        Shut down if  P &lt; AVC</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9" name="TextBox 18"/>
          <p:cNvSpPr txBox="1"/>
          <p:nvPr/>
        </p:nvSpPr>
        <p:spPr>
          <a:xfrm>
            <a:off x="11475720" y="6583680"/>
            <a:ext cx="502920" cy="292608"/>
          </a:xfrm>
          <a:prstGeom prst="rect">
            <a:avLst/>
          </a:prstGeom>
          <a:noFill/>
        </p:spPr>
        <p:txBody>
          <a:bodyPr wrap="none" lIns="0" rIns="0" tIns="0" bIns="0">
            <a:spAutoFit/>
          </a:bodyPr>
          <a:lstStyle/>
          <a:p>
            <a:pPr algn="r"/>
            <a:fld id="{7373E417-ECEB-5E52-B810-17214CB68111}" type="slidenum">
              <a:rPr lang="en-US" sz="1200" dirty="0">
                <a:solidFill>
                  <a:srgbClr val="555B66"/>
                </a:solidFill>
                <a:latin typeface="Calibri"/>
              </a:rPr>
              <a:t>30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Optimizing in the Short Run: A New Market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08760"/>
            <a:ext cx="11338560" cy="132588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The US starts importing large quantities of cabbage from China</a:t>
            </a:r>
          </a:p>
          <a:p>
            <a:pPr algn="l"/>
            <a:r>
              <a:rPr>
                <a:latin typeface="Calibri"/>
              </a:rPr>
              <a:t>The US market price drops to $210 per ton</a:t>
            </a:r>
          </a:p>
        </p:txBody>
      </p:sp>
      <p:sp>
        <p:nvSpPr>
          <p:cNvPr id="8" name="TextBox 7"/>
          <p:cNvSpPr txBox="1"/>
          <p:nvPr/>
        </p:nvSpPr>
        <p:spPr>
          <a:xfrm>
            <a:off x="3246120" y="2788920"/>
            <a:ext cx="5669280" cy="82296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TC</m:t>
                  </m:r>
                  <m:r>
                    <m:rPr>
                      <m:sty m:val="p"/>
                    </m:rPr>
                    <a:rPr lang="en-US" b="0" i="0" sz="2600">
                      <a:solidFill>
                        <a:srgbClr val="0B2B4E"/>
                      </a:solidFill>
                      <a:latin typeface="Cambria Math"/>
                    </a:rPr>
                    <m:t xml:space="preserve"> = 60,000 + 135</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+ 0.2</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2</m:t>
                      </m:r>
                    </m:sup>
                  </m:sSup>
                </m:oMath>
              </m:oMathPara>
            </a14:m>
            <a:endParaRPr lang="en-US" sz="2600"/>
          </a:p>
        </p:txBody>
      </p:sp>
      <p:sp>
        <p:nvSpPr>
          <p:cNvPr id="9" name="TextBox 8"/>
          <p:cNvSpPr txBox="1"/>
          <p:nvPr/>
        </p:nvSpPr>
        <p:spPr>
          <a:xfrm>
            <a:off x="389159" y="3794760"/>
            <a:ext cx="10607040" cy="182880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1.  What quantity should the Yi family now produce?</a:t>
            </a:r>
          </a:p>
          <a:p>
            <a:pPr algn="l"/>
            <a:r>
              <a:rPr>
                <a:latin typeface="Calibri"/>
              </a:rPr>
              <a:t>2.  What profit do they make at that quantity?</a:t>
            </a:r>
          </a:p>
          <a:p>
            <a:pPr algn="l"/>
            <a:r>
              <a:rPr>
                <a:latin typeface="Calibri"/>
              </a:rPr>
              <a:t>3.  Should they continue to operate in the short run?</a:t>
            </a:r>
          </a:p>
        </p:txBody>
      </p:sp>
      <p:sp>
        <p:nvSpPr>
          <p:cNvPr id="10" name="Rounded Rectangle 9"/>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  ·  Group Work</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9B1978F4-5072-5BCF-94F0-DCD91FB47F0D}" type="slidenum">
              <a:rPr lang="en-US" sz="1200" dirty="0">
                <a:solidFill>
                  <a:srgbClr val="555B66"/>
                </a:solidFill>
                <a:latin typeface="Calibri"/>
              </a:rPr>
              <a:t>31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The Optimal Quantity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30D31416-194B-5A00-B3A6-15F79A5666DC}" type="slidenum">
              <a:rPr lang="en-US" sz="1200" dirty="0">
                <a:solidFill>
                  <a:srgbClr val="555B66"/>
                </a:solidFill>
                <a:latin typeface="Calibri"/>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New Q* and Profit: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17320" y="1691640"/>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MC</m:t>
                  </m:r>
                  <m:r>
                    <m:rPr>
                      <m:sty m:val="p"/>
                    </m:rPr>
                    <a:rPr lang="en-US" b="0" i="0" sz="2600">
                      <a:solidFill>
                        <a:srgbClr val="0B2B4E"/>
                      </a:solidFill>
                      <a:latin typeface="Cambria Math"/>
                    </a:rPr>
                    <m:t xml:space="preserve"> = </m:t>
                  </m:r>
                  <m:r>
                    <m:rPr>
                      <m:sty m:val="p"/>
                    </m:rPr>
                    <a:rPr lang="en-US" b="0" i="0" sz="2600">
                      <a:solidFill>
                        <a:srgbClr val="0B2B4E"/>
                      </a:solidFill>
                      <a:latin typeface="Cambria Math"/>
                    </a:rPr>
                    <m:t xml:space="preserve">MR</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oMath>
              </m:oMathPara>
            </a14:m>
            <a:endParaRPr lang="en-US" sz="2600"/>
          </a:p>
        </p:txBody>
      </p:sp>
      <p:sp>
        <p:nvSpPr>
          <p:cNvPr id="8" name="TextBox 7"/>
          <p:cNvSpPr txBox="1"/>
          <p:nvPr/>
        </p:nvSpPr>
        <p:spPr>
          <a:xfrm>
            <a:off x="1417320" y="2478024"/>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135 + 0.4</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210</m:t>
                  </m:r>
                  <m:r>
                    <m:rPr>
                      <m:sty m:val="p"/>
                    </m:rPr>
                    <a:rPr lang="en-US" b="0" i="0" sz="2600">
                      <a:solidFill>
                        <a:srgbClr val="0B2B4E"/>
                      </a:solidFill>
                      <a:latin typeface="Cambria Math"/>
                    </a:rPr>
                    <m:t xml:space="preserve">     →     </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m:t>
                      </m:r>
                    </m:sup>
                  </m:sSup>
                  <m:r>
                    <m:rPr>
                      <m:sty m:val="p"/>
                    </m:rPr>
                    <a:rPr lang="en-US" b="0" i="0" sz="2600">
                      <a:solidFill>
                        <a:srgbClr val="0B2B4E"/>
                      </a:solidFill>
                      <a:latin typeface="Cambria Math"/>
                    </a:rPr>
                    <m:t xml:space="preserve"> = 187.5</m:t>
                  </m:r>
                </m:oMath>
              </m:oMathPara>
            </a14:m>
            <a:endParaRPr lang="en-US" sz="2600"/>
          </a:p>
        </p:txBody>
      </p:sp>
      <p:sp>
        <p:nvSpPr>
          <p:cNvPr id="9" name="TextBox 8"/>
          <p:cNvSpPr txBox="1"/>
          <p:nvPr/>
        </p:nvSpPr>
        <p:spPr>
          <a:xfrm>
            <a:off x="1417320" y="3264408"/>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TR</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210 · 187.5 = 39,375</m:t>
                  </m:r>
                </m:oMath>
              </m:oMathPara>
            </a14:m>
            <a:endParaRPr lang="en-US" sz="2600"/>
          </a:p>
        </p:txBody>
      </p:sp>
      <p:sp>
        <p:nvSpPr>
          <p:cNvPr id="10" name="TextBox 9"/>
          <p:cNvSpPr txBox="1"/>
          <p:nvPr/>
        </p:nvSpPr>
        <p:spPr>
          <a:xfrm>
            <a:off x="1417320" y="4050792"/>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r>
                    <m:rPr>
                      <m:sty m:val="p"/>
                    </m:rPr>
                    <a:rPr lang="en-US" b="0" i="0" sz="2400">
                      <a:solidFill>
                        <a:srgbClr val="0B2B4E"/>
                      </a:solidFill>
                      <a:latin typeface="Cambria Math"/>
                    </a:rPr>
                    <m:t xml:space="preserve">TC</m:t>
                  </m:r>
                  <m:r>
                    <m:rPr>
                      <m:sty m:val="p"/>
                    </m:rPr>
                    <a:rPr lang="en-US" b="0" i="0" sz="2400">
                      <a:solidFill>
                        <a:srgbClr val="0B2B4E"/>
                      </a:solidFill>
                      <a:latin typeface="Cambria Math"/>
                    </a:rPr>
                    <m:t xml:space="preserve"> = 60,000 + 135 · 187.5 + 0.2 · </m:t>
                  </m:r>
                  <m:sSup>
                    <m:sSupPr>
                      <m:ctrlPr>
                        <a:rPr lang="en-US" i="1">
                          <a:latin typeface="Cambria Math"/>
                        </a:rPr>
                      </m:ctrlPr>
                    </m:sSupPr>
                    <m:e>
                      <m:r>
                        <m:rPr>
                          <m:sty m:val="p"/>
                        </m:rPr>
                        <a:rPr lang="en-US" b="0" i="0" sz="2400">
                          <a:solidFill>
                            <a:srgbClr val="0B2B4E"/>
                          </a:solidFill>
                          <a:latin typeface="Cambria Math"/>
                        </a:rPr>
                        <m:t xml:space="preserve">187.5</m:t>
                      </m:r>
                    </m:e>
                    <m:sup>
                      <m:r>
                        <m:rPr>
                          <m:sty m:val="p"/>
                        </m:rPr>
                        <a:rPr lang="en-US" b="0" i="0" sz="2400">
                          <a:solidFill>
                            <a:srgbClr val="0B2B4E"/>
                          </a:solidFill>
                          <a:latin typeface="Cambria Math"/>
                        </a:rPr>
                        <m:t xml:space="preserve">2</m:t>
                      </m:r>
                    </m:sup>
                  </m:sSup>
                  <m:r>
                    <m:rPr>
                      <m:sty m:val="p"/>
                    </m:rPr>
                    <a:rPr lang="en-US" b="0" i="0" sz="2400">
                      <a:solidFill>
                        <a:srgbClr val="0B2B4E"/>
                      </a:solidFill>
                      <a:latin typeface="Cambria Math"/>
                    </a:rPr>
                    <m:t xml:space="preserve"> = 92,343.75</m:t>
                  </m:r>
                </m:oMath>
              </m:oMathPara>
            </a14:m>
            <a:endParaRPr lang="en-US" sz="2400"/>
          </a:p>
        </p:txBody>
      </p:sp>
      <p:sp>
        <p:nvSpPr>
          <p:cNvPr id="11" name="TextBox 10"/>
          <p:cNvSpPr txBox="1"/>
          <p:nvPr/>
        </p:nvSpPr>
        <p:spPr>
          <a:xfrm>
            <a:off x="1417320" y="4837176"/>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A2162A"/>
                </a:solidFill>
                <a:latin typeface="Cambria Math"/>
              </a:defRPr>
            </a:pPr>
            <a14:m>
              <m:oMathPara>
                <m:oMathParaPr>
                  <m:jc m:val="centerGroup"/>
                </m:oMathParaPr>
                <m:oMath>
                  <m:r>
                    <m:rPr>
                      <m:sty m:val="p"/>
                    </m:rPr>
                    <a:rPr lang="en-US" b="0" i="0" sz="2800">
                      <a:solidFill>
                        <a:srgbClr val="A2162A"/>
                      </a:solidFill>
                      <a:latin typeface="Cambria Math"/>
                    </a:rPr>
                    <m:t xml:space="preserve">Profit</m:t>
                  </m:r>
                  <m:r>
                    <m:rPr>
                      <m:sty m:val="p"/>
                    </m:rPr>
                    <a:rPr lang="en-US" b="0" i="0" sz="2800">
                      <a:solidFill>
                        <a:srgbClr val="A2162A"/>
                      </a:solidFill>
                      <a:latin typeface="Cambria Math"/>
                    </a:rPr>
                    <m:t xml:space="preserve"> = 39,375 − 92,343.75 = −52,968.75</m:t>
                  </m:r>
                </m:oMath>
              </m:oMathPara>
            </a14:m>
            <a:endParaRPr lang="en-US" sz="2800"/>
          </a:p>
        </p:txBody>
      </p:sp>
      <p:sp>
        <p:nvSpPr>
          <p:cNvPr id="12" name="Rounded Rectangle 11"/>
          <p:cNvSpPr/>
          <p:nvPr/>
        </p:nvSpPr>
        <p:spPr>
          <a:xfrm>
            <a:off x="685800" y="5687568"/>
            <a:ext cx="841248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At the new price the Yi family makes a LOSS at its best output level</a:t>
            </a:r>
          </a:p>
        </p:txBody>
      </p:sp>
      <p:sp>
        <p:nvSpPr>
          <p:cNvPr id="13" name="Rounded Rectangle 12"/>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FA77B120-AE11-5A98-8297-21B9F13CAFCC}" type="slidenum">
              <a:rPr lang="en-US" sz="1200" dirty="0">
                <a:solidFill>
                  <a:srgbClr val="555B66"/>
                </a:solidFill>
                <a:latin typeface="Calibri"/>
              </a:rPr>
              <a:t>33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Decision to Operate: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481328"/>
            <a:ext cx="11338560" cy="118872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Compare the two options directly</a:t>
            </a:r>
          </a:p>
          <a:p>
            <a:pPr algn="l" lvl="1"/>
            <a:r>
              <a:rPr>
                <a:latin typeface="Calibri"/>
              </a:rPr>
              <a:t>Operating: loss of 52,968.75</a:t>
            </a:r>
          </a:p>
          <a:p>
            <a:pPr algn="l" lvl="1"/>
            <a:r>
              <a:rPr>
                <a:latin typeface="Calibri"/>
              </a:rPr>
              <a:t>Shutting down: loss of 60,000, the whole of TFC</a:t>
            </a:r>
          </a:p>
        </p:txBody>
      </p:sp>
      <p:sp>
        <p:nvSpPr>
          <p:cNvPr id="8" name="TextBox 7"/>
          <p:cNvSpPr txBox="1"/>
          <p:nvPr/>
        </p:nvSpPr>
        <p:spPr>
          <a:xfrm>
            <a:off x="389159" y="2788920"/>
            <a:ext cx="11338560" cy="365760"/>
          </a:xfrm>
          <a:prstGeom prst="rect">
            <a:avLst/>
          </a:prstGeom>
          <a:noFill/>
        </p:spPr>
        <p:txBody>
          <a:bodyPr wrap="square" lIns="0" rIns="0" tIns="0" bIns="0">
            <a:spAutoFit/>
          </a:bodyPr>
          <a:lstStyle/>
          <a:p>
            <a:pPr algn="l"/>
            <a:r>
              <a:rPr sz="2400" b="0" i="0" u="none">
                <a:solidFill>
                  <a:srgbClr val="0B2B4E"/>
                </a:solidFill>
                <a:latin typeface="Calibri"/>
              </a:rPr>
              <a:t>Or check the rule directly:</a:t>
            </a:r>
          </a:p>
        </p:txBody>
      </p:sp>
      <p:sp>
        <p:nvSpPr>
          <p:cNvPr id="9" name="TextBox 8"/>
          <p:cNvSpPr txBox="1"/>
          <p:nvPr/>
        </p:nvSpPr>
        <p:spPr>
          <a:xfrm>
            <a:off x="1417320" y="3246120"/>
            <a:ext cx="9418320" cy="91440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AVC</m:t>
                  </m:r>
                  <m:r>
                    <m:rPr>
                      <m:sty m:val="p"/>
                    </m:rPr>
                    <a:rPr lang="en-US" b="0" i="0" sz="2600">
                      <a:solidFill>
                        <a:srgbClr val="0B2B4E"/>
                      </a:solidFill>
                      <a:latin typeface="Cambria Math"/>
                    </a:rPr>
                    <m:t xml:space="preserve"> = </m:t>
                  </m:r>
                  <m:f>
                    <m:fPr>
                      <m:ctrlPr>
                        <a:rPr lang="en-US" i="1">
                          <a:latin typeface="Cambria Math"/>
                        </a:rPr>
                      </m:ctrlPr>
                    </m:fPr>
                    <m:num>
                      <m:r>
                        <m:rPr>
                          <m:sty m:val="p"/>
                        </m:rPr>
                        <a:rPr lang="en-US" b="0" i="0" sz="2600">
                          <a:solidFill>
                            <a:srgbClr val="0B2B4E"/>
                          </a:solidFill>
                          <a:latin typeface="Cambria Math"/>
                        </a:rPr>
                        <m:t xml:space="preserve">135</m:t>
                      </m:r>
                      <m:r>
                        <a:rPr lang="en-US" b="0" i="1" sz="2600">
                          <a:solidFill>
                            <a:srgbClr val="0B2B4E"/>
                          </a:solidFill>
                          <a:latin typeface="Cambria Math"/>
                          <a:ea typeface="Cambria Math"/>
                        </a:rPr>
                        <m:t>Q</m:t>
                      </m:r>
                      <m:r>
                        <m:rPr>
                          <m:sty m:val="p"/>
                        </m:rPr>
                        <a:rPr lang="en-US" b="0" i="0" sz="2600">
                          <a:solidFill>
                            <a:srgbClr val="0B2B4E"/>
                          </a:solidFill>
                          <a:latin typeface="Cambria Math"/>
                        </a:rPr>
                        <m:t xml:space="preserve"> + 0.2</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2</m:t>
                          </m:r>
                        </m:sup>
                      </m:sSup>
                    </m:num>
                    <m:den>
                      <m:r>
                        <a:rPr lang="en-US" b="0" i="1" sz="2600">
                          <a:solidFill>
                            <a:srgbClr val="0B2B4E"/>
                          </a:solidFill>
                          <a:latin typeface="Cambria Math"/>
                          <a:ea typeface="Cambria Math"/>
                        </a:rPr>
                        <m:t>Q</m:t>
                      </m:r>
                    </m:den>
                  </m:f>
                  <m:r>
                    <m:rPr>
                      <m:sty m:val="p"/>
                    </m:rPr>
                    <a:rPr lang="en-US" b="0" i="0" sz="2600">
                      <a:solidFill>
                        <a:srgbClr val="0B2B4E"/>
                      </a:solidFill>
                      <a:latin typeface="Cambria Math"/>
                    </a:rPr>
                    <m:t xml:space="preserve"> = </m:t>
                  </m:r>
                  <m:r>
                    <m:rPr>
                      <m:sty m:val="p"/>
                    </m:rPr>
                    <a:rPr lang="en-US" b="0" i="0" sz="2600">
                      <a:solidFill>
                        <a:srgbClr val="0B2B4E"/>
                      </a:solidFill>
                      <a:latin typeface="Cambria Math"/>
                    </a:rPr>
                    <m:t xml:space="preserve">135 + 0.2</m:t>
                  </m:r>
                  <m:r>
                    <a:rPr lang="en-US" b="0" i="1" sz="2600">
                      <a:solidFill>
                        <a:srgbClr val="0B2B4E"/>
                      </a:solidFill>
                      <a:latin typeface="Cambria Math"/>
                      <a:ea typeface="Cambria Math"/>
                    </a:rPr>
                    <m:t>Q</m:t>
                  </m:r>
                </m:oMath>
              </m:oMathPara>
            </a14:m>
            <a:endParaRPr lang="en-US" sz="2600"/>
          </a:p>
        </p:txBody>
      </p:sp>
      <p:sp>
        <p:nvSpPr>
          <p:cNvPr id="10" name="TextBox 9"/>
          <p:cNvSpPr txBox="1"/>
          <p:nvPr/>
        </p:nvSpPr>
        <p:spPr>
          <a:xfrm>
            <a:off x="1417320" y="4297680"/>
            <a:ext cx="9418320"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AVC</m:t>
                  </m:r>
                  <m:r>
                    <m:rPr>
                      <m:sty m:val="p"/>
                    </m:rPr>
                    <a:rPr lang="en-US" b="0" i="0" sz="2600">
                      <a:solidFill>
                        <a:srgbClr val="0B2B4E"/>
                      </a:solidFill>
                      <a:latin typeface="Cambria Math"/>
                    </a:rPr>
                    <m:t xml:space="preserve"> at </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m:t>
                      </m:r>
                    </m:sup>
                  </m:sSup>
                  <m:r>
                    <m:rPr>
                      <m:sty m:val="p"/>
                    </m:rPr>
                    <a:rPr lang="en-US" b="0" i="0" sz="2600">
                      <a:solidFill>
                        <a:srgbClr val="0B2B4E"/>
                      </a:solidFill>
                      <a:latin typeface="Cambria Math"/>
                    </a:rPr>
                    <m:t xml:space="preserve"> = 187.5  is  135 + 37.5 = 172.5</m:t>
                  </m:r>
                </m:oMath>
              </m:oMathPara>
            </a14:m>
            <a:endParaRPr lang="en-US" sz="2600"/>
          </a:p>
        </p:txBody>
      </p:sp>
      <p:sp>
        <p:nvSpPr>
          <p:cNvPr id="11" name="TextBox 10"/>
          <p:cNvSpPr txBox="1"/>
          <p:nvPr/>
        </p:nvSpPr>
        <p:spPr>
          <a:xfrm>
            <a:off x="1417320" y="4983480"/>
            <a:ext cx="9418320" cy="68580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A2162A"/>
                </a:solidFill>
                <a:latin typeface="Cambria Math"/>
              </a:defRPr>
            </a:pPr>
            <a14:m>
              <m:oMathPara>
                <m:oMathParaPr>
                  <m:jc m:val="centerGroup"/>
                </m:oMathParaPr>
                <m:oMath>
                  <m:r>
                    <a:rPr lang="en-US" b="0" i="1" sz="2800">
                      <a:solidFill>
                        <a:srgbClr val="A2162A"/>
                      </a:solidFill>
                      <a:latin typeface="Cambria Math"/>
                      <a:ea typeface="Cambria Math"/>
                    </a:rPr>
                    <m:t>P</m:t>
                  </m:r>
                  <m:r>
                    <m:rPr>
                      <m:sty m:val="p"/>
                    </m:rPr>
                    <a:rPr lang="en-US" b="0" i="0" sz="2800">
                      <a:solidFill>
                        <a:srgbClr val="A2162A"/>
                      </a:solidFill>
                      <a:latin typeface="Cambria Math"/>
                    </a:rPr>
                    <m:t xml:space="preserve"> = 210  &gt;  </m:t>
                  </m:r>
                  <m:r>
                    <m:rPr>
                      <m:sty m:val="p"/>
                    </m:rPr>
                    <a:rPr lang="en-US" b="0" i="0" sz="2800">
                      <a:solidFill>
                        <a:srgbClr val="A2162A"/>
                      </a:solidFill>
                      <a:latin typeface="Cambria Math"/>
                    </a:rPr>
                    <m:t xml:space="preserve">AVC</m:t>
                  </m:r>
                  <m:r>
                    <m:rPr>
                      <m:sty m:val="p"/>
                    </m:rPr>
                    <a:rPr lang="en-US" b="0" i="0" sz="2800">
                      <a:solidFill>
                        <a:srgbClr val="A2162A"/>
                      </a:solidFill>
                      <a:latin typeface="Cambria Math"/>
                    </a:rPr>
                    <m:t xml:space="preserve"> = 172.5</m:t>
                  </m:r>
                </m:oMath>
              </m:oMathPara>
            </a14:m>
            <a:endParaRPr lang="en-US" sz="2800"/>
          </a:p>
        </p:txBody>
      </p:sp>
      <p:sp>
        <p:nvSpPr>
          <p:cNvPr id="12" name="Rounded Rectangle 11"/>
          <p:cNvSpPr/>
          <p:nvPr/>
        </p:nvSpPr>
        <p:spPr>
          <a:xfrm>
            <a:off x="1417320" y="5715000"/>
            <a:ext cx="585216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Keep operating in the short run</a:t>
            </a:r>
          </a:p>
        </p:txBody>
      </p:sp>
      <p:sp>
        <p:nvSpPr>
          <p:cNvPr id="13" name="Rounded Rectangle 12"/>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EEE26DBA-C36C-5B3F-8E1B-6361AB288404}" type="slidenum">
              <a:rPr lang="en-US" sz="1200" dirty="0">
                <a:solidFill>
                  <a:srgbClr val="555B66"/>
                </a:solidFill>
                <a:latin typeface="Calibri"/>
              </a:rPr>
              <a:t>34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High Price: Positive Profits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17320" y="1755647"/>
            <a:ext cx="0" cy="35935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5349240"/>
            <a:ext cx="68397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1353311"/>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0" name="TextBox 9"/>
          <p:cNvSpPr txBox="1"/>
          <p:nvPr/>
        </p:nvSpPr>
        <p:spPr>
          <a:xfrm>
            <a:off x="7726679" y="5440679"/>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1" name="Rectangle 10"/>
          <p:cNvSpPr/>
          <p:nvPr/>
        </p:nvSpPr>
        <p:spPr>
          <a:xfrm>
            <a:off x="1417320" y="2642134"/>
            <a:ext cx="4537889" cy="661898"/>
          </a:xfrm>
          <a:prstGeom prst="rect">
            <a:avLst/>
          </a:pr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45850" y="1925301"/>
            <a:ext cx="2623477" cy="2665949"/>
          </a:xfrm>
          <a:custGeom>
            <a:avLst/>
            <a:gdLst/>
            <a:ahLst/>
            <a:cxnLst/>
            <a:rect l="0" t="0" r="r" b="b"/>
            <a:pathLst>
              <a:path w="2623477" h="2665949">
                <a:moveTo>
                  <a:pt x="0" y="2665949"/>
                </a:moveTo>
                <a:cubicBezTo>
                  <a:pt x="109311" y="2624453"/>
                  <a:pt x="437246" y="2546358"/>
                  <a:pt x="655869" y="2416977"/>
                </a:cubicBezTo>
                <a:cubicBezTo>
                  <a:pt x="874492" y="2287595"/>
                  <a:pt x="1093114" y="2111824"/>
                  <a:pt x="1311738" y="1889662"/>
                </a:cubicBezTo>
                <a:cubicBezTo>
                  <a:pt x="1530361" y="1667499"/>
                  <a:pt x="1748984" y="1398946"/>
                  <a:pt x="1967608" y="1084003"/>
                </a:cubicBezTo>
                <a:cubicBezTo>
                  <a:pt x="2186231" y="769059"/>
                  <a:pt x="2514165" y="180667"/>
                  <a:pt x="2623477"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5850" y="2757637"/>
            <a:ext cx="3104707" cy="594360"/>
          </a:xfrm>
          <a:custGeom>
            <a:avLst/>
            <a:gdLst/>
            <a:ahLst/>
            <a:cxnLst/>
            <a:rect l="0" t="0" r="r" b="b"/>
            <a:pathLst>
              <a:path w="3104707" h="594360">
                <a:moveTo>
                  <a:pt x="0" y="0"/>
                </a:moveTo>
                <a:cubicBezTo>
                  <a:pt x="129362" y="70986"/>
                  <a:pt x="517450" y="329665"/>
                  <a:pt x="776176" y="425918"/>
                </a:cubicBezTo>
                <a:cubicBezTo>
                  <a:pt x="1034901" y="522170"/>
                  <a:pt x="1293627" y="560671"/>
                  <a:pt x="1552353" y="577516"/>
                </a:cubicBezTo>
                <a:cubicBezTo>
                  <a:pt x="1811078" y="594360"/>
                  <a:pt x="2069804" y="572360"/>
                  <a:pt x="2328530" y="526984"/>
                </a:cubicBezTo>
                <a:cubicBezTo>
                  <a:pt x="2587255" y="481607"/>
                  <a:pt x="2975344" y="342213"/>
                  <a:pt x="3104707" y="305259"/>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45850" y="3922703"/>
            <a:ext cx="2561383" cy="347958"/>
          </a:xfrm>
          <a:custGeom>
            <a:avLst/>
            <a:gdLst/>
            <a:ahLst/>
            <a:cxnLst/>
            <a:rect l="0" t="0" r="r" b="b"/>
            <a:pathLst>
              <a:path w="2561383" h="347958">
                <a:moveTo>
                  <a:pt x="0" y="278724"/>
                </a:moveTo>
                <a:cubicBezTo>
                  <a:pt x="106724" y="289220"/>
                  <a:pt x="426897" y="335451"/>
                  <a:pt x="640346" y="341705"/>
                </a:cubicBezTo>
                <a:cubicBezTo>
                  <a:pt x="853794" y="347958"/>
                  <a:pt x="1067242" y="339471"/>
                  <a:pt x="1280691" y="316244"/>
                </a:cubicBezTo>
                <a:cubicBezTo>
                  <a:pt x="1494139" y="293017"/>
                  <a:pt x="1707588" y="255050"/>
                  <a:pt x="1921037" y="202343"/>
                </a:cubicBezTo>
                <a:cubicBezTo>
                  <a:pt x="2134485" y="149635"/>
                  <a:pt x="2454658" y="33723"/>
                  <a:pt x="2561383"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417320" y="2642134"/>
            <a:ext cx="554966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955209" y="2642134"/>
            <a:ext cx="0" cy="2707106"/>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98009" y="5404103"/>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18" name="TextBox 17"/>
          <p:cNvSpPr txBox="1"/>
          <p:nvPr/>
        </p:nvSpPr>
        <p:spPr>
          <a:xfrm>
            <a:off x="475488" y="2504974"/>
            <a:ext cx="868680" cy="274320"/>
          </a:xfrm>
          <a:prstGeom prst="rect">
            <a:avLst/>
          </a:prstGeom>
          <a:noFill/>
        </p:spPr>
        <p:txBody>
          <a:bodyPr wrap="square" lIns="0" rIns="0" tIns="0" bIns="0">
            <a:spAutoFit/>
          </a:bodyPr>
          <a:lstStyle/>
          <a:p>
            <a:pPr algn="r"/>
            <a:r>
              <a:rPr sz="1700" b="1" i="1" u="none">
                <a:solidFill>
                  <a:srgbClr val="0B2B4E"/>
                </a:solidFill>
                <a:latin typeface="Calibri"/>
              </a:rPr>
              <a:t>P high</a:t>
            </a:r>
          </a:p>
        </p:txBody>
      </p:sp>
      <p:sp>
        <p:nvSpPr>
          <p:cNvPr id="19" name="TextBox 18"/>
          <p:cNvSpPr txBox="1"/>
          <p:nvPr/>
        </p:nvSpPr>
        <p:spPr>
          <a:xfrm>
            <a:off x="6020048" y="1544382"/>
            <a:ext cx="822960" cy="292608"/>
          </a:xfrm>
          <a:prstGeom prst="rect">
            <a:avLst/>
          </a:prstGeom>
          <a:noFill/>
        </p:spPr>
        <p:txBody>
          <a:bodyPr wrap="square" lIns="0" rIns="0" tIns="0" bIns="0">
            <a:spAutoFit/>
          </a:bodyPr>
          <a:lstStyle/>
          <a:p>
            <a:pPr algn="l"/>
            <a:r>
              <a:rPr sz="1800" b="1" i="1" u="none">
                <a:solidFill>
                  <a:srgbClr val="0B2B4E"/>
                </a:solidFill>
                <a:latin typeface="Calibri"/>
              </a:rPr>
              <a:t>MC</a:t>
            </a:r>
          </a:p>
        </p:txBody>
      </p:sp>
      <p:sp>
        <p:nvSpPr>
          <p:cNvPr id="20" name="TextBox 19"/>
          <p:cNvSpPr txBox="1"/>
          <p:nvPr/>
        </p:nvSpPr>
        <p:spPr>
          <a:xfrm>
            <a:off x="7005792" y="2772213"/>
            <a:ext cx="822960" cy="292608"/>
          </a:xfrm>
          <a:prstGeom prst="rect">
            <a:avLst/>
          </a:prstGeom>
          <a:noFill/>
        </p:spPr>
        <p:txBody>
          <a:bodyPr wrap="square" lIns="0" rIns="0" tIns="0" bIns="0">
            <a:spAutoFit/>
          </a:bodyPr>
          <a:lstStyle/>
          <a:p>
            <a:pPr algn="l"/>
            <a:r>
              <a:rPr sz="1800" b="1" i="1" u="none">
                <a:solidFill>
                  <a:srgbClr val="E09F3E"/>
                </a:solidFill>
                <a:latin typeface="Calibri"/>
              </a:rPr>
              <a:t>ATC</a:t>
            </a:r>
          </a:p>
        </p:txBody>
      </p:sp>
      <p:sp>
        <p:nvSpPr>
          <p:cNvPr id="21" name="TextBox 20"/>
          <p:cNvSpPr txBox="1"/>
          <p:nvPr/>
        </p:nvSpPr>
        <p:spPr>
          <a:xfrm>
            <a:off x="6462468" y="3920778"/>
            <a:ext cx="822960" cy="292608"/>
          </a:xfrm>
          <a:prstGeom prst="rect">
            <a:avLst/>
          </a:prstGeom>
          <a:noFill/>
        </p:spPr>
        <p:txBody>
          <a:bodyPr wrap="square" lIns="0" rIns="0" tIns="0" bIns="0">
            <a:spAutoFit/>
          </a:bodyPr>
          <a:lstStyle/>
          <a:p>
            <a:pPr algn="l"/>
            <a:r>
              <a:rPr sz="1800" b="1" i="1" u="none">
                <a:solidFill>
                  <a:srgbClr val="555B66"/>
                </a:solidFill>
                <a:latin typeface="Calibri"/>
              </a:rPr>
              <a:t>AVC</a:t>
            </a:r>
          </a:p>
        </p:txBody>
      </p:sp>
      <p:sp>
        <p:nvSpPr>
          <p:cNvPr id="22" name="TextBox 21"/>
          <p:cNvSpPr txBox="1"/>
          <p:nvPr/>
        </p:nvSpPr>
        <p:spPr>
          <a:xfrm>
            <a:off x="8503920" y="2148840"/>
            <a:ext cx="3291840" cy="566928"/>
          </a:xfrm>
          <a:prstGeom prst="rect">
            <a:avLst/>
          </a:prstGeom>
          <a:noFill/>
        </p:spPr>
        <p:txBody>
          <a:bodyPr wrap="square" lIns="0" rIns="0" tIns="0" bIns="0">
            <a:spAutoFit/>
          </a:bodyPr>
          <a:lstStyle/>
          <a:p>
            <a:pPr algn="l"/>
            <a:r>
              <a:rPr sz="2100" b="1" i="0" u="none">
                <a:solidFill>
                  <a:srgbClr val="0B2B4E"/>
                </a:solidFill>
                <a:latin typeface="Calibri"/>
              </a:rPr>
              <a:t>Profit</a:t>
            </a:r>
          </a:p>
        </p:txBody>
      </p:sp>
      <p:grpSp>
        <p:nvGrpSpPr>
          <p:cNvPr id="128" name="Group pair 128"/>
          <p:cNvGrpSpPr/>
          <p:nvPr/>
        </p:nvGrpSpPr>
        <p:grpSpPr>
          <a:xfrm>
            <a:off x="8503920" y="3246120"/>
            <a:ext cx="3291840" cy="1920240"/>
            <a:chOff x="8503920" y="3246120"/>
            <a:chExt cx="3291840" cy="1920240"/>
          </a:xfrm>
        </p:grpSpPr>
        <p:sp>
          <p:nvSpPr>
            <p:cNvPr id="23" name="Rounded Rectangle 22"/>
            <p:cNvSpPr/>
            <p:nvPr/>
          </p:nvSpPr>
          <p:spPr>
            <a:xfrm>
              <a:off x="8503920" y="3246120"/>
              <a:ext cx="3291840" cy="19202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0" y="3355848"/>
              <a:ext cx="2926080" cy="1700784"/>
            </a:xfrm>
            <a:prstGeom prst="rect">
              <a:avLst/>
            </a:prstGeom>
            <a:noFill/>
          </p:spPr>
          <p:txBody>
            <a:bodyPr wrap="square" lIns="45720" rIns="45720" tIns="0" bIns="0" anchor="ctr">
              <a:spAutoFit/>
            </a:bodyPr>
            <a:lstStyle/>
            <a:p>
              <a:pPr algn="l"/>
              <a:r>
                <a:rPr sz="1700" b="0" i="0" u="none">
                  <a:solidFill>
                    <a:srgbClr val="0B2B4E"/>
                  </a:solidFill>
                  <a:latin typeface="Calibri"/>
                </a:rPr>
                <a:t>Optimal output is where MC = MR = P.  At that output the firm earns positive economic profits, because P &gt; ATC.</a:t>
              </a:r>
            </a:p>
          </p:txBody>
        </p:sp>
      </p:gr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8D8E8DC1-E83C-550A-90CE-5A4FE1AC3CB9}" type="slidenum">
              <a:rPr lang="en-US" sz="1200" dirty="0">
                <a:solidFill>
                  <a:srgbClr val="555B66"/>
                </a:solidFill>
                <a:latin typeface="Calibri"/>
              </a:rPr>
              <a:t>35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8"/>
                                        </p:tgtEl>
                                        <p:attrNameLst>
                                          <p:attrName>style.visibility</p:attrName>
                                        </p:attrNameLst>
                                      </p:cBhvr>
                                      <p:to>
                                        <p:strVal val="visible"/>
                                      </p:to>
                                    </p:set>
                                    <p:animEffect transition="in" filter="fade">
                                      <p:cBhvr>
                                        <p:cTn id="5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Low Price: Operating at a Loss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17320" y="1755647"/>
            <a:ext cx="0" cy="35935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5349240"/>
            <a:ext cx="68397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1353311"/>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0" name="TextBox 9"/>
          <p:cNvSpPr txBox="1"/>
          <p:nvPr/>
        </p:nvSpPr>
        <p:spPr>
          <a:xfrm>
            <a:off x="7726679" y="5440679"/>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1" name="Rectangle 10"/>
          <p:cNvSpPr/>
          <p:nvPr/>
        </p:nvSpPr>
        <p:spPr>
          <a:xfrm>
            <a:off x="1417320" y="3297748"/>
            <a:ext cx="3548544" cy="607702"/>
          </a:xfrm>
          <a:prstGeom prst="rect">
            <a:avLst/>
          </a:pr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45850" y="1925301"/>
            <a:ext cx="2623477" cy="2665949"/>
          </a:xfrm>
          <a:custGeom>
            <a:avLst/>
            <a:gdLst/>
            <a:ahLst/>
            <a:cxnLst/>
            <a:rect l="0" t="0" r="r" b="b"/>
            <a:pathLst>
              <a:path w="2623477" h="2665949">
                <a:moveTo>
                  <a:pt x="0" y="2665949"/>
                </a:moveTo>
                <a:cubicBezTo>
                  <a:pt x="109311" y="2624453"/>
                  <a:pt x="437246" y="2546358"/>
                  <a:pt x="655869" y="2416977"/>
                </a:cubicBezTo>
                <a:cubicBezTo>
                  <a:pt x="874492" y="2287595"/>
                  <a:pt x="1093114" y="2111824"/>
                  <a:pt x="1311738" y="1889662"/>
                </a:cubicBezTo>
                <a:cubicBezTo>
                  <a:pt x="1530361" y="1667499"/>
                  <a:pt x="1748984" y="1398946"/>
                  <a:pt x="1967608" y="1084003"/>
                </a:cubicBezTo>
                <a:cubicBezTo>
                  <a:pt x="2186231" y="769059"/>
                  <a:pt x="2514165" y="180667"/>
                  <a:pt x="2623477"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5850" y="2757637"/>
            <a:ext cx="3104707" cy="594360"/>
          </a:xfrm>
          <a:custGeom>
            <a:avLst/>
            <a:gdLst/>
            <a:ahLst/>
            <a:cxnLst/>
            <a:rect l="0" t="0" r="r" b="b"/>
            <a:pathLst>
              <a:path w="3104707" h="594360">
                <a:moveTo>
                  <a:pt x="0" y="0"/>
                </a:moveTo>
                <a:cubicBezTo>
                  <a:pt x="129362" y="70986"/>
                  <a:pt x="517450" y="329665"/>
                  <a:pt x="776176" y="425918"/>
                </a:cubicBezTo>
                <a:cubicBezTo>
                  <a:pt x="1034901" y="522170"/>
                  <a:pt x="1293627" y="560671"/>
                  <a:pt x="1552353" y="577516"/>
                </a:cubicBezTo>
                <a:cubicBezTo>
                  <a:pt x="1811078" y="594360"/>
                  <a:pt x="2069804" y="572360"/>
                  <a:pt x="2328530" y="526984"/>
                </a:cubicBezTo>
                <a:cubicBezTo>
                  <a:pt x="2587255" y="481607"/>
                  <a:pt x="2975344" y="342213"/>
                  <a:pt x="3104707" y="305259"/>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45850" y="3922703"/>
            <a:ext cx="2561383" cy="347958"/>
          </a:xfrm>
          <a:custGeom>
            <a:avLst/>
            <a:gdLst/>
            <a:ahLst/>
            <a:cxnLst/>
            <a:rect l="0" t="0" r="r" b="b"/>
            <a:pathLst>
              <a:path w="2561383" h="347958">
                <a:moveTo>
                  <a:pt x="0" y="278724"/>
                </a:moveTo>
                <a:cubicBezTo>
                  <a:pt x="106724" y="289220"/>
                  <a:pt x="426897" y="335451"/>
                  <a:pt x="640346" y="341705"/>
                </a:cubicBezTo>
                <a:cubicBezTo>
                  <a:pt x="853794" y="347958"/>
                  <a:pt x="1067242" y="339471"/>
                  <a:pt x="1280691" y="316244"/>
                </a:cubicBezTo>
                <a:cubicBezTo>
                  <a:pt x="1494139" y="293017"/>
                  <a:pt x="1707588" y="255050"/>
                  <a:pt x="1921037" y="202343"/>
                </a:cubicBezTo>
                <a:cubicBezTo>
                  <a:pt x="2134485" y="149635"/>
                  <a:pt x="2454658" y="33723"/>
                  <a:pt x="2561383"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417320" y="3905450"/>
            <a:ext cx="554966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965864" y="3905450"/>
            <a:ext cx="0" cy="144379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08664" y="5404103"/>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18" name="TextBox 17"/>
          <p:cNvSpPr txBox="1"/>
          <p:nvPr/>
        </p:nvSpPr>
        <p:spPr>
          <a:xfrm>
            <a:off x="475488" y="3768290"/>
            <a:ext cx="868680" cy="274320"/>
          </a:xfrm>
          <a:prstGeom prst="rect">
            <a:avLst/>
          </a:prstGeom>
          <a:noFill/>
        </p:spPr>
        <p:txBody>
          <a:bodyPr wrap="square" lIns="0" rIns="0" tIns="0" bIns="0">
            <a:spAutoFit/>
          </a:bodyPr>
          <a:lstStyle/>
          <a:p>
            <a:pPr algn="r"/>
            <a:r>
              <a:rPr sz="1700" b="1" i="1" u="none">
                <a:solidFill>
                  <a:srgbClr val="0B2B4E"/>
                </a:solidFill>
                <a:latin typeface="Calibri"/>
              </a:rPr>
              <a:t>P low</a:t>
            </a:r>
          </a:p>
        </p:txBody>
      </p:sp>
      <p:sp>
        <p:nvSpPr>
          <p:cNvPr id="19" name="TextBox 18"/>
          <p:cNvSpPr txBox="1"/>
          <p:nvPr/>
        </p:nvSpPr>
        <p:spPr>
          <a:xfrm>
            <a:off x="6020048" y="1544382"/>
            <a:ext cx="822960" cy="292608"/>
          </a:xfrm>
          <a:prstGeom prst="rect">
            <a:avLst/>
          </a:prstGeom>
          <a:noFill/>
        </p:spPr>
        <p:txBody>
          <a:bodyPr wrap="square" lIns="0" rIns="0" tIns="0" bIns="0">
            <a:spAutoFit/>
          </a:bodyPr>
          <a:lstStyle/>
          <a:p>
            <a:pPr algn="l"/>
            <a:r>
              <a:rPr sz="1800" b="1" i="1" u="none">
                <a:solidFill>
                  <a:srgbClr val="0B2B4E"/>
                </a:solidFill>
                <a:latin typeface="Calibri"/>
              </a:rPr>
              <a:t>MC</a:t>
            </a:r>
          </a:p>
        </p:txBody>
      </p:sp>
      <p:sp>
        <p:nvSpPr>
          <p:cNvPr id="20" name="TextBox 19"/>
          <p:cNvSpPr txBox="1"/>
          <p:nvPr/>
        </p:nvSpPr>
        <p:spPr>
          <a:xfrm>
            <a:off x="7005792" y="2772213"/>
            <a:ext cx="822960" cy="292608"/>
          </a:xfrm>
          <a:prstGeom prst="rect">
            <a:avLst/>
          </a:prstGeom>
          <a:noFill/>
        </p:spPr>
        <p:txBody>
          <a:bodyPr wrap="square" lIns="0" rIns="0" tIns="0" bIns="0">
            <a:spAutoFit/>
          </a:bodyPr>
          <a:lstStyle/>
          <a:p>
            <a:pPr algn="l"/>
            <a:r>
              <a:rPr sz="1800" b="1" i="1" u="none">
                <a:solidFill>
                  <a:srgbClr val="E09F3E"/>
                </a:solidFill>
                <a:latin typeface="Calibri"/>
              </a:rPr>
              <a:t>ATC</a:t>
            </a:r>
          </a:p>
        </p:txBody>
      </p:sp>
      <p:sp>
        <p:nvSpPr>
          <p:cNvPr id="21" name="TextBox 20"/>
          <p:cNvSpPr txBox="1"/>
          <p:nvPr/>
        </p:nvSpPr>
        <p:spPr>
          <a:xfrm>
            <a:off x="6462468" y="4155394"/>
            <a:ext cx="822960" cy="292608"/>
          </a:xfrm>
          <a:prstGeom prst="rect">
            <a:avLst/>
          </a:prstGeom>
          <a:noFill/>
        </p:spPr>
        <p:txBody>
          <a:bodyPr wrap="square" lIns="0" rIns="0" tIns="0" bIns="0">
            <a:spAutoFit/>
          </a:bodyPr>
          <a:lstStyle/>
          <a:p>
            <a:pPr algn="l"/>
            <a:r>
              <a:rPr sz="1800" b="1" i="1" u="none">
                <a:solidFill>
                  <a:srgbClr val="555B66"/>
                </a:solidFill>
                <a:latin typeface="Calibri"/>
              </a:rPr>
              <a:t>AVC</a:t>
            </a:r>
          </a:p>
        </p:txBody>
      </p:sp>
      <p:sp>
        <p:nvSpPr>
          <p:cNvPr id="22" name="TextBox 21"/>
          <p:cNvSpPr txBox="1"/>
          <p:nvPr/>
        </p:nvSpPr>
        <p:spPr>
          <a:xfrm>
            <a:off x="8503920" y="2148840"/>
            <a:ext cx="3291840" cy="566928"/>
          </a:xfrm>
          <a:prstGeom prst="rect">
            <a:avLst/>
          </a:prstGeom>
          <a:noFill/>
        </p:spPr>
        <p:txBody>
          <a:bodyPr wrap="square" lIns="0" rIns="0" tIns="0" bIns="0">
            <a:spAutoFit/>
          </a:bodyPr>
          <a:lstStyle/>
          <a:p>
            <a:pPr algn="l"/>
            <a:r>
              <a:rPr sz="2100" b="1" i="0" u="none">
                <a:solidFill>
                  <a:srgbClr val="0B2B4E"/>
                </a:solidFill>
                <a:latin typeface="Calibri"/>
              </a:rPr>
              <a:t>Loss if operating</a:t>
            </a:r>
          </a:p>
        </p:txBody>
      </p:sp>
      <p:grpSp>
        <p:nvGrpSpPr>
          <p:cNvPr id="128" name="Group pair 128"/>
          <p:cNvGrpSpPr/>
          <p:nvPr/>
        </p:nvGrpSpPr>
        <p:grpSpPr>
          <a:xfrm>
            <a:off x="8503920" y="3246120"/>
            <a:ext cx="3291840" cy="1920240"/>
            <a:chOff x="8503920" y="3246120"/>
            <a:chExt cx="3291840" cy="1920240"/>
          </a:xfrm>
        </p:grpSpPr>
        <p:sp>
          <p:nvSpPr>
            <p:cNvPr id="23" name="Rounded Rectangle 22"/>
            <p:cNvSpPr/>
            <p:nvPr/>
          </p:nvSpPr>
          <p:spPr>
            <a:xfrm>
              <a:off x="8503920" y="3246120"/>
              <a:ext cx="3291840" cy="19202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0" y="3355848"/>
              <a:ext cx="2926080" cy="1700784"/>
            </a:xfrm>
            <a:prstGeom prst="rect">
              <a:avLst/>
            </a:prstGeom>
            <a:noFill/>
          </p:spPr>
          <p:txBody>
            <a:bodyPr wrap="square" lIns="45720" rIns="45720" tIns="0" bIns="0" anchor="ctr">
              <a:spAutoFit/>
            </a:bodyPr>
            <a:lstStyle/>
            <a:p>
              <a:pPr algn="l"/>
              <a:r>
                <a:rPr sz="1700" b="0" i="0" u="none">
                  <a:solidFill>
                    <a:srgbClr val="0B2B4E"/>
                  </a:solidFill>
                  <a:latin typeface="Calibri"/>
                </a:rPr>
                <a:t>Economic profits are negative, because P &lt; ATC.  But P ≥ AVC, so the firm should keep operating in the short run — it still covers part of its fixed costs.</a:t>
              </a:r>
            </a:p>
          </p:txBody>
        </p:sp>
      </p:gr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14F192E9-C2AB-5E74-ADC9-1E69D7BE0674}" type="slidenum">
              <a:rPr lang="en-US" sz="1200" dirty="0">
                <a:solidFill>
                  <a:srgbClr val="555B66"/>
                </a:solidFill>
                <a:latin typeface="Calibri"/>
              </a:rPr>
              <a:t>36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8"/>
                                        </p:tgtEl>
                                        <p:attrNameLst>
                                          <p:attrName>style.visibility</p:attrName>
                                        </p:attrNameLst>
                                      </p:cBhvr>
                                      <p:to>
                                        <p:strVal val="visible"/>
                                      </p:to>
                                    </p:set>
                                    <p:animEffect transition="in" filter="fade">
                                      <p:cBhvr>
                                        <p:cTn id="5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Very Low Price: Shutting Down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417320" y="1755647"/>
            <a:ext cx="0" cy="35935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17320" y="5349240"/>
            <a:ext cx="68397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1353311"/>
            <a:ext cx="182880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0" name="TextBox 9"/>
          <p:cNvSpPr txBox="1"/>
          <p:nvPr/>
        </p:nvSpPr>
        <p:spPr>
          <a:xfrm>
            <a:off x="7726679" y="5440679"/>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sp>
        <p:nvSpPr>
          <p:cNvPr id="11" name="Rectangle 10"/>
          <p:cNvSpPr/>
          <p:nvPr/>
        </p:nvSpPr>
        <p:spPr>
          <a:xfrm>
            <a:off x="1417320" y="3005527"/>
            <a:ext cx="2703550" cy="1477439"/>
          </a:xfrm>
          <a:prstGeom prst="rect">
            <a:avLst/>
          </a:pr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745850" y="1925301"/>
            <a:ext cx="2623477" cy="2665949"/>
          </a:xfrm>
          <a:custGeom>
            <a:avLst/>
            <a:gdLst/>
            <a:ahLst/>
            <a:cxnLst/>
            <a:rect l="0" t="0" r="r" b="b"/>
            <a:pathLst>
              <a:path w="2623477" h="2665949">
                <a:moveTo>
                  <a:pt x="0" y="2665949"/>
                </a:moveTo>
                <a:cubicBezTo>
                  <a:pt x="109311" y="2624453"/>
                  <a:pt x="437246" y="2546358"/>
                  <a:pt x="655869" y="2416977"/>
                </a:cubicBezTo>
                <a:cubicBezTo>
                  <a:pt x="874492" y="2287595"/>
                  <a:pt x="1093114" y="2111824"/>
                  <a:pt x="1311738" y="1889662"/>
                </a:cubicBezTo>
                <a:cubicBezTo>
                  <a:pt x="1530361" y="1667499"/>
                  <a:pt x="1748984" y="1398946"/>
                  <a:pt x="1967608" y="1084003"/>
                </a:cubicBezTo>
                <a:cubicBezTo>
                  <a:pt x="2186231" y="769059"/>
                  <a:pt x="2514165" y="180667"/>
                  <a:pt x="2623477"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5850" y="2757637"/>
            <a:ext cx="3104707" cy="594360"/>
          </a:xfrm>
          <a:custGeom>
            <a:avLst/>
            <a:gdLst/>
            <a:ahLst/>
            <a:cxnLst/>
            <a:rect l="0" t="0" r="r" b="b"/>
            <a:pathLst>
              <a:path w="3104707" h="594360">
                <a:moveTo>
                  <a:pt x="0" y="0"/>
                </a:moveTo>
                <a:cubicBezTo>
                  <a:pt x="129362" y="70986"/>
                  <a:pt x="517450" y="329665"/>
                  <a:pt x="776176" y="425918"/>
                </a:cubicBezTo>
                <a:cubicBezTo>
                  <a:pt x="1034901" y="522170"/>
                  <a:pt x="1293627" y="560671"/>
                  <a:pt x="1552353" y="577516"/>
                </a:cubicBezTo>
                <a:cubicBezTo>
                  <a:pt x="1811078" y="594360"/>
                  <a:pt x="2069804" y="572360"/>
                  <a:pt x="2328530" y="526984"/>
                </a:cubicBezTo>
                <a:cubicBezTo>
                  <a:pt x="2587255" y="481607"/>
                  <a:pt x="2975344" y="342213"/>
                  <a:pt x="3104707" y="305259"/>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45850" y="3922703"/>
            <a:ext cx="2561383" cy="347958"/>
          </a:xfrm>
          <a:custGeom>
            <a:avLst/>
            <a:gdLst/>
            <a:ahLst/>
            <a:cxnLst/>
            <a:rect l="0" t="0" r="r" b="b"/>
            <a:pathLst>
              <a:path w="2561383" h="347958">
                <a:moveTo>
                  <a:pt x="0" y="278724"/>
                </a:moveTo>
                <a:cubicBezTo>
                  <a:pt x="106724" y="289220"/>
                  <a:pt x="426897" y="335451"/>
                  <a:pt x="640346" y="341705"/>
                </a:cubicBezTo>
                <a:cubicBezTo>
                  <a:pt x="853794" y="347958"/>
                  <a:pt x="1067242" y="339471"/>
                  <a:pt x="1280691" y="316244"/>
                </a:cubicBezTo>
                <a:cubicBezTo>
                  <a:pt x="1494139" y="293017"/>
                  <a:pt x="1707588" y="255050"/>
                  <a:pt x="1921037" y="202343"/>
                </a:cubicBezTo>
                <a:cubicBezTo>
                  <a:pt x="2134485" y="149635"/>
                  <a:pt x="2454658" y="33723"/>
                  <a:pt x="2561383" y="0"/>
                </a:cubicBezTo>
              </a:path>
            </a:pathLst>
          </a:custGeom>
          <a:noFill/>
          <a:ln w="31750">
            <a:solidFill>
              <a:srgbClr val="555B6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417320" y="4482966"/>
            <a:ext cx="5549663"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120870" y="4482966"/>
            <a:ext cx="0" cy="866274"/>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663670" y="5404103"/>
            <a:ext cx="914400"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sp>
        <p:nvSpPr>
          <p:cNvPr id="18" name="TextBox 17"/>
          <p:cNvSpPr txBox="1"/>
          <p:nvPr/>
        </p:nvSpPr>
        <p:spPr>
          <a:xfrm>
            <a:off x="475488" y="4345806"/>
            <a:ext cx="868680" cy="274320"/>
          </a:xfrm>
          <a:prstGeom prst="rect">
            <a:avLst/>
          </a:prstGeom>
          <a:noFill/>
        </p:spPr>
        <p:txBody>
          <a:bodyPr wrap="square" lIns="0" rIns="0" tIns="0" bIns="0">
            <a:spAutoFit/>
          </a:bodyPr>
          <a:lstStyle/>
          <a:p>
            <a:pPr algn="r"/>
            <a:r>
              <a:rPr sz="1700" b="1" i="1" u="none">
                <a:solidFill>
                  <a:srgbClr val="0B2B4E"/>
                </a:solidFill>
                <a:latin typeface="Calibri"/>
              </a:rPr>
              <a:t>P very low</a:t>
            </a:r>
          </a:p>
        </p:txBody>
      </p:sp>
      <p:sp>
        <p:nvSpPr>
          <p:cNvPr id="19" name="TextBox 18"/>
          <p:cNvSpPr txBox="1"/>
          <p:nvPr/>
        </p:nvSpPr>
        <p:spPr>
          <a:xfrm>
            <a:off x="6020048" y="1544382"/>
            <a:ext cx="822960" cy="292608"/>
          </a:xfrm>
          <a:prstGeom prst="rect">
            <a:avLst/>
          </a:prstGeom>
          <a:noFill/>
        </p:spPr>
        <p:txBody>
          <a:bodyPr wrap="square" lIns="0" rIns="0" tIns="0" bIns="0">
            <a:spAutoFit/>
          </a:bodyPr>
          <a:lstStyle/>
          <a:p>
            <a:pPr algn="l"/>
            <a:r>
              <a:rPr sz="1800" b="1" i="1" u="none">
                <a:solidFill>
                  <a:srgbClr val="0B2B4E"/>
                </a:solidFill>
                <a:latin typeface="Calibri"/>
              </a:rPr>
              <a:t>MC</a:t>
            </a:r>
          </a:p>
        </p:txBody>
      </p:sp>
      <p:sp>
        <p:nvSpPr>
          <p:cNvPr id="20" name="TextBox 19"/>
          <p:cNvSpPr txBox="1"/>
          <p:nvPr/>
        </p:nvSpPr>
        <p:spPr>
          <a:xfrm>
            <a:off x="7005792" y="2772213"/>
            <a:ext cx="822960" cy="292608"/>
          </a:xfrm>
          <a:prstGeom prst="rect">
            <a:avLst/>
          </a:prstGeom>
          <a:noFill/>
        </p:spPr>
        <p:txBody>
          <a:bodyPr wrap="square" lIns="0" rIns="0" tIns="0" bIns="0">
            <a:spAutoFit/>
          </a:bodyPr>
          <a:lstStyle/>
          <a:p>
            <a:pPr algn="l"/>
            <a:r>
              <a:rPr sz="1800" b="1" i="1" u="none">
                <a:solidFill>
                  <a:srgbClr val="E09F3E"/>
                </a:solidFill>
                <a:latin typeface="Calibri"/>
              </a:rPr>
              <a:t>ATC</a:t>
            </a:r>
          </a:p>
        </p:txBody>
      </p:sp>
      <p:sp>
        <p:nvSpPr>
          <p:cNvPr id="21" name="TextBox 20"/>
          <p:cNvSpPr txBox="1"/>
          <p:nvPr/>
        </p:nvSpPr>
        <p:spPr>
          <a:xfrm>
            <a:off x="6462468" y="3920778"/>
            <a:ext cx="822960" cy="292608"/>
          </a:xfrm>
          <a:prstGeom prst="rect">
            <a:avLst/>
          </a:prstGeom>
          <a:noFill/>
        </p:spPr>
        <p:txBody>
          <a:bodyPr wrap="square" lIns="0" rIns="0" tIns="0" bIns="0">
            <a:spAutoFit/>
          </a:bodyPr>
          <a:lstStyle/>
          <a:p>
            <a:pPr algn="l"/>
            <a:r>
              <a:rPr sz="1800" b="1" i="1" u="none">
                <a:solidFill>
                  <a:srgbClr val="555B66"/>
                </a:solidFill>
                <a:latin typeface="Calibri"/>
              </a:rPr>
              <a:t>AVC</a:t>
            </a:r>
          </a:p>
        </p:txBody>
      </p:sp>
      <p:sp>
        <p:nvSpPr>
          <p:cNvPr id="22" name="TextBox 21"/>
          <p:cNvSpPr txBox="1"/>
          <p:nvPr/>
        </p:nvSpPr>
        <p:spPr>
          <a:xfrm>
            <a:off x="8503920" y="2148840"/>
            <a:ext cx="3291840" cy="566928"/>
          </a:xfrm>
          <a:prstGeom prst="rect">
            <a:avLst/>
          </a:prstGeom>
          <a:noFill/>
        </p:spPr>
        <p:txBody>
          <a:bodyPr wrap="square" lIns="0" rIns="0" tIns="0" bIns="0">
            <a:spAutoFit/>
          </a:bodyPr>
          <a:lstStyle/>
          <a:p>
            <a:pPr algn="l"/>
            <a:r>
              <a:rPr sz="2100" b="1" i="0" u="none">
                <a:solidFill>
                  <a:srgbClr val="0B2B4E"/>
                </a:solidFill>
                <a:latin typeface="Calibri"/>
              </a:rPr>
              <a:t>Loss if operating —
larger than TFC</a:t>
            </a:r>
          </a:p>
        </p:txBody>
      </p:sp>
      <p:grpSp>
        <p:nvGrpSpPr>
          <p:cNvPr id="128" name="Group pair 128"/>
          <p:cNvGrpSpPr/>
          <p:nvPr/>
        </p:nvGrpSpPr>
        <p:grpSpPr>
          <a:xfrm>
            <a:off x="8503920" y="3246120"/>
            <a:ext cx="3291840" cy="1920240"/>
            <a:chOff x="8503920" y="3246120"/>
            <a:chExt cx="3291840" cy="1920240"/>
          </a:xfrm>
        </p:grpSpPr>
        <p:sp>
          <p:nvSpPr>
            <p:cNvPr id="23" name="Rounded Rectangle 22"/>
            <p:cNvSpPr/>
            <p:nvPr/>
          </p:nvSpPr>
          <p:spPr>
            <a:xfrm>
              <a:off x="8503920" y="3246120"/>
              <a:ext cx="3291840" cy="19202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0" y="3355848"/>
              <a:ext cx="2926080" cy="1700784"/>
            </a:xfrm>
            <a:prstGeom prst="rect">
              <a:avLst/>
            </a:prstGeom>
            <a:noFill/>
          </p:spPr>
          <p:txBody>
            <a:bodyPr wrap="square" lIns="45720" rIns="45720" tIns="0" bIns="0" anchor="ctr">
              <a:spAutoFit/>
            </a:bodyPr>
            <a:lstStyle/>
            <a:p>
              <a:pPr algn="l"/>
              <a:r>
                <a:rPr sz="1700" b="0" i="0" u="none">
                  <a:solidFill>
                    <a:srgbClr val="0B2B4E"/>
                  </a:solidFill>
                  <a:latin typeface="Calibri"/>
                </a:rPr>
                <a:t>P &lt; AVC now, so every ton produced loses money before any fixed cost is covered.  The firm should shut down; its loss is then TFC.</a:t>
              </a:r>
            </a:p>
          </p:txBody>
        </p:sp>
      </p:gr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C60CDA10-FF3E-5A5D-8B64-443D504D2432}" type="slidenum">
              <a:rPr lang="en-US" sz="1200" dirty="0">
                <a:solidFill>
                  <a:srgbClr val="555B66"/>
                </a:solidFill>
                <a:latin typeface="Calibri"/>
              </a:rPr>
              <a:t>37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8"/>
                                        </p:tgtEl>
                                        <p:attrNameLst>
                                          <p:attrName>style.visibility</p:attrName>
                                        </p:attrNameLst>
                                      </p:cBhvr>
                                      <p:to>
                                        <p:strVal val="visible"/>
                                      </p:to>
                                    </p:set>
                                    <p:animEffect transition="in" filter="fade">
                                      <p:cBhvr>
                                        <p:cTn id="55"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Coffee Bean Producer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6949440" cy="118872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Your firm is a price taker in the coffee bean market</a:t>
            </a:r>
          </a:p>
          <a:p>
            <a:pPr algn="l"/>
            <a:r>
              <a:rPr>
                <a:latin typeface="Calibri"/>
              </a:rPr>
              <a:t>You have just optimized your output level for the short run</a:t>
            </a:r>
          </a:p>
        </p:txBody>
      </p:sp>
      <p:grpSp>
        <p:nvGrpSpPr>
          <p:cNvPr id="9706" name="Group pair 9706"/>
          <p:cNvGrpSpPr/>
          <p:nvPr/>
        </p:nvGrpSpPr>
        <p:grpSpPr>
          <a:xfrm>
            <a:off x="548640" y="3017520"/>
            <a:ext cx="4480560" cy="2377440"/>
            <a:chOff x="548640" y="3017520"/>
            <a:chExt cx="4480560" cy="2377440"/>
          </a:xfrm>
        </p:grpSpPr>
        <p:sp>
          <p:nvSpPr>
            <p:cNvPr id="8" name="Rectangle 7"/>
            <p:cNvSpPr/>
            <p:nvPr/>
          </p:nvSpPr>
          <p:spPr>
            <a:xfrm>
              <a:off x="548640" y="3017520"/>
              <a:ext cx="4480560" cy="23774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85800" y="3154680"/>
            <a:ext cx="4206240" cy="2103120"/>
          </p:xfrm>
          <a:graphic>
            <a:graphicData uri="http://schemas.openxmlformats.org/drawingml/2006/table">
              <a:tbl>
                <a:tblPr firstRow="0" bandRow="0"/>
                <a:tblGrid>
                  <a:gridCol w="1600200"/>
                  <a:gridCol w="2606040"/>
                </a:tblGrid>
                <a:tr h="566928">
                  <a:tc>
                    <a:txBody>
                      <a:bodyPr wrap="square"/>
                      <a:lstStyle/>
                      <a:p>
                        <a:pPr algn="ctr"/>
                        <a:r>
                          <a:rPr sz="1900" b="1">
                            <a:solidFill>
                              <a:srgbClr val="FFFFFF"/>
                            </a:solidFill>
                            <a:latin typeface="Calibri"/>
                          </a:rPr>
                          <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900" b="1">
                            <a:solidFill>
                              <a:srgbClr val="FFFFFF"/>
                            </a:solidFill>
                            <a:latin typeface="Calibri"/>
                          </a:rPr>
                          <a:t>Your costs at that output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512064">
                  <a:tc>
                    <a:txBody>
                      <a:bodyPr wrap="square"/>
                      <a:lstStyle/>
                      <a:p>
                        <a:pPr algn="l"/>
                        <a:r>
                          <a:rPr sz="2000" b="1">
                            <a:solidFill>
                              <a:srgbClr val="0B2B4E"/>
                            </a:solidFill>
                            <a:latin typeface="Calibri"/>
                          </a:rPr>
                          <a:t>AVC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$12</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512064">
                  <a:tc>
                    <a:txBody>
                      <a:bodyPr wrap="square"/>
                      <a:lstStyle/>
                      <a:p>
                        <a:pPr algn="l"/>
                        <a:r>
                          <a:rPr sz="2000" b="1">
                            <a:solidFill>
                              <a:srgbClr val="0B2B4E"/>
                            </a:solidFill>
                            <a:latin typeface="Calibri"/>
                          </a:rPr>
                          <a:t>ATC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000" b="0">
                            <a:solidFill>
                              <a:srgbClr val="0B2B4E"/>
                            </a:solidFill>
                            <a:latin typeface="Calibri"/>
                          </a:rPr>
                          <a:t>$15</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512064">
                  <a:tc>
                    <a:txBody>
                      <a:bodyPr wrap="square"/>
                      <a:lstStyle/>
                      <a:p>
                        <a:pPr algn="l"/>
                        <a:r>
                          <a:rPr sz="2000" b="1">
                            <a:solidFill>
                              <a:srgbClr val="0B2B4E"/>
                            </a:solidFill>
                            <a:latin typeface="Calibri"/>
                          </a:rPr>
                          <a:t>MC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000" b="0">
                            <a:solidFill>
                              <a:srgbClr val="0B2B4E"/>
                            </a:solidFill>
                            <a:latin typeface="Calibri"/>
                          </a:rPr>
                          <a:t>$10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bl>
            </a:graphicData>
          </a:graphic>
        </p:graphicFrame>
      </p:grpSp>
      <p:sp>
        <p:nvSpPr>
          <p:cNvPr id="10" name="TextBox 9"/>
          <p:cNvSpPr txBox="1"/>
          <p:nvPr/>
        </p:nvSpPr>
        <p:spPr>
          <a:xfrm>
            <a:off x="5532120" y="3703320"/>
            <a:ext cx="4937760" cy="822960"/>
          </a:xfrm>
          <a:prstGeom prst="rect">
            <a:avLst/>
          </a:prstGeom>
          <a:noFill/>
        </p:spPr>
        <p:txBody>
          <a:bodyPr wrap="square" lIns="0" rIns="0" tIns="0" bIns="0">
            <a:spAutoFit/>
          </a:bodyPr>
          <a:lstStyle/>
          <a:p>
            <a:pPr algn="l"/>
            <a:r>
              <a:rPr sz="2600" b="1" i="0" u="none">
                <a:solidFill>
                  <a:srgbClr val="0B2B4E"/>
                </a:solidFill>
                <a:latin typeface="Calibri"/>
              </a:rPr>
              <a:t>Should you continue to operate
in the short run?</a:t>
            </a:r>
          </a:p>
        </p:txBody>
      </p:sp>
      <p:pic>
        <p:nvPicPr>
          <p:cNvPr id="11" name="Picture 10" descr="NV_s36_4_7cb0fc52.jpg"/>
          <p:cNvPicPr>
            <a:picLocks noChangeAspect="1"/>
          </p:cNvPicPr>
          <p:nvPr/>
        </p:nvPicPr>
        <p:blipFill>
          <a:blip r:embed="rId2"/>
          <a:stretch>
            <a:fillRect/>
          </a:stretch>
        </p:blipFill>
        <p:spPr>
          <a:xfrm>
            <a:off x="8092440" y="1417320"/>
            <a:ext cx="3657600" cy="2440617"/>
          </a:xfrm>
          <a:prstGeom prst="roundRect">
            <a:avLst>
              <a:gd name="adj" fmla="val 8000"/>
            </a:avLst>
          </a:prstGeom>
          <a:effectLst>
            <a:outerShdw blurRad="50800" dist="38100" dir="2700000" algn="tl" rotWithShape="0">
              <a:srgbClr val="000000">
                <a:alpha val="50000"/>
              </a:srgbClr>
            </a:outerShdw>
          </a:effectLst>
        </p:spPr>
      </p:pic>
      <p:grpSp>
        <p:nvGrpSpPr>
          <p:cNvPr id="9600" name="PollBreakBadge"/>
          <p:cNvGrpSpPr/>
          <p:nvPr/>
        </p:nvGrpSpPr>
        <p:grpSpPr>
          <a:xfrm>
            <a:off x="9361444" y="6190030"/>
            <a:ext cx="2697480" cy="487009"/>
            <a:chOff x="9361444" y="6190030"/>
            <a:chExt cx="2697480" cy="487009"/>
          </a:xfrm>
        </p:grpSpPr>
        <p:sp>
          <p:nvSpPr>
            <p:cNvPr id="960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0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5" name="TextBox 960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9606" name="TextBox 9605"/>
          <p:cNvSpPr txBox="1"/>
          <p:nvPr/>
        </p:nvSpPr>
        <p:spPr>
          <a:xfrm>
            <a:off x="11475720" y="6583680"/>
            <a:ext cx="502920" cy="292608"/>
          </a:xfrm>
          <a:prstGeom prst="rect">
            <a:avLst/>
          </a:prstGeom>
          <a:noFill/>
        </p:spPr>
        <p:txBody>
          <a:bodyPr wrap="none" lIns="0" rIns="0" tIns="0" bIns="0">
            <a:spAutoFit/>
          </a:bodyPr>
          <a:lstStyle/>
          <a:p>
            <a:pPr algn="r"/>
            <a:fld id="{433A1C14-F9FE-5E90-BC8F-F32C6B24A3E5}" type="slidenum">
              <a:rPr lang="en-US" sz="1200" dirty="0">
                <a:solidFill>
                  <a:srgbClr val="555B66"/>
                </a:solidFill>
                <a:latin typeface="Calibri"/>
              </a:rPr>
              <a:t>38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706"/>
                                        </p:tgtEl>
                                        <p:attrNameLst>
                                          <p:attrName>style.visibility</p:attrName>
                                        </p:attrNameLst>
                                      </p:cBhvr>
                                      <p:to>
                                        <p:strVal val="visible"/>
                                      </p:to>
                                    </p:set>
                                    <p:animEffect transition="in" filter="fade">
                                      <p:cBhvr>
                                        <p:cTn id="12" dur="500"/>
                                        <p:tgtEl>
                                          <p:spTgt spid="970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The Coffee Bean Producer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00273E6D-AA26-540D-9B06-B4F98BEF93DB}" type="slidenum">
              <a:rPr lang="en-US" sz="1200" dirty="0">
                <a:solidFill>
                  <a:srgbClr val="555B66"/>
                </a:solidFill>
                <a:latin typeface="Calibri"/>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Coffee Bean Producer: 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54480"/>
            <a:ext cx="10972800" cy="100584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The output level is already profit-maximizing, so for a price taker P = MC</a:t>
            </a:r>
          </a:p>
        </p:txBody>
      </p:sp>
      <p:sp>
        <p:nvSpPr>
          <p:cNvPr id="8" name="TextBox 7"/>
          <p:cNvSpPr txBox="1"/>
          <p:nvPr/>
        </p:nvSpPr>
        <p:spPr>
          <a:xfrm>
            <a:off x="2103120" y="2560320"/>
            <a:ext cx="7955279" cy="73152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MC</m:t>
                  </m:r>
                  <m:r>
                    <m:rPr>
                      <m:sty m:val="p"/>
                    </m:rPr>
                    <a:rPr lang="en-US" b="0" i="0" sz="2800">
                      <a:solidFill>
                        <a:srgbClr val="0B2B4E"/>
                      </a:solidFill>
                      <a:latin typeface="Cambria Math"/>
                    </a:rPr>
                    <m:t xml:space="preserve"> = 10</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 10</m:t>
                  </m:r>
                </m:oMath>
              </m:oMathPara>
            </a14:m>
            <a:endParaRPr lang="en-US" sz="2800"/>
          </a:p>
        </p:txBody>
      </p:sp>
      <p:sp>
        <p:nvSpPr>
          <p:cNvPr id="9" name="TextBox 8"/>
          <p:cNvSpPr txBox="1"/>
          <p:nvPr/>
        </p:nvSpPr>
        <p:spPr>
          <a:xfrm>
            <a:off x="2103120" y="3429000"/>
            <a:ext cx="7955279" cy="731520"/>
          </a:xfrm>
          <a:prstGeom prst="rect">
            <a:avLst/>
          </a:prstGeom>
          <a:noFill/>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m:rPr>
                      <m:sty m:val="p"/>
                    </m:rPr>
                    <a:rPr lang="en-US" b="0" i="0" sz="2800">
                      <a:solidFill>
                        <a:srgbClr val="0B2B4E"/>
                      </a:solidFill>
                      <a:latin typeface="Cambria Math"/>
                    </a:rPr>
                    <m:t xml:space="preserve">AVC</m:t>
                  </m:r>
                  <m:r>
                    <m:rPr>
                      <m:sty m:val="p"/>
                    </m:rPr>
                    <a:rPr lang="en-US" b="0" i="0" sz="2800">
                      <a:solidFill>
                        <a:srgbClr val="0B2B4E"/>
                      </a:solidFill>
                      <a:latin typeface="Cambria Math"/>
                    </a:rPr>
                    <m:t xml:space="preserve"> = 12</m:t>
                  </m:r>
                  <m:r>
                    <m:rPr>
                      <m:sty m:val="p"/>
                    </m:rPr>
                    <a:rPr lang="en-US" b="0" i="0" sz="2800">
                      <a:solidFill>
                        <a:srgbClr val="0B2B4E"/>
                      </a:solidFill>
                      <a:latin typeface="Cambria Math"/>
                    </a:rPr>
                    <m:t xml:space="preserve">     →     </m:t>
                  </m:r>
                  <m:r>
                    <a:rPr lang="en-US" b="0" i="1" sz="2800">
                      <a:solidFill>
                        <a:srgbClr val="0B2B4E"/>
                      </a:solidFill>
                      <a:latin typeface="Cambria Math"/>
                      <a:ea typeface="Cambria Math"/>
                    </a:rPr>
                    <m:t>P</m:t>
                  </m:r>
                  <m:r>
                    <m:rPr>
                      <m:sty m:val="p"/>
                    </m:rPr>
                    <a:rPr lang="en-US" b="0" i="0" sz="2800">
                      <a:solidFill>
                        <a:srgbClr val="0B2B4E"/>
                      </a:solidFill>
                      <a:latin typeface="Cambria Math"/>
                    </a:rPr>
                    <m:t xml:space="preserve"> &lt; </m:t>
                  </m:r>
                  <m:r>
                    <m:rPr>
                      <m:sty m:val="p"/>
                    </m:rPr>
                    <a:rPr lang="en-US" b="0" i="0" sz="2800">
                      <a:solidFill>
                        <a:srgbClr val="0B2B4E"/>
                      </a:solidFill>
                      <a:latin typeface="Cambria Math"/>
                    </a:rPr>
                    <m:t xml:space="preserve">AVC</m:t>
                  </m:r>
                </m:oMath>
              </m:oMathPara>
            </a14:m>
            <a:endParaRPr lang="en-US" sz="2800"/>
          </a:p>
        </p:txBody>
      </p:sp>
      <p:sp>
        <p:nvSpPr>
          <p:cNvPr id="10" name="TextBox 9"/>
          <p:cNvSpPr txBox="1"/>
          <p:nvPr/>
        </p:nvSpPr>
        <p:spPr>
          <a:xfrm>
            <a:off x="2103120" y="4343400"/>
            <a:ext cx="7955279" cy="777240"/>
          </a:xfrm>
          <a:prstGeom prst="rect">
            <a:avLst/>
          </a:prstGeom>
          <a:noFill/>
        </p:spPr>
        <p:txBody>
          <a:bodyPr wrap="square" anchor="ctr">
            <a:spAutoFit/>
          </a:bodyPr>
          <a:lstStyle/>
          <a:p xmlns:m="http://schemas.openxmlformats.org/officeDocument/2006/math" xmlns:a14="http://schemas.microsoft.com/office/drawing/2010/main">
            <a:pPr algn="ctr">
              <a:defRPr sz="3000" b="0" i="1">
                <a:solidFill>
                  <a:srgbClr val="A2162A"/>
                </a:solidFill>
                <a:latin typeface="Cambria Math"/>
              </a:defRPr>
            </a:pPr>
            <a14:m>
              <m:oMathPara>
                <m:oMathParaPr>
                  <m:jc m:val="centerGroup"/>
                </m:oMathParaPr>
                <m:oMath>
                  <m:r>
                    <m:rPr>
                      <m:sty m:val="p"/>
                    </m:rPr>
                    <a:rPr lang="en-US" b="0" i="0" sz="3000">
                      <a:solidFill>
                        <a:srgbClr val="A2162A"/>
                      </a:solidFill>
                      <a:latin typeface="Cambria Math"/>
                    </a:rPr>
                    <m:t xml:space="preserve">You lose money on every unit — shut down</m:t>
                  </m:r>
                </m:oMath>
              </m:oMathPara>
            </a14:m>
            <a:endParaRPr lang="en-US" sz="3000"/>
          </a:p>
        </p:txBody>
      </p:sp>
      <p:sp>
        <p:nvSpPr>
          <p:cNvPr id="11" name="Rounded Rectangle 10"/>
          <p:cNvSpPr/>
          <p:nvPr/>
        </p:nvSpPr>
        <p:spPr>
          <a:xfrm>
            <a:off x="1798167" y="5394960"/>
            <a:ext cx="859536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ATC does not enter the short-run shut-down decision at all</a:t>
            </a:r>
          </a:p>
        </p:txBody>
      </p:sp>
      <p:grpSp>
        <p:nvGrpSpPr>
          <p:cNvPr id="9610" name="PollBreakBadge"/>
          <p:cNvGrpSpPr/>
          <p:nvPr/>
        </p:nvGrpSpPr>
        <p:grpSpPr>
          <a:xfrm>
            <a:off x="9361444" y="6190030"/>
            <a:ext cx="2697480" cy="487009"/>
            <a:chOff x="9361444" y="6190030"/>
            <a:chExt cx="2697480" cy="487009"/>
          </a:xfrm>
        </p:grpSpPr>
        <p:sp>
          <p:nvSpPr>
            <p:cNvPr id="961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1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13" name="Rectangle 96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4" name="Rectangle 96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5" name="TextBox 96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9616" name="TextBox 9615"/>
          <p:cNvSpPr txBox="1"/>
          <p:nvPr/>
        </p:nvSpPr>
        <p:spPr>
          <a:xfrm>
            <a:off x="11475720" y="6583680"/>
            <a:ext cx="502920" cy="292608"/>
          </a:xfrm>
          <a:prstGeom prst="rect">
            <a:avLst/>
          </a:prstGeom>
          <a:noFill/>
        </p:spPr>
        <p:txBody>
          <a:bodyPr wrap="none" lIns="0" rIns="0" tIns="0" bIns="0">
            <a:spAutoFit/>
          </a:bodyPr>
          <a:lstStyle/>
          <a:p>
            <a:pPr algn="r"/>
            <a:fld id="{47E29B0C-E2C2-52A9-874E-F3FCE5D42D6E}" type="slidenum">
              <a:rPr lang="en-US" sz="1200" dirty="0">
                <a:solidFill>
                  <a:srgbClr val="555B66"/>
                </a:solidFill>
                <a:latin typeface="Calibri"/>
              </a:rPr>
              <a:t>40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610"/>
                                        </p:tgtEl>
                                        <p:attrNameLst>
                                          <p:attrName>style.visibility</p:attrName>
                                        </p:attrNameLst>
                                      </p:cBhvr>
                                      <p:to>
                                        <p:strVal val="visible"/>
                                      </p:to>
                                    </p:set>
                                    <p:animEffect transition="in" filter="fade">
                                      <p:cBhvr>
                                        <p:cTn id="7" dur="500"/>
                                        <p:tgtEl>
                                          <p:spTgt spid="96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Profit Maximization of a Price Taker in the Short Run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Summary: Short-Run Decisions for a Price Taker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481328"/>
            <a:ext cx="7498079"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Optimal output: </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m:t>
                      </m:r>
                    </m:sup>
                  </m:sSup>
                  <m:r>
                    <m:rPr>
                      <m:sty m:val="p"/>
                    </m:rPr>
                    <a:rPr lang="en-US" b="0" i="0" sz="2600">
                      <a:solidFill>
                        <a:srgbClr val="0B2B4E"/>
                      </a:solidFill>
                      <a:latin typeface="Cambria Math"/>
                    </a:rPr>
                    <m:t xml:space="preserve"> where  </m:t>
                  </m:r>
                  <m:r>
                    <m:rPr>
                      <m:sty m:val="p"/>
                    </m:rPr>
                    <a:rPr lang="en-US" b="0" i="0" sz="2600">
                      <a:solidFill>
                        <a:srgbClr val="0B2B4E"/>
                      </a:solidFill>
                      <a:latin typeface="Cambria Math"/>
                    </a:rPr>
                    <m:t xml:space="preserve">MC</m:t>
                  </m:r>
                  <m:r>
                    <m:rPr>
                      <m:sty m:val="p"/>
                    </m:rPr>
                    <a:rPr lang="en-US" b="0" i="0" sz="2600">
                      <a:solidFill>
                        <a:srgbClr val="0B2B4E"/>
                      </a:solidFill>
                      <a:latin typeface="Cambria Math"/>
                    </a:rPr>
                    <m:t xml:space="preserve"> = </m:t>
                  </m:r>
                  <m:r>
                    <m:rPr>
                      <m:sty m:val="p"/>
                    </m:rPr>
                    <a:rPr lang="en-US" b="0" i="0" sz="2600">
                      <a:solidFill>
                        <a:srgbClr val="0B2B4E"/>
                      </a:solidFill>
                      <a:latin typeface="Cambria Math"/>
                    </a:rPr>
                    <m:t xml:space="preserve">MR</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oMath>
              </m:oMathPara>
            </a14:m>
            <a:endParaRPr lang="en-US" sz="2600"/>
          </a:p>
        </p:txBody>
      </p:sp>
      <p:sp>
        <p:nvSpPr>
          <p:cNvPr id="8" name="Rounded Rectangle 7"/>
          <p:cNvSpPr/>
          <p:nvPr/>
        </p:nvSpPr>
        <p:spPr>
          <a:xfrm>
            <a:off x="822960" y="2423160"/>
            <a:ext cx="530352" cy="530352"/>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1</a:t>
            </a:r>
          </a:p>
        </p:txBody>
      </p:sp>
      <p:sp>
        <p:nvSpPr>
          <p:cNvPr id="9" name="TextBox 8"/>
          <p:cNvSpPr txBox="1"/>
          <p:nvPr/>
        </p:nvSpPr>
        <p:spPr>
          <a:xfrm>
            <a:off x="1600200" y="2441448"/>
            <a:ext cx="9601200" cy="457200"/>
          </a:xfrm>
          <a:prstGeom prst="rect">
            <a:avLst/>
          </a:prstGeom>
          <a:noFill/>
        </p:spPr>
        <p:txBody>
          <a:bodyPr wrap="square" lIns="0" rIns="0" tIns="0" bIns="0">
            <a:spAutoFit/>
          </a:bodyPr>
          <a:lstStyle/>
          <a:p>
            <a:pPr algn="l"/>
            <a:r>
              <a:rPr sz="2600" b="1" i="0" u="none">
                <a:solidFill>
                  <a:srgbClr val="0B2B4E"/>
                </a:solidFill>
                <a:latin typeface="Calibri"/>
              </a:rPr>
              <a:t>If P ≥ AVC at Q*:  operate</a:t>
            </a:r>
          </a:p>
        </p:txBody>
      </p:sp>
      <p:sp>
        <p:nvSpPr>
          <p:cNvPr id="10" name="TextBox 9"/>
          <p:cNvSpPr txBox="1"/>
          <p:nvPr/>
        </p:nvSpPr>
        <p:spPr>
          <a:xfrm>
            <a:off x="1783080" y="2990088"/>
            <a:ext cx="9418320" cy="91440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lvl="1"/>
            <a:r>
              <a:rPr>
                <a:latin typeface="Calibri"/>
              </a:rPr>
              <a:t>Profits can still be positive or negative</a:t>
            </a:r>
          </a:p>
          <a:p>
            <a:pPr algn="l" lvl="1"/>
            <a:r>
              <a:rPr>
                <a:latin typeface="Calibri"/>
              </a:rPr>
              <a:t>Positive if P ≥ ATC, negative if P &lt; ATC</a:t>
            </a:r>
          </a:p>
        </p:txBody>
      </p:sp>
      <p:sp>
        <p:nvSpPr>
          <p:cNvPr id="11" name="Rounded Rectangle 10"/>
          <p:cNvSpPr/>
          <p:nvPr/>
        </p:nvSpPr>
        <p:spPr>
          <a:xfrm>
            <a:off x="822960" y="4114800"/>
            <a:ext cx="530352" cy="530352"/>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2</a:t>
            </a:r>
          </a:p>
        </p:txBody>
      </p:sp>
      <p:sp>
        <p:nvSpPr>
          <p:cNvPr id="12" name="TextBox 11"/>
          <p:cNvSpPr txBox="1"/>
          <p:nvPr/>
        </p:nvSpPr>
        <p:spPr>
          <a:xfrm>
            <a:off x="1600200" y="4133088"/>
            <a:ext cx="9601200" cy="457200"/>
          </a:xfrm>
          <a:prstGeom prst="rect">
            <a:avLst/>
          </a:prstGeom>
          <a:noFill/>
        </p:spPr>
        <p:txBody>
          <a:bodyPr wrap="square" lIns="0" rIns="0" tIns="0" bIns="0">
            <a:spAutoFit/>
          </a:bodyPr>
          <a:lstStyle/>
          <a:p>
            <a:pPr algn="l"/>
            <a:r>
              <a:rPr sz="2600" b="1" i="0" u="none">
                <a:solidFill>
                  <a:srgbClr val="0B2B4E"/>
                </a:solidFill>
                <a:latin typeface="Calibri"/>
              </a:rPr>
              <a:t>If P &lt; AVC at Q*:  shut down</a:t>
            </a:r>
          </a:p>
        </p:txBody>
      </p:sp>
      <p:sp>
        <p:nvSpPr>
          <p:cNvPr id="13" name="TextBox 12"/>
          <p:cNvSpPr txBox="1"/>
          <p:nvPr/>
        </p:nvSpPr>
        <p:spPr>
          <a:xfrm>
            <a:off x="1783080" y="4681728"/>
            <a:ext cx="9418320" cy="91440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lvl="1"/>
            <a:r>
              <a:rPr>
                <a:latin typeface="Calibri"/>
              </a:rPr>
              <a:t>The loss is then TFC</a:t>
            </a:r>
          </a:p>
          <a:p>
            <a:pPr algn="l" lvl="1"/>
            <a:r>
              <a:rPr>
                <a:latin typeface="Calibri"/>
              </a:rPr>
              <a:t>Producing anyway would make the loss larger than TFC</a:t>
            </a:r>
          </a:p>
        </p:txBody>
      </p:sp>
      <p:sp>
        <p:nvSpPr>
          <p:cNvPr id="14" name="Rounded Rectangle 13"/>
          <p:cNvSpPr/>
          <p:nvPr/>
        </p:nvSpPr>
        <p:spPr>
          <a:xfrm>
            <a:off x="9299448" y="5971032"/>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3152" rIns="73152" tIns="0" bIns="0"/>
          <a:lstStyle/>
          <a:p>
            <a:pPr algn="ctr"/>
            <a:r>
              <a:rPr sz="1600" b="1">
                <a:solidFill>
                  <a:srgbClr val="E09F3E"/>
                </a:solidFill>
                <a:latin typeface="Calibri"/>
              </a:rPr>
              <a:t>✎  </a:t>
            </a:r>
            <a:r>
              <a:rPr sz="1600" b="1">
                <a:solidFill>
                  <a:srgbClr val="0B2B4E"/>
                </a:solidFill>
                <a:latin typeface="Calibri"/>
              </a:rPr>
              <a:t>Problem Set 3</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8" name="TextBox 17"/>
          <p:cNvSpPr txBox="1"/>
          <p:nvPr/>
        </p:nvSpPr>
        <p:spPr>
          <a:xfrm>
            <a:off x="11475720" y="6583680"/>
            <a:ext cx="502920" cy="292608"/>
          </a:xfrm>
          <a:prstGeom prst="rect">
            <a:avLst/>
          </a:prstGeom>
          <a:noFill/>
        </p:spPr>
        <p:txBody>
          <a:bodyPr wrap="none" lIns="0" rIns="0" tIns="0" bIns="0">
            <a:spAutoFit/>
          </a:bodyPr>
          <a:lstStyle/>
          <a:p>
            <a:pPr algn="r"/>
            <a:fld id="{87FE5336-91BC-514F-BE87-DB3CCAAE3B2B}" type="slidenum">
              <a:rPr lang="en-US" sz="1200" dirty="0">
                <a:solidFill>
                  <a:srgbClr val="555B66"/>
                </a:solidFill>
                <a:latin typeface="Calibri"/>
              </a:rPr>
              <a:t>41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1" name="Oval 10"/>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2" name="TextBox 11"/>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3" name="Rounded Rectangle 12"/>
          <p:cNvSpPr/>
          <p:nvPr/>
        </p:nvSpPr>
        <p:spPr>
          <a:xfrm>
            <a:off x="822960" y="3477006"/>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2b</a:t>
            </a:r>
          </a:p>
        </p:txBody>
      </p:sp>
      <p:sp>
        <p:nvSpPr>
          <p:cNvPr id="15" name="TextBox 14"/>
          <p:cNvSpPr txBox="1"/>
          <p:nvPr/>
        </p:nvSpPr>
        <p:spPr>
          <a:xfrm>
            <a:off x="2148840" y="353187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Firm-Level and Market Supply</a:t>
            </a:r>
          </a:p>
          <a:p>
            <a:pPr algn="l">
              <a:spcBef>
                <a:spcPts val="0"/>
              </a:spcBef>
              <a:buNone/>
            </a:pPr>
            <a:r>
              <a:rPr sz="2000">
                <a:solidFill>
                  <a:srgbClr val="555B66"/>
                </a:solidFill>
                <a:latin typeface="Calibri"/>
              </a:rPr>
              <a:t>Why the marginal cost curve is the supply curve</a:t>
            </a:r>
          </a:p>
        </p:txBody>
      </p:sp>
      <p:sp>
        <p:nvSpPr>
          <p:cNvPr id="16" name="Oval 15"/>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7" name="TextBox 16"/>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9" name="TextBox 18"/>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A9745B44-8DC3-5093-8076-16734C04D8AD}" type="slidenum">
              <a:rPr lang="en-US" sz="1200" dirty="0">
                <a:solidFill>
                  <a:srgbClr val="555B66"/>
                </a:solidFill>
                <a:latin typeface="Calibri"/>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Firm-Level and Market Supply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MC Curve Is the Price Taker's Short-Run Supply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188720" y="1984247"/>
            <a:ext cx="0" cy="354787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532120"/>
            <a:ext cx="43251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1581911"/>
            <a:ext cx="1828800" cy="292608"/>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10" name="TextBox 9"/>
          <p:cNvSpPr txBox="1"/>
          <p:nvPr/>
        </p:nvSpPr>
        <p:spPr>
          <a:xfrm>
            <a:off x="4983479" y="5623559"/>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cxnSp>
        <p:nvCxnSpPr>
          <p:cNvPr id="11" name="Connector 10"/>
          <p:cNvCxnSpPr/>
          <p:nvPr/>
        </p:nvCxnSpPr>
        <p:spPr>
          <a:xfrm flipV="1">
            <a:off x="1188720" y="2561600"/>
            <a:ext cx="3856091" cy="205703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43335" y="2239365"/>
            <a:ext cx="822960" cy="292608"/>
          </a:xfrm>
          <a:prstGeom prst="rect">
            <a:avLst/>
          </a:prstGeom>
          <a:noFill/>
        </p:spPr>
        <p:txBody>
          <a:bodyPr wrap="square" lIns="0" rIns="0" tIns="0" bIns="0">
            <a:spAutoFit/>
          </a:bodyPr>
          <a:lstStyle/>
          <a:p>
            <a:pPr algn="l"/>
            <a:r>
              <a:rPr sz="1900" b="1" i="1" u="none">
                <a:solidFill>
                  <a:srgbClr val="0B2B4E"/>
                </a:solidFill>
                <a:latin typeface="Calibri"/>
              </a:rPr>
              <a:t>MC</a:t>
            </a:r>
          </a:p>
        </p:txBody>
      </p:sp>
      <p:cxnSp>
        <p:nvCxnSpPr>
          <p:cNvPr id="13" name="Connector 12"/>
          <p:cNvCxnSpPr/>
          <p:nvPr/>
        </p:nvCxnSpPr>
        <p:spPr>
          <a:xfrm>
            <a:off x="1188720" y="4111142"/>
            <a:ext cx="95133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40058" y="4111142"/>
            <a:ext cx="0" cy="142097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46888" y="3973982"/>
            <a:ext cx="868680" cy="274320"/>
          </a:xfrm>
          <a:prstGeom prst="rect">
            <a:avLst/>
          </a:prstGeom>
          <a:noFill/>
        </p:spPr>
        <p:txBody>
          <a:bodyPr wrap="square" lIns="0" rIns="0" tIns="0" bIns="0">
            <a:spAutoFit/>
          </a:bodyPr>
          <a:lstStyle/>
          <a:p>
            <a:pPr algn="r"/>
            <a:r>
              <a:rPr sz="1600" b="0" i="1" u="none">
                <a:solidFill>
                  <a:srgbClr val="0B2B4E"/>
                </a:solidFill>
                <a:latin typeface="Calibri"/>
              </a:rPr>
              <a:t>210</a:t>
            </a:r>
          </a:p>
        </p:txBody>
      </p:sp>
      <p:sp>
        <p:nvSpPr>
          <p:cNvPr id="16" name="TextBox 15"/>
          <p:cNvSpPr txBox="1"/>
          <p:nvPr/>
        </p:nvSpPr>
        <p:spPr>
          <a:xfrm>
            <a:off x="1746866" y="5586983"/>
            <a:ext cx="786384" cy="274320"/>
          </a:xfrm>
          <a:prstGeom prst="rect">
            <a:avLst/>
          </a:prstGeom>
          <a:noFill/>
        </p:spPr>
        <p:txBody>
          <a:bodyPr wrap="square" lIns="0" rIns="0" tIns="0" bIns="0">
            <a:spAutoFit/>
          </a:bodyPr>
          <a:lstStyle/>
          <a:p>
            <a:pPr algn="ctr"/>
            <a:r>
              <a:rPr sz="1600" b="0" i="1" u="none">
                <a:solidFill>
                  <a:srgbClr val="0B2B4E"/>
                </a:solidFill>
                <a:latin typeface="Calibri"/>
              </a:rPr>
              <a:t>187.5</a:t>
            </a:r>
          </a:p>
        </p:txBody>
      </p:sp>
      <p:sp>
        <p:nvSpPr>
          <p:cNvPr id="17" name="Oval 16"/>
          <p:cNvSpPr/>
          <p:nvPr/>
        </p:nvSpPr>
        <p:spPr>
          <a:xfrm>
            <a:off x="2080622" y="4051706"/>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188720" y="2825496"/>
            <a:ext cx="3361395"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550115" y="2825496"/>
            <a:ext cx="0" cy="2706624"/>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6888" y="2688336"/>
            <a:ext cx="868680" cy="274320"/>
          </a:xfrm>
          <a:prstGeom prst="rect">
            <a:avLst/>
          </a:prstGeom>
          <a:noFill/>
        </p:spPr>
        <p:txBody>
          <a:bodyPr wrap="square" lIns="0" rIns="0" tIns="0" bIns="0">
            <a:spAutoFit/>
          </a:bodyPr>
          <a:lstStyle/>
          <a:p>
            <a:pPr algn="r"/>
            <a:r>
              <a:rPr sz="1600" b="0" i="1" u="none">
                <a:solidFill>
                  <a:srgbClr val="0B2B4E"/>
                </a:solidFill>
                <a:latin typeface="Calibri"/>
              </a:rPr>
              <a:t>400</a:t>
            </a:r>
          </a:p>
        </p:txBody>
      </p:sp>
      <p:sp>
        <p:nvSpPr>
          <p:cNvPr id="21" name="TextBox 20"/>
          <p:cNvSpPr txBox="1"/>
          <p:nvPr/>
        </p:nvSpPr>
        <p:spPr>
          <a:xfrm>
            <a:off x="4156923" y="5586983"/>
            <a:ext cx="786384" cy="274320"/>
          </a:xfrm>
          <a:prstGeom prst="rect">
            <a:avLst/>
          </a:prstGeom>
          <a:noFill/>
        </p:spPr>
        <p:txBody>
          <a:bodyPr wrap="square" lIns="0" rIns="0" tIns="0" bIns="0">
            <a:spAutoFit/>
          </a:bodyPr>
          <a:lstStyle/>
          <a:p>
            <a:pPr algn="ctr"/>
            <a:r>
              <a:rPr sz="1600" b="0" i="1" u="none">
                <a:solidFill>
                  <a:srgbClr val="0B2B4E"/>
                </a:solidFill>
                <a:latin typeface="Calibri"/>
              </a:rPr>
              <a:t>662.5</a:t>
            </a:r>
          </a:p>
        </p:txBody>
      </p:sp>
      <p:sp>
        <p:nvSpPr>
          <p:cNvPr id="22" name="Oval 21"/>
          <p:cNvSpPr/>
          <p:nvPr/>
        </p:nvSpPr>
        <p:spPr>
          <a:xfrm>
            <a:off x="4490679" y="276606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6903720" y="1984247"/>
            <a:ext cx="0" cy="354787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03720" y="5532120"/>
            <a:ext cx="43251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7920" y="1581911"/>
            <a:ext cx="1828800" cy="292608"/>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26" name="TextBox 25"/>
          <p:cNvSpPr txBox="1"/>
          <p:nvPr/>
        </p:nvSpPr>
        <p:spPr>
          <a:xfrm>
            <a:off x="10698480" y="5623559"/>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cxnSp>
        <p:nvCxnSpPr>
          <p:cNvPr id="27" name="Connector 26"/>
          <p:cNvCxnSpPr/>
          <p:nvPr/>
        </p:nvCxnSpPr>
        <p:spPr>
          <a:xfrm flipV="1">
            <a:off x="6903720" y="2561600"/>
            <a:ext cx="3856091" cy="205703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658335" y="2239365"/>
            <a:ext cx="822960" cy="292608"/>
          </a:xfrm>
          <a:prstGeom prst="rect">
            <a:avLst/>
          </a:prstGeom>
          <a:noFill/>
        </p:spPr>
        <p:txBody>
          <a:bodyPr wrap="square" lIns="0" rIns="0" tIns="0" bIns="0">
            <a:spAutoFit/>
          </a:bodyPr>
          <a:lstStyle/>
          <a:p>
            <a:pPr algn="l"/>
            <a:r>
              <a:rPr sz="1900" b="1" i="1" u="none">
                <a:solidFill>
                  <a:srgbClr val="0B2B4E"/>
                </a:solidFill>
                <a:latin typeface="Calibri"/>
              </a:rPr>
              <a:t>S</a:t>
            </a:r>
          </a:p>
        </p:txBody>
      </p:sp>
      <p:cxnSp>
        <p:nvCxnSpPr>
          <p:cNvPr id="29" name="Connector 28"/>
          <p:cNvCxnSpPr/>
          <p:nvPr/>
        </p:nvCxnSpPr>
        <p:spPr>
          <a:xfrm>
            <a:off x="6903720" y="4111142"/>
            <a:ext cx="95133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855058" y="4111142"/>
            <a:ext cx="0" cy="1420978"/>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61888" y="3973982"/>
            <a:ext cx="868680" cy="274320"/>
          </a:xfrm>
          <a:prstGeom prst="rect">
            <a:avLst/>
          </a:prstGeom>
          <a:noFill/>
        </p:spPr>
        <p:txBody>
          <a:bodyPr wrap="square" lIns="0" rIns="0" tIns="0" bIns="0">
            <a:spAutoFit/>
          </a:bodyPr>
          <a:lstStyle/>
          <a:p>
            <a:pPr algn="r"/>
            <a:r>
              <a:rPr sz="1600" b="0" i="1" u="none">
                <a:solidFill>
                  <a:srgbClr val="0B2B4E"/>
                </a:solidFill>
                <a:latin typeface="Calibri"/>
              </a:rPr>
              <a:t>210</a:t>
            </a:r>
          </a:p>
        </p:txBody>
      </p:sp>
      <p:sp>
        <p:nvSpPr>
          <p:cNvPr id="32" name="TextBox 31"/>
          <p:cNvSpPr txBox="1"/>
          <p:nvPr/>
        </p:nvSpPr>
        <p:spPr>
          <a:xfrm>
            <a:off x="7461866" y="5586983"/>
            <a:ext cx="786384" cy="274320"/>
          </a:xfrm>
          <a:prstGeom prst="rect">
            <a:avLst/>
          </a:prstGeom>
          <a:noFill/>
        </p:spPr>
        <p:txBody>
          <a:bodyPr wrap="square" lIns="0" rIns="0" tIns="0" bIns="0">
            <a:spAutoFit/>
          </a:bodyPr>
          <a:lstStyle/>
          <a:p>
            <a:pPr algn="ctr"/>
            <a:r>
              <a:rPr sz="1600" b="0" i="1" u="none">
                <a:solidFill>
                  <a:srgbClr val="0B2B4E"/>
                </a:solidFill>
                <a:latin typeface="Calibri"/>
              </a:rPr>
              <a:t>187.5</a:t>
            </a:r>
          </a:p>
        </p:txBody>
      </p:sp>
      <p:sp>
        <p:nvSpPr>
          <p:cNvPr id="33" name="Oval 32"/>
          <p:cNvSpPr/>
          <p:nvPr/>
        </p:nvSpPr>
        <p:spPr>
          <a:xfrm>
            <a:off x="7795622" y="4051706"/>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903720" y="2825496"/>
            <a:ext cx="3361395"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265115" y="2825496"/>
            <a:ext cx="0" cy="2706624"/>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61888" y="2688336"/>
            <a:ext cx="868680" cy="274320"/>
          </a:xfrm>
          <a:prstGeom prst="rect">
            <a:avLst/>
          </a:prstGeom>
          <a:noFill/>
        </p:spPr>
        <p:txBody>
          <a:bodyPr wrap="square" lIns="0" rIns="0" tIns="0" bIns="0">
            <a:spAutoFit/>
          </a:bodyPr>
          <a:lstStyle/>
          <a:p>
            <a:pPr algn="r"/>
            <a:r>
              <a:rPr sz="1600" b="0" i="1" u="none">
                <a:solidFill>
                  <a:srgbClr val="0B2B4E"/>
                </a:solidFill>
                <a:latin typeface="Calibri"/>
              </a:rPr>
              <a:t>400</a:t>
            </a:r>
          </a:p>
        </p:txBody>
      </p:sp>
      <p:sp>
        <p:nvSpPr>
          <p:cNvPr id="37" name="TextBox 36"/>
          <p:cNvSpPr txBox="1"/>
          <p:nvPr/>
        </p:nvSpPr>
        <p:spPr>
          <a:xfrm>
            <a:off x="9871923" y="5586983"/>
            <a:ext cx="786384" cy="274320"/>
          </a:xfrm>
          <a:prstGeom prst="rect">
            <a:avLst/>
          </a:prstGeom>
          <a:noFill/>
        </p:spPr>
        <p:txBody>
          <a:bodyPr wrap="square" lIns="0" rIns="0" tIns="0" bIns="0">
            <a:spAutoFit/>
          </a:bodyPr>
          <a:lstStyle/>
          <a:p>
            <a:pPr algn="ctr"/>
            <a:r>
              <a:rPr sz="1600" b="0" i="1" u="none">
                <a:solidFill>
                  <a:srgbClr val="0B2B4E"/>
                </a:solidFill>
                <a:latin typeface="Calibri"/>
              </a:rPr>
              <a:t>662.5</a:t>
            </a:r>
          </a:p>
        </p:txBody>
      </p:sp>
      <p:sp>
        <p:nvSpPr>
          <p:cNvPr id="38" name="Oval 37"/>
          <p:cNvSpPr/>
          <p:nvPr/>
        </p:nvSpPr>
        <p:spPr>
          <a:xfrm>
            <a:off x="10205679" y="276606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1188720" y="3590117"/>
            <a:ext cx="3856091" cy="1028517"/>
          </a:xfrm>
          <a:prstGeom prst="line">
            <a:avLst/>
          </a:prstGeom>
          <a:ln w="28575">
            <a:solidFill>
              <a:srgbClr val="555B6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943335" y="3267882"/>
            <a:ext cx="822960" cy="292608"/>
          </a:xfrm>
          <a:prstGeom prst="rect">
            <a:avLst/>
          </a:prstGeom>
          <a:noFill/>
        </p:spPr>
        <p:txBody>
          <a:bodyPr wrap="square" lIns="0" rIns="0" tIns="0" bIns="0">
            <a:spAutoFit/>
          </a:bodyPr>
          <a:lstStyle/>
          <a:p>
            <a:pPr algn="l"/>
            <a:r>
              <a:rPr sz="1700" b="1" i="1" u="none">
                <a:solidFill>
                  <a:srgbClr val="555B66"/>
                </a:solidFill>
                <a:latin typeface="Calibri"/>
              </a:rPr>
              <a:t>AVC</a:t>
            </a:r>
          </a:p>
        </p:txBody>
      </p:sp>
      <p:sp>
        <p:nvSpPr>
          <p:cNvPr id="41" name="TextBox 40"/>
          <p:cNvSpPr txBox="1"/>
          <p:nvPr/>
        </p:nvSpPr>
        <p:spPr>
          <a:xfrm>
            <a:off x="1188720" y="1444752"/>
            <a:ext cx="4160520" cy="347472"/>
          </a:xfrm>
          <a:prstGeom prst="rect">
            <a:avLst/>
          </a:prstGeom>
          <a:noFill/>
        </p:spPr>
        <p:txBody>
          <a:bodyPr wrap="square" lIns="0" rIns="0" tIns="0" bIns="0">
            <a:spAutoFit/>
          </a:bodyPr>
          <a:lstStyle/>
          <a:p>
            <a:pPr algn="ctr"/>
            <a:r>
              <a:rPr sz="2000" b="1" i="0" u="none">
                <a:solidFill>
                  <a:srgbClr val="0B2B4E"/>
                </a:solidFill>
                <a:latin typeface="Calibri"/>
              </a:rPr>
              <a:t>The firm's cost curves</a:t>
            </a:r>
          </a:p>
        </p:txBody>
      </p:sp>
      <p:sp>
        <p:nvSpPr>
          <p:cNvPr id="42" name="TextBox 41"/>
          <p:cNvSpPr txBox="1"/>
          <p:nvPr/>
        </p:nvSpPr>
        <p:spPr>
          <a:xfrm>
            <a:off x="6903720" y="1444752"/>
            <a:ext cx="4160520" cy="347472"/>
          </a:xfrm>
          <a:prstGeom prst="rect">
            <a:avLst/>
          </a:prstGeom>
          <a:noFill/>
        </p:spPr>
        <p:txBody>
          <a:bodyPr wrap="square" lIns="0" rIns="0" tIns="0" bIns="0">
            <a:spAutoFit/>
          </a:bodyPr>
          <a:lstStyle/>
          <a:p>
            <a:pPr algn="ctr"/>
            <a:r>
              <a:rPr sz="2000" b="1" i="0" u="none">
                <a:solidFill>
                  <a:srgbClr val="0B2B4E"/>
                </a:solidFill>
                <a:latin typeface="Calibri"/>
              </a:rPr>
              <a:t>The firm's supply curve</a:t>
            </a:r>
          </a:p>
        </p:txBody>
      </p:sp>
      <p:sp>
        <p:nvSpPr>
          <p:cNvPr id="43" name="Rectangle 4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46" name="TextBox 45"/>
          <p:cNvSpPr txBox="1"/>
          <p:nvPr/>
        </p:nvSpPr>
        <p:spPr>
          <a:xfrm>
            <a:off x="11475720" y="6583680"/>
            <a:ext cx="502920" cy="292608"/>
          </a:xfrm>
          <a:prstGeom prst="rect">
            <a:avLst/>
          </a:prstGeom>
          <a:noFill/>
        </p:spPr>
        <p:txBody>
          <a:bodyPr wrap="none" lIns="0" rIns="0" tIns="0" bIns="0">
            <a:spAutoFit/>
          </a:bodyPr>
          <a:lstStyle/>
          <a:p>
            <a:pPr algn="r"/>
            <a:fld id="{9F386A92-D12C-5D81-A2EA-B3A7E8744320}" type="slidenum">
              <a:rPr lang="en-US" sz="1200" dirty="0">
                <a:solidFill>
                  <a:srgbClr val="555B66"/>
                </a:solidFill>
                <a:latin typeface="Calibri"/>
              </a:rPr>
              <a:t>43</a:t>
            </a:fld>
          </a:p>
        </p:txBody>
      </p:sp>
      <p:sp>
        <p:nvSpPr>
          <p:cNvPr id="47" name="Rounded Rectangle 46"/>
          <p:cNvSpPr/>
          <p:nvPr/>
        </p:nvSpPr>
        <p:spPr>
          <a:xfrm>
            <a:off x="594360" y="5870448"/>
            <a:ext cx="813816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Read the quantity off MC at each price — that IS the supply curve</a:t>
            </a:r>
          </a:p>
        </p:txBody>
      </p:sp>
      <p:sp>
        <p:nvSpPr>
          <p:cNvPr id="48" name="Rounded Rectangle 47"/>
          <p:cNvSpPr/>
          <p:nvPr/>
        </p:nvSpPr>
        <p:spPr>
          <a:xfrm>
            <a:off x="9098280" y="5961888"/>
            <a:ext cx="283464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B2B4E"/>
                </a:solidFill>
                <a:latin typeface="Calibri"/>
              </a:rPr>
              <a:t>Yi Family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500"/>
                                        <p:tgtEl>
                                          <p:spTgt spid="3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00"/>
                                        <p:tgtEl>
                                          <p:spTgt spid="3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500"/>
                                        <p:tgtEl>
                                          <p:spTgt spid="3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4"/>
                                        </p:tgtEl>
                                        <p:attrNameLst>
                                          <p:attrName>style.visibility</p:attrName>
                                        </p:attrNameLst>
                                      </p:cBhvr>
                                      <p:to>
                                        <p:strVal val="visible"/>
                                      </p:to>
                                    </p:set>
                                    <p:animEffect transition="in" filter="fade">
                                      <p:cBhvr>
                                        <p:cTn id="80" dur="500"/>
                                        <p:tgtEl>
                                          <p:spTgt spid="3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6"/>
                                        </p:tgtEl>
                                        <p:attrNameLst>
                                          <p:attrName>style.visibility</p:attrName>
                                        </p:attrNameLst>
                                      </p:cBhvr>
                                      <p:to>
                                        <p:strVal val="visible"/>
                                      </p:to>
                                    </p:set>
                                    <p:animEffect transition="in" filter="fade">
                                      <p:cBhvr>
                                        <p:cTn id="86" dur="500"/>
                                        <p:tgtEl>
                                          <p:spTgt spid="3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animEffect transition="in" filter="fade">
                                      <p:cBhvr>
                                        <p:cTn id="89" dur="500"/>
                                        <p:tgtEl>
                                          <p:spTgt spid="3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fade">
                                      <p:cBhvr>
                                        <p:cTn id="92" dur="500"/>
                                        <p:tgtEl>
                                          <p:spTgt spid="3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fade">
                                      <p:cBhvr>
                                        <p:cTn id="9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Firm-Level and Market Supply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Effect of Changing Marginal Costs on a Price Taker's Supply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920240" y="1801368"/>
            <a:ext cx="0" cy="373075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20240" y="5532120"/>
            <a:ext cx="693115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34440" y="1399031"/>
            <a:ext cx="1828800" cy="292608"/>
          </a:xfrm>
          <a:prstGeom prst="rect">
            <a:avLst/>
          </a:prstGeom>
          <a:noFill/>
        </p:spPr>
        <p:txBody>
          <a:bodyPr wrap="square" lIns="0" rIns="0" tIns="0" bIns="0">
            <a:spAutoFit/>
          </a:bodyPr>
          <a:lstStyle/>
          <a:p>
            <a:pPr algn="l"/>
            <a:r>
              <a:rPr sz="1800" b="1" i="1" u="none">
                <a:solidFill>
                  <a:srgbClr val="0B2B4E"/>
                </a:solidFill>
                <a:latin typeface="Calibri"/>
              </a:rPr>
              <a:t>$</a:t>
            </a:r>
          </a:p>
        </p:txBody>
      </p:sp>
      <p:sp>
        <p:nvSpPr>
          <p:cNvPr id="10" name="TextBox 9"/>
          <p:cNvSpPr txBox="1"/>
          <p:nvPr/>
        </p:nvSpPr>
        <p:spPr>
          <a:xfrm>
            <a:off x="8321040" y="5623559"/>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1" name="Connector 10"/>
          <p:cNvCxnSpPr/>
          <p:nvPr/>
        </p:nvCxnSpPr>
        <p:spPr>
          <a:xfrm flipV="1">
            <a:off x="1920240" y="2201461"/>
            <a:ext cx="5295568" cy="2422297"/>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98129" y="1853299"/>
            <a:ext cx="822960" cy="292608"/>
          </a:xfrm>
          <a:prstGeom prst="rect">
            <a:avLst/>
          </a:prstGeom>
          <a:noFill/>
        </p:spPr>
        <p:txBody>
          <a:bodyPr wrap="square" lIns="0" rIns="0" tIns="0" bIns="0">
            <a:spAutoFit/>
          </a:bodyPr>
          <a:lstStyle/>
          <a:p>
            <a:pPr algn="l"/>
            <a:r>
              <a:rPr sz="1900" b="1" i="1" u="none">
                <a:solidFill>
                  <a:srgbClr val="0B2B4E"/>
                </a:solidFill>
                <a:latin typeface="Calibri"/>
              </a:rPr>
              <a:t>MC0</a:t>
            </a:r>
          </a:p>
        </p:txBody>
      </p:sp>
      <p:cxnSp>
        <p:nvCxnSpPr>
          <p:cNvPr id="13" name="Connector 12"/>
          <p:cNvCxnSpPr/>
          <p:nvPr/>
        </p:nvCxnSpPr>
        <p:spPr>
          <a:xfrm flipV="1">
            <a:off x="1920240" y="2443690"/>
            <a:ext cx="6354682" cy="2180068"/>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127823" y="2095528"/>
            <a:ext cx="822960" cy="292608"/>
          </a:xfrm>
          <a:prstGeom prst="rect">
            <a:avLst/>
          </a:prstGeom>
          <a:noFill/>
        </p:spPr>
        <p:txBody>
          <a:bodyPr wrap="square" lIns="0" rIns="0" tIns="0" bIns="0">
            <a:spAutoFit/>
          </a:bodyPr>
          <a:lstStyle/>
          <a:p>
            <a:pPr algn="l"/>
            <a:r>
              <a:rPr sz="1900" b="1" i="1" u="none">
                <a:solidFill>
                  <a:srgbClr val="E09F3E"/>
                </a:solidFill>
                <a:latin typeface="Calibri"/>
              </a:rPr>
              <a:t>MC1</a:t>
            </a:r>
          </a:p>
        </p:txBody>
      </p:sp>
      <p:cxnSp>
        <p:nvCxnSpPr>
          <p:cNvPr id="15" name="Connector 14"/>
          <p:cNvCxnSpPr/>
          <p:nvPr/>
        </p:nvCxnSpPr>
        <p:spPr>
          <a:xfrm>
            <a:off x="1920240" y="2840678"/>
            <a:ext cx="6472361"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686525" y="2398315"/>
            <a:ext cx="822960" cy="292608"/>
          </a:xfrm>
          <a:prstGeom prst="rect">
            <a:avLst/>
          </a:prstGeom>
          <a:noFill/>
        </p:spPr>
        <p:txBody>
          <a:bodyPr wrap="square" lIns="0" rIns="0" tIns="0" bIns="0">
            <a:spAutoFit/>
          </a:bodyPr>
          <a:lstStyle/>
          <a:p>
            <a:pPr algn="l"/>
            <a:r>
              <a:rPr sz="1800" b="1" i="1" u="none">
                <a:solidFill>
                  <a:srgbClr val="0B2B4E"/>
                </a:solidFill>
                <a:latin typeface="Calibri"/>
              </a:rPr>
              <a:t>P = MR</a:t>
            </a:r>
          </a:p>
        </p:txBody>
      </p:sp>
      <p:cxnSp>
        <p:nvCxnSpPr>
          <p:cNvPr id="17" name="Connector 16"/>
          <p:cNvCxnSpPr/>
          <p:nvPr/>
        </p:nvCxnSpPr>
        <p:spPr>
          <a:xfrm flipV="1">
            <a:off x="5818366" y="2840678"/>
            <a:ext cx="0" cy="269144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61166" y="5586983"/>
            <a:ext cx="914400" cy="274320"/>
          </a:xfrm>
          <a:prstGeom prst="rect">
            <a:avLst/>
          </a:prstGeom>
          <a:noFill/>
        </p:spPr>
        <p:txBody>
          <a:bodyPr wrap="square" lIns="0" rIns="0" tIns="0" bIns="0">
            <a:spAutoFit/>
          </a:bodyPr>
          <a:lstStyle/>
          <a:p>
            <a:pPr algn="ctr"/>
            <a:r>
              <a:rPr sz="1800" b="1" i="1" u="none">
                <a:solidFill>
                  <a:srgbClr val="0B2B4E"/>
                </a:solidFill>
                <a:latin typeface="Calibri"/>
              </a:rPr>
              <a:t>q0</a:t>
            </a:r>
          </a:p>
        </p:txBody>
      </p:sp>
      <p:sp>
        <p:nvSpPr>
          <p:cNvPr id="19" name="Oval 18"/>
          <p:cNvSpPr/>
          <p:nvPr/>
        </p:nvSpPr>
        <p:spPr>
          <a:xfrm>
            <a:off x="5758930" y="2781242"/>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117742" y="2840678"/>
            <a:ext cx="0" cy="269144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660542" y="5586983"/>
            <a:ext cx="914400" cy="274320"/>
          </a:xfrm>
          <a:prstGeom prst="rect">
            <a:avLst/>
          </a:prstGeom>
          <a:noFill/>
        </p:spPr>
        <p:txBody>
          <a:bodyPr wrap="square" lIns="0" rIns="0" tIns="0" bIns="0">
            <a:spAutoFit/>
          </a:bodyPr>
          <a:lstStyle/>
          <a:p>
            <a:pPr algn="ctr"/>
            <a:r>
              <a:rPr sz="1800" b="1" i="1" u="none">
                <a:solidFill>
                  <a:srgbClr val="0B2B4E"/>
                </a:solidFill>
                <a:latin typeface="Calibri"/>
              </a:rPr>
              <a:t>q1</a:t>
            </a:r>
          </a:p>
        </p:txBody>
      </p:sp>
      <p:sp>
        <p:nvSpPr>
          <p:cNvPr id="22" name="Oval 21"/>
          <p:cNvSpPr/>
          <p:nvPr/>
        </p:nvSpPr>
        <p:spPr>
          <a:xfrm>
            <a:off x="7058306" y="2781242"/>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5818366" y="4556472"/>
            <a:ext cx="1299376" cy="0"/>
          </a:xfrm>
          <a:prstGeom prst="line">
            <a:avLst/>
          </a:prstGeom>
          <a:ln w="38100">
            <a:solidFill>
              <a:srgbClr val="E09F3E"/>
            </a:solidFill>
            <a:tailEnd type="triangle" w="med" h="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31720" y="2103120"/>
            <a:ext cx="3108960" cy="685800"/>
          </a:xfrm>
          <a:prstGeom prst="rect">
            <a:avLst/>
          </a:prstGeom>
          <a:noFill/>
        </p:spPr>
        <p:txBody>
          <a:bodyPr wrap="square" lIns="0" rIns="0" tIns="0" bIns="0">
            <a:spAutoFit/>
          </a:bodyPr>
          <a:lstStyle/>
          <a:p>
            <a:pPr algn="l"/>
            <a:r>
              <a:rPr sz="1900" b="1" i="0" u="none">
                <a:solidFill>
                  <a:srgbClr val="E09F3E"/>
                </a:solidFill>
                <a:latin typeface="Calibri"/>
              </a:rPr>
              <a:t>High-yield seeds
lower marginal cost</a:t>
            </a:r>
          </a:p>
        </p:txBody>
      </p:sp>
      <p:sp>
        <p:nvSpPr>
          <p:cNvPr id="25" name="Rectangle 2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8" name="TextBox 27"/>
          <p:cNvSpPr txBox="1"/>
          <p:nvPr/>
        </p:nvSpPr>
        <p:spPr>
          <a:xfrm>
            <a:off x="11475720" y="6583680"/>
            <a:ext cx="502920" cy="292608"/>
          </a:xfrm>
          <a:prstGeom prst="rect">
            <a:avLst/>
          </a:prstGeom>
          <a:noFill/>
        </p:spPr>
        <p:txBody>
          <a:bodyPr wrap="none" lIns="0" rIns="0" tIns="0" bIns="0">
            <a:spAutoFit/>
          </a:bodyPr>
          <a:lstStyle/>
          <a:p>
            <a:pPr algn="r"/>
            <a:fld id="{99DE5288-7E28-53A2-BA5C-A68EAE30E11A}" type="slidenum">
              <a:rPr lang="en-US" sz="1200" dirty="0">
                <a:solidFill>
                  <a:srgbClr val="555B66"/>
                </a:solidFill>
                <a:latin typeface="Calibri"/>
              </a:rPr>
              <a:t>44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Firm-Level and Market Supply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Firm and Market Dynamics When MC Falls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3977639" cy="347472"/>
          </a:xfrm>
          <a:prstGeom prst="rect">
            <a:avLst/>
          </a:prstGeom>
          <a:noFill/>
        </p:spPr>
        <p:txBody>
          <a:bodyPr wrap="square" lIns="0" rIns="0" tIns="0" bIns="0">
            <a:spAutoFit/>
          </a:bodyPr>
          <a:lstStyle/>
          <a:p>
            <a:pPr algn="ctr"/>
            <a:r>
              <a:rPr sz="2100" b="1" i="0" u="none">
                <a:solidFill>
                  <a:srgbClr val="0B2B4E"/>
                </a:solidFill>
                <a:latin typeface="Calibri"/>
              </a:rPr>
              <a:t>Market</a:t>
            </a:r>
          </a:p>
        </p:txBody>
      </p:sp>
      <p:sp>
        <p:nvSpPr>
          <p:cNvPr id="8" name="TextBox 7"/>
          <p:cNvSpPr txBox="1"/>
          <p:nvPr/>
        </p:nvSpPr>
        <p:spPr>
          <a:xfrm>
            <a:off x="6720840" y="1810512"/>
            <a:ext cx="4069080" cy="347472"/>
          </a:xfrm>
          <a:prstGeom prst="rect">
            <a:avLst/>
          </a:prstGeom>
          <a:noFill/>
        </p:spPr>
        <p:txBody>
          <a:bodyPr wrap="square" lIns="0" rIns="0" tIns="0" bIns="0">
            <a:spAutoFit/>
          </a:bodyPr>
          <a:lstStyle/>
          <a:p>
            <a:pPr algn="ctr"/>
            <a:r>
              <a:rPr sz="2100" b="1" i="0" u="none">
                <a:solidFill>
                  <a:srgbClr val="0B2B4E"/>
                </a:solidFill>
                <a:latin typeface="Calibri"/>
              </a:rPr>
              <a:t>Firm (farmer)</a:t>
            </a:r>
          </a:p>
        </p:txBody>
      </p:sp>
      <p:cxnSp>
        <p:nvCxnSpPr>
          <p:cNvPr id="9" name="Connector 8"/>
          <p:cNvCxnSpPr/>
          <p:nvPr/>
        </p:nvCxnSpPr>
        <p:spPr>
          <a:xfrm flipV="1">
            <a:off x="960120" y="2276855"/>
            <a:ext cx="0" cy="322783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0120" y="5504688"/>
            <a:ext cx="414223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1874519"/>
            <a:ext cx="1828800" cy="292608"/>
          </a:xfrm>
          <a:prstGeom prst="rect">
            <a:avLst/>
          </a:prstGeom>
          <a:noFill/>
        </p:spPr>
        <p:txBody>
          <a:bodyPr wrap="square" lIns="0" rIns="0" tIns="0" bIns="0">
            <a:spAutoFit/>
          </a:bodyPr>
          <a:lstStyle/>
          <a:p>
            <a:pPr algn="l"/>
            <a:r>
              <a:rPr sz="1700" b="1" i="1" u="none">
                <a:solidFill>
                  <a:srgbClr val="0B2B4E"/>
                </a:solidFill>
                <a:latin typeface="Calibri"/>
              </a:rPr>
              <a:t>P</a:t>
            </a:r>
          </a:p>
        </p:txBody>
      </p:sp>
      <p:sp>
        <p:nvSpPr>
          <p:cNvPr id="12" name="TextBox 11"/>
          <p:cNvSpPr txBox="1"/>
          <p:nvPr/>
        </p:nvSpPr>
        <p:spPr>
          <a:xfrm>
            <a:off x="4571999" y="5596127"/>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cxnSp>
        <p:nvCxnSpPr>
          <p:cNvPr id="13" name="Connector 12"/>
          <p:cNvCxnSpPr/>
          <p:nvPr/>
        </p:nvCxnSpPr>
        <p:spPr>
          <a:xfrm flipV="1">
            <a:off x="6720840" y="2276855"/>
            <a:ext cx="0" cy="322783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20840" y="5504688"/>
            <a:ext cx="42336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35040" y="1874519"/>
            <a:ext cx="1828800" cy="292608"/>
          </a:xfrm>
          <a:prstGeom prst="rect">
            <a:avLst/>
          </a:prstGeom>
          <a:noFill/>
        </p:spPr>
        <p:txBody>
          <a:bodyPr wrap="square" lIns="0" rIns="0" tIns="0" bIns="0">
            <a:spAutoFit/>
          </a:bodyPr>
          <a:lstStyle/>
          <a:p>
            <a:pPr algn="l"/>
            <a:r>
              <a:rPr sz="1700" b="1" i="1" u="none">
                <a:solidFill>
                  <a:srgbClr val="0B2B4E"/>
                </a:solidFill>
                <a:latin typeface="Calibri"/>
              </a:rPr>
              <a:t>P</a:t>
            </a:r>
          </a:p>
        </p:txBody>
      </p:sp>
      <p:sp>
        <p:nvSpPr>
          <p:cNvPr id="16" name="TextBox 15"/>
          <p:cNvSpPr txBox="1"/>
          <p:nvPr/>
        </p:nvSpPr>
        <p:spPr>
          <a:xfrm>
            <a:off x="10424160" y="5596127"/>
            <a:ext cx="1645920" cy="292608"/>
          </a:xfrm>
          <a:prstGeom prst="rect">
            <a:avLst/>
          </a:prstGeom>
          <a:noFill/>
        </p:spPr>
        <p:txBody>
          <a:bodyPr wrap="square" lIns="0" rIns="0" tIns="0" bIns="0">
            <a:spAutoFit/>
          </a:bodyPr>
          <a:lstStyle/>
          <a:p>
            <a:pPr algn="l"/>
            <a:r>
              <a:rPr sz="1700" b="1" i="1" u="none">
                <a:solidFill>
                  <a:srgbClr val="0B2B4E"/>
                </a:solidFill>
                <a:latin typeface="Calibri"/>
              </a:rPr>
              <a:t>Q</a:t>
            </a:r>
          </a:p>
        </p:txBody>
      </p:sp>
      <p:cxnSp>
        <p:nvCxnSpPr>
          <p:cNvPr id="17" name="Connector 16"/>
          <p:cNvCxnSpPr/>
          <p:nvPr/>
        </p:nvCxnSpPr>
        <p:spPr>
          <a:xfrm flipV="1">
            <a:off x="1321723" y="2887010"/>
            <a:ext cx="3037471" cy="2339201"/>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41114" y="2657163"/>
            <a:ext cx="822960" cy="292608"/>
          </a:xfrm>
          <a:prstGeom prst="rect">
            <a:avLst/>
          </a:prstGeom>
          <a:noFill/>
        </p:spPr>
        <p:txBody>
          <a:bodyPr wrap="square" lIns="0" rIns="0" tIns="0" bIns="0">
            <a:spAutoFit/>
          </a:bodyPr>
          <a:lstStyle/>
          <a:p>
            <a:pPr algn="l"/>
            <a:r>
              <a:rPr sz="1800" b="1" i="1" u="none">
                <a:solidFill>
                  <a:srgbClr val="0B2B4E"/>
                </a:solidFill>
                <a:latin typeface="Calibri"/>
              </a:rPr>
              <a:t>S</a:t>
            </a:r>
            <a:r>
              <a:rPr sz="1800" b="1" i="1" u="none" baseline="-25000">
                <a:solidFill>
                  <a:srgbClr val="0B2B4E"/>
                </a:solidFill>
                <a:latin typeface="Calibri"/>
              </a:rPr>
              <a:t>0</a:t>
            </a:r>
          </a:p>
        </p:txBody>
      </p:sp>
      <p:cxnSp>
        <p:nvCxnSpPr>
          <p:cNvPr id="19" name="Connector 18"/>
          <p:cNvCxnSpPr/>
          <p:nvPr/>
        </p:nvCxnSpPr>
        <p:spPr>
          <a:xfrm flipV="1">
            <a:off x="2189572" y="3276877"/>
            <a:ext cx="2531225" cy="1949334"/>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4637" y="3019182"/>
            <a:ext cx="822960" cy="292608"/>
          </a:xfrm>
          <a:prstGeom prst="rect">
            <a:avLst/>
          </a:prstGeom>
          <a:noFill/>
        </p:spPr>
        <p:txBody>
          <a:bodyPr wrap="square" lIns="0" rIns="0" tIns="0" bIns="0">
            <a:spAutoFit/>
          </a:bodyPr>
          <a:lstStyle/>
          <a:p>
            <a:pPr algn="l"/>
            <a:r>
              <a:rPr sz="1800" b="1" i="1" u="none">
                <a:solidFill>
                  <a:srgbClr val="E09F3E"/>
                </a:solidFill>
                <a:latin typeface="Calibri"/>
              </a:rPr>
              <a:t>S</a:t>
            </a:r>
            <a:r>
              <a:rPr sz="1800" b="1" i="1" u="none" baseline="-25000">
                <a:solidFill>
                  <a:srgbClr val="E09F3E"/>
                </a:solidFill>
                <a:latin typeface="Calibri"/>
              </a:rPr>
              <a:t>1</a:t>
            </a:r>
          </a:p>
        </p:txBody>
      </p:sp>
      <p:cxnSp>
        <p:nvCxnSpPr>
          <p:cNvPr id="21" name="Connector 20"/>
          <p:cNvCxnSpPr/>
          <p:nvPr/>
        </p:nvCxnSpPr>
        <p:spPr>
          <a:xfrm>
            <a:off x="1321723" y="2998400"/>
            <a:ext cx="3109791" cy="239489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95354" y="5107755"/>
            <a:ext cx="822960" cy="292608"/>
          </a:xfrm>
          <a:prstGeom prst="rect">
            <a:avLst/>
          </a:prstGeom>
          <a:noFill/>
        </p:spPr>
        <p:txBody>
          <a:bodyPr wrap="square" lIns="0" rIns="0" tIns="0" bIns="0">
            <a:spAutoFit/>
          </a:bodyPr>
          <a:lstStyle/>
          <a:p>
            <a:pPr algn="l"/>
            <a:r>
              <a:rPr sz="1800" b="1" i="1" u="none">
                <a:solidFill>
                  <a:srgbClr val="0B2B4E"/>
                </a:solidFill>
                <a:latin typeface="Calibri"/>
              </a:rPr>
              <a:t>D</a:t>
            </a:r>
          </a:p>
        </p:txBody>
      </p:sp>
      <p:cxnSp>
        <p:nvCxnSpPr>
          <p:cNvPr id="23" name="Connector 22"/>
          <p:cNvCxnSpPr/>
          <p:nvPr/>
        </p:nvCxnSpPr>
        <p:spPr>
          <a:xfrm>
            <a:off x="960120" y="4112306"/>
            <a:ext cx="1808018"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768138" y="4112306"/>
            <a:ext cx="0" cy="1392382"/>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539538" y="5559551"/>
            <a:ext cx="457200"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0</a:t>
            </a:r>
          </a:p>
        </p:txBody>
      </p:sp>
      <p:sp>
        <p:nvSpPr>
          <p:cNvPr id="26" name="Oval 25"/>
          <p:cNvSpPr/>
          <p:nvPr/>
        </p:nvSpPr>
        <p:spPr>
          <a:xfrm>
            <a:off x="2708702" y="4052870"/>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960120" y="4446477"/>
            <a:ext cx="2241942"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02062" y="4446477"/>
            <a:ext cx="0" cy="1058211"/>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973462" y="5559551"/>
            <a:ext cx="457200"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1</a:t>
            </a:r>
          </a:p>
        </p:txBody>
      </p:sp>
      <p:sp>
        <p:nvSpPr>
          <p:cNvPr id="30" name="Oval 29"/>
          <p:cNvSpPr/>
          <p:nvPr/>
        </p:nvSpPr>
        <p:spPr>
          <a:xfrm>
            <a:off x="3142626" y="4387041"/>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 y="3975146"/>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r>
              <a:rPr sz="1700" b="1" i="1" u="none" baseline="-25000">
                <a:solidFill>
                  <a:srgbClr val="0B2B4E"/>
                </a:solidFill>
                <a:latin typeface="Calibri"/>
              </a:rPr>
              <a:t>0</a:t>
            </a:r>
          </a:p>
        </p:txBody>
      </p:sp>
      <p:sp>
        <p:nvSpPr>
          <p:cNvPr id="32" name="TextBox 31"/>
          <p:cNvSpPr txBox="1"/>
          <p:nvPr/>
        </p:nvSpPr>
        <p:spPr>
          <a:xfrm>
            <a:off x="18288" y="4309317"/>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r>
              <a:rPr sz="1700" b="1" i="1" u="none" baseline="-25000">
                <a:solidFill>
                  <a:srgbClr val="0B2B4E"/>
                </a:solidFill>
                <a:latin typeface="Calibri"/>
              </a:rPr>
              <a:t>1</a:t>
            </a:r>
          </a:p>
        </p:txBody>
      </p:sp>
      <p:cxnSp>
        <p:nvCxnSpPr>
          <p:cNvPr id="33" name="Connector 32"/>
          <p:cNvCxnSpPr/>
          <p:nvPr/>
        </p:nvCxnSpPr>
        <p:spPr>
          <a:xfrm flipV="1">
            <a:off x="6720840" y="2764480"/>
            <a:ext cx="3033314" cy="274020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698666" y="2517925"/>
            <a:ext cx="822960" cy="292608"/>
          </a:xfrm>
          <a:prstGeom prst="rect">
            <a:avLst/>
          </a:prstGeom>
          <a:noFill/>
        </p:spPr>
        <p:txBody>
          <a:bodyPr wrap="square" lIns="0" rIns="0" tIns="0" bIns="0">
            <a:spAutoFit/>
          </a:bodyPr>
          <a:lstStyle/>
          <a:p>
            <a:pPr algn="l"/>
            <a:r>
              <a:rPr sz="1800" b="1" i="1" u="none">
                <a:solidFill>
                  <a:srgbClr val="0B2B4E"/>
                </a:solidFill>
                <a:latin typeface="Calibri"/>
              </a:rPr>
              <a:t>MC0</a:t>
            </a:r>
          </a:p>
        </p:txBody>
      </p:sp>
      <p:cxnSp>
        <p:nvCxnSpPr>
          <p:cNvPr id="35" name="Connector 34"/>
          <p:cNvCxnSpPr/>
          <p:nvPr/>
        </p:nvCxnSpPr>
        <p:spPr>
          <a:xfrm flipV="1">
            <a:off x="6720840" y="3332572"/>
            <a:ext cx="3847130" cy="2172116"/>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493986" y="3074877"/>
            <a:ext cx="822960" cy="292608"/>
          </a:xfrm>
          <a:prstGeom prst="rect">
            <a:avLst/>
          </a:prstGeom>
          <a:noFill/>
        </p:spPr>
        <p:txBody>
          <a:bodyPr wrap="square" lIns="0" rIns="0" tIns="0" bIns="0">
            <a:spAutoFit/>
          </a:bodyPr>
          <a:lstStyle/>
          <a:p>
            <a:pPr algn="l"/>
            <a:r>
              <a:rPr sz="1800" b="1" i="1" u="none">
                <a:solidFill>
                  <a:srgbClr val="E09F3E"/>
                </a:solidFill>
                <a:latin typeface="Calibri"/>
              </a:rPr>
              <a:t>MC1</a:t>
            </a:r>
          </a:p>
        </p:txBody>
      </p:sp>
      <p:cxnSp>
        <p:nvCxnSpPr>
          <p:cNvPr id="37" name="Connector 36"/>
          <p:cNvCxnSpPr/>
          <p:nvPr/>
        </p:nvCxnSpPr>
        <p:spPr>
          <a:xfrm>
            <a:off x="6720840" y="4112306"/>
            <a:ext cx="3921113" cy="0"/>
          </a:xfrm>
          <a:prstGeom prst="line">
            <a:avLst/>
          </a:prstGeom>
          <a:ln w="28575">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720840" y="4446477"/>
            <a:ext cx="3921113" cy="0"/>
          </a:xfrm>
          <a:prstGeom prst="line">
            <a:avLst/>
          </a:prstGeom>
          <a:ln w="28575">
            <a:solidFill>
              <a:srgbClr val="E09F3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89920" y="3956858"/>
            <a:ext cx="1371600" cy="310896"/>
          </a:xfrm>
          <a:prstGeom prst="rect">
            <a:avLst/>
          </a:prstGeom>
          <a:noFill/>
        </p:spPr>
        <p:txBody>
          <a:bodyPr wrap="square" lIns="0" rIns="0" tIns="0" bIns="0">
            <a:spAutoFit/>
          </a:bodyPr>
          <a:lstStyle/>
          <a:p>
            <a:pPr algn="l"/>
            <a:r>
              <a:rPr sz="1500" b="1" i="1" u="none">
                <a:solidFill>
                  <a:srgbClr val="0B2B4E"/>
                </a:solidFill>
                <a:latin typeface="Calibri"/>
              </a:rPr>
              <a:t>MR0 = </a:t>
            </a:r>
            <a:r>
              <a:rPr sz="1500" b="1" i="1" u="none">
                <a:solidFill>
                  <a:srgbClr val="0B2B4E"/>
                </a:solidFill>
                <a:latin typeface="Calibri"/>
              </a:rPr>
              <a:t>P</a:t>
            </a:r>
            <a:r>
              <a:rPr sz="1500" b="1" i="1" u="none" baseline="-25000">
                <a:solidFill>
                  <a:srgbClr val="0B2B4E"/>
                </a:solidFill>
                <a:latin typeface="Calibri"/>
              </a:rPr>
              <a:t>0</a:t>
            </a:r>
          </a:p>
        </p:txBody>
      </p:sp>
      <p:sp>
        <p:nvSpPr>
          <p:cNvPr id="40" name="TextBox 39"/>
          <p:cNvSpPr txBox="1"/>
          <p:nvPr/>
        </p:nvSpPr>
        <p:spPr>
          <a:xfrm>
            <a:off x="10789920" y="4291029"/>
            <a:ext cx="1371600" cy="310896"/>
          </a:xfrm>
          <a:prstGeom prst="rect">
            <a:avLst/>
          </a:prstGeom>
          <a:noFill/>
        </p:spPr>
        <p:txBody>
          <a:bodyPr wrap="square" lIns="0" rIns="0" tIns="0" bIns="0">
            <a:spAutoFit/>
          </a:bodyPr>
          <a:lstStyle/>
          <a:p>
            <a:pPr algn="l"/>
            <a:r>
              <a:rPr sz="1500" b="1" i="1" u="none">
                <a:solidFill>
                  <a:srgbClr val="E09F3E"/>
                </a:solidFill>
                <a:latin typeface="Calibri"/>
              </a:rPr>
              <a:t>MR1 = </a:t>
            </a:r>
            <a:r>
              <a:rPr sz="1500" b="1" i="1" u="none">
                <a:solidFill>
                  <a:srgbClr val="E09F3E"/>
                </a:solidFill>
                <a:latin typeface="Calibri"/>
              </a:rPr>
              <a:t>P</a:t>
            </a:r>
            <a:r>
              <a:rPr sz="1500" b="1" i="1" u="none" baseline="-25000">
                <a:solidFill>
                  <a:srgbClr val="E09F3E"/>
                </a:solidFill>
                <a:latin typeface="Calibri"/>
              </a:rPr>
              <a:t>1</a:t>
            </a:r>
          </a:p>
        </p:txBody>
      </p:sp>
      <p:cxnSp>
        <p:nvCxnSpPr>
          <p:cNvPr id="41" name="Connector 40"/>
          <p:cNvCxnSpPr/>
          <p:nvPr/>
        </p:nvCxnSpPr>
        <p:spPr>
          <a:xfrm flipV="1">
            <a:off x="8262158" y="4112306"/>
            <a:ext cx="0" cy="139238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960406" y="5559551"/>
            <a:ext cx="603504" cy="274320"/>
          </a:xfrm>
          <a:prstGeom prst="rect">
            <a:avLst/>
          </a:prstGeom>
          <a:noFill/>
        </p:spPr>
        <p:txBody>
          <a:bodyPr wrap="square" lIns="0" rIns="0" tIns="0" bIns="0">
            <a:spAutoFit/>
          </a:bodyPr>
          <a:lstStyle/>
          <a:p>
            <a:pPr algn="ctr"/>
            <a:r>
              <a:rPr sz="1700" b="1" i="1" u="none">
                <a:solidFill>
                  <a:srgbClr val="0B2B4E"/>
                </a:solidFill>
                <a:latin typeface="Calibri"/>
              </a:rPr>
              <a:t>q0</a:t>
            </a:r>
          </a:p>
        </p:txBody>
      </p:sp>
      <p:sp>
        <p:nvSpPr>
          <p:cNvPr id="43" name="Oval 42"/>
          <p:cNvSpPr/>
          <p:nvPr/>
        </p:nvSpPr>
        <p:spPr>
          <a:xfrm>
            <a:off x="8207294" y="4057442"/>
            <a:ext cx="109728" cy="10972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V="1">
            <a:off x="8595082" y="4446477"/>
            <a:ext cx="0" cy="105821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293330" y="5559551"/>
            <a:ext cx="603504" cy="274320"/>
          </a:xfrm>
          <a:prstGeom prst="rect">
            <a:avLst/>
          </a:prstGeom>
          <a:noFill/>
        </p:spPr>
        <p:txBody>
          <a:bodyPr wrap="square" lIns="0" rIns="0" tIns="0" bIns="0">
            <a:spAutoFit/>
          </a:bodyPr>
          <a:lstStyle/>
          <a:p>
            <a:pPr algn="ctr"/>
            <a:r>
              <a:rPr sz="1700" b="1" i="1" u="none">
                <a:solidFill>
                  <a:srgbClr val="0B2B4E"/>
                </a:solidFill>
                <a:latin typeface="Calibri"/>
              </a:rPr>
              <a:t>q2</a:t>
            </a:r>
          </a:p>
        </p:txBody>
      </p:sp>
      <p:sp>
        <p:nvSpPr>
          <p:cNvPr id="46" name="Oval 45"/>
          <p:cNvSpPr/>
          <p:nvPr/>
        </p:nvSpPr>
        <p:spPr>
          <a:xfrm>
            <a:off x="8540218" y="4391613"/>
            <a:ext cx="109728" cy="10972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V="1">
            <a:off x="9186949" y="4112306"/>
            <a:ext cx="0" cy="1392382"/>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885197" y="5559551"/>
            <a:ext cx="603504" cy="274320"/>
          </a:xfrm>
          <a:prstGeom prst="rect">
            <a:avLst/>
          </a:prstGeom>
          <a:noFill/>
        </p:spPr>
        <p:txBody>
          <a:bodyPr wrap="square" lIns="0" rIns="0" tIns="0" bIns="0">
            <a:spAutoFit/>
          </a:bodyPr>
          <a:lstStyle/>
          <a:p>
            <a:pPr algn="ctr"/>
            <a:r>
              <a:rPr sz="1700" b="1" i="1" u="none">
                <a:solidFill>
                  <a:srgbClr val="0B2B4E"/>
                </a:solidFill>
                <a:latin typeface="Calibri"/>
              </a:rPr>
              <a:t>q1</a:t>
            </a:r>
          </a:p>
        </p:txBody>
      </p:sp>
      <p:sp>
        <p:nvSpPr>
          <p:cNvPr id="49" name="Oval 48"/>
          <p:cNvSpPr/>
          <p:nvPr/>
        </p:nvSpPr>
        <p:spPr>
          <a:xfrm>
            <a:off x="9132085" y="4057442"/>
            <a:ext cx="109728" cy="109728"/>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53" name="TextBox 52"/>
          <p:cNvSpPr txBox="1"/>
          <p:nvPr/>
        </p:nvSpPr>
        <p:spPr>
          <a:xfrm>
            <a:off x="11475720" y="6583680"/>
            <a:ext cx="502920" cy="292608"/>
          </a:xfrm>
          <a:prstGeom prst="rect">
            <a:avLst/>
          </a:prstGeom>
          <a:noFill/>
        </p:spPr>
        <p:txBody>
          <a:bodyPr wrap="none" lIns="0" rIns="0" tIns="0" bIns="0">
            <a:spAutoFit/>
          </a:bodyPr>
          <a:lstStyle/>
          <a:p>
            <a:pPr algn="r"/>
            <a:fld id="{A5706A8A-BC76-5991-A5F9-3B2D52CD6AB0}" type="slidenum">
              <a:rPr lang="en-US" sz="1200" dirty="0">
                <a:solidFill>
                  <a:srgbClr val="555B66"/>
                </a:solidFill>
                <a:latin typeface="Calibri"/>
              </a:rPr>
              <a:t>45</a:t>
            </a:fld>
          </a:p>
        </p:txBody>
      </p:sp>
      <p:sp>
        <p:nvSpPr>
          <p:cNvPr id="54" name="Rounded Rectangle 53"/>
          <p:cNvSpPr/>
          <p:nvPr/>
        </p:nvSpPr>
        <p:spPr>
          <a:xfrm>
            <a:off x="883767" y="5897880"/>
            <a:ext cx="1042416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Everyone's costs fall, so the price falls too — the farmer gains less than if the seeds were his alone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500"/>
                                        <p:tgtEl>
                                          <p:spTgt spid="3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5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500"/>
                                        <p:tgtEl>
                                          <p:spTgt spid="4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8"/>
                                        </p:tgtEl>
                                        <p:attrNameLst>
                                          <p:attrName>style.visibility</p:attrName>
                                        </p:attrNameLst>
                                      </p:cBhvr>
                                      <p:to>
                                        <p:strVal val="visible"/>
                                      </p:to>
                                    </p:set>
                                    <p:animEffect transition="in" filter="fade">
                                      <p:cBhvr>
                                        <p:cTn id="74" dur="500"/>
                                        <p:tgtEl>
                                          <p:spTgt spid="4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5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fade">
                                      <p:cBhvr>
                                        <p:cTn id="93" dur="500"/>
                                        <p:tgtEl>
                                          <p:spTgt spid="2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500"/>
                                        <p:tgtEl>
                                          <p:spTgt spid="40"/>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500"/>
                                        <p:tgtEl>
                                          <p:spTgt spid="4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500"/>
                                        <p:tgtEl>
                                          <p:spTgt spid="45"/>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500"/>
                                        <p:tgtEl>
                                          <p:spTgt spid="46"/>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fade">
                                      <p:cBhvr>
                                        <p:cTn id="12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1" name="Oval 10"/>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2" name="TextBox 11"/>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3" name="Oval 12"/>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4" name="TextBox 13"/>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5" name="Rounded Rectangle 14"/>
          <p:cNvSpPr/>
          <p:nvPr/>
        </p:nvSpPr>
        <p:spPr>
          <a:xfrm>
            <a:off x="822960" y="4194810"/>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0B2B4E"/>
                </a:solidFill>
                <a:latin typeface="Calibri"/>
              </a:rPr>
              <a:t>2c</a:t>
            </a:r>
          </a:p>
        </p:txBody>
      </p:sp>
      <p:sp>
        <p:nvSpPr>
          <p:cNvPr id="17" name="TextBox 16"/>
          <p:cNvSpPr txBox="1"/>
          <p:nvPr/>
        </p:nvSpPr>
        <p:spPr>
          <a:xfrm>
            <a:off x="2148840" y="4249674"/>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Long-Run Competitive Equilibrium</a:t>
            </a:r>
          </a:p>
          <a:p>
            <a:pPr algn="l">
              <a:spcBef>
                <a:spcPts val="0"/>
              </a:spcBef>
              <a:buNone/>
            </a:pPr>
            <a:r>
              <a:rPr sz="2000">
                <a:solidFill>
                  <a:srgbClr val="555B66"/>
                </a:solidFill>
                <a:latin typeface="Calibri"/>
              </a:rPr>
              <a:t>Entry and exit drive economic profits to zero</a:t>
            </a: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9" name="TextBox 18"/>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19C17247-4565-5EF9-866A-6E593B231199}" type="slidenum">
              <a:rPr lang="en-US" sz="1200" dirty="0">
                <a:solidFill>
                  <a:srgbClr val="555B66"/>
                </a:solidFill>
                <a:latin typeface="Calibri"/>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Perfect Competition in the Long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a:latin typeface="Calibri"/>
              </a:rPr>
              <a:t>What changes in the long run?</a:t>
            </a:r>
          </a:p>
          <a:p>
            <a:pPr algn="l" lvl="1"/>
            <a:r>
              <a:rPr>
                <a:latin typeface="Calibri"/>
              </a:rPr>
              <a:t>Capital can be adjusted too, so every cost is variable</a:t>
            </a:r>
          </a:p>
          <a:p>
            <a:pPr algn="l" lvl="1"/>
            <a:r>
              <a:rPr>
                <a:latin typeface="Calibri"/>
              </a:rPr>
              <a:t>The relevant curve is long-run average cost (LAC)</a:t>
            </a:r>
          </a:p>
          <a:p>
            <a:pPr algn="l"/>
            <a:r>
              <a:rPr>
                <a:latin typeface="Calibri"/>
              </a:rPr>
              <a:t>Firms can enter and leave the market</a:t>
            </a:r>
          </a:p>
          <a:p>
            <a:pPr algn="l" lvl="1"/>
            <a:r>
              <a:rPr>
                <a:latin typeface="Calibri"/>
              </a:rPr>
              <a:t>Entry and exit move the market price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B38D1FD4-E120-5B60-A5FE-8016C3F29564}" type="slidenum">
              <a:rPr lang="en-US" sz="1200" dirty="0">
                <a:solidFill>
                  <a:srgbClr val="555B66"/>
                </a:solidFill>
                <a:latin typeface="Calibri"/>
              </a:rPr>
              <a:t>47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Long-Run Competitive Equilibrium With Many Identical Producers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331720" y="1709928"/>
            <a:ext cx="0" cy="38679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31720" y="5577840"/>
            <a:ext cx="665683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645919" y="1307591"/>
            <a:ext cx="182880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0" name="TextBox 9"/>
          <p:cNvSpPr txBox="1"/>
          <p:nvPr/>
        </p:nvSpPr>
        <p:spPr>
          <a:xfrm>
            <a:off x="8458199" y="5669279"/>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1" name="Rectangle 10"/>
          <p:cNvSpPr/>
          <p:nvPr/>
        </p:nvSpPr>
        <p:spPr>
          <a:xfrm>
            <a:off x="3346132" y="3083242"/>
            <a:ext cx="4531042" cy="1280127"/>
          </a:xfrm>
          <a:custGeom>
            <a:avLst/>
            <a:gdLst/>
            <a:ahLst/>
            <a:cxnLst/>
            <a:rect l="0" t="0" r="r" b="b"/>
            <a:pathLst>
              <a:path w="4531042" h="1280127">
                <a:moveTo>
                  <a:pt x="0" y="0"/>
                </a:moveTo>
                <a:cubicBezTo>
                  <a:pt x="151034" y="130034"/>
                  <a:pt x="604139" y="581709"/>
                  <a:pt x="906209" y="780207"/>
                </a:cubicBezTo>
                <a:cubicBezTo>
                  <a:pt x="1208278" y="978705"/>
                  <a:pt x="1510347" y="1115632"/>
                  <a:pt x="1812417" y="1190988"/>
                </a:cubicBezTo>
                <a:cubicBezTo>
                  <a:pt x="2114486" y="1266343"/>
                  <a:pt x="2416555" y="1280127"/>
                  <a:pt x="2718625" y="1232341"/>
                </a:cubicBezTo>
                <a:cubicBezTo>
                  <a:pt x="3020694" y="1184554"/>
                  <a:pt x="3322764" y="1075196"/>
                  <a:pt x="3624834" y="904268"/>
                </a:cubicBezTo>
                <a:cubicBezTo>
                  <a:pt x="3926903" y="733339"/>
                  <a:pt x="4380007" y="323018"/>
                  <a:pt x="4531042" y="206769"/>
                </a:cubicBezTo>
              </a:path>
            </a:pathLst>
          </a:custGeom>
          <a:noFill/>
          <a:ln w="4127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7174" y="2999689"/>
            <a:ext cx="822960" cy="292608"/>
          </a:xfrm>
          <a:prstGeom prst="rect">
            <a:avLst/>
          </a:prstGeom>
          <a:noFill/>
        </p:spPr>
        <p:txBody>
          <a:bodyPr wrap="square" lIns="0" rIns="0" tIns="0" bIns="0">
            <a:spAutoFit/>
          </a:bodyPr>
          <a:lstStyle/>
          <a:p>
            <a:pPr algn="l"/>
            <a:r>
              <a:rPr sz="1900" b="1" i="1" u="none">
                <a:solidFill>
                  <a:srgbClr val="E09F3E"/>
                </a:solidFill>
                <a:latin typeface="Calibri"/>
              </a:rPr>
              <a:t>LAC</a:t>
            </a:r>
          </a:p>
        </p:txBody>
      </p:sp>
      <p:sp>
        <p:nvSpPr>
          <p:cNvPr id="13" name="Rectangle 12"/>
          <p:cNvSpPr/>
          <p:nvPr/>
        </p:nvSpPr>
        <p:spPr>
          <a:xfrm>
            <a:off x="3346132" y="2105977"/>
            <a:ext cx="3381375" cy="3139677"/>
          </a:xfrm>
          <a:custGeom>
            <a:avLst/>
            <a:gdLst/>
            <a:ahLst/>
            <a:cxnLst/>
            <a:rect l="0" t="0" r="r" b="b"/>
            <a:pathLst>
              <a:path w="3381375" h="3139677">
                <a:moveTo>
                  <a:pt x="0" y="2057400"/>
                </a:moveTo>
                <a:cubicBezTo>
                  <a:pt x="140890" y="2212776"/>
                  <a:pt x="563562" y="2839640"/>
                  <a:pt x="845344" y="2989659"/>
                </a:cubicBezTo>
                <a:cubicBezTo>
                  <a:pt x="1127125" y="3139677"/>
                  <a:pt x="1408906" y="3128963"/>
                  <a:pt x="1690688" y="2957513"/>
                </a:cubicBezTo>
                <a:cubicBezTo>
                  <a:pt x="1972469" y="2786063"/>
                  <a:pt x="2254249" y="2453877"/>
                  <a:pt x="2536031" y="1960959"/>
                </a:cubicBezTo>
                <a:cubicBezTo>
                  <a:pt x="2817812" y="1468040"/>
                  <a:pt x="3240484" y="326826"/>
                  <a:pt x="3381375" y="0"/>
                </a:cubicBezTo>
              </a:path>
            </a:pathLst>
          </a:custGeom>
          <a:noFill/>
          <a:ln w="3810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6066" y="1774507"/>
            <a:ext cx="822960" cy="292608"/>
          </a:xfrm>
          <a:prstGeom prst="rect">
            <a:avLst/>
          </a:prstGeom>
          <a:noFill/>
        </p:spPr>
        <p:txBody>
          <a:bodyPr wrap="square" lIns="0" rIns="0" tIns="0" bIns="0">
            <a:spAutoFit/>
          </a:bodyPr>
          <a:lstStyle/>
          <a:p>
            <a:pPr algn="l"/>
            <a:r>
              <a:rPr sz="1900" b="1" i="1" u="none">
                <a:solidFill>
                  <a:srgbClr val="0B2B4E"/>
                </a:solidFill>
                <a:latin typeface="Calibri"/>
              </a:rPr>
              <a:t>LMC</a:t>
            </a:r>
          </a:p>
        </p:txBody>
      </p:sp>
      <p:cxnSp>
        <p:nvCxnSpPr>
          <p:cNvPr id="15" name="Connector 14"/>
          <p:cNvCxnSpPr/>
          <p:nvPr/>
        </p:nvCxnSpPr>
        <p:spPr>
          <a:xfrm>
            <a:off x="2331720" y="3108960"/>
            <a:ext cx="6221730"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0" y="2953512"/>
            <a:ext cx="1828800" cy="310896"/>
          </a:xfrm>
          <a:prstGeom prst="rect">
            <a:avLst/>
          </a:prstGeom>
          <a:noFill/>
        </p:spPr>
        <p:txBody>
          <a:bodyPr wrap="square" lIns="0" rIns="0" tIns="0" bIns="0">
            <a:spAutoFit/>
          </a:bodyPr>
          <a:lstStyle/>
          <a:p>
            <a:pPr algn="l"/>
            <a:r>
              <a:rPr sz="1700" b="1" i="1" u="none">
                <a:solidFill>
                  <a:srgbClr val="0B2B4E"/>
                </a:solidFill>
                <a:latin typeface="Calibri"/>
              </a:rPr>
              <a:t>MR = </a:t>
            </a:r>
            <a:r>
              <a:rPr sz="1700" b="1" i="1" u="none">
                <a:solidFill>
                  <a:srgbClr val="0B2B4E"/>
                </a:solidFill>
                <a:latin typeface="Calibri"/>
              </a:rPr>
              <a:t>P</a:t>
            </a:r>
            <a:r>
              <a:rPr sz="1700" b="1" i="1" u="none" baseline="-25000">
                <a:solidFill>
                  <a:srgbClr val="0B2B4E"/>
                </a:solidFill>
                <a:latin typeface="Calibri"/>
              </a:rPr>
              <a:t>1</a:t>
            </a:r>
          </a:p>
        </p:txBody>
      </p:sp>
      <p:sp>
        <p:nvSpPr>
          <p:cNvPr id="17" name="TextBox 16"/>
          <p:cNvSpPr txBox="1"/>
          <p:nvPr/>
        </p:nvSpPr>
        <p:spPr>
          <a:xfrm>
            <a:off x="1389887" y="2971800"/>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r>
              <a:rPr sz="1700" b="1" i="1" u="none" baseline="-25000">
                <a:solidFill>
                  <a:srgbClr val="0B2B4E"/>
                </a:solidFill>
                <a:latin typeface="Calibri"/>
              </a:rPr>
              <a:t>1</a:t>
            </a:r>
          </a:p>
        </p:txBody>
      </p:sp>
      <p:cxnSp>
        <p:nvCxnSpPr>
          <p:cNvPr id="18" name="Connector 17"/>
          <p:cNvCxnSpPr/>
          <p:nvPr/>
        </p:nvCxnSpPr>
        <p:spPr>
          <a:xfrm flipV="1">
            <a:off x="6346595" y="3108960"/>
            <a:ext cx="0" cy="246888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44843" y="5632703"/>
            <a:ext cx="603504"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1</a:t>
            </a:r>
          </a:p>
        </p:txBody>
      </p:sp>
      <p:sp>
        <p:nvSpPr>
          <p:cNvPr id="20" name="Oval 19"/>
          <p:cNvSpPr/>
          <p:nvPr/>
        </p:nvSpPr>
        <p:spPr>
          <a:xfrm>
            <a:off x="6287159" y="304952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2331720" y="4343400"/>
            <a:ext cx="6221730" cy="0"/>
          </a:xfrm>
          <a:prstGeom prst="line">
            <a:avLst/>
          </a:prstGeom>
          <a:ln w="31750">
            <a:solidFill>
              <a:srgbClr val="A216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961120" y="4187952"/>
            <a:ext cx="1828800" cy="310896"/>
          </a:xfrm>
          <a:prstGeom prst="rect">
            <a:avLst/>
          </a:prstGeom>
          <a:noFill/>
        </p:spPr>
        <p:txBody>
          <a:bodyPr wrap="square" lIns="0" rIns="0" tIns="0" bIns="0">
            <a:spAutoFit/>
          </a:bodyPr>
          <a:lstStyle/>
          <a:p>
            <a:pPr algn="l"/>
            <a:r>
              <a:rPr sz="1700" b="1" i="0" u="none">
                <a:solidFill>
                  <a:srgbClr val="A2162A"/>
                </a:solidFill>
                <a:latin typeface="Calibri"/>
              </a:rPr>
              <a:t>MR = PLR</a:t>
            </a:r>
          </a:p>
        </p:txBody>
      </p:sp>
      <p:sp>
        <p:nvSpPr>
          <p:cNvPr id="23" name="TextBox 22"/>
          <p:cNvSpPr txBox="1"/>
          <p:nvPr/>
        </p:nvSpPr>
        <p:spPr>
          <a:xfrm>
            <a:off x="1389887" y="4206240"/>
            <a:ext cx="868680" cy="274320"/>
          </a:xfrm>
          <a:prstGeom prst="rect">
            <a:avLst/>
          </a:prstGeom>
          <a:noFill/>
        </p:spPr>
        <p:txBody>
          <a:bodyPr wrap="square" lIns="0" rIns="0" tIns="0" bIns="0">
            <a:spAutoFit/>
          </a:bodyPr>
          <a:lstStyle/>
          <a:p>
            <a:pPr algn="r"/>
            <a:r>
              <a:rPr sz="1700" b="1" i="1" u="none">
                <a:solidFill>
                  <a:srgbClr val="0B2B4E"/>
                </a:solidFill>
                <a:latin typeface="Calibri"/>
              </a:rPr>
              <a:t>PLR</a:t>
            </a:r>
          </a:p>
        </p:txBody>
      </p:sp>
      <p:cxnSp>
        <p:nvCxnSpPr>
          <p:cNvPr id="24" name="Connector 23"/>
          <p:cNvCxnSpPr/>
          <p:nvPr/>
        </p:nvCxnSpPr>
        <p:spPr>
          <a:xfrm flipV="1">
            <a:off x="5713095" y="4343400"/>
            <a:ext cx="0" cy="123444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411343" y="5632703"/>
            <a:ext cx="603504" cy="274320"/>
          </a:xfrm>
          <a:prstGeom prst="rect">
            <a:avLst/>
          </a:prstGeom>
          <a:noFill/>
        </p:spPr>
        <p:txBody>
          <a:bodyPr wrap="square" lIns="0" rIns="0" tIns="0" bIns="0">
            <a:spAutoFit/>
          </a:bodyPr>
          <a:lstStyle/>
          <a:p>
            <a:pPr algn="ctr"/>
            <a:r>
              <a:rPr sz="1700" b="1" i="1" u="none">
                <a:solidFill>
                  <a:srgbClr val="0B2B4E"/>
                </a:solidFill>
                <a:latin typeface="Calibri"/>
              </a:rPr>
              <a:t>QLR</a:t>
            </a:r>
          </a:p>
        </p:txBody>
      </p:sp>
      <p:sp>
        <p:nvSpPr>
          <p:cNvPr id="26" name="Oval 25"/>
          <p:cNvSpPr/>
          <p:nvPr/>
        </p:nvSpPr>
        <p:spPr>
          <a:xfrm>
            <a:off x="5653659" y="428396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2331720" y="4960620"/>
            <a:ext cx="6221730"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961120" y="4805172"/>
            <a:ext cx="1828800" cy="310896"/>
          </a:xfrm>
          <a:prstGeom prst="rect">
            <a:avLst/>
          </a:prstGeom>
          <a:noFill/>
        </p:spPr>
        <p:txBody>
          <a:bodyPr wrap="square" lIns="0" rIns="0" tIns="0" bIns="0">
            <a:spAutoFit/>
          </a:bodyPr>
          <a:lstStyle/>
          <a:p>
            <a:pPr algn="l"/>
            <a:r>
              <a:rPr sz="1700" b="1" i="1" u="none">
                <a:solidFill>
                  <a:srgbClr val="0B2B4E"/>
                </a:solidFill>
                <a:latin typeface="Calibri"/>
              </a:rPr>
              <a:t>MR = </a:t>
            </a:r>
            <a:r>
              <a:rPr sz="1700" b="1" i="1" u="none">
                <a:solidFill>
                  <a:srgbClr val="0B2B4E"/>
                </a:solidFill>
                <a:latin typeface="Calibri"/>
              </a:rPr>
              <a:t>P</a:t>
            </a:r>
            <a:r>
              <a:rPr sz="1700" b="1" i="1" u="none" baseline="-25000">
                <a:solidFill>
                  <a:srgbClr val="0B2B4E"/>
                </a:solidFill>
                <a:latin typeface="Calibri"/>
              </a:rPr>
              <a:t>2</a:t>
            </a:r>
          </a:p>
        </p:txBody>
      </p:sp>
      <p:sp>
        <p:nvSpPr>
          <p:cNvPr id="29" name="TextBox 28"/>
          <p:cNvSpPr txBox="1"/>
          <p:nvPr/>
        </p:nvSpPr>
        <p:spPr>
          <a:xfrm>
            <a:off x="1389887" y="4823460"/>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r>
              <a:rPr sz="1700" b="1" i="1" u="none" baseline="-25000">
                <a:solidFill>
                  <a:srgbClr val="0B2B4E"/>
                </a:solidFill>
                <a:latin typeface="Calibri"/>
              </a:rPr>
              <a:t>2</a:t>
            </a:r>
          </a:p>
        </p:txBody>
      </p:sp>
      <p:cxnSp>
        <p:nvCxnSpPr>
          <p:cNvPr id="30" name="Connector 29"/>
          <p:cNvCxnSpPr/>
          <p:nvPr/>
        </p:nvCxnSpPr>
        <p:spPr>
          <a:xfrm flipV="1">
            <a:off x="5182388" y="4960620"/>
            <a:ext cx="0" cy="61722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880636" y="5632703"/>
            <a:ext cx="603504"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2</a:t>
            </a:r>
          </a:p>
        </p:txBody>
      </p:sp>
      <p:sp>
        <p:nvSpPr>
          <p:cNvPr id="32" name="Oval 31"/>
          <p:cNvSpPr/>
          <p:nvPr/>
        </p:nvSpPr>
        <p:spPr>
          <a:xfrm>
            <a:off x="5122952" y="4901184"/>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7336155" y="3170682"/>
            <a:ext cx="0" cy="1110996"/>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403782" y="3529583"/>
            <a:ext cx="1188720" cy="310896"/>
          </a:xfrm>
          <a:prstGeom prst="rect">
            <a:avLst/>
          </a:prstGeom>
          <a:noFill/>
        </p:spPr>
        <p:txBody>
          <a:bodyPr wrap="square" lIns="0" rIns="0" tIns="0" bIns="0">
            <a:spAutoFit/>
          </a:bodyPr>
          <a:lstStyle/>
          <a:p>
            <a:pPr algn="l"/>
            <a:r>
              <a:rPr sz="1700" b="1" i="0" u="none">
                <a:solidFill>
                  <a:srgbClr val="0B2B4E"/>
                </a:solidFill>
                <a:latin typeface="Calibri"/>
              </a:rPr>
              <a:t>Entry</a:t>
            </a:r>
          </a:p>
        </p:txBody>
      </p:sp>
      <p:cxnSp>
        <p:nvCxnSpPr>
          <p:cNvPr id="35" name="Connector 34"/>
          <p:cNvCxnSpPr/>
          <p:nvPr/>
        </p:nvCxnSpPr>
        <p:spPr>
          <a:xfrm flipV="1">
            <a:off x="4090035" y="4405122"/>
            <a:ext cx="0" cy="493776"/>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57662" y="4475988"/>
            <a:ext cx="1188720" cy="310896"/>
          </a:xfrm>
          <a:prstGeom prst="rect">
            <a:avLst/>
          </a:prstGeom>
          <a:noFill/>
        </p:spPr>
        <p:txBody>
          <a:bodyPr wrap="square" lIns="0" rIns="0" tIns="0" bIns="0">
            <a:spAutoFit/>
          </a:bodyPr>
          <a:lstStyle/>
          <a:p>
            <a:pPr algn="l"/>
            <a:r>
              <a:rPr sz="1700" b="1" i="0" u="none">
                <a:solidFill>
                  <a:srgbClr val="0B2B4E"/>
                </a:solidFill>
                <a:latin typeface="Calibri"/>
              </a:rPr>
              <a:t>Exit</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40" name="TextBox 39"/>
          <p:cNvSpPr txBox="1"/>
          <p:nvPr/>
        </p:nvSpPr>
        <p:spPr>
          <a:xfrm>
            <a:off x="11475720" y="6583680"/>
            <a:ext cx="502920" cy="292608"/>
          </a:xfrm>
          <a:prstGeom prst="rect">
            <a:avLst/>
          </a:prstGeom>
          <a:noFill/>
        </p:spPr>
        <p:txBody>
          <a:bodyPr wrap="none" lIns="0" rIns="0" tIns="0" bIns="0">
            <a:spAutoFit/>
          </a:bodyPr>
          <a:lstStyle/>
          <a:p>
            <a:pPr algn="r"/>
            <a:fld id="{6BF35810-F1C9-5B1B-AF76-36B14C127958}" type="slidenum">
              <a:rPr lang="en-US" sz="1200" dirty="0">
                <a:solidFill>
                  <a:srgbClr val="555B66"/>
                </a:solidFill>
                <a:latin typeface="Calibri"/>
              </a:rPr>
              <a:t>48</a:t>
            </a:fld>
          </a:p>
        </p:txBody>
      </p:sp>
      <p:sp>
        <p:nvSpPr>
          <p:cNvPr id="41" name="Rounded Rectangle 40"/>
          <p:cNvSpPr/>
          <p:nvPr/>
        </p:nvSpPr>
        <p:spPr>
          <a:xfrm>
            <a:off x="2346808" y="5897880"/>
            <a:ext cx="7498079"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At QLR:  P = LAC = LMC, and economic profit is zero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500"/>
                                        <p:tgtEl>
                                          <p:spTgt spid="3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500"/>
                                        <p:tgtEl>
                                          <p:spTgt spid="3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500"/>
                                        <p:tgtEl>
                                          <p:spTgt spid="3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Entry Follows Profit: The Broiler Chicken Industry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54480"/>
            <a:ext cx="6309360" cy="265176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a:latin typeface="Calibri"/>
              </a:rPr>
              <a:t>In the 1920s the farmer Cecile Steele of Ocean View, Delaware kept a small flock of chickens for eggs</a:t>
            </a:r>
          </a:p>
          <a:p>
            <a:pPr algn="l"/>
            <a:r>
              <a:rPr>
                <a:latin typeface="Calibri"/>
              </a:rPr>
              <a:t>In 1923 she ordered 50 chicks and, by accident, received 500. She kept them and made a sizable profit</a:t>
            </a:r>
          </a:p>
          <a:p>
            <a:pPr algn="l"/>
            <a:r>
              <a:rPr>
                <a:latin typeface="Calibri"/>
              </a:rPr>
              <a:t>Word of her success spread, and by 1928 hundreds of farmers in the area were raising chickens for meat</a:t>
            </a:r>
          </a:p>
        </p:txBody>
      </p:sp>
      <p:grpSp>
        <p:nvGrpSpPr>
          <p:cNvPr id="114" name="Group pair 114"/>
          <p:cNvGrpSpPr/>
          <p:nvPr/>
        </p:nvGrpSpPr>
        <p:grpSpPr>
          <a:xfrm>
            <a:off x="6903720" y="1691640"/>
            <a:ext cx="3931920" cy="3429000"/>
            <a:chOff x="6903720" y="1691640"/>
            <a:chExt cx="3931920" cy="3429000"/>
          </a:xfrm>
        </p:grpSpPr>
        <p:pic>
          <p:nvPicPr>
            <p:cNvPr id="8" name="Picture 7" descr="NV_s47_2_f42d0c16.png"/>
            <p:cNvPicPr>
              <a:picLocks noChangeAspect="1"/>
            </p:cNvPicPr>
            <p:nvPr/>
          </p:nvPicPr>
          <p:blipFill>
            <a:blip r:embed="rId2"/>
            <a:stretch>
              <a:fillRect/>
            </a:stretch>
          </p:blipFill>
          <p:spPr>
            <a:xfrm>
              <a:off x="6903720" y="1691640"/>
              <a:ext cx="3931920" cy="314381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03720" y="4846320"/>
              <a:ext cx="3931920" cy="274320"/>
            </a:xfrm>
            <a:prstGeom prst="rect">
              <a:avLst/>
            </a:prstGeom>
            <a:noFill/>
          </p:spPr>
          <p:txBody>
            <a:bodyPr wrap="square" lIns="0" rIns="0" tIns="0" bIns="0">
              <a:spAutoFit/>
            </a:bodyPr>
            <a:lstStyle/>
            <a:p>
              <a:pPr algn="ctr"/>
              <a:r>
                <a:rPr sz="1200" b="0" i="1" u="none">
                  <a:solidFill>
                    <a:srgbClr val="555B66"/>
                  </a:solidFill>
                  <a:latin typeface="Calibri"/>
                </a:rPr>
                <a:t>An early Delaware broiler farm. Photo: Vox</a:t>
              </a:r>
            </a:p>
          </p:txBody>
        </p:sp>
      </p:grpSp>
      <p:sp>
        <p:nvSpPr>
          <p:cNvPr id="10" name="Rounded Rectangle 9"/>
          <p:cNvSpPr/>
          <p:nvPr/>
        </p:nvSpPr>
        <p:spPr>
          <a:xfrm>
            <a:off x="548640" y="5577840"/>
            <a:ext cx="822960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Profit in a market with low entry barriers → new firms enter</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2FAB9EA4-393E-5906-A530-356F8929F05E}" type="slidenum">
              <a:rPr lang="en-US" sz="1200" dirty="0">
                <a:solidFill>
                  <a:srgbClr val="555B66"/>
                </a:solidFill>
                <a:latin typeface="Calibri"/>
              </a:rPr>
              <a:t>49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Summary: Long-Run Decisions for a Price Taker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31720" y="1463040"/>
            <a:ext cx="7498079" cy="7315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Optimal output: </m:t>
                  </m:r>
                  <m:sSup>
                    <m:sSupPr>
                      <m:ctrlPr>
                        <a:rPr lang="en-US" i="1">
                          <a:latin typeface="Cambria Math"/>
                        </a:rPr>
                      </m:ctrlPr>
                    </m:sSupPr>
                    <m:e>
                      <m:r>
                        <a:rPr lang="en-US" b="0" i="1" sz="2600">
                          <a:solidFill>
                            <a:srgbClr val="0B2B4E"/>
                          </a:solidFill>
                          <a:latin typeface="Cambria Math"/>
                          <a:ea typeface="Cambria Math"/>
                        </a:rPr>
                        <m:t>Q</m:t>
                      </m:r>
                    </m:e>
                    <m:sup>
                      <m:r>
                        <m:rPr>
                          <m:sty m:val="p"/>
                        </m:rPr>
                        <a:rPr lang="en-US" b="0" i="0" sz="2600">
                          <a:solidFill>
                            <a:srgbClr val="0B2B4E"/>
                          </a:solidFill>
                          <a:latin typeface="Cambria Math"/>
                        </a:rPr>
                        <m:t xml:space="preserve">*</m:t>
                      </m:r>
                    </m:sup>
                  </m:sSup>
                  <m:r>
                    <m:rPr>
                      <m:sty m:val="p"/>
                    </m:rPr>
                    <a:rPr lang="en-US" b="0" i="0" sz="2600">
                      <a:solidFill>
                        <a:srgbClr val="0B2B4E"/>
                      </a:solidFill>
                      <a:latin typeface="Cambria Math"/>
                    </a:rPr>
                    <m:t xml:space="preserve"> where  </m:t>
                  </m:r>
                  <m:r>
                    <m:rPr>
                      <m:sty m:val="p"/>
                    </m:rPr>
                    <a:rPr lang="en-US" b="0" i="0" sz="2600">
                      <a:solidFill>
                        <a:srgbClr val="0B2B4E"/>
                      </a:solidFill>
                      <a:latin typeface="Cambria Math"/>
                    </a:rPr>
                    <m:t xml:space="preserve">LMC</m:t>
                  </m:r>
                  <m:r>
                    <m:rPr>
                      <m:sty m:val="p"/>
                    </m:rPr>
                    <a:rPr lang="en-US" b="0" i="0" sz="2600">
                      <a:solidFill>
                        <a:srgbClr val="0B2B4E"/>
                      </a:solidFill>
                      <a:latin typeface="Cambria Math"/>
                    </a:rPr>
                    <m:t xml:space="preserve"> = </m:t>
                  </m:r>
                  <m:r>
                    <m:rPr>
                      <m:sty m:val="p"/>
                    </m:rPr>
                    <a:rPr lang="en-US" b="0" i="0" sz="2600">
                      <a:solidFill>
                        <a:srgbClr val="0B2B4E"/>
                      </a:solidFill>
                      <a:latin typeface="Cambria Math"/>
                    </a:rPr>
                    <m:t xml:space="preserve">MR</m:t>
                  </m:r>
                  <m:r>
                    <m:rPr>
                      <m:sty m:val="p"/>
                    </m:rPr>
                    <a:rPr lang="en-US" b="0" i="0" sz="2600">
                      <a:solidFill>
                        <a:srgbClr val="0B2B4E"/>
                      </a:solidFill>
                      <a:latin typeface="Cambria Math"/>
                    </a:rPr>
                    <m:t xml:space="preserve"> = </m:t>
                  </m:r>
                  <m:r>
                    <a:rPr lang="en-US" b="0" i="1" sz="2600">
                      <a:solidFill>
                        <a:srgbClr val="0B2B4E"/>
                      </a:solidFill>
                      <a:latin typeface="Cambria Math"/>
                      <a:ea typeface="Cambria Math"/>
                    </a:rPr>
                    <m:t>P</m:t>
                  </m:r>
                </m:oMath>
              </m:oMathPara>
            </a14:m>
            <a:endParaRPr lang="en-US" sz="2600"/>
          </a:p>
        </p:txBody>
      </p:sp>
      <p:sp>
        <p:nvSpPr>
          <p:cNvPr id="8" name="Rounded Rectangle 7"/>
          <p:cNvSpPr/>
          <p:nvPr/>
        </p:nvSpPr>
        <p:spPr>
          <a:xfrm>
            <a:off x="822960" y="2331720"/>
            <a:ext cx="530352" cy="530352"/>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1</a:t>
            </a:r>
          </a:p>
        </p:txBody>
      </p:sp>
      <p:sp>
        <p:nvSpPr>
          <p:cNvPr id="9" name="TextBox 8"/>
          <p:cNvSpPr txBox="1"/>
          <p:nvPr/>
        </p:nvSpPr>
        <p:spPr>
          <a:xfrm>
            <a:off x="1600200" y="2350008"/>
            <a:ext cx="9601200" cy="457200"/>
          </a:xfrm>
          <a:prstGeom prst="rect">
            <a:avLst/>
          </a:prstGeom>
          <a:noFill/>
        </p:spPr>
        <p:txBody>
          <a:bodyPr wrap="square" lIns="0" rIns="0" tIns="0" bIns="0">
            <a:spAutoFit/>
          </a:bodyPr>
          <a:lstStyle/>
          <a:p>
            <a:pPr algn="l"/>
            <a:r>
              <a:rPr sz="2600" b="1" i="0" u="none">
                <a:solidFill>
                  <a:srgbClr val="0B2B4E"/>
                </a:solidFill>
                <a:latin typeface="Calibri"/>
              </a:rPr>
              <a:t>If P ≥ LAC at Q*:  operate</a:t>
            </a:r>
          </a:p>
        </p:txBody>
      </p:sp>
      <p:sp>
        <p:nvSpPr>
          <p:cNvPr id="10" name="TextBox 9"/>
          <p:cNvSpPr txBox="1"/>
          <p:nvPr/>
        </p:nvSpPr>
        <p:spPr>
          <a:xfrm>
            <a:off x="1783080" y="2898648"/>
            <a:ext cx="9418320" cy="54864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lvl="1"/>
            <a:r>
              <a:rPr>
                <a:latin typeface="Calibri"/>
              </a:rPr>
              <a:t>Positive profits attract entry in the long run</a:t>
            </a:r>
          </a:p>
        </p:txBody>
      </p:sp>
      <p:sp>
        <p:nvSpPr>
          <p:cNvPr id="11" name="Rounded Rectangle 10"/>
          <p:cNvSpPr/>
          <p:nvPr/>
        </p:nvSpPr>
        <p:spPr>
          <a:xfrm>
            <a:off x="822960" y="3749040"/>
            <a:ext cx="530352" cy="530352"/>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2</a:t>
            </a:r>
          </a:p>
        </p:txBody>
      </p:sp>
      <p:sp>
        <p:nvSpPr>
          <p:cNvPr id="12" name="TextBox 11"/>
          <p:cNvSpPr txBox="1"/>
          <p:nvPr/>
        </p:nvSpPr>
        <p:spPr>
          <a:xfrm>
            <a:off x="1600200" y="3767328"/>
            <a:ext cx="9601200" cy="457200"/>
          </a:xfrm>
          <a:prstGeom prst="rect">
            <a:avLst/>
          </a:prstGeom>
          <a:noFill/>
        </p:spPr>
        <p:txBody>
          <a:bodyPr wrap="square" lIns="0" rIns="0" tIns="0" bIns="0">
            <a:spAutoFit/>
          </a:bodyPr>
          <a:lstStyle/>
          <a:p>
            <a:pPr algn="l"/>
            <a:r>
              <a:rPr sz="2600" b="1" i="0" u="none">
                <a:solidFill>
                  <a:srgbClr val="0B2B4E"/>
                </a:solidFill>
                <a:latin typeface="Calibri"/>
              </a:rPr>
              <a:t>If P &lt; LAC at Q*:  exit, or never enter</a:t>
            </a:r>
          </a:p>
        </p:txBody>
      </p:sp>
      <p:sp>
        <p:nvSpPr>
          <p:cNvPr id="13" name="TextBox 12"/>
          <p:cNvSpPr txBox="1"/>
          <p:nvPr/>
        </p:nvSpPr>
        <p:spPr>
          <a:xfrm>
            <a:off x="1783080" y="4315968"/>
            <a:ext cx="9418320" cy="548640"/>
          </a:xfrm>
          <a:prstGeom prst="rect">
            <a:avLst/>
          </a:prstGeom>
          <a:noFill/>
        </p:spPr>
        <p:txBody>
          <a:bodyPr wrap="square" lIns="0" rIns="0" tIns="0" bIns="0">
            <a:spAutoFit/>
          </a:bodyPr>
          <a:lstStyle>
            <a:lvl1pPr marL="342900" indent="-342900">
              <a:spcBef>
                <a:spcPts val="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lvl="1"/>
            <a:r>
              <a:rPr>
                <a:latin typeface="Calibri"/>
              </a:rPr>
              <a:t>Losses cannot be sustained once capital is adjustable</a:t>
            </a:r>
          </a:p>
        </p:txBody>
      </p:sp>
      <p:grpSp>
        <p:nvGrpSpPr>
          <p:cNvPr id="119" name="Group pair 119"/>
          <p:cNvGrpSpPr/>
          <p:nvPr/>
        </p:nvGrpSpPr>
        <p:grpSpPr>
          <a:xfrm>
            <a:off x="1600200" y="5212080"/>
            <a:ext cx="8961120" cy="1005840"/>
            <a:chOff x="1600200" y="5212080"/>
            <a:chExt cx="8961120" cy="1005840"/>
          </a:xfrm>
        </p:grpSpPr>
        <p:sp>
          <p:nvSpPr>
            <p:cNvPr id="14" name="Rounded Rectangle 13"/>
            <p:cNvSpPr/>
            <p:nvPr/>
          </p:nvSpPr>
          <p:spPr>
            <a:xfrm>
              <a:off x="1600200" y="5212080"/>
              <a:ext cx="8961120" cy="10058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83080" y="5321808"/>
              <a:ext cx="8595360" cy="786384"/>
            </a:xfrm>
            <a:prstGeom prst="rect">
              <a:avLst/>
            </a:prstGeom>
            <a:noFill/>
          </p:spPr>
          <p:txBody>
            <a:bodyPr wrap="square" lIns="45720" rIns="45720" tIns="0" bIns="0" anchor="ctr">
              <a:spAutoFit/>
            </a:bodyPr>
            <a:lstStyle/>
            <a:p>
              <a:pPr algn="ctr"/>
              <a:r>
                <a:rPr sz="2000" b="1" i="0" u="none">
                  <a:solidFill>
                    <a:srgbClr val="0B2B4E"/>
                  </a:solidFill>
                  <a:latin typeface="Calibri"/>
                </a:rPr>
                <a:t>Long-run competitive equilibrium:  LMC = P = LAC</a:t>
              </a:r>
              <a:r>
                <a:rPr sz="2000" b="0" i="0" u="none">
                  <a:solidFill>
                    <a:srgbClr val="0B2B4E"/>
                  </a:solidFill>
                  <a:latin typeface="Calibri"/>
                </a:rPr>
                <a:t>
</a:t>
              </a:r>
              <a:r>
                <a:rPr sz="1800" b="0" i="0" u="none">
                  <a:solidFill>
                    <a:srgbClr val="0B2B4E"/>
                  </a:solidFill>
                  <a:latin typeface="Calibri"/>
                </a:rPr>
                <a:t>“Normal profits” — economic profit is zero in the long run</a:t>
              </a:r>
            </a:p>
          </p:txBody>
        </p:sp>
      </p:gr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9" name="TextBox 18"/>
          <p:cNvSpPr txBox="1"/>
          <p:nvPr/>
        </p:nvSpPr>
        <p:spPr>
          <a:xfrm>
            <a:off x="11475720" y="6583680"/>
            <a:ext cx="502920" cy="292608"/>
          </a:xfrm>
          <a:prstGeom prst="rect">
            <a:avLst/>
          </a:prstGeom>
          <a:noFill/>
        </p:spPr>
        <p:txBody>
          <a:bodyPr wrap="none" lIns="0" rIns="0" tIns="0" bIns="0">
            <a:spAutoFit/>
          </a:bodyPr>
          <a:lstStyle/>
          <a:p>
            <a:pPr algn="r"/>
            <a:fld id="{88267FBA-0D55-5805-AC0F-6C0CD68EDD40}" type="slidenum">
              <a:rPr lang="en-US" sz="1200" dirty="0">
                <a:solidFill>
                  <a:srgbClr val="555B66"/>
                </a:solidFill>
                <a:latin typeface="Calibri"/>
              </a:rPr>
              <a:t>50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Long-Run Equilibrium: The Drug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08760"/>
            <a:ext cx="11338560" cy="109728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Can we use the toolbox on the market for illegal drugs?</a:t>
            </a:r>
          </a:p>
          <a:p>
            <a:pPr algn="l" lvl="1"/>
            <a:r>
              <a:rPr>
                <a:latin typeface="Calibri"/>
              </a:rPr>
              <a:t>Assume individual dealers are price takers</a:t>
            </a:r>
          </a:p>
        </p:txBody>
      </p:sp>
      <p:sp>
        <p:nvSpPr>
          <p:cNvPr id="8" name="TextBox 7"/>
          <p:cNvSpPr txBox="1"/>
          <p:nvPr/>
        </p:nvSpPr>
        <p:spPr>
          <a:xfrm>
            <a:off x="389159" y="2788920"/>
            <a:ext cx="11338560" cy="384048"/>
          </a:xfrm>
          <a:prstGeom prst="rect">
            <a:avLst/>
          </a:prstGeom>
          <a:noFill/>
        </p:spPr>
        <p:txBody>
          <a:bodyPr wrap="square" lIns="0" rIns="0" tIns="0" bIns="0">
            <a:spAutoFit/>
          </a:bodyPr>
          <a:lstStyle/>
          <a:p>
            <a:pPr algn="l"/>
            <a:r>
              <a:rPr sz="2500" b="0" i="0" u="none">
                <a:solidFill>
                  <a:srgbClr val="0B2B4E"/>
                </a:solidFill>
                <a:latin typeface="Calibri"/>
              </a:rPr>
              <a:t>The government has two one-time options:</a:t>
            </a:r>
          </a:p>
        </p:txBody>
      </p:sp>
      <p:sp>
        <p:nvSpPr>
          <p:cNvPr id="9" name="Rounded Rectangle 8"/>
          <p:cNvSpPr/>
          <p:nvPr/>
        </p:nvSpPr>
        <p:spPr>
          <a:xfrm>
            <a:off x="960120" y="3383280"/>
            <a:ext cx="502920" cy="502920"/>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1</a:t>
            </a:r>
          </a:p>
        </p:txBody>
      </p:sp>
      <p:sp>
        <p:nvSpPr>
          <p:cNvPr id="10" name="TextBox 9"/>
          <p:cNvSpPr txBox="1"/>
          <p:nvPr/>
        </p:nvSpPr>
        <p:spPr>
          <a:xfrm>
            <a:off x="1783080" y="3410712"/>
            <a:ext cx="9601200" cy="457200"/>
          </a:xfrm>
          <a:prstGeom prst="rect">
            <a:avLst/>
          </a:prstGeom>
          <a:noFill/>
        </p:spPr>
        <p:txBody>
          <a:bodyPr wrap="square" lIns="0" rIns="0" tIns="0" bIns="0">
            <a:spAutoFit/>
          </a:bodyPr>
          <a:lstStyle/>
          <a:p>
            <a:pPr algn="l"/>
            <a:r>
              <a:rPr sz="2600" b="0" i="0" u="none">
                <a:solidFill>
                  <a:srgbClr val="0B2B4E"/>
                </a:solidFill>
                <a:latin typeface="Calibri"/>
              </a:rPr>
              <a:t>Arrest the drug dealers</a:t>
            </a:r>
          </a:p>
        </p:txBody>
      </p:sp>
      <p:sp>
        <p:nvSpPr>
          <p:cNvPr id="11" name="Rounded Rectangle 10"/>
          <p:cNvSpPr/>
          <p:nvPr/>
        </p:nvSpPr>
        <p:spPr>
          <a:xfrm>
            <a:off x="960120" y="4160520"/>
            <a:ext cx="502920" cy="502920"/>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0B2B4E"/>
                </a:solidFill>
                <a:latin typeface="Calibri"/>
              </a:rPr>
              <a:t>2</a:t>
            </a:r>
          </a:p>
        </p:txBody>
      </p:sp>
      <p:sp>
        <p:nvSpPr>
          <p:cNvPr id="12" name="TextBox 11"/>
          <p:cNvSpPr txBox="1"/>
          <p:nvPr/>
        </p:nvSpPr>
        <p:spPr>
          <a:xfrm>
            <a:off x="1783080" y="4187952"/>
            <a:ext cx="9601200" cy="457200"/>
          </a:xfrm>
          <a:prstGeom prst="rect">
            <a:avLst/>
          </a:prstGeom>
          <a:noFill/>
        </p:spPr>
        <p:txBody>
          <a:bodyPr wrap="square" lIns="0" rIns="0" tIns="0" bIns="0">
            <a:spAutoFit/>
          </a:bodyPr>
          <a:lstStyle/>
          <a:p>
            <a:pPr algn="l"/>
            <a:r>
              <a:rPr sz="2600" b="0" i="0" u="none">
                <a:solidFill>
                  <a:srgbClr val="0B2B4E"/>
                </a:solidFill>
                <a:latin typeface="Calibri"/>
              </a:rPr>
              <a:t>Arrest or punish the drug users</a:t>
            </a:r>
          </a:p>
        </p:txBody>
      </p:sp>
      <p:sp>
        <p:nvSpPr>
          <p:cNvPr id="13" name="Rounded Rectangle 12"/>
          <p:cNvSpPr/>
          <p:nvPr/>
        </p:nvSpPr>
        <p:spPr>
          <a:xfrm>
            <a:off x="1706727" y="5257800"/>
            <a:ext cx="877824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0B2B4E"/>
                </a:solidFill>
                <a:latin typeface="Calibri"/>
              </a:rPr>
              <a:t>Which policy does more to reduce the use of illegal drugs?</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AE1A0E2C-A5F1-53C8-BA1B-63E6B0B179FF}" type="slidenum">
              <a:rPr lang="en-US" sz="1200" dirty="0">
                <a:solidFill>
                  <a:srgbClr val="555B66"/>
                </a:solidFill>
                <a:latin typeface="Calibri"/>
              </a:rPr>
              <a:t>51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Which Policy?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575638B4-5400-58A4-8BD9-C9DF1FBBA574}" type="slidenum">
              <a:rPr lang="en-US" sz="1200" dirty="0">
                <a:solidFill>
                  <a:srgbClr val="555B66"/>
                </a:solidFill>
                <a:latin typeface="Calibri"/>
              </a:rPr>
              <a:t>52</a:t>
            </a:fld>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Arrest Drug Dealers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0" name="TextBox 9"/>
          <p:cNvSpPr txBox="1"/>
          <p:nvPr/>
        </p:nvSpPr>
        <p:spPr>
          <a:xfrm>
            <a:off x="11475720" y="6583680"/>
            <a:ext cx="502920" cy="292608"/>
          </a:xfrm>
          <a:prstGeom prst="rect">
            <a:avLst/>
          </a:prstGeom>
          <a:noFill/>
        </p:spPr>
        <p:txBody>
          <a:bodyPr wrap="none" lIns="0" rIns="0" tIns="0" bIns="0">
            <a:spAutoFit/>
          </a:bodyPr>
          <a:lstStyle/>
          <a:p>
            <a:pPr algn="r"/>
            <a:fld id="{15974B3E-5559-500D-AAEF-02DA76F24ED1}" type="slidenum">
              <a:rPr lang="en-US" sz="1200" dirty="0">
                <a:solidFill>
                  <a:srgbClr val="555B66"/>
                </a:solidFill>
                <a:latin typeface="Calibri"/>
              </a:rPr>
              <a:t>53</a:t>
            </a:fld>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Long-Run Competitive Equilibrium</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Arrest / Punish Drug Users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0" name="TextBox 9"/>
          <p:cNvSpPr txBox="1"/>
          <p:nvPr/>
        </p:nvSpPr>
        <p:spPr>
          <a:xfrm>
            <a:off x="11475720" y="6583680"/>
            <a:ext cx="502920" cy="292608"/>
          </a:xfrm>
          <a:prstGeom prst="rect">
            <a:avLst/>
          </a:prstGeom>
          <a:noFill/>
        </p:spPr>
        <p:txBody>
          <a:bodyPr wrap="none" lIns="0" rIns="0" tIns="0" bIns="0">
            <a:spAutoFit/>
          </a:bodyPr>
          <a:lstStyle/>
          <a:p>
            <a:pPr algn="r"/>
            <a:fld id="{9427EDBE-4A26-57AF-A303-6C9B2AE16374}" type="slidenum">
              <a:rPr lang="en-US" sz="1200" dirty="0">
                <a:solidFill>
                  <a:srgbClr val="555B66"/>
                </a:solidFill>
                <a:latin typeface="Calibri"/>
              </a:rPr>
              <a:t>54</a:t>
            </a:fld>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1" name="Oval 10"/>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2" name="TextBox 11"/>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3" name="Oval 12"/>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4" name="TextBox 13"/>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5" name="Oval 14"/>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6" name="TextBox 15"/>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7" name="Rounded Rectangle 16"/>
          <p:cNvSpPr/>
          <p:nvPr/>
        </p:nvSpPr>
        <p:spPr>
          <a:xfrm>
            <a:off x="822960" y="4912614"/>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9" name="TextBox 18"/>
          <p:cNvSpPr txBox="1"/>
          <p:nvPr/>
        </p:nvSpPr>
        <p:spPr>
          <a:xfrm>
            <a:off x="1874519" y="496747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 Distortions and Regulations</a:t>
            </a:r>
          </a:p>
          <a:p>
            <a:pPr algn="l">
              <a:spcBef>
                <a:spcPts val="0"/>
              </a:spcBef>
              <a:buNone/>
            </a:pPr>
            <a:r>
              <a:rPr sz="2200">
                <a:solidFill>
                  <a:srgbClr val="555B66"/>
                </a:solidFill>
                <a:latin typeface="Calibri"/>
              </a:rPr>
              <a:t>Who wins, who loses, and what is lost outright</a:t>
            </a: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1" name="TextBox 20"/>
          <p:cNvSpPr txBox="1"/>
          <p:nvPr/>
        </p:nvSpPr>
        <p:spPr>
          <a:xfrm>
            <a:off x="1874519" y="585901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Externalities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47E09EE4-0FC8-5620-AA5C-342E46D91750}" type="slidenum">
              <a:rPr lang="en-US" sz="1200" dirty="0">
                <a:solidFill>
                  <a:srgbClr val="555B66"/>
                </a:solidFill>
                <a:latin typeface="Calibri"/>
              </a:rPr>
              <a:t>55</a:t>
            </a:fld>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Market Distortions: Introduction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In a competitive market, equilibrium is where supply meets demand</a:t>
            </a:r>
          </a:p>
          <a:p>
            <a:pPr algn="l"/>
            <a:r>
              <a:rPr>
                <a:latin typeface="Calibri"/>
              </a:rPr>
              <a:t>Outside forces can push the market away from it</a:t>
            </a:r>
          </a:p>
          <a:p>
            <a:pPr algn="l" lvl="1"/>
            <a:r>
              <a:rPr>
                <a:latin typeface="Calibri"/>
              </a:rPr>
              <a:t>Price controls — rent control, minimum wages</a:t>
            </a:r>
          </a:p>
          <a:p>
            <a:pPr algn="l" lvl="1"/>
            <a:r>
              <a:rPr>
                <a:latin typeface="Calibri"/>
              </a:rPr>
              <a:t>Taxes and subsidies</a:t>
            </a:r>
          </a:p>
          <a:p>
            <a:pPr algn="l"/>
            <a:r>
              <a:rPr>
                <a:latin typeface="Calibri"/>
              </a:rPr>
              <a:t>How do we tell who gains and who loses?</a:t>
            </a:r>
          </a:p>
          <a:p>
            <a:pPr algn="l" lvl="1"/>
            <a:r>
              <a:rPr>
                <a:latin typeface="Calibri"/>
              </a:rPr>
              <a:t>Consumer and producer surplus</a:t>
            </a:r>
          </a:p>
          <a:p>
            <a:pPr algn="l" lvl="1"/>
            <a:r>
              <a:rPr>
                <a:latin typeface="Calibri"/>
              </a:rPr>
              <a:t>Deadweight loss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1DD69E8-90E4-5231-B2B9-F4E752D42306}" type="slidenum">
              <a:rPr lang="en-US" sz="1200" dirty="0">
                <a:solidFill>
                  <a:srgbClr val="555B66"/>
                </a:solidFill>
                <a:latin typeface="Calibri"/>
              </a:rPr>
              <a:t>56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Consumer Surplus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737360" y="2075688"/>
            <a:ext cx="0" cy="377647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37360" y="5852160"/>
            <a:ext cx="40965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 y="1673352"/>
            <a:ext cx="1828800" cy="292608"/>
          </a:xfrm>
          <a:prstGeom prst="rect">
            <a:avLst/>
          </a:prstGeom>
          <a:noFill/>
        </p:spPr>
        <p:txBody>
          <a:bodyPr wrap="square" lIns="0" rIns="0" tIns="0" bIns="0">
            <a:spAutoFit/>
          </a:bodyPr>
          <a:lstStyle/>
          <a:p>
            <a:pPr algn="l"/>
            <a:r>
              <a:rPr sz="1800" b="1" i="1" u="none">
                <a:solidFill>
                  <a:srgbClr val="0B2B4E"/>
                </a:solidFill>
                <a:latin typeface="Calibri"/>
              </a:rPr>
              <a:t>Price</a:t>
            </a:r>
          </a:p>
        </p:txBody>
      </p:sp>
      <p:sp>
        <p:nvSpPr>
          <p:cNvPr id="10" name="TextBox 9"/>
          <p:cNvSpPr txBox="1"/>
          <p:nvPr/>
        </p:nvSpPr>
        <p:spPr>
          <a:xfrm>
            <a:off x="5303519" y="5943600"/>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1" name="Rectangle 10"/>
          <p:cNvSpPr/>
          <p:nvPr/>
        </p:nvSpPr>
        <p:spPr>
          <a:xfrm>
            <a:off x="1737360" y="2568632"/>
            <a:ext cx="1340427" cy="1477588"/>
          </a:xfrm>
          <a:custGeom>
            <a:avLst/>
            <a:gdLst/>
            <a:ahLst/>
            <a:cxnLst/>
            <a:rect l="0" t="0" r="r" b="b"/>
            <a:pathLst>
              <a:path w="1340427" h="1477588">
                <a:moveTo>
                  <a:pt x="0" y="1477588"/>
                </a:moveTo>
                <a:lnTo>
                  <a:pt x="0" y="0"/>
                </a:lnTo>
                <a:lnTo>
                  <a:pt x="1340427" y="1477588"/>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737360" y="2568632"/>
            <a:ext cx="3431493"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133109" y="5393920"/>
            <a:ext cx="822960" cy="292608"/>
          </a:xfrm>
          <a:prstGeom prst="rect">
            <a:avLst/>
          </a:prstGeom>
          <a:noFill/>
        </p:spPr>
        <p:txBody>
          <a:bodyPr wrap="square" lIns="0" rIns="0" tIns="0" bIns="0">
            <a:spAutoFit/>
          </a:bodyPr>
          <a:lstStyle/>
          <a:p>
            <a:pPr algn="l"/>
            <a:r>
              <a:rPr sz="1900" b="1" i="1" u="none">
                <a:solidFill>
                  <a:srgbClr val="0B2B4E"/>
                </a:solidFill>
                <a:latin typeface="Calibri"/>
              </a:rPr>
              <a:t>D</a:t>
            </a:r>
          </a:p>
        </p:txBody>
      </p:sp>
      <p:cxnSp>
        <p:nvCxnSpPr>
          <p:cNvPr id="14" name="Connector 13"/>
          <p:cNvCxnSpPr/>
          <p:nvPr/>
        </p:nvCxnSpPr>
        <p:spPr>
          <a:xfrm flipV="1">
            <a:off x="1737360" y="2371621"/>
            <a:ext cx="2859578"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61193" y="2126811"/>
            <a:ext cx="822960" cy="292608"/>
          </a:xfrm>
          <a:prstGeom prst="rect">
            <a:avLst/>
          </a:prstGeom>
          <a:noFill/>
        </p:spPr>
        <p:txBody>
          <a:bodyPr wrap="square" lIns="0" rIns="0" tIns="0" bIns="0">
            <a:spAutoFit/>
          </a:bodyPr>
          <a:lstStyle/>
          <a:p>
            <a:pPr algn="l"/>
            <a:r>
              <a:rPr sz="1900" b="1" i="1" u="none">
                <a:solidFill>
                  <a:srgbClr val="0B2B4E"/>
                </a:solidFill>
                <a:latin typeface="Calibri"/>
              </a:rPr>
              <a:t>S</a:t>
            </a:r>
          </a:p>
        </p:txBody>
      </p:sp>
      <p:cxnSp>
        <p:nvCxnSpPr>
          <p:cNvPr id="16" name="Connector 15"/>
          <p:cNvCxnSpPr/>
          <p:nvPr/>
        </p:nvCxnSpPr>
        <p:spPr>
          <a:xfrm>
            <a:off x="1737360" y="4046220"/>
            <a:ext cx="1340427"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77787" y="4046220"/>
            <a:ext cx="0" cy="180594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5528" y="3909060"/>
            <a:ext cx="868680" cy="274320"/>
          </a:xfrm>
          <a:prstGeom prst="rect">
            <a:avLst/>
          </a:prstGeom>
          <a:noFill/>
        </p:spPr>
        <p:txBody>
          <a:bodyPr wrap="square" lIns="0" rIns="0" tIns="0" bIns="0">
            <a:spAutoFit/>
          </a:bodyPr>
          <a:lstStyle/>
          <a:p>
            <a:pPr algn="r"/>
            <a:r>
              <a:rPr sz="1800" b="1" i="1" u="none">
                <a:solidFill>
                  <a:srgbClr val="0B2B4E"/>
                </a:solidFill>
                <a:latin typeface="Calibri"/>
              </a:rPr>
              <a:t>P*</a:t>
            </a:r>
          </a:p>
        </p:txBody>
      </p:sp>
      <p:sp>
        <p:nvSpPr>
          <p:cNvPr id="19" name="TextBox 18"/>
          <p:cNvSpPr txBox="1"/>
          <p:nvPr/>
        </p:nvSpPr>
        <p:spPr>
          <a:xfrm>
            <a:off x="2620587" y="5907024"/>
            <a:ext cx="914400" cy="274320"/>
          </a:xfrm>
          <a:prstGeom prst="rect">
            <a:avLst/>
          </a:prstGeom>
          <a:noFill/>
        </p:spPr>
        <p:txBody>
          <a:bodyPr wrap="square" lIns="0" rIns="0" tIns="0" bIns="0">
            <a:spAutoFit/>
          </a:bodyPr>
          <a:lstStyle/>
          <a:p>
            <a:pPr algn="ctr"/>
            <a:r>
              <a:rPr sz="1800" b="1" i="1" u="none">
                <a:solidFill>
                  <a:srgbClr val="0B2B4E"/>
                </a:solidFill>
                <a:latin typeface="Calibri"/>
              </a:rPr>
              <a:t>Q*</a:t>
            </a:r>
          </a:p>
        </p:txBody>
      </p:sp>
      <p:sp>
        <p:nvSpPr>
          <p:cNvPr id="20" name="Oval 19"/>
          <p:cNvSpPr/>
          <p:nvPr/>
        </p:nvSpPr>
        <p:spPr>
          <a:xfrm>
            <a:off x="3009207" y="397764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57400" y="3239469"/>
            <a:ext cx="1097280" cy="365760"/>
          </a:xfrm>
          <a:prstGeom prst="rect">
            <a:avLst/>
          </a:prstGeom>
          <a:noFill/>
        </p:spPr>
        <p:txBody>
          <a:bodyPr wrap="square" lIns="0" rIns="0" tIns="0" bIns="0">
            <a:spAutoFit/>
          </a:bodyPr>
          <a:lstStyle/>
          <a:p>
            <a:pPr algn="ctr"/>
            <a:r>
              <a:rPr sz="2200" b="1" i="0" u="none">
                <a:solidFill>
                  <a:srgbClr val="0B2B4E"/>
                </a:solidFill>
                <a:latin typeface="Calibri"/>
              </a:rPr>
              <a:t>CS</a:t>
            </a:r>
          </a:p>
        </p:txBody>
      </p:sp>
      <p:grpSp>
        <p:nvGrpSpPr>
          <p:cNvPr id="128" name="Group pair 128"/>
          <p:cNvGrpSpPr/>
          <p:nvPr/>
        </p:nvGrpSpPr>
        <p:grpSpPr>
          <a:xfrm>
            <a:off x="6675120" y="2468880"/>
            <a:ext cx="5074920" cy="1737360"/>
            <a:chOff x="6675120" y="2468880"/>
            <a:chExt cx="5074920" cy="1737360"/>
          </a:xfrm>
        </p:grpSpPr>
        <p:sp>
          <p:nvSpPr>
            <p:cNvPr id="22" name="Rounded Rectangle 21"/>
            <p:cNvSpPr/>
            <p:nvPr/>
          </p:nvSpPr>
          <p:spPr>
            <a:xfrm>
              <a:off x="6675120" y="2468880"/>
              <a:ext cx="5074920" cy="173736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578608"/>
              <a:ext cx="4709160" cy="1517904"/>
            </a:xfrm>
            <a:prstGeom prst="rect">
              <a:avLst/>
            </a:prstGeom>
            <a:noFill/>
          </p:spPr>
          <p:txBody>
            <a:bodyPr wrap="square" lIns="45720" rIns="45720" tIns="0" bIns="0" anchor="ctr">
              <a:spAutoFit/>
            </a:bodyPr>
            <a:lstStyle/>
            <a:p>
              <a:pPr algn="l"/>
              <a:r>
                <a:rPr sz="1900" b="0" i="0" u="none">
                  <a:solidFill>
                    <a:srgbClr val="0B2B4E"/>
                  </a:solidFill>
                  <a:latin typeface="Calibri"/>
                </a:rPr>
                <a:t>Consumer surplus is the area below the demand curve and above the price line — what buyers were willing to pay, less what they actually paid.</a:t>
              </a:r>
            </a:p>
          </p:txBody>
        </p:sp>
      </p:gr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B0142077-D761-56B3-949B-5E0727ACD2FB}" type="slidenum">
              <a:rPr lang="en-US" sz="1200" dirty="0">
                <a:solidFill>
                  <a:srgbClr val="555B66"/>
                </a:solidFill>
                <a:latin typeface="Calibri"/>
              </a:rPr>
              <a:t>57</a:t>
            </a:fld>
          </a:p>
        </p:txBody>
      </p:sp>
      <p:sp>
        <p:nvSpPr>
          <p:cNvPr id="28" name="TextBox 27"/>
          <p:cNvSpPr txBox="1"/>
          <p:nvPr/>
        </p:nvSpPr>
        <p:spPr>
          <a:xfrm>
            <a:off x="389159" y="1243584"/>
            <a:ext cx="11338560" cy="384048"/>
          </a:xfrm>
          <a:prstGeom prst="rect">
            <a:avLst/>
          </a:prstGeom>
          <a:noFill/>
        </p:spPr>
        <p:txBody>
          <a:bodyPr wrap="square" lIns="0" rIns="0" tIns="0" bIns="0">
            <a:spAutoFit/>
          </a:bodyPr>
          <a:lstStyle/>
          <a:p>
            <a:pPr algn="l"/>
            <a:r>
              <a:rPr sz="2100" b="0" i="0" u="none">
                <a:solidFill>
                  <a:srgbClr val="0B2B4E"/>
                </a:solidFill>
                <a:latin typeface="Calibri"/>
              </a:rPr>
              <a:t>CS: the gap between what consumers would pay (the D curve) and what they do pay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8"/>
                                        </p:tgtEl>
                                        <p:attrNameLst>
                                          <p:attrName>style.visibility</p:attrName>
                                        </p:attrNameLst>
                                      </p:cBhvr>
                                      <p:to>
                                        <p:strVal val="visible"/>
                                      </p:to>
                                    </p:set>
                                    <p:animEffect transition="in" filter="fade">
                                      <p:cBhvr>
                                        <p:cTn id="48"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Producer Surplus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737360" y="2075688"/>
            <a:ext cx="0" cy="377647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737360" y="5852160"/>
            <a:ext cx="40965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51560" y="1673352"/>
            <a:ext cx="1828800" cy="292608"/>
          </a:xfrm>
          <a:prstGeom prst="rect">
            <a:avLst/>
          </a:prstGeom>
          <a:noFill/>
        </p:spPr>
        <p:txBody>
          <a:bodyPr wrap="square" lIns="0" rIns="0" tIns="0" bIns="0">
            <a:spAutoFit/>
          </a:bodyPr>
          <a:lstStyle/>
          <a:p>
            <a:pPr algn="l"/>
            <a:r>
              <a:rPr sz="1800" b="1" i="1" u="none">
                <a:solidFill>
                  <a:srgbClr val="0B2B4E"/>
                </a:solidFill>
                <a:latin typeface="Calibri"/>
              </a:rPr>
              <a:t>Price</a:t>
            </a:r>
          </a:p>
        </p:txBody>
      </p:sp>
      <p:sp>
        <p:nvSpPr>
          <p:cNvPr id="10" name="TextBox 9"/>
          <p:cNvSpPr txBox="1"/>
          <p:nvPr/>
        </p:nvSpPr>
        <p:spPr>
          <a:xfrm>
            <a:off x="5303519" y="5943600"/>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1" name="Rectangle 10"/>
          <p:cNvSpPr/>
          <p:nvPr/>
        </p:nvSpPr>
        <p:spPr>
          <a:xfrm>
            <a:off x="1737360" y="4046220"/>
            <a:ext cx="1340427" cy="1477587"/>
          </a:xfrm>
          <a:custGeom>
            <a:avLst/>
            <a:gdLst/>
            <a:ahLst/>
            <a:cxnLst/>
            <a:rect l="0" t="0" r="r" b="b"/>
            <a:pathLst>
              <a:path w="1340427" h="1477587">
                <a:moveTo>
                  <a:pt x="0" y="0"/>
                </a:moveTo>
                <a:lnTo>
                  <a:pt x="0" y="1477587"/>
                </a:lnTo>
                <a:lnTo>
                  <a:pt x="1340427" y="0"/>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737360" y="2568632"/>
            <a:ext cx="3431493"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133109" y="5393920"/>
            <a:ext cx="822960" cy="292608"/>
          </a:xfrm>
          <a:prstGeom prst="rect">
            <a:avLst/>
          </a:prstGeom>
          <a:noFill/>
        </p:spPr>
        <p:txBody>
          <a:bodyPr wrap="square" lIns="0" rIns="0" tIns="0" bIns="0">
            <a:spAutoFit/>
          </a:bodyPr>
          <a:lstStyle/>
          <a:p>
            <a:pPr algn="l"/>
            <a:r>
              <a:rPr sz="1900" b="1" i="1" u="none">
                <a:solidFill>
                  <a:srgbClr val="0B2B4E"/>
                </a:solidFill>
                <a:latin typeface="Calibri"/>
              </a:rPr>
              <a:t>D</a:t>
            </a:r>
          </a:p>
        </p:txBody>
      </p:sp>
      <p:cxnSp>
        <p:nvCxnSpPr>
          <p:cNvPr id="14" name="Connector 13"/>
          <p:cNvCxnSpPr/>
          <p:nvPr/>
        </p:nvCxnSpPr>
        <p:spPr>
          <a:xfrm flipV="1">
            <a:off x="1737360" y="2371621"/>
            <a:ext cx="2859578" cy="3152186"/>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61193" y="2126811"/>
            <a:ext cx="822960" cy="292608"/>
          </a:xfrm>
          <a:prstGeom prst="rect">
            <a:avLst/>
          </a:prstGeom>
          <a:noFill/>
        </p:spPr>
        <p:txBody>
          <a:bodyPr wrap="square" lIns="0" rIns="0" tIns="0" bIns="0">
            <a:spAutoFit/>
          </a:bodyPr>
          <a:lstStyle/>
          <a:p>
            <a:pPr algn="l"/>
            <a:r>
              <a:rPr sz="1900" b="1" i="1" u="none">
                <a:solidFill>
                  <a:srgbClr val="0B2B4E"/>
                </a:solidFill>
                <a:latin typeface="Calibri"/>
              </a:rPr>
              <a:t>S</a:t>
            </a:r>
          </a:p>
        </p:txBody>
      </p:sp>
      <p:cxnSp>
        <p:nvCxnSpPr>
          <p:cNvPr id="16" name="Connector 15"/>
          <p:cNvCxnSpPr/>
          <p:nvPr/>
        </p:nvCxnSpPr>
        <p:spPr>
          <a:xfrm>
            <a:off x="1737360" y="4046220"/>
            <a:ext cx="1340427" cy="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77787" y="4046220"/>
            <a:ext cx="0" cy="1805940"/>
          </a:xfrm>
          <a:prstGeom prst="line">
            <a:avLst/>
          </a:prstGeom>
          <a:ln w="1905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95528" y="3909060"/>
            <a:ext cx="868680" cy="274320"/>
          </a:xfrm>
          <a:prstGeom prst="rect">
            <a:avLst/>
          </a:prstGeom>
          <a:noFill/>
        </p:spPr>
        <p:txBody>
          <a:bodyPr wrap="square" lIns="0" rIns="0" tIns="0" bIns="0">
            <a:spAutoFit/>
          </a:bodyPr>
          <a:lstStyle/>
          <a:p>
            <a:pPr algn="r"/>
            <a:r>
              <a:rPr sz="1800" b="1" i="1" u="none">
                <a:solidFill>
                  <a:srgbClr val="0B2B4E"/>
                </a:solidFill>
                <a:latin typeface="Calibri"/>
              </a:rPr>
              <a:t>P*</a:t>
            </a:r>
          </a:p>
        </p:txBody>
      </p:sp>
      <p:sp>
        <p:nvSpPr>
          <p:cNvPr id="19" name="TextBox 18"/>
          <p:cNvSpPr txBox="1"/>
          <p:nvPr/>
        </p:nvSpPr>
        <p:spPr>
          <a:xfrm>
            <a:off x="2620587" y="5907024"/>
            <a:ext cx="914400" cy="274320"/>
          </a:xfrm>
          <a:prstGeom prst="rect">
            <a:avLst/>
          </a:prstGeom>
          <a:noFill/>
        </p:spPr>
        <p:txBody>
          <a:bodyPr wrap="square" lIns="0" rIns="0" tIns="0" bIns="0">
            <a:spAutoFit/>
          </a:bodyPr>
          <a:lstStyle/>
          <a:p>
            <a:pPr algn="ctr"/>
            <a:r>
              <a:rPr sz="1800" b="1" i="1" u="none">
                <a:solidFill>
                  <a:srgbClr val="0B2B4E"/>
                </a:solidFill>
                <a:latin typeface="Calibri"/>
              </a:rPr>
              <a:t>Q*</a:t>
            </a:r>
          </a:p>
        </p:txBody>
      </p:sp>
      <p:sp>
        <p:nvSpPr>
          <p:cNvPr id="20" name="Oval 19"/>
          <p:cNvSpPr/>
          <p:nvPr/>
        </p:nvSpPr>
        <p:spPr>
          <a:xfrm>
            <a:off x="3009207" y="397764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57400" y="4552880"/>
            <a:ext cx="1097280" cy="365760"/>
          </a:xfrm>
          <a:prstGeom prst="rect">
            <a:avLst/>
          </a:prstGeom>
          <a:noFill/>
        </p:spPr>
        <p:txBody>
          <a:bodyPr wrap="square" lIns="0" rIns="0" tIns="0" bIns="0">
            <a:spAutoFit/>
          </a:bodyPr>
          <a:lstStyle/>
          <a:p>
            <a:pPr algn="ctr"/>
            <a:r>
              <a:rPr sz="2200" b="1" i="0" u="none">
                <a:solidFill>
                  <a:srgbClr val="0B2B4E"/>
                </a:solidFill>
                <a:latin typeface="Calibri"/>
              </a:rPr>
              <a:t>PS</a:t>
            </a:r>
          </a:p>
        </p:txBody>
      </p:sp>
      <p:grpSp>
        <p:nvGrpSpPr>
          <p:cNvPr id="128" name="Group pair 128"/>
          <p:cNvGrpSpPr/>
          <p:nvPr/>
        </p:nvGrpSpPr>
        <p:grpSpPr>
          <a:xfrm>
            <a:off x="6675120" y="2468880"/>
            <a:ext cx="5074920" cy="1737360"/>
            <a:chOff x="6675120" y="2468880"/>
            <a:chExt cx="5074920" cy="1737360"/>
          </a:xfrm>
        </p:grpSpPr>
        <p:sp>
          <p:nvSpPr>
            <p:cNvPr id="22" name="Rounded Rectangle 21"/>
            <p:cNvSpPr/>
            <p:nvPr/>
          </p:nvSpPr>
          <p:spPr>
            <a:xfrm>
              <a:off x="6675120" y="2468880"/>
              <a:ext cx="5074920" cy="173736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0" y="2578608"/>
              <a:ext cx="4709160" cy="1517904"/>
            </a:xfrm>
            <a:prstGeom prst="rect">
              <a:avLst/>
            </a:prstGeom>
            <a:noFill/>
          </p:spPr>
          <p:txBody>
            <a:bodyPr wrap="square" lIns="45720" rIns="45720" tIns="0" bIns="0" anchor="ctr">
              <a:spAutoFit/>
            </a:bodyPr>
            <a:lstStyle/>
            <a:p>
              <a:pPr algn="l"/>
              <a:r>
                <a:rPr sz="1900" b="0" i="0" u="none">
                  <a:solidFill>
                    <a:srgbClr val="0B2B4E"/>
                  </a:solidFill>
                  <a:latin typeface="Calibri"/>
                </a:rPr>
                <a:t>Producer surplus is the area above the supply curve and below the price line — what sellers received, less the least they would have accepted.</a:t>
              </a:r>
            </a:p>
          </p:txBody>
        </p:sp>
      </p:grpSp>
      <p:sp>
        <p:nvSpPr>
          <p:cNvPr id="24" name="Rectangle 2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7" name="TextBox 26"/>
          <p:cNvSpPr txBox="1"/>
          <p:nvPr/>
        </p:nvSpPr>
        <p:spPr>
          <a:xfrm>
            <a:off x="11475720" y="6583680"/>
            <a:ext cx="502920" cy="292608"/>
          </a:xfrm>
          <a:prstGeom prst="rect">
            <a:avLst/>
          </a:prstGeom>
          <a:noFill/>
        </p:spPr>
        <p:txBody>
          <a:bodyPr wrap="none" lIns="0" rIns="0" tIns="0" bIns="0">
            <a:spAutoFit/>
          </a:bodyPr>
          <a:lstStyle/>
          <a:p>
            <a:pPr algn="r"/>
            <a:fld id="{EE7A44E1-3B49-5FD8-ABEA-DC399809A862}" type="slidenum">
              <a:rPr lang="en-US" sz="1200" dirty="0">
                <a:solidFill>
                  <a:srgbClr val="555B66"/>
                </a:solidFill>
                <a:latin typeface="Calibri"/>
              </a:rPr>
              <a:t>58</a:t>
            </a:fld>
          </a:p>
        </p:txBody>
      </p:sp>
      <p:sp>
        <p:nvSpPr>
          <p:cNvPr id="28" name="TextBox 27"/>
          <p:cNvSpPr txBox="1"/>
          <p:nvPr/>
        </p:nvSpPr>
        <p:spPr>
          <a:xfrm>
            <a:off x="389159" y="1243584"/>
            <a:ext cx="11338560" cy="384048"/>
          </a:xfrm>
          <a:prstGeom prst="rect">
            <a:avLst/>
          </a:prstGeom>
          <a:noFill/>
        </p:spPr>
        <p:txBody>
          <a:bodyPr wrap="square" lIns="0" rIns="0" tIns="0" bIns="0">
            <a:spAutoFit/>
          </a:bodyPr>
          <a:lstStyle/>
          <a:p>
            <a:pPr algn="l"/>
            <a:r>
              <a:rPr sz="2100" b="0" i="0" u="none">
                <a:solidFill>
                  <a:srgbClr val="0B2B4E"/>
                </a:solidFill>
                <a:latin typeface="Calibri"/>
              </a:rPr>
              <a:t>PS: the gap between the price at which producers would sell (the S curve) and what they do receive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8"/>
                                        </p:tgtEl>
                                        <p:attrNameLst>
                                          <p:attrName>style.visibility</p:attrName>
                                        </p:attrNameLst>
                                      </p:cBhvr>
                                      <p:to>
                                        <p:strVal val="visible"/>
                                      </p:to>
                                    </p:set>
                                    <p:animEffect transition="in" filter="fade">
                                      <p:cBhvr>
                                        <p:cTn id="48"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Deadweight Loss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11338560" cy="21031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The inefficiency that a market intervention creates</a:t>
            </a:r>
          </a:p>
          <a:p>
            <a:pPr algn="l"/>
            <a:r>
              <a:rPr>
                <a:latin typeface="Calibri"/>
              </a:rPr>
              <a:t>Mutually beneficial transactions that no longer happen</a:t>
            </a:r>
          </a:p>
          <a:p>
            <a:pPr algn="l" lvl="1"/>
            <a:r>
              <a:rPr>
                <a:latin typeface="Calibri"/>
              </a:rPr>
              <a:t>Workers willing to work at the market wage and firms willing to hire them — but a minimum wage stands in the way</a:t>
            </a:r>
          </a:p>
        </p:txBody>
      </p:sp>
      <p:sp>
        <p:nvSpPr>
          <p:cNvPr id="8" name="TextBox 7"/>
          <p:cNvSpPr txBox="1"/>
          <p:nvPr/>
        </p:nvSpPr>
        <p:spPr>
          <a:xfrm>
            <a:off x="1097280" y="4160520"/>
            <a:ext cx="10058400" cy="118872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m:rPr>
                      <m:sty m:val="p"/>
                    </m:rPr>
                    <a:rPr lang="en-US" b="0" i="0" sz="2600">
                      <a:solidFill>
                        <a:srgbClr val="0B2B4E"/>
                      </a:solidFill>
                      <a:latin typeface="Cambria Math"/>
                    </a:rPr>
                    <m:t xml:space="preserve">Deadweight loss</m:t>
                  </m:r>
                  <m:r>
                    <m:rPr>
                      <m:sty m:val="p"/>
                    </m:rPr>
                    <a:rPr lang="en-US" b="0" i="0" sz="2600">
                      <a:solidFill>
                        <a:srgbClr val="0B2B4E"/>
                      </a:solidFill>
                      <a:latin typeface="Cambria Math"/>
                    </a:rPr>
                    <m:t xml:space="preserve"> = </m:t>
                  </m:r>
                  <m:sSub>
                    <m:sSubPr>
                      <m:ctrlPr>
                        <a:rPr lang="en-US" i="1">
                          <a:latin typeface="Cambria Math"/>
                        </a:rPr>
                      </m:ctrlPr>
                    </m:sSubPr>
                    <m:e>
                      <m:r>
                        <m:rPr>
                          <m:sty m:val="p"/>
                        </m:rPr>
                        <a:rPr lang="en-US" b="0" i="0" sz="2600">
                          <a:solidFill>
                            <a:srgbClr val="0B2B4E"/>
                          </a:solidFill>
                          <a:latin typeface="Cambria Math"/>
                        </a:rPr>
                        <m:t xml:space="preserve">Welfare</m:t>
                      </m:r>
                    </m:e>
                    <m:sub>
                      <m:r>
                        <m:rPr>
                          <m:sty m:val="p"/>
                        </m:rPr>
                        <a:rPr lang="en-US" b="0" i="0" sz="2600">
                          <a:solidFill>
                            <a:srgbClr val="0B2B4E"/>
                          </a:solidFill>
                          <a:latin typeface="Cambria Math"/>
                        </a:rPr>
                        <m:t xml:space="preserve">free market</m:t>
                      </m:r>
                    </m:sub>
                  </m:sSub>
                  <m:r>
                    <m:rPr>
                      <m:sty m:val="p"/>
                    </m:rPr>
                    <a:rPr lang="en-US" b="0" i="0" sz="2600">
                      <a:solidFill>
                        <a:srgbClr val="0B2B4E"/>
                      </a:solidFill>
                      <a:latin typeface="Cambria Math"/>
                    </a:rPr>
                    <m:t xml:space="preserve"> − </m:t>
                  </m:r>
                  <m:sSub>
                    <m:sSubPr>
                      <m:ctrlPr>
                        <a:rPr lang="en-US" i="1">
                          <a:latin typeface="Cambria Math"/>
                        </a:rPr>
                      </m:ctrlPr>
                    </m:sSubPr>
                    <m:e>
                      <m:r>
                        <m:rPr>
                          <m:sty m:val="p"/>
                        </m:rPr>
                        <a:rPr lang="en-US" b="0" i="0" sz="2600">
                          <a:solidFill>
                            <a:srgbClr val="0B2B4E"/>
                          </a:solidFill>
                          <a:latin typeface="Cambria Math"/>
                        </a:rPr>
                        <m:t xml:space="preserve">Welfare</m:t>
                      </m:r>
                    </m:e>
                    <m:sub>
                      <m:r>
                        <m:rPr>
                          <m:sty m:val="p"/>
                        </m:rPr>
                        <a:rPr lang="en-US" b="0" i="0" sz="2600">
                          <a:solidFill>
                            <a:srgbClr val="0B2B4E"/>
                          </a:solidFill>
                          <a:latin typeface="Cambria Math"/>
                        </a:rPr>
                        <m:t xml:space="preserve">regulation</m:t>
                      </m:r>
                    </m:sub>
                  </m:sSub>
                </m:oMath>
              </m:oMathPara>
            </a14:m>
            <a:endParaRPr lang="en-US" sz="2600"/>
          </a:p>
        </p:txBody>
      </p:sp>
      <p:sp>
        <p:nvSpPr>
          <p:cNvPr id="9" name="TextBox 8"/>
          <p:cNvSpPr txBox="1"/>
          <p:nvPr/>
        </p:nvSpPr>
        <p:spPr>
          <a:xfrm>
            <a:off x="1097280" y="5468112"/>
            <a:ext cx="10058400" cy="365760"/>
          </a:xfrm>
          <a:prstGeom prst="rect">
            <a:avLst/>
          </a:prstGeom>
          <a:noFill/>
        </p:spPr>
        <p:txBody>
          <a:bodyPr wrap="square" lIns="0" rIns="0" tIns="0" bIns="0">
            <a:spAutoFit/>
          </a:bodyPr>
          <a:lstStyle/>
          <a:p>
            <a:pPr algn="ctr"/>
            <a:r>
              <a:rPr sz="1900" b="0" i="1" u="none">
                <a:solidFill>
                  <a:srgbClr val="555B66"/>
                </a:solidFill>
                <a:latin typeface="Calibri"/>
              </a:rPr>
              <a:t>with welfare measured as CS + PS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AB707137-F7EE-5E7D-AC74-68ACA2259F27}" type="slidenum">
              <a:rPr lang="en-US" sz="1200" dirty="0">
                <a:solidFill>
                  <a:srgbClr val="555B66"/>
                </a:solidFill>
                <a:latin typeface="Calibri"/>
              </a:rPr>
              <a:t>59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Sales Tax: a 10 % Tax on Top of the Listed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325880" y="1435608"/>
            <a:ext cx="0" cy="40965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25880" y="5532120"/>
            <a:ext cx="528523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1033271"/>
            <a:ext cx="1828800" cy="292608"/>
          </a:xfrm>
          <a:prstGeom prst="rect">
            <a:avLst/>
          </a:prstGeom>
          <a:noFill/>
        </p:spPr>
        <p:txBody>
          <a:bodyPr wrap="square" lIns="0" rIns="0" tIns="0" bIns="0">
            <a:spAutoFit/>
          </a:bodyPr>
          <a:lstStyle/>
          <a:p>
            <a:pPr algn="l"/>
            <a:r>
              <a:rPr sz="1800" b="1" i="1" u="none">
                <a:solidFill>
                  <a:srgbClr val="0B2B4E"/>
                </a:solidFill>
                <a:latin typeface="Calibri"/>
              </a:rPr>
              <a:t>Price ($)</a:t>
            </a:r>
          </a:p>
        </p:txBody>
      </p:sp>
      <p:sp>
        <p:nvSpPr>
          <p:cNvPr id="10" name="TextBox 9"/>
          <p:cNvSpPr txBox="1"/>
          <p:nvPr/>
        </p:nvSpPr>
        <p:spPr>
          <a:xfrm>
            <a:off x="6080759" y="5623559"/>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1" name="Rectangle 10"/>
          <p:cNvSpPr/>
          <p:nvPr/>
        </p:nvSpPr>
        <p:spPr>
          <a:xfrm>
            <a:off x="1325880" y="3149126"/>
            <a:ext cx="1551693" cy="397159"/>
          </a:xfrm>
          <a:custGeom>
            <a:avLst/>
            <a:gdLst/>
            <a:ahLst/>
            <a:cxnLst/>
            <a:rect l="0" t="0" r="r" b="b"/>
            <a:pathLst>
              <a:path w="1551693" h="397159">
                <a:moveTo>
                  <a:pt x="0" y="397159"/>
                </a:moveTo>
                <a:lnTo>
                  <a:pt x="0" y="0"/>
                </a:lnTo>
                <a:lnTo>
                  <a:pt x="1551693" y="0"/>
                </a:lnTo>
                <a:lnTo>
                  <a:pt x="1551693" y="397159"/>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25880" y="3546285"/>
            <a:ext cx="1551693" cy="317735"/>
          </a:xfrm>
          <a:custGeom>
            <a:avLst/>
            <a:gdLst/>
            <a:ahLst/>
            <a:cxnLst/>
            <a:rect l="0" t="0" r="r" b="b"/>
            <a:pathLst>
              <a:path w="1551693" h="317735">
                <a:moveTo>
                  <a:pt x="0" y="317735"/>
                </a:moveTo>
                <a:lnTo>
                  <a:pt x="0" y="0"/>
                </a:lnTo>
                <a:lnTo>
                  <a:pt x="1551693" y="0"/>
                </a:lnTo>
                <a:lnTo>
                  <a:pt x="1551693" y="317735"/>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77573" y="3149126"/>
            <a:ext cx="517231" cy="397159"/>
          </a:xfrm>
          <a:custGeom>
            <a:avLst/>
            <a:gdLst/>
            <a:ahLst/>
            <a:cxnLst/>
            <a:rect l="0" t="0" r="r" b="b"/>
            <a:pathLst>
              <a:path w="517231" h="397159">
                <a:moveTo>
                  <a:pt x="0" y="397159"/>
                </a:moveTo>
                <a:lnTo>
                  <a:pt x="0" y="0"/>
                </a:lnTo>
                <a:lnTo>
                  <a:pt x="517231" y="397159"/>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77573" y="3546285"/>
            <a:ext cx="517231" cy="317735"/>
          </a:xfrm>
          <a:custGeom>
            <a:avLst/>
            <a:gdLst/>
            <a:ahLst/>
            <a:cxnLst/>
            <a:rect l="0" t="0" r="r" b="b"/>
            <a:pathLst>
              <a:path w="517231" h="317735">
                <a:moveTo>
                  <a:pt x="0" y="317735"/>
                </a:moveTo>
                <a:lnTo>
                  <a:pt x="0" y="0"/>
                </a:lnTo>
                <a:lnTo>
                  <a:pt x="517231" y="0"/>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1325880" y="2357988"/>
            <a:ext cx="4003409" cy="245923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82738" y="2086577"/>
            <a:ext cx="822960" cy="292608"/>
          </a:xfrm>
          <a:prstGeom prst="rect">
            <a:avLst/>
          </a:prstGeom>
          <a:noFill/>
        </p:spPr>
        <p:txBody>
          <a:bodyPr wrap="square" lIns="0" rIns="0" tIns="0" bIns="0">
            <a:spAutoFit/>
          </a:bodyPr>
          <a:lstStyle/>
          <a:p>
            <a:pPr algn="l"/>
            <a:r>
              <a:rPr sz="1900" b="1" i="1" u="none">
                <a:solidFill>
                  <a:srgbClr val="0B2B4E"/>
                </a:solidFill>
                <a:latin typeface="Calibri"/>
              </a:rPr>
              <a:t>S</a:t>
            </a:r>
          </a:p>
        </p:txBody>
      </p:sp>
      <p:cxnSp>
        <p:nvCxnSpPr>
          <p:cNvPr id="17" name="Connector 16"/>
          <p:cNvCxnSpPr/>
          <p:nvPr/>
        </p:nvCxnSpPr>
        <p:spPr>
          <a:xfrm flipV="1">
            <a:off x="1325880" y="2215009"/>
            <a:ext cx="3072384" cy="1887321"/>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351712" y="1943598"/>
            <a:ext cx="822960" cy="292608"/>
          </a:xfrm>
          <a:prstGeom prst="rect">
            <a:avLst/>
          </a:prstGeom>
          <a:noFill/>
        </p:spPr>
        <p:txBody>
          <a:bodyPr wrap="square" lIns="0" rIns="0" tIns="0" bIns="0">
            <a:spAutoFit/>
          </a:bodyPr>
          <a:lstStyle/>
          <a:p>
            <a:pPr algn="l"/>
            <a:r>
              <a:rPr sz="1900" b="1" i="1" u="none">
                <a:solidFill>
                  <a:srgbClr val="E09F3E"/>
                </a:solidFill>
                <a:latin typeface="Calibri"/>
              </a:rPr>
              <a:t>S’</a:t>
            </a:r>
          </a:p>
        </p:txBody>
      </p:sp>
      <p:cxnSp>
        <p:nvCxnSpPr>
          <p:cNvPr id="19" name="Connector 18"/>
          <p:cNvCxnSpPr/>
          <p:nvPr/>
        </p:nvCxnSpPr>
        <p:spPr>
          <a:xfrm>
            <a:off x="1325880" y="1957647"/>
            <a:ext cx="4468922" cy="3431494"/>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48250" y="5064113"/>
            <a:ext cx="822960" cy="292608"/>
          </a:xfrm>
          <a:prstGeom prst="rect">
            <a:avLst/>
          </a:prstGeom>
          <a:noFill/>
        </p:spPr>
        <p:txBody>
          <a:bodyPr wrap="square" lIns="0" rIns="0" tIns="0" bIns="0">
            <a:spAutoFit/>
          </a:bodyPr>
          <a:lstStyle/>
          <a:p>
            <a:pPr algn="l"/>
            <a:r>
              <a:rPr sz="1900" b="1" i="1" u="none">
                <a:solidFill>
                  <a:srgbClr val="0B2B4E"/>
                </a:solidFill>
                <a:latin typeface="Calibri"/>
              </a:rPr>
              <a:t>D</a:t>
            </a:r>
          </a:p>
        </p:txBody>
      </p:sp>
      <p:cxnSp>
        <p:nvCxnSpPr>
          <p:cNvPr id="21" name="Connector 20"/>
          <p:cNvCxnSpPr/>
          <p:nvPr/>
        </p:nvCxnSpPr>
        <p:spPr>
          <a:xfrm>
            <a:off x="1325880" y="3149126"/>
            <a:ext cx="1551693"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048" y="3011966"/>
            <a:ext cx="868680" cy="274320"/>
          </a:xfrm>
          <a:prstGeom prst="rect">
            <a:avLst/>
          </a:prstGeom>
          <a:noFill/>
        </p:spPr>
        <p:txBody>
          <a:bodyPr wrap="square" lIns="0" rIns="0" tIns="0" bIns="0">
            <a:spAutoFit/>
          </a:bodyPr>
          <a:lstStyle/>
          <a:p>
            <a:pPr algn="r"/>
            <a:r>
              <a:rPr sz="1700" b="1" i="1" u="none">
                <a:solidFill>
                  <a:srgbClr val="0B2B4E"/>
                </a:solidFill>
                <a:latin typeface="Calibri"/>
              </a:rPr>
              <a:t>PB</a:t>
            </a:r>
          </a:p>
        </p:txBody>
      </p:sp>
      <p:cxnSp>
        <p:nvCxnSpPr>
          <p:cNvPr id="23" name="Connector 22"/>
          <p:cNvCxnSpPr/>
          <p:nvPr/>
        </p:nvCxnSpPr>
        <p:spPr>
          <a:xfrm>
            <a:off x="1325880" y="3546285"/>
            <a:ext cx="2068924"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84048" y="3409125"/>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r>
              <a:rPr sz="1700" b="1" i="1" u="none" baseline="-25000">
                <a:solidFill>
                  <a:srgbClr val="0B2B4E"/>
                </a:solidFill>
                <a:latin typeface="Calibri"/>
              </a:rPr>
              <a:t>0</a:t>
            </a:r>
          </a:p>
        </p:txBody>
      </p:sp>
      <p:cxnSp>
        <p:nvCxnSpPr>
          <p:cNvPr id="25" name="Connector 24"/>
          <p:cNvCxnSpPr/>
          <p:nvPr/>
        </p:nvCxnSpPr>
        <p:spPr>
          <a:xfrm>
            <a:off x="1325880" y="3864020"/>
            <a:ext cx="1551693"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4048" y="3726860"/>
            <a:ext cx="868680" cy="274320"/>
          </a:xfrm>
          <a:prstGeom prst="rect">
            <a:avLst/>
          </a:prstGeom>
          <a:noFill/>
        </p:spPr>
        <p:txBody>
          <a:bodyPr wrap="square" lIns="0" rIns="0" tIns="0" bIns="0">
            <a:spAutoFit/>
          </a:bodyPr>
          <a:lstStyle/>
          <a:p>
            <a:pPr algn="r"/>
            <a:r>
              <a:rPr sz="1700" b="1" i="1" u="none">
                <a:solidFill>
                  <a:srgbClr val="0B2B4E"/>
                </a:solidFill>
                <a:latin typeface="Calibri"/>
              </a:rPr>
              <a:t>PS</a:t>
            </a:r>
          </a:p>
        </p:txBody>
      </p:sp>
      <p:cxnSp>
        <p:nvCxnSpPr>
          <p:cNvPr id="27" name="Connector 26"/>
          <p:cNvCxnSpPr/>
          <p:nvPr/>
        </p:nvCxnSpPr>
        <p:spPr>
          <a:xfrm flipV="1">
            <a:off x="2877573" y="3149126"/>
            <a:ext cx="0" cy="238299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575821" y="5586983"/>
            <a:ext cx="603504"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1</a:t>
            </a:r>
          </a:p>
        </p:txBody>
      </p:sp>
      <p:cxnSp>
        <p:nvCxnSpPr>
          <p:cNvPr id="29" name="Connector 28"/>
          <p:cNvCxnSpPr/>
          <p:nvPr/>
        </p:nvCxnSpPr>
        <p:spPr>
          <a:xfrm flipV="1">
            <a:off x="3394804" y="3546285"/>
            <a:ext cx="0" cy="1985835"/>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93052" y="5586983"/>
            <a:ext cx="603504" cy="274320"/>
          </a:xfrm>
          <a:prstGeom prst="rect">
            <a:avLst/>
          </a:prstGeom>
          <a:noFill/>
        </p:spPr>
        <p:txBody>
          <a:bodyPr wrap="square" lIns="0" rIns="0" tIns="0" bIns="0">
            <a:spAutoFit/>
          </a:bodyPr>
          <a:lstStyle/>
          <a:p>
            <a:pPr algn="ctr"/>
            <a:r>
              <a:rPr sz="1700" b="1" i="1" u="none">
                <a:solidFill>
                  <a:srgbClr val="0B2B4E"/>
                </a:solidFill>
                <a:latin typeface="Calibri"/>
              </a:rPr>
              <a:t>Q</a:t>
            </a:r>
            <a:r>
              <a:rPr sz="1700" b="1" i="1" u="none" baseline="-25000">
                <a:solidFill>
                  <a:srgbClr val="0B2B4E"/>
                </a:solidFill>
                <a:latin typeface="Calibri"/>
              </a:rPr>
              <a:t>0</a:t>
            </a:r>
          </a:p>
        </p:txBody>
      </p:sp>
      <p:sp>
        <p:nvSpPr>
          <p:cNvPr id="31" name="TextBox 30"/>
          <p:cNvSpPr txBox="1"/>
          <p:nvPr/>
        </p:nvSpPr>
        <p:spPr>
          <a:xfrm>
            <a:off x="1795549" y="3192258"/>
            <a:ext cx="457200" cy="310896"/>
          </a:xfrm>
          <a:prstGeom prst="rect">
            <a:avLst/>
          </a:prstGeom>
          <a:noFill/>
        </p:spPr>
        <p:txBody>
          <a:bodyPr wrap="square" lIns="0" rIns="0" tIns="0" bIns="0">
            <a:spAutoFit/>
          </a:bodyPr>
          <a:lstStyle/>
          <a:p>
            <a:pPr algn="ctr"/>
            <a:r>
              <a:rPr sz="1700" b="1" i="0" u="none">
                <a:solidFill>
                  <a:srgbClr val="0B2B4E"/>
                </a:solidFill>
                <a:latin typeface="Calibri"/>
              </a:rPr>
              <a:t>A</a:t>
            </a:r>
          </a:p>
        </p:txBody>
      </p:sp>
      <p:sp>
        <p:nvSpPr>
          <p:cNvPr id="32" name="TextBox 31"/>
          <p:cNvSpPr txBox="1"/>
          <p:nvPr/>
        </p:nvSpPr>
        <p:spPr>
          <a:xfrm>
            <a:off x="1795549" y="3549705"/>
            <a:ext cx="457200" cy="310896"/>
          </a:xfrm>
          <a:prstGeom prst="rect">
            <a:avLst/>
          </a:prstGeom>
          <a:noFill/>
        </p:spPr>
        <p:txBody>
          <a:bodyPr wrap="square" lIns="0" rIns="0" tIns="0" bIns="0">
            <a:spAutoFit/>
          </a:bodyPr>
          <a:lstStyle/>
          <a:p>
            <a:pPr algn="ctr"/>
            <a:r>
              <a:rPr sz="1700" b="1" i="0" u="none">
                <a:solidFill>
                  <a:srgbClr val="0B2B4E"/>
                </a:solidFill>
                <a:latin typeface="Calibri"/>
              </a:rPr>
              <a:t>C</a:t>
            </a:r>
          </a:p>
        </p:txBody>
      </p:sp>
      <p:sp>
        <p:nvSpPr>
          <p:cNvPr id="33" name="TextBox 32"/>
          <p:cNvSpPr txBox="1"/>
          <p:nvPr/>
        </p:nvSpPr>
        <p:spPr>
          <a:xfrm>
            <a:off x="2807247" y="3283603"/>
            <a:ext cx="457200" cy="310896"/>
          </a:xfrm>
          <a:prstGeom prst="rect">
            <a:avLst/>
          </a:prstGeom>
          <a:noFill/>
        </p:spPr>
        <p:txBody>
          <a:bodyPr wrap="square" lIns="0" rIns="0" tIns="0" bIns="0">
            <a:spAutoFit/>
          </a:bodyPr>
          <a:lstStyle/>
          <a:p>
            <a:pPr algn="ctr"/>
            <a:r>
              <a:rPr sz="1700" b="1" i="0" u="none">
                <a:solidFill>
                  <a:srgbClr val="0B2B4E"/>
                </a:solidFill>
                <a:latin typeface="Calibri"/>
              </a:rPr>
              <a:t>B</a:t>
            </a:r>
          </a:p>
        </p:txBody>
      </p:sp>
      <p:sp>
        <p:nvSpPr>
          <p:cNvPr id="34" name="TextBox 33"/>
          <p:cNvSpPr txBox="1"/>
          <p:nvPr/>
        </p:nvSpPr>
        <p:spPr>
          <a:xfrm>
            <a:off x="2807247" y="3540965"/>
            <a:ext cx="457200" cy="310896"/>
          </a:xfrm>
          <a:prstGeom prst="rect">
            <a:avLst/>
          </a:prstGeom>
          <a:noFill/>
        </p:spPr>
        <p:txBody>
          <a:bodyPr wrap="square" lIns="0" rIns="0" tIns="0" bIns="0">
            <a:spAutoFit/>
          </a:bodyPr>
          <a:lstStyle/>
          <a:p>
            <a:pPr algn="ctr"/>
            <a:r>
              <a:rPr sz="1700" b="1" i="0" u="none">
                <a:solidFill>
                  <a:srgbClr val="0B2B4E"/>
                </a:solidFill>
                <a:latin typeface="Calibri"/>
              </a:rPr>
              <a:t>D</a:t>
            </a:r>
          </a:p>
        </p:txBody>
      </p:sp>
      <p:grpSp>
        <p:nvGrpSpPr>
          <p:cNvPr id="143" name="Group pair 143"/>
          <p:cNvGrpSpPr/>
          <p:nvPr/>
        </p:nvGrpSpPr>
        <p:grpSpPr>
          <a:xfrm>
            <a:off x="7040880" y="1463040"/>
            <a:ext cx="4709160" cy="1417320"/>
            <a:chOff x="7040880" y="1463040"/>
            <a:chExt cx="4709160" cy="1417320"/>
          </a:xfrm>
        </p:grpSpPr>
        <p:sp>
          <p:nvSpPr>
            <p:cNvPr id="35" name="Rounded Rectangle 34"/>
            <p:cNvSpPr/>
            <p:nvPr/>
          </p:nvSpPr>
          <p:spPr>
            <a:xfrm>
              <a:off x="7040880" y="1463040"/>
              <a:ext cx="4709160" cy="141732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23760" y="1572768"/>
              <a:ext cx="4343400" cy="1197864"/>
            </a:xfrm>
            <a:prstGeom prst="rect">
              <a:avLst/>
            </a:prstGeom>
            <a:noFill/>
          </p:spPr>
          <p:txBody>
            <a:bodyPr wrap="square" lIns="45720" rIns="45720" tIns="0" bIns="0" anchor="ctr">
              <a:spAutoFit/>
            </a:bodyPr>
            <a:lstStyle/>
            <a:p>
              <a:pPr algn="l"/>
              <a:r>
                <a:rPr sz="1800" b="0" i="0" u="none">
                  <a:solidFill>
                    <a:srgbClr val="0B2B4E"/>
                  </a:solidFill>
                  <a:latin typeface="Calibri"/>
                </a:rPr>
                <a:t>The price the seller keeps (PS) falls and the price the buyer pays (PB) rises — but by less than the tax.</a:t>
              </a:r>
            </a:p>
          </p:txBody>
        </p:sp>
      </p:grpSp>
      <p:sp>
        <p:nvSpPr>
          <p:cNvPr id="37" name="TextBox 36"/>
          <p:cNvSpPr txBox="1"/>
          <p:nvPr/>
        </p:nvSpPr>
        <p:spPr>
          <a:xfrm>
            <a:off x="7223760" y="3154680"/>
            <a:ext cx="4526280" cy="173736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a:latin typeface="Calibri"/>
              </a:rPr>
              <a:t>Buyers lose A + B</a:t>
            </a:r>
          </a:p>
          <a:p>
            <a:pPr algn="l"/>
            <a:r>
              <a:rPr>
                <a:latin typeface="Calibri"/>
              </a:rPr>
              <a:t>Sellers lose C + D</a:t>
            </a:r>
          </a:p>
          <a:p>
            <a:pPr algn="l"/>
            <a:r>
              <a:rPr>
                <a:latin typeface="Calibri"/>
              </a:rPr>
              <a:t>The government collects A + C</a:t>
            </a:r>
          </a:p>
          <a:p>
            <a:pPr algn="l"/>
            <a:r>
              <a:rPr>
                <a:latin typeface="Calibri"/>
              </a:rPr>
              <a:t>Deadweight loss: B + D</a:t>
            </a:r>
          </a:p>
        </p:txBody>
      </p:sp>
      <p:sp>
        <p:nvSpPr>
          <p:cNvPr id="38" name="TextBox 37"/>
          <p:cNvSpPr txBox="1"/>
          <p:nvPr/>
        </p:nvSpPr>
        <p:spPr>
          <a:xfrm>
            <a:off x="7223760" y="5074920"/>
            <a:ext cx="4526280" cy="640080"/>
          </a:xfrm>
          <a:prstGeom prst="rect">
            <a:avLst/>
          </a:prstGeom>
          <a:noFill/>
        </p:spPr>
        <p:txBody>
          <a:bodyPr wrap="square" lIns="0" rIns="0" tIns="0" bIns="0">
            <a:spAutoFit/>
          </a:bodyPr>
          <a:lstStyle/>
          <a:p>
            <a:pPr algn="l"/>
            <a:r>
              <a:rPr sz="1700" b="0" i="1" u="none">
                <a:solidFill>
                  <a:srgbClr val="555B66"/>
                </a:solidFill>
                <a:latin typeface="Calibri"/>
              </a:rPr>
              <a:t>A tax on gasoline can still make sense — because of the externality, which is next</a:t>
            </a:r>
          </a:p>
        </p:txBody>
      </p:sp>
      <p:sp>
        <p:nvSpPr>
          <p:cNvPr id="39" name="Rectangle 3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42" name="TextBox 41"/>
          <p:cNvSpPr txBox="1"/>
          <p:nvPr/>
        </p:nvSpPr>
        <p:spPr>
          <a:xfrm>
            <a:off x="11475720" y="6583680"/>
            <a:ext cx="502920" cy="292608"/>
          </a:xfrm>
          <a:prstGeom prst="rect">
            <a:avLst/>
          </a:prstGeom>
          <a:noFill/>
        </p:spPr>
        <p:txBody>
          <a:bodyPr wrap="none" lIns="0" rIns="0" tIns="0" bIns="0">
            <a:spAutoFit/>
          </a:bodyPr>
          <a:lstStyle/>
          <a:p>
            <a:pPr algn="r"/>
            <a:fld id="{5F820920-0CE3-5A0E-8143-66704159DDCE}" type="slidenum">
              <a:rPr lang="en-US" sz="1200" dirty="0">
                <a:solidFill>
                  <a:srgbClr val="555B66"/>
                </a:solidFill>
                <a:latin typeface="Calibri"/>
              </a:rPr>
              <a:t>60</a:t>
            </a:fld>
          </a:p>
        </p:txBody>
      </p:sp>
      <p:sp>
        <p:nvSpPr>
          <p:cNvPr id="43" name="Rounded Rectangle 42"/>
          <p:cNvSpPr/>
          <p:nvPr/>
        </p:nvSpPr>
        <p:spPr>
          <a:xfrm>
            <a:off x="9299448" y="5971032"/>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3152" rIns="73152" tIns="0" bIns="0"/>
          <a:lstStyle/>
          <a:p>
            <a:pPr algn="ctr"/>
            <a:r>
              <a:rPr sz="1600" b="1">
                <a:solidFill>
                  <a:srgbClr val="E09F3E"/>
                </a:solidFill>
                <a:latin typeface="Calibri"/>
              </a:rPr>
              <a:t>✎  </a:t>
            </a:r>
            <a:r>
              <a:rPr sz="1600" b="1">
                <a:solidFill>
                  <a:srgbClr val="0B2B4E"/>
                </a:solidFill>
                <a:latin typeface="Calibri"/>
              </a:rPr>
              <a:t>Problem Set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p:tgtEl>
                                          <p:spTgt spid="1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500"/>
                                        <p:tgtEl>
                                          <p:spTgt spid="1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p:tgtEl>
                                          <p:spTgt spid="1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fade">
                                      <p:cBhvr>
                                        <p:cTn id="85" dur="500"/>
                                        <p:tgtEl>
                                          <p:spTgt spid="1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500"/>
                                        <p:tgtEl>
                                          <p:spTgt spid="3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43"/>
                                        </p:tgtEl>
                                        <p:attrNameLst>
                                          <p:attrName>style.visibility</p:attrName>
                                        </p:attrNameLst>
                                      </p:cBhvr>
                                      <p:to>
                                        <p:strVal val="visible"/>
                                      </p:to>
                                    </p:set>
                                    <p:animEffect transition="in" filter="fade">
                                      <p:cBhvr>
                                        <p:cTn id="93" dur="500"/>
                                        <p:tgtEl>
                                          <p:spTgt spid="143"/>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Tax Incidence: Who Really Pays?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4" name="Group pair 114"/>
          <p:cNvGrpSpPr/>
          <p:nvPr/>
        </p:nvGrpSpPr>
        <p:grpSpPr>
          <a:xfrm>
            <a:off x="1097280" y="1481328"/>
            <a:ext cx="10058400" cy="960120"/>
            <a:chOff x="1097280" y="1481328"/>
            <a:chExt cx="10058400" cy="960120"/>
          </a:xfrm>
        </p:grpSpPr>
        <p:sp>
          <p:nvSpPr>
            <p:cNvPr id="7" name="Rounded Rectangle 6"/>
            <p:cNvSpPr/>
            <p:nvPr/>
          </p:nvSpPr>
          <p:spPr>
            <a:xfrm>
              <a:off x="1097280" y="1481328"/>
              <a:ext cx="10058400" cy="96012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1591056"/>
              <a:ext cx="9692640" cy="740664"/>
            </a:xfrm>
            <a:prstGeom prst="rect">
              <a:avLst/>
            </a:prstGeom>
            <a:noFill/>
          </p:spPr>
          <p:txBody>
            <a:bodyPr wrap="square" lIns="45720" rIns="45720" tIns="0" bIns="0" anchor="ctr">
              <a:spAutoFit/>
            </a:bodyPr>
            <a:lstStyle/>
            <a:p>
              <a:pPr algn="l"/>
              <a:r>
                <a:rPr sz="2100" b="1" i="0" u="none">
                  <a:solidFill>
                    <a:srgbClr val="0B2B4E"/>
                  </a:solidFill>
                  <a:latin typeface="Calibri"/>
                </a:rPr>
                <a:t>Tax incidence:  </a:t>
              </a:r>
              <a:r>
                <a:rPr sz="2100" b="0" i="0" u="none">
                  <a:solidFill>
                    <a:srgbClr val="0B2B4E"/>
                  </a:solidFill>
                  <a:latin typeface="Calibri"/>
                </a:rPr>
                <a:t>which side of the market — buyers or sellers — ends up bearing the burden of the tax</a:t>
              </a:r>
            </a:p>
          </p:txBody>
        </p:sp>
      </p:grpSp>
      <p:sp>
        <p:nvSpPr>
          <p:cNvPr id="9" name="TextBox 8"/>
          <p:cNvSpPr txBox="1"/>
          <p:nvPr/>
        </p:nvSpPr>
        <p:spPr>
          <a:xfrm>
            <a:off x="572039" y="2788920"/>
            <a:ext cx="11155680" cy="260604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Who hands the money to the government does not matter</a:t>
            </a:r>
          </a:p>
          <a:p>
            <a:pPr algn="l" lvl="1"/>
            <a:r>
              <a:rPr>
                <a:latin typeface="Calibri"/>
              </a:rPr>
              <a:t>The incidence is the same whether the tax is collected from the buyer or from the seller</a:t>
            </a:r>
          </a:p>
          <a:p>
            <a:pPr algn="l"/>
            <a:r>
              <a:rPr>
                <a:latin typeface="Calibri"/>
              </a:rPr>
              <a:t>What matters is the elasticity of supply and demand</a:t>
            </a:r>
          </a:p>
          <a:p>
            <a:pPr algn="l" lvl="1"/>
            <a:r>
              <a:rPr>
                <a:latin typeface="Calibri"/>
              </a:rPr>
              <a:t>The side that responds less to price bears more of the tax</a:t>
            </a:r>
          </a:p>
        </p:txBody>
      </p:sp>
      <p:sp>
        <p:nvSpPr>
          <p:cNvPr id="10" name="Rounded Rectangle 9"/>
          <p:cNvSpPr/>
          <p:nvPr/>
        </p:nvSpPr>
        <p:spPr>
          <a:xfrm>
            <a:off x="1615287" y="5669280"/>
            <a:ext cx="896112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B2B4E"/>
                </a:solidFill>
                <a:latin typeface="Calibri"/>
              </a:rPr>
              <a:t>The less price-responsive side of the market pays the larger share</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0F6C8757-91A0-56B1-BB2E-C8D834533948}" type="slidenum">
              <a:rPr lang="en-US" sz="1200" dirty="0">
                <a:solidFill>
                  <a:srgbClr val="555B66"/>
                </a:solidFill>
                <a:latin typeface="Calibri"/>
              </a:rPr>
              <a:t>61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Minimum Wage: A Popular Policy Tool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2" name="Group pair 112"/>
          <p:cNvGrpSpPr/>
          <p:nvPr/>
        </p:nvGrpSpPr>
        <p:grpSpPr>
          <a:xfrm>
            <a:off x="2606040" y="1417320"/>
            <a:ext cx="6793992" cy="4873752"/>
            <a:chOff x="2606040" y="1417320"/>
            <a:chExt cx="6793992" cy="4873752"/>
          </a:xfrm>
        </p:grpSpPr>
        <p:pic>
          <p:nvPicPr>
            <p:cNvPr id="7" name="Picture 6" descr="web_minwage_map_commons.png"/>
            <p:cNvPicPr>
              <a:picLocks noChangeAspect="1"/>
            </p:cNvPicPr>
            <p:nvPr/>
          </p:nvPicPr>
          <p:blipFill>
            <a:blip r:embed="rId2"/>
            <a:stretch>
              <a:fillRect/>
            </a:stretch>
          </p:blipFill>
          <p:spPr>
            <a:xfrm>
              <a:off x="2606040" y="1417320"/>
              <a:ext cx="6793992" cy="4526280"/>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2606040" y="6035040"/>
              <a:ext cx="6793992" cy="256032"/>
            </a:xfrm>
            <a:prstGeom prst="rect">
              <a:avLst/>
            </a:prstGeom>
            <a:noFill/>
          </p:spPr>
          <p:txBody>
            <a:bodyPr wrap="square" lIns="0" rIns="0" tIns="0" bIns="0">
              <a:spAutoFit/>
            </a:bodyPr>
            <a:lstStyle/>
            <a:p>
              <a:pPr algn="ctr"/>
              <a:r>
                <a:rPr sz="1100" b="0" i="1" u="none">
                  <a:solidFill>
                    <a:srgbClr val="555B66"/>
                  </a:solidFill>
                  <a:latin typeface="Calibri"/>
                </a:rPr>
                <a:t>Map: Wikimedia Commons, from US Department of Labor data</a:t>
              </a: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26C31B40-B3B2-576C-9AE7-BEDF2C7178F0}" type="slidenum">
              <a:rPr lang="en-US" sz="1200" dirty="0">
                <a:solidFill>
                  <a:srgbClr val="555B66"/>
                </a:solidFill>
                <a:latin typeface="Calibri"/>
              </a:rPr>
              <a:t>62</a:t>
            </a:fld>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Price Floor: The Minimum Wage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188720" y="1664208"/>
            <a:ext cx="0" cy="395935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623560"/>
            <a:ext cx="43251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1261872"/>
            <a:ext cx="1828800" cy="292608"/>
          </a:xfrm>
          <a:prstGeom prst="rect">
            <a:avLst/>
          </a:prstGeom>
          <a:noFill/>
        </p:spPr>
        <p:txBody>
          <a:bodyPr wrap="square" lIns="0" rIns="0" tIns="0" bIns="0">
            <a:spAutoFit/>
          </a:bodyPr>
          <a:lstStyle/>
          <a:p>
            <a:pPr algn="l"/>
            <a:r>
              <a:rPr sz="1800" b="1" i="1" u="none">
                <a:solidFill>
                  <a:srgbClr val="0B2B4E"/>
                </a:solidFill>
                <a:latin typeface="Calibri"/>
              </a:rPr>
              <a:t>Wage</a:t>
            </a:r>
          </a:p>
        </p:txBody>
      </p:sp>
      <p:sp>
        <p:nvSpPr>
          <p:cNvPr id="10" name="TextBox 9"/>
          <p:cNvSpPr txBox="1"/>
          <p:nvPr/>
        </p:nvSpPr>
        <p:spPr>
          <a:xfrm>
            <a:off x="4983479" y="5715000"/>
            <a:ext cx="1645920" cy="292608"/>
          </a:xfrm>
          <a:prstGeom prst="rect">
            <a:avLst/>
          </a:prstGeom>
          <a:noFill/>
        </p:spPr>
        <p:txBody>
          <a:bodyPr wrap="square" lIns="0" rIns="0" tIns="0" bIns="0">
            <a:spAutoFit/>
          </a:bodyPr>
          <a:lstStyle/>
          <a:p>
            <a:pPr algn="l"/>
            <a:r>
              <a:rPr sz="1800" b="1" i="1" u="none">
                <a:solidFill>
                  <a:srgbClr val="0B2B4E"/>
                </a:solidFill>
                <a:latin typeface="Calibri"/>
              </a:rPr>
              <a:t>Labor</a:t>
            </a:r>
          </a:p>
        </p:txBody>
      </p:sp>
      <p:sp>
        <p:nvSpPr>
          <p:cNvPr id="11" name="Rectangle 10"/>
          <p:cNvSpPr/>
          <p:nvPr/>
        </p:nvSpPr>
        <p:spPr>
          <a:xfrm>
            <a:off x="1188720" y="3208712"/>
            <a:ext cx="945572" cy="517468"/>
          </a:xfrm>
          <a:custGeom>
            <a:avLst/>
            <a:gdLst/>
            <a:ahLst/>
            <a:cxnLst/>
            <a:rect l="0" t="0" r="r" b="b"/>
            <a:pathLst>
              <a:path w="945572" h="517468">
                <a:moveTo>
                  <a:pt x="0" y="517468"/>
                </a:moveTo>
                <a:lnTo>
                  <a:pt x="0" y="0"/>
                </a:lnTo>
                <a:lnTo>
                  <a:pt x="945572" y="0"/>
                </a:lnTo>
                <a:lnTo>
                  <a:pt x="945572" y="517468"/>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4292" y="3208712"/>
            <a:ext cx="472787" cy="517468"/>
          </a:xfrm>
          <a:custGeom>
            <a:avLst/>
            <a:gdLst/>
            <a:ahLst/>
            <a:cxnLst/>
            <a:rect l="0" t="0" r="r" b="b"/>
            <a:pathLst>
              <a:path w="472787" h="517468">
                <a:moveTo>
                  <a:pt x="0" y="517468"/>
                </a:moveTo>
                <a:lnTo>
                  <a:pt x="0" y="0"/>
                </a:lnTo>
                <a:lnTo>
                  <a:pt x="472787" y="517468"/>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34292" y="3726180"/>
            <a:ext cx="472787" cy="517467"/>
          </a:xfrm>
          <a:custGeom>
            <a:avLst/>
            <a:gdLst/>
            <a:ahLst/>
            <a:cxnLst/>
            <a:rect l="0" t="0" r="r" b="b"/>
            <a:pathLst>
              <a:path w="472787" h="517467">
                <a:moveTo>
                  <a:pt x="0" y="0"/>
                </a:moveTo>
                <a:lnTo>
                  <a:pt x="472787" y="0"/>
                </a:lnTo>
                <a:lnTo>
                  <a:pt x="0" y="517467"/>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188720" y="2173778"/>
            <a:ext cx="3025832"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101083" y="5132277"/>
            <a:ext cx="822960" cy="292608"/>
          </a:xfrm>
          <a:prstGeom prst="rect">
            <a:avLst/>
          </a:prstGeom>
          <a:noFill/>
        </p:spPr>
        <p:txBody>
          <a:bodyPr wrap="square" lIns="0" rIns="0" tIns="0" bIns="0">
            <a:spAutoFit/>
          </a:bodyPr>
          <a:lstStyle/>
          <a:p>
            <a:pPr algn="l"/>
            <a:r>
              <a:rPr sz="1700" b="1" i="1" u="none">
                <a:solidFill>
                  <a:srgbClr val="0B2B4E"/>
                </a:solidFill>
                <a:latin typeface="Calibri"/>
              </a:rPr>
              <a:t>DLabor</a:t>
            </a:r>
          </a:p>
        </p:txBody>
      </p:sp>
      <p:cxnSp>
        <p:nvCxnSpPr>
          <p:cNvPr id="16" name="Connector 15"/>
          <p:cNvCxnSpPr/>
          <p:nvPr/>
        </p:nvCxnSpPr>
        <p:spPr>
          <a:xfrm flipV="1">
            <a:off x="1188720" y="1966791"/>
            <a:ext cx="3025832"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025438" y="1716993"/>
            <a:ext cx="822960" cy="292608"/>
          </a:xfrm>
          <a:prstGeom prst="rect">
            <a:avLst/>
          </a:prstGeom>
          <a:noFill/>
        </p:spPr>
        <p:txBody>
          <a:bodyPr wrap="square" lIns="0" rIns="0" tIns="0" bIns="0">
            <a:spAutoFit/>
          </a:bodyPr>
          <a:lstStyle/>
          <a:p>
            <a:pPr algn="l"/>
            <a:r>
              <a:rPr sz="1700" b="1" i="1" u="none">
                <a:solidFill>
                  <a:srgbClr val="0B2B4E"/>
                </a:solidFill>
                <a:latin typeface="Calibri"/>
              </a:rPr>
              <a:t>SLabor</a:t>
            </a:r>
          </a:p>
        </p:txBody>
      </p:sp>
      <p:cxnSp>
        <p:nvCxnSpPr>
          <p:cNvPr id="18" name="Connector 17"/>
          <p:cNvCxnSpPr/>
          <p:nvPr/>
        </p:nvCxnSpPr>
        <p:spPr>
          <a:xfrm>
            <a:off x="1188720" y="3726180"/>
            <a:ext cx="1418359"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607079" y="3726180"/>
            <a:ext cx="0" cy="189738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6888" y="3589020"/>
            <a:ext cx="868680" cy="274320"/>
          </a:xfrm>
          <a:prstGeom prst="rect">
            <a:avLst/>
          </a:prstGeom>
          <a:noFill/>
        </p:spPr>
        <p:txBody>
          <a:bodyPr wrap="square" lIns="0" rIns="0" tIns="0" bIns="0">
            <a:spAutoFit/>
          </a:bodyPr>
          <a:lstStyle/>
          <a:p>
            <a:pPr algn="r"/>
            <a:r>
              <a:rPr sz="1700" b="1" i="1" u="none">
                <a:solidFill>
                  <a:srgbClr val="0B2B4E"/>
                </a:solidFill>
                <a:latin typeface="Calibri"/>
              </a:rPr>
              <a:t>w*</a:t>
            </a:r>
          </a:p>
        </p:txBody>
      </p:sp>
      <p:sp>
        <p:nvSpPr>
          <p:cNvPr id="21" name="TextBox 20"/>
          <p:cNvSpPr txBox="1"/>
          <p:nvPr/>
        </p:nvSpPr>
        <p:spPr>
          <a:xfrm>
            <a:off x="2305327"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L*</a:t>
            </a:r>
          </a:p>
        </p:txBody>
      </p:sp>
      <p:cxnSp>
        <p:nvCxnSpPr>
          <p:cNvPr id="22" name="Connector 21"/>
          <p:cNvCxnSpPr/>
          <p:nvPr/>
        </p:nvCxnSpPr>
        <p:spPr>
          <a:xfrm>
            <a:off x="1188720" y="3208712"/>
            <a:ext cx="1891145" cy="0"/>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46888" y="3071552"/>
            <a:ext cx="868680" cy="274320"/>
          </a:xfrm>
          <a:prstGeom prst="rect">
            <a:avLst/>
          </a:prstGeom>
          <a:noFill/>
        </p:spPr>
        <p:txBody>
          <a:bodyPr wrap="square" lIns="0" rIns="0" tIns="0" bIns="0">
            <a:spAutoFit/>
          </a:bodyPr>
          <a:lstStyle/>
          <a:p>
            <a:pPr algn="r"/>
            <a:r>
              <a:rPr sz="1700" b="1" i="1" u="none">
                <a:solidFill>
                  <a:srgbClr val="0B2B4E"/>
                </a:solidFill>
                <a:latin typeface="Calibri"/>
              </a:rPr>
              <a:t>wmin</a:t>
            </a:r>
          </a:p>
        </p:txBody>
      </p:sp>
      <p:cxnSp>
        <p:nvCxnSpPr>
          <p:cNvPr id="24" name="Connector 23"/>
          <p:cNvCxnSpPr/>
          <p:nvPr/>
        </p:nvCxnSpPr>
        <p:spPr>
          <a:xfrm flipV="1">
            <a:off x="2134292" y="3208712"/>
            <a:ext cx="0" cy="241484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832540"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Ld</a:t>
            </a:r>
          </a:p>
        </p:txBody>
      </p:sp>
      <p:cxnSp>
        <p:nvCxnSpPr>
          <p:cNvPr id="26" name="Connector 25"/>
          <p:cNvCxnSpPr/>
          <p:nvPr/>
        </p:nvCxnSpPr>
        <p:spPr>
          <a:xfrm flipV="1">
            <a:off x="3079865" y="3208712"/>
            <a:ext cx="0" cy="241484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778113"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Ls</a:t>
            </a:r>
          </a:p>
        </p:txBody>
      </p:sp>
      <p:cxnSp>
        <p:nvCxnSpPr>
          <p:cNvPr id="28" name="Connector 27"/>
          <p:cNvCxnSpPr/>
          <p:nvPr/>
        </p:nvCxnSpPr>
        <p:spPr>
          <a:xfrm>
            <a:off x="2134292" y="2949979"/>
            <a:ext cx="945573" cy="0"/>
          </a:xfrm>
          <a:prstGeom prst="line">
            <a:avLst/>
          </a:prstGeom>
          <a:ln w="25400">
            <a:solidFill>
              <a:srgbClr val="A2162A"/>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631372" y="2621834"/>
            <a:ext cx="2377440" cy="292608"/>
          </a:xfrm>
          <a:prstGeom prst="rect">
            <a:avLst/>
          </a:prstGeom>
          <a:noFill/>
        </p:spPr>
        <p:txBody>
          <a:bodyPr wrap="square" lIns="0" rIns="0" tIns="0" bIns="0">
            <a:spAutoFit/>
          </a:bodyPr>
          <a:lstStyle/>
          <a:p>
            <a:pPr algn="ctr"/>
            <a:r>
              <a:rPr sz="1400" b="1" i="0" u="none">
                <a:solidFill>
                  <a:srgbClr val="A2162A"/>
                </a:solidFill>
                <a:latin typeface="Calibri"/>
              </a:rPr>
              <a:t>Ls − Ld = unemployment</a:t>
            </a:r>
          </a:p>
        </p:txBody>
      </p:sp>
      <p:sp>
        <p:nvSpPr>
          <p:cNvPr id="30" name="TextBox 29"/>
          <p:cNvSpPr txBox="1"/>
          <p:nvPr/>
        </p:nvSpPr>
        <p:spPr>
          <a:xfrm>
            <a:off x="1413994" y="3311998"/>
            <a:ext cx="457200" cy="310896"/>
          </a:xfrm>
          <a:prstGeom prst="rect">
            <a:avLst/>
          </a:prstGeom>
          <a:noFill/>
        </p:spPr>
        <p:txBody>
          <a:bodyPr wrap="square" lIns="0" rIns="0" tIns="0" bIns="0">
            <a:spAutoFit/>
          </a:bodyPr>
          <a:lstStyle/>
          <a:p>
            <a:pPr algn="ctr"/>
            <a:r>
              <a:rPr sz="1700" b="1" i="0" u="none">
                <a:solidFill>
                  <a:srgbClr val="0B2B4E"/>
                </a:solidFill>
                <a:latin typeface="Calibri"/>
              </a:rPr>
              <a:t>A</a:t>
            </a:r>
          </a:p>
        </p:txBody>
      </p:sp>
      <p:sp>
        <p:nvSpPr>
          <p:cNvPr id="31" name="TextBox 30"/>
          <p:cNvSpPr txBox="1"/>
          <p:nvPr/>
        </p:nvSpPr>
        <p:spPr>
          <a:xfrm>
            <a:off x="2019161" y="3346496"/>
            <a:ext cx="457200" cy="310896"/>
          </a:xfrm>
          <a:prstGeom prst="rect">
            <a:avLst/>
          </a:prstGeom>
          <a:noFill/>
        </p:spPr>
        <p:txBody>
          <a:bodyPr wrap="square" lIns="0" rIns="0" tIns="0" bIns="0">
            <a:spAutoFit/>
          </a:bodyPr>
          <a:lstStyle/>
          <a:p>
            <a:pPr algn="ctr"/>
            <a:r>
              <a:rPr sz="1700" b="1" i="0" u="none">
                <a:solidFill>
                  <a:srgbClr val="0B2B4E"/>
                </a:solidFill>
                <a:latin typeface="Calibri"/>
              </a:rPr>
              <a:t>B</a:t>
            </a:r>
          </a:p>
        </p:txBody>
      </p:sp>
      <p:sp>
        <p:nvSpPr>
          <p:cNvPr id="32" name="TextBox 31"/>
          <p:cNvSpPr txBox="1"/>
          <p:nvPr/>
        </p:nvSpPr>
        <p:spPr>
          <a:xfrm>
            <a:off x="2019161" y="3760470"/>
            <a:ext cx="457200" cy="310896"/>
          </a:xfrm>
          <a:prstGeom prst="rect">
            <a:avLst/>
          </a:prstGeom>
          <a:noFill/>
        </p:spPr>
        <p:txBody>
          <a:bodyPr wrap="square" lIns="0" rIns="0" tIns="0" bIns="0">
            <a:spAutoFit/>
          </a:bodyPr>
          <a:lstStyle/>
          <a:p>
            <a:pPr algn="ctr"/>
            <a:r>
              <a:rPr sz="1700" b="1" i="0" u="none">
                <a:solidFill>
                  <a:srgbClr val="0B2B4E"/>
                </a:solidFill>
                <a:latin typeface="Calibri"/>
              </a:rPr>
              <a:t>C</a:t>
            </a:r>
          </a:p>
        </p:txBody>
      </p:sp>
      <p:sp>
        <p:nvSpPr>
          <p:cNvPr id="33" name="TextBox 32"/>
          <p:cNvSpPr txBox="1"/>
          <p:nvPr/>
        </p:nvSpPr>
        <p:spPr>
          <a:xfrm>
            <a:off x="5989320" y="1481328"/>
            <a:ext cx="5806440" cy="201168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b="1">
                <a:latin typeface="Calibri"/>
              </a:rPr>
              <a:t>Welfare effects</a:t>
            </a:r>
          </a:p>
          <a:p>
            <a:pPr algn="l" lvl="1"/>
            <a:r>
              <a:rPr>
                <a:latin typeface="Calibri"/>
              </a:rPr>
              <a:t>Some workers win A — they are paid more</a:t>
            </a:r>
          </a:p>
          <a:p>
            <a:pPr algn="l" lvl="1"/>
            <a:r>
              <a:rPr>
                <a:latin typeface="Calibri"/>
              </a:rPr>
              <a:t>Some workers lose C — they are not hired</a:t>
            </a:r>
          </a:p>
          <a:p>
            <a:pPr algn="l" lvl="1"/>
            <a:r>
              <a:rPr>
                <a:latin typeface="Calibri"/>
              </a:rPr>
              <a:t>Firms lose A + B</a:t>
            </a:r>
          </a:p>
          <a:p>
            <a:pPr algn="l" lvl="1"/>
            <a:r>
              <a:rPr>
                <a:latin typeface="Calibri"/>
              </a:rPr>
              <a:t>Deadweight loss: B + C</a:t>
            </a:r>
          </a:p>
        </p:txBody>
      </p:sp>
      <p:grpSp>
        <p:nvGrpSpPr>
          <p:cNvPr id="139" name="Group pair 139"/>
          <p:cNvGrpSpPr/>
          <p:nvPr/>
        </p:nvGrpSpPr>
        <p:grpSpPr>
          <a:xfrm>
            <a:off x="5989320" y="3794760"/>
            <a:ext cx="5806440" cy="1874519"/>
            <a:chOff x="5989320" y="3794760"/>
            <a:chExt cx="5806440" cy="1874519"/>
          </a:xfrm>
        </p:grpSpPr>
        <p:sp>
          <p:nvSpPr>
            <p:cNvPr id="34" name="Rounded Rectangle 33"/>
            <p:cNvSpPr/>
            <p:nvPr/>
          </p:nvSpPr>
          <p:spPr>
            <a:xfrm>
              <a:off x="5989320" y="3794760"/>
              <a:ext cx="5806440" cy="1874519"/>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200" y="3904488"/>
              <a:ext cx="5440680" cy="1655063"/>
            </a:xfrm>
            <a:prstGeom prst="rect">
              <a:avLst/>
            </a:prstGeom>
            <a:noFill/>
          </p:spPr>
          <p:txBody>
            <a:bodyPr wrap="square" lIns="45720" rIns="45720" tIns="0" bIns="0" anchor="ctr">
              <a:spAutoFit/>
            </a:bodyPr>
            <a:lstStyle/>
            <a:p>
              <a:pPr algn="l"/>
              <a:r>
                <a:rPr sz="2000" b="1" i="0" u="none">
                  <a:solidFill>
                    <a:srgbClr val="0B2B4E"/>
                  </a:solidFill>
                  <a:latin typeface="Calibri"/>
                </a:rPr>
                <a:t>Circumvention?</a:t>
              </a:r>
              <a:r>
                <a:rPr sz="1800" b="0" i="0" u="none">
                  <a:solidFill>
                    <a:srgbClr val="0B2B4E"/>
                  </a:solidFill>
                  <a:latin typeface="Calibri"/>
                </a:rPr>
                <a:t>
Underground labor market
Cutting non-wage benefits
Unpaid internships</a:t>
              </a:r>
            </a:p>
          </p:txBody>
        </p:sp>
      </p:gr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9" name="TextBox 38"/>
          <p:cNvSpPr txBox="1"/>
          <p:nvPr/>
        </p:nvSpPr>
        <p:spPr>
          <a:xfrm>
            <a:off x="11475720" y="6583680"/>
            <a:ext cx="502920" cy="292608"/>
          </a:xfrm>
          <a:prstGeom prst="rect">
            <a:avLst/>
          </a:prstGeom>
          <a:noFill/>
        </p:spPr>
        <p:txBody>
          <a:bodyPr wrap="none" lIns="0" rIns="0" tIns="0" bIns="0">
            <a:spAutoFit/>
          </a:bodyPr>
          <a:lstStyle/>
          <a:p>
            <a:pPr algn="r"/>
            <a:fld id="{21A80A6E-165F-5783-AAF6-988F3E4BDE1E}" type="slidenum">
              <a:rPr lang="en-US" sz="1200" dirty="0">
                <a:solidFill>
                  <a:srgbClr val="555B66"/>
                </a:solidFill>
                <a:latin typeface="Calibri"/>
              </a:rPr>
              <a:t>63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500"/>
                                        <p:tgtEl>
                                          <p:spTgt spid="1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39"/>
                                        </p:tgtEl>
                                        <p:attrNameLst>
                                          <p:attrName>style.visibility</p:attrName>
                                        </p:attrNameLst>
                                      </p:cBhvr>
                                      <p:to>
                                        <p:strVal val="visible"/>
                                      </p:to>
                                    </p:set>
                                    <p:animEffect transition="in" filter="fade">
                                      <p:cBhvr>
                                        <p:cTn id="94"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Does the Evidence Say on the Minimum Wage?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417320"/>
            <a:ext cx="5760720" cy="3611880"/>
          </a:xfrm>
          <a:prstGeom prst="rect">
            <a:avLst/>
          </a:prstGeom>
          <a:noFill/>
        </p:spPr>
        <p:txBody>
          <a:bodyPr wrap="square" lIns="0" rIns="0" tIns="0" bIns="0">
            <a:spAutoFit/>
          </a:bodyPr>
          <a:lstStyle>
            <a:lvl1pPr marL="342900" indent="-342900">
              <a:spcBef>
                <a:spcPts val="9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a:latin typeface="Calibri"/>
              </a:rPr>
              <a:t>Theory predicts a negative effect on employment</a:t>
            </a:r>
          </a:p>
          <a:p>
            <a:pPr algn="l"/>
            <a:r>
              <a:rPr>
                <a:latin typeface="Calibri"/>
              </a:rPr>
              <a:t>The evidence is mixed</a:t>
            </a:r>
          </a:p>
          <a:p>
            <a:pPr algn="l" lvl="1"/>
            <a:r>
              <a:rPr>
                <a:latin typeface="Calibri"/>
              </a:rPr>
              <a:t>Employment itself does not seem to fall much</a:t>
            </a:r>
          </a:p>
          <a:p>
            <a:pPr algn="l" lvl="1"/>
            <a:r>
              <a:rPr>
                <a:latin typeface="Calibri"/>
              </a:rPr>
              <a:t>But hours worked decline (the Seattle study)</a:t>
            </a:r>
          </a:p>
          <a:p>
            <a:pPr algn="l" lvl="1"/>
            <a:r>
              <a:rPr>
                <a:latin typeface="Calibri"/>
              </a:rPr>
              <a:t>Experienced workers: hours fall moderately, so income rises</a:t>
            </a:r>
          </a:p>
          <a:p>
            <a:pPr algn="l" lvl="1"/>
            <a:r>
              <a:rPr>
                <a:latin typeface="Calibri"/>
              </a:rPr>
              <a:t>Low-skilled workers: hours and income both fall</a:t>
            </a:r>
          </a:p>
          <a:p>
            <a:pPr algn="l" lvl="1"/>
            <a:r>
              <a:rPr>
                <a:latin typeface="Calibri"/>
              </a:rPr>
              <a:t>New entrants find the first job harder to get</a:t>
            </a:r>
          </a:p>
          <a:p>
            <a:pPr algn="l"/>
            <a:r>
              <a:rPr>
                <a:latin typeface="Calibri"/>
              </a:rPr>
              <a:t>What are the long-run effects of a high minimum wage?</a:t>
            </a:r>
          </a:p>
        </p:txBody>
      </p:sp>
      <p:grpSp>
        <p:nvGrpSpPr>
          <p:cNvPr id="117" name="Group pair 117"/>
          <p:cNvGrpSpPr/>
          <p:nvPr/>
        </p:nvGrpSpPr>
        <p:grpSpPr>
          <a:xfrm>
            <a:off x="389159" y="5212080"/>
            <a:ext cx="5760720" cy="1005840"/>
            <a:chOff x="389159" y="5212080"/>
            <a:chExt cx="5760720" cy="1005840"/>
          </a:xfrm>
        </p:grpSpPr>
        <p:sp>
          <p:nvSpPr>
            <p:cNvPr id="8" name="Rounded Rectangle 7"/>
            <p:cNvSpPr/>
            <p:nvPr/>
          </p:nvSpPr>
          <p:spPr>
            <a:xfrm>
              <a:off x="389159" y="5212080"/>
              <a:ext cx="5760720" cy="10058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2039" y="5321808"/>
              <a:ext cx="5394960" cy="786384"/>
            </a:xfrm>
            <a:prstGeom prst="rect">
              <a:avLst/>
            </a:prstGeom>
            <a:noFill/>
          </p:spPr>
          <p:txBody>
            <a:bodyPr wrap="square" lIns="45720" rIns="45720" tIns="0" bIns="0" anchor="ctr">
              <a:spAutoFit/>
            </a:bodyPr>
            <a:lstStyle/>
            <a:p>
              <a:pPr algn="l"/>
              <a:r>
                <a:rPr sz="1900" b="1" i="0" u="none">
                  <a:solidFill>
                    <a:srgbClr val="0B2B4E"/>
                  </a:solidFill>
                  <a:latin typeface="Calibri"/>
                </a:rPr>
                <a:t>How much is too much — from whose seat?</a:t>
              </a:r>
              <a:r>
                <a:rPr sz="1800" b="0" i="0" u="none">
                  <a:solidFill>
                    <a:srgbClr val="0B2B4E"/>
                  </a:solidFill>
                  <a:latin typeface="Calibri"/>
                </a:rPr>
                <a:t>
Business owners  ·  workers  ·  consumers</a:t>
              </a:r>
            </a:p>
          </p:txBody>
        </p:sp>
      </p:grpSp>
      <p:pic>
        <p:nvPicPr>
          <p:cNvPr id="10" name="Picture 9" descr="mw_headline_krueger_nyt_2015.png"/>
          <p:cNvPicPr>
            <a:picLocks noChangeAspect="1"/>
          </p:cNvPicPr>
          <p:nvPr/>
        </p:nvPicPr>
        <p:blipFill>
          <a:blip r:embed="rId2"/>
          <a:stretch>
            <a:fillRect/>
          </a:stretch>
        </p:blipFill>
        <p:spPr>
          <a:xfrm>
            <a:off x="6355080" y="1481328"/>
            <a:ext cx="5394960" cy="1317374"/>
          </a:xfrm>
          <a:prstGeom prst="rect">
            <a:avLst/>
          </a:prstGeom>
          <a:effectLst>
            <a:outerShdw blurRad="50800" dist="38100" dir="2700000" algn="tl" rotWithShape="0">
              <a:srgbClr val="000000">
                <a:alpha val="45000"/>
              </a:srgbClr>
            </a:outerShdw>
          </a:effectLst>
        </p:spPr>
      </p:pic>
      <p:pic>
        <p:nvPicPr>
          <p:cNvPr id="11" name="Picture 10" descr="mw_headline_vox_2017.png"/>
          <p:cNvPicPr>
            <a:picLocks noChangeAspect="1"/>
          </p:cNvPicPr>
          <p:nvPr/>
        </p:nvPicPr>
        <p:blipFill>
          <a:blip r:embed="rId3"/>
          <a:stretch>
            <a:fillRect/>
          </a:stretch>
        </p:blipFill>
        <p:spPr>
          <a:xfrm>
            <a:off x="6355080" y="3017520"/>
            <a:ext cx="5394960" cy="1094406"/>
          </a:xfrm>
          <a:prstGeom prst="rect">
            <a:avLst/>
          </a:prstGeom>
          <a:effectLst>
            <a:outerShdw blurRad="50800" dist="38100" dir="2700000" algn="tl" rotWithShape="0">
              <a:srgbClr val="000000">
                <a:alpha val="45000"/>
              </a:srgbClr>
            </a:outerShdw>
          </a:effectLst>
        </p:spPr>
      </p:pic>
      <p:pic>
        <p:nvPicPr>
          <p:cNvPr id="12" name="Picture 11" descr="NV_s59_3_3e55694d.png"/>
          <p:cNvPicPr>
            <a:picLocks noChangeAspect="1"/>
          </p:cNvPicPr>
          <p:nvPr/>
        </p:nvPicPr>
        <p:blipFill>
          <a:blip r:embed="rId4"/>
          <a:stretch>
            <a:fillRect/>
          </a:stretch>
        </p:blipFill>
        <p:spPr>
          <a:xfrm>
            <a:off x="6355080" y="4434840"/>
            <a:ext cx="2496312" cy="1691640"/>
          </a:xfrm>
          <a:prstGeom prst="roundRect">
            <a:avLst>
              <a:gd name="adj" fmla="val 8000"/>
            </a:avLst>
          </a:prstGeom>
          <a:effectLst>
            <a:outerShdw blurRad="50800" dist="38100" dir="2700000" algn="tl" rotWithShape="0">
              <a:srgbClr val="000000">
                <a:alpha val="50000"/>
              </a:srgbClr>
            </a:outerShdw>
          </a:effectLst>
        </p:spPr>
      </p:pic>
      <p:sp>
        <p:nvSpPr>
          <p:cNvPr id="13" name="TextBox 12"/>
          <p:cNvSpPr txBox="1"/>
          <p:nvPr/>
        </p:nvSpPr>
        <p:spPr>
          <a:xfrm>
            <a:off x="9098280" y="4892040"/>
            <a:ext cx="2651760" cy="822960"/>
          </a:xfrm>
          <a:prstGeom prst="rect">
            <a:avLst/>
          </a:prstGeom>
          <a:noFill/>
        </p:spPr>
        <p:txBody>
          <a:bodyPr wrap="square" lIns="0" rIns="0" tIns="0" bIns="0">
            <a:spAutoFit/>
          </a:bodyPr>
          <a:lstStyle/>
          <a:p>
            <a:pPr algn="l"/>
            <a:r>
              <a:rPr sz="1700" b="0" i="1" u="none">
                <a:solidFill>
                  <a:srgbClr val="555B66"/>
                </a:solidFill>
                <a:latin typeface="Calibri"/>
              </a:rPr>
              <a:t>One way firms respond to a higher wage floor</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CE89B108-9381-5E04-A273-4FE9F535F17B}" type="slidenum">
              <a:rPr lang="en-US" sz="1200" dirty="0">
                <a:solidFill>
                  <a:srgbClr val="555B66"/>
                </a:solidFill>
                <a:latin typeface="Calibri"/>
              </a:rPr>
              <a:t>64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500"/>
                                        <p:tgtEl>
                                          <p:spTgt spid="7">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animEffect transition="in" filter="fade">
                                      <p:cBhvr>
                                        <p:cTn id="45" dur="500"/>
                                        <p:tgtEl>
                                          <p:spTgt spid="7">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17"/>
                                        </p:tgtEl>
                                        <p:attrNameLst>
                                          <p:attrName>style.visibility</p:attrName>
                                        </p:attrNameLst>
                                      </p:cBhvr>
                                      <p:to>
                                        <p:strVal val="visible"/>
                                      </p:to>
                                    </p:set>
                                    <p:animEffect transition="in" filter="fade">
                                      <p:cBhvr>
                                        <p:cTn id="5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Guess the Rent!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V_s61_6_fb7ae0ee.png"/>
          <p:cNvPicPr>
            <a:picLocks noChangeAspect="1"/>
          </p:cNvPicPr>
          <p:nvPr/>
        </p:nvPicPr>
        <p:blipFill>
          <a:blip r:embed="rId2"/>
          <a:stretch>
            <a:fillRect/>
          </a:stretch>
        </p:blipFill>
        <p:spPr>
          <a:xfrm>
            <a:off x="502920" y="1508760"/>
            <a:ext cx="5120640" cy="4343400"/>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7223760" y="1920240"/>
            <a:ext cx="4572000" cy="329184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1 bed, 1 bath</a:t>
            </a:r>
          </a:p>
          <a:p>
            <a:pPr algn="l"/>
            <a:r>
              <a:rPr>
                <a:latin typeface="Calibri"/>
              </a:rPr>
              <a:t>900 sqft</a:t>
            </a:r>
          </a:p>
          <a:p>
            <a:pPr algn="l"/>
            <a:r>
              <a:rPr>
                <a:latin typeface="Calibri"/>
              </a:rPr>
              <a:t>401 San Vicente Blvd., Santa Monica</a:t>
            </a:r>
          </a:p>
          <a:p>
            <a:pPr algn="l"/>
            <a:r>
              <a:rPr>
                <a:latin typeface="Calibri"/>
              </a:rPr>
              <a:t>5-minute walk to the beach</a:t>
            </a:r>
          </a:p>
          <a:p>
            <a:pPr algn="l"/>
            <a:r>
              <a:rPr>
                <a:latin typeface="Calibri"/>
              </a:rPr>
              <a:t>Best public school district in West LA</a:t>
            </a:r>
          </a:p>
        </p:txBody>
      </p:sp>
      <p:grpSp>
        <p:nvGrpSpPr>
          <p:cNvPr id="9620" name="PollBreakBadge"/>
          <p:cNvGrpSpPr/>
          <p:nvPr/>
        </p:nvGrpSpPr>
        <p:grpSpPr>
          <a:xfrm>
            <a:off x="9361444" y="6190030"/>
            <a:ext cx="2697480" cy="487009"/>
            <a:chOff x="9361444" y="6190030"/>
            <a:chExt cx="2697480" cy="487009"/>
          </a:xfrm>
        </p:grpSpPr>
        <p:sp>
          <p:nvSpPr>
            <p:cNvPr id="962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2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23" name="Rectangle 96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4" name="Rectangle 96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5" name="TextBox 962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9626" name="TextBox 9625"/>
          <p:cNvSpPr txBox="1"/>
          <p:nvPr/>
        </p:nvSpPr>
        <p:spPr>
          <a:xfrm>
            <a:off x="11475720" y="6583680"/>
            <a:ext cx="502920" cy="292608"/>
          </a:xfrm>
          <a:prstGeom prst="rect">
            <a:avLst/>
          </a:prstGeom>
          <a:noFill/>
        </p:spPr>
        <p:txBody>
          <a:bodyPr wrap="none" lIns="0" rIns="0" tIns="0" bIns="0">
            <a:spAutoFit/>
          </a:bodyPr>
          <a:lstStyle/>
          <a:p>
            <a:pPr algn="r"/>
            <a:fld id="{B3935316-30D0-5953-85AF-5E090D7EBF07}" type="slidenum">
              <a:rPr lang="en-US" sz="1200" dirty="0">
                <a:solidFill>
                  <a:srgbClr val="555B66"/>
                </a:solidFill>
                <a:latin typeface="Calibri"/>
              </a:rPr>
              <a:t>65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500"/>
                                        <p:tgtEl>
                                          <p:spTgt spid="8">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500"/>
                                        <p:tgtEl>
                                          <p:spTgt spid="8">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Guess the Rent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C6B2407C-84A4-5AB5-8015-477A8A4534C9}" type="slidenum">
              <a:rPr lang="en-US" sz="1200" dirty="0">
                <a:solidFill>
                  <a:srgbClr val="555B66"/>
                </a:solidFill>
                <a:latin typeface="Calibri"/>
              </a:rPr>
              <a:t>66</a:t>
            </a:fld>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Rent Is…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V_s63_g3.1_6544d890.png"/>
          <p:cNvPicPr>
            <a:picLocks noChangeAspect="1"/>
          </p:cNvPicPr>
          <p:nvPr/>
        </p:nvPicPr>
        <p:blipFill>
          <a:blip r:embed="rId2"/>
          <a:stretch>
            <a:fillRect/>
          </a:stretch>
        </p:blipFill>
        <p:spPr>
          <a:xfrm>
            <a:off x="1975104" y="1325880"/>
            <a:ext cx="8247888" cy="1417320"/>
          </a:xfrm>
          <a:prstGeom prst="rect">
            <a:avLst/>
          </a:prstGeom>
        </p:spPr>
      </p:pic>
      <p:grpSp>
        <p:nvGrpSpPr>
          <p:cNvPr id="9736" name="Group pair 9736"/>
          <p:cNvGrpSpPr/>
          <p:nvPr/>
        </p:nvGrpSpPr>
        <p:grpSpPr>
          <a:xfrm>
            <a:off x="411480" y="2743200"/>
            <a:ext cx="9829800" cy="3520440"/>
            <a:chOff x="411480" y="2743200"/>
            <a:chExt cx="9829800" cy="3520440"/>
          </a:xfrm>
        </p:grpSpPr>
        <p:pic>
          <p:nvPicPr>
            <p:cNvPr id="8" name="Picture 7" descr="NV_s63_g3.2_9862f8e4.png"/>
            <p:cNvPicPr>
              <a:picLocks noChangeAspect="1"/>
            </p:cNvPicPr>
            <p:nvPr/>
          </p:nvPicPr>
          <p:blipFill>
            <a:blip r:embed="rId3"/>
            <a:stretch>
              <a:fillRect/>
            </a:stretch>
          </p:blipFill>
          <p:spPr>
            <a:xfrm>
              <a:off x="1956816" y="2743200"/>
              <a:ext cx="8284464" cy="3044952"/>
            </a:xfrm>
            <a:prstGeom prst="rect">
              <a:avLst/>
            </a:prstGeom>
          </p:spPr>
        </p:pic>
        <p:sp>
          <p:nvSpPr>
            <p:cNvPr id="10" name="TextBox 9"/>
            <p:cNvSpPr txBox="1"/>
            <p:nvPr/>
          </p:nvSpPr>
          <p:spPr>
            <a:xfrm>
              <a:off x="411480" y="5989320"/>
              <a:ext cx="6583680" cy="274320"/>
            </a:xfrm>
            <a:prstGeom prst="rect">
              <a:avLst/>
            </a:prstGeom>
            <a:noFill/>
          </p:spPr>
          <p:txBody>
            <a:bodyPr wrap="square" lIns="0" rIns="0" tIns="0" bIns="0">
              <a:spAutoFit/>
            </a:bodyPr>
            <a:lstStyle/>
            <a:p>
              <a:pPr algn="l"/>
              <a:r>
                <a:rPr sz="1200" b="0" i="1" u="none">
                  <a:solidFill>
                    <a:srgbClr val="555B66"/>
                  </a:solidFill>
                  <a:latin typeface="Calibri"/>
                </a:rPr>
                <a:t>Source: City of Santa Monica Rent Control Board  —  rent checked on 10/22/2025</a:t>
              </a:r>
            </a:p>
          </p:txBody>
        </p:sp>
      </p:grpSp>
      <p:pic>
        <p:nvPicPr>
          <p:cNvPr id="9" name="Picture 8" descr="NV_s63_5_d33bea6f.png"/>
          <p:cNvPicPr>
            <a:picLocks noChangeAspect="1"/>
          </p:cNvPicPr>
          <p:nvPr/>
        </p:nvPicPr>
        <p:blipFill>
          <a:blip r:embed="rId4"/>
          <a:stretch>
            <a:fillRect/>
          </a:stretch>
        </p:blipFill>
        <p:spPr>
          <a:xfrm>
            <a:off x="5715000" y="3520440"/>
            <a:ext cx="4782312" cy="2167128"/>
          </a:xfrm>
          <a:prstGeom prst="rect">
            <a:avLst/>
          </a:prstGeom>
          <a:effectLst>
            <a:outerShdw blurRad="50800" dist="38100" dir="2700000" algn="tl" rotWithShape="0">
              <a:srgbClr val="000000">
                <a:alpha val="45000"/>
              </a:srgbClr>
            </a:outerShdw>
          </a:effectLst>
        </p:spPr>
      </p:pic>
      <p:grpSp>
        <p:nvGrpSpPr>
          <p:cNvPr id="9630" name="PollBreakBadge"/>
          <p:cNvGrpSpPr/>
          <p:nvPr/>
        </p:nvGrpSpPr>
        <p:grpSpPr>
          <a:xfrm>
            <a:off x="9361444" y="6190030"/>
            <a:ext cx="2697480" cy="487009"/>
            <a:chOff x="9361444" y="6190030"/>
            <a:chExt cx="2697480" cy="487009"/>
          </a:xfrm>
        </p:grpSpPr>
        <p:sp>
          <p:nvSpPr>
            <p:cNvPr id="963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3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33" name="Rectangle 96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4" name="Rectangle 96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5" name="TextBox 963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9636" name="TextBox 9635"/>
          <p:cNvSpPr txBox="1"/>
          <p:nvPr/>
        </p:nvSpPr>
        <p:spPr>
          <a:xfrm>
            <a:off x="11475720" y="6583680"/>
            <a:ext cx="502920" cy="292608"/>
          </a:xfrm>
          <a:prstGeom prst="rect">
            <a:avLst/>
          </a:prstGeom>
          <a:noFill/>
        </p:spPr>
        <p:txBody>
          <a:bodyPr wrap="none" lIns="0" rIns="0" tIns="0" bIns="0">
            <a:spAutoFit/>
          </a:bodyPr>
          <a:lstStyle/>
          <a:p>
            <a:pPr algn="r"/>
            <a:fld id="{A8010BAA-C654-50BB-8399-63D01C1D2EDA}" type="slidenum">
              <a:rPr lang="en-US" sz="1200" dirty="0">
                <a:solidFill>
                  <a:srgbClr val="555B66"/>
                </a:solidFill>
                <a:latin typeface="Calibri"/>
              </a:rPr>
              <a:t>67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736"/>
                                        </p:tgtEl>
                                        <p:attrNameLst>
                                          <p:attrName>style.visibility</p:attrName>
                                        </p:attrNameLst>
                                      </p:cBhvr>
                                      <p:to>
                                        <p:strVal val="visible"/>
                                      </p:to>
                                    </p:set>
                                    <p:animEffect transition="in" filter="fade">
                                      <p:cBhvr>
                                        <p:cTn id="12" dur="500"/>
                                        <p:tgtEl>
                                          <p:spTgt spid="97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Price Ceiling: Rent Control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188720" y="1664208"/>
            <a:ext cx="0" cy="395935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5623560"/>
            <a:ext cx="432511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1261872"/>
            <a:ext cx="1828800" cy="292608"/>
          </a:xfrm>
          <a:prstGeom prst="rect">
            <a:avLst/>
          </a:prstGeom>
          <a:noFill/>
        </p:spPr>
        <p:txBody>
          <a:bodyPr wrap="square" lIns="0" rIns="0" tIns="0" bIns="0">
            <a:spAutoFit/>
          </a:bodyPr>
          <a:lstStyle/>
          <a:p>
            <a:pPr algn="l"/>
            <a:r>
              <a:rPr sz="1800" b="1" i="1" u="none">
                <a:solidFill>
                  <a:srgbClr val="0B2B4E"/>
                </a:solidFill>
                <a:latin typeface="Calibri"/>
              </a:rPr>
              <a:t>P</a:t>
            </a:r>
          </a:p>
        </p:txBody>
      </p:sp>
      <p:sp>
        <p:nvSpPr>
          <p:cNvPr id="10" name="TextBox 9"/>
          <p:cNvSpPr txBox="1"/>
          <p:nvPr/>
        </p:nvSpPr>
        <p:spPr>
          <a:xfrm>
            <a:off x="4983479" y="5715000"/>
            <a:ext cx="1645920"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sp>
        <p:nvSpPr>
          <p:cNvPr id="11" name="Rectangle 10"/>
          <p:cNvSpPr/>
          <p:nvPr/>
        </p:nvSpPr>
        <p:spPr>
          <a:xfrm>
            <a:off x="1188720" y="3726180"/>
            <a:ext cx="787977" cy="689956"/>
          </a:xfrm>
          <a:custGeom>
            <a:avLst/>
            <a:gdLst/>
            <a:ahLst/>
            <a:cxnLst/>
            <a:rect l="0" t="0" r="r" b="b"/>
            <a:pathLst>
              <a:path w="787977" h="689956">
                <a:moveTo>
                  <a:pt x="0" y="689956"/>
                </a:moveTo>
                <a:lnTo>
                  <a:pt x="0" y="0"/>
                </a:lnTo>
                <a:lnTo>
                  <a:pt x="787977" y="0"/>
                </a:lnTo>
                <a:lnTo>
                  <a:pt x="787977" y="689956"/>
                </a:lnTo>
                <a:close/>
              </a:path>
            </a:pathLst>
          </a:custGeom>
          <a:solidFill>
            <a:srgbClr val="FDF6E6"/>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76697" y="2892482"/>
            <a:ext cx="630382" cy="833698"/>
          </a:xfrm>
          <a:custGeom>
            <a:avLst/>
            <a:gdLst/>
            <a:ahLst/>
            <a:cxnLst/>
            <a:rect l="0" t="0" r="r" b="b"/>
            <a:pathLst>
              <a:path w="630382" h="833698">
                <a:moveTo>
                  <a:pt x="0" y="833698"/>
                </a:moveTo>
                <a:lnTo>
                  <a:pt x="630382" y="833698"/>
                </a:lnTo>
                <a:lnTo>
                  <a:pt x="0" y="0"/>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76697" y="3726180"/>
            <a:ext cx="630382" cy="689956"/>
          </a:xfrm>
          <a:custGeom>
            <a:avLst/>
            <a:gdLst/>
            <a:ahLst/>
            <a:cxnLst/>
            <a:rect l="0" t="0" r="r" b="b"/>
            <a:pathLst>
              <a:path w="630382" h="689956">
                <a:moveTo>
                  <a:pt x="0" y="0"/>
                </a:moveTo>
                <a:lnTo>
                  <a:pt x="630382" y="0"/>
                </a:lnTo>
                <a:lnTo>
                  <a:pt x="0" y="689956"/>
                </a:lnTo>
                <a:close/>
              </a:path>
            </a:pathLst>
          </a:custGeom>
          <a:solidFill>
            <a:srgbClr val="F3D8D8"/>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188720" y="2173778"/>
            <a:ext cx="3630999"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781896" y="5149526"/>
            <a:ext cx="822960" cy="292608"/>
          </a:xfrm>
          <a:prstGeom prst="rect">
            <a:avLst/>
          </a:prstGeom>
          <a:noFill/>
        </p:spPr>
        <p:txBody>
          <a:bodyPr wrap="square" lIns="0" rIns="0" tIns="0" bIns="0">
            <a:spAutoFit/>
          </a:bodyPr>
          <a:lstStyle/>
          <a:p>
            <a:pPr algn="l"/>
            <a:r>
              <a:rPr sz="1900" b="1" i="1" u="none">
                <a:solidFill>
                  <a:srgbClr val="0B2B4E"/>
                </a:solidFill>
                <a:latin typeface="Calibri"/>
              </a:rPr>
              <a:t>D</a:t>
            </a:r>
          </a:p>
        </p:txBody>
      </p:sp>
      <p:cxnSp>
        <p:nvCxnSpPr>
          <p:cNvPr id="16" name="Connector 15"/>
          <p:cNvCxnSpPr/>
          <p:nvPr/>
        </p:nvCxnSpPr>
        <p:spPr>
          <a:xfrm flipV="1">
            <a:off x="1188720" y="1966791"/>
            <a:ext cx="3025832" cy="331179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76729" y="1716993"/>
            <a:ext cx="822960" cy="292608"/>
          </a:xfrm>
          <a:prstGeom prst="rect">
            <a:avLst/>
          </a:prstGeom>
          <a:noFill/>
        </p:spPr>
        <p:txBody>
          <a:bodyPr wrap="square" lIns="0" rIns="0" tIns="0" bIns="0">
            <a:spAutoFit/>
          </a:bodyPr>
          <a:lstStyle/>
          <a:p>
            <a:pPr algn="l"/>
            <a:r>
              <a:rPr sz="1900" b="1" i="1" u="none">
                <a:solidFill>
                  <a:srgbClr val="0B2B4E"/>
                </a:solidFill>
                <a:latin typeface="Calibri"/>
              </a:rPr>
              <a:t>S</a:t>
            </a:r>
          </a:p>
        </p:txBody>
      </p:sp>
      <p:cxnSp>
        <p:nvCxnSpPr>
          <p:cNvPr id="18" name="Connector 17"/>
          <p:cNvCxnSpPr/>
          <p:nvPr/>
        </p:nvCxnSpPr>
        <p:spPr>
          <a:xfrm>
            <a:off x="1188720" y="3726180"/>
            <a:ext cx="1418359"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607079" y="3726180"/>
            <a:ext cx="0" cy="189738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6888" y="3589020"/>
            <a:ext cx="868680" cy="274320"/>
          </a:xfrm>
          <a:prstGeom prst="rect">
            <a:avLst/>
          </a:prstGeom>
          <a:noFill/>
        </p:spPr>
        <p:txBody>
          <a:bodyPr wrap="square" lIns="0" rIns="0" tIns="0" bIns="0">
            <a:spAutoFit/>
          </a:bodyPr>
          <a:lstStyle/>
          <a:p>
            <a:pPr algn="r"/>
            <a:r>
              <a:rPr sz="1700" b="1" i="1" u="none">
                <a:solidFill>
                  <a:srgbClr val="0B2B4E"/>
                </a:solidFill>
                <a:latin typeface="Calibri"/>
              </a:rPr>
              <a:t>P*</a:t>
            </a:r>
          </a:p>
        </p:txBody>
      </p:sp>
      <p:sp>
        <p:nvSpPr>
          <p:cNvPr id="21" name="TextBox 20"/>
          <p:cNvSpPr txBox="1"/>
          <p:nvPr/>
        </p:nvSpPr>
        <p:spPr>
          <a:xfrm>
            <a:off x="2305327"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Q*</a:t>
            </a:r>
          </a:p>
        </p:txBody>
      </p:sp>
      <p:cxnSp>
        <p:nvCxnSpPr>
          <p:cNvPr id="22" name="Connector 21"/>
          <p:cNvCxnSpPr/>
          <p:nvPr/>
        </p:nvCxnSpPr>
        <p:spPr>
          <a:xfrm>
            <a:off x="1188720" y="4416136"/>
            <a:ext cx="2048740" cy="0"/>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46888" y="4278976"/>
            <a:ext cx="868680" cy="274320"/>
          </a:xfrm>
          <a:prstGeom prst="rect">
            <a:avLst/>
          </a:prstGeom>
          <a:noFill/>
        </p:spPr>
        <p:txBody>
          <a:bodyPr wrap="square" lIns="0" rIns="0" tIns="0" bIns="0">
            <a:spAutoFit/>
          </a:bodyPr>
          <a:lstStyle/>
          <a:p>
            <a:pPr algn="r"/>
            <a:r>
              <a:rPr sz="1700" b="1" i="1" u="none">
                <a:solidFill>
                  <a:srgbClr val="0B2B4E"/>
                </a:solidFill>
                <a:latin typeface="Calibri"/>
              </a:rPr>
              <a:t>Pmax</a:t>
            </a:r>
          </a:p>
        </p:txBody>
      </p:sp>
      <p:cxnSp>
        <p:nvCxnSpPr>
          <p:cNvPr id="24" name="Connector 23"/>
          <p:cNvCxnSpPr/>
          <p:nvPr/>
        </p:nvCxnSpPr>
        <p:spPr>
          <a:xfrm flipV="1">
            <a:off x="1976697" y="4416136"/>
            <a:ext cx="0" cy="120742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74945"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Qs</a:t>
            </a:r>
          </a:p>
        </p:txBody>
      </p:sp>
      <p:cxnSp>
        <p:nvCxnSpPr>
          <p:cNvPr id="26" name="Connector 25"/>
          <p:cNvCxnSpPr/>
          <p:nvPr/>
        </p:nvCxnSpPr>
        <p:spPr>
          <a:xfrm flipV="1">
            <a:off x="3237460" y="4416136"/>
            <a:ext cx="0" cy="120742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935708" y="5678424"/>
            <a:ext cx="603504" cy="274320"/>
          </a:xfrm>
          <a:prstGeom prst="rect">
            <a:avLst/>
          </a:prstGeom>
          <a:noFill/>
        </p:spPr>
        <p:txBody>
          <a:bodyPr wrap="square" lIns="0" rIns="0" tIns="0" bIns="0">
            <a:spAutoFit/>
          </a:bodyPr>
          <a:lstStyle/>
          <a:p>
            <a:pPr algn="ctr"/>
            <a:r>
              <a:rPr sz="1700" b="1" i="1" u="none">
                <a:solidFill>
                  <a:srgbClr val="0B2B4E"/>
                </a:solidFill>
                <a:latin typeface="Calibri"/>
              </a:rPr>
              <a:t>Qd</a:t>
            </a:r>
          </a:p>
        </p:txBody>
      </p:sp>
      <p:cxnSp>
        <p:nvCxnSpPr>
          <p:cNvPr id="28" name="Connector 27"/>
          <p:cNvCxnSpPr/>
          <p:nvPr/>
        </p:nvCxnSpPr>
        <p:spPr>
          <a:xfrm>
            <a:off x="1976697" y="5088843"/>
            <a:ext cx="1260763" cy="0"/>
          </a:xfrm>
          <a:prstGeom prst="line">
            <a:avLst/>
          </a:prstGeom>
          <a:ln w="25400">
            <a:solidFill>
              <a:srgbClr val="A2162A"/>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519497" y="5161995"/>
            <a:ext cx="2377440" cy="292608"/>
          </a:xfrm>
          <a:prstGeom prst="rect">
            <a:avLst/>
          </a:prstGeom>
          <a:noFill/>
        </p:spPr>
        <p:txBody>
          <a:bodyPr wrap="square" lIns="0" rIns="0" tIns="0" bIns="0">
            <a:spAutoFit/>
          </a:bodyPr>
          <a:lstStyle/>
          <a:p>
            <a:pPr algn="ctr"/>
            <a:r>
              <a:rPr sz="1400" b="1" i="0" u="none">
                <a:solidFill>
                  <a:srgbClr val="A2162A"/>
                </a:solidFill>
                <a:latin typeface="Calibri"/>
              </a:rPr>
              <a:t>Qd − Qs = shortage</a:t>
            </a:r>
          </a:p>
        </p:txBody>
      </p:sp>
      <p:sp>
        <p:nvSpPr>
          <p:cNvPr id="30" name="TextBox 29"/>
          <p:cNvSpPr txBox="1"/>
          <p:nvPr/>
        </p:nvSpPr>
        <p:spPr>
          <a:xfrm>
            <a:off x="1338349" y="3932959"/>
            <a:ext cx="457200" cy="310896"/>
          </a:xfrm>
          <a:prstGeom prst="rect">
            <a:avLst/>
          </a:prstGeom>
          <a:noFill/>
        </p:spPr>
        <p:txBody>
          <a:bodyPr wrap="square" lIns="0" rIns="0" tIns="0" bIns="0">
            <a:spAutoFit/>
          </a:bodyPr>
          <a:lstStyle/>
          <a:p>
            <a:pPr algn="ctr"/>
            <a:r>
              <a:rPr sz="1700" b="1" i="0" u="none">
                <a:solidFill>
                  <a:srgbClr val="0B2B4E"/>
                </a:solidFill>
                <a:latin typeface="Calibri"/>
              </a:rPr>
              <a:t>A</a:t>
            </a:r>
          </a:p>
        </p:txBody>
      </p:sp>
      <p:sp>
        <p:nvSpPr>
          <p:cNvPr id="31" name="TextBox 30"/>
          <p:cNvSpPr txBox="1"/>
          <p:nvPr/>
        </p:nvSpPr>
        <p:spPr>
          <a:xfrm>
            <a:off x="1869130" y="3346496"/>
            <a:ext cx="457200" cy="310896"/>
          </a:xfrm>
          <a:prstGeom prst="rect">
            <a:avLst/>
          </a:prstGeom>
          <a:noFill/>
        </p:spPr>
        <p:txBody>
          <a:bodyPr wrap="square" lIns="0" rIns="0" tIns="0" bIns="0">
            <a:spAutoFit/>
          </a:bodyPr>
          <a:lstStyle/>
          <a:p>
            <a:pPr algn="ctr"/>
            <a:r>
              <a:rPr sz="1700" b="1" i="0" u="none">
                <a:solidFill>
                  <a:srgbClr val="0B2B4E"/>
                </a:solidFill>
                <a:latin typeface="Calibri"/>
              </a:rPr>
              <a:t>B</a:t>
            </a:r>
          </a:p>
        </p:txBody>
      </p:sp>
      <p:sp>
        <p:nvSpPr>
          <p:cNvPr id="32" name="TextBox 31"/>
          <p:cNvSpPr txBox="1"/>
          <p:nvPr/>
        </p:nvSpPr>
        <p:spPr>
          <a:xfrm>
            <a:off x="1869130" y="3760470"/>
            <a:ext cx="457200" cy="310896"/>
          </a:xfrm>
          <a:prstGeom prst="rect">
            <a:avLst/>
          </a:prstGeom>
          <a:noFill/>
        </p:spPr>
        <p:txBody>
          <a:bodyPr wrap="square" lIns="0" rIns="0" tIns="0" bIns="0">
            <a:spAutoFit/>
          </a:bodyPr>
          <a:lstStyle/>
          <a:p>
            <a:pPr algn="ctr"/>
            <a:r>
              <a:rPr sz="1700" b="1" i="0" u="none">
                <a:solidFill>
                  <a:srgbClr val="0B2B4E"/>
                </a:solidFill>
                <a:latin typeface="Calibri"/>
              </a:rPr>
              <a:t>C</a:t>
            </a:r>
          </a:p>
        </p:txBody>
      </p:sp>
      <p:sp>
        <p:nvSpPr>
          <p:cNvPr id="33" name="TextBox 32"/>
          <p:cNvSpPr txBox="1"/>
          <p:nvPr/>
        </p:nvSpPr>
        <p:spPr>
          <a:xfrm>
            <a:off x="5989320" y="1600200"/>
            <a:ext cx="5806440" cy="3291840"/>
          </a:xfrm>
          <a:prstGeom prst="rect">
            <a:avLst/>
          </a:prstGeom>
          <a:noFill/>
        </p:spPr>
        <p:txBody>
          <a:bodyPr wrap="square" lIns="0" rIns="0" tIns="0" bIns="0">
            <a:spAutoFit/>
          </a:bodyPr>
          <a:lstStyle>
            <a:lvl1pPr marL="342900" indent="-342900">
              <a:spcBef>
                <a:spcPts val="8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b="1">
                <a:latin typeface="Calibri"/>
              </a:rPr>
              <a:t>Welfare effects</a:t>
            </a:r>
          </a:p>
          <a:p>
            <a:pPr algn="l" lvl="1"/>
            <a:r>
              <a:rPr>
                <a:latin typeface="Calibri"/>
              </a:rPr>
              <a:t>Some renters win A — those lucky enough to hold a place</a:t>
            </a:r>
          </a:p>
          <a:p>
            <a:pPr algn="l" lvl="1"/>
            <a:r>
              <a:rPr>
                <a:latin typeface="Calibri"/>
              </a:rPr>
              <a:t>Some renters lose B — they cannot find one, because fewer are listed</a:t>
            </a:r>
          </a:p>
          <a:p>
            <a:pPr algn="l" lvl="1"/>
            <a:r>
              <a:rPr>
                <a:latin typeface="Calibri"/>
              </a:rPr>
              <a:t>Landlords lose A + C</a:t>
            </a:r>
          </a:p>
          <a:p>
            <a:pPr algn="l" lvl="2" marL="1028700" indent="-228600">
              <a:spcBef>
                <a:spcPts val="300"/>
              </a:spcBef>
              <a:buClr>
                <a:srgbClr val="555B66"/>
              </a:buClr>
              <a:buFont typeface="Calibri"/>
              <a:buChar char="–"/>
            </a:pPr>
            <a:r>
              <a:rPr sz="1900">
                <a:solidFill>
                  <a:srgbClr val="555B66"/>
                </a:solidFill>
                <a:latin typeface="Calibri"/>
              </a:rPr>
              <a:t>A: the rent they no longer collect</a:t>
            </a:r>
          </a:p>
          <a:p>
            <a:pPr algn="l" lvl="2" marL="1028700" indent="-228600">
              <a:spcBef>
                <a:spcPts val="300"/>
              </a:spcBef>
              <a:buClr>
                <a:srgbClr val="555B66"/>
              </a:buClr>
              <a:buFont typeface="Calibri"/>
              <a:buChar char="–"/>
            </a:pPr>
            <a:r>
              <a:rPr sz="1900">
                <a:solidFill>
                  <a:srgbClr val="555B66"/>
                </a:solidFill>
                <a:latin typeface="Calibri"/>
              </a:rPr>
              <a:t>C: the flats they stop listing at the lower price</a:t>
            </a:r>
          </a:p>
          <a:p>
            <a:pPr algn="l" lvl="1"/>
            <a:r>
              <a:rPr>
                <a:latin typeface="Calibri"/>
              </a:rPr>
              <a:t>Deadweight loss: B + C</a:t>
            </a:r>
          </a:p>
        </p:txBody>
      </p:sp>
      <p:sp>
        <p:nvSpPr>
          <p:cNvPr id="34" name="Rectangle 3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7" name="TextBox 36"/>
          <p:cNvSpPr txBox="1"/>
          <p:nvPr/>
        </p:nvSpPr>
        <p:spPr>
          <a:xfrm>
            <a:off x="11475720" y="6583680"/>
            <a:ext cx="502920" cy="292608"/>
          </a:xfrm>
          <a:prstGeom prst="rect">
            <a:avLst/>
          </a:prstGeom>
          <a:noFill/>
        </p:spPr>
        <p:txBody>
          <a:bodyPr wrap="none" lIns="0" rIns="0" tIns="0" bIns="0">
            <a:spAutoFit/>
          </a:bodyPr>
          <a:lstStyle/>
          <a:p>
            <a:pPr algn="r"/>
            <a:fld id="{693E6277-CDA5-5C83-80DB-FFFD2EA37ECF}" type="slidenum">
              <a:rPr lang="en-US" sz="1200" dirty="0">
                <a:solidFill>
                  <a:srgbClr val="555B66"/>
                </a:solidFill>
                <a:latin typeface="Calibri"/>
              </a:rPr>
              <a:t>68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fade">
                                      <p:cBhvr>
                                        <p:cTn id="75" dur="500"/>
                                        <p:tgtEl>
                                          <p:spTgt spid="1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500"/>
                                        <p:tgtEl>
                                          <p:spTgt spid="1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500"/>
                                        <p:tgtEl>
                                          <p:spTgt spid="3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Vote on Prop 33 in California, 2024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V_s65_5_2f36cabb.png"/>
          <p:cNvPicPr>
            <a:picLocks noChangeAspect="1"/>
          </p:cNvPicPr>
          <p:nvPr/>
        </p:nvPicPr>
        <p:blipFill>
          <a:blip r:embed="rId2"/>
          <a:stretch>
            <a:fillRect/>
          </a:stretch>
        </p:blipFill>
        <p:spPr>
          <a:xfrm>
            <a:off x="3246120" y="1417320"/>
            <a:ext cx="5669280" cy="2514600"/>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572039" y="4160520"/>
            <a:ext cx="10424160" cy="173736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a:latin typeface="Calibri"/>
              </a:rPr>
              <a:t>California limits how far cities may go with rent control; Prop 33 would have removed those limits</a:t>
            </a:r>
          </a:p>
          <a:p>
            <a:pPr algn="l"/>
            <a:r>
              <a:rPr>
                <a:latin typeface="Calibri"/>
              </a:rPr>
              <a:t>Cities could then have controlled rents on any housing — single-family homes, new apartments, and new tenants</a:t>
            </a:r>
          </a:p>
          <a:p>
            <a:pPr algn="l"/>
            <a:r>
              <a:rPr b="1">
                <a:latin typeface="Calibri"/>
              </a:rPr>
              <a:t>It did not pass</a:t>
            </a:r>
          </a:p>
        </p:txBody>
      </p:sp>
      <p:sp>
        <p:nvSpPr>
          <p:cNvPr id="9" name="TextBox 8"/>
          <p:cNvSpPr txBox="1"/>
          <p:nvPr/>
        </p:nvSpPr>
        <p:spPr>
          <a:xfrm>
            <a:off x="411480" y="6053328"/>
            <a:ext cx="7680960" cy="256032"/>
          </a:xfrm>
          <a:prstGeom prst="rect">
            <a:avLst/>
          </a:prstGeom>
          <a:noFill/>
        </p:spPr>
        <p:txBody>
          <a:bodyPr wrap="square" lIns="0" rIns="0" tIns="0" bIns="0">
            <a:spAutoFit/>
          </a:bodyPr>
          <a:lstStyle/>
          <a:p>
            <a:pPr algn="l"/>
            <a:r>
              <a:rPr sz="1100" b="0" i="1" u="none">
                <a:solidFill>
                  <a:srgbClr val="555B66"/>
                </a:solidFill>
                <a:latin typeface="Calibri"/>
              </a:rPr>
              <a:t>Source: calmatters.org, California voter guide 2024</a:t>
            </a:r>
          </a:p>
        </p:txBody>
      </p:sp>
      <p:grpSp>
        <p:nvGrpSpPr>
          <p:cNvPr id="9640" name="PollBreakBadge"/>
          <p:cNvGrpSpPr/>
          <p:nvPr/>
        </p:nvGrpSpPr>
        <p:grpSpPr>
          <a:xfrm>
            <a:off x="9361444" y="6190030"/>
            <a:ext cx="2697480" cy="487009"/>
            <a:chOff x="9361444" y="6190030"/>
            <a:chExt cx="2697480" cy="487009"/>
          </a:xfrm>
        </p:grpSpPr>
        <p:sp>
          <p:nvSpPr>
            <p:cNvPr id="964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4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43" name="Rectangle 964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4" name="Rectangle 964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5" name="TextBox 964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9646" name="TextBox 9645"/>
          <p:cNvSpPr txBox="1"/>
          <p:nvPr/>
        </p:nvSpPr>
        <p:spPr>
          <a:xfrm>
            <a:off x="11475720" y="6583680"/>
            <a:ext cx="502920" cy="292608"/>
          </a:xfrm>
          <a:prstGeom prst="rect">
            <a:avLst/>
          </a:prstGeom>
          <a:noFill/>
        </p:spPr>
        <p:txBody>
          <a:bodyPr wrap="none" lIns="0" rIns="0" tIns="0" bIns="0">
            <a:spAutoFit/>
          </a:bodyPr>
          <a:lstStyle/>
          <a:p>
            <a:pPr algn="r"/>
            <a:fld id="{859291FE-DB9D-5F65-9427-6E3356439D96}" type="slidenum">
              <a:rPr lang="en-US" sz="1200" dirty="0">
                <a:solidFill>
                  <a:srgbClr val="555B66"/>
                </a:solidFill>
                <a:latin typeface="Calibri"/>
              </a:rPr>
              <a:t>69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640"/>
                                        </p:tgtEl>
                                        <p:attrNameLst>
                                          <p:attrName>style.visibility</p:attrName>
                                        </p:attrNameLst>
                                      </p:cBhvr>
                                      <p:to>
                                        <p:strVal val="visible"/>
                                      </p:to>
                                    </p:set>
                                    <p:animEffect transition="in" filter="fade">
                                      <p:cBhvr>
                                        <p:cTn id="13" dur="500"/>
                                        <p:tgtEl>
                                          <p:spTgt spid="96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How Would You Vote?  ++UPDATE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placeholder — re-key the activity in PollEv, then run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60EF2B8D-DFB0-5EE2-BA1B-BC0C48F01538}" type="slidenum">
              <a:rPr lang="en-US" sz="1200" dirty="0">
                <a:solidFill>
                  <a:srgbClr val="555B66"/>
                </a:solidFill>
                <a:latin typeface="Calibri"/>
              </a:rPr>
              <a:t>70</a:t>
            </a:fld>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How Do Landlords React to Rent Control?</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5394960" cy="2377440"/>
          </a:xfrm>
          <a:prstGeom prst="rect">
            <a:avLst/>
          </a:prstGeom>
          <a:noFill/>
        </p:spPr>
        <p:txBody>
          <a:bodyPr wrap="square" lIns="0" rIns="0" tIns="0" bIns="0">
            <a:spAutoFit/>
          </a:bodyPr>
          <a:lstStyle>
            <a:lvl1pPr marL="342900" indent="-342900">
              <a:spcBef>
                <a:spcPts val="20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Non-price adjustments — let maintenance slide</a:t>
            </a:r>
          </a:p>
          <a:p>
            <a:pPr algn="l"/>
            <a:r>
              <a:rPr>
                <a:latin typeface="Calibri"/>
              </a:rPr>
              <a:t>Buy the tenants out (legal)</a:t>
            </a:r>
          </a:p>
          <a:p>
            <a:pPr algn="l"/>
            <a:r>
              <a:rPr>
                <a:latin typeface="Calibri"/>
              </a:rPr>
              <a:t>Harass the tenants (illegal)</a:t>
            </a:r>
          </a:p>
        </p:txBody>
      </p:sp>
      <p:grpSp>
        <p:nvGrpSpPr>
          <p:cNvPr id="115" name="Group pair 115"/>
          <p:cNvGrpSpPr/>
          <p:nvPr/>
        </p:nvGrpSpPr>
        <p:grpSpPr>
          <a:xfrm>
            <a:off x="502920" y="3611880"/>
            <a:ext cx="3108960" cy="2679192"/>
            <a:chOff x="502920" y="3611880"/>
            <a:chExt cx="3108960" cy="2679192"/>
          </a:xfrm>
        </p:grpSpPr>
        <p:pic>
          <p:nvPicPr>
            <p:cNvPr id="8" name="Picture 7" descr="NV_s67_5_9b9eb200.jpg"/>
            <p:cNvPicPr>
              <a:picLocks noChangeAspect="1"/>
            </p:cNvPicPr>
            <p:nvPr/>
          </p:nvPicPr>
          <p:blipFill>
            <a:blip r:embed="rId2"/>
            <a:stretch>
              <a:fillRect/>
            </a:stretch>
          </p:blipFill>
          <p:spPr>
            <a:xfrm>
              <a:off x="502920" y="3611880"/>
              <a:ext cx="3108960" cy="2331720"/>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502920" y="6016752"/>
              <a:ext cx="3108960" cy="274320"/>
            </a:xfrm>
            <a:prstGeom prst="rect">
              <a:avLst/>
            </a:prstGeom>
            <a:noFill/>
          </p:spPr>
          <p:txBody>
            <a:bodyPr wrap="square" lIns="0" rIns="0" tIns="0" bIns="0">
              <a:spAutoFit/>
            </a:bodyPr>
            <a:lstStyle/>
            <a:p>
              <a:pPr algn="ctr"/>
              <a:r>
                <a:rPr sz="1200" b="0" i="1" u="none">
                  <a:solidFill>
                    <a:srgbClr val="555B66"/>
                  </a:solidFill>
                  <a:latin typeface="Calibri"/>
                </a:rPr>
                <a:t>Deferred maintenance</a:t>
              </a:r>
            </a:p>
          </p:txBody>
        </p:sp>
      </p:grpSp>
      <p:grpSp>
        <p:nvGrpSpPr>
          <p:cNvPr id="116" name="Group pair 116"/>
          <p:cNvGrpSpPr/>
          <p:nvPr/>
        </p:nvGrpSpPr>
        <p:grpSpPr>
          <a:xfrm>
            <a:off x="6583680" y="1481328"/>
            <a:ext cx="3282696" cy="4736592"/>
            <a:chOff x="6583680" y="1481328"/>
            <a:chExt cx="3282696" cy="4736592"/>
          </a:xfrm>
        </p:grpSpPr>
        <p:pic>
          <p:nvPicPr>
            <p:cNvPr id="9" name="Picture 8" descr="NV_s67_4_868e46cb.jpg"/>
            <p:cNvPicPr>
              <a:picLocks noChangeAspect="1"/>
            </p:cNvPicPr>
            <p:nvPr/>
          </p:nvPicPr>
          <p:blipFill>
            <a:blip r:embed="rId3"/>
            <a:stretch>
              <a:fillRect/>
            </a:stretch>
          </p:blipFill>
          <p:spPr>
            <a:xfrm>
              <a:off x="6583680" y="1481328"/>
              <a:ext cx="3282696" cy="4389120"/>
            </a:xfrm>
            <a:prstGeom prst="roundRect">
              <a:avLst>
                <a:gd name="adj" fmla="val 8000"/>
              </a:avLst>
            </a:prstGeom>
            <a:effectLst>
              <a:outerShdw blurRad="50800" dist="38100" dir="2700000" algn="tl" rotWithShape="0">
                <a:srgbClr val="000000">
                  <a:alpha val="50000"/>
                </a:srgbClr>
              </a:outerShdw>
            </a:effectLst>
          </p:spPr>
        </p:pic>
        <p:sp>
          <p:nvSpPr>
            <p:cNvPr id="11" name="TextBox 10"/>
            <p:cNvSpPr txBox="1"/>
            <p:nvPr/>
          </p:nvSpPr>
          <p:spPr>
            <a:xfrm>
              <a:off x="6583680" y="5943600"/>
              <a:ext cx="3282696" cy="274320"/>
            </a:xfrm>
            <a:prstGeom prst="rect">
              <a:avLst/>
            </a:prstGeom>
            <a:noFill/>
          </p:spPr>
          <p:txBody>
            <a:bodyPr wrap="square" lIns="0" rIns="0" tIns="0" bIns="0">
              <a:spAutoFit/>
            </a:bodyPr>
            <a:lstStyle/>
            <a:p>
              <a:pPr algn="ctr"/>
              <a:r>
                <a:rPr sz="1200" b="0" i="1" u="none">
                  <a:solidFill>
                    <a:srgbClr val="555B66"/>
                  </a:solidFill>
                  <a:latin typeface="Calibri"/>
                </a:rPr>
                <a:t>A window left taped over</a:t>
              </a:r>
            </a:p>
          </p:txBody>
        </p:sp>
      </p:gr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A4C6DCD1-CCBD-540B-BF60-3B7B5F405290}" type="slidenum">
              <a:rPr lang="en-US" sz="1200" dirty="0">
                <a:solidFill>
                  <a:srgbClr val="555B66"/>
                </a:solidFill>
                <a:latin typeface="Calibri"/>
              </a:rPr>
              <a:t>71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5"/>
                                        </p:tgtEl>
                                        <p:attrNameLst>
                                          <p:attrName>style.visibility</p:attrName>
                                        </p:attrNameLst>
                                      </p:cBhvr>
                                      <p:to>
                                        <p:strVal val="visible"/>
                                      </p:to>
                                    </p:set>
                                    <p:animEffect transition="in" filter="fade">
                                      <p:cBhvr>
                                        <p:cTn id="17" dur="500"/>
                                        <p:tgtEl>
                                          <p:spTgt spid="1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fade">
                                      <p:cBhvr>
                                        <p:cTn id="22"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Evidence on Rent Control: Cambridge, MA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389888"/>
            <a:ext cx="11338560" cy="384048"/>
          </a:xfrm>
          <a:prstGeom prst="rect">
            <a:avLst/>
          </a:prstGeom>
          <a:noFill/>
        </p:spPr>
        <p:txBody>
          <a:bodyPr wrap="square" lIns="0" rIns="0" tIns="0" bIns="0">
            <a:spAutoFit/>
          </a:bodyPr>
          <a:lstStyle/>
          <a:p>
            <a:pPr algn="l"/>
            <a:r>
              <a:rPr sz="2300" b="0" i="0" u="none">
                <a:solidFill>
                  <a:srgbClr val="0B2B4E"/>
                </a:solidFill>
                <a:latin typeface="Calibri"/>
              </a:rPr>
              <a:t>A natural experiment: rent control in Cambridge ended suddenly in 1995</a:t>
            </a:r>
          </a:p>
        </p:txBody>
      </p:sp>
      <p:grpSp>
        <p:nvGrpSpPr>
          <p:cNvPr id="113" name="Group pair 113"/>
          <p:cNvGrpSpPr/>
          <p:nvPr/>
        </p:nvGrpSpPr>
        <p:grpSpPr>
          <a:xfrm>
            <a:off x="3063240" y="1920240"/>
            <a:ext cx="6080760" cy="4160520"/>
            <a:chOff x="3063240" y="1920240"/>
            <a:chExt cx="6080760" cy="4160520"/>
          </a:xfrm>
        </p:grpSpPr>
        <p:pic>
          <p:nvPicPr>
            <p:cNvPr id="8" name="Picture 7" descr="NV_s68_5_5777e352.png"/>
            <p:cNvPicPr>
              <a:picLocks noChangeAspect="1"/>
            </p:cNvPicPr>
            <p:nvPr/>
          </p:nvPicPr>
          <p:blipFill>
            <a:blip r:embed="rId2"/>
            <a:stretch>
              <a:fillRect/>
            </a:stretch>
          </p:blipFill>
          <p:spPr>
            <a:xfrm>
              <a:off x="3063240" y="1920240"/>
              <a:ext cx="6080760" cy="3731154"/>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3063240" y="5806440"/>
              <a:ext cx="6080760" cy="274320"/>
            </a:xfrm>
            <a:prstGeom prst="rect">
              <a:avLst/>
            </a:prstGeom>
            <a:noFill/>
          </p:spPr>
          <p:txBody>
            <a:bodyPr wrap="square" lIns="0" rIns="0" tIns="0" bIns="0">
              <a:spAutoFit/>
            </a:bodyPr>
            <a:lstStyle/>
            <a:p>
              <a:pPr algn="ctr"/>
              <a:r>
                <a:rPr sz="1200" b="0" i="1" u="none">
                  <a:solidFill>
                    <a:srgbClr val="555B66"/>
                  </a:solidFill>
                  <a:latin typeface="Calibri"/>
                </a:rPr>
                <a:t>Source: Autor, Palmer and Pathak (2014)</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CB972BC2-82CB-5C6F-AF19-7106BC1EEDA4}" type="slidenum">
              <a:rPr lang="en-US" sz="1200" dirty="0">
                <a:solidFill>
                  <a:srgbClr val="555B66"/>
                </a:solidFill>
                <a:latin typeface="Calibri"/>
              </a:rPr>
              <a:t>72</a:t>
            </a:fld>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Happened When Rent Control Ended?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20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a:latin typeface="Calibri"/>
              </a:rPr>
              <a:t>Rent control in Cambridge ended suddenly in 1995. What happened to…</a:t>
            </a:r>
          </a:p>
          <a:p>
            <a:pPr algn="l" lvl="1"/>
            <a:r>
              <a:rPr>
                <a:latin typeface="Calibri"/>
              </a:rPr>
              <a:t>the rent of the units that had been controlled?</a:t>
            </a:r>
          </a:p>
          <a:p>
            <a:pPr algn="l" lvl="1"/>
            <a:r>
              <a:rPr>
                <a:latin typeface="Calibri"/>
              </a:rPr>
              <a:t>investment in those units?</a:t>
            </a:r>
          </a:p>
          <a:p>
            <a:pPr algn="l" lvl="1"/>
            <a:r>
              <a:rPr>
                <a:latin typeface="Calibri"/>
              </a:rPr>
              <a:t>the price of and investment in nearby units that were never controlled?</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8BE8F451-805B-50E6-9893-1EE6C8D1B9CA}" type="slidenum">
              <a:rPr lang="en-US" sz="1200" dirty="0">
                <a:solidFill>
                  <a:srgbClr val="555B66"/>
                </a:solidFill>
                <a:latin typeface="Calibri"/>
              </a:rPr>
              <a:t>73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Evidence on Rent Control: Results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8" name="Group pair 118"/>
          <p:cNvGrpSpPr/>
          <p:nvPr/>
        </p:nvGrpSpPr>
        <p:grpSpPr>
          <a:xfrm>
            <a:off x="91440" y="1325880"/>
            <a:ext cx="4206240" cy="2679192"/>
            <a:chOff x="91440" y="1325880"/>
            <a:chExt cx="4206240" cy="2679192"/>
          </a:xfrm>
        </p:grpSpPr>
        <p:sp>
          <p:nvSpPr>
            <p:cNvPr id="7" name="TextBox 6"/>
            <p:cNvSpPr txBox="1"/>
            <p:nvPr/>
          </p:nvSpPr>
          <p:spPr>
            <a:xfrm>
              <a:off x="91440" y="1325880"/>
              <a:ext cx="4206240" cy="402336"/>
            </a:xfrm>
            <a:prstGeom prst="rect">
              <a:avLst/>
            </a:prstGeom>
            <a:noFill/>
          </p:spPr>
          <p:txBody>
            <a:bodyPr wrap="square" lIns="0" rIns="0" tIns="0" bIns="0">
              <a:spAutoFit/>
            </a:bodyPr>
            <a:lstStyle/>
            <a:p>
              <a:pPr algn="ctr"/>
              <a:r>
                <a:rPr sz="1500" b="1" i="1" u="none">
                  <a:solidFill>
                    <a:srgbClr val="0B2B4E"/>
                  </a:solidFill>
                  <a:latin typeface="Calibri"/>
                </a:rPr>
                <a:t>Price of decontrolled units</a:t>
              </a:r>
            </a:p>
          </p:txBody>
        </p:sp>
        <p:pic>
          <p:nvPicPr>
            <p:cNvPr id="8" name="Picture 7" descr="NV_s70_2_95e7216e.png"/>
            <p:cNvPicPr>
              <a:picLocks noChangeAspect="1"/>
            </p:cNvPicPr>
            <p:nvPr/>
          </p:nvPicPr>
          <p:blipFill>
            <a:blip r:embed="rId2"/>
            <a:stretch>
              <a:fillRect/>
            </a:stretch>
          </p:blipFill>
          <p:spPr>
            <a:xfrm>
              <a:off x="411480" y="1783080"/>
              <a:ext cx="3566160" cy="2221992"/>
            </a:xfrm>
            <a:prstGeom prst="rect">
              <a:avLst/>
            </a:prstGeom>
            <a:effectLst>
              <a:outerShdw blurRad="50800" dist="38100" dir="2700000" algn="tl" rotWithShape="0">
                <a:srgbClr val="000000">
                  <a:alpha val="45000"/>
                </a:srgbClr>
              </a:outerShdw>
            </a:effectLst>
          </p:spPr>
        </p:pic>
      </p:grpSp>
      <p:grpSp>
        <p:nvGrpSpPr>
          <p:cNvPr id="119" name="Group pair 119"/>
          <p:cNvGrpSpPr/>
          <p:nvPr/>
        </p:nvGrpSpPr>
        <p:grpSpPr>
          <a:xfrm>
            <a:off x="4023360" y="1325880"/>
            <a:ext cx="3657600" cy="2679192"/>
            <a:chOff x="4023360" y="1325880"/>
            <a:chExt cx="3657600" cy="2679192"/>
          </a:xfrm>
        </p:grpSpPr>
        <p:sp>
          <p:nvSpPr>
            <p:cNvPr id="9" name="TextBox 8"/>
            <p:cNvSpPr txBox="1"/>
            <p:nvPr/>
          </p:nvSpPr>
          <p:spPr>
            <a:xfrm>
              <a:off x="4023360" y="1325880"/>
              <a:ext cx="3657600" cy="402336"/>
            </a:xfrm>
            <a:prstGeom prst="rect">
              <a:avLst/>
            </a:prstGeom>
            <a:noFill/>
          </p:spPr>
          <p:txBody>
            <a:bodyPr wrap="square" lIns="0" rIns="0" tIns="0" bIns="0">
              <a:spAutoFit/>
            </a:bodyPr>
            <a:lstStyle/>
            <a:p>
              <a:pPr algn="ctr"/>
              <a:r>
                <a:rPr sz="1500" b="1" i="1" u="none">
                  <a:solidFill>
                    <a:srgbClr val="0B2B4E"/>
                  </a:solidFill>
                  <a:latin typeface="Calibri"/>
                </a:rPr>
                <a:t>Price of never-controlled units</a:t>
              </a:r>
            </a:p>
          </p:txBody>
        </p:sp>
        <p:pic>
          <p:nvPicPr>
            <p:cNvPr id="10" name="Picture 9" descr="NV_s70_4_5ecaba44.png"/>
            <p:cNvPicPr>
              <a:picLocks noChangeAspect="1"/>
            </p:cNvPicPr>
            <p:nvPr/>
          </p:nvPicPr>
          <p:blipFill>
            <a:blip r:embed="rId3"/>
            <a:stretch>
              <a:fillRect/>
            </a:stretch>
          </p:blipFill>
          <p:spPr>
            <a:xfrm>
              <a:off x="4343400" y="1783080"/>
              <a:ext cx="3017520" cy="2221992"/>
            </a:xfrm>
            <a:prstGeom prst="rect">
              <a:avLst/>
            </a:prstGeom>
            <a:effectLst>
              <a:outerShdw blurRad="50800" dist="38100" dir="2700000" algn="tl" rotWithShape="0">
                <a:srgbClr val="000000">
                  <a:alpha val="45000"/>
                </a:srgbClr>
              </a:outerShdw>
            </a:effectLst>
          </p:spPr>
        </p:pic>
      </p:grpSp>
      <p:grpSp>
        <p:nvGrpSpPr>
          <p:cNvPr id="120" name="Group pair 120"/>
          <p:cNvGrpSpPr/>
          <p:nvPr/>
        </p:nvGrpSpPr>
        <p:grpSpPr>
          <a:xfrm>
            <a:off x="7818120" y="1325880"/>
            <a:ext cx="3566160" cy="3858768"/>
            <a:chOff x="7818120" y="1325880"/>
            <a:chExt cx="3566160" cy="3858768"/>
          </a:xfrm>
        </p:grpSpPr>
        <p:sp>
          <p:nvSpPr>
            <p:cNvPr id="11" name="TextBox 10"/>
            <p:cNvSpPr txBox="1"/>
            <p:nvPr/>
          </p:nvSpPr>
          <p:spPr>
            <a:xfrm>
              <a:off x="7818120" y="1325880"/>
              <a:ext cx="3566160" cy="402336"/>
            </a:xfrm>
            <a:prstGeom prst="rect">
              <a:avLst/>
            </a:prstGeom>
            <a:noFill/>
          </p:spPr>
          <p:txBody>
            <a:bodyPr wrap="square" lIns="0" rIns="0" tIns="0" bIns="0">
              <a:spAutoFit/>
            </a:bodyPr>
            <a:lstStyle/>
            <a:p>
              <a:pPr algn="ctr"/>
              <a:r>
                <a:rPr sz="1500" b="1" i="1" u="none">
                  <a:solidFill>
                    <a:srgbClr val="0B2B4E"/>
                  </a:solidFill>
                  <a:latin typeface="Calibri"/>
                </a:rPr>
                <a:t>Investment at decontrolled units ($1,000s)</a:t>
              </a:r>
            </a:p>
          </p:txBody>
        </p:sp>
        <p:pic>
          <p:nvPicPr>
            <p:cNvPr id="12" name="Picture 11" descr="NV_s70_6_08feed5a.png"/>
            <p:cNvPicPr>
              <a:picLocks noChangeAspect="1"/>
            </p:cNvPicPr>
            <p:nvPr/>
          </p:nvPicPr>
          <p:blipFill>
            <a:blip r:embed="rId4"/>
            <a:stretch>
              <a:fillRect/>
            </a:stretch>
          </p:blipFill>
          <p:spPr>
            <a:xfrm>
              <a:off x="8138160" y="1783080"/>
              <a:ext cx="2926080" cy="3401568"/>
            </a:xfrm>
            <a:prstGeom prst="rect">
              <a:avLst/>
            </a:prstGeom>
            <a:effectLst>
              <a:outerShdw blurRad="50800" dist="38100" dir="2700000" algn="tl" rotWithShape="0">
                <a:srgbClr val="000000">
                  <a:alpha val="45000"/>
                </a:srgbClr>
              </a:outerShdw>
            </a:effectLst>
          </p:spPr>
        </p:pic>
      </p:grpSp>
      <p:sp>
        <p:nvSpPr>
          <p:cNvPr id="13" name="TextBox 12"/>
          <p:cNvSpPr txBox="1"/>
          <p:nvPr/>
        </p:nvSpPr>
        <p:spPr>
          <a:xfrm>
            <a:off x="411480" y="5349240"/>
            <a:ext cx="6949440" cy="274320"/>
          </a:xfrm>
          <a:prstGeom prst="rect">
            <a:avLst/>
          </a:prstGeom>
          <a:noFill/>
        </p:spPr>
        <p:txBody>
          <a:bodyPr wrap="square" lIns="0" rIns="0" tIns="0" bIns="0">
            <a:spAutoFit/>
          </a:bodyPr>
          <a:lstStyle/>
          <a:p>
            <a:pPr algn="l"/>
            <a:r>
              <a:rPr sz="1200" b="0" i="1" u="none">
                <a:solidFill>
                  <a:srgbClr val="555B66"/>
                </a:solidFill>
                <a:latin typeface="Calibri"/>
              </a:rPr>
              <a:t>Source: Autor, Palmer and Pathak (2014)</a:t>
            </a:r>
          </a:p>
        </p:txBody>
      </p:sp>
      <p:sp>
        <p:nvSpPr>
          <p:cNvPr id="14" name="Rounded Rectangle 13"/>
          <p:cNvSpPr/>
          <p:nvPr/>
        </p:nvSpPr>
        <p:spPr>
          <a:xfrm>
            <a:off x="1615287" y="5897880"/>
            <a:ext cx="896112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Rents rose, and so did investment — including at the units next door</a:t>
            </a:r>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8" name="TextBox 17"/>
          <p:cNvSpPr txBox="1"/>
          <p:nvPr/>
        </p:nvSpPr>
        <p:spPr>
          <a:xfrm>
            <a:off x="11475720" y="6583680"/>
            <a:ext cx="502920" cy="292608"/>
          </a:xfrm>
          <a:prstGeom prst="rect">
            <a:avLst/>
          </a:prstGeom>
          <a:noFill/>
        </p:spPr>
        <p:txBody>
          <a:bodyPr wrap="none" lIns="0" rIns="0" tIns="0" bIns="0">
            <a:spAutoFit/>
          </a:bodyPr>
          <a:lstStyle/>
          <a:p>
            <a:pPr algn="r"/>
            <a:fld id="{E098812F-7B2C-5338-A27D-12F45D1836F7}" type="slidenum">
              <a:rPr lang="en-US" sz="1200" dirty="0">
                <a:solidFill>
                  <a:srgbClr val="555B66"/>
                </a:solidFill>
                <a:latin typeface="Calibri"/>
              </a:rPr>
              <a:t>74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0"/>
                                        </p:tgtEl>
                                        <p:attrNameLst>
                                          <p:attrName>style.visibility</p:attrName>
                                        </p:attrNameLst>
                                      </p:cBhvr>
                                      <p:to>
                                        <p:strVal val="visible"/>
                                      </p:to>
                                    </p:set>
                                    <p:animEffect transition="in" filter="fade">
                                      <p:cBhvr>
                                        <p:cTn id="17" dur="500"/>
                                        <p:tgtEl>
                                          <p:spTgt spid="1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Market Distortions and Regulations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Argentina Scrapped Its Rent Controls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w_headline_wsj_argentina.png"/>
          <p:cNvPicPr>
            <a:picLocks noChangeAspect="1"/>
          </p:cNvPicPr>
          <p:nvPr/>
        </p:nvPicPr>
        <p:blipFill>
          <a:blip r:embed="rId2"/>
          <a:stretch>
            <a:fillRect/>
          </a:stretch>
        </p:blipFill>
        <p:spPr>
          <a:xfrm>
            <a:off x="1417320" y="1508760"/>
            <a:ext cx="9326880" cy="1871224"/>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754919" y="3566160"/>
            <a:ext cx="10607040" cy="173736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Argentina repealed its rent-control law at the end of 2023</a:t>
            </a:r>
          </a:p>
          <a:p>
            <a:pPr algn="l"/>
            <a:r>
              <a:rPr>
                <a:latin typeface="Calibri"/>
              </a:rPr>
              <a:t>Reported since: many more flats listed, and rents lower in real terms</a:t>
            </a:r>
          </a:p>
          <a:p>
            <a:pPr algn="l"/>
            <a:r>
              <a:rPr>
                <a:latin typeface="Calibri"/>
              </a:rPr>
              <a:t>Not everyone gains — sitting tenants lost their protection</a:t>
            </a:r>
          </a:p>
        </p:txBody>
      </p:sp>
      <p:sp>
        <p:nvSpPr>
          <p:cNvPr id="9" name="TextBox 8"/>
          <p:cNvSpPr txBox="1"/>
          <p:nvPr/>
        </p:nvSpPr>
        <p:spPr>
          <a:xfrm>
            <a:off x="411480" y="5806440"/>
            <a:ext cx="8686800" cy="256032"/>
          </a:xfrm>
          <a:prstGeom prst="rect">
            <a:avLst/>
          </a:prstGeom>
          <a:noFill/>
        </p:spPr>
        <p:txBody>
          <a:bodyPr wrap="square" lIns="0" rIns="0" tIns="0" bIns="0">
            <a:spAutoFit/>
          </a:bodyPr>
          <a:lstStyle/>
          <a:p>
            <a:pPr algn="l"/>
            <a:r>
              <a:rPr sz="1100" b="0" i="1" u="none">
                <a:solidFill>
                  <a:srgbClr val="555B66"/>
                </a:solidFill>
                <a:latin typeface="Calibri"/>
              </a:rPr>
              <a:t>Magnitudes as reported in the press, not from a study. Source: The Wall Street Journal</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EC317E35-AC66-538C-932E-02B1EFBB37F1}" type="slidenum">
              <a:rPr lang="en-US" sz="1200" dirty="0">
                <a:solidFill>
                  <a:srgbClr val="555B66"/>
                </a:solidFill>
                <a:latin typeface="Calibri"/>
              </a:rPr>
              <a:t>75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4</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5219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Market Structures</a:t>
            </a:r>
          </a:p>
        </p:txBody>
      </p:sp>
      <p:sp>
        <p:nvSpPr>
          <p:cNvPr id="9" name="Oval 8"/>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269998"/>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Perfect Competition</a:t>
            </a:r>
          </a:p>
        </p:txBody>
      </p:sp>
      <p:sp>
        <p:nvSpPr>
          <p:cNvPr id="11" name="Oval 10"/>
          <p:cNvSpPr/>
          <p:nvPr/>
        </p:nvSpPr>
        <p:spPr>
          <a:xfrm>
            <a:off x="1463040" y="2832354"/>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2a</a:t>
            </a:r>
          </a:p>
        </p:txBody>
      </p:sp>
      <p:sp>
        <p:nvSpPr>
          <p:cNvPr id="12" name="TextBox 11"/>
          <p:cNvSpPr txBox="1"/>
          <p:nvPr/>
        </p:nvSpPr>
        <p:spPr>
          <a:xfrm>
            <a:off x="2148840" y="2987802"/>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Profit Maximization of a Price Taker in the Short Run</a:t>
            </a:r>
          </a:p>
        </p:txBody>
      </p:sp>
      <p:sp>
        <p:nvSpPr>
          <p:cNvPr id="13" name="Oval 12"/>
          <p:cNvSpPr/>
          <p:nvPr/>
        </p:nvSpPr>
        <p:spPr>
          <a:xfrm>
            <a:off x="1463040" y="3550158"/>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2b</a:t>
            </a:r>
          </a:p>
        </p:txBody>
      </p:sp>
      <p:sp>
        <p:nvSpPr>
          <p:cNvPr id="14" name="TextBox 13"/>
          <p:cNvSpPr txBox="1"/>
          <p:nvPr/>
        </p:nvSpPr>
        <p:spPr>
          <a:xfrm>
            <a:off x="2148840" y="3705606"/>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Firm-Level and Market Supply</a:t>
            </a:r>
          </a:p>
        </p:txBody>
      </p:sp>
      <p:sp>
        <p:nvSpPr>
          <p:cNvPr id="15" name="Oval 14"/>
          <p:cNvSpPr/>
          <p:nvPr/>
        </p:nvSpPr>
        <p:spPr>
          <a:xfrm>
            <a:off x="1463040" y="4267962"/>
            <a:ext cx="457200" cy="45720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BFBFBF"/>
                </a:solidFill>
                <a:latin typeface="Calibri"/>
              </a:rPr>
              <a:t>2c</a:t>
            </a:r>
          </a:p>
        </p:txBody>
      </p:sp>
      <p:sp>
        <p:nvSpPr>
          <p:cNvPr id="16" name="TextBox 15"/>
          <p:cNvSpPr txBox="1"/>
          <p:nvPr/>
        </p:nvSpPr>
        <p:spPr>
          <a:xfrm>
            <a:off x="2148840" y="4423410"/>
            <a:ext cx="9601200"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Long-Run Competitive Equilibrium</a:t>
            </a:r>
          </a:p>
        </p:txBody>
      </p:sp>
      <p:sp>
        <p:nvSpPr>
          <p:cNvPr id="17" name="Oval 16"/>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8" name="TextBox 17"/>
          <p:cNvSpPr txBox="1"/>
          <p:nvPr/>
        </p:nvSpPr>
        <p:spPr>
          <a:xfrm>
            <a:off x="1874519" y="5141214"/>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Market Distortions and Regulations</a:t>
            </a:r>
          </a:p>
        </p:txBody>
      </p:sp>
      <p:sp>
        <p:nvSpPr>
          <p:cNvPr id="19" name="Rounded Rectangle 18"/>
          <p:cNvSpPr/>
          <p:nvPr/>
        </p:nvSpPr>
        <p:spPr>
          <a:xfrm>
            <a:off x="822960" y="5630418"/>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21" name="TextBox 20"/>
          <p:cNvSpPr txBox="1"/>
          <p:nvPr/>
        </p:nvSpPr>
        <p:spPr>
          <a:xfrm>
            <a:off x="1874519" y="5685282"/>
            <a:ext cx="9875521" cy="653796"/>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Externalities</a:t>
            </a:r>
          </a:p>
          <a:p>
            <a:pPr algn="l">
              <a:spcBef>
                <a:spcPts val="0"/>
              </a:spcBef>
              <a:buNone/>
            </a:pPr>
            <a:r>
              <a:rPr sz="2200">
                <a:solidFill>
                  <a:srgbClr val="555B66"/>
                </a:solidFill>
                <a:latin typeface="Calibri"/>
              </a:rPr>
              <a:t>Costs and benefits that land on people outside the deal</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5" name="TextBox 24"/>
          <p:cNvSpPr txBox="1"/>
          <p:nvPr/>
        </p:nvSpPr>
        <p:spPr>
          <a:xfrm>
            <a:off x="11475720" y="6583680"/>
            <a:ext cx="502920" cy="292608"/>
          </a:xfrm>
          <a:prstGeom prst="rect">
            <a:avLst/>
          </a:prstGeom>
          <a:noFill/>
        </p:spPr>
        <p:txBody>
          <a:bodyPr wrap="none" lIns="0" rIns="0" tIns="0" bIns="0">
            <a:spAutoFit/>
          </a:bodyPr>
          <a:lstStyle/>
          <a:p>
            <a:pPr algn="r"/>
            <a:fld id="{3655CD08-94F7-5EC5-BB1A-BBA38EEAC6D6}" type="slidenum">
              <a:rPr lang="en-US" sz="1200" dirty="0">
                <a:solidFill>
                  <a:srgbClr val="555B66"/>
                </a:solidFill>
                <a:latin typeface="Calibri"/>
              </a:rPr>
              <a:t>76</a:t>
            </a:fld>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Externalities: Definitions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3" name="Group pair 113"/>
          <p:cNvGrpSpPr/>
          <p:nvPr/>
        </p:nvGrpSpPr>
        <p:grpSpPr>
          <a:xfrm>
            <a:off x="914400" y="1463040"/>
            <a:ext cx="10332720" cy="914400"/>
            <a:chOff x="914400" y="1463040"/>
            <a:chExt cx="10332720" cy="914400"/>
          </a:xfrm>
        </p:grpSpPr>
        <p:sp>
          <p:nvSpPr>
            <p:cNvPr id="7" name="Rounded Rectangle 6"/>
            <p:cNvSpPr/>
            <p:nvPr/>
          </p:nvSpPr>
          <p:spPr>
            <a:xfrm>
              <a:off x="914400" y="1463040"/>
              <a:ext cx="10332720" cy="91440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72768"/>
              <a:ext cx="9966960" cy="694944"/>
            </a:xfrm>
            <a:prstGeom prst="rect">
              <a:avLst/>
            </a:prstGeom>
            <a:noFill/>
          </p:spPr>
          <p:txBody>
            <a:bodyPr wrap="square" lIns="45720" rIns="45720" tIns="0" bIns="0" anchor="ctr">
              <a:spAutoFit/>
            </a:bodyPr>
            <a:lstStyle/>
            <a:p>
              <a:pPr algn="l"/>
              <a:r>
                <a:rPr sz="2200" b="1" i="0" u="none">
                  <a:solidFill>
                    <a:srgbClr val="0B2B4E"/>
                  </a:solidFill>
                  <a:latin typeface="Calibri"/>
                </a:rPr>
                <a:t>Externality:  </a:t>
              </a:r>
              <a:r>
                <a:rPr sz="2200" b="0" i="0" u="none">
                  <a:solidFill>
                    <a:srgbClr val="0B2B4E"/>
                  </a:solidFill>
                  <a:latin typeface="Calibri"/>
                </a:rPr>
                <a:t>a cost or a benefit that falls on someone who is not part of the transaction</a:t>
              </a:r>
            </a:p>
          </p:txBody>
        </p:sp>
      </p:grpSp>
      <p:sp>
        <p:nvSpPr>
          <p:cNvPr id="9" name="TextBox 8"/>
          <p:cNvSpPr txBox="1"/>
          <p:nvPr/>
        </p:nvSpPr>
        <p:spPr>
          <a:xfrm>
            <a:off x="572039" y="2743200"/>
            <a:ext cx="11155680" cy="301752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b="1">
                <a:solidFill>
                  <a:srgbClr val="0070C0"/>
                </a:solidFill>
                <a:latin typeface="Calibri"/>
              </a:rPr>
              <a:t>Negative externality</a:t>
            </a:r>
            <a:r>
              <a:rPr>
                <a:latin typeface="Calibri"/>
              </a:rPr>
              <a:t> — a cost imposed on an outsider</a:t>
            </a:r>
          </a:p>
          <a:p>
            <a:pPr algn="l" lvl="1"/>
            <a:r>
              <a:rPr>
                <a:latin typeface="Calibri"/>
              </a:rPr>
              <a:t>Air pollution from coal-fired power plants</a:t>
            </a:r>
          </a:p>
          <a:p>
            <a:pPr algn="l" lvl="1"/>
            <a:r>
              <a:rPr>
                <a:latin typeface="Calibri"/>
              </a:rPr>
              <a:t>The external cost of gasoline is about $1.50 per gallon</a:t>
            </a:r>
          </a:p>
          <a:p>
            <a:pPr algn="l"/>
            <a:r>
              <a:rPr b="1">
                <a:solidFill>
                  <a:srgbClr val="0070C0"/>
                </a:solidFill>
                <a:latin typeface="Calibri"/>
              </a:rPr>
              <a:t>Positive externality</a:t>
            </a:r>
            <a:r>
              <a:rPr>
                <a:latin typeface="Calibri"/>
              </a:rPr>
              <a:t> — a benefit conferred on an outsider</a:t>
            </a:r>
          </a:p>
          <a:p>
            <a:pPr algn="l" lvl="1"/>
            <a:r>
              <a:rPr>
                <a:latin typeface="Calibri"/>
              </a:rPr>
              <a:t>Your neighbour's well-kept front yard is a pleasure for you to look at too</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2D51E997-482C-5AB1-8E65-EB8009E358F8}" type="slidenum">
              <a:rPr lang="en-US" sz="1200" dirty="0">
                <a:solidFill>
                  <a:srgbClr val="555B66"/>
                </a:solidFill>
                <a:latin typeface="Calibri"/>
              </a:rPr>
              <a:t>77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fade">
                                      <p:cBhvr>
                                        <p:cTn id="10" dur="500"/>
                                        <p:tgtEl>
                                          <p:spTgt spid="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4" end="4"/>
                                            </p:txEl>
                                          </p:spTgt>
                                        </p:tgtEl>
                                        <p:attrNameLst>
                                          <p:attrName>style.visibility</p:attrName>
                                        </p:attrNameLst>
                                      </p:cBhvr>
                                      <p:to>
                                        <p:strVal val="visible"/>
                                      </p:to>
                                    </p:set>
                                    <p:animEffect transition="in" filter="fade">
                                      <p:cBhvr>
                                        <p:cTn id="18"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Correcting for Externalities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371600"/>
            <a:ext cx="7589520" cy="685800"/>
          </a:xfrm>
          <a:prstGeom prst="rect">
            <a:avLst/>
          </a:prstGeom>
          <a:noFill/>
        </p:spPr>
        <p:txBody>
          <a:bodyPr wrap="square" lIns="0" rIns="0" tIns="0" bIns="0">
            <a:spAutoFit/>
          </a:bodyPr>
          <a:lstStyle/>
          <a:p>
            <a:pPr algn="l"/>
            <a:r>
              <a:rPr sz="2100" b="0" i="0" u="none">
                <a:solidFill>
                  <a:srgbClr val="0B2B4E"/>
                </a:solidFill>
                <a:latin typeface="Calibri"/>
              </a:rPr>
              <a:t>The aim of the intervention: move the market toward the quantity that would be chosen if the outside cost or benefit were counted</a:t>
            </a:r>
          </a:p>
        </p:txBody>
      </p:sp>
      <p:sp>
        <p:nvSpPr>
          <p:cNvPr id="8" name="Rounded Rectangle 7"/>
          <p:cNvSpPr/>
          <p:nvPr/>
        </p:nvSpPr>
        <p:spPr>
          <a:xfrm>
            <a:off x="502920" y="2331720"/>
            <a:ext cx="758952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Price mechanisms:  taxes and subsidies</a:t>
            </a:r>
          </a:p>
        </p:txBody>
      </p:sp>
      <p:sp>
        <p:nvSpPr>
          <p:cNvPr id="9" name="TextBox 8"/>
          <p:cNvSpPr txBox="1"/>
          <p:nvPr/>
        </p:nvSpPr>
        <p:spPr>
          <a:xfrm>
            <a:off x="777240" y="2926080"/>
            <a:ext cx="7315200" cy="82296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r>
              <a:rPr>
                <a:latin typeface="Calibri"/>
              </a:rPr>
              <a:t>Tax the activity that imposes the cost, subsidize the one that confers the benefit</a:t>
            </a:r>
          </a:p>
        </p:txBody>
      </p:sp>
      <p:sp>
        <p:nvSpPr>
          <p:cNvPr id="10" name="Rounded Rectangle 9"/>
          <p:cNvSpPr/>
          <p:nvPr/>
        </p:nvSpPr>
        <p:spPr>
          <a:xfrm>
            <a:off x="502920" y="3794760"/>
            <a:ext cx="7589520" cy="50292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Quantity mechanisms:  quotas and mandates</a:t>
            </a:r>
          </a:p>
        </p:txBody>
      </p:sp>
      <p:sp>
        <p:nvSpPr>
          <p:cNvPr id="11" name="TextBox 10"/>
          <p:cNvSpPr txBox="1"/>
          <p:nvPr/>
        </p:nvSpPr>
        <p:spPr>
          <a:xfrm>
            <a:off x="777240" y="4434840"/>
            <a:ext cx="7315200" cy="146304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r>
              <a:rPr b="1">
                <a:latin typeface="Calibri"/>
              </a:rPr>
              <a:t>Negative externality — cap it:</a:t>
            </a:r>
            <a:r>
              <a:rPr>
                <a:latin typeface="Calibri"/>
              </a:rPr>
              <a:t> a limit on the tonnes of sulphur dioxide a power plant may emit in a year</a:t>
            </a:r>
          </a:p>
          <a:p>
            <a:pPr algn="l"/>
            <a:r>
              <a:rPr b="1">
                <a:latin typeface="Calibri"/>
              </a:rPr>
              <a:t>Positive externality — require it:</a:t>
            </a:r>
            <a:r>
              <a:rPr>
                <a:latin typeface="Calibri"/>
              </a:rPr>
              <a:t> childhood vaccination as a condition of school entry</a:t>
            </a:r>
          </a:p>
        </p:txBody>
      </p:sp>
      <p:pic>
        <p:nvPicPr>
          <p:cNvPr id="12" name="Picture 11" descr="NV_s73_4_e69d8d25.png"/>
          <p:cNvPicPr>
            <a:picLocks noChangeAspect="1"/>
          </p:cNvPicPr>
          <p:nvPr/>
        </p:nvPicPr>
        <p:blipFill>
          <a:blip r:embed="rId2"/>
          <a:stretch>
            <a:fillRect/>
          </a:stretch>
        </p:blipFill>
        <p:spPr>
          <a:xfrm>
            <a:off x="8549640" y="1417320"/>
            <a:ext cx="2926080" cy="4585965"/>
          </a:xfrm>
          <a:prstGeom prst="roundRect">
            <a:avLst>
              <a:gd name="adj" fmla="val 8000"/>
            </a:avLst>
          </a:prstGeom>
          <a:effectLst>
            <a:outerShdw blurRad="50800" dist="38100" dir="2700000" algn="tl" rotWithShape="0">
              <a:srgbClr val="000000">
                <a:alpha val="50000"/>
              </a:srgbClr>
            </a:outerShdw>
          </a:effectLst>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919582EC-26A3-5FDE-9A63-332CE2516606}" type="slidenum">
              <a:rPr lang="en-US" sz="1200" dirty="0">
                <a:solidFill>
                  <a:srgbClr val="555B66"/>
                </a:solidFill>
                <a:latin typeface="Calibri"/>
              </a:rPr>
              <a:t>78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Externality Wedge: Gasoline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103120" y="1664208"/>
            <a:ext cx="0" cy="41422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03120" y="5806440"/>
            <a:ext cx="578815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17319" y="1261872"/>
            <a:ext cx="1828800" cy="292608"/>
          </a:xfrm>
          <a:prstGeom prst="rect">
            <a:avLst/>
          </a:prstGeom>
          <a:noFill/>
        </p:spPr>
        <p:txBody>
          <a:bodyPr wrap="square" lIns="0" rIns="0" tIns="0" bIns="0">
            <a:spAutoFit/>
          </a:bodyPr>
          <a:lstStyle/>
          <a:p>
            <a:pPr algn="l"/>
            <a:r>
              <a:rPr sz="1700" b="1" i="1" u="none">
                <a:solidFill>
                  <a:srgbClr val="0B2B4E"/>
                </a:solidFill>
                <a:latin typeface="Calibri"/>
              </a:rPr>
              <a:t>$ / gallon</a:t>
            </a:r>
          </a:p>
        </p:txBody>
      </p:sp>
      <p:sp>
        <p:nvSpPr>
          <p:cNvPr id="10" name="TextBox 9"/>
          <p:cNvSpPr txBox="1"/>
          <p:nvPr/>
        </p:nvSpPr>
        <p:spPr>
          <a:xfrm>
            <a:off x="7360919" y="5897879"/>
            <a:ext cx="1645920" cy="292608"/>
          </a:xfrm>
          <a:prstGeom prst="rect">
            <a:avLst/>
          </a:prstGeom>
          <a:noFill/>
        </p:spPr>
        <p:txBody>
          <a:bodyPr wrap="square" lIns="0" rIns="0" tIns="0" bIns="0">
            <a:spAutoFit/>
          </a:bodyPr>
          <a:lstStyle/>
          <a:p>
            <a:pPr algn="l"/>
            <a:r>
              <a:rPr sz="1700" b="1" i="1" u="none">
                <a:solidFill>
                  <a:srgbClr val="0B2B4E"/>
                </a:solidFill>
                <a:latin typeface="Calibri"/>
              </a:rPr>
              <a:t>Gallons of gasoline per year</a:t>
            </a:r>
          </a:p>
        </p:txBody>
      </p:sp>
      <p:cxnSp>
        <p:nvCxnSpPr>
          <p:cNvPr id="11" name="Connector 10"/>
          <p:cNvCxnSpPr/>
          <p:nvPr/>
        </p:nvCxnSpPr>
        <p:spPr>
          <a:xfrm>
            <a:off x="2103120" y="2270760"/>
            <a:ext cx="5264609" cy="233354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68603" y="3949750"/>
            <a:ext cx="822960" cy="292608"/>
          </a:xfrm>
          <a:prstGeom prst="rect">
            <a:avLst/>
          </a:prstGeom>
          <a:noFill/>
        </p:spPr>
        <p:txBody>
          <a:bodyPr wrap="square" lIns="0" rIns="0" tIns="0" bIns="0">
            <a:spAutoFit/>
          </a:bodyPr>
          <a:lstStyle/>
          <a:p>
            <a:pPr algn="l"/>
            <a:r>
              <a:rPr sz="1800" b="1" i="1" u="none">
                <a:solidFill>
                  <a:srgbClr val="0B2B4E"/>
                </a:solidFill>
                <a:latin typeface="Calibri"/>
              </a:rPr>
              <a:t>Demand</a:t>
            </a:r>
          </a:p>
        </p:txBody>
      </p:sp>
      <p:cxnSp>
        <p:nvCxnSpPr>
          <p:cNvPr id="13" name="Connector 12"/>
          <p:cNvCxnSpPr/>
          <p:nvPr/>
        </p:nvCxnSpPr>
        <p:spPr>
          <a:xfrm flipV="1">
            <a:off x="2103120" y="3225393"/>
            <a:ext cx="5264609" cy="213908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03120" y="2756915"/>
            <a:ext cx="4786008" cy="1944625"/>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03120" y="3884874"/>
            <a:ext cx="3641528"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744648" y="3884874"/>
            <a:ext cx="0" cy="192156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10308" y="5861303"/>
            <a:ext cx="868680" cy="274320"/>
          </a:xfrm>
          <a:prstGeom prst="rect">
            <a:avLst/>
          </a:prstGeom>
          <a:noFill/>
        </p:spPr>
        <p:txBody>
          <a:bodyPr wrap="square" lIns="0" rIns="0" tIns="0" bIns="0">
            <a:spAutoFit/>
          </a:bodyPr>
          <a:lstStyle/>
          <a:p>
            <a:pPr algn="ctr"/>
            <a:r>
              <a:rPr sz="1600" b="1" i="1" u="none">
                <a:solidFill>
                  <a:srgbClr val="0B2B4E"/>
                </a:solidFill>
                <a:latin typeface="Calibri"/>
              </a:rPr>
              <a:t>QMarket</a:t>
            </a:r>
          </a:p>
        </p:txBody>
      </p:sp>
      <p:sp>
        <p:nvSpPr>
          <p:cNvPr id="18" name="Oval 17"/>
          <p:cNvSpPr/>
          <p:nvPr/>
        </p:nvSpPr>
        <p:spPr>
          <a:xfrm>
            <a:off x="5685212" y="3825438"/>
            <a:ext cx="118872" cy="118872"/>
          </a:xfrm>
          <a:prstGeom prst="ellipse">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103120" y="3538993"/>
            <a:ext cx="28612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964320" y="3538993"/>
            <a:ext cx="0" cy="2267447"/>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29980" y="5861303"/>
            <a:ext cx="868680" cy="274320"/>
          </a:xfrm>
          <a:prstGeom prst="rect">
            <a:avLst/>
          </a:prstGeom>
          <a:noFill/>
        </p:spPr>
        <p:txBody>
          <a:bodyPr wrap="square" lIns="0" rIns="0" tIns="0" bIns="0">
            <a:spAutoFit/>
          </a:bodyPr>
          <a:lstStyle/>
          <a:p>
            <a:pPr algn="ctr"/>
            <a:r>
              <a:rPr sz="1600" b="1" i="1" u="none">
                <a:solidFill>
                  <a:srgbClr val="0B2B4E"/>
                </a:solidFill>
                <a:latin typeface="Calibri"/>
              </a:rPr>
              <a:t>QExt</a:t>
            </a:r>
          </a:p>
        </p:txBody>
      </p:sp>
      <p:sp>
        <p:nvSpPr>
          <p:cNvPr id="22" name="Oval 21"/>
          <p:cNvSpPr/>
          <p:nvPr/>
        </p:nvSpPr>
        <p:spPr>
          <a:xfrm>
            <a:off x="4904884" y="3479557"/>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2336291"/>
            <a:ext cx="3977639" cy="566928"/>
          </a:xfrm>
          <a:prstGeom prst="rect">
            <a:avLst/>
          </a:prstGeom>
          <a:noFill/>
        </p:spPr>
        <p:txBody>
          <a:bodyPr wrap="square" lIns="0" rIns="0" tIns="0" bIns="0">
            <a:spAutoFit/>
          </a:bodyPr>
          <a:lstStyle/>
          <a:p>
            <a:pPr algn="l"/>
            <a:r>
              <a:rPr sz="1700" b="1" i="0" u="none">
                <a:solidFill>
                  <a:srgbClr val="E09F3E"/>
                </a:solidFill>
                <a:latin typeface="Calibri"/>
              </a:rPr>
              <a:t>MCI + EMC = SMC
(social marginal cost)</a:t>
            </a:r>
          </a:p>
        </p:txBody>
      </p:sp>
      <p:sp>
        <p:nvSpPr>
          <p:cNvPr id="24" name="TextBox 23"/>
          <p:cNvSpPr txBox="1"/>
          <p:nvPr/>
        </p:nvSpPr>
        <p:spPr>
          <a:xfrm>
            <a:off x="7863840" y="3243681"/>
            <a:ext cx="3977639" cy="566928"/>
          </a:xfrm>
          <a:prstGeom prst="rect">
            <a:avLst/>
          </a:prstGeom>
          <a:noFill/>
        </p:spPr>
        <p:txBody>
          <a:bodyPr wrap="square" lIns="0" rIns="0" tIns="0" bIns="0">
            <a:spAutoFit/>
          </a:bodyPr>
          <a:lstStyle/>
          <a:p>
            <a:pPr algn="l"/>
            <a:r>
              <a:rPr sz="1700" b="1" i="0" u="none">
                <a:solidFill>
                  <a:srgbClr val="0B2B4E"/>
                </a:solidFill>
                <a:latin typeface="Calibri"/>
              </a:rPr>
              <a:t>Supply = internal
marginal cost (MCI)</a:t>
            </a:r>
          </a:p>
        </p:txBody>
      </p:sp>
      <p:cxnSp>
        <p:nvCxnSpPr>
          <p:cNvPr id="25" name="Connector 24"/>
          <p:cNvCxnSpPr/>
          <p:nvPr/>
        </p:nvCxnSpPr>
        <p:spPr>
          <a:xfrm flipV="1">
            <a:off x="3419272" y="4166768"/>
            <a:ext cx="0" cy="662940"/>
          </a:xfrm>
          <a:prstGeom prst="line">
            <a:avLst/>
          </a:prstGeom>
          <a:ln w="31750">
            <a:solidFill>
              <a:srgbClr val="A2162A"/>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29000" y="4342790"/>
            <a:ext cx="2743200" cy="310896"/>
          </a:xfrm>
          <a:prstGeom prst="rect">
            <a:avLst/>
          </a:prstGeom>
          <a:noFill/>
        </p:spPr>
        <p:txBody>
          <a:bodyPr wrap="square" lIns="0" rIns="0" tIns="0" bIns="0">
            <a:spAutoFit/>
          </a:bodyPr>
          <a:lstStyle/>
          <a:p>
            <a:pPr algn="l"/>
            <a:r>
              <a:rPr sz="1700" b="1" i="0" u="none">
                <a:solidFill>
                  <a:srgbClr val="A2162A"/>
                </a:solidFill>
                <a:latin typeface="Calibri"/>
              </a:rPr>
              <a:t>EMC = $1.50 per gallon</a:t>
            </a:r>
          </a:p>
        </p:txBody>
      </p:sp>
      <p:grpSp>
        <p:nvGrpSpPr>
          <p:cNvPr id="132" name="Group pair 132"/>
          <p:cNvGrpSpPr/>
          <p:nvPr/>
        </p:nvGrpSpPr>
        <p:grpSpPr>
          <a:xfrm>
            <a:off x="8001000" y="3977639"/>
            <a:ext cx="3794760" cy="1691640"/>
            <a:chOff x="8001000" y="3977639"/>
            <a:chExt cx="3794760" cy="1691640"/>
          </a:xfrm>
        </p:grpSpPr>
        <p:sp>
          <p:nvSpPr>
            <p:cNvPr id="27" name="Rounded Rectangle 26"/>
            <p:cNvSpPr/>
            <p:nvPr/>
          </p:nvSpPr>
          <p:spPr>
            <a:xfrm>
              <a:off x="8001000" y="3977639"/>
              <a:ext cx="3794760" cy="169164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4087367"/>
              <a:ext cx="3429000" cy="1472184"/>
            </a:xfrm>
            <a:prstGeom prst="rect">
              <a:avLst/>
            </a:prstGeom>
            <a:noFill/>
          </p:spPr>
          <p:txBody>
            <a:bodyPr wrap="square" lIns="45720" rIns="45720" tIns="0" bIns="0" anchor="ctr">
              <a:spAutoFit/>
            </a:bodyPr>
            <a:lstStyle/>
            <a:p>
              <a:pPr algn="l"/>
              <a:r>
                <a:rPr sz="1800" b="0" i="0" u="none">
                  <a:solidFill>
                    <a:srgbClr val="0B2B4E"/>
                  </a:solidFill>
                  <a:latin typeface="Calibri"/>
                </a:rPr>
                <a:t>Drivers weigh only their own cost, so the market settles at QMarket. Counting the cost borne by everyone else, the efficient quantity is the smaller QExt.</a:t>
              </a:r>
            </a:p>
          </p:txBody>
        </p:sp>
      </p:gr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2" name="TextBox 31"/>
          <p:cNvSpPr txBox="1"/>
          <p:nvPr/>
        </p:nvSpPr>
        <p:spPr>
          <a:xfrm>
            <a:off x="11475720" y="6583680"/>
            <a:ext cx="502920" cy="292608"/>
          </a:xfrm>
          <a:prstGeom prst="rect">
            <a:avLst/>
          </a:prstGeom>
          <a:noFill/>
        </p:spPr>
        <p:txBody>
          <a:bodyPr wrap="none" lIns="0" rIns="0" tIns="0" bIns="0">
            <a:spAutoFit/>
          </a:bodyPr>
          <a:lstStyle/>
          <a:p>
            <a:pPr algn="r"/>
            <a:fld id="{A60025ED-E43E-5422-B56E-66247596E0AB}" type="slidenum">
              <a:rPr lang="en-US" sz="1200" dirty="0">
                <a:solidFill>
                  <a:srgbClr val="555B66"/>
                </a:solidFill>
                <a:latin typeface="Calibri"/>
              </a:rPr>
              <a:t>79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32"/>
                                        </p:tgtEl>
                                        <p:attrNameLst>
                                          <p:attrName>style.visibility</p:attrName>
                                        </p:attrNameLst>
                                      </p:cBhvr>
                                      <p:to>
                                        <p:strVal val="visible"/>
                                      </p:to>
                                    </p:set>
                                    <p:animEffect transition="in" filter="fade">
                                      <p:cBhvr>
                                        <p:cTn id="6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 Carbon Tax to Correct the Negative Externality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2103120" y="1664208"/>
            <a:ext cx="0" cy="41422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03120" y="5806440"/>
            <a:ext cx="5788151"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17319" y="1261872"/>
            <a:ext cx="1828800" cy="292608"/>
          </a:xfrm>
          <a:prstGeom prst="rect">
            <a:avLst/>
          </a:prstGeom>
          <a:noFill/>
        </p:spPr>
        <p:txBody>
          <a:bodyPr wrap="square" lIns="0" rIns="0" tIns="0" bIns="0">
            <a:spAutoFit/>
          </a:bodyPr>
          <a:lstStyle/>
          <a:p>
            <a:pPr algn="l"/>
            <a:r>
              <a:rPr sz="1700" b="1" i="1" u="none">
                <a:solidFill>
                  <a:srgbClr val="0B2B4E"/>
                </a:solidFill>
                <a:latin typeface="Calibri"/>
              </a:rPr>
              <a:t>$ / gallon</a:t>
            </a:r>
          </a:p>
        </p:txBody>
      </p:sp>
      <p:sp>
        <p:nvSpPr>
          <p:cNvPr id="10" name="TextBox 9"/>
          <p:cNvSpPr txBox="1"/>
          <p:nvPr/>
        </p:nvSpPr>
        <p:spPr>
          <a:xfrm>
            <a:off x="7360919" y="5897879"/>
            <a:ext cx="1645920" cy="292608"/>
          </a:xfrm>
          <a:prstGeom prst="rect">
            <a:avLst/>
          </a:prstGeom>
          <a:noFill/>
        </p:spPr>
        <p:txBody>
          <a:bodyPr wrap="square" lIns="0" rIns="0" tIns="0" bIns="0">
            <a:spAutoFit/>
          </a:bodyPr>
          <a:lstStyle/>
          <a:p>
            <a:pPr algn="l"/>
            <a:r>
              <a:rPr sz="1700" b="1" i="1" u="none">
                <a:solidFill>
                  <a:srgbClr val="0B2B4E"/>
                </a:solidFill>
                <a:latin typeface="Calibri"/>
              </a:rPr>
              <a:t>Gallons of gasoline per year</a:t>
            </a:r>
          </a:p>
        </p:txBody>
      </p:sp>
      <p:cxnSp>
        <p:nvCxnSpPr>
          <p:cNvPr id="11" name="Connector 10"/>
          <p:cNvCxnSpPr/>
          <p:nvPr/>
        </p:nvCxnSpPr>
        <p:spPr>
          <a:xfrm>
            <a:off x="2103120" y="2270760"/>
            <a:ext cx="5264609" cy="233354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068603" y="3949750"/>
            <a:ext cx="822960" cy="292608"/>
          </a:xfrm>
          <a:prstGeom prst="rect">
            <a:avLst/>
          </a:prstGeom>
          <a:noFill/>
        </p:spPr>
        <p:txBody>
          <a:bodyPr wrap="square" lIns="0" rIns="0" tIns="0" bIns="0">
            <a:spAutoFit/>
          </a:bodyPr>
          <a:lstStyle/>
          <a:p>
            <a:pPr algn="l"/>
            <a:r>
              <a:rPr sz="1800" b="1" i="1" u="none">
                <a:solidFill>
                  <a:srgbClr val="0B2B4E"/>
                </a:solidFill>
                <a:latin typeface="Calibri"/>
              </a:rPr>
              <a:t>Demand</a:t>
            </a:r>
          </a:p>
        </p:txBody>
      </p:sp>
      <p:cxnSp>
        <p:nvCxnSpPr>
          <p:cNvPr id="13" name="Connector 12"/>
          <p:cNvCxnSpPr/>
          <p:nvPr/>
        </p:nvCxnSpPr>
        <p:spPr>
          <a:xfrm flipV="1">
            <a:off x="2103120" y="3225393"/>
            <a:ext cx="5264609" cy="2139087"/>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103120" y="2756915"/>
            <a:ext cx="4786008" cy="1944625"/>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03120" y="3884874"/>
            <a:ext cx="3641528"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744648" y="3884874"/>
            <a:ext cx="0" cy="192156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10308" y="5861303"/>
            <a:ext cx="868680" cy="274320"/>
          </a:xfrm>
          <a:prstGeom prst="rect">
            <a:avLst/>
          </a:prstGeom>
          <a:noFill/>
        </p:spPr>
        <p:txBody>
          <a:bodyPr wrap="square" lIns="0" rIns="0" tIns="0" bIns="0">
            <a:spAutoFit/>
          </a:bodyPr>
          <a:lstStyle/>
          <a:p>
            <a:pPr algn="ctr"/>
            <a:r>
              <a:rPr sz="1600" b="1" i="1" u="none">
                <a:solidFill>
                  <a:srgbClr val="0B2B4E"/>
                </a:solidFill>
                <a:latin typeface="Calibri"/>
              </a:rPr>
              <a:t>QMarket</a:t>
            </a:r>
          </a:p>
        </p:txBody>
      </p:sp>
      <p:sp>
        <p:nvSpPr>
          <p:cNvPr id="18" name="Oval 17"/>
          <p:cNvSpPr/>
          <p:nvPr/>
        </p:nvSpPr>
        <p:spPr>
          <a:xfrm>
            <a:off x="5685212" y="3825438"/>
            <a:ext cx="118872" cy="118872"/>
          </a:xfrm>
          <a:prstGeom prst="ellipse">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103120" y="3538993"/>
            <a:ext cx="2861200"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964320" y="3538993"/>
            <a:ext cx="0" cy="2267447"/>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29980" y="5861303"/>
            <a:ext cx="868680" cy="274320"/>
          </a:xfrm>
          <a:prstGeom prst="rect">
            <a:avLst/>
          </a:prstGeom>
          <a:noFill/>
        </p:spPr>
        <p:txBody>
          <a:bodyPr wrap="square" lIns="0" rIns="0" tIns="0" bIns="0">
            <a:spAutoFit/>
          </a:bodyPr>
          <a:lstStyle/>
          <a:p>
            <a:pPr algn="ctr"/>
            <a:r>
              <a:rPr sz="1600" b="1" i="1" u="none">
                <a:solidFill>
                  <a:srgbClr val="0B2B4E"/>
                </a:solidFill>
                <a:latin typeface="Calibri"/>
              </a:rPr>
              <a:t>QExt</a:t>
            </a:r>
          </a:p>
        </p:txBody>
      </p:sp>
      <p:sp>
        <p:nvSpPr>
          <p:cNvPr id="22" name="Oval 21"/>
          <p:cNvSpPr/>
          <p:nvPr/>
        </p:nvSpPr>
        <p:spPr>
          <a:xfrm>
            <a:off x="4904884" y="3479557"/>
            <a:ext cx="118872" cy="118872"/>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2336291"/>
            <a:ext cx="3977639" cy="566928"/>
          </a:xfrm>
          <a:prstGeom prst="rect">
            <a:avLst/>
          </a:prstGeom>
          <a:noFill/>
        </p:spPr>
        <p:txBody>
          <a:bodyPr wrap="square" lIns="0" rIns="0" tIns="0" bIns="0">
            <a:spAutoFit/>
          </a:bodyPr>
          <a:lstStyle/>
          <a:p>
            <a:pPr algn="l"/>
            <a:r>
              <a:rPr sz="1700" b="1" i="0" u="none">
                <a:solidFill>
                  <a:srgbClr val="E09F3E"/>
                </a:solidFill>
                <a:latin typeface="Calibri"/>
              </a:rPr>
              <a:t>MCI + EMC = SMC
(social marginal cost)</a:t>
            </a:r>
          </a:p>
        </p:txBody>
      </p:sp>
      <p:sp>
        <p:nvSpPr>
          <p:cNvPr id="24" name="TextBox 23"/>
          <p:cNvSpPr txBox="1"/>
          <p:nvPr/>
        </p:nvSpPr>
        <p:spPr>
          <a:xfrm>
            <a:off x="7863840" y="3243681"/>
            <a:ext cx="3977639" cy="566928"/>
          </a:xfrm>
          <a:prstGeom prst="rect">
            <a:avLst/>
          </a:prstGeom>
          <a:noFill/>
        </p:spPr>
        <p:txBody>
          <a:bodyPr wrap="square" lIns="0" rIns="0" tIns="0" bIns="0">
            <a:spAutoFit/>
          </a:bodyPr>
          <a:lstStyle/>
          <a:p>
            <a:pPr algn="l"/>
            <a:r>
              <a:rPr sz="1700" b="1" i="0" u="none">
                <a:solidFill>
                  <a:srgbClr val="0B2B4E"/>
                </a:solidFill>
                <a:latin typeface="Calibri"/>
              </a:rPr>
              <a:t>Supply = internal
marginal cost (MCI)</a:t>
            </a:r>
          </a:p>
        </p:txBody>
      </p:sp>
      <p:cxnSp>
        <p:nvCxnSpPr>
          <p:cNvPr id="25" name="Connector 24"/>
          <p:cNvCxnSpPr/>
          <p:nvPr/>
        </p:nvCxnSpPr>
        <p:spPr>
          <a:xfrm flipV="1">
            <a:off x="3419272" y="4166768"/>
            <a:ext cx="0" cy="662940"/>
          </a:xfrm>
          <a:prstGeom prst="line">
            <a:avLst/>
          </a:prstGeom>
          <a:ln w="31750">
            <a:solidFill>
              <a:srgbClr val="A2162A"/>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29000" y="4342790"/>
            <a:ext cx="2743200" cy="310896"/>
          </a:xfrm>
          <a:prstGeom prst="rect">
            <a:avLst/>
          </a:prstGeom>
          <a:noFill/>
        </p:spPr>
        <p:txBody>
          <a:bodyPr wrap="square" lIns="0" rIns="0" tIns="0" bIns="0">
            <a:spAutoFit/>
          </a:bodyPr>
          <a:lstStyle/>
          <a:p>
            <a:pPr algn="l"/>
            <a:r>
              <a:rPr sz="1700" b="1" i="0" u="none">
                <a:solidFill>
                  <a:srgbClr val="A2162A"/>
                </a:solidFill>
                <a:latin typeface="Calibri"/>
              </a:rPr>
              <a:t>Tax = EMC = $1.50</a:t>
            </a:r>
          </a:p>
        </p:txBody>
      </p:sp>
      <p:grpSp>
        <p:nvGrpSpPr>
          <p:cNvPr id="135" name="Group pair 135"/>
          <p:cNvGrpSpPr/>
          <p:nvPr/>
        </p:nvGrpSpPr>
        <p:grpSpPr>
          <a:xfrm>
            <a:off x="10012680" y="1463040"/>
            <a:ext cx="1965960" cy="2514600"/>
            <a:chOff x="10012680" y="1463040"/>
            <a:chExt cx="1965960" cy="2514600"/>
          </a:xfrm>
        </p:grpSpPr>
        <p:pic>
          <p:nvPicPr>
            <p:cNvPr id="27" name="Picture 26" descr="NV_s74_g13.g2.1_862b02c9.jpg"/>
            <p:cNvPicPr>
              <a:picLocks noChangeAspect="1"/>
            </p:cNvPicPr>
            <p:nvPr/>
          </p:nvPicPr>
          <p:blipFill>
            <a:blip r:embed="rId2"/>
            <a:stretch>
              <a:fillRect/>
            </a:stretch>
          </p:blipFill>
          <p:spPr>
            <a:xfrm>
              <a:off x="10287000" y="1463040"/>
              <a:ext cx="1417320" cy="2158941"/>
            </a:xfrm>
            <a:prstGeom prst="roundRect">
              <a:avLst>
                <a:gd name="adj" fmla="val 8000"/>
              </a:avLst>
            </a:prstGeom>
            <a:effectLst>
              <a:outerShdw blurRad="50800" dist="38100" dir="2700000" algn="tl" rotWithShape="0">
                <a:srgbClr val="000000">
                  <a:alpha val="50000"/>
                </a:srgbClr>
              </a:outerShdw>
            </a:effectLst>
          </p:spPr>
        </p:pic>
        <p:sp>
          <p:nvSpPr>
            <p:cNvPr id="28" name="TextBox 27"/>
            <p:cNvSpPr txBox="1"/>
            <p:nvPr/>
          </p:nvSpPr>
          <p:spPr>
            <a:xfrm>
              <a:off x="10012680" y="3703320"/>
              <a:ext cx="1965960" cy="274320"/>
            </a:xfrm>
            <a:prstGeom prst="rect">
              <a:avLst/>
            </a:prstGeom>
            <a:noFill/>
          </p:spPr>
          <p:txBody>
            <a:bodyPr wrap="square" lIns="0" rIns="0" tIns="0" bIns="0">
              <a:spAutoFit/>
            </a:bodyPr>
            <a:lstStyle/>
            <a:p>
              <a:pPr algn="ctr"/>
              <a:r>
                <a:rPr sz="1300" b="0" i="1" u="none">
                  <a:solidFill>
                    <a:srgbClr val="555B66"/>
                  </a:solidFill>
                  <a:latin typeface="Calibri"/>
                </a:rPr>
                <a:t>Arthur Pigou</a:t>
              </a:r>
            </a:p>
          </p:txBody>
        </p:sp>
      </p:grpSp>
      <p:grpSp>
        <p:nvGrpSpPr>
          <p:cNvPr id="134" name="Group pair 134"/>
          <p:cNvGrpSpPr/>
          <p:nvPr/>
        </p:nvGrpSpPr>
        <p:grpSpPr>
          <a:xfrm>
            <a:off x="8001000" y="4251960"/>
            <a:ext cx="3794760" cy="1417320"/>
            <a:chOff x="8001000" y="4251960"/>
            <a:chExt cx="3794760" cy="1417320"/>
          </a:xfrm>
        </p:grpSpPr>
        <p:sp>
          <p:nvSpPr>
            <p:cNvPr id="29" name="Rounded Rectangle 28"/>
            <p:cNvSpPr/>
            <p:nvPr/>
          </p:nvSpPr>
          <p:spPr>
            <a:xfrm>
              <a:off x="8001000" y="4251960"/>
              <a:ext cx="3794760" cy="1417320"/>
            </a:xfrm>
            <a:prstGeom prst="roundRect">
              <a:avLst>
                <a:gd name="adj" fmla="val 10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4361688"/>
              <a:ext cx="3429000" cy="1197864"/>
            </a:xfrm>
            <a:prstGeom prst="rect">
              <a:avLst/>
            </a:prstGeom>
            <a:noFill/>
          </p:spPr>
          <p:txBody>
            <a:bodyPr wrap="square" lIns="45720" rIns="45720" tIns="0" bIns="0" anchor="ctr">
              <a:spAutoFit/>
            </a:bodyPr>
            <a:lstStyle/>
            <a:p>
              <a:pPr algn="l"/>
              <a:r>
                <a:rPr sz="1800" b="0" i="0" u="none">
                  <a:solidFill>
                    <a:srgbClr val="0B2B4E"/>
                  </a:solidFill>
                  <a:latin typeface="Calibri"/>
                </a:rPr>
                <a:t>A tax equal to the external cost makes each driver face the social marginal cost, and the market lands on QExt on its own.</a:t>
              </a: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34" name="TextBox 33"/>
          <p:cNvSpPr txBox="1"/>
          <p:nvPr/>
        </p:nvSpPr>
        <p:spPr>
          <a:xfrm>
            <a:off x="11475720" y="6583680"/>
            <a:ext cx="502920" cy="292608"/>
          </a:xfrm>
          <a:prstGeom prst="rect">
            <a:avLst/>
          </a:prstGeom>
          <a:noFill/>
        </p:spPr>
        <p:txBody>
          <a:bodyPr wrap="none" lIns="0" rIns="0" tIns="0" bIns="0">
            <a:spAutoFit/>
          </a:bodyPr>
          <a:lstStyle/>
          <a:p>
            <a:pPr algn="r"/>
            <a:fld id="{6C154A0D-CC2C-5E04-B2ED-6C5EC1C1A25E}" type="slidenum">
              <a:rPr lang="en-US" sz="1200" dirty="0">
                <a:solidFill>
                  <a:srgbClr val="555B66"/>
                </a:solidFill>
                <a:latin typeface="Calibri"/>
              </a:rPr>
              <a:t>80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35"/>
                                        </p:tgtEl>
                                        <p:attrNameLst>
                                          <p:attrName>style.visibility</p:attrName>
                                        </p:attrNameLst>
                                      </p:cBhvr>
                                      <p:to>
                                        <p:strVal val="visible"/>
                                      </p:to>
                                    </p:set>
                                    <p:animEffect transition="in" filter="fade">
                                      <p:cBhvr>
                                        <p:cTn id="67" dur="500"/>
                                        <p:tgtEl>
                                          <p:spTgt spid="13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34"/>
                                        </p:tgtEl>
                                        <p:attrNameLst>
                                          <p:attrName>style.visibility</p:attrName>
                                        </p:attrNameLst>
                                      </p:cBhvr>
                                      <p:to>
                                        <p:strVal val="visible"/>
                                      </p:to>
                                    </p:set>
                                    <p:animEffect transition="in" filter="fade">
                                      <p:cBhvr>
                                        <p:cTn id="7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Externality: Airplane Noise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3" name="Group pair 113"/>
          <p:cNvGrpSpPr/>
          <p:nvPr/>
        </p:nvGrpSpPr>
        <p:grpSpPr>
          <a:xfrm>
            <a:off x="548640" y="1463040"/>
            <a:ext cx="6949440" cy="3986784"/>
            <a:chOff x="548640" y="1463040"/>
            <a:chExt cx="6949440" cy="3986784"/>
          </a:xfrm>
        </p:grpSpPr>
        <p:pic>
          <p:nvPicPr>
            <p:cNvPr id="7" name="Picture 6" descr="NV_s75_3_4d362b83.wmf"/>
            <p:cNvPicPr>
              <a:picLocks noChangeAspect="1"/>
            </p:cNvPicPr>
            <p:nvPr/>
          </p:nvPicPr>
          <p:blipFill>
            <a:blip r:embed="rId2"/>
            <a:stretch>
              <a:fillRect/>
            </a:stretch>
          </p:blipFill>
          <p:spPr>
            <a:xfrm>
              <a:off x="548640" y="1463040"/>
              <a:ext cx="6949440" cy="3648940"/>
            </a:xfrm>
            <a:prstGeom prst="rect">
              <a:avLst/>
            </a:prstGeom>
          </p:spPr>
        </p:pic>
        <p:sp>
          <p:nvSpPr>
            <p:cNvPr id="9" name="TextBox 8"/>
            <p:cNvSpPr txBox="1"/>
            <p:nvPr/>
          </p:nvSpPr>
          <p:spPr>
            <a:xfrm>
              <a:off x="548640" y="5175504"/>
              <a:ext cx="6949440" cy="274320"/>
            </a:xfrm>
            <a:prstGeom prst="rect">
              <a:avLst/>
            </a:prstGeom>
            <a:noFill/>
          </p:spPr>
          <p:txBody>
            <a:bodyPr wrap="square" lIns="0" rIns="0" tIns="0" bIns="0">
              <a:spAutoFit/>
            </a:bodyPr>
            <a:lstStyle/>
            <a:p>
              <a:pPr algn="ctr"/>
              <a:r>
                <a:rPr sz="1200" b="0" i="1" u="none">
                  <a:solidFill>
                    <a:srgbClr val="555B66"/>
                  </a:solidFill>
                  <a:latin typeface="Calibri"/>
                </a:rPr>
                <a:t>Noise contours around Santa Monica Airport</a:t>
              </a:r>
            </a:p>
          </p:txBody>
        </p:sp>
      </p:grpSp>
      <p:pic>
        <p:nvPicPr>
          <p:cNvPr id="8" name="Picture 7" descr="nv_smo_lookout_article.png"/>
          <p:cNvPicPr>
            <a:picLocks noChangeAspect="1"/>
          </p:cNvPicPr>
          <p:nvPr/>
        </p:nvPicPr>
        <p:blipFill>
          <a:blip r:embed="rId3"/>
          <a:stretch>
            <a:fillRect/>
          </a:stretch>
        </p:blipFill>
        <p:spPr>
          <a:xfrm>
            <a:off x="7507224" y="3749039"/>
            <a:ext cx="4690872" cy="2798064"/>
          </a:xfrm>
          <a:prstGeom prst="rect">
            <a:avLst/>
          </a:prstGeom>
          <a:effectLst>
            <a:outerShdw blurRad="50800" dist="38100" dir="2700000" algn="tl" rotWithShape="0">
              <a:srgbClr val="000000">
                <a:alpha val="45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189B3304-CDE3-5386-93BE-6E7B3B0EFE8D}" type="slidenum">
              <a:rPr lang="en-US" sz="1200" dirty="0">
                <a:solidFill>
                  <a:srgbClr val="555B66"/>
                </a:solidFill>
                <a:latin typeface="Calibri"/>
              </a:rPr>
              <a:t>81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Externalities</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 Pigouvian Tax for Noise? The Case of Santa Monica Airport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1691640" y="1709928"/>
            <a:ext cx="0" cy="39136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91640" y="5623560"/>
            <a:ext cx="59253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1307592"/>
            <a:ext cx="1828800" cy="292608"/>
          </a:xfrm>
          <a:prstGeom prst="rect">
            <a:avLst/>
          </a:prstGeom>
          <a:noFill/>
        </p:spPr>
        <p:txBody>
          <a:bodyPr wrap="square" lIns="0" rIns="0" tIns="0" bIns="0">
            <a:spAutoFit/>
          </a:bodyPr>
          <a:lstStyle/>
          <a:p>
            <a:pPr algn="l"/>
            <a:r>
              <a:rPr sz="1700" b="1" i="1" u="none">
                <a:solidFill>
                  <a:srgbClr val="0B2B4E"/>
                </a:solidFill>
                <a:latin typeface="Calibri"/>
              </a:rPr>
              <a:t>Price</a:t>
            </a:r>
          </a:p>
        </p:txBody>
      </p:sp>
      <p:sp>
        <p:nvSpPr>
          <p:cNvPr id="10" name="TextBox 9"/>
          <p:cNvSpPr txBox="1"/>
          <p:nvPr/>
        </p:nvSpPr>
        <p:spPr>
          <a:xfrm>
            <a:off x="7086600" y="5715000"/>
            <a:ext cx="1645920" cy="292608"/>
          </a:xfrm>
          <a:prstGeom prst="rect">
            <a:avLst/>
          </a:prstGeom>
          <a:noFill/>
        </p:spPr>
        <p:txBody>
          <a:bodyPr wrap="square" lIns="0" rIns="0" tIns="0" bIns="0">
            <a:spAutoFit/>
          </a:bodyPr>
          <a:lstStyle/>
          <a:p>
            <a:pPr algn="l"/>
            <a:r>
              <a:rPr sz="1700" b="1" i="1" u="none">
                <a:solidFill>
                  <a:srgbClr val="0B2B4E"/>
                </a:solidFill>
                <a:latin typeface="Calibri"/>
              </a:rPr>
              <a:t>Flights per day</a:t>
            </a:r>
          </a:p>
        </p:txBody>
      </p:sp>
      <p:cxnSp>
        <p:nvCxnSpPr>
          <p:cNvPr id="11" name="Connector 10"/>
          <p:cNvCxnSpPr/>
          <p:nvPr/>
        </p:nvCxnSpPr>
        <p:spPr>
          <a:xfrm>
            <a:off x="1691640" y="3540760"/>
            <a:ext cx="5270445" cy="187452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26679" y="4974336"/>
            <a:ext cx="3291840" cy="566928"/>
          </a:xfrm>
          <a:prstGeom prst="rect">
            <a:avLst/>
          </a:prstGeom>
          <a:noFill/>
        </p:spPr>
        <p:txBody>
          <a:bodyPr wrap="square" lIns="0" rIns="0" tIns="0" bIns="0">
            <a:spAutoFit/>
          </a:bodyPr>
          <a:lstStyle/>
          <a:p>
            <a:pPr algn="l"/>
            <a:r>
              <a:rPr sz="1700" b="1" i="0" u="none">
                <a:solidFill>
                  <a:srgbClr val="0B2B4E"/>
                </a:solidFill>
                <a:latin typeface="Calibri"/>
              </a:rPr>
              <a:t>D  (MB of flying)</a:t>
            </a:r>
          </a:p>
        </p:txBody>
      </p:sp>
      <p:cxnSp>
        <p:nvCxnSpPr>
          <p:cNvPr id="13" name="Connector 12"/>
          <p:cNvCxnSpPr/>
          <p:nvPr/>
        </p:nvCxnSpPr>
        <p:spPr>
          <a:xfrm>
            <a:off x="1691640" y="4790440"/>
            <a:ext cx="5270445" cy="0"/>
          </a:xfrm>
          <a:prstGeom prst="line">
            <a:avLst/>
          </a:prstGeom>
          <a:ln w="31750">
            <a:solidFill>
              <a:srgbClr val="0B2B4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26679" y="4516120"/>
            <a:ext cx="3931920" cy="566928"/>
          </a:xfrm>
          <a:prstGeom prst="rect">
            <a:avLst/>
          </a:prstGeom>
          <a:noFill/>
        </p:spPr>
        <p:txBody>
          <a:bodyPr wrap="square" lIns="0" rIns="0" tIns="0" bIns="0">
            <a:spAutoFit/>
          </a:bodyPr>
          <a:lstStyle/>
          <a:p>
            <a:pPr algn="l"/>
            <a:r>
              <a:rPr sz="1700" b="1" i="0" u="none">
                <a:solidFill>
                  <a:srgbClr val="0B2B4E"/>
                </a:solidFill>
                <a:latin typeface="Calibri"/>
              </a:rPr>
              <a:t>Pilots' internal
marginal cost (MCI)</a:t>
            </a:r>
          </a:p>
        </p:txBody>
      </p:sp>
      <p:cxnSp>
        <p:nvCxnSpPr>
          <p:cNvPr id="15" name="Connector 14"/>
          <p:cNvCxnSpPr/>
          <p:nvPr/>
        </p:nvCxnSpPr>
        <p:spPr>
          <a:xfrm>
            <a:off x="1691640" y="3124200"/>
            <a:ext cx="5270445" cy="0"/>
          </a:xfrm>
          <a:prstGeom prst="line">
            <a:avLst/>
          </a:prstGeom>
          <a:ln w="34925">
            <a:solidFill>
              <a:srgbClr val="E09F3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26679" y="2849880"/>
            <a:ext cx="3931920" cy="566928"/>
          </a:xfrm>
          <a:prstGeom prst="rect">
            <a:avLst/>
          </a:prstGeom>
          <a:noFill/>
        </p:spPr>
        <p:txBody>
          <a:bodyPr wrap="square" lIns="0" rIns="0" tIns="0" bIns="0">
            <a:spAutoFit/>
          </a:bodyPr>
          <a:lstStyle/>
          <a:p>
            <a:pPr algn="l"/>
            <a:r>
              <a:rPr sz="1700" b="1" i="0" u="none">
                <a:solidFill>
                  <a:srgbClr val="E09F3E"/>
                </a:solidFill>
                <a:latin typeface="Calibri"/>
              </a:rPr>
              <a:t>MCI + tax = SMC
(social marginal cost)</a:t>
            </a:r>
          </a:p>
        </p:txBody>
      </p:sp>
      <p:cxnSp>
        <p:nvCxnSpPr>
          <p:cNvPr id="17" name="Connector 16"/>
          <p:cNvCxnSpPr/>
          <p:nvPr/>
        </p:nvCxnSpPr>
        <p:spPr>
          <a:xfrm flipV="1">
            <a:off x="3162462" y="3124200"/>
            <a:ext cx="0" cy="1666240"/>
          </a:xfrm>
          <a:prstGeom prst="line">
            <a:avLst/>
          </a:prstGeom>
          <a:ln w="31750">
            <a:solidFill>
              <a:srgbClr val="A2162A"/>
            </a:solidFill>
            <a:tailEnd type="triangle" w="med" h="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54388" y="3801872"/>
            <a:ext cx="2743200" cy="310896"/>
          </a:xfrm>
          <a:prstGeom prst="rect">
            <a:avLst/>
          </a:prstGeom>
          <a:noFill/>
        </p:spPr>
        <p:txBody>
          <a:bodyPr wrap="square" lIns="0" rIns="0" tIns="0" bIns="0">
            <a:spAutoFit/>
          </a:bodyPr>
          <a:lstStyle/>
          <a:p>
            <a:pPr algn="l"/>
            <a:r>
              <a:rPr sz="1700" b="1" i="0" u="none">
                <a:solidFill>
                  <a:srgbClr val="A2162A"/>
                </a:solidFill>
                <a:latin typeface="Calibri"/>
              </a:rPr>
              <a:t>Noise tax = EMC</a:t>
            </a:r>
          </a:p>
        </p:txBody>
      </p:sp>
      <p:sp>
        <p:nvSpPr>
          <p:cNvPr id="19" name="TextBox 18"/>
          <p:cNvSpPr txBox="1"/>
          <p:nvPr/>
        </p:nvSpPr>
        <p:spPr>
          <a:xfrm>
            <a:off x="1234440" y="5678424"/>
            <a:ext cx="914400" cy="274320"/>
          </a:xfrm>
          <a:prstGeom prst="rect">
            <a:avLst/>
          </a:prstGeom>
          <a:noFill/>
        </p:spPr>
        <p:txBody>
          <a:bodyPr wrap="square" lIns="0" rIns="0" tIns="0" bIns="0">
            <a:spAutoFit/>
          </a:bodyPr>
          <a:lstStyle/>
          <a:p>
            <a:pPr algn="ctr"/>
            <a:r>
              <a:rPr sz="1700" b="1" i="1" u="none">
                <a:solidFill>
                  <a:srgbClr val="0B2B4E"/>
                </a:solidFill>
                <a:latin typeface="Calibri"/>
              </a:rPr>
              <a:t>Q* = 0</a:t>
            </a:r>
          </a:p>
        </p:txBody>
      </p:sp>
      <p:sp>
        <p:nvSpPr>
          <p:cNvPr id="20" name="Oval 19"/>
          <p:cNvSpPr/>
          <p:nvPr/>
        </p:nvSpPr>
        <p:spPr>
          <a:xfrm>
            <a:off x="1623060" y="347218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24" name="TextBox 23"/>
          <p:cNvSpPr txBox="1"/>
          <p:nvPr/>
        </p:nvSpPr>
        <p:spPr>
          <a:xfrm>
            <a:off x="11475720" y="6583680"/>
            <a:ext cx="502920" cy="292608"/>
          </a:xfrm>
          <a:prstGeom prst="rect">
            <a:avLst/>
          </a:prstGeom>
          <a:noFill/>
        </p:spPr>
        <p:txBody>
          <a:bodyPr wrap="none" lIns="0" rIns="0" tIns="0" bIns="0">
            <a:spAutoFit/>
          </a:bodyPr>
          <a:lstStyle/>
          <a:p>
            <a:pPr algn="r"/>
            <a:fld id="{EBC46955-A002-5DA8-B6D4-80773DB8CA62}" type="slidenum">
              <a:rPr lang="en-US" sz="1200" dirty="0">
                <a:solidFill>
                  <a:srgbClr val="555B66"/>
                </a:solidFill>
                <a:latin typeface="Calibri"/>
              </a:rPr>
              <a:t>82</a:t>
            </a:fld>
          </a:p>
        </p:txBody>
      </p:sp>
      <p:sp>
        <p:nvSpPr>
          <p:cNvPr id="25" name="Rounded Rectangle 24"/>
          <p:cNvSpPr/>
          <p:nvPr/>
        </p:nvSpPr>
        <p:spPr>
          <a:xfrm>
            <a:off x="883767" y="5870448"/>
            <a:ext cx="10424160" cy="530352"/>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SMC lies above willingness to pay at every quantity — a corner solution at Q* = 0, so close the airport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4 · Summary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Module 4: Summary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463040"/>
            <a:ext cx="11687697" cy="4892040"/>
          </a:xfrm>
          <a:prstGeom prst="rect">
            <a:avLst/>
          </a:prstGeom>
          <a:noFill/>
        </p:spPr>
        <p:txBody>
          <a:bodyPr wrap="square" lIns="0" rIns="0" tIns="0" bIns="0" anchor="ctr">
            <a:spAutoFit/>
          </a:bodyPr>
          <a:lstStyle>
            <a:lvl1pPr marL="342900" indent="-342900">
              <a:spcBef>
                <a:spcPts val="11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a:latin typeface="Calibri"/>
              </a:rPr>
              <a:t>Perfect competition: the firm is a price taker, so MR = P</a:t>
            </a:r>
          </a:p>
          <a:p>
            <a:pPr algn="l" lvl="1"/>
            <a:r>
              <a:rPr>
                <a:latin typeface="Calibri"/>
              </a:rPr>
              <a:t>Profit maximization: MC = MR = P gives Q*</a:t>
            </a:r>
          </a:p>
          <a:p>
            <a:pPr algn="l"/>
            <a:r>
              <a:rPr>
                <a:latin typeface="Calibri"/>
              </a:rPr>
              <a:t>The decision to operate in the short run</a:t>
            </a:r>
          </a:p>
          <a:p>
            <a:pPr algn="l" lvl="1"/>
            <a:r>
              <a:rPr>
                <a:latin typeface="Calibri"/>
              </a:rPr>
              <a:t>Operate if P ≥ AVC; shut down if P &lt; AVC</a:t>
            </a:r>
          </a:p>
          <a:p>
            <a:pPr algn="l"/>
            <a:r>
              <a:rPr>
                <a:latin typeface="Calibri"/>
              </a:rPr>
              <a:t>The decision to operate in the long run</a:t>
            </a:r>
          </a:p>
          <a:p>
            <a:pPr algn="l" lvl="1"/>
            <a:r>
              <a:rPr>
                <a:latin typeface="Calibri"/>
              </a:rPr>
              <a:t>Operate if P ≥ LAC; exit or never enter if P &lt; LAC</a:t>
            </a:r>
          </a:p>
          <a:p>
            <a:pPr algn="l" lvl="1"/>
            <a:r>
              <a:rPr>
                <a:latin typeface="Calibri"/>
              </a:rPr>
              <a:t>Long-run equilibrium: P = LMC = LAC, so profit is zero</a:t>
            </a:r>
          </a:p>
          <a:p>
            <a:pPr algn="l"/>
            <a:r>
              <a:rPr>
                <a:latin typeface="Calibri"/>
              </a:rPr>
              <a:t>Market distortions: price controls and taxes</a:t>
            </a:r>
          </a:p>
          <a:p>
            <a:pPr algn="l" lvl="1"/>
            <a:r>
              <a:rPr>
                <a:latin typeface="Calibri"/>
              </a:rPr>
              <a:t>Winners, losers, and deadweight loss</a:t>
            </a:r>
          </a:p>
          <a:p>
            <a:pPr algn="l"/>
            <a:r>
              <a:rPr>
                <a:latin typeface="Calibri"/>
              </a:rPr>
              <a:t>Externalities, and the Pigouvian tax that corrects them</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4  ·  Competitive Markets and Market Interventions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D3E3D20-3DC9-5483-AA90-4FD580D513B5}" type="slidenum">
              <a:rPr lang="en-US" sz="1200" dirty="0">
                <a:solidFill>
                  <a:srgbClr val="555B66"/>
                </a:solidFill>
                <a:latin typeface="Calibri"/>
              </a:rPr>
              <a:t>83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fade">
                                      <p:cBhvr>
                                        <p:cTn id="18" dur="500"/>
                                        <p:tgtEl>
                                          <p:spTgt spid="7">
                                            <p:txEl>
                                              <p:pRg st="5" end="5"/>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animEffect transition="in" filter="fade">
                                      <p:cBhvr>
                                        <p:cTn id="21" dur="500"/>
                                        <p:tgtEl>
                                          <p:spTgt spid="7">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7" end="7"/>
                                            </p:txEl>
                                          </p:spTgt>
                                        </p:tgtEl>
                                        <p:attrNameLst>
                                          <p:attrName>style.visibility</p:attrName>
                                        </p:attrNameLst>
                                      </p:cBhvr>
                                      <p:to>
                                        <p:strVal val="visible"/>
                                      </p:to>
                                    </p:set>
                                    <p:animEffect transition="in" filter="fade">
                                      <p:cBhvr>
                                        <p:cTn id="26" dur="500"/>
                                        <p:tgtEl>
                                          <p:spTgt spid="7">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animEffect transition="in" filter="fade">
                                      <p:cBhvr>
                                        <p:cTn id="29" dur="500"/>
                                        <p:tgtEl>
                                          <p:spTgt spid="7">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