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tags/tag4.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5.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6.xml" ContentType="application/vnd.openxmlformats-officedocument.presentationml.tags+xml"/>
  <Override PartName="/ppt/notesSlides/notesSlide16.xml" ContentType="application/vnd.openxmlformats-officedocument.presentationml.notesSlide+xml"/>
  <Override PartName="/ppt/tags/tag7.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8.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9.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10.xml" ContentType="application/vnd.openxmlformats-officedocument.presentationml.tags+xml"/>
  <Override PartName="/ppt/notesSlides/notesSlide32.xml" ContentType="application/vnd.openxmlformats-officedocument.presentationml.notesSlide+xml"/>
  <Override PartName="/ppt/tags/tag11.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12.xml" ContentType="application/vnd.openxmlformats-officedocument.presentationml.tags+xml"/>
  <Override PartName="/ppt/notesSlides/notesSlide35.xml" ContentType="application/vnd.openxmlformats-officedocument.presentationml.notesSlide+xml"/>
  <Override PartName="/ppt/tags/tag13.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14.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15.xml" ContentType="application/vnd.openxmlformats-officedocument.presentationml.tags+xml"/>
  <Override PartName="/ppt/notesSlides/notesSlide41.xml" ContentType="application/vnd.openxmlformats-officedocument.presentationml.notesSlide+xml"/>
  <Override PartName="/ppt/tags/tag16.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17.xml" ContentType="application/vnd.openxmlformats-officedocument.presentationml.tags+xml"/>
  <Override PartName="/ppt/notesSlides/notesSlide49.xml" ContentType="application/vnd.openxmlformats-officedocument.presentationml.notesSlide+xml"/>
  <Override PartName="/ppt/tags/tag18.xml" ContentType="application/vnd.openxmlformats-officedocument.presentationml.tags+xml"/>
  <Override PartName="/ppt/notesSlides/notesSlide50.xml" ContentType="application/vnd.openxmlformats-officedocument.presentationml.notesSlide+xml"/>
  <Override PartName="/ppt/tags/tag19.xml" ContentType="application/vnd.openxmlformats-officedocument.presentationml.tags+xml"/>
  <Override PartName="/ppt/notesSlides/notesSlide51.xml" ContentType="application/vnd.openxmlformats-officedocument.presentationml.notesSlide+xml"/>
  <Override PartName="/ppt/tags/tag20.xml" ContentType="application/vnd.openxmlformats-officedocument.presentationml.tags+xml"/>
  <Override PartName="/ppt/notesSlides/notesSlide52.xml" ContentType="application/vnd.openxmlformats-officedocument.presentationml.notesSlide+xml"/>
  <Override PartName="/ppt/tags/tag21.xml" ContentType="application/vnd.openxmlformats-officedocument.presentationml.tags+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tags/tag22.xml" ContentType="application/vnd.openxmlformats-officedocument.presentationml.tags+xml"/>
  <Override PartName="/ppt/notesSlides/notesSlide55.xml" ContentType="application/vnd.openxmlformats-officedocument.presentationml.notesSlide+xml"/>
  <Override PartName="/ppt/tags/tag23.xml" ContentType="application/vnd.openxmlformats-officedocument.presentationml.tags+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tags/tag24.xml" ContentType="application/vnd.openxmlformats-officedocument.presentationml.tags+xml"/>
  <Override PartName="/ppt/notesSlides/notesSlide58.xml" ContentType="application/vnd.openxmlformats-officedocument.presentationml.notesSlide+xml"/>
  <Override PartName="/ppt/tags/tag25.xml" ContentType="application/vnd.openxmlformats-officedocument.presentationml.tags+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tags/tag26.xml" ContentType="application/vnd.openxmlformats-officedocument.presentationml.tags+xml"/>
  <Override PartName="/ppt/notesSlides/notesSlide61.xml" ContentType="application/vnd.openxmlformats-officedocument.presentationml.notesSlide+xml"/>
  <Override PartName="/ppt/tags/tag27.xml" ContentType="application/vnd.openxmlformats-officedocument.presentationml.tags+xml"/>
  <Override PartName="/ppt/notesSlides/notesSlide62.xml" ContentType="application/vnd.openxmlformats-officedocument.presentationml.notesSlide+xml"/>
  <Override PartName="/ppt/tags/tag28.xml" ContentType="application/vnd.openxmlformats-officedocument.presentationml.tags+xml"/>
  <Override PartName="/ppt/notesSlides/notesSlide63.xml" ContentType="application/vnd.openxmlformats-officedocument.presentationml.notesSlide+xml"/>
  <Override PartName="/ppt/tags/tag29.xml" ContentType="application/vnd.openxmlformats-officedocument.presentationml.tags+xml"/>
  <Override PartName="/ppt/notesSlides/notesSlide64.xml" ContentType="application/vnd.openxmlformats-officedocument.presentationml.notesSlide+xml"/>
  <Override PartName="/ppt/tags/tag30.xml" ContentType="application/vnd.openxmlformats-officedocument.presentationml.tags+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9" r:id="rId1"/>
    <p:sldMasterId id="2147483756" r:id="rId2"/>
    <p:sldMasterId id="2147483724" r:id="rId3"/>
    <p:sldMasterId id="2147483769" r:id="rId4"/>
  </p:sldMasterIdLst>
  <p:notesMasterIdLst>
    <p:notesMasterId r:id="rId82"/>
  </p:notesMasterIdLst>
  <p:handoutMasterIdLst>
    <p:handoutMasterId r:id="rId83"/>
  </p:handoutMasterIdLst>
  <p:sldIdLst>
    <p:sldId id="257" r:id="rId5"/>
    <p:sldId id="901" r:id="rId6"/>
    <p:sldId id="902" r:id="rId7"/>
    <p:sldId id="903" r:id="rId8"/>
    <p:sldId id="905" r:id="rId9"/>
    <p:sldId id="906" r:id="rId10"/>
    <p:sldId id="900" r:id="rId11"/>
    <p:sldId id="825" r:id="rId12"/>
    <p:sldId id="826" r:id="rId13"/>
    <p:sldId id="827" r:id="rId14"/>
    <p:sldId id="891" r:id="rId15"/>
    <p:sldId id="828" r:id="rId16"/>
    <p:sldId id="829" r:id="rId17"/>
    <p:sldId id="830" r:id="rId18"/>
    <p:sldId id="831" r:id="rId19"/>
    <p:sldId id="832" r:id="rId20"/>
    <p:sldId id="833" r:id="rId21"/>
    <p:sldId id="834" r:id="rId22"/>
    <p:sldId id="835" r:id="rId23"/>
    <p:sldId id="907" r:id="rId24"/>
    <p:sldId id="836" r:id="rId25"/>
    <p:sldId id="837" r:id="rId26"/>
    <p:sldId id="838" r:id="rId27"/>
    <p:sldId id="816" r:id="rId28"/>
    <p:sldId id="893" r:id="rId29"/>
    <p:sldId id="840" r:id="rId30"/>
    <p:sldId id="841" r:id="rId31"/>
    <p:sldId id="842" r:id="rId32"/>
    <p:sldId id="843" r:id="rId33"/>
    <p:sldId id="844" r:id="rId34"/>
    <p:sldId id="845" r:id="rId35"/>
    <p:sldId id="846" r:id="rId36"/>
    <p:sldId id="847" r:id="rId37"/>
    <p:sldId id="848" r:id="rId38"/>
    <p:sldId id="849" r:id="rId39"/>
    <p:sldId id="850" r:id="rId40"/>
    <p:sldId id="908" r:id="rId41"/>
    <p:sldId id="852" r:id="rId42"/>
    <p:sldId id="853" r:id="rId43"/>
    <p:sldId id="854" r:id="rId44"/>
    <p:sldId id="855" r:id="rId45"/>
    <p:sldId id="856" r:id="rId46"/>
    <p:sldId id="857" r:id="rId47"/>
    <p:sldId id="804" r:id="rId48"/>
    <p:sldId id="694" r:id="rId49"/>
    <p:sldId id="860" r:id="rId50"/>
    <p:sldId id="895" r:id="rId51"/>
    <p:sldId id="861" r:id="rId52"/>
    <p:sldId id="862" r:id="rId53"/>
    <p:sldId id="910" r:id="rId54"/>
    <p:sldId id="863" r:id="rId55"/>
    <p:sldId id="864" r:id="rId56"/>
    <p:sldId id="858" r:id="rId57"/>
    <p:sldId id="350" r:id="rId58"/>
    <p:sldId id="789" r:id="rId59"/>
    <p:sldId id="790" r:id="rId60"/>
    <p:sldId id="780" r:id="rId61"/>
    <p:sldId id="897" r:id="rId62"/>
    <p:sldId id="598" r:id="rId63"/>
    <p:sldId id="873" r:id="rId64"/>
    <p:sldId id="571" r:id="rId65"/>
    <p:sldId id="911" r:id="rId66"/>
    <p:sldId id="701" r:id="rId67"/>
    <p:sldId id="339" r:id="rId68"/>
    <p:sldId id="913" r:id="rId69"/>
    <p:sldId id="914" r:id="rId70"/>
    <p:sldId id="894" r:id="rId71"/>
    <p:sldId id="364" r:id="rId72"/>
    <p:sldId id="374" r:id="rId73"/>
    <p:sldId id="781" r:id="rId74"/>
    <p:sldId id="859" r:id="rId75"/>
    <p:sldId id="675" r:id="rId76"/>
    <p:sldId id="673" r:id="rId77"/>
    <p:sldId id="898" r:id="rId78"/>
    <p:sldId id="727" r:id="rId79"/>
    <p:sldId id="762" r:id="rId80"/>
    <p:sldId id="361" r:id="rId81"/>
  </p:sldIdLst>
  <p:sldSz cx="9144000" cy="6858000" type="screen4x3"/>
  <p:notesSz cx="7315200" cy="9601200"/>
  <p:custDataLst>
    <p:tags r:id="rId8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iuliano, Paola" initials="GP" lastIdx="51" clrIdx="0">
    <p:extLst>
      <p:ext uri="{19B8F6BF-5375-455C-9EA6-DF929625EA0E}">
        <p15:presenceInfo xmlns:p15="http://schemas.microsoft.com/office/powerpoint/2012/main" userId="S::giulpao@ad.ucla.edu::132bae3d-d350-492a-913b-ab702ff24d3d" providerId="AD"/>
      </p:ext>
    </p:extLst>
  </p:cmAuthor>
  <p:cmAuthor id="2" name="CLEMENCE TRICAUD" initials="CT" lastIdx="144" clrIdx="1">
    <p:extLst>
      <p:ext uri="{19B8F6BF-5375-455C-9EA6-DF929625EA0E}">
        <p15:presenceInfo xmlns:p15="http://schemas.microsoft.com/office/powerpoint/2012/main" userId="S-1-5-21-1914341619-2963887621-4192079504-39280" providerId="AD"/>
      </p:ext>
    </p:extLst>
  </p:cmAuthor>
  <p:cmAuthor id="3" name="Voigtlaender, Nico" initials="VN" lastIdx="38" clrIdx="2">
    <p:extLst>
      <p:ext uri="{19B8F6BF-5375-455C-9EA6-DF929625EA0E}">
        <p15:presenceInfo xmlns:p15="http://schemas.microsoft.com/office/powerpoint/2012/main" userId="Voigtlaender, Nico" providerId="None"/>
      </p:ext>
    </p:extLst>
  </p:cmAuthor>
  <p:cmAuthor id="4" name="Nico Voigtlaender" initials="NV" lastIdx="29" clrIdx="3">
    <p:extLst>
      <p:ext uri="{19B8F6BF-5375-455C-9EA6-DF929625EA0E}">
        <p15:presenceInfo xmlns:p15="http://schemas.microsoft.com/office/powerpoint/2012/main" userId="Nico Voigtlaender" providerId="None"/>
      </p:ext>
    </p:extLst>
  </p:cmAuthor>
  <p:cmAuthor id="5" name="Wasserman, Melanie" initials="WM" lastIdx="44" clrIdx="4">
    <p:extLst>
      <p:ext uri="{19B8F6BF-5375-455C-9EA6-DF929625EA0E}">
        <p15:presenceInfo xmlns:p15="http://schemas.microsoft.com/office/powerpoint/2012/main" userId="S::mswasserman@ad.ucla.edu::dc9d8677-d4c7-4bfe-9320-b2694e2f633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1B8BD5"/>
    <a:srgbClr val="FFFFFF"/>
    <a:srgbClr val="002B56"/>
    <a:srgbClr val="002B4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935" autoAdjust="0"/>
    <p:restoredTop sz="88957" autoAdjust="0"/>
  </p:normalViewPr>
  <p:slideViewPr>
    <p:cSldViewPr snapToGrid="0" snapToObjects="1">
      <p:cViewPr varScale="1">
        <p:scale>
          <a:sx n="102" d="100"/>
          <a:sy n="102" d="100"/>
        </p:scale>
        <p:origin x="1482" y="72"/>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0" d="100"/>
        <a:sy n="60" d="100"/>
      </p:scale>
      <p:origin x="0" y="-5142"/>
    </p:cViewPr>
  </p:sorterViewPr>
  <p:notesViewPr>
    <p:cSldViewPr snapToGrid="0" snapToObjects="1">
      <p:cViewPr varScale="1">
        <p:scale>
          <a:sx n="87" d="100"/>
          <a:sy n="87" d="100"/>
        </p:scale>
        <p:origin x="192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ags" Target="tags/tag1.xml"/><Relationship Id="rId89"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commentAuthors" Target="commentAuthor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handoutMaster" Target="handoutMasters/handoutMaster1.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viewProps" Target="viewProps.xml"/><Relationship Id="rId61" Type="http://schemas.openxmlformats.org/officeDocument/2006/relationships/slide" Target="slides/slide57.xml"/><Relationship Id="rId82" Type="http://schemas.openxmlformats.org/officeDocument/2006/relationships/notesMaster" Target="notesMasters/notesMaster1.xml"/><Relationship Id="rId19" Type="http://schemas.openxmlformats.org/officeDocument/2006/relationships/slide" Target="slides/slide15.xml"/></Relationships>
</file>

<file path=ppt/charts/_rels/chart1.xml.rels><?xml version="1.0" encoding="UTF-8" standalone="yes"?>
<Relationships xmlns="http://schemas.openxmlformats.org/package/2006/relationships"><Relationship Id="rId3" Type="http://schemas.openxmlformats.org/officeDocument/2006/relationships/oleObject" Target="file:///C:\Users\ctricaud\Dropbox\teaching-MBA-405-2021\%23Revised%20Slides\Module%204%20-%20Cabbage%20Cost%20Function.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poly"/>
            <c:order val="2"/>
            <c:dispRSqr val="0"/>
            <c:dispEq val="0"/>
          </c:trendline>
          <c:xVal>
            <c:numRef>
              <c:f>'For students'!$F$5:$F$16</c:f>
              <c:numCache>
                <c:formatCode>General</c:formatCode>
                <c:ptCount val="12"/>
                <c:pt idx="0">
                  <c:v>50</c:v>
                </c:pt>
                <c:pt idx="1">
                  <c:v>100</c:v>
                </c:pt>
                <c:pt idx="2">
                  <c:v>200</c:v>
                </c:pt>
                <c:pt idx="3">
                  <c:v>300</c:v>
                </c:pt>
                <c:pt idx="4">
                  <c:v>400</c:v>
                </c:pt>
                <c:pt idx="5">
                  <c:v>500</c:v>
                </c:pt>
                <c:pt idx="6">
                  <c:v>600</c:v>
                </c:pt>
                <c:pt idx="7">
                  <c:v>700</c:v>
                </c:pt>
                <c:pt idx="8">
                  <c:v>800</c:v>
                </c:pt>
                <c:pt idx="9">
                  <c:v>900</c:v>
                </c:pt>
                <c:pt idx="10">
                  <c:v>1000</c:v>
                </c:pt>
                <c:pt idx="11">
                  <c:v>1100</c:v>
                </c:pt>
              </c:numCache>
            </c:numRef>
          </c:xVal>
          <c:yVal>
            <c:numRef>
              <c:f>'For students'!$G$5:$G$16</c:f>
              <c:numCache>
                <c:formatCode>General</c:formatCode>
                <c:ptCount val="12"/>
                <c:pt idx="0">
                  <c:v>35100</c:v>
                </c:pt>
                <c:pt idx="1">
                  <c:v>33480</c:v>
                </c:pt>
                <c:pt idx="2">
                  <c:v>49220</c:v>
                </c:pt>
                <c:pt idx="3">
                  <c:v>63000</c:v>
                </c:pt>
                <c:pt idx="4">
                  <c:v>74100</c:v>
                </c:pt>
                <c:pt idx="5">
                  <c:v>96000</c:v>
                </c:pt>
                <c:pt idx="6">
                  <c:v>137340</c:v>
                </c:pt>
                <c:pt idx="7">
                  <c:v>148200</c:v>
                </c:pt>
                <c:pt idx="8">
                  <c:v>180500</c:v>
                </c:pt>
                <c:pt idx="9">
                  <c:v>234840</c:v>
                </c:pt>
                <c:pt idx="10">
                  <c:v>264600</c:v>
                </c:pt>
                <c:pt idx="11">
                  <c:v>306520</c:v>
                </c:pt>
              </c:numCache>
            </c:numRef>
          </c:yVal>
          <c:smooth val="0"/>
          <c:extLst>
            <c:ext xmlns:c16="http://schemas.microsoft.com/office/drawing/2014/chart" uri="{C3380CC4-5D6E-409C-BE32-E72D297353CC}">
              <c16:uniqueId val="{00000001-8627-4193-B1D8-6682DC4252CC}"/>
            </c:ext>
          </c:extLst>
        </c:ser>
        <c:dLbls>
          <c:showLegendKey val="0"/>
          <c:showVal val="0"/>
          <c:showCatName val="0"/>
          <c:showSerName val="0"/>
          <c:showPercent val="0"/>
          <c:showBubbleSize val="0"/>
        </c:dLbls>
        <c:axId val="1682334368"/>
        <c:axId val="1559628048"/>
      </c:scatterChart>
      <c:valAx>
        <c:axId val="168233436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559628048"/>
        <c:crosses val="autoZero"/>
        <c:crossBetween val="midCat"/>
      </c:valAx>
      <c:valAx>
        <c:axId val="15596280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682334368"/>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0.30785</cdr:x>
      <cdr:y>0.09308</cdr:y>
    </cdr:from>
    <cdr:to>
      <cdr:x>0.69215</cdr:x>
      <cdr:y>0.16706</cdr:y>
    </cdr:to>
    <cdr:sp macro="" textlink="">
      <cdr:nvSpPr>
        <cdr:cNvPr id="2" name="TextBox 1">
          <a:extLst xmlns:a="http://schemas.openxmlformats.org/drawingml/2006/main">
            <a:ext uri="{FF2B5EF4-FFF2-40B4-BE49-F238E27FC236}">
              <a16:creationId xmlns:a16="http://schemas.microsoft.com/office/drawing/2014/main" id="{B22E63BD-849F-4BED-8F1D-FEE53F169E5A}"/>
            </a:ext>
          </a:extLst>
        </cdr:cNvPr>
        <cdr:cNvSpPr txBox="1"/>
      </cdr:nvSpPr>
      <cdr:spPr>
        <a:xfrm xmlns:a="http://schemas.openxmlformats.org/drawingml/2006/main">
          <a:off x="2155136" y="383459"/>
          <a:ext cx="2690293" cy="304799"/>
        </a:xfrm>
        <a:prstGeom xmlns:a="http://schemas.openxmlformats.org/drawingml/2006/main" prst="rect">
          <a:avLst/>
        </a:prstGeom>
      </cdr:spPr>
      <cdr:style>
        <a:lnRef xmlns:a="http://schemas.openxmlformats.org/drawingml/2006/main" idx="2">
          <a:schemeClr val="accent1"/>
        </a:lnRef>
        <a:fillRef xmlns:a="http://schemas.openxmlformats.org/drawingml/2006/main" idx="1">
          <a:schemeClr val="lt1"/>
        </a:fillRef>
        <a:effectRef xmlns:a="http://schemas.openxmlformats.org/drawingml/2006/main" idx="0">
          <a:schemeClr val="accent1"/>
        </a:effectRef>
        <a:fontRef xmlns:a="http://schemas.openxmlformats.org/drawingml/2006/main" idx="minor">
          <a:schemeClr val="dk1"/>
        </a:fontRef>
      </cdr:style>
      <cdr:txBody>
        <a:bodyPr xmlns:a="http://schemas.openxmlformats.org/drawingml/2006/main" vertOverflow="clip" wrap="square" rtlCol="0"/>
        <a:lstStyle xmlns:a="http://schemas.openxmlformats.org/drawingml/2006/main"/>
        <a:p xmlns:a="http://schemas.openxmlformats.org/drawingml/2006/main">
          <a:pPr algn="ctr"/>
          <a:r>
            <a:rPr lang="en-US" sz="1400" i="0" dirty="0">
              <a:latin typeface="Cambria Math" panose="02040503050406030204" pitchFamily="18" charset="0"/>
            </a:rPr>
            <a:t>𝑇𝐶=30,000+40𝑄+0.2𝑄^2</a:t>
          </a:r>
          <a:endParaRPr lang="en-US" sz="1400"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47" tIns="48324" rIns="96647" bIns="48324" rtlCol="0"/>
          <a:lstStyle>
            <a:lvl1pPr algn="r">
              <a:defRPr sz="1300"/>
            </a:lvl1pPr>
          </a:lstStyle>
          <a:p>
            <a:fld id="{F6D47F8B-C2FC-9540-A0E0-B106EE612B16}" type="datetimeFigureOut">
              <a:rPr lang="en-US" smtClean="0"/>
              <a:t>10/22/2025</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47" tIns="48324" rIns="96647" bIns="48324" rtlCol="0" anchor="b"/>
          <a:lstStyle>
            <a:lvl1pPr algn="r">
              <a:defRPr sz="1300"/>
            </a:lvl1pPr>
          </a:lstStyle>
          <a:p>
            <a:fld id="{14208B52-F97A-2D40-B706-CEC41B37499B}" type="slidenum">
              <a:rPr lang="en-US" smtClean="0"/>
              <a:t>‹#›</a:t>
            </a:fld>
            <a:endParaRPr lang="en-US"/>
          </a:p>
        </p:txBody>
      </p:sp>
    </p:spTree>
    <p:extLst>
      <p:ext uri="{BB962C8B-B14F-4D97-AF65-F5344CB8AC3E}">
        <p14:creationId xmlns:p14="http://schemas.microsoft.com/office/powerpoint/2010/main" val="1431928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47" tIns="48324" rIns="96647" bIns="48324" rtlCol="0"/>
          <a:lstStyle>
            <a:lvl1pPr algn="r">
              <a:defRPr sz="1300"/>
            </a:lvl1pPr>
          </a:lstStyle>
          <a:p>
            <a:fld id="{9FAC1A9B-BDAC-6A46-B8D4-E37AE0BBC950}" type="datetimeFigureOut">
              <a:rPr lang="en-US" smtClean="0"/>
              <a:t>10/22/2025</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47" tIns="48324" rIns="96647" bIns="48324"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47" tIns="48324" rIns="96647" bIns="483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47" tIns="48324" rIns="96647" bIns="48324" rtlCol="0" anchor="b"/>
          <a:lstStyle>
            <a:lvl1pPr algn="r">
              <a:defRPr sz="1300"/>
            </a:lvl1pPr>
          </a:lstStyle>
          <a:p>
            <a:fld id="{8D36AC2A-E969-3C46-9ED8-B46D40C5E669}" type="slidenum">
              <a:rPr lang="en-US" smtClean="0"/>
              <a:t>‹#›</a:t>
            </a:fld>
            <a:endParaRPr lang="en-US"/>
          </a:p>
        </p:txBody>
      </p:sp>
    </p:spTree>
    <p:extLst>
      <p:ext uri="{BB962C8B-B14F-4D97-AF65-F5344CB8AC3E}">
        <p14:creationId xmlns:p14="http://schemas.microsoft.com/office/powerpoint/2010/main" val="119172646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www.sec.gov/ix?doc=/Archives/edgar/data/745732/000074573222000014/rost-20220129.htm#i84f0090916e6417881836bdad18ed609_64"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D36AC2A-E969-3C46-9ED8-B46D40C5E669}" type="slidenum">
              <a:rPr lang="en-US" smtClean="0"/>
              <a:t>1</a:t>
            </a:fld>
            <a:endParaRPr lang="en-US"/>
          </a:p>
        </p:txBody>
      </p:sp>
    </p:spTree>
    <p:extLst>
      <p:ext uri="{BB962C8B-B14F-4D97-AF65-F5344CB8AC3E}">
        <p14:creationId xmlns:p14="http://schemas.microsoft.com/office/powerpoint/2010/main" val="6425635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2</a:t>
            </a:fld>
            <a:endParaRPr lang="en-US"/>
          </a:p>
        </p:txBody>
      </p:sp>
    </p:spTree>
    <p:extLst>
      <p:ext uri="{BB962C8B-B14F-4D97-AF65-F5344CB8AC3E}">
        <p14:creationId xmlns:p14="http://schemas.microsoft.com/office/powerpoint/2010/main" val="4284102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D36AC2A-E969-3C46-9ED8-B46D40C5E669}" type="slidenum">
              <a:rPr lang="en-US" smtClean="0"/>
              <a:t>3</a:t>
            </a:fld>
            <a:endParaRPr lang="en-US"/>
          </a:p>
        </p:txBody>
      </p:sp>
    </p:spTree>
    <p:extLst>
      <p:ext uri="{BB962C8B-B14F-4D97-AF65-F5344CB8AC3E}">
        <p14:creationId xmlns:p14="http://schemas.microsoft.com/office/powerpoint/2010/main" val="12909967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a:t>
            </a:r>
            <a:r>
              <a:rPr lang="en-US" baseline="0" dirty="0"/>
              <a:t> we start thinking about a firm’s competitive environment or </a:t>
            </a:r>
            <a:r>
              <a:rPr lang="en-US" b="1" baseline="0" dirty="0"/>
              <a:t>market structure</a:t>
            </a:r>
            <a:r>
              <a:rPr lang="en-US" b="0" baseline="0" dirty="0"/>
              <a:t>. We categorize market structure using three characteristics:</a:t>
            </a:r>
          </a:p>
          <a:p>
            <a:endParaRPr lang="en-US" b="0" baseline="0" dirty="0"/>
          </a:p>
          <a:p>
            <a:r>
              <a:rPr lang="en-US" b="0" baseline="0" dirty="0"/>
              <a:t>1. </a:t>
            </a:r>
            <a:r>
              <a:rPr lang="en-US" b="1" baseline="0" dirty="0"/>
              <a:t>Number of firms:</a:t>
            </a:r>
            <a:r>
              <a:rPr lang="en-US" b="0" baseline="0" dirty="0"/>
              <a:t> in general, when there are more companies in the market, the market is more competitive.</a:t>
            </a:r>
          </a:p>
          <a:p>
            <a:r>
              <a:rPr lang="en-US" b="0" baseline="0" dirty="0"/>
              <a:t>2. </a:t>
            </a:r>
            <a:r>
              <a:rPr lang="en-US" b="1" baseline="0" dirty="0"/>
              <a:t>Whether the consumer cares which company made the good: </a:t>
            </a:r>
            <a:r>
              <a:rPr lang="en-US" b="0" baseline="0" dirty="0"/>
              <a:t>are the goods identical or can the consumer distinguish who made the good? In general, if goods are closer to identical, the market is more competitive.</a:t>
            </a:r>
          </a:p>
          <a:p>
            <a:r>
              <a:rPr lang="en-US" b="0" baseline="0" dirty="0"/>
              <a:t>3. </a:t>
            </a:r>
            <a:r>
              <a:rPr lang="en-US" b="1" baseline="0" dirty="0"/>
              <a:t>Barriers to entry: </a:t>
            </a:r>
            <a:r>
              <a:rPr lang="en-US" b="0" baseline="0" dirty="0"/>
              <a:t>if new firms can enter the market easily, the market is more competitive.</a:t>
            </a:r>
          </a:p>
        </p:txBody>
      </p:sp>
      <p:sp>
        <p:nvSpPr>
          <p:cNvPr id="4" name="Slide Number Placeholder 3"/>
          <p:cNvSpPr>
            <a:spLocks noGrp="1"/>
          </p:cNvSpPr>
          <p:nvPr>
            <p:ph type="sldNum" sz="quarter" idx="10"/>
          </p:nvPr>
        </p:nvSpPr>
        <p:spPr/>
        <p:txBody>
          <a:bodyPr/>
          <a:lstStyle/>
          <a:p>
            <a:fld id="{8D36AC2A-E969-3C46-9ED8-B46D40C5E669}" type="slidenum">
              <a:rPr lang="en-US" smtClean="0"/>
              <a:t>6</a:t>
            </a:fld>
            <a:endParaRPr lang="en-US"/>
          </a:p>
        </p:txBody>
      </p:sp>
    </p:spTree>
    <p:extLst>
      <p:ext uri="{BB962C8B-B14F-4D97-AF65-F5344CB8AC3E}">
        <p14:creationId xmlns:p14="http://schemas.microsoft.com/office/powerpoint/2010/main" val="8548546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Extent of market power.</a:t>
            </a:r>
            <a:r>
              <a:rPr lang="en-US" sz="1200" kern="1200" dirty="0">
                <a:solidFill>
                  <a:schemeClr val="tx1"/>
                </a:solidFill>
                <a:effectLst/>
                <a:latin typeface="+mn-lt"/>
                <a:ea typeface="+mn-ea"/>
                <a:cs typeface="+mn-cs"/>
              </a:rPr>
              <a:t> The spectrum runs from price taker (today’s topic) to price searchers with increasing degrees of market power (subject of subsequent sessions):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 </a:t>
            </a:r>
            <a:r>
              <a:rPr lang="en-US" sz="1200" b="1" kern="1200" dirty="0">
                <a:solidFill>
                  <a:schemeClr val="tx1"/>
                </a:solidFill>
                <a:effectLst/>
                <a:latin typeface="+mn-lt"/>
                <a:ea typeface="+mn-ea"/>
                <a:cs typeface="+mn-cs"/>
              </a:rPr>
              <a:t>perfectly competitive </a:t>
            </a:r>
            <a:r>
              <a:rPr lang="en-US" sz="1200" kern="1200" dirty="0">
                <a:solidFill>
                  <a:schemeClr val="tx1"/>
                </a:solidFill>
                <a:effectLst/>
                <a:latin typeface="+mn-lt"/>
                <a:ea typeface="+mn-ea"/>
                <a:cs typeface="+mn-cs"/>
              </a:rPr>
              <a:t>firm has no market power; it has such a small percentage of the market that it can exert no effect on price.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 </a:t>
            </a:r>
            <a:r>
              <a:rPr lang="en-US" sz="1200" b="1" kern="1200" dirty="0">
                <a:solidFill>
                  <a:schemeClr val="tx1"/>
                </a:solidFill>
                <a:effectLst/>
                <a:latin typeface="+mn-lt"/>
                <a:ea typeface="+mn-ea"/>
                <a:cs typeface="+mn-cs"/>
              </a:rPr>
              <a:t>monopolistically competitive</a:t>
            </a:r>
            <a:r>
              <a:rPr lang="en-US" sz="1200" kern="1200" dirty="0">
                <a:solidFill>
                  <a:schemeClr val="tx1"/>
                </a:solidFill>
                <a:effectLst/>
                <a:latin typeface="+mn-lt"/>
                <a:ea typeface="+mn-ea"/>
                <a:cs typeface="+mn-cs"/>
              </a:rPr>
              <a:t> firm, such as gas stations and restaurants, offers a differentiated product and thus faces a downward sloping demand curve – offerings of other firms are not perfect substitutes. There is still intense competition because the products can substitute for each other so the elasticity of demand facing each firm tends to be high. Free entry drives long-run profits to zero.</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Oligopolistic</a:t>
            </a:r>
            <a:r>
              <a:rPr lang="en-US" sz="1200" kern="1200" dirty="0">
                <a:solidFill>
                  <a:schemeClr val="tx1"/>
                </a:solidFill>
                <a:effectLst/>
                <a:latin typeface="+mn-lt"/>
                <a:ea typeface="+mn-ea"/>
                <a:cs typeface="+mn-cs"/>
              </a:rPr>
              <a:t> markets are cases of few firms. For example, a duopoly is a special case of an oligopoly with only 2 firms. Interesting strategic issues arise here as you need to think hard about your</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rivals’ response to your firm’s behavior. Entry may be limited.</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Monopolistic</a:t>
            </a:r>
            <a:r>
              <a:rPr lang="en-US" sz="1200" kern="1200" dirty="0">
                <a:solidFill>
                  <a:schemeClr val="tx1"/>
                </a:solidFill>
                <a:effectLst/>
                <a:latin typeface="+mn-lt"/>
                <a:ea typeface="+mn-ea"/>
                <a:cs typeface="+mn-cs"/>
              </a:rPr>
              <a:t> markets are markets with only one seller, such as utilities in most cities (legal monopoly) or Microsoft (quasi-monopoly, due to demand-side economies of scale, i.e. network effects). </a:t>
            </a:r>
          </a:p>
          <a:p>
            <a:endParaRPr lang="en-US" dirty="0"/>
          </a:p>
        </p:txBody>
      </p:sp>
      <p:sp>
        <p:nvSpPr>
          <p:cNvPr id="4" name="Slide Number Placeholder 3"/>
          <p:cNvSpPr>
            <a:spLocks noGrp="1"/>
          </p:cNvSpPr>
          <p:nvPr>
            <p:ph type="sldNum" sz="quarter" idx="10"/>
          </p:nvPr>
        </p:nvSpPr>
        <p:spPr/>
        <p:txBody>
          <a:bodyPr/>
          <a:lstStyle/>
          <a:p>
            <a:fld id="{8D36AC2A-E969-3C46-9ED8-B46D40C5E669}" type="slidenum">
              <a:rPr lang="en-US" smtClean="0"/>
              <a:t>7</a:t>
            </a:fld>
            <a:endParaRPr lang="en-US"/>
          </a:p>
        </p:txBody>
      </p:sp>
    </p:spTree>
    <p:extLst>
      <p:ext uri="{BB962C8B-B14F-4D97-AF65-F5344CB8AC3E}">
        <p14:creationId xmlns:p14="http://schemas.microsoft.com/office/powerpoint/2010/main" val="1561451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Characteristics of a price taker market</a:t>
            </a:r>
            <a:r>
              <a:rPr lang="en-US" sz="1200" kern="1200" dirty="0">
                <a:solidFill>
                  <a:schemeClr val="tx1"/>
                </a:solidFill>
                <a:effectLst/>
                <a:latin typeface="+mn-lt"/>
                <a:ea typeface="+mn-ea"/>
                <a:cs typeface="+mn-cs"/>
              </a:rPr>
              <a:t>. Today we focus on perfect competition</a:t>
            </a:r>
            <a:r>
              <a:rPr lang="en-US" sz="1200" kern="1200" baseline="0" dirty="0">
                <a:solidFill>
                  <a:schemeClr val="tx1"/>
                </a:solidFill>
                <a:effectLst/>
                <a:latin typeface="+mn-lt"/>
                <a:ea typeface="+mn-ea"/>
                <a:cs typeface="+mn-cs"/>
              </a:rPr>
              <a:t>. For a market to be perfectly competitive, three conditions must be satisfied:</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kern="1200" baseline="0" dirty="0">
              <a:solidFill>
                <a:schemeClr val="tx1"/>
              </a:solidFill>
              <a:effectLst/>
              <a:latin typeface="+mn-lt"/>
              <a:ea typeface="+mn-ea"/>
              <a:cs typeface="+mn-cs"/>
            </a:endParaRPr>
          </a:p>
          <a:p>
            <a:pPr marL="228600" marR="0" indent="-228600" algn="l" defTabSz="457200" rtl="0" eaLnBrk="1" fontAlgn="auto" latinLnBrk="0" hangingPunct="1">
              <a:lnSpc>
                <a:spcPct val="100000"/>
              </a:lnSpc>
              <a:spcBef>
                <a:spcPts val="0"/>
              </a:spcBef>
              <a:spcAft>
                <a:spcPts val="0"/>
              </a:spcAft>
              <a:buClrTx/>
              <a:buSzTx/>
              <a:buFontTx/>
              <a:buAutoNum type="arabicPeriod"/>
              <a:tabLst/>
              <a:defRPr/>
            </a:pPr>
            <a:r>
              <a:rPr lang="en-US" sz="1200" kern="1200" baseline="0" dirty="0">
                <a:solidFill>
                  <a:schemeClr val="tx1"/>
                </a:solidFill>
                <a:effectLst/>
                <a:latin typeface="+mn-lt"/>
                <a:ea typeface="+mn-ea"/>
                <a:cs typeface="+mn-cs"/>
              </a:rPr>
              <a:t>There are many firms. Thus, the impact of any one firm on the market equilibrium is negligible. </a:t>
            </a:r>
            <a:endParaRPr lang="en-US" sz="1200" kern="1200" dirty="0">
              <a:solidFill>
                <a:schemeClr val="tx1"/>
              </a:solidFill>
              <a:effectLst/>
              <a:latin typeface="+mn-lt"/>
              <a:ea typeface="+mn-ea"/>
              <a:cs typeface="+mn-cs"/>
            </a:endParaRPr>
          </a:p>
          <a:p>
            <a:pPr marL="228600" marR="0" indent="-228600" algn="l" defTabSz="457200" rtl="0" eaLnBrk="1" fontAlgn="auto" latinLnBrk="0" hangingPunct="1">
              <a:lnSpc>
                <a:spcPct val="100000"/>
              </a:lnSpc>
              <a:spcBef>
                <a:spcPts val="0"/>
              </a:spcBef>
              <a:spcAft>
                <a:spcPts val="0"/>
              </a:spcAft>
              <a:buClrTx/>
              <a:buSzTx/>
              <a:buFontTx/>
              <a:buAutoNum type="arabicPeriod"/>
              <a:tabLst/>
              <a:defRPr/>
            </a:pPr>
            <a:r>
              <a:rPr lang="en-US" sz="1200" kern="1200" baseline="0" dirty="0">
                <a:solidFill>
                  <a:schemeClr val="tx1"/>
                </a:solidFill>
                <a:effectLst/>
                <a:latin typeface="+mn-lt"/>
                <a:ea typeface="+mn-ea"/>
                <a:cs typeface="+mn-cs"/>
              </a:rPr>
              <a:t>All firms produce an identical product.</a:t>
            </a:r>
          </a:p>
          <a:p>
            <a:pPr marL="228600" marR="0" indent="-228600" algn="l" defTabSz="457200" rtl="0" eaLnBrk="1" fontAlgn="auto" latinLnBrk="0" hangingPunct="1">
              <a:lnSpc>
                <a:spcPct val="100000"/>
              </a:lnSpc>
              <a:spcBef>
                <a:spcPts val="0"/>
              </a:spcBef>
              <a:spcAft>
                <a:spcPts val="0"/>
              </a:spcAft>
              <a:buClrTx/>
              <a:buSzTx/>
              <a:buFontTx/>
              <a:buAutoNum type="arabicPeriod"/>
              <a:tabLst/>
              <a:defRPr/>
            </a:pPr>
            <a:r>
              <a:rPr lang="en-US" sz="1200" kern="1200" baseline="0" dirty="0">
                <a:solidFill>
                  <a:schemeClr val="tx1"/>
                </a:solidFill>
                <a:effectLst/>
                <a:latin typeface="+mn-lt"/>
                <a:ea typeface="+mn-ea"/>
                <a:cs typeface="+mn-cs"/>
              </a:rPr>
              <a:t>There are no barriers to entry.</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kern="1200" baseline="0" dirty="0">
              <a:solidFill>
                <a:schemeClr val="tx1"/>
              </a:solidFill>
              <a:effectLst/>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baseline="0" dirty="0">
                <a:solidFill>
                  <a:schemeClr val="tx1"/>
                </a:solidFill>
                <a:effectLst/>
                <a:latin typeface="+mn-lt"/>
                <a:ea typeface="+mn-ea"/>
                <a:cs typeface="+mn-cs"/>
              </a:rPr>
              <a:t>The implications of these conditions is that firms in perfectly competitive markets are price takers, i.e. they do not have discretion over the price to charge</a:t>
            </a:r>
            <a:r>
              <a:rPr lang="en-US" sz="1200" kern="1200" dirty="0">
                <a:solidFill>
                  <a:schemeClr val="tx1"/>
                </a:solidFill>
                <a:effectLst/>
                <a:latin typeface="+mn-lt"/>
                <a:ea typeface="+mn-ea"/>
                <a:cs typeface="+mn-cs"/>
              </a:rPr>
              <a:t>. In the case of price takers, they face perfectly elastic demand (horizontal demand curve), there is no product differentiation, and they cannot deviate in price.</a:t>
            </a:r>
            <a:r>
              <a:rPr lang="en-US" sz="1200" kern="1200" baseline="0" dirty="0">
                <a:solidFill>
                  <a:schemeClr val="tx1"/>
                </a:solidFill>
                <a:effectLst/>
                <a:latin typeface="+mn-lt"/>
                <a:ea typeface="+mn-ea"/>
                <a:cs typeface="+mn-cs"/>
              </a:rPr>
              <a:t> Examples include</a:t>
            </a:r>
            <a:r>
              <a:rPr lang="en-US" sz="1200" kern="1200" dirty="0">
                <a:solidFill>
                  <a:schemeClr val="tx1"/>
                </a:solidFill>
                <a:effectLst/>
                <a:latin typeface="+mn-lt"/>
                <a:ea typeface="+mn-ea"/>
                <a:cs typeface="+mn-cs"/>
              </a:rPr>
              <a:t> Indian rice producers, sellers of currency, etc. If the firm chooses a price</a:t>
            </a:r>
            <a:r>
              <a:rPr lang="en-US" sz="1200" kern="1200" baseline="0" dirty="0">
                <a:solidFill>
                  <a:schemeClr val="tx1"/>
                </a:solidFill>
                <a:effectLst/>
                <a:latin typeface="+mn-lt"/>
                <a:ea typeface="+mn-ea"/>
                <a:cs typeface="+mn-cs"/>
              </a:rPr>
              <a:t> above the market price</a:t>
            </a:r>
            <a:r>
              <a:rPr lang="en-US" sz="1200" kern="1200" dirty="0">
                <a:solidFill>
                  <a:schemeClr val="tx1"/>
                </a:solidFill>
                <a:effectLst/>
                <a:latin typeface="+mn-lt"/>
                <a:ea typeface="+mn-ea"/>
                <a:cs typeface="+mn-cs"/>
              </a:rPr>
              <a:t>, the firm will lose all sales. Since</a:t>
            </a:r>
            <a:r>
              <a:rPr lang="en-US" sz="1200" kern="1200" baseline="0" dirty="0">
                <a:solidFill>
                  <a:schemeClr val="tx1"/>
                </a:solidFill>
                <a:effectLst/>
                <a:latin typeface="+mn-lt"/>
                <a:ea typeface="+mn-ea"/>
                <a:cs typeface="+mn-cs"/>
              </a:rPr>
              <a:t> the firm can sell as much as it would like at the market price, it has no incentive to sell at a quantity below the market price.</a:t>
            </a:r>
            <a:endParaRPr lang="en-US" sz="1200" kern="1200" dirty="0">
              <a:solidFill>
                <a:schemeClr val="tx1"/>
              </a:solidFill>
              <a:effectLst/>
              <a:latin typeface="+mn-lt"/>
              <a:ea typeface="+mn-ea"/>
              <a:cs typeface="+mn-cs"/>
            </a:endParaRPr>
          </a:p>
          <a:p>
            <a:endParaRPr lang="ru-RU" dirty="0"/>
          </a:p>
          <a:p>
            <a:r>
              <a:rPr lang="en-US" sz="1200" kern="1200" dirty="0">
                <a:solidFill>
                  <a:schemeClr val="tx1"/>
                </a:solidFill>
                <a:effectLst/>
                <a:latin typeface="+mn-lt"/>
                <a:ea typeface="+mn-ea"/>
                <a:cs typeface="+mn-cs"/>
              </a:rPr>
              <a:t>Why study perfect competition? There</a:t>
            </a:r>
            <a:r>
              <a:rPr lang="en-US" sz="1200" kern="1200" baseline="0" dirty="0">
                <a:solidFill>
                  <a:schemeClr val="tx1"/>
                </a:solidFill>
                <a:effectLst/>
                <a:latin typeface="+mn-lt"/>
                <a:ea typeface="+mn-ea"/>
                <a:cs typeface="+mn-cs"/>
              </a:rPr>
              <a:t> are</a:t>
            </a:r>
            <a:r>
              <a:rPr lang="en-US" sz="1200" kern="1200" dirty="0">
                <a:solidFill>
                  <a:schemeClr val="tx1"/>
                </a:solidFill>
                <a:effectLst/>
                <a:latin typeface="+mn-lt"/>
                <a:ea typeface="+mn-ea"/>
                <a:cs typeface="+mn-cs"/>
              </a:rPr>
              <a:t> 3 main reasons:</a:t>
            </a:r>
          </a:p>
          <a:p>
            <a:r>
              <a:rPr lang="en-US" sz="1200" kern="1200" dirty="0">
                <a:solidFill>
                  <a:schemeClr val="tx1"/>
                </a:solidFill>
                <a:effectLst/>
                <a:latin typeface="+mn-lt"/>
                <a:ea typeface="+mn-ea"/>
                <a:cs typeface="+mn-cs"/>
              </a:rPr>
              <a:t> </a:t>
            </a:r>
          </a:p>
          <a:p>
            <a:pPr marL="228600" lvl="0" indent="-228600">
              <a:buAutoNum type="arabicPeriod"/>
            </a:pPr>
            <a:r>
              <a:rPr lang="en-US" sz="1200" kern="1200" dirty="0">
                <a:solidFill>
                  <a:schemeClr val="tx1"/>
                </a:solidFill>
                <a:effectLst/>
                <a:latin typeface="+mn-lt"/>
                <a:ea typeface="+mn-ea"/>
                <a:cs typeface="+mn-cs"/>
              </a:rPr>
              <a:t>You need to understand how perfectly competitive markets around you function. For instance, the bond market, the currency markets, commodity markets, labor markets, </a:t>
            </a:r>
            <a:r>
              <a:rPr lang="en-US" sz="1200" kern="1200" dirty="0" err="1">
                <a:solidFill>
                  <a:schemeClr val="tx1"/>
                </a:solidFill>
                <a:effectLst/>
                <a:latin typeface="+mn-lt"/>
                <a:ea typeface="+mn-ea"/>
                <a:cs typeface="+mn-cs"/>
              </a:rPr>
              <a:t>etc</a:t>
            </a:r>
            <a:r>
              <a:rPr lang="en-US" sz="1200" kern="1200" dirty="0">
                <a:solidFill>
                  <a:schemeClr val="tx1"/>
                </a:solidFill>
                <a:effectLst/>
                <a:latin typeface="+mn-lt"/>
                <a:ea typeface="+mn-ea"/>
                <a:cs typeface="+mn-cs"/>
              </a:rPr>
              <a:t>, where price taking behavior is frequent. </a:t>
            </a:r>
          </a:p>
          <a:p>
            <a:pPr marL="228600" lvl="0" indent="-228600">
              <a:buAutoNum type="arabicPeriod"/>
            </a:pPr>
            <a:r>
              <a:rPr lang="en-US" sz="1200" kern="1200" dirty="0">
                <a:solidFill>
                  <a:schemeClr val="tx1"/>
                </a:solidFill>
                <a:effectLst/>
                <a:latin typeface="+mn-lt"/>
                <a:ea typeface="+mn-ea"/>
                <a:cs typeface="+mn-cs"/>
              </a:rPr>
              <a:t>You might have to act in perfectly competitive markets on occasion.</a:t>
            </a:r>
          </a:p>
          <a:p>
            <a:pPr marL="228600" lvl="0" indent="-228600">
              <a:buAutoNum type="arabicPeriod"/>
            </a:pPr>
            <a:r>
              <a:rPr lang="en-US" sz="1200" kern="1200" dirty="0">
                <a:solidFill>
                  <a:schemeClr val="tx1"/>
                </a:solidFill>
                <a:effectLst/>
                <a:latin typeface="+mn-lt"/>
                <a:ea typeface="+mn-ea"/>
                <a:cs typeface="+mn-cs"/>
              </a:rPr>
              <a:t>By understanding perfect competition in depth you can come up with ways to make the market in which you operate look more like an imperfect competition market. This is what businesses do – differentiate, raise barriers to entry, gain market power. </a:t>
            </a:r>
          </a:p>
        </p:txBody>
      </p:sp>
      <p:sp>
        <p:nvSpPr>
          <p:cNvPr id="4" name="Slide Number Placeholder 3"/>
          <p:cNvSpPr>
            <a:spLocks noGrp="1"/>
          </p:cNvSpPr>
          <p:nvPr>
            <p:ph type="sldNum" sz="quarter" idx="10"/>
          </p:nvPr>
        </p:nvSpPr>
        <p:spPr/>
        <p:txBody>
          <a:bodyPr/>
          <a:lstStyle/>
          <a:p>
            <a:pPr>
              <a:defRPr/>
            </a:pPr>
            <a:fld id="{14B94B4F-1C3E-42AD-8B65-1B752C8E558F}" type="slidenum">
              <a:rPr lang="en-US" smtClean="0"/>
              <a:pPr>
                <a:defRPr/>
              </a:pPr>
              <a:t>8</a:t>
            </a:fld>
            <a:endParaRPr lang="en-US"/>
          </a:p>
        </p:txBody>
      </p:sp>
    </p:spTree>
    <p:extLst>
      <p:ext uri="{BB962C8B-B14F-4D97-AF65-F5344CB8AC3E}">
        <p14:creationId xmlns:p14="http://schemas.microsoft.com/office/powerpoint/2010/main" val="29990918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This slides </a:t>
            </a:r>
            <a:r>
              <a:rPr lang="fr-FR" dirty="0" err="1"/>
              <a:t>explain</a:t>
            </a:r>
            <a:r>
              <a:rPr lang="fr-FR" dirty="0"/>
              <a:t> the </a:t>
            </a:r>
            <a:r>
              <a:rPr lang="fr-FR" dirty="0" err="1"/>
              <a:t>relationship</a:t>
            </a:r>
            <a:r>
              <a:rPr lang="fr-FR" dirty="0"/>
              <a:t> </a:t>
            </a:r>
            <a:r>
              <a:rPr lang="fr-FR" dirty="0" err="1"/>
              <a:t>between</a:t>
            </a:r>
            <a:r>
              <a:rPr lang="fr-FR" dirty="0"/>
              <a:t> the </a:t>
            </a:r>
            <a:r>
              <a:rPr lang="fr-FR" dirty="0" err="1"/>
              <a:t>market</a:t>
            </a:r>
            <a:r>
              <a:rPr lang="fr-FR" dirty="0"/>
              <a:t> vs. the </a:t>
            </a:r>
            <a:r>
              <a:rPr lang="fr-FR" dirty="0" err="1"/>
              <a:t>firm</a:t>
            </a:r>
            <a:r>
              <a:rPr lang="fr-FR" dirty="0"/>
              <a:t> </a:t>
            </a:r>
            <a:r>
              <a:rPr lang="fr-FR" dirty="0" err="1"/>
              <a:t>demand</a:t>
            </a:r>
            <a:r>
              <a:rPr lang="fr-FR" dirty="0"/>
              <a:t>. It shows </a:t>
            </a:r>
            <a:r>
              <a:rPr lang="fr-FR" dirty="0" err="1"/>
              <a:t>where</a:t>
            </a:r>
            <a:r>
              <a:rPr lang="fr-FR" dirty="0"/>
              <a:t> the </a:t>
            </a:r>
            <a:r>
              <a:rPr lang="fr-FR" dirty="0" err="1"/>
              <a:t>demand</a:t>
            </a:r>
            <a:r>
              <a:rPr lang="fr-FR" dirty="0"/>
              <a:t> a </a:t>
            </a:r>
            <a:r>
              <a:rPr lang="fr-FR" dirty="0" err="1"/>
              <a:t>price</a:t>
            </a:r>
            <a:r>
              <a:rPr lang="fr-FR" dirty="0"/>
              <a:t> </a:t>
            </a:r>
            <a:r>
              <a:rPr lang="fr-FR" dirty="0" err="1"/>
              <a:t>taker</a:t>
            </a:r>
            <a:r>
              <a:rPr lang="fr-FR" dirty="0"/>
              <a:t> </a:t>
            </a:r>
            <a:r>
              <a:rPr lang="fr-FR" dirty="0" err="1"/>
              <a:t>is</a:t>
            </a:r>
            <a:r>
              <a:rPr lang="fr-FR" dirty="0"/>
              <a:t> </a:t>
            </a:r>
            <a:r>
              <a:rPr lang="fr-FR" dirty="0" err="1"/>
              <a:t>coming</a:t>
            </a:r>
            <a:r>
              <a:rPr lang="fr-FR" dirty="0"/>
              <a:t> </a:t>
            </a:r>
            <a:r>
              <a:rPr lang="fr-FR" dirty="0" err="1"/>
              <a:t>from</a:t>
            </a:r>
            <a:r>
              <a:rPr lang="fr-FR" dirty="0"/>
              <a:t> = </a:t>
            </a:r>
            <a:r>
              <a:rPr lang="fr-FR" dirty="0" err="1"/>
              <a:t>market</a:t>
            </a:r>
            <a:r>
              <a:rPr lang="fr-FR" dirty="0"/>
              <a:t> </a:t>
            </a:r>
            <a:r>
              <a:rPr lang="fr-FR" dirty="0" err="1"/>
              <a:t>price</a:t>
            </a:r>
            <a:r>
              <a:rPr lang="fr-FR" dirty="0"/>
              <a:t>, </a:t>
            </a:r>
            <a:r>
              <a:rPr lang="fr-FR" dirty="0" err="1"/>
              <a:t>determined</a:t>
            </a:r>
            <a:r>
              <a:rPr lang="fr-FR" dirty="0"/>
              <a:t> by the </a:t>
            </a:r>
            <a:r>
              <a:rPr lang="fr-FR" dirty="0" err="1"/>
              <a:t>market</a:t>
            </a:r>
            <a:r>
              <a:rPr lang="fr-FR" dirty="0"/>
              <a:t> </a:t>
            </a:r>
            <a:r>
              <a:rPr lang="fr-FR" dirty="0" err="1"/>
              <a:t>equilibrium</a:t>
            </a:r>
            <a:r>
              <a:rPr lang="fr-FR" dirty="0"/>
              <a:t>.</a:t>
            </a:r>
          </a:p>
          <a:p>
            <a:r>
              <a:rPr lang="fr-FR" dirty="0" err="1"/>
              <a:t>Now</a:t>
            </a:r>
            <a:r>
              <a:rPr lang="fr-FR" dirty="0"/>
              <a:t>, </a:t>
            </a:r>
            <a:r>
              <a:rPr lang="fr-FR" dirty="0" err="1"/>
              <a:t>let’s</a:t>
            </a:r>
            <a:r>
              <a:rPr lang="fr-FR" dirty="0"/>
              <a:t> </a:t>
            </a:r>
            <a:r>
              <a:rPr lang="fr-FR" dirty="0" err="1"/>
              <a:t>turn</a:t>
            </a:r>
            <a:r>
              <a:rPr lang="fr-FR" dirty="0"/>
              <a:t> to </a:t>
            </a:r>
            <a:r>
              <a:rPr lang="fr-FR" dirty="0" err="1"/>
              <a:t>see</a:t>
            </a:r>
            <a:r>
              <a:rPr lang="fr-FR" dirty="0"/>
              <a:t> how a </a:t>
            </a:r>
            <a:r>
              <a:rPr lang="fr-FR" dirty="0" err="1"/>
              <a:t>price</a:t>
            </a:r>
            <a:r>
              <a:rPr lang="fr-FR" dirty="0"/>
              <a:t> </a:t>
            </a:r>
            <a:r>
              <a:rPr lang="fr-FR" dirty="0" err="1"/>
              <a:t>taker</a:t>
            </a:r>
            <a:r>
              <a:rPr lang="fr-FR" dirty="0"/>
              <a:t> </a:t>
            </a:r>
            <a:r>
              <a:rPr lang="fr-FR" dirty="0" err="1"/>
              <a:t>maximizes</a:t>
            </a:r>
            <a:r>
              <a:rPr lang="fr-FR" dirty="0"/>
              <a:t> profit in the short run.</a:t>
            </a:r>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10</a:t>
            </a:fld>
            <a:endParaRPr lang="en-US"/>
          </a:p>
        </p:txBody>
      </p:sp>
    </p:spTree>
    <p:extLst>
      <p:ext uri="{BB962C8B-B14F-4D97-AF65-F5344CB8AC3E}">
        <p14:creationId xmlns:p14="http://schemas.microsoft.com/office/powerpoint/2010/main" val="15710759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14B94B4F-1C3E-42AD-8B65-1B752C8E558F}" type="slidenum">
              <a:rPr lang="en-US" smtClean="0"/>
              <a:pPr>
                <a:defRPr/>
              </a:pPr>
              <a:t>11</a:t>
            </a:fld>
            <a:endParaRPr lang="en-US"/>
          </a:p>
        </p:txBody>
      </p:sp>
    </p:spTree>
    <p:extLst>
      <p:ext uri="{BB962C8B-B14F-4D97-AF65-F5344CB8AC3E}">
        <p14:creationId xmlns:p14="http://schemas.microsoft.com/office/powerpoint/2010/main" val="14414416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https://www.vulture.com/article/minari-movie-review-a-gentle-immigrant-drama-set-in-u-s.html</a:t>
            </a:r>
          </a:p>
          <a:p>
            <a:r>
              <a:rPr lang="en-US" dirty="0"/>
              <a:t>https://time.com/5938842/minari-korean-american-farmers/</a:t>
            </a:r>
          </a:p>
        </p:txBody>
      </p:sp>
      <p:sp>
        <p:nvSpPr>
          <p:cNvPr id="4" name="Slide Number Placeholder 3"/>
          <p:cNvSpPr>
            <a:spLocks noGrp="1"/>
          </p:cNvSpPr>
          <p:nvPr>
            <p:ph type="sldNum" sz="quarter" idx="5"/>
          </p:nvPr>
        </p:nvSpPr>
        <p:spPr/>
        <p:txBody>
          <a:bodyPr/>
          <a:lstStyle/>
          <a:p>
            <a:fld id="{8D36AC2A-E969-3C46-9ED8-B46D40C5E669}" type="slidenum">
              <a:rPr lang="en-US" smtClean="0"/>
              <a:t>12</a:t>
            </a:fld>
            <a:endParaRPr lang="en-US"/>
          </a:p>
        </p:txBody>
      </p:sp>
    </p:spTree>
    <p:extLst>
      <p:ext uri="{BB962C8B-B14F-4D97-AF65-F5344CB8AC3E}">
        <p14:creationId xmlns:p14="http://schemas.microsoft.com/office/powerpoint/2010/main" val="13685357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Source for the </a:t>
            </a:r>
            <a:r>
              <a:rPr lang="fr-FR" dirty="0" err="1"/>
              <a:t>costs</a:t>
            </a:r>
            <a:r>
              <a:rPr lang="fr-FR" dirty="0"/>
              <a:t>: https://ucanr.edu/sites/Farm_Management/files/179212.pdf</a:t>
            </a:r>
          </a:p>
          <a:p>
            <a:r>
              <a:rPr lang="en-US" dirty="0"/>
              <a:t>Opportunity costs: salary from working somewhere else, estimated at about 15k</a:t>
            </a:r>
          </a:p>
          <a:p>
            <a:endParaRPr lang="fr-FR" dirty="0"/>
          </a:p>
          <a:p>
            <a:r>
              <a:rPr lang="fr-FR" dirty="0"/>
              <a:t>Q</a:t>
            </a:r>
            <a:r>
              <a:rPr lang="en-US" dirty="0" err="1"/>
              <a:t>uantity</a:t>
            </a:r>
            <a:r>
              <a:rPr lang="en-US" dirty="0"/>
              <a:t> in tons</a:t>
            </a:r>
          </a:p>
          <a:p>
            <a:endParaRPr lang="en-US" dirty="0"/>
          </a:p>
          <a:p>
            <a:r>
              <a:rPr lang="fr-FR" dirty="0" err="1"/>
              <a:t>Fixed</a:t>
            </a:r>
            <a:r>
              <a:rPr lang="fr-FR" dirty="0"/>
              <a:t> </a:t>
            </a:r>
            <a:r>
              <a:rPr lang="fr-FR" dirty="0" err="1"/>
              <a:t>Costs</a:t>
            </a:r>
            <a:r>
              <a:rPr lang="fr-FR" dirty="0"/>
              <a:t>: land </a:t>
            </a:r>
            <a:r>
              <a:rPr lang="fr-FR" dirty="0" err="1"/>
              <a:t>rent</a:t>
            </a:r>
            <a:r>
              <a:rPr lang="fr-FR" dirty="0"/>
              <a:t>, </a:t>
            </a:r>
            <a:r>
              <a:rPr lang="fr-FR" dirty="0" err="1"/>
              <a:t>equipment</a:t>
            </a:r>
            <a:r>
              <a:rPr lang="fr-FR" dirty="0"/>
              <a:t> + </a:t>
            </a:r>
            <a:r>
              <a:rPr lang="fr-FR" dirty="0" err="1"/>
              <a:t>opportunity</a:t>
            </a:r>
            <a:r>
              <a:rPr lang="fr-FR" dirty="0"/>
              <a:t> </a:t>
            </a:r>
            <a:r>
              <a:rPr lang="fr-FR" dirty="0" err="1"/>
              <a:t>costs</a:t>
            </a:r>
            <a:endParaRPr lang="fr-FR" dirty="0"/>
          </a:p>
          <a:p>
            <a:r>
              <a:rPr lang="fr-FR" dirty="0"/>
              <a:t>Variable </a:t>
            </a:r>
            <a:r>
              <a:rPr lang="fr-FR" dirty="0" err="1"/>
              <a:t>Costs</a:t>
            </a:r>
            <a:r>
              <a:rPr lang="fr-FR" dirty="0"/>
              <a:t>: </a:t>
            </a:r>
            <a:r>
              <a:rPr lang="fr-FR" dirty="0" err="1"/>
              <a:t>seeds</a:t>
            </a:r>
            <a:r>
              <a:rPr lang="fr-FR" dirty="0"/>
              <a:t>, water, </a:t>
            </a:r>
            <a:r>
              <a:rPr lang="fr-FR" dirty="0" err="1"/>
              <a:t>fertilizers</a:t>
            </a:r>
            <a:r>
              <a:rPr lang="fr-FR" dirty="0"/>
              <a:t>, pesticides</a:t>
            </a:r>
          </a:p>
          <a:p>
            <a:endParaRPr lang="fr-FR" dirty="0"/>
          </a:p>
          <a:p>
            <a:r>
              <a:rPr lang="fr-FR" dirty="0"/>
              <a:t>Images: right (water), top </a:t>
            </a:r>
            <a:r>
              <a:rPr lang="fr-FR" dirty="0" err="1"/>
              <a:t>left</a:t>
            </a:r>
            <a:r>
              <a:rPr lang="fr-FR" dirty="0"/>
              <a:t> (</a:t>
            </a:r>
            <a:r>
              <a:rPr lang="fr-FR" dirty="0" err="1"/>
              <a:t>fertilizers</a:t>
            </a:r>
            <a:r>
              <a:rPr lang="fr-FR" dirty="0"/>
              <a:t>), </a:t>
            </a:r>
            <a:r>
              <a:rPr lang="fr-FR" dirty="0" err="1"/>
              <a:t>bottom</a:t>
            </a:r>
            <a:r>
              <a:rPr lang="fr-FR" dirty="0"/>
              <a:t> </a:t>
            </a:r>
            <a:r>
              <a:rPr lang="fr-FR" dirty="0" err="1"/>
              <a:t>left</a:t>
            </a:r>
            <a:r>
              <a:rPr lang="fr-FR" dirty="0"/>
              <a:t> (</a:t>
            </a:r>
            <a:r>
              <a:rPr lang="fr-FR" dirty="0" err="1"/>
              <a:t>seeds</a:t>
            </a:r>
            <a:r>
              <a:rPr lang="fr-FR" dirty="0"/>
              <a:t>)</a:t>
            </a:r>
          </a:p>
          <a:p>
            <a:pPr lvl="1" algn="l"/>
            <a:endParaRPr lang="fr-FR" dirty="0"/>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13</a:t>
            </a:fld>
            <a:endParaRPr lang="en-US"/>
          </a:p>
        </p:txBody>
      </p:sp>
    </p:spTree>
    <p:extLst>
      <p:ext uri="{BB962C8B-B14F-4D97-AF65-F5344CB8AC3E}">
        <p14:creationId xmlns:p14="http://schemas.microsoft.com/office/powerpoint/2010/main" val="29848610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Source for the </a:t>
            </a:r>
            <a:r>
              <a:rPr lang="fr-FR" dirty="0" err="1"/>
              <a:t>costs</a:t>
            </a:r>
            <a:r>
              <a:rPr lang="fr-FR" dirty="0"/>
              <a:t>: https://ucanr.edu/sites/Farm_Management/files/179212.pdf</a:t>
            </a:r>
          </a:p>
          <a:p>
            <a:r>
              <a:rPr lang="en-US" dirty="0"/>
              <a:t>Opportunity costs: salary from working somewhere else, estimated at about 15k</a:t>
            </a:r>
          </a:p>
        </p:txBody>
      </p:sp>
      <p:sp>
        <p:nvSpPr>
          <p:cNvPr id="4" name="Slide Number Placeholder 3"/>
          <p:cNvSpPr>
            <a:spLocks noGrp="1"/>
          </p:cNvSpPr>
          <p:nvPr>
            <p:ph type="sldNum" sz="quarter" idx="5"/>
          </p:nvPr>
        </p:nvSpPr>
        <p:spPr/>
        <p:txBody>
          <a:bodyPr/>
          <a:lstStyle/>
          <a:p>
            <a:fld id="{8D36AC2A-E969-3C46-9ED8-B46D40C5E669}" type="slidenum">
              <a:rPr lang="en-US" smtClean="0"/>
              <a:t>14</a:t>
            </a:fld>
            <a:endParaRPr lang="en-US"/>
          </a:p>
        </p:txBody>
      </p:sp>
    </p:spTree>
    <p:extLst>
      <p:ext uri="{BB962C8B-B14F-4D97-AF65-F5344CB8AC3E}">
        <p14:creationId xmlns:p14="http://schemas.microsoft.com/office/powerpoint/2010/main" val="20956678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fr-FR" dirty="0"/>
              <a:t>In </a:t>
            </a:r>
            <a:r>
              <a:rPr lang="fr-FR" dirty="0" err="1"/>
              <a:t>bullet</a:t>
            </a:r>
            <a:r>
              <a:rPr lang="fr-FR" dirty="0"/>
              <a:t> </a:t>
            </a:r>
            <a:r>
              <a:rPr lang="fr-FR" dirty="0" err="1"/>
              <a:t>number</a:t>
            </a:r>
            <a:r>
              <a:rPr lang="fr-FR" dirty="0"/>
              <a:t> 2: </a:t>
            </a:r>
            <a:r>
              <a:rPr lang="fr-FR" dirty="0" err="1"/>
              <a:t>emphasize</a:t>
            </a:r>
            <a:r>
              <a:rPr lang="fr-FR" dirty="0"/>
              <a:t> </a:t>
            </a:r>
            <a:r>
              <a:rPr lang="fr-FR" dirty="0" err="1"/>
              <a:t>that</a:t>
            </a:r>
            <a:r>
              <a:rPr lang="fr-FR" dirty="0"/>
              <a:t> no </a:t>
            </a:r>
            <a:r>
              <a:rPr lang="fr-FR" dirty="0" err="1"/>
              <a:t>price</a:t>
            </a:r>
            <a:r>
              <a:rPr lang="fr-FR" dirty="0"/>
              <a:t> </a:t>
            </a:r>
            <a:r>
              <a:rPr lang="fr-FR" dirty="0" err="1"/>
              <a:t>decision</a:t>
            </a:r>
            <a:r>
              <a:rPr lang="fr-FR" dirty="0"/>
              <a:t> </a:t>
            </a:r>
            <a:r>
              <a:rPr lang="fr-FR" dirty="0" err="1"/>
              <a:t>since</a:t>
            </a:r>
            <a:r>
              <a:rPr lang="fr-FR" dirty="0"/>
              <a:t> </a:t>
            </a:r>
            <a:r>
              <a:rPr lang="fr-FR" dirty="0" err="1"/>
              <a:t>we</a:t>
            </a:r>
            <a:r>
              <a:rPr lang="fr-FR" dirty="0"/>
              <a:t> are </a:t>
            </a:r>
            <a:r>
              <a:rPr lang="fr-FR" dirty="0" err="1"/>
              <a:t>price</a:t>
            </a:r>
            <a:r>
              <a:rPr lang="fr-FR" dirty="0"/>
              <a:t> </a:t>
            </a:r>
            <a:r>
              <a:rPr lang="fr-FR" dirty="0" err="1"/>
              <a:t>takers</a:t>
            </a:r>
            <a:endParaRPr lang="en-US" dirty="0"/>
          </a:p>
        </p:txBody>
      </p:sp>
      <p:sp>
        <p:nvSpPr>
          <p:cNvPr id="4" name="Slide Number Placeholder 3"/>
          <p:cNvSpPr>
            <a:spLocks noGrp="1"/>
          </p:cNvSpPr>
          <p:nvPr>
            <p:ph type="sldNum" sz="quarter" idx="10"/>
          </p:nvPr>
        </p:nvSpPr>
        <p:spPr/>
        <p:txBody>
          <a:bodyPr/>
          <a:lstStyle/>
          <a:p>
            <a:pPr>
              <a:defRPr/>
            </a:pPr>
            <a:fld id="{14B94B4F-1C3E-42AD-8B65-1B752C8E558F}" type="slidenum">
              <a:rPr lang="en-US" smtClean="0"/>
              <a:pPr>
                <a:defRPr/>
              </a:pPr>
              <a:t>15</a:t>
            </a:fld>
            <a:endParaRPr lang="en-US"/>
          </a:p>
        </p:txBody>
      </p:sp>
    </p:spTree>
    <p:extLst>
      <p:ext uri="{BB962C8B-B14F-4D97-AF65-F5344CB8AC3E}">
        <p14:creationId xmlns:p14="http://schemas.microsoft.com/office/powerpoint/2010/main" val="4695710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Any perfectly competitive firm sells at the price set by the market. Perfectly competitive firms then have one decision to make: the quantity to supply.</a:t>
            </a:r>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16</a:t>
            </a:fld>
            <a:endParaRPr lang="en-US"/>
          </a:p>
        </p:txBody>
      </p:sp>
    </p:spTree>
    <p:extLst>
      <p:ext uri="{BB962C8B-B14F-4D97-AF65-F5344CB8AC3E}">
        <p14:creationId xmlns:p14="http://schemas.microsoft.com/office/powerpoint/2010/main" val="12531843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14B94B4F-1C3E-42AD-8B65-1B752C8E558F}" type="slidenum">
              <a:rPr lang="en-US" smtClean="0"/>
              <a:pPr>
                <a:defRPr/>
              </a:pPr>
              <a:t>17</a:t>
            </a:fld>
            <a:endParaRPr lang="en-US"/>
          </a:p>
        </p:txBody>
      </p:sp>
    </p:spTree>
    <p:extLst>
      <p:ext uri="{BB962C8B-B14F-4D97-AF65-F5344CB8AC3E}">
        <p14:creationId xmlns:p14="http://schemas.microsoft.com/office/powerpoint/2010/main" val="18507789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18</a:t>
            </a:fld>
            <a:endParaRPr lang="en-US"/>
          </a:p>
        </p:txBody>
      </p:sp>
    </p:spTree>
    <p:extLst>
      <p:ext uri="{BB962C8B-B14F-4D97-AF65-F5344CB8AC3E}">
        <p14:creationId xmlns:p14="http://schemas.microsoft.com/office/powerpoint/2010/main" val="18803923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fr-FR" dirty="0"/>
              <a:t>Source for the </a:t>
            </a:r>
            <a:r>
              <a:rPr lang="fr-FR" dirty="0" err="1"/>
              <a:t>market</a:t>
            </a:r>
            <a:r>
              <a:rPr lang="fr-FR" dirty="0"/>
              <a:t> </a:t>
            </a:r>
            <a:r>
              <a:rPr lang="fr-FR" dirty="0" err="1"/>
              <a:t>price</a:t>
            </a:r>
            <a:r>
              <a:rPr lang="fr-FR" dirty="0"/>
              <a:t> (2016): https://www.agmrc.org/commodities-products/vegetables/cabbage</a:t>
            </a:r>
          </a:p>
        </p:txBody>
      </p:sp>
      <p:sp>
        <p:nvSpPr>
          <p:cNvPr id="4" name="Slide Number Placeholder 3"/>
          <p:cNvSpPr>
            <a:spLocks noGrp="1"/>
          </p:cNvSpPr>
          <p:nvPr>
            <p:ph type="sldNum" sz="quarter" idx="10"/>
          </p:nvPr>
        </p:nvSpPr>
        <p:spPr/>
        <p:txBody>
          <a:bodyPr/>
          <a:lstStyle/>
          <a:p>
            <a:pPr>
              <a:defRPr/>
            </a:pPr>
            <a:fld id="{14B94B4F-1C3E-42AD-8B65-1B752C8E558F}" type="slidenum">
              <a:rPr lang="en-US" smtClean="0"/>
              <a:pPr>
                <a:defRPr/>
              </a:pPr>
              <a:t>19</a:t>
            </a:fld>
            <a:endParaRPr lang="en-US"/>
          </a:p>
        </p:txBody>
      </p:sp>
    </p:spTree>
    <p:extLst>
      <p:ext uri="{BB962C8B-B14F-4D97-AF65-F5344CB8AC3E}">
        <p14:creationId xmlns:p14="http://schemas.microsoft.com/office/powerpoint/2010/main" val="18937592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What is the optimal quantity produced?
https://www.polleverywhere.com/multiple_choice_polls/Zwza1GbC7sIapRu20fIpK?state=opened&amp;flow=Default&amp;onscreen=persist</a:t>
            </a:r>
          </a:p>
        </p:txBody>
      </p:sp>
      <p:sp>
        <p:nvSpPr>
          <p:cNvPr id="4" name="Slide Number Placeholder 3"/>
          <p:cNvSpPr>
            <a:spLocks noGrp="1"/>
          </p:cNvSpPr>
          <p:nvPr>
            <p:ph type="sldNum" sz="quarter" idx="5"/>
          </p:nvPr>
        </p:nvSpPr>
        <p:spPr/>
        <p:txBody>
          <a:bodyPr/>
          <a:lstStyle/>
          <a:p>
            <a:fld id="{8D36AC2A-E969-3C46-9ED8-B46D40C5E669}" type="slidenum">
              <a:rPr lang="en-US" smtClean="0"/>
              <a:t>20</a:t>
            </a:fld>
            <a:endParaRPr lang="en-US"/>
          </a:p>
        </p:txBody>
      </p:sp>
      <p:sp>
        <p:nvSpPr>
          <p:cNvPr id="5" name="TextBox 4">
            <a:extLst>
              <a:ext uri="{FF2B5EF4-FFF2-40B4-BE49-F238E27FC236}">
                <a16:creationId xmlns:a16="http://schemas.microsoft.com/office/drawing/2014/main" id="{A4698888-41E8-4EDD-92FA-A9EF84BD3094}"/>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11173081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21</a:t>
            </a:fld>
            <a:endParaRPr lang="en-US"/>
          </a:p>
        </p:txBody>
      </p:sp>
    </p:spTree>
    <p:extLst>
      <p:ext uri="{BB962C8B-B14F-4D97-AF65-F5344CB8AC3E}">
        <p14:creationId xmlns:p14="http://schemas.microsoft.com/office/powerpoint/2010/main" val="3753234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22</a:t>
            </a:fld>
            <a:endParaRPr lang="en-US"/>
          </a:p>
        </p:txBody>
      </p:sp>
    </p:spTree>
    <p:extLst>
      <p:ext uri="{BB962C8B-B14F-4D97-AF65-F5344CB8AC3E}">
        <p14:creationId xmlns:p14="http://schemas.microsoft.com/office/powerpoint/2010/main" val="42251518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8D36AC2A-E969-3C46-9ED8-B46D40C5E669}" type="slidenum">
              <a:rPr lang="en-US" smtClean="0"/>
              <a:t>24</a:t>
            </a:fld>
            <a:endParaRPr lang="en-US"/>
          </a:p>
        </p:txBody>
      </p:sp>
    </p:spTree>
    <p:extLst>
      <p:ext uri="{BB962C8B-B14F-4D97-AF65-F5344CB8AC3E}">
        <p14:creationId xmlns:p14="http://schemas.microsoft.com/office/powerpoint/2010/main" val="384028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kern="1200" dirty="0">
                <a:solidFill>
                  <a:schemeClr val="tx1"/>
                </a:solidFill>
                <a:effectLst/>
                <a:latin typeface="+mn-lt"/>
                <a:ea typeface="+mn-ea"/>
                <a:cs typeface="+mn-cs"/>
              </a:rPr>
              <a:t>Using Ross Stores Annual report for illustration: </a:t>
            </a:r>
            <a:r>
              <a:rPr lang="en-US" sz="1200" u="sng" kern="1200" dirty="0">
                <a:solidFill>
                  <a:schemeClr val="tx1"/>
                </a:solidFill>
                <a:effectLst/>
                <a:latin typeface="+mn-lt"/>
                <a:ea typeface="+mn-ea"/>
                <a:cs typeface="+mn-cs"/>
                <a:hlinkClick r:id="rId3"/>
              </a:rPr>
              <a:t>https://www.sec.gov/ix?doc=/Archives/edgar/data/745732/000074573222000014/rost-20220129.htm#i84f0090916e6417881836bdad18ed609_64</a:t>
            </a:r>
            <a:r>
              <a:rPr lang="en-US" sz="1200" kern="1200" dirty="0">
                <a:solidFill>
                  <a:schemeClr val="tx1"/>
                </a:solidFill>
                <a:effectLst/>
                <a:latin typeface="+mn-lt"/>
                <a:ea typeface="+mn-ea"/>
                <a:cs typeface="+mn-cs"/>
              </a:rPr>
              <a:t> </a:t>
            </a:r>
          </a:p>
          <a:p>
            <a:pPr lvl="1"/>
            <a:r>
              <a:rPr lang="en-US" sz="1200" kern="1200" dirty="0">
                <a:solidFill>
                  <a:schemeClr val="tx1"/>
                </a:solidFill>
                <a:effectLst/>
                <a:latin typeface="+mn-lt"/>
                <a:ea typeface="+mn-ea"/>
                <a:cs typeface="+mn-cs"/>
              </a:rPr>
              <a:t>Highlight the 3 items under “costs and expenses”</a:t>
            </a:r>
          </a:p>
          <a:p>
            <a:pPr lvl="1"/>
            <a:r>
              <a:rPr lang="en-US" sz="1200" kern="1200" dirty="0">
                <a:solidFill>
                  <a:schemeClr val="tx1"/>
                </a:solidFill>
                <a:effectLst/>
                <a:latin typeface="+mn-lt"/>
                <a:ea typeface="+mn-ea"/>
                <a:cs typeface="+mn-cs"/>
              </a:rPr>
              <a:t>	Costs of goods sold = variable</a:t>
            </a:r>
          </a:p>
          <a:p>
            <a:pPr lvl="1"/>
            <a:r>
              <a:rPr lang="en-US" sz="1200" kern="1200" dirty="0">
                <a:solidFill>
                  <a:schemeClr val="tx1"/>
                </a:solidFill>
                <a:effectLst/>
                <a:latin typeface="+mn-lt"/>
                <a:ea typeface="+mn-ea"/>
                <a:cs typeface="+mn-cs"/>
              </a:rPr>
              <a:t>	Selling, general and administrative = a bit of both (sales commissions would be variable but the CEO salary fixed)	</a:t>
            </a:r>
          </a:p>
          <a:p>
            <a:pPr lvl="1"/>
            <a:r>
              <a:rPr lang="en-US" sz="1200" kern="1200" dirty="0">
                <a:solidFill>
                  <a:schemeClr val="tx1"/>
                </a:solidFill>
                <a:effectLst/>
                <a:latin typeface="+mn-lt"/>
                <a:ea typeface="+mn-ea"/>
                <a:cs typeface="+mn-cs"/>
              </a:rPr>
              <a:t>	Interest expense (the cost of borrowing money) = fixed</a:t>
            </a:r>
          </a:p>
        </p:txBody>
      </p:sp>
      <p:sp>
        <p:nvSpPr>
          <p:cNvPr id="4" name="Slide Number Placeholder 3"/>
          <p:cNvSpPr>
            <a:spLocks noGrp="1"/>
          </p:cNvSpPr>
          <p:nvPr>
            <p:ph type="sldNum" sz="quarter" idx="5"/>
          </p:nvPr>
        </p:nvSpPr>
        <p:spPr/>
        <p:txBody>
          <a:bodyPr/>
          <a:lstStyle/>
          <a:p>
            <a:fld id="{8D36AC2A-E969-3C46-9ED8-B46D40C5E669}" type="slidenum">
              <a:rPr lang="en-US" smtClean="0"/>
              <a:t>25</a:t>
            </a:fld>
            <a:endParaRPr lang="en-US"/>
          </a:p>
        </p:txBody>
      </p:sp>
    </p:spTree>
    <p:extLst>
      <p:ext uri="{BB962C8B-B14F-4D97-AF65-F5344CB8AC3E}">
        <p14:creationId xmlns:p14="http://schemas.microsoft.com/office/powerpoint/2010/main" val="34048360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measure profit, we subtract total cost from total revenue.</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Profit = TR – TC</a:t>
            </a:r>
          </a:p>
          <a:p>
            <a:pPr lvl="0"/>
            <a:r>
              <a:rPr lang="en-US" sz="1200" kern="1200" dirty="0">
                <a:solidFill>
                  <a:schemeClr val="tx1"/>
                </a:solidFill>
                <a:effectLst/>
                <a:latin typeface="+mn-lt"/>
                <a:ea typeface="+mn-ea"/>
                <a:cs typeface="+mn-cs"/>
              </a:rPr>
              <a:t>We can rewrite this as:</a:t>
            </a:r>
          </a:p>
          <a:p>
            <a:pPr lvl="0"/>
            <a:r>
              <a:rPr lang="en-US" sz="1200" kern="1200" dirty="0">
                <a:solidFill>
                  <a:schemeClr val="tx1"/>
                </a:solidFill>
                <a:effectLst/>
                <a:latin typeface="+mn-lt"/>
                <a:ea typeface="+mn-ea"/>
                <a:cs typeface="+mn-cs"/>
              </a:rPr>
              <a:t>Profit = P*Q – ATC*Q</a:t>
            </a:r>
          </a:p>
          <a:p>
            <a:pPr lvl="0"/>
            <a:r>
              <a:rPr lang="en-US" sz="1200" kern="1200" dirty="0">
                <a:solidFill>
                  <a:schemeClr val="tx1"/>
                </a:solidFill>
                <a:effectLst/>
                <a:latin typeface="+mn-lt"/>
                <a:ea typeface="+mn-ea"/>
                <a:cs typeface="+mn-cs"/>
              </a:rPr>
              <a:t>Profit = (P – ATC)*Q</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This formula determines whether the firm has positive, zero, or negative profit.</a:t>
            </a:r>
          </a:p>
          <a:p>
            <a:pPr lvl="0"/>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Positive profit</a:t>
            </a:r>
            <a:r>
              <a:rPr lang="en-US" sz="1200" b="1"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In this figure, the firm’s total revenue is the area of the rectangle with height P and width Q*. The total cost is the area of the rectangle with the height ATC* and the width Q*. Because total revenue exceeds total costs at Q*, the firm is earning positive profits. This equation tells us that profit is positive when P&gt;ATC at the profit maximizing quantity Q*. </a:t>
            </a:r>
          </a:p>
          <a:p>
            <a:pPr lvl="0"/>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Zero profit:</a:t>
            </a:r>
            <a:r>
              <a:rPr lang="en-US" sz="1200" b="1"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Here P=ATC (=MC). We know that MC intersects ATC at its minimum. </a:t>
            </a:r>
          </a:p>
          <a:p>
            <a:pPr lvl="0"/>
            <a:endParaRPr lang="en-US" sz="1200" b="1"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Negative profit:</a:t>
            </a:r>
            <a:r>
              <a:rPr lang="en-US" sz="1200" b="1"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P&lt;ATC</a:t>
            </a:r>
          </a:p>
          <a:p>
            <a:endParaRPr lang="en-US" dirty="0"/>
          </a:p>
        </p:txBody>
      </p:sp>
      <p:sp>
        <p:nvSpPr>
          <p:cNvPr id="4" name="Slide Number Placeholder 3"/>
          <p:cNvSpPr>
            <a:spLocks noGrp="1"/>
          </p:cNvSpPr>
          <p:nvPr>
            <p:ph type="sldNum" sz="quarter" idx="10"/>
          </p:nvPr>
        </p:nvSpPr>
        <p:spPr/>
        <p:txBody>
          <a:bodyPr/>
          <a:lstStyle/>
          <a:p>
            <a:fld id="{8D36AC2A-E969-3C46-9ED8-B46D40C5E669}" type="slidenum">
              <a:rPr lang="en-US" smtClean="0"/>
              <a:t>26</a:t>
            </a:fld>
            <a:endParaRPr lang="en-US"/>
          </a:p>
        </p:txBody>
      </p:sp>
    </p:spTree>
    <p:extLst>
      <p:ext uri="{BB962C8B-B14F-4D97-AF65-F5344CB8AC3E}">
        <p14:creationId xmlns:p14="http://schemas.microsoft.com/office/powerpoint/2010/main" val="9270040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mc:Choice>
        <mc:Fallback xmlns="">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Profit maximization in the short run</a:t>
                </a:r>
                <a:r>
                  <a:rPr lang="en-US" sz="1200" kern="1200" dirty="0" smtClean="0">
                    <a:solidFill>
                      <a:schemeClr val="tx1"/>
                    </a:solidFill>
                    <a:effectLst/>
                    <a:latin typeface="+mn-lt"/>
                    <a:ea typeface="+mn-ea"/>
                    <a:cs typeface="+mn-cs"/>
                  </a:rPr>
                  <a:t>. </a:t>
                </a:r>
              </a:p>
              <a:p>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First</a:t>
                </a:r>
                <a:r>
                  <a:rPr lang="en-US" sz="1200" b="1" kern="1200" baseline="0" dirty="0" smtClean="0">
                    <a:solidFill>
                      <a:schemeClr val="tx1"/>
                    </a:solidFill>
                    <a:effectLst/>
                    <a:latin typeface="+mn-lt"/>
                    <a:ea typeface="+mn-ea"/>
                    <a:cs typeface="+mn-cs"/>
                  </a:rPr>
                  <a:t> question:</a:t>
                </a:r>
                <a:r>
                  <a:rPr lang="en-US" sz="1200" kern="1200" baseline="0" dirty="0" smtClean="0">
                    <a:solidFill>
                      <a:schemeClr val="tx1"/>
                    </a:solidFill>
                    <a:effectLst/>
                    <a:latin typeface="+mn-lt"/>
                    <a:ea typeface="+mn-ea"/>
                    <a:cs typeface="+mn-cs"/>
                  </a:rPr>
                  <a:t> </a:t>
                </a:r>
                <a:r>
                  <a:rPr lang="en-US" sz="1200" kern="1200" baseline="0" dirty="0" smtClean="0">
                    <a:solidFill>
                      <a:schemeClr val="tx1"/>
                    </a:solidFill>
                    <a:effectLst/>
                    <a:latin typeface="+mn-lt"/>
                    <a:ea typeface="+mn-ea"/>
                    <a:cs typeface="+mn-cs"/>
                  </a:rPr>
                  <a:t>Should</a:t>
                </a:r>
                <a:r>
                  <a:rPr lang="en-US" sz="1200" kern="120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we operate? Yes if </a:t>
                </a:r>
                <a:r>
                  <a:rPr lang="en-US" sz="1200" kern="1200" dirty="0" smtClean="0">
                    <a:solidFill>
                      <a:schemeClr val="tx1"/>
                    </a:solidFill>
                    <a:effectLst/>
                    <a:latin typeface="+mn-lt"/>
                    <a:ea typeface="+mn-ea"/>
                    <a:cs typeface="+mn-cs"/>
                  </a:rPr>
                  <a:t>P</a:t>
                </a:r>
                <a:r>
                  <a:rPr lang="en-US" sz="1200" i="0" kern="1200" smtClean="0">
                    <a:solidFill>
                      <a:schemeClr val="tx1"/>
                    </a:solidFill>
                    <a:effectLst/>
                    <a:latin typeface="Cambria Math" charset="0"/>
                    <a:ea typeface="Cambria Math" charset="0"/>
                    <a:cs typeface="Cambria Math" charset="0"/>
                  </a:rPr>
                  <a:t>≥</a:t>
                </a:r>
                <a:r>
                  <a:rPr lang="en-US" sz="1200" kern="1200" dirty="0" smtClean="0">
                    <a:solidFill>
                      <a:schemeClr val="tx1"/>
                    </a:solidFill>
                    <a:effectLst/>
                    <a:latin typeface="+mn-lt"/>
                    <a:ea typeface="+mn-ea"/>
                    <a:cs typeface="+mn-cs"/>
                  </a:rPr>
                  <a:t>AVC </a:t>
                </a:r>
                <a:r>
                  <a:rPr lang="en-US" sz="1200" kern="1200" dirty="0" smtClean="0">
                    <a:solidFill>
                      <a:schemeClr val="tx1"/>
                    </a:solidFill>
                    <a:effectLst/>
                    <a:latin typeface="+mn-lt"/>
                    <a:ea typeface="+mn-ea"/>
                    <a:cs typeface="+mn-cs"/>
                  </a:rPr>
                  <a:t>where </a:t>
                </a:r>
                <a:r>
                  <a:rPr lang="en-US" sz="1200" kern="1200" dirty="0" smtClean="0">
                    <a:solidFill>
                      <a:schemeClr val="tx1"/>
                    </a:solidFill>
                    <a:effectLst/>
                    <a:latin typeface="+mn-lt"/>
                    <a:ea typeface="+mn-ea"/>
                    <a:cs typeface="+mn-cs"/>
                  </a:rPr>
                  <a:t>P=MR=MC and Q is at the optimal level. </a:t>
                </a:r>
                <a:r>
                  <a:rPr lang="en-US" sz="1200" kern="1200" dirty="0" smtClean="0">
                    <a:solidFill>
                      <a:schemeClr val="tx1"/>
                    </a:solidFill>
                    <a:effectLst/>
                    <a:latin typeface="+mn-lt"/>
                    <a:ea typeface="+mn-ea"/>
                    <a:cs typeface="+mn-cs"/>
                  </a:rPr>
                  <a:t>There is a range of output where a positive contribution can be made. </a:t>
                </a:r>
                <a:endParaRPr lang="en-US" sz="1200" kern="1200" dirty="0" smtClean="0">
                  <a:solidFill>
                    <a:schemeClr val="tx1"/>
                  </a:solidFill>
                  <a:effectLst/>
                  <a:latin typeface="+mn-lt"/>
                  <a:ea typeface="+mn-ea"/>
                  <a:cs typeface="+mn-cs"/>
                </a:endParaRPr>
              </a:p>
              <a:p>
                <a:endParaRPr lang="en-US" sz="1200" kern="1200" dirty="0" smtClean="0">
                  <a:solidFill>
                    <a:schemeClr val="tx1"/>
                  </a:solidFill>
                  <a:effectLst/>
                  <a:latin typeface="+mn-lt"/>
                  <a:ea typeface="+mn-ea"/>
                  <a:cs typeface="+mn-cs"/>
                </a:endParaRPr>
              </a:p>
            </p:txBody>
          </p:sp>
        </mc:Fallback>
      </mc:AlternateContent>
      <p:sp>
        <p:nvSpPr>
          <p:cNvPr id="4" name="Slide Number Placeholder 3"/>
          <p:cNvSpPr>
            <a:spLocks noGrp="1"/>
          </p:cNvSpPr>
          <p:nvPr>
            <p:ph type="sldNum" sz="quarter" idx="10"/>
          </p:nvPr>
        </p:nvSpPr>
        <p:spPr/>
        <p:txBody>
          <a:bodyPr/>
          <a:lstStyle/>
          <a:p>
            <a:fld id="{8D36AC2A-E969-3C46-9ED8-B46D40C5E669}" type="slidenum">
              <a:rPr lang="en-US" smtClean="0"/>
              <a:t>27</a:t>
            </a:fld>
            <a:endParaRPr lang="en-US"/>
          </a:p>
        </p:txBody>
      </p:sp>
    </p:spTree>
    <p:extLst>
      <p:ext uri="{BB962C8B-B14F-4D97-AF65-F5344CB8AC3E}">
        <p14:creationId xmlns:p14="http://schemas.microsoft.com/office/powerpoint/2010/main" val="14210818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mc:Choice>
        <mc:Fallback xmlns="">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Profit maximization in the short run</a:t>
                </a:r>
                <a:r>
                  <a:rPr lang="en-US" sz="1200" kern="1200" dirty="0" smtClean="0">
                    <a:solidFill>
                      <a:schemeClr val="tx1"/>
                    </a:solidFill>
                    <a:effectLst/>
                    <a:latin typeface="+mn-lt"/>
                    <a:ea typeface="+mn-ea"/>
                    <a:cs typeface="+mn-cs"/>
                  </a:rPr>
                  <a:t>. </a:t>
                </a:r>
              </a:p>
              <a:p>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First</a:t>
                </a:r>
                <a:r>
                  <a:rPr lang="en-US" sz="1200" b="1" kern="1200" baseline="0" dirty="0" smtClean="0">
                    <a:solidFill>
                      <a:schemeClr val="tx1"/>
                    </a:solidFill>
                    <a:effectLst/>
                    <a:latin typeface="+mn-lt"/>
                    <a:ea typeface="+mn-ea"/>
                    <a:cs typeface="+mn-cs"/>
                  </a:rPr>
                  <a:t> question:</a:t>
                </a:r>
                <a:r>
                  <a:rPr lang="en-US" sz="1200" kern="1200" baseline="0" dirty="0" smtClean="0">
                    <a:solidFill>
                      <a:schemeClr val="tx1"/>
                    </a:solidFill>
                    <a:effectLst/>
                    <a:latin typeface="+mn-lt"/>
                    <a:ea typeface="+mn-ea"/>
                    <a:cs typeface="+mn-cs"/>
                  </a:rPr>
                  <a:t> </a:t>
                </a:r>
                <a:r>
                  <a:rPr lang="en-US" sz="1200" kern="1200" baseline="0" dirty="0" smtClean="0">
                    <a:solidFill>
                      <a:schemeClr val="tx1"/>
                    </a:solidFill>
                    <a:effectLst/>
                    <a:latin typeface="+mn-lt"/>
                    <a:ea typeface="+mn-ea"/>
                    <a:cs typeface="+mn-cs"/>
                  </a:rPr>
                  <a:t>Should</a:t>
                </a:r>
                <a:r>
                  <a:rPr lang="en-US" sz="1200" kern="120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we operate? Yes if </a:t>
                </a:r>
                <a:r>
                  <a:rPr lang="en-US" sz="1200" kern="1200" dirty="0" smtClean="0">
                    <a:solidFill>
                      <a:schemeClr val="tx1"/>
                    </a:solidFill>
                    <a:effectLst/>
                    <a:latin typeface="+mn-lt"/>
                    <a:ea typeface="+mn-ea"/>
                    <a:cs typeface="+mn-cs"/>
                  </a:rPr>
                  <a:t>P</a:t>
                </a:r>
                <a:r>
                  <a:rPr lang="en-US" sz="1200" i="0" kern="1200" smtClean="0">
                    <a:solidFill>
                      <a:schemeClr val="tx1"/>
                    </a:solidFill>
                    <a:effectLst/>
                    <a:latin typeface="Cambria Math" charset="0"/>
                    <a:ea typeface="Cambria Math" charset="0"/>
                    <a:cs typeface="Cambria Math" charset="0"/>
                  </a:rPr>
                  <a:t>≥</a:t>
                </a:r>
                <a:r>
                  <a:rPr lang="en-US" sz="1200" kern="1200" dirty="0" smtClean="0">
                    <a:solidFill>
                      <a:schemeClr val="tx1"/>
                    </a:solidFill>
                    <a:effectLst/>
                    <a:latin typeface="+mn-lt"/>
                    <a:ea typeface="+mn-ea"/>
                    <a:cs typeface="+mn-cs"/>
                  </a:rPr>
                  <a:t>AVC </a:t>
                </a:r>
                <a:r>
                  <a:rPr lang="en-US" sz="1200" kern="1200" dirty="0" smtClean="0">
                    <a:solidFill>
                      <a:schemeClr val="tx1"/>
                    </a:solidFill>
                    <a:effectLst/>
                    <a:latin typeface="+mn-lt"/>
                    <a:ea typeface="+mn-ea"/>
                    <a:cs typeface="+mn-cs"/>
                  </a:rPr>
                  <a:t>where </a:t>
                </a:r>
                <a:r>
                  <a:rPr lang="en-US" sz="1200" kern="1200" dirty="0" smtClean="0">
                    <a:solidFill>
                      <a:schemeClr val="tx1"/>
                    </a:solidFill>
                    <a:effectLst/>
                    <a:latin typeface="+mn-lt"/>
                    <a:ea typeface="+mn-ea"/>
                    <a:cs typeface="+mn-cs"/>
                  </a:rPr>
                  <a:t>P=MR=MC and Q is at the optimal level. </a:t>
                </a:r>
                <a:r>
                  <a:rPr lang="en-US" sz="1200" kern="1200" dirty="0" smtClean="0">
                    <a:solidFill>
                      <a:schemeClr val="tx1"/>
                    </a:solidFill>
                    <a:effectLst/>
                    <a:latin typeface="+mn-lt"/>
                    <a:ea typeface="+mn-ea"/>
                    <a:cs typeface="+mn-cs"/>
                  </a:rPr>
                  <a:t>There is a range of output where a positive contribution can be made. </a:t>
                </a:r>
                <a:endParaRPr lang="en-US" sz="1200" kern="1200" dirty="0" smtClean="0">
                  <a:solidFill>
                    <a:schemeClr val="tx1"/>
                  </a:solidFill>
                  <a:effectLst/>
                  <a:latin typeface="+mn-lt"/>
                  <a:ea typeface="+mn-ea"/>
                  <a:cs typeface="+mn-cs"/>
                </a:endParaRPr>
              </a:p>
              <a:p>
                <a:endParaRPr lang="en-US" sz="1200" kern="1200" dirty="0" smtClean="0">
                  <a:solidFill>
                    <a:schemeClr val="tx1"/>
                  </a:solidFill>
                  <a:effectLst/>
                  <a:latin typeface="+mn-lt"/>
                  <a:ea typeface="+mn-ea"/>
                  <a:cs typeface="+mn-cs"/>
                </a:endParaRPr>
              </a:p>
            </p:txBody>
          </p:sp>
        </mc:Fallback>
      </mc:AlternateContent>
      <p:sp>
        <p:nvSpPr>
          <p:cNvPr id="4" name="Slide Number Placeholder 3"/>
          <p:cNvSpPr>
            <a:spLocks noGrp="1"/>
          </p:cNvSpPr>
          <p:nvPr>
            <p:ph type="sldNum" sz="quarter" idx="10"/>
          </p:nvPr>
        </p:nvSpPr>
        <p:spPr/>
        <p:txBody>
          <a:bodyPr/>
          <a:lstStyle/>
          <a:p>
            <a:fld id="{8D36AC2A-E969-3C46-9ED8-B46D40C5E669}" type="slidenum">
              <a:rPr lang="en-US" smtClean="0"/>
              <a:t>28</a:t>
            </a:fld>
            <a:endParaRPr lang="en-US"/>
          </a:p>
        </p:txBody>
      </p:sp>
    </p:spTree>
    <p:extLst>
      <p:ext uri="{BB962C8B-B14F-4D97-AF65-F5344CB8AC3E}">
        <p14:creationId xmlns:p14="http://schemas.microsoft.com/office/powerpoint/2010/main" val="3826972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2 and 3 solved by instructor</a:t>
            </a:r>
          </a:p>
        </p:txBody>
      </p:sp>
      <p:sp>
        <p:nvSpPr>
          <p:cNvPr id="4" name="Slide Number Placeholder 3"/>
          <p:cNvSpPr>
            <a:spLocks noGrp="1"/>
          </p:cNvSpPr>
          <p:nvPr>
            <p:ph type="sldNum" sz="quarter" idx="5"/>
          </p:nvPr>
        </p:nvSpPr>
        <p:spPr/>
        <p:txBody>
          <a:bodyPr/>
          <a:lstStyle/>
          <a:p>
            <a:fld id="{8D36AC2A-E969-3C46-9ED8-B46D40C5E669}" type="slidenum">
              <a:rPr lang="en-US" smtClean="0"/>
              <a:t>29</a:t>
            </a:fld>
            <a:endParaRPr lang="en-US"/>
          </a:p>
        </p:txBody>
      </p:sp>
    </p:spTree>
    <p:extLst>
      <p:ext uri="{BB962C8B-B14F-4D97-AF65-F5344CB8AC3E}">
        <p14:creationId xmlns:p14="http://schemas.microsoft.com/office/powerpoint/2010/main" val="38676776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What is the optimal quantity produced?
https://www.polleverywhere.com/multiple_choice_polls/Zwza1GbC7sIapRu20fIpK?display_state=chart&amp;activity_state=opened&amp;state=opened&amp;flow=Default&amp;onscreen=persist</a:t>
            </a:r>
          </a:p>
        </p:txBody>
      </p:sp>
      <p:sp>
        <p:nvSpPr>
          <p:cNvPr id="4" name="Slide Number Placeholder 3"/>
          <p:cNvSpPr>
            <a:spLocks noGrp="1"/>
          </p:cNvSpPr>
          <p:nvPr>
            <p:ph type="sldNum" sz="quarter" idx="5"/>
          </p:nvPr>
        </p:nvSpPr>
        <p:spPr/>
        <p:txBody>
          <a:bodyPr/>
          <a:lstStyle/>
          <a:p>
            <a:fld id="{8D36AC2A-E969-3C46-9ED8-B46D40C5E669}" type="slidenum">
              <a:rPr lang="en-US" smtClean="0"/>
              <a:t>30</a:t>
            </a:fld>
            <a:endParaRPr lang="en-US"/>
          </a:p>
        </p:txBody>
      </p:sp>
      <p:sp>
        <p:nvSpPr>
          <p:cNvPr id="5" name="TextBox 4">
            <a:extLst>
              <a:ext uri="{FF2B5EF4-FFF2-40B4-BE49-F238E27FC236}">
                <a16:creationId xmlns:a16="http://schemas.microsoft.com/office/drawing/2014/main" id="{486386BF-EC4F-46EA-8BE3-F3F1610C5815}"/>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22953656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31</a:t>
            </a:fld>
            <a:endParaRPr lang="en-US"/>
          </a:p>
        </p:txBody>
      </p:sp>
    </p:spTree>
    <p:extLst>
      <p:ext uri="{BB962C8B-B14F-4D97-AF65-F5344CB8AC3E}">
        <p14:creationId xmlns:p14="http://schemas.microsoft.com/office/powerpoint/2010/main" val="16052867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14B94B4F-1C3E-42AD-8B65-1B752C8E558F}" type="slidenum">
              <a:rPr lang="en-US" smtClean="0"/>
              <a:pPr>
                <a:defRPr/>
              </a:pPr>
              <a:t>32</a:t>
            </a:fld>
            <a:endParaRPr lang="en-US"/>
          </a:p>
        </p:txBody>
      </p:sp>
    </p:spTree>
    <p:extLst>
      <p:ext uri="{BB962C8B-B14F-4D97-AF65-F5344CB8AC3E}">
        <p14:creationId xmlns:p14="http://schemas.microsoft.com/office/powerpoint/2010/main" val="30819624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kern="1200" dirty="0" err="1">
                <a:solidFill>
                  <a:schemeClr val="tx1"/>
                </a:solidFill>
                <a:effectLst/>
                <a:latin typeface="+mn-lt"/>
                <a:ea typeface="+mn-ea"/>
                <a:cs typeface="+mn-cs"/>
              </a:rPr>
              <a:t>Recap</a:t>
            </a:r>
            <a:r>
              <a:rPr lang="fr-FR" sz="1200" b="0" kern="1200" dirty="0">
                <a:solidFill>
                  <a:schemeClr val="tx1"/>
                </a:solidFill>
                <a:effectLst/>
                <a:latin typeface="+mn-lt"/>
                <a:ea typeface="+mn-ea"/>
                <a:cs typeface="+mn-cs"/>
              </a:rPr>
              <a:t> slides, </a:t>
            </a:r>
            <a:r>
              <a:rPr lang="fr-FR" sz="1200" b="0" kern="1200" dirty="0" err="1">
                <a:solidFill>
                  <a:schemeClr val="tx1"/>
                </a:solidFill>
                <a:effectLst/>
                <a:latin typeface="+mn-lt"/>
                <a:ea typeface="+mn-ea"/>
                <a:cs typeface="+mn-cs"/>
              </a:rPr>
              <a:t>say</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that</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we</a:t>
            </a:r>
            <a:r>
              <a:rPr lang="fr-FR" sz="1200" b="0" kern="1200" dirty="0">
                <a:solidFill>
                  <a:schemeClr val="tx1"/>
                </a:solidFill>
                <a:effectLst/>
                <a:latin typeface="+mn-lt"/>
                <a:ea typeface="+mn-ea"/>
                <a:cs typeface="+mn-cs"/>
              </a:rPr>
              <a:t> show </a:t>
            </a:r>
            <a:r>
              <a:rPr lang="fr-FR" sz="1200" b="0" kern="1200" dirty="0" err="1">
                <a:solidFill>
                  <a:schemeClr val="tx1"/>
                </a:solidFill>
                <a:effectLst/>
                <a:latin typeface="+mn-lt"/>
                <a:ea typeface="+mn-ea"/>
                <a:cs typeface="+mn-cs"/>
              </a:rPr>
              <a:t>them</a:t>
            </a:r>
            <a:r>
              <a:rPr lang="fr-FR" sz="1200" b="0" kern="1200" dirty="0">
                <a:solidFill>
                  <a:schemeClr val="tx1"/>
                </a:solidFill>
                <a:effectLst/>
                <a:latin typeface="+mn-lt"/>
                <a:ea typeface="+mn-ea"/>
                <a:cs typeface="+mn-cs"/>
              </a:rPr>
              <a:t> in the </a:t>
            </a:r>
            <a:r>
              <a:rPr lang="fr-FR" sz="1200" b="0" kern="1200" dirty="0" err="1">
                <a:solidFill>
                  <a:schemeClr val="tx1"/>
                </a:solidFill>
                <a:effectLst/>
                <a:latin typeface="+mn-lt"/>
                <a:ea typeface="+mn-ea"/>
                <a:cs typeface="+mn-cs"/>
              </a:rPr>
              <a:t>general</a:t>
            </a:r>
            <a:r>
              <a:rPr lang="fr-FR" sz="1200" b="0" kern="1200" dirty="0">
                <a:solidFill>
                  <a:schemeClr val="tx1"/>
                </a:solidFill>
                <a:effectLst/>
                <a:latin typeface="+mn-lt"/>
                <a:ea typeface="+mn-ea"/>
                <a:cs typeface="+mn-cs"/>
              </a:rPr>
              <a:t> case (MC not </a:t>
            </a:r>
            <a:r>
              <a:rPr lang="fr-FR" sz="1200" b="0" kern="1200" dirty="0" err="1">
                <a:solidFill>
                  <a:schemeClr val="tx1"/>
                </a:solidFill>
                <a:effectLst/>
                <a:latin typeface="+mn-lt"/>
                <a:ea typeface="+mn-ea"/>
                <a:cs typeface="+mn-cs"/>
              </a:rPr>
              <a:t>linear</a:t>
            </a:r>
            <a:r>
              <a:rPr lang="fr-FR" sz="1200" b="0" kern="1200" dirty="0">
                <a:solidFill>
                  <a:schemeClr val="tx1"/>
                </a:solidFill>
                <a:effectLst/>
                <a:latin typeface="+mn-lt"/>
                <a:ea typeface="+mn-ea"/>
                <a:cs typeface="+mn-cs"/>
              </a:rPr>
              <a:t>)</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Context: At the beginning can sell at a very high price… Profit maximization in the short run. This figure depicts</a:t>
            </a:r>
            <a:r>
              <a:rPr lang="en-US" sz="1200" b="0" kern="1200" baseline="0" dirty="0">
                <a:solidFill>
                  <a:schemeClr val="tx1"/>
                </a:solidFill>
                <a:effectLst/>
                <a:latin typeface="+mn-lt"/>
                <a:ea typeface="+mn-ea"/>
                <a:cs typeface="+mn-cs"/>
              </a:rPr>
              <a:t> positive profit in the short run.</a:t>
            </a:r>
            <a:endParaRPr lang="en-US" sz="1200" b="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8D36AC2A-E969-3C46-9ED8-B46D40C5E669}" type="slidenum">
              <a:rPr lang="en-US" smtClean="0"/>
              <a:t>33</a:t>
            </a:fld>
            <a:endParaRPr lang="en-US"/>
          </a:p>
        </p:txBody>
      </p:sp>
    </p:spTree>
    <p:extLst>
      <p:ext uri="{BB962C8B-B14F-4D97-AF65-F5344CB8AC3E}">
        <p14:creationId xmlns:p14="http://schemas.microsoft.com/office/powerpoint/2010/main" val="12218232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Then the price decreases… This figure depicts a</a:t>
                </a:r>
                <a:r>
                  <a:rPr lang="en-US" sz="1200" b="0" kern="1200" baseline="0" dirty="0">
                    <a:solidFill>
                      <a:schemeClr val="tx1"/>
                    </a:solidFill>
                    <a:effectLst/>
                    <a:latin typeface="+mn-lt"/>
                    <a:ea typeface="+mn-ea"/>
                    <a:cs typeface="+mn-cs"/>
                  </a:rPr>
                  <a:t> firm that should operate at a l</a:t>
                </a:r>
                <a:r>
                  <a:rPr lang="en-US" sz="1200" b="0" kern="1200" dirty="0">
                    <a:solidFill>
                      <a:schemeClr val="tx1"/>
                    </a:solidFill>
                    <a:effectLst/>
                    <a:latin typeface="+mn-lt"/>
                    <a:ea typeface="+mn-ea"/>
                    <a:cs typeface="+mn-cs"/>
                  </a:rPr>
                  <a:t>oss in the short run. </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Should we operate? Here P&lt;ATC so there is a loss but the real test is whether P</a:t>
                </a:r>
                <a14:m>
                  <m:oMath xmlns:m="http://schemas.openxmlformats.org/officeDocument/2006/math">
                    <m:r>
                      <a:rPr lang="en-US" sz="1200" b="0" i="1" kern="1200" smtClean="0">
                        <a:solidFill>
                          <a:schemeClr val="tx1"/>
                        </a:solidFill>
                        <a:effectLst/>
                        <a:latin typeface="Cambria Math" charset="0"/>
                        <a:ea typeface="Cambria Math" charset="0"/>
                        <a:cs typeface="Cambria Math" charset="0"/>
                      </a:rPr>
                      <m:t>≥</m:t>
                    </m:r>
                  </m:oMath>
                </a14:m>
                <a:r>
                  <a:rPr lang="en-US" sz="1200" b="0" kern="1200" dirty="0">
                    <a:solidFill>
                      <a:schemeClr val="tx1"/>
                    </a:solidFill>
                    <a:effectLst/>
                    <a:latin typeface="+mn-lt"/>
                    <a:ea typeface="+mn-ea"/>
                    <a:cs typeface="+mn-cs"/>
                  </a:rPr>
                  <a:t>AVC. There is a range where P</a:t>
                </a:r>
                <a14:m>
                  <m:oMath xmlns:m="http://schemas.openxmlformats.org/officeDocument/2006/math">
                    <m:r>
                      <a:rPr lang="en-US" sz="1200" b="0" i="1" kern="1200" smtClean="0">
                        <a:solidFill>
                          <a:schemeClr val="tx1"/>
                        </a:solidFill>
                        <a:effectLst/>
                        <a:latin typeface="Cambria Math" charset="0"/>
                        <a:ea typeface="Cambria Math" charset="0"/>
                        <a:cs typeface="Cambria Math" charset="0"/>
                      </a:rPr>
                      <m:t>≥</m:t>
                    </m:r>
                  </m:oMath>
                </a14:m>
                <a:r>
                  <a:rPr lang="en-US" sz="1200" b="0" kern="1200" dirty="0">
                    <a:solidFill>
                      <a:schemeClr val="tx1"/>
                    </a:solidFill>
                    <a:effectLst/>
                    <a:latin typeface="+mn-lt"/>
                    <a:ea typeface="+mn-ea"/>
                    <a:cs typeface="+mn-cs"/>
                  </a:rPr>
                  <a:t>AVC and there is a positive contribution. You want to operate in that range. </a:t>
                </a:r>
              </a:p>
              <a:p>
                <a:endParaRPr lang="en-US" sz="1200" kern="1200" dirty="0">
                  <a:solidFill>
                    <a:schemeClr val="tx1"/>
                  </a:solidFill>
                  <a:effectLst/>
                  <a:latin typeface="+mn-lt"/>
                  <a:ea typeface="+mn-ea"/>
                  <a:cs typeface="+mn-cs"/>
                </a:endParaRPr>
              </a:p>
            </p:txBody>
          </p:sp>
        </mc:Choice>
        <mc:Fallback xmlns="">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Then the price decreases… This figure depicts a</a:t>
                </a:r>
                <a:r>
                  <a:rPr lang="en-US" sz="1200" b="0" kern="1200" baseline="0" dirty="0">
                    <a:solidFill>
                      <a:schemeClr val="tx1"/>
                    </a:solidFill>
                    <a:effectLst/>
                    <a:latin typeface="+mn-lt"/>
                    <a:ea typeface="+mn-ea"/>
                    <a:cs typeface="+mn-cs"/>
                  </a:rPr>
                  <a:t> firm that should operate at a l</a:t>
                </a:r>
                <a:r>
                  <a:rPr lang="en-US" sz="1200" b="0" kern="1200" dirty="0">
                    <a:solidFill>
                      <a:schemeClr val="tx1"/>
                    </a:solidFill>
                    <a:effectLst/>
                    <a:latin typeface="+mn-lt"/>
                    <a:ea typeface="+mn-ea"/>
                    <a:cs typeface="+mn-cs"/>
                  </a:rPr>
                  <a:t>oss in the short run. </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Should we operate? Here P&lt;ATC so there is a loss but the real test is whether P</a:t>
                </a:r>
                <a:r>
                  <a:rPr lang="en-US" sz="1200" b="0" i="0" kern="1200">
                    <a:solidFill>
                      <a:schemeClr val="tx1"/>
                    </a:solidFill>
                    <a:effectLst/>
                    <a:latin typeface="Cambria Math" charset="0"/>
                    <a:ea typeface="Cambria Math" charset="0"/>
                    <a:cs typeface="Cambria Math" charset="0"/>
                  </a:rPr>
                  <a:t>≥</a:t>
                </a:r>
                <a:r>
                  <a:rPr lang="en-US" sz="1200" b="0" kern="1200" dirty="0">
                    <a:solidFill>
                      <a:schemeClr val="tx1"/>
                    </a:solidFill>
                    <a:effectLst/>
                    <a:latin typeface="+mn-lt"/>
                    <a:ea typeface="+mn-ea"/>
                    <a:cs typeface="+mn-cs"/>
                  </a:rPr>
                  <a:t>AVC. There is a range where P</a:t>
                </a:r>
                <a:r>
                  <a:rPr lang="en-US" sz="1200" b="0" i="0" kern="1200">
                    <a:solidFill>
                      <a:schemeClr val="tx1"/>
                    </a:solidFill>
                    <a:effectLst/>
                    <a:latin typeface="Cambria Math" charset="0"/>
                    <a:ea typeface="Cambria Math" charset="0"/>
                    <a:cs typeface="Cambria Math" charset="0"/>
                  </a:rPr>
                  <a:t>≥</a:t>
                </a:r>
                <a:r>
                  <a:rPr lang="en-US" sz="1200" b="0" kern="1200" dirty="0">
                    <a:solidFill>
                      <a:schemeClr val="tx1"/>
                    </a:solidFill>
                    <a:effectLst/>
                    <a:latin typeface="+mn-lt"/>
                    <a:ea typeface="+mn-ea"/>
                    <a:cs typeface="+mn-cs"/>
                  </a:rPr>
                  <a:t>AVC and there is a positive contribution. You want to operate in that range. </a:t>
                </a:r>
              </a:p>
              <a:p>
                <a:endParaRPr lang="en-US" sz="1200" kern="1200" dirty="0">
                  <a:solidFill>
                    <a:schemeClr val="tx1"/>
                  </a:solidFill>
                  <a:effectLst/>
                  <a:latin typeface="+mn-lt"/>
                  <a:ea typeface="+mn-ea"/>
                  <a:cs typeface="+mn-cs"/>
                </a:endParaRPr>
              </a:p>
            </p:txBody>
          </p:sp>
        </mc:Fallback>
      </mc:AlternateContent>
      <p:sp>
        <p:nvSpPr>
          <p:cNvPr id="4" name="Slide Number Placeholder 3"/>
          <p:cNvSpPr>
            <a:spLocks noGrp="1"/>
          </p:cNvSpPr>
          <p:nvPr>
            <p:ph type="sldNum" sz="quarter" idx="5"/>
          </p:nvPr>
        </p:nvSpPr>
        <p:spPr/>
        <p:txBody>
          <a:bodyPr/>
          <a:lstStyle/>
          <a:p>
            <a:fld id="{8D36AC2A-E969-3C46-9ED8-B46D40C5E669}" type="slidenum">
              <a:rPr lang="en-US" smtClean="0"/>
              <a:t>34</a:t>
            </a:fld>
            <a:endParaRPr lang="en-US"/>
          </a:p>
        </p:txBody>
      </p:sp>
    </p:spTree>
    <p:extLst>
      <p:ext uri="{BB962C8B-B14F-4D97-AF65-F5344CB8AC3E}">
        <p14:creationId xmlns:p14="http://schemas.microsoft.com/office/powerpoint/2010/main" val="8907455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The price continues to decrease… This figure depicts</a:t>
                </a:r>
                <a:r>
                  <a:rPr lang="en-US" sz="1200" b="0" kern="1200" baseline="0" dirty="0">
                    <a:solidFill>
                      <a:schemeClr val="tx1"/>
                    </a:solidFill>
                    <a:effectLst/>
                    <a:latin typeface="+mn-lt"/>
                    <a:ea typeface="+mn-ea"/>
                    <a:cs typeface="+mn-cs"/>
                  </a:rPr>
                  <a:t> a firm that should shut down </a:t>
                </a:r>
                <a:r>
                  <a:rPr lang="en-US" sz="1200" b="0" kern="1200" dirty="0">
                    <a:solidFill>
                      <a:schemeClr val="tx1"/>
                    </a:solidFill>
                    <a:effectLst/>
                    <a:latin typeface="+mn-lt"/>
                    <a:ea typeface="+mn-ea"/>
                    <a:cs typeface="+mn-cs"/>
                  </a:rPr>
                  <a:t>in the short run. </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Here P&lt;ATC so there is a loss but the real test is whether P</a:t>
                </a:r>
                <a14:m>
                  <m:oMath xmlns:m="http://schemas.openxmlformats.org/officeDocument/2006/math">
                    <m:r>
                      <a:rPr lang="en-US" sz="1200" i="1" kern="1200" smtClean="0">
                        <a:solidFill>
                          <a:schemeClr val="tx1"/>
                        </a:solidFill>
                        <a:effectLst/>
                        <a:latin typeface="Cambria Math" charset="0"/>
                        <a:ea typeface="Cambria Math" charset="0"/>
                        <a:cs typeface="Cambria Math" charset="0"/>
                      </a:rPr>
                      <m:t>≥</m:t>
                    </m:r>
                  </m:oMath>
                </a14:m>
                <a:r>
                  <a:rPr lang="en-US" sz="1200" kern="1200" dirty="0">
                    <a:solidFill>
                      <a:schemeClr val="tx1"/>
                    </a:solidFill>
                    <a:effectLst/>
                    <a:latin typeface="+mn-lt"/>
                    <a:ea typeface="+mn-ea"/>
                    <a:cs typeface="+mn-cs"/>
                  </a:rPr>
                  <a:t>AVC. Here P&lt;AVC</a:t>
                </a:r>
                <a:r>
                  <a:rPr lang="en-US" sz="1200" kern="1200" baseline="0" dirty="0">
                    <a:solidFill>
                      <a:schemeClr val="tx1"/>
                    </a:solidFill>
                    <a:effectLst/>
                    <a:latin typeface="+mn-lt"/>
                    <a:ea typeface="+mn-ea"/>
                    <a:cs typeface="+mn-cs"/>
                  </a:rPr>
                  <a:t> (always) so the firm is better off shutting down. Operating does not positively contribute. </a:t>
                </a:r>
                <a:endParaRPr lang="en-US" sz="1200" kern="1200" dirty="0">
                  <a:solidFill>
                    <a:schemeClr val="tx1"/>
                  </a:solidFill>
                  <a:effectLst/>
                  <a:latin typeface="+mn-lt"/>
                  <a:ea typeface="+mn-ea"/>
                  <a:cs typeface="+mn-cs"/>
                </a:endParaRPr>
              </a:p>
              <a:p>
                <a:endParaRPr lang="en-US" dirty="0"/>
              </a:p>
              <a:p>
                <a:endParaRPr lang="en-US" sz="1200" kern="1200" dirty="0">
                  <a:solidFill>
                    <a:schemeClr val="tx1"/>
                  </a:solidFill>
                  <a:effectLst/>
                  <a:latin typeface="+mn-lt"/>
                  <a:ea typeface="+mn-ea"/>
                  <a:cs typeface="+mn-cs"/>
                </a:endParaRPr>
              </a:p>
            </p:txBody>
          </p:sp>
        </mc:Choice>
        <mc:Fallback xmlns="">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The price continues to decrease… This figure depicts</a:t>
                </a:r>
                <a:r>
                  <a:rPr lang="en-US" sz="1200" b="0" kern="1200" baseline="0" dirty="0">
                    <a:solidFill>
                      <a:schemeClr val="tx1"/>
                    </a:solidFill>
                    <a:effectLst/>
                    <a:latin typeface="+mn-lt"/>
                    <a:ea typeface="+mn-ea"/>
                    <a:cs typeface="+mn-cs"/>
                  </a:rPr>
                  <a:t> a firm that should shut down </a:t>
                </a:r>
                <a:r>
                  <a:rPr lang="en-US" sz="1200" b="0" kern="1200" dirty="0">
                    <a:solidFill>
                      <a:schemeClr val="tx1"/>
                    </a:solidFill>
                    <a:effectLst/>
                    <a:latin typeface="+mn-lt"/>
                    <a:ea typeface="+mn-ea"/>
                    <a:cs typeface="+mn-cs"/>
                  </a:rPr>
                  <a:t>in the short run. </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Here P&lt;ATC so there is a loss but the real test is whether P</a:t>
                </a:r>
                <a:r>
                  <a:rPr lang="en-US" sz="1200" i="0" kern="1200">
                    <a:solidFill>
                      <a:schemeClr val="tx1"/>
                    </a:solidFill>
                    <a:effectLst/>
                    <a:latin typeface="Cambria Math" charset="0"/>
                    <a:ea typeface="Cambria Math" charset="0"/>
                    <a:cs typeface="Cambria Math" charset="0"/>
                  </a:rPr>
                  <a:t>≥</a:t>
                </a:r>
                <a:r>
                  <a:rPr lang="en-US" sz="1200" kern="1200" dirty="0">
                    <a:solidFill>
                      <a:schemeClr val="tx1"/>
                    </a:solidFill>
                    <a:effectLst/>
                    <a:latin typeface="+mn-lt"/>
                    <a:ea typeface="+mn-ea"/>
                    <a:cs typeface="+mn-cs"/>
                  </a:rPr>
                  <a:t>AVC. Here P&lt;AVC</a:t>
                </a:r>
                <a:r>
                  <a:rPr lang="en-US" sz="1200" kern="1200" baseline="0" dirty="0">
                    <a:solidFill>
                      <a:schemeClr val="tx1"/>
                    </a:solidFill>
                    <a:effectLst/>
                    <a:latin typeface="+mn-lt"/>
                    <a:ea typeface="+mn-ea"/>
                    <a:cs typeface="+mn-cs"/>
                  </a:rPr>
                  <a:t> (always) so the firm is better off shutting down. Operating does not positively contribute. </a:t>
                </a:r>
                <a:endParaRPr lang="en-US" sz="1200" kern="1200" dirty="0">
                  <a:solidFill>
                    <a:schemeClr val="tx1"/>
                  </a:solidFill>
                  <a:effectLst/>
                  <a:latin typeface="+mn-lt"/>
                  <a:ea typeface="+mn-ea"/>
                  <a:cs typeface="+mn-cs"/>
                </a:endParaRPr>
              </a:p>
              <a:p>
                <a:endParaRPr lang="en-US" dirty="0"/>
              </a:p>
              <a:p>
                <a:endParaRPr lang="en-US" sz="1200" kern="1200" dirty="0">
                  <a:solidFill>
                    <a:schemeClr val="tx1"/>
                  </a:solidFill>
                  <a:effectLst/>
                  <a:latin typeface="+mn-lt"/>
                  <a:ea typeface="+mn-ea"/>
                  <a:cs typeface="+mn-cs"/>
                </a:endParaRPr>
              </a:p>
            </p:txBody>
          </p:sp>
        </mc:Fallback>
      </mc:AlternateContent>
      <p:sp>
        <p:nvSpPr>
          <p:cNvPr id="4" name="Slide Number Placeholder 3"/>
          <p:cNvSpPr>
            <a:spLocks noGrp="1"/>
          </p:cNvSpPr>
          <p:nvPr>
            <p:ph type="sldNum" sz="quarter" idx="5"/>
          </p:nvPr>
        </p:nvSpPr>
        <p:spPr/>
        <p:txBody>
          <a:bodyPr/>
          <a:lstStyle/>
          <a:p>
            <a:fld id="{8D36AC2A-E969-3C46-9ED8-B46D40C5E669}" type="slidenum">
              <a:rPr lang="en-US" smtClean="0"/>
              <a:t>35</a:t>
            </a:fld>
            <a:endParaRPr lang="en-US"/>
          </a:p>
        </p:txBody>
      </p:sp>
    </p:spTree>
    <p:extLst>
      <p:ext uri="{BB962C8B-B14F-4D97-AF65-F5344CB8AC3E}">
        <p14:creationId xmlns:p14="http://schemas.microsoft.com/office/powerpoint/2010/main" val="18072239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14B94B4F-1C3E-42AD-8B65-1B752C8E558F}" type="slidenum">
              <a:rPr lang="en-US" smtClean="0"/>
              <a:pPr>
                <a:defRPr/>
              </a:pPr>
              <a:t>36</a:t>
            </a:fld>
            <a:endParaRPr lang="en-US"/>
          </a:p>
        </p:txBody>
      </p:sp>
    </p:spTree>
    <p:extLst>
      <p:ext uri="{BB962C8B-B14F-4D97-AF65-F5344CB8AC3E}">
        <p14:creationId xmlns:p14="http://schemas.microsoft.com/office/powerpoint/2010/main" val="4512931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The Coffee Bean Producer Should...
https://www.polleverywhere.com/multiple_choice_polls/sry3DICjteteqyV1Ny4gL?state=opened&amp;flow=Default&amp;onscreen=persist</a:t>
            </a:r>
          </a:p>
        </p:txBody>
      </p:sp>
      <p:sp>
        <p:nvSpPr>
          <p:cNvPr id="4" name="Slide Number Placeholder 3"/>
          <p:cNvSpPr>
            <a:spLocks noGrp="1"/>
          </p:cNvSpPr>
          <p:nvPr>
            <p:ph type="sldNum" sz="quarter" idx="5"/>
          </p:nvPr>
        </p:nvSpPr>
        <p:spPr/>
        <p:txBody>
          <a:bodyPr/>
          <a:lstStyle/>
          <a:p>
            <a:fld id="{8D36AC2A-E969-3C46-9ED8-B46D40C5E669}" type="slidenum">
              <a:rPr lang="en-US" smtClean="0"/>
              <a:t>37</a:t>
            </a:fld>
            <a:endParaRPr lang="en-US"/>
          </a:p>
        </p:txBody>
      </p:sp>
      <p:sp>
        <p:nvSpPr>
          <p:cNvPr id="5" name="TextBox 4">
            <a:extLst>
              <a:ext uri="{FF2B5EF4-FFF2-40B4-BE49-F238E27FC236}">
                <a16:creationId xmlns:a16="http://schemas.microsoft.com/office/drawing/2014/main" id="{F0971752-F017-453A-9E50-1AD54A3DB34D}"/>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19339836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36AC2A-E969-3C46-9ED8-B46D40C5E669}" type="slidenum">
              <a:rPr lang="en-US" smtClean="0"/>
              <a:t>38</a:t>
            </a:fld>
            <a:endParaRPr lang="en-US"/>
          </a:p>
        </p:txBody>
      </p:sp>
    </p:spTree>
    <p:extLst>
      <p:ext uri="{BB962C8B-B14F-4D97-AF65-F5344CB8AC3E}">
        <p14:creationId xmlns:p14="http://schemas.microsoft.com/office/powerpoint/2010/main" val="4807536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48BAEBF7-8508-47B4-A89C-2EA35BD198E4}" type="slidenum">
              <a:rPr lang="en-US"/>
              <a:pPr/>
              <a:t>41</a:t>
            </a:fld>
            <a:endParaRPr lang="en-US"/>
          </a:p>
        </p:txBody>
      </p:sp>
      <p:sp>
        <p:nvSpPr>
          <p:cNvPr id="62466" name="Rectangle 2"/>
          <p:cNvSpPr>
            <a:spLocks noGrp="1" noRot="1" noChangeAspect="1" noChangeArrowheads="1" noTextEdit="1"/>
          </p:cNvSpPr>
          <p:nvPr>
            <p:ph type="sldImg"/>
          </p:nvPr>
        </p:nvSpPr>
        <p:spPr>
          <a:xfrm>
            <a:off x="1123950" y="693738"/>
            <a:ext cx="4610100" cy="3459162"/>
          </a:xfrm>
          <a:ln/>
        </p:spPr>
      </p:sp>
      <p:sp>
        <p:nvSpPr>
          <p:cNvPr id="62467" name="Rectangle 3"/>
          <p:cNvSpPr>
            <a:spLocks noGrp="1" noChangeArrowheads="1"/>
          </p:cNvSpPr>
          <p:nvPr>
            <p:ph type="body" idx="1"/>
          </p:nvPr>
        </p:nvSpPr>
        <p:spPr/>
        <p:txBody>
          <a:bodyPr/>
          <a:lstStyle/>
          <a:p>
            <a:r>
              <a:rPr lang="en-US" sz="1200" b="1" kern="1200" dirty="0">
                <a:solidFill>
                  <a:schemeClr val="tx1"/>
                </a:solidFill>
                <a:effectLst/>
                <a:latin typeface="+mn-lt"/>
                <a:ea typeface="+mn-ea"/>
                <a:cs typeface="+mn-cs"/>
              </a:rPr>
              <a:t>A price taker’s supply curve</a:t>
            </a:r>
            <a:r>
              <a:rPr lang="en-US" sz="1200" kern="1200" dirty="0">
                <a:solidFill>
                  <a:schemeClr val="tx1"/>
                </a:solidFill>
                <a:effectLst/>
                <a:latin typeface="+mn-lt"/>
                <a:ea typeface="+mn-ea"/>
                <a:cs typeface="+mn-cs"/>
              </a:rPr>
              <a:t>. We can trace out the supply curve of the firm. </a:t>
            </a:r>
          </a:p>
          <a:p>
            <a:r>
              <a:rPr lang="en-US" sz="1200" kern="1200" dirty="0">
                <a:solidFill>
                  <a:schemeClr val="tx1"/>
                </a:solidFill>
                <a:effectLst/>
                <a:latin typeface="+mn-lt"/>
                <a:ea typeface="+mn-ea"/>
                <a:cs typeface="+mn-cs"/>
              </a:rPr>
              <a:t>At P=160, you maximize profits by producing 300 tons. </a:t>
            </a:r>
          </a:p>
          <a:p>
            <a:r>
              <a:rPr lang="en-US" sz="1200" kern="1200" dirty="0">
                <a:solidFill>
                  <a:schemeClr val="tx1"/>
                </a:solidFill>
                <a:effectLst/>
                <a:latin typeface="+mn-lt"/>
                <a:ea typeface="+mn-ea"/>
                <a:cs typeface="+mn-cs"/>
              </a:rPr>
              <a:t>At p=230, you expand more. </a:t>
            </a:r>
          </a:p>
          <a:p>
            <a:r>
              <a:rPr lang="en-US" sz="1200" b="1" kern="1200" dirty="0">
                <a:solidFill>
                  <a:schemeClr val="tx1"/>
                </a:solidFill>
                <a:effectLst/>
                <a:latin typeface="+mn-lt"/>
                <a:ea typeface="+mn-ea"/>
                <a:cs typeface="+mn-cs"/>
              </a:rPr>
              <a:t>Bottom line</a:t>
            </a:r>
            <a:r>
              <a:rPr lang="en-US" sz="1200" kern="1200" dirty="0">
                <a:solidFill>
                  <a:schemeClr val="tx1"/>
                </a:solidFill>
                <a:effectLst/>
                <a:latin typeface="+mn-lt"/>
                <a:ea typeface="+mn-ea"/>
                <a:cs typeface="+mn-cs"/>
              </a:rPr>
              <a:t>: The MC curve is the firm’s </a:t>
            </a:r>
            <a:r>
              <a:rPr lang="en-US" sz="1200" b="1" kern="1200" dirty="0">
                <a:solidFill>
                  <a:schemeClr val="tx1"/>
                </a:solidFill>
                <a:effectLst/>
                <a:latin typeface="+mn-lt"/>
                <a:ea typeface="+mn-ea"/>
                <a:cs typeface="+mn-cs"/>
              </a:rPr>
              <a:t>short run supply curve</a:t>
            </a:r>
            <a:r>
              <a:rPr lang="en-US" sz="1200" kern="1200" dirty="0">
                <a:solidFill>
                  <a:schemeClr val="tx1"/>
                </a:solidFill>
                <a:effectLst/>
                <a:latin typeface="+mn-lt"/>
                <a:ea typeface="+mn-ea"/>
                <a:cs typeface="+mn-cs"/>
              </a:rPr>
              <a:t>. We can draw the supply curve.</a:t>
            </a:r>
            <a:endParaRPr lang="en-US" dirty="0"/>
          </a:p>
        </p:txBody>
      </p:sp>
    </p:spTree>
    <p:extLst>
      <p:ext uri="{BB962C8B-B14F-4D97-AF65-F5344CB8AC3E}">
        <p14:creationId xmlns:p14="http://schemas.microsoft.com/office/powerpoint/2010/main" val="4815062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EEE4DF80-3BAB-407E-8E37-A23C2A5AAC75}" type="slidenum">
              <a:rPr lang="en-US"/>
              <a:pPr/>
              <a:t>42</a:t>
            </a:fld>
            <a:endParaRPr lang="en-US"/>
          </a:p>
        </p:txBody>
      </p:sp>
      <p:sp>
        <p:nvSpPr>
          <p:cNvPr id="63490" name="Rectangle 2"/>
          <p:cNvSpPr>
            <a:spLocks noGrp="1" noRot="1" noChangeAspect="1" noChangeArrowheads="1" noTextEdit="1"/>
          </p:cNvSpPr>
          <p:nvPr>
            <p:ph type="sldImg"/>
          </p:nvPr>
        </p:nvSpPr>
        <p:spPr>
          <a:xfrm>
            <a:off x="1236663" y="728663"/>
            <a:ext cx="4841875" cy="3632200"/>
          </a:xfrm>
          <a:ln/>
        </p:spPr>
      </p:sp>
      <p:sp>
        <p:nvSpPr>
          <p:cNvPr id="63491" name="Rectangle 3"/>
          <p:cNvSpPr>
            <a:spLocks noGrp="1" noChangeArrowheads="1"/>
          </p:cNvSpPr>
          <p:nvPr>
            <p:ph type="body" idx="1"/>
          </p:nvPr>
        </p:nvSpPr>
        <p:spPr/>
        <p:txBody>
          <a:bodyPr/>
          <a:lstStyle/>
          <a:p>
            <a:r>
              <a:rPr lang="en-US" dirty="0"/>
              <a:t>Example: the Yi family starts using new high-yield seeds </a:t>
            </a:r>
          </a:p>
        </p:txBody>
      </p:sp>
    </p:spTree>
    <p:extLst>
      <p:ext uri="{BB962C8B-B14F-4D97-AF65-F5344CB8AC3E}">
        <p14:creationId xmlns:p14="http://schemas.microsoft.com/office/powerpoint/2010/main" val="18198934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assume every farmers are using those new high-yield seeds.</a:t>
            </a:r>
          </a:p>
          <a:p>
            <a:r>
              <a:rPr lang="en-US" dirty="0"/>
              <a:t>First, you see the effect on the individual farmer we just saw on the previous slide. However, because all farmers face lower costs, this changes the market supply: downward shift of the market supply curve, leading to a lower market price and higher aggregate quantity.</a:t>
            </a:r>
          </a:p>
          <a:p>
            <a:r>
              <a:rPr lang="en-US" dirty="0"/>
              <a:t>New market price = new demand curve for the individual farmer, so that the new quantity provided by the farmer is the intersection of this new D curve with the new MC curve (MC’ and MR’). The farmer produces more than before, but less than if he/she was the only one to have the new seeds (which would be the quantity given by the intersection of MC’ and MR)</a:t>
            </a:r>
          </a:p>
        </p:txBody>
      </p:sp>
      <p:sp>
        <p:nvSpPr>
          <p:cNvPr id="4" name="Slide Number Placeholder 3"/>
          <p:cNvSpPr>
            <a:spLocks noGrp="1"/>
          </p:cNvSpPr>
          <p:nvPr>
            <p:ph type="sldNum" sz="quarter" idx="5"/>
          </p:nvPr>
        </p:nvSpPr>
        <p:spPr/>
        <p:txBody>
          <a:bodyPr/>
          <a:lstStyle/>
          <a:p>
            <a:fld id="{8D36AC2A-E969-3C46-9ED8-B46D40C5E669}" type="slidenum">
              <a:rPr lang="en-US" smtClean="0"/>
              <a:t>43</a:t>
            </a:fld>
            <a:endParaRPr lang="en-US"/>
          </a:p>
        </p:txBody>
      </p:sp>
    </p:spTree>
    <p:extLst>
      <p:ext uri="{BB962C8B-B14F-4D97-AF65-F5344CB8AC3E}">
        <p14:creationId xmlns:p14="http://schemas.microsoft.com/office/powerpoint/2010/main" val="15769354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Notes </a:t>
            </a:r>
            <a:r>
              <a:rPr lang="fr-FR" dirty="0" err="1"/>
              <a:t>from</a:t>
            </a:r>
            <a:r>
              <a:rPr lang="fr-FR" dirty="0"/>
              <a:t> the book: </a:t>
            </a:r>
            <a:r>
              <a:rPr lang="en-US" sz="1200" b="0" i="0" kern="1200" dirty="0">
                <a:solidFill>
                  <a:schemeClr val="tx1"/>
                </a:solidFill>
                <a:effectLst/>
                <a:latin typeface="+mn-lt"/>
                <a:ea typeface="+mn-ea"/>
                <a:cs typeface="+mn-cs"/>
              </a:rPr>
              <a:t>because all inputs and costs are variable in the long run, the firm’s long-run supply curve is the part of its long-run marginal cost curve above its long-run average total cost curve ( LATC=LAVC because there are no fixed costs in the long run).</a:t>
            </a:r>
          </a:p>
          <a:p>
            <a:r>
              <a:rPr lang="en-US" sz="1200" b="0" i="0" kern="1200" dirty="0">
                <a:solidFill>
                  <a:schemeClr val="tx1"/>
                </a:solidFill>
                <a:effectLst/>
                <a:latin typeface="+mn-lt"/>
                <a:ea typeface="+mn-ea"/>
                <a:cs typeface="+mn-cs"/>
              </a:rPr>
              <a:t>Yi example: in the long run they can decide whether or not to rent the land + how much land to rent </a:t>
            </a:r>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45</a:t>
            </a:fld>
            <a:endParaRPr lang="en-US"/>
          </a:p>
        </p:txBody>
      </p:sp>
    </p:spTree>
    <p:extLst>
      <p:ext uri="{BB962C8B-B14F-4D97-AF65-F5344CB8AC3E}">
        <p14:creationId xmlns:p14="http://schemas.microsoft.com/office/powerpoint/2010/main" val="308458101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12C025B4-DCE6-422D-B60A-95B046ED969A}" type="slidenum">
              <a:rPr lang="en-US"/>
              <a:pPr/>
              <a:t>46</a:t>
            </a:fld>
            <a:endParaRPr lang="en-US"/>
          </a:p>
        </p:txBody>
      </p:sp>
      <p:sp>
        <p:nvSpPr>
          <p:cNvPr id="64514" name="Rectangle 2"/>
          <p:cNvSpPr>
            <a:spLocks noGrp="1" noRot="1" noChangeAspect="1" noChangeArrowheads="1" noTextEdit="1"/>
          </p:cNvSpPr>
          <p:nvPr>
            <p:ph type="sldImg"/>
          </p:nvPr>
        </p:nvSpPr>
        <p:spPr>
          <a:xfrm>
            <a:off x="1236663" y="728663"/>
            <a:ext cx="4841875" cy="3632200"/>
          </a:xfrm>
          <a:ln/>
        </p:spPr>
      </p:sp>
      <p:sp>
        <p:nvSpPr>
          <p:cNvPr id="64515" name="Rectangle 3"/>
          <p:cNvSpPr>
            <a:spLocks noGrp="1" noChangeArrowheads="1"/>
          </p:cNvSpPr>
          <p:nvPr>
            <p:ph type="body" idx="1"/>
          </p:nvPr>
        </p:nvSpPr>
        <p:spPr/>
        <p:txBody>
          <a:bodyPr/>
          <a:lstStyle/>
          <a:p>
            <a:r>
              <a:rPr lang="en-US" dirty="0"/>
              <a:t>LAC is downward sloping because of economies of scale initially, and then upward-sloping because of dis-economies of scale. Note that this is different from ATC being down-ward sloping because of Fixed costs of a GIVEN technology.</a:t>
            </a:r>
          </a:p>
        </p:txBody>
      </p:sp>
    </p:spTree>
    <p:extLst>
      <p:ext uri="{BB962C8B-B14F-4D97-AF65-F5344CB8AC3E}">
        <p14:creationId xmlns:p14="http://schemas.microsoft.com/office/powerpoint/2010/main" val="14825973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https://www.vox.com/future-perfect/2023/2/10/23589333/cecile-steele-chicken-meat-poultry-eggs-delaware   </a:t>
            </a:r>
          </a:p>
        </p:txBody>
      </p:sp>
      <p:sp>
        <p:nvSpPr>
          <p:cNvPr id="4" name="Slide Number Placeholder 3"/>
          <p:cNvSpPr>
            <a:spLocks noGrp="1"/>
          </p:cNvSpPr>
          <p:nvPr>
            <p:ph type="sldNum" sz="quarter" idx="5"/>
          </p:nvPr>
        </p:nvSpPr>
        <p:spPr/>
        <p:txBody>
          <a:bodyPr/>
          <a:lstStyle/>
          <a:p>
            <a:fld id="{8D36AC2A-E969-3C46-9ED8-B46D40C5E669}" type="slidenum">
              <a:rPr lang="en-US" smtClean="0"/>
              <a:t>47</a:t>
            </a:fld>
            <a:endParaRPr lang="en-US"/>
          </a:p>
        </p:txBody>
      </p:sp>
    </p:spTree>
    <p:extLst>
      <p:ext uri="{BB962C8B-B14F-4D97-AF65-F5344CB8AC3E}">
        <p14:creationId xmlns:p14="http://schemas.microsoft.com/office/powerpoint/2010/main" val="29449333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US" sz="1200" kern="1200" dirty="0">
                <a:solidFill>
                  <a:schemeClr val="tx1"/>
                </a:solidFill>
                <a:effectLst/>
                <a:latin typeface="+mn-lt"/>
                <a:ea typeface="+mn-ea"/>
                <a:cs typeface="+mn-cs"/>
              </a:rPr>
              <a:t>Can we characterize the drug market as a “constant cost industry?” </a:t>
            </a:r>
            <a:r>
              <a:rPr lang="en-US" sz="1200" kern="1200" dirty="0">
                <a:solidFill>
                  <a:schemeClr val="tx1"/>
                </a:solidFill>
                <a:effectLst/>
                <a:latin typeface="+mn-lt"/>
                <a:ea typeface="+mn-ea"/>
                <a:cs typeface="+mn-cs"/>
                <a:sym typeface="Wingdings" panose="05000000000000000000" pitchFamily="2" charset="2"/>
              </a:rPr>
              <a:t></a:t>
            </a:r>
            <a:r>
              <a:rPr lang="en-US" sz="1200" kern="1200" dirty="0">
                <a:solidFill>
                  <a:schemeClr val="tx1"/>
                </a:solidFill>
                <a:effectLst/>
                <a:latin typeface="+mn-lt"/>
                <a:ea typeface="+mn-ea"/>
                <a:cs typeface="+mn-cs"/>
              </a:rPr>
              <a:t> Yes.</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Fixed cost: gun, car…</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Variable cost: drugs</a:t>
            </a:r>
            <a:endParaRPr lang="en-US" sz="11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Same for each dealer</a:t>
            </a:r>
            <a:endParaRPr lang="en-US" sz="11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a:defRPr/>
            </a:pPr>
            <a:fld id="{14B94B4F-1C3E-42AD-8B65-1B752C8E558F}" type="slidenum">
              <a:rPr lang="en-US" smtClean="0"/>
              <a:pPr>
                <a:defRPr/>
              </a:pPr>
              <a:t>49</a:t>
            </a:fld>
            <a:endParaRPr lang="en-US"/>
          </a:p>
        </p:txBody>
      </p:sp>
    </p:spTree>
    <p:extLst>
      <p:ext uri="{BB962C8B-B14F-4D97-AF65-F5344CB8AC3E}">
        <p14:creationId xmlns:p14="http://schemas.microsoft.com/office/powerpoint/2010/main" val="16030591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To diminish the use of illegal drugs, the government should:
https://www.polleverywhere.com/multiple_choice_polls/SvRjzmwXUb4CnEPPO8MVg?state=opened&amp;flow=Default&amp;onscreen=persist</a:t>
            </a:r>
          </a:p>
        </p:txBody>
      </p:sp>
      <p:sp>
        <p:nvSpPr>
          <p:cNvPr id="4" name="Slide Number Placeholder 3"/>
          <p:cNvSpPr>
            <a:spLocks noGrp="1"/>
          </p:cNvSpPr>
          <p:nvPr>
            <p:ph type="sldNum" sz="quarter" idx="5"/>
          </p:nvPr>
        </p:nvSpPr>
        <p:spPr/>
        <p:txBody>
          <a:bodyPr/>
          <a:lstStyle/>
          <a:p>
            <a:fld id="{8D36AC2A-E969-3C46-9ED8-B46D40C5E669}" type="slidenum">
              <a:rPr lang="en-US" smtClean="0"/>
              <a:t>50</a:t>
            </a:fld>
            <a:endParaRPr lang="en-US"/>
          </a:p>
        </p:txBody>
      </p:sp>
      <p:sp>
        <p:nvSpPr>
          <p:cNvPr id="5" name="TextBox 4">
            <a:extLst>
              <a:ext uri="{FF2B5EF4-FFF2-40B4-BE49-F238E27FC236}">
                <a16:creationId xmlns:a16="http://schemas.microsoft.com/office/drawing/2014/main" id="{BA9AB056-0073-4AF3-91C7-61559B85DAEA}"/>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14077494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SR effect: More drugs supplied by remaining dealers at higher P. Profits!</a:t>
            </a:r>
          </a:p>
          <a:p>
            <a:pPr lvl="0"/>
            <a:r>
              <a:rPr lang="en-US" sz="1200" kern="1200" dirty="0">
                <a:solidFill>
                  <a:schemeClr val="tx1"/>
                </a:solidFill>
                <a:effectLst/>
                <a:latin typeface="+mn-lt"/>
                <a:ea typeface="+mn-ea"/>
                <a:cs typeface="+mn-cs"/>
              </a:rPr>
              <a:t>LR effect: Entry </a:t>
            </a:r>
            <a:r>
              <a:rPr lang="en-US" sz="1200" kern="1200" dirty="0">
                <a:solidFill>
                  <a:schemeClr val="tx1"/>
                </a:solidFill>
                <a:effectLst/>
                <a:latin typeface="+mn-lt"/>
                <a:ea typeface="+mn-ea"/>
                <a:cs typeface="+mn-cs"/>
                <a:sym typeface="Wingdings" panose="05000000000000000000" pitchFamily="2" charset="2"/>
              </a:rPr>
              <a:t></a:t>
            </a:r>
            <a:r>
              <a:rPr lang="en-US" sz="1200" kern="1200" dirty="0">
                <a:solidFill>
                  <a:schemeClr val="tx1"/>
                </a:solidFill>
                <a:effectLst/>
                <a:latin typeface="+mn-lt"/>
                <a:ea typeface="+mn-ea"/>
                <a:cs typeface="+mn-cs"/>
              </a:rPr>
              <a:t> Return to old equilibrium.</a:t>
            </a:r>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51</a:t>
            </a:fld>
            <a:endParaRPr lang="en-US"/>
          </a:p>
        </p:txBody>
      </p:sp>
    </p:spTree>
    <p:extLst>
      <p:ext uri="{BB962C8B-B14F-4D97-AF65-F5344CB8AC3E}">
        <p14:creationId xmlns:p14="http://schemas.microsoft.com/office/powerpoint/2010/main" val="18182072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SR effect: Less drugs supplied by each dealer. Loss!</a:t>
            </a:r>
          </a:p>
          <a:p>
            <a:pPr lvl="0"/>
            <a:r>
              <a:rPr lang="en-US" sz="1200" kern="1200" dirty="0">
                <a:solidFill>
                  <a:schemeClr val="tx1"/>
                </a:solidFill>
                <a:effectLst/>
                <a:latin typeface="+mn-lt"/>
                <a:ea typeface="+mn-ea"/>
                <a:cs typeface="+mn-cs"/>
              </a:rPr>
              <a:t>LR effect: Exit </a:t>
            </a:r>
            <a:r>
              <a:rPr lang="en-US" sz="1200" kern="1200" dirty="0">
                <a:solidFill>
                  <a:schemeClr val="tx1"/>
                </a:solidFill>
                <a:effectLst/>
                <a:latin typeface="+mn-lt"/>
                <a:ea typeface="+mn-ea"/>
                <a:cs typeface="+mn-cs"/>
                <a:sym typeface="Wingdings" panose="05000000000000000000" pitchFamily="2" charset="2"/>
              </a:rPr>
              <a:t></a:t>
            </a:r>
            <a:r>
              <a:rPr lang="en-US" sz="1200" kern="1200" dirty="0">
                <a:solidFill>
                  <a:schemeClr val="tx1"/>
                </a:solidFill>
                <a:effectLst/>
                <a:latin typeface="+mn-lt"/>
                <a:ea typeface="+mn-ea"/>
                <a:cs typeface="+mn-cs"/>
              </a:rPr>
              <a:t> Converge to new equilibrium with less drugs consumed!</a:t>
            </a:r>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52</a:t>
            </a:fld>
            <a:endParaRPr lang="en-US"/>
          </a:p>
        </p:txBody>
      </p:sp>
    </p:spTree>
    <p:extLst>
      <p:ext uri="{BB962C8B-B14F-4D97-AF65-F5344CB8AC3E}">
        <p14:creationId xmlns:p14="http://schemas.microsoft.com/office/powerpoint/2010/main" val="137494625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D36AC2A-E969-3C46-9ED8-B46D40C5E669}" type="slidenum">
              <a:rPr lang="en-US" smtClean="0"/>
              <a:t>54</a:t>
            </a:fld>
            <a:endParaRPr lang="en-US"/>
          </a:p>
        </p:txBody>
      </p:sp>
    </p:spTree>
    <p:extLst>
      <p:ext uri="{BB962C8B-B14F-4D97-AF65-F5344CB8AC3E}">
        <p14:creationId xmlns:p14="http://schemas.microsoft.com/office/powerpoint/2010/main" val="139614397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 consumers would be willing to pay = MPV we have seen in Module 2</a:t>
            </a:r>
          </a:p>
          <a:p>
            <a:endParaRPr lang="en-US" dirty="0"/>
          </a:p>
          <a:p>
            <a:r>
              <a:rPr lang="en-US" dirty="0"/>
              <a:t>We can tell them to check in the textbook how to compute CS from the demand curve (triangle area) + that it will be covered by the TA</a:t>
            </a:r>
          </a:p>
        </p:txBody>
      </p:sp>
      <p:sp>
        <p:nvSpPr>
          <p:cNvPr id="4" name="Slide Number Placeholder 3"/>
          <p:cNvSpPr>
            <a:spLocks noGrp="1"/>
          </p:cNvSpPr>
          <p:nvPr>
            <p:ph type="sldNum" sz="quarter" idx="10"/>
          </p:nvPr>
        </p:nvSpPr>
        <p:spPr/>
        <p:txBody>
          <a:bodyPr/>
          <a:lstStyle/>
          <a:p>
            <a:fld id="{8D36AC2A-E969-3C46-9ED8-B46D40C5E669}" type="slidenum">
              <a:rPr lang="en-US" smtClean="0"/>
              <a:t>55</a:t>
            </a:fld>
            <a:endParaRPr lang="en-US"/>
          </a:p>
        </p:txBody>
      </p:sp>
    </p:spTree>
    <p:extLst>
      <p:ext uri="{BB962C8B-B14F-4D97-AF65-F5344CB8AC3E}">
        <p14:creationId xmlns:p14="http://schemas.microsoft.com/office/powerpoint/2010/main" val="244038377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In </a:t>
            </a:r>
            <a:r>
              <a:rPr lang="fr-FR" dirty="0" err="1"/>
              <a:t>this</a:t>
            </a:r>
            <a:r>
              <a:rPr lang="fr-FR" dirty="0"/>
              <a:t> </a:t>
            </a:r>
            <a:r>
              <a:rPr lang="fr-FR" dirty="0" err="1"/>
              <a:t>example</a:t>
            </a:r>
            <a:r>
              <a:rPr lang="fr-FR" dirty="0"/>
              <a:t> PS&gt;CS but </a:t>
            </a:r>
            <a:r>
              <a:rPr lang="fr-FR" dirty="0" err="1"/>
              <a:t>it</a:t>
            </a:r>
            <a:r>
              <a:rPr lang="fr-FR" dirty="0"/>
              <a:t> all </a:t>
            </a:r>
            <a:r>
              <a:rPr lang="fr-FR" dirty="0" err="1"/>
              <a:t>depends</a:t>
            </a:r>
            <a:r>
              <a:rPr lang="fr-FR" dirty="0"/>
              <a:t> on the relative </a:t>
            </a:r>
            <a:r>
              <a:rPr lang="fr-FR" dirty="0" err="1"/>
              <a:t>steepness</a:t>
            </a:r>
            <a:r>
              <a:rPr lang="fr-FR" dirty="0"/>
              <a:t> of the D and S </a:t>
            </a:r>
            <a:r>
              <a:rPr lang="fr-FR" dirty="0" err="1"/>
              <a:t>curves</a:t>
            </a:r>
            <a:endParaRPr lang="fr-FR" dirty="0"/>
          </a:p>
          <a:p>
            <a:r>
              <a:rPr lang="fr-FR" dirty="0" err="1"/>
              <a:t>Willingness</a:t>
            </a:r>
            <a:r>
              <a:rPr lang="fr-FR" dirty="0"/>
              <a:t> to </a:t>
            </a:r>
            <a:r>
              <a:rPr lang="fr-FR" dirty="0" err="1"/>
              <a:t>sell</a:t>
            </a:r>
            <a:r>
              <a:rPr lang="fr-FR" dirty="0"/>
              <a:t> </a:t>
            </a:r>
            <a:r>
              <a:rPr lang="fr-FR" dirty="0" err="1"/>
              <a:t>depends</a:t>
            </a:r>
            <a:r>
              <a:rPr lang="fr-FR" dirty="0"/>
              <a:t> on the </a:t>
            </a:r>
            <a:r>
              <a:rPr lang="fr-FR" dirty="0" err="1"/>
              <a:t>producer</a:t>
            </a:r>
            <a:r>
              <a:rPr lang="fr-FR" dirty="0"/>
              <a:t> </a:t>
            </a:r>
            <a:r>
              <a:rPr lang="fr-FR" dirty="0" err="1"/>
              <a:t>cost</a:t>
            </a:r>
            <a:r>
              <a:rPr lang="fr-FR" dirty="0"/>
              <a:t> structure</a:t>
            </a:r>
          </a:p>
          <a:p>
            <a:endParaRPr lang="fr-FR" dirty="0"/>
          </a:p>
        </p:txBody>
      </p:sp>
      <p:sp>
        <p:nvSpPr>
          <p:cNvPr id="4" name="Slide Number Placeholder 3"/>
          <p:cNvSpPr>
            <a:spLocks noGrp="1"/>
          </p:cNvSpPr>
          <p:nvPr>
            <p:ph type="sldNum" sz="quarter" idx="10"/>
          </p:nvPr>
        </p:nvSpPr>
        <p:spPr/>
        <p:txBody>
          <a:bodyPr/>
          <a:lstStyle/>
          <a:p>
            <a:fld id="{8D36AC2A-E969-3C46-9ED8-B46D40C5E669}" type="slidenum">
              <a:rPr lang="en-US" smtClean="0"/>
              <a:t>56</a:t>
            </a:fld>
            <a:endParaRPr lang="en-US"/>
          </a:p>
        </p:txBody>
      </p:sp>
    </p:spTree>
    <p:extLst>
      <p:ext uri="{BB962C8B-B14F-4D97-AF65-F5344CB8AC3E}">
        <p14:creationId xmlns:p14="http://schemas.microsoft.com/office/powerpoint/2010/main" val="42086770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gasoline</a:t>
            </a:r>
          </a:p>
          <a:p>
            <a:endParaRPr lang="en-US" dirty="0"/>
          </a:p>
          <a:p>
            <a:r>
              <a:rPr lang="en-US" dirty="0"/>
              <a:t>The welfare</a:t>
            </a:r>
            <a:r>
              <a:rPr lang="en-US" baseline="0" dirty="0"/>
              <a:t> losses and incidence (who pays the tax) depends on elasticities of demand and supply. For example, if supply is perfectly elastic (the supply curve is horizontal), all of the tax is paid by the consumers.</a:t>
            </a:r>
          </a:p>
          <a:p>
            <a:endParaRPr lang="en-US" baseline="0" dirty="0"/>
          </a:p>
          <a:p>
            <a:r>
              <a:rPr lang="en-US" baseline="0" dirty="0"/>
              <a:t>The analysis of a subsidy is similar, except the demand (or supply) curve will shift outward.</a:t>
            </a:r>
            <a:endParaRPr lang="en-US" dirty="0"/>
          </a:p>
        </p:txBody>
      </p:sp>
      <p:sp>
        <p:nvSpPr>
          <p:cNvPr id="4" name="Slide Number Placeholder 3"/>
          <p:cNvSpPr>
            <a:spLocks noGrp="1"/>
          </p:cNvSpPr>
          <p:nvPr>
            <p:ph type="sldNum" sz="quarter" idx="10"/>
          </p:nvPr>
        </p:nvSpPr>
        <p:spPr/>
        <p:txBody>
          <a:bodyPr/>
          <a:lstStyle/>
          <a:p>
            <a:fld id="{8D36AC2A-E969-3C46-9ED8-B46D40C5E669}" type="slidenum">
              <a:rPr lang="en-US" smtClean="0"/>
              <a:t>58</a:t>
            </a:fld>
            <a:endParaRPr lang="en-US"/>
          </a:p>
        </p:txBody>
      </p:sp>
    </p:spTree>
    <p:extLst>
      <p:ext uri="{BB962C8B-B14F-4D97-AF65-F5344CB8AC3E}">
        <p14:creationId xmlns:p14="http://schemas.microsoft.com/office/powerpoint/2010/main" val="37448570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https://www.epi.org/minimum-wage-tracker/</a:t>
            </a:r>
          </a:p>
          <a:p>
            <a:endParaRPr lang="en-US" dirty="0"/>
          </a:p>
        </p:txBody>
      </p:sp>
      <p:sp>
        <p:nvSpPr>
          <p:cNvPr id="4" name="Slide Number Placeholder 3"/>
          <p:cNvSpPr>
            <a:spLocks noGrp="1"/>
          </p:cNvSpPr>
          <p:nvPr>
            <p:ph type="sldNum" sz="quarter" idx="10"/>
          </p:nvPr>
        </p:nvSpPr>
        <p:spPr/>
        <p:txBody>
          <a:bodyPr/>
          <a:lstStyle/>
          <a:p>
            <a:pPr>
              <a:defRPr/>
            </a:pPr>
            <a:fld id="{14B94B4F-1C3E-42AD-8B65-1B752C8E558F}" type="slidenum">
              <a:rPr lang="en-US" smtClean="0"/>
              <a:pPr>
                <a:defRPr/>
              </a:pPr>
              <a:t>59</a:t>
            </a:fld>
            <a:endParaRPr lang="en-US"/>
          </a:p>
        </p:txBody>
      </p:sp>
    </p:spTree>
    <p:extLst>
      <p:ext uri="{BB962C8B-B14F-4D97-AF65-F5344CB8AC3E}">
        <p14:creationId xmlns:p14="http://schemas.microsoft.com/office/powerpoint/2010/main" val="315305240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6741FED0-B7F7-4D70-8B63-41E0F138CD1B}" type="slidenum">
              <a:rPr lang="en-US"/>
              <a:pPr/>
              <a:t>60</a:t>
            </a:fld>
            <a:endParaRPr lang="en-US"/>
          </a:p>
        </p:txBody>
      </p:sp>
      <p:sp>
        <p:nvSpPr>
          <p:cNvPr id="68610" name="Rectangle 2"/>
          <p:cNvSpPr>
            <a:spLocks noGrp="1" noRot="1" noChangeAspect="1" noChangeArrowheads="1" noTextEdit="1"/>
          </p:cNvSpPr>
          <p:nvPr>
            <p:ph type="sldImg"/>
          </p:nvPr>
        </p:nvSpPr>
        <p:spPr>
          <a:xfrm>
            <a:off x="1123950" y="693738"/>
            <a:ext cx="4610100" cy="3459162"/>
          </a:xfrm>
          <a:ln/>
        </p:spPr>
      </p:sp>
      <p:sp>
        <p:nvSpPr>
          <p:cNvPr id="6861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82200931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14B94B4F-1C3E-42AD-8B65-1B752C8E558F}" type="slidenum">
              <a:rPr lang="en-US" smtClean="0"/>
              <a:pPr>
                <a:defRPr/>
              </a:pPr>
              <a:t>61</a:t>
            </a:fld>
            <a:endParaRPr lang="en-US"/>
          </a:p>
        </p:txBody>
      </p:sp>
    </p:spTree>
    <p:extLst>
      <p:ext uri="{BB962C8B-B14F-4D97-AF65-F5344CB8AC3E}">
        <p14:creationId xmlns:p14="http://schemas.microsoft.com/office/powerpoint/2010/main" val="352501122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Guess what's the monthly rent...
https://www.polleverywhere.com/multiple_choice_polls/Ba4892DreAxLjvidjmrOV?state=opened&amp;flow=Default&amp;onscreen=persist</a:t>
            </a:r>
          </a:p>
        </p:txBody>
      </p:sp>
      <p:sp>
        <p:nvSpPr>
          <p:cNvPr id="4" name="Slide Number Placeholder 3"/>
          <p:cNvSpPr>
            <a:spLocks noGrp="1"/>
          </p:cNvSpPr>
          <p:nvPr>
            <p:ph type="sldNum" sz="quarter" idx="5"/>
          </p:nvPr>
        </p:nvSpPr>
        <p:spPr/>
        <p:txBody>
          <a:bodyPr/>
          <a:lstStyle/>
          <a:p>
            <a:fld id="{8D36AC2A-E969-3C46-9ED8-B46D40C5E669}" type="slidenum">
              <a:rPr lang="en-US" smtClean="0"/>
              <a:t>62</a:t>
            </a:fld>
            <a:endParaRPr lang="en-US"/>
          </a:p>
        </p:txBody>
      </p:sp>
      <p:sp>
        <p:nvSpPr>
          <p:cNvPr id="5" name="TextBox 4">
            <a:extLst>
              <a:ext uri="{FF2B5EF4-FFF2-40B4-BE49-F238E27FC236}">
                <a16:creationId xmlns:a16="http://schemas.microsoft.com/office/drawing/2014/main" id="{B3D7B4FE-7143-4D63-B63C-66BC582D5321}"/>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30987888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https://www.smgov.net/departments/rentcontrol/mar.aspx</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B94B4F-1C3E-42AD-8B65-1B752C8E558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5882196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D36AC2A-E969-3C46-9ED8-B46D40C5E669}" type="slidenum">
              <a:rPr lang="en-US" smtClean="0"/>
              <a:t>64</a:t>
            </a:fld>
            <a:endParaRPr lang="en-US"/>
          </a:p>
        </p:txBody>
      </p:sp>
    </p:spTree>
    <p:extLst>
      <p:ext uri="{BB962C8B-B14F-4D97-AF65-F5344CB8AC3E}">
        <p14:creationId xmlns:p14="http://schemas.microsoft.com/office/powerpoint/2010/main" val="266136696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6741FED0-B7F7-4D70-8B63-41E0F138CD1B}" type="slidenum">
              <a:rPr lang="en-US"/>
              <a:pPr/>
              <a:t>65</a:t>
            </a:fld>
            <a:endParaRPr lang="en-US"/>
          </a:p>
        </p:txBody>
      </p:sp>
      <p:sp>
        <p:nvSpPr>
          <p:cNvPr id="68610" name="Rectangle 2"/>
          <p:cNvSpPr>
            <a:spLocks noGrp="1" noRot="1" noChangeAspect="1" noChangeArrowheads="1" noTextEdit="1"/>
          </p:cNvSpPr>
          <p:nvPr>
            <p:ph type="sldImg"/>
          </p:nvPr>
        </p:nvSpPr>
        <p:spPr>
          <a:xfrm>
            <a:off x="1123950" y="693738"/>
            <a:ext cx="4610100" cy="3459162"/>
          </a:xfrm>
          <a:ln/>
        </p:spPr>
      </p:sp>
      <p:sp>
        <p:nvSpPr>
          <p:cNvPr id="68611" name="Rectangle 3"/>
          <p:cNvSpPr>
            <a:spLocks noGrp="1" noChangeArrowheads="1"/>
          </p:cNvSpPr>
          <p:nvPr>
            <p:ph type="body" idx="1"/>
          </p:nvPr>
        </p:nvSpPr>
        <p:spPr/>
        <p:txBody>
          <a:bodyPr/>
          <a:lstStyle/>
          <a:p>
            <a:r>
              <a:rPr lang="en-US"/>
              <a:t>https://caanet.org/voters-reject-prop-33-extreme-rent-control-defeated-again/</a:t>
            </a:r>
            <a:endParaRPr lang="en-US" dirty="0"/>
          </a:p>
        </p:txBody>
      </p:sp>
    </p:spTree>
    <p:extLst>
      <p:ext uri="{BB962C8B-B14F-4D97-AF65-F5344CB8AC3E}">
        <p14:creationId xmlns:p14="http://schemas.microsoft.com/office/powerpoint/2010/main" val="423588083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How would you vote on Rent Control?
https://www.polleverywhere.com/multiple_choice_polls/D2AlsqXROD7b3ZuuvOogV?state=opened&amp;flow=Default&amp;onscreen=persist</a:t>
            </a:r>
          </a:p>
        </p:txBody>
      </p:sp>
      <p:sp>
        <p:nvSpPr>
          <p:cNvPr id="4" name="Slide Number Placeholder 3"/>
          <p:cNvSpPr>
            <a:spLocks noGrp="1"/>
          </p:cNvSpPr>
          <p:nvPr>
            <p:ph type="sldNum" sz="quarter" idx="5"/>
          </p:nvPr>
        </p:nvSpPr>
        <p:spPr/>
        <p:txBody>
          <a:bodyPr/>
          <a:lstStyle/>
          <a:p>
            <a:fld id="{8D36AC2A-E969-3C46-9ED8-B46D40C5E669}" type="slidenum">
              <a:rPr lang="en-US" smtClean="0"/>
              <a:t>66</a:t>
            </a:fld>
            <a:endParaRPr lang="en-US"/>
          </a:p>
        </p:txBody>
      </p:sp>
      <p:sp>
        <p:nvSpPr>
          <p:cNvPr id="5" name="TextBox 4">
            <a:extLst>
              <a:ext uri="{FF2B5EF4-FFF2-40B4-BE49-F238E27FC236}">
                <a16:creationId xmlns:a16="http://schemas.microsoft.com/office/drawing/2014/main" id="{F66B82DB-642F-4142-8064-BD82CD801CDE}"/>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372971791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D36AC2A-E969-3C46-9ED8-B46D40C5E669}" type="slidenum">
              <a:rPr lang="en-US" smtClean="0"/>
              <a:t>67</a:t>
            </a:fld>
            <a:endParaRPr lang="en-US"/>
          </a:p>
        </p:txBody>
      </p:sp>
    </p:spTree>
    <p:extLst>
      <p:ext uri="{BB962C8B-B14F-4D97-AF65-F5344CB8AC3E}">
        <p14:creationId xmlns:p14="http://schemas.microsoft.com/office/powerpoint/2010/main" val="154870743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6741FED0-B7F7-4D70-8B63-41E0F138CD1B}" type="slidenum">
              <a:rPr lang="en-US"/>
              <a:pPr/>
              <a:t>68</a:t>
            </a:fld>
            <a:endParaRPr lang="en-US"/>
          </a:p>
        </p:txBody>
      </p:sp>
      <p:sp>
        <p:nvSpPr>
          <p:cNvPr id="68610" name="Rectangle 2"/>
          <p:cNvSpPr>
            <a:spLocks noGrp="1" noRot="1" noChangeAspect="1" noChangeArrowheads="1" noTextEdit="1"/>
          </p:cNvSpPr>
          <p:nvPr>
            <p:ph type="sldImg"/>
          </p:nvPr>
        </p:nvSpPr>
        <p:spPr>
          <a:xfrm>
            <a:off x="1123950" y="693738"/>
            <a:ext cx="4610100" cy="3459162"/>
          </a:xfrm>
          <a:ln/>
        </p:spPr>
      </p:sp>
      <p:sp>
        <p:nvSpPr>
          <p:cNvPr id="68611" name="Rectangle 3"/>
          <p:cNvSpPr>
            <a:spLocks noGrp="1" noChangeArrowheads="1"/>
          </p:cNvSpPr>
          <p:nvPr>
            <p:ph type="body" idx="1"/>
          </p:nvPr>
        </p:nvSpPr>
        <p:spPr/>
        <p:txBody>
          <a:bodyPr/>
          <a:lstStyle/>
          <a:p>
            <a:r>
              <a:rPr lang="en-US" dirty="0"/>
              <a:t>The geography of residential properties and rent control in Cambridge, Massachusetts. Cambridge residential properties as of 2008 are marked with gray circles. Plots that were rent controlled as of 1994 are overlaid with black circles. </a:t>
            </a:r>
          </a:p>
        </p:txBody>
      </p:sp>
    </p:spTree>
    <p:extLst>
      <p:ext uri="{BB962C8B-B14F-4D97-AF65-F5344CB8AC3E}">
        <p14:creationId xmlns:p14="http://schemas.microsoft.com/office/powerpoint/2010/main" val="245439043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6741FED0-B7F7-4D70-8B63-41E0F138CD1B}" type="slidenum">
              <a:rPr lang="en-US"/>
              <a:pPr/>
              <a:t>69</a:t>
            </a:fld>
            <a:endParaRPr lang="en-US"/>
          </a:p>
        </p:txBody>
      </p:sp>
      <p:sp>
        <p:nvSpPr>
          <p:cNvPr id="68610" name="Rectangle 2"/>
          <p:cNvSpPr>
            <a:spLocks noGrp="1" noRot="1" noChangeAspect="1" noChangeArrowheads="1" noTextEdit="1"/>
          </p:cNvSpPr>
          <p:nvPr>
            <p:ph type="sldImg"/>
          </p:nvPr>
        </p:nvSpPr>
        <p:spPr>
          <a:xfrm>
            <a:off x="1123950" y="693738"/>
            <a:ext cx="4610100" cy="3459162"/>
          </a:xfrm>
          <a:ln/>
        </p:spPr>
      </p:sp>
      <p:sp>
        <p:nvSpPr>
          <p:cNvPr id="68611" name="Rectangle 3"/>
          <p:cNvSpPr>
            <a:spLocks noGrp="1" noChangeArrowheads="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A study</a:t>
            </a:r>
            <a:r>
              <a:rPr lang="en-US" sz="1200" baseline="0" dirty="0"/>
              <a:t> on the end of rent control in Cambridge, MA finds results consistent with economic theory. When the price control is removed, the price of previously controlled units goes up, i.e. adjusts to the free market equilibrium price. Investment in these units also rises, consistent with landlords’ improvement of their units in order to command a higher price. Interestingly, the study finds that price and investment in nearby never-controlled units also rise. This is likely due to a positive spillover from the improvement in the quality of the controlled units. </a:t>
            </a:r>
            <a:endParaRPr lang="en-US" sz="1200" dirty="0"/>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For more, see the original study: https://</a:t>
            </a:r>
            <a:r>
              <a:rPr lang="en-US" sz="1200" dirty="0" err="1"/>
              <a:t>economics.mit.edu</a:t>
            </a:r>
            <a:r>
              <a:rPr lang="en-US" sz="1200" dirty="0"/>
              <a:t>/files/9774</a:t>
            </a:r>
          </a:p>
          <a:p>
            <a:endParaRPr lang="en-US" dirty="0"/>
          </a:p>
        </p:txBody>
      </p:sp>
    </p:spTree>
    <p:extLst>
      <p:ext uri="{BB962C8B-B14F-4D97-AF65-F5344CB8AC3E}">
        <p14:creationId xmlns:p14="http://schemas.microsoft.com/office/powerpoint/2010/main" val="292616421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70</a:t>
            </a:fld>
            <a:endParaRPr lang="en-US"/>
          </a:p>
        </p:txBody>
      </p:sp>
    </p:spTree>
    <p:extLst>
      <p:ext uri="{BB962C8B-B14F-4D97-AF65-F5344CB8AC3E}">
        <p14:creationId xmlns:p14="http://schemas.microsoft.com/office/powerpoint/2010/main" val="176865018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14B94B4F-1C3E-42AD-8B65-1B752C8E558F}" type="slidenum">
              <a:rPr lang="en-US" smtClean="0"/>
              <a:pPr>
                <a:defRPr/>
              </a:pPr>
              <a:t>72</a:t>
            </a:fld>
            <a:endParaRPr lang="en-US"/>
          </a:p>
        </p:txBody>
      </p:sp>
    </p:spTree>
    <p:extLst>
      <p:ext uri="{BB962C8B-B14F-4D97-AF65-F5344CB8AC3E}">
        <p14:creationId xmlns:p14="http://schemas.microsoft.com/office/powerpoint/2010/main" val="284671480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14B94B4F-1C3E-42AD-8B65-1B752C8E558F}" type="slidenum">
              <a:rPr lang="en-US" smtClean="0"/>
              <a:pPr>
                <a:defRPr/>
              </a:pPr>
              <a:t>73</a:t>
            </a:fld>
            <a:endParaRPr lang="en-US"/>
          </a:p>
        </p:txBody>
      </p:sp>
    </p:spTree>
    <p:extLst>
      <p:ext uri="{BB962C8B-B14F-4D97-AF65-F5344CB8AC3E}">
        <p14:creationId xmlns:p14="http://schemas.microsoft.com/office/powerpoint/2010/main" val="181738918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fr-FR" dirty="0" err="1"/>
              <a:t>Externality</a:t>
            </a:r>
            <a:r>
              <a:rPr lang="fr-FR" dirty="0"/>
              <a:t> of </a:t>
            </a:r>
            <a:r>
              <a:rPr lang="fr-FR" dirty="0" err="1"/>
              <a:t>gas</a:t>
            </a:r>
            <a:r>
              <a:rPr lang="fr-FR" dirty="0"/>
              <a:t> </a:t>
            </a:r>
            <a:r>
              <a:rPr lang="fr-FR" dirty="0" err="1"/>
              <a:t>is</a:t>
            </a:r>
            <a:r>
              <a:rPr lang="fr-FR" dirty="0"/>
              <a:t> approx $1.5 per gallon: https://energyathaas.wordpress.com/2015/01/05/raise-the-gas-tax/ </a:t>
            </a:r>
          </a:p>
          <a:p>
            <a:endParaRPr lang="fr-FR" dirty="0"/>
          </a:p>
          <a:p>
            <a:r>
              <a:rPr lang="fr-FR" dirty="0"/>
              <a:t>77 countries have </a:t>
            </a:r>
            <a:r>
              <a:rPr lang="fr-FR" dirty="0" err="1"/>
              <a:t>committed</a:t>
            </a:r>
            <a:r>
              <a:rPr lang="fr-FR" dirty="0"/>
              <a:t> to </a:t>
            </a:r>
            <a:r>
              <a:rPr lang="fr-FR" dirty="0" err="1"/>
              <a:t>achieving</a:t>
            </a:r>
            <a:r>
              <a:rPr lang="fr-FR" dirty="0"/>
              <a:t> net </a:t>
            </a:r>
            <a:r>
              <a:rPr lang="fr-FR" dirty="0" err="1"/>
              <a:t>zero</a:t>
            </a:r>
            <a:r>
              <a:rPr lang="fr-FR" dirty="0"/>
              <a:t> </a:t>
            </a:r>
            <a:r>
              <a:rPr lang="fr-FR" dirty="0" err="1"/>
              <a:t>emissions</a:t>
            </a:r>
            <a:r>
              <a:rPr lang="fr-FR" dirty="0"/>
              <a:t> by 2050</a:t>
            </a:r>
          </a:p>
          <a:p>
            <a:pPr lvl="1"/>
            <a:r>
              <a:rPr lang="en-US" dirty="0"/>
              <a:t>Half of emissions cuts must be in place by 2030 to keep warming below 1.5°C</a:t>
            </a:r>
          </a:p>
          <a:p>
            <a:pPr lvl="1"/>
            <a:endParaRPr lang="en-US" sz="1300" dirty="0"/>
          </a:p>
          <a:p>
            <a:r>
              <a:rPr lang="fr-FR" dirty="0"/>
              <a:t>Carbon taxes have been </a:t>
            </a:r>
            <a:r>
              <a:rPr lang="fr-FR" dirty="0" err="1"/>
              <a:t>implemented</a:t>
            </a:r>
            <a:r>
              <a:rPr lang="fr-FR" dirty="0"/>
              <a:t> (or </a:t>
            </a:r>
            <a:r>
              <a:rPr lang="fr-FR" dirty="0" err="1"/>
              <a:t>scheduled</a:t>
            </a:r>
            <a:r>
              <a:rPr lang="fr-FR" dirty="0"/>
              <a:t>) in 46 countries</a:t>
            </a:r>
          </a:p>
          <a:p>
            <a:pPr lvl="1"/>
            <a:r>
              <a:rPr lang="fr-FR" dirty="0"/>
              <a:t>$44 billion </a:t>
            </a:r>
            <a:r>
              <a:rPr lang="fr-FR" dirty="0" err="1"/>
              <a:t>raised</a:t>
            </a:r>
            <a:r>
              <a:rPr lang="fr-FR" dirty="0"/>
              <a:t> in </a:t>
            </a:r>
            <a:r>
              <a:rPr lang="fr-FR" dirty="0" err="1"/>
              <a:t>carbon</a:t>
            </a:r>
            <a:r>
              <a:rPr lang="fr-FR" dirty="0"/>
              <a:t> </a:t>
            </a:r>
            <a:r>
              <a:rPr lang="fr-FR" dirty="0" err="1"/>
              <a:t>pricing</a:t>
            </a:r>
            <a:r>
              <a:rPr lang="fr-FR" dirty="0"/>
              <a:t> revenues in 2018</a:t>
            </a:r>
          </a:p>
          <a:p>
            <a:pPr lvl="1"/>
            <a:endParaRPr lang="fr-FR" sz="1300" dirty="0"/>
          </a:p>
          <a:p>
            <a:r>
              <a:rPr lang="fr-FR" dirty="0"/>
              <a:t>But </a:t>
            </a:r>
            <a:r>
              <a:rPr lang="fr-FR" dirty="0" err="1"/>
              <a:t>this</a:t>
            </a:r>
            <a:r>
              <a:rPr lang="fr-FR" dirty="0"/>
              <a:t> </a:t>
            </a:r>
            <a:r>
              <a:rPr lang="fr-FR" dirty="0" err="1"/>
              <a:t>is</a:t>
            </a:r>
            <a:r>
              <a:rPr lang="fr-FR" dirty="0"/>
              <a:t> not </a:t>
            </a:r>
            <a:r>
              <a:rPr lang="fr-FR" dirty="0" err="1"/>
              <a:t>enough</a:t>
            </a:r>
            <a:endParaRPr lang="fr-FR" dirty="0"/>
          </a:p>
          <a:p>
            <a:pPr lvl="1"/>
            <a:r>
              <a:rPr lang="fr-FR" dirty="0" err="1"/>
              <a:t>Covers</a:t>
            </a:r>
            <a:r>
              <a:rPr lang="fr-FR" dirty="0"/>
              <a:t> </a:t>
            </a:r>
            <a:r>
              <a:rPr lang="fr-FR" dirty="0" err="1"/>
              <a:t>only</a:t>
            </a:r>
            <a:r>
              <a:rPr lang="fr-FR" dirty="0"/>
              <a:t> 20% of </a:t>
            </a:r>
            <a:r>
              <a:rPr lang="fr-FR" dirty="0" err="1"/>
              <a:t>emissions</a:t>
            </a:r>
            <a:endParaRPr lang="fr-FR" dirty="0"/>
          </a:p>
          <a:p>
            <a:pPr lvl="1"/>
            <a:r>
              <a:rPr lang="fr-FR" dirty="0"/>
              <a:t>No </a:t>
            </a:r>
            <a:r>
              <a:rPr lang="fr-FR" dirty="0" err="1"/>
              <a:t>carbon</a:t>
            </a:r>
            <a:r>
              <a:rPr lang="fr-FR" dirty="0"/>
              <a:t> </a:t>
            </a:r>
            <a:r>
              <a:rPr lang="fr-FR" dirty="0" err="1"/>
              <a:t>tax</a:t>
            </a:r>
            <a:r>
              <a:rPr lang="fr-FR" dirty="0"/>
              <a:t> in the US </a:t>
            </a:r>
            <a:r>
              <a:rPr lang="fr-FR" dirty="0" err="1"/>
              <a:t>nor</a:t>
            </a:r>
            <a:r>
              <a:rPr lang="fr-FR" dirty="0"/>
              <a:t> in China…</a:t>
            </a:r>
          </a:p>
          <a:p>
            <a:pPr lvl="1"/>
            <a:r>
              <a:rPr lang="en-US" dirty="0"/>
              <a:t>Incentives for Coal countries to burn their coal even faster now, before regulation goes into effect</a:t>
            </a:r>
          </a:p>
          <a:p>
            <a:pPr lvl="1"/>
            <a:endParaRPr lang="fr-FR" sz="1400" dirty="0"/>
          </a:p>
          <a:p>
            <a:r>
              <a:rPr lang="fr-FR" dirty="0" err="1"/>
              <a:t>Other</a:t>
            </a:r>
            <a:r>
              <a:rPr lang="fr-FR" dirty="0"/>
              <a:t> </a:t>
            </a:r>
            <a:r>
              <a:rPr lang="fr-FR" dirty="0" err="1"/>
              <a:t>ways</a:t>
            </a:r>
            <a:r>
              <a:rPr lang="fr-FR" dirty="0"/>
              <a:t> of </a:t>
            </a:r>
            <a:r>
              <a:rPr lang="fr-FR" dirty="0" err="1"/>
              <a:t>limiting</a:t>
            </a:r>
            <a:r>
              <a:rPr lang="fr-FR" dirty="0"/>
              <a:t> </a:t>
            </a:r>
            <a:r>
              <a:rPr lang="fr-FR" dirty="0" err="1"/>
              <a:t>emissions</a:t>
            </a:r>
            <a:r>
              <a:rPr lang="fr-FR" dirty="0"/>
              <a:t>?</a:t>
            </a:r>
          </a:p>
          <a:p>
            <a:endParaRPr lang="en-US" dirty="0"/>
          </a:p>
        </p:txBody>
      </p:sp>
      <p:sp>
        <p:nvSpPr>
          <p:cNvPr id="4" name="Slide Number Placeholder 3"/>
          <p:cNvSpPr>
            <a:spLocks noGrp="1"/>
          </p:cNvSpPr>
          <p:nvPr>
            <p:ph type="sldNum" sz="quarter" idx="10"/>
          </p:nvPr>
        </p:nvSpPr>
        <p:spPr/>
        <p:txBody>
          <a:bodyPr/>
          <a:lstStyle/>
          <a:p>
            <a:pPr>
              <a:defRPr/>
            </a:pPr>
            <a:fld id="{14B94B4F-1C3E-42AD-8B65-1B752C8E558F}" type="slidenum">
              <a:rPr lang="en-US" smtClean="0"/>
              <a:pPr>
                <a:defRPr/>
              </a:pPr>
              <a:t>74</a:t>
            </a:fld>
            <a:endParaRPr lang="en-US"/>
          </a:p>
        </p:txBody>
      </p:sp>
    </p:spTree>
    <p:extLst>
      <p:ext uri="{BB962C8B-B14F-4D97-AF65-F5344CB8AC3E}">
        <p14:creationId xmlns:p14="http://schemas.microsoft.com/office/powerpoint/2010/main" val="191678778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14B94B4F-1C3E-42AD-8B65-1B752C8E558F}" type="slidenum">
              <a:rPr lang="en-US" smtClean="0"/>
              <a:pPr>
                <a:defRPr/>
              </a:pPr>
              <a:t>75</a:t>
            </a:fld>
            <a:endParaRPr lang="en-US"/>
          </a:p>
        </p:txBody>
      </p:sp>
    </p:spTree>
    <p:extLst>
      <p:ext uri="{BB962C8B-B14F-4D97-AF65-F5344CB8AC3E}">
        <p14:creationId xmlns:p14="http://schemas.microsoft.com/office/powerpoint/2010/main" val="402293030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14B94B4F-1C3E-42AD-8B65-1B752C8E558F}" type="slidenum">
              <a:rPr lang="en-US" smtClean="0"/>
              <a:pPr>
                <a:defRPr/>
              </a:pPr>
              <a:t>76</a:t>
            </a:fld>
            <a:endParaRPr lang="en-US"/>
          </a:p>
        </p:txBody>
      </p:sp>
    </p:spTree>
    <p:extLst>
      <p:ext uri="{BB962C8B-B14F-4D97-AF65-F5344CB8AC3E}">
        <p14:creationId xmlns:p14="http://schemas.microsoft.com/office/powerpoint/2010/main" val="258317052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D36AC2A-E969-3C46-9ED8-B46D40C5E669}" type="slidenum">
              <a:rPr lang="en-US" smtClean="0"/>
              <a:t>77</a:t>
            </a:fld>
            <a:endParaRPr lang="en-US"/>
          </a:p>
        </p:txBody>
      </p:sp>
    </p:spTree>
    <p:extLst>
      <p:ext uri="{BB962C8B-B14F-4D97-AF65-F5344CB8AC3E}">
        <p14:creationId xmlns:p14="http://schemas.microsoft.com/office/powerpoint/2010/main" val="10702423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F8D68B6-7B24-6146-BD9E-412DC96CF560}"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3" name="Text Placeholder 2"/>
          <p:cNvSpPr>
            <a:spLocks noGrp="1"/>
          </p:cNvSpPr>
          <p:nvPr>
            <p:ph type="body" idx="1"/>
          </p:nvPr>
        </p:nvSpPr>
        <p:spPr>
          <a:xfrm>
            <a:off x="518199" y="2906713"/>
            <a:ext cx="7772400" cy="1500187"/>
          </a:xfrm>
        </p:spPr>
        <p:txBody>
          <a:bodyPr anchor="b">
            <a:normAutofit/>
          </a:bodyPr>
          <a:lstStyle>
            <a:lvl1pPr marL="0" indent="0">
              <a:buNone/>
              <a:defRPr sz="1600">
                <a:solidFill>
                  <a:srgbClr val="1B8BD5"/>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Title Placeholder 1"/>
          <p:cNvSpPr>
            <a:spLocks noGrp="1"/>
          </p:cNvSpPr>
          <p:nvPr>
            <p:ph type="title"/>
          </p:nvPr>
        </p:nvSpPr>
        <p:spPr>
          <a:xfrm>
            <a:off x="518199" y="4401792"/>
            <a:ext cx="8229600" cy="1143000"/>
          </a:xfrm>
          <a:prstGeom prst="rect">
            <a:avLst/>
          </a:prstGeom>
        </p:spPr>
        <p:txBody>
          <a:bodyPr vert="horz" lIns="91440" tIns="45720" rIns="91440" bIns="45720" rtlCol="0" anchor="t" anchorCtr="0">
            <a:normAutofit/>
          </a:bodyPr>
          <a:lstStyle>
            <a:lvl1pPr algn="l">
              <a:defRPr>
                <a:solidFill>
                  <a:schemeClr val="bg1"/>
                </a:solidFill>
              </a:defRPr>
            </a:lvl1pPr>
          </a:lstStyle>
          <a:p>
            <a:r>
              <a:rPr lang="en-US" dirty="0"/>
              <a:t>Click to edit Master title style</a:t>
            </a:r>
          </a:p>
        </p:txBody>
      </p:sp>
      <p:cxnSp>
        <p:nvCxnSpPr>
          <p:cNvPr id="12" name="Straight Connector 11"/>
          <p:cNvCxnSpPr/>
          <p:nvPr userDrawn="1"/>
        </p:nvCxnSpPr>
        <p:spPr>
          <a:xfrm>
            <a:off x="623681" y="4406900"/>
            <a:ext cx="7666919" cy="0"/>
          </a:xfrm>
          <a:prstGeom prst="line">
            <a:avLst/>
          </a:prstGeom>
          <a:ln>
            <a:solidFill>
              <a:schemeClr val="tx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2669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t>10/22/2025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4238967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9E111D7-C283-8E4B-AB2F-B2B17B0FC9BC}"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923028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3155173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noAutofit/>
          </a:bodyPr>
          <a:lstStyle>
            <a:lvl1pPr algn="l">
              <a:defRPr sz="32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E111D7-C283-8E4B-AB2F-B2B17B0FC9BC}"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653757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9E111D7-C283-8E4B-AB2F-B2B17B0FC9BC}" type="datetimeFigureOut">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144116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9E111D7-C283-8E4B-AB2F-B2B17B0FC9BC}" type="datetimeFigureOut">
              <a:rPr lang="en-US" smtClean="0"/>
              <a:t>10/22/2025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683145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9E111D7-C283-8E4B-AB2F-B2B17B0FC9BC}" type="datetimeFigureOut">
              <a:rPr lang="en-US" smtClean="0"/>
              <a:t>10/22/2025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951736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E111D7-C283-8E4B-AB2F-B2B17B0FC9BC}" type="datetimeFigureOut">
              <a:rPr lang="en-US" smtClean="0"/>
              <a:t>10/22/2025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658720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E111D7-C283-8E4B-AB2F-B2B17B0FC9BC}" type="datetimeFigureOut">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33965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E111D7-C283-8E4B-AB2F-B2B17B0FC9BC}" type="datetimeFigureOut">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832547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3956811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834392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F8D68B6-7B24-6146-BD9E-412DC96CF560}"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4292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F8D68B6-7B24-6146-BD9E-412DC96CF560}"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440323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8D68B6-7B24-6146-BD9E-412DC96CF560}"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259889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F8D68B6-7B24-6146-BD9E-412DC96CF560}" type="datetimeFigureOut">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058198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F8D68B6-7B24-6146-BD9E-412DC96CF560}" type="datetimeFigureOut">
              <a:rPr lang="en-US" smtClean="0"/>
              <a:t>10/22/2025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117213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t>10/22/2025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180880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8D68B6-7B24-6146-BD9E-412DC96CF560}" type="datetimeFigureOut">
              <a:rPr lang="en-US" smtClean="0"/>
              <a:t>10/22/2025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046176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8D68B6-7B24-6146-BD9E-412DC96CF560}" type="datetimeFigureOut">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614727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8D68B6-7B24-6146-BD9E-412DC96CF560}" type="datetimeFigureOut">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683847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pPr/>
              <a:t>10/22/2025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3032531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BF8D68B6-7B24-6146-BD9E-412DC96CF560}"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58220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F8D68B6-7B24-6146-BD9E-412DC96CF560}" type="datetimeFigureOut">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120140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BF8D68B6-7B24-6146-BD9E-412DC96CF560}" type="datetimeFigureOut">
              <a:rPr lang="en-US" smtClean="0"/>
              <a:pPr/>
              <a:t>10/22/2025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1949856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F8D68B6-7B24-6146-BD9E-412DC96CF560}" type="datetimeFigureOut">
              <a:rPr lang="en-US" smtClean="0"/>
              <a:pPr/>
              <a:t>10/22/2025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02897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454175" y="296767"/>
            <a:ext cx="8520600" cy="763600"/>
          </a:xfrm>
          <a:prstGeom prst="rect">
            <a:avLst/>
          </a:prstGeom>
        </p:spPr>
        <p:txBody>
          <a:bodyPr spcFirstLastPara="1" wrap="square" lIns="91425" tIns="91425" rIns="91425" bIns="91425" anchor="ctr" anchorCtr="0">
            <a:normAutofit/>
          </a:bodyPr>
          <a:lstStyle>
            <a:lvl1pPr lvl="0" algn="l">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22" name="Google Shape;22;p3"/>
          <p:cNvSpPr txBox="1">
            <a:spLocks noGrp="1"/>
          </p:cNvSpPr>
          <p:nvPr>
            <p:ph type="body" idx="1"/>
          </p:nvPr>
        </p:nvSpPr>
        <p:spPr>
          <a:xfrm>
            <a:off x="387900" y="1536633"/>
            <a:ext cx="8520600" cy="4555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dirty="0"/>
          </a:p>
        </p:txBody>
      </p:sp>
      <p:cxnSp>
        <p:nvCxnSpPr>
          <p:cNvPr id="5" name="Google Shape;23;p3">
            <a:extLst>
              <a:ext uri="{FF2B5EF4-FFF2-40B4-BE49-F238E27FC236}">
                <a16:creationId xmlns:a16="http://schemas.microsoft.com/office/drawing/2014/main" id="{AD7A7535-6862-4B53-88CE-84D2C3656158}"/>
              </a:ext>
            </a:extLst>
          </p:cNvPr>
          <p:cNvCxnSpPr/>
          <p:nvPr userDrawn="1"/>
        </p:nvCxnSpPr>
        <p:spPr>
          <a:xfrm>
            <a:off x="353075" y="211567"/>
            <a:ext cx="0" cy="934000"/>
          </a:xfrm>
          <a:prstGeom prst="straightConnector1">
            <a:avLst/>
          </a:prstGeom>
          <a:noFill/>
          <a:ln w="76200" cap="flat" cmpd="sng">
            <a:solidFill>
              <a:srgbClr val="FDB515"/>
            </a:solidFill>
            <a:prstDash val="solid"/>
            <a:round/>
            <a:headEnd type="none" w="med" len="med"/>
            <a:tailEnd type="none" w="med" len="med"/>
          </a:ln>
        </p:spPr>
      </p:cxnSp>
      <p:sp>
        <p:nvSpPr>
          <p:cNvPr id="8" name="Slide Number Placeholder 7">
            <a:extLst>
              <a:ext uri="{FF2B5EF4-FFF2-40B4-BE49-F238E27FC236}">
                <a16:creationId xmlns:a16="http://schemas.microsoft.com/office/drawing/2014/main" id="{C54F37CC-A312-4C7C-8F97-A8D1562EA0F9}"/>
              </a:ext>
            </a:extLst>
          </p:cNvPr>
          <p:cNvSpPr>
            <a:spLocks noGrp="1"/>
          </p:cNvSpPr>
          <p:nvPr>
            <p:ph type="sldNum" sz="quarter" idx="12"/>
          </p:nvPr>
        </p:nvSpPr>
        <p:spPr>
          <a:xfrm>
            <a:off x="7010400" y="6499283"/>
            <a:ext cx="2133600" cy="365125"/>
          </a:xfrm>
        </p:spPr>
        <p:txBody>
          <a:body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2034115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3C16A1EF-F8D3-2C4C-A23B-DABFF455F73F}" type="datetime1">
              <a:rPr lang="en-US" smtClean="0">
                <a:solidFill>
                  <a:prstClr val="black">
                    <a:lumMod val="75000"/>
                    <a:lumOff val="25000"/>
                  </a:prstClr>
                </a:solidFill>
              </a:rPr>
              <a:pPr/>
              <a:t>10/22/2025</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4573656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8"/>
          <p:cNvSpPr>
            <a:spLocks noGrp="1"/>
          </p:cNvSpPr>
          <p:nvPr>
            <p:ph type="dt" sz="half" idx="10"/>
          </p:nvPr>
        </p:nvSpPr>
        <p:spPr/>
        <p:txBody>
          <a:bodyPr/>
          <a:lstStyle/>
          <a:p>
            <a:fld id="{AF541F4B-73DA-634C-9E29-56388643854B}" type="datetime1">
              <a:rPr lang="en-US" smtClean="0">
                <a:solidFill>
                  <a:prstClr val="black">
                    <a:lumMod val="75000"/>
                    <a:lumOff val="25000"/>
                  </a:prstClr>
                </a:solidFill>
              </a:rPr>
              <a:pPr/>
              <a:t>10/22/2025</a:t>
            </a:fld>
            <a:endParaRPr lang="en-US" dirty="0">
              <a:solidFill>
                <a:prstClr val="black">
                  <a:lumMod val="75000"/>
                  <a:lumOff val="25000"/>
                </a:prstClr>
              </a:solidFill>
            </a:endParaRPr>
          </a:p>
        </p:txBody>
      </p:sp>
      <p:sp>
        <p:nvSpPr>
          <p:cNvPr id="10" name="Footer Placeholder 9"/>
          <p:cNvSpPr>
            <a:spLocks noGrp="1"/>
          </p:cNvSpPr>
          <p:nvPr>
            <p:ph type="ftr" sz="quarter" idx="11"/>
          </p:nvPr>
        </p:nvSpPr>
        <p:spPr/>
        <p:txBody>
          <a:bodyPr/>
          <a:lstStyle/>
          <a:p>
            <a:endParaRPr lang="en-US" dirty="0">
              <a:solidFill>
                <a:prstClr val="white">
                  <a:lumMod val="50000"/>
                </a:prstClr>
              </a:solidFill>
            </a:endParaRPr>
          </a:p>
        </p:txBody>
      </p:sp>
      <p:sp>
        <p:nvSpPr>
          <p:cNvPr id="11" name="Slide Number Placeholder 10"/>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30683439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E59C6B-EB5D-C046-9EA3-3CA9495D4FA9}" type="datetime1">
              <a:rPr lang="en-US" smtClean="0">
                <a:solidFill>
                  <a:prstClr val="black">
                    <a:lumMod val="75000"/>
                    <a:lumOff val="25000"/>
                  </a:prstClr>
                </a:solidFill>
              </a:rPr>
              <a:pPr/>
              <a:t>10/22/2025</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9706617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43CE89-0F10-7242-893C-EB6AB707C3E1}" type="datetime1">
              <a:rPr lang="en-US" smtClean="0">
                <a:solidFill>
                  <a:prstClr val="black">
                    <a:lumMod val="75000"/>
                    <a:lumOff val="25000"/>
                  </a:prstClr>
                </a:solidFill>
              </a:rPr>
              <a:pPr/>
              <a:t>10/22/2025</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06095923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47D4AD-BBAE-3345-8D65-FDA503BCC307}" type="datetime1">
              <a:rPr lang="en-US" smtClean="0">
                <a:solidFill>
                  <a:prstClr val="black">
                    <a:lumMod val="75000"/>
                    <a:lumOff val="25000"/>
                  </a:prstClr>
                </a:solidFill>
              </a:rPr>
              <a:pPr/>
              <a:t>10/22/2025</a:t>
            </a:fld>
            <a:endParaRPr lang="en-US">
              <a:solidFill>
                <a:prstClr val="black">
                  <a:lumMod val="75000"/>
                  <a:lumOff val="25000"/>
                </a:prstClr>
              </a:solidFill>
            </a:endParaRPr>
          </a:p>
        </p:txBody>
      </p:sp>
      <p:sp>
        <p:nvSpPr>
          <p:cNvPr id="8" name="Footer Placeholder 7"/>
          <p:cNvSpPr>
            <a:spLocks noGrp="1"/>
          </p:cNvSpPr>
          <p:nvPr>
            <p:ph type="ftr" sz="quarter" idx="11"/>
          </p:nvPr>
        </p:nvSpPr>
        <p:spPr/>
        <p:txBody>
          <a:bodyPr/>
          <a:lstStyle/>
          <a:p>
            <a:endParaRPr lang="en-US">
              <a:solidFill>
                <a:prstClr val="white">
                  <a:lumMod val="50000"/>
                </a:prstClr>
              </a:solidFill>
            </a:endParaRPr>
          </a:p>
        </p:txBody>
      </p:sp>
      <p:sp>
        <p:nvSpPr>
          <p:cNvPr id="9" name="Slide Number Placeholder 8"/>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24646007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81AFE5B-575B-7C44-8512-74AD30B0897C}" type="datetime1">
              <a:rPr lang="en-US" smtClean="0">
                <a:solidFill>
                  <a:prstClr val="black">
                    <a:lumMod val="75000"/>
                    <a:lumOff val="25000"/>
                  </a:prstClr>
                </a:solidFill>
              </a:rPr>
              <a:pPr/>
              <a:t>10/22/2025</a:t>
            </a:fld>
            <a:endParaRPr lang="en-US">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7518844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EADBD6-357E-6446-973D-D43166770EC1}" type="datetime1">
              <a:rPr lang="en-US" smtClean="0">
                <a:solidFill>
                  <a:prstClr val="black">
                    <a:lumMod val="75000"/>
                    <a:lumOff val="25000"/>
                  </a:prstClr>
                </a:solidFill>
              </a:rPr>
              <a:pPr/>
              <a:t>10/22/2025</a:t>
            </a:fld>
            <a:endParaRPr lang="en-US">
              <a:solidFill>
                <a:prstClr val="black">
                  <a:lumMod val="75000"/>
                  <a:lumOff val="25000"/>
                </a:prstClr>
              </a:solidFill>
            </a:endParaRPr>
          </a:p>
        </p:txBody>
      </p:sp>
      <p:sp>
        <p:nvSpPr>
          <p:cNvPr id="3" name="Footer Placeholder 2"/>
          <p:cNvSpPr>
            <a:spLocks noGrp="1"/>
          </p:cNvSpPr>
          <p:nvPr>
            <p:ph type="ftr" sz="quarter" idx="11"/>
          </p:nvPr>
        </p:nvSpPr>
        <p:spPr/>
        <p:txBody>
          <a:bodyPr/>
          <a:lstStyle/>
          <a:p>
            <a:endParaRPr lang="en-US">
              <a:solidFill>
                <a:prstClr val="white">
                  <a:lumMod val="50000"/>
                </a:prstClr>
              </a:solidFill>
            </a:endParaRPr>
          </a:p>
        </p:txBody>
      </p:sp>
      <p:sp>
        <p:nvSpPr>
          <p:cNvPr id="4" name="Slide Number Placeholder 3"/>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5014830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7ED7A8-0006-294D-BE45-F3E7C3592CEA}" type="datetime1">
              <a:rPr lang="en-US" smtClean="0">
                <a:solidFill>
                  <a:prstClr val="black">
                    <a:lumMod val="75000"/>
                    <a:lumOff val="25000"/>
                  </a:prstClr>
                </a:solidFill>
              </a:rPr>
              <a:pPr/>
              <a:t>10/22/2025</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23301714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831F3B-0CB8-3743-AFB9-710E8B95EFBB}" type="datetime1">
              <a:rPr lang="en-US" smtClean="0">
                <a:solidFill>
                  <a:prstClr val="black">
                    <a:lumMod val="75000"/>
                    <a:lumOff val="25000"/>
                  </a:prstClr>
                </a:solidFill>
              </a:rPr>
              <a:pPr/>
              <a:t>10/22/2025</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6550650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B634D085-3135-FC4A-9A84-231E84B61035}" type="datetime1">
              <a:rPr lang="en-US" smtClean="0">
                <a:solidFill>
                  <a:prstClr val="black">
                    <a:lumMod val="75000"/>
                    <a:lumOff val="25000"/>
                  </a:prstClr>
                </a:solidFill>
              </a:rPr>
              <a:pPr/>
              <a:t>10/22/2025</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119059361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solidFill>
                <a:prstClr val="black"/>
              </a:solidFill>
            </a:endParaRPr>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FB5C6980-FB3F-B643-BBDA-B1757172054E}" type="datetime1">
              <a:rPr lang="en-US" smtClean="0">
                <a:solidFill>
                  <a:prstClr val="black">
                    <a:lumMod val="75000"/>
                    <a:lumOff val="25000"/>
                  </a:prstClr>
                </a:solidFill>
              </a:rPr>
              <a:pPr/>
              <a:t>10/22/2025</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00506496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C935DF3-9DEA-544D-8F00-A2AC9DF52A4B}" type="datetime1">
              <a:rPr lang="en-US" smtClean="0">
                <a:solidFill>
                  <a:prstClr val="black">
                    <a:lumMod val="75000"/>
                    <a:lumOff val="25000"/>
                  </a:prstClr>
                </a:solidFill>
              </a:rPr>
              <a:pPr/>
              <a:t>10/22/2025</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403289165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AB1105CF-9EA3-6E4A-B446-49944784288B}" type="datetime1">
              <a:rPr lang="en-US" smtClean="0">
                <a:solidFill>
                  <a:prstClr val="black">
                    <a:lumMod val="75000"/>
                    <a:lumOff val="25000"/>
                  </a:prstClr>
                </a:solidFill>
              </a:rPr>
              <a:pPr/>
              <a:t>10/22/2025</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266788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88D68B0-69D4-C442-8BE8-D78CC592EE29}" type="datetime1">
              <a:rPr lang="en-US" smtClean="0">
                <a:solidFill>
                  <a:prstClr val="black">
                    <a:lumMod val="75000"/>
                    <a:lumOff val="25000"/>
                  </a:prstClr>
                </a:solidFill>
              </a:rPr>
              <a:pPr/>
              <a:t>10/22/2025</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6281072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gi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2.jpe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theme" Target="../theme/theme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theme" Target="../theme/theme4.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2013UCLAAndersonLogoScreen4-3.gif"/>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7297" y="1417639"/>
            <a:ext cx="7934131" cy="4708525"/>
          </a:xfrm>
          <a:prstGeom prst="rect">
            <a:avLst/>
          </a:prstGeom>
        </p:spPr>
        <p:txBody>
          <a:bodyPr vert="horz" lIns="91440" tIns="45720" rIns="91440" bIns="45720" rtlCol="0">
            <a:normAutofit/>
          </a:bodyPr>
          <a:lstStyle/>
          <a:p>
            <a:pPr lvl="0"/>
            <a:r>
              <a:rPr lang="en-US" dirty="0"/>
              <a:t>Click to edit Master text styles</a:t>
            </a:r>
          </a:p>
        </p:txBody>
      </p:sp>
      <p:sp>
        <p:nvSpPr>
          <p:cNvPr id="4" name="Date Placeholder 3"/>
          <p:cNvSpPr>
            <a:spLocks noGrp="1"/>
          </p:cNvSpPr>
          <p:nvPr>
            <p:ph type="dt" sz="half" idx="2"/>
          </p:nvPr>
        </p:nvSpPr>
        <p:spPr>
          <a:xfrm>
            <a:off x="151030" y="6356351"/>
            <a:ext cx="2133600" cy="365125"/>
          </a:xfrm>
          <a:prstGeom prst="rect">
            <a:avLst/>
          </a:prstGeom>
        </p:spPr>
        <p:txBody>
          <a:bodyPr vert="horz" lIns="91440" tIns="45720" rIns="91440" bIns="45720" rtlCol="0" anchor="ctr"/>
          <a:lstStyle>
            <a:lvl1pPr algn="l">
              <a:defRPr sz="1000" kern="900" spc="400">
                <a:solidFill>
                  <a:schemeClr val="bg1"/>
                </a:solidFill>
                <a:latin typeface=""/>
              </a:defRPr>
            </a:lvl1pPr>
          </a:lstStyle>
          <a:p>
            <a:fld id="{BF8D68B6-7B24-6146-BD9E-412DC96CF560}" type="datetimeFigureOut">
              <a:rPr lang="en-US" smtClean="0"/>
              <a:pPr/>
              <a:t>10/22/2025</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4290648545"/>
      </p:ext>
    </p:extLst>
  </p:cSld>
  <p:clrMap bg1="lt1" tx1="dk1" bg2="lt2" tx2="dk2" accent1="accent1" accent2="accent2" accent3="accent3" accent4="accent4" accent5="accent5" accent6="accent6" hlink="hlink" folHlink="folHlink"/>
  <p:sldLayoutIdLst>
    <p:sldLayoutId id="2147483712" r:id="rId1"/>
    <p:sldLayoutId id="2147483715" r:id="rId2"/>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xStyles>
    <p:titleStyle>
      <a:lvl1pPr algn="ctr" defTabSz="457200" rtl="0" eaLnBrk="1" latinLnBrk="0" hangingPunct="1">
        <a:spcBef>
          <a:spcPct val="0"/>
        </a:spcBef>
        <a:buNone/>
        <a:defRPr sz="3000" b="0" i="0" kern="1200" cap="all" spc="400">
          <a:solidFill>
            <a:schemeClr val="bg1"/>
          </a:solidFill>
          <a:latin typeface="Whitney Book"/>
          <a:ea typeface="+mj-ea"/>
          <a:cs typeface="+mj-cs"/>
        </a:defRPr>
      </a:lvl1pPr>
    </p:titleStyle>
    <p:bodyStyle>
      <a:lvl1pPr marL="0" indent="0" algn="l" defTabSz="457200" rtl="0" eaLnBrk="1" latinLnBrk="0" hangingPunct="1">
        <a:spcBef>
          <a:spcPct val="20000"/>
        </a:spcBef>
        <a:buClr>
          <a:srgbClr val="1B8BD5"/>
        </a:buClr>
        <a:buFontTx/>
        <a:buNone/>
        <a:defRPr sz="3200" kern="1100" spc="50" normalizeH="0" baseline="0">
          <a:solidFill>
            <a:schemeClr val="tx2">
              <a:lumMod val="75000"/>
            </a:schemeClr>
          </a:solidFill>
          <a:latin typeface="Whitney-Book"/>
          <a:ea typeface="+mn-ea"/>
          <a:cs typeface="+mn-cs"/>
        </a:defRPr>
      </a:lvl1pPr>
      <a:lvl2pPr marL="457200" indent="0" algn="l" defTabSz="457200" rtl="0" eaLnBrk="1" latinLnBrk="0" hangingPunct="1">
        <a:spcBef>
          <a:spcPct val="20000"/>
        </a:spcBef>
        <a:buClr>
          <a:srgbClr val="1B8BD5"/>
        </a:buClr>
        <a:buFontTx/>
        <a:buNone/>
        <a:defRPr sz="2800" kern="1100" spc="50" normalizeH="0" baseline="0">
          <a:solidFill>
            <a:schemeClr val="tx2">
              <a:lumMod val="75000"/>
            </a:schemeClr>
          </a:solidFill>
          <a:latin typeface="Whitney-Book"/>
          <a:ea typeface="+mn-ea"/>
          <a:cs typeface="+mn-cs"/>
        </a:defRPr>
      </a:lvl2pPr>
      <a:lvl3pPr marL="914400" indent="0" algn="l" defTabSz="457200" rtl="0" eaLnBrk="1" latinLnBrk="0" hangingPunct="1">
        <a:spcBef>
          <a:spcPct val="20000"/>
        </a:spcBef>
        <a:buClr>
          <a:srgbClr val="1B8BD5"/>
        </a:buClr>
        <a:buFontTx/>
        <a:buNone/>
        <a:defRPr sz="2400" kern="1100" spc="50" normalizeH="0" baseline="0">
          <a:solidFill>
            <a:schemeClr val="tx2">
              <a:lumMod val="75000"/>
            </a:schemeClr>
          </a:solidFill>
          <a:latin typeface="Whitney-Book"/>
          <a:ea typeface="+mn-ea"/>
          <a:cs typeface="+mn-cs"/>
        </a:defRPr>
      </a:lvl3pPr>
      <a:lvl4pPr marL="1371600" indent="0" algn="l" defTabSz="457200" rtl="0" eaLnBrk="1" latinLnBrk="0" hangingPunct="1">
        <a:spcBef>
          <a:spcPct val="20000"/>
        </a:spcBef>
        <a:buClr>
          <a:srgbClr val="1B8BD5"/>
        </a:buClr>
        <a:buFontTx/>
        <a:buNone/>
        <a:defRPr sz="2000" kern="1100" spc="50" normalizeH="0" baseline="0">
          <a:solidFill>
            <a:schemeClr val="tx2">
              <a:lumMod val="75000"/>
            </a:schemeClr>
          </a:solidFill>
          <a:latin typeface="Whitney-Book"/>
          <a:ea typeface="+mn-ea"/>
          <a:cs typeface="+mn-cs"/>
        </a:defRPr>
      </a:lvl4pPr>
      <a:lvl5pPr marL="1828800" indent="0" algn="l" defTabSz="457200" rtl="0" eaLnBrk="1" latinLnBrk="0" hangingPunct="1">
        <a:spcBef>
          <a:spcPct val="20000"/>
        </a:spcBef>
        <a:buClr>
          <a:srgbClr val="1B8BD5"/>
        </a:buClr>
        <a:buFontTx/>
        <a:buNone/>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810698" y="0"/>
            <a:ext cx="9954698" cy="4782311"/>
          </a:xfrm>
          <a:prstGeom prst="rect">
            <a:avLst/>
          </a:prstGeom>
        </p:spPr>
      </p:pic>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952530" y="1600201"/>
            <a:ext cx="7836326"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E111D7-C283-8E4B-AB2F-B2B17B0FC9BC}" type="datetimeFigureOut">
              <a:rPr lang="en-US" smtClean="0"/>
              <a:t>10/22/2025</a:t>
            </a:fld>
            <a:endParaRPr lang="en-US" dirty="0"/>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4DDD2-D94C-1147-A389-2CD6A7EEF184}" type="slidenum">
              <a:rPr lang="en-US" smtClean="0"/>
              <a:t>‹#›</a:t>
            </a:fld>
            <a:endParaRPr lang="en-US"/>
          </a:p>
        </p:txBody>
      </p:sp>
    </p:spTree>
    <p:extLst>
      <p:ext uri="{BB962C8B-B14F-4D97-AF65-F5344CB8AC3E}">
        <p14:creationId xmlns:p14="http://schemas.microsoft.com/office/powerpoint/2010/main" val="342558120"/>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xStyles>
    <p:titleStyle>
      <a:lvl1pPr algn="ctr" defTabSz="457200" rtl="0" eaLnBrk="1" latinLnBrk="0" hangingPunct="1">
        <a:spcBef>
          <a:spcPct val="0"/>
        </a:spcBef>
        <a:buNone/>
        <a:defRPr sz="2800" kern="1200" cap="all" spc="4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1pPr>
      <a:lvl2pPr marL="742950" indent="-28575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2pPr>
      <a:lvl3pPr marL="11430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3pPr>
      <a:lvl4pPr marL="16002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4pPr>
      <a:lvl5pPr marL="20574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BF8D68B6-7B24-6146-BD9E-412DC96CF560}" type="datetimeFigureOut">
              <a:rPr lang="en-US" smtClean="0"/>
              <a:pPr/>
              <a:t>10/22/2025</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2217867851"/>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7" r:id="rId10"/>
    <p:sldLayoutId id="2147483734" r:id="rId11"/>
    <p:sldLayoutId id="2147483735" r:id="rId12"/>
    <p:sldLayoutId id="2147483738" r:id="rId13"/>
    <p:sldLayoutId id="2147483768" r:id="rId14"/>
    <p:sldLayoutId id="2147483784" r:id="rId15"/>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4E0049A5-3BC7-C248-9551-30ECA52D2877}" type="datetime1">
              <a:rPr lang="en-US" smtClean="0">
                <a:solidFill>
                  <a:prstClr val="black">
                    <a:lumMod val="75000"/>
                    <a:lumOff val="25000"/>
                  </a:prstClr>
                </a:solidFill>
              </a:rPr>
              <a:pPr/>
              <a:t>10/22/2025</a:t>
            </a:fld>
            <a:endParaRPr lang="en-US" dirty="0">
              <a:solidFill>
                <a:prstClr val="black">
                  <a:lumMod val="75000"/>
                  <a:lumOff val="25000"/>
                </a:prstClr>
              </a:solidFill>
            </a:endParaRPr>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solidFill>
                <a:prstClr val="white">
                  <a:lumMod val="50000"/>
                </a:prstClr>
              </a:solidFill>
            </a:endParaRPr>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847157103"/>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Lst>
  <p:hf hdr="0" ftr="0" dt="0"/>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jpeg"/><Relationship Id="rId2" Type="http://schemas.openxmlformats.org/officeDocument/2006/relationships/notesSlide" Target="../notesSlides/notesSlide5.xml"/><Relationship Id="rId1" Type="http://schemas.openxmlformats.org/officeDocument/2006/relationships/slideLayout" Target="../slideLayouts/slideLayout28.xml"/><Relationship Id="rId6" Type="http://schemas.openxmlformats.org/officeDocument/2006/relationships/image" Target="../media/image15.png"/><Relationship Id="rId5" Type="http://schemas.openxmlformats.org/officeDocument/2006/relationships/image" Target="../media/image14.jpeg"/><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8.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8.xml"/><Relationship Id="rId1" Type="http://schemas.openxmlformats.org/officeDocument/2006/relationships/tags" Target="../tags/tag3.xm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8.xml"/><Relationship Id="rId5" Type="http://schemas.openxmlformats.org/officeDocument/2006/relationships/image" Target="../media/image21.png"/><Relationship Id="rId4" Type="http://schemas.openxmlformats.org/officeDocument/2006/relationships/image" Target="../media/image20.jpeg"/></Relationships>
</file>

<file path=ppt/slides/_rels/slide1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xml"/><Relationship Id="rId1" Type="http://schemas.openxmlformats.org/officeDocument/2006/relationships/slideLayout" Target="../slideLayouts/slideLayout28.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8.xml"/><Relationship Id="rId4" Type="http://schemas.openxmlformats.org/officeDocument/2006/relationships/chart" Target="../charts/char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8.xml"/><Relationship Id="rId1" Type="http://schemas.openxmlformats.org/officeDocument/2006/relationships/tags" Target="../tags/tag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8.xml"/><Relationship Id="rId1" Type="http://schemas.openxmlformats.org/officeDocument/2006/relationships/tags" Target="../tags/tag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8.xml"/><Relationship Id="rId1" Type="http://schemas.openxmlformats.org/officeDocument/2006/relationships/tags" Target="../tags/tag6.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0.xml"/><Relationship Id="rId1" Type="http://schemas.openxmlformats.org/officeDocument/2006/relationships/tags" Target="../tags/tag7.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20.xml"/><Relationship Id="rId1" Type="http://schemas.openxmlformats.org/officeDocument/2006/relationships/slideLayout" Target="../slideLayouts/slideLayout28.xml"/><Relationship Id="rId5" Type="http://schemas.openxmlformats.org/officeDocument/2006/relationships/image" Target="../media/image33.png"/><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230.png"/><Relationship Id="rId2" Type="http://schemas.openxmlformats.org/officeDocument/2006/relationships/notesSlide" Target="../notesSlides/notesSlide21.xml"/><Relationship Id="rId1" Type="http://schemas.openxmlformats.org/officeDocument/2006/relationships/slideLayout" Target="../slideLayouts/slideLayout28.xml"/><Relationship Id="rId6" Type="http://schemas.openxmlformats.org/officeDocument/2006/relationships/image" Target="../media/image22.png"/><Relationship Id="rId5" Type="http://schemas.openxmlformats.org/officeDocument/2006/relationships/image" Target="../media/image34.pn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342.png"/><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28.xml"/><Relationship Id="rId4" Type="http://schemas.openxmlformats.org/officeDocument/2006/relationships/image" Target="../media/image310.png"/></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28.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8.xml"/><Relationship Id="rId1" Type="http://schemas.openxmlformats.org/officeDocument/2006/relationships/tags" Target="../tags/tag8.xml"/><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8.xml"/><Relationship Id="rId1" Type="http://schemas.openxmlformats.org/officeDocument/2006/relationships/tags" Target="../tags/tag9.xml"/><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8.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8.xml"/><Relationship Id="rId1" Type="http://schemas.openxmlformats.org/officeDocument/2006/relationships/tags" Target="../tags/tag10.xml"/><Relationship Id="rId4" Type="http://schemas.openxmlformats.org/officeDocument/2006/relationships/image" Target="../media/image38.jpe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0.xml"/><Relationship Id="rId1" Type="http://schemas.openxmlformats.org/officeDocument/2006/relationships/tags" Target="../tags/tag11.xml"/><Relationship Id="rId4" Type="http://schemas.openxmlformats.org/officeDocument/2006/relationships/image" Target="../media/image40.png"/></Relationships>
</file>

<file path=ppt/slides/_rels/slide38.xml.rels><?xml version="1.0" encoding="UTF-8" standalone="yes"?>
<Relationships xmlns="http://schemas.openxmlformats.org/package/2006/relationships"><Relationship Id="rId3" Type="http://schemas.openxmlformats.org/officeDocument/2006/relationships/image" Target="../media/image391.png"/><Relationship Id="rId2" Type="http://schemas.openxmlformats.org/officeDocument/2006/relationships/notesSlide" Target="../notesSlides/notesSlide34.xml"/><Relationship Id="rId1" Type="http://schemas.openxmlformats.org/officeDocument/2006/relationships/slideLayout" Target="../slideLayouts/slideLayout28.xml"/></Relationships>
</file>

<file path=ppt/slides/_rels/slide3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8.xml"/><Relationship Id="rId1" Type="http://schemas.openxmlformats.org/officeDocument/2006/relationships/tags" Target="../tags/tag1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8.xml"/><Relationship Id="rId1" Type="http://schemas.openxmlformats.org/officeDocument/2006/relationships/tags" Target="../tags/tag13.xml"/><Relationship Id="rId5" Type="http://schemas.openxmlformats.org/officeDocument/2006/relationships/image" Target="../media/image380.png"/><Relationship Id="rId4" Type="http://schemas.openxmlformats.org/officeDocument/2006/relationships/image" Target="../media/image370.png"/></Relationships>
</file>

<file path=ppt/slides/_rels/slide43.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notesSlide" Target="../notesSlides/notesSlide37.xml"/><Relationship Id="rId1" Type="http://schemas.openxmlformats.org/officeDocument/2006/relationships/slideLayout" Target="../slideLayouts/slideLayout28.xml"/><Relationship Id="rId5" Type="http://schemas.openxmlformats.org/officeDocument/2006/relationships/image" Target="../media/image400.png"/><Relationship Id="rId4" Type="http://schemas.openxmlformats.org/officeDocument/2006/relationships/image" Target="../media/image39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8.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8.xml"/><Relationship Id="rId1" Type="http://schemas.openxmlformats.org/officeDocument/2006/relationships/tags" Target="../tags/tag14.xml"/></Relationships>
</file>

<file path=ppt/slides/_rels/slide4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0.xml"/><Relationship Id="rId1" Type="http://schemas.openxmlformats.org/officeDocument/2006/relationships/slideLayout" Target="../slideLayouts/slideLayout28.xml"/><Relationship Id="rId5" Type="http://schemas.openxmlformats.org/officeDocument/2006/relationships/image" Target="../media/image44.png"/><Relationship Id="rId4" Type="http://schemas.openxmlformats.org/officeDocument/2006/relationships/image" Target="../media/image4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8.xml"/><Relationship Id="rId1" Type="http://schemas.openxmlformats.org/officeDocument/2006/relationships/tags" Target="../tags/tag15.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0.xml"/><Relationship Id="rId1" Type="http://schemas.openxmlformats.org/officeDocument/2006/relationships/tags" Target="../tags/tag16.xml"/><Relationship Id="rId4" Type="http://schemas.openxmlformats.org/officeDocument/2006/relationships/image" Target="../media/image45.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8.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8.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8.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8.xml"/><Relationship Id="rId1" Type="http://schemas.openxmlformats.org/officeDocument/2006/relationships/tags" Target="../tags/tag17.xml"/><Relationship Id="rId5" Type="http://schemas.openxmlformats.org/officeDocument/2006/relationships/image" Target="../media/image46.png"/><Relationship Id="rId4" Type="http://schemas.openxmlformats.org/officeDocument/2006/relationships/image" Target="../media/image200.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8.xml"/><Relationship Id="rId1" Type="http://schemas.openxmlformats.org/officeDocument/2006/relationships/tags" Target="../tags/tag18.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8.xml"/><Relationship Id="rId1" Type="http://schemas.openxmlformats.org/officeDocument/2006/relationships/tags" Target="../tags/tag19.xml"/><Relationship Id="rId5" Type="http://schemas.openxmlformats.org/officeDocument/2006/relationships/image" Target="../media/image48.png"/><Relationship Id="rId4" Type="http://schemas.openxmlformats.org/officeDocument/2006/relationships/image" Target="../media/image47.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0.xml"/><Relationship Id="rId1" Type="http://schemas.openxmlformats.org/officeDocument/2006/relationships/tags" Target="../tags/tag20.xml"/><Relationship Id="rId4" Type="http://schemas.openxmlformats.org/officeDocument/2006/relationships/image" Target="../media/image49.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8.xml"/><Relationship Id="rId1" Type="http://schemas.openxmlformats.org/officeDocument/2006/relationships/tags" Target="../tags/tag2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8.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8.xml"/><Relationship Id="rId1" Type="http://schemas.openxmlformats.org/officeDocument/2006/relationships/tags" Target="../tags/tag22.xml"/><Relationship Id="rId6" Type="http://schemas.openxmlformats.org/officeDocument/2006/relationships/image" Target="../media/image53.png"/><Relationship Id="rId5" Type="http://schemas.openxmlformats.org/officeDocument/2006/relationships/hyperlink" Target="https://economics.mit.edu/files/9774" TargetMode="External"/><Relationship Id="rId4" Type="http://schemas.openxmlformats.org/officeDocument/2006/relationships/hyperlink" Target="https://calmatters.org/california-voter-guide-2024/propositions/prop-33-rent-control/" TargetMode="Externa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0.xml"/><Relationship Id="rId1" Type="http://schemas.openxmlformats.org/officeDocument/2006/relationships/tags" Target="../tags/tag23.xml"/><Relationship Id="rId4" Type="http://schemas.openxmlformats.org/officeDocument/2006/relationships/image" Target="../media/image54.png"/></Relationships>
</file>

<file path=ppt/slides/_rels/slide6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7.xml"/><Relationship Id="rId1" Type="http://schemas.openxmlformats.org/officeDocument/2006/relationships/slideLayout" Target="../slideLayouts/slideLayout28.xml"/><Relationship Id="rId4" Type="http://schemas.openxmlformats.org/officeDocument/2006/relationships/image" Target="../media/image56.jpe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8.xml"/><Relationship Id="rId1" Type="http://schemas.openxmlformats.org/officeDocument/2006/relationships/tags" Target="../tags/tag24.xml"/><Relationship Id="rId5" Type="http://schemas.openxmlformats.org/officeDocument/2006/relationships/hyperlink" Target="https://economics.mit.edu/files/9774" TargetMode="External"/><Relationship Id="rId4" Type="http://schemas.openxmlformats.org/officeDocument/2006/relationships/image" Target="../media/image57.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8.xml"/><Relationship Id="rId1" Type="http://schemas.openxmlformats.org/officeDocument/2006/relationships/tags" Target="../tags/tag25.xml"/></Relationships>
</file>

<file path=ppt/slides/_rels/slide7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0.xml"/><Relationship Id="rId1" Type="http://schemas.openxmlformats.org/officeDocument/2006/relationships/slideLayout" Target="../slideLayouts/slideLayout28.xml"/><Relationship Id="rId5" Type="http://schemas.openxmlformats.org/officeDocument/2006/relationships/image" Target="../media/image60.png"/><Relationship Id="rId4" Type="http://schemas.openxmlformats.org/officeDocument/2006/relationships/image" Target="../media/image5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8.xml"/><Relationship Id="rId1" Type="http://schemas.openxmlformats.org/officeDocument/2006/relationships/tags" Target="../tags/tag26.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8.xml"/><Relationship Id="rId1" Type="http://schemas.openxmlformats.org/officeDocument/2006/relationships/tags" Target="../tags/tag27.xml"/><Relationship Id="rId4" Type="http://schemas.openxmlformats.org/officeDocument/2006/relationships/image" Target="../media/image61.png"/></Relationships>
</file>

<file path=ppt/slides/_rels/slide74.xml.rels><?xml version="1.0" encoding="UTF-8" standalone="yes"?>
<Relationships xmlns="http://schemas.openxmlformats.org/package/2006/relationships"><Relationship Id="rId8" Type="http://schemas.openxmlformats.org/officeDocument/2006/relationships/image" Target="../media/image3700.png"/><Relationship Id="rId3" Type="http://schemas.openxmlformats.org/officeDocument/2006/relationships/notesSlide" Target="../notesSlides/notesSlide63.xml"/><Relationship Id="rId7" Type="http://schemas.openxmlformats.org/officeDocument/2006/relationships/image" Target="../media/image360.png"/><Relationship Id="rId2" Type="http://schemas.openxmlformats.org/officeDocument/2006/relationships/slideLayout" Target="../slideLayouts/slideLayout28.xml"/><Relationship Id="rId1" Type="http://schemas.openxmlformats.org/officeDocument/2006/relationships/tags" Target="../tags/tag28.xml"/><Relationship Id="rId6" Type="http://schemas.openxmlformats.org/officeDocument/2006/relationships/image" Target="../media/image62.jpeg"/><Relationship Id="rId5" Type="http://schemas.openxmlformats.org/officeDocument/2006/relationships/image" Target="../media/image3400.png"/><Relationship Id="rId4" Type="http://schemas.openxmlformats.org/officeDocument/2006/relationships/image" Target="../media/image62.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8.xml"/><Relationship Id="rId1" Type="http://schemas.openxmlformats.org/officeDocument/2006/relationships/tags" Target="../tags/tag29.xml"/><Relationship Id="rId5" Type="http://schemas.openxmlformats.org/officeDocument/2006/relationships/image" Target="../media/image64.png"/><Relationship Id="rId4" Type="http://schemas.openxmlformats.org/officeDocument/2006/relationships/image" Target="../media/image63.wmf"/></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8.xml"/><Relationship Id="rId1" Type="http://schemas.openxmlformats.org/officeDocument/2006/relationships/tags" Target="../tags/tag30.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6115" y="4406901"/>
            <a:ext cx="7772400" cy="1362075"/>
          </a:xfrm>
        </p:spPr>
        <p:txBody>
          <a:bodyPr>
            <a:normAutofit/>
          </a:bodyPr>
          <a:lstStyle/>
          <a:p>
            <a:r>
              <a:rPr lang="en-US" dirty="0"/>
              <a:t>Competitive Markets and market interventions</a:t>
            </a:r>
            <a:endParaRPr lang="en-US" b="0" dirty="0"/>
          </a:p>
        </p:txBody>
      </p:sp>
      <p:sp>
        <p:nvSpPr>
          <p:cNvPr id="3" name="Text Placeholder 2"/>
          <p:cNvSpPr>
            <a:spLocks noGrp="1"/>
          </p:cNvSpPr>
          <p:nvPr>
            <p:ph type="body" idx="1"/>
          </p:nvPr>
        </p:nvSpPr>
        <p:spPr/>
        <p:txBody>
          <a:bodyPr>
            <a:normAutofit/>
          </a:bodyPr>
          <a:lstStyle/>
          <a:p>
            <a:r>
              <a:rPr lang="en-US" sz="2400" dirty="0"/>
              <a:t>Professor Nico Voigtländer</a:t>
            </a:r>
          </a:p>
          <a:p>
            <a:r>
              <a:rPr lang="en-US" sz="2400" dirty="0"/>
              <a:t>Management 405: Module 4</a:t>
            </a:r>
          </a:p>
        </p:txBody>
      </p:sp>
      <p:pic>
        <p:nvPicPr>
          <p:cNvPr id="1026" name="Picture 2" descr="data:image/png;base64,iVBORw0KGgoAAAANSUhEUgAAAgQAAABiCAMAAAAY7jvKAAAAw1BMVEX///8Qe7YjHyAAdrQAAACEttYAcrLF3OsbFhcgHB0AeLUIAAAdGBkAdbNqaGkPCAr5+flbWVre3t4WEBH09PR6eHkchr0zLzCYl5hUUVI7ODlwbm9VncgUDg/T09MuKivAv8Dn5ufv9fmMiopMSEmlpKWwr69JlsREQUKCgIE3NDXb2tuLiYrDw8PNzMxsamuqqaptq9Dk8Pat0eWQutibxd7Q4+9opcwwjL+4z+PK4O7a7PSbxN4iib681eePttVssNPmOyI8AAAa7UlEQVR4nO2dB3ujPBKACdY6NJvqHgy4EFzjzbZs+XL3/3/VqUtgitfxnXO7nufuy9oSAjMvo5lRQfnw58hP5SbnSeuPkfb9te/l/63c/TFyg+BsubbqLic3CM6Wa6vucnKD4Gy5tuouJzcIzpZrq+5ycoPgbLm26i4nNwjOlmur7nJyg+BsubbqLic3CM6Wa6vucnKD4Gy5tuouJzcIzpZrq+5y0gRB0lthmTtvu2M70szyba28K7m26i4nTRAMQYgF7N92x5a4HXP0Rpbek1xbdZeTJggyS8USrt52x5Y2akVzbxC8Q2mAYK/qBAI9C950x24QvGNpgGAeqlT8+E137AbBO5Z6CIKxziB4Y39wg+AdSz0EO4C7AkwBeFN/cIPgHUs9BBMfMRBFGIL0LXfsBsE7lloIkjGKDcK5i/743bfcsRsE71hqIYix5sC0hw3C2nvDHbtB8I6lFgJXwxAoSxP9NQ8V1ZxpnKbxPil+H+yGPbc3jJEzUQKBM02HT6h8WnkByUY0utnFaVx2GtjSPp1P3Kdtuqv0W5IdOnhTeaYz5Nqqu5zUQRAAojjFw/+wRlLZYeQiGUINHEaRCQBQs3lOP8Fy4du+Bv+fHUogcFJ4GC43B+5OHLbF7Y6gA+LMR9kgCmhj7sCCJwGmOu7GeXPiDEcqbcnKtpK5GuKm3FhRvN4YHR0O3DcmPmW5tupqxfidynUQUAMA9RHhAAFISh4CDYrZVTwXaLhUt8xIeqa9EaDJRtUCkyMINiN6GDpSAy5vumujhsFS2WempuskJkl1k9XWLR/kVLlcmxZvybLNIbcGPRNf40E5WLbFzrS6WId0iiqIVBaUq8rodNCfTqdllB10kl77z4+nc1ADgYN7Az2CNnSOVWgPReEQf+NPgkhTuVg6144nf6+C7TDMQZCqcjF0PjPGT9cnXU9CGsAQrGw9V1sLY3aeYGVauTI9XDCgsCuj+mkqH+67F2LgBAj6TE4vMTrt/rfP31/v7++/f//40uoYxwedoNbOL+VD64R6RGog2ODnH+ttbxV7dAKBPiI649oZUwUkWe57VV3rcguxTzWn61Q/fuTJEIRD2jCCIAWkrh+GvkYPY7T1ALMBGrMHYebJEOhulEMIXGoks1kTn2jNH0VNv7A2Puc1Zdw9fHmWzzH78sAse+cL/e5rs1aNl5nytX0iArUQED3bcwXpFCvN3xcK4b3H/+V3mBmLLk0367CzBj6vQiGYmvSjGY3Hvk+fUGLGifL1jFoKCIFHlOhnve285xJVa2tynpVJGbKgj5LRZv2MoEYgUAln/Br1wVuiHEma7+0rrXlf1NEDa+NfMgRG++HHUWfl3L+0860VkSo78y9Y7xSL0QgBdQSm4n5K/QGFAOkDAPg/9mQPsCqn9Pk0B8v9fvcEmO0nEAQuUTQYxRvP2z8BciISfFALgL7StdCGEBxwY4C4ncEuwqcC2JdM6VWA7jQJgiRdE/YAuc4es0Z6iK6RIqKaQ+Ui0nxvv9KarwXL3PrI2vgmWXvjoWJd6KdOvrVO04mNPqr3ubFeMwR7kjKO5A86L+UQ+NhLi0f0hpN5B1STJp2KslloMgSpSRpjykjxs6oPEulQ1HLU3Q6HjjJCB/sTduYpBiTsKWhog7Dn82QmCWp1YrIYBLq+gg9/cCD4qNagQbsnSvO9ZZb9e0Ednc+0YPbAITDav6pc1mdsCjq8tUY730KG4BSL0QgBcQb9Hv4QELNg8v6AQWBPiBX36MQDbCw21IBzH8yz5O5gjavaYkSKjFWGWJUcArubkLuCq9uiJ3eBbdtgFHBDYPd4Ge23QowMg8Cnx8bRJUZBuDTf3BmtWXwmuWWfcRfeePlReaJ7onUGwa+mJxx5BFCck+ODSgiSDN+xkIbwPaKnLSumEFhj9sWOWGIMzYEaEZGbIUQRCEhfoYdCFY7GXVAOAeBGG9sJYQmUdD6EsgwUZ0E8koEUulInEuuZQiBooxcNSvJNZ0jjve0zCD4WuoMOU/jzC9WT0X+uOg3sDhAExj+sRqPb36Yu5Mn9QSUEO2Kzx9SLSvENtTJ2/+j9tGN+AHG9NDTCQIyyJg02eKqIDlh0KZ2MBKM20hyFwFrwQvJwa9sj1SVE4blB7oC4gTayKjQ6sLgjSJJeqrkrtnSWNN1a+kBCeSg+kqx7/9lnDNRtE4EffdHat4YH3Hih/crzqfFBJQREGVyRCZlZANj9oyHiWHjaCxpGKowHOa0QUC4QBBPqZAYJk4D0B7hxCoE0h4V+Y5vuPN15UsdJfAuicC6kdWyyevQncJPjUAhi5RLSCMEjU1vRLnOV/2QFX3MtO7PZ8/Nsxn4qfvSNh6rWjs7LYsnGmk0QBCTBIsYLuliL/hP9SCCwRsKmSxBQkyw/cCueLEqoEV9nYybZQFDTLZgcNqkBHW3b+iDrLhkIW9ID2bkRgYNJNO8wCEQXpjjUs4nLf/NvSiME35gW+4XM3wuz7DSWN37J7f74/PDSb7f7/W+/CBv40Ret/VOvWoP3Qs3eQwMEabH7pC59RL+og8Azj7veOU8bU5sCzbQQGt8jf6JggRRkRfgcN+joW5oJXPLssz4/10/EBCKUNjyKa/+3ELQ+sJoFrQkT8YohaH2TWr1/vOuQ1LBhtO4eEAa4NxGtNZyWp6ggYyemCiogcIhV1ceHlMqSmmlqe+sgSCgEshMuxg42Um4pL9iKHEMAsQkLFUMXdUPEOKl27spj7b1AwANBp9A3G1zpX/CjaojOwPmYHy9o9WEggb3H1r9YnfqeXvgOysn9QQUECdWUbjKhISENGU+CQI57JQhoptjSimJXQKAkXRDmRwjCdcD8z3cLQYsZ+Z9FCHiuiPT2n3mTz49FA25AlAgErLVZPQStT9IlfjnNNayAYGhWPK06Nb51EATUJ5D7aqk7ILFn5B4LcvPLIIBh5SoLTV8yIfbEKe8O0pBf2JUhMPjQQUEVwrJ/xE8qjwxmDyWduPGlT/7QSkWkCrX78iU+v8kSLPIPniR0quEpjmEsNUg9dQhBMEIV9fHUCY5EqYIAWoNp2h0D0w6pidI9lnywc3MEaAD65FwfApYS+lRQWyfnvoscsvKt1JEz8q3d10LQkQ1BczhZB8Hequq3VY1MLamFgDj7klvOQgIcIhLdWBXTO6ogILJJt2uakl6ysMGWhwXJ+DfR/JUhuGO39ksxYcgVhQx9h3sEtYMCBmutiFS+FvM56Z9Pb4CA5QN9WegoLpk5UgtBlz/2TKake5GSRXh0skSOIPCmWHhbCakBnZOANOpPJOeD+iM2Ck+vDQHT7ociBF+lJkSoMKt14wzWadTGfYyv53/Tv6cwUA5BQJN0k1SWlS09eLUQ0NytJm72SBMQJDRtLHXl8y2SFXb5ixD0ABZhOAKcZEYZCxLCqKFkVEg+QlfxkVeGgGUDPhaU255JTQiv/3ttOthgBxWRylViHsF9i/7jKFl5MgR0JFjLp1c94tZbC/Tg1ULgkf7AGtNSh61mI8ZhRPNO/NgYL1m2cWLhCAJyplAYDjKYhcKUmE4uEJmlmCYrcU90bQiq8rxt1gJ6Tnlf3xDPGaxa3dABDw0e2tRwvJ4SH5RCQJPuUf5bh032QQ9sLQTsEfUXMTpu32WxBoFgR+YL2i7NOcfUh8BjAEcQTMnFhJzI2KQ+AQwS6XlGdHLaTqX0JeJnXA0C7qcXn0ZegOYIGcxeNIR+d+ygGl+Pdy1f0fwyLM+n5IvKIKArEHNDPEiWtD9Aj1k9BHua6bWs8WIx1vl8Quom0I7Fj9xlHC9dOj2JDDoeO4ZkMoKuLtHQspMssSZ1FdXmQ9Sqe0jTw4J+BHJG8VoQ8Dlkxb5eTC67NyQiah0+cZBTY+C5x/m5xRNSxb7oVAhi+sQX7xV1uqxF0ASBMmFzTmhSWPdlCALq4euabQKbziOmY8fHEOzIMIZuRt1e72lM5iGFT7illE4X0jUTmGzWMaD0XhmCR1qPjxezAj65DPruvFbDCDGvV+M+Cuz6Bh+feD0TApoyHhyN3a5prm/XCEHCZhoR0QdzMYqooCkohXmoaNSfFJWEiEs2mVSDIQp99PkYxnESms8qvzIE7Fn8WbDIIjHwy5Cyh/UhPW+tiJTcMDMEyKi02JyF8yAIfNobHE13YpMI5o0QKJ5qC7XoIN7l1x14C5BLR1mAna0sTzAE+Qnqqh3xgAA6lTkMfLBl131dCHhesDg7uMPHDD+3ROKoPkAUrRWREmI8sh+OOGn9m344oT8ogWAJcFqgZGr2xg9RSQgcZWjqUDQZAh+Z/pBNKUt6zM7r5noHdYWOlPYsWmZ8zQi05Rl3+7o2asbOJ4umru2zyem6HoYTyUglPd3mZb7ZFfFiz0bXKM0rdVQNNX7Uz50nDXeW6/pHQQud76yFf7VErZonPNda9YRz7hG8YiT+oZ/um8eTyyDoYZkcT8IKhrTIK7EETwsswpuMXR0CE2oRmie8meAjpXkmyXKhaWgpga8uUnGuFWmmsCVGMJ1Elo9ra1FvmrdR0zksC9GiBH2yl4qOLYGL284usxatCQKuk+L4Eb/lsAfg0w0bIGgzcr5WVRP+JnEd2cTUhoYrILicBLv4kFYvN1WCfXo47PZH3U65JLC1Q7orXTWQ7A6Hw2XXmzbKqXf2KMXHemvk6HNUGroDnmUsjkYJCFhLP8n5WqyjaV6KdNvM8mxpurMsz1tM8fHJZUjv3MzXhX530pyDqgnnwhBQpXNXshKbGwRvl5MhKCw145PLZn3ZS2x4YJuGDrhJeabTz8R5mhi4QXC+NN1ZPn5UgIBnBtBovwgR65NF/YYJ5yI0+NKmq5fbrNupG224QfA2OfXOFqb/izQBmhkgrPisdiCZP9YV6QQxBPHxkcoLD08arvQGwfnSdGeZfS704uKO4yeUDwwpH8unlJBJp5XT12mtf3gzMyHsm6aphjcIzpYGCDo8WZRL74jegMwdFAHjz36JrowXrEHjoX7CeedVqZGmpUg3CM6WBgj4EEF+TSCP5JSf+HNLTDMtmRZq3P2kqw5YpXJD8ChNMT6W+mmJNwjeIA0QiPFBOUZr80mmyi/s4slTxD8UNdx+mBH7L+amlj7U9YaA2pwbBP8FaYJArC37wDadMYyPXOUO1YyswC93ku9vtPqfHWWGq/E1DM/M95d3PRLeZYU0LEW6QXC2NDEgGfpP/7TbnU679SApnIWEOQ0+f7hrd7ByO+2XzygiIGE/H2f6+VgQ5HAYDYagaYebKgg8tDPgluxBeCzOLv29/HuwHNasB9+nKT1REKeFluEXb9pP978nTRDIhn729dOvL6/PUoJ8xk20kZslPnv98O3x5eHjr6/kaOJWignKs7yggQLhNc6Kwo5qyEmXQhCsBgDYNgBkgthxuQuK047qxQOgegxhpQJAJy8kYwDWMi6eDoD6W6f6b0o6jMWHJggkzZWIGOE17mr2JqBBfrXBfpQGoZTHfl54JFLfH5S27rgmmKRxHM91u3Szr6Br9kq+rhZPq4ZgZ4fugVoCtNNIbqR3aav6hbaXebs4XSANcTdCYPxT7bPLkUDroca3JzOD2pX7F7wYoj957eQfeIO7Jc+1OelSCOYgouP7iRuWrRK5KARLU6wmRMuTNGnnVGeh6e8IgokpGcBGCO6MD1UtvebqSYuQjoSkmtpVmED3UngER9nEFhuArh+eKoVgYfLFQ94gLNn98cIQCC07eKWxGBKegmh9qY2m3i6/CwHZSq5EjhamVdsCkuhpVxU/91t8yuKPI5sv0gu1S5HKIIAds9jLemiKfQaShP6TQhAkOW+v8BF9Zn5lEQJHFBUg8NWJ2K5Imdijni+Kg8LUA6kVXHz8WyrOSa8vYM04ua8LPqw47nchuLsrpeDDUTXjscovIANGnaof9bMvPIKyp539sJ91F1k+5dwUSz12AzUm/zpMFtmihz9gCKa9UbaY8HlhKfw4mghPPhh2F5m7JbrPQ5DMu1k2muNv0mFXi4bDlFwthCCKAX/pVgKvZBVSCKbzVXeyJReTDGG0kcILcldMY/v5yu1t+eVM5z1U2RvSvY6d4VOWuXMyJWU3XMKLcOFn+CGGzTzx656uXPiryEMAYxoPn2WEFkc56XChLZbsUk+DoP3tSLuvL2Vrj43PZcbg/oHYjH5JGZYfd9wQlMWBQr11/UFpd+CGg7j43RTGC9HYBwDtPAohWA3x6jAbEF68BQBWFkI3nyr7AGOLwRrWwHN/cxBA4wIGA/ifFdqBDEDXj7SqEEsQjLlreDDNpEcggAEJEbxp7SYE8Qjvem6T3Y2SEStOWG0t84G7BGTl+g5FIGN4TmxltiDbm2CsmvC8E2CPbfYznB4AYQbr4pc7bCJweCJnAakSZEBT4Q1g66pOggB6h59y5uv+W8UO5J2XIgZiT9vqbNDrHTcER/nGOznT+KkmPiiFYA9/bS/OfbVZm1maJN5StycIAj+zx+nGG0aWiW5XsrDVpYeKfTIZPLXt0T5JNm6IdxmUIUgBLpp2Q2Rc43TiR4cDPRuEwFJ6PP4c2d2AQtC1/dV+s1mp2CJ7qpWBp/1mP/HxDrdO1w7nsLinmmh2ItSshS5nNxjoOrqevQpcdDkTG29ztbWjMboGeLYnsPKSaab5U0KHPfSSJB6baJcLb2yNgbvbTHuWtQ6cYW+sjdJD/DuWAO1S2f/4/cfX59nz1/vvH/vt6mUDnfbjr/uvKLifzZ7vf31ribr9hwp5rNlFmxx5wrbY5QFoasFnwxwNxay9hbkgD8A0Qg9FV6OrP7wQL1DtmTZR8iYK0eRTL7K75F4NAdr8SoJgqrKOdWvjpUIFn8BC3iA5rwfgYz7BEOyBTiz2Dhd6qm6yjRLQjnQx0GNKGEozzIFK+oUERhcJWmHLYrttaAbov36XbLCrkZ7Pi/DflB83ACsEga6RCPlg4q02f98nwNLq3PVfXv7p3xU3rz/mAFV8fISV7/LhnlElTTvg126qXwuB4vUGmh3a9pq+YYLfZEV5Ai7WFZ3w6SJDOgV8Tu/SRPvQr0y2OsQZ+xAfCYInm2eDyK7WRxA4Gd00bWtC00sgWHErbKG1Lx7fLjUxbVh5AhbUqdDQkoQwZMFLChAEB8DWrCYRSnzMbZUEvit7jZsNunivnIyHRUvbdCAEPgtXQ7T28bejg7wyTq54ct0LSfWOpvF8ZILQJ++j6NoL1rN5aexA68s2m5wgCFYmf0FSEKE9ZYHYYRI6B1MJAscWOxMsTbS4VYZAWYUWWvmQ4UvIoG13CAS7ZUzb15AT4IkN8kxkimJWnGjaTtmZYpNNDIEU83ZNaAO2ZkY+DQFlaWVCde90Hgl5KGfljXmqbADeCMF7lroBJCdInwaaD+9XsLBzaWIpT4AhGNk8meA8hZGyASEPMqeROZQg2IWm8MRt9HzlIJjbFjbGqHZsmxsGATltkKQjXyMQsJ7K5DuVwNguXfjQUCxtsY9RZCVKsjYPbOPMng2NwrwcggPsS6h4A2jbPOGiRn8rBFhPrg8OymaQ31ikAEGQhSKdug0BNMIWj9XgsSsJgtQ280V5CLYIAqULUPMQrUBAsFmuXBhtuBG1BKx7oRBMYfEAFUNLMJQgGEAI9ij+YGKrmypLAAkU1eAl/M0QpMxXx/oeQPMOY4PcSwLqIBjaCAKda9pbw/hAQAB7B/GOnHEFBHsw9pQEIGeMQhD0fBC5q0OilEKQwOKBu0qDAEEALQFfoqLC7mAf+b05k+280hJs7cF2y+ulfzMEMHSXE7UT2IlCbeXSxHXdQS800cpDYfMHue4gDsV60KmFDEwJBNCbj9Fyx4RDsAU+3c62FAIcEuIrQxDA+JSfA/kEMKLJb7pSYQmWIJ+h/oshgFZRTu/1zG6guDYf1Un2U+gY5iHAHS0RaBVcJRDRAtQ6fPQFBEkoFeEB5hIIIABZsMDnIBDgwJSIWgLBlA89OjqEIAFsz00U1sArywTDgUeihTIIYk1KkXvBXw3BTgul536B0i9DUxWvnlooRQhSwHcl35sovsNxIa0QWrkQcRy6rGjho31lyiDYqObBwq/YIBDsLKaeBGjHEEDt0Tan2BtxQ/qmLBhyIgh6Joe0N5g48HpLIaDZAnyaLIr/agjgPbR5SLVEDzKMvEK6ANlbwxtV7A6chU3DeGgIUK4t9tko0A4bBQmC2GRxVwrwxkPH0YGCNrfSNAwLgWCvA67VcgiIE+CMUHSgbCLNX26SZOoCnDH0NLbWfWqhC6uwBMqKp0NWpu0cQ/BkS8Pc11bd5aQUAk/1w27sQEm2KlH3wbbxWvVk4ZveEQQwwjbxNlSJ6+Mu33ky9SV+31FkI5sgp417wD+QohCrIgfB0CQQxIDulUcgSLJw5KHr6fpquDyCIFmjl+U4zsa1IhycxqZvrxeZDpY2ThsPTXOygRXisT1wqiFIMjtaBvA0Kw3xWYRAWYX+1GF27Nqqu5yUh4jeApjAjMYqjJWGJEu0BKbZXXVtnHwPSAyH5IkMvaQaDM9Wrs08wmAEQNTrjQHA76r0QsnNcAEY4CLyXtQlkLZJWwIf/03GPrHw0ASjYmg1wGChAj3dwuPQrDPWHkDqQcXrkQWieGIC9E6GPR5vsg4kWYS0Da9nHdIBJg7BnEMAcPYryWC9QUR/trfmEJDXKcLQF/CB7mur7nJSkScIUjdbR1E22vLRg90IIaFlSMlOb83zq12ida879k1/3WW6cZaLyDbVjLwQzVuMpc0D0kVkmjotUg4D8aob5bCmb1UarokBd1ZjXDx9yqJBBq1RMlmsFC/jL1h6ekKK2ndR8SqB17HAl+Z48XCXKAwCVGEQjUdkYHnXpQnNtEtVunwi3kCwXIzh7+7iaMIb8dHUXhf/a5UNBiw3dW3VXU6qk0WBN5XeWa7gd5Mv2XvJg+R4Akeyi3M7SDjTXbxn1ZzceKozjUVRri2Hzehw2EQPXhxMPVExSArzS1Ax/2rKG4eOIvs22ExPegNWMp2KSzs6yyb5W7qD/3cZAWaoVqBbW/MNcm3VXU7+TAhSoGO7H2x9rWa7nLfJtVV3OfkzIUCBrTnIBgCML7NJVZlcW3WXkz8UAmW/WgPgj5aXeQ9mqVxbdZeTPxWC/4FcW3WXkxsEZ8u1VXc5uUFwtlxbdZeTGwRny7VVdzm5QXC2XFt1l5MbBGfLtVV3OblBcLa0/hi5QXC2fPhzpHL3g5vUy38Ad4zCnxrOIc0AAAAASUVORK5CYII=">
            <a:extLst>
              <a:ext uri="{FF2B5EF4-FFF2-40B4-BE49-F238E27FC236}">
                <a16:creationId xmlns:a16="http://schemas.microsoft.com/office/drawing/2014/main" id="{E6F123FB-5E3A-4C8B-B9C2-084DC3535A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7238" y="3424238"/>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ata:image/png;base64,iVBORw0KGgoAAAANSUhEUgAAAgQAAABiCAMAAAAY7jvKAAAAw1BMVEX///8Qe7YjHyAAdrQAAACEttYAcrLF3OsbFhcgHB0AeLUIAAAdGBkAdbNqaGkPCAr5+flbWVre3t4WEBH09PR6eHkchr0zLzCYl5hUUVI7ODlwbm9VncgUDg/T09MuKivAv8Dn5ufv9fmMiopMSEmlpKWwr69JlsREQUKCgIE3NDXb2tuLiYrDw8PNzMxsamuqqaptq9Dk8Pat0eWQutibxd7Q4+9opcwwjL+4z+PK4O7a7PSbxN4iib681eePttVssNPmOyI8AAAa7UlEQVR4nO2dB3ujPBKACdY6NJvqHgy4EFzjzbZs+XL3/3/VqUtgitfxnXO7nufuy9oSAjMvo5lRQfnw58hP5SbnSeuPkfb9te/l/63c/TFyg+BsubbqLic3CM6Wa6vucnKD4Gy5tuouJzcIzpZrq+5ycoPgbLm26i4nNwjOlmur7nJyg+BsubbqLic3CM6Wa6vucnKD4Gy5tuouJzcIzpZrq+5y0gRB0lthmTtvu2M70szyba28K7m26i4nTRAMQYgF7N92x5a4HXP0Rpbek1xbdZeTJggyS8USrt52x5Y2akVzbxC8Q2mAYK/qBAI9C950x24QvGNpgGAeqlT8+E137AbBO5Z6CIKxziB4Y39wg+AdSz0EO4C7AkwBeFN/cIPgHUs9BBMfMRBFGIL0LXfsBsE7lloIkjGKDcK5i/743bfcsRsE71hqIYix5sC0hw3C2nvDHbtB8I6lFgJXwxAoSxP9NQ8V1ZxpnKbxPil+H+yGPbc3jJEzUQKBM02HT6h8WnkByUY0utnFaVx2GtjSPp1P3Kdtuqv0W5IdOnhTeaYz5Nqqu5zUQRAAojjFw/+wRlLZYeQiGUINHEaRCQBQs3lOP8Fy4du+Bv+fHUogcFJ4GC43B+5OHLbF7Y6gA+LMR9kgCmhj7sCCJwGmOu7GeXPiDEcqbcnKtpK5GuKm3FhRvN4YHR0O3DcmPmW5tupqxfidynUQUAMA9RHhAAFISh4CDYrZVTwXaLhUt8xIeqa9EaDJRtUCkyMINiN6GDpSAy5vumujhsFS2WempuskJkl1k9XWLR/kVLlcmxZvybLNIbcGPRNf40E5WLbFzrS6WId0iiqIVBaUq8rodNCfTqdllB10kl77z4+nc1ADgYN7Az2CNnSOVWgPReEQf+NPgkhTuVg6144nf6+C7TDMQZCqcjF0PjPGT9cnXU9CGsAQrGw9V1sLY3aeYGVauTI9XDCgsCuj+mkqH+67F2LgBAj6TE4vMTrt/rfP31/v7++/f//40uoYxwedoNbOL+VD64R6RGog2ODnH+ttbxV7dAKBPiI649oZUwUkWe57VV3rcguxTzWn61Q/fuTJEIRD2jCCIAWkrh+GvkYPY7T1ALMBGrMHYebJEOhulEMIXGoks1kTn2jNH0VNv7A2Puc1Zdw9fHmWzzH78sAse+cL/e5rs1aNl5nytX0iArUQED3bcwXpFCvN3xcK4b3H/+V3mBmLLk0367CzBj6vQiGYmvSjGY3Hvk+fUGLGifL1jFoKCIFHlOhnve285xJVa2tynpVJGbKgj5LRZv2MoEYgUAln/Br1wVuiHEma7+0rrXlf1NEDa+NfMgRG++HHUWfl3L+0860VkSo78y9Y7xSL0QgBdQSm4n5K/QGFAOkDAPg/9mQPsCqn9Pk0B8v9fvcEmO0nEAQuUTQYxRvP2z8BciISfFALgL7StdCGEBxwY4C4ncEuwqcC2JdM6VWA7jQJgiRdE/YAuc4es0Z6iK6RIqKaQ+Ui0nxvv9KarwXL3PrI2vgmWXvjoWJd6KdOvrVO04mNPqr3ubFeMwR7kjKO5A86L+UQ+NhLi0f0hpN5B1STJp2KslloMgSpSRpjykjxs6oPEulQ1HLU3Q6HjjJCB/sTduYpBiTsKWhog7Dn82QmCWp1YrIYBLq+gg9/cCD4qNagQbsnSvO9ZZb9e0Ednc+0YPbAITDav6pc1mdsCjq8tUY730KG4BSL0QgBcQb9Hv4QELNg8v6AQWBPiBX36MQDbCw21IBzH8yz5O5gjavaYkSKjFWGWJUcArubkLuCq9uiJ3eBbdtgFHBDYPd4Ge23QowMg8Cnx8bRJUZBuDTf3BmtWXwmuWWfcRfeePlReaJ7onUGwa+mJxx5BFCck+ODSgiSDN+xkIbwPaKnLSumEFhj9sWOWGIMzYEaEZGbIUQRCEhfoYdCFY7GXVAOAeBGG9sJYQmUdD6EsgwUZ0E8koEUulInEuuZQiBooxcNSvJNZ0jjve0zCD4WuoMOU/jzC9WT0X+uOg3sDhAExj+sRqPb36Yu5Mn9QSUEO2Kzx9SLSvENtTJ2/+j9tGN+AHG9NDTCQIyyJg02eKqIDlh0KZ2MBKM20hyFwFrwQvJwa9sj1SVE4blB7oC4gTayKjQ6sLgjSJJeqrkrtnSWNN1a+kBCeSg+kqx7/9lnDNRtE4EffdHat4YH3Hih/crzqfFBJQREGVyRCZlZANj9oyHiWHjaCxpGKowHOa0QUC4QBBPqZAYJk4D0B7hxCoE0h4V+Y5vuPN15UsdJfAuicC6kdWyyevQncJPjUAhi5RLSCMEjU1vRLnOV/2QFX3MtO7PZ8/Nsxn4qfvSNh6rWjs7LYsnGmk0QBCTBIsYLuliL/hP9SCCwRsKmSxBQkyw/cCueLEqoEV9nYybZQFDTLZgcNqkBHW3b+iDrLhkIW9ID2bkRgYNJNO8wCEQXpjjUs4nLf/NvSiME35gW+4XM3wuz7DSWN37J7f74/PDSb7f7/W+/CBv40Ret/VOvWoP3Qs3eQwMEabH7pC59RL+og8Azj7veOU8bU5sCzbQQGt8jf6JggRRkRfgcN+joW5oJXPLssz4/10/EBCKUNjyKa/+3ELQ+sJoFrQkT8YohaH2TWr1/vOuQ1LBhtO4eEAa4NxGtNZyWp6ggYyemCiogcIhV1ceHlMqSmmlqe+sgSCgEshMuxg42Um4pL9iKHEMAsQkLFUMXdUPEOKl27spj7b1AwANBp9A3G1zpX/CjaojOwPmYHy9o9WEggb3H1r9YnfqeXvgOysn9QQUECdWUbjKhISENGU+CQI57JQhoptjSimJXQKAkXRDmRwjCdcD8z3cLQYsZ+Z9FCHiuiPT2n3mTz49FA25AlAgErLVZPQStT9IlfjnNNayAYGhWPK06Nb51EATUJ5D7aqk7ILFn5B4LcvPLIIBh5SoLTV8yIfbEKe8O0pBf2JUhMPjQQUEVwrJ/xE8qjwxmDyWduPGlT/7QSkWkCrX78iU+v8kSLPIPniR0quEpjmEsNUg9dQhBMEIV9fHUCY5EqYIAWoNp2h0D0w6pidI9lnywc3MEaAD65FwfApYS+lRQWyfnvoscsvKt1JEz8q3d10LQkQ1BczhZB8Hequq3VY1MLamFgDj7klvOQgIcIhLdWBXTO6ogILJJt2uakl6ysMGWhwXJ+DfR/JUhuGO39ksxYcgVhQx9h3sEtYMCBmutiFS+FvM56Z9Pb4CA5QN9WegoLpk5UgtBlz/2TKake5GSRXh0skSOIPCmWHhbCakBnZOANOpPJOeD+iM2Ck+vDQHT7ociBF+lJkSoMKt14wzWadTGfYyv53/Tv6cwUA5BQJN0k1SWlS09eLUQ0NytJm72SBMQJDRtLHXl8y2SFXb5ixD0ABZhOAKcZEYZCxLCqKFkVEg+QlfxkVeGgGUDPhaU255JTQiv/3ttOthgBxWRylViHsF9i/7jKFl5MgR0JFjLp1c94tZbC/Tg1ULgkf7AGtNSh61mI8ZhRPNO/NgYL1m2cWLhCAJyplAYDjKYhcKUmE4uEJmlmCYrcU90bQiq8rxt1gJ6Tnlf3xDPGaxa3dABDw0e2tRwvJ4SH5RCQJPuUf5bh032QQ9sLQTsEfUXMTpu32WxBoFgR+YL2i7NOcfUh8BjAEcQTMnFhJzI2KQ+AQwS6XlGdHLaTqX0JeJnXA0C7qcXn0ZegOYIGcxeNIR+d+ygGl+Pdy1f0fwyLM+n5IvKIKArEHNDPEiWtD">
            <a:extLst>
              <a:ext uri="{FF2B5EF4-FFF2-40B4-BE49-F238E27FC236}">
                <a16:creationId xmlns:a16="http://schemas.microsoft.com/office/drawing/2014/main" id="{98F67974-4F77-4DF8-AE86-7F6C679E36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2925" y="5852606"/>
            <a:ext cx="2686050" cy="514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1087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a:t>
            </a:r>
            <a:r>
              <a:rPr lang="en-US" noProof="0" dirty="0"/>
              <a:t> Logistics</a:t>
            </a:r>
          </a:p>
        </p:txBody>
      </p:sp>
      <p:sp>
        <p:nvSpPr>
          <p:cNvPr id="3" name="Content Placeholder 2"/>
          <p:cNvSpPr>
            <a:spLocks noGrp="1"/>
          </p:cNvSpPr>
          <p:nvPr>
            <p:ph type="body" idx="1"/>
          </p:nvPr>
        </p:nvSpPr>
        <p:spPr/>
        <p:txBody>
          <a:bodyPr>
            <a:normAutofit/>
          </a:bodyPr>
          <a:lstStyle/>
          <a:p>
            <a:r>
              <a:rPr lang="en-US" sz="2810" dirty="0"/>
              <a:t>Coffee &amp; Econ Office hours restart next week</a:t>
            </a:r>
          </a:p>
          <a:p>
            <a:r>
              <a:rPr lang="en-US" sz="2810" dirty="0"/>
              <a:t>Final Exam: March 17-19</a:t>
            </a:r>
          </a:p>
          <a:p>
            <a:pPr lvl="1"/>
            <a:r>
              <a:rPr lang="en-US" sz="2610" dirty="0"/>
              <a:t>3.5 hour time window</a:t>
            </a:r>
          </a:p>
          <a:p>
            <a:pPr lvl="1"/>
            <a:r>
              <a:rPr lang="en-US" sz="2610" dirty="0"/>
              <a:t>Three time windows with guaranteed TA availability: </a:t>
            </a:r>
          </a:p>
          <a:p>
            <a:pPr lvl="2"/>
            <a:r>
              <a:rPr lang="en-US" sz="2210" dirty="0"/>
              <a:t>Friday 3/17: 6-9:30pm</a:t>
            </a:r>
          </a:p>
          <a:p>
            <a:pPr lvl="2"/>
            <a:r>
              <a:rPr lang="en-US" sz="2210" dirty="0"/>
              <a:t>Saturday 3/18: 9am-12:30pm</a:t>
            </a:r>
          </a:p>
          <a:p>
            <a:pPr lvl="2"/>
            <a:r>
              <a:rPr lang="en-US" sz="2210" dirty="0"/>
              <a:t>Sunday 3/19: 12pm-3:30pm</a:t>
            </a:r>
          </a:p>
          <a:p>
            <a:pPr marL="514350" indent="-514350">
              <a:lnSpc>
                <a:spcPct val="120000"/>
              </a:lnSpc>
              <a:buFont typeface="+mj-lt"/>
              <a:buAutoNum type="arabicPeriod"/>
            </a:pPr>
            <a:endParaRPr lang="en-US" sz="2813" dirty="0">
              <a:latin typeface="Whitney-Book" pitchFamily="50" charset="0"/>
              <a:cs typeface="Whitney-Book" pitchFamily="50" charset="0"/>
            </a:endParaRPr>
          </a:p>
          <a:p>
            <a:pPr marL="514350" indent="-514350">
              <a:lnSpc>
                <a:spcPct val="120000"/>
              </a:lnSpc>
              <a:buFont typeface="+mj-lt"/>
              <a:buAutoNum type="arabicPeriod"/>
            </a:pPr>
            <a:endParaRPr lang="en-US" sz="2813"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marL="457200" lvl="1" indent="0">
              <a:buNone/>
            </a:pPr>
            <a:endParaRPr lang="en-US" noProof="0" dirty="0"/>
          </a:p>
          <a:p>
            <a:pPr lvl="1"/>
            <a:endParaRPr lang="en-US" noProof="0" dirty="0"/>
          </a:p>
          <a:p>
            <a:endParaRPr lang="en-US" noProof="0" dirty="0"/>
          </a:p>
        </p:txBody>
      </p:sp>
    </p:spTree>
    <p:extLst>
      <p:ext uri="{BB962C8B-B14F-4D97-AF65-F5344CB8AC3E}">
        <p14:creationId xmlns:p14="http://schemas.microsoft.com/office/powerpoint/2010/main" val="848256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3200" dirty="0">
                <a:cs typeface="Times New Roman" pitchFamily="18" charset="0"/>
              </a:rPr>
              <a:t>agenda for the class</a:t>
            </a:r>
            <a:endParaRPr lang="en-US" dirty="0"/>
          </a:p>
        </p:txBody>
      </p:sp>
      <p:sp>
        <p:nvSpPr>
          <p:cNvPr id="6" name="Rectangle 3"/>
          <p:cNvSpPr>
            <a:spLocks noChangeArrowheads="1"/>
          </p:cNvSpPr>
          <p:nvPr/>
        </p:nvSpPr>
        <p:spPr bwMode="auto">
          <a:xfrm>
            <a:off x="1240270" y="1870610"/>
            <a:ext cx="6561139" cy="4572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lIns="20047" tIns="28399" rIns="20047" bIns="28399" anchor="ctr">
            <a:flatTx/>
          </a:bodyPr>
          <a:lstStyle/>
          <a:p>
            <a:pPr marL="0" marR="0" lvl="0" indent="0" algn="ctr" defTabSz="962025" rtl="0" eaLnBrk="0" fontAlgn="auto" latinLnBrk="0" hangingPunct="0">
              <a:lnSpc>
                <a:spcPts val="2950"/>
              </a:lnSpc>
              <a:spcBef>
                <a:spcPts val="0"/>
              </a:spcBef>
              <a:spcAft>
                <a:spcPts val="0"/>
              </a:spcAft>
              <a:buClrTx/>
              <a:buSzTx/>
              <a:buFontTx/>
              <a:buNone/>
              <a:tabLst>
                <a:tab pos="481013" algn="l"/>
                <a:tab pos="962025" algn="l"/>
                <a:tab pos="1443038" algn="l"/>
              </a:tabLst>
              <a:defRPr/>
            </a:pPr>
            <a:r>
              <a:rPr kumimoji="0" lang="en-US" sz="1800" b="0" i="0" u="none" strike="noStrike" kern="1200" cap="none" spc="0" normalizeH="0" baseline="0" noProof="0" dirty="0">
                <a:ln>
                  <a:noFill/>
                </a:ln>
                <a:solidFill>
                  <a:prstClr val="black"/>
                </a:solidFill>
                <a:effectLst/>
                <a:uLnTx/>
                <a:uFillTx/>
                <a:latin typeface="Whitney-Book" pitchFamily="50" charset="0"/>
                <a:cs typeface="Times New Roman" pitchFamily="18" charset="0"/>
              </a:rPr>
              <a:t>1. The Economic Way of Thinking</a:t>
            </a:r>
            <a:endParaRPr kumimoji="0" lang="en-US" sz="1800" b="1" i="0" u="none" strike="noStrike" kern="1200" cap="none" spc="0" normalizeH="0" baseline="0" noProof="0" dirty="0">
              <a:ln>
                <a:noFill/>
              </a:ln>
              <a:solidFill>
                <a:prstClr val="black"/>
              </a:solidFill>
              <a:effectLst/>
              <a:uLnTx/>
              <a:uFillTx/>
              <a:latin typeface="Whitney-Book" pitchFamily="50" charset="0"/>
              <a:cs typeface="Times New Roman" pitchFamily="18" charset="0"/>
            </a:endParaRPr>
          </a:p>
        </p:txBody>
      </p:sp>
      <p:grpSp>
        <p:nvGrpSpPr>
          <p:cNvPr id="7" name="Group 6"/>
          <p:cNvGrpSpPr/>
          <p:nvPr/>
        </p:nvGrpSpPr>
        <p:grpSpPr>
          <a:xfrm>
            <a:off x="2275681" y="3603612"/>
            <a:ext cx="4592638" cy="1250239"/>
            <a:chOff x="2618581" y="4773364"/>
            <a:chExt cx="4592638" cy="1250239"/>
          </a:xfrm>
        </p:grpSpPr>
        <p:sp>
          <p:nvSpPr>
            <p:cNvPr id="8" name="Rectangle 6"/>
            <p:cNvSpPr>
              <a:spLocks noChangeArrowheads="1"/>
            </p:cNvSpPr>
            <p:nvPr/>
          </p:nvSpPr>
          <p:spPr bwMode="auto">
            <a:xfrm>
              <a:off x="2618581" y="5566403"/>
              <a:ext cx="4592638" cy="457200"/>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wrap="none" lIns="20047" tIns="28399" rIns="20047" bIns="28399" anchor="ctr">
              <a:flatTx/>
            </a:bodyPr>
            <a:lstStyle/>
            <a:p>
              <a:pPr marL="0" marR="0" lvl="0" indent="0" algn="ctr" defTabSz="962025" rtl="0" eaLnBrk="0" fontAlgn="auto" latinLnBrk="0" hangingPunct="0">
                <a:lnSpc>
                  <a:spcPts val="2950"/>
                </a:lnSpc>
                <a:spcBef>
                  <a:spcPts val="0"/>
                </a:spcBef>
                <a:spcAft>
                  <a:spcPts val="0"/>
                </a:spcAft>
                <a:buClrTx/>
                <a:buSzTx/>
                <a:buFontTx/>
                <a:buNone/>
                <a:tabLst>
                  <a:tab pos="481013" algn="l"/>
                  <a:tab pos="962025" algn="l"/>
                  <a:tab pos="1443038" algn="l"/>
                </a:tabLst>
                <a:defRPr/>
              </a:pPr>
              <a:r>
                <a:rPr kumimoji="0" lang="en-US" sz="1800" b="0" i="0" u="none" strike="noStrike" kern="1200" cap="none" spc="0" normalizeH="0" baseline="0" noProof="0" dirty="0">
                  <a:ln>
                    <a:noFill/>
                  </a:ln>
                  <a:solidFill>
                    <a:prstClr val="black"/>
                  </a:solidFill>
                  <a:effectLst/>
                  <a:uLnTx/>
                  <a:uFillTx/>
                  <a:latin typeface="Whitney-Book" pitchFamily="50" charset="0"/>
                  <a:cs typeface="Times New Roman" pitchFamily="18" charset="0"/>
                </a:rPr>
                <a:t>4. Markets, Pricing and Strategy</a:t>
              </a:r>
            </a:p>
          </p:txBody>
        </p:sp>
        <p:sp>
          <p:nvSpPr>
            <p:cNvPr id="9" name="Line 7"/>
            <p:cNvSpPr>
              <a:spLocks noChangeShapeType="1"/>
            </p:cNvSpPr>
            <p:nvPr/>
          </p:nvSpPr>
          <p:spPr bwMode="auto">
            <a:xfrm>
              <a:off x="3290021" y="4773364"/>
              <a:ext cx="1089222" cy="780338"/>
            </a:xfrm>
            <a:prstGeom prst="line">
              <a:avLst/>
            </a:prstGeom>
            <a:noFill/>
            <a:ln w="25400">
              <a:solidFill>
                <a:schemeClr val="tx1"/>
              </a:solidFill>
              <a:round/>
              <a:headEnd/>
              <a:tailEnd type="triangle" w="med" len="med"/>
            </a:ln>
            <a:effectLst/>
            <a:scene3d>
              <a:camera prst="orthographicFront"/>
              <a:lightRig rig="threePt" dir="t"/>
            </a:scene3d>
            <a:sp3d extrusionH="1905000"/>
          </p:spPr>
          <p:txBody>
            <a:bodyPr wrap="none" lIns="20047" tIns="28399" rIns="20047" bIns="28399"/>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Line 8"/>
            <p:cNvSpPr>
              <a:spLocks noChangeShapeType="1"/>
            </p:cNvSpPr>
            <p:nvPr/>
          </p:nvSpPr>
          <p:spPr bwMode="auto">
            <a:xfrm flipH="1">
              <a:off x="5105398" y="4800600"/>
              <a:ext cx="1089223" cy="761999"/>
            </a:xfrm>
            <a:prstGeom prst="line">
              <a:avLst/>
            </a:prstGeom>
            <a:noFill/>
            <a:ln w="25400">
              <a:solidFill>
                <a:schemeClr val="tx1"/>
              </a:solidFill>
              <a:round/>
              <a:headEnd/>
              <a:tailEnd type="triangle" w="med" len="med"/>
            </a:ln>
            <a:effectLst/>
            <a:scene3d>
              <a:camera prst="orthographicFront"/>
              <a:lightRig rig="threePt" dir="t"/>
            </a:scene3d>
            <a:sp3d extrusionH="1905000"/>
          </p:spPr>
          <p:txBody>
            <a:bodyPr wrap="none" lIns="20047" tIns="28399" rIns="20047" bIns="28399"/>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0"/>
          <p:cNvGrpSpPr/>
          <p:nvPr/>
        </p:nvGrpSpPr>
        <p:grpSpPr>
          <a:xfrm>
            <a:off x="327941" y="2340672"/>
            <a:ext cx="3844057" cy="1262940"/>
            <a:chOff x="325439" y="2640690"/>
            <a:chExt cx="4475161" cy="1470283"/>
          </a:xfrm>
        </p:grpSpPr>
        <p:sp>
          <p:nvSpPr>
            <p:cNvPr id="12" name="Rectangle 4"/>
            <p:cNvSpPr>
              <a:spLocks noChangeArrowheads="1"/>
            </p:cNvSpPr>
            <p:nvPr/>
          </p:nvSpPr>
          <p:spPr bwMode="auto">
            <a:xfrm>
              <a:off x="325439" y="3578712"/>
              <a:ext cx="4475161" cy="532261"/>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none" lIns="20047" tIns="28399" rIns="20047" bIns="28399">
              <a:flatTx/>
            </a:bodyPr>
            <a:lstStyle/>
            <a:p>
              <a:pPr marL="0" marR="0" lvl="0" indent="0" algn="ctr" defTabSz="962025" rtl="0" eaLnBrk="0" fontAlgn="auto" latinLnBrk="0" hangingPunct="0">
                <a:lnSpc>
                  <a:spcPts val="2950"/>
                </a:lnSpc>
                <a:spcBef>
                  <a:spcPts val="0"/>
                </a:spcBef>
                <a:spcAft>
                  <a:spcPts val="0"/>
                </a:spcAft>
                <a:buClrTx/>
                <a:buSzTx/>
                <a:buFontTx/>
                <a:buNone/>
                <a:tabLst>
                  <a:tab pos="481013" algn="l"/>
                  <a:tab pos="962025" algn="l"/>
                  <a:tab pos="1443038" algn="l"/>
                </a:tabLst>
                <a:defRPr/>
              </a:pPr>
              <a:r>
                <a:rPr kumimoji="0" lang="en-US" sz="1800" b="0" i="0" u="none" strike="noStrike" kern="1200" cap="none" spc="0" normalizeH="0" baseline="0" noProof="0" dirty="0">
                  <a:ln>
                    <a:noFill/>
                  </a:ln>
                  <a:effectLst/>
                  <a:uLnTx/>
                  <a:uFillTx/>
                  <a:latin typeface="Whitney-Book" pitchFamily="50" charset="0"/>
                  <a:cs typeface="Times New Roman" pitchFamily="18" charset="0"/>
                </a:rPr>
                <a:t>2. </a:t>
              </a:r>
              <a:r>
                <a:rPr kumimoji="0" lang="en-US" sz="1800" i="0" u="none" strike="noStrike" kern="1200" normalizeH="0" baseline="0" noProof="0" dirty="0">
                  <a:uLnTx/>
                  <a:uFillTx/>
                  <a:latin typeface="Whitney-Book" pitchFamily="50" charset="0"/>
                  <a:cs typeface="Times New Roman" pitchFamily="18" charset="0"/>
                </a:rPr>
                <a:t>Value and Demand</a:t>
              </a:r>
            </a:p>
            <a:p>
              <a:pPr marL="0" marR="0" lvl="0" indent="0" algn="ctr" defTabSz="962025" rtl="0" eaLnBrk="0" fontAlgn="auto" latinLnBrk="0" hangingPunct="0">
                <a:lnSpc>
                  <a:spcPts val="2950"/>
                </a:lnSpc>
                <a:spcBef>
                  <a:spcPts val="0"/>
                </a:spcBef>
                <a:spcAft>
                  <a:spcPts val="0"/>
                </a:spcAft>
                <a:buClrTx/>
                <a:buSzTx/>
                <a:buFontTx/>
                <a:buNone/>
                <a:tabLst>
                  <a:tab pos="481013" algn="l"/>
                  <a:tab pos="962025" algn="l"/>
                  <a:tab pos="1443038" algn="l"/>
                </a:tabLst>
                <a:defRPr/>
              </a:pPr>
              <a:endParaRPr kumimoji="0" lang="fr-FR" sz="1800" b="1" i="0" u="none" strike="noStrike" kern="1200" cap="none" spc="0" normalizeH="0" baseline="0" noProof="0" dirty="0">
                <a:ln>
                  <a:noFill/>
                </a:ln>
                <a:effectLst/>
                <a:uLnTx/>
                <a:uFillTx/>
                <a:latin typeface="Whitney-Book" pitchFamily="50" charset="0"/>
                <a:cs typeface="Times New Roman" pitchFamily="18" charset="0"/>
              </a:endParaRPr>
            </a:p>
            <a:p>
              <a:pPr marL="0" marR="0" lvl="0" indent="0" algn="ctr" defTabSz="962025" rtl="0" eaLnBrk="0" fontAlgn="auto" latinLnBrk="0" hangingPunct="0">
                <a:lnSpc>
                  <a:spcPts val="2950"/>
                </a:lnSpc>
                <a:spcBef>
                  <a:spcPts val="0"/>
                </a:spcBef>
                <a:spcAft>
                  <a:spcPts val="0"/>
                </a:spcAft>
                <a:buClrTx/>
                <a:buSzTx/>
                <a:buFontTx/>
                <a:buNone/>
                <a:tabLst>
                  <a:tab pos="481013" algn="l"/>
                  <a:tab pos="962025" algn="l"/>
                  <a:tab pos="1443038" algn="l"/>
                </a:tabLst>
                <a:defRPr/>
              </a:pPr>
              <a:endParaRPr lang="fr-FR" b="1" dirty="0">
                <a:latin typeface="Whitney-Book" pitchFamily="50" charset="0"/>
                <a:cs typeface="Times New Roman" pitchFamily="18" charset="0"/>
              </a:endParaRPr>
            </a:p>
            <a:p>
              <a:pPr marL="0" marR="0" lvl="0" indent="0" algn="ctr" defTabSz="962025" rtl="0" eaLnBrk="0" fontAlgn="auto" latinLnBrk="0" hangingPunct="0">
                <a:lnSpc>
                  <a:spcPts val="2950"/>
                </a:lnSpc>
                <a:spcBef>
                  <a:spcPts val="0"/>
                </a:spcBef>
                <a:spcAft>
                  <a:spcPts val="0"/>
                </a:spcAft>
                <a:buClrTx/>
                <a:buSzTx/>
                <a:buFontTx/>
                <a:buNone/>
                <a:tabLst>
                  <a:tab pos="481013" algn="l"/>
                  <a:tab pos="962025" algn="l"/>
                  <a:tab pos="1443038" algn="l"/>
                </a:tabLst>
                <a:defRPr/>
              </a:pPr>
              <a:endParaRPr kumimoji="0" lang="en-US" sz="1800" b="1" i="0" u="none" strike="noStrike" kern="1200" cap="none" spc="0" normalizeH="0" baseline="0" noProof="0" dirty="0">
                <a:ln>
                  <a:noFill/>
                </a:ln>
                <a:effectLst/>
                <a:uLnTx/>
                <a:uFillTx/>
                <a:latin typeface="Whitney-Book" pitchFamily="50" charset="0"/>
                <a:cs typeface="Times New Roman" pitchFamily="18" charset="0"/>
              </a:endParaRPr>
            </a:p>
          </p:txBody>
        </p:sp>
        <p:sp>
          <p:nvSpPr>
            <p:cNvPr id="13" name="Line 7"/>
            <p:cNvSpPr>
              <a:spLocks noChangeShapeType="1"/>
            </p:cNvSpPr>
            <p:nvPr/>
          </p:nvSpPr>
          <p:spPr bwMode="auto">
            <a:xfrm flipH="1">
              <a:off x="3428997" y="2640690"/>
              <a:ext cx="1268048" cy="935949"/>
            </a:xfrm>
            <a:prstGeom prst="line">
              <a:avLst/>
            </a:prstGeom>
            <a:noFill/>
            <a:ln w="25400">
              <a:solidFill>
                <a:schemeClr val="tx1"/>
              </a:solidFill>
              <a:round/>
              <a:headEnd/>
              <a:tailEnd type="triangle" w="med" len="med"/>
            </a:ln>
            <a:effectLst/>
            <a:scene3d>
              <a:camera prst="orthographicFront"/>
              <a:lightRig rig="threePt" dir="t"/>
            </a:scene3d>
            <a:sp3d extrusionH="1905000"/>
          </p:spPr>
          <p:txBody>
            <a:bodyPr wrap="none" lIns="20047" tIns="28399" rIns="20047" bIns="28399"/>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3"/>
          <p:cNvGrpSpPr/>
          <p:nvPr/>
        </p:nvGrpSpPr>
        <p:grpSpPr>
          <a:xfrm>
            <a:off x="4848761" y="2340670"/>
            <a:ext cx="4021018" cy="1262940"/>
            <a:chOff x="4827952" y="2638613"/>
            <a:chExt cx="4681174" cy="1470287"/>
          </a:xfrm>
        </p:grpSpPr>
        <p:sp>
          <p:nvSpPr>
            <p:cNvPr id="15" name="Rectangle 9"/>
            <p:cNvSpPr>
              <a:spLocks noChangeArrowheads="1"/>
            </p:cNvSpPr>
            <p:nvPr/>
          </p:nvSpPr>
          <p:spPr bwMode="auto">
            <a:xfrm>
              <a:off x="4957763" y="3576638"/>
              <a:ext cx="4551363" cy="532262"/>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wrap="none" lIns="20047" tIns="28399" rIns="20047" bIns="28399">
              <a:flatTx/>
            </a:bodyPr>
            <a:lstStyle/>
            <a:p>
              <a:pPr marL="0" marR="0" lvl="0" indent="0" algn="ctr" defTabSz="962025" rtl="0" eaLnBrk="0" fontAlgn="auto" latinLnBrk="0" hangingPunct="0">
                <a:lnSpc>
                  <a:spcPts val="2950"/>
                </a:lnSpc>
                <a:spcBef>
                  <a:spcPts val="0"/>
                </a:spcBef>
                <a:spcAft>
                  <a:spcPts val="0"/>
                </a:spcAft>
                <a:buClrTx/>
                <a:buSzTx/>
                <a:buFontTx/>
                <a:buNone/>
                <a:tabLst>
                  <a:tab pos="481013" algn="l"/>
                  <a:tab pos="962025" algn="l"/>
                  <a:tab pos="1443038" algn="l"/>
                </a:tabLst>
                <a:defRPr/>
              </a:pPr>
              <a:r>
                <a:rPr kumimoji="0" lang="en-US" sz="1800" b="0" i="0" u="none" strike="noStrike" kern="1200" cap="none" spc="0" normalizeH="0" baseline="0" noProof="0" dirty="0">
                  <a:ln>
                    <a:noFill/>
                  </a:ln>
                  <a:effectLst/>
                  <a:uLnTx/>
                  <a:uFillTx/>
                  <a:latin typeface="Whitney-Book" pitchFamily="50" charset="0"/>
                  <a:cs typeface="Times New Roman" pitchFamily="18" charset="0"/>
                </a:rPr>
                <a:t>3</a:t>
              </a:r>
              <a:r>
                <a:rPr lang="en-US" dirty="0">
                  <a:latin typeface="Whitney-Book" pitchFamily="50" charset="0"/>
                  <a:cs typeface="Times New Roman" pitchFamily="18" charset="0"/>
                </a:rPr>
                <a:t>.</a:t>
              </a:r>
              <a:r>
                <a:rPr kumimoji="0" lang="en-US" sz="1800" b="0" i="0" u="none" strike="noStrike" kern="1200" cap="none" spc="0" normalizeH="0" baseline="0" noProof="0" dirty="0">
                  <a:ln>
                    <a:noFill/>
                  </a:ln>
                  <a:effectLst/>
                  <a:uLnTx/>
                  <a:uFillTx/>
                  <a:latin typeface="Whitney-Book" pitchFamily="50" charset="0"/>
                  <a:cs typeface="Times New Roman" pitchFamily="18" charset="0"/>
                </a:rPr>
                <a:t> Supply and Cost</a:t>
              </a:r>
            </a:p>
          </p:txBody>
        </p:sp>
        <p:sp>
          <p:nvSpPr>
            <p:cNvPr id="16" name="Line 7"/>
            <p:cNvSpPr>
              <a:spLocks noChangeShapeType="1"/>
            </p:cNvSpPr>
            <p:nvPr/>
          </p:nvSpPr>
          <p:spPr bwMode="auto">
            <a:xfrm>
              <a:off x="4827952" y="2638613"/>
              <a:ext cx="1268048" cy="938025"/>
            </a:xfrm>
            <a:prstGeom prst="line">
              <a:avLst/>
            </a:prstGeom>
            <a:noFill/>
            <a:ln w="25400">
              <a:solidFill>
                <a:schemeClr val="tx1"/>
              </a:solidFill>
              <a:round/>
              <a:headEnd/>
              <a:tailEnd type="triangle" w="med" len="med"/>
            </a:ln>
            <a:effectLst/>
            <a:scene3d>
              <a:camera prst="orthographicFront"/>
              <a:lightRig rig="threePt" dir="t"/>
            </a:scene3d>
            <a:sp3d extrusionH="1905000"/>
          </p:spPr>
          <p:txBody>
            <a:bodyPr wrap="none" lIns="20047" tIns="28399" rIns="20047" bIns="28399"/>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8" name="Right Arrow 16">
            <a:extLst>
              <a:ext uri="{FF2B5EF4-FFF2-40B4-BE49-F238E27FC236}">
                <a16:creationId xmlns:a16="http://schemas.microsoft.com/office/drawing/2014/main" id="{E2DFD23A-2E86-410D-B200-A0A82876E08C}"/>
              </a:ext>
            </a:extLst>
          </p:cNvPr>
          <p:cNvSpPr/>
          <p:nvPr/>
        </p:nvSpPr>
        <p:spPr bwMode="auto">
          <a:xfrm rot="13328043">
            <a:off x="5359641" y="4964833"/>
            <a:ext cx="1216609" cy="530221"/>
          </a:xfrm>
          <a:prstGeom prst="rightArrow">
            <a:avLst>
              <a:gd name="adj1" fmla="val 50000"/>
              <a:gd name="adj2" fmla="val 87117"/>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effectLst/>
              <a:latin typeface="+mn-lt"/>
            </a:endParaRPr>
          </a:p>
        </p:txBody>
      </p:sp>
    </p:spTree>
    <p:extLst>
      <p:ext uri="{BB962C8B-B14F-4D97-AF65-F5344CB8AC3E}">
        <p14:creationId xmlns:p14="http://schemas.microsoft.com/office/powerpoint/2010/main" val="931784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66A65-AD0C-4F6D-A6A6-72CC681D3B12}"/>
              </a:ext>
            </a:extLst>
          </p:cNvPr>
          <p:cNvSpPr>
            <a:spLocks noGrp="1"/>
          </p:cNvSpPr>
          <p:nvPr>
            <p:ph type="title"/>
          </p:nvPr>
        </p:nvSpPr>
        <p:spPr/>
        <p:txBody>
          <a:bodyPr/>
          <a:lstStyle/>
          <a:p>
            <a:r>
              <a:rPr lang="fr-FR" dirty="0" err="1"/>
              <a:t>Outline</a:t>
            </a:r>
            <a:r>
              <a:rPr lang="fr-FR" dirty="0"/>
              <a:t> of module 4</a:t>
            </a:r>
            <a:endParaRPr lang="en-US" dirty="0"/>
          </a:p>
        </p:txBody>
      </p:sp>
      <p:sp>
        <p:nvSpPr>
          <p:cNvPr id="4" name="Text Placeholder 3">
            <a:extLst>
              <a:ext uri="{FF2B5EF4-FFF2-40B4-BE49-F238E27FC236}">
                <a16:creationId xmlns:a16="http://schemas.microsoft.com/office/drawing/2014/main" id="{0D322E39-E355-4AAC-8067-224024764EC5}"/>
              </a:ext>
            </a:extLst>
          </p:cNvPr>
          <p:cNvSpPr>
            <a:spLocks noGrp="1"/>
          </p:cNvSpPr>
          <p:nvPr>
            <p:ph type="body" idx="1"/>
          </p:nvPr>
        </p:nvSpPr>
        <p:spPr/>
        <p:txBody>
          <a:bodyPr/>
          <a:lstStyle/>
          <a:p>
            <a:r>
              <a:rPr lang="en-US" dirty="0"/>
              <a:t>Introduction to market structures </a:t>
            </a:r>
          </a:p>
          <a:p>
            <a:endParaRPr lang="en-US" sz="2000" dirty="0"/>
          </a:p>
          <a:p>
            <a:r>
              <a:rPr lang="en-US" dirty="0"/>
              <a:t>Perfect competition</a:t>
            </a:r>
          </a:p>
          <a:p>
            <a:pPr lvl="1"/>
            <a:r>
              <a:rPr lang="en-US" dirty="0"/>
              <a:t>Profit maximization of a price taker in the short run</a:t>
            </a:r>
          </a:p>
          <a:p>
            <a:pPr lvl="1"/>
            <a:r>
              <a:rPr lang="en-US" dirty="0"/>
              <a:t>Firm-level and market supply</a:t>
            </a:r>
          </a:p>
          <a:p>
            <a:pPr lvl="1"/>
            <a:r>
              <a:rPr lang="en-US" dirty="0"/>
              <a:t>Long-run competitive equilibrium</a:t>
            </a:r>
          </a:p>
          <a:p>
            <a:pPr lvl="1"/>
            <a:endParaRPr lang="en-US" sz="2000" dirty="0"/>
          </a:p>
          <a:p>
            <a:r>
              <a:rPr lang="en-US" dirty="0"/>
              <a:t>Market distortions/regulations</a:t>
            </a:r>
          </a:p>
          <a:p>
            <a:endParaRPr lang="en-US" sz="2000" dirty="0"/>
          </a:p>
          <a:p>
            <a:r>
              <a:rPr lang="en-US" dirty="0"/>
              <a:t>Externalities</a:t>
            </a:r>
          </a:p>
          <a:p>
            <a:pPr marL="114300" indent="0">
              <a:buNone/>
            </a:pPr>
            <a:endParaRPr lang="en-US" dirty="0"/>
          </a:p>
        </p:txBody>
      </p:sp>
    </p:spTree>
    <p:extLst>
      <p:ext uri="{BB962C8B-B14F-4D97-AF65-F5344CB8AC3E}">
        <p14:creationId xmlns:p14="http://schemas.microsoft.com/office/powerpoint/2010/main" val="1710326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66A65-AD0C-4F6D-A6A6-72CC681D3B12}"/>
              </a:ext>
            </a:extLst>
          </p:cNvPr>
          <p:cNvSpPr>
            <a:spLocks noGrp="1"/>
          </p:cNvSpPr>
          <p:nvPr>
            <p:ph type="title"/>
          </p:nvPr>
        </p:nvSpPr>
        <p:spPr/>
        <p:txBody>
          <a:bodyPr/>
          <a:lstStyle/>
          <a:p>
            <a:r>
              <a:rPr lang="fr-FR" dirty="0" err="1"/>
              <a:t>Outline</a:t>
            </a:r>
            <a:r>
              <a:rPr lang="fr-FR" dirty="0"/>
              <a:t> of module 4</a:t>
            </a:r>
            <a:endParaRPr lang="en-US" dirty="0"/>
          </a:p>
        </p:txBody>
      </p:sp>
      <p:sp>
        <p:nvSpPr>
          <p:cNvPr id="4" name="Text Placeholder 3">
            <a:extLst>
              <a:ext uri="{FF2B5EF4-FFF2-40B4-BE49-F238E27FC236}">
                <a16:creationId xmlns:a16="http://schemas.microsoft.com/office/drawing/2014/main" id="{0D322E39-E355-4AAC-8067-224024764EC5}"/>
              </a:ext>
            </a:extLst>
          </p:cNvPr>
          <p:cNvSpPr>
            <a:spLocks noGrp="1"/>
          </p:cNvSpPr>
          <p:nvPr>
            <p:ph type="body" idx="1"/>
          </p:nvPr>
        </p:nvSpPr>
        <p:spPr/>
        <p:txBody>
          <a:bodyPr/>
          <a:lstStyle/>
          <a:p>
            <a:r>
              <a:rPr lang="en-US" b="1" dirty="0"/>
              <a:t>Introduction to market structures</a:t>
            </a:r>
            <a:r>
              <a:rPr lang="en-US" dirty="0"/>
              <a:t> </a:t>
            </a:r>
          </a:p>
          <a:p>
            <a:endParaRPr lang="en-US" sz="2000" dirty="0"/>
          </a:p>
          <a:p>
            <a:r>
              <a:rPr lang="en-US" dirty="0">
                <a:solidFill>
                  <a:schemeClr val="bg1">
                    <a:lumMod val="65000"/>
                  </a:schemeClr>
                </a:solidFill>
              </a:rPr>
              <a:t>Perfect competition</a:t>
            </a:r>
          </a:p>
          <a:p>
            <a:pPr lvl="1"/>
            <a:r>
              <a:rPr lang="en-US" dirty="0">
                <a:solidFill>
                  <a:schemeClr val="bg1">
                    <a:lumMod val="65000"/>
                  </a:schemeClr>
                </a:solidFill>
              </a:rPr>
              <a:t>Profit maximization of a price taker in the short run</a:t>
            </a:r>
          </a:p>
          <a:p>
            <a:pPr lvl="1"/>
            <a:r>
              <a:rPr lang="en-US" dirty="0">
                <a:solidFill>
                  <a:schemeClr val="bg1">
                    <a:lumMod val="65000"/>
                  </a:schemeClr>
                </a:solidFill>
              </a:rPr>
              <a:t>Firm-level and market supply</a:t>
            </a:r>
          </a:p>
          <a:p>
            <a:pPr lvl="1"/>
            <a:r>
              <a:rPr lang="en-US" dirty="0">
                <a:solidFill>
                  <a:schemeClr val="bg1">
                    <a:lumMod val="65000"/>
                  </a:schemeClr>
                </a:solidFill>
              </a:rPr>
              <a:t>Long-run competitive equilibrium</a:t>
            </a:r>
          </a:p>
          <a:p>
            <a:pPr lvl="1"/>
            <a:endParaRPr lang="en-US" sz="2000" dirty="0">
              <a:solidFill>
                <a:schemeClr val="bg1">
                  <a:lumMod val="65000"/>
                </a:schemeClr>
              </a:solidFill>
            </a:endParaRPr>
          </a:p>
          <a:p>
            <a:r>
              <a:rPr lang="en-US" dirty="0">
                <a:solidFill>
                  <a:schemeClr val="bg1">
                    <a:lumMod val="65000"/>
                  </a:schemeClr>
                </a:solidFill>
              </a:rPr>
              <a:t>Market distortions/regulations</a:t>
            </a:r>
          </a:p>
          <a:p>
            <a:endParaRPr lang="en-US" sz="2000" dirty="0">
              <a:solidFill>
                <a:schemeClr val="bg1">
                  <a:lumMod val="65000"/>
                </a:schemeClr>
              </a:solidFill>
            </a:endParaRPr>
          </a:p>
          <a:p>
            <a:r>
              <a:rPr lang="en-US" dirty="0">
                <a:solidFill>
                  <a:schemeClr val="bg1">
                    <a:lumMod val="65000"/>
                  </a:schemeClr>
                </a:solidFill>
              </a:rPr>
              <a:t>Externalities</a:t>
            </a:r>
          </a:p>
          <a:p>
            <a:pPr marL="114300" indent="0">
              <a:buNone/>
            </a:pPr>
            <a:endParaRPr lang="en-US" dirty="0"/>
          </a:p>
        </p:txBody>
      </p:sp>
    </p:spTree>
    <p:extLst>
      <p:ext uri="{BB962C8B-B14F-4D97-AF65-F5344CB8AC3E}">
        <p14:creationId xmlns:p14="http://schemas.microsoft.com/office/powerpoint/2010/main" val="580401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four basic market structures</a:t>
            </a:r>
          </a:p>
        </p:txBody>
      </p:sp>
      <p:sp>
        <p:nvSpPr>
          <p:cNvPr id="4" name="Slide Number Placeholder 3"/>
          <p:cNvSpPr>
            <a:spLocks noGrp="1"/>
          </p:cNvSpPr>
          <p:nvPr>
            <p:ph type="sldNum" sz="quarter" idx="12"/>
          </p:nvPr>
        </p:nvSpPr>
        <p:spPr/>
        <p:txBody>
          <a:bodyPr/>
          <a:lstStyle/>
          <a:p>
            <a:fld id="{0F3206DB-9488-D04D-BDD1-A7C9D84C4579}" type="slidenum">
              <a:rPr lang="en-US" smtClean="0"/>
              <a:t>6</a:t>
            </a:fld>
            <a:endParaRPr lang="en-US"/>
          </a:p>
        </p:txBody>
      </p:sp>
      <p:graphicFrame>
        <p:nvGraphicFramePr>
          <p:cNvPr id="3" name="Table 2"/>
          <p:cNvGraphicFramePr>
            <a:graphicFrameLocks noGrp="1"/>
          </p:cNvGraphicFramePr>
          <p:nvPr>
            <p:extLst/>
          </p:nvPr>
        </p:nvGraphicFramePr>
        <p:xfrm>
          <a:off x="6685280" y="2658716"/>
          <a:ext cx="2001520" cy="2398827"/>
        </p:xfrm>
        <a:graphic>
          <a:graphicData uri="http://schemas.openxmlformats.org/drawingml/2006/table">
            <a:tbl>
              <a:tblPr firstRow="1" bandRow="1">
                <a:tableStyleId>{5C22544A-7EE6-4342-B048-85BDC9FD1C3A}</a:tableStyleId>
              </a:tblPr>
              <a:tblGrid>
                <a:gridCol w="2001520">
                  <a:extLst>
                    <a:ext uri="{9D8B030D-6E8A-4147-A177-3AD203B41FA5}">
                      <a16:colId xmlns:a16="http://schemas.microsoft.com/office/drawing/2014/main" val="3165536391"/>
                    </a:ext>
                  </a:extLst>
                </a:gridCol>
              </a:tblGrid>
              <a:tr h="799609">
                <a:tc>
                  <a:txBody>
                    <a:bodyPr/>
                    <a:lstStyle/>
                    <a:p>
                      <a:pPr marL="0" indent="0" algn="ctr">
                        <a:buClr>
                          <a:schemeClr val="tx2">
                            <a:lumMod val="60000"/>
                            <a:lumOff val="40000"/>
                          </a:schemeClr>
                        </a:buClr>
                        <a:buFont typeface="Lucida Grande"/>
                        <a:buNone/>
                      </a:pPr>
                      <a:r>
                        <a:rPr lang="en-US" sz="2000" b="0" i="0" dirty="0">
                          <a:solidFill>
                            <a:schemeClr val="tx1"/>
                          </a:solidFill>
                          <a:latin typeface="Whitney Book"/>
                        </a:rPr>
                        <a:t>One</a:t>
                      </a:r>
                    </a:p>
                  </a:txBody>
                  <a:tcPr marL="69584" marR="69584" marT="34792" marB="34792" anchor="ctr">
                    <a:lnL w="5715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extLst>
                  <a:ext uri="{0D108BD9-81ED-4DB2-BD59-A6C34878D82A}">
                    <a16:rowId xmlns:a16="http://schemas.microsoft.com/office/drawing/2014/main" val="10002"/>
                  </a:ext>
                </a:extLst>
              </a:tr>
              <a:tr h="799609">
                <a:tc>
                  <a:txBody>
                    <a:bodyPr/>
                    <a:lstStyle/>
                    <a:p>
                      <a:pPr marL="0" marR="0" lvl="0" indent="0" algn="ctr" defTabSz="457200" rtl="0" eaLnBrk="1" fontAlgn="auto" latinLnBrk="0" hangingPunct="1">
                        <a:lnSpc>
                          <a:spcPct val="100000"/>
                        </a:lnSpc>
                        <a:spcBef>
                          <a:spcPts val="0"/>
                        </a:spcBef>
                        <a:spcAft>
                          <a:spcPts val="0"/>
                        </a:spcAft>
                        <a:buClr>
                          <a:schemeClr val="tx2">
                            <a:lumMod val="60000"/>
                            <a:lumOff val="40000"/>
                          </a:schemeClr>
                        </a:buClr>
                        <a:buSzTx/>
                        <a:buFont typeface="Lucida Grande"/>
                        <a:buNone/>
                        <a:tabLst/>
                        <a:defRPr/>
                      </a:pPr>
                      <a:r>
                        <a:rPr lang="en-US" sz="2000" b="0" i="0" dirty="0">
                          <a:solidFill>
                            <a:schemeClr val="tx1"/>
                          </a:solidFill>
                          <a:latin typeface="Whitney Book"/>
                        </a:rPr>
                        <a:t>Identical or Differentiated</a:t>
                      </a:r>
                    </a:p>
                  </a:txBody>
                  <a:tcPr marL="69584" marR="69584" marT="34792" marB="34792" anchor="ctr">
                    <a:lnL w="5715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3839626279"/>
                  </a:ext>
                </a:extLst>
              </a:tr>
              <a:tr h="799609">
                <a:tc>
                  <a:txBody>
                    <a:bodyPr/>
                    <a:lstStyle/>
                    <a:p>
                      <a:pPr marL="0" indent="0" algn="ctr">
                        <a:buClr>
                          <a:schemeClr val="tx2">
                            <a:lumMod val="60000"/>
                            <a:lumOff val="40000"/>
                          </a:schemeClr>
                        </a:buClr>
                        <a:buFont typeface="Lucida Grande"/>
                        <a:buNone/>
                      </a:pPr>
                      <a:r>
                        <a:rPr lang="en-US" sz="2000" b="0" i="0" dirty="0">
                          <a:solidFill>
                            <a:schemeClr val="tx1"/>
                          </a:solidFill>
                          <a:latin typeface="Whitney Book"/>
                        </a:rPr>
                        <a:t>Many</a:t>
                      </a:r>
                    </a:p>
                  </a:txBody>
                  <a:tcPr marL="69584" marR="69584" marT="34792" marB="34792" anchor="ctr">
                    <a:lnL w="5715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498952176"/>
                  </a:ext>
                </a:extLst>
              </a:tr>
            </a:tbl>
          </a:graphicData>
        </a:graphic>
      </p:graphicFrame>
      <p:graphicFrame>
        <p:nvGraphicFramePr>
          <p:cNvPr id="5" name="Table 4"/>
          <p:cNvGraphicFramePr>
            <a:graphicFrameLocks noGrp="1"/>
          </p:cNvGraphicFramePr>
          <p:nvPr/>
        </p:nvGraphicFramePr>
        <p:xfrm>
          <a:off x="373380" y="2131934"/>
          <a:ext cx="8313420" cy="454244"/>
        </p:xfrm>
        <a:graphic>
          <a:graphicData uri="http://schemas.openxmlformats.org/drawingml/2006/table">
            <a:tbl>
              <a:tblPr firstRow="1" bandRow="1">
                <a:tableStyleId>{5C22544A-7EE6-4342-B048-85BDC9FD1C3A}</a:tableStyleId>
              </a:tblPr>
              <a:tblGrid>
                <a:gridCol w="1218096">
                  <a:extLst>
                    <a:ext uri="{9D8B030D-6E8A-4147-A177-3AD203B41FA5}">
                      <a16:colId xmlns:a16="http://schemas.microsoft.com/office/drawing/2014/main" val="20000"/>
                    </a:ext>
                  </a:extLst>
                </a:gridCol>
                <a:gridCol w="1723432">
                  <a:extLst>
                    <a:ext uri="{9D8B030D-6E8A-4147-A177-3AD203B41FA5}">
                      <a16:colId xmlns:a16="http://schemas.microsoft.com/office/drawing/2014/main" val="1670875575"/>
                    </a:ext>
                  </a:extLst>
                </a:gridCol>
                <a:gridCol w="1864366">
                  <a:extLst>
                    <a:ext uri="{9D8B030D-6E8A-4147-A177-3AD203B41FA5}">
                      <a16:colId xmlns:a16="http://schemas.microsoft.com/office/drawing/2014/main" val="1897832669"/>
                    </a:ext>
                  </a:extLst>
                </a:gridCol>
                <a:gridCol w="1626376">
                  <a:extLst>
                    <a:ext uri="{9D8B030D-6E8A-4147-A177-3AD203B41FA5}">
                      <a16:colId xmlns:a16="http://schemas.microsoft.com/office/drawing/2014/main" val="20001"/>
                    </a:ext>
                  </a:extLst>
                </a:gridCol>
                <a:gridCol w="1881150">
                  <a:extLst>
                    <a:ext uri="{9D8B030D-6E8A-4147-A177-3AD203B41FA5}">
                      <a16:colId xmlns:a16="http://schemas.microsoft.com/office/drawing/2014/main" val="3165536391"/>
                    </a:ext>
                  </a:extLst>
                </a:gridCol>
              </a:tblGrid>
              <a:tr h="454244">
                <a:tc>
                  <a:txBody>
                    <a:bodyPr/>
                    <a:lstStyle/>
                    <a:p>
                      <a:pPr algn="ctr"/>
                      <a:endParaRPr lang="en-US" sz="1200" b="0" i="0" cap="all" spc="200" baseline="0" dirty="0">
                        <a:latin typeface="Whitney Book"/>
                      </a:endParaRPr>
                    </a:p>
                  </a:txBody>
                  <a:tcPr marL="69584" marR="69584" marT="34792" marB="34792" anchor="ctr">
                    <a:lnR w="57150" cap="flat" cmpd="sng" algn="ctr">
                      <a:solidFill>
                        <a:schemeClr val="bg1"/>
                      </a:solidFill>
                      <a:prstDash val="solid"/>
                      <a:round/>
                      <a:headEnd type="none" w="med" len="med"/>
                      <a:tailEnd type="none" w="med" len="med"/>
                    </a:lnR>
                    <a:noFill/>
                  </a:tcPr>
                </a:tc>
                <a:tc>
                  <a:txBody>
                    <a:bodyPr/>
                    <a:lstStyle/>
                    <a:p>
                      <a:pPr algn="ctr"/>
                      <a:r>
                        <a:rPr lang="en-US" sz="1200" b="1" i="0" cap="all" spc="200" baseline="0" dirty="0">
                          <a:solidFill>
                            <a:schemeClr val="tx1"/>
                          </a:solidFill>
                          <a:latin typeface="Whitney Book"/>
                        </a:rPr>
                        <a:t>Perfect competition</a:t>
                      </a:r>
                    </a:p>
                  </a:txBody>
                  <a:tcPr marL="69584" marR="69584" marT="34792" marB="34792"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pPr algn="ctr"/>
                      <a:r>
                        <a:rPr lang="en-US" sz="1200" b="1" i="0" cap="all" spc="200" baseline="0" dirty="0">
                          <a:solidFill>
                            <a:schemeClr val="tx1"/>
                          </a:solidFill>
                          <a:latin typeface="Whitney Book"/>
                        </a:rPr>
                        <a:t>Monopolistic competition</a:t>
                      </a:r>
                    </a:p>
                  </a:txBody>
                  <a:tcPr marL="69584" marR="69584" marT="34792" marB="34792"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pPr algn="ctr"/>
                      <a:r>
                        <a:rPr lang="en-US" sz="1200" b="1" i="0" cap="all" spc="200" baseline="0" dirty="0">
                          <a:solidFill>
                            <a:schemeClr val="tx1"/>
                          </a:solidFill>
                          <a:latin typeface="Whitney Book"/>
                        </a:rPr>
                        <a:t>Oligopoly</a:t>
                      </a:r>
                    </a:p>
                  </a:txBody>
                  <a:tcPr marL="69584" marR="69584" marT="34792" marB="34792"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pPr algn="ctr"/>
                      <a:r>
                        <a:rPr lang="en-US" sz="1200" b="1" i="0" cap="all" spc="200" baseline="0" dirty="0">
                          <a:solidFill>
                            <a:schemeClr val="tx1"/>
                          </a:solidFill>
                          <a:latin typeface="Whitney Book"/>
                        </a:rPr>
                        <a:t>Monopoly</a:t>
                      </a:r>
                    </a:p>
                  </a:txBody>
                  <a:tcPr marL="69584" marR="69584" marT="34792" marB="34792" anchor="ctr">
                    <a:lnL w="57150" cap="flat" cmpd="sng" algn="ctr">
                      <a:solidFill>
                        <a:schemeClr val="bg1"/>
                      </a:solidFill>
                      <a:prstDash val="solid"/>
                      <a:round/>
                      <a:headEnd type="none" w="med" len="med"/>
                      <a:tailEnd type="none" w="med" len="med"/>
                    </a:lnL>
                    <a:lnB w="38100" cap="flat" cmpd="sng" algn="ctr">
                      <a:solidFill>
                        <a:schemeClr val="bg1"/>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0000"/>
                  </a:ext>
                </a:extLst>
              </a:tr>
            </a:tbl>
          </a:graphicData>
        </a:graphic>
      </p:graphicFrame>
      <p:graphicFrame>
        <p:nvGraphicFramePr>
          <p:cNvPr id="7" name="Table 6"/>
          <p:cNvGraphicFramePr>
            <a:graphicFrameLocks noGrp="1"/>
          </p:cNvGraphicFramePr>
          <p:nvPr/>
        </p:nvGraphicFramePr>
        <p:xfrm>
          <a:off x="3314908" y="2658717"/>
          <a:ext cx="1864366" cy="2398824"/>
        </p:xfrm>
        <a:graphic>
          <a:graphicData uri="http://schemas.openxmlformats.org/drawingml/2006/table">
            <a:tbl>
              <a:tblPr firstRow="1" bandRow="1">
                <a:tableStyleId>{5C22544A-7EE6-4342-B048-85BDC9FD1C3A}</a:tableStyleId>
              </a:tblPr>
              <a:tblGrid>
                <a:gridCol w="1864366">
                  <a:extLst>
                    <a:ext uri="{9D8B030D-6E8A-4147-A177-3AD203B41FA5}">
                      <a16:colId xmlns:a16="http://schemas.microsoft.com/office/drawing/2014/main" val="1897832669"/>
                    </a:ext>
                  </a:extLst>
                </a:gridCol>
              </a:tblGrid>
              <a:tr h="799608">
                <a:tc>
                  <a:txBody>
                    <a:bodyPr/>
                    <a:lstStyle/>
                    <a:p>
                      <a:pPr marL="0" indent="0" algn="ctr">
                        <a:buClr>
                          <a:schemeClr val="tx2">
                            <a:lumMod val="60000"/>
                            <a:lumOff val="40000"/>
                          </a:schemeClr>
                        </a:buClr>
                        <a:buFont typeface="Lucida Grande"/>
                        <a:buNone/>
                      </a:pPr>
                      <a:r>
                        <a:rPr lang="en-US" sz="2000" b="0" i="0" dirty="0">
                          <a:solidFill>
                            <a:schemeClr val="tx1"/>
                          </a:solidFill>
                          <a:latin typeface="Whitney Book"/>
                        </a:rPr>
                        <a:t>Many</a:t>
                      </a:r>
                    </a:p>
                  </a:txBody>
                  <a:tcPr marL="69584" marR="69584" marT="34792" marB="34792"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002"/>
                  </a:ext>
                </a:extLst>
              </a:tr>
              <a:tr h="799608">
                <a:tc>
                  <a:txBody>
                    <a:bodyPr/>
                    <a:lstStyle/>
                    <a:p>
                      <a:pPr marL="0" indent="0" algn="ctr">
                        <a:buClr>
                          <a:schemeClr val="tx2">
                            <a:lumMod val="60000"/>
                            <a:lumOff val="40000"/>
                          </a:schemeClr>
                        </a:buClr>
                        <a:buFont typeface="Lucida Grande"/>
                        <a:buNone/>
                      </a:pPr>
                      <a:r>
                        <a:rPr lang="en-US" sz="2000" b="0" i="0" dirty="0">
                          <a:solidFill>
                            <a:schemeClr val="tx1"/>
                          </a:solidFill>
                          <a:latin typeface="Whitney Book"/>
                        </a:rPr>
                        <a:t>Differentiated</a:t>
                      </a:r>
                    </a:p>
                  </a:txBody>
                  <a:tcPr marL="69584" marR="69584" marT="34792" marB="34792"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3839626279"/>
                  </a:ext>
                </a:extLst>
              </a:tr>
              <a:tr h="799608">
                <a:tc>
                  <a:txBody>
                    <a:bodyPr/>
                    <a:lstStyle/>
                    <a:p>
                      <a:pPr marL="0" indent="0" algn="ctr">
                        <a:buClr>
                          <a:schemeClr val="tx2">
                            <a:lumMod val="60000"/>
                            <a:lumOff val="40000"/>
                          </a:schemeClr>
                        </a:buClr>
                        <a:buFont typeface="Lucida Grande"/>
                        <a:buNone/>
                      </a:pPr>
                      <a:r>
                        <a:rPr lang="en-US" sz="2000" b="0" i="0" dirty="0">
                          <a:solidFill>
                            <a:schemeClr val="tx1"/>
                          </a:solidFill>
                          <a:latin typeface="Whitney Book"/>
                        </a:rPr>
                        <a:t>None</a:t>
                      </a:r>
                    </a:p>
                  </a:txBody>
                  <a:tcPr marL="69584" marR="69584" marT="34792" marB="34792"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498952176"/>
                  </a:ext>
                </a:extLst>
              </a:tr>
            </a:tbl>
          </a:graphicData>
        </a:graphic>
      </p:graphicFrame>
      <p:graphicFrame>
        <p:nvGraphicFramePr>
          <p:cNvPr id="8" name="Table 7"/>
          <p:cNvGraphicFramePr>
            <a:graphicFrameLocks noGrp="1"/>
          </p:cNvGraphicFramePr>
          <p:nvPr/>
        </p:nvGraphicFramePr>
        <p:xfrm>
          <a:off x="1591476" y="2658718"/>
          <a:ext cx="1723432" cy="2398824"/>
        </p:xfrm>
        <a:graphic>
          <a:graphicData uri="http://schemas.openxmlformats.org/drawingml/2006/table">
            <a:tbl>
              <a:tblPr firstRow="1" bandRow="1">
                <a:tableStyleId>{5C22544A-7EE6-4342-B048-85BDC9FD1C3A}</a:tableStyleId>
              </a:tblPr>
              <a:tblGrid>
                <a:gridCol w="1723432">
                  <a:extLst>
                    <a:ext uri="{9D8B030D-6E8A-4147-A177-3AD203B41FA5}">
                      <a16:colId xmlns:a16="http://schemas.microsoft.com/office/drawing/2014/main" val="1670875575"/>
                    </a:ext>
                  </a:extLst>
                </a:gridCol>
              </a:tblGrid>
              <a:tr h="799608">
                <a:tc>
                  <a:txBody>
                    <a:bodyPr/>
                    <a:lstStyle/>
                    <a:p>
                      <a:pPr marL="0" indent="0" algn="ctr">
                        <a:buClr>
                          <a:schemeClr val="tx2">
                            <a:lumMod val="60000"/>
                            <a:lumOff val="40000"/>
                          </a:schemeClr>
                        </a:buClr>
                        <a:buFont typeface="Lucida Grande"/>
                        <a:buNone/>
                      </a:pPr>
                      <a:r>
                        <a:rPr lang="en-US" sz="2000" b="0" i="0" dirty="0">
                          <a:solidFill>
                            <a:schemeClr val="tx1"/>
                          </a:solidFill>
                          <a:latin typeface="Whitney Book"/>
                        </a:rPr>
                        <a:t>Many</a:t>
                      </a:r>
                    </a:p>
                  </a:txBody>
                  <a:tcPr marL="69584" marR="69584" marT="34792" marB="34792"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extLst>
                  <a:ext uri="{0D108BD9-81ED-4DB2-BD59-A6C34878D82A}">
                    <a16:rowId xmlns:a16="http://schemas.microsoft.com/office/drawing/2014/main" val="10002"/>
                  </a:ext>
                </a:extLst>
              </a:tr>
              <a:tr h="799608">
                <a:tc>
                  <a:txBody>
                    <a:bodyPr/>
                    <a:lstStyle/>
                    <a:p>
                      <a:pPr marL="0" indent="0" algn="ctr">
                        <a:buClr>
                          <a:schemeClr val="tx2">
                            <a:lumMod val="60000"/>
                            <a:lumOff val="40000"/>
                          </a:schemeClr>
                        </a:buClr>
                        <a:buFont typeface="Lucida Grande"/>
                        <a:buNone/>
                      </a:pPr>
                      <a:r>
                        <a:rPr lang="en-US" sz="2000" b="0" i="0" dirty="0">
                          <a:solidFill>
                            <a:schemeClr val="tx1"/>
                          </a:solidFill>
                          <a:latin typeface="Whitney Book"/>
                        </a:rPr>
                        <a:t>Identical</a:t>
                      </a:r>
                    </a:p>
                  </a:txBody>
                  <a:tcPr marL="69584" marR="69584" marT="34792" marB="34792"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3839626279"/>
                  </a:ext>
                </a:extLst>
              </a:tr>
              <a:tr h="799608">
                <a:tc>
                  <a:txBody>
                    <a:bodyPr/>
                    <a:lstStyle/>
                    <a:p>
                      <a:pPr marL="0" indent="0" algn="ctr">
                        <a:buClr>
                          <a:schemeClr val="tx2">
                            <a:lumMod val="60000"/>
                            <a:lumOff val="40000"/>
                          </a:schemeClr>
                        </a:buClr>
                        <a:buFont typeface="Lucida Grande"/>
                        <a:buNone/>
                      </a:pPr>
                      <a:r>
                        <a:rPr lang="en-US" sz="2000" b="0" i="0" dirty="0">
                          <a:solidFill>
                            <a:schemeClr val="tx1"/>
                          </a:solidFill>
                          <a:latin typeface="Whitney Book"/>
                        </a:rPr>
                        <a:t>None</a:t>
                      </a:r>
                    </a:p>
                  </a:txBody>
                  <a:tcPr marL="69584" marR="69584" marT="34792" marB="34792"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498952176"/>
                  </a:ext>
                </a:extLst>
              </a:tr>
            </a:tbl>
          </a:graphicData>
        </a:graphic>
      </p:graphicFrame>
      <p:graphicFrame>
        <p:nvGraphicFramePr>
          <p:cNvPr id="10" name="Table 9"/>
          <p:cNvGraphicFramePr>
            <a:graphicFrameLocks noGrp="1"/>
          </p:cNvGraphicFramePr>
          <p:nvPr/>
        </p:nvGraphicFramePr>
        <p:xfrm>
          <a:off x="373380" y="2658718"/>
          <a:ext cx="1218096" cy="2398825"/>
        </p:xfrm>
        <a:graphic>
          <a:graphicData uri="http://schemas.openxmlformats.org/drawingml/2006/table">
            <a:tbl>
              <a:tblPr firstRow="1" bandRow="1">
                <a:tableStyleId>{5C22544A-7EE6-4342-B048-85BDC9FD1C3A}</a:tableStyleId>
              </a:tblPr>
              <a:tblGrid>
                <a:gridCol w="1218096">
                  <a:extLst>
                    <a:ext uri="{9D8B030D-6E8A-4147-A177-3AD203B41FA5}">
                      <a16:colId xmlns:a16="http://schemas.microsoft.com/office/drawing/2014/main" val="20000"/>
                    </a:ext>
                  </a:extLst>
                </a:gridCol>
              </a:tblGrid>
              <a:tr h="695559">
                <a:tc>
                  <a:txBody>
                    <a:bodyPr/>
                    <a:lstStyle/>
                    <a:p>
                      <a:pPr marL="0" indent="0" algn="ctr">
                        <a:buClr>
                          <a:schemeClr val="tx2">
                            <a:lumMod val="60000"/>
                            <a:lumOff val="40000"/>
                          </a:schemeClr>
                        </a:buClr>
                        <a:buFont typeface="Lucida Grande"/>
                        <a:buNone/>
                      </a:pPr>
                      <a:r>
                        <a:rPr lang="en-US" sz="1500" b="1" i="0" dirty="0">
                          <a:solidFill>
                            <a:schemeClr val="tx1"/>
                          </a:solidFill>
                          <a:latin typeface="Whitney Book"/>
                        </a:rPr>
                        <a:t>Number of Firms</a:t>
                      </a:r>
                    </a:p>
                  </a:txBody>
                  <a:tcPr marL="69584" marR="69584" marT="34792" marB="34792" anchor="ctr">
                    <a:lnR w="5715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0002"/>
                  </a:ext>
                </a:extLst>
              </a:tr>
              <a:tr h="1007707">
                <a:tc>
                  <a:txBody>
                    <a:bodyPr/>
                    <a:lstStyle/>
                    <a:p>
                      <a:pPr marL="0" indent="0" algn="ctr">
                        <a:buClr>
                          <a:schemeClr val="tx2">
                            <a:lumMod val="60000"/>
                            <a:lumOff val="40000"/>
                          </a:schemeClr>
                        </a:buClr>
                        <a:buFont typeface="Lucida Grande"/>
                        <a:buNone/>
                      </a:pPr>
                      <a:r>
                        <a:rPr lang="en-US" sz="1500" b="1" i="0" dirty="0">
                          <a:solidFill>
                            <a:schemeClr val="tx1"/>
                          </a:solidFill>
                          <a:latin typeface="Whitney Book"/>
                        </a:rPr>
                        <a:t>Type of Products Sold</a:t>
                      </a:r>
                    </a:p>
                  </a:txBody>
                  <a:tcPr marL="69584" marR="69584" marT="34792" marB="34792" anchor="ctr">
                    <a:lnL w="12700" cmpd="sng">
                      <a:noFill/>
                    </a:lnL>
                    <a:lnR w="5715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extLst>
                  <a:ext uri="{0D108BD9-81ED-4DB2-BD59-A6C34878D82A}">
                    <a16:rowId xmlns:a16="http://schemas.microsoft.com/office/drawing/2014/main" val="3839626279"/>
                  </a:ext>
                </a:extLst>
              </a:tr>
              <a:tr h="695559">
                <a:tc>
                  <a:txBody>
                    <a:bodyPr/>
                    <a:lstStyle/>
                    <a:p>
                      <a:pPr marL="0" indent="0" algn="ctr">
                        <a:buClr>
                          <a:schemeClr val="tx2">
                            <a:lumMod val="60000"/>
                            <a:lumOff val="40000"/>
                          </a:schemeClr>
                        </a:buClr>
                        <a:buFont typeface="Lucida Grande"/>
                        <a:buNone/>
                      </a:pPr>
                      <a:r>
                        <a:rPr lang="en-US" sz="1500" b="1" i="0" dirty="0">
                          <a:solidFill>
                            <a:schemeClr val="tx1"/>
                          </a:solidFill>
                          <a:latin typeface="Whitney Book"/>
                        </a:rPr>
                        <a:t>Barriers</a:t>
                      </a:r>
                      <a:r>
                        <a:rPr lang="en-US" sz="1500" b="1" i="0" baseline="0" dirty="0">
                          <a:solidFill>
                            <a:schemeClr val="tx1"/>
                          </a:solidFill>
                          <a:latin typeface="Whitney Book"/>
                        </a:rPr>
                        <a:t> to Entry</a:t>
                      </a:r>
                      <a:endParaRPr lang="en-US" sz="1500" b="1" i="0" dirty="0">
                        <a:solidFill>
                          <a:schemeClr val="tx1"/>
                        </a:solidFill>
                        <a:latin typeface="Whitney Book"/>
                      </a:endParaRPr>
                    </a:p>
                  </a:txBody>
                  <a:tcPr marL="69584" marR="69584" marT="34792" marB="34792" anchor="ctr">
                    <a:lnL w="12700" cmpd="sng">
                      <a:noFill/>
                    </a:lnL>
                    <a:lnR w="5715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extLst>
                  <a:ext uri="{0D108BD9-81ED-4DB2-BD59-A6C34878D82A}">
                    <a16:rowId xmlns:a16="http://schemas.microsoft.com/office/drawing/2014/main" val="498952176"/>
                  </a:ext>
                </a:extLst>
              </a:tr>
            </a:tbl>
          </a:graphicData>
        </a:graphic>
      </p:graphicFrame>
      <p:graphicFrame>
        <p:nvGraphicFramePr>
          <p:cNvPr id="11" name="Table 10"/>
          <p:cNvGraphicFramePr>
            <a:graphicFrameLocks noGrp="1"/>
          </p:cNvGraphicFramePr>
          <p:nvPr/>
        </p:nvGraphicFramePr>
        <p:xfrm>
          <a:off x="5179274" y="2658717"/>
          <a:ext cx="1626376" cy="2399059"/>
        </p:xfrm>
        <a:graphic>
          <a:graphicData uri="http://schemas.openxmlformats.org/drawingml/2006/table">
            <a:tbl>
              <a:tblPr firstRow="1" bandRow="1">
                <a:tableStyleId>{5C22544A-7EE6-4342-B048-85BDC9FD1C3A}</a:tableStyleId>
              </a:tblPr>
              <a:tblGrid>
                <a:gridCol w="1626376">
                  <a:extLst>
                    <a:ext uri="{9D8B030D-6E8A-4147-A177-3AD203B41FA5}">
                      <a16:colId xmlns:a16="http://schemas.microsoft.com/office/drawing/2014/main" val="20001"/>
                    </a:ext>
                  </a:extLst>
                </a:gridCol>
              </a:tblGrid>
              <a:tr h="806325">
                <a:tc>
                  <a:txBody>
                    <a:bodyPr/>
                    <a:lstStyle/>
                    <a:p>
                      <a:pPr marL="0" indent="0" algn="ctr">
                        <a:buClr>
                          <a:schemeClr val="tx2">
                            <a:lumMod val="60000"/>
                            <a:lumOff val="40000"/>
                          </a:schemeClr>
                        </a:buClr>
                        <a:buFont typeface="Lucida Grande"/>
                        <a:buNone/>
                      </a:pPr>
                      <a:r>
                        <a:rPr lang="en-US" sz="2000" b="0" i="0" dirty="0">
                          <a:solidFill>
                            <a:schemeClr val="tx1"/>
                          </a:solidFill>
                          <a:latin typeface="Whitney Book"/>
                        </a:rPr>
                        <a:t>Few</a:t>
                      </a:r>
                    </a:p>
                  </a:txBody>
                  <a:tcPr marL="69584" marR="69584" marT="34792" marB="34792"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extLst>
                  <a:ext uri="{0D108BD9-81ED-4DB2-BD59-A6C34878D82A}">
                    <a16:rowId xmlns:a16="http://schemas.microsoft.com/office/drawing/2014/main" val="10002"/>
                  </a:ext>
                </a:extLst>
              </a:tr>
              <a:tr h="792634">
                <a:tc>
                  <a:txBody>
                    <a:bodyPr/>
                    <a:lstStyle/>
                    <a:p>
                      <a:pPr marL="0" indent="0" algn="ctr">
                        <a:buClr>
                          <a:schemeClr val="tx2">
                            <a:lumMod val="60000"/>
                            <a:lumOff val="40000"/>
                          </a:schemeClr>
                        </a:buClr>
                        <a:buFont typeface="Lucida Grande"/>
                        <a:buNone/>
                      </a:pPr>
                      <a:r>
                        <a:rPr lang="en-US" sz="2000" b="0" i="0" dirty="0">
                          <a:solidFill>
                            <a:schemeClr val="tx1"/>
                          </a:solidFill>
                          <a:latin typeface="Whitney Book"/>
                        </a:rPr>
                        <a:t>Identical or Differentiated</a:t>
                      </a:r>
                    </a:p>
                  </a:txBody>
                  <a:tcPr marL="69584" marR="69584" marT="34792" marB="34792"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3839626279"/>
                  </a:ext>
                </a:extLst>
              </a:tr>
              <a:tr h="800100">
                <a:tc>
                  <a:txBody>
                    <a:bodyPr/>
                    <a:lstStyle/>
                    <a:p>
                      <a:pPr marL="0" indent="0" algn="ctr">
                        <a:buClr>
                          <a:schemeClr val="tx2">
                            <a:lumMod val="60000"/>
                            <a:lumOff val="40000"/>
                          </a:schemeClr>
                        </a:buClr>
                        <a:buFont typeface="Lucida Grande"/>
                        <a:buNone/>
                      </a:pPr>
                      <a:r>
                        <a:rPr lang="en-US" sz="2000" b="0" i="0" dirty="0">
                          <a:solidFill>
                            <a:schemeClr val="tx1"/>
                          </a:solidFill>
                          <a:latin typeface="Whitney Book"/>
                        </a:rPr>
                        <a:t>Some</a:t>
                      </a:r>
                    </a:p>
                  </a:txBody>
                  <a:tcPr marL="69584" marR="69584" marT="34792" marB="34792"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498952176"/>
                  </a:ext>
                </a:extLst>
              </a:tr>
            </a:tbl>
          </a:graphicData>
        </a:graphic>
      </p:graphicFrame>
    </p:spTree>
    <p:extLst>
      <p:ext uri="{BB962C8B-B14F-4D97-AF65-F5344CB8AC3E}">
        <p14:creationId xmlns:p14="http://schemas.microsoft.com/office/powerpoint/2010/main" val="2350643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0-#ppt_w/2"/>
                                          </p:val>
                                        </p:tav>
                                        <p:tav tm="100000">
                                          <p:val>
                                            <p:strVal val="#ppt_x"/>
                                          </p:val>
                                        </p:tav>
                                      </p:tavLst>
                                    </p:anim>
                                    <p:anim calcmode="lin" valueType="num">
                                      <p:cBhvr additive="base">
                                        <p:cTn id="14"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0-#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0-#ppt_w/2"/>
                                          </p:val>
                                        </p:tav>
                                        <p:tav tm="100000">
                                          <p:val>
                                            <p:strVal val="#ppt_x"/>
                                          </p:val>
                                        </p:tav>
                                      </p:tavLst>
                                    </p:anim>
                                    <p:anim calcmode="lin" valueType="num">
                                      <p:cBhvr additive="base">
                                        <p:cTn id="26"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0-#ppt_w/2"/>
                                          </p:val>
                                        </p:tav>
                                        <p:tav tm="100000">
                                          <p:val>
                                            <p:strVal val="#ppt_x"/>
                                          </p:val>
                                        </p:tav>
                                      </p:tavLst>
                                    </p:anim>
                                    <p:anim calcmode="lin" valueType="num">
                                      <p:cBhvr additive="base">
                                        <p:cTn id="32"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additive="base">
                                        <p:cTn id="37" dur="500" fill="hold"/>
                                        <p:tgtEl>
                                          <p:spTgt spid="3"/>
                                        </p:tgtEl>
                                        <p:attrNameLst>
                                          <p:attrName>ppt_x</p:attrName>
                                        </p:attrNameLst>
                                      </p:cBhvr>
                                      <p:tavLst>
                                        <p:tav tm="0">
                                          <p:val>
                                            <p:strVal val="0-#ppt_w/2"/>
                                          </p:val>
                                        </p:tav>
                                        <p:tav tm="100000">
                                          <p:val>
                                            <p:strVal val="#ppt_x"/>
                                          </p:val>
                                        </p:tav>
                                      </p:tavLst>
                                    </p:anim>
                                    <p:anim calcmode="lin" valueType="num">
                                      <p:cBhvr additive="base">
                                        <p:cTn id="3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E2AD919B-8AE5-41EC-80FA-CD392DC337F5}"/>
              </a:ext>
            </a:extLst>
          </p:cNvPr>
          <p:cNvGrpSpPr/>
          <p:nvPr/>
        </p:nvGrpSpPr>
        <p:grpSpPr>
          <a:xfrm>
            <a:off x="3102159" y="4367636"/>
            <a:ext cx="2182920" cy="2335939"/>
            <a:chOff x="3102159" y="4367636"/>
            <a:chExt cx="2182920" cy="2335939"/>
          </a:xfrm>
        </p:grpSpPr>
        <p:pic>
          <p:nvPicPr>
            <p:cNvPr id="24" name="Picture 23">
              <a:extLst>
                <a:ext uri="{FF2B5EF4-FFF2-40B4-BE49-F238E27FC236}">
                  <a16:creationId xmlns:a16="http://schemas.microsoft.com/office/drawing/2014/main" id="{409E8972-993F-4513-947D-091FF6DE20F5}"/>
                </a:ext>
              </a:extLst>
            </p:cNvPr>
            <p:cNvPicPr>
              <a:picLocks noChangeAspect="1"/>
            </p:cNvPicPr>
            <p:nvPr/>
          </p:nvPicPr>
          <p:blipFill>
            <a:blip r:embed="rId3"/>
            <a:stretch>
              <a:fillRect/>
            </a:stretch>
          </p:blipFill>
          <p:spPr>
            <a:xfrm>
              <a:off x="3102159" y="4367636"/>
              <a:ext cx="2182920" cy="2039838"/>
            </a:xfrm>
            <a:prstGeom prst="rect">
              <a:avLst/>
            </a:prstGeom>
          </p:spPr>
        </p:pic>
        <p:sp>
          <p:nvSpPr>
            <p:cNvPr id="26" name="TextBox 25">
              <a:extLst>
                <a:ext uri="{FF2B5EF4-FFF2-40B4-BE49-F238E27FC236}">
                  <a16:creationId xmlns:a16="http://schemas.microsoft.com/office/drawing/2014/main" id="{A61D456A-51E0-4BAC-966F-6EA3A09FF5B4}"/>
                </a:ext>
              </a:extLst>
            </p:cNvPr>
            <p:cNvSpPr txBox="1"/>
            <p:nvPr/>
          </p:nvSpPr>
          <p:spPr>
            <a:xfrm>
              <a:off x="3211169" y="6365021"/>
              <a:ext cx="1912306" cy="338554"/>
            </a:xfrm>
            <a:prstGeom prst="rect">
              <a:avLst/>
            </a:prstGeom>
            <a:noFill/>
          </p:spPr>
          <p:txBody>
            <a:bodyPr wrap="square" rtlCol="0">
              <a:spAutoFit/>
            </a:bodyPr>
            <a:lstStyle/>
            <a:p>
              <a:r>
                <a:rPr lang="en-US" sz="1600" dirty="0"/>
                <a:t>Restaurants in </a:t>
              </a:r>
              <a:r>
                <a:rPr lang="en-US" sz="1600" dirty="0" err="1"/>
                <a:t>WeHo</a:t>
              </a:r>
              <a:endParaRPr lang="en-US" sz="1600" dirty="0"/>
            </a:p>
          </p:txBody>
        </p:sp>
      </p:grpSp>
      <p:sp>
        <p:nvSpPr>
          <p:cNvPr id="2" name="Title 1"/>
          <p:cNvSpPr>
            <a:spLocks noGrp="1"/>
          </p:cNvSpPr>
          <p:nvPr>
            <p:ph type="title"/>
          </p:nvPr>
        </p:nvSpPr>
        <p:spPr/>
        <p:txBody>
          <a:bodyPr>
            <a:normAutofit fontScale="90000"/>
          </a:bodyPr>
          <a:lstStyle/>
          <a:p>
            <a:r>
              <a:rPr lang="en-US" dirty="0"/>
              <a:t>Extent of market power: </a:t>
            </a:r>
            <a:br>
              <a:rPr lang="en-US" dirty="0"/>
            </a:br>
            <a:r>
              <a:rPr lang="en-US" dirty="0"/>
              <a:t>price takers vs price searchers</a:t>
            </a:r>
          </a:p>
        </p:txBody>
      </p:sp>
      <p:sp>
        <p:nvSpPr>
          <p:cNvPr id="9" name="Slide Number Placeholder 8"/>
          <p:cNvSpPr>
            <a:spLocks noGrp="1"/>
          </p:cNvSpPr>
          <p:nvPr>
            <p:ph type="sldNum" sz="quarter" idx="12"/>
          </p:nvPr>
        </p:nvSpPr>
        <p:spPr/>
        <p:txBody>
          <a:bodyPr/>
          <a:lstStyle/>
          <a:p>
            <a:fld id="{0F3206DB-9488-D04D-BDD1-A7C9D84C4579}" type="slidenum">
              <a:rPr lang="en-US" smtClean="0"/>
              <a:t>7</a:t>
            </a:fld>
            <a:endParaRPr lang="en-US"/>
          </a:p>
        </p:txBody>
      </p:sp>
      <p:grpSp>
        <p:nvGrpSpPr>
          <p:cNvPr id="5" name="Group 5"/>
          <p:cNvGrpSpPr>
            <a:grpSpLocks/>
          </p:cNvGrpSpPr>
          <p:nvPr/>
        </p:nvGrpSpPr>
        <p:grpSpPr bwMode="auto">
          <a:xfrm>
            <a:off x="99303" y="1808320"/>
            <a:ext cx="9088887" cy="638576"/>
            <a:chOff x="191" y="1628"/>
            <a:chExt cx="5442" cy="382"/>
          </a:xfrm>
        </p:grpSpPr>
        <p:sp>
          <p:nvSpPr>
            <p:cNvPr id="6" name="Rectangle 6"/>
            <p:cNvSpPr>
              <a:spLocks noChangeArrowheads="1"/>
            </p:cNvSpPr>
            <p:nvPr/>
          </p:nvSpPr>
          <p:spPr bwMode="auto">
            <a:xfrm>
              <a:off x="191" y="1628"/>
              <a:ext cx="1880" cy="376"/>
            </a:xfrm>
            <a:prstGeom prst="rect">
              <a:avLst/>
            </a:prstGeom>
            <a:noFill/>
            <a:ln w="9525">
              <a:noFill/>
              <a:miter lim="800000"/>
              <a:headEnd/>
              <a:tailEnd/>
            </a:ln>
            <a:effectLst/>
          </p:spPr>
          <p:txBody>
            <a:bodyPr wrap="none" lIns="19050" tIns="26988" rIns="19050" bIns="26988"/>
            <a:lstStyle/>
            <a:p>
              <a:pPr algn="ctr">
                <a:lnSpc>
                  <a:spcPts val="2947"/>
                </a:lnSpc>
                <a:spcAft>
                  <a:spcPts val="947"/>
                </a:spcAft>
                <a:tabLst>
                  <a:tab pos="481157" algn="l"/>
                  <a:tab pos="962315" algn="l"/>
                  <a:tab pos="1443472" algn="l"/>
                </a:tabLst>
              </a:pPr>
              <a:r>
                <a:rPr lang="en-US" sz="2800" b="0" dirty="0">
                  <a:latin typeface="Whitney-Book" pitchFamily="50" charset="0"/>
                  <a:cs typeface="Whitney-Book" pitchFamily="50" charset="0"/>
                </a:rPr>
                <a:t>Least Market Power</a:t>
              </a:r>
            </a:p>
          </p:txBody>
        </p:sp>
        <p:sp>
          <p:nvSpPr>
            <p:cNvPr id="7" name="Line 7"/>
            <p:cNvSpPr>
              <a:spLocks noChangeShapeType="1"/>
            </p:cNvSpPr>
            <p:nvPr/>
          </p:nvSpPr>
          <p:spPr bwMode="auto">
            <a:xfrm>
              <a:off x="232" y="1943"/>
              <a:ext cx="5232" cy="0"/>
            </a:xfrm>
            <a:prstGeom prst="line">
              <a:avLst/>
            </a:prstGeom>
            <a:noFill/>
            <a:ln w="50800">
              <a:solidFill>
                <a:schemeClr val="accent1">
                  <a:lumMod val="75000"/>
                </a:schemeClr>
              </a:solidFill>
              <a:round/>
              <a:headEnd type="stealth" w="med" len="lg"/>
              <a:tailEnd type="stealth" w="med" len="lg"/>
            </a:ln>
            <a:effectLst/>
          </p:spPr>
          <p:txBody>
            <a:bodyPr wrap="none" anchor="ctr"/>
            <a:lstStyle/>
            <a:p>
              <a:pPr algn="ctr"/>
              <a:endParaRPr lang="en-US" sz="2800" b="0">
                <a:latin typeface="Whitney-Book" pitchFamily="50" charset="0"/>
                <a:cs typeface="Whitney-Book" pitchFamily="50" charset="0"/>
              </a:endParaRPr>
            </a:p>
          </p:txBody>
        </p:sp>
        <p:sp>
          <p:nvSpPr>
            <p:cNvPr id="8" name="Rectangle 8"/>
            <p:cNvSpPr>
              <a:spLocks noChangeArrowheads="1"/>
            </p:cNvSpPr>
            <p:nvPr/>
          </p:nvSpPr>
          <p:spPr bwMode="auto">
            <a:xfrm>
              <a:off x="3513" y="1634"/>
              <a:ext cx="2120" cy="376"/>
            </a:xfrm>
            <a:prstGeom prst="rect">
              <a:avLst/>
            </a:prstGeom>
            <a:noFill/>
            <a:ln w="9525">
              <a:noFill/>
              <a:miter lim="800000"/>
              <a:headEnd/>
              <a:tailEnd/>
            </a:ln>
            <a:effectLst/>
          </p:spPr>
          <p:txBody>
            <a:bodyPr wrap="none" lIns="19050" tIns="26988" rIns="19050" bIns="26988"/>
            <a:lstStyle/>
            <a:p>
              <a:pPr algn="ctr">
                <a:lnSpc>
                  <a:spcPts val="2947"/>
                </a:lnSpc>
                <a:spcAft>
                  <a:spcPts val="947"/>
                </a:spcAft>
                <a:tabLst>
                  <a:tab pos="481157" algn="l"/>
                  <a:tab pos="962315" algn="l"/>
                  <a:tab pos="1443472" algn="l"/>
                </a:tabLst>
              </a:pPr>
              <a:r>
                <a:rPr lang="en-US" sz="2800" b="0" dirty="0">
                  <a:latin typeface="Whitney-Book" pitchFamily="50" charset="0"/>
                  <a:cs typeface="Whitney-Book" pitchFamily="50" charset="0"/>
                </a:rPr>
                <a:t>Most Market Power</a:t>
              </a:r>
            </a:p>
          </p:txBody>
        </p:sp>
      </p:grpSp>
      <p:grpSp>
        <p:nvGrpSpPr>
          <p:cNvPr id="32" name="Group 31"/>
          <p:cNvGrpSpPr/>
          <p:nvPr/>
        </p:nvGrpSpPr>
        <p:grpSpPr>
          <a:xfrm>
            <a:off x="167779" y="2617404"/>
            <a:ext cx="2792469" cy="1041447"/>
            <a:chOff x="167779" y="2617404"/>
            <a:chExt cx="2792469" cy="1041447"/>
          </a:xfrm>
        </p:grpSpPr>
        <p:sp>
          <p:nvSpPr>
            <p:cNvPr id="11" name="Rectangle 11"/>
            <p:cNvSpPr>
              <a:spLocks noChangeArrowheads="1"/>
            </p:cNvSpPr>
            <p:nvPr/>
          </p:nvSpPr>
          <p:spPr bwMode="auto">
            <a:xfrm>
              <a:off x="167779" y="2617404"/>
              <a:ext cx="2658858" cy="1041447"/>
            </a:xfrm>
            <a:prstGeom prst="rect">
              <a:avLst/>
            </a:prstGeom>
            <a:noFill/>
            <a:ln w="9525">
              <a:noFill/>
              <a:miter lim="800000"/>
              <a:headEnd/>
              <a:tailEnd/>
            </a:ln>
            <a:effectLst/>
          </p:spPr>
          <p:txBody>
            <a:bodyPr wrap="none" lIns="19050" tIns="26988" rIns="19050" bIns="26988"/>
            <a:lstStyle/>
            <a:p>
              <a:pPr algn="ctr">
                <a:lnSpc>
                  <a:spcPts val="2947"/>
                </a:lnSpc>
                <a:spcAft>
                  <a:spcPts val="947"/>
                </a:spcAft>
                <a:tabLst>
                  <a:tab pos="481157" algn="l"/>
                  <a:tab pos="962315" algn="l"/>
                  <a:tab pos="1443472" algn="l"/>
                </a:tabLst>
              </a:pPr>
              <a:r>
                <a:rPr lang="en-US" sz="2800" b="0" dirty="0">
                  <a:latin typeface="Whitney-Book" pitchFamily="50" charset="0"/>
                  <a:cs typeface="Whitney-Book" pitchFamily="50" charset="0"/>
                </a:rPr>
                <a:t>Perfect </a:t>
              </a:r>
            </a:p>
            <a:p>
              <a:pPr algn="ctr">
                <a:lnSpc>
                  <a:spcPts val="2947"/>
                </a:lnSpc>
                <a:spcAft>
                  <a:spcPts val="947"/>
                </a:spcAft>
                <a:tabLst>
                  <a:tab pos="481157" algn="l"/>
                  <a:tab pos="962315" algn="l"/>
                  <a:tab pos="1443472" algn="l"/>
                </a:tabLst>
              </a:pPr>
              <a:r>
                <a:rPr lang="en-US" sz="2800" b="0" dirty="0">
                  <a:latin typeface="Whitney-Book" pitchFamily="50" charset="0"/>
                  <a:cs typeface="Whitney-Book" pitchFamily="50" charset="0"/>
                </a:rPr>
                <a:t>Competition</a:t>
              </a:r>
            </a:p>
          </p:txBody>
        </p:sp>
        <p:sp>
          <p:nvSpPr>
            <p:cNvPr id="13" name="Line 13"/>
            <p:cNvSpPr>
              <a:spLocks noChangeShapeType="1"/>
            </p:cNvSpPr>
            <p:nvPr/>
          </p:nvSpPr>
          <p:spPr bwMode="auto">
            <a:xfrm>
              <a:off x="2960248" y="2617404"/>
              <a:ext cx="0" cy="894340"/>
            </a:xfrm>
            <a:prstGeom prst="line">
              <a:avLst/>
            </a:prstGeom>
            <a:noFill/>
            <a:ln w="50800">
              <a:solidFill>
                <a:srgbClr val="C00000"/>
              </a:solidFill>
              <a:round/>
              <a:headEnd type="none" w="sm" len="sm"/>
              <a:tailEnd type="none" w="sm" len="sm"/>
            </a:ln>
            <a:effectLst/>
          </p:spPr>
          <p:txBody>
            <a:bodyPr wrap="none" anchor="ctr"/>
            <a:lstStyle/>
            <a:p>
              <a:pPr algn="ctr"/>
              <a:endParaRPr lang="en-US" sz="2800" b="0">
                <a:latin typeface="Whitney-Book" pitchFamily="50" charset="0"/>
                <a:cs typeface="Whitney-Book" pitchFamily="50" charset="0"/>
              </a:endParaRPr>
            </a:p>
          </p:txBody>
        </p:sp>
      </p:grpSp>
      <p:grpSp>
        <p:nvGrpSpPr>
          <p:cNvPr id="14" name="Group 25"/>
          <p:cNvGrpSpPr>
            <a:grpSpLocks/>
          </p:cNvGrpSpPr>
          <p:nvPr/>
        </p:nvGrpSpPr>
        <p:grpSpPr bwMode="auto">
          <a:xfrm>
            <a:off x="3093859" y="2602359"/>
            <a:ext cx="2137775" cy="1002998"/>
            <a:chOff x="1984" y="2103"/>
            <a:chExt cx="1280" cy="600"/>
          </a:xfrm>
        </p:grpSpPr>
        <p:sp>
          <p:nvSpPr>
            <p:cNvPr id="15" name="Rectangle 15"/>
            <p:cNvSpPr>
              <a:spLocks noChangeArrowheads="1"/>
            </p:cNvSpPr>
            <p:nvPr/>
          </p:nvSpPr>
          <p:spPr bwMode="auto">
            <a:xfrm>
              <a:off x="1984" y="2103"/>
              <a:ext cx="1232" cy="600"/>
            </a:xfrm>
            <a:prstGeom prst="rect">
              <a:avLst/>
            </a:prstGeom>
            <a:noFill/>
            <a:ln w="9525">
              <a:noFill/>
              <a:miter lim="800000"/>
              <a:headEnd/>
              <a:tailEnd/>
            </a:ln>
            <a:effectLst/>
          </p:spPr>
          <p:txBody>
            <a:bodyPr wrap="none" lIns="19050" tIns="26988" rIns="19050" bIns="26988"/>
            <a:lstStyle/>
            <a:p>
              <a:pPr algn="ctr">
                <a:lnSpc>
                  <a:spcPts val="2947"/>
                </a:lnSpc>
                <a:spcAft>
                  <a:spcPts val="947"/>
                </a:spcAft>
                <a:tabLst>
                  <a:tab pos="481157" algn="l"/>
                  <a:tab pos="962315" algn="l"/>
                  <a:tab pos="1443472" algn="l"/>
                </a:tabLst>
              </a:pPr>
              <a:r>
                <a:rPr lang="en-US" sz="2800" b="0" dirty="0">
                  <a:latin typeface="Whitney-Book" pitchFamily="50" charset="0"/>
                  <a:cs typeface="Whitney-Book" pitchFamily="50" charset="0"/>
                </a:rPr>
                <a:t>Monopolistic </a:t>
              </a:r>
              <a:br>
                <a:rPr lang="en-US" sz="2800" b="0" dirty="0">
                  <a:latin typeface="Whitney-Book" pitchFamily="50" charset="0"/>
                  <a:cs typeface="Whitney-Book" pitchFamily="50" charset="0"/>
                </a:rPr>
              </a:br>
              <a:r>
                <a:rPr lang="en-US" sz="2800" b="0" dirty="0">
                  <a:latin typeface="Whitney-Book" pitchFamily="50" charset="0"/>
                  <a:cs typeface="Whitney-Book" pitchFamily="50" charset="0"/>
                </a:rPr>
                <a:t>Competition</a:t>
              </a:r>
            </a:p>
          </p:txBody>
        </p:sp>
        <p:sp>
          <p:nvSpPr>
            <p:cNvPr id="16" name="Line 16"/>
            <p:cNvSpPr>
              <a:spLocks noChangeShapeType="1"/>
            </p:cNvSpPr>
            <p:nvPr/>
          </p:nvSpPr>
          <p:spPr bwMode="auto">
            <a:xfrm>
              <a:off x="3264" y="2127"/>
              <a:ext cx="0" cy="520"/>
            </a:xfrm>
            <a:prstGeom prst="line">
              <a:avLst/>
            </a:prstGeom>
            <a:noFill/>
            <a:ln w="50800">
              <a:solidFill>
                <a:srgbClr val="C00000"/>
              </a:solidFill>
              <a:round/>
              <a:headEnd type="none" w="sm" len="sm"/>
              <a:tailEnd type="none" w="sm" len="sm"/>
            </a:ln>
            <a:effectLst/>
          </p:spPr>
          <p:txBody>
            <a:bodyPr wrap="none" anchor="ctr"/>
            <a:lstStyle/>
            <a:p>
              <a:pPr algn="ctr"/>
              <a:endParaRPr lang="en-US" sz="2800" b="0">
                <a:latin typeface="Whitney-Book" pitchFamily="50" charset="0"/>
                <a:cs typeface="Whitney-Book" pitchFamily="50" charset="0"/>
              </a:endParaRPr>
            </a:p>
          </p:txBody>
        </p:sp>
      </p:grpSp>
      <p:grpSp>
        <p:nvGrpSpPr>
          <p:cNvPr id="17" name="Group 17"/>
          <p:cNvGrpSpPr>
            <a:grpSpLocks/>
          </p:cNvGrpSpPr>
          <p:nvPr/>
        </p:nvGrpSpPr>
        <p:grpSpPr bwMode="auto">
          <a:xfrm>
            <a:off x="5285079" y="2602359"/>
            <a:ext cx="1683498" cy="909385"/>
            <a:chOff x="3280" y="2103"/>
            <a:chExt cx="1008" cy="544"/>
          </a:xfrm>
        </p:grpSpPr>
        <p:sp>
          <p:nvSpPr>
            <p:cNvPr id="18" name="Rectangle 18"/>
            <p:cNvSpPr>
              <a:spLocks noChangeArrowheads="1"/>
            </p:cNvSpPr>
            <p:nvPr/>
          </p:nvSpPr>
          <p:spPr bwMode="auto">
            <a:xfrm>
              <a:off x="3280" y="2103"/>
              <a:ext cx="960" cy="376"/>
            </a:xfrm>
            <a:prstGeom prst="rect">
              <a:avLst/>
            </a:prstGeom>
            <a:noFill/>
            <a:ln w="9525">
              <a:noFill/>
              <a:miter lim="800000"/>
              <a:headEnd/>
              <a:tailEnd/>
            </a:ln>
            <a:effectLst/>
          </p:spPr>
          <p:txBody>
            <a:bodyPr wrap="none" lIns="19050" tIns="26988" rIns="19050" bIns="26988"/>
            <a:lstStyle/>
            <a:p>
              <a:pPr algn="ctr">
                <a:lnSpc>
                  <a:spcPts val="2947"/>
                </a:lnSpc>
                <a:spcAft>
                  <a:spcPts val="947"/>
                </a:spcAft>
                <a:tabLst>
                  <a:tab pos="481157" algn="l"/>
                  <a:tab pos="962315" algn="l"/>
                  <a:tab pos="1443472" algn="l"/>
                </a:tabLst>
              </a:pPr>
              <a:r>
                <a:rPr lang="en-US" sz="2800" b="0" dirty="0">
                  <a:latin typeface="Whitney-Book" pitchFamily="50" charset="0"/>
                  <a:cs typeface="Whitney-Book" pitchFamily="50" charset="0"/>
                </a:rPr>
                <a:t>Oligopoly</a:t>
              </a:r>
            </a:p>
          </p:txBody>
        </p:sp>
        <p:sp>
          <p:nvSpPr>
            <p:cNvPr id="19" name="Line 19"/>
            <p:cNvSpPr>
              <a:spLocks noChangeShapeType="1"/>
            </p:cNvSpPr>
            <p:nvPr/>
          </p:nvSpPr>
          <p:spPr bwMode="auto">
            <a:xfrm>
              <a:off x="4288" y="2119"/>
              <a:ext cx="0" cy="528"/>
            </a:xfrm>
            <a:prstGeom prst="line">
              <a:avLst/>
            </a:prstGeom>
            <a:noFill/>
            <a:ln w="50800">
              <a:solidFill>
                <a:srgbClr val="C00000"/>
              </a:solidFill>
              <a:round/>
              <a:headEnd type="none" w="sm" len="sm"/>
              <a:tailEnd type="none" w="sm" len="sm"/>
            </a:ln>
            <a:effectLst/>
          </p:spPr>
          <p:txBody>
            <a:bodyPr wrap="none" anchor="ctr"/>
            <a:lstStyle/>
            <a:p>
              <a:pPr algn="ctr"/>
              <a:endParaRPr lang="en-US" sz="2800" b="0">
                <a:latin typeface="Whitney-Book" pitchFamily="50" charset="0"/>
                <a:cs typeface="Whitney-Book" pitchFamily="50" charset="0"/>
              </a:endParaRPr>
            </a:p>
          </p:txBody>
        </p:sp>
      </p:grpSp>
      <p:sp>
        <p:nvSpPr>
          <p:cNvPr id="20" name="Rectangle 20"/>
          <p:cNvSpPr>
            <a:spLocks noChangeArrowheads="1"/>
          </p:cNvSpPr>
          <p:nvPr/>
        </p:nvSpPr>
        <p:spPr bwMode="auto">
          <a:xfrm>
            <a:off x="7102187" y="2615732"/>
            <a:ext cx="1603333" cy="628546"/>
          </a:xfrm>
          <a:prstGeom prst="rect">
            <a:avLst/>
          </a:prstGeom>
          <a:noFill/>
          <a:ln w="9525">
            <a:noFill/>
            <a:miter lim="800000"/>
            <a:headEnd/>
            <a:tailEnd/>
          </a:ln>
          <a:effectLst/>
        </p:spPr>
        <p:txBody>
          <a:bodyPr wrap="none" lIns="20048" tIns="28402" rIns="20048" bIns="28402"/>
          <a:lstStyle/>
          <a:p>
            <a:pPr algn="ctr">
              <a:lnSpc>
                <a:spcPts val="2947"/>
              </a:lnSpc>
              <a:spcAft>
                <a:spcPts val="947"/>
              </a:spcAft>
              <a:tabLst>
                <a:tab pos="481157" algn="l"/>
                <a:tab pos="962315" algn="l"/>
                <a:tab pos="1443472" algn="l"/>
              </a:tabLst>
            </a:pPr>
            <a:r>
              <a:rPr lang="en-US" sz="2800" b="0" dirty="0">
                <a:latin typeface="Whitney-Book" pitchFamily="50" charset="0"/>
                <a:cs typeface="Whitney-Book" pitchFamily="50" charset="0"/>
              </a:rPr>
              <a:t>Monopoly</a:t>
            </a:r>
          </a:p>
        </p:txBody>
      </p:sp>
      <p:grpSp>
        <p:nvGrpSpPr>
          <p:cNvPr id="31" name="Group 30"/>
          <p:cNvGrpSpPr/>
          <p:nvPr/>
        </p:nvGrpSpPr>
        <p:grpSpPr>
          <a:xfrm>
            <a:off x="325607" y="3735747"/>
            <a:ext cx="8246301" cy="631889"/>
            <a:chOff x="325607" y="3735747"/>
            <a:chExt cx="8246301" cy="631889"/>
          </a:xfrm>
        </p:grpSpPr>
        <p:sp>
          <p:nvSpPr>
            <p:cNvPr id="10" name="Line 10"/>
            <p:cNvSpPr>
              <a:spLocks noChangeShapeType="1"/>
            </p:cNvSpPr>
            <p:nvPr/>
          </p:nvSpPr>
          <p:spPr bwMode="auto">
            <a:xfrm>
              <a:off x="501806" y="4248948"/>
              <a:ext cx="2378275" cy="0"/>
            </a:xfrm>
            <a:prstGeom prst="line">
              <a:avLst/>
            </a:prstGeom>
            <a:noFill/>
            <a:ln w="50800">
              <a:solidFill>
                <a:schemeClr val="accent1">
                  <a:lumMod val="75000"/>
                </a:schemeClr>
              </a:solidFill>
              <a:round/>
              <a:headEnd type="stealth" w="med" len="lg"/>
              <a:tailEnd type="stealth" w="med" len="lg"/>
            </a:ln>
            <a:effectLst/>
          </p:spPr>
          <p:txBody>
            <a:bodyPr wrap="none" anchor="ctr"/>
            <a:lstStyle/>
            <a:p>
              <a:pPr algn="ctr"/>
              <a:endParaRPr lang="en-US" sz="2800" b="0">
                <a:latin typeface="Whitney-Book" pitchFamily="50" charset="0"/>
                <a:cs typeface="Whitney-Book" pitchFamily="50" charset="0"/>
              </a:endParaRPr>
            </a:p>
          </p:txBody>
        </p:sp>
        <p:sp>
          <p:nvSpPr>
            <p:cNvPr id="12" name="Rectangle 12"/>
            <p:cNvSpPr>
              <a:spLocks noChangeArrowheads="1"/>
            </p:cNvSpPr>
            <p:nvPr/>
          </p:nvSpPr>
          <p:spPr bwMode="auto">
            <a:xfrm>
              <a:off x="325607" y="3735747"/>
              <a:ext cx="2713972" cy="628546"/>
            </a:xfrm>
            <a:prstGeom prst="rect">
              <a:avLst/>
            </a:prstGeom>
            <a:noFill/>
            <a:ln w="9525">
              <a:noFill/>
              <a:miter lim="800000"/>
              <a:headEnd/>
              <a:tailEnd/>
            </a:ln>
            <a:effectLst/>
          </p:spPr>
          <p:txBody>
            <a:bodyPr wrap="none" lIns="19050" tIns="26988" rIns="19050" bIns="26988"/>
            <a:lstStyle/>
            <a:p>
              <a:pPr algn="ctr">
                <a:lnSpc>
                  <a:spcPts val="2947"/>
                </a:lnSpc>
                <a:spcAft>
                  <a:spcPts val="947"/>
                </a:spcAft>
                <a:tabLst>
                  <a:tab pos="481157" algn="l"/>
                  <a:tab pos="962315" algn="l"/>
                  <a:tab pos="1443472" algn="l"/>
                </a:tabLst>
              </a:pPr>
              <a:r>
                <a:rPr lang="en-US" sz="2800" b="0" dirty="0">
                  <a:latin typeface="Whitney-Book" pitchFamily="50" charset="0"/>
                  <a:cs typeface="Whitney-Book" pitchFamily="50" charset="0"/>
                </a:rPr>
                <a:t>(Price Takers)</a:t>
              </a:r>
            </a:p>
          </p:txBody>
        </p:sp>
        <p:grpSp>
          <p:nvGrpSpPr>
            <p:cNvPr id="21" name="Group 21"/>
            <p:cNvGrpSpPr>
              <a:grpSpLocks/>
            </p:cNvGrpSpPr>
            <p:nvPr/>
          </p:nvGrpSpPr>
          <p:grpSpPr bwMode="auto">
            <a:xfrm>
              <a:off x="3521414" y="3739090"/>
              <a:ext cx="5050494" cy="628546"/>
              <a:chOff x="2240" y="2783"/>
              <a:chExt cx="3024" cy="376"/>
            </a:xfrm>
          </p:grpSpPr>
          <p:sp>
            <p:nvSpPr>
              <p:cNvPr id="22" name="Line 22"/>
              <p:cNvSpPr>
                <a:spLocks noChangeShapeType="1"/>
              </p:cNvSpPr>
              <p:nvPr/>
            </p:nvSpPr>
            <p:spPr bwMode="auto">
              <a:xfrm>
                <a:off x="2240" y="3079"/>
                <a:ext cx="3024" cy="0"/>
              </a:xfrm>
              <a:prstGeom prst="line">
                <a:avLst/>
              </a:prstGeom>
              <a:noFill/>
              <a:ln w="50800">
                <a:solidFill>
                  <a:schemeClr val="accent1">
                    <a:lumMod val="75000"/>
                  </a:schemeClr>
                </a:solidFill>
                <a:round/>
                <a:headEnd type="stealth" w="med" len="lg"/>
                <a:tailEnd type="stealth" w="med" len="lg"/>
              </a:ln>
              <a:effectLst/>
            </p:spPr>
            <p:txBody>
              <a:bodyPr wrap="none" anchor="ctr"/>
              <a:lstStyle/>
              <a:p>
                <a:pPr algn="ctr"/>
                <a:endParaRPr lang="en-US" sz="2800" b="0">
                  <a:latin typeface="Whitney-Book" pitchFamily="50" charset="0"/>
                  <a:cs typeface="Whitney-Book" pitchFamily="50" charset="0"/>
                </a:endParaRPr>
              </a:p>
            </p:txBody>
          </p:sp>
          <p:sp>
            <p:nvSpPr>
              <p:cNvPr id="23" name="Rectangle 23"/>
              <p:cNvSpPr>
                <a:spLocks noChangeArrowheads="1"/>
              </p:cNvSpPr>
              <p:nvPr/>
            </p:nvSpPr>
            <p:spPr bwMode="auto">
              <a:xfrm>
                <a:off x="2952" y="2783"/>
                <a:ext cx="2024" cy="376"/>
              </a:xfrm>
              <a:prstGeom prst="rect">
                <a:avLst/>
              </a:prstGeom>
              <a:noFill/>
              <a:ln w="9525">
                <a:noFill/>
                <a:miter lim="800000"/>
                <a:headEnd/>
                <a:tailEnd/>
              </a:ln>
              <a:effectLst/>
            </p:spPr>
            <p:txBody>
              <a:bodyPr wrap="none" lIns="19050" tIns="26988" rIns="19050" bIns="26988"/>
              <a:lstStyle/>
              <a:p>
                <a:pPr algn="ctr">
                  <a:lnSpc>
                    <a:spcPts val="2947"/>
                  </a:lnSpc>
                  <a:spcAft>
                    <a:spcPts val="947"/>
                  </a:spcAft>
                  <a:tabLst>
                    <a:tab pos="481157" algn="l"/>
                    <a:tab pos="962315" algn="l"/>
                    <a:tab pos="1443472" algn="l"/>
                  </a:tabLst>
                </a:pPr>
                <a:r>
                  <a:rPr lang="en-US" sz="2800" b="0" dirty="0">
                    <a:latin typeface="Whitney-Book" pitchFamily="50" charset="0"/>
                    <a:cs typeface="Whitney-Book" pitchFamily="50" charset="0"/>
                  </a:rPr>
                  <a:t>(Price Searchers)</a:t>
                </a:r>
              </a:p>
            </p:txBody>
          </p:sp>
        </p:grpSp>
      </p:grpSp>
      <p:pic>
        <p:nvPicPr>
          <p:cNvPr id="25" name="Picture 29" descr="commodities-l"/>
          <p:cNvPicPr>
            <a:picLocks noChangeAspect="1" noChangeArrowheads="1"/>
          </p:cNvPicPr>
          <p:nvPr/>
        </p:nvPicPr>
        <p:blipFill>
          <a:blip r:embed="rId4" cstate="print"/>
          <a:srcRect/>
          <a:stretch>
            <a:fillRect/>
          </a:stretch>
        </p:blipFill>
        <p:spPr bwMode="auto">
          <a:xfrm>
            <a:off x="849767" y="4720226"/>
            <a:ext cx="1314308" cy="1270049"/>
          </a:xfrm>
          <a:prstGeom prst="rect">
            <a:avLst/>
          </a:prstGeom>
          <a:noFill/>
        </p:spPr>
      </p:pic>
      <p:grpSp>
        <p:nvGrpSpPr>
          <p:cNvPr id="30" name="Group 29"/>
          <p:cNvGrpSpPr/>
          <p:nvPr/>
        </p:nvGrpSpPr>
        <p:grpSpPr>
          <a:xfrm>
            <a:off x="145387" y="1016567"/>
            <a:ext cx="4565164" cy="5096134"/>
            <a:chOff x="145387" y="1016567"/>
            <a:chExt cx="4565164" cy="5096134"/>
          </a:xfrm>
        </p:grpSpPr>
        <p:sp>
          <p:nvSpPr>
            <p:cNvPr id="3" name="Rectangle 2"/>
            <p:cNvSpPr/>
            <p:nvPr/>
          </p:nvSpPr>
          <p:spPr>
            <a:xfrm>
              <a:off x="145387" y="1398933"/>
              <a:ext cx="3093774" cy="4713768"/>
            </a:xfrm>
            <a:prstGeom prst="rect">
              <a:avLst/>
            </a:prstGeom>
            <a:noFill/>
            <a:ln w="57150">
              <a:solidFill>
                <a:srgbClr val="FF0000"/>
              </a:solidFill>
            </a:ln>
            <a:effectLst>
              <a:outerShdw blurRad="50800" dist="38100" dir="16200000"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4" name="Group 3"/>
            <p:cNvGrpSpPr/>
            <p:nvPr/>
          </p:nvGrpSpPr>
          <p:grpSpPr>
            <a:xfrm>
              <a:off x="3491351" y="1016567"/>
              <a:ext cx="1219200" cy="1042223"/>
              <a:chOff x="10123314" y="857663"/>
              <a:chExt cx="1219200" cy="1042223"/>
            </a:xfrm>
          </p:grpSpPr>
          <p:sp>
            <p:nvSpPr>
              <p:cNvPr id="28" name="Right Arrow 27"/>
              <p:cNvSpPr/>
              <p:nvPr/>
            </p:nvSpPr>
            <p:spPr bwMode="auto">
              <a:xfrm rot="10800000">
                <a:off x="10123314" y="1376967"/>
                <a:ext cx="1219200" cy="522919"/>
              </a:xfrm>
              <a:prstGeom prst="rightArrow">
                <a:avLst>
                  <a:gd name="adj1" fmla="val 50000"/>
                  <a:gd name="adj2" fmla="val 87117"/>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prstClr val="black"/>
                  </a:solidFill>
                  <a:effectLst/>
                  <a:uLnTx/>
                  <a:uFillTx/>
                  <a:latin typeface="Calibri"/>
                  <a:ea typeface="+mn-ea"/>
                  <a:cs typeface="+mn-cs"/>
                </a:endParaRPr>
              </a:p>
            </p:txBody>
          </p:sp>
          <p:sp>
            <p:nvSpPr>
              <p:cNvPr id="29" name="TextBox 28"/>
              <p:cNvSpPr txBox="1"/>
              <p:nvPr/>
            </p:nvSpPr>
            <p:spPr>
              <a:xfrm>
                <a:off x="10139684" y="857663"/>
                <a:ext cx="1202830" cy="46166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Whitney-Book" pitchFamily="50" charset="0"/>
                    <a:ea typeface="+mn-ea"/>
                    <a:cs typeface="Whitney-Book" pitchFamily="50" charset="0"/>
                  </a:rPr>
                  <a:t>TODAY</a:t>
                </a:r>
              </a:p>
            </p:txBody>
          </p:sp>
        </p:grpSp>
      </p:grpSp>
      <p:grpSp>
        <p:nvGrpSpPr>
          <p:cNvPr id="33" name="Group 32">
            <a:extLst>
              <a:ext uri="{FF2B5EF4-FFF2-40B4-BE49-F238E27FC236}">
                <a16:creationId xmlns:a16="http://schemas.microsoft.com/office/drawing/2014/main" id="{1032FD88-CFE0-4333-9117-0C0A594A5FCC}"/>
              </a:ext>
            </a:extLst>
          </p:cNvPr>
          <p:cNvGrpSpPr/>
          <p:nvPr/>
        </p:nvGrpSpPr>
        <p:grpSpPr>
          <a:xfrm>
            <a:off x="5715000" y="4720226"/>
            <a:ext cx="1270322" cy="1841754"/>
            <a:chOff x="5715000" y="5334000"/>
            <a:chExt cx="1270322" cy="1841754"/>
          </a:xfrm>
        </p:grpSpPr>
        <p:pic>
          <p:nvPicPr>
            <p:cNvPr id="34" name="Picture 28" descr="boeing">
              <a:extLst>
                <a:ext uri="{FF2B5EF4-FFF2-40B4-BE49-F238E27FC236}">
                  <a16:creationId xmlns:a16="http://schemas.microsoft.com/office/drawing/2014/main" id="{90C9ED25-C8B7-4E6B-A9B0-1EB12D6931E2}"/>
                </a:ext>
              </a:extLst>
            </p:cNvPr>
            <p:cNvPicPr>
              <a:picLocks noChangeAspect="1" noChangeArrowheads="1"/>
            </p:cNvPicPr>
            <p:nvPr/>
          </p:nvPicPr>
          <p:blipFill>
            <a:blip r:embed="rId5" cstate="print"/>
            <a:srcRect/>
            <a:stretch>
              <a:fillRect/>
            </a:stretch>
          </p:blipFill>
          <p:spPr bwMode="auto">
            <a:xfrm>
              <a:off x="5715000" y="5334000"/>
              <a:ext cx="1266173" cy="842875"/>
            </a:xfrm>
            <a:prstGeom prst="rect">
              <a:avLst/>
            </a:prstGeom>
            <a:noFill/>
          </p:spPr>
        </p:pic>
        <p:pic>
          <p:nvPicPr>
            <p:cNvPr id="35" name="Picture 1">
              <a:extLst>
                <a:ext uri="{FF2B5EF4-FFF2-40B4-BE49-F238E27FC236}">
                  <a16:creationId xmlns:a16="http://schemas.microsoft.com/office/drawing/2014/main" id="{637F22F5-F4B6-4BDF-9437-B07C68A7F414}"/>
                </a:ext>
              </a:extLst>
            </p:cNvPr>
            <p:cNvPicPr>
              <a:picLocks noChangeAspect="1" noChangeArrowheads="1"/>
            </p:cNvPicPr>
            <p:nvPr/>
          </p:nvPicPr>
          <p:blipFill>
            <a:blip r:embed="rId6" cstate="print"/>
            <a:srcRect/>
            <a:stretch>
              <a:fillRect/>
            </a:stretch>
          </p:blipFill>
          <p:spPr bwMode="auto">
            <a:xfrm>
              <a:off x="5715000" y="6172200"/>
              <a:ext cx="1270322" cy="1003554"/>
            </a:xfrm>
            <a:prstGeom prst="rect">
              <a:avLst/>
            </a:prstGeom>
            <a:noFill/>
            <a:ln w="9525">
              <a:noFill/>
              <a:miter lim="800000"/>
              <a:headEnd/>
              <a:tailEnd/>
            </a:ln>
          </p:spPr>
        </p:pic>
      </p:grpSp>
      <p:pic>
        <p:nvPicPr>
          <p:cNvPr id="36" name="Picture 4" descr="http://d2uaszwku8m8xd.cloudfront.net/wordpress/wp-content/uploads/2012/11/LADWP_Logo1.jpg">
            <a:extLst>
              <a:ext uri="{FF2B5EF4-FFF2-40B4-BE49-F238E27FC236}">
                <a16:creationId xmlns:a16="http://schemas.microsoft.com/office/drawing/2014/main" id="{53DBA754-14FE-46DA-9DF8-1EF794317C5A}"/>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536406" y="4720226"/>
            <a:ext cx="1353524" cy="14328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1862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0-#ppt_w/2"/>
                                          </p:val>
                                        </p:tav>
                                        <p:tav tm="100000">
                                          <p:val>
                                            <p:strVal val="#ppt_x"/>
                                          </p:val>
                                        </p:tav>
                                      </p:tavLst>
                                    </p:anim>
                                    <p:anim calcmode="lin" valueType="num">
                                      <p:cBhvr additive="base">
                                        <p:cTn id="8" dur="500" fill="hold"/>
                                        <p:tgtEl>
                                          <p:spTgt spid="3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500" fill="hold"/>
                                        <p:tgtEl>
                                          <p:spTgt spid="25"/>
                                        </p:tgtEl>
                                        <p:attrNameLst>
                                          <p:attrName>ppt_x</p:attrName>
                                        </p:attrNameLst>
                                      </p:cBhvr>
                                      <p:tavLst>
                                        <p:tav tm="0">
                                          <p:val>
                                            <p:strVal val="#ppt_x"/>
                                          </p:val>
                                        </p:tav>
                                        <p:tav tm="100000">
                                          <p:val>
                                            <p:strVal val="#ppt_x"/>
                                          </p:val>
                                        </p:tav>
                                      </p:tavLst>
                                    </p:anim>
                                    <p:anim calcmode="lin" valueType="num">
                                      <p:cBhvr additive="base">
                                        <p:cTn id="13"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additive="base">
                                        <p:cTn id="18" dur="500" fill="hold"/>
                                        <p:tgtEl>
                                          <p:spTgt spid="14"/>
                                        </p:tgtEl>
                                        <p:attrNameLst>
                                          <p:attrName>ppt_x</p:attrName>
                                        </p:attrNameLst>
                                      </p:cBhvr>
                                      <p:tavLst>
                                        <p:tav tm="0">
                                          <p:val>
                                            <p:strVal val="0-#ppt_w/2"/>
                                          </p:val>
                                        </p:tav>
                                        <p:tav tm="100000">
                                          <p:val>
                                            <p:strVal val="#ppt_x"/>
                                          </p:val>
                                        </p:tav>
                                      </p:tavLst>
                                    </p:anim>
                                    <p:anim calcmode="lin" valueType="num">
                                      <p:cBhvr additive="base">
                                        <p:cTn id="19" dur="500" fill="hold"/>
                                        <p:tgtEl>
                                          <p:spTgt spid="14"/>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1" presetClass="entr" presetSubtype="0" fill="hold" nodeType="after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0-#ppt_w/2"/>
                                          </p:val>
                                        </p:tav>
                                        <p:tav tm="100000">
                                          <p:val>
                                            <p:strVal val="#ppt_x"/>
                                          </p:val>
                                        </p:tav>
                                      </p:tavLst>
                                    </p:anim>
                                    <p:anim calcmode="lin" valueType="num">
                                      <p:cBhvr additive="base">
                                        <p:cTn id="28" dur="500" fill="hold"/>
                                        <p:tgtEl>
                                          <p:spTgt spid="17"/>
                                        </p:tgtEl>
                                        <p:attrNameLst>
                                          <p:attrName>ppt_y</p:attrName>
                                        </p:attrNameLst>
                                      </p:cBhvr>
                                      <p:tavLst>
                                        <p:tav tm="0">
                                          <p:val>
                                            <p:strVal val="#ppt_y"/>
                                          </p:val>
                                        </p:tav>
                                        <p:tav tm="100000">
                                          <p:val>
                                            <p:strVal val="#ppt_y"/>
                                          </p:val>
                                        </p:tav>
                                      </p:tavLst>
                                    </p:anim>
                                  </p:childTnLst>
                                </p:cTn>
                              </p:par>
                            </p:childTnLst>
                          </p:cTn>
                        </p:par>
                        <p:par>
                          <p:cTn id="29" fill="hold">
                            <p:stCondLst>
                              <p:cond delay="500"/>
                            </p:stCondLst>
                            <p:childTnLst>
                              <p:par>
                                <p:cTn id="30" presetID="1" presetClass="entr" presetSubtype="0" fill="hold" nodeType="afterEffect">
                                  <p:stCondLst>
                                    <p:cond delay="0"/>
                                  </p:stCondLst>
                                  <p:childTnLst>
                                    <p:set>
                                      <p:cBhvr>
                                        <p:cTn id="31" dur="1" fill="hold">
                                          <p:stCondLst>
                                            <p:cond delay="0"/>
                                          </p:stCondLst>
                                        </p:cTn>
                                        <p:tgtEl>
                                          <p:spTgt spid="3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anim calcmode="lin" valueType="num">
                                      <p:cBhvr additive="base">
                                        <p:cTn id="36" dur="500" fill="hold"/>
                                        <p:tgtEl>
                                          <p:spTgt spid="20"/>
                                        </p:tgtEl>
                                        <p:attrNameLst>
                                          <p:attrName>ppt_x</p:attrName>
                                        </p:attrNameLst>
                                      </p:cBhvr>
                                      <p:tavLst>
                                        <p:tav tm="0">
                                          <p:val>
                                            <p:strVal val="0-#ppt_w/2"/>
                                          </p:val>
                                        </p:tav>
                                        <p:tav tm="100000">
                                          <p:val>
                                            <p:strVal val="#ppt_x"/>
                                          </p:val>
                                        </p:tav>
                                      </p:tavLst>
                                    </p:anim>
                                    <p:anim calcmode="lin" valueType="num">
                                      <p:cBhvr additive="base">
                                        <p:cTn id="37" dur="500" fill="hold"/>
                                        <p:tgtEl>
                                          <p:spTgt spid="20"/>
                                        </p:tgtEl>
                                        <p:attrNameLst>
                                          <p:attrName>ppt_y</p:attrName>
                                        </p:attrNameLst>
                                      </p:cBhvr>
                                      <p:tavLst>
                                        <p:tav tm="0">
                                          <p:val>
                                            <p:strVal val="#ppt_y"/>
                                          </p:val>
                                        </p:tav>
                                        <p:tav tm="100000">
                                          <p:val>
                                            <p:strVal val="#ppt_y"/>
                                          </p:val>
                                        </p:tav>
                                      </p:tavLst>
                                    </p:anim>
                                  </p:childTnLst>
                                </p:cTn>
                              </p:par>
                            </p:childTnLst>
                          </p:cTn>
                        </p:par>
                        <p:par>
                          <p:cTn id="38" fill="hold">
                            <p:stCondLst>
                              <p:cond delay="500"/>
                            </p:stCondLst>
                            <p:childTnLst>
                              <p:par>
                                <p:cTn id="39" presetID="1" presetClass="entr" presetSubtype="0" fill="hold" nodeType="after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1"/>
                                        </p:tgtEl>
                                        <p:attrNameLst>
                                          <p:attrName>style.visibility</p:attrName>
                                        </p:attrNameLst>
                                      </p:cBhvr>
                                      <p:to>
                                        <p:strVal val="visible"/>
                                      </p:to>
                                    </p:set>
                                    <p:anim calcmode="lin" valueType="num">
                                      <p:cBhvr additive="base">
                                        <p:cTn id="45" dur="500" fill="hold"/>
                                        <p:tgtEl>
                                          <p:spTgt spid="31"/>
                                        </p:tgtEl>
                                        <p:attrNameLst>
                                          <p:attrName>ppt_x</p:attrName>
                                        </p:attrNameLst>
                                      </p:cBhvr>
                                      <p:tavLst>
                                        <p:tav tm="0">
                                          <p:val>
                                            <p:strVal val="#ppt_x"/>
                                          </p:val>
                                        </p:tav>
                                        <p:tav tm="100000">
                                          <p:val>
                                            <p:strVal val="#ppt_x"/>
                                          </p:val>
                                        </p:tav>
                                      </p:tavLst>
                                    </p:anim>
                                    <p:anim calcmode="lin" valueType="num">
                                      <p:cBhvr additive="base">
                                        <p:cTn id="46"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fade">
                                      <p:cBhvr>
                                        <p:cTn id="5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normAutofit fontScale="90000"/>
          </a:bodyPr>
          <a:lstStyle/>
          <a:p>
            <a:pPr algn="ctr"/>
            <a:r>
              <a:rPr lang="en-US" sz="3750" dirty="0">
                <a:latin typeface="Whitney-Medium" pitchFamily="50" charset="0"/>
                <a:cs typeface="Whitney-Medium" pitchFamily="50" charset="0"/>
              </a:rPr>
              <a:t>Perfect competition (Price takers)</a:t>
            </a:r>
          </a:p>
        </p:txBody>
      </p:sp>
      <p:sp>
        <p:nvSpPr>
          <p:cNvPr id="2" name="Slide Number Placeholder 1"/>
          <p:cNvSpPr>
            <a:spLocks noGrp="1"/>
          </p:cNvSpPr>
          <p:nvPr>
            <p:ph type="sldNum" sz="quarter" idx="12"/>
          </p:nvPr>
        </p:nvSpPr>
        <p:spPr/>
        <p:txBody>
          <a:bodyPr/>
          <a:lstStyle/>
          <a:p>
            <a:fld id="{0F3206DB-9488-D04D-BDD1-A7C9D84C4579}" type="slidenum">
              <a:rPr lang="en-US" smtClean="0"/>
              <a:t>8</a:t>
            </a:fld>
            <a:endParaRPr lang="en-US"/>
          </a:p>
        </p:txBody>
      </p:sp>
      <p:sp>
        <p:nvSpPr>
          <p:cNvPr id="55301" name="Rectangle 5"/>
          <p:cNvSpPr>
            <a:spLocks noChangeArrowheads="1"/>
          </p:cNvSpPr>
          <p:nvPr/>
        </p:nvSpPr>
        <p:spPr bwMode="auto">
          <a:xfrm>
            <a:off x="642938" y="2106296"/>
            <a:ext cx="3420388" cy="5014991"/>
          </a:xfrm>
          <a:prstGeom prst="rect">
            <a:avLst/>
          </a:prstGeom>
          <a:noFill/>
          <a:ln w="9525">
            <a:noFill/>
            <a:miter lim="800000"/>
            <a:headEnd/>
            <a:tailEnd/>
          </a:ln>
          <a:effectLst/>
        </p:spPr>
        <p:txBody>
          <a:bodyPr wrap="none" lIns="18795" tIns="26627" rIns="18795" bIns="26627"/>
          <a:lstStyle/>
          <a:p>
            <a:pPr>
              <a:lnSpc>
                <a:spcPts val="2368"/>
              </a:lnSpc>
              <a:tabLst>
                <a:tab pos="451085" algn="l"/>
                <a:tab pos="902170" algn="l"/>
                <a:tab pos="1353255" algn="l"/>
              </a:tabLst>
            </a:pPr>
            <a:r>
              <a:rPr lang="en-US" sz="2400" dirty="0">
                <a:latin typeface="Whitney-Book" pitchFamily="50" charset="0"/>
                <a:cs typeface="Whitney-Book" pitchFamily="50" charset="0"/>
              </a:rPr>
              <a:t>Number of actual or potential </a:t>
            </a:r>
            <a:br>
              <a:rPr lang="en-US" sz="2400" dirty="0">
                <a:latin typeface="Whitney-Book" pitchFamily="50" charset="0"/>
                <a:cs typeface="Whitney-Book" pitchFamily="50" charset="0"/>
              </a:rPr>
            </a:br>
            <a:r>
              <a:rPr lang="en-US" sz="2400" dirty="0">
                <a:latin typeface="Whitney-Book" pitchFamily="50" charset="0"/>
                <a:cs typeface="Whitney-Book" pitchFamily="50" charset="0"/>
              </a:rPr>
              <a:t>competitors:</a:t>
            </a:r>
          </a:p>
          <a:p>
            <a:pPr>
              <a:lnSpc>
                <a:spcPts val="2368"/>
              </a:lnSpc>
              <a:tabLst>
                <a:tab pos="451085" algn="l"/>
                <a:tab pos="902170" algn="l"/>
                <a:tab pos="1353255" algn="l"/>
              </a:tabLst>
            </a:pPr>
            <a:endParaRPr lang="en-US" sz="2400" dirty="0">
              <a:latin typeface="Whitney-Book" pitchFamily="50" charset="0"/>
              <a:cs typeface="Whitney-Book" pitchFamily="50" charset="0"/>
            </a:endParaRPr>
          </a:p>
          <a:p>
            <a:pPr>
              <a:lnSpc>
                <a:spcPts val="2368"/>
              </a:lnSpc>
              <a:tabLst>
                <a:tab pos="451085" algn="l"/>
                <a:tab pos="902170" algn="l"/>
                <a:tab pos="1353255" algn="l"/>
              </a:tabLst>
            </a:pPr>
            <a:r>
              <a:rPr lang="en-US" sz="2400" dirty="0">
                <a:latin typeface="Whitney-Book" pitchFamily="50" charset="0"/>
                <a:cs typeface="Whitney-Book" pitchFamily="50" charset="0"/>
              </a:rPr>
              <a:t>Product differentiation:</a:t>
            </a:r>
          </a:p>
          <a:p>
            <a:pPr>
              <a:lnSpc>
                <a:spcPts val="2368"/>
              </a:lnSpc>
              <a:tabLst>
                <a:tab pos="451085" algn="l"/>
                <a:tab pos="902170" algn="l"/>
                <a:tab pos="1353255" algn="l"/>
              </a:tabLst>
            </a:pPr>
            <a:endParaRPr lang="en-US" sz="2400" dirty="0">
              <a:latin typeface="Whitney-Book" pitchFamily="50" charset="0"/>
              <a:cs typeface="Whitney-Book" pitchFamily="50" charset="0"/>
            </a:endParaRPr>
          </a:p>
          <a:p>
            <a:pPr>
              <a:lnSpc>
                <a:spcPts val="2368"/>
              </a:lnSpc>
              <a:tabLst>
                <a:tab pos="451085" algn="l"/>
                <a:tab pos="902170" algn="l"/>
                <a:tab pos="1353255" algn="l"/>
              </a:tabLst>
            </a:pPr>
            <a:r>
              <a:rPr lang="en-US" sz="2400" dirty="0">
                <a:latin typeface="Whitney-Book" pitchFamily="50" charset="0"/>
                <a:cs typeface="Whitney-Book" pitchFamily="50" charset="0"/>
              </a:rPr>
              <a:t>Entry conditions:</a:t>
            </a:r>
          </a:p>
          <a:p>
            <a:pPr>
              <a:lnSpc>
                <a:spcPts val="2368"/>
              </a:lnSpc>
              <a:tabLst>
                <a:tab pos="451085" algn="l"/>
                <a:tab pos="902170" algn="l"/>
                <a:tab pos="1353255" algn="l"/>
              </a:tabLst>
            </a:pPr>
            <a:endParaRPr lang="en-US" sz="2400" dirty="0">
              <a:latin typeface="Whitney-Book" pitchFamily="50" charset="0"/>
              <a:cs typeface="Whitney-Book" pitchFamily="50" charset="0"/>
            </a:endParaRPr>
          </a:p>
          <a:p>
            <a:pPr>
              <a:lnSpc>
                <a:spcPts val="2368"/>
              </a:lnSpc>
              <a:tabLst>
                <a:tab pos="451085" algn="l"/>
                <a:tab pos="902170" algn="l"/>
                <a:tab pos="1353255" algn="l"/>
              </a:tabLst>
            </a:pPr>
            <a:r>
              <a:rPr lang="en-US" sz="2400" dirty="0">
                <a:latin typeface="Whitney-Book" pitchFamily="50" charset="0"/>
                <a:cs typeface="Whitney-Book" pitchFamily="50" charset="0"/>
              </a:rPr>
              <a:t>Profit potential:</a:t>
            </a:r>
          </a:p>
          <a:p>
            <a:pPr>
              <a:lnSpc>
                <a:spcPts val="2368"/>
              </a:lnSpc>
              <a:tabLst>
                <a:tab pos="451085" algn="l"/>
                <a:tab pos="902170" algn="l"/>
                <a:tab pos="1353255" algn="l"/>
              </a:tabLst>
            </a:pPr>
            <a:endParaRPr lang="en-US" sz="2400" dirty="0">
              <a:latin typeface="Whitney-Book" pitchFamily="50" charset="0"/>
              <a:cs typeface="Whitney-Book" pitchFamily="50" charset="0"/>
            </a:endParaRPr>
          </a:p>
          <a:p>
            <a:pPr>
              <a:lnSpc>
                <a:spcPts val="2368"/>
              </a:lnSpc>
              <a:tabLst>
                <a:tab pos="451085" algn="l"/>
                <a:tab pos="902170" algn="l"/>
                <a:tab pos="1353255" algn="l"/>
              </a:tabLst>
            </a:pPr>
            <a:endParaRPr lang="en-US" sz="2400" dirty="0">
              <a:latin typeface="Whitney-Book" pitchFamily="50" charset="0"/>
              <a:cs typeface="Whitney-Book" pitchFamily="50" charset="0"/>
            </a:endParaRPr>
          </a:p>
          <a:p>
            <a:pPr>
              <a:lnSpc>
                <a:spcPts val="2368"/>
              </a:lnSpc>
              <a:tabLst>
                <a:tab pos="451085" algn="l"/>
                <a:tab pos="902170" algn="l"/>
                <a:tab pos="1353255" algn="l"/>
              </a:tabLst>
            </a:pPr>
            <a:r>
              <a:rPr lang="en-US" sz="2400" dirty="0">
                <a:latin typeface="Whitney-Book" pitchFamily="50" charset="0"/>
                <a:cs typeface="Whitney-Book" pitchFamily="50" charset="0"/>
              </a:rPr>
              <a:t>Examples:</a:t>
            </a:r>
          </a:p>
          <a:p>
            <a:pPr>
              <a:lnSpc>
                <a:spcPts val="2368"/>
              </a:lnSpc>
              <a:tabLst>
                <a:tab pos="451085" algn="l"/>
                <a:tab pos="902170" algn="l"/>
                <a:tab pos="1353255" algn="l"/>
              </a:tabLst>
            </a:pPr>
            <a:endParaRPr lang="en-US" sz="2400" dirty="0">
              <a:latin typeface="Whitney-Book" pitchFamily="50" charset="0"/>
              <a:cs typeface="Whitney-Book" pitchFamily="50" charset="0"/>
            </a:endParaRPr>
          </a:p>
          <a:p>
            <a:pPr>
              <a:lnSpc>
                <a:spcPts val="2368"/>
              </a:lnSpc>
              <a:tabLst>
                <a:tab pos="451085" algn="l"/>
                <a:tab pos="902170" algn="l"/>
                <a:tab pos="1353255" algn="l"/>
              </a:tabLst>
            </a:pPr>
            <a:endParaRPr lang="en-US" sz="2400" dirty="0">
              <a:latin typeface="Whitney-Book" pitchFamily="50" charset="0"/>
              <a:cs typeface="Whitney-Book" pitchFamily="50" charset="0"/>
            </a:endParaRPr>
          </a:p>
          <a:p>
            <a:pPr>
              <a:lnSpc>
                <a:spcPts val="2368"/>
              </a:lnSpc>
              <a:tabLst>
                <a:tab pos="451085" algn="l"/>
                <a:tab pos="902170" algn="l"/>
                <a:tab pos="1353255" algn="l"/>
              </a:tabLst>
            </a:pPr>
            <a:endParaRPr lang="en-US" sz="2400" dirty="0">
              <a:latin typeface="Whitney-Book" pitchFamily="50" charset="0"/>
              <a:cs typeface="Whitney-Book" pitchFamily="50" charset="0"/>
            </a:endParaRPr>
          </a:p>
          <a:p>
            <a:pPr>
              <a:lnSpc>
                <a:spcPts val="2368"/>
              </a:lnSpc>
              <a:tabLst>
                <a:tab pos="451085" algn="l"/>
                <a:tab pos="902170" algn="l"/>
                <a:tab pos="1353255" algn="l"/>
              </a:tabLst>
            </a:pPr>
            <a:endParaRPr lang="en-US" sz="2400" dirty="0">
              <a:latin typeface="Whitney-Book" pitchFamily="50" charset="0"/>
              <a:cs typeface="Whitney-Book" pitchFamily="50" charset="0"/>
            </a:endParaRPr>
          </a:p>
          <a:p>
            <a:pPr>
              <a:lnSpc>
                <a:spcPts val="2368"/>
              </a:lnSpc>
              <a:tabLst>
                <a:tab pos="451085" algn="l"/>
                <a:tab pos="902170" algn="l"/>
                <a:tab pos="1353255" algn="l"/>
              </a:tabLst>
            </a:pPr>
            <a:endParaRPr lang="en-US" sz="2400" dirty="0">
              <a:latin typeface="Whitney-Book" pitchFamily="50" charset="0"/>
              <a:cs typeface="Whitney-Book" pitchFamily="50" charset="0"/>
            </a:endParaRPr>
          </a:p>
        </p:txBody>
      </p:sp>
      <p:sp>
        <p:nvSpPr>
          <p:cNvPr id="55302" name="Line 6"/>
          <p:cNvSpPr>
            <a:spLocks noChangeShapeType="1"/>
          </p:cNvSpPr>
          <p:nvPr/>
        </p:nvSpPr>
        <p:spPr bwMode="auto">
          <a:xfrm>
            <a:off x="642938" y="2000250"/>
            <a:ext cx="7853819" cy="0"/>
          </a:xfrm>
          <a:prstGeom prst="line">
            <a:avLst/>
          </a:prstGeom>
          <a:noFill/>
          <a:ln w="50800">
            <a:solidFill>
              <a:srgbClr val="C00000"/>
            </a:solidFill>
            <a:round/>
            <a:headEnd type="none" w="sm" len="sm"/>
            <a:tailEnd type="none" w="sm" len="sm"/>
          </a:ln>
          <a:effectLst/>
        </p:spPr>
        <p:txBody>
          <a:bodyPr wrap="none" lIns="90217" tIns="45109" rIns="90217" bIns="45109" anchor="ctr"/>
          <a:lstStyle/>
          <a:p>
            <a:endParaRPr lang="en-US" sz="1688">
              <a:cs typeface="Times New Roman" pitchFamily="18" charset="0"/>
            </a:endParaRPr>
          </a:p>
        </p:txBody>
      </p:sp>
      <p:sp>
        <p:nvSpPr>
          <p:cNvPr id="55303" name="Line 7"/>
          <p:cNvSpPr>
            <a:spLocks noChangeShapeType="1"/>
          </p:cNvSpPr>
          <p:nvPr/>
        </p:nvSpPr>
        <p:spPr bwMode="auto">
          <a:xfrm>
            <a:off x="642938" y="5929313"/>
            <a:ext cx="7946590" cy="0"/>
          </a:xfrm>
          <a:prstGeom prst="line">
            <a:avLst/>
          </a:prstGeom>
          <a:noFill/>
          <a:ln w="50800">
            <a:solidFill>
              <a:srgbClr val="C00000"/>
            </a:solidFill>
            <a:round/>
            <a:headEnd type="none" w="sm" len="sm"/>
            <a:tailEnd type="none" w="sm" len="sm"/>
          </a:ln>
          <a:effectLst/>
        </p:spPr>
        <p:txBody>
          <a:bodyPr wrap="none" lIns="90217" tIns="45109" rIns="90217" bIns="45109" anchor="ctr"/>
          <a:lstStyle/>
          <a:p>
            <a:endParaRPr lang="en-US" sz="1688">
              <a:cs typeface="Times New Roman" pitchFamily="18" charset="0"/>
            </a:endParaRPr>
          </a:p>
        </p:txBody>
      </p:sp>
      <p:sp>
        <p:nvSpPr>
          <p:cNvPr id="55304" name="Rectangle 8"/>
          <p:cNvSpPr>
            <a:spLocks noChangeArrowheads="1"/>
          </p:cNvSpPr>
          <p:nvPr/>
        </p:nvSpPr>
        <p:spPr bwMode="auto">
          <a:xfrm>
            <a:off x="4687670" y="2106297"/>
            <a:ext cx="4045907" cy="5315890"/>
          </a:xfrm>
          <a:prstGeom prst="rect">
            <a:avLst/>
          </a:prstGeom>
          <a:noFill/>
          <a:ln w="9525">
            <a:noFill/>
            <a:miter lim="800000"/>
            <a:headEnd/>
            <a:tailEnd/>
          </a:ln>
          <a:effectLst/>
        </p:spPr>
        <p:txBody>
          <a:bodyPr wrap="none" lIns="18795" tIns="26627" rIns="18795" bIns="26627"/>
          <a:lstStyle/>
          <a:p>
            <a:pPr>
              <a:lnSpc>
                <a:spcPts val="2368"/>
              </a:lnSpc>
              <a:tabLst>
                <a:tab pos="451085" algn="l"/>
                <a:tab pos="902170" algn="l"/>
                <a:tab pos="1353255" algn="l"/>
              </a:tabLst>
            </a:pPr>
            <a:r>
              <a:rPr lang="en-US" sz="2400" dirty="0">
                <a:latin typeface="Whitney-Book" pitchFamily="50" charset="0"/>
                <a:cs typeface="Whitney-Book" pitchFamily="50" charset="0"/>
              </a:rPr>
              <a:t>Many small sellers</a:t>
            </a:r>
          </a:p>
          <a:p>
            <a:pPr>
              <a:lnSpc>
                <a:spcPts val="2368"/>
              </a:lnSpc>
              <a:tabLst>
                <a:tab pos="451085" algn="l"/>
                <a:tab pos="902170" algn="l"/>
                <a:tab pos="1353255" algn="l"/>
              </a:tabLst>
            </a:pPr>
            <a:endParaRPr lang="en-US" sz="2400" dirty="0">
              <a:latin typeface="Whitney-Book" pitchFamily="50" charset="0"/>
              <a:cs typeface="Whitney-Book" pitchFamily="50" charset="0"/>
            </a:endParaRPr>
          </a:p>
          <a:p>
            <a:pPr>
              <a:lnSpc>
                <a:spcPts val="2368"/>
              </a:lnSpc>
              <a:tabLst>
                <a:tab pos="451085" algn="l"/>
                <a:tab pos="902170" algn="l"/>
                <a:tab pos="1353255" algn="l"/>
              </a:tabLst>
            </a:pPr>
            <a:endParaRPr lang="en-US" sz="2400" dirty="0">
              <a:latin typeface="Whitney-Book" pitchFamily="50" charset="0"/>
              <a:cs typeface="Whitney-Book" pitchFamily="50" charset="0"/>
            </a:endParaRPr>
          </a:p>
          <a:p>
            <a:pPr>
              <a:lnSpc>
                <a:spcPts val="2368"/>
              </a:lnSpc>
              <a:tabLst>
                <a:tab pos="451085" algn="l"/>
                <a:tab pos="902170" algn="l"/>
                <a:tab pos="1353255" algn="l"/>
              </a:tabLst>
            </a:pPr>
            <a:r>
              <a:rPr lang="en-US" sz="2400" dirty="0">
                <a:latin typeface="Whitney-Book" pitchFamily="50" charset="0"/>
                <a:cs typeface="Whitney-Book" pitchFamily="50" charset="0"/>
              </a:rPr>
              <a:t>None</a:t>
            </a:r>
          </a:p>
          <a:p>
            <a:pPr>
              <a:lnSpc>
                <a:spcPts val="2368"/>
              </a:lnSpc>
              <a:tabLst>
                <a:tab pos="451085" algn="l"/>
                <a:tab pos="902170" algn="l"/>
                <a:tab pos="1353255" algn="l"/>
              </a:tabLst>
            </a:pPr>
            <a:endParaRPr lang="en-US" sz="2400" dirty="0">
              <a:latin typeface="Whitney-Book" pitchFamily="50" charset="0"/>
              <a:cs typeface="Whitney-Book" pitchFamily="50" charset="0"/>
            </a:endParaRPr>
          </a:p>
          <a:p>
            <a:pPr>
              <a:lnSpc>
                <a:spcPts val="2368"/>
              </a:lnSpc>
              <a:tabLst>
                <a:tab pos="451085" algn="l"/>
                <a:tab pos="902170" algn="l"/>
                <a:tab pos="1353255" algn="l"/>
              </a:tabLst>
            </a:pPr>
            <a:r>
              <a:rPr lang="en-US" sz="2400" dirty="0">
                <a:latin typeface="Whitney-Book" pitchFamily="50" charset="0"/>
                <a:cs typeface="Whitney-Book" pitchFamily="50" charset="0"/>
              </a:rPr>
              <a:t>No barriers</a:t>
            </a:r>
          </a:p>
          <a:p>
            <a:pPr>
              <a:lnSpc>
                <a:spcPts val="2368"/>
              </a:lnSpc>
              <a:tabLst>
                <a:tab pos="451085" algn="l"/>
                <a:tab pos="902170" algn="l"/>
                <a:tab pos="1353255" algn="l"/>
              </a:tabLst>
            </a:pPr>
            <a:endParaRPr lang="en-US" sz="2400" dirty="0">
              <a:latin typeface="Whitney-Book" pitchFamily="50" charset="0"/>
              <a:cs typeface="Whitney-Book" pitchFamily="50" charset="0"/>
            </a:endParaRPr>
          </a:p>
          <a:p>
            <a:pPr>
              <a:lnSpc>
                <a:spcPts val="2368"/>
              </a:lnSpc>
              <a:tabLst>
                <a:tab pos="451085" algn="l"/>
                <a:tab pos="902170" algn="l"/>
                <a:tab pos="1353255" algn="l"/>
              </a:tabLst>
            </a:pPr>
            <a:r>
              <a:rPr lang="en-US" sz="2400" dirty="0">
                <a:latin typeface="Whitney-Book" pitchFamily="50" charset="0"/>
                <a:cs typeface="Whitney-Book" pitchFamily="50" charset="0"/>
              </a:rPr>
              <a:t>Short run: can be positive/negative</a:t>
            </a:r>
          </a:p>
          <a:p>
            <a:pPr>
              <a:lnSpc>
                <a:spcPts val="2368"/>
              </a:lnSpc>
              <a:tabLst>
                <a:tab pos="451085" algn="l"/>
                <a:tab pos="902170" algn="l"/>
                <a:tab pos="1353255" algn="l"/>
              </a:tabLst>
            </a:pPr>
            <a:r>
              <a:rPr lang="en-US" sz="2400" dirty="0">
                <a:latin typeface="Whitney-Book" pitchFamily="50" charset="0"/>
                <a:cs typeface="Whitney-Book" pitchFamily="50" charset="0"/>
              </a:rPr>
              <a:t>Long run: zero economic profit </a:t>
            </a:r>
          </a:p>
          <a:p>
            <a:pPr>
              <a:lnSpc>
                <a:spcPts val="2368"/>
              </a:lnSpc>
              <a:tabLst>
                <a:tab pos="451085" algn="l"/>
                <a:tab pos="902170" algn="l"/>
                <a:tab pos="1353255" algn="l"/>
              </a:tabLst>
            </a:pPr>
            <a:endParaRPr lang="en-US" sz="2400" dirty="0">
              <a:latin typeface="Whitney-Book" pitchFamily="50" charset="0"/>
              <a:cs typeface="Whitney-Book" pitchFamily="50" charset="0"/>
            </a:endParaRPr>
          </a:p>
          <a:p>
            <a:pPr>
              <a:lnSpc>
                <a:spcPts val="2368"/>
              </a:lnSpc>
              <a:tabLst>
                <a:tab pos="451085" algn="l"/>
                <a:tab pos="902170" algn="l"/>
                <a:tab pos="1353255" algn="l"/>
              </a:tabLst>
            </a:pPr>
            <a:r>
              <a:rPr lang="en-US" sz="2400" dirty="0">
                <a:latin typeface="Whitney-Book" pitchFamily="50" charset="0"/>
                <a:cs typeface="Whitney-Book" pitchFamily="50" charset="0"/>
              </a:rPr>
              <a:t>Agricultural commodities; </a:t>
            </a:r>
            <a:br>
              <a:rPr lang="en-US" sz="2400" dirty="0">
                <a:latin typeface="Whitney-Book" pitchFamily="50" charset="0"/>
                <a:cs typeface="Whitney-Book" pitchFamily="50" charset="0"/>
              </a:rPr>
            </a:br>
            <a:r>
              <a:rPr lang="en-US" sz="2400" dirty="0">
                <a:latin typeface="Whitney-Book" pitchFamily="50" charset="0"/>
                <a:cs typeface="Whitney-Book" pitchFamily="50" charset="0"/>
              </a:rPr>
              <a:t>currency markets; unskilled labor</a:t>
            </a:r>
          </a:p>
          <a:p>
            <a:pPr>
              <a:lnSpc>
                <a:spcPts val="2368"/>
              </a:lnSpc>
              <a:tabLst>
                <a:tab pos="451085" algn="l"/>
                <a:tab pos="902170" algn="l"/>
                <a:tab pos="1353255" algn="l"/>
              </a:tabLst>
            </a:pPr>
            <a:endParaRPr lang="en-US" sz="2400" dirty="0">
              <a:latin typeface="Whitney-Book" pitchFamily="50" charset="0"/>
              <a:cs typeface="Whitney-Book" pitchFamily="50" charset="0"/>
            </a:endParaRPr>
          </a:p>
          <a:p>
            <a:pPr>
              <a:lnSpc>
                <a:spcPts val="2368"/>
              </a:lnSpc>
              <a:tabLst>
                <a:tab pos="451085" algn="l"/>
                <a:tab pos="902170" algn="l"/>
                <a:tab pos="1353255" algn="l"/>
              </a:tabLst>
            </a:pPr>
            <a:endParaRPr lang="en-US" sz="2400" dirty="0">
              <a:latin typeface="Whitney-Book" pitchFamily="50" charset="0"/>
              <a:cs typeface="Whitney-Book" pitchFamily="50" charset="0"/>
            </a:endParaRPr>
          </a:p>
          <a:p>
            <a:pPr>
              <a:lnSpc>
                <a:spcPts val="2368"/>
              </a:lnSpc>
              <a:tabLst>
                <a:tab pos="451085" algn="l"/>
                <a:tab pos="902170" algn="l"/>
                <a:tab pos="1353255" algn="l"/>
              </a:tabLst>
            </a:pPr>
            <a:endParaRPr lang="en-US" sz="2400" dirty="0">
              <a:latin typeface="Whitney-Book" pitchFamily="50" charset="0"/>
              <a:cs typeface="Whitney-Book" pitchFamily="50" charset="0"/>
            </a:endParaRPr>
          </a:p>
          <a:p>
            <a:pPr>
              <a:lnSpc>
                <a:spcPts val="2368"/>
              </a:lnSpc>
              <a:tabLst>
                <a:tab pos="451085" algn="l"/>
                <a:tab pos="902170" algn="l"/>
                <a:tab pos="1353255" algn="l"/>
              </a:tabLst>
            </a:pPr>
            <a:endParaRPr lang="en-US" sz="2400" dirty="0">
              <a:latin typeface="Whitney-Book" pitchFamily="50" charset="0"/>
              <a:cs typeface="Whitney-Book" pitchFamily="50" charset="0"/>
            </a:endParaRPr>
          </a:p>
          <a:p>
            <a:pPr>
              <a:lnSpc>
                <a:spcPts val="2368"/>
              </a:lnSpc>
              <a:tabLst>
                <a:tab pos="451085" algn="l"/>
                <a:tab pos="902170" algn="l"/>
                <a:tab pos="1353255" algn="l"/>
              </a:tabLst>
            </a:pPr>
            <a:endParaRPr lang="en-US" sz="2400" dirty="0">
              <a:latin typeface="Whitney-Book" pitchFamily="50" charset="0"/>
              <a:cs typeface="Whitney-Book" pitchFamily="50" charset="0"/>
            </a:endParaRPr>
          </a:p>
        </p:txBody>
      </p:sp>
    </p:spTree>
    <p:custDataLst>
      <p:tags r:id="rId1"/>
    </p:custDataLst>
    <p:extLst>
      <p:ext uri="{BB962C8B-B14F-4D97-AF65-F5344CB8AC3E}">
        <p14:creationId xmlns:p14="http://schemas.microsoft.com/office/powerpoint/2010/main" val="2967569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66A65-AD0C-4F6D-A6A6-72CC681D3B12}"/>
              </a:ext>
            </a:extLst>
          </p:cNvPr>
          <p:cNvSpPr>
            <a:spLocks noGrp="1"/>
          </p:cNvSpPr>
          <p:nvPr>
            <p:ph type="title"/>
          </p:nvPr>
        </p:nvSpPr>
        <p:spPr/>
        <p:txBody>
          <a:bodyPr/>
          <a:lstStyle/>
          <a:p>
            <a:r>
              <a:rPr lang="fr-FR" dirty="0" err="1"/>
              <a:t>Outline</a:t>
            </a:r>
            <a:r>
              <a:rPr lang="fr-FR" dirty="0"/>
              <a:t> of Module 4</a:t>
            </a:r>
            <a:endParaRPr lang="en-US" dirty="0"/>
          </a:p>
        </p:txBody>
      </p:sp>
      <p:sp>
        <p:nvSpPr>
          <p:cNvPr id="4" name="Text Placeholder 3">
            <a:extLst>
              <a:ext uri="{FF2B5EF4-FFF2-40B4-BE49-F238E27FC236}">
                <a16:creationId xmlns:a16="http://schemas.microsoft.com/office/drawing/2014/main" id="{7FD61197-108E-42D3-B240-FBE4C18D3FC4}"/>
              </a:ext>
            </a:extLst>
          </p:cNvPr>
          <p:cNvSpPr>
            <a:spLocks noGrp="1"/>
          </p:cNvSpPr>
          <p:nvPr>
            <p:ph type="body" idx="1"/>
          </p:nvPr>
        </p:nvSpPr>
        <p:spPr/>
        <p:txBody>
          <a:bodyPr/>
          <a:lstStyle/>
          <a:p>
            <a:r>
              <a:rPr lang="en-US" dirty="0">
                <a:solidFill>
                  <a:schemeClr val="bg1">
                    <a:lumMod val="50000"/>
                  </a:schemeClr>
                </a:solidFill>
              </a:rPr>
              <a:t>Introduction to market structures</a:t>
            </a:r>
            <a:r>
              <a:rPr lang="en-US" dirty="0">
                <a:solidFill>
                  <a:schemeClr val="bg1">
                    <a:lumMod val="85000"/>
                  </a:schemeClr>
                </a:solidFill>
              </a:rPr>
              <a:t> </a:t>
            </a:r>
          </a:p>
          <a:p>
            <a:endParaRPr lang="en-US" sz="2000" dirty="0"/>
          </a:p>
          <a:p>
            <a:r>
              <a:rPr lang="en-US" b="1" dirty="0"/>
              <a:t>Perfect competition</a:t>
            </a:r>
          </a:p>
          <a:p>
            <a:pPr lvl="1"/>
            <a:r>
              <a:rPr lang="en-US" b="1" dirty="0"/>
              <a:t>Profit maximization of a price taker in the short run</a:t>
            </a:r>
          </a:p>
          <a:p>
            <a:pPr lvl="1"/>
            <a:r>
              <a:rPr lang="en-US" dirty="0">
                <a:solidFill>
                  <a:schemeClr val="bg1">
                    <a:lumMod val="50000"/>
                  </a:schemeClr>
                </a:solidFill>
              </a:rPr>
              <a:t>Firm-level and market supply</a:t>
            </a:r>
            <a:endParaRPr lang="en-US" b="1" dirty="0">
              <a:solidFill>
                <a:schemeClr val="bg1">
                  <a:lumMod val="50000"/>
                </a:schemeClr>
              </a:solidFill>
            </a:endParaRPr>
          </a:p>
          <a:p>
            <a:pPr lvl="1"/>
            <a:r>
              <a:rPr lang="en-US" dirty="0">
                <a:solidFill>
                  <a:schemeClr val="bg1">
                    <a:lumMod val="50000"/>
                  </a:schemeClr>
                </a:solidFill>
              </a:rPr>
              <a:t>Long-run competitive equilibrium</a:t>
            </a:r>
          </a:p>
          <a:p>
            <a:pPr lvl="1"/>
            <a:endParaRPr lang="en-US" sz="2000" dirty="0">
              <a:solidFill>
                <a:schemeClr val="bg1">
                  <a:lumMod val="50000"/>
                </a:schemeClr>
              </a:solidFill>
            </a:endParaRPr>
          </a:p>
          <a:p>
            <a:r>
              <a:rPr lang="en-US" dirty="0">
                <a:solidFill>
                  <a:schemeClr val="bg1">
                    <a:lumMod val="50000"/>
                  </a:schemeClr>
                </a:solidFill>
              </a:rPr>
              <a:t>Market distortions/regulations</a:t>
            </a:r>
          </a:p>
          <a:p>
            <a:endParaRPr lang="en-US" sz="2000" dirty="0">
              <a:solidFill>
                <a:schemeClr val="bg1">
                  <a:lumMod val="50000"/>
                </a:schemeClr>
              </a:solidFill>
            </a:endParaRPr>
          </a:p>
          <a:p>
            <a:r>
              <a:rPr lang="en-US" dirty="0">
                <a:solidFill>
                  <a:schemeClr val="bg1">
                    <a:lumMod val="50000"/>
                  </a:schemeClr>
                </a:solidFill>
              </a:rPr>
              <a:t>Externalities</a:t>
            </a:r>
          </a:p>
          <a:p>
            <a:endParaRPr lang="en-US" dirty="0"/>
          </a:p>
        </p:txBody>
      </p:sp>
    </p:spTree>
    <p:extLst>
      <p:ext uri="{BB962C8B-B14F-4D97-AF65-F5344CB8AC3E}">
        <p14:creationId xmlns:p14="http://schemas.microsoft.com/office/powerpoint/2010/main" val="846628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Line 31">
            <a:extLst>
              <a:ext uri="{FF2B5EF4-FFF2-40B4-BE49-F238E27FC236}">
                <a16:creationId xmlns:a16="http://schemas.microsoft.com/office/drawing/2014/main" id="{4188E39A-AB54-4B86-81ED-53165BE3D79E}"/>
              </a:ext>
            </a:extLst>
          </p:cNvPr>
          <p:cNvSpPr>
            <a:spLocks noChangeShapeType="1"/>
          </p:cNvSpPr>
          <p:nvPr/>
        </p:nvSpPr>
        <p:spPr bwMode="auto">
          <a:xfrm flipV="1">
            <a:off x="804106" y="2810394"/>
            <a:ext cx="2549537" cy="1644157"/>
          </a:xfrm>
          <a:prstGeom prst="line">
            <a:avLst/>
          </a:prstGeom>
          <a:noFill/>
          <a:ln w="38100">
            <a:solidFill>
              <a:srgbClr val="0070C0"/>
            </a:solidFill>
            <a:round/>
            <a:headEnd type="none" w="sm" len="sm"/>
            <a:tailEnd type="none" w="sm" len="sm"/>
          </a:ln>
          <a:effectLst/>
        </p:spPr>
        <p:txBody>
          <a:bodyPr wrap="none" lIns="90217" tIns="45109" rIns="90217" bIns="45109" anchor="ctr"/>
          <a:lstStyle/>
          <a:p>
            <a:endParaRPr lang="en-US" sz="1688">
              <a:ln>
                <a:solidFill>
                  <a:srgbClr val="002060"/>
                </a:solidFill>
              </a:ln>
              <a:solidFill>
                <a:schemeClr val="tx2">
                  <a:lumMod val="75000"/>
                </a:schemeClr>
              </a:solidFill>
              <a:latin typeface="Times New Roman" pitchFamily="18" charset="0"/>
              <a:cs typeface="Times New Roman" pitchFamily="18" charset="0"/>
            </a:endParaRPr>
          </a:p>
        </p:txBody>
      </p:sp>
      <p:cxnSp>
        <p:nvCxnSpPr>
          <p:cNvPr id="36" name="Straight Connector 35">
            <a:extLst>
              <a:ext uri="{FF2B5EF4-FFF2-40B4-BE49-F238E27FC236}">
                <a16:creationId xmlns:a16="http://schemas.microsoft.com/office/drawing/2014/main" id="{1560E97C-095C-462E-83F9-87278D4B37C9}"/>
              </a:ext>
            </a:extLst>
          </p:cNvPr>
          <p:cNvCxnSpPr>
            <a:cxnSpLocks/>
            <a:endCxn id="17" idx="2"/>
          </p:cNvCxnSpPr>
          <p:nvPr/>
        </p:nvCxnSpPr>
        <p:spPr>
          <a:xfrm>
            <a:off x="593618" y="3603073"/>
            <a:ext cx="1470074" cy="0"/>
          </a:xfrm>
          <a:prstGeom prst="line">
            <a:avLst/>
          </a:prstGeom>
          <a:ln w="9525" cap="flat" cmpd="sng" algn="ctr">
            <a:solidFill>
              <a:schemeClr val="bg1">
                <a:lumMod val="50000"/>
              </a:schemeClr>
            </a:solidFill>
            <a:prstDash val="lg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 name="Title 1">
            <a:extLst>
              <a:ext uri="{FF2B5EF4-FFF2-40B4-BE49-F238E27FC236}">
                <a16:creationId xmlns:a16="http://schemas.microsoft.com/office/drawing/2014/main" id="{0421C104-30C3-41F7-B23E-BCBB4F48081C}"/>
              </a:ext>
            </a:extLst>
          </p:cNvPr>
          <p:cNvSpPr>
            <a:spLocks noGrp="1"/>
          </p:cNvSpPr>
          <p:nvPr>
            <p:ph type="title"/>
          </p:nvPr>
        </p:nvSpPr>
        <p:spPr/>
        <p:txBody>
          <a:bodyPr>
            <a:normAutofit fontScale="90000"/>
          </a:bodyPr>
          <a:lstStyle/>
          <a:p>
            <a:r>
              <a:rPr lang="fr-FR" dirty="0" err="1"/>
              <a:t>Perfect</a:t>
            </a:r>
            <a:r>
              <a:rPr lang="fr-FR" dirty="0"/>
              <a:t> </a:t>
            </a:r>
            <a:r>
              <a:rPr lang="fr-FR" dirty="0" err="1"/>
              <a:t>competition</a:t>
            </a:r>
            <a:r>
              <a:rPr lang="fr-FR" dirty="0"/>
              <a:t>: </a:t>
            </a:r>
            <a:br>
              <a:rPr lang="fr-FR" dirty="0"/>
            </a:br>
            <a:r>
              <a:rPr lang="fr-FR" dirty="0"/>
              <a:t>the </a:t>
            </a:r>
            <a:r>
              <a:rPr lang="fr-FR" dirty="0" err="1"/>
              <a:t>market</a:t>
            </a:r>
            <a:r>
              <a:rPr lang="fr-FR" dirty="0"/>
              <a:t> and the </a:t>
            </a:r>
            <a:r>
              <a:rPr lang="fr-FR" dirty="0" err="1"/>
              <a:t>firm</a:t>
            </a:r>
            <a:endParaRPr lang="en-US" dirty="0"/>
          </a:p>
        </p:txBody>
      </p:sp>
      <p:sp>
        <p:nvSpPr>
          <p:cNvPr id="16" name="Line 31">
            <a:extLst>
              <a:ext uri="{FF2B5EF4-FFF2-40B4-BE49-F238E27FC236}">
                <a16:creationId xmlns:a16="http://schemas.microsoft.com/office/drawing/2014/main" id="{3E85A529-342F-4D8A-B281-B7D9F83E743A}"/>
              </a:ext>
            </a:extLst>
          </p:cNvPr>
          <p:cNvSpPr>
            <a:spLocks noChangeShapeType="1"/>
          </p:cNvSpPr>
          <p:nvPr/>
        </p:nvSpPr>
        <p:spPr bwMode="auto">
          <a:xfrm>
            <a:off x="920456" y="2758547"/>
            <a:ext cx="2406240" cy="1696004"/>
          </a:xfrm>
          <a:prstGeom prst="line">
            <a:avLst/>
          </a:prstGeom>
          <a:noFill/>
          <a:ln w="38100">
            <a:solidFill>
              <a:srgbClr val="0070C0"/>
            </a:solidFill>
            <a:round/>
            <a:headEnd type="none" w="sm" len="sm"/>
            <a:tailEnd type="none" w="sm" len="sm"/>
          </a:ln>
          <a:effectLst/>
        </p:spPr>
        <p:txBody>
          <a:bodyPr wrap="none" lIns="90217" tIns="45109" rIns="90217" bIns="45109" anchor="ctr"/>
          <a:lstStyle/>
          <a:p>
            <a:endParaRPr lang="en-US" sz="1688">
              <a:ln>
                <a:solidFill>
                  <a:srgbClr val="002060"/>
                </a:solidFill>
              </a:ln>
              <a:solidFill>
                <a:schemeClr val="tx2">
                  <a:lumMod val="75000"/>
                </a:schemeClr>
              </a:solidFill>
              <a:latin typeface="Times New Roman" pitchFamily="18" charset="0"/>
              <a:cs typeface="Times New Roman" pitchFamily="18" charset="0"/>
            </a:endParaRPr>
          </a:p>
        </p:txBody>
      </p:sp>
      <p:sp>
        <p:nvSpPr>
          <p:cNvPr id="6" name="Rectangle 4">
            <a:extLst>
              <a:ext uri="{FF2B5EF4-FFF2-40B4-BE49-F238E27FC236}">
                <a16:creationId xmlns:a16="http://schemas.microsoft.com/office/drawing/2014/main" id="{ADC58A57-D9C2-4D08-B28C-4FBD84713047}"/>
              </a:ext>
            </a:extLst>
          </p:cNvPr>
          <p:cNvSpPr>
            <a:spLocks noChangeArrowheads="1"/>
          </p:cNvSpPr>
          <p:nvPr/>
        </p:nvSpPr>
        <p:spPr bwMode="auto">
          <a:xfrm>
            <a:off x="457200" y="2018430"/>
            <a:ext cx="786342" cy="740117"/>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400" i="1" dirty="0">
                <a:solidFill>
                  <a:schemeClr val="tx2">
                    <a:lumMod val="75000"/>
                  </a:schemeClr>
                </a:solidFill>
                <a:latin typeface="Whitney Book" pitchFamily="50" charset="0"/>
                <a:cs typeface="Whitney Book" pitchFamily="50" charset="0"/>
              </a:rPr>
              <a:t>P</a:t>
            </a:r>
          </a:p>
        </p:txBody>
      </p:sp>
      <p:sp>
        <p:nvSpPr>
          <p:cNvPr id="7" name="Line 5">
            <a:extLst>
              <a:ext uri="{FF2B5EF4-FFF2-40B4-BE49-F238E27FC236}">
                <a16:creationId xmlns:a16="http://schemas.microsoft.com/office/drawing/2014/main" id="{8AAE5B2B-05FA-4692-90D3-6FFA83CB152B}"/>
              </a:ext>
            </a:extLst>
          </p:cNvPr>
          <p:cNvSpPr>
            <a:spLocks noChangeShapeType="1"/>
          </p:cNvSpPr>
          <p:nvPr/>
        </p:nvSpPr>
        <p:spPr bwMode="auto">
          <a:xfrm>
            <a:off x="617322" y="2441635"/>
            <a:ext cx="0" cy="2960467"/>
          </a:xfrm>
          <a:prstGeom prst="line">
            <a:avLst/>
          </a:prstGeom>
          <a:ln>
            <a:headEnd type="arrow" w="sm" len="sm"/>
            <a:tailEnd type="none" w="sm" len="sm"/>
          </a:ln>
        </p:spPr>
        <p:style>
          <a:lnRef idx="2">
            <a:schemeClr val="dk1"/>
          </a:lnRef>
          <a:fillRef idx="0">
            <a:schemeClr val="dk1"/>
          </a:fillRef>
          <a:effectRef idx="1">
            <a:schemeClr val="dk1"/>
          </a:effectRef>
          <a:fontRef idx="minor">
            <a:schemeClr val="tx1"/>
          </a:fontRef>
        </p:style>
        <p:txBody>
          <a:bodyPr wrap="none" anchor="ctr"/>
          <a:lstStyle/>
          <a:p>
            <a:endParaRPr lang="en-US" sz="1688">
              <a:solidFill>
                <a:schemeClr val="tx2">
                  <a:lumMod val="75000"/>
                </a:schemeClr>
              </a:solidFill>
              <a:latin typeface="Times New Roman" pitchFamily="18" charset="0"/>
              <a:cs typeface="Times New Roman" pitchFamily="18" charset="0"/>
            </a:endParaRPr>
          </a:p>
        </p:txBody>
      </p:sp>
      <p:sp>
        <p:nvSpPr>
          <p:cNvPr id="8" name="Line 6">
            <a:extLst>
              <a:ext uri="{FF2B5EF4-FFF2-40B4-BE49-F238E27FC236}">
                <a16:creationId xmlns:a16="http://schemas.microsoft.com/office/drawing/2014/main" id="{36867FF4-5F90-4044-97C2-9F223484A36C}"/>
              </a:ext>
            </a:extLst>
          </p:cNvPr>
          <p:cNvSpPr>
            <a:spLocks noChangeShapeType="1"/>
          </p:cNvSpPr>
          <p:nvPr/>
        </p:nvSpPr>
        <p:spPr bwMode="auto">
          <a:xfrm>
            <a:off x="601468" y="5400134"/>
            <a:ext cx="2682441" cy="0"/>
          </a:xfrm>
          <a:prstGeom prst="line">
            <a:avLst/>
          </a:prstGeom>
          <a:ln>
            <a:headEnd type="none" w="sm" len="sm"/>
            <a:tailEnd type="arrow" w="sm" len="sm"/>
          </a:ln>
        </p:spPr>
        <p:style>
          <a:lnRef idx="2">
            <a:schemeClr val="dk1"/>
          </a:lnRef>
          <a:fillRef idx="0">
            <a:schemeClr val="dk1"/>
          </a:fillRef>
          <a:effectRef idx="1">
            <a:schemeClr val="dk1"/>
          </a:effectRef>
          <a:fontRef idx="minor">
            <a:schemeClr val="tx1"/>
          </a:fontRef>
        </p:style>
        <p:txBody>
          <a:bodyPr wrap="none" anchor="ctr"/>
          <a:lstStyle/>
          <a:p>
            <a:endParaRPr lang="en-US" sz="1688" dirty="0">
              <a:solidFill>
                <a:schemeClr val="tx2">
                  <a:lumMod val="75000"/>
                </a:schemeClr>
              </a:solidFill>
              <a:latin typeface="Times New Roman" pitchFamily="18" charset="0"/>
              <a:cs typeface="Times New Roman" pitchFamily="18" charset="0"/>
            </a:endParaRPr>
          </a:p>
        </p:txBody>
      </p:sp>
      <p:sp>
        <p:nvSpPr>
          <p:cNvPr id="9" name="Rectangle 7">
            <a:extLst>
              <a:ext uri="{FF2B5EF4-FFF2-40B4-BE49-F238E27FC236}">
                <a16:creationId xmlns:a16="http://schemas.microsoft.com/office/drawing/2014/main" id="{09744626-B039-49F6-A7B1-1613838E430D}"/>
              </a:ext>
            </a:extLst>
          </p:cNvPr>
          <p:cNvSpPr>
            <a:spLocks noChangeArrowheads="1"/>
          </p:cNvSpPr>
          <p:nvPr/>
        </p:nvSpPr>
        <p:spPr bwMode="auto">
          <a:xfrm>
            <a:off x="3317203" y="5222978"/>
            <a:ext cx="550122" cy="740117"/>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400" i="1" dirty="0">
                <a:solidFill>
                  <a:schemeClr val="tx2">
                    <a:lumMod val="75000"/>
                  </a:schemeClr>
                </a:solidFill>
                <a:latin typeface="Whitney Book" pitchFamily="50" charset="0"/>
                <a:cs typeface="Whitney Book" pitchFamily="50" charset="0"/>
              </a:rPr>
              <a:t>Q</a:t>
            </a:r>
            <a:r>
              <a:rPr lang="en-US" sz="2400" dirty="0">
                <a:solidFill>
                  <a:schemeClr val="tx2">
                    <a:lumMod val="75000"/>
                  </a:schemeClr>
                </a:solidFill>
                <a:latin typeface="Whitney Book" pitchFamily="50" charset="0"/>
                <a:cs typeface="Whitney Book" pitchFamily="50" charset="0"/>
              </a:rPr>
              <a:t> </a:t>
            </a:r>
          </a:p>
        </p:txBody>
      </p:sp>
      <p:sp>
        <p:nvSpPr>
          <p:cNvPr id="11" name="Rectangle 4">
            <a:extLst>
              <a:ext uri="{FF2B5EF4-FFF2-40B4-BE49-F238E27FC236}">
                <a16:creationId xmlns:a16="http://schemas.microsoft.com/office/drawing/2014/main" id="{DE27E38E-70E4-42AE-9993-01B735015067}"/>
              </a:ext>
            </a:extLst>
          </p:cNvPr>
          <p:cNvSpPr>
            <a:spLocks noChangeArrowheads="1"/>
          </p:cNvSpPr>
          <p:nvPr/>
        </p:nvSpPr>
        <p:spPr bwMode="auto">
          <a:xfrm>
            <a:off x="5276675" y="2040417"/>
            <a:ext cx="786342" cy="740117"/>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400" i="1" dirty="0">
                <a:solidFill>
                  <a:schemeClr val="tx2">
                    <a:lumMod val="75000"/>
                  </a:schemeClr>
                </a:solidFill>
                <a:latin typeface="Whitney Book" pitchFamily="50" charset="0"/>
                <a:cs typeface="Whitney Book" pitchFamily="50" charset="0"/>
              </a:rPr>
              <a:t>P</a:t>
            </a:r>
          </a:p>
        </p:txBody>
      </p:sp>
      <p:sp>
        <p:nvSpPr>
          <p:cNvPr id="12" name="Line 5">
            <a:extLst>
              <a:ext uri="{FF2B5EF4-FFF2-40B4-BE49-F238E27FC236}">
                <a16:creationId xmlns:a16="http://schemas.microsoft.com/office/drawing/2014/main" id="{5991F8BA-813D-4029-ACBC-D55D460B94FB}"/>
              </a:ext>
            </a:extLst>
          </p:cNvPr>
          <p:cNvSpPr>
            <a:spLocks noChangeShapeType="1"/>
          </p:cNvSpPr>
          <p:nvPr/>
        </p:nvSpPr>
        <p:spPr bwMode="auto">
          <a:xfrm>
            <a:off x="5436797" y="2463622"/>
            <a:ext cx="0" cy="2960467"/>
          </a:xfrm>
          <a:prstGeom prst="line">
            <a:avLst/>
          </a:prstGeom>
          <a:ln>
            <a:headEnd type="arrow" w="sm" len="sm"/>
            <a:tailEnd type="none" w="sm" len="sm"/>
          </a:ln>
        </p:spPr>
        <p:style>
          <a:lnRef idx="2">
            <a:schemeClr val="dk1"/>
          </a:lnRef>
          <a:fillRef idx="0">
            <a:schemeClr val="dk1"/>
          </a:fillRef>
          <a:effectRef idx="1">
            <a:schemeClr val="dk1"/>
          </a:effectRef>
          <a:fontRef idx="minor">
            <a:schemeClr val="tx1"/>
          </a:fontRef>
        </p:style>
        <p:txBody>
          <a:bodyPr wrap="none" anchor="ctr"/>
          <a:lstStyle/>
          <a:p>
            <a:endParaRPr lang="en-US" sz="1688">
              <a:solidFill>
                <a:schemeClr val="tx2">
                  <a:lumMod val="75000"/>
                </a:schemeClr>
              </a:solidFill>
              <a:latin typeface="Times New Roman" pitchFamily="18" charset="0"/>
              <a:cs typeface="Times New Roman" pitchFamily="18" charset="0"/>
            </a:endParaRPr>
          </a:p>
        </p:txBody>
      </p:sp>
      <p:sp>
        <p:nvSpPr>
          <p:cNvPr id="13" name="Line 6">
            <a:extLst>
              <a:ext uri="{FF2B5EF4-FFF2-40B4-BE49-F238E27FC236}">
                <a16:creationId xmlns:a16="http://schemas.microsoft.com/office/drawing/2014/main" id="{D0508F92-9A20-4D03-A859-054CFA80E8F0}"/>
              </a:ext>
            </a:extLst>
          </p:cNvPr>
          <p:cNvSpPr>
            <a:spLocks noChangeShapeType="1"/>
          </p:cNvSpPr>
          <p:nvPr/>
        </p:nvSpPr>
        <p:spPr bwMode="auto">
          <a:xfrm>
            <a:off x="5420943" y="5422121"/>
            <a:ext cx="2682441" cy="0"/>
          </a:xfrm>
          <a:prstGeom prst="line">
            <a:avLst/>
          </a:prstGeom>
          <a:ln>
            <a:headEnd type="none" w="sm" len="sm"/>
            <a:tailEnd type="arrow" w="sm" len="sm"/>
          </a:ln>
        </p:spPr>
        <p:style>
          <a:lnRef idx="2">
            <a:schemeClr val="dk1"/>
          </a:lnRef>
          <a:fillRef idx="0">
            <a:schemeClr val="dk1"/>
          </a:fillRef>
          <a:effectRef idx="1">
            <a:schemeClr val="dk1"/>
          </a:effectRef>
          <a:fontRef idx="minor">
            <a:schemeClr val="tx1"/>
          </a:fontRef>
        </p:style>
        <p:txBody>
          <a:bodyPr wrap="none" anchor="ctr"/>
          <a:lstStyle/>
          <a:p>
            <a:endParaRPr lang="en-US" sz="1688" dirty="0">
              <a:solidFill>
                <a:schemeClr val="tx2">
                  <a:lumMod val="75000"/>
                </a:schemeClr>
              </a:solidFill>
              <a:latin typeface="Times New Roman" pitchFamily="18" charset="0"/>
              <a:cs typeface="Times New Roman" pitchFamily="18" charset="0"/>
            </a:endParaRPr>
          </a:p>
        </p:txBody>
      </p:sp>
      <p:sp>
        <p:nvSpPr>
          <p:cNvPr id="14" name="Rectangle 7">
            <a:extLst>
              <a:ext uri="{FF2B5EF4-FFF2-40B4-BE49-F238E27FC236}">
                <a16:creationId xmlns:a16="http://schemas.microsoft.com/office/drawing/2014/main" id="{F1BD0690-2E76-4095-A9CB-8D41AB78C0A9}"/>
              </a:ext>
            </a:extLst>
          </p:cNvPr>
          <p:cNvSpPr>
            <a:spLocks noChangeArrowheads="1"/>
          </p:cNvSpPr>
          <p:nvPr/>
        </p:nvSpPr>
        <p:spPr bwMode="auto">
          <a:xfrm>
            <a:off x="8136678" y="5244965"/>
            <a:ext cx="550122" cy="740117"/>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400" i="1" dirty="0">
                <a:solidFill>
                  <a:schemeClr val="tx2">
                    <a:lumMod val="75000"/>
                  </a:schemeClr>
                </a:solidFill>
                <a:latin typeface="Whitney Book" pitchFamily="50" charset="0"/>
                <a:cs typeface="Whitney Book" pitchFamily="50" charset="0"/>
              </a:rPr>
              <a:t>Q</a:t>
            </a:r>
            <a:r>
              <a:rPr lang="en-US" sz="2400" dirty="0">
                <a:solidFill>
                  <a:schemeClr val="tx2">
                    <a:lumMod val="75000"/>
                  </a:schemeClr>
                </a:solidFill>
                <a:latin typeface="Whitney Book" pitchFamily="50" charset="0"/>
                <a:cs typeface="Whitney Book" pitchFamily="50" charset="0"/>
              </a:rPr>
              <a:t> </a:t>
            </a:r>
          </a:p>
        </p:txBody>
      </p:sp>
      <p:sp>
        <p:nvSpPr>
          <p:cNvPr id="18" name="Line 31">
            <a:extLst>
              <a:ext uri="{FF2B5EF4-FFF2-40B4-BE49-F238E27FC236}">
                <a16:creationId xmlns:a16="http://schemas.microsoft.com/office/drawing/2014/main" id="{D7C4C5BA-B2D0-4289-8DED-E708D552354F}"/>
              </a:ext>
            </a:extLst>
          </p:cNvPr>
          <p:cNvSpPr>
            <a:spLocks noChangeShapeType="1"/>
          </p:cNvSpPr>
          <p:nvPr/>
        </p:nvSpPr>
        <p:spPr bwMode="auto">
          <a:xfrm flipV="1">
            <a:off x="5436797" y="3614289"/>
            <a:ext cx="2903096" cy="0"/>
          </a:xfrm>
          <a:prstGeom prst="line">
            <a:avLst/>
          </a:prstGeom>
          <a:noFill/>
          <a:ln w="38100">
            <a:solidFill>
              <a:srgbClr val="C00000"/>
            </a:solidFill>
            <a:round/>
            <a:headEnd type="none" w="sm" len="sm"/>
            <a:tailEnd type="none" w="sm" len="sm"/>
          </a:ln>
          <a:effectLst/>
        </p:spPr>
        <p:txBody>
          <a:bodyPr wrap="none" lIns="90217" tIns="45109" rIns="90217" bIns="45109" anchor="ctr"/>
          <a:lstStyle/>
          <a:p>
            <a:endParaRPr lang="en-US" sz="1688">
              <a:ln>
                <a:solidFill>
                  <a:srgbClr val="002060"/>
                </a:solidFill>
              </a:ln>
              <a:solidFill>
                <a:schemeClr val="tx2">
                  <a:lumMod val="75000"/>
                </a:schemeClr>
              </a:solidFill>
              <a:latin typeface="Times New Roman" pitchFamily="18" charset="0"/>
              <a:cs typeface="Times New Roman" pitchFamily="18" charset="0"/>
            </a:endParaRPr>
          </a:p>
        </p:txBody>
      </p:sp>
      <p:cxnSp>
        <p:nvCxnSpPr>
          <p:cNvPr id="20" name="Straight Connector 19">
            <a:extLst>
              <a:ext uri="{FF2B5EF4-FFF2-40B4-BE49-F238E27FC236}">
                <a16:creationId xmlns:a16="http://schemas.microsoft.com/office/drawing/2014/main" id="{E8F0A728-B90F-4198-99AD-2EEC4DA56A7F}"/>
              </a:ext>
            </a:extLst>
          </p:cNvPr>
          <p:cNvCxnSpPr>
            <a:cxnSpLocks/>
            <a:stCxn id="17" idx="6"/>
            <a:endCxn id="18" idx="0"/>
          </p:cNvCxnSpPr>
          <p:nvPr/>
        </p:nvCxnSpPr>
        <p:spPr>
          <a:xfrm>
            <a:off x="2186795" y="3603073"/>
            <a:ext cx="3250002" cy="11216"/>
          </a:xfrm>
          <a:prstGeom prst="line">
            <a:avLst/>
          </a:prstGeom>
          <a:ln w="9525" cap="flat" cmpd="sng" algn="ctr">
            <a:solidFill>
              <a:schemeClr val="bg1">
                <a:lumMod val="50000"/>
              </a:schemeClr>
            </a:solidFill>
            <a:prstDash val="lg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7" name="Oval 16">
            <a:extLst>
              <a:ext uri="{FF2B5EF4-FFF2-40B4-BE49-F238E27FC236}">
                <a16:creationId xmlns:a16="http://schemas.microsoft.com/office/drawing/2014/main" id="{590C930A-0885-44A1-94CE-800F772618B1}"/>
              </a:ext>
            </a:extLst>
          </p:cNvPr>
          <p:cNvSpPr/>
          <p:nvPr/>
        </p:nvSpPr>
        <p:spPr>
          <a:xfrm>
            <a:off x="2063692" y="3523378"/>
            <a:ext cx="123103" cy="15939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80CA480B-0D18-4B5A-8CF6-2F7C5C7C035A}"/>
              </a:ext>
            </a:extLst>
          </p:cNvPr>
          <p:cNvSpPr txBox="1"/>
          <p:nvPr/>
        </p:nvSpPr>
        <p:spPr>
          <a:xfrm>
            <a:off x="1566408" y="1374125"/>
            <a:ext cx="2396747" cy="461665"/>
          </a:xfrm>
          <a:prstGeom prst="rect">
            <a:avLst/>
          </a:prstGeom>
          <a:noFill/>
        </p:spPr>
        <p:txBody>
          <a:bodyPr wrap="square" rtlCol="0">
            <a:spAutoFit/>
          </a:bodyPr>
          <a:lstStyle/>
          <a:p>
            <a:r>
              <a:rPr lang="fr-FR" sz="2400" b="1" dirty="0" err="1">
                <a:solidFill>
                  <a:schemeClr val="tx2">
                    <a:lumMod val="75000"/>
                  </a:schemeClr>
                </a:solidFill>
                <a:latin typeface="Whitney Book" pitchFamily="50" charset="0"/>
                <a:cs typeface="Whitney Book" pitchFamily="50" charset="0"/>
              </a:rPr>
              <a:t>Market</a:t>
            </a:r>
            <a:endParaRPr lang="en-US" sz="2400" b="1" dirty="0">
              <a:solidFill>
                <a:schemeClr val="tx2">
                  <a:lumMod val="75000"/>
                </a:schemeClr>
              </a:solidFill>
              <a:latin typeface="Whitney Book" pitchFamily="50" charset="0"/>
              <a:cs typeface="Whitney Book" pitchFamily="50" charset="0"/>
            </a:endParaRPr>
          </a:p>
        </p:txBody>
      </p:sp>
      <p:sp>
        <p:nvSpPr>
          <p:cNvPr id="27" name="TextBox 26">
            <a:extLst>
              <a:ext uri="{FF2B5EF4-FFF2-40B4-BE49-F238E27FC236}">
                <a16:creationId xmlns:a16="http://schemas.microsoft.com/office/drawing/2014/main" id="{062CBF51-D81D-491B-A0D6-46ECA851048C}"/>
              </a:ext>
            </a:extLst>
          </p:cNvPr>
          <p:cNvSpPr txBox="1"/>
          <p:nvPr/>
        </p:nvSpPr>
        <p:spPr>
          <a:xfrm>
            <a:off x="6194660" y="1342597"/>
            <a:ext cx="2672503" cy="461665"/>
          </a:xfrm>
          <a:prstGeom prst="rect">
            <a:avLst/>
          </a:prstGeom>
          <a:noFill/>
        </p:spPr>
        <p:txBody>
          <a:bodyPr wrap="square" rtlCol="0">
            <a:spAutoFit/>
          </a:bodyPr>
          <a:lstStyle/>
          <a:p>
            <a:r>
              <a:rPr lang="fr-FR" sz="2400" b="1" dirty="0" err="1">
                <a:solidFill>
                  <a:schemeClr val="tx2">
                    <a:lumMod val="75000"/>
                  </a:schemeClr>
                </a:solidFill>
                <a:latin typeface="Whitney Book" pitchFamily="50" charset="0"/>
                <a:cs typeface="Whitney Book" pitchFamily="50" charset="0"/>
              </a:rPr>
              <a:t>Firm</a:t>
            </a:r>
            <a:r>
              <a:rPr lang="fr-FR" sz="2400" b="1" dirty="0">
                <a:solidFill>
                  <a:schemeClr val="tx2">
                    <a:lumMod val="75000"/>
                  </a:schemeClr>
                </a:solidFill>
                <a:latin typeface="Whitney Book" pitchFamily="50" charset="0"/>
                <a:cs typeface="Whitney Book" pitchFamily="50" charset="0"/>
              </a:rPr>
              <a:t> (</a:t>
            </a:r>
            <a:r>
              <a:rPr lang="fr-FR" sz="2400" b="1" dirty="0" err="1">
                <a:solidFill>
                  <a:schemeClr val="tx2">
                    <a:lumMod val="75000"/>
                  </a:schemeClr>
                </a:solidFill>
                <a:latin typeface="Whitney Book" pitchFamily="50" charset="0"/>
                <a:cs typeface="Whitney Book" pitchFamily="50" charset="0"/>
              </a:rPr>
              <a:t>price</a:t>
            </a:r>
            <a:r>
              <a:rPr lang="fr-FR" sz="2400" b="1" dirty="0">
                <a:solidFill>
                  <a:schemeClr val="tx2">
                    <a:lumMod val="75000"/>
                  </a:schemeClr>
                </a:solidFill>
                <a:latin typeface="Whitney Book" pitchFamily="50" charset="0"/>
                <a:cs typeface="Whitney Book" pitchFamily="50" charset="0"/>
              </a:rPr>
              <a:t> </a:t>
            </a:r>
            <a:r>
              <a:rPr lang="fr-FR" sz="2400" b="1" dirty="0" err="1">
                <a:solidFill>
                  <a:schemeClr val="tx2">
                    <a:lumMod val="75000"/>
                  </a:schemeClr>
                </a:solidFill>
                <a:latin typeface="Whitney Book" pitchFamily="50" charset="0"/>
                <a:cs typeface="Whitney Book" pitchFamily="50" charset="0"/>
              </a:rPr>
              <a:t>taker</a:t>
            </a:r>
            <a:r>
              <a:rPr lang="fr-FR" sz="2400" b="1" dirty="0">
                <a:solidFill>
                  <a:schemeClr val="tx2">
                    <a:lumMod val="75000"/>
                  </a:schemeClr>
                </a:solidFill>
                <a:latin typeface="Whitney Book" pitchFamily="50" charset="0"/>
                <a:cs typeface="Whitney Book" pitchFamily="50" charset="0"/>
              </a:rPr>
              <a:t>)</a:t>
            </a:r>
            <a:endParaRPr lang="en-US" sz="2400" b="1" dirty="0">
              <a:solidFill>
                <a:schemeClr val="tx2">
                  <a:lumMod val="75000"/>
                </a:schemeClr>
              </a:solidFill>
              <a:latin typeface="Whitney Book" pitchFamily="50" charset="0"/>
              <a:cs typeface="Whitney Book" pitchFamily="50" charset="0"/>
            </a:endParaRPr>
          </a:p>
        </p:txBody>
      </p:sp>
      <p:sp>
        <p:nvSpPr>
          <p:cNvPr id="28" name="TextBox 27">
            <a:extLst>
              <a:ext uri="{FF2B5EF4-FFF2-40B4-BE49-F238E27FC236}">
                <a16:creationId xmlns:a16="http://schemas.microsoft.com/office/drawing/2014/main" id="{92236218-4F8C-4EB4-A3C6-3F605977356A}"/>
              </a:ext>
            </a:extLst>
          </p:cNvPr>
          <p:cNvSpPr txBox="1"/>
          <p:nvPr/>
        </p:nvSpPr>
        <p:spPr>
          <a:xfrm>
            <a:off x="3255310" y="2060368"/>
            <a:ext cx="1242633" cy="646331"/>
          </a:xfrm>
          <a:prstGeom prst="rect">
            <a:avLst/>
          </a:prstGeom>
          <a:noFill/>
        </p:spPr>
        <p:txBody>
          <a:bodyPr wrap="square" rtlCol="0">
            <a:spAutoFit/>
          </a:bodyPr>
          <a:lstStyle/>
          <a:p>
            <a:r>
              <a:rPr lang="fr-FR" dirty="0" err="1">
                <a:latin typeface="Whitney Book" pitchFamily="50" charset="0"/>
                <a:cs typeface="Whitney Book" pitchFamily="50" charset="0"/>
              </a:rPr>
              <a:t>Market</a:t>
            </a:r>
            <a:r>
              <a:rPr lang="fr-FR" dirty="0">
                <a:latin typeface="Whitney Book" pitchFamily="50" charset="0"/>
                <a:cs typeface="Whitney Book" pitchFamily="50" charset="0"/>
              </a:rPr>
              <a:t> </a:t>
            </a:r>
            <a:r>
              <a:rPr lang="fr-FR" dirty="0" err="1">
                <a:latin typeface="Whitney Book" pitchFamily="50" charset="0"/>
                <a:cs typeface="Whitney Book" pitchFamily="50" charset="0"/>
              </a:rPr>
              <a:t>Supply</a:t>
            </a:r>
            <a:r>
              <a:rPr lang="fr-FR" dirty="0">
                <a:latin typeface="Whitney Book" pitchFamily="50" charset="0"/>
                <a:cs typeface="Whitney Book" pitchFamily="50" charset="0"/>
              </a:rPr>
              <a:t> (</a:t>
            </a:r>
            <a:r>
              <a:rPr lang="fr-FR" i="1" dirty="0">
                <a:latin typeface="Whitney Book" pitchFamily="50" charset="0"/>
                <a:cs typeface="Whitney Book" pitchFamily="50" charset="0"/>
              </a:rPr>
              <a:t>S</a:t>
            </a:r>
            <a:r>
              <a:rPr lang="fr-FR" dirty="0">
                <a:latin typeface="Whitney Book" pitchFamily="50" charset="0"/>
                <a:cs typeface="Whitney Book" pitchFamily="50" charset="0"/>
              </a:rPr>
              <a:t>)</a:t>
            </a:r>
            <a:endParaRPr lang="en-US" dirty="0">
              <a:latin typeface="Whitney Book" pitchFamily="50" charset="0"/>
              <a:cs typeface="Whitney Book" pitchFamily="50" charset="0"/>
            </a:endParaRPr>
          </a:p>
        </p:txBody>
      </p:sp>
      <p:sp>
        <p:nvSpPr>
          <p:cNvPr id="29" name="TextBox 28">
            <a:extLst>
              <a:ext uri="{FF2B5EF4-FFF2-40B4-BE49-F238E27FC236}">
                <a16:creationId xmlns:a16="http://schemas.microsoft.com/office/drawing/2014/main" id="{25B65260-2D2F-4D9F-A3D1-90C082C430EF}"/>
              </a:ext>
            </a:extLst>
          </p:cNvPr>
          <p:cNvSpPr txBox="1"/>
          <p:nvPr/>
        </p:nvSpPr>
        <p:spPr>
          <a:xfrm>
            <a:off x="3443046" y="4359573"/>
            <a:ext cx="1400552" cy="646331"/>
          </a:xfrm>
          <a:prstGeom prst="rect">
            <a:avLst/>
          </a:prstGeom>
          <a:noFill/>
        </p:spPr>
        <p:txBody>
          <a:bodyPr wrap="square" rtlCol="0">
            <a:spAutoFit/>
          </a:bodyPr>
          <a:lstStyle/>
          <a:p>
            <a:r>
              <a:rPr lang="fr-FR" dirty="0" err="1">
                <a:latin typeface="Whitney Book" pitchFamily="50" charset="0"/>
                <a:cs typeface="Whitney Book" pitchFamily="50" charset="0"/>
              </a:rPr>
              <a:t>Market</a:t>
            </a:r>
            <a:r>
              <a:rPr lang="fr-FR" dirty="0">
                <a:latin typeface="Whitney Book" pitchFamily="50" charset="0"/>
                <a:cs typeface="Whitney Book" pitchFamily="50" charset="0"/>
              </a:rPr>
              <a:t> </a:t>
            </a:r>
            <a:r>
              <a:rPr lang="fr-FR" dirty="0" err="1">
                <a:latin typeface="Whitney Book" pitchFamily="50" charset="0"/>
                <a:cs typeface="Whitney Book" pitchFamily="50" charset="0"/>
              </a:rPr>
              <a:t>Demand</a:t>
            </a:r>
            <a:r>
              <a:rPr lang="fr-FR" dirty="0">
                <a:latin typeface="Whitney Book" pitchFamily="50" charset="0"/>
                <a:cs typeface="Whitney Book" pitchFamily="50" charset="0"/>
              </a:rPr>
              <a:t> (</a:t>
            </a:r>
            <a:r>
              <a:rPr lang="fr-FR" i="1" dirty="0">
                <a:latin typeface="Whitney Book" pitchFamily="50" charset="0"/>
                <a:cs typeface="Whitney Book" pitchFamily="50" charset="0"/>
              </a:rPr>
              <a:t>D</a:t>
            </a:r>
            <a:r>
              <a:rPr lang="fr-FR" dirty="0">
                <a:latin typeface="Whitney Book" pitchFamily="50" charset="0"/>
                <a:cs typeface="Whitney Book" pitchFamily="50" charset="0"/>
              </a:rPr>
              <a:t>)</a:t>
            </a:r>
            <a:endParaRPr lang="en-US" dirty="0">
              <a:latin typeface="Whitney Book" pitchFamily="50" charset="0"/>
              <a:cs typeface="Whitney Book" pitchFamily="50" charset="0"/>
            </a:endParaRPr>
          </a:p>
        </p:txBody>
      </p:sp>
      <p:sp>
        <p:nvSpPr>
          <p:cNvPr id="30" name="TextBox 29">
            <a:extLst>
              <a:ext uri="{FF2B5EF4-FFF2-40B4-BE49-F238E27FC236}">
                <a16:creationId xmlns:a16="http://schemas.microsoft.com/office/drawing/2014/main" id="{7C39CAA7-9340-454C-BC7F-2463B768E506}"/>
              </a:ext>
            </a:extLst>
          </p:cNvPr>
          <p:cNvSpPr txBox="1"/>
          <p:nvPr/>
        </p:nvSpPr>
        <p:spPr>
          <a:xfrm>
            <a:off x="1254422" y="2023933"/>
            <a:ext cx="1339060" cy="646331"/>
          </a:xfrm>
          <a:prstGeom prst="rect">
            <a:avLst/>
          </a:prstGeom>
          <a:noFill/>
        </p:spPr>
        <p:txBody>
          <a:bodyPr wrap="square" rtlCol="0">
            <a:spAutoFit/>
          </a:bodyPr>
          <a:lstStyle/>
          <a:p>
            <a:r>
              <a:rPr lang="fr-FR" dirty="0" err="1">
                <a:latin typeface="Whitney Book" pitchFamily="50" charset="0"/>
                <a:cs typeface="Whitney Book" pitchFamily="50" charset="0"/>
              </a:rPr>
              <a:t>Market</a:t>
            </a:r>
            <a:r>
              <a:rPr lang="fr-FR" dirty="0">
                <a:latin typeface="Whitney Book" pitchFamily="50" charset="0"/>
                <a:cs typeface="Whitney Book" pitchFamily="50" charset="0"/>
              </a:rPr>
              <a:t> </a:t>
            </a:r>
            <a:r>
              <a:rPr lang="fr-FR" dirty="0" err="1">
                <a:latin typeface="Whitney Book" pitchFamily="50" charset="0"/>
                <a:cs typeface="Whitney Book" pitchFamily="50" charset="0"/>
              </a:rPr>
              <a:t>Equilibrium</a:t>
            </a:r>
            <a:endParaRPr lang="en-US" dirty="0">
              <a:latin typeface="Whitney Book" pitchFamily="50" charset="0"/>
              <a:cs typeface="Whitney Book" pitchFamily="50" charset="0"/>
            </a:endParaRPr>
          </a:p>
        </p:txBody>
      </p:sp>
      <p:cxnSp>
        <p:nvCxnSpPr>
          <p:cNvPr id="32" name="Straight Arrow Connector 31">
            <a:extLst>
              <a:ext uri="{FF2B5EF4-FFF2-40B4-BE49-F238E27FC236}">
                <a16:creationId xmlns:a16="http://schemas.microsoft.com/office/drawing/2014/main" id="{C9702C91-9B5F-42A0-83CA-4010736EC6E3}"/>
              </a:ext>
            </a:extLst>
          </p:cNvPr>
          <p:cNvCxnSpPr>
            <a:stCxn id="30" idx="2"/>
          </p:cNvCxnSpPr>
          <p:nvPr/>
        </p:nvCxnSpPr>
        <p:spPr>
          <a:xfrm>
            <a:off x="1923952" y="2670264"/>
            <a:ext cx="172723" cy="68933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3" name="TextBox 32">
            <a:extLst>
              <a:ext uri="{FF2B5EF4-FFF2-40B4-BE49-F238E27FC236}">
                <a16:creationId xmlns:a16="http://schemas.microsoft.com/office/drawing/2014/main" id="{B3839ACC-BE7E-4C47-A630-ADBCAEA1CE94}"/>
              </a:ext>
            </a:extLst>
          </p:cNvPr>
          <p:cNvSpPr txBox="1"/>
          <p:nvPr/>
        </p:nvSpPr>
        <p:spPr>
          <a:xfrm>
            <a:off x="185554" y="3423982"/>
            <a:ext cx="1242633" cy="369332"/>
          </a:xfrm>
          <a:prstGeom prst="rect">
            <a:avLst/>
          </a:prstGeom>
          <a:noFill/>
        </p:spPr>
        <p:txBody>
          <a:bodyPr wrap="square" rtlCol="0">
            <a:spAutoFit/>
          </a:bodyPr>
          <a:lstStyle/>
          <a:p>
            <a:r>
              <a:rPr lang="fr-FR" i="1" dirty="0">
                <a:latin typeface="Whitney Book" pitchFamily="50" charset="0"/>
                <a:cs typeface="Whitney Book" pitchFamily="50" charset="0"/>
              </a:rPr>
              <a:t>P*</a:t>
            </a:r>
            <a:endParaRPr lang="en-US" i="1" dirty="0">
              <a:latin typeface="Whitney Book" pitchFamily="50" charset="0"/>
              <a:cs typeface="Whitney Book" pitchFamily="50" charset="0"/>
            </a:endParaRPr>
          </a:p>
        </p:txBody>
      </p:sp>
      <p:sp>
        <p:nvSpPr>
          <p:cNvPr id="34" name="TextBox 33">
            <a:extLst>
              <a:ext uri="{FF2B5EF4-FFF2-40B4-BE49-F238E27FC236}">
                <a16:creationId xmlns:a16="http://schemas.microsoft.com/office/drawing/2014/main" id="{AC81EFD9-6C34-406E-A675-9D582421EB6D}"/>
              </a:ext>
            </a:extLst>
          </p:cNvPr>
          <p:cNvSpPr txBox="1"/>
          <p:nvPr/>
        </p:nvSpPr>
        <p:spPr>
          <a:xfrm>
            <a:off x="5924917" y="2956742"/>
            <a:ext cx="2635545" cy="646331"/>
          </a:xfrm>
          <a:prstGeom prst="rect">
            <a:avLst/>
          </a:prstGeom>
          <a:noFill/>
        </p:spPr>
        <p:txBody>
          <a:bodyPr wrap="square" rtlCol="0">
            <a:spAutoFit/>
          </a:bodyPr>
          <a:lstStyle/>
          <a:p>
            <a:r>
              <a:rPr lang="fr-FR" dirty="0" err="1">
                <a:latin typeface="Whitney Book" pitchFamily="50" charset="0"/>
                <a:cs typeface="Whitney Book" pitchFamily="50" charset="0"/>
              </a:rPr>
              <a:t>Demand</a:t>
            </a:r>
            <a:r>
              <a:rPr lang="fr-FR" dirty="0">
                <a:latin typeface="Whitney Book" pitchFamily="50" charset="0"/>
                <a:cs typeface="Whitney Book" pitchFamily="50" charset="0"/>
              </a:rPr>
              <a:t> </a:t>
            </a:r>
            <a:r>
              <a:rPr lang="fr-FR" dirty="0" err="1">
                <a:latin typeface="Whitney Book" pitchFamily="50" charset="0"/>
                <a:cs typeface="Whitney Book" pitchFamily="50" charset="0"/>
              </a:rPr>
              <a:t>curve</a:t>
            </a:r>
            <a:r>
              <a:rPr lang="fr-FR" dirty="0">
                <a:latin typeface="Whitney Book" pitchFamily="50" charset="0"/>
                <a:cs typeface="Whitney Book" pitchFamily="50" charset="0"/>
              </a:rPr>
              <a:t> d = Marginal Revenue (</a:t>
            </a:r>
            <a:r>
              <a:rPr lang="fr-FR" i="1" dirty="0">
                <a:latin typeface="Whitney Book" pitchFamily="50" charset="0"/>
                <a:cs typeface="Whitney Book" pitchFamily="50" charset="0"/>
              </a:rPr>
              <a:t>MR</a:t>
            </a:r>
            <a:r>
              <a:rPr lang="fr-FR" dirty="0">
                <a:latin typeface="Whitney Book" pitchFamily="50" charset="0"/>
                <a:cs typeface="Whitney Book" pitchFamily="50" charset="0"/>
              </a:rPr>
              <a:t>)</a:t>
            </a:r>
            <a:endParaRPr lang="en-US" dirty="0">
              <a:latin typeface="Whitney Book" pitchFamily="50" charset="0"/>
              <a:cs typeface="Whitney Book" pitchFamily="50" charset="0"/>
            </a:endParaRPr>
          </a:p>
        </p:txBody>
      </p:sp>
    </p:spTree>
    <p:extLst>
      <p:ext uri="{BB962C8B-B14F-4D97-AF65-F5344CB8AC3E}">
        <p14:creationId xmlns:p14="http://schemas.microsoft.com/office/powerpoint/2010/main" val="1359000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16" grpId="0" animBg="1"/>
      <p:bldP spid="18" grpId="0" animBg="1"/>
      <p:bldP spid="17" grpId="0" animBg="1"/>
      <p:bldP spid="28" grpId="0"/>
      <p:bldP spid="29" grpId="0"/>
      <p:bldP spid="30" grpId="0"/>
      <p:bldP spid="33" grpId="0"/>
      <p:bldP spid="3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4175" y="490235"/>
            <a:ext cx="8520600" cy="763600"/>
          </a:xfrm>
        </p:spPr>
        <p:txBody>
          <a:bodyPr>
            <a:noAutofit/>
          </a:bodyPr>
          <a:lstStyle/>
          <a:p>
            <a:r>
              <a:rPr lang="en-US" dirty="0"/>
              <a:t>Perfect Competition and Farmer Protests</a:t>
            </a:r>
            <a:br>
              <a:rPr lang="en-US" dirty="0"/>
            </a:br>
            <a:endParaRPr lang="en-US" dirty="0"/>
          </a:p>
        </p:txBody>
      </p:sp>
      <p:sp>
        <p:nvSpPr>
          <p:cNvPr id="3" name="Content Placeholder 2"/>
          <p:cNvSpPr>
            <a:spLocks noGrp="1"/>
          </p:cNvSpPr>
          <p:nvPr>
            <p:ph type="body" idx="1"/>
          </p:nvPr>
        </p:nvSpPr>
        <p:spPr/>
        <p:txBody>
          <a:bodyPr>
            <a:normAutofit/>
          </a:bodyPr>
          <a:lstStyle/>
          <a:p>
            <a:r>
              <a:rPr lang="en-US" sz="2000" dirty="0"/>
              <a:t>Germany’s government cut subsidies for farmers in 2024. </a:t>
            </a:r>
          </a:p>
          <a:p>
            <a:r>
              <a:rPr lang="en-US" sz="2000" dirty="0"/>
              <a:t>“The farmers’ association said some farmers stood to lose as much as €10,000 a year from the cuts.”</a:t>
            </a:r>
          </a:p>
          <a:p>
            <a:endParaRPr lang="en-US" sz="1100" dirty="0"/>
          </a:p>
        </p:txBody>
      </p:sp>
      <p:sp>
        <p:nvSpPr>
          <p:cNvPr id="4" name="Slide Number Placeholder 3"/>
          <p:cNvSpPr>
            <a:spLocks noGrp="1"/>
          </p:cNvSpPr>
          <p:nvPr>
            <p:ph type="sldNum" sz="quarter" idx="12"/>
          </p:nvPr>
        </p:nvSpPr>
        <p:spPr/>
        <p:txBody>
          <a:bodyPr/>
          <a:lstStyle/>
          <a:p>
            <a:fld id="{DBC38028-5B1C-49D3-BF22-2CE9385E6DA2}" type="slidenum">
              <a:rPr lang="en-US" smtClean="0"/>
              <a:pPr/>
              <a:t>11</a:t>
            </a:fld>
            <a:endParaRPr lang="en-US" dirty="0"/>
          </a:p>
        </p:txBody>
      </p:sp>
      <p:pic>
        <p:nvPicPr>
          <p:cNvPr id="6" name="Picture 5">
            <a:extLst>
              <a:ext uri="{FF2B5EF4-FFF2-40B4-BE49-F238E27FC236}">
                <a16:creationId xmlns:a16="http://schemas.microsoft.com/office/drawing/2014/main" id="{880C4C96-ECBD-4A4C-8F43-B043430CF261}"/>
              </a:ext>
            </a:extLst>
          </p:cNvPr>
          <p:cNvPicPr>
            <a:picLocks noChangeAspect="1"/>
          </p:cNvPicPr>
          <p:nvPr/>
        </p:nvPicPr>
        <p:blipFill>
          <a:blip r:embed="rId4"/>
          <a:stretch>
            <a:fillRect/>
          </a:stretch>
        </p:blipFill>
        <p:spPr>
          <a:xfrm>
            <a:off x="223242" y="2929380"/>
            <a:ext cx="4348758" cy="2574923"/>
          </a:xfrm>
          <a:prstGeom prst="rect">
            <a:avLst/>
          </a:prstGeom>
        </p:spPr>
      </p:pic>
      <p:pic>
        <p:nvPicPr>
          <p:cNvPr id="7" name="Picture 6">
            <a:extLst>
              <a:ext uri="{FF2B5EF4-FFF2-40B4-BE49-F238E27FC236}">
                <a16:creationId xmlns:a16="http://schemas.microsoft.com/office/drawing/2014/main" id="{7A82FDD1-93D2-42A0-8DBF-A87C3098DDEE}"/>
              </a:ext>
            </a:extLst>
          </p:cNvPr>
          <p:cNvPicPr>
            <a:picLocks noChangeAspect="1"/>
          </p:cNvPicPr>
          <p:nvPr/>
        </p:nvPicPr>
        <p:blipFill>
          <a:blip r:embed="rId5"/>
          <a:stretch>
            <a:fillRect/>
          </a:stretch>
        </p:blipFill>
        <p:spPr>
          <a:xfrm>
            <a:off x="6893433" y="786652"/>
            <a:ext cx="1907118" cy="670908"/>
          </a:xfrm>
          <a:prstGeom prst="rect">
            <a:avLst/>
          </a:prstGeom>
        </p:spPr>
      </p:pic>
      <p:sp>
        <p:nvSpPr>
          <p:cNvPr id="8" name="Content Placeholder 2">
            <a:extLst>
              <a:ext uri="{FF2B5EF4-FFF2-40B4-BE49-F238E27FC236}">
                <a16:creationId xmlns:a16="http://schemas.microsoft.com/office/drawing/2014/main" id="{B1C201F7-F109-4A80-960F-CB9D5CDD8795}"/>
              </a:ext>
            </a:extLst>
          </p:cNvPr>
          <p:cNvSpPr txBox="1">
            <a:spLocks/>
          </p:cNvSpPr>
          <p:nvPr/>
        </p:nvSpPr>
        <p:spPr>
          <a:xfrm>
            <a:off x="4878366" y="2929380"/>
            <a:ext cx="4030134" cy="295583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00" dirty="0"/>
              <a:t>Statement by Germany’s minister of economic affairs: </a:t>
            </a:r>
          </a:p>
          <a:p>
            <a:pPr marL="0" indent="0">
              <a:buNone/>
            </a:pPr>
            <a:r>
              <a:rPr lang="en-US" sz="2000" dirty="0"/>
              <a:t>“For farmers there is a structural problem: They </a:t>
            </a:r>
            <a:r>
              <a:rPr lang="en-US" sz="2000" b="1" dirty="0"/>
              <a:t>cannot pass on their production costs because the prices are not made by them</a:t>
            </a:r>
            <a:r>
              <a:rPr lang="en-US" sz="2000" dirty="0"/>
              <a:t>.” </a:t>
            </a:r>
          </a:p>
          <a:p>
            <a:endParaRPr lang="en-US" sz="2000" dirty="0"/>
          </a:p>
          <a:p>
            <a:endParaRPr lang="en-US" sz="1100" dirty="0"/>
          </a:p>
        </p:txBody>
      </p:sp>
    </p:spTree>
    <p:custDataLst>
      <p:tags r:id="rId1"/>
    </p:custDataLst>
    <p:extLst>
      <p:ext uri="{BB962C8B-B14F-4D97-AF65-F5344CB8AC3E}">
        <p14:creationId xmlns:p14="http://schemas.microsoft.com/office/powerpoint/2010/main" val="4003588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3DD3A-C3A3-4283-B0E9-2EDACEE70A4F}"/>
              </a:ext>
            </a:extLst>
          </p:cNvPr>
          <p:cNvSpPr>
            <a:spLocks noGrp="1"/>
          </p:cNvSpPr>
          <p:nvPr>
            <p:ph type="title"/>
          </p:nvPr>
        </p:nvSpPr>
        <p:spPr/>
        <p:txBody>
          <a:bodyPr/>
          <a:lstStyle/>
          <a:p>
            <a:r>
              <a:rPr lang="fr-FR" dirty="0"/>
              <a:t>Example: The Yi </a:t>
            </a:r>
            <a:r>
              <a:rPr lang="fr-FR" dirty="0" err="1"/>
              <a:t>family</a:t>
            </a:r>
            <a:endParaRPr lang="en-US" dirty="0"/>
          </a:p>
        </p:txBody>
      </p:sp>
      <p:sp>
        <p:nvSpPr>
          <p:cNvPr id="3" name="Content Placeholder 2">
            <a:extLst>
              <a:ext uri="{FF2B5EF4-FFF2-40B4-BE49-F238E27FC236}">
                <a16:creationId xmlns:a16="http://schemas.microsoft.com/office/drawing/2014/main" id="{E877C84F-0B95-468B-89D0-2846EBBBB614}"/>
              </a:ext>
            </a:extLst>
          </p:cNvPr>
          <p:cNvSpPr>
            <a:spLocks noGrp="1"/>
          </p:cNvSpPr>
          <p:nvPr>
            <p:ph type="body" idx="1"/>
          </p:nvPr>
        </p:nvSpPr>
        <p:spPr/>
        <p:txBody>
          <a:bodyPr>
            <a:normAutofit/>
          </a:bodyPr>
          <a:lstStyle/>
          <a:p>
            <a:r>
              <a:rPr lang="fr-FR" sz="2400" dirty="0"/>
              <a:t>South </a:t>
            </a:r>
            <a:r>
              <a:rPr lang="fr-FR" sz="2400" dirty="0" err="1"/>
              <a:t>Korean</a:t>
            </a:r>
            <a:r>
              <a:rPr lang="fr-FR" sz="2400" dirty="0"/>
              <a:t> </a:t>
            </a:r>
            <a:r>
              <a:rPr lang="fr-FR" sz="2400" dirty="0" err="1"/>
              <a:t>family</a:t>
            </a:r>
            <a:r>
              <a:rPr lang="fr-FR" sz="2400" dirty="0"/>
              <a:t> moves </a:t>
            </a:r>
            <a:r>
              <a:rPr lang="fr-FR" sz="2400" dirty="0" err="1"/>
              <a:t>from</a:t>
            </a:r>
            <a:r>
              <a:rPr lang="fr-FR" sz="2400" dirty="0"/>
              <a:t> California to rural Arkansas to start a </a:t>
            </a:r>
            <a:r>
              <a:rPr lang="fr-FR" sz="2400" dirty="0" err="1"/>
              <a:t>family</a:t>
            </a:r>
            <a:r>
              <a:rPr lang="fr-FR" sz="2400" dirty="0"/>
              <a:t> </a:t>
            </a:r>
            <a:r>
              <a:rPr lang="fr-FR" sz="2400" dirty="0" err="1"/>
              <a:t>farm</a:t>
            </a:r>
            <a:endParaRPr lang="fr-FR" sz="2400" dirty="0"/>
          </a:p>
          <a:p>
            <a:r>
              <a:rPr lang="fr-FR" sz="2400" dirty="0" err="1"/>
              <a:t>Their</a:t>
            </a:r>
            <a:r>
              <a:rPr lang="fr-FR" sz="2400" dirty="0"/>
              <a:t> goal: </a:t>
            </a:r>
            <a:r>
              <a:rPr lang="fr-FR" sz="2400" dirty="0" err="1"/>
              <a:t>grow</a:t>
            </a:r>
            <a:r>
              <a:rPr lang="fr-FR" sz="2400" dirty="0"/>
              <a:t> </a:t>
            </a:r>
            <a:r>
              <a:rPr lang="fr-FR" sz="2400" dirty="0" err="1"/>
              <a:t>Korean</a:t>
            </a:r>
            <a:r>
              <a:rPr lang="fr-FR" sz="2400" dirty="0"/>
              <a:t> </a:t>
            </a:r>
            <a:r>
              <a:rPr lang="fr-FR" sz="2400" dirty="0" err="1"/>
              <a:t>produce</a:t>
            </a:r>
            <a:r>
              <a:rPr lang="fr-FR" sz="2400" dirty="0"/>
              <a:t> to </a:t>
            </a:r>
            <a:r>
              <a:rPr lang="fr-FR" sz="2400" dirty="0" err="1"/>
              <a:t>sell</a:t>
            </a:r>
            <a:r>
              <a:rPr lang="fr-FR" sz="2400" dirty="0"/>
              <a:t> to </a:t>
            </a:r>
            <a:r>
              <a:rPr lang="fr-FR" sz="2400" dirty="0" err="1"/>
              <a:t>vendors</a:t>
            </a:r>
            <a:r>
              <a:rPr lang="fr-FR" sz="2400" dirty="0"/>
              <a:t> in Dallas (at </a:t>
            </a:r>
            <a:r>
              <a:rPr lang="fr-FR" sz="2400" dirty="0" err="1"/>
              <a:t>market</a:t>
            </a:r>
            <a:r>
              <a:rPr lang="fr-FR" sz="2400" dirty="0"/>
              <a:t> </a:t>
            </a:r>
            <a:r>
              <a:rPr lang="fr-FR" sz="2400" dirty="0" err="1"/>
              <a:t>price</a:t>
            </a:r>
            <a:r>
              <a:rPr lang="fr-FR" sz="2400" dirty="0"/>
              <a:t>)</a:t>
            </a:r>
          </a:p>
          <a:p>
            <a:r>
              <a:rPr lang="fr-FR" sz="2400" dirty="0" err="1"/>
              <a:t>We</a:t>
            </a:r>
            <a:r>
              <a:rPr lang="fr-FR" sz="2400" dirty="0"/>
              <a:t> focus on </a:t>
            </a:r>
            <a:r>
              <a:rPr lang="fr-FR" sz="2400" dirty="0" err="1"/>
              <a:t>their</a:t>
            </a:r>
            <a:r>
              <a:rPr lang="fr-FR" sz="2400" dirty="0"/>
              <a:t> production of </a:t>
            </a:r>
            <a:r>
              <a:rPr lang="fr-FR" sz="2400" dirty="0" err="1"/>
              <a:t>cabbages</a:t>
            </a:r>
            <a:r>
              <a:rPr lang="fr-FR" sz="2400" dirty="0"/>
              <a:t> (</a:t>
            </a:r>
            <a:r>
              <a:rPr lang="fr-FR" sz="2400" dirty="0" err="1"/>
              <a:t>used</a:t>
            </a:r>
            <a:r>
              <a:rPr lang="fr-FR" sz="2400" dirty="0"/>
              <a:t> to </a:t>
            </a:r>
            <a:r>
              <a:rPr lang="fr-FR" sz="2400" dirty="0" err="1"/>
              <a:t>make</a:t>
            </a:r>
            <a:r>
              <a:rPr lang="fr-FR" sz="2400" dirty="0"/>
              <a:t> Kimchi)</a:t>
            </a:r>
          </a:p>
        </p:txBody>
      </p:sp>
      <p:pic>
        <p:nvPicPr>
          <p:cNvPr id="7" name="Picture 6">
            <a:extLst>
              <a:ext uri="{FF2B5EF4-FFF2-40B4-BE49-F238E27FC236}">
                <a16:creationId xmlns:a16="http://schemas.microsoft.com/office/drawing/2014/main" id="{C4F95310-0294-485A-B846-E26309DE6471}"/>
              </a:ext>
            </a:extLst>
          </p:cNvPr>
          <p:cNvPicPr>
            <a:picLocks noChangeAspect="1"/>
          </p:cNvPicPr>
          <p:nvPr/>
        </p:nvPicPr>
        <p:blipFill>
          <a:blip r:embed="rId3"/>
          <a:stretch>
            <a:fillRect/>
          </a:stretch>
        </p:blipFill>
        <p:spPr>
          <a:xfrm>
            <a:off x="694552" y="4114139"/>
            <a:ext cx="4292367" cy="2414456"/>
          </a:xfrm>
          <a:prstGeom prst="rect">
            <a:avLst/>
          </a:prstGeom>
        </p:spPr>
      </p:pic>
      <p:pic>
        <p:nvPicPr>
          <p:cNvPr id="1026" name="Picture 2" descr="Baechu Kimchi (Napa Cabbage Kimchi) Recipe">
            <a:extLst>
              <a:ext uri="{FF2B5EF4-FFF2-40B4-BE49-F238E27FC236}">
                <a16:creationId xmlns:a16="http://schemas.microsoft.com/office/drawing/2014/main" id="{CCCB94CE-F34B-441E-B518-54B2A196F7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2009" y="3957143"/>
            <a:ext cx="1603828" cy="120287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B82CBC61-B90C-4FD4-A5F0-8867F633BA3D}"/>
              </a:ext>
            </a:extLst>
          </p:cNvPr>
          <p:cNvPicPr>
            <a:picLocks noChangeAspect="1"/>
          </p:cNvPicPr>
          <p:nvPr/>
        </p:nvPicPr>
        <p:blipFill rotWithShape="1">
          <a:blip r:embed="rId5"/>
          <a:srcRect l="7760" t="7711" b="13466"/>
          <a:stretch/>
        </p:blipFill>
        <p:spPr>
          <a:xfrm>
            <a:off x="5224271" y="5309784"/>
            <a:ext cx="1917740" cy="1202871"/>
          </a:xfrm>
          <a:prstGeom prst="rect">
            <a:avLst/>
          </a:prstGeom>
        </p:spPr>
      </p:pic>
    </p:spTree>
    <p:extLst>
      <p:ext uri="{BB962C8B-B14F-4D97-AF65-F5344CB8AC3E}">
        <p14:creationId xmlns:p14="http://schemas.microsoft.com/office/powerpoint/2010/main" val="2689077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Growing Cabbage From Seed is Easy as Pie">
            <a:extLst>
              <a:ext uri="{FF2B5EF4-FFF2-40B4-BE49-F238E27FC236}">
                <a16:creationId xmlns:a16="http://schemas.microsoft.com/office/drawing/2014/main" id="{6EBD11D2-950F-4272-ACF5-854AEB1E48B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393"/>
          <a:stretch/>
        </p:blipFill>
        <p:spPr bwMode="auto">
          <a:xfrm>
            <a:off x="0" y="4285240"/>
            <a:ext cx="2047090" cy="173273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879D7F2-1082-4CA1-A0B7-E6BA43B640B6}"/>
              </a:ext>
            </a:extLst>
          </p:cNvPr>
          <p:cNvSpPr>
            <a:spLocks noGrp="1"/>
          </p:cNvSpPr>
          <p:nvPr>
            <p:ph type="title"/>
          </p:nvPr>
        </p:nvSpPr>
        <p:spPr/>
        <p:txBody>
          <a:bodyPr/>
          <a:lstStyle/>
          <a:p>
            <a:r>
              <a:rPr lang="fr-FR" dirty="0" err="1"/>
              <a:t>cabBage</a:t>
            </a:r>
            <a:r>
              <a:rPr lang="fr-FR" dirty="0"/>
              <a:t> production </a:t>
            </a:r>
            <a:r>
              <a:rPr lang="fr-FR" dirty="0" err="1"/>
              <a:t>costs</a:t>
            </a:r>
            <a:endParaRPr lang="en-US" dirty="0"/>
          </a:p>
        </p:txBody>
      </p:sp>
      <p:pic>
        <p:nvPicPr>
          <p:cNvPr id="5" name="Picture 4">
            <a:extLst>
              <a:ext uri="{FF2B5EF4-FFF2-40B4-BE49-F238E27FC236}">
                <a16:creationId xmlns:a16="http://schemas.microsoft.com/office/drawing/2014/main" id="{941BB76A-E60A-4B3D-8DBB-1ECEA1F9AC30}"/>
              </a:ext>
            </a:extLst>
          </p:cNvPr>
          <p:cNvPicPr>
            <a:picLocks noChangeAspect="1"/>
          </p:cNvPicPr>
          <p:nvPr/>
        </p:nvPicPr>
        <p:blipFill rotWithShape="1">
          <a:blip r:embed="rId4"/>
          <a:srcRect r="1619"/>
          <a:stretch/>
        </p:blipFill>
        <p:spPr>
          <a:xfrm>
            <a:off x="1864281" y="1896568"/>
            <a:ext cx="5671390" cy="377271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054" name="Picture 6" descr="Watering cabbage with sprinklers. Blue sky by Deyan Georgiev. Photo stock -  Snapwire">
            <a:extLst>
              <a:ext uri="{FF2B5EF4-FFF2-40B4-BE49-F238E27FC236}">
                <a16:creationId xmlns:a16="http://schemas.microsoft.com/office/drawing/2014/main" id="{39183405-54D7-4F67-BBEB-80550CB21A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04103" y="2683585"/>
            <a:ext cx="1311575" cy="196557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What Are The Three Main Types Of Fertilizers?">
            <a:extLst>
              <a:ext uri="{FF2B5EF4-FFF2-40B4-BE49-F238E27FC236}">
                <a16:creationId xmlns:a16="http://schemas.microsoft.com/office/drawing/2014/main" id="{208F27C8-2156-409D-8358-528BCAE81D7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896568"/>
            <a:ext cx="1707453" cy="1135761"/>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EFF51ABB-640D-4A66-AEA2-7292014B8AAE}"/>
              </a:ext>
            </a:extLst>
          </p:cNvPr>
          <p:cNvSpPr/>
          <p:nvPr/>
        </p:nvSpPr>
        <p:spPr>
          <a:xfrm>
            <a:off x="4440025" y="1896568"/>
            <a:ext cx="3095646" cy="377271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d</a:t>
            </a:r>
          </a:p>
        </p:txBody>
      </p:sp>
      <p:sp>
        <p:nvSpPr>
          <p:cNvPr id="10" name="Parallelogram 9">
            <a:extLst>
              <a:ext uri="{FF2B5EF4-FFF2-40B4-BE49-F238E27FC236}">
                <a16:creationId xmlns:a16="http://schemas.microsoft.com/office/drawing/2014/main" id="{93B0EBE1-A5CF-4158-8548-54C5D031B1FC}"/>
              </a:ext>
            </a:extLst>
          </p:cNvPr>
          <p:cNvSpPr/>
          <p:nvPr/>
        </p:nvSpPr>
        <p:spPr>
          <a:xfrm>
            <a:off x="4883085" y="6097419"/>
            <a:ext cx="4132593" cy="687801"/>
          </a:xfrm>
          <a:prstGeom prst="parallelogram">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50000" t="50000" r="50000" b="50000"/>
            </a:path>
            <a:tileRect/>
          </a:gradFill>
          <a:ln>
            <a:noFill/>
          </a:ln>
        </p:spPr>
        <p:style>
          <a:lnRef idx="1">
            <a:schemeClr val="accent2"/>
          </a:lnRef>
          <a:fillRef idx="3">
            <a:schemeClr val="accent2"/>
          </a:fillRef>
          <a:effectRef idx="2">
            <a:schemeClr val="accent2"/>
          </a:effectRef>
          <a:fontRef idx="minor">
            <a:schemeClr val="lt1"/>
          </a:fontRef>
        </p:style>
        <p:txBody>
          <a:bodyPr rtlCol="0" anchor="ctr"/>
          <a:lstStyle/>
          <a:p>
            <a:pPr>
              <a:defRPr/>
            </a:pPr>
            <a:r>
              <a:rPr lang="en-US" sz="3200" b="1" i="1" dirty="0">
                <a:solidFill>
                  <a:prstClr val="white"/>
                </a:solidFill>
              </a:rPr>
              <a:t>Yi Family Example</a:t>
            </a:r>
          </a:p>
        </p:txBody>
      </p:sp>
    </p:spTree>
    <p:extLst>
      <p:ext uri="{BB962C8B-B14F-4D97-AF65-F5344CB8AC3E}">
        <p14:creationId xmlns:p14="http://schemas.microsoft.com/office/powerpoint/2010/main" val="670188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879D7F2-1082-4CA1-A0B7-E6BA43B640B6}"/>
                  </a:ext>
                </a:extLst>
              </p:cNvPr>
              <p:cNvSpPr>
                <a:spLocks noGrp="1"/>
              </p:cNvSpPr>
              <p:nvPr>
                <p:ph type="title"/>
              </p:nvPr>
            </p:nvSpPr>
            <p:spPr/>
            <p:txBody>
              <a:bodyPr/>
              <a:lstStyle/>
              <a:p>
                <a:r>
                  <a:rPr lang="fr-FR" dirty="0" err="1"/>
                  <a:t>cabBage</a:t>
                </a:r>
                <a:r>
                  <a:rPr lang="fr-FR" dirty="0"/>
                  <a:t> total </a:t>
                </a:r>
                <a:r>
                  <a:rPr lang="fr-FR" dirty="0" err="1"/>
                  <a:t>Cost</a:t>
                </a:r>
                <a:r>
                  <a:rPr lang="fr-FR" dirty="0"/>
                  <a:t> </a:t>
                </a:r>
                <a:r>
                  <a:rPr lang="fr-FR" dirty="0" err="1"/>
                  <a:t>function</a:t>
                </a:r>
                <a:endParaRPr lang="en-US" dirty="0"/>
              </a:p>
            </p:txBody>
          </p:sp>
        </mc:Choice>
        <mc:Fallback xmlns="">
          <p:sp>
            <p:nvSpPr>
              <p:cNvPr id="2" name="Title 1">
                <a:extLst>
                  <a:ext uri="{FF2B5EF4-FFF2-40B4-BE49-F238E27FC236}">
                    <a16:creationId xmlns:a16="http://schemas.microsoft.com/office/drawing/2014/main" id="{7879D7F2-1082-4CA1-A0B7-E6BA43B640B6}"/>
                  </a:ext>
                </a:extLst>
              </p:cNvPr>
              <p:cNvSpPr>
                <a:spLocks noGrp="1" noRot="1" noChangeAspect="1" noMove="1" noResize="1" noEditPoints="1" noAdjustHandles="1" noChangeArrowheads="1" noChangeShapeType="1" noTextEdit="1"/>
              </p:cNvSpPr>
              <p:nvPr>
                <p:ph type="title"/>
              </p:nvPr>
            </p:nvSpPr>
            <p:spPr>
              <a:blipFill>
                <a:blip r:embed="rId3"/>
                <a:stretch>
                  <a:fillRect/>
                </a:stretch>
              </a:blipFill>
            </p:spPr>
            <p:txBody>
              <a:bodyPr/>
              <a:lstStyle/>
              <a:p>
                <a:r>
                  <a:rPr lang="en-US">
                    <a:noFill/>
                  </a:rPr>
                  <a:t> </a:t>
                </a:r>
              </a:p>
            </p:txBody>
          </p:sp>
        </mc:Fallback>
      </mc:AlternateContent>
      <p:graphicFrame>
        <p:nvGraphicFramePr>
          <p:cNvPr id="5" name="Chart 4">
            <a:extLst>
              <a:ext uri="{FF2B5EF4-FFF2-40B4-BE49-F238E27FC236}">
                <a16:creationId xmlns:a16="http://schemas.microsoft.com/office/drawing/2014/main" id="{9E59D1CB-8078-41FF-9E49-57DF1F390F7E}"/>
              </a:ext>
            </a:extLst>
          </p:cNvPr>
          <p:cNvGraphicFramePr>
            <a:graphicFrameLocks/>
          </p:cNvGraphicFramePr>
          <p:nvPr>
            <p:extLst/>
          </p:nvPr>
        </p:nvGraphicFramePr>
        <p:xfrm>
          <a:off x="786580" y="1571953"/>
          <a:ext cx="7000567" cy="4119715"/>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Box 6">
            <a:extLst>
              <a:ext uri="{FF2B5EF4-FFF2-40B4-BE49-F238E27FC236}">
                <a16:creationId xmlns:a16="http://schemas.microsoft.com/office/drawing/2014/main" id="{5E036ABF-9FBC-4446-8316-2DBF0FBD11D4}"/>
              </a:ext>
            </a:extLst>
          </p:cNvPr>
          <p:cNvSpPr txBox="1"/>
          <p:nvPr/>
        </p:nvSpPr>
        <p:spPr>
          <a:xfrm>
            <a:off x="7673458" y="5300824"/>
            <a:ext cx="1632154" cy="338554"/>
          </a:xfrm>
          <a:prstGeom prst="rect">
            <a:avLst/>
          </a:prstGeom>
          <a:noFill/>
        </p:spPr>
        <p:txBody>
          <a:bodyPr wrap="square" rtlCol="0">
            <a:spAutoFit/>
          </a:bodyPr>
          <a:lstStyle/>
          <a:p>
            <a:r>
              <a:rPr lang="fr-FR" sz="1600" dirty="0" err="1">
                <a:solidFill>
                  <a:schemeClr val="tx1">
                    <a:lumMod val="65000"/>
                    <a:lumOff val="35000"/>
                  </a:schemeClr>
                </a:solidFill>
              </a:rPr>
              <a:t>Quantity</a:t>
            </a:r>
            <a:r>
              <a:rPr lang="fr-FR" sz="1600" dirty="0">
                <a:solidFill>
                  <a:schemeClr val="tx1">
                    <a:lumMod val="65000"/>
                    <a:lumOff val="35000"/>
                  </a:schemeClr>
                </a:solidFill>
              </a:rPr>
              <a:t> (tons)</a:t>
            </a:r>
            <a:endParaRPr lang="en-US" sz="1600" dirty="0">
              <a:solidFill>
                <a:schemeClr val="tx1">
                  <a:lumMod val="65000"/>
                  <a:lumOff val="35000"/>
                </a:schemeClr>
              </a:solidFill>
            </a:endParaRPr>
          </a:p>
        </p:txBody>
      </p:sp>
      <p:sp>
        <p:nvSpPr>
          <p:cNvPr id="9" name="TextBox 8">
            <a:extLst>
              <a:ext uri="{FF2B5EF4-FFF2-40B4-BE49-F238E27FC236}">
                <a16:creationId xmlns:a16="http://schemas.microsoft.com/office/drawing/2014/main" id="{22A68438-FF84-472D-8CB5-20C48791890B}"/>
              </a:ext>
            </a:extLst>
          </p:cNvPr>
          <p:cNvSpPr txBox="1"/>
          <p:nvPr/>
        </p:nvSpPr>
        <p:spPr>
          <a:xfrm>
            <a:off x="457200" y="1270215"/>
            <a:ext cx="1632154" cy="338554"/>
          </a:xfrm>
          <a:prstGeom prst="rect">
            <a:avLst/>
          </a:prstGeom>
          <a:noFill/>
        </p:spPr>
        <p:txBody>
          <a:bodyPr wrap="square" rtlCol="0">
            <a:spAutoFit/>
          </a:bodyPr>
          <a:lstStyle/>
          <a:p>
            <a:r>
              <a:rPr lang="fr-FR" sz="1600" dirty="0">
                <a:solidFill>
                  <a:schemeClr val="tx1">
                    <a:lumMod val="65000"/>
                    <a:lumOff val="35000"/>
                  </a:schemeClr>
                </a:solidFill>
              </a:rPr>
              <a:t>Total </a:t>
            </a:r>
            <a:r>
              <a:rPr lang="fr-FR" sz="1600" dirty="0" err="1">
                <a:solidFill>
                  <a:schemeClr val="tx1">
                    <a:lumMod val="65000"/>
                    <a:lumOff val="35000"/>
                  </a:schemeClr>
                </a:solidFill>
              </a:rPr>
              <a:t>cost</a:t>
            </a:r>
            <a:r>
              <a:rPr lang="fr-FR" sz="1600" dirty="0">
                <a:solidFill>
                  <a:schemeClr val="tx1">
                    <a:lumMod val="65000"/>
                    <a:lumOff val="35000"/>
                  </a:schemeClr>
                </a:solidFill>
              </a:rPr>
              <a:t> ($)</a:t>
            </a:r>
            <a:endParaRPr lang="en-US" sz="1600" dirty="0">
              <a:solidFill>
                <a:schemeClr val="tx1">
                  <a:lumMod val="65000"/>
                  <a:lumOff val="35000"/>
                </a:schemeClr>
              </a:solidFill>
            </a:endParaRPr>
          </a:p>
        </p:txBody>
      </p:sp>
      <p:sp>
        <p:nvSpPr>
          <p:cNvPr id="8" name="Parallelogram 7">
            <a:extLst>
              <a:ext uri="{FF2B5EF4-FFF2-40B4-BE49-F238E27FC236}">
                <a16:creationId xmlns:a16="http://schemas.microsoft.com/office/drawing/2014/main" id="{EDB07D1D-001B-40D8-98A8-516831982617}"/>
              </a:ext>
            </a:extLst>
          </p:cNvPr>
          <p:cNvSpPr/>
          <p:nvPr/>
        </p:nvSpPr>
        <p:spPr>
          <a:xfrm>
            <a:off x="4883085" y="6097419"/>
            <a:ext cx="4132593" cy="687801"/>
          </a:xfrm>
          <a:prstGeom prst="parallelogram">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50000" t="50000" r="50000" b="50000"/>
            </a:path>
            <a:tileRect/>
          </a:gradFill>
          <a:ln>
            <a:noFill/>
          </a:ln>
        </p:spPr>
        <p:style>
          <a:lnRef idx="1">
            <a:schemeClr val="accent2"/>
          </a:lnRef>
          <a:fillRef idx="3">
            <a:schemeClr val="accent2"/>
          </a:fillRef>
          <a:effectRef idx="2">
            <a:schemeClr val="accent2"/>
          </a:effectRef>
          <a:fontRef idx="minor">
            <a:schemeClr val="lt1"/>
          </a:fontRef>
        </p:style>
        <p:txBody>
          <a:bodyPr rtlCol="0" anchor="ctr"/>
          <a:lstStyle/>
          <a:p>
            <a:pPr>
              <a:defRPr/>
            </a:pPr>
            <a:r>
              <a:rPr lang="en-US" sz="3200" b="1" i="1" dirty="0">
                <a:solidFill>
                  <a:prstClr val="white"/>
                </a:solidFill>
              </a:rPr>
              <a:t>Yi Family Example</a:t>
            </a:r>
          </a:p>
        </p:txBody>
      </p:sp>
    </p:spTree>
    <p:extLst>
      <p:ext uri="{BB962C8B-B14F-4D97-AF65-F5344CB8AC3E}">
        <p14:creationId xmlns:p14="http://schemas.microsoft.com/office/powerpoint/2010/main" val="1980584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Relevance</a:t>
            </a:r>
          </a:p>
        </p:txBody>
      </p:sp>
      <p:sp>
        <p:nvSpPr>
          <p:cNvPr id="3" name="Content Placeholder 2"/>
          <p:cNvSpPr>
            <a:spLocks noGrp="1"/>
          </p:cNvSpPr>
          <p:nvPr>
            <p:ph type="body" idx="1"/>
          </p:nvPr>
        </p:nvSpPr>
        <p:spPr/>
        <p:txBody>
          <a:bodyPr/>
          <a:lstStyle/>
          <a:p>
            <a:r>
              <a:rPr lang="fr-FR" dirty="0"/>
              <a:t>Key questions:</a:t>
            </a:r>
            <a:endParaRPr lang="en-US" dirty="0"/>
          </a:p>
          <a:p>
            <a:pPr marL="971550" lvl="1" indent="-514350">
              <a:buFont typeface="+mj-lt"/>
              <a:buAutoNum type="arabicPeriod"/>
            </a:pPr>
            <a:r>
              <a:rPr lang="en-US" dirty="0"/>
              <a:t>Should the Yi family operate or not?</a:t>
            </a:r>
          </a:p>
          <a:p>
            <a:pPr marL="971550" lvl="1" indent="-514350">
              <a:buFont typeface="+mj-lt"/>
              <a:buAutoNum type="arabicPeriod"/>
            </a:pPr>
            <a:r>
              <a:rPr lang="en-US" dirty="0"/>
              <a:t>How much should the Yi family produce?</a:t>
            </a:r>
          </a:p>
          <a:p>
            <a:pPr marL="457200" lvl="1" indent="0">
              <a:buNone/>
            </a:pPr>
            <a:endParaRPr lang="en-US" sz="1600" dirty="0"/>
          </a:p>
          <a:p>
            <a:pPr marL="571500" indent="-514350"/>
            <a:r>
              <a:rPr lang="fr-FR" dirty="0" err="1"/>
              <a:t>We</a:t>
            </a:r>
            <a:r>
              <a:rPr lang="fr-FR" dirty="0"/>
              <a:t> start by </a:t>
            </a:r>
            <a:r>
              <a:rPr lang="fr-FR" dirty="0" err="1"/>
              <a:t>analyzing</a:t>
            </a:r>
            <a:r>
              <a:rPr lang="fr-FR" dirty="0"/>
              <a:t> point 2.: profit </a:t>
            </a:r>
            <a:r>
              <a:rPr lang="fr-FR" dirty="0" err="1"/>
              <a:t>maximization</a:t>
            </a:r>
            <a:endParaRPr lang="fr-FR" dirty="0"/>
          </a:p>
          <a:p>
            <a:pPr marL="57150" indent="0">
              <a:buNone/>
            </a:pPr>
            <a:endParaRPr lang="fr-FR" sz="1600" dirty="0"/>
          </a:p>
          <a:p>
            <a:pPr marL="571500" indent="-514350"/>
            <a:r>
              <a:rPr lang="fr-FR" dirty="0"/>
              <a:t>Key concept: marginal </a:t>
            </a:r>
            <a:r>
              <a:rPr lang="fr-FR" dirty="0" err="1"/>
              <a:t>analysis</a:t>
            </a:r>
            <a:endParaRPr lang="fr-FR" dirty="0"/>
          </a:p>
          <a:p>
            <a:pPr marL="0" indent="0">
              <a:buNone/>
            </a:pPr>
            <a:endParaRPr lang="en-US" sz="1100" dirty="0"/>
          </a:p>
          <a:p>
            <a:pPr marL="0" indent="0">
              <a:buNone/>
            </a:pPr>
            <a:endParaRPr lang="en-US" sz="1400" dirty="0"/>
          </a:p>
        </p:txBody>
      </p:sp>
      <p:sp>
        <p:nvSpPr>
          <p:cNvPr id="4" name="Slide Number Placeholder 3"/>
          <p:cNvSpPr>
            <a:spLocks noGrp="1"/>
          </p:cNvSpPr>
          <p:nvPr>
            <p:ph type="sldNum" sz="quarter" idx="12"/>
          </p:nvPr>
        </p:nvSpPr>
        <p:spPr/>
        <p:txBody>
          <a:bodyPr/>
          <a:lstStyle/>
          <a:p>
            <a:fld id="{DBC38028-5B1C-49D3-BF22-2CE9385E6DA2}" type="slidenum">
              <a:rPr lang="en-US" smtClean="0"/>
              <a:pPr/>
              <a:t>15</a:t>
            </a:fld>
            <a:endParaRPr lang="en-US" dirty="0"/>
          </a:p>
        </p:txBody>
      </p:sp>
    </p:spTree>
    <p:custDataLst>
      <p:tags r:id="rId1"/>
    </p:custDataLst>
    <p:extLst>
      <p:ext uri="{BB962C8B-B14F-4D97-AF65-F5344CB8AC3E}">
        <p14:creationId xmlns:p14="http://schemas.microsoft.com/office/powerpoint/2010/main" val="582219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46530-9E40-4619-A028-B61A57C2D0F9}"/>
              </a:ext>
            </a:extLst>
          </p:cNvPr>
          <p:cNvSpPr>
            <a:spLocks noGrp="1"/>
          </p:cNvSpPr>
          <p:nvPr>
            <p:ph type="title"/>
          </p:nvPr>
        </p:nvSpPr>
        <p:spPr/>
        <p:txBody>
          <a:bodyPr/>
          <a:lstStyle/>
          <a:p>
            <a:r>
              <a:rPr lang="fr-FR" dirty="0"/>
              <a:t>Price </a:t>
            </a:r>
            <a:r>
              <a:rPr lang="fr-FR" dirty="0" err="1"/>
              <a:t>taker</a:t>
            </a:r>
            <a:r>
              <a:rPr lang="fr-FR" dirty="0"/>
              <a:t> profit </a:t>
            </a:r>
            <a:r>
              <a:rPr lang="fr-FR" dirty="0" err="1"/>
              <a:t>maximization</a:t>
            </a:r>
            <a:endParaRPr lang="en-US" dirty="0"/>
          </a:p>
        </p:txBody>
      </p:sp>
      <p:sp>
        <p:nvSpPr>
          <p:cNvPr id="3" name="Text Placeholder 2">
            <a:extLst>
              <a:ext uri="{FF2B5EF4-FFF2-40B4-BE49-F238E27FC236}">
                <a16:creationId xmlns:a16="http://schemas.microsoft.com/office/drawing/2014/main" id="{7388AC6C-6DDD-4461-9967-0E1619C289BE}"/>
              </a:ext>
            </a:extLst>
          </p:cNvPr>
          <p:cNvSpPr>
            <a:spLocks noGrp="1"/>
          </p:cNvSpPr>
          <p:nvPr>
            <p:ph type="body" idx="1"/>
          </p:nvPr>
        </p:nvSpPr>
        <p:spPr>
          <a:xfrm>
            <a:off x="387900" y="1395167"/>
            <a:ext cx="8520600" cy="4696666"/>
          </a:xfrm>
        </p:spPr>
        <p:txBody>
          <a:bodyPr/>
          <a:lstStyle/>
          <a:p>
            <a:pPr marL="288925" indent="-288925"/>
            <a:r>
              <a:rPr lang="en-US" dirty="0"/>
              <a:t>Set </a:t>
            </a:r>
            <a:r>
              <a:rPr lang="en-US" b="1" i="1" dirty="0">
                <a:solidFill>
                  <a:srgbClr val="FF0000"/>
                </a:solidFill>
              </a:rPr>
              <a:t>MR=MC</a:t>
            </a:r>
            <a:r>
              <a:rPr lang="en-US" b="1" dirty="0"/>
              <a:t> </a:t>
            </a:r>
            <a:r>
              <a:rPr lang="en-US" dirty="0"/>
              <a:t>(just like all profit maximizers!)</a:t>
            </a:r>
            <a:endParaRPr lang="en-US" sz="1200" dirty="0"/>
          </a:p>
          <a:p>
            <a:pPr marL="288925" indent="-288925">
              <a:spcBef>
                <a:spcPts val="600"/>
              </a:spcBef>
            </a:pPr>
            <a:r>
              <a:rPr lang="en-US" dirty="0"/>
              <a:t>However, </a:t>
            </a:r>
            <a:r>
              <a:rPr lang="en-US" i="1" dirty="0"/>
              <a:t>MR</a:t>
            </a:r>
            <a:r>
              <a:rPr lang="en-US" dirty="0"/>
              <a:t>  is easier to compute in case of price taker:</a:t>
            </a:r>
          </a:p>
          <a:p>
            <a:pPr marL="688975" lvl="1" indent="-288925">
              <a:spcBef>
                <a:spcPts val="600"/>
              </a:spcBef>
            </a:pPr>
            <a:r>
              <a:rPr lang="en-US" dirty="0"/>
              <a:t>For a </a:t>
            </a:r>
            <a:r>
              <a:rPr lang="en-US" u="sng" dirty="0">
                <a:solidFill>
                  <a:srgbClr val="00B050"/>
                </a:solidFill>
              </a:rPr>
              <a:t>price taker</a:t>
            </a:r>
            <a:r>
              <a:rPr lang="en-US" dirty="0"/>
              <a:t>: </a:t>
            </a:r>
            <a:r>
              <a:rPr lang="en-US" b="1" i="1" dirty="0">
                <a:solidFill>
                  <a:srgbClr val="00B050"/>
                </a:solidFill>
              </a:rPr>
              <a:t>MR=P  </a:t>
            </a:r>
            <a:r>
              <a:rPr lang="en-US" dirty="0"/>
              <a:t>(where </a:t>
            </a:r>
            <a:r>
              <a:rPr lang="en-US" i="1" dirty="0"/>
              <a:t>P</a:t>
            </a:r>
            <a:r>
              <a:rPr lang="en-US" dirty="0"/>
              <a:t>  is the market price)</a:t>
            </a:r>
          </a:p>
          <a:p>
            <a:pPr marL="688975" lvl="1" indent="-288925">
              <a:spcBef>
                <a:spcPts val="600"/>
              </a:spcBef>
            </a:pPr>
            <a:r>
              <a:rPr lang="fr-FR" i="1" dirty="0"/>
              <a:t>P</a:t>
            </a:r>
            <a:r>
              <a:rPr lang="fr-FR" dirty="0"/>
              <a:t>  </a:t>
            </a:r>
            <a:r>
              <a:rPr lang="fr-FR" dirty="0" err="1"/>
              <a:t>is</a:t>
            </a:r>
            <a:r>
              <a:rPr lang="fr-FR" dirty="0"/>
              <a:t> </a:t>
            </a:r>
            <a:r>
              <a:rPr lang="fr-FR" dirty="0" err="1"/>
              <a:t>given</a:t>
            </a:r>
            <a:r>
              <a:rPr lang="fr-FR" dirty="0"/>
              <a:t> (i.e., a </a:t>
            </a:r>
            <a:r>
              <a:rPr lang="fr-FR" dirty="0" err="1"/>
              <a:t>firm</a:t>
            </a:r>
            <a:r>
              <a:rPr lang="fr-FR" dirty="0"/>
              <a:t> </a:t>
            </a:r>
            <a:r>
              <a:rPr lang="fr-FR" dirty="0" err="1"/>
              <a:t>cannot</a:t>
            </a:r>
            <a:r>
              <a:rPr lang="fr-FR" dirty="0"/>
              <a:t> set the </a:t>
            </a:r>
            <a:r>
              <a:rPr lang="fr-FR" dirty="0" err="1"/>
              <a:t>market</a:t>
            </a:r>
            <a:r>
              <a:rPr lang="fr-FR" dirty="0"/>
              <a:t> </a:t>
            </a:r>
            <a:r>
              <a:rPr lang="fr-FR" dirty="0" err="1"/>
              <a:t>price</a:t>
            </a:r>
            <a:r>
              <a:rPr lang="fr-FR" dirty="0"/>
              <a:t>)</a:t>
            </a:r>
          </a:p>
          <a:p>
            <a:pPr marL="688975" lvl="1" indent="-288925"/>
            <a:endParaRPr lang="fr-FR" sz="1200" dirty="0"/>
          </a:p>
          <a:p>
            <a:pPr marL="288925" indent="-288925"/>
            <a:r>
              <a:rPr lang="fr-FR" dirty="0" err="1"/>
              <a:t>Only</a:t>
            </a:r>
            <a:r>
              <a:rPr lang="fr-FR" dirty="0"/>
              <a:t> </a:t>
            </a:r>
            <a:r>
              <a:rPr lang="fr-FR" dirty="0" err="1"/>
              <a:t>decision</a:t>
            </a:r>
            <a:r>
              <a:rPr lang="fr-FR" dirty="0"/>
              <a:t> </a:t>
            </a:r>
            <a:r>
              <a:rPr lang="fr-FR" dirty="0" err="1"/>
              <a:t>that</a:t>
            </a:r>
            <a:r>
              <a:rPr lang="fr-FR" dirty="0"/>
              <a:t> the </a:t>
            </a:r>
            <a:r>
              <a:rPr lang="fr-FR" dirty="0" err="1"/>
              <a:t>price</a:t>
            </a:r>
            <a:r>
              <a:rPr lang="fr-FR" dirty="0"/>
              <a:t> </a:t>
            </a:r>
            <a:r>
              <a:rPr lang="fr-FR" dirty="0" err="1"/>
              <a:t>taker</a:t>
            </a:r>
            <a:r>
              <a:rPr lang="fr-FR" dirty="0"/>
              <a:t> </a:t>
            </a:r>
            <a:r>
              <a:rPr lang="fr-FR" dirty="0" err="1"/>
              <a:t>needs</a:t>
            </a:r>
            <a:r>
              <a:rPr lang="fr-FR" dirty="0"/>
              <a:t> to </a:t>
            </a:r>
            <a:r>
              <a:rPr lang="fr-FR" dirty="0" err="1"/>
              <a:t>make</a:t>
            </a:r>
            <a:r>
              <a:rPr lang="fr-FR" dirty="0"/>
              <a:t>: </a:t>
            </a:r>
          </a:p>
          <a:p>
            <a:pPr marL="688975" lvl="1" indent="-288925">
              <a:spcBef>
                <a:spcPts val="600"/>
              </a:spcBef>
            </a:pPr>
            <a:r>
              <a:rPr lang="fr-FR" dirty="0"/>
              <a:t>How </a:t>
            </a:r>
            <a:r>
              <a:rPr lang="fr-FR" dirty="0" err="1"/>
              <a:t>much</a:t>
            </a:r>
            <a:r>
              <a:rPr lang="fr-FR" dirty="0"/>
              <a:t> </a:t>
            </a:r>
            <a:r>
              <a:rPr lang="fr-FR" dirty="0" err="1"/>
              <a:t>quantity</a:t>
            </a:r>
            <a:r>
              <a:rPr lang="fr-FR" dirty="0"/>
              <a:t> to </a:t>
            </a:r>
            <a:r>
              <a:rPr lang="fr-FR" dirty="0" err="1"/>
              <a:t>produce</a:t>
            </a:r>
            <a:endParaRPr lang="en-US" dirty="0"/>
          </a:p>
          <a:p>
            <a:pPr marL="688975" lvl="1" indent="-288925">
              <a:spcBef>
                <a:spcPts val="600"/>
              </a:spcBef>
            </a:pPr>
            <a:r>
              <a:rPr lang="fr-FR" dirty="0" err="1"/>
              <a:t>Find</a:t>
            </a:r>
            <a:r>
              <a:rPr lang="fr-FR" dirty="0"/>
              <a:t> </a:t>
            </a:r>
            <a:r>
              <a:rPr lang="fr-FR" i="1" dirty="0"/>
              <a:t>Q*</a:t>
            </a:r>
            <a:r>
              <a:rPr lang="fr-FR" dirty="0"/>
              <a:t> </a:t>
            </a:r>
            <a:r>
              <a:rPr lang="fr-FR" dirty="0" err="1"/>
              <a:t>such</a:t>
            </a:r>
            <a:r>
              <a:rPr lang="fr-FR" dirty="0"/>
              <a:t> </a:t>
            </a:r>
            <a:r>
              <a:rPr lang="fr-FR" dirty="0" err="1"/>
              <a:t>that</a:t>
            </a:r>
            <a:r>
              <a:rPr lang="fr-FR" dirty="0"/>
              <a:t> </a:t>
            </a:r>
            <a:r>
              <a:rPr lang="fr-FR" b="1" i="1" dirty="0">
                <a:solidFill>
                  <a:srgbClr val="00B050"/>
                </a:solidFill>
              </a:rPr>
              <a:t>P</a:t>
            </a:r>
            <a:r>
              <a:rPr lang="fr-FR" b="1" i="1" dirty="0">
                <a:solidFill>
                  <a:srgbClr val="FF0000"/>
                </a:solidFill>
              </a:rPr>
              <a:t> = MC  </a:t>
            </a:r>
            <a:r>
              <a:rPr lang="fr-FR" sz="1700" b="1" i="1" dirty="0">
                <a:solidFill>
                  <a:srgbClr val="002060"/>
                </a:solidFill>
              </a:rPr>
              <a:t> </a:t>
            </a:r>
            <a:r>
              <a:rPr lang="fr-FR" sz="1700" b="1" dirty="0">
                <a:solidFill>
                  <a:srgbClr val="002060"/>
                </a:solidFill>
              </a:rPr>
              <a:t>[profit max of a </a:t>
            </a:r>
            <a:r>
              <a:rPr lang="fr-FR" sz="1700" b="1" u="sng" dirty="0" err="1">
                <a:solidFill>
                  <a:srgbClr val="00B050"/>
                </a:solidFill>
              </a:rPr>
              <a:t>price</a:t>
            </a:r>
            <a:r>
              <a:rPr lang="fr-FR" sz="1700" b="1" u="sng" dirty="0">
                <a:solidFill>
                  <a:srgbClr val="00B050"/>
                </a:solidFill>
              </a:rPr>
              <a:t> </a:t>
            </a:r>
            <a:r>
              <a:rPr lang="fr-FR" sz="1700" b="1" u="sng" dirty="0" err="1">
                <a:solidFill>
                  <a:srgbClr val="00B050"/>
                </a:solidFill>
              </a:rPr>
              <a:t>taker</a:t>
            </a:r>
            <a:r>
              <a:rPr lang="fr-FR" sz="1700" b="1" dirty="0">
                <a:solidFill>
                  <a:srgbClr val="002060"/>
                </a:solidFill>
              </a:rPr>
              <a:t>]</a:t>
            </a:r>
            <a:endParaRPr lang="fr-FR" b="1" dirty="0">
              <a:solidFill>
                <a:srgbClr val="002060"/>
              </a:solidFill>
            </a:endParaRPr>
          </a:p>
          <a:p>
            <a:endParaRPr lang="en-US" dirty="0"/>
          </a:p>
        </p:txBody>
      </p:sp>
    </p:spTree>
    <p:extLst>
      <p:ext uri="{BB962C8B-B14F-4D97-AF65-F5344CB8AC3E}">
        <p14:creationId xmlns:p14="http://schemas.microsoft.com/office/powerpoint/2010/main" val="30069280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normAutofit fontScale="90000"/>
          </a:bodyPr>
          <a:lstStyle/>
          <a:p>
            <a:r>
              <a:rPr lang="en-US" sz="3750" dirty="0">
                <a:solidFill>
                  <a:schemeClr val="tx2">
                    <a:lumMod val="75000"/>
                  </a:schemeClr>
                </a:solidFill>
              </a:rPr>
              <a:t>Price Taker Revenue Conditions</a:t>
            </a:r>
          </a:p>
        </p:txBody>
      </p:sp>
      <p:sp>
        <p:nvSpPr>
          <p:cNvPr id="34" name="Slide Number Placeholder 33"/>
          <p:cNvSpPr>
            <a:spLocks noGrp="1"/>
          </p:cNvSpPr>
          <p:nvPr>
            <p:ph type="sldNum" sz="quarter" idx="12"/>
          </p:nvPr>
        </p:nvSpPr>
        <p:spPr/>
        <p:txBody>
          <a:bodyPr/>
          <a:lstStyle/>
          <a:p>
            <a:fld id="{DBC38028-5B1C-49D3-BF22-2CE9385E6DA2}" type="slidenum">
              <a:rPr lang="en-US" smtClean="0">
                <a:solidFill>
                  <a:schemeClr val="tx2">
                    <a:lumMod val="75000"/>
                  </a:schemeClr>
                </a:solidFill>
              </a:rPr>
              <a:pPr/>
              <a:t>17</a:t>
            </a:fld>
            <a:endParaRPr lang="en-US" dirty="0">
              <a:solidFill>
                <a:schemeClr val="tx2">
                  <a:lumMod val="75000"/>
                </a:schemeClr>
              </a:solidFill>
            </a:endParaRPr>
          </a:p>
        </p:txBody>
      </p:sp>
      <p:sp>
        <p:nvSpPr>
          <p:cNvPr id="44051" name="Rectangle 19"/>
          <p:cNvSpPr>
            <a:spLocks noChangeArrowheads="1"/>
          </p:cNvSpPr>
          <p:nvPr/>
        </p:nvSpPr>
        <p:spPr bwMode="auto">
          <a:xfrm>
            <a:off x="1306589" y="1223657"/>
            <a:ext cx="1114817" cy="2183089"/>
          </a:xfrm>
          <a:prstGeom prst="rect">
            <a:avLst/>
          </a:prstGeom>
          <a:noFill/>
          <a:ln w="9525">
            <a:noFill/>
            <a:miter lim="800000"/>
            <a:headEnd/>
            <a:tailEnd/>
          </a:ln>
          <a:effectLst/>
        </p:spPr>
        <p:txBody>
          <a:bodyPr wrap="none" lIns="18795" tIns="26627" rIns="18795" bIns="26627"/>
          <a:lstStyle/>
          <a:p>
            <a:pPr>
              <a:lnSpc>
                <a:spcPts val="2565"/>
              </a:lnSpc>
              <a:spcAft>
                <a:spcPts val="888"/>
              </a:spcAft>
              <a:tabLst>
                <a:tab pos="451085" algn="l"/>
                <a:tab pos="902170" algn="l"/>
                <a:tab pos="1353255" algn="l"/>
              </a:tabLst>
            </a:pPr>
            <a:r>
              <a:rPr lang="en-US" sz="2156" i="1" dirty="0">
                <a:solidFill>
                  <a:schemeClr val="tx2">
                    <a:lumMod val="75000"/>
                  </a:schemeClr>
                </a:solidFill>
                <a:latin typeface="Whitney Book" pitchFamily="50" charset="0"/>
                <a:cs typeface="Whitney Book" pitchFamily="50" charset="0"/>
              </a:rPr>
              <a:t>Q</a:t>
            </a:r>
          </a:p>
          <a:p>
            <a:pPr>
              <a:lnSpc>
                <a:spcPts val="2565"/>
              </a:lnSpc>
              <a:spcAft>
                <a:spcPts val="888"/>
              </a:spcAft>
              <a:tabLst>
                <a:tab pos="451085" algn="l"/>
                <a:tab pos="902170" algn="l"/>
                <a:tab pos="1353255" algn="l"/>
              </a:tabLst>
            </a:pPr>
            <a:r>
              <a:rPr lang="en-US" sz="2156" dirty="0">
                <a:solidFill>
                  <a:schemeClr val="tx2">
                    <a:lumMod val="75000"/>
                  </a:schemeClr>
                </a:solidFill>
                <a:latin typeface="Whitney Book" pitchFamily="50" charset="0"/>
                <a:cs typeface="Whitney Book" pitchFamily="50" charset="0"/>
              </a:rPr>
              <a:t>10</a:t>
            </a:r>
          </a:p>
          <a:p>
            <a:pPr>
              <a:lnSpc>
                <a:spcPts val="2565"/>
              </a:lnSpc>
              <a:spcAft>
                <a:spcPts val="888"/>
              </a:spcAft>
              <a:tabLst>
                <a:tab pos="451085" algn="l"/>
                <a:tab pos="902170" algn="l"/>
                <a:tab pos="1353255" algn="l"/>
              </a:tabLst>
            </a:pPr>
            <a:r>
              <a:rPr lang="en-US" sz="2156" dirty="0">
                <a:solidFill>
                  <a:schemeClr val="tx2">
                    <a:lumMod val="75000"/>
                  </a:schemeClr>
                </a:solidFill>
                <a:latin typeface="Whitney Book" pitchFamily="50" charset="0"/>
                <a:cs typeface="Whitney Book" pitchFamily="50" charset="0"/>
              </a:rPr>
              <a:t>11</a:t>
            </a:r>
          </a:p>
          <a:p>
            <a:pPr>
              <a:lnSpc>
                <a:spcPts val="2565"/>
              </a:lnSpc>
              <a:spcAft>
                <a:spcPts val="888"/>
              </a:spcAft>
              <a:tabLst>
                <a:tab pos="451085" algn="l"/>
                <a:tab pos="902170" algn="l"/>
                <a:tab pos="1353255" algn="l"/>
              </a:tabLst>
            </a:pPr>
            <a:r>
              <a:rPr lang="en-US" sz="2156" dirty="0">
                <a:solidFill>
                  <a:schemeClr val="tx2">
                    <a:lumMod val="75000"/>
                  </a:schemeClr>
                </a:solidFill>
                <a:latin typeface="Whitney Book" pitchFamily="50" charset="0"/>
                <a:cs typeface="Whitney Book" pitchFamily="50" charset="0"/>
              </a:rPr>
              <a:t>12</a:t>
            </a:r>
          </a:p>
          <a:p>
            <a:pPr>
              <a:lnSpc>
                <a:spcPts val="2565"/>
              </a:lnSpc>
              <a:spcAft>
                <a:spcPts val="888"/>
              </a:spcAft>
              <a:tabLst>
                <a:tab pos="451085" algn="l"/>
                <a:tab pos="902170" algn="l"/>
                <a:tab pos="1353255" algn="l"/>
              </a:tabLst>
            </a:pPr>
            <a:r>
              <a:rPr lang="en-US" sz="2156" dirty="0">
                <a:solidFill>
                  <a:schemeClr val="tx2">
                    <a:lumMod val="75000"/>
                  </a:schemeClr>
                </a:solidFill>
                <a:latin typeface="Whitney Book" pitchFamily="50" charset="0"/>
                <a:cs typeface="Whitney Book" pitchFamily="50" charset="0"/>
              </a:rPr>
              <a:t>13</a:t>
            </a:r>
          </a:p>
        </p:txBody>
      </p:sp>
      <p:sp>
        <p:nvSpPr>
          <p:cNvPr id="44053" name="Rectangle 21"/>
          <p:cNvSpPr>
            <a:spLocks noChangeArrowheads="1"/>
          </p:cNvSpPr>
          <p:nvPr/>
        </p:nvSpPr>
        <p:spPr bwMode="auto">
          <a:xfrm>
            <a:off x="529975" y="1223657"/>
            <a:ext cx="789140" cy="2183089"/>
          </a:xfrm>
          <a:prstGeom prst="rect">
            <a:avLst/>
          </a:prstGeom>
          <a:noFill/>
          <a:ln w="9525">
            <a:noFill/>
            <a:miter lim="800000"/>
            <a:headEnd/>
            <a:tailEnd/>
          </a:ln>
          <a:effectLst/>
        </p:spPr>
        <p:txBody>
          <a:bodyPr wrap="none" lIns="17859" tIns="25301" rIns="17859" bIns="25301"/>
          <a:lstStyle/>
          <a:p>
            <a:pPr>
              <a:lnSpc>
                <a:spcPts val="2565"/>
              </a:lnSpc>
              <a:spcAft>
                <a:spcPts val="888"/>
              </a:spcAft>
              <a:tabLst>
                <a:tab pos="451085" algn="l"/>
                <a:tab pos="902170" algn="l"/>
                <a:tab pos="1353255" algn="l"/>
              </a:tabLst>
            </a:pPr>
            <a:r>
              <a:rPr lang="en-US" sz="2156" dirty="0">
                <a:solidFill>
                  <a:schemeClr val="tx2">
                    <a:lumMod val="75000"/>
                  </a:schemeClr>
                </a:solidFill>
                <a:latin typeface="Whitney Book" pitchFamily="50" charset="0"/>
                <a:cs typeface="Whitney Book" pitchFamily="50" charset="0"/>
              </a:rPr>
              <a:t>  </a:t>
            </a:r>
            <a:r>
              <a:rPr lang="en-US" sz="2156" i="1" dirty="0">
                <a:solidFill>
                  <a:schemeClr val="tx2">
                    <a:lumMod val="75000"/>
                  </a:schemeClr>
                </a:solidFill>
                <a:latin typeface="Whitney Book" pitchFamily="50" charset="0"/>
                <a:cs typeface="Whitney Book" pitchFamily="50" charset="0"/>
              </a:rPr>
              <a:t>P</a:t>
            </a:r>
          </a:p>
          <a:p>
            <a:pPr>
              <a:lnSpc>
                <a:spcPts val="2565"/>
              </a:lnSpc>
              <a:spcAft>
                <a:spcPts val="888"/>
              </a:spcAft>
              <a:tabLst>
                <a:tab pos="451085" algn="l"/>
                <a:tab pos="902170" algn="l"/>
                <a:tab pos="1353255" algn="l"/>
              </a:tabLst>
            </a:pPr>
            <a:r>
              <a:rPr lang="en-US" sz="2156" dirty="0">
                <a:solidFill>
                  <a:schemeClr val="tx2">
                    <a:lumMod val="75000"/>
                  </a:schemeClr>
                </a:solidFill>
                <a:latin typeface="Whitney Book" pitchFamily="50" charset="0"/>
                <a:cs typeface="Whitney Book" pitchFamily="50" charset="0"/>
              </a:rPr>
              <a:t>$3</a:t>
            </a:r>
          </a:p>
          <a:p>
            <a:pPr>
              <a:lnSpc>
                <a:spcPts val="2565"/>
              </a:lnSpc>
              <a:spcAft>
                <a:spcPts val="888"/>
              </a:spcAft>
              <a:tabLst>
                <a:tab pos="451085" algn="l"/>
                <a:tab pos="902170" algn="l"/>
                <a:tab pos="1353255" algn="l"/>
              </a:tabLst>
            </a:pPr>
            <a:r>
              <a:rPr lang="en-US" sz="2156" dirty="0">
                <a:solidFill>
                  <a:schemeClr val="tx2">
                    <a:lumMod val="75000"/>
                  </a:schemeClr>
                </a:solidFill>
                <a:latin typeface="Whitney Book" pitchFamily="50" charset="0"/>
                <a:cs typeface="Whitney Book" pitchFamily="50" charset="0"/>
              </a:rPr>
              <a:t>  3</a:t>
            </a:r>
          </a:p>
          <a:p>
            <a:pPr>
              <a:lnSpc>
                <a:spcPts val="2565"/>
              </a:lnSpc>
              <a:spcAft>
                <a:spcPts val="888"/>
              </a:spcAft>
              <a:tabLst>
                <a:tab pos="451085" algn="l"/>
                <a:tab pos="902170" algn="l"/>
                <a:tab pos="1353255" algn="l"/>
              </a:tabLst>
            </a:pPr>
            <a:r>
              <a:rPr lang="en-US" sz="2156" dirty="0">
                <a:solidFill>
                  <a:schemeClr val="tx2">
                    <a:lumMod val="75000"/>
                  </a:schemeClr>
                </a:solidFill>
                <a:latin typeface="Whitney Book" pitchFamily="50" charset="0"/>
                <a:cs typeface="Whitney Book" pitchFamily="50" charset="0"/>
              </a:rPr>
              <a:t>  3</a:t>
            </a:r>
          </a:p>
          <a:p>
            <a:pPr>
              <a:lnSpc>
                <a:spcPts val="2565"/>
              </a:lnSpc>
              <a:spcAft>
                <a:spcPts val="888"/>
              </a:spcAft>
              <a:tabLst>
                <a:tab pos="451085" algn="l"/>
                <a:tab pos="902170" algn="l"/>
                <a:tab pos="1353255" algn="l"/>
              </a:tabLst>
            </a:pPr>
            <a:r>
              <a:rPr lang="en-US" sz="2156" dirty="0">
                <a:solidFill>
                  <a:schemeClr val="tx2">
                    <a:lumMod val="75000"/>
                  </a:schemeClr>
                </a:solidFill>
                <a:latin typeface="Whitney Book" pitchFamily="50" charset="0"/>
                <a:cs typeface="Whitney Book" pitchFamily="50" charset="0"/>
              </a:rPr>
              <a:t>  3</a:t>
            </a:r>
          </a:p>
        </p:txBody>
      </p:sp>
      <p:sp>
        <p:nvSpPr>
          <p:cNvPr id="44054" name="Rectangle 22"/>
          <p:cNvSpPr>
            <a:spLocks noChangeArrowheads="1"/>
          </p:cNvSpPr>
          <p:nvPr/>
        </p:nvSpPr>
        <p:spPr bwMode="auto">
          <a:xfrm>
            <a:off x="1920364" y="1223657"/>
            <a:ext cx="1265129" cy="2183089"/>
          </a:xfrm>
          <a:prstGeom prst="rect">
            <a:avLst/>
          </a:prstGeom>
          <a:noFill/>
          <a:ln w="9525">
            <a:noFill/>
            <a:miter lim="800000"/>
            <a:headEnd/>
            <a:tailEnd/>
          </a:ln>
          <a:effectLst/>
        </p:spPr>
        <p:txBody>
          <a:bodyPr wrap="none" lIns="17859" tIns="25301" rIns="17859" bIns="25301"/>
          <a:lstStyle/>
          <a:p>
            <a:pPr>
              <a:lnSpc>
                <a:spcPts val="2565"/>
              </a:lnSpc>
              <a:spcAft>
                <a:spcPts val="888"/>
              </a:spcAft>
              <a:tabLst>
                <a:tab pos="451085" algn="l"/>
                <a:tab pos="902170" algn="l"/>
                <a:tab pos="1353255" algn="l"/>
              </a:tabLst>
            </a:pPr>
            <a:r>
              <a:rPr lang="en-US" sz="2156" i="1" dirty="0">
                <a:solidFill>
                  <a:schemeClr val="tx2">
                    <a:lumMod val="75000"/>
                  </a:schemeClr>
                </a:solidFill>
                <a:latin typeface="Whitney Book" pitchFamily="50" charset="0"/>
                <a:cs typeface="Whitney Book" pitchFamily="50" charset="0"/>
              </a:rPr>
              <a:t>TR</a:t>
            </a:r>
          </a:p>
          <a:p>
            <a:pPr>
              <a:lnSpc>
                <a:spcPts val="2565"/>
              </a:lnSpc>
              <a:spcAft>
                <a:spcPts val="888"/>
              </a:spcAft>
              <a:tabLst>
                <a:tab pos="451085" algn="l"/>
                <a:tab pos="902170" algn="l"/>
                <a:tab pos="1353255" algn="l"/>
              </a:tabLst>
            </a:pPr>
            <a:r>
              <a:rPr lang="en-US" sz="2156" dirty="0">
                <a:solidFill>
                  <a:schemeClr val="tx2">
                    <a:lumMod val="75000"/>
                  </a:schemeClr>
                </a:solidFill>
                <a:latin typeface="Whitney Book" pitchFamily="50" charset="0"/>
                <a:cs typeface="Whitney Book" pitchFamily="50" charset="0"/>
              </a:rPr>
              <a:t>$30</a:t>
            </a:r>
          </a:p>
          <a:p>
            <a:pPr>
              <a:lnSpc>
                <a:spcPts val="2565"/>
              </a:lnSpc>
              <a:spcAft>
                <a:spcPts val="888"/>
              </a:spcAft>
              <a:tabLst>
                <a:tab pos="451085" algn="l"/>
                <a:tab pos="902170" algn="l"/>
                <a:tab pos="1353255" algn="l"/>
              </a:tabLst>
            </a:pPr>
            <a:r>
              <a:rPr lang="en-US" sz="2156" dirty="0">
                <a:solidFill>
                  <a:schemeClr val="tx2">
                    <a:lumMod val="75000"/>
                  </a:schemeClr>
                </a:solidFill>
                <a:latin typeface="Whitney Book" pitchFamily="50" charset="0"/>
                <a:cs typeface="Whitney Book" pitchFamily="50" charset="0"/>
              </a:rPr>
              <a:t>  33</a:t>
            </a:r>
          </a:p>
          <a:p>
            <a:pPr>
              <a:lnSpc>
                <a:spcPts val="2565"/>
              </a:lnSpc>
              <a:spcAft>
                <a:spcPts val="888"/>
              </a:spcAft>
              <a:tabLst>
                <a:tab pos="451085" algn="l"/>
                <a:tab pos="902170" algn="l"/>
                <a:tab pos="1353255" algn="l"/>
              </a:tabLst>
            </a:pPr>
            <a:r>
              <a:rPr lang="en-US" sz="2156" dirty="0">
                <a:solidFill>
                  <a:schemeClr val="tx2">
                    <a:lumMod val="75000"/>
                  </a:schemeClr>
                </a:solidFill>
                <a:latin typeface="Whitney Book" pitchFamily="50" charset="0"/>
                <a:cs typeface="Whitney Book" pitchFamily="50" charset="0"/>
              </a:rPr>
              <a:t>  36</a:t>
            </a:r>
          </a:p>
          <a:p>
            <a:pPr>
              <a:lnSpc>
                <a:spcPts val="2565"/>
              </a:lnSpc>
              <a:spcAft>
                <a:spcPts val="888"/>
              </a:spcAft>
              <a:tabLst>
                <a:tab pos="451085" algn="l"/>
                <a:tab pos="902170" algn="l"/>
                <a:tab pos="1353255" algn="l"/>
              </a:tabLst>
            </a:pPr>
            <a:r>
              <a:rPr lang="en-US" sz="2156" dirty="0">
                <a:solidFill>
                  <a:schemeClr val="tx2">
                    <a:lumMod val="75000"/>
                  </a:schemeClr>
                </a:solidFill>
                <a:latin typeface="Whitney Book" pitchFamily="50" charset="0"/>
                <a:cs typeface="Whitney Book" pitchFamily="50" charset="0"/>
              </a:rPr>
              <a:t>  39</a:t>
            </a:r>
          </a:p>
        </p:txBody>
      </p:sp>
      <p:sp>
        <p:nvSpPr>
          <p:cNvPr id="44055" name="Rectangle 23"/>
          <p:cNvSpPr>
            <a:spLocks noChangeArrowheads="1"/>
          </p:cNvSpPr>
          <p:nvPr/>
        </p:nvSpPr>
        <p:spPr bwMode="auto">
          <a:xfrm>
            <a:off x="2784660" y="1223657"/>
            <a:ext cx="876822" cy="2183089"/>
          </a:xfrm>
          <a:prstGeom prst="rect">
            <a:avLst/>
          </a:prstGeom>
          <a:noFill/>
          <a:ln w="9525">
            <a:noFill/>
            <a:miter lim="800000"/>
            <a:headEnd/>
            <a:tailEnd/>
          </a:ln>
          <a:effectLst/>
        </p:spPr>
        <p:txBody>
          <a:bodyPr wrap="none" lIns="17859" tIns="25301" rIns="17859" bIns="25301"/>
          <a:lstStyle/>
          <a:p>
            <a:pPr>
              <a:lnSpc>
                <a:spcPts val="2565"/>
              </a:lnSpc>
              <a:spcAft>
                <a:spcPts val="888"/>
              </a:spcAft>
              <a:tabLst>
                <a:tab pos="451085" algn="l"/>
                <a:tab pos="902170" algn="l"/>
                <a:tab pos="1353255" algn="l"/>
              </a:tabLst>
            </a:pPr>
            <a:r>
              <a:rPr lang="en-US" sz="2156" i="1" dirty="0">
                <a:solidFill>
                  <a:schemeClr val="tx2">
                    <a:lumMod val="75000"/>
                  </a:schemeClr>
                </a:solidFill>
                <a:latin typeface="Whitney Book" pitchFamily="50" charset="0"/>
                <a:cs typeface="Whitney Book" pitchFamily="50" charset="0"/>
              </a:rPr>
              <a:t>MR</a:t>
            </a:r>
          </a:p>
          <a:p>
            <a:pPr>
              <a:lnSpc>
                <a:spcPts val="2565"/>
              </a:lnSpc>
              <a:spcAft>
                <a:spcPts val="888"/>
              </a:spcAft>
              <a:tabLst>
                <a:tab pos="451085" algn="l"/>
                <a:tab pos="902170" algn="l"/>
                <a:tab pos="1353255" algn="l"/>
              </a:tabLst>
            </a:pPr>
            <a:r>
              <a:rPr lang="en-US" sz="2156" dirty="0">
                <a:solidFill>
                  <a:schemeClr val="tx2">
                    <a:lumMod val="75000"/>
                  </a:schemeClr>
                </a:solidFill>
                <a:latin typeface="Whitney Book" pitchFamily="50" charset="0"/>
                <a:cs typeface="Whitney Book" pitchFamily="50" charset="0"/>
              </a:rPr>
              <a:t>$3</a:t>
            </a:r>
          </a:p>
          <a:p>
            <a:pPr>
              <a:lnSpc>
                <a:spcPts val="2565"/>
              </a:lnSpc>
              <a:spcAft>
                <a:spcPts val="888"/>
              </a:spcAft>
              <a:tabLst>
                <a:tab pos="451085" algn="l"/>
                <a:tab pos="902170" algn="l"/>
                <a:tab pos="1353255" algn="l"/>
              </a:tabLst>
            </a:pPr>
            <a:r>
              <a:rPr lang="en-US" sz="2156" dirty="0">
                <a:solidFill>
                  <a:schemeClr val="tx2">
                    <a:lumMod val="75000"/>
                  </a:schemeClr>
                </a:solidFill>
                <a:latin typeface="Whitney Book" pitchFamily="50" charset="0"/>
                <a:cs typeface="Whitney Book" pitchFamily="50" charset="0"/>
              </a:rPr>
              <a:t>  3</a:t>
            </a:r>
          </a:p>
          <a:p>
            <a:pPr>
              <a:lnSpc>
                <a:spcPts val="2565"/>
              </a:lnSpc>
              <a:spcAft>
                <a:spcPts val="888"/>
              </a:spcAft>
              <a:tabLst>
                <a:tab pos="451085" algn="l"/>
                <a:tab pos="902170" algn="l"/>
                <a:tab pos="1353255" algn="l"/>
              </a:tabLst>
            </a:pPr>
            <a:r>
              <a:rPr lang="en-US" sz="2156" dirty="0">
                <a:solidFill>
                  <a:schemeClr val="tx2">
                    <a:lumMod val="75000"/>
                  </a:schemeClr>
                </a:solidFill>
                <a:latin typeface="Whitney Book" pitchFamily="50" charset="0"/>
                <a:cs typeface="Whitney Book" pitchFamily="50" charset="0"/>
              </a:rPr>
              <a:t>  3</a:t>
            </a:r>
          </a:p>
          <a:p>
            <a:pPr>
              <a:lnSpc>
                <a:spcPts val="2565"/>
              </a:lnSpc>
              <a:spcAft>
                <a:spcPts val="888"/>
              </a:spcAft>
              <a:tabLst>
                <a:tab pos="451085" algn="l"/>
                <a:tab pos="902170" algn="l"/>
                <a:tab pos="1353255" algn="l"/>
              </a:tabLst>
            </a:pPr>
            <a:r>
              <a:rPr lang="en-US" sz="2156" dirty="0">
                <a:solidFill>
                  <a:schemeClr val="tx2">
                    <a:lumMod val="75000"/>
                  </a:schemeClr>
                </a:solidFill>
                <a:latin typeface="Whitney Book" pitchFamily="50" charset="0"/>
                <a:cs typeface="Whitney Book" pitchFamily="50" charset="0"/>
              </a:rPr>
              <a:t>  3</a:t>
            </a:r>
          </a:p>
        </p:txBody>
      </p:sp>
      <p:sp>
        <p:nvSpPr>
          <p:cNvPr id="44057" name="Line 25"/>
          <p:cNvSpPr>
            <a:spLocks noChangeShapeType="1"/>
          </p:cNvSpPr>
          <p:nvPr/>
        </p:nvSpPr>
        <p:spPr bwMode="auto">
          <a:xfrm>
            <a:off x="455993" y="1599781"/>
            <a:ext cx="2828925" cy="7836"/>
          </a:xfrm>
          <a:prstGeom prst="line">
            <a:avLst/>
          </a:prstGeom>
          <a:noFill/>
          <a:ln w="25400">
            <a:solidFill>
              <a:srgbClr val="C00000"/>
            </a:solidFill>
            <a:round/>
            <a:headEnd type="none" w="sm" len="sm"/>
            <a:tailEnd type="none" w="sm" len="sm"/>
          </a:ln>
          <a:effectLst/>
        </p:spPr>
        <p:txBody>
          <a:bodyPr wrap="none" lIns="90217" tIns="45109" rIns="90217" bIns="45109" anchor="ctr"/>
          <a:lstStyle/>
          <a:p>
            <a:endParaRPr lang="en-US" sz="1688">
              <a:ln>
                <a:solidFill>
                  <a:srgbClr val="C00000"/>
                </a:solidFill>
              </a:ln>
              <a:solidFill>
                <a:schemeClr val="tx2">
                  <a:lumMod val="75000"/>
                </a:schemeClr>
              </a:solidFill>
              <a:latin typeface="Whitney Book" pitchFamily="50" charset="0"/>
              <a:cs typeface="Whitney Book" pitchFamily="50" charset="0"/>
            </a:endParaRPr>
          </a:p>
        </p:txBody>
      </p:sp>
      <p:grpSp>
        <p:nvGrpSpPr>
          <p:cNvPr id="13" name="Group 12">
            <a:extLst>
              <a:ext uri="{FF2B5EF4-FFF2-40B4-BE49-F238E27FC236}">
                <a16:creationId xmlns:a16="http://schemas.microsoft.com/office/drawing/2014/main" id="{E02A0C28-7B76-4153-9B14-631675BAB1EB}"/>
              </a:ext>
            </a:extLst>
          </p:cNvPr>
          <p:cNvGrpSpPr/>
          <p:nvPr/>
        </p:nvGrpSpPr>
        <p:grpSpPr>
          <a:xfrm>
            <a:off x="58554" y="3643704"/>
            <a:ext cx="3967615" cy="3327133"/>
            <a:chOff x="4683173" y="3309894"/>
            <a:chExt cx="3967615" cy="3327133"/>
          </a:xfrm>
        </p:grpSpPr>
        <p:sp>
          <p:nvSpPr>
            <p:cNvPr id="44064" name="Rectangle 32"/>
            <p:cNvSpPr>
              <a:spLocks noChangeArrowheads="1"/>
            </p:cNvSpPr>
            <p:nvPr/>
          </p:nvSpPr>
          <p:spPr bwMode="auto">
            <a:xfrm>
              <a:off x="7155495" y="3530867"/>
              <a:ext cx="673274" cy="589262"/>
            </a:xfrm>
            <a:prstGeom prst="rect">
              <a:avLst/>
            </a:prstGeom>
            <a:noFill/>
            <a:ln w="9525">
              <a:noFill/>
              <a:miter lim="800000"/>
              <a:headEnd/>
              <a:tailEnd/>
            </a:ln>
            <a:effectLst/>
          </p:spPr>
          <p:txBody>
            <a:bodyPr wrap="none" lIns="18795" tIns="26627" rIns="18795" bIns="26627"/>
            <a:lstStyle/>
            <a:p>
              <a:pPr>
                <a:lnSpc>
                  <a:spcPts val="2763"/>
                </a:lnSpc>
                <a:spcAft>
                  <a:spcPts val="888"/>
                </a:spcAft>
                <a:tabLst>
                  <a:tab pos="451085" algn="l"/>
                  <a:tab pos="902170" algn="l"/>
                  <a:tab pos="1353255" algn="l"/>
                </a:tabLst>
              </a:pPr>
              <a:r>
                <a:rPr lang="en-US" sz="1688" i="1" dirty="0">
                  <a:solidFill>
                    <a:schemeClr val="tx2">
                      <a:lumMod val="75000"/>
                    </a:schemeClr>
                  </a:solidFill>
                  <a:latin typeface="Whitney Book" pitchFamily="50" charset="0"/>
                  <a:cs typeface="Whitney Book" pitchFamily="50" charset="0"/>
                </a:rPr>
                <a:t>TR=P</a:t>
              </a:r>
              <a:r>
                <a:rPr lang="el-GR" sz="1688" i="1" dirty="0">
                  <a:solidFill>
                    <a:schemeClr val="tx2">
                      <a:lumMod val="75000"/>
                    </a:schemeClr>
                  </a:solidFill>
                  <a:latin typeface="Whitney Book" pitchFamily="50" charset="0"/>
                  <a:cs typeface="Whitney Book" pitchFamily="50" charset="0"/>
                </a:rPr>
                <a:t>∙</a:t>
              </a:r>
              <a:r>
                <a:rPr lang="en-US" sz="1688" i="1" dirty="0">
                  <a:solidFill>
                    <a:schemeClr val="tx2">
                      <a:lumMod val="75000"/>
                    </a:schemeClr>
                  </a:solidFill>
                  <a:latin typeface="Whitney Book" pitchFamily="50" charset="0"/>
                  <a:cs typeface="Whitney Book" pitchFamily="50" charset="0"/>
                </a:rPr>
                <a:t>Q</a:t>
              </a:r>
            </a:p>
          </p:txBody>
        </p:sp>
        <p:grpSp>
          <p:nvGrpSpPr>
            <p:cNvPr id="12" name="Group 11">
              <a:extLst>
                <a:ext uri="{FF2B5EF4-FFF2-40B4-BE49-F238E27FC236}">
                  <a16:creationId xmlns:a16="http://schemas.microsoft.com/office/drawing/2014/main" id="{D25C2444-90AB-4A2B-A000-6185E7DC8318}"/>
                </a:ext>
              </a:extLst>
            </p:cNvPr>
            <p:cNvGrpSpPr/>
            <p:nvPr/>
          </p:nvGrpSpPr>
          <p:grpSpPr>
            <a:xfrm>
              <a:off x="4683173" y="3309894"/>
              <a:ext cx="3967615" cy="3327133"/>
              <a:chOff x="4683173" y="3309894"/>
              <a:chExt cx="3967615" cy="3327133"/>
            </a:xfrm>
          </p:grpSpPr>
          <p:grpSp>
            <p:nvGrpSpPr>
              <p:cNvPr id="11" name="Group 10">
                <a:extLst>
                  <a:ext uri="{FF2B5EF4-FFF2-40B4-BE49-F238E27FC236}">
                    <a16:creationId xmlns:a16="http://schemas.microsoft.com/office/drawing/2014/main" id="{9483BF01-5B9A-4624-AB3F-C6A6D93ED6F0}"/>
                  </a:ext>
                </a:extLst>
              </p:cNvPr>
              <p:cNvGrpSpPr/>
              <p:nvPr/>
            </p:nvGrpSpPr>
            <p:grpSpPr>
              <a:xfrm>
                <a:off x="4683173" y="3535569"/>
                <a:ext cx="2787042" cy="3101458"/>
                <a:chOff x="4683173" y="3535569"/>
                <a:chExt cx="2787042" cy="3101458"/>
              </a:xfrm>
            </p:grpSpPr>
            <p:sp>
              <p:nvSpPr>
                <p:cNvPr id="44063" name="Line 31"/>
                <p:cNvSpPr>
                  <a:spLocks noChangeShapeType="1"/>
                </p:cNvSpPr>
                <p:nvPr/>
              </p:nvSpPr>
              <p:spPr bwMode="auto">
                <a:xfrm flipV="1">
                  <a:off x="5336088" y="3535569"/>
                  <a:ext cx="1791222" cy="2469883"/>
                </a:xfrm>
                <a:prstGeom prst="line">
                  <a:avLst/>
                </a:prstGeom>
                <a:noFill/>
                <a:ln w="38100">
                  <a:solidFill>
                    <a:srgbClr val="C00000"/>
                  </a:solidFill>
                  <a:round/>
                  <a:headEnd type="none" w="sm" len="sm"/>
                  <a:tailEnd type="none" w="sm" len="sm"/>
                </a:ln>
                <a:effectLst/>
              </p:spPr>
              <p:txBody>
                <a:bodyPr wrap="none" lIns="90217" tIns="45109" rIns="90217" bIns="45109" anchor="ctr"/>
                <a:lstStyle/>
                <a:p>
                  <a:endParaRPr lang="en-US" sz="1688">
                    <a:solidFill>
                      <a:schemeClr val="tx2">
                        <a:lumMod val="75000"/>
                      </a:schemeClr>
                    </a:solidFill>
                    <a:latin typeface="Whitney Book" pitchFamily="50" charset="0"/>
                    <a:cs typeface="Whitney Book" pitchFamily="50" charset="0"/>
                  </a:endParaRPr>
                </a:p>
              </p:txBody>
            </p:sp>
            <p:grpSp>
              <p:nvGrpSpPr>
                <p:cNvPr id="5" name="Group 53"/>
                <p:cNvGrpSpPr>
                  <a:grpSpLocks/>
                </p:cNvGrpSpPr>
                <p:nvPr/>
              </p:nvGrpSpPr>
              <p:grpSpPr bwMode="auto">
                <a:xfrm>
                  <a:off x="4683173" y="3786318"/>
                  <a:ext cx="2787042" cy="2850709"/>
                  <a:chOff x="2991" y="2416"/>
                  <a:chExt cx="1780" cy="1819"/>
                </a:xfrm>
              </p:grpSpPr>
              <p:sp>
                <p:nvSpPr>
                  <p:cNvPr id="44066" name="Line 34"/>
                  <p:cNvSpPr>
                    <a:spLocks noChangeShapeType="1"/>
                  </p:cNvSpPr>
                  <p:nvPr/>
                </p:nvSpPr>
                <p:spPr bwMode="auto">
                  <a:xfrm>
                    <a:off x="4336" y="2544"/>
                    <a:ext cx="0" cy="1304"/>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wrap="none" anchor="ctr"/>
                  <a:lstStyle/>
                  <a:p>
                    <a:endParaRPr lang="en-US" sz="1688">
                      <a:solidFill>
                        <a:schemeClr val="tx2">
                          <a:lumMod val="75000"/>
                        </a:schemeClr>
                      </a:solidFill>
                      <a:latin typeface="Whitney Book" pitchFamily="50" charset="0"/>
                      <a:cs typeface="Whitney Book" pitchFamily="50" charset="0"/>
                    </a:endParaRPr>
                  </a:p>
                </p:txBody>
              </p:sp>
              <p:sp>
                <p:nvSpPr>
                  <p:cNvPr id="44067" name="Rectangle 35"/>
                  <p:cNvSpPr>
                    <a:spLocks noChangeArrowheads="1"/>
                  </p:cNvSpPr>
                  <p:nvPr/>
                </p:nvSpPr>
                <p:spPr bwMode="auto">
                  <a:xfrm>
                    <a:off x="4275" y="3859"/>
                    <a:ext cx="496" cy="376"/>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1688" dirty="0">
                        <a:solidFill>
                          <a:schemeClr val="tx2">
                            <a:lumMod val="75000"/>
                          </a:schemeClr>
                        </a:solidFill>
                        <a:latin typeface="Whitney Book" pitchFamily="50" charset="0"/>
                        <a:cs typeface="Whitney Book" pitchFamily="50" charset="0"/>
                      </a:rPr>
                      <a:t>10</a:t>
                    </a:r>
                  </a:p>
                </p:txBody>
              </p:sp>
              <p:sp>
                <p:nvSpPr>
                  <p:cNvPr id="44069" name="Line 37"/>
                  <p:cNvSpPr>
                    <a:spLocks noChangeShapeType="1"/>
                  </p:cNvSpPr>
                  <p:nvPr/>
                </p:nvSpPr>
                <p:spPr bwMode="auto">
                  <a:xfrm>
                    <a:off x="3400" y="2559"/>
                    <a:ext cx="936"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wrap="none" anchor="ctr"/>
                  <a:lstStyle/>
                  <a:p>
                    <a:endParaRPr lang="en-US" sz="1688">
                      <a:solidFill>
                        <a:schemeClr val="tx2">
                          <a:lumMod val="75000"/>
                        </a:schemeClr>
                      </a:solidFill>
                      <a:latin typeface="Whitney Book" pitchFamily="50" charset="0"/>
                      <a:cs typeface="Whitney Book" pitchFamily="50" charset="0"/>
                    </a:endParaRPr>
                  </a:p>
                </p:txBody>
              </p:sp>
              <p:sp>
                <p:nvSpPr>
                  <p:cNvPr id="44070" name="Rectangle 38"/>
                  <p:cNvSpPr>
                    <a:spLocks noChangeArrowheads="1"/>
                  </p:cNvSpPr>
                  <p:nvPr/>
                </p:nvSpPr>
                <p:spPr bwMode="auto">
                  <a:xfrm>
                    <a:off x="2991" y="2416"/>
                    <a:ext cx="496" cy="376"/>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1688" dirty="0">
                        <a:solidFill>
                          <a:schemeClr val="tx2">
                            <a:lumMod val="75000"/>
                          </a:schemeClr>
                        </a:solidFill>
                        <a:latin typeface="Whitney Book" pitchFamily="50" charset="0"/>
                        <a:cs typeface="Whitney Book" pitchFamily="50" charset="0"/>
                      </a:rPr>
                      <a:t>$30</a:t>
                    </a:r>
                  </a:p>
                </p:txBody>
              </p:sp>
            </p:grpSp>
          </p:grpSp>
          <p:grpSp>
            <p:nvGrpSpPr>
              <p:cNvPr id="6" name="Group 52"/>
              <p:cNvGrpSpPr>
                <a:grpSpLocks/>
              </p:cNvGrpSpPr>
              <p:nvPr/>
            </p:nvGrpSpPr>
            <p:grpSpPr bwMode="auto">
              <a:xfrm>
                <a:off x="4885150" y="3309894"/>
                <a:ext cx="3765638" cy="3151609"/>
                <a:chOff x="3120" y="2112"/>
                <a:chExt cx="2405" cy="2011"/>
              </a:xfrm>
            </p:grpSpPr>
            <p:sp>
              <p:nvSpPr>
                <p:cNvPr id="44060" name="Line 28"/>
                <p:cNvSpPr>
                  <a:spLocks noChangeShapeType="1"/>
                </p:cNvSpPr>
                <p:nvPr/>
              </p:nvSpPr>
              <p:spPr bwMode="auto">
                <a:xfrm>
                  <a:off x="3376" y="2325"/>
                  <a:ext cx="0" cy="1540"/>
                </a:xfrm>
                <a:prstGeom prst="line">
                  <a:avLst/>
                </a:prstGeom>
                <a:ln>
                  <a:headEnd type="arrow" w="sm" len="sm"/>
                  <a:tailEnd type="none" w="sm" len="sm"/>
                </a:ln>
              </p:spPr>
              <p:style>
                <a:lnRef idx="2">
                  <a:schemeClr val="dk1"/>
                </a:lnRef>
                <a:fillRef idx="0">
                  <a:schemeClr val="dk1"/>
                </a:fillRef>
                <a:effectRef idx="1">
                  <a:schemeClr val="dk1"/>
                </a:effectRef>
                <a:fontRef idx="minor">
                  <a:schemeClr val="tx1"/>
                </a:fontRef>
              </p:style>
              <p:txBody>
                <a:bodyPr wrap="none" anchor="ctr"/>
                <a:lstStyle/>
                <a:p>
                  <a:endParaRPr lang="en-US" sz="1688">
                    <a:solidFill>
                      <a:schemeClr val="tx2">
                        <a:lumMod val="75000"/>
                      </a:schemeClr>
                    </a:solidFill>
                    <a:latin typeface="Whitney Book" pitchFamily="50" charset="0"/>
                    <a:cs typeface="Whitney Book" pitchFamily="50" charset="0"/>
                  </a:endParaRPr>
                </a:p>
              </p:txBody>
            </p:sp>
            <p:sp>
              <p:nvSpPr>
                <p:cNvPr id="44061" name="Line 29"/>
                <p:cNvSpPr>
                  <a:spLocks noChangeShapeType="1"/>
                </p:cNvSpPr>
                <p:nvPr/>
              </p:nvSpPr>
              <p:spPr bwMode="auto">
                <a:xfrm>
                  <a:off x="3360" y="3855"/>
                  <a:ext cx="1725" cy="1"/>
                </a:xfrm>
                <a:prstGeom prst="line">
                  <a:avLst/>
                </a:prstGeom>
                <a:ln>
                  <a:headEnd type="none" w="sm" len="sm"/>
                  <a:tailEnd type="arrow" w="sm" len="sm"/>
                </a:ln>
              </p:spPr>
              <p:style>
                <a:lnRef idx="2">
                  <a:schemeClr val="dk1"/>
                </a:lnRef>
                <a:fillRef idx="0">
                  <a:schemeClr val="dk1"/>
                </a:fillRef>
                <a:effectRef idx="1">
                  <a:schemeClr val="dk1"/>
                </a:effectRef>
                <a:fontRef idx="minor">
                  <a:schemeClr val="tx1"/>
                </a:fontRef>
              </p:style>
              <p:txBody>
                <a:bodyPr wrap="none" anchor="ctr"/>
                <a:lstStyle/>
                <a:p>
                  <a:endParaRPr lang="en-US" sz="1688">
                    <a:solidFill>
                      <a:schemeClr val="tx2">
                        <a:lumMod val="75000"/>
                      </a:schemeClr>
                    </a:solidFill>
                    <a:latin typeface="Whitney Book" pitchFamily="50" charset="0"/>
                    <a:cs typeface="Whitney Book" pitchFamily="50" charset="0"/>
                  </a:endParaRPr>
                </a:p>
              </p:txBody>
            </p:sp>
            <p:sp>
              <p:nvSpPr>
                <p:cNvPr id="44062" name="Rectangle 30"/>
                <p:cNvSpPr>
                  <a:spLocks noChangeArrowheads="1"/>
                </p:cNvSpPr>
                <p:nvPr/>
              </p:nvSpPr>
              <p:spPr bwMode="auto">
                <a:xfrm>
                  <a:off x="5101" y="3747"/>
                  <a:ext cx="424" cy="376"/>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1688" i="1" dirty="0">
                      <a:solidFill>
                        <a:schemeClr val="tx2">
                          <a:lumMod val="75000"/>
                        </a:schemeClr>
                      </a:solidFill>
                      <a:latin typeface="Whitney Book" pitchFamily="50" charset="0"/>
                      <a:cs typeface="Whitney Book" pitchFamily="50" charset="0"/>
                    </a:rPr>
                    <a:t>Q</a:t>
                  </a:r>
                  <a:r>
                    <a:rPr lang="en-US" sz="1688" b="1" dirty="0">
                      <a:solidFill>
                        <a:schemeClr val="tx2">
                          <a:lumMod val="75000"/>
                        </a:schemeClr>
                      </a:solidFill>
                      <a:latin typeface="Whitney Book" pitchFamily="50" charset="0"/>
                      <a:cs typeface="Whitney Book" pitchFamily="50" charset="0"/>
                    </a:rPr>
                    <a:t> </a:t>
                  </a:r>
                </a:p>
              </p:txBody>
            </p:sp>
            <p:sp>
              <p:nvSpPr>
                <p:cNvPr id="44071" name="Text Box 39"/>
                <p:cNvSpPr txBox="1">
                  <a:spLocks noChangeArrowheads="1"/>
                </p:cNvSpPr>
                <p:nvPr/>
              </p:nvSpPr>
              <p:spPr bwMode="auto">
                <a:xfrm>
                  <a:off x="3120" y="2112"/>
                  <a:ext cx="288" cy="225"/>
                </a:xfrm>
                <a:prstGeom prst="rect">
                  <a:avLst/>
                </a:prstGeom>
                <a:noFill/>
                <a:ln w="12700">
                  <a:noFill/>
                  <a:miter lim="800000"/>
                  <a:headEnd type="none" w="sm" len="sm"/>
                  <a:tailEnd type="none" w="sm" len="sm"/>
                </a:ln>
                <a:effectLst/>
              </p:spPr>
              <p:txBody>
                <a:bodyPr>
                  <a:spAutoFit/>
                </a:bodyPr>
                <a:lstStyle/>
                <a:p>
                  <a:pPr>
                    <a:spcBef>
                      <a:spcPct val="50000"/>
                    </a:spcBef>
                  </a:pPr>
                  <a:r>
                    <a:rPr lang="en-US" sz="1688" i="1" dirty="0">
                      <a:solidFill>
                        <a:schemeClr val="tx2">
                          <a:lumMod val="75000"/>
                        </a:schemeClr>
                      </a:solidFill>
                      <a:latin typeface="Whitney Book" pitchFamily="50" charset="0"/>
                      <a:cs typeface="Whitney Book" pitchFamily="50" charset="0"/>
                    </a:rPr>
                    <a:t>P</a:t>
                  </a:r>
                </a:p>
              </p:txBody>
            </p:sp>
          </p:grpSp>
        </p:grpSp>
      </p:grpSp>
      <p:grpSp>
        <p:nvGrpSpPr>
          <p:cNvPr id="2" name="Group 48"/>
          <p:cNvGrpSpPr>
            <a:grpSpLocks/>
          </p:cNvGrpSpPr>
          <p:nvPr/>
        </p:nvGrpSpPr>
        <p:grpSpPr bwMode="auto">
          <a:xfrm>
            <a:off x="4853816" y="2634413"/>
            <a:ext cx="4394268" cy="4418730"/>
            <a:chOff x="435" y="2025"/>
            <a:chExt cx="2151" cy="2004"/>
          </a:xfrm>
        </p:grpSpPr>
        <p:sp>
          <p:nvSpPr>
            <p:cNvPr id="44036" name="Rectangle 4"/>
            <p:cNvSpPr>
              <a:spLocks noChangeArrowheads="1"/>
            </p:cNvSpPr>
            <p:nvPr/>
          </p:nvSpPr>
          <p:spPr bwMode="auto">
            <a:xfrm>
              <a:off x="435" y="2025"/>
              <a:ext cx="496" cy="376"/>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i="1" dirty="0">
                  <a:solidFill>
                    <a:schemeClr val="tx2">
                      <a:lumMod val="75000"/>
                    </a:schemeClr>
                  </a:solidFill>
                  <a:latin typeface="Whitney Book" pitchFamily="50" charset="0"/>
                  <a:cs typeface="Whitney Book" pitchFamily="50" charset="0"/>
                </a:rPr>
                <a:t>P</a:t>
              </a:r>
              <a:endParaRPr lang="en-US" sz="1688" i="1" dirty="0">
                <a:solidFill>
                  <a:schemeClr val="tx2">
                    <a:lumMod val="75000"/>
                  </a:schemeClr>
                </a:solidFill>
                <a:latin typeface="Whitney Book" pitchFamily="50" charset="0"/>
                <a:cs typeface="Whitney Book" pitchFamily="50" charset="0"/>
              </a:endParaRPr>
            </a:p>
          </p:txBody>
        </p:sp>
        <p:sp>
          <p:nvSpPr>
            <p:cNvPr id="44037" name="Line 5"/>
            <p:cNvSpPr>
              <a:spLocks noChangeShapeType="1"/>
            </p:cNvSpPr>
            <p:nvPr/>
          </p:nvSpPr>
          <p:spPr bwMode="auto">
            <a:xfrm>
              <a:off x="536" y="2240"/>
              <a:ext cx="0" cy="1504"/>
            </a:xfrm>
            <a:prstGeom prst="line">
              <a:avLst/>
            </a:prstGeom>
            <a:ln>
              <a:headEnd type="arrow" w="sm" len="sm"/>
              <a:tailEnd type="none" w="sm" len="sm"/>
            </a:ln>
          </p:spPr>
          <p:style>
            <a:lnRef idx="2">
              <a:schemeClr val="dk1"/>
            </a:lnRef>
            <a:fillRef idx="0">
              <a:schemeClr val="dk1"/>
            </a:fillRef>
            <a:effectRef idx="1">
              <a:schemeClr val="dk1"/>
            </a:effectRef>
            <a:fontRef idx="minor">
              <a:schemeClr val="tx1"/>
            </a:fontRef>
          </p:style>
          <p:txBody>
            <a:bodyPr wrap="none" anchor="ctr"/>
            <a:lstStyle/>
            <a:p>
              <a:endParaRPr lang="en-US" sz="1688">
                <a:solidFill>
                  <a:schemeClr val="tx2">
                    <a:lumMod val="75000"/>
                  </a:schemeClr>
                </a:solidFill>
                <a:latin typeface="Whitney Book" pitchFamily="50" charset="0"/>
                <a:cs typeface="Whitney Book" pitchFamily="50" charset="0"/>
              </a:endParaRPr>
            </a:p>
          </p:txBody>
        </p:sp>
        <p:sp>
          <p:nvSpPr>
            <p:cNvPr id="44038" name="Line 6"/>
            <p:cNvSpPr>
              <a:spLocks noChangeShapeType="1"/>
            </p:cNvSpPr>
            <p:nvPr/>
          </p:nvSpPr>
          <p:spPr bwMode="auto">
            <a:xfrm>
              <a:off x="526" y="3743"/>
              <a:ext cx="1692" cy="0"/>
            </a:xfrm>
            <a:prstGeom prst="line">
              <a:avLst/>
            </a:prstGeom>
            <a:ln>
              <a:headEnd type="none" w="sm" len="sm"/>
              <a:tailEnd type="arrow" w="sm" len="sm"/>
            </a:ln>
          </p:spPr>
          <p:style>
            <a:lnRef idx="2">
              <a:schemeClr val="dk1"/>
            </a:lnRef>
            <a:fillRef idx="0">
              <a:schemeClr val="dk1"/>
            </a:fillRef>
            <a:effectRef idx="1">
              <a:schemeClr val="dk1"/>
            </a:effectRef>
            <a:fontRef idx="minor">
              <a:schemeClr val="tx1"/>
            </a:fontRef>
          </p:style>
          <p:txBody>
            <a:bodyPr wrap="none" anchor="ctr"/>
            <a:lstStyle/>
            <a:p>
              <a:endParaRPr lang="en-US" sz="1688" dirty="0">
                <a:solidFill>
                  <a:schemeClr val="tx2">
                    <a:lumMod val="75000"/>
                  </a:schemeClr>
                </a:solidFill>
                <a:latin typeface="Whitney Book" pitchFamily="50" charset="0"/>
                <a:cs typeface="Whitney Book" pitchFamily="50" charset="0"/>
              </a:endParaRPr>
            </a:p>
          </p:txBody>
        </p:sp>
        <p:sp>
          <p:nvSpPr>
            <p:cNvPr id="44039" name="Rectangle 7"/>
            <p:cNvSpPr>
              <a:spLocks noChangeArrowheads="1"/>
            </p:cNvSpPr>
            <p:nvPr/>
          </p:nvSpPr>
          <p:spPr bwMode="auto">
            <a:xfrm>
              <a:off x="2239" y="3653"/>
              <a:ext cx="347" cy="376"/>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i="1" dirty="0">
                  <a:solidFill>
                    <a:schemeClr val="tx2">
                      <a:lumMod val="75000"/>
                    </a:schemeClr>
                  </a:solidFill>
                  <a:latin typeface="Whitney Book" pitchFamily="50" charset="0"/>
                  <a:cs typeface="Whitney Book" pitchFamily="50" charset="0"/>
                </a:rPr>
                <a:t>Q</a:t>
              </a:r>
              <a:r>
                <a:rPr lang="en-US" sz="1688" dirty="0">
                  <a:solidFill>
                    <a:schemeClr val="tx2">
                      <a:lumMod val="75000"/>
                    </a:schemeClr>
                  </a:solidFill>
                  <a:latin typeface="Whitney Book" pitchFamily="50" charset="0"/>
                  <a:cs typeface="Whitney Book" pitchFamily="50" charset="0"/>
                </a:rPr>
                <a:t> </a:t>
              </a:r>
            </a:p>
          </p:txBody>
        </p:sp>
      </p:grpSp>
      <p:grpSp>
        <p:nvGrpSpPr>
          <p:cNvPr id="3" name="Group 49"/>
          <p:cNvGrpSpPr>
            <a:grpSpLocks/>
          </p:cNvGrpSpPr>
          <p:nvPr/>
        </p:nvGrpSpPr>
        <p:grpSpPr bwMode="auto">
          <a:xfrm>
            <a:off x="4710940" y="4839703"/>
            <a:ext cx="5401847" cy="876056"/>
            <a:chOff x="55" y="3054"/>
            <a:chExt cx="3450" cy="559"/>
          </a:xfrm>
        </p:grpSpPr>
        <p:sp>
          <p:nvSpPr>
            <p:cNvPr id="44041" name="Rectangle 9"/>
            <p:cNvSpPr>
              <a:spLocks noChangeArrowheads="1"/>
            </p:cNvSpPr>
            <p:nvPr/>
          </p:nvSpPr>
          <p:spPr bwMode="auto">
            <a:xfrm>
              <a:off x="55" y="3054"/>
              <a:ext cx="384" cy="376"/>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dirty="0">
                  <a:solidFill>
                    <a:schemeClr val="tx2">
                      <a:lumMod val="75000"/>
                    </a:schemeClr>
                  </a:solidFill>
                  <a:latin typeface="Whitney Book" pitchFamily="50" charset="0"/>
                  <a:cs typeface="Whitney Book" pitchFamily="50" charset="0"/>
                </a:rPr>
                <a:t>3</a:t>
              </a:r>
            </a:p>
          </p:txBody>
        </p:sp>
        <p:sp>
          <p:nvSpPr>
            <p:cNvPr id="44042" name="Line 10"/>
            <p:cNvSpPr>
              <a:spLocks noChangeShapeType="1"/>
            </p:cNvSpPr>
            <p:nvPr/>
          </p:nvSpPr>
          <p:spPr bwMode="auto">
            <a:xfrm>
              <a:off x="283" y="3197"/>
              <a:ext cx="2135" cy="0"/>
            </a:xfrm>
            <a:prstGeom prst="line">
              <a:avLst/>
            </a:prstGeom>
            <a:ln>
              <a:solidFill>
                <a:srgbClr val="FF0000"/>
              </a:solidFill>
              <a:headEnd type="none" w="sm" len="sm"/>
              <a:tailEnd type="none" w="sm" len="sm"/>
            </a:ln>
          </p:spPr>
          <p:style>
            <a:lnRef idx="3">
              <a:schemeClr val="accent2"/>
            </a:lnRef>
            <a:fillRef idx="0">
              <a:schemeClr val="accent2"/>
            </a:fillRef>
            <a:effectRef idx="2">
              <a:schemeClr val="accent2"/>
            </a:effectRef>
            <a:fontRef idx="minor">
              <a:schemeClr val="tx1"/>
            </a:fontRef>
          </p:style>
          <p:txBody>
            <a:bodyPr wrap="none" anchor="ctr"/>
            <a:lstStyle/>
            <a:p>
              <a:endParaRPr lang="en-US" sz="1688">
                <a:solidFill>
                  <a:schemeClr val="tx2">
                    <a:lumMod val="75000"/>
                  </a:schemeClr>
                </a:solidFill>
                <a:latin typeface="Whitney Book" pitchFamily="50" charset="0"/>
                <a:cs typeface="Whitney Book" pitchFamily="50" charset="0"/>
              </a:endParaRPr>
            </a:p>
          </p:txBody>
        </p:sp>
        <p:sp>
          <p:nvSpPr>
            <p:cNvPr id="44043" name="Rectangle 11"/>
            <p:cNvSpPr>
              <a:spLocks noChangeArrowheads="1"/>
            </p:cNvSpPr>
            <p:nvPr/>
          </p:nvSpPr>
          <p:spPr bwMode="auto">
            <a:xfrm>
              <a:off x="1849" y="3237"/>
              <a:ext cx="1656" cy="376"/>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i="1" dirty="0">
                  <a:solidFill>
                    <a:schemeClr val="tx2">
                      <a:lumMod val="75000"/>
                    </a:schemeClr>
                  </a:solidFill>
                  <a:latin typeface="Whitney Book" pitchFamily="50" charset="0"/>
                  <a:cs typeface="Whitney Book" pitchFamily="50" charset="0"/>
                </a:rPr>
                <a:t> P = MR</a:t>
              </a:r>
            </a:p>
          </p:txBody>
        </p:sp>
      </p:grpSp>
      <p:grpSp>
        <p:nvGrpSpPr>
          <p:cNvPr id="7" name="Group 51"/>
          <p:cNvGrpSpPr>
            <a:grpSpLocks/>
          </p:cNvGrpSpPr>
          <p:nvPr/>
        </p:nvGrpSpPr>
        <p:grpSpPr bwMode="auto">
          <a:xfrm>
            <a:off x="5068128" y="5063289"/>
            <a:ext cx="2318880" cy="2151745"/>
            <a:chOff x="228" y="2781"/>
            <a:chExt cx="1481" cy="1373"/>
          </a:xfrm>
        </p:grpSpPr>
        <p:sp>
          <p:nvSpPr>
            <p:cNvPr id="44046" name="Rectangle 14"/>
            <p:cNvSpPr>
              <a:spLocks noChangeArrowheads="1"/>
            </p:cNvSpPr>
            <p:nvPr/>
          </p:nvSpPr>
          <p:spPr bwMode="auto">
            <a:xfrm>
              <a:off x="1141" y="3698"/>
              <a:ext cx="568" cy="456"/>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400" dirty="0">
                  <a:solidFill>
                    <a:schemeClr val="tx2">
                      <a:lumMod val="75000"/>
                    </a:schemeClr>
                  </a:solidFill>
                  <a:latin typeface="Whitney Book" pitchFamily="50" charset="0"/>
                  <a:cs typeface="Whitney Book" pitchFamily="50" charset="0"/>
                </a:rPr>
                <a:t>10</a:t>
              </a:r>
            </a:p>
          </p:txBody>
        </p:sp>
        <p:sp>
          <p:nvSpPr>
            <p:cNvPr id="44078" name="Rectangle 46"/>
            <p:cNvSpPr>
              <a:spLocks noChangeArrowheads="1"/>
            </p:cNvSpPr>
            <p:nvPr/>
          </p:nvSpPr>
          <p:spPr bwMode="auto">
            <a:xfrm>
              <a:off x="228" y="2781"/>
              <a:ext cx="1020" cy="866"/>
            </a:xfrm>
            <a:prstGeom prst="rect">
              <a:avLst/>
            </a:prstGeom>
            <a:noFill/>
            <a:ln w="38100">
              <a:solidFill>
                <a:srgbClr val="C00000"/>
              </a:solidFill>
              <a:miter lim="800000"/>
              <a:headEnd type="none" w="sm" len="sm"/>
              <a:tailEnd type="none" w="sm" len="sm"/>
            </a:ln>
            <a:effectLst/>
          </p:spPr>
          <p:txBody>
            <a:bodyPr wrap="none" anchor="ctr"/>
            <a:lstStyle/>
            <a:p>
              <a:pPr algn="ctr"/>
              <a:r>
                <a:rPr lang="en-US" sz="2400" dirty="0">
                  <a:solidFill>
                    <a:schemeClr val="tx2">
                      <a:lumMod val="75000"/>
                    </a:schemeClr>
                  </a:solidFill>
                  <a:latin typeface="Whitney Book" pitchFamily="50" charset="0"/>
                  <a:cs typeface="Whitney Book" pitchFamily="50" charset="0"/>
                </a:rPr>
                <a:t>TR = $30</a:t>
              </a:r>
            </a:p>
          </p:txBody>
        </p:sp>
      </p:grpSp>
      <p:sp>
        <p:nvSpPr>
          <p:cNvPr id="36" name="TextBox 35">
            <a:extLst>
              <a:ext uri="{FF2B5EF4-FFF2-40B4-BE49-F238E27FC236}">
                <a16:creationId xmlns:a16="http://schemas.microsoft.com/office/drawing/2014/main" id="{CB6A091B-417E-42BB-896A-BC3DAF04316B}"/>
              </a:ext>
            </a:extLst>
          </p:cNvPr>
          <p:cNvSpPr txBox="1"/>
          <p:nvPr/>
        </p:nvSpPr>
        <p:spPr>
          <a:xfrm>
            <a:off x="5887521" y="3595055"/>
            <a:ext cx="3333111" cy="830997"/>
          </a:xfrm>
          <a:prstGeom prst="rect">
            <a:avLst/>
          </a:prstGeom>
          <a:noFill/>
          <a:ln>
            <a:noFill/>
          </a:ln>
        </p:spPr>
        <p:txBody>
          <a:bodyPr wrap="square" rtlCol="0">
            <a:spAutoFit/>
          </a:bodyPr>
          <a:lstStyle/>
          <a:p>
            <a:pPr algn="ctr"/>
            <a:r>
              <a:rPr lang="en-US" sz="1600" b="1" dirty="0">
                <a:solidFill>
                  <a:srgbClr val="C00000"/>
                </a:solidFill>
                <a:latin typeface="Whitney Book" pitchFamily="50" charset="0"/>
                <a:cs typeface="Whitney Book" pitchFamily="50" charset="0"/>
              </a:rPr>
              <a:t>The demand curve faced by a price taker is the market price (which in turn equals </a:t>
            </a:r>
            <a:r>
              <a:rPr lang="en-US" sz="1600" b="1" i="1" dirty="0">
                <a:solidFill>
                  <a:srgbClr val="C00000"/>
                </a:solidFill>
                <a:latin typeface="Whitney Book" pitchFamily="50" charset="0"/>
                <a:cs typeface="Whitney Book" pitchFamily="50" charset="0"/>
              </a:rPr>
              <a:t>MR</a:t>
            </a:r>
            <a:r>
              <a:rPr lang="en-US" sz="1600" b="1" dirty="0">
                <a:solidFill>
                  <a:srgbClr val="C00000"/>
                </a:solidFill>
                <a:latin typeface="Whitney Book" pitchFamily="50" charset="0"/>
                <a:cs typeface="Whitney Book" pitchFamily="50" charset="0"/>
              </a:rPr>
              <a:t> for a price taker)</a:t>
            </a:r>
            <a:endParaRPr lang="en-US" sz="1600" b="1" i="1" dirty="0">
              <a:solidFill>
                <a:srgbClr val="C00000"/>
              </a:solidFill>
              <a:latin typeface="Whitney Book" pitchFamily="50" charset="0"/>
              <a:cs typeface="Whitney Book" pitchFamily="50" charset="0"/>
            </a:endParaRPr>
          </a:p>
        </p:txBody>
      </p:sp>
      <p:cxnSp>
        <p:nvCxnSpPr>
          <p:cNvPr id="37" name="Straight Arrow Connector 36">
            <a:extLst>
              <a:ext uri="{FF2B5EF4-FFF2-40B4-BE49-F238E27FC236}">
                <a16:creationId xmlns:a16="http://schemas.microsoft.com/office/drawing/2014/main" id="{0C6F2749-7D5E-427D-8752-A1709C5707E6}"/>
              </a:ext>
            </a:extLst>
          </p:cNvPr>
          <p:cNvCxnSpPr>
            <a:cxnSpLocks/>
          </p:cNvCxnSpPr>
          <p:nvPr/>
        </p:nvCxnSpPr>
        <p:spPr>
          <a:xfrm flipH="1">
            <a:off x="7675253" y="4414758"/>
            <a:ext cx="95674" cy="603412"/>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spTree>
    <p:custDataLst>
      <p:tags r:id="rId1"/>
    </p:custDataLst>
    <p:extLst>
      <p:ext uri="{BB962C8B-B14F-4D97-AF65-F5344CB8AC3E}">
        <p14:creationId xmlns:p14="http://schemas.microsoft.com/office/powerpoint/2010/main" val="2319119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5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05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405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405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405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51" grpId="0"/>
      <p:bldP spid="44053" grpId="0"/>
      <p:bldP spid="44054" grpId="0"/>
      <p:bldP spid="44055" grpId="0"/>
      <p:bldP spid="44057" grpId="0" animBg="1"/>
      <p:bldP spid="3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8" name="Straight Connector 27">
            <a:extLst>
              <a:ext uri="{FF2B5EF4-FFF2-40B4-BE49-F238E27FC236}">
                <a16:creationId xmlns:a16="http://schemas.microsoft.com/office/drawing/2014/main" id="{B90F9A05-F073-4965-91AB-B0741D490A7B}"/>
              </a:ext>
            </a:extLst>
          </p:cNvPr>
          <p:cNvCxnSpPr>
            <a:stCxn id="25" idx="0"/>
          </p:cNvCxnSpPr>
          <p:nvPr/>
        </p:nvCxnSpPr>
        <p:spPr>
          <a:xfrm flipH="1">
            <a:off x="4860850" y="2028419"/>
            <a:ext cx="1" cy="3399453"/>
          </a:xfrm>
          <a:prstGeom prst="line">
            <a:avLst/>
          </a:prstGeom>
          <a:ln w="15875" cap="flat" cmpd="sng" algn="ctr">
            <a:solidFill>
              <a:schemeClr val="dk1"/>
            </a:solidFill>
            <a:prstDash val="lg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 name="Title 1">
            <a:extLst>
              <a:ext uri="{FF2B5EF4-FFF2-40B4-BE49-F238E27FC236}">
                <a16:creationId xmlns:a16="http://schemas.microsoft.com/office/drawing/2014/main" id="{A2BCBFA2-907E-4780-8116-345F29666368}"/>
              </a:ext>
            </a:extLst>
          </p:cNvPr>
          <p:cNvSpPr>
            <a:spLocks noGrp="1"/>
          </p:cNvSpPr>
          <p:nvPr>
            <p:ph type="title"/>
          </p:nvPr>
        </p:nvSpPr>
        <p:spPr/>
        <p:txBody>
          <a:bodyPr>
            <a:normAutofit fontScale="90000"/>
          </a:bodyPr>
          <a:lstStyle/>
          <a:p>
            <a:r>
              <a:rPr lang="fr-FR" dirty="0"/>
              <a:t>Profit </a:t>
            </a:r>
            <a:r>
              <a:rPr lang="fr-FR" dirty="0" err="1"/>
              <a:t>maximization</a:t>
            </a:r>
            <a:r>
              <a:rPr lang="fr-FR" dirty="0"/>
              <a:t> of a </a:t>
            </a:r>
            <a:r>
              <a:rPr lang="fr-FR" dirty="0" err="1"/>
              <a:t>price</a:t>
            </a:r>
            <a:r>
              <a:rPr lang="fr-FR" dirty="0"/>
              <a:t> </a:t>
            </a:r>
            <a:r>
              <a:rPr lang="fr-FR" dirty="0" err="1"/>
              <a:t>taker</a:t>
            </a:r>
            <a:r>
              <a:rPr lang="fr-FR" dirty="0"/>
              <a:t>: </a:t>
            </a:r>
            <a:r>
              <a:rPr lang="fr-FR" dirty="0" err="1"/>
              <a:t>visual</a:t>
            </a:r>
            <a:r>
              <a:rPr lang="fr-FR" dirty="0"/>
              <a:t> </a:t>
            </a:r>
            <a:r>
              <a:rPr lang="fr-FR" dirty="0" err="1"/>
              <a:t>representation</a:t>
            </a:r>
            <a:endParaRPr lang="en-US" dirty="0"/>
          </a:p>
        </p:txBody>
      </p:sp>
      <p:sp>
        <p:nvSpPr>
          <p:cNvPr id="3" name="Content Placeholder 2">
            <a:extLst>
              <a:ext uri="{FF2B5EF4-FFF2-40B4-BE49-F238E27FC236}">
                <a16:creationId xmlns:a16="http://schemas.microsoft.com/office/drawing/2014/main" id="{1287748D-D6EB-4A5A-98EA-6FD18C72270C}"/>
              </a:ext>
            </a:extLst>
          </p:cNvPr>
          <p:cNvSpPr txBox="1">
            <a:spLocks/>
          </p:cNvSpPr>
          <p:nvPr/>
        </p:nvSpPr>
        <p:spPr>
          <a:xfrm>
            <a:off x="321270" y="1302292"/>
            <a:ext cx="8535625" cy="5211242"/>
          </a:xfrm>
          <a:prstGeom prst="rect">
            <a:avLst/>
          </a:prstGeom>
        </p:spPr>
        <p:txBody>
          <a:bodyPr>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50000"/>
              </a:lnSpc>
              <a:spcBef>
                <a:spcPts val="0"/>
              </a:spcBef>
              <a:spcAft>
                <a:spcPts val="600"/>
              </a:spcAft>
              <a:buNone/>
            </a:pPr>
            <a:endParaRPr lang="fr-FR" dirty="0"/>
          </a:p>
        </p:txBody>
      </p:sp>
      <p:grpSp>
        <p:nvGrpSpPr>
          <p:cNvPr id="9" name="Group 8">
            <a:extLst>
              <a:ext uri="{FF2B5EF4-FFF2-40B4-BE49-F238E27FC236}">
                <a16:creationId xmlns:a16="http://schemas.microsoft.com/office/drawing/2014/main" id="{68E01483-DCE8-4111-9F4D-BE4FB3C5A08C}"/>
              </a:ext>
            </a:extLst>
          </p:cNvPr>
          <p:cNvGrpSpPr/>
          <p:nvPr/>
        </p:nvGrpSpPr>
        <p:grpSpPr>
          <a:xfrm>
            <a:off x="415197" y="1380688"/>
            <a:ext cx="7291888" cy="5035655"/>
            <a:chOff x="4054302" y="2735067"/>
            <a:chExt cx="5193782" cy="4588072"/>
          </a:xfrm>
        </p:grpSpPr>
        <p:sp>
          <p:nvSpPr>
            <p:cNvPr id="6" name="Line 6">
              <a:extLst>
                <a:ext uri="{FF2B5EF4-FFF2-40B4-BE49-F238E27FC236}">
                  <a16:creationId xmlns:a16="http://schemas.microsoft.com/office/drawing/2014/main" id="{F4DA6440-65C0-4B59-A7ED-CA6F36456A24}"/>
                </a:ext>
              </a:extLst>
            </p:cNvPr>
            <p:cNvSpPr>
              <a:spLocks noChangeShapeType="1"/>
            </p:cNvSpPr>
            <p:nvPr/>
          </p:nvSpPr>
          <p:spPr bwMode="auto">
            <a:xfrm>
              <a:off x="5039719" y="6422526"/>
              <a:ext cx="3456579" cy="0"/>
            </a:xfrm>
            <a:prstGeom prst="line">
              <a:avLst/>
            </a:prstGeom>
            <a:ln>
              <a:headEnd type="none" w="sm" len="sm"/>
              <a:tailEnd type="arrow" w="sm" len="sm"/>
            </a:ln>
          </p:spPr>
          <p:style>
            <a:lnRef idx="2">
              <a:schemeClr val="dk1"/>
            </a:lnRef>
            <a:fillRef idx="0">
              <a:schemeClr val="dk1"/>
            </a:fillRef>
            <a:effectRef idx="1">
              <a:schemeClr val="dk1"/>
            </a:effectRef>
            <a:fontRef idx="minor">
              <a:schemeClr val="tx1"/>
            </a:fontRef>
          </p:style>
          <p:txBody>
            <a:bodyPr wrap="none" anchor="ctr"/>
            <a:lstStyle/>
            <a:p>
              <a:endParaRPr lang="en-US" sz="1688" dirty="0">
                <a:solidFill>
                  <a:schemeClr val="tx2">
                    <a:lumMod val="75000"/>
                  </a:schemeClr>
                </a:solidFill>
                <a:latin typeface="Whitney Book" pitchFamily="50" charset="0"/>
                <a:cs typeface="Whitney Book" pitchFamily="50" charset="0"/>
              </a:endParaRPr>
            </a:p>
          </p:txBody>
        </p:sp>
        <p:grpSp>
          <p:nvGrpSpPr>
            <p:cNvPr id="8" name="Group 7">
              <a:extLst>
                <a:ext uri="{FF2B5EF4-FFF2-40B4-BE49-F238E27FC236}">
                  <a16:creationId xmlns:a16="http://schemas.microsoft.com/office/drawing/2014/main" id="{5F99176F-8D70-4666-A430-52DD6898ACCD}"/>
                </a:ext>
              </a:extLst>
            </p:cNvPr>
            <p:cNvGrpSpPr/>
            <p:nvPr/>
          </p:nvGrpSpPr>
          <p:grpSpPr>
            <a:xfrm>
              <a:off x="4054302" y="2735067"/>
              <a:ext cx="5193782" cy="4588072"/>
              <a:chOff x="4054302" y="2735067"/>
              <a:chExt cx="5193782" cy="4588072"/>
            </a:xfrm>
          </p:grpSpPr>
          <p:sp>
            <p:nvSpPr>
              <p:cNvPr id="4" name="Rectangle 4">
                <a:extLst>
                  <a:ext uri="{FF2B5EF4-FFF2-40B4-BE49-F238E27FC236}">
                    <a16:creationId xmlns:a16="http://schemas.microsoft.com/office/drawing/2014/main" id="{0A69EFDB-2153-46F2-9AD3-2DF017250EC0}"/>
                  </a:ext>
                </a:extLst>
              </p:cNvPr>
              <p:cNvSpPr>
                <a:spLocks noChangeArrowheads="1"/>
              </p:cNvSpPr>
              <p:nvPr/>
            </p:nvSpPr>
            <p:spPr bwMode="auto">
              <a:xfrm>
                <a:off x="4054302" y="2735067"/>
                <a:ext cx="1013276" cy="829063"/>
              </a:xfrm>
              <a:prstGeom prst="rect">
                <a:avLst/>
              </a:prstGeom>
              <a:noFill/>
              <a:ln w="9525">
                <a:noFill/>
                <a:miter lim="800000"/>
                <a:headEnd/>
                <a:tailEnd/>
              </a:ln>
              <a:effectLst/>
            </p:spPr>
            <p:txBody>
              <a:bodyPr wrap="none" lIns="17859" tIns="25301" rIns="17859" bIns="25301"/>
              <a:lstStyle/>
              <a:p>
                <a:pPr>
                  <a:lnSpc>
                    <a:spcPct val="80000"/>
                  </a:lnSpc>
                  <a:tabLst>
                    <a:tab pos="451085" algn="l"/>
                    <a:tab pos="902170" algn="l"/>
                    <a:tab pos="1353255" algn="l"/>
                  </a:tabLst>
                </a:pPr>
                <a:r>
                  <a:rPr lang="fr-FR" sz="2625" i="1" dirty="0">
                    <a:solidFill>
                      <a:schemeClr val="tx2">
                        <a:lumMod val="75000"/>
                      </a:schemeClr>
                    </a:solidFill>
                    <a:latin typeface="Whitney Book" pitchFamily="50" charset="0"/>
                    <a:cs typeface="Whitney Book" pitchFamily="50" charset="0"/>
                  </a:rPr>
                  <a:t>F</a:t>
                </a:r>
                <a:r>
                  <a:rPr lang="en-US" sz="2625" i="1" dirty="0" err="1">
                    <a:solidFill>
                      <a:schemeClr val="tx2">
                        <a:lumMod val="75000"/>
                      </a:schemeClr>
                    </a:solidFill>
                    <a:latin typeface="Whitney Book" pitchFamily="50" charset="0"/>
                    <a:cs typeface="Whitney Book" pitchFamily="50" charset="0"/>
                  </a:rPr>
                  <a:t>irm</a:t>
                </a:r>
                <a:r>
                  <a:rPr lang="en-US" sz="2625" i="1" dirty="0">
                    <a:solidFill>
                      <a:schemeClr val="tx2">
                        <a:lumMod val="75000"/>
                      </a:schemeClr>
                    </a:solidFill>
                    <a:latin typeface="Whitney Book" pitchFamily="50" charset="0"/>
                    <a:cs typeface="Whitney Book" pitchFamily="50" charset="0"/>
                  </a:rPr>
                  <a:t> revenue, </a:t>
                </a:r>
              </a:p>
              <a:p>
                <a:pPr>
                  <a:lnSpc>
                    <a:spcPct val="80000"/>
                  </a:lnSpc>
                  <a:tabLst>
                    <a:tab pos="451085" algn="l"/>
                    <a:tab pos="902170" algn="l"/>
                    <a:tab pos="1353255" algn="l"/>
                  </a:tabLst>
                </a:pPr>
                <a:r>
                  <a:rPr lang="en-US" sz="2625" i="1" dirty="0">
                    <a:solidFill>
                      <a:schemeClr val="tx2">
                        <a:lumMod val="75000"/>
                      </a:schemeClr>
                    </a:solidFill>
                    <a:latin typeface="Whitney Book" pitchFamily="50" charset="0"/>
                    <a:cs typeface="Whitney Book" pitchFamily="50" charset="0"/>
                  </a:rPr>
                  <a:t>cost and </a:t>
                </a:r>
              </a:p>
              <a:p>
                <a:pPr>
                  <a:lnSpc>
                    <a:spcPct val="80000"/>
                  </a:lnSpc>
                  <a:tabLst>
                    <a:tab pos="451085" algn="l"/>
                    <a:tab pos="902170" algn="l"/>
                    <a:tab pos="1353255" algn="l"/>
                  </a:tabLst>
                </a:pPr>
                <a:r>
                  <a:rPr lang="en-US" sz="2625" i="1" dirty="0">
                    <a:solidFill>
                      <a:schemeClr val="tx2">
                        <a:lumMod val="75000"/>
                      </a:schemeClr>
                    </a:solidFill>
                    <a:latin typeface="Whitney Book" pitchFamily="50" charset="0"/>
                    <a:cs typeface="Whitney Book" pitchFamily="50" charset="0"/>
                  </a:rPr>
                  <a:t>profit ($)</a:t>
                </a:r>
                <a:endParaRPr lang="en-US" sz="1688" i="1" dirty="0">
                  <a:solidFill>
                    <a:schemeClr val="tx2">
                      <a:lumMod val="75000"/>
                    </a:schemeClr>
                  </a:solidFill>
                  <a:latin typeface="Whitney Book" pitchFamily="50" charset="0"/>
                  <a:cs typeface="Whitney Book" pitchFamily="50" charset="0"/>
                </a:endParaRPr>
              </a:p>
            </p:txBody>
          </p:sp>
          <p:sp>
            <p:nvSpPr>
              <p:cNvPr id="5" name="Line 5">
                <a:extLst>
                  <a:ext uri="{FF2B5EF4-FFF2-40B4-BE49-F238E27FC236}">
                    <a16:creationId xmlns:a16="http://schemas.microsoft.com/office/drawing/2014/main" id="{EE76414D-14C9-4A6B-A690-E34888C175FA}"/>
                  </a:ext>
                </a:extLst>
              </p:cNvPr>
              <p:cNvSpPr>
                <a:spLocks noChangeShapeType="1"/>
              </p:cNvSpPr>
              <p:nvPr/>
            </p:nvSpPr>
            <p:spPr bwMode="auto">
              <a:xfrm flipH="1">
                <a:off x="5039719" y="3108478"/>
                <a:ext cx="20429" cy="4214661"/>
              </a:xfrm>
              <a:prstGeom prst="line">
                <a:avLst/>
              </a:prstGeom>
              <a:ln>
                <a:headEnd type="arrow" w="sm" len="sm"/>
                <a:tailEnd type="none" w="sm" len="sm"/>
              </a:ln>
            </p:spPr>
            <p:style>
              <a:lnRef idx="2">
                <a:schemeClr val="dk1"/>
              </a:lnRef>
              <a:fillRef idx="0">
                <a:schemeClr val="dk1"/>
              </a:fillRef>
              <a:effectRef idx="1">
                <a:schemeClr val="dk1"/>
              </a:effectRef>
              <a:fontRef idx="minor">
                <a:schemeClr val="tx1"/>
              </a:fontRef>
            </p:style>
            <p:txBody>
              <a:bodyPr wrap="none" anchor="ctr"/>
              <a:lstStyle/>
              <a:p>
                <a:endParaRPr lang="en-US" sz="1688">
                  <a:solidFill>
                    <a:schemeClr val="tx2">
                      <a:lumMod val="75000"/>
                    </a:schemeClr>
                  </a:solidFill>
                  <a:latin typeface="Whitney Book" pitchFamily="50" charset="0"/>
                  <a:cs typeface="Whitney Book" pitchFamily="50" charset="0"/>
                </a:endParaRPr>
              </a:p>
            </p:txBody>
          </p:sp>
          <p:sp>
            <p:nvSpPr>
              <p:cNvPr id="7" name="Rectangle 7">
                <a:extLst>
                  <a:ext uri="{FF2B5EF4-FFF2-40B4-BE49-F238E27FC236}">
                    <a16:creationId xmlns:a16="http://schemas.microsoft.com/office/drawing/2014/main" id="{98C227A1-7D55-4958-B45F-4F2111F34CC7}"/>
                  </a:ext>
                </a:extLst>
              </p:cNvPr>
              <p:cNvSpPr>
                <a:spLocks noChangeArrowheads="1"/>
              </p:cNvSpPr>
              <p:nvPr/>
            </p:nvSpPr>
            <p:spPr bwMode="auto">
              <a:xfrm>
                <a:off x="8539199" y="6224080"/>
                <a:ext cx="708885" cy="829063"/>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i="1" dirty="0">
                    <a:solidFill>
                      <a:schemeClr val="tx2">
                        <a:lumMod val="75000"/>
                      </a:schemeClr>
                    </a:solidFill>
                    <a:latin typeface="Whitney Book" pitchFamily="50" charset="0"/>
                    <a:cs typeface="Whitney Book" pitchFamily="50" charset="0"/>
                  </a:rPr>
                  <a:t>Quantity (Q)</a:t>
                </a:r>
                <a:r>
                  <a:rPr lang="en-US" sz="1688" dirty="0">
                    <a:solidFill>
                      <a:schemeClr val="tx2">
                        <a:lumMod val="75000"/>
                      </a:schemeClr>
                    </a:solidFill>
                    <a:latin typeface="Whitney Book" pitchFamily="50" charset="0"/>
                    <a:cs typeface="Whitney Book" pitchFamily="50" charset="0"/>
                  </a:rPr>
                  <a:t> </a:t>
                </a:r>
              </a:p>
            </p:txBody>
          </p:sp>
        </p:grpSp>
      </p:grpSp>
      <p:sp>
        <p:nvSpPr>
          <p:cNvPr id="10" name="Line 31">
            <a:extLst>
              <a:ext uri="{FF2B5EF4-FFF2-40B4-BE49-F238E27FC236}">
                <a16:creationId xmlns:a16="http://schemas.microsoft.com/office/drawing/2014/main" id="{F1DC59A3-13F1-4B03-8C27-F61646ADB96E}"/>
              </a:ext>
            </a:extLst>
          </p:cNvPr>
          <p:cNvSpPr>
            <a:spLocks noChangeShapeType="1"/>
          </p:cNvSpPr>
          <p:nvPr/>
        </p:nvSpPr>
        <p:spPr bwMode="auto">
          <a:xfrm flipV="1">
            <a:off x="1797131" y="1627473"/>
            <a:ext cx="3499123" cy="3800399"/>
          </a:xfrm>
          <a:prstGeom prst="line">
            <a:avLst/>
          </a:prstGeom>
          <a:noFill/>
          <a:ln w="38100">
            <a:solidFill>
              <a:srgbClr val="C00000"/>
            </a:solidFill>
            <a:round/>
            <a:headEnd type="none" w="sm" len="sm"/>
            <a:tailEnd type="none" w="sm" len="sm"/>
          </a:ln>
          <a:effectLst/>
        </p:spPr>
        <p:txBody>
          <a:bodyPr wrap="none" lIns="90217" tIns="45109" rIns="90217" bIns="45109" anchor="ctr"/>
          <a:lstStyle/>
          <a:p>
            <a:endParaRPr lang="en-US" sz="1688">
              <a:solidFill>
                <a:srgbClr val="C00000"/>
              </a:solidFill>
              <a:latin typeface="Whitney Book" pitchFamily="50" charset="0"/>
              <a:cs typeface="Whitney Book" pitchFamily="50" charset="0"/>
            </a:endParaRPr>
          </a:p>
        </p:txBody>
      </p:sp>
      <p:sp>
        <p:nvSpPr>
          <p:cNvPr id="11" name="TextBox 10">
            <a:extLst>
              <a:ext uri="{FF2B5EF4-FFF2-40B4-BE49-F238E27FC236}">
                <a16:creationId xmlns:a16="http://schemas.microsoft.com/office/drawing/2014/main" id="{4C5CC9AE-C59A-4A14-90AE-DD0E4A9E0B5B}"/>
              </a:ext>
            </a:extLst>
          </p:cNvPr>
          <p:cNvSpPr txBox="1"/>
          <p:nvPr/>
        </p:nvSpPr>
        <p:spPr>
          <a:xfrm>
            <a:off x="5196375" y="1275208"/>
            <a:ext cx="914400" cy="400110"/>
          </a:xfrm>
          <a:prstGeom prst="rect">
            <a:avLst/>
          </a:prstGeom>
          <a:noFill/>
          <a:ln>
            <a:noFill/>
          </a:ln>
        </p:spPr>
        <p:txBody>
          <a:bodyPr wrap="square" rtlCol="0">
            <a:spAutoFit/>
          </a:bodyPr>
          <a:lstStyle/>
          <a:p>
            <a:r>
              <a:rPr lang="fr-FR" sz="2000" b="1" i="1" dirty="0">
                <a:solidFill>
                  <a:srgbClr val="C00000"/>
                </a:solidFill>
                <a:latin typeface="Whitney Book" pitchFamily="50" charset="0"/>
                <a:cs typeface="Whitney Book" pitchFamily="50" charset="0"/>
              </a:rPr>
              <a:t>TR</a:t>
            </a:r>
            <a:endParaRPr lang="en-US" sz="2000" b="1" i="1" dirty="0">
              <a:solidFill>
                <a:srgbClr val="C00000"/>
              </a:solidFill>
              <a:latin typeface="Whitney Book" pitchFamily="50" charset="0"/>
              <a:cs typeface="Whitney Book" pitchFamily="50" charset="0"/>
            </a:endParaRPr>
          </a:p>
        </p:txBody>
      </p:sp>
      <p:sp>
        <p:nvSpPr>
          <p:cNvPr id="17" name="TextBox 16">
            <a:extLst>
              <a:ext uri="{FF2B5EF4-FFF2-40B4-BE49-F238E27FC236}">
                <a16:creationId xmlns:a16="http://schemas.microsoft.com/office/drawing/2014/main" id="{90979C57-56FE-4F9C-8497-9D6932372E09}"/>
              </a:ext>
            </a:extLst>
          </p:cNvPr>
          <p:cNvSpPr txBox="1"/>
          <p:nvPr/>
        </p:nvSpPr>
        <p:spPr>
          <a:xfrm>
            <a:off x="5441394" y="1742153"/>
            <a:ext cx="914400" cy="400110"/>
          </a:xfrm>
          <a:prstGeom prst="rect">
            <a:avLst/>
          </a:prstGeom>
          <a:noFill/>
          <a:ln>
            <a:noFill/>
          </a:ln>
        </p:spPr>
        <p:txBody>
          <a:bodyPr wrap="square" rtlCol="0">
            <a:spAutoFit/>
          </a:bodyPr>
          <a:lstStyle/>
          <a:p>
            <a:r>
              <a:rPr lang="fr-FR" sz="2000" b="1" i="1" dirty="0">
                <a:solidFill>
                  <a:srgbClr val="0070C0"/>
                </a:solidFill>
                <a:latin typeface="Whitney Book" pitchFamily="50" charset="0"/>
                <a:cs typeface="Whitney Book" pitchFamily="50" charset="0"/>
              </a:rPr>
              <a:t>TC</a:t>
            </a:r>
            <a:endParaRPr lang="en-US" sz="2000" b="1" i="1" dirty="0">
              <a:solidFill>
                <a:srgbClr val="0070C0"/>
              </a:solidFill>
              <a:latin typeface="Whitney Book" pitchFamily="50" charset="0"/>
              <a:cs typeface="Whitney Book" pitchFamily="50" charset="0"/>
            </a:endParaRPr>
          </a:p>
        </p:txBody>
      </p:sp>
      <p:cxnSp>
        <p:nvCxnSpPr>
          <p:cNvPr id="19" name="Straight Connector 18">
            <a:extLst>
              <a:ext uri="{FF2B5EF4-FFF2-40B4-BE49-F238E27FC236}">
                <a16:creationId xmlns:a16="http://schemas.microsoft.com/office/drawing/2014/main" id="{9AABA72C-121A-4F0D-9093-A25EB5D0F1DD}"/>
              </a:ext>
            </a:extLst>
          </p:cNvPr>
          <p:cNvCxnSpPr>
            <a:cxnSpLocks/>
          </p:cNvCxnSpPr>
          <p:nvPr/>
        </p:nvCxnSpPr>
        <p:spPr>
          <a:xfrm flipV="1">
            <a:off x="4363874" y="1790527"/>
            <a:ext cx="787972" cy="867832"/>
          </a:xfrm>
          <a:prstGeom prst="line">
            <a:avLst/>
          </a:prstGeom>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F1B0FE07-C665-467B-8309-7BA2476A17A4}"/>
              </a:ext>
            </a:extLst>
          </p:cNvPr>
          <p:cNvCxnSpPr>
            <a:cxnSpLocks/>
          </p:cNvCxnSpPr>
          <p:nvPr/>
        </p:nvCxnSpPr>
        <p:spPr>
          <a:xfrm flipV="1">
            <a:off x="4432947" y="2247862"/>
            <a:ext cx="918000" cy="1002711"/>
          </a:xfrm>
          <a:prstGeom prst="line">
            <a:avLst/>
          </a:prstGeom>
        </p:spPr>
        <p:style>
          <a:lnRef idx="2">
            <a:schemeClr val="dk1"/>
          </a:lnRef>
          <a:fillRef idx="0">
            <a:schemeClr val="dk1"/>
          </a:fillRef>
          <a:effectRef idx="1">
            <a:schemeClr val="dk1"/>
          </a:effectRef>
          <a:fontRef idx="minor">
            <a:schemeClr val="tx1"/>
          </a:fontRef>
        </p:style>
      </p:cxnSp>
      <p:sp>
        <p:nvSpPr>
          <p:cNvPr id="25" name="Flowchart: Connector 24">
            <a:extLst>
              <a:ext uri="{FF2B5EF4-FFF2-40B4-BE49-F238E27FC236}">
                <a16:creationId xmlns:a16="http://schemas.microsoft.com/office/drawing/2014/main" id="{FEE22D4E-9F7A-47CE-90AA-1FD33F729052}"/>
              </a:ext>
            </a:extLst>
          </p:cNvPr>
          <p:cNvSpPr/>
          <p:nvPr/>
        </p:nvSpPr>
        <p:spPr>
          <a:xfrm>
            <a:off x="4781471" y="2028419"/>
            <a:ext cx="158759" cy="134224"/>
          </a:xfrm>
          <a:prstGeom prst="flowChartConnector">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7A7B111C-64CE-4AC9-99AE-B9F96F5CC01B}"/>
              </a:ext>
            </a:extLst>
          </p:cNvPr>
          <p:cNvSpPr/>
          <p:nvPr/>
        </p:nvSpPr>
        <p:spPr>
          <a:xfrm>
            <a:off x="1802533" y="5043095"/>
            <a:ext cx="3963582" cy="1174700"/>
          </a:xfrm>
          <a:custGeom>
            <a:avLst/>
            <a:gdLst>
              <a:gd name="connsiteX0" fmla="*/ 0 w 4515439"/>
              <a:gd name="connsiteY0" fmla="*/ 1151451 h 1151451"/>
              <a:gd name="connsiteX1" fmla="*/ 2611225 w 4515439"/>
              <a:gd name="connsiteY1" fmla="*/ 39088 h 1151451"/>
              <a:gd name="connsiteX2" fmla="*/ 4515439 w 4515439"/>
              <a:gd name="connsiteY2" fmla="*/ 359599 h 1151451"/>
              <a:gd name="connsiteX0" fmla="*/ 0 w 4515439"/>
              <a:gd name="connsiteY0" fmla="*/ 1151451 h 1151451"/>
              <a:gd name="connsiteX1" fmla="*/ 2743200 w 4515439"/>
              <a:gd name="connsiteY1" fmla="*/ 39088 h 1151451"/>
              <a:gd name="connsiteX2" fmla="*/ 4515439 w 4515439"/>
              <a:gd name="connsiteY2" fmla="*/ 359599 h 1151451"/>
              <a:gd name="connsiteX0" fmla="*/ 0 w 4515439"/>
              <a:gd name="connsiteY0" fmla="*/ 1116380 h 1116380"/>
              <a:gd name="connsiteX1" fmla="*/ 2743200 w 4515439"/>
              <a:gd name="connsiteY1" fmla="*/ 4017 h 1116380"/>
              <a:gd name="connsiteX2" fmla="*/ 4515439 w 4515439"/>
              <a:gd name="connsiteY2" fmla="*/ 324528 h 1116380"/>
              <a:gd name="connsiteX0" fmla="*/ 0 w 4515439"/>
              <a:gd name="connsiteY0" fmla="*/ 1147807 h 1147807"/>
              <a:gd name="connsiteX1" fmla="*/ 2743200 w 4515439"/>
              <a:gd name="connsiteY1" fmla="*/ 35444 h 1147807"/>
              <a:gd name="connsiteX2" fmla="*/ 4515439 w 4515439"/>
              <a:gd name="connsiteY2" fmla="*/ 355955 h 1147807"/>
              <a:gd name="connsiteX0" fmla="*/ 0 w 4515439"/>
              <a:gd name="connsiteY0" fmla="*/ 1133819 h 1133819"/>
              <a:gd name="connsiteX1" fmla="*/ 2743200 w 4515439"/>
              <a:gd name="connsiteY1" fmla="*/ 21456 h 1133819"/>
              <a:gd name="connsiteX2" fmla="*/ 4515439 w 4515439"/>
              <a:gd name="connsiteY2" fmla="*/ 341967 h 1133819"/>
              <a:gd name="connsiteX0" fmla="*/ 0 w 4647414"/>
              <a:gd name="connsiteY0" fmla="*/ 1148301 h 1148301"/>
              <a:gd name="connsiteX1" fmla="*/ 2743200 w 4647414"/>
              <a:gd name="connsiteY1" fmla="*/ 35938 h 1148301"/>
              <a:gd name="connsiteX2" fmla="*/ 4647414 w 4647414"/>
              <a:gd name="connsiteY2" fmla="*/ 375302 h 1148301"/>
              <a:gd name="connsiteX0" fmla="*/ 0 w 3940404"/>
              <a:gd name="connsiteY0" fmla="*/ 1226538 h 1226538"/>
              <a:gd name="connsiteX1" fmla="*/ 2743200 w 3940404"/>
              <a:gd name="connsiteY1" fmla="*/ 114175 h 1226538"/>
              <a:gd name="connsiteX2" fmla="*/ 3940404 w 3940404"/>
              <a:gd name="connsiteY2" fmla="*/ 189588 h 1226538"/>
              <a:gd name="connsiteX0" fmla="*/ 0 w 3940404"/>
              <a:gd name="connsiteY0" fmla="*/ 1190588 h 1190588"/>
              <a:gd name="connsiteX1" fmla="*/ 2743200 w 3940404"/>
              <a:gd name="connsiteY1" fmla="*/ 78225 h 1190588"/>
              <a:gd name="connsiteX2" fmla="*/ 3940404 w 3940404"/>
              <a:gd name="connsiteY2" fmla="*/ 153638 h 1190588"/>
              <a:gd name="connsiteX0" fmla="*/ 0 w 3940404"/>
              <a:gd name="connsiteY0" fmla="*/ 1133612 h 1133612"/>
              <a:gd name="connsiteX1" fmla="*/ 2384982 w 3940404"/>
              <a:gd name="connsiteY1" fmla="*/ 106090 h 1133612"/>
              <a:gd name="connsiteX2" fmla="*/ 3940404 w 3940404"/>
              <a:gd name="connsiteY2" fmla="*/ 96662 h 1133612"/>
              <a:gd name="connsiteX0" fmla="*/ 0 w 3846136"/>
              <a:gd name="connsiteY0" fmla="*/ 1078855 h 1078855"/>
              <a:gd name="connsiteX1" fmla="*/ 2384982 w 3846136"/>
              <a:gd name="connsiteY1" fmla="*/ 51333 h 1078855"/>
              <a:gd name="connsiteX2" fmla="*/ 3846136 w 3846136"/>
              <a:gd name="connsiteY2" fmla="*/ 202161 h 1078855"/>
              <a:gd name="connsiteX0" fmla="*/ 0 w 3846136"/>
              <a:gd name="connsiteY0" fmla="*/ 1097354 h 1097354"/>
              <a:gd name="connsiteX1" fmla="*/ 2384982 w 3846136"/>
              <a:gd name="connsiteY1" fmla="*/ 69832 h 1097354"/>
              <a:gd name="connsiteX2" fmla="*/ 3846136 w 3846136"/>
              <a:gd name="connsiteY2" fmla="*/ 220660 h 1097354"/>
              <a:gd name="connsiteX0" fmla="*/ 0 w 3846136"/>
              <a:gd name="connsiteY0" fmla="*/ 1111642 h 1111642"/>
              <a:gd name="connsiteX1" fmla="*/ 2460397 w 3846136"/>
              <a:gd name="connsiteY1" fmla="*/ 65266 h 1111642"/>
              <a:gd name="connsiteX2" fmla="*/ 3846136 w 3846136"/>
              <a:gd name="connsiteY2" fmla="*/ 234948 h 1111642"/>
              <a:gd name="connsiteX0" fmla="*/ 0 w 3963582"/>
              <a:gd name="connsiteY0" fmla="*/ 1174700 h 1174700"/>
              <a:gd name="connsiteX1" fmla="*/ 2577843 w 3963582"/>
              <a:gd name="connsiteY1" fmla="*/ 69601 h 1174700"/>
              <a:gd name="connsiteX2" fmla="*/ 3963582 w 3963582"/>
              <a:gd name="connsiteY2" fmla="*/ 239283 h 1174700"/>
            </a:gdLst>
            <a:ahLst/>
            <a:cxnLst>
              <a:cxn ang="0">
                <a:pos x="connsiteX0" y="connsiteY0"/>
              </a:cxn>
              <a:cxn ang="0">
                <a:pos x="connsiteX1" y="connsiteY1"/>
              </a:cxn>
              <a:cxn ang="0">
                <a:pos x="connsiteX2" y="connsiteY2"/>
              </a:cxn>
            </a:cxnLst>
            <a:rect l="l" t="t" r="r" b="b"/>
            <a:pathLst>
              <a:path w="3963582" h="1174700">
                <a:moveTo>
                  <a:pt x="0" y="1174700"/>
                </a:moveTo>
                <a:cubicBezTo>
                  <a:pt x="929326" y="684506"/>
                  <a:pt x="1917246" y="225504"/>
                  <a:pt x="2577843" y="69601"/>
                </a:cubicBezTo>
                <a:cubicBezTo>
                  <a:pt x="3238440" y="-86302"/>
                  <a:pt x="3453749" y="41321"/>
                  <a:pt x="3963582" y="239283"/>
                </a:cubicBezTo>
              </a:path>
            </a:pathLst>
          </a:custGeom>
        </p:spPr>
        <p:style>
          <a:lnRef idx="2">
            <a:schemeClr val="accent3"/>
          </a:lnRef>
          <a:fillRef idx="0">
            <a:schemeClr val="accent3"/>
          </a:fillRef>
          <a:effectRef idx="1">
            <a:schemeClr val="accent3"/>
          </a:effectRef>
          <a:fontRef idx="minor">
            <a:schemeClr val="tx1"/>
          </a:fontRef>
        </p:style>
        <p:txBody>
          <a:bodyPr rtlCol="0" anchor="ctr"/>
          <a:lstStyle/>
          <a:p>
            <a:pPr algn="ctr"/>
            <a:endParaRPr lang="en-US" dirty="0"/>
          </a:p>
        </p:txBody>
      </p:sp>
      <p:sp>
        <p:nvSpPr>
          <p:cNvPr id="33" name="Flowchart: Connector 32">
            <a:extLst>
              <a:ext uri="{FF2B5EF4-FFF2-40B4-BE49-F238E27FC236}">
                <a16:creationId xmlns:a16="http://schemas.microsoft.com/office/drawing/2014/main" id="{9705AAA9-2B5D-46AA-9002-72E5349CC1B9}"/>
              </a:ext>
            </a:extLst>
          </p:cNvPr>
          <p:cNvSpPr/>
          <p:nvPr/>
        </p:nvSpPr>
        <p:spPr>
          <a:xfrm>
            <a:off x="4773968" y="4977482"/>
            <a:ext cx="158759" cy="134224"/>
          </a:xfrm>
          <a:prstGeom prst="flowChartConnector">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55602A92-3088-4F34-AE08-7C97A51AF38A}"/>
              </a:ext>
            </a:extLst>
          </p:cNvPr>
          <p:cNvSpPr txBox="1"/>
          <p:nvPr/>
        </p:nvSpPr>
        <p:spPr>
          <a:xfrm>
            <a:off x="5857714" y="4777880"/>
            <a:ext cx="2035188" cy="400110"/>
          </a:xfrm>
          <a:prstGeom prst="rect">
            <a:avLst/>
          </a:prstGeom>
          <a:noFill/>
          <a:ln>
            <a:noFill/>
          </a:ln>
        </p:spPr>
        <p:txBody>
          <a:bodyPr wrap="square" rtlCol="0">
            <a:spAutoFit/>
          </a:bodyPr>
          <a:lstStyle/>
          <a:p>
            <a:r>
              <a:rPr lang="fr-FR" sz="2000" b="1" dirty="0">
                <a:solidFill>
                  <a:schemeClr val="accent3">
                    <a:lumMod val="75000"/>
                  </a:schemeClr>
                </a:solidFill>
                <a:latin typeface="Whitney Book" pitchFamily="50" charset="0"/>
                <a:cs typeface="Whitney Book" pitchFamily="50" charset="0"/>
              </a:rPr>
              <a:t>Profit = </a:t>
            </a:r>
            <a:r>
              <a:rPr lang="fr-FR" sz="2000" b="1" i="1" dirty="0">
                <a:solidFill>
                  <a:schemeClr val="accent3">
                    <a:lumMod val="75000"/>
                  </a:schemeClr>
                </a:solidFill>
                <a:latin typeface="Whitney Book" pitchFamily="50" charset="0"/>
                <a:cs typeface="Whitney Book" pitchFamily="50" charset="0"/>
              </a:rPr>
              <a:t>TR-TC</a:t>
            </a:r>
            <a:endParaRPr lang="en-US" sz="2000" b="1" i="1" dirty="0">
              <a:solidFill>
                <a:schemeClr val="accent3">
                  <a:lumMod val="75000"/>
                </a:schemeClr>
              </a:solidFill>
              <a:latin typeface="Whitney Book" pitchFamily="50" charset="0"/>
              <a:cs typeface="Whitney Book" pitchFamily="50" charset="0"/>
            </a:endParaRPr>
          </a:p>
        </p:txBody>
      </p:sp>
      <p:sp>
        <p:nvSpPr>
          <p:cNvPr id="35" name="TextBox 34">
            <a:extLst>
              <a:ext uri="{FF2B5EF4-FFF2-40B4-BE49-F238E27FC236}">
                <a16:creationId xmlns:a16="http://schemas.microsoft.com/office/drawing/2014/main" id="{4F7EBC5E-9386-46BE-B25A-AF9B64C59AEC}"/>
              </a:ext>
            </a:extLst>
          </p:cNvPr>
          <p:cNvSpPr txBox="1"/>
          <p:nvPr/>
        </p:nvSpPr>
        <p:spPr>
          <a:xfrm>
            <a:off x="5448563" y="2765565"/>
            <a:ext cx="3148681" cy="707886"/>
          </a:xfrm>
          <a:prstGeom prst="rect">
            <a:avLst/>
          </a:prstGeom>
          <a:noFill/>
          <a:ln>
            <a:noFill/>
          </a:ln>
        </p:spPr>
        <p:txBody>
          <a:bodyPr wrap="square" rtlCol="0">
            <a:spAutoFit/>
          </a:bodyPr>
          <a:lstStyle/>
          <a:p>
            <a:pPr algn="ctr"/>
            <a:r>
              <a:rPr lang="fr-FR" sz="2000" b="1" dirty="0" err="1">
                <a:solidFill>
                  <a:srgbClr val="0070C0"/>
                </a:solidFill>
                <a:latin typeface="Whitney Book" pitchFamily="50" charset="0"/>
                <a:cs typeface="Whitney Book" pitchFamily="50" charset="0"/>
              </a:rPr>
              <a:t>Slope</a:t>
            </a:r>
            <a:r>
              <a:rPr lang="fr-FR" sz="2000" b="1" dirty="0">
                <a:solidFill>
                  <a:srgbClr val="0070C0"/>
                </a:solidFill>
                <a:latin typeface="Whitney Book" pitchFamily="50" charset="0"/>
                <a:cs typeface="Whitney Book" pitchFamily="50" charset="0"/>
              </a:rPr>
              <a:t> of </a:t>
            </a:r>
            <a:r>
              <a:rPr lang="fr-FR" sz="2000" b="1" i="1" dirty="0">
                <a:solidFill>
                  <a:srgbClr val="0070C0"/>
                </a:solidFill>
                <a:latin typeface="Whitney Book" pitchFamily="50" charset="0"/>
                <a:cs typeface="Whitney Book" pitchFamily="50" charset="0"/>
              </a:rPr>
              <a:t>TR</a:t>
            </a:r>
            <a:r>
              <a:rPr lang="fr-FR" sz="2000" b="1" dirty="0">
                <a:solidFill>
                  <a:srgbClr val="0070C0"/>
                </a:solidFill>
                <a:latin typeface="Whitney Book" pitchFamily="50" charset="0"/>
                <a:cs typeface="Whitney Book" pitchFamily="50" charset="0"/>
              </a:rPr>
              <a:t> = </a:t>
            </a:r>
            <a:r>
              <a:rPr lang="fr-FR" sz="2000" b="1" dirty="0" err="1">
                <a:solidFill>
                  <a:srgbClr val="0070C0"/>
                </a:solidFill>
                <a:latin typeface="Whitney Book" pitchFamily="50" charset="0"/>
                <a:cs typeface="Whitney Book" pitchFamily="50" charset="0"/>
              </a:rPr>
              <a:t>slope</a:t>
            </a:r>
            <a:r>
              <a:rPr lang="fr-FR" sz="2000" b="1" dirty="0">
                <a:solidFill>
                  <a:srgbClr val="0070C0"/>
                </a:solidFill>
                <a:latin typeface="Whitney Book" pitchFamily="50" charset="0"/>
                <a:cs typeface="Whitney Book" pitchFamily="50" charset="0"/>
              </a:rPr>
              <a:t> of </a:t>
            </a:r>
            <a:r>
              <a:rPr lang="fr-FR" sz="2000" b="1" i="1" dirty="0">
                <a:solidFill>
                  <a:srgbClr val="0070C0"/>
                </a:solidFill>
                <a:latin typeface="Whitney Book" pitchFamily="50" charset="0"/>
                <a:cs typeface="Whitney Book" pitchFamily="50" charset="0"/>
              </a:rPr>
              <a:t>TC</a:t>
            </a:r>
          </a:p>
          <a:p>
            <a:pPr algn="ctr"/>
            <a:r>
              <a:rPr lang="en-US" sz="2000" b="1" i="1" dirty="0">
                <a:solidFill>
                  <a:srgbClr val="0070C0"/>
                </a:solidFill>
                <a:latin typeface="Whitney Book" pitchFamily="50" charset="0"/>
                <a:cs typeface="Whitney Book" pitchFamily="50" charset="0"/>
              </a:rPr>
              <a:t>MR = MC</a:t>
            </a:r>
          </a:p>
        </p:txBody>
      </p:sp>
      <p:sp>
        <p:nvSpPr>
          <p:cNvPr id="36" name="TextBox 35">
            <a:extLst>
              <a:ext uri="{FF2B5EF4-FFF2-40B4-BE49-F238E27FC236}">
                <a16:creationId xmlns:a16="http://schemas.microsoft.com/office/drawing/2014/main" id="{72CECD89-7AF8-412F-BC21-1DC126C8A1DA}"/>
              </a:ext>
            </a:extLst>
          </p:cNvPr>
          <p:cNvSpPr txBox="1"/>
          <p:nvPr/>
        </p:nvSpPr>
        <p:spPr>
          <a:xfrm>
            <a:off x="2367904" y="2400573"/>
            <a:ext cx="1854730" cy="523220"/>
          </a:xfrm>
          <a:prstGeom prst="rect">
            <a:avLst/>
          </a:prstGeom>
          <a:noFill/>
          <a:ln>
            <a:noFill/>
          </a:ln>
        </p:spPr>
        <p:txBody>
          <a:bodyPr wrap="square" rtlCol="0">
            <a:spAutoFit/>
          </a:bodyPr>
          <a:lstStyle/>
          <a:p>
            <a:r>
              <a:rPr lang="fr-FR" sz="1400" b="1" i="1" dirty="0">
                <a:solidFill>
                  <a:srgbClr val="C00000"/>
                </a:solidFill>
                <a:latin typeface="Whitney Book" pitchFamily="50" charset="0"/>
                <a:cs typeface="Whitney Book" pitchFamily="50" charset="0"/>
              </a:rPr>
              <a:t>(TR has constant </a:t>
            </a:r>
            <a:r>
              <a:rPr lang="fr-FR" sz="1400" b="1" i="1" dirty="0" err="1">
                <a:solidFill>
                  <a:srgbClr val="C00000"/>
                </a:solidFill>
                <a:latin typeface="Whitney Book" pitchFamily="50" charset="0"/>
                <a:cs typeface="Whitney Book" pitchFamily="50" charset="0"/>
              </a:rPr>
              <a:t>slope</a:t>
            </a:r>
            <a:r>
              <a:rPr lang="fr-FR" sz="1400" b="1" i="1" dirty="0">
                <a:solidFill>
                  <a:srgbClr val="C00000"/>
                </a:solidFill>
                <a:latin typeface="Whitney Book" pitchFamily="50" charset="0"/>
                <a:cs typeface="Whitney Book" pitchFamily="50" charset="0"/>
              </a:rPr>
              <a:t> for a </a:t>
            </a:r>
            <a:r>
              <a:rPr lang="fr-FR" sz="1400" b="1" i="1" dirty="0" err="1">
                <a:solidFill>
                  <a:srgbClr val="C00000"/>
                </a:solidFill>
                <a:latin typeface="Whitney Book" pitchFamily="50" charset="0"/>
                <a:cs typeface="Whitney Book" pitchFamily="50" charset="0"/>
              </a:rPr>
              <a:t>price</a:t>
            </a:r>
            <a:r>
              <a:rPr lang="fr-FR" sz="1400" b="1" i="1" dirty="0">
                <a:solidFill>
                  <a:srgbClr val="C00000"/>
                </a:solidFill>
                <a:latin typeface="Whitney Book" pitchFamily="50" charset="0"/>
                <a:cs typeface="Whitney Book" pitchFamily="50" charset="0"/>
              </a:rPr>
              <a:t> </a:t>
            </a:r>
            <a:r>
              <a:rPr lang="fr-FR" sz="1400" b="1" i="1" dirty="0" err="1">
                <a:solidFill>
                  <a:srgbClr val="C00000"/>
                </a:solidFill>
                <a:latin typeface="Whitney Book" pitchFamily="50" charset="0"/>
                <a:cs typeface="Whitney Book" pitchFamily="50" charset="0"/>
              </a:rPr>
              <a:t>taker</a:t>
            </a:r>
            <a:r>
              <a:rPr lang="fr-FR" sz="1400" b="1" i="1" dirty="0">
                <a:solidFill>
                  <a:srgbClr val="C00000"/>
                </a:solidFill>
                <a:latin typeface="Whitney Book" pitchFamily="50" charset="0"/>
                <a:cs typeface="Whitney Book" pitchFamily="50" charset="0"/>
              </a:rPr>
              <a:t>)</a:t>
            </a:r>
            <a:endParaRPr lang="en-US" sz="1400" b="1" i="1" dirty="0">
              <a:solidFill>
                <a:srgbClr val="C00000"/>
              </a:solidFill>
              <a:latin typeface="Whitney Book" pitchFamily="50" charset="0"/>
              <a:cs typeface="Whitney Book" pitchFamily="50" charset="0"/>
            </a:endParaRPr>
          </a:p>
        </p:txBody>
      </p:sp>
      <p:sp>
        <p:nvSpPr>
          <p:cNvPr id="37" name="TextBox 36">
            <a:extLst>
              <a:ext uri="{FF2B5EF4-FFF2-40B4-BE49-F238E27FC236}">
                <a16:creationId xmlns:a16="http://schemas.microsoft.com/office/drawing/2014/main" id="{FDCDF1D0-7546-42B0-B29A-6F9069D13A54}"/>
              </a:ext>
            </a:extLst>
          </p:cNvPr>
          <p:cNvSpPr txBox="1"/>
          <p:nvPr/>
        </p:nvSpPr>
        <p:spPr>
          <a:xfrm>
            <a:off x="4825091" y="3866435"/>
            <a:ext cx="2945166" cy="400110"/>
          </a:xfrm>
          <a:prstGeom prst="rect">
            <a:avLst/>
          </a:prstGeom>
          <a:noFill/>
          <a:ln>
            <a:noFill/>
          </a:ln>
        </p:spPr>
        <p:txBody>
          <a:bodyPr wrap="square" rtlCol="0">
            <a:spAutoFit/>
          </a:bodyPr>
          <a:lstStyle/>
          <a:p>
            <a:r>
              <a:rPr lang="fr-FR" sz="2000" b="1" dirty="0">
                <a:latin typeface="Whitney Book" pitchFamily="50" charset="0"/>
                <a:cs typeface="Whitney Book" pitchFamily="50" charset="0"/>
              </a:rPr>
              <a:t>Maximum profit</a:t>
            </a:r>
            <a:endParaRPr lang="en-US" sz="2000" b="1" dirty="0">
              <a:latin typeface="Whitney Book" pitchFamily="50" charset="0"/>
              <a:cs typeface="Whitney Book" pitchFamily="50" charset="0"/>
            </a:endParaRPr>
          </a:p>
        </p:txBody>
      </p:sp>
      <p:sp>
        <p:nvSpPr>
          <p:cNvPr id="38" name="TextBox 37">
            <a:extLst>
              <a:ext uri="{FF2B5EF4-FFF2-40B4-BE49-F238E27FC236}">
                <a16:creationId xmlns:a16="http://schemas.microsoft.com/office/drawing/2014/main" id="{C33CE26E-DD0B-4519-ABAF-D05A0F880D5A}"/>
              </a:ext>
            </a:extLst>
          </p:cNvPr>
          <p:cNvSpPr txBox="1"/>
          <p:nvPr/>
        </p:nvSpPr>
        <p:spPr>
          <a:xfrm>
            <a:off x="4638192" y="5512484"/>
            <a:ext cx="2945166" cy="400110"/>
          </a:xfrm>
          <a:prstGeom prst="rect">
            <a:avLst/>
          </a:prstGeom>
          <a:noFill/>
          <a:ln>
            <a:noFill/>
          </a:ln>
        </p:spPr>
        <p:txBody>
          <a:bodyPr wrap="square" rtlCol="0">
            <a:spAutoFit/>
          </a:bodyPr>
          <a:lstStyle/>
          <a:p>
            <a:r>
              <a:rPr lang="fr-FR" sz="2000" b="1" i="1" dirty="0">
                <a:latin typeface="Whitney Book" pitchFamily="50" charset="0"/>
                <a:cs typeface="Whitney Book" pitchFamily="50" charset="0"/>
              </a:rPr>
              <a:t>Q</a:t>
            </a:r>
            <a:r>
              <a:rPr lang="fr-FR" sz="2000" b="1" dirty="0">
                <a:latin typeface="Whitney Book" pitchFamily="50" charset="0"/>
                <a:cs typeface="Whitney Book" pitchFamily="50" charset="0"/>
              </a:rPr>
              <a:t>*</a:t>
            </a:r>
            <a:endParaRPr lang="en-US" sz="2000" b="1" dirty="0">
              <a:latin typeface="Whitney Book" pitchFamily="50" charset="0"/>
              <a:cs typeface="Whitney Book" pitchFamily="50" charset="0"/>
            </a:endParaRPr>
          </a:p>
        </p:txBody>
      </p:sp>
      <p:cxnSp>
        <p:nvCxnSpPr>
          <p:cNvPr id="40" name="Straight Arrow Connector 39">
            <a:extLst>
              <a:ext uri="{FF2B5EF4-FFF2-40B4-BE49-F238E27FC236}">
                <a16:creationId xmlns:a16="http://schemas.microsoft.com/office/drawing/2014/main" id="{AC316331-C274-4705-AD97-FCC5CA3A08BE}"/>
              </a:ext>
            </a:extLst>
          </p:cNvPr>
          <p:cNvCxnSpPr/>
          <p:nvPr/>
        </p:nvCxnSpPr>
        <p:spPr>
          <a:xfrm flipH="1">
            <a:off x="4948218" y="4298622"/>
            <a:ext cx="281194" cy="60331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9" name="TextBox 28">
            <a:extLst>
              <a:ext uri="{FF2B5EF4-FFF2-40B4-BE49-F238E27FC236}">
                <a16:creationId xmlns:a16="http://schemas.microsoft.com/office/drawing/2014/main" id="{351D1E61-B428-4F33-A64A-45EDC0EF3D83}"/>
              </a:ext>
            </a:extLst>
          </p:cNvPr>
          <p:cNvSpPr txBox="1"/>
          <p:nvPr/>
        </p:nvSpPr>
        <p:spPr>
          <a:xfrm>
            <a:off x="1197945" y="3703325"/>
            <a:ext cx="654794" cy="400110"/>
          </a:xfrm>
          <a:prstGeom prst="rect">
            <a:avLst/>
          </a:prstGeom>
          <a:noFill/>
          <a:ln>
            <a:noFill/>
          </a:ln>
        </p:spPr>
        <p:txBody>
          <a:bodyPr wrap="square" rtlCol="0">
            <a:spAutoFit/>
          </a:bodyPr>
          <a:lstStyle/>
          <a:p>
            <a:r>
              <a:rPr lang="fr-FR" sz="2000" b="1" i="1" dirty="0">
                <a:solidFill>
                  <a:schemeClr val="tx2">
                    <a:lumMod val="60000"/>
                    <a:lumOff val="40000"/>
                  </a:schemeClr>
                </a:solidFill>
                <a:latin typeface="Whitney Book" pitchFamily="50" charset="0"/>
                <a:cs typeface="Whitney Book" pitchFamily="50" charset="0"/>
              </a:rPr>
              <a:t>TFC</a:t>
            </a:r>
            <a:endParaRPr lang="en-US" sz="2000" b="1" i="1" dirty="0">
              <a:solidFill>
                <a:schemeClr val="tx2">
                  <a:lumMod val="60000"/>
                  <a:lumOff val="40000"/>
                </a:schemeClr>
              </a:solidFill>
              <a:latin typeface="Whitney Book" pitchFamily="50" charset="0"/>
              <a:cs typeface="Whitney Book" pitchFamily="50" charset="0"/>
            </a:endParaRPr>
          </a:p>
        </p:txBody>
      </p:sp>
      <p:sp>
        <p:nvSpPr>
          <p:cNvPr id="12" name="Freeform: Shape 11">
            <a:extLst>
              <a:ext uri="{FF2B5EF4-FFF2-40B4-BE49-F238E27FC236}">
                <a16:creationId xmlns:a16="http://schemas.microsoft.com/office/drawing/2014/main" id="{6573ED2E-7E20-4C0C-B970-EF54AF66BF87}"/>
              </a:ext>
            </a:extLst>
          </p:cNvPr>
          <p:cNvSpPr/>
          <p:nvPr/>
        </p:nvSpPr>
        <p:spPr>
          <a:xfrm>
            <a:off x="1779158" y="1235525"/>
            <a:ext cx="3874417" cy="2677212"/>
          </a:xfrm>
          <a:custGeom>
            <a:avLst/>
            <a:gdLst>
              <a:gd name="connsiteX0" fmla="*/ 0 w 3874417"/>
              <a:gd name="connsiteY0" fmla="*/ 2677212 h 2677212"/>
              <a:gd name="connsiteX1" fmla="*/ 1027522 w 3874417"/>
              <a:gd name="connsiteY1" fmla="*/ 2592371 h 2677212"/>
              <a:gd name="connsiteX2" fmla="*/ 1527142 w 3874417"/>
              <a:gd name="connsiteY2" fmla="*/ 2450969 h 2677212"/>
              <a:gd name="connsiteX3" fmla="*/ 2384982 w 3874417"/>
              <a:gd name="connsiteY3" fmla="*/ 1989056 h 2677212"/>
              <a:gd name="connsiteX4" fmla="*/ 3007151 w 3874417"/>
              <a:gd name="connsiteY4" fmla="*/ 1545996 h 2677212"/>
              <a:gd name="connsiteX5" fmla="*/ 3516198 w 3874417"/>
              <a:gd name="connsiteY5" fmla="*/ 961534 h 2677212"/>
              <a:gd name="connsiteX6" fmla="*/ 3874417 w 3874417"/>
              <a:gd name="connsiteY6" fmla="*/ 0 h 2677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74417" h="2677212">
                <a:moveTo>
                  <a:pt x="0" y="2677212"/>
                </a:moveTo>
                <a:cubicBezTo>
                  <a:pt x="386499" y="2653645"/>
                  <a:pt x="772998" y="2630078"/>
                  <a:pt x="1027522" y="2592371"/>
                </a:cubicBezTo>
                <a:cubicBezTo>
                  <a:pt x="1282046" y="2554664"/>
                  <a:pt x="1300899" y="2551521"/>
                  <a:pt x="1527142" y="2450969"/>
                </a:cubicBezTo>
                <a:cubicBezTo>
                  <a:pt x="1753385" y="2350417"/>
                  <a:pt x="2138314" y="2139885"/>
                  <a:pt x="2384982" y="1989056"/>
                </a:cubicBezTo>
                <a:cubicBezTo>
                  <a:pt x="2631650" y="1838227"/>
                  <a:pt x="2818615" y="1717250"/>
                  <a:pt x="3007151" y="1545996"/>
                </a:cubicBezTo>
                <a:cubicBezTo>
                  <a:pt x="3195687" y="1374742"/>
                  <a:pt x="3371654" y="1219200"/>
                  <a:pt x="3516198" y="961534"/>
                </a:cubicBezTo>
                <a:cubicBezTo>
                  <a:pt x="3660742" y="703868"/>
                  <a:pt x="3767579" y="351934"/>
                  <a:pt x="3874417" y="0"/>
                </a:cubicBezTo>
              </a:path>
            </a:pathLst>
          </a:custGeom>
          <a:noFill/>
          <a:ln w="47625"/>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4" name="Flowchart: Connector 23">
            <a:extLst>
              <a:ext uri="{FF2B5EF4-FFF2-40B4-BE49-F238E27FC236}">
                <a16:creationId xmlns:a16="http://schemas.microsoft.com/office/drawing/2014/main" id="{FC94B930-9080-49DC-BD57-B3166E5FA140}"/>
              </a:ext>
            </a:extLst>
          </p:cNvPr>
          <p:cNvSpPr/>
          <p:nvPr/>
        </p:nvSpPr>
        <p:spPr>
          <a:xfrm>
            <a:off x="4792829" y="2640088"/>
            <a:ext cx="158759" cy="134224"/>
          </a:xfrm>
          <a:prstGeom prst="flowChartConnector">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cxnSp>
        <p:nvCxnSpPr>
          <p:cNvPr id="39" name="Straight Arrow Connector 38">
            <a:extLst>
              <a:ext uri="{FF2B5EF4-FFF2-40B4-BE49-F238E27FC236}">
                <a16:creationId xmlns:a16="http://schemas.microsoft.com/office/drawing/2014/main" id="{6822C662-094A-45DF-AEF4-5AF2E6D000B5}"/>
              </a:ext>
            </a:extLst>
          </p:cNvPr>
          <p:cNvCxnSpPr>
            <a:cxnSpLocks/>
          </p:cNvCxnSpPr>
          <p:nvPr/>
        </p:nvCxnSpPr>
        <p:spPr>
          <a:xfrm flipH="1" flipV="1">
            <a:off x="5097297" y="2796171"/>
            <a:ext cx="433859" cy="1671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2" name="TextBox 41">
            <a:extLst>
              <a:ext uri="{FF2B5EF4-FFF2-40B4-BE49-F238E27FC236}">
                <a16:creationId xmlns:a16="http://schemas.microsoft.com/office/drawing/2014/main" id="{6928666D-D82D-4AA3-B97E-DD9826CBB27B}"/>
              </a:ext>
            </a:extLst>
          </p:cNvPr>
          <p:cNvSpPr txBox="1"/>
          <p:nvPr/>
        </p:nvSpPr>
        <p:spPr>
          <a:xfrm>
            <a:off x="2560037" y="5842445"/>
            <a:ext cx="1854730" cy="738664"/>
          </a:xfrm>
          <a:prstGeom prst="rect">
            <a:avLst/>
          </a:prstGeom>
          <a:noFill/>
          <a:ln>
            <a:noFill/>
          </a:ln>
        </p:spPr>
        <p:txBody>
          <a:bodyPr wrap="square" rtlCol="0">
            <a:spAutoFit/>
          </a:bodyPr>
          <a:lstStyle/>
          <a:p>
            <a:r>
              <a:rPr lang="fr-FR" sz="1400" b="1" i="1" dirty="0">
                <a:solidFill>
                  <a:schemeClr val="accent3">
                    <a:lumMod val="75000"/>
                  </a:schemeClr>
                </a:solidFill>
                <a:latin typeface="Whitney Book" pitchFamily="50" charset="0"/>
                <a:cs typeface="Whitney Book" pitchFamily="50" charset="0"/>
              </a:rPr>
              <a:t>(Profit </a:t>
            </a:r>
            <a:r>
              <a:rPr lang="fr-FR" sz="1400" b="1" i="1" dirty="0" err="1">
                <a:solidFill>
                  <a:schemeClr val="accent3">
                    <a:lumMod val="75000"/>
                  </a:schemeClr>
                </a:solidFill>
                <a:latin typeface="Whitney Book" pitchFamily="50" charset="0"/>
                <a:cs typeface="Whitney Book" pitchFamily="50" charset="0"/>
              </a:rPr>
              <a:t>is</a:t>
            </a:r>
            <a:r>
              <a:rPr lang="fr-FR" sz="1400" b="1" i="1" dirty="0">
                <a:solidFill>
                  <a:schemeClr val="accent3">
                    <a:lumMod val="75000"/>
                  </a:schemeClr>
                </a:solidFill>
                <a:latin typeface="Whitney Book" pitchFamily="50" charset="0"/>
                <a:cs typeface="Whitney Book" pitchFamily="50" charset="0"/>
              </a:rPr>
              <a:t> the </a:t>
            </a:r>
            <a:r>
              <a:rPr lang="fr-FR" sz="1400" b="1" i="1" dirty="0" err="1">
                <a:solidFill>
                  <a:schemeClr val="accent3">
                    <a:lumMod val="75000"/>
                  </a:schemeClr>
                </a:solidFill>
                <a:latin typeface="Whitney Book" pitchFamily="50" charset="0"/>
                <a:cs typeface="Whitney Book" pitchFamily="50" charset="0"/>
              </a:rPr>
              <a:t>difference</a:t>
            </a:r>
            <a:r>
              <a:rPr lang="fr-FR" sz="1400" b="1" i="1" dirty="0">
                <a:solidFill>
                  <a:schemeClr val="accent3">
                    <a:lumMod val="75000"/>
                  </a:schemeClr>
                </a:solidFill>
                <a:latin typeface="Whitney Book" pitchFamily="50" charset="0"/>
                <a:cs typeface="Whitney Book" pitchFamily="50" charset="0"/>
              </a:rPr>
              <a:t> </a:t>
            </a:r>
            <a:r>
              <a:rPr lang="fr-FR" sz="1400" b="1" i="1" dirty="0" err="1">
                <a:solidFill>
                  <a:schemeClr val="accent3">
                    <a:lumMod val="75000"/>
                  </a:schemeClr>
                </a:solidFill>
                <a:latin typeface="Whitney Book" pitchFamily="50" charset="0"/>
                <a:cs typeface="Whitney Book" pitchFamily="50" charset="0"/>
              </a:rPr>
              <a:t>between</a:t>
            </a:r>
            <a:r>
              <a:rPr lang="fr-FR" sz="1400" b="1" i="1" dirty="0">
                <a:solidFill>
                  <a:schemeClr val="accent3">
                    <a:lumMod val="75000"/>
                  </a:schemeClr>
                </a:solidFill>
                <a:latin typeface="Whitney Book" pitchFamily="50" charset="0"/>
                <a:cs typeface="Whitney Book" pitchFamily="50" charset="0"/>
              </a:rPr>
              <a:t> TR and TC)</a:t>
            </a:r>
            <a:endParaRPr lang="en-US" sz="1400" b="1" i="1" dirty="0">
              <a:solidFill>
                <a:schemeClr val="accent3">
                  <a:lumMod val="75000"/>
                </a:schemeClr>
              </a:solidFill>
              <a:latin typeface="Whitney Book" pitchFamily="50" charset="0"/>
              <a:cs typeface="Whitney Book" pitchFamily="50" charset="0"/>
            </a:endParaRPr>
          </a:p>
        </p:txBody>
      </p:sp>
      <p:grpSp>
        <p:nvGrpSpPr>
          <p:cNvPr id="26" name="Group 25">
            <a:extLst>
              <a:ext uri="{FF2B5EF4-FFF2-40B4-BE49-F238E27FC236}">
                <a16:creationId xmlns:a16="http://schemas.microsoft.com/office/drawing/2014/main" id="{F47B7746-BC97-412B-A503-80705602932F}"/>
              </a:ext>
            </a:extLst>
          </p:cNvPr>
          <p:cNvGrpSpPr/>
          <p:nvPr/>
        </p:nvGrpSpPr>
        <p:grpSpPr>
          <a:xfrm>
            <a:off x="2309913" y="3570063"/>
            <a:ext cx="1168472" cy="1841770"/>
            <a:chOff x="2309913" y="3570063"/>
            <a:chExt cx="1168472" cy="1841770"/>
          </a:xfrm>
        </p:grpSpPr>
        <p:cxnSp>
          <p:nvCxnSpPr>
            <p:cNvPr id="30" name="Straight Connector 29">
              <a:extLst>
                <a:ext uri="{FF2B5EF4-FFF2-40B4-BE49-F238E27FC236}">
                  <a16:creationId xmlns:a16="http://schemas.microsoft.com/office/drawing/2014/main" id="{90563192-DEFC-414B-A642-F51D96F8BCDB}"/>
                </a:ext>
              </a:extLst>
            </p:cNvPr>
            <p:cNvCxnSpPr>
              <a:cxnSpLocks/>
            </p:cNvCxnSpPr>
            <p:nvPr/>
          </p:nvCxnSpPr>
          <p:spPr>
            <a:xfrm>
              <a:off x="3478385" y="3570063"/>
              <a:ext cx="0" cy="1841770"/>
            </a:xfrm>
            <a:prstGeom prst="line">
              <a:avLst/>
            </a:prstGeom>
            <a:ln w="15875" cap="flat" cmpd="sng" algn="ctr">
              <a:solidFill>
                <a:schemeClr val="dk1"/>
              </a:solidFill>
              <a:prstDash val="lg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23" name="Group 22">
              <a:extLst>
                <a:ext uri="{FF2B5EF4-FFF2-40B4-BE49-F238E27FC236}">
                  <a16:creationId xmlns:a16="http://schemas.microsoft.com/office/drawing/2014/main" id="{A6700223-EC0C-42D7-AF3E-EAB1472278AA}"/>
                </a:ext>
              </a:extLst>
            </p:cNvPr>
            <p:cNvGrpSpPr/>
            <p:nvPr/>
          </p:nvGrpSpPr>
          <p:grpSpPr>
            <a:xfrm>
              <a:off x="2309913" y="3768167"/>
              <a:ext cx="1150750" cy="1336829"/>
              <a:chOff x="2309913" y="3768167"/>
              <a:chExt cx="1150750" cy="1336829"/>
            </a:xfrm>
          </p:grpSpPr>
          <p:sp>
            <p:nvSpPr>
              <p:cNvPr id="43" name="TextBox 42">
                <a:extLst>
                  <a:ext uri="{FF2B5EF4-FFF2-40B4-BE49-F238E27FC236}">
                    <a16:creationId xmlns:a16="http://schemas.microsoft.com/office/drawing/2014/main" id="{4A55BF17-5110-4350-90B0-6C77A50A2B3B}"/>
                  </a:ext>
                </a:extLst>
              </p:cNvPr>
              <p:cNvSpPr txBox="1"/>
              <p:nvPr/>
            </p:nvSpPr>
            <p:spPr>
              <a:xfrm>
                <a:off x="2309913" y="4704886"/>
                <a:ext cx="1150750" cy="400110"/>
              </a:xfrm>
              <a:prstGeom prst="rect">
                <a:avLst/>
              </a:prstGeom>
              <a:noFill/>
              <a:ln>
                <a:noFill/>
              </a:ln>
            </p:spPr>
            <p:txBody>
              <a:bodyPr wrap="square" rtlCol="0">
                <a:spAutoFit/>
              </a:bodyPr>
              <a:lstStyle/>
              <a:p>
                <a:r>
                  <a:rPr lang="fr-FR" sz="2000" b="1" dirty="0">
                    <a:latin typeface="Whitney Book" pitchFamily="50" charset="0"/>
                    <a:cs typeface="Whitney Book" pitchFamily="50" charset="0"/>
                  </a:rPr>
                  <a:t>Profit=0</a:t>
                </a:r>
                <a:endParaRPr lang="en-US" sz="2000" b="1" dirty="0">
                  <a:latin typeface="Whitney Book" pitchFamily="50" charset="0"/>
                  <a:cs typeface="Whitney Book" pitchFamily="50" charset="0"/>
                </a:endParaRPr>
              </a:p>
            </p:txBody>
          </p:sp>
          <p:cxnSp>
            <p:nvCxnSpPr>
              <p:cNvPr id="44" name="Straight Arrow Connector 43">
                <a:extLst>
                  <a:ext uri="{FF2B5EF4-FFF2-40B4-BE49-F238E27FC236}">
                    <a16:creationId xmlns:a16="http://schemas.microsoft.com/office/drawing/2014/main" id="{840A3F8F-6443-44A1-8DDF-1F2E0DD58219}"/>
                  </a:ext>
                </a:extLst>
              </p:cNvPr>
              <p:cNvCxnSpPr>
                <a:cxnSpLocks/>
              </p:cNvCxnSpPr>
              <p:nvPr/>
            </p:nvCxnSpPr>
            <p:spPr>
              <a:xfrm flipV="1">
                <a:off x="3008524" y="3768167"/>
                <a:ext cx="422720" cy="93671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spTree>
    <p:extLst>
      <p:ext uri="{BB962C8B-B14F-4D97-AF65-F5344CB8AC3E}">
        <p14:creationId xmlns:p14="http://schemas.microsoft.com/office/powerpoint/2010/main" val="1556043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7" grpId="0"/>
      <p:bldP spid="25" grpId="0" animBg="1"/>
      <p:bldP spid="32" grpId="0" animBg="1"/>
      <p:bldP spid="33" grpId="0" animBg="1"/>
      <p:bldP spid="34" grpId="0"/>
      <p:bldP spid="35" grpId="0"/>
      <p:bldP spid="36" grpId="0"/>
      <p:bldP spid="37" grpId="0"/>
      <p:bldP spid="38" grpId="0"/>
      <p:bldP spid="29" grpId="0"/>
      <p:bldP spid="12" grpId="0" animBg="1"/>
      <p:bldP spid="24" grpId="0" animBg="1"/>
      <p:bldP spid="4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t>maximizing profit: cabbage production</a:t>
            </a:r>
          </a:p>
        </p:txBody>
      </p:sp>
      <mc:AlternateContent xmlns:mc="http://schemas.openxmlformats.org/markup-compatibility/2006" xmlns:a14="http://schemas.microsoft.com/office/drawing/2010/main">
        <mc:Choice Requires="a14">
          <p:sp>
            <p:nvSpPr>
              <p:cNvPr id="6" name="Content Placeholder 5"/>
              <p:cNvSpPr>
                <a:spLocks noGrp="1"/>
              </p:cNvSpPr>
              <p:nvPr>
                <p:ph type="body" idx="1"/>
              </p:nvPr>
            </p:nvSpPr>
            <p:spPr/>
            <p:txBody>
              <a:bodyPr>
                <a:normAutofit fontScale="92500"/>
              </a:bodyPr>
              <a:lstStyle/>
              <a:p>
                <a:pPr>
                  <a:lnSpc>
                    <a:spcPct val="150000"/>
                  </a:lnSpc>
                </a:pPr>
                <a:r>
                  <a:rPr lang="fr-FR" dirty="0"/>
                  <a:t>The Yi </a:t>
                </a:r>
                <a:r>
                  <a:rPr lang="fr-FR" dirty="0" err="1"/>
                  <a:t>family</a:t>
                </a:r>
                <a:r>
                  <a:rPr lang="fr-FR" dirty="0"/>
                  <a:t> has </a:t>
                </a:r>
                <a:r>
                  <a:rPr lang="fr-FR" dirty="0" err="1"/>
                  <a:t>estimated</a:t>
                </a:r>
                <a:r>
                  <a:rPr lang="fr-FR" dirty="0"/>
                  <a:t> the </a:t>
                </a:r>
                <a:r>
                  <a:rPr lang="fr-FR" dirty="0" err="1"/>
                  <a:t>following</a:t>
                </a:r>
                <a:r>
                  <a:rPr lang="fr-FR" dirty="0"/>
                  <a:t> total </a:t>
                </a:r>
                <a:r>
                  <a:rPr lang="fr-FR" dirty="0" err="1"/>
                  <a:t>cost</a:t>
                </a:r>
                <a:r>
                  <a:rPr lang="fr-FR" dirty="0"/>
                  <a:t>:</a:t>
                </a:r>
              </a:p>
              <a:p>
                <a:pPr>
                  <a:lnSpc>
                    <a:spcPct val="150000"/>
                  </a:lnSpc>
                </a:pPr>
                <a:endParaRPr lang="fr-FR" sz="1200" dirty="0"/>
              </a:p>
              <a:p>
                <a:pPr marL="0" indent="0" algn="ct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𝑇𝐶</m:t>
                      </m:r>
                      <m:r>
                        <a:rPr lang="en-US" i="1">
                          <a:latin typeface="Cambria Math" panose="02040503050406030204" pitchFamily="18" charset="0"/>
                        </a:rPr>
                        <m:t>=30,000+40</m:t>
                      </m:r>
                      <m:r>
                        <a:rPr lang="en-US" i="1">
                          <a:latin typeface="Cambria Math" panose="02040503050406030204" pitchFamily="18" charset="0"/>
                        </a:rPr>
                        <m:t>𝑄</m:t>
                      </m:r>
                      <m:r>
                        <a:rPr lang="en-US" i="1">
                          <a:latin typeface="Cambria Math" panose="02040503050406030204" pitchFamily="18" charset="0"/>
                        </a:rPr>
                        <m:t>+0.2</m:t>
                      </m:r>
                      <m:sSup>
                        <m:sSupPr>
                          <m:ctrlPr>
                            <a:rPr lang="en-US" i="1">
                              <a:latin typeface="Cambria Math" panose="02040503050406030204" pitchFamily="18" charset="0"/>
                            </a:rPr>
                          </m:ctrlPr>
                        </m:sSupPr>
                        <m:e>
                          <m:r>
                            <a:rPr lang="en-US" i="1">
                              <a:latin typeface="Cambria Math" panose="02040503050406030204" pitchFamily="18" charset="0"/>
                            </a:rPr>
                            <m:t>𝑄</m:t>
                          </m:r>
                        </m:e>
                        <m:sup>
                          <m:r>
                            <a:rPr lang="en-US" i="1">
                              <a:latin typeface="Cambria Math" panose="02040503050406030204" pitchFamily="18" charset="0"/>
                            </a:rPr>
                            <m:t>2</m:t>
                          </m:r>
                        </m:sup>
                      </m:sSup>
                    </m:oMath>
                  </m:oMathPara>
                </a14:m>
                <a:endParaRPr lang="en-US" dirty="0"/>
              </a:p>
              <a:p>
                <a:pPr marL="0" indent="0" algn="ctr">
                  <a:buNone/>
                </a:pPr>
                <a:endParaRPr lang="en-US" sz="1200" dirty="0"/>
              </a:p>
              <a:p>
                <a:pPr>
                  <a:lnSpc>
                    <a:spcPct val="150000"/>
                  </a:lnSpc>
                </a:pPr>
                <a:r>
                  <a:rPr lang="fr-FR" i="1" dirty="0"/>
                  <a:t>Q</a:t>
                </a:r>
                <a:r>
                  <a:rPr lang="fr-FR" dirty="0"/>
                  <a:t>  </a:t>
                </a:r>
                <a:r>
                  <a:rPr lang="fr-FR" dirty="0" err="1"/>
                  <a:t>is</a:t>
                </a:r>
                <a:r>
                  <a:rPr lang="fr-FR" dirty="0"/>
                  <a:t> </a:t>
                </a:r>
                <a:r>
                  <a:rPr lang="fr-FR" dirty="0" err="1"/>
                  <a:t>quantity</a:t>
                </a:r>
                <a:r>
                  <a:rPr lang="fr-FR" dirty="0"/>
                  <a:t> </a:t>
                </a:r>
                <a:r>
                  <a:rPr lang="fr-FR" dirty="0" err="1"/>
                  <a:t>produced</a:t>
                </a:r>
                <a:r>
                  <a:rPr lang="fr-FR" dirty="0"/>
                  <a:t> (in tons)</a:t>
                </a:r>
              </a:p>
              <a:p>
                <a:pPr>
                  <a:lnSpc>
                    <a:spcPct val="150000"/>
                  </a:lnSpc>
                </a:pPr>
                <a:endParaRPr lang="fr-FR" sz="1200" dirty="0"/>
              </a:p>
              <a:p>
                <a:pPr>
                  <a:lnSpc>
                    <a:spcPct val="150000"/>
                  </a:lnSpc>
                </a:pPr>
                <a:r>
                  <a:rPr lang="fr-FR" dirty="0"/>
                  <a:t>The </a:t>
                </a:r>
                <a:r>
                  <a:rPr lang="fr-FR" dirty="0" err="1"/>
                  <a:t>market</a:t>
                </a:r>
                <a:r>
                  <a:rPr lang="fr-FR" dirty="0"/>
                  <a:t> </a:t>
                </a:r>
                <a:r>
                  <a:rPr lang="fr-FR" dirty="0" err="1"/>
                  <a:t>price</a:t>
                </a:r>
                <a:r>
                  <a:rPr lang="fr-FR" dirty="0"/>
                  <a:t> of </a:t>
                </a:r>
                <a:r>
                  <a:rPr lang="fr-FR" dirty="0" err="1"/>
                  <a:t>cabbage</a:t>
                </a:r>
                <a:r>
                  <a:rPr lang="fr-FR" dirty="0"/>
                  <a:t> </a:t>
                </a:r>
                <a:r>
                  <a:rPr lang="fr-FR" dirty="0" err="1"/>
                  <a:t>is</a:t>
                </a:r>
                <a:r>
                  <a:rPr lang="fr-FR" dirty="0"/>
                  <a:t> </a:t>
                </a:r>
                <a:r>
                  <a:rPr lang="fr-FR" i="1" dirty="0"/>
                  <a:t>P </a:t>
                </a:r>
                <a:r>
                  <a:rPr lang="fr-FR" dirty="0"/>
                  <a:t>=$230 per ton</a:t>
                </a:r>
              </a:p>
              <a:p>
                <a:pPr>
                  <a:lnSpc>
                    <a:spcPct val="150000"/>
                  </a:lnSpc>
                </a:pPr>
                <a:endParaRPr lang="fr-FR" sz="1200" dirty="0"/>
              </a:p>
              <a:p>
                <a:r>
                  <a:rPr lang="fr-FR" dirty="0"/>
                  <a:t>How </a:t>
                </a:r>
                <a:r>
                  <a:rPr lang="fr-FR" dirty="0" err="1"/>
                  <a:t>many</a:t>
                </a:r>
                <a:r>
                  <a:rPr lang="fr-FR" dirty="0"/>
                  <a:t> tons </a:t>
                </a:r>
                <a:r>
                  <a:rPr lang="fr-FR" dirty="0" err="1"/>
                  <a:t>should</a:t>
                </a:r>
                <a:r>
                  <a:rPr lang="fr-FR" dirty="0"/>
                  <a:t> the Yi </a:t>
                </a:r>
                <a:r>
                  <a:rPr lang="fr-FR" dirty="0" err="1"/>
                  <a:t>family</a:t>
                </a:r>
                <a:r>
                  <a:rPr lang="fr-FR" dirty="0"/>
                  <a:t> </a:t>
                </a:r>
                <a:r>
                  <a:rPr lang="fr-FR" dirty="0" err="1"/>
                  <a:t>produce</a:t>
                </a:r>
                <a:r>
                  <a:rPr lang="fr-FR" dirty="0"/>
                  <a:t> to </a:t>
                </a:r>
                <a:r>
                  <a:rPr lang="fr-FR" dirty="0" err="1"/>
                  <a:t>maximize</a:t>
                </a:r>
                <a:r>
                  <a:rPr lang="fr-FR" dirty="0"/>
                  <a:t> profits?</a:t>
                </a:r>
                <a:endParaRPr lang="en-US" dirty="0"/>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xfrm>
                <a:off x="425520" y="1242715"/>
                <a:ext cx="8334376" cy="4824256"/>
              </a:xfrm>
              <a:blipFill>
                <a:blip r:embed="rId4"/>
                <a:stretch>
                  <a:fillRect l="-1609"/>
                </a:stretch>
              </a:blipFill>
            </p:spPr>
            <p:txBody>
              <a:bodyPr/>
              <a:lstStyle/>
              <a:p>
                <a:r>
                  <a:rPr lang="en-US">
                    <a:noFill/>
                  </a:rPr>
                  <a:t> </a:t>
                </a:r>
              </a:p>
            </p:txBody>
          </p:sp>
        </mc:Fallback>
      </mc:AlternateContent>
      <p:sp>
        <p:nvSpPr>
          <p:cNvPr id="3" name="Slide Number Placeholder 2"/>
          <p:cNvSpPr>
            <a:spLocks noGrp="1"/>
          </p:cNvSpPr>
          <p:nvPr>
            <p:ph type="sldNum" sz="quarter" idx="12"/>
          </p:nvPr>
        </p:nvSpPr>
        <p:spPr/>
        <p:txBody>
          <a:bodyPr/>
          <a:lstStyle/>
          <a:p>
            <a:fld id="{DBC38028-5B1C-49D3-BF22-2CE9385E6DA2}" type="slidenum">
              <a:rPr lang="en-US" smtClean="0"/>
              <a:pPr/>
              <a:t>19</a:t>
            </a:fld>
            <a:endParaRPr lang="en-US" dirty="0"/>
          </a:p>
        </p:txBody>
      </p:sp>
      <p:sp>
        <p:nvSpPr>
          <p:cNvPr id="8" name="Parallelogram 7">
            <a:extLst>
              <a:ext uri="{FF2B5EF4-FFF2-40B4-BE49-F238E27FC236}">
                <a16:creationId xmlns:a16="http://schemas.microsoft.com/office/drawing/2014/main" id="{77D57DE6-2DA3-4B60-830F-890E4797F4D1}"/>
              </a:ext>
            </a:extLst>
          </p:cNvPr>
          <p:cNvSpPr/>
          <p:nvPr/>
        </p:nvSpPr>
        <p:spPr>
          <a:xfrm>
            <a:off x="4883085" y="6097419"/>
            <a:ext cx="4132593" cy="687801"/>
          </a:xfrm>
          <a:prstGeom prst="parallelogram">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50000" t="50000" r="50000" b="50000"/>
            </a:path>
            <a:tileRect/>
          </a:gradFill>
          <a:ln>
            <a:noFill/>
          </a:ln>
        </p:spPr>
        <p:style>
          <a:lnRef idx="1">
            <a:schemeClr val="accent2"/>
          </a:lnRef>
          <a:fillRef idx="3">
            <a:schemeClr val="accent2"/>
          </a:fillRef>
          <a:effectRef idx="2">
            <a:schemeClr val="accent2"/>
          </a:effectRef>
          <a:fontRef idx="minor">
            <a:schemeClr val="lt1"/>
          </a:fontRef>
        </p:style>
        <p:txBody>
          <a:bodyPr rtlCol="0" anchor="ctr"/>
          <a:lstStyle/>
          <a:p>
            <a:pPr>
              <a:defRPr/>
            </a:pPr>
            <a:r>
              <a:rPr lang="en-US" sz="3200" b="1" i="1" dirty="0">
                <a:solidFill>
                  <a:prstClr val="white"/>
                </a:solidFill>
              </a:rPr>
              <a:t>Yi Family Example</a:t>
            </a:r>
          </a:p>
        </p:txBody>
      </p:sp>
    </p:spTree>
    <p:custDataLst>
      <p:tags r:id="rId1"/>
    </p:custDataLst>
    <p:extLst>
      <p:ext uri="{BB962C8B-B14F-4D97-AF65-F5344CB8AC3E}">
        <p14:creationId xmlns:p14="http://schemas.microsoft.com/office/powerpoint/2010/main" val="1838783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4FE115-EDC4-460A-917C-2A5E5CAF78AE}"/>
              </a:ext>
            </a:extLst>
          </p:cNvPr>
          <p:cNvPicPr>
            <a:picLocks/>
          </p:cNvPicPr>
          <p:nvPr>
            <p:custDataLst>
              <p:tags r:id="rId1"/>
            </p:custDataLst>
          </p:nvPr>
        </p:nvPicPr>
        <p:blipFill>
          <a:blip r:embed="rId4"/>
          <a:stretch>
            <a:fillRect/>
          </a:stretch>
        </p:blipFill>
        <p:spPr>
          <a:xfrm>
            <a:off x="190500" y="190500"/>
            <a:ext cx="8763000" cy="6477000"/>
          </a:xfrm>
          <a:prstGeom prst="rect">
            <a:avLst/>
          </a:prstGeom>
        </p:spPr>
      </p:pic>
    </p:spTree>
    <p:extLst>
      <p:ext uri="{BB962C8B-B14F-4D97-AF65-F5344CB8AC3E}">
        <p14:creationId xmlns:p14="http://schemas.microsoft.com/office/powerpoint/2010/main" val="1535069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8CB62-6950-458E-98BE-58DF46E32B91}"/>
              </a:ext>
            </a:extLst>
          </p:cNvPr>
          <p:cNvSpPr>
            <a:spLocks noGrp="1"/>
          </p:cNvSpPr>
          <p:nvPr>
            <p:ph type="title"/>
          </p:nvPr>
        </p:nvSpPr>
        <p:spPr/>
        <p:txBody>
          <a:bodyPr>
            <a:normAutofit/>
          </a:bodyPr>
          <a:lstStyle/>
          <a:p>
            <a:r>
              <a:rPr lang="en-US" sz="2700" dirty="0"/>
              <a:t>Profit maximizing quantity: solution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C5DA17-84FF-4F8D-B4FB-DA614D64E8D0}"/>
                  </a:ext>
                </a:extLst>
              </p:cNvPr>
              <p:cNvSpPr>
                <a:spLocks noGrp="1"/>
              </p:cNvSpPr>
              <p:nvPr>
                <p:ph type="body" idx="1"/>
              </p:nvPr>
            </p:nvSpPr>
            <p:spPr/>
            <p:txBody>
              <a:bodyPr>
                <a:normAutofit lnSpcReduction="10000"/>
              </a:bodyPr>
              <a:lstStyle/>
              <a:p>
                <a:r>
                  <a:rPr lang="en-US" dirty="0"/>
                  <a:t>We need to set </a:t>
                </a:r>
                <a14:m>
                  <m:oMath xmlns:m="http://schemas.openxmlformats.org/officeDocument/2006/math">
                    <m:r>
                      <a:rPr lang="en-US" i="1" dirty="0" smtClean="0">
                        <a:latin typeface="Cambria Math" panose="02040503050406030204" pitchFamily="18" charset="0"/>
                      </a:rPr>
                      <m:t>𝑀𝑅</m:t>
                    </m:r>
                    <m:r>
                      <a:rPr lang="en-US" i="1" dirty="0" smtClean="0">
                        <a:latin typeface="Cambria Math" panose="02040503050406030204" pitchFamily="18" charset="0"/>
                      </a:rPr>
                      <m:t>=</m:t>
                    </m:r>
                    <m:r>
                      <a:rPr lang="en-US" i="1" dirty="0" smtClean="0">
                        <a:latin typeface="Cambria Math" panose="02040503050406030204" pitchFamily="18" charset="0"/>
                      </a:rPr>
                      <m:t>𝑀𝐶</m:t>
                    </m:r>
                  </m:oMath>
                </a14:m>
                <a:endParaRPr lang="en-US" dirty="0"/>
              </a:p>
              <a:p>
                <a:r>
                  <a:rPr lang="en-US" i="1" dirty="0"/>
                  <a:t>MC </a:t>
                </a:r>
                <a:r>
                  <a:rPr lang="en-US" dirty="0"/>
                  <a:t>: derivative of </a:t>
                </a:r>
                <a:r>
                  <a:rPr lang="en-US" i="1" dirty="0"/>
                  <a:t>TC</a:t>
                </a:r>
                <a:r>
                  <a:rPr lang="en-US" dirty="0"/>
                  <a:t> with respect to </a:t>
                </a:r>
                <a:r>
                  <a:rPr lang="en-US" i="1" dirty="0"/>
                  <a:t>Q </a:t>
                </a:r>
                <a:r>
                  <a:rPr lang="en-US" dirty="0"/>
                  <a:t>:</a:t>
                </a:r>
              </a:p>
              <a:p>
                <a:pPr algn="ctr"/>
                <a:endParaRPr lang="en-US" sz="900" dirty="0"/>
              </a:p>
              <a:p>
                <a:pPr marL="0" indent="0" algn="ctr">
                  <a:buNone/>
                </a:pPr>
                <a14:m>
                  <m:oMathPara xmlns:m="http://schemas.openxmlformats.org/officeDocument/2006/math">
                    <m:oMathParaPr>
                      <m:jc m:val="centerGroup"/>
                    </m:oMathParaPr>
                    <m:oMath xmlns:m="http://schemas.openxmlformats.org/officeDocument/2006/math">
                      <m:r>
                        <a:rPr lang="fr-FR" i="1">
                          <a:latin typeface="Cambria Math" panose="02040503050406030204" pitchFamily="18" charset="0"/>
                        </a:rPr>
                        <m:t>𝑇𝐶</m:t>
                      </m:r>
                      <m:r>
                        <a:rPr lang="fr-FR" i="1">
                          <a:latin typeface="Cambria Math" panose="02040503050406030204" pitchFamily="18" charset="0"/>
                        </a:rPr>
                        <m:t>=30,000+40</m:t>
                      </m:r>
                      <m:r>
                        <a:rPr lang="fr-FR" i="1">
                          <a:latin typeface="Cambria Math" panose="02040503050406030204" pitchFamily="18" charset="0"/>
                        </a:rPr>
                        <m:t>𝑄</m:t>
                      </m:r>
                      <m:r>
                        <a:rPr lang="fr-FR" i="1">
                          <a:latin typeface="Cambria Math" panose="02040503050406030204" pitchFamily="18" charset="0"/>
                        </a:rPr>
                        <m:t>+0.2</m:t>
                      </m:r>
                      <m:sSup>
                        <m:sSupPr>
                          <m:ctrlPr>
                            <a:rPr lang="fr-FR" i="1">
                              <a:latin typeface="Cambria Math" panose="02040503050406030204" pitchFamily="18" charset="0"/>
                            </a:rPr>
                          </m:ctrlPr>
                        </m:sSupPr>
                        <m:e>
                          <m:r>
                            <a:rPr lang="fr-FR" i="1">
                              <a:latin typeface="Cambria Math" panose="02040503050406030204" pitchFamily="18" charset="0"/>
                            </a:rPr>
                            <m:t>𝑄</m:t>
                          </m:r>
                        </m:e>
                        <m:sup>
                          <m:r>
                            <a:rPr lang="fr-FR" i="1">
                              <a:latin typeface="Cambria Math" panose="02040503050406030204" pitchFamily="18" charset="0"/>
                            </a:rPr>
                            <m:t>2</m:t>
                          </m:r>
                        </m:sup>
                      </m:sSup>
                    </m:oMath>
                  </m:oMathPara>
                </a14:m>
                <a:endParaRPr lang="fr-FR" dirty="0"/>
              </a:p>
              <a:p>
                <a:pPr marL="0" indent="0" algn="ctr">
                  <a:buNone/>
                </a:pPr>
                <a:r>
                  <a:rPr lang="en-US" dirty="0"/>
                  <a:t> </a:t>
                </a:r>
                <a14:m>
                  <m:oMath xmlns:m="http://schemas.openxmlformats.org/officeDocument/2006/math">
                    <m:r>
                      <a:rPr lang="en-US" i="1" dirty="0" smtClean="0">
                        <a:latin typeface="Cambria Math" panose="02040503050406030204" pitchFamily="18" charset="0"/>
                      </a:rPr>
                      <m:t>𝑀𝐶</m:t>
                    </m:r>
                    <m:r>
                      <a:rPr lang="fr-FR" b="0" i="1" smtClean="0">
                        <a:latin typeface="Cambria Math" panose="02040503050406030204" pitchFamily="18" charset="0"/>
                        <a:ea typeface="Cambria Math" charset="0"/>
                        <a:cs typeface="Cambria Math" charset="0"/>
                      </a:rPr>
                      <m:t>=</m:t>
                    </m:r>
                    <m:f>
                      <m:fPr>
                        <m:ctrlPr>
                          <a:rPr lang="mr-IN" i="1">
                            <a:latin typeface="Cambria Math" panose="02040503050406030204" pitchFamily="18" charset="0"/>
                            <a:ea typeface="Cambria Math" charset="0"/>
                            <a:cs typeface="Cambria Math" charset="0"/>
                          </a:rPr>
                        </m:ctrlPr>
                      </m:fPr>
                      <m:num>
                        <m:r>
                          <a:rPr lang="en-US" b="0" i="1" smtClean="0">
                            <a:latin typeface="Cambria Math" panose="02040503050406030204" pitchFamily="18" charset="0"/>
                            <a:ea typeface="Cambria Math" charset="0"/>
                            <a:cs typeface="Cambria Math" charset="0"/>
                          </a:rPr>
                          <m:t>𝑑</m:t>
                        </m:r>
                        <m:r>
                          <a:rPr lang="en-US" i="1">
                            <a:latin typeface="Cambria Math" charset="0"/>
                            <a:ea typeface="Cambria Math" charset="0"/>
                            <a:cs typeface="Cambria Math" charset="0"/>
                          </a:rPr>
                          <m:t>𝑇𝐶</m:t>
                        </m:r>
                      </m:num>
                      <m:den>
                        <m:r>
                          <a:rPr lang="en-US" b="0" i="1" smtClean="0">
                            <a:latin typeface="Cambria Math" panose="02040503050406030204" pitchFamily="18" charset="0"/>
                            <a:ea typeface="Cambria Math" charset="0"/>
                            <a:cs typeface="Cambria Math" charset="0"/>
                          </a:rPr>
                          <m:t>𝑑</m:t>
                        </m:r>
                        <m:r>
                          <a:rPr lang="fr-FR" b="0" i="1" smtClean="0">
                            <a:latin typeface="Cambria Math" panose="02040503050406030204" pitchFamily="18" charset="0"/>
                            <a:ea typeface="Cambria Math" charset="0"/>
                            <a:cs typeface="Cambria Math" charset="0"/>
                          </a:rPr>
                          <m:t>𝑄</m:t>
                        </m:r>
                      </m:den>
                    </m:f>
                    <m:r>
                      <a:rPr lang="fr-FR" b="0" i="1" smtClean="0">
                        <a:latin typeface="Cambria Math" panose="02040503050406030204" pitchFamily="18" charset="0"/>
                        <a:ea typeface="Cambria Math" charset="0"/>
                        <a:cs typeface="Cambria Math" charset="0"/>
                      </a:rPr>
                      <m:t>=</m:t>
                    </m:r>
                    <m:r>
                      <a:rPr lang="en-US" b="0" i="1" smtClean="0">
                        <a:latin typeface="Cambria Math" panose="02040503050406030204" pitchFamily="18" charset="0"/>
                        <a:ea typeface="Cambria Math" charset="0"/>
                        <a:cs typeface="Cambria Math" charset="0"/>
                      </a:rPr>
                      <m:t>40</m:t>
                    </m:r>
                    <m:r>
                      <a:rPr lang="en-US" i="1" dirty="0" smtClean="0">
                        <a:latin typeface="Cambria Math" panose="02040503050406030204" pitchFamily="18" charset="0"/>
                      </a:rPr>
                      <m:t> +</m:t>
                    </m:r>
                    <m:r>
                      <a:rPr lang="en-US" b="0" i="1" dirty="0" smtClean="0">
                        <a:latin typeface="Cambria Math" panose="02040503050406030204" pitchFamily="18" charset="0"/>
                      </a:rPr>
                      <m:t>0.4</m:t>
                    </m:r>
                    <m:r>
                      <a:rPr lang="en-US" i="1" dirty="0" smtClean="0">
                        <a:latin typeface="Cambria Math" panose="02040503050406030204" pitchFamily="18" charset="0"/>
                      </a:rPr>
                      <m:t>𝑄</m:t>
                    </m:r>
                    <m:r>
                      <a:rPr lang="en-US" i="1" dirty="0" smtClean="0">
                        <a:latin typeface="Cambria Math" panose="02040503050406030204" pitchFamily="18" charset="0"/>
                      </a:rPr>
                      <m:t> </m:t>
                    </m:r>
                  </m:oMath>
                </a14:m>
                <a:endParaRPr lang="en-US" dirty="0"/>
              </a:p>
              <a:p>
                <a:endParaRPr lang="en-US" sz="1100" dirty="0"/>
              </a:p>
              <a:p>
                <a:r>
                  <a:rPr lang="en-US" i="1" dirty="0"/>
                  <a:t>MR</a:t>
                </a:r>
                <a:r>
                  <a:rPr lang="en-US" dirty="0"/>
                  <a:t> : the market for cabbage can be considered perfectly competitive, so </a:t>
                </a:r>
                <a:r>
                  <a:rPr lang="en-US" i="1" dirty="0"/>
                  <a:t>MR</a:t>
                </a:r>
                <a:r>
                  <a:rPr lang="en-US" dirty="0"/>
                  <a:t> is the market price</a:t>
                </a:r>
              </a:p>
              <a:p>
                <a:pPr marL="0" indent="0" algn="ctr">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𝑀</m:t>
                      </m:r>
                      <m:r>
                        <a:rPr lang="fr-FR" b="0" i="1" dirty="0" smtClean="0">
                          <a:latin typeface="Cambria Math" panose="02040503050406030204" pitchFamily="18" charset="0"/>
                        </a:rPr>
                        <m:t>𝑅</m:t>
                      </m:r>
                      <m:r>
                        <a:rPr lang="en-US" i="1" dirty="0" smtClean="0">
                          <a:latin typeface="Cambria Math" panose="02040503050406030204" pitchFamily="18" charset="0"/>
                        </a:rPr>
                        <m:t>=</m:t>
                      </m:r>
                      <m:r>
                        <a:rPr lang="fr-FR" b="0" i="1" dirty="0" smtClean="0">
                          <a:latin typeface="Cambria Math" panose="02040503050406030204" pitchFamily="18" charset="0"/>
                        </a:rPr>
                        <m:t>𝑃</m:t>
                      </m:r>
                      <m:r>
                        <a:rPr lang="fr-FR" b="0" i="1" dirty="0" smtClean="0">
                          <a:latin typeface="Cambria Math" panose="02040503050406030204" pitchFamily="18" charset="0"/>
                        </a:rPr>
                        <m:t>=230</m:t>
                      </m:r>
                    </m:oMath>
                  </m:oMathPara>
                </a14:m>
                <a:endParaRPr lang="en-US" dirty="0"/>
              </a:p>
              <a:p>
                <a:endParaRPr lang="en-US" sz="1000" dirty="0"/>
              </a:p>
              <a:p>
                <a14:m>
                  <m:oMath xmlns:m="http://schemas.openxmlformats.org/officeDocument/2006/math">
                    <m:r>
                      <a:rPr lang="en-US" i="1" dirty="0" smtClean="0">
                        <a:latin typeface="Cambria Math" panose="02040503050406030204" pitchFamily="18" charset="0"/>
                      </a:rPr>
                      <m:t>𝑀𝑅</m:t>
                    </m:r>
                    <m:r>
                      <a:rPr lang="en-US" i="1" dirty="0" smtClean="0">
                        <a:latin typeface="Cambria Math" panose="02040503050406030204" pitchFamily="18" charset="0"/>
                      </a:rPr>
                      <m:t>=</m:t>
                    </m:r>
                    <m:r>
                      <a:rPr lang="en-US" i="1" dirty="0" smtClean="0">
                        <a:latin typeface="Cambria Math" panose="02040503050406030204" pitchFamily="18" charset="0"/>
                      </a:rPr>
                      <m:t>𝑀𝐶</m:t>
                    </m:r>
                    <m:r>
                      <a:rPr lang="en-US" i="1" dirty="0" smtClean="0">
                        <a:latin typeface="Cambria Math" panose="02040503050406030204" pitchFamily="18" charset="0"/>
                      </a:rPr>
                      <m:t> </m:t>
                    </m:r>
                  </m:oMath>
                </a14:m>
                <a:endParaRPr lang="en-US" dirty="0"/>
              </a:p>
              <a:p>
                <a:pPr marL="0" indent="0" algn="ctr">
                  <a:buNone/>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4</m:t>
                      </m:r>
                      <m:r>
                        <a:rPr lang="en-US" b="0" i="1" dirty="0" smtClean="0">
                          <a:latin typeface="Cambria Math" panose="02040503050406030204" pitchFamily="18" charset="0"/>
                        </a:rPr>
                        <m:t>0</m:t>
                      </m:r>
                      <m:r>
                        <a:rPr lang="en-US" i="1" dirty="0" smtClean="0">
                          <a:latin typeface="Cambria Math" panose="02040503050406030204" pitchFamily="18" charset="0"/>
                        </a:rPr>
                        <m:t>+</m:t>
                      </m:r>
                      <m:r>
                        <a:rPr lang="en-US" b="0" i="1" dirty="0" smtClean="0">
                          <a:latin typeface="Cambria Math" panose="02040503050406030204" pitchFamily="18" charset="0"/>
                        </a:rPr>
                        <m:t>0.4</m:t>
                      </m:r>
                      <m:r>
                        <a:rPr lang="en-US" i="1" dirty="0" smtClean="0">
                          <a:latin typeface="Cambria Math" panose="02040503050406030204" pitchFamily="18" charset="0"/>
                        </a:rPr>
                        <m:t>𝑄</m:t>
                      </m:r>
                      <m:r>
                        <a:rPr lang="fr-FR" b="0" i="1" dirty="0" smtClean="0">
                          <a:latin typeface="Cambria Math" panose="02040503050406030204" pitchFamily="18" charset="0"/>
                        </a:rPr>
                        <m:t>=</m:t>
                      </m:r>
                      <m:r>
                        <a:rPr lang="en-US" b="0" i="1" dirty="0" smtClean="0">
                          <a:latin typeface="Cambria Math" panose="02040503050406030204" pitchFamily="18" charset="0"/>
                        </a:rPr>
                        <m:t>230</m:t>
                      </m:r>
                      <m:r>
                        <a:rPr lang="en-US" i="1" dirty="0" smtClean="0">
                          <a:latin typeface="Cambria Math" panose="02040503050406030204" pitchFamily="18" charset="0"/>
                        </a:rPr>
                        <m:t> </m:t>
                      </m:r>
                      <m:r>
                        <a:rPr lang="en-US" i="1" dirty="0" smtClean="0">
                          <a:latin typeface="Cambria Math" panose="02040503050406030204" pitchFamily="18" charset="0"/>
                          <a:sym typeface="Wingdings" panose="05000000000000000000" pitchFamily="2" charset="2"/>
                        </a:rPr>
                        <m:t></m:t>
                      </m:r>
                      <m:r>
                        <a:rPr lang="en-US" i="1" dirty="0" smtClean="0">
                          <a:latin typeface="Cambria Math" panose="02040503050406030204" pitchFamily="18" charset="0"/>
                        </a:rPr>
                        <m:t> </m:t>
                      </m:r>
                      <m:sSup>
                        <m:sSupPr>
                          <m:ctrlPr>
                            <a:rPr lang="fr-FR" b="0" i="1" dirty="0" smtClean="0">
                              <a:latin typeface="Cambria Math" panose="02040503050406030204" pitchFamily="18" charset="0"/>
                            </a:rPr>
                          </m:ctrlPr>
                        </m:sSupPr>
                        <m:e>
                          <m:r>
                            <a:rPr lang="fr-FR" b="0" i="1" dirty="0" smtClean="0">
                              <a:latin typeface="Cambria Math" panose="02040503050406030204" pitchFamily="18" charset="0"/>
                            </a:rPr>
                            <m:t>𝑄</m:t>
                          </m:r>
                        </m:e>
                        <m:sup>
                          <m:r>
                            <a:rPr lang="fr-FR" b="0" i="1" dirty="0" smtClean="0">
                              <a:latin typeface="Cambria Math" panose="02040503050406030204" pitchFamily="18" charset="0"/>
                            </a:rPr>
                            <m:t>∗</m:t>
                          </m:r>
                        </m:sup>
                      </m:sSup>
                      <m:r>
                        <a:rPr lang="en-US" i="1" dirty="0" smtClean="0">
                          <a:latin typeface="Cambria Math" panose="02040503050406030204" pitchFamily="18" charset="0"/>
                        </a:rPr>
                        <m:t>=</m:t>
                      </m:r>
                      <m:r>
                        <a:rPr lang="en-US" b="0" i="1" dirty="0" smtClean="0">
                          <a:latin typeface="Cambria Math" panose="02040503050406030204" pitchFamily="18" charset="0"/>
                        </a:rPr>
                        <m:t>475</m:t>
                      </m:r>
                    </m:oMath>
                  </m:oMathPara>
                </a14:m>
                <a:endParaRPr lang="en-US" dirty="0"/>
              </a:p>
              <a:p>
                <a:endParaRPr lang="en-US" dirty="0"/>
              </a:p>
              <a:p>
                <a:endParaRPr lang="en-US" dirty="0"/>
              </a:p>
              <a:p>
                <a:pPr marL="0" indent="0">
                  <a:buNone/>
                </a:pPr>
                <a:endParaRPr lang="en-US" dirty="0"/>
              </a:p>
              <a:p>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D1C5DA17-84FF-4F8D-B4FB-DA614D64E8D0}"/>
                  </a:ext>
                </a:extLst>
              </p:cNvPr>
              <p:cNvSpPr>
                <a:spLocks noGrp="1" noRot="1" noChangeAspect="1" noMove="1" noResize="1" noEditPoints="1" noAdjustHandles="1" noChangeArrowheads="1" noChangeShapeType="1" noTextEdit="1"/>
              </p:cNvSpPr>
              <p:nvPr>
                <p:ph type="body" idx="1"/>
              </p:nvPr>
            </p:nvSpPr>
            <p:spPr>
              <a:blipFill>
                <a:blip r:embed="rId3"/>
                <a:stretch>
                  <a:fillRect t="-133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27875A51-D2BB-4D12-A191-D6893AA86433}"/>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sp>
        <p:nvSpPr>
          <p:cNvPr id="6" name="Parallelogram 5">
            <a:extLst>
              <a:ext uri="{FF2B5EF4-FFF2-40B4-BE49-F238E27FC236}">
                <a16:creationId xmlns:a16="http://schemas.microsoft.com/office/drawing/2014/main" id="{CAE9916E-CFA8-4CC8-9B37-5399A17FC9E9}"/>
              </a:ext>
            </a:extLst>
          </p:cNvPr>
          <p:cNvSpPr/>
          <p:nvPr/>
        </p:nvSpPr>
        <p:spPr>
          <a:xfrm>
            <a:off x="4883085" y="6097419"/>
            <a:ext cx="4132593" cy="687801"/>
          </a:xfrm>
          <a:prstGeom prst="parallelogram">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50000" t="50000" r="50000" b="50000"/>
            </a:path>
            <a:tileRect/>
          </a:gradFill>
          <a:ln>
            <a:noFill/>
          </a:ln>
        </p:spPr>
        <p:style>
          <a:lnRef idx="1">
            <a:schemeClr val="accent2"/>
          </a:lnRef>
          <a:fillRef idx="3">
            <a:schemeClr val="accent2"/>
          </a:fillRef>
          <a:effectRef idx="2">
            <a:schemeClr val="accent2"/>
          </a:effectRef>
          <a:fontRef idx="minor">
            <a:schemeClr val="lt1"/>
          </a:fontRef>
        </p:style>
        <p:txBody>
          <a:bodyPr rtlCol="0" anchor="ctr"/>
          <a:lstStyle/>
          <a:p>
            <a:pPr>
              <a:defRPr/>
            </a:pPr>
            <a:r>
              <a:rPr lang="en-US" sz="3200" b="1" i="1" dirty="0">
                <a:solidFill>
                  <a:prstClr val="white"/>
                </a:solidFill>
              </a:rPr>
              <a:t>Yi Family Example</a:t>
            </a:r>
          </a:p>
        </p:txBody>
      </p:sp>
    </p:spTree>
    <p:extLst>
      <p:ext uri="{BB962C8B-B14F-4D97-AF65-F5344CB8AC3E}">
        <p14:creationId xmlns:p14="http://schemas.microsoft.com/office/powerpoint/2010/main" val="1338430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8CB62-6950-458E-98BE-58DF46E32B91}"/>
              </a:ext>
            </a:extLst>
          </p:cNvPr>
          <p:cNvSpPr>
            <a:spLocks noGrp="1"/>
          </p:cNvSpPr>
          <p:nvPr>
            <p:ph type="title"/>
          </p:nvPr>
        </p:nvSpPr>
        <p:spPr/>
        <p:txBody>
          <a:bodyPr/>
          <a:lstStyle/>
          <a:p>
            <a:r>
              <a:rPr lang="en-US" dirty="0"/>
              <a:t>Profit at q*: solution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C5DA17-84FF-4F8D-B4FB-DA614D64E8D0}"/>
                  </a:ext>
                </a:extLst>
              </p:cNvPr>
              <p:cNvSpPr>
                <a:spLocks noGrp="1"/>
              </p:cNvSpPr>
              <p:nvPr>
                <p:ph type="body" idx="1"/>
              </p:nvPr>
            </p:nvSpPr>
            <p:spPr/>
            <p:txBody>
              <a:bodyPr>
                <a:normAutofit fontScale="92500" lnSpcReduction="20000"/>
              </a:bodyPr>
              <a:lstStyle/>
              <a:p>
                <a:r>
                  <a:rPr lang="fr-FR" dirty="0"/>
                  <a:t>W</a:t>
                </a:r>
                <a:r>
                  <a:rPr lang="en-US" dirty="0"/>
                  <a:t>hat is the economic profit of the Yi family at the profit-maximizing output level (</a:t>
                </a:r>
                <a14:m>
                  <m:oMath xmlns:m="http://schemas.openxmlformats.org/officeDocument/2006/math">
                    <m:sSup>
                      <m:sSupPr>
                        <m:ctrlPr>
                          <a:rPr lang="fr-FR" i="1" dirty="0">
                            <a:latin typeface="Cambria Math" panose="02040503050406030204" pitchFamily="18" charset="0"/>
                          </a:rPr>
                        </m:ctrlPr>
                      </m:sSupPr>
                      <m:e>
                        <m:r>
                          <a:rPr lang="fr-FR" i="1" dirty="0">
                            <a:latin typeface="Cambria Math" panose="02040503050406030204" pitchFamily="18" charset="0"/>
                          </a:rPr>
                          <m:t>𝑄</m:t>
                        </m:r>
                      </m:e>
                      <m:sup>
                        <m:r>
                          <a:rPr lang="fr-FR" i="1" dirty="0">
                            <a:latin typeface="Cambria Math" panose="02040503050406030204" pitchFamily="18" charset="0"/>
                          </a:rPr>
                          <m:t>∗</m:t>
                        </m:r>
                      </m:sup>
                    </m:sSup>
                    <m:r>
                      <a:rPr lang="en-US" i="1" dirty="0">
                        <a:latin typeface="Cambria Math" panose="02040503050406030204" pitchFamily="18" charset="0"/>
                      </a:rPr>
                      <m:t>=475</m:t>
                    </m:r>
                  </m:oMath>
                </a14:m>
                <a:r>
                  <a:rPr lang="en-US" dirty="0"/>
                  <a:t>) ?</a:t>
                </a:r>
              </a:p>
              <a:p>
                <a:endParaRPr lang="en-US" dirty="0"/>
              </a:p>
              <a:p>
                <a:r>
                  <a:rPr lang="en-US" dirty="0"/>
                  <a:t>Profit = </a:t>
                </a:r>
                <a:r>
                  <a:rPr lang="en-US" i="1" dirty="0"/>
                  <a:t>TR - TC</a:t>
                </a:r>
              </a:p>
              <a:p>
                <a:pPr lvl="1"/>
                <a:endParaRPr lang="en-US" dirty="0"/>
              </a:p>
              <a:p>
                <a14:m>
                  <m:oMath xmlns:m="http://schemas.openxmlformats.org/officeDocument/2006/math">
                    <m:r>
                      <a:rPr lang="en-US" i="1" dirty="0" smtClean="0">
                        <a:latin typeface="Cambria Math" panose="02040503050406030204" pitchFamily="18" charset="0"/>
                      </a:rPr>
                      <m:t>𝑇𝑅</m:t>
                    </m:r>
                    <m:r>
                      <a:rPr lang="en-US" i="1" dirty="0" smtClean="0">
                        <a:latin typeface="Cambria Math" panose="02040503050406030204" pitchFamily="18" charset="0"/>
                      </a:rPr>
                      <m:t> = </m:t>
                    </m:r>
                    <m:r>
                      <a:rPr lang="en-US" i="1" dirty="0" smtClean="0">
                        <a:latin typeface="Cambria Math" panose="02040503050406030204" pitchFamily="18" charset="0"/>
                      </a:rPr>
                      <m:t>𝑃</m:t>
                    </m:r>
                    <m:r>
                      <a:rPr lang="en-US"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rPr>
                      <m:t>𝑄</m:t>
                    </m:r>
                    <m:r>
                      <a:rPr lang="en-US" i="1" dirty="0" smtClean="0">
                        <a:latin typeface="Cambria Math" panose="02040503050406030204" pitchFamily="18" charset="0"/>
                      </a:rPr>
                      <m:t> = 230∙475 = 109,250</m:t>
                    </m:r>
                  </m:oMath>
                </a14:m>
                <a:endParaRPr lang="en-US" dirty="0"/>
              </a:p>
              <a:p>
                <a:endParaRPr lang="en-US" dirty="0"/>
              </a:p>
              <a:p>
                <a14:m>
                  <m:oMath xmlns:m="http://schemas.openxmlformats.org/officeDocument/2006/math">
                    <m:r>
                      <a:rPr lang="en-US" i="1" dirty="0" smtClean="0">
                        <a:latin typeface="Cambria Math" panose="02040503050406030204" pitchFamily="18" charset="0"/>
                      </a:rPr>
                      <m:t>𝑇𝐶</m:t>
                    </m:r>
                    <m:r>
                      <a:rPr lang="en-US" i="1" dirty="0" smtClean="0">
                        <a:latin typeface="Cambria Math" panose="02040503050406030204" pitchFamily="18" charset="0"/>
                      </a:rPr>
                      <m:t>=30,000+40∙475+0.2∙</m:t>
                    </m:r>
                    <m:sSup>
                      <m:sSupPr>
                        <m:ctrlPr>
                          <a:rPr lang="en-US" b="0" i="1" dirty="0" smtClean="0">
                            <a:latin typeface="Cambria Math" panose="02040503050406030204" pitchFamily="18" charset="0"/>
                          </a:rPr>
                        </m:ctrlPr>
                      </m:sSupPr>
                      <m:e>
                        <m:r>
                          <a:rPr lang="en-US" i="1" dirty="0">
                            <a:latin typeface="Cambria Math" panose="02040503050406030204" pitchFamily="18" charset="0"/>
                          </a:rPr>
                          <m:t>475</m:t>
                        </m:r>
                      </m:e>
                      <m:sup>
                        <m:r>
                          <a:rPr lang="en-US" b="0" i="1" dirty="0" smtClean="0">
                            <a:latin typeface="Cambria Math" panose="02040503050406030204" pitchFamily="18" charset="0"/>
                          </a:rPr>
                          <m:t>2</m:t>
                        </m:r>
                      </m:sup>
                    </m:sSup>
                    <m:r>
                      <a:rPr lang="en-US" i="1" dirty="0">
                        <a:latin typeface="Cambria Math" panose="02040503050406030204" pitchFamily="18" charset="0"/>
                      </a:rPr>
                      <m:t>=</m:t>
                    </m:r>
                    <m:r>
                      <a:rPr lang="en-US" b="0" i="1" dirty="0" smtClean="0">
                        <a:latin typeface="Cambria Math" panose="02040503050406030204" pitchFamily="18" charset="0"/>
                      </a:rPr>
                      <m:t>94,125</m:t>
                    </m:r>
                  </m:oMath>
                </a14:m>
                <a:endParaRPr lang="en-US" dirty="0"/>
              </a:p>
              <a:p>
                <a:endParaRPr lang="en-US" dirty="0"/>
              </a:p>
              <a:p>
                <a:r>
                  <a:rPr lang="en-US" dirty="0"/>
                  <a:t>Profit = </a:t>
                </a:r>
                <a14:m>
                  <m:oMath xmlns:m="http://schemas.openxmlformats.org/officeDocument/2006/math">
                    <m:r>
                      <a:rPr lang="en-US" b="0" i="1" dirty="0" smtClean="0">
                        <a:latin typeface="Cambria Math" panose="02040503050406030204" pitchFamily="18" charset="0"/>
                      </a:rPr>
                      <m:t>109,250−94,125=15,125</m:t>
                    </m:r>
                  </m:oMath>
                </a14:m>
                <a:endParaRPr lang="en-US" dirty="0"/>
              </a:p>
              <a:p>
                <a:endParaRPr lang="en-US" dirty="0"/>
              </a:p>
              <a:p>
                <a:r>
                  <a:rPr lang="en-US" dirty="0"/>
                  <a:t>The Yi family makes </a:t>
                </a:r>
                <a:r>
                  <a:rPr lang="en-US" u="sng" dirty="0"/>
                  <a:t>positive</a:t>
                </a:r>
                <a:r>
                  <a:rPr lang="en-US" dirty="0"/>
                  <a:t> economic profit at the optimal output level </a:t>
                </a:r>
              </a:p>
              <a:p>
                <a:endParaRPr lang="en-US" dirty="0"/>
              </a:p>
              <a:p>
                <a:pPr marL="0" indent="0">
                  <a:buNone/>
                </a:pPr>
                <a:endParaRPr lang="en-US" dirty="0"/>
              </a:p>
              <a:p>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D1C5DA17-84FF-4F8D-B4FB-DA614D64E8D0}"/>
                  </a:ext>
                </a:extLst>
              </p:cNvPr>
              <p:cNvSpPr>
                <a:spLocks noGrp="1" noRot="1" noChangeAspect="1" noMove="1" noResize="1" noEditPoints="1" noAdjustHandles="1" noChangeArrowheads="1" noChangeShapeType="1" noTextEdit="1"/>
              </p:cNvSpPr>
              <p:nvPr>
                <p:ph type="body" idx="1"/>
              </p:nvPr>
            </p:nvSpPr>
            <p:spPr>
              <a:blipFill>
                <a:blip r:embed="rId3"/>
                <a:stretch>
                  <a:fillRect t="-200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27875A51-D2BB-4D12-A191-D6893AA86433}"/>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sp>
        <p:nvSpPr>
          <p:cNvPr id="6" name="Parallelogram 5">
            <a:extLst>
              <a:ext uri="{FF2B5EF4-FFF2-40B4-BE49-F238E27FC236}">
                <a16:creationId xmlns:a16="http://schemas.microsoft.com/office/drawing/2014/main" id="{110339AB-977E-4590-B824-7D69558BFDE7}"/>
              </a:ext>
            </a:extLst>
          </p:cNvPr>
          <p:cNvSpPr/>
          <p:nvPr/>
        </p:nvSpPr>
        <p:spPr>
          <a:xfrm>
            <a:off x="4883085" y="6097419"/>
            <a:ext cx="4132593" cy="687801"/>
          </a:xfrm>
          <a:prstGeom prst="parallelogram">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50000" t="50000" r="50000" b="50000"/>
            </a:path>
            <a:tileRect/>
          </a:gradFill>
          <a:ln>
            <a:noFill/>
          </a:ln>
        </p:spPr>
        <p:style>
          <a:lnRef idx="1">
            <a:schemeClr val="accent2"/>
          </a:lnRef>
          <a:fillRef idx="3">
            <a:schemeClr val="accent2"/>
          </a:fillRef>
          <a:effectRef idx="2">
            <a:schemeClr val="accent2"/>
          </a:effectRef>
          <a:fontRef idx="minor">
            <a:schemeClr val="lt1"/>
          </a:fontRef>
        </p:style>
        <p:txBody>
          <a:bodyPr rtlCol="0" anchor="ctr"/>
          <a:lstStyle/>
          <a:p>
            <a:pPr>
              <a:defRPr/>
            </a:pPr>
            <a:r>
              <a:rPr lang="en-US" sz="3200" b="1" i="1" dirty="0">
                <a:solidFill>
                  <a:prstClr val="white"/>
                </a:solidFill>
              </a:rPr>
              <a:t>Yi Family Example</a:t>
            </a:r>
          </a:p>
        </p:txBody>
      </p:sp>
    </p:spTree>
    <p:extLst>
      <p:ext uri="{BB962C8B-B14F-4D97-AF65-F5344CB8AC3E}">
        <p14:creationId xmlns:p14="http://schemas.microsoft.com/office/powerpoint/2010/main" val="2634316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F79FA-6874-42B0-9687-920E88B0FE9D}"/>
              </a:ext>
            </a:extLst>
          </p:cNvPr>
          <p:cNvSpPr>
            <a:spLocks noGrp="1"/>
          </p:cNvSpPr>
          <p:nvPr>
            <p:ph type="title"/>
          </p:nvPr>
        </p:nvSpPr>
        <p:spPr/>
        <p:txBody>
          <a:bodyPr>
            <a:normAutofit fontScale="90000"/>
          </a:bodyPr>
          <a:lstStyle/>
          <a:p>
            <a:r>
              <a:rPr lang="fr-FR" dirty="0"/>
              <a:t>Profits And </a:t>
            </a:r>
            <a:r>
              <a:rPr lang="fr-FR" dirty="0" err="1"/>
              <a:t>Average</a:t>
            </a:r>
            <a:r>
              <a:rPr lang="fr-FR" dirty="0"/>
              <a:t> Total </a:t>
            </a:r>
            <a:r>
              <a:rPr lang="fr-FR" dirty="0" err="1"/>
              <a:t>Costs</a:t>
            </a:r>
            <a:r>
              <a:rPr lang="fr-FR" dirty="0"/>
              <a:t> (ATC)</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6D174B-C1F8-4A63-8E90-39AF4CEC1408}"/>
                  </a:ext>
                </a:extLst>
              </p:cNvPr>
              <p:cNvSpPr>
                <a:spLocks noGrp="1"/>
              </p:cNvSpPr>
              <p:nvPr>
                <p:ph type="body" idx="1"/>
              </p:nvPr>
            </p:nvSpPr>
            <p:spPr/>
            <p:txBody>
              <a:bodyPr/>
              <a:lstStyle/>
              <a:p>
                <a:r>
                  <a:rPr lang="fr-FR" dirty="0"/>
                  <a:t> Profit     	= </a:t>
                </a:r>
                <a14:m>
                  <m:oMath xmlns:m="http://schemas.openxmlformats.org/officeDocument/2006/math">
                    <m:r>
                      <a:rPr lang="en-US" b="0" i="0" dirty="0" smtClean="0">
                        <a:latin typeface="Cambria Math" panose="02040503050406030204" pitchFamily="18" charset="0"/>
                      </a:rPr>
                      <m:t>    </m:t>
                    </m:r>
                    <m:r>
                      <a:rPr lang="fr-FR" i="1" dirty="0" smtClean="0">
                        <a:latin typeface="Cambria Math" panose="02040503050406030204" pitchFamily="18" charset="0"/>
                      </a:rPr>
                      <m:t>𝑇𝑅</m:t>
                    </m:r>
                    <m:r>
                      <a:rPr lang="fr-FR" i="1" dirty="0" smtClean="0">
                        <a:latin typeface="Cambria Math" panose="02040503050406030204" pitchFamily="18" charset="0"/>
                      </a:rPr>
                      <m:t>   −     </m:t>
                    </m:r>
                    <m:r>
                      <a:rPr lang="fr-FR" i="1" dirty="0" smtClean="0">
                        <a:latin typeface="Cambria Math" panose="02040503050406030204" pitchFamily="18" charset="0"/>
                      </a:rPr>
                      <m:t>𝑇𝐶</m:t>
                    </m:r>
                  </m:oMath>
                </a14:m>
                <a:endParaRPr lang="fr-FR" dirty="0"/>
              </a:p>
              <a:p>
                <a:pPr marL="0" indent="0">
                  <a:buNone/>
                </a:pPr>
                <a:r>
                  <a:rPr lang="fr-FR" dirty="0"/>
                  <a:t>                 	= </a:t>
                </a:r>
                <a14:m>
                  <m:oMath xmlns:m="http://schemas.openxmlformats.org/officeDocument/2006/math">
                    <m:d>
                      <m:dPr>
                        <m:ctrlPr>
                          <a:rPr lang="fr-FR" i="1" dirty="0" smtClean="0">
                            <a:latin typeface="Cambria Math" panose="02040503050406030204" pitchFamily="18" charset="0"/>
                          </a:rPr>
                        </m:ctrlPr>
                      </m:dPr>
                      <m:e>
                        <m:r>
                          <a:rPr lang="fr-FR" i="1" dirty="0" smtClean="0">
                            <a:latin typeface="Cambria Math" panose="02040503050406030204" pitchFamily="18" charset="0"/>
                          </a:rPr>
                          <m:t>𝑃</m:t>
                        </m:r>
                        <m:r>
                          <a:rPr lang="fr-FR" i="1" dirty="0" smtClean="0">
                            <a:latin typeface="Cambria Math" panose="02040503050406030204" pitchFamily="18" charset="0"/>
                          </a:rPr>
                          <m:t>∙</m:t>
                        </m:r>
                        <m:r>
                          <a:rPr lang="fr-FR" i="1" dirty="0" smtClean="0">
                            <a:latin typeface="Cambria Math" panose="02040503050406030204" pitchFamily="18" charset="0"/>
                          </a:rPr>
                          <m:t>𝑄</m:t>
                        </m:r>
                      </m:e>
                    </m:d>
                    <m:r>
                      <a:rPr lang="fr-FR" i="1" dirty="0" smtClean="0">
                        <a:latin typeface="Cambria Math" panose="02040503050406030204" pitchFamily="18" charset="0"/>
                      </a:rPr>
                      <m:t>−(</m:t>
                    </m:r>
                    <m:r>
                      <a:rPr lang="fr-FR" i="1" dirty="0" smtClean="0">
                        <a:latin typeface="Cambria Math" panose="02040503050406030204" pitchFamily="18" charset="0"/>
                      </a:rPr>
                      <m:t>𝐴𝑇𝐶</m:t>
                    </m:r>
                    <m:r>
                      <a:rPr lang="fr-FR" i="1" dirty="0" smtClean="0">
                        <a:latin typeface="Cambria Math" panose="02040503050406030204" pitchFamily="18" charset="0"/>
                      </a:rPr>
                      <m:t>∙</m:t>
                    </m:r>
                    <m:r>
                      <a:rPr lang="fr-FR" i="1" dirty="0" smtClean="0">
                        <a:latin typeface="Cambria Math" panose="02040503050406030204" pitchFamily="18" charset="0"/>
                      </a:rPr>
                      <m:t>𝑄</m:t>
                    </m:r>
                    <m:r>
                      <a:rPr lang="fr-FR" i="1" dirty="0" smtClean="0">
                        <a:latin typeface="Cambria Math" panose="02040503050406030204" pitchFamily="18" charset="0"/>
                      </a:rPr>
                      <m:t>)</m:t>
                    </m:r>
                  </m:oMath>
                </a14:m>
                <a:endParaRPr lang="fr-FR" dirty="0"/>
              </a:p>
              <a:p>
                <a:pPr marL="0" indent="0">
                  <a:spcBef>
                    <a:spcPts val="1800"/>
                  </a:spcBef>
                  <a:buNone/>
                </a:pPr>
                <a:r>
                  <a:rPr lang="fr-FR" dirty="0"/>
                  <a:t>    </a:t>
                </a:r>
                <a:r>
                  <a:rPr lang="fr-FR" dirty="0">
                    <a:sym typeface="Wingdings" panose="05000000000000000000" pitchFamily="2" charset="2"/>
                  </a:rPr>
                  <a:t>  </a:t>
                </a:r>
                <a:r>
                  <a:rPr lang="fr-FR" dirty="0"/>
                  <a:t>Profit 	= </a:t>
                </a:r>
                <a14:m>
                  <m:oMath xmlns:m="http://schemas.openxmlformats.org/officeDocument/2006/math">
                    <m:r>
                      <a:rPr lang="fr-FR" i="1" dirty="0" smtClean="0">
                        <a:latin typeface="Cambria Math" panose="02040503050406030204" pitchFamily="18" charset="0"/>
                      </a:rPr>
                      <m:t>(</m:t>
                    </m:r>
                    <m:r>
                      <a:rPr lang="fr-FR" i="1" dirty="0" smtClean="0">
                        <a:solidFill>
                          <a:srgbClr val="C00000"/>
                        </a:solidFill>
                        <a:latin typeface="Cambria Math" panose="02040503050406030204" pitchFamily="18" charset="0"/>
                      </a:rPr>
                      <m:t>𝑃</m:t>
                    </m:r>
                    <m:r>
                      <a:rPr lang="fr-FR" i="1" dirty="0" smtClean="0">
                        <a:solidFill>
                          <a:srgbClr val="C00000"/>
                        </a:solidFill>
                        <a:latin typeface="Cambria Math" panose="02040503050406030204" pitchFamily="18" charset="0"/>
                      </a:rPr>
                      <m:t>−</m:t>
                    </m:r>
                    <m:r>
                      <a:rPr lang="fr-FR" i="1" dirty="0" smtClean="0">
                        <a:solidFill>
                          <a:srgbClr val="C00000"/>
                        </a:solidFill>
                        <a:latin typeface="Cambria Math" panose="02040503050406030204" pitchFamily="18" charset="0"/>
                      </a:rPr>
                      <m:t>𝐴𝑇𝐶</m:t>
                    </m:r>
                    <m:r>
                      <a:rPr lang="fr-FR" i="1" dirty="0" smtClean="0">
                        <a:latin typeface="Cambria Math" panose="02040503050406030204" pitchFamily="18" charset="0"/>
                      </a:rPr>
                      <m:t>)∙</m:t>
                    </m:r>
                    <m:r>
                      <a:rPr lang="fr-FR" i="1" dirty="0" smtClean="0">
                        <a:latin typeface="Cambria Math" panose="02040503050406030204" pitchFamily="18" charset="0"/>
                      </a:rPr>
                      <m:t>𝑄</m:t>
                    </m:r>
                  </m:oMath>
                </a14:m>
                <a:endParaRPr lang="fr-FR" dirty="0"/>
              </a:p>
              <a:p>
                <a:pPr marL="0" indent="0">
                  <a:buNone/>
                </a:pPr>
                <a:endParaRPr lang="fr-FR" dirty="0"/>
              </a:p>
              <a:p>
                <a:r>
                  <a:rPr lang="fr-FR" dirty="0"/>
                  <a:t>Profit </a:t>
                </a:r>
                <a:r>
                  <a:rPr lang="fr-FR" dirty="0" err="1"/>
                  <a:t>is</a:t>
                </a:r>
                <a:r>
                  <a:rPr lang="fr-FR" dirty="0"/>
                  <a:t> positive if </a:t>
                </a:r>
                <a14:m>
                  <m:oMath xmlns:m="http://schemas.openxmlformats.org/officeDocument/2006/math">
                    <m:r>
                      <a:rPr lang="fr-FR" b="0" i="1" smtClean="0">
                        <a:latin typeface="Cambria Math" panose="02040503050406030204" pitchFamily="18" charset="0"/>
                      </a:rPr>
                      <m:t>𝑃</m:t>
                    </m:r>
                    <m:r>
                      <a:rPr lang="fr-FR" b="0" i="1" smtClean="0">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𝐴𝑇𝐶</m:t>
                    </m:r>
                  </m:oMath>
                </a14:m>
                <a:endParaRPr lang="fr-FR" dirty="0"/>
              </a:p>
              <a:p>
                <a:endParaRPr lang="fr-FR" dirty="0"/>
              </a:p>
            </p:txBody>
          </p:sp>
        </mc:Choice>
        <mc:Fallback xmlns="">
          <p:sp>
            <p:nvSpPr>
              <p:cNvPr id="3" name="Content Placeholder 2">
                <a:extLst>
                  <a:ext uri="{FF2B5EF4-FFF2-40B4-BE49-F238E27FC236}">
                    <a16:creationId xmlns:a16="http://schemas.microsoft.com/office/drawing/2014/main" id="{AB6D174B-C1F8-4A63-8E90-39AF4CEC1408}"/>
                  </a:ext>
                </a:extLst>
              </p:cNvPr>
              <p:cNvSpPr>
                <a:spLocks noGrp="1" noRot="1" noChangeAspect="1" noMove="1" noResize="1" noEditPoints="1" noAdjustHandles="1" noChangeArrowheads="1" noChangeShapeType="1" noTextEdit="1"/>
              </p:cNvSpPr>
              <p:nvPr>
                <p:ph idx="1"/>
              </p:nvPr>
            </p:nvSpPr>
            <p:spPr>
              <a:xfrm>
                <a:off x="457200" y="2200275"/>
                <a:ext cx="8229600" cy="3745673"/>
              </a:xfrm>
              <a:blipFill>
                <a:blip r:embed="rId2"/>
                <a:stretch>
                  <a:fillRect l="-1778" t="-3257"/>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30E67BF5-8886-4FB9-9E7D-55C2D68E55FC}"/>
              </a:ext>
            </a:extLst>
          </p:cNvPr>
          <p:cNvSpPr/>
          <p:nvPr/>
        </p:nvSpPr>
        <p:spPr>
          <a:xfrm>
            <a:off x="1352550" y="3276600"/>
            <a:ext cx="3686175" cy="666750"/>
          </a:xfrm>
          <a:prstGeom prst="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9668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5E279-002E-4BFA-ACC4-9A46E01D3061}"/>
              </a:ext>
            </a:extLst>
          </p:cNvPr>
          <p:cNvSpPr>
            <a:spLocks noGrp="1"/>
          </p:cNvSpPr>
          <p:nvPr>
            <p:ph type="title"/>
          </p:nvPr>
        </p:nvSpPr>
        <p:spPr/>
        <p:txBody>
          <a:bodyPr>
            <a:normAutofit fontScale="90000"/>
          </a:bodyPr>
          <a:lstStyle/>
          <a:p>
            <a:r>
              <a:rPr lang="en-US" sz="2800" dirty="0"/>
              <a:t>Illustrating Positive Profits of the Yi Family</a:t>
            </a:r>
            <a:endParaRPr lang="en-US" sz="2800" dirty="0">
              <a:latin typeface="Whitney-Medium" pitchFamily="50" charset="0"/>
              <a:cs typeface="Whitney-Medium" pitchFamily="50" charset="0"/>
            </a:endParaRPr>
          </a:p>
        </p:txBody>
      </p:sp>
      <p:grpSp>
        <p:nvGrpSpPr>
          <p:cNvPr id="4" name="Group 35">
            <a:extLst>
              <a:ext uri="{FF2B5EF4-FFF2-40B4-BE49-F238E27FC236}">
                <a16:creationId xmlns:a16="http://schemas.microsoft.com/office/drawing/2014/main" id="{EF0D24F5-5A9F-4D51-9669-5E9AFC359B1C}"/>
              </a:ext>
            </a:extLst>
          </p:cNvPr>
          <p:cNvGrpSpPr>
            <a:grpSpLocks/>
          </p:cNvGrpSpPr>
          <p:nvPr/>
        </p:nvGrpSpPr>
        <p:grpSpPr bwMode="auto">
          <a:xfrm>
            <a:off x="1061231" y="1271526"/>
            <a:ext cx="7012909" cy="4332953"/>
            <a:chOff x="559" y="1020"/>
            <a:chExt cx="4199" cy="2592"/>
          </a:xfrm>
        </p:grpSpPr>
        <p:sp>
          <p:nvSpPr>
            <p:cNvPr id="5" name="Rectangle 4">
              <a:extLst>
                <a:ext uri="{FF2B5EF4-FFF2-40B4-BE49-F238E27FC236}">
                  <a16:creationId xmlns:a16="http://schemas.microsoft.com/office/drawing/2014/main" id="{2112D0F3-8D7E-41A9-A0C3-802B3CF06311}"/>
                </a:ext>
              </a:extLst>
            </p:cNvPr>
            <p:cNvSpPr>
              <a:spLocks noChangeArrowheads="1"/>
            </p:cNvSpPr>
            <p:nvPr/>
          </p:nvSpPr>
          <p:spPr bwMode="auto">
            <a:xfrm>
              <a:off x="559" y="1020"/>
              <a:ext cx="186" cy="37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latin typeface="Whitney Book" pitchFamily="50" charset="0"/>
                  <a:cs typeface="Whitney Book" pitchFamily="50" charset="0"/>
                </a:rPr>
                <a:t>P</a:t>
              </a:r>
            </a:p>
          </p:txBody>
        </p:sp>
        <p:sp>
          <p:nvSpPr>
            <p:cNvPr id="6" name="Line 6">
              <a:extLst>
                <a:ext uri="{FF2B5EF4-FFF2-40B4-BE49-F238E27FC236}">
                  <a16:creationId xmlns:a16="http://schemas.microsoft.com/office/drawing/2014/main" id="{9B60ACA6-CAF2-46D4-ACB5-D9D23CE23CCB}"/>
                </a:ext>
              </a:extLst>
            </p:cNvPr>
            <p:cNvSpPr>
              <a:spLocks noChangeShapeType="1"/>
            </p:cNvSpPr>
            <p:nvPr/>
          </p:nvSpPr>
          <p:spPr bwMode="auto">
            <a:xfrm>
              <a:off x="729" y="1168"/>
              <a:ext cx="0" cy="2160"/>
            </a:xfrm>
            <a:prstGeom prst="line">
              <a:avLst/>
            </a:prstGeom>
            <a:noFill/>
            <a:ln w="50800">
              <a:solidFill>
                <a:schemeClr val="tx1"/>
              </a:solidFill>
              <a:round/>
              <a:headEnd type="arrow" w="sm" len="sm"/>
              <a:tailEnd type="none" w="sm" len="sm"/>
            </a:ln>
            <a:effectLst/>
          </p:spPr>
          <p:txBody>
            <a:bodyPr wrap="none" anchor="ctr"/>
            <a:lstStyle/>
            <a:p>
              <a:endParaRPr lang="en-US" b="0">
                <a:latin typeface="Whitney Book" pitchFamily="50" charset="0"/>
                <a:cs typeface="Whitney Book" pitchFamily="50" charset="0"/>
              </a:endParaRPr>
            </a:p>
          </p:txBody>
        </p:sp>
        <p:sp>
          <p:nvSpPr>
            <p:cNvPr id="7" name="Line 7">
              <a:extLst>
                <a:ext uri="{FF2B5EF4-FFF2-40B4-BE49-F238E27FC236}">
                  <a16:creationId xmlns:a16="http://schemas.microsoft.com/office/drawing/2014/main" id="{5CA90566-A192-42F6-9891-CB9F82DBCF3A}"/>
                </a:ext>
              </a:extLst>
            </p:cNvPr>
            <p:cNvSpPr>
              <a:spLocks noChangeShapeType="1"/>
            </p:cNvSpPr>
            <p:nvPr/>
          </p:nvSpPr>
          <p:spPr bwMode="auto">
            <a:xfrm>
              <a:off x="723" y="3340"/>
              <a:ext cx="3588" cy="0"/>
            </a:xfrm>
            <a:prstGeom prst="line">
              <a:avLst/>
            </a:prstGeom>
            <a:noFill/>
            <a:ln w="50800">
              <a:solidFill>
                <a:schemeClr val="tx1"/>
              </a:solidFill>
              <a:round/>
              <a:headEnd type="none" w="sm" len="sm"/>
              <a:tailEnd type="arrow" w="sm" len="sm"/>
            </a:ln>
            <a:effectLst/>
          </p:spPr>
          <p:txBody>
            <a:bodyPr wrap="none" anchor="ctr"/>
            <a:lstStyle/>
            <a:p>
              <a:endParaRPr lang="en-US" b="0">
                <a:latin typeface="Whitney Book" pitchFamily="50" charset="0"/>
                <a:cs typeface="Whitney Book" pitchFamily="50" charset="0"/>
              </a:endParaRPr>
            </a:p>
          </p:txBody>
        </p:sp>
        <p:sp>
          <p:nvSpPr>
            <p:cNvPr id="8" name="Rectangle 7">
              <a:extLst>
                <a:ext uri="{FF2B5EF4-FFF2-40B4-BE49-F238E27FC236}">
                  <a16:creationId xmlns:a16="http://schemas.microsoft.com/office/drawing/2014/main" id="{9EC1E57E-C019-4301-979D-0AAD61488C34}"/>
                </a:ext>
              </a:extLst>
            </p:cNvPr>
            <p:cNvSpPr>
              <a:spLocks noChangeArrowheads="1"/>
            </p:cNvSpPr>
            <p:nvPr/>
          </p:nvSpPr>
          <p:spPr bwMode="auto">
            <a:xfrm>
              <a:off x="4334" y="3236"/>
              <a:ext cx="424" cy="37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latin typeface="Whitney Book" pitchFamily="50" charset="0"/>
                  <a:cs typeface="Whitney Book" pitchFamily="50" charset="0"/>
                </a:rPr>
                <a:t>Q</a:t>
              </a:r>
            </a:p>
          </p:txBody>
        </p:sp>
      </p:grpSp>
      <p:grpSp>
        <p:nvGrpSpPr>
          <p:cNvPr id="18" name="Group 17">
            <a:extLst>
              <a:ext uri="{FF2B5EF4-FFF2-40B4-BE49-F238E27FC236}">
                <a16:creationId xmlns:a16="http://schemas.microsoft.com/office/drawing/2014/main" id="{059F347B-5B4F-443E-BAC6-248E26908EFD}"/>
              </a:ext>
            </a:extLst>
          </p:cNvPr>
          <p:cNvGrpSpPr/>
          <p:nvPr/>
        </p:nvGrpSpPr>
        <p:grpSpPr>
          <a:xfrm>
            <a:off x="731714" y="2674387"/>
            <a:ext cx="7800339" cy="660752"/>
            <a:chOff x="731714" y="2680805"/>
            <a:chExt cx="7800339" cy="660752"/>
          </a:xfrm>
        </p:grpSpPr>
        <p:sp>
          <p:nvSpPr>
            <p:cNvPr id="25" name="Rectangle 24">
              <a:extLst>
                <a:ext uri="{FF2B5EF4-FFF2-40B4-BE49-F238E27FC236}">
                  <a16:creationId xmlns:a16="http://schemas.microsoft.com/office/drawing/2014/main" id="{B39233DB-3CB5-4E38-BFB3-8C59E48B5FE4}"/>
                </a:ext>
              </a:extLst>
            </p:cNvPr>
            <p:cNvSpPr>
              <a:spLocks noChangeArrowheads="1"/>
            </p:cNvSpPr>
            <p:nvPr/>
          </p:nvSpPr>
          <p:spPr bwMode="auto">
            <a:xfrm>
              <a:off x="731714" y="2680805"/>
              <a:ext cx="659034"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000" dirty="0">
                  <a:latin typeface="Whitney Book" pitchFamily="50" charset="0"/>
                  <a:cs typeface="Whitney Book" pitchFamily="50" charset="0"/>
                </a:rPr>
                <a:t>230</a:t>
              </a:r>
              <a:endParaRPr lang="en-US" sz="2000" b="0" dirty="0">
                <a:latin typeface="Whitney Book" pitchFamily="50" charset="0"/>
                <a:cs typeface="Whitney Book" pitchFamily="50" charset="0"/>
              </a:endParaRPr>
            </a:p>
          </p:txBody>
        </p:sp>
        <p:grpSp>
          <p:nvGrpSpPr>
            <p:cNvPr id="16" name="Group 15">
              <a:extLst>
                <a:ext uri="{FF2B5EF4-FFF2-40B4-BE49-F238E27FC236}">
                  <a16:creationId xmlns:a16="http://schemas.microsoft.com/office/drawing/2014/main" id="{83C9A0D6-70DD-424A-93F8-36326830C9CF}"/>
                </a:ext>
              </a:extLst>
            </p:cNvPr>
            <p:cNvGrpSpPr/>
            <p:nvPr/>
          </p:nvGrpSpPr>
          <p:grpSpPr>
            <a:xfrm>
              <a:off x="1345156" y="2713011"/>
              <a:ext cx="7186897" cy="628546"/>
              <a:chOff x="1345156" y="2713011"/>
              <a:chExt cx="7186897" cy="628546"/>
            </a:xfrm>
          </p:grpSpPr>
          <p:cxnSp>
            <p:nvCxnSpPr>
              <p:cNvPr id="27" name="Straight Connector 26">
                <a:extLst>
                  <a:ext uri="{FF2B5EF4-FFF2-40B4-BE49-F238E27FC236}">
                    <a16:creationId xmlns:a16="http://schemas.microsoft.com/office/drawing/2014/main" id="{0996AF36-CEFE-4FB4-8A21-7B6B315D4DB4}"/>
                  </a:ext>
                </a:extLst>
              </p:cNvPr>
              <p:cNvCxnSpPr>
                <a:cxnSpLocks/>
              </p:cNvCxnSpPr>
              <p:nvPr/>
            </p:nvCxnSpPr>
            <p:spPr>
              <a:xfrm flipV="1">
                <a:off x="1345156" y="2893414"/>
                <a:ext cx="5864372" cy="22656"/>
              </a:xfrm>
              <a:prstGeom prst="line">
                <a:avLst/>
              </a:prstGeom>
              <a:ln>
                <a:solidFill>
                  <a:srgbClr val="C00000"/>
                </a:solidFill>
                <a:headEnd type="none" w="med" len="med"/>
                <a:tailEnd type="none" w="med" len="med"/>
              </a:ln>
            </p:spPr>
            <p:style>
              <a:lnRef idx="3">
                <a:schemeClr val="accent1"/>
              </a:lnRef>
              <a:fillRef idx="0">
                <a:schemeClr val="accent1"/>
              </a:fillRef>
              <a:effectRef idx="2">
                <a:schemeClr val="accent1"/>
              </a:effectRef>
              <a:fontRef idx="minor">
                <a:schemeClr val="tx1"/>
              </a:fontRef>
            </p:style>
          </p:cxnSp>
          <p:sp>
            <p:nvSpPr>
              <p:cNvPr id="29" name="Rectangle 17">
                <a:extLst>
                  <a:ext uri="{FF2B5EF4-FFF2-40B4-BE49-F238E27FC236}">
                    <a16:creationId xmlns:a16="http://schemas.microsoft.com/office/drawing/2014/main" id="{2FA724EC-D52B-49B9-856F-85370F8C0119}"/>
                  </a:ext>
                </a:extLst>
              </p:cNvPr>
              <p:cNvSpPr>
                <a:spLocks noChangeArrowheads="1"/>
              </p:cNvSpPr>
              <p:nvPr/>
            </p:nvSpPr>
            <p:spPr bwMode="auto">
              <a:xfrm>
                <a:off x="7409721" y="2713011"/>
                <a:ext cx="1122332"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solidFill>
                      <a:srgbClr val="C00000"/>
                    </a:solidFill>
                    <a:latin typeface="Whitney Book" pitchFamily="50" charset="0"/>
                    <a:cs typeface="Whitney Book" pitchFamily="50" charset="0"/>
                  </a:rPr>
                  <a:t>P=MR</a:t>
                </a:r>
              </a:p>
            </p:txBody>
          </p:sp>
        </p:grpSp>
      </p:grpSp>
      <p:grpSp>
        <p:nvGrpSpPr>
          <p:cNvPr id="20" name="Group 19">
            <a:extLst>
              <a:ext uri="{FF2B5EF4-FFF2-40B4-BE49-F238E27FC236}">
                <a16:creationId xmlns:a16="http://schemas.microsoft.com/office/drawing/2014/main" id="{5E4F1ED0-E654-4683-977B-B0B353084FE6}"/>
              </a:ext>
            </a:extLst>
          </p:cNvPr>
          <p:cNvGrpSpPr/>
          <p:nvPr/>
        </p:nvGrpSpPr>
        <p:grpSpPr>
          <a:xfrm>
            <a:off x="4874659" y="2886996"/>
            <a:ext cx="828388" cy="2924846"/>
            <a:chOff x="4052573" y="2916070"/>
            <a:chExt cx="828388" cy="2924846"/>
          </a:xfrm>
        </p:grpSpPr>
        <p:cxnSp>
          <p:nvCxnSpPr>
            <p:cNvPr id="31" name="Straight Connector 30">
              <a:extLst>
                <a:ext uri="{FF2B5EF4-FFF2-40B4-BE49-F238E27FC236}">
                  <a16:creationId xmlns:a16="http://schemas.microsoft.com/office/drawing/2014/main" id="{09240B1C-13E8-468D-AB1C-B4D1E486A8A8}"/>
                </a:ext>
              </a:extLst>
            </p:cNvPr>
            <p:cNvCxnSpPr/>
            <p:nvPr/>
          </p:nvCxnSpPr>
          <p:spPr>
            <a:xfrm>
              <a:off x="4295317" y="2916070"/>
              <a:ext cx="0" cy="2213657"/>
            </a:xfrm>
            <a:prstGeom prst="line">
              <a:avLst/>
            </a:prstGeom>
            <a:ln w="28575" cap="flat" cmpd="sng" algn="ctr">
              <a:solidFill>
                <a:schemeClr val="dk1"/>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2" name="Rectangle 31">
              <a:extLst>
                <a:ext uri="{FF2B5EF4-FFF2-40B4-BE49-F238E27FC236}">
                  <a16:creationId xmlns:a16="http://schemas.microsoft.com/office/drawing/2014/main" id="{06C1783E-99B3-47B3-B788-10559FD1019C}"/>
                </a:ext>
              </a:extLst>
            </p:cNvPr>
            <p:cNvSpPr>
              <a:spLocks noChangeArrowheads="1"/>
            </p:cNvSpPr>
            <p:nvPr/>
          </p:nvSpPr>
          <p:spPr bwMode="auto">
            <a:xfrm>
              <a:off x="4052573" y="5212370"/>
              <a:ext cx="828388"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latin typeface="Whitney Book" pitchFamily="50" charset="0"/>
                  <a:cs typeface="Whitney Book" pitchFamily="50" charset="0"/>
                </a:rPr>
                <a:t>Q</a:t>
              </a:r>
              <a:r>
                <a:rPr lang="en-US" sz="2800" b="0" dirty="0">
                  <a:latin typeface="Whitney Book" pitchFamily="50" charset="0"/>
                  <a:cs typeface="Whitney Book" pitchFamily="50" charset="0"/>
                </a:rPr>
                <a:t>*=475</a:t>
              </a:r>
            </a:p>
          </p:txBody>
        </p:sp>
      </p:grpSp>
      <p:grpSp>
        <p:nvGrpSpPr>
          <p:cNvPr id="22" name="Group 21">
            <a:extLst>
              <a:ext uri="{FF2B5EF4-FFF2-40B4-BE49-F238E27FC236}">
                <a16:creationId xmlns:a16="http://schemas.microsoft.com/office/drawing/2014/main" id="{7AD28C84-4307-41CC-B6D0-38E313AE9011}"/>
              </a:ext>
            </a:extLst>
          </p:cNvPr>
          <p:cNvGrpSpPr/>
          <p:nvPr/>
        </p:nvGrpSpPr>
        <p:grpSpPr>
          <a:xfrm>
            <a:off x="1354456" y="2930345"/>
            <a:ext cx="3730637" cy="667990"/>
            <a:chOff x="1363615" y="2930345"/>
            <a:chExt cx="2989598" cy="960992"/>
          </a:xfrm>
        </p:grpSpPr>
        <p:cxnSp>
          <p:nvCxnSpPr>
            <p:cNvPr id="33" name="Straight Connector 32">
              <a:extLst>
                <a:ext uri="{FF2B5EF4-FFF2-40B4-BE49-F238E27FC236}">
                  <a16:creationId xmlns:a16="http://schemas.microsoft.com/office/drawing/2014/main" id="{F6B890C6-E91E-4F75-B0AB-3A4A83503BB9}"/>
                </a:ext>
              </a:extLst>
            </p:cNvPr>
            <p:cNvCxnSpPr>
              <a:cxnSpLocks/>
            </p:cNvCxnSpPr>
            <p:nvPr/>
          </p:nvCxnSpPr>
          <p:spPr>
            <a:xfrm>
              <a:off x="1390748" y="3891337"/>
              <a:ext cx="2914210" cy="0"/>
            </a:xfrm>
            <a:prstGeom prst="line">
              <a:avLst/>
            </a:prstGeom>
            <a:ln w="28575" cap="flat" cmpd="sng" algn="ctr">
              <a:solidFill>
                <a:schemeClr val="dk1"/>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4" name="Rectangle 31">
              <a:extLst>
                <a:ext uri="{FF2B5EF4-FFF2-40B4-BE49-F238E27FC236}">
                  <a16:creationId xmlns:a16="http://schemas.microsoft.com/office/drawing/2014/main" id="{43A39BC9-4470-41F0-92D6-2AE9201C2930}"/>
                </a:ext>
              </a:extLst>
            </p:cNvPr>
            <p:cNvSpPr>
              <a:spLocks noChangeArrowheads="1"/>
            </p:cNvSpPr>
            <p:nvPr/>
          </p:nvSpPr>
          <p:spPr bwMode="auto">
            <a:xfrm>
              <a:off x="1363615" y="2930345"/>
              <a:ext cx="2989598" cy="944925"/>
            </a:xfrm>
            <a:prstGeom prst="rect">
              <a:avLst/>
            </a:prstGeom>
            <a:gradFill rotWithShape="0">
              <a:gsLst>
                <a:gs pos="0">
                  <a:srgbClr val="FF557C">
                    <a:gamma/>
                    <a:tint val="0"/>
                    <a:invGamma/>
                  </a:srgbClr>
                </a:gs>
                <a:gs pos="100000">
                  <a:schemeClr val="accent4">
                    <a:lumMod val="60000"/>
                    <a:lumOff val="40000"/>
                  </a:schemeClr>
                </a:gs>
              </a:gsLst>
              <a:path path="shape">
                <a:fillToRect l="50000" t="50000" r="50000" b="50000"/>
              </a:path>
            </a:gradFill>
            <a:ln w="9525">
              <a:solidFill>
                <a:srgbClr val="FFC000"/>
              </a:solidFill>
              <a:miter lim="800000"/>
              <a:headEnd/>
              <a:tailEnd/>
            </a:ln>
            <a:effectLst/>
          </p:spPr>
          <p:txBody>
            <a:bodyPr wrap="none" anchor="ctr"/>
            <a:lstStyle/>
            <a:p>
              <a:endParaRPr lang="en-US" b="0">
                <a:latin typeface="Whitney Book" pitchFamily="50" charset="0"/>
                <a:cs typeface="Whitney Book" pitchFamily="50" charset="0"/>
              </a:endParaRPr>
            </a:p>
          </p:txBody>
        </p:sp>
        <p:sp>
          <p:nvSpPr>
            <p:cNvPr id="46" name="Rectangle 33">
              <a:extLst>
                <a:ext uri="{FF2B5EF4-FFF2-40B4-BE49-F238E27FC236}">
                  <a16:creationId xmlns:a16="http://schemas.microsoft.com/office/drawing/2014/main" id="{D4526969-F74A-4A56-A88F-C81D8EF28DDC}"/>
                </a:ext>
              </a:extLst>
            </p:cNvPr>
            <p:cNvSpPr>
              <a:spLocks noChangeArrowheads="1"/>
            </p:cNvSpPr>
            <p:nvPr/>
          </p:nvSpPr>
          <p:spPr bwMode="auto">
            <a:xfrm>
              <a:off x="1823458" y="3154365"/>
              <a:ext cx="2039082" cy="599632"/>
            </a:xfrm>
            <a:prstGeom prst="rect">
              <a:avLst/>
            </a:prstGeom>
            <a:noFill/>
            <a:ln w="9525">
              <a:noFill/>
              <a:miter lim="800000"/>
              <a:headEnd/>
              <a:tailEnd/>
            </a:ln>
            <a:effectLst/>
          </p:spPr>
          <p:txBody>
            <a:bodyPr wrap="none" lIns="19050" tIns="26988" rIns="19050" bIns="26988" anchor="ctr" anchorCtr="0"/>
            <a:lstStyle/>
            <a:p>
              <a:pPr algn="ctr">
                <a:lnSpc>
                  <a:spcPts val="2947"/>
                </a:lnSpc>
                <a:tabLst>
                  <a:tab pos="481157" algn="l"/>
                  <a:tab pos="962315" algn="l"/>
                  <a:tab pos="1443472" algn="l"/>
                </a:tabLst>
              </a:pPr>
              <a:r>
                <a:rPr lang="en-US" sz="2800" b="0" dirty="0">
                  <a:latin typeface="Whitney Book" pitchFamily="50" charset="0"/>
                  <a:cs typeface="Whitney Book" pitchFamily="50" charset="0"/>
                </a:rPr>
                <a:t>Profit</a:t>
              </a:r>
            </a:p>
          </p:txBody>
        </p:sp>
      </p:grpSp>
      <p:grpSp>
        <p:nvGrpSpPr>
          <p:cNvPr id="19" name="Group 18">
            <a:extLst>
              <a:ext uri="{FF2B5EF4-FFF2-40B4-BE49-F238E27FC236}">
                <a16:creationId xmlns:a16="http://schemas.microsoft.com/office/drawing/2014/main" id="{318EBB47-FEEB-4550-B337-BC1C986E3371}"/>
              </a:ext>
            </a:extLst>
          </p:cNvPr>
          <p:cNvGrpSpPr/>
          <p:nvPr/>
        </p:nvGrpSpPr>
        <p:grpSpPr>
          <a:xfrm>
            <a:off x="901270" y="1797313"/>
            <a:ext cx="6634963" cy="3495041"/>
            <a:chOff x="901270" y="1797313"/>
            <a:chExt cx="6634963" cy="3495041"/>
          </a:xfrm>
        </p:grpSpPr>
        <mc:AlternateContent xmlns:mc="http://schemas.openxmlformats.org/markup-compatibility/2006" xmlns:a14="http://schemas.microsoft.com/office/drawing/2010/main">
          <mc:Choice Requires="a14">
            <p:sp>
              <p:nvSpPr>
                <p:cNvPr id="23" name="Rectangle 17">
                  <a:extLst>
                    <a:ext uri="{FF2B5EF4-FFF2-40B4-BE49-F238E27FC236}">
                      <a16:creationId xmlns:a16="http://schemas.microsoft.com/office/drawing/2014/main" id="{F70C19FB-A6EC-4A87-A0B0-7097BCD58C7B}"/>
                    </a:ext>
                  </a:extLst>
                </p:cNvPr>
                <p:cNvSpPr>
                  <a:spLocks noChangeArrowheads="1"/>
                </p:cNvSpPr>
                <p:nvPr/>
              </p:nvSpPr>
              <p:spPr bwMode="auto">
                <a:xfrm>
                  <a:off x="6413901" y="1797313"/>
                  <a:ext cx="1122332"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14:m>
                    <m:oMathPara xmlns:m="http://schemas.openxmlformats.org/officeDocument/2006/math">
                      <m:oMathParaPr>
                        <m:jc m:val="centerGroup"/>
                      </m:oMathParaPr>
                      <m:oMath xmlns:m="http://schemas.openxmlformats.org/officeDocument/2006/math">
                        <m:r>
                          <a:rPr lang="en-US" sz="2000" i="1" dirty="0" smtClean="0">
                            <a:solidFill>
                              <a:schemeClr val="accent5">
                                <a:lumMod val="50000"/>
                              </a:schemeClr>
                            </a:solidFill>
                            <a:latin typeface="Cambria Math" panose="02040503050406030204" pitchFamily="18" charset="0"/>
                          </a:rPr>
                          <m:t>𝑀𝐶</m:t>
                        </m:r>
                        <m:r>
                          <a:rPr lang="fr-FR" sz="2000" i="1">
                            <a:solidFill>
                              <a:schemeClr val="accent5">
                                <a:lumMod val="50000"/>
                              </a:schemeClr>
                            </a:solidFill>
                            <a:latin typeface="Cambria Math" panose="02040503050406030204" pitchFamily="18" charset="0"/>
                            <a:ea typeface="Cambria Math" charset="0"/>
                            <a:cs typeface="Cambria Math" charset="0"/>
                          </a:rPr>
                          <m:t>=</m:t>
                        </m:r>
                        <m:r>
                          <a:rPr lang="en-US" sz="2000" i="1">
                            <a:solidFill>
                              <a:schemeClr val="accent5">
                                <a:lumMod val="50000"/>
                              </a:schemeClr>
                            </a:solidFill>
                            <a:latin typeface="Cambria Math" panose="02040503050406030204" pitchFamily="18" charset="0"/>
                            <a:ea typeface="Cambria Math" charset="0"/>
                            <a:cs typeface="Cambria Math" charset="0"/>
                          </a:rPr>
                          <m:t>40</m:t>
                        </m:r>
                        <m:r>
                          <a:rPr lang="en-US" sz="2000" i="1" dirty="0">
                            <a:solidFill>
                              <a:schemeClr val="accent5">
                                <a:lumMod val="50000"/>
                              </a:schemeClr>
                            </a:solidFill>
                            <a:latin typeface="Cambria Math" panose="02040503050406030204" pitchFamily="18" charset="0"/>
                          </a:rPr>
                          <m:t> +0.4</m:t>
                        </m:r>
                        <m:r>
                          <a:rPr lang="en-US" sz="2000" i="1" dirty="0">
                            <a:solidFill>
                              <a:schemeClr val="accent5">
                                <a:lumMod val="50000"/>
                              </a:schemeClr>
                            </a:solidFill>
                            <a:latin typeface="Cambria Math" panose="02040503050406030204" pitchFamily="18" charset="0"/>
                          </a:rPr>
                          <m:t>𝑄</m:t>
                        </m:r>
                      </m:oMath>
                    </m:oMathPara>
                  </a14:m>
                  <a:endParaRPr lang="en-US" sz="2000" b="0" i="1" dirty="0">
                    <a:solidFill>
                      <a:schemeClr val="accent5">
                        <a:lumMod val="50000"/>
                      </a:schemeClr>
                    </a:solidFill>
                    <a:latin typeface="Whitney Book" pitchFamily="50" charset="0"/>
                    <a:cs typeface="Whitney Book" pitchFamily="50" charset="0"/>
                  </a:endParaRPr>
                </a:p>
              </p:txBody>
            </p:sp>
          </mc:Choice>
          <mc:Fallback xmlns="">
            <p:sp>
              <p:nvSpPr>
                <p:cNvPr id="23" name="Rectangle 17">
                  <a:extLst>
                    <a:ext uri="{FF2B5EF4-FFF2-40B4-BE49-F238E27FC236}">
                      <a16:creationId xmlns:a16="http://schemas.microsoft.com/office/drawing/2014/main" id="{F70C19FB-A6EC-4A87-A0B0-7097BCD58C7B}"/>
                    </a:ext>
                  </a:extLst>
                </p:cNvPr>
                <p:cNvSpPr>
                  <a:spLocks noRot="1" noChangeAspect="1" noMove="1" noResize="1" noEditPoints="1" noAdjustHandles="1" noChangeArrowheads="1" noChangeShapeType="1" noTextEdit="1"/>
                </p:cNvSpPr>
                <p:nvPr/>
              </p:nvSpPr>
              <p:spPr bwMode="auto">
                <a:xfrm>
                  <a:off x="6413901" y="1797313"/>
                  <a:ext cx="1122332" cy="628546"/>
                </a:xfrm>
                <a:prstGeom prst="rect">
                  <a:avLst/>
                </a:prstGeom>
                <a:blipFill>
                  <a:blip r:embed="rId3"/>
                  <a:stretch>
                    <a:fillRect r="-66304"/>
                  </a:stretch>
                </a:blipFill>
                <a:ln w="9525">
                  <a:noFill/>
                  <a:miter lim="800000"/>
                  <a:headEnd/>
                  <a:tailEnd/>
                </a:ln>
                <a:effectLst/>
              </p:spPr>
              <p:txBody>
                <a:bodyPr/>
                <a:lstStyle/>
                <a:p>
                  <a:r>
                    <a:rPr lang="en-US">
                      <a:noFill/>
                    </a:rPr>
                    <a:t> </a:t>
                  </a:r>
                </a:p>
              </p:txBody>
            </p:sp>
          </mc:Fallback>
        </mc:AlternateContent>
        <p:cxnSp>
          <p:nvCxnSpPr>
            <p:cNvPr id="26" name="Straight Connector 25">
              <a:extLst>
                <a:ext uri="{FF2B5EF4-FFF2-40B4-BE49-F238E27FC236}">
                  <a16:creationId xmlns:a16="http://schemas.microsoft.com/office/drawing/2014/main" id="{A68DC5BB-27C2-4EAC-B58C-813D69823E59}"/>
                </a:ext>
              </a:extLst>
            </p:cNvPr>
            <p:cNvCxnSpPr>
              <a:cxnSpLocks/>
            </p:cNvCxnSpPr>
            <p:nvPr/>
          </p:nvCxnSpPr>
          <p:spPr>
            <a:xfrm flipV="1">
              <a:off x="1371877" y="2198313"/>
              <a:ext cx="5106314" cy="2702945"/>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sp>
          <p:nvSpPr>
            <p:cNvPr id="30" name="Rectangle 29">
              <a:extLst>
                <a:ext uri="{FF2B5EF4-FFF2-40B4-BE49-F238E27FC236}">
                  <a16:creationId xmlns:a16="http://schemas.microsoft.com/office/drawing/2014/main" id="{DC7D8FB6-BC79-4060-8011-F21EAC9551E4}"/>
                </a:ext>
              </a:extLst>
            </p:cNvPr>
            <p:cNvSpPr>
              <a:spLocks noChangeArrowheads="1"/>
            </p:cNvSpPr>
            <p:nvPr/>
          </p:nvSpPr>
          <p:spPr bwMode="auto">
            <a:xfrm>
              <a:off x="901270" y="4663808"/>
              <a:ext cx="659034"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000" dirty="0">
                  <a:latin typeface="Whitney Book" pitchFamily="50" charset="0"/>
                  <a:cs typeface="Whitney Book" pitchFamily="50" charset="0"/>
                </a:rPr>
                <a:t>40</a:t>
              </a:r>
              <a:endParaRPr lang="en-US" sz="2000" b="0" dirty="0">
                <a:latin typeface="Whitney Book" pitchFamily="50" charset="0"/>
                <a:cs typeface="Whitney Book" pitchFamily="50" charset="0"/>
              </a:endParaRPr>
            </a:p>
          </p:txBody>
        </p:sp>
      </p:gr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7ABECF6A-2B41-46FF-942F-B84B57ED6912}"/>
                  </a:ext>
                </a:extLst>
              </p:cNvPr>
              <p:cNvSpPr/>
              <p:nvPr/>
            </p:nvSpPr>
            <p:spPr>
              <a:xfrm>
                <a:off x="5085094" y="3825376"/>
                <a:ext cx="3779946" cy="9309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fr-FR" i="1" smtClean="0">
                          <a:solidFill>
                            <a:srgbClr val="00B050"/>
                          </a:solidFill>
                          <a:latin typeface="Cambria Math" panose="02040503050406030204" pitchFamily="18" charset="0"/>
                        </a:rPr>
                        <m:t>𝑇𝐶</m:t>
                      </m:r>
                      <m:r>
                        <a:rPr lang="fr-FR" i="1" smtClean="0">
                          <a:solidFill>
                            <a:srgbClr val="00B050"/>
                          </a:solidFill>
                          <a:latin typeface="Cambria Math" panose="02040503050406030204" pitchFamily="18" charset="0"/>
                        </a:rPr>
                        <m:t>=30,000+40</m:t>
                      </m:r>
                      <m:r>
                        <a:rPr lang="fr-FR" i="1" smtClean="0">
                          <a:solidFill>
                            <a:srgbClr val="00B050"/>
                          </a:solidFill>
                          <a:latin typeface="Cambria Math" panose="02040503050406030204" pitchFamily="18" charset="0"/>
                        </a:rPr>
                        <m:t>𝑄</m:t>
                      </m:r>
                      <m:r>
                        <a:rPr lang="fr-FR" i="1" smtClean="0">
                          <a:solidFill>
                            <a:srgbClr val="00B050"/>
                          </a:solidFill>
                          <a:latin typeface="Cambria Math" panose="02040503050406030204" pitchFamily="18" charset="0"/>
                        </a:rPr>
                        <m:t>+0.2</m:t>
                      </m:r>
                      <m:sSup>
                        <m:sSupPr>
                          <m:ctrlPr>
                            <a:rPr lang="fr-FR" i="1">
                              <a:solidFill>
                                <a:srgbClr val="00B050"/>
                              </a:solidFill>
                              <a:latin typeface="Cambria Math" panose="02040503050406030204" pitchFamily="18" charset="0"/>
                            </a:rPr>
                          </m:ctrlPr>
                        </m:sSupPr>
                        <m:e>
                          <m:r>
                            <a:rPr lang="fr-FR" i="1">
                              <a:solidFill>
                                <a:srgbClr val="00B050"/>
                              </a:solidFill>
                              <a:latin typeface="Cambria Math" panose="02040503050406030204" pitchFamily="18" charset="0"/>
                            </a:rPr>
                            <m:t>𝑄</m:t>
                          </m:r>
                        </m:e>
                        <m:sup>
                          <m:r>
                            <a:rPr lang="fr-FR" i="1">
                              <a:solidFill>
                                <a:srgbClr val="00B050"/>
                              </a:solidFill>
                              <a:latin typeface="Cambria Math" panose="02040503050406030204" pitchFamily="18" charset="0"/>
                            </a:rPr>
                            <m:t>2</m:t>
                          </m:r>
                        </m:sup>
                      </m:sSup>
                      <m:r>
                        <a:rPr lang="en-US" b="0" i="1" smtClean="0">
                          <a:solidFill>
                            <a:srgbClr val="00B050"/>
                          </a:solidFill>
                          <a:latin typeface="Cambria Math" panose="02040503050406030204" pitchFamily="18" charset="0"/>
                        </a:rPr>
                        <m:t>  </m:t>
                      </m:r>
                    </m:oMath>
                  </m:oMathPara>
                </a14:m>
                <a:endParaRPr lang="en-US" b="0" i="1" dirty="0">
                  <a:solidFill>
                    <a:srgbClr val="00B050"/>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m:t>
                      </m:r>
                      <m:r>
                        <a:rPr lang="en-US" b="0" i="1" smtClean="0">
                          <a:solidFill>
                            <a:srgbClr val="00B050"/>
                          </a:solidFill>
                          <a:latin typeface="Cambria Math" panose="02040503050406030204" pitchFamily="18" charset="0"/>
                        </a:rPr>
                        <m:t>𝐴𝑇𝐶</m:t>
                      </m:r>
                      <m:r>
                        <a:rPr lang="en-US" b="0" i="1" smtClean="0">
                          <a:solidFill>
                            <a:srgbClr val="00B050"/>
                          </a:solidFill>
                          <a:latin typeface="Cambria Math" panose="02040503050406030204" pitchFamily="18" charset="0"/>
                        </a:rPr>
                        <m:t>=</m:t>
                      </m:r>
                      <m:f>
                        <m:fPr>
                          <m:ctrlPr>
                            <a:rPr lang="en-US" b="0" i="1" smtClean="0">
                              <a:solidFill>
                                <a:srgbClr val="00B050"/>
                              </a:solidFill>
                              <a:latin typeface="Cambria Math" panose="02040503050406030204" pitchFamily="18" charset="0"/>
                            </a:rPr>
                          </m:ctrlPr>
                        </m:fPr>
                        <m:num>
                          <m:r>
                            <a:rPr lang="en-US" b="0" i="1" smtClean="0">
                              <a:solidFill>
                                <a:srgbClr val="00B050"/>
                              </a:solidFill>
                              <a:latin typeface="Cambria Math" panose="02040503050406030204" pitchFamily="18" charset="0"/>
                            </a:rPr>
                            <m:t>𝑇𝐶</m:t>
                          </m:r>
                        </m:num>
                        <m:den>
                          <m:r>
                            <a:rPr lang="en-US" b="0" i="1" smtClean="0">
                              <a:solidFill>
                                <a:srgbClr val="00B050"/>
                              </a:solidFill>
                              <a:latin typeface="Cambria Math" panose="02040503050406030204" pitchFamily="18" charset="0"/>
                            </a:rPr>
                            <m:t>𝑄</m:t>
                          </m:r>
                        </m:den>
                      </m:f>
                      <m:r>
                        <a:rPr lang="en-US" b="0" i="1" smtClean="0">
                          <a:solidFill>
                            <a:srgbClr val="00B050"/>
                          </a:solidFill>
                          <a:latin typeface="Cambria Math" panose="02040503050406030204" pitchFamily="18" charset="0"/>
                        </a:rPr>
                        <m:t>=</m:t>
                      </m:r>
                      <m:f>
                        <m:fPr>
                          <m:ctrlPr>
                            <a:rPr lang="en-US" b="0" i="1" smtClean="0">
                              <a:solidFill>
                                <a:srgbClr val="00B050"/>
                              </a:solidFill>
                              <a:latin typeface="Cambria Math" panose="02040503050406030204" pitchFamily="18" charset="0"/>
                            </a:rPr>
                          </m:ctrlPr>
                        </m:fPr>
                        <m:num>
                          <m:r>
                            <a:rPr lang="en-US" b="0" i="1" smtClean="0">
                              <a:solidFill>
                                <a:srgbClr val="00B050"/>
                              </a:solidFill>
                              <a:latin typeface="Cambria Math" panose="02040503050406030204" pitchFamily="18" charset="0"/>
                            </a:rPr>
                            <m:t>30,000</m:t>
                          </m:r>
                        </m:num>
                        <m:den>
                          <m:r>
                            <a:rPr lang="en-US" b="0" i="1" smtClean="0">
                              <a:solidFill>
                                <a:srgbClr val="00B050"/>
                              </a:solidFill>
                              <a:latin typeface="Cambria Math" panose="02040503050406030204" pitchFamily="18" charset="0"/>
                            </a:rPr>
                            <m:t>𝑄</m:t>
                          </m:r>
                        </m:den>
                      </m:f>
                      <m:r>
                        <a:rPr lang="en-US" b="0" i="1" smtClean="0">
                          <a:solidFill>
                            <a:srgbClr val="00B050"/>
                          </a:solidFill>
                          <a:latin typeface="Cambria Math" panose="02040503050406030204" pitchFamily="18" charset="0"/>
                        </a:rPr>
                        <m:t>+40+0.2</m:t>
                      </m:r>
                      <m:r>
                        <a:rPr lang="en-US" b="0" i="1" smtClean="0">
                          <a:solidFill>
                            <a:srgbClr val="00B050"/>
                          </a:solidFill>
                          <a:latin typeface="Cambria Math" panose="02040503050406030204" pitchFamily="18" charset="0"/>
                        </a:rPr>
                        <m:t>𝑄</m:t>
                      </m:r>
                    </m:oMath>
                  </m:oMathPara>
                </a14:m>
                <a:endParaRPr lang="en-US" dirty="0">
                  <a:solidFill>
                    <a:srgbClr val="00B050"/>
                  </a:solidFill>
                </a:endParaRPr>
              </a:p>
            </p:txBody>
          </p:sp>
        </mc:Choice>
        <mc:Fallback xmlns="">
          <p:sp>
            <p:nvSpPr>
              <p:cNvPr id="10" name="Rectangle 9">
                <a:extLst>
                  <a:ext uri="{FF2B5EF4-FFF2-40B4-BE49-F238E27FC236}">
                    <a16:creationId xmlns:a16="http://schemas.microsoft.com/office/drawing/2014/main" id="{7ABECF6A-2B41-46FF-942F-B84B57ED6912}"/>
                  </a:ext>
                </a:extLst>
              </p:cNvPr>
              <p:cNvSpPr>
                <a:spLocks noRot="1" noChangeAspect="1" noMove="1" noResize="1" noEditPoints="1" noAdjustHandles="1" noChangeArrowheads="1" noChangeShapeType="1" noTextEdit="1"/>
              </p:cNvSpPr>
              <p:nvPr/>
            </p:nvSpPr>
            <p:spPr>
              <a:xfrm>
                <a:off x="5085094" y="3825376"/>
                <a:ext cx="3779946" cy="93096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60C81567-3567-4C6F-A214-B63AD8DACE26}"/>
                  </a:ext>
                </a:extLst>
              </p:cNvPr>
              <p:cNvSpPr/>
              <p:nvPr/>
            </p:nvSpPr>
            <p:spPr>
              <a:xfrm>
                <a:off x="145127" y="5778332"/>
                <a:ext cx="4388028" cy="461665"/>
              </a:xfrm>
              <a:prstGeom prst="rect">
                <a:avLst/>
              </a:prstGeom>
            </p:spPr>
            <p:txBody>
              <a:bodyPr wrap="square">
                <a:spAutoFit/>
              </a:bodyPr>
              <a:lstStyle/>
              <a:p>
                <a:pPr lvl="1"/>
                <a:r>
                  <a:rPr lang="en-US" sz="2400" dirty="0">
                    <a:latin typeface="Whitney Book" pitchFamily="50" charset="0"/>
                    <a:cs typeface="Whitney Book" pitchFamily="50" charset="0"/>
                  </a:rPr>
                  <a:t>Profit = </a:t>
                </a:r>
                <a14:m>
                  <m:oMath xmlns:m="http://schemas.openxmlformats.org/officeDocument/2006/math">
                    <m:r>
                      <a:rPr lang="en-US" sz="2400">
                        <a:latin typeface="Cambria Math" charset="0"/>
                        <a:ea typeface="Cambria Math" charset="0"/>
                        <a:cs typeface="Cambria Math" charset="0"/>
                      </a:rPr>
                      <m:t>(</m:t>
                    </m:r>
                    <m:r>
                      <a:rPr lang="en-US" sz="2400" i="1" smtClean="0">
                        <a:solidFill>
                          <a:srgbClr val="C00000"/>
                        </a:solidFill>
                        <a:latin typeface="Cambria Math" charset="0"/>
                        <a:ea typeface="Cambria Math" charset="0"/>
                        <a:cs typeface="Cambria Math" charset="0"/>
                      </a:rPr>
                      <m:t>𝑃</m:t>
                    </m:r>
                    <m:r>
                      <a:rPr lang="en-US" sz="2400" i="1" smtClean="0">
                        <a:solidFill>
                          <a:schemeClr val="tx1"/>
                        </a:solidFill>
                        <a:latin typeface="Cambria Math" charset="0"/>
                        <a:ea typeface="Cambria Math" charset="0"/>
                        <a:cs typeface="Cambria Math" charset="0"/>
                      </a:rPr>
                      <m:t>−</m:t>
                    </m:r>
                    <m:r>
                      <a:rPr lang="en-US" sz="2400" i="1" smtClean="0">
                        <a:solidFill>
                          <a:srgbClr val="00B050"/>
                        </a:solidFill>
                        <a:latin typeface="Cambria Math" charset="0"/>
                        <a:ea typeface="Cambria Math" charset="0"/>
                        <a:cs typeface="Cambria Math" charset="0"/>
                      </a:rPr>
                      <m:t>𝐴𝑇𝐶</m:t>
                    </m:r>
                    <m:r>
                      <a:rPr lang="en-US" sz="2400" i="1">
                        <a:latin typeface="Cambria Math" charset="0"/>
                        <a:ea typeface="Cambria Math" charset="0"/>
                        <a:cs typeface="Cambria Math" charset="0"/>
                      </a:rPr>
                      <m:t>)∙</m:t>
                    </m:r>
                    <m:r>
                      <a:rPr lang="en-US" sz="2400" i="1">
                        <a:latin typeface="Cambria Math" charset="0"/>
                        <a:ea typeface="Cambria Math" charset="0"/>
                        <a:cs typeface="Cambria Math" charset="0"/>
                      </a:rPr>
                      <m:t>𝑄</m:t>
                    </m:r>
                  </m:oMath>
                </a14:m>
                <a:endParaRPr lang="en-US" sz="2400" dirty="0">
                  <a:latin typeface="Whitney Book" pitchFamily="50" charset="0"/>
                  <a:cs typeface="Whitney Book" pitchFamily="50" charset="0"/>
                </a:endParaRPr>
              </a:p>
            </p:txBody>
          </p:sp>
        </mc:Choice>
        <mc:Fallback xmlns="">
          <p:sp>
            <p:nvSpPr>
              <p:cNvPr id="42" name="Rectangle 41">
                <a:extLst>
                  <a:ext uri="{FF2B5EF4-FFF2-40B4-BE49-F238E27FC236}">
                    <a16:creationId xmlns:a16="http://schemas.microsoft.com/office/drawing/2014/main" id="{60C81567-3567-4C6F-A214-B63AD8DACE26}"/>
                  </a:ext>
                </a:extLst>
              </p:cNvPr>
              <p:cNvSpPr>
                <a:spLocks noRot="1" noChangeAspect="1" noMove="1" noResize="1" noEditPoints="1" noAdjustHandles="1" noChangeArrowheads="1" noChangeShapeType="1" noTextEdit="1"/>
              </p:cNvSpPr>
              <p:nvPr/>
            </p:nvSpPr>
            <p:spPr>
              <a:xfrm>
                <a:off x="145127" y="5778332"/>
                <a:ext cx="4388028" cy="461665"/>
              </a:xfrm>
              <a:prstGeom prst="rect">
                <a:avLst/>
              </a:prstGeom>
              <a:blipFill>
                <a:blip r:embed="rId5"/>
                <a:stretch>
                  <a:fillRect t="-10526" b="-28947"/>
                </a:stretch>
              </a:blipFill>
            </p:spPr>
            <p:txBody>
              <a:bodyPr/>
              <a:lstStyle/>
              <a:p>
                <a:r>
                  <a:rPr lang="en-US">
                    <a:noFill/>
                  </a:rPr>
                  <a:t> </a:t>
                </a:r>
              </a:p>
            </p:txBody>
          </p:sp>
        </mc:Fallback>
      </mc:AlternateContent>
      <p:grpSp>
        <p:nvGrpSpPr>
          <p:cNvPr id="36" name="Group 35">
            <a:extLst>
              <a:ext uri="{FF2B5EF4-FFF2-40B4-BE49-F238E27FC236}">
                <a16:creationId xmlns:a16="http://schemas.microsoft.com/office/drawing/2014/main" id="{65F45128-A956-4911-8E3D-7EC348E5B8CB}"/>
              </a:ext>
            </a:extLst>
          </p:cNvPr>
          <p:cNvGrpSpPr/>
          <p:nvPr/>
        </p:nvGrpSpPr>
        <p:grpSpPr>
          <a:xfrm>
            <a:off x="1417323" y="2279769"/>
            <a:ext cx="4896646" cy="1523844"/>
            <a:chOff x="935574" y="-183500"/>
            <a:chExt cx="5311760" cy="3170413"/>
          </a:xfrm>
        </p:grpSpPr>
        <p:grpSp>
          <p:nvGrpSpPr>
            <p:cNvPr id="37" name="Group 16">
              <a:extLst>
                <a:ext uri="{FF2B5EF4-FFF2-40B4-BE49-F238E27FC236}">
                  <a16:creationId xmlns:a16="http://schemas.microsoft.com/office/drawing/2014/main" id="{F1D3890C-FB3A-48B8-A2C6-4BA58BF719AE}"/>
                </a:ext>
              </a:extLst>
            </p:cNvPr>
            <p:cNvGrpSpPr>
              <a:grpSpLocks/>
            </p:cNvGrpSpPr>
            <p:nvPr/>
          </p:nvGrpSpPr>
          <p:grpSpPr bwMode="auto">
            <a:xfrm>
              <a:off x="935574" y="-183500"/>
              <a:ext cx="4609578" cy="3170413"/>
              <a:chOff x="825" y="-1"/>
              <a:chExt cx="2944" cy="2023"/>
            </a:xfrm>
          </p:grpSpPr>
          <p:sp>
            <p:nvSpPr>
              <p:cNvPr id="39" name="Arc 14">
                <a:extLst>
                  <a:ext uri="{FF2B5EF4-FFF2-40B4-BE49-F238E27FC236}">
                    <a16:creationId xmlns:a16="http://schemas.microsoft.com/office/drawing/2014/main" id="{34A1E9D6-E885-42FD-A77C-E68C1B4BA529}"/>
                  </a:ext>
                </a:extLst>
              </p:cNvPr>
              <p:cNvSpPr>
                <a:spLocks/>
              </p:cNvSpPr>
              <p:nvPr/>
            </p:nvSpPr>
            <p:spPr bwMode="auto">
              <a:xfrm flipV="1">
                <a:off x="2199" y="1170"/>
                <a:ext cx="1570" cy="85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00B050"/>
                </a:solidFill>
                <a:round/>
                <a:headEnd type="none" w="sm" len="sm"/>
                <a:tailEnd type="none" w="sm" len="sm"/>
              </a:ln>
              <a:effectLst/>
            </p:spPr>
            <p:txBody>
              <a:bodyPr wrap="none" anchor="ctr"/>
              <a:lstStyle/>
              <a:p>
                <a:endParaRPr lang="en-US" sz="2625">
                  <a:solidFill>
                    <a:schemeClr val="tx2">
                      <a:lumMod val="75000"/>
                    </a:schemeClr>
                  </a:solidFill>
                  <a:latin typeface="Whitney Book" pitchFamily="50" charset="0"/>
                  <a:cs typeface="Whitney Book" pitchFamily="50" charset="0"/>
                </a:endParaRPr>
              </a:p>
            </p:txBody>
          </p:sp>
          <p:sp>
            <p:nvSpPr>
              <p:cNvPr id="40" name="Arc 13">
                <a:extLst>
                  <a:ext uri="{FF2B5EF4-FFF2-40B4-BE49-F238E27FC236}">
                    <a16:creationId xmlns:a16="http://schemas.microsoft.com/office/drawing/2014/main" id="{FE16791E-A3E0-410A-92EB-34D028C2C60F}"/>
                  </a:ext>
                </a:extLst>
              </p:cNvPr>
              <p:cNvSpPr>
                <a:spLocks/>
              </p:cNvSpPr>
              <p:nvPr/>
            </p:nvSpPr>
            <p:spPr bwMode="auto">
              <a:xfrm flipH="1" flipV="1">
                <a:off x="825" y="-1"/>
                <a:ext cx="1402" cy="202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00B050"/>
                </a:solidFill>
                <a:round/>
                <a:headEnd type="none" w="sm" len="sm"/>
                <a:tailEnd type="none" w="sm" len="sm"/>
              </a:ln>
              <a:effectLst/>
            </p:spPr>
            <p:txBody>
              <a:bodyPr wrap="none" anchor="ctr"/>
              <a:lstStyle/>
              <a:p>
                <a:endParaRPr lang="en-US" sz="2625">
                  <a:solidFill>
                    <a:schemeClr val="tx2">
                      <a:lumMod val="75000"/>
                    </a:schemeClr>
                  </a:solidFill>
                  <a:latin typeface="Whitney Book" pitchFamily="50" charset="0"/>
                  <a:cs typeface="Whitney Book" pitchFamily="50" charset="0"/>
                </a:endParaRPr>
              </a:p>
            </p:txBody>
          </p:sp>
        </p:grpSp>
        <p:sp>
          <p:nvSpPr>
            <p:cNvPr id="38" name="Rectangle 17">
              <a:extLst>
                <a:ext uri="{FF2B5EF4-FFF2-40B4-BE49-F238E27FC236}">
                  <a16:creationId xmlns:a16="http://schemas.microsoft.com/office/drawing/2014/main" id="{067DA00E-4713-4182-BCE5-7D91A6BF1840}"/>
                </a:ext>
              </a:extLst>
            </p:cNvPr>
            <p:cNvSpPr>
              <a:spLocks noChangeArrowheads="1"/>
            </p:cNvSpPr>
            <p:nvPr/>
          </p:nvSpPr>
          <p:spPr bwMode="auto">
            <a:xfrm>
              <a:off x="5425539" y="1673014"/>
              <a:ext cx="821795" cy="628547"/>
            </a:xfrm>
            <a:prstGeom prst="rect">
              <a:avLst/>
            </a:prstGeom>
            <a:solidFill>
              <a:schemeClr val="bg1"/>
            </a:solidFill>
            <a:ln w="9525">
              <a:noFill/>
              <a:miter lim="800000"/>
              <a:headEnd/>
              <a:tailEnd/>
            </a:ln>
            <a:effectLst/>
          </p:spPr>
          <p:txBody>
            <a:bodyPr wrap="none" lIns="19050" tIns="26988" rIns="19050" bIns="26988" anchor="b"/>
            <a:lstStyle/>
            <a:p>
              <a:pPr>
                <a:lnSpc>
                  <a:spcPts val="2947"/>
                </a:lnSpc>
                <a:spcAft>
                  <a:spcPts val="947"/>
                </a:spcAft>
                <a:tabLst>
                  <a:tab pos="481157" algn="l"/>
                  <a:tab pos="962315" algn="l"/>
                  <a:tab pos="1443472" algn="l"/>
                </a:tabLst>
              </a:pPr>
              <a:r>
                <a:rPr lang="en-US" sz="2800" i="1" dirty="0">
                  <a:solidFill>
                    <a:srgbClr val="00B050"/>
                  </a:solidFill>
                  <a:latin typeface="Whitney Book" pitchFamily="50" charset="0"/>
                  <a:cs typeface="Whitney Book" pitchFamily="50" charset="0"/>
                </a:rPr>
                <a:t>ATC</a:t>
              </a:r>
              <a:endParaRPr lang="en-US" sz="2800" b="0" i="1" dirty="0">
                <a:solidFill>
                  <a:srgbClr val="00B050"/>
                </a:solidFill>
                <a:latin typeface="Whitney Book" pitchFamily="50" charset="0"/>
                <a:cs typeface="Whitney Book" pitchFamily="50" charset="0"/>
              </a:endParaRPr>
            </a:p>
          </p:txBody>
        </p:sp>
      </p:grpSp>
      <p:sp>
        <p:nvSpPr>
          <p:cNvPr id="34" name="Parallelogram 33">
            <a:extLst>
              <a:ext uri="{FF2B5EF4-FFF2-40B4-BE49-F238E27FC236}">
                <a16:creationId xmlns:a16="http://schemas.microsoft.com/office/drawing/2014/main" id="{5B73C287-7330-4CB8-8657-452D6B5B0F5A}"/>
              </a:ext>
            </a:extLst>
          </p:cNvPr>
          <p:cNvSpPr/>
          <p:nvPr/>
        </p:nvSpPr>
        <p:spPr>
          <a:xfrm>
            <a:off x="4883085" y="6097419"/>
            <a:ext cx="4132593" cy="687801"/>
          </a:xfrm>
          <a:prstGeom prst="parallelogram">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50000" t="50000" r="50000" b="50000"/>
            </a:path>
            <a:tileRect/>
          </a:gradFill>
          <a:ln>
            <a:noFill/>
          </a:ln>
        </p:spPr>
        <p:style>
          <a:lnRef idx="1">
            <a:schemeClr val="accent2"/>
          </a:lnRef>
          <a:fillRef idx="3">
            <a:schemeClr val="accent2"/>
          </a:fillRef>
          <a:effectRef idx="2">
            <a:schemeClr val="accent2"/>
          </a:effectRef>
          <a:fontRef idx="minor">
            <a:schemeClr val="lt1"/>
          </a:fontRef>
        </p:style>
        <p:txBody>
          <a:bodyPr rtlCol="0" anchor="ctr"/>
          <a:lstStyle/>
          <a:p>
            <a:pPr>
              <a:defRPr/>
            </a:pPr>
            <a:r>
              <a:rPr lang="en-US" sz="3200" b="1" i="1" dirty="0">
                <a:solidFill>
                  <a:prstClr val="white"/>
                </a:solidFill>
              </a:rPr>
              <a:t>Yi Family Example</a:t>
            </a:r>
          </a:p>
        </p:txBody>
      </p:sp>
    </p:spTree>
    <p:extLst>
      <p:ext uri="{BB962C8B-B14F-4D97-AF65-F5344CB8AC3E}">
        <p14:creationId xmlns:p14="http://schemas.microsoft.com/office/powerpoint/2010/main" val="29242880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3B6ED-D453-46EF-9BEE-BA8390F5DA3D}"/>
              </a:ext>
            </a:extLst>
          </p:cNvPr>
          <p:cNvSpPr>
            <a:spLocks noGrp="1"/>
          </p:cNvSpPr>
          <p:nvPr>
            <p:ph type="title"/>
          </p:nvPr>
        </p:nvSpPr>
        <p:spPr/>
        <p:txBody>
          <a:bodyPr>
            <a:normAutofit fontScale="90000"/>
          </a:bodyPr>
          <a:lstStyle/>
          <a:p>
            <a:r>
              <a:rPr lang="fr-FR" dirty="0"/>
              <a:t>Relationship to </a:t>
            </a:r>
            <a:r>
              <a:rPr lang="fr-FR" dirty="0" err="1"/>
              <a:t>Accounting</a:t>
            </a:r>
            <a:r>
              <a:rPr lang="fr-FR" dirty="0"/>
              <a:t>: </a:t>
            </a:r>
            <a:br>
              <a:rPr lang="fr-FR" dirty="0"/>
            </a:br>
            <a:r>
              <a:rPr lang="fr-FR" dirty="0"/>
              <a:t>Ross Stores </a:t>
            </a:r>
            <a:r>
              <a:rPr lang="fr-FR" dirty="0" err="1"/>
              <a:t>annual</a:t>
            </a:r>
            <a:r>
              <a:rPr lang="fr-FR" dirty="0"/>
              <a:t> report</a:t>
            </a:r>
            <a:endParaRPr lang="en-US" dirty="0"/>
          </a:p>
        </p:txBody>
      </p:sp>
      <p:grpSp>
        <p:nvGrpSpPr>
          <p:cNvPr id="9" name="Group 8">
            <a:extLst>
              <a:ext uri="{FF2B5EF4-FFF2-40B4-BE49-F238E27FC236}">
                <a16:creationId xmlns:a16="http://schemas.microsoft.com/office/drawing/2014/main" id="{7DD78944-6CE1-486E-B75F-7B52BF004070}"/>
              </a:ext>
            </a:extLst>
          </p:cNvPr>
          <p:cNvGrpSpPr/>
          <p:nvPr/>
        </p:nvGrpSpPr>
        <p:grpSpPr>
          <a:xfrm>
            <a:off x="160972" y="1537097"/>
            <a:ext cx="8818442" cy="4026790"/>
            <a:chOff x="160972" y="1525333"/>
            <a:chExt cx="5603384" cy="1932814"/>
          </a:xfrm>
        </p:grpSpPr>
        <p:pic>
          <p:nvPicPr>
            <p:cNvPr id="6" name="Picture 5">
              <a:extLst>
                <a:ext uri="{FF2B5EF4-FFF2-40B4-BE49-F238E27FC236}">
                  <a16:creationId xmlns:a16="http://schemas.microsoft.com/office/drawing/2014/main" id="{F5B5D7C8-D318-4776-B47C-33C378AD2DD2}"/>
                </a:ext>
              </a:extLst>
            </p:cNvPr>
            <p:cNvPicPr>
              <a:picLocks noChangeAspect="1"/>
            </p:cNvPicPr>
            <p:nvPr/>
          </p:nvPicPr>
          <p:blipFill>
            <a:blip r:embed="rId3"/>
            <a:stretch>
              <a:fillRect/>
            </a:stretch>
          </p:blipFill>
          <p:spPr>
            <a:xfrm>
              <a:off x="160972" y="1972422"/>
              <a:ext cx="2238375" cy="1447800"/>
            </a:xfrm>
            <a:prstGeom prst="rect">
              <a:avLst/>
            </a:prstGeom>
          </p:spPr>
        </p:pic>
        <p:pic>
          <p:nvPicPr>
            <p:cNvPr id="7" name="Picture 6">
              <a:extLst>
                <a:ext uri="{FF2B5EF4-FFF2-40B4-BE49-F238E27FC236}">
                  <a16:creationId xmlns:a16="http://schemas.microsoft.com/office/drawing/2014/main" id="{E0439346-DAF7-4FD9-8E71-229ECCFBF051}"/>
                </a:ext>
              </a:extLst>
            </p:cNvPr>
            <p:cNvPicPr>
              <a:picLocks noChangeAspect="1"/>
            </p:cNvPicPr>
            <p:nvPr/>
          </p:nvPicPr>
          <p:blipFill rotWithShape="1">
            <a:blip r:embed="rId4"/>
            <a:srcRect b="59816"/>
            <a:stretch/>
          </p:blipFill>
          <p:spPr>
            <a:xfrm>
              <a:off x="2714250" y="1589593"/>
              <a:ext cx="1647825" cy="1856963"/>
            </a:xfrm>
            <a:prstGeom prst="rect">
              <a:avLst/>
            </a:prstGeom>
          </p:spPr>
        </p:pic>
        <p:pic>
          <p:nvPicPr>
            <p:cNvPr id="8" name="Picture 7">
              <a:extLst>
                <a:ext uri="{FF2B5EF4-FFF2-40B4-BE49-F238E27FC236}">
                  <a16:creationId xmlns:a16="http://schemas.microsoft.com/office/drawing/2014/main" id="{CBA64101-DB90-491C-8EC3-04959055EEEE}"/>
                </a:ext>
              </a:extLst>
            </p:cNvPr>
            <p:cNvPicPr>
              <a:picLocks noChangeAspect="1"/>
            </p:cNvPicPr>
            <p:nvPr/>
          </p:nvPicPr>
          <p:blipFill>
            <a:blip r:embed="rId5"/>
            <a:stretch>
              <a:fillRect/>
            </a:stretch>
          </p:blipFill>
          <p:spPr>
            <a:xfrm>
              <a:off x="4421331" y="1525333"/>
              <a:ext cx="1343025" cy="1932814"/>
            </a:xfrm>
            <a:prstGeom prst="rect">
              <a:avLst/>
            </a:prstGeom>
          </p:spPr>
        </p:pic>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09F58D5-4CCD-4AED-8292-ED22F2AC16E1}"/>
                  </a:ext>
                </a:extLst>
              </p:cNvPr>
              <p:cNvSpPr txBox="1"/>
              <p:nvPr/>
            </p:nvSpPr>
            <p:spPr>
              <a:xfrm>
                <a:off x="2166662" y="3792048"/>
                <a:ext cx="1060704" cy="400110"/>
              </a:xfrm>
              <a:prstGeom prst="rect">
                <a:avLst/>
              </a:prstGeom>
              <a:noFill/>
            </p:spPr>
            <p:txBody>
              <a:bodyPr wrap="square" rtlCol="0">
                <a:spAutoFit/>
              </a:bodyPr>
              <a:lstStyle/>
              <a:p>
                <a14:m>
                  <m:oMath xmlns:m="http://schemas.openxmlformats.org/officeDocument/2006/math">
                    <m:r>
                      <a:rPr lang="fr-FR" sz="2000" b="1" i="1" dirty="0" smtClean="0">
                        <a:solidFill>
                          <a:srgbClr val="C00000"/>
                        </a:solidFill>
                        <a:latin typeface="Cambria Math" panose="02040503050406030204" pitchFamily="18" charset="0"/>
                        <a:ea typeface="Cambria Math" panose="02040503050406030204" pitchFamily="18" charset="0"/>
                      </a:rPr>
                      <m:t>≈</m:t>
                    </m:r>
                  </m:oMath>
                </a14:m>
                <a:r>
                  <a:rPr lang="fr-FR" sz="2000" b="1" dirty="0">
                    <a:solidFill>
                      <a:srgbClr val="C00000"/>
                    </a:solidFill>
                    <a:latin typeface="Whitney Book" pitchFamily="50" charset="0"/>
                  </a:rPr>
                  <a:t> TVC</a:t>
                </a:r>
                <a:endParaRPr lang="en-US" sz="2000" b="1" dirty="0">
                  <a:solidFill>
                    <a:srgbClr val="C00000"/>
                  </a:solidFill>
                  <a:latin typeface="Whitney Book" pitchFamily="50" charset="0"/>
                </a:endParaRPr>
              </a:p>
            </p:txBody>
          </p:sp>
        </mc:Choice>
        <mc:Fallback xmlns="">
          <p:sp>
            <p:nvSpPr>
              <p:cNvPr id="11" name="TextBox 10">
                <a:extLst>
                  <a:ext uri="{FF2B5EF4-FFF2-40B4-BE49-F238E27FC236}">
                    <a16:creationId xmlns:a16="http://schemas.microsoft.com/office/drawing/2014/main" id="{309F58D5-4CCD-4AED-8292-ED22F2AC16E1}"/>
                  </a:ext>
                </a:extLst>
              </p:cNvPr>
              <p:cNvSpPr txBox="1">
                <a:spLocks noRot="1" noChangeAspect="1" noMove="1" noResize="1" noEditPoints="1" noAdjustHandles="1" noChangeArrowheads="1" noChangeShapeType="1" noTextEdit="1"/>
              </p:cNvSpPr>
              <p:nvPr/>
            </p:nvSpPr>
            <p:spPr>
              <a:xfrm>
                <a:off x="2166662" y="3792048"/>
                <a:ext cx="1060704" cy="400110"/>
              </a:xfrm>
              <a:prstGeom prst="rect">
                <a:avLst/>
              </a:prstGeom>
              <a:blipFill>
                <a:blip r:embed="rId6"/>
                <a:stretch>
                  <a:fillRect t="-7576" b="-25758"/>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BB2E6792-BA97-4BBD-BD2C-ECAC34EBAB01}"/>
              </a:ext>
            </a:extLst>
          </p:cNvPr>
          <p:cNvSpPr txBox="1"/>
          <p:nvPr/>
        </p:nvSpPr>
        <p:spPr>
          <a:xfrm>
            <a:off x="3153308" y="4638461"/>
            <a:ext cx="1329239" cy="400110"/>
          </a:xfrm>
          <a:prstGeom prst="rect">
            <a:avLst/>
          </a:prstGeom>
          <a:noFill/>
        </p:spPr>
        <p:txBody>
          <a:bodyPr wrap="square" rtlCol="0">
            <a:spAutoFit/>
          </a:bodyPr>
          <a:lstStyle/>
          <a:p>
            <a:r>
              <a:rPr lang="fr-FR" sz="2000" b="1" dirty="0">
                <a:solidFill>
                  <a:srgbClr val="C00000"/>
                </a:solidFill>
                <a:latin typeface="Whitney Book" pitchFamily="50" charset="0"/>
              </a:rPr>
              <a:t>Part of FC</a:t>
            </a:r>
            <a:endParaRPr lang="en-US" sz="2000" b="1" dirty="0">
              <a:solidFill>
                <a:srgbClr val="C00000"/>
              </a:solidFill>
              <a:latin typeface="Whitney Book" pitchFamily="50" charset="0"/>
            </a:endParaRPr>
          </a:p>
        </p:txBody>
      </p:sp>
      <p:sp>
        <p:nvSpPr>
          <p:cNvPr id="13" name="TextBox 12">
            <a:extLst>
              <a:ext uri="{FF2B5EF4-FFF2-40B4-BE49-F238E27FC236}">
                <a16:creationId xmlns:a16="http://schemas.microsoft.com/office/drawing/2014/main" id="{AED4298A-0190-487A-BDD6-C667BA0BA10C}"/>
              </a:ext>
            </a:extLst>
          </p:cNvPr>
          <p:cNvSpPr txBox="1"/>
          <p:nvPr/>
        </p:nvSpPr>
        <p:spPr>
          <a:xfrm>
            <a:off x="3450211" y="4181659"/>
            <a:ext cx="1809946" cy="400110"/>
          </a:xfrm>
          <a:prstGeom prst="rect">
            <a:avLst/>
          </a:prstGeom>
          <a:noFill/>
        </p:spPr>
        <p:txBody>
          <a:bodyPr wrap="square" rtlCol="0">
            <a:spAutoFit/>
          </a:bodyPr>
          <a:lstStyle/>
          <a:p>
            <a:r>
              <a:rPr lang="fr-FR" sz="2000" b="1" dirty="0">
                <a:solidFill>
                  <a:srgbClr val="C00000"/>
                </a:solidFill>
                <a:latin typeface="Whitney Book" pitchFamily="50" charset="0"/>
              </a:rPr>
              <a:t>Mix FC &amp; VC</a:t>
            </a:r>
            <a:endParaRPr lang="en-US" sz="2000" b="1" dirty="0">
              <a:solidFill>
                <a:srgbClr val="C00000"/>
              </a:solidFill>
              <a:latin typeface="Whitney Book" pitchFamily="50"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09185E1-E43E-4C5F-AD00-FF23AAF6432E}"/>
                  </a:ext>
                </a:extLst>
              </p:cNvPr>
              <p:cNvSpPr txBox="1"/>
              <p:nvPr/>
            </p:nvSpPr>
            <p:spPr>
              <a:xfrm>
                <a:off x="2775357" y="5061668"/>
                <a:ext cx="1060704" cy="400110"/>
              </a:xfrm>
              <a:prstGeom prst="rect">
                <a:avLst/>
              </a:prstGeom>
              <a:noFill/>
            </p:spPr>
            <p:txBody>
              <a:bodyPr wrap="square" rtlCol="0">
                <a:spAutoFit/>
              </a:bodyPr>
              <a:lstStyle/>
              <a:p>
                <a14:m>
                  <m:oMath xmlns:m="http://schemas.openxmlformats.org/officeDocument/2006/math">
                    <m:r>
                      <a:rPr lang="fr-FR" sz="2000" b="1" i="1" dirty="0">
                        <a:solidFill>
                          <a:srgbClr val="C00000"/>
                        </a:solidFill>
                        <a:latin typeface="Cambria Math" panose="02040503050406030204" pitchFamily="18" charset="0"/>
                        <a:ea typeface="Cambria Math" panose="02040503050406030204" pitchFamily="18" charset="0"/>
                      </a:rPr>
                      <m:t>≈</m:t>
                    </m:r>
                  </m:oMath>
                </a14:m>
                <a:r>
                  <a:rPr lang="fr-FR" sz="2000" b="1" dirty="0">
                    <a:solidFill>
                      <a:srgbClr val="C00000"/>
                    </a:solidFill>
                    <a:latin typeface="Whitney Book" pitchFamily="50" charset="0"/>
                  </a:rPr>
                  <a:t> TC</a:t>
                </a:r>
                <a:endParaRPr lang="en-US" sz="2000" b="1" dirty="0">
                  <a:solidFill>
                    <a:srgbClr val="C00000"/>
                  </a:solidFill>
                  <a:latin typeface="Whitney Book" pitchFamily="50" charset="0"/>
                </a:endParaRPr>
              </a:p>
            </p:txBody>
          </p:sp>
        </mc:Choice>
        <mc:Fallback xmlns="">
          <p:sp>
            <p:nvSpPr>
              <p:cNvPr id="10" name="TextBox 9">
                <a:extLst>
                  <a:ext uri="{FF2B5EF4-FFF2-40B4-BE49-F238E27FC236}">
                    <a16:creationId xmlns:a16="http://schemas.microsoft.com/office/drawing/2014/main" id="{F09185E1-E43E-4C5F-AD00-FF23AAF6432E}"/>
                  </a:ext>
                </a:extLst>
              </p:cNvPr>
              <p:cNvSpPr txBox="1">
                <a:spLocks noRot="1" noChangeAspect="1" noMove="1" noResize="1" noEditPoints="1" noAdjustHandles="1" noChangeArrowheads="1" noChangeShapeType="1" noTextEdit="1"/>
              </p:cNvSpPr>
              <p:nvPr/>
            </p:nvSpPr>
            <p:spPr>
              <a:xfrm>
                <a:off x="2775357" y="5061668"/>
                <a:ext cx="1060704" cy="400110"/>
              </a:xfrm>
              <a:prstGeom prst="rect">
                <a:avLst/>
              </a:prstGeom>
              <a:blipFill>
                <a:blip r:embed="rId7"/>
                <a:stretch>
                  <a:fillRect t="-7576" b="-25758"/>
                </a:stretch>
              </a:blipFill>
            </p:spPr>
            <p:txBody>
              <a:bodyPr/>
              <a:lstStyle/>
              <a:p>
                <a:r>
                  <a:rPr lang="en-US">
                    <a:noFill/>
                  </a:rPr>
                  <a:t> </a:t>
                </a:r>
              </a:p>
            </p:txBody>
          </p:sp>
        </mc:Fallback>
      </mc:AlternateContent>
    </p:spTree>
    <p:extLst>
      <p:ext uri="{BB962C8B-B14F-4D97-AF65-F5344CB8AC3E}">
        <p14:creationId xmlns:p14="http://schemas.microsoft.com/office/powerpoint/2010/main" val="3639920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4" name="Group 113"/>
          <p:cNvGrpSpPr/>
          <p:nvPr/>
        </p:nvGrpSpPr>
        <p:grpSpPr>
          <a:xfrm>
            <a:off x="6655602" y="2112774"/>
            <a:ext cx="1775867" cy="1256429"/>
            <a:chOff x="6655601" y="1255523"/>
            <a:chExt cx="1775867" cy="1256429"/>
          </a:xfrm>
        </p:grpSpPr>
        <p:sp>
          <p:nvSpPr>
            <p:cNvPr id="76" name="Arc 75"/>
            <p:cNvSpPr/>
            <p:nvPr/>
          </p:nvSpPr>
          <p:spPr>
            <a:xfrm rot="10800000">
              <a:off x="6655601" y="1255523"/>
              <a:ext cx="1479793" cy="1256429"/>
            </a:xfrm>
            <a:prstGeom prst="arc">
              <a:avLst>
                <a:gd name="adj1" fmla="val 10885267"/>
                <a:gd name="adj2" fmla="val 21500385"/>
              </a:avLst>
            </a:prstGeom>
          </p:spPr>
          <p:style>
            <a:lnRef idx="2">
              <a:schemeClr val="accent5"/>
            </a:lnRef>
            <a:fillRef idx="0">
              <a:schemeClr val="accent5"/>
            </a:fillRef>
            <a:effectRef idx="1">
              <a:schemeClr val="accent5"/>
            </a:effectRef>
            <a:fontRef idx="minor">
              <a:schemeClr val="tx1"/>
            </a:fontRef>
          </p:style>
          <p:txBody>
            <a:bodyPr rtlCol="0" anchor="ctr"/>
            <a:lstStyle/>
            <a:p>
              <a:pPr algn="ctr"/>
              <a:endParaRPr lang="en-US">
                <a:latin typeface="Whitney Book" pitchFamily="50" charset="0"/>
                <a:cs typeface="Whitney Book" pitchFamily="50" charset="0"/>
              </a:endParaRPr>
            </a:p>
          </p:txBody>
        </p:sp>
        <p:sp>
          <p:nvSpPr>
            <p:cNvPr id="84" name="TextBox 83"/>
            <p:cNvSpPr txBox="1"/>
            <p:nvPr/>
          </p:nvSpPr>
          <p:spPr>
            <a:xfrm>
              <a:off x="7940529" y="1664205"/>
              <a:ext cx="490939" cy="276999"/>
            </a:xfrm>
            <a:prstGeom prst="rect">
              <a:avLst/>
            </a:prstGeom>
            <a:noFill/>
          </p:spPr>
          <p:txBody>
            <a:bodyPr wrap="square" rtlCol="0">
              <a:spAutoFit/>
            </a:bodyPr>
            <a:lstStyle/>
            <a:p>
              <a:r>
                <a:rPr lang="en-US" sz="1200" i="1" dirty="0">
                  <a:latin typeface="Whitney Book" pitchFamily="50" charset="0"/>
                  <a:cs typeface="Whitney Book" pitchFamily="50" charset="0"/>
                </a:rPr>
                <a:t>ATC</a:t>
              </a:r>
              <a:endParaRPr lang="en-US" sz="1200" dirty="0">
                <a:latin typeface="Whitney Book" pitchFamily="50" charset="0"/>
                <a:cs typeface="Whitney Book" pitchFamily="50" charset="0"/>
              </a:endParaRPr>
            </a:p>
          </p:txBody>
        </p:sp>
      </p:grpSp>
      <p:grpSp>
        <p:nvGrpSpPr>
          <p:cNvPr id="107" name="Group 106"/>
          <p:cNvGrpSpPr/>
          <p:nvPr/>
        </p:nvGrpSpPr>
        <p:grpSpPr>
          <a:xfrm>
            <a:off x="501401" y="2930050"/>
            <a:ext cx="1074364" cy="1051798"/>
            <a:chOff x="501401" y="2072800"/>
            <a:chExt cx="1074364" cy="1051798"/>
          </a:xfrm>
        </p:grpSpPr>
        <p:sp>
          <p:nvSpPr>
            <p:cNvPr id="33" name="Rectangle 32"/>
            <p:cNvSpPr/>
            <p:nvPr/>
          </p:nvSpPr>
          <p:spPr>
            <a:xfrm>
              <a:off x="501401" y="2789552"/>
              <a:ext cx="849247" cy="335046"/>
            </a:xfrm>
            <a:prstGeom prst="rect">
              <a:avLst/>
            </a:prstGeom>
            <a:effectLst/>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latin typeface="Whitney Book" pitchFamily="50" charset="0"/>
                <a:cs typeface="Whitney Book" pitchFamily="50" charset="0"/>
              </a:endParaRPr>
            </a:p>
          </p:txBody>
        </p:sp>
        <p:cxnSp>
          <p:nvCxnSpPr>
            <p:cNvPr id="40" name="Straight Arrow Connector 39"/>
            <p:cNvCxnSpPr/>
            <p:nvPr/>
          </p:nvCxnSpPr>
          <p:spPr>
            <a:xfrm>
              <a:off x="1040033" y="2331992"/>
              <a:ext cx="1" cy="600756"/>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42" name="TextBox 41"/>
            <p:cNvSpPr txBox="1"/>
            <p:nvPr/>
          </p:nvSpPr>
          <p:spPr>
            <a:xfrm>
              <a:off x="604362" y="2072800"/>
              <a:ext cx="971403" cy="276999"/>
            </a:xfrm>
            <a:prstGeom prst="rect">
              <a:avLst/>
            </a:prstGeom>
            <a:noFill/>
          </p:spPr>
          <p:txBody>
            <a:bodyPr wrap="square" rtlCol="0">
              <a:spAutoFit/>
            </a:bodyPr>
            <a:lstStyle/>
            <a:p>
              <a:r>
                <a:rPr lang="en-US" sz="1200" dirty="0">
                  <a:latin typeface="Whitney Book" pitchFamily="50" charset="0"/>
                  <a:cs typeface="Whitney Book" pitchFamily="50" charset="0"/>
                </a:rPr>
                <a:t>Profit, </a:t>
              </a:r>
              <a:r>
                <a:rPr lang="el-GR" sz="1200" dirty="0">
                  <a:latin typeface="Whitney Book" pitchFamily="50" charset="0"/>
                  <a:cs typeface="Whitney Book" pitchFamily="50" charset="0"/>
                </a:rPr>
                <a:t>π</a:t>
              </a:r>
              <a:r>
                <a:rPr lang="en-US" sz="1200" dirty="0">
                  <a:latin typeface="Whitney Book" pitchFamily="50" charset="0"/>
                  <a:cs typeface="Whitney Book" pitchFamily="50" charset="0"/>
                </a:rPr>
                <a:t> &gt; 0</a:t>
              </a:r>
            </a:p>
          </p:txBody>
        </p:sp>
      </p:grpSp>
      <p:sp>
        <p:nvSpPr>
          <p:cNvPr id="2" name="Title 1"/>
          <p:cNvSpPr>
            <a:spLocks noGrp="1"/>
          </p:cNvSpPr>
          <p:nvPr>
            <p:ph type="title"/>
          </p:nvPr>
        </p:nvSpPr>
        <p:spPr/>
        <p:txBody>
          <a:bodyPr>
            <a:normAutofit fontScale="90000"/>
          </a:bodyPr>
          <a:lstStyle/>
          <a:p>
            <a:r>
              <a:rPr lang="en-US" dirty="0">
                <a:latin typeface="Whitney-Medium" pitchFamily="50" charset="0"/>
                <a:cs typeface="Whitney-Medium" pitchFamily="50" charset="0"/>
              </a:rPr>
              <a:t>Maximizing profits in the short run</a:t>
            </a:r>
            <a:br>
              <a:rPr lang="en-US" dirty="0">
                <a:latin typeface="Whitney-Medium" pitchFamily="50" charset="0"/>
                <a:cs typeface="Whitney-Medium" pitchFamily="50" charset="0"/>
              </a:rPr>
            </a:br>
            <a:r>
              <a:rPr lang="en-US" dirty="0">
                <a:latin typeface="Whitney-Medium" pitchFamily="50" charset="0"/>
                <a:cs typeface="Whitney-Medium" pitchFamily="50" charset="0"/>
              </a:rPr>
              <a:t>(general case)</a:t>
            </a:r>
          </a:p>
        </p:txBody>
      </p:sp>
      <p:sp>
        <p:nvSpPr>
          <p:cNvPr id="4" name="Slide Number Placeholder 3">
            <a:extLst>
              <a:ext uri="{FF2B5EF4-FFF2-40B4-BE49-F238E27FC236}">
                <a16:creationId xmlns:a16="http://schemas.microsoft.com/office/drawing/2014/main" id="{56196A04-681D-554A-A216-594EA0D10F6F}"/>
              </a:ext>
            </a:extLst>
          </p:cNvPr>
          <p:cNvSpPr>
            <a:spLocks noGrp="1"/>
          </p:cNvSpPr>
          <p:nvPr>
            <p:ph type="sldNum" sz="quarter" idx="12"/>
          </p:nvPr>
        </p:nvSpPr>
        <p:spPr/>
        <p:txBody>
          <a:bodyPr/>
          <a:lstStyle/>
          <a:p>
            <a:fld id="{0F3206DB-9488-D04D-BDD1-A7C9D84C4579}" type="slidenum">
              <a:rPr lang="en-US" smtClean="0">
                <a:latin typeface="Whitney Book" pitchFamily="50" charset="0"/>
                <a:cs typeface="Whitney Book" pitchFamily="50" charset="0"/>
              </a:rPr>
              <a:t>26</a:t>
            </a:fld>
            <a:endParaRPr lang="en-US">
              <a:latin typeface="Whitney Book" pitchFamily="50" charset="0"/>
              <a:cs typeface="Whitney Book" pitchFamily="50" charset="0"/>
            </a:endParaRPr>
          </a:p>
        </p:txBody>
      </p:sp>
      <p:grpSp>
        <p:nvGrpSpPr>
          <p:cNvPr id="109" name="Group 108"/>
          <p:cNvGrpSpPr/>
          <p:nvPr/>
        </p:nvGrpSpPr>
        <p:grpSpPr>
          <a:xfrm>
            <a:off x="0" y="3850328"/>
            <a:ext cx="1366938" cy="276999"/>
            <a:chOff x="0" y="2993077"/>
            <a:chExt cx="1366938" cy="276999"/>
          </a:xfrm>
        </p:grpSpPr>
        <p:sp>
          <p:nvSpPr>
            <p:cNvPr id="46" name="TextBox 45"/>
            <p:cNvSpPr txBox="1"/>
            <p:nvPr/>
          </p:nvSpPr>
          <p:spPr>
            <a:xfrm>
              <a:off x="0" y="2993077"/>
              <a:ext cx="563055" cy="276999"/>
            </a:xfrm>
            <a:prstGeom prst="rect">
              <a:avLst/>
            </a:prstGeom>
            <a:noFill/>
          </p:spPr>
          <p:txBody>
            <a:bodyPr wrap="square" rtlCol="0">
              <a:spAutoFit/>
            </a:bodyPr>
            <a:lstStyle/>
            <a:p>
              <a:r>
                <a:rPr lang="en-US" sz="1200" i="1" dirty="0">
                  <a:latin typeface="Whitney Book" pitchFamily="50" charset="0"/>
                  <a:cs typeface="Whitney Book" pitchFamily="50" charset="0"/>
                </a:rPr>
                <a:t>ATC*</a:t>
              </a:r>
            </a:p>
          </p:txBody>
        </p:sp>
        <p:cxnSp>
          <p:nvCxnSpPr>
            <p:cNvPr id="25" name="Straight Connector 24"/>
            <p:cNvCxnSpPr/>
            <p:nvPr/>
          </p:nvCxnSpPr>
          <p:spPr>
            <a:xfrm>
              <a:off x="508380" y="3124599"/>
              <a:ext cx="85855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grpSp>
      <p:grpSp>
        <p:nvGrpSpPr>
          <p:cNvPr id="96" name="Group 95"/>
          <p:cNvGrpSpPr/>
          <p:nvPr/>
        </p:nvGrpSpPr>
        <p:grpSpPr>
          <a:xfrm>
            <a:off x="515361" y="2725419"/>
            <a:ext cx="2334270" cy="1256429"/>
            <a:chOff x="515361" y="1868168"/>
            <a:chExt cx="2334270" cy="1256429"/>
          </a:xfrm>
        </p:grpSpPr>
        <p:sp>
          <p:nvSpPr>
            <p:cNvPr id="16" name="Arc 15"/>
            <p:cNvSpPr/>
            <p:nvPr/>
          </p:nvSpPr>
          <p:spPr>
            <a:xfrm rot="10800000">
              <a:off x="515361" y="1868168"/>
              <a:ext cx="1479793" cy="1256429"/>
            </a:xfrm>
            <a:prstGeom prst="arc">
              <a:avLst>
                <a:gd name="adj1" fmla="val 10885267"/>
                <a:gd name="adj2" fmla="val 21500385"/>
              </a:avLst>
            </a:prstGeom>
          </p:spPr>
          <p:style>
            <a:lnRef idx="2">
              <a:schemeClr val="accent5"/>
            </a:lnRef>
            <a:fillRef idx="0">
              <a:schemeClr val="accent5"/>
            </a:fillRef>
            <a:effectRef idx="1">
              <a:schemeClr val="accent5"/>
            </a:effectRef>
            <a:fontRef idx="minor">
              <a:schemeClr val="tx1"/>
            </a:fontRef>
          </p:style>
          <p:txBody>
            <a:bodyPr rtlCol="0" anchor="ctr"/>
            <a:lstStyle/>
            <a:p>
              <a:pPr algn="ctr"/>
              <a:endParaRPr lang="en-US">
                <a:latin typeface="Whitney Book" pitchFamily="50" charset="0"/>
                <a:cs typeface="Whitney Book" pitchFamily="50" charset="0"/>
              </a:endParaRPr>
            </a:p>
          </p:txBody>
        </p:sp>
        <p:sp>
          <p:nvSpPr>
            <p:cNvPr id="37" name="TextBox 36"/>
            <p:cNvSpPr txBox="1"/>
            <p:nvPr/>
          </p:nvSpPr>
          <p:spPr>
            <a:xfrm>
              <a:off x="1786913" y="2081739"/>
              <a:ext cx="1062718" cy="461665"/>
            </a:xfrm>
            <a:prstGeom prst="rect">
              <a:avLst/>
            </a:prstGeom>
            <a:noFill/>
          </p:spPr>
          <p:txBody>
            <a:bodyPr wrap="square" rtlCol="0">
              <a:spAutoFit/>
            </a:bodyPr>
            <a:lstStyle/>
            <a:p>
              <a:r>
                <a:rPr lang="en-US" sz="1200" dirty="0">
                  <a:latin typeface="Whitney Book" pitchFamily="50" charset="0"/>
                  <a:cs typeface="Whitney Book" pitchFamily="50" charset="0"/>
                </a:rPr>
                <a:t>Average total cost </a:t>
              </a:r>
              <a:r>
                <a:rPr lang="en-US" sz="1200" i="1" dirty="0">
                  <a:latin typeface="Whitney Book" pitchFamily="50" charset="0"/>
                  <a:cs typeface="Whitney Book" pitchFamily="50" charset="0"/>
                </a:rPr>
                <a:t>ATC</a:t>
              </a:r>
              <a:endParaRPr lang="en-US" sz="1200" dirty="0">
                <a:latin typeface="Whitney Book" pitchFamily="50" charset="0"/>
                <a:cs typeface="Whitney Book" pitchFamily="50" charset="0"/>
              </a:endParaRPr>
            </a:p>
          </p:txBody>
        </p:sp>
      </p:grpSp>
      <p:grpSp>
        <p:nvGrpSpPr>
          <p:cNvPr id="97" name="Group 96"/>
          <p:cNvGrpSpPr/>
          <p:nvPr/>
        </p:nvGrpSpPr>
        <p:grpSpPr>
          <a:xfrm>
            <a:off x="515364" y="2555507"/>
            <a:ext cx="1762488" cy="1810714"/>
            <a:chOff x="515364" y="1698257"/>
            <a:chExt cx="1762488" cy="1810714"/>
          </a:xfrm>
        </p:grpSpPr>
        <p:sp>
          <p:nvSpPr>
            <p:cNvPr id="20" name="Freeform 19"/>
            <p:cNvSpPr/>
            <p:nvPr/>
          </p:nvSpPr>
          <p:spPr>
            <a:xfrm>
              <a:off x="515364" y="1972874"/>
              <a:ext cx="1193606" cy="1536097"/>
            </a:xfrm>
            <a:custGeom>
              <a:avLst/>
              <a:gdLst>
                <a:gd name="connsiteX0" fmla="*/ 0 w 970242"/>
                <a:gd name="connsiteY0" fmla="*/ 1026082 h 1621251"/>
                <a:gd name="connsiteX1" fmla="*/ 349008 w 970242"/>
                <a:gd name="connsiteY1" fmla="*/ 1577514 h 1621251"/>
                <a:gd name="connsiteX2" fmla="*/ 970242 w 970242"/>
                <a:gd name="connsiteY2" fmla="*/ 0 h 1621251"/>
              </a:gdLst>
              <a:ahLst/>
              <a:cxnLst>
                <a:cxn ang="0">
                  <a:pos x="connsiteX0" y="connsiteY0"/>
                </a:cxn>
                <a:cxn ang="0">
                  <a:pos x="connsiteX1" y="connsiteY1"/>
                </a:cxn>
                <a:cxn ang="0">
                  <a:pos x="connsiteX2" y="connsiteY2"/>
                </a:cxn>
              </a:cxnLst>
              <a:rect l="l" t="t" r="r" b="b"/>
              <a:pathLst>
                <a:path w="970242" h="1621251">
                  <a:moveTo>
                    <a:pt x="0" y="1026082"/>
                  </a:moveTo>
                  <a:cubicBezTo>
                    <a:pt x="93650" y="1387305"/>
                    <a:pt x="187301" y="1748528"/>
                    <a:pt x="349008" y="1577514"/>
                  </a:cubicBezTo>
                  <a:cubicBezTo>
                    <a:pt x="510715" y="1406500"/>
                    <a:pt x="740478" y="703250"/>
                    <a:pt x="970242" y="0"/>
                  </a:cubicBezTo>
                </a:path>
              </a:pathLst>
            </a:custGeom>
            <a:ln w="19050"/>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dirty="0">
                <a:latin typeface="Whitney Book" pitchFamily="50" charset="0"/>
                <a:cs typeface="Whitney Book" pitchFamily="50" charset="0"/>
              </a:endParaRPr>
            </a:p>
          </p:txBody>
        </p:sp>
        <p:sp>
          <p:nvSpPr>
            <p:cNvPr id="38" name="TextBox 37"/>
            <p:cNvSpPr txBox="1"/>
            <p:nvPr/>
          </p:nvSpPr>
          <p:spPr>
            <a:xfrm>
              <a:off x="1558897" y="1698257"/>
              <a:ext cx="718955" cy="276999"/>
            </a:xfrm>
            <a:prstGeom prst="rect">
              <a:avLst/>
            </a:prstGeom>
            <a:noFill/>
          </p:spPr>
          <p:txBody>
            <a:bodyPr wrap="square" rtlCol="0">
              <a:spAutoFit/>
            </a:bodyPr>
            <a:lstStyle/>
            <a:p>
              <a:r>
                <a:rPr lang="en-US" sz="1200" i="1" dirty="0">
                  <a:latin typeface="Whitney Book" pitchFamily="50" charset="0"/>
                  <a:cs typeface="Whitney Book" pitchFamily="50" charset="0"/>
                </a:rPr>
                <a:t>MC</a:t>
              </a:r>
            </a:p>
          </p:txBody>
        </p:sp>
      </p:grpSp>
      <p:cxnSp>
        <p:nvCxnSpPr>
          <p:cNvPr id="26" name="Straight Connector 25"/>
          <p:cNvCxnSpPr>
            <a:endCxn id="30" idx="4"/>
          </p:cNvCxnSpPr>
          <p:nvPr/>
        </p:nvCxnSpPr>
        <p:spPr>
          <a:xfrm flipV="1">
            <a:off x="1348320" y="3675199"/>
            <a:ext cx="2328" cy="1228033"/>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199420" y="4903229"/>
            <a:ext cx="718955" cy="276999"/>
          </a:xfrm>
          <a:prstGeom prst="rect">
            <a:avLst/>
          </a:prstGeom>
          <a:noFill/>
        </p:spPr>
        <p:txBody>
          <a:bodyPr wrap="square" rtlCol="0">
            <a:spAutoFit/>
          </a:bodyPr>
          <a:lstStyle/>
          <a:p>
            <a:r>
              <a:rPr lang="en-US" sz="1200" i="1" dirty="0">
                <a:latin typeface="Whitney Book" pitchFamily="50" charset="0"/>
                <a:cs typeface="Whitney Book" pitchFamily="50" charset="0"/>
              </a:rPr>
              <a:t>Q*</a:t>
            </a:r>
          </a:p>
        </p:txBody>
      </p:sp>
      <p:grpSp>
        <p:nvGrpSpPr>
          <p:cNvPr id="102" name="Group 101"/>
          <p:cNvGrpSpPr/>
          <p:nvPr/>
        </p:nvGrpSpPr>
        <p:grpSpPr>
          <a:xfrm>
            <a:off x="122134" y="2043876"/>
            <a:ext cx="2648983" cy="3180746"/>
            <a:chOff x="122133" y="1186626"/>
            <a:chExt cx="2648983" cy="3180746"/>
          </a:xfrm>
        </p:grpSpPr>
        <p:sp>
          <p:nvSpPr>
            <p:cNvPr id="43" name="TextBox 42"/>
            <p:cNvSpPr txBox="1"/>
            <p:nvPr/>
          </p:nvSpPr>
          <p:spPr>
            <a:xfrm>
              <a:off x="122133" y="1186626"/>
              <a:ext cx="938831" cy="461665"/>
            </a:xfrm>
            <a:prstGeom prst="rect">
              <a:avLst/>
            </a:prstGeom>
            <a:noFill/>
          </p:spPr>
          <p:txBody>
            <a:bodyPr wrap="square" rtlCol="0">
              <a:spAutoFit/>
            </a:bodyPr>
            <a:lstStyle/>
            <a:p>
              <a:r>
                <a:rPr lang="en-US" sz="1200" dirty="0">
                  <a:latin typeface="Whitney Book" pitchFamily="50" charset="0"/>
                  <a:cs typeface="Whitney Book" pitchFamily="50" charset="0"/>
                </a:rPr>
                <a:t>Price &amp; cost ($/unit)</a:t>
              </a:r>
            </a:p>
          </p:txBody>
        </p:sp>
        <p:grpSp>
          <p:nvGrpSpPr>
            <p:cNvPr id="101" name="Group 100"/>
            <p:cNvGrpSpPr/>
            <p:nvPr/>
          </p:nvGrpSpPr>
          <p:grpSpPr>
            <a:xfrm>
              <a:off x="237306" y="1644807"/>
              <a:ext cx="2533810" cy="2722565"/>
              <a:chOff x="237306" y="1644807"/>
              <a:chExt cx="2533810" cy="2722565"/>
            </a:xfrm>
          </p:grpSpPr>
          <p:cxnSp>
            <p:nvCxnSpPr>
              <p:cNvPr id="10" name="Straight Arrow Connector 9"/>
              <p:cNvCxnSpPr/>
              <p:nvPr/>
            </p:nvCxnSpPr>
            <p:spPr>
              <a:xfrm flipV="1">
                <a:off x="501404" y="1644807"/>
                <a:ext cx="0" cy="2415133"/>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p:cNvCxnSpPr/>
              <p:nvPr/>
            </p:nvCxnSpPr>
            <p:spPr>
              <a:xfrm>
                <a:off x="487444" y="4045981"/>
                <a:ext cx="2261569" cy="13961"/>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44" name="TextBox 43"/>
              <p:cNvSpPr txBox="1"/>
              <p:nvPr/>
            </p:nvSpPr>
            <p:spPr>
              <a:xfrm>
                <a:off x="1960263" y="4090373"/>
                <a:ext cx="810853" cy="276999"/>
              </a:xfrm>
              <a:prstGeom prst="rect">
                <a:avLst/>
              </a:prstGeom>
              <a:noFill/>
            </p:spPr>
            <p:txBody>
              <a:bodyPr wrap="square" rtlCol="0">
                <a:spAutoFit/>
              </a:bodyPr>
              <a:lstStyle/>
              <a:p>
                <a:r>
                  <a:rPr lang="en-US" sz="1200" dirty="0">
                    <a:latin typeface="Whitney Book" pitchFamily="50" charset="0"/>
                    <a:cs typeface="Whitney Book" pitchFamily="50" charset="0"/>
                  </a:rPr>
                  <a:t>Quantity</a:t>
                </a:r>
              </a:p>
            </p:txBody>
          </p:sp>
          <p:sp>
            <p:nvSpPr>
              <p:cNvPr id="47" name="TextBox 46"/>
              <p:cNvSpPr txBox="1"/>
              <p:nvPr/>
            </p:nvSpPr>
            <p:spPr>
              <a:xfrm>
                <a:off x="237306" y="2655749"/>
                <a:ext cx="500245" cy="276999"/>
              </a:xfrm>
              <a:prstGeom prst="rect">
                <a:avLst/>
              </a:prstGeom>
              <a:noFill/>
            </p:spPr>
            <p:txBody>
              <a:bodyPr wrap="square" rtlCol="0">
                <a:spAutoFit/>
              </a:bodyPr>
              <a:lstStyle/>
              <a:p>
                <a:r>
                  <a:rPr lang="en-US" sz="1200" i="1" dirty="0">
                    <a:latin typeface="Whitney Book" pitchFamily="50" charset="0"/>
                    <a:cs typeface="Whitney Book" pitchFamily="50" charset="0"/>
                  </a:rPr>
                  <a:t>P</a:t>
                </a:r>
              </a:p>
            </p:txBody>
          </p:sp>
        </p:grpSp>
      </p:grpSp>
      <p:sp>
        <p:nvSpPr>
          <p:cNvPr id="50" name="TextBox 49"/>
          <p:cNvSpPr txBox="1"/>
          <p:nvPr/>
        </p:nvSpPr>
        <p:spPr>
          <a:xfrm>
            <a:off x="701869" y="1600251"/>
            <a:ext cx="1747345" cy="400110"/>
          </a:xfrm>
          <a:prstGeom prst="rect">
            <a:avLst/>
          </a:prstGeom>
          <a:noFill/>
        </p:spPr>
        <p:txBody>
          <a:bodyPr wrap="square" rtlCol="0">
            <a:spAutoFit/>
          </a:bodyPr>
          <a:lstStyle/>
          <a:p>
            <a:r>
              <a:rPr lang="en-US" sz="2000" dirty="0">
                <a:latin typeface="Whitney Book" pitchFamily="50" charset="0"/>
                <a:cs typeface="Whitney Book" pitchFamily="50" charset="0"/>
              </a:rPr>
              <a:t>Positive Profit</a:t>
            </a:r>
          </a:p>
        </p:txBody>
      </p:sp>
      <p:cxnSp>
        <p:nvCxnSpPr>
          <p:cNvPr id="58" name="Straight Connector 57"/>
          <p:cNvCxnSpPr>
            <a:endCxn id="60" idx="4"/>
          </p:cNvCxnSpPr>
          <p:nvPr/>
        </p:nvCxnSpPr>
        <p:spPr>
          <a:xfrm flipV="1">
            <a:off x="4298047" y="3727406"/>
            <a:ext cx="2328" cy="1228033"/>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grpSp>
        <p:nvGrpSpPr>
          <p:cNvPr id="111" name="Group 110"/>
          <p:cNvGrpSpPr/>
          <p:nvPr/>
        </p:nvGrpSpPr>
        <p:grpSpPr>
          <a:xfrm>
            <a:off x="3534857" y="2441769"/>
            <a:ext cx="1827680" cy="1256429"/>
            <a:chOff x="3534857" y="1584518"/>
            <a:chExt cx="1827680" cy="1256429"/>
          </a:xfrm>
        </p:grpSpPr>
        <p:sp>
          <p:nvSpPr>
            <p:cNvPr id="55" name="Arc 54"/>
            <p:cNvSpPr/>
            <p:nvPr/>
          </p:nvSpPr>
          <p:spPr>
            <a:xfrm rot="10800000">
              <a:off x="3534857" y="1584518"/>
              <a:ext cx="1479793" cy="1256429"/>
            </a:xfrm>
            <a:prstGeom prst="arc">
              <a:avLst>
                <a:gd name="adj1" fmla="val 10885267"/>
                <a:gd name="adj2" fmla="val 21500385"/>
              </a:avLst>
            </a:prstGeom>
          </p:spPr>
          <p:style>
            <a:lnRef idx="2">
              <a:schemeClr val="accent5"/>
            </a:lnRef>
            <a:fillRef idx="0">
              <a:schemeClr val="accent5"/>
            </a:fillRef>
            <a:effectRef idx="1">
              <a:schemeClr val="accent5"/>
            </a:effectRef>
            <a:fontRef idx="minor">
              <a:schemeClr val="tx1"/>
            </a:fontRef>
          </p:style>
          <p:txBody>
            <a:bodyPr rtlCol="0" anchor="ctr"/>
            <a:lstStyle/>
            <a:p>
              <a:pPr algn="ctr"/>
              <a:endParaRPr lang="en-US">
                <a:latin typeface="Whitney Book" pitchFamily="50" charset="0"/>
                <a:cs typeface="Whitney Book" pitchFamily="50" charset="0"/>
              </a:endParaRPr>
            </a:p>
          </p:txBody>
        </p:sp>
        <p:sp>
          <p:nvSpPr>
            <p:cNvPr id="63" name="TextBox 62"/>
            <p:cNvSpPr txBox="1"/>
            <p:nvPr/>
          </p:nvSpPr>
          <p:spPr>
            <a:xfrm>
              <a:off x="4848864" y="1981851"/>
              <a:ext cx="513673" cy="276999"/>
            </a:xfrm>
            <a:prstGeom prst="rect">
              <a:avLst/>
            </a:prstGeom>
            <a:noFill/>
          </p:spPr>
          <p:txBody>
            <a:bodyPr wrap="square" rtlCol="0">
              <a:spAutoFit/>
            </a:bodyPr>
            <a:lstStyle/>
            <a:p>
              <a:r>
                <a:rPr lang="en-US" sz="1200" i="1" dirty="0">
                  <a:latin typeface="Whitney Book" pitchFamily="50" charset="0"/>
                  <a:cs typeface="Whitney Book" pitchFamily="50" charset="0"/>
                </a:rPr>
                <a:t>ATC</a:t>
              </a:r>
              <a:endParaRPr lang="en-US" sz="1200" dirty="0">
                <a:latin typeface="Whitney Book" pitchFamily="50" charset="0"/>
                <a:cs typeface="Whitney Book" pitchFamily="50" charset="0"/>
              </a:endParaRPr>
            </a:p>
          </p:txBody>
        </p:sp>
      </p:grpSp>
      <p:grpSp>
        <p:nvGrpSpPr>
          <p:cNvPr id="110" name="Group 109"/>
          <p:cNvGrpSpPr/>
          <p:nvPr/>
        </p:nvGrpSpPr>
        <p:grpSpPr>
          <a:xfrm>
            <a:off x="3465091" y="2607714"/>
            <a:ext cx="1762488" cy="1810714"/>
            <a:chOff x="3465091" y="1750464"/>
            <a:chExt cx="1762488" cy="1810714"/>
          </a:xfrm>
        </p:grpSpPr>
        <p:sp>
          <p:nvSpPr>
            <p:cNvPr id="56" name="Freeform 55"/>
            <p:cNvSpPr/>
            <p:nvPr/>
          </p:nvSpPr>
          <p:spPr>
            <a:xfrm>
              <a:off x="3465091" y="2025081"/>
              <a:ext cx="1193606" cy="1536097"/>
            </a:xfrm>
            <a:custGeom>
              <a:avLst/>
              <a:gdLst>
                <a:gd name="connsiteX0" fmla="*/ 0 w 970242"/>
                <a:gd name="connsiteY0" fmla="*/ 1026082 h 1621251"/>
                <a:gd name="connsiteX1" fmla="*/ 349008 w 970242"/>
                <a:gd name="connsiteY1" fmla="*/ 1577514 h 1621251"/>
                <a:gd name="connsiteX2" fmla="*/ 970242 w 970242"/>
                <a:gd name="connsiteY2" fmla="*/ 0 h 1621251"/>
              </a:gdLst>
              <a:ahLst/>
              <a:cxnLst>
                <a:cxn ang="0">
                  <a:pos x="connsiteX0" y="connsiteY0"/>
                </a:cxn>
                <a:cxn ang="0">
                  <a:pos x="connsiteX1" y="connsiteY1"/>
                </a:cxn>
                <a:cxn ang="0">
                  <a:pos x="connsiteX2" y="connsiteY2"/>
                </a:cxn>
              </a:cxnLst>
              <a:rect l="l" t="t" r="r" b="b"/>
              <a:pathLst>
                <a:path w="970242" h="1621251">
                  <a:moveTo>
                    <a:pt x="0" y="1026082"/>
                  </a:moveTo>
                  <a:cubicBezTo>
                    <a:pt x="93650" y="1387305"/>
                    <a:pt x="187301" y="1748528"/>
                    <a:pt x="349008" y="1577514"/>
                  </a:cubicBezTo>
                  <a:cubicBezTo>
                    <a:pt x="510715" y="1406500"/>
                    <a:pt x="740478" y="703250"/>
                    <a:pt x="970242" y="0"/>
                  </a:cubicBezTo>
                </a:path>
              </a:pathLst>
            </a:custGeom>
            <a:ln w="19050"/>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latin typeface="Whitney Book" pitchFamily="50" charset="0"/>
                <a:cs typeface="Whitney Book" pitchFamily="50" charset="0"/>
              </a:endParaRPr>
            </a:p>
          </p:txBody>
        </p:sp>
        <p:sp>
          <p:nvSpPr>
            <p:cNvPr id="64" name="TextBox 63"/>
            <p:cNvSpPr txBox="1"/>
            <p:nvPr/>
          </p:nvSpPr>
          <p:spPr>
            <a:xfrm>
              <a:off x="4508624" y="1750464"/>
              <a:ext cx="718955" cy="276999"/>
            </a:xfrm>
            <a:prstGeom prst="rect">
              <a:avLst/>
            </a:prstGeom>
            <a:noFill/>
          </p:spPr>
          <p:txBody>
            <a:bodyPr wrap="square" rtlCol="0">
              <a:spAutoFit/>
            </a:bodyPr>
            <a:lstStyle/>
            <a:p>
              <a:r>
                <a:rPr lang="en-US" sz="1200" i="1" dirty="0">
                  <a:latin typeface="Whitney Book" pitchFamily="50" charset="0"/>
                  <a:cs typeface="Whitney Book" pitchFamily="50" charset="0"/>
                </a:rPr>
                <a:t>MC</a:t>
              </a:r>
            </a:p>
          </p:txBody>
        </p:sp>
      </p:grpSp>
      <p:sp>
        <p:nvSpPr>
          <p:cNvPr id="69" name="TextBox 68"/>
          <p:cNvSpPr txBox="1"/>
          <p:nvPr/>
        </p:nvSpPr>
        <p:spPr>
          <a:xfrm>
            <a:off x="4149147" y="4955436"/>
            <a:ext cx="423428" cy="276999"/>
          </a:xfrm>
          <a:prstGeom prst="rect">
            <a:avLst/>
          </a:prstGeom>
          <a:noFill/>
        </p:spPr>
        <p:txBody>
          <a:bodyPr wrap="square" rtlCol="0">
            <a:spAutoFit/>
          </a:bodyPr>
          <a:lstStyle/>
          <a:p>
            <a:r>
              <a:rPr lang="en-US" sz="1200" i="1" dirty="0">
                <a:latin typeface="Whitney Book" pitchFamily="50" charset="0"/>
                <a:cs typeface="Whitney Book" pitchFamily="50" charset="0"/>
              </a:rPr>
              <a:t>Q*</a:t>
            </a:r>
          </a:p>
        </p:txBody>
      </p:sp>
      <p:sp>
        <p:nvSpPr>
          <p:cNvPr id="70" name="TextBox 69"/>
          <p:cNvSpPr txBox="1"/>
          <p:nvPr/>
        </p:nvSpPr>
        <p:spPr>
          <a:xfrm>
            <a:off x="2949082" y="3480492"/>
            <a:ext cx="592186" cy="461665"/>
          </a:xfrm>
          <a:prstGeom prst="rect">
            <a:avLst/>
          </a:prstGeom>
          <a:noFill/>
        </p:spPr>
        <p:txBody>
          <a:bodyPr wrap="square" rtlCol="0">
            <a:spAutoFit/>
          </a:bodyPr>
          <a:lstStyle/>
          <a:p>
            <a:r>
              <a:rPr lang="en-US" sz="1200" i="1" dirty="0">
                <a:latin typeface="Whitney Book" pitchFamily="50" charset="0"/>
                <a:cs typeface="Whitney Book" pitchFamily="50" charset="0"/>
              </a:rPr>
              <a:t>ATC* = P</a:t>
            </a:r>
          </a:p>
        </p:txBody>
      </p:sp>
      <p:grpSp>
        <p:nvGrpSpPr>
          <p:cNvPr id="112" name="Group 111"/>
          <p:cNvGrpSpPr/>
          <p:nvPr/>
        </p:nvGrpSpPr>
        <p:grpSpPr>
          <a:xfrm>
            <a:off x="3451132" y="3559345"/>
            <a:ext cx="2399991" cy="276999"/>
            <a:chOff x="3451131" y="2702094"/>
            <a:chExt cx="2399991" cy="276999"/>
          </a:xfrm>
        </p:grpSpPr>
        <p:cxnSp>
          <p:nvCxnSpPr>
            <p:cNvPr id="54" name="Straight Connector 53"/>
            <p:cNvCxnSpPr/>
            <p:nvPr/>
          </p:nvCxnSpPr>
          <p:spPr>
            <a:xfrm>
              <a:off x="3451131" y="2841759"/>
              <a:ext cx="1689197" cy="0"/>
            </a:xfrm>
            <a:prstGeom prst="line">
              <a:avLst/>
            </a:prstGeom>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5100758" y="2702094"/>
              <a:ext cx="750364" cy="276999"/>
            </a:xfrm>
            <a:prstGeom prst="rect">
              <a:avLst/>
            </a:prstGeom>
            <a:noFill/>
          </p:spPr>
          <p:txBody>
            <a:bodyPr wrap="square" rtlCol="0">
              <a:spAutoFit/>
            </a:bodyPr>
            <a:lstStyle/>
            <a:p>
              <a:r>
                <a:rPr lang="en-US" sz="1200" i="1" dirty="0">
                  <a:latin typeface="Whitney Book" pitchFamily="50" charset="0"/>
                  <a:cs typeface="Whitney Book" pitchFamily="50" charset="0"/>
                </a:rPr>
                <a:t>d = MR</a:t>
              </a:r>
            </a:p>
          </p:txBody>
        </p:sp>
      </p:grpSp>
      <p:grpSp>
        <p:nvGrpSpPr>
          <p:cNvPr id="105" name="Group 104"/>
          <p:cNvGrpSpPr/>
          <p:nvPr/>
        </p:nvGrpSpPr>
        <p:grpSpPr>
          <a:xfrm>
            <a:off x="3071861" y="2096083"/>
            <a:ext cx="2648983" cy="3180746"/>
            <a:chOff x="3071860" y="1238833"/>
            <a:chExt cx="2648983" cy="3180746"/>
          </a:xfrm>
        </p:grpSpPr>
        <p:cxnSp>
          <p:nvCxnSpPr>
            <p:cNvPr id="61" name="Straight Arrow Connector 60"/>
            <p:cNvCxnSpPr/>
            <p:nvPr/>
          </p:nvCxnSpPr>
          <p:spPr>
            <a:xfrm flipV="1">
              <a:off x="3451131" y="1697014"/>
              <a:ext cx="0" cy="2415133"/>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p:cNvCxnSpPr/>
            <p:nvPr/>
          </p:nvCxnSpPr>
          <p:spPr>
            <a:xfrm>
              <a:off x="3437171" y="4098188"/>
              <a:ext cx="2261569" cy="13961"/>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67" name="TextBox 66"/>
            <p:cNvSpPr txBox="1"/>
            <p:nvPr/>
          </p:nvSpPr>
          <p:spPr>
            <a:xfrm>
              <a:off x="3071860" y="1238833"/>
              <a:ext cx="938831" cy="461665"/>
            </a:xfrm>
            <a:prstGeom prst="rect">
              <a:avLst/>
            </a:prstGeom>
            <a:noFill/>
          </p:spPr>
          <p:txBody>
            <a:bodyPr wrap="square" rtlCol="0">
              <a:spAutoFit/>
            </a:bodyPr>
            <a:lstStyle/>
            <a:p>
              <a:r>
                <a:rPr lang="en-US" sz="1200" dirty="0">
                  <a:latin typeface="Whitney Book" pitchFamily="50" charset="0"/>
                  <a:cs typeface="Whitney Book" pitchFamily="50" charset="0"/>
                </a:rPr>
                <a:t>Price &amp; cost ($/unit)</a:t>
              </a:r>
            </a:p>
          </p:txBody>
        </p:sp>
        <p:sp>
          <p:nvSpPr>
            <p:cNvPr id="68" name="TextBox 67"/>
            <p:cNvSpPr txBox="1"/>
            <p:nvPr/>
          </p:nvSpPr>
          <p:spPr>
            <a:xfrm>
              <a:off x="4909990" y="4142580"/>
              <a:ext cx="810853" cy="276999"/>
            </a:xfrm>
            <a:prstGeom prst="rect">
              <a:avLst/>
            </a:prstGeom>
            <a:noFill/>
          </p:spPr>
          <p:txBody>
            <a:bodyPr wrap="square" rtlCol="0">
              <a:spAutoFit/>
            </a:bodyPr>
            <a:lstStyle/>
            <a:p>
              <a:r>
                <a:rPr lang="en-US" sz="1200" dirty="0">
                  <a:latin typeface="Whitney Book" pitchFamily="50" charset="0"/>
                  <a:cs typeface="Whitney Book" pitchFamily="50" charset="0"/>
                </a:rPr>
                <a:t>Quantity</a:t>
              </a:r>
            </a:p>
          </p:txBody>
        </p:sp>
      </p:grpSp>
      <p:sp>
        <p:nvSpPr>
          <p:cNvPr id="72" name="TextBox 71"/>
          <p:cNvSpPr txBox="1"/>
          <p:nvPr/>
        </p:nvSpPr>
        <p:spPr>
          <a:xfrm>
            <a:off x="3799558" y="1621061"/>
            <a:ext cx="1615405" cy="400110"/>
          </a:xfrm>
          <a:prstGeom prst="rect">
            <a:avLst/>
          </a:prstGeom>
          <a:noFill/>
        </p:spPr>
        <p:txBody>
          <a:bodyPr wrap="square" rtlCol="0">
            <a:spAutoFit/>
          </a:bodyPr>
          <a:lstStyle/>
          <a:p>
            <a:pPr algn="ctr"/>
            <a:r>
              <a:rPr lang="en-US" sz="2000" dirty="0">
                <a:latin typeface="Whitney Book" pitchFamily="50" charset="0"/>
                <a:cs typeface="Whitney Book" pitchFamily="50" charset="0"/>
              </a:rPr>
              <a:t>Zero Profit</a:t>
            </a:r>
          </a:p>
        </p:txBody>
      </p:sp>
      <p:cxnSp>
        <p:nvCxnSpPr>
          <p:cNvPr id="79" name="Straight Connector 78"/>
          <p:cNvCxnSpPr/>
          <p:nvPr/>
        </p:nvCxnSpPr>
        <p:spPr>
          <a:xfrm flipV="1">
            <a:off x="7307070" y="3739721"/>
            <a:ext cx="2328" cy="1228033"/>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7285000" y="3337992"/>
            <a:ext cx="48861" cy="48861"/>
          </a:xfrm>
          <a:prstGeom prst="ellipse">
            <a:avLst/>
          </a:prstGeom>
          <a:solidFill>
            <a:srgbClr val="002B56"/>
          </a:solidFill>
          <a:effectLst/>
        </p:spPr>
        <p:style>
          <a:lnRef idx="1">
            <a:schemeClr val="dk1"/>
          </a:lnRef>
          <a:fillRef idx="3">
            <a:schemeClr val="dk1"/>
          </a:fillRef>
          <a:effectRef idx="2">
            <a:schemeClr val="dk1"/>
          </a:effectRef>
          <a:fontRef idx="minor">
            <a:schemeClr val="lt1"/>
          </a:fontRef>
        </p:style>
        <p:txBody>
          <a:bodyPr rtlCol="0" anchor="ctr"/>
          <a:lstStyle/>
          <a:p>
            <a:pPr algn="ctr"/>
            <a:endParaRPr lang="en-US">
              <a:latin typeface="Whitney Book" pitchFamily="50" charset="0"/>
              <a:cs typeface="Whitney Book" pitchFamily="50" charset="0"/>
            </a:endParaRPr>
          </a:p>
        </p:txBody>
      </p:sp>
      <p:grpSp>
        <p:nvGrpSpPr>
          <p:cNvPr id="113" name="Group 112"/>
          <p:cNvGrpSpPr/>
          <p:nvPr/>
        </p:nvGrpSpPr>
        <p:grpSpPr>
          <a:xfrm>
            <a:off x="6474114" y="2620029"/>
            <a:ext cx="1762488" cy="1810714"/>
            <a:chOff x="6474114" y="1762779"/>
            <a:chExt cx="1762488" cy="1810714"/>
          </a:xfrm>
        </p:grpSpPr>
        <p:sp>
          <p:nvSpPr>
            <p:cNvPr id="77" name="Freeform 76"/>
            <p:cNvSpPr/>
            <p:nvPr/>
          </p:nvSpPr>
          <p:spPr>
            <a:xfrm>
              <a:off x="6474114" y="2037396"/>
              <a:ext cx="1193606" cy="1536097"/>
            </a:xfrm>
            <a:custGeom>
              <a:avLst/>
              <a:gdLst>
                <a:gd name="connsiteX0" fmla="*/ 0 w 970242"/>
                <a:gd name="connsiteY0" fmla="*/ 1026082 h 1621251"/>
                <a:gd name="connsiteX1" fmla="*/ 349008 w 970242"/>
                <a:gd name="connsiteY1" fmla="*/ 1577514 h 1621251"/>
                <a:gd name="connsiteX2" fmla="*/ 970242 w 970242"/>
                <a:gd name="connsiteY2" fmla="*/ 0 h 1621251"/>
              </a:gdLst>
              <a:ahLst/>
              <a:cxnLst>
                <a:cxn ang="0">
                  <a:pos x="connsiteX0" y="connsiteY0"/>
                </a:cxn>
                <a:cxn ang="0">
                  <a:pos x="connsiteX1" y="connsiteY1"/>
                </a:cxn>
                <a:cxn ang="0">
                  <a:pos x="connsiteX2" y="connsiteY2"/>
                </a:cxn>
              </a:cxnLst>
              <a:rect l="l" t="t" r="r" b="b"/>
              <a:pathLst>
                <a:path w="970242" h="1621251">
                  <a:moveTo>
                    <a:pt x="0" y="1026082"/>
                  </a:moveTo>
                  <a:cubicBezTo>
                    <a:pt x="93650" y="1387305"/>
                    <a:pt x="187301" y="1748528"/>
                    <a:pt x="349008" y="1577514"/>
                  </a:cubicBezTo>
                  <a:cubicBezTo>
                    <a:pt x="510715" y="1406500"/>
                    <a:pt x="740478" y="703250"/>
                    <a:pt x="970242" y="0"/>
                  </a:cubicBezTo>
                </a:path>
              </a:pathLst>
            </a:custGeom>
            <a:ln w="19050"/>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latin typeface="Whitney Book" pitchFamily="50" charset="0"/>
                <a:cs typeface="Whitney Book" pitchFamily="50" charset="0"/>
              </a:endParaRPr>
            </a:p>
          </p:txBody>
        </p:sp>
        <p:sp>
          <p:nvSpPr>
            <p:cNvPr id="85" name="TextBox 84"/>
            <p:cNvSpPr txBox="1"/>
            <p:nvPr/>
          </p:nvSpPr>
          <p:spPr>
            <a:xfrm>
              <a:off x="7517647" y="1762779"/>
              <a:ext cx="718955" cy="276999"/>
            </a:xfrm>
            <a:prstGeom prst="rect">
              <a:avLst/>
            </a:prstGeom>
            <a:noFill/>
          </p:spPr>
          <p:txBody>
            <a:bodyPr wrap="square" rtlCol="0">
              <a:spAutoFit/>
            </a:bodyPr>
            <a:lstStyle/>
            <a:p>
              <a:r>
                <a:rPr lang="en-US" sz="1200" i="1" dirty="0">
                  <a:latin typeface="Whitney Book" pitchFamily="50" charset="0"/>
                  <a:cs typeface="Whitney Book" pitchFamily="50" charset="0"/>
                </a:rPr>
                <a:t>MC</a:t>
              </a:r>
            </a:p>
          </p:txBody>
        </p:sp>
      </p:grpSp>
      <p:grpSp>
        <p:nvGrpSpPr>
          <p:cNvPr id="122" name="Group 121"/>
          <p:cNvGrpSpPr/>
          <p:nvPr/>
        </p:nvGrpSpPr>
        <p:grpSpPr>
          <a:xfrm>
            <a:off x="6449133" y="2390613"/>
            <a:ext cx="1418671" cy="1307532"/>
            <a:chOff x="6449132" y="1533363"/>
            <a:chExt cx="1418671" cy="1307532"/>
          </a:xfrm>
        </p:grpSpPr>
        <p:sp>
          <p:nvSpPr>
            <p:cNvPr id="74" name="Rectangle 73"/>
            <p:cNvSpPr/>
            <p:nvPr/>
          </p:nvSpPr>
          <p:spPr>
            <a:xfrm>
              <a:off x="6449132" y="2505849"/>
              <a:ext cx="849247" cy="33504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latin typeface="Whitney Book" pitchFamily="50" charset="0"/>
                <a:cs typeface="Whitney Book" pitchFamily="50" charset="0"/>
              </a:endParaRPr>
            </a:p>
          </p:txBody>
        </p:sp>
        <p:cxnSp>
          <p:nvCxnSpPr>
            <p:cNvPr id="86" name="Straight Arrow Connector 85"/>
            <p:cNvCxnSpPr/>
            <p:nvPr/>
          </p:nvCxnSpPr>
          <p:spPr>
            <a:xfrm flipH="1">
              <a:off x="6609071" y="1965303"/>
              <a:ext cx="396688" cy="76602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7" name="TextBox 86"/>
            <p:cNvSpPr txBox="1"/>
            <p:nvPr/>
          </p:nvSpPr>
          <p:spPr>
            <a:xfrm>
              <a:off x="6853524" y="1533363"/>
              <a:ext cx="1014279" cy="276999"/>
            </a:xfrm>
            <a:prstGeom prst="rect">
              <a:avLst/>
            </a:prstGeom>
            <a:noFill/>
          </p:spPr>
          <p:txBody>
            <a:bodyPr wrap="square" rtlCol="0">
              <a:spAutoFit/>
            </a:bodyPr>
            <a:lstStyle/>
            <a:p>
              <a:r>
                <a:rPr lang="en-US" sz="1200" dirty="0">
                  <a:latin typeface="Whitney Book" pitchFamily="50" charset="0"/>
                  <a:cs typeface="Whitney Book" pitchFamily="50" charset="0"/>
                </a:rPr>
                <a:t>Loss, </a:t>
              </a:r>
              <a:r>
                <a:rPr lang="el-GR" sz="1200" dirty="0">
                  <a:latin typeface="Whitney Book" pitchFamily="50" charset="0"/>
                  <a:cs typeface="Whitney Book" pitchFamily="50" charset="0"/>
                </a:rPr>
                <a:t>π</a:t>
              </a:r>
              <a:r>
                <a:rPr lang="en-US" sz="1200" dirty="0">
                  <a:latin typeface="Whitney Book" pitchFamily="50" charset="0"/>
                  <a:cs typeface="Whitney Book" pitchFamily="50" charset="0"/>
                </a:rPr>
                <a:t> &lt;0</a:t>
              </a:r>
            </a:p>
          </p:txBody>
        </p:sp>
      </p:grpSp>
      <p:sp>
        <p:nvSpPr>
          <p:cNvPr id="90" name="TextBox 89"/>
          <p:cNvSpPr txBox="1"/>
          <p:nvPr/>
        </p:nvSpPr>
        <p:spPr>
          <a:xfrm>
            <a:off x="7158170" y="4967751"/>
            <a:ext cx="718955" cy="276999"/>
          </a:xfrm>
          <a:prstGeom prst="rect">
            <a:avLst/>
          </a:prstGeom>
          <a:noFill/>
        </p:spPr>
        <p:txBody>
          <a:bodyPr wrap="square" rtlCol="0">
            <a:spAutoFit/>
          </a:bodyPr>
          <a:lstStyle/>
          <a:p>
            <a:r>
              <a:rPr lang="en-US" sz="1200" i="1" dirty="0">
                <a:latin typeface="Whitney Book" pitchFamily="50" charset="0"/>
                <a:cs typeface="Whitney Book" pitchFamily="50" charset="0"/>
              </a:rPr>
              <a:t>Q*</a:t>
            </a:r>
          </a:p>
        </p:txBody>
      </p:sp>
      <p:grpSp>
        <p:nvGrpSpPr>
          <p:cNvPr id="123" name="Group 122"/>
          <p:cNvGrpSpPr/>
          <p:nvPr/>
        </p:nvGrpSpPr>
        <p:grpSpPr>
          <a:xfrm>
            <a:off x="6196057" y="3571660"/>
            <a:ext cx="2664089" cy="282861"/>
            <a:chOff x="6196056" y="2714409"/>
            <a:chExt cx="2664089" cy="282861"/>
          </a:xfrm>
        </p:grpSpPr>
        <p:sp>
          <p:nvSpPr>
            <p:cNvPr id="91" name="TextBox 90"/>
            <p:cNvSpPr txBox="1"/>
            <p:nvPr/>
          </p:nvSpPr>
          <p:spPr>
            <a:xfrm>
              <a:off x="6196056" y="2720271"/>
              <a:ext cx="500245" cy="276999"/>
            </a:xfrm>
            <a:prstGeom prst="rect">
              <a:avLst/>
            </a:prstGeom>
            <a:noFill/>
          </p:spPr>
          <p:txBody>
            <a:bodyPr wrap="square" rtlCol="0">
              <a:spAutoFit/>
            </a:bodyPr>
            <a:lstStyle/>
            <a:p>
              <a:r>
                <a:rPr lang="en-US" sz="1200" i="1" dirty="0">
                  <a:latin typeface="Whitney Book" pitchFamily="50" charset="0"/>
                  <a:cs typeface="Whitney Book" pitchFamily="50" charset="0"/>
                </a:rPr>
                <a:t>P</a:t>
              </a:r>
            </a:p>
          </p:txBody>
        </p:sp>
        <p:grpSp>
          <p:nvGrpSpPr>
            <p:cNvPr id="115" name="Group 114"/>
            <p:cNvGrpSpPr/>
            <p:nvPr/>
          </p:nvGrpSpPr>
          <p:grpSpPr>
            <a:xfrm>
              <a:off x="6460154" y="2714409"/>
              <a:ext cx="2399991" cy="276999"/>
              <a:chOff x="6460154" y="2714409"/>
              <a:chExt cx="2399991" cy="276999"/>
            </a:xfrm>
          </p:grpSpPr>
          <p:cxnSp>
            <p:nvCxnSpPr>
              <p:cNvPr id="75" name="Straight Connector 74"/>
              <p:cNvCxnSpPr/>
              <p:nvPr/>
            </p:nvCxnSpPr>
            <p:spPr>
              <a:xfrm>
                <a:off x="6460154" y="2854074"/>
                <a:ext cx="1689197" cy="0"/>
              </a:xfrm>
              <a:prstGeom prst="line">
                <a:avLst/>
              </a:prstGeom>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8109781" y="2714409"/>
                <a:ext cx="750364" cy="276999"/>
              </a:xfrm>
              <a:prstGeom prst="rect">
                <a:avLst/>
              </a:prstGeom>
              <a:noFill/>
            </p:spPr>
            <p:txBody>
              <a:bodyPr wrap="square" rtlCol="0">
                <a:spAutoFit/>
              </a:bodyPr>
              <a:lstStyle/>
              <a:p>
                <a:r>
                  <a:rPr lang="en-US" sz="1200" i="1" dirty="0">
                    <a:latin typeface="Whitney Book" pitchFamily="50" charset="0"/>
                    <a:cs typeface="Whitney Book" pitchFamily="50" charset="0"/>
                  </a:rPr>
                  <a:t>d = MR</a:t>
                </a:r>
              </a:p>
            </p:txBody>
          </p:sp>
        </p:grpSp>
      </p:grpSp>
      <p:grpSp>
        <p:nvGrpSpPr>
          <p:cNvPr id="106" name="Group 105"/>
          <p:cNvGrpSpPr/>
          <p:nvPr/>
        </p:nvGrpSpPr>
        <p:grpSpPr>
          <a:xfrm>
            <a:off x="6080884" y="2108398"/>
            <a:ext cx="2648983" cy="3180746"/>
            <a:chOff x="6080883" y="1251148"/>
            <a:chExt cx="2648983" cy="3180746"/>
          </a:xfrm>
        </p:grpSpPr>
        <p:cxnSp>
          <p:nvCxnSpPr>
            <p:cNvPr id="82" name="Straight Arrow Connector 81"/>
            <p:cNvCxnSpPr/>
            <p:nvPr/>
          </p:nvCxnSpPr>
          <p:spPr>
            <a:xfrm flipV="1">
              <a:off x="6460154" y="1709329"/>
              <a:ext cx="0" cy="2415133"/>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83" name="Straight Arrow Connector 82"/>
            <p:cNvCxnSpPr/>
            <p:nvPr/>
          </p:nvCxnSpPr>
          <p:spPr>
            <a:xfrm>
              <a:off x="6446194" y="4110503"/>
              <a:ext cx="2261569" cy="13961"/>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88" name="TextBox 87"/>
            <p:cNvSpPr txBox="1"/>
            <p:nvPr/>
          </p:nvSpPr>
          <p:spPr>
            <a:xfrm>
              <a:off x="6080883" y="1251148"/>
              <a:ext cx="938831" cy="461665"/>
            </a:xfrm>
            <a:prstGeom prst="rect">
              <a:avLst/>
            </a:prstGeom>
            <a:noFill/>
          </p:spPr>
          <p:txBody>
            <a:bodyPr wrap="square" rtlCol="0">
              <a:spAutoFit/>
            </a:bodyPr>
            <a:lstStyle/>
            <a:p>
              <a:r>
                <a:rPr lang="en-US" sz="1200" dirty="0">
                  <a:latin typeface="Whitney Book" pitchFamily="50" charset="0"/>
                  <a:cs typeface="Whitney Book" pitchFamily="50" charset="0"/>
                </a:rPr>
                <a:t>Price &amp; cost ($/unit)</a:t>
              </a:r>
            </a:p>
          </p:txBody>
        </p:sp>
        <p:sp>
          <p:nvSpPr>
            <p:cNvPr id="89" name="TextBox 88"/>
            <p:cNvSpPr txBox="1"/>
            <p:nvPr/>
          </p:nvSpPr>
          <p:spPr>
            <a:xfrm>
              <a:off x="7919013" y="4154895"/>
              <a:ext cx="810853" cy="276999"/>
            </a:xfrm>
            <a:prstGeom prst="rect">
              <a:avLst/>
            </a:prstGeom>
            <a:noFill/>
          </p:spPr>
          <p:txBody>
            <a:bodyPr wrap="square" rtlCol="0">
              <a:spAutoFit/>
            </a:bodyPr>
            <a:lstStyle/>
            <a:p>
              <a:r>
                <a:rPr lang="en-US" sz="1200" dirty="0">
                  <a:latin typeface="Whitney Book" pitchFamily="50" charset="0"/>
                  <a:cs typeface="Whitney Book" pitchFamily="50" charset="0"/>
                </a:rPr>
                <a:t>Quantity</a:t>
              </a:r>
            </a:p>
          </p:txBody>
        </p:sp>
      </p:grpSp>
      <p:sp>
        <p:nvSpPr>
          <p:cNvPr id="93" name="TextBox 92"/>
          <p:cNvSpPr txBox="1"/>
          <p:nvPr/>
        </p:nvSpPr>
        <p:spPr>
          <a:xfrm>
            <a:off x="6218542" y="1625881"/>
            <a:ext cx="2664089" cy="400110"/>
          </a:xfrm>
          <a:prstGeom prst="rect">
            <a:avLst/>
          </a:prstGeom>
          <a:noFill/>
        </p:spPr>
        <p:txBody>
          <a:bodyPr wrap="square" rtlCol="0">
            <a:spAutoFit/>
          </a:bodyPr>
          <a:lstStyle/>
          <a:p>
            <a:r>
              <a:rPr lang="en-US" sz="2000" dirty="0">
                <a:latin typeface="Whitney Book" pitchFamily="50" charset="0"/>
                <a:cs typeface="Whitney Book" pitchFamily="50" charset="0"/>
              </a:rPr>
              <a:t>   Negative Profit (Loss)</a:t>
            </a:r>
          </a:p>
        </p:txBody>
      </p:sp>
      <p:grpSp>
        <p:nvGrpSpPr>
          <p:cNvPr id="99" name="Group 98"/>
          <p:cNvGrpSpPr/>
          <p:nvPr/>
        </p:nvGrpSpPr>
        <p:grpSpPr>
          <a:xfrm>
            <a:off x="501405" y="3507138"/>
            <a:ext cx="2399991" cy="276999"/>
            <a:chOff x="501404" y="2649887"/>
            <a:chExt cx="2399991" cy="276999"/>
          </a:xfrm>
        </p:grpSpPr>
        <p:cxnSp>
          <p:nvCxnSpPr>
            <p:cNvPr id="14" name="Straight Connector 13"/>
            <p:cNvCxnSpPr/>
            <p:nvPr/>
          </p:nvCxnSpPr>
          <p:spPr>
            <a:xfrm>
              <a:off x="501404" y="2789552"/>
              <a:ext cx="1689197" cy="0"/>
            </a:xfrm>
            <a:prstGeom prst="line">
              <a:avLst/>
            </a:prstGeom>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151031" y="2649887"/>
              <a:ext cx="750364" cy="276999"/>
            </a:xfrm>
            <a:prstGeom prst="rect">
              <a:avLst/>
            </a:prstGeom>
            <a:noFill/>
          </p:spPr>
          <p:txBody>
            <a:bodyPr wrap="square" rtlCol="0">
              <a:spAutoFit/>
            </a:bodyPr>
            <a:lstStyle/>
            <a:p>
              <a:r>
                <a:rPr lang="en-US" sz="1200" i="1" dirty="0">
                  <a:latin typeface="Whitney Book" pitchFamily="50" charset="0"/>
                  <a:cs typeface="Whitney Book" pitchFamily="50" charset="0"/>
                </a:rPr>
                <a:t>d = MR</a:t>
              </a:r>
            </a:p>
          </p:txBody>
        </p:sp>
      </p:grpSp>
      <p:sp>
        <p:nvSpPr>
          <p:cNvPr id="30" name="Oval 29"/>
          <p:cNvSpPr/>
          <p:nvPr/>
        </p:nvSpPr>
        <p:spPr>
          <a:xfrm>
            <a:off x="1326218" y="3616076"/>
            <a:ext cx="48861" cy="59122"/>
          </a:xfrm>
          <a:prstGeom prst="ellipse">
            <a:avLst/>
          </a:prstGeom>
          <a:solidFill>
            <a:srgbClr val="002B56"/>
          </a:solidFill>
          <a:effectLst/>
        </p:spPr>
        <p:style>
          <a:lnRef idx="1">
            <a:schemeClr val="dk1"/>
          </a:lnRef>
          <a:fillRef idx="3">
            <a:schemeClr val="dk1"/>
          </a:fillRef>
          <a:effectRef idx="2">
            <a:schemeClr val="dk1"/>
          </a:effectRef>
          <a:fontRef idx="minor">
            <a:schemeClr val="lt1"/>
          </a:fontRef>
        </p:style>
        <p:txBody>
          <a:bodyPr rtlCol="0" anchor="ctr"/>
          <a:lstStyle/>
          <a:p>
            <a:pPr algn="ctr"/>
            <a:endParaRPr lang="en-US">
              <a:latin typeface="Whitney Book" pitchFamily="50" charset="0"/>
              <a:cs typeface="Whitney Book" pitchFamily="50" charset="0"/>
            </a:endParaRPr>
          </a:p>
        </p:txBody>
      </p:sp>
      <p:sp>
        <p:nvSpPr>
          <p:cNvPr id="29" name="Oval 28"/>
          <p:cNvSpPr/>
          <p:nvPr/>
        </p:nvSpPr>
        <p:spPr>
          <a:xfrm>
            <a:off x="1313420" y="3964398"/>
            <a:ext cx="48861" cy="48861"/>
          </a:xfrm>
          <a:prstGeom prst="ellipse">
            <a:avLst/>
          </a:prstGeom>
          <a:solidFill>
            <a:srgbClr val="002B56"/>
          </a:solidFill>
          <a:effectLst/>
        </p:spPr>
        <p:style>
          <a:lnRef idx="1">
            <a:schemeClr val="dk1"/>
          </a:lnRef>
          <a:fillRef idx="3">
            <a:schemeClr val="dk1"/>
          </a:fillRef>
          <a:effectRef idx="2">
            <a:schemeClr val="dk1"/>
          </a:effectRef>
          <a:fontRef idx="minor">
            <a:schemeClr val="lt1"/>
          </a:fontRef>
        </p:style>
        <p:txBody>
          <a:bodyPr rtlCol="0" anchor="ctr"/>
          <a:lstStyle/>
          <a:p>
            <a:pPr algn="ctr"/>
            <a:endParaRPr lang="en-US">
              <a:latin typeface="Whitney Book" pitchFamily="50" charset="0"/>
              <a:cs typeface="Whitney Book" pitchFamily="50" charset="0"/>
            </a:endParaRPr>
          </a:p>
        </p:txBody>
      </p:sp>
      <p:sp>
        <p:nvSpPr>
          <p:cNvPr id="60" name="Oval 59"/>
          <p:cNvSpPr/>
          <p:nvPr/>
        </p:nvSpPr>
        <p:spPr>
          <a:xfrm>
            <a:off x="4275945" y="3668283"/>
            <a:ext cx="48861" cy="59122"/>
          </a:xfrm>
          <a:prstGeom prst="ellipse">
            <a:avLst/>
          </a:prstGeom>
          <a:solidFill>
            <a:srgbClr val="002B56"/>
          </a:solidFill>
          <a:effectLst/>
        </p:spPr>
        <p:style>
          <a:lnRef idx="1">
            <a:schemeClr val="dk1"/>
          </a:lnRef>
          <a:fillRef idx="3">
            <a:schemeClr val="dk1"/>
          </a:fillRef>
          <a:effectRef idx="2">
            <a:schemeClr val="dk1"/>
          </a:effectRef>
          <a:fontRef idx="minor">
            <a:schemeClr val="lt1"/>
          </a:fontRef>
        </p:style>
        <p:txBody>
          <a:bodyPr rtlCol="0" anchor="ctr"/>
          <a:lstStyle/>
          <a:p>
            <a:pPr algn="ctr"/>
            <a:endParaRPr lang="en-US">
              <a:latin typeface="Whitney Book" pitchFamily="50" charset="0"/>
              <a:cs typeface="Whitney Book" pitchFamily="50" charset="0"/>
            </a:endParaRPr>
          </a:p>
        </p:txBody>
      </p:sp>
      <p:sp>
        <p:nvSpPr>
          <p:cNvPr id="116" name="Oval 115"/>
          <p:cNvSpPr/>
          <p:nvPr/>
        </p:nvSpPr>
        <p:spPr>
          <a:xfrm>
            <a:off x="7285000" y="3680892"/>
            <a:ext cx="48861" cy="48861"/>
          </a:xfrm>
          <a:prstGeom prst="ellipse">
            <a:avLst/>
          </a:prstGeom>
          <a:solidFill>
            <a:srgbClr val="002B56"/>
          </a:solidFill>
          <a:effectLst/>
        </p:spPr>
        <p:style>
          <a:lnRef idx="1">
            <a:schemeClr val="dk1"/>
          </a:lnRef>
          <a:fillRef idx="3">
            <a:schemeClr val="dk1"/>
          </a:fillRef>
          <a:effectRef idx="2">
            <a:schemeClr val="dk1"/>
          </a:effectRef>
          <a:fontRef idx="minor">
            <a:schemeClr val="lt1"/>
          </a:fontRef>
        </p:style>
        <p:txBody>
          <a:bodyPr rtlCol="0" anchor="ctr"/>
          <a:lstStyle/>
          <a:p>
            <a:pPr algn="ctr"/>
            <a:endParaRPr lang="en-US">
              <a:latin typeface="Whitney Book" pitchFamily="50" charset="0"/>
              <a:cs typeface="Whitney Book" pitchFamily="50" charset="0"/>
            </a:endParaRPr>
          </a:p>
        </p:txBody>
      </p:sp>
      <p:grpSp>
        <p:nvGrpSpPr>
          <p:cNvPr id="121" name="Group 120"/>
          <p:cNvGrpSpPr/>
          <p:nvPr/>
        </p:nvGrpSpPr>
        <p:grpSpPr>
          <a:xfrm>
            <a:off x="5990584" y="3217620"/>
            <a:ext cx="1318814" cy="276999"/>
            <a:chOff x="5990584" y="2360369"/>
            <a:chExt cx="1318814" cy="276999"/>
          </a:xfrm>
        </p:grpSpPr>
        <p:cxnSp>
          <p:nvCxnSpPr>
            <p:cNvPr id="78" name="Straight Connector 77"/>
            <p:cNvCxnSpPr/>
            <p:nvPr/>
          </p:nvCxnSpPr>
          <p:spPr>
            <a:xfrm>
              <a:off x="6450840" y="2498869"/>
              <a:ext cx="85855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5990584" y="2360369"/>
              <a:ext cx="563055" cy="276999"/>
            </a:xfrm>
            <a:prstGeom prst="rect">
              <a:avLst/>
            </a:prstGeom>
            <a:noFill/>
          </p:spPr>
          <p:txBody>
            <a:bodyPr wrap="square" rtlCol="0">
              <a:spAutoFit/>
            </a:bodyPr>
            <a:lstStyle/>
            <a:p>
              <a:r>
                <a:rPr lang="en-US" sz="1200" i="1" dirty="0">
                  <a:latin typeface="Whitney Book" pitchFamily="50" charset="0"/>
                  <a:cs typeface="Whitney Book" pitchFamily="50" charset="0"/>
                </a:rPr>
                <a:t>ATC*</a:t>
              </a:r>
            </a:p>
          </p:txBody>
        </p:sp>
      </p:grpSp>
      <mc:AlternateContent xmlns:mc="http://schemas.openxmlformats.org/markup-compatibility/2006" xmlns:a14="http://schemas.microsoft.com/office/drawing/2010/main">
        <mc:Choice Requires="a14">
          <p:sp>
            <p:nvSpPr>
              <p:cNvPr id="3" name="Rectangle 2"/>
              <p:cNvSpPr/>
              <p:nvPr/>
            </p:nvSpPr>
            <p:spPr>
              <a:xfrm>
                <a:off x="1919457" y="5822931"/>
                <a:ext cx="4935546" cy="461665"/>
              </a:xfrm>
              <a:prstGeom prst="rect">
                <a:avLst/>
              </a:prstGeom>
            </p:spPr>
            <p:txBody>
              <a:bodyPr wrap="square">
                <a:spAutoFit/>
              </a:bodyPr>
              <a:lstStyle/>
              <a:p>
                <a:pPr lvl="1"/>
                <a:r>
                  <a:rPr lang="en-US" sz="2400" dirty="0">
                    <a:latin typeface="Whitney Book" pitchFamily="50" charset="0"/>
                    <a:cs typeface="Whitney Book" pitchFamily="50" charset="0"/>
                  </a:rPr>
                  <a:t>          Profit = </a:t>
                </a:r>
                <a14:m>
                  <m:oMath xmlns:m="http://schemas.openxmlformats.org/officeDocument/2006/math">
                    <m:r>
                      <a:rPr lang="en-US" sz="2400">
                        <a:latin typeface="Cambria Math" charset="0"/>
                        <a:ea typeface="Cambria Math" charset="0"/>
                        <a:cs typeface="Cambria Math" charset="0"/>
                      </a:rPr>
                      <m:t>(</m:t>
                    </m:r>
                    <m:r>
                      <a:rPr lang="en-US" sz="2400" i="1" smtClean="0">
                        <a:solidFill>
                          <a:srgbClr val="C00000"/>
                        </a:solidFill>
                        <a:latin typeface="Cambria Math" charset="0"/>
                        <a:ea typeface="Cambria Math" charset="0"/>
                        <a:cs typeface="Cambria Math" charset="0"/>
                      </a:rPr>
                      <m:t>𝑃</m:t>
                    </m:r>
                    <m:r>
                      <a:rPr lang="en-US" sz="2400" i="1" smtClean="0">
                        <a:solidFill>
                          <a:srgbClr val="C00000"/>
                        </a:solidFill>
                        <a:latin typeface="Cambria Math" charset="0"/>
                        <a:ea typeface="Cambria Math" charset="0"/>
                        <a:cs typeface="Cambria Math" charset="0"/>
                      </a:rPr>
                      <m:t>−</m:t>
                    </m:r>
                    <m:r>
                      <a:rPr lang="en-US" sz="2400" i="1" smtClean="0">
                        <a:solidFill>
                          <a:srgbClr val="C00000"/>
                        </a:solidFill>
                        <a:latin typeface="Cambria Math" charset="0"/>
                        <a:ea typeface="Cambria Math" charset="0"/>
                        <a:cs typeface="Cambria Math" charset="0"/>
                      </a:rPr>
                      <m:t>𝐴𝑇𝐶</m:t>
                    </m:r>
                    <m:r>
                      <a:rPr lang="en-US" sz="2400" i="1">
                        <a:latin typeface="Cambria Math" charset="0"/>
                        <a:ea typeface="Cambria Math" charset="0"/>
                        <a:cs typeface="Cambria Math" charset="0"/>
                      </a:rPr>
                      <m:t>)∙</m:t>
                    </m:r>
                    <m:r>
                      <a:rPr lang="en-US" sz="2400" i="1">
                        <a:latin typeface="Cambria Math" charset="0"/>
                        <a:ea typeface="Cambria Math" charset="0"/>
                        <a:cs typeface="Cambria Math" charset="0"/>
                      </a:rPr>
                      <m:t>𝑄</m:t>
                    </m:r>
                  </m:oMath>
                </a14:m>
                <a:endParaRPr lang="en-US" sz="2400" dirty="0">
                  <a:latin typeface="Whitney Book" pitchFamily="50" charset="0"/>
                  <a:cs typeface="Whitney Book" pitchFamily="50"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919457" y="5822931"/>
                <a:ext cx="4935546" cy="461665"/>
              </a:xfrm>
              <a:prstGeom prst="rect">
                <a:avLst/>
              </a:prstGeom>
              <a:blipFill>
                <a:blip r:embed="rId3"/>
                <a:stretch>
                  <a:fillRect t="-10526" b="-28947"/>
                </a:stretch>
              </a:blipFill>
            </p:spPr>
            <p:txBody>
              <a:bodyPr/>
              <a:lstStyle/>
              <a:p>
                <a:r>
                  <a:rPr lang="en-US">
                    <a:noFill/>
                  </a:rPr>
                  <a:t> </a:t>
                </a:r>
              </a:p>
            </p:txBody>
          </p:sp>
        </mc:Fallback>
      </mc:AlternateContent>
    </p:spTree>
    <p:extLst>
      <p:ext uri="{BB962C8B-B14F-4D97-AF65-F5344CB8AC3E}">
        <p14:creationId xmlns:p14="http://schemas.microsoft.com/office/powerpoint/2010/main" val="2790125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102"/>
                                        </p:tgtEl>
                                        <p:attrNameLst>
                                          <p:attrName>style.visibility</p:attrName>
                                        </p:attrNameLst>
                                      </p:cBhvr>
                                      <p:to>
                                        <p:strVal val="visible"/>
                                      </p:to>
                                    </p:set>
                                    <p:anim calcmode="lin" valueType="num">
                                      <p:cBhvr additive="base">
                                        <p:cTn id="11" dur="500" fill="hold"/>
                                        <p:tgtEl>
                                          <p:spTgt spid="102"/>
                                        </p:tgtEl>
                                        <p:attrNameLst>
                                          <p:attrName>ppt_x</p:attrName>
                                        </p:attrNameLst>
                                      </p:cBhvr>
                                      <p:tavLst>
                                        <p:tav tm="0">
                                          <p:val>
                                            <p:strVal val="0-#ppt_w/2"/>
                                          </p:val>
                                        </p:tav>
                                        <p:tav tm="100000">
                                          <p:val>
                                            <p:strVal val="#ppt_x"/>
                                          </p:val>
                                        </p:tav>
                                      </p:tavLst>
                                    </p:anim>
                                    <p:anim calcmode="lin" valueType="num">
                                      <p:cBhvr additive="base">
                                        <p:cTn id="12" dur="500" fill="hold"/>
                                        <p:tgtEl>
                                          <p:spTgt spid="102"/>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31" presetClass="entr" presetSubtype="0" fill="hold" grpId="0" nodeType="withEffect">
                                  <p:stCondLst>
                                    <p:cond delay="0"/>
                                  </p:stCondLst>
                                  <p:childTnLst>
                                    <p:set>
                                      <p:cBhvr>
                                        <p:cTn id="30" dur="1" fill="hold">
                                          <p:stCondLst>
                                            <p:cond delay="0"/>
                                          </p:stCondLst>
                                        </p:cTn>
                                        <p:tgtEl>
                                          <p:spTgt spid="45"/>
                                        </p:tgtEl>
                                        <p:attrNameLst>
                                          <p:attrName>style.visibility</p:attrName>
                                        </p:attrNameLst>
                                      </p:cBhvr>
                                      <p:to>
                                        <p:strVal val="visible"/>
                                      </p:to>
                                    </p:set>
                                    <p:anim calcmode="lin" valueType="num">
                                      <p:cBhvr>
                                        <p:cTn id="31" dur="1000" fill="hold"/>
                                        <p:tgtEl>
                                          <p:spTgt spid="45"/>
                                        </p:tgtEl>
                                        <p:attrNameLst>
                                          <p:attrName>ppt_w</p:attrName>
                                        </p:attrNameLst>
                                      </p:cBhvr>
                                      <p:tavLst>
                                        <p:tav tm="0">
                                          <p:val>
                                            <p:fltVal val="0"/>
                                          </p:val>
                                        </p:tav>
                                        <p:tav tm="100000">
                                          <p:val>
                                            <p:strVal val="#ppt_w"/>
                                          </p:val>
                                        </p:tav>
                                      </p:tavLst>
                                    </p:anim>
                                    <p:anim calcmode="lin" valueType="num">
                                      <p:cBhvr>
                                        <p:cTn id="32" dur="1000" fill="hold"/>
                                        <p:tgtEl>
                                          <p:spTgt spid="45"/>
                                        </p:tgtEl>
                                        <p:attrNameLst>
                                          <p:attrName>ppt_h</p:attrName>
                                        </p:attrNameLst>
                                      </p:cBhvr>
                                      <p:tavLst>
                                        <p:tav tm="0">
                                          <p:val>
                                            <p:fltVal val="0"/>
                                          </p:val>
                                        </p:tav>
                                        <p:tav tm="100000">
                                          <p:val>
                                            <p:strVal val="#ppt_h"/>
                                          </p:val>
                                        </p:tav>
                                      </p:tavLst>
                                    </p:anim>
                                    <p:anim calcmode="lin" valueType="num">
                                      <p:cBhvr>
                                        <p:cTn id="33" dur="1000" fill="hold"/>
                                        <p:tgtEl>
                                          <p:spTgt spid="45"/>
                                        </p:tgtEl>
                                        <p:attrNameLst>
                                          <p:attrName>style.rotation</p:attrName>
                                        </p:attrNameLst>
                                      </p:cBhvr>
                                      <p:tavLst>
                                        <p:tav tm="0">
                                          <p:val>
                                            <p:fltVal val="90"/>
                                          </p:val>
                                        </p:tav>
                                        <p:tav tm="100000">
                                          <p:val>
                                            <p:fltVal val="0"/>
                                          </p:val>
                                        </p:tav>
                                      </p:tavLst>
                                    </p:anim>
                                    <p:animEffect transition="in" filter="fade">
                                      <p:cBhvr>
                                        <p:cTn id="34" dur="1000"/>
                                        <p:tgtEl>
                                          <p:spTgt spid="45"/>
                                        </p:tgtEl>
                                      </p:cBhvr>
                                    </p:animEffect>
                                  </p:childTnLst>
                                </p:cTn>
                              </p:par>
                              <p:par>
                                <p:cTn id="35" presetID="2" presetClass="entr" presetSubtype="4"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anim calcmode="lin" valueType="num">
                                      <p:cBhvr additive="base">
                                        <p:cTn id="37" dur="500" fill="hold"/>
                                        <p:tgtEl>
                                          <p:spTgt spid="26"/>
                                        </p:tgtEl>
                                        <p:attrNameLst>
                                          <p:attrName>ppt_x</p:attrName>
                                        </p:attrNameLst>
                                      </p:cBhvr>
                                      <p:tavLst>
                                        <p:tav tm="0">
                                          <p:val>
                                            <p:strVal val="#ppt_x"/>
                                          </p:val>
                                        </p:tav>
                                        <p:tav tm="100000">
                                          <p:val>
                                            <p:strVal val="#ppt_x"/>
                                          </p:val>
                                        </p:tav>
                                      </p:tavLst>
                                    </p:anim>
                                    <p:anim calcmode="lin" valueType="num">
                                      <p:cBhvr additive="base">
                                        <p:cTn id="3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109"/>
                                        </p:tgtEl>
                                        <p:attrNameLst>
                                          <p:attrName>style.visibility</p:attrName>
                                        </p:attrNameLst>
                                      </p:cBhvr>
                                      <p:to>
                                        <p:strVal val="visible"/>
                                      </p:to>
                                    </p:set>
                                    <p:anim calcmode="lin" valueType="num">
                                      <p:cBhvr additive="base">
                                        <p:cTn id="43" dur="500" fill="hold"/>
                                        <p:tgtEl>
                                          <p:spTgt spid="109"/>
                                        </p:tgtEl>
                                        <p:attrNameLst>
                                          <p:attrName>ppt_x</p:attrName>
                                        </p:attrNameLst>
                                      </p:cBhvr>
                                      <p:tavLst>
                                        <p:tav tm="0">
                                          <p:val>
                                            <p:strVal val="0-#ppt_w/2"/>
                                          </p:val>
                                        </p:tav>
                                        <p:tav tm="100000">
                                          <p:val>
                                            <p:strVal val="#ppt_x"/>
                                          </p:val>
                                        </p:tav>
                                      </p:tavLst>
                                    </p:anim>
                                    <p:anim calcmode="lin" valueType="num">
                                      <p:cBhvr additive="base">
                                        <p:cTn id="44" dur="500" fill="hold"/>
                                        <p:tgtEl>
                                          <p:spTgt spid="109"/>
                                        </p:tgtEl>
                                        <p:attrNameLst>
                                          <p:attrName>ppt_y</p:attrName>
                                        </p:attrNameLst>
                                      </p:cBhvr>
                                      <p:tavLst>
                                        <p:tav tm="0">
                                          <p:val>
                                            <p:strVal val="#ppt_y"/>
                                          </p:val>
                                        </p:tav>
                                        <p:tav tm="100000">
                                          <p:val>
                                            <p:strVal val="#ppt_y"/>
                                          </p:val>
                                        </p:tav>
                                      </p:tavLst>
                                    </p:anim>
                                  </p:childTnLst>
                                </p:cTn>
                              </p:par>
                              <p:par>
                                <p:cTn id="45" presetID="1" presetClass="entr" presetSubtype="0"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105"/>
                                        </p:tgtEl>
                                        <p:attrNameLst>
                                          <p:attrName>style.visibility</p:attrName>
                                        </p:attrNameLst>
                                      </p:cBhvr>
                                      <p:to>
                                        <p:strVal val="visible"/>
                                      </p:to>
                                    </p:set>
                                    <p:anim calcmode="lin" valueType="num">
                                      <p:cBhvr additive="base">
                                        <p:cTn id="59" dur="500" fill="hold"/>
                                        <p:tgtEl>
                                          <p:spTgt spid="105"/>
                                        </p:tgtEl>
                                        <p:attrNameLst>
                                          <p:attrName>ppt_x</p:attrName>
                                        </p:attrNameLst>
                                      </p:cBhvr>
                                      <p:tavLst>
                                        <p:tav tm="0">
                                          <p:val>
                                            <p:strVal val="#ppt_x"/>
                                          </p:val>
                                        </p:tav>
                                        <p:tav tm="100000">
                                          <p:val>
                                            <p:strVal val="#ppt_x"/>
                                          </p:val>
                                        </p:tav>
                                      </p:tavLst>
                                    </p:anim>
                                    <p:anim calcmode="lin" valueType="num">
                                      <p:cBhvr additive="base">
                                        <p:cTn id="60" dur="500" fill="hold"/>
                                        <p:tgtEl>
                                          <p:spTgt spid="105"/>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10"/>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1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1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60"/>
                                        </p:tgtEl>
                                        <p:attrNameLst>
                                          <p:attrName>style.visibility</p:attrName>
                                        </p:attrNameLst>
                                      </p:cBhvr>
                                      <p:to>
                                        <p:strVal val="visible"/>
                                      </p:to>
                                    </p:set>
                                  </p:childTnLst>
                                </p:cTn>
                              </p:par>
                              <p:par>
                                <p:cTn id="77" presetID="2" presetClass="entr" presetSubtype="4" fill="hold" nodeType="withEffect">
                                  <p:stCondLst>
                                    <p:cond delay="0"/>
                                  </p:stCondLst>
                                  <p:childTnLst>
                                    <p:set>
                                      <p:cBhvr>
                                        <p:cTn id="78" dur="1" fill="hold">
                                          <p:stCondLst>
                                            <p:cond delay="0"/>
                                          </p:stCondLst>
                                        </p:cTn>
                                        <p:tgtEl>
                                          <p:spTgt spid="58"/>
                                        </p:tgtEl>
                                        <p:attrNameLst>
                                          <p:attrName>style.visibility</p:attrName>
                                        </p:attrNameLst>
                                      </p:cBhvr>
                                      <p:to>
                                        <p:strVal val="visible"/>
                                      </p:to>
                                    </p:set>
                                    <p:anim calcmode="lin" valueType="num">
                                      <p:cBhvr additive="base">
                                        <p:cTn id="79" dur="500" fill="hold"/>
                                        <p:tgtEl>
                                          <p:spTgt spid="58"/>
                                        </p:tgtEl>
                                        <p:attrNameLst>
                                          <p:attrName>ppt_x</p:attrName>
                                        </p:attrNameLst>
                                      </p:cBhvr>
                                      <p:tavLst>
                                        <p:tav tm="0">
                                          <p:val>
                                            <p:strVal val="#ppt_x"/>
                                          </p:val>
                                        </p:tav>
                                        <p:tav tm="100000">
                                          <p:val>
                                            <p:strVal val="#ppt_x"/>
                                          </p:val>
                                        </p:tav>
                                      </p:tavLst>
                                    </p:anim>
                                    <p:anim calcmode="lin" valueType="num">
                                      <p:cBhvr additive="base">
                                        <p:cTn id="80" dur="500" fill="hold"/>
                                        <p:tgtEl>
                                          <p:spTgt spid="58"/>
                                        </p:tgtEl>
                                        <p:attrNameLst>
                                          <p:attrName>ppt_y</p:attrName>
                                        </p:attrNameLst>
                                      </p:cBhvr>
                                      <p:tavLst>
                                        <p:tav tm="0">
                                          <p:val>
                                            <p:strVal val="1+#ppt_h/2"/>
                                          </p:val>
                                        </p:tav>
                                        <p:tav tm="100000">
                                          <p:val>
                                            <p:strVal val="#ppt_y"/>
                                          </p:val>
                                        </p:tav>
                                      </p:tavLst>
                                    </p:anim>
                                  </p:childTnLst>
                                </p:cTn>
                              </p:par>
                              <p:par>
                                <p:cTn id="81" presetID="31" presetClass="entr" presetSubtype="0" fill="hold" grpId="0" nodeType="withEffect">
                                  <p:stCondLst>
                                    <p:cond delay="0"/>
                                  </p:stCondLst>
                                  <p:childTnLst>
                                    <p:set>
                                      <p:cBhvr>
                                        <p:cTn id="82" dur="1" fill="hold">
                                          <p:stCondLst>
                                            <p:cond delay="0"/>
                                          </p:stCondLst>
                                        </p:cTn>
                                        <p:tgtEl>
                                          <p:spTgt spid="69"/>
                                        </p:tgtEl>
                                        <p:attrNameLst>
                                          <p:attrName>style.visibility</p:attrName>
                                        </p:attrNameLst>
                                      </p:cBhvr>
                                      <p:to>
                                        <p:strVal val="visible"/>
                                      </p:to>
                                    </p:set>
                                    <p:anim calcmode="lin" valueType="num">
                                      <p:cBhvr>
                                        <p:cTn id="83" dur="1000" fill="hold"/>
                                        <p:tgtEl>
                                          <p:spTgt spid="69"/>
                                        </p:tgtEl>
                                        <p:attrNameLst>
                                          <p:attrName>ppt_w</p:attrName>
                                        </p:attrNameLst>
                                      </p:cBhvr>
                                      <p:tavLst>
                                        <p:tav tm="0">
                                          <p:val>
                                            <p:fltVal val="0"/>
                                          </p:val>
                                        </p:tav>
                                        <p:tav tm="100000">
                                          <p:val>
                                            <p:strVal val="#ppt_w"/>
                                          </p:val>
                                        </p:tav>
                                      </p:tavLst>
                                    </p:anim>
                                    <p:anim calcmode="lin" valueType="num">
                                      <p:cBhvr>
                                        <p:cTn id="84" dur="1000" fill="hold"/>
                                        <p:tgtEl>
                                          <p:spTgt spid="69"/>
                                        </p:tgtEl>
                                        <p:attrNameLst>
                                          <p:attrName>ppt_h</p:attrName>
                                        </p:attrNameLst>
                                      </p:cBhvr>
                                      <p:tavLst>
                                        <p:tav tm="0">
                                          <p:val>
                                            <p:fltVal val="0"/>
                                          </p:val>
                                        </p:tav>
                                        <p:tav tm="100000">
                                          <p:val>
                                            <p:strVal val="#ppt_h"/>
                                          </p:val>
                                        </p:tav>
                                      </p:tavLst>
                                    </p:anim>
                                    <p:anim calcmode="lin" valueType="num">
                                      <p:cBhvr>
                                        <p:cTn id="85" dur="1000" fill="hold"/>
                                        <p:tgtEl>
                                          <p:spTgt spid="69"/>
                                        </p:tgtEl>
                                        <p:attrNameLst>
                                          <p:attrName>style.rotation</p:attrName>
                                        </p:attrNameLst>
                                      </p:cBhvr>
                                      <p:tavLst>
                                        <p:tav tm="0">
                                          <p:val>
                                            <p:fltVal val="90"/>
                                          </p:val>
                                        </p:tav>
                                        <p:tav tm="100000">
                                          <p:val>
                                            <p:fltVal val="0"/>
                                          </p:val>
                                        </p:tav>
                                      </p:tavLst>
                                    </p:anim>
                                    <p:animEffect transition="in" filter="fade">
                                      <p:cBhvr>
                                        <p:cTn id="86" dur="1000"/>
                                        <p:tgtEl>
                                          <p:spTgt spid="69"/>
                                        </p:tgtEl>
                                      </p:cBhvr>
                                    </p:animEffec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7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72"/>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2" presetClass="entr" presetSubtype="2" fill="hold" nodeType="clickEffect">
                                  <p:stCondLst>
                                    <p:cond delay="0"/>
                                  </p:stCondLst>
                                  <p:childTnLst>
                                    <p:set>
                                      <p:cBhvr>
                                        <p:cTn id="98" dur="1" fill="hold">
                                          <p:stCondLst>
                                            <p:cond delay="0"/>
                                          </p:stCondLst>
                                        </p:cTn>
                                        <p:tgtEl>
                                          <p:spTgt spid="106"/>
                                        </p:tgtEl>
                                        <p:attrNameLst>
                                          <p:attrName>style.visibility</p:attrName>
                                        </p:attrNameLst>
                                      </p:cBhvr>
                                      <p:to>
                                        <p:strVal val="visible"/>
                                      </p:to>
                                    </p:set>
                                    <p:anim calcmode="lin" valueType="num">
                                      <p:cBhvr additive="base">
                                        <p:cTn id="99" dur="500" fill="hold"/>
                                        <p:tgtEl>
                                          <p:spTgt spid="106"/>
                                        </p:tgtEl>
                                        <p:attrNameLst>
                                          <p:attrName>ppt_x</p:attrName>
                                        </p:attrNameLst>
                                      </p:cBhvr>
                                      <p:tavLst>
                                        <p:tav tm="0">
                                          <p:val>
                                            <p:strVal val="1+#ppt_w/2"/>
                                          </p:val>
                                        </p:tav>
                                        <p:tav tm="100000">
                                          <p:val>
                                            <p:strVal val="#ppt_x"/>
                                          </p:val>
                                        </p:tav>
                                      </p:tavLst>
                                    </p:anim>
                                    <p:anim calcmode="lin" valueType="num">
                                      <p:cBhvr additive="base">
                                        <p:cTn id="100" dur="500" fill="hold"/>
                                        <p:tgtEl>
                                          <p:spTgt spid="106"/>
                                        </p:tgtEl>
                                        <p:attrNameLst>
                                          <p:attrName>ppt_y</p:attrName>
                                        </p:attrNameLst>
                                      </p:cBhvr>
                                      <p:tavLst>
                                        <p:tav tm="0">
                                          <p:val>
                                            <p:strVal val="#ppt_y"/>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113"/>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114"/>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123"/>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2" presetClass="entr" presetSubtype="4" fill="hold" nodeType="clickEffect">
                                  <p:stCondLst>
                                    <p:cond delay="0"/>
                                  </p:stCondLst>
                                  <p:childTnLst>
                                    <p:set>
                                      <p:cBhvr>
                                        <p:cTn id="116" dur="1" fill="hold">
                                          <p:stCondLst>
                                            <p:cond delay="0"/>
                                          </p:stCondLst>
                                        </p:cTn>
                                        <p:tgtEl>
                                          <p:spTgt spid="79"/>
                                        </p:tgtEl>
                                        <p:attrNameLst>
                                          <p:attrName>style.visibility</p:attrName>
                                        </p:attrNameLst>
                                      </p:cBhvr>
                                      <p:to>
                                        <p:strVal val="visible"/>
                                      </p:to>
                                    </p:set>
                                    <p:anim calcmode="lin" valueType="num">
                                      <p:cBhvr additive="base">
                                        <p:cTn id="117" dur="500" fill="hold"/>
                                        <p:tgtEl>
                                          <p:spTgt spid="79"/>
                                        </p:tgtEl>
                                        <p:attrNameLst>
                                          <p:attrName>ppt_x</p:attrName>
                                        </p:attrNameLst>
                                      </p:cBhvr>
                                      <p:tavLst>
                                        <p:tav tm="0">
                                          <p:val>
                                            <p:strVal val="#ppt_x"/>
                                          </p:val>
                                        </p:tav>
                                        <p:tav tm="100000">
                                          <p:val>
                                            <p:strVal val="#ppt_x"/>
                                          </p:val>
                                        </p:tav>
                                      </p:tavLst>
                                    </p:anim>
                                    <p:anim calcmode="lin" valueType="num">
                                      <p:cBhvr additive="base">
                                        <p:cTn id="118" dur="500" fill="hold"/>
                                        <p:tgtEl>
                                          <p:spTgt spid="79"/>
                                        </p:tgtEl>
                                        <p:attrNameLst>
                                          <p:attrName>ppt_y</p:attrName>
                                        </p:attrNameLst>
                                      </p:cBhvr>
                                      <p:tavLst>
                                        <p:tav tm="0">
                                          <p:val>
                                            <p:strVal val="1+#ppt_h/2"/>
                                          </p:val>
                                        </p:tav>
                                        <p:tav tm="100000">
                                          <p:val>
                                            <p:strVal val="#ppt_y"/>
                                          </p:val>
                                        </p:tav>
                                      </p:tavLst>
                                    </p:anim>
                                  </p:childTnLst>
                                </p:cTn>
                              </p:par>
                              <p:par>
                                <p:cTn id="119" presetID="1" presetClass="entr" presetSubtype="0" fill="hold" grpId="0" nodeType="withEffect">
                                  <p:stCondLst>
                                    <p:cond delay="0"/>
                                  </p:stCondLst>
                                  <p:childTnLst>
                                    <p:set>
                                      <p:cBhvr>
                                        <p:cTn id="120" dur="1" fill="hold">
                                          <p:stCondLst>
                                            <p:cond delay="0"/>
                                          </p:stCondLst>
                                        </p:cTn>
                                        <p:tgtEl>
                                          <p:spTgt spid="116"/>
                                        </p:tgtEl>
                                        <p:attrNameLst>
                                          <p:attrName>style.visibility</p:attrName>
                                        </p:attrNameLst>
                                      </p:cBhvr>
                                      <p:to>
                                        <p:strVal val="visible"/>
                                      </p:to>
                                    </p:set>
                                  </p:childTnLst>
                                </p:cTn>
                              </p:par>
                              <p:par>
                                <p:cTn id="121" presetID="31" presetClass="entr" presetSubtype="0" fill="hold" grpId="0" nodeType="withEffect">
                                  <p:stCondLst>
                                    <p:cond delay="0"/>
                                  </p:stCondLst>
                                  <p:childTnLst>
                                    <p:set>
                                      <p:cBhvr>
                                        <p:cTn id="122" dur="1" fill="hold">
                                          <p:stCondLst>
                                            <p:cond delay="0"/>
                                          </p:stCondLst>
                                        </p:cTn>
                                        <p:tgtEl>
                                          <p:spTgt spid="90"/>
                                        </p:tgtEl>
                                        <p:attrNameLst>
                                          <p:attrName>style.visibility</p:attrName>
                                        </p:attrNameLst>
                                      </p:cBhvr>
                                      <p:to>
                                        <p:strVal val="visible"/>
                                      </p:to>
                                    </p:set>
                                    <p:anim calcmode="lin" valueType="num">
                                      <p:cBhvr>
                                        <p:cTn id="123" dur="1000" fill="hold"/>
                                        <p:tgtEl>
                                          <p:spTgt spid="90"/>
                                        </p:tgtEl>
                                        <p:attrNameLst>
                                          <p:attrName>ppt_w</p:attrName>
                                        </p:attrNameLst>
                                      </p:cBhvr>
                                      <p:tavLst>
                                        <p:tav tm="0">
                                          <p:val>
                                            <p:fltVal val="0"/>
                                          </p:val>
                                        </p:tav>
                                        <p:tav tm="100000">
                                          <p:val>
                                            <p:strVal val="#ppt_w"/>
                                          </p:val>
                                        </p:tav>
                                      </p:tavLst>
                                    </p:anim>
                                    <p:anim calcmode="lin" valueType="num">
                                      <p:cBhvr>
                                        <p:cTn id="124" dur="1000" fill="hold"/>
                                        <p:tgtEl>
                                          <p:spTgt spid="90"/>
                                        </p:tgtEl>
                                        <p:attrNameLst>
                                          <p:attrName>ppt_h</p:attrName>
                                        </p:attrNameLst>
                                      </p:cBhvr>
                                      <p:tavLst>
                                        <p:tav tm="0">
                                          <p:val>
                                            <p:fltVal val="0"/>
                                          </p:val>
                                        </p:tav>
                                        <p:tav tm="100000">
                                          <p:val>
                                            <p:strVal val="#ppt_h"/>
                                          </p:val>
                                        </p:tav>
                                      </p:tavLst>
                                    </p:anim>
                                    <p:anim calcmode="lin" valueType="num">
                                      <p:cBhvr>
                                        <p:cTn id="125" dur="1000" fill="hold"/>
                                        <p:tgtEl>
                                          <p:spTgt spid="90"/>
                                        </p:tgtEl>
                                        <p:attrNameLst>
                                          <p:attrName>style.rotation</p:attrName>
                                        </p:attrNameLst>
                                      </p:cBhvr>
                                      <p:tavLst>
                                        <p:tav tm="0">
                                          <p:val>
                                            <p:fltVal val="90"/>
                                          </p:val>
                                        </p:tav>
                                        <p:tav tm="100000">
                                          <p:val>
                                            <p:fltVal val="0"/>
                                          </p:val>
                                        </p:tav>
                                      </p:tavLst>
                                    </p:anim>
                                    <p:animEffect transition="in" filter="fade">
                                      <p:cBhvr>
                                        <p:cTn id="126" dur="1000"/>
                                        <p:tgtEl>
                                          <p:spTgt spid="90"/>
                                        </p:tgtEl>
                                      </p:cBhvr>
                                    </p:animEffect>
                                  </p:childTnLst>
                                </p:cTn>
                              </p:par>
                            </p:childTnLst>
                          </p:cTn>
                        </p:par>
                      </p:childTnLst>
                    </p:cTn>
                  </p:par>
                  <p:par>
                    <p:cTn id="127" fill="hold">
                      <p:stCondLst>
                        <p:cond delay="indefinite"/>
                      </p:stCondLst>
                      <p:childTnLst>
                        <p:par>
                          <p:cTn id="128" fill="hold">
                            <p:stCondLst>
                              <p:cond delay="0"/>
                            </p:stCondLst>
                            <p:childTnLst>
                              <p:par>
                                <p:cTn id="129" presetID="2" presetClass="entr" presetSubtype="8" fill="hold" nodeType="clickEffect">
                                  <p:stCondLst>
                                    <p:cond delay="0"/>
                                  </p:stCondLst>
                                  <p:childTnLst>
                                    <p:set>
                                      <p:cBhvr>
                                        <p:cTn id="130" dur="1" fill="hold">
                                          <p:stCondLst>
                                            <p:cond delay="0"/>
                                          </p:stCondLst>
                                        </p:cTn>
                                        <p:tgtEl>
                                          <p:spTgt spid="121"/>
                                        </p:tgtEl>
                                        <p:attrNameLst>
                                          <p:attrName>style.visibility</p:attrName>
                                        </p:attrNameLst>
                                      </p:cBhvr>
                                      <p:to>
                                        <p:strVal val="visible"/>
                                      </p:to>
                                    </p:set>
                                    <p:anim calcmode="lin" valueType="num">
                                      <p:cBhvr additive="base">
                                        <p:cTn id="131" dur="500" fill="hold"/>
                                        <p:tgtEl>
                                          <p:spTgt spid="121"/>
                                        </p:tgtEl>
                                        <p:attrNameLst>
                                          <p:attrName>ppt_x</p:attrName>
                                        </p:attrNameLst>
                                      </p:cBhvr>
                                      <p:tavLst>
                                        <p:tav tm="0">
                                          <p:val>
                                            <p:strVal val="0-#ppt_w/2"/>
                                          </p:val>
                                        </p:tav>
                                        <p:tav tm="100000">
                                          <p:val>
                                            <p:strVal val="#ppt_x"/>
                                          </p:val>
                                        </p:tav>
                                      </p:tavLst>
                                    </p:anim>
                                    <p:anim calcmode="lin" valueType="num">
                                      <p:cBhvr additive="base">
                                        <p:cTn id="132" dur="500" fill="hold"/>
                                        <p:tgtEl>
                                          <p:spTgt spid="121"/>
                                        </p:tgtEl>
                                        <p:attrNameLst>
                                          <p:attrName>ppt_y</p:attrName>
                                        </p:attrNameLst>
                                      </p:cBhvr>
                                      <p:tavLst>
                                        <p:tav tm="0">
                                          <p:val>
                                            <p:strVal val="#ppt_y"/>
                                          </p:val>
                                        </p:tav>
                                        <p:tav tm="100000">
                                          <p:val>
                                            <p:strVal val="#ppt_y"/>
                                          </p:val>
                                        </p:tav>
                                      </p:tavLst>
                                    </p:anim>
                                  </p:childTnLst>
                                </p:cTn>
                              </p:par>
                              <p:par>
                                <p:cTn id="133" presetID="1" presetClass="entr" presetSubtype="0" fill="hold" grpId="0" nodeType="withEffect">
                                  <p:stCondLst>
                                    <p:cond delay="0"/>
                                  </p:stCondLst>
                                  <p:childTnLst>
                                    <p:set>
                                      <p:cBhvr>
                                        <p:cTn id="134" dur="1" fill="hold">
                                          <p:stCondLst>
                                            <p:cond delay="0"/>
                                          </p:stCondLst>
                                        </p:cTn>
                                        <p:tgtEl>
                                          <p:spTgt spid="80"/>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122"/>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50" grpId="0"/>
      <p:bldP spid="69" grpId="0"/>
      <p:bldP spid="70" grpId="0"/>
      <p:bldP spid="72" grpId="0"/>
      <p:bldP spid="80" grpId="0" animBg="1"/>
      <p:bldP spid="90" grpId="0"/>
      <p:bldP spid="93" grpId="0"/>
      <p:bldP spid="30" grpId="0" animBg="1"/>
      <p:bldP spid="29" grpId="0" animBg="1"/>
      <p:bldP spid="60" grpId="0" animBg="1"/>
      <p:bldP spid="116" grpId="0" animBg="1"/>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If profit is negative, should a firm Stop Producing?</a:t>
            </a:r>
          </a:p>
        </p:txBody>
      </p:sp>
      <p:sp>
        <p:nvSpPr>
          <p:cNvPr id="35" name="Content Placeholder 2"/>
          <p:cNvSpPr>
            <a:spLocks noGrp="1"/>
          </p:cNvSpPr>
          <p:nvPr>
            <p:ph type="body" idx="1"/>
          </p:nvPr>
        </p:nvSpPr>
        <p:spPr/>
        <p:txBody>
          <a:bodyPr>
            <a:normAutofit/>
          </a:bodyPr>
          <a:lstStyle/>
          <a:p>
            <a:r>
              <a:rPr lang="fr-FR" dirty="0"/>
              <a:t>Is a </a:t>
            </a:r>
            <a:r>
              <a:rPr lang="fr-FR" dirty="0" err="1"/>
              <a:t>firm</a:t>
            </a:r>
            <a:r>
              <a:rPr lang="fr-FR" dirty="0"/>
              <a:t> </a:t>
            </a:r>
            <a:r>
              <a:rPr lang="fr-FR" dirty="0" err="1"/>
              <a:t>better</a:t>
            </a:r>
            <a:r>
              <a:rPr lang="fr-FR" dirty="0"/>
              <a:t> off operating at a </a:t>
            </a:r>
            <a:r>
              <a:rPr lang="fr-FR" dirty="0" err="1"/>
              <a:t>loss</a:t>
            </a:r>
            <a:r>
              <a:rPr lang="fr-FR" dirty="0"/>
              <a:t> or </a:t>
            </a:r>
            <a:r>
              <a:rPr lang="fr-FR" dirty="0" err="1"/>
              <a:t>shutting</a:t>
            </a:r>
            <a:r>
              <a:rPr lang="fr-FR" dirty="0"/>
              <a:t> down and </a:t>
            </a:r>
            <a:r>
              <a:rPr lang="fr-FR" dirty="0" err="1"/>
              <a:t>producing</a:t>
            </a:r>
            <a:r>
              <a:rPr lang="fr-FR" dirty="0"/>
              <a:t> </a:t>
            </a:r>
            <a:r>
              <a:rPr lang="fr-FR" dirty="0" err="1"/>
              <a:t>zero</a:t>
            </a:r>
            <a:r>
              <a:rPr lang="fr-FR" dirty="0"/>
              <a:t> output?</a:t>
            </a:r>
          </a:p>
          <a:p>
            <a:endParaRPr lang="fr-FR" sz="2000" dirty="0"/>
          </a:p>
          <a:p>
            <a:r>
              <a:rPr lang="fr-FR" dirty="0"/>
              <a:t>Stop </a:t>
            </a:r>
            <a:r>
              <a:rPr lang="fr-FR" dirty="0" err="1"/>
              <a:t>producing</a:t>
            </a:r>
            <a:r>
              <a:rPr lang="fr-FR" dirty="0"/>
              <a:t>: Long run vs. Short run</a:t>
            </a:r>
          </a:p>
          <a:p>
            <a:pPr lvl="1"/>
            <a:r>
              <a:rPr lang="fr-FR" sz="2800" dirty="0"/>
              <a:t>Long run: exit the </a:t>
            </a:r>
            <a:r>
              <a:rPr lang="fr-FR" sz="2800" dirty="0" err="1"/>
              <a:t>industry</a:t>
            </a:r>
            <a:endParaRPr lang="fr-FR" sz="2800" dirty="0"/>
          </a:p>
          <a:p>
            <a:pPr lvl="1"/>
            <a:r>
              <a:rPr lang="fr-FR" sz="2800" dirty="0"/>
              <a:t>Short run: </a:t>
            </a:r>
            <a:r>
              <a:rPr lang="fr-FR" sz="2800" dirty="0" err="1"/>
              <a:t>need</a:t>
            </a:r>
            <a:r>
              <a:rPr lang="fr-FR" sz="2800" dirty="0"/>
              <a:t> to </a:t>
            </a:r>
            <a:r>
              <a:rPr lang="fr-FR" sz="2800" dirty="0" err="1"/>
              <a:t>pay</a:t>
            </a:r>
            <a:r>
              <a:rPr lang="fr-FR" sz="2800" dirty="0"/>
              <a:t> for the </a:t>
            </a:r>
            <a:r>
              <a:rPr lang="fr-FR" sz="2800" dirty="0" err="1"/>
              <a:t>fixed</a:t>
            </a:r>
            <a:r>
              <a:rPr lang="fr-FR" sz="2800" dirty="0"/>
              <a:t> </a:t>
            </a:r>
            <a:r>
              <a:rPr lang="fr-FR" sz="2800" dirty="0" err="1"/>
              <a:t>costs</a:t>
            </a:r>
            <a:r>
              <a:rPr lang="fr-FR" sz="2800" dirty="0"/>
              <a:t> </a:t>
            </a:r>
          </a:p>
          <a:p>
            <a:pPr lvl="2"/>
            <a:r>
              <a:rPr lang="fr-FR" sz="2400" dirty="0"/>
              <a:t>E.g., land </a:t>
            </a:r>
            <a:r>
              <a:rPr lang="fr-FR" sz="2400" dirty="0" err="1"/>
              <a:t>rental</a:t>
            </a:r>
            <a:r>
              <a:rPr lang="fr-FR" sz="2400" dirty="0"/>
              <a:t> </a:t>
            </a:r>
            <a:r>
              <a:rPr lang="fr-FR" sz="2400" dirty="0" err="1"/>
              <a:t>contract</a:t>
            </a:r>
            <a:r>
              <a:rPr lang="fr-FR" sz="2400" dirty="0"/>
              <a:t> for the </a:t>
            </a:r>
            <a:r>
              <a:rPr lang="fr-FR" sz="2400" dirty="0" err="1"/>
              <a:t>year</a:t>
            </a:r>
            <a:endParaRPr lang="fr-FR" sz="2400" dirty="0"/>
          </a:p>
          <a:p>
            <a:pPr marL="457200" lvl="1" indent="0">
              <a:buNone/>
            </a:pPr>
            <a:endParaRPr lang="fr-FR" sz="2000" dirty="0"/>
          </a:p>
          <a:p>
            <a:r>
              <a:rPr lang="fr-FR" dirty="0" err="1">
                <a:solidFill>
                  <a:srgbClr val="C00000"/>
                </a:solidFill>
              </a:rPr>
              <a:t>We</a:t>
            </a:r>
            <a:r>
              <a:rPr lang="fr-FR" dirty="0">
                <a:solidFill>
                  <a:srgbClr val="C00000"/>
                </a:solidFill>
              </a:rPr>
              <a:t> first focus on short-run </a:t>
            </a:r>
            <a:r>
              <a:rPr lang="fr-FR" dirty="0" err="1">
                <a:solidFill>
                  <a:srgbClr val="C00000"/>
                </a:solidFill>
              </a:rPr>
              <a:t>decisions</a:t>
            </a:r>
            <a:endParaRPr lang="fr-FR" dirty="0">
              <a:solidFill>
                <a:srgbClr val="C00000"/>
              </a:solidFill>
            </a:endParaRPr>
          </a:p>
          <a:p>
            <a:pPr marL="0" indent="0">
              <a:buNone/>
            </a:pPr>
            <a:endParaRPr lang="en-US" dirty="0"/>
          </a:p>
          <a:p>
            <a:endParaRPr lang="en-US" dirty="0"/>
          </a:p>
          <a:p>
            <a:pPr marL="0" indent="0" algn="ctr">
              <a:buNone/>
            </a:pPr>
            <a:endParaRPr lang="en-US" baseline="-25000" dirty="0">
              <a:solidFill>
                <a:srgbClr val="FF0000"/>
              </a:solidFill>
            </a:endParaRPr>
          </a:p>
        </p:txBody>
      </p:sp>
      <p:sp>
        <p:nvSpPr>
          <p:cNvPr id="3" name="Slide Number Placeholder 2"/>
          <p:cNvSpPr>
            <a:spLocks noGrp="1"/>
          </p:cNvSpPr>
          <p:nvPr>
            <p:ph type="sldNum" sz="quarter" idx="12"/>
          </p:nvPr>
        </p:nvSpPr>
        <p:spPr/>
        <p:txBody>
          <a:bodyPr/>
          <a:lstStyle/>
          <a:p>
            <a:fld id="{0F3206DB-9488-D04D-BDD1-A7C9D84C4579}" type="slidenum">
              <a:rPr lang="en-US" smtClean="0"/>
              <a:t>27</a:t>
            </a:fld>
            <a:endParaRPr lang="en-US"/>
          </a:p>
        </p:txBody>
      </p:sp>
    </p:spTree>
    <p:extLst>
      <p:ext uri="{BB962C8B-B14F-4D97-AF65-F5344CB8AC3E}">
        <p14:creationId xmlns:p14="http://schemas.microsoft.com/office/powerpoint/2010/main" val="2323741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If profit is negative, should a firm shut down </a:t>
            </a:r>
            <a:r>
              <a:rPr lang="en-US" b="1" dirty="0">
                <a:solidFill>
                  <a:srgbClr val="C00000"/>
                </a:solidFill>
              </a:rPr>
              <a:t>in the short run</a:t>
            </a:r>
            <a:r>
              <a:rPr lang="en-US" dirty="0"/>
              <a:t>?</a:t>
            </a:r>
          </a:p>
        </p:txBody>
      </p:sp>
      <mc:AlternateContent xmlns:mc="http://schemas.openxmlformats.org/markup-compatibility/2006" xmlns:a14="http://schemas.microsoft.com/office/drawing/2010/main">
        <mc:Choice Requires="a14">
          <p:sp>
            <p:nvSpPr>
              <p:cNvPr id="35" name="Content Placeholder 2"/>
              <p:cNvSpPr>
                <a:spLocks noGrp="1"/>
              </p:cNvSpPr>
              <p:nvPr>
                <p:ph type="body" idx="1"/>
              </p:nvPr>
            </p:nvSpPr>
            <p:spPr/>
            <p:txBody>
              <a:bodyPr>
                <a:normAutofit lnSpcReduction="10000"/>
              </a:bodyPr>
              <a:lstStyle/>
              <a:p>
                <a:r>
                  <a:rPr lang="en-US" sz="2400" dirty="0"/>
                  <a:t>The answer depends on the firm’s costs and revenues under producing vs. not producing</a:t>
                </a:r>
              </a:p>
              <a:p>
                <a:endParaRPr lang="en-US" sz="2400" dirty="0"/>
              </a:p>
              <a:p>
                <a:r>
                  <a:rPr lang="en-US" sz="2400" dirty="0"/>
                  <a:t>Option 1: Stop producing (but need to pay for the fixed costs)</a:t>
                </a:r>
              </a:p>
              <a:p>
                <a:pPr lvl="1"/>
                <a:r>
                  <a:rPr lang="fr-FR" sz="2200" dirty="0"/>
                  <a:t>Profit = </a:t>
                </a:r>
                <a14:m>
                  <m:oMath xmlns:m="http://schemas.openxmlformats.org/officeDocument/2006/math">
                    <m:r>
                      <a:rPr lang="fr-FR" sz="2200" i="1" dirty="0" smtClean="0">
                        <a:latin typeface="Cambria Math" panose="02040503050406030204" pitchFamily="18" charset="0"/>
                      </a:rPr>
                      <m:t>−</m:t>
                    </m:r>
                    <m:r>
                      <a:rPr lang="fr-FR" sz="2200" i="1" dirty="0" smtClean="0">
                        <a:latin typeface="Cambria Math" panose="02040503050406030204" pitchFamily="18" charset="0"/>
                      </a:rPr>
                      <m:t>𝑇𝐹𝐶</m:t>
                    </m:r>
                  </m:oMath>
                </a14:m>
                <a:r>
                  <a:rPr lang="en-US" sz="2200" dirty="0"/>
                  <a:t>    (i.e., a loss)</a:t>
                </a:r>
              </a:p>
              <a:p>
                <a:endParaRPr lang="en-US" sz="2400" dirty="0"/>
              </a:p>
              <a:p>
                <a:r>
                  <a:rPr lang="en-US" sz="2400" dirty="0"/>
                  <a:t>Option 2: Operate</a:t>
                </a:r>
              </a:p>
              <a:p>
                <a:pPr lvl="1"/>
                <a:r>
                  <a:rPr lang="en-US" sz="2200" dirty="0"/>
                  <a:t>Profit = </a:t>
                </a:r>
                <a14:m>
                  <m:oMath xmlns:m="http://schemas.openxmlformats.org/officeDocument/2006/math">
                    <m:r>
                      <a:rPr lang="en-US" sz="2200" i="1">
                        <a:latin typeface="Cambria Math" charset="0"/>
                      </a:rPr>
                      <m:t>𝑇𝑅</m:t>
                    </m:r>
                    <m:r>
                      <a:rPr lang="en-US" sz="2200" i="1">
                        <a:latin typeface="Cambria Math" charset="0"/>
                      </a:rPr>
                      <m:t>−</m:t>
                    </m:r>
                    <m:r>
                      <a:rPr lang="en-US" sz="2200" i="1">
                        <a:latin typeface="Cambria Math" charset="0"/>
                      </a:rPr>
                      <m:t>𝑇𝐶</m:t>
                    </m:r>
                    <m:r>
                      <a:rPr lang="en-US" sz="2200" i="1">
                        <a:latin typeface="Cambria Math" charset="0"/>
                      </a:rPr>
                      <m:t>=</m:t>
                    </m:r>
                    <m:r>
                      <a:rPr lang="en-US" sz="2200" i="1">
                        <a:latin typeface="Cambria Math" charset="0"/>
                      </a:rPr>
                      <m:t>𝑇𝑅</m:t>
                    </m:r>
                    <m:r>
                      <a:rPr lang="en-US" sz="2200" i="1">
                        <a:latin typeface="Cambria Math" charset="0"/>
                      </a:rPr>
                      <m:t>−</m:t>
                    </m:r>
                    <m:d>
                      <m:dPr>
                        <m:ctrlPr>
                          <a:rPr lang="en-US" sz="2200" i="1">
                            <a:latin typeface="Cambria Math" panose="02040503050406030204" pitchFamily="18" charset="0"/>
                          </a:rPr>
                        </m:ctrlPr>
                      </m:dPr>
                      <m:e>
                        <m:r>
                          <a:rPr lang="fr-FR" sz="2200" b="0" i="1" smtClean="0">
                            <a:latin typeface="Cambria Math" panose="02040503050406030204" pitchFamily="18" charset="0"/>
                          </a:rPr>
                          <m:t>𝑇</m:t>
                        </m:r>
                        <m:r>
                          <a:rPr lang="en-US" sz="2200" i="1">
                            <a:latin typeface="Cambria Math" charset="0"/>
                          </a:rPr>
                          <m:t>𝐹𝐶</m:t>
                        </m:r>
                        <m:r>
                          <a:rPr lang="en-US" sz="2200" i="1">
                            <a:latin typeface="Cambria Math" charset="0"/>
                          </a:rPr>
                          <m:t>+</m:t>
                        </m:r>
                        <m:r>
                          <a:rPr lang="fr-FR" sz="2200" b="0" i="1" smtClean="0">
                            <a:latin typeface="Cambria Math" panose="02040503050406030204" pitchFamily="18" charset="0"/>
                          </a:rPr>
                          <m:t>𝑇</m:t>
                        </m:r>
                        <m:r>
                          <a:rPr lang="en-US" sz="2200" i="1">
                            <a:latin typeface="Cambria Math" charset="0"/>
                          </a:rPr>
                          <m:t>𝑉𝐶</m:t>
                        </m:r>
                      </m:e>
                    </m:d>
                  </m:oMath>
                </a14:m>
                <a:br>
                  <a:rPr lang="en-US" sz="2200" dirty="0"/>
                </a:br>
                <a:r>
                  <a:rPr lang="en-US" sz="2200" dirty="0"/>
                  <a:t>  	      </a:t>
                </a:r>
                <a14:m>
                  <m:oMath xmlns:m="http://schemas.openxmlformats.org/officeDocument/2006/math">
                    <m:r>
                      <a:rPr lang="en-US" sz="2200" b="0" i="1" smtClean="0">
                        <a:latin typeface="Cambria Math" charset="0"/>
                      </a:rPr>
                      <m:t>=</m:t>
                    </m:r>
                    <m:r>
                      <a:rPr lang="en-US" sz="2200" b="0" i="1" smtClean="0">
                        <a:latin typeface="Cambria Math" charset="0"/>
                      </a:rPr>
                      <m:t>𝑇𝑅</m:t>
                    </m:r>
                    <m:r>
                      <a:rPr lang="en-US" sz="2200" b="0" i="1" smtClean="0">
                        <a:latin typeface="Cambria Math" charset="0"/>
                      </a:rPr>
                      <m:t>−</m:t>
                    </m:r>
                    <m:r>
                      <a:rPr lang="fr-FR" sz="2200" b="0" i="1" smtClean="0">
                        <a:latin typeface="Cambria Math" panose="02040503050406030204" pitchFamily="18" charset="0"/>
                      </a:rPr>
                      <m:t>𝑇</m:t>
                    </m:r>
                    <m:r>
                      <a:rPr lang="en-US" sz="2200" b="0" i="1" smtClean="0">
                        <a:latin typeface="Cambria Math" charset="0"/>
                      </a:rPr>
                      <m:t>𝐹𝐶</m:t>
                    </m:r>
                    <m:r>
                      <a:rPr lang="en-US" sz="2200" b="0" i="1" smtClean="0">
                        <a:latin typeface="Cambria Math" charset="0"/>
                      </a:rPr>
                      <m:t>−</m:t>
                    </m:r>
                    <m:r>
                      <a:rPr lang="fr-FR" sz="2200" b="0" i="1" smtClean="0">
                        <a:latin typeface="Cambria Math" panose="02040503050406030204" pitchFamily="18" charset="0"/>
                      </a:rPr>
                      <m:t>𝑇</m:t>
                    </m:r>
                    <m:r>
                      <a:rPr lang="en-US" sz="2200" b="0" i="1" smtClean="0">
                        <a:latin typeface="Cambria Math" charset="0"/>
                      </a:rPr>
                      <m:t>𝑉𝐶</m:t>
                    </m:r>
                  </m:oMath>
                </a14:m>
                <a:endParaRPr lang="en-US" sz="2200" dirty="0"/>
              </a:p>
              <a:p>
                <a:endParaRPr lang="en-US" sz="1500" dirty="0"/>
              </a:p>
              <a:p>
                <a:r>
                  <a:rPr lang="en-US" sz="2400" dirty="0"/>
                  <a:t>Difference </a:t>
                </a:r>
                <a14:m>
                  <m:oMath xmlns:m="http://schemas.openxmlformats.org/officeDocument/2006/math">
                    <m:r>
                      <a:rPr lang="en-US" sz="2400" i="1" dirty="0" smtClean="0">
                        <a:latin typeface="Cambria Math" panose="02040503050406030204" pitchFamily="18" charset="0"/>
                      </a:rPr>
                      <m:t>= </m:t>
                    </m:r>
                    <m:r>
                      <a:rPr lang="en-US" sz="2400" b="0" i="1" dirty="0" smtClean="0">
                        <a:latin typeface="Cambria Math" panose="02040503050406030204" pitchFamily="18" charset="0"/>
                      </a:rPr>
                      <m:t>   </m:t>
                    </m:r>
                    <m:r>
                      <a:rPr lang="en-US" sz="2400" i="1" smtClean="0">
                        <a:latin typeface="Cambria Math" panose="02040503050406030204" pitchFamily="18" charset="0"/>
                      </a:rPr>
                      <m:t>𝑇𝑅</m:t>
                    </m:r>
                    <m:r>
                      <a:rPr lang="en-US" sz="2400" i="1" smtClean="0">
                        <a:latin typeface="Cambria Math" panose="02040503050406030204" pitchFamily="18" charset="0"/>
                      </a:rPr>
                      <m:t>−</m:t>
                    </m:r>
                    <m:r>
                      <a:rPr lang="fr-FR" sz="2400" b="0" i="1" smtClean="0">
                        <a:latin typeface="Cambria Math" panose="02040503050406030204" pitchFamily="18" charset="0"/>
                      </a:rPr>
                      <m:t>𝑇</m:t>
                    </m:r>
                    <m:r>
                      <a:rPr lang="en-US" sz="2400" b="0" i="1" smtClean="0">
                        <a:latin typeface="Cambria Math" panose="02040503050406030204" pitchFamily="18" charset="0"/>
                      </a:rPr>
                      <m:t>𝑉𝐶</m:t>
                    </m:r>
                  </m:oMath>
                </a14:m>
                <a:endParaRPr lang="fr-FR" sz="24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fr-FR" sz="2400" i="1">
                          <a:latin typeface="Cambria Math" panose="02040503050406030204" pitchFamily="18" charset="0"/>
                        </a:rPr>
                        <m:t>=</m:t>
                      </m:r>
                      <m:r>
                        <a:rPr lang="fr-FR" sz="2400" i="1">
                          <a:latin typeface="Cambria Math" panose="02040503050406030204" pitchFamily="18" charset="0"/>
                        </a:rPr>
                        <m:t>𝑃</m:t>
                      </m:r>
                      <m:r>
                        <a:rPr lang="fr-FR" sz="2400" i="1" smtClean="0">
                          <a:latin typeface="Cambria Math" panose="02040503050406030204" pitchFamily="18" charset="0"/>
                        </a:rPr>
                        <m:t>∙</m:t>
                      </m:r>
                      <m:r>
                        <a:rPr lang="fr-FR" sz="2400" i="1">
                          <a:latin typeface="Cambria Math" panose="02040503050406030204" pitchFamily="18" charset="0"/>
                        </a:rPr>
                        <m:t>𝑄</m:t>
                      </m:r>
                      <m:r>
                        <a:rPr lang="fr-FR" sz="2400" i="1">
                          <a:latin typeface="Cambria Math" panose="02040503050406030204" pitchFamily="18" charset="0"/>
                        </a:rPr>
                        <m:t> − </m:t>
                      </m:r>
                      <m:r>
                        <a:rPr lang="fr-FR" sz="2400" i="1">
                          <a:latin typeface="Cambria Math" panose="02040503050406030204" pitchFamily="18" charset="0"/>
                        </a:rPr>
                        <m:t>𝐴𝑉𝐶</m:t>
                      </m:r>
                      <m:r>
                        <a:rPr lang="fr-FR" sz="2400" i="1">
                          <a:latin typeface="Cambria Math" panose="02040503050406030204" pitchFamily="18" charset="0"/>
                        </a:rPr>
                        <m:t>∙</m:t>
                      </m:r>
                      <m:r>
                        <a:rPr lang="fr-FR" sz="2400" i="1">
                          <a:latin typeface="Cambria Math" panose="02040503050406030204" pitchFamily="18" charset="0"/>
                        </a:rPr>
                        <m:t>𝑄</m:t>
                      </m:r>
                      <m:r>
                        <a:rPr lang="fr-FR" sz="2400" i="1">
                          <a:latin typeface="Cambria Math" panose="02040503050406030204" pitchFamily="18" charset="0"/>
                        </a:rPr>
                        <m:t> = </m:t>
                      </m:r>
                      <m:r>
                        <a:rPr lang="fr-FR" sz="2400" i="1">
                          <a:latin typeface="Cambria Math" panose="02040503050406030204" pitchFamily="18" charset="0"/>
                        </a:rPr>
                        <m:t>𝑄</m:t>
                      </m:r>
                      <m:r>
                        <a:rPr lang="fr-FR" sz="2400" i="1">
                          <a:latin typeface="Cambria Math" panose="02040503050406030204" pitchFamily="18" charset="0"/>
                        </a:rPr>
                        <m:t> ∙ (</m:t>
                      </m:r>
                      <m:r>
                        <a:rPr lang="fr-FR" sz="2400" i="1" smtClean="0">
                          <a:solidFill>
                            <a:srgbClr val="C00000"/>
                          </a:solidFill>
                          <a:latin typeface="Cambria Math" panose="02040503050406030204" pitchFamily="18" charset="0"/>
                        </a:rPr>
                        <m:t>𝑃</m:t>
                      </m:r>
                      <m:r>
                        <a:rPr lang="fr-FR" sz="2400" i="1" smtClean="0">
                          <a:solidFill>
                            <a:srgbClr val="C00000"/>
                          </a:solidFill>
                          <a:latin typeface="Cambria Math" panose="02040503050406030204" pitchFamily="18" charset="0"/>
                        </a:rPr>
                        <m:t>−</m:t>
                      </m:r>
                      <m:r>
                        <a:rPr lang="fr-FR" sz="2400" i="1" smtClean="0">
                          <a:solidFill>
                            <a:srgbClr val="C00000"/>
                          </a:solidFill>
                          <a:latin typeface="Cambria Math" panose="02040503050406030204" pitchFamily="18" charset="0"/>
                        </a:rPr>
                        <m:t>𝐴𝑉𝐶</m:t>
                      </m:r>
                      <m:r>
                        <a:rPr lang="fr-FR" sz="2400" i="1">
                          <a:latin typeface="Cambria Math" panose="02040503050406030204" pitchFamily="18" charset="0"/>
                        </a:rPr>
                        <m:t>)</m:t>
                      </m:r>
                    </m:oMath>
                  </m:oMathPara>
                </a14:m>
                <a:endParaRPr lang="fr-FR" sz="2400" dirty="0"/>
              </a:p>
              <a:p>
                <a:pPr marL="0" indent="0">
                  <a:buNone/>
                </a:pPr>
                <a:endParaRPr lang="en-US" sz="2400" dirty="0"/>
              </a:p>
            </p:txBody>
          </p:sp>
        </mc:Choice>
        <mc:Fallback xmlns="">
          <p:sp>
            <p:nvSpPr>
              <p:cNvPr id="35" name="Content Placeholder 2"/>
              <p:cNvSpPr>
                <a:spLocks noGrp="1" noRot="1" noChangeAspect="1" noMove="1" noResize="1" noEditPoints="1" noAdjustHandles="1" noChangeArrowheads="1" noChangeShapeType="1" noTextEdit="1"/>
              </p:cNvSpPr>
              <p:nvPr>
                <p:ph type="body" idx="1"/>
              </p:nvPr>
            </p:nvSpPr>
            <p:spPr>
              <a:blipFill>
                <a:blip r:embed="rId3"/>
                <a:stretch>
                  <a:fillRect t="-803" r="-1933"/>
                </a:stretch>
              </a:blipFill>
            </p:spPr>
            <p:txBody>
              <a:bodyPr/>
              <a:lstStyle/>
              <a:p>
                <a:r>
                  <a:rPr lang="en-US">
                    <a:noFill/>
                  </a:rPr>
                  <a:t> </a:t>
                </a:r>
              </a:p>
            </p:txBody>
          </p:sp>
        </mc:Fallback>
      </mc:AlternateContent>
      <p:sp>
        <p:nvSpPr>
          <p:cNvPr id="3" name="Slide Number Placeholder 2"/>
          <p:cNvSpPr>
            <a:spLocks noGrp="1"/>
          </p:cNvSpPr>
          <p:nvPr>
            <p:ph type="sldNum" sz="quarter" idx="12"/>
          </p:nvPr>
        </p:nvSpPr>
        <p:spPr/>
        <p:txBody>
          <a:bodyPr/>
          <a:lstStyle/>
          <a:p>
            <a:fld id="{0F3206DB-9488-D04D-BDD1-A7C9D84C4579}" type="slidenum">
              <a:rPr lang="en-US" smtClean="0"/>
              <a:t>28</a:t>
            </a:fld>
            <a:endParaRPr lang="en-US"/>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51449B85-B200-4477-A9BF-3FCC29A4E708}"/>
                  </a:ext>
                </a:extLst>
              </p:cNvPr>
              <p:cNvSpPr/>
              <p:nvPr/>
            </p:nvSpPr>
            <p:spPr>
              <a:xfrm>
                <a:off x="2852257" y="5503178"/>
                <a:ext cx="3565321" cy="1241571"/>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2400" dirty="0">
                  <a:solidFill>
                    <a:srgbClr val="FF0000"/>
                  </a:solidFill>
                  <a:latin typeface="Whitney Book" pitchFamily="50" charset="0"/>
                  <a:cs typeface="Whitney Book" pitchFamily="50" charset="0"/>
                </a:endParaRPr>
              </a:p>
              <a:p>
                <a:pPr algn="ctr"/>
                <a:r>
                  <a:rPr lang="en-US" sz="2400" dirty="0">
                    <a:solidFill>
                      <a:srgbClr val="FF0000"/>
                    </a:solidFill>
                    <a:latin typeface="Whitney Book" pitchFamily="50" charset="0"/>
                    <a:cs typeface="Whitney Book" pitchFamily="50" charset="0"/>
                  </a:rPr>
                  <a:t>Operate if </a:t>
                </a:r>
                <a14:m>
                  <m:oMath xmlns:m="http://schemas.openxmlformats.org/officeDocument/2006/math">
                    <m:r>
                      <a:rPr lang="en-US" sz="2400" i="1" dirty="0" smtClean="0">
                        <a:solidFill>
                          <a:srgbClr val="FF0000"/>
                        </a:solidFill>
                        <a:latin typeface="Cambria Math" panose="02040503050406030204" pitchFamily="18" charset="0"/>
                        <a:cs typeface="Whitney Book" pitchFamily="50" charset="0"/>
                      </a:rPr>
                      <m:t>𝑃</m:t>
                    </m:r>
                    <m:r>
                      <a:rPr lang="en-US" sz="2400" i="1" dirty="0" smtClean="0">
                        <a:solidFill>
                          <a:srgbClr val="FF0000"/>
                        </a:solidFill>
                        <a:latin typeface="Cambria Math" panose="02040503050406030204" pitchFamily="18" charset="0"/>
                        <a:cs typeface="Whitney Book" pitchFamily="50" charset="0"/>
                      </a:rPr>
                      <m:t>≥</m:t>
                    </m:r>
                    <m:r>
                      <a:rPr lang="en-US" sz="2400" i="1" dirty="0" smtClean="0">
                        <a:solidFill>
                          <a:srgbClr val="FF0000"/>
                        </a:solidFill>
                        <a:latin typeface="Cambria Math" panose="02040503050406030204" pitchFamily="18" charset="0"/>
                        <a:cs typeface="Whitney Book" pitchFamily="50" charset="0"/>
                      </a:rPr>
                      <m:t>𝐴𝑉𝐶</m:t>
                    </m:r>
                    <m:r>
                      <a:rPr lang="en-US" sz="2400" i="1" dirty="0" smtClean="0">
                        <a:solidFill>
                          <a:srgbClr val="FF0000"/>
                        </a:solidFill>
                        <a:latin typeface="Cambria Math" panose="02040503050406030204" pitchFamily="18" charset="0"/>
                        <a:cs typeface="Whitney Book" pitchFamily="50" charset="0"/>
                      </a:rPr>
                      <m:t> </m:t>
                    </m:r>
                  </m:oMath>
                </a14:m>
                <a:endParaRPr lang="en-US" sz="2400" dirty="0">
                  <a:solidFill>
                    <a:srgbClr val="FF0000"/>
                  </a:solidFill>
                  <a:latin typeface="Whitney Book" pitchFamily="50" charset="0"/>
                  <a:cs typeface="Whitney Book" pitchFamily="50" charset="0"/>
                </a:endParaRPr>
              </a:p>
              <a:p>
                <a:pPr algn="ctr"/>
                <a:endParaRPr lang="en-US" sz="1200" dirty="0">
                  <a:solidFill>
                    <a:srgbClr val="FF0000"/>
                  </a:solidFill>
                  <a:latin typeface="Whitney Book" pitchFamily="50" charset="0"/>
                  <a:cs typeface="Whitney Book" pitchFamily="50" charset="0"/>
                </a:endParaRPr>
              </a:p>
              <a:p>
                <a:pPr algn="ctr"/>
                <a:r>
                  <a:rPr lang="en-US" sz="2400" dirty="0">
                    <a:solidFill>
                      <a:srgbClr val="FF0000"/>
                    </a:solidFill>
                    <a:latin typeface="Whitney Book" pitchFamily="50" charset="0"/>
                    <a:cs typeface="Whitney Book" pitchFamily="50" charset="0"/>
                  </a:rPr>
                  <a:t>Shut down if </a:t>
                </a:r>
                <a14:m>
                  <m:oMath xmlns:m="http://schemas.openxmlformats.org/officeDocument/2006/math">
                    <m:r>
                      <a:rPr lang="en-US" sz="2400" i="1" dirty="0" smtClean="0">
                        <a:solidFill>
                          <a:srgbClr val="FF0000"/>
                        </a:solidFill>
                        <a:latin typeface="Cambria Math" panose="02040503050406030204" pitchFamily="18" charset="0"/>
                        <a:cs typeface="Whitney Book" pitchFamily="50" charset="0"/>
                      </a:rPr>
                      <m:t>𝑃</m:t>
                    </m:r>
                    <m:r>
                      <a:rPr lang="en-US" sz="2400" i="1" dirty="0" smtClean="0">
                        <a:solidFill>
                          <a:srgbClr val="FF0000"/>
                        </a:solidFill>
                        <a:latin typeface="Cambria Math" panose="02040503050406030204" pitchFamily="18" charset="0"/>
                        <a:cs typeface="Whitney Book" pitchFamily="50" charset="0"/>
                      </a:rPr>
                      <m:t>&lt;</m:t>
                    </m:r>
                    <m:r>
                      <a:rPr lang="en-US" sz="2400" i="1" dirty="0" smtClean="0">
                        <a:solidFill>
                          <a:srgbClr val="FF0000"/>
                        </a:solidFill>
                        <a:latin typeface="Cambria Math" panose="02040503050406030204" pitchFamily="18" charset="0"/>
                        <a:cs typeface="Whitney Book" pitchFamily="50" charset="0"/>
                      </a:rPr>
                      <m:t>𝐴𝑉𝐶</m:t>
                    </m:r>
                  </m:oMath>
                </a14:m>
                <a:endParaRPr lang="en-US" sz="2400" dirty="0">
                  <a:solidFill>
                    <a:srgbClr val="FF0000"/>
                  </a:solidFill>
                  <a:latin typeface="Whitney Book" pitchFamily="50" charset="0"/>
                  <a:cs typeface="Whitney Book" pitchFamily="50" charset="0"/>
                </a:endParaRPr>
              </a:p>
              <a:p>
                <a:pPr algn="ctr"/>
                <a:endParaRPr lang="en-US" dirty="0"/>
              </a:p>
            </p:txBody>
          </p:sp>
        </mc:Choice>
        <mc:Fallback xmlns="">
          <p:sp>
            <p:nvSpPr>
              <p:cNvPr id="4" name="Rectangle 3">
                <a:extLst>
                  <a:ext uri="{FF2B5EF4-FFF2-40B4-BE49-F238E27FC236}">
                    <a16:creationId xmlns:a16="http://schemas.microsoft.com/office/drawing/2014/main" id="{51449B85-B200-4477-A9BF-3FCC29A4E708}"/>
                  </a:ext>
                </a:extLst>
              </p:cNvPr>
              <p:cNvSpPr>
                <a:spLocks noRot="1" noChangeAspect="1" noMove="1" noResize="1" noEditPoints="1" noAdjustHandles="1" noChangeArrowheads="1" noChangeShapeType="1" noTextEdit="1"/>
              </p:cNvSpPr>
              <p:nvPr/>
            </p:nvSpPr>
            <p:spPr>
              <a:xfrm>
                <a:off x="2852257" y="5503178"/>
                <a:ext cx="3565321" cy="1241571"/>
              </a:xfrm>
              <a:prstGeom prst="rect">
                <a:avLst/>
              </a:prstGeom>
              <a:blipFill>
                <a:blip r:embed="rId4"/>
                <a:stretch>
                  <a:fillRect b="-4831"/>
                </a:stretch>
              </a:blipFill>
            </p:spPr>
            <p:txBody>
              <a:bodyPr/>
              <a:lstStyle/>
              <a:p>
                <a:r>
                  <a:rPr lang="en-US">
                    <a:noFill/>
                  </a:rPr>
                  <a:t> </a:t>
                </a:r>
              </a:p>
            </p:txBody>
          </p:sp>
        </mc:Fallback>
      </mc:AlternateContent>
    </p:spTree>
    <p:extLst>
      <p:ext uri="{BB962C8B-B14F-4D97-AF65-F5344CB8AC3E}">
        <p14:creationId xmlns:p14="http://schemas.microsoft.com/office/powerpoint/2010/main" val="2183788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uiExpand="1" build="p"/>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961D8-72A7-4C03-A947-D64EFA0533AF}"/>
              </a:ext>
            </a:extLst>
          </p:cNvPr>
          <p:cNvSpPr>
            <a:spLocks noGrp="1"/>
          </p:cNvSpPr>
          <p:nvPr>
            <p:ph type="title"/>
          </p:nvPr>
        </p:nvSpPr>
        <p:spPr/>
        <p:txBody>
          <a:bodyPr>
            <a:normAutofit fontScale="90000"/>
          </a:bodyPr>
          <a:lstStyle/>
          <a:p>
            <a:r>
              <a:rPr lang="en-US" dirty="0"/>
              <a:t>Optimizing in the short run: new market price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9B3299D-F8C2-488A-823B-5D1A2EE01396}"/>
                  </a:ext>
                </a:extLst>
              </p:cNvPr>
              <p:cNvSpPr>
                <a:spLocks noGrp="1"/>
              </p:cNvSpPr>
              <p:nvPr>
                <p:ph type="body" idx="1"/>
              </p:nvPr>
            </p:nvSpPr>
            <p:spPr/>
            <p:txBody>
              <a:bodyPr>
                <a:normAutofit fontScale="92500" lnSpcReduction="10000"/>
              </a:bodyPr>
              <a:lstStyle/>
              <a:p>
                <a:r>
                  <a:rPr lang="en-US" dirty="0"/>
                  <a:t>The US starts importing large quantities of cabbage from China</a:t>
                </a:r>
              </a:p>
              <a:p>
                <a:endParaRPr lang="en-US" sz="1500" dirty="0"/>
              </a:p>
              <a:p>
                <a:r>
                  <a:rPr lang="en-US" dirty="0"/>
                  <a:t>This leads to a drop in the US market price</a:t>
                </a:r>
              </a:p>
              <a:p>
                <a:pPr lvl="1"/>
                <a:r>
                  <a:rPr lang="en-US" dirty="0"/>
                  <a:t>New US market price: $160 per ton</a:t>
                </a:r>
              </a:p>
              <a:p>
                <a:pPr lvl="1"/>
                <a:endParaRPr lang="fr-FR" sz="1500" dirty="0"/>
              </a:p>
              <a:p>
                <a:r>
                  <a:rPr lang="fr-FR" dirty="0" err="1"/>
                  <a:t>Remember</a:t>
                </a:r>
                <a:r>
                  <a:rPr lang="fr-FR" dirty="0"/>
                  <a:t>:  </a:t>
                </a:r>
                <a14:m>
                  <m:oMath xmlns:m="http://schemas.openxmlformats.org/officeDocument/2006/math">
                    <m:r>
                      <a:rPr lang="en-US" i="1">
                        <a:latin typeface="Cambria Math" panose="02040503050406030204" pitchFamily="18" charset="0"/>
                      </a:rPr>
                      <m:t>𝑇𝐶</m:t>
                    </m:r>
                    <m:r>
                      <a:rPr lang="en-US" i="1">
                        <a:latin typeface="Cambria Math" panose="02040503050406030204" pitchFamily="18" charset="0"/>
                      </a:rPr>
                      <m:t>=30,000+40</m:t>
                    </m:r>
                    <m:r>
                      <a:rPr lang="en-US" i="1">
                        <a:latin typeface="Cambria Math" panose="02040503050406030204" pitchFamily="18" charset="0"/>
                      </a:rPr>
                      <m:t>𝑄</m:t>
                    </m:r>
                    <m:r>
                      <a:rPr lang="en-US" i="1">
                        <a:latin typeface="Cambria Math" panose="02040503050406030204" pitchFamily="18" charset="0"/>
                      </a:rPr>
                      <m:t>+0.2</m:t>
                    </m:r>
                    <m:sSup>
                      <m:sSupPr>
                        <m:ctrlPr>
                          <a:rPr lang="en-US" i="1">
                            <a:latin typeface="Cambria Math" panose="02040503050406030204" pitchFamily="18" charset="0"/>
                          </a:rPr>
                        </m:ctrlPr>
                      </m:sSupPr>
                      <m:e>
                        <m:r>
                          <a:rPr lang="en-US" i="1">
                            <a:latin typeface="Cambria Math" panose="02040503050406030204" pitchFamily="18" charset="0"/>
                          </a:rPr>
                          <m:t>𝑄</m:t>
                        </m:r>
                      </m:e>
                      <m:sup>
                        <m:r>
                          <a:rPr lang="en-US" i="1">
                            <a:latin typeface="Cambria Math" panose="02040503050406030204" pitchFamily="18" charset="0"/>
                          </a:rPr>
                          <m:t>2</m:t>
                        </m:r>
                      </m:sup>
                    </m:sSup>
                  </m:oMath>
                </a14:m>
                <a:endParaRPr lang="en-US" dirty="0"/>
              </a:p>
              <a:p>
                <a:endParaRPr lang="en-US" sz="1500" dirty="0"/>
              </a:p>
              <a:p>
                <a:r>
                  <a:rPr lang="en-US" dirty="0"/>
                  <a:t>Questions</a:t>
                </a:r>
              </a:p>
              <a:p>
                <a:pPr marL="971550" lvl="1" indent="-514350">
                  <a:buFont typeface="+mj-lt"/>
                  <a:buAutoNum type="arabicPeriod"/>
                </a:pPr>
                <a:r>
                  <a:rPr lang="en-US" dirty="0"/>
                  <a:t>(</a:t>
                </a:r>
                <a:r>
                  <a:rPr lang="en-US" dirty="0" err="1"/>
                  <a:t>PollEV</a:t>
                </a:r>
                <a:r>
                  <a:rPr lang="en-US" dirty="0"/>
                  <a:t>) What quantity of cabbage should the Yi family produce to maximize profits under this new price?</a:t>
                </a:r>
              </a:p>
              <a:p>
                <a:pPr marL="971550" lvl="1" indent="-514350">
                  <a:buFont typeface="+mj-lt"/>
                  <a:buAutoNum type="arabicPeriod"/>
                </a:pPr>
                <a:r>
                  <a:rPr lang="en-US" dirty="0"/>
                  <a:t>What profits do they achieve at this quantity?</a:t>
                </a:r>
              </a:p>
              <a:p>
                <a:pPr marL="971550" lvl="1" indent="-514350">
                  <a:buFont typeface="+mj-lt"/>
                  <a:buAutoNum type="arabicPeriod"/>
                </a:pPr>
                <a:r>
                  <a:rPr lang="en-US" dirty="0"/>
                  <a:t>Should the Yi family continue to operate in the short run?</a:t>
                </a:r>
              </a:p>
            </p:txBody>
          </p:sp>
        </mc:Choice>
        <mc:Fallback xmlns="">
          <p:sp>
            <p:nvSpPr>
              <p:cNvPr id="3" name="Content Placeholder 2">
                <a:extLst>
                  <a:ext uri="{FF2B5EF4-FFF2-40B4-BE49-F238E27FC236}">
                    <a16:creationId xmlns:a16="http://schemas.microsoft.com/office/drawing/2014/main" id="{39B3299D-F8C2-488A-823B-5D1A2EE01396}"/>
                  </a:ext>
                </a:extLst>
              </p:cNvPr>
              <p:cNvSpPr>
                <a:spLocks noGrp="1" noRot="1" noChangeAspect="1" noMove="1" noResize="1" noEditPoints="1" noAdjustHandles="1" noChangeArrowheads="1" noChangeShapeType="1" noTextEdit="1"/>
              </p:cNvSpPr>
              <p:nvPr>
                <p:ph type="body" idx="1"/>
              </p:nvPr>
            </p:nvSpPr>
            <p:spPr>
              <a:blipFill>
                <a:blip r:embed="rId3"/>
                <a:stretch>
                  <a:fillRect t="-1071" r="-1145" b="-1339"/>
                </a:stretch>
              </a:blipFill>
            </p:spPr>
            <p:txBody>
              <a:bodyPr/>
              <a:lstStyle/>
              <a:p>
                <a:r>
                  <a:rPr lang="en-US">
                    <a:noFill/>
                  </a:rPr>
                  <a:t> </a:t>
                </a:r>
              </a:p>
            </p:txBody>
          </p:sp>
        </mc:Fallback>
      </mc:AlternateContent>
      <p:sp>
        <p:nvSpPr>
          <p:cNvPr id="5" name="Parallelogram 4">
            <a:extLst>
              <a:ext uri="{FF2B5EF4-FFF2-40B4-BE49-F238E27FC236}">
                <a16:creationId xmlns:a16="http://schemas.microsoft.com/office/drawing/2014/main" id="{3291942D-D635-455E-BD6C-585E56297446}"/>
              </a:ext>
            </a:extLst>
          </p:cNvPr>
          <p:cNvSpPr/>
          <p:nvPr/>
        </p:nvSpPr>
        <p:spPr>
          <a:xfrm>
            <a:off x="4883085" y="6021621"/>
            <a:ext cx="4132593" cy="763600"/>
          </a:xfrm>
          <a:prstGeom prst="parallelogram">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50000" t="50000" r="50000" b="50000"/>
            </a:path>
            <a:tileRect/>
          </a:gra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defRPr/>
            </a:pPr>
            <a:r>
              <a:rPr lang="en-US" sz="3200" b="1" i="1" dirty="0">
                <a:solidFill>
                  <a:prstClr val="white"/>
                </a:solidFill>
              </a:rPr>
              <a:t>Yi Family Example</a:t>
            </a:r>
          </a:p>
          <a:p>
            <a:pPr algn="ctr">
              <a:defRPr/>
            </a:pPr>
            <a:r>
              <a:rPr lang="en-US" sz="2400" b="1" i="1" dirty="0">
                <a:solidFill>
                  <a:prstClr val="white"/>
                </a:solidFill>
              </a:rPr>
              <a:t>(Group Work)</a:t>
            </a:r>
          </a:p>
        </p:txBody>
      </p:sp>
    </p:spTree>
    <p:extLst>
      <p:ext uri="{BB962C8B-B14F-4D97-AF65-F5344CB8AC3E}">
        <p14:creationId xmlns:p14="http://schemas.microsoft.com/office/powerpoint/2010/main" val="1872483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08CA27-AE17-42C0-9CC0-FE9B51BB074F}"/>
              </a:ext>
            </a:extLst>
          </p:cNvPr>
          <p:cNvPicPr>
            <a:picLocks/>
          </p:cNvPicPr>
          <p:nvPr>
            <p:custDataLst>
              <p:tags r:id="rId1"/>
            </p:custDataLst>
          </p:nvPr>
        </p:nvPicPr>
        <p:blipFill>
          <a:blip r:embed="rId4"/>
          <a:stretch>
            <a:fillRect/>
          </a:stretch>
        </p:blipFill>
        <p:spPr>
          <a:xfrm>
            <a:off x="190500" y="190500"/>
            <a:ext cx="8763000" cy="6477000"/>
          </a:xfrm>
          <a:prstGeom prst="rect">
            <a:avLst/>
          </a:prstGeom>
        </p:spPr>
      </p:pic>
      <p:sp>
        <p:nvSpPr>
          <p:cNvPr id="2" name="Title 1">
            <a:extLst>
              <a:ext uri="{FF2B5EF4-FFF2-40B4-BE49-F238E27FC236}">
                <a16:creationId xmlns:a16="http://schemas.microsoft.com/office/drawing/2014/main" id="{9E687593-E964-48CD-A12C-7F2434CA26BA}"/>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67D3DB4B-F2A1-45F3-B627-221E99B270D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46124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8CB62-6950-458E-98BE-58DF46E32B91}"/>
              </a:ext>
            </a:extLst>
          </p:cNvPr>
          <p:cNvSpPr>
            <a:spLocks noGrp="1"/>
          </p:cNvSpPr>
          <p:nvPr>
            <p:ph type="title"/>
          </p:nvPr>
        </p:nvSpPr>
        <p:spPr/>
        <p:txBody>
          <a:bodyPr/>
          <a:lstStyle/>
          <a:p>
            <a:r>
              <a:rPr lang="en-US" dirty="0"/>
              <a:t>New q* and Profit: solution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C5DA17-84FF-4F8D-B4FB-DA614D64E8D0}"/>
                  </a:ext>
                </a:extLst>
              </p:cNvPr>
              <p:cNvSpPr>
                <a:spLocks noGrp="1"/>
              </p:cNvSpPr>
              <p:nvPr>
                <p:ph type="body" idx="1"/>
              </p:nvPr>
            </p:nvSpPr>
            <p:spPr/>
            <p:txBody>
              <a:bodyPr>
                <a:normAutofit/>
              </a:bodyPr>
              <a:lstStyle/>
              <a:p>
                <a:r>
                  <a:rPr lang="en-US" i="1" dirty="0"/>
                  <a:t>P=MC</a:t>
                </a:r>
              </a:p>
              <a:p>
                <a:pPr lvl="1"/>
                <a14:m>
                  <m:oMath xmlns:m="http://schemas.openxmlformats.org/officeDocument/2006/math">
                    <m:r>
                      <a:rPr lang="en-US" b="0" i="0" dirty="0" smtClean="0">
                        <a:latin typeface="Cambria Math" panose="02040503050406030204" pitchFamily="18" charset="0"/>
                      </a:rPr>
                      <m:t>160=</m:t>
                    </m:r>
                    <m:r>
                      <a:rPr lang="en-US" i="1" dirty="0" smtClean="0">
                        <a:latin typeface="Cambria Math" panose="02040503050406030204" pitchFamily="18" charset="0"/>
                      </a:rPr>
                      <m:t>40+0.4</m:t>
                    </m:r>
                    <m:r>
                      <a:rPr lang="en-US" i="1" dirty="0" smtClean="0">
                        <a:latin typeface="Cambria Math" panose="02040503050406030204" pitchFamily="18" charset="0"/>
                      </a:rPr>
                      <m:t>𝑄</m:t>
                    </m:r>
                    <m:r>
                      <a:rPr lang="en-US" i="1" dirty="0" smtClean="0">
                        <a:latin typeface="Cambria Math" panose="02040503050406030204" pitchFamily="18" charset="0"/>
                      </a:rPr>
                      <m:t> →  </m:t>
                    </m:r>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𝑄</m:t>
                        </m:r>
                      </m:e>
                      <m:sup>
                        <m:r>
                          <a:rPr lang="en-US" i="1" dirty="0" smtClean="0">
                            <a:latin typeface="Cambria Math" panose="02040503050406030204" pitchFamily="18" charset="0"/>
                          </a:rPr>
                          <m:t>∗</m:t>
                        </m:r>
                      </m:sup>
                    </m:sSup>
                    <m:r>
                      <a:rPr lang="en-US" i="1" dirty="0" smtClean="0">
                        <a:latin typeface="Cambria Math" panose="02040503050406030204" pitchFamily="18" charset="0"/>
                      </a:rPr>
                      <m:t>=</m:t>
                    </m:r>
                    <m:r>
                      <a:rPr lang="en-US" b="0" i="1" dirty="0" smtClean="0">
                        <a:latin typeface="Cambria Math" panose="02040503050406030204" pitchFamily="18" charset="0"/>
                      </a:rPr>
                      <m:t>300</m:t>
                    </m:r>
                  </m:oMath>
                </a14:m>
                <a:endParaRPr lang="en-US" dirty="0"/>
              </a:p>
              <a:p>
                <a:pPr lvl="1"/>
                <a:endParaRPr lang="en-US" dirty="0"/>
              </a:p>
              <a:p>
                <a14:m>
                  <m:oMath xmlns:m="http://schemas.openxmlformats.org/officeDocument/2006/math">
                    <m:r>
                      <a:rPr lang="en-US" i="1" dirty="0" smtClean="0">
                        <a:latin typeface="Cambria Math" panose="02040503050406030204" pitchFamily="18" charset="0"/>
                      </a:rPr>
                      <m:t>𝑇𝑅</m:t>
                    </m:r>
                    <m:r>
                      <a:rPr lang="en-US" i="1" dirty="0" smtClean="0">
                        <a:latin typeface="Cambria Math" panose="02040503050406030204" pitchFamily="18" charset="0"/>
                      </a:rPr>
                      <m:t> = </m:t>
                    </m:r>
                    <m:r>
                      <a:rPr lang="en-US" i="1" dirty="0" smtClean="0">
                        <a:latin typeface="Cambria Math" panose="02040503050406030204" pitchFamily="18" charset="0"/>
                      </a:rPr>
                      <m:t>𝑃</m:t>
                    </m:r>
                    <m:r>
                      <a:rPr lang="en-US"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rPr>
                      <m:t>𝑄</m:t>
                    </m:r>
                    <m:r>
                      <a:rPr lang="en-US" i="1" dirty="0" smtClean="0">
                        <a:latin typeface="Cambria Math" panose="02040503050406030204" pitchFamily="18" charset="0"/>
                      </a:rPr>
                      <m:t> =160∙300 =48,000</m:t>
                    </m:r>
                  </m:oMath>
                </a14:m>
                <a:endParaRPr lang="en-US" dirty="0"/>
              </a:p>
              <a:p>
                <a14:m>
                  <m:oMath xmlns:m="http://schemas.openxmlformats.org/officeDocument/2006/math">
                    <m:r>
                      <a:rPr lang="en-US" i="1" dirty="0" smtClean="0">
                        <a:latin typeface="Cambria Math" panose="02040503050406030204" pitchFamily="18" charset="0"/>
                      </a:rPr>
                      <m:t>𝑇𝐶</m:t>
                    </m:r>
                    <m:r>
                      <a:rPr lang="en-US" i="1" dirty="0" smtClean="0">
                        <a:latin typeface="Cambria Math" panose="02040503050406030204" pitchFamily="18" charset="0"/>
                      </a:rPr>
                      <m:t>=30,000+40∙300+0.2∙</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300</m:t>
                        </m:r>
                      </m:e>
                      <m:sup>
                        <m:r>
                          <a:rPr lang="en-US" b="0" i="1" dirty="0" smtClean="0">
                            <a:latin typeface="Cambria Math" panose="02040503050406030204" pitchFamily="18" charset="0"/>
                          </a:rPr>
                          <m:t>2</m:t>
                        </m:r>
                      </m:sup>
                    </m:sSup>
                    <m:r>
                      <a:rPr lang="en-US" i="1" dirty="0">
                        <a:latin typeface="Cambria Math" panose="02040503050406030204" pitchFamily="18" charset="0"/>
                      </a:rPr>
                      <m:t>=</m:t>
                    </m:r>
                    <m:r>
                      <a:rPr lang="en-US" b="0" i="1" dirty="0" smtClean="0">
                        <a:latin typeface="Cambria Math" panose="02040503050406030204" pitchFamily="18" charset="0"/>
                      </a:rPr>
                      <m:t>60,000</m:t>
                    </m:r>
                  </m:oMath>
                </a14:m>
                <a:endParaRPr lang="en-US" dirty="0"/>
              </a:p>
              <a:p>
                <a:r>
                  <a:rPr lang="en-US" dirty="0"/>
                  <a:t>Profit = </a:t>
                </a:r>
                <a14:m>
                  <m:oMath xmlns:m="http://schemas.openxmlformats.org/officeDocument/2006/math">
                    <m:r>
                      <a:rPr lang="en-US" b="0" i="1" dirty="0" smtClean="0">
                        <a:latin typeface="Cambria Math" panose="02040503050406030204" pitchFamily="18" charset="0"/>
                      </a:rPr>
                      <m:t>48,000−60,000=−12,000</m:t>
                    </m:r>
                  </m:oMath>
                </a14:m>
                <a:endParaRPr lang="en-US" dirty="0"/>
              </a:p>
              <a:p>
                <a:endParaRPr lang="en-US" dirty="0"/>
              </a:p>
              <a:p>
                <a:r>
                  <a:rPr lang="en-US" dirty="0"/>
                  <a:t>The Yi family makes </a:t>
                </a:r>
                <a:r>
                  <a:rPr lang="en-US" u="sng" dirty="0"/>
                  <a:t>negative</a:t>
                </a:r>
                <a:r>
                  <a:rPr lang="en-US" dirty="0"/>
                  <a:t> economic profits at the optimal output level </a:t>
                </a:r>
              </a:p>
              <a:p>
                <a:endParaRPr lang="en-US" dirty="0"/>
              </a:p>
              <a:p>
                <a:pPr marL="0" indent="0">
                  <a:buNone/>
                </a:pPr>
                <a:endParaRPr lang="en-US" dirty="0"/>
              </a:p>
              <a:p>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D1C5DA17-84FF-4F8D-B4FB-DA614D64E8D0}"/>
                  </a:ext>
                </a:extLst>
              </p:cNvPr>
              <p:cNvSpPr>
                <a:spLocks noGrp="1" noRot="1" noChangeAspect="1" noMove="1" noResize="1" noEditPoints="1" noAdjustHandles="1" noChangeArrowheads="1" noChangeShapeType="1" noTextEdit="1"/>
              </p:cNvSpPr>
              <p:nvPr>
                <p:ph idx="1"/>
              </p:nvPr>
            </p:nvSpPr>
            <p:spPr>
              <a:xfrm>
                <a:off x="457200" y="1419985"/>
                <a:ext cx="8536488" cy="4821158"/>
              </a:xfrm>
              <a:blipFill>
                <a:blip r:embed="rId3"/>
                <a:stretch>
                  <a:fillRect l="-1714" t="-252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27875A51-D2BB-4D12-A191-D6893AA86433}"/>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sp>
        <p:nvSpPr>
          <p:cNvPr id="6" name="Parallelogram 5">
            <a:extLst>
              <a:ext uri="{FF2B5EF4-FFF2-40B4-BE49-F238E27FC236}">
                <a16:creationId xmlns:a16="http://schemas.microsoft.com/office/drawing/2014/main" id="{FAD8E377-1A8D-4259-A55B-6F7CD118B7A1}"/>
              </a:ext>
            </a:extLst>
          </p:cNvPr>
          <p:cNvSpPr/>
          <p:nvPr/>
        </p:nvSpPr>
        <p:spPr>
          <a:xfrm>
            <a:off x="4883085" y="6097419"/>
            <a:ext cx="4132593" cy="687801"/>
          </a:xfrm>
          <a:prstGeom prst="parallelogram">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50000" t="50000" r="50000" b="50000"/>
            </a:path>
            <a:tileRect/>
          </a:gradFill>
          <a:ln>
            <a:noFill/>
          </a:ln>
        </p:spPr>
        <p:style>
          <a:lnRef idx="1">
            <a:schemeClr val="accent2"/>
          </a:lnRef>
          <a:fillRef idx="3">
            <a:schemeClr val="accent2"/>
          </a:fillRef>
          <a:effectRef idx="2">
            <a:schemeClr val="accent2"/>
          </a:effectRef>
          <a:fontRef idx="minor">
            <a:schemeClr val="lt1"/>
          </a:fontRef>
        </p:style>
        <p:txBody>
          <a:bodyPr rtlCol="0" anchor="ctr"/>
          <a:lstStyle/>
          <a:p>
            <a:pPr>
              <a:defRPr/>
            </a:pPr>
            <a:r>
              <a:rPr lang="en-US" sz="3200" b="1" i="1" dirty="0">
                <a:solidFill>
                  <a:prstClr val="white"/>
                </a:solidFill>
              </a:rPr>
              <a:t>Yi Family Example</a:t>
            </a:r>
          </a:p>
        </p:txBody>
      </p:sp>
    </p:spTree>
    <p:extLst>
      <p:ext uri="{BB962C8B-B14F-4D97-AF65-F5344CB8AC3E}">
        <p14:creationId xmlns:p14="http://schemas.microsoft.com/office/powerpoint/2010/main" val="4287625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Decision to operate: Solution</a:t>
            </a:r>
          </a:p>
        </p:txBody>
      </p:sp>
      <mc:AlternateContent xmlns:mc="http://schemas.openxmlformats.org/markup-compatibility/2006" xmlns:a14="http://schemas.microsoft.com/office/drawing/2010/main">
        <mc:Choice Requires="a14">
          <p:sp>
            <p:nvSpPr>
              <p:cNvPr id="6" name="Content Placeholder 5"/>
              <p:cNvSpPr>
                <a:spLocks noGrp="1"/>
              </p:cNvSpPr>
              <p:nvPr>
                <p:ph type="body" idx="1"/>
              </p:nvPr>
            </p:nvSpPr>
            <p:spPr/>
            <p:txBody>
              <a:bodyPr>
                <a:normAutofit fontScale="70000" lnSpcReduction="20000"/>
              </a:bodyPr>
              <a:lstStyle/>
              <a:p>
                <a:pPr>
                  <a:lnSpc>
                    <a:spcPct val="150000"/>
                  </a:lnSpc>
                </a:pPr>
                <a:r>
                  <a:rPr lang="en-US" dirty="0">
                    <a:latin typeface="Cambria Math" panose="02040503050406030204" pitchFamily="18" charset="0"/>
                  </a:rPr>
                  <a:t>Should they produce?</a:t>
                </a:r>
              </a:p>
              <a:p>
                <a:pPr lvl="1">
                  <a:lnSpc>
                    <a:spcPct val="120000"/>
                  </a:lnSpc>
                  <a:spcBef>
                    <a:spcPts val="0"/>
                  </a:spcBef>
                </a:pPr>
                <a:r>
                  <a:rPr lang="en-US" dirty="0">
                    <a:latin typeface="Cambria Math" panose="02040503050406030204" pitchFamily="18" charset="0"/>
                  </a:rPr>
                  <a:t>If producing, Profits = -12,000</a:t>
                </a:r>
              </a:p>
              <a:p>
                <a:pPr lvl="1">
                  <a:lnSpc>
                    <a:spcPct val="120000"/>
                  </a:lnSpc>
                  <a:spcBef>
                    <a:spcPts val="0"/>
                  </a:spcBef>
                </a:pPr>
                <a:r>
                  <a:rPr lang="en-US" dirty="0">
                    <a:latin typeface="Cambria Math" panose="02040503050406030204" pitchFamily="18" charset="0"/>
                  </a:rPr>
                  <a:t>If stopping to produce: Profits = -30,000 (</a:t>
                </a:r>
                <a:r>
                  <a:rPr lang="en-US" dirty="0" err="1">
                    <a:latin typeface="Cambria Math" panose="02040503050406030204" pitchFamily="18" charset="0"/>
                  </a:rPr>
                  <a:t>pay</a:t>
                </a:r>
                <a:r>
                  <a:rPr lang="en-US" i="1" dirty="0" err="1">
                    <a:latin typeface="Cambria Math" panose="02040503050406030204" pitchFamily="18" charset="0"/>
                  </a:rPr>
                  <a:t>TFC</a:t>
                </a:r>
                <a:r>
                  <a:rPr lang="en-US" dirty="0">
                    <a:latin typeface="Cambria Math" panose="02040503050406030204" pitchFamily="18" charset="0"/>
                  </a:rPr>
                  <a:t>)</a:t>
                </a:r>
              </a:p>
              <a:p>
                <a:pPr lvl="1">
                  <a:lnSpc>
                    <a:spcPct val="120000"/>
                  </a:lnSpc>
                  <a:spcBef>
                    <a:spcPts val="0"/>
                  </a:spcBef>
                </a:pPr>
                <a:r>
                  <a:rPr lang="en-US" i="1" dirty="0">
                    <a:latin typeface="Cambria Math" panose="02040503050406030204" pitchFamily="18" charset="0"/>
                  </a:rPr>
                  <a:t>Thus: better to continue producing and cover part of the fixed cost</a:t>
                </a:r>
              </a:p>
              <a:p>
                <a:pPr>
                  <a:lnSpc>
                    <a:spcPct val="150000"/>
                  </a:lnSpc>
                </a:pPr>
                <a:endParaRPr lang="en-US" i="1" dirty="0">
                  <a:latin typeface="Cambria Math" panose="02040503050406030204" pitchFamily="18" charset="0"/>
                </a:endParaRPr>
              </a:p>
              <a:p>
                <a:pPr>
                  <a:lnSpc>
                    <a:spcPct val="150000"/>
                  </a:lnSpc>
                </a:pPr>
                <a:r>
                  <a:rPr lang="en-US" dirty="0">
                    <a:latin typeface="Cambria Math" panose="02040503050406030204" pitchFamily="18" charset="0"/>
                  </a:rPr>
                  <a:t>Alternatively: Can compute </a:t>
                </a:r>
                <a:r>
                  <a:rPr lang="en-US" i="1" dirty="0">
                    <a:latin typeface="Cambria Math" panose="02040503050406030204" pitchFamily="18" charset="0"/>
                  </a:rPr>
                  <a:t>AVC</a:t>
                </a:r>
              </a:p>
              <a:p>
                <a:pPr lvl="1">
                  <a:lnSpc>
                    <a:spcPct val="120000"/>
                  </a:lnSpc>
                  <a:spcBef>
                    <a:spcPts val="0"/>
                  </a:spcBef>
                </a:pPr>
                <a14:m>
                  <m:oMath xmlns:m="http://schemas.openxmlformats.org/officeDocument/2006/math">
                    <m:r>
                      <a:rPr lang="fr-FR" i="1" smtClean="0">
                        <a:latin typeface="Cambria Math" panose="02040503050406030204" pitchFamily="18" charset="0"/>
                      </a:rPr>
                      <m:t>𝑇𝐶</m:t>
                    </m:r>
                    <m:r>
                      <a:rPr lang="fr-FR" i="1" smtClean="0">
                        <a:latin typeface="Cambria Math" panose="02040503050406030204" pitchFamily="18" charset="0"/>
                      </a:rPr>
                      <m:t>=30,000+40</m:t>
                    </m:r>
                    <m:r>
                      <a:rPr lang="fr-FR" i="1">
                        <a:latin typeface="Cambria Math" panose="02040503050406030204" pitchFamily="18" charset="0"/>
                      </a:rPr>
                      <m:t>𝑄</m:t>
                    </m:r>
                    <m:r>
                      <a:rPr lang="fr-FR" i="1">
                        <a:latin typeface="Cambria Math" panose="02040503050406030204" pitchFamily="18" charset="0"/>
                      </a:rPr>
                      <m:t>+0.2</m:t>
                    </m:r>
                    <m:sSup>
                      <m:sSupPr>
                        <m:ctrlPr>
                          <a:rPr lang="fr-FR" i="1">
                            <a:latin typeface="Cambria Math" panose="02040503050406030204" pitchFamily="18" charset="0"/>
                          </a:rPr>
                        </m:ctrlPr>
                      </m:sSupPr>
                      <m:e>
                        <m:r>
                          <a:rPr lang="fr-FR" i="1">
                            <a:latin typeface="Cambria Math" panose="02040503050406030204" pitchFamily="18" charset="0"/>
                          </a:rPr>
                          <m:t>𝑄</m:t>
                        </m:r>
                      </m:e>
                      <m:sup>
                        <m:r>
                          <a:rPr lang="fr-FR" i="1">
                            <a:latin typeface="Cambria Math" panose="02040503050406030204" pitchFamily="18" charset="0"/>
                          </a:rPr>
                          <m:t>2</m:t>
                        </m:r>
                      </m:sup>
                    </m:sSup>
                  </m:oMath>
                </a14:m>
                <a:endParaRPr lang="fr-FR" dirty="0"/>
              </a:p>
              <a:p>
                <a:pPr lvl="1">
                  <a:lnSpc>
                    <a:spcPct val="120000"/>
                  </a:lnSpc>
                  <a:spcBef>
                    <a:spcPts val="0"/>
                  </a:spcBef>
                </a:pPr>
                <a14:m>
                  <m:oMath xmlns:m="http://schemas.openxmlformats.org/officeDocument/2006/math">
                    <m:r>
                      <a:rPr lang="fr-FR" i="1" dirty="0">
                        <a:latin typeface="Cambria Math" panose="02040503050406030204" pitchFamily="18" charset="0"/>
                      </a:rPr>
                      <m:t>𝑃</m:t>
                    </m:r>
                    <m:r>
                      <a:rPr lang="fr-FR" i="1" dirty="0">
                        <a:latin typeface="Cambria Math" panose="02040503050406030204" pitchFamily="18" charset="0"/>
                      </a:rPr>
                      <m:t> = 160</m:t>
                    </m:r>
                    <m:r>
                      <a:rPr lang="en-US" b="0" i="0" dirty="0"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𝑄</m:t>
                        </m:r>
                      </m:e>
                      <m:sup>
                        <m:r>
                          <a:rPr lang="en-US" b="0" i="1" smtClean="0">
                            <a:latin typeface="Cambria Math" panose="02040503050406030204" pitchFamily="18" charset="0"/>
                          </a:rPr>
                          <m:t>∗</m:t>
                        </m:r>
                      </m:sup>
                    </m:sSup>
                    <m:r>
                      <a:rPr lang="en-US" b="0" i="1" smtClean="0">
                        <a:latin typeface="Cambria Math" panose="02040503050406030204" pitchFamily="18" charset="0"/>
                      </a:rPr>
                      <m:t>=300</m:t>
                    </m:r>
                  </m:oMath>
                </a14:m>
                <a:endParaRPr lang="fr-FR" dirty="0"/>
              </a:p>
              <a:p>
                <a:pPr lvl="1">
                  <a:lnSpc>
                    <a:spcPct val="120000"/>
                  </a:lnSpc>
                  <a:spcBef>
                    <a:spcPts val="0"/>
                  </a:spcBef>
                </a:pPr>
                <a14:m>
                  <m:oMath xmlns:m="http://schemas.openxmlformats.org/officeDocument/2006/math">
                    <m:r>
                      <a:rPr lang="en-US" b="0" i="1" smtClean="0">
                        <a:latin typeface="Cambria Math" panose="02040503050406030204" pitchFamily="18" charset="0"/>
                      </a:rPr>
                      <m:t>𝐴𝑉𝐶</m:t>
                    </m:r>
                    <m:r>
                      <a:rPr lang="fr-FR" i="1">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40</m:t>
                        </m:r>
                        <m:r>
                          <a:rPr lang="fr-FR" i="1">
                            <a:latin typeface="Cambria Math" panose="02040503050406030204" pitchFamily="18" charset="0"/>
                          </a:rPr>
                          <m:t>𝑄</m:t>
                        </m:r>
                        <m:r>
                          <a:rPr lang="fr-FR" i="1">
                            <a:latin typeface="Cambria Math" panose="02040503050406030204" pitchFamily="18" charset="0"/>
                          </a:rPr>
                          <m:t>+0.2</m:t>
                        </m:r>
                        <m:sSup>
                          <m:sSupPr>
                            <m:ctrlPr>
                              <a:rPr lang="fr-FR" i="1">
                                <a:latin typeface="Cambria Math" panose="02040503050406030204" pitchFamily="18" charset="0"/>
                              </a:rPr>
                            </m:ctrlPr>
                          </m:sSupPr>
                          <m:e>
                            <m:r>
                              <a:rPr lang="fr-FR" i="1">
                                <a:latin typeface="Cambria Math" panose="02040503050406030204" pitchFamily="18" charset="0"/>
                              </a:rPr>
                              <m:t>𝑄</m:t>
                            </m:r>
                          </m:e>
                          <m:sup>
                            <m:r>
                              <a:rPr lang="fr-FR" i="1">
                                <a:latin typeface="Cambria Math" panose="02040503050406030204" pitchFamily="18" charset="0"/>
                              </a:rPr>
                              <m:t>2</m:t>
                            </m:r>
                          </m:sup>
                        </m:sSup>
                      </m:num>
                      <m:den>
                        <m:r>
                          <a:rPr lang="en-US" b="0" i="1" smtClean="0">
                            <a:latin typeface="Cambria Math" panose="02040503050406030204" pitchFamily="18" charset="0"/>
                          </a:rPr>
                          <m:t>𝑄</m:t>
                        </m:r>
                      </m:den>
                    </m:f>
                    <m:r>
                      <a:rPr lang="en-US" b="0" i="1" smtClean="0">
                        <a:latin typeface="Cambria Math" panose="02040503050406030204" pitchFamily="18" charset="0"/>
                      </a:rPr>
                      <m:t>=40+0.2</m:t>
                    </m:r>
                    <m:r>
                      <a:rPr lang="en-US" b="0" i="1" smtClean="0">
                        <a:latin typeface="Cambria Math" panose="02040503050406030204" pitchFamily="18" charset="0"/>
                      </a:rPr>
                      <m:t>𝑄</m:t>
                    </m:r>
                  </m:oMath>
                </a14:m>
                <a:endParaRPr lang="en-US" b="0" dirty="0"/>
              </a:p>
              <a:p>
                <a:pPr lvl="1">
                  <a:lnSpc>
                    <a:spcPct val="120000"/>
                  </a:lnSpc>
                  <a:spcBef>
                    <a:spcPts val="0"/>
                  </a:spcBef>
                </a:pPr>
                <a:r>
                  <a:rPr lang="fr-FR" i="1" dirty="0"/>
                  <a:t>AVC</a:t>
                </a:r>
                <a:r>
                  <a:rPr lang="fr-FR" dirty="0"/>
                  <a:t> at the profit-</a:t>
                </a:r>
                <a:r>
                  <a:rPr lang="fr-FR" dirty="0" err="1"/>
                  <a:t>maximizing</a:t>
                </a:r>
                <a:r>
                  <a:rPr lang="fr-FR" dirty="0"/>
                  <a:t> </a:t>
                </a:r>
                <a:r>
                  <a:rPr lang="fr-FR" dirty="0" err="1"/>
                  <a:t>quantity</a:t>
                </a:r>
                <a:r>
                  <a:rPr lang="fr-FR" dirty="0"/>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𝑄</m:t>
                        </m:r>
                      </m:e>
                      <m:sup>
                        <m:r>
                          <a:rPr lang="en-US" i="1">
                            <a:latin typeface="Cambria Math" panose="02040503050406030204" pitchFamily="18" charset="0"/>
                          </a:rPr>
                          <m:t>∗</m:t>
                        </m:r>
                      </m:sup>
                    </m:sSup>
                  </m:oMath>
                </a14:m>
                <a:r>
                  <a:rPr lang="fr-FR" dirty="0"/>
                  <a:t>) = 100</a:t>
                </a:r>
              </a:p>
              <a:p>
                <a:pPr lvl="1">
                  <a:lnSpc>
                    <a:spcPct val="120000"/>
                  </a:lnSpc>
                  <a:spcBef>
                    <a:spcPts val="0"/>
                  </a:spcBef>
                </a:pPr>
                <a14:m>
                  <m:oMath xmlns:m="http://schemas.openxmlformats.org/officeDocument/2006/math">
                    <m:r>
                      <a:rPr lang="fr-FR" i="1" dirty="0" smtClean="0">
                        <a:latin typeface="Cambria Math" panose="02040503050406030204" pitchFamily="18" charset="0"/>
                      </a:rPr>
                      <m:t>𝑃</m:t>
                    </m:r>
                    <m:r>
                      <a:rPr lang="fr-FR" i="1" dirty="0" smtClean="0">
                        <a:latin typeface="Cambria Math" panose="02040503050406030204" pitchFamily="18" charset="0"/>
                      </a:rPr>
                      <m:t> &gt; </m:t>
                    </m:r>
                    <m:r>
                      <a:rPr lang="fr-FR" i="1" dirty="0" smtClean="0">
                        <a:latin typeface="Cambria Math" panose="02040503050406030204" pitchFamily="18" charset="0"/>
                      </a:rPr>
                      <m:t>𝐴𝑉𝐶</m:t>
                    </m:r>
                    <m:r>
                      <a:rPr lang="fr-FR" i="1" dirty="0" smtClean="0">
                        <a:latin typeface="Cambria Math" panose="02040503050406030204" pitchFamily="18" charset="0"/>
                      </a:rPr>
                      <m:t> </m:t>
                    </m:r>
                  </m:oMath>
                </a14:m>
                <a:r>
                  <a:rPr lang="fr-FR" dirty="0">
                    <a:sym typeface="Wingdings" panose="05000000000000000000" pitchFamily="2" charset="2"/>
                  </a:rPr>
                  <a:t> the Yi </a:t>
                </a:r>
                <a:r>
                  <a:rPr lang="fr-FR" dirty="0" err="1">
                    <a:sym typeface="Wingdings" panose="05000000000000000000" pitchFamily="2" charset="2"/>
                  </a:rPr>
                  <a:t>family</a:t>
                </a:r>
                <a:r>
                  <a:rPr lang="fr-FR" dirty="0">
                    <a:sym typeface="Wingdings" panose="05000000000000000000" pitchFamily="2" charset="2"/>
                  </a:rPr>
                  <a:t> </a:t>
                </a:r>
                <a:r>
                  <a:rPr lang="fr-FR" dirty="0" err="1">
                    <a:sym typeface="Wingdings" panose="05000000000000000000" pitchFamily="2" charset="2"/>
                  </a:rPr>
                  <a:t>should</a:t>
                </a:r>
                <a:r>
                  <a:rPr lang="fr-FR" dirty="0">
                    <a:sym typeface="Wingdings" panose="05000000000000000000" pitchFamily="2" charset="2"/>
                  </a:rPr>
                  <a:t> continue to </a:t>
                </a:r>
                <a:r>
                  <a:rPr lang="fr-FR" dirty="0" err="1">
                    <a:sym typeface="Wingdings" panose="05000000000000000000" pitchFamily="2" charset="2"/>
                  </a:rPr>
                  <a:t>operate</a:t>
                </a:r>
                <a:r>
                  <a:rPr lang="fr-FR" dirty="0">
                    <a:sym typeface="Wingdings" panose="05000000000000000000" pitchFamily="2" charset="2"/>
                  </a:rPr>
                  <a:t> in the short run</a:t>
                </a:r>
                <a:endParaRPr lang="fr-FR" dirty="0"/>
              </a:p>
            </p:txBody>
          </p:sp>
        </mc:Choice>
        <mc:Fallback xmlns="">
          <p:sp>
            <p:nvSpPr>
              <p:cNvPr id="6" name="Content Placeholder 5"/>
              <p:cNvSpPr>
                <a:spLocks noGrp="1" noRot="1" noChangeAspect="1" noMove="1" noResize="1" noEditPoints="1" noAdjustHandles="1" noChangeArrowheads="1" noChangeShapeType="1" noTextEdit="1"/>
              </p:cNvSpPr>
              <p:nvPr>
                <p:ph type="body" idx="1"/>
              </p:nvPr>
            </p:nvSpPr>
            <p:spPr>
              <a:blipFill>
                <a:blip r:embed="rId4"/>
                <a:stretch>
                  <a:fillRect/>
                </a:stretch>
              </a:blipFill>
            </p:spPr>
            <p:txBody>
              <a:bodyPr/>
              <a:lstStyle/>
              <a:p>
                <a:r>
                  <a:rPr lang="en-US">
                    <a:noFill/>
                  </a:rPr>
                  <a:t> </a:t>
                </a:r>
              </a:p>
            </p:txBody>
          </p:sp>
        </mc:Fallback>
      </mc:AlternateContent>
      <p:sp>
        <p:nvSpPr>
          <p:cNvPr id="3" name="Slide Number Placeholder 2"/>
          <p:cNvSpPr>
            <a:spLocks noGrp="1"/>
          </p:cNvSpPr>
          <p:nvPr>
            <p:ph type="sldNum" sz="quarter" idx="12"/>
          </p:nvPr>
        </p:nvSpPr>
        <p:spPr/>
        <p:txBody>
          <a:bodyPr/>
          <a:lstStyle/>
          <a:p>
            <a:fld id="{DBC38028-5B1C-49D3-BF22-2CE9385E6DA2}" type="slidenum">
              <a:rPr lang="en-US" smtClean="0"/>
              <a:pPr/>
              <a:t>32</a:t>
            </a:fld>
            <a:endParaRPr lang="en-US" dirty="0"/>
          </a:p>
        </p:txBody>
      </p:sp>
      <p:sp>
        <p:nvSpPr>
          <p:cNvPr id="8" name="Parallelogram 7">
            <a:extLst>
              <a:ext uri="{FF2B5EF4-FFF2-40B4-BE49-F238E27FC236}">
                <a16:creationId xmlns:a16="http://schemas.microsoft.com/office/drawing/2014/main" id="{76D1D7FE-63EA-40AF-864E-46629A574775}"/>
              </a:ext>
            </a:extLst>
          </p:cNvPr>
          <p:cNvSpPr/>
          <p:nvPr/>
        </p:nvSpPr>
        <p:spPr>
          <a:xfrm>
            <a:off x="4883085" y="6097419"/>
            <a:ext cx="4132593" cy="687801"/>
          </a:xfrm>
          <a:prstGeom prst="parallelogram">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50000" t="50000" r="50000" b="50000"/>
            </a:path>
            <a:tileRect/>
          </a:gradFill>
          <a:ln>
            <a:noFill/>
          </a:ln>
        </p:spPr>
        <p:style>
          <a:lnRef idx="1">
            <a:schemeClr val="accent2"/>
          </a:lnRef>
          <a:fillRef idx="3">
            <a:schemeClr val="accent2"/>
          </a:fillRef>
          <a:effectRef idx="2">
            <a:schemeClr val="accent2"/>
          </a:effectRef>
          <a:fontRef idx="minor">
            <a:schemeClr val="lt1"/>
          </a:fontRef>
        </p:style>
        <p:txBody>
          <a:bodyPr rtlCol="0" anchor="ctr"/>
          <a:lstStyle/>
          <a:p>
            <a:pPr>
              <a:defRPr/>
            </a:pPr>
            <a:r>
              <a:rPr lang="en-US" sz="3200" b="1" i="1" dirty="0">
                <a:solidFill>
                  <a:prstClr val="white"/>
                </a:solidFill>
              </a:rPr>
              <a:t>Yi Family Example</a:t>
            </a:r>
          </a:p>
        </p:txBody>
      </p:sp>
    </p:spTree>
    <p:custDataLst>
      <p:tags r:id="rId1"/>
    </p:custDataLst>
    <p:extLst>
      <p:ext uri="{BB962C8B-B14F-4D97-AF65-F5344CB8AC3E}">
        <p14:creationId xmlns:p14="http://schemas.microsoft.com/office/powerpoint/2010/main" val="1366038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Freeform 55">
            <a:extLst>
              <a:ext uri="{FF2B5EF4-FFF2-40B4-BE49-F238E27FC236}">
                <a16:creationId xmlns:a16="http://schemas.microsoft.com/office/drawing/2014/main" id="{21E3399E-F081-484A-99AB-FE4FF1475DB6}"/>
              </a:ext>
            </a:extLst>
          </p:cNvPr>
          <p:cNvSpPr/>
          <p:nvPr/>
        </p:nvSpPr>
        <p:spPr>
          <a:xfrm>
            <a:off x="1658248" y="1978000"/>
            <a:ext cx="2906230" cy="2818480"/>
          </a:xfrm>
          <a:custGeom>
            <a:avLst/>
            <a:gdLst>
              <a:gd name="connsiteX0" fmla="*/ 0 w 970242"/>
              <a:gd name="connsiteY0" fmla="*/ 1026082 h 1621251"/>
              <a:gd name="connsiteX1" fmla="*/ 349008 w 970242"/>
              <a:gd name="connsiteY1" fmla="*/ 1577514 h 1621251"/>
              <a:gd name="connsiteX2" fmla="*/ 970242 w 970242"/>
              <a:gd name="connsiteY2" fmla="*/ 0 h 1621251"/>
              <a:gd name="connsiteX0" fmla="*/ 0 w 1191341"/>
              <a:gd name="connsiteY0" fmla="*/ 1313721 h 1665430"/>
              <a:gd name="connsiteX1" fmla="*/ 570107 w 1191341"/>
              <a:gd name="connsiteY1" fmla="*/ 1577514 h 1665430"/>
              <a:gd name="connsiteX2" fmla="*/ 1191341 w 1191341"/>
              <a:gd name="connsiteY2" fmla="*/ 0 h 1665430"/>
              <a:gd name="connsiteX0" fmla="*/ 0 w 1210850"/>
              <a:gd name="connsiteY0" fmla="*/ 1428777 h 1780486"/>
              <a:gd name="connsiteX1" fmla="*/ 570107 w 1210850"/>
              <a:gd name="connsiteY1" fmla="*/ 1692570 h 1780486"/>
              <a:gd name="connsiteX2" fmla="*/ 1210850 w 1210850"/>
              <a:gd name="connsiteY2" fmla="*/ 0 h 1780486"/>
              <a:gd name="connsiteX0" fmla="*/ 0 w 1334405"/>
              <a:gd name="connsiteY0" fmla="*/ 1400013 h 1773258"/>
              <a:gd name="connsiteX1" fmla="*/ 693662 w 1334405"/>
              <a:gd name="connsiteY1" fmla="*/ 1692570 h 1773258"/>
              <a:gd name="connsiteX2" fmla="*/ 1334405 w 1334405"/>
              <a:gd name="connsiteY2" fmla="*/ 0 h 1773258"/>
              <a:gd name="connsiteX0" fmla="*/ 0 w 1178335"/>
              <a:gd name="connsiteY0" fmla="*/ 1400013 h 1773258"/>
              <a:gd name="connsiteX1" fmla="*/ 693662 w 1178335"/>
              <a:gd name="connsiteY1" fmla="*/ 1692570 h 1773258"/>
              <a:gd name="connsiteX2" fmla="*/ 1178335 w 1178335"/>
              <a:gd name="connsiteY2" fmla="*/ 0 h 1773258"/>
              <a:gd name="connsiteX0" fmla="*/ 0 w 1178335"/>
              <a:gd name="connsiteY0" fmla="*/ 1400013 h 1773258"/>
              <a:gd name="connsiteX1" fmla="*/ 693662 w 1178335"/>
              <a:gd name="connsiteY1" fmla="*/ 1692570 h 1773258"/>
              <a:gd name="connsiteX2" fmla="*/ 1178335 w 1178335"/>
              <a:gd name="connsiteY2" fmla="*/ 0 h 1773258"/>
              <a:gd name="connsiteX0" fmla="*/ 0 w 1178335"/>
              <a:gd name="connsiteY0" fmla="*/ 1400013 h 1773258"/>
              <a:gd name="connsiteX1" fmla="*/ 693662 w 1178335"/>
              <a:gd name="connsiteY1" fmla="*/ 1692570 h 1773258"/>
              <a:gd name="connsiteX2" fmla="*/ 1178335 w 1178335"/>
              <a:gd name="connsiteY2" fmla="*/ 0 h 1773258"/>
              <a:gd name="connsiteX0" fmla="*/ 0 w 1302093"/>
              <a:gd name="connsiteY0" fmla="*/ 1645406 h 1870155"/>
              <a:gd name="connsiteX1" fmla="*/ 817420 w 1302093"/>
              <a:gd name="connsiteY1" fmla="*/ 1692570 h 1870155"/>
              <a:gd name="connsiteX2" fmla="*/ 1302093 w 1302093"/>
              <a:gd name="connsiteY2" fmla="*/ 0 h 1870155"/>
              <a:gd name="connsiteX0" fmla="*/ 0 w 1302093"/>
              <a:gd name="connsiteY0" fmla="*/ 1645406 h 1867442"/>
              <a:gd name="connsiteX1" fmla="*/ 804617 w 1302093"/>
              <a:gd name="connsiteY1" fmla="*/ 1686278 h 1867442"/>
              <a:gd name="connsiteX2" fmla="*/ 1302093 w 1302093"/>
              <a:gd name="connsiteY2" fmla="*/ 0 h 1867442"/>
              <a:gd name="connsiteX0" fmla="*/ 0 w 1302093"/>
              <a:gd name="connsiteY0" fmla="*/ 1645406 h 1859603"/>
              <a:gd name="connsiteX1" fmla="*/ 787547 w 1302093"/>
              <a:gd name="connsiteY1" fmla="*/ 1667402 h 1859603"/>
              <a:gd name="connsiteX2" fmla="*/ 1302093 w 1302093"/>
              <a:gd name="connsiteY2" fmla="*/ 0 h 1859603"/>
              <a:gd name="connsiteX0" fmla="*/ 0 w 1302093"/>
              <a:gd name="connsiteY0" fmla="*/ 1645406 h 1855846"/>
              <a:gd name="connsiteX1" fmla="*/ 785414 w 1302093"/>
              <a:gd name="connsiteY1" fmla="*/ 1657963 h 1855846"/>
              <a:gd name="connsiteX2" fmla="*/ 1302093 w 1302093"/>
              <a:gd name="connsiteY2" fmla="*/ 0 h 1855846"/>
              <a:gd name="connsiteX0" fmla="*/ 0 w 1302093"/>
              <a:gd name="connsiteY0" fmla="*/ 1645406 h 1855846"/>
              <a:gd name="connsiteX1" fmla="*/ 785414 w 1302093"/>
              <a:gd name="connsiteY1" fmla="*/ 1657963 h 1855846"/>
              <a:gd name="connsiteX2" fmla="*/ 1302093 w 1302093"/>
              <a:gd name="connsiteY2" fmla="*/ 0 h 1855846"/>
              <a:gd name="connsiteX0" fmla="*/ 0 w 1302093"/>
              <a:gd name="connsiteY0" fmla="*/ 1645406 h 1861857"/>
              <a:gd name="connsiteX1" fmla="*/ 785414 w 1302093"/>
              <a:gd name="connsiteY1" fmla="*/ 1657963 h 1861857"/>
              <a:gd name="connsiteX2" fmla="*/ 1302093 w 1302093"/>
              <a:gd name="connsiteY2" fmla="*/ 0 h 1861857"/>
            </a:gdLst>
            <a:ahLst/>
            <a:cxnLst>
              <a:cxn ang="0">
                <a:pos x="connsiteX0" y="connsiteY0"/>
              </a:cxn>
              <a:cxn ang="0">
                <a:pos x="connsiteX1" y="connsiteY1"/>
              </a:cxn>
              <a:cxn ang="0">
                <a:pos x="connsiteX2" y="connsiteY2"/>
              </a:cxn>
            </a:cxnLst>
            <a:rect l="l" t="t" r="r" b="b"/>
            <a:pathLst>
              <a:path w="1302093" h="1861857">
                <a:moveTo>
                  <a:pt x="0" y="1645406"/>
                </a:moveTo>
                <a:cubicBezTo>
                  <a:pt x="93650" y="2006629"/>
                  <a:pt x="651446" y="1847854"/>
                  <a:pt x="785414" y="1657963"/>
                </a:cubicBezTo>
                <a:cubicBezTo>
                  <a:pt x="947121" y="1486949"/>
                  <a:pt x="1195885" y="712838"/>
                  <a:pt x="1302093" y="0"/>
                </a:cubicBezTo>
              </a:path>
            </a:pathLst>
          </a:custGeom>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dirty="0">
              <a:latin typeface="Whitney Book" pitchFamily="50" charset="0"/>
              <a:cs typeface="Whitney Book" pitchFamily="50" charset="0"/>
            </a:endParaRPr>
          </a:p>
        </p:txBody>
      </p:sp>
      <p:sp>
        <p:nvSpPr>
          <p:cNvPr id="51" name="Rectangle 17">
            <a:extLst>
              <a:ext uri="{FF2B5EF4-FFF2-40B4-BE49-F238E27FC236}">
                <a16:creationId xmlns:a16="http://schemas.microsoft.com/office/drawing/2014/main" id="{F71B9CB0-B068-469B-8677-7407795D9F2E}"/>
              </a:ext>
            </a:extLst>
          </p:cNvPr>
          <p:cNvSpPr>
            <a:spLocks noChangeArrowheads="1"/>
          </p:cNvSpPr>
          <p:nvPr/>
        </p:nvSpPr>
        <p:spPr bwMode="auto">
          <a:xfrm>
            <a:off x="4331406" y="1343764"/>
            <a:ext cx="1122332"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solidFill>
                  <a:schemeClr val="accent6">
                    <a:lumMod val="75000"/>
                  </a:schemeClr>
                </a:solidFill>
                <a:latin typeface="Whitney Book" pitchFamily="50" charset="0"/>
                <a:cs typeface="Whitney Book" pitchFamily="50" charset="0"/>
              </a:rPr>
              <a:t>MC</a:t>
            </a:r>
          </a:p>
        </p:txBody>
      </p:sp>
      <p:sp>
        <p:nvSpPr>
          <p:cNvPr id="2" name="Title 1">
            <a:extLst>
              <a:ext uri="{FF2B5EF4-FFF2-40B4-BE49-F238E27FC236}">
                <a16:creationId xmlns:a16="http://schemas.microsoft.com/office/drawing/2014/main" id="{CA25E279-002E-4BFA-ACC4-9A46E01D3061}"/>
              </a:ext>
            </a:extLst>
          </p:cNvPr>
          <p:cNvSpPr>
            <a:spLocks noGrp="1"/>
          </p:cNvSpPr>
          <p:nvPr>
            <p:ph type="title"/>
          </p:nvPr>
        </p:nvSpPr>
        <p:spPr/>
        <p:txBody>
          <a:bodyPr>
            <a:normAutofit fontScale="90000"/>
          </a:bodyPr>
          <a:lstStyle/>
          <a:p>
            <a:r>
              <a:rPr lang="en-US" sz="2800" dirty="0"/>
              <a:t>high price: Positive Profits in the Short run</a:t>
            </a:r>
            <a:endParaRPr lang="en-US" sz="2800" dirty="0">
              <a:latin typeface="Whitney-Medium" pitchFamily="50" charset="0"/>
              <a:cs typeface="Whitney-Medium" pitchFamily="50" charset="0"/>
            </a:endParaRPr>
          </a:p>
        </p:txBody>
      </p:sp>
      <p:grpSp>
        <p:nvGrpSpPr>
          <p:cNvPr id="4" name="Group 35">
            <a:extLst>
              <a:ext uri="{FF2B5EF4-FFF2-40B4-BE49-F238E27FC236}">
                <a16:creationId xmlns:a16="http://schemas.microsoft.com/office/drawing/2014/main" id="{EF0D24F5-5A9F-4D51-9669-5E9AFC359B1C}"/>
              </a:ext>
            </a:extLst>
          </p:cNvPr>
          <p:cNvGrpSpPr>
            <a:grpSpLocks/>
          </p:cNvGrpSpPr>
          <p:nvPr/>
        </p:nvGrpSpPr>
        <p:grpSpPr bwMode="auto">
          <a:xfrm>
            <a:off x="561860" y="1472126"/>
            <a:ext cx="7512280" cy="4132353"/>
            <a:chOff x="260" y="1140"/>
            <a:chExt cx="4498" cy="2472"/>
          </a:xfrm>
        </p:grpSpPr>
        <p:sp>
          <p:nvSpPr>
            <p:cNvPr id="5" name="Rectangle 4">
              <a:extLst>
                <a:ext uri="{FF2B5EF4-FFF2-40B4-BE49-F238E27FC236}">
                  <a16:creationId xmlns:a16="http://schemas.microsoft.com/office/drawing/2014/main" id="{2112D0F3-8D7E-41A9-A0C3-802B3CF06311}"/>
                </a:ext>
              </a:extLst>
            </p:cNvPr>
            <p:cNvSpPr>
              <a:spLocks noChangeArrowheads="1"/>
            </p:cNvSpPr>
            <p:nvPr/>
          </p:nvSpPr>
          <p:spPr bwMode="auto">
            <a:xfrm>
              <a:off x="260" y="1140"/>
              <a:ext cx="496" cy="37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dirty="0">
                  <a:latin typeface="Whitney Book" pitchFamily="50" charset="0"/>
                  <a:cs typeface="Whitney Book" pitchFamily="50" charset="0"/>
                </a:rPr>
                <a:t>$/</a:t>
              </a:r>
              <a:r>
                <a:rPr lang="en-US" sz="2800" b="0" i="1" dirty="0">
                  <a:latin typeface="Whitney Book" pitchFamily="50" charset="0"/>
                  <a:cs typeface="Whitney Book" pitchFamily="50" charset="0"/>
                </a:rPr>
                <a:t>Q</a:t>
              </a:r>
            </a:p>
          </p:txBody>
        </p:sp>
        <p:sp>
          <p:nvSpPr>
            <p:cNvPr id="6" name="Line 6">
              <a:extLst>
                <a:ext uri="{FF2B5EF4-FFF2-40B4-BE49-F238E27FC236}">
                  <a16:creationId xmlns:a16="http://schemas.microsoft.com/office/drawing/2014/main" id="{9B60ACA6-CAF2-46D4-ACB5-D9D23CE23CCB}"/>
                </a:ext>
              </a:extLst>
            </p:cNvPr>
            <p:cNvSpPr>
              <a:spLocks noChangeShapeType="1"/>
            </p:cNvSpPr>
            <p:nvPr/>
          </p:nvSpPr>
          <p:spPr bwMode="auto">
            <a:xfrm>
              <a:off x="729" y="1168"/>
              <a:ext cx="0" cy="2160"/>
            </a:xfrm>
            <a:prstGeom prst="line">
              <a:avLst/>
            </a:prstGeom>
            <a:noFill/>
            <a:ln w="50800">
              <a:solidFill>
                <a:schemeClr val="tx1"/>
              </a:solidFill>
              <a:round/>
              <a:headEnd type="arrow" w="sm" len="sm"/>
              <a:tailEnd type="none" w="sm" len="sm"/>
            </a:ln>
            <a:effectLst/>
          </p:spPr>
          <p:txBody>
            <a:bodyPr wrap="none" anchor="ctr"/>
            <a:lstStyle/>
            <a:p>
              <a:endParaRPr lang="en-US" b="0">
                <a:latin typeface="Whitney Book" pitchFamily="50" charset="0"/>
                <a:cs typeface="Whitney Book" pitchFamily="50" charset="0"/>
              </a:endParaRPr>
            </a:p>
          </p:txBody>
        </p:sp>
        <p:sp>
          <p:nvSpPr>
            <p:cNvPr id="7" name="Line 7">
              <a:extLst>
                <a:ext uri="{FF2B5EF4-FFF2-40B4-BE49-F238E27FC236}">
                  <a16:creationId xmlns:a16="http://schemas.microsoft.com/office/drawing/2014/main" id="{5CA90566-A192-42F6-9891-CB9F82DBCF3A}"/>
                </a:ext>
              </a:extLst>
            </p:cNvPr>
            <p:cNvSpPr>
              <a:spLocks noChangeShapeType="1"/>
            </p:cNvSpPr>
            <p:nvPr/>
          </p:nvSpPr>
          <p:spPr bwMode="auto">
            <a:xfrm>
              <a:off x="723" y="3340"/>
              <a:ext cx="3588" cy="0"/>
            </a:xfrm>
            <a:prstGeom prst="line">
              <a:avLst/>
            </a:prstGeom>
            <a:noFill/>
            <a:ln w="50800">
              <a:solidFill>
                <a:schemeClr val="tx1"/>
              </a:solidFill>
              <a:round/>
              <a:headEnd type="none" w="sm" len="sm"/>
              <a:tailEnd type="arrow" w="sm" len="sm"/>
            </a:ln>
            <a:effectLst/>
          </p:spPr>
          <p:txBody>
            <a:bodyPr wrap="none" anchor="ctr"/>
            <a:lstStyle/>
            <a:p>
              <a:endParaRPr lang="en-US" b="0">
                <a:latin typeface="Whitney Book" pitchFamily="50" charset="0"/>
                <a:cs typeface="Whitney Book" pitchFamily="50" charset="0"/>
              </a:endParaRPr>
            </a:p>
          </p:txBody>
        </p:sp>
        <p:sp>
          <p:nvSpPr>
            <p:cNvPr id="8" name="Rectangle 7">
              <a:extLst>
                <a:ext uri="{FF2B5EF4-FFF2-40B4-BE49-F238E27FC236}">
                  <a16:creationId xmlns:a16="http://schemas.microsoft.com/office/drawing/2014/main" id="{9EC1E57E-C019-4301-979D-0AAD61488C34}"/>
                </a:ext>
              </a:extLst>
            </p:cNvPr>
            <p:cNvSpPr>
              <a:spLocks noChangeArrowheads="1"/>
            </p:cNvSpPr>
            <p:nvPr/>
          </p:nvSpPr>
          <p:spPr bwMode="auto">
            <a:xfrm>
              <a:off x="4334" y="3236"/>
              <a:ext cx="424" cy="37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latin typeface="Whitney Book" pitchFamily="50" charset="0"/>
                  <a:cs typeface="Whitney Book" pitchFamily="50" charset="0"/>
                </a:rPr>
                <a:t>Q</a:t>
              </a:r>
            </a:p>
          </p:txBody>
        </p:sp>
      </p:grpSp>
      <p:sp>
        <p:nvSpPr>
          <p:cNvPr id="12" name="Arc 11">
            <a:extLst>
              <a:ext uri="{FF2B5EF4-FFF2-40B4-BE49-F238E27FC236}">
                <a16:creationId xmlns:a16="http://schemas.microsoft.com/office/drawing/2014/main" id="{6965E26D-7F82-4D06-BEE4-A67E9BE77057}"/>
              </a:ext>
            </a:extLst>
          </p:cNvPr>
          <p:cNvSpPr/>
          <p:nvPr/>
        </p:nvSpPr>
        <p:spPr>
          <a:xfrm rot="9232845">
            <a:off x="2751910" y="1345646"/>
            <a:ext cx="3225403" cy="2006775"/>
          </a:xfrm>
          <a:custGeom>
            <a:avLst/>
            <a:gdLst>
              <a:gd name="connsiteX0" fmla="*/ 296236 w 3521182"/>
              <a:gd name="connsiteY0" fmla="*/ 614484 h 2762750"/>
              <a:gd name="connsiteX1" fmla="*/ 2249450 w 3521182"/>
              <a:gd name="connsiteY1" fmla="*/ 54319 h 2762750"/>
              <a:gd name="connsiteX2" fmla="*/ 3451667 w 3521182"/>
              <a:gd name="connsiteY2" fmla="*/ 1765707 h 2762750"/>
              <a:gd name="connsiteX3" fmla="*/ 1760591 w 3521182"/>
              <a:gd name="connsiteY3" fmla="*/ 1381375 h 2762750"/>
              <a:gd name="connsiteX4" fmla="*/ 296236 w 3521182"/>
              <a:gd name="connsiteY4" fmla="*/ 614484 h 2762750"/>
              <a:gd name="connsiteX0" fmla="*/ 296236 w 3521182"/>
              <a:gd name="connsiteY0" fmla="*/ 614484 h 2762750"/>
              <a:gd name="connsiteX1" fmla="*/ 2249450 w 3521182"/>
              <a:gd name="connsiteY1" fmla="*/ 54319 h 2762750"/>
              <a:gd name="connsiteX2" fmla="*/ 3451667 w 3521182"/>
              <a:gd name="connsiteY2" fmla="*/ 1765707 h 2762750"/>
              <a:gd name="connsiteX0" fmla="*/ 0 w 3225403"/>
              <a:gd name="connsiteY0" fmla="*/ 614585 h 1765808"/>
              <a:gd name="connsiteX1" fmla="*/ 1953214 w 3225403"/>
              <a:gd name="connsiteY1" fmla="*/ 54420 h 1765808"/>
              <a:gd name="connsiteX2" fmla="*/ 3155431 w 3225403"/>
              <a:gd name="connsiteY2" fmla="*/ 1765808 h 1765808"/>
              <a:gd name="connsiteX3" fmla="*/ 1464355 w 3225403"/>
              <a:gd name="connsiteY3" fmla="*/ 1381476 h 1765808"/>
              <a:gd name="connsiteX4" fmla="*/ 0 w 3225403"/>
              <a:gd name="connsiteY4" fmla="*/ 614585 h 1765808"/>
              <a:gd name="connsiteX0" fmla="*/ 111404 w 3225403"/>
              <a:gd name="connsiteY0" fmla="*/ 750034 h 1765808"/>
              <a:gd name="connsiteX1" fmla="*/ 1953214 w 3225403"/>
              <a:gd name="connsiteY1" fmla="*/ 54420 h 1765808"/>
              <a:gd name="connsiteX2" fmla="*/ 3155431 w 3225403"/>
              <a:gd name="connsiteY2" fmla="*/ 1765808 h 1765808"/>
              <a:gd name="connsiteX0" fmla="*/ 0 w 3225403"/>
              <a:gd name="connsiteY0" fmla="*/ 614585 h 2006775"/>
              <a:gd name="connsiteX1" fmla="*/ 1953214 w 3225403"/>
              <a:gd name="connsiteY1" fmla="*/ 54420 h 2006775"/>
              <a:gd name="connsiteX2" fmla="*/ 3155431 w 3225403"/>
              <a:gd name="connsiteY2" fmla="*/ 1765808 h 2006775"/>
              <a:gd name="connsiteX3" fmla="*/ 1464355 w 3225403"/>
              <a:gd name="connsiteY3" fmla="*/ 1381476 h 2006775"/>
              <a:gd name="connsiteX4" fmla="*/ 0 w 3225403"/>
              <a:gd name="connsiteY4" fmla="*/ 614585 h 2006775"/>
              <a:gd name="connsiteX0" fmla="*/ 111404 w 3225403"/>
              <a:gd name="connsiteY0" fmla="*/ 750034 h 2006775"/>
              <a:gd name="connsiteX1" fmla="*/ 1953214 w 3225403"/>
              <a:gd name="connsiteY1" fmla="*/ 54420 h 2006775"/>
              <a:gd name="connsiteX2" fmla="*/ 3053446 w 3225403"/>
              <a:gd name="connsiteY2" fmla="*/ 2006775 h 2006775"/>
            </a:gdLst>
            <a:ahLst/>
            <a:cxnLst>
              <a:cxn ang="0">
                <a:pos x="connsiteX0" y="connsiteY0"/>
              </a:cxn>
              <a:cxn ang="0">
                <a:pos x="connsiteX1" y="connsiteY1"/>
              </a:cxn>
              <a:cxn ang="0">
                <a:pos x="connsiteX2" y="connsiteY2"/>
              </a:cxn>
            </a:cxnLst>
            <a:rect l="l" t="t" r="r" b="b"/>
            <a:pathLst>
              <a:path w="3225403" h="2006775" stroke="0" extrusionOk="0">
                <a:moveTo>
                  <a:pt x="0" y="614585"/>
                </a:moveTo>
                <a:cubicBezTo>
                  <a:pt x="425953" y="113881"/>
                  <a:pt x="1216130" y="-112734"/>
                  <a:pt x="1953214" y="54420"/>
                </a:cubicBezTo>
                <a:cubicBezTo>
                  <a:pt x="2887709" y="266343"/>
                  <a:pt x="3426073" y="1032718"/>
                  <a:pt x="3155431" y="1765808"/>
                </a:cubicBezTo>
                <a:lnTo>
                  <a:pt x="1464355" y="1381476"/>
                </a:lnTo>
                <a:lnTo>
                  <a:pt x="0" y="614585"/>
                </a:lnTo>
                <a:close/>
              </a:path>
              <a:path w="3225403" h="2006775" fill="none">
                <a:moveTo>
                  <a:pt x="111404" y="750034"/>
                </a:moveTo>
                <a:cubicBezTo>
                  <a:pt x="537357" y="249330"/>
                  <a:pt x="1216130" y="-112734"/>
                  <a:pt x="1953214" y="54420"/>
                </a:cubicBezTo>
                <a:cubicBezTo>
                  <a:pt x="2887709" y="266343"/>
                  <a:pt x="3324088" y="1273685"/>
                  <a:pt x="3053446" y="2006775"/>
                </a:cubicBez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latin typeface="Whitney Book" pitchFamily="50" charset="0"/>
              <a:cs typeface="Whitney Book" pitchFamily="50" charset="0"/>
            </a:endParaRPr>
          </a:p>
        </p:txBody>
      </p:sp>
      <p:sp>
        <p:nvSpPr>
          <p:cNvPr id="17" name="Arc 11">
            <a:extLst>
              <a:ext uri="{FF2B5EF4-FFF2-40B4-BE49-F238E27FC236}">
                <a16:creationId xmlns:a16="http://schemas.microsoft.com/office/drawing/2014/main" id="{ABBBDCED-37E9-4F35-9E0F-52F7AD61B2D2}"/>
              </a:ext>
            </a:extLst>
          </p:cNvPr>
          <p:cNvSpPr/>
          <p:nvPr/>
        </p:nvSpPr>
        <p:spPr>
          <a:xfrm rot="8747880">
            <a:off x="2025762" y="1145641"/>
            <a:ext cx="4831255" cy="2740615"/>
          </a:xfrm>
          <a:custGeom>
            <a:avLst/>
            <a:gdLst>
              <a:gd name="connsiteX0" fmla="*/ 296236 w 3521182"/>
              <a:gd name="connsiteY0" fmla="*/ 614484 h 2762750"/>
              <a:gd name="connsiteX1" fmla="*/ 2249450 w 3521182"/>
              <a:gd name="connsiteY1" fmla="*/ 54319 h 2762750"/>
              <a:gd name="connsiteX2" fmla="*/ 3451667 w 3521182"/>
              <a:gd name="connsiteY2" fmla="*/ 1765707 h 2762750"/>
              <a:gd name="connsiteX3" fmla="*/ 1760591 w 3521182"/>
              <a:gd name="connsiteY3" fmla="*/ 1381375 h 2762750"/>
              <a:gd name="connsiteX4" fmla="*/ 296236 w 3521182"/>
              <a:gd name="connsiteY4" fmla="*/ 614484 h 2762750"/>
              <a:gd name="connsiteX0" fmla="*/ 296236 w 3521182"/>
              <a:gd name="connsiteY0" fmla="*/ 614484 h 2762750"/>
              <a:gd name="connsiteX1" fmla="*/ 2249450 w 3521182"/>
              <a:gd name="connsiteY1" fmla="*/ 54319 h 2762750"/>
              <a:gd name="connsiteX2" fmla="*/ 3451667 w 3521182"/>
              <a:gd name="connsiteY2" fmla="*/ 1765707 h 2762750"/>
              <a:gd name="connsiteX0" fmla="*/ 0 w 3225403"/>
              <a:gd name="connsiteY0" fmla="*/ 614585 h 1765808"/>
              <a:gd name="connsiteX1" fmla="*/ 1953214 w 3225403"/>
              <a:gd name="connsiteY1" fmla="*/ 54420 h 1765808"/>
              <a:gd name="connsiteX2" fmla="*/ 3155431 w 3225403"/>
              <a:gd name="connsiteY2" fmla="*/ 1765808 h 1765808"/>
              <a:gd name="connsiteX3" fmla="*/ 1464355 w 3225403"/>
              <a:gd name="connsiteY3" fmla="*/ 1381476 h 1765808"/>
              <a:gd name="connsiteX4" fmla="*/ 0 w 3225403"/>
              <a:gd name="connsiteY4" fmla="*/ 614585 h 1765808"/>
              <a:gd name="connsiteX0" fmla="*/ 111404 w 3225403"/>
              <a:gd name="connsiteY0" fmla="*/ 750034 h 1765808"/>
              <a:gd name="connsiteX1" fmla="*/ 1953214 w 3225403"/>
              <a:gd name="connsiteY1" fmla="*/ 54420 h 1765808"/>
              <a:gd name="connsiteX2" fmla="*/ 3155431 w 3225403"/>
              <a:gd name="connsiteY2" fmla="*/ 1765808 h 1765808"/>
              <a:gd name="connsiteX0" fmla="*/ 0 w 3225403"/>
              <a:gd name="connsiteY0" fmla="*/ 614585 h 2006775"/>
              <a:gd name="connsiteX1" fmla="*/ 1953214 w 3225403"/>
              <a:gd name="connsiteY1" fmla="*/ 54420 h 2006775"/>
              <a:gd name="connsiteX2" fmla="*/ 3155431 w 3225403"/>
              <a:gd name="connsiteY2" fmla="*/ 1765808 h 2006775"/>
              <a:gd name="connsiteX3" fmla="*/ 1464355 w 3225403"/>
              <a:gd name="connsiteY3" fmla="*/ 1381476 h 2006775"/>
              <a:gd name="connsiteX4" fmla="*/ 0 w 3225403"/>
              <a:gd name="connsiteY4" fmla="*/ 614585 h 2006775"/>
              <a:gd name="connsiteX0" fmla="*/ 111404 w 3225403"/>
              <a:gd name="connsiteY0" fmla="*/ 750034 h 2006775"/>
              <a:gd name="connsiteX1" fmla="*/ 1953214 w 3225403"/>
              <a:gd name="connsiteY1" fmla="*/ 54420 h 2006775"/>
              <a:gd name="connsiteX2" fmla="*/ 3053446 w 3225403"/>
              <a:gd name="connsiteY2" fmla="*/ 2006775 h 2006775"/>
            </a:gdLst>
            <a:ahLst/>
            <a:cxnLst>
              <a:cxn ang="0">
                <a:pos x="connsiteX0" y="connsiteY0"/>
              </a:cxn>
              <a:cxn ang="0">
                <a:pos x="connsiteX1" y="connsiteY1"/>
              </a:cxn>
              <a:cxn ang="0">
                <a:pos x="connsiteX2" y="connsiteY2"/>
              </a:cxn>
            </a:cxnLst>
            <a:rect l="l" t="t" r="r" b="b"/>
            <a:pathLst>
              <a:path w="3225403" h="2006775" stroke="0" extrusionOk="0">
                <a:moveTo>
                  <a:pt x="0" y="614585"/>
                </a:moveTo>
                <a:cubicBezTo>
                  <a:pt x="425953" y="113881"/>
                  <a:pt x="1216130" y="-112734"/>
                  <a:pt x="1953214" y="54420"/>
                </a:cubicBezTo>
                <a:cubicBezTo>
                  <a:pt x="2887709" y="266343"/>
                  <a:pt x="3426073" y="1032718"/>
                  <a:pt x="3155431" y="1765808"/>
                </a:cubicBezTo>
                <a:lnTo>
                  <a:pt x="1464355" y="1381476"/>
                </a:lnTo>
                <a:lnTo>
                  <a:pt x="0" y="614585"/>
                </a:lnTo>
                <a:close/>
              </a:path>
              <a:path w="3225403" h="2006775" fill="none">
                <a:moveTo>
                  <a:pt x="111404" y="750034"/>
                </a:moveTo>
                <a:cubicBezTo>
                  <a:pt x="537357" y="249330"/>
                  <a:pt x="1216130" y="-112734"/>
                  <a:pt x="1953214" y="54420"/>
                </a:cubicBezTo>
                <a:cubicBezTo>
                  <a:pt x="2887709" y="266343"/>
                  <a:pt x="3324088" y="1273685"/>
                  <a:pt x="3053446" y="2006775"/>
                </a:cubicBezTo>
              </a:path>
            </a:pathLst>
          </a:custGeom>
          <a:ln>
            <a:solidFill>
              <a:srgbClr val="00B05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latin typeface="Whitney Book" pitchFamily="50" charset="0"/>
              <a:cs typeface="Whitney Book" pitchFamily="50" charset="0"/>
            </a:endParaRPr>
          </a:p>
        </p:txBody>
      </p:sp>
      <p:sp>
        <p:nvSpPr>
          <p:cNvPr id="23" name="Rectangle 17">
            <a:extLst>
              <a:ext uri="{FF2B5EF4-FFF2-40B4-BE49-F238E27FC236}">
                <a16:creationId xmlns:a16="http://schemas.microsoft.com/office/drawing/2014/main" id="{F70C19FB-A6EC-4A87-A0B0-7097BCD58C7B}"/>
              </a:ext>
            </a:extLst>
          </p:cNvPr>
          <p:cNvSpPr>
            <a:spLocks noChangeArrowheads="1"/>
          </p:cNvSpPr>
          <p:nvPr/>
        </p:nvSpPr>
        <p:spPr bwMode="auto">
          <a:xfrm>
            <a:off x="5532037" y="1349454"/>
            <a:ext cx="1122332"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i="1" dirty="0">
                <a:solidFill>
                  <a:srgbClr val="C00000"/>
                </a:solidFill>
                <a:latin typeface="Whitney Book" pitchFamily="50" charset="0"/>
                <a:cs typeface="Whitney Book" pitchFamily="50" charset="0"/>
              </a:rPr>
              <a:t>ATC</a:t>
            </a:r>
            <a:endParaRPr lang="en-US" sz="2800" b="0" i="1" dirty="0">
              <a:solidFill>
                <a:srgbClr val="C00000"/>
              </a:solidFill>
              <a:latin typeface="Whitney Book" pitchFamily="50" charset="0"/>
              <a:cs typeface="Whitney Book" pitchFamily="50" charset="0"/>
            </a:endParaRPr>
          </a:p>
        </p:txBody>
      </p:sp>
      <p:sp>
        <p:nvSpPr>
          <p:cNvPr id="24" name="Rectangle 17">
            <a:extLst>
              <a:ext uri="{FF2B5EF4-FFF2-40B4-BE49-F238E27FC236}">
                <a16:creationId xmlns:a16="http://schemas.microsoft.com/office/drawing/2014/main" id="{0DDA4EE9-9016-41D2-AE51-8B3A375676D4}"/>
              </a:ext>
            </a:extLst>
          </p:cNvPr>
          <p:cNvSpPr>
            <a:spLocks noChangeArrowheads="1"/>
          </p:cNvSpPr>
          <p:nvPr/>
        </p:nvSpPr>
        <p:spPr bwMode="auto">
          <a:xfrm>
            <a:off x="6494806" y="1110600"/>
            <a:ext cx="1122332"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i="1" dirty="0">
                <a:solidFill>
                  <a:srgbClr val="00B050"/>
                </a:solidFill>
                <a:latin typeface="Whitney Book" pitchFamily="50" charset="0"/>
                <a:cs typeface="Whitney Book" pitchFamily="50" charset="0"/>
              </a:rPr>
              <a:t>AVC</a:t>
            </a:r>
            <a:endParaRPr lang="en-US" sz="2800" b="0" i="1" dirty="0">
              <a:solidFill>
                <a:srgbClr val="00B050"/>
              </a:solidFill>
              <a:latin typeface="Whitney Book" pitchFamily="50" charset="0"/>
              <a:cs typeface="Whitney Book" pitchFamily="50" charset="0"/>
            </a:endParaRPr>
          </a:p>
        </p:txBody>
      </p:sp>
      <p:sp>
        <p:nvSpPr>
          <p:cNvPr id="25" name="Rectangle 24">
            <a:extLst>
              <a:ext uri="{FF2B5EF4-FFF2-40B4-BE49-F238E27FC236}">
                <a16:creationId xmlns:a16="http://schemas.microsoft.com/office/drawing/2014/main" id="{B39233DB-3CB5-4E38-BFB3-8C59E48B5FE4}"/>
              </a:ext>
            </a:extLst>
          </p:cNvPr>
          <p:cNvSpPr>
            <a:spLocks noChangeArrowheads="1"/>
          </p:cNvSpPr>
          <p:nvPr/>
        </p:nvSpPr>
        <p:spPr bwMode="auto">
          <a:xfrm>
            <a:off x="552719" y="2624453"/>
            <a:ext cx="828388"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i="1" dirty="0" err="1">
                <a:latin typeface="Whitney Book" pitchFamily="50" charset="0"/>
                <a:cs typeface="Whitney Book" pitchFamily="50" charset="0"/>
              </a:rPr>
              <a:t>P</a:t>
            </a:r>
            <a:r>
              <a:rPr lang="en-US" sz="2000" i="1" dirty="0" err="1">
                <a:latin typeface="Whitney Book" pitchFamily="50" charset="0"/>
                <a:cs typeface="Whitney Book" pitchFamily="50" charset="0"/>
              </a:rPr>
              <a:t>high</a:t>
            </a:r>
            <a:endParaRPr lang="en-US" sz="2800" b="0" i="1" dirty="0">
              <a:latin typeface="Whitney Book" pitchFamily="50" charset="0"/>
              <a:cs typeface="Whitney Book" pitchFamily="50" charset="0"/>
            </a:endParaRPr>
          </a:p>
        </p:txBody>
      </p:sp>
      <p:cxnSp>
        <p:nvCxnSpPr>
          <p:cNvPr id="27" name="Straight Connector 26">
            <a:extLst>
              <a:ext uri="{FF2B5EF4-FFF2-40B4-BE49-F238E27FC236}">
                <a16:creationId xmlns:a16="http://schemas.microsoft.com/office/drawing/2014/main" id="{0996AF36-CEFE-4FB4-8A21-7B6B315D4DB4}"/>
              </a:ext>
            </a:extLst>
          </p:cNvPr>
          <p:cNvCxnSpPr>
            <a:cxnSpLocks/>
          </p:cNvCxnSpPr>
          <p:nvPr/>
        </p:nvCxnSpPr>
        <p:spPr>
          <a:xfrm flipV="1">
            <a:off x="1345156" y="2893414"/>
            <a:ext cx="5864372" cy="22656"/>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sp>
        <p:nvSpPr>
          <p:cNvPr id="29" name="Rectangle 17">
            <a:extLst>
              <a:ext uri="{FF2B5EF4-FFF2-40B4-BE49-F238E27FC236}">
                <a16:creationId xmlns:a16="http://schemas.microsoft.com/office/drawing/2014/main" id="{2FA724EC-D52B-49B9-856F-85370F8C0119}"/>
              </a:ext>
            </a:extLst>
          </p:cNvPr>
          <p:cNvSpPr>
            <a:spLocks noChangeArrowheads="1"/>
          </p:cNvSpPr>
          <p:nvPr/>
        </p:nvSpPr>
        <p:spPr bwMode="auto">
          <a:xfrm>
            <a:off x="7409721" y="2713011"/>
            <a:ext cx="1122332"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solidFill>
                  <a:srgbClr val="0070C0"/>
                </a:solidFill>
                <a:latin typeface="Whitney Book" pitchFamily="50" charset="0"/>
                <a:cs typeface="Whitney Book" pitchFamily="50" charset="0"/>
              </a:rPr>
              <a:t>P=MR</a:t>
            </a:r>
          </a:p>
        </p:txBody>
      </p:sp>
      <p:cxnSp>
        <p:nvCxnSpPr>
          <p:cNvPr id="31" name="Straight Connector 30">
            <a:extLst>
              <a:ext uri="{FF2B5EF4-FFF2-40B4-BE49-F238E27FC236}">
                <a16:creationId xmlns:a16="http://schemas.microsoft.com/office/drawing/2014/main" id="{09240B1C-13E8-468D-AB1C-B4D1E486A8A8}"/>
              </a:ext>
            </a:extLst>
          </p:cNvPr>
          <p:cNvCxnSpPr/>
          <p:nvPr/>
        </p:nvCxnSpPr>
        <p:spPr>
          <a:xfrm>
            <a:off x="4295317" y="2916070"/>
            <a:ext cx="0" cy="2213657"/>
          </a:xfrm>
          <a:prstGeom prst="line">
            <a:avLst/>
          </a:prstGeom>
          <a:ln w="28575" cap="flat" cmpd="sng" algn="ctr">
            <a:solidFill>
              <a:schemeClr val="dk1"/>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2" name="Rectangle 31">
            <a:extLst>
              <a:ext uri="{FF2B5EF4-FFF2-40B4-BE49-F238E27FC236}">
                <a16:creationId xmlns:a16="http://schemas.microsoft.com/office/drawing/2014/main" id="{06C1783E-99B3-47B3-B788-10559FD1019C}"/>
              </a:ext>
            </a:extLst>
          </p:cNvPr>
          <p:cNvSpPr>
            <a:spLocks noChangeArrowheads="1"/>
          </p:cNvSpPr>
          <p:nvPr/>
        </p:nvSpPr>
        <p:spPr bwMode="auto">
          <a:xfrm>
            <a:off x="4052573" y="5212370"/>
            <a:ext cx="828388"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latin typeface="Whitney Book" pitchFamily="50" charset="0"/>
                <a:cs typeface="Whitney Book" pitchFamily="50" charset="0"/>
              </a:rPr>
              <a:t>Q</a:t>
            </a:r>
            <a:r>
              <a:rPr lang="en-US" sz="2800" b="0" dirty="0">
                <a:latin typeface="Whitney Book" pitchFamily="50" charset="0"/>
                <a:cs typeface="Whitney Book" pitchFamily="50" charset="0"/>
              </a:rPr>
              <a:t>*</a:t>
            </a:r>
          </a:p>
        </p:txBody>
      </p:sp>
      <p:cxnSp>
        <p:nvCxnSpPr>
          <p:cNvPr id="33" name="Straight Connector 32">
            <a:extLst>
              <a:ext uri="{FF2B5EF4-FFF2-40B4-BE49-F238E27FC236}">
                <a16:creationId xmlns:a16="http://schemas.microsoft.com/office/drawing/2014/main" id="{F6B890C6-E91E-4F75-B0AB-3A4A83503BB9}"/>
              </a:ext>
            </a:extLst>
          </p:cNvPr>
          <p:cNvCxnSpPr>
            <a:cxnSpLocks/>
          </p:cNvCxnSpPr>
          <p:nvPr/>
        </p:nvCxnSpPr>
        <p:spPr>
          <a:xfrm>
            <a:off x="1381107" y="3376328"/>
            <a:ext cx="2914210" cy="0"/>
          </a:xfrm>
          <a:prstGeom prst="line">
            <a:avLst/>
          </a:prstGeom>
          <a:ln w="28575" cap="flat" cmpd="sng" algn="ctr">
            <a:solidFill>
              <a:schemeClr val="dk1"/>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43" name="Group 41">
            <a:extLst>
              <a:ext uri="{FF2B5EF4-FFF2-40B4-BE49-F238E27FC236}">
                <a16:creationId xmlns:a16="http://schemas.microsoft.com/office/drawing/2014/main" id="{7526C4EA-4EAA-44F4-A9C6-19F88E4E0226}"/>
              </a:ext>
            </a:extLst>
          </p:cNvPr>
          <p:cNvGrpSpPr>
            <a:grpSpLocks/>
          </p:cNvGrpSpPr>
          <p:nvPr/>
        </p:nvGrpSpPr>
        <p:grpSpPr bwMode="auto">
          <a:xfrm>
            <a:off x="1345155" y="1982048"/>
            <a:ext cx="7364191" cy="1404755"/>
            <a:chOff x="888" y="1824"/>
            <a:chExt cx="4388" cy="834"/>
          </a:xfrm>
        </p:grpSpPr>
        <p:sp>
          <p:nvSpPr>
            <p:cNvPr id="44" name="Rectangle 31">
              <a:extLst>
                <a:ext uri="{FF2B5EF4-FFF2-40B4-BE49-F238E27FC236}">
                  <a16:creationId xmlns:a16="http://schemas.microsoft.com/office/drawing/2014/main" id="{43A39BC9-4470-41F0-92D6-2AE9201C2930}"/>
                </a:ext>
              </a:extLst>
            </p:cNvPr>
            <p:cNvSpPr>
              <a:spLocks noChangeArrowheads="1"/>
            </p:cNvSpPr>
            <p:nvPr/>
          </p:nvSpPr>
          <p:spPr bwMode="auto">
            <a:xfrm>
              <a:off x="888" y="2369"/>
              <a:ext cx="1758" cy="289"/>
            </a:xfrm>
            <a:prstGeom prst="rect">
              <a:avLst/>
            </a:prstGeom>
            <a:gradFill rotWithShape="0">
              <a:gsLst>
                <a:gs pos="0">
                  <a:srgbClr val="FF557C">
                    <a:gamma/>
                    <a:tint val="0"/>
                    <a:invGamma/>
                  </a:srgbClr>
                </a:gs>
                <a:gs pos="100000">
                  <a:schemeClr val="accent4">
                    <a:lumMod val="60000"/>
                    <a:lumOff val="40000"/>
                  </a:schemeClr>
                </a:gs>
              </a:gsLst>
              <a:path path="shape">
                <a:fillToRect l="50000" t="50000" r="50000" b="50000"/>
              </a:path>
            </a:gradFill>
            <a:ln w="9525">
              <a:solidFill>
                <a:srgbClr val="FFC000"/>
              </a:solidFill>
              <a:miter lim="800000"/>
              <a:headEnd/>
              <a:tailEnd/>
            </a:ln>
            <a:effectLst/>
          </p:spPr>
          <p:txBody>
            <a:bodyPr wrap="none" anchor="ctr"/>
            <a:lstStyle/>
            <a:p>
              <a:endParaRPr lang="en-US" b="0">
                <a:latin typeface="Whitney Book" pitchFamily="50" charset="0"/>
                <a:cs typeface="Whitney Book" pitchFamily="50" charset="0"/>
              </a:endParaRPr>
            </a:p>
          </p:txBody>
        </p:sp>
        <p:sp>
          <p:nvSpPr>
            <p:cNvPr id="45" name="Rectangle 32">
              <a:extLst>
                <a:ext uri="{FF2B5EF4-FFF2-40B4-BE49-F238E27FC236}">
                  <a16:creationId xmlns:a16="http://schemas.microsoft.com/office/drawing/2014/main" id="{075F9E1F-60E2-44C1-8411-AB5D429A4901}"/>
                </a:ext>
              </a:extLst>
            </p:cNvPr>
            <p:cNvSpPr>
              <a:spLocks noChangeArrowheads="1"/>
            </p:cNvSpPr>
            <p:nvPr/>
          </p:nvSpPr>
          <p:spPr bwMode="auto">
            <a:xfrm>
              <a:off x="4102" y="1836"/>
              <a:ext cx="1138" cy="319"/>
            </a:xfrm>
            <a:prstGeom prst="rect">
              <a:avLst/>
            </a:prstGeom>
            <a:gradFill rotWithShape="0">
              <a:gsLst>
                <a:gs pos="0">
                  <a:srgbClr val="FF557C">
                    <a:gamma/>
                    <a:tint val="0"/>
                    <a:invGamma/>
                  </a:srgbClr>
                </a:gs>
                <a:gs pos="100000">
                  <a:schemeClr val="accent4">
                    <a:lumMod val="60000"/>
                    <a:lumOff val="40000"/>
                  </a:schemeClr>
                </a:gs>
              </a:gsLst>
              <a:path path="shape">
                <a:fillToRect l="50000" t="50000" r="50000" b="50000"/>
              </a:path>
            </a:gradFill>
            <a:ln w="12700">
              <a:noFill/>
              <a:miter lim="800000"/>
              <a:headEnd/>
              <a:tailEnd/>
            </a:ln>
            <a:effectLst/>
          </p:spPr>
          <p:txBody>
            <a:bodyPr wrap="none" anchor="ctr"/>
            <a:lstStyle/>
            <a:p>
              <a:endParaRPr lang="en-US" b="0">
                <a:latin typeface="Whitney Book" pitchFamily="50" charset="0"/>
                <a:cs typeface="Whitney Book" pitchFamily="50" charset="0"/>
              </a:endParaRPr>
            </a:p>
          </p:txBody>
        </p:sp>
        <p:sp>
          <p:nvSpPr>
            <p:cNvPr id="46" name="Rectangle 33">
              <a:extLst>
                <a:ext uri="{FF2B5EF4-FFF2-40B4-BE49-F238E27FC236}">
                  <a16:creationId xmlns:a16="http://schemas.microsoft.com/office/drawing/2014/main" id="{D4526969-F74A-4A56-A88F-C81D8EF28DDC}"/>
                </a:ext>
              </a:extLst>
            </p:cNvPr>
            <p:cNvSpPr>
              <a:spLocks noChangeArrowheads="1"/>
            </p:cNvSpPr>
            <p:nvPr/>
          </p:nvSpPr>
          <p:spPr bwMode="auto">
            <a:xfrm>
              <a:off x="4061" y="1824"/>
              <a:ext cx="1215" cy="356"/>
            </a:xfrm>
            <a:prstGeom prst="rect">
              <a:avLst/>
            </a:prstGeom>
            <a:noFill/>
            <a:ln w="9525">
              <a:noFill/>
              <a:miter lim="800000"/>
              <a:headEnd/>
              <a:tailEnd/>
            </a:ln>
            <a:effectLst/>
          </p:spPr>
          <p:txBody>
            <a:bodyPr wrap="none" lIns="19050" tIns="26988" rIns="19050" bIns="26988" anchor="ctr" anchorCtr="0"/>
            <a:lstStyle/>
            <a:p>
              <a:pPr algn="ctr">
                <a:lnSpc>
                  <a:spcPts val="2947"/>
                </a:lnSpc>
                <a:tabLst>
                  <a:tab pos="481157" algn="l"/>
                  <a:tab pos="962315" algn="l"/>
                  <a:tab pos="1443472" algn="l"/>
                </a:tabLst>
              </a:pPr>
              <a:r>
                <a:rPr lang="en-US" sz="2800" b="0" dirty="0">
                  <a:latin typeface="Whitney Book" pitchFamily="50" charset="0"/>
                  <a:cs typeface="Whitney Book" pitchFamily="50" charset="0"/>
                </a:rPr>
                <a:t>Profit</a:t>
              </a:r>
            </a:p>
          </p:txBody>
        </p:sp>
      </p:grpSp>
      <p:sp>
        <p:nvSpPr>
          <p:cNvPr id="48" name="Rectangle 34">
            <a:extLst>
              <a:ext uri="{FF2B5EF4-FFF2-40B4-BE49-F238E27FC236}">
                <a16:creationId xmlns:a16="http://schemas.microsoft.com/office/drawing/2014/main" id="{EB081363-0B31-4A20-8382-35AF1E9CE746}"/>
              </a:ext>
            </a:extLst>
          </p:cNvPr>
          <p:cNvSpPr>
            <a:spLocks noChangeArrowheads="1"/>
          </p:cNvSpPr>
          <p:nvPr/>
        </p:nvSpPr>
        <p:spPr bwMode="auto">
          <a:xfrm>
            <a:off x="1021490" y="5774710"/>
            <a:ext cx="7085975" cy="882638"/>
          </a:xfrm>
          <a:prstGeom prst="rect">
            <a:avLst/>
          </a:prstGeom>
          <a:noFill/>
          <a:ln w="25400">
            <a:solidFill>
              <a:srgbClr val="C00000"/>
            </a:solidFill>
            <a:miter lim="800000"/>
            <a:headEnd/>
            <a:tailEnd/>
          </a:ln>
          <a:effectLst/>
        </p:spPr>
        <p:txBody>
          <a:bodyPr wrap="none" lIns="20048" tIns="28402" rIns="20048" bIns="28402" anchor="ctr" anchorCtr="0"/>
          <a:lstStyle/>
          <a:p>
            <a:pPr algn="ctr">
              <a:lnSpc>
                <a:spcPts val="2526"/>
              </a:lnSpc>
              <a:spcAft>
                <a:spcPts val="947"/>
              </a:spcAft>
              <a:tabLst>
                <a:tab pos="481157" algn="l"/>
                <a:tab pos="962315" algn="l"/>
                <a:tab pos="1443472" algn="l"/>
              </a:tabLst>
            </a:pPr>
            <a:r>
              <a:rPr lang="en-US" b="0" dirty="0">
                <a:solidFill>
                  <a:srgbClr val="C00000"/>
                </a:solidFill>
                <a:latin typeface="Whitney-Book" pitchFamily="50" charset="0"/>
                <a:cs typeface="Whitney-Book" pitchFamily="50" charset="0"/>
              </a:rPr>
              <a:t>Optimal output is where MC = MR = P.  This occurs at Q*.  At that output </a:t>
            </a:r>
            <a:br>
              <a:rPr lang="en-US" b="0" dirty="0">
                <a:solidFill>
                  <a:srgbClr val="C00000"/>
                </a:solidFill>
                <a:latin typeface="Whitney-Book" pitchFamily="50" charset="0"/>
                <a:cs typeface="Whitney-Book" pitchFamily="50" charset="0"/>
              </a:rPr>
            </a:br>
            <a:r>
              <a:rPr lang="en-US" b="0" dirty="0">
                <a:solidFill>
                  <a:srgbClr val="C00000"/>
                </a:solidFill>
                <a:latin typeface="Whitney-Book" pitchFamily="50" charset="0"/>
                <a:cs typeface="Whitney-Book" pitchFamily="50" charset="0"/>
              </a:rPr>
              <a:t>positive economic profits are being made because P &gt; ATC.</a:t>
            </a:r>
          </a:p>
        </p:txBody>
      </p:sp>
    </p:spTree>
    <p:extLst>
      <p:ext uri="{BB962C8B-B14F-4D97-AF65-F5344CB8AC3E}">
        <p14:creationId xmlns:p14="http://schemas.microsoft.com/office/powerpoint/2010/main" val="1041745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p:bldP spid="12" grpId="0" animBg="1"/>
      <p:bldP spid="17" grpId="0" animBg="1"/>
      <p:bldP spid="23" grpId="0"/>
      <p:bldP spid="24" grpId="0"/>
      <p:bldP spid="25" grpId="0"/>
      <p:bldP spid="29" grpId="0"/>
      <p:bldP spid="32" grpId="0"/>
      <p:bldP spid="4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reeform 55">
            <a:extLst>
              <a:ext uri="{FF2B5EF4-FFF2-40B4-BE49-F238E27FC236}">
                <a16:creationId xmlns:a16="http://schemas.microsoft.com/office/drawing/2014/main" id="{1ED7FDDD-E7B2-4219-8EC2-9A3B9EA1EECF}"/>
              </a:ext>
            </a:extLst>
          </p:cNvPr>
          <p:cNvSpPr/>
          <p:nvPr/>
        </p:nvSpPr>
        <p:spPr>
          <a:xfrm>
            <a:off x="1658248" y="1978000"/>
            <a:ext cx="2906230" cy="2818480"/>
          </a:xfrm>
          <a:custGeom>
            <a:avLst/>
            <a:gdLst>
              <a:gd name="connsiteX0" fmla="*/ 0 w 970242"/>
              <a:gd name="connsiteY0" fmla="*/ 1026082 h 1621251"/>
              <a:gd name="connsiteX1" fmla="*/ 349008 w 970242"/>
              <a:gd name="connsiteY1" fmla="*/ 1577514 h 1621251"/>
              <a:gd name="connsiteX2" fmla="*/ 970242 w 970242"/>
              <a:gd name="connsiteY2" fmla="*/ 0 h 1621251"/>
              <a:gd name="connsiteX0" fmla="*/ 0 w 1191341"/>
              <a:gd name="connsiteY0" fmla="*/ 1313721 h 1665430"/>
              <a:gd name="connsiteX1" fmla="*/ 570107 w 1191341"/>
              <a:gd name="connsiteY1" fmla="*/ 1577514 h 1665430"/>
              <a:gd name="connsiteX2" fmla="*/ 1191341 w 1191341"/>
              <a:gd name="connsiteY2" fmla="*/ 0 h 1665430"/>
              <a:gd name="connsiteX0" fmla="*/ 0 w 1210850"/>
              <a:gd name="connsiteY0" fmla="*/ 1428777 h 1780486"/>
              <a:gd name="connsiteX1" fmla="*/ 570107 w 1210850"/>
              <a:gd name="connsiteY1" fmla="*/ 1692570 h 1780486"/>
              <a:gd name="connsiteX2" fmla="*/ 1210850 w 1210850"/>
              <a:gd name="connsiteY2" fmla="*/ 0 h 1780486"/>
              <a:gd name="connsiteX0" fmla="*/ 0 w 1334405"/>
              <a:gd name="connsiteY0" fmla="*/ 1400013 h 1773258"/>
              <a:gd name="connsiteX1" fmla="*/ 693662 w 1334405"/>
              <a:gd name="connsiteY1" fmla="*/ 1692570 h 1773258"/>
              <a:gd name="connsiteX2" fmla="*/ 1334405 w 1334405"/>
              <a:gd name="connsiteY2" fmla="*/ 0 h 1773258"/>
              <a:gd name="connsiteX0" fmla="*/ 0 w 1178335"/>
              <a:gd name="connsiteY0" fmla="*/ 1400013 h 1773258"/>
              <a:gd name="connsiteX1" fmla="*/ 693662 w 1178335"/>
              <a:gd name="connsiteY1" fmla="*/ 1692570 h 1773258"/>
              <a:gd name="connsiteX2" fmla="*/ 1178335 w 1178335"/>
              <a:gd name="connsiteY2" fmla="*/ 0 h 1773258"/>
              <a:gd name="connsiteX0" fmla="*/ 0 w 1178335"/>
              <a:gd name="connsiteY0" fmla="*/ 1400013 h 1773258"/>
              <a:gd name="connsiteX1" fmla="*/ 693662 w 1178335"/>
              <a:gd name="connsiteY1" fmla="*/ 1692570 h 1773258"/>
              <a:gd name="connsiteX2" fmla="*/ 1178335 w 1178335"/>
              <a:gd name="connsiteY2" fmla="*/ 0 h 1773258"/>
              <a:gd name="connsiteX0" fmla="*/ 0 w 1178335"/>
              <a:gd name="connsiteY0" fmla="*/ 1400013 h 1773258"/>
              <a:gd name="connsiteX1" fmla="*/ 693662 w 1178335"/>
              <a:gd name="connsiteY1" fmla="*/ 1692570 h 1773258"/>
              <a:gd name="connsiteX2" fmla="*/ 1178335 w 1178335"/>
              <a:gd name="connsiteY2" fmla="*/ 0 h 1773258"/>
              <a:gd name="connsiteX0" fmla="*/ 0 w 1302093"/>
              <a:gd name="connsiteY0" fmla="*/ 1645406 h 1870155"/>
              <a:gd name="connsiteX1" fmla="*/ 817420 w 1302093"/>
              <a:gd name="connsiteY1" fmla="*/ 1692570 h 1870155"/>
              <a:gd name="connsiteX2" fmla="*/ 1302093 w 1302093"/>
              <a:gd name="connsiteY2" fmla="*/ 0 h 1870155"/>
              <a:gd name="connsiteX0" fmla="*/ 0 w 1302093"/>
              <a:gd name="connsiteY0" fmla="*/ 1645406 h 1867442"/>
              <a:gd name="connsiteX1" fmla="*/ 804617 w 1302093"/>
              <a:gd name="connsiteY1" fmla="*/ 1686278 h 1867442"/>
              <a:gd name="connsiteX2" fmla="*/ 1302093 w 1302093"/>
              <a:gd name="connsiteY2" fmla="*/ 0 h 1867442"/>
              <a:gd name="connsiteX0" fmla="*/ 0 w 1302093"/>
              <a:gd name="connsiteY0" fmla="*/ 1645406 h 1859603"/>
              <a:gd name="connsiteX1" fmla="*/ 787547 w 1302093"/>
              <a:gd name="connsiteY1" fmla="*/ 1667402 h 1859603"/>
              <a:gd name="connsiteX2" fmla="*/ 1302093 w 1302093"/>
              <a:gd name="connsiteY2" fmla="*/ 0 h 1859603"/>
              <a:gd name="connsiteX0" fmla="*/ 0 w 1302093"/>
              <a:gd name="connsiteY0" fmla="*/ 1645406 h 1855846"/>
              <a:gd name="connsiteX1" fmla="*/ 785414 w 1302093"/>
              <a:gd name="connsiteY1" fmla="*/ 1657963 h 1855846"/>
              <a:gd name="connsiteX2" fmla="*/ 1302093 w 1302093"/>
              <a:gd name="connsiteY2" fmla="*/ 0 h 1855846"/>
              <a:gd name="connsiteX0" fmla="*/ 0 w 1302093"/>
              <a:gd name="connsiteY0" fmla="*/ 1645406 h 1855846"/>
              <a:gd name="connsiteX1" fmla="*/ 785414 w 1302093"/>
              <a:gd name="connsiteY1" fmla="*/ 1657963 h 1855846"/>
              <a:gd name="connsiteX2" fmla="*/ 1302093 w 1302093"/>
              <a:gd name="connsiteY2" fmla="*/ 0 h 1855846"/>
              <a:gd name="connsiteX0" fmla="*/ 0 w 1302093"/>
              <a:gd name="connsiteY0" fmla="*/ 1645406 h 1861857"/>
              <a:gd name="connsiteX1" fmla="*/ 785414 w 1302093"/>
              <a:gd name="connsiteY1" fmla="*/ 1657963 h 1861857"/>
              <a:gd name="connsiteX2" fmla="*/ 1302093 w 1302093"/>
              <a:gd name="connsiteY2" fmla="*/ 0 h 1861857"/>
            </a:gdLst>
            <a:ahLst/>
            <a:cxnLst>
              <a:cxn ang="0">
                <a:pos x="connsiteX0" y="connsiteY0"/>
              </a:cxn>
              <a:cxn ang="0">
                <a:pos x="connsiteX1" y="connsiteY1"/>
              </a:cxn>
              <a:cxn ang="0">
                <a:pos x="connsiteX2" y="connsiteY2"/>
              </a:cxn>
            </a:cxnLst>
            <a:rect l="l" t="t" r="r" b="b"/>
            <a:pathLst>
              <a:path w="1302093" h="1861857">
                <a:moveTo>
                  <a:pt x="0" y="1645406"/>
                </a:moveTo>
                <a:cubicBezTo>
                  <a:pt x="93650" y="2006629"/>
                  <a:pt x="651446" y="1847854"/>
                  <a:pt x="785414" y="1657963"/>
                </a:cubicBezTo>
                <a:cubicBezTo>
                  <a:pt x="947121" y="1486949"/>
                  <a:pt x="1195885" y="712838"/>
                  <a:pt x="1302093" y="0"/>
                </a:cubicBezTo>
              </a:path>
            </a:pathLst>
          </a:custGeom>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dirty="0">
              <a:latin typeface="Whitney Book" pitchFamily="50" charset="0"/>
              <a:cs typeface="Whitney Book" pitchFamily="50" charset="0"/>
            </a:endParaRPr>
          </a:p>
        </p:txBody>
      </p:sp>
      <p:sp>
        <p:nvSpPr>
          <p:cNvPr id="2" name="Title 1">
            <a:extLst>
              <a:ext uri="{FF2B5EF4-FFF2-40B4-BE49-F238E27FC236}">
                <a16:creationId xmlns:a16="http://schemas.microsoft.com/office/drawing/2014/main" id="{CA25E279-002E-4BFA-ACC4-9A46E01D3061}"/>
              </a:ext>
            </a:extLst>
          </p:cNvPr>
          <p:cNvSpPr>
            <a:spLocks noGrp="1"/>
          </p:cNvSpPr>
          <p:nvPr>
            <p:ph type="title"/>
          </p:nvPr>
        </p:nvSpPr>
        <p:spPr/>
        <p:txBody>
          <a:bodyPr>
            <a:normAutofit fontScale="90000"/>
          </a:bodyPr>
          <a:lstStyle/>
          <a:p>
            <a:r>
              <a:rPr lang="en-US" sz="2800" dirty="0"/>
              <a:t>low price: Operating at a loss in the short run</a:t>
            </a:r>
            <a:endParaRPr lang="en-US" sz="2800" dirty="0">
              <a:latin typeface="Whitney-Medium" pitchFamily="50" charset="0"/>
              <a:cs typeface="Whitney-Medium" pitchFamily="50" charset="0"/>
            </a:endParaRPr>
          </a:p>
        </p:txBody>
      </p:sp>
      <p:grpSp>
        <p:nvGrpSpPr>
          <p:cNvPr id="4" name="Group 35">
            <a:extLst>
              <a:ext uri="{FF2B5EF4-FFF2-40B4-BE49-F238E27FC236}">
                <a16:creationId xmlns:a16="http://schemas.microsoft.com/office/drawing/2014/main" id="{EF0D24F5-5A9F-4D51-9669-5E9AFC359B1C}"/>
              </a:ext>
            </a:extLst>
          </p:cNvPr>
          <p:cNvGrpSpPr>
            <a:grpSpLocks/>
          </p:cNvGrpSpPr>
          <p:nvPr/>
        </p:nvGrpSpPr>
        <p:grpSpPr bwMode="auto">
          <a:xfrm>
            <a:off x="573547" y="1472126"/>
            <a:ext cx="7500592" cy="4132353"/>
            <a:chOff x="267" y="1140"/>
            <a:chExt cx="4491" cy="2472"/>
          </a:xfrm>
        </p:grpSpPr>
        <p:sp>
          <p:nvSpPr>
            <p:cNvPr id="5" name="Rectangle 4">
              <a:extLst>
                <a:ext uri="{FF2B5EF4-FFF2-40B4-BE49-F238E27FC236}">
                  <a16:creationId xmlns:a16="http://schemas.microsoft.com/office/drawing/2014/main" id="{2112D0F3-8D7E-41A9-A0C3-802B3CF06311}"/>
                </a:ext>
              </a:extLst>
            </p:cNvPr>
            <p:cNvSpPr>
              <a:spLocks noChangeArrowheads="1"/>
            </p:cNvSpPr>
            <p:nvPr/>
          </p:nvSpPr>
          <p:spPr bwMode="auto">
            <a:xfrm>
              <a:off x="267" y="1140"/>
              <a:ext cx="496" cy="37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dirty="0">
                  <a:latin typeface="Whitney Book" pitchFamily="50" charset="0"/>
                  <a:cs typeface="Whitney Book" pitchFamily="50" charset="0"/>
                </a:rPr>
                <a:t>$/</a:t>
              </a:r>
              <a:r>
                <a:rPr lang="en-US" sz="2800" b="0" i="1" dirty="0">
                  <a:latin typeface="Whitney Book" pitchFamily="50" charset="0"/>
                  <a:cs typeface="Whitney Book" pitchFamily="50" charset="0"/>
                </a:rPr>
                <a:t>Q</a:t>
              </a:r>
            </a:p>
          </p:txBody>
        </p:sp>
        <p:sp>
          <p:nvSpPr>
            <p:cNvPr id="6" name="Line 6">
              <a:extLst>
                <a:ext uri="{FF2B5EF4-FFF2-40B4-BE49-F238E27FC236}">
                  <a16:creationId xmlns:a16="http://schemas.microsoft.com/office/drawing/2014/main" id="{9B60ACA6-CAF2-46D4-ACB5-D9D23CE23CCB}"/>
                </a:ext>
              </a:extLst>
            </p:cNvPr>
            <p:cNvSpPr>
              <a:spLocks noChangeShapeType="1"/>
            </p:cNvSpPr>
            <p:nvPr/>
          </p:nvSpPr>
          <p:spPr bwMode="auto">
            <a:xfrm>
              <a:off x="729" y="1168"/>
              <a:ext cx="0" cy="2160"/>
            </a:xfrm>
            <a:prstGeom prst="line">
              <a:avLst/>
            </a:prstGeom>
            <a:noFill/>
            <a:ln w="50800">
              <a:solidFill>
                <a:schemeClr val="tx1"/>
              </a:solidFill>
              <a:round/>
              <a:headEnd type="arrow" w="sm" len="sm"/>
              <a:tailEnd type="none" w="sm" len="sm"/>
            </a:ln>
            <a:effectLst/>
          </p:spPr>
          <p:txBody>
            <a:bodyPr wrap="none" anchor="ctr"/>
            <a:lstStyle/>
            <a:p>
              <a:endParaRPr lang="en-US" b="0">
                <a:latin typeface="Whitney Book" pitchFamily="50" charset="0"/>
                <a:cs typeface="Whitney Book" pitchFamily="50" charset="0"/>
              </a:endParaRPr>
            </a:p>
          </p:txBody>
        </p:sp>
        <p:sp>
          <p:nvSpPr>
            <p:cNvPr id="7" name="Line 7">
              <a:extLst>
                <a:ext uri="{FF2B5EF4-FFF2-40B4-BE49-F238E27FC236}">
                  <a16:creationId xmlns:a16="http://schemas.microsoft.com/office/drawing/2014/main" id="{5CA90566-A192-42F6-9891-CB9F82DBCF3A}"/>
                </a:ext>
              </a:extLst>
            </p:cNvPr>
            <p:cNvSpPr>
              <a:spLocks noChangeShapeType="1"/>
            </p:cNvSpPr>
            <p:nvPr/>
          </p:nvSpPr>
          <p:spPr bwMode="auto">
            <a:xfrm>
              <a:off x="723" y="3340"/>
              <a:ext cx="3588" cy="0"/>
            </a:xfrm>
            <a:prstGeom prst="line">
              <a:avLst/>
            </a:prstGeom>
            <a:noFill/>
            <a:ln w="50800">
              <a:solidFill>
                <a:schemeClr val="tx1"/>
              </a:solidFill>
              <a:round/>
              <a:headEnd type="none" w="sm" len="sm"/>
              <a:tailEnd type="arrow" w="sm" len="sm"/>
            </a:ln>
            <a:effectLst/>
          </p:spPr>
          <p:txBody>
            <a:bodyPr wrap="none" anchor="ctr"/>
            <a:lstStyle/>
            <a:p>
              <a:endParaRPr lang="en-US" b="0">
                <a:latin typeface="Whitney Book" pitchFamily="50" charset="0"/>
                <a:cs typeface="Whitney Book" pitchFamily="50" charset="0"/>
              </a:endParaRPr>
            </a:p>
          </p:txBody>
        </p:sp>
        <p:sp>
          <p:nvSpPr>
            <p:cNvPr id="8" name="Rectangle 7">
              <a:extLst>
                <a:ext uri="{FF2B5EF4-FFF2-40B4-BE49-F238E27FC236}">
                  <a16:creationId xmlns:a16="http://schemas.microsoft.com/office/drawing/2014/main" id="{9EC1E57E-C019-4301-979D-0AAD61488C34}"/>
                </a:ext>
              </a:extLst>
            </p:cNvPr>
            <p:cNvSpPr>
              <a:spLocks noChangeArrowheads="1"/>
            </p:cNvSpPr>
            <p:nvPr/>
          </p:nvSpPr>
          <p:spPr bwMode="auto">
            <a:xfrm>
              <a:off x="4334" y="3236"/>
              <a:ext cx="424" cy="37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latin typeface="Whitney Book" pitchFamily="50" charset="0"/>
                  <a:cs typeface="Whitney Book" pitchFamily="50" charset="0"/>
                </a:rPr>
                <a:t>Q</a:t>
              </a:r>
            </a:p>
          </p:txBody>
        </p:sp>
      </p:grpSp>
      <p:sp>
        <p:nvSpPr>
          <p:cNvPr id="12" name="Arc 11">
            <a:extLst>
              <a:ext uri="{FF2B5EF4-FFF2-40B4-BE49-F238E27FC236}">
                <a16:creationId xmlns:a16="http://schemas.microsoft.com/office/drawing/2014/main" id="{6965E26D-7F82-4D06-BEE4-A67E9BE77057}"/>
              </a:ext>
            </a:extLst>
          </p:cNvPr>
          <p:cNvSpPr/>
          <p:nvPr/>
        </p:nvSpPr>
        <p:spPr>
          <a:xfrm rot="9232845">
            <a:off x="2751910" y="1345646"/>
            <a:ext cx="3225403" cy="2006775"/>
          </a:xfrm>
          <a:custGeom>
            <a:avLst/>
            <a:gdLst>
              <a:gd name="connsiteX0" fmla="*/ 296236 w 3521182"/>
              <a:gd name="connsiteY0" fmla="*/ 614484 h 2762750"/>
              <a:gd name="connsiteX1" fmla="*/ 2249450 w 3521182"/>
              <a:gd name="connsiteY1" fmla="*/ 54319 h 2762750"/>
              <a:gd name="connsiteX2" fmla="*/ 3451667 w 3521182"/>
              <a:gd name="connsiteY2" fmla="*/ 1765707 h 2762750"/>
              <a:gd name="connsiteX3" fmla="*/ 1760591 w 3521182"/>
              <a:gd name="connsiteY3" fmla="*/ 1381375 h 2762750"/>
              <a:gd name="connsiteX4" fmla="*/ 296236 w 3521182"/>
              <a:gd name="connsiteY4" fmla="*/ 614484 h 2762750"/>
              <a:gd name="connsiteX0" fmla="*/ 296236 w 3521182"/>
              <a:gd name="connsiteY0" fmla="*/ 614484 h 2762750"/>
              <a:gd name="connsiteX1" fmla="*/ 2249450 w 3521182"/>
              <a:gd name="connsiteY1" fmla="*/ 54319 h 2762750"/>
              <a:gd name="connsiteX2" fmla="*/ 3451667 w 3521182"/>
              <a:gd name="connsiteY2" fmla="*/ 1765707 h 2762750"/>
              <a:gd name="connsiteX0" fmla="*/ 0 w 3225403"/>
              <a:gd name="connsiteY0" fmla="*/ 614585 h 1765808"/>
              <a:gd name="connsiteX1" fmla="*/ 1953214 w 3225403"/>
              <a:gd name="connsiteY1" fmla="*/ 54420 h 1765808"/>
              <a:gd name="connsiteX2" fmla="*/ 3155431 w 3225403"/>
              <a:gd name="connsiteY2" fmla="*/ 1765808 h 1765808"/>
              <a:gd name="connsiteX3" fmla="*/ 1464355 w 3225403"/>
              <a:gd name="connsiteY3" fmla="*/ 1381476 h 1765808"/>
              <a:gd name="connsiteX4" fmla="*/ 0 w 3225403"/>
              <a:gd name="connsiteY4" fmla="*/ 614585 h 1765808"/>
              <a:gd name="connsiteX0" fmla="*/ 111404 w 3225403"/>
              <a:gd name="connsiteY0" fmla="*/ 750034 h 1765808"/>
              <a:gd name="connsiteX1" fmla="*/ 1953214 w 3225403"/>
              <a:gd name="connsiteY1" fmla="*/ 54420 h 1765808"/>
              <a:gd name="connsiteX2" fmla="*/ 3155431 w 3225403"/>
              <a:gd name="connsiteY2" fmla="*/ 1765808 h 1765808"/>
              <a:gd name="connsiteX0" fmla="*/ 0 w 3225403"/>
              <a:gd name="connsiteY0" fmla="*/ 614585 h 2006775"/>
              <a:gd name="connsiteX1" fmla="*/ 1953214 w 3225403"/>
              <a:gd name="connsiteY1" fmla="*/ 54420 h 2006775"/>
              <a:gd name="connsiteX2" fmla="*/ 3155431 w 3225403"/>
              <a:gd name="connsiteY2" fmla="*/ 1765808 h 2006775"/>
              <a:gd name="connsiteX3" fmla="*/ 1464355 w 3225403"/>
              <a:gd name="connsiteY3" fmla="*/ 1381476 h 2006775"/>
              <a:gd name="connsiteX4" fmla="*/ 0 w 3225403"/>
              <a:gd name="connsiteY4" fmla="*/ 614585 h 2006775"/>
              <a:gd name="connsiteX0" fmla="*/ 111404 w 3225403"/>
              <a:gd name="connsiteY0" fmla="*/ 750034 h 2006775"/>
              <a:gd name="connsiteX1" fmla="*/ 1953214 w 3225403"/>
              <a:gd name="connsiteY1" fmla="*/ 54420 h 2006775"/>
              <a:gd name="connsiteX2" fmla="*/ 3053446 w 3225403"/>
              <a:gd name="connsiteY2" fmla="*/ 2006775 h 2006775"/>
            </a:gdLst>
            <a:ahLst/>
            <a:cxnLst>
              <a:cxn ang="0">
                <a:pos x="connsiteX0" y="connsiteY0"/>
              </a:cxn>
              <a:cxn ang="0">
                <a:pos x="connsiteX1" y="connsiteY1"/>
              </a:cxn>
              <a:cxn ang="0">
                <a:pos x="connsiteX2" y="connsiteY2"/>
              </a:cxn>
            </a:cxnLst>
            <a:rect l="l" t="t" r="r" b="b"/>
            <a:pathLst>
              <a:path w="3225403" h="2006775" stroke="0" extrusionOk="0">
                <a:moveTo>
                  <a:pt x="0" y="614585"/>
                </a:moveTo>
                <a:cubicBezTo>
                  <a:pt x="425953" y="113881"/>
                  <a:pt x="1216130" y="-112734"/>
                  <a:pt x="1953214" y="54420"/>
                </a:cubicBezTo>
                <a:cubicBezTo>
                  <a:pt x="2887709" y="266343"/>
                  <a:pt x="3426073" y="1032718"/>
                  <a:pt x="3155431" y="1765808"/>
                </a:cubicBezTo>
                <a:lnTo>
                  <a:pt x="1464355" y="1381476"/>
                </a:lnTo>
                <a:lnTo>
                  <a:pt x="0" y="614585"/>
                </a:lnTo>
                <a:close/>
              </a:path>
              <a:path w="3225403" h="2006775" fill="none">
                <a:moveTo>
                  <a:pt x="111404" y="750034"/>
                </a:moveTo>
                <a:cubicBezTo>
                  <a:pt x="537357" y="249330"/>
                  <a:pt x="1216130" y="-112734"/>
                  <a:pt x="1953214" y="54420"/>
                </a:cubicBezTo>
                <a:cubicBezTo>
                  <a:pt x="2887709" y="266343"/>
                  <a:pt x="3324088" y="1273685"/>
                  <a:pt x="3053446" y="2006775"/>
                </a:cubicBez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latin typeface="Whitney Book" pitchFamily="50" charset="0"/>
              <a:cs typeface="Whitney Book" pitchFamily="50" charset="0"/>
            </a:endParaRPr>
          </a:p>
        </p:txBody>
      </p:sp>
      <p:sp>
        <p:nvSpPr>
          <p:cNvPr id="17" name="Arc 11">
            <a:extLst>
              <a:ext uri="{FF2B5EF4-FFF2-40B4-BE49-F238E27FC236}">
                <a16:creationId xmlns:a16="http://schemas.microsoft.com/office/drawing/2014/main" id="{ABBBDCED-37E9-4F35-9E0F-52F7AD61B2D2}"/>
              </a:ext>
            </a:extLst>
          </p:cNvPr>
          <p:cNvSpPr/>
          <p:nvPr/>
        </p:nvSpPr>
        <p:spPr>
          <a:xfrm rot="8747880">
            <a:off x="2025762" y="1145641"/>
            <a:ext cx="4831255" cy="2740615"/>
          </a:xfrm>
          <a:custGeom>
            <a:avLst/>
            <a:gdLst>
              <a:gd name="connsiteX0" fmla="*/ 296236 w 3521182"/>
              <a:gd name="connsiteY0" fmla="*/ 614484 h 2762750"/>
              <a:gd name="connsiteX1" fmla="*/ 2249450 w 3521182"/>
              <a:gd name="connsiteY1" fmla="*/ 54319 h 2762750"/>
              <a:gd name="connsiteX2" fmla="*/ 3451667 w 3521182"/>
              <a:gd name="connsiteY2" fmla="*/ 1765707 h 2762750"/>
              <a:gd name="connsiteX3" fmla="*/ 1760591 w 3521182"/>
              <a:gd name="connsiteY3" fmla="*/ 1381375 h 2762750"/>
              <a:gd name="connsiteX4" fmla="*/ 296236 w 3521182"/>
              <a:gd name="connsiteY4" fmla="*/ 614484 h 2762750"/>
              <a:gd name="connsiteX0" fmla="*/ 296236 w 3521182"/>
              <a:gd name="connsiteY0" fmla="*/ 614484 h 2762750"/>
              <a:gd name="connsiteX1" fmla="*/ 2249450 w 3521182"/>
              <a:gd name="connsiteY1" fmla="*/ 54319 h 2762750"/>
              <a:gd name="connsiteX2" fmla="*/ 3451667 w 3521182"/>
              <a:gd name="connsiteY2" fmla="*/ 1765707 h 2762750"/>
              <a:gd name="connsiteX0" fmla="*/ 0 w 3225403"/>
              <a:gd name="connsiteY0" fmla="*/ 614585 h 1765808"/>
              <a:gd name="connsiteX1" fmla="*/ 1953214 w 3225403"/>
              <a:gd name="connsiteY1" fmla="*/ 54420 h 1765808"/>
              <a:gd name="connsiteX2" fmla="*/ 3155431 w 3225403"/>
              <a:gd name="connsiteY2" fmla="*/ 1765808 h 1765808"/>
              <a:gd name="connsiteX3" fmla="*/ 1464355 w 3225403"/>
              <a:gd name="connsiteY3" fmla="*/ 1381476 h 1765808"/>
              <a:gd name="connsiteX4" fmla="*/ 0 w 3225403"/>
              <a:gd name="connsiteY4" fmla="*/ 614585 h 1765808"/>
              <a:gd name="connsiteX0" fmla="*/ 111404 w 3225403"/>
              <a:gd name="connsiteY0" fmla="*/ 750034 h 1765808"/>
              <a:gd name="connsiteX1" fmla="*/ 1953214 w 3225403"/>
              <a:gd name="connsiteY1" fmla="*/ 54420 h 1765808"/>
              <a:gd name="connsiteX2" fmla="*/ 3155431 w 3225403"/>
              <a:gd name="connsiteY2" fmla="*/ 1765808 h 1765808"/>
              <a:gd name="connsiteX0" fmla="*/ 0 w 3225403"/>
              <a:gd name="connsiteY0" fmla="*/ 614585 h 2006775"/>
              <a:gd name="connsiteX1" fmla="*/ 1953214 w 3225403"/>
              <a:gd name="connsiteY1" fmla="*/ 54420 h 2006775"/>
              <a:gd name="connsiteX2" fmla="*/ 3155431 w 3225403"/>
              <a:gd name="connsiteY2" fmla="*/ 1765808 h 2006775"/>
              <a:gd name="connsiteX3" fmla="*/ 1464355 w 3225403"/>
              <a:gd name="connsiteY3" fmla="*/ 1381476 h 2006775"/>
              <a:gd name="connsiteX4" fmla="*/ 0 w 3225403"/>
              <a:gd name="connsiteY4" fmla="*/ 614585 h 2006775"/>
              <a:gd name="connsiteX0" fmla="*/ 111404 w 3225403"/>
              <a:gd name="connsiteY0" fmla="*/ 750034 h 2006775"/>
              <a:gd name="connsiteX1" fmla="*/ 1953214 w 3225403"/>
              <a:gd name="connsiteY1" fmla="*/ 54420 h 2006775"/>
              <a:gd name="connsiteX2" fmla="*/ 3053446 w 3225403"/>
              <a:gd name="connsiteY2" fmla="*/ 2006775 h 2006775"/>
            </a:gdLst>
            <a:ahLst/>
            <a:cxnLst>
              <a:cxn ang="0">
                <a:pos x="connsiteX0" y="connsiteY0"/>
              </a:cxn>
              <a:cxn ang="0">
                <a:pos x="connsiteX1" y="connsiteY1"/>
              </a:cxn>
              <a:cxn ang="0">
                <a:pos x="connsiteX2" y="connsiteY2"/>
              </a:cxn>
            </a:cxnLst>
            <a:rect l="l" t="t" r="r" b="b"/>
            <a:pathLst>
              <a:path w="3225403" h="2006775" stroke="0" extrusionOk="0">
                <a:moveTo>
                  <a:pt x="0" y="614585"/>
                </a:moveTo>
                <a:cubicBezTo>
                  <a:pt x="425953" y="113881"/>
                  <a:pt x="1216130" y="-112734"/>
                  <a:pt x="1953214" y="54420"/>
                </a:cubicBezTo>
                <a:cubicBezTo>
                  <a:pt x="2887709" y="266343"/>
                  <a:pt x="3426073" y="1032718"/>
                  <a:pt x="3155431" y="1765808"/>
                </a:cubicBezTo>
                <a:lnTo>
                  <a:pt x="1464355" y="1381476"/>
                </a:lnTo>
                <a:lnTo>
                  <a:pt x="0" y="614585"/>
                </a:lnTo>
                <a:close/>
              </a:path>
              <a:path w="3225403" h="2006775" fill="none">
                <a:moveTo>
                  <a:pt x="111404" y="750034"/>
                </a:moveTo>
                <a:cubicBezTo>
                  <a:pt x="537357" y="249330"/>
                  <a:pt x="1216130" y="-112734"/>
                  <a:pt x="1953214" y="54420"/>
                </a:cubicBezTo>
                <a:cubicBezTo>
                  <a:pt x="2887709" y="266343"/>
                  <a:pt x="3324088" y="1273685"/>
                  <a:pt x="3053446" y="2006775"/>
                </a:cubicBezTo>
              </a:path>
            </a:pathLst>
          </a:custGeom>
          <a:ln>
            <a:solidFill>
              <a:srgbClr val="00B05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latin typeface="Whitney Book" pitchFamily="50" charset="0"/>
              <a:cs typeface="Whitney Book" pitchFamily="50" charset="0"/>
            </a:endParaRPr>
          </a:p>
        </p:txBody>
      </p:sp>
      <p:sp>
        <p:nvSpPr>
          <p:cNvPr id="22" name="Rectangle 17">
            <a:extLst>
              <a:ext uri="{FF2B5EF4-FFF2-40B4-BE49-F238E27FC236}">
                <a16:creationId xmlns:a16="http://schemas.microsoft.com/office/drawing/2014/main" id="{7150C579-F281-41A7-9E70-3E595EC8192D}"/>
              </a:ext>
            </a:extLst>
          </p:cNvPr>
          <p:cNvSpPr>
            <a:spLocks noChangeArrowheads="1"/>
          </p:cNvSpPr>
          <p:nvPr/>
        </p:nvSpPr>
        <p:spPr bwMode="auto">
          <a:xfrm>
            <a:off x="4331406" y="1343764"/>
            <a:ext cx="1122332"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solidFill>
                  <a:schemeClr val="accent6">
                    <a:lumMod val="75000"/>
                  </a:schemeClr>
                </a:solidFill>
                <a:latin typeface="Whitney Book" pitchFamily="50" charset="0"/>
                <a:cs typeface="Whitney Book" pitchFamily="50" charset="0"/>
              </a:rPr>
              <a:t>MC</a:t>
            </a:r>
          </a:p>
        </p:txBody>
      </p:sp>
      <p:sp>
        <p:nvSpPr>
          <p:cNvPr id="23" name="Rectangle 17">
            <a:extLst>
              <a:ext uri="{FF2B5EF4-FFF2-40B4-BE49-F238E27FC236}">
                <a16:creationId xmlns:a16="http://schemas.microsoft.com/office/drawing/2014/main" id="{F70C19FB-A6EC-4A87-A0B0-7097BCD58C7B}"/>
              </a:ext>
            </a:extLst>
          </p:cNvPr>
          <p:cNvSpPr>
            <a:spLocks noChangeArrowheads="1"/>
          </p:cNvSpPr>
          <p:nvPr/>
        </p:nvSpPr>
        <p:spPr bwMode="auto">
          <a:xfrm>
            <a:off x="5532037" y="1349454"/>
            <a:ext cx="1122332"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i="1" dirty="0">
                <a:solidFill>
                  <a:srgbClr val="C00000"/>
                </a:solidFill>
                <a:latin typeface="Whitney Book" pitchFamily="50" charset="0"/>
                <a:cs typeface="Whitney Book" pitchFamily="50" charset="0"/>
              </a:rPr>
              <a:t>ATC</a:t>
            </a:r>
            <a:endParaRPr lang="en-US" sz="2800" b="0" i="1" dirty="0">
              <a:solidFill>
                <a:srgbClr val="C00000"/>
              </a:solidFill>
              <a:latin typeface="Whitney Book" pitchFamily="50" charset="0"/>
              <a:cs typeface="Whitney Book" pitchFamily="50" charset="0"/>
            </a:endParaRPr>
          </a:p>
        </p:txBody>
      </p:sp>
      <p:sp>
        <p:nvSpPr>
          <p:cNvPr id="24" name="Rectangle 17">
            <a:extLst>
              <a:ext uri="{FF2B5EF4-FFF2-40B4-BE49-F238E27FC236}">
                <a16:creationId xmlns:a16="http://schemas.microsoft.com/office/drawing/2014/main" id="{0DDA4EE9-9016-41D2-AE51-8B3A375676D4}"/>
              </a:ext>
            </a:extLst>
          </p:cNvPr>
          <p:cNvSpPr>
            <a:spLocks noChangeArrowheads="1"/>
          </p:cNvSpPr>
          <p:nvPr/>
        </p:nvSpPr>
        <p:spPr bwMode="auto">
          <a:xfrm>
            <a:off x="6494806" y="1110600"/>
            <a:ext cx="1122332"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i="1" dirty="0">
                <a:solidFill>
                  <a:srgbClr val="00B050"/>
                </a:solidFill>
                <a:latin typeface="Whitney Book" pitchFamily="50" charset="0"/>
                <a:cs typeface="Whitney Book" pitchFamily="50" charset="0"/>
              </a:rPr>
              <a:t>AVC</a:t>
            </a:r>
            <a:endParaRPr lang="en-US" sz="2800" b="0" i="1" dirty="0">
              <a:solidFill>
                <a:srgbClr val="00B050"/>
              </a:solidFill>
              <a:latin typeface="Whitney Book" pitchFamily="50" charset="0"/>
              <a:cs typeface="Whitney Book" pitchFamily="50" charset="0"/>
            </a:endParaRPr>
          </a:p>
        </p:txBody>
      </p:sp>
      <p:sp>
        <p:nvSpPr>
          <p:cNvPr id="25" name="Rectangle 24">
            <a:extLst>
              <a:ext uri="{FF2B5EF4-FFF2-40B4-BE49-F238E27FC236}">
                <a16:creationId xmlns:a16="http://schemas.microsoft.com/office/drawing/2014/main" id="{B39233DB-3CB5-4E38-BFB3-8C59E48B5FE4}"/>
              </a:ext>
            </a:extLst>
          </p:cNvPr>
          <p:cNvSpPr>
            <a:spLocks noChangeArrowheads="1"/>
          </p:cNvSpPr>
          <p:nvPr/>
        </p:nvSpPr>
        <p:spPr bwMode="auto">
          <a:xfrm>
            <a:off x="552719" y="3501908"/>
            <a:ext cx="828388"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i="1" dirty="0">
                <a:latin typeface="Whitney Book" pitchFamily="50" charset="0"/>
                <a:cs typeface="Whitney Book" pitchFamily="50" charset="0"/>
              </a:rPr>
              <a:t>P</a:t>
            </a:r>
            <a:r>
              <a:rPr lang="en-US" sz="2000" i="1" dirty="0">
                <a:latin typeface="Whitney Book" pitchFamily="50" charset="0"/>
                <a:cs typeface="Whitney Book" pitchFamily="50" charset="0"/>
              </a:rPr>
              <a:t>low</a:t>
            </a:r>
            <a:endParaRPr lang="en-US" sz="2800" b="0" i="1" dirty="0">
              <a:latin typeface="Whitney Book" pitchFamily="50" charset="0"/>
              <a:cs typeface="Whitney Book" pitchFamily="50" charset="0"/>
            </a:endParaRPr>
          </a:p>
        </p:txBody>
      </p:sp>
      <p:cxnSp>
        <p:nvCxnSpPr>
          <p:cNvPr id="27" name="Straight Connector 26">
            <a:extLst>
              <a:ext uri="{FF2B5EF4-FFF2-40B4-BE49-F238E27FC236}">
                <a16:creationId xmlns:a16="http://schemas.microsoft.com/office/drawing/2014/main" id="{0996AF36-CEFE-4FB4-8A21-7B6B315D4DB4}"/>
              </a:ext>
            </a:extLst>
          </p:cNvPr>
          <p:cNvCxnSpPr>
            <a:cxnSpLocks/>
          </p:cNvCxnSpPr>
          <p:nvPr/>
        </p:nvCxnSpPr>
        <p:spPr>
          <a:xfrm flipV="1">
            <a:off x="1363131" y="3690601"/>
            <a:ext cx="5864372" cy="22656"/>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sp>
        <p:nvSpPr>
          <p:cNvPr id="29" name="Rectangle 17">
            <a:extLst>
              <a:ext uri="{FF2B5EF4-FFF2-40B4-BE49-F238E27FC236}">
                <a16:creationId xmlns:a16="http://schemas.microsoft.com/office/drawing/2014/main" id="{2FA724EC-D52B-49B9-856F-85370F8C0119}"/>
              </a:ext>
            </a:extLst>
          </p:cNvPr>
          <p:cNvSpPr>
            <a:spLocks noChangeArrowheads="1"/>
          </p:cNvSpPr>
          <p:nvPr/>
        </p:nvSpPr>
        <p:spPr bwMode="auto">
          <a:xfrm>
            <a:off x="7368230" y="3440495"/>
            <a:ext cx="1122332"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solidFill>
                  <a:srgbClr val="0070C0"/>
                </a:solidFill>
                <a:latin typeface="Whitney Book" pitchFamily="50" charset="0"/>
                <a:cs typeface="Whitney Book" pitchFamily="50" charset="0"/>
              </a:rPr>
              <a:t>P=MR</a:t>
            </a:r>
          </a:p>
        </p:txBody>
      </p:sp>
      <p:cxnSp>
        <p:nvCxnSpPr>
          <p:cNvPr id="31" name="Straight Connector 30">
            <a:extLst>
              <a:ext uri="{FF2B5EF4-FFF2-40B4-BE49-F238E27FC236}">
                <a16:creationId xmlns:a16="http://schemas.microsoft.com/office/drawing/2014/main" id="{09240B1C-13E8-468D-AB1C-B4D1E486A8A8}"/>
              </a:ext>
            </a:extLst>
          </p:cNvPr>
          <p:cNvCxnSpPr>
            <a:cxnSpLocks/>
          </p:cNvCxnSpPr>
          <p:nvPr/>
        </p:nvCxnSpPr>
        <p:spPr>
          <a:xfrm>
            <a:off x="3952309" y="3701929"/>
            <a:ext cx="0" cy="1416470"/>
          </a:xfrm>
          <a:prstGeom prst="line">
            <a:avLst/>
          </a:prstGeom>
          <a:ln w="28575" cap="flat" cmpd="sng" algn="ctr">
            <a:solidFill>
              <a:schemeClr val="dk1"/>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2" name="Rectangle 31">
            <a:extLst>
              <a:ext uri="{FF2B5EF4-FFF2-40B4-BE49-F238E27FC236}">
                <a16:creationId xmlns:a16="http://schemas.microsoft.com/office/drawing/2014/main" id="{06C1783E-99B3-47B3-B788-10559FD1019C}"/>
              </a:ext>
            </a:extLst>
          </p:cNvPr>
          <p:cNvSpPr>
            <a:spLocks noChangeArrowheads="1"/>
          </p:cNvSpPr>
          <p:nvPr/>
        </p:nvSpPr>
        <p:spPr bwMode="auto">
          <a:xfrm>
            <a:off x="3778185" y="5212370"/>
            <a:ext cx="828388"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latin typeface="Whitney Book" pitchFamily="50" charset="0"/>
                <a:cs typeface="Whitney Book" pitchFamily="50" charset="0"/>
              </a:rPr>
              <a:t>Q*</a:t>
            </a:r>
          </a:p>
        </p:txBody>
      </p:sp>
      <p:cxnSp>
        <p:nvCxnSpPr>
          <p:cNvPr id="33" name="Straight Connector 32">
            <a:extLst>
              <a:ext uri="{FF2B5EF4-FFF2-40B4-BE49-F238E27FC236}">
                <a16:creationId xmlns:a16="http://schemas.microsoft.com/office/drawing/2014/main" id="{F6B890C6-E91E-4F75-B0AB-3A4A83503BB9}"/>
              </a:ext>
            </a:extLst>
          </p:cNvPr>
          <p:cNvCxnSpPr>
            <a:cxnSpLocks/>
          </p:cNvCxnSpPr>
          <p:nvPr/>
        </p:nvCxnSpPr>
        <p:spPr>
          <a:xfrm>
            <a:off x="1335135" y="3408746"/>
            <a:ext cx="2617174" cy="7554"/>
          </a:xfrm>
          <a:prstGeom prst="line">
            <a:avLst/>
          </a:prstGeom>
          <a:ln w="28575" cap="flat" cmpd="sng" algn="ctr">
            <a:solidFill>
              <a:schemeClr val="dk1"/>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6" name="Rectangle 34">
            <a:extLst>
              <a:ext uri="{FF2B5EF4-FFF2-40B4-BE49-F238E27FC236}">
                <a16:creationId xmlns:a16="http://schemas.microsoft.com/office/drawing/2014/main" id="{A797A26B-3CD6-494C-A875-B241D770568C}"/>
              </a:ext>
            </a:extLst>
          </p:cNvPr>
          <p:cNvSpPr>
            <a:spLocks noChangeArrowheads="1"/>
          </p:cNvSpPr>
          <p:nvPr/>
        </p:nvSpPr>
        <p:spPr bwMode="auto">
          <a:xfrm>
            <a:off x="52465" y="5903912"/>
            <a:ext cx="8804429" cy="882638"/>
          </a:xfrm>
          <a:prstGeom prst="rect">
            <a:avLst/>
          </a:prstGeom>
          <a:noFill/>
          <a:ln w="25400">
            <a:solidFill>
              <a:srgbClr val="C00000"/>
            </a:solidFill>
            <a:miter lim="800000"/>
            <a:headEnd/>
            <a:tailEnd/>
          </a:ln>
          <a:effectLst/>
        </p:spPr>
        <p:txBody>
          <a:bodyPr wrap="none" lIns="20048" tIns="28402" rIns="20048" bIns="28402" anchor="ctr" anchorCtr="0"/>
          <a:lstStyle/>
          <a:p>
            <a:pPr algn="ctr">
              <a:lnSpc>
                <a:spcPts val="2526"/>
              </a:lnSpc>
              <a:spcAft>
                <a:spcPts val="947"/>
              </a:spcAft>
              <a:tabLst>
                <a:tab pos="481157" algn="l"/>
                <a:tab pos="962315" algn="l"/>
                <a:tab pos="1443472" algn="l"/>
              </a:tabLst>
            </a:pPr>
            <a:r>
              <a:rPr lang="en-US" b="0" dirty="0">
                <a:solidFill>
                  <a:srgbClr val="C00000"/>
                </a:solidFill>
                <a:latin typeface="Whitney-Book" pitchFamily="50" charset="0"/>
                <a:cs typeface="Whitney-Book" pitchFamily="50" charset="0"/>
              </a:rPr>
              <a:t>Negative economic profits (losses) are being made because P &lt; ATC</a:t>
            </a:r>
            <a:r>
              <a:rPr lang="en-US" dirty="0">
                <a:solidFill>
                  <a:srgbClr val="C00000"/>
                </a:solidFill>
                <a:latin typeface="Whitney-Book" pitchFamily="50" charset="0"/>
                <a:cs typeface="Whitney-Book" pitchFamily="50" charset="0"/>
              </a:rPr>
              <a:t>. </a:t>
            </a:r>
          </a:p>
          <a:p>
            <a:pPr algn="ctr">
              <a:lnSpc>
                <a:spcPts val="2526"/>
              </a:lnSpc>
              <a:spcAft>
                <a:spcPts val="947"/>
              </a:spcAft>
              <a:tabLst>
                <a:tab pos="481157" algn="l"/>
                <a:tab pos="962315" algn="l"/>
                <a:tab pos="1443472" algn="l"/>
              </a:tabLst>
            </a:pPr>
            <a:r>
              <a:rPr lang="en-US" dirty="0">
                <a:solidFill>
                  <a:srgbClr val="C00000"/>
                </a:solidFill>
                <a:latin typeface="Whitney-Book" pitchFamily="50" charset="0"/>
                <a:cs typeface="Whitney-Book" pitchFamily="50" charset="0"/>
              </a:rPr>
              <a:t>But P </a:t>
            </a:r>
            <a:r>
              <a:rPr lang="fr-FR" dirty="0">
                <a:solidFill>
                  <a:srgbClr val="C00000"/>
                </a:solidFill>
              </a:rPr>
              <a:t>≥</a:t>
            </a:r>
            <a:r>
              <a:rPr lang="en-US" dirty="0">
                <a:solidFill>
                  <a:srgbClr val="C00000"/>
                </a:solidFill>
                <a:latin typeface="Whitney-Book" pitchFamily="50" charset="0"/>
                <a:cs typeface="Whitney-Book" pitchFamily="50" charset="0"/>
              </a:rPr>
              <a:t> AVC  </a:t>
            </a:r>
            <a:r>
              <a:rPr lang="en-US" dirty="0">
                <a:solidFill>
                  <a:srgbClr val="C00000"/>
                </a:solidFill>
                <a:latin typeface="Whitney-Book" pitchFamily="50" charset="0"/>
                <a:cs typeface="Whitney-Book" pitchFamily="50" charset="0"/>
                <a:sym typeface="Wingdings" panose="05000000000000000000" pitchFamily="2" charset="2"/>
              </a:rPr>
              <a:t> </a:t>
            </a:r>
            <a:r>
              <a:rPr lang="en-US" b="0" dirty="0">
                <a:solidFill>
                  <a:srgbClr val="C00000"/>
                </a:solidFill>
                <a:latin typeface="Whitney-Book" pitchFamily="50" charset="0"/>
                <a:cs typeface="Whitney-Book" pitchFamily="50" charset="0"/>
              </a:rPr>
              <a:t>The firm should continue to operate in the short run.</a:t>
            </a:r>
          </a:p>
        </p:txBody>
      </p:sp>
      <p:cxnSp>
        <p:nvCxnSpPr>
          <p:cNvPr id="28" name="Straight Connector 27">
            <a:extLst>
              <a:ext uri="{FF2B5EF4-FFF2-40B4-BE49-F238E27FC236}">
                <a16:creationId xmlns:a16="http://schemas.microsoft.com/office/drawing/2014/main" id="{8AFDB8F1-772F-403B-A5B8-3F7BE7047AE5}"/>
              </a:ext>
            </a:extLst>
          </p:cNvPr>
          <p:cNvCxnSpPr>
            <a:cxnSpLocks/>
          </p:cNvCxnSpPr>
          <p:nvPr/>
        </p:nvCxnSpPr>
        <p:spPr>
          <a:xfrm>
            <a:off x="3952309" y="3402330"/>
            <a:ext cx="0" cy="419383"/>
          </a:xfrm>
          <a:prstGeom prst="line">
            <a:avLst/>
          </a:prstGeom>
          <a:ln w="28575" cap="flat" cmpd="sng" algn="ctr">
            <a:solidFill>
              <a:schemeClr val="dk1"/>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6" name="Rectangle 32">
            <a:extLst>
              <a:ext uri="{FF2B5EF4-FFF2-40B4-BE49-F238E27FC236}">
                <a16:creationId xmlns:a16="http://schemas.microsoft.com/office/drawing/2014/main" id="{721628B4-820F-46B4-9FE5-5DFDBBD92A16}"/>
              </a:ext>
            </a:extLst>
          </p:cNvPr>
          <p:cNvSpPr>
            <a:spLocks noChangeArrowheads="1"/>
          </p:cNvSpPr>
          <p:nvPr/>
        </p:nvSpPr>
        <p:spPr bwMode="auto">
          <a:xfrm>
            <a:off x="1355177" y="3402332"/>
            <a:ext cx="2597062" cy="304243"/>
          </a:xfrm>
          <a:prstGeom prst="rect">
            <a:avLst/>
          </a:prstGeom>
          <a:gradFill rotWithShape="0">
            <a:gsLst>
              <a:gs pos="0">
                <a:srgbClr val="D50031">
                  <a:gamma/>
                  <a:tint val="0"/>
                  <a:invGamma/>
                </a:srgbClr>
              </a:gs>
              <a:gs pos="100000">
                <a:srgbClr val="FF0000"/>
              </a:gs>
            </a:gsLst>
            <a:path path="shape">
              <a:fillToRect l="50000" t="50000" r="50000" b="50000"/>
            </a:path>
          </a:gradFill>
          <a:ln w="9525">
            <a:noFill/>
            <a:miter lim="800000"/>
            <a:headEnd/>
            <a:tailEnd/>
          </a:ln>
          <a:effectLst/>
        </p:spPr>
        <p:txBody>
          <a:bodyPr wrap="none" anchor="ctr"/>
          <a:lstStyle/>
          <a:p>
            <a:pPr algn="ctr"/>
            <a:r>
              <a:rPr lang="en-US" sz="1600" b="1" dirty="0">
                <a:latin typeface="+mn-lt"/>
                <a:cs typeface="Times New Roman" pitchFamily="18" charset="0"/>
              </a:rPr>
              <a:t>Loss if Operating</a:t>
            </a:r>
          </a:p>
        </p:txBody>
      </p:sp>
    </p:spTree>
    <p:extLst>
      <p:ext uri="{BB962C8B-B14F-4D97-AF65-F5344CB8AC3E}">
        <p14:creationId xmlns:p14="http://schemas.microsoft.com/office/powerpoint/2010/main" val="1744581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12" grpId="0" animBg="1"/>
      <p:bldP spid="17" grpId="0" animBg="1"/>
      <p:bldP spid="22" grpId="0"/>
      <p:bldP spid="23" grpId="0"/>
      <p:bldP spid="24" grpId="0"/>
      <p:bldP spid="25" grpId="0"/>
      <p:bldP spid="29" grpId="0"/>
      <p:bldP spid="32" grpId="0"/>
      <p:bldP spid="2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5E279-002E-4BFA-ACC4-9A46E01D3061}"/>
              </a:ext>
            </a:extLst>
          </p:cNvPr>
          <p:cNvSpPr>
            <a:spLocks noGrp="1"/>
          </p:cNvSpPr>
          <p:nvPr>
            <p:ph type="title"/>
          </p:nvPr>
        </p:nvSpPr>
        <p:spPr/>
        <p:txBody>
          <a:bodyPr>
            <a:normAutofit fontScale="90000"/>
          </a:bodyPr>
          <a:lstStyle/>
          <a:p>
            <a:r>
              <a:rPr lang="en-US" sz="2800" dirty="0"/>
              <a:t>Very low price: shutting down in the short run</a:t>
            </a:r>
            <a:endParaRPr lang="en-US" sz="2800" dirty="0">
              <a:latin typeface="Whitney-Medium" pitchFamily="50" charset="0"/>
              <a:cs typeface="Whitney-Medium" pitchFamily="50" charset="0"/>
            </a:endParaRPr>
          </a:p>
        </p:txBody>
      </p:sp>
      <p:grpSp>
        <p:nvGrpSpPr>
          <p:cNvPr id="4" name="Group 35">
            <a:extLst>
              <a:ext uri="{FF2B5EF4-FFF2-40B4-BE49-F238E27FC236}">
                <a16:creationId xmlns:a16="http://schemas.microsoft.com/office/drawing/2014/main" id="{EF0D24F5-5A9F-4D51-9669-5E9AFC359B1C}"/>
              </a:ext>
            </a:extLst>
          </p:cNvPr>
          <p:cNvGrpSpPr>
            <a:grpSpLocks/>
          </p:cNvGrpSpPr>
          <p:nvPr/>
        </p:nvGrpSpPr>
        <p:grpSpPr bwMode="auto">
          <a:xfrm>
            <a:off x="580230" y="1472126"/>
            <a:ext cx="7493909" cy="4132353"/>
            <a:chOff x="271" y="1140"/>
            <a:chExt cx="4487" cy="2472"/>
          </a:xfrm>
        </p:grpSpPr>
        <p:sp>
          <p:nvSpPr>
            <p:cNvPr id="5" name="Rectangle 4">
              <a:extLst>
                <a:ext uri="{FF2B5EF4-FFF2-40B4-BE49-F238E27FC236}">
                  <a16:creationId xmlns:a16="http://schemas.microsoft.com/office/drawing/2014/main" id="{2112D0F3-8D7E-41A9-A0C3-802B3CF06311}"/>
                </a:ext>
              </a:extLst>
            </p:cNvPr>
            <p:cNvSpPr>
              <a:spLocks noChangeArrowheads="1"/>
            </p:cNvSpPr>
            <p:nvPr/>
          </p:nvSpPr>
          <p:spPr bwMode="auto">
            <a:xfrm>
              <a:off x="271" y="1140"/>
              <a:ext cx="496" cy="37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dirty="0">
                  <a:latin typeface="Whitney Book" pitchFamily="50" charset="0"/>
                  <a:cs typeface="Whitney Book" pitchFamily="50" charset="0"/>
                </a:rPr>
                <a:t>$/</a:t>
              </a:r>
              <a:r>
                <a:rPr lang="en-US" sz="2800" b="0" i="1" dirty="0">
                  <a:latin typeface="Whitney Book" pitchFamily="50" charset="0"/>
                  <a:cs typeface="Whitney Book" pitchFamily="50" charset="0"/>
                </a:rPr>
                <a:t>Q</a:t>
              </a:r>
            </a:p>
          </p:txBody>
        </p:sp>
        <p:sp>
          <p:nvSpPr>
            <p:cNvPr id="6" name="Line 6">
              <a:extLst>
                <a:ext uri="{FF2B5EF4-FFF2-40B4-BE49-F238E27FC236}">
                  <a16:creationId xmlns:a16="http://schemas.microsoft.com/office/drawing/2014/main" id="{9B60ACA6-CAF2-46D4-ACB5-D9D23CE23CCB}"/>
                </a:ext>
              </a:extLst>
            </p:cNvPr>
            <p:cNvSpPr>
              <a:spLocks noChangeShapeType="1"/>
            </p:cNvSpPr>
            <p:nvPr/>
          </p:nvSpPr>
          <p:spPr bwMode="auto">
            <a:xfrm>
              <a:off x="729" y="1168"/>
              <a:ext cx="0" cy="2160"/>
            </a:xfrm>
            <a:prstGeom prst="line">
              <a:avLst/>
            </a:prstGeom>
            <a:noFill/>
            <a:ln w="50800">
              <a:solidFill>
                <a:schemeClr val="tx1"/>
              </a:solidFill>
              <a:round/>
              <a:headEnd type="arrow" w="sm" len="sm"/>
              <a:tailEnd type="none" w="sm" len="sm"/>
            </a:ln>
            <a:effectLst/>
          </p:spPr>
          <p:txBody>
            <a:bodyPr wrap="none" anchor="ctr"/>
            <a:lstStyle/>
            <a:p>
              <a:endParaRPr lang="en-US" b="0">
                <a:latin typeface="Whitney Book" pitchFamily="50" charset="0"/>
                <a:cs typeface="Whitney Book" pitchFamily="50" charset="0"/>
              </a:endParaRPr>
            </a:p>
          </p:txBody>
        </p:sp>
        <p:sp>
          <p:nvSpPr>
            <p:cNvPr id="7" name="Line 7">
              <a:extLst>
                <a:ext uri="{FF2B5EF4-FFF2-40B4-BE49-F238E27FC236}">
                  <a16:creationId xmlns:a16="http://schemas.microsoft.com/office/drawing/2014/main" id="{5CA90566-A192-42F6-9891-CB9F82DBCF3A}"/>
                </a:ext>
              </a:extLst>
            </p:cNvPr>
            <p:cNvSpPr>
              <a:spLocks noChangeShapeType="1"/>
            </p:cNvSpPr>
            <p:nvPr/>
          </p:nvSpPr>
          <p:spPr bwMode="auto">
            <a:xfrm>
              <a:off x="723" y="3340"/>
              <a:ext cx="3588" cy="0"/>
            </a:xfrm>
            <a:prstGeom prst="line">
              <a:avLst/>
            </a:prstGeom>
            <a:noFill/>
            <a:ln w="50800">
              <a:solidFill>
                <a:schemeClr val="tx1"/>
              </a:solidFill>
              <a:round/>
              <a:headEnd type="none" w="sm" len="sm"/>
              <a:tailEnd type="arrow" w="sm" len="sm"/>
            </a:ln>
            <a:effectLst/>
          </p:spPr>
          <p:txBody>
            <a:bodyPr wrap="none" anchor="ctr"/>
            <a:lstStyle/>
            <a:p>
              <a:endParaRPr lang="en-US" b="0">
                <a:latin typeface="Whitney Book" pitchFamily="50" charset="0"/>
                <a:cs typeface="Whitney Book" pitchFamily="50" charset="0"/>
              </a:endParaRPr>
            </a:p>
          </p:txBody>
        </p:sp>
        <p:sp>
          <p:nvSpPr>
            <p:cNvPr id="8" name="Rectangle 7">
              <a:extLst>
                <a:ext uri="{FF2B5EF4-FFF2-40B4-BE49-F238E27FC236}">
                  <a16:creationId xmlns:a16="http://schemas.microsoft.com/office/drawing/2014/main" id="{9EC1E57E-C019-4301-979D-0AAD61488C34}"/>
                </a:ext>
              </a:extLst>
            </p:cNvPr>
            <p:cNvSpPr>
              <a:spLocks noChangeArrowheads="1"/>
            </p:cNvSpPr>
            <p:nvPr/>
          </p:nvSpPr>
          <p:spPr bwMode="auto">
            <a:xfrm>
              <a:off x="4334" y="3236"/>
              <a:ext cx="424" cy="37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latin typeface="Whitney Book" pitchFamily="50" charset="0"/>
                  <a:cs typeface="Whitney Book" pitchFamily="50" charset="0"/>
                </a:rPr>
                <a:t>Q</a:t>
              </a:r>
            </a:p>
          </p:txBody>
        </p:sp>
      </p:grpSp>
      <p:sp>
        <p:nvSpPr>
          <p:cNvPr id="12" name="Arc 11">
            <a:extLst>
              <a:ext uri="{FF2B5EF4-FFF2-40B4-BE49-F238E27FC236}">
                <a16:creationId xmlns:a16="http://schemas.microsoft.com/office/drawing/2014/main" id="{6965E26D-7F82-4D06-BEE4-A67E9BE77057}"/>
              </a:ext>
            </a:extLst>
          </p:cNvPr>
          <p:cNvSpPr/>
          <p:nvPr/>
        </p:nvSpPr>
        <p:spPr>
          <a:xfrm rot="9232845">
            <a:off x="2751910" y="1345646"/>
            <a:ext cx="3225403" cy="2006775"/>
          </a:xfrm>
          <a:custGeom>
            <a:avLst/>
            <a:gdLst>
              <a:gd name="connsiteX0" fmla="*/ 296236 w 3521182"/>
              <a:gd name="connsiteY0" fmla="*/ 614484 h 2762750"/>
              <a:gd name="connsiteX1" fmla="*/ 2249450 w 3521182"/>
              <a:gd name="connsiteY1" fmla="*/ 54319 h 2762750"/>
              <a:gd name="connsiteX2" fmla="*/ 3451667 w 3521182"/>
              <a:gd name="connsiteY2" fmla="*/ 1765707 h 2762750"/>
              <a:gd name="connsiteX3" fmla="*/ 1760591 w 3521182"/>
              <a:gd name="connsiteY3" fmla="*/ 1381375 h 2762750"/>
              <a:gd name="connsiteX4" fmla="*/ 296236 w 3521182"/>
              <a:gd name="connsiteY4" fmla="*/ 614484 h 2762750"/>
              <a:gd name="connsiteX0" fmla="*/ 296236 w 3521182"/>
              <a:gd name="connsiteY0" fmla="*/ 614484 h 2762750"/>
              <a:gd name="connsiteX1" fmla="*/ 2249450 w 3521182"/>
              <a:gd name="connsiteY1" fmla="*/ 54319 h 2762750"/>
              <a:gd name="connsiteX2" fmla="*/ 3451667 w 3521182"/>
              <a:gd name="connsiteY2" fmla="*/ 1765707 h 2762750"/>
              <a:gd name="connsiteX0" fmla="*/ 0 w 3225403"/>
              <a:gd name="connsiteY0" fmla="*/ 614585 h 1765808"/>
              <a:gd name="connsiteX1" fmla="*/ 1953214 w 3225403"/>
              <a:gd name="connsiteY1" fmla="*/ 54420 h 1765808"/>
              <a:gd name="connsiteX2" fmla="*/ 3155431 w 3225403"/>
              <a:gd name="connsiteY2" fmla="*/ 1765808 h 1765808"/>
              <a:gd name="connsiteX3" fmla="*/ 1464355 w 3225403"/>
              <a:gd name="connsiteY3" fmla="*/ 1381476 h 1765808"/>
              <a:gd name="connsiteX4" fmla="*/ 0 w 3225403"/>
              <a:gd name="connsiteY4" fmla="*/ 614585 h 1765808"/>
              <a:gd name="connsiteX0" fmla="*/ 111404 w 3225403"/>
              <a:gd name="connsiteY0" fmla="*/ 750034 h 1765808"/>
              <a:gd name="connsiteX1" fmla="*/ 1953214 w 3225403"/>
              <a:gd name="connsiteY1" fmla="*/ 54420 h 1765808"/>
              <a:gd name="connsiteX2" fmla="*/ 3155431 w 3225403"/>
              <a:gd name="connsiteY2" fmla="*/ 1765808 h 1765808"/>
              <a:gd name="connsiteX0" fmla="*/ 0 w 3225403"/>
              <a:gd name="connsiteY0" fmla="*/ 614585 h 2006775"/>
              <a:gd name="connsiteX1" fmla="*/ 1953214 w 3225403"/>
              <a:gd name="connsiteY1" fmla="*/ 54420 h 2006775"/>
              <a:gd name="connsiteX2" fmla="*/ 3155431 w 3225403"/>
              <a:gd name="connsiteY2" fmla="*/ 1765808 h 2006775"/>
              <a:gd name="connsiteX3" fmla="*/ 1464355 w 3225403"/>
              <a:gd name="connsiteY3" fmla="*/ 1381476 h 2006775"/>
              <a:gd name="connsiteX4" fmla="*/ 0 w 3225403"/>
              <a:gd name="connsiteY4" fmla="*/ 614585 h 2006775"/>
              <a:gd name="connsiteX0" fmla="*/ 111404 w 3225403"/>
              <a:gd name="connsiteY0" fmla="*/ 750034 h 2006775"/>
              <a:gd name="connsiteX1" fmla="*/ 1953214 w 3225403"/>
              <a:gd name="connsiteY1" fmla="*/ 54420 h 2006775"/>
              <a:gd name="connsiteX2" fmla="*/ 3053446 w 3225403"/>
              <a:gd name="connsiteY2" fmla="*/ 2006775 h 2006775"/>
            </a:gdLst>
            <a:ahLst/>
            <a:cxnLst>
              <a:cxn ang="0">
                <a:pos x="connsiteX0" y="connsiteY0"/>
              </a:cxn>
              <a:cxn ang="0">
                <a:pos x="connsiteX1" y="connsiteY1"/>
              </a:cxn>
              <a:cxn ang="0">
                <a:pos x="connsiteX2" y="connsiteY2"/>
              </a:cxn>
            </a:cxnLst>
            <a:rect l="l" t="t" r="r" b="b"/>
            <a:pathLst>
              <a:path w="3225403" h="2006775" stroke="0" extrusionOk="0">
                <a:moveTo>
                  <a:pt x="0" y="614585"/>
                </a:moveTo>
                <a:cubicBezTo>
                  <a:pt x="425953" y="113881"/>
                  <a:pt x="1216130" y="-112734"/>
                  <a:pt x="1953214" y="54420"/>
                </a:cubicBezTo>
                <a:cubicBezTo>
                  <a:pt x="2887709" y="266343"/>
                  <a:pt x="3426073" y="1032718"/>
                  <a:pt x="3155431" y="1765808"/>
                </a:cubicBezTo>
                <a:lnTo>
                  <a:pt x="1464355" y="1381476"/>
                </a:lnTo>
                <a:lnTo>
                  <a:pt x="0" y="614585"/>
                </a:lnTo>
                <a:close/>
              </a:path>
              <a:path w="3225403" h="2006775" fill="none">
                <a:moveTo>
                  <a:pt x="111404" y="750034"/>
                </a:moveTo>
                <a:cubicBezTo>
                  <a:pt x="537357" y="249330"/>
                  <a:pt x="1216130" y="-112734"/>
                  <a:pt x="1953214" y="54420"/>
                </a:cubicBezTo>
                <a:cubicBezTo>
                  <a:pt x="2887709" y="266343"/>
                  <a:pt x="3324088" y="1273685"/>
                  <a:pt x="3053446" y="2006775"/>
                </a:cubicBez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latin typeface="Whitney Book" pitchFamily="50" charset="0"/>
              <a:cs typeface="Whitney Book" pitchFamily="50" charset="0"/>
            </a:endParaRPr>
          </a:p>
        </p:txBody>
      </p:sp>
      <p:sp>
        <p:nvSpPr>
          <p:cNvPr id="17" name="Arc 11">
            <a:extLst>
              <a:ext uri="{FF2B5EF4-FFF2-40B4-BE49-F238E27FC236}">
                <a16:creationId xmlns:a16="http://schemas.microsoft.com/office/drawing/2014/main" id="{ABBBDCED-37E9-4F35-9E0F-52F7AD61B2D2}"/>
              </a:ext>
            </a:extLst>
          </p:cNvPr>
          <p:cNvSpPr/>
          <p:nvPr/>
        </p:nvSpPr>
        <p:spPr>
          <a:xfrm rot="8747880">
            <a:off x="2025762" y="1145641"/>
            <a:ext cx="4831255" cy="2740615"/>
          </a:xfrm>
          <a:custGeom>
            <a:avLst/>
            <a:gdLst>
              <a:gd name="connsiteX0" fmla="*/ 296236 w 3521182"/>
              <a:gd name="connsiteY0" fmla="*/ 614484 h 2762750"/>
              <a:gd name="connsiteX1" fmla="*/ 2249450 w 3521182"/>
              <a:gd name="connsiteY1" fmla="*/ 54319 h 2762750"/>
              <a:gd name="connsiteX2" fmla="*/ 3451667 w 3521182"/>
              <a:gd name="connsiteY2" fmla="*/ 1765707 h 2762750"/>
              <a:gd name="connsiteX3" fmla="*/ 1760591 w 3521182"/>
              <a:gd name="connsiteY3" fmla="*/ 1381375 h 2762750"/>
              <a:gd name="connsiteX4" fmla="*/ 296236 w 3521182"/>
              <a:gd name="connsiteY4" fmla="*/ 614484 h 2762750"/>
              <a:gd name="connsiteX0" fmla="*/ 296236 w 3521182"/>
              <a:gd name="connsiteY0" fmla="*/ 614484 h 2762750"/>
              <a:gd name="connsiteX1" fmla="*/ 2249450 w 3521182"/>
              <a:gd name="connsiteY1" fmla="*/ 54319 h 2762750"/>
              <a:gd name="connsiteX2" fmla="*/ 3451667 w 3521182"/>
              <a:gd name="connsiteY2" fmla="*/ 1765707 h 2762750"/>
              <a:gd name="connsiteX0" fmla="*/ 0 w 3225403"/>
              <a:gd name="connsiteY0" fmla="*/ 614585 h 1765808"/>
              <a:gd name="connsiteX1" fmla="*/ 1953214 w 3225403"/>
              <a:gd name="connsiteY1" fmla="*/ 54420 h 1765808"/>
              <a:gd name="connsiteX2" fmla="*/ 3155431 w 3225403"/>
              <a:gd name="connsiteY2" fmla="*/ 1765808 h 1765808"/>
              <a:gd name="connsiteX3" fmla="*/ 1464355 w 3225403"/>
              <a:gd name="connsiteY3" fmla="*/ 1381476 h 1765808"/>
              <a:gd name="connsiteX4" fmla="*/ 0 w 3225403"/>
              <a:gd name="connsiteY4" fmla="*/ 614585 h 1765808"/>
              <a:gd name="connsiteX0" fmla="*/ 111404 w 3225403"/>
              <a:gd name="connsiteY0" fmla="*/ 750034 h 1765808"/>
              <a:gd name="connsiteX1" fmla="*/ 1953214 w 3225403"/>
              <a:gd name="connsiteY1" fmla="*/ 54420 h 1765808"/>
              <a:gd name="connsiteX2" fmla="*/ 3155431 w 3225403"/>
              <a:gd name="connsiteY2" fmla="*/ 1765808 h 1765808"/>
              <a:gd name="connsiteX0" fmla="*/ 0 w 3225403"/>
              <a:gd name="connsiteY0" fmla="*/ 614585 h 2006775"/>
              <a:gd name="connsiteX1" fmla="*/ 1953214 w 3225403"/>
              <a:gd name="connsiteY1" fmla="*/ 54420 h 2006775"/>
              <a:gd name="connsiteX2" fmla="*/ 3155431 w 3225403"/>
              <a:gd name="connsiteY2" fmla="*/ 1765808 h 2006775"/>
              <a:gd name="connsiteX3" fmla="*/ 1464355 w 3225403"/>
              <a:gd name="connsiteY3" fmla="*/ 1381476 h 2006775"/>
              <a:gd name="connsiteX4" fmla="*/ 0 w 3225403"/>
              <a:gd name="connsiteY4" fmla="*/ 614585 h 2006775"/>
              <a:gd name="connsiteX0" fmla="*/ 111404 w 3225403"/>
              <a:gd name="connsiteY0" fmla="*/ 750034 h 2006775"/>
              <a:gd name="connsiteX1" fmla="*/ 1953214 w 3225403"/>
              <a:gd name="connsiteY1" fmla="*/ 54420 h 2006775"/>
              <a:gd name="connsiteX2" fmla="*/ 3053446 w 3225403"/>
              <a:gd name="connsiteY2" fmla="*/ 2006775 h 2006775"/>
            </a:gdLst>
            <a:ahLst/>
            <a:cxnLst>
              <a:cxn ang="0">
                <a:pos x="connsiteX0" y="connsiteY0"/>
              </a:cxn>
              <a:cxn ang="0">
                <a:pos x="connsiteX1" y="connsiteY1"/>
              </a:cxn>
              <a:cxn ang="0">
                <a:pos x="connsiteX2" y="connsiteY2"/>
              </a:cxn>
            </a:cxnLst>
            <a:rect l="l" t="t" r="r" b="b"/>
            <a:pathLst>
              <a:path w="3225403" h="2006775" stroke="0" extrusionOk="0">
                <a:moveTo>
                  <a:pt x="0" y="614585"/>
                </a:moveTo>
                <a:cubicBezTo>
                  <a:pt x="425953" y="113881"/>
                  <a:pt x="1216130" y="-112734"/>
                  <a:pt x="1953214" y="54420"/>
                </a:cubicBezTo>
                <a:cubicBezTo>
                  <a:pt x="2887709" y="266343"/>
                  <a:pt x="3426073" y="1032718"/>
                  <a:pt x="3155431" y="1765808"/>
                </a:cubicBezTo>
                <a:lnTo>
                  <a:pt x="1464355" y="1381476"/>
                </a:lnTo>
                <a:lnTo>
                  <a:pt x="0" y="614585"/>
                </a:lnTo>
                <a:close/>
              </a:path>
              <a:path w="3225403" h="2006775" fill="none">
                <a:moveTo>
                  <a:pt x="111404" y="750034"/>
                </a:moveTo>
                <a:cubicBezTo>
                  <a:pt x="537357" y="249330"/>
                  <a:pt x="1216130" y="-112734"/>
                  <a:pt x="1953214" y="54420"/>
                </a:cubicBezTo>
                <a:cubicBezTo>
                  <a:pt x="2887709" y="266343"/>
                  <a:pt x="3324088" y="1273685"/>
                  <a:pt x="3053446" y="2006775"/>
                </a:cubicBezTo>
              </a:path>
            </a:pathLst>
          </a:custGeom>
          <a:ln>
            <a:solidFill>
              <a:srgbClr val="00B05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latin typeface="Whitney Book" pitchFamily="50" charset="0"/>
              <a:cs typeface="Whitney Book" pitchFamily="50" charset="0"/>
            </a:endParaRPr>
          </a:p>
        </p:txBody>
      </p:sp>
      <p:sp>
        <p:nvSpPr>
          <p:cNvPr id="23" name="Rectangle 17">
            <a:extLst>
              <a:ext uri="{FF2B5EF4-FFF2-40B4-BE49-F238E27FC236}">
                <a16:creationId xmlns:a16="http://schemas.microsoft.com/office/drawing/2014/main" id="{F70C19FB-A6EC-4A87-A0B0-7097BCD58C7B}"/>
              </a:ext>
            </a:extLst>
          </p:cNvPr>
          <p:cNvSpPr>
            <a:spLocks noChangeArrowheads="1"/>
          </p:cNvSpPr>
          <p:nvPr/>
        </p:nvSpPr>
        <p:spPr bwMode="auto">
          <a:xfrm>
            <a:off x="5532037" y="1349454"/>
            <a:ext cx="1122332"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i="1" dirty="0">
                <a:solidFill>
                  <a:srgbClr val="C00000"/>
                </a:solidFill>
                <a:latin typeface="Whitney Book" pitchFamily="50" charset="0"/>
                <a:cs typeface="Whitney Book" pitchFamily="50" charset="0"/>
              </a:rPr>
              <a:t>ATC</a:t>
            </a:r>
            <a:endParaRPr lang="en-US" sz="2800" b="0" i="1" dirty="0">
              <a:solidFill>
                <a:srgbClr val="C00000"/>
              </a:solidFill>
              <a:latin typeface="Whitney Book" pitchFamily="50" charset="0"/>
              <a:cs typeface="Whitney Book" pitchFamily="50" charset="0"/>
            </a:endParaRPr>
          </a:p>
        </p:txBody>
      </p:sp>
      <p:sp>
        <p:nvSpPr>
          <p:cNvPr id="24" name="Rectangle 17">
            <a:extLst>
              <a:ext uri="{FF2B5EF4-FFF2-40B4-BE49-F238E27FC236}">
                <a16:creationId xmlns:a16="http://schemas.microsoft.com/office/drawing/2014/main" id="{0DDA4EE9-9016-41D2-AE51-8B3A375676D4}"/>
              </a:ext>
            </a:extLst>
          </p:cNvPr>
          <p:cNvSpPr>
            <a:spLocks noChangeArrowheads="1"/>
          </p:cNvSpPr>
          <p:nvPr/>
        </p:nvSpPr>
        <p:spPr bwMode="auto">
          <a:xfrm>
            <a:off x="6494806" y="1110600"/>
            <a:ext cx="1122332"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i="1" dirty="0">
                <a:solidFill>
                  <a:srgbClr val="00B050"/>
                </a:solidFill>
                <a:latin typeface="Whitney Book" pitchFamily="50" charset="0"/>
                <a:cs typeface="Whitney Book" pitchFamily="50" charset="0"/>
              </a:rPr>
              <a:t>AVC</a:t>
            </a:r>
            <a:endParaRPr lang="en-US" sz="2800" b="0" i="1" dirty="0">
              <a:solidFill>
                <a:srgbClr val="00B050"/>
              </a:solidFill>
              <a:latin typeface="Whitney Book" pitchFamily="50" charset="0"/>
              <a:cs typeface="Whitney Book" pitchFamily="50" charset="0"/>
            </a:endParaRPr>
          </a:p>
        </p:txBody>
      </p:sp>
      <p:sp>
        <p:nvSpPr>
          <p:cNvPr id="25" name="Rectangle 24">
            <a:extLst>
              <a:ext uri="{FF2B5EF4-FFF2-40B4-BE49-F238E27FC236}">
                <a16:creationId xmlns:a16="http://schemas.microsoft.com/office/drawing/2014/main" id="{B39233DB-3CB5-4E38-BFB3-8C59E48B5FE4}"/>
              </a:ext>
            </a:extLst>
          </p:cNvPr>
          <p:cNvSpPr>
            <a:spLocks noChangeArrowheads="1"/>
          </p:cNvSpPr>
          <p:nvPr/>
        </p:nvSpPr>
        <p:spPr bwMode="auto">
          <a:xfrm>
            <a:off x="81428" y="4050840"/>
            <a:ext cx="828388"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i="1" dirty="0" err="1">
                <a:latin typeface="Whitney Book" pitchFamily="50" charset="0"/>
                <a:cs typeface="Whitney Book" pitchFamily="50" charset="0"/>
              </a:rPr>
              <a:t>P</a:t>
            </a:r>
            <a:r>
              <a:rPr lang="en-US" sz="2000" i="1" dirty="0" err="1">
                <a:latin typeface="Whitney Book" pitchFamily="50" charset="0"/>
                <a:cs typeface="Whitney Book" pitchFamily="50" charset="0"/>
              </a:rPr>
              <a:t>very</a:t>
            </a:r>
            <a:r>
              <a:rPr lang="en-US" sz="2000" i="1" dirty="0">
                <a:latin typeface="Whitney Book" pitchFamily="50" charset="0"/>
                <a:cs typeface="Whitney Book" pitchFamily="50" charset="0"/>
              </a:rPr>
              <a:t> low</a:t>
            </a:r>
            <a:endParaRPr lang="en-US" sz="2800" b="0" i="1" dirty="0">
              <a:latin typeface="Whitney Book" pitchFamily="50" charset="0"/>
              <a:cs typeface="Whitney Book" pitchFamily="50" charset="0"/>
            </a:endParaRPr>
          </a:p>
        </p:txBody>
      </p:sp>
      <p:cxnSp>
        <p:nvCxnSpPr>
          <p:cNvPr id="27" name="Straight Connector 26">
            <a:extLst>
              <a:ext uri="{FF2B5EF4-FFF2-40B4-BE49-F238E27FC236}">
                <a16:creationId xmlns:a16="http://schemas.microsoft.com/office/drawing/2014/main" id="{0996AF36-CEFE-4FB4-8A21-7B6B315D4DB4}"/>
              </a:ext>
            </a:extLst>
          </p:cNvPr>
          <p:cNvCxnSpPr>
            <a:cxnSpLocks/>
          </p:cNvCxnSpPr>
          <p:nvPr/>
        </p:nvCxnSpPr>
        <p:spPr>
          <a:xfrm flipV="1">
            <a:off x="1365198" y="4287396"/>
            <a:ext cx="5864372" cy="22656"/>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sp>
        <p:nvSpPr>
          <p:cNvPr id="29" name="Rectangle 17">
            <a:extLst>
              <a:ext uri="{FF2B5EF4-FFF2-40B4-BE49-F238E27FC236}">
                <a16:creationId xmlns:a16="http://schemas.microsoft.com/office/drawing/2014/main" id="{2FA724EC-D52B-49B9-856F-85370F8C0119}"/>
              </a:ext>
            </a:extLst>
          </p:cNvPr>
          <p:cNvSpPr>
            <a:spLocks noChangeArrowheads="1"/>
          </p:cNvSpPr>
          <p:nvPr/>
        </p:nvSpPr>
        <p:spPr bwMode="auto">
          <a:xfrm>
            <a:off x="7370297" y="4037290"/>
            <a:ext cx="1122332"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solidFill>
                  <a:srgbClr val="0070C0"/>
                </a:solidFill>
                <a:latin typeface="Whitney Book" pitchFamily="50" charset="0"/>
                <a:cs typeface="Whitney Book" pitchFamily="50" charset="0"/>
              </a:rPr>
              <a:t>P=MR</a:t>
            </a:r>
          </a:p>
        </p:txBody>
      </p:sp>
      <p:cxnSp>
        <p:nvCxnSpPr>
          <p:cNvPr id="31" name="Straight Connector 30">
            <a:extLst>
              <a:ext uri="{FF2B5EF4-FFF2-40B4-BE49-F238E27FC236}">
                <a16:creationId xmlns:a16="http://schemas.microsoft.com/office/drawing/2014/main" id="{09240B1C-13E8-468D-AB1C-B4D1E486A8A8}"/>
              </a:ext>
            </a:extLst>
          </p:cNvPr>
          <p:cNvCxnSpPr>
            <a:cxnSpLocks/>
          </p:cNvCxnSpPr>
          <p:nvPr/>
        </p:nvCxnSpPr>
        <p:spPr>
          <a:xfrm>
            <a:off x="3587954" y="4283966"/>
            <a:ext cx="11440" cy="865820"/>
          </a:xfrm>
          <a:prstGeom prst="line">
            <a:avLst/>
          </a:prstGeom>
          <a:ln w="28575" cap="flat" cmpd="sng" algn="ctr">
            <a:solidFill>
              <a:schemeClr val="dk1"/>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2" name="Rectangle 31">
            <a:extLst>
              <a:ext uri="{FF2B5EF4-FFF2-40B4-BE49-F238E27FC236}">
                <a16:creationId xmlns:a16="http://schemas.microsoft.com/office/drawing/2014/main" id="{06C1783E-99B3-47B3-B788-10559FD1019C}"/>
              </a:ext>
            </a:extLst>
          </p:cNvPr>
          <p:cNvSpPr>
            <a:spLocks noChangeArrowheads="1"/>
          </p:cNvSpPr>
          <p:nvPr/>
        </p:nvSpPr>
        <p:spPr bwMode="auto">
          <a:xfrm>
            <a:off x="3433841" y="5252350"/>
            <a:ext cx="828388"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latin typeface="Whitney Book" pitchFamily="50" charset="0"/>
                <a:cs typeface="Whitney Book" pitchFamily="50" charset="0"/>
              </a:rPr>
              <a:t>Q*</a:t>
            </a:r>
          </a:p>
        </p:txBody>
      </p:sp>
      <p:cxnSp>
        <p:nvCxnSpPr>
          <p:cNvPr id="33" name="Straight Connector 32">
            <a:extLst>
              <a:ext uri="{FF2B5EF4-FFF2-40B4-BE49-F238E27FC236}">
                <a16:creationId xmlns:a16="http://schemas.microsoft.com/office/drawing/2014/main" id="{F6B890C6-E91E-4F75-B0AB-3A4A83503BB9}"/>
              </a:ext>
            </a:extLst>
          </p:cNvPr>
          <p:cNvCxnSpPr>
            <a:cxnSpLocks/>
          </p:cNvCxnSpPr>
          <p:nvPr/>
        </p:nvCxnSpPr>
        <p:spPr>
          <a:xfrm flipV="1">
            <a:off x="1345156" y="3275248"/>
            <a:ext cx="2225740" cy="6350"/>
          </a:xfrm>
          <a:prstGeom prst="line">
            <a:avLst/>
          </a:prstGeom>
          <a:ln w="28575" cap="flat" cmpd="sng" algn="ctr">
            <a:solidFill>
              <a:schemeClr val="dk1"/>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8" name="Straight Connector 27">
            <a:extLst>
              <a:ext uri="{FF2B5EF4-FFF2-40B4-BE49-F238E27FC236}">
                <a16:creationId xmlns:a16="http://schemas.microsoft.com/office/drawing/2014/main" id="{8AFDB8F1-772F-403B-A5B8-3F7BE7047AE5}"/>
              </a:ext>
            </a:extLst>
          </p:cNvPr>
          <p:cNvCxnSpPr>
            <a:cxnSpLocks/>
          </p:cNvCxnSpPr>
          <p:nvPr/>
        </p:nvCxnSpPr>
        <p:spPr>
          <a:xfrm>
            <a:off x="3562350" y="3282950"/>
            <a:ext cx="28009" cy="1131868"/>
          </a:xfrm>
          <a:prstGeom prst="line">
            <a:avLst/>
          </a:prstGeom>
          <a:ln w="28575" cap="flat" cmpd="sng" algn="ctr">
            <a:solidFill>
              <a:schemeClr val="dk1"/>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6" name="Rectangle 32">
            <a:extLst>
              <a:ext uri="{FF2B5EF4-FFF2-40B4-BE49-F238E27FC236}">
                <a16:creationId xmlns:a16="http://schemas.microsoft.com/office/drawing/2014/main" id="{721628B4-820F-46B4-9FE5-5DFDBBD92A16}"/>
              </a:ext>
            </a:extLst>
          </p:cNvPr>
          <p:cNvSpPr>
            <a:spLocks noChangeArrowheads="1"/>
          </p:cNvSpPr>
          <p:nvPr/>
        </p:nvSpPr>
        <p:spPr bwMode="auto">
          <a:xfrm>
            <a:off x="1345156" y="3275277"/>
            <a:ext cx="2226292" cy="1049803"/>
          </a:xfrm>
          <a:prstGeom prst="rect">
            <a:avLst/>
          </a:prstGeom>
          <a:gradFill rotWithShape="0">
            <a:gsLst>
              <a:gs pos="0">
                <a:srgbClr val="D50031">
                  <a:gamma/>
                  <a:tint val="0"/>
                  <a:invGamma/>
                </a:srgbClr>
              </a:gs>
              <a:gs pos="100000">
                <a:srgbClr val="FF0000"/>
              </a:gs>
            </a:gsLst>
            <a:path path="shape">
              <a:fillToRect l="50000" t="50000" r="50000" b="50000"/>
            </a:path>
          </a:gradFill>
          <a:ln w="9525">
            <a:noFill/>
            <a:miter lim="800000"/>
            <a:headEnd/>
            <a:tailEnd/>
          </a:ln>
          <a:effectLst/>
        </p:spPr>
        <p:txBody>
          <a:bodyPr wrap="none" anchor="ctr"/>
          <a:lstStyle/>
          <a:p>
            <a:pPr algn="ctr"/>
            <a:r>
              <a:rPr lang="en-US" sz="2000" b="1" dirty="0">
                <a:latin typeface="+mn-lt"/>
                <a:cs typeface="Times New Roman" pitchFamily="18" charset="0"/>
              </a:rPr>
              <a:t>Loss if shutting </a:t>
            </a:r>
          </a:p>
          <a:p>
            <a:pPr algn="ctr"/>
            <a:r>
              <a:rPr lang="en-US" sz="2000" b="1" dirty="0">
                <a:latin typeface="+mn-lt"/>
                <a:cs typeface="Times New Roman" pitchFamily="18" charset="0"/>
              </a:rPr>
              <a:t>Down (=Fixed Cost)</a:t>
            </a:r>
          </a:p>
        </p:txBody>
      </p:sp>
      <p:sp>
        <p:nvSpPr>
          <p:cNvPr id="38" name="Rectangle 34">
            <a:extLst>
              <a:ext uri="{FF2B5EF4-FFF2-40B4-BE49-F238E27FC236}">
                <a16:creationId xmlns:a16="http://schemas.microsoft.com/office/drawing/2014/main" id="{AADD17DD-7D4F-4C3C-BCFF-2C85BFEEDCDD}"/>
              </a:ext>
            </a:extLst>
          </p:cNvPr>
          <p:cNvSpPr>
            <a:spLocks noChangeArrowheads="1"/>
          </p:cNvSpPr>
          <p:nvPr/>
        </p:nvSpPr>
        <p:spPr bwMode="auto">
          <a:xfrm>
            <a:off x="175364" y="5903912"/>
            <a:ext cx="8863704" cy="882638"/>
          </a:xfrm>
          <a:prstGeom prst="rect">
            <a:avLst/>
          </a:prstGeom>
          <a:noFill/>
          <a:ln w="25400">
            <a:solidFill>
              <a:srgbClr val="C00000"/>
            </a:solidFill>
            <a:miter lim="800000"/>
            <a:headEnd/>
            <a:tailEnd/>
          </a:ln>
          <a:effectLst/>
        </p:spPr>
        <p:txBody>
          <a:bodyPr wrap="none" lIns="20048" tIns="28402" rIns="20048" bIns="28402" anchor="ctr" anchorCtr="0"/>
          <a:lstStyle/>
          <a:p>
            <a:pPr algn="ctr">
              <a:lnSpc>
                <a:spcPts val="2526"/>
              </a:lnSpc>
              <a:spcAft>
                <a:spcPts val="947"/>
              </a:spcAft>
              <a:tabLst>
                <a:tab pos="481157" algn="l"/>
                <a:tab pos="962315" algn="l"/>
                <a:tab pos="1443472" algn="l"/>
              </a:tabLst>
            </a:pPr>
            <a:r>
              <a:rPr lang="en-US" dirty="0">
                <a:solidFill>
                  <a:srgbClr val="C00000"/>
                </a:solidFill>
                <a:latin typeface="Whitney-Book" pitchFamily="50" charset="0"/>
                <a:cs typeface="Whitney-Book" pitchFamily="50" charset="0"/>
              </a:rPr>
              <a:t>Negative economic profits (losses) are being made because P &lt; ATC. </a:t>
            </a:r>
          </a:p>
          <a:p>
            <a:pPr algn="ctr">
              <a:lnSpc>
                <a:spcPts val="2526"/>
              </a:lnSpc>
              <a:spcAft>
                <a:spcPts val="947"/>
              </a:spcAft>
              <a:tabLst>
                <a:tab pos="481157" algn="l"/>
                <a:tab pos="962315" algn="l"/>
                <a:tab pos="1443472" algn="l"/>
              </a:tabLst>
            </a:pPr>
            <a:r>
              <a:rPr lang="en-US" b="0" dirty="0">
                <a:solidFill>
                  <a:srgbClr val="C00000"/>
                </a:solidFill>
                <a:latin typeface="Whitney-Book" pitchFamily="50" charset="0"/>
                <a:cs typeface="Whitney-Book" pitchFamily="50" charset="0"/>
              </a:rPr>
              <a:t>And </a:t>
            </a:r>
            <a:r>
              <a:rPr lang="en-US" dirty="0">
                <a:solidFill>
                  <a:srgbClr val="C00000"/>
                </a:solidFill>
                <a:latin typeface="Whitney-Book" pitchFamily="50" charset="0"/>
                <a:cs typeface="Whitney-Book" pitchFamily="50" charset="0"/>
              </a:rPr>
              <a:t>P &lt; AVC </a:t>
            </a:r>
            <a:r>
              <a:rPr lang="en-US" dirty="0">
                <a:solidFill>
                  <a:srgbClr val="C00000"/>
                </a:solidFill>
                <a:latin typeface="Whitney-Book" pitchFamily="50" charset="0"/>
                <a:cs typeface="Whitney-Book" pitchFamily="50" charset="0"/>
                <a:sym typeface="Wingdings" panose="05000000000000000000" pitchFamily="2" charset="2"/>
              </a:rPr>
              <a:t> </a:t>
            </a:r>
            <a:r>
              <a:rPr lang="en-US" b="0" dirty="0">
                <a:solidFill>
                  <a:srgbClr val="C00000"/>
                </a:solidFill>
                <a:latin typeface="Whitney-Book" pitchFamily="50" charset="0"/>
                <a:cs typeface="Whitney-Book" pitchFamily="50" charset="0"/>
              </a:rPr>
              <a:t>The firm should shut down, operating does not positively contribute.</a:t>
            </a:r>
          </a:p>
        </p:txBody>
      </p:sp>
      <p:sp>
        <p:nvSpPr>
          <p:cNvPr id="39" name="Freeform 55">
            <a:extLst>
              <a:ext uri="{FF2B5EF4-FFF2-40B4-BE49-F238E27FC236}">
                <a16:creationId xmlns:a16="http://schemas.microsoft.com/office/drawing/2014/main" id="{52ECB2B4-9FCD-4959-921C-55B907501A76}"/>
              </a:ext>
            </a:extLst>
          </p:cNvPr>
          <p:cNvSpPr/>
          <p:nvPr/>
        </p:nvSpPr>
        <p:spPr>
          <a:xfrm>
            <a:off x="1658248" y="1978000"/>
            <a:ext cx="2906230" cy="2818480"/>
          </a:xfrm>
          <a:custGeom>
            <a:avLst/>
            <a:gdLst>
              <a:gd name="connsiteX0" fmla="*/ 0 w 970242"/>
              <a:gd name="connsiteY0" fmla="*/ 1026082 h 1621251"/>
              <a:gd name="connsiteX1" fmla="*/ 349008 w 970242"/>
              <a:gd name="connsiteY1" fmla="*/ 1577514 h 1621251"/>
              <a:gd name="connsiteX2" fmla="*/ 970242 w 970242"/>
              <a:gd name="connsiteY2" fmla="*/ 0 h 1621251"/>
              <a:gd name="connsiteX0" fmla="*/ 0 w 1191341"/>
              <a:gd name="connsiteY0" fmla="*/ 1313721 h 1665430"/>
              <a:gd name="connsiteX1" fmla="*/ 570107 w 1191341"/>
              <a:gd name="connsiteY1" fmla="*/ 1577514 h 1665430"/>
              <a:gd name="connsiteX2" fmla="*/ 1191341 w 1191341"/>
              <a:gd name="connsiteY2" fmla="*/ 0 h 1665430"/>
              <a:gd name="connsiteX0" fmla="*/ 0 w 1210850"/>
              <a:gd name="connsiteY0" fmla="*/ 1428777 h 1780486"/>
              <a:gd name="connsiteX1" fmla="*/ 570107 w 1210850"/>
              <a:gd name="connsiteY1" fmla="*/ 1692570 h 1780486"/>
              <a:gd name="connsiteX2" fmla="*/ 1210850 w 1210850"/>
              <a:gd name="connsiteY2" fmla="*/ 0 h 1780486"/>
              <a:gd name="connsiteX0" fmla="*/ 0 w 1334405"/>
              <a:gd name="connsiteY0" fmla="*/ 1400013 h 1773258"/>
              <a:gd name="connsiteX1" fmla="*/ 693662 w 1334405"/>
              <a:gd name="connsiteY1" fmla="*/ 1692570 h 1773258"/>
              <a:gd name="connsiteX2" fmla="*/ 1334405 w 1334405"/>
              <a:gd name="connsiteY2" fmla="*/ 0 h 1773258"/>
              <a:gd name="connsiteX0" fmla="*/ 0 w 1178335"/>
              <a:gd name="connsiteY0" fmla="*/ 1400013 h 1773258"/>
              <a:gd name="connsiteX1" fmla="*/ 693662 w 1178335"/>
              <a:gd name="connsiteY1" fmla="*/ 1692570 h 1773258"/>
              <a:gd name="connsiteX2" fmla="*/ 1178335 w 1178335"/>
              <a:gd name="connsiteY2" fmla="*/ 0 h 1773258"/>
              <a:gd name="connsiteX0" fmla="*/ 0 w 1178335"/>
              <a:gd name="connsiteY0" fmla="*/ 1400013 h 1773258"/>
              <a:gd name="connsiteX1" fmla="*/ 693662 w 1178335"/>
              <a:gd name="connsiteY1" fmla="*/ 1692570 h 1773258"/>
              <a:gd name="connsiteX2" fmla="*/ 1178335 w 1178335"/>
              <a:gd name="connsiteY2" fmla="*/ 0 h 1773258"/>
              <a:gd name="connsiteX0" fmla="*/ 0 w 1178335"/>
              <a:gd name="connsiteY0" fmla="*/ 1400013 h 1773258"/>
              <a:gd name="connsiteX1" fmla="*/ 693662 w 1178335"/>
              <a:gd name="connsiteY1" fmla="*/ 1692570 h 1773258"/>
              <a:gd name="connsiteX2" fmla="*/ 1178335 w 1178335"/>
              <a:gd name="connsiteY2" fmla="*/ 0 h 1773258"/>
              <a:gd name="connsiteX0" fmla="*/ 0 w 1302093"/>
              <a:gd name="connsiteY0" fmla="*/ 1645406 h 1870155"/>
              <a:gd name="connsiteX1" fmla="*/ 817420 w 1302093"/>
              <a:gd name="connsiteY1" fmla="*/ 1692570 h 1870155"/>
              <a:gd name="connsiteX2" fmla="*/ 1302093 w 1302093"/>
              <a:gd name="connsiteY2" fmla="*/ 0 h 1870155"/>
              <a:gd name="connsiteX0" fmla="*/ 0 w 1302093"/>
              <a:gd name="connsiteY0" fmla="*/ 1645406 h 1867442"/>
              <a:gd name="connsiteX1" fmla="*/ 804617 w 1302093"/>
              <a:gd name="connsiteY1" fmla="*/ 1686278 h 1867442"/>
              <a:gd name="connsiteX2" fmla="*/ 1302093 w 1302093"/>
              <a:gd name="connsiteY2" fmla="*/ 0 h 1867442"/>
              <a:gd name="connsiteX0" fmla="*/ 0 w 1302093"/>
              <a:gd name="connsiteY0" fmla="*/ 1645406 h 1859603"/>
              <a:gd name="connsiteX1" fmla="*/ 787547 w 1302093"/>
              <a:gd name="connsiteY1" fmla="*/ 1667402 h 1859603"/>
              <a:gd name="connsiteX2" fmla="*/ 1302093 w 1302093"/>
              <a:gd name="connsiteY2" fmla="*/ 0 h 1859603"/>
              <a:gd name="connsiteX0" fmla="*/ 0 w 1302093"/>
              <a:gd name="connsiteY0" fmla="*/ 1645406 h 1855846"/>
              <a:gd name="connsiteX1" fmla="*/ 785414 w 1302093"/>
              <a:gd name="connsiteY1" fmla="*/ 1657963 h 1855846"/>
              <a:gd name="connsiteX2" fmla="*/ 1302093 w 1302093"/>
              <a:gd name="connsiteY2" fmla="*/ 0 h 1855846"/>
              <a:gd name="connsiteX0" fmla="*/ 0 w 1302093"/>
              <a:gd name="connsiteY0" fmla="*/ 1645406 h 1855846"/>
              <a:gd name="connsiteX1" fmla="*/ 785414 w 1302093"/>
              <a:gd name="connsiteY1" fmla="*/ 1657963 h 1855846"/>
              <a:gd name="connsiteX2" fmla="*/ 1302093 w 1302093"/>
              <a:gd name="connsiteY2" fmla="*/ 0 h 1855846"/>
              <a:gd name="connsiteX0" fmla="*/ 0 w 1302093"/>
              <a:gd name="connsiteY0" fmla="*/ 1645406 h 1861857"/>
              <a:gd name="connsiteX1" fmla="*/ 785414 w 1302093"/>
              <a:gd name="connsiteY1" fmla="*/ 1657963 h 1861857"/>
              <a:gd name="connsiteX2" fmla="*/ 1302093 w 1302093"/>
              <a:gd name="connsiteY2" fmla="*/ 0 h 1861857"/>
            </a:gdLst>
            <a:ahLst/>
            <a:cxnLst>
              <a:cxn ang="0">
                <a:pos x="connsiteX0" y="connsiteY0"/>
              </a:cxn>
              <a:cxn ang="0">
                <a:pos x="connsiteX1" y="connsiteY1"/>
              </a:cxn>
              <a:cxn ang="0">
                <a:pos x="connsiteX2" y="connsiteY2"/>
              </a:cxn>
            </a:cxnLst>
            <a:rect l="l" t="t" r="r" b="b"/>
            <a:pathLst>
              <a:path w="1302093" h="1861857">
                <a:moveTo>
                  <a:pt x="0" y="1645406"/>
                </a:moveTo>
                <a:cubicBezTo>
                  <a:pt x="93650" y="2006629"/>
                  <a:pt x="651446" y="1847854"/>
                  <a:pt x="785414" y="1657963"/>
                </a:cubicBezTo>
                <a:cubicBezTo>
                  <a:pt x="947121" y="1486949"/>
                  <a:pt x="1195885" y="712838"/>
                  <a:pt x="1302093" y="0"/>
                </a:cubicBezTo>
              </a:path>
            </a:pathLst>
          </a:custGeom>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dirty="0">
              <a:latin typeface="Whitney Book" pitchFamily="50" charset="0"/>
              <a:cs typeface="Whitney Book" pitchFamily="50" charset="0"/>
            </a:endParaRPr>
          </a:p>
        </p:txBody>
      </p:sp>
      <p:sp>
        <p:nvSpPr>
          <p:cNvPr id="40" name="Rectangle 17">
            <a:extLst>
              <a:ext uri="{FF2B5EF4-FFF2-40B4-BE49-F238E27FC236}">
                <a16:creationId xmlns:a16="http://schemas.microsoft.com/office/drawing/2014/main" id="{53388DB7-9C07-49F9-AE09-D2BA3EA5E21E}"/>
              </a:ext>
            </a:extLst>
          </p:cNvPr>
          <p:cNvSpPr>
            <a:spLocks noChangeArrowheads="1"/>
          </p:cNvSpPr>
          <p:nvPr/>
        </p:nvSpPr>
        <p:spPr bwMode="auto">
          <a:xfrm>
            <a:off x="4331406" y="1343764"/>
            <a:ext cx="1122332"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solidFill>
                  <a:schemeClr val="accent6">
                    <a:lumMod val="75000"/>
                  </a:schemeClr>
                </a:solidFill>
                <a:latin typeface="Whitney Book" pitchFamily="50" charset="0"/>
                <a:cs typeface="Whitney Book" pitchFamily="50" charset="0"/>
              </a:rPr>
              <a:t>MC</a:t>
            </a:r>
          </a:p>
        </p:txBody>
      </p:sp>
    </p:spTree>
    <p:extLst>
      <p:ext uri="{BB962C8B-B14F-4D97-AF65-F5344CB8AC3E}">
        <p14:creationId xmlns:p14="http://schemas.microsoft.com/office/powerpoint/2010/main" val="120196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23" grpId="0"/>
      <p:bldP spid="24" grpId="0"/>
      <p:bldP spid="25" grpId="0"/>
      <p:bldP spid="29" grpId="0"/>
      <p:bldP spid="32" grpId="0"/>
      <p:bldP spid="38" grpId="0" animBg="1"/>
      <p:bldP spid="39" grpId="0" animBg="1"/>
      <p:bldP spid="4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Coffee bean producer </a:t>
            </a:r>
          </a:p>
        </p:txBody>
      </p:sp>
      <p:sp>
        <p:nvSpPr>
          <p:cNvPr id="3" name="Content Placeholder 2"/>
          <p:cNvSpPr>
            <a:spLocks noGrp="1"/>
          </p:cNvSpPr>
          <p:nvPr>
            <p:ph type="body" idx="1"/>
          </p:nvPr>
        </p:nvSpPr>
        <p:spPr/>
        <p:txBody>
          <a:bodyPr>
            <a:normAutofit/>
          </a:bodyPr>
          <a:lstStyle/>
          <a:p>
            <a:r>
              <a:rPr lang="en-US" dirty="0"/>
              <a:t>Your firm is a price taker in the coffee bean market. </a:t>
            </a:r>
          </a:p>
          <a:p>
            <a:endParaRPr lang="en-US" sz="1200" dirty="0"/>
          </a:p>
          <a:p>
            <a:r>
              <a:rPr lang="en-US" dirty="0"/>
              <a:t>You have recently </a:t>
            </a:r>
            <a:r>
              <a:rPr lang="en-US" u="sng" dirty="0"/>
              <a:t>optimized</a:t>
            </a:r>
            <a:r>
              <a:rPr lang="en-US" dirty="0"/>
              <a:t> your output level so as to maximize profits in the short run.</a:t>
            </a:r>
          </a:p>
          <a:p>
            <a:r>
              <a:rPr lang="en-US" dirty="0"/>
              <a:t>Information:</a:t>
            </a:r>
          </a:p>
          <a:p>
            <a:pPr lvl="1"/>
            <a:r>
              <a:rPr lang="en-US" i="1" dirty="0"/>
              <a:t>AVC</a:t>
            </a:r>
            <a:r>
              <a:rPr lang="en-US" dirty="0"/>
              <a:t> = $12</a:t>
            </a:r>
          </a:p>
          <a:p>
            <a:pPr lvl="1"/>
            <a:r>
              <a:rPr lang="en-US" i="1" dirty="0"/>
              <a:t>ATC</a:t>
            </a:r>
            <a:r>
              <a:rPr lang="en-US" dirty="0"/>
              <a:t> = $15</a:t>
            </a:r>
          </a:p>
          <a:p>
            <a:pPr lvl="1"/>
            <a:r>
              <a:rPr lang="en-US" i="1" dirty="0"/>
              <a:t>MC</a:t>
            </a:r>
            <a:r>
              <a:rPr lang="en-US" dirty="0"/>
              <a:t> = $10</a:t>
            </a:r>
          </a:p>
          <a:p>
            <a:pPr lvl="1"/>
            <a:endParaRPr lang="en-US" sz="1200" dirty="0"/>
          </a:p>
          <a:p>
            <a:r>
              <a:rPr lang="fr-FR" dirty="0" err="1"/>
              <a:t>Should</a:t>
            </a:r>
            <a:r>
              <a:rPr lang="fr-FR" dirty="0"/>
              <a:t> you continue to </a:t>
            </a:r>
            <a:r>
              <a:rPr lang="fr-FR" dirty="0" err="1"/>
              <a:t>operate</a:t>
            </a:r>
            <a:r>
              <a:rPr lang="fr-FR" dirty="0"/>
              <a:t> in the short run?</a:t>
            </a:r>
            <a:endParaRPr lang="en-US" dirty="0"/>
          </a:p>
        </p:txBody>
      </p:sp>
      <p:sp>
        <p:nvSpPr>
          <p:cNvPr id="4" name="Slide Number Placeholder 3"/>
          <p:cNvSpPr>
            <a:spLocks noGrp="1"/>
          </p:cNvSpPr>
          <p:nvPr>
            <p:ph type="sldNum" sz="quarter" idx="12"/>
          </p:nvPr>
        </p:nvSpPr>
        <p:spPr/>
        <p:txBody>
          <a:bodyPr/>
          <a:lstStyle/>
          <a:p>
            <a:fld id="{DBC38028-5B1C-49D3-BF22-2CE9385E6DA2}" type="slidenum">
              <a:rPr lang="en-US" smtClean="0"/>
              <a:pPr/>
              <a:t>36</a:t>
            </a:fld>
            <a:endParaRPr lang="en-US" dirty="0"/>
          </a:p>
        </p:txBody>
      </p:sp>
      <p:pic>
        <p:nvPicPr>
          <p:cNvPr id="3074" name="Picture 2" descr="Top Coffee Producing Countries - WorldAtlas">
            <a:extLst>
              <a:ext uri="{FF2B5EF4-FFF2-40B4-BE49-F238E27FC236}">
                <a16:creationId xmlns:a16="http://schemas.microsoft.com/office/drawing/2014/main" id="{D5C2221B-2000-4FB7-928F-FCA0AD95E8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2697" y="200789"/>
            <a:ext cx="1670304" cy="1114406"/>
          </a:xfrm>
          <a:prstGeom prst="rect">
            <a:avLst/>
          </a:prstGeom>
          <a:noFill/>
          <a:extLst>
            <a:ext uri="{909E8E84-426E-40DD-AFC4-6F175D3DCCD1}">
              <a14:hiddenFill xmlns:a14="http://schemas.microsoft.com/office/drawing/2010/main">
                <a:solidFill>
                  <a:srgbClr val="FFFFFF"/>
                </a:solidFill>
              </a14:hiddenFill>
            </a:ext>
          </a:extLst>
        </p:spPr>
      </p:pic>
      <p:sp>
        <p:nvSpPr>
          <p:cNvPr id="7" name="Parallelogram 6">
            <a:extLst>
              <a:ext uri="{FF2B5EF4-FFF2-40B4-BE49-F238E27FC236}">
                <a16:creationId xmlns:a16="http://schemas.microsoft.com/office/drawing/2014/main" id="{B1576D2D-DEEC-40C6-91C0-1148D4CC6B3C}"/>
              </a:ext>
            </a:extLst>
          </p:cNvPr>
          <p:cNvSpPr/>
          <p:nvPr/>
        </p:nvSpPr>
        <p:spPr>
          <a:xfrm>
            <a:off x="6237170" y="6097419"/>
            <a:ext cx="2449629" cy="687801"/>
          </a:xfrm>
          <a:prstGeom prst="parallelogram">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50000" t="50000" r="50000" b="50000"/>
            </a:path>
            <a:tileRect/>
          </a:gradFill>
          <a:ln>
            <a:noFill/>
          </a:ln>
        </p:spPr>
        <p:style>
          <a:lnRef idx="1">
            <a:schemeClr val="accent2"/>
          </a:lnRef>
          <a:fillRef idx="3">
            <a:schemeClr val="accent2"/>
          </a:fillRef>
          <a:effectRef idx="2">
            <a:schemeClr val="accent2"/>
          </a:effectRef>
          <a:fontRef idx="minor">
            <a:schemeClr val="lt1"/>
          </a:fontRef>
        </p:style>
        <p:txBody>
          <a:bodyPr rtlCol="0" anchor="ctr"/>
          <a:lstStyle/>
          <a:p>
            <a:pPr>
              <a:defRPr/>
            </a:pPr>
            <a:r>
              <a:rPr lang="en-US" sz="3200" b="1" i="1" dirty="0">
                <a:solidFill>
                  <a:prstClr val="white"/>
                </a:solidFill>
              </a:rPr>
              <a:t>Poll Break</a:t>
            </a:r>
          </a:p>
        </p:txBody>
      </p:sp>
    </p:spTree>
    <p:custDataLst>
      <p:tags r:id="rId1"/>
    </p:custDataLst>
    <p:extLst>
      <p:ext uri="{BB962C8B-B14F-4D97-AF65-F5344CB8AC3E}">
        <p14:creationId xmlns:p14="http://schemas.microsoft.com/office/powerpoint/2010/main" val="39249603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622F2D-7FA1-4968-B636-B092A8D397BB}"/>
              </a:ext>
            </a:extLst>
          </p:cNvPr>
          <p:cNvPicPr>
            <a:picLocks/>
          </p:cNvPicPr>
          <p:nvPr>
            <p:custDataLst>
              <p:tags r:id="rId1"/>
            </p:custDataLst>
          </p:nvPr>
        </p:nvPicPr>
        <p:blipFill>
          <a:blip r:embed="rId4"/>
          <a:stretch>
            <a:fillRect/>
          </a:stretch>
        </p:blipFill>
        <p:spPr>
          <a:xfrm>
            <a:off x="190500" y="190500"/>
            <a:ext cx="8763000" cy="6477000"/>
          </a:xfrm>
          <a:prstGeom prst="rect">
            <a:avLst/>
          </a:prstGeom>
        </p:spPr>
      </p:pic>
    </p:spTree>
    <p:extLst>
      <p:ext uri="{BB962C8B-B14F-4D97-AF65-F5344CB8AC3E}">
        <p14:creationId xmlns:p14="http://schemas.microsoft.com/office/powerpoint/2010/main" val="1524962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8CB62-6950-458E-98BE-58DF46E32B91}"/>
              </a:ext>
            </a:extLst>
          </p:cNvPr>
          <p:cNvSpPr>
            <a:spLocks noGrp="1"/>
          </p:cNvSpPr>
          <p:nvPr>
            <p:ph type="title"/>
          </p:nvPr>
        </p:nvSpPr>
        <p:spPr/>
        <p:txBody>
          <a:bodyPr/>
          <a:lstStyle/>
          <a:p>
            <a:r>
              <a:rPr lang="en-US" dirty="0"/>
              <a:t>Coffee bean producer: Solution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C5DA17-84FF-4F8D-B4FB-DA614D64E8D0}"/>
                  </a:ext>
                </a:extLst>
              </p:cNvPr>
              <p:cNvSpPr>
                <a:spLocks noGrp="1"/>
              </p:cNvSpPr>
              <p:nvPr>
                <p:ph type="body" idx="1"/>
              </p:nvPr>
            </p:nvSpPr>
            <p:spPr/>
            <p:txBody>
              <a:bodyPr>
                <a:normAutofit/>
              </a:bodyPr>
              <a:lstStyle/>
              <a:p>
                <a:r>
                  <a:rPr lang="en-US" dirty="0"/>
                  <a:t>Current level of output is profit-maximizing. This implies that for a price taker, </a:t>
                </a:r>
                <a14:m>
                  <m:oMath xmlns:m="http://schemas.openxmlformats.org/officeDocument/2006/math">
                    <m:r>
                      <a:rPr lang="en-US" b="0" i="1" dirty="0" smtClean="0">
                        <a:latin typeface="Cambria Math" panose="02040503050406030204" pitchFamily="18" charset="0"/>
                      </a:rPr>
                      <m:t>𝑃</m:t>
                    </m:r>
                    <m:r>
                      <a:rPr lang="en-US" i="1" dirty="0" smtClean="0">
                        <a:latin typeface="Cambria Math" panose="02040503050406030204" pitchFamily="18" charset="0"/>
                      </a:rPr>
                      <m:t> = </m:t>
                    </m:r>
                    <m:r>
                      <a:rPr lang="en-US" i="1" dirty="0" smtClean="0">
                        <a:latin typeface="Cambria Math" panose="02040503050406030204" pitchFamily="18" charset="0"/>
                      </a:rPr>
                      <m:t>𝑀𝐶</m:t>
                    </m:r>
                  </m:oMath>
                </a14:m>
                <a:endParaRPr lang="en-US" dirty="0"/>
              </a:p>
              <a:p>
                <a:endParaRPr lang="en-US" dirty="0"/>
              </a:p>
              <a:p>
                <a:r>
                  <a:rPr lang="en-US" dirty="0"/>
                  <a:t>We know that </a:t>
                </a:r>
                <a14:m>
                  <m:oMath xmlns:m="http://schemas.openxmlformats.org/officeDocument/2006/math">
                    <m:r>
                      <a:rPr lang="en-US" i="1" dirty="0" smtClean="0">
                        <a:latin typeface="Cambria Math" panose="02040503050406030204" pitchFamily="18" charset="0"/>
                      </a:rPr>
                      <m:t>𝑀𝐶</m:t>
                    </m:r>
                    <m:r>
                      <a:rPr lang="en-US" i="1" dirty="0" smtClean="0">
                        <a:latin typeface="Cambria Math" panose="02040503050406030204" pitchFamily="18" charset="0"/>
                      </a:rPr>
                      <m:t> = 10</m:t>
                    </m:r>
                  </m:oMath>
                </a14:m>
                <a:r>
                  <a:rPr lang="en-US" dirty="0"/>
                  <a:t>, so </a:t>
                </a:r>
                <a14:m>
                  <m:oMath xmlns:m="http://schemas.openxmlformats.org/officeDocument/2006/math">
                    <m:r>
                      <a:rPr lang="en-US" b="0" i="1" dirty="0" smtClean="0">
                        <a:latin typeface="Cambria Math" panose="02040503050406030204" pitchFamily="18" charset="0"/>
                      </a:rPr>
                      <m:t>𝑃</m:t>
                    </m:r>
                    <m:r>
                      <a:rPr lang="en-US" i="1" dirty="0" smtClean="0">
                        <a:latin typeface="Cambria Math" panose="02040503050406030204" pitchFamily="18" charset="0"/>
                      </a:rPr>
                      <m:t> = 10</m:t>
                    </m:r>
                  </m:oMath>
                </a14:m>
                <a:endParaRPr lang="en-US" dirty="0"/>
              </a:p>
              <a:p>
                <a:endParaRPr lang="en-US" dirty="0"/>
              </a:p>
              <a:p>
                <a:r>
                  <a:rPr lang="en-US" dirty="0"/>
                  <a:t>Since </a:t>
                </a:r>
                <a14:m>
                  <m:oMath xmlns:m="http://schemas.openxmlformats.org/officeDocument/2006/math">
                    <m:r>
                      <a:rPr lang="en-US" i="1" dirty="0" smtClean="0">
                        <a:latin typeface="Cambria Math" panose="02040503050406030204" pitchFamily="18" charset="0"/>
                      </a:rPr>
                      <m:t>𝐴𝑉𝐶</m:t>
                    </m:r>
                    <m:r>
                      <a:rPr lang="en-US" i="1" dirty="0" smtClean="0">
                        <a:latin typeface="Cambria Math" panose="02040503050406030204" pitchFamily="18" charset="0"/>
                      </a:rPr>
                      <m:t> = 12</m:t>
                    </m:r>
                  </m:oMath>
                </a14:m>
                <a:r>
                  <a:rPr lang="en-US" dirty="0"/>
                  <a:t>, we have that </a:t>
                </a:r>
                <a14:m>
                  <m:oMath xmlns:m="http://schemas.openxmlformats.org/officeDocument/2006/math">
                    <m:r>
                      <a:rPr lang="en-US" i="1" dirty="0" smtClean="0">
                        <a:latin typeface="Cambria Math" panose="02040503050406030204" pitchFamily="18" charset="0"/>
                      </a:rPr>
                      <m:t>𝑃</m:t>
                    </m:r>
                    <m:r>
                      <a:rPr lang="en-US" i="1" dirty="0" smtClean="0">
                        <a:latin typeface="Cambria Math" panose="02040503050406030204" pitchFamily="18" charset="0"/>
                      </a:rPr>
                      <m:t>&lt;</m:t>
                    </m:r>
                    <m:r>
                      <a:rPr lang="en-US" i="1" dirty="0" smtClean="0">
                        <a:latin typeface="Cambria Math" panose="02040503050406030204" pitchFamily="18" charset="0"/>
                      </a:rPr>
                      <m:t>𝐴𝑉𝐶</m:t>
                    </m:r>
                  </m:oMath>
                </a14:m>
                <a:endParaRPr lang="en-US" dirty="0"/>
              </a:p>
              <a:p>
                <a:endParaRPr lang="en-US" dirty="0"/>
              </a:p>
              <a:p>
                <a:r>
                  <a:rPr lang="en-US" dirty="0"/>
                  <a:t>This means that you are losing money on every unit produced. You should shut down.</a:t>
                </a:r>
              </a:p>
              <a:p>
                <a:endParaRPr lang="en-US" dirty="0"/>
              </a:p>
              <a:p>
                <a:endParaRPr lang="en-US" dirty="0"/>
              </a:p>
              <a:p>
                <a:pPr marL="0" indent="0">
                  <a:buNone/>
                </a:pPr>
                <a:endParaRPr lang="en-US" dirty="0"/>
              </a:p>
              <a:p>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D1C5DA17-84FF-4F8D-B4FB-DA614D64E8D0}"/>
                  </a:ext>
                </a:extLst>
              </p:cNvPr>
              <p:cNvSpPr>
                <a:spLocks noGrp="1" noRot="1" noChangeAspect="1" noMove="1" noResize="1" noEditPoints="1" noAdjustHandles="1" noChangeArrowheads="1" noChangeShapeType="1" noTextEdit="1"/>
              </p:cNvSpPr>
              <p:nvPr>
                <p:ph idx="1"/>
              </p:nvPr>
            </p:nvSpPr>
            <p:spPr>
              <a:blipFill>
                <a:blip r:embed="rId3"/>
                <a:stretch>
                  <a:fillRect l="-1778" t="-2695" b="-202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27875A51-D2BB-4D12-A191-D6893AA86433}"/>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spTree>
    <p:extLst>
      <p:ext uri="{BB962C8B-B14F-4D97-AF65-F5344CB8AC3E}">
        <p14:creationId xmlns:p14="http://schemas.microsoft.com/office/powerpoint/2010/main" val="98234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258A2-05EC-4BB5-8B9A-7DD5BB325CF4}"/>
              </a:ext>
            </a:extLst>
          </p:cNvPr>
          <p:cNvSpPr>
            <a:spLocks noGrp="1"/>
          </p:cNvSpPr>
          <p:nvPr>
            <p:ph type="title"/>
          </p:nvPr>
        </p:nvSpPr>
        <p:spPr/>
        <p:txBody>
          <a:bodyPr>
            <a:normAutofit fontScale="90000"/>
          </a:bodyPr>
          <a:lstStyle/>
          <a:p>
            <a:r>
              <a:rPr lang="fr-FR" dirty="0" err="1"/>
              <a:t>Summary</a:t>
            </a:r>
            <a:r>
              <a:rPr lang="fr-FR" dirty="0"/>
              <a:t>: </a:t>
            </a:r>
            <a:r>
              <a:rPr lang="fr-FR" dirty="0">
                <a:solidFill>
                  <a:srgbClr val="C00000"/>
                </a:solidFill>
              </a:rPr>
              <a:t>short-</a:t>
            </a:r>
            <a:r>
              <a:rPr lang="fr-FR" dirty="0" err="1">
                <a:solidFill>
                  <a:srgbClr val="C00000"/>
                </a:solidFill>
              </a:rPr>
              <a:t>run</a:t>
            </a:r>
            <a:r>
              <a:rPr lang="fr-FR" dirty="0"/>
              <a:t> </a:t>
            </a:r>
            <a:r>
              <a:rPr lang="fr-FR" dirty="0" err="1"/>
              <a:t>decisions</a:t>
            </a:r>
            <a:r>
              <a:rPr lang="fr-FR" dirty="0"/>
              <a:t> for a </a:t>
            </a:r>
            <a:r>
              <a:rPr lang="fr-FR" dirty="0" err="1"/>
              <a:t>price</a:t>
            </a:r>
            <a:r>
              <a:rPr lang="fr-FR" dirty="0"/>
              <a:t> </a:t>
            </a:r>
            <a:r>
              <a:rPr lang="fr-FR" dirty="0" err="1"/>
              <a:t>taker</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B31726-3785-47F6-A3E6-28BDF03B203C}"/>
                  </a:ext>
                </a:extLst>
              </p:cNvPr>
              <p:cNvSpPr>
                <a:spLocks noGrp="1"/>
              </p:cNvSpPr>
              <p:nvPr>
                <p:ph type="body" idx="1"/>
              </p:nvPr>
            </p:nvSpPr>
            <p:spPr/>
            <p:txBody>
              <a:bodyPr>
                <a:normAutofit/>
              </a:bodyPr>
              <a:lstStyle/>
              <a:p>
                <a:r>
                  <a:rPr lang="fr-FR" dirty="0"/>
                  <a:t>Optimal output </a:t>
                </a:r>
                <a:r>
                  <a:rPr lang="fr-FR" dirty="0" err="1"/>
                  <a:t>level</a:t>
                </a:r>
                <a:r>
                  <a:rPr lang="fr-FR" dirty="0"/>
                  <a:t>: </a:t>
                </a:r>
                <a:r>
                  <a:rPr lang="fr-FR" i="1" dirty="0"/>
                  <a:t>Q* </a:t>
                </a:r>
                <a:r>
                  <a:rPr lang="fr-FR" dirty="0" err="1"/>
                  <a:t>where</a:t>
                </a:r>
                <a:r>
                  <a:rPr lang="fr-FR" dirty="0"/>
                  <a:t> </a:t>
                </a:r>
                <a14:m>
                  <m:oMath xmlns:m="http://schemas.openxmlformats.org/officeDocument/2006/math">
                    <m:r>
                      <a:rPr lang="fr-FR" i="1" dirty="0" smtClean="0">
                        <a:latin typeface="Cambria Math" panose="02040503050406030204" pitchFamily="18" charset="0"/>
                      </a:rPr>
                      <m:t>𝑀𝐶</m:t>
                    </m:r>
                    <m:r>
                      <a:rPr lang="fr-FR" i="1" dirty="0" smtClean="0">
                        <a:latin typeface="Cambria Math" panose="02040503050406030204" pitchFamily="18" charset="0"/>
                      </a:rPr>
                      <m:t>=</m:t>
                    </m:r>
                    <m:r>
                      <a:rPr lang="fr-FR" i="1" dirty="0" smtClean="0">
                        <a:latin typeface="Cambria Math" panose="02040503050406030204" pitchFamily="18" charset="0"/>
                      </a:rPr>
                      <m:t>𝑃</m:t>
                    </m:r>
                    <m:r>
                      <a:rPr lang="en-US" b="0" i="1" dirty="0" smtClean="0">
                        <a:latin typeface="Cambria Math" panose="02040503050406030204" pitchFamily="18" charset="0"/>
                      </a:rPr>
                      <m:t>   (</m:t>
                    </m:r>
                    <m:r>
                      <a:rPr lang="fr-FR" i="1" dirty="0">
                        <a:latin typeface="Cambria Math" panose="02040503050406030204" pitchFamily="18" charset="0"/>
                      </a:rPr>
                      <m:t>=</m:t>
                    </m:r>
                    <m:r>
                      <a:rPr lang="fr-FR" i="1" dirty="0">
                        <a:latin typeface="Cambria Math" panose="02040503050406030204" pitchFamily="18" charset="0"/>
                      </a:rPr>
                      <m:t>𝑀𝑅</m:t>
                    </m:r>
                  </m:oMath>
                </a14:m>
                <a:r>
                  <a:rPr lang="fr-FR" dirty="0"/>
                  <a:t>)</a:t>
                </a:r>
              </a:p>
              <a:p>
                <a:pPr marL="0" indent="0">
                  <a:buNone/>
                </a:pPr>
                <a:endParaRPr lang="fr-FR" sz="1200" dirty="0"/>
              </a:p>
              <a:p>
                <a:pPr marL="514350" indent="-514350">
                  <a:buFont typeface="+mj-lt"/>
                  <a:buAutoNum type="arabicPeriod"/>
                </a:pPr>
                <a:r>
                  <a:rPr lang="fr-FR" dirty="0"/>
                  <a:t>If </a:t>
                </a:r>
                <a14:m>
                  <m:oMath xmlns:m="http://schemas.openxmlformats.org/officeDocument/2006/math">
                    <m:r>
                      <a:rPr lang="fr-FR" i="1" dirty="0" smtClean="0">
                        <a:latin typeface="Cambria Math" panose="02040503050406030204" pitchFamily="18" charset="0"/>
                      </a:rPr>
                      <m:t>𝑃</m:t>
                    </m:r>
                    <m:r>
                      <a:rPr lang="en-US" i="1" dirty="0">
                        <a:latin typeface="Cambria Math" panose="02040503050406030204" pitchFamily="18" charset="0"/>
                      </a:rPr>
                      <m:t>≥</m:t>
                    </m:r>
                    <m:r>
                      <a:rPr lang="en-US" i="1" dirty="0">
                        <a:latin typeface="Cambria Math" panose="02040503050406030204" pitchFamily="18" charset="0"/>
                      </a:rPr>
                      <m:t>𝐴𝑉𝐶</m:t>
                    </m:r>
                    <m:r>
                      <a:rPr lang="en-US" i="1" dirty="0">
                        <a:latin typeface="Cambria Math" panose="02040503050406030204" pitchFamily="18" charset="0"/>
                      </a:rPr>
                      <m:t> </m:t>
                    </m:r>
                  </m:oMath>
                </a14:m>
                <a:r>
                  <a:rPr lang="en-US" dirty="0"/>
                  <a:t>at </a:t>
                </a:r>
                <a:r>
                  <a:rPr lang="fr-FR" i="1" dirty="0"/>
                  <a:t>Q* </a:t>
                </a:r>
                <a:r>
                  <a:rPr lang="en-US" dirty="0"/>
                  <a:t>: Produce</a:t>
                </a:r>
              </a:p>
              <a:p>
                <a:pPr marL="914400" lvl="1" indent="-514350"/>
                <a:r>
                  <a:rPr lang="fr-FR" dirty="0"/>
                  <a:t>Profits at </a:t>
                </a:r>
                <a:r>
                  <a:rPr lang="fr-FR" i="1" dirty="0"/>
                  <a:t>Q* </a:t>
                </a:r>
                <a:r>
                  <a:rPr lang="fr-FR" dirty="0"/>
                  <a:t>can </a:t>
                </a:r>
                <a:r>
                  <a:rPr lang="fr-FR" dirty="0" err="1"/>
                  <a:t>be</a:t>
                </a:r>
                <a:r>
                  <a:rPr lang="fr-FR" dirty="0"/>
                  <a:t> </a:t>
                </a:r>
                <a:r>
                  <a:rPr lang="fr-FR" dirty="0" err="1"/>
                  <a:t>negative</a:t>
                </a:r>
                <a:r>
                  <a:rPr lang="fr-FR" dirty="0"/>
                  <a:t> or positive</a:t>
                </a:r>
              </a:p>
              <a:p>
                <a:pPr marL="1314450" lvl="2" indent="-514350"/>
                <a:r>
                  <a:rPr lang="fr-FR" sz="2600" dirty="0"/>
                  <a:t>Positive profits if </a:t>
                </a:r>
                <a14:m>
                  <m:oMath xmlns:m="http://schemas.openxmlformats.org/officeDocument/2006/math">
                    <m:r>
                      <a:rPr lang="fr-FR" sz="2600" i="1" dirty="0" smtClean="0">
                        <a:latin typeface="Cambria Math" panose="02040503050406030204" pitchFamily="18" charset="0"/>
                      </a:rPr>
                      <m:t>𝑃</m:t>
                    </m:r>
                    <m:r>
                      <a:rPr lang="en-US" sz="2600" i="1" dirty="0" smtClean="0">
                        <a:latin typeface="Cambria Math" panose="02040503050406030204" pitchFamily="18" charset="0"/>
                      </a:rPr>
                      <m:t>≥</m:t>
                    </m:r>
                    <m:r>
                      <a:rPr lang="en-US" sz="2600" i="1" dirty="0">
                        <a:latin typeface="Cambria Math" panose="02040503050406030204" pitchFamily="18" charset="0"/>
                      </a:rPr>
                      <m:t>𝐴𝑇𝐶</m:t>
                    </m:r>
                  </m:oMath>
                </a14:m>
                <a:endParaRPr lang="en-US" sz="2600" dirty="0"/>
              </a:p>
              <a:p>
                <a:pPr marL="1314450" lvl="2" indent="-514350"/>
                <a:r>
                  <a:rPr lang="fr-FR" sz="2600" dirty="0" err="1"/>
                  <a:t>Negative</a:t>
                </a:r>
                <a:r>
                  <a:rPr lang="fr-FR" sz="2600" dirty="0"/>
                  <a:t> profits if </a:t>
                </a:r>
                <a14:m>
                  <m:oMath xmlns:m="http://schemas.openxmlformats.org/officeDocument/2006/math">
                    <m:r>
                      <a:rPr lang="fr-FR" sz="2600" i="1" dirty="0" smtClean="0">
                        <a:latin typeface="Cambria Math" panose="02040503050406030204" pitchFamily="18" charset="0"/>
                      </a:rPr>
                      <m:t>𝑃</m:t>
                    </m:r>
                    <m:r>
                      <a:rPr lang="fr-FR" sz="2600" i="1" dirty="0" smtClean="0">
                        <a:latin typeface="Cambria Math" panose="02040503050406030204" pitchFamily="18" charset="0"/>
                      </a:rPr>
                      <m:t>&lt;</m:t>
                    </m:r>
                    <m:r>
                      <a:rPr lang="fr-FR" sz="2600" i="1" dirty="0" smtClean="0">
                        <a:latin typeface="Cambria Math" panose="02040503050406030204" pitchFamily="18" charset="0"/>
                      </a:rPr>
                      <m:t>𝐴𝑇𝐶</m:t>
                    </m:r>
                  </m:oMath>
                </a14:m>
                <a:endParaRPr lang="fr-FR" sz="2600" dirty="0"/>
              </a:p>
              <a:p>
                <a:pPr marL="800100" lvl="2" indent="0">
                  <a:buNone/>
                </a:pPr>
                <a:endParaRPr lang="en-US" sz="1200" dirty="0"/>
              </a:p>
              <a:p>
                <a:pPr marL="514350" indent="-514350">
                  <a:buFont typeface="+mj-lt"/>
                  <a:buAutoNum type="arabicPeriod"/>
                </a:pPr>
                <a:r>
                  <a:rPr lang="en-US" dirty="0"/>
                  <a:t>If </a:t>
                </a:r>
                <a14:m>
                  <m:oMath xmlns:m="http://schemas.openxmlformats.org/officeDocument/2006/math">
                    <m:r>
                      <a:rPr lang="fr-FR" i="1" dirty="0" smtClean="0">
                        <a:latin typeface="Cambria Math" panose="02040503050406030204" pitchFamily="18" charset="0"/>
                      </a:rPr>
                      <m:t>𝑃</m:t>
                    </m:r>
                    <m:r>
                      <a:rPr lang="fr-FR" i="1" dirty="0" smtClean="0">
                        <a:latin typeface="Cambria Math" panose="02040503050406030204" pitchFamily="18" charset="0"/>
                      </a:rPr>
                      <m:t>&lt;</m:t>
                    </m:r>
                    <m:r>
                      <a:rPr lang="fr-FR" i="1" dirty="0" smtClean="0">
                        <a:latin typeface="Cambria Math" panose="02040503050406030204" pitchFamily="18" charset="0"/>
                      </a:rPr>
                      <m:t>𝐴𝑉𝐶</m:t>
                    </m:r>
                    <m:r>
                      <a:rPr lang="fr-FR" i="1" dirty="0" smtClean="0">
                        <a:latin typeface="Cambria Math" panose="02040503050406030204" pitchFamily="18" charset="0"/>
                      </a:rPr>
                      <m:t> </m:t>
                    </m:r>
                  </m:oMath>
                </a14:m>
                <a:r>
                  <a:rPr lang="fr-FR" dirty="0"/>
                  <a:t>at </a:t>
                </a:r>
                <a:r>
                  <a:rPr lang="fr-FR" i="1" dirty="0"/>
                  <a:t>Q* </a:t>
                </a:r>
                <a:r>
                  <a:rPr lang="fr-FR" dirty="0"/>
                  <a:t>: Stop </a:t>
                </a:r>
                <a:r>
                  <a:rPr lang="fr-FR" dirty="0" err="1"/>
                  <a:t>producing</a:t>
                </a:r>
                <a:endParaRPr lang="fr-FR" dirty="0"/>
              </a:p>
              <a:p>
                <a:pPr marL="914400" lvl="1" indent="-514350"/>
                <a:r>
                  <a:rPr lang="fr-FR" dirty="0" err="1"/>
                  <a:t>Loss</a:t>
                </a:r>
                <a:r>
                  <a:rPr lang="fr-FR" dirty="0"/>
                  <a:t> = </a:t>
                </a:r>
                <a:r>
                  <a:rPr lang="fr-FR" i="1" dirty="0"/>
                  <a:t>TFC</a:t>
                </a:r>
              </a:p>
              <a:p>
                <a:pPr marL="914400" lvl="1" indent="-514350"/>
                <a:r>
                  <a:rPr lang="en-US" dirty="0"/>
                  <a:t>If you continued to produce, your loss would be </a:t>
                </a:r>
                <a:r>
                  <a:rPr lang="en-US" u="sng" dirty="0"/>
                  <a:t>higher</a:t>
                </a:r>
                <a:r>
                  <a:rPr lang="en-US" dirty="0"/>
                  <a:t> than </a:t>
                </a:r>
                <a:r>
                  <a:rPr lang="en-US" i="1" dirty="0"/>
                  <a:t>TFC</a:t>
                </a:r>
              </a:p>
              <a:p>
                <a:pPr marL="914400" lvl="1" indent="-514350">
                  <a:buFont typeface="+mj-lt"/>
                  <a:buAutoNum type="arabicPeriod"/>
                </a:pPr>
                <a:endParaRPr lang="fr-FR" dirty="0"/>
              </a:p>
              <a:p>
                <a:pPr marL="514350" indent="-514350">
                  <a:buFont typeface="+mj-lt"/>
                  <a:buAutoNum type="arabicPeriod"/>
                </a:pPr>
                <a:endParaRPr lang="fr-FR" sz="1400" dirty="0"/>
              </a:p>
            </p:txBody>
          </p:sp>
        </mc:Choice>
        <mc:Fallback xmlns="">
          <p:sp>
            <p:nvSpPr>
              <p:cNvPr id="3" name="Content Placeholder 2">
                <a:extLst>
                  <a:ext uri="{FF2B5EF4-FFF2-40B4-BE49-F238E27FC236}">
                    <a16:creationId xmlns:a16="http://schemas.microsoft.com/office/drawing/2014/main" id="{A7B31726-3785-47F6-A3E6-28BDF03B203C}"/>
                  </a:ext>
                </a:extLst>
              </p:cNvPr>
              <p:cNvSpPr>
                <a:spLocks noGrp="1" noRot="1" noChangeAspect="1" noMove="1" noResize="1" noEditPoints="1" noAdjustHandles="1" noChangeArrowheads="1" noChangeShapeType="1" noTextEdit="1"/>
              </p:cNvSpPr>
              <p:nvPr>
                <p:ph idx="1"/>
              </p:nvPr>
            </p:nvSpPr>
            <p:spPr>
              <a:xfrm>
                <a:off x="457200" y="1419985"/>
                <a:ext cx="8229600" cy="5140206"/>
              </a:xfrm>
              <a:blipFill>
                <a:blip r:embed="rId2"/>
                <a:stretch>
                  <a:fillRect l="-1778" t="-2372"/>
                </a:stretch>
              </a:blipFill>
            </p:spPr>
            <p:txBody>
              <a:bodyPr/>
              <a:lstStyle/>
              <a:p>
                <a:r>
                  <a:rPr lang="en-US">
                    <a:noFill/>
                  </a:rPr>
                  <a:t> </a:t>
                </a:r>
              </a:p>
            </p:txBody>
          </p:sp>
        </mc:Fallback>
      </mc:AlternateContent>
    </p:spTree>
    <p:extLst>
      <p:ext uri="{BB962C8B-B14F-4D97-AF65-F5344CB8AC3E}">
        <p14:creationId xmlns:p14="http://schemas.microsoft.com/office/powerpoint/2010/main" val="25808687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66A65-AD0C-4F6D-A6A6-72CC681D3B12}"/>
              </a:ext>
            </a:extLst>
          </p:cNvPr>
          <p:cNvSpPr>
            <a:spLocks noGrp="1"/>
          </p:cNvSpPr>
          <p:nvPr>
            <p:ph type="title"/>
          </p:nvPr>
        </p:nvSpPr>
        <p:spPr/>
        <p:txBody>
          <a:bodyPr/>
          <a:lstStyle/>
          <a:p>
            <a:r>
              <a:rPr lang="fr-FR" dirty="0" err="1"/>
              <a:t>Outline</a:t>
            </a:r>
            <a:r>
              <a:rPr lang="fr-FR" dirty="0"/>
              <a:t> of module 4</a:t>
            </a:r>
            <a:endParaRPr lang="en-US" dirty="0"/>
          </a:p>
        </p:txBody>
      </p:sp>
      <p:sp>
        <p:nvSpPr>
          <p:cNvPr id="4" name="Text Placeholder 3">
            <a:extLst>
              <a:ext uri="{FF2B5EF4-FFF2-40B4-BE49-F238E27FC236}">
                <a16:creationId xmlns:a16="http://schemas.microsoft.com/office/drawing/2014/main" id="{40C37859-FDAA-4D23-8106-0F04144307D7}"/>
              </a:ext>
            </a:extLst>
          </p:cNvPr>
          <p:cNvSpPr>
            <a:spLocks noGrp="1"/>
          </p:cNvSpPr>
          <p:nvPr>
            <p:ph type="body" idx="1"/>
          </p:nvPr>
        </p:nvSpPr>
        <p:spPr/>
        <p:txBody>
          <a:bodyPr/>
          <a:lstStyle/>
          <a:p>
            <a:r>
              <a:rPr lang="en-US" b="1" dirty="0"/>
              <a:t>Perfect competition</a:t>
            </a:r>
          </a:p>
          <a:p>
            <a:pPr lvl="1"/>
            <a:r>
              <a:rPr lang="en-US" dirty="0">
                <a:solidFill>
                  <a:schemeClr val="bg1">
                    <a:lumMod val="50000"/>
                  </a:schemeClr>
                </a:solidFill>
              </a:rPr>
              <a:t>Profit maximization of a price taker in the short run</a:t>
            </a:r>
          </a:p>
          <a:p>
            <a:pPr lvl="1"/>
            <a:r>
              <a:rPr lang="en-US" b="1" dirty="0"/>
              <a:t>Firm-level and market supply</a:t>
            </a:r>
          </a:p>
          <a:p>
            <a:pPr lvl="1"/>
            <a:r>
              <a:rPr lang="en-US" dirty="0">
                <a:solidFill>
                  <a:schemeClr val="bg1">
                    <a:lumMod val="50000"/>
                  </a:schemeClr>
                </a:solidFill>
              </a:rPr>
              <a:t>Long-run competitive equilibrium</a:t>
            </a:r>
          </a:p>
          <a:p>
            <a:pPr lvl="1"/>
            <a:endParaRPr lang="en-US" sz="2000" dirty="0"/>
          </a:p>
          <a:p>
            <a:r>
              <a:rPr lang="en-US" dirty="0">
                <a:solidFill>
                  <a:schemeClr val="bg1">
                    <a:lumMod val="50000"/>
                  </a:schemeClr>
                </a:solidFill>
              </a:rPr>
              <a:t>Market distortions/regulations</a:t>
            </a:r>
          </a:p>
          <a:p>
            <a:endParaRPr lang="en-US" sz="2000" dirty="0">
              <a:solidFill>
                <a:schemeClr val="bg1">
                  <a:lumMod val="50000"/>
                </a:schemeClr>
              </a:solidFill>
            </a:endParaRPr>
          </a:p>
          <a:p>
            <a:r>
              <a:rPr lang="en-US" dirty="0">
                <a:solidFill>
                  <a:schemeClr val="bg1">
                    <a:lumMod val="50000"/>
                  </a:schemeClr>
                </a:solidFill>
              </a:rPr>
              <a:t>Externalities</a:t>
            </a:r>
          </a:p>
          <a:p>
            <a:endParaRPr lang="en-US" dirty="0"/>
          </a:p>
        </p:txBody>
      </p:sp>
    </p:spTree>
    <p:extLst>
      <p:ext uri="{BB962C8B-B14F-4D97-AF65-F5344CB8AC3E}">
        <p14:creationId xmlns:p14="http://schemas.microsoft.com/office/powerpoint/2010/main" val="2961542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noAutofit/>
          </a:bodyPr>
          <a:lstStyle/>
          <a:p>
            <a:r>
              <a:rPr lang="en-US" sz="2800" dirty="0"/>
              <a:t>Price Taker’s Short Run Supply Curve</a:t>
            </a:r>
            <a:endParaRPr lang="en-US" sz="2800" b="1" dirty="0">
              <a:latin typeface="+mn-lt"/>
            </a:endParaRPr>
          </a:p>
        </p:txBody>
      </p:sp>
      <p:sp>
        <p:nvSpPr>
          <p:cNvPr id="15" name="Slide Number Placeholder 14"/>
          <p:cNvSpPr>
            <a:spLocks noGrp="1"/>
          </p:cNvSpPr>
          <p:nvPr>
            <p:ph type="sldNum" sz="quarter" idx="12"/>
          </p:nvPr>
        </p:nvSpPr>
        <p:spPr/>
        <p:txBody>
          <a:bodyPr/>
          <a:lstStyle/>
          <a:p>
            <a:fld id="{0F3206DB-9488-D04D-BDD1-A7C9D84C4579}" type="slidenum">
              <a:rPr lang="en-US" smtClean="0"/>
              <a:t>41</a:t>
            </a:fld>
            <a:endParaRPr lang="en-US" dirty="0"/>
          </a:p>
        </p:txBody>
      </p:sp>
      <p:grpSp>
        <p:nvGrpSpPr>
          <p:cNvPr id="2" name="Group 59"/>
          <p:cNvGrpSpPr>
            <a:grpSpLocks/>
          </p:cNvGrpSpPr>
          <p:nvPr/>
        </p:nvGrpSpPr>
        <p:grpSpPr bwMode="auto">
          <a:xfrm>
            <a:off x="470926" y="2021899"/>
            <a:ext cx="4287033" cy="4182815"/>
            <a:chOff x="24" y="1280"/>
            <a:chExt cx="2738" cy="2669"/>
          </a:xfrm>
        </p:grpSpPr>
        <p:sp>
          <p:nvSpPr>
            <p:cNvPr id="48133" name="Line 5"/>
            <p:cNvSpPr>
              <a:spLocks noChangeShapeType="1"/>
            </p:cNvSpPr>
            <p:nvPr/>
          </p:nvSpPr>
          <p:spPr bwMode="auto">
            <a:xfrm>
              <a:off x="224" y="1656"/>
              <a:ext cx="0" cy="2016"/>
            </a:xfrm>
            <a:prstGeom prst="line">
              <a:avLst/>
            </a:prstGeom>
            <a:noFill/>
            <a:ln w="50800">
              <a:solidFill>
                <a:schemeClr val="tx1"/>
              </a:solidFill>
              <a:round/>
              <a:headEnd type="arrow" w="sm" len="sm"/>
              <a:tailEnd type="none" w="sm" len="sm"/>
            </a:ln>
            <a:effectLst/>
          </p:spPr>
          <p:txBody>
            <a:bodyPr wrap="none" anchor="ctr"/>
            <a:lstStyle/>
            <a:p>
              <a:endParaRPr lang="en-US" sz="2625">
                <a:latin typeface="Whitney-Book" pitchFamily="50" charset="0"/>
                <a:cs typeface="Whitney-Book" pitchFamily="50" charset="0"/>
              </a:endParaRPr>
            </a:p>
          </p:txBody>
        </p:sp>
        <p:sp>
          <p:nvSpPr>
            <p:cNvPr id="48134" name="Line 6"/>
            <p:cNvSpPr>
              <a:spLocks noChangeShapeType="1"/>
            </p:cNvSpPr>
            <p:nvPr/>
          </p:nvSpPr>
          <p:spPr bwMode="auto">
            <a:xfrm>
              <a:off x="224" y="3672"/>
              <a:ext cx="2072" cy="0"/>
            </a:xfrm>
            <a:prstGeom prst="line">
              <a:avLst/>
            </a:prstGeom>
            <a:noFill/>
            <a:ln w="50800">
              <a:solidFill>
                <a:schemeClr val="tx1"/>
              </a:solidFill>
              <a:round/>
              <a:headEnd type="none" w="sm" len="sm"/>
              <a:tailEnd type="arrow" w="sm" len="sm"/>
            </a:ln>
            <a:effectLst/>
          </p:spPr>
          <p:txBody>
            <a:bodyPr wrap="none" anchor="ctr"/>
            <a:lstStyle/>
            <a:p>
              <a:endParaRPr lang="en-US" sz="2625">
                <a:latin typeface="Whitney-Book" pitchFamily="50" charset="0"/>
                <a:cs typeface="Whitney-Book" pitchFamily="50" charset="0"/>
              </a:endParaRPr>
            </a:p>
          </p:txBody>
        </p:sp>
        <p:sp>
          <p:nvSpPr>
            <p:cNvPr id="48135" name="Rectangle 7"/>
            <p:cNvSpPr>
              <a:spLocks noChangeArrowheads="1"/>
            </p:cNvSpPr>
            <p:nvPr/>
          </p:nvSpPr>
          <p:spPr bwMode="auto">
            <a:xfrm>
              <a:off x="24" y="1280"/>
              <a:ext cx="736" cy="376"/>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dirty="0">
                  <a:latin typeface="Whitney-Book" pitchFamily="50" charset="0"/>
                  <a:cs typeface="Whitney-Book" pitchFamily="50" charset="0"/>
                </a:rPr>
                <a:t>Price</a:t>
              </a:r>
            </a:p>
          </p:txBody>
        </p:sp>
        <p:sp>
          <p:nvSpPr>
            <p:cNvPr id="48136" name="Rectangle 8"/>
            <p:cNvSpPr>
              <a:spLocks noChangeArrowheads="1"/>
            </p:cNvSpPr>
            <p:nvPr/>
          </p:nvSpPr>
          <p:spPr bwMode="auto">
            <a:xfrm>
              <a:off x="2338" y="3573"/>
              <a:ext cx="424" cy="376"/>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dirty="0">
                  <a:latin typeface="Whitney-Book" pitchFamily="50" charset="0"/>
                  <a:cs typeface="Whitney-Book" pitchFamily="50" charset="0"/>
                </a:rPr>
                <a:t>Q </a:t>
              </a:r>
            </a:p>
          </p:txBody>
        </p:sp>
      </p:grpSp>
      <p:sp>
        <p:nvSpPr>
          <p:cNvPr id="48170" name="Line 42"/>
          <p:cNvSpPr>
            <a:spLocks noChangeShapeType="1"/>
          </p:cNvSpPr>
          <p:nvPr/>
        </p:nvSpPr>
        <p:spPr bwMode="auto">
          <a:xfrm>
            <a:off x="6855442" y="4429094"/>
            <a:ext cx="0" cy="1354047"/>
          </a:xfrm>
          <a:prstGeom prst="line">
            <a:avLst/>
          </a:prstGeom>
          <a:noFill/>
          <a:ln w="12700">
            <a:noFill/>
            <a:round/>
            <a:headEnd type="none" w="sm" len="sm"/>
            <a:tailEnd type="none" w="sm" len="sm"/>
          </a:ln>
          <a:effectLst/>
        </p:spPr>
        <p:txBody>
          <a:bodyPr wrap="none" anchor="ctr"/>
          <a:lstStyle/>
          <a:p>
            <a:endParaRPr lang="en-US" sz="2625">
              <a:latin typeface="Whitney-Book" pitchFamily="50" charset="0"/>
              <a:cs typeface="Whitney-Book" pitchFamily="50" charset="0"/>
            </a:endParaRPr>
          </a:p>
        </p:txBody>
      </p:sp>
      <p:sp>
        <p:nvSpPr>
          <p:cNvPr id="48172" name="Rectangle 44"/>
          <p:cNvSpPr>
            <a:spLocks noChangeArrowheads="1"/>
          </p:cNvSpPr>
          <p:nvPr/>
        </p:nvSpPr>
        <p:spPr bwMode="auto">
          <a:xfrm>
            <a:off x="6824127" y="4284913"/>
            <a:ext cx="62630" cy="188063"/>
          </a:xfrm>
          <a:prstGeom prst="rect">
            <a:avLst/>
          </a:prstGeom>
          <a:noFill/>
          <a:ln w="9525">
            <a:noFill/>
            <a:miter lim="800000"/>
            <a:headEnd/>
            <a:tailEnd/>
          </a:ln>
          <a:effectLst/>
        </p:spPr>
        <p:txBody>
          <a:bodyPr wrap="none" lIns="18795" tIns="26627" rIns="18795" bIns="26627"/>
          <a:lstStyle/>
          <a:p>
            <a:pPr algn="ctr">
              <a:lnSpc>
                <a:spcPts val="2072"/>
              </a:lnSpc>
              <a:tabLst>
                <a:tab pos="451085" algn="l"/>
                <a:tab pos="902170" algn="l"/>
                <a:tab pos="1353255" algn="l"/>
              </a:tabLst>
            </a:pPr>
            <a:endParaRPr lang="en-US" sz="1875" dirty="0">
              <a:latin typeface="Whitney-Book" pitchFamily="50" charset="0"/>
              <a:cs typeface="Whitney-Book" pitchFamily="50" charset="0"/>
            </a:endParaRPr>
          </a:p>
        </p:txBody>
      </p:sp>
      <p:sp>
        <p:nvSpPr>
          <p:cNvPr id="48175" name="Line 47"/>
          <p:cNvSpPr>
            <a:spLocks noChangeShapeType="1"/>
          </p:cNvSpPr>
          <p:nvPr/>
        </p:nvSpPr>
        <p:spPr bwMode="auto">
          <a:xfrm>
            <a:off x="7707213" y="3827295"/>
            <a:ext cx="0" cy="1968384"/>
          </a:xfrm>
          <a:prstGeom prst="line">
            <a:avLst/>
          </a:prstGeom>
          <a:noFill/>
          <a:ln w="12700">
            <a:noFill/>
            <a:round/>
            <a:headEnd type="none" w="sm" len="sm"/>
            <a:tailEnd type="none" w="sm" len="sm"/>
          </a:ln>
          <a:effectLst/>
        </p:spPr>
        <p:txBody>
          <a:bodyPr wrap="none" anchor="ctr"/>
          <a:lstStyle/>
          <a:p>
            <a:endParaRPr lang="en-US" sz="2625">
              <a:latin typeface="Whitney-Book" pitchFamily="50" charset="0"/>
              <a:cs typeface="Whitney-Book" pitchFamily="50" charset="0"/>
            </a:endParaRPr>
          </a:p>
        </p:txBody>
      </p:sp>
      <p:sp>
        <p:nvSpPr>
          <p:cNvPr id="48177" name="Rectangle 49"/>
          <p:cNvSpPr>
            <a:spLocks noChangeArrowheads="1"/>
          </p:cNvSpPr>
          <p:nvPr/>
        </p:nvSpPr>
        <p:spPr bwMode="auto">
          <a:xfrm>
            <a:off x="7632057" y="3689382"/>
            <a:ext cx="125260" cy="188063"/>
          </a:xfrm>
          <a:prstGeom prst="rect">
            <a:avLst/>
          </a:prstGeom>
          <a:noFill/>
          <a:ln w="9525">
            <a:noFill/>
            <a:miter lim="800000"/>
            <a:headEnd/>
            <a:tailEnd/>
          </a:ln>
          <a:effectLst/>
        </p:spPr>
        <p:txBody>
          <a:bodyPr wrap="none" lIns="18795" tIns="26627" rIns="18795" bIns="26627"/>
          <a:lstStyle/>
          <a:p>
            <a:pPr algn="ctr">
              <a:lnSpc>
                <a:spcPts val="2072"/>
              </a:lnSpc>
              <a:tabLst>
                <a:tab pos="451085" algn="l"/>
                <a:tab pos="902170" algn="l"/>
                <a:tab pos="1353255" algn="l"/>
              </a:tabLst>
            </a:pPr>
            <a:endParaRPr lang="en-US" sz="1875" dirty="0">
              <a:latin typeface="Whitney-Book" pitchFamily="50" charset="0"/>
              <a:cs typeface="Whitney-Book" pitchFamily="50" charset="0"/>
            </a:endParaRPr>
          </a:p>
        </p:txBody>
      </p:sp>
      <p:sp>
        <p:nvSpPr>
          <p:cNvPr id="48180" name="Line 52"/>
          <p:cNvSpPr>
            <a:spLocks noChangeShapeType="1"/>
          </p:cNvSpPr>
          <p:nvPr/>
        </p:nvSpPr>
        <p:spPr bwMode="auto">
          <a:xfrm>
            <a:off x="8045415" y="2937135"/>
            <a:ext cx="0" cy="2795857"/>
          </a:xfrm>
          <a:prstGeom prst="line">
            <a:avLst/>
          </a:prstGeom>
          <a:noFill/>
          <a:ln w="12700">
            <a:noFill/>
            <a:round/>
            <a:headEnd type="none" w="sm" len="sm"/>
            <a:tailEnd type="none" w="sm" len="sm"/>
          </a:ln>
          <a:effectLst/>
        </p:spPr>
        <p:txBody>
          <a:bodyPr wrap="none" anchor="ctr"/>
          <a:lstStyle/>
          <a:p>
            <a:endParaRPr lang="en-US" sz="2625">
              <a:latin typeface="Whitney-Book" pitchFamily="50" charset="0"/>
              <a:cs typeface="Whitney-Book" pitchFamily="50" charset="0"/>
            </a:endParaRPr>
          </a:p>
        </p:txBody>
      </p:sp>
      <p:sp>
        <p:nvSpPr>
          <p:cNvPr id="61" name="Rectangle 22"/>
          <p:cNvSpPr>
            <a:spLocks noChangeArrowheads="1"/>
          </p:cNvSpPr>
          <p:nvPr/>
        </p:nvSpPr>
        <p:spPr bwMode="auto">
          <a:xfrm>
            <a:off x="258813" y="4923022"/>
            <a:ext cx="789140" cy="589262"/>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dirty="0">
                <a:latin typeface="Whitney-Book" pitchFamily="50" charset="0"/>
                <a:cs typeface="Whitney-Book" pitchFamily="50" charset="0"/>
              </a:rPr>
              <a:t>40</a:t>
            </a:r>
            <a:endParaRPr lang="en-US" sz="1875" baseline="-25000" dirty="0">
              <a:latin typeface="Whitney-Book" pitchFamily="50" charset="0"/>
              <a:cs typeface="Whitney-Book" pitchFamily="50" charset="0"/>
            </a:endParaRPr>
          </a:p>
        </p:txBody>
      </p:sp>
      <p:sp>
        <p:nvSpPr>
          <p:cNvPr id="62" name="Rectangle 22"/>
          <p:cNvSpPr>
            <a:spLocks noChangeArrowheads="1"/>
          </p:cNvSpPr>
          <p:nvPr/>
        </p:nvSpPr>
        <p:spPr bwMode="auto">
          <a:xfrm>
            <a:off x="130936" y="3767206"/>
            <a:ext cx="789140" cy="589262"/>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dirty="0">
                <a:latin typeface="Whitney-Book" pitchFamily="50" charset="0"/>
                <a:cs typeface="Whitney-Book" pitchFamily="50" charset="0"/>
              </a:rPr>
              <a:t>160</a:t>
            </a:r>
            <a:endParaRPr lang="en-US" sz="1875" baseline="-25000" dirty="0">
              <a:latin typeface="Whitney-Book" pitchFamily="50" charset="0"/>
              <a:cs typeface="Whitney-Book" pitchFamily="50" charset="0"/>
            </a:endParaRPr>
          </a:p>
        </p:txBody>
      </p:sp>
      <p:sp>
        <p:nvSpPr>
          <p:cNvPr id="63" name="Rectangle 22"/>
          <p:cNvSpPr>
            <a:spLocks noChangeArrowheads="1"/>
          </p:cNvSpPr>
          <p:nvPr/>
        </p:nvSpPr>
        <p:spPr bwMode="auto">
          <a:xfrm>
            <a:off x="235574" y="2707522"/>
            <a:ext cx="789140" cy="589262"/>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endParaRPr lang="en-US" sz="1875" baseline="-25000" dirty="0">
              <a:latin typeface="Whitney-Book" pitchFamily="50" charset="0"/>
              <a:cs typeface="Whitney-Book" pitchFamily="50" charset="0"/>
            </a:endParaRPr>
          </a:p>
        </p:txBody>
      </p:sp>
      <p:cxnSp>
        <p:nvCxnSpPr>
          <p:cNvPr id="64" name="Straight Connector 63">
            <a:extLst>
              <a:ext uri="{FF2B5EF4-FFF2-40B4-BE49-F238E27FC236}">
                <a16:creationId xmlns:a16="http://schemas.microsoft.com/office/drawing/2014/main" id="{87BF6381-9111-41BE-9E87-555F7EF4C309}"/>
              </a:ext>
            </a:extLst>
          </p:cNvPr>
          <p:cNvCxnSpPr>
            <a:cxnSpLocks/>
          </p:cNvCxnSpPr>
          <p:nvPr/>
        </p:nvCxnSpPr>
        <p:spPr>
          <a:xfrm flipV="1">
            <a:off x="803140" y="2788252"/>
            <a:ext cx="2962317" cy="2303879"/>
          </a:xfrm>
          <a:prstGeom prst="line">
            <a:avLst/>
          </a:prstGeom>
        </p:spPr>
        <p:style>
          <a:lnRef idx="3">
            <a:schemeClr val="accent2"/>
          </a:lnRef>
          <a:fillRef idx="0">
            <a:schemeClr val="accent2"/>
          </a:fillRef>
          <a:effectRef idx="2">
            <a:schemeClr val="accent2"/>
          </a:effectRef>
          <a:fontRef idx="minor">
            <a:schemeClr val="tx1"/>
          </a:fontRef>
        </p:style>
      </p:cxnSp>
      <p:sp>
        <p:nvSpPr>
          <p:cNvPr id="65" name="Rectangle 15">
            <a:extLst>
              <a:ext uri="{FF2B5EF4-FFF2-40B4-BE49-F238E27FC236}">
                <a16:creationId xmlns:a16="http://schemas.microsoft.com/office/drawing/2014/main" id="{FA6D0076-4265-436F-B6F2-4008F011175A}"/>
              </a:ext>
            </a:extLst>
          </p:cNvPr>
          <p:cNvSpPr>
            <a:spLocks noChangeArrowheads="1"/>
          </p:cNvSpPr>
          <p:nvPr/>
        </p:nvSpPr>
        <p:spPr bwMode="auto">
          <a:xfrm>
            <a:off x="3862272" y="2345400"/>
            <a:ext cx="939452" cy="589262"/>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dirty="0">
                <a:latin typeface="Whitney-Book" pitchFamily="50" charset="0"/>
                <a:cs typeface="Whitney-Book" pitchFamily="50" charset="0"/>
              </a:rPr>
              <a:t>MC</a:t>
            </a:r>
          </a:p>
        </p:txBody>
      </p:sp>
      <p:cxnSp>
        <p:nvCxnSpPr>
          <p:cNvPr id="66" name="Straight Connector 65">
            <a:extLst>
              <a:ext uri="{FF2B5EF4-FFF2-40B4-BE49-F238E27FC236}">
                <a16:creationId xmlns:a16="http://schemas.microsoft.com/office/drawing/2014/main" id="{4FB0E808-6CD7-4AF1-8711-E07E05E56677}"/>
              </a:ext>
            </a:extLst>
          </p:cNvPr>
          <p:cNvCxnSpPr>
            <a:cxnSpLocks/>
          </p:cNvCxnSpPr>
          <p:nvPr/>
        </p:nvCxnSpPr>
        <p:spPr>
          <a:xfrm flipV="1">
            <a:off x="781977" y="3799634"/>
            <a:ext cx="3681548" cy="1343718"/>
          </a:xfrm>
          <a:prstGeom prst="line">
            <a:avLst/>
          </a:prstGeom>
        </p:spPr>
        <p:style>
          <a:lnRef idx="3">
            <a:schemeClr val="accent3"/>
          </a:lnRef>
          <a:fillRef idx="0">
            <a:schemeClr val="accent3"/>
          </a:fillRef>
          <a:effectRef idx="2">
            <a:schemeClr val="accent3"/>
          </a:effectRef>
          <a:fontRef idx="minor">
            <a:schemeClr val="tx1"/>
          </a:fontRef>
        </p:style>
      </p:cxnSp>
      <p:sp>
        <p:nvSpPr>
          <p:cNvPr id="67" name="Rectangle 15">
            <a:extLst>
              <a:ext uri="{FF2B5EF4-FFF2-40B4-BE49-F238E27FC236}">
                <a16:creationId xmlns:a16="http://schemas.microsoft.com/office/drawing/2014/main" id="{5EB73D64-5820-4C11-9F8A-F43A01251305}"/>
              </a:ext>
            </a:extLst>
          </p:cNvPr>
          <p:cNvSpPr>
            <a:spLocks noChangeArrowheads="1"/>
          </p:cNvSpPr>
          <p:nvPr/>
        </p:nvSpPr>
        <p:spPr bwMode="auto">
          <a:xfrm>
            <a:off x="4243769" y="3227064"/>
            <a:ext cx="939452" cy="589262"/>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dirty="0">
                <a:latin typeface="Whitney-Book" pitchFamily="50" charset="0"/>
                <a:cs typeface="Whitney-Book" pitchFamily="50" charset="0"/>
              </a:rPr>
              <a:t>AVC</a:t>
            </a:r>
          </a:p>
        </p:txBody>
      </p:sp>
      <p:cxnSp>
        <p:nvCxnSpPr>
          <p:cNvPr id="74" name="Straight Connector 73">
            <a:extLst>
              <a:ext uri="{FF2B5EF4-FFF2-40B4-BE49-F238E27FC236}">
                <a16:creationId xmlns:a16="http://schemas.microsoft.com/office/drawing/2014/main" id="{952F8967-9B45-4984-BDF2-A1D3E5956D1D}"/>
              </a:ext>
            </a:extLst>
          </p:cNvPr>
          <p:cNvCxnSpPr>
            <a:cxnSpLocks/>
          </p:cNvCxnSpPr>
          <p:nvPr/>
        </p:nvCxnSpPr>
        <p:spPr>
          <a:xfrm flipV="1">
            <a:off x="5181942" y="2788252"/>
            <a:ext cx="2962317" cy="2303879"/>
          </a:xfrm>
          <a:prstGeom prst="line">
            <a:avLst/>
          </a:prstGeom>
        </p:spPr>
        <p:style>
          <a:lnRef idx="3">
            <a:schemeClr val="accent2"/>
          </a:lnRef>
          <a:fillRef idx="0">
            <a:schemeClr val="accent2"/>
          </a:fillRef>
          <a:effectRef idx="2">
            <a:schemeClr val="accent2"/>
          </a:effectRef>
          <a:fontRef idx="minor">
            <a:schemeClr val="tx1"/>
          </a:fontRef>
        </p:style>
      </p:cxnSp>
      <p:grpSp>
        <p:nvGrpSpPr>
          <p:cNvPr id="69" name="Group 59">
            <a:extLst>
              <a:ext uri="{FF2B5EF4-FFF2-40B4-BE49-F238E27FC236}">
                <a16:creationId xmlns:a16="http://schemas.microsoft.com/office/drawing/2014/main" id="{DD523EED-5299-42A9-A10C-F59BFCF4E7F1}"/>
              </a:ext>
            </a:extLst>
          </p:cNvPr>
          <p:cNvGrpSpPr>
            <a:grpSpLocks/>
          </p:cNvGrpSpPr>
          <p:nvPr/>
        </p:nvGrpSpPr>
        <p:grpSpPr bwMode="auto">
          <a:xfrm>
            <a:off x="4849728" y="2021899"/>
            <a:ext cx="4287033" cy="4182815"/>
            <a:chOff x="24" y="1280"/>
            <a:chExt cx="2738" cy="2669"/>
          </a:xfrm>
        </p:grpSpPr>
        <p:sp>
          <p:nvSpPr>
            <p:cNvPr id="70" name="Line 5">
              <a:extLst>
                <a:ext uri="{FF2B5EF4-FFF2-40B4-BE49-F238E27FC236}">
                  <a16:creationId xmlns:a16="http://schemas.microsoft.com/office/drawing/2014/main" id="{47CDB171-0ED2-4DB7-B39D-488FEA797345}"/>
                </a:ext>
              </a:extLst>
            </p:cNvPr>
            <p:cNvSpPr>
              <a:spLocks noChangeShapeType="1"/>
            </p:cNvSpPr>
            <p:nvPr/>
          </p:nvSpPr>
          <p:spPr bwMode="auto">
            <a:xfrm>
              <a:off x="224" y="1656"/>
              <a:ext cx="0" cy="2016"/>
            </a:xfrm>
            <a:prstGeom prst="line">
              <a:avLst/>
            </a:prstGeom>
            <a:noFill/>
            <a:ln w="50800">
              <a:solidFill>
                <a:schemeClr val="tx1"/>
              </a:solidFill>
              <a:round/>
              <a:headEnd type="arrow" w="sm" len="sm"/>
              <a:tailEnd type="none" w="sm" len="sm"/>
            </a:ln>
            <a:effectLst/>
          </p:spPr>
          <p:txBody>
            <a:bodyPr wrap="none" anchor="ctr"/>
            <a:lstStyle/>
            <a:p>
              <a:endParaRPr lang="en-US" sz="2625">
                <a:latin typeface="Whitney-Book" pitchFamily="50" charset="0"/>
                <a:cs typeface="Whitney-Book" pitchFamily="50" charset="0"/>
              </a:endParaRPr>
            </a:p>
          </p:txBody>
        </p:sp>
        <p:sp>
          <p:nvSpPr>
            <p:cNvPr id="71" name="Line 6">
              <a:extLst>
                <a:ext uri="{FF2B5EF4-FFF2-40B4-BE49-F238E27FC236}">
                  <a16:creationId xmlns:a16="http://schemas.microsoft.com/office/drawing/2014/main" id="{F0DD5954-2235-41B0-AB0A-FEED879E7E90}"/>
                </a:ext>
              </a:extLst>
            </p:cNvPr>
            <p:cNvSpPr>
              <a:spLocks noChangeShapeType="1"/>
            </p:cNvSpPr>
            <p:nvPr/>
          </p:nvSpPr>
          <p:spPr bwMode="auto">
            <a:xfrm>
              <a:off x="224" y="3672"/>
              <a:ext cx="2072" cy="0"/>
            </a:xfrm>
            <a:prstGeom prst="line">
              <a:avLst/>
            </a:prstGeom>
            <a:noFill/>
            <a:ln w="50800">
              <a:solidFill>
                <a:schemeClr val="tx1"/>
              </a:solidFill>
              <a:round/>
              <a:headEnd type="none" w="sm" len="sm"/>
              <a:tailEnd type="arrow" w="sm" len="sm"/>
            </a:ln>
            <a:effectLst/>
          </p:spPr>
          <p:txBody>
            <a:bodyPr wrap="none" anchor="ctr"/>
            <a:lstStyle/>
            <a:p>
              <a:endParaRPr lang="en-US" sz="2625">
                <a:latin typeface="Whitney-Book" pitchFamily="50" charset="0"/>
                <a:cs typeface="Whitney-Book" pitchFamily="50" charset="0"/>
              </a:endParaRPr>
            </a:p>
          </p:txBody>
        </p:sp>
        <p:sp>
          <p:nvSpPr>
            <p:cNvPr id="72" name="Rectangle 7">
              <a:extLst>
                <a:ext uri="{FF2B5EF4-FFF2-40B4-BE49-F238E27FC236}">
                  <a16:creationId xmlns:a16="http://schemas.microsoft.com/office/drawing/2014/main" id="{C51E6A5B-98FD-414C-AE6B-2039B2239877}"/>
                </a:ext>
              </a:extLst>
            </p:cNvPr>
            <p:cNvSpPr>
              <a:spLocks noChangeArrowheads="1"/>
            </p:cNvSpPr>
            <p:nvPr/>
          </p:nvSpPr>
          <p:spPr bwMode="auto">
            <a:xfrm>
              <a:off x="24" y="1280"/>
              <a:ext cx="736" cy="376"/>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dirty="0">
                  <a:latin typeface="Whitney-Book" pitchFamily="50" charset="0"/>
                  <a:cs typeface="Whitney-Book" pitchFamily="50" charset="0"/>
                </a:rPr>
                <a:t>Price</a:t>
              </a:r>
            </a:p>
          </p:txBody>
        </p:sp>
        <p:sp>
          <p:nvSpPr>
            <p:cNvPr id="73" name="Rectangle 8">
              <a:extLst>
                <a:ext uri="{FF2B5EF4-FFF2-40B4-BE49-F238E27FC236}">
                  <a16:creationId xmlns:a16="http://schemas.microsoft.com/office/drawing/2014/main" id="{5EB6055B-791D-4031-A21A-F8C2F22BFA04}"/>
                </a:ext>
              </a:extLst>
            </p:cNvPr>
            <p:cNvSpPr>
              <a:spLocks noChangeArrowheads="1"/>
            </p:cNvSpPr>
            <p:nvPr/>
          </p:nvSpPr>
          <p:spPr bwMode="auto">
            <a:xfrm>
              <a:off x="2338" y="3573"/>
              <a:ext cx="424" cy="376"/>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dirty="0">
                  <a:latin typeface="Whitney-Book" pitchFamily="50" charset="0"/>
                  <a:cs typeface="Whitney-Book" pitchFamily="50" charset="0"/>
                </a:rPr>
                <a:t>Q </a:t>
              </a:r>
            </a:p>
          </p:txBody>
        </p:sp>
      </p:grpSp>
      <p:sp>
        <p:nvSpPr>
          <p:cNvPr id="75" name="Rectangle 15">
            <a:extLst>
              <a:ext uri="{FF2B5EF4-FFF2-40B4-BE49-F238E27FC236}">
                <a16:creationId xmlns:a16="http://schemas.microsoft.com/office/drawing/2014/main" id="{97A3E97B-5215-4F25-91A7-6E35EE1D8BAB}"/>
              </a:ext>
            </a:extLst>
          </p:cNvPr>
          <p:cNvSpPr>
            <a:spLocks noChangeArrowheads="1"/>
          </p:cNvSpPr>
          <p:nvPr/>
        </p:nvSpPr>
        <p:spPr bwMode="auto">
          <a:xfrm>
            <a:off x="8234522" y="2412891"/>
            <a:ext cx="939452" cy="589262"/>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dirty="0">
                <a:latin typeface="Whitney-Book" pitchFamily="50" charset="0"/>
                <a:cs typeface="Whitney-Book" pitchFamily="50" charset="0"/>
              </a:rPr>
              <a:t>S</a:t>
            </a:r>
          </a:p>
        </p:txBody>
      </p:sp>
      <p:cxnSp>
        <p:nvCxnSpPr>
          <p:cNvPr id="78" name="Straight Connector 77">
            <a:extLst>
              <a:ext uri="{FF2B5EF4-FFF2-40B4-BE49-F238E27FC236}">
                <a16:creationId xmlns:a16="http://schemas.microsoft.com/office/drawing/2014/main" id="{DAF761F5-0E4C-4F57-97C1-DDD24D4AC300}"/>
              </a:ext>
            </a:extLst>
          </p:cNvPr>
          <p:cNvCxnSpPr>
            <a:cxnSpLocks/>
          </p:cNvCxnSpPr>
          <p:nvPr/>
        </p:nvCxnSpPr>
        <p:spPr>
          <a:xfrm flipV="1">
            <a:off x="803140" y="3902020"/>
            <a:ext cx="1474708" cy="108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0" name="Straight Connector 79">
            <a:extLst>
              <a:ext uri="{FF2B5EF4-FFF2-40B4-BE49-F238E27FC236}">
                <a16:creationId xmlns:a16="http://schemas.microsoft.com/office/drawing/2014/main" id="{02B279F5-1148-45E0-A742-AE562B6170FF}"/>
              </a:ext>
            </a:extLst>
          </p:cNvPr>
          <p:cNvCxnSpPr>
            <a:cxnSpLocks/>
          </p:cNvCxnSpPr>
          <p:nvPr/>
        </p:nvCxnSpPr>
        <p:spPr>
          <a:xfrm flipV="1">
            <a:off x="795902" y="3077374"/>
            <a:ext cx="2572533" cy="15406"/>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2" name="Straight Connector 81">
            <a:extLst>
              <a:ext uri="{FF2B5EF4-FFF2-40B4-BE49-F238E27FC236}">
                <a16:creationId xmlns:a16="http://schemas.microsoft.com/office/drawing/2014/main" id="{BE72E96D-9D28-4871-9615-C4A757B36817}"/>
              </a:ext>
            </a:extLst>
          </p:cNvPr>
          <p:cNvCxnSpPr>
            <a:cxnSpLocks/>
          </p:cNvCxnSpPr>
          <p:nvPr/>
        </p:nvCxnSpPr>
        <p:spPr>
          <a:xfrm>
            <a:off x="6723295" y="3902020"/>
            <a:ext cx="0" cy="1830972"/>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5" name="Straight Connector 84">
            <a:extLst>
              <a:ext uri="{FF2B5EF4-FFF2-40B4-BE49-F238E27FC236}">
                <a16:creationId xmlns:a16="http://schemas.microsoft.com/office/drawing/2014/main" id="{E05EEF6B-E1C0-4F84-AEE2-745964E3E921}"/>
              </a:ext>
            </a:extLst>
          </p:cNvPr>
          <p:cNvCxnSpPr>
            <a:cxnSpLocks/>
          </p:cNvCxnSpPr>
          <p:nvPr/>
        </p:nvCxnSpPr>
        <p:spPr>
          <a:xfrm>
            <a:off x="7757317" y="3047071"/>
            <a:ext cx="0" cy="2723533"/>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3" name="Rectangle 22">
            <a:extLst>
              <a:ext uri="{FF2B5EF4-FFF2-40B4-BE49-F238E27FC236}">
                <a16:creationId xmlns:a16="http://schemas.microsoft.com/office/drawing/2014/main" id="{21D5E252-441A-4AFD-A708-E73BFF7742D6}"/>
              </a:ext>
            </a:extLst>
          </p:cNvPr>
          <p:cNvSpPr>
            <a:spLocks noChangeArrowheads="1"/>
          </p:cNvSpPr>
          <p:nvPr/>
        </p:nvSpPr>
        <p:spPr bwMode="auto">
          <a:xfrm>
            <a:off x="130936" y="2924440"/>
            <a:ext cx="789140" cy="589262"/>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dirty="0">
                <a:latin typeface="Whitney-Book" pitchFamily="50" charset="0"/>
                <a:cs typeface="Whitney-Book" pitchFamily="50" charset="0"/>
              </a:rPr>
              <a:t>230</a:t>
            </a:r>
            <a:endParaRPr lang="en-US" sz="1875" baseline="-25000" dirty="0">
              <a:latin typeface="Whitney-Book" pitchFamily="50" charset="0"/>
              <a:cs typeface="Whitney-Book" pitchFamily="50" charset="0"/>
            </a:endParaRPr>
          </a:p>
        </p:txBody>
      </p:sp>
      <p:sp>
        <p:nvSpPr>
          <p:cNvPr id="35" name="Rectangle 22">
            <a:extLst>
              <a:ext uri="{FF2B5EF4-FFF2-40B4-BE49-F238E27FC236}">
                <a16:creationId xmlns:a16="http://schemas.microsoft.com/office/drawing/2014/main" id="{A8115182-1B07-481B-BCB4-C647F27E4F2A}"/>
              </a:ext>
            </a:extLst>
          </p:cNvPr>
          <p:cNvSpPr>
            <a:spLocks noChangeArrowheads="1"/>
          </p:cNvSpPr>
          <p:nvPr/>
        </p:nvSpPr>
        <p:spPr bwMode="auto">
          <a:xfrm>
            <a:off x="6460872" y="5836055"/>
            <a:ext cx="789140" cy="589262"/>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dirty="0">
                <a:latin typeface="Whitney-Book" pitchFamily="50" charset="0"/>
                <a:cs typeface="Whitney-Book" pitchFamily="50" charset="0"/>
              </a:rPr>
              <a:t>300</a:t>
            </a:r>
            <a:endParaRPr lang="en-US" sz="1875" baseline="-25000" dirty="0">
              <a:latin typeface="Whitney-Book" pitchFamily="50" charset="0"/>
              <a:cs typeface="Whitney-Book" pitchFamily="50" charset="0"/>
            </a:endParaRPr>
          </a:p>
        </p:txBody>
      </p:sp>
      <p:sp>
        <p:nvSpPr>
          <p:cNvPr id="36" name="Rectangle 22">
            <a:extLst>
              <a:ext uri="{FF2B5EF4-FFF2-40B4-BE49-F238E27FC236}">
                <a16:creationId xmlns:a16="http://schemas.microsoft.com/office/drawing/2014/main" id="{1F06D6B4-C15A-4271-A415-A7428456FBED}"/>
              </a:ext>
            </a:extLst>
          </p:cNvPr>
          <p:cNvSpPr>
            <a:spLocks noChangeArrowheads="1"/>
          </p:cNvSpPr>
          <p:nvPr/>
        </p:nvSpPr>
        <p:spPr bwMode="auto">
          <a:xfrm>
            <a:off x="7470009" y="5835623"/>
            <a:ext cx="789140" cy="589262"/>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dirty="0">
                <a:latin typeface="Whitney-Book" pitchFamily="50" charset="0"/>
                <a:cs typeface="Whitney-Book" pitchFamily="50" charset="0"/>
              </a:rPr>
              <a:t>475</a:t>
            </a:r>
            <a:endParaRPr lang="en-US" sz="1875" baseline="-25000" dirty="0">
              <a:latin typeface="Whitney-Book" pitchFamily="50" charset="0"/>
              <a:cs typeface="Whitney-Book" pitchFamily="50" charset="0"/>
            </a:endParaRPr>
          </a:p>
        </p:txBody>
      </p:sp>
      <p:cxnSp>
        <p:nvCxnSpPr>
          <p:cNvPr id="39" name="Straight Connector 38">
            <a:extLst>
              <a:ext uri="{FF2B5EF4-FFF2-40B4-BE49-F238E27FC236}">
                <a16:creationId xmlns:a16="http://schemas.microsoft.com/office/drawing/2014/main" id="{63CF61D9-F8D7-43AD-AF65-8FC1BEE25C90}"/>
              </a:ext>
            </a:extLst>
          </p:cNvPr>
          <p:cNvCxnSpPr>
            <a:cxnSpLocks/>
          </p:cNvCxnSpPr>
          <p:nvPr/>
        </p:nvCxnSpPr>
        <p:spPr>
          <a:xfrm>
            <a:off x="2332878" y="3888810"/>
            <a:ext cx="0" cy="1906869"/>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2" name="Rectangle 22">
            <a:extLst>
              <a:ext uri="{FF2B5EF4-FFF2-40B4-BE49-F238E27FC236}">
                <a16:creationId xmlns:a16="http://schemas.microsoft.com/office/drawing/2014/main" id="{825CC9A5-5CF0-4FFF-A672-D6B51C900F87}"/>
              </a:ext>
            </a:extLst>
          </p:cNvPr>
          <p:cNvSpPr>
            <a:spLocks noChangeArrowheads="1"/>
          </p:cNvSpPr>
          <p:nvPr/>
        </p:nvSpPr>
        <p:spPr bwMode="auto">
          <a:xfrm>
            <a:off x="2058914" y="5829028"/>
            <a:ext cx="789140" cy="589262"/>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dirty="0">
                <a:latin typeface="Whitney-Book" pitchFamily="50" charset="0"/>
                <a:cs typeface="Whitney-Book" pitchFamily="50" charset="0"/>
              </a:rPr>
              <a:t>300</a:t>
            </a:r>
            <a:endParaRPr lang="en-US" sz="1875" baseline="-25000" dirty="0">
              <a:latin typeface="Whitney-Book" pitchFamily="50" charset="0"/>
              <a:cs typeface="Whitney-Book" pitchFamily="50" charset="0"/>
            </a:endParaRPr>
          </a:p>
        </p:txBody>
      </p:sp>
      <p:cxnSp>
        <p:nvCxnSpPr>
          <p:cNvPr id="43" name="Straight Connector 42">
            <a:extLst>
              <a:ext uri="{FF2B5EF4-FFF2-40B4-BE49-F238E27FC236}">
                <a16:creationId xmlns:a16="http://schemas.microsoft.com/office/drawing/2014/main" id="{ABE78DA8-EE92-414E-92F3-C2704D67C0F5}"/>
              </a:ext>
            </a:extLst>
          </p:cNvPr>
          <p:cNvCxnSpPr>
            <a:cxnSpLocks/>
          </p:cNvCxnSpPr>
          <p:nvPr/>
        </p:nvCxnSpPr>
        <p:spPr>
          <a:xfrm>
            <a:off x="3368435" y="3099622"/>
            <a:ext cx="0" cy="2683519"/>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4" name="Rectangle 22">
            <a:extLst>
              <a:ext uri="{FF2B5EF4-FFF2-40B4-BE49-F238E27FC236}">
                <a16:creationId xmlns:a16="http://schemas.microsoft.com/office/drawing/2014/main" id="{362C13E8-8CB9-487E-A3F0-6FB135FF0FE4}"/>
              </a:ext>
            </a:extLst>
          </p:cNvPr>
          <p:cNvSpPr>
            <a:spLocks noChangeArrowheads="1"/>
          </p:cNvSpPr>
          <p:nvPr/>
        </p:nvSpPr>
        <p:spPr bwMode="auto">
          <a:xfrm>
            <a:off x="3081127" y="5800622"/>
            <a:ext cx="789140" cy="589262"/>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dirty="0">
                <a:latin typeface="Whitney-Book" pitchFamily="50" charset="0"/>
                <a:cs typeface="Whitney-Book" pitchFamily="50" charset="0"/>
              </a:rPr>
              <a:t>475</a:t>
            </a:r>
            <a:endParaRPr lang="en-US" sz="1875" baseline="-25000" dirty="0">
              <a:latin typeface="Whitney-Book" pitchFamily="50" charset="0"/>
              <a:cs typeface="Whitney-Book" pitchFamily="50" charset="0"/>
            </a:endParaRPr>
          </a:p>
        </p:txBody>
      </p:sp>
      <p:cxnSp>
        <p:nvCxnSpPr>
          <p:cNvPr id="48" name="Straight Connector 47">
            <a:extLst>
              <a:ext uri="{FF2B5EF4-FFF2-40B4-BE49-F238E27FC236}">
                <a16:creationId xmlns:a16="http://schemas.microsoft.com/office/drawing/2014/main" id="{F768F9B1-1B61-4427-A6F3-5F2421CC5DD6}"/>
              </a:ext>
            </a:extLst>
          </p:cNvPr>
          <p:cNvCxnSpPr>
            <a:cxnSpLocks/>
          </p:cNvCxnSpPr>
          <p:nvPr/>
        </p:nvCxnSpPr>
        <p:spPr>
          <a:xfrm flipV="1">
            <a:off x="5187094" y="3898773"/>
            <a:ext cx="1474708" cy="108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9" name="Straight Connector 48">
            <a:extLst>
              <a:ext uri="{FF2B5EF4-FFF2-40B4-BE49-F238E27FC236}">
                <a16:creationId xmlns:a16="http://schemas.microsoft.com/office/drawing/2014/main" id="{FD9A6E69-0DD0-40F9-BD5C-DF7842AF59F2}"/>
              </a:ext>
            </a:extLst>
          </p:cNvPr>
          <p:cNvCxnSpPr>
            <a:cxnSpLocks/>
          </p:cNvCxnSpPr>
          <p:nvPr/>
        </p:nvCxnSpPr>
        <p:spPr>
          <a:xfrm flipV="1">
            <a:off x="5159732" y="3076481"/>
            <a:ext cx="2572533" cy="15406"/>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1" name="Rectangle 58">
            <a:extLst>
              <a:ext uri="{FF2B5EF4-FFF2-40B4-BE49-F238E27FC236}">
                <a16:creationId xmlns:a16="http://schemas.microsoft.com/office/drawing/2014/main" id="{65A1A40A-2633-4C88-8052-88B047E8EDAB}"/>
              </a:ext>
            </a:extLst>
          </p:cNvPr>
          <p:cNvSpPr>
            <a:spLocks noChangeArrowheads="1"/>
          </p:cNvSpPr>
          <p:nvPr/>
        </p:nvSpPr>
        <p:spPr bwMode="auto">
          <a:xfrm>
            <a:off x="1844507" y="1077291"/>
            <a:ext cx="5737976" cy="870311"/>
          </a:xfrm>
          <a:prstGeom prst="rect">
            <a:avLst/>
          </a:prstGeom>
          <a:noFill/>
          <a:ln w="25400">
            <a:solidFill>
              <a:srgbClr val="C00000"/>
            </a:solidFill>
            <a:miter lim="800000"/>
            <a:headEnd/>
            <a:tailEnd/>
          </a:ln>
          <a:effectLst/>
        </p:spPr>
        <p:txBody>
          <a:bodyPr wrap="none" lIns="18795" tIns="26627" rIns="18795" bIns="26627" anchor="ctr" anchorCtr="0"/>
          <a:lstStyle/>
          <a:p>
            <a:pPr algn="ctr">
              <a:lnSpc>
                <a:spcPts val="2763"/>
              </a:lnSpc>
              <a:tabLst>
                <a:tab pos="902170" algn="l"/>
                <a:tab pos="1804340" algn="l"/>
                <a:tab pos="2706510" algn="l"/>
                <a:tab pos="3608679" algn="l"/>
                <a:tab pos="4510850" algn="l"/>
                <a:tab pos="5413019" algn="l"/>
                <a:tab pos="6315189" algn="l"/>
              </a:tabLst>
            </a:pPr>
            <a:r>
              <a:rPr lang="en-US" sz="2400" dirty="0">
                <a:solidFill>
                  <a:srgbClr val="C00000"/>
                </a:solidFill>
                <a:latin typeface="Whitney-Book" pitchFamily="50" charset="0"/>
                <a:cs typeface="Whitney-Book" pitchFamily="50" charset="0"/>
              </a:rPr>
              <a:t>MC curve </a:t>
            </a:r>
            <a:r>
              <a:rPr lang="en-US" sz="2400" u="sng" dirty="0">
                <a:solidFill>
                  <a:srgbClr val="C00000"/>
                </a:solidFill>
                <a:latin typeface="Whitney-Book" pitchFamily="50" charset="0"/>
                <a:cs typeface="Whitney-Book" pitchFamily="50" charset="0"/>
              </a:rPr>
              <a:t>is</a:t>
            </a:r>
            <a:r>
              <a:rPr lang="en-US" sz="2400" dirty="0">
                <a:solidFill>
                  <a:srgbClr val="C00000"/>
                </a:solidFill>
                <a:latin typeface="Whitney-Book" pitchFamily="50" charset="0"/>
                <a:cs typeface="Whitney-Book" pitchFamily="50" charset="0"/>
              </a:rPr>
              <a:t> the firm’s short run supply curve</a:t>
            </a:r>
          </a:p>
        </p:txBody>
      </p:sp>
      <p:sp>
        <p:nvSpPr>
          <p:cNvPr id="46" name="Parallelogram 45">
            <a:extLst>
              <a:ext uri="{FF2B5EF4-FFF2-40B4-BE49-F238E27FC236}">
                <a16:creationId xmlns:a16="http://schemas.microsoft.com/office/drawing/2014/main" id="{1F37A0BA-E6D5-4048-ABE5-C2099231BBA0}"/>
              </a:ext>
            </a:extLst>
          </p:cNvPr>
          <p:cNvSpPr/>
          <p:nvPr/>
        </p:nvSpPr>
        <p:spPr>
          <a:xfrm>
            <a:off x="4883085" y="6330487"/>
            <a:ext cx="4132593" cy="454733"/>
          </a:xfrm>
          <a:prstGeom prst="parallelogram">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50000" t="50000" r="50000" b="50000"/>
            </a:path>
            <a:tileRect/>
          </a:gradFill>
          <a:ln>
            <a:noFill/>
          </a:ln>
        </p:spPr>
        <p:style>
          <a:lnRef idx="1">
            <a:schemeClr val="accent2"/>
          </a:lnRef>
          <a:fillRef idx="3">
            <a:schemeClr val="accent2"/>
          </a:fillRef>
          <a:effectRef idx="2">
            <a:schemeClr val="accent2"/>
          </a:effectRef>
          <a:fontRef idx="minor">
            <a:schemeClr val="lt1"/>
          </a:fontRef>
        </p:style>
        <p:txBody>
          <a:bodyPr rtlCol="0" anchor="ctr"/>
          <a:lstStyle/>
          <a:p>
            <a:pPr>
              <a:defRPr/>
            </a:pPr>
            <a:r>
              <a:rPr lang="en-US" sz="3200" b="1" i="1" dirty="0">
                <a:solidFill>
                  <a:prstClr val="white"/>
                </a:solidFill>
              </a:rPr>
              <a:t>Yi Family Example</a:t>
            </a:r>
          </a:p>
        </p:txBody>
      </p:sp>
    </p:spTree>
    <p:custDataLst>
      <p:tags r:id="rId1"/>
    </p:custDataLst>
    <p:extLst>
      <p:ext uri="{BB962C8B-B14F-4D97-AF65-F5344CB8AC3E}">
        <p14:creationId xmlns:p14="http://schemas.microsoft.com/office/powerpoint/2010/main" val="4177531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8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visible"/>
                                      </p:to>
                                    </p:set>
                                  </p:childTnLst>
                                </p:cTn>
                              </p:par>
                            </p:childTnLst>
                          </p:cTn>
                        </p:par>
                        <p:par>
                          <p:cTn id="61" fill="hold">
                            <p:stCondLst>
                              <p:cond delay="0"/>
                            </p:stCondLst>
                            <p:childTnLst>
                              <p:par>
                                <p:cTn id="62" presetID="4" presetClass="entr" presetSubtype="32" fill="hold" grpId="0" nodeType="afterEffect">
                                  <p:stCondLst>
                                    <p:cond delay="0"/>
                                  </p:stCondLst>
                                  <p:childTnLst>
                                    <p:set>
                                      <p:cBhvr>
                                        <p:cTn id="63" dur="1" fill="hold">
                                          <p:stCondLst>
                                            <p:cond delay="0"/>
                                          </p:stCondLst>
                                        </p:cTn>
                                        <p:tgtEl>
                                          <p:spTgt spid="51"/>
                                        </p:tgtEl>
                                        <p:attrNameLst>
                                          <p:attrName>style.visibility</p:attrName>
                                        </p:attrNameLst>
                                      </p:cBhvr>
                                      <p:to>
                                        <p:strVal val="visible"/>
                                      </p:to>
                                    </p:set>
                                    <p:animEffect transition="in" filter="box(out)">
                                      <p:cBhvr>
                                        <p:cTn id="64"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2" grpId="0"/>
      <p:bldP spid="65" grpId="0"/>
      <p:bldP spid="67" grpId="0"/>
      <p:bldP spid="75" grpId="0"/>
      <p:bldP spid="33" grpId="0"/>
      <p:bldP spid="35" grpId="0"/>
      <p:bldP spid="36" grpId="0"/>
      <p:bldP spid="42" grpId="0"/>
      <p:bldP spid="44" grpId="0"/>
      <p:bldP spid="51" grpId="0" animBg="1"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normAutofit fontScale="90000"/>
          </a:bodyPr>
          <a:lstStyle/>
          <a:p>
            <a:pPr algn="ctr"/>
            <a:r>
              <a:rPr lang="en-US" sz="2800" dirty="0">
                <a:latin typeface="Whitney-Medium" pitchFamily="50" charset="0"/>
                <a:cs typeface="Whitney-Medium" pitchFamily="50" charset="0"/>
              </a:rPr>
              <a:t>The Effect Of Changing Marginal Costs on a Price Taker’s Supply</a:t>
            </a:r>
          </a:p>
        </p:txBody>
      </p:sp>
      <p:sp>
        <p:nvSpPr>
          <p:cNvPr id="26" name="Slide Number Placeholder 25"/>
          <p:cNvSpPr>
            <a:spLocks noGrp="1"/>
          </p:cNvSpPr>
          <p:nvPr>
            <p:ph type="sldNum" sz="quarter" idx="12"/>
          </p:nvPr>
        </p:nvSpPr>
        <p:spPr/>
        <p:txBody>
          <a:bodyPr/>
          <a:lstStyle/>
          <a:p>
            <a:fld id="{DBC38028-5B1C-49D3-BF22-2CE9385E6DA2}" type="slidenum">
              <a:rPr lang="en-US" smtClean="0">
                <a:latin typeface="Whitney Book" pitchFamily="50" charset="0"/>
                <a:cs typeface="Whitney Book" pitchFamily="50" charset="0"/>
              </a:rPr>
              <a:pPr/>
              <a:t>42</a:t>
            </a:fld>
            <a:endParaRPr lang="en-US" dirty="0">
              <a:latin typeface="Whitney Book" pitchFamily="50" charset="0"/>
              <a:cs typeface="Whitney Book" pitchFamily="50" charset="0"/>
            </a:endParaRPr>
          </a:p>
        </p:txBody>
      </p:sp>
      <p:sp>
        <p:nvSpPr>
          <p:cNvPr id="50179" name="Rectangle 3"/>
          <p:cNvSpPr>
            <a:spLocks noChangeArrowheads="1"/>
          </p:cNvSpPr>
          <p:nvPr/>
        </p:nvSpPr>
        <p:spPr bwMode="auto">
          <a:xfrm>
            <a:off x="710852" y="321273"/>
            <a:ext cx="7565721" cy="1203598"/>
          </a:xfrm>
          <a:prstGeom prst="rect">
            <a:avLst/>
          </a:prstGeom>
          <a:noFill/>
          <a:ln w="9525">
            <a:noFill/>
            <a:miter lim="800000"/>
            <a:headEnd/>
            <a:tailEnd/>
          </a:ln>
          <a:effectLst/>
        </p:spPr>
        <p:txBody>
          <a:bodyPr wrap="none" lIns="18795" tIns="26627" rIns="18795" bIns="26627"/>
          <a:lstStyle/>
          <a:p>
            <a:pPr>
              <a:lnSpc>
                <a:spcPts val="4242"/>
              </a:lnSpc>
              <a:tabLst>
                <a:tab pos="902170" algn="l"/>
                <a:tab pos="1804340" algn="l"/>
                <a:tab pos="2706510" algn="l"/>
                <a:tab pos="3608679" algn="l"/>
                <a:tab pos="4510850" algn="l"/>
                <a:tab pos="5413019" algn="l"/>
                <a:tab pos="6315189" algn="l"/>
              </a:tabLst>
            </a:pPr>
            <a:endParaRPr lang="en-US" sz="3563" dirty="0">
              <a:solidFill>
                <a:schemeClr val="bg1"/>
              </a:solidFill>
              <a:effectLst>
                <a:outerShdw blurRad="38100" dist="38100" dir="2700000" algn="tl">
                  <a:srgbClr val="C0C0C0"/>
                </a:outerShdw>
              </a:effectLst>
              <a:latin typeface="Whitney-Medium" pitchFamily="50" charset="0"/>
              <a:cs typeface="Whitney-Medium" pitchFamily="50" charset="0"/>
            </a:endParaRPr>
          </a:p>
        </p:txBody>
      </p:sp>
      <p:sp>
        <p:nvSpPr>
          <p:cNvPr id="50181" name="Line 5"/>
          <p:cNvSpPr>
            <a:spLocks noChangeShapeType="1"/>
          </p:cNvSpPr>
          <p:nvPr/>
        </p:nvSpPr>
        <p:spPr bwMode="auto">
          <a:xfrm>
            <a:off x="1891430" y="2244208"/>
            <a:ext cx="0" cy="3247207"/>
          </a:xfrm>
          <a:prstGeom prst="line">
            <a:avLst/>
          </a:prstGeom>
          <a:noFill/>
          <a:ln w="50800">
            <a:solidFill>
              <a:schemeClr val="tx1"/>
            </a:solidFill>
            <a:round/>
            <a:headEnd type="arrow" w="sm" len="sm"/>
            <a:tailEnd type="none" w="sm" len="sm"/>
          </a:ln>
          <a:effectLst/>
        </p:spPr>
        <p:txBody>
          <a:bodyPr wrap="none" lIns="90217" tIns="45109" rIns="90217" bIns="45109" anchor="ctr"/>
          <a:lstStyle/>
          <a:p>
            <a:endParaRPr lang="en-US" sz="2625">
              <a:solidFill>
                <a:schemeClr val="bg1"/>
              </a:solidFill>
              <a:latin typeface="Whitney Book" pitchFamily="50" charset="0"/>
              <a:cs typeface="Whitney Book" pitchFamily="50" charset="0"/>
            </a:endParaRPr>
          </a:p>
        </p:txBody>
      </p:sp>
      <p:sp>
        <p:nvSpPr>
          <p:cNvPr id="50182" name="Line 6"/>
          <p:cNvSpPr>
            <a:spLocks noChangeShapeType="1"/>
          </p:cNvSpPr>
          <p:nvPr/>
        </p:nvSpPr>
        <p:spPr bwMode="auto">
          <a:xfrm>
            <a:off x="1891430" y="5491415"/>
            <a:ext cx="5448822" cy="0"/>
          </a:xfrm>
          <a:prstGeom prst="line">
            <a:avLst/>
          </a:prstGeom>
          <a:noFill/>
          <a:ln w="50800">
            <a:solidFill>
              <a:schemeClr val="tx1"/>
            </a:solidFill>
            <a:round/>
            <a:headEnd type="none" w="sm" len="sm"/>
            <a:tailEnd type="arrow" w="sm" len="sm"/>
          </a:ln>
          <a:effectLst/>
        </p:spPr>
        <p:txBody>
          <a:bodyPr wrap="none" lIns="90217" tIns="45109" rIns="90217" bIns="45109" anchor="ctr"/>
          <a:lstStyle/>
          <a:p>
            <a:endParaRPr lang="en-US" sz="2625">
              <a:solidFill>
                <a:schemeClr val="bg1"/>
              </a:solidFill>
              <a:latin typeface="Whitney Book" pitchFamily="50" charset="0"/>
              <a:cs typeface="Whitney Book" pitchFamily="50" charset="0"/>
            </a:endParaRPr>
          </a:p>
        </p:txBody>
      </p:sp>
      <p:sp>
        <p:nvSpPr>
          <p:cNvPr id="50183" name="Rectangle 7"/>
          <p:cNvSpPr>
            <a:spLocks noChangeArrowheads="1"/>
          </p:cNvSpPr>
          <p:nvPr/>
        </p:nvSpPr>
        <p:spPr bwMode="auto">
          <a:xfrm>
            <a:off x="1425353" y="2244208"/>
            <a:ext cx="364602" cy="495688"/>
          </a:xfrm>
          <a:prstGeom prst="rect">
            <a:avLst/>
          </a:prstGeom>
          <a:noFill/>
          <a:ln w="9525">
            <a:noFill/>
            <a:miter lim="800000"/>
            <a:headEnd/>
            <a:tailEnd/>
          </a:ln>
          <a:effectLst/>
        </p:spPr>
        <p:txBody>
          <a:bodyPr wrap="none" lIns="90844" tIns="45422" rIns="90844" bIns="45422">
            <a:spAutoFit/>
          </a:bodyPr>
          <a:lstStyle/>
          <a:p>
            <a:r>
              <a:rPr lang="en-US" sz="2625" dirty="0">
                <a:latin typeface="Whitney Book" pitchFamily="50" charset="0"/>
                <a:cs typeface="Whitney Book" pitchFamily="50" charset="0"/>
              </a:rPr>
              <a:t>$</a:t>
            </a:r>
          </a:p>
        </p:txBody>
      </p:sp>
      <p:sp>
        <p:nvSpPr>
          <p:cNvPr id="50184" name="Rectangle 8"/>
          <p:cNvSpPr>
            <a:spLocks noChangeArrowheads="1"/>
          </p:cNvSpPr>
          <p:nvPr/>
        </p:nvSpPr>
        <p:spPr bwMode="auto">
          <a:xfrm>
            <a:off x="7468645" y="5275144"/>
            <a:ext cx="361396" cy="495688"/>
          </a:xfrm>
          <a:prstGeom prst="rect">
            <a:avLst/>
          </a:prstGeom>
          <a:noFill/>
          <a:ln w="9525">
            <a:noFill/>
            <a:miter lim="800000"/>
            <a:headEnd/>
            <a:tailEnd/>
          </a:ln>
          <a:effectLst/>
        </p:spPr>
        <p:txBody>
          <a:bodyPr wrap="none" lIns="90844" tIns="45422" rIns="90844" bIns="45422">
            <a:spAutoFit/>
          </a:bodyPr>
          <a:lstStyle/>
          <a:p>
            <a:r>
              <a:rPr lang="en-US" sz="2625" dirty="0">
                <a:latin typeface="Whitney Book" pitchFamily="50" charset="0"/>
                <a:cs typeface="Whitney Book" pitchFamily="50" charset="0"/>
              </a:rPr>
              <a:t>q</a:t>
            </a:r>
          </a:p>
        </p:txBody>
      </p:sp>
      <p:grpSp>
        <p:nvGrpSpPr>
          <p:cNvPr id="2" name="Group 28"/>
          <p:cNvGrpSpPr>
            <a:grpSpLocks/>
          </p:cNvGrpSpPr>
          <p:nvPr/>
        </p:nvGrpSpPr>
        <p:grpSpPr bwMode="auto">
          <a:xfrm>
            <a:off x="1918050" y="3279102"/>
            <a:ext cx="7310502" cy="664486"/>
            <a:chOff x="1225" y="1814"/>
            <a:chExt cx="4669" cy="424"/>
          </a:xfrm>
        </p:grpSpPr>
        <p:sp>
          <p:nvSpPr>
            <p:cNvPr id="50186" name="Line 10"/>
            <p:cNvSpPr>
              <a:spLocks noChangeShapeType="1"/>
            </p:cNvSpPr>
            <p:nvPr/>
          </p:nvSpPr>
          <p:spPr bwMode="auto">
            <a:xfrm>
              <a:off x="1225" y="1993"/>
              <a:ext cx="3345" cy="0"/>
            </a:xfrm>
            <a:prstGeom prst="line">
              <a:avLst/>
            </a:prstGeom>
            <a:noFill/>
            <a:ln w="50800">
              <a:solidFill>
                <a:srgbClr val="C00000"/>
              </a:solidFill>
              <a:round/>
              <a:headEnd type="none" w="sm" len="sm"/>
              <a:tailEnd type="none" w="sm" len="sm"/>
            </a:ln>
            <a:effectLst/>
          </p:spPr>
          <p:txBody>
            <a:bodyPr wrap="none" anchor="ctr"/>
            <a:lstStyle/>
            <a:p>
              <a:endParaRPr lang="en-US" sz="2625">
                <a:solidFill>
                  <a:schemeClr val="bg1"/>
                </a:solidFill>
                <a:latin typeface="Whitney Book" pitchFamily="50" charset="0"/>
                <a:cs typeface="Whitney Book" pitchFamily="50" charset="0"/>
              </a:endParaRPr>
            </a:p>
          </p:txBody>
        </p:sp>
        <p:sp>
          <p:nvSpPr>
            <p:cNvPr id="50187" name="Rectangle 11"/>
            <p:cNvSpPr>
              <a:spLocks noChangeArrowheads="1"/>
            </p:cNvSpPr>
            <p:nvPr/>
          </p:nvSpPr>
          <p:spPr bwMode="auto">
            <a:xfrm>
              <a:off x="4766" y="1814"/>
              <a:ext cx="1128" cy="424"/>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dirty="0">
                  <a:latin typeface="Whitney Book" pitchFamily="50" charset="0"/>
                  <a:cs typeface="Whitney Book" pitchFamily="50" charset="0"/>
                </a:rPr>
                <a:t>P = MR</a:t>
              </a:r>
            </a:p>
          </p:txBody>
        </p:sp>
      </p:grpSp>
      <p:sp>
        <p:nvSpPr>
          <p:cNvPr id="50190" name="Rectangle 14"/>
          <p:cNvSpPr>
            <a:spLocks noChangeArrowheads="1"/>
          </p:cNvSpPr>
          <p:nvPr/>
        </p:nvSpPr>
        <p:spPr bwMode="auto">
          <a:xfrm>
            <a:off x="5189713" y="1796614"/>
            <a:ext cx="1127343" cy="664486"/>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dirty="0">
                <a:latin typeface="Whitney Book" pitchFamily="50" charset="0"/>
                <a:cs typeface="Whitney Book" pitchFamily="50" charset="0"/>
              </a:rPr>
              <a:t>MC</a:t>
            </a:r>
          </a:p>
        </p:txBody>
      </p:sp>
      <p:grpSp>
        <p:nvGrpSpPr>
          <p:cNvPr id="4" name="Group 29"/>
          <p:cNvGrpSpPr>
            <a:grpSpLocks/>
          </p:cNvGrpSpPr>
          <p:nvPr/>
        </p:nvGrpSpPr>
        <p:grpSpPr bwMode="auto">
          <a:xfrm>
            <a:off x="2984980" y="3566530"/>
            <a:ext cx="789140" cy="2648542"/>
            <a:chOff x="2525" y="2008"/>
            <a:chExt cx="504" cy="1690"/>
          </a:xfrm>
        </p:grpSpPr>
        <p:sp>
          <p:nvSpPr>
            <p:cNvPr id="50192" name="Line 16"/>
            <p:cNvSpPr>
              <a:spLocks noChangeShapeType="1"/>
            </p:cNvSpPr>
            <p:nvPr/>
          </p:nvSpPr>
          <p:spPr bwMode="auto">
            <a:xfrm>
              <a:off x="2736" y="2008"/>
              <a:ext cx="0" cy="1228"/>
            </a:xfrm>
            <a:prstGeom prst="line">
              <a:avLst/>
            </a:prstGeom>
            <a:noFill/>
            <a:ln w="12700">
              <a:solidFill>
                <a:schemeClr val="tx1"/>
              </a:solidFill>
              <a:prstDash val="sysDot"/>
              <a:round/>
              <a:headEnd type="none" w="sm" len="sm"/>
              <a:tailEnd type="none" w="sm" len="sm"/>
            </a:ln>
            <a:effectLst/>
          </p:spPr>
          <p:txBody>
            <a:bodyPr wrap="none" anchor="ctr"/>
            <a:lstStyle/>
            <a:p>
              <a:endParaRPr lang="en-US" sz="2625">
                <a:solidFill>
                  <a:schemeClr val="bg1"/>
                </a:solidFill>
                <a:latin typeface="Whitney Book" pitchFamily="50" charset="0"/>
                <a:cs typeface="Whitney Book" pitchFamily="50" charset="0"/>
              </a:endParaRPr>
            </a:p>
          </p:txBody>
        </p:sp>
        <mc:AlternateContent xmlns:mc="http://schemas.openxmlformats.org/markup-compatibility/2006" xmlns:a14="http://schemas.microsoft.com/office/drawing/2010/main">
          <mc:Choice Requires="a14">
            <p:sp>
              <p:nvSpPr>
                <p:cNvPr id="50193" name="Rectangle 17"/>
                <p:cNvSpPr>
                  <a:spLocks noChangeArrowheads="1"/>
                </p:cNvSpPr>
                <p:nvPr/>
              </p:nvSpPr>
              <p:spPr bwMode="auto">
                <a:xfrm>
                  <a:off x="2525" y="3265"/>
                  <a:ext cx="504" cy="433"/>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14:m>
                    <m:oMathPara xmlns:m="http://schemas.openxmlformats.org/officeDocument/2006/math">
                      <m:oMathParaPr>
                        <m:jc m:val="centerGroup"/>
                      </m:oMathParaPr>
                      <m:oMath xmlns:m="http://schemas.openxmlformats.org/officeDocument/2006/math">
                        <m:sSub>
                          <m:sSubPr>
                            <m:ctrlPr>
                              <a:rPr lang="fr-FR" sz="2625" b="0" i="1" dirty="0" smtClean="0">
                                <a:latin typeface="Cambria Math" panose="02040503050406030204" pitchFamily="18" charset="0"/>
                                <a:cs typeface="Whitney Book" pitchFamily="50" charset="0"/>
                              </a:rPr>
                            </m:ctrlPr>
                          </m:sSubPr>
                          <m:e>
                            <m:r>
                              <a:rPr lang="en-US" sz="2625" i="1" dirty="0" smtClean="0">
                                <a:latin typeface="Cambria Math" panose="02040503050406030204" pitchFamily="18" charset="0"/>
                                <a:cs typeface="Whitney Book" pitchFamily="50" charset="0"/>
                              </a:rPr>
                              <m:t>𝑞</m:t>
                            </m:r>
                          </m:e>
                          <m:sub>
                            <m:r>
                              <a:rPr lang="fr-FR" sz="2625" b="0" i="1" dirty="0" smtClean="0">
                                <a:latin typeface="Cambria Math" panose="02040503050406030204" pitchFamily="18" charset="0"/>
                                <a:cs typeface="Whitney Book" pitchFamily="50" charset="0"/>
                              </a:rPr>
                              <m:t>0</m:t>
                            </m:r>
                          </m:sub>
                        </m:sSub>
                      </m:oMath>
                    </m:oMathPara>
                  </a14:m>
                  <a:endParaRPr lang="fr-FR" sz="2625" b="0" dirty="0">
                    <a:latin typeface="Whitney Book" pitchFamily="50" charset="0"/>
                    <a:cs typeface="Whitney Book" pitchFamily="50" charset="0"/>
                  </a:endParaRPr>
                </a:p>
                <a:p>
                  <a:pPr>
                    <a:lnSpc>
                      <a:spcPts val="2763"/>
                    </a:lnSpc>
                    <a:spcAft>
                      <a:spcPts val="888"/>
                    </a:spcAft>
                    <a:tabLst>
                      <a:tab pos="451085" algn="l"/>
                      <a:tab pos="902170" algn="l"/>
                      <a:tab pos="1353255" algn="l"/>
                    </a:tabLst>
                  </a:pPr>
                  <a:endParaRPr lang="en-US" sz="2625" dirty="0">
                    <a:latin typeface="Whitney Book" pitchFamily="50" charset="0"/>
                    <a:cs typeface="Whitney Book" pitchFamily="50" charset="0"/>
                  </a:endParaRPr>
                </a:p>
              </p:txBody>
            </p:sp>
          </mc:Choice>
          <mc:Fallback xmlns="">
            <p:sp>
              <p:nvSpPr>
                <p:cNvPr id="50193" name="Rectangle 17"/>
                <p:cNvSpPr>
                  <a:spLocks noRot="1" noChangeAspect="1" noMove="1" noResize="1" noEditPoints="1" noAdjustHandles="1" noChangeArrowheads="1" noChangeShapeType="1" noTextEdit="1"/>
                </p:cNvSpPr>
                <p:nvPr/>
              </p:nvSpPr>
              <p:spPr bwMode="auto">
                <a:xfrm>
                  <a:off x="2525" y="3265"/>
                  <a:ext cx="504" cy="433"/>
                </a:xfrm>
                <a:prstGeom prst="rect">
                  <a:avLst/>
                </a:prstGeom>
                <a:blipFill>
                  <a:blip r:embed="rId4"/>
                  <a:stretch>
                    <a:fillRect/>
                  </a:stretch>
                </a:blipFill>
                <a:ln w="9525">
                  <a:noFill/>
                  <a:miter lim="800000"/>
                  <a:headEnd/>
                  <a:tailEnd/>
                </a:ln>
                <a:effectLst/>
              </p:spPr>
              <p:txBody>
                <a:bodyPr/>
                <a:lstStyle/>
                <a:p>
                  <a:r>
                    <a:rPr lang="en-US">
                      <a:noFill/>
                    </a:rPr>
                    <a:t> </a:t>
                  </a:r>
                </a:p>
              </p:txBody>
            </p:sp>
          </mc:Fallback>
        </mc:AlternateContent>
      </p:grpSp>
      <p:sp>
        <p:nvSpPr>
          <p:cNvPr id="50198" name="Line 22"/>
          <p:cNvSpPr>
            <a:spLocks noChangeShapeType="1"/>
          </p:cNvSpPr>
          <p:nvPr/>
        </p:nvSpPr>
        <p:spPr bwMode="auto">
          <a:xfrm flipH="1">
            <a:off x="3773178" y="3366566"/>
            <a:ext cx="196" cy="571239"/>
          </a:xfrm>
          <a:prstGeom prst="line">
            <a:avLst/>
          </a:prstGeom>
          <a:noFill/>
          <a:ln w="50800">
            <a:solidFill>
              <a:schemeClr val="tx1"/>
            </a:solidFill>
            <a:round/>
            <a:headEnd type="none" w="sm" len="sm"/>
            <a:tailEnd type="stealth" w="med" len="lg"/>
          </a:ln>
          <a:effectLst/>
        </p:spPr>
        <p:txBody>
          <a:bodyPr wrap="none" anchor="ctr"/>
          <a:lstStyle/>
          <a:p>
            <a:endParaRPr lang="en-US" sz="2625">
              <a:solidFill>
                <a:schemeClr val="bg1"/>
              </a:solidFill>
              <a:latin typeface="Whitney Book" pitchFamily="50" charset="0"/>
              <a:cs typeface="Whitney Book" pitchFamily="50" charset="0"/>
            </a:endParaRPr>
          </a:p>
        </p:txBody>
      </p:sp>
      <p:sp>
        <p:nvSpPr>
          <p:cNvPr id="50196" name="Rectangle 20"/>
          <p:cNvSpPr>
            <a:spLocks noChangeArrowheads="1"/>
          </p:cNvSpPr>
          <p:nvPr/>
        </p:nvSpPr>
        <p:spPr bwMode="auto">
          <a:xfrm>
            <a:off x="6061813" y="2224589"/>
            <a:ext cx="1227550" cy="664486"/>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dirty="0">
                <a:latin typeface="Whitney Book" pitchFamily="50" charset="0"/>
                <a:cs typeface="Whitney Book" pitchFamily="50" charset="0"/>
              </a:rPr>
              <a:t>MC’</a:t>
            </a:r>
          </a:p>
        </p:txBody>
      </p:sp>
      <p:sp>
        <p:nvSpPr>
          <p:cNvPr id="50200" name="Line 24"/>
          <p:cNvSpPr>
            <a:spLocks noChangeShapeType="1"/>
          </p:cNvSpPr>
          <p:nvPr/>
        </p:nvSpPr>
        <p:spPr bwMode="auto">
          <a:xfrm>
            <a:off x="3605019" y="5770832"/>
            <a:ext cx="751561" cy="0"/>
          </a:xfrm>
          <a:prstGeom prst="line">
            <a:avLst/>
          </a:prstGeom>
          <a:noFill/>
          <a:ln w="50800">
            <a:solidFill>
              <a:schemeClr val="tx1"/>
            </a:solidFill>
            <a:round/>
            <a:headEnd type="none" w="sm" len="sm"/>
            <a:tailEnd type="stealth" w="med" len="lg"/>
          </a:ln>
          <a:effectLst/>
        </p:spPr>
        <p:txBody>
          <a:bodyPr wrap="none" anchor="ctr"/>
          <a:lstStyle/>
          <a:p>
            <a:endParaRPr lang="en-US" sz="2625">
              <a:solidFill>
                <a:schemeClr val="bg1"/>
              </a:solidFill>
              <a:latin typeface="Whitney Book" pitchFamily="50" charset="0"/>
              <a:cs typeface="Whitney Book" pitchFamily="50" charset="0"/>
            </a:endParaRPr>
          </a:p>
        </p:txBody>
      </p:sp>
      <p:sp>
        <p:nvSpPr>
          <p:cNvPr id="50202" name="Line 26"/>
          <p:cNvSpPr>
            <a:spLocks noChangeShapeType="1"/>
          </p:cNvSpPr>
          <p:nvPr/>
        </p:nvSpPr>
        <p:spPr bwMode="auto">
          <a:xfrm>
            <a:off x="4536772" y="3578750"/>
            <a:ext cx="0" cy="1924503"/>
          </a:xfrm>
          <a:prstGeom prst="line">
            <a:avLst/>
          </a:prstGeom>
          <a:noFill/>
          <a:ln w="12700">
            <a:solidFill>
              <a:schemeClr val="tx1"/>
            </a:solidFill>
            <a:prstDash val="sysDot"/>
            <a:round/>
            <a:headEnd type="none" w="sm" len="sm"/>
            <a:tailEnd type="none" w="sm" len="sm"/>
          </a:ln>
          <a:effectLst/>
        </p:spPr>
        <p:txBody>
          <a:bodyPr wrap="none" anchor="ctr"/>
          <a:lstStyle/>
          <a:p>
            <a:endParaRPr lang="en-US" sz="2625">
              <a:solidFill>
                <a:schemeClr val="bg1"/>
              </a:solidFill>
              <a:latin typeface="Whitney Book" pitchFamily="50" charset="0"/>
              <a:cs typeface="Whitney Book" pitchFamily="50" charset="0"/>
            </a:endParaRPr>
          </a:p>
        </p:txBody>
      </p:sp>
      <mc:AlternateContent xmlns:mc="http://schemas.openxmlformats.org/markup-compatibility/2006" xmlns:a14="http://schemas.microsoft.com/office/drawing/2010/main">
        <mc:Choice Requires="a14">
          <p:sp>
            <p:nvSpPr>
              <p:cNvPr id="50203" name="Rectangle 27"/>
              <p:cNvSpPr>
                <a:spLocks noChangeArrowheads="1"/>
              </p:cNvSpPr>
              <p:nvPr/>
            </p:nvSpPr>
            <p:spPr bwMode="auto">
              <a:xfrm>
                <a:off x="4155837" y="5557957"/>
                <a:ext cx="977030" cy="495671"/>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14:m>
                  <m:oMathPara xmlns:m="http://schemas.openxmlformats.org/officeDocument/2006/math">
                    <m:oMathParaPr>
                      <m:jc m:val="centerGroup"/>
                    </m:oMathParaPr>
                    <m:oMath xmlns:m="http://schemas.openxmlformats.org/officeDocument/2006/math">
                      <m:sSub>
                        <m:sSubPr>
                          <m:ctrlPr>
                            <a:rPr lang="fr-FR" sz="2625" b="0" i="1" dirty="0" smtClean="0">
                              <a:latin typeface="Cambria Math" panose="02040503050406030204" pitchFamily="18" charset="0"/>
                              <a:cs typeface="Whitney Book" pitchFamily="50" charset="0"/>
                            </a:rPr>
                          </m:ctrlPr>
                        </m:sSubPr>
                        <m:e>
                          <m:r>
                            <a:rPr lang="en-US" sz="2625" i="1" dirty="0" smtClean="0">
                              <a:latin typeface="Cambria Math" panose="02040503050406030204" pitchFamily="18" charset="0"/>
                              <a:cs typeface="Whitney Book" pitchFamily="50" charset="0"/>
                            </a:rPr>
                            <m:t>𝑞</m:t>
                          </m:r>
                        </m:e>
                        <m:sub>
                          <m:r>
                            <a:rPr lang="fr-FR" sz="2625" b="0" i="1" dirty="0" smtClean="0">
                              <a:latin typeface="Cambria Math" panose="02040503050406030204" pitchFamily="18" charset="0"/>
                              <a:cs typeface="Whitney Book" pitchFamily="50" charset="0"/>
                            </a:rPr>
                            <m:t>1</m:t>
                          </m:r>
                        </m:sub>
                      </m:sSub>
                    </m:oMath>
                  </m:oMathPara>
                </a14:m>
                <a:endParaRPr lang="en-US" sz="2625" dirty="0">
                  <a:latin typeface="Whitney Book" pitchFamily="50" charset="0"/>
                  <a:cs typeface="Whitney Book" pitchFamily="50" charset="0"/>
                </a:endParaRPr>
              </a:p>
              <a:p>
                <a:pPr>
                  <a:lnSpc>
                    <a:spcPts val="2763"/>
                  </a:lnSpc>
                  <a:spcAft>
                    <a:spcPts val="888"/>
                  </a:spcAft>
                  <a:tabLst>
                    <a:tab pos="451085" algn="l"/>
                    <a:tab pos="902170" algn="l"/>
                    <a:tab pos="1353255" algn="l"/>
                  </a:tabLst>
                </a:pPr>
                <a:endParaRPr lang="en-US" sz="2625" dirty="0">
                  <a:latin typeface="Whitney Book" pitchFamily="50" charset="0"/>
                  <a:cs typeface="Whitney Book" pitchFamily="50" charset="0"/>
                </a:endParaRPr>
              </a:p>
            </p:txBody>
          </p:sp>
        </mc:Choice>
        <mc:Fallback xmlns="">
          <p:sp>
            <p:nvSpPr>
              <p:cNvPr id="50203" name="Rectangle 27"/>
              <p:cNvSpPr>
                <a:spLocks noRot="1" noChangeAspect="1" noMove="1" noResize="1" noEditPoints="1" noAdjustHandles="1" noChangeArrowheads="1" noChangeShapeType="1" noTextEdit="1"/>
              </p:cNvSpPr>
              <p:nvPr/>
            </p:nvSpPr>
            <p:spPr bwMode="auto">
              <a:xfrm>
                <a:off x="4155837" y="5557957"/>
                <a:ext cx="977030" cy="495671"/>
              </a:xfrm>
              <a:prstGeom prst="rect">
                <a:avLst/>
              </a:prstGeom>
              <a:blipFill>
                <a:blip r:embed="rId5"/>
                <a:stretch>
                  <a:fillRect/>
                </a:stretch>
              </a:blipFill>
              <a:ln w="9525">
                <a:noFill/>
                <a:miter lim="800000"/>
                <a:headEnd/>
                <a:tailEnd/>
              </a:ln>
              <a:effectLst/>
            </p:spPr>
            <p:txBody>
              <a:bodyPr/>
              <a:lstStyle/>
              <a:p>
                <a:r>
                  <a:rPr lang="en-US">
                    <a:noFill/>
                  </a:rPr>
                  <a:t> </a:t>
                </a:r>
              </a:p>
            </p:txBody>
          </p:sp>
        </mc:Fallback>
      </mc:AlternateContent>
      <p:sp>
        <p:nvSpPr>
          <p:cNvPr id="5" name="TextBox 4">
            <a:extLst>
              <a:ext uri="{FF2B5EF4-FFF2-40B4-BE49-F238E27FC236}">
                <a16:creationId xmlns:a16="http://schemas.microsoft.com/office/drawing/2014/main" id="{D0A59A29-0BF3-4998-9930-82C4FD20D4E5}"/>
              </a:ext>
            </a:extLst>
          </p:cNvPr>
          <p:cNvSpPr txBox="1"/>
          <p:nvPr/>
        </p:nvSpPr>
        <p:spPr>
          <a:xfrm>
            <a:off x="2756667" y="3848779"/>
            <a:ext cx="1734858" cy="584775"/>
          </a:xfrm>
          <a:prstGeom prst="rect">
            <a:avLst/>
          </a:prstGeom>
          <a:noFill/>
        </p:spPr>
        <p:txBody>
          <a:bodyPr wrap="square" rtlCol="0">
            <a:spAutoFit/>
          </a:bodyPr>
          <a:lstStyle/>
          <a:p>
            <a:r>
              <a:rPr lang="fr-FR" sz="1600" dirty="0">
                <a:latin typeface="Whitney Book" pitchFamily="50" charset="0"/>
                <a:cs typeface="Whitney Book" pitchFamily="50" charset="0"/>
              </a:rPr>
              <a:t>High-</a:t>
            </a:r>
            <a:r>
              <a:rPr lang="fr-FR" sz="1600" dirty="0" err="1">
                <a:latin typeface="Whitney Book" pitchFamily="50" charset="0"/>
                <a:cs typeface="Whitney Book" pitchFamily="50" charset="0"/>
              </a:rPr>
              <a:t>yield</a:t>
            </a:r>
            <a:r>
              <a:rPr lang="fr-FR" sz="1600" dirty="0">
                <a:latin typeface="Whitney Book" pitchFamily="50" charset="0"/>
                <a:cs typeface="Whitney Book" pitchFamily="50" charset="0"/>
              </a:rPr>
              <a:t> </a:t>
            </a:r>
          </a:p>
          <a:p>
            <a:r>
              <a:rPr lang="fr-FR" sz="1600" dirty="0" err="1">
                <a:latin typeface="Whitney Book" pitchFamily="50" charset="0"/>
                <a:cs typeface="Whitney Book" pitchFamily="50" charset="0"/>
              </a:rPr>
              <a:t>seeds</a:t>
            </a:r>
            <a:endParaRPr lang="en-US" sz="1600" dirty="0">
              <a:latin typeface="Whitney Book" pitchFamily="50" charset="0"/>
              <a:cs typeface="Whitney Book" pitchFamily="50" charset="0"/>
            </a:endParaRPr>
          </a:p>
        </p:txBody>
      </p:sp>
      <p:cxnSp>
        <p:nvCxnSpPr>
          <p:cNvPr id="8" name="Straight Connector 7">
            <a:extLst>
              <a:ext uri="{FF2B5EF4-FFF2-40B4-BE49-F238E27FC236}">
                <a16:creationId xmlns:a16="http://schemas.microsoft.com/office/drawing/2014/main" id="{31CAF1C2-E981-4A59-AFA5-7F802F7CBC86}"/>
              </a:ext>
            </a:extLst>
          </p:cNvPr>
          <p:cNvCxnSpPr>
            <a:cxnSpLocks/>
          </p:cNvCxnSpPr>
          <p:nvPr/>
        </p:nvCxnSpPr>
        <p:spPr>
          <a:xfrm flipV="1">
            <a:off x="2120281" y="2163069"/>
            <a:ext cx="2962317" cy="2303879"/>
          </a:xfrm>
          <a:prstGeom prst="line">
            <a:avLst/>
          </a:prstGeom>
        </p:spPr>
        <p:style>
          <a:lnRef idx="3">
            <a:schemeClr val="accent4"/>
          </a:lnRef>
          <a:fillRef idx="0">
            <a:schemeClr val="accent4"/>
          </a:fillRef>
          <a:effectRef idx="2">
            <a:schemeClr val="accent4"/>
          </a:effectRef>
          <a:fontRef idx="minor">
            <a:schemeClr val="tx1"/>
          </a:fontRef>
        </p:style>
      </p:cxnSp>
      <p:cxnSp>
        <p:nvCxnSpPr>
          <p:cNvPr id="31" name="Straight Connector 30">
            <a:extLst>
              <a:ext uri="{FF2B5EF4-FFF2-40B4-BE49-F238E27FC236}">
                <a16:creationId xmlns:a16="http://schemas.microsoft.com/office/drawing/2014/main" id="{DAFAB8B8-2FDA-4647-A7E4-BC8E67B55672}"/>
              </a:ext>
            </a:extLst>
          </p:cNvPr>
          <p:cNvCxnSpPr>
            <a:cxnSpLocks/>
          </p:cNvCxnSpPr>
          <p:nvPr/>
        </p:nvCxnSpPr>
        <p:spPr>
          <a:xfrm flipV="1">
            <a:off x="2653948" y="2503692"/>
            <a:ext cx="3234846" cy="2419243"/>
          </a:xfrm>
          <a:prstGeom prst="line">
            <a:avLst/>
          </a:prstGeom>
        </p:spPr>
        <p:style>
          <a:lnRef idx="3">
            <a:schemeClr val="accent3"/>
          </a:lnRef>
          <a:fillRef idx="0">
            <a:schemeClr val="accent3"/>
          </a:fillRef>
          <a:effectRef idx="2">
            <a:schemeClr val="accent3"/>
          </a:effectRef>
          <a:fontRef idx="minor">
            <a:schemeClr val="tx1"/>
          </a:fontRef>
        </p:style>
      </p:cxnSp>
    </p:spTree>
    <p:custDataLst>
      <p:tags r:id="rId1"/>
    </p:custDataLst>
    <p:extLst>
      <p:ext uri="{BB962C8B-B14F-4D97-AF65-F5344CB8AC3E}">
        <p14:creationId xmlns:p14="http://schemas.microsoft.com/office/powerpoint/2010/main" val="2639519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18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018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18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018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19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019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9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020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20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2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1" grpId="0" animBg="1"/>
      <p:bldP spid="50182" grpId="0" animBg="1"/>
      <p:bldP spid="50183" grpId="0"/>
      <p:bldP spid="50184" grpId="0"/>
      <p:bldP spid="50190" grpId="0"/>
      <p:bldP spid="50198" grpId="0" animBg="1"/>
      <p:bldP spid="50196" grpId="0"/>
      <p:bldP spid="50200" grpId="0" animBg="1"/>
      <p:bldP spid="50202" grpId="0" animBg="1"/>
      <p:bldP spid="50203" grpId="0"/>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Line 31">
            <a:extLst>
              <a:ext uri="{FF2B5EF4-FFF2-40B4-BE49-F238E27FC236}">
                <a16:creationId xmlns:a16="http://schemas.microsoft.com/office/drawing/2014/main" id="{C1522FAE-8FAC-4B2A-8C85-232384ABEBBB}"/>
              </a:ext>
            </a:extLst>
          </p:cNvPr>
          <p:cNvSpPr>
            <a:spLocks noChangeShapeType="1"/>
          </p:cNvSpPr>
          <p:nvPr/>
        </p:nvSpPr>
        <p:spPr bwMode="auto">
          <a:xfrm flipV="1">
            <a:off x="5294605" y="4724996"/>
            <a:ext cx="2903096" cy="0"/>
          </a:xfrm>
          <a:prstGeom prst="line">
            <a:avLst/>
          </a:prstGeom>
          <a:ln>
            <a:headEnd type="none" w="sm" len="sm"/>
            <a:tailEnd type="none" w="sm" len="sm"/>
          </a:ln>
        </p:spPr>
        <p:style>
          <a:lnRef idx="3">
            <a:schemeClr val="accent6"/>
          </a:lnRef>
          <a:fillRef idx="0">
            <a:schemeClr val="accent6"/>
          </a:fillRef>
          <a:effectRef idx="2">
            <a:schemeClr val="accent6"/>
          </a:effectRef>
          <a:fontRef idx="minor">
            <a:schemeClr val="tx1"/>
          </a:fontRef>
        </p:style>
        <p:txBody>
          <a:bodyPr wrap="none" lIns="90217" tIns="45109" rIns="90217" bIns="45109" anchor="ctr"/>
          <a:lstStyle/>
          <a:p>
            <a:endParaRPr lang="en-US" sz="1688">
              <a:ln>
                <a:solidFill>
                  <a:srgbClr val="002060"/>
                </a:solidFill>
              </a:ln>
              <a:solidFill>
                <a:schemeClr val="tx2">
                  <a:lumMod val="75000"/>
                </a:schemeClr>
              </a:solidFill>
              <a:latin typeface="Times New Roman" pitchFamily="18" charset="0"/>
              <a:cs typeface="Times New Roman" pitchFamily="18" charset="0"/>
            </a:endParaRPr>
          </a:p>
        </p:txBody>
      </p:sp>
      <p:sp>
        <p:nvSpPr>
          <p:cNvPr id="44" name="Line 31">
            <a:extLst>
              <a:ext uri="{FF2B5EF4-FFF2-40B4-BE49-F238E27FC236}">
                <a16:creationId xmlns:a16="http://schemas.microsoft.com/office/drawing/2014/main" id="{A1ED07B1-550E-4563-A205-E78CB74BE53C}"/>
              </a:ext>
            </a:extLst>
          </p:cNvPr>
          <p:cNvSpPr>
            <a:spLocks noChangeShapeType="1"/>
          </p:cNvSpPr>
          <p:nvPr/>
        </p:nvSpPr>
        <p:spPr bwMode="auto">
          <a:xfrm flipV="1">
            <a:off x="703368" y="3602971"/>
            <a:ext cx="2549537" cy="1644157"/>
          </a:xfrm>
          <a:prstGeom prst="line">
            <a:avLst/>
          </a:prstGeom>
          <a:noFill/>
          <a:ln w="38100">
            <a:solidFill>
              <a:srgbClr val="0070C0"/>
            </a:solidFill>
            <a:round/>
            <a:headEnd type="none" w="sm" len="sm"/>
            <a:tailEnd type="none" w="sm" len="sm"/>
          </a:ln>
          <a:effectLst/>
        </p:spPr>
        <p:txBody>
          <a:bodyPr wrap="none" lIns="90217" tIns="45109" rIns="90217" bIns="45109" anchor="ctr"/>
          <a:lstStyle/>
          <a:p>
            <a:endParaRPr lang="en-US" sz="1688">
              <a:ln>
                <a:solidFill>
                  <a:srgbClr val="002060"/>
                </a:solidFill>
              </a:ln>
              <a:solidFill>
                <a:schemeClr val="tx2">
                  <a:lumMod val="75000"/>
                </a:schemeClr>
              </a:solidFill>
              <a:latin typeface="Times New Roman" pitchFamily="18" charset="0"/>
              <a:cs typeface="Times New Roman" pitchFamily="18" charset="0"/>
            </a:endParaRPr>
          </a:p>
        </p:txBody>
      </p:sp>
      <p:sp>
        <p:nvSpPr>
          <p:cNvPr id="45" name="Line 31">
            <a:extLst>
              <a:ext uri="{FF2B5EF4-FFF2-40B4-BE49-F238E27FC236}">
                <a16:creationId xmlns:a16="http://schemas.microsoft.com/office/drawing/2014/main" id="{4A399449-9DA7-437D-B2EE-A020C8BC8A87}"/>
              </a:ext>
            </a:extLst>
          </p:cNvPr>
          <p:cNvSpPr>
            <a:spLocks noChangeShapeType="1"/>
          </p:cNvSpPr>
          <p:nvPr/>
        </p:nvSpPr>
        <p:spPr bwMode="auto">
          <a:xfrm>
            <a:off x="819718" y="3551124"/>
            <a:ext cx="2406240" cy="1696004"/>
          </a:xfrm>
          <a:prstGeom prst="line">
            <a:avLst/>
          </a:prstGeom>
          <a:noFill/>
          <a:ln w="38100">
            <a:solidFill>
              <a:srgbClr val="0070C0"/>
            </a:solidFill>
            <a:round/>
            <a:headEnd type="none" w="sm" len="sm"/>
            <a:tailEnd type="none" w="sm" len="sm"/>
          </a:ln>
          <a:effectLst/>
        </p:spPr>
        <p:txBody>
          <a:bodyPr wrap="none" lIns="90217" tIns="45109" rIns="90217" bIns="45109" anchor="ctr"/>
          <a:lstStyle/>
          <a:p>
            <a:endParaRPr lang="en-US" sz="1688">
              <a:ln>
                <a:solidFill>
                  <a:srgbClr val="002060"/>
                </a:solidFill>
              </a:ln>
              <a:solidFill>
                <a:schemeClr val="tx2">
                  <a:lumMod val="75000"/>
                </a:schemeClr>
              </a:solidFill>
              <a:latin typeface="Times New Roman" pitchFamily="18" charset="0"/>
              <a:cs typeface="Times New Roman" pitchFamily="18" charset="0"/>
            </a:endParaRPr>
          </a:p>
        </p:txBody>
      </p:sp>
      <p:sp>
        <p:nvSpPr>
          <p:cNvPr id="2" name="Title 1">
            <a:extLst>
              <a:ext uri="{FF2B5EF4-FFF2-40B4-BE49-F238E27FC236}">
                <a16:creationId xmlns:a16="http://schemas.microsoft.com/office/drawing/2014/main" id="{87BC01DF-D977-4F24-9529-73719A567532}"/>
              </a:ext>
            </a:extLst>
          </p:cNvPr>
          <p:cNvSpPr>
            <a:spLocks noGrp="1"/>
          </p:cNvSpPr>
          <p:nvPr>
            <p:ph type="title"/>
          </p:nvPr>
        </p:nvSpPr>
        <p:spPr/>
        <p:txBody>
          <a:bodyPr>
            <a:normAutofit fontScale="90000"/>
          </a:bodyPr>
          <a:lstStyle/>
          <a:p>
            <a:r>
              <a:rPr lang="fr-FR" dirty="0" err="1"/>
              <a:t>Firm</a:t>
            </a:r>
            <a:r>
              <a:rPr lang="fr-FR" dirty="0"/>
              <a:t> and </a:t>
            </a:r>
            <a:r>
              <a:rPr lang="fr-FR" dirty="0" err="1"/>
              <a:t>market</a:t>
            </a:r>
            <a:r>
              <a:rPr lang="fr-FR" dirty="0"/>
              <a:t> </a:t>
            </a:r>
            <a:r>
              <a:rPr lang="fr-FR" dirty="0" err="1"/>
              <a:t>dynamics</a:t>
            </a:r>
            <a:r>
              <a:rPr lang="fr-FR" dirty="0"/>
              <a:t> </a:t>
            </a:r>
            <a:r>
              <a:rPr lang="fr-FR" dirty="0" err="1"/>
              <a:t>when</a:t>
            </a:r>
            <a:r>
              <a:rPr lang="fr-FR" dirty="0"/>
              <a:t> MC </a:t>
            </a:r>
            <a:r>
              <a:rPr lang="fr-FR" dirty="0" err="1"/>
              <a:t>falls</a:t>
            </a:r>
            <a:endParaRPr lang="en-US" dirty="0"/>
          </a:p>
        </p:txBody>
      </p:sp>
      <p:sp>
        <p:nvSpPr>
          <p:cNvPr id="5" name="Text Placeholder 4">
            <a:extLst>
              <a:ext uri="{FF2B5EF4-FFF2-40B4-BE49-F238E27FC236}">
                <a16:creationId xmlns:a16="http://schemas.microsoft.com/office/drawing/2014/main" id="{528D3782-5FE0-47CA-9E7D-230999C03319}"/>
              </a:ext>
            </a:extLst>
          </p:cNvPr>
          <p:cNvSpPr>
            <a:spLocks noGrp="1"/>
          </p:cNvSpPr>
          <p:nvPr>
            <p:ph type="body" idx="1"/>
          </p:nvPr>
        </p:nvSpPr>
        <p:spPr>
          <a:xfrm>
            <a:off x="387900" y="1359534"/>
            <a:ext cx="8520600" cy="4732299"/>
          </a:xfrm>
        </p:spPr>
        <p:txBody>
          <a:bodyPr/>
          <a:lstStyle/>
          <a:p>
            <a:r>
              <a:rPr lang="fr-FR" dirty="0"/>
              <a:t>New high-</a:t>
            </a:r>
            <a:r>
              <a:rPr lang="fr-FR" dirty="0" err="1"/>
              <a:t>yield</a:t>
            </a:r>
            <a:r>
              <a:rPr lang="fr-FR" dirty="0"/>
              <a:t> </a:t>
            </a:r>
            <a:r>
              <a:rPr lang="fr-FR" dirty="0" err="1"/>
              <a:t>seeds</a:t>
            </a:r>
            <a:r>
              <a:rPr lang="fr-FR" dirty="0"/>
              <a:t> </a:t>
            </a:r>
            <a:r>
              <a:rPr lang="fr-FR" dirty="0" err="1"/>
              <a:t>arrived</a:t>
            </a:r>
            <a:r>
              <a:rPr lang="fr-FR" dirty="0"/>
              <a:t> on the </a:t>
            </a:r>
            <a:r>
              <a:rPr lang="fr-FR" dirty="0" err="1"/>
              <a:t>market</a:t>
            </a:r>
            <a:endParaRPr lang="en-US" dirty="0"/>
          </a:p>
          <a:p>
            <a:endParaRPr lang="en-US" dirty="0"/>
          </a:p>
        </p:txBody>
      </p:sp>
      <p:cxnSp>
        <p:nvCxnSpPr>
          <p:cNvPr id="4" name="Straight Connector 3">
            <a:extLst>
              <a:ext uri="{FF2B5EF4-FFF2-40B4-BE49-F238E27FC236}">
                <a16:creationId xmlns:a16="http://schemas.microsoft.com/office/drawing/2014/main" id="{542F07C4-EE39-4F82-9E0A-D175F3B4267D}"/>
              </a:ext>
            </a:extLst>
          </p:cNvPr>
          <p:cNvCxnSpPr>
            <a:cxnSpLocks/>
            <a:endCxn id="18" idx="2"/>
          </p:cNvCxnSpPr>
          <p:nvPr/>
        </p:nvCxnSpPr>
        <p:spPr>
          <a:xfrm>
            <a:off x="492447" y="4387910"/>
            <a:ext cx="1470074" cy="0"/>
          </a:xfrm>
          <a:prstGeom prst="line">
            <a:avLst/>
          </a:prstGeom>
          <a:ln w="9525" cap="flat" cmpd="sng" algn="ctr">
            <a:solidFill>
              <a:schemeClr val="bg1">
                <a:lumMod val="50000"/>
              </a:schemeClr>
            </a:solidFill>
            <a:prstDash val="lg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 name="Rectangle 4">
            <a:extLst>
              <a:ext uri="{FF2B5EF4-FFF2-40B4-BE49-F238E27FC236}">
                <a16:creationId xmlns:a16="http://schemas.microsoft.com/office/drawing/2014/main" id="{7DCA96A2-44C5-4383-83DF-9837ECCFE749}"/>
              </a:ext>
            </a:extLst>
          </p:cNvPr>
          <p:cNvSpPr>
            <a:spLocks noChangeArrowheads="1"/>
          </p:cNvSpPr>
          <p:nvPr/>
        </p:nvSpPr>
        <p:spPr bwMode="auto">
          <a:xfrm>
            <a:off x="330862" y="2803267"/>
            <a:ext cx="786342" cy="740117"/>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400" i="1" dirty="0">
                <a:solidFill>
                  <a:schemeClr val="tx2">
                    <a:lumMod val="75000"/>
                  </a:schemeClr>
                </a:solidFill>
                <a:latin typeface="Whitney Book" pitchFamily="50" charset="0"/>
                <a:cs typeface="Whitney Book" pitchFamily="50" charset="0"/>
              </a:rPr>
              <a:t>P</a:t>
            </a:r>
          </a:p>
        </p:txBody>
      </p:sp>
      <p:sp>
        <p:nvSpPr>
          <p:cNvPr id="8" name="Line 5">
            <a:extLst>
              <a:ext uri="{FF2B5EF4-FFF2-40B4-BE49-F238E27FC236}">
                <a16:creationId xmlns:a16="http://schemas.microsoft.com/office/drawing/2014/main" id="{BFB3A4D9-D779-48F9-94BE-9E654A73C759}"/>
              </a:ext>
            </a:extLst>
          </p:cNvPr>
          <p:cNvSpPr>
            <a:spLocks noChangeShapeType="1"/>
          </p:cNvSpPr>
          <p:nvPr/>
        </p:nvSpPr>
        <p:spPr bwMode="auto">
          <a:xfrm>
            <a:off x="490984" y="3226472"/>
            <a:ext cx="0" cy="2960467"/>
          </a:xfrm>
          <a:prstGeom prst="line">
            <a:avLst/>
          </a:prstGeom>
          <a:ln>
            <a:headEnd type="arrow" w="sm" len="sm"/>
            <a:tailEnd type="none" w="sm" len="sm"/>
          </a:ln>
        </p:spPr>
        <p:style>
          <a:lnRef idx="2">
            <a:schemeClr val="dk1"/>
          </a:lnRef>
          <a:fillRef idx="0">
            <a:schemeClr val="dk1"/>
          </a:fillRef>
          <a:effectRef idx="1">
            <a:schemeClr val="dk1"/>
          </a:effectRef>
          <a:fontRef idx="minor">
            <a:schemeClr val="tx1"/>
          </a:fontRef>
        </p:style>
        <p:txBody>
          <a:bodyPr wrap="none" anchor="ctr"/>
          <a:lstStyle/>
          <a:p>
            <a:endParaRPr lang="en-US" sz="1688">
              <a:solidFill>
                <a:schemeClr val="tx2">
                  <a:lumMod val="75000"/>
                </a:schemeClr>
              </a:solidFill>
              <a:latin typeface="Times New Roman" pitchFamily="18" charset="0"/>
              <a:cs typeface="Times New Roman" pitchFamily="18" charset="0"/>
            </a:endParaRPr>
          </a:p>
        </p:txBody>
      </p:sp>
      <p:sp>
        <p:nvSpPr>
          <p:cNvPr id="9" name="Line 6">
            <a:extLst>
              <a:ext uri="{FF2B5EF4-FFF2-40B4-BE49-F238E27FC236}">
                <a16:creationId xmlns:a16="http://schemas.microsoft.com/office/drawing/2014/main" id="{F8B32B75-23BD-4654-9675-B3CA7C625E55}"/>
              </a:ext>
            </a:extLst>
          </p:cNvPr>
          <p:cNvSpPr>
            <a:spLocks noChangeShapeType="1"/>
          </p:cNvSpPr>
          <p:nvPr/>
        </p:nvSpPr>
        <p:spPr bwMode="auto">
          <a:xfrm>
            <a:off x="475130" y="6184971"/>
            <a:ext cx="2682441" cy="0"/>
          </a:xfrm>
          <a:prstGeom prst="line">
            <a:avLst/>
          </a:prstGeom>
          <a:ln>
            <a:headEnd type="none" w="sm" len="sm"/>
            <a:tailEnd type="arrow" w="sm" len="sm"/>
          </a:ln>
        </p:spPr>
        <p:style>
          <a:lnRef idx="2">
            <a:schemeClr val="dk1"/>
          </a:lnRef>
          <a:fillRef idx="0">
            <a:schemeClr val="dk1"/>
          </a:fillRef>
          <a:effectRef idx="1">
            <a:schemeClr val="dk1"/>
          </a:effectRef>
          <a:fontRef idx="minor">
            <a:schemeClr val="tx1"/>
          </a:fontRef>
        </p:style>
        <p:txBody>
          <a:bodyPr wrap="none" anchor="ctr"/>
          <a:lstStyle/>
          <a:p>
            <a:endParaRPr lang="en-US" sz="1688" dirty="0">
              <a:solidFill>
                <a:schemeClr val="tx2">
                  <a:lumMod val="75000"/>
                </a:schemeClr>
              </a:solidFill>
              <a:latin typeface="Times New Roman" pitchFamily="18" charset="0"/>
              <a:cs typeface="Times New Roman" pitchFamily="18" charset="0"/>
            </a:endParaRPr>
          </a:p>
        </p:txBody>
      </p:sp>
      <p:sp>
        <p:nvSpPr>
          <p:cNvPr id="10" name="Rectangle 7">
            <a:extLst>
              <a:ext uri="{FF2B5EF4-FFF2-40B4-BE49-F238E27FC236}">
                <a16:creationId xmlns:a16="http://schemas.microsoft.com/office/drawing/2014/main" id="{DFBD0A2F-E293-4F66-991A-64D8A3372428}"/>
              </a:ext>
            </a:extLst>
          </p:cNvPr>
          <p:cNvSpPr>
            <a:spLocks noChangeArrowheads="1"/>
          </p:cNvSpPr>
          <p:nvPr/>
        </p:nvSpPr>
        <p:spPr bwMode="auto">
          <a:xfrm>
            <a:off x="3190865" y="6007815"/>
            <a:ext cx="550122" cy="740117"/>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400" i="1" dirty="0">
                <a:solidFill>
                  <a:schemeClr val="tx2">
                    <a:lumMod val="75000"/>
                  </a:schemeClr>
                </a:solidFill>
                <a:latin typeface="Whitney Book" pitchFamily="50" charset="0"/>
                <a:cs typeface="Whitney Book" pitchFamily="50" charset="0"/>
              </a:rPr>
              <a:t>Q</a:t>
            </a:r>
            <a:r>
              <a:rPr lang="en-US" sz="2400" dirty="0">
                <a:solidFill>
                  <a:schemeClr val="tx2">
                    <a:lumMod val="75000"/>
                  </a:schemeClr>
                </a:solidFill>
                <a:latin typeface="Whitney Book" pitchFamily="50" charset="0"/>
                <a:cs typeface="Whitney Book" pitchFamily="50" charset="0"/>
              </a:rPr>
              <a:t> </a:t>
            </a:r>
          </a:p>
        </p:txBody>
      </p:sp>
      <p:sp>
        <p:nvSpPr>
          <p:cNvPr id="11" name="Rectangle 4">
            <a:extLst>
              <a:ext uri="{FF2B5EF4-FFF2-40B4-BE49-F238E27FC236}">
                <a16:creationId xmlns:a16="http://schemas.microsoft.com/office/drawing/2014/main" id="{E85FE797-99E7-412B-9865-A2168723CA9A}"/>
              </a:ext>
            </a:extLst>
          </p:cNvPr>
          <p:cNvSpPr>
            <a:spLocks noChangeArrowheads="1"/>
          </p:cNvSpPr>
          <p:nvPr/>
        </p:nvSpPr>
        <p:spPr bwMode="auto">
          <a:xfrm>
            <a:off x="5150337" y="2825254"/>
            <a:ext cx="786342" cy="740117"/>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400" i="1" dirty="0">
                <a:solidFill>
                  <a:schemeClr val="tx2">
                    <a:lumMod val="75000"/>
                  </a:schemeClr>
                </a:solidFill>
                <a:latin typeface="Whitney Book" pitchFamily="50" charset="0"/>
                <a:cs typeface="Whitney Book" pitchFamily="50" charset="0"/>
              </a:rPr>
              <a:t>P</a:t>
            </a:r>
          </a:p>
        </p:txBody>
      </p:sp>
      <p:sp>
        <p:nvSpPr>
          <p:cNvPr id="12" name="Line 5">
            <a:extLst>
              <a:ext uri="{FF2B5EF4-FFF2-40B4-BE49-F238E27FC236}">
                <a16:creationId xmlns:a16="http://schemas.microsoft.com/office/drawing/2014/main" id="{790694A4-C126-4D3A-8AF0-3612C11BF555}"/>
              </a:ext>
            </a:extLst>
          </p:cNvPr>
          <p:cNvSpPr>
            <a:spLocks noChangeShapeType="1"/>
          </p:cNvSpPr>
          <p:nvPr/>
        </p:nvSpPr>
        <p:spPr bwMode="auto">
          <a:xfrm>
            <a:off x="5310459" y="3248459"/>
            <a:ext cx="0" cy="2960467"/>
          </a:xfrm>
          <a:prstGeom prst="line">
            <a:avLst/>
          </a:prstGeom>
          <a:ln>
            <a:headEnd type="arrow" w="sm" len="sm"/>
            <a:tailEnd type="none" w="sm" len="sm"/>
          </a:ln>
        </p:spPr>
        <p:style>
          <a:lnRef idx="2">
            <a:schemeClr val="dk1"/>
          </a:lnRef>
          <a:fillRef idx="0">
            <a:schemeClr val="dk1"/>
          </a:fillRef>
          <a:effectRef idx="1">
            <a:schemeClr val="dk1"/>
          </a:effectRef>
          <a:fontRef idx="minor">
            <a:schemeClr val="tx1"/>
          </a:fontRef>
        </p:style>
        <p:txBody>
          <a:bodyPr wrap="none" anchor="ctr"/>
          <a:lstStyle/>
          <a:p>
            <a:endParaRPr lang="en-US" sz="1688">
              <a:solidFill>
                <a:schemeClr val="tx2">
                  <a:lumMod val="75000"/>
                </a:schemeClr>
              </a:solidFill>
              <a:latin typeface="Times New Roman" pitchFamily="18" charset="0"/>
              <a:cs typeface="Times New Roman" pitchFamily="18" charset="0"/>
            </a:endParaRPr>
          </a:p>
        </p:txBody>
      </p:sp>
      <p:sp>
        <p:nvSpPr>
          <p:cNvPr id="13" name="Line 6">
            <a:extLst>
              <a:ext uri="{FF2B5EF4-FFF2-40B4-BE49-F238E27FC236}">
                <a16:creationId xmlns:a16="http://schemas.microsoft.com/office/drawing/2014/main" id="{9E362F99-B69F-46B3-A203-1AE07633355D}"/>
              </a:ext>
            </a:extLst>
          </p:cNvPr>
          <p:cNvSpPr>
            <a:spLocks noChangeShapeType="1"/>
          </p:cNvSpPr>
          <p:nvPr/>
        </p:nvSpPr>
        <p:spPr bwMode="auto">
          <a:xfrm>
            <a:off x="5294605" y="6206958"/>
            <a:ext cx="2682441" cy="0"/>
          </a:xfrm>
          <a:prstGeom prst="line">
            <a:avLst/>
          </a:prstGeom>
          <a:ln>
            <a:headEnd type="none" w="sm" len="sm"/>
            <a:tailEnd type="arrow" w="sm" len="sm"/>
          </a:ln>
        </p:spPr>
        <p:style>
          <a:lnRef idx="2">
            <a:schemeClr val="dk1"/>
          </a:lnRef>
          <a:fillRef idx="0">
            <a:schemeClr val="dk1"/>
          </a:fillRef>
          <a:effectRef idx="1">
            <a:schemeClr val="dk1"/>
          </a:effectRef>
          <a:fontRef idx="minor">
            <a:schemeClr val="tx1"/>
          </a:fontRef>
        </p:style>
        <p:txBody>
          <a:bodyPr wrap="none" anchor="ctr"/>
          <a:lstStyle/>
          <a:p>
            <a:endParaRPr lang="en-US" sz="1688" dirty="0">
              <a:solidFill>
                <a:schemeClr val="tx2">
                  <a:lumMod val="75000"/>
                </a:schemeClr>
              </a:solidFill>
              <a:latin typeface="Times New Roman" pitchFamily="18" charset="0"/>
              <a:cs typeface="Times New Roman" pitchFamily="18" charset="0"/>
            </a:endParaRPr>
          </a:p>
        </p:txBody>
      </p:sp>
      <p:sp>
        <p:nvSpPr>
          <p:cNvPr id="14" name="Rectangle 7">
            <a:extLst>
              <a:ext uri="{FF2B5EF4-FFF2-40B4-BE49-F238E27FC236}">
                <a16:creationId xmlns:a16="http://schemas.microsoft.com/office/drawing/2014/main" id="{B1309D16-995B-4AF5-B925-FEB1BCDFB9ED}"/>
              </a:ext>
            </a:extLst>
          </p:cNvPr>
          <p:cNvSpPr>
            <a:spLocks noChangeArrowheads="1"/>
          </p:cNvSpPr>
          <p:nvPr/>
        </p:nvSpPr>
        <p:spPr bwMode="auto">
          <a:xfrm>
            <a:off x="8010340" y="6029802"/>
            <a:ext cx="550122" cy="740117"/>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400" i="1" dirty="0">
                <a:solidFill>
                  <a:schemeClr val="tx2">
                    <a:lumMod val="75000"/>
                  </a:schemeClr>
                </a:solidFill>
                <a:latin typeface="Whitney Book" pitchFamily="50" charset="0"/>
                <a:cs typeface="Whitney Book" pitchFamily="50" charset="0"/>
              </a:rPr>
              <a:t>q</a:t>
            </a:r>
            <a:r>
              <a:rPr lang="en-US" sz="2400" dirty="0">
                <a:solidFill>
                  <a:schemeClr val="tx2">
                    <a:lumMod val="75000"/>
                  </a:schemeClr>
                </a:solidFill>
                <a:latin typeface="Whitney Book" pitchFamily="50" charset="0"/>
                <a:cs typeface="Whitney Book" pitchFamily="50" charset="0"/>
              </a:rPr>
              <a:t> </a:t>
            </a:r>
          </a:p>
        </p:txBody>
      </p:sp>
      <p:sp>
        <p:nvSpPr>
          <p:cNvPr id="16" name="Line 31">
            <a:extLst>
              <a:ext uri="{FF2B5EF4-FFF2-40B4-BE49-F238E27FC236}">
                <a16:creationId xmlns:a16="http://schemas.microsoft.com/office/drawing/2014/main" id="{93BD72FB-E1D8-46D5-B19B-F9EAE6828FC0}"/>
              </a:ext>
            </a:extLst>
          </p:cNvPr>
          <p:cNvSpPr>
            <a:spLocks noChangeShapeType="1"/>
          </p:cNvSpPr>
          <p:nvPr/>
        </p:nvSpPr>
        <p:spPr bwMode="auto">
          <a:xfrm flipV="1">
            <a:off x="5310459" y="4399126"/>
            <a:ext cx="2903096" cy="0"/>
          </a:xfrm>
          <a:prstGeom prst="line">
            <a:avLst/>
          </a:prstGeom>
          <a:noFill/>
          <a:ln w="38100">
            <a:solidFill>
              <a:srgbClr val="C00000"/>
            </a:solidFill>
            <a:round/>
            <a:headEnd type="none" w="sm" len="sm"/>
            <a:tailEnd type="none" w="sm" len="sm"/>
          </a:ln>
          <a:effectLst/>
        </p:spPr>
        <p:txBody>
          <a:bodyPr wrap="none" lIns="90217" tIns="45109" rIns="90217" bIns="45109" anchor="ctr"/>
          <a:lstStyle/>
          <a:p>
            <a:endParaRPr lang="en-US" sz="1688">
              <a:ln>
                <a:solidFill>
                  <a:srgbClr val="002060"/>
                </a:solidFill>
              </a:ln>
              <a:solidFill>
                <a:schemeClr val="tx2">
                  <a:lumMod val="75000"/>
                </a:schemeClr>
              </a:solidFill>
              <a:latin typeface="Times New Roman" pitchFamily="18" charset="0"/>
              <a:cs typeface="Times New Roman" pitchFamily="18" charset="0"/>
            </a:endParaRPr>
          </a:p>
        </p:txBody>
      </p:sp>
      <p:cxnSp>
        <p:nvCxnSpPr>
          <p:cNvPr id="17" name="Straight Connector 16">
            <a:extLst>
              <a:ext uri="{FF2B5EF4-FFF2-40B4-BE49-F238E27FC236}">
                <a16:creationId xmlns:a16="http://schemas.microsoft.com/office/drawing/2014/main" id="{AC8FAC39-7582-4CD2-8E93-D18F8F44F6DB}"/>
              </a:ext>
            </a:extLst>
          </p:cNvPr>
          <p:cNvCxnSpPr>
            <a:cxnSpLocks/>
            <a:stCxn id="18" idx="6"/>
            <a:endCxn id="16" idx="0"/>
          </p:cNvCxnSpPr>
          <p:nvPr/>
        </p:nvCxnSpPr>
        <p:spPr>
          <a:xfrm>
            <a:off x="2085624" y="4387910"/>
            <a:ext cx="3224835" cy="11216"/>
          </a:xfrm>
          <a:prstGeom prst="line">
            <a:avLst/>
          </a:prstGeom>
          <a:ln w="9525" cap="flat" cmpd="sng" algn="ctr">
            <a:solidFill>
              <a:schemeClr val="bg1">
                <a:lumMod val="50000"/>
              </a:schemeClr>
            </a:solidFill>
            <a:prstDash val="lg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8" name="Oval 17">
            <a:extLst>
              <a:ext uri="{FF2B5EF4-FFF2-40B4-BE49-F238E27FC236}">
                <a16:creationId xmlns:a16="http://schemas.microsoft.com/office/drawing/2014/main" id="{1B74D5B8-E94B-4EC7-AD1F-28386C8DFBD6}"/>
              </a:ext>
            </a:extLst>
          </p:cNvPr>
          <p:cNvSpPr/>
          <p:nvPr/>
        </p:nvSpPr>
        <p:spPr>
          <a:xfrm>
            <a:off x="1962521" y="4308215"/>
            <a:ext cx="123103" cy="159390"/>
          </a:xfrm>
          <a:prstGeom prst="ellipse">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62EFDA89-EE7B-4A4E-ACEC-1A938BE94050}"/>
              </a:ext>
            </a:extLst>
          </p:cNvPr>
          <p:cNvSpPr txBox="1"/>
          <p:nvPr/>
        </p:nvSpPr>
        <p:spPr>
          <a:xfrm>
            <a:off x="1440070" y="2158962"/>
            <a:ext cx="2396747" cy="461665"/>
          </a:xfrm>
          <a:prstGeom prst="rect">
            <a:avLst/>
          </a:prstGeom>
          <a:noFill/>
        </p:spPr>
        <p:txBody>
          <a:bodyPr wrap="square" rtlCol="0">
            <a:spAutoFit/>
          </a:bodyPr>
          <a:lstStyle/>
          <a:p>
            <a:r>
              <a:rPr lang="fr-FR" sz="2400" b="1" dirty="0" err="1">
                <a:solidFill>
                  <a:schemeClr val="tx2">
                    <a:lumMod val="75000"/>
                  </a:schemeClr>
                </a:solidFill>
                <a:latin typeface="Whitney Book" pitchFamily="50" charset="0"/>
                <a:cs typeface="Whitney Book" pitchFamily="50" charset="0"/>
              </a:rPr>
              <a:t>Market</a:t>
            </a:r>
            <a:endParaRPr lang="en-US" sz="2400" b="1" dirty="0">
              <a:solidFill>
                <a:schemeClr val="tx2">
                  <a:lumMod val="75000"/>
                </a:schemeClr>
              </a:solidFill>
              <a:latin typeface="Whitney Book" pitchFamily="50" charset="0"/>
              <a:cs typeface="Whitney Book" pitchFamily="50" charset="0"/>
            </a:endParaRPr>
          </a:p>
        </p:txBody>
      </p:sp>
      <p:sp>
        <p:nvSpPr>
          <p:cNvPr id="20" name="TextBox 19">
            <a:extLst>
              <a:ext uri="{FF2B5EF4-FFF2-40B4-BE49-F238E27FC236}">
                <a16:creationId xmlns:a16="http://schemas.microsoft.com/office/drawing/2014/main" id="{48D6EAEC-C933-45D7-B7B5-10EABA83EDD6}"/>
              </a:ext>
            </a:extLst>
          </p:cNvPr>
          <p:cNvSpPr txBox="1"/>
          <p:nvPr/>
        </p:nvSpPr>
        <p:spPr>
          <a:xfrm>
            <a:off x="6156641" y="2107064"/>
            <a:ext cx="4432984" cy="461665"/>
          </a:xfrm>
          <a:prstGeom prst="rect">
            <a:avLst/>
          </a:prstGeom>
          <a:noFill/>
        </p:spPr>
        <p:txBody>
          <a:bodyPr wrap="square" rtlCol="0">
            <a:spAutoFit/>
          </a:bodyPr>
          <a:lstStyle/>
          <a:p>
            <a:r>
              <a:rPr lang="fr-FR" sz="2400" b="1" dirty="0" err="1">
                <a:solidFill>
                  <a:schemeClr val="tx2">
                    <a:lumMod val="75000"/>
                  </a:schemeClr>
                </a:solidFill>
                <a:latin typeface="Whitney Book" pitchFamily="50" charset="0"/>
                <a:cs typeface="Whitney Book" pitchFamily="50" charset="0"/>
              </a:rPr>
              <a:t>Firm</a:t>
            </a:r>
            <a:r>
              <a:rPr lang="fr-FR" sz="2400" b="1" dirty="0">
                <a:solidFill>
                  <a:schemeClr val="tx2">
                    <a:lumMod val="75000"/>
                  </a:schemeClr>
                </a:solidFill>
                <a:latin typeface="Whitney Book" pitchFamily="50" charset="0"/>
                <a:cs typeface="Whitney Book" pitchFamily="50" charset="0"/>
              </a:rPr>
              <a:t> (</a:t>
            </a:r>
            <a:r>
              <a:rPr lang="fr-FR" sz="2400" b="1" dirty="0" err="1">
                <a:solidFill>
                  <a:schemeClr val="tx2">
                    <a:lumMod val="75000"/>
                  </a:schemeClr>
                </a:solidFill>
                <a:latin typeface="Whitney Book" pitchFamily="50" charset="0"/>
                <a:cs typeface="Whitney Book" pitchFamily="50" charset="0"/>
              </a:rPr>
              <a:t>farmer</a:t>
            </a:r>
            <a:r>
              <a:rPr lang="fr-FR" sz="2400" b="1" dirty="0">
                <a:solidFill>
                  <a:schemeClr val="tx2">
                    <a:lumMod val="75000"/>
                  </a:schemeClr>
                </a:solidFill>
                <a:latin typeface="Whitney Book" pitchFamily="50" charset="0"/>
                <a:cs typeface="Whitney Book" pitchFamily="50" charset="0"/>
              </a:rPr>
              <a:t>)</a:t>
            </a:r>
            <a:endParaRPr lang="en-US" sz="2400" b="1" dirty="0">
              <a:solidFill>
                <a:schemeClr val="tx2">
                  <a:lumMod val="75000"/>
                </a:schemeClr>
              </a:solidFill>
              <a:latin typeface="Whitney Book" pitchFamily="50" charset="0"/>
              <a:cs typeface="Whitney Book" pitchFamily="50" charset="0"/>
            </a:endParaRPr>
          </a:p>
        </p:txBody>
      </p:sp>
      <p:sp>
        <p:nvSpPr>
          <p:cNvPr id="21" name="TextBox 20">
            <a:extLst>
              <a:ext uri="{FF2B5EF4-FFF2-40B4-BE49-F238E27FC236}">
                <a16:creationId xmlns:a16="http://schemas.microsoft.com/office/drawing/2014/main" id="{EFCFB66C-2C75-41CC-8F72-AF03497BFCBE}"/>
              </a:ext>
            </a:extLst>
          </p:cNvPr>
          <p:cNvSpPr txBox="1"/>
          <p:nvPr/>
        </p:nvSpPr>
        <p:spPr>
          <a:xfrm>
            <a:off x="3233860" y="3284173"/>
            <a:ext cx="1242633" cy="369332"/>
          </a:xfrm>
          <a:prstGeom prst="rect">
            <a:avLst/>
          </a:prstGeom>
          <a:noFill/>
        </p:spPr>
        <p:txBody>
          <a:bodyPr wrap="square" rtlCol="0">
            <a:spAutoFit/>
          </a:bodyPr>
          <a:lstStyle/>
          <a:p>
            <a:r>
              <a:rPr lang="fr-FR" i="1" dirty="0">
                <a:latin typeface="Whitney Book" pitchFamily="50" charset="0"/>
                <a:cs typeface="Whitney Book" pitchFamily="50" charset="0"/>
              </a:rPr>
              <a:t>S</a:t>
            </a:r>
            <a:endParaRPr lang="en-US" i="1" dirty="0">
              <a:latin typeface="Whitney Book" pitchFamily="50" charset="0"/>
              <a:cs typeface="Whitney Book" pitchFamily="50" charset="0"/>
            </a:endParaRPr>
          </a:p>
        </p:txBody>
      </p:sp>
      <p:sp>
        <p:nvSpPr>
          <p:cNvPr id="22" name="TextBox 21">
            <a:extLst>
              <a:ext uri="{FF2B5EF4-FFF2-40B4-BE49-F238E27FC236}">
                <a16:creationId xmlns:a16="http://schemas.microsoft.com/office/drawing/2014/main" id="{18015D19-5112-4F62-8E65-8C50016F01C4}"/>
              </a:ext>
            </a:extLst>
          </p:cNvPr>
          <p:cNvSpPr txBox="1"/>
          <p:nvPr/>
        </p:nvSpPr>
        <p:spPr>
          <a:xfrm>
            <a:off x="3263486" y="5129134"/>
            <a:ext cx="1400552" cy="369332"/>
          </a:xfrm>
          <a:prstGeom prst="rect">
            <a:avLst/>
          </a:prstGeom>
          <a:noFill/>
        </p:spPr>
        <p:txBody>
          <a:bodyPr wrap="square" rtlCol="0">
            <a:spAutoFit/>
          </a:bodyPr>
          <a:lstStyle/>
          <a:p>
            <a:r>
              <a:rPr lang="fr-FR" i="1" dirty="0">
                <a:latin typeface="Whitney Book" pitchFamily="50" charset="0"/>
                <a:cs typeface="Whitney Book" pitchFamily="50" charset="0"/>
              </a:rPr>
              <a:t>D</a:t>
            </a:r>
            <a:endParaRPr lang="en-US" i="1" dirty="0">
              <a:latin typeface="Whitney Book" pitchFamily="50" charset="0"/>
              <a:cs typeface="Whitney Book" pitchFamily="50" charset="0"/>
            </a:endParaRPr>
          </a:p>
        </p:txBody>
      </p:sp>
      <p:sp>
        <p:nvSpPr>
          <p:cNvPr id="25" name="TextBox 24">
            <a:extLst>
              <a:ext uri="{FF2B5EF4-FFF2-40B4-BE49-F238E27FC236}">
                <a16:creationId xmlns:a16="http://schemas.microsoft.com/office/drawing/2014/main" id="{49AB87FA-61AF-4414-995F-D9DF390B8FCE}"/>
              </a:ext>
            </a:extLst>
          </p:cNvPr>
          <p:cNvSpPr txBox="1"/>
          <p:nvPr/>
        </p:nvSpPr>
        <p:spPr>
          <a:xfrm>
            <a:off x="59216" y="4208819"/>
            <a:ext cx="1242633" cy="369332"/>
          </a:xfrm>
          <a:prstGeom prst="rect">
            <a:avLst/>
          </a:prstGeom>
          <a:noFill/>
        </p:spPr>
        <p:txBody>
          <a:bodyPr wrap="square" rtlCol="0">
            <a:spAutoFit/>
          </a:bodyPr>
          <a:lstStyle/>
          <a:p>
            <a:r>
              <a:rPr lang="fr-FR" i="1" dirty="0">
                <a:latin typeface="Whitney Book" pitchFamily="50" charset="0"/>
                <a:cs typeface="Whitney Book" pitchFamily="50" charset="0"/>
              </a:rPr>
              <a:t>P</a:t>
            </a:r>
            <a:endParaRPr lang="en-US" i="1" dirty="0">
              <a:latin typeface="Whitney Book" pitchFamily="50" charset="0"/>
              <a:cs typeface="Whitney Book" pitchFamily="50" charset="0"/>
            </a:endParaRPr>
          </a:p>
        </p:txBody>
      </p:sp>
      <p:sp>
        <p:nvSpPr>
          <p:cNvPr id="26" name="TextBox 25">
            <a:extLst>
              <a:ext uri="{FF2B5EF4-FFF2-40B4-BE49-F238E27FC236}">
                <a16:creationId xmlns:a16="http://schemas.microsoft.com/office/drawing/2014/main" id="{29A17897-E6A0-4558-90E5-11D1DB60902C}"/>
              </a:ext>
            </a:extLst>
          </p:cNvPr>
          <p:cNvSpPr txBox="1"/>
          <p:nvPr/>
        </p:nvSpPr>
        <p:spPr>
          <a:xfrm>
            <a:off x="8246164" y="4214460"/>
            <a:ext cx="1299804" cy="369331"/>
          </a:xfrm>
          <a:prstGeom prst="rect">
            <a:avLst/>
          </a:prstGeom>
          <a:noFill/>
        </p:spPr>
        <p:txBody>
          <a:bodyPr wrap="square" rtlCol="0">
            <a:spAutoFit/>
          </a:bodyPr>
          <a:lstStyle/>
          <a:p>
            <a:r>
              <a:rPr lang="fr-FR" i="1" dirty="0">
                <a:latin typeface="Whitney Book" pitchFamily="50" charset="0"/>
                <a:cs typeface="Whitney Book" pitchFamily="50" charset="0"/>
              </a:rPr>
              <a:t>P</a:t>
            </a:r>
            <a:endParaRPr lang="en-US" i="1" dirty="0">
              <a:latin typeface="Whitney Book" pitchFamily="50" charset="0"/>
              <a:cs typeface="Whitney Book" pitchFamily="50" charset="0"/>
            </a:endParaRPr>
          </a:p>
        </p:txBody>
      </p:sp>
      <p:sp>
        <p:nvSpPr>
          <p:cNvPr id="27" name="Line 22">
            <a:extLst>
              <a:ext uri="{FF2B5EF4-FFF2-40B4-BE49-F238E27FC236}">
                <a16:creationId xmlns:a16="http://schemas.microsoft.com/office/drawing/2014/main" id="{8F9A22B8-845B-47ED-9D35-9442E0D51FBD}"/>
              </a:ext>
            </a:extLst>
          </p:cNvPr>
          <p:cNvSpPr>
            <a:spLocks noChangeShapeType="1"/>
          </p:cNvSpPr>
          <p:nvPr/>
        </p:nvSpPr>
        <p:spPr bwMode="auto">
          <a:xfrm flipH="1">
            <a:off x="7405423" y="3663646"/>
            <a:ext cx="196" cy="571239"/>
          </a:xfrm>
          <a:prstGeom prst="line">
            <a:avLst/>
          </a:prstGeom>
          <a:noFill/>
          <a:ln w="50800">
            <a:solidFill>
              <a:schemeClr val="tx1"/>
            </a:solidFill>
            <a:round/>
            <a:headEnd type="none" w="sm" len="sm"/>
            <a:tailEnd type="stealth" w="med" len="lg"/>
          </a:ln>
          <a:effectLst/>
        </p:spPr>
        <p:txBody>
          <a:bodyPr wrap="none" anchor="ctr"/>
          <a:lstStyle/>
          <a:p>
            <a:endParaRPr lang="en-US" sz="2625">
              <a:solidFill>
                <a:schemeClr val="bg1"/>
              </a:solidFill>
              <a:latin typeface="Whitney Book" pitchFamily="50" charset="0"/>
              <a:cs typeface="Whitney Book" pitchFamily="50" charset="0"/>
            </a:endParaRPr>
          </a:p>
        </p:txBody>
      </p:sp>
      <p:cxnSp>
        <p:nvCxnSpPr>
          <p:cNvPr id="28" name="Straight Connector 27">
            <a:extLst>
              <a:ext uri="{FF2B5EF4-FFF2-40B4-BE49-F238E27FC236}">
                <a16:creationId xmlns:a16="http://schemas.microsoft.com/office/drawing/2014/main" id="{2CADCF8C-7FEF-477C-ABBA-B87ACF272FAE}"/>
              </a:ext>
            </a:extLst>
          </p:cNvPr>
          <p:cNvCxnSpPr>
            <a:cxnSpLocks/>
          </p:cNvCxnSpPr>
          <p:nvPr/>
        </p:nvCxnSpPr>
        <p:spPr>
          <a:xfrm flipV="1">
            <a:off x="5427483" y="3248459"/>
            <a:ext cx="2390106" cy="1880675"/>
          </a:xfrm>
          <a:prstGeom prst="line">
            <a:avLst/>
          </a:prstGeom>
        </p:spPr>
        <p:style>
          <a:lnRef idx="3">
            <a:schemeClr val="accent4"/>
          </a:lnRef>
          <a:fillRef idx="0">
            <a:schemeClr val="accent4"/>
          </a:fillRef>
          <a:effectRef idx="2">
            <a:schemeClr val="accent4"/>
          </a:effectRef>
          <a:fontRef idx="minor">
            <a:schemeClr val="tx1"/>
          </a:fontRef>
        </p:style>
      </p:cxnSp>
      <p:cxnSp>
        <p:nvCxnSpPr>
          <p:cNvPr id="29" name="Straight Connector 28">
            <a:extLst>
              <a:ext uri="{FF2B5EF4-FFF2-40B4-BE49-F238E27FC236}">
                <a16:creationId xmlns:a16="http://schemas.microsoft.com/office/drawing/2014/main" id="{A5B495BB-71B3-4DF3-B4E4-288693A80219}"/>
              </a:ext>
            </a:extLst>
          </p:cNvPr>
          <p:cNvCxnSpPr>
            <a:cxnSpLocks/>
          </p:cNvCxnSpPr>
          <p:nvPr/>
        </p:nvCxnSpPr>
        <p:spPr>
          <a:xfrm flipV="1">
            <a:off x="5850149" y="3455596"/>
            <a:ext cx="2599312" cy="2041738"/>
          </a:xfrm>
          <a:prstGeom prst="line">
            <a:avLst/>
          </a:prstGeom>
        </p:spPr>
        <p:style>
          <a:lnRef idx="3">
            <a:schemeClr val="accent3"/>
          </a:lnRef>
          <a:fillRef idx="0">
            <a:schemeClr val="accent3"/>
          </a:fillRef>
          <a:effectRef idx="2">
            <a:schemeClr val="accent3"/>
          </a:effectRef>
          <a:fontRef idx="minor">
            <a:schemeClr val="tx1"/>
          </a:fontRef>
        </p:style>
      </p:cxnSp>
      <p:sp>
        <p:nvSpPr>
          <p:cNvPr id="34" name="TextBox 33">
            <a:extLst>
              <a:ext uri="{FF2B5EF4-FFF2-40B4-BE49-F238E27FC236}">
                <a16:creationId xmlns:a16="http://schemas.microsoft.com/office/drawing/2014/main" id="{7E4BEDAA-7B67-4D90-919E-50678405D06D}"/>
              </a:ext>
            </a:extLst>
          </p:cNvPr>
          <p:cNvSpPr txBox="1"/>
          <p:nvPr/>
        </p:nvSpPr>
        <p:spPr>
          <a:xfrm>
            <a:off x="7616453" y="2825254"/>
            <a:ext cx="649902" cy="369332"/>
          </a:xfrm>
          <a:prstGeom prst="rect">
            <a:avLst/>
          </a:prstGeom>
          <a:noFill/>
        </p:spPr>
        <p:txBody>
          <a:bodyPr wrap="square" rtlCol="0">
            <a:spAutoFit/>
          </a:bodyPr>
          <a:lstStyle/>
          <a:p>
            <a:r>
              <a:rPr lang="fr-FR" i="1" dirty="0">
                <a:latin typeface="Whitney Book" pitchFamily="50" charset="0"/>
                <a:cs typeface="Whitney Book" pitchFamily="50" charset="0"/>
              </a:rPr>
              <a:t>MC</a:t>
            </a:r>
            <a:endParaRPr lang="en-US" i="1" dirty="0">
              <a:latin typeface="Whitney Book" pitchFamily="50" charset="0"/>
              <a:cs typeface="Whitney Book" pitchFamily="50" charset="0"/>
            </a:endParaRPr>
          </a:p>
        </p:txBody>
      </p:sp>
      <p:sp>
        <p:nvSpPr>
          <p:cNvPr id="35" name="TextBox 34">
            <a:extLst>
              <a:ext uri="{FF2B5EF4-FFF2-40B4-BE49-F238E27FC236}">
                <a16:creationId xmlns:a16="http://schemas.microsoft.com/office/drawing/2014/main" id="{596D25AC-88D6-4381-91B5-6C03D8A5E3BA}"/>
              </a:ext>
            </a:extLst>
          </p:cNvPr>
          <p:cNvSpPr txBox="1"/>
          <p:nvPr/>
        </p:nvSpPr>
        <p:spPr>
          <a:xfrm>
            <a:off x="8373133" y="3118974"/>
            <a:ext cx="649902" cy="369332"/>
          </a:xfrm>
          <a:prstGeom prst="rect">
            <a:avLst/>
          </a:prstGeom>
          <a:noFill/>
        </p:spPr>
        <p:txBody>
          <a:bodyPr wrap="square" rtlCol="0">
            <a:spAutoFit/>
          </a:bodyPr>
          <a:lstStyle/>
          <a:p>
            <a:r>
              <a:rPr lang="fr-FR" i="1" dirty="0">
                <a:latin typeface="Whitney Book" pitchFamily="50" charset="0"/>
                <a:cs typeface="Whitney Book" pitchFamily="50" charset="0"/>
              </a:rPr>
              <a:t>MC’</a:t>
            </a:r>
            <a:endParaRPr lang="en-US" i="1" dirty="0">
              <a:latin typeface="Whitney Book" pitchFamily="50" charset="0"/>
              <a:cs typeface="Whitney Book" pitchFamily="50" charset="0"/>
            </a:endParaRPr>
          </a:p>
        </p:txBody>
      </p:sp>
      <p:cxnSp>
        <p:nvCxnSpPr>
          <p:cNvPr id="36" name="Straight Connector 35">
            <a:extLst>
              <a:ext uri="{FF2B5EF4-FFF2-40B4-BE49-F238E27FC236}">
                <a16:creationId xmlns:a16="http://schemas.microsoft.com/office/drawing/2014/main" id="{37AC77D3-D56D-4327-B4FC-9AD5F8B4D50C}"/>
              </a:ext>
            </a:extLst>
          </p:cNvPr>
          <p:cNvCxnSpPr>
            <a:cxnSpLocks/>
          </p:cNvCxnSpPr>
          <p:nvPr/>
        </p:nvCxnSpPr>
        <p:spPr>
          <a:xfrm>
            <a:off x="6354977" y="4378127"/>
            <a:ext cx="0" cy="1830799"/>
          </a:xfrm>
          <a:prstGeom prst="line">
            <a:avLst/>
          </a:prstGeom>
          <a:ln w="9525" cap="flat" cmpd="sng" algn="ctr">
            <a:solidFill>
              <a:schemeClr val="bg1">
                <a:lumMod val="50000"/>
              </a:schemeClr>
            </a:solidFill>
            <a:prstDash val="lg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FD747F57-9A75-47D6-A884-4209B1B428FA}"/>
                  </a:ext>
                </a:extLst>
              </p:cNvPr>
              <p:cNvSpPr txBox="1"/>
              <p:nvPr/>
            </p:nvSpPr>
            <p:spPr>
              <a:xfrm>
                <a:off x="6045937" y="6165360"/>
                <a:ext cx="649902"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b="0" i="1" dirty="0" smtClean="0">
                              <a:latin typeface="Cambria Math" panose="02040503050406030204" pitchFamily="18" charset="0"/>
                              <a:cs typeface="Whitney Book" pitchFamily="50" charset="0"/>
                            </a:rPr>
                          </m:ctrlPr>
                        </m:sSubPr>
                        <m:e>
                          <m:r>
                            <a:rPr lang="fr-FR" i="1" dirty="0" smtClean="0">
                              <a:latin typeface="Cambria Math" panose="02040503050406030204" pitchFamily="18" charset="0"/>
                              <a:cs typeface="Whitney Book" pitchFamily="50" charset="0"/>
                            </a:rPr>
                            <m:t>𝑞</m:t>
                          </m:r>
                        </m:e>
                        <m:sub>
                          <m:r>
                            <a:rPr lang="fr-FR" b="0" i="1" dirty="0" smtClean="0">
                              <a:latin typeface="Cambria Math" panose="02040503050406030204" pitchFamily="18" charset="0"/>
                              <a:cs typeface="Whitney Book" pitchFamily="50" charset="0"/>
                            </a:rPr>
                            <m:t>0</m:t>
                          </m:r>
                        </m:sub>
                      </m:sSub>
                    </m:oMath>
                  </m:oMathPara>
                </a14:m>
                <a:endParaRPr lang="fr-FR" b="0" i="1" dirty="0">
                  <a:latin typeface="Whitney Book" pitchFamily="50" charset="0"/>
                  <a:cs typeface="Whitney Book" pitchFamily="50" charset="0"/>
                </a:endParaRPr>
              </a:p>
              <a:p>
                <a:endParaRPr lang="en-US" i="1" dirty="0">
                  <a:latin typeface="Whitney Book" pitchFamily="50" charset="0"/>
                  <a:cs typeface="Whitney Book" pitchFamily="50" charset="0"/>
                </a:endParaRPr>
              </a:p>
            </p:txBody>
          </p:sp>
        </mc:Choice>
        <mc:Fallback xmlns="">
          <p:sp>
            <p:nvSpPr>
              <p:cNvPr id="42" name="TextBox 41">
                <a:extLst>
                  <a:ext uri="{FF2B5EF4-FFF2-40B4-BE49-F238E27FC236}">
                    <a16:creationId xmlns:a16="http://schemas.microsoft.com/office/drawing/2014/main" id="{FD747F57-9A75-47D6-A884-4209B1B428FA}"/>
                  </a:ext>
                </a:extLst>
              </p:cNvPr>
              <p:cNvSpPr txBox="1">
                <a:spLocks noRot="1" noChangeAspect="1" noMove="1" noResize="1" noEditPoints="1" noAdjustHandles="1" noChangeArrowheads="1" noChangeShapeType="1" noTextEdit="1"/>
              </p:cNvSpPr>
              <p:nvPr/>
            </p:nvSpPr>
            <p:spPr>
              <a:xfrm>
                <a:off x="6045937" y="6165360"/>
                <a:ext cx="649902" cy="646331"/>
              </a:xfrm>
              <a:prstGeom prst="rect">
                <a:avLst/>
              </a:prstGeom>
              <a:blipFill>
                <a:blip r:embed="rId3"/>
                <a:stretch>
                  <a:fillRect/>
                </a:stretch>
              </a:blipFill>
            </p:spPr>
            <p:txBody>
              <a:bodyPr/>
              <a:lstStyle/>
              <a:p>
                <a:r>
                  <a:rPr lang="en-US">
                    <a:noFill/>
                  </a:rPr>
                  <a:t> </a:t>
                </a:r>
              </a:p>
            </p:txBody>
          </p:sp>
        </mc:Fallback>
      </mc:AlternateContent>
      <p:sp>
        <p:nvSpPr>
          <p:cNvPr id="46" name="Line 31">
            <a:extLst>
              <a:ext uri="{FF2B5EF4-FFF2-40B4-BE49-F238E27FC236}">
                <a16:creationId xmlns:a16="http://schemas.microsoft.com/office/drawing/2014/main" id="{05111EDB-172E-4075-B63F-0AC9CAF5F7B4}"/>
              </a:ext>
            </a:extLst>
          </p:cNvPr>
          <p:cNvSpPr>
            <a:spLocks noChangeShapeType="1"/>
          </p:cNvSpPr>
          <p:nvPr/>
        </p:nvSpPr>
        <p:spPr bwMode="auto">
          <a:xfrm flipV="1">
            <a:off x="1080919" y="4023306"/>
            <a:ext cx="2549537" cy="1644157"/>
          </a:xfrm>
          <a:prstGeom prst="line">
            <a:avLst/>
          </a:prstGeom>
          <a:ln>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lIns="90217" tIns="45109" rIns="90217" bIns="45109" anchor="ctr"/>
          <a:lstStyle/>
          <a:p>
            <a:endParaRPr lang="en-US" sz="1688">
              <a:ln>
                <a:solidFill>
                  <a:srgbClr val="002060"/>
                </a:solidFill>
              </a:ln>
              <a:solidFill>
                <a:schemeClr val="tx2">
                  <a:lumMod val="75000"/>
                </a:schemeClr>
              </a:solidFill>
              <a:latin typeface="Times New Roman" pitchFamily="18" charset="0"/>
              <a:cs typeface="Times New Roman" pitchFamily="18" charset="0"/>
            </a:endParaRPr>
          </a:p>
        </p:txBody>
      </p:sp>
      <p:sp>
        <p:nvSpPr>
          <p:cNvPr id="47" name="TextBox 46">
            <a:extLst>
              <a:ext uri="{FF2B5EF4-FFF2-40B4-BE49-F238E27FC236}">
                <a16:creationId xmlns:a16="http://schemas.microsoft.com/office/drawing/2014/main" id="{51994599-CBBA-4EF6-8A4E-55DC94DE0BFD}"/>
              </a:ext>
            </a:extLst>
          </p:cNvPr>
          <p:cNvSpPr txBox="1"/>
          <p:nvPr/>
        </p:nvSpPr>
        <p:spPr>
          <a:xfrm>
            <a:off x="3613576" y="3654125"/>
            <a:ext cx="1242633" cy="369332"/>
          </a:xfrm>
          <a:prstGeom prst="rect">
            <a:avLst/>
          </a:prstGeom>
          <a:noFill/>
        </p:spPr>
        <p:txBody>
          <a:bodyPr wrap="square" rtlCol="0">
            <a:spAutoFit/>
          </a:bodyPr>
          <a:lstStyle/>
          <a:p>
            <a:r>
              <a:rPr lang="fr-FR" i="1" dirty="0">
                <a:latin typeface="Whitney Book" pitchFamily="50" charset="0"/>
                <a:cs typeface="Whitney Book" pitchFamily="50" charset="0"/>
              </a:rPr>
              <a:t>S’</a:t>
            </a:r>
            <a:endParaRPr lang="en-US" i="1" dirty="0">
              <a:latin typeface="Whitney Book" pitchFamily="50" charset="0"/>
              <a:cs typeface="Whitney Book" pitchFamily="50" charset="0"/>
            </a:endParaRPr>
          </a:p>
        </p:txBody>
      </p:sp>
      <p:sp>
        <p:nvSpPr>
          <p:cNvPr id="49" name="Line 22">
            <a:extLst>
              <a:ext uri="{FF2B5EF4-FFF2-40B4-BE49-F238E27FC236}">
                <a16:creationId xmlns:a16="http://schemas.microsoft.com/office/drawing/2014/main" id="{CE08ED77-8F38-4F96-B94B-929DF7EAF0E2}"/>
              </a:ext>
            </a:extLst>
          </p:cNvPr>
          <p:cNvSpPr>
            <a:spLocks noChangeShapeType="1"/>
          </p:cNvSpPr>
          <p:nvPr/>
        </p:nvSpPr>
        <p:spPr bwMode="auto">
          <a:xfrm>
            <a:off x="2621367" y="4126365"/>
            <a:ext cx="642119" cy="0"/>
          </a:xfrm>
          <a:prstGeom prst="line">
            <a:avLst/>
          </a:prstGeom>
          <a:noFill/>
          <a:ln w="50800">
            <a:solidFill>
              <a:schemeClr val="tx1"/>
            </a:solidFill>
            <a:round/>
            <a:headEnd type="none" w="sm" len="sm"/>
            <a:tailEnd type="stealth" w="med" len="lg"/>
          </a:ln>
          <a:effectLst/>
        </p:spPr>
        <p:txBody>
          <a:bodyPr wrap="none" anchor="ctr"/>
          <a:lstStyle/>
          <a:p>
            <a:endParaRPr lang="en-US" sz="2625">
              <a:solidFill>
                <a:schemeClr val="bg1"/>
              </a:solidFill>
              <a:latin typeface="Whitney Book" pitchFamily="50" charset="0"/>
              <a:cs typeface="Whitney Book" pitchFamily="50" charset="0"/>
            </a:endParaRPr>
          </a:p>
        </p:txBody>
      </p:sp>
      <p:cxnSp>
        <p:nvCxnSpPr>
          <p:cNvPr id="50" name="Straight Connector 49">
            <a:extLst>
              <a:ext uri="{FF2B5EF4-FFF2-40B4-BE49-F238E27FC236}">
                <a16:creationId xmlns:a16="http://schemas.microsoft.com/office/drawing/2014/main" id="{45C9CF57-6448-429B-9D5F-A7DE43B13819}"/>
              </a:ext>
            </a:extLst>
          </p:cNvPr>
          <p:cNvCxnSpPr>
            <a:cxnSpLocks/>
          </p:cNvCxnSpPr>
          <p:nvPr/>
        </p:nvCxnSpPr>
        <p:spPr>
          <a:xfrm>
            <a:off x="2022838" y="4462010"/>
            <a:ext cx="0" cy="1703350"/>
          </a:xfrm>
          <a:prstGeom prst="line">
            <a:avLst/>
          </a:prstGeom>
          <a:ln w="9525" cap="flat" cmpd="sng" algn="ctr">
            <a:solidFill>
              <a:schemeClr val="bg1">
                <a:lumMod val="50000"/>
              </a:schemeClr>
            </a:solidFill>
            <a:prstDash val="lg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2" name="TextBox 51">
            <a:extLst>
              <a:ext uri="{FF2B5EF4-FFF2-40B4-BE49-F238E27FC236}">
                <a16:creationId xmlns:a16="http://schemas.microsoft.com/office/drawing/2014/main" id="{E887F513-B6D2-452F-94B9-17988BD5D159}"/>
              </a:ext>
            </a:extLst>
          </p:cNvPr>
          <p:cNvSpPr txBox="1"/>
          <p:nvPr/>
        </p:nvSpPr>
        <p:spPr>
          <a:xfrm>
            <a:off x="1882626" y="6219717"/>
            <a:ext cx="649902" cy="369332"/>
          </a:xfrm>
          <a:prstGeom prst="rect">
            <a:avLst/>
          </a:prstGeom>
          <a:noFill/>
        </p:spPr>
        <p:txBody>
          <a:bodyPr wrap="square" rtlCol="0">
            <a:spAutoFit/>
          </a:bodyPr>
          <a:lstStyle/>
          <a:p>
            <a:r>
              <a:rPr lang="fr-FR" i="1" dirty="0">
                <a:latin typeface="Whitney Book" pitchFamily="50" charset="0"/>
                <a:cs typeface="Whitney Book" pitchFamily="50" charset="0"/>
              </a:rPr>
              <a:t>Q</a:t>
            </a:r>
            <a:endParaRPr lang="en-US" i="1" dirty="0">
              <a:latin typeface="Whitney Book" pitchFamily="50" charset="0"/>
              <a:cs typeface="Whitney Book" pitchFamily="50" charset="0"/>
            </a:endParaRPr>
          </a:p>
        </p:txBody>
      </p:sp>
      <p:cxnSp>
        <p:nvCxnSpPr>
          <p:cNvPr id="53" name="Straight Connector 52">
            <a:extLst>
              <a:ext uri="{FF2B5EF4-FFF2-40B4-BE49-F238E27FC236}">
                <a16:creationId xmlns:a16="http://schemas.microsoft.com/office/drawing/2014/main" id="{C154D689-CEBB-4AB8-B16C-CF7F91C80F36}"/>
              </a:ext>
            </a:extLst>
          </p:cNvPr>
          <p:cNvCxnSpPr>
            <a:cxnSpLocks/>
          </p:cNvCxnSpPr>
          <p:nvPr/>
        </p:nvCxnSpPr>
        <p:spPr>
          <a:xfrm>
            <a:off x="2541963" y="4735533"/>
            <a:ext cx="0" cy="1449438"/>
          </a:xfrm>
          <a:prstGeom prst="line">
            <a:avLst/>
          </a:prstGeom>
          <a:ln w="9525" cap="flat" cmpd="sng" algn="ctr">
            <a:solidFill>
              <a:schemeClr val="bg1">
                <a:lumMod val="50000"/>
              </a:schemeClr>
            </a:solidFill>
            <a:prstDash val="lg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5" name="TextBox 54">
            <a:extLst>
              <a:ext uri="{FF2B5EF4-FFF2-40B4-BE49-F238E27FC236}">
                <a16:creationId xmlns:a16="http://schemas.microsoft.com/office/drawing/2014/main" id="{B63E0ED6-F3CD-44C8-8407-FE8BCEE4FFE7}"/>
              </a:ext>
            </a:extLst>
          </p:cNvPr>
          <p:cNvSpPr txBox="1"/>
          <p:nvPr/>
        </p:nvSpPr>
        <p:spPr>
          <a:xfrm>
            <a:off x="2394378" y="6219717"/>
            <a:ext cx="649902" cy="369332"/>
          </a:xfrm>
          <a:prstGeom prst="rect">
            <a:avLst/>
          </a:prstGeom>
          <a:noFill/>
        </p:spPr>
        <p:txBody>
          <a:bodyPr wrap="square" rtlCol="0">
            <a:spAutoFit/>
          </a:bodyPr>
          <a:lstStyle/>
          <a:p>
            <a:r>
              <a:rPr lang="fr-FR" i="1" dirty="0">
                <a:latin typeface="Whitney Book" pitchFamily="50" charset="0"/>
                <a:cs typeface="Whitney Book" pitchFamily="50" charset="0"/>
              </a:rPr>
              <a:t>Q’</a:t>
            </a:r>
            <a:endParaRPr lang="en-US" i="1" dirty="0">
              <a:latin typeface="Whitney Book" pitchFamily="50" charset="0"/>
              <a:cs typeface="Whitney Book" pitchFamily="50" charset="0"/>
            </a:endParaRPr>
          </a:p>
        </p:txBody>
      </p:sp>
      <p:cxnSp>
        <p:nvCxnSpPr>
          <p:cNvPr id="56" name="Straight Connector 55">
            <a:extLst>
              <a:ext uri="{FF2B5EF4-FFF2-40B4-BE49-F238E27FC236}">
                <a16:creationId xmlns:a16="http://schemas.microsoft.com/office/drawing/2014/main" id="{F3EC00FB-8133-4A67-AFC6-8261C7AE735F}"/>
              </a:ext>
            </a:extLst>
          </p:cNvPr>
          <p:cNvCxnSpPr>
            <a:cxnSpLocks/>
          </p:cNvCxnSpPr>
          <p:nvPr/>
        </p:nvCxnSpPr>
        <p:spPr>
          <a:xfrm>
            <a:off x="492447" y="4735533"/>
            <a:ext cx="2028638" cy="0"/>
          </a:xfrm>
          <a:prstGeom prst="line">
            <a:avLst/>
          </a:prstGeom>
          <a:ln w="9525" cap="flat" cmpd="sng" algn="ctr">
            <a:solidFill>
              <a:schemeClr val="bg1">
                <a:lumMod val="50000"/>
              </a:schemeClr>
            </a:solidFill>
            <a:prstDash val="lg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8" name="TextBox 57">
            <a:extLst>
              <a:ext uri="{FF2B5EF4-FFF2-40B4-BE49-F238E27FC236}">
                <a16:creationId xmlns:a16="http://schemas.microsoft.com/office/drawing/2014/main" id="{7591ADBB-848A-4FF6-88B6-23019FAEA3F5}"/>
              </a:ext>
            </a:extLst>
          </p:cNvPr>
          <p:cNvSpPr txBox="1"/>
          <p:nvPr/>
        </p:nvSpPr>
        <p:spPr>
          <a:xfrm>
            <a:off x="53466" y="4567849"/>
            <a:ext cx="649902" cy="369332"/>
          </a:xfrm>
          <a:prstGeom prst="rect">
            <a:avLst/>
          </a:prstGeom>
          <a:noFill/>
        </p:spPr>
        <p:txBody>
          <a:bodyPr wrap="square" rtlCol="0">
            <a:spAutoFit/>
          </a:bodyPr>
          <a:lstStyle/>
          <a:p>
            <a:r>
              <a:rPr lang="fr-FR" i="1" dirty="0">
                <a:latin typeface="Whitney Book" pitchFamily="50" charset="0"/>
                <a:cs typeface="Whitney Book" pitchFamily="50" charset="0"/>
              </a:rPr>
              <a:t>P’</a:t>
            </a:r>
            <a:endParaRPr lang="en-US" i="1" dirty="0">
              <a:latin typeface="Whitney Book" pitchFamily="50" charset="0"/>
              <a:cs typeface="Whitney Book" pitchFamily="50" charset="0"/>
            </a:endParaRPr>
          </a:p>
        </p:txBody>
      </p:sp>
      <p:cxnSp>
        <p:nvCxnSpPr>
          <p:cNvPr id="61" name="Straight Arrow Connector 60">
            <a:extLst>
              <a:ext uri="{FF2B5EF4-FFF2-40B4-BE49-F238E27FC236}">
                <a16:creationId xmlns:a16="http://schemas.microsoft.com/office/drawing/2014/main" id="{C7755AD0-D54E-4B6B-BD28-EC27452040A1}"/>
              </a:ext>
            </a:extLst>
          </p:cNvPr>
          <p:cNvCxnSpPr>
            <a:cxnSpLocks/>
          </p:cNvCxnSpPr>
          <p:nvPr/>
        </p:nvCxnSpPr>
        <p:spPr>
          <a:xfrm>
            <a:off x="2147582" y="6392411"/>
            <a:ext cx="314780" cy="1197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3" name="Straight Arrow Connector 62">
            <a:extLst>
              <a:ext uri="{FF2B5EF4-FFF2-40B4-BE49-F238E27FC236}">
                <a16:creationId xmlns:a16="http://schemas.microsoft.com/office/drawing/2014/main" id="{6702A423-415A-404D-8ED3-E737E23D4C25}"/>
              </a:ext>
            </a:extLst>
          </p:cNvPr>
          <p:cNvCxnSpPr>
            <a:cxnSpLocks/>
          </p:cNvCxnSpPr>
          <p:nvPr/>
        </p:nvCxnSpPr>
        <p:spPr>
          <a:xfrm>
            <a:off x="93499" y="4354358"/>
            <a:ext cx="0" cy="2964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6" name="Straight Connector 65">
            <a:extLst>
              <a:ext uri="{FF2B5EF4-FFF2-40B4-BE49-F238E27FC236}">
                <a16:creationId xmlns:a16="http://schemas.microsoft.com/office/drawing/2014/main" id="{5FD8C889-B764-424F-84DA-FF4AC3146384}"/>
              </a:ext>
            </a:extLst>
          </p:cNvPr>
          <p:cNvCxnSpPr>
            <a:cxnSpLocks/>
          </p:cNvCxnSpPr>
          <p:nvPr/>
        </p:nvCxnSpPr>
        <p:spPr>
          <a:xfrm>
            <a:off x="2551795" y="4728692"/>
            <a:ext cx="2742810" cy="0"/>
          </a:xfrm>
          <a:prstGeom prst="line">
            <a:avLst/>
          </a:prstGeom>
          <a:ln w="9525" cap="flat" cmpd="sng" algn="ctr">
            <a:solidFill>
              <a:schemeClr val="bg1">
                <a:lumMod val="50000"/>
              </a:schemeClr>
            </a:solidFill>
            <a:prstDash val="lg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0" name="TextBox 69">
            <a:extLst>
              <a:ext uri="{FF2B5EF4-FFF2-40B4-BE49-F238E27FC236}">
                <a16:creationId xmlns:a16="http://schemas.microsoft.com/office/drawing/2014/main" id="{6E0F6350-7D74-488E-B20F-16857C4DD0D8}"/>
              </a:ext>
            </a:extLst>
          </p:cNvPr>
          <p:cNvSpPr txBox="1"/>
          <p:nvPr/>
        </p:nvSpPr>
        <p:spPr>
          <a:xfrm>
            <a:off x="8220962" y="4529631"/>
            <a:ext cx="1299804" cy="369331"/>
          </a:xfrm>
          <a:prstGeom prst="rect">
            <a:avLst/>
          </a:prstGeom>
          <a:noFill/>
        </p:spPr>
        <p:txBody>
          <a:bodyPr wrap="square" rtlCol="0">
            <a:spAutoFit/>
          </a:bodyPr>
          <a:lstStyle/>
          <a:p>
            <a:r>
              <a:rPr lang="fr-FR" i="1" dirty="0">
                <a:latin typeface="Whitney Book" pitchFamily="50" charset="0"/>
                <a:cs typeface="Whitney Book" pitchFamily="50" charset="0"/>
              </a:rPr>
              <a:t>P’</a:t>
            </a:r>
            <a:endParaRPr lang="en-US" i="1" dirty="0">
              <a:latin typeface="Whitney Book" pitchFamily="50" charset="0"/>
              <a:cs typeface="Whitney Book" pitchFamily="50" charset="0"/>
            </a:endParaRPr>
          </a:p>
        </p:txBody>
      </p:sp>
      <p:cxnSp>
        <p:nvCxnSpPr>
          <p:cNvPr id="71" name="Straight Connector 70">
            <a:extLst>
              <a:ext uri="{FF2B5EF4-FFF2-40B4-BE49-F238E27FC236}">
                <a16:creationId xmlns:a16="http://schemas.microsoft.com/office/drawing/2014/main" id="{B1C322F0-65C5-48B1-B68A-E2439DDA9968}"/>
              </a:ext>
            </a:extLst>
          </p:cNvPr>
          <p:cNvCxnSpPr>
            <a:cxnSpLocks/>
          </p:cNvCxnSpPr>
          <p:nvPr/>
        </p:nvCxnSpPr>
        <p:spPr>
          <a:xfrm>
            <a:off x="6868743" y="4728692"/>
            <a:ext cx="0" cy="1491025"/>
          </a:xfrm>
          <a:prstGeom prst="line">
            <a:avLst/>
          </a:prstGeom>
          <a:ln w="9525" cap="flat" cmpd="sng" algn="ctr">
            <a:solidFill>
              <a:schemeClr val="bg1">
                <a:lumMod val="50000"/>
              </a:schemeClr>
            </a:solidFill>
            <a:prstDash val="lg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22536ADF-D699-4A68-BB9B-EEB09C5BF490}"/>
                  </a:ext>
                </a:extLst>
              </p:cNvPr>
              <p:cNvSpPr txBox="1"/>
              <p:nvPr/>
            </p:nvSpPr>
            <p:spPr>
              <a:xfrm>
                <a:off x="7004437" y="6171292"/>
                <a:ext cx="649902"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b="0" i="1" dirty="0" smtClean="0">
                              <a:latin typeface="Cambria Math" panose="02040503050406030204" pitchFamily="18" charset="0"/>
                              <a:cs typeface="Whitney Book" pitchFamily="50" charset="0"/>
                            </a:rPr>
                          </m:ctrlPr>
                        </m:sSubPr>
                        <m:e>
                          <m:r>
                            <a:rPr lang="fr-FR" i="1" dirty="0" smtClean="0">
                              <a:latin typeface="Cambria Math" panose="02040503050406030204" pitchFamily="18" charset="0"/>
                              <a:cs typeface="Whitney Book" pitchFamily="50" charset="0"/>
                            </a:rPr>
                            <m:t>𝑞</m:t>
                          </m:r>
                        </m:e>
                        <m:sub>
                          <m:r>
                            <a:rPr lang="fr-FR" b="0" i="1" dirty="0" smtClean="0">
                              <a:latin typeface="Cambria Math" panose="02040503050406030204" pitchFamily="18" charset="0"/>
                              <a:cs typeface="Whitney Book" pitchFamily="50" charset="0"/>
                            </a:rPr>
                            <m:t>1</m:t>
                          </m:r>
                        </m:sub>
                      </m:sSub>
                    </m:oMath>
                  </m:oMathPara>
                </a14:m>
                <a:endParaRPr lang="fr-FR" b="0" i="1" dirty="0">
                  <a:latin typeface="Whitney Book" pitchFamily="50" charset="0"/>
                  <a:cs typeface="Whitney Book" pitchFamily="50" charset="0"/>
                </a:endParaRPr>
              </a:p>
              <a:p>
                <a:endParaRPr lang="en-US" i="1" dirty="0">
                  <a:latin typeface="Whitney Book" pitchFamily="50" charset="0"/>
                  <a:cs typeface="Whitney Book" pitchFamily="50" charset="0"/>
                </a:endParaRPr>
              </a:p>
            </p:txBody>
          </p:sp>
        </mc:Choice>
        <mc:Fallback xmlns="">
          <p:sp>
            <p:nvSpPr>
              <p:cNvPr id="73" name="TextBox 72">
                <a:extLst>
                  <a:ext uri="{FF2B5EF4-FFF2-40B4-BE49-F238E27FC236}">
                    <a16:creationId xmlns:a16="http://schemas.microsoft.com/office/drawing/2014/main" id="{22536ADF-D699-4A68-BB9B-EEB09C5BF490}"/>
                  </a:ext>
                </a:extLst>
              </p:cNvPr>
              <p:cNvSpPr txBox="1">
                <a:spLocks noRot="1" noChangeAspect="1" noMove="1" noResize="1" noEditPoints="1" noAdjustHandles="1" noChangeArrowheads="1" noChangeShapeType="1" noTextEdit="1"/>
              </p:cNvSpPr>
              <p:nvPr/>
            </p:nvSpPr>
            <p:spPr>
              <a:xfrm>
                <a:off x="7004437" y="6171292"/>
                <a:ext cx="649902" cy="646331"/>
              </a:xfrm>
              <a:prstGeom prst="rect">
                <a:avLst/>
              </a:prstGeom>
              <a:blipFill>
                <a:blip r:embed="rId4"/>
                <a:stretch>
                  <a:fillRect/>
                </a:stretch>
              </a:blipFill>
            </p:spPr>
            <p:txBody>
              <a:bodyPr/>
              <a:lstStyle/>
              <a:p>
                <a:r>
                  <a:rPr lang="en-US">
                    <a:noFill/>
                  </a:rPr>
                  <a:t> </a:t>
                </a:r>
              </a:p>
            </p:txBody>
          </p:sp>
        </mc:Fallback>
      </mc:AlternateContent>
      <p:cxnSp>
        <p:nvCxnSpPr>
          <p:cNvPr id="48" name="Straight Connector 47">
            <a:extLst>
              <a:ext uri="{FF2B5EF4-FFF2-40B4-BE49-F238E27FC236}">
                <a16:creationId xmlns:a16="http://schemas.microsoft.com/office/drawing/2014/main" id="{B0FCAAFB-1C53-47F7-B88A-A7185D19A54F}"/>
              </a:ext>
            </a:extLst>
          </p:cNvPr>
          <p:cNvCxnSpPr>
            <a:cxnSpLocks/>
          </p:cNvCxnSpPr>
          <p:nvPr/>
        </p:nvCxnSpPr>
        <p:spPr>
          <a:xfrm>
            <a:off x="7277175" y="4403382"/>
            <a:ext cx="0" cy="1783557"/>
          </a:xfrm>
          <a:prstGeom prst="line">
            <a:avLst/>
          </a:prstGeom>
          <a:ln w="9525" cap="flat" cmpd="sng" algn="ctr">
            <a:solidFill>
              <a:schemeClr val="bg1">
                <a:lumMod val="50000"/>
              </a:schemeClr>
            </a:solidFill>
            <a:prstDash val="lg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45054271-A74F-440A-B1D4-7D75948099EC}"/>
                  </a:ext>
                </a:extLst>
              </p:cNvPr>
              <p:cNvSpPr txBox="1"/>
              <p:nvPr/>
            </p:nvSpPr>
            <p:spPr>
              <a:xfrm>
                <a:off x="6526057" y="6180910"/>
                <a:ext cx="649902"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b="0" i="1" dirty="0" smtClean="0">
                              <a:latin typeface="Cambria Math" panose="02040503050406030204" pitchFamily="18" charset="0"/>
                              <a:cs typeface="Whitney Book" pitchFamily="50" charset="0"/>
                            </a:rPr>
                          </m:ctrlPr>
                        </m:sSubPr>
                        <m:e>
                          <m:r>
                            <a:rPr lang="fr-FR" i="1" dirty="0" smtClean="0">
                              <a:latin typeface="Cambria Math" panose="02040503050406030204" pitchFamily="18" charset="0"/>
                              <a:cs typeface="Whitney Book" pitchFamily="50" charset="0"/>
                            </a:rPr>
                            <m:t>𝑞</m:t>
                          </m:r>
                        </m:e>
                        <m:sub>
                          <m:r>
                            <a:rPr lang="fr-FR" b="0" i="1" dirty="0" smtClean="0">
                              <a:latin typeface="Cambria Math" panose="02040503050406030204" pitchFamily="18" charset="0"/>
                              <a:cs typeface="Whitney Book" pitchFamily="50" charset="0"/>
                            </a:rPr>
                            <m:t>2</m:t>
                          </m:r>
                        </m:sub>
                      </m:sSub>
                    </m:oMath>
                  </m:oMathPara>
                </a14:m>
                <a:endParaRPr lang="fr-FR" b="0" i="1" dirty="0">
                  <a:latin typeface="Whitney Book" pitchFamily="50" charset="0"/>
                  <a:cs typeface="Whitney Book" pitchFamily="50" charset="0"/>
                </a:endParaRPr>
              </a:p>
              <a:p>
                <a:endParaRPr lang="en-US" i="1" dirty="0">
                  <a:latin typeface="Whitney Book" pitchFamily="50" charset="0"/>
                  <a:cs typeface="Whitney Book" pitchFamily="50" charset="0"/>
                </a:endParaRPr>
              </a:p>
            </p:txBody>
          </p:sp>
        </mc:Choice>
        <mc:Fallback xmlns="">
          <p:sp>
            <p:nvSpPr>
              <p:cNvPr id="51" name="TextBox 50">
                <a:extLst>
                  <a:ext uri="{FF2B5EF4-FFF2-40B4-BE49-F238E27FC236}">
                    <a16:creationId xmlns:a16="http://schemas.microsoft.com/office/drawing/2014/main" id="{45054271-A74F-440A-B1D4-7D75948099EC}"/>
                  </a:ext>
                </a:extLst>
              </p:cNvPr>
              <p:cNvSpPr txBox="1">
                <a:spLocks noRot="1" noChangeAspect="1" noMove="1" noResize="1" noEditPoints="1" noAdjustHandles="1" noChangeArrowheads="1" noChangeShapeType="1" noTextEdit="1"/>
              </p:cNvSpPr>
              <p:nvPr/>
            </p:nvSpPr>
            <p:spPr>
              <a:xfrm>
                <a:off x="6526057" y="6180910"/>
                <a:ext cx="649902" cy="646331"/>
              </a:xfrm>
              <a:prstGeom prst="rect">
                <a:avLst/>
              </a:prstGeom>
              <a:blipFill>
                <a:blip r:embed="rId5"/>
                <a:stretch>
                  <a:fillRect/>
                </a:stretch>
              </a:blipFill>
            </p:spPr>
            <p:txBody>
              <a:bodyPr/>
              <a:lstStyle/>
              <a:p>
                <a:r>
                  <a:rPr lang="en-US">
                    <a:noFill/>
                  </a:rPr>
                  <a:t> </a:t>
                </a:r>
              </a:p>
            </p:txBody>
          </p:sp>
        </mc:Fallback>
      </mc:AlternateContent>
      <p:cxnSp>
        <p:nvCxnSpPr>
          <p:cNvPr id="54" name="Straight Arrow Connector 53">
            <a:extLst>
              <a:ext uri="{FF2B5EF4-FFF2-40B4-BE49-F238E27FC236}">
                <a16:creationId xmlns:a16="http://schemas.microsoft.com/office/drawing/2014/main" id="{95353812-5FAC-4214-AB93-FDB216198162}"/>
              </a:ext>
            </a:extLst>
          </p:cNvPr>
          <p:cNvCxnSpPr>
            <a:cxnSpLocks/>
          </p:cNvCxnSpPr>
          <p:nvPr/>
        </p:nvCxnSpPr>
        <p:spPr>
          <a:xfrm>
            <a:off x="6472392" y="6411996"/>
            <a:ext cx="25674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7" name="Oval 56">
            <a:extLst>
              <a:ext uri="{FF2B5EF4-FFF2-40B4-BE49-F238E27FC236}">
                <a16:creationId xmlns:a16="http://schemas.microsoft.com/office/drawing/2014/main" id="{3F1CF356-2909-44CE-A220-84AA8DA64355}"/>
              </a:ext>
            </a:extLst>
          </p:cNvPr>
          <p:cNvSpPr/>
          <p:nvPr/>
        </p:nvSpPr>
        <p:spPr>
          <a:xfrm>
            <a:off x="2479197" y="4656506"/>
            <a:ext cx="123103" cy="159390"/>
          </a:xfrm>
          <a:prstGeom prst="ellipse">
            <a:avLst/>
          </a:prstGeom>
          <a:ln w="3175"/>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8316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8"/>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56"/>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7"/>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53"/>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6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5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68"/>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7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71"/>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54"/>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44" grpId="0" animBg="1"/>
      <p:bldP spid="45" grpId="0" animBg="1"/>
      <p:bldP spid="16" grpId="0" animBg="1"/>
      <p:bldP spid="18" grpId="0" animBg="1"/>
      <p:bldP spid="21" grpId="0"/>
      <p:bldP spid="22" grpId="0"/>
      <p:bldP spid="25" grpId="0"/>
      <p:bldP spid="26" grpId="0"/>
      <p:bldP spid="27" grpId="0" animBg="1"/>
      <p:bldP spid="34" grpId="0"/>
      <p:bldP spid="35" grpId="0"/>
      <p:bldP spid="42" grpId="0"/>
      <p:bldP spid="46" grpId="0" animBg="1"/>
      <p:bldP spid="47" grpId="0"/>
      <p:bldP spid="49" grpId="0" animBg="1"/>
      <p:bldP spid="52" grpId="0"/>
      <p:bldP spid="55" grpId="0"/>
      <p:bldP spid="58" grpId="0"/>
      <p:bldP spid="70" grpId="0"/>
      <p:bldP spid="73" grpId="0"/>
      <p:bldP spid="51" grpId="0"/>
      <p:bldP spid="5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66A65-AD0C-4F6D-A6A6-72CC681D3B12}"/>
              </a:ext>
            </a:extLst>
          </p:cNvPr>
          <p:cNvSpPr>
            <a:spLocks noGrp="1"/>
          </p:cNvSpPr>
          <p:nvPr>
            <p:ph type="title"/>
          </p:nvPr>
        </p:nvSpPr>
        <p:spPr/>
        <p:txBody>
          <a:bodyPr/>
          <a:lstStyle/>
          <a:p>
            <a:r>
              <a:rPr lang="fr-FR" dirty="0" err="1"/>
              <a:t>Outline</a:t>
            </a:r>
            <a:r>
              <a:rPr lang="fr-FR" dirty="0"/>
              <a:t> of module 4</a:t>
            </a:r>
            <a:endParaRPr lang="en-US" dirty="0"/>
          </a:p>
        </p:txBody>
      </p:sp>
      <p:sp>
        <p:nvSpPr>
          <p:cNvPr id="4" name="Text Placeholder 3">
            <a:extLst>
              <a:ext uri="{FF2B5EF4-FFF2-40B4-BE49-F238E27FC236}">
                <a16:creationId xmlns:a16="http://schemas.microsoft.com/office/drawing/2014/main" id="{974B59FA-E007-4CF7-A0A3-3BBA10A4CD5A}"/>
              </a:ext>
            </a:extLst>
          </p:cNvPr>
          <p:cNvSpPr>
            <a:spLocks noGrp="1"/>
          </p:cNvSpPr>
          <p:nvPr>
            <p:ph type="body" idx="1"/>
          </p:nvPr>
        </p:nvSpPr>
        <p:spPr/>
        <p:txBody>
          <a:bodyPr/>
          <a:lstStyle/>
          <a:p>
            <a:r>
              <a:rPr lang="en-US" dirty="0">
                <a:solidFill>
                  <a:schemeClr val="bg1">
                    <a:lumMod val="50000"/>
                  </a:schemeClr>
                </a:solidFill>
              </a:rPr>
              <a:t>Introduction to market structures </a:t>
            </a:r>
          </a:p>
          <a:p>
            <a:endParaRPr lang="en-US" sz="2000" dirty="0"/>
          </a:p>
          <a:p>
            <a:r>
              <a:rPr lang="en-US" b="1" dirty="0"/>
              <a:t>Perfect competition</a:t>
            </a:r>
          </a:p>
          <a:p>
            <a:pPr lvl="1"/>
            <a:r>
              <a:rPr lang="en-US" dirty="0">
                <a:solidFill>
                  <a:schemeClr val="bg1">
                    <a:lumMod val="50000"/>
                  </a:schemeClr>
                </a:solidFill>
              </a:rPr>
              <a:t>Profit maximization of a price taker in the short run</a:t>
            </a:r>
          </a:p>
          <a:p>
            <a:pPr lvl="1"/>
            <a:r>
              <a:rPr lang="en-US" dirty="0">
                <a:solidFill>
                  <a:schemeClr val="bg1">
                    <a:lumMod val="50000"/>
                  </a:schemeClr>
                </a:solidFill>
              </a:rPr>
              <a:t>Firm-level and market supply</a:t>
            </a:r>
          </a:p>
          <a:p>
            <a:pPr lvl="1"/>
            <a:r>
              <a:rPr lang="en-US" b="1" dirty="0"/>
              <a:t>Long-run competitive equilibrium</a:t>
            </a:r>
          </a:p>
          <a:p>
            <a:pPr lvl="1"/>
            <a:endParaRPr lang="en-US" sz="2000" dirty="0"/>
          </a:p>
          <a:p>
            <a:r>
              <a:rPr lang="en-US" dirty="0">
                <a:solidFill>
                  <a:schemeClr val="bg1">
                    <a:lumMod val="50000"/>
                  </a:schemeClr>
                </a:solidFill>
              </a:rPr>
              <a:t>Market distortions/regulations</a:t>
            </a:r>
          </a:p>
          <a:p>
            <a:endParaRPr lang="en-US" sz="2000" dirty="0">
              <a:solidFill>
                <a:schemeClr val="bg1">
                  <a:lumMod val="50000"/>
                </a:schemeClr>
              </a:solidFill>
            </a:endParaRPr>
          </a:p>
          <a:p>
            <a:r>
              <a:rPr lang="en-US" dirty="0">
                <a:solidFill>
                  <a:schemeClr val="bg1">
                    <a:lumMod val="50000"/>
                  </a:schemeClr>
                </a:solidFill>
              </a:rPr>
              <a:t>Externalities</a:t>
            </a:r>
          </a:p>
          <a:p>
            <a:endParaRPr lang="en-US" dirty="0"/>
          </a:p>
        </p:txBody>
      </p:sp>
    </p:spTree>
    <p:extLst>
      <p:ext uri="{BB962C8B-B14F-4D97-AF65-F5344CB8AC3E}">
        <p14:creationId xmlns:p14="http://schemas.microsoft.com/office/powerpoint/2010/main" val="186444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1A202-7242-41AB-A1E3-600E93585A81}"/>
              </a:ext>
            </a:extLst>
          </p:cNvPr>
          <p:cNvSpPr>
            <a:spLocks noGrp="1"/>
          </p:cNvSpPr>
          <p:nvPr>
            <p:ph type="title"/>
          </p:nvPr>
        </p:nvSpPr>
        <p:spPr/>
        <p:txBody>
          <a:bodyPr/>
          <a:lstStyle/>
          <a:p>
            <a:r>
              <a:rPr lang="en-US" dirty="0"/>
              <a:t>Perfect Competition in the Long Run</a:t>
            </a:r>
          </a:p>
        </p:txBody>
      </p:sp>
      <p:sp>
        <p:nvSpPr>
          <p:cNvPr id="3" name="Content Placeholder 2">
            <a:extLst>
              <a:ext uri="{FF2B5EF4-FFF2-40B4-BE49-F238E27FC236}">
                <a16:creationId xmlns:a16="http://schemas.microsoft.com/office/drawing/2014/main" id="{E96436E5-9573-4A2F-BF59-1AF3C92EA672}"/>
              </a:ext>
            </a:extLst>
          </p:cNvPr>
          <p:cNvSpPr>
            <a:spLocks noGrp="1"/>
          </p:cNvSpPr>
          <p:nvPr>
            <p:ph type="body" idx="1"/>
          </p:nvPr>
        </p:nvSpPr>
        <p:spPr/>
        <p:txBody>
          <a:bodyPr/>
          <a:lstStyle/>
          <a:p>
            <a:pPr marL="0" indent="0">
              <a:buNone/>
            </a:pPr>
            <a:r>
              <a:rPr lang="fr-FR" dirty="0" err="1"/>
              <a:t>What</a:t>
            </a:r>
            <a:r>
              <a:rPr lang="fr-FR" dirty="0"/>
              <a:t> changes?</a:t>
            </a:r>
          </a:p>
          <a:p>
            <a:pPr marL="0" indent="0">
              <a:buNone/>
            </a:pPr>
            <a:endParaRPr lang="fr-FR" dirty="0"/>
          </a:p>
          <a:p>
            <a:pPr marL="514350" indent="-514350">
              <a:buFont typeface="+mj-lt"/>
              <a:buAutoNum type="arabicPeriod"/>
            </a:pPr>
            <a:r>
              <a:rPr lang="fr-FR" dirty="0"/>
              <a:t>Capital can </a:t>
            </a:r>
            <a:r>
              <a:rPr lang="fr-FR" dirty="0" err="1"/>
              <a:t>also</a:t>
            </a:r>
            <a:r>
              <a:rPr lang="fr-FR" dirty="0"/>
              <a:t> </a:t>
            </a:r>
            <a:r>
              <a:rPr lang="fr-FR" dirty="0" err="1"/>
              <a:t>be</a:t>
            </a:r>
            <a:r>
              <a:rPr lang="fr-FR" dirty="0"/>
              <a:t> </a:t>
            </a:r>
            <a:r>
              <a:rPr lang="fr-FR" dirty="0" err="1"/>
              <a:t>adjusted</a:t>
            </a:r>
            <a:r>
              <a:rPr lang="fr-FR" dirty="0"/>
              <a:t> </a:t>
            </a:r>
          </a:p>
          <a:p>
            <a:pPr lvl="1"/>
            <a:r>
              <a:rPr lang="fr-FR" dirty="0"/>
              <a:t>All </a:t>
            </a:r>
            <a:r>
              <a:rPr lang="fr-FR" dirty="0" err="1"/>
              <a:t>costs</a:t>
            </a:r>
            <a:r>
              <a:rPr lang="fr-FR" dirty="0"/>
              <a:t> are </a:t>
            </a:r>
            <a:r>
              <a:rPr lang="fr-FR" dirty="0" err="1"/>
              <a:t>considered</a:t>
            </a:r>
            <a:r>
              <a:rPr lang="fr-FR" dirty="0"/>
              <a:t> variable</a:t>
            </a:r>
          </a:p>
          <a:p>
            <a:pPr lvl="1"/>
            <a:r>
              <a:rPr lang="fr-FR" dirty="0"/>
              <a:t>Focus on Long Run </a:t>
            </a:r>
            <a:r>
              <a:rPr lang="fr-FR" dirty="0" err="1"/>
              <a:t>Average</a:t>
            </a:r>
            <a:r>
              <a:rPr lang="fr-FR" dirty="0"/>
              <a:t> </a:t>
            </a:r>
            <a:r>
              <a:rPr lang="fr-FR" dirty="0" err="1"/>
              <a:t>Costs</a:t>
            </a:r>
            <a:r>
              <a:rPr lang="fr-FR" dirty="0"/>
              <a:t> (LAC)</a:t>
            </a:r>
          </a:p>
          <a:p>
            <a:pPr marL="457200" lvl="1" indent="0">
              <a:buNone/>
            </a:pPr>
            <a:endParaRPr lang="fr-FR" dirty="0"/>
          </a:p>
          <a:p>
            <a:pPr marL="514350" indent="-514350">
              <a:buFont typeface="+mj-lt"/>
              <a:buAutoNum type="arabicPeriod"/>
            </a:pPr>
            <a:r>
              <a:rPr lang="fr-FR" dirty="0" err="1"/>
              <a:t>Market</a:t>
            </a:r>
            <a:r>
              <a:rPr lang="fr-FR" dirty="0"/>
              <a:t> entry and exit</a:t>
            </a:r>
          </a:p>
          <a:p>
            <a:pPr marL="914400" lvl="1" indent="-514350"/>
            <a:r>
              <a:rPr lang="fr-FR" dirty="0"/>
              <a:t>Affect the </a:t>
            </a:r>
            <a:r>
              <a:rPr lang="fr-FR" dirty="0" err="1"/>
              <a:t>market</a:t>
            </a:r>
            <a:r>
              <a:rPr lang="fr-FR" dirty="0"/>
              <a:t> </a:t>
            </a:r>
            <a:r>
              <a:rPr lang="fr-FR" dirty="0" err="1"/>
              <a:t>price</a:t>
            </a:r>
            <a:endParaRPr lang="en-US" dirty="0"/>
          </a:p>
        </p:txBody>
      </p:sp>
    </p:spTree>
    <p:extLst>
      <p:ext uri="{BB962C8B-B14F-4D97-AF65-F5344CB8AC3E}">
        <p14:creationId xmlns:p14="http://schemas.microsoft.com/office/powerpoint/2010/main" val="1366958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normAutofit fontScale="90000"/>
          </a:bodyPr>
          <a:lstStyle/>
          <a:p>
            <a:r>
              <a:rPr lang="en-US" dirty="0">
                <a:solidFill>
                  <a:schemeClr val="tx2">
                    <a:lumMod val="75000"/>
                  </a:schemeClr>
                </a:solidFill>
                <a:latin typeface="Whitney-Medium" pitchFamily="50" charset="0"/>
                <a:cs typeface="Whitney-Medium" pitchFamily="50" charset="0"/>
              </a:rPr>
              <a:t>Long Run Competitive Equilibrium</a:t>
            </a:r>
            <a:br>
              <a:rPr lang="en-US" dirty="0">
                <a:solidFill>
                  <a:schemeClr val="tx2">
                    <a:lumMod val="75000"/>
                  </a:schemeClr>
                </a:solidFill>
                <a:latin typeface="Whitney-Medium" pitchFamily="50" charset="0"/>
                <a:cs typeface="Whitney-Medium" pitchFamily="50" charset="0"/>
              </a:rPr>
            </a:br>
            <a:r>
              <a:rPr lang="en-US" sz="2200" kern="0" dirty="0">
                <a:solidFill>
                  <a:schemeClr val="tx2">
                    <a:lumMod val="75000"/>
                  </a:schemeClr>
                </a:solidFill>
                <a:latin typeface="Whitney-Medium" pitchFamily="50" charset="0"/>
                <a:cs typeface="Whitney-Medium" pitchFamily="50" charset="0"/>
              </a:rPr>
              <a:t>(assuming there are many identical producers)</a:t>
            </a:r>
            <a:br>
              <a:rPr lang="en-US" sz="3200" kern="0" dirty="0">
                <a:solidFill>
                  <a:schemeClr val="tx2">
                    <a:lumMod val="75000"/>
                  </a:schemeClr>
                </a:solidFill>
                <a:latin typeface="Whitney-Medium" pitchFamily="50" charset="0"/>
                <a:cs typeface="Whitney-Medium" pitchFamily="50" charset="0"/>
              </a:rPr>
            </a:br>
            <a:endParaRPr lang="en-US" dirty="0">
              <a:solidFill>
                <a:schemeClr val="tx2">
                  <a:lumMod val="75000"/>
                </a:schemeClr>
              </a:solidFill>
              <a:latin typeface="Whitney-Medium" pitchFamily="50" charset="0"/>
              <a:cs typeface="Whitney-Medium" pitchFamily="50" charset="0"/>
            </a:endParaRPr>
          </a:p>
        </p:txBody>
      </p:sp>
      <p:sp>
        <p:nvSpPr>
          <p:cNvPr id="22" name="Slide Number Placeholder 21"/>
          <p:cNvSpPr>
            <a:spLocks noGrp="1"/>
          </p:cNvSpPr>
          <p:nvPr>
            <p:ph type="sldNum" sz="quarter" idx="12"/>
          </p:nvPr>
        </p:nvSpPr>
        <p:spPr/>
        <p:txBody>
          <a:bodyPr/>
          <a:lstStyle/>
          <a:p>
            <a:fld id="{DBC38028-5B1C-49D3-BF22-2CE9385E6DA2}" type="slidenum">
              <a:rPr lang="en-US" smtClean="0">
                <a:solidFill>
                  <a:schemeClr val="tx2">
                    <a:lumMod val="75000"/>
                  </a:schemeClr>
                </a:solidFill>
                <a:latin typeface="Whitney Book" pitchFamily="50" charset="0"/>
                <a:cs typeface="Whitney Book" pitchFamily="50" charset="0"/>
              </a:rPr>
              <a:pPr/>
              <a:t>46</a:t>
            </a:fld>
            <a:endParaRPr lang="en-US" dirty="0">
              <a:solidFill>
                <a:schemeClr val="tx2">
                  <a:lumMod val="75000"/>
                </a:schemeClr>
              </a:solidFill>
              <a:latin typeface="Whitney Book" pitchFamily="50" charset="0"/>
              <a:cs typeface="Whitney Book" pitchFamily="50" charset="0"/>
            </a:endParaRPr>
          </a:p>
        </p:txBody>
      </p:sp>
      <p:sp>
        <p:nvSpPr>
          <p:cNvPr id="60421" name="Line 5"/>
          <p:cNvSpPr>
            <a:spLocks noChangeShapeType="1"/>
          </p:cNvSpPr>
          <p:nvPr/>
        </p:nvSpPr>
        <p:spPr bwMode="auto">
          <a:xfrm>
            <a:off x="1052186" y="1588445"/>
            <a:ext cx="0" cy="3535568"/>
          </a:xfrm>
          <a:prstGeom prst="line">
            <a:avLst/>
          </a:prstGeom>
          <a:ln>
            <a:headEnd type="arrow" w="sm" len="sm"/>
            <a:tailEnd type="none" w="sm" len="sm"/>
          </a:ln>
        </p:spPr>
        <p:style>
          <a:lnRef idx="2">
            <a:schemeClr val="dk1"/>
          </a:lnRef>
          <a:fillRef idx="0">
            <a:schemeClr val="dk1"/>
          </a:fillRef>
          <a:effectRef idx="1">
            <a:schemeClr val="dk1"/>
          </a:effectRef>
          <a:fontRef idx="minor">
            <a:schemeClr val="tx1"/>
          </a:fontRef>
        </p:style>
        <p:txBody>
          <a:bodyPr wrap="none" lIns="90217" tIns="45109" rIns="90217" bIns="45109" anchor="ctr"/>
          <a:lstStyle/>
          <a:p>
            <a:endParaRPr lang="en-US" sz="2625">
              <a:solidFill>
                <a:schemeClr val="tx2">
                  <a:lumMod val="75000"/>
                </a:schemeClr>
              </a:solidFill>
              <a:latin typeface="Whitney Book" pitchFamily="50" charset="0"/>
              <a:cs typeface="Whitney Book" pitchFamily="50" charset="0"/>
            </a:endParaRPr>
          </a:p>
        </p:txBody>
      </p:sp>
      <p:sp>
        <p:nvSpPr>
          <p:cNvPr id="60423" name="Text Box 7"/>
          <p:cNvSpPr txBox="1">
            <a:spLocks noChangeArrowheads="1"/>
          </p:cNvSpPr>
          <p:nvPr/>
        </p:nvSpPr>
        <p:spPr bwMode="auto">
          <a:xfrm>
            <a:off x="357188" y="1204224"/>
            <a:ext cx="901874" cy="495056"/>
          </a:xfrm>
          <a:prstGeom prst="rect">
            <a:avLst/>
          </a:prstGeom>
          <a:noFill/>
          <a:ln w="12700">
            <a:noFill/>
            <a:miter lim="800000"/>
            <a:headEnd type="none" w="sm" len="sm"/>
            <a:tailEnd type="none" w="sm" len="sm"/>
          </a:ln>
          <a:effectLst/>
        </p:spPr>
        <p:txBody>
          <a:bodyPr lIns="90217" tIns="45109" rIns="90217" bIns="45109">
            <a:spAutoFit/>
          </a:bodyPr>
          <a:lstStyle/>
          <a:p>
            <a:pPr>
              <a:spcBef>
                <a:spcPct val="50000"/>
              </a:spcBef>
            </a:pPr>
            <a:r>
              <a:rPr lang="en-US" sz="2625" i="1" dirty="0">
                <a:solidFill>
                  <a:schemeClr val="tx2">
                    <a:lumMod val="75000"/>
                  </a:schemeClr>
                </a:solidFill>
                <a:latin typeface="Whitney Book" pitchFamily="50" charset="0"/>
                <a:cs typeface="Whitney Book" pitchFamily="50" charset="0"/>
              </a:rPr>
              <a:t>$/Q</a:t>
            </a:r>
          </a:p>
        </p:txBody>
      </p:sp>
      <p:sp>
        <p:nvSpPr>
          <p:cNvPr id="60424" name="Text Box 8"/>
          <p:cNvSpPr txBox="1">
            <a:spLocks noChangeArrowheads="1"/>
          </p:cNvSpPr>
          <p:nvPr/>
        </p:nvSpPr>
        <p:spPr bwMode="auto">
          <a:xfrm>
            <a:off x="7440460" y="4898341"/>
            <a:ext cx="826718" cy="495056"/>
          </a:xfrm>
          <a:prstGeom prst="rect">
            <a:avLst/>
          </a:prstGeom>
          <a:noFill/>
          <a:ln w="12700">
            <a:noFill/>
            <a:miter lim="800000"/>
            <a:headEnd type="none" w="sm" len="sm"/>
            <a:tailEnd type="none" w="sm" len="sm"/>
          </a:ln>
          <a:effectLst/>
        </p:spPr>
        <p:txBody>
          <a:bodyPr lIns="90217" tIns="45109" rIns="90217" bIns="45109">
            <a:spAutoFit/>
          </a:bodyPr>
          <a:lstStyle/>
          <a:p>
            <a:pPr>
              <a:spcBef>
                <a:spcPct val="50000"/>
              </a:spcBef>
            </a:pPr>
            <a:r>
              <a:rPr lang="en-US" sz="2625" i="1" dirty="0">
                <a:solidFill>
                  <a:schemeClr val="tx2">
                    <a:lumMod val="75000"/>
                  </a:schemeClr>
                </a:solidFill>
                <a:latin typeface="Whitney Book" pitchFamily="50" charset="0"/>
                <a:cs typeface="Whitney Book" pitchFamily="50" charset="0"/>
              </a:rPr>
              <a:t>Q</a:t>
            </a:r>
          </a:p>
        </p:txBody>
      </p:sp>
      <p:sp>
        <p:nvSpPr>
          <p:cNvPr id="60425" name="Line 9"/>
          <p:cNvSpPr>
            <a:spLocks noChangeShapeType="1"/>
          </p:cNvSpPr>
          <p:nvPr/>
        </p:nvSpPr>
        <p:spPr bwMode="auto">
          <a:xfrm>
            <a:off x="1052186" y="5124013"/>
            <a:ext cx="6237962" cy="0"/>
          </a:xfrm>
          <a:prstGeom prst="line">
            <a:avLst/>
          </a:prstGeom>
          <a:ln>
            <a:headEnd type="none" w="sm" len="sm"/>
            <a:tailEnd type="arrow" w="sm" len="sm"/>
          </a:ln>
        </p:spPr>
        <p:style>
          <a:lnRef idx="2">
            <a:schemeClr val="dk1"/>
          </a:lnRef>
          <a:fillRef idx="0">
            <a:schemeClr val="dk1"/>
          </a:fillRef>
          <a:effectRef idx="1">
            <a:schemeClr val="dk1"/>
          </a:effectRef>
          <a:fontRef idx="minor">
            <a:schemeClr val="tx1"/>
          </a:fontRef>
        </p:style>
        <p:txBody>
          <a:bodyPr wrap="none" lIns="90217" tIns="45109" rIns="90217" bIns="45109" anchor="ctr"/>
          <a:lstStyle/>
          <a:p>
            <a:endParaRPr lang="en-US" sz="2625">
              <a:solidFill>
                <a:schemeClr val="tx2">
                  <a:lumMod val="75000"/>
                </a:schemeClr>
              </a:solidFill>
              <a:latin typeface="Whitney Book" pitchFamily="50" charset="0"/>
              <a:cs typeface="Whitney Book" pitchFamily="50" charset="0"/>
            </a:endParaRPr>
          </a:p>
        </p:txBody>
      </p:sp>
      <p:grpSp>
        <p:nvGrpSpPr>
          <p:cNvPr id="2" name="Group 16"/>
          <p:cNvGrpSpPr>
            <a:grpSpLocks/>
          </p:cNvGrpSpPr>
          <p:nvPr/>
        </p:nvGrpSpPr>
        <p:grpSpPr bwMode="auto">
          <a:xfrm>
            <a:off x="1926005" y="1349021"/>
            <a:ext cx="5411243" cy="1730172"/>
            <a:chOff x="1200" y="1104"/>
            <a:chExt cx="3456" cy="1104"/>
          </a:xfrm>
        </p:grpSpPr>
        <p:sp>
          <p:nvSpPr>
            <p:cNvPr id="60429" name="Arc 13"/>
            <p:cNvSpPr>
              <a:spLocks/>
            </p:cNvSpPr>
            <p:nvPr/>
          </p:nvSpPr>
          <p:spPr bwMode="auto">
            <a:xfrm flipH="1" flipV="1">
              <a:off x="1200" y="1488"/>
              <a:ext cx="1344" cy="72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accent1">
                  <a:lumMod val="50000"/>
                  <a:lumOff val="50000"/>
                </a:schemeClr>
              </a:solidFill>
              <a:round/>
              <a:headEnd type="none" w="sm" len="sm"/>
              <a:tailEnd type="none" w="sm" len="sm"/>
            </a:ln>
            <a:effectLst/>
          </p:spPr>
          <p:txBody>
            <a:bodyPr wrap="none" anchor="ctr"/>
            <a:lstStyle/>
            <a:p>
              <a:endParaRPr lang="en-US" sz="2625">
                <a:solidFill>
                  <a:schemeClr val="tx2">
                    <a:lumMod val="75000"/>
                  </a:schemeClr>
                </a:solidFill>
                <a:latin typeface="Whitney Book" pitchFamily="50" charset="0"/>
                <a:cs typeface="Whitney Book" pitchFamily="50" charset="0"/>
              </a:endParaRPr>
            </a:p>
          </p:txBody>
        </p:sp>
        <p:sp>
          <p:nvSpPr>
            <p:cNvPr id="60430" name="Arc 14"/>
            <p:cNvSpPr>
              <a:spLocks/>
            </p:cNvSpPr>
            <p:nvPr/>
          </p:nvSpPr>
          <p:spPr bwMode="auto">
            <a:xfrm flipV="1">
              <a:off x="2544" y="1488"/>
              <a:ext cx="1344" cy="72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accent1">
                  <a:lumMod val="50000"/>
                  <a:lumOff val="50000"/>
                </a:schemeClr>
              </a:solidFill>
              <a:round/>
              <a:headEnd type="none" w="sm" len="sm"/>
              <a:tailEnd type="none" w="sm" len="sm"/>
            </a:ln>
            <a:effectLst/>
          </p:spPr>
          <p:txBody>
            <a:bodyPr wrap="none" anchor="ctr"/>
            <a:lstStyle/>
            <a:p>
              <a:endParaRPr lang="en-US" sz="2625">
                <a:solidFill>
                  <a:schemeClr val="tx2">
                    <a:lumMod val="75000"/>
                  </a:schemeClr>
                </a:solidFill>
                <a:latin typeface="Whitney Book" pitchFamily="50" charset="0"/>
                <a:cs typeface="Whitney Book" pitchFamily="50" charset="0"/>
              </a:endParaRPr>
            </a:p>
          </p:txBody>
        </p:sp>
        <p:sp>
          <p:nvSpPr>
            <p:cNvPr id="60431" name="Text Box 15"/>
            <p:cNvSpPr txBox="1">
              <a:spLocks noChangeArrowheads="1"/>
            </p:cNvSpPr>
            <p:nvPr/>
          </p:nvSpPr>
          <p:spPr bwMode="auto">
            <a:xfrm>
              <a:off x="3744" y="1104"/>
              <a:ext cx="912" cy="317"/>
            </a:xfrm>
            <a:prstGeom prst="rect">
              <a:avLst/>
            </a:prstGeom>
            <a:noFill/>
            <a:ln w="12700">
              <a:noFill/>
              <a:miter lim="800000"/>
              <a:headEnd type="none" w="sm" len="sm"/>
              <a:tailEnd type="none" w="sm" len="sm"/>
            </a:ln>
            <a:effectLst/>
          </p:spPr>
          <p:txBody>
            <a:bodyPr>
              <a:spAutoFit/>
            </a:bodyPr>
            <a:lstStyle/>
            <a:p>
              <a:pPr>
                <a:spcBef>
                  <a:spcPct val="50000"/>
                </a:spcBef>
              </a:pPr>
              <a:r>
                <a:rPr lang="en-US" sz="2625" i="1" dirty="0">
                  <a:solidFill>
                    <a:schemeClr val="tx2">
                      <a:lumMod val="75000"/>
                    </a:schemeClr>
                  </a:solidFill>
                  <a:latin typeface="Whitney Book" pitchFamily="50" charset="0"/>
                  <a:cs typeface="Whitney Book" pitchFamily="50" charset="0"/>
                </a:rPr>
                <a:t>LAC</a:t>
              </a:r>
            </a:p>
          </p:txBody>
        </p:sp>
      </p:grpSp>
      <p:sp>
        <p:nvSpPr>
          <p:cNvPr id="60434" name="Text Box 18"/>
          <p:cNvSpPr txBox="1">
            <a:spLocks noChangeArrowheads="1"/>
          </p:cNvSpPr>
          <p:nvPr/>
        </p:nvSpPr>
        <p:spPr bwMode="auto">
          <a:xfrm>
            <a:off x="4474482" y="1797611"/>
            <a:ext cx="1469178" cy="495449"/>
          </a:xfrm>
          <a:prstGeom prst="rect">
            <a:avLst/>
          </a:prstGeom>
          <a:noFill/>
          <a:ln w="12700">
            <a:noFill/>
            <a:miter lim="800000"/>
            <a:headEnd type="none" w="sm" len="sm"/>
            <a:tailEnd type="none" w="sm" len="sm"/>
          </a:ln>
          <a:effectLst/>
        </p:spPr>
        <p:txBody>
          <a:bodyPr wrap="square">
            <a:spAutoFit/>
          </a:bodyPr>
          <a:lstStyle/>
          <a:p>
            <a:pPr>
              <a:spcBef>
                <a:spcPct val="50000"/>
              </a:spcBef>
            </a:pPr>
            <a:r>
              <a:rPr lang="en-US" sz="2625" i="1" dirty="0">
                <a:solidFill>
                  <a:schemeClr val="tx2">
                    <a:lumMod val="75000"/>
                  </a:schemeClr>
                </a:solidFill>
                <a:latin typeface="Whitney Book" pitchFamily="50" charset="0"/>
                <a:cs typeface="Whitney Book" pitchFamily="50" charset="0"/>
              </a:rPr>
              <a:t>LMC</a:t>
            </a:r>
          </a:p>
        </p:txBody>
      </p:sp>
      <p:grpSp>
        <p:nvGrpSpPr>
          <p:cNvPr id="4" name="Group 23"/>
          <p:cNvGrpSpPr>
            <a:grpSpLocks/>
          </p:cNvGrpSpPr>
          <p:nvPr/>
        </p:nvGrpSpPr>
        <p:grpSpPr bwMode="auto">
          <a:xfrm>
            <a:off x="3616890" y="3092943"/>
            <a:ext cx="731207" cy="2537272"/>
            <a:chOff x="2310" y="2208"/>
            <a:chExt cx="467" cy="1619"/>
          </a:xfrm>
        </p:grpSpPr>
        <p:sp>
          <p:nvSpPr>
            <p:cNvPr id="60437" name="Line 21"/>
            <p:cNvSpPr>
              <a:spLocks noChangeShapeType="1"/>
            </p:cNvSpPr>
            <p:nvPr/>
          </p:nvSpPr>
          <p:spPr bwMode="auto">
            <a:xfrm>
              <a:off x="2592" y="2208"/>
              <a:ext cx="0" cy="1296"/>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wrap="none" anchor="ctr"/>
            <a:lstStyle/>
            <a:p>
              <a:endParaRPr lang="en-US" sz="2625">
                <a:solidFill>
                  <a:schemeClr val="tx2">
                    <a:lumMod val="75000"/>
                  </a:schemeClr>
                </a:solidFill>
                <a:latin typeface="Whitney Book" pitchFamily="50" charset="0"/>
                <a:cs typeface="Whitney Book" pitchFamily="50" charset="0"/>
              </a:endParaRPr>
            </a:p>
          </p:txBody>
        </p:sp>
        <p:sp>
          <p:nvSpPr>
            <p:cNvPr id="60438" name="Text Box 22"/>
            <p:cNvSpPr txBox="1">
              <a:spLocks noChangeArrowheads="1"/>
            </p:cNvSpPr>
            <p:nvPr/>
          </p:nvSpPr>
          <p:spPr bwMode="auto">
            <a:xfrm>
              <a:off x="2310" y="3510"/>
              <a:ext cx="467" cy="317"/>
            </a:xfrm>
            <a:prstGeom prst="rect">
              <a:avLst/>
            </a:prstGeom>
            <a:noFill/>
            <a:ln w="12700">
              <a:noFill/>
              <a:miter lim="800000"/>
              <a:headEnd type="none" w="sm" len="sm"/>
              <a:tailEnd type="none" w="sm" len="sm"/>
            </a:ln>
            <a:effectLst/>
          </p:spPr>
          <p:txBody>
            <a:bodyPr wrap="square">
              <a:spAutoFit/>
            </a:bodyPr>
            <a:lstStyle/>
            <a:p>
              <a:pPr>
                <a:spcBef>
                  <a:spcPct val="50000"/>
                </a:spcBef>
              </a:pPr>
              <a:r>
                <a:rPr lang="en-US" sz="2625" i="1" dirty="0">
                  <a:solidFill>
                    <a:schemeClr val="tx2">
                      <a:lumMod val="75000"/>
                    </a:schemeClr>
                  </a:solidFill>
                  <a:latin typeface="Whitney Book" pitchFamily="50" charset="0"/>
                  <a:cs typeface="Whitney Book" pitchFamily="50" charset="0"/>
                </a:rPr>
                <a:t>Q</a:t>
              </a:r>
              <a:r>
                <a:rPr lang="en-US" sz="2625" i="1" baseline="-25000" dirty="0">
                  <a:solidFill>
                    <a:schemeClr val="tx2">
                      <a:lumMod val="75000"/>
                    </a:schemeClr>
                  </a:solidFill>
                  <a:latin typeface="Whitney Book" pitchFamily="50" charset="0"/>
                  <a:cs typeface="Whitney Book" pitchFamily="50" charset="0"/>
                </a:rPr>
                <a:t>LR</a:t>
              </a:r>
            </a:p>
          </p:txBody>
        </p:sp>
      </p:grpSp>
      <p:sp>
        <p:nvSpPr>
          <p:cNvPr id="60440" name="Text Box 24"/>
          <p:cNvSpPr txBox="1">
            <a:spLocks noChangeArrowheads="1"/>
          </p:cNvSpPr>
          <p:nvPr/>
        </p:nvSpPr>
        <p:spPr bwMode="auto">
          <a:xfrm>
            <a:off x="1888106" y="5726765"/>
            <a:ext cx="5143501" cy="495056"/>
          </a:xfrm>
          <a:prstGeom prst="rect">
            <a:avLst/>
          </a:prstGeom>
          <a:noFill/>
          <a:ln w="25400">
            <a:solidFill>
              <a:srgbClr val="FFC000"/>
            </a:solidFill>
            <a:miter lim="800000"/>
            <a:headEnd type="none" w="sm" len="sm"/>
            <a:tailEnd type="none" w="sm" len="sm"/>
          </a:ln>
          <a:effectLst/>
        </p:spPr>
        <p:txBody>
          <a:bodyPr wrap="square" lIns="90217" tIns="45109" rIns="90217" bIns="45109" anchor="ctr" anchorCtr="0">
            <a:spAutoFit/>
          </a:bodyPr>
          <a:lstStyle/>
          <a:p>
            <a:pPr algn="ctr">
              <a:spcBef>
                <a:spcPct val="50000"/>
              </a:spcBef>
            </a:pPr>
            <a:r>
              <a:rPr lang="en-US" sz="2625" dirty="0">
                <a:solidFill>
                  <a:schemeClr val="tx2">
                    <a:lumMod val="75000"/>
                  </a:schemeClr>
                </a:solidFill>
                <a:latin typeface="Whitney Book" pitchFamily="50" charset="0"/>
                <a:cs typeface="Whitney Book" pitchFamily="50" charset="0"/>
              </a:rPr>
              <a:t>At </a:t>
            </a:r>
            <a:r>
              <a:rPr lang="en-US" sz="2625" i="1" dirty="0">
                <a:solidFill>
                  <a:schemeClr val="tx2">
                    <a:lumMod val="75000"/>
                  </a:schemeClr>
                </a:solidFill>
                <a:latin typeface="Whitney Book" pitchFamily="50" charset="0"/>
                <a:cs typeface="Whitney Book" pitchFamily="50" charset="0"/>
              </a:rPr>
              <a:t>Q</a:t>
            </a:r>
            <a:r>
              <a:rPr lang="en-US" sz="2625" i="1" baseline="-25000" dirty="0">
                <a:solidFill>
                  <a:schemeClr val="tx2">
                    <a:lumMod val="75000"/>
                  </a:schemeClr>
                </a:solidFill>
                <a:latin typeface="Whitney Book" pitchFamily="50" charset="0"/>
                <a:cs typeface="Whitney Book" pitchFamily="50" charset="0"/>
              </a:rPr>
              <a:t>LR</a:t>
            </a:r>
            <a:r>
              <a:rPr lang="en-US" sz="2625" dirty="0">
                <a:solidFill>
                  <a:schemeClr val="tx2">
                    <a:lumMod val="75000"/>
                  </a:schemeClr>
                </a:solidFill>
                <a:latin typeface="Whitney Book" pitchFamily="50" charset="0"/>
                <a:cs typeface="Whitney Book" pitchFamily="50" charset="0"/>
              </a:rPr>
              <a:t>, </a:t>
            </a:r>
            <a:r>
              <a:rPr lang="en-US" sz="2625" i="1" dirty="0">
                <a:solidFill>
                  <a:schemeClr val="tx2">
                    <a:lumMod val="75000"/>
                  </a:schemeClr>
                </a:solidFill>
                <a:latin typeface="Whitney Book" pitchFamily="50" charset="0"/>
                <a:cs typeface="Whitney Book" pitchFamily="50" charset="0"/>
              </a:rPr>
              <a:t>P = LAC = LMC</a:t>
            </a:r>
          </a:p>
        </p:txBody>
      </p:sp>
      <p:grpSp>
        <p:nvGrpSpPr>
          <p:cNvPr id="7" name="Group 6"/>
          <p:cNvGrpSpPr/>
          <p:nvPr/>
        </p:nvGrpSpPr>
        <p:grpSpPr>
          <a:xfrm>
            <a:off x="517083" y="2170652"/>
            <a:ext cx="8351345" cy="572022"/>
            <a:chOff x="551555" y="2707260"/>
            <a:chExt cx="8908101" cy="610157"/>
          </a:xfrm>
        </p:grpSpPr>
        <p:grpSp>
          <p:nvGrpSpPr>
            <p:cNvPr id="23" name="Group 26"/>
            <p:cNvGrpSpPr>
              <a:grpSpLocks/>
            </p:cNvGrpSpPr>
            <p:nvPr/>
          </p:nvGrpSpPr>
          <p:grpSpPr bwMode="auto">
            <a:xfrm>
              <a:off x="721499" y="2707260"/>
              <a:ext cx="8738157" cy="610157"/>
              <a:chOff x="432" y="2016"/>
              <a:chExt cx="5232" cy="365"/>
            </a:xfrm>
          </p:grpSpPr>
          <p:sp>
            <p:nvSpPr>
              <p:cNvPr id="24" name="Line 10"/>
              <p:cNvSpPr>
                <a:spLocks noChangeShapeType="1"/>
              </p:cNvSpPr>
              <p:nvPr/>
            </p:nvSpPr>
            <p:spPr bwMode="auto">
              <a:xfrm>
                <a:off x="672" y="2208"/>
                <a:ext cx="3696" cy="0"/>
              </a:xfrm>
              <a:prstGeom prst="line">
                <a:avLst/>
              </a:prstGeom>
              <a:noFill/>
              <a:ln w="28575">
                <a:solidFill>
                  <a:srgbClr val="FFC000"/>
                </a:solidFill>
                <a:prstDash val="dash"/>
                <a:round/>
                <a:headEnd type="none" w="sm" len="sm"/>
                <a:tailEnd type="none" w="sm" len="sm"/>
              </a:ln>
              <a:effectLst/>
            </p:spPr>
            <p:txBody>
              <a:bodyPr wrap="none" anchor="ctr"/>
              <a:lstStyle/>
              <a:p>
                <a:endParaRPr lang="en-US" sz="2625">
                  <a:solidFill>
                    <a:schemeClr val="tx2">
                      <a:lumMod val="75000"/>
                    </a:schemeClr>
                  </a:solidFill>
                  <a:latin typeface="Whitney Book" pitchFamily="50" charset="0"/>
                  <a:cs typeface="Whitney Book" pitchFamily="50" charset="0"/>
                </a:endParaRPr>
              </a:p>
            </p:txBody>
          </p:sp>
          <p:sp>
            <p:nvSpPr>
              <p:cNvPr id="25" name="Text Box 11"/>
              <p:cNvSpPr txBox="1">
                <a:spLocks noChangeArrowheads="1"/>
              </p:cNvSpPr>
              <p:nvPr/>
            </p:nvSpPr>
            <p:spPr bwMode="auto">
              <a:xfrm>
                <a:off x="4464" y="2016"/>
                <a:ext cx="1200" cy="317"/>
              </a:xfrm>
              <a:prstGeom prst="rect">
                <a:avLst/>
              </a:prstGeom>
              <a:noFill/>
              <a:ln w="12700">
                <a:noFill/>
                <a:miter lim="800000"/>
                <a:headEnd type="none" w="sm" len="sm"/>
                <a:tailEnd type="none" w="sm" len="sm"/>
              </a:ln>
              <a:effectLst/>
            </p:spPr>
            <p:txBody>
              <a:bodyPr>
                <a:spAutoFit/>
              </a:bodyPr>
              <a:lstStyle/>
              <a:p>
                <a:pPr>
                  <a:spcBef>
                    <a:spcPct val="50000"/>
                  </a:spcBef>
                </a:pPr>
                <a:r>
                  <a:rPr lang="en-US" sz="2625" i="1" dirty="0">
                    <a:solidFill>
                      <a:schemeClr val="tx2">
                        <a:lumMod val="75000"/>
                      </a:schemeClr>
                    </a:solidFill>
                    <a:latin typeface="Whitney Book" pitchFamily="50" charset="0"/>
                    <a:cs typeface="Whitney Book" pitchFamily="50" charset="0"/>
                  </a:rPr>
                  <a:t>MR=P</a:t>
                </a:r>
                <a:r>
                  <a:rPr lang="en-US" sz="2625" i="1" baseline="-25000" dirty="0">
                    <a:solidFill>
                      <a:schemeClr val="tx2">
                        <a:lumMod val="75000"/>
                      </a:schemeClr>
                    </a:solidFill>
                    <a:latin typeface="Whitney Book" pitchFamily="50" charset="0"/>
                    <a:cs typeface="Whitney Book" pitchFamily="50" charset="0"/>
                  </a:rPr>
                  <a:t>1</a:t>
                </a:r>
              </a:p>
            </p:txBody>
          </p:sp>
          <p:sp>
            <p:nvSpPr>
              <p:cNvPr id="26" name="Text Box 25"/>
              <p:cNvSpPr txBox="1">
                <a:spLocks noChangeArrowheads="1"/>
              </p:cNvSpPr>
              <p:nvPr/>
            </p:nvSpPr>
            <p:spPr bwMode="auto">
              <a:xfrm>
                <a:off x="432" y="2064"/>
                <a:ext cx="384" cy="317"/>
              </a:xfrm>
              <a:prstGeom prst="rect">
                <a:avLst/>
              </a:prstGeom>
              <a:noFill/>
              <a:ln w="12700">
                <a:noFill/>
                <a:miter lim="800000"/>
                <a:headEnd type="none" w="sm" len="sm"/>
                <a:tailEnd type="none" w="sm" len="sm"/>
              </a:ln>
              <a:effectLst/>
            </p:spPr>
            <p:txBody>
              <a:bodyPr>
                <a:spAutoFit/>
              </a:bodyPr>
              <a:lstStyle/>
              <a:p>
                <a:pPr>
                  <a:spcBef>
                    <a:spcPct val="50000"/>
                  </a:spcBef>
                </a:pPr>
                <a:endParaRPr lang="en-US" sz="2625" dirty="0">
                  <a:solidFill>
                    <a:schemeClr val="tx2">
                      <a:lumMod val="75000"/>
                    </a:schemeClr>
                  </a:solidFill>
                  <a:latin typeface="Whitney Book" pitchFamily="50" charset="0"/>
                  <a:cs typeface="Whitney Book" pitchFamily="50" charset="0"/>
                </a:endParaRPr>
              </a:p>
            </p:txBody>
          </p:sp>
        </p:grpSp>
        <p:sp>
          <p:nvSpPr>
            <p:cNvPr id="27" name="Text Box 11"/>
            <p:cNvSpPr txBox="1">
              <a:spLocks noChangeArrowheads="1"/>
            </p:cNvSpPr>
            <p:nvPr/>
          </p:nvSpPr>
          <p:spPr bwMode="auto">
            <a:xfrm>
              <a:off x="551555" y="2737859"/>
              <a:ext cx="721499" cy="529376"/>
            </a:xfrm>
            <a:prstGeom prst="rect">
              <a:avLst/>
            </a:prstGeom>
            <a:noFill/>
            <a:ln w="12700">
              <a:noFill/>
              <a:miter lim="800000"/>
              <a:headEnd type="none" w="sm" len="sm"/>
              <a:tailEnd type="none" w="sm" len="sm"/>
            </a:ln>
            <a:effectLst/>
          </p:spPr>
          <p:txBody>
            <a:bodyPr wrap="square">
              <a:spAutoFit/>
            </a:bodyPr>
            <a:lstStyle/>
            <a:p>
              <a:pPr>
                <a:spcBef>
                  <a:spcPct val="50000"/>
                </a:spcBef>
              </a:pPr>
              <a:r>
                <a:rPr lang="en-US" sz="2625" i="1" dirty="0">
                  <a:solidFill>
                    <a:schemeClr val="tx2">
                      <a:lumMod val="75000"/>
                    </a:schemeClr>
                  </a:solidFill>
                  <a:latin typeface="Whitney Book" pitchFamily="50" charset="0"/>
                  <a:cs typeface="Whitney Book" pitchFamily="50" charset="0"/>
                </a:rPr>
                <a:t>P</a:t>
              </a:r>
              <a:r>
                <a:rPr lang="en-US" sz="2625" i="1" baseline="-25000" dirty="0">
                  <a:solidFill>
                    <a:schemeClr val="tx2">
                      <a:lumMod val="75000"/>
                    </a:schemeClr>
                  </a:solidFill>
                  <a:latin typeface="Whitney Book" pitchFamily="50" charset="0"/>
                  <a:cs typeface="Whitney Book" pitchFamily="50" charset="0"/>
                </a:rPr>
                <a:t>1</a:t>
              </a:r>
            </a:p>
          </p:txBody>
        </p:sp>
      </p:grpSp>
      <p:grpSp>
        <p:nvGrpSpPr>
          <p:cNvPr id="6" name="Group 5"/>
          <p:cNvGrpSpPr/>
          <p:nvPr/>
        </p:nvGrpSpPr>
        <p:grpSpPr>
          <a:xfrm>
            <a:off x="413360" y="2741295"/>
            <a:ext cx="8455068" cy="622773"/>
            <a:chOff x="440917" y="3315941"/>
            <a:chExt cx="9018739" cy="664291"/>
          </a:xfrm>
        </p:grpSpPr>
        <p:grpSp>
          <p:nvGrpSpPr>
            <p:cNvPr id="5" name="Group 26"/>
            <p:cNvGrpSpPr>
              <a:grpSpLocks/>
            </p:cNvGrpSpPr>
            <p:nvPr/>
          </p:nvGrpSpPr>
          <p:grpSpPr bwMode="auto">
            <a:xfrm>
              <a:off x="721499" y="3370075"/>
              <a:ext cx="8738157" cy="610157"/>
              <a:chOff x="432" y="2016"/>
              <a:chExt cx="5232" cy="365"/>
            </a:xfrm>
          </p:grpSpPr>
          <p:sp>
            <p:nvSpPr>
              <p:cNvPr id="60426" name="Line 10"/>
              <p:cNvSpPr>
                <a:spLocks noChangeShapeType="1"/>
              </p:cNvSpPr>
              <p:nvPr/>
            </p:nvSpPr>
            <p:spPr bwMode="auto">
              <a:xfrm>
                <a:off x="672" y="2208"/>
                <a:ext cx="3696" cy="0"/>
              </a:xfrm>
              <a:prstGeom prst="line">
                <a:avLst/>
              </a:prstGeom>
              <a:noFill/>
              <a:ln w="28575">
                <a:solidFill>
                  <a:srgbClr val="FFC000"/>
                </a:solidFill>
                <a:round/>
                <a:headEnd type="none" w="sm" len="sm"/>
                <a:tailEnd type="none" w="sm" len="sm"/>
              </a:ln>
              <a:effectLst/>
            </p:spPr>
            <p:txBody>
              <a:bodyPr wrap="none" anchor="ctr"/>
              <a:lstStyle/>
              <a:p>
                <a:endParaRPr lang="en-US" sz="2625">
                  <a:solidFill>
                    <a:schemeClr val="tx2">
                      <a:lumMod val="75000"/>
                    </a:schemeClr>
                  </a:solidFill>
                  <a:latin typeface="Whitney Book" pitchFamily="50" charset="0"/>
                  <a:cs typeface="Whitney Book" pitchFamily="50" charset="0"/>
                </a:endParaRPr>
              </a:p>
            </p:txBody>
          </p:sp>
          <p:sp>
            <p:nvSpPr>
              <p:cNvPr id="60427" name="Text Box 11"/>
              <p:cNvSpPr txBox="1">
                <a:spLocks noChangeArrowheads="1"/>
              </p:cNvSpPr>
              <p:nvPr/>
            </p:nvSpPr>
            <p:spPr bwMode="auto">
              <a:xfrm>
                <a:off x="4464" y="2016"/>
                <a:ext cx="1200" cy="317"/>
              </a:xfrm>
              <a:prstGeom prst="rect">
                <a:avLst/>
              </a:prstGeom>
              <a:noFill/>
              <a:ln w="12700">
                <a:noFill/>
                <a:miter lim="800000"/>
                <a:headEnd type="none" w="sm" len="sm"/>
                <a:tailEnd type="none" w="sm" len="sm"/>
              </a:ln>
              <a:effectLst/>
            </p:spPr>
            <p:txBody>
              <a:bodyPr>
                <a:spAutoFit/>
              </a:bodyPr>
              <a:lstStyle/>
              <a:p>
                <a:pPr>
                  <a:spcBef>
                    <a:spcPct val="50000"/>
                  </a:spcBef>
                </a:pPr>
                <a:r>
                  <a:rPr lang="en-US" sz="2625" i="1" dirty="0">
                    <a:solidFill>
                      <a:schemeClr val="tx2">
                        <a:lumMod val="75000"/>
                      </a:schemeClr>
                    </a:solidFill>
                    <a:latin typeface="Whitney Book" pitchFamily="50" charset="0"/>
                    <a:cs typeface="Whitney Book" pitchFamily="50" charset="0"/>
                  </a:rPr>
                  <a:t>MR=P</a:t>
                </a:r>
                <a:r>
                  <a:rPr lang="en-US" sz="2625" i="1" baseline="-25000" dirty="0">
                    <a:solidFill>
                      <a:schemeClr val="tx2">
                        <a:lumMod val="75000"/>
                      </a:schemeClr>
                    </a:solidFill>
                    <a:latin typeface="Whitney Book" pitchFamily="50" charset="0"/>
                    <a:cs typeface="Whitney Book" pitchFamily="50" charset="0"/>
                  </a:rPr>
                  <a:t>LR</a:t>
                </a:r>
              </a:p>
            </p:txBody>
          </p:sp>
          <p:sp>
            <p:nvSpPr>
              <p:cNvPr id="60441" name="Text Box 25"/>
              <p:cNvSpPr txBox="1">
                <a:spLocks noChangeArrowheads="1"/>
              </p:cNvSpPr>
              <p:nvPr/>
            </p:nvSpPr>
            <p:spPr bwMode="auto">
              <a:xfrm>
                <a:off x="432" y="2064"/>
                <a:ext cx="384" cy="317"/>
              </a:xfrm>
              <a:prstGeom prst="rect">
                <a:avLst/>
              </a:prstGeom>
              <a:noFill/>
              <a:ln w="12700">
                <a:noFill/>
                <a:miter lim="800000"/>
                <a:headEnd type="none" w="sm" len="sm"/>
                <a:tailEnd type="none" w="sm" len="sm"/>
              </a:ln>
              <a:effectLst/>
            </p:spPr>
            <p:txBody>
              <a:bodyPr>
                <a:spAutoFit/>
              </a:bodyPr>
              <a:lstStyle/>
              <a:p>
                <a:pPr>
                  <a:spcBef>
                    <a:spcPct val="50000"/>
                  </a:spcBef>
                </a:pPr>
                <a:endParaRPr lang="en-US" sz="2625" dirty="0">
                  <a:solidFill>
                    <a:schemeClr val="tx2">
                      <a:lumMod val="75000"/>
                    </a:schemeClr>
                  </a:solidFill>
                  <a:latin typeface="Whitney Book" pitchFamily="50" charset="0"/>
                  <a:cs typeface="Whitney Book" pitchFamily="50" charset="0"/>
                </a:endParaRPr>
              </a:p>
            </p:txBody>
          </p:sp>
        </p:grpSp>
        <p:sp>
          <p:nvSpPr>
            <p:cNvPr id="28" name="Text Box 11"/>
            <p:cNvSpPr txBox="1">
              <a:spLocks noChangeArrowheads="1"/>
            </p:cNvSpPr>
            <p:nvPr/>
          </p:nvSpPr>
          <p:spPr bwMode="auto">
            <a:xfrm>
              <a:off x="440917" y="3315941"/>
              <a:ext cx="721499" cy="529376"/>
            </a:xfrm>
            <a:prstGeom prst="rect">
              <a:avLst/>
            </a:prstGeom>
            <a:noFill/>
            <a:ln w="12700">
              <a:noFill/>
              <a:miter lim="800000"/>
              <a:headEnd type="none" w="sm" len="sm"/>
              <a:tailEnd type="none" w="sm" len="sm"/>
            </a:ln>
            <a:effectLst/>
          </p:spPr>
          <p:txBody>
            <a:bodyPr wrap="square">
              <a:spAutoFit/>
            </a:bodyPr>
            <a:lstStyle/>
            <a:p>
              <a:pPr>
                <a:spcBef>
                  <a:spcPct val="50000"/>
                </a:spcBef>
              </a:pPr>
              <a:r>
                <a:rPr lang="en-US" sz="2625" i="1" dirty="0">
                  <a:solidFill>
                    <a:schemeClr val="tx2">
                      <a:lumMod val="75000"/>
                    </a:schemeClr>
                  </a:solidFill>
                  <a:latin typeface="Whitney Book" pitchFamily="50" charset="0"/>
                  <a:cs typeface="Whitney Book" pitchFamily="50" charset="0"/>
                </a:rPr>
                <a:t>P</a:t>
              </a:r>
              <a:r>
                <a:rPr lang="en-US" sz="2625" i="1" baseline="-25000" dirty="0">
                  <a:solidFill>
                    <a:schemeClr val="tx2">
                      <a:lumMod val="75000"/>
                    </a:schemeClr>
                  </a:solidFill>
                  <a:latin typeface="Whitney Book" pitchFamily="50" charset="0"/>
                  <a:cs typeface="Whitney Book" pitchFamily="50" charset="0"/>
                </a:rPr>
                <a:t>LR</a:t>
              </a:r>
            </a:p>
          </p:txBody>
        </p:sp>
      </p:grpSp>
      <p:grpSp>
        <p:nvGrpSpPr>
          <p:cNvPr id="39" name="Group 38"/>
          <p:cNvGrpSpPr/>
          <p:nvPr/>
        </p:nvGrpSpPr>
        <p:grpSpPr>
          <a:xfrm>
            <a:off x="563523" y="3417591"/>
            <a:ext cx="8351345" cy="572022"/>
            <a:chOff x="551555" y="2707260"/>
            <a:chExt cx="8908101" cy="610157"/>
          </a:xfrm>
        </p:grpSpPr>
        <p:grpSp>
          <p:nvGrpSpPr>
            <p:cNvPr id="40" name="Group 26"/>
            <p:cNvGrpSpPr>
              <a:grpSpLocks/>
            </p:cNvGrpSpPr>
            <p:nvPr/>
          </p:nvGrpSpPr>
          <p:grpSpPr bwMode="auto">
            <a:xfrm>
              <a:off x="721499" y="2707260"/>
              <a:ext cx="8738157" cy="610157"/>
              <a:chOff x="432" y="2016"/>
              <a:chExt cx="5232" cy="365"/>
            </a:xfrm>
          </p:grpSpPr>
          <p:sp>
            <p:nvSpPr>
              <p:cNvPr id="42" name="Line 10"/>
              <p:cNvSpPr>
                <a:spLocks noChangeShapeType="1"/>
              </p:cNvSpPr>
              <p:nvPr/>
            </p:nvSpPr>
            <p:spPr bwMode="auto">
              <a:xfrm>
                <a:off x="672" y="2208"/>
                <a:ext cx="3696" cy="0"/>
              </a:xfrm>
              <a:prstGeom prst="line">
                <a:avLst/>
              </a:prstGeom>
              <a:noFill/>
              <a:ln w="28575">
                <a:solidFill>
                  <a:srgbClr val="FFC000"/>
                </a:solidFill>
                <a:prstDash val="dash"/>
                <a:round/>
                <a:headEnd type="none" w="sm" len="sm"/>
                <a:tailEnd type="none" w="sm" len="sm"/>
              </a:ln>
              <a:effectLst/>
            </p:spPr>
            <p:txBody>
              <a:bodyPr wrap="none" anchor="ctr"/>
              <a:lstStyle/>
              <a:p>
                <a:endParaRPr lang="en-US" sz="2625">
                  <a:solidFill>
                    <a:schemeClr val="tx2">
                      <a:lumMod val="75000"/>
                    </a:schemeClr>
                  </a:solidFill>
                  <a:latin typeface="Whitney Book" pitchFamily="50" charset="0"/>
                  <a:cs typeface="Whitney Book" pitchFamily="50" charset="0"/>
                </a:endParaRPr>
              </a:p>
            </p:txBody>
          </p:sp>
          <p:sp>
            <p:nvSpPr>
              <p:cNvPr id="43" name="Text Box 11"/>
              <p:cNvSpPr txBox="1">
                <a:spLocks noChangeArrowheads="1"/>
              </p:cNvSpPr>
              <p:nvPr/>
            </p:nvSpPr>
            <p:spPr bwMode="auto">
              <a:xfrm>
                <a:off x="4464" y="2016"/>
                <a:ext cx="1200" cy="317"/>
              </a:xfrm>
              <a:prstGeom prst="rect">
                <a:avLst/>
              </a:prstGeom>
              <a:noFill/>
              <a:ln w="12700">
                <a:noFill/>
                <a:miter lim="800000"/>
                <a:headEnd type="none" w="sm" len="sm"/>
                <a:tailEnd type="none" w="sm" len="sm"/>
              </a:ln>
              <a:effectLst/>
            </p:spPr>
            <p:txBody>
              <a:bodyPr>
                <a:spAutoFit/>
              </a:bodyPr>
              <a:lstStyle/>
              <a:p>
                <a:pPr>
                  <a:spcBef>
                    <a:spcPct val="50000"/>
                  </a:spcBef>
                </a:pPr>
                <a:r>
                  <a:rPr lang="en-US" sz="2625" i="1" dirty="0">
                    <a:solidFill>
                      <a:schemeClr val="tx2">
                        <a:lumMod val="75000"/>
                      </a:schemeClr>
                    </a:solidFill>
                    <a:latin typeface="Whitney Book" pitchFamily="50" charset="0"/>
                    <a:cs typeface="Whitney Book" pitchFamily="50" charset="0"/>
                  </a:rPr>
                  <a:t>MR=P</a:t>
                </a:r>
                <a:r>
                  <a:rPr lang="en-US" sz="2625" i="1" baseline="-25000" dirty="0">
                    <a:solidFill>
                      <a:schemeClr val="tx2">
                        <a:lumMod val="75000"/>
                      </a:schemeClr>
                    </a:solidFill>
                    <a:latin typeface="Whitney Book" pitchFamily="50" charset="0"/>
                    <a:cs typeface="Whitney Book" pitchFamily="50" charset="0"/>
                  </a:rPr>
                  <a:t>2</a:t>
                </a:r>
              </a:p>
            </p:txBody>
          </p:sp>
          <p:sp>
            <p:nvSpPr>
              <p:cNvPr id="44" name="Text Box 25"/>
              <p:cNvSpPr txBox="1">
                <a:spLocks noChangeArrowheads="1"/>
              </p:cNvSpPr>
              <p:nvPr/>
            </p:nvSpPr>
            <p:spPr bwMode="auto">
              <a:xfrm>
                <a:off x="432" y="2064"/>
                <a:ext cx="384" cy="317"/>
              </a:xfrm>
              <a:prstGeom prst="rect">
                <a:avLst/>
              </a:prstGeom>
              <a:noFill/>
              <a:ln w="12700">
                <a:noFill/>
                <a:miter lim="800000"/>
                <a:headEnd type="none" w="sm" len="sm"/>
                <a:tailEnd type="none" w="sm" len="sm"/>
              </a:ln>
              <a:effectLst/>
            </p:spPr>
            <p:txBody>
              <a:bodyPr>
                <a:spAutoFit/>
              </a:bodyPr>
              <a:lstStyle/>
              <a:p>
                <a:pPr>
                  <a:spcBef>
                    <a:spcPct val="50000"/>
                  </a:spcBef>
                </a:pPr>
                <a:endParaRPr lang="en-US" sz="2625" dirty="0">
                  <a:solidFill>
                    <a:schemeClr val="tx2">
                      <a:lumMod val="75000"/>
                    </a:schemeClr>
                  </a:solidFill>
                  <a:latin typeface="Whitney Book" pitchFamily="50" charset="0"/>
                  <a:cs typeface="Whitney Book" pitchFamily="50" charset="0"/>
                </a:endParaRPr>
              </a:p>
            </p:txBody>
          </p:sp>
        </p:grpSp>
        <p:sp>
          <p:nvSpPr>
            <p:cNvPr id="41" name="Text Box 11"/>
            <p:cNvSpPr txBox="1">
              <a:spLocks noChangeArrowheads="1"/>
            </p:cNvSpPr>
            <p:nvPr/>
          </p:nvSpPr>
          <p:spPr bwMode="auto">
            <a:xfrm>
              <a:off x="551555" y="2737859"/>
              <a:ext cx="721499" cy="529376"/>
            </a:xfrm>
            <a:prstGeom prst="rect">
              <a:avLst/>
            </a:prstGeom>
            <a:noFill/>
            <a:ln w="12700">
              <a:noFill/>
              <a:miter lim="800000"/>
              <a:headEnd type="none" w="sm" len="sm"/>
              <a:tailEnd type="none" w="sm" len="sm"/>
            </a:ln>
            <a:effectLst/>
          </p:spPr>
          <p:txBody>
            <a:bodyPr wrap="square">
              <a:spAutoFit/>
            </a:bodyPr>
            <a:lstStyle/>
            <a:p>
              <a:pPr>
                <a:spcBef>
                  <a:spcPct val="50000"/>
                </a:spcBef>
              </a:pPr>
              <a:r>
                <a:rPr lang="en-US" sz="2625" i="1" dirty="0">
                  <a:solidFill>
                    <a:schemeClr val="tx2">
                      <a:lumMod val="75000"/>
                    </a:schemeClr>
                  </a:solidFill>
                  <a:latin typeface="Whitney Book" pitchFamily="50" charset="0"/>
                  <a:cs typeface="Whitney Book" pitchFamily="50" charset="0"/>
                </a:rPr>
                <a:t>P</a:t>
              </a:r>
              <a:r>
                <a:rPr lang="en-US" sz="2625" i="1" baseline="-25000" dirty="0">
                  <a:solidFill>
                    <a:schemeClr val="tx2">
                      <a:lumMod val="75000"/>
                    </a:schemeClr>
                  </a:solidFill>
                  <a:latin typeface="Whitney Book" pitchFamily="50" charset="0"/>
                  <a:cs typeface="Whitney Book" pitchFamily="50" charset="0"/>
                </a:rPr>
                <a:t>2</a:t>
              </a:r>
            </a:p>
          </p:txBody>
        </p:sp>
      </p:grpSp>
      <p:grpSp>
        <p:nvGrpSpPr>
          <p:cNvPr id="45" name="Group 23"/>
          <p:cNvGrpSpPr>
            <a:grpSpLocks/>
          </p:cNvGrpSpPr>
          <p:nvPr/>
        </p:nvGrpSpPr>
        <p:grpSpPr bwMode="auto">
          <a:xfrm>
            <a:off x="2878514" y="2992641"/>
            <a:ext cx="1202498" cy="2637571"/>
            <a:chOff x="2418" y="2144"/>
            <a:chExt cx="768" cy="1683"/>
          </a:xfrm>
        </p:grpSpPr>
        <p:sp>
          <p:nvSpPr>
            <p:cNvPr id="46" name="Line 21"/>
            <p:cNvSpPr>
              <a:spLocks noChangeShapeType="1"/>
            </p:cNvSpPr>
            <p:nvPr/>
          </p:nvSpPr>
          <p:spPr bwMode="auto">
            <a:xfrm>
              <a:off x="2568" y="2144"/>
              <a:ext cx="7" cy="1366"/>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wrap="none" anchor="ctr"/>
            <a:lstStyle/>
            <a:p>
              <a:endParaRPr lang="en-US" sz="2625">
                <a:solidFill>
                  <a:schemeClr val="tx2">
                    <a:lumMod val="75000"/>
                  </a:schemeClr>
                </a:solidFill>
                <a:latin typeface="Whitney Book" pitchFamily="50" charset="0"/>
                <a:cs typeface="Whitney Book" pitchFamily="50" charset="0"/>
              </a:endParaRPr>
            </a:p>
          </p:txBody>
        </p:sp>
        <p:sp>
          <p:nvSpPr>
            <p:cNvPr id="47" name="Text Box 22"/>
            <p:cNvSpPr txBox="1">
              <a:spLocks noChangeArrowheads="1"/>
            </p:cNvSpPr>
            <p:nvPr/>
          </p:nvSpPr>
          <p:spPr bwMode="auto">
            <a:xfrm>
              <a:off x="2418" y="3510"/>
              <a:ext cx="768" cy="317"/>
            </a:xfrm>
            <a:prstGeom prst="rect">
              <a:avLst/>
            </a:prstGeom>
            <a:noFill/>
            <a:ln w="12700">
              <a:noFill/>
              <a:miter lim="800000"/>
              <a:headEnd type="none" w="sm" len="sm"/>
              <a:tailEnd type="none" w="sm" len="sm"/>
            </a:ln>
            <a:effectLst/>
          </p:spPr>
          <p:txBody>
            <a:bodyPr>
              <a:spAutoFit/>
            </a:bodyPr>
            <a:lstStyle/>
            <a:p>
              <a:pPr>
                <a:spcBef>
                  <a:spcPct val="50000"/>
                </a:spcBef>
              </a:pPr>
              <a:r>
                <a:rPr lang="en-US" sz="2625" i="1" dirty="0">
                  <a:solidFill>
                    <a:schemeClr val="tx2">
                      <a:lumMod val="75000"/>
                    </a:schemeClr>
                  </a:solidFill>
                  <a:latin typeface="Whitney Book" pitchFamily="50" charset="0"/>
                  <a:cs typeface="Whitney Book" pitchFamily="50" charset="0"/>
                </a:rPr>
                <a:t>Q</a:t>
              </a:r>
              <a:r>
                <a:rPr lang="en-US" sz="2625" i="1" baseline="-25000" dirty="0">
                  <a:solidFill>
                    <a:schemeClr val="tx2">
                      <a:lumMod val="75000"/>
                    </a:schemeClr>
                  </a:solidFill>
                  <a:latin typeface="Whitney Book" pitchFamily="50" charset="0"/>
                  <a:cs typeface="Whitney Book" pitchFamily="50" charset="0"/>
                </a:rPr>
                <a:t>2</a:t>
              </a:r>
            </a:p>
          </p:txBody>
        </p:sp>
      </p:grpSp>
      <p:grpSp>
        <p:nvGrpSpPr>
          <p:cNvPr id="48" name="Group 23"/>
          <p:cNvGrpSpPr>
            <a:grpSpLocks/>
          </p:cNvGrpSpPr>
          <p:nvPr/>
        </p:nvGrpSpPr>
        <p:grpSpPr bwMode="auto">
          <a:xfrm>
            <a:off x="4816507" y="2498612"/>
            <a:ext cx="1202498" cy="3139071"/>
            <a:chOff x="2520" y="2148"/>
            <a:chExt cx="768" cy="2003"/>
          </a:xfrm>
        </p:grpSpPr>
        <p:sp>
          <p:nvSpPr>
            <p:cNvPr id="49" name="Line 21"/>
            <p:cNvSpPr>
              <a:spLocks noChangeShapeType="1"/>
            </p:cNvSpPr>
            <p:nvPr/>
          </p:nvSpPr>
          <p:spPr bwMode="auto">
            <a:xfrm flipH="1">
              <a:off x="2592" y="2148"/>
              <a:ext cx="11" cy="1671"/>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wrap="none" anchor="ctr"/>
            <a:lstStyle/>
            <a:p>
              <a:endParaRPr lang="en-US" sz="2625">
                <a:solidFill>
                  <a:schemeClr val="tx2">
                    <a:lumMod val="75000"/>
                  </a:schemeClr>
                </a:solidFill>
                <a:latin typeface="Whitney Book" pitchFamily="50" charset="0"/>
                <a:cs typeface="Whitney Book" pitchFamily="50" charset="0"/>
              </a:endParaRPr>
            </a:p>
          </p:txBody>
        </p:sp>
        <p:sp>
          <p:nvSpPr>
            <p:cNvPr id="50" name="Text Box 22"/>
            <p:cNvSpPr txBox="1">
              <a:spLocks noChangeArrowheads="1"/>
            </p:cNvSpPr>
            <p:nvPr/>
          </p:nvSpPr>
          <p:spPr bwMode="auto">
            <a:xfrm>
              <a:off x="2520" y="3834"/>
              <a:ext cx="768" cy="317"/>
            </a:xfrm>
            <a:prstGeom prst="rect">
              <a:avLst/>
            </a:prstGeom>
            <a:noFill/>
            <a:ln w="12700">
              <a:noFill/>
              <a:miter lim="800000"/>
              <a:headEnd type="none" w="sm" len="sm"/>
              <a:tailEnd type="none" w="sm" len="sm"/>
            </a:ln>
            <a:effectLst/>
          </p:spPr>
          <p:txBody>
            <a:bodyPr>
              <a:spAutoFit/>
            </a:bodyPr>
            <a:lstStyle/>
            <a:p>
              <a:pPr>
                <a:spcBef>
                  <a:spcPct val="50000"/>
                </a:spcBef>
              </a:pPr>
              <a:r>
                <a:rPr lang="en-US" sz="2625" i="1" dirty="0">
                  <a:solidFill>
                    <a:schemeClr val="tx2">
                      <a:lumMod val="75000"/>
                    </a:schemeClr>
                  </a:solidFill>
                  <a:latin typeface="Whitney Book" pitchFamily="50" charset="0"/>
                  <a:cs typeface="Whitney Book" pitchFamily="50" charset="0"/>
                </a:rPr>
                <a:t>Q</a:t>
              </a:r>
              <a:r>
                <a:rPr lang="en-US" sz="2625" i="1" baseline="-25000" dirty="0">
                  <a:solidFill>
                    <a:schemeClr val="tx2">
                      <a:lumMod val="75000"/>
                    </a:schemeClr>
                  </a:solidFill>
                  <a:latin typeface="Whitney Book" pitchFamily="50" charset="0"/>
                  <a:cs typeface="Whitney Book" pitchFamily="50" charset="0"/>
                </a:rPr>
                <a:t>1</a:t>
              </a:r>
            </a:p>
          </p:txBody>
        </p:sp>
      </p:grpSp>
      <p:grpSp>
        <p:nvGrpSpPr>
          <p:cNvPr id="10" name="Group 9"/>
          <p:cNvGrpSpPr/>
          <p:nvPr/>
        </p:nvGrpSpPr>
        <p:grpSpPr>
          <a:xfrm>
            <a:off x="4462413" y="2498296"/>
            <a:ext cx="1175702" cy="580582"/>
            <a:chOff x="4759908" y="3056744"/>
            <a:chExt cx="1254083" cy="619287"/>
          </a:xfrm>
        </p:grpSpPr>
        <p:sp>
          <p:nvSpPr>
            <p:cNvPr id="51" name="Text Box 11"/>
            <p:cNvSpPr txBox="1">
              <a:spLocks noChangeArrowheads="1"/>
            </p:cNvSpPr>
            <p:nvPr/>
          </p:nvSpPr>
          <p:spPr bwMode="auto">
            <a:xfrm>
              <a:off x="4958498" y="3117854"/>
              <a:ext cx="1055493" cy="529376"/>
            </a:xfrm>
            <a:prstGeom prst="rect">
              <a:avLst/>
            </a:prstGeom>
            <a:noFill/>
            <a:ln w="12700">
              <a:noFill/>
              <a:miter lim="800000"/>
              <a:headEnd type="none" w="sm" len="sm"/>
              <a:tailEnd type="none" w="sm" len="sm"/>
            </a:ln>
            <a:effectLst/>
          </p:spPr>
          <p:txBody>
            <a:bodyPr wrap="square">
              <a:spAutoFit/>
            </a:bodyPr>
            <a:lstStyle/>
            <a:p>
              <a:pPr>
                <a:spcBef>
                  <a:spcPct val="50000"/>
                </a:spcBef>
              </a:pPr>
              <a:r>
                <a:rPr lang="en-US" sz="2625" dirty="0">
                  <a:solidFill>
                    <a:schemeClr val="tx2">
                      <a:lumMod val="75000"/>
                    </a:schemeClr>
                  </a:solidFill>
                  <a:latin typeface="Whitney Book" pitchFamily="50" charset="0"/>
                  <a:cs typeface="Whitney Book" pitchFamily="50" charset="0"/>
                </a:rPr>
                <a:t>Entry</a:t>
              </a:r>
              <a:endParaRPr lang="en-US" sz="2625" baseline="-25000" dirty="0">
                <a:solidFill>
                  <a:schemeClr val="tx2">
                    <a:lumMod val="75000"/>
                  </a:schemeClr>
                </a:solidFill>
                <a:latin typeface="Whitney Book" pitchFamily="50" charset="0"/>
                <a:cs typeface="Whitney Book" pitchFamily="50" charset="0"/>
              </a:endParaRPr>
            </a:p>
          </p:txBody>
        </p:sp>
        <p:cxnSp>
          <p:nvCxnSpPr>
            <p:cNvPr id="9" name="Straight Arrow Connector 8"/>
            <p:cNvCxnSpPr/>
            <p:nvPr/>
          </p:nvCxnSpPr>
          <p:spPr bwMode="auto">
            <a:xfrm flipH="1">
              <a:off x="4759908" y="3056744"/>
              <a:ext cx="480" cy="619287"/>
            </a:xfrm>
            <a:prstGeom prst="straightConnector1">
              <a:avLst/>
            </a:prstGeom>
            <a:solidFill>
              <a:schemeClr val="accent1"/>
            </a:solidFill>
            <a:ln w="47625" cap="flat" cmpd="sng" algn="ctr">
              <a:solidFill>
                <a:schemeClr val="accent6">
                  <a:lumMod val="40000"/>
                  <a:lumOff val="60000"/>
                </a:schemeClr>
              </a:solidFill>
              <a:prstDash val="solid"/>
              <a:round/>
              <a:headEnd type="none" w="med" len="med"/>
              <a:tailEnd type="triangle"/>
            </a:ln>
            <a:effectLst/>
          </p:spPr>
        </p:cxnSp>
      </p:grpSp>
      <p:grpSp>
        <p:nvGrpSpPr>
          <p:cNvPr id="55" name="Group 54"/>
          <p:cNvGrpSpPr/>
          <p:nvPr/>
        </p:nvGrpSpPr>
        <p:grpSpPr>
          <a:xfrm>
            <a:off x="2169257" y="3095067"/>
            <a:ext cx="989525" cy="595397"/>
            <a:chOff x="3864587" y="3000300"/>
            <a:chExt cx="1055493" cy="635090"/>
          </a:xfrm>
        </p:grpSpPr>
        <p:sp>
          <p:nvSpPr>
            <p:cNvPr id="56" name="Text Box 11"/>
            <p:cNvSpPr txBox="1">
              <a:spLocks noChangeArrowheads="1"/>
            </p:cNvSpPr>
            <p:nvPr/>
          </p:nvSpPr>
          <p:spPr bwMode="auto">
            <a:xfrm>
              <a:off x="3864587" y="3048296"/>
              <a:ext cx="1055493" cy="529376"/>
            </a:xfrm>
            <a:prstGeom prst="rect">
              <a:avLst/>
            </a:prstGeom>
            <a:noFill/>
            <a:ln w="12700">
              <a:noFill/>
              <a:miter lim="800000"/>
              <a:headEnd type="none" w="sm" len="sm"/>
              <a:tailEnd type="none" w="sm" len="sm"/>
            </a:ln>
            <a:effectLst/>
          </p:spPr>
          <p:txBody>
            <a:bodyPr wrap="square">
              <a:spAutoFit/>
            </a:bodyPr>
            <a:lstStyle/>
            <a:p>
              <a:pPr>
                <a:spcBef>
                  <a:spcPct val="50000"/>
                </a:spcBef>
              </a:pPr>
              <a:r>
                <a:rPr lang="en-US" sz="2625" dirty="0">
                  <a:solidFill>
                    <a:schemeClr val="tx2">
                      <a:lumMod val="75000"/>
                    </a:schemeClr>
                  </a:solidFill>
                  <a:latin typeface="Whitney Book" pitchFamily="50" charset="0"/>
                  <a:cs typeface="Whitney Book" pitchFamily="50" charset="0"/>
                </a:rPr>
                <a:t>Exit</a:t>
              </a:r>
              <a:endParaRPr lang="en-US" sz="2625" baseline="-25000" dirty="0">
                <a:solidFill>
                  <a:schemeClr val="tx2">
                    <a:lumMod val="75000"/>
                  </a:schemeClr>
                </a:solidFill>
                <a:latin typeface="Whitney Book" pitchFamily="50" charset="0"/>
                <a:cs typeface="Whitney Book" pitchFamily="50" charset="0"/>
              </a:endParaRPr>
            </a:p>
          </p:txBody>
        </p:sp>
        <p:cxnSp>
          <p:nvCxnSpPr>
            <p:cNvPr id="57" name="Straight Arrow Connector 56"/>
            <p:cNvCxnSpPr/>
            <p:nvPr/>
          </p:nvCxnSpPr>
          <p:spPr bwMode="auto">
            <a:xfrm flipV="1">
              <a:off x="4668244" y="3000300"/>
              <a:ext cx="5963" cy="635090"/>
            </a:xfrm>
            <a:prstGeom prst="straightConnector1">
              <a:avLst/>
            </a:prstGeom>
            <a:solidFill>
              <a:schemeClr val="accent1"/>
            </a:solidFill>
            <a:ln w="47625" cap="flat" cmpd="sng" algn="ctr">
              <a:solidFill>
                <a:schemeClr val="accent6">
                  <a:lumMod val="40000"/>
                  <a:lumOff val="60000"/>
                </a:schemeClr>
              </a:solidFill>
              <a:prstDash val="solid"/>
              <a:round/>
              <a:headEnd type="none" w="med" len="med"/>
              <a:tailEnd type="triangle" w="lg" len="med"/>
            </a:ln>
            <a:effectLst/>
          </p:spPr>
        </p:cxnSp>
      </p:grpSp>
      <p:cxnSp>
        <p:nvCxnSpPr>
          <p:cNvPr id="17" name="Straight Connector 16">
            <a:extLst>
              <a:ext uri="{FF2B5EF4-FFF2-40B4-BE49-F238E27FC236}">
                <a16:creationId xmlns:a16="http://schemas.microsoft.com/office/drawing/2014/main" id="{87A99211-4977-48AA-828F-DD8239E57B03}"/>
              </a:ext>
            </a:extLst>
          </p:cNvPr>
          <p:cNvCxnSpPr>
            <a:cxnSpLocks/>
          </p:cNvCxnSpPr>
          <p:nvPr/>
        </p:nvCxnSpPr>
        <p:spPr>
          <a:xfrm flipV="1">
            <a:off x="2171757" y="2194190"/>
            <a:ext cx="3208550" cy="2123303"/>
          </a:xfrm>
          <a:prstGeom prst="line">
            <a:avLst/>
          </a:prstGeom>
          <a:ln w="25400" cap="sq" cmpd="sng" algn="ctr">
            <a:solidFill>
              <a:schemeClr val="dk1"/>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ustDataLst>
      <p:tags r:id="rId1"/>
    </p:custDataLst>
    <p:extLst>
      <p:ext uri="{BB962C8B-B14F-4D97-AF65-F5344CB8AC3E}">
        <p14:creationId xmlns:p14="http://schemas.microsoft.com/office/powerpoint/2010/main" val="3230592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xit" presetSubtype="0" fill="hold" nodeType="clickEffect">
                                  <p:stCondLst>
                                    <p:cond delay="0"/>
                                  </p:stCondLst>
                                  <p:childTnLst>
                                    <p:animEffect transition="out" filter="fade">
                                      <p:cBhvr>
                                        <p:cTn id="18" dur="500"/>
                                        <p:tgtEl>
                                          <p:spTgt spid="7"/>
                                        </p:tgtEl>
                                      </p:cBhvr>
                                    </p:animEffect>
                                    <p:set>
                                      <p:cBhvr>
                                        <p:cTn id="19" dur="1" fill="hold">
                                          <p:stCondLst>
                                            <p:cond delay="499"/>
                                          </p:stCondLst>
                                        </p:cTn>
                                        <p:tgtEl>
                                          <p:spTgt spid="7"/>
                                        </p:tgtEl>
                                        <p:attrNameLst>
                                          <p:attrName>style.visibility</p:attrName>
                                        </p:attrNameLst>
                                      </p:cBhvr>
                                      <p:to>
                                        <p:strVal val="hidden"/>
                                      </p:to>
                                    </p:set>
                                  </p:childTnLst>
                                </p:cTn>
                              </p:par>
                              <p:par>
                                <p:cTn id="20" presetID="10" presetClass="exit" presetSubtype="0" fill="hold" nodeType="withEffect">
                                  <p:stCondLst>
                                    <p:cond delay="0"/>
                                  </p:stCondLst>
                                  <p:childTnLst>
                                    <p:animEffect transition="out" filter="fade">
                                      <p:cBhvr>
                                        <p:cTn id="21" dur="500"/>
                                        <p:tgtEl>
                                          <p:spTgt spid="48"/>
                                        </p:tgtEl>
                                      </p:cBhvr>
                                    </p:animEffect>
                                    <p:set>
                                      <p:cBhvr>
                                        <p:cTn id="22" dur="1" fill="hold">
                                          <p:stCondLst>
                                            <p:cond delay="499"/>
                                          </p:stCondLst>
                                        </p:cTn>
                                        <p:tgtEl>
                                          <p:spTgt spid="48"/>
                                        </p:tgtEl>
                                        <p:attrNameLst>
                                          <p:attrName>style.visibility</p:attrName>
                                        </p:attrNameLst>
                                      </p:cBhvr>
                                      <p:to>
                                        <p:strVal val="hidden"/>
                                      </p:to>
                                    </p:set>
                                  </p:childTnLst>
                                </p:cTn>
                              </p:par>
                              <p:par>
                                <p:cTn id="23" presetID="10" presetClass="exit" presetSubtype="0" fill="hold" nodeType="withEffect">
                                  <p:stCondLst>
                                    <p:cond delay="0"/>
                                  </p:stCondLst>
                                  <p:childTnLst>
                                    <p:animEffect transition="out" filter="fade">
                                      <p:cBhvr>
                                        <p:cTn id="24" dur="500"/>
                                        <p:tgtEl>
                                          <p:spTgt spid="10"/>
                                        </p:tgtEl>
                                      </p:cBhvr>
                                    </p:animEffect>
                                    <p:set>
                                      <p:cBhvr>
                                        <p:cTn id="25" dur="1" fill="hold">
                                          <p:stCondLst>
                                            <p:cond delay="499"/>
                                          </p:stCondLst>
                                        </p:cTn>
                                        <p:tgtEl>
                                          <p:spTgt spid="10"/>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9"/>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4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5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nodeType="clickEffect">
                                  <p:stCondLst>
                                    <p:cond delay="0"/>
                                  </p:stCondLst>
                                  <p:childTnLst>
                                    <p:animEffect transition="out" filter="fade">
                                      <p:cBhvr>
                                        <p:cTn id="41" dur="500"/>
                                        <p:tgtEl>
                                          <p:spTgt spid="55"/>
                                        </p:tgtEl>
                                      </p:cBhvr>
                                    </p:animEffect>
                                    <p:set>
                                      <p:cBhvr>
                                        <p:cTn id="42" dur="1" fill="hold">
                                          <p:stCondLst>
                                            <p:cond delay="499"/>
                                          </p:stCondLst>
                                        </p:cTn>
                                        <p:tgtEl>
                                          <p:spTgt spid="55"/>
                                        </p:tgtEl>
                                        <p:attrNameLst>
                                          <p:attrName>style.visibility</p:attrName>
                                        </p:attrNameLst>
                                      </p:cBhvr>
                                      <p:to>
                                        <p:strVal val="hidden"/>
                                      </p:to>
                                    </p:set>
                                  </p:childTnLst>
                                </p:cTn>
                              </p:par>
                              <p:par>
                                <p:cTn id="43" presetID="10" presetClass="exit" presetSubtype="0" fill="hold" nodeType="withEffect">
                                  <p:stCondLst>
                                    <p:cond delay="0"/>
                                  </p:stCondLst>
                                  <p:childTnLst>
                                    <p:animEffect transition="out" filter="fade">
                                      <p:cBhvr>
                                        <p:cTn id="44" dur="500"/>
                                        <p:tgtEl>
                                          <p:spTgt spid="45"/>
                                        </p:tgtEl>
                                      </p:cBhvr>
                                    </p:animEffect>
                                    <p:set>
                                      <p:cBhvr>
                                        <p:cTn id="45" dur="1" fill="hold">
                                          <p:stCondLst>
                                            <p:cond delay="499"/>
                                          </p:stCondLst>
                                        </p:cTn>
                                        <p:tgtEl>
                                          <p:spTgt spid="45"/>
                                        </p:tgtEl>
                                        <p:attrNameLst>
                                          <p:attrName>style.visibility</p:attrName>
                                        </p:attrNameLst>
                                      </p:cBhvr>
                                      <p:to>
                                        <p:strVal val="hidden"/>
                                      </p:to>
                                    </p:set>
                                  </p:childTnLst>
                                </p:cTn>
                              </p:par>
                              <p:par>
                                <p:cTn id="46" presetID="10" presetClass="exit" presetSubtype="0" fill="hold" nodeType="withEffect">
                                  <p:stCondLst>
                                    <p:cond delay="0"/>
                                  </p:stCondLst>
                                  <p:childTnLst>
                                    <p:animEffect transition="out" filter="fade">
                                      <p:cBhvr>
                                        <p:cTn id="47" dur="500"/>
                                        <p:tgtEl>
                                          <p:spTgt spid="39"/>
                                        </p:tgtEl>
                                      </p:cBhvr>
                                    </p:animEffect>
                                    <p:set>
                                      <p:cBhvr>
                                        <p:cTn id="48" dur="1" fill="hold">
                                          <p:stCondLst>
                                            <p:cond delay="499"/>
                                          </p:stCondLst>
                                        </p:cTn>
                                        <p:tgtEl>
                                          <p:spTgt spid="39"/>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604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4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5B5C1F-CBD2-451E-A9D4-EAF2E2AE0428}"/>
              </a:ext>
            </a:extLst>
          </p:cNvPr>
          <p:cNvPicPr>
            <a:picLocks noChangeAspect="1"/>
          </p:cNvPicPr>
          <p:nvPr/>
        </p:nvPicPr>
        <p:blipFill>
          <a:blip r:embed="rId3"/>
          <a:stretch>
            <a:fillRect/>
          </a:stretch>
        </p:blipFill>
        <p:spPr>
          <a:xfrm>
            <a:off x="513274" y="200174"/>
            <a:ext cx="8518749" cy="1341988"/>
          </a:xfrm>
          <a:prstGeom prst="rect">
            <a:avLst/>
          </a:prstGeom>
        </p:spPr>
      </p:pic>
      <p:pic>
        <p:nvPicPr>
          <p:cNvPr id="6" name="Picture 5">
            <a:extLst>
              <a:ext uri="{FF2B5EF4-FFF2-40B4-BE49-F238E27FC236}">
                <a16:creationId xmlns:a16="http://schemas.microsoft.com/office/drawing/2014/main" id="{7281CFA9-CEC2-40FD-A070-7B53865AD5DE}"/>
              </a:ext>
            </a:extLst>
          </p:cNvPr>
          <p:cNvPicPr>
            <a:picLocks noChangeAspect="1"/>
          </p:cNvPicPr>
          <p:nvPr/>
        </p:nvPicPr>
        <p:blipFill>
          <a:blip r:embed="rId4"/>
          <a:stretch>
            <a:fillRect/>
          </a:stretch>
        </p:blipFill>
        <p:spPr>
          <a:xfrm>
            <a:off x="5126141" y="1847653"/>
            <a:ext cx="3660786" cy="2927022"/>
          </a:xfrm>
          <a:prstGeom prst="rect">
            <a:avLst/>
          </a:prstGeom>
        </p:spPr>
      </p:pic>
      <p:sp>
        <p:nvSpPr>
          <p:cNvPr id="7" name="Content Placeholder 2">
            <a:extLst>
              <a:ext uri="{FF2B5EF4-FFF2-40B4-BE49-F238E27FC236}">
                <a16:creationId xmlns:a16="http://schemas.microsoft.com/office/drawing/2014/main" id="{275D5446-010F-4603-A74C-B0F9016979FD}"/>
              </a:ext>
            </a:extLst>
          </p:cNvPr>
          <p:cNvSpPr txBox="1">
            <a:spLocks/>
          </p:cNvSpPr>
          <p:nvPr/>
        </p:nvSpPr>
        <p:spPr>
          <a:xfrm>
            <a:off x="288282" y="2465280"/>
            <a:ext cx="5092382" cy="1546316"/>
          </a:xfrm>
          <a:prstGeom prst="rect">
            <a:avLst/>
          </a:prstGeom>
        </p:spPr>
        <p:txBody>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sz="1000" dirty="0"/>
          </a:p>
          <a:p>
            <a:pPr marL="0" indent="0">
              <a:buFont typeface="Lucida Grande"/>
              <a:buNone/>
            </a:pPr>
            <a:endParaRPr lang="en-US" sz="1400" dirty="0"/>
          </a:p>
        </p:txBody>
      </p:sp>
      <p:sp>
        <p:nvSpPr>
          <p:cNvPr id="8" name="Rectangle 7">
            <a:extLst>
              <a:ext uri="{FF2B5EF4-FFF2-40B4-BE49-F238E27FC236}">
                <a16:creationId xmlns:a16="http://schemas.microsoft.com/office/drawing/2014/main" id="{17240E8C-1373-4E01-B799-8F7C1B24B6F5}"/>
              </a:ext>
            </a:extLst>
          </p:cNvPr>
          <p:cNvSpPr/>
          <p:nvPr/>
        </p:nvSpPr>
        <p:spPr>
          <a:xfrm>
            <a:off x="181945" y="6220596"/>
            <a:ext cx="8500142" cy="461665"/>
          </a:xfrm>
          <a:prstGeom prst="rect">
            <a:avLst/>
          </a:prstGeom>
          <a:noFill/>
          <a:ln>
            <a:solidFill>
              <a:schemeClr val="tx1"/>
            </a:solidFill>
          </a:ln>
        </p:spPr>
        <p:txBody>
          <a:bodyPr wrap="square">
            <a:spAutoFit/>
          </a:bodyPr>
          <a:lstStyle/>
          <a:p>
            <a:pPr lvl="1"/>
            <a:r>
              <a:rPr lang="en-US" sz="2400" dirty="0">
                <a:latin typeface="Whitney Book" pitchFamily="50" charset="0"/>
                <a:cs typeface="Whitney Book" pitchFamily="50" charset="0"/>
              </a:rPr>
              <a:t>Profit in markets with low entry barriers </a:t>
            </a:r>
            <a:r>
              <a:rPr lang="en-US" sz="2400" dirty="0">
                <a:latin typeface="Whitney Book" pitchFamily="50" charset="0"/>
                <a:cs typeface="Whitney Book" pitchFamily="50" charset="0"/>
                <a:sym typeface="Wingdings" panose="05000000000000000000" pitchFamily="2" charset="2"/>
              </a:rPr>
              <a:t> new firms enter</a:t>
            </a:r>
            <a:endParaRPr lang="en-US" sz="2400" dirty="0">
              <a:latin typeface="Whitney Book" pitchFamily="50" charset="0"/>
              <a:cs typeface="Whitney Book" pitchFamily="50" charset="0"/>
            </a:endParaRPr>
          </a:p>
        </p:txBody>
      </p:sp>
      <p:sp>
        <p:nvSpPr>
          <p:cNvPr id="9" name="Text Placeholder 8">
            <a:extLst>
              <a:ext uri="{FF2B5EF4-FFF2-40B4-BE49-F238E27FC236}">
                <a16:creationId xmlns:a16="http://schemas.microsoft.com/office/drawing/2014/main" id="{D363188C-9977-4F0A-A7F0-41057C9BFD08}"/>
              </a:ext>
            </a:extLst>
          </p:cNvPr>
          <p:cNvSpPr>
            <a:spLocks noGrp="1"/>
          </p:cNvSpPr>
          <p:nvPr>
            <p:ph type="body" idx="1"/>
          </p:nvPr>
        </p:nvSpPr>
        <p:spPr>
          <a:xfrm>
            <a:off x="171716" y="4938383"/>
            <a:ext cx="8520600" cy="1396485"/>
          </a:xfrm>
        </p:spPr>
        <p:txBody>
          <a:bodyPr/>
          <a:lstStyle/>
          <a:p>
            <a:r>
              <a:rPr lang="en-US" sz="2200" dirty="0"/>
              <a:t>Word of the Steele family’s success spread, and by 1928 there were hundreds of farmers in the area raising chickens to sell them for meat production</a:t>
            </a:r>
          </a:p>
          <a:p>
            <a:pPr marL="114300" indent="0">
              <a:buNone/>
            </a:pPr>
            <a:endParaRPr lang="en-US" sz="2400" dirty="0"/>
          </a:p>
        </p:txBody>
      </p:sp>
      <p:sp>
        <p:nvSpPr>
          <p:cNvPr id="10" name="Text Placeholder 8">
            <a:extLst>
              <a:ext uri="{FF2B5EF4-FFF2-40B4-BE49-F238E27FC236}">
                <a16:creationId xmlns:a16="http://schemas.microsoft.com/office/drawing/2014/main" id="{127CCA37-0634-427C-B3B5-199891F84C26}"/>
              </a:ext>
            </a:extLst>
          </p:cNvPr>
          <p:cNvSpPr txBox="1">
            <a:spLocks/>
          </p:cNvSpPr>
          <p:nvPr/>
        </p:nvSpPr>
        <p:spPr>
          <a:xfrm>
            <a:off x="149579" y="2005429"/>
            <a:ext cx="5092382" cy="2466018"/>
          </a:xfrm>
          <a:prstGeom prst="rect">
            <a:avLst/>
          </a:prstGeom>
        </p:spPr>
        <p:txBody>
          <a:bodyPr spcFirstLastPara="1" vert="horz" wrap="square" lIns="91425" tIns="91425" rIns="91425" bIns="91425" rtlCol="0" anchor="t" anchorCtr="0">
            <a:noAutofit/>
          </a:bodyPr>
          <a:lstStyle>
            <a:lvl1pPr marL="457200" lvl="0" indent="-342900" algn="l" defTabSz="457200" rtl="0" eaLnBrk="1" latinLnBrk="0" hangingPunct="1">
              <a:spcBef>
                <a:spcPts val="0"/>
              </a:spcBef>
              <a:spcAft>
                <a:spcPts val="0"/>
              </a:spcAft>
              <a:buClr>
                <a:srgbClr val="1B8BD5"/>
              </a:buClr>
              <a:buSzPts val="1800"/>
              <a:buFont typeface="Lucida Grande"/>
              <a:buChar char="■"/>
              <a:defRPr sz="2800" kern="1100" spc="50" normalizeH="0" baseline="0">
                <a:solidFill>
                  <a:schemeClr val="tx2">
                    <a:lumMod val="75000"/>
                  </a:schemeClr>
                </a:solidFill>
                <a:latin typeface="Whitney-Book"/>
                <a:ea typeface="+mn-ea"/>
                <a:cs typeface="+mn-cs"/>
              </a:defRPr>
            </a:lvl1pPr>
            <a:lvl2pPr marL="914400" lvl="1" indent="-317500" algn="l" defTabSz="457200" rtl="0" eaLnBrk="1" latinLnBrk="0" hangingPunct="1">
              <a:spcBef>
                <a:spcPts val="0"/>
              </a:spcBef>
              <a:spcAft>
                <a:spcPts val="0"/>
              </a:spcAft>
              <a:buClr>
                <a:srgbClr val="1B8BD5"/>
              </a:buClr>
              <a:buSzPts val="1400"/>
              <a:buFont typeface="Lucida Grande"/>
              <a:buChar char="○"/>
              <a:defRPr sz="2600" kern="1100" spc="50" normalizeH="0" baseline="0">
                <a:solidFill>
                  <a:schemeClr val="tx2">
                    <a:lumMod val="75000"/>
                  </a:schemeClr>
                </a:solidFill>
                <a:latin typeface="Whitney-Book"/>
                <a:ea typeface="+mn-ea"/>
                <a:cs typeface="+mn-cs"/>
              </a:defRPr>
            </a:lvl2pPr>
            <a:lvl3pPr marL="1371600" lvl="2" indent="-317500" algn="l" defTabSz="457200" rtl="0" eaLnBrk="1" latinLnBrk="0" hangingPunct="1">
              <a:spcBef>
                <a:spcPts val="0"/>
              </a:spcBef>
              <a:spcAft>
                <a:spcPts val="0"/>
              </a:spcAft>
              <a:buClr>
                <a:srgbClr val="1B8BD5"/>
              </a:buClr>
              <a:buSzPts val="1400"/>
              <a:buFont typeface="Lucida Grande"/>
              <a:buChar char="●"/>
              <a:defRPr sz="2200" kern="1100" spc="50" normalizeH="0" baseline="0">
                <a:solidFill>
                  <a:schemeClr val="tx2">
                    <a:lumMod val="75000"/>
                  </a:schemeClr>
                </a:solidFill>
                <a:latin typeface="Whitney-Book"/>
                <a:ea typeface="+mn-ea"/>
                <a:cs typeface="+mn-cs"/>
              </a:defRPr>
            </a:lvl3pPr>
            <a:lvl4pPr marL="1828800" lvl="3" indent="-317500" algn="l" defTabSz="457200" rtl="0" eaLnBrk="1" latinLnBrk="0" hangingPunct="1">
              <a:spcBef>
                <a:spcPts val="0"/>
              </a:spcBef>
              <a:spcAft>
                <a:spcPts val="0"/>
              </a:spcAft>
              <a:buClr>
                <a:srgbClr val="1B8BD5"/>
              </a:buClr>
              <a:buSzPts val="1400"/>
              <a:buFont typeface="Lucida Grande"/>
              <a:buChar char="■"/>
              <a:defRPr sz="2000" kern="1100" spc="50" normalizeH="0" baseline="0">
                <a:solidFill>
                  <a:schemeClr val="tx2">
                    <a:lumMod val="75000"/>
                  </a:schemeClr>
                </a:solidFill>
                <a:latin typeface="Whitney-Book"/>
                <a:ea typeface="+mn-ea"/>
                <a:cs typeface="+mn-cs"/>
              </a:defRPr>
            </a:lvl4pPr>
            <a:lvl5pPr marL="2286000" lvl="4" indent="-317500" algn="l" defTabSz="457200" rtl="0" eaLnBrk="1" latinLnBrk="0" hangingPunct="1">
              <a:spcBef>
                <a:spcPts val="0"/>
              </a:spcBef>
              <a:spcAft>
                <a:spcPts val="0"/>
              </a:spcAft>
              <a:buClr>
                <a:srgbClr val="1B8BD5"/>
              </a:buClr>
              <a:buSzPts val="1400"/>
              <a:buFont typeface="Lucida Grande"/>
              <a:buChar char="○"/>
              <a:defRPr sz="2000" kern="1100" spc="50" normalizeH="0" baseline="0">
                <a:solidFill>
                  <a:schemeClr val="tx2">
                    <a:lumMod val="75000"/>
                  </a:schemeClr>
                </a:solidFill>
                <a:latin typeface="Whitney-Book"/>
                <a:ea typeface="+mn-ea"/>
                <a:cs typeface="+mn-cs"/>
              </a:defRPr>
            </a:lvl5pPr>
            <a:lvl6pPr marL="2743200" lvl="5" indent="-317500" algn="l" defTabSz="457200" rtl="0" eaLnBrk="1" latinLnBrk="0" hangingPunct="1">
              <a:spcBef>
                <a:spcPts val="0"/>
              </a:spcBef>
              <a:spcAft>
                <a:spcPts val="0"/>
              </a:spcAft>
              <a:buSzPts val="1400"/>
              <a:buFont typeface="Arial"/>
              <a:buChar char="●"/>
              <a:defRPr sz="2000" kern="1200">
                <a:solidFill>
                  <a:schemeClr val="tx1"/>
                </a:solidFill>
                <a:latin typeface="+mn-lt"/>
                <a:ea typeface="+mn-ea"/>
                <a:cs typeface="+mn-cs"/>
              </a:defRPr>
            </a:lvl6pPr>
            <a:lvl7pPr marL="3200400" lvl="6" indent="-317500" algn="l" defTabSz="457200" rtl="0" eaLnBrk="1" latinLnBrk="0" hangingPunct="1">
              <a:spcBef>
                <a:spcPts val="0"/>
              </a:spcBef>
              <a:spcAft>
                <a:spcPts val="0"/>
              </a:spcAft>
              <a:buSzPts val="1400"/>
              <a:buFont typeface="Arial"/>
              <a:buChar char="■"/>
              <a:defRPr sz="2000" kern="1200">
                <a:solidFill>
                  <a:schemeClr val="tx1"/>
                </a:solidFill>
                <a:latin typeface="+mn-lt"/>
                <a:ea typeface="+mn-ea"/>
                <a:cs typeface="+mn-cs"/>
              </a:defRPr>
            </a:lvl7pPr>
            <a:lvl8pPr marL="3657600" lvl="7" indent="-317500" algn="l" defTabSz="457200" rtl="0" eaLnBrk="1" latinLnBrk="0" hangingPunct="1">
              <a:spcBef>
                <a:spcPts val="0"/>
              </a:spcBef>
              <a:spcAft>
                <a:spcPts val="0"/>
              </a:spcAft>
              <a:buSzPts val="1400"/>
              <a:buFont typeface="Arial"/>
              <a:buChar char="○"/>
              <a:defRPr sz="2000" kern="1200">
                <a:solidFill>
                  <a:schemeClr val="tx1"/>
                </a:solidFill>
                <a:latin typeface="+mn-lt"/>
                <a:ea typeface="+mn-ea"/>
                <a:cs typeface="+mn-cs"/>
              </a:defRPr>
            </a:lvl8pPr>
            <a:lvl9pPr marL="4114800" lvl="8" indent="-317500" algn="l" defTabSz="457200" rtl="0" eaLnBrk="1" latinLnBrk="0" hangingPunct="1">
              <a:spcBef>
                <a:spcPts val="0"/>
              </a:spcBef>
              <a:spcAft>
                <a:spcPts val="0"/>
              </a:spcAft>
              <a:buSzPts val="1400"/>
              <a:buFont typeface="Arial"/>
              <a:buChar char="●"/>
              <a:defRPr sz="2000" kern="1200">
                <a:solidFill>
                  <a:schemeClr val="tx1"/>
                </a:solidFill>
                <a:latin typeface="+mn-lt"/>
                <a:ea typeface="+mn-ea"/>
                <a:cs typeface="+mn-cs"/>
              </a:defRPr>
            </a:lvl9pPr>
          </a:lstStyle>
          <a:p>
            <a:r>
              <a:rPr lang="en-US" sz="2000" dirty="0"/>
              <a:t>In the 1920s, farmer Cecile Steele of Ocean View, Delaware kept a small flock of chickens that she raised for eggs </a:t>
            </a:r>
          </a:p>
          <a:p>
            <a:r>
              <a:rPr lang="en-US" sz="2000" dirty="0"/>
              <a:t>In 1923, she ordered 50 chicks but, by accident, received 500. She kept them and made a sizable profit</a:t>
            </a:r>
          </a:p>
          <a:p>
            <a:pPr marL="114300" indent="0">
              <a:buFont typeface="Lucida Grande"/>
              <a:buNone/>
            </a:pPr>
            <a:endParaRPr lang="en-US" sz="2400" dirty="0"/>
          </a:p>
        </p:txBody>
      </p:sp>
      <p:pic>
        <p:nvPicPr>
          <p:cNvPr id="3" name="Picture 2">
            <a:extLst>
              <a:ext uri="{FF2B5EF4-FFF2-40B4-BE49-F238E27FC236}">
                <a16:creationId xmlns:a16="http://schemas.microsoft.com/office/drawing/2014/main" id="{8F8BB1BA-F4A9-43AC-9633-197B1AB38FB4}"/>
              </a:ext>
            </a:extLst>
          </p:cNvPr>
          <p:cNvPicPr>
            <a:picLocks noChangeAspect="1"/>
          </p:cNvPicPr>
          <p:nvPr/>
        </p:nvPicPr>
        <p:blipFill>
          <a:blip r:embed="rId5"/>
          <a:stretch>
            <a:fillRect/>
          </a:stretch>
        </p:blipFill>
        <p:spPr>
          <a:xfrm>
            <a:off x="7386638" y="827653"/>
            <a:ext cx="1400289" cy="856292"/>
          </a:xfrm>
          <a:prstGeom prst="rect">
            <a:avLst/>
          </a:prstGeom>
        </p:spPr>
      </p:pic>
    </p:spTree>
    <p:extLst>
      <p:ext uri="{BB962C8B-B14F-4D97-AF65-F5344CB8AC3E}">
        <p14:creationId xmlns:p14="http://schemas.microsoft.com/office/powerpoint/2010/main" val="2399394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258A2-05EC-4BB5-8B9A-7DD5BB325CF4}"/>
              </a:ext>
            </a:extLst>
          </p:cNvPr>
          <p:cNvSpPr>
            <a:spLocks noGrp="1"/>
          </p:cNvSpPr>
          <p:nvPr>
            <p:ph type="title"/>
          </p:nvPr>
        </p:nvSpPr>
        <p:spPr/>
        <p:txBody>
          <a:bodyPr>
            <a:normAutofit fontScale="90000"/>
          </a:bodyPr>
          <a:lstStyle/>
          <a:p>
            <a:r>
              <a:rPr lang="fr-FR" dirty="0" err="1"/>
              <a:t>Summary</a:t>
            </a:r>
            <a:r>
              <a:rPr lang="fr-FR" dirty="0"/>
              <a:t>: long-run </a:t>
            </a:r>
            <a:r>
              <a:rPr lang="fr-FR" dirty="0" err="1"/>
              <a:t>decisions</a:t>
            </a:r>
            <a:r>
              <a:rPr lang="fr-FR" dirty="0"/>
              <a:t> for a </a:t>
            </a:r>
            <a:r>
              <a:rPr lang="fr-FR" dirty="0" err="1"/>
              <a:t>price</a:t>
            </a:r>
            <a:r>
              <a:rPr lang="fr-FR" dirty="0"/>
              <a:t> </a:t>
            </a:r>
            <a:r>
              <a:rPr lang="fr-FR" dirty="0" err="1"/>
              <a:t>taker</a:t>
            </a:r>
            <a:endParaRPr lang="en-US" dirty="0"/>
          </a:p>
        </p:txBody>
      </p:sp>
      <p:sp>
        <p:nvSpPr>
          <p:cNvPr id="3" name="Content Placeholder 2">
            <a:extLst>
              <a:ext uri="{FF2B5EF4-FFF2-40B4-BE49-F238E27FC236}">
                <a16:creationId xmlns:a16="http://schemas.microsoft.com/office/drawing/2014/main" id="{A7B31726-3785-47F6-A3E6-28BDF03B203C}"/>
              </a:ext>
            </a:extLst>
          </p:cNvPr>
          <p:cNvSpPr>
            <a:spLocks noGrp="1"/>
          </p:cNvSpPr>
          <p:nvPr>
            <p:ph type="body" idx="1"/>
          </p:nvPr>
        </p:nvSpPr>
        <p:spPr/>
        <p:txBody>
          <a:bodyPr>
            <a:normAutofit/>
          </a:bodyPr>
          <a:lstStyle/>
          <a:p>
            <a:r>
              <a:rPr lang="fr-FR" dirty="0"/>
              <a:t>Optimal output </a:t>
            </a:r>
            <a:r>
              <a:rPr lang="fr-FR" dirty="0" err="1"/>
              <a:t>level</a:t>
            </a:r>
            <a:r>
              <a:rPr lang="fr-FR" dirty="0"/>
              <a:t>: Q* </a:t>
            </a:r>
            <a:r>
              <a:rPr lang="fr-FR" dirty="0" err="1"/>
              <a:t>where</a:t>
            </a:r>
            <a:r>
              <a:rPr lang="fr-FR" dirty="0"/>
              <a:t> LMC = MR = P</a:t>
            </a:r>
          </a:p>
          <a:p>
            <a:endParaRPr lang="fr-FR" sz="1300" dirty="0"/>
          </a:p>
          <a:p>
            <a:pPr marL="514350" indent="-514350">
              <a:buFont typeface="+mj-lt"/>
              <a:buAutoNum type="arabicPeriod"/>
            </a:pPr>
            <a:r>
              <a:rPr lang="fr-FR" dirty="0"/>
              <a:t>I</a:t>
            </a:r>
            <a:r>
              <a:rPr lang="en-US" dirty="0"/>
              <a:t>f P ≥ LAC at Q*: operate</a:t>
            </a:r>
          </a:p>
          <a:p>
            <a:pPr lvl="1"/>
            <a:r>
              <a:rPr lang="fr-FR" dirty="0"/>
              <a:t>Positive profits, </a:t>
            </a:r>
            <a:r>
              <a:rPr lang="fr-FR" dirty="0" err="1"/>
              <a:t>so</a:t>
            </a:r>
            <a:r>
              <a:rPr lang="fr-FR" dirty="0"/>
              <a:t> </a:t>
            </a:r>
            <a:r>
              <a:rPr lang="fr-FR" dirty="0" err="1"/>
              <a:t>other</a:t>
            </a:r>
            <a:r>
              <a:rPr lang="fr-FR" dirty="0"/>
              <a:t> </a:t>
            </a:r>
            <a:r>
              <a:rPr lang="fr-FR" dirty="0" err="1"/>
              <a:t>firms</a:t>
            </a:r>
            <a:r>
              <a:rPr lang="fr-FR" dirty="0"/>
              <a:t> </a:t>
            </a:r>
            <a:r>
              <a:rPr lang="fr-FR" dirty="0" err="1"/>
              <a:t>will</a:t>
            </a:r>
            <a:r>
              <a:rPr lang="fr-FR" dirty="0"/>
              <a:t> enter in the long run</a:t>
            </a:r>
          </a:p>
          <a:p>
            <a:pPr lvl="1"/>
            <a:endParaRPr lang="en-US" sz="1300" dirty="0"/>
          </a:p>
          <a:p>
            <a:pPr marL="514350" indent="-514350">
              <a:buFont typeface="+mj-lt"/>
              <a:buAutoNum type="arabicPeriod"/>
            </a:pPr>
            <a:r>
              <a:rPr lang="fr-FR" dirty="0"/>
              <a:t>If P &lt; LAC </a:t>
            </a:r>
            <a:r>
              <a:rPr lang="en-US" dirty="0"/>
              <a:t>at Q*</a:t>
            </a:r>
            <a:r>
              <a:rPr lang="fr-FR" dirty="0"/>
              <a:t> : exit the </a:t>
            </a:r>
            <a:r>
              <a:rPr lang="fr-FR" dirty="0" err="1"/>
              <a:t>market</a:t>
            </a:r>
            <a:r>
              <a:rPr lang="fr-FR" dirty="0"/>
              <a:t> or do not enter in the first place</a:t>
            </a:r>
          </a:p>
          <a:p>
            <a:pPr marL="0" indent="0">
              <a:buNone/>
            </a:pPr>
            <a:endParaRPr lang="fr-FR" sz="1300" dirty="0"/>
          </a:p>
          <a:p>
            <a:r>
              <a:rPr lang="fr-FR" dirty="0"/>
              <a:t>Long run </a:t>
            </a:r>
            <a:r>
              <a:rPr lang="fr-FR" dirty="0" err="1"/>
              <a:t>competitive</a:t>
            </a:r>
            <a:r>
              <a:rPr lang="fr-FR" dirty="0"/>
              <a:t> </a:t>
            </a:r>
            <a:r>
              <a:rPr lang="fr-FR" dirty="0" err="1"/>
              <a:t>equilibrium</a:t>
            </a:r>
            <a:r>
              <a:rPr lang="fr-FR" dirty="0"/>
              <a:t>: LMC = P = LAC</a:t>
            </a:r>
          </a:p>
          <a:p>
            <a:pPr lvl="1"/>
            <a:r>
              <a:rPr lang="en-US" dirty="0"/>
              <a:t>“Normal profits”: economic profits are zero in the long run</a:t>
            </a:r>
          </a:p>
        </p:txBody>
      </p:sp>
    </p:spTree>
    <p:extLst>
      <p:ext uri="{BB962C8B-B14F-4D97-AF65-F5344CB8AC3E}">
        <p14:creationId xmlns:p14="http://schemas.microsoft.com/office/powerpoint/2010/main" val="3552130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tx2">
                    <a:lumMod val="75000"/>
                  </a:schemeClr>
                </a:solidFill>
              </a:rPr>
              <a:t>Long run equilibrium: Drug market</a:t>
            </a:r>
          </a:p>
        </p:txBody>
      </p:sp>
      <p:sp>
        <p:nvSpPr>
          <p:cNvPr id="3" name="Content Placeholder 2"/>
          <p:cNvSpPr>
            <a:spLocks noGrp="1"/>
          </p:cNvSpPr>
          <p:nvPr>
            <p:ph type="body" idx="1"/>
          </p:nvPr>
        </p:nvSpPr>
        <p:spPr/>
        <p:txBody>
          <a:bodyPr/>
          <a:lstStyle/>
          <a:p>
            <a:pPr marL="428625" lvl="1" indent="-428625"/>
            <a:r>
              <a:rPr lang="en-US" sz="3000" dirty="0"/>
              <a:t>Can we use our toolbox to analyze the (illegal) drug market?</a:t>
            </a:r>
          </a:p>
          <a:p>
            <a:pPr marL="828972" lvl="2" indent="-428625"/>
            <a:r>
              <a:rPr lang="en-US" sz="2600" dirty="0"/>
              <a:t>Assume: individual drug dealers are price takers</a:t>
            </a:r>
          </a:p>
          <a:p>
            <a:pPr marL="828972" lvl="2" indent="-428625"/>
            <a:endParaRPr lang="en-US" sz="1200" dirty="0"/>
          </a:p>
          <a:p>
            <a:pPr marL="428625" lvl="1" indent="-428625"/>
            <a:r>
              <a:rPr lang="en-US" sz="3000" dirty="0"/>
              <a:t>Suppose that the government has two options to tackle the drug problem:</a:t>
            </a:r>
          </a:p>
          <a:p>
            <a:pPr marL="882550" lvl="2" indent="-482203">
              <a:buFont typeface="+mj-lt"/>
              <a:buAutoNum type="arabicPeriod"/>
            </a:pPr>
            <a:r>
              <a:rPr lang="en-US" sz="2625" dirty="0"/>
              <a:t>Arrest drug dealers (one time)</a:t>
            </a:r>
          </a:p>
          <a:p>
            <a:pPr marL="882550" lvl="2" indent="-482203">
              <a:buFont typeface="+mj-lt"/>
              <a:buAutoNum type="arabicPeriod"/>
            </a:pPr>
            <a:r>
              <a:rPr lang="en-US" sz="2625" dirty="0"/>
              <a:t>Arrest / punish drug users (one time)</a:t>
            </a:r>
          </a:p>
          <a:p>
            <a:pPr marL="882550" lvl="2" indent="-482203">
              <a:buFont typeface="+mj-lt"/>
              <a:buAutoNum type="arabicPeriod"/>
            </a:pPr>
            <a:endParaRPr lang="en-US" sz="1200" dirty="0"/>
          </a:p>
          <a:p>
            <a:pPr marL="482203" lvl="1" indent="-482203"/>
            <a:r>
              <a:rPr lang="en-US" sz="3000" dirty="0"/>
              <a:t>Which policy is more promising if the aim is to reduce the use of illegal drugs?</a:t>
            </a:r>
          </a:p>
          <a:p>
            <a:pPr marL="428625" lvl="1" indent="-428625">
              <a:buNone/>
            </a:pPr>
            <a:endParaRPr lang="en-US" sz="3000" dirty="0" err="1"/>
          </a:p>
        </p:txBody>
      </p:sp>
      <p:sp>
        <p:nvSpPr>
          <p:cNvPr id="4" name="Slide Number Placeholder 3"/>
          <p:cNvSpPr>
            <a:spLocks noGrp="1"/>
          </p:cNvSpPr>
          <p:nvPr>
            <p:ph type="sldNum" sz="quarter" idx="12"/>
          </p:nvPr>
        </p:nvSpPr>
        <p:spPr/>
        <p:txBody>
          <a:bodyPr/>
          <a:lstStyle/>
          <a:p>
            <a:fld id="{DBC38028-5B1C-49D3-BF22-2CE9385E6DA2}" type="slidenum">
              <a:rPr lang="en-US" smtClean="0"/>
              <a:pPr/>
              <a:t>49</a:t>
            </a:fld>
            <a:endParaRPr lang="en-US" dirty="0"/>
          </a:p>
        </p:txBody>
      </p:sp>
    </p:spTree>
    <p:custDataLst>
      <p:tags r:id="rId1"/>
    </p:custDataLst>
    <p:extLst>
      <p:ext uri="{BB962C8B-B14F-4D97-AF65-F5344CB8AC3E}">
        <p14:creationId xmlns:p14="http://schemas.microsoft.com/office/powerpoint/2010/main" val="1429202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2E502C-8CD2-4BD7-9487-D43B5C56D11F}"/>
              </a:ext>
            </a:extLst>
          </p:cNvPr>
          <p:cNvPicPr>
            <a:picLocks/>
          </p:cNvPicPr>
          <p:nvPr>
            <p:custDataLst>
              <p:tags r:id="rId1"/>
            </p:custDataLst>
          </p:nvPr>
        </p:nvPicPr>
        <p:blipFill>
          <a:blip r:embed="rId4"/>
          <a:stretch>
            <a:fillRect/>
          </a:stretch>
        </p:blipFill>
        <p:spPr>
          <a:xfrm>
            <a:off x="190500" y="190500"/>
            <a:ext cx="8763000" cy="6477000"/>
          </a:xfrm>
          <a:prstGeom prst="rect">
            <a:avLst/>
          </a:prstGeom>
        </p:spPr>
      </p:pic>
    </p:spTree>
    <p:extLst>
      <p:ext uri="{BB962C8B-B14F-4D97-AF65-F5344CB8AC3E}">
        <p14:creationId xmlns:p14="http://schemas.microsoft.com/office/powerpoint/2010/main" val="4070121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F685F-48C6-4DBA-848F-7B9A9EEF0BE2}"/>
              </a:ext>
            </a:extLst>
          </p:cNvPr>
          <p:cNvSpPr>
            <a:spLocks noGrp="1"/>
          </p:cNvSpPr>
          <p:nvPr>
            <p:ph type="title"/>
          </p:nvPr>
        </p:nvSpPr>
        <p:spPr/>
        <p:txBody>
          <a:bodyPr/>
          <a:lstStyle/>
          <a:p>
            <a:r>
              <a:rPr lang="fr-FR" dirty="0"/>
              <a:t>Arrest </a:t>
            </a:r>
            <a:r>
              <a:rPr lang="fr-FR" dirty="0" err="1"/>
              <a:t>drug</a:t>
            </a:r>
            <a:r>
              <a:rPr lang="fr-FR" dirty="0"/>
              <a:t> dealers</a:t>
            </a:r>
            <a:endParaRPr lang="en-US" dirty="0"/>
          </a:p>
        </p:txBody>
      </p:sp>
      <p:sp>
        <p:nvSpPr>
          <p:cNvPr id="3" name="Text Placeholder 2">
            <a:extLst>
              <a:ext uri="{FF2B5EF4-FFF2-40B4-BE49-F238E27FC236}">
                <a16:creationId xmlns:a16="http://schemas.microsoft.com/office/drawing/2014/main" id="{C729394E-1A10-4E34-826C-8B443C0C74D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364481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7E052-2C4F-4D35-99C7-F75EC06261FA}"/>
              </a:ext>
            </a:extLst>
          </p:cNvPr>
          <p:cNvSpPr>
            <a:spLocks noGrp="1"/>
          </p:cNvSpPr>
          <p:nvPr>
            <p:ph type="title"/>
          </p:nvPr>
        </p:nvSpPr>
        <p:spPr/>
        <p:txBody>
          <a:bodyPr/>
          <a:lstStyle/>
          <a:p>
            <a:r>
              <a:rPr lang="fr-FR" dirty="0"/>
              <a:t>Arrest / </a:t>
            </a:r>
            <a:r>
              <a:rPr lang="fr-FR" dirty="0" err="1"/>
              <a:t>Punish</a:t>
            </a:r>
            <a:r>
              <a:rPr lang="fr-FR" dirty="0"/>
              <a:t> </a:t>
            </a:r>
            <a:r>
              <a:rPr lang="fr-FR" dirty="0" err="1"/>
              <a:t>drug</a:t>
            </a:r>
            <a:r>
              <a:rPr lang="fr-FR" dirty="0"/>
              <a:t> </a:t>
            </a:r>
            <a:r>
              <a:rPr lang="fr-FR" dirty="0" err="1"/>
              <a:t>users</a:t>
            </a:r>
            <a:endParaRPr lang="en-US" dirty="0"/>
          </a:p>
        </p:txBody>
      </p:sp>
      <p:sp>
        <p:nvSpPr>
          <p:cNvPr id="3" name="Text Placeholder 2">
            <a:extLst>
              <a:ext uri="{FF2B5EF4-FFF2-40B4-BE49-F238E27FC236}">
                <a16:creationId xmlns:a16="http://schemas.microsoft.com/office/drawing/2014/main" id="{A0405C4B-4D7D-444D-9939-44D3E3B7FA6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952299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66A65-AD0C-4F6D-A6A6-72CC681D3B12}"/>
              </a:ext>
            </a:extLst>
          </p:cNvPr>
          <p:cNvSpPr>
            <a:spLocks noGrp="1"/>
          </p:cNvSpPr>
          <p:nvPr>
            <p:ph type="title"/>
          </p:nvPr>
        </p:nvSpPr>
        <p:spPr/>
        <p:txBody>
          <a:bodyPr/>
          <a:lstStyle/>
          <a:p>
            <a:r>
              <a:rPr lang="fr-FR" dirty="0" err="1"/>
              <a:t>Outline</a:t>
            </a:r>
            <a:r>
              <a:rPr lang="fr-FR" dirty="0"/>
              <a:t> of module 4</a:t>
            </a:r>
            <a:endParaRPr lang="en-US" dirty="0"/>
          </a:p>
        </p:txBody>
      </p:sp>
      <p:sp>
        <p:nvSpPr>
          <p:cNvPr id="4" name="Text Placeholder 3">
            <a:extLst>
              <a:ext uri="{FF2B5EF4-FFF2-40B4-BE49-F238E27FC236}">
                <a16:creationId xmlns:a16="http://schemas.microsoft.com/office/drawing/2014/main" id="{359C7F4D-4B7D-4BC5-AF84-8A8F75E2B2E8}"/>
              </a:ext>
            </a:extLst>
          </p:cNvPr>
          <p:cNvSpPr>
            <a:spLocks noGrp="1"/>
          </p:cNvSpPr>
          <p:nvPr>
            <p:ph type="body" idx="1"/>
          </p:nvPr>
        </p:nvSpPr>
        <p:spPr/>
        <p:txBody>
          <a:bodyPr/>
          <a:lstStyle/>
          <a:p>
            <a:r>
              <a:rPr lang="en-US" dirty="0">
                <a:solidFill>
                  <a:schemeClr val="bg1">
                    <a:lumMod val="50000"/>
                  </a:schemeClr>
                </a:solidFill>
              </a:rPr>
              <a:t>Introduction to market structures </a:t>
            </a:r>
          </a:p>
          <a:p>
            <a:endParaRPr lang="en-US" sz="2000" dirty="0"/>
          </a:p>
          <a:p>
            <a:r>
              <a:rPr lang="en-US" dirty="0">
                <a:solidFill>
                  <a:schemeClr val="bg1">
                    <a:lumMod val="50000"/>
                  </a:schemeClr>
                </a:solidFill>
              </a:rPr>
              <a:t>Perfect competition</a:t>
            </a:r>
          </a:p>
          <a:p>
            <a:pPr lvl="1"/>
            <a:r>
              <a:rPr lang="en-US" dirty="0">
                <a:solidFill>
                  <a:schemeClr val="bg1">
                    <a:lumMod val="50000"/>
                  </a:schemeClr>
                </a:solidFill>
              </a:rPr>
              <a:t>Profit maximization of a price taker in the short run</a:t>
            </a:r>
          </a:p>
          <a:p>
            <a:pPr lvl="1"/>
            <a:r>
              <a:rPr lang="en-US" dirty="0">
                <a:solidFill>
                  <a:schemeClr val="bg1">
                    <a:lumMod val="50000"/>
                  </a:schemeClr>
                </a:solidFill>
              </a:rPr>
              <a:t>Firm-level and market supply</a:t>
            </a:r>
          </a:p>
          <a:p>
            <a:pPr lvl="1"/>
            <a:r>
              <a:rPr lang="en-US" dirty="0">
                <a:solidFill>
                  <a:schemeClr val="bg1">
                    <a:lumMod val="50000"/>
                  </a:schemeClr>
                </a:solidFill>
              </a:rPr>
              <a:t>Long-run competitive equilibrium</a:t>
            </a:r>
          </a:p>
          <a:p>
            <a:pPr lvl="1"/>
            <a:endParaRPr lang="en-US" sz="2000" dirty="0"/>
          </a:p>
          <a:p>
            <a:r>
              <a:rPr lang="en-US" b="1" dirty="0"/>
              <a:t>Market distortions/regulations</a:t>
            </a:r>
          </a:p>
          <a:p>
            <a:endParaRPr lang="en-US" sz="2000" dirty="0">
              <a:solidFill>
                <a:schemeClr val="bg1">
                  <a:lumMod val="50000"/>
                </a:schemeClr>
              </a:solidFill>
            </a:endParaRPr>
          </a:p>
          <a:p>
            <a:r>
              <a:rPr lang="en-US" dirty="0">
                <a:solidFill>
                  <a:schemeClr val="bg1">
                    <a:lumMod val="50000"/>
                  </a:schemeClr>
                </a:solidFill>
              </a:rPr>
              <a:t>Externalities</a:t>
            </a:r>
          </a:p>
          <a:p>
            <a:endParaRPr lang="en-US" dirty="0"/>
          </a:p>
        </p:txBody>
      </p:sp>
    </p:spTree>
    <p:extLst>
      <p:ext uri="{BB962C8B-B14F-4D97-AF65-F5344CB8AC3E}">
        <p14:creationId xmlns:p14="http://schemas.microsoft.com/office/powerpoint/2010/main" val="1668114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Market distortions: Introduction</a:t>
            </a:r>
          </a:p>
        </p:txBody>
      </p:sp>
      <p:sp>
        <p:nvSpPr>
          <p:cNvPr id="3" name="Content Placeholder 2"/>
          <p:cNvSpPr>
            <a:spLocks noGrp="1"/>
          </p:cNvSpPr>
          <p:nvPr>
            <p:ph type="body" idx="1"/>
          </p:nvPr>
        </p:nvSpPr>
        <p:spPr/>
        <p:txBody>
          <a:bodyPr>
            <a:normAutofit/>
          </a:bodyPr>
          <a:lstStyle/>
          <a:p>
            <a:r>
              <a:rPr lang="en-US" dirty="0"/>
              <a:t>In </a:t>
            </a:r>
            <a:r>
              <a:rPr lang="en-US" dirty="0">
                <a:solidFill>
                  <a:srgbClr val="C00000"/>
                </a:solidFill>
              </a:rPr>
              <a:t>competitive markets </a:t>
            </a:r>
            <a:r>
              <a:rPr lang="en-US" dirty="0"/>
              <a:t>(i.e., perfect competition), equilibrium is given by the intersection of the supply and demand curves</a:t>
            </a:r>
          </a:p>
          <a:p>
            <a:pPr>
              <a:spcAft>
                <a:spcPts val="600"/>
              </a:spcAft>
            </a:pPr>
            <a:endParaRPr lang="en-US" sz="1800" dirty="0"/>
          </a:p>
          <a:p>
            <a:r>
              <a:rPr lang="en-US" dirty="0"/>
              <a:t>External forces can distort equilibrium:</a:t>
            </a:r>
          </a:p>
          <a:p>
            <a:pPr lvl="1"/>
            <a:r>
              <a:rPr lang="en-US" dirty="0"/>
              <a:t>Price controls (rent control, minimum wages)</a:t>
            </a:r>
          </a:p>
          <a:p>
            <a:pPr lvl="1"/>
            <a:r>
              <a:rPr lang="en-US" dirty="0"/>
              <a:t>Taxes and subsidies</a:t>
            </a:r>
          </a:p>
          <a:p>
            <a:pPr lvl="1"/>
            <a:endParaRPr lang="en-US" sz="1800" dirty="0"/>
          </a:p>
          <a:p>
            <a:r>
              <a:rPr lang="fr-FR" dirty="0"/>
              <a:t>How to </a:t>
            </a:r>
            <a:r>
              <a:rPr lang="fr-FR" dirty="0" err="1"/>
              <a:t>assess</a:t>
            </a:r>
            <a:r>
              <a:rPr lang="fr-FR" dirty="0"/>
              <a:t> </a:t>
            </a:r>
            <a:r>
              <a:rPr lang="fr-FR" dirty="0" err="1"/>
              <a:t>who</a:t>
            </a:r>
            <a:r>
              <a:rPr lang="fr-FR" dirty="0"/>
              <a:t> </a:t>
            </a:r>
            <a:r>
              <a:rPr lang="fr-FR" dirty="0" err="1"/>
              <a:t>benefits</a:t>
            </a:r>
            <a:r>
              <a:rPr lang="fr-FR" dirty="0"/>
              <a:t> and </a:t>
            </a:r>
            <a:r>
              <a:rPr lang="fr-FR" dirty="0" err="1"/>
              <a:t>who</a:t>
            </a:r>
            <a:r>
              <a:rPr lang="fr-FR" dirty="0"/>
              <a:t> loses?</a:t>
            </a:r>
            <a:endParaRPr lang="en-US" dirty="0"/>
          </a:p>
          <a:p>
            <a:pPr lvl="1"/>
            <a:r>
              <a:rPr lang="en-US" dirty="0"/>
              <a:t>Consumer and Producer Surplus</a:t>
            </a:r>
          </a:p>
          <a:p>
            <a:pPr lvl="1"/>
            <a:r>
              <a:rPr lang="en-US" dirty="0"/>
              <a:t>Deadweight Loss</a:t>
            </a:r>
          </a:p>
          <a:p>
            <a:pPr lvl="1"/>
            <a:endParaRPr lang="en-US" dirty="0"/>
          </a:p>
          <a:p>
            <a:pPr lvl="1"/>
            <a:endParaRPr lang="en-US" dirty="0"/>
          </a:p>
          <a:p>
            <a:endParaRPr lang="en-US" dirty="0"/>
          </a:p>
        </p:txBody>
      </p:sp>
      <p:sp>
        <p:nvSpPr>
          <p:cNvPr id="4" name="Slide Number Placeholder 3"/>
          <p:cNvSpPr>
            <a:spLocks noGrp="1"/>
          </p:cNvSpPr>
          <p:nvPr>
            <p:ph type="sldNum" sz="quarter" idx="12"/>
          </p:nvPr>
        </p:nvSpPr>
        <p:spPr/>
        <p:txBody>
          <a:bodyPr/>
          <a:lstStyle/>
          <a:p>
            <a:fld id="{0F3206DB-9488-D04D-BDD1-A7C9D84C4579}" type="slidenum">
              <a:rPr lang="en-US" smtClean="0"/>
              <a:t>54</a:t>
            </a:fld>
            <a:endParaRPr lang="en-US"/>
          </a:p>
        </p:txBody>
      </p:sp>
    </p:spTree>
    <p:extLst>
      <p:ext uri="{BB962C8B-B14F-4D97-AF65-F5344CB8AC3E}">
        <p14:creationId xmlns:p14="http://schemas.microsoft.com/office/powerpoint/2010/main" val="3001397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Whitney-Medium" pitchFamily="50" charset="0"/>
                <a:cs typeface="Whitney-Medium" pitchFamily="50" charset="0"/>
              </a:rPr>
              <a:t>Consumer surplus</a:t>
            </a:r>
          </a:p>
        </p:txBody>
      </p:sp>
      <p:sp>
        <p:nvSpPr>
          <p:cNvPr id="33" name="Content Placeholder 2">
            <a:extLst>
              <a:ext uri="{FF2B5EF4-FFF2-40B4-BE49-F238E27FC236}">
                <a16:creationId xmlns:a16="http://schemas.microsoft.com/office/drawing/2014/main" id="{2E5C6239-6035-446C-BB71-EBC85AE28BBF}"/>
              </a:ext>
            </a:extLst>
          </p:cNvPr>
          <p:cNvSpPr>
            <a:spLocks noGrp="1"/>
          </p:cNvSpPr>
          <p:nvPr>
            <p:ph type="body" idx="1"/>
          </p:nvPr>
        </p:nvSpPr>
        <p:spPr>
          <a:xfrm>
            <a:off x="387900" y="1174165"/>
            <a:ext cx="8520600" cy="4917668"/>
          </a:xfrm>
        </p:spPr>
        <p:txBody>
          <a:bodyPr>
            <a:normAutofit/>
          </a:bodyPr>
          <a:lstStyle/>
          <a:p>
            <a:r>
              <a:rPr lang="en-US" sz="2400" b="1" dirty="0"/>
              <a:t>CS</a:t>
            </a:r>
            <a:r>
              <a:rPr lang="en-US" sz="2400" dirty="0"/>
              <a:t>: difference between the consumers’ willingness to pay (D  curve) and the price they pay for the product (</a:t>
            </a:r>
            <a:r>
              <a:rPr lang="en-US" sz="2400" i="1" dirty="0"/>
              <a:t>P* </a:t>
            </a:r>
            <a:r>
              <a:rPr lang="en-US" sz="2400" dirty="0"/>
              <a:t>)</a:t>
            </a:r>
          </a:p>
          <a:p>
            <a:pPr>
              <a:spcAft>
                <a:spcPts val="600"/>
              </a:spcAft>
            </a:pPr>
            <a:endParaRPr lang="en-US" sz="1800" dirty="0"/>
          </a:p>
          <a:p>
            <a:pPr lvl="1"/>
            <a:endParaRPr lang="en-US" dirty="0"/>
          </a:p>
          <a:p>
            <a:pPr lvl="1"/>
            <a:endParaRPr lang="en-US" dirty="0"/>
          </a:p>
          <a:p>
            <a:endParaRPr lang="en-US" dirty="0"/>
          </a:p>
        </p:txBody>
      </p:sp>
      <p:sp>
        <p:nvSpPr>
          <p:cNvPr id="3" name="Slide Number Placeholder 2"/>
          <p:cNvSpPr>
            <a:spLocks noGrp="1"/>
          </p:cNvSpPr>
          <p:nvPr>
            <p:ph type="sldNum" sz="quarter" idx="12"/>
          </p:nvPr>
        </p:nvSpPr>
        <p:spPr/>
        <p:txBody>
          <a:bodyPr/>
          <a:lstStyle/>
          <a:p>
            <a:fld id="{0F3206DB-9488-D04D-BDD1-A7C9D84C4579}" type="slidenum">
              <a:rPr lang="en-US" smtClean="0">
                <a:latin typeface="Whitney Book" pitchFamily="50" charset="0"/>
                <a:cs typeface="Whitney Book" pitchFamily="50" charset="0"/>
              </a:rPr>
              <a:t>55</a:t>
            </a:fld>
            <a:endParaRPr lang="en-US">
              <a:latin typeface="Whitney Book" pitchFamily="50" charset="0"/>
              <a:cs typeface="Whitney Book" pitchFamily="50" charset="0"/>
            </a:endParaRPr>
          </a:p>
        </p:txBody>
      </p:sp>
      <p:sp>
        <p:nvSpPr>
          <p:cNvPr id="14" name="Rectangle 14"/>
          <p:cNvSpPr>
            <a:spLocks noChangeArrowheads="1"/>
          </p:cNvSpPr>
          <p:nvPr/>
        </p:nvSpPr>
        <p:spPr bwMode="auto">
          <a:xfrm>
            <a:off x="5392438" y="5872784"/>
            <a:ext cx="707960" cy="511119"/>
          </a:xfrm>
          <a:prstGeom prst="rect">
            <a:avLst/>
          </a:prstGeom>
          <a:noFill/>
          <a:ln w="9525">
            <a:noFill/>
            <a:miter lim="800000"/>
            <a:headEnd/>
            <a:tailEnd/>
          </a:ln>
          <a:effectLst/>
        </p:spPr>
        <p:txBody>
          <a:bodyPr wrap="none" lIns="19050" tIns="26988" rIns="19050" bIns="26988"/>
          <a:lstStyle/>
          <a:p>
            <a:pPr algn="ctr">
              <a:lnSpc>
                <a:spcPts val="2947"/>
              </a:lnSpc>
              <a:tabLst>
                <a:tab pos="481157" algn="l"/>
                <a:tab pos="962315" algn="l"/>
                <a:tab pos="1443472" algn="l"/>
              </a:tabLst>
            </a:pPr>
            <a:r>
              <a:rPr lang="en-US" sz="2800" b="0" dirty="0">
                <a:latin typeface="Whitney Book" pitchFamily="50" charset="0"/>
                <a:cs typeface="Whitney Book" pitchFamily="50" charset="0"/>
              </a:rPr>
              <a:t>D</a:t>
            </a:r>
            <a:endParaRPr lang="en-US" sz="2000" b="0" dirty="0">
              <a:latin typeface="Whitney Book" pitchFamily="50" charset="0"/>
              <a:cs typeface="Whitney Book" pitchFamily="50" charset="0"/>
            </a:endParaRPr>
          </a:p>
        </p:txBody>
      </p:sp>
      <p:grpSp>
        <p:nvGrpSpPr>
          <p:cNvPr id="4" name="Group 4"/>
          <p:cNvGrpSpPr>
            <a:grpSpLocks/>
          </p:cNvGrpSpPr>
          <p:nvPr/>
        </p:nvGrpSpPr>
        <p:grpSpPr bwMode="auto">
          <a:xfrm>
            <a:off x="999331" y="2489435"/>
            <a:ext cx="5711656" cy="4087477"/>
            <a:chOff x="338" y="685"/>
            <a:chExt cx="4574" cy="3219"/>
          </a:xfrm>
        </p:grpSpPr>
        <p:sp>
          <p:nvSpPr>
            <p:cNvPr id="5" name="Line 5"/>
            <p:cNvSpPr>
              <a:spLocks noChangeShapeType="1"/>
            </p:cNvSpPr>
            <p:nvPr/>
          </p:nvSpPr>
          <p:spPr bwMode="auto">
            <a:xfrm flipH="1">
              <a:off x="1141" y="729"/>
              <a:ext cx="17" cy="2991"/>
            </a:xfrm>
            <a:prstGeom prst="line">
              <a:avLst/>
            </a:prstGeom>
            <a:noFill/>
            <a:ln w="50800">
              <a:solidFill>
                <a:schemeClr val="tx1"/>
              </a:solidFill>
              <a:round/>
              <a:headEnd type="arrow" w="sm" len="sm"/>
              <a:tailEnd type="none" w="sm" len="sm"/>
            </a:ln>
            <a:effectLst/>
          </p:spPr>
          <p:txBody>
            <a:bodyPr wrap="none" anchor="ctr"/>
            <a:lstStyle/>
            <a:p>
              <a:endParaRPr lang="en-US" sz="2800" b="0">
                <a:latin typeface="Whitney Book" pitchFamily="50" charset="0"/>
                <a:cs typeface="Whitney Book" pitchFamily="50" charset="0"/>
              </a:endParaRPr>
            </a:p>
          </p:txBody>
        </p:sp>
        <p:sp>
          <p:nvSpPr>
            <p:cNvPr id="6" name="Line 6"/>
            <p:cNvSpPr>
              <a:spLocks noChangeShapeType="1"/>
            </p:cNvSpPr>
            <p:nvPr/>
          </p:nvSpPr>
          <p:spPr bwMode="auto">
            <a:xfrm flipV="1">
              <a:off x="1141" y="3728"/>
              <a:ext cx="3363" cy="10"/>
            </a:xfrm>
            <a:prstGeom prst="line">
              <a:avLst/>
            </a:prstGeom>
            <a:noFill/>
            <a:ln w="50800">
              <a:solidFill>
                <a:schemeClr val="tx1"/>
              </a:solidFill>
              <a:round/>
              <a:headEnd type="none" w="sm" len="sm"/>
              <a:tailEnd type="arrow" w="sm" len="sm"/>
            </a:ln>
            <a:effectLst/>
          </p:spPr>
          <p:txBody>
            <a:bodyPr wrap="none" anchor="ctr"/>
            <a:lstStyle/>
            <a:p>
              <a:endParaRPr lang="en-US" sz="2800" b="0">
                <a:latin typeface="Whitney Book" pitchFamily="50" charset="0"/>
                <a:cs typeface="Whitney Book" pitchFamily="50" charset="0"/>
              </a:endParaRPr>
            </a:p>
          </p:txBody>
        </p:sp>
        <p:sp>
          <p:nvSpPr>
            <p:cNvPr id="7" name="Rectangle 7"/>
            <p:cNvSpPr>
              <a:spLocks noChangeArrowheads="1"/>
            </p:cNvSpPr>
            <p:nvPr/>
          </p:nvSpPr>
          <p:spPr bwMode="auto">
            <a:xfrm>
              <a:off x="338" y="685"/>
              <a:ext cx="547" cy="528"/>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dirty="0">
                  <a:latin typeface="Whitney Book" pitchFamily="50" charset="0"/>
                  <a:cs typeface="Whitney Book" pitchFamily="50" charset="0"/>
                </a:rPr>
                <a:t>Price</a:t>
              </a:r>
            </a:p>
          </p:txBody>
        </p:sp>
        <p:sp>
          <p:nvSpPr>
            <p:cNvPr id="8" name="Rectangle 8"/>
            <p:cNvSpPr>
              <a:spLocks noChangeArrowheads="1"/>
            </p:cNvSpPr>
            <p:nvPr/>
          </p:nvSpPr>
          <p:spPr bwMode="auto">
            <a:xfrm>
              <a:off x="4528" y="3600"/>
              <a:ext cx="384" cy="304"/>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dirty="0">
                  <a:latin typeface="Whitney Book" pitchFamily="50" charset="0"/>
                  <a:cs typeface="Whitney Book" pitchFamily="50" charset="0"/>
                </a:rPr>
                <a:t>Q</a:t>
              </a:r>
            </a:p>
          </p:txBody>
        </p:sp>
      </p:grpSp>
      <p:grpSp>
        <p:nvGrpSpPr>
          <p:cNvPr id="9" name="Group 9"/>
          <p:cNvGrpSpPr>
            <a:grpSpLocks/>
          </p:cNvGrpSpPr>
          <p:nvPr/>
        </p:nvGrpSpPr>
        <p:grpSpPr bwMode="auto">
          <a:xfrm>
            <a:off x="2023886" y="2892505"/>
            <a:ext cx="3975328" cy="3450532"/>
            <a:chOff x="1314" y="1019"/>
            <a:chExt cx="2988" cy="2564"/>
          </a:xfrm>
        </p:grpSpPr>
        <p:sp>
          <p:nvSpPr>
            <p:cNvPr id="10" name="Line 10"/>
            <p:cNvSpPr>
              <a:spLocks noChangeShapeType="1"/>
            </p:cNvSpPr>
            <p:nvPr/>
          </p:nvSpPr>
          <p:spPr bwMode="auto">
            <a:xfrm flipV="1">
              <a:off x="1314" y="1172"/>
              <a:ext cx="2214" cy="2411"/>
            </a:xfrm>
            <a:prstGeom prst="line">
              <a:avLst/>
            </a:prstGeom>
            <a:noFill/>
            <a:ln w="50800">
              <a:solidFill>
                <a:schemeClr val="accent1">
                  <a:lumMod val="75000"/>
                </a:schemeClr>
              </a:solidFill>
              <a:round/>
              <a:headEnd type="none" w="sm" len="sm"/>
              <a:tailEnd type="none" w="sm" len="sm"/>
            </a:ln>
            <a:effectLst/>
          </p:spPr>
          <p:txBody>
            <a:bodyPr wrap="none" anchor="ctr"/>
            <a:lstStyle/>
            <a:p>
              <a:endParaRPr lang="en-US" sz="2800" b="0">
                <a:latin typeface="Whitney Book" pitchFamily="50" charset="0"/>
                <a:cs typeface="Whitney Book" pitchFamily="50" charset="0"/>
              </a:endParaRPr>
            </a:p>
          </p:txBody>
        </p:sp>
        <p:sp>
          <p:nvSpPr>
            <p:cNvPr id="11" name="Rectangle 11"/>
            <p:cNvSpPr>
              <a:spLocks noChangeArrowheads="1"/>
            </p:cNvSpPr>
            <p:nvPr/>
          </p:nvSpPr>
          <p:spPr bwMode="auto">
            <a:xfrm>
              <a:off x="3934" y="1019"/>
              <a:ext cx="368" cy="304"/>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dirty="0">
                  <a:latin typeface="Whitney Book" pitchFamily="50" charset="0"/>
                  <a:cs typeface="Whitney Book" pitchFamily="50" charset="0"/>
                </a:rPr>
                <a:t>S</a:t>
              </a:r>
            </a:p>
          </p:txBody>
        </p:sp>
      </p:grpSp>
      <p:sp>
        <p:nvSpPr>
          <p:cNvPr id="13" name="Line 13"/>
          <p:cNvSpPr>
            <a:spLocks noChangeShapeType="1"/>
          </p:cNvSpPr>
          <p:nvPr/>
        </p:nvSpPr>
        <p:spPr bwMode="auto">
          <a:xfrm>
            <a:off x="2001587" y="3413954"/>
            <a:ext cx="3447545" cy="2901864"/>
          </a:xfrm>
          <a:prstGeom prst="line">
            <a:avLst/>
          </a:prstGeom>
          <a:noFill/>
          <a:ln w="50800">
            <a:solidFill>
              <a:srgbClr val="C00000"/>
            </a:solidFill>
            <a:round/>
            <a:headEnd type="none" w="sm" len="sm"/>
            <a:tailEnd type="none" w="sm" len="sm"/>
          </a:ln>
          <a:effectLst/>
        </p:spPr>
        <p:txBody>
          <a:bodyPr wrap="none" anchor="ctr"/>
          <a:lstStyle/>
          <a:p>
            <a:endParaRPr lang="en-US" sz="2800" b="0">
              <a:latin typeface="Whitney Book" pitchFamily="50" charset="0"/>
              <a:cs typeface="Whitney Book" pitchFamily="50" charset="0"/>
            </a:endParaRPr>
          </a:p>
        </p:txBody>
      </p:sp>
      <p:grpSp>
        <p:nvGrpSpPr>
          <p:cNvPr id="15" name="Group 14"/>
          <p:cNvGrpSpPr/>
          <p:nvPr/>
        </p:nvGrpSpPr>
        <p:grpSpPr>
          <a:xfrm>
            <a:off x="1601770" y="4535064"/>
            <a:ext cx="3761297" cy="2207409"/>
            <a:chOff x="1370152" y="4191000"/>
            <a:chExt cx="5030647" cy="2906012"/>
          </a:xfrm>
        </p:grpSpPr>
        <p:sp>
          <p:nvSpPr>
            <p:cNvPr id="16" name="Rectangle 15"/>
            <p:cNvSpPr/>
            <p:nvPr/>
          </p:nvSpPr>
          <p:spPr>
            <a:xfrm>
              <a:off x="3679625" y="6535329"/>
              <a:ext cx="585735" cy="561683"/>
            </a:xfrm>
            <a:prstGeom prst="rect">
              <a:avLst/>
            </a:prstGeom>
          </p:spPr>
          <p:txBody>
            <a:bodyPr wrap="none">
              <a:spAutoFit/>
            </a:bodyPr>
            <a:lstStyle/>
            <a:p>
              <a:pPr>
                <a:lnSpc>
                  <a:spcPts val="2947"/>
                </a:lnSpc>
                <a:tabLst>
                  <a:tab pos="481157" algn="l"/>
                  <a:tab pos="962315" algn="l"/>
                  <a:tab pos="1443472" algn="l"/>
                </a:tabLst>
              </a:pPr>
              <a:r>
                <a:rPr lang="en-US" b="0" i="1" dirty="0">
                  <a:latin typeface="Whitney Book" pitchFamily="50" charset="0"/>
                  <a:cs typeface="Whitney Book" pitchFamily="50" charset="0"/>
                </a:rPr>
                <a:t>Q*</a:t>
              </a:r>
              <a:endParaRPr lang="en-US" b="0" i="1" baseline="-25000" dirty="0">
                <a:latin typeface="Whitney Book" pitchFamily="50" charset="0"/>
                <a:cs typeface="Whitney Book" pitchFamily="50" charset="0"/>
              </a:endParaRPr>
            </a:p>
          </p:txBody>
        </p:sp>
        <p:sp>
          <p:nvSpPr>
            <p:cNvPr id="17" name="Line 16"/>
            <p:cNvSpPr>
              <a:spLocks noChangeShapeType="1"/>
            </p:cNvSpPr>
            <p:nvPr/>
          </p:nvSpPr>
          <p:spPr bwMode="auto">
            <a:xfrm flipH="1">
              <a:off x="1904998" y="4419600"/>
              <a:ext cx="4495801" cy="0"/>
            </a:xfrm>
            <a:prstGeom prst="line">
              <a:avLst/>
            </a:prstGeom>
            <a:noFill/>
            <a:ln w="38100">
              <a:solidFill>
                <a:schemeClr val="accent3">
                  <a:lumMod val="50000"/>
                </a:schemeClr>
              </a:solidFill>
              <a:round/>
              <a:headEnd type="none" w="sm" len="sm"/>
              <a:tailEnd type="none" w="sm" len="sm"/>
            </a:ln>
            <a:effectLst/>
          </p:spPr>
          <p:txBody>
            <a:bodyPr wrap="none" anchor="ctr"/>
            <a:lstStyle/>
            <a:p>
              <a:endParaRPr lang="en-US" sz="2800" b="0">
                <a:latin typeface="Whitney Book" pitchFamily="50" charset="0"/>
                <a:cs typeface="Whitney Book" pitchFamily="50" charset="0"/>
              </a:endParaRPr>
            </a:p>
          </p:txBody>
        </p:sp>
        <p:cxnSp>
          <p:nvCxnSpPr>
            <p:cNvPr id="18" name="Straight Connector 17"/>
            <p:cNvCxnSpPr>
              <a:cxnSpLocks/>
            </p:cNvCxnSpPr>
            <p:nvPr/>
          </p:nvCxnSpPr>
          <p:spPr bwMode="auto">
            <a:xfrm>
              <a:off x="3937300" y="4455004"/>
              <a:ext cx="25100" cy="2129837"/>
            </a:xfrm>
            <a:prstGeom prst="line">
              <a:avLst/>
            </a:prstGeom>
            <a:solidFill>
              <a:schemeClr val="accent1"/>
            </a:solidFill>
            <a:ln w="19050" cap="flat" cmpd="sng" algn="ctr">
              <a:solidFill>
                <a:schemeClr val="tx1"/>
              </a:solidFill>
              <a:prstDash val="sysDash"/>
              <a:round/>
              <a:headEnd type="none" w="med" len="med"/>
              <a:tailEnd type="none" w="med" len="med"/>
            </a:ln>
            <a:effectLst/>
          </p:spPr>
        </p:cxnSp>
        <p:sp>
          <p:nvSpPr>
            <p:cNvPr id="19" name="Rectangle 17"/>
            <p:cNvSpPr>
              <a:spLocks noChangeArrowheads="1"/>
            </p:cNvSpPr>
            <p:nvPr/>
          </p:nvSpPr>
          <p:spPr bwMode="auto">
            <a:xfrm>
              <a:off x="1370152" y="4191000"/>
              <a:ext cx="440917" cy="628546"/>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i="1" dirty="0">
                  <a:solidFill>
                    <a:schemeClr val="accent3">
                      <a:lumMod val="50000"/>
                    </a:schemeClr>
                  </a:solidFill>
                  <a:latin typeface="Whitney Book" pitchFamily="50" charset="0"/>
                  <a:cs typeface="Whitney Book" pitchFamily="50" charset="0"/>
                </a:rPr>
                <a:t>P*</a:t>
              </a:r>
              <a:endParaRPr lang="en-US" sz="2000" b="0" i="1" baseline="-25000" dirty="0">
                <a:solidFill>
                  <a:schemeClr val="accent3">
                    <a:lumMod val="50000"/>
                  </a:schemeClr>
                </a:solidFill>
                <a:latin typeface="Whitney Book" pitchFamily="50" charset="0"/>
                <a:cs typeface="Whitney Book" pitchFamily="50" charset="0"/>
              </a:endParaRPr>
            </a:p>
          </p:txBody>
        </p:sp>
      </p:grpSp>
      <p:grpSp>
        <p:nvGrpSpPr>
          <p:cNvPr id="20" name="Group 19"/>
          <p:cNvGrpSpPr/>
          <p:nvPr/>
        </p:nvGrpSpPr>
        <p:grpSpPr>
          <a:xfrm>
            <a:off x="2024031" y="3473041"/>
            <a:ext cx="1461643" cy="1231856"/>
            <a:chOff x="1905000" y="2362200"/>
            <a:chExt cx="2362200" cy="1905000"/>
          </a:xfrm>
        </p:grpSpPr>
        <p:sp>
          <p:nvSpPr>
            <p:cNvPr id="21" name="Isosceles Triangle 20"/>
            <p:cNvSpPr/>
            <p:nvPr/>
          </p:nvSpPr>
          <p:spPr bwMode="auto">
            <a:xfrm>
              <a:off x="1905000" y="2362200"/>
              <a:ext cx="2362200" cy="1905000"/>
            </a:xfrm>
            <a:prstGeom prst="triangle">
              <a:avLst>
                <a:gd name="adj" fmla="val 1005"/>
              </a:avLst>
            </a:pr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effectLst/>
                <a:latin typeface="Whitney Book" pitchFamily="50" charset="0"/>
                <a:cs typeface="Whitney Book" pitchFamily="50" charset="0"/>
              </a:endParaRPr>
            </a:p>
          </p:txBody>
        </p:sp>
        <p:sp>
          <p:nvSpPr>
            <p:cNvPr id="22" name="TextBox 21"/>
            <p:cNvSpPr txBox="1"/>
            <p:nvPr/>
          </p:nvSpPr>
          <p:spPr>
            <a:xfrm>
              <a:off x="2209800" y="3429000"/>
              <a:ext cx="1066800" cy="433848"/>
            </a:xfrm>
            <a:prstGeom prst="rect">
              <a:avLst/>
            </a:prstGeom>
            <a:noFill/>
          </p:spPr>
          <p:txBody>
            <a:bodyPr wrap="square" rtlCol="0">
              <a:spAutoFit/>
            </a:bodyPr>
            <a:lstStyle/>
            <a:p>
              <a:r>
                <a:rPr lang="en-US" dirty="0">
                  <a:latin typeface="Whitney Book" pitchFamily="50" charset="0"/>
                  <a:cs typeface="Whitney Book" pitchFamily="50" charset="0"/>
                </a:rPr>
                <a:t>CS</a:t>
              </a:r>
            </a:p>
          </p:txBody>
        </p:sp>
      </p:grpSp>
      <p:sp>
        <p:nvSpPr>
          <p:cNvPr id="26" name="TextBox 25"/>
          <p:cNvSpPr txBox="1"/>
          <p:nvPr/>
        </p:nvSpPr>
        <p:spPr>
          <a:xfrm>
            <a:off x="6394011" y="4090183"/>
            <a:ext cx="2362200" cy="1200329"/>
          </a:xfrm>
          <a:prstGeom prst="rect">
            <a:avLst/>
          </a:prstGeom>
          <a:noFill/>
          <a:ln w="19050">
            <a:solidFill>
              <a:srgbClr val="C00000"/>
            </a:solidFill>
          </a:ln>
        </p:spPr>
        <p:txBody>
          <a:bodyPr wrap="square" rtlCol="0">
            <a:spAutoFit/>
          </a:bodyPr>
          <a:lstStyle/>
          <a:p>
            <a:r>
              <a:rPr lang="en-US" b="0" dirty="0">
                <a:solidFill>
                  <a:srgbClr val="C00000"/>
                </a:solidFill>
                <a:latin typeface="Whitney Book" pitchFamily="50" charset="0"/>
                <a:cs typeface="Whitney Book" pitchFamily="50" charset="0"/>
              </a:rPr>
              <a:t>Consumer surplus (CS) is the area below the demand curve and above the price line</a:t>
            </a:r>
          </a:p>
        </p:txBody>
      </p:sp>
    </p:spTree>
    <p:extLst>
      <p:ext uri="{BB962C8B-B14F-4D97-AF65-F5344CB8AC3E}">
        <p14:creationId xmlns:p14="http://schemas.microsoft.com/office/powerpoint/2010/main" val="3255147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3" grpId="0" animBg="1"/>
      <p:bldP spid="26"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Whitney-Medium" pitchFamily="50" charset="0"/>
                <a:cs typeface="Whitney-Medium" pitchFamily="50" charset="0"/>
              </a:rPr>
              <a:t>Producer surplus</a:t>
            </a:r>
          </a:p>
        </p:txBody>
      </p:sp>
      <p:sp>
        <p:nvSpPr>
          <p:cNvPr id="33" name="Content Placeholder 2">
            <a:extLst>
              <a:ext uri="{FF2B5EF4-FFF2-40B4-BE49-F238E27FC236}">
                <a16:creationId xmlns:a16="http://schemas.microsoft.com/office/drawing/2014/main" id="{2E5C6239-6035-446C-BB71-EBC85AE28BBF}"/>
              </a:ext>
            </a:extLst>
          </p:cNvPr>
          <p:cNvSpPr>
            <a:spLocks noGrp="1"/>
          </p:cNvSpPr>
          <p:nvPr>
            <p:ph type="body" idx="1"/>
          </p:nvPr>
        </p:nvSpPr>
        <p:spPr>
          <a:xfrm>
            <a:off x="387900" y="1136071"/>
            <a:ext cx="8520600" cy="4955762"/>
          </a:xfrm>
        </p:spPr>
        <p:txBody>
          <a:bodyPr>
            <a:normAutofit/>
          </a:bodyPr>
          <a:lstStyle/>
          <a:p>
            <a:pPr>
              <a:lnSpc>
                <a:spcPct val="110000"/>
              </a:lnSpc>
            </a:pPr>
            <a:r>
              <a:rPr lang="en-US" sz="2400" b="1" dirty="0"/>
              <a:t>PS</a:t>
            </a:r>
            <a:r>
              <a:rPr lang="en-US" sz="2400" dirty="0"/>
              <a:t>: difference between the price at which producers are willing to sell (S curve) and the price producers actually receive for their goods (</a:t>
            </a:r>
            <a:r>
              <a:rPr lang="en-US" sz="2400" i="1" dirty="0"/>
              <a:t>P* </a:t>
            </a:r>
            <a:r>
              <a:rPr lang="en-US" sz="2400" dirty="0"/>
              <a:t>)</a:t>
            </a:r>
          </a:p>
          <a:p>
            <a:pPr lvl="1"/>
            <a:endParaRPr lang="en-US" dirty="0"/>
          </a:p>
          <a:p>
            <a:pPr lvl="1"/>
            <a:endParaRPr lang="en-US" dirty="0"/>
          </a:p>
          <a:p>
            <a:endParaRPr lang="en-US" dirty="0"/>
          </a:p>
        </p:txBody>
      </p:sp>
      <p:sp>
        <p:nvSpPr>
          <p:cNvPr id="3" name="Slide Number Placeholder 2"/>
          <p:cNvSpPr>
            <a:spLocks noGrp="1"/>
          </p:cNvSpPr>
          <p:nvPr>
            <p:ph type="sldNum" sz="quarter" idx="12"/>
          </p:nvPr>
        </p:nvSpPr>
        <p:spPr/>
        <p:txBody>
          <a:bodyPr/>
          <a:lstStyle/>
          <a:p>
            <a:fld id="{0F3206DB-9488-D04D-BDD1-A7C9D84C4579}" type="slidenum">
              <a:rPr lang="en-US" smtClean="0">
                <a:latin typeface="Whitney Book" pitchFamily="50" charset="0"/>
                <a:cs typeface="Whitney Book" pitchFamily="50" charset="0"/>
              </a:rPr>
              <a:t>56</a:t>
            </a:fld>
            <a:endParaRPr lang="en-US">
              <a:latin typeface="Whitney Book" pitchFamily="50" charset="0"/>
              <a:cs typeface="Whitney Book" pitchFamily="50" charset="0"/>
            </a:endParaRPr>
          </a:p>
        </p:txBody>
      </p:sp>
      <p:sp>
        <p:nvSpPr>
          <p:cNvPr id="14" name="Rectangle 14"/>
          <p:cNvSpPr>
            <a:spLocks noChangeArrowheads="1"/>
          </p:cNvSpPr>
          <p:nvPr/>
        </p:nvSpPr>
        <p:spPr bwMode="auto">
          <a:xfrm>
            <a:off x="5291956" y="5891523"/>
            <a:ext cx="707960" cy="511119"/>
          </a:xfrm>
          <a:prstGeom prst="rect">
            <a:avLst/>
          </a:prstGeom>
          <a:noFill/>
          <a:ln w="9525">
            <a:noFill/>
            <a:miter lim="800000"/>
            <a:headEnd/>
            <a:tailEnd/>
          </a:ln>
          <a:effectLst/>
        </p:spPr>
        <p:txBody>
          <a:bodyPr wrap="none" lIns="19050" tIns="26988" rIns="19050" bIns="26988"/>
          <a:lstStyle/>
          <a:p>
            <a:pPr algn="ctr">
              <a:lnSpc>
                <a:spcPts val="2947"/>
              </a:lnSpc>
              <a:tabLst>
                <a:tab pos="481157" algn="l"/>
                <a:tab pos="962315" algn="l"/>
                <a:tab pos="1443472" algn="l"/>
              </a:tabLst>
            </a:pPr>
            <a:r>
              <a:rPr lang="en-US" sz="2800" b="0" dirty="0">
                <a:latin typeface="Whitney Book" pitchFamily="50" charset="0"/>
                <a:cs typeface="Whitney Book" pitchFamily="50" charset="0"/>
              </a:rPr>
              <a:t>D</a:t>
            </a:r>
            <a:endParaRPr lang="en-US" sz="2000" b="0" dirty="0">
              <a:latin typeface="Whitney Book" pitchFamily="50" charset="0"/>
              <a:cs typeface="Whitney Book" pitchFamily="50" charset="0"/>
            </a:endParaRPr>
          </a:p>
        </p:txBody>
      </p:sp>
      <p:grpSp>
        <p:nvGrpSpPr>
          <p:cNvPr id="4" name="Group 4"/>
          <p:cNvGrpSpPr>
            <a:grpSpLocks/>
          </p:cNvGrpSpPr>
          <p:nvPr/>
        </p:nvGrpSpPr>
        <p:grpSpPr bwMode="auto">
          <a:xfrm>
            <a:off x="999331" y="2489435"/>
            <a:ext cx="5711656" cy="4087477"/>
            <a:chOff x="338" y="685"/>
            <a:chExt cx="4574" cy="3219"/>
          </a:xfrm>
        </p:grpSpPr>
        <p:sp>
          <p:nvSpPr>
            <p:cNvPr id="5" name="Line 5"/>
            <p:cNvSpPr>
              <a:spLocks noChangeShapeType="1"/>
            </p:cNvSpPr>
            <p:nvPr/>
          </p:nvSpPr>
          <p:spPr bwMode="auto">
            <a:xfrm flipH="1">
              <a:off x="1141" y="729"/>
              <a:ext cx="17" cy="2991"/>
            </a:xfrm>
            <a:prstGeom prst="line">
              <a:avLst/>
            </a:prstGeom>
            <a:noFill/>
            <a:ln w="50800">
              <a:solidFill>
                <a:schemeClr val="tx1"/>
              </a:solidFill>
              <a:round/>
              <a:headEnd type="arrow" w="sm" len="sm"/>
              <a:tailEnd type="none" w="sm" len="sm"/>
            </a:ln>
            <a:effectLst/>
          </p:spPr>
          <p:txBody>
            <a:bodyPr wrap="none" anchor="ctr"/>
            <a:lstStyle/>
            <a:p>
              <a:endParaRPr lang="en-US" sz="2800" b="0">
                <a:latin typeface="Whitney Book" pitchFamily="50" charset="0"/>
                <a:cs typeface="Whitney Book" pitchFamily="50" charset="0"/>
              </a:endParaRPr>
            </a:p>
          </p:txBody>
        </p:sp>
        <p:sp>
          <p:nvSpPr>
            <p:cNvPr id="6" name="Line 6"/>
            <p:cNvSpPr>
              <a:spLocks noChangeShapeType="1"/>
            </p:cNvSpPr>
            <p:nvPr/>
          </p:nvSpPr>
          <p:spPr bwMode="auto">
            <a:xfrm flipV="1">
              <a:off x="1141" y="3728"/>
              <a:ext cx="3363" cy="10"/>
            </a:xfrm>
            <a:prstGeom prst="line">
              <a:avLst/>
            </a:prstGeom>
            <a:noFill/>
            <a:ln w="50800">
              <a:solidFill>
                <a:schemeClr val="tx1"/>
              </a:solidFill>
              <a:round/>
              <a:headEnd type="none" w="sm" len="sm"/>
              <a:tailEnd type="arrow" w="sm" len="sm"/>
            </a:ln>
            <a:effectLst/>
          </p:spPr>
          <p:txBody>
            <a:bodyPr wrap="none" anchor="ctr"/>
            <a:lstStyle/>
            <a:p>
              <a:endParaRPr lang="en-US" sz="2800" b="0">
                <a:latin typeface="Whitney Book" pitchFamily="50" charset="0"/>
                <a:cs typeface="Whitney Book" pitchFamily="50" charset="0"/>
              </a:endParaRPr>
            </a:p>
          </p:txBody>
        </p:sp>
        <p:sp>
          <p:nvSpPr>
            <p:cNvPr id="7" name="Rectangle 7"/>
            <p:cNvSpPr>
              <a:spLocks noChangeArrowheads="1"/>
            </p:cNvSpPr>
            <p:nvPr/>
          </p:nvSpPr>
          <p:spPr bwMode="auto">
            <a:xfrm>
              <a:off x="338" y="685"/>
              <a:ext cx="547" cy="528"/>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dirty="0">
                  <a:latin typeface="Whitney Book" pitchFamily="50" charset="0"/>
                  <a:cs typeface="Whitney Book" pitchFamily="50" charset="0"/>
                </a:rPr>
                <a:t>Price</a:t>
              </a:r>
            </a:p>
          </p:txBody>
        </p:sp>
        <p:sp>
          <p:nvSpPr>
            <p:cNvPr id="8" name="Rectangle 8"/>
            <p:cNvSpPr>
              <a:spLocks noChangeArrowheads="1"/>
            </p:cNvSpPr>
            <p:nvPr/>
          </p:nvSpPr>
          <p:spPr bwMode="auto">
            <a:xfrm>
              <a:off x="4528" y="3600"/>
              <a:ext cx="384" cy="304"/>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dirty="0">
                  <a:latin typeface="Whitney Book" pitchFamily="50" charset="0"/>
                  <a:cs typeface="Whitney Book" pitchFamily="50" charset="0"/>
                </a:rPr>
                <a:t>Q</a:t>
              </a:r>
            </a:p>
          </p:txBody>
        </p:sp>
      </p:grpSp>
      <p:grpSp>
        <p:nvGrpSpPr>
          <p:cNvPr id="9" name="Group 9"/>
          <p:cNvGrpSpPr>
            <a:grpSpLocks/>
          </p:cNvGrpSpPr>
          <p:nvPr/>
        </p:nvGrpSpPr>
        <p:grpSpPr bwMode="auto">
          <a:xfrm>
            <a:off x="2023886" y="2841366"/>
            <a:ext cx="3584181" cy="3501671"/>
            <a:chOff x="1314" y="981"/>
            <a:chExt cx="2694" cy="2602"/>
          </a:xfrm>
        </p:grpSpPr>
        <p:sp>
          <p:nvSpPr>
            <p:cNvPr id="10" name="Line 10"/>
            <p:cNvSpPr>
              <a:spLocks noChangeShapeType="1"/>
            </p:cNvSpPr>
            <p:nvPr/>
          </p:nvSpPr>
          <p:spPr bwMode="auto">
            <a:xfrm flipV="1">
              <a:off x="1314" y="1172"/>
              <a:ext cx="2214" cy="2411"/>
            </a:xfrm>
            <a:prstGeom prst="line">
              <a:avLst/>
            </a:prstGeom>
            <a:noFill/>
            <a:ln w="50800">
              <a:solidFill>
                <a:schemeClr val="accent1">
                  <a:lumMod val="75000"/>
                </a:schemeClr>
              </a:solidFill>
              <a:round/>
              <a:headEnd type="none" w="sm" len="sm"/>
              <a:tailEnd type="none" w="sm" len="sm"/>
            </a:ln>
            <a:effectLst/>
          </p:spPr>
          <p:txBody>
            <a:bodyPr wrap="none" anchor="ctr"/>
            <a:lstStyle/>
            <a:p>
              <a:endParaRPr lang="en-US" sz="2800" b="0">
                <a:latin typeface="Whitney Book" pitchFamily="50" charset="0"/>
                <a:cs typeface="Whitney Book" pitchFamily="50" charset="0"/>
              </a:endParaRPr>
            </a:p>
          </p:txBody>
        </p:sp>
        <p:sp>
          <p:nvSpPr>
            <p:cNvPr id="11" name="Rectangle 11"/>
            <p:cNvSpPr>
              <a:spLocks noChangeArrowheads="1"/>
            </p:cNvSpPr>
            <p:nvPr/>
          </p:nvSpPr>
          <p:spPr bwMode="auto">
            <a:xfrm>
              <a:off x="3640" y="981"/>
              <a:ext cx="368" cy="304"/>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dirty="0">
                  <a:latin typeface="Whitney Book" pitchFamily="50" charset="0"/>
                  <a:cs typeface="Whitney Book" pitchFamily="50" charset="0"/>
                </a:rPr>
                <a:t>S</a:t>
              </a:r>
            </a:p>
          </p:txBody>
        </p:sp>
      </p:grpSp>
      <p:sp>
        <p:nvSpPr>
          <p:cNvPr id="13" name="Line 13"/>
          <p:cNvSpPr>
            <a:spLocks noChangeShapeType="1"/>
          </p:cNvSpPr>
          <p:nvPr/>
        </p:nvSpPr>
        <p:spPr bwMode="auto">
          <a:xfrm>
            <a:off x="2001587" y="3413954"/>
            <a:ext cx="3447545" cy="2901864"/>
          </a:xfrm>
          <a:prstGeom prst="line">
            <a:avLst/>
          </a:prstGeom>
          <a:noFill/>
          <a:ln w="50800">
            <a:solidFill>
              <a:srgbClr val="C00000"/>
            </a:solidFill>
            <a:round/>
            <a:headEnd type="none" w="sm" len="sm"/>
            <a:tailEnd type="none" w="sm" len="sm"/>
          </a:ln>
          <a:effectLst/>
        </p:spPr>
        <p:txBody>
          <a:bodyPr wrap="none" anchor="ctr"/>
          <a:lstStyle/>
          <a:p>
            <a:endParaRPr lang="en-US" sz="2800" b="0">
              <a:latin typeface="Whitney Book" pitchFamily="50" charset="0"/>
              <a:cs typeface="Whitney Book" pitchFamily="50" charset="0"/>
            </a:endParaRPr>
          </a:p>
        </p:txBody>
      </p:sp>
      <p:grpSp>
        <p:nvGrpSpPr>
          <p:cNvPr id="15" name="Group 14"/>
          <p:cNvGrpSpPr/>
          <p:nvPr/>
        </p:nvGrpSpPr>
        <p:grpSpPr>
          <a:xfrm>
            <a:off x="1601770" y="4535064"/>
            <a:ext cx="3761297" cy="2199351"/>
            <a:chOff x="1370152" y="4191000"/>
            <a:chExt cx="5030647" cy="2895404"/>
          </a:xfrm>
        </p:grpSpPr>
        <p:sp>
          <p:nvSpPr>
            <p:cNvPr id="16" name="Rectangle 15"/>
            <p:cNvSpPr/>
            <p:nvPr/>
          </p:nvSpPr>
          <p:spPr>
            <a:xfrm>
              <a:off x="3724592" y="6524721"/>
              <a:ext cx="585735" cy="561683"/>
            </a:xfrm>
            <a:prstGeom prst="rect">
              <a:avLst/>
            </a:prstGeom>
          </p:spPr>
          <p:txBody>
            <a:bodyPr wrap="none">
              <a:spAutoFit/>
            </a:bodyPr>
            <a:lstStyle/>
            <a:p>
              <a:pPr>
                <a:lnSpc>
                  <a:spcPts val="2947"/>
                </a:lnSpc>
                <a:tabLst>
                  <a:tab pos="481157" algn="l"/>
                  <a:tab pos="962315" algn="l"/>
                  <a:tab pos="1443472" algn="l"/>
                </a:tabLst>
              </a:pPr>
              <a:r>
                <a:rPr lang="en-US" b="0" i="1" dirty="0">
                  <a:latin typeface="Whitney Book" pitchFamily="50" charset="0"/>
                  <a:cs typeface="Whitney Book" pitchFamily="50" charset="0"/>
                </a:rPr>
                <a:t>Q*</a:t>
              </a:r>
              <a:endParaRPr lang="en-US" b="0" i="1" baseline="-25000" dirty="0">
                <a:latin typeface="Whitney Book" pitchFamily="50" charset="0"/>
                <a:cs typeface="Whitney Book" pitchFamily="50" charset="0"/>
              </a:endParaRPr>
            </a:p>
          </p:txBody>
        </p:sp>
        <p:sp>
          <p:nvSpPr>
            <p:cNvPr id="17" name="Line 16"/>
            <p:cNvSpPr>
              <a:spLocks noChangeShapeType="1"/>
            </p:cNvSpPr>
            <p:nvPr/>
          </p:nvSpPr>
          <p:spPr bwMode="auto">
            <a:xfrm flipH="1">
              <a:off x="1904998" y="4419600"/>
              <a:ext cx="4495801" cy="0"/>
            </a:xfrm>
            <a:prstGeom prst="line">
              <a:avLst/>
            </a:prstGeom>
            <a:noFill/>
            <a:ln w="38100">
              <a:solidFill>
                <a:schemeClr val="accent3">
                  <a:lumMod val="50000"/>
                </a:schemeClr>
              </a:solidFill>
              <a:round/>
              <a:headEnd type="none" w="sm" len="sm"/>
              <a:tailEnd type="none" w="sm" len="sm"/>
            </a:ln>
            <a:effectLst/>
          </p:spPr>
          <p:txBody>
            <a:bodyPr wrap="none" anchor="ctr"/>
            <a:lstStyle/>
            <a:p>
              <a:endParaRPr lang="en-US" sz="2800" b="0">
                <a:latin typeface="Whitney Book" pitchFamily="50" charset="0"/>
                <a:cs typeface="Whitney Book" pitchFamily="50" charset="0"/>
              </a:endParaRPr>
            </a:p>
          </p:txBody>
        </p:sp>
        <p:cxnSp>
          <p:nvCxnSpPr>
            <p:cNvPr id="18" name="Straight Connector 17"/>
            <p:cNvCxnSpPr>
              <a:cxnSpLocks/>
            </p:cNvCxnSpPr>
            <p:nvPr/>
          </p:nvCxnSpPr>
          <p:spPr bwMode="auto">
            <a:xfrm>
              <a:off x="3937300" y="4455004"/>
              <a:ext cx="25100" cy="2129837"/>
            </a:xfrm>
            <a:prstGeom prst="line">
              <a:avLst/>
            </a:prstGeom>
            <a:solidFill>
              <a:schemeClr val="accent1"/>
            </a:solidFill>
            <a:ln w="19050" cap="flat" cmpd="sng" algn="ctr">
              <a:solidFill>
                <a:schemeClr val="tx1"/>
              </a:solidFill>
              <a:prstDash val="sysDash"/>
              <a:round/>
              <a:headEnd type="none" w="med" len="med"/>
              <a:tailEnd type="none" w="med" len="med"/>
            </a:ln>
            <a:effectLst/>
          </p:spPr>
        </p:cxnSp>
        <p:sp>
          <p:nvSpPr>
            <p:cNvPr id="19" name="Rectangle 17"/>
            <p:cNvSpPr>
              <a:spLocks noChangeArrowheads="1"/>
            </p:cNvSpPr>
            <p:nvPr/>
          </p:nvSpPr>
          <p:spPr bwMode="auto">
            <a:xfrm>
              <a:off x="1370152" y="4191000"/>
              <a:ext cx="440917" cy="628546"/>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i="1" dirty="0">
                  <a:solidFill>
                    <a:schemeClr val="accent3">
                      <a:lumMod val="50000"/>
                    </a:schemeClr>
                  </a:solidFill>
                  <a:latin typeface="Whitney Book" pitchFamily="50" charset="0"/>
                  <a:cs typeface="Whitney Book" pitchFamily="50" charset="0"/>
                </a:rPr>
                <a:t>P*</a:t>
              </a:r>
              <a:endParaRPr lang="en-US" sz="2000" b="0" i="1" baseline="-25000" dirty="0">
                <a:solidFill>
                  <a:schemeClr val="accent3">
                    <a:lumMod val="50000"/>
                  </a:schemeClr>
                </a:solidFill>
                <a:latin typeface="Whitney Book" pitchFamily="50" charset="0"/>
                <a:cs typeface="Whitney Book" pitchFamily="50" charset="0"/>
              </a:endParaRPr>
            </a:p>
          </p:txBody>
        </p:sp>
      </p:grpSp>
      <p:sp>
        <p:nvSpPr>
          <p:cNvPr id="24" name="TextBox 23">
            <a:extLst>
              <a:ext uri="{FF2B5EF4-FFF2-40B4-BE49-F238E27FC236}">
                <a16:creationId xmlns:a16="http://schemas.microsoft.com/office/drawing/2014/main" id="{317D5E6D-1A91-43A3-AB43-0122BA6358EC}"/>
              </a:ext>
            </a:extLst>
          </p:cNvPr>
          <p:cNvSpPr txBox="1"/>
          <p:nvPr/>
        </p:nvSpPr>
        <p:spPr>
          <a:xfrm>
            <a:off x="6466740" y="3934899"/>
            <a:ext cx="2362200" cy="1200329"/>
          </a:xfrm>
          <a:prstGeom prst="rect">
            <a:avLst/>
          </a:prstGeom>
          <a:noFill/>
          <a:ln w="19050">
            <a:solidFill>
              <a:srgbClr val="1B8BD5"/>
            </a:solidFill>
          </a:ln>
        </p:spPr>
        <p:txBody>
          <a:bodyPr wrap="square" rtlCol="0">
            <a:spAutoFit/>
          </a:bodyPr>
          <a:lstStyle/>
          <a:p>
            <a:r>
              <a:rPr lang="en-US" b="0" dirty="0">
                <a:solidFill>
                  <a:srgbClr val="1B8BD5"/>
                </a:solidFill>
                <a:latin typeface="Whitney-Book" pitchFamily="50" charset="0"/>
                <a:cs typeface="Whitney-Book" pitchFamily="50" charset="0"/>
              </a:rPr>
              <a:t>Producer surplus (PS) is the area above the supply curve and below the price line</a:t>
            </a:r>
          </a:p>
        </p:txBody>
      </p:sp>
      <p:grpSp>
        <p:nvGrpSpPr>
          <p:cNvPr id="25" name="Group 24">
            <a:extLst>
              <a:ext uri="{FF2B5EF4-FFF2-40B4-BE49-F238E27FC236}">
                <a16:creationId xmlns:a16="http://schemas.microsoft.com/office/drawing/2014/main" id="{D3733A96-46AF-4000-BC66-A57BD3FEBF4D}"/>
              </a:ext>
            </a:extLst>
          </p:cNvPr>
          <p:cNvGrpSpPr/>
          <p:nvPr/>
        </p:nvGrpSpPr>
        <p:grpSpPr>
          <a:xfrm>
            <a:off x="2011577" y="4718869"/>
            <a:ext cx="1452869" cy="1584239"/>
            <a:chOff x="1934014" y="4267199"/>
            <a:chExt cx="2256983" cy="1991173"/>
          </a:xfrm>
        </p:grpSpPr>
        <p:sp>
          <p:nvSpPr>
            <p:cNvPr id="27" name="Isosceles Triangle 26">
              <a:extLst>
                <a:ext uri="{FF2B5EF4-FFF2-40B4-BE49-F238E27FC236}">
                  <a16:creationId xmlns:a16="http://schemas.microsoft.com/office/drawing/2014/main" id="{3E89E449-8BE7-4870-BDEF-4A44CD0D5002}"/>
                </a:ext>
              </a:extLst>
            </p:cNvPr>
            <p:cNvSpPr/>
            <p:nvPr/>
          </p:nvSpPr>
          <p:spPr bwMode="auto">
            <a:xfrm rot="5400000">
              <a:off x="2066919" y="4134294"/>
              <a:ext cx="1991173" cy="2256983"/>
            </a:xfrm>
            <a:prstGeom prst="triangle">
              <a:avLst>
                <a:gd name="adj" fmla="val 0"/>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effectLst/>
                <a:latin typeface="Whitney-Book" pitchFamily="50" charset="0"/>
                <a:cs typeface="Whitney-Book" pitchFamily="50" charset="0"/>
              </a:endParaRPr>
            </a:p>
          </p:txBody>
        </p:sp>
        <p:sp>
          <p:nvSpPr>
            <p:cNvPr id="28" name="TextBox 27">
              <a:extLst>
                <a:ext uri="{FF2B5EF4-FFF2-40B4-BE49-F238E27FC236}">
                  <a16:creationId xmlns:a16="http://schemas.microsoft.com/office/drawing/2014/main" id="{F4FA15CD-FCD9-4193-9391-80E212682391}"/>
                </a:ext>
              </a:extLst>
            </p:cNvPr>
            <p:cNvSpPr txBox="1"/>
            <p:nvPr/>
          </p:nvSpPr>
          <p:spPr>
            <a:xfrm>
              <a:off x="2209800" y="4572000"/>
              <a:ext cx="1066800" cy="369332"/>
            </a:xfrm>
            <a:prstGeom prst="rect">
              <a:avLst/>
            </a:prstGeom>
            <a:noFill/>
          </p:spPr>
          <p:txBody>
            <a:bodyPr wrap="square" rtlCol="0">
              <a:spAutoFit/>
            </a:bodyPr>
            <a:lstStyle/>
            <a:p>
              <a:r>
                <a:rPr lang="en-US" dirty="0">
                  <a:latin typeface="Whitney-Book" pitchFamily="50" charset="0"/>
                  <a:cs typeface="Whitney-Book" pitchFamily="50" charset="0"/>
                </a:rPr>
                <a:t>PS</a:t>
              </a:r>
            </a:p>
          </p:txBody>
        </p:sp>
      </p:grpSp>
    </p:spTree>
    <p:extLst>
      <p:ext uri="{BB962C8B-B14F-4D97-AF65-F5344CB8AC3E}">
        <p14:creationId xmlns:p14="http://schemas.microsoft.com/office/powerpoint/2010/main" val="8481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box(in)">
                                      <p:cBhvr>
                                        <p:cTn id="23" dur="500"/>
                                        <p:tgtEl>
                                          <p:spTgt spid="25"/>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3" grpId="0" animBg="1"/>
      <p:bldP spid="2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D2478-3A7E-4441-AFB0-9348F52BF997}"/>
              </a:ext>
            </a:extLst>
          </p:cNvPr>
          <p:cNvSpPr>
            <a:spLocks noGrp="1"/>
          </p:cNvSpPr>
          <p:nvPr>
            <p:ph type="title"/>
          </p:nvPr>
        </p:nvSpPr>
        <p:spPr/>
        <p:txBody>
          <a:bodyPr/>
          <a:lstStyle/>
          <a:p>
            <a:r>
              <a:rPr lang="fr-FR" dirty="0" err="1"/>
              <a:t>Deadweight</a:t>
            </a:r>
            <a:r>
              <a:rPr lang="fr-FR" dirty="0"/>
              <a:t> </a:t>
            </a:r>
            <a:r>
              <a:rPr lang="fr-FR" dirty="0" err="1"/>
              <a:t>loss</a:t>
            </a:r>
            <a:endParaRPr lang="en-US" dirty="0"/>
          </a:p>
        </p:txBody>
      </p:sp>
      <p:sp>
        <p:nvSpPr>
          <p:cNvPr id="4" name="Text Placeholder 3">
            <a:extLst>
              <a:ext uri="{FF2B5EF4-FFF2-40B4-BE49-F238E27FC236}">
                <a16:creationId xmlns:a16="http://schemas.microsoft.com/office/drawing/2014/main" id="{2216132B-BA75-4571-8D9C-04C71A1E6378}"/>
              </a:ext>
            </a:extLst>
          </p:cNvPr>
          <p:cNvSpPr>
            <a:spLocks noGrp="1"/>
          </p:cNvSpPr>
          <p:nvPr>
            <p:ph type="body" idx="1"/>
          </p:nvPr>
        </p:nvSpPr>
        <p:spPr/>
        <p:txBody>
          <a:bodyPr/>
          <a:lstStyle/>
          <a:p>
            <a:r>
              <a:rPr lang="fr-FR" sz="2600" dirty="0" err="1"/>
              <a:t>Inefficiencies</a:t>
            </a:r>
            <a:r>
              <a:rPr lang="fr-FR" sz="2600" dirty="0"/>
              <a:t> </a:t>
            </a:r>
            <a:r>
              <a:rPr lang="fr-FR" sz="2600" dirty="0" err="1"/>
              <a:t>that</a:t>
            </a:r>
            <a:r>
              <a:rPr lang="fr-FR" sz="2600" dirty="0"/>
              <a:t> arise </a:t>
            </a:r>
            <a:r>
              <a:rPr lang="fr-FR" sz="2600" dirty="0" err="1"/>
              <a:t>under</a:t>
            </a:r>
            <a:r>
              <a:rPr lang="fr-FR" sz="2600" dirty="0"/>
              <a:t> </a:t>
            </a:r>
            <a:r>
              <a:rPr lang="fr-FR" sz="2600" dirty="0" err="1"/>
              <a:t>market</a:t>
            </a:r>
            <a:r>
              <a:rPr lang="fr-FR" sz="2600" dirty="0"/>
              <a:t> intervention</a:t>
            </a:r>
          </a:p>
          <a:p>
            <a:endParaRPr lang="fr-FR" sz="1200" dirty="0"/>
          </a:p>
          <a:p>
            <a:r>
              <a:rPr lang="fr-FR" sz="2600" dirty="0" err="1"/>
              <a:t>Loss</a:t>
            </a:r>
            <a:r>
              <a:rPr lang="fr-FR" sz="2600" dirty="0"/>
              <a:t> of </a:t>
            </a:r>
            <a:r>
              <a:rPr lang="fr-FR" sz="2600" dirty="0" err="1"/>
              <a:t>mutually</a:t>
            </a:r>
            <a:r>
              <a:rPr lang="fr-FR" sz="2600" dirty="0"/>
              <a:t> </a:t>
            </a:r>
            <a:r>
              <a:rPr lang="fr-FR" sz="2600" dirty="0" err="1"/>
              <a:t>beneficial</a:t>
            </a:r>
            <a:r>
              <a:rPr lang="fr-FR" sz="2600" dirty="0"/>
              <a:t> transactions</a:t>
            </a:r>
          </a:p>
          <a:p>
            <a:pPr lvl="1"/>
            <a:r>
              <a:rPr lang="fr-FR" sz="2400" dirty="0"/>
              <a:t>E.g., </a:t>
            </a:r>
            <a:r>
              <a:rPr lang="fr-FR" sz="2400" dirty="0" err="1"/>
              <a:t>workers</a:t>
            </a:r>
            <a:r>
              <a:rPr lang="fr-FR" sz="2400" dirty="0"/>
              <a:t> </a:t>
            </a:r>
            <a:r>
              <a:rPr lang="fr-FR" sz="2400" dirty="0" err="1"/>
              <a:t>willing</a:t>
            </a:r>
            <a:r>
              <a:rPr lang="fr-FR" sz="2400" dirty="0"/>
              <a:t> to </a:t>
            </a:r>
            <a:r>
              <a:rPr lang="fr-FR" sz="2400" dirty="0" err="1"/>
              <a:t>work</a:t>
            </a:r>
            <a:r>
              <a:rPr lang="fr-FR" sz="2400" dirty="0"/>
              <a:t> at the </a:t>
            </a:r>
            <a:r>
              <a:rPr lang="fr-FR" sz="2400" dirty="0" err="1"/>
              <a:t>market</a:t>
            </a:r>
            <a:r>
              <a:rPr lang="fr-FR" sz="2400" dirty="0"/>
              <a:t> </a:t>
            </a:r>
            <a:r>
              <a:rPr lang="fr-FR" sz="2400" dirty="0" err="1"/>
              <a:t>wage</a:t>
            </a:r>
            <a:r>
              <a:rPr lang="fr-FR" sz="2400" dirty="0"/>
              <a:t> and </a:t>
            </a:r>
            <a:r>
              <a:rPr lang="fr-FR" sz="2400" dirty="0" err="1"/>
              <a:t>firms</a:t>
            </a:r>
            <a:r>
              <a:rPr lang="fr-FR" sz="2400" dirty="0"/>
              <a:t> </a:t>
            </a:r>
            <a:r>
              <a:rPr lang="fr-FR" sz="2400" dirty="0" err="1"/>
              <a:t>willing</a:t>
            </a:r>
            <a:r>
              <a:rPr lang="fr-FR" sz="2400" dirty="0"/>
              <a:t> to </a:t>
            </a:r>
            <a:r>
              <a:rPr lang="fr-FR" sz="2400" dirty="0" err="1"/>
              <a:t>hire</a:t>
            </a:r>
            <a:r>
              <a:rPr lang="fr-FR" sz="2400" dirty="0"/>
              <a:t> </a:t>
            </a:r>
            <a:r>
              <a:rPr lang="fr-FR" sz="2400" dirty="0" err="1"/>
              <a:t>them</a:t>
            </a:r>
            <a:r>
              <a:rPr lang="fr-FR" sz="2400" dirty="0"/>
              <a:t>, but minimum </a:t>
            </a:r>
            <a:r>
              <a:rPr lang="fr-FR" sz="2400" dirty="0" err="1"/>
              <a:t>wage</a:t>
            </a:r>
            <a:r>
              <a:rPr lang="fr-FR" sz="2400" dirty="0"/>
              <a:t> </a:t>
            </a:r>
            <a:r>
              <a:rPr lang="fr-FR" sz="2400" dirty="0" err="1"/>
              <a:t>prevents</a:t>
            </a:r>
            <a:r>
              <a:rPr lang="fr-FR" sz="2400" dirty="0"/>
              <a:t> </a:t>
            </a:r>
            <a:r>
              <a:rPr lang="fr-FR" sz="2400" dirty="0" err="1"/>
              <a:t>that</a:t>
            </a:r>
            <a:endParaRPr lang="en-US" sz="2400" dirty="0"/>
          </a:p>
          <a:p>
            <a:endParaRPr lang="en-US" dirty="0"/>
          </a:p>
        </p:txBody>
      </p:sp>
    </p:spTree>
    <p:extLst>
      <p:ext uri="{BB962C8B-B14F-4D97-AF65-F5344CB8AC3E}">
        <p14:creationId xmlns:p14="http://schemas.microsoft.com/office/powerpoint/2010/main" val="22637230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sales tax</a:t>
            </a:r>
            <a:br>
              <a:rPr lang="en-US" dirty="0"/>
            </a:br>
            <a:r>
              <a:rPr lang="en-US" sz="1600" dirty="0"/>
              <a:t>(E.g., 10% tax on top of listed Price) </a:t>
            </a:r>
            <a:endParaRPr lang="en-US" dirty="0"/>
          </a:p>
        </p:txBody>
      </p:sp>
      <p:sp>
        <p:nvSpPr>
          <p:cNvPr id="4" name="Slide Number Placeholder 3"/>
          <p:cNvSpPr>
            <a:spLocks noGrp="1"/>
          </p:cNvSpPr>
          <p:nvPr>
            <p:ph type="sldNum" sz="quarter" idx="12"/>
          </p:nvPr>
        </p:nvSpPr>
        <p:spPr/>
        <p:txBody>
          <a:bodyPr/>
          <a:lstStyle/>
          <a:p>
            <a:fld id="{0F3206DB-9488-D04D-BDD1-A7C9D84C4579}" type="slidenum">
              <a:rPr lang="en-US" smtClean="0"/>
              <a:t>58</a:t>
            </a:fld>
            <a:endParaRPr lang="en-US"/>
          </a:p>
        </p:txBody>
      </p:sp>
      <p:grpSp>
        <p:nvGrpSpPr>
          <p:cNvPr id="5" name="Group 4"/>
          <p:cNvGrpSpPr>
            <a:grpSpLocks/>
          </p:cNvGrpSpPr>
          <p:nvPr/>
        </p:nvGrpSpPr>
        <p:grpSpPr bwMode="auto">
          <a:xfrm>
            <a:off x="1447213" y="1286588"/>
            <a:ext cx="6498503" cy="4764241"/>
            <a:chOff x="996" y="1022"/>
            <a:chExt cx="3891" cy="2850"/>
          </a:xfrm>
        </p:grpSpPr>
        <p:sp>
          <p:nvSpPr>
            <p:cNvPr id="6" name="Line 5"/>
            <p:cNvSpPr>
              <a:spLocks noChangeShapeType="1"/>
            </p:cNvSpPr>
            <p:nvPr/>
          </p:nvSpPr>
          <p:spPr bwMode="auto">
            <a:xfrm>
              <a:off x="1352" y="1288"/>
              <a:ext cx="0" cy="2432"/>
            </a:xfrm>
            <a:prstGeom prst="line">
              <a:avLst/>
            </a:prstGeom>
            <a:noFill/>
            <a:ln w="50800">
              <a:solidFill>
                <a:schemeClr val="tx1"/>
              </a:solidFill>
              <a:round/>
              <a:headEnd type="arrow" w="sm" len="sm"/>
              <a:tailEnd type="none" w="sm" len="sm"/>
            </a:ln>
            <a:effectLst/>
          </p:spPr>
          <p:txBody>
            <a:bodyPr wrap="none" anchor="ctr"/>
            <a:lstStyle/>
            <a:p>
              <a:endParaRPr lang="en-US" sz="2800" b="0">
                <a:latin typeface="Whitney-Book" pitchFamily="50" charset="0"/>
                <a:cs typeface="Whitney-Book" pitchFamily="50" charset="0"/>
              </a:endParaRPr>
            </a:p>
          </p:txBody>
        </p:sp>
        <p:sp>
          <p:nvSpPr>
            <p:cNvPr id="7" name="Rectangle 7"/>
            <p:cNvSpPr>
              <a:spLocks noChangeArrowheads="1"/>
            </p:cNvSpPr>
            <p:nvPr/>
          </p:nvSpPr>
          <p:spPr bwMode="auto">
            <a:xfrm>
              <a:off x="996" y="1022"/>
              <a:ext cx="547" cy="528"/>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000" b="0" dirty="0">
                  <a:latin typeface="Whitney-Book" pitchFamily="50" charset="0"/>
                  <a:cs typeface="Whitney-Book" pitchFamily="50" charset="0"/>
                </a:rPr>
                <a:t>Price ($)</a:t>
              </a:r>
            </a:p>
          </p:txBody>
        </p:sp>
        <p:sp>
          <p:nvSpPr>
            <p:cNvPr id="8" name="Rectangle 8"/>
            <p:cNvSpPr>
              <a:spLocks noChangeArrowheads="1"/>
            </p:cNvSpPr>
            <p:nvPr/>
          </p:nvSpPr>
          <p:spPr bwMode="auto">
            <a:xfrm>
              <a:off x="4551" y="3613"/>
              <a:ext cx="336" cy="259"/>
            </a:xfrm>
            <a:prstGeom prst="rect">
              <a:avLst/>
            </a:prstGeom>
            <a:noFill/>
            <a:ln w="9525">
              <a:noFill/>
              <a:miter lim="800000"/>
              <a:headEnd/>
              <a:tailEnd/>
            </a:ln>
            <a:effectLst/>
          </p:spPr>
          <p:txBody>
            <a:bodyPr wrap="none" lIns="19050" tIns="26988" rIns="19050" bIns="26988"/>
            <a:lstStyle/>
            <a:p>
              <a:pPr>
                <a:tabLst>
                  <a:tab pos="481157" algn="l"/>
                  <a:tab pos="962315" algn="l"/>
                  <a:tab pos="1443472" algn="l"/>
                </a:tabLst>
              </a:pPr>
              <a:r>
                <a:rPr lang="fr-FR" sz="2000" b="0" i="1" dirty="0">
                  <a:latin typeface="Whitney-Book" pitchFamily="50" charset="0"/>
                  <a:cs typeface="Whitney-Book" pitchFamily="50" charset="0"/>
                </a:rPr>
                <a:t>Q</a:t>
              </a:r>
              <a:endParaRPr lang="en-US" sz="2000" b="0" i="1" dirty="0">
                <a:latin typeface="Whitney-Book" pitchFamily="50" charset="0"/>
                <a:cs typeface="Whitney-Book" pitchFamily="50" charset="0"/>
              </a:endParaRPr>
            </a:p>
          </p:txBody>
        </p:sp>
        <p:sp>
          <p:nvSpPr>
            <p:cNvPr id="9" name="Line 6"/>
            <p:cNvSpPr>
              <a:spLocks noChangeShapeType="1"/>
            </p:cNvSpPr>
            <p:nvPr/>
          </p:nvSpPr>
          <p:spPr bwMode="auto">
            <a:xfrm flipV="1">
              <a:off x="1350" y="3728"/>
              <a:ext cx="3156" cy="5"/>
            </a:xfrm>
            <a:prstGeom prst="line">
              <a:avLst/>
            </a:prstGeom>
            <a:noFill/>
            <a:ln w="50800">
              <a:solidFill>
                <a:schemeClr val="tx1"/>
              </a:solidFill>
              <a:round/>
              <a:headEnd type="none" w="sm" len="sm"/>
              <a:tailEnd type="arrow" w="sm" len="sm"/>
            </a:ln>
            <a:effectLst/>
          </p:spPr>
          <p:txBody>
            <a:bodyPr wrap="none" anchor="ctr"/>
            <a:lstStyle/>
            <a:p>
              <a:endParaRPr lang="en-US" sz="2800" b="0">
                <a:latin typeface="Whitney-Book" pitchFamily="50" charset="0"/>
                <a:cs typeface="Whitney-Book" pitchFamily="50" charset="0"/>
              </a:endParaRPr>
            </a:p>
          </p:txBody>
        </p:sp>
      </p:grpSp>
      <p:grpSp>
        <p:nvGrpSpPr>
          <p:cNvPr id="10" name="Group 9"/>
          <p:cNvGrpSpPr>
            <a:grpSpLocks/>
          </p:cNvGrpSpPr>
          <p:nvPr/>
        </p:nvGrpSpPr>
        <p:grpSpPr bwMode="auto">
          <a:xfrm>
            <a:off x="2069757" y="2166279"/>
            <a:ext cx="4130036" cy="3660266"/>
            <a:chOff x="1536" y="1534"/>
            <a:chExt cx="2321" cy="2066"/>
          </a:xfrm>
        </p:grpSpPr>
        <p:sp>
          <p:nvSpPr>
            <p:cNvPr id="11" name="Line 10"/>
            <p:cNvSpPr>
              <a:spLocks noChangeShapeType="1"/>
            </p:cNvSpPr>
            <p:nvPr/>
          </p:nvSpPr>
          <p:spPr bwMode="auto">
            <a:xfrm flipV="1">
              <a:off x="1536" y="1696"/>
              <a:ext cx="1966" cy="1904"/>
            </a:xfrm>
            <a:prstGeom prst="line">
              <a:avLst/>
            </a:prstGeom>
            <a:noFill/>
            <a:ln w="50800">
              <a:solidFill>
                <a:schemeClr val="accent1">
                  <a:lumMod val="75000"/>
                </a:schemeClr>
              </a:solidFill>
              <a:round/>
              <a:headEnd type="none" w="sm" len="sm"/>
              <a:tailEnd type="none" w="sm" len="sm"/>
            </a:ln>
            <a:effectLst/>
          </p:spPr>
          <p:txBody>
            <a:bodyPr wrap="none" anchor="ctr"/>
            <a:lstStyle/>
            <a:p>
              <a:endParaRPr lang="en-US" sz="2800" b="0">
                <a:latin typeface="Whitney-Book" pitchFamily="50" charset="0"/>
                <a:cs typeface="Whitney-Book" pitchFamily="50" charset="0"/>
              </a:endParaRPr>
            </a:p>
          </p:txBody>
        </p:sp>
        <p:sp>
          <p:nvSpPr>
            <p:cNvPr id="12" name="Rectangle 11"/>
            <p:cNvSpPr>
              <a:spLocks noChangeArrowheads="1"/>
            </p:cNvSpPr>
            <p:nvPr/>
          </p:nvSpPr>
          <p:spPr bwMode="auto">
            <a:xfrm>
              <a:off x="3489" y="1534"/>
              <a:ext cx="368" cy="304"/>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i="1" dirty="0">
                  <a:solidFill>
                    <a:schemeClr val="accent1">
                      <a:lumMod val="75000"/>
                    </a:schemeClr>
                  </a:solidFill>
                  <a:latin typeface="Whitney-Book" pitchFamily="50" charset="0"/>
                  <a:cs typeface="Whitney-Book" pitchFamily="50" charset="0"/>
                </a:rPr>
                <a:t>S</a:t>
              </a:r>
            </a:p>
          </p:txBody>
        </p:sp>
      </p:grpSp>
      <p:grpSp>
        <p:nvGrpSpPr>
          <p:cNvPr id="13" name="Group 12"/>
          <p:cNvGrpSpPr>
            <a:grpSpLocks/>
          </p:cNvGrpSpPr>
          <p:nvPr/>
        </p:nvGrpSpPr>
        <p:grpSpPr bwMode="auto">
          <a:xfrm>
            <a:off x="2055143" y="2453409"/>
            <a:ext cx="4669703" cy="3378432"/>
            <a:chOff x="1360" y="1720"/>
            <a:chExt cx="2796" cy="2021"/>
          </a:xfrm>
        </p:grpSpPr>
        <p:sp>
          <p:nvSpPr>
            <p:cNvPr id="14" name="Line 13"/>
            <p:cNvSpPr>
              <a:spLocks noChangeShapeType="1"/>
            </p:cNvSpPr>
            <p:nvPr/>
          </p:nvSpPr>
          <p:spPr bwMode="auto">
            <a:xfrm>
              <a:off x="1360" y="1720"/>
              <a:ext cx="2560" cy="1984"/>
            </a:xfrm>
            <a:prstGeom prst="line">
              <a:avLst/>
            </a:prstGeom>
            <a:noFill/>
            <a:ln w="50800">
              <a:solidFill>
                <a:srgbClr val="C00000"/>
              </a:solidFill>
              <a:round/>
              <a:headEnd type="none" w="sm" len="sm"/>
              <a:tailEnd type="none" w="sm" len="sm"/>
            </a:ln>
            <a:effectLst/>
          </p:spPr>
          <p:txBody>
            <a:bodyPr wrap="none" anchor="ctr"/>
            <a:lstStyle/>
            <a:p>
              <a:endParaRPr lang="en-US" sz="2800" b="0">
                <a:latin typeface="Whitney-Book" pitchFamily="50" charset="0"/>
                <a:cs typeface="Whitney-Book" pitchFamily="50" charset="0"/>
              </a:endParaRPr>
            </a:p>
          </p:txBody>
        </p:sp>
        <p:sp>
          <p:nvSpPr>
            <p:cNvPr id="15" name="Rectangle 14"/>
            <p:cNvSpPr>
              <a:spLocks noChangeArrowheads="1"/>
            </p:cNvSpPr>
            <p:nvPr/>
          </p:nvSpPr>
          <p:spPr bwMode="auto">
            <a:xfrm>
              <a:off x="3604" y="3373"/>
              <a:ext cx="552" cy="368"/>
            </a:xfrm>
            <a:prstGeom prst="rect">
              <a:avLst/>
            </a:prstGeom>
            <a:noFill/>
            <a:ln w="9525">
              <a:noFill/>
              <a:miter lim="800000"/>
              <a:headEnd/>
              <a:tailEnd/>
            </a:ln>
            <a:effectLst/>
          </p:spPr>
          <p:txBody>
            <a:bodyPr wrap="none" lIns="19050" tIns="26988" rIns="19050" bIns="26988"/>
            <a:lstStyle/>
            <a:p>
              <a:pPr algn="ctr">
                <a:lnSpc>
                  <a:spcPts val="2947"/>
                </a:lnSpc>
                <a:tabLst>
                  <a:tab pos="481157" algn="l"/>
                  <a:tab pos="962315" algn="l"/>
                  <a:tab pos="1443472" algn="l"/>
                </a:tabLst>
              </a:pPr>
              <a:r>
                <a:rPr lang="en-US" sz="2800" b="0" i="1" dirty="0">
                  <a:solidFill>
                    <a:srgbClr val="C00000"/>
                  </a:solidFill>
                  <a:latin typeface="Whitney-Book" pitchFamily="50" charset="0"/>
                  <a:cs typeface="Whitney-Book" pitchFamily="50" charset="0"/>
                </a:rPr>
                <a:t>D</a:t>
              </a:r>
              <a:endParaRPr lang="en-US" sz="2000" b="0" i="1" dirty="0">
                <a:solidFill>
                  <a:srgbClr val="C00000"/>
                </a:solidFill>
                <a:latin typeface="Whitney-Book" pitchFamily="50" charset="0"/>
                <a:cs typeface="Whitney-Book" pitchFamily="50" charset="0"/>
              </a:endParaRPr>
            </a:p>
          </p:txBody>
        </p:sp>
      </p:grpSp>
      <p:grpSp>
        <p:nvGrpSpPr>
          <p:cNvPr id="16" name="Group 21"/>
          <p:cNvGrpSpPr>
            <a:grpSpLocks/>
          </p:cNvGrpSpPr>
          <p:nvPr/>
        </p:nvGrpSpPr>
        <p:grpSpPr bwMode="auto">
          <a:xfrm>
            <a:off x="3249500" y="3540825"/>
            <a:ext cx="641333" cy="991297"/>
            <a:chOff x="2258" y="2370"/>
            <a:chExt cx="384" cy="593"/>
          </a:xfrm>
        </p:grpSpPr>
        <p:sp>
          <p:nvSpPr>
            <p:cNvPr id="17" name="Rectangle 22"/>
            <p:cNvSpPr>
              <a:spLocks noChangeArrowheads="1"/>
            </p:cNvSpPr>
            <p:nvPr/>
          </p:nvSpPr>
          <p:spPr bwMode="auto">
            <a:xfrm>
              <a:off x="2258" y="2565"/>
              <a:ext cx="384" cy="352"/>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b="0" dirty="0">
                  <a:solidFill>
                    <a:srgbClr val="00AE00"/>
                  </a:solidFill>
                  <a:latin typeface="Whitney-Book" pitchFamily="50" charset="0"/>
                  <a:cs typeface="Whitney-Book" pitchFamily="50" charset="0"/>
                </a:rPr>
                <a:t>t</a:t>
              </a:r>
              <a:endParaRPr lang="en-US" sz="2800" b="0" dirty="0">
                <a:solidFill>
                  <a:srgbClr val="00AE00"/>
                </a:solidFill>
                <a:latin typeface="Whitney-Book" pitchFamily="50" charset="0"/>
                <a:cs typeface="Whitney-Book" pitchFamily="50" charset="0"/>
              </a:endParaRPr>
            </a:p>
          </p:txBody>
        </p:sp>
        <p:sp>
          <p:nvSpPr>
            <p:cNvPr id="18" name="Line 23"/>
            <p:cNvSpPr>
              <a:spLocks noChangeShapeType="1"/>
            </p:cNvSpPr>
            <p:nvPr/>
          </p:nvSpPr>
          <p:spPr bwMode="auto">
            <a:xfrm>
              <a:off x="2373" y="2370"/>
              <a:ext cx="0" cy="593"/>
            </a:xfrm>
            <a:prstGeom prst="line">
              <a:avLst/>
            </a:prstGeom>
            <a:noFill/>
            <a:ln w="25400">
              <a:solidFill>
                <a:srgbClr val="00AE00"/>
              </a:solidFill>
              <a:round/>
              <a:headEnd type="none" w="sm" len="sm"/>
              <a:tailEnd type="none" w="sm" len="sm"/>
            </a:ln>
            <a:effectLst/>
          </p:spPr>
          <p:txBody>
            <a:bodyPr wrap="none" anchor="ctr"/>
            <a:lstStyle/>
            <a:p>
              <a:endParaRPr lang="en-US" sz="2800" b="0">
                <a:latin typeface="Whitney-Book" pitchFamily="50" charset="0"/>
                <a:cs typeface="Whitney-Book" pitchFamily="50" charset="0"/>
              </a:endParaRPr>
            </a:p>
          </p:txBody>
        </p:sp>
      </p:grpSp>
      <p:sp>
        <p:nvSpPr>
          <p:cNvPr id="19" name="Rectangle 27"/>
          <p:cNvSpPr>
            <a:spLocks noChangeArrowheads="1"/>
          </p:cNvSpPr>
          <p:nvPr/>
        </p:nvSpPr>
        <p:spPr bwMode="auto">
          <a:xfrm>
            <a:off x="6358668" y="1011715"/>
            <a:ext cx="2547755" cy="2345812"/>
          </a:xfrm>
          <a:prstGeom prst="rect">
            <a:avLst/>
          </a:prstGeom>
          <a:noFill/>
          <a:ln w="25400">
            <a:solidFill>
              <a:srgbClr val="C00000"/>
            </a:solidFill>
            <a:miter lim="800000"/>
            <a:headEnd/>
            <a:tailEnd/>
          </a:ln>
          <a:effectLst/>
        </p:spPr>
        <p:txBody>
          <a:bodyPr wrap="square" lIns="91440" tIns="91440" rIns="91440" bIns="91440" anchor="ctr" anchorCtr="0"/>
          <a:lstStyle/>
          <a:p>
            <a:pPr>
              <a:lnSpc>
                <a:spcPts val="2947"/>
              </a:lnSpc>
              <a:tabLst>
                <a:tab pos="481157" algn="l"/>
                <a:tab pos="962315" algn="l"/>
                <a:tab pos="1443472" algn="l"/>
              </a:tabLst>
            </a:pPr>
            <a:r>
              <a:rPr lang="en-US" sz="2000" b="0" dirty="0">
                <a:solidFill>
                  <a:srgbClr val="C00000"/>
                </a:solidFill>
                <a:latin typeface="Whitney-Book" pitchFamily="50" charset="0"/>
                <a:cs typeface="Whitney-Book" pitchFamily="50" charset="0"/>
              </a:rPr>
              <a:t>Price received by the seller (P</a:t>
            </a:r>
            <a:r>
              <a:rPr lang="en-US" sz="2000" b="0" baseline="-25000" dirty="0">
                <a:solidFill>
                  <a:srgbClr val="C00000"/>
                </a:solidFill>
                <a:latin typeface="Whitney-Book" pitchFamily="50" charset="0"/>
                <a:cs typeface="Whitney-Book" pitchFamily="50" charset="0"/>
              </a:rPr>
              <a:t>S</a:t>
            </a:r>
            <a:r>
              <a:rPr lang="en-US" sz="2000" b="0" dirty="0">
                <a:solidFill>
                  <a:srgbClr val="C00000"/>
                </a:solidFill>
                <a:latin typeface="Whitney-Book" pitchFamily="50" charset="0"/>
                <a:cs typeface="Whitney-Book" pitchFamily="50" charset="0"/>
              </a:rPr>
              <a:t>) drops. Total price paid by the buyer (P</a:t>
            </a:r>
            <a:r>
              <a:rPr lang="en-US" sz="2000" b="0" baseline="-25000" dirty="0">
                <a:solidFill>
                  <a:srgbClr val="C00000"/>
                </a:solidFill>
                <a:latin typeface="Whitney-Book" pitchFamily="50" charset="0"/>
                <a:cs typeface="Whitney-Book" pitchFamily="50" charset="0"/>
              </a:rPr>
              <a:t>B</a:t>
            </a:r>
            <a:r>
              <a:rPr lang="en-US" sz="2000" b="0" dirty="0">
                <a:solidFill>
                  <a:srgbClr val="C00000"/>
                </a:solidFill>
                <a:latin typeface="Whitney-Book" pitchFamily="50" charset="0"/>
                <a:cs typeface="Whitney-Book" pitchFamily="50" charset="0"/>
              </a:rPr>
              <a:t>, inclusive of tax) increases, but by less than the tax.</a:t>
            </a:r>
          </a:p>
        </p:txBody>
      </p:sp>
      <p:grpSp>
        <p:nvGrpSpPr>
          <p:cNvPr id="20" name="Group 36"/>
          <p:cNvGrpSpPr/>
          <p:nvPr/>
        </p:nvGrpSpPr>
        <p:grpSpPr>
          <a:xfrm>
            <a:off x="1612557" y="4330687"/>
            <a:ext cx="2018904" cy="2279601"/>
            <a:chOff x="1828800" y="4752540"/>
            <a:chExt cx="2018904" cy="2279601"/>
          </a:xfrm>
        </p:grpSpPr>
        <p:grpSp>
          <p:nvGrpSpPr>
            <p:cNvPr id="21" name="Group 24"/>
            <p:cNvGrpSpPr>
              <a:grpSpLocks/>
            </p:cNvGrpSpPr>
            <p:nvPr/>
          </p:nvGrpSpPr>
          <p:grpSpPr bwMode="auto">
            <a:xfrm>
              <a:off x="1828800" y="4752540"/>
              <a:ext cx="1842161" cy="508186"/>
              <a:chOff x="1095" y="2843"/>
              <a:chExt cx="1103" cy="304"/>
            </a:xfrm>
          </p:grpSpPr>
          <p:sp>
            <p:nvSpPr>
              <p:cNvPr id="24" name="Line 25"/>
              <p:cNvSpPr>
                <a:spLocks noChangeShapeType="1"/>
              </p:cNvSpPr>
              <p:nvPr/>
            </p:nvSpPr>
            <p:spPr bwMode="auto">
              <a:xfrm flipH="1">
                <a:off x="1369" y="2963"/>
                <a:ext cx="829" cy="0"/>
              </a:xfrm>
              <a:prstGeom prst="line">
                <a:avLst/>
              </a:prstGeom>
              <a:noFill/>
              <a:ln w="19050">
                <a:solidFill>
                  <a:schemeClr val="tx1"/>
                </a:solidFill>
                <a:prstDash val="sysDash"/>
                <a:round/>
                <a:headEnd type="none" w="sm" len="sm"/>
                <a:tailEnd type="none" w="sm" len="sm"/>
              </a:ln>
              <a:effectLst/>
            </p:spPr>
            <p:txBody>
              <a:bodyPr wrap="none" anchor="ctr"/>
              <a:lstStyle/>
              <a:p>
                <a:endParaRPr lang="en-US" sz="2800" b="0">
                  <a:latin typeface="Whitney-Book" pitchFamily="50" charset="0"/>
                  <a:cs typeface="Whitney-Book" pitchFamily="50" charset="0"/>
                </a:endParaRPr>
              </a:p>
            </p:txBody>
          </p:sp>
          <p:sp>
            <p:nvSpPr>
              <p:cNvPr id="25" name="Rectangle 26"/>
              <p:cNvSpPr>
                <a:spLocks noChangeArrowheads="1"/>
              </p:cNvSpPr>
              <p:nvPr/>
            </p:nvSpPr>
            <p:spPr bwMode="auto">
              <a:xfrm>
                <a:off x="1095" y="2843"/>
                <a:ext cx="480" cy="304"/>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dirty="0">
                    <a:latin typeface="Whitney-Book" pitchFamily="50" charset="0"/>
                    <a:cs typeface="Whitney-Book" pitchFamily="50" charset="0"/>
                  </a:rPr>
                  <a:t>P</a:t>
                </a:r>
                <a:r>
                  <a:rPr lang="en-US" sz="2800" b="0" baseline="-25000" dirty="0">
                    <a:latin typeface="Whitney-Book" pitchFamily="50" charset="0"/>
                    <a:cs typeface="Whitney-Book" pitchFamily="50" charset="0"/>
                  </a:rPr>
                  <a:t>S</a:t>
                </a:r>
                <a:endParaRPr lang="en-US" sz="2000" b="0" baseline="-25000" dirty="0">
                  <a:latin typeface="Whitney-Book" pitchFamily="50" charset="0"/>
                  <a:cs typeface="Whitney-Book" pitchFamily="50" charset="0"/>
                </a:endParaRPr>
              </a:p>
            </p:txBody>
          </p:sp>
        </p:grpSp>
        <p:cxnSp>
          <p:nvCxnSpPr>
            <p:cNvPr id="22" name="Straight Connector 21"/>
            <p:cNvCxnSpPr/>
            <p:nvPr/>
          </p:nvCxnSpPr>
          <p:spPr bwMode="auto">
            <a:xfrm rot="16200000" flipH="1">
              <a:off x="3045006" y="5580358"/>
              <a:ext cx="1225189" cy="5"/>
            </a:xfrm>
            <a:prstGeom prst="line">
              <a:avLst/>
            </a:prstGeom>
            <a:solidFill>
              <a:schemeClr val="accent1"/>
            </a:solidFill>
            <a:ln w="19050" cap="flat" cmpd="sng" algn="ctr">
              <a:solidFill>
                <a:schemeClr val="tx1"/>
              </a:solidFill>
              <a:prstDash val="sysDash"/>
              <a:round/>
              <a:headEnd type="none" w="med" len="med"/>
              <a:tailEnd type="none" w="med" len="med"/>
            </a:ln>
            <a:effectLst/>
          </p:spPr>
        </p:cxnSp>
        <p:sp>
          <p:nvSpPr>
            <p:cNvPr id="23" name="Rectangle 22"/>
            <p:cNvSpPr/>
            <p:nvPr/>
          </p:nvSpPr>
          <p:spPr>
            <a:xfrm>
              <a:off x="3429000" y="6248400"/>
              <a:ext cx="418704" cy="783741"/>
            </a:xfrm>
            <a:prstGeom prst="rect">
              <a:avLst/>
            </a:prstGeom>
          </p:spPr>
          <p:txBody>
            <a:bodyPr wrap="none">
              <a:spAutoFit/>
            </a:bodyPr>
            <a:lstStyle/>
            <a:p>
              <a:pPr>
                <a:lnSpc>
                  <a:spcPts val="2947"/>
                </a:lnSpc>
                <a:tabLst>
                  <a:tab pos="481157" algn="l"/>
                  <a:tab pos="962315" algn="l"/>
                  <a:tab pos="1443472" algn="l"/>
                </a:tabLst>
              </a:pPr>
              <a:r>
                <a:rPr lang="en-US" dirty="0">
                  <a:latin typeface="Whitney-Book" pitchFamily="50" charset="0"/>
                  <a:cs typeface="Whitney-Book" pitchFamily="50" charset="0"/>
                </a:rPr>
                <a:t>Q</a:t>
              </a:r>
              <a:r>
                <a:rPr lang="en-US" baseline="-25000" dirty="0">
                  <a:latin typeface="Whitney-Book" pitchFamily="50" charset="0"/>
                  <a:cs typeface="Whitney-Book" pitchFamily="50" charset="0"/>
                </a:rPr>
                <a:t>1</a:t>
              </a:r>
              <a:endParaRPr lang="en-US" sz="1400" baseline="-25000" dirty="0">
                <a:latin typeface="Whitney-Book" pitchFamily="50" charset="0"/>
                <a:cs typeface="Whitney-Book" pitchFamily="50" charset="0"/>
              </a:endParaRPr>
            </a:p>
            <a:p>
              <a:pPr>
                <a:lnSpc>
                  <a:spcPts val="2947"/>
                </a:lnSpc>
                <a:tabLst>
                  <a:tab pos="481157" algn="l"/>
                  <a:tab pos="962315" algn="l"/>
                  <a:tab pos="1443472" algn="l"/>
                </a:tabLst>
              </a:pPr>
              <a:endParaRPr lang="en-US" sz="1800" b="0" baseline="-25000" dirty="0">
                <a:latin typeface="Whitney-Book" pitchFamily="50" charset="0"/>
                <a:cs typeface="Whitney-Book" pitchFamily="50" charset="0"/>
              </a:endParaRPr>
            </a:p>
          </p:txBody>
        </p:sp>
      </p:grpSp>
      <p:grpSp>
        <p:nvGrpSpPr>
          <p:cNvPr id="27" name="Group 45"/>
          <p:cNvGrpSpPr/>
          <p:nvPr/>
        </p:nvGrpSpPr>
        <p:grpSpPr>
          <a:xfrm>
            <a:off x="1612557" y="3311947"/>
            <a:ext cx="1842578" cy="628546"/>
            <a:chOff x="1828800" y="3733800"/>
            <a:chExt cx="1842578" cy="628546"/>
          </a:xfrm>
        </p:grpSpPr>
        <p:sp>
          <p:nvSpPr>
            <p:cNvPr id="28" name="Rectangle 17"/>
            <p:cNvSpPr>
              <a:spLocks noChangeArrowheads="1"/>
            </p:cNvSpPr>
            <p:nvPr/>
          </p:nvSpPr>
          <p:spPr bwMode="auto">
            <a:xfrm>
              <a:off x="1828800" y="3733800"/>
              <a:ext cx="440916" cy="628546"/>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dirty="0">
                  <a:latin typeface="Whitney-Book" pitchFamily="50" charset="0"/>
                  <a:cs typeface="Whitney-Book" pitchFamily="50" charset="0"/>
                </a:rPr>
                <a:t>P</a:t>
              </a:r>
              <a:r>
                <a:rPr lang="en-US" sz="2800" b="0" baseline="-25000" dirty="0">
                  <a:latin typeface="Whitney-Book" pitchFamily="50" charset="0"/>
                  <a:cs typeface="Whitney-Book" pitchFamily="50" charset="0"/>
                </a:rPr>
                <a:t>B</a:t>
              </a:r>
              <a:endParaRPr lang="en-US" sz="2000" b="0" baseline="-25000" dirty="0">
                <a:latin typeface="Whitney-Book" pitchFamily="50" charset="0"/>
                <a:cs typeface="Whitney-Book" pitchFamily="50" charset="0"/>
              </a:endParaRPr>
            </a:p>
          </p:txBody>
        </p:sp>
        <p:sp>
          <p:nvSpPr>
            <p:cNvPr id="29" name="Line 25"/>
            <p:cNvSpPr>
              <a:spLocks noChangeShapeType="1"/>
            </p:cNvSpPr>
            <p:nvPr/>
          </p:nvSpPr>
          <p:spPr bwMode="auto">
            <a:xfrm flipH="1">
              <a:off x="2286000" y="3962400"/>
              <a:ext cx="1385378" cy="0"/>
            </a:xfrm>
            <a:prstGeom prst="line">
              <a:avLst/>
            </a:prstGeom>
            <a:noFill/>
            <a:ln w="19050">
              <a:solidFill>
                <a:schemeClr val="tx1"/>
              </a:solidFill>
              <a:prstDash val="sysDash"/>
              <a:round/>
              <a:headEnd type="none" w="sm" len="sm"/>
              <a:tailEnd type="none" w="sm" len="sm"/>
            </a:ln>
            <a:effectLst/>
          </p:spPr>
          <p:txBody>
            <a:bodyPr wrap="none" anchor="ctr"/>
            <a:lstStyle/>
            <a:p>
              <a:endParaRPr lang="en-US" sz="2800" b="0">
                <a:latin typeface="Whitney-Book" pitchFamily="50" charset="0"/>
                <a:cs typeface="Whitney-Book" pitchFamily="50" charset="0"/>
              </a:endParaRPr>
            </a:p>
          </p:txBody>
        </p:sp>
      </p:grpSp>
      <p:grpSp>
        <p:nvGrpSpPr>
          <p:cNvPr id="30" name="Group 44"/>
          <p:cNvGrpSpPr/>
          <p:nvPr/>
        </p:nvGrpSpPr>
        <p:grpSpPr>
          <a:xfrm>
            <a:off x="1612557" y="3769147"/>
            <a:ext cx="2704704" cy="2489570"/>
            <a:chOff x="1828800" y="4191000"/>
            <a:chExt cx="2704704" cy="2489570"/>
          </a:xfrm>
        </p:grpSpPr>
        <p:sp>
          <p:nvSpPr>
            <p:cNvPr id="31" name="Rectangle 30"/>
            <p:cNvSpPr/>
            <p:nvPr/>
          </p:nvSpPr>
          <p:spPr>
            <a:xfrm>
              <a:off x="4114800" y="6248400"/>
              <a:ext cx="418704" cy="432170"/>
            </a:xfrm>
            <a:prstGeom prst="rect">
              <a:avLst/>
            </a:prstGeom>
          </p:spPr>
          <p:txBody>
            <a:bodyPr wrap="none">
              <a:spAutoFit/>
            </a:bodyPr>
            <a:lstStyle/>
            <a:p>
              <a:pPr>
                <a:lnSpc>
                  <a:spcPts val="2947"/>
                </a:lnSpc>
                <a:tabLst>
                  <a:tab pos="481157" algn="l"/>
                  <a:tab pos="962315" algn="l"/>
                  <a:tab pos="1443472" algn="l"/>
                </a:tabLst>
              </a:pPr>
              <a:r>
                <a:rPr lang="en-US" dirty="0">
                  <a:latin typeface="Whitney-Book" pitchFamily="50" charset="0"/>
                  <a:cs typeface="Whitney-Book" pitchFamily="50" charset="0"/>
                </a:rPr>
                <a:t>Q</a:t>
              </a:r>
              <a:r>
                <a:rPr lang="en-US" baseline="-25000" dirty="0">
                  <a:latin typeface="Whitney-Book" pitchFamily="50" charset="0"/>
                  <a:cs typeface="Whitney-Book" pitchFamily="50" charset="0"/>
                </a:rPr>
                <a:t>0</a:t>
              </a:r>
              <a:endParaRPr lang="en-US" b="0" baseline="-25000" dirty="0">
                <a:latin typeface="Whitney-Book" pitchFamily="50" charset="0"/>
                <a:cs typeface="Whitney-Book" pitchFamily="50" charset="0"/>
              </a:endParaRPr>
            </a:p>
          </p:txBody>
        </p:sp>
        <p:sp>
          <p:nvSpPr>
            <p:cNvPr id="32" name="Line 16"/>
            <p:cNvSpPr>
              <a:spLocks noChangeShapeType="1"/>
            </p:cNvSpPr>
            <p:nvPr/>
          </p:nvSpPr>
          <p:spPr bwMode="auto">
            <a:xfrm flipH="1">
              <a:off x="2281408" y="4416536"/>
              <a:ext cx="1908967" cy="0"/>
            </a:xfrm>
            <a:prstGeom prst="line">
              <a:avLst/>
            </a:prstGeom>
            <a:noFill/>
            <a:ln w="19050">
              <a:solidFill>
                <a:schemeClr val="tx1"/>
              </a:solidFill>
              <a:prstDash val="sysDash"/>
              <a:round/>
              <a:headEnd type="none" w="sm" len="sm"/>
              <a:tailEnd type="none" w="sm" len="sm"/>
            </a:ln>
            <a:effectLst/>
          </p:spPr>
          <p:txBody>
            <a:bodyPr wrap="none" anchor="ctr"/>
            <a:lstStyle/>
            <a:p>
              <a:endParaRPr lang="en-US" sz="2800" b="0">
                <a:latin typeface="Whitney-Book" pitchFamily="50" charset="0"/>
                <a:cs typeface="Whitney-Book" pitchFamily="50" charset="0"/>
              </a:endParaRPr>
            </a:p>
          </p:txBody>
        </p:sp>
        <p:cxnSp>
          <p:nvCxnSpPr>
            <p:cNvPr id="33" name="Straight Connector 32"/>
            <p:cNvCxnSpPr/>
            <p:nvPr/>
          </p:nvCxnSpPr>
          <p:spPr bwMode="auto">
            <a:xfrm rot="16200000" flipH="1">
              <a:off x="3328416" y="5336993"/>
              <a:ext cx="1834789" cy="1"/>
            </a:xfrm>
            <a:prstGeom prst="line">
              <a:avLst/>
            </a:prstGeom>
            <a:solidFill>
              <a:schemeClr val="accent1"/>
            </a:solidFill>
            <a:ln w="19050" cap="flat" cmpd="sng" algn="ctr">
              <a:solidFill>
                <a:schemeClr val="tx1"/>
              </a:solidFill>
              <a:prstDash val="sysDash"/>
              <a:round/>
              <a:headEnd type="none" w="med" len="med"/>
              <a:tailEnd type="none" w="med" len="med"/>
            </a:ln>
            <a:effectLst/>
          </p:spPr>
        </p:cxnSp>
        <p:sp>
          <p:nvSpPr>
            <p:cNvPr id="34" name="Rectangle 17"/>
            <p:cNvSpPr>
              <a:spLocks noChangeArrowheads="1"/>
            </p:cNvSpPr>
            <p:nvPr/>
          </p:nvSpPr>
          <p:spPr bwMode="auto">
            <a:xfrm>
              <a:off x="1828800" y="4191000"/>
              <a:ext cx="440916" cy="628546"/>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dirty="0">
                  <a:latin typeface="Whitney-Book" pitchFamily="50" charset="0"/>
                  <a:cs typeface="Whitney-Book" pitchFamily="50" charset="0"/>
                </a:rPr>
                <a:t>P</a:t>
              </a:r>
              <a:r>
                <a:rPr lang="en-US" sz="2800" b="0" baseline="-25000" dirty="0">
                  <a:latin typeface="Whitney-Book" pitchFamily="50" charset="0"/>
                  <a:cs typeface="Whitney-Book" pitchFamily="50" charset="0"/>
                </a:rPr>
                <a:t>0</a:t>
              </a:r>
              <a:endParaRPr lang="en-US" sz="2000" b="0" baseline="-25000" dirty="0">
                <a:latin typeface="Whitney-Book" pitchFamily="50" charset="0"/>
                <a:cs typeface="Whitney-Book" pitchFamily="50" charset="0"/>
              </a:endParaRPr>
            </a:p>
          </p:txBody>
        </p:sp>
      </p:grpSp>
      <p:grpSp>
        <p:nvGrpSpPr>
          <p:cNvPr id="35" name="Group 55"/>
          <p:cNvGrpSpPr/>
          <p:nvPr/>
        </p:nvGrpSpPr>
        <p:grpSpPr>
          <a:xfrm>
            <a:off x="2074559" y="3506038"/>
            <a:ext cx="1371600" cy="473285"/>
            <a:chOff x="2286000" y="3946315"/>
            <a:chExt cx="1371600" cy="473285"/>
          </a:xfrm>
        </p:grpSpPr>
        <p:sp>
          <p:nvSpPr>
            <p:cNvPr id="36" name="Rectangle 35"/>
            <p:cNvSpPr/>
            <p:nvPr/>
          </p:nvSpPr>
          <p:spPr bwMode="auto">
            <a:xfrm>
              <a:off x="2286000" y="3946315"/>
              <a:ext cx="1371600" cy="473285"/>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Whitney-Book" pitchFamily="50" charset="0"/>
                <a:cs typeface="Whitney-Book" pitchFamily="50" charset="0"/>
              </a:endParaRPr>
            </a:p>
          </p:txBody>
        </p:sp>
        <p:sp>
          <p:nvSpPr>
            <p:cNvPr id="37" name="TextBox 36"/>
            <p:cNvSpPr txBox="1"/>
            <p:nvPr/>
          </p:nvSpPr>
          <p:spPr>
            <a:xfrm>
              <a:off x="2809186" y="3962400"/>
              <a:ext cx="685800" cy="400110"/>
            </a:xfrm>
            <a:prstGeom prst="rect">
              <a:avLst/>
            </a:prstGeom>
            <a:noFill/>
          </p:spPr>
          <p:txBody>
            <a:bodyPr wrap="square" rtlCol="0">
              <a:spAutoFit/>
            </a:bodyPr>
            <a:lstStyle/>
            <a:p>
              <a:r>
                <a:rPr lang="en-US" sz="2000" dirty="0">
                  <a:latin typeface="Whitney-Book" pitchFamily="50" charset="0"/>
                  <a:cs typeface="Whitney-Book" pitchFamily="50" charset="0"/>
                </a:rPr>
                <a:t>A</a:t>
              </a:r>
            </a:p>
          </p:txBody>
        </p:sp>
      </p:grpSp>
      <p:grpSp>
        <p:nvGrpSpPr>
          <p:cNvPr id="38" name="Group 56"/>
          <p:cNvGrpSpPr/>
          <p:nvPr/>
        </p:nvGrpSpPr>
        <p:grpSpPr>
          <a:xfrm>
            <a:off x="2067564" y="3993658"/>
            <a:ext cx="1371600" cy="533400"/>
            <a:chOff x="2377498" y="5214407"/>
            <a:chExt cx="1371600" cy="533400"/>
          </a:xfrm>
        </p:grpSpPr>
        <p:sp>
          <p:nvSpPr>
            <p:cNvPr id="39" name="Rectangle 38"/>
            <p:cNvSpPr/>
            <p:nvPr/>
          </p:nvSpPr>
          <p:spPr bwMode="auto">
            <a:xfrm>
              <a:off x="2377498" y="5214407"/>
              <a:ext cx="1371600" cy="533400"/>
            </a:xfrm>
            <a:prstGeom prst="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Whitney-Book" pitchFamily="50" charset="0"/>
                <a:cs typeface="Whitney-Book" pitchFamily="50" charset="0"/>
              </a:endParaRPr>
            </a:p>
          </p:txBody>
        </p:sp>
        <p:sp>
          <p:nvSpPr>
            <p:cNvPr id="40" name="TextBox 39"/>
            <p:cNvSpPr txBox="1"/>
            <p:nvPr/>
          </p:nvSpPr>
          <p:spPr>
            <a:xfrm>
              <a:off x="2947434" y="5320291"/>
              <a:ext cx="685800" cy="400110"/>
            </a:xfrm>
            <a:prstGeom prst="rect">
              <a:avLst/>
            </a:prstGeom>
            <a:noFill/>
          </p:spPr>
          <p:txBody>
            <a:bodyPr wrap="square" rtlCol="0">
              <a:spAutoFit/>
            </a:bodyPr>
            <a:lstStyle/>
            <a:p>
              <a:r>
                <a:rPr lang="en-US" sz="2000" dirty="0">
                  <a:latin typeface="Whitney-Book" pitchFamily="50" charset="0"/>
                  <a:cs typeface="Whitney-Book" pitchFamily="50" charset="0"/>
                </a:rPr>
                <a:t>C</a:t>
              </a:r>
            </a:p>
          </p:txBody>
        </p:sp>
      </p:grpSp>
      <p:grpSp>
        <p:nvGrpSpPr>
          <p:cNvPr id="41" name="Group 57"/>
          <p:cNvGrpSpPr/>
          <p:nvPr/>
        </p:nvGrpSpPr>
        <p:grpSpPr>
          <a:xfrm>
            <a:off x="3432687" y="3516165"/>
            <a:ext cx="685800" cy="477260"/>
            <a:chOff x="3650510" y="3962400"/>
            <a:chExt cx="685800" cy="477260"/>
          </a:xfrm>
        </p:grpSpPr>
        <p:sp>
          <p:nvSpPr>
            <p:cNvPr id="42" name="Isosceles Triangle 41"/>
            <p:cNvSpPr/>
            <p:nvPr/>
          </p:nvSpPr>
          <p:spPr bwMode="auto">
            <a:xfrm>
              <a:off x="3657600" y="3962400"/>
              <a:ext cx="609600" cy="457200"/>
            </a:xfrm>
            <a:prstGeom prst="triangle">
              <a:avLst>
                <a:gd name="adj" fmla="val 0"/>
              </a:avLst>
            </a:prstGeom>
            <a:solidFill>
              <a:schemeClr val="bg1">
                <a:lumMod val="7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Whitney-Book" pitchFamily="50" charset="0"/>
                <a:cs typeface="Whitney-Book" pitchFamily="50" charset="0"/>
              </a:endParaRPr>
            </a:p>
          </p:txBody>
        </p:sp>
        <p:sp>
          <p:nvSpPr>
            <p:cNvPr id="43" name="TextBox 42"/>
            <p:cNvSpPr txBox="1"/>
            <p:nvPr/>
          </p:nvSpPr>
          <p:spPr>
            <a:xfrm>
              <a:off x="3650510" y="4039550"/>
              <a:ext cx="685800" cy="400110"/>
            </a:xfrm>
            <a:prstGeom prst="rect">
              <a:avLst/>
            </a:prstGeom>
            <a:noFill/>
          </p:spPr>
          <p:txBody>
            <a:bodyPr wrap="square" rtlCol="0">
              <a:spAutoFit/>
            </a:bodyPr>
            <a:lstStyle/>
            <a:p>
              <a:r>
                <a:rPr lang="en-US" sz="2000" dirty="0">
                  <a:latin typeface="Whitney-Book" pitchFamily="50" charset="0"/>
                  <a:cs typeface="Whitney-Book" pitchFamily="50" charset="0"/>
                </a:rPr>
                <a:t>B</a:t>
              </a:r>
            </a:p>
          </p:txBody>
        </p:sp>
      </p:grpSp>
      <p:grpSp>
        <p:nvGrpSpPr>
          <p:cNvPr id="44" name="Group 58"/>
          <p:cNvGrpSpPr/>
          <p:nvPr/>
        </p:nvGrpSpPr>
        <p:grpSpPr>
          <a:xfrm>
            <a:off x="3454718" y="3980471"/>
            <a:ext cx="685802" cy="533401"/>
            <a:chOff x="3657598" y="4419600"/>
            <a:chExt cx="685802" cy="533401"/>
          </a:xfrm>
        </p:grpSpPr>
        <p:sp>
          <p:nvSpPr>
            <p:cNvPr id="45" name="Isosceles Triangle 44"/>
            <p:cNvSpPr/>
            <p:nvPr/>
          </p:nvSpPr>
          <p:spPr bwMode="auto">
            <a:xfrm rot="5400000">
              <a:off x="3695698" y="4381500"/>
              <a:ext cx="533401" cy="609601"/>
            </a:xfrm>
            <a:prstGeom prst="triangle">
              <a:avLst>
                <a:gd name="adj" fmla="val 0"/>
              </a:avLst>
            </a:prstGeom>
            <a:solidFill>
              <a:srgbClr val="00AE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Whitney-Book" pitchFamily="50" charset="0"/>
                <a:cs typeface="Whitney-Book" pitchFamily="50" charset="0"/>
              </a:endParaRPr>
            </a:p>
          </p:txBody>
        </p:sp>
        <p:sp>
          <p:nvSpPr>
            <p:cNvPr id="46" name="TextBox 45"/>
            <p:cNvSpPr txBox="1"/>
            <p:nvPr/>
          </p:nvSpPr>
          <p:spPr>
            <a:xfrm>
              <a:off x="3657600" y="4419600"/>
              <a:ext cx="685800" cy="400110"/>
            </a:xfrm>
            <a:prstGeom prst="rect">
              <a:avLst/>
            </a:prstGeom>
            <a:noFill/>
          </p:spPr>
          <p:txBody>
            <a:bodyPr wrap="square" rtlCol="0">
              <a:spAutoFit/>
            </a:bodyPr>
            <a:lstStyle/>
            <a:p>
              <a:r>
                <a:rPr lang="en-US" sz="2000" dirty="0">
                  <a:latin typeface="Whitney-Book" pitchFamily="50" charset="0"/>
                  <a:cs typeface="Whitney-Book" pitchFamily="50" charset="0"/>
                </a:rPr>
                <a:t>D</a:t>
              </a:r>
            </a:p>
          </p:txBody>
        </p:sp>
      </p:grpSp>
      <p:sp>
        <p:nvSpPr>
          <p:cNvPr id="47" name="Rectangle 27"/>
          <p:cNvSpPr>
            <a:spLocks noChangeArrowheads="1"/>
          </p:cNvSpPr>
          <p:nvPr/>
        </p:nvSpPr>
        <p:spPr bwMode="auto">
          <a:xfrm>
            <a:off x="5965477" y="3509859"/>
            <a:ext cx="2971366" cy="1461309"/>
          </a:xfrm>
          <a:prstGeom prst="rect">
            <a:avLst/>
          </a:prstGeom>
          <a:noFill/>
          <a:ln w="25400">
            <a:solidFill>
              <a:srgbClr val="C00000"/>
            </a:solidFill>
            <a:miter lim="800000"/>
            <a:headEnd/>
            <a:tailEnd/>
          </a:ln>
          <a:effectLst/>
        </p:spPr>
        <p:txBody>
          <a:bodyPr wrap="square" lIns="91440" tIns="91440" rIns="91440" bIns="91440" anchor="ctr" anchorCtr="0"/>
          <a:lstStyle/>
          <a:p>
            <a:pPr>
              <a:lnSpc>
                <a:spcPts val="2947"/>
              </a:lnSpc>
              <a:tabLst>
                <a:tab pos="481157" algn="l"/>
                <a:tab pos="962315" algn="l"/>
                <a:tab pos="1443472" algn="l"/>
              </a:tabLst>
            </a:pPr>
            <a:r>
              <a:rPr lang="en-US" sz="2000" b="0" dirty="0">
                <a:solidFill>
                  <a:srgbClr val="C00000"/>
                </a:solidFill>
                <a:latin typeface="Whitney-Book" pitchFamily="50" charset="0"/>
                <a:cs typeface="Whitney-Book" pitchFamily="50" charset="0"/>
              </a:rPr>
              <a:t>The buyers lose A+B</a:t>
            </a:r>
          </a:p>
          <a:p>
            <a:pPr>
              <a:lnSpc>
                <a:spcPts val="2947"/>
              </a:lnSpc>
              <a:tabLst>
                <a:tab pos="481157" algn="l"/>
                <a:tab pos="962315" algn="l"/>
                <a:tab pos="1443472" algn="l"/>
              </a:tabLst>
            </a:pPr>
            <a:r>
              <a:rPr lang="en-US" sz="2000" b="0" dirty="0">
                <a:solidFill>
                  <a:srgbClr val="C00000"/>
                </a:solidFill>
                <a:latin typeface="Whitney-Book" pitchFamily="50" charset="0"/>
                <a:cs typeface="Whitney-Book" pitchFamily="50" charset="0"/>
              </a:rPr>
              <a:t>The sellers lose C+D</a:t>
            </a:r>
          </a:p>
          <a:p>
            <a:pPr>
              <a:lnSpc>
                <a:spcPts val="2947"/>
              </a:lnSpc>
              <a:tabLst>
                <a:tab pos="481157" algn="l"/>
                <a:tab pos="962315" algn="l"/>
                <a:tab pos="1443472" algn="l"/>
              </a:tabLst>
            </a:pPr>
            <a:r>
              <a:rPr lang="en-US" sz="2000" dirty="0">
                <a:solidFill>
                  <a:srgbClr val="C00000"/>
                </a:solidFill>
                <a:latin typeface="Whitney-Book" pitchFamily="50" charset="0"/>
                <a:cs typeface="Whitney-Book" pitchFamily="50" charset="0"/>
              </a:rPr>
              <a:t>Deadweight loss: B+D</a:t>
            </a:r>
            <a:endParaRPr lang="en-US" sz="2000" b="0" dirty="0">
              <a:solidFill>
                <a:srgbClr val="C00000"/>
              </a:solidFill>
              <a:latin typeface="Whitney-Book" pitchFamily="50" charset="0"/>
              <a:cs typeface="Whitney-Book" pitchFamily="50" charset="0"/>
            </a:endParaRPr>
          </a:p>
          <a:p>
            <a:pPr>
              <a:lnSpc>
                <a:spcPts val="2947"/>
              </a:lnSpc>
              <a:tabLst>
                <a:tab pos="481157" algn="l"/>
                <a:tab pos="962315" algn="l"/>
                <a:tab pos="1443472" algn="l"/>
              </a:tabLst>
            </a:pPr>
            <a:r>
              <a:rPr lang="en-US" sz="2000" b="0" dirty="0">
                <a:solidFill>
                  <a:srgbClr val="C00000"/>
                </a:solidFill>
                <a:latin typeface="Whitney-Book" pitchFamily="50" charset="0"/>
                <a:cs typeface="Whitney-Book" pitchFamily="50" charset="0"/>
              </a:rPr>
              <a:t>The government gets A+C</a:t>
            </a:r>
          </a:p>
        </p:txBody>
      </p:sp>
      <p:grpSp>
        <p:nvGrpSpPr>
          <p:cNvPr id="48" name="Group 62"/>
          <p:cNvGrpSpPr/>
          <p:nvPr/>
        </p:nvGrpSpPr>
        <p:grpSpPr>
          <a:xfrm>
            <a:off x="310316" y="3509619"/>
            <a:ext cx="1371600" cy="1036293"/>
            <a:chOff x="325676" y="3952294"/>
            <a:chExt cx="1371600" cy="1036293"/>
          </a:xfrm>
        </p:grpSpPr>
        <p:sp>
          <p:nvSpPr>
            <p:cNvPr id="49" name="Left Brace 48"/>
            <p:cNvSpPr/>
            <p:nvPr/>
          </p:nvSpPr>
          <p:spPr bwMode="auto">
            <a:xfrm>
              <a:off x="1295400" y="3952294"/>
              <a:ext cx="290362" cy="1036293"/>
            </a:xfrm>
            <a:prstGeom prst="leftBrace">
              <a:avLst>
                <a:gd name="adj1" fmla="val 8333"/>
                <a:gd name="adj2" fmla="val 50001"/>
              </a:avLst>
            </a:prstGeom>
            <a:noFill/>
            <a:ln w="25400" cap="flat" cmpd="sng" algn="ctr">
              <a:solidFill>
                <a:srgbClr val="C0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rgbClr val="C00000"/>
                </a:solidFill>
                <a:effectLst/>
                <a:latin typeface="Whitney-Book" pitchFamily="50" charset="0"/>
                <a:cs typeface="Whitney-Book" pitchFamily="50" charset="0"/>
              </a:endParaRPr>
            </a:p>
          </p:txBody>
        </p:sp>
        <p:sp>
          <p:nvSpPr>
            <p:cNvPr id="50" name="TextBox 49"/>
            <p:cNvSpPr txBox="1"/>
            <p:nvPr/>
          </p:nvSpPr>
          <p:spPr>
            <a:xfrm>
              <a:off x="325676" y="4266156"/>
              <a:ext cx="1371600" cy="400110"/>
            </a:xfrm>
            <a:prstGeom prst="rect">
              <a:avLst/>
            </a:prstGeom>
            <a:noFill/>
          </p:spPr>
          <p:txBody>
            <a:bodyPr wrap="square" rtlCol="0">
              <a:spAutoFit/>
            </a:bodyPr>
            <a:lstStyle/>
            <a:p>
              <a:r>
                <a:rPr lang="en-US" sz="2000" b="0" dirty="0">
                  <a:solidFill>
                    <a:srgbClr val="C00000"/>
                  </a:solidFill>
                  <a:latin typeface="Whitney-Book" pitchFamily="50" charset="0"/>
                  <a:cs typeface="Whitney-Book" pitchFamily="50" charset="0"/>
                </a:rPr>
                <a:t>P</a:t>
              </a:r>
              <a:r>
                <a:rPr lang="en-US" sz="2000" b="0" baseline="-25000" dirty="0">
                  <a:solidFill>
                    <a:srgbClr val="C00000"/>
                  </a:solidFill>
                  <a:latin typeface="Whitney-Book" pitchFamily="50" charset="0"/>
                  <a:cs typeface="Whitney-Book" pitchFamily="50" charset="0"/>
                </a:rPr>
                <a:t>B</a:t>
              </a:r>
              <a:r>
                <a:rPr lang="en-US" sz="2000" b="0" dirty="0">
                  <a:solidFill>
                    <a:srgbClr val="C00000"/>
                  </a:solidFill>
                  <a:latin typeface="Whitney-Book" pitchFamily="50" charset="0"/>
                  <a:cs typeface="Whitney-Book" pitchFamily="50" charset="0"/>
                </a:rPr>
                <a:t>-P</a:t>
              </a:r>
              <a:r>
                <a:rPr lang="en-US" sz="2000" b="0" baseline="-25000" dirty="0">
                  <a:solidFill>
                    <a:srgbClr val="C00000"/>
                  </a:solidFill>
                  <a:latin typeface="Whitney-Book" pitchFamily="50" charset="0"/>
                  <a:cs typeface="Whitney-Book" pitchFamily="50" charset="0"/>
                </a:rPr>
                <a:t>S</a:t>
              </a:r>
              <a:r>
                <a:rPr lang="en-US" sz="2000" b="0" dirty="0">
                  <a:solidFill>
                    <a:srgbClr val="C00000"/>
                  </a:solidFill>
                  <a:latin typeface="Whitney-Book" pitchFamily="50" charset="0"/>
                  <a:cs typeface="Whitney-Book" pitchFamily="50" charset="0"/>
                </a:rPr>
                <a:t>=</a:t>
              </a:r>
              <a:r>
                <a:rPr lang="en-US" sz="2000" b="0" dirty="0">
                  <a:solidFill>
                    <a:srgbClr val="00B050"/>
                  </a:solidFill>
                  <a:latin typeface="Whitney-Book" pitchFamily="50" charset="0"/>
                  <a:cs typeface="Whitney-Book" pitchFamily="50" charset="0"/>
                </a:rPr>
                <a:t>t</a:t>
              </a:r>
            </a:p>
          </p:txBody>
        </p:sp>
      </p:grpSp>
      <p:grpSp>
        <p:nvGrpSpPr>
          <p:cNvPr id="3" name="Group 2"/>
          <p:cNvGrpSpPr/>
          <p:nvPr/>
        </p:nvGrpSpPr>
        <p:grpSpPr>
          <a:xfrm>
            <a:off x="2067566" y="1292857"/>
            <a:ext cx="3163638" cy="4484977"/>
            <a:chOff x="2067566" y="1292857"/>
            <a:chExt cx="3163638" cy="4484977"/>
          </a:xfrm>
        </p:grpSpPr>
        <p:sp>
          <p:nvSpPr>
            <p:cNvPr id="51" name="Line 13"/>
            <p:cNvSpPr>
              <a:spLocks noChangeShapeType="1"/>
            </p:cNvSpPr>
            <p:nvPr/>
          </p:nvSpPr>
          <p:spPr bwMode="auto">
            <a:xfrm flipV="1">
              <a:off x="2067566" y="1581150"/>
              <a:ext cx="2542534" cy="4196684"/>
            </a:xfrm>
            <a:prstGeom prst="line">
              <a:avLst/>
            </a:prstGeom>
            <a:noFill/>
            <a:ln w="50800">
              <a:solidFill>
                <a:srgbClr val="00B050"/>
              </a:solidFill>
              <a:prstDash val="dash"/>
              <a:round/>
              <a:headEnd type="none" w="sm" len="sm"/>
              <a:tailEnd type="none" w="sm" len="sm"/>
            </a:ln>
            <a:effectLst/>
          </p:spPr>
          <p:txBody>
            <a:bodyPr wrap="none" anchor="ctr"/>
            <a:lstStyle/>
            <a:p>
              <a:endParaRPr lang="en-US" sz="2800" b="0">
                <a:latin typeface="Whitney-Book" pitchFamily="50" charset="0"/>
                <a:cs typeface="Whitney-Book" pitchFamily="50" charset="0"/>
              </a:endParaRPr>
            </a:p>
          </p:txBody>
        </p:sp>
        <p:sp>
          <p:nvSpPr>
            <p:cNvPr id="52" name="Rectangle 51"/>
            <p:cNvSpPr>
              <a:spLocks noChangeArrowheads="1"/>
            </p:cNvSpPr>
            <p:nvPr/>
          </p:nvSpPr>
          <p:spPr bwMode="auto">
            <a:xfrm>
              <a:off x="4309288" y="1292857"/>
              <a:ext cx="921916" cy="615172"/>
            </a:xfrm>
            <a:prstGeom prst="rect">
              <a:avLst/>
            </a:prstGeom>
            <a:noFill/>
            <a:ln w="9525">
              <a:noFill/>
              <a:miter lim="800000"/>
              <a:headEnd/>
              <a:tailEnd/>
            </a:ln>
            <a:effectLst/>
          </p:spPr>
          <p:txBody>
            <a:bodyPr wrap="none" lIns="19050" tIns="26988" rIns="19050" bIns="26988"/>
            <a:lstStyle/>
            <a:p>
              <a:pPr algn="ctr">
                <a:lnSpc>
                  <a:spcPts val="2947"/>
                </a:lnSpc>
                <a:tabLst>
                  <a:tab pos="481157" algn="l"/>
                  <a:tab pos="962315" algn="l"/>
                  <a:tab pos="1443472" algn="l"/>
                </a:tabLst>
              </a:pPr>
              <a:r>
                <a:rPr lang="en-US" sz="2800" b="0" i="1" dirty="0">
                  <a:solidFill>
                    <a:srgbClr val="00B050"/>
                  </a:solidFill>
                  <a:latin typeface="Whitney-Book" pitchFamily="50" charset="0"/>
                  <a:cs typeface="Whitney-Book" pitchFamily="50" charset="0"/>
                </a:rPr>
                <a:t>S’</a:t>
              </a:r>
              <a:endParaRPr lang="en-US" sz="2000" b="0" i="1" dirty="0">
                <a:solidFill>
                  <a:srgbClr val="00B050"/>
                </a:solidFill>
                <a:latin typeface="Whitney-Book" pitchFamily="50" charset="0"/>
                <a:cs typeface="Whitney-Book" pitchFamily="50" charset="0"/>
              </a:endParaRPr>
            </a:p>
          </p:txBody>
        </p:sp>
      </p:grpSp>
      <p:grpSp>
        <p:nvGrpSpPr>
          <p:cNvPr id="56" name="Group 55">
            <a:extLst>
              <a:ext uri="{FF2B5EF4-FFF2-40B4-BE49-F238E27FC236}">
                <a16:creationId xmlns:a16="http://schemas.microsoft.com/office/drawing/2014/main" id="{5893A8D4-1378-4CEC-894B-96B449CC1F66}"/>
              </a:ext>
            </a:extLst>
          </p:cNvPr>
          <p:cNvGrpSpPr/>
          <p:nvPr/>
        </p:nvGrpSpPr>
        <p:grpSpPr>
          <a:xfrm>
            <a:off x="4149802" y="2381250"/>
            <a:ext cx="950577" cy="1405102"/>
            <a:chOff x="4402318" y="3813655"/>
            <a:chExt cx="950577" cy="1405102"/>
          </a:xfrm>
        </p:grpSpPr>
        <p:cxnSp>
          <p:nvCxnSpPr>
            <p:cNvPr id="53" name="Straight Arrow Connector 52">
              <a:extLst>
                <a:ext uri="{FF2B5EF4-FFF2-40B4-BE49-F238E27FC236}">
                  <a16:creationId xmlns:a16="http://schemas.microsoft.com/office/drawing/2014/main" id="{D3E18B36-EA27-4601-876B-CEB0A1D32925}"/>
                </a:ext>
              </a:extLst>
            </p:cNvPr>
            <p:cNvCxnSpPr>
              <a:cxnSpLocks/>
            </p:cNvCxnSpPr>
            <p:nvPr/>
          </p:nvCxnSpPr>
          <p:spPr>
            <a:xfrm>
              <a:off x="4402318" y="3813655"/>
              <a:ext cx="0" cy="1405102"/>
            </a:xfrm>
            <a:prstGeom prst="straightConnector1">
              <a:avLst/>
            </a:prstGeom>
            <a:ln>
              <a:solidFill>
                <a:srgbClr val="00B050"/>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813FD5D9-4653-4B30-8243-E7A5A762EAF2}"/>
                </a:ext>
              </a:extLst>
            </p:cNvPr>
            <p:cNvSpPr txBox="1"/>
            <p:nvPr/>
          </p:nvSpPr>
          <p:spPr>
            <a:xfrm>
              <a:off x="4475005" y="4254497"/>
              <a:ext cx="877890" cy="400110"/>
            </a:xfrm>
            <a:prstGeom prst="rect">
              <a:avLst/>
            </a:prstGeom>
            <a:solidFill>
              <a:schemeClr val="bg1"/>
            </a:solidFill>
          </p:spPr>
          <p:txBody>
            <a:bodyPr wrap="square" rtlCol="0">
              <a:spAutoFit/>
            </a:bodyPr>
            <a:lstStyle/>
            <a:p>
              <a:r>
                <a:rPr lang="en-US" sz="2000" dirty="0">
                  <a:solidFill>
                    <a:srgbClr val="00B050"/>
                  </a:solidFill>
                  <a:latin typeface="Whitney-Book" pitchFamily="50" charset="0"/>
                  <a:cs typeface="Whitney-Book" pitchFamily="50" charset="0"/>
                </a:rPr>
                <a:t>tax (t)</a:t>
              </a:r>
              <a:endParaRPr lang="en-US" sz="2000" b="0" dirty="0">
                <a:solidFill>
                  <a:srgbClr val="00B050"/>
                </a:solidFill>
                <a:latin typeface="Whitney-Book" pitchFamily="50" charset="0"/>
                <a:cs typeface="Whitney-Book" pitchFamily="50" charset="0"/>
              </a:endParaRPr>
            </a:p>
          </p:txBody>
        </p:sp>
      </p:grpSp>
      <p:sp>
        <p:nvSpPr>
          <p:cNvPr id="57" name="Rectangle 8">
            <a:extLst>
              <a:ext uri="{FF2B5EF4-FFF2-40B4-BE49-F238E27FC236}">
                <a16:creationId xmlns:a16="http://schemas.microsoft.com/office/drawing/2014/main" id="{E719E07D-D1A2-478C-9E75-6BB03792AD0E}"/>
              </a:ext>
            </a:extLst>
          </p:cNvPr>
          <p:cNvSpPr>
            <a:spLocks noChangeArrowheads="1"/>
          </p:cNvSpPr>
          <p:nvPr/>
        </p:nvSpPr>
        <p:spPr bwMode="auto">
          <a:xfrm>
            <a:off x="124637" y="6307430"/>
            <a:ext cx="6795446" cy="463168"/>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fr-FR" dirty="0" err="1">
                <a:latin typeface="Whitney-Book" pitchFamily="50" charset="0"/>
                <a:cs typeface="Whitney-Book" pitchFamily="50" charset="0"/>
              </a:rPr>
              <a:t>However</a:t>
            </a:r>
            <a:r>
              <a:rPr lang="fr-FR" dirty="0">
                <a:latin typeface="Whitney-Book" pitchFamily="50" charset="0"/>
                <a:cs typeface="Whitney-Book" pitchFamily="50" charset="0"/>
              </a:rPr>
              <a:t>, taxes on </a:t>
            </a:r>
            <a:r>
              <a:rPr lang="fr-FR" dirty="0" err="1">
                <a:latin typeface="Whitney-Book" pitchFamily="50" charset="0"/>
                <a:cs typeface="Whitney-Book" pitchFamily="50" charset="0"/>
              </a:rPr>
              <a:t>some</a:t>
            </a:r>
            <a:r>
              <a:rPr lang="fr-FR" dirty="0">
                <a:latin typeface="Whitney-Book" pitchFamily="50" charset="0"/>
                <a:cs typeface="Whitney-Book" pitchFamily="50" charset="0"/>
              </a:rPr>
              <a:t> </a:t>
            </a:r>
            <a:r>
              <a:rPr lang="fr-FR" dirty="0" err="1">
                <a:latin typeface="Whitney-Book" pitchFamily="50" charset="0"/>
                <a:cs typeface="Whitney-Book" pitchFamily="50" charset="0"/>
              </a:rPr>
              <a:t>goods</a:t>
            </a:r>
            <a:r>
              <a:rPr lang="fr-FR" dirty="0">
                <a:latin typeface="Whitney-Book" pitchFamily="50" charset="0"/>
                <a:cs typeface="Whitney-Book" pitchFamily="50" charset="0"/>
              </a:rPr>
              <a:t> (e.g., </a:t>
            </a:r>
            <a:r>
              <a:rPr lang="fr-FR" dirty="0" err="1">
                <a:latin typeface="Whitney-Book" pitchFamily="50" charset="0"/>
                <a:cs typeface="Whitney-Book" pitchFamily="50" charset="0"/>
              </a:rPr>
              <a:t>gas</a:t>
            </a:r>
            <a:r>
              <a:rPr lang="fr-FR" dirty="0">
                <a:latin typeface="Whitney-Book" pitchFamily="50" charset="0"/>
                <a:cs typeface="Whitney-Book" pitchFamily="50" charset="0"/>
              </a:rPr>
              <a:t>) can </a:t>
            </a:r>
            <a:r>
              <a:rPr lang="fr-FR" dirty="0" err="1">
                <a:latin typeface="Whitney-Book" pitchFamily="50" charset="0"/>
                <a:cs typeface="Whitney-Book" pitchFamily="50" charset="0"/>
              </a:rPr>
              <a:t>make</a:t>
            </a:r>
            <a:r>
              <a:rPr lang="fr-FR" dirty="0">
                <a:latin typeface="Whitney-Book" pitchFamily="50" charset="0"/>
                <a:cs typeface="Whitney-Book" pitchFamily="50" charset="0"/>
              </a:rPr>
              <a:t> </a:t>
            </a:r>
            <a:r>
              <a:rPr lang="fr-FR" dirty="0" err="1">
                <a:latin typeface="Whitney-Book" pitchFamily="50" charset="0"/>
                <a:cs typeface="Whitney-Book" pitchFamily="50" charset="0"/>
              </a:rPr>
              <a:t>sense</a:t>
            </a:r>
            <a:r>
              <a:rPr lang="fr-FR" dirty="0">
                <a:latin typeface="Whitney-Book" pitchFamily="50" charset="0"/>
                <a:cs typeface="Whitney-Book" pitchFamily="50" charset="0"/>
              </a:rPr>
              <a:t> due to </a:t>
            </a:r>
            <a:r>
              <a:rPr lang="fr-FR" dirty="0" err="1">
                <a:latin typeface="Whitney-Book" pitchFamily="50" charset="0"/>
                <a:cs typeface="Whitney-Book" pitchFamily="50" charset="0"/>
              </a:rPr>
              <a:t>externalities</a:t>
            </a:r>
            <a:r>
              <a:rPr lang="fr-FR" dirty="0">
                <a:latin typeface="Whitney-Book" pitchFamily="50" charset="0"/>
                <a:cs typeface="Whitney-Book" pitchFamily="50" charset="0"/>
              </a:rPr>
              <a:t> (more </a:t>
            </a:r>
            <a:r>
              <a:rPr lang="fr-FR" dirty="0" err="1">
                <a:latin typeface="Whitney-Book" pitchFamily="50" charset="0"/>
                <a:cs typeface="Whitney-Book" pitchFamily="50" charset="0"/>
              </a:rPr>
              <a:t>below</a:t>
            </a:r>
            <a:r>
              <a:rPr lang="fr-FR" dirty="0">
                <a:latin typeface="Whitney-Book" pitchFamily="50" charset="0"/>
                <a:cs typeface="Whitney-Book" pitchFamily="50" charset="0"/>
              </a:rPr>
              <a:t>)!</a:t>
            </a:r>
          </a:p>
        </p:txBody>
      </p:sp>
    </p:spTree>
    <p:extLst>
      <p:ext uri="{BB962C8B-B14F-4D97-AF65-F5344CB8AC3E}">
        <p14:creationId xmlns:p14="http://schemas.microsoft.com/office/powerpoint/2010/main" val="6112146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7">
                                            <p:txEl>
                                              <p:pRg st="1" end="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7">
                                            <p:txEl>
                                              <p:pRg st="2" end="2"/>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7">
                                            <p:txEl>
                                              <p:pRg st="3" end="3"/>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47" grpId="0" animBg="1"/>
      <p:bldP spid="5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Podcast on Minimum Wage</a:t>
            </a:r>
          </a:p>
        </p:txBody>
      </p:sp>
      <mc:AlternateContent xmlns:mc="http://schemas.openxmlformats.org/markup-compatibility/2006" xmlns:a14="http://schemas.microsoft.com/office/drawing/2010/main">
        <mc:Choice Requires="a14">
          <p:sp>
            <p:nvSpPr>
              <p:cNvPr id="3" name="Content Placeholder 2"/>
              <p:cNvSpPr>
                <a:spLocks noGrp="1"/>
              </p:cNvSpPr>
              <p:nvPr>
                <p:ph type="body" idx="1"/>
              </p:nvPr>
            </p:nvSpPr>
            <p:spPr/>
            <p:txBody>
              <a:bodyPr>
                <a:normAutofit/>
              </a:bodyPr>
              <a:lstStyle/>
              <a:p>
                <a:r>
                  <a:rPr lang="en-US" sz="2400" dirty="0"/>
                  <a:t>What is the expected effect of raising the minimum wage on employment?</a:t>
                </a:r>
              </a:p>
              <a:p>
                <a:pPr lvl="1"/>
                <a:r>
                  <a:rPr lang="fr-FR" sz="2000" dirty="0" err="1"/>
                  <a:t>According</a:t>
                </a:r>
                <a:r>
                  <a:rPr lang="fr-FR" sz="2000" dirty="0"/>
                  <a:t> to </a:t>
                </a:r>
                <a:r>
                  <a:rPr lang="fr-FR" sz="2000" dirty="0" err="1"/>
                  <a:t>economic</a:t>
                </a:r>
                <a:r>
                  <a:rPr lang="fr-FR" sz="2000" dirty="0"/>
                  <a:t> </a:t>
                </a:r>
                <a:r>
                  <a:rPr lang="fr-FR" sz="2000" dirty="0" err="1"/>
                  <a:t>theory</a:t>
                </a:r>
                <a:r>
                  <a:rPr lang="fr-FR" sz="2000" dirty="0"/>
                  <a:t>: </a:t>
                </a:r>
                <a:r>
                  <a:rPr lang="fr-FR" sz="2000" dirty="0" err="1"/>
                  <a:t>Negative</a:t>
                </a:r>
                <a:endParaRPr lang="fr-FR" sz="2000" dirty="0"/>
              </a:p>
              <a:p>
                <a:r>
                  <a:rPr lang="fr-FR" sz="2400" dirty="0"/>
                  <a:t>Evidence: Mixed </a:t>
                </a:r>
                <a:r>
                  <a:rPr lang="fr-FR" sz="2400" dirty="0" err="1"/>
                  <a:t>results</a:t>
                </a:r>
                <a:endParaRPr lang="fr-FR" sz="2400" dirty="0"/>
              </a:p>
              <a:p>
                <a:pPr lvl="1"/>
                <a:r>
                  <a:rPr lang="fr-FR" sz="2000" dirty="0" err="1"/>
                  <a:t>Employment</a:t>
                </a:r>
                <a:r>
                  <a:rPr lang="fr-FR" sz="2000" dirty="0"/>
                  <a:t> </a:t>
                </a:r>
                <a:r>
                  <a:rPr lang="fr-FR" sz="2000" dirty="0" err="1"/>
                  <a:t>does</a:t>
                </a:r>
                <a:r>
                  <a:rPr lang="fr-FR" sz="2000" dirty="0"/>
                  <a:t> not </a:t>
                </a:r>
                <a:r>
                  <a:rPr lang="fr-FR" sz="2000" dirty="0" err="1"/>
                  <a:t>seem</a:t>
                </a:r>
                <a:r>
                  <a:rPr lang="fr-FR" sz="2000" dirty="0"/>
                  <a:t> to </a:t>
                </a:r>
                <a:r>
                  <a:rPr lang="fr-FR" sz="2000" dirty="0" err="1"/>
                  <a:t>decline</a:t>
                </a:r>
                <a:r>
                  <a:rPr lang="fr-FR" sz="2000" dirty="0"/>
                  <a:t>, BUT:</a:t>
                </a:r>
              </a:p>
              <a:p>
                <a:pPr lvl="1"/>
                <a:r>
                  <a:rPr lang="fr-FR" sz="2000" dirty="0" err="1"/>
                  <a:t>Hours</a:t>
                </a:r>
                <a:r>
                  <a:rPr lang="fr-FR" sz="2000" dirty="0"/>
                  <a:t> </a:t>
                </a:r>
                <a:r>
                  <a:rPr lang="fr-FR" sz="2000" dirty="0" err="1"/>
                  <a:t>worked</a:t>
                </a:r>
                <a:r>
                  <a:rPr lang="fr-FR" sz="2000" dirty="0"/>
                  <a:t> </a:t>
                </a:r>
                <a:r>
                  <a:rPr lang="fr-FR" sz="2000" dirty="0" err="1"/>
                  <a:t>decline</a:t>
                </a:r>
                <a:r>
                  <a:rPr lang="fr-FR" sz="2000" dirty="0"/>
                  <a:t> (Seattle </a:t>
                </a:r>
                <a:r>
                  <a:rPr lang="fr-FR" sz="2000" dirty="0" err="1"/>
                  <a:t>study</a:t>
                </a:r>
                <a:r>
                  <a:rPr lang="fr-FR" sz="2000" dirty="0"/>
                  <a:t>)</a:t>
                </a:r>
                <a:endParaRPr lang="fr-FR" sz="1100" dirty="0"/>
              </a:p>
              <a:p>
                <a:pPr lvl="2"/>
                <a:r>
                  <a:rPr lang="fr-FR" sz="1800" dirty="0" err="1"/>
                  <a:t>Experienced</a:t>
                </a:r>
                <a:r>
                  <a:rPr lang="fr-FR" sz="1800" dirty="0"/>
                  <a:t> </a:t>
                </a:r>
                <a:r>
                  <a:rPr lang="fr-FR" sz="1800" dirty="0" err="1"/>
                  <a:t>workers</a:t>
                </a:r>
                <a:r>
                  <a:rPr lang="fr-FR" sz="1800" dirty="0"/>
                  <a:t>: </a:t>
                </a:r>
                <a:r>
                  <a:rPr lang="fr-FR" sz="1800" dirty="0" err="1"/>
                  <a:t>moderate</a:t>
                </a:r>
                <a:r>
                  <a:rPr lang="fr-FR" sz="1800" dirty="0"/>
                  <a:t> </a:t>
                </a:r>
                <a:r>
                  <a:rPr lang="fr-FR" sz="1800" dirty="0" err="1"/>
                  <a:t>decline</a:t>
                </a:r>
                <a:r>
                  <a:rPr lang="fr-FR" sz="1800" dirty="0"/>
                  <a:t> in </a:t>
                </a:r>
                <a:r>
                  <a:rPr lang="fr-FR" sz="1800" dirty="0" err="1"/>
                  <a:t>hours</a:t>
                </a:r>
                <a:r>
                  <a:rPr lang="fr-FR" sz="1800" dirty="0"/>
                  <a:t>, </a:t>
                </a:r>
                <a:r>
                  <a:rPr lang="fr-FR" sz="1800" dirty="0" err="1"/>
                  <a:t>so</a:t>
                </a:r>
                <a:r>
                  <a:rPr lang="fr-FR" sz="1800" dirty="0"/>
                  <a:t> total </a:t>
                </a:r>
                <a:r>
                  <a:rPr lang="fr-FR" sz="1800" dirty="0" err="1"/>
                  <a:t>income</a:t>
                </a:r>
                <a:r>
                  <a:rPr lang="fr-FR" sz="1800" dirty="0"/>
                  <a:t> </a:t>
                </a:r>
                <a14:m>
                  <m:oMath xmlns:m="http://schemas.openxmlformats.org/officeDocument/2006/math">
                    <m:r>
                      <a:rPr lang="en-US" sz="1800" b="0" i="1" smtClean="0">
                        <a:latin typeface="Cambria Math" panose="02040503050406030204" pitchFamily="18" charset="0"/>
                      </a:rPr>
                      <m:t>↑</m:t>
                    </m:r>
                  </m:oMath>
                </a14:m>
                <a:endParaRPr lang="fr-FR" sz="1800" dirty="0"/>
              </a:p>
              <a:p>
                <a:pPr lvl="2"/>
                <a:r>
                  <a:rPr lang="fr-FR" sz="1800" dirty="0"/>
                  <a:t>Low-</a:t>
                </a:r>
                <a:r>
                  <a:rPr lang="fr-FR" sz="1800" dirty="0" err="1"/>
                  <a:t>skilled</a:t>
                </a:r>
                <a:r>
                  <a:rPr lang="fr-FR" sz="1800" dirty="0"/>
                  <a:t>, </a:t>
                </a:r>
                <a:r>
                  <a:rPr lang="fr-FR" sz="1800" dirty="0" err="1"/>
                  <a:t>inexperienced</a:t>
                </a:r>
                <a:r>
                  <a:rPr lang="fr-FR" sz="1800" dirty="0"/>
                  <a:t> </a:t>
                </a:r>
                <a:r>
                  <a:rPr lang="fr-FR" sz="1800" dirty="0" err="1"/>
                  <a:t>workers</a:t>
                </a:r>
                <a:r>
                  <a:rPr lang="fr-FR" sz="1800" dirty="0"/>
                  <a:t>: </a:t>
                </a:r>
                <a:r>
                  <a:rPr lang="fr-FR" sz="1800" dirty="0" err="1"/>
                  <a:t>substantial</a:t>
                </a:r>
                <a:r>
                  <a:rPr lang="fr-FR" sz="1800" dirty="0"/>
                  <a:t> </a:t>
                </a:r>
                <a:r>
                  <a:rPr lang="fr-FR" sz="1800" dirty="0" err="1"/>
                  <a:t>decline</a:t>
                </a:r>
                <a:r>
                  <a:rPr lang="fr-FR" sz="1800" dirty="0"/>
                  <a:t> in </a:t>
                </a:r>
                <a:r>
                  <a:rPr lang="fr-FR" sz="1800" dirty="0" err="1"/>
                  <a:t>hours</a:t>
                </a:r>
                <a:r>
                  <a:rPr lang="fr-FR" sz="1800" dirty="0"/>
                  <a:t> and </a:t>
                </a:r>
                <a:r>
                  <a:rPr lang="fr-FR" sz="1800" dirty="0" err="1"/>
                  <a:t>thus</a:t>
                </a:r>
                <a:r>
                  <a:rPr lang="fr-FR" sz="1800" dirty="0"/>
                  <a:t> </a:t>
                </a:r>
                <a:r>
                  <a:rPr lang="fr-FR" sz="1800" dirty="0" err="1"/>
                  <a:t>income</a:t>
                </a:r>
                <a:r>
                  <a:rPr lang="fr-FR" sz="1800" dirty="0"/>
                  <a:t> </a:t>
                </a:r>
                <a14:m>
                  <m:oMath xmlns:m="http://schemas.openxmlformats.org/officeDocument/2006/math">
                    <m:r>
                      <a:rPr lang="en-US" sz="1800" b="0" i="1" smtClean="0">
                        <a:latin typeface="Cambria Math" panose="02040503050406030204" pitchFamily="18" charset="0"/>
                      </a:rPr>
                      <m:t>↓</m:t>
                    </m:r>
                  </m:oMath>
                </a14:m>
                <a:endParaRPr lang="fr-FR" sz="1800" dirty="0"/>
              </a:p>
              <a:p>
                <a:pPr lvl="2"/>
                <a:r>
                  <a:rPr lang="fr-FR" sz="1800" dirty="0"/>
                  <a:t>New </a:t>
                </a:r>
                <a:r>
                  <a:rPr lang="fr-FR" sz="1800" dirty="0" err="1"/>
                  <a:t>workers</a:t>
                </a:r>
                <a:r>
                  <a:rPr lang="fr-FR" sz="1800" dirty="0"/>
                  <a:t>: harder to </a:t>
                </a:r>
                <a:r>
                  <a:rPr lang="fr-FR" sz="1800" dirty="0" err="1"/>
                  <a:t>find</a:t>
                </a:r>
                <a:r>
                  <a:rPr lang="fr-FR" sz="1800" dirty="0"/>
                  <a:t> first job</a:t>
                </a:r>
              </a:p>
              <a:p>
                <a:r>
                  <a:rPr lang="en-US" sz="2400" dirty="0"/>
                  <a:t>What are possible long-run effects of a (high) minimum wage?</a:t>
                </a:r>
              </a:p>
              <a:p>
                <a:endParaRPr lang="en-US" dirty="0"/>
              </a:p>
              <a:p>
                <a:endParaRPr lang="en-US" dirty="0"/>
              </a:p>
              <a:p>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74074" y="1166332"/>
                <a:ext cx="8686800" cy="5405918"/>
              </a:xfrm>
              <a:blipFill>
                <a:blip r:embed="rId4"/>
                <a:stretch>
                  <a:fillRect l="-1333" t="-1691" r="-42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DBC38028-5B1C-49D3-BF22-2CE9385E6DA2}" type="slidenum">
              <a:rPr lang="en-US" smtClean="0"/>
              <a:pPr/>
              <a:t>59</a:t>
            </a:fld>
            <a:endParaRPr lang="en-US" dirty="0"/>
          </a:p>
        </p:txBody>
      </p:sp>
      <p:pic>
        <p:nvPicPr>
          <p:cNvPr id="5" name="Picture 4">
            <a:extLst>
              <a:ext uri="{FF2B5EF4-FFF2-40B4-BE49-F238E27FC236}">
                <a16:creationId xmlns:a16="http://schemas.microsoft.com/office/drawing/2014/main" id="{E2A7F3C2-4A73-4EDC-8CB5-B9F54C04095B}"/>
              </a:ext>
            </a:extLst>
          </p:cNvPr>
          <p:cNvPicPr>
            <a:picLocks noChangeAspect="1"/>
          </p:cNvPicPr>
          <p:nvPr/>
        </p:nvPicPr>
        <p:blipFill>
          <a:blip r:embed="rId5"/>
          <a:stretch>
            <a:fillRect/>
          </a:stretch>
        </p:blipFill>
        <p:spPr>
          <a:xfrm>
            <a:off x="2058725" y="5249954"/>
            <a:ext cx="2089106" cy="1416675"/>
          </a:xfrm>
          <a:prstGeom prst="rect">
            <a:avLst/>
          </a:prstGeom>
        </p:spPr>
      </p:pic>
    </p:spTree>
    <p:custDataLst>
      <p:tags r:id="rId1"/>
    </p:custDataLst>
    <p:extLst>
      <p:ext uri="{BB962C8B-B14F-4D97-AF65-F5344CB8AC3E}">
        <p14:creationId xmlns:p14="http://schemas.microsoft.com/office/powerpoint/2010/main" val="14181668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normAutofit/>
          </a:bodyPr>
          <a:lstStyle/>
          <a:p>
            <a:r>
              <a:rPr lang="en-US" dirty="0"/>
              <a:t>Price floor: Minimum Wage</a:t>
            </a:r>
            <a:endParaRPr lang="en-US" dirty="0">
              <a:latin typeface="+mn-lt"/>
            </a:endParaRPr>
          </a:p>
        </p:txBody>
      </p:sp>
      <p:sp>
        <p:nvSpPr>
          <p:cNvPr id="8" name="Slide Number Placeholder 7"/>
          <p:cNvSpPr>
            <a:spLocks noGrp="1"/>
          </p:cNvSpPr>
          <p:nvPr>
            <p:ph type="sldNum" sz="quarter" idx="12"/>
          </p:nvPr>
        </p:nvSpPr>
        <p:spPr/>
        <p:txBody>
          <a:bodyPr/>
          <a:lstStyle/>
          <a:p>
            <a:fld id="{0F3206DB-9488-D04D-BDD1-A7C9D84C4579}" type="slidenum">
              <a:rPr lang="en-US" smtClean="0"/>
              <a:t>60</a:t>
            </a:fld>
            <a:endParaRPr lang="en-US" dirty="0"/>
          </a:p>
        </p:txBody>
      </p:sp>
      <p:sp>
        <p:nvSpPr>
          <p:cNvPr id="38940" name="Rectangle 28"/>
          <p:cNvSpPr>
            <a:spLocks noChangeArrowheads="1"/>
          </p:cNvSpPr>
          <p:nvPr/>
        </p:nvSpPr>
        <p:spPr bwMode="auto">
          <a:xfrm>
            <a:off x="4859709" y="1260872"/>
            <a:ext cx="4038670" cy="3750450"/>
          </a:xfrm>
          <a:prstGeom prst="rect">
            <a:avLst/>
          </a:prstGeom>
          <a:noFill/>
          <a:ln w="9525">
            <a:noFill/>
            <a:miter lim="800000"/>
            <a:headEnd/>
            <a:tailEnd/>
          </a:ln>
          <a:effectLst/>
        </p:spPr>
        <p:txBody>
          <a:bodyPr wrap="square" lIns="18795" tIns="26627" rIns="18795" bIns="26627"/>
          <a:lstStyle/>
          <a:p>
            <a:pPr marL="342900" lvl="0" indent="-342900">
              <a:spcBef>
                <a:spcPct val="20000"/>
              </a:spcBef>
              <a:buClr>
                <a:srgbClr val="1B8BD5"/>
              </a:buClr>
              <a:buFont typeface="Lucida Grande"/>
              <a:buChar char="»"/>
            </a:pPr>
            <a:r>
              <a:rPr lang="en-US" sz="2400" dirty="0">
                <a:latin typeface="Whitney-Book" pitchFamily="50" charset="0"/>
                <a:cs typeface="Whitney-Book" pitchFamily="50" charset="0"/>
              </a:rPr>
              <a:t>Welfare effects:</a:t>
            </a:r>
          </a:p>
          <a:p>
            <a:pPr marL="800100" lvl="1" indent="-342900">
              <a:spcBef>
                <a:spcPct val="20000"/>
              </a:spcBef>
              <a:buClr>
                <a:srgbClr val="1B8BD5"/>
              </a:buClr>
              <a:buFont typeface="Lucida Grande"/>
              <a:buChar char="»"/>
            </a:pPr>
            <a:r>
              <a:rPr lang="en-US" sz="2400" dirty="0">
                <a:latin typeface="Whitney-Book" pitchFamily="50" charset="0"/>
                <a:cs typeface="Whitney-Book" pitchFamily="50" charset="0"/>
              </a:rPr>
              <a:t>Some workers win: A</a:t>
            </a:r>
          </a:p>
          <a:p>
            <a:pPr marL="1257300" lvl="2" indent="-342900">
              <a:buClr>
                <a:srgbClr val="1B8BD5"/>
              </a:buClr>
              <a:buFont typeface="Lucida Grande"/>
              <a:buChar char="»"/>
            </a:pPr>
            <a:r>
              <a:rPr lang="en-US" sz="2000" dirty="0">
                <a:latin typeface="Whitney-Book" pitchFamily="50" charset="0"/>
                <a:cs typeface="Whitney-Book" pitchFamily="50" charset="0"/>
              </a:rPr>
              <a:t>Due to higher wages</a:t>
            </a:r>
          </a:p>
          <a:p>
            <a:pPr marL="800100" lvl="1" indent="-342900">
              <a:buClr>
                <a:srgbClr val="1B8BD5"/>
              </a:buClr>
              <a:buFont typeface="Lucida Grande"/>
              <a:buChar char="»"/>
            </a:pPr>
            <a:r>
              <a:rPr lang="en-US" sz="2400" dirty="0">
                <a:latin typeface="Whitney-Book" pitchFamily="50" charset="0"/>
                <a:cs typeface="Whitney-Book" pitchFamily="50" charset="0"/>
              </a:rPr>
              <a:t>Some workers lose</a:t>
            </a:r>
          </a:p>
          <a:p>
            <a:pPr marL="1257300" lvl="2" indent="-342900">
              <a:buClr>
                <a:srgbClr val="1B8BD5"/>
              </a:buClr>
              <a:buFont typeface="Lucida Grande"/>
              <a:buChar char="»"/>
            </a:pPr>
            <a:r>
              <a:rPr lang="en-US" sz="2000" dirty="0">
                <a:latin typeface="Whitney-Book" pitchFamily="50" charset="0"/>
                <a:cs typeface="Whitney-Book" pitchFamily="50" charset="0"/>
              </a:rPr>
              <a:t>Not hired anymore (C)</a:t>
            </a:r>
          </a:p>
          <a:p>
            <a:pPr marL="800100" lvl="1" indent="-342900">
              <a:spcBef>
                <a:spcPct val="20000"/>
              </a:spcBef>
              <a:buClr>
                <a:srgbClr val="1B8BD5"/>
              </a:buClr>
              <a:buFont typeface="Lucida Grande"/>
              <a:buChar char="»"/>
            </a:pPr>
            <a:r>
              <a:rPr lang="en-US" sz="2400" dirty="0">
                <a:latin typeface="Whitney-Book" pitchFamily="50" charset="0"/>
                <a:cs typeface="Whitney-Book" pitchFamily="50" charset="0"/>
              </a:rPr>
              <a:t>Firms lose A + B </a:t>
            </a:r>
          </a:p>
          <a:p>
            <a:pPr marL="1257300" lvl="2" indent="-342900">
              <a:buClr>
                <a:srgbClr val="1B8BD5"/>
              </a:buClr>
              <a:buFont typeface="Lucida Grande"/>
              <a:buChar char="»"/>
            </a:pPr>
            <a:r>
              <a:rPr lang="en-US" sz="2000" dirty="0">
                <a:latin typeface="Whitney-Book" pitchFamily="50" charset="0"/>
                <a:cs typeface="Whitney-Book" pitchFamily="50" charset="0"/>
              </a:rPr>
              <a:t>Pay higher wages (A)</a:t>
            </a:r>
          </a:p>
          <a:p>
            <a:pPr marL="1257300" lvl="2" indent="-342900">
              <a:buClr>
                <a:srgbClr val="1B8BD5"/>
              </a:buClr>
              <a:buFont typeface="Lucida Grande"/>
              <a:buChar char="»"/>
            </a:pPr>
            <a:r>
              <a:rPr lang="en-US" sz="2000" dirty="0">
                <a:latin typeface="Whitney-Book" pitchFamily="50" charset="0"/>
                <a:cs typeface="Whitney-Book" pitchFamily="50" charset="0"/>
              </a:rPr>
              <a:t>Hire fewer workers (B)</a:t>
            </a:r>
          </a:p>
          <a:p>
            <a:pPr marL="800100" lvl="1" indent="-342900">
              <a:spcBef>
                <a:spcPct val="20000"/>
              </a:spcBef>
              <a:buClr>
                <a:srgbClr val="1B8BD5"/>
              </a:buClr>
              <a:buFont typeface="Lucida Grande"/>
              <a:buChar char="»"/>
            </a:pPr>
            <a:r>
              <a:rPr lang="en-US" sz="2400" dirty="0">
                <a:latin typeface="Whitney-Book" pitchFamily="50" charset="0"/>
                <a:cs typeface="Whitney-Book" pitchFamily="50" charset="0"/>
              </a:rPr>
              <a:t>Deadweight Loss: B + C</a:t>
            </a:r>
          </a:p>
          <a:p>
            <a:pPr marL="1257300" lvl="2" indent="-342900">
              <a:spcBef>
                <a:spcPct val="20000"/>
              </a:spcBef>
              <a:buClr>
                <a:srgbClr val="1B8BD5"/>
              </a:buClr>
              <a:buFont typeface="Lucida Grande"/>
              <a:buChar char="»"/>
            </a:pPr>
            <a:r>
              <a:rPr lang="en-US" sz="2000" dirty="0">
                <a:latin typeface="Whitney-Book" pitchFamily="50" charset="0"/>
                <a:cs typeface="Whitney-Book" pitchFamily="50" charset="0"/>
              </a:rPr>
              <a:t>Both workers and firms lose</a:t>
            </a:r>
          </a:p>
        </p:txBody>
      </p:sp>
      <p:grpSp>
        <p:nvGrpSpPr>
          <p:cNvPr id="2" name="Group 36"/>
          <p:cNvGrpSpPr/>
          <p:nvPr/>
        </p:nvGrpSpPr>
        <p:grpSpPr>
          <a:xfrm>
            <a:off x="382240" y="1449218"/>
            <a:ext cx="4777999" cy="4292420"/>
            <a:chOff x="1296026" y="964481"/>
            <a:chExt cx="5096532" cy="4578581"/>
          </a:xfrm>
        </p:grpSpPr>
        <p:sp>
          <p:nvSpPr>
            <p:cNvPr id="38917" name="Rectangle 5"/>
            <p:cNvSpPr>
              <a:spLocks noChangeArrowheads="1"/>
            </p:cNvSpPr>
            <p:nvPr/>
          </p:nvSpPr>
          <p:spPr bwMode="auto">
            <a:xfrm>
              <a:off x="5804670" y="5034876"/>
              <a:ext cx="587888" cy="508186"/>
            </a:xfrm>
            <a:prstGeom prst="rect">
              <a:avLst/>
            </a:prstGeom>
            <a:noFill/>
            <a:ln w="9525">
              <a:noFill/>
              <a:miter lim="800000"/>
              <a:headEnd/>
              <a:tailEnd/>
            </a:ln>
            <a:effectLst/>
          </p:spPr>
          <p:txBody>
            <a:bodyPr wrap="none" lIns="17859" tIns="25301" rIns="17859" bIns="25301"/>
            <a:lstStyle/>
            <a:p>
              <a:pPr>
                <a:lnSpc>
                  <a:spcPts val="2763"/>
                </a:lnSpc>
                <a:tabLst>
                  <a:tab pos="451085" algn="l"/>
                  <a:tab pos="902170" algn="l"/>
                  <a:tab pos="1353255" algn="l"/>
                </a:tabLst>
              </a:pPr>
              <a:r>
                <a:rPr lang="en-US" sz="1688" dirty="0">
                  <a:latin typeface="Whitney-Book" pitchFamily="50" charset="0"/>
                  <a:cs typeface="Whitney-Book" pitchFamily="50" charset="0"/>
                </a:rPr>
                <a:t>Labor</a:t>
              </a:r>
              <a:endParaRPr lang="en-US" sz="2625" dirty="0">
                <a:latin typeface="Whitney-Book" pitchFamily="50" charset="0"/>
                <a:cs typeface="Whitney-Book" pitchFamily="50" charset="0"/>
              </a:endParaRPr>
            </a:p>
          </p:txBody>
        </p:sp>
        <p:sp>
          <p:nvSpPr>
            <p:cNvPr id="38919" name="Line 7"/>
            <p:cNvSpPr>
              <a:spLocks noChangeShapeType="1"/>
            </p:cNvSpPr>
            <p:nvPr/>
          </p:nvSpPr>
          <p:spPr bwMode="auto">
            <a:xfrm flipH="1">
              <a:off x="1790387" y="1371600"/>
              <a:ext cx="16492" cy="3563151"/>
            </a:xfrm>
            <a:prstGeom prst="line">
              <a:avLst/>
            </a:prstGeom>
            <a:noFill/>
            <a:ln w="50800">
              <a:solidFill>
                <a:schemeClr val="tx1"/>
              </a:solidFill>
              <a:round/>
              <a:headEnd type="arrow" w="sm" len="sm"/>
              <a:tailEnd type="none" w="sm" len="sm"/>
            </a:ln>
            <a:effectLst/>
          </p:spPr>
          <p:txBody>
            <a:bodyPr wrap="none" anchor="ctr"/>
            <a:lstStyle/>
            <a:p>
              <a:endParaRPr lang="en-US" sz="2625">
                <a:latin typeface="Whitney-Book" pitchFamily="50" charset="0"/>
                <a:cs typeface="Whitney-Book" pitchFamily="50" charset="0"/>
              </a:endParaRPr>
            </a:p>
          </p:txBody>
        </p:sp>
        <p:sp>
          <p:nvSpPr>
            <p:cNvPr id="38920" name="Line 8"/>
            <p:cNvSpPr>
              <a:spLocks noChangeShapeType="1"/>
            </p:cNvSpPr>
            <p:nvPr/>
          </p:nvSpPr>
          <p:spPr bwMode="auto">
            <a:xfrm flipV="1">
              <a:off x="1780366" y="4929179"/>
              <a:ext cx="4544234" cy="22288"/>
            </a:xfrm>
            <a:prstGeom prst="line">
              <a:avLst/>
            </a:prstGeom>
            <a:noFill/>
            <a:ln w="50800">
              <a:solidFill>
                <a:schemeClr val="tx1"/>
              </a:solidFill>
              <a:round/>
              <a:headEnd type="none" w="sm" len="sm"/>
              <a:tailEnd type="arrow" w="sm" len="sm"/>
            </a:ln>
            <a:effectLst/>
          </p:spPr>
          <p:txBody>
            <a:bodyPr wrap="none" anchor="ctr"/>
            <a:lstStyle/>
            <a:p>
              <a:endParaRPr lang="en-US" sz="2625">
                <a:latin typeface="Whitney-Book" pitchFamily="50" charset="0"/>
                <a:cs typeface="Whitney-Book" pitchFamily="50" charset="0"/>
              </a:endParaRPr>
            </a:p>
          </p:txBody>
        </p:sp>
        <p:sp>
          <p:nvSpPr>
            <p:cNvPr id="38921" name="Rectangle 9"/>
            <p:cNvSpPr>
              <a:spLocks noChangeArrowheads="1"/>
            </p:cNvSpPr>
            <p:nvPr/>
          </p:nvSpPr>
          <p:spPr bwMode="auto">
            <a:xfrm>
              <a:off x="1356152" y="964481"/>
              <a:ext cx="614610" cy="508186"/>
            </a:xfrm>
            <a:prstGeom prst="rect">
              <a:avLst/>
            </a:prstGeom>
            <a:noFill/>
            <a:ln w="9525">
              <a:noFill/>
              <a:miter lim="800000"/>
              <a:headEnd/>
              <a:tailEnd/>
            </a:ln>
            <a:effectLst/>
          </p:spPr>
          <p:txBody>
            <a:bodyPr wrap="none" lIns="17859" tIns="25301" rIns="17859" bIns="25301"/>
            <a:lstStyle/>
            <a:p>
              <a:pPr>
                <a:lnSpc>
                  <a:spcPts val="2763"/>
                </a:lnSpc>
                <a:tabLst>
                  <a:tab pos="451085" algn="l"/>
                  <a:tab pos="902170" algn="l"/>
                  <a:tab pos="1353255" algn="l"/>
                </a:tabLst>
              </a:pPr>
              <a:r>
                <a:rPr lang="en-US" sz="1688" dirty="0">
                  <a:latin typeface="Whitney-Book" pitchFamily="50" charset="0"/>
                  <a:cs typeface="Whitney-Book" pitchFamily="50" charset="0"/>
                </a:rPr>
                <a:t>Wage</a:t>
              </a:r>
              <a:endParaRPr lang="en-US" sz="2625" dirty="0">
                <a:latin typeface="Whitney-Book" pitchFamily="50" charset="0"/>
                <a:cs typeface="Whitney-Book" pitchFamily="50" charset="0"/>
              </a:endParaRPr>
            </a:p>
          </p:txBody>
        </p:sp>
        <p:sp>
          <p:nvSpPr>
            <p:cNvPr id="38924" name="Line 12"/>
            <p:cNvSpPr>
              <a:spLocks noChangeShapeType="1"/>
            </p:cNvSpPr>
            <p:nvPr/>
          </p:nvSpPr>
          <p:spPr bwMode="auto">
            <a:xfrm>
              <a:off x="1826920" y="1951699"/>
              <a:ext cx="2949672" cy="2979710"/>
            </a:xfrm>
            <a:prstGeom prst="line">
              <a:avLst/>
            </a:prstGeom>
            <a:noFill/>
            <a:ln w="50800">
              <a:solidFill>
                <a:srgbClr val="C00000"/>
              </a:solidFill>
              <a:round/>
              <a:headEnd type="none" w="sm" len="sm"/>
              <a:tailEnd type="none" w="sm" len="sm"/>
            </a:ln>
            <a:effectLst/>
          </p:spPr>
          <p:txBody>
            <a:bodyPr wrap="none" anchor="ctr"/>
            <a:lstStyle/>
            <a:p>
              <a:endParaRPr lang="en-US" sz="2625">
                <a:latin typeface="Whitney-Book" pitchFamily="50" charset="0"/>
                <a:cs typeface="Whitney-Book" pitchFamily="50" charset="0"/>
              </a:endParaRPr>
            </a:p>
          </p:txBody>
        </p:sp>
        <p:sp>
          <p:nvSpPr>
            <p:cNvPr id="38925" name="Rectangle 13"/>
            <p:cNvSpPr>
              <a:spLocks noChangeArrowheads="1"/>
            </p:cNvSpPr>
            <p:nvPr/>
          </p:nvSpPr>
          <p:spPr bwMode="auto">
            <a:xfrm>
              <a:off x="4716467" y="4399819"/>
              <a:ext cx="587888" cy="508186"/>
            </a:xfrm>
            <a:prstGeom prst="rect">
              <a:avLst/>
            </a:prstGeom>
            <a:noFill/>
            <a:ln w="9525">
              <a:noFill/>
              <a:miter lim="800000"/>
              <a:headEnd/>
              <a:tailEnd/>
            </a:ln>
            <a:effectLst/>
          </p:spPr>
          <p:txBody>
            <a:bodyPr wrap="none" lIns="17859" tIns="25301" rIns="17859" bIns="25301"/>
            <a:lstStyle/>
            <a:p>
              <a:pPr>
                <a:lnSpc>
                  <a:spcPts val="2763"/>
                </a:lnSpc>
                <a:tabLst>
                  <a:tab pos="451085" algn="l"/>
                  <a:tab pos="902170" algn="l"/>
                  <a:tab pos="1353255" algn="l"/>
                </a:tabLst>
              </a:pPr>
              <a:r>
                <a:rPr lang="en-US" sz="2625" dirty="0" err="1">
                  <a:solidFill>
                    <a:srgbClr val="C00000"/>
                  </a:solidFill>
                  <a:latin typeface="Whitney-Book" pitchFamily="50" charset="0"/>
                  <a:cs typeface="Whitney-Book" pitchFamily="50" charset="0"/>
                </a:rPr>
                <a:t>D</a:t>
              </a:r>
              <a:r>
                <a:rPr lang="en-US" sz="2625" baseline="-25000" dirty="0" err="1">
                  <a:solidFill>
                    <a:srgbClr val="C00000"/>
                  </a:solidFill>
                  <a:latin typeface="Whitney-Book" pitchFamily="50" charset="0"/>
                  <a:cs typeface="Whitney-Book" pitchFamily="50" charset="0"/>
                </a:rPr>
                <a:t>Labor</a:t>
              </a:r>
              <a:endParaRPr lang="en-US" sz="2625" baseline="-25000" dirty="0">
                <a:solidFill>
                  <a:srgbClr val="C00000"/>
                </a:solidFill>
                <a:latin typeface="Whitney-Book" pitchFamily="50" charset="0"/>
                <a:cs typeface="Whitney-Book" pitchFamily="50" charset="0"/>
              </a:endParaRPr>
            </a:p>
          </p:txBody>
        </p:sp>
        <p:grpSp>
          <p:nvGrpSpPr>
            <p:cNvPr id="3" name="Group 19"/>
            <p:cNvGrpSpPr>
              <a:grpSpLocks/>
            </p:cNvGrpSpPr>
            <p:nvPr/>
          </p:nvGrpSpPr>
          <p:grpSpPr bwMode="auto">
            <a:xfrm>
              <a:off x="1296026" y="3276461"/>
              <a:ext cx="2091012" cy="508186"/>
              <a:chOff x="776" y="1960"/>
              <a:chExt cx="1252" cy="304"/>
            </a:xfrm>
          </p:grpSpPr>
          <p:sp>
            <p:nvSpPr>
              <p:cNvPr id="38932" name="Rectangle 20"/>
              <p:cNvSpPr>
                <a:spLocks noChangeArrowheads="1"/>
              </p:cNvSpPr>
              <p:nvPr/>
            </p:nvSpPr>
            <p:spPr bwMode="auto">
              <a:xfrm>
                <a:off x="776" y="1960"/>
                <a:ext cx="443" cy="304"/>
              </a:xfrm>
              <a:prstGeom prst="rect">
                <a:avLst/>
              </a:prstGeom>
              <a:noFill/>
              <a:ln w="9525">
                <a:noFill/>
                <a:miter lim="800000"/>
                <a:headEnd/>
                <a:tailEnd/>
              </a:ln>
              <a:effectLst/>
            </p:spPr>
            <p:txBody>
              <a:bodyPr wrap="none" lIns="17859" tIns="25301" rIns="17859" bIns="25301"/>
              <a:lstStyle/>
              <a:p>
                <a:pPr>
                  <a:lnSpc>
                    <a:spcPts val="2763"/>
                  </a:lnSpc>
                  <a:tabLst>
                    <a:tab pos="451085" algn="l"/>
                    <a:tab pos="902170" algn="l"/>
                    <a:tab pos="1353255" algn="l"/>
                  </a:tabLst>
                </a:pPr>
                <a:r>
                  <a:rPr lang="en-US" sz="2625" dirty="0">
                    <a:latin typeface="Whitney-Book" pitchFamily="50" charset="0"/>
                    <a:cs typeface="Whitney-Book" pitchFamily="50" charset="0"/>
                  </a:rPr>
                  <a:t>w*</a:t>
                </a:r>
              </a:p>
            </p:txBody>
          </p:sp>
          <p:sp>
            <p:nvSpPr>
              <p:cNvPr id="38933" name="Line 21"/>
              <p:cNvSpPr>
                <a:spLocks noChangeShapeType="1"/>
              </p:cNvSpPr>
              <p:nvPr/>
            </p:nvSpPr>
            <p:spPr bwMode="auto">
              <a:xfrm flipH="1">
                <a:off x="1060" y="2120"/>
                <a:ext cx="968" cy="0"/>
              </a:xfrm>
              <a:prstGeom prst="line">
                <a:avLst/>
              </a:prstGeom>
              <a:noFill/>
              <a:ln w="19050">
                <a:solidFill>
                  <a:schemeClr val="tx1"/>
                </a:solidFill>
                <a:prstDash val="sysDash"/>
                <a:round/>
                <a:headEnd type="none" w="sm" len="sm"/>
                <a:tailEnd type="none" w="sm" len="sm"/>
              </a:ln>
              <a:effectLst/>
            </p:spPr>
            <p:txBody>
              <a:bodyPr wrap="none" anchor="ctr"/>
              <a:lstStyle/>
              <a:p>
                <a:endParaRPr lang="en-US" sz="2625">
                  <a:latin typeface="Whitney-Book" pitchFamily="50" charset="0"/>
                  <a:cs typeface="Whitney-Book" pitchFamily="50" charset="0"/>
                </a:endParaRPr>
              </a:p>
            </p:txBody>
          </p:sp>
        </p:grpSp>
        <p:sp>
          <p:nvSpPr>
            <p:cNvPr id="38929" name="Line 17"/>
            <p:cNvSpPr>
              <a:spLocks noChangeShapeType="1"/>
            </p:cNvSpPr>
            <p:nvPr/>
          </p:nvSpPr>
          <p:spPr bwMode="auto">
            <a:xfrm flipH="1">
              <a:off x="2057400" y="2209800"/>
              <a:ext cx="2514600" cy="2743199"/>
            </a:xfrm>
            <a:prstGeom prst="line">
              <a:avLst/>
            </a:prstGeom>
            <a:noFill/>
            <a:ln w="50800">
              <a:solidFill>
                <a:schemeClr val="accent1">
                  <a:lumMod val="75000"/>
                </a:schemeClr>
              </a:solidFill>
              <a:round/>
              <a:headEnd type="none" w="sm" len="sm"/>
              <a:tailEnd type="none" w="sm" len="sm"/>
            </a:ln>
            <a:effectLst/>
          </p:spPr>
          <p:txBody>
            <a:bodyPr wrap="none" anchor="ctr"/>
            <a:lstStyle/>
            <a:p>
              <a:endParaRPr lang="en-US" sz="2625">
                <a:latin typeface="Whitney-Book" pitchFamily="50" charset="0"/>
                <a:cs typeface="Whitney-Book" pitchFamily="50" charset="0"/>
              </a:endParaRPr>
            </a:p>
          </p:txBody>
        </p:sp>
        <p:sp>
          <p:nvSpPr>
            <p:cNvPr id="38930" name="Rectangle 18"/>
            <p:cNvSpPr>
              <a:spLocks noChangeArrowheads="1"/>
            </p:cNvSpPr>
            <p:nvPr/>
          </p:nvSpPr>
          <p:spPr bwMode="auto">
            <a:xfrm>
              <a:off x="4469287" y="1788652"/>
              <a:ext cx="614611" cy="508186"/>
            </a:xfrm>
            <a:prstGeom prst="rect">
              <a:avLst/>
            </a:prstGeom>
            <a:noFill/>
            <a:ln w="9525">
              <a:noFill/>
              <a:miter lim="800000"/>
              <a:headEnd/>
              <a:tailEnd/>
            </a:ln>
            <a:effectLst/>
          </p:spPr>
          <p:txBody>
            <a:bodyPr wrap="none" lIns="17859" tIns="25301" rIns="17859" bIns="25301"/>
            <a:lstStyle/>
            <a:p>
              <a:pPr>
                <a:lnSpc>
                  <a:spcPts val="2763"/>
                </a:lnSpc>
                <a:tabLst>
                  <a:tab pos="451085" algn="l"/>
                  <a:tab pos="902170" algn="l"/>
                  <a:tab pos="1353255" algn="l"/>
                </a:tabLst>
              </a:pPr>
              <a:r>
                <a:rPr lang="en-US" sz="2625" dirty="0" err="1">
                  <a:solidFill>
                    <a:schemeClr val="accent1">
                      <a:lumMod val="75000"/>
                    </a:schemeClr>
                  </a:solidFill>
                  <a:latin typeface="Whitney-Book" pitchFamily="50" charset="0"/>
                  <a:cs typeface="Whitney-Book" pitchFamily="50" charset="0"/>
                </a:rPr>
                <a:t>S</a:t>
              </a:r>
              <a:r>
                <a:rPr lang="en-US" sz="2625" baseline="-25000" dirty="0" err="1">
                  <a:solidFill>
                    <a:schemeClr val="accent1">
                      <a:lumMod val="75000"/>
                    </a:schemeClr>
                  </a:solidFill>
                  <a:latin typeface="Whitney-Book" pitchFamily="50" charset="0"/>
                  <a:cs typeface="Whitney-Book" pitchFamily="50" charset="0"/>
                </a:rPr>
                <a:t>Labor</a:t>
              </a:r>
              <a:endParaRPr lang="en-US" sz="2625" baseline="-25000" dirty="0">
                <a:solidFill>
                  <a:schemeClr val="accent1">
                    <a:lumMod val="75000"/>
                  </a:schemeClr>
                </a:solidFill>
                <a:latin typeface="Whitney-Book" pitchFamily="50" charset="0"/>
                <a:cs typeface="Whitney-Book" pitchFamily="50" charset="0"/>
              </a:endParaRPr>
            </a:p>
          </p:txBody>
        </p:sp>
        <p:sp>
          <p:nvSpPr>
            <p:cNvPr id="29" name="Line 27"/>
            <p:cNvSpPr>
              <a:spLocks noChangeShapeType="1"/>
            </p:cNvSpPr>
            <p:nvPr/>
          </p:nvSpPr>
          <p:spPr bwMode="auto">
            <a:xfrm>
              <a:off x="3352800" y="3505200"/>
              <a:ext cx="0" cy="1447800"/>
            </a:xfrm>
            <a:prstGeom prst="line">
              <a:avLst/>
            </a:prstGeom>
            <a:noFill/>
            <a:ln w="19050">
              <a:solidFill>
                <a:schemeClr val="tx1"/>
              </a:solidFill>
              <a:prstDash val="sysDash"/>
              <a:round/>
              <a:headEnd type="none" w="sm" len="sm"/>
              <a:tailEnd type="none" w="sm" len="sm"/>
            </a:ln>
            <a:effectLst/>
          </p:spPr>
          <p:txBody>
            <a:bodyPr wrap="none" anchor="ctr"/>
            <a:lstStyle/>
            <a:p>
              <a:endParaRPr lang="en-US" sz="2625">
                <a:latin typeface="Whitney-Book" pitchFamily="50" charset="0"/>
                <a:cs typeface="Whitney-Book" pitchFamily="50" charset="0"/>
              </a:endParaRPr>
            </a:p>
          </p:txBody>
        </p:sp>
        <p:sp>
          <p:nvSpPr>
            <p:cNvPr id="32" name="Rectangle 26"/>
            <p:cNvSpPr>
              <a:spLocks noChangeArrowheads="1"/>
            </p:cNvSpPr>
            <p:nvPr/>
          </p:nvSpPr>
          <p:spPr bwMode="auto">
            <a:xfrm>
              <a:off x="3124200" y="4953000"/>
              <a:ext cx="681416" cy="508186"/>
            </a:xfrm>
            <a:prstGeom prst="rect">
              <a:avLst/>
            </a:prstGeom>
            <a:noFill/>
            <a:ln w="9525">
              <a:noFill/>
              <a:miter lim="800000"/>
              <a:headEnd/>
              <a:tailEnd/>
            </a:ln>
            <a:effectLst/>
          </p:spPr>
          <p:txBody>
            <a:bodyPr wrap="none" lIns="17859" tIns="25301" rIns="17859" bIns="25301"/>
            <a:lstStyle/>
            <a:p>
              <a:pPr>
                <a:lnSpc>
                  <a:spcPts val="2763"/>
                </a:lnSpc>
                <a:tabLst>
                  <a:tab pos="451085" algn="l"/>
                  <a:tab pos="902170" algn="l"/>
                  <a:tab pos="1353255" algn="l"/>
                </a:tabLst>
              </a:pPr>
              <a:r>
                <a:rPr lang="en-US" sz="2625" dirty="0">
                  <a:latin typeface="Whitney-Book" pitchFamily="50" charset="0"/>
                  <a:cs typeface="Whitney-Book" pitchFamily="50" charset="0"/>
                </a:rPr>
                <a:t>L*</a:t>
              </a:r>
            </a:p>
          </p:txBody>
        </p:sp>
      </p:grpSp>
      <p:grpSp>
        <p:nvGrpSpPr>
          <p:cNvPr id="7" name="Group 34"/>
          <p:cNvGrpSpPr/>
          <p:nvPr/>
        </p:nvGrpSpPr>
        <p:grpSpPr>
          <a:xfrm>
            <a:off x="1324216" y="5616942"/>
            <a:ext cx="3000375" cy="709273"/>
            <a:chOff x="2362200" y="5410200"/>
            <a:chExt cx="3200400" cy="756559"/>
          </a:xfrm>
        </p:grpSpPr>
        <p:sp>
          <p:nvSpPr>
            <p:cNvPr id="33" name="Left Brace 32"/>
            <p:cNvSpPr/>
            <p:nvPr/>
          </p:nvSpPr>
          <p:spPr bwMode="auto">
            <a:xfrm rot="16200000">
              <a:off x="3238500" y="4914900"/>
              <a:ext cx="381000" cy="1371600"/>
            </a:xfrm>
            <a:prstGeom prst="leftBrace">
              <a:avLst>
                <a:gd name="adj1" fmla="val 42619"/>
                <a:gd name="adj2" fmla="val 50000"/>
              </a:avLst>
            </a:prstGeom>
            <a:noFill/>
            <a:ln w="19050" cap="flat" cmpd="sng" algn="ctr">
              <a:solidFill>
                <a:srgbClr val="C00000"/>
              </a:solidFill>
              <a:prstDash val="solid"/>
              <a:round/>
              <a:headEnd type="none" w="med" len="med"/>
              <a:tailEnd type="none" w="med" len="med"/>
            </a:ln>
            <a:effectLst/>
          </p:spPr>
          <p:txBody>
            <a:bodyPr vert="horz" wrap="none" lIns="85725" tIns="42863" rIns="85725" bIns="42863" numCol="1" rtlCol="0" anchor="t" anchorCtr="0" compatLnSpc="1">
              <a:prstTxWarp prst="textNoShape">
                <a:avLst/>
              </a:prstTxWarp>
            </a:bodyPr>
            <a:lstStyle/>
            <a:p>
              <a:pPr defTabSz="857250" eaLnBrk="0" fontAlgn="base" hangingPunct="0">
                <a:spcBef>
                  <a:spcPct val="0"/>
                </a:spcBef>
                <a:spcAft>
                  <a:spcPct val="0"/>
                </a:spcAft>
              </a:pPr>
              <a:endParaRPr lang="en-US" sz="2250" b="1" dirty="0">
                <a:solidFill>
                  <a:srgbClr val="C00000"/>
                </a:solidFill>
                <a:latin typeface="Whitney-Book" pitchFamily="50" charset="0"/>
                <a:cs typeface="Whitney-Book" pitchFamily="50" charset="0"/>
              </a:endParaRPr>
            </a:p>
          </p:txBody>
        </p:sp>
        <p:sp>
          <p:nvSpPr>
            <p:cNvPr id="34" name="TextBox 33"/>
            <p:cNvSpPr txBox="1"/>
            <p:nvPr/>
          </p:nvSpPr>
          <p:spPr>
            <a:xfrm>
              <a:off x="2362200" y="5791203"/>
              <a:ext cx="3200400" cy="375556"/>
            </a:xfrm>
            <a:prstGeom prst="rect">
              <a:avLst/>
            </a:prstGeom>
            <a:noFill/>
          </p:spPr>
          <p:txBody>
            <a:bodyPr wrap="square" rtlCol="0">
              <a:spAutoFit/>
            </a:bodyPr>
            <a:lstStyle/>
            <a:p>
              <a:r>
                <a:rPr lang="en-US" sz="1688" dirty="0">
                  <a:solidFill>
                    <a:srgbClr val="C00000"/>
                  </a:solidFill>
                  <a:latin typeface="Whitney-Book" pitchFamily="50" charset="0"/>
                  <a:cs typeface="Whitney-Book" pitchFamily="50" charset="0"/>
                </a:rPr>
                <a:t>L</a:t>
              </a:r>
              <a:r>
                <a:rPr lang="en-US" sz="1688" baseline="-25000" dirty="0">
                  <a:solidFill>
                    <a:srgbClr val="C00000"/>
                  </a:solidFill>
                  <a:latin typeface="Whitney-Book" pitchFamily="50" charset="0"/>
                  <a:cs typeface="Whitney-Book" pitchFamily="50" charset="0"/>
                </a:rPr>
                <a:t>s</a:t>
              </a:r>
              <a:r>
                <a:rPr lang="en-US" sz="1688" dirty="0">
                  <a:solidFill>
                    <a:srgbClr val="C00000"/>
                  </a:solidFill>
                  <a:latin typeface="Whitney-Book" pitchFamily="50" charset="0"/>
                  <a:cs typeface="Whitney-Book" pitchFamily="50" charset="0"/>
                </a:rPr>
                <a:t>-</a:t>
              </a:r>
              <a:r>
                <a:rPr lang="en-US" sz="1688" dirty="0" err="1">
                  <a:solidFill>
                    <a:srgbClr val="C00000"/>
                  </a:solidFill>
                  <a:latin typeface="Whitney-Book" pitchFamily="50" charset="0"/>
                  <a:cs typeface="Whitney-Book" pitchFamily="50" charset="0"/>
                </a:rPr>
                <a:t>L</a:t>
              </a:r>
              <a:r>
                <a:rPr lang="en-US" sz="1688" baseline="-25000" dirty="0" err="1">
                  <a:solidFill>
                    <a:srgbClr val="C00000"/>
                  </a:solidFill>
                  <a:latin typeface="Whitney-Book" pitchFamily="50" charset="0"/>
                  <a:cs typeface="Whitney-Book" pitchFamily="50" charset="0"/>
                </a:rPr>
                <a:t>d</a:t>
              </a:r>
              <a:r>
                <a:rPr lang="en-US" sz="1688" dirty="0">
                  <a:solidFill>
                    <a:srgbClr val="C00000"/>
                  </a:solidFill>
                  <a:latin typeface="Whitney-Book" pitchFamily="50" charset="0"/>
                  <a:cs typeface="Whitney-Book" pitchFamily="50" charset="0"/>
                </a:rPr>
                <a:t>=unemployment</a:t>
              </a:r>
            </a:p>
          </p:txBody>
        </p:sp>
      </p:grpSp>
      <p:grpSp>
        <p:nvGrpSpPr>
          <p:cNvPr id="36" name="Group 35"/>
          <p:cNvGrpSpPr/>
          <p:nvPr/>
        </p:nvGrpSpPr>
        <p:grpSpPr>
          <a:xfrm>
            <a:off x="279515" y="2831017"/>
            <a:ext cx="3272425" cy="2833862"/>
            <a:chOff x="1153647" y="2438400"/>
            <a:chExt cx="3490587" cy="3022786"/>
          </a:xfrm>
        </p:grpSpPr>
        <p:grpSp>
          <p:nvGrpSpPr>
            <p:cNvPr id="4" name="Group 38"/>
            <p:cNvGrpSpPr/>
            <p:nvPr/>
          </p:nvGrpSpPr>
          <p:grpSpPr>
            <a:xfrm>
              <a:off x="1153647" y="2438400"/>
              <a:ext cx="3490587" cy="3022786"/>
              <a:chOff x="1077238" y="3961842"/>
              <a:chExt cx="3490587" cy="3022786"/>
            </a:xfrm>
          </p:grpSpPr>
          <p:sp>
            <p:nvSpPr>
              <p:cNvPr id="38927" name="Rectangle 15"/>
              <p:cNvSpPr>
                <a:spLocks noChangeArrowheads="1"/>
              </p:cNvSpPr>
              <p:nvPr/>
            </p:nvSpPr>
            <p:spPr bwMode="auto">
              <a:xfrm>
                <a:off x="2590174" y="6476442"/>
                <a:ext cx="381000" cy="508186"/>
              </a:xfrm>
              <a:prstGeom prst="rect">
                <a:avLst/>
              </a:prstGeom>
              <a:noFill/>
              <a:ln w="9525">
                <a:noFill/>
                <a:miter lim="800000"/>
                <a:headEnd/>
                <a:tailEnd/>
              </a:ln>
              <a:effectLst/>
            </p:spPr>
            <p:txBody>
              <a:bodyPr wrap="none" lIns="17859" tIns="25301" rIns="17859" bIns="25301"/>
              <a:lstStyle/>
              <a:p>
                <a:pPr>
                  <a:lnSpc>
                    <a:spcPts val="2763"/>
                  </a:lnSpc>
                  <a:tabLst>
                    <a:tab pos="451085" algn="l"/>
                    <a:tab pos="902170" algn="l"/>
                    <a:tab pos="1353255" algn="l"/>
                  </a:tabLst>
                </a:pPr>
                <a:endParaRPr lang="en-US" sz="2625" dirty="0">
                  <a:latin typeface="Whitney-Book" pitchFamily="50" charset="0"/>
                  <a:cs typeface="Whitney-Book" pitchFamily="50" charset="0"/>
                </a:endParaRPr>
              </a:p>
            </p:txBody>
          </p:sp>
          <p:grpSp>
            <p:nvGrpSpPr>
              <p:cNvPr id="5" name="Group 22"/>
              <p:cNvGrpSpPr>
                <a:grpSpLocks/>
              </p:cNvGrpSpPr>
              <p:nvPr/>
            </p:nvGrpSpPr>
            <p:grpSpPr bwMode="auto">
              <a:xfrm>
                <a:off x="1077238" y="3961842"/>
                <a:ext cx="2961153" cy="508186"/>
                <a:chOff x="645" y="2370"/>
                <a:chExt cx="1773" cy="304"/>
              </a:xfrm>
            </p:grpSpPr>
            <p:sp>
              <p:nvSpPr>
                <p:cNvPr id="38935" name="Rectangle 23"/>
                <p:cNvSpPr>
                  <a:spLocks noChangeArrowheads="1"/>
                </p:cNvSpPr>
                <p:nvPr/>
              </p:nvSpPr>
              <p:spPr bwMode="auto">
                <a:xfrm>
                  <a:off x="645" y="2370"/>
                  <a:ext cx="880" cy="304"/>
                </a:xfrm>
                <a:prstGeom prst="rect">
                  <a:avLst/>
                </a:prstGeom>
                <a:noFill/>
                <a:ln w="9525">
                  <a:noFill/>
                  <a:miter lim="800000"/>
                  <a:headEnd/>
                  <a:tailEnd/>
                </a:ln>
                <a:effectLst/>
              </p:spPr>
              <p:txBody>
                <a:bodyPr wrap="none" lIns="17859" tIns="25301" rIns="17859" bIns="25301"/>
                <a:lstStyle/>
                <a:p>
                  <a:pPr>
                    <a:lnSpc>
                      <a:spcPts val="2763"/>
                    </a:lnSpc>
                    <a:tabLst>
                      <a:tab pos="451085" algn="l"/>
                      <a:tab pos="902170" algn="l"/>
                      <a:tab pos="1353255" algn="l"/>
                    </a:tabLst>
                  </a:pPr>
                  <a:r>
                    <a:rPr lang="en-US" sz="2625" dirty="0" err="1">
                      <a:latin typeface="Whitney-Book" pitchFamily="50" charset="0"/>
                      <a:cs typeface="Whitney-Book" pitchFamily="50" charset="0"/>
                    </a:rPr>
                    <a:t>w</a:t>
                  </a:r>
                  <a:r>
                    <a:rPr lang="en-US" sz="1688" baseline="-25000" dirty="0" err="1">
                      <a:latin typeface="Whitney-Book" pitchFamily="50" charset="0"/>
                      <a:cs typeface="Whitney-Book" pitchFamily="50" charset="0"/>
                    </a:rPr>
                    <a:t>min</a:t>
                  </a:r>
                  <a:endParaRPr lang="en-US" sz="2625" baseline="-25000" dirty="0">
                    <a:latin typeface="Whitney-Book" pitchFamily="50" charset="0"/>
                    <a:cs typeface="Whitney-Book" pitchFamily="50" charset="0"/>
                  </a:endParaRPr>
                </a:p>
              </p:txBody>
            </p:sp>
            <p:sp>
              <p:nvSpPr>
                <p:cNvPr id="38936" name="Line 24"/>
                <p:cNvSpPr>
                  <a:spLocks noChangeShapeType="1"/>
                </p:cNvSpPr>
                <p:nvPr/>
              </p:nvSpPr>
              <p:spPr bwMode="auto">
                <a:xfrm>
                  <a:off x="1001" y="2502"/>
                  <a:ext cx="1417" cy="5"/>
                </a:xfrm>
                <a:prstGeom prst="line">
                  <a:avLst/>
                </a:prstGeom>
                <a:noFill/>
                <a:ln w="19050">
                  <a:solidFill>
                    <a:schemeClr val="tx1"/>
                  </a:solidFill>
                  <a:prstDash val="solid"/>
                  <a:round/>
                  <a:headEnd type="none" w="sm" len="sm"/>
                  <a:tailEnd type="none" w="sm" len="sm"/>
                </a:ln>
                <a:effectLst/>
              </p:spPr>
              <p:txBody>
                <a:bodyPr wrap="none" anchor="ctr"/>
                <a:lstStyle/>
                <a:p>
                  <a:endParaRPr lang="en-US" sz="2625">
                    <a:latin typeface="Whitney-Book" pitchFamily="50" charset="0"/>
                    <a:cs typeface="Whitney-Book" pitchFamily="50" charset="0"/>
                  </a:endParaRPr>
                </a:p>
              </p:txBody>
            </p:sp>
          </p:grpSp>
          <p:grpSp>
            <p:nvGrpSpPr>
              <p:cNvPr id="6" name="Group 25"/>
              <p:cNvGrpSpPr>
                <a:grpSpLocks/>
              </p:cNvGrpSpPr>
              <p:nvPr/>
            </p:nvGrpSpPr>
            <p:grpSpPr bwMode="auto">
              <a:xfrm>
                <a:off x="3886409" y="4225966"/>
                <a:ext cx="681416" cy="2758244"/>
                <a:chOff x="2327" y="2528"/>
                <a:chExt cx="408" cy="1650"/>
              </a:xfrm>
            </p:grpSpPr>
            <p:sp>
              <p:nvSpPr>
                <p:cNvPr id="38938" name="Rectangle 26"/>
                <p:cNvSpPr>
                  <a:spLocks noChangeArrowheads="1"/>
                </p:cNvSpPr>
                <p:nvPr/>
              </p:nvSpPr>
              <p:spPr bwMode="auto">
                <a:xfrm>
                  <a:off x="2327" y="3874"/>
                  <a:ext cx="408" cy="304"/>
                </a:xfrm>
                <a:prstGeom prst="rect">
                  <a:avLst/>
                </a:prstGeom>
                <a:noFill/>
                <a:ln w="9525">
                  <a:noFill/>
                  <a:miter lim="800000"/>
                  <a:headEnd/>
                  <a:tailEnd/>
                </a:ln>
                <a:effectLst/>
              </p:spPr>
              <p:txBody>
                <a:bodyPr wrap="none" lIns="17859" tIns="25301" rIns="17859" bIns="25301"/>
                <a:lstStyle/>
                <a:p>
                  <a:pPr>
                    <a:lnSpc>
                      <a:spcPts val="2763"/>
                    </a:lnSpc>
                    <a:tabLst>
                      <a:tab pos="451085" algn="l"/>
                      <a:tab pos="902170" algn="l"/>
                      <a:tab pos="1353255" algn="l"/>
                    </a:tabLst>
                  </a:pPr>
                  <a:r>
                    <a:rPr lang="en-US" sz="2000" dirty="0">
                      <a:latin typeface="Whitney-Book" pitchFamily="50" charset="0"/>
                      <a:cs typeface="Whitney-Book" pitchFamily="50" charset="0"/>
                    </a:rPr>
                    <a:t>L</a:t>
                  </a:r>
                  <a:r>
                    <a:rPr lang="en-US" sz="2000" baseline="-25000" dirty="0">
                      <a:latin typeface="Whitney-Book" pitchFamily="50" charset="0"/>
                      <a:cs typeface="Whitney-Book" pitchFamily="50" charset="0"/>
                    </a:rPr>
                    <a:t>s</a:t>
                  </a:r>
                </a:p>
              </p:txBody>
            </p:sp>
            <p:sp>
              <p:nvSpPr>
                <p:cNvPr id="38939" name="Line 27"/>
                <p:cNvSpPr>
                  <a:spLocks noChangeShapeType="1"/>
                </p:cNvSpPr>
                <p:nvPr/>
              </p:nvSpPr>
              <p:spPr bwMode="auto">
                <a:xfrm flipH="1">
                  <a:off x="2418" y="2528"/>
                  <a:ext cx="6" cy="1346"/>
                </a:xfrm>
                <a:prstGeom prst="line">
                  <a:avLst/>
                </a:prstGeom>
                <a:noFill/>
                <a:ln w="19050">
                  <a:solidFill>
                    <a:schemeClr val="tx1"/>
                  </a:solidFill>
                  <a:prstDash val="sysDash"/>
                  <a:round/>
                  <a:headEnd type="none" w="sm" len="sm"/>
                  <a:tailEnd type="none" w="sm" len="sm"/>
                </a:ln>
                <a:effectLst/>
              </p:spPr>
              <p:txBody>
                <a:bodyPr wrap="none" anchor="ctr"/>
                <a:lstStyle/>
                <a:p>
                  <a:endParaRPr lang="en-US" sz="2625">
                    <a:latin typeface="Whitney-Book" pitchFamily="50" charset="0"/>
                    <a:cs typeface="Whitney-Book" pitchFamily="50" charset="0"/>
                  </a:endParaRPr>
                </a:p>
              </p:txBody>
            </p:sp>
          </p:grpSp>
          <p:sp>
            <p:nvSpPr>
              <p:cNvPr id="31" name="Line 27"/>
              <p:cNvSpPr>
                <a:spLocks noChangeShapeType="1"/>
              </p:cNvSpPr>
              <p:nvPr/>
            </p:nvSpPr>
            <p:spPr bwMode="auto">
              <a:xfrm flipH="1">
                <a:off x="2438191" y="4190442"/>
                <a:ext cx="626" cy="2285442"/>
              </a:xfrm>
              <a:prstGeom prst="line">
                <a:avLst/>
              </a:prstGeom>
              <a:noFill/>
              <a:ln w="19050">
                <a:solidFill>
                  <a:schemeClr val="tx1"/>
                </a:solidFill>
                <a:prstDash val="sysDash"/>
                <a:round/>
                <a:headEnd type="none" w="sm" len="sm"/>
                <a:tailEnd type="none" w="sm" len="sm"/>
              </a:ln>
              <a:effectLst/>
            </p:spPr>
            <p:txBody>
              <a:bodyPr wrap="none" anchor="ctr"/>
              <a:lstStyle/>
              <a:p>
                <a:endParaRPr lang="en-US" sz="2625">
                  <a:latin typeface="Whitney-Book" pitchFamily="50" charset="0"/>
                  <a:cs typeface="Whitney-Book" pitchFamily="50" charset="0"/>
                </a:endParaRPr>
              </a:p>
            </p:txBody>
          </p:sp>
        </p:grpSp>
        <p:sp>
          <p:nvSpPr>
            <p:cNvPr id="35" name="Rectangle 34"/>
            <p:cNvSpPr/>
            <p:nvPr/>
          </p:nvSpPr>
          <p:spPr>
            <a:xfrm>
              <a:off x="2362200" y="4953000"/>
              <a:ext cx="455168" cy="449834"/>
            </a:xfrm>
            <a:prstGeom prst="rect">
              <a:avLst/>
            </a:prstGeom>
          </p:spPr>
          <p:txBody>
            <a:bodyPr wrap="none">
              <a:spAutoFit/>
            </a:bodyPr>
            <a:lstStyle/>
            <a:p>
              <a:pPr>
                <a:lnSpc>
                  <a:spcPts val="2763"/>
                </a:lnSpc>
                <a:tabLst>
                  <a:tab pos="451085" algn="l"/>
                  <a:tab pos="902170" algn="l"/>
                  <a:tab pos="1353255" algn="l"/>
                </a:tabLst>
              </a:pPr>
              <a:r>
                <a:rPr lang="en-US" sz="2000" dirty="0">
                  <a:latin typeface="Whitney-Book" pitchFamily="50" charset="0"/>
                  <a:cs typeface="Whitney-Book" pitchFamily="50" charset="0"/>
                </a:rPr>
                <a:t>L</a:t>
              </a:r>
              <a:r>
                <a:rPr lang="en-US" sz="2000" baseline="-25000" dirty="0">
                  <a:latin typeface="Whitney-Book" pitchFamily="50" charset="0"/>
                  <a:cs typeface="Whitney-Book" pitchFamily="50" charset="0"/>
                </a:rPr>
                <a:t>d</a:t>
              </a:r>
            </a:p>
          </p:txBody>
        </p:sp>
      </p:grpSp>
      <p:sp>
        <p:nvSpPr>
          <p:cNvPr id="37" name="Rectangle 36"/>
          <p:cNvSpPr/>
          <p:nvPr/>
        </p:nvSpPr>
        <p:spPr bwMode="auto">
          <a:xfrm>
            <a:off x="863003" y="3036868"/>
            <a:ext cx="692405" cy="830579"/>
          </a:xfrm>
          <a:prstGeom prst="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Whitney-Book" pitchFamily="50" charset="0"/>
              <a:cs typeface="Whitney-Book" pitchFamily="50" charset="0"/>
            </a:endParaRPr>
          </a:p>
        </p:txBody>
      </p:sp>
      <p:sp>
        <p:nvSpPr>
          <p:cNvPr id="38" name="TextBox 37"/>
          <p:cNvSpPr txBox="1"/>
          <p:nvPr/>
        </p:nvSpPr>
        <p:spPr>
          <a:xfrm>
            <a:off x="1042258" y="3277506"/>
            <a:ext cx="475397" cy="400110"/>
          </a:xfrm>
          <a:prstGeom prst="rect">
            <a:avLst/>
          </a:prstGeom>
          <a:noFill/>
        </p:spPr>
        <p:txBody>
          <a:bodyPr wrap="square" rtlCol="0">
            <a:spAutoFit/>
          </a:bodyPr>
          <a:lstStyle/>
          <a:p>
            <a:r>
              <a:rPr lang="en-US" sz="2000" dirty="0">
                <a:latin typeface="Whitney-Book" pitchFamily="50" charset="0"/>
                <a:cs typeface="Whitney-Book" pitchFamily="50" charset="0"/>
              </a:rPr>
              <a:t>A</a:t>
            </a:r>
          </a:p>
        </p:txBody>
      </p:sp>
      <p:grpSp>
        <p:nvGrpSpPr>
          <p:cNvPr id="39" name="Group 58"/>
          <p:cNvGrpSpPr/>
          <p:nvPr/>
        </p:nvGrpSpPr>
        <p:grpSpPr>
          <a:xfrm>
            <a:off x="1551208" y="3875962"/>
            <a:ext cx="783904" cy="767831"/>
            <a:chOff x="3657598" y="4419600"/>
            <a:chExt cx="685802" cy="533401"/>
          </a:xfrm>
        </p:grpSpPr>
        <p:sp>
          <p:nvSpPr>
            <p:cNvPr id="40" name="Isosceles Triangle 42"/>
            <p:cNvSpPr/>
            <p:nvPr/>
          </p:nvSpPr>
          <p:spPr bwMode="auto">
            <a:xfrm rot="5400000">
              <a:off x="3695698" y="4381500"/>
              <a:ext cx="533401" cy="609601"/>
            </a:xfrm>
            <a:prstGeom prst="triangle">
              <a:avLst>
                <a:gd name="adj" fmla="val 0"/>
              </a:avLst>
            </a:prstGeom>
            <a:solidFill>
              <a:srgbClr val="00AE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Whitney-Book" pitchFamily="50" charset="0"/>
                <a:cs typeface="Whitney-Book" pitchFamily="50" charset="0"/>
              </a:endParaRPr>
            </a:p>
          </p:txBody>
        </p:sp>
        <p:sp>
          <p:nvSpPr>
            <p:cNvPr id="41" name="TextBox 40"/>
            <p:cNvSpPr txBox="1"/>
            <p:nvPr/>
          </p:nvSpPr>
          <p:spPr>
            <a:xfrm>
              <a:off x="3657600" y="4419600"/>
              <a:ext cx="685800" cy="307410"/>
            </a:xfrm>
            <a:prstGeom prst="rect">
              <a:avLst/>
            </a:prstGeom>
            <a:noFill/>
          </p:spPr>
          <p:txBody>
            <a:bodyPr wrap="square" rtlCol="0">
              <a:spAutoFit/>
            </a:bodyPr>
            <a:lstStyle/>
            <a:p>
              <a:r>
                <a:rPr lang="en-US" sz="2000" dirty="0">
                  <a:latin typeface="Whitney-Book" pitchFamily="50" charset="0"/>
                  <a:cs typeface="Whitney-Book" pitchFamily="50" charset="0"/>
                </a:rPr>
                <a:t>C</a:t>
              </a:r>
            </a:p>
          </p:txBody>
        </p:sp>
      </p:grpSp>
      <p:grpSp>
        <p:nvGrpSpPr>
          <p:cNvPr id="42" name="Group 57"/>
          <p:cNvGrpSpPr/>
          <p:nvPr/>
        </p:nvGrpSpPr>
        <p:grpSpPr>
          <a:xfrm>
            <a:off x="1557369" y="3081211"/>
            <a:ext cx="838965" cy="806087"/>
            <a:chOff x="3650510" y="3962400"/>
            <a:chExt cx="685800" cy="477260"/>
          </a:xfrm>
        </p:grpSpPr>
        <p:sp>
          <p:nvSpPr>
            <p:cNvPr id="43" name="Isosceles Triangle 39"/>
            <p:cNvSpPr/>
            <p:nvPr/>
          </p:nvSpPr>
          <p:spPr bwMode="auto">
            <a:xfrm>
              <a:off x="3657600" y="3962400"/>
              <a:ext cx="609600" cy="457200"/>
            </a:xfrm>
            <a:prstGeom prst="triangle">
              <a:avLst>
                <a:gd name="adj" fmla="val 0"/>
              </a:avLst>
            </a:prstGeom>
            <a:solidFill>
              <a:schemeClr val="bg1">
                <a:lumMod val="7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Whitney-Book" pitchFamily="50" charset="0"/>
                <a:cs typeface="Whitney-Book" pitchFamily="50" charset="0"/>
              </a:endParaRPr>
            </a:p>
          </p:txBody>
        </p:sp>
        <p:sp>
          <p:nvSpPr>
            <p:cNvPr id="44" name="TextBox 43"/>
            <p:cNvSpPr txBox="1"/>
            <p:nvPr/>
          </p:nvSpPr>
          <p:spPr>
            <a:xfrm>
              <a:off x="3650510" y="4039550"/>
              <a:ext cx="685800" cy="400110"/>
            </a:xfrm>
            <a:prstGeom prst="rect">
              <a:avLst/>
            </a:prstGeom>
            <a:noFill/>
          </p:spPr>
          <p:txBody>
            <a:bodyPr wrap="square" rtlCol="0">
              <a:spAutoFit/>
            </a:bodyPr>
            <a:lstStyle/>
            <a:p>
              <a:r>
                <a:rPr lang="en-US" sz="2000" dirty="0">
                  <a:latin typeface="Whitney-Book" pitchFamily="50" charset="0"/>
                  <a:cs typeface="Whitney-Book" pitchFamily="50" charset="0"/>
                </a:rPr>
                <a:t>B</a:t>
              </a:r>
            </a:p>
          </p:txBody>
        </p:sp>
      </p:grpSp>
    </p:spTree>
    <p:custDataLst>
      <p:tags r:id="rId1"/>
    </p:custDataLst>
    <p:extLst>
      <p:ext uri="{BB962C8B-B14F-4D97-AF65-F5344CB8AC3E}">
        <p14:creationId xmlns:p14="http://schemas.microsoft.com/office/powerpoint/2010/main" val="3839123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blinds(horizontal)">
                                      <p:cBhvr>
                                        <p:cTn id="11" dur="500"/>
                                        <p:tgtEl>
                                          <p:spTgt spid="3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38940">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8940">
                                            <p:txEl>
                                              <p:pRg st="1" end="1"/>
                                            </p:txEl>
                                          </p:spTgt>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38940">
                                            <p:txEl>
                                              <p:pRg st="2" end="2"/>
                                            </p:txEl>
                                          </p:spTgt>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8940">
                                            <p:txEl>
                                              <p:pRg st="3" end="3"/>
                                            </p:txEl>
                                          </p:spTgt>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38940">
                                            <p:txEl>
                                              <p:pRg st="4" end="4"/>
                                            </p:txEl>
                                          </p:spTgt>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3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8940">
                                            <p:txEl>
                                              <p:pRg st="5" end="5"/>
                                            </p:txEl>
                                          </p:spTgt>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38940">
                                            <p:txEl>
                                              <p:pRg st="6" end="6"/>
                                            </p:txEl>
                                          </p:spTgt>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38940">
                                            <p:txEl>
                                              <p:pRg st="7" end="7"/>
                                            </p:txEl>
                                          </p:spTgt>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4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38940">
                                            <p:txEl>
                                              <p:pRg st="8" end="8"/>
                                            </p:txEl>
                                          </p:spTgt>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3894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40" grpId="0" uiExpand="1" build="p"/>
      <p:bldP spid="37" grpId="0" animBg="1"/>
      <p:bldP spid="3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Guess the Rent!</a:t>
            </a:r>
          </a:p>
        </p:txBody>
      </p:sp>
      <p:sp>
        <p:nvSpPr>
          <p:cNvPr id="3" name="Text Placeholder 2">
            <a:extLst>
              <a:ext uri="{FF2B5EF4-FFF2-40B4-BE49-F238E27FC236}">
                <a16:creationId xmlns:a16="http://schemas.microsoft.com/office/drawing/2014/main" id="{0FB0F666-D742-4D12-B9A7-7C87DE9B75B3}"/>
              </a:ext>
            </a:extLst>
          </p:cNvPr>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fld id="{DBC38028-5B1C-49D3-BF22-2CE9385E6DA2}" type="slidenum">
              <a:rPr lang="en-US" smtClean="0"/>
              <a:pPr/>
              <a:t>61</a:t>
            </a:fld>
            <a:endParaRPr lang="en-US" dirty="0"/>
          </a:p>
        </p:txBody>
      </p:sp>
      <p:sp>
        <p:nvSpPr>
          <p:cNvPr id="5" name="Content Placeholder 2"/>
          <p:cNvSpPr txBox="1">
            <a:spLocks/>
          </p:cNvSpPr>
          <p:nvPr/>
        </p:nvSpPr>
        <p:spPr bwMode="auto">
          <a:xfrm>
            <a:off x="5572125" y="1657876"/>
            <a:ext cx="3323206" cy="4880890"/>
          </a:xfrm>
          <a:prstGeom prst="rect">
            <a:avLst/>
          </a:prstGeom>
          <a:noFill/>
          <a:ln w="12700">
            <a:noFill/>
            <a:miter lim="800000"/>
            <a:headEnd/>
            <a:tailEnd/>
          </a:ln>
        </p:spPr>
        <p:txBody>
          <a:bodyPr vert="horz" wrap="square" lIns="90481" tIns="44447" rIns="90481" bIns="44447" numCol="1" anchor="t" anchorCtr="0" compatLnSpc="1">
            <a:prstTxWarp prst="textNoShape">
              <a:avLst/>
            </a:prstTxWarp>
            <a:normAutofit/>
          </a:bodyPr>
          <a:lstStyle>
            <a:lvl1pPr marL="365125" indent="-365125" algn="l" defTabSz="974725" rtl="0" eaLnBrk="0" fontAlgn="base" hangingPunct="0">
              <a:spcBef>
                <a:spcPct val="20000"/>
              </a:spcBef>
              <a:spcAft>
                <a:spcPct val="0"/>
              </a:spcAft>
              <a:buClr>
                <a:schemeClr val="bg1"/>
              </a:buClr>
              <a:buChar char="•"/>
              <a:defRPr sz="3400">
                <a:solidFill>
                  <a:schemeClr val="bg1"/>
                </a:solidFill>
                <a:latin typeface="Times New Roman" pitchFamily="18" charset="0"/>
                <a:ea typeface="+mn-ea"/>
                <a:cs typeface="Times New Roman" pitchFamily="18" charset="0"/>
              </a:defRPr>
            </a:lvl1pPr>
            <a:lvl2pPr marL="792163" indent="-304800" algn="l" defTabSz="974725" rtl="0" eaLnBrk="0" fontAlgn="base" hangingPunct="0">
              <a:spcBef>
                <a:spcPct val="20000"/>
              </a:spcBef>
              <a:spcAft>
                <a:spcPct val="0"/>
              </a:spcAft>
              <a:buClr>
                <a:schemeClr val="bg1"/>
              </a:buClr>
              <a:buChar char="•"/>
              <a:defRPr sz="3000">
                <a:solidFill>
                  <a:schemeClr val="bg1"/>
                </a:solidFill>
                <a:latin typeface="Times New Roman" pitchFamily="18" charset="0"/>
                <a:cs typeface="Times New Roman" pitchFamily="18" charset="0"/>
              </a:defRPr>
            </a:lvl2pPr>
            <a:lvl3pPr marL="1219200" indent="-244475" algn="l" defTabSz="974725" rtl="0" eaLnBrk="0" fontAlgn="base" hangingPunct="0">
              <a:spcBef>
                <a:spcPct val="20000"/>
              </a:spcBef>
              <a:spcAft>
                <a:spcPct val="0"/>
              </a:spcAft>
              <a:buClr>
                <a:schemeClr val="bg1"/>
              </a:buClr>
              <a:buChar char="•"/>
              <a:defRPr sz="2600">
                <a:solidFill>
                  <a:schemeClr val="bg1"/>
                </a:solidFill>
                <a:latin typeface="Times New Roman" pitchFamily="18" charset="0"/>
                <a:cs typeface="Times New Roman" pitchFamily="18" charset="0"/>
              </a:defRPr>
            </a:lvl3pPr>
            <a:lvl4pPr marL="1706563" indent="-242888" algn="l" defTabSz="974725" rtl="0" eaLnBrk="0" fontAlgn="base" hangingPunct="0">
              <a:spcBef>
                <a:spcPct val="20000"/>
              </a:spcBef>
              <a:spcAft>
                <a:spcPct val="0"/>
              </a:spcAft>
              <a:buClr>
                <a:schemeClr val="bg1"/>
              </a:buClr>
              <a:buChar char="•"/>
              <a:defRPr sz="2100">
                <a:solidFill>
                  <a:schemeClr val="bg1"/>
                </a:solidFill>
                <a:latin typeface="Times New Roman" pitchFamily="18" charset="0"/>
                <a:cs typeface="Times New Roman" pitchFamily="18" charset="0"/>
              </a:defRPr>
            </a:lvl4pPr>
            <a:lvl5pPr marL="2193925" indent="-242888" algn="l" defTabSz="974725" rtl="0" eaLnBrk="0" fontAlgn="base" hangingPunct="0">
              <a:spcBef>
                <a:spcPct val="20000"/>
              </a:spcBef>
              <a:spcAft>
                <a:spcPct val="0"/>
              </a:spcAft>
              <a:buClr>
                <a:schemeClr val="bg1"/>
              </a:buClr>
              <a:buChar char="•"/>
              <a:defRPr sz="2100">
                <a:solidFill>
                  <a:schemeClr val="bg1"/>
                </a:solidFill>
                <a:latin typeface="Times New Roman" pitchFamily="18" charset="0"/>
                <a:cs typeface="Times New Roman" pitchFamily="18" charset="0"/>
              </a:defRPr>
            </a:lvl5pPr>
            <a:lvl6pPr marL="2651125" indent="-242888" algn="l" defTabSz="974725" rtl="0" eaLnBrk="0" fontAlgn="base" hangingPunct="0">
              <a:spcBef>
                <a:spcPct val="20000"/>
              </a:spcBef>
              <a:spcAft>
                <a:spcPct val="0"/>
              </a:spcAft>
              <a:buClr>
                <a:schemeClr val="tx2"/>
              </a:buClr>
              <a:buChar char="•"/>
              <a:defRPr sz="2100">
                <a:solidFill>
                  <a:schemeClr val="tx1"/>
                </a:solidFill>
                <a:latin typeface="+mn-lt"/>
              </a:defRPr>
            </a:lvl6pPr>
            <a:lvl7pPr marL="3108325" indent="-242888" algn="l" defTabSz="974725" rtl="0" eaLnBrk="0" fontAlgn="base" hangingPunct="0">
              <a:spcBef>
                <a:spcPct val="20000"/>
              </a:spcBef>
              <a:spcAft>
                <a:spcPct val="0"/>
              </a:spcAft>
              <a:buClr>
                <a:schemeClr val="tx2"/>
              </a:buClr>
              <a:buChar char="•"/>
              <a:defRPr sz="2100">
                <a:solidFill>
                  <a:schemeClr val="tx1"/>
                </a:solidFill>
                <a:latin typeface="+mn-lt"/>
              </a:defRPr>
            </a:lvl7pPr>
            <a:lvl8pPr marL="3565525" indent="-242888" algn="l" defTabSz="974725" rtl="0" eaLnBrk="0" fontAlgn="base" hangingPunct="0">
              <a:spcBef>
                <a:spcPct val="20000"/>
              </a:spcBef>
              <a:spcAft>
                <a:spcPct val="0"/>
              </a:spcAft>
              <a:buClr>
                <a:schemeClr val="tx2"/>
              </a:buClr>
              <a:buChar char="•"/>
              <a:defRPr sz="2100">
                <a:solidFill>
                  <a:schemeClr val="tx1"/>
                </a:solidFill>
                <a:latin typeface="+mn-lt"/>
              </a:defRPr>
            </a:lvl8pPr>
            <a:lvl9pPr marL="4022725" indent="-242888" algn="l" defTabSz="974725" rtl="0" eaLnBrk="0" fontAlgn="base" hangingPunct="0">
              <a:spcBef>
                <a:spcPct val="20000"/>
              </a:spcBef>
              <a:spcAft>
                <a:spcPct val="0"/>
              </a:spcAft>
              <a:buClr>
                <a:schemeClr val="tx2"/>
              </a:buClr>
              <a:buChar char="•"/>
              <a:defRPr sz="2100">
                <a:solidFill>
                  <a:schemeClr val="tx1"/>
                </a:solidFill>
                <a:latin typeface="+mn-lt"/>
              </a:defRPr>
            </a:lvl9pPr>
          </a:lstStyle>
          <a:p>
            <a:pPr marL="0" indent="0">
              <a:buNone/>
            </a:pPr>
            <a:r>
              <a:rPr lang="en-US" sz="2438" kern="0" dirty="0">
                <a:solidFill>
                  <a:schemeClr val="tx2">
                    <a:lumMod val="75000"/>
                  </a:schemeClr>
                </a:solidFill>
                <a:latin typeface="Whitney Book" pitchFamily="50" charset="0"/>
              </a:rPr>
              <a:t>1 Bed, 1 Bath.</a:t>
            </a:r>
          </a:p>
          <a:p>
            <a:pPr marL="0" indent="0">
              <a:buNone/>
            </a:pPr>
            <a:r>
              <a:rPr lang="en-US" sz="2438" kern="0" dirty="0">
                <a:solidFill>
                  <a:schemeClr val="tx2">
                    <a:lumMod val="75000"/>
                  </a:schemeClr>
                </a:solidFill>
                <a:latin typeface="Whitney Book" pitchFamily="50" charset="0"/>
              </a:rPr>
              <a:t>900 </a:t>
            </a:r>
            <a:r>
              <a:rPr lang="en-US" sz="2438" kern="0" dirty="0" err="1">
                <a:solidFill>
                  <a:schemeClr val="tx2">
                    <a:lumMod val="75000"/>
                  </a:schemeClr>
                </a:solidFill>
                <a:latin typeface="Whitney Book" pitchFamily="50" charset="0"/>
              </a:rPr>
              <a:t>sqft</a:t>
            </a:r>
            <a:r>
              <a:rPr lang="en-US" sz="2438" kern="0" dirty="0">
                <a:solidFill>
                  <a:schemeClr val="tx2">
                    <a:lumMod val="75000"/>
                  </a:schemeClr>
                </a:solidFill>
                <a:latin typeface="Whitney Book" pitchFamily="50" charset="0"/>
              </a:rPr>
              <a:t>.</a:t>
            </a:r>
          </a:p>
          <a:p>
            <a:pPr marL="0" indent="0">
              <a:buNone/>
            </a:pPr>
            <a:r>
              <a:rPr lang="en-US" sz="2438" kern="0" dirty="0">
                <a:solidFill>
                  <a:schemeClr val="tx2">
                    <a:lumMod val="75000"/>
                  </a:schemeClr>
                </a:solidFill>
                <a:latin typeface="Whitney Book" pitchFamily="50" charset="0"/>
              </a:rPr>
              <a:t>401 San Vicente Blvd., Santa Monica.</a:t>
            </a:r>
          </a:p>
          <a:p>
            <a:pPr marL="487363" lvl="1" indent="0">
              <a:buNone/>
            </a:pPr>
            <a:r>
              <a:rPr lang="en-US" sz="2250" kern="0" dirty="0">
                <a:solidFill>
                  <a:schemeClr val="tx2">
                    <a:lumMod val="75000"/>
                  </a:schemeClr>
                </a:solidFill>
                <a:latin typeface="Whitney Book" pitchFamily="50" charset="0"/>
              </a:rPr>
              <a:t>5-minute walk to the beach</a:t>
            </a:r>
          </a:p>
          <a:p>
            <a:pPr marL="487363" lvl="1" indent="0">
              <a:buNone/>
            </a:pPr>
            <a:r>
              <a:rPr lang="en-US" sz="2250" kern="0" dirty="0">
                <a:solidFill>
                  <a:schemeClr val="tx2">
                    <a:lumMod val="75000"/>
                  </a:schemeClr>
                </a:solidFill>
                <a:latin typeface="Whitney Book" pitchFamily="50" charset="0"/>
              </a:rPr>
              <a:t>Best public school district in West LA</a:t>
            </a:r>
          </a:p>
          <a:p>
            <a:endParaRPr lang="en-US" sz="2438" kern="0" dirty="0">
              <a:solidFill>
                <a:schemeClr val="tx2">
                  <a:lumMod val="75000"/>
                </a:schemeClr>
              </a:solidFill>
              <a:latin typeface="Whitney Book" pitchFamily="50" charset="0"/>
            </a:endParaRPr>
          </a:p>
          <a:p>
            <a:endParaRPr lang="en-US" sz="2438" kern="0" dirty="0">
              <a:solidFill>
                <a:schemeClr val="tx2">
                  <a:lumMod val="75000"/>
                </a:schemeClr>
              </a:solidFill>
              <a:latin typeface="Whitney Book" pitchFamily="50" charset="0"/>
            </a:endParaRPr>
          </a:p>
        </p:txBody>
      </p:sp>
      <p:pic>
        <p:nvPicPr>
          <p:cNvPr id="6" name="Picture 5"/>
          <p:cNvPicPr>
            <a:picLocks noChangeAspect="1"/>
          </p:cNvPicPr>
          <p:nvPr/>
        </p:nvPicPr>
        <p:blipFill>
          <a:blip r:embed="rId4"/>
          <a:stretch>
            <a:fillRect/>
          </a:stretch>
        </p:blipFill>
        <p:spPr>
          <a:xfrm>
            <a:off x="119125" y="1451138"/>
            <a:ext cx="5044970" cy="4049550"/>
          </a:xfrm>
          <a:prstGeom prst="rect">
            <a:avLst/>
          </a:prstGeom>
        </p:spPr>
      </p:pic>
      <p:pic>
        <p:nvPicPr>
          <p:cNvPr id="7" name="Picture 6">
            <a:extLst>
              <a:ext uri="{FF2B5EF4-FFF2-40B4-BE49-F238E27FC236}">
                <a16:creationId xmlns:a16="http://schemas.microsoft.com/office/drawing/2014/main" id="{1B8677FB-D624-4EA0-8A4A-A9578EC03F78}"/>
              </a:ext>
            </a:extLst>
          </p:cNvPr>
          <p:cNvPicPr>
            <a:picLocks noChangeAspect="1"/>
          </p:cNvPicPr>
          <p:nvPr/>
        </p:nvPicPr>
        <p:blipFill>
          <a:blip r:embed="rId5"/>
          <a:stretch>
            <a:fillRect/>
          </a:stretch>
        </p:blipFill>
        <p:spPr>
          <a:xfrm>
            <a:off x="119124" y="1372842"/>
            <a:ext cx="5169947" cy="4387220"/>
          </a:xfrm>
          <a:prstGeom prst="rect">
            <a:avLst/>
          </a:prstGeom>
        </p:spPr>
      </p:pic>
    </p:spTree>
    <p:custDataLst>
      <p:tags r:id="rId1"/>
    </p:custDataLst>
    <p:extLst>
      <p:ext uri="{BB962C8B-B14F-4D97-AF65-F5344CB8AC3E}">
        <p14:creationId xmlns:p14="http://schemas.microsoft.com/office/powerpoint/2010/main" val="33781071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2EBE0E-0099-4C7E-8851-0AA425C54851}"/>
              </a:ext>
            </a:extLst>
          </p:cNvPr>
          <p:cNvPicPr>
            <a:picLocks/>
          </p:cNvPicPr>
          <p:nvPr>
            <p:custDataLst>
              <p:tags r:id="rId1"/>
            </p:custDataLst>
          </p:nvPr>
        </p:nvPicPr>
        <p:blipFill>
          <a:blip r:embed="rId4"/>
          <a:stretch>
            <a:fillRect/>
          </a:stretch>
        </p:blipFill>
        <p:spPr>
          <a:xfrm>
            <a:off x="190500" y="190500"/>
            <a:ext cx="8763000" cy="6477000"/>
          </a:xfrm>
          <a:prstGeom prst="rect">
            <a:avLst/>
          </a:prstGeom>
        </p:spPr>
      </p:pic>
    </p:spTree>
    <p:extLst>
      <p:ext uri="{BB962C8B-B14F-4D97-AF65-F5344CB8AC3E}">
        <p14:creationId xmlns:p14="http://schemas.microsoft.com/office/powerpoint/2010/main" val="3382170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750" dirty="0">
                <a:latin typeface="Whitney-Medium" pitchFamily="50" charset="0"/>
                <a:cs typeface="Whitney-Medium" pitchFamily="50" charset="0"/>
              </a:rPr>
              <a:t>the rent is…</a:t>
            </a:r>
            <a:endParaRPr lang="en-US" dirty="0">
              <a:latin typeface="Whitney-Medium" pitchFamily="50" charset="0"/>
              <a:cs typeface="Whitney-Medium" pitchFamily="50" charset="0"/>
            </a:endParaRPr>
          </a:p>
        </p:txBody>
      </p:sp>
      <p:sp>
        <p:nvSpPr>
          <p:cNvPr id="9" name="Text Placeholder 8">
            <a:extLst>
              <a:ext uri="{FF2B5EF4-FFF2-40B4-BE49-F238E27FC236}">
                <a16:creationId xmlns:a16="http://schemas.microsoft.com/office/drawing/2014/main" id="{2C8C8545-4588-4556-8D07-CDD36F3DBE9F}"/>
              </a:ext>
            </a:extLst>
          </p:cNvPr>
          <p:cNvSpPr>
            <a:spLocks noGrp="1"/>
          </p:cNvSpPr>
          <p:nvPr>
            <p:ph type="body" idx="1"/>
          </p:nvPr>
        </p:nvSpPr>
        <p:spPr/>
        <p:txBody>
          <a:bodyPr/>
          <a:lstStyle/>
          <a:p>
            <a:endParaRPr lang="en-US"/>
          </a:p>
        </p:txBody>
      </p:sp>
      <p:grpSp>
        <p:nvGrpSpPr>
          <p:cNvPr id="6" name="Group 5">
            <a:extLst>
              <a:ext uri="{FF2B5EF4-FFF2-40B4-BE49-F238E27FC236}">
                <a16:creationId xmlns:a16="http://schemas.microsoft.com/office/drawing/2014/main" id="{DB276480-AF4D-493A-9948-CEC34F3E6228}"/>
              </a:ext>
            </a:extLst>
          </p:cNvPr>
          <p:cNvGrpSpPr/>
          <p:nvPr/>
        </p:nvGrpSpPr>
        <p:grpSpPr>
          <a:xfrm>
            <a:off x="380392" y="1426115"/>
            <a:ext cx="8287966" cy="4375983"/>
            <a:chOff x="242110" y="1121315"/>
            <a:chExt cx="8287966" cy="4375983"/>
          </a:xfrm>
        </p:grpSpPr>
        <p:pic>
          <p:nvPicPr>
            <p:cNvPr id="3" name="Picture 2">
              <a:extLst>
                <a:ext uri="{FF2B5EF4-FFF2-40B4-BE49-F238E27FC236}">
                  <a16:creationId xmlns:a16="http://schemas.microsoft.com/office/drawing/2014/main" id="{A2BA5255-C857-42EC-9879-9B41C45F08B6}"/>
                </a:ext>
              </a:extLst>
            </p:cNvPr>
            <p:cNvPicPr>
              <a:picLocks noChangeAspect="1"/>
            </p:cNvPicPr>
            <p:nvPr/>
          </p:nvPicPr>
          <p:blipFill>
            <a:blip r:embed="rId4"/>
            <a:stretch>
              <a:fillRect/>
            </a:stretch>
          </p:blipFill>
          <p:spPr>
            <a:xfrm>
              <a:off x="285750" y="1121315"/>
              <a:ext cx="8244326" cy="1417724"/>
            </a:xfrm>
            <a:prstGeom prst="rect">
              <a:avLst/>
            </a:prstGeom>
          </p:spPr>
        </p:pic>
        <p:pic>
          <p:nvPicPr>
            <p:cNvPr id="4" name="Picture 3">
              <a:extLst>
                <a:ext uri="{FF2B5EF4-FFF2-40B4-BE49-F238E27FC236}">
                  <a16:creationId xmlns:a16="http://schemas.microsoft.com/office/drawing/2014/main" id="{2BFB3C77-56F3-40D1-B6E8-E57A647330D9}"/>
                </a:ext>
              </a:extLst>
            </p:cNvPr>
            <p:cNvPicPr>
              <a:picLocks noChangeAspect="1"/>
            </p:cNvPicPr>
            <p:nvPr/>
          </p:nvPicPr>
          <p:blipFill>
            <a:blip r:embed="rId5"/>
            <a:stretch>
              <a:fillRect/>
            </a:stretch>
          </p:blipFill>
          <p:spPr>
            <a:xfrm>
              <a:off x="242110" y="2453695"/>
              <a:ext cx="8287966" cy="3043603"/>
            </a:xfrm>
            <a:prstGeom prst="rect">
              <a:avLst/>
            </a:prstGeom>
          </p:spPr>
        </p:pic>
      </p:grpSp>
      <p:sp>
        <p:nvSpPr>
          <p:cNvPr id="8" name="Rectangle 7">
            <a:extLst>
              <a:ext uri="{FF2B5EF4-FFF2-40B4-BE49-F238E27FC236}">
                <a16:creationId xmlns:a16="http://schemas.microsoft.com/office/drawing/2014/main" id="{6A419176-5D1A-4CDA-9E4F-06CFCADB35DC}"/>
              </a:ext>
            </a:extLst>
          </p:cNvPr>
          <p:cNvSpPr/>
          <p:nvPr/>
        </p:nvSpPr>
        <p:spPr>
          <a:xfrm>
            <a:off x="6419654" y="5891309"/>
            <a:ext cx="2647475" cy="276999"/>
          </a:xfrm>
          <a:prstGeom prst="rect">
            <a:avLst/>
          </a:prstGeom>
          <a:noFill/>
          <a:ln>
            <a:noFill/>
          </a:ln>
        </p:spPr>
        <p:txBody>
          <a:bodyPr wrap="square">
            <a:spAutoFit/>
          </a:bodyPr>
          <a:lstStyle/>
          <a:p>
            <a:pPr lvl="1"/>
            <a:r>
              <a:rPr lang="en-US" sz="1200" dirty="0">
                <a:latin typeface="Whitney Book" pitchFamily="50" charset="0"/>
                <a:cs typeface="Whitney Book" pitchFamily="50" charset="0"/>
              </a:rPr>
              <a:t>(rent checked on 10/22/2025)</a:t>
            </a:r>
          </a:p>
        </p:txBody>
      </p:sp>
      <p:pic>
        <p:nvPicPr>
          <p:cNvPr id="10" name="Picture 9">
            <a:extLst>
              <a:ext uri="{FF2B5EF4-FFF2-40B4-BE49-F238E27FC236}">
                <a16:creationId xmlns:a16="http://schemas.microsoft.com/office/drawing/2014/main" id="{F447C522-370D-4AC2-BBC7-812B64116F02}"/>
              </a:ext>
            </a:extLst>
          </p:cNvPr>
          <p:cNvPicPr>
            <a:picLocks noChangeAspect="1"/>
          </p:cNvPicPr>
          <p:nvPr/>
        </p:nvPicPr>
        <p:blipFill>
          <a:blip r:embed="rId6"/>
          <a:stretch>
            <a:fillRect/>
          </a:stretch>
        </p:blipFill>
        <p:spPr>
          <a:xfrm>
            <a:off x="4193118" y="3590208"/>
            <a:ext cx="4781657" cy="2170814"/>
          </a:xfrm>
          <a:prstGeom prst="rect">
            <a:avLst/>
          </a:prstGeom>
        </p:spPr>
      </p:pic>
      <p:sp>
        <p:nvSpPr>
          <p:cNvPr id="7" name="Rectangle 6">
            <a:extLst>
              <a:ext uri="{FF2B5EF4-FFF2-40B4-BE49-F238E27FC236}">
                <a16:creationId xmlns:a16="http://schemas.microsoft.com/office/drawing/2014/main" id="{7D238794-A75D-480A-9ECC-20AC9E3C83DD}"/>
              </a:ext>
            </a:extLst>
          </p:cNvPr>
          <p:cNvSpPr/>
          <p:nvPr/>
        </p:nvSpPr>
        <p:spPr>
          <a:xfrm>
            <a:off x="4279391" y="4632960"/>
            <a:ext cx="4685499" cy="597408"/>
          </a:xfrm>
          <a:prstGeom prst="rect">
            <a:avLst/>
          </a:prstGeom>
          <a:noFill/>
          <a:ln w="444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8936951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56"/>
          <p:cNvGrpSpPr/>
          <p:nvPr/>
        </p:nvGrpSpPr>
        <p:grpSpPr>
          <a:xfrm>
            <a:off x="875361" y="3831648"/>
            <a:ext cx="950794" cy="680017"/>
            <a:chOff x="2398764" y="5214407"/>
            <a:chExt cx="1371600" cy="533400"/>
          </a:xfrm>
        </p:grpSpPr>
        <p:sp>
          <p:nvSpPr>
            <p:cNvPr id="37" name="Rectangle 36"/>
            <p:cNvSpPr/>
            <p:nvPr/>
          </p:nvSpPr>
          <p:spPr bwMode="auto">
            <a:xfrm>
              <a:off x="2398764" y="5214407"/>
              <a:ext cx="1371600" cy="533400"/>
            </a:xfrm>
            <a:prstGeom prst="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Whitney-Book" pitchFamily="50" charset="0"/>
                <a:cs typeface="Whitney-Book" pitchFamily="50" charset="0"/>
              </a:endParaRPr>
            </a:p>
          </p:txBody>
        </p:sp>
        <p:sp>
          <p:nvSpPr>
            <p:cNvPr id="38" name="TextBox 37"/>
            <p:cNvSpPr txBox="1"/>
            <p:nvPr/>
          </p:nvSpPr>
          <p:spPr>
            <a:xfrm>
              <a:off x="2862226" y="5264117"/>
              <a:ext cx="685800" cy="313843"/>
            </a:xfrm>
            <a:prstGeom prst="rect">
              <a:avLst/>
            </a:prstGeom>
            <a:noFill/>
          </p:spPr>
          <p:txBody>
            <a:bodyPr wrap="square" rtlCol="0">
              <a:spAutoFit/>
            </a:bodyPr>
            <a:lstStyle/>
            <a:p>
              <a:r>
                <a:rPr lang="en-US" sz="2000" dirty="0">
                  <a:latin typeface="Whitney-Book" pitchFamily="50" charset="0"/>
                  <a:cs typeface="Whitney-Book" pitchFamily="50" charset="0"/>
                </a:rPr>
                <a:t>A</a:t>
              </a:r>
            </a:p>
          </p:txBody>
        </p:sp>
      </p:grpSp>
      <p:grpSp>
        <p:nvGrpSpPr>
          <p:cNvPr id="39" name="Group 57"/>
          <p:cNvGrpSpPr/>
          <p:nvPr/>
        </p:nvGrpSpPr>
        <p:grpSpPr>
          <a:xfrm>
            <a:off x="1818153" y="3213758"/>
            <a:ext cx="688003" cy="637093"/>
            <a:chOff x="3650510" y="3962400"/>
            <a:chExt cx="685800" cy="477260"/>
          </a:xfrm>
        </p:grpSpPr>
        <p:sp>
          <p:nvSpPr>
            <p:cNvPr id="40" name="Isosceles Triangle 39"/>
            <p:cNvSpPr/>
            <p:nvPr/>
          </p:nvSpPr>
          <p:spPr bwMode="auto">
            <a:xfrm>
              <a:off x="3657600" y="3962400"/>
              <a:ext cx="609600" cy="457200"/>
            </a:xfrm>
            <a:prstGeom prst="triangle">
              <a:avLst>
                <a:gd name="adj" fmla="val 0"/>
              </a:avLst>
            </a:prstGeom>
            <a:solidFill>
              <a:schemeClr val="bg1">
                <a:lumMod val="7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Whitney-Book" pitchFamily="50" charset="0"/>
                <a:cs typeface="Whitney-Book" pitchFamily="50" charset="0"/>
              </a:endParaRPr>
            </a:p>
          </p:txBody>
        </p:sp>
        <p:sp>
          <p:nvSpPr>
            <p:cNvPr id="41" name="TextBox 40"/>
            <p:cNvSpPr txBox="1"/>
            <p:nvPr/>
          </p:nvSpPr>
          <p:spPr>
            <a:xfrm>
              <a:off x="3650510" y="4039550"/>
              <a:ext cx="685800" cy="400110"/>
            </a:xfrm>
            <a:prstGeom prst="rect">
              <a:avLst/>
            </a:prstGeom>
            <a:noFill/>
          </p:spPr>
          <p:txBody>
            <a:bodyPr wrap="square" rtlCol="0">
              <a:spAutoFit/>
            </a:bodyPr>
            <a:lstStyle/>
            <a:p>
              <a:r>
                <a:rPr lang="en-US" sz="2000" dirty="0">
                  <a:latin typeface="Whitney-Book" pitchFamily="50" charset="0"/>
                  <a:cs typeface="Whitney-Book" pitchFamily="50" charset="0"/>
                </a:rPr>
                <a:t>B</a:t>
              </a:r>
            </a:p>
          </p:txBody>
        </p:sp>
      </p:grpSp>
      <p:grpSp>
        <p:nvGrpSpPr>
          <p:cNvPr id="42" name="Group 58"/>
          <p:cNvGrpSpPr/>
          <p:nvPr/>
        </p:nvGrpSpPr>
        <p:grpSpPr>
          <a:xfrm>
            <a:off x="1825251" y="3830791"/>
            <a:ext cx="687995" cy="694249"/>
            <a:chOff x="3657598" y="4419600"/>
            <a:chExt cx="685802" cy="533401"/>
          </a:xfrm>
        </p:grpSpPr>
        <p:sp>
          <p:nvSpPr>
            <p:cNvPr id="43" name="Isosceles Triangle 42"/>
            <p:cNvSpPr/>
            <p:nvPr/>
          </p:nvSpPr>
          <p:spPr bwMode="auto">
            <a:xfrm rot="5400000">
              <a:off x="3695698" y="4381500"/>
              <a:ext cx="533401" cy="609601"/>
            </a:xfrm>
            <a:prstGeom prst="triangle">
              <a:avLst>
                <a:gd name="adj" fmla="val 0"/>
              </a:avLst>
            </a:prstGeom>
            <a:solidFill>
              <a:srgbClr val="00AE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Whitney-Book" pitchFamily="50" charset="0"/>
                <a:cs typeface="Whitney-Book" pitchFamily="50" charset="0"/>
              </a:endParaRPr>
            </a:p>
          </p:txBody>
        </p:sp>
        <p:sp>
          <p:nvSpPr>
            <p:cNvPr id="44" name="TextBox 43"/>
            <p:cNvSpPr txBox="1"/>
            <p:nvPr/>
          </p:nvSpPr>
          <p:spPr>
            <a:xfrm>
              <a:off x="3657600" y="4419600"/>
              <a:ext cx="685800" cy="307410"/>
            </a:xfrm>
            <a:prstGeom prst="rect">
              <a:avLst/>
            </a:prstGeom>
            <a:noFill/>
          </p:spPr>
          <p:txBody>
            <a:bodyPr wrap="square" rtlCol="0">
              <a:spAutoFit/>
            </a:bodyPr>
            <a:lstStyle/>
            <a:p>
              <a:r>
                <a:rPr lang="en-US" sz="2000" dirty="0">
                  <a:latin typeface="Whitney-Book" pitchFamily="50" charset="0"/>
                  <a:cs typeface="Whitney-Book" pitchFamily="50" charset="0"/>
                </a:rPr>
                <a:t>C</a:t>
              </a:r>
            </a:p>
          </p:txBody>
        </p:sp>
      </p:grpSp>
      <p:sp>
        <p:nvSpPr>
          <p:cNvPr id="2" name="Title 1"/>
          <p:cNvSpPr>
            <a:spLocks noGrp="1"/>
          </p:cNvSpPr>
          <p:nvPr>
            <p:ph type="title"/>
          </p:nvPr>
        </p:nvSpPr>
        <p:spPr/>
        <p:txBody>
          <a:bodyPr>
            <a:normAutofit/>
          </a:bodyPr>
          <a:lstStyle/>
          <a:p>
            <a:r>
              <a:rPr lang="en-US" dirty="0"/>
              <a:t>Price ceiling: Rent control</a:t>
            </a:r>
          </a:p>
        </p:txBody>
      </p:sp>
      <p:sp>
        <p:nvSpPr>
          <p:cNvPr id="3" name="Content Placeholder 2"/>
          <p:cNvSpPr>
            <a:spLocks noGrp="1"/>
          </p:cNvSpPr>
          <p:nvPr>
            <p:ph type="body" idx="1"/>
          </p:nvPr>
        </p:nvSpPr>
        <p:spPr>
          <a:xfrm>
            <a:off x="5009514" y="1136483"/>
            <a:ext cx="4173946" cy="4894629"/>
          </a:xfrm>
        </p:spPr>
        <p:txBody>
          <a:bodyPr>
            <a:normAutofit/>
          </a:bodyPr>
          <a:lstStyle/>
          <a:p>
            <a:r>
              <a:rPr lang="en-US" sz="2400" dirty="0"/>
              <a:t>Welfare effects:</a:t>
            </a:r>
          </a:p>
          <a:p>
            <a:pPr lvl="1"/>
            <a:r>
              <a:rPr lang="en-US" sz="2400" dirty="0"/>
              <a:t>Some renters win </a:t>
            </a:r>
            <a:r>
              <a:rPr lang="en-US" sz="2400" b="1" dirty="0"/>
              <a:t>A</a:t>
            </a:r>
          </a:p>
          <a:p>
            <a:pPr marL="457200" lvl="1" indent="0">
              <a:buNone/>
            </a:pPr>
            <a:r>
              <a:rPr lang="en-US" sz="1600" dirty="0"/>
              <a:t>	Those lucky enough to find/have 	a place</a:t>
            </a:r>
          </a:p>
          <a:p>
            <a:pPr lvl="1">
              <a:spcBef>
                <a:spcPts val="600"/>
              </a:spcBef>
            </a:pPr>
            <a:r>
              <a:rPr lang="en-US" sz="2400" dirty="0"/>
              <a:t>Some renters lose B</a:t>
            </a:r>
          </a:p>
          <a:p>
            <a:pPr marL="457200" lvl="1" indent="0">
              <a:spcBef>
                <a:spcPts val="0"/>
              </a:spcBef>
              <a:buNone/>
            </a:pPr>
            <a:r>
              <a:rPr lang="en-US" sz="2400" dirty="0"/>
              <a:t>	</a:t>
            </a:r>
            <a:r>
              <a:rPr lang="en-US" sz="1600" dirty="0"/>
              <a:t>Those who can’t find a place 	because fewer are listed</a:t>
            </a:r>
            <a:endParaRPr lang="en-US" sz="2400" dirty="0"/>
          </a:p>
          <a:p>
            <a:pPr lvl="1">
              <a:spcBef>
                <a:spcPts val="600"/>
              </a:spcBef>
            </a:pPr>
            <a:r>
              <a:rPr lang="en-US" sz="2400" dirty="0"/>
              <a:t>Landlords lose </a:t>
            </a:r>
            <a:r>
              <a:rPr lang="en-US" sz="2400" b="1" dirty="0"/>
              <a:t>A</a:t>
            </a:r>
            <a:r>
              <a:rPr lang="en-US" sz="2400" dirty="0"/>
              <a:t>+C</a:t>
            </a:r>
          </a:p>
          <a:p>
            <a:pPr marL="457200" lvl="1" indent="0">
              <a:buNone/>
            </a:pPr>
            <a:r>
              <a:rPr lang="en-US" sz="1600" dirty="0"/>
              <a:t>	A=lower rent collected</a:t>
            </a:r>
          </a:p>
          <a:p>
            <a:pPr marL="457200" lvl="1" indent="0">
              <a:buNone/>
            </a:pPr>
            <a:r>
              <a:rPr lang="en-US" sz="1600" dirty="0"/>
              <a:t>	C=landlords who don’t list their 	flats at the lower price</a:t>
            </a:r>
          </a:p>
          <a:p>
            <a:pPr lvl="1">
              <a:spcBef>
                <a:spcPts val="600"/>
              </a:spcBef>
            </a:pPr>
            <a:r>
              <a:rPr lang="en-US" sz="2400" dirty="0"/>
              <a:t>Deadweight loss: B+C</a:t>
            </a:r>
          </a:p>
        </p:txBody>
      </p:sp>
      <p:sp>
        <p:nvSpPr>
          <p:cNvPr id="30" name="Slide Number Placeholder 29"/>
          <p:cNvSpPr>
            <a:spLocks noGrp="1"/>
          </p:cNvSpPr>
          <p:nvPr>
            <p:ph type="sldNum" sz="quarter" idx="12"/>
          </p:nvPr>
        </p:nvSpPr>
        <p:spPr/>
        <p:txBody>
          <a:bodyPr/>
          <a:lstStyle/>
          <a:p>
            <a:fld id="{0F3206DB-9488-D04D-BDD1-A7C9D84C4579}" type="slidenum">
              <a:rPr lang="en-US" smtClean="0"/>
              <a:t>64</a:t>
            </a:fld>
            <a:endParaRPr lang="en-US"/>
          </a:p>
        </p:txBody>
      </p:sp>
      <p:grpSp>
        <p:nvGrpSpPr>
          <p:cNvPr id="4" name="Group 3"/>
          <p:cNvGrpSpPr/>
          <p:nvPr/>
        </p:nvGrpSpPr>
        <p:grpSpPr>
          <a:xfrm>
            <a:off x="381000" y="1336649"/>
            <a:ext cx="5222175" cy="4603358"/>
            <a:chOff x="1296026" y="1037575"/>
            <a:chExt cx="5222175" cy="4603358"/>
          </a:xfrm>
        </p:grpSpPr>
        <p:sp>
          <p:nvSpPr>
            <p:cNvPr id="5" name="Rectangle 5"/>
            <p:cNvSpPr>
              <a:spLocks noChangeArrowheads="1"/>
            </p:cNvSpPr>
            <p:nvPr/>
          </p:nvSpPr>
          <p:spPr bwMode="auto">
            <a:xfrm>
              <a:off x="5930313" y="5132747"/>
              <a:ext cx="587888" cy="508186"/>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dirty="0">
                  <a:latin typeface="Whitney-Book" pitchFamily="50" charset="0"/>
                  <a:cs typeface="Whitney-Book" pitchFamily="50" charset="0"/>
                </a:rPr>
                <a:t>Q</a:t>
              </a:r>
            </a:p>
          </p:txBody>
        </p:sp>
        <p:sp>
          <p:nvSpPr>
            <p:cNvPr id="6" name="Line 7"/>
            <p:cNvSpPr>
              <a:spLocks noChangeShapeType="1"/>
            </p:cNvSpPr>
            <p:nvPr/>
          </p:nvSpPr>
          <p:spPr bwMode="auto">
            <a:xfrm flipH="1">
              <a:off x="1790387" y="1371600"/>
              <a:ext cx="26722" cy="3563151"/>
            </a:xfrm>
            <a:prstGeom prst="line">
              <a:avLst/>
            </a:prstGeom>
            <a:noFill/>
            <a:ln w="50800">
              <a:solidFill>
                <a:schemeClr val="tx1"/>
              </a:solidFill>
              <a:round/>
              <a:headEnd type="arrow" w="sm" len="sm"/>
              <a:tailEnd type="none" w="sm" len="sm"/>
            </a:ln>
            <a:effectLst/>
          </p:spPr>
          <p:txBody>
            <a:bodyPr wrap="none" anchor="ctr"/>
            <a:lstStyle/>
            <a:p>
              <a:endParaRPr lang="en-US" sz="2800" b="0">
                <a:latin typeface="Whitney-Book" pitchFamily="50" charset="0"/>
                <a:cs typeface="Whitney-Book" pitchFamily="50" charset="0"/>
              </a:endParaRPr>
            </a:p>
          </p:txBody>
        </p:sp>
        <p:sp>
          <p:nvSpPr>
            <p:cNvPr id="7" name="Line 8"/>
            <p:cNvSpPr>
              <a:spLocks noChangeShapeType="1"/>
            </p:cNvSpPr>
            <p:nvPr/>
          </p:nvSpPr>
          <p:spPr bwMode="auto">
            <a:xfrm>
              <a:off x="1780366" y="4951464"/>
              <a:ext cx="4397540" cy="40261"/>
            </a:xfrm>
            <a:prstGeom prst="line">
              <a:avLst/>
            </a:prstGeom>
            <a:noFill/>
            <a:ln w="50800">
              <a:solidFill>
                <a:schemeClr val="tx1"/>
              </a:solidFill>
              <a:round/>
              <a:headEnd type="none" w="sm" len="sm"/>
              <a:tailEnd type="arrow" w="sm" len="sm"/>
            </a:ln>
            <a:effectLst/>
          </p:spPr>
          <p:txBody>
            <a:bodyPr wrap="none" anchor="ctr"/>
            <a:lstStyle/>
            <a:p>
              <a:endParaRPr lang="en-US" sz="2800" b="0">
                <a:latin typeface="Whitney-Book" pitchFamily="50" charset="0"/>
                <a:cs typeface="Whitney-Book" pitchFamily="50" charset="0"/>
              </a:endParaRPr>
            </a:p>
          </p:txBody>
        </p:sp>
        <p:sp>
          <p:nvSpPr>
            <p:cNvPr id="8" name="Rectangle 9"/>
            <p:cNvSpPr>
              <a:spLocks noChangeArrowheads="1"/>
            </p:cNvSpPr>
            <p:nvPr/>
          </p:nvSpPr>
          <p:spPr bwMode="auto">
            <a:xfrm>
              <a:off x="1663457" y="1037575"/>
              <a:ext cx="614610" cy="508186"/>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dirty="0">
                  <a:latin typeface="Whitney-Book" pitchFamily="50" charset="0"/>
                  <a:cs typeface="Whitney-Book" pitchFamily="50" charset="0"/>
                </a:rPr>
                <a:t>P</a:t>
              </a:r>
            </a:p>
          </p:txBody>
        </p:sp>
        <p:sp>
          <p:nvSpPr>
            <p:cNvPr id="9" name="Line 12"/>
            <p:cNvSpPr>
              <a:spLocks noChangeShapeType="1"/>
            </p:cNvSpPr>
            <p:nvPr/>
          </p:nvSpPr>
          <p:spPr bwMode="auto">
            <a:xfrm>
              <a:off x="1827130" y="2007947"/>
              <a:ext cx="2949462" cy="2923462"/>
            </a:xfrm>
            <a:prstGeom prst="line">
              <a:avLst/>
            </a:prstGeom>
            <a:noFill/>
            <a:ln w="50800">
              <a:solidFill>
                <a:srgbClr val="C00000"/>
              </a:solidFill>
              <a:round/>
              <a:headEnd type="none" w="sm" len="sm"/>
              <a:tailEnd type="none" w="sm" len="sm"/>
            </a:ln>
            <a:effectLst/>
          </p:spPr>
          <p:txBody>
            <a:bodyPr wrap="none" anchor="ctr"/>
            <a:lstStyle/>
            <a:p>
              <a:endParaRPr lang="en-US" sz="2800" b="0">
                <a:latin typeface="Whitney-Book" pitchFamily="50" charset="0"/>
                <a:cs typeface="Whitney-Book" pitchFamily="50" charset="0"/>
              </a:endParaRPr>
            </a:p>
          </p:txBody>
        </p:sp>
        <p:sp>
          <p:nvSpPr>
            <p:cNvPr id="10" name="Rectangle 13"/>
            <p:cNvSpPr>
              <a:spLocks noChangeArrowheads="1"/>
            </p:cNvSpPr>
            <p:nvPr/>
          </p:nvSpPr>
          <p:spPr bwMode="auto">
            <a:xfrm>
              <a:off x="4716467" y="4399819"/>
              <a:ext cx="587888" cy="508186"/>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dirty="0">
                  <a:solidFill>
                    <a:srgbClr val="C00000"/>
                  </a:solidFill>
                  <a:latin typeface="Whitney-Book" pitchFamily="50" charset="0"/>
                  <a:cs typeface="Whitney-Book" pitchFamily="50" charset="0"/>
                </a:rPr>
                <a:t>D</a:t>
              </a:r>
            </a:p>
          </p:txBody>
        </p:sp>
        <p:grpSp>
          <p:nvGrpSpPr>
            <p:cNvPr id="11" name="Group 19"/>
            <p:cNvGrpSpPr>
              <a:grpSpLocks/>
            </p:cNvGrpSpPr>
            <p:nvPr/>
          </p:nvGrpSpPr>
          <p:grpSpPr bwMode="auto">
            <a:xfrm>
              <a:off x="1296026" y="3276461"/>
              <a:ext cx="2091012" cy="508186"/>
              <a:chOff x="776" y="1960"/>
              <a:chExt cx="1252" cy="304"/>
            </a:xfrm>
          </p:grpSpPr>
          <p:sp>
            <p:nvSpPr>
              <p:cNvPr id="16" name="Rectangle 20"/>
              <p:cNvSpPr>
                <a:spLocks noChangeArrowheads="1"/>
              </p:cNvSpPr>
              <p:nvPr/>
            </p:nvSpPr>
            <p:spPr bwMode="auto">
              <a:xfrm>
                <a:off x="776" y="1960"/>
                <a:ext cx="443" cy="304"/>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dirty="0">
                    <a:latin typeface="Whitney-Book" pitchFamily="50" charset="0"/>
                    <a:cs typeface="Whitney-Book" pitchFamily="50" charset="0"/>
                  </a:rPr>
                  <a:t>P*</a:t>
                </a:r>
              </a:p>
            </p:txBody>
          </p:sp>
          <p:sp>
            <p:nvSpPr>
              <p:cNvPr id="17" name="Line 21"/>
              <p:cNvSpPr>
                <a:spLocks noChangeShapeType="1"/>
              </p:cNvSpPr>
              <p:nvPr/>
            </p:nvSpPr>
            <p:spPr bwMode="auto">
              <a:xfrm flipH="1">
                <a:off x="1060" y="2120"/>
                <a:ext cx="968" cy="0"/>
              </a:xfrm>
              <a:prstGeom prst="line">
                <a:avLst/>
              </a:prstGeom>
              <a:noFill/>
              <a:ln w="12700">
                <a:solidFill>
                  <a:schemeClr val="tx1"/>
                </a:solidFill>
                <a:prstDash val="dash"/>
                <a:round/>
                <a:headEnd type="none" w="sm" len="sm"/>
                <a:tailEnd type="none" w="sm" len="sm"/>
              </a:ln>
              <a:effectLst/>
            </p:spPr>
            <p:txBody>
              <a:bodyPr wrap="none" anchor="ctr"/>
              <a:lstStyle/>
              <a:p>
                <a:endParaRPr lang="en-US" sz="2800" b="0">
                  <a:latin typeface="Whitney-Book" pitchFamily="50" charset="0"/>
                  <a:cs typeface="Whitney-Book" pitchFamily="50" charset="0"/>
                </a:endParaRPr>
              </a:p>
            </p:txBody>
          </p:sp>
        </p:grpSp>
        <p:sp>
          <p:nvSpPr>
            <p:cNvPr id="12" name="Line 17"/>
            <p:cNvSpPr>
              <a:spLocks noChangeShapeType="1"/>
            </p:cNvSpPr>
            <p:nvPr/>
          </p:nvSpPr>
          <p:spPr bwMode="auto">
            <a:xfrm flipH="1">
              <a:off x="2057399" y="1926762"/>
              <a:ext cx="2748211" cy="3026237"/>
            </a:xfrm>
            <a:prstGeom prst="line">
              <a:avLst/>
            </a:prstGeom>
            <a:noFill/>
            <a:ln w="50800">
              <a:solidFill>
                <a:schemeClr val="accent1">
                  <a:lumMod val="75000"/>
                </a:schemeClr>
              </a:solidFill>
              <a:round/>
              <a:headEnd type="none" w="sm" len="sm"/>
              <a:tailEnd type="none" w="sm" len="sm"/>
            </a:ln>
            <a:effectLst/>
          </p:spPr>
          <p:txBody>
            <a:bodyPr wrap="none" anchor="ctr"/>
            <a:lstStyle/>
            <a:p>
              <a:endParaRPr lang="en-US" sz="2800" b="0">
                <a:latin typeface="Whitney-Book" pitchFamily="50" charset="0"/>
                <a:cs typeface="Whitney-Book" pitchFamily="50" charset="0"/>
              </a:endParaRPr>
            </a:p>
          </p:txBody>
        </p:sp>
        <p:sp>
          <p:nvSpPr>
            <p:cNvPr id="13" name="Rectangle 18"/>
            <p:cNvSpPr>
              <a:spLocks noChangeArrowheads="1"/>
            </p:cNvSpPr>
            <p:nvPr/>
          </p:nvSpPr>
          <p:spPr bwMode="auto">
            <a:xfrm>
              <a:off x="4191000" y="1905000"/>
              <a:ext cx="614611" cy="508186"/>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dirty="0">
                  <a:solidFill>
                    <a:schemeClr val="accent1">
                      <a:lumMod val="75000"/>
                    </a:schemeClr>
                  </a:solidFill>
                  <a:latin typeface="Whitney-Book" pitchFamily="50" charset="0"/>
                  <a:cs typeface="Whitney-Book" pitchFamily="50" charset="0"/>
                </a:rPr>
                <a:t>S</a:t>
              </a:r>
            </a:p>
          </p:txBody>
        </p:sp>
        <p:sp>
          <p:nvSpPr>
            <p:cNvPr id="14" name="Line 27"/>
            <p:cNvSpPr>
              <a:spLocks noChangeShapeType="1"/>
            </p:cNvSpPr>
            <p:nvPr/>
          </p:nvSpPr>
          <p:spPr bwMode="auto">
            <a:xfrm>
              <a:off x="3352800" y="3505200"/>
              <a:ext cx="0" cy="1447800"/>
            </a:xfrm>
            <a:prstGeom prst="line">
              <a:avLst/>
            </a:prstGeom>
            <a:noFill/>
            <a:ln w="12700">
              <a:solidFill>
                <a:schemeClr val="tx1"/>
              </a:solidFill>
              <a:prstDash val="dash"/>
              <a:round/>
              <a:headEnd type="none" w="sm" len="sm"/>
              <a:tailEnd type="none" w="sm" len="sm"/>
            </a:ln>
            <a:effectLst/>
          </p:spPr>
          <p:txBody>
            <a:bodyPr wrap="none" anchor="ctr"/>
            <a:lstStyle/>
            <a:p>
              <a:endParaRPr lang="en-US" sz="2800" b="0">
                <a:latin typeface="Whitney-Book" pitchFamily="50" charset="0"/>
                <a:cs typeface="Whitney-Book" pitchFamily="50" charset="0"/>
              </a:endParaRPr>
            </a:p>
          </p:txBody>
        </p:sp>
        <p:sp>
          <p:nvSpPr>
            <p:cNvPr id="15" name="Rectangle 26"/>
            <p:cNvSpPr>
              <a:spLocks noChangeArrowheads="1"/>
            </p:cNvSpPr>
            <p:nvPr/>
          </p:nvSpPr>
          <p:spPr bwMode="auto">
            <a:xfrm>
              <a:off x="3124200" y="4953000"/>
              <a:ext cx="681416" cy="508186"/>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dirty="0">
                  <a:latin typeface="Whitney-Book" pitchFamily="50" charset="0"/>
                  <a:cs typeface="Whitney-Book" pitchFamily="50" charset="0"/>
                </a:rPr>
                <a:t>Q*</a:t>
              </a:r>
            </a:p>
          </p:txBody>
        </p:sp>
      </p:grpSp>
      <p:grpSp>
        <p:nvGrpSpPr>
          <p:cNvPr id="18" name="Group 17"/>
          <p:cNvGrpSpPr/>
          <p:nvPr/>
        </p:nvGrpSpPr>
        <p:grpSpPr>
          <a:xfrm>
            <a:off x="228600" y="4260916"/>
            <a:ext cx="3400399" cy="1499344"/>
            <a:chOff x="1142374" y="3961842"/>
            <a:chExt cx="3400399" cy="1499344"/>
          </a:xfrm>
        </p:grpSpPr>
        <p:sp>
          <p:nvSpPr>
            <p:cNvPr id="19" name="Rectangle 15"/>
            <p:cNvSpPr>
              <a:spLocks noChangeArrowheads="1"/>
            </p:cNvSpPr>
            <p:nvPr/>
          </p:nvSpPr>
          <p:spPr bwMode="auto">
            <a:xfrm>
              <a:off x="2590800" y="4953000"/>
              <a:ext cx="654694" cy="508186"/>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dirty="0">
                  <a:latin typeface="Whitney-Book" pitchFamily="50" charset="0"/>
                  <a:cs typeface="Whitney-Book" pitchFamily="50" charset="0"/>
                </a:rPr>
                <a:t>Q</a:t>
              </a:r>
              <a:r>
                <a:rPr lang="en-US" sz="2000" b="0" dirty="0">
                  <a:latin typeface="Whitney-Book" pitchFamily="50" charset="0"/>
                  <a:cs typeface="Whitney-Book" pitchFamily="50" charset="0"/>
                </a:rPr>
                <a:t>s</a:t>
              </a:r>
              <a:endParaRPr lang="en-US" sz="2800" b="0" dirty="0">
                <a:latin typeface="Whitney-Book" pitchFamily="50" charset="0"/>
                <a:cs typeface="Whitney-Book" pitchFamily="50" charset="0"/>
              </a:endParaRPr>
            </a:p>
          </p:txBody>
        </p:sp>
        <p:grpSp>
          <p:nvGrpSpPr>
            <p:cNvPr id="20" name="Group 22"/>
            <p:cNvGrpSpPr>
              <a:grpSpLocks/>
            </p:cNvGrpSpPr>
            <p:nvPr/>
          </p:nvGrpSpPr>
          <p:grpSpPr bwMode="auto">
            <a:xfrm>
              <a:off x="1142374" y="3961842"/>
              <a:ext cx="2919400" cy="508186"/>
              <a:chOff x="684" y="2370"/>
              <a:chExt cx="1748" cy="304"/>
            </a:xfrm>
          </p:grpSpPr>
          <p:sp>
            <p:nvSpPr>
              <p:cNvPr id="25" name="Rectangle 23"/>
              <p:cNvSpPr>
                <a:spLocks noChangeArrowheads="1"/>
              </p:cNvSpPr>
              <p:nvPr/>
            </p:nvSpPr>
            <p:spPr bwMode="auto">
              <a:xfrm>
                <a:off x="684" y="2370"/>
                <a:ext cx="880" cy="304"/>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dirty="0" err="1">
                    <a:latin typeface="Whitney-Book" pitchFamily="50" charset="0"/>
                    <a:cs typeface="Whitney-Book" pitchFamily="50" charset="0"/>
                  </a:rPr>
                  <a:t>P</a:t>
                </a:r>
                <a:r>
                  <a:rPr lang="en-US" b="0" baseline="-25000" dirty="0" err="1">
                    <a:latin typeface="Whitney-Book" pitchFamily="50" charset="0"/>
                    <a:cs typeface="Whitney-Book" pitchFamily="50" charset="0"/>
                  </a:rPr>
                  <a:t>max</a:t>
                </a:r>
                <a:endParaRPr lang="en-US" sz="2800" b="0" baseline="-25000" dirty="0">
                  <a:latin typeface="Whitney-Book" pitchFamily="50" charset="0"/>
                  <a:cs typeface="Whitney-Book" pitchFamily="50" charset="0"/>
                </a:endParaRPr>
              </a:p>
            </p:txBody>
          </p:sp>
          <p:sp>
            <p:nvSpPr>
              <p:cNvPr id="26" name="Line 24"/>
              <p:cNvSpPr>
                <a:spLocks noChangeShapeType="1"/>
              </p:cNvSpPr>
              <p:nvPr/>
            </p:nvSpPr>
            <p:spPr bwMode="auto">
              <a:xfrm>
                <a:off x="1088" y="2520"/>
                <a:ext cx="1344" cy="0"/>
              </a:xfrm>
              <a:prstGeom prst="line">
                <a:avLst/>
              </a:prstGeom>
              <a:noFill/>
              <a:ln w="19050">
                <a:solidFill>
                  <a:schemeClr val="tx1"/>
                </a:solidFill>
                <a:prstDash val="solid"/>
                <a:round/>
                <a:headEnd type="none" w="sm" len="sm"/>
                <a:tailEnd type="none" w="sm" len="sm"/>
              </a:ln>
              <a:effectLst/>
            </p:spPr>
            <p:txBody>
              <a:bodyPr wrap="none" anchor="ctr"/>
              <a:lstStyle/>
              <a:p>
                <a:endParaRPr lang="en-US" sz="2800" b="0">
                  <a:latin typeface="Whitney-Book" pitchFamily="50" charset="0"/>
                  <a:cs typeface="Whitney-Book" pitchFamily="50" charset="0"/>
                </a:endParaRPr>
              </a:p>
            </p:txBody>
          </p:sp>
        </p:grpSp>
        <p:grpSp>
          <p:nvGrpSpPr>
            <p:cNvPr id="21" name="Group 25"/>
            <p:cNvGrpSpPr>
              <a:grpSpLocks/>
            </p:cNvGrpSpPr>
            <p:nvPr/>
          </p:nvGrpSpPr>
          <p:grpSpPr bwMode="auto">
            <a:xfrm>
              <a:off x="3861357" y="4225966"/>
              <a:ext cx="681416" cy="1230344"/>
              <a:chOff x="2312" y="2528"/>
              <a:chExt cx="408" cy="736"/>
            </a:xfrm>
          </p:grpSpPr>
          <p:sp>
            <p:nvSpPr>
              <p:cNvPr id="23" name="Rectangle 26"/>
              <p:cNvSpPr>
                <a:spLocks noChangeArrowheads="1"/>
              </p:cNvSpPr>
              <p:nvPr/>
            </p:nvSpPr>
            <p:spPr bwMode="auto">
              <a:xfrm>
                <a:off x="2312" y="2960"/>
                <a:ext cx="408" cy="304"/>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dirty="0" err="1">
                    <a:latin typeface="Whitney-Book" pitchFamily="50" charset="0"/>
                    <a:cs typeface="Whitney-Book" pitchFamily="50" charset="0"/>
                  </a:rPr>
                  <a:t>Q</a:t>
                </a:r>
                <a:r>
                  <a:rPr lang="en-US" sz="2000" b="0" dirty="0" err="1">
                    <a:latin typeface="Whitney-Book" pitchFamily="50" charset="0"/>
                    <a:cs typeface="Whitney-Book" pitchFamily="50" charset="0"/>
                  </a:rPr>
                  <a:t>d</a:t>
                </a:r>
                <a:endParaRPr lang="en-US" sz="2800" b="0" dirty="0">
                  <a:latin typeface="Whitney-Book" pitchFamily="50" charset="0"/>
                  <a:cs typeface="Whitney-Book" pitchFamily="50" charset="0"/>
                </a:endParaRPr>
              </a:p>
            </p:txBody>
          </p:sp>
          <p:sp>
            <p:nvSpPr>
              <p:cNvPr id="24" name="Line 27"/>
              <p:cNvSpPr>
                <a:spLocks noChangeShapeType="1"/>
              </p:cNvSpPr>
              <p:nvPr/>
            </p:nvSpPr>
            <p:spPr bwMode="auto">
              <a:xfrm>
                <a:off x="2424" y="2528"/>
                <a:ext cx="0" cy="408"/>
              </a:xfrm>
              <a:prstGeom prst="line">
                <a:avLst/>
              </a:prstGeom>
              <a:noFill/>
              <a:ln w="12700">
                <a:solidFill>
                  <a:schemeClr val="tx1"/>
                </a:solidFill>
                <a:prstDash val="dash"/>
                <a:round/>
                <a:headEnd type="none" w="sm" len="sm"/>
                <a:tailEnd type="none" w="sm" len="sm"/>
              </a:ln>
              <a:effectLst/>
            </p:spPr>
            <p:txBody>
              <a:bodyPr wrap="none" anchor="ctr"/>
              <a:lstStyle/>
              <a:p>
                <a:endParaRPr lang="en-US" sz="2800" b="0">
                  <a:latin typeface="Whitney-Book" pitchFamily="50" charset="0"/>
                  <a:cs typeface="Whitney-Book" pitchFamily="50" charset="0"/>
                </a:endParaRPr>
              </a:p>
            </p:txBody>
          </p:sp>
        </p:grpSp>
        <p:sp>
          <p:nvSpPr>
            <p:cNvPr id="22" name="Line 27"/>
            <p:cNvSpPr>
              <a:spLocks noChangeShapeType="1"/>
            </p:cNvSpPr>
            <p:nvPr/>
          </p:nvSpPr>
          <p:spPr bwMode="auto">
            <a:xfrm>
              <a:off x="2743200" y="4191000"/>
              <a:ext cx="0" cy="762000"/>
            </a:xfrm>
            <a:prstGeom prst="line">
              <a:avLst/>
            </a:prstGeom>
            <a:noFill/>
            <a:ln w="12700">
              <a:solidFill>
                <a:schemeClr val="tx1"/>
              </a:solidFill>
              <a:prstDash val="dash"/>
              <a:round/>
              <a:headEnd type="none" w="sm" len="sm"/>
              <a:tailEnd type="none" w="sm" len="sm"/>
            </a:ln>
            <a:effectLst/>
          </p:spPr>
          <p:txBody>
            <a:bodyPr wrap="none" anchor="ctr"/>
            <a:lstStyle/>
            <a:p>
              <a:endParaRPr lang="en-US" sz="2800" b="0">
                <a:latin typeface="Whitney-Book" pitchFamily="50" charset="0"/>
                <a:cs typeface="Whitney-Book" pitchFamily="50" charset="0"/>
              </a:endParaRPr>
            </a:p>
          </p:txBody>
        </p:sp>
      </p:grpSp>
      <p:grpSp>
        <p:nvGrpSpPr>
          <p:cNvPr id="27" name="Group 26"/>
          <p:cNvGrpSpPr/>
          <p:nvPr/>
        </p:nvGrpSpPr>
        <p:grpSpPr>
          <a:xfrm>
            <a:off x="1476952" y="5700029"/>
            <a:ext cx="2590800" cy="750332"/>
            <a:chOff x="2362200" y="5410200"/>
            <a:chExt cx="2590800" cy="750332"/>
          </a:xfrm>
        </p:grpSpPr>
        <p:sp>
          <p:nvSpPr>
            <p:cNvPr id="28" name="Left Brace 27"/>
            <p:cNvSpPr/>
            <p:nvPr/>
          </p:nvSpPr>
          <p:spPr bwMode="auto">
            <a:xfrm rot="16200000">
              <a:off x="3238500" y="4914900"/>
              <a:ext cx="381000" cy="1371600"/>
            </a:xfrm>
            <a:prstGeom prst="leftBrace">
              <a:avLst>
                <a:gd name="adj1" fmla="val 42619"/>
                <a:gd name="adj2" fmla="val 50000"/>
              </a:avLst>
            </a:prstGeom>
            <a:noFill/>
            <a:ln w="19050" cap="flat" cmpd="sng" algn="ctr">
              <a:solidFill>
                <a:srgbClr val="C0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noFill/>
                <a:effectLst/>
                <a:latin typeface="Whitney-Book" pitchFamily="50" charset="0"/>
                <a:cs typeface="Whitney-Book" pitchFamily="50" charset="0"/>
              </a:endParaRPr>
            </a:p>
          </p:txBody>
        </p:sp>
        <p:sp>
          <p:nvSpPr>
            <p:cNvPr id="29" name="TextBox 28"/>
            <p:cNvSpPr txBox="1"/>
            <p:nvPr/>
          </p:nvSpPr>
          <p:spPr>
            <a:xfrm>
              <a:off x="2362200" y="5791200"/>
              <a:ext cx="2590800" cy="369332"/>
            </a:xfrm>
            <a:prstGeom prst="rect">
              <a:avLst/>
            </a:prstGeom>
            <a:noFill/>
          </p:spPr>
          <p:txBody>
            <a:bodyPr wrap="square" rtlCol="0">
              <a:spAutoFit/>
            </a:bodyPr>
            <a:lstStyle/>
            <a:p>
              <a:r>
                <a:rPr lang="en-US" b="0" dirty="0" err="1">
                  <a:solidFill>
                    <a:srgbClr val="C00000"/>
                  </a:solidFill>
                  <a:latin typeface="Whitney-Book" pitchFamily="50" charset="0"/>
                  <a:cs typeface="Whitney-Book" pitchFamily="50" charset="0"/>
                </a:rPr>
                <a:t>Q</a:t>
              </a:r>
              <a:r>
                <a:rPr lang="en-US" b="0" baseline="-25000" dirty="0" err="1">
                  <a:solidFill>
                    <a:srgbClr val="C00000"/>
                  </a:solidFill>
                  <a:latin typeface="Whitney-Book" pitchFamily="50" charset="0"/>
                  <a:cs typeface="Whitney-Book" pitchFamily="50" charset="0"/>
                </a:rPr>
                <a:t>d</a:t>
              </a:r>
              <a:r>
                <a:rPr lang="en-US" b="0" dirty="0">
                  <a:solidFill>
                    <a:srgbClr val="C00000"/>
                  </a:solidFill>
                  <a:latin typeface="Whitney-Book" pitchFamily="50" charset="0"/>
                  <a:cs typeface="Whitney-Book" pitchFamily="50" charset="0"/>
                </a:rPr>
                <a:t>-Q</a:t>
              </a:r>
              <a:r>
                <a:rPr lang="en-US" b="0" baseline="-25000" dirty="0">
                  <a:solidFill>
                    <a:srgbClr val="C00000"/>
                  </a:solidFill>
                  <a:latin typeface="Whitney-Book" pitchFamily="50" charset="0"/>
                  <a:cs typeface="Whitney-Book" pitchFamily="50" charset="0"/>
                </a:rPr>
                <a:t>s</a:t>
              </a:r>
              <a:r>
                <a:rPr lang="en-US" b="0" dirty="0">
                  <a:solidFill>
                    <a:srgbClr val="C00000"/>
                  </a:solidFill>
                  <a:latin typeface="Whitney-Book" pitchFamily="50" charset="0"/>
                  <a:cs typeface="Whitney-Book" pitchFamily="50" charset="0"/>
                </a:rPr>
                <a:t>=shortage</a:t>
              </a:r>
            </a:p>
          </p:txBody>
        </p:sp>
      </p:grpSp>
      <p:sp>
        <p:nvSpPr>
          <p:cNvPr id="45" name="Line 27"/>
          <p:cNvSpPr>
            <a:spLocks noChangeShapeType="1"/>
          </p:cNvSpPr>
          <p:nvPr/>
        </p:nvSpPr>
        <p:spPr bwMode="auto">
          <a:xfrm>
            <a:off x="1817734" y="3213758"/>
            <a:ext cx="9712" cy="2083841"/>
          </a:xfrm>
          <a:prstGeom prst="line">
            <a:avLst/>
          </a:prstGeom>
          <a:noFill/>
          <a:ln w="38100">
            <a:solidFill>
              <a:srgbClr val="FFC000"/>
            </a:solidFill>
            <a:prstDash val="solid"/>
            <a:round/>
            <a:headEnd type="none" w="sm" len="sm"/>
            <a:tailEnd type="none" w="sm" len="sm"/>
          </a:ln>
          <a:effectLst/>
        </p:spPr>
        <p:txBody>
          <a:bodyPr wrap="none" anchor="ctr"/>
          <a:lstStyle/>
          <a:p>
            <a:endParaRPr lang="en-US" sz="2800" b="0">
              <a:latin typeface="Whitney-Book" pitchFamily="50" charset="0"/>
              <a:cs typeface="Whitney-Book" pitchFamily="50" charset="0"/>
            </a:endParaRPr>
          </a:p>
        </p:txBody>
      </p:sp>
    </p:spTree>
    <p:extLst>
      <p:ext uri="{BB962C8B-B14F-4D97-AF65-F5344CB8AC3E}">
        <p14:creationId xmlns:p14="http://schemas.microsoft.com/office/powerpoint/2010/main" val="3244414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blinds(horizontal)">
                                      <p:cBhvr>
                                        <p:cTn id="11" dur="5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27"/>
                                        </p:tgtEl>
                                        <p:attrNameLst>
                                          <p:attrName>style.visibility</p:attrName>
                                        </p:attrNameLst>
                                      </p:cBhvr>
                                      <p:to>
                                        <p:strVal val="visible"/>
                                      </p:to>
                                    </p:set>
                                    <p:anim calcmode="lin" valueType="num">
                                      <p:cBhvr additive="base">
                                        <p:cTn id="16" dur="500" fill="hold"/>
                                        <p:tgtEl>
                                          <p:spTgt spid="27"/>
                                        </p:tgtEl>
                                        <p:attrNameLst>
                                          <p:attrName>ppt_x</p:attrName>
                                        </p:attrNameLst>
                                      </p:cBhvr>
                                      <p:tavLst>
                                        <p:tav tm="0">
                                          <p:val>
                                            <p:strVal val="#ppt_x"/>
                                          </p:val>
                                        </p:tav>
                                        <p:tav tm="100000">
                                          <p:val>
                                            <p:strVal val="#ppt_x"/>
                                          </p:val>
                                        </p:tav>
                                      </p:tavLst>
                                    </p:anim>
                                    <p:anim calcmode="lin" valueType="num">
                                      <p:cBhvr additive="base">
                                        <p:cTn id="17"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500"/>
                                        <p:tgtEl>
                                          <p:spTgt spid="36"/>
                                        </p:tgtEl>
                                      </p:cBhvr>
                                    </p:animEffect>
                                  </p:childTnLst>
                                </p:cTn>
                              </p:par>
                              <p:par>
                                <p:cTn id="31" presetID="1" presetClass="entr" presetSubtype="0" fill="hold" grpId="0" nodeType="withEffect">
                                  <p:stCondLst>
                                    <p:cond delay="0"/>
                                  </p:stCondLst>
                                  <p:childTnLst>
                                    <p:set>
                                      <p:cBhvr>
                                        <p:cTn id="32" dur="1" fill="hold">
                                          <p:stCondLst>
                                            <p:cond delay="0"/>
                                          </p:stCondLst>
                                        </p:cTn>
                                        <p:tgtEl>
                                          <p:spTgt spid="3">
                                            <p:txEl>
                                              <p:pRg st="1" end="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fade">
                                      <p:cBhvr>
                                        <p:cTn id="39" dur="500"/>
                                        <p:tgtEl>
                                          <p:spTgt spid="39"/>
                                        </p:tgtEl>
                                      </p:cBhvr>
                                    </p:animEffect>
                                  </p:childTnLst>
                                </p:cTn>
                              </p:par>
                              <p:par>
                                <p:cTn id="40" presetID="1" presetClass="entr" presetSubtype="0" fill="hold" grpId="0" nodeType="withEffect">
                                  <p:stCondLst>
                                    <p:cond delay="0"/>
                                  </p:stCondLst>
                                  <p:childTnLst>
                                    <p:set>
                                      <p:cBhvr>
                                        <p:cTn id="41" dur="1" fill="hold">
                                          <p:stCondLst>
                                            <p:cond delay="0"/>
                                          </p:stCondLst>
                                        </p:cTn>
                                        <p:tgtEl>
                                          <p:spTgt spid="3">
                                            <p:txEl>
                                              <p:pRg st="3" end="3"/>
                                            </p:txEl>
                                          </p:spTgt>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42"/>
                                        </p:tgtEl>
                                        <p:attrNameLst>
                                          <p:attrName>style.visibility</p:attrName>
                                        </p:attrNameLst>
                                      </p:cBhvr>
                                      <p:to>
                                        <p:strVal val="visible"/>
                                      </p:to>
                                    </p:set>
                                    <p:animEffect transition="in" filter="fade">
                                      <p:cBhvr>
                                        <p:cTn id="48" dur="500"/>
                                        <p:tgtEl>
                                          <p:spTgt spid="42"/>
                                        </p:tgtEl>
                                      </p:cBhvr>
                                    </p:animEffect>
                                  </p:childTnLst>
                                </p:cTn>
                              </p:par>
                              <p:par>
                                <p:cTn id="49" presetID="1" presetClass="entr" presetSubtype="0" fill="hold" nodeType="withEffect">
                                  <p:stCondLst>
                                    <p:cond delay="0"/>
                                  </p:stCondLst>
                                  <p:childTnLst>
                                    <p:set>
                                      <p:cBhvr>
                                        <p:cTn id="50" dur="1" fill="hold">
                                          <p:stCondLst>
                                            <p:cond delay="0"/>
                                          </p:stCondLst>
                                        </p:cTn>
                                        <p:tgtEl>
                                          <p:spTgt spid="3">
                                            <p:txEl>
                                              <p:pRg st="5" end="5"/>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
                                            <p:txEl>
                                              <p:pRg st="6" end="6"/>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5"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noAutofit/>
          </a:bodyPr>
          <a:lstStyle/>
          <a:p>
            <a:r>
              <a:rPr lang="en-US" dirty="0"/>
              <a:t>Vote on Prop 33 in California (2024)</a:t>
            </a:r>
            <a:endParaRPr lang="en-US" dirty="0">
              <a:latin typeface="+mn-lt"/>
            </a:endParaRPr>
          </a:p>
        </p:txBody>
      </p:sp>
      <p:sp>
        <p:nvSpPr>
          <p:cNvPr id="2" name="Text Placeholder 1">
            <a:extLst>
              <a:ext uri="{FF2B5EF4-FFF2-40B4-BE49-F238E27FC236}">
                <a16:creationId xmlns:a16="http://schemas.microsoft.com/office/drawing/2014/main" id="{6BC63F01-DF90-457D-AC88-A12A103BD003}"/>
              </a:ext>
            </a:extLst>
          </p:cNvPr>
          <p:cNvSpPr>
            <a:spLocks noGrp="1"/>
          </p:cNvSpPr>
          <p:nvPr>
            <p:ph type="body" idx="1"/>
          </p:nvPr>
        </p:nvSpPr>
        <p:spPr>
          <a:xfrm>
            <a:off x="387900" y="4339119"/>
            <a:ext cx="8520600" cy="1752714"/>
          </a:xfrm>
        </p:spPr>
        <p:txBody>
          <a:bodyPr/>
          <a:lstStyle/>
          <a:p>
            <a:r>
              <a:rPr lang="en-US" sz="2400" dirty="0"/>
              <a:t>CA imposes limits on rent control. Prop 33 proposed to reverse this. It </a:t>
            </a:r>
            <a:r>
              <a:rPr lang="en-US" sz="2400" b="1" dirty="0"/>
              <a:t>did not pass</a:t>
            </a:r>
            <a:r>
              <a:rPr lang="en-US" sz="2400" dirty="0"/>
              <a:t>. </a:t>
            </a:r>
          </a:p>
          <a:p>
            <a:r>
              <a:rPr lang="en-US" sz="2400" dirty="0"/>
              <a:t>Proposition 33: cities would have been allowed to control rents on any type of housing – including single-family homes and new apartments, and for new tenants.</a:t>
            </a:r>
          </a:p>
          <a:p>
            <a:endParaRPr lang="en-US" sz="2400" dirty="0"/>
          </a:p>
        </p:txBody>
      </p:sp>
      <p:sp>
        <p:nvSpPr>
          <p:cNvPr id="8" name="Slide Number Placeholder 7"/>
          <p:cNvSpPr>
            <a:spLocks noGrp="1"/>
          </p:cNvSpPr>
          <p:nvPr>
            <p:ph type="sldNum" sz="quarter" idx="12"/>
          </p:nvPr>
        </p:nvSpPr>
        <p:spPr/>
        <p:txBody>
          <a:bodyPr/>
          <a:lstStyle/>
          <a:p>
            <a:fld id="{0F3206DB-9488-D04D-BDD1-A7C9D84C4579}" type="slidenum">
              <a:rPr lang="en-US" smtClean="0"/>
              <a:t>65</a:t>
            </a:fld>
            <a:endParaRPr lang="en-US"/>
          </a:p>
        </p:txBody>
      </p:sp>
      <p:sp>
        <p:nvSpPr>
          <p:cNvPr id="3" name="TextBox 2"/>
          <p:cNvSpPr txBox="1"/>
          <p:nvPr/>
        </p:nvSpPr>
        <p:spPr>
          <a:xfrm>
            <a:off x="273131" y="6490335"/>
            <a:ext cx="8405813" cy="369332"/>
          </a:xfrm>
          <a:prstGeom prst="rect">
            <a:avLst/>
          </a:prstGeom>
          <a:noFill/>
        </p:spPr>
        <p:txBody>
          <a:bodyPr wrap="square" rtlCol="0">
            <a:spAutoFit/>
          </a:bodyPr>
          <a:lstStyle/>
          <a:p>
            <a:r>
              <a:rPr lang="en-US" dirty="0">
                <a:hlinkClick r:id="rId4"/>
              </a:rPr>
              <a:t>https://calmatters.org/california-voter-guide-2024/propositions/prop-33-rent-control/</a:t>
            </a:r>
            <a:r>
              <a:rPr lang="en-US" dirty="0">
                <a:hlinkClick r:id="rId5"/>
              </a:rPr>
              <a:t> </a:t>
            </a:r>
            <a:endParaRPr lang="en-US" dirty="0"/>
          </a:p>
        </p:txBody>
      </p:sp>
      <p:pic>
        <p:nvPicPr>
          <p:cNvPr id="4" name="Picture 3">
            <a:extLst>
              <a:ext uri="{FF2B5EF4-FFF2-40B4-BE49-F238E27FC236}">
                <a16:creationId xmlns:a16="http://schemas.microsoft.com/office/drawing/2014/main" id="{3AC17440-E46A-46AD-B7E6-C39461C842F7}"/>
              </a:ext>
            </a:extLst>
          </p:cNvPr>
          <p:cNvPicPr>
            <a:picLocks noChangeAspect="1"/>
          </p:cNvPicPr>
          <p:nvPr/>
        </p:nvPicPr>
        <p:blipFill>
          <a:blip r:embed="rId6"/>
          <a:stretch>
            <a:fillRect/>
          </a:stretch>
        </p:blipFill>
        <p:spPr>
          <a:xfrm>
            <a:off x="1180626" y="1194583"/>
            <a:ext cx="6782747" cy="3010320"/>
          </a:xfrm>
          <a:prstGeom prst="rect">
            <a:avLst/>
          </a:prstGeom>
        </p:spPr>
      </p:pic>
    </p:spTree>
    <p:custDataLst>
      <p:tags r:id="rId1"/>
    </p:custDataLst>
    <p:extLst>
      <p:ext uri="{BB962C8B-B14F-4D97-AF65-F5344CB8AC3E}">
        <p14:creationId xmlns:p14="http://schemas.microsoft.com/office/powerpoint/2010/main" val="14334645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25D812-ED8E-4866-9CEF-E6F1C0606E43}"/>
              </a:ext>
            </a:extLst>
          </p:cNvPr>
          <p:cNvPicPr>
            <a:picLocks/>
          </p:cNvPicPr>
          <p:nvPr>
            <p:custDataLst>
              <p:tags r:id="rId1"/>
            </p:custDataLst>
          </p:nvPr>
        </p:nvPicPr>
        <p:blipFill>
          <a:blip r:embed="rId4"/>
          <a:stretch>
            <a:fillRect/>
          </a:stretch>
        </p:blipFill>
        <p:spPr>
          <a:xfrm>
            <a:off x="190500" y="190500"/>
            <a:ext cx="8763000" cy="6477000"/>
          </a:xfrm>
          <a:prstGeom prst="rect">
            <a:avLst/>
          </a:prstGeom>
        </p:spPr>
      </p:pic>
    </p:spTree>
    <p:extLst>
      <p:ext uri="{BB962C8B-B14F-4D97-AF65-F5344CB8AC3E}">
        <p14:creationId xmlns:p14="http://schemas.microsoft.com/office/powerpoint/2010/main" val="2737844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How do Landlords React to Rent control?</a:t>
            </a:r>
          </a:p>
        </p:txBody>
      </p:sp>
      <p:sp>
        <p:nvSpPr>
          <p:cNvPr id="3" name="Content Placeholder 2"/>
          <p:cNvSpPr>
            <a:spLocks noGrp="1"/>
          </p:cNvSpPr>
          <p:nvPr>
            <p:ph type="body" idx="1"/>
          </p:nvPr>
        </p:nvSpPr>
        <p:spPr>
          <a:xfrm>
            <a:off x="387900" y="1536633"/>
            <a:ext cx="4655584" cy="4555200"/>
          </a:xfrm>
        </p:spPr>
        <p:txBody>
          <a:bodyPr>
            <a:normAutofit/>
          </a:bodyPr>
          <a:lstStyle/>
          <a:p>
            <a:r>
              <a:rPr lang="en-US" sz="2600" dirty="0"/>
              <a:t>Non-price adjustments (e.g., neglect maintenance)</a:t>
            </a:r>
          </a:p>
          <a:p>
            <a:r>
              <a:rPr lang="en-US" sz="2600" dirty="0"/>
              <a:t>Buy out the tenants (legal)</a:t>
            </a:r>
          </a:p>
          <a:p>
            <a:r>
              <a:rPr lang="en-US" sz="2600" dirty="0"/>
              <a:t>Harass the tenants (illegal!)</a:t>
            </a:r>
          </a:p>
        </p:txBody>
      </p:sp>
      <p:sp>
        <p:nvSpPr>
          <p:cNvPr id="30" name="Slide Number Placeholder 29"/>
          <p:cNvSpPr>
            <a:spLocks noGrp="1"/>
          </p:cNvSpPr>
          <p:nvPr>
            <p:ph type="sldNum" sz="quarter" idx="12"/>
          </p:nvPr>
        </p:nvSpPr>
        <p:spPr/>
        <p:txBody>
          <a:bodyPr/>
          <a:lstStyle/>
          <a:p>
            <a:fld id="{0F3206DB-9488-D04D-BDD1-A7C9D84C4579}" type="slidenum">
              <a:rPr lang="en-US" smtClean="0"/>
              <a:t>67</a:t>
            </a:fld>
            <a:endParaRPr lang="en-US"/>
          </a:p>
        </p:txBody>
      </p:sp>
      <p:pic>
        <p:nvPicPr>
          <p:cNvPr id="47" name="Picture 46">
            <a:extLst>
              <a:ext uri="{FF2B5EF4-FFF2-40B4-BE49-F238E27FC236}">
                <a16:creationId xmlns:a16="http://schemas.microsoft.com/office/drawing/2014/main" id="{B139D2AC-2DB0-4A62-B7BD-A6D5E01D371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14587" y="1215188"/>
            <a:ext cx="4012406" cy="5349875"/>
          </a:xfrm>
          <a:prstGeom prst="rect">
            <a:avLst/>
          </a:prstGeom>
        </p:spPr>
      </p:pic>
      <p:pic>
        <p:nvPicPr>
          <p:cNvPr id="48" name="Picture 47">
            <a:extLst>
              <a:ext uri="{FF2B5EF4-FFF2-40B4-BE49-F238E27FC236}">
                <a16:creationId xmlns:a16="http://schemas.microsoft.com/office/drawing/2014/main" id="{8AEC2334-2BEC-4C3F-9C9B-7F00C85374F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8304" y="3248876"/>
            <a:ext cx="4615180" cy="3461385"/>
          </a:xfrm>
          <a:prstGeom prst="rect">
            <a:avLst/>
          </a:prstGeom>
        </p:spPr>
      </p:pic>
    </p:spTree>
    <p:extLst>
      <p:ext uri="{BB962C8B-B14F-4D97-AF65-F5344CB8AC3E}">
        <p14:creationId xmlns:p14="http://schemas.microsoft.com/office/powerpoint/2010/main" val="427007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500"/>
                                        <p:tgtEl>
                                          <p:spTgt spid="47"/>
                                        </p:tgtEl>
                                      </p:cBhvr>
                                    </p:animEffect>
                                    <p:set>
                                      <p:cBhvr>
                                        <p:cTn id="15" dur="1" fill="hold">
                                          <p:stCondLst>
                                            <p:cond delay="499"/>
                                          </p:stCondLst>
                                        </p:cTn>
                                        <p:tgtEl>
                                          <p:spTgt spid="47"/>
                                        </p:tgtEl>
                                        <p:attrNameLst>
                                          <p:attrName>style.visibility</p:attrName>
                                        </p:attrNameLst>
                                      </p:cBhvr>
                                      <p:to>
                                        <p:strVal val="hidden"/>
                                      </p:to>
                                    </p:set>
                                  </p:childTnLst>
                                </p:cTn>
                              </p:par>
                              <p:par>
                                <p:cTn id="16" presetID="1" presetClass="entr" presetSubtype="0" fill="hold" nodeType="withEffect">
                                  <p:stCondLst>
                                    <p:cond delay="0"/>
                                  </p:stCondLst>
                                  <p:childTnLst>
                                    <p:set>
                                      <p:cBhvr>
                                        <p:cTn id="17" dur="1" fill="hold">
                                          <p:stCondLst>
                                            <p:cond delay="0"/>
                                          </p:stCondLst>
                                        </p:cTn>
                                        <p:tgtEl>
                                          <p:spTgt spid="4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500"/>
                                        <p:tgtEl>
                                          <p:spTgt spid="48"/>
                                        </p:tgtEl>
                                      </p:cBhvr>
                                    </p:animEffect>
                                    <p:set>
                                      <p:cBhvr>
                                        <p:cTn id="22" dur="1" fill="hold">
                                          <p:stCondLst>
                                            <p:cond delay="499"/>
                                          </p:stCondLst>
                                        </p:cTn>
                                        <p:tgtEl>
                                          <p:spTgt spid="4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noAutofit/>
          </a:bodyPr>
          <a:lstStyle/>
          <a:p>
            <a:r>
              <a:rPr lang="en-US" dirty="0"/>
              <a:t>evidence on rent control</a:t>
            </a:r>
            <a:endParaRPr lang="en-US" dirty="0">
              <a:latin typeface="+mn-lt"/>
            </a:endParaRPr>
          </a:p>
        </p:txBody>
      </p:sp>
      <p:sp>
        <p:nvSpPr>
          <p:cNvPr id="4" name="Text Placeholder 3">
            <a:extLst>
              <a:ext uri="{FF2B5EF4-FFF2-40B4-BE49-F238E27FC236}">
                <a16:creationId xmlns:a16="http://schemas.microsoft.com/office/drawing/2014/main" id="{F24505AA-2598-40AC-AB21-691084D39EBD}"/>
              </a:ext>
            </a:extLst>
          </p:cNvPr>
          <p:cNvSpPr>
            <a:spLocks noGrp="1"/>
          </p:cNvSpPr>
          <p:nvPr>
            <p:ph type="body" idx="1"/>
          </p:nvPr>
        </p:nvSpPr>
        <p:spPr/>
        <p:txBody>
          <a:bodyPr/>
          <a:lstStyle/>
          <a:p>
            <a:endParaRPr lang="en-US"/>
          </a:p>
        </p:txBody>
      </p:sp>
      <p:sp>
        <p:nvSpPr>
          <p:cNvPr id="8" name="Slide Number Placeholder 7"/>
          <p:cNvSpPr>
            <a:spLocks noGrp="1"/>
          </p:cNvSpPr>
          <p:nvPr>
            <p:ph type="sldNum" sz="quarter" idx="12"/>
          </p:nvPr>
        </p:nvSpPr>
        <p:spPr/>
        <p:txBody>
          <a:bodyPr/>
          <a:lstStyle/>
          <a:p>
            <a:fld id="{0F3206DB-9488-D04D-BDD1-A7C9D84C4579}" type="slidenum">
              <a:rPr lang="en-US" smtClean="0"/>
              <a:t>68</a:t>
            </a:fld>
            <a:endParaRPr lang="en-US"/>
          </a:p>
        </p:txBody>
      </p:sp>
      <p:sp>
        <p:nvSpPr>
          <p:cNvPr id="5" name="Content Placeholder 2"/>
          <p:cNvSpPr txBox="1">
            <a:spLocks/>
          </p:cNvSpPr>
          <p:nvPr/>
        </p:nvSpPr>
        <p:spPr>
          <a:xfrm>
            <a:off x="457200" y="1225115"/>
            <a:ext cx="8229600" cy="5206283"/>
          </a:xfrm>
          <a:prstGeom prst="rect">
            <a:avLst/>
          </a:prstGeom>
        </p:spPr>
        <p:txBody>
          <a:bodyPr>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“Natural” experiment: sudden end of rent control in Cambridge, MA in 1995</a:t>
            </a:r>
          </a:p>
          <a:p>
            <a:endParaRPr lang="en-US" dirty="0"/>
          </a:p>
          <a:p>
            <a:pPr lvl="1"/>
            <a:endParaRPr lang="en-US" dirty="0"/>
          </a:p>
          <a:p>
            <a:pPr>
              <a:spcAft>
                <a:spcPts val="600"/>
              </a:spcAft>
            </a:pPr>
            <a:endParaRPr lang="en-US" sz="1800" dirty="0"/>
          </a:p>
          <a:p>
            <a:pPr lvl="1"/>
            <a:endParaRPr lang="en-US" dirty="0"/>
          </a:p>
          <a:p>
            <a:pPr lvl="1"/>
            <a:endParaRPr lang="en-US" dirty="0"/>
          </a:p>
          <a:p>
            <a:endParaRPr lang="en-US" dirty="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73613" y="2312368"/>
            <a:ext cx="6596774" cy="4047780"/>
          </a:xfrm>
          <a:prstGeom prst="rect">
            <a:avLst/>
          </a:prstGeom>
        </p:spPr>
      </p:pic>
      <p:sp>
        <p:nvSpPr>
          <p:cNvPr id="3" name="TextBox 2"/>
          <p:cNvSpPr txBox="1"/>
          <p:nvPr/>
        </p:nvSpPr>
        <p:spPr>
          <a:xfrm>
            <a:off x="273132" y="6490335"/>
            <a:ext cx="4049486" cy="369332"/>
          </a:xfrm>
          <a:prstGeom prst="rect">
            <a:avLst/>
          </a:prstGeom>
          <a:noFill/>
        </p:spPr>
        <p:txBody>
          <a:bodyPr wrap="square" rtlCol="0">
            <a:spAutoFit/>
          </a:bodyPr>
          <a:lstStyle/>
          <a:p>
            <a:r>
              <a:rPr lang="en-US" dirty="0">
                <a:hlinkClick r:id="rId5"/>
              </a:rPr>
              <a:t>Source: </a:t>
            </a:r>
            <a:r>
              <a:rPr lang="en-US" dirty="0" err="1">
                <a:hlinkClick r:id="rId5"/>
              </a:rPr>
              <a:t>Autor</a:t>
            </a:r>
            <a:r>
              <a:rPr lang="en-US" dirty="0">
                <a:hlinkClick r:id="rId5"/>
              </a:rPr>
              <a:t>, Palmer, Pathak (2014) </a:t>
            </a:r>
            <a:endParaRPr lang="en-US" dirty="0"/>
          </a:p>
        </p:txBody>
      </p:sp>
    </p:spTree>
    <p:custDataLst>
      <p:tags r:id="rId1"/>
    </p:custDataLst>
    <p:extLst>
      <p:ext uri="{BB962C8B-B14F-4D97-AF65-F5344CB8AC3E}">
        <p14:creationId xmlns:p14="http://schemas.microsoft.com/office/powerpoint/2010/main" val="270258585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noAutofit/>
          </a:bodyPr>
          <a:lstStyle/>
          <a:p>
            <a:r>
              <a:rPr lang="en-US" dirty="0"/>
              <a:t>evidence on rent control</a:t>
            </a:r>
            <a:endParaRPr lang="en-US" dirty="0">
              <a:latin typeface="+mn-lt"/>
            </a:endParaRPr>
          </a:p>
        </p:txBody>
      </p:sp>
      <p:sp>
        <p:nvSpPr>
          <p:cNvPr id="2" name="Text Placeholder 1">
            <a:extLst>
              <a:ext uri="{FF2B5EF4-FFF2-40B4-BE49-F238E27FC236}">
                <a16:creationId xmlns:a16="http://schemas.microsoft.com/office/drawing/2014/main" id="{4526BC1A-BC76-4B2D-8500-C16729BACDBD}"/>
              </a:ext>
            </a:extLst>
          </p:cNvPr>
          <p:cNvSpPr>
            <a:spLocks noGrp="1"/>
          </p:cNvSpPr>
          <p:nvPr>
            <p:ph type="body" idx="1"/>
          </p:nvPr>
        </p:nvSpPr>
        <p:spPr/>
        <p:txBody>
          <a:bodyPr/>
          <a:lstStyle/>
          <a:p>
            <a:r>
              <a:rPr lang="en-US" dirty="0"/>
              <a:t>“Natural” experiment: sudden end of rent control in Cambridge, MA in 1995</a:t>
            </a:r>
          </a:p>
          <a:p>
            <a:endParaRPr lang="en-US" dirty="0"/>
          </a:p>
          <a:p>
            <a:r>
              <a:rPr lang="en-US" dirty="0"/>
              <a:t>What do you think happened to:</a:t>
            </a:r>
          </a:p>
          <a:p>
            <a:pPr lvl="1"/>
            <a:r>
              <a:rPr lang="en-US" dirty="0"/>
              <a:t>Rental price for previously rent-controlled units?</a:t>
            </a:r>
          </a:p>
          <a:p>
            <a:pPr lvl="1"/>
            <a:r>
              <a:rPr lang="en-US" dirty="0"/>
              <a:t>Investment in previously rent-controlled units?</a:t>
            </a:r>
          </a:p>
          <a:p>
            <a:pPr lvl="1"/>
            <a:r>
              <a:rPr lang="en-US" dirty="0"/>
              <a:t>Price/investment for nearby </a:t>
            </a:r>
            <a:r>
              <a:rPr lang="en-US" u="sng" dirty="0"/>
              <a:t>never-controlled</a:t>
            </a:r>
            <a:r>
              <a:rPr lang="en-US" dirty="0"/>
              <a:t> units?</a:t>
            </a:r>
          </a:p>
          <a:p>
            <a:endParaRPr lang="en-US" dirty="0"/>
          </a:p>
        </p:txBody>
      </p:sp>
      <p:sp>
        <p:nvSpPr>
          <p:cNvPr id="8" name="Slide Number Placeholder 7"/>
          <p:cNvSpPr>
            <a:spLocks noGrp="1"/>
          </p:cNvSpPr>
          <p:nvPr>
            <p:ph type="sldNum" sz="quarter" idx="12"/>
          </p:nvPr>
        </p:nvSpPr>
        <p:spPr/>
        <p:txBody>
          <a:bodyPr/>
          <a:lstStyle/>
          <a:p>
            <a:fld id="{0F3206DB-9488-D04D-BDD1-A7C9D84C4579}" type="slidenum">
              <a:rPr lang="en-US" smtClean="0"/>
              <a:t>69</a:t>
            </a:fld>
            <a:endParaRPr lang="en-US"/>
          </a:p>
        </p:txBody>
      </p:sp>
    </p:spTree>
    <p:custDataLst>
      <p:tags r:id="rId1"/>
    </p:custDataLst>
    <p:extLst>
      <p:ext uri="{BB962C8B-B14F-4D97-AF65-F5344CB8AC3E}">
        <p14:creationId xmlns:p14="http://schemas.microsoft.com/office/powerpoint/2010/main" val="112716965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75A6F-FEA6-4D4E-AE76-06878105460E}"/>
              </a:ext>
            </a:extLst>
          </p:cNvPr>
          <p:cNvSpPr>
            <a:spLocks noGrp="1"/>
          </p:cNvSpPr>
          <p:nvPr>
            <p:ph type="title"/>
          </p:nvPr>
        </p:nvSpPr>
        <p:spPr/>
        <p:txBody>
          <a:bodyPr/>
          <a:lstStyle/>
          <a:p>
            <a:r>
              <a:rPr lang="fr-FR" dirty="0"/>
              <a:t>Evidence on </a:t>
            </a:r>
            <a:r>
              <a:rPr lang="fr-FR" dirty="0" err="1"/>
              <a:t>rent</a:t>
            </a:r>
            <a:r>
              <a:rPr lang="fr-FR" dirty="0"/>
              <a:t> </a:t>
            </a:r>
            <a:r>
              <a:rPr lang="fr-FR" dirty="0" err="1"/>
              <a:t>controls</a:t>
            </a:r>
            <a:r>
              <a:rPr lang="fr-FR" dirty="0"/>
              <a:t>: </a:t>
            </a:r>
            <a:r>
              <a:rPr lang="fr-FR" dirty="0" err="1"/>
              <a:t>results</a:t>
            </a:r>
            <a:endParaRPr lang="en-US" dirty="0"/>
          </a:p>
        </p:txBody>
      </p:sp>
      <p:pic>
        <p:nvPicPr>
          <p:cNvPr id="3" name="Picture 2">
            <a:extLst>
              <a:ext uri="{FF2B5EF4-FFF2-40B4-BE49-F238E27FC236}">
                <a16:creationId xmlns:a16="http://schemas.microsoft.com/office/drawing/2014/main" id="{E7C2A9CE-8C9E-4ADF-847E-892B41BE9EA0}"/>
              </a:ext>
            </a:extLst>
          </p:cNvPr>
          <p:cNvPicPr>
            <a:picLocks noChangeAspect="1"/>
          </p:cNvPicPr>
          <p:nvPr/>
        </p:nvPicPr>
        <p:blipFill>
          <a:blip r:embed="rId3"/>
          <a:stretch>
            <a:fillRect/>
          </a:stretch>
        </p:blipFill>
        <p:spPr>
          <a:xfrm>
            <a:off x="412573" y="1556049"/>
            <a:ext cx="3754347" cy="2336160"/>
          </a:xfrm>
          <a:prstGeom prst="rect">
            <a:avLst/>
          </a:prstGeom>
        </p:spPr>
      </p:pic>
      <p:sp>
        <p:nvSpPr>
          <p:cNvPr id="4" name="TextBox 3">
            <a:extLst>
              <a:ext uri="{FF2B5EF4-FFF2-40B4-BE49-F238E27FC236}">
                <a16:creationId xmlns:a16="http://schemas.microsoft.com/office/drawing/2014/main" id="{6C22A13F-2875-4FC7-9466-C0B8167ADD76}"/>
              </a:ext>
            </a:extLst>
          </p:cNvPr>
          <p:cNvSpPr txBox="1"/>
          <p:nvPr/>
        </p:nvSpPr>
        <p:spPr>
          <a:xfrm>
            <a:off x="671118" y="1183395"/>
            <a:ext cx="4159427" cy="369332"/>
          </a:xfrm>
          <a:prstGeom prst="rect">
            <a:avLst/>
          </a:prstGeom>
          <a:noFill/>
        </p:spPr>
        <p:txBody>
          <a:bodyPr wrap="square" rtlCol="0">
            <a:spAutoFit/>
          </a:bodyPr>
          <a:lstStyle/>
          <a:p>
            <a:r>
              <a:rPr lang="fr-FR" dirty="0">
                <a:latin typeface="Whitney Book" pitchFamily="50" charset="0"/>
                <a:cs typeface="Whitney Book" pitchFamily="50" charset="0"/>
              </a:rPr>
              <a:t>Impact on the </a:t>
            </a:r>
            <a:r>
              <a:rPr lang="fr-FR" dirty="0" err="1">
                <a:latin typeface="Whitney Book" pitchFamily="50" charset="0"/>
                <a:cs typeface="Whitney Book" pitchFamily="50" charset="0"/>
              </a:rPr>
              <a:t>price</a:t>
            </a:r>
            <a:r>
              <a:rPr lang="fr-FR" dirty="0">
                <a:latin typeface="Whitney Book" pitchFamily="50" charset="0"/>
                <a:cs typeface="Whitney Book" pitchFamily="50" charset="0"/>
              </a:rPr>
              <a:t> of </a:t>
            </a:r>
            <a:r>
              <a:rPr lang="fr-FR" dirty="0" err="1">
                <a:latin typeface="Whitney Book" pitchFamily="50" charset="0"/>
                <a:cs typeface="Whitney Book" pitchFamily="50" charset="0"/>
              </a:rPr>
              <a:t>decontrolled</a:t>
            </a:r>
            <a:r>
              <a:rPr lang="fr-FR" dirty="0">
                <a:latin typeface="Whitney Book" pitchFamily="50" charset="0"/>
                <a:cs typeface="Whitney Book" pitchFamily="50" charset="0"/>
              </a:rPr>
              <a:t> </a:t>
            </a:r>
            <a:r>
              <a:rPr lang="fr-FR" dirty="0" err="1">
                <a:latin typeface="Whitney Book" pitchFamily="50" charset="0"/>
                <a:cs typeface="Whitney Book" pitchFamily="50" charset="0"/>
              </a:rPr>
              <a:t>units</a:t>
            </a:r>
            <a:r>
              <a:rPr lang="fr-FR" dirty="0">
                <a:latin typeface="Whitney Book" pitchFamily="50" charset="0"/>
                <a:cs typeface="Whitney Book" pitchFamily="50" charset="0"/>
              </a:rPr>
              <a:t> </a:t>
            </a:r>
            <a:endParaRPr lang="en-US" dirty="0">
              <a:latin typeface="Whitney Book" pitchFamily="50" charset="0"/>
              <a:cs typeface="Whitney Book" pitchFamily="50" charset="0"/>
            </a:endParaRPr>
          </a:p>
        </p:txBody>
      </p:sp>
      <p:pic>
        <p:nvPicPr>
          <p:cNvPr id="5" name="Picture 4">
            <a:extLst>
              <a:ext uri="{FF2B5EF4-FFF2-40B4-BE49-F238E27FC236}">
                <a16:creationId xmlns:a16="http://schemas.microsoft.com/office/drawing/2014/main" id="{4C15669D-C239-433B-AA1F-33AAED923B6D}"/>
              </a:ext>
            </a:extLst>
          </p:cNvPr>
          <p:cNvPicPr>
            <a:picLocks noChangeAspect="1"/>
          </p:cNvPicPr>
          <p:nvPr/>
        </p:nvPicPr>
        <p:blipFill>
          <a:blip r:embed="rId4"/>
          <a:stretch>
            <a:fillRect/>
          </a:stretch>
        </p:blipFill>
        <p:spPr>
          <a:xfrm>
            <a:off x="591408" y="4095586"/>
            <a:ext cx="3575512" cy="2635199"/>
          </a:xfrm>
          <a:prstGeom prst="rect">
            <a:avLst/>
          </a:prstGeom>
        </p:spPr>
      </p:pic>
      <p:sp>
        <p:nvSpPr>
          <p:cNvPr id="6" name="TextBox 5">
            <a:extLst>
              <a:ext uri="{FF2B5EF4-FFF2-40B4-BE49-F238E27FC236}">
                <a16:creationId xmlns:a16="http://schemas.microsoft.com/office/drawing/2014/main" id="{56966AE1-3A13-4B62-90F3-8635888DBD12}"/>
              </a:ext>
            </a:extLst>
          </p:cNvPr>
          <p:cNvSpPr txBox="1"/>
          <p:nvPr/>
        </p:nvSpPr>
        <p:spPr>
          <a:xfrm>
            <a:off x="795112" y="3867368"/>
            <a:ext cx="4505003" cy="369332"/>
          </a:xfrm>
          <a:prstGeom prst="rect">
            <a:avLst/>
          </a:prstGeom>
          <a:noFill/>
        </p:spPr>
        <p:txBody>
          <a:bodyPr wrap="square" rtlCol="0">
            <a:spAutoFit/>
          </a:bodyPr>
          <a:lstStyle/>
          <a:p>
            <a:r>
              <a:rPr lang="fr-FR" dirty="0">
                <a:latin typeface="Whitney Book" pitchFamily="50" charset="0"/>
                <a:cs typeface="Whitney Book" pitchFamily="50" charset="0"/>
              </a:rPr>
              <a:t>Impact on the </a:t>
            </a:r>
            <a:r>
              <a:rPr lang="fr-FR" dirty="0" err="1">
                <a:latin typeface="Whitney Book" pitchFamily="50" charset="0"/>
                <a:cs typeface="Whitney Book" pitchFamily="50" charset="0"/>
              </a:rPr>
              <a:t>price</a:t>
            </a:r>
            <a:r>
              <a:rPr lang="fr-FR" dirty="0">
                <a:latin typeface="Whitney Book" pitchFamily="50" charset="0"/>
                <a:cs typeface="Whitney Book" pitchFamily="50" charset="0"/>
              </a:rPr>
              <a:t> of </a:t>
            </a:r>
            <a:r>
              <a:rPr lang="fr-FR" dirty="0" err="1">
                <a:latin typeface="Whitney Book" pitchFamily="50" charset="0"/>
                <a:cs typeface="Whitney Book" pitchFamily="50" charset="0"/>
              </a:rPr>
              <a:t>never-controlled</a:t>
            </a:r>
            <a:r>
              <a:rPr lang="fr-FR" dirty="0">
                <a:latin typeface="Whitney Book" pitchFamily="50" charset="0"/>
                <a:cs typeface="Whitney Book" pitchFamily="50" charset="0"/>
              </a:rPr>
              <a:t> </a:t>
            </a:r>
            <a:r>
              <a:rPr lang="fr-FR" dirty="0" err="1">
                <a:latin typeface="Whitney Book" pitchFamily="50" charset="0"/>
                <a:cs typeface="Whitney Book" pitchFamily="50" charset="0"/>
              </a:rPr>
              <a:t>units</a:t>
            </a:r>
            <a:r>
              <a:rPr lang="fr-FR" dirty="0">
                <a:latin typeface="Whitney Book" pitchFamily="50" charset="0"/>
                <a:cs typeface="Whitney Book" pitchFamily="50" charset="0"/>
              </a:rPr>
              <a:t> </a:t>
            </a:r>
            <a:endParaRPr lang="en-US" dirty="0">
              <a:latin typeface="Whitney Book" pitchFamily="50" charset="0"/>
              <a:cs typeface="Whitney Book" pitchFamily="50" charset="0"/>
            </a:endParaRPr>
          </a:p>
        </p:txBody>
      </p:sp>
      <p:pic>
        <p:nvPicPr>
          <p:cNvPr id="8" name="Picture 7">
            <a:extLst>
              <a:ext uri="{FF2B5EF4-FFF2-40B4-BE49-F238E27FC236}">
                <a16:creationId xmlns:a16="http://schemas.microsoft.com/office/drawing/2014/main" id="{695B9A34-1C9C-4C8C-9038-8E54DEF7767B}"/>
              </a:ext>
            </a:extLst>
          </p:cNvPr>
          <p:cNvPicPr>
            <a:picLocks noChangeAspect="1"/>
          </p:cNvPicPr>
          <p:nvPr/>
        </p:nvPicPr>
        <p:blipFill>
          <a:blip r:embed="rId5"/>
          <a:stretch>
            <a:fillRect/>
          </a:stretch>
        </p:blipFill>
        <p:spPr>
          <a:xfrm>
            <a:off x="5609368" y="2262493"/>
            <a:ext cx="3077432" cy="3579082"/>
          </a:xfrm>
          <a:prstGeom prst="rect">
            <a:avLst/>
          </a:prstGeom>
        </p:spPr>
      </p:pic>
      <p:sp>
        <p:nvSpPr>
          <p:cNvPr id="9" name="TextBox 8">
            <a:extLst>
              <a:ext uri="{FF2B5EF4-FFF2-40B4-BE49-F238E27FC236}">
                <a16:creationId xmlns:a16="http://schemas.microsoft.com/office/drawing/2014/main" id="{F727F4C4-0B38-4993-B939-A9CD8EFFE8F4}"/>
              </a:ext>
            </a:extLst>
          </p:cNvPr>
          <p:cNvSpPr txBox="1"/>
          <p:nvPr/>
        </p:nvSpPr>
        <p:spPr>
          <a:xfrm>
            <a:off x="5503819" y="1521046"/>
            <a:ext cx="4159427" cy="646331"/>
          </a:xfrm>
          <a:prstGeom prst="rect">
            <a:avLst/>
          </a:prstGeom>
          <a:noFill/>
        </p:spPr>
        <p:txBody>
          <a:bodyPr wrap="square" rtlCol="0">
            <a:spAutoFit/>
          </a:bodyPr>
          <a:lstStyle/>
          <a:p>
            <a:r>
              <a:rPr lang="fr-FR" dirty="0">
                <a:latin typeface="Whitney Book" pitchFamily="50" charset="0"/>
                <a:cs typeface="Whitney Book" pitchFamily="50" charset="0"/>
              </a:rPr>
              <a:t>Impact on </a:t>
            </a:r>
            <a:r>
              <a:rPr lang="fr-FR" dirty="0" err="1">
                <a:latin typeface="Whitney Book" pitchFamily="50" charset="0"/>
                <a:cs typeface="Whitney Book" pitchFamily="50" charset="0"/>
              </a:rPr>
              <a:t>investment</a:t>
            </a:r>
            <a:r>
              <a:rPr lang="fr-FR" dirty="0">
                <a:latin typeface="Whitney Book" pitchFamily="50" charset="0"/>
                <a:cs typeface="Whitney Book" pitchFamily="50" charset="0"/>
              </a:rPr>
              <a:t> </a:t>
            </a:r>
            <a:r>
              <a:rPr lang="fr-FR" dirty="0" err="1">
                <a:latin typeface="Whitney Book" pitchFamily="50" charset="0"/>
                <a:cs typeface="Whitney Book" pitchFamily="50" charset="0"/>
              </a:rPr>
              <a:t>activities</a:t>
            </a:r>
            <a:r>
              <a:rPr lang="fr-FR" dirty="0">
                <a:latin typeface="Whitney Book" pitchFamily="50" charset="0"/>
                <a:cs typeface="Whitney Book" pitchFamily="50" charset="0"/>
              </a:rPr>
              <a:t> at </a:t>
            </a:r>
            <a:r>
              <a:rPr lang="fr-FR" dirty="0" err="1">
                <a:latin typeface="Whitney Book" pitchFamily="50" charset="0"/>
                <a:cs typeface="Whitney Book" pitchFamily="50" charset="0"/>
              </a:rPr>
              <a:t>decontrolled</a:t>
            </a:r>
            <a:r>
              <a:rPr lang="fr-FR" dirty="0">
                <a:latin typeface="Whitney Book" pitchFamily="50" charset="0"/>
                <a:cs typeface="Whitney Book" pitchFamily="50" charset="0"/>
              </a:rPr>
              <a:t> </a:t>
            </a:r>
            <a:r>
              <a:rPr lang="fr-FR" dirty="0" err="1">
                <a:latin typeface="Whitney Book" pitchFamily="50" charset="0"/>
                <a:cs typeface="Whitney Book" pitchFamily="50" charset="0"/>
              </a:rPr>
              <a:t>units</a:t>
            </a:r>
            <a:r>
              <a:rPr lang="fr-FR" dirty="0">
                <a:latin typeface="Whitney Book" pitchFamily="50" charset="0"/>
                <a:cs typeface="Whitney Book" pitchFamily="50" charset="0"/>
              </a:rPr>
              <a:t> ($1000s) </a:t>
            </a:r>
            <a:endParaRPr lang="en-US" dirty="0">
              <a:latin typeface="Whitney Book" pitchFamily="50" charset="0"/>
              <a:cs typeface="Whitney Book" pitchFamily="50" charset="0"/>
            </a:endParaRPr>
          </a:p>
        </p:txBody>
      </p:sp>
      <p:cxnSp>
        <p:nvCxnSpPr>
          <p:cNvPr id="10" name="Straight Arrow Connector 9">
            <a:extLst>
              <a:ext uri="{FF2B5EF4-FFF2-40B4-BE49-F238E27FC236}">
                <a16:creationId xmlns:a16="http://schemas.microsoft.com/office/drawing/2014/main" id="{58572856-2F6A-45A3-950D-2B8DDCAEFD62}"/>
              </a:ext>
            </a:extLst>
          </p:cNvPr>
          <p:cNvCxnSpPr>
            <a:cxnSpLocks/>
          </p:cNvCxnSpPr>
          <p:nvPr/>
        </p:nvCxnSpPr>
        <p:spPr>
          <a:xfrm flipV="1">
            <a:off x="1931437" y="2043404"/>
            <a:ext cx="2164702" cy="597159"/>
          </a:xfrm>
          <a:prstGeom prst="straightConnector1">
            <a:avLst/>
          </a:prstGeom>
          <a:ln>
            <a:solidFill>
              <a:schemeClr val="accent2">
                <a:alpha val="37000"/>
              </a:schemeClr>
            </a:solidFill>
            <a:tailEnd type="triangle"/>
          </a:ln>
        </p:spPr>
        <p:style>
          <a:lnRef idx="2">
            <a:schemeClr val="accent2"/>
          </a:lnRef>
          <a:fillRef idx="0">
            <a:schemeClr val="accent2"/>
          </a:fillRef>
          <a:effectRef idx="1">
            <a:schemeClr val="accent2"/>
          </a:effectRef>
          <a:fontRef idx="minor">
            <a:schemeClr val="tx1"/>
          </a:fontRef>
        </p:style>
      </p:cxnSp>
      <p:cxnSp>
        <p:nvCxnSpPr>
          <p:cNvPr id="13" name="Straight Arrow Connector 12">
            <a:extLst>
              <a:ext uri="{FF2B5EF4-FFF2-40B4-BE49-F238E27FC236}">
                <a16:creationId xmlns:a16="http://schemas.microsoft.com/office/drawing/2014/main" id="{75BCE09A-C15C-4890-A915-1B2398546BA4}"/>
              </a:ext>
            </a:extLst>
          </p:cNvPr>
          <p:cNvCxnSpPr>
            <a:cxnSpLocks/>
          </p:cNvCxnSpPr>
          <p:nvPr/>
        </p:nvCxnSpPr>
        <p:spPr>
          <a:xfrm flipV="1">
            <a:off x="6494106" y="3508310"/>
            <a:ext cx="1203649" cy="662474"/>
          </a:xfrm>
          <a:prstGeom prst="straightConnector1">
            <a:avLst/>
          </a:prstGeom>
          <a:ln>
            <a:solidFill>
              <a:schemeClr val="accent2">
                <a:alpha val="37000"/>
              </a:schemeClr>
            </a:solidFill>
            <a:tailEnd type="triangle"/>
          </a:ln>
        </p:spPr>
        <p:style>
          <a:lnRef idx="2">
            <a:schemeClr val="accent2"/>
          </a:lnRef>
          <a:fillRef idx="0">
            <a:schemeClr val="accent2"/>
          </a:fillRef>
          <a:effectRef idx="1">
            <a:schemeClr val="accent2"/>
          </a:effectRef>
          <a:fontRef idx="minor">
            <a:schemeClr val="tx1"/>
          </a:fontRef>
        </p:style>
      </p:cxnSp>
      <p:cxnSp>
        <p:nvCxnSpPr>
          <p:cNvPr id="17" name="Straight Arrow Connector 16">
            <a:extLst>
              <a:ext uri="{FF2B5EF4-FFF2-40B4-BE49-F238E27FC236}">
                <a16:creationId xmlns:a16="http://schemas.microsoft.com/office/drawing/2014/main" id="{0B957CCC-C25A-4BA2-88D6-F85750C3D966}"/>
              </a:ext>
            </a:extLst>
          </p:cNvPr>
          <p:cNvCxnSpPr>
            <a:cxnSpLocks/>
          </p:cNvCxnSpPr>
          <p:nvPr/>
        </p:nvCxnSpPr>
        <p:spPr>
          <a:xfrm flipV="1">
            <a:off x="2082168" y="5164925"/>
            <a:ext cx="2164702" cy="597159"/>
          </a:xfrm>
          <a:prstGeom prst="straightConnector1">
            <a:avLst/>
          </a:prstGeom>
          <a:ln>
            <a:solidFill>
              <a:schemeClr val="accent2">
                <a:alpha val="37000"/>
              </a:schemeClr>
            </a:solidFill>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663334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9"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66A65-AD0C-4F6D-A6A6-72CC681D3B12}"/>
              </a:ext>
            </a:extLst>
          </p:cNvPr>
          <p:cNvSpPr>
            <a:spLocks noGrp="1"/>
          </p:cNvSpPr>
          <p:nvPr>
            <p:ph type="title"/>
          </p:nvPr>
        </p:nvSpPr>
        <p:spPr/>
        <p:txBody>
          <a:bodyPr/>
          <a:lstStyle/>
          <a:p>
            <a:r>
              <a:rPr lang="fr-FR" dirty="0" err="1"/>
              <a:t>Outline</a:t>
            </a:r>
            <a:r>
              <a:rPr lang="fr-FR" dirty="0"/>
              <a:t> of module 4</a:t>
            </a:r>
            <a:endParaRPr lang="en-US" dirty="0"/>
          </a:p>
        </p:txBody>
      </p:sp>
      <p:sp>
        <p:nvSpPr>
          <p:cNvPr id="4" name="Text Placeholder 3">
            <a:extLst>
              <a:ext uri="{FF2B5EF4-FFF2-40B4-BE49-F238E27FC236}">
                <a16:creationId xmlns:a16="http://schemas.microsoft.com/office/drawing/2014/main" id="{E3B7097D-F7AC-445A-9991-4070974C5DE6}"/>
              </a:ext>
            </a:extLst>
          </p:cNvPr>
          <p:cNvSpPr>
            <a:spLocks noGrp="1"/>
          </p:cNvSpPr>
          <p:nvPr>
            <p:ph type="body" idx="1"/>
          </p:nvPr>
        </p:nvSpPr>
        <p:spPr/>
        <p:txBody>
          <a:bodyPr/>
          <a:lstStyle/>
          <a:p>
            <a:r>
              <a:rPr lang="en-US" dirty="0">
                <a:solidFill>
                  <a:schemeClr val="bg1">
                    <a:lumMod val="50000"/>
                  </a:schemeClr>
                </a:solidFill>
              </a:rPr>
              <a:t>Introduction to market structures </a:t>
            </a:r>
          </a:p>
          <a:p>
            <a:endParaRPr lang="en-US" sz="2000" dirty="0"/>
          </a:p>
          <a:p>
            <a:r>
              <a:rPr lang="en-US" dirty="0">
                <a:solidFill>
                  <a:schemeClr val="bg1">
                    <a:lumMod val="50000"/>
                  </a:schemeClr>
                </a:solidFill>
              </a:rPr>
              <a:t>Perfect competition</a:t>
            </a:r>
          </a:p>
          <a:p>
            <a:pPr lvl="1"/>
            <a:r>
              <a:rPr lang="en-US" dirty="0">
                <a:solidFill>
                  <a:schemeClr val="bg1">
                    <a:lumMod val="50000"/>
                  </a:schemeClr>
                </a:solidFill>
              </a:rPr>
              <a:t>Profit maximization of a price taker in the short run</a:t>
            </a:r>
          </a:p>
          <a:p>
            <a:pPr lvl="1"/>
            <a:r>
              <a:rPr lang="en-US" dirty="0">
                <a:solidFill>
                  <a:schemeClr val="bg1">
                    <a:lumMod val="50000"/>
                  </a:schemeClr>
                </a:solidFill>
              </a:rPr>
              <a:t>Firm-level and market supply</a:t>
            </a:r>
          </a:p>
          <a:p>
            <a:pPr lvl="1"/>
            <a:r>
              <a:rPr lang="en-US" dirty="0">
                <a:solidFill>
                  <a:schemeClr val="bg1">
                    <a:lumMod val="50000"/>
                  </a:schemeClr>
                </a:solidFill>
              </a:rPr>
              <a:t>Long-run competitive equilibrium</a:t>
            </a:r>
          </a:p>
          <a:p>
            <a:pPr lvl="1"/>
            <a:endParaRPr lang="en-US" sz="2000" dirty="0"/>
          </a:p>
          <a:p>
            <a:r>
              <a:rPr lang="en-US" dirty="0">
                <a:solidFill>
                  <a:schemeClr val="bg1">
                    <a:lumMod val="50000"/>
                  </a:schemeClr>
                </a:solidFill>
              </a:rPr>
              <a:t>Market distortions/regulations</a:t>
            </a:r>
          </a:p>
          <a:p>
            <a:endParaRPr lang="en-US" sz="2000" dirty="0">
              <a:solidFill>
                <a:schemeClr val="bg1">
                  <a:lumMod val="50000"/>
                </a:schemeClr>
              </a:solidFill>
            </a:endParaRPr>
          </a:p>
          <a:p>
            <a:r>
              <a:rPr lang="en-US" b="1" dirty="0"/>
              <a:t>Externalities</a:t>
            </a:r>
          </a:p>
          <a:p>
            <a:endParaRPr lang="en-US" dirty="0"/>
          </a:p>
        </p:txBody>
      </p:sp>
    </p:spTree>
    <p:extLst>
      <p:ext uri="{BB962C8B-B14F-4D97-AF65-F5344CB8AC3E}">
        <p14:creationId xmlns:p14="http://schemas.microsoft.com/office/powerpoint/2010/main" val="2883601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Externalities: Definitions </a:t>
            </a:r>
            <a:br>
              <a:rPr lang="en-US" dirty="0"/>
            </a:br>
            <a:endParaRPr lang="en-US" dirty="0"/>
          </a:p>
        </p:txBody>
      </p:sp>
      <p:sp>
        <p:nvSpPr>
          <p:cNvPr id="3" name="Content Placeholder 2"/>
          <p:cNvSpPr>
            <a:spLocks noGrp="1"/>
          </p:cNvSpPr>
          <p:nvPr>
            <p:ph type="body" idx="1"/>
          </p:nvPr>
        </p:nvSpPr>
        <p:spPr/>
        <p:txBody>
          <a:bodyPr>
            <a:normAutofit fontScale="92500"/>
          </a:bodyPr>
          <a:lstStyle/>
          <a:p>
            <a:r>
              <a:rPr lang="en-US" dirty="0"/>
              <a:t>Externalities: A cost or benefit that affects a party not directly involved in a transaction​</a:t>
            </a:r>
          </a:p>
          <a:p>
            <a:endParaRPr lang="en-US" sz="1200" dirty="0"/>
          </a:p>
          <a:p>
            <a:r>
              <a:rPr lang="en-US" b="1" dirty="0"/>
              <a:t>Negative</a:t>
            </a:r>
            <a:r>
              <a:rPr lang="en-US" dirty="0"/>
              <a:t> externality: A </a:t>
            </a:r>
            <a:r>
              <a:rPr lang="en-US" u="sng" dirty="0"/>
              <a:t>cost</a:t>
            </a:r>
            <a:r>
              <a:rPr lang="en-US" dirty="0"/>
              <a:t> imposed on a party not directly involved in a transaction​</a:t>
            </a:r>
          </a:p>
          <a:p>
            <a:pPr lvl="1"/>
            <a:r>
              <a:rPr lang="en-US" dirty="0"/>
              <a:t>Air pollution from coal-fired power plants​</a:t>
            </a:r>
          </a:p>
          <a:p>
            <a:pPr lvl="1"/>
            <a:r>
              <a:rPr lang="en-US" dirty="0"/>
              <a:t>Neg. Externality of gasoline is </a:t>
            </a:r>
            <a:r>
              <a:rPr lang="en-US" dirty="0" err="1"/>
              <a:t>approx</a:t>
            </a:r>
            <a:r>
              <a:rPr lang="en-US" dirty="0"/>
              <a:t> $1.50 per gallon</a:t>
            </a:r>
          </a:p>
          <a:p>
            <a:pPr lvl="1"/>
            <a:endParaRPr lang="en-US" sz="1200" dirty="0"/>
          </a:p>
          <a:p>
            <a:r>
              <a:rPr lang="en-US" b="1" dirty="0"/>
              <a:t>Positive</a:t>
            </a:r>
            <a:r>
              <a:rPr lang="en-US" dirty="0"/>
              <a:t> externality: A </a:t>
            </a:r>
            <a:r>
              <a:rPr lang="en-US" u="sng" dirty="0"/>
              <a:t>benefit</a:t>
            </a:r>
            <a:r>
              <a:rPr lang="en-US" dirty="0"/>
              <a:t> conferred on a party not directly involved in a transaction​</a:t>
            </a:r>
          </a:p>
          <a:p>
            <a:pPr lvl="1"/>
            <a:r>
              <a:rPr lang="en-US" dirty="0"/>
              <a:t>Example: Your neighbor’s nice front yard is a pleasure to watch also for you</a:t>
            </a:r>
          </a:p>
        </p:txBody>
      </p:sp>
      <p:sp>
        <p:nvSpPr>
          <p:cNvPr id="4" name="Slide Number Placeholder 3"/>
          <p:cNvSpPr>
            <a:spLocks noGrp="1"/>
          </p:cNvSpPr>
          <p:nvPr>
            <p:ph type="sldNum" sz="quarter" idx="12"/>
          </p:nvPr>
        </p:nvSpPr>
        <p:spPr/>
        <p:txBody>
          <a:bodyPr/>
          <a:lstStyle/>
          <a:p>
            <a:fld id="{DBC38028-5B1C-49D3-BF22-2CE9385E6DA2}" type="slidenum">
              <a:rPr lang="en-US" smtClean="0"/>
              <a:pPr/>
              <a:t>72</a:t>
            </a:fld>
            <a:endParaRPr lang="en-US" dirty="0"/>
          </a:p>
        </p:txBody>
      </p:sp>
    </p:spTree>
    <p:custDataLst>
      <p:tags r:id="rId1"/>
    </p:custDataLst>
    <p:extLst>
      <p:ext uri="{BB962C8B-B14F-4D97-AF65-F5344CB8AC3E}">
        <p14:creationId xmlns:p14="http://schemas.microsoft.com/office/powerpoint/2010/main" val="3590527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Externalities</a:t>
            </a:r>
            <a:br>
              <a:rPr lang="en-US" dirty="0"/>
            </a:br>
            <a:endParaRPr lang="en-US" dirty="0"/>
          </a:p>
        </p:txBody>
      </p:sp>
      <p:sp>
        <p:nvSpPr>
          <p:cNvPr id="3" name="Content Placeholder 2"/>
          <p:cNvSpPr>
            <a:spLocks noGrp="1"/>
          </p:cNvSpPr>
          <p:nvPr>
            <p:ph type="body" idx="1"/>
          </p:nvPr>
        </p:nvSpPr>
        <p:spPr/>
        <p:txBody>
          <a:bodyPr/>
          <a:lstStyle/>
          <a:p>
            <a:pPr marL="0" indent="0">
              <a:buNone/>
            </a:pPr>
            <a:r>
              <a:rPr lang="en-US" sz="3000" dirty="0"/>
              <a:t>Next:</a:t>
            </a:r>
          </a:p>
          <a:p>
            <a:r>
              <a:rPr lang="en-US" sz="3000" dirty="0"/>
              <a:t>How can we correct for externalities?</a:t>
            </a:r>
          </a:p>
        </p:txBody>
      </p:sp>
      <p:sp>
        <p:nvSpPr>
          <p:cNvPr id="4" name="Slide Number Placeholder 3"/>
          <p:cNvSpPr>
            <a:spLocks noGrp="1"/>
          </p:cNvSpPr>
          <p:nvPr>
            <p:ph type="sldNum" sz="quarter" idx="12"/>
          </p:nvPr>
        </p:nvSpPr>
        <p:spPr/>
        <p:txBody>
          <a:bodyPr/>
          <a:lstStyle/>
          <a:p>
            <a:fld id="{DBC38028-5B1C-49D3-BF22-2CE9385E6DA2}" type="slidenum">
              <a:rPr lang="en-US" smtClean="0"/>
              <a:pPr/>
              <a:t>73</a:t>
            </a:fld>
            <a:endParaRPr lang="en-US" dirty="0"/>
          </a:p>
        </p:txBody>
      </p:sp>
      <p:pic>
        <p:nvPicPr>
          <p:cNvPr id="5" name="Picture 4">
            <a:extLst>
              <a:ext uri="{FF2B5EF4-FFF2-40B4-BE49-F238E27FC236}">
                <a16:creationId xmlns:a16="http://schemas.microsoft.com/office/drawing/2014/main" id="{9D334B05-D3BD-4F50-BD19-AD120B4910B4}"/>
              </a:ext>
            </a:extLst>
          </p:cNvPr>
          <p:cNvPicPr>
            <a:picLocks noChangeAspect="1"/>
          </p:cNvPicPr>
          <p:nvPr/>
        </p:nvPicPr>
        <p:blipFill>
          <a:blip r:embed="rId4"/>
          <a:stretch>
            <a:fillRect/>
          </a:stretch>
        </p:blipFill>
        <p:spPr>
          <a:xfrm>
            <a:off x="5154471" y="834787"/>
            <a:ext cx="3766287" cy="5902799"/>
          </a:xfrm>
          <a:prstGeom prst="rect">
            <a:avLst/>
          </a:prstGeom>
        </p:spPr>
      </p:pic>
    </p:spTree>
    <p:custDataLst>
      <p:tags r:id="rId1"/>
    </p:custDataLst>
    <p:extLst>
      <p:ext uri="{BB962C8B-B14F-4D97-AF65-F5344CB8AC3E}">
        <p14:creationId xmlns:p14="http://schemas.microsoft.com/office/powerpoint/2010/main" val="3670498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tx2">
                    <a:lumMod val="75000"/>
                  </a:schemeClr>
                </a:solidFill>
                <a:latin typeface="Whitney Medium" pitchFamily="50" charset="0"/>
                <a:cs typeface="Whitney Medium" pitchFamily="50" charset="0"/>
              </a:rPr>
              <a:t>Carbon Tax to Correct for the Negative Externality</a:t>
            </a:r>
            <a:br>
              <a:rPr lang="en-US" dirty="0">
                <a:solidFill>
                  <a:schemeClr val="tx2">
                    <a:lumMod val="75000"/>
                  </a:schemeClr>
                </a:solidFill>
                <a:latin typeface="Whitney Medium" pitchFamily="50" charset="0"/>
                <a:cs typeface="Whitney Medium" pitchFamily="50" charset="0"/>
              </a:rPr>
            </a:br>
            <a:endParaRPr lang="en-US" dirty="0">
              <a:solidFill>
                <a:schemeClr val="tx2">
                  <a:lumMod val="75000"/>
                </a:schemeClr>
              </a:solidFill>
              <a:latin typeface="Whitney Medium" pitchFamily="50" charset="0"/>
              <a:cs typeface="Whitney Medium" pitchFamily="50" charset="0"/>
            </a:endParaRPr>
          </a:p>
        </p:txBody>
      </p:sp>
      <p:sp>
        <p:nvSpPr>
          <p:cNvPr id="4" name="Slide Number Placeholder 3"/>
          <p:cNvSpPr>
            <a:spLocks noGrp="1"/>
          </p:cNvSpPr>
          <p:nvPr>
            <p:ph type="sldNum" sz="quarter" idx="12"/>
          </p:nvPr>
        </p:nvSpPr>
        <p:spPr/>
        <p:txBody>
          <a:bodyPr/>
          <a:lstStyle/>
          <a:p>
            <a:fld id="{DBC38028-5B1C-49D3-BF22-2CE9385E6DA2}" type="slidenum">
              <a:rPr lang="en-US" smtClean="0">
                <a:solidFill>
                  <a:schemeClr val="tx2">
                    <a:lumMod val="75000"/>
                  </a:schemeClr>
                </a:solidFill>
                <a:latin typeface="Whitney Book" pitchFamily="50" charset="0"/>
                <a:cs typeface="Whitney Book" pitchFamily="50" charset="0"/>
              </a:rPr>
              <a:pPr/>
              <a:t>74</a:t>
            </a:fld>
            <a:endParaRPr lang="en-US" dirty="0">
              <a:solidFill>
                <a:schemeClr val="tx2">
                  <a:lumMod val="75000"/>
                </a:schemeClr>
              </a:solidFill>
              <a:latin typeface="Whitney Book" pitchFamily="50" charset="0"/>
              <a:cs typeface="Whitney Book" pitchFamily="50" charset="0"/>
            </a:endParaRPr>
          </a:p>
        </p:txBody>
      </p:sp>
      <p:grpSp>
        <p:nvGrpSpPr>
          <p:cNvPr id="44" name="Group 43"/>
          <p:cNvGrpSpPr/>
          <p:nvPr/>
        </p:nvGrpSpPr>
        <p:grpSpPr>
          <a:xfrm>
            <a:off x="2065641" y="2506304"/>
            <a:ext cx="3315639" cy="4107681"/>
            <a:chOff x="2319809" y="2387868"/>
            <a:chExt cx="4456559" cy="3841495"/>
          </a:xfrm>
        </p:grpSpPr>
        <p:sp>
          <p:nvSpPr>
            <p:cNvPr id="11" name="Line 4"/>
            <p:cNvSpPr>
              <a:spLocks noChangeShapeType="1"/>
            </p:cNvSpPr>
            <p:nvPr/>
          </p:nvSpPr>
          <p:spPr bwMode="auto">
            <a:xfrm>
              <a:off x="2319809" y="2387868"/>
              <a:ext cx="3484749" cy="3452866"/>
            </a:xfrm>
            <a:prstGeom prst="line">
              <a:avLst/>
            </a:prstGeom>
            <a:noFill/>
            <a:ln w="50800">
              <a:solidFill>
                <a:schemeClr val="accent3">
                  <a:lumMod val="75000"/>
                </a:schemeClr>
              </a:solidFill>
              <a:round/>
              <a:headEnd type="none" w="sm" len="sm"/>
              <a:tailEnd type="none" w="sm" len="sm"/>
            </a:ln>
            <a:effectLst/>
          </p:spPr>
          <p:txBody>
            <a:bodyPr wrap="none" anchor="ctr"/>
            <a:lstStyle/>
            <a:p>
              <a:endParaRPr lang="en-US" sz="1688">
                <a:solidFill>
                  <a:schemeClr val="tx2">
                    <a:lumMod val="75000"/>
                  </a:schemeClr>
                </a:solidFill>
                <a:latin typeface="Whitney Book" pitchFamily="50" charset="0"/>
                <a:cs typeface="Whitney Book" pitchFamily="50" charset="0"/>
              </a:endParaRPr>
            </a:p>
          </p:txBody>
        </p:sp>
        <p:sp>
          <p:nvSpPr>
            <p:cNvPr id="12" name="Rectangle 5"/>
            <p:cNvSpPr>
              <a:spLocks noChangeArrowheads="1"/>
            </p:cNvSpPr>
            <p:nvPr/>
          </p:nvSpPr>
          <p:spPr bwMode="auto">
            <a:xfrm>
              <a:off x="6001424" y="5600817"/>
              <a:ext cx="774944" cy="628546"/>
            </a:xfrm>
            <a:prstGeom prst="rect">
              <a:avLst/>
            </a:prstGeom>
            <a:noFill/>
            <a:ln w="9525">
              <a:noFill/>
              <a:miter lim="800000"/>
              <a:headEnd/>
              <a:tailEnd/>
            </a:ln>
            <a:effectLst/>
          </p:spPr>
          <p:txBody>
            <a:bodyPr wrap="none" lIns="17859" tIns="25301" rIns="17859" bIns="25301"/>
            <a:lstStyle/>
            <a:p>
              <a:pPr algn="ctr">
                <a:lnSpc>
                  <a:spcPts val="2763"/>
                </a:lnSpc>
                <a:spcAft>
                  <a:spcPts val="888"/>
                </a:spcAft>
                <a:tabLst>
                  <a:tab pos="451085" algn="l"/>
                  <a:tab pos="902170" algn="l"/>
                  <a:tab pos="1353255" algn="l"/>
                </a:tabLst>
              </a:pPr>
              <a:r>
                <a:rPr lang="en-US" sz="1688" dirty="0">
                  <a:solidFill>
                    <a:schemeClr val="accent3">
                      <a:lumMod val="75000"/>
                    </a:schemeClr>
                  </a:solidFill>
                  <a:latin typeface="Whitney Book" pitchFamily="50" charset="0"/>
                  <a:cs typeface="Whitney Book" pitchFamily="50" charset="0"/>
                </a:rPr>
                <a:t>Demand</a:t>
              </a:r>
            </a:p>
          </p:txBody>
        </p:sp>
      </p:grpSp>
      <p:sp>
        <p:nvSpPr>
          <p:cNvPr id="16" name="Line 20"/>
          <p:cNvSpPr>
            <a:spLocks noChangeShapeType="1"/>
          </p:cNvSpPr>
          <p:nvPr/>
        </p:nvSpPr>
        <p:spPr bwMode="auto">
          <a:xfrm>
            <a:off x="1197493" y="2493662"/>
            <a:ext cx="0" cy="3836468"/>
          </a:xfrm>
          <a:prstGeom prst="line">
            <a:avLst/>
          </a:prstGeom>
          <a:ln>
            <a:headEnd type="arrow" w="med" len="med"/>
            <a:tailEnd type="none" w="med" len="med"/>
          </a:ln>
        </p:spPr>
        <p:style>
          <a:lnRef idx="2">
            <a:schemeClr val="dk1"/>
          </a:lnRef>
          <a:fillRef idx="0">
            <a:schemeClr val="dk1"/>
          </a:fillRef>
          <a:effectRef idx="1">
            <a:schemeClr val="dk1"/>
          </a:effectRef>
          <a:fontRef idx="minor">
            <a:schemeClr val="tx1"/>
          </a:fontRef>
        </p:style>
        <p:txBody>
          <a:bodyPr wrap="none" lIns="90217" tIns="45109" rIns="90217" bIns="45109" anchor="ctr"/>
          <a:lstStyle/>
          <a:p>
            <a:endParaRPr lang="en-US" sz="1688">
              <a:solidFill>
                <a:schemeClr val="tx2">
                  <a:lumMod val="75000"/>
                </a:schemeClr>
              </a:solidFill>
              <a:latin typeface="Whitney Book" pitchFamily="50" charset="0"/>
              <a:cs typeface="Whitney Book" pitchFamily="50" charset="0"/>
            </a:endParaRPr>
          </a:p>
        </p:txBody>
      </p:sp>
      <p:sp>
        <p:nvSpPr>
          <p:cNvPr id="17" name="Line 21"/>
          <p:cNvSpPr>
            <a:spLocks noChangeShapeType="1"/>
          </p:cNvSpPr>
          <p:nvPr/>
        </p:nvSpPr>
        <p:spPr bwMode="auto">
          <a:xfrm>
            <a:off x="1210019" y="6311323"/>
            <a:ext cx="5345287" cy="0"/>
          </a:xfrm>
          <a:prstGeom prst="line">
            <a:avLst/>
          </a:prstGeom>
          <a:ln>
            <a:headEnd type="none" w="med" len="med"/>
            <a:tailEnd type="arrow" w="med" len="med"/>
          </a:ln>
        </p:spPr>
        <p:style>
          <a:lnRef idx="2">
            <a:schemeClr val="dk1"/>
          </a:lnRef>
          <a:fillRef idx="0">
            <a:schemeClr val="dk1"/>
          </a:fillRef>
          <a:effectRef idx="1">
            <a:schemeClr val="dk1"/>
          </a:effectRef>
          <a:fontRef idx="minor">
            <a:schemeClr val="tx1"/>
          </a:fontRef>
        </p:style>
        <p:txBody>
          <a:bodyPr wrap="none" lIns="90217" tIns="45109" rIns="90217" bIns="45109" anchor="ctr"/>
          <a:lstStyle/>
          <a:p>
            <a:endParaRPr lang="en-US" sz="1688">
              <a:solidFill>
                <a:schemeClr val="tx2">
                  <a:lumMod val="75000"/>
                </a:schemeClr>
              </a:solidFill>
              <a:latin typeface="Whitney Book" pitchFamily="50" charset="0"/>
              <a:cs typeface="Whitney Book" pitchFamily="50" charset="0"/>
            </a:endParaRPr>
          </a:p>
        </p:txBody>
      </p:sp>
      <p:sp>
        <p:nvSpPr>
          <p:cNvPr id="18" name="Rectangle 22"/>
          <p:cNvSpPr>
            <a:spLocks noChangeArrowheads="1"/>
          </p:cNvSpPr>
          <p:nvPr/>
        </p:nvSpPr>
        <p:spPr bwMode="auto">
          <a:xfrm>
            <a:off x="711369" y="2076983"/>
            <a:ext cx="676405" cy="589262"/>
          </a:xfrm>
          <a:prstGeom prst="rect">
            <a:avLst/>
          </a:prstGeom>
          <a:noFill/>
          <a:ln w="9525">
            <a:noFill/>
            <a:miter lim="800000"/>
            <a:headEnd/>
            <a:tailEnd/>
          </a:ln>
          <a:effectLst/>
        </p:spPr>
        <p:txBody>
          <a:bodyPr wrap="none" lIns="18795" tIns="26627" rIns="18795" bIns="26627"/>
          <a:lstStyle/>
          <a:p>
            <a:pPr algn="ctr">
              <a:lnSpc>
                <a:spcPts val="2763"/>
              </a:lnSpc>
              <a:spcAft>
                <a:spcPts val="888"/>
              </a:spcAft>
              <a:tabLst>
                <a:tab pos="451085" algn="l"/>
                <a:tab pos="902170" algn="l"/>
                <a:tab pos="1353255" algn="l"/>
              </a:tabLst>
            </a:pPr>
            <a:r>
              <a:rPr lang="en-US" sz="1688" dirty="0">
                <a:solidFill>
                  <a:schemeClr val="tx2">
                    <a:lumMod val="75000"/>
                  </a:schemeClr>
                </a:solidFill>
                <a:latin typeface="Whitney Book" pitchFamily="50" charset="0"/>
                <a:cs typeface="Whitney Book" pitchFamily="50" charset="0"/>
              </a:rPr>
              <a:t>$/gallon</a:t>
            </a:r>
          </a:p>
        </p:txBody>
      </p:sp>
      <p:sp>
        <p:nvSpPr>
          <p:cNvPr id="19" name="Rectangle 35"/>
          <p:cNvSpPr>
            <a:spLocks noChangeArrowheads="1"/>
          </p:cNvSpPr>
          <p:nvPr/>
        </p:nvSpPr>
        <p:spPr bwMode="auto">
          <a:xfrm>
            <a:off x="6522612" y="6067943"/>
            <a:ext cx="1725068" cy="553396"/>
          </a:xfrm>
          <a:prstGeom prst="rect">
            <a:avLst/>
          </a:prstGeom>
          <a:noFill/>
          <a:ln w="9525">
            <a:noFill/>
            <a:miter lim="800000"/>
            <a:headEnd/>
            <a:tailEnd/>
          </a:ln>
          <a:effectLst/>
        </p:spPr>
        <p:txBody>
          <a:bodyPr wrap="square" lIns="90844" tIns="45422" rIns="90844" bIns="45422">
            <a:spAutoFit/>
          </a:bodyPr>
          <a:lstStyle/>
          <a:p>
            <a:r>
              <a:rPr lang="en-US" sz="1500" dirty="0">
                <a:solidFill>
                  <a:schemeClr val="tx2">
                    <a:lumMod val="75000"/>
                  </a:schemeClr>
                </a:solidFill>
                <a:latin typeface="Whitney Book" pitchFamily="50" charset="0"/>
                <a:cs typeface="Whitney Book" pitchFamily="50" charset="0"/>
              </a:rPr>
              <a:t>Quantity of gasoline per year</a:t>
            </a:r>
          </a:p>
        </p:txBody>
      </p:sp>
      <p:grpSp>
        <p:nvGrpSpPr>
          <p:cNvPr id="45" name="Group 44"/>
          <p:cNvGrpSpPr/>
          <p:nvPr/>
        </p:nvGrpSpPr>
        <p:grpSpPr>
          <a:xfrm>
            <a:off x="486995" y="4300440"/>
            <a:ext cx="3501255" cy="2578932"/>
            <a:chOff x="1048649" y="4070027"/>
            <a:chExt cx="3734673" cy="2750860"/>
          </a:xfrm>
        </p:grpSpPr>
        <p:sp>
          <p:nvSpPr>
            <p:cNvPr id="21" name="Line 17"/>
            <p:cNvSpPr>
              <a:spLocks noChangeShapeType="1"/>
            </p:cNvSpPr>
            <p:nvPr/>
          </p:nvSpPr>
          <p:spPr bwMode="auto">
            <a:xfrm flipV="1">
              <a:off x="1846297" y="4312222"/>
              <a:ext cx="2351800" cy="2977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wrap="none" anchor="ctr"/>
            <a:lstStyle/>
            <a:p>
              <a:endParaRPr lang="en-US" sz="1688">
                <a:solidFill>
                  <a:schemeClr val="tx2">
                    <a:lumMod val="75000"/>
                  </a:schemeClr>
                </a:solidFill>
                <a:latin typeface="Whitney Book" pitchFamily="50" charset="0"/>
                <a:cs typeface="Whitney Book" pitchFamily="50" charset="0"/>
              </a:endParaRPr>
            </a:p>
          </p:txBody>
        </p:sp>
        <mc:AlternateContent xmlns:mc="http://schemas.openxmlformats.org/markup-compatibility/2006" xmlns:a14="http://schemas.microsoft.com/office/drawing/2010/main">
          <mc:Choice Requires="a14">
            <p:sp>
              <p:nvSpPr>
                <p:cNvPr id="22" name="Rectangle 18"/>
                <p:cNvSpPr>
                  <a:spLocks noChangeArrowheads="1"/>
                </p:cNvSpPr>
                <p:nvPr/>
              </p:nvSpPr>
              <p:spPr bwMode="auto">
                <a:xfrm>
                  <a:off x="1048649" y="4070027"/>
                  <a:ext cx="668053" cy="628546"/>
                </a:xfrm>
                <a:prstGeom prst="rect">
                  <a:avLst/>
                </a:prstGeom>
                <a:noFill/>
                <a:ln w="9525">
                  <a:noFill/>
                  <a:miter lim="800000"/>
                  <a:headEnd/>
                  <a:tailEnd/>
                </a:ln>
                <a:effectLst/>
              </p:spPr>
              <p:txBody>
                <a:bodyPr wrap="none" lIns="17859" tIns="25301" rIns="17859" bIns="25301"/>
                <a:lstStyle/>
                <a:p>
                  <a:pPr algn="ctr">
                    <a:lnSpc>
                      <a:spcPts val="2763"/>
                    </a:lnSpc>
                    <a:spcAft>
                      <a:spcPts val="888"/>
                    </a:spcAft>
                    <a:tabLst>
                      <a:tab pos="451085" algn="l"/>
                      <a:tab pos="902170" algn="l"/>
                      <a:tab pos="1353255" algn="l"/>
                    </a:tabLst>
                  </a:pPr>
                  <a14:m>
                    <m:oMath xmlns:m="http://schemas.openxmlformats.org/officeDocument/2006/math">
                      <m:sSub>
                        <m:sSubPr>
                          <m:ctrlPr>
                            <a:rPr lang="en-US" sz="1688" b="0" i="1" smtClean="0">
                              <a:solidFill>
                                <a:schemeClr val="tx2">
                                  <a:lumMod val="75000"/>
                                </a:schemeClr>
                              </a:solidFill>
                              <a:latin typeface="Cambria Math" panose="02040503050406030204" pitchFamily="18" charset="0"/>
                              <a:cs typeface="Whitney Book" pitchFamily="50" charset="0"/>
                            </a:rPr>
                          </m:ctrlPr>
                        </m:sSubPr>
                        <m:e>
                          <m:r>
                            <a:rPr lang="en-US" sz="1688" b="0" i="1" smtClean="0">
                              <a:solidFill>
                                <a:schemeClr val="tx2">
                                  <a:lumMod val="75000"/>
                                </a:schemeClr>
                              </a:solidFill>
                              <a:latin typeface="Cambria Math" panose="02040503050406030204" pitchFamily="18" charset="0"/>
                              <a:cs typeface="Whitney Book" pitchFamily="50" charset="0"/>
                            </a:rPr>
                            <m:t>𝑃</m:t>
                          </m:r>
                        </m:e>
                        <m:sub>
                          <m:r>
                            <a:rPr lang="en-US" sz="1688" b="0" i="1" smtClean="0">
                              <a:solidFill>
                                <a:schemeClr val="tx2">
                                  <a:lumMod val="75000"/>
                                </a:schemeClr>
                              </a:solidFill>
                              <a:latin typeface="Cambria Math" panose="02040503050406030204" pitchFamily="18" charset="0"/>
                              <a:cs typeface="Whitney Book" pitchFamily="50" charset="0"/>
                            </a:rPr>
                            <m:t>𝑀</m:t>
                          </m:r>
                        </m:sub>
                      </m:sSub>
                    </m:oMath>
                  </a14:m>
                  <a:r>
                    <a:rPr lang="en-US" sz="1688" dirty="0">
                      <a:solidFill>
                        <a:schemeClr val="tx2">
                          <a:lumMod val="75000"/>
                        </a:schemeClr>
                      </a:solidFill>
                      <a:latin typeface="Whitney Book" pitchFamily="50" charset="0"/>
                      <a:cs typeface="Whitney Book" pitchFamily="50" charset="0"/>
                    </a:rPr>
                    <a:t>=4.5</a:t>
                  </a:r>
                  <a:endParaRPr lang="en-US" sz="1688" baseline="-25000" dirty="0">
                    <a:solidFill>
                      <a:schemeClr val="tx2">
                        <a:lumMod val="75000"/>
                      </a:schemeClr>
                    </a:solidFill>
                    <a:latin typeface="Whitney Book" pitchFamily="50" charset="0"/>
                    <a:cs typeface="Whitney Book" pitchFamily="50" charset="0"/>
                  </a:endParaRPr>
                </a:p>
              </p:txBody>
            </p:sp>
          </mc:Choice>
          <mc:Fallback xmlns="">
            <p:sp>
              <p:nvSpPr>
                <p:cNvPr id="22" name="Rectangle 18"/>
                <p:cNvSpPr>
                  <a:spLocks noRot="1" noChangeAspect="1" noMove="1" noResize="1" noEditPoints="1" noAdjustHandles="1" noChangeArrowheads="1" noChangeShapeType="1" noTextEdit="1"/>
                </p:cNvSpPr>
                <p:nvPr/>
              </p:nvSpPr>
              <p:spPr bwMode="auto">
                <a:xfrm>
                  <a:off x="1048649" y="4070027"/>
                  <a:ext cx="668053" cy="628546"/>
                </a:xfrm>
                <a:prstGeom prst="rect">
                  <a:avLst/>
                </a:prstGeom>
                <a:blipFill>
                  <a:blip r:embed="rId4"/>
                  <a:stretch>
                    <a:fillRect l="-16505" r="-25243"/>
                  </a:stretch>
                </a:blipFill>
                <a:ln w="9525">
                  <a:noFill/>
                  <a:miter lim="800000"/>
                  <a:headEnd/>
                  <a:tailEnd/>
                </a:ln>
                <a:effectLst/>
              </p:spPr>
              <p:txBody>
                <a:bodyPr/>
                <a:lstStyle/>
                <a:p>
                  <a:r>
                    <a:rPr lang="en-US">
                      <a:noFill/>
                    </a:rPr>
                    <a:t> </a:t>
                  </a:r>
                </a:p>
              </p:txBody>
            </p:sp>
          </mc:Fallback>
        </mc:AlternateContent>
        <p:sp>
          <p:nvSpPr>
            <p:cNvPr id="24" name="Line 17"/>
            <p:cNvSpPr>
              <a:spLocks noChangeShapeType="1"/>
            </p:cNvSpPr>
            <p:nvPr/>
          </p:nvSpPr>
          <p:spPr bwMode="auto">
            <a:xfrm flipH="1" flipV="1">
              <a:off x="4202467" y="4312223"/>
              <a:ext cx="33655" cy="1905513"/>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wrap="none" anchor="ctr"/>
            <a:lstStyle/>
            <a:p>
              <a:endParaRPr lang="en-US" sz="1688">
                <a:solidFill>
                  <a:schemeClr val="tx2">
                    <a:lumMod val="75000"/>
                  </a:schemeClr>
                </a:solidFill>
                <a:latin typeface="Whitney Book" pitchFamily="50" charset="0"/>
                <a:cs typeface="Whitney Book" pitchFamily="50" charset="0"/>
              </a:endParaRPr>
            </a:p>
          </p:txBody>
        </p:sp>
        <p:sp>
          <p:nvSpPr>
            <p:cNvPr id="25" name="Rectangle 18"/>
            <p:cNvSpPr>
              <a:spLocks noChangeArrowheads="1"/>
            </p:cNvSpPr>
            <p:nvPr/>
          </p:nvSpPr>
          <p:spPr bwMode="auto">
            <a:xfrm>
              <a:off x="4115269" y="6192341"/>
              <a:ext cx="668053" cy="628546"/>
            </a:xfrm>
            <a:prstGeom prst="rect">
              <a:avLst/>
            </a:prstGeom>
            <a:noFill/>
            <a:ln w="9525">
              <a:noFill/>
              <a:miter lim="800000"/>
              <a:headEnd/>
              <a:tailEnd/>
            </a:ln>
            <a:effectLst/>
          </p:spPr>
          <p:txBody>
            <a:bodyPr wrap="none" lIns="17859" tIns="25301" rIns="17859" bIns="25301"/>
            <a:lstStyle/>
            <a:p>
              <a:pPr algn="ctr">
                <a:lnSpc>
                  <a:spcPts val="2763"/>
                </a:lnSpc>
                <a:spcAft>
                  <a:spcPts val="888"/>
                </a:spcAft>
                <a:tabLst>
                  <a:tab pos="451085" algn="l"/>
                  <a:tab pos="902170" algn="l"/>
                  <a:tab pos="1353255" algn="l"/>
                </a:tabLst>
              </a:pPr>
              <a:r>
                <a:rPr lang="en-US" sz="1688" i="1" dirty="0" err="1">
                  <a:solidFill>
                    <a:schemeClr val="tx2">
                      <a:lumMod val="75000"/>
                    </a:schemeClr>
                  </a:solidFill>
                  <a:latin typeface="Whitney Book" pitchFamily="50" charset="0"/>
                  <a:cs typeface="Whitney Book" pitchFamily="50" charset="0"/>
                </a:rPr>
                <a:t>Q</a:t>
              </a:r>
              <a:r>
                <a:rPr lang="en-US" sz="1688" i="1" baseline="-25000" dirty="0" err="1">
                  <a:solidFill>
                    <a:schemeClr val="tx2">
                      <a:lumMod val="75000"/>
                    </a:schemeClr>
                  </a:solidFill>
                  <a:latin typeface="Whitney Book" pitchFamily="50" charset="0"/>
                  <a:cs typeface="Whitney Book" pitchFamily="50" charset="0"/>
                </a:rPr>
                <a:t>Market</a:t>
              </a:r>
              <a:endParaRPr lang="en-US" sz="1688" i="1" baseline="-25000" dirty="0">
                <a:solidFill>
                  <a:schemeClr val="tx2">
                    <a:lumMod val="75000"/>
                  </a:schemeClr>
                </a:solidFill>
                <a:latin typeface="Whitney Book" pitchFamily="50" charset="0"/>
                <a:cs typeface="Whitney Book" pitchFamily="50" charset="0"/>
              </a:endParaRPr>
            </a:p>
            <a:p>
              <a:pPr algn="ctr">
                <a:lnSpc>
                  <a:spcPts val="2763"/>
                </a:lnSpc>
                <a:spcAft>
                  <a:spcPts val="888"/>
                </a:spcAft>
                <a:tabLst>
                  <a:tab pos="451085" algn="l"/>
                  <a:tab pos="902170" algn="l"/>
                  <a:tab pos="1353255" algn="l"/>
                </a:tabLst>
              </a:pPr>
              <a:endParaRPr lang="en-US" sz="1688" baseline="-25000" dirty="0">
                <a:solidFill>
                  <a:schemeClr val="tx2">
                    <a:lumMod val="75000"/>
                  </a:schemeClr>
                </a:solidFill>
                <a:latin typeface="Whitney Book" pitchFamily="50" charset="0"/>
                <a:cs typeface="Whitney Book" pitchFamily="50" charset="0"/>
              </a:endParaRPr>
            </a:p>
          </p:txBody>
        </p:sp>
      </p:grpSp>
      <p:grpSp>
        <p:nvGrpSpPr>
          <p:cNvPr id="6" name="Group 5">
            <a:extLst>
              <a:ext uri="{FF2B5EF4-FFF2-40B4-BE49-F238E27FC236}">
                <a16:creationId xmlns:a16="http://schemas.microsoft.com/office/drawing/2014/main" id="{015D52DB-7F6F-417B-82C0-1C9290D5137A}"/>
              </a:ext>
            </a:extLst>
          </p:cNvPr>
          <p:cNvGrpSpPr/>
          <p:nvPr/>
        </p:nvGrpSpPr>
        <p:grpSpPr>
          <a:xfrm>
            <a:off x="1257066" y="2191798"/>
            <a:ext cx="6128079" cy="3043202"/>
            <a:chOff x="1257066" y="2191798"/>
            <a:chExt cx="6128079" cy="3043202"/>
          </a:xfrm>
        </p:grpSpPr>
        <p:sp>
          <p:nvSpPr>
            <p:cNvPr id="36" name="Line 8"/>
            <p:cNvSpPr>
              <a:spLocks noChangeShapeType="1"/>
            </p:cNvSpPr>
            <p:nvPr/>
          </p:nvSpPr>
          <p:spPr bwMode="auto">
            <a:xfrm flipV="1">
              <a:off x="1257066" y="2625819"/>
              <a:ext cx="3715010" cy="2609181"/>
            </a:xfrm>
            <a:prstGeom prst="line">
              <a:avLst/>
            </a:prstGeom>
            <a:noFill/>
            <a:ln w="50800">
              <a:solidFill>
                <a:schemeClr val="tx2">
                  <a:lumMod val="75000"/>
                </a:schemeClr>
              </a:solidFill>
              <a:prstDash val="sysDash"/>
              <a:round/>
              <a:headEnd type="none" w="sm" len="sm"/>
              <a:tailEnd type="none" w="sm" len="sm"/>
            </a:ln>
            <a:effectLst/>
          </p:spPr>
          <p:txBody>
            <a:bodyPr wrap="none" anchor="ctr"/>
            <a:lstStyle/>
            <a:p>
              <a:endParaRPr lang="en-US" sz="1688">
                <a:solidFill>
                  <a:schemeClr val="tx2">
                    <a:lumMod val="75000"/>
                  </a:schemeClr>
                </a:solidFill>
                <a:latin typeface="Whitney Book" pitchFamily="50" charset="0"/>
                <a:cs typeface="Whitney Book" pitchFamily="50" charset="0"/>
              </a:endParaRPr>
            </a:p>
          </p:txBody>
        </p:sp>
        <p:sp>
          <p:nvSpPr>
            <p:cNvPr id="42" name="Rectangle 10"/>
            <p:cNvSpPr>
              <a:spLocks noChangeArrowheads="1"/>
            </p:cNvSpPr>
            <p:nvPr/>
          </p:nvSpPr>
          <p:spPr bwMode="auto">
            <a:xfrm flipH="1">
              <a:off x="4884832" y="2191798"/>
              <a:ext cx="2500313" cy="557981"/>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lIns="17859" tIns="25301" rIns="17859" bIns="25301"/>
            <a:lstStyle/>
            <a:p>
              <a:pPr algn="ctr">
                <a:tabLst>
                  <a:tab pos="451085" algn="l"/>
                  <a:tab pos="902170" algn="l"/>
                  <a:tab pos="1353255" algn="l"/>
                </a:tabLst>
              </a:pPr>
              <a:r>
                <a:rPr lang="en-US" sz="1688" b="1" dirty="0">
                  <a:solidFill>
                    <a:schemeClr val="tx2">
                      <a:lumMod val="75000"/>
                    </a:schemeClr>
                  </a:solidFill>
                  <a:latin typeface="Whitney Book" pitchFamily="50" charset="0"/>
                  <a:cs typeface="Whitney Book" pitchFamily="50" charset="0"/>
                </a:rPr>
                <a:t>MC</a:t>
              </a:r>
              <a:r>
                <a:rPr lang="en-US" sz="1688" b="1" baseline="-25000" dirty="0">
                  <a:solidFill>
                    <a:schemeClr val="tx2">
                      <a:lumMod val="75000"/>
                    </a:schemeClr>
                  </a:solidFill>
                  <a:latin typeface="Whitney Book" pitchFamily="50" charset="0"/>
                  <a:cs typeface="Whitney Book" pitchFamily="50" charset="0"/>
                </a:rPr>
                <a:t>I</a:t>
              </a:r>
              <a:r>
                <a:rPr lang="en-US" sz="1688" b="1" dirty="0">
                  <a:solidFill>
                    <a:schemeClr val="tx2">
                      <a:lumMod val="75000"/>
                    </a:schemeClr>
                  </a:solidFill>
                  <a:latin typeface="Whitney Book" pitchFamily="50" charset="0"/>
                  <a:cs typeface="Whitney Book" pitchFamily="50" charset="0"/>
                </a:rPr>
                <a:t>+ EMC = SMC</a:t>
              </a:r>
            </a:p>
            <a:p>
              <a:pPr algn="ctr">
                <a:tabLst>
                  <a:tab pos="451085" algn="l"/>
                  <a:tab pos="902170" algn="l"/>
                  <a:tab pos="1353255" algn="l"/>
                </a:tabLst>
              </a:pPr>
              <a:r>
                <a:rPr lang="en-US" sz="1688" b="1" dirty="0">
                  <a:solidFill>
                    <a:schemeClr val="tx2">
                      <a:lumMod val="75000"/>
                    </a:schemeClr>
                  </a:solidFill>
                  <a:latin typeface="Whitney Book" pitchFamily="50" charset="0"/>
                  <a:cs typeface="Whitney Book" pitchFamily="50" charset="0"/>
                </a:rPr>
                <a:t>(Social Marginal Cost)</a:t>
              </a:r>
            </a:p>
          </p:txBody>
        </p:sp>
      </p:grpSp>
      <p:sp>
        <p:nvSpPr>
          <p:cNvPr id="14" name="Line 8"/>
          <p:cNvSpPr>
            <a:spLocks noChangeShapeType="1"/>
          </p:cNvSpPr>
          <p:nvPr/>
        </p:nvSpPr>
        <p:spPr bwMode="auto">
          <a:xfrm flipV="1">
            <a:off x="1387774" y="3234811"/>
            <a:ext cx="3923204" cy="2710419"/>
          </a:xfrm>
          <a:prstGeom prst="line">
            <a:avLst/>
          </a:prstGeom>
          <a:noFill/>
          <a:ln w="50800">
            <a:solidFill>
              <a:schemeClr val="accent1">
                <a:lumMod val="50000"/>
                <a:lumOff val="50000"/>
              </a:schemeClr>
            </a:solidFill>
            <a:round/>
            <a:headEnd type="none" w="sm" len="sm"/>
            <a:tailEnd type="none" w="sm" len="sm"/>
          </a:ln>
          <a:effectLst/>
        </p:spPr>
        <p:txBody>
          <a:bodyPr wrap="none" anchor="ctr"/>
          <a:lstStyle/>
          <a:p>
            <a:endParaRPr lang="en-US" sz="1688">
              <a:solidFill>
                <a:schemeClr val="tx2">
                  <a:lumMod val="75000"/>
                </a:schemeClr>
              </a:solidFill>
              <a:latin typeface="Whitney Book" pitchFamily="50" charset="0"/>
              <a:cs typeface="Whitney Book" pitchFamily="50" charset="0"/>
            </a:endParaRPr>
          </a:p>
        </p:txBody>
      </p:sp>
      <p:sp>
        <p:nvSpPr>
          <p:cNvPr id="43" name="Rectangle 10"/>
          <p:cNvSpPr>
            <a:spLocks noChangeArrowheads="1"/>
          </p:cNvSpPr>
          <p:nvPr/>
        </p:nvSpPr>
        <p:spPr bwMode="auto">
          <a:xfrm flipH="1">
            <a:off x="5118528" y="3074574"/>
            <a:ext cx="2358025" cy="661499"/>
          </a:xfrm>
          <a:prstGeom prst="rect">
            <a:avLst/>
          </a:prstGeom>
          <a:noFill/>
          <a:ln w="9525">
            <a:noFill/>
            <a:miter lim="800000"/>
            <a:headEnd/>
            <a:tailEnd/>
          </a:ln>
          <a:effectLst/>
        </p:spPr>
        <p:txBody>
          <a:bodyPr wrap="none" lIns="17859" tIns="25301" rIns="17859" bIns="25301"/>
          <a:lstStyle/>
          <a:p>
            <a:pPr algn="ctr">
              <a:tabLst>
                <a:tab pos="451085" algn="l"/>
                <a:tab pos="902170" algn="l"/>
                <a:tab pos="1353255" algn="l"/>
              </a:tabLst>
            </a:pPr>
            <a:r>
              <a:rPr lang="en-US" sz="1688" b="1" dirty="0">
                <a:ln w="0"/>
                <a:solidFill>
                  <a:schemeClr val="tx2">
                    <a:lumMod val="40000"/>
                    <a:lumOff val="60000"/>
                  </a:schemeClr>
                </a:solidFill>
                <a:latin typeface="Whitney Book" pitchFamily="50" charset="0"/>
                <a:cs typeface="Whitney Book" pitchFamily="50" charset="0"/>
              </a:rPr>
              <a:t>Supply = Internal </a:t>
            </a:r>
          </a:p>
          <a:p>
            <a:pPr algn="ctr">
              <a:tabLst>
                <a:tab pos="451085" algn="l"/>
                <a:tab pos="902170" algn="l"/>
                <a:tab pos="1353255" algn="l"/>
              </a:tabLst>
            </a:pPr>
            <a:r>
              <a:rPr lang="en-US" sz="1688" b="1" dirty="0">
                <a:ln w="0"/>
                <a:solidFill>
                  <a:schemeClr val="tx2">
                    <a:lumMod val="40000"/>
                    <a:lumOff val="60000"/>
                  </a:schemeClr>
                </a:solidFill>
                <a:latin typeface="Whitney Book" pitchFamily="50" charset="0"/>
                <a:cs typeface="Whitney Book" pitchFamily="50" charset="0"/>
              </a:rPr>
              <a:t>marginal cost (MC</a:t>
            </a:r>
            <a:r>
              <a:rPr lang="en-US" sz="1688" b="1" baseline="-25000" dirty="0">
                <a:ln w="0"/>
                <a:solidFill>
                  <a:schemeClr val="tx2">
                    <a:lumMod val="40000"/>
                    <a:lumOff val="60000"/>
                  </a:schemeClr>
                </a:solidFill>
                <a:latin typeface="Whitney Book" pitchFamily="50" charset="0"/>
                <a:cs typeface="Whitney Book" pitchFamily="50" charset="0"/>
              </a:rPr>
              <a:t>I</a:t>
            </a:r>
            <a:r>
              <a:rPr lang="en-US" sz="1688" b="1" dirty="0">
                <a:ln w="0"/>
                <a:solidFill>
                  <a:schemeClr val="tx2">
                    <a:lumMod val="40000"/>
                    <a:lumOff val="60000"/>
                  </a:schemeClr>
                </a:solidFill>
                <a:latin typeface="Whitney Book" pitchFamily="50" charset="0"/>
                <a:cs typeface="Whitney Book" pitchFamily="50" charset="0"/>
              </a:rPr>
              <a:t>)</a:t>
            </a:r>
          </a:p>
        </p:txBody>
      </p:sp>
      <p:grpSp>
        <p:nvGrpSpPr>
          <p:cNvPr id="50" name="Group 49"/>
          <p:cNvGrpSpPr/>
          <p:nvPr/>
        </p:nvGrpSpPr>
        <p:grpSpPr>
          <a:xfrm>
            <a:off x="491092" y="3759387"/>
            <a:ext cx="2898339" cy="3119985"/>
            <a:chOff x="1043028" y="3719262"/>
            <a:chExt cx="3091561" cy="3327980"/>
          </a:xfrm>
        </p:grpSpPr>
        <p:sp>
          <p:nvSpPr>
            <p:cNvPr id="29" name="Line 17"/>
            <p:cNvSpPr>
              <a:spLocks noChangeShapeType="1"/>
            </p:cNvSpPr>
            <p:nvPr/>
          </p:nvSpPr>
          <p:spPr bwMode="auto">
            <a:xfrm flipV="1">
              <a:off x="3800558" y="4008535"/>
              <a:ext cx="4" cy="2430021"/>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wrap="none" anchor="ctr"/>
            <a:lstStyle/>
            <a:p>
              <a:endParaRPr lang="en-US" sz="1688">
                <a:solidFill>
                  <a:schemeClr val="tx2">
                    <a:lumMod val="75000"/>
                  </a:schemeClr>
                </a:solidFill>
                <a:latin typeface="Whitney Book" pitchFamily="50" charset="0"/>
                <a:cs typeface="Whitney Book" pitchFamily="50" charset="0"/>
              </a:endParaRPr>
            </a:p>
          </p:txBody>
        </p:sp>
        <p:sp>
          <p:nvSpPr>
            <p:cNvPr id="31" name="Line 17"/>
            <p:cNvSpPr>
              <a:spLocks noChangeShapeType="1"/>
            </p:cNvSpPr>
            <p:nvPr/>
          </p:nvSpPr>
          <p:spPr bwMode="auto">
            <a:xfrm flipV="1">
              <a:off x="1797243" y="3954969"/>
              <a:ext cx="2041165" cy="10337"/>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wrap="none" anchor="ctr"/>
            <a:lstStyle/>
            <a:p>
              <a:endParaRPr lang="en-US" sz="1688">
                <a:solidFill>
                  <a:schemeClr val="tx2">
                    <a:lumMod val="75000"/>
                  </a:schemeClr>
                </a:solidFill>
                <a:latin typeface="Whitney Book" pitchFamily="50" charset="0"/>
                <a:cs typeface="Whitney Book" pitchFamily="50" charset="0"/>
              </a:endParaRPr>
            </a:p>
          </p:txBody>
        </p:sp>
        <p:sp>
          <p:nvSpPr>
            <p:cNvPr id="30" name="Rectangle 18"/>
            <p:cNvSpPr>
              <a:spLocks noChangeArrowheads="1"/>
            </p:cNvSpPr>
            <p:nvPr/>
          </p:nvSpPr>
          <p:spPr bwMode="auto">
            <a:xfrm>
              <a:off x="3466535" y="6418696"/>
              <a:ext cx="668054" cy="628546"/>
            </a:xfrm>
            <a:prstGeom prst="rect">
              <a:avLst/>
            </a:prstGeom>
            <a:noFill/>
            <a:ln w="9525">
              <a:noFill/>
              <a:miter lim="800000"/>
              <a:headEnd/>
              <a:tailEnd/>
            </a:ln>
            <a:effectLst/>
          </p:spPr>
          <p:txBody>
            <a:bodyPr wrap="none" lIns="17859" tIns="25301" rIns="17859" bIns="25301"/>
            <a:lstStyle/>
            <a:p>
              <a:pPr algn="ctr">
                <a:lnSpc>
                  <a:spcPts val="2763"/>
                </a:lnSpc>
                <a:spcAft>
                  <a:spcPts val="888"/>
                </a:spcAft>
                <a:tabLst>
                  <a:tab pos="451085" algn="l"/>
                  <a:tab pos="902170" algn="l"/>
                  <a:tab pos="1353255" algn="l"/>
                </a:tabLst>
              </a:pPr>
              <a:r>
                <a:rPr lang="en-US" sz="1688" i="1" dirty="0" err="1">
                  <a:solidFill>
                    <a:schemeClr val="tx2">
                      <a:lumMod val="75000"/>
                    </a:schemeClr>
                  </a:solidFill>
                  <a:latin typeface="Whitney Book" pitchFamily="50" charset="0"/>
                  <a:cs typeface="Whitney Book" pitchFamily="50" charset="0"/>
                </a:rPr>
                <a:t>Q</a:t>
              </a:r>
              <a:r>
                <a:rPr lang="en-US" sz="1688" i="1" baseline="-25000" dirty="0" err="1">
                  <a:solidFill>
                    <a:schemeClr val="tx2">
                      <a:lumMod val="75000"/>
                    </a:schemeClr>
                  </a:solidFill>
                  <a:latin typeface="Whitney Book" pitchFamily="50" charset="0"/>
                  <a:cs typeface="Whitney Book" pitchFamily="50" charset="0"/>
                </a:rPr>
                <a:t>Ext</a:t>
              </a:r>
              <a:endParaRPr lang="en-US" sz="1688" i="1" baseline="-25000" dirty="0">
                <a:solidFill>
                  <a:schemeClr val="tx2">
                    <a:lumMod val="75000"/>
                  </a:schemeClr>
                </a:solidFill>
                <a:latin typeface="Whitney Book" pitchFamily="50" charset="0"/>
                <a:cs typeface="Whitney Book" pitchFamily="50" charset="0"/>
              </a:endParaRPr>
            </a:p>
          </p:txBody>
        </p:sp>
        <mc:AlternateContent xmlns:mc="http://schemas.openxmlformats.org/markup-compatibility/2006" xmlns:a14="http://schemas.microsoft.com/office/drawing/2010/main">
          <mc:Choice Requires="a14">
            <p:sp>
              <p:nvSpPr>
                <p:cNvPr id="49" name="Rectangle 18"/>
                <p:cNvSpPr>
                  <a:spLocks noChangeArrowheads="1"/>
                </p:cNvSpPr>
                <p:nvPr/>
              </p:nvSpPr>
              <p:spPr bwMode="auto">
                <a:xfrm>
                  <a:off x="1043028" y="3719262"/>
                  <a:ext cx="597321" cy="632275"/>
                </a:xfrm>
                <a:prstGeom prst="rect">
                  <a:avLst/>
                </a:prstGeom>
                <a:noFill/>
                <a:ln w="9525">
                  <a:noFill/>
                  <a:miter lim="800000"/>
                  <a:headEnd/>
                  <a:tailEnd/>
                </a:ln>
                <a:effectLst/>
              </p:spPr>
              <p:txBody>
                <a:bodyPr wrap="none" lIns="17859" tIns="25301" rIns="17859" bIns="25301"/>
                <a:lstStyle/>
                <a:p>
                  <a:pPr algn="ctr">
                    <a:lnSpc>
                      <a:spcPts val="2763"/>
                    </a:lnSpc>
                    <a:spcAft>
                      <a:spcPts val="888"/>
                    </a:spcAft>
                    <a:tabLst>
                      <a:tab pos="451085" algn="l"/>
                      <a:tab pos="902170" algn="l"/>
                      <a:tab pos="1353255" algn="l"/>
                    </a:tabLst>
                  </a:pPr>
                  <a14:m>
                    <m:oMath xmlns:m="http://schemas.openxmlformats.org/officeDocument/2006/math">
                      <m:sSubSup>
                        <m:sSubSupPr>
                          <m:ctrlPr>
                            <a:rPr lang="en-US" sz="1688" b="0" i="1" smtClean="0">
                              <a:solidFill>
                                <a:srgbClr val="C00000"/>
                              </a:solidFill>
                              <a:latin typeface="Cambria Math" panose="02040503050406030204" pitchFamily="18" charset="0"/>
                              <a:cs typeface="Whitney Book" pitchFamily="50" charset="0"/>
                            </a:rPr>
                          </m:ctrlPr>
                        </m:sSubSupPr>
                        <m:e>
                          <m:r>
                            <a:rPr lang="en-US" sz="1688" b="0" i="1" smtClean="0">
                              <a:solidFill>
                                <a:srgbClr val="C00000"/>
                              </a:solidFill>
                              <a:latin typeface="Cambria Math" panose="02040503050406030204" pitchFamily="18" charset="0"/>
                              <a:cs typeface="Whitney Book" pitchFamily="50" charset="0"/>
                            </a:rPr>
                            <m:t>𝑃</m:t>
                          </m:r>
                        </m:e>
                        <m:sub>
                          <m:r>
                            <a:rPr lang="en-US" sz="1688" b="0" i="1" smtClean="0">
                              <a:solidFill>
                                <a:srgbClr val="C00000"/>
                              </a:solidFill>
                              <a:latin typeface="Cambria Math" panose="02040503050406030204" pitchFamily="18" charset="0"/>
                              <a:cs typeface="Whitney Book" pitchFamily="50" charset="0"/>
                            </a:rPr>
                            <m:t>𝐸</m:t>
                          </m:r>
                        </m:sub>
                        <m:sup>
                          <m:r>
                            <a:rPr lang="en-US" sz="1688" b="0" i="1" smtClean="0">
                              <a:solidFill>
                                <a:srgbClr val="C00000"/>
                              </a:solidFill>
                              <a:latin typeface="Cambria Math" panose="02040503050406030204" pitchFamily="18" charset="0"/>
                              <a:cs typeface="Whitney Book" pitchFamily="50" charset="0"/>
                            </a:rPr>
                            <m:t>𝐶</m:t>
                          </m:r>
                        </m:sup>
                      </m:sSubSup>
                    </m:oMath>
                  </a14:m>
                  <a:r>
                    <a:rPr lang="en-US" sz="1688" i="1" baseline="-25000" dirty="0">
                      <a:solidFill>
                        <a:srgbClr val="C00000"/>
                      </a:solidFill>
                      <a:latin typeface="Whitney Book" pitchFamily="50" charset="0"/>
                      <a:cs typeface="Whitney Book" pitchFamily="50" charset="0"/>
                    </a:rPr>
                    <a:t> </a:t>
                  </a:r>
                  <a:r>
                    <a:rPr lang="en-US" sz="1688" dirty="0">
                      <a:solidFill>
                        <a:schemeClr val="tx2">
                          <a:lumMod val="75000"/>
                        </a:schemeClr>
                      </a:solidFill>
                      <a:latin typeface="Whitney Book" pitchFamily="50" charset="0"/>
                      <a:cs typeface="Whitney Book" pitchFamily="50" charset="0"/>
                    </a:rPr>
                    <a:t>=5.5</a:t>
                  </a:r>
                  <a:endParaRPr lang="en-US" sz="1688" baseline="30000" dirty="0">
                    <a:solidFill>
                      <a:schemeClr val="tx2">
                        <a:lumMod val="75000"/>
                      </a:schemeClr>
                    </a:solidFill>
                    <a:latin typeface="Whitney Book" pitchFamily="50" charset="0"/>
                    <a:cs typeface="Whitney Book" pitchFamily="50" charset="0"/>
                  </a:endParaRPr>
                </a:p>
              </p:txBody>
            </p:sp>
          </mc:Choice>
          <mc:Fallback xmlns="">
            <p:sp>
              <p:nvSpPr>
                <p:cNvPr id="49" name="Rectangle 18"/>
                <p:cNvSpPr>
                  <a:spLocks noRot="1" noChangeAspect="1" noMove="1" noResize="1" noEditPoints="1" noAdjustHandles="1" noChangeArrowheads="1" noChangeShapeType="1" noTextEdit="1"/>
                </p:cNvSpPr>
                <p:nvPr/>
              </p:nvSpPr>
              <p:spPr bwMode="auto">
                <a:xfrm>
                  <a:off x="1043028" y="3719262"/>
                  <a:ext cx="597321" cy="632275"/>
                </a:xfrm>
                <a:prstGeom prst="rect">
                  <a:avLst/>
                </a:prstGeom>
                <a:blipFill>
                  <a:blip r:embed="rId5"/>
                  <a:stretch>
                    <a:fillRect l="-25275" r="-36264"/>
                  </a:stretch>
                </a:blipFill>
                <a:ln w="9525">
                  <a:noFill/>
                  <a:miter lim="800000"/>
                  <a:headEnd/>
                  <a:tailEnd/>
                </a:ln>
                <a:effectLst/>
              </p:spPr>
              <p:txBody>
                <a:bodyPr/>
                <a:lstStyle/>
                <a:p>
                  <a:r>
                    <a:rPr lang="en-US">
                      <a:noFill/>
                    </a:rPr>
                    <a:t> </a:t>
                  </a:r>
                </a:p>
              </p:txBody>
            </p:sp>
          </mc:Fallback>
        </mc:AlternateContent>
      </p:grpSp>
      <p:grpSp>
        <p:nvGrpSpPr>
          <p:cNvPr id="8" name="Group 7">
            <a:extLst>
              <a:ext uri="{FF2B5EF4-FFF2-40B4-BE49-F238E27FC236}">
                <a16:creationId xmlns:a16="http://schemas.microsoft.com/office/drawing/2014/main" id="{28E41A9A-E9D6-4319-98AF-799417D846B0}"/>
              </a:ext>
            </a:extLst>
          </p:cNvPr>
          <p:cNvGrpSpPr/>
          <p:nvPr/>
        </p:nvGrpSpPr>
        <p:grpSpPr>
          <a:xfrm>
            <a:off x="3983481" y="1428751"/>
            <a:ext cx="5063811" cy="3080565"/>
            <a:chOff x="3983481" y="1428751"/>
            <a:chExt cx="5063811" cy="3080565"/>
          </a:xfrm>
        </p:grpSpPr>
        <p:grpSp>
          <p:nvGrpSpPr>
            <p:cNvPr id="46" name="Group 45"/>
            <p:cNvGrpSpPr/>
            <p:nvPr/>
          </p:nvGrpSpPr>
          <p:grpSpPr>
            <a:xfrm>
              <a:off x="3983481" y="3308808"/>
              <a:ext cx="1420203" cy="781651"/>
              <a:chOff x="4574491" y="2254275"/>
              <a:chExt cx="1258644" cy="1551149"/>
            </a:xfrm>
          </p:grpSpPr>
          <p:sp>
            <p:nvSpPr>
              <p:cNvPr id="41" name="Line 20"/>
              <p:cNvSpPr>
                <a:spLocks noChangeShapeType="1"/>
              </p:cNvSpPr>
              <p:nvPr/>
            </p:nvSpPr>
            <p:spPr bwMode="auto">
              <a:xfrm flipH="1">
                <a:off x="4574491" y="2254275"/>
                <a:ext cx="0" cy="1551149"/>
              </a:xfrm>
              <a:prstGeom prst="line">
                <a:avLst/>
              </a:prstGeom>
              <a:noFill/>
              <a:ln w="38100">
                <a:solidFill>
                  <a:srgbClr val="C00000"/>
                </a:solidFill>
                <a:round/>
                <a:headEnd type="arrow" w="med" len="med"/>
                <a:tailEnd type="none" w="med" len="med"/>
              </a:ln>
              <a:effectLst/>
            </p:spPr>
            <p:txBody>
              <a:bodyPr wrap="none" lIns="90217" tIns="45109" rIns="90217" bIns="45109" anchor="ctr"/>
              <a:lstStyle/>
              <a:p>
                <a:endParaRPr lang="en-US" sz="1688" dirty="0">
                  <a:solidFill>
                    <a:schemeClr val="tx2">
                      <a:lumMod val="75000"/>
                    </a:schemeClr>
                  </a:solidFill>
                  <a:latin typeface="Whitney Book" pitchFamily="50" charset="0"/>
                  <a:cs typeface="Whitney Book" pitchFamily="50" charset="0"/>
                </a:endParaRPr>
              </a:p>
            </p:txBody>
          </p:sp>
          <p:sp>
            <p:nvSpPr>
              <p:cNvPr id="47" name="Rectangle 10"/>
              <p:cNvSpPr>
                <a:spLocks noChangeArrowheads="1"/>
              </p:cNvSpPr>
              <p:nvPr/>
            </p:nvSpPr>
            <p:spPr bwMode="auto">
              <a:xfrm flipH="1">
                <a:off x="4971358" y="2901663"/>
                <a:ext cx="861777" cy="703260"/>
              </a:xfrm>
              <a:prstGeom prst="rect">
                <a:avLst/>
              </a:prstGeom>
              <a:solidFill>
                <a:schemeClr val="bg1"/>
              </a:solidFill>
              <a:ln w="9525">
                <a:noFill/>
                <a:miter lim="800000"/>
                <a:headEnd/>
                <a:tailEnd/>
              </a:ln>
              <a:effectLst/>
            </p:spPr>
            <p:txBody>
              <a:bodyPr wrap="none" lIns="17859" tIns="25301" rIns="17859" bIns="25301"/>
              <a:lstStyle/>
              <a:p>
                <a:pPr algn="ctr">
                  <a:tabLst>
                    <a:tab pos="451085" algn="l"/>
                    <a:tab pos="902170" algn="l"/>
                    <a:tab pos="1353255" algn="l"/>
                  </a:tabLst>
                </a:pPr>
                <a:r>
                  <a:rPr lang="en-US" sz="1688" b="1" dirty="0">
                    <a:ln w="0"/>
                    <a:solidFill>
                      <a:srgbClr val="C00000"/>
                    </a:solidFill>
                    <a:latin typeface="Whitney Book" pitchFamily="50" charset="0"/>
                    <a:cs typeface="Whitney Book" pitchFamily="50" charset="0"/>
                  </a:rPr>
                  <a:t>Tax=EMC ($1.50)</a:t>
                </a:r>
              </a:p>
            </p:txBody>
          </p:sp>
        </p:grpSp>
        <p:grpSp>
          <p:nvGrpSpPr>
            <p:cNvPr id="7" name="Group 6">
              <a:extLst>
                <a:ext uri="{FF2B5EF4-FFF2-40B4-BE49-F238E27FC236}">
                  <a16:creationId xmlns:a16="http://schemas.microsoft.com/office/drawing/2014/main" id="{563FCE5C-0B48-4108-9459-C5A9192FF06F}"/>
                </a:ext>
              </a:extLst>
            </p:cNvPr>
            <p:cNvGrpSpPr/>
            <p:nvPr/>
          </p:nvGrpSpPr>
          <p:grpSpPr>
            <a:xfrm>
              <a:off x="7404229" y="1428751"/>
              <a:ext cx="1643063" cy="3080565"/>
              <a:chOff x="7404229" y="1428751"/>
              <a:chExt cx="1643063" cy="3080565"/>
            </a:xfrm>
          </p:grpSpPr>
          <p:pic>
            <p:nvPicPr>
              <p:cNvPr id="33" name="Picture 4" descr="http://www.samarreine.com/images/pigou_1_.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04229" y="1428751"/>
                <a:ext cx="1535906" cy="2339579"/>
              </a:xfrm>
              <a:prstGeom prst="rect">
                <a:avLst/>
              </a:prstGeom>
              <a:noFill/>
              <a:extLst>
                <a:ext uri="{909E8E84-426E-40DD-AFC4-6F175D3DCCD1}">
                  <a14:hiddenFill xmlns:a14="http://schemas.microsoft.com/office/drawing/2010/main">
                    <a:solidFill>
                      <a:srgbClr val="FFFFFF"/>
                    </a:solidFill>
                  </a14:hiddenFill>
                </a:ext>
              </a:extLst>
            </p:spPr>
          </p:pic>
          <p:sp>
            <p:nvSpPr>
              <p:cNvPr id="34" name="Title 1"/>
              <p:cNvSpPr txBox="1">
                <a:spLocks/>
              </p:cNvSpPr>
              <p:nvPr/>
            </p:nvSpPr>
            <p:spPr bwMode="auto">
              <a:xfrm>
                <a:off x="7404229" y="3780058"/>
                <a:ext cx="1643063" cy="729258"/>
              </a:xfrm>
              <a:prstGeom prst="rect">
                <a:avLst/>
              </a:prstGeom>
              <a:noFill/>
              <a:ln w="12700">
                <a:noFill/>
                <a:miter lim="800000"/>
                <a:headEnd/>
                <a:tailEnd/>
              </a:ln>
            </p:spPr>
            <p:txBody>
              <a:bodyPr vert="horz" wrap="square" lIns="90481" tIns="44447" rIns="90481" bIns="44447" numCol="1" anchor="t" anchorCtr="0" compatLnSpc="1">
                <a:prstTxWarp prst="textNoShape">
                  <a:avLst/>
                </a:prstTxWarp>
              </a:bodyPr>
              <a:lstStyle>
                <a:lvl1pPr algn="ctr" defTabSz="974725" rtl="0" eaLnBrk="0" fontAlgn="base" hangingPunct="0">
                  <a:spcBef>
                    <a:spcPct val="0"/>
                  </a:spcBef>
                  <a:spcAft>
                    <a:spcPct val="0"/>
                  </a:spcAft>
                  <a:defRPr sz="4000">
                    <a:solidFill>
                      <a:schemeClr val="bg1"/>
                    </a:solidFill>
                    <a:latin typeface="Times New Roman" pitchFamily="18" charset="0"/>
                    <a:ea typeface="+mj-ea"/>
                    <a:cs typeface="Times New Roman" pitchFamily="18" charset="0"/>
                  </a:defRPr>
                </a:lvl1pPr>
                <a:lvl2pPr algn="l" defTabSz="974725" rtl="0" eaLnBrk="0" fontAlgn="base" hangingPunct="0">
                  <a:spcBef>
                    <a:spcPct val="0"/>
                  </a:spcBef>
                  <a:spcAft>
                    <a:spcPct val="0"/>
                  </a:spcAft>
                  <a:defRPr sz="4700">
                    <a:solidFill>
                      <a:schemeClr val="bg1"/>
                    </a:solidFill>
                    <a:latin typeface="Times New Roman" pitchFamily="18" charset="0"/>
                    <a:cs typeface="Times New Roman" pitchFamily="18" charset="0"/>
                  </a:defRPr>
                </a:lvl2pPr>
                <a:lvl3pPr algn="l" defTabSz="974725" rtl="0" eaLnBrk="0" fontAlgn="base" hangingPunct="0">
                  <a:spcBef>
                    <a:spcPct val="0"/>
                  </a:spcBef>
                  <a:spcAft>
                    <a:spcPct val="0"/>
                  </a:spcAft>
                  <a:defRPr sz="4700">
                    <a:solidFill>
                      <a:schemeClr val="bg1"/>
                    </a:solidFill>
                    <a:latin typeface="Times New Roman" pitchFamily="18" charset="0"/>
                    <a:cs typeface="Times New Roman" pitchFamily="18" charset="0"/>
                  </a:defRPr>
                </a:lvl3pPr>
                <a:lvl4pPr algn="l" defTabSz="974725" rtl="0" eaLnBrk="0" fontAlgn="base" hangingPunct="0">
                  <a:spcBef>
                    <a:spcPct val="0"/>
                  </a:spcBef>
                  <a:spcAft>
                    <a:spcPct val="0"/>
                  </a:spcAft>
                  <a:defRPr sz="4700">
                    <a:solidFill>
                      <a:schemeClr val="bg1"/>
                    </a:solidFill>
                    <a:latin typeface="Times New Roman" pitchFamily="18" charset="0"/>
                    <a:cs typeface="Times New Roman" pitchFamily="18" charset="0"/>
                  </a:defRPr>
                </a:lvl4pPr>
                <a:lvl5pPr algn="l" defTabSz="974725" rtl="0" eaLnBrk="0" fontAlgn="base" hangingPunct="0">
                  <a:spcBef>
                    <a:spcPct val="0"/>
                  </a:spcBef>
                  <a:spcAft>
                    <a:spcPct val="0"/>
                  </a:spcAft>
                  <a:defRPr sz="4700">
                    <a:solidFill>
                      <a:schemeClr val="bg1"/>
                    </a:solidFill>
                    <a:latin typeface="Times New Roman" pitchFamily="18" charset="0"/>
                    <a:cs typeface="Times New Roman" pitchFamily="18" charset="0"/>
                  </a:defRPr>
                </a:lvl5pPr>
                <a:lvl6pPr marL="457200" algn="l" defTabSz="974725" rtl="0" eaLnBrk="0" fontAlgn="base" hangingPunct="0">
                  <a:spcBef>
                    <a:spcPct val="0"/>
                  </a:spcBef>
                  <a:spcAft>
                    <a:spcPct val="0"/>
                  </a:spcAft>
                  <a:defRPr sz="4700">
                    <a:solidFill>
                      <a:schemeClr val="tx2"/>
                    </a:solidFill>
                    <a:latin typeface="Tahoma" pitchFamily="124" charset="0"/>
                  </a:defRPr>
                </a:lvl6pPr>
                <a:lvl7pPr marL="914400" algn="l" defTabSz="974725" rtl="0" eaLnBrk="0" fontAlgn="base" hangingPunct="0">
                  <a:spcBef>
                    <a:spcPct val="0"/>
                  </a:spcBef>
                  <a:spcAft>
                    <a:spcPct val="0"/>
                  </a:spcAft>
                  <a:defRPr sz="4700">
                    <a:solidFill>
                      <a:schemeClr val="tx2"/>
                    </a:solidFill>
                    <a:latin typeface="Tahoma" pitchFamily="124" charset="0"/>
                  </a:defRPr>
                </a:lvl7pPr>
                <a:lvl8pPr marL="1371600" algn="l" defTabSz="974725" rtl="0" eaLnBrk="0" fontAlgn="base" hangingPunct="0">
                  <a:spcBef>
                    <a:spcPct val="0"/>
                  </a:spcBef>
                  <a:spcAft>
                    <a:spcPct val="0"/>
                  </a:spcAft>
                  <a:defRPr sz="4700">
                    <a:solidFill>
                      <a:schemeClr val="tx2"/>
                    </a:solidFill>
                    <a:latin typeface="Tahoma" pitchFamily="124" charset="0"/>
                  </a:defRPr>
                </a:lvl8pPr>
                <a:lvl9pPr marL="1828800" algn="l" defTabSz="974725" rtl="0" eaLnBrk="0" fontAlgn="base" hangingPunct="0">
                  <a:spcBef>
                    <a:spcPct val="0"/>
                  </a:spcBef>
                  <a:spcAft>
                    <a:spcPct val="0"/>
                  </a:spcAft>
                  <a:defRPr sz="4700">
                    <a:solidFill>
                      <a:schemeClr val="tx2"/>
                    </a:solidFill>
                    <a:latin typeface="Tahoma" pitchFamily="124" charset="0"/>
                  </a:defRPr>
                </a:lvl9pPr>
              </a:lstStyle>
              <a:p>
                <a:r>
                  <a:rPr lang="en-US" sz="1875" dirty="0">
                    <a:solidFill>
                      <a:schemeClr val="tx2">
                        <a:lumMod val="75000"/>
                      </a:schemeClr>
                    </a:solidFill>
                    <a:latin typeface="Whitney Book" pitchFamily="50" charset="0"/>
                    <a:cs typeface="Whitney Book" pitchFamily="50" charset="0"/>
                  </a:rPr>
                  <a:t>Arthur </a:t>
                </a:r>
                <a:r>
                  <a:rPr lang="en-US" sz="1875" dirty="0" err="1">
                    <a:solidFill>
                      <a:schemeClr val="tx2">
                        <a:lumMod val="75000"/>
                      </a:schemeClr>
                    </a:solidFill>
                    <a:latin typeface="Whitney Book" pitchFamily="50" charset="0"/>
                    <a:cs typeface="Whitney Book" pitchFamily="50" charset="0"/>
                  </a:rPr>
                  <a:t>Pigou</a:t>
                </a:r>
                <a:endParaRPr lang="en-US" sz="3750" dirty="0">
                  <a:solidFill>
                    <a:schemeClr val="tx2">
                      <a:lumMod val="75000"/>
                    </a:schemeClr>
                  </a:solidFill>
                  <a:latin typeface="Whitney Book" pitchFamily="50" charset="0"/>
                  <a:cs typeface="Whitney Book" pitchFamily="50" charset="0"/>
                </a:endParaRPr>
              </a:p>
            </p:txBody>
          </p:sp>
        </p:grpSp>
      </p:grpSp>
      <p:sp>
        <p:nvSpPr>
          <p:cNvPr id="40" name="Rectangle 10"/>
          <p:cNvSpPr>
            <a:spLocks noChangeArrowheads="1"/>
          </p:cNvSpPr>
          <p:nvPr/>
        </p:nvSpPr>
        <p:spPr bwMode="auto">
          <a:xfrm>
            <a:off x="229666" y="1288164"/>
            <a:ext cx="5081312" cy="600668"/>
          </a:xfrm>
          <a:prstGeom prst="rect">
            <a:avLst/>
          </a:prstGeom>
          <a:noFill/>
          <a:ln w="9525">
            <a:noFill/>
            <a:prstDash val="sysDash"/>
            <a:miter lim="800000"/>
            <a:headEnd/>
            <a:tailEnd/>
          </a:ln>
          <a:effectLst/>
        </p:spPr>
        <p:txBody>
          <a:bodyPr wrap="none" lIns="17859" tIns="25301" rIns="17859" bIns="25301"/>
          <a:lstStyle/>
          <a:p>
            <a:pPr>
              <a:tabLst>
                <a:tab pos="451085" algn="l"/>
                <a:tab pos="902170" algn="l"/>
                <a:tab pos="1353255" algn="l"/>
              </a:tabLst>
            </a:pPr>
            <a:r>
              <a:rPr lang="en-US" sz="1688" b="1" dirty="0">
                <a:ln w="0"/>
                <a:solidFill>
                  <a:srgbClr val="C00000"/>
                </a:solidFill>
                <a:latin typeface="Whitney Book" pitchFamily="50" charset="0"/>
                <a:cs typeface="Whitney Book" pitchFamily="50" charset="0"/>
              </a:rPr>
              <a:t>External marginal cost (“EMC”) of gasoline is $1.50 per gallon</a:t>
            </a:r>
          </a:p>
        </p:txBody>
      </p:sp>
      <p:sp>
        <p:nvSpPr>
          <p:cNvPr id="38" name="Line 20">
            <a:extLst>
              <a:ext uri="{FF2B5EF4-FFF2-40B4-BE49-F238E27FC236}">
                <a16:creationId xmlns:a16="http://schemas.microsoft.com/office/drawing/2014/main" id="{7D4D398E-5FE9-4669-8976-5C7B8A7E1EE1}"/>
              </a:ext>
            </a:extLst>
          </p:cNvPr>
          <p:cNvSpPr>
            <a:spLocks noChangeShapeType="1"/>
          </p:cNvSpPr>
          <p:nvPr/>
        </p:nvSpPr>
        <p:spPr bwMode="auto">
          <a:xfrm>
            <a:off x="3076277" y="3997264"/>
            <a:ext cx="0" cy="762476"/>
          </a:xfrm>
          <a:prstGeom prst="line">
            <a:avLst/>
          </a:prstGeom>
          <a:noFill/>
          <a:ln w="38100">
            <a:solidFill>
              <a:srgbClr val="C00000"/>
            </a:solidFill>
            <a:round/>
            <a:headEnd type="triangle" w="med" len="med"/>
            <a:tailEnd type="triangle" w="med" len="med"/>
          </a:ln>
          <a:effectLst/>
        </p:spPr>
        <p:txBody>
          <a:bodyPr wrap="none" lIns="90217" tIns="45109" rIns="90217" bIns="45109" anchor="ctr"/>
          <a:lstStyle/>
          <a:p>
            <a:endParaRPr lang="en-US" sz="1688">
              <a:solidFill>
                <a:schemeClr val="tx2">
                  <a:lumMod val="75000"/>
                </a:schemeClr>
              </a:solidFill>
              <a:latin typeface="Whitney Book" pitchFamily="50" charset="0"/>
              <a:cs typeface="Whitney Book" pitchFamily="50" charset="0"/>
            </a:endParaRPr>
          </a:p>
        </p:txBody>
      </p:sp>
      <p:grpSp>
        <p:nvGrpSpPr>
          <p:cNvPr id="5" name="Group 4">
            <a:extLst>
              <a:ext uri="{FF2B5EF4-FFF2-40B4-BE49-F238E27FC236}">
                <a16:creationId xmlns:a16="http://schemas.microsoft.com/office/drawing/2014/main" id="{9C426E6C-C843-42F0-8D63-5E5BFF391FCE}"/>
              </a:ext>
            </a:extLst>
          </p:cNvPr>
          <p:cNvGrpSpPr/>
          <p:nvPr/>
        </p:nvGrpSpPr>
        <p:grpSpPr>
          <a:xfrm>
            <a:off x="529754" y="4593324"/>
            <a:ext cx="2554743" cy="592758"/>
            <a:chOff x="529754" y="4593324"/>
            <a:chExt cx="2554743" cy="592758"/>
          </a:xfrm>
        </p:grpSpPr>
        <p:sp>
          <p:nvSpPr>
            <p:cNvPr id="51" name="Line 17">
              <a:extLst>
                <a:ext uri="{FF2B5EF4-FFF2-40B4-BE49-F238E27FC236}">
                  <a16:creationId xmlns:a16="http://schemas.microsoft.com/office/drawing/2014/main" id="{AF124DC7-C089-4C40-97CE-549E82A3FE34}"/>
                </a:ext>
              </a:extLst>
            </p:cNvPr>
            <p:cNvSpPr>
              <a:spLocks noChangeShapeType="1"/>
            </p:cNvSpPr>
            <p:nvPr/>
          </p:nvSpPr>
          <p:spPr bwMode="auto">
            <a:xfrm flipV="1">
              <a:off x="1170905" y="4775918"/>
              <a:ext cx="1913592" cy="9691"/>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wrap="none" anchor="ctr"/>
            <a:lstStyle/>
            <a:p>
              <a:endParaRPr lang="en-US" sz="1688">
                <a:solidFill>
                  <a:schemeClr val="tx2">
                    <a:lumMod val="75000"/>
                  </a:schemeClr>
                </a:solidFill>
                <a:latin typeface="Whitney Book" pitchFamily="50" charset="0"/>
                <a:cs typeface="Whitney Book" pitchFamily="50" charset="0"/>
              </a:endParaRPr>
            </a:p>
          </p:txBody>
        </p:sp>
        <mc:AlternateContent xmlns:mc="http://schemas.openxmlformats.org/markup-compatibility/2006" xmlns:a14="http://schemas.microsoft.com/office/drawing/2010/main">
          <mc:Choice Requires="a14">
            <p:sp>
              <p:nvSpPr>
                <p:cNvPr id="52" name="Rectangle 18">
                  <a:extLst>
                    <a:ext uri="{FF2B5EF4-FFF2-40B4-BE49-F238E27FC236}">
                      <a16:creationId xmlns:a16="http://schemas.microsoft.com/office/drawing/2014/main" id="{8EF2182D-CC15-495C-98AD-BC80450179C4}"/>
                    </a:ext>
                  </a:extLst>
                </p:cNvPr>
                <p:cNvSpPr>
                  <a:spLocks noChangeArrowheads="1"/>
                </p:cNvSpPr>
                <p:nvPr/>
              </p:nvSpPr>
              <p:spPr bwMode="auto">
                <a:xfrm>
                  <a:off x="529754" y="4593324"/>
                  <a:ext cx="559988" cy="592758"/>
                </a:xfrm>
                <a:prstGeom prst="rect">
                  <a:avLst/>
                </a:prstGeom>
                <a:noFill/>
                <a:ln w="9525">
                  <a:noFill/>
                  <a:miter lim="800000"/>
                  <a:headEnd/>
                  <a:tailEnd/>
                </a:ln>
                <a:effectLst/>
              </p:spPr>
              <p:txBody>
                <a:bodyPr wrap="none" lIns="17859" tIns="25301" rIns="17859" bIns="25301"/>
                <a:lstStyle/>
                <a:p>
                  <a:pPr algn="ctr">
                    <a:lnSpc>
                      <a:spcPts val="2763"/>
                    </a:lnSpc>
                    <a:spcAft>
                      <a:spcPts val="888"/>
                    </a:spcAft>
                    <a:tabLst>
                      <a:tab pos="451085" algn="l"/>
                      <a:tab pos="902170" algn="l"/>
                      <a:tab pos="1353255" algn="l"/>
                    </a:tabLst>
                  </a:pPr>
                  <a14:m>
                    <m:oMath xmlns:m="http://schemas.openxmlformats.org/officeDocument/2006/math">
                      <m:sSubSup>
                        <m:sSubSupPr>
                          <m:ctrlPr>
                            <a:rPr lang="en-US" sz="1688" i="1" smtClean="0">
                              <a:solidFill>
                                <a:srgbClr val="C00000"/>
                              </a:solidFill>
                              <a:latin typeface="Cambria Math" panose="02040503050406030204" pitchFamily="18" charset="0"/>
                              <a:cs typeface="Whitney Book" pitchFamily="50" charset="0"/>
                            </a:rPr>
                          </m:ctrlPr>
                        </m:sSubSupPr>
                        <m:e>
                          <m:r>
                            <a:rPr lang="en-US" sz="1688" i="1">
                              <a:solidFill>
                                <a:srgbClr val="C00000"/>
                              </a:solidFill>
                              <a:latin typeface="Cambria Math" panose="02040503050406030204" pitchFamily="18" charset="0"/>
                              <a:cs typeface="Whitney Book" pitchFamily="50" charset="0"/>
                            </a:rPr>
                            <m:t>𝑃</m:t>
                          </m:r>
                        </m:e>
                        <m:sub>
                          <m:r>
                            <a:rPr lang="en-US" sz="1688" i="1">
                              <a:solidFill>
                                <a:srgbClr val="C00000"/>
                              </a:solidFill>
                              <a:latin typeface="Cambria Math" panose="02040503050406030204" pitchFamily="18" charset="0"/>
                              <a:cs typeface="Whitney Book" pitchFamily="50" charset="0"/>
                            </a:rPr>
                            <m:t>𝐸</m:t>
                          </m:r>
                        </m:sub>
                        <m:sup>
                          <m:r>
                            <a:rPr lang="en-US" sz="1688" b="0" i="1" smtClean="0">
                              <a:solidFill>
                                <a:srgbClr val="C00000"/>
                              </a:solidFill>
                              <a:latin typeface="Cambria Math" panose="02040503050406030204" pitchFamily="18" charset="0"/>
                              <a:cs typeface="Whitney Book" pitchFamily="50" charset="0"/>
                            </a:rPr>
                            <m:t>𝑃</m:t>
                          </m:r>
                        </m:sup>
                      </m:sSubSup>
                    </m:oMath>
                  </a14:m>
                  <a:r>
                    <a:rPr lang="en-US" sz="1688" dirty="0">
                      <a:solidFill>
                        <a:schemeClr val="tx2">
                          <a:lumMod val="75000"/>
                        </a:schemeClr>
                      </a:solidFill>
                      <a:latin typeface="Whitney Book" pitchFamily="50" charset="0"/>
                      <a:cs typeface="Whitney Book" pitchFamily="50" charset="0"/>
                    </a:rPr>
                    <a:t>=4.0</a:t>
                  </a:r>
                  <a:endParaRPr lang="en-US" sz="1688" baseline="30000" dirty="0">
                    <a:solidFill>
                      <a:schemeClr val="tx2">
                        <a:lumMod val="75000"/>
                      </a:schemeClr>
                    </a:solidFill>
                    <a:latin typeface="Whitney Book" pitchFamily="50" charset="0"/>
                    <a:cs typeface="Whitney Book" pitchFamily="50" charset="0"/>
                  </a:endParaRPr>
                </a:p>
              </p:txBody>
            </p:sp>
          </mc:Choice>
          <mc:Fallback xmlns="">
            <p:sp>
              <p:nvSpPr>
                <p:cNvPr id="52" name="Rectangle 18">
                  <a:extLst>
                    <a:ext uri="{FF2B5EF4-FFF2-40B4-BE49-F238E27FC236}">
                      <a16:creationId xmlns:a16="http://schemas.microsoft.com/office/drawing/2014/main" id="{8EF2182D-CC15-495C-98AD-BC80450179C4}"/>
                    </a:ext>
                  </a:extLst>
                </p:cNvPr>
                <p:cNvSpPr>
                  <a:spLocks noRot="1" noChangeAspect="1" noMove="1" noResize="1" noEditPoints="1" noAdjustHandles="1" noChangeArrowheads="1" noChangeShapeType="1" noTextEdit="1"/>
                </p:cNvSpPr>
                <p:nvPr/>
              </p:nvSpPr>
              <p:spPr bwMode="auto">
                <a:xfrm>
                  <a:off x="529754" y="4593324"/>
                  <a:ext cx="559988" cy="592758"/>
                </a:xfrm>
                <a:prstGeom prst="rect">
                  <a:avLst/>
                </a:prstGeom>
                <a:blipFill>
                  <a:blip r:embed="rId7"/>
                  <a:stretch>
                    <a:fillRect l="-25000" r="-33696"/>
                  </a:stretch>
                </a:blipFill>
                <a:ln w="9525">
                  <a:noFill/>
                  <a:miter lim="800000"/>
                  <a:headEnd/>
                  <a:tailEnd/>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53" name="Rectangle 18">
                <a:extLst>
                  <a:ext uri="{FF2B5EF4-FFF2-40B4-BE49-F238E27FC236}">
                    <a16:creationId xmlns:a16="http://schemas.microsoft.com/office/drawing/2014/main" id="{A9AFFEF8-B95F-41DF-B36F-C0CDE99346E5}"/>
                  </a:ext>
                </a:extLst>
              </p:cNvPr>
              <p:cNvSpPr>
                <a:spLocks noChangeArrowheads="1"/>
              </p:cNvSpPr>
              <p:nvPr/>
            </p:nvSpPr>
            <p:spPr bwMode="auto">
              <a:xfrm>
                <a:off x="4450238" y="4420221"/>
                <a:ext cx="4618761" cy="592759"/>
              </a:xfrm>
              <a:prstGeom prst="rect">
                <a:avLst/>
              </a:prstGeom>
              <a:noFill/>
              <a:ln w="9525">
                <a:noFill/>
                <a:miter lim="800000"/>
                <a:headEnd/>
                <a:tailEnd/>
              </a:ln>
              <a:effectLst/>
            </p:spPr>
            <p:txBody>
              <a:bodyPr wrap="none" lIns="17859" tIns="25301" rIns="17859" bIns="25301"/>
              <a:lstStyle/>
              <a:p>
                <a:pPr>
                  <a:spcAft>
                    <a:spcPts val="600"/>
                  </a:spcAft>
                  <a:tabLst>
                    <a:tab pos="451085" algn="l"/>
                    <a:tab pos="902170" algn="l"/>
                    <a:tab pos="1353255" algn="l"/>
                  </a:tabLst>
                </a:pPr>
                <a14:m>
                  <m:oMath xmlns:m="http://schemas.openxmlformats.org/officeDocument/2006/math">
                    <m:sSubSup>
                      <m:sSubSupPr>
                        <m:ctrlPr>
                          <a:rPr lang="en-US" sz="1600" b="0" i="1" smtClean="0">
                            <a:solidFill>
                              <a:srgbClr val="C00000"/>
                            </a:solidFill>
                            <a:latin typeface="Cambria Math" panose="02040503050406030204" pitchFamily="18" charset="0"/>
                            <a:cs typeface="Whitney Book" pitchFamily="50" charset="0"/>
                          </a:rPr>
                        </m:ctrlPr>
                      </m:sSubSupPr>
                      <m:e>
                        <m:r>
                          <a:rPr lang="en-US" sz="1600" b="0" i="1" smtClean="0">
                            <a:solidFill>
                              <a:srgbClr val="C00000"/>
                            </a:solidFill>
                            <a:latin typeface="Cambria Math" panose="02040503050406030204" pitchFamily="18" charset="0"/>
                            <a:cs typeface="Whitney Book" pitchFamily="50" charset="0"/>
                          </a:rPr>
                          <m:t>𝑃</m:t>
                        </m:r>
                      </m:e>
                      <m:sub>
                        <m:r>
                          <a:rPr lang="en-US" sz="1600" b="0" i="1" smtClean="0">
                            <a:solidFill>
                              <a:srgbClr val="C00000"/>
                            </a:solidFill>
                            <a:latin typeface="Cambria Math" panose="02040503050406030204" pitchFamily="18" charset="0"/>
                            <a:cs typeface="Whitney Book" pitchFamily="50" charset="0"/>
                          </a:rPr>
                          <m:t>𝐸</m:t>
                        </m:r>
                      </m:sub>
                      <m:sup>
                        <m:r>
                          <a:rPr lang="en-US" sz="1600" b="0" i="1" smtClean="0">
                            <a:solidFill>
                              <a:srgbClr val="C00000"/>
                            </a:solidFill>
                            <a:latin typeface="Cambria Math" panose="02040503050406030204" pitchFamily="18" charset="0"/>
                            <a:cs typeface="Whitney Book" pitchFamily="50" charset="0"/>
                          </a:rPr>
                          <m:t>𝐶</m:t>
                        </m:r>
                      </m:sup>
                    </m:sSubSup>
                  </m:oMath>
                </a14:m>
                <a:r>
                  <a:rPr lang="en-US" sz="1600" i="1" baseline="-25000" dirty="0">
                    <a:solidFill>
                      <a:srgbClr val="C00000"/>
                    </a:solidFill>
                    <a:latin typeface="Whitney Book" pitchFamily="50" charset="0"/>
                    <a:cs typeface="Whitney Book" pitchFamily="50" charset="0"/>
                  </a:rPr>
                  <a:t> </a:t>
                </a:r>
                <a:r>
                  <a:rPr lang="en-US" sz="1600" dirty="0">
                    <a:solidFill>
                      <a:schemeClr val="tx2">
                        <a:lumMod val="75000"/>
                      </a:schemeClr>
                    </a:solidFill>
                    <a:latin typeface="Whitney Book" pitchFamily="50" charset="0"/>
                    <a:cs typeface="Whitney Book" pitchFamily="50" charset="0"/>
                  </a:rPr>
                  <a:t>: Price paid by consumer with tax on externality</a:t>
                </a:r>
              </a:p>
              <a:p>
                <a:pPr algn="ctr">
                  <a:spcAft>
                    <a:spcPts val="600"/>
                  </a:spcAft>
                  <a:tabLst>
                    <a:tab pos="451085" algn="l"/>
                    <a:tab pos="902170" algn="l"/>
                    <a:tab pos="1353255" algn="l"/>
                  </a:tabLst>
                </a:pPr>
                <a14:m>
                  <m:oMath xmlns:m="http://schemas.openxmlformats.org/officeDocument/2006/math">
                    <m:sSubSup>
                      <m:sSubSupPr>
                        <m:ctrlPr>
                          <a:rPr lang="en-US" sz="1600" i="1">
                            <a:solidFill>
                              <a:srgbClr val="C00000"/>
                            </a:solidFill>
                            <a:latin typeface="Cambria Math" panose="02040503050406030204" pitchFamily="18" charset="0"/>
                            <a:cs typeface="Whitney Book" pitchFamily="50" charset="0"/>
                          </a:rPr>
                        </m:ctrlPr>
                      </m:sSubSupPr>
                      <m:e>
                        <m:r>
                          <a:rPr lang="en-US" sz="1600" i="1">
                            <a:solidFill>
                              <a:srgbClr val="C00000"/>
                            </a:solidFill>
                            <a:latin typeface="Cambria Math" panose="02040503050406030204" pitchFamily="18" charset="0"/>
                            <a:cs typeface="Whitney Book" pitchFamily="50" charset="0"/>
                          </a:rPr>
                          <m:t>𝑃</m:t>
                        </m:r>
                      </m:e>
                      <m:sub>
                        <m:r>
                          <a:rPr lang="en-US" sz="1600" i="1">
                            <a:solidFill>
                              <a:srgbClr val="C00000"/>
                            </a:solidFill>
                            <a:latin typeface="Cambria Math" panose="02040503050406030204" pitchFamily="18" charset="0"/>
                            <a:cs typeface="Whitney Book" pitchFamily="50" charset="0"/>
                          </a:rPr>
                          <m:t>𝐸</m:t>
                        </m:r>
                      </m:sub>
                      <m:sup>
                        <m:r>
                          <a:rPr lang="en-US" sz="1600" b="0" i="1" smtClean="0">
                            <a:solidFill>
                              <a:srgbClr val="C00000"/>
                            </a:solidFill>
                            <a:latin typeface="Cambria Math" panose="02040503050406030204" pitchFamily="18" charset="0"/>
                            <a:cs typeface="Whitney Book" pitchFamily="50" charset="0"/>
                          </a:rPr>
                          <m:t>𝑃</m:t>
                        </m:r>
                      </m:sup>
                    </m:sSubSup>
                  </m:oMath>
                </a14:m>
                <a:r>
                  <a:rPr lang="en-US" sz="1600" dirty="0">
                    <a:solidFill>
                      <a:schemeClr val="tx2">
                        <a:lumMod val="75000"/>
                      </a:schemeClr>
                    </a:solidFill>
                    <a:latin typeface="Whitney Book" pitchFamily="50" charset="0"/>
                    <a:cs typeface="Whitney Book" pitchFamily="50" charset="0"/>
                  </a:rPr>
                  <a:t> : Price received by producer with tax on externality</a:t>
                </a:r>
                <a:endParaRPr lang="en-US" sz="1600" baseline="30000" dirty="0">
                  <a:solidFill>
                    <a:schemeClr val="tx2">
                      <a:lumMod val="75000"/>
                    </a:schemeClr>
                  </a:solidFill>
                  <a:latin typeface="Whitney Book" pitchFamily="50" charset="0"/>
                  <a:cs typeface="Whitney Book" pitchFamily="50" charset="0"/>
                </a:endParaRPr>
              </a:p>
            </p:txBody>
          </p:sp>
        </mc:Choice>
        <mc:Fallback xmlns="">
          <p:sp>
            <p:nvSpPr>
              <p:cNvPr id="53" name="Rectangle 18">
                <a:extLst>
                  <a:ext uri="{FF2B5EF4-FFF2-40B4-BE49-F238E27FC236}">
                    <a16:creationId xmlns:a16="http://schemas.microsoft.com/office/drawing/2014/main" id="{A9AFFEF8-B95F-41DF-B36F-C0CDE99346E5}"/>
                  </a:ext>
                </a:extLst>
              </p:cNvPr>
              <p:cNvSpPr>
                <a:spLocks noRot="1" noChangeAspect="1" noMove="1" noResize="1" noEditPoints="1" noAdjustHandles="1" noChangeArrowheads="1" noChangeShapeType="1" noTextEdit="1"/>
              </p:cNvSpPr>
              <p:nvPr/>
            </p:nvSpPr>
            <p:spPr bwMode="auto">
              <a:xfrm>
                <a:off x="4450238" y="4420221"/>
                <a:ext cx="4618761" cy="592759"/>
              </a:xfrm>
              <a:prstGeom prst="rect">
                <a:avLst/>
              </a:prstGeom>
              <a:blipFill>
                <a:blip r:embed="rId8"/>
                <a:stretch>
                  <a:fillRect l="-1187" t="-5155" r="-1451" b="-22680"/>
                </a:stretch>
              </a:blipFill>
              <a:ln w="9525">
                <a:noFill/>
                <a:miter lim="800000"/>
                <a:headEnd/>
                <a:tailEnd/>
              </a:ln>
              <a:effectLst/>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1398438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53"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Externality: Airplane Noise</a:t>
            </a:r>
            <a:br>
              <a:rPr lang="en-US" dirty="0"/>
            </a:br>
            <a:endParaRPr lang="en-US" dirty="0"/>
          </a:p>
        </p:txBody>
      </p:sp>
      <p:sp>
        <p:nvSpPr>
          <p:cNvPr id="4" name="Slide Number Placeholder 3"/>
          <p:cNvSpPr>
            <a:spLocks noGrp="1"/>
          </p:cNvSpPr>
          <p:nvPr>
            <p:ph type="sldNum" sz="quarter" idx="12"/>
          </p:nvPr>
        </p:nvSpPr>
        <p:spPr/>
        <p:txBody>
          <a:bodyPr/>
          <a:lstStyle/>
          <a:p>
            <a:fld id="{DBC38028-5B1C-49D3-BF22-2CE9385E6DA2}" type="slidenum">
              <a:rPr lang="en-US" smtClean="0"/>
              <a:pPr/>
              <a:t>75</a:t>
            </a:fld>
            <a:endParaRPr lang="en-US" dirty="0"/>
          </a:p>
        </p:txBody>
      </p:sp>
      <p:pic>
        <p:nvPicPr>
          <p:cNvPr id="14" name="Picture 13"/>
          <p:cNvPicPr>
            <a:picLocks noChangeAspect="1"/>
          </p:cNvPicPr>
          <p:nvPr/>
        </p:nvPicPr>
        <p:blipFill rotWithShape="1">
          <a:blip r:embed="rId4"/>
          <a:srcRect b="-398"/>
          <a:stretch/>
        </p:blipFill>
        <p:spPr>
          <a:xfrm>
            <a:off x="234955" y="928688"/>
            <a:ext cx="8655778" cy="4572000"/>
          </a:xfrm>
          <a:prstGeom prst="rect">
            <a:avLst/>
          </a:prstGeom>
        </p:spPr>
      </p:pic>
      <p:pic>
        <p:nvPicPr>
          <p:cNvPr id="15" name="Picture 14"/>
          <p:cNvPicPr/>
          <p:nvPr/>
        </p:nvPicPr>
        <p:blipFill rotWithShape="1">
          <a:blip r:embed="rId5"/>
          <a:srcRect l="71752" t="10019" r="15655" b="68095"/>
          <a:stretch/>
        </p:blipFill>
        <p:spPr bwMode="auto">
          <a:xfrm>
            <a:off x="4562845" y="4286250"/>
            <a:ext cx="4522589" cy="2527102"/>
          </a:xfrm>
          <a:prstGeom prst="rect">
            <a:avLst/>
          </a:prstGeom>
          <a:ln>
            <a:noFill/>
          </a:ln>
          <a:extLst>
            <a:ext uri="{53640926-AAD7-44D8-BBD7-CCE9431645EC}">
              <a14:shadowObscured xmlns:a14="http://schemas.microsoft.com/office/drawing/2010/main"/>
            </a:ext>
          </a:extLst>
        </p:spPr>
      </p:pic>
    </p:spTree>
    <p:custDataLst>
      <p:tags r:id="rId1"/>
    </p:custDataLst>
    <p:extLst>
      <p:ext uri="{BB962C8B-B14F-4D97-AF65-F5344CB8AC3E}">
        <p14:creationId xmlns:p14="http://schemas.microsoft.com/office/powerpoint/2010/main" val="600226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Pigouvian</a:t>
            </a:r>
            <a:r>
              <a:rPr lang="en-US" dirty="0"/>
              <a:t> Tax to Correct for Noise?</a:t>
            </a:r>
            <a:br>
              <a:rPr lang="en-US" dirty="0"/>
            </a:br>
            <a:r>
              <a:rPr lang="en-US" dirty="0"/>
              <a:t>The case of Santa Monica Airport</a:t>
            </a:r>
            <a:br>
              <a:rPr lang="en-US" dirty="0"/>
            </a:br>
            <a:endParaRPr lang="en-US" dirty="0"/>
          </a:p>
        </p:txBody>
      </p:sp>
      <p:sp>
        <p:nvSpPr>
          <p:cNvPr id="4" name="Slide Number Placeholder 3"/>
          <p:cNvSpPr>
            <a:spLocks noGrp="1"/>
          </p:cNvSpPr>
          <p:nvPr>
            <p:ph type="sldNum" sz="quarter" idx="12"/>
          </p:nvPr>
        </p:nvSpPr>
        <p:spPr/>
        <p:txBody>
          <a:bodyPr/>
          <a:lstStyle/>
          <a:p>
            <a:fld id="{DBC38028-5B1C-49D3-BF22-2CE9385E6DA2}" type="slidenum">
              <a:rPr lang="en-US" smtClean="0"/>
              <a:pPr/>
              <a:t>76</a:t>
            </a:fld>
            <a:endParaRPr lang="en-US" dirty="0"/>
          </a:p>
        </p:txBody>
      </p:sp>
      <p:grpSp>
        <p:nvGrpSpPr>
          <p:cNvPr id="44" name="Group 43"/>
          <p:cNvGrpSpPr/>
          <p:nvPr/>
        </p:nvGrpSpPr>
        <p:grpSpPr>
          <a:xfrm>
            <a:off x="1285690" y="2676197"/>
            <a:ext cx="4622943" cy="3369139"/>
            <a:chOff x="1925898" y="3065232"/>
            <a:chExt cx="4813986" cy="3009446"/>
          </a:xfrm>
        </p:grpSpPr>
        <p:sp>
          <p:nvSpPr>
            <p:cNvPr id="11" name="Line 4"/>
            <p:cNvSpPr>
              <a:spLocks noChangeShapeType="1"/>
            </p:cNvSpPr>
            <p:nvPr/>
          </p:nvSpPr>
          <p:spPr bwMode="auto">
            <a:xfrm>
              <a:off x="1925898" y="3065232"/>
              <a:ext cx="4813986" cy="3009446"/>
            </a:xfrm>
            <a:prstGeom prst="line">
              <a:avLst/>
            </a:prstGeom>
            <a:noFill/>
            <a:ln w="50800">
              <a:solidFill>
                <a:srgbClr val="FFC000"/>
              </a:solidFill>
              <a:round/>
              <a:headEnd type="none" w="sm" len="sm"/>
              <a:tailEnd type="none" w="sm" len="sm"/>
            </a:ln>
            <a:effectLst/>
          </p:spPr>
          <p:txBody>
            <a:bodyPr wrap="none" anchor="ctr"/>
            <a:lstStyle/>
            <a:p>
              <a:endParaRPr lang="en-US" sz="1688"/>
            </a:p>
          </p:txBody>
        </p:sp>
        <p:sp>
          <p:nvSpPr>
            <p:cNvPr id="12" name="Rectangle 5"/>
            <p:cNvSpPr>
              <a:spLocks noChangeArrowheads="1"/>
            </p:cNvSpPr>
            <p:nvPr/>
          </p:nvSpPr>
          <p:spPr bwMode="auto">
            <a:xfrm>
              <a:off x="4934253" y="5399016"/>
              <a:ext cx="774943" cy="628546"/>
            </a:xfrm>
            <a:prstGeom prst="rect">
              <a:avLst/>
            </a:prstGeom>
            <a:noFill/>
            <a:ln w="9525">
              <a:noFill/>
              <a:miter lim="800000"/>
              <a:headEnd/>
              <a:tailEnd/>
            </a:ln>
            <a:effectLst/>
          </p:spPr>
          <p:txBody>
            <a:bodyPr wrap="none" lIns="17859" tIns="25301" rIns="17859" bIns="25301"/>
            <a:lstStyle/>
            <a:p>
              <a:pPr algn="ctr">
                <a:tabLst>
                  <a:tab pos="451085" algn="l"/>
                  <a:tab pos="902170" algn="l"/>
                  <a:tab pos="1353255" algn="l"/>
                </a:tabLst>
              </a:pPr>
              <a:r>
                <a:rPr lang="en-US" sz="1875" dirty="0">
                  <a:solidFill>
                    <a:srgbClr val="FFC000"/>
                  </a:solidFill>
                  <a:latin typeface="Times New Roman" pitchFamily="18" charset="0"/>
                  <a:cs typeface="Times New Roman" pitchFamily="18" charset="0"/>
                </a:rPr>
                <a:t>D </a:t>
              </a:r>
              <a:r>
                <a:rPr lang="en-US" sz="1600" dirty="0">
                  <a:solidFill>
                    <a:srgbClr val="FFC000"/>
                  </a:solidFill>
                  <a:latin typeface="Times New Roman" pitchFamily="18" charset="0"/>
                  <a:cs typeface="Times New Roman" pitchFamily="18" charset="0"/>
                </a:rPr>
                <a:t>(MB of </a:t>
              </a:r>
            </a:p>
            <a:p>
              <a:pPr algn="ctr">
                <a:tabLst>
                  <a:tab pos="451085" algn="l"/>
                  <a:tab pos="902170" algn="l"/>
                  <a:tab pos="1353255" algn="l"/>
                </a:tabLst>
              </a:pPr>
              <a:r>
                <a:rPr lang="en-US" sz="1600" dirty="0">
                  <a:solidFill>
                    <a:srgbClr val="FFC000"/>
                  </a:solidFill>
                  <a:latin typeface="Times New Roman" pitchFamily="18" charset="0"/>
                  <a:cs typeface="Times New Roman" pitchFamily="18" charset="0"/>
                </a:rPr>
                <a:t>Flying)</a:t>
              </a:r>
            </a:p>
          </p:txBody>
        </p:sp>
      </p:grpSp>
      <p:sp>
        <p:nvSpPr>
          <p:cNvPr id="16" name="Line 20"/>
          <p:cNvSpPr>
            <a:spLocks noChangeShapeType="1"/>
          </p:cNvSpPr>
          <p:nvPr/>
        </p:nvSpPr>
        <p:spPr bwMode="auto">
          <a:xfrm>
            <a:off x="1252670" y="2240922"/>
            <a:ext cx="0" cy="3836468"/>
          </a:xfrm>
          <a:prstGeom prst="line">
            <a:avLst/>
          </a:prstGeom>
          <a:ln>
            <a:headEnd type="arrow" w="med" len="med"/>
            <a:tailEnd type="none" w="med" len="med"/>
          </a:ln>
        </p:spPr>
        <p:style>
          <a:lnRef idx="2">
            <a:schemeClr val="dk1"/>
          </a:lnRef>
          <a:fillRef idx="0">
            <a:schemeClr val="dk1"/>
          </a:fillRef>
          <a:effectRef idx="1">
            <a:schemeClr val="dk1"/>
          </a:effectRef>
          <a:fontRef idx="minor">
            <a:schemeClr val="tx1"/>
          </a:fontRef>
        </p:style>
        <p:txBody>
          <a:bodyPr wrap="none" lIns="90217" tIns="45109" rIns="90217" bIns="45109" anchor="ctr"/>
          <a:lstStyle/>
          <a:p>
            <a:endParaRPr lang="en-US" sz="1688"/>
          </a:p>
        </p:txBody>
      </p:sp>
      <p:sp>
        <p:nvSpPr>
          <p:cNvPr id="17" name="Line 21"/>
          <p:cNvSpPr>
            <a:spLocks noChangeShapeType="1"/>
          </p:cNvSpPr>
          <p:nvPr/>
        </p:nvSpPr>
        <p:spPr bwMode="auto">
          <a:xfrm>
            <a:off x="1265196" y="6058583"/>
            <a:ext cx="5345287" cy="0"/>
          </a:xfrm>
          <a:prstGeom prst="line">
            <a:avLst/>
          </a:prstGeom>
          <a:ln>
            <a:headEnd type="none" w="med" len="med"/>
            <a:tailEnd type="arrow" w="med" len="med"/>
          </a:ln>
        </p:spPr>
        <p:style>
          <a:lnRef idx="2">
            <a:schemeClr val="dk1"/>
          </a:lnRef>
          <a:fillRef idx="0">
            <a:schemeClr val="dk1"/>
          </a:fillRef>
          <a:effectRef idx="1">
            <a:schemeClr val="dk1"/>
          </a:effectRef>
          <a:fontRef idx="minor">
            <a:schemeClr val="tx1"/>
          </a:fontRef>
        </p:style>
        <p:txBody>
          <a:bodyPr wrap="none" lIns="90217" tIns="45109" rIns="90217" bIns="45109" anchor="ctr"/>
          <a:lstStyle/>
          <a:p>
            <a:endParaRPr lang="en-US" sz="1688"/>
          </a:p>
        </p:txBody>
      </p:sp>
      <p:sp>
        <p:nvSpPr>
          <p:cNvPr id="18" name="Rectangle 22"/>
          <p:cNvSpPr>
            <a:spLocks noChangeArrowheads="1"/>
          </p:cNvSpPr>
          <p:nvPr/>
        </p:nvSpPr>
        <p:spPr bwMode="auto">
          <a:xfrm>
            <a:off x="557476" y="1796363"/>
            <a:ext cx="676405" cy="589262"/>
          </a:xfrm>
          <a:prstGeom prst="rect">
            <a:avLst/>
          </a:prstGeom>
          <a:noFill/>
          <a:ln w="9525">
            <a:noFill/>
            <a:miter lim="800000"/>
            <a:headEnd/>
            <a:tailEnd/>
          </a:ln>
          <a:effectLst/>
        </p:spPr>
        <p:txBody>
          <a:bodyPr wrap="none" lIns="18795" tIns="26627" rIns="18795" bIns="26627"/>
          <a:lstStyle/>
          <a:p>
            <a:pPr algn="ctr">
              <a:lnSpc>
                <a:spcPts val="2763"/>
              </a:lnSpc>
              <a:spcAft>
                <a:spcPts val="888"/>
              </a:spcAft>
              <a:tabLst>
                <a:tab pos="451085" algn="l"/>
                <a:tab pos="902170" algn="l"/>
                <a:tab pos="1353255" algn="l"/>
              </a:tabLst>
            </a:pPr>
            <a:r>
              <a:rPr lang="en-US" sz="1688" dirty="0">
                <a:solidFill>
                  <a:schemeClr val="tx2">
                    <a:lumMod val="75000"/>
                  </a:schemeClr>
                </a:solidFill>
                <a:latin typeface="Times New Roman" pitchFamily="18" charset="0"/>
                <a:cs typeface="Times New Roman" pitchFamily="18" charset="0"/>
              </a:rPr>
              <a:t>Price</a:t>
            </a:r>
          </a:p>
        </p:txBody>
      </p:sp>
      <p:sp>
        <p:nvSpPr>
          <p:cNvPr id="19" name="Rectangle 35"/>
          <p:cNvSpPr>
            <a:spLocks noChangeArrowheads="1"/>
          </p:cNvSpPr>
          <p:nvPr/>
        </p:nvSpPr>
        <p:spPr bwMode="auto">
          <a:xfrm>
            <a:off x="6585776" y="5963934"/>
            <a:ext cx="1725068" cy="322564"/>
          </a:xfrm>
          <a:prstGeom prst="rect">
            <a:avLst/>
          </a:prstGeom>
          <a:noFill/>
          <a:ln w="9525">
            <a:noFill/>
            <a:miter lim="800000"/>
            <a:headEnd/>
            <a:tailEnd/>
          </a:ln>
          <a:effectLst/>
        </p:spPr>
        <p:txBody>
          <a:bodyPr wrap="square" lIns="90844" tIns="45422" rIns="90844" bIns="45422">
            <a:spAutoFit/>
          </a:bodyPr>
          <a:lstStyle/>
          <a:p>
            <a:r>
              <a:rPr lang="en-US" sz="1500" dirty="0">
                <a:solidFill>
                  <a:schemeClr val="tx2">
                    <a:lumMod val="75000"/>
                  </a:schemeClr>
                </a:solidFill>
                <a:latin typeface="Times New Roman" pitchFamily="18" charset="0"/>
                <a:cs typeface="Times New Roman" pitchFamily="18" charset="0"/>
              </a:rPr>
              <a:t>Flights per day</a:t>
            </a:r>
          </a:p>
        </p:txBody>
      </p:sp>
      <p:sp>
        <p:nvSpPr>
          <p:cNvPr id="24" name="Line 17"/>
          <p:cNvSpPr>
            <a:spLocks noChangeShapeType="1"/>
          </p:cNvSpPr>
          <p:nvPr/>
        </p:nvSpPr>
        <p:spPr bwMode="auto">
          <a:xfrm flipH="1" flipV="1">
            <a:off x="3923004" y="4614416"/>
            <a:ext cx="6058" cy="1349517"/>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wrap="none" anchor="ctr"/>
          <a:lstStyle/>
          <a:p>
            <a:endParaRPr lang="en-US" sz="1688"/>
          </a:p>
        </p:txBody>
      </p:sp>
      <p:sp>
        <p:nvSpPr>
          <p:cNvPr id="25" name="Rectangle 18"/>
          <p:cNvSpPr>
            <a:spLocks noChangeArrowheads="1"/>
          </p:cNvSpPr>
          <p:nvPr/>
        </p:nvSpPr>
        <p:spPr bwMode="auto">
          <a:xfrm>
            <a:off x="3833854" y="6104517"/>
            <a:ext cx="626302" cy="589262"/>
          </a:xfrm>
          <a:prstGeom prst="rect">
            <a:avLst/>
          </a:prstGeom>
          <a:noFill/>
          <a:ln w="9525">
            <a:noFill/>
            <a:miter lim="800000"/>
            <a:headEnd/>
            <a:tailEnd/>
          </a:ln>
          <a:effectLst/>
        </p:spPr>
        <p:txBody>
          <a:bodyPr wrap="none" lIns="17859" tIns="25301" rIns="17859" bIns="25301"/>
          <a:lstStyle/>
          <a:p>
            <a:pPr algn="ctr">
              <a:lnSpc>
                <a:spcPts val="2763"/>
              </a:lnSpc>
              <a:spcAft>
                <a:spcPts val="888"/>
              </a:spcAft>
              <a:tabLst>
                <a:tab pos="451085" algn="l"/>
                <a:tab pos="902170" algn="l"/>
                <a:tab pos="1353255" algn="l"/>
              </a:tabLst>
            </a:pPr>
            <a:r>
              <a:rPr lang="en-US" sz="1688" dirty="0" err="1">
                <a:solidFill>
                  <a:schemeClr val="tx2">
                    <a:lumMod val="75000"/>
                  </a:schemeClr>
                </a:solidFill>
                <a:latin typeface="Times New Roman" pitchFamily="18" charset="0"/>
                <a:cs typeface="Times New Roman" pitchFamily="18" charset="0"/>
              </a:rPr>
              <a:t>Q</a:t>
            </a:r>
            <a:r>
              <a:rPr lang="en-US" sz="1688" baseline="-25000" dirty="0" err="1">
                <a:solidFill>
                  <a:schemeClr val="tx2">
                    <a:lumMod val="75000"/>
                  </a:schemeClr>
                </a:solidFill>
                <a:latin typeface="Times New Roman" pitchFamily="18" charset="0"/>
                <a:cs typeface="Times New Roman" pitchFamily="18" charset="0"/>
              </a:rPr>
              <a:t>current</a:t>
            </a:r>
            <a:endParaRPr lang="en-US" sz="1688" baseline="-25000" dirty="0">
              <a:solidFill>
                <a:schemeClr val="tx2">
                  <a:lumMod val="75000"/>
                </a:schemeClr>
              </a:solidFill>
              <a:latin typeface="Times New Roman" pitchFamily="18" charset="0"/>
              <a:cs typeface="Times New Roman" pitchFamily="18" charset="0"/>
            </a:endParaRPr>
          </a:p>
        </p:txBody>
      </p:sp>
      <p:sp>
        <p:nvSpPr>
          <p:cNvPr id="40" name="Rectangle 10"/>
          <p:cNvSpPr>
            <a:spLocks noChangeArrowheads="1"/>
          </p:cNvSpPr>
          <p:nvPr/>
        </p:nvSpPr>
        <p:spPr bwMode="auto">
          <a:xfrm>
            <a:off x="4942204" y="3027966"/>
            <a:ext cx="2054798" cy="323068"/>
          </a:xfrm>
          <a:prstGeom prst="rect">
            <a:avLst/>
          </a:prstGeom>
          <a:noFill/>
          <a:ln w="9525">
            <a:noFill/>
            <a:prstDash val="sysDash"/>
            <a:miter lim="800000"/>
            <a:headEnd/>
            <a:tailEnd/>
          </a:ln>
          <a:effectLst/>
        </p:spPr>
        <p:txBody>
          <a:bodyPr wrap="none" lIns="17859" tIns="25301" rIns="17859" bIns="25301"/>
          <a:lstStyle/>
          <a:p>
            <a:pPr algn="ctr">
              <a:tabLst>
                <a:tab pos="451085" algn="l"/>
                <a:tab pos="902170" algn="l"/>
                <a:tab pos="1353255" algn="l"/>
              </a:tabLst>
            </a:pPr>
            <a:r>
              <a:rPr lang="en-US" sz="1688" dirty="0">
                <a:solidFill>
                  <a:schemeClr val="accent2">
                    <a:lumMod val="40000"/>
                    <a:lumOff val="60000"/>
                  </a:schemeClr>
                </a:solidFill>
                <a:effectLst>
                  <a:outerShdw blurRad="38100" dist="38100" dir="2700000" algn="tl">
                    <a:srgbClr val="000000"/>
                  </a:outerShdw>
                </a:effectLst>
                <a:latin typeface="Times New Roman" pitchFamily="18" charset="0"/>
                <a:cs typeface="Times New Roman" pitchFamily="18" charset="0"/>
              </a:rPr>
              <a:t>Noise pollution (“EMC”)</a:t>
            </a:r>
          </a:p>
        </p:txBody>
      </p:sp>
      <p:grpSp>
        <p:nvGrpSpPr>
          <p:cNvPr id="6" name="Group 5"/>
          <p:cNvGrpSpPr/>
          <p:nvPr/>
        </p:nvGrpSpPr>
        <p:grpSpPr>
          <a:xfrm>
            <a:off x="1285875" y="2214562"/>
            <a:ext cx="6720810" cy="569826"/>
            <a:chOff x="1932562" y="1375022"/>
            <a:chExt cx="6362834" cy="7925826"/>
          </a:xfrm>
        </p:grpSpPr>
        <p:sp>
          <p:nvSpPr>
            <p:cNvPr id="36" name="Line 8"/>
            <p:cNvSpPr>
              <a:spLocks noChangeShapeType="1"/>
            </p:cNvSpPr>
            <p:nvPr/>
          </p:nvSpPr>
          <p:spPr bwMode="auto">
            <a:xfrm flipV="1">
              <a:off x="1932562" y="4803222"/>
              <a:ext cx="4420195" cy="23289"/>
            </a:xfrm>
            <a:prstGeom prst="line">
              <a:avLst/>
            </a:prstGeom>
            <a:noFill/>
            <a:ln w="50800">
              <a:solidFill>
                <a:schemeClr val="tx2">
                  <a:lumMod val="75000"/>
                </a:schemeClr>
              </a:solidFill>
              <a:prstDash val="sysDash"/>
              <a:round/>
              <a:headEnd type="none" w="sm" len="sm"/>
              <a:tailEnd type="none" w="sm" len="sm"/>
            </a:ln>
            <a:effectLst/>
          </p:spPr>
          <p:txBody>
            <a:bodyPr wrap="none" anchor="ctr"/>
            <a:lstStyle/>
            <a:p>
              <a:endParaRPr lang="en-US" sz="1688"/>
            </a:p>
          </p:txBody>
        </p:sp>
        <p:sp>
          <p:nvSpPr>
            <p:cNvPr id="42" name="Rectangle 10"/>
            <p:cNvSpPr>
              <a:spLocks noChangeArrowheads="1"/>
            </p:cNvSpPr>
            <p:nvPr/>
          </p:nvSpPr>
          <p:spPr bwMode="auto">
            <a:xfrm flipH="1">
              <a:off x="6424539" y="1375022"/>
              <a:ext cx="1870857" cy="7925826"/>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lIns="17859" tIns="25301" rIns="17859" bIns="25301"/>
            <a:lstStyle/>
            <a:p>
              <a:pPr algn="ctr">
                <a:tabLst>
                  <a:tab pos="451085" algn="l"/>
                  <a:tab pos="902170" algn="l"/>
                  <a:tab pos="1353255" algn="l"/>
                </a:tabLst>
              </a:pPr>
              <a:r>
                <a:rPr lang="en-US" sz="1688" dirty="0" err="1">
                  <a:solidFill>
                    <a:schemeClr val="tx2">
                      <a:lumMod val="75000"/>
                    </a:schemeClr>
                  </a:solidFill>
                  <a:latin typeface="Times New Roman" pitchFamily="18" charset="0"/>
                  <a:cs typeface="Times New Roman" pitchFamily="18" charset="0"/>
                </a:rPr>
                <a:t>MC</a:t>
              </a:r>
              <a:r>
                <a:rPr lang="en-US" sz="1688" baseline="-25000" dirty="0" err="1">
                  <a:solidFill>
                    <a:schemeClr val="tx2">
                      <a:lumMod val="75000"/>
                    </a:schemeClr>
                  </a:solidFill>
                  <a:latin typeface="Times New Roman" pitchFamily="18" charset="0"/>
                  <a:cs typeface="Times New Roman" pitchFamily="18" charset="0"/>
                </a:rPr>
                <a:t>I</a:t>
              </a:r>
              <a:r>
                <a:rPr lang="en-US" sz="1688" dirty="0" err="1">
                  <a:solidFill>
                    <a:schemeClr val="tx2">
                      <a:lumMod val="75000"/>
                    </a:schemeClr>
                  </a:solidFill>
                  <a:latin typeface="Times New Roman" pitchFamily="18" charset="0"/>
                  <a:cs typeface="Times New Roman" pitchFamily="18" charset="0"/>
                </a:rPr>
                <a:t>+Tax</a:t>
              </a:r>
              <a:r>
                <a:rPr lang="en-US" sz="1688" dirty="0">
                  <a:solidFill>
                    <a:schemeClr val="tx2">
                      <a:lumMod val="75000"/>
                    </a:schemeClr>
                  </a:solidFill>
                  <a:latin typeface="Times New Roman" pitchFamily="18" charset="0"/>
                  <a:cs typeface="Times New Roman" pitchFamily="18" charset="0"/>
                </a:rPr>
                <a:t> = SMC</a:t>
              </a:r>
              <a:r>
                <a:rPr lang="en-US" sz="1500" dirty="0">
                  <a:solidFill>
                    <a:schemeClr val="tx2">
                      <a:lumMod val="75000"/>
                    </a:schemeClr>
                  </a:solidFill>
                  <a:latin typeface="Times New Roman" pitchFamily="18" charset="0"/>
                  <a:cs typeface="Times New Roman" pitchFamily="18" charset="0"/>
                </a:rPr>
                <a:t> </a:t>
              </a:r>
            </a:p>
            <a:p>
              <a:pPr algn="ctr">
                <a:tabLst>
                  <a:tab pos="451085" algn="l"/>
                  <a:tab pos="902170" algn="l"/>
                  <a:tab pos="1353255" algn="l"/>
                </a:tabLst>
              </a:pPr>
              <a:r>
                <a:rPr lang="en-US" sz="1500" dirty="0">
                  <a:solidFill>
                    <a:schemeClr val="tx2">
                      <a:lumMod val="75000"/>
                    </a:schemeClr>
                  </a:solidFill>
                  <a:latin typeface="Times New Roman" pitchFamily="18" charset="0"/>
                  <a:cs typeface="Times New Roman" pitchFamily="18" charset="0"/>
                </a:rPr>
                <a:t>(social marginal cost)</a:t>
              </a:r>
            </a:p>
          </p:txBody>
        </p:sp>
      </p:grpSp>
      <p:grpSp>
        <p:nvGrpSpPr>
          <p:cNvPr id="3" name="Group 2"/>
          <p:cNvGrpSpPr/>
          <p:nvPr/>
        </p:nvGrpSpPr>
        <p:grpSpPr>
          <a:xfrm>
            <a:off x="1285689" y="4479270"/>
            <a:ext cx="6679886" cy="661499"/>
            <a:chOff x="1787820" y="5450268"/>
            <a:chExt cx="7125212" cy="705599"/>
          </a:xfrm>
        </p:grpSpPr>
        <p:sp>
          <p:nvSpPr>
            <p:cNvPr id="14" name="Line 8"/>
            <p:cNvSpPr>
              <a:spLocks noChangeShapeType="1"/>
            </p:cNvSpPr>
            <p:nvPr/>
          </p:nvSpPr>
          <p:spPr bwMode="auto">
            <a:xfrm flipV="1">
              <a:off x="1787820" y="5594424"/>
              <a:ext cx="4931140" cy="31727"/>
            </a:xfrm>
            <a:prstGeom prst="line">
              <a:avLst/>
            </a:prstGeom>
            <a:noFill/>
            <a:ln w="50800">
              <a:solidFill>
                <a:schemeClr val="accent1">
                  <a:lumMod val="50000"/>
                  <a:lumOff val="50000"/>
                </a:schemeClr>
              </a:solidFill>
              <a:round/>
              <a:headEnd type="none" w="sm" len="sm"/>
              <a:tailEnd type="none" w="sm" len="sm"/>
            </a:ln>
            <a:effectLst/>
          </p:spPr>
          <p:txBody>
            <a:bodyPr wrap="none" anchor="ctr"/>
            <a:lstStyle/>
            <a:p>
              <a:endParaRPr lang="en-US" sz="1688"/>
            </a:p>
          </p:txBody>
        </p:sp>
        <p:sp>
          <p:nvSpPr>
            <p:cNvPr id="43" name="Rectangle 10"/>
            <p:cNvSpPr>
              <a:spLocks noChangeArrowheads="1"/>
            </p:cNvSpPr>
            <p:nvPr/>
          </p:nvSpPr>
          <p:spPr bwMode="auto">
            <a:xfrm flipH="1">
              <a:off x="6397806" y="5450268"/>
              <a:ext cx="2515226" cy="705599"/>
            </a:xfrm>
            <a:prstGeom prst="rect">
              <a:avLst/>
            </a:prstGeom>
            <a:noFill/>
            <a:ln w="9525">
              <a:noFill/>
              <a:miter lim="800000"/>
              <a:headEnd/>
              <a:tailEnd/>
            </a:ln>
            <a:effectLst/>
          </p:spPr>
          <p:txBody>
            <a:bodyPr wrap="none" lIns="17859" tIns="25301" rIns="17859" bIns="25301"/>
            <a:lstStyle/>
            <a:p>
              <a:pPr algn="ctr">
                <a:tabLst>
                  <a:tab pos="451085" algn="l"/>
                  <a:tab pos="902170" algn="l"/>
                  <a:tab pos="1353255" algn="l"/>
                </a:tabLst>
              </a:pPr>
              <a:r>
                <a:rPr lang="en-US" sz="1688" dirty="0">
                  <a:solidFill>
                    <a:schemeClr val="accent1">
                      <a:lumMod val="50000"/>
                      <a:lumOff val="50000"/>
                    </a:schemeClr>
                  </a:solidFill>
                  <a:effectLst>
                    <a:outerShdw blurRad="38100" dist="38100" dir="2700000" algn="tl">
                      <a:srgbClr val="000000"/>
                    </a:outerShdw>
                  </a:effectLst>
                  <a:latin typeface="Times New Roman" pitchFamily="18" charset="0"/>
                  <a:cs typeface="Times New Roman" pitchFamily="18" charset="0"/>
                </a:rPr>
                <a:t>Pilots’/ executives’ </a:t>
              </a:r>
            </a:p>
            <a:p>
              <a:pPr algn="ctr">
                <a:tabLst>
                  <a:tab pos="451085" algn="l"/>
                  <a:tab pos="902170" algn="l"/>
                  <a:tab pos="1353255" algn="l"/>
                </a:tabLst>
              </a:pPr>
              <a:r>
                <a:rPr lang="en-US" sz="1688" dirty="0">
                  <a:solidFill>
                    <a:schemeClr val="accent1">
                      <a:lumMod val="50000"/>
                      <a:lumOff val="50000"/>
                    </a:schemeClr>
                  </a:solidFill>
                  <a:effectLst>
                    <a:outerShdw blurRad="38100" dist="38100" dir="2700000" algn="tl">
                      <a:srgbClr val="000000"/>
                    </a:outerShdw>
                  </a:effectLst>
                  <a:latin typeface="Times New Roman" pitchFamily="18" charset="0"/>
                  <a:cs typeface="Times New Roman" pitchFamily="18" charset="0"/>
                </a:rPr>
                <a:t>(internal) MC</a:t>
              </a:r>
              <a:r>
                <a:rPr lang="en-US" sz="1688" baseline="-25000" dirty="0">
                  <a:solidFill>
                    <a:schemeClr val="accent1">
                      <a:lumMod val="50000"/>
                      <a:lumOff val="50000"/>
                    </a:schemeClr>
                  </a:solidFill>
                  <a:effectLst>
                    <a:outerShdw blurRad="38100" dist="38100" dir="2700000" algn="tl">
                      <a:srgbClr val="000000"/>
                    </a:outerShdw>
                  </a:effectLst>
                  <a:latin typeface="Times New Roman" pitchFamily="18" charset="0"/>
                  <a:cs typeface="Times New Roman" pitchFamily="18" charset="0"/>
                </a:rPr>
                <a:t>I</a:t>
              </a:r>
              <a:r>
                <a:rPr lang="en-US" sz="1688" dirty="0">
                  <a:solidFill>
                    <a:schemeClr val="accent1">
                      <a:lumMod val="50000"/>
                      <a:lumOff val="50000"/>
                    </a:schemeClr>
                  </a:solidFill>
                  <a:effectLst>
                    <a:outerShdw blurRad="38100" dist="38100" dir="2700000" algn="tl">
                      <a:srgbClr val="000000"/>
                    </a:outerShdw>
                  </a:effectLst>
                  <a:latin typeface="Times New Roman" pitchFamily="18" charset="0"/>
                  <a:cs typeface="Times New Roman" pitchFamily="18" charset="0"/>
                </a:rPr>
                <a:t> of flying</a:t>
              </a:r>
            </a:p>
          </p:txBody>
        </p:sp>
      </p:grpSp>
      <p:grpSp>
        <p:nvGrpSpPr>
          <p:cNvPr id="46" name="Group 45"/>
          <p:cNvGrpSpPr/>
          <p:nvPr/>
        </p:nvGrpSpPr>
        <p:grpSpPr>
          <a:xfrm>
            <a:off x="4820725" y="2492230"/>
            <a:ext cx="1209848" cy="2098188"/>
            <a:chOff x="4467170" y="470936"/>
            <a:chExt cx="1290505" cy="2238067"/>
          </a:xfrm>
        </p:grpSpPr>
        <p:sp>
          <p:nvSpPr>
            <p:cNvPr id="41" name="Line 20"/>
            <p:cNvSpPr>
              <a:spLocks noChangeShapeType="1"/>
            </p:cNvSpPr>
            <p:nvPr/>
          </p:nvSpPr>
          <p:spPr bwMode="auto">
            <a:xfrm>
              <a:off x="4467170" y="470936"/>
              <a:ext cx="45636" cy="2238067"/>
            </a:xfrm>
            <a:prstGeom prst="line">
              <a:avLst/>
            </a:prstGeom>
            <a:noFill/>
            <a:ln w="38100">
              <a:solidFill>
                <a:schemeClr val="accent2">
                  <a:lumMod val="40000"/>
                  <a:lumOff val="60000"/>
                </a:schemeClr>
              </a:solidFill>
              <a:round/>
              <a:headEnd type="arrow" w="med" len="med"/>
              <a:tailEnd type="none" w="med" len="med"/>
            </a:ln>
            <a:effectLst/>
          </p:spPr>
          <p:txBody>
            <a:bodyPr wrap="none" lIns="90217" tIns="45109" rIns="90217" bIns="45109" anchor="ctr"/>
            <a:lstStyle/>
            <a:p>
              <a:endParaRPr lang="en-US" sz="1688"/>
            </a:p>
          </p:txBody>
        </p:sp>
        <p:sp>
          <p:nvSpPr>
            <p:cNvPr id="47" name="Rectangle 10"/>
            <p:cNvSpPr>
              <a:spLocks noChangeArrowheads="1"/>
            </p:cNvSpPr>
            <p:nvPr/>
          </p:nvSpPr>
          <p:spPr bwMode="auto">
            <a:xfrm flipH="1">
              <a:off x="4895898" y="1386994"/>
              <a:ext cx="861777" cy="451788"/>
            </a:xfrm>
            <a:prstGeom prst="rect">
              <a:avLst/>
            </a:prstGeom>
            <a:noFill/>
            <a:ln w="9525">
              <a:noFill/>
              <a:miter lim="800000"/>
              <a:headEnd/>
              <a:tailEnd/>
            </a:ln>
            <a:effectLst/>
          </p:spPr>
          <p:txBody>
            <a:bodyPr wrap="none" lIns="17859" tIns="25301" rIns="17859" bIns="25301"/>
            <a:lstStyle/>
            <a:p>
              <a:pPr algn="ctr">
                <a:tabLst>
                  <a:tab pos="451085" algn="l"/>
                  <a:tab pos="902170" algn="l"/>
                  <a:tab pos="1353255" algn="l"/>
                </a:tabLst>
              </a:pPr>
              <a:r>
                <a:rPr lang="en-US" sz="1688" dirty="0">
                  <a:solidFill>
                    <a:schemeClr val="accent2">
                      <a:lumMod val="40000"/>
                      <a:lumOff val="60000"/>
                    </a:schemeClr>
                  </a:solidFill>
                  <a:effectLst>
                    <a:outerShdw blurRad="38100" dist="38100" dir="2700000" algn="tl">
                      <a:srgbClr val="000000"/>
                    </a:outerShdw>
                  </a:effectLst>
                  <a:latin typeface="Times New Roman" pitchFamily="18" charset="0"/>
                  <a:cs typeface="Times New Roman" pitchFamily="18" charset="0"/>
                </a:rPr>
                <a:t>Noise Tax=EMC</a:t>
              </a:r>
            </a:p>
          </p:txBody>
        </p:sp>
      </p:grpSp>
      <p:sp>
        <p:nvSpPr>
          <p:cNvPr id="30" name="Rectangle 18"/>
          <p:cNvSpPr>
            <a:spLocks noChangeArrowheads="1"/>
          </p:cNvSpPr>
          <p:nvPr/>
        </p:nvSpPr>
        <p:spPr bwMode="auto">
          <a:xfrm>
            <a:off x="990326" y="6041001"/>
            <a:ext cx="626302" cy="589262"/>
          </a:xfrm>
          <a:prstGeom prst="rect">
            <a:avLst/>
          </a:prstGeom>
          <a:noFill/>
          <a:ln w="9525">
            <a:noFill/>
            <a:miter lim="800000"/>
            <a:headEnd/>
            <a:tailEnd/>
          </a:ln>
          <a:effectLst/>
        </p:spPr>
        <p:txBody>
          <a:bodyPr wrap="none" lIns="17859" tIns="25301" rIns="17859" bIns="25301"/>
          <a:lstStyle/>
          <a:p>
            <a:pPr algn="ctr">
              <a:lnSpc>
                <a:spcPts val="2763"/>
              </a:lnSpc>
              <a:spcAft>
                <a:spcPts val="888"/>
              </a:spcAft>
              <a:tabLst>
                <a:tab pos="451085" algn="l"/>
                <a:tab pos="902170" algn="l"/>
                <a:tab pos="1353255" algn="l"/>
              </a:tabLst>
            </a:pPr>
            <a:r>
              <a:rPr lang="en-US" sz="1688" dirty="0">
                <a:solidFill>
                  <a:schemeClr val="tx2">
                    <a:lumMod val="75000"/>
                  </a:schemeClr>
                </a:solidFill>
                <a:latin typeface="Times New Roman" pitchFamily="18" charset="0"/>
                <a:cs typeface="Times New Roman" pitchFamily="18" charset="0"/>
              </a:rPr>
              <a:t>Q</a:t>
            </a:r>
            <a:r>
              <a:rPr lang="en-US" sz="1688" baseline="30000" dirty="0">
                <a:solidFill>
                  <a:schemeClr val="tx2">
                    <a:lumMod val="75000"/>
                  </a:schemeClr>
                </a:solidFill>
                <a:latin typeface="Times New Roman" pitchFamily="18" charset="0"/>
                <a:cs typeface="Times New Roman" pitchFamily="18" charset="0"/>
              </a:rPr>
              <a:t>*</a:t>
            </a:r>
          </a:p>
        </p:txBody>
      </p:sp>
      <p:grpSp>
        <p:nvGrpSpPr>
          <p:cNvPr id="8" name="Group 7"/>
          <p:cNvGrpSpPr/>
          <p:nvPr/>
        </p:nvGrpSpPr>
        <p:grpSpPr>
          <a:xfrm>
            <a:off x="905307" y="1746933"/>
            <a:ext cx="2872748" cy="1035368"/>
            <a:chOff x="-67682" y="2230272"/>
            <a:chExt cx="3064264" cy="1104392"/>
          </a:xfrm>
        </p:grpSpPr>
        <p:sp>
          <p:nvSpPr>
            <p:cNvPr id="5" name="Oval 4"/>
            <p:cNvSpPr/>
            <p:nvPr/>
          </p:nvSpPr>
          <p:spPr bwMode="auto">
            <a:xfrm>
              <a:off x="-67682" y="2753587"/>
              <a:ext cx="902795" cy="581077"/>
            </a:xfrm>
            <a:prstGeom prst="ellipse">
              <a:avLst/>
            </a:prstGeom>
            <a:noFill/>
            <a:ln w="25400" cap="flat" cmpd="sng" algn="ctr">
              <a:solidFill>
                <a:schemeClr val="accent2"/>
              </a:solidFill>
              <a:prstDash val="solid"/>
              <a:round/>
              <a:headEnd type="none" w="med" len="med"/>
              <a:tailEnd type="none" w="med" len="med"/>
            </a:ln>
            <a:effectLst/>
          </p:spPr>
          <p:txBody>
            <a:bodyPr vert="horz" wrap="none" lIns="85725" tIns="42863" rIns="85725" bIns="42863" numCol="1" rtlCol="0" anchor="t" anchorCtr="0" compatLnSpc="1">
              <a:prstTxWarp prst="textNoShape">
                <a:avLst/>
              </a:prstTxWarp>
            </a:bodyPr>
            <a:lstStyle/>
            <a:p>
              <a:pPr defTabSz="857250" eaLnBrk="0" fontAlgn="base" hangingPunct="0">
                <a:spcBef>
                  <a:spcPct val="0"/>
                </a:spcBef>
                <a:spcAft>
                  <a:spcPct val="0"/>
                </a:spcAft>
              </a:pPr>
              <a:endParaRPr lang="en-US" sz="2250" b="1">
                <a:latin typeface="Tahoma" pitchFamily="124" charset="0"/>
              </a:endParaRPr>
            </a:p>
          </p:txBody>
        </p:sp>
        <p:sp>
          <p:nvSpPr>
            <p:cNvPr id="37" name="Rectangle 10"/>
            <p:cNvSpPr>
              <a:spLocks noChangeArrowheads="1"/>
            </p:cNvSpPr>
            <p:nvPr/>
          </p:nvSpPr>
          <p:spPr bwMode="auto">
            <a:xfrm>
              <a:off x="804797" y="2230272"/>
              <a:ext cx="2191785" cy="640713"/>
            </a:xfrm>
            <a:prstGeom prst="rect">
              <a:avLst/>
            </a:prstGeom>
            <a:noFill/>
            <a:ln w="9525">
              <a:noFill/>
              <a:prstDash val="sysDash"/>
              <a:miter lim="800000"/>
              <a:headEnd/>
              <a:tailEnd/>
            </a:ln>
            <a:effectLst/>
          </p:spPr>
          <p:txBody>
            <a:bodyPr wrap="none" lIns="17859" tIns="25301" rIns="17859" bIns="25301"/>
            <a:lstStyle/>
            <a:p>
              <a:pPr algn="ctr">
                <a:tabLst>
                  <a:tab pos="451085" algn="l"/>
                  <a:tab pos="902170" algn="l"/>
                  <a:tab pos="1353255" algn="l"/>
                </a:tabLst>
              </a:pPr>
              <a:r>
                <a:rPr lang="en-US" sz="1688" dirty="0">
                  <a:solidFill>
                    <a:srgbClr val="FF0000"/>
                  </a:solidFill>
                  <a:effectLst>
                    <a:outerShdw blurRad="38100" dist="38100" dir="2700000" algn="tl">
                      <a:srgbClr val="000000"/>
                    </a:outerShdw>
                  </a:effectLst>
                  <a:latin typeface="Times New Roman" pitchFamily="18" charset="0"/>
                  <a:cs typeface="Times New Roman" pitchFamily="18" charset="0"/>
                </a:rPr>
                <a:t>“Corner solution” with Q*=0 </a:t>
              </a:r>
            </a:p>
            <a:p>
              <a:pPr algn="ctr">
                <a:tabLst>
                  <a:tab pos="451085" algn="l"/>
                  <a:tab pos="902170" algn="l"/>
                  <a:tab pos="1353255" algn="l"/>
                </a:tabLst>
              </a:pPr>
              <a:r>
                <a:rPr lang="en-US" sz="1688" dirty="0">
                  <a:solidFill>
                    <a:srgbClr val="FF0000"/>
                  </a:solidFill>
                  <a:effectLst>
                    <a:outerShdw blurRad="38100" dist="38100" dir="2700000" algn="tl">
                      <a:srgbClr val="000000"/>
                    </a:outerShdw>
                  </a:effectLst>
                  <a:latin typeface="Times New Roman" pitchFamily="18" charset="0"/>
                  <a:cs typeface="Times New Roman" pitchFamily="18" charset="0"/>
                  <a:sym typeface="Wingdings" panose="05000000000000000000" pitchFamily="2" charset="2"/>
                </a:rPr>
                <a:t> shut down the airport</a:t>
              </a:r>
              <a:endParaRPr lang="en-US" sz="1688" dirty="0">
                <a:solidFill>
                  <a:srgbClr val="FF0000"/>
                </a:solidFill>
                <a:effectLst>
                  <a:outerShdw blurRad="38100" dist="38100" dir="2700000" algn="tl">
                    <a:srgbClr val="000000"/>
                  </a:outerShdw>
                </a:effectLst>
                <a:latin typeface="Times New Roman" pitchFamily="18" charset="0"/>
                <a:cs typeface="Times New Roman" pitchFamily="18" charset="0"/>
              </a:endParaRPr>
            </a:p>
          </p:txBody>
        </p:sp>
        <p:sp>
          <p:nvSpPr>
            <p:cNvPr id="38" name="Line 20"/>
            <p:cNvSpPr>
              <a:spLocks noChangeShapeType="1"/>
            </p:cNvSpPr>
            <p:nvPr/>
          </p:nvSpPr>
          <p:spPr bwMode="auto">
            <a:xfrm flipV="1">
              <a:off x="522498" y="2575838"/>
              <a:ext cx="188090" cy="203380"/>
            </a:xfrm>
            <a:prstGeom prst="line">
              <a:avLst/>
            </a:prstGeom>
            <a:noFill/>
            <a:ln w="22225">
              <a:solidFill>
                <a:schemeClr val="accent2"/>
              </a:solidFill>
              <a:round/>
              <a:headEnd type="arrow" w="med" len="med"/>
              <a:tailEnd type="none" w="med" len="med"/>
            </a:ln>
            <a:effectLst/>
          </p:spPr>
          <p:txBody>
            <a:bodyPr wrap="none" lIns="90217" tIns="45109" rIns="90217" bIns="45109" anchor="ctr"/>
            <a:lstStyle/>
            <a:p>
              <a:endParaRPr lang="en-US" sz="1688" dirty="0"/>
            </a:p>
          </p:txBody>
        </p:sp>
      </p:grpSp>
    </p:spTree>
    <p:custDataLst>
      <p:tags r:id="rId1"/>
    </p:custDataLst>
    <p:extLst>
      <p:ext uri="{BB962C8B-B14F-4D97-AF65-F5344CB8AC3E}">
        <p14:creationId xmlns:p14="http://schemas.microsoft.com/office/powerpoint/2010/main" val="39570831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30"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000" dirty="0"/>
              <a:t>Module 4 summary</a:t>
            </a:r>
          </a:p>
        </p:txBody>
      </p:sp>
      <p:sp>
        <p:nvSpPr>
          <p:cNvPr id="3" name="Content Placeholder 2"/>
          <p:cNvSpPr>
            <a:spLocks noGrp="1"/>
          </p:cNvSpPr>
          <p:nvPr>
            <p:ph type="body" idx="1"/>
          </p:nvPr>
        </p:nvSpPr>
        <p:spPr>
          <a:xfrm>
            <a:off x="387900" y="1282045"/>
            <a:ext cx="8520600" cy="4809788"/>
          </a:xfrm>
        </p:spPr>
        <p:txBody>
          <a:bodyPr>
            <a:noAutofit/>
          </a:bodyPr>
          <a:lstStyle/>
          <a:p>
            <a:pPr>
              <a:spcBef>
                <a:spcPts val="0"/>
              </a:spcBef>
            </a:pPr>
            <a:endParaRPr lang="en-US" sz="1400" dirty="0"/>
          </a:p>
          <a:p>
            <a:pPr>
              <a:spcBef>
                <a:spcPts val="0"/>
              </a:spcBef>
            </a:pPr>
            <a:r>
              <a:rPr lang="en-US" sz="2000" dirty="0"/>
              <a:t>Perfect competition: price taker, MR=P</a:t>
            </a:r>
          </a:p>
          <a:p>
            <a:pPr>
              <a:spcBef>
                <a:spcPts val="0"/>
              </a:spcBef>
            </a:pPr>
            <a:r>
              <a:rPr lang="en-US" sz="2000" dirty="0"/>
              <a:t>Profit maximization: MC=MR=P </a:t>
            </a:r>
            <a:r>
              <a:rPr lang="en-US" sz="2400" dirty="0">
                <a:sym typeface="Wingdings" panose="05000000000000000000" pitchFamily="2" charset="2"/>
              </a:rPr>
              <a:t> Q*</a:t>
            </a:r>
          </a:p>
          <a:p>
            <a:pPr>
              <a:spcBef>
                <a:spcPts val="0"/>
              </a:spcBef>
            </a:pPr>
            <a:endParaRPr lang="en-US" sz="800" dirty="0">
              <a:sym typeface="Wingdings" panose="05000000000000000000" pitchFamily="2" charset="2"/>
            </a:endParaRPr>
          </a:p>
          <a:p>
            <a:pPr>
              <a:spcBef>
                <a:spcPts val="0"/>
              </a:spcBef>
            </a:pPr>
            <a:r>
              <a:rPr lang="en-US" sz="2000" dirty="0"/>
              <a:t>Decision to operate in the short run</a:t>
            </a:r>
          </a:p>
          <a:p>
            <a:pPr lvl="1">
              <a:spcBef>
                <a:spcPts val="0"/>
              </a:spcBef>
            </a:pPr>
            <a:r>
              <a:rPr lang="en-US" sz="2000" dirty="0"/>
              <a:t>Operate if P ≥ AVC</a:t>
            </a:r>
          </a:p>
          <a:p>
            <a:pPr lvl="1">
              <a:spcBef>
                <a:spcPts val="0"/>
              </a:spcBef>
            </a:pPr>
            <a:r>
              <a:rPr lang="fr-FR" sz="2000" dirty="0" err="1"/>
              <a:t>Shut</a:t>
            </a:r>
            <a:r>
              <a:rPr lang="fr-FR" sz="2000" dirty="0"/>
              <a:t> Down if P &lt; AVC</a:t>
            </a:r>
            <a:endParaRPr lang="en-US" sz="2000" dirty="0"/>
          </a:p>
          <a:p>
            <a:pPr marL="0" indent="0">
              <a:buNone/>
            </a:pPr>
            <a:endParaRPr lang="en-US" sz="400" dirty="0"/>
          </a:p>
          <a:p>
            <a:pPr marL="288925" indent="-288925"/>
            <a:r>
              <a:rPr lang="en-US" sz="2000" dirty="0"/>
              <a:t>Decision to operate in the long run</a:t>
            </a:r>
          </a:p>
          <a:p>
            <a:pPr marL="688975" lvl="1" indent="-288925"/>
            <a:r>
              <a:rPr lang="fr-FR" sz="2000" dirty="0" err="1"/>
              <a:t>Operate</a:t>
            </a:r>
            <a:r>
              <a:rPr lang="fr-FR" sz="2000" dirty="0"/>
              <a:t> if P </a:t>
            </a:r>
            <a:r>
              <a:rPr lang="en-US" sz="2000" dirty="0"/>
              <a:t>≥ LAC </a:t>
            </a:r>
          </a:p>
          <a:p>
            <a:pPr marL="688975" lvl="1" indent="-288925"/>
            <a:r>
              <a:rPr lang="fr-FR" sz="2000" dirty="0"/>
              <a:t>Exit/do not enter if P &lt; LAC</a:t>
            </a:r>
          </a:p>
          <a:p>
            <a:pPr marL="688975" lvl="1" indent="-288925"/>
            <a:r>
              <a:rPr lang="fr-FR" sz="2000" dirty="0"/>
              <a:t>Long run </a:t>
            </a:r>
            <a:r>
              <a:rPr lang="fr-FR" sz="2000" dirty="0" err="1"/>
              <a:t>competitive</a:t>
            </a:r>
            <a:r>
              <a:rPr lang="fr-FR" sz="2000" dirty="0"/>
              <a:t> </a:t>
            </a:r>
            <a:r>
              <a:rPr lang="fr-FR" sz="2000" dirty="0" err="1"/>
              <a:t>equilibrium</a:t>
            </a:r>
            <a:r>
              <a:rPr lang="fr-FR" sz="2000" dirty="0"/>
              <a:t>: P = LMC = LAC</a:t>
            </a:r>
          </a:p>
          <a:p>
            <a:pPr marL="688975" lvl="1" indent="-288925"/>
            <a:endParaRPr lang="fr-FR" sz="700" dirty="0"/>
          </a:p>
          <a:p>
            <a:pPr marL="288925" indent="-288925"/>
            <a:r>
              <a:rPr lang="fr-FR" sz="2000" dirty="0" err="1"/>
              <a:t>Market</a:t>
            </a:r>
            <a:r>
              <a:rPr lang="fr-FR" sz="2000" dirty="0"/>
              <a:t> distorsions: </a:t>
            </a:r>
            <a:r>
              <a:rPr lang="fr-FR" sz="2000" dirty="0" err="1"/>
              <a:t>price</a:t>
            </a:r>
            <a:r>
              <a:rPr lang="fr-FR" sz="2000" dirty="0"/>
              <a:t> </a:t>
            </a:r>
            <a:r>
              <a:rPr lang="fr-FR" sz="2000" dirty="0" err="1"/>
              <a:t>controls</a:t>
            </a:r>
            <a:r>
              <a:rPr lang="fr-FR" sz="2000" dirty="0"/>
              <a:t>, taxes</a:t>
            </a:r>
          </a:p>
          <a:p>
            <a:pPr marL="688975" lvl="1" indent="-288925"/>
            <a:r>
              <a:rPr lang="fr-FR" sz="2000" dirty="0"/>
              <a:t>Winners, Losers, </a:t>
            </a:r>
            <a:r>
              <a:rPr lang="fr-FR" sz="2000" dirty="0" err="1"/>
              <a:t>Deadweight</a:t>
            </a:r>
            <a:r>
              <a:rPr lang="fr-FR" sz="2000" dirty="0"/>
              <a:t> </a:t>
            </a:r>
            <a:r>
              <a:rPr lang="fr-FR" sz="2000" dirty="0" err="1"/>
              <a:t>loss</a:t>
            </a:r>
            <a:r>
              <a:rPr lang="fr-FR" sz="2000" dirty="0"/>
              <a:t> </a:t>
            </a:r>
          </a:p>
          <a:p>
            <a:pPr marL="688975" lvl="1" indent="-288925"/>
            <a:endParaRPr lang="fr-FR" sz="800" dirty="0"/>
          </a:p>
          <a:p>
            <a:pPr marL="288925" indent="-288925"/>
            <a:r>
              <a:rPr lang="fr-FR" sz="2000" dirty="0" err="1"/>
              <a:t>Externalities</a:t>
            </a:r>
            <a:r>
              <a:rPr lang="fr-FR" sz="2000" dirty="0"/>
              <a:t> and how to correct </a:t>
            </a:r>
            <a:r>
              <a:rPr lang="fr-FR" sz="2000" dirty="0" err="1"/>
              <a:t>them</a:t>
            </a:r>
            <a:endParaRPr lang="fr-FR" sz="2000" dirty="0"/>
          </a:p>
          <a:p>
            <a:pPr marL="688975" lvl="1" indent="-288925"/>
            <a:r>
              <a:rPr lang="en-US" sz="2000" dirty="0"/>
              <a:t>Pigou tax</a:t>
            </a:r>
          </a:p>
        </p:txBody>
      </p:sp>
      <p:sp>
        <p:nvSpPr>
          <p:cNvPr id="4" name="Slide Number Placeholder 3"/>
          <p:cNvSpPr>
            <a:spLocks noGrp="1"/>
          </p:cNvSpPr>
          <p:nvPr>
            <p:ph type="sldNum" sz="quarter" idx="12"/>
          </p:nvPr>
        </p:nvSpPr>
        <p:spPr/>
        <p:txBody>
          <a:bodyPr/>
          <a:lstStyle/>
          <a:p>
            <a:fld id="{C1F4DDD2-D94C-1147-A389-2CD6A7EEF184}" type="slidenum">
              <a:rPr lang="en-US" smtClean="0"/>
              <a:t>77</a:t>
            </a:fld>
            <a:endParaRPr lang="en-US"/>
          </a:p>
        </p:txBody>
      </p:sp>
    </p:spTree>
    <p:extLst>
      <p:ext uri="{BB962C8B-B14F-4D97-AF65-F5344CB8AC3E}">
        <p14:creationId xmlns:p14="http://schemas.microsoft.com/office/powerpoint/2010/main" val="3059587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6" end="16"/>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ags/tag1.xml><?xml version="1.0" encoding="utf-8"?>
<p:tagLst xmlns:a="http://schemas.openxmlformats.org/drawingml/2006/main" xmlns:r="http://schemas.openxmlformats.org/officeDocument/2006/relationships" xmlns:p="http://schemas.openxmlformats.org/presentationml/2006/main">
  <p:tag name="TPPRESENTATIONGUID" val="fb4bfb20-bb85-4e69-83ee-0653ca024c4d"/>
  <p:tag name="TPLASTSAVEVERSION" val="6.2 PC"/>
  <p:tag name="WASPOLLED" val="9395E21AB51D4B2FB317ED88EF6AF71F"/>
  <p:tag name="TPVERSION" val="5"/>
  <p:tag name="TPFULLVERSION" val="5.3.2.24"/>
  <p:tag name="PPTVERSION" val="16"/>
  <p:tag name="TPOS" val="2"/>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DELIMITERS" val="3.1"/>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6.xml><?xml version="1.0" encoding="utf-8"?>
<p:tagLst xmlns:a="http://schemas.openxmlformats.org/drawingml/2006/main" xmlns:r="http://schemas.openxmlformats.org/officeDocument/2006/relationships" xmlns:p="http://schemas.openxmlformats.org/presentationml/2006/main">
  <p:tag name="DELIMITERS" val="3.1"/>
</p:tagLst>
</file>

<file path=ppt/tags/tag7.xml><?xml version="1.0" encoding="utf-8"?>
<p:tagLst xmlns:a="http://schemas.openxmlformats.org/drawingml/2006/main" xmlns:r="http://schemas.openxmlformats.org/officeDocument/2006/relationships" xmlns:p="http://schemas.openxmlformats.org/presentationml/2006/main">
  <p:tag name="__PE_POLL_EMBED_ID" val="b363c6a6-df7f-4ab4-9628-e909e22aff9b"/>
</p:tagLst>
</file>

<file path=ppt/tags/tag8.xml><?xml version="1.0" encoding="utf-8"?>
<p:tagLst xmlns:a="http://schemas.openxmlformats.org/drawingml/2006/main" xmlns:r="http://schemas.openxmlformats.org/officeDocument/2006/relationships" xmlns:p="http://schemas.openxmlformats.org/presentationml/2006/main">
  <p:tag name="__PE_POLL_EMBED_ID" val="86ef4cb6-8bc1-45cf-bdf4-c4f4892f63ab"/>
</p:tagLst>
</file>

<file path=ppt/tags/tag9.xml><?xml version="1.0" encoding="utf-8"?>
<p:tagLst xmlns:a="http://schemas.openxmlformats.org/drawingml/2006/main" xmlns:r="http://schemas.openxmlformats.org/officeDocument/2006/relationships" xmlns:p="http://schemas.openxmlformats.org/presentationml/2006/main">
  <p:tag name="DELIMITERS" val="3.1"/>
</p:tagLst>
</file>

<file path=ppt/tags/tag10.xml><?xml version="1.0" encoding="utf-8"?>
<p:tagLst xmlns:a="http://schemas.openxmlformats.org/drawingml/2006/main" xmlns:r="http://schemas.openxmlformats.org/officeDocument/2006/relationships" xmlns:p="http://schemas.openxmlformats.org/presentationml/2006/main">
  <p:tag name="DELIMITERS" val="3.1"/>
</p:tagLst>
</file>

<file path=ppt/tags/tag11.xml><?xml version="1.0" encoding="utf-8"?>
<p:tagLst xmlns:a="http://schemas.openxmlformats.org/drawingml/2006/main" xmlns:r="http://schemas.openxmlformats.org/officeDocument/2006/relationships" xmlns:p="http://schemas.openxmlformats.org/presentationml/2006/main">
  <p:tag name="__PE_POLL_EMBED_ID" val="d03d25d9-485c-4488-b1fd-6b1952e17267"/>
</p:tagLst>
</file>

<file path=ppt/tags/tag1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6.xml><?xml version="1.0" encoding="utf-8"?>
<p:tagLst xmlns:a="http://schemas.openxmlformats.org/drawingml/2006/main" xmlns:r="http://schemas.openxmlformats.org/officeDocument/2006/relationships" xmlns:p="http://schemas.openxmlformats.org/presentationml/2006/main">
  <p:tag name="__PE_POLL_EMBED_ID" val="8955ed86-3b9e-4a9f-bc02-ee919d29885a"/>
</p:tagLst>
</file>

<file path=ppt/tags/tag1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9.xml><?xml version="1.0" encoding="utf-8"?>
<p:tagLst xmlns:a="http://schemas.openxmlformats.org/drawingml/2006/main" xmlns:r="http://schemas.openxmlformats.org/officeDocument/2006/relationships" xmlns:p="http://schemas.openxmlformats.org/presentationml/2006/main">
  <p:tag name="DELIMITERS" val="3.1"/>
</p:tagLst>
</file>

<file path=ppt/tags/tag20.xml><?xml version="1.0" encoding="utf-8"?>
<p:tagLst xmlns:a="http://schemas.openxmlformats.org/drawingml/2006/main" xmlns:r="http://schemas.openxmlformats.org/officeDocument/2006/relationships" xmlns:p="http://schemas.openxmlformats.org/presentationml/2006/main">
  <p:tag name="__PE_POLL_EMBED_ID" val="c16a7914-5847-4b8b-a847-ff00746eafe5"/>
</p:tagLst>
</file>

<file path=ppt/tags/tag2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3.xml><?xml version="1.0" encoding="utf-8"?>
<p:tagLst xmlns:a="http://schemas.openxmlformats.org/drawingml/2006/main" xmlns:r="http://schemas.openxmlformats.org/officeDocument/2006/relationships" xmlns:p="http://schemas.openxmlformats.org/presentationml/2006/main">
  <p:tag name="__PE_POLL_EMBED_ID" val="e62ac9f2-3235-46f3-a6d1-3afdb18ba4a9"/>
</p:tagLst>
</file>

<file path=ppt/tags/tag2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6.xml><?xml version="1.0" encoding="utf-8"?>
<p:tagLst xmlns:a="http://schemas.openxmlformats.org/drawingml/2006/main" xmlns:r="http://schemas.openxmlformats.org/officeDocument/2006/relationships" xmlns:p="http://schemas.openxmlformats.org/presentationml/2006/main">
  <p:tag name="DELIMITERS" val="3.1"/>
</p:tagLst>
</file>

<file path=ppt/tags/tag27.xml><?xml version="1.0" encoding="utf-8"?>
<p:tagLst xmlns:a="http://schemas.openxmlformats.org/drawingml/2006/main" xmlns:r="http://schemas.openxmlformats.org/officeDocument/2006/relationships" xmlns:p="http://schemas.openxmlformats.org/presentationml/2006/main">
  <p:tag name="DELIMITERS" val="3.1"/>
</p:tagLst>
</file>

<file path=ppt/tags/tag28.xml><?xml version="1.0" encoding="utf-8"?>
<p:tagLst xmlns:a="http://schemas.openxmlformats.org/drawingml/2006/main" xmlns:r="http://schemas.openxmlformats.org/officeDocument/2006/relationships" xmlns:p="http://schemas.openxmlformats.org/presentationml/2006/main">
  <p:tag name="DELIMITERS" val="3.1"/>
</p:tagLst>
</file>

<file path=ppt/tags/tag29.xml><?xml version="1.0" encoding="utf-8"?>
<p:tagLst xmlns:a="http://schemas.openxmlformats.org/drawingml/2006/main" xmlns:r="http://schemas.openxmlformats.org/officeDocument/2006/relationships" xmlns:p="http://schemas.openxmlformats.org/presentationml/2006/main">
  <p:tag name="DELIMITERS" val="3.1"/>
</p:tagLst>
</file>

<file path=ppt/tags/tag30.xml><?xml version="1.0" encoding="utf-8"?>
<p:tagLst xmlns:a="http://schemas.openxmlformats.org/drawingml/2006/main" xmlns:r="http://schemas.openxmlformats.org/officeDocument/2006/relationships" xmlns:p="http://schemas.openxmlformats.org/presentationml/2006/main">
  <p:tag name="DELIMITERS" val="3.1"/>
</p:tagLst>
</file>

<file path=ppt/theme/theme1.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3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5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79845</TotalTime>
  <Words>6401</Words>
  <Application>Microsoft Office PowerPoint</Application>
  <PresentationFormat>On-screen Show (4:3)</PresentationFormat>
  <Paragraphs>1035</Paragraphs>
  <Slides>77</Slides>
  <Notes>66</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77</vt:i4>
      </vt:variant>
    </vt:vector>
  </HeadingPairs>
  <TitlesOfParts>
    <vt:vector size="93" baseType="lpstr">
      <vt:lpstr>Arial</vt:lpstr>
      <vt:lpstr>Calibri</vt:lpstr>
      <vt:lpstr>Cambria Math</vt:lpstr>
      <vt:lpstr>Lucida Grande</vt:lpstr>
      <vt:lpstr>Tahoma</vt:lpstr>
      <vt:lpstr>Times New Roman</vt:lpstr>
      <vt:lpstr>Trebuchet MS</vt:lpstr>
      <vt:lpstr>Whitney Book</vt:lpstr>
      <vt:lpstr>Whitney Medium</vt:lpstr>
      <vt:lpstr>Whitney-Book</vt:lpstr>
      <vt:lpstr>Whitney-Medium</vt:lpstr>
      <vt:lpstr>Wingdings</vt:lpstr>
      <vt:lpstr>2_Custom Design</vt:lpstr>
      <vt:lpstr>Custom Design</vt:lpstr>
      <vt:lpstr>3_Custom Design</vt:lpstr>
      <vt:lpstr>5_Custom Design</vt:lpstr>
      <vt:lpstr>Competitive Markets and market interventions</vt:lpstr>
      <vt:lpstr>Some Logistics</vt:lpstr>
      <vt:lpstr>agenda for the class</vt:lpstr>
      <vt:lpstr>Outline of module 4</vt:lpstr>
      <vt:lpstr>Outline of module 4</vt:lpstr>
      <vt:lpstr>the four basic market structures</vt:lpstr>
      <vt:lpstr>Extent of market power:  price takers vs price searchers</vt:lpstr>
      <vt:lpstr>Perfect competition (Price takers)</vt:lpstr>
      <vt:lpstr>Outline of Module 4</vt:lpstr>
      <vt:lpstr>Perfect competition:  the market and the firm</vt:lpstr>
      <vt:lpstr>Perfect Competition and Farmer Protests </vt:lpstr>
      <vt:lpstr>Example: The Yi family</vt:lpstr>
      <vt:lpstr>cabBage production costs</vt:lpstr>
      <vt:lpstr>cabBage total Cost function</vt:lpstr>
      <vt:lpstr>Business Relevance</vt:lpstr>
      <vt:lpstr>Price taker profit maximization</vt:lpstr>
      <vt:lpstr>Price Taker Revenue Conditions</vt:lpstr>
      <vt:lpstr>Profit maximization of a price taker: visual representation</vt:lpstr>
      <vt:lpstr>maximizing profit: cabbage production</vt:lpstr>
      <vt:lpstr>PowerPoint Presentation</vt:lpstr>
      <vt:lpstr>Profit maximizing quantity: solution</vt:lpstr>
      <vt:lpstr>Profit at q*: solution</vt:lpstr>
      <vt:lpstr>Profits And Average Total Costs (ATC)</vt:lpstr>
      <vt:lpstr>Illustrating Positive Profits of the Yi Family</vt:lpstr>
      <vt:lpstr>Relationship to Accounting:  Ross Stores annual report</vt:lpstr>
      <vt:lpstr>Maximizing profits in the short run (general case)</vt:lpstr>
      <vt:lpstr>If profit is negative, should a firm Stop Producing?</vt:lpstr>
      <vt:lpstr>If profit is negative, should a firm shut down in the short run?</vt:lpstr>
      <vt:lpstr>Optimizing in the short run: new market price</vt:lpstr>
      <vt:lpstr>PowerPoint Presentation</vt:lpstr>
      <vt:lpstr>New q* and Profit: solution</vt:lpstr>
      <vt:lpstr>Decision to operate: Solution</vt:lpstr>
      <vt:lpstr>high price: Positive Profits in the Short run</vt:lpstr>
      <vt:lpstr>low price: Operating at a loss in the short run</vt:lpstr>
      <vt:lpstr>Very low price: shutting down in the short run</vt:lpstr>
      <vt:lpstr>Coffee bean producer </vt:lpstr>
      <vt:lpstr>PowerPoint Presentation</vt:lpstr>
      <vt:lpstr>Coffee bean producer: Solution</vt:lpstr>
      <vt:lpstr>Summary: short-run decisions for a price taker</vt:lpstr>
      <vt:lpstr>Outline of module 4</vt:lpstr>
      <vt:lpstr>Price Taker’s Short Run Supply Curve</vt:lpstr>
      <vt:lpstr>The Effect Of Changing Marginal Costs on a Price Taker’s Supply</vt:lpstr>
      <vt:lpstr>Firm and market dynamics when MC falls</vt:lpstr>
      <vt:lpstr>Outline of module 4</vt:lpstr>
      <vt:lpstr>Perfect Competition in the Long Run</vt:lpstr>
      <vt:lpstr>Long Run Competitive Equilibrium (assuming there are many identical producers) </vt:lpstr>
      <vt:lpstr>PowerPoint Presentation</vt:lpstr>
      <vt:lpstr>Summary: long-run decisions for a price taker</vt:lpstr>
      <vt:lpstr>Long run equilibrium: Drug market</vt:lpstr>
      <vt:lpstr>PowerPoint Presentation</vt:lpstr>
      <vt:lpstr>Arrest drug dealers</vt:lpstr>
      <vt:lpstr>Arrest / Punish drug users</vt:lpstr>
      <vt:lpstr>Outline of module 4</vt:lpstr>
      <vt:lpstr>Market distortions: Introduction</vt:lpstr>
      <vt:lpstr>Consumer surplus</vt:lpstr>
      <vt:lpstr>Producer surplus</vt:lpstr>
      <vt:lpstr>Deadweight loss</vt:lpstr>
      <vt:lpstr>sales tax (E.g., 10% tax on top of listed Price) </vt:lpstr>
      <vt:lpstr>Podcast on Minimum Wage</vt:lpstr>
      <vt:lpstr>Price floor: Minimum Wage</vt:lpstr>
      <vt:lpstr>Guess the Rent!</vt:lpstr>
      <vt:lpstr>PowerPoint Presentation</vt:lpstr>
      <vt:lpstr>the rent is…</vt:lpstr>
      <vt:lpstr>Price ceiling: Rent control</vt:lpstr>
      <vt:lpstr>Vote on Prop 33 in California (2024)</vt:lpstr>
      <vt:lpstr>PowerPoint Presentation</vt:lpstr>
      <vt:lpstr>How do Landlords React to Rent control?</vt:lpstr>
      <vt:lpstr>evidence on rent control</vt:lpstr>
      <vt:lpstr>evidence on rent control</vt:lpstr>
      <vt:lpstr>Evidence on rent controls: results</vt:lpstr>
      <vt:lpstr>Outline of module 4</vt:lpstr>
      <vt:lpstr>Externalities: Definitions  </vt:lpstr>
      <vt:lpstr>Externalities </vt:lpstr>
      <vt:lpstr>Carbon Tax to Correct for the Negative Externality </vt:lpstr>
      <vt:lpstr>Externality: Airplane Noise </vt:lpstr>
      <vt:lpstr>Pigouvian Tax to Correct for Noise? The case of Santa Monica Airport </vt:lpstr>
      <vt:lpstr>Module 4 summary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Pub Office 3</dc:creator>
  <cp:keywords/>
  <dc:description/>
  <cp:lastModifiedBy>Nico Voigtlaender</cp:lastModifiedBy>
  <cp:revision>1318</cp:revision>
  <cp:lastPrinted>2019-09-13T20:44:29Z</cp:lastPrinted>
  <dcterms:created xsi:type="dcterms:W3CDTF">2013-01-24T22:32:50Z</dcterms:created>
  <dcterms:modified xsi:type="dcterms:W3CDTF">2025-10-22T20:10:55Z</dcterms:modified>
  <cp:category/>
</cp:coreProperties>
</file>