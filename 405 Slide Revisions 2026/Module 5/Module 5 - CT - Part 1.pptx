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0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FD758-A237-4E59-94AC-65278390EA1F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1BD30-C383-4CB8-A385-807302350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3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What would you do if your water utility charged $1,000 per gallon? – check Melanie</a:t>
            </a:r>
          </a:p>
          <a:p>
            <a:r>
              <a:t>Former CEO of Microsoft, link: https://www.youtube.com/watch?v=Vhh_GeBPOhs&amp;list=RDVhh_GeBPOhs</a:t>
            </a:r>
          </a:p>
          <a:p>
            <a:endParaRPr/>
          </a:p>
          <a:p>
            <a:r>
              <a:t>In the extreme case of a monopoly, the firm’s demand curve is the market demand curve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Gracias Madre is a plant-based Mexican restaurant in west-Hollywood. </a:t>
            </a:r>
          </a:p>
          <a:p>
            <a:r>
              <a:t>https://www.graciasmadre.co/</a:t>
            </a:r>
          </a:p>
          <a:p>
            <a:endParaRPr/>
          </a:p>
          <a:p>
            <a:r>
              <a:t>To maximize profit, monopolist sets MC=MR — only difference with respect to perfect competition is that under perfect competition MR=P, but that is no longer the case for a monopolist.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Total cost per day in a restaurant: 8,000 of which 3,000 food, 3,000 labor, 2,000 other</a:t>
            </a:r>
          </a:p>
          <a:p>
            <a:r>
              <a:t>TC=2,000+60Q</a:t>
            </a:r>
          </a:p>
          <a:p>
            <a:r>
              <a:t>Q=meal per day</a:t>
            </a:r>
          </a:p>
          <a:p>
            <a:r>
              <a:t>At P=50 and 200 people, 10,000 revenue, profit=2,000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that markup refers to MC and not AVC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Poll Title: 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Mark-up is higher for:</a:t>
            </a:r>
          </a:p>
          <a:p>
            <a:r>
              <a:t>https://www.polleverywhere.com/multiple_choice_polls/Zmt5W14cKK6Xwqbv0nijt?display_state=instructions&amp;activity_state=opened&amp;state=opened&amp;flow=Engagement&amp;onscreen=persist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Poll Title: 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Mark-up is higher for:</a:t>
            </a:r>
          </a:p>
          <a:p>
            <a:r>
              <a:t>https://www.polleverywhere.com/multiple_choice_polls/Zmt5W14cKK6Xwqbv0nijt?display_state=chart&amp;activity_state=opened&amp;state=opened&amp;flow=Engagement&amp;onscreen=persist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Poll Title: Do not modify the notes in this section to avoid tampering with the Poll Everywhere activity.</a:t>
            </a:r>
          </a:p>
          <a:p>
            <a:r>
              <a:t>More info at polleverywhere.com/support</a:t>
            </a:r>
          </a:p>
          <a:p>
            <a:endParaRPr/>
          </a:p>
          <a:p>
            <a:r>
              <a:t>Mark-up is higher for:</a:t>
            </a:r>
          </a:p>
          <a:p>
            <a:r>
              <a:t>https://www.polleverywhere.com/multiple_choice_polls/Zmt5W14cKK6Xwqbv0nijt?display_state=chart&amp;activity_state=closed&amp;state=closed&amp;flow=Engagement&amp;onscreen=persist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Prepare poll-ev Consider Coca-Cola and Dr Brown, which has the higher mark-up? </a:t>
            </a:r>
          </a:p>
          <a:p>
            <a:r>
              <a:t>Elasticity is lower because of nich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6AA04C-4821-438B-A86D-7F64D9B3FF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A8CD68-5E68-41E5-817C-17323F9960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CA57EB-BB3B-41DD-B212-5914B63B38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7C36CB-ACC6-4563-8929-74F3173692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CE39B9-F474-479B-8103-462E67FDA2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ABBBC4-F76C-4BC6-A198-40DA4E7D7D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CADB9D-C03B-4AC7-8BE2-3F4B9F15EE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853BC9-CA8F-40D4-815F-8002F7517A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BE9DF2-BEF1-47F1-B44D-3679974D60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49689A-7708-4C21-B8DF-D54FD10C5C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34290A-981E-41AC-A7E3-96C796961C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1828800"/>
            <a:ext cx="1127412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Monopoly &amp; Monopolistic Competition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3520440"/>
            <a:ext cx="11274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E09F3E"/>
                </a:solidFill>
                <a:effectLst/>
                <a:uFillTx/>
                <a:latin typeface="Calibri"/>
              </a:rPr>
              <a:t>Profit Maximization for Price Searchers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4270320" y="4434840"/>
            <a:ext cx="3657240" cy="54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4800600"/>
            <a:ext cx="11274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457200" y="5394960"/>
            <a:ext cx="1127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Prof. Paola Giuliano  ·  UCLA Anderson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Announcements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Announcements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XBLD_1010"/>
          <p:cNvSpPr/>
          <p:nvPr/>
        </p:nvSpPr>
        <p:spPr>
          <a:xfrm>
            <a:off x="502920" y="1920240"/>
            <a:ext cx="111553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22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Problem set 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Due November 7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2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Problem set 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Posted on BruinLearn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Roadmap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val 10"/>
          <p:cNvSpPr/>
          <p:nvPr/>
        </p:nvSpPr>
        <p:spPr>
          <a:xfrm>
            <a:off x="1234440" y="1837800"/>
            <a:ext cx="566640" cy="5666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2286000" y="173736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 for price searchers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2286000" y="218556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Set MR = MC; markup and the Lerner index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Oval 13"/>
          <p:cNvSpPr/>
          <p:nvPr/>
        </p:nvSpPr>
        <p:spPr>
          <a:xfrm>
            <a:off x="1234440" y="2917080"/>
            <a:ext cx="566640" cy="5666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2286000" y="28162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Monopoly and welfare impact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2286000" y="32644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How monopoly restricts output and reduces welfare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val 16"/>
          <p:cNvSpPr/>
          <p:nvPr/>
        </p:nvSpPr>
        <p:spPr>
          <a:xfrm>
            <a:off x="1234440" y="3996000"/>
            <a:ext cx="566640" cy="5666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7"/>
          <p:cNvSpPr/>
          <p:nvPr/>
        </p:nvSpPr>
        <p:spPr>
          <a:xfrm>
            <a:off x="2286000" y="389520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Government and market power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8"/>
          <p:cNvSpPr/>
          <p:nvPr/>
        </p:nvSpPr>
        <p:spPr>
          <a:xfrm>
            <a:off x="2286000" y="4343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Antitrust, regulation, and market definition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val 19"/>
          <p:cNvSpPr/>
          <p:nvPr/>
        </p:nvSpPr>
        <p:spPr>
          <a:xfrm>
            <a:off x="1234440" y="5074920"/>
            <a:ext cx="566640" cy="5666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2286000" y="49744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Monopolistic competition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2286000" y="542232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Free entry drives long-run profit to zero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Market Structures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Four Basic Market Structures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"/>
          <p:cNvSpPr/>
          <p:nvPr/>
        </p:nvSpPr>
        <p:spPr>
          <a:xfrm>
            <a:off x="768240" y="1819800"/>
            <a:ext cx="10625040" cy="3904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09" name="Table 11"/>
          <p:cNvGraphicFramePr/>
          <p:nvPr/>
        </p:nvGraphicFramePr>
        <p:xfrm>
          <a:off x="822960" y="1874520"/>
          <a:ext cx="10515240" cy="379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Perfect</a:t>
                      </a:r>
                      <a:endParaRPr lang="en-US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Competition</a:t>
                      </a:r>
                      <a:endParaRPr lang="en-US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Monopolistic</a:t>
                      </a:r>
                      <a:endParaRPr lang="en-US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Competition</a:t>
                      </a:r>
                      <a:endParaRPr lang="en-US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Oligopoly</a:t>
                      </a:r>
                      <a:endParaRPr lang="en-US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Monopoly</a:t>
                      </a:r>
                      <a:endParaRPr lang="en-US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52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Number of firms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Many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Many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Few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One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2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Type of products sold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Identical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Differentiated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Identical or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Differentiated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Unique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52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6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Barriers to entry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None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None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Some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6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Many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0" name="Oval 12"/>
          <p:cNvSpPr/>
          <p:nvPr/>
        </p:nvSpPr>
        <p:spPr>
          <a:xfrm>
            <a:off x="5605200" y="1837800"/>
            <a:ext cx="1865160" cy="941400"/>
          </a:xfrm>
          <a:prstGeom prst="ellipse">
            <a:avLst/>
          </a:prstGeom>
          <a:noFill/>
          <a:ln w="31750">
            <a:solidFill>
              <a:srgbClr val="C0504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13"/>
          <p:cNvSpPr/>
          <p:nvPr/>
        </p:nvSpPr>
        <p:spPr>
          <a:xfrm>
            <a:off x="9445680" y="1837800"/>
            <a:ext cx="1865160" cy="941400"/>
          </a:xfrm>
          <a:prstGeom prst="ellipse">
            <a:avLst/>
          </a:prstGeom>
          <a:noFill/>
          <a:ln w="31750">
            <a:solidFill>
              <a:srgbClr val="C0504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Roadmap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10"/>
          <p:cNvSpPr/>
          <p:nvPr/>
        </p:nvSpPr>
        <p:spPr>
          <a:xfrm>
            <a:off x="978480" y="1636920"/>
            <a:ext cx="10423800" cy="93240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5875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Oval 11"/>
          <p:cNvSpPr/>
          <p:nvPr/>
        </p:nvSpPr>
        <p:spPr>
          <a:xfrm>
            <a:off x="1234440" y="1837800"/>
            <a:ext cx="566640" cy="5666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2286000" y="173736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 for price searchers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2286000" y="218556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Set MR = MC; markup and the Lerner index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Oval 14"/>
          <p:cNvSpPr/>
          <p:nvPr/>
        </p:nvSpPr>
        <p:spPr>
          <a:xfrm>
            <a:off x="1234440" y="2917080"/>
            <a:ext cx="566640" cy="56664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5"/>
          <p:cNvSpPr/>
          <p:nvPr/>
        </p:nvSpPr>
        <p:spPr>
          <a:xfrm>
            <a:off x="2286000" y="28162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ADB5"/>
                </a:solidFill>
                <a:effectLst/>
                <a:uFillTx/>
                <a:latin typeface="Calibri"/>
              </a:rPr>
              <a:t>Monopoly and welfare impact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6"/>
          <p:cNvSpPr/>
          <p:nvPr/>
        </p:nvSpPr>
        <p:spPr>
          <a:xfrm>
            <a:off x="2286000" y="32644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3C8CE"/>
                </a:solidFill>
                <a:effectLst/>
                <a:uFillTx/>
                <a:latin typeface="Calibri"/>
              </a:rPr>
              <a:t>How monopoly restricts output and reduces welfare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Oval 17"/>
          <p:cNvSpPr/>
          <p:nvPr/>
        </p:nvSpPr>
        <p:spPr>
          <a:xfrm>
            <a:off x="1234440" y="3996000"/>
            <a:ext cx="566640" cy="56664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8"/>
          <p:cNvSpPr/>
          <p:nvPr/>
        </p:nvSpPr>
        <p:spPr>
          <a:xfrm>
            <a:off x="2286000" y="389520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ADB5"/>
                </a:solidFill>
                <a:effectLst/>
                <a:uFillTx/>
                <a:latin typeface="Calibri"/>
              </a:rPr>
              <a:t>Government and market power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2286000" y="4343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3C8CE"/>
                </a:solidFill>
                <a:effectLst/>
                <a:uFillTx/>
                <a:latin typeface="Calibri"/>
              </a:rPr>
              <a:t>Antitrust, regulation, and market definition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val 20"/>
          <p:cNvSpPr/>
          <p:nvPr/>
        </p:nvSpPr>
        <p:spPr>
          <a:xfrm>
            <a:off x="1234440" y="5074920"/>
            <a:ext cx="566640" cy="56664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1"/>
          <p:cNvSpPr/>
          <p:nvPr/>
        </p:nvSpPr>
        <p:spPr>
          <a:xfrm>
            <a:off x="2286000" y="49744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ADB5"/>
                </a:solidFill>
                <a:effectLst/>
                <a:uFillTx/>
                <a:latin typeface="Calibri"/>
              </a:rPr>
              <a:t>Monopolistic competition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2"/>
          <p:cNvSpPr/>
          <p:nvPr/>
        </p:nvSpPr>
        <p:spPr>
          <a:xfrm>
            <a:off x="2286000" y="542232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3C8CE"/>
                </a:solidFill>
                <a:effectLst/>
                <a:uFillTx/>
                <a:latin typeface="Calibri"/>
              </a:rPr>
              <a:t>Free entry drives long-run profit to zero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Firm Demand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Firm Demand: Price Takers vs. Price Searchers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914400" y="15087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 taker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6675120" y="15087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 searcher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" name="Connector 12"/>
          <p:cNvCxnSpPr/>
          <p:nvPr/>
        </p:nvCxnSpPr>
        <p:spPr>
          <a:xfrm flipV="1">
            <a:off x="1371600" y="1965960"/>
            <a:ext cx="720" cy="361224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146" name="Connector 13"/>
          <p:cNvCxnSpPr/>
          <p:nvPr/>
        </p:nvCxnSpPr>
        <p:spPr>
          <a:xfrm>
            <a:off x="1371600" y="5577840"/>
            <a:ext cx="3978000" cy="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147" name="TextBox 14"/>
          <p:cNvSpPr/>
          <p:nvPr/>
        </p:nvSpPr>
        <p:spPr>
          <a:xfrm>
            <a:off x="1234440" y="15818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5"/>
          <p:cNvSpPr/>
          <p:nvPr/>
        </p:nvSpPr>
        <p:spPr>
          <a:xfrm>
            <a:off x="5257800" y="56325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Connector 16"/>
          <p:cNvCxnSpPr/>
          <p:nvPr/>
        </p:nvCxnSpPr>
        <p:spPr>
          <a:xfrm>
            <a:off x="1371600" y="3602520"/>
            <a:ext cx="3657960" cy="720"/>
          </a:xfrm>
          <a:prstGeom prst="straightConnector1">
            <a:avLst/>
          </a:prstGeom>
          <a:ln w="38100">
            <a:solidFill>
              <a:srgbClr val="C0201B"/>
            </a:solidFill>
            <a:round/>
          </a:ln>
        </p:spPr>
      </p:cxnSp>
      <p:cxnSp>
        <p:nvCxnSpPr>
          <p:cNvPr id="150" name="Connector 17"/>
          <p:cNvCxnSpPr/>
          <p:nvPr/>
        </p:nvCxnSpPr>
        <p:spPr>
          <a:xfrm>
            <a:off x="1371600" y="3602520"/>
            <a:ext cx="36720" cy="720"/>
          </a:xfrm>
          <a:prstGeom prst="straightConnector1">
            <a:avLst/>
          </a:prstGeom>
          <a:ln w="15240">
            <a:solidFill>
              <a:srgbClr val="0B2B4E"/>
            </a:solidFill>
            <a:prstDash val="dash"/>
            <a:round/>
          </a:ln>
        </p:spPr>
      </p:cxnSp>
      <p:sp>
        <p:nvSpPr>
          <p:cNvPr id="151" name="TextBox 18"/>
          <p:cNvSpPr/>
          <p:nvPr/>
        </p:nvSpPr>
        <p:spPr>
          <a:xfrm>
            <a:off x="822960" y="345636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9"/>
          <p:cNvSpPr/>
          <p:nvPr/>
        </p:nvSpPr>
        <p:spPr>
          <a:xfrm>
            <a:off x="3639240" y="329184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d = P* = MR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Connector 20"/>
          <p:cNvCxnSpPr/>
          <p:nvPr/>
        </p:nvCxnSpPr>
        <p:spPr>
          <a:xfrm flipV="1">
            <a:off x="7132320" y="1965960"/>
            <a:ext cx="720" cy="361224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154" name="Connector 21"/>
          <p:cNvCxnSpPr/>
          <p:nvPr/>
        </p:nvCxnSpPr>
        <p:spPr>
          <a:xfrm>
            <a:off x="7132320" y="5577840"/>
            <a:ext cx="3978000" cy="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155" name="TextBox 22"/>
          <p:cNvSpPr/>
          <p:nvPr/>
        </p:nvSpPr>
        <p:spPr>
          <a:xfrm>
            <a:off x="6995160" y="158184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3"/>
          <p:cNvSpPr/>
          <p:nvPr/>
        </p:nvSpPr>
        <p:spPr>
          <a:xfrm>
            <a:off x="11018520" y="56325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Freeform 24"/>
          <p:cNvSpPr/>
          <p:nvPr/>
        </p:nvSpPr>
        <p:spPr>
          <a:xfrm>
            <a:off x="7132320" y="2615040"/>
            <a:ext cx="3291480" cy="2962440"/>
          </a:xfrm>
          <a:custGeom>
            <a:avLst/>
            <a:gdLst>
              <a:gd name="textAreaLeft" fmla="*/ 0 w 3291480"/>
              <a:gd name="textAreaRight" fmla="*/ 3291840 w 3291480"/>
              <a:gd name="textAreaTop" fmla="*/ 0 h 2962440"/>
              <a:gd name="textAreaBottom" fmla="*/ 2962800 h 2962440"/>
            </a:gdLst>
            <a:ahLst/>
            <a:cxnLst/>
            <a:rect l="textAreaLeft" t="textAreaTop" r="textAreaRight" b="textAreaBottom"/>
            <a:pathLst>
              <a:path w="3291840" h="2962657">
                <a:moveTo>
                  <a:pt x="0" y="0"/>
                </a:moveTo>
                <a:lnTo>
                  <a:pt x="3291840" y="2962657"/>
                </a:lnTo>
              </a:path>
            </a:pathLst>
          </a:custGeom>
          <a:noFill/>
          <a:ln w="38100" cap="rnd">
            <a:solidFill>
              <a:srgbClr val="C0201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Freeform 25"/>
          <p:cNvSpPr/>
          <p:nvPr/>
        </p:nvSpPr>
        <p:spPr>
          <a:xfrm>
            <a:off x="7132320" y="2615040"/>
            <a:ext cx="1645560" cy="2962440"/>
          </a:xfrm>
          <a:custGeom>
            <a:avLst/>
            <a:gdLst>
              <a:gd name="textAreaLeft" fmla="*/ 0 w 1645560"/>
              <a:gd name="textAreaRight" fmla="*/ 1645920 w 1645560"/>
              <a:gd name="textAreaTop" fmla="*/ 0 h 2962440"/>
              <a:gd name="textAreaBottom" fmla="*/ 2962800 h 2962440"/>
            </a:gdLst>
            <a:ahLst/>
            <a:cxnLst/>
            <a:rect l="textAreaLeft" t="textAreaTop" r="textAreaRight" b="textAreaBottom"/>
            <a:pathLst>
              <a:path w="1645920" h="2962657">
                <a:moveTo>
                  <a:pt x="0" y="0"/>
                </a:moveTo>
                <a:lnTo>
                  <a:pt x="1645920" y="2962657"/>
                </a:lnTo>
              </a:path>
            </a:pathLst>
          </a:custGeom>
          <a:noFill/>
          <a:ln w="33020" cap="rnd">
            <a:solidFill>
              <a:srgbClr val="C0201B"/>
            </a:solidFill>
            <a:prstDash val="sysDot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26"/>
          <p:cNvSpPr/>
          <p:nvPr/>
        </p:nvSpPr>
        <p:spPr>
          <a:xfrm>
            <a:off x="9802440" y="478764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7"/>
          <p:cNvSpPr/>
          <p:nvPr/>
        </p:nvSpPr>
        <p:spPr>
          <a:xfrm>
            <a:off x="8083440" y="4919400"/>
            <a:ext cx="1096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MR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Market Power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Meaning of Market Power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XBLD_1001001"/>
          <p:cNvSpPr/>
          <p:nvPr/>
        </p:nvSpPr>
        <p:spPr>
          <a:xfrm>
            <a:off x="502920" y="1691640"/>
            <a:ext cx="1115532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Nearly all firms compete somewhat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All products face substitutes, no matter how imperfect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Even if you are the only player, you must worry about potential entry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real distinction is between: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Price searchers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Price takers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real test of market power: </a:t>
            </a:r>
            <a:r>
              <a:rPr lang="en-US" sz="32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“Do I face a downward-sloping demand curve?”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 for a Price Searcher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10"/>
          <p:cNvSpPr/>
          <p:nvPr/>
        </p:nvSpPr>
        <p:spPr>
          <a:xfrm>
            <a:off x="640080" y="1828800"/>
            <a:ext cx="4205880" cy="1051200"/>
          </a:xfrm>
          <a:prstGeom prst="roundRect">
            <a:avLst>
              <a:gd name="adj" fmla="val 16667"/>
            </a:avLst>
          </a:prstGeom>
          <a:solidFill>
            <a:srgbClr val="0B2B4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MR = MC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1"/>
          <p:cNvSpPr/>
          <p:nvPr/>
        </p:nvSpPr>
        <p:spPr>
          <a:xfrm>
            <a:off x="640080" y="3291840"/>
            <a:ext cx="4205880" cy="95976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2"/>
          <p:cNvSpPr/>
          <p:nvPr/>
        </p:nvSpPr>
        <p:spPr>
          <a:xfrm>
            <a:off x="640080" y="34016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0" i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Firm's demand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3"/>
          <p:cNvSpPr/>
          <p:nvPr/>
        </p:nvSpPr>
        <p:spPr>
          <a:xfrm>
            <a:off x="640080" y="367596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1,600 − 4</a:t>
            </a: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CLK03"/>
          <p:cNvSpPr/>
          <p:nvPr/>
        </p:nvSpPr>
        <p:spPr>
          <a:xfrm>
            <a:off x="640080" y="5074920"/>
            <a:ext cx="4205880" cy="566640"/>
          </a:xfrm>
          <a:prstGeom prst="roundRect">
            <a:avLst>
              <a:gd name="adj" fmla="val 16667"/>
            </a:avLst>
          </a:prstGeom>
          <a:solidFill>
            <a:srgbClr val="E0A21E"/>
          </a:solidFill>
          <a:ln w="12700">
            <a:solidFill>
              <a:srgbClr val="C58B12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67000" tIns="18360" rIns="90000" bIns="1836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Teaching Note  </a:t>
            </a:r>
            <a:r>
              <a:rPr lang="en-US" sz="1600" b="1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MR = MC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CLK03"/>
          <p:cNvSpPr/>
          <p:nvPr/>
        </p:nvSpPr>
        <p:spPr>
          <a:xfrm>
            <a:off x="749880" y="5239440"/>
            <a:ext cx="383760" cy="237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201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86" name="Connector 16"/>
          <p:cNvCxnSpPr/>
          <p:nvPr/>
        </p:nvCxnSpPr>
        <p:spPr>
          <a:xfrm flipV="1">
            <a:off x="6492240" y="1463040"/>
            <a:ext cx="720" cy="443520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187" name="Connector 17"/>
          <p:cNvCxnSpPr/>
          <p:nvPr/>
        </p:nvCxnSpPr>
        <p:spPr>
          <a:xfrm>
            <a:off x="6492240" y="5897880"/>
            <a:ext cx="5258160" cy="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188" name="TextBox 18"/>
          <p:cNvSpPr/>
          <p:nvPr/>
        </p:nvSpPr>
        <p:spPr>
          <a:xfrm>
            <a:off x="6355080" y="10789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11658600" y="5952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CLK00"/>
          <p:cNvSpPr/>
          <p:nvPr/>
        </p:nvSpPr>
        <p:spPr>
          <a:xfrm>
            <a:off x="6492240" y="2319840"/>
            <a:ext cx="4646880" cy="3577680"/>
          </a:xfrm>
          <a:custGeom>
            <a:avLst/>
            <a:gdLst>
              <a:gd name="textAreaLeft" fmla="*/ 0 w 4646880"/>
              <a:gd name="textAreaRight" fmla="*/ 4647240 w 4646880"/>
              <a:gd name="textAreaTop" fmla="*/ 0 h 3577680"/>
              <a:gd name="textAreaBottom" fmla="*/ 3578040 h 3577680"/>
            </a:gdLst>
            <a:ahLst/>
            <a:cxnLst/>
            <a:rect l="textAreaLeft" t="textAreaTop" r="textAreaRight" b="textAreaBottom"/>
            <a:pathLst>
              <a:path w="4647303" h="3578087">
                <a:moveTo>
                  <a:pt x="0" y="0"/>
                </a:moveTo>
                <a:lnTo>
                  <a:pt x="4647303" y="3578087"/>
                </a:lnTo>
              </a:path>
            </a:pathLst>
          </a:custGeom>
          <a:noFill/>
          <a:ln w="38100" cap="rnd">
            <a:solidFill>
              <a:srgbClr val="C0201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CLK00"/>
          <p:cNvSpPr/>
          <p:nvPr/>
        </p:nvSpPr>
        <p:spPr>
          <a:xfrm>
            <a:off x="10355400" y="473508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CLK01"/>
          <p:cNvSpPr/>
          <p:nvPr/>
        </p:nvSpPr>
        <p:spPr>
          <a:xfrm>
            <a:off x="6492240" y="2319840"/>
            <a:ext cx="2323440" cy="3577680"/>
          </a:xfrm>
          <a:custGeom>
            <a:avLst/>
            <a:gdLst>
              <a:gd name="textAreaLeft" fmla="*/ 0 w 2323440"/>
              <a:gd name="textAreaRight" fmla="*/ 2323800 w 2323440"/>
              <a:gd name="textAreaTop" fmla="*/ 0 h 3577680"/>
              <a:gd name="textAreaBottom" fmla="*/ 3578040 h 3577680"/>
            </a:gdLst>
            <a:ahLst/>
            <a:cxnLst/>
            <a:rect l="textAreaLeft" t="textAreaTop" r="textAreaRight" b="textAreaBottom"/>
            <a:pathLst>
              <a:path w="2323651" h="3578087">
                <a:moveTo>
                  <a:pt x="0" y="0"/>
                </a:moveTo>
                <a:lnTo>
                  <a:pt x="2323651" y="3578087"/>
                </a:lnTo>
              </a:path>
            </a:pathLst>
          </a:custGeom>
          <a:noFill/>
          <a:ln w="35560" cap="rnd">
            <a:solidFill>
              <a:srgbClr val="3E77C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CLK01"/>
          <p:cNvSpPr/>
          <p:nvPr/>
        </p:nvSpPr>
        <p:spPr>
          <a:xfrm>
            <a:off x="8699760" y="5361120"/>
            <a:ext cx="1096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i="1" u="none" strike="noStrike">
                <a:solidFill>
                  <a:srgbClr val="3E77C0"/>
                </a:solidFill>
                <a:effectLst/>
                <a:uFillTx/>
                <a:latin typeface="Calibri"/>
              </a:rPr>
              <a:t>MR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4" name="CLK02"/>
          <p:cNvCxnSpPr/>
          <p:nvPr/>
        </p:nvCxnSpPr>
        <p:spPr>
          <a:xfrm>
            <a:off x="6492240" y="4108680"/>
            <a:ext cx="4502160" cy="720"/>
          </a:xfrm>
          <a:prstGeom prst="straightConnector1">
            <a:avLst/>
          </a:prstGeom>
          <a:ln w="31750">
            <a:solidFill>
              <a:srgbClr val="6E8B3D"/>
            </a:solidFill>
            <a:round/>
          </a:ln>
        </p:spPr>
      </p:cxnSp>
      <p:sp>
        <p:nvSpPr>
          <p:cNvPr id="195" name="CLK02"/>
          <p:cNvSpPr/>
          <p:nvPr/>
        </p:nvSpPr>
        <p:spPr>
          <a:xfrm>
            <a:off x="10122840" y="379800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6E8B3D"/>
                </a:solidFill>
                <a:effectLst/>
                <a:uFillTx/>
                <a:latin typeface="Calibri"/>
              </a:rPr>
              <a:t>MC = 200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LK03"/>
          <p:cNvCxnSpPr/>
          <p:nvPr/>
        </p:nvCxnSpPr>
        <p:spPr>
          <a:xfrm>
            <a:off x="7653960" y="3214080"/>
            <a:ext cx="720" cy="2684160"/>
          </a:xfrm>
          <a:prstGeom prst="straightConnector1">
            <a:avLst/>
          </a:prstGeom>
          <a:ln w="16510">
            <a:solidFill>
              <a:srgbClr val="0B2B4E"/>
            </a:solidFill>
            <a:prstDash val="dash"/>
            <a:round/>
          </a:ln>
        </p:spPr>
      </p:cxnSp>
      <p:cxnSp>
        <p:nvCxnSpPr>
          <p:cNvPr id="197" name="CLK03"/>
          <p:cNvCxnSpPr/>
          <p:nvPr/>
        </p:nvCxnSpPr>
        <p:spPr>
          <a:xfrm>
            <a:off x="6492240" y="3214080"/>
            <a:ext cx="1162080" cy="720"/>
          </a:xfrm>
          <a:prstGeom prst="straightConnector1">
            <a:avLst/>
          </a:prstGeom>
          <a:ln w="16510">
            <a:solidFill>
              <a:srgbClr val="0B2B4E"/>
            </a:solidFill>
            <a:prstDash val="dash"/>
            <a:round/>
          </a:ln>
        </p:spPr>
      </p:cxnSp>
      <p:sp>
        <p:nvSpPr>
          <p:cNvPr id="198" name="CLK03"/>
          <p:cNvSpPr/>
          <p:nvPr/>
        </p:nvSpPr>
        <p:spPr>
          <a:xfrm>
            <a:off x="7594560" y="3155040"/>
            <a:ext cx="118440" cy="1184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CLK03"/>
          <p:cNvSpPr/>
          <p:nvPr/>
        </p:nvSpPr>
        <p:spPr>
          <a:xfrm>
            <a:off x="5943600" y="306792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300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CLK03"/>
          <p:cNvSpPr/>
          <p:nvPr/>
        </p:nvSpPr>
        <p:spPr>
          <a:xfrm>
            <a:off x="7196760" y="59526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Q* = 400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MR = MC: A Worked Example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Oval 10"/>
          <p:cNvSpPr/>
          <p:nvPr/>
        </p:nvSpPr>
        <p:spPr>
          <a:xfrm>
            <a:off x="640080" y="1737360"/>
            <a:ext cx="456840" cy="4568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1"/>
          <p:cNvSpPr/>
          <p:nvPr/>
        </p:nvSpPr>
        <p:spPr>
          <a:xfrm>
            <a:off x="1280160" y="17190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Demand and inverse demand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1371600" y="228600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1600 − 4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3"/>
          <p:cNvSpPr/>
          <p:nvPr/>
        </p:nvSpPr>
        <p:spPr>
          <a:xfrm>
            <a:off x="5486400" y="228600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400 − ¼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Oval 14"/>
          <p:cNvSpPr/>
          <p:nvPr/>
        </p:nvSpPr>
        <p:spPr>
          <a:xfrm>
            <a:off x="640080" y="3108960"/>
            <a:ext cx="456840" cy="4568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5"/>
          <p:cNvSpPr/>
          <p:nvPr/>
        </p:nvSpPr>
        <p:spPr>
          <a:xfrm>
            <a:off x="1280160" y="30906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Total and marginal revenue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6"/>
          <p:cNvSpPr/>
          <p:nvPr/>
        </p:nvSpPr>
        <p:spPr>
          <a:xfrm>
            <a:off x="1371600" y="3657600"/>
            <a:ext cx="42058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TR = 400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− ¼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²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7"/>
          <p:cNvSpPr/>
          <p:nvPr/>
        </p:nvSpPr>
        <p:spPr>
          <a:xfrm>
            <a:off x="5486400" y="365760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MR = ΔTR/Δ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400 − ½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Oval 18"/>
          <p:cNvSpPr/>
          <p:nvPr/>
        </p:nvSpPr>
        <p:spPr>
          <a:xfrm>
            <a:off x="640080" y="4480560"/>
            <a:ext cx="456840" cy="45684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19"/>
          <p:cNvSpPr/>
          <p:nvPr/>
        </p:nvSpPr>
        <p:spPr>
          <a:xfrm>
            <a:off x="1280160" y="44622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Set MR = MC   (MC = 200)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20"/>
          <p:cNvSpPr/>
          <p:nvPr/>
        </p:nvSpPr>
        <p:spPr>
          <a:xfrm>
            <a:off x="1371600" y="5029200"/>
            <a:ext cx="5943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400 − ½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200    ⇒    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 = 400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ounded Rectangle 21"/>
          <p:cNvSpPr/>
          <p:nvPr/>
        </p:nvSpPr>
        <p:spPr>
          <a:xfrm>
            <a:off x="7680960" y="5440680"/>
            <a:ext cx="3840120" cy="91404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2"/>
          <p:cNvSpPr/>
          <p:nvPr/>
        </p:nvSpPr>
        <p:spPr>
          <a:xfrm>
            <a:off x="7680960" y="55047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Optimal quantity &amp; price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3"/>
          <p:cNvSpPr/>
          <p:nvPr/>
        </p:nvSpPr>
        <p:spPr>
          <a:xfrm>
            <a:off x="7680960" y="57974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 = 400,    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 = 300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 Searcher: Maximizing Profit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Picture 10" descr="s10_0_10388.png"/>
          <p:cNvPicPr/>
          <p:nvPr/>
        </p:nvPicPr>
        <p:blipFill>
          <a:blip r:embed="rId3"/>
          <a:stretch/>
        </p:blipFill>
        <p:spPr>
          <a:xfrm>
            <a:off x="4160520" y="1207080"/>
            <a:ext cx="3565800" cy="775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4" name="Connector 11"/>
          <p:cNvCxnSpPr/>
          <p:nvPr/>
        </p:nvCxnSpPr>
        <p:spPr>
          <a:xfrm flipV="1">
            <a:off x="1188720" y="1828800"/>
            <a:ext cx="720" cy="429768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235" name="Connector 12"/>
          <p:cNvCxnSpPr/>
          <p:nvPr/>
        </p:nvCxnSpPr>
        <p:spPr>
          <a:xfrm>
            <a:off x="1188720" y="6126120"/>
            <a:ext cx="6446880" cy="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236" name="TextBox 13"/>
          <p:cNvSpPr/>
          <p:nvPr/>
        </p:nvSpPr>
        <p:spPr>
          <a:xfrm>
            <a:off x="1051560" y="144468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4"/>
          <p:cNvSpPr/>
          <p:nvPr/>
        </p:nvSpPr>
        <p:spPr>
          <a:xfrm>
            <a:off x="7543800" y="61812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LK00"/>
          <p:cNvSpPr/>
          <p:nvPr/>
        </p:nvSpPr>
        <p:spPr>
          <a:xfrm>
            <a:off x="1188720" y="2546640"/>
            <a:ext cx="5513400" cy="3579480"/>
          </a:xfrm>
          <a:custGeom>
            <a:avLst/>
            <a:gdLst>
              <a:gd name="textAreaLeft" fmla="*/ 0 w 5513400"/>
              <a:gd name="textAreaRight" fmla="*/ 5513760 w 5513400"/>
              <a:gd name="textAreaTop" fmla="*/ 0 h 3579480"/>
              <a:gd name="textAreaBottom" fmla="*/ 3579840 h 3579480"/>
            </a:gdLst>
            <a:ahLst/>
            <a:cxnLst/>
            <a:rect l="textAreaLeft" t="textAreaTop" r="textAreaRight" b="textAreaBottom"/>
            <a:pathLst>
              <a:path w="5513832" h="3579876">
                <a:moveTo>
                  <a:pt x="0" y="0"/>
                </a:moveTo>
                <a:lnTo>
                  <a:pt x="5513832" y="3579876"/>
                </a:lnTo>
              </a:path>
            </a:pathLst>
          </a:custGeom>
          <a:noFill/>
          <a:ln w="40640" cap="rnd">
            <a:solidFill>
              <a:srgbClr val="C0201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CLK00"/>
          <p:cNvSpPr/>
          <p:nvPr/>
        </p:nvSpPr>
        <p:spPr>
          <a:xfrm>
            <a:off x="5844960" y="5848200"/>
            <a:ext cx="731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LK01"/>
          <p:cNvSpPr/>
          <p:nvPr/>
        </p:nvSpPr>
        <p:spPr>
          <a:xfrm>
            <a:off x="1188720" y="2546640"/>
            <a:ext cx="2756520" cy="3579480"/>
          </a:xfrm>
          <a:custGeom>
            <a:avLst/>
            <a:gdLst>
              <a:gd name="textAreaLeft" fmla="*/ 0 w 2756520"/>
              <a:gd name="textAreaRight" fmla="*/ 2756880 w 2756520"/>
              <a:gd name="textAreaTop" fmla="*/ 0 h 3579480"/>
              <a:gd name="textAreaBottom" fmla="*/ 3579840 h 3579480"/>
            </a:gdLst>
            <a:ahLst/>
            <a:cxnLst/>
            <a:rect l="textAreaLeft" t="textAreaTop" r="textAreaRight" b="textAreaBottom"/>
            <a:pathLst>
              <a:path w="2756916" h="3579876">
                <a:moveTo>
                  <a:pt x="0" y="0"/>
                </a:moveTo>
                <a:lnTo>
                  <a:pt x="2756916" y="3579876"/>
                </a:lnTo>
              </a:path>
            </a:pathLst>
          </a:custGeom>
          <a:noFill/>
          <a:ln w="38100" cap="rnd">
            <a:solidFill>
              <a:srgbClr val="C0201B"/>
            </a:solidFill>
            <a:prstDash val="sysDot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CLK01"/>
          <p:cNvSpPr/>
          <p:nvPr/>
        </p:nvSpPr>
        <p:spPr>
          <a:xfrm>
            <a:off x="3700440" y="5887800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MR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CLK02"/>
          <p:cNvSpPr/>
          <p:nvPr/>
        </p:nvSpPr>
        <p:spPr>
          <a:xfrm>
            <a:off x="1188720" y="4336560"/>
            <a:ext cx="4900680" cy="1590840"/>
          </a:xfrm>
          <a:custGeom>
            <a:avLst/>
            <a:gdLst>
              <a:gd name="textAreaLeft" fmla="*/ 0 w 4900680"/>
              <a:gd name="textAreaRight" fmla="*/ 4901040 w 4900680"/>
              <a:gd name="textAreaTop" fmla="*/ 0 h 1590840"/>
              <a:gd name="textAreaBottom" fmla="*/ 1591200 h 1590840"/>
            </a:gdLst>
            <a:ahLst/>
            <a:cxnLst/>
            <a:rect l="textAreaLeft" t="textAreaTop" r="textAreaRight" b="textAreaBottom"/>
            <a:pathLst>
              <a:path w="4901184" h="1591055">
                <a:moveTo>
                  <a:pt x="0" y="1591055"/>
                </a:moveTo>
                <a:lnTo>
                  <a:pt x="4901184" y="0"/>
                </a:lnTo>
              </a:path>
            </a:pathLst>
          </a:custGeom>
          <a:noFill/>
          <a:ln w="38100" cap="rnd">
            <a:solidFill>
              <a:srgbClr val="3E77C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CLK02"/>
          <p:cNvSpPr/>
          <p:nvPr/>
        </p:nvSpPr>
        <p:spPr>
          <a:xfrm>
            <a:off x="5722200" y="428472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3E77C0"/>
                </a:solidFill>
                <a:effectLst/>
                <a:uFillTx/>
                <a:latin typeface="Calibri"/>
              </a:rPr>
              <a:t>MC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LK03"/>
          <p:cNvSpPr/>
          <p:nvPr/>
        </p:nvSpPr>
        <p:spPr>
          <a:xfrm>
            <a:off x="1801440" y="3529080"/>
            <a:ext cx="4043160" cy="1441800"/>
          </a:xfrm>
          <a:custGeom>
            <a:avLst/>
            <a:gdLst>
              <a:gd name="textAreaLeft" fmla="*/ 0 w 4043160"/>
              <a:gd name="textAreaRight" fmla="*/ 4043520 w 4043160"/>
              <a:gd name="textAreaTop" fmla="*/ 0 h 1441800"/>
              <a:gd name="textAreaBottom" fmla="*/ 1442160 h 1441800"/>
            </a:gdLst>
            <a:ahLst/>
            <a:cxnLst/>
            <a:rect l="textAreaLeft" t="textAreaTop" r="textAreaRight" b="textAreaBottom"/>
            <a:pathLst>
              <a:path w="4043476" h="1442163">
                <a:moveTo>
                  <a:pt x="0" y="0"/>
                </a:moveTo>
                <a:lnTo>
                  <a:pt x="12445" y="26872"/>
                </a:lnTo>
                <a:lnTo>
                  <a:pt x="27178" y="59883"/>
                </a:lnTo>
                <a:lnTo>
                  <a:pt x="43991" y="98328"/>
                </a:lnTo>
                <a:lnTo>
                  <a:pt x="62676" y="141505"/>
                </a:lnTo>
                <a:lnTo>
                  <a:pt x="83025" y="188707"/>
                </a:lnTo>
                <a:lnTo>
                  <a:pt x="104830" y="239233"/>
                </a:lnTo>
                <a:lnTo>
                  <a:pt x="127883" y="292377"/>
                </a:lnTo>
                <a:lnTo>
                  <a:pt x="151977" y="347436"/>
                </a:lnTo>
                <a:lnTo>
                  <a:pt x="176902" y="403706"/>
                </a:lnTo>
                <a:lnTo>
                  <a:pt x="202451" y="460482"/>
                </a:lnTo>
                <a:lnTo>
                  <a:pt x="228416" y="517062"/>
                </a:lnTo>
                <a:lnTo>
                  <a:pt x="254589" y="572740"/>
                </a:lnTo>
                <a:lnTo>
                  <a:pt x="280762" y="626812"/>
                </a:lnTo>
                <a:lnTo>
                  <a:pt x="306727" y="678576"/>
                </a:lnTo>
                <a:lnTo>
                  <a:pt x="332276" y="727326"/>
                </a:lnTo>
                <a:lnTo>
                  <a:pt x="357201" y="772360"/>
                </a:lnTo>
                <a:lnTo>
                  <a:pt x="381294" y="812972"/>
                </a:lnTo>
                <a:lnTo>
                  <a:pt x="404347" y="848459"/>
                </a:lnTo>
                <a:lnTo>
                  <a:pt x="426811" y="879842"/>
                </a:lnTo>
                <a:lnTo>
                  <a:pt x="449275" y="908732"/>
                </a:lnTo>
                <a:lnTo>
                  <a:pt x="471738" y="935305"/>
                </a:lnTo>
                <a:lnTo>
                  <a:pt x="494202" y="959740"/>
                </a:lnTo>
                <a:lnTo>
                  <a:pt x="516666" y="982214"/>
                </a:lnTo>
                <a:lnTo>
                  <a:pt x="539130" y="1002906"/>
                </a:lnTo>
                <a:lnTo>
                  <a:pt x="561594" y="1021992"/>
                </a:lnTo>
                <a:lnTo>
                  <a:pt x="584057" y="1039650"/>
                </a:lnTo>
                <a:lnTo>
                  <a:pt x="606521" y="1056059"/>
                </a:lnTo>
                <a:lnTo>
                  <a:pt x="628985" y="1071396"/>
                </a:lnTo>
                <a:lnTo>
                  <a:pt x="651449" y="1085839"/>
                </a:lnTo>
                <a:lnTo>
                  <a:pt x="673912" y="1099565"/>
                </a:lnTo>
                <a:lnTo>
                  <a:pt x="696376" y="1112752"/>
                </a:lnTo>
                <a:lnTo>
                  <a:pt x="718840" y="1125579"/>
                </a:lnTo>
                <a:lnTo>
                  <a:pt x="741304" y="1138223"/>
                </a:lnTo>
                <a:lnTo>
                  <a:pt x="763767" y="1150861"/>
                </a:lnTo>
                <a:lnTo>
                  <a:pt x="786231" y="1163672"/>
                </a:lnTo>
                <a:lnTo>
                  <a:pt x="808695" y="1176832"/>
                </a:lnTo>
                <a:lnTo>
                  <a:pt x="831159" y="1189820"/>
                </a:lnTo>
                <a:lnTo>
                  <a:pt x="853622" y="1202024"/>
                </a:lnTo>
                <a:lnTo>
                  <a:pt x="876086" y="1213495"/>
                </a:lnTo>
                <a:lnTo>
                  <a:pt x="898550" y="1224280"/>
                </a:lnTo>
                <a:lnTo>
                  <a:pt x="921014" y="1234429"/>
                </a:lnTo>
                <a:lnTo>
                  <a:pt x="943477" y="1243991"/>
                </a:lnTo>
                <a:lnTo>
                  <a:pt x="965941" y="1253014"/>
                </a:lnTo>
                <a:lnTo>
                  <a:pt x="988405" y="1261547"/>
                </a:lnTo>
                <a:lnTo>
                  <a:pt x="1010869" y="1269639"/>
                </a:lnTo>
                <a:lnTo>
                  <a:pt x="1033332" y="1277339"/>
                </a:lnTo>
                <a:lnTo>
                  <a:pt x="1055796" y="1284695"/>
                </a:lnTo>
                <a:lnTo>
                  <a:pt x="1078260" y="1291757"/>
                </a:lnTo>
                <a:lnTo>
                  <a:pt x="1100724" y="1298574"/>
                </a:lnTo>
                <a:lnTo>
                  <a:pt x="1123188" y="1305193"/>
                </a:lnTo>
                <a:lnTo>
                  <a:pt x="1145651" y="1311665"/>
                </a:lnTo>
                <a:lnTo>
                  <a:pt x="1168115" y="1318037"/>
                </a:lnTo>
                <a:lnTo>
                  <a:pt x="1190579" y="1324360"/>
                </a:lnTo>
                <a:lnTo>
                  <a:pt x="1213043" y="1330680"/>
                </a:lnTo>
                <a:lnTo>
                  <a:pt x="1235506" y="1336840"/>
                </a:lnTo>
                <a:lnTo>
                  <a:pt x="1257970" y="1342660"/>
                </a:lnTo>
                <a:lnTo>
                  <a:pt x="1280434" y="1348159"/>
                </a:lnTo>
                <a:lnTo>
                  <a:pt x="1302898" y="1353356"/>
                </a:lnTo>
                <a:lnTo>
                  <a:pt x="1325361" y="1358270"/>
                </a:lnTo>
                <a:lnTo>
                  <a:pt x="1347825" y="1362919"/>
                </a:lnTo>
                <a:lnTo>
                  <a:pt x="1370289" y="1367322"/>
                </a:lnTo>
                <a:lnTo>
                  <a:pt x="1392753" y="1371498"/>
                </a:lnTo>
                <a:lnTo>
                  <a:pt x="1415216" y="1375467"/>
                </a:lnTo>
                <a:lnTo>
                  <a:pt x="1437680" y="1379246"/>
                </a:lnTo>
                <a:lnTo>
                  <a:pt x="1460144" y="1382856"/>
                </a:lnTo>
                <a:lnTo>
                  <a:pt x="1482608" y="1386314"/>
                </a:lnTo>
                <a:lnTo>
                  <a:pt x="1505071" y="1389639"/>
                </a:lnTo>
                <a:lnTo>
                  <a:pt x="1527535" y="1392850"/>
                </a:lnTo>
                <a:lnTo>
                  <a:pt x="1549999" y="1395967"/>
                </a:lnTo>
                <a:lnTo>
                  <a:pt x="1572463" y="1399008"/>
                </a:lnTo>
                <a:lnTo>
                  <a:pt x="1594926" y="1401992"/>
                </a:lnTo>
                <a:lnTo>
                  <a:pt x="1617390" y="1404937"/>
                </a:lnTo>
                <a:lnTo>
                  <a:pt x="1639854" y="1407778"/>
                </a:lnTo>
                <a:lnTo>
                  <a:pt x="1662318" y="1410443"/>
                </a:lnTo>
                <a:lnTo>
                  <a:pt x="1684782" y="1412940"/>
                </a:lnTo>
                <a:lnTo>
                  <a:pt x="1707245" y="1415278"/>
                </a:lnTo>
                <a:lnTo>
                  <a:pt x="1729709" y="1417465"/>
                </a:lnTo>
                <a:lnTo>
                  <a:pt x="1752173" y="1419512"/>
                </a:lnTo>
                <a:lnTo>
                  <a:pt x="1774637" y="1421425"/>
                </a:lnTo>
                <a:lnTo>
                  <a:pt x="1797100" y="1423215"/>
                </a:lnTo>
                <a:lnTo>
                  <a:pt x="1819564" y="1424891"/>
                </a:lnTo>
                <a:lnTo>
                  <a:pt x="1842028" y="1426460"/>
                </a:lnTo>
                <a:lnTo>
                  <a:pt x="1864492" y="1427931"/>
                </a:lnTo>
                <a:lnTo>
                  <a:pt x="1886955" y="1429315"/>
                </a:lnTo>
                <a:lnTo>
                  <a:pt x="1909419" y="1430619"/>
                </a:lnTo>
                <a:lnTo>
                  <a:pt x="1931883" y="1431851"/>
                </a:lnTo>
                <a:lnTo>
                  <a:pt x="1954347" y="1433022"/>
                </a:lnTo>
                <a:lnTo>
                  <a:pt x="1976810" y="1434140"/>
                </a:lnTo>
                <a:lnTo>
                  <a:pt x="1999274" y="1435214"/>
                </a:lnTo>
                <a:lnTo>
                  <a:pt x="2021738" y="1436251"/>
                </a:lnTo>
                <a:lnTo>
                  <a:pt x="2044202" y="1437221"/>
                </a:lnTo>
                <a:lnTo>
                  <a:pt x="2066665" y="1438088"/>
                </a:lnTo>
                <a:lnTo>
                  <a:pt x="2089129" y="1438857"/>
                </a:lnTo>
                <a:lnTo>
                  <a:pt x="2111593" y="1439532"/>
                </a:lnTo>
                <a:lnTo>
                  <a:pt x="2134057" y="1440118"/>
                </a:lnTo>
                <a:lnTo>
                  <a:pt x="2156520" y="1440620"/>
                </a:lnTo>
                <a:lnTo>
                  <a:pt x="2178984" y="1441042"/>
                </a:lnTo>
                <a:lnTo>
                  <a:pt x="2201448" y="1441389"/>
                </a:lnTo>
                <a:lnTo>
                  <a:pt x="2223912" y="1441665"/>
                </a:lnTo>
                <a:lnTo>
                  <a:pt x="2246375" y="1441877"/>
                </a:lnTo>
                <a:lnTo>
                  <a:pt x="2268839" y="1442027"/>
                </a:lnTo>
                <a:lnTo>
                  <a:pt x="2291303" y="1442121"/>
                </a:lnTo>
                <a:lnTo>
                  <a:pt x="2313767" y="1442163"/>
                </a:lnTo>
                <a:lnTo>
                  <a:pt x="2336231" y="1442159"/>
                </a:lnTo>
                <a:lnTo>
                  <a:pt x="2358694" y="1442112"/>
                </a:lnTo>
                <a:lnTo>
                  <a:pt x="2381158" y="1442028"/>
                </a:lnTo>
                <a:lnTo>
                  <a:pt x="2403622" y="1441911"/>
                </a:lnTo>
                <a:lnTo>
                  <a:pt x="2426086" y="1441766"/>
                </a:lnTo>
                <a:lnTo>
                  <a:pt x="2448549" y="1441574"/>
                </a:lnTo>
                <a:lnTo>
                  <a:pt x="2471013" y="1441318"/>
                </a:lnTo>
                <a:lnTo>
                  <a:pt x="2493477" y="1440999"/>
                </a:lnTo>
                <a:lnTo>
                  <a:pt x="2515941" y="1440621"/>
                </a:lnTo>
                <a:lnTo>
                  <a:pt x="2538404" y="1440185"/>
                </a:lnTo>
                <a:lnTo>
                  <a:pt x="2560868" y="1439695"/>
                </a:lnTo>
                <a:lnTo>
                  <a:pt x="2583332" y="1439154"/>
                </a:lnTo>
                <a:lnTo>
                  <a:pt x="2605796" y="1438564"/>
                </a:lnTo>
                <a:lnTo>
                  <a:pt x="2628259" y="1437927"/>
                </a:lnTo>
                <a:lnTo>
                  <a:pt x="2650723" y="1437247"/>
                </a:lnTo>
                <a:lnTo>
                  <a:pt x="2673187" y="1436527"/>
                </a:lnTo>
                <a:lnTo>
                  <a:pt x="2695651" y="1435768"/>
                </a:lnTo>
                <a:lnTo>
                  <a:pt x="2718114" y="1434974"/>
                </a:lnTo>
                <a:lnTo>
                  <a:pt x="2740578" y="1434148"/>
                </a:lnTo>
                <a:lnTo>
                  <a:pt x="2763042" y="1433291"/>
                </a:lnTo>
                <a:lnTo>
                  <a:pt x="2785506" y="1432408"/>
                </a:lnTo>
                <a:lnTo>
                  <a:pt x="2807969" y="1431500"/>
                </a:lnTo>
                <a:lnTo>
                  <a:pt x="2830433" y="1430570"/>
                </a:lnTo>
                <a:lnTo>
                  <a:pt x="2852897" y="1429608"/>
                </a:lnTo>
                <a:lnTo>
                  <a:pt x="2875361" y="1428602"/>
                </a:lnTo>
                <a:lnTo>
                  <a:pt x="2897825" y="1427554"/>
                </a:lnTo>
                <a:lnTo>
                  <a:pt x="2920288" y="1426465"/>
                </a:lnTo>
                <a:lnTo>
                  <a:pt x="2942752" y="1425338"/>
                </a:lnTo>
                <a:lnTo>
                  <a:pt x="2965216" y="1424174"/>
                </a:lnTo>
                <a:lnTo>
                  <a:pt x="2987680" y="1422975"/>
                </a:lnTo>
                <a:lnTo>
                  <a:pt x="3010143" y="1421742"/>
                </a:lnTo>
                <a:lnTo>
                  <a:pt x="3032607" y="1420477"/>
                </a:lnTo>
                <a:lnTo>
                  <a:pt x="3055071" y="1419182"/>
                </a:lnTo>
                <a:lnTo>
                  <a:pt x="3077535" y="1417858"/>
                </a:lnTo>
                <a:lnTo>
                  <a:pt x="3099998" y="1416508"/>
                </a:lnTo>
                <a:lnTo>
                  <a:pt x="3122462" y="1415132"/>
                </a:lnTo>
                <a:lnTo>
                  <a:pt x="3144926" y="1413732"/>
                </a:lnTo>
                <a:lnTo>
                  <a:pt x="3167390" y="1412311"/>
                </a:lnTo>
                <a:lnTo>
                  <a:pt x="3189853" y="1410869"/>
                </a:lnTo>
                <a:lnTo>
                  <a:pt x="3212317" y="1409409"/>
                </a:lnTo>
                <a:lnTo>
                  <a:pt x="3234781" y="1407932"/>
                </a:lnTo>
                <a:lnTo>
                  <a:pt x="3257245" y="1406432"/>
                </a:lnTo>
                <a:lnTo>
                  <a:pt x="3279708" y="1404900"/>
                </a:lnTo>
                <a:lnTo>
                  <a:pt x="3302172" y="1403339"/>
                </a:lnTo>
                <a:lnTo>
                  <a:pt x="3324636" y="1401750"/>
                </a:lnTo>
                <a:lnTo>
                  <a:pt x="3347100" y="1400133"/>
                </a:lnTo>
                <a:lnTo>
                  <a:pt x="3369563" y="1398490"/>
                </a:lnTo>
                <a:lnTo>
                  <a:pt x="3392027" y="1396822"/>
                </a:lnTo>
                <a:lnTo>
                  <a:pt x="3414491" y="1395129"/>
                </a:lnTo>
                <a:lnTo>
                  <a:pt x="3436955" y="1393414"/>
                </a:lnTo>
                <a:lnTo>
                  <a:pt x="3459419" y="1391676"/>
                </a:lnTo>
                <a:lnTo>
                  <a:pt x="3481882" y="1389918"/>
                </a:lnTo>
                <a:lnTo>
                  <a:pt x="3504346" y="1388140"/>
                </a:lnTo>
                <a:lnTo>
                  <a:pt x="3526810" y="1386343"/>
                </a:lnTo>
                <a:lnTo>
                  <a:pt x="3549274" y="1384528"/>
                </a:lnTo>
                <a:lnTo>
                  <a:pt x="3571737" y="1382697"/>
                </a:lnTo>
                <a:lnTo>
                  <a:pt x="3594201" y="1380851"/>
                </a:lnTo>
                <a:lnTo>
                  <a:pt x="3616665" y="1378991"/>
                </a:lnTo>
                <a:lnTo>
                  <a:pt x="3639129" y="1377117"/>
                </a:lnTo>
                <a:lnTo>
                  <a:pt x="3662182" y="1375165"/>
                </a:lnTo>
                <a:lnTo>
                  <a:pt x="3686275" y="1373084"/>
                </a:lnTo>
                <a:lnTo>
                  <a:pt x="3711200" y="1370897"/>
                </a:lnTo>
                <a:lnTo>
                  <a:pt x="3736749" y="1368624"/>
                </a:lnTo>
                <a:lnTo>
                  <a:pt x="3762714" y="1366289"/>
                </a:lnTo>
                <a:lnTo>
                  <a:pt x="3788887" y="1363912"/>
                </a:lnTo>
                <a:lnTo>
                  <a:pt x="3815060" y="1361517"/>
                </a:lnTo>
                <a:lnTo>
                  <a:pt x="3841025" y="1359126"/>
                </a:lnTo>
                <a:lnTo>
                  <a:pt x="3866574" y="1356760"/>
                </a:lnTo>
                <a:lnTo>
                  <a:pt x="3891499" y="1354442"/>
                </a:lnTo>
                <a:lnTo>
                  <a:pt x="3915592" y="1352193"/>
                </a:lnTo>
                <a:lnTo>
                  <a:pt x="3938645" y="1350036"/>
                </a:lnTo>
                <a:lnTo>
                  <a:pt x="3960451" y="1347992"/>
                </a:lnTo>
                <a:lnTo>
                  <a:pt x="3980800" y="1346085"/>
                </a:lnTo>
                <a:lnTo>
                  <a:pt x="3999485" y="1344335"/>
                </a:lnTo>
                <a:lnTo>
                  <a:pt x="4016298" y="1342766"/>
                </a:lnTo>
                <a:lnTo>
                  <a:pt x="4031031" y="1341398"/>
                </a:lnTo>
                <a:lnTo>
                  <a:pt x="4043476" y="1340255"/>
                </a:lnTo>
              </a:path>
            </a:pathLst>
          </a:custGeom>
          <a:noFill/>
          <a:ln w="35560" cap="rnd">
            <a:solidFill>
              <a:srgbClr val="8B2E2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CLK03"/>
          <p:cNvSpPr/>
          <p:nvPr/>
        </p:nvSpPr>
        <p:spPr>
          <a:xfrm>
            <a:off x="5477400" y="488088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8B2E2E"/>
                </a:solidFill>
                <a:effectLst/>
                <a:uFillTx/>
                <a:latin typeface="Calibri"/>
              </a:rPr>
              <a:t>ATC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CLK04"/>
          <p:cNvCxnSpPr/>
          <p:nvPr/>
        </p:nvCxnSpPr>
        <p:spPr>
          <a:xfrm>
            <a:off x="3271680" y="3898800"/>
            <a:ext cx="720" cy="2227680"/>
          </a:xfrm>
          <a:prstGeom prst="straightConnector1">
            <a:avLst/>
          </a:prstGeom>
          <a:ln w="17780">
            <a:solidFill>
              <a:srgbClr val="0B2B4E"/>
            </a:solidFill>
            <a:prstDash val="dash"/>
            <a:round/>
          </a:ln>
        </p:spPr>
      </p:cxnSp>
      <p:sp>
        <p:nvSpPr>
          <p:cNvPr id="247" name="CLK04"/>
          <p:cNvSpPr/>
          <p:nvPr/>
        </p:nvSpPr>
        <p:spPr>
          <a:xfrm>
            <a:off x="3216960" y="5196600"/>
            <a:ext cx="109440" cy="1094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CLK04"/>
          <p:cNvSpPr/>
          <p:nvPr/>
        </p:nvSpPr>
        <p:spPr>
          <a:xfrm>
            <a:off x="3216960" y="3844080"/>
            <a:ext cx="109440" cy="1094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CLK04"/>
          <p:cNvSpPr/>
          <p:nvPr/>
        </p:nvSpPr>
        <p:spPr>
          <a:xfrm>
            <a:off x="1188720" y="3899160"/>
            <a:ext cx="2082600" cy="1013760"/>
          </a:xfrm>
          <a:prstGeom prst="rect">
            <a:avLst/>
          </a:prstGeom>
          <a:solidFill>
            <a:srgbClr val="4472C4">
              <a:alpha val="60000"/>
            </a:srgbClr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CLK04"/>
          <p:cNvSpPr/>
          <p:nvPr/>
        </p:nvSpPr>
        <p:spPr>
          <a:xfrm>
            <a:off x="640080" y="37526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CLK04"/>
          <p:cNvSpPr/>
          <p:nvPr/>
        </p:nvSpPr>
        <p:spPr>
          <a:xfrm>
            <a:off x="640080" y="476712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ATC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CLK04"/>
          <p:cNvSpPr/>
          <p:nvPr/>
        </p:nvSpPr>
        <p:spPr>
          <a:xfrm>
            <a:off x="2814480" y="61812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CLK04"/>
          <p:cNvSpPr/>
          <p:nvPr/>
        </p:nvSpPr>
        <p:spPr>
          <a:xfrm>
            <a:off x="1923840" y="4406040"/>
            <a:ext cx="1462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Profit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icture 31" descr="s10_1_1919139.png"/>
          <p:cNvSpPr/>
          <p:nvPr/>
        </p:nvSpPr>
        <p:spPr>
          <a:xfrm>
            <a:off x="8686800" y="2743200"/>
            <a:ext cx="2651400" cy="3260160"/>
          </a:xfrm>
          <a:prstGeom prst="roundRect">
            <a:avLst>
              <a:gd name="adj" fmla="val 6000"/>
            </a:avLst>
          </a:prstGeom>
          <a:blipFill rotWithShape="0">
            <a:blip r:embed="rId4"/>
            <a:srcRect/>
            <a:stretch/>
          </a:blipFill>
          <a:ln w="0"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 Searcher: Minimizing Loss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Picture 10" descr="s10_0_10388.png"/>
          <p:cNvPicPr/>
          <p:nvPr/>
        </p:nvPicPr>
        <p:blipFill>
          <a:blip r:embed="rId2"/>
          <a:stretch/>
        </p:blipFill>
        <p:spPr>
          <a:xfrm>
            <a:off x="8869680" y="1234440"/>
            <a:ext cx="2651400" cy="576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65" name="Connector 11"/>
          <p:cNvCxnSpPr/>
          <p:nvPr/>
        </p:nvCxnSpPr>
        <p:spPr>
          <a:xfrm flipV="1">
            <a:off x="1280160" y="1463040"/>
            <a:ext cx="720" cy="4023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266" name="Connector 12"/>
          <p:cNvCxnSpPr/>
          <p:nvPr/>
        </p:nvCxnSpPr>
        <p:spPr>
          <a:xfrm>
            <a:off x="1280160" y="5486400"/>
            <a:ext cx="6812640" cy="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267" name="TextBox 13"/>
          <p:cNvSpPr/>
          <p:nvPr/>
        </p:nvSpPr>
        <p:spPr>
          <a:xfrm>
            <a:off x="1143000" y="10789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8001000" y="55411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CLK00"/>
          <p:cNvSpPr/>
          <p:nvPr/>
        </p:nvSpPr>
        <p:spPr>
          <a:xfrm>
            <a:off x="1280160" y="3264480"/>
            <a:ext cx="5842800" cy="1832760"/>
          </a:xfrm>
          <a:custGeom>
            <a:avLst/>
            <a:gdLst>
              <a:gd name="textAreaLeft" fmla="*/ 0 w 5842800"/>
              <a:gd name="textAreaRight" fmla="*/ 5843160 w 5842800"/>
              <a:gd name="textAreaTop" fmla="*/ 0 h 1832760"/>
              <a:gd name="textAreaBottom" fmla="*/ 1833120 h 1832760"/>
            </a:gdLst>
            <a:ahLst/>
            <a:cxnLst/>
            <a:rect l="textAreaLeft" t="textAreaTop" r="textAreaRight" b="textAreaBottom"/>
            <a:pathLst>
              <a:path w="5843015" h="1833143">
                <a:moveTo>
                  <a:pt x="0" y="0"/>
                </a:moveTo>
                <a:lnTo>
                  <a:pt x="5843015" y="1833143"/>
                </a:lnTo>
              </a:path>
            </a:pathLst>
          </a:custGeom>
          <a:noFill/>
          <a:ln w="38100" cap="rnd">
            <a:solidFill>
              <a:srgbClr val="C0201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CLK00"/>
          <p:cNvSpPr/>
          <p:nvPr/>
        </p:nvSpPr>
        <p:spPr>
          <a:xfrm>
            <a:off x="5824800" y="5042160"/>
            <a:ext cx="7311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LK01"/>
          <p:cNvSpPr/>
          <p:nvPr/>
        </p:nvSpPr>
        <p:spPr>
          <a:xfrm>
            <a:off x="1280160" y="3264480"/>
            <a:ext cx="3538080" cy="2221560"/>
          </a:xfrm>
          <a:custGeom>
            <a:avLst/>
            <a:gdLst>
              <a:gd name="textAreaLeft" fmla="*/ 0 w 3538080"/>
              <a:gd name="textAreaRight" fmla="*/ 3538440 w 3538080"/>
              <a:gd name="textAreaTop" fmla="*/ 0 h 2221560"/>
              <a:gd name="textAreaBottom" fmla="*/ 2221920 h 2221560"/>
            </a:gdLst>
            <a:ahLst/>
            <a:cxnLst/>
            <a:rect l="textAreaLeft" t="textAreaTop" r="textAreaRight" b="textAreaBottom"/>
            <a:pathLst>
              <a:path w="3538270" h="2221992">
                <a:moveTo>
                  <a:pt x="0" y="0"/>
                </a:moveTo>
                <a:lnTo>
                  <a:pt x="3538270" y="2221992"/>
                </a:lnTo>
              </a:path>
            </a:pathLst>
          </a:custGeom>
          <a:noFill/>
          <a:ln w="35560" cap="rnd">
            <a:solidFill>
              <a:srgbClr val="C0201B"/>
            </a:solidFill>
            <a:prstDash val="sysDot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CLK01"/>
          <p:cNvSpPr/>
          <p:nvPr/>
        </p:nvSpPr>
        <p:spPr>
          <a:xfrm>
            <a:off x="4136760" y="5301360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MR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CLK02"/>
          <p:cNvSpPr/>
          <p:nvPr/>
        </p:nvSpPr>
        <p:spPr>
          <a:xfrm>
            <a:off x="1280160" y="3486600"/>
            <a:ext cx="3894840" cy="1999440"/>
          </a:xfrm>
          <a:custGeom>
            <a:avLst/>
            <a:gdLst>
              <a:gd name="textAreaLeft" fmla="*/ 0 w 3894840"/>
              <a:gd name="textAreaRight" fmla="*/ 3895200 w 3894840"/>
              <a:gd name="textAreaTop" fmla="*/ 0 h 1999440"/>
              <a:gd name="textAreaBottom" fmla="*/ 1999800 h 1999440"/>
            </a:gdLst>
            <a:ahLst/>
            <a:cxnLst/>
            <a:rect l="textAreaLeft" t="textAreaTop" r="textAreaRight" b="textAreaBottom"/>
            <a:pathLst>
              <a:path w="3895344" h="1999793">
                <a:moveTo>
                  <a:pt x="0" y="1999793"/>
                </a:moveTo>
                <a:lnTo>
                  <a:pt x="3895344" y="0"/>
                </a:lnTo>
              </a:path>
            </a:pathLst>
          </a:custGeom>
          <a:noFill/>
          <a:ln w="38100" cap="rnd">
            <a:solidFill>
              <a:srgbClr val="3E77C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CLK02"/>
          <p:cNvSpPr/>
          <p:nvPr/>
        </p:nvSpPr>
        <p:spPr>
          <a:xfrm>
            <a:off x="4915800" y="352008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3E77C0"/>
                </a:solidFill>
                <a:effectLst/>
                <a:uFillTx/>
                <a:latin typeface="Calibri"/>
              </a:rPr>
              <a:t>MC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CLK03"/>
          <p:cNvSpPr/>
          <p:nvPr/>
        </p:nvSpPr>
        <p:spPr>
          <a:xfrm>
            <a:off x="1280160" y="4153320"/>
            <a:ext cx="5193360" cy="1332720"/>
          </a:xfrm>
          <a:custGeom>
            <a:avLst/>
            <a:gdLst>
              <a:gd name="textAreaLeft" fmla="*/ 0 w 5193360"/>
              <a:gd name="textAreaRight" fmla="*/ 5193720 w 5193360"/>
              <a:gd name="textAreaTop" fmla="*/ 0 h 1332720"/>
              <a:gd name="textAreaBottom" fmla="*/ 1333080 h 1332720"/>
            </a:gdLst>
            <a:ahLst/>
            <a:cxnLst/>
            <a:rect l="textAreaLeft" t="textAreaTop" r="textAreaRight" b="textAreaBottom"/>
            <a:pathLst>
              <a:path w="5193792" h="1333196">
                <a:moveTo>
                  <a:pt x="0" y="1333196"/>
                </a:moveTo>
                <a:lnTo>
                  <a:pt x="5193792" y="0"/>
                </a:lnTo>
              </a:path>
            </a:pathLst>
          </a:custGeom>
          <a:noFill/>
          <a:ln w="38100" cap="rnd">
            <a:solidFill>
              <a:srgbClr val="2E9E5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CLK03"/>
          <p:cNvSpPr/>
          <p:nvPr/>
        </p:nvSpPr>
        <p:spPr>
          <a:xfrm>
            <a:off x="5954400" y="4253040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2E9E5B"/>
                </a:solidFill>
                <a:effectLst/>
                <a:uFillTx/>
                <a:latin typeface="Calibri"/>
              </a:rPr>
              <a:t>AVC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CLK04"/>
          <p:cNvSpPr/>
          <p:nvPr/>
        </p:nvSpPr>
        <p:spPr>
          <a:xfrm>
            <a:off x="2253960" y="2520720"/>
            <a:ext cx="3570480" cy="1317600"/>
          </a:xfrm>
          <a:custGeom>
            <a:avLst/>
            <a:gdLst>
              <a:gd name="textAreaLeft" fmla="*/ 0 w 3570480"/>
              <a:gd name="textAreaRight" fmla="*/ 3570840 w 3570480"/>
              <a:gd name="textAreaTop" fmla="*/ 0 h 1317600"/>
              <a:gd name="textAreaBottom" fmla="*/ 1317960 h 1317600"/>
            </a:gdLst>
            <a:ahLst/>
            <a:cxnLst/>
            <a:rect l="textAreaLeft" t="textAreaTop" r="textAreaRight" b="textAreaBottom"/>
            <a:pathLst>
              <a:path w="3570731" h="1317884">
                <a:moveTo>
                  <a:pt x="0" y="0"/>
                </a:moveTo>
                <a:lnTo>
                  <a:pt x="12211" y="21577"/>
                </a:lnTo>
                <a:lnTo>
                  <a:pt x="26667" y="47933"/>
                </a:lnTo>
                <a:lnTo>
                  <a:pt x="43164" y="78535"/>
                </a:lnTo>
                <a:lnTo>
                  <a:pt x="61498" y="112850"/>
                </a:lnTo>
                <a:lnTo>
                  <a:pt x="81465" y="150345"/>
                </a:lnTo>
                <a:lnTo>
                  <a:pt x="102860" y="190485"/>
                </a:lnTo>
                <a:lnTo>
                  <a:pt x="125480" y="232737"/>
                </a:lnTo>
                <a:lnTo>
                  <a:pt x="149120" y="276567"/>
                </a:lnTo>
                <a:lnTo>
                  <a:pt x="173577" y="321443"/>
                </a:lnTo>
                <a:lnTo>
                  <a:pt x="198646" y="366829"/>
                </a:lnTo>
                <a:lnTo>
                  <a:pt x="224123" y="412194"/>
                </a:lnTo>
                <a:lnTo>
                  <a:pt x="249804" y="457003"/>
                </a:lnTo>
                <a:lnTo>
                  <a:pt x="275485" y="500722"/>
                </a:lnTo>
                <a:lnTo>
                  <a:pt x="300962" y="542818"/>
                </a:lnTo>
                <a:lnTo>
                  <a:pt x="326031" y="582758"/>
                </a:lnTo>
                <a:lnTo>
                  <a:pt x="350487" y="620008"/>
                </a:lnTo>
                <a:lnTo>
                  <a:pt x="374128" y="654034"/>
                </a:lnTo>
                <a:lnTo>
                  <a:pt x="396747" y="684302"/>
                </a:lnTo>
                <a:lnTo>
                  <a:pt x="418789" y="711687"/>
                </a:lnTo>
                <a:lnTo>
                  <a:pt x="440831" y="737483"/>
                </a:lnTo>
                <a:lnTo>
                  <a:pt x="462872" y="761790"/>
                </a:lnTo>
                <a:lnTo>
                  <a:pt x="484914" y="784708"/>
                </a:lnTo>
                <a:lnTo>
                  <a:pt x="506955" y="806337"/>
                </a:lnTo>
                <a:lnTo>
                  <a:pt x="528997" y="826777"/>
                </a:lnTo>
                <a:lnTo>
                  <a:pt x="551038" y="846127"/>
                </a:lnTo>
                <a:lnTo>
                  <a:pt x="573080" y="864488"/>
                </a:lnTo>
                <a:lnTo>
                  <a:pt x="595122" y="881960"/>
                </a:lnTo>
                <a:lnTo>
                  <a:pt x="617163" y="898641"/>
                </a:lnTo>
                <a:lnTo>
                  <a:pt x="639205" y="914632"/>
                </a:lnTo>
                <a:lnTo>
                  <a:pt x="661246" y="930034"/>
                </a:lnTo>
                <a:lnTo>
                  <a:pt x="683288" y="944945"/>
                </a:lnTo>
                <a:lnTo>
                  <a:pt x="705329" y="959466"/>
                </a:lnTo>
                <a:lnTo>
                  <a:pt x="727371" y="973696"/>
                </a:lnTo>
                <a:lnTo>
                  <a:pt x="749412" y="987735"/>
                </a:lnTo>
                <a:lnTo>
                  <a:pt x="771454" y="1001684"/>
                </a:lnTo>
                <a:lnTo>
                  <a:pt x="793496" y="1015642"/>
                </a:lnTo>
                <a:lnTo>
                  <a:pt x="815537" y="1029285"/>
                </a:lnTo>
                <a:lnTo>
                  <a:pt x="837579" y="1042248"/>
                </a:lnTo>
                <a:lnTo>
                  <a:pt x="859620" y="1054569"/>
                </a:lnTo>
                <a:lnTo>
                  <a:pt x="881662" y="1066286"/>
                </a:lnTo>
                <a:lnTo>
                  <a:pt x="903703" y="1077436"/>
                </a:lnTo>
                <a:lnTo>
                  <a:pt x="925745" y="1088058"/>
                </a:lnTo>
                <a:lnTo>
                  <a:pt x="947786" y="1098190"/>
                </a:lnTo>
                <a:lnTo>
                  <a:pt x="969828" y="1107870"/>
                </a:lnTo>
                <a:lnTo>
                  <a:pt x="991870" y="1117136"/>
                </a:lnTo>
                <a:lnTo>
                  <a:pt x="1013911" y="1126025"/>
                </a:lnTo>
                <a:lnTo>
                  <a:pt x="1035953" y="1134576"/>
                </a:lnTo>
                <a:lnTo>
                  <a:pt x="1057994" y="1142826"/>
                </a:lnTo>
                <a:lnTo>
                  <a:pt x="1080036" y="1150815"/>
                </a:lnTo>
                <a:lnTo>
                  <a:pt x="1102077" y="1158578"/>
                </a:lnTo>
                <a:lnTo>
                  <a:pt x="1124119" y="1166156"/>
                </a:lnTo>
                <a:lnTo>
                  <a:pt x="1146160" y="1173585"/>
                </a:lnTo>
                <a:lnTo>
                  <a:pt x="1168202" y="1180903"/>
                </a:lnTo>
                <a:lnTo>
                  <a:pt x="1190243" y="1188149"/>
                </a:lnTo>
                <a:lnTo>
                  <a:pt x="1212285" y="1195190"/>
                </a:lnTo>
                <a:lnTo>
                  <a:pt x="1234327" y="1201881"/>
                </a:lnTo>
                <a:lnTo>
                  <a:pt x="1256368" y="1208239"/>
                </a:lnTo>
                <a:lnTo>
                  <a:pt x="1278410" y="1214282"/>
                </a:lnTo>
                <a:lnTo>
                  <a:pt x="1300451" y="1220028"/>
                </a:lnTo>
                <a:lnTo>
                  <a:pt x="1322493" y="1225493"/>
                </a:lnTo>
                <a:lnTo>
                  <a:pt x="1344534" y="1230696"/>
                </a:lnTo>
                <a:lnTo>
                  <a:pt x="1366576" y="1235654"/>
                </a:lnTo>
                <a:lnTo>
                  <a:pt x="1388617" y="1240386"/>
                </a:lnTo>
                <a:lnTo>
                  <a:pt x="1410659" y="1244907"/>
                </a:lnTo>
                <a:lnTo>
                  <a:pt x="1432701" y="1249237"/>
                </a:lnTo>
                <a:lnTo>
                  <a:pt x="1454742" y="1253392"/>
                </a:lnTo>
                <a:lnTo>
                  <a:pt x="1476784" y="1257390"/>
                </a:lnTo>
                <a:lnTo>
                  <a:pt x="1498825" y="1261249"/>
                </a:lnTo>
                <a:lnTo>
                  <a:pt x="1520867" y="1264987"/>
                </a:lnTo>
                <a:lnTo>
                  <a:pt x="1542908" y="1268621"/>
                </a:lnTo>
                <a:lnTo>
                  <a:pt x="1564950" y="1272168"/>
                </a:lnTo>
                <a:lnTo>
                  <a:pt x="1586992" y="1275646"/>
                </a:lnTo>
                <a:lnTo>
                  <a:pt x="1609033" y="1278992"/>
                </a:lnTo>
                <a:lnTo>
                  <a:pt x="1631075" y="1282134"/>
                </a:lnTo>
                <a:lnTo>
                  <a:pt x="1653116" y="1285082"/>
                </a:lnTo>
                <a:lnTo>
                  <a:pt x="1675158" y="1287846"/>
                </a:lnTo>
                <a:lnTo>
                  <a:pt x="1697199" y="1290434"/>
                </a:lnTo>
                <a:lnTo>
                  <a:pt x="1719241" y="1292856"/>
                </a:lnTo>
                <a:lnTo>
                  <a:pt x="1741282" y="1295122"/>
                </a:lnTo>
                <a:lnTo>
                  <a:pt x="1763324" y="1297239"/>
                </a:lnTo>
                <a:lnTo>
                  <a:pt x="1785365" y="1299219"/>
                </a:lnTo>
                <a:lnTo>
                  <a:pt x="1807407" y="1301070"/>
                </a:lnTo>
                <a:lnTo>
                  <a:pt x="1829449" y="1302801"/>
                </a:lnTo>
                <a:lnTo>
                  <a:pt x="1851490" y="1304422"/>
                </a:lnTo>
                <a:lnTo>
                  <a:pt x="1873532" y="1305941"/>
                </a:lnTo>
                <a:lnTo>
                  <a:pt x="1895573" y="1307369"/>
                </a:lnTo>
                <a:lnTo>
                  <a:pt x="1917615" y="1308714"/>
                </a:lnTo>
                <a:lnTo>
                  <a:pt x="1939656" y="1309985"/>
                </a:lnTo>
                <a:lnTo>
                  <a:pt x="1961698" y="1311193"/>
                </a:lnTo>
                <a:lnTo>
                  <a:pt x="1983740" y="1312346"/>
                </a:lnTo>
                <a:lnTo>
                  <a:pt x="2005781" y="1313408"/>
                </a:lnTo>
                <a:lnTo>
                  <a:pt x="2027823" y="1314343"/>
                </a:lnTo>
                <a:lnTo>
                  <a:pt x="2049864" y="1315156"/>
                </a:lnTo>
                <a:lnTo>
                  <a:pt x="2071906" y="1315851"/>
                </a:lnTo>
                <a:lnTo>
                  <a:pt x="2093947" y="1316434"/>
                </a:lnTo>
                <a:lnTo>
                  <a:pt x="2115989" y="1316911"/>
                </a:lnTo>
                <a:lnTo>
                  <a:pt x="2138030" y="1317286"/>
                </a:lnTo>
                <a:lnTo>
                  <a:pt x="2160072" y="1317566"/>
                </a:lnTo>
                <a:lnTo>
                  <a:pt x="2182113" y="1317755"/>
                </a:lnTo>
                <a:lnTo>
                  <a:pt x="2204155" y="1317860"/>
                </a:lnTo>
                <a:lnTo>
                  <a:pt x="2226197" y="1317884"/>
                </a:lnTo>
                <a:lnTo>
                  <a:pt x="2248238" y="1317834"/>
                </a:lnTo>
                <a:lnTo>
                  <a:pt x="2270280" y="1317715"/>
                </a:lnTo>
                <a:lnTo>
                  <a:pt x="2292321" y="1317533"/>
                </a:lnTo>
                <a:lnTo>
                  <a:pt x="2314363" y="1317292"/>
                </a:lnTo>
                <a:lnTo>
                  <a:pt x="2336404" y="1316998"/>
                </a:lnTo>
                <a:lnTo>
                  <a:pt x="2358446" y="1316656"/>
                </a:lnTo>
                <a:lnTo>
                  <a:pt x="2380487" y="1316272"/>
                </a:lnTo>
                <a:lnTo>
                  <a:pt x="2402529" y="1315825"/>
                </a:lnTo>
                <a:lnTo>
                  <a:pt x="2424571" y="1315292"/>
                </a:lnTo>
                <a:lnTo>
                  <a:pt x="2446612" y="1314677"/>
                </a:lnTo>
                <a:lnTo>
                  <a:pt x="2468654" y="1313983"/>
                </a:lnTo>
                <a:lnTo>
                  <a:pt x="2490695" y="1313213"/>
                </a:lnTo>
                <a:lnTo>
                  <a:pt x="2512737" y="1312371"/>
                </a:lnTo>
                <a:lnTo>
                  <a:pt x="2534778" y="1311460"/>
                </a:lnTo>
                <a:lnTo>
                  <a:pt x="2556820" y="1310483"/>
                </a:lnTo>
                <a:lnTo>
                  <a:pt x="2578861" y="1309443"/>
                </a:lnTo>
                <a:lnTo>
                  <a:pt x="2600903" y="1308345"/>
                </a:lnTo>
                <a:lnTo>
                  <a:pt x="2622945" y="1307191"/>
                </a:lnTo>
                <a:lnTo>
                  <a:pt x="2644986" y="1305984"/>
                </a:lnTo>
                <a:lnTo>
                  <a:pt x="2667028" y="1304728"/>
                </a:lnTo>
                <a:lnTo>
                  <a:pt x="2689069" y="1303426"/>
                </a:lnTo>
                <a:lnTo>
                  <a:pt x="2711111" y="1302081"/>
                </a:lnTo>
                <a:lnTo>
                  <a:pt x="2733152" y="1300697"/>
                </a:lnTo>
                <a:lnTo>
                  <a:pt x="2755194" y="1299277"/>
                </a:lnTo>
                <a:lnTo>
                  <a:pt x="2777235" y="1297824"/>
                </a:lnTo>
                <a:lnTo>
                  <a:pt x="2799277" y="1296325"/>
                </a:lnTo>
                <a:lnTo>
                  <a:pt x="2821319" y="1294767"/>
                </a:lnTo>
                <a:lnTo>
                  <a:pt x="2843360" y="1293150"/>
                </a:lnTo>
                <a:lnTo>
                  <a:pt x="2865402" y="1291478"/>
                </a:lnTo>
                <a:lnTo>
                  <a:pt x="2887443" y="1289752"/>
                </a:lnTo>
                <a:lnTo>
                  <a:pt x="2909485" y="1287975"/>
                </a:lnTo>
                <a:lnTo>
                  <a:pt x="2931526" y="1286149"/>
                </a:lnTo>
                <a:lnTo>
                  <a:pt x="2953568" y="1284275"/>
                </a:lnTo>
                <a:lnTo>
                  <a:pt x="2975610" y="1282357"/>
                </a:lnTo>
                <a:lnTo>
                  <a:pt x="2997651" y="1280395"/>
                </a:lnTo>
                <a:lnTo>
                  <a:pt x="3019693" y="1278393"/>
                </a:lnTo>
                <a:lnTo>
                  <a:pt x="3041734" y="1276353"/>
                </a:lnTo>
                <a:lnTo>
                  <a:pt x="3063776" y="1274276"/>
                </a:lnTo>
                <a:lnTo>
                  <a:pt x="3085817" y="1272165"/>
                </a:lnTo>
                <a:lnTo>
                  <a:pt x="3107859" y="1270023"/>
                </a:lnTo>
                <a:lnTo>
                  <a:pt x="3129900" y="1267850"/>
                </a:lnTo>
                <a:lnTo>
                  <a:pt x="3151942" y="1265649"/>
                </a:lnTo>
                <a:lnTo>
                  <a:pt x="3173984" y="1263423"/>
                </a:lnTo>
                <a:lnTo>
                  <a:pt x="3196603" y="1261082"/>
                </a:lnTo>
                <a:lnTo>
                  <a:pt x="3220244" y="1258556"/>
                </a:lnTo>
                <a:lnTo>
                  <a:pt x="3244700" y="1255874"/>
                </a:lnTo>
                <a:lnTo>
                  <a:pt x="3269769" y="1253066"/>
                </a:lnTo>
                <a:lnTo>
                  <a:pt x="3295246" y="1250163"/>
                </a:lnTo>
                <a:lnTo>
                  <a:pt x="3320927" y="1247193"/>
                </a:lnTo>
                <a:lnTo>
                  <a:pt x="3346608" y="1244187"/>
                </a:lnTo>
                <a:lnTo>
                  <a:pt x="3372085" y="1241174"/>
                </a:lnTo>
                <a:lnTo>
                  <a:pt x="3397154" y="1238185"/>
                </a:lnTo>
                <a:lnTo>
                  <a:pt x="3421611" y="1235248"/>
                </a:lnTo>
                <a:lnTo>
                  <a:pt x="3445251" y="1232395"/>
                </a:lnTo>
                <a:lnTo>
                  <a:pt x="3467871" y="1229654"/>
                </a:lnTo>
                <a:lnTo>
                  <a:pt x="3489266" y="1227056"/>
                </a:lnTo>
                <a:lnTo>
                  <a:pt x="3509233" y="1224630"/>
                </a:lnTo>
                <a:lnTo>
                  <a:pt x="3527567" y="1222407"/>
                </a:lnTo>
                <a:lnTo>
                  <a:pt x="3544064" y="1220415"/>
                </a:lnTo>
                <a:lnTo>
                  <a:pt x="3558520" y="1218685"/>
                </a:lnTo>
                <a:lnTo>
                  <a:pt x="3570731" y="1217246"/>
                </a:lnTo>
              </a:path>
            </a:pathLst>
          </a:custGeom>
          <a:noFill/>
          <a:ln w="35560" cap="rnd">
            <a:solidFill>
              <a:srgbClr val="8B2E2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CLK04"/>
          <p:cNvSpPr/>
          <p:nvPr/>
        </p:nvSpPr>
        <p:spPr>
          <a:xfrm>
            <a:off x="5435280" y="376920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8B2E2E"/>
                </a:solidFill>
                <a:effectLst/>
                <a:uFillTx/>
                <a:latin typeface="Calibri"/>
              </a:rPr>
              <a:t>ATC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CLK05"/>
          <p:cNvCxnSpPr/>
          <p:nvPr/>
        </p:nvCxnSpPr>
        <p:spPr>
          <a:xfrm>
            <a:off x="3227760" y="3628440"/>
            <a:ext cx="720" cy="1858320"/>
          </a:xfrm>
          <a:prstGeom prst="straightConnector1">
            <a:avLst/>
          </a:prstGeom>
          <a:ln w="17780">
            <a:solidFill>
              <a:srgbClr val="0B2B4E"/>
            </a:solidFill>
            <a:prstDash val="dash"/>
            <a:round/>
          </a:ln>
        </p:spPr>
      </p:cxnSp>
      <p:sp>
        <p:nvSpPr>
          <p:cNvPr id="280" name="CLK05"/>
          <p:cNvSpPr/>
          <p:nvPr/>
        </p:nvSpPr>
        <p:spPr>
          <a:xfrm>
            <a:off x="3173040" y="4431600"/>
            <a:ext cx="109440" cy="1094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CLK05"/>
          <p:cNvSpPr/>
          <p:nvPr/>
        </p:nvSpPr>
        <p:spPr>
          <a:xfrm>
            <a:off x="1280160" y="3628440"/>
            <a:ext cx="1947240" cy="2466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CLK05"/>
          <p:cNvSpPr/>
          <p:nvPr/>
        </p:nvSpPr>
        <p:spPr>
          <a:xfrm>
            <a:off x="1280160" y="3875400"/>
            <a:ext cx="1947240" cy="1110600"/>
          </a:xfrm>
          <a:prstGeom prst="rect">
            <a:avLst/>
          </a:prstGeom>
          <a:solidFill>
            <a:srgbClr val="BDD7EE">
              <a:alpha val="78000"/>
            </a:srgbClr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CLK05"/>
          <p:cNvSpPr/>
          <p:nvPr/>
        </p:nvSpPr>
        <p:spPr>
          <a:xfrm>
            <a:off x="713160" y="34822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ATC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CLK05"/>
          <p:cNvSpPr/>
          <p:nvPr/>
        </p:nvSpPr>
        <p:spPr>
          <a:xfrm>
            <a:off x="713160" y="372924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CLK05"/>
          <p:cNvSpPr/>
          <p:nvPr/>
        </p:nvSpPr>
        <p:spPr>
          <a:xfrm>
            <a:off x="713160" y="48402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AVC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CLK05"/>
          <p:cNvSpPr/>
          <p:nvPr/>
        </p:nvSpPr>
        <p:spPr>
          <a:xfrm>
            <a:off x="2770560" y="55411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CLK05"/>
          <p:cNvSpPr/>
          <p:nvPr/>
        </p:nvSpPr>
        <p:spPr>
          <a:xfrm>
            <a:off x="3546360" y="3751920"/>
            <a:ext cx="1096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i="1" u="none" strike="noStrike">
                <a:solidFill>
                  <a:srgbClr val="7A6A1E"/>
                </a:solidFill>
                <a:effectLst/>
                <a:uFillTx/>
                <a:latin typeface="Calibri"/>
              </a:rPr>
              <a:t>Loss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CLK05"/>
          <p:cNvSpPr/>
          <p:nvPr/>
        </p:nvSpPr>
        <p:spPr>
          <a:xfrm>
            <a:off x="1410120" y="44308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Contribution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9" name="CLK05"/>
          <p:cNvCxnSpPr/>
          <p:nvPr/>
        </p:nvCxnSpPr>
        <p:spPr>
          <a:xfrm flipH="1" flipV="1">
            <a:off x="2805480" y="3701160"/>
            <a:ext cx="585000" cy="100440"/>
          </a:xfrm>
          <a:prstGeom prst="straightConnector1">
            <a:avLst/>
          </a:prstGeom>
          <a:ln w="25400">
            <a:solidFill>
              <a:srgbClr val="7A6A1E"/>
            </a:solidFill>
            <a:round/>
            <a:tailEnd type="triangle" w="med" len="med"/>
          </a:ln>
        </p:spPr>
      </p:cxnSp>
      <p:sp>
        <p:nvSpPr>
          <p:cNvPr id="290" name="Rounded Rectangle 36"/>
          <p:cNvSpPr/>
          <p:nvPr/>
        </p:nvSpPr>
        <p:spPr>
          <a:xfrm>
            <a:off x="640080" y="5989320"/>
            <a:ext cx="10881000" cy="548280"/>
          </a:xfrm>
          <a:prstGeom prst="roundRect">
            <a:avLst>
              <a:gd name="adj" fmla="val 16667"/>
            </a:avLst>
          </a:prstGeom>
          <a:solidFill>
            <a:srgbClr val="E09F3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6720" rIns="90000" bIns="36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Losses because P &lt; ATC  —  but P ≥ AVC, so keep producing to cover fixed costs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Maximization: Gracias Madre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Picture 10" descr="s10_0_10388.png"/>
          <p:cNvPicPr/>
          <p:nvPr/>
        </p:nvPicPr>
        <p:blipFill>
          <a:blip r:embed="rId3"/>
          <a:stretch/>
        </p:blipFill>
        <p:spPr>
          <a:xfrm>
            <a:off x="8778240" y="1600200"/>
            <a:ext cx="2651400" cy="57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Rectangle 11"/>
          <p:cNvSpPr/>
          <p:nvPr/>
        </p:nvSpPr>
        <p:spPr>
          <a:xfrm>
            <a:off x="530280" y="2112120"/>
            <a:ext cx="155160" cy="1551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12"/>
          <p:cNvSpPr/>
          <p:nvPr/>
        </p:nvSpPr>
        <p:spPr>
          <a:xfrm>
            <a:off x="868680" y="196596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restaurant's demand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3"/>
          <p:cNvSpPr/>
          <p:nvPr/>
        </p:nvSpPr>
        <p:spPr>
          <a:xfrm>
            <a:off x="1234440" y="265176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60 − </a:t>
            </a: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/10,000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14"/>
          <p:cNvSpPr/>
          <p:nvPr/>
        </p:nvSpPr>
        <p:spPr>
          <a:xfrm>
            <a:off x="530280" y="3666600"/>
            <a:ext cx="155160" cy="1551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15"/>
          <p:cNvSpPr/>
          <p:nvPr/>
        </p:nvSpPr>
        <p:spPr>
          <a:xfrm>
            <a:off x="868680" y="352044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total cost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6"/>
          <p:cNvSpPr/>
          <p:nvPr/>
        </p:nvSpPr>
        <p:spPr>
          <a:xfrm>
            <a:off x="1234440" y="420624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TC = 2,000 − 10</a:t>
            </a: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+ 0.20</a:t>
            </a: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²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17"/>
          <p:cNvSpPr/>
          <p:nvPr/>
        </p:nvSpPr>
        <p:spPr>
          <a:xfrm>
            <a:off x="530280" y="5175360"/>
            <a:ext cx="155160" cy="1551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8"/>
          <p:cNvSpPr/>
          <p:nvPr/>
        </p:nvSpPr>
        <p:spPr>
          <a:xfrm>
            <a:off x="868680" y="50292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What are </a:t>
            </a:r>
            <a:r>
              <a:rPr lang="en-US" sz="24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P*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and </a:t>
            </a:r>
            <a:r>
              <a:rPr lang="en-US" sz="24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Q*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9"/>
          <p:cNvSpPr/>
          <p:nvPr/>
        </p:nvSpPr>
        <p:spPr>
          <a:xfrm>
            <a:off x="4358520" y="5989320"/>
            <a:ext cx="3474360" cy="456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Problem Set 4  ·  #1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arallelogram 20"/>
          <p:cNvSpPr/>
          <p:nvPr/>
        </p:nvSpPr>
        <p:spPr>
          <a:xfrm>
            <a:off x="9082800" y="5943600"/>
            <a:ext cx="2742840" cy="548280"/>
          </a:xfrm>
          <a:prstGeom prst="parallelogram">
            <a:avLst>
              <a:gd name="adj" fmla="val 25000"/>
            </a:avLst>
          </a:prstGeom>
          <a:solidFill>
            <a:srgbClr val="E0A21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Group exercise break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Gracias Madre: Solving for P* and Q*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Picture 10" descr="s10_0_10388.png"/>
          <p:cNvPicPr/>
          <p:nvPr/>
        </p:nvPicPr>
        <p:blipFill>
          <a:blip r:embed="rId2"/>
          <a:stretch/>
        </p:blipFill>
        <p:spPr>
          <a:xfrm>
            <a:off x="8869680" y="1554480"/>
            <a:ext cx="2559960" cy="55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Oval 11"/>
          <p:cNvSpPr/>
          <p:nvPr/>
        </p:nvSpPr>
        <p:spPr>
          <a:xfrm>
            <a:off x="640080" y="1691640"/>
            <a:ext cx="438480" cy="43848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1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2"/>
          <p:cNvSpPr/>
          <p:nvPr/>
        </p:nvSpPr>
        <p:spPr>
          <a:xfrm>
            <a:off x="1234440" y="16732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Marginal revenue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3"/>
          <p:cNvSpPr/>
          <p:nvPr/>
        </p:nvSpPr>
        <p:spPr>
          <a:xfrm>
            <a:off x="1280160" y="22129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TR = 60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− 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²/10,000        MR = 60 − 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/5,000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Oval 14"/>
          <p:cNvSpPr/>
          <p:nvPr/>
        </p:nvSpPr>
        <p:spPr>
          <a:xfrm>
            <a:off x="640080" y="2880360"/>
            <a:ext cx="438480" cy="43848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2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5"/>
          <p:cNvSpPr/>
          <p:nvPr/>
        </p:nvSpPr>
        <p:spPr>
          <a:xfrm>
            <a:off x="1234440" y="28620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Marginal cost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6"/>
          <p:cNvSpPr/>
          <p:nvPr/>
        </p:nvSpPr>
        <p:spPr>
          <a:xfrm>
            <a:off x="1280160" y="34016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MC = −10 + 0.4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Oval 17"/>
          <p:cNvSpPr/>
          <p:nvPr/>
        </p:nvSpPr>
        <p:spPr>
          <a:xfrm>
            <a:off x="640080" y="4069080"/>
            <a:ext cx="438480" cy="438480"/>
          </a:xfrm>
          <a:prstGeom prst="ellipse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3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8"/>
          <p:cNvSpPr/>
          <p:nvPr/>
        </p:nvSpPr>
        <p:spPr>
          <a:xfrm>
            <a:off x="1234440" y="40507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Set MR = MC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9"/>
          <p:cNvSpPr/>
          <p:nvPr/>
        </p:nvSpPr>
        <p:spPr>
          <a:xfrm>
            <a:off x="1280160" y="459036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60 − 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/5,000 = −10 + 0.4</a:t>
            </a: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ounded Rectangle 20"/>
          <p:cNvSpPr/>
          <p:nvPr/>
        </p:nvSpPr>
        <p:spPr>
          <a:xfrm>
            <a:off x="2926080" y="5257800"/>
            <a:ext cx="6309000" cy="91404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21"/>
          <p:cNvSpPr/>
          <p:nvPr/>
        </p:nvSpPr>
        <p:spPr>
          <a:xfrm>
            <a:off x="2926080" y="5596200"/>
            <a:ext cx="63090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 = 175 units,     </a:t>
            </a: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 = $59.98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Fixed Cost Does Not Impact Price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1" name="Connector 10"/>
          <p:cNvCxnSpPr/>
          <p:nvPr/>
        </p:nvCxnSpPr>
        <p:spPr>
          <a:xfrm flipV="1">
            <a:off x="822960" y="1691640"/>
            <a:ext cx="720" cy="429804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cxnSp>
        <p:nvCxnSpPr>
          <p:cNvPr id="342" name="Connector 11"/>
          <p:cNvCxnSpPr/>
          <p:nvPr/>
        </p:nvCxnSpPr>
        <p:spPr>
          <a:xfrm>
            <a:off x="822960" y="5989320"/>
            <a:ext cx="6264000" cy="720"/>
          </a:xfrm>
          <a:prstGeom prst="straightConnector1">
            <a:avLst/>
          </a:prstGeom>
          <a:ln w="25400">
            <a:solidFill>
              <a:srgbClr val="0B2B4E"/>
            </a:solidFill>
            <a:round/>
            <a:tailEnd type="triangle" w="med" len="med"/>
          </a:ln>
        </p:spPr>
      </p:cxnSp>
      <p:sp>
        <p:nvSpPr>
          <p:cNvPr id="343" name="TextBox 12"/>
          <p:cNvSpPr/>
          <p:nvPr/>
        </p:nvSpPr>
        <p:spPr>
          <a:xfrm>
            <a:off x="685800" y="130752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6995160" y="604404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5" name="CLK00"/>
          <p:cNvCxnSpPr/>
          <p:nvPr/>
        </p:nvCxnSpPr>
        <p:spPr>
          <a:xfrm>
            <a:off x="822960" y="4994640"/>
            <a:ext cx="5111640" cy="720"/>
          </a:xfrm>
          <a:prstGeom prst="straightConnector1">
            <a:avLst/>
          </a:prstGeom>
          <a:ln w="34290">
            <a:solidFill>
              <a:srgbClr val="3E77C0"/>
            </a:solidFill>
            <a:round/>
          </a:ln>
        </p:spPr>
      </p:cxnSp>
      <p:sp>
        <p:nvSpPr>
          <p:cNvPr id="346" name="CLK00"/>
          <p:cNvSpPr/>
          <p:nvPr/>
        </p:nvSpPr>
        <p:spPr>
          <a:xfrm>
            <a:off x="4567320" y="468396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i="1" u="none" strike="noStrike">
                <a:solidFill>
                  <a:srgbClr val="3E77C0"/>
                </a:solidFill>
                <a:effectLst/>
                <a:uFillTx/>
                <a:latin typeface="Calibri"/>
              </a:rPr>
              <a:t>MC = AVC = ATC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CLK01"/>
          <p:cNvSpPr/>
          <p:nvPr/>
        </p:nvSpPr>
        <p:spPr>
          <a:xfrm>
            <a:off x="822960" y="2807280"/>
            <a:ext cx="4754520" cy="3181680"/>
          </a:xfrm>
          <a:custGeom>
            <a:avLst/>
            <a:gdLst>
              <a:gd name="textAreaLeft" fmla="*/ 0 w 4754520"/>
              <a:gd name="textAreaRight" fmla="*/ 4754880 w 4754520"/>
              <a:gd name="textAreaTop" fmla="*/ 0 h 3181680"/>
              <a:gd name="textAreaBottom" fmla="*/ 3182040 h 3181680"/>
            </a:gdLst>
            <a:ahLst/>
            <a:cxnLst/>
            <a:rect l="textAreaLeft" t="textAreaTop" r="textAreaRight" b="textAreaBottom"/>
            <a:pathLst>
              <a:path w="4754880" h="3182112">
                <a:moveTo>
                  <a:pt x="0" y="0"/>
                </a:moveTo>
                <a:lnTo>
                  <a:pt x="4754880" y="3182112"/>
                </a:lnTo>
              </a:path>
            </a:pathLst>
          </a:custGeom>
          <a:noFill/>
          <a:ln w="38100" cap="rnd">
            <a:solidFill>
              <a:srgbClr val="C0201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CLK01"/>
          <p:cNvSpPr/>
          <p:nvPr/>
        </p:nvSpPr>
        <p:spPr>
          <a:xfrm>
            <a:off x="5340240" y="5770440"/>
            <a:ext cx="639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CLK02"/>
          <p:cNvSpPr/>
          <p:nvPr/>
        </p:nvSpPr>
        <p:spPr>
          <a:xfrm>
            <a:off x="822960" y="2807280"/>
            <a:ext cx="2377080" cy="3181680"/>
          </a:xfrm>
          <a:custGeom>
            <a:avLst/>
            <a:gdLst>
              <a:gd name="textAreaLeft" fmla="*/ 0 w 2377080"/>
              <a:gd name="textAreaRight" fmla="*/ 2377440 w 2377080"/>
              <a:gd name="textAreaTop" fmla="*/ 0 h 3181680"/>
              <a:gd name="textAreaBottom" fmla="*/ 3182040 h 3181680"/>
            </a:gdLst>
            <a:ahLst/>
            <a:cxnLst/>
            <a:rect l="textAreaLeft" t="textAreaTop" r="textAreaRight" b="textAreaBottom"/>
            <a:pathLst>
              <a:path w="2377440" h="3182112">
                <a:moveTo>
                  <a:pt x="0" y="0"/>
                </a:moveTo>
                <a:lnTo>
                  <a:pt x="2377440" y="3182112"/>
                </a:lnTo>
              </a:path>
            </a:pathLst>
          </a:custGeom>
          <a:noFill/>
          <a:ln w="35560" cap="rnd">
            <a:solidFill>
              <a:srgbClr val="C0201B"/>
            </a:solidFill>
            <a:prstDash val="sysDot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CLK02"/>
          <p:cNvSpPr/>
          <p:nvPr/>
        </p:nvSpPr>
        <p:spPr>
          <a:xfrm>
            <a:off x="3022200" y="5770440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i="1" u="none" strike="noStrike">
                <a:solidFill>
                  <a:srgbClr val="C0201B"/>
                </a:solidFill>
                <a:effectLst/>
                <a:uFillTx/>
                <a:latin typeface="Calibri"/>
              </a:rPr>
              <a:t>MR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1" name="CLK03"/>
          <p:cNvCxnSpPr/>
          <p:nvPr/>
        </p:nvCxnSpPr>
        <p:spPr>
          <a:xfrm>
            <a:off x="2457360" y="3900960"/>
            <a:ext cx="720" cy="2088720"/>
          </a:xfrm>
          <a:prstGeom prst="straightConnector1">
            <a:avLst/>
          </a:prstGeom>
          <a:ln w="17780">
            <a:solidFill>
              <a:srgbClr val="0B2B4E"/>
            </a:solidFill>
            <a:prstDash val="dash"/>
            <a:round/>
          </a:ln>
        </p:spPr>
      </p:cxnSp>
      <p:sp>
        <p:nvSpPr>
          <p:cNvPr id="352" name="CLK03"/>
          <p:cNvSpPr/>
          <p:nvPr/>
        </p:nvSpPr>
        <p:spPr>
          <a:xfrm>
            <a:off x="2402640" y="4939920"/>
            <a:ext cx="109440" cy="1094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CLK03"/>
          <p:cNvSpPr/>
          <p:nvPr/>
        </p:nvSpPr>
        <p:spPr>
          <a:xfrm>
            <a:off x="2402640" y="3846240"/>
            <a:ext cx="109440" cy="1094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2760" rIns="90000" bIns="3276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CLK03"/>
          <p:cNvSpPr/>
          <p:nvPr/>
        </p:nvSpPr>
        <p:spPr>
          <a:xfrm>
            <a:off x="822960" y="3900960"/>
            <a:ext cx="1634040" cy="109332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CLK03"/>
          <p:cNvSpPr/>
          <p:nvPr/>
        </p:nvSpPr>
        <p:spPr>
          <a:xfrm>
            <a:off x="274320" y="375480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CLK03"/>
          <p:cNvSpPr/>
          <p:nvPr/>
        </p:nvSpPr>
        <p:spPr>
          <a:xfrm>
            <a:off x="2000160" y="60440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Q*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CLK03"/>
          <p:cNvSpPr/>
          <p:nvPr/>
        </p:nvSpPr>
        <p:spPr>
          <a:xfrm>
            <a:off x="1149840" y="4400280"/>
            <a:ext cx="1188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CLK03"/>
          <p:cNvSpPr/>
          <p:nvPr/>
        </p:nvSpPr>
        <p:spPr>
          <a:xfrm>
            <a:off x="1149840" y="4615200"/>
            <a:ext cx="12798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if TFC=0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CLK04"/>
          <p:cNvSpPr/>
          <p:nvPr/>
        </p:nvSpPr>
        <p:spPr>
          <a:xfrm>
            <a:off x="1566000" y="2588400"/>
            <a:ext cx="4249440" cy="2048040"/>
          </a:xfrm>
          <a:custGeom>
            <a:avLst/>
            <a:gdLst>
              <a:gd name="textAreaLeft" fmla="*/ 0 w 4249440"/>
              <a:gd name="textAreaRight" fmla="*/ 4249800 w 4249440"/>
              <a:gd name="textAreaTop" fmla="*/ 0 h 2048040"/>
              <a:gd name="textAreaBottom" fmla="*/ 2048400 h 2048040"/>
            </a:gdLst>
            <a:ahLst/>
            <a:cxnLst/>
            <a:rect l="textAreaLeft" t="textAreaTop" r="textAreaRight" b="textAreaBottom"/>
            <a:pathLst>
              <a:path w="4249674" h="2048367">
                <a:moveTo>
                  <a:pt x="0" y="0"/>
                </a:moveTo>
                <a:lnTo>
                  <a:pt x="13079" y="27632"/>
                </a:lnTo>
                <a:lnTo>
                  <a:pt x="28564" y="61420"/>
                </a:lnTo>
                <a:lnTo>
                  <a:pt x="46234" y="100674"/>
                </a:lnTo>
                <a:lnTo>
                  <a:pt x="65872" y="144703"/>
                </a:lnTo>
                <a:lnTo>
                  <a:pt x="87259" y="192816"/>
                </a:lnTo>
                <a:lnTo>
                  <a:pt x="110176" y="244322"/>
                </a:lnTo>
                <a:lnTo>
                  <a:pt x="134405" y="298531"/>
                </a:lnTo>
                <a:lnTo>
                  <a:pt x="159727" y="354752"/>
                </a:lnTo>
                <a:lnTo>
                  <a:pt x="185923" y="412293"/>
                </a:lnTo>
                <a:lnTo>
                  <a:pt x="212775" y="470465"/>
                </a:lnTo>
                <a:lnTo>
                  <a:pt x="240064" y="528577"/>
                </a:lnTo>
                <a:lnTo>
                  <a:pt x="267572" y="585937"/>
                </a:lnTo>
                <a:lnTo>
                  <a:pt x="295079" y="641855"/>
                </a:lnTo>
                <a:lnTo>
                  <a:pt x="322368" y="695640"/>
                </a:lnTo>
                <a:lnTo>
                  <a:pt x="349220" y="746602"/>
                </a:lnTo>
                <a:lnTo>
                  <a:pt x="375417" y="794049"/>
                </a:lnTo>
                <a:lnTo>
                  <a:pt x="400738" y="837291"/>
                </a:lnTo>
                <a:lnTo>
                  <a:pt x="424967" y="875638"/>
                </a:lnTo>
                <a:lnTo>
                  <a:pt x="448576" y="910155"/>
                </a:lnTo>
                <a:lnTo>
                  <a:pt x="472186" y="942470"/>
                </a:lnTo>
                <a:lnTo>
                  <a:pt x="495795" y="972736"/>
                </a:lnTo>
                <a:lnTo>
                  <a:pt x="519404" y="1001105"/>
                </a:lnTo>
                <a:lnTo>
                  <a:pt x="543013" y="1027727"/>
                </a:lnTo>
                <a:lnTo>
                  <a:pt x="566623" y="1052756"/>
                </a:lnTo>
                <a:lnTo>
                  <a:pt x="590232" y="1076343"/>
                </a:lnTo>
                <a:lnTo>
                  <a:pt x="613841" y="1098639"/>
                </a:lnTo>
                <a:lnTo>
                  <a:pt x="637451" y="1119797"/>
                </a:lnTo>
                <a:lnTo>
                  <a:pt x="661060" y="1139969"/>
                </a:lnTo>
                <a:lnTo>
                  <a:pt x="684669" y="1159306"/>
                </a:lnTo>
                <a:lnTo>
                  <a:pt x="708279" y="1177960"/>
                </a:lnTo>
                <a:lnTo>
                  <a:pt x="731888" y="1196084"/>
                </a:lnTo>
                <a:lnTo>
                  <a:pt x="755497" y="1213828"/>
                </a:lnTo>
                <a:lnTo>
                  <a:pt x="779106" y="1231345"/>
                </a:lnTo>
                <a:lnTo>
                  <a:pt x="802716" y="1248786"/>
                </a:lnTo>
                <a:lnTo>
                  <a:pt x="826325" y="1266304"/>
                </a:lnTo>
                <a:lnTo>
                  <a:pt x="849934" y="1284051"/>
                </a:lnTo>
                <a:lnTo>
                  <a:pt x="873544" y="1301566"/>
                </a:lnTo>
                <a:lnTo>
                  <a:pt x="897153" y="1318318"/>
                </a:lnTo>
                <a:lnTo>
                  <a:pt x="920762" y="1334356"/>
                </a:lnTo>
                <a:lnTo>
                  <a:pt x="944372" y="1349723"/>
                </a:lnTo>
                <a:lnTo>
                  <a:pt x="967981" y="1364468"/>
                </a:lnTo>
                <a:lnTo>
                  <a:pt x="991590" y="1378635"/>
                </a:lnTo>
                <a:lnTo>
                  <a:pt x="1015199" y="1392271"/>
                </a:lnTo>
                <a:lnTo>
                  <a:pt x="1038809" y="1405423"/>
                </a:lnTo>
                <a:lnTo>
                  <a:pt x="1062418" y="1418136"/>
                </a:lnTo>
                <a:lnTo>
                  <a:pt x="1086027" y="1430457"/>
                </a:lnTo>
                <a:lnTo>
                  <a:pt x="1109637" y="1442431"/>
                </a:lnTo>
                <a:lnTo>
                  <a:pt x="1133246" y="1454105"/>
                </a:lnTo>
                <a:lnTo>
                  <a:pt x="1156855" y="1465526"/>
                </a:lnTo>
                <a:lnTo>
                  <a:pt x="1180465" y="1476739"/>
                </a:lnTo>
                <a:lnTo>
                  <a:pt x="1204074" y="1487790"/>
                </a:lnTo>
                <a:lnTo>
                  <a:pt x="1227683" y="1498726"/>
                </a:lnTo>
                <a:lnTo>
                  <a:pt x="1251292" y="1509593"/>
                </a:lnTo>
                <a:lnTo>
                  <a:pt x="1274902" y="1520437"/>
                </a:lnTo>
                <a:lnTo>
                  <a:pt x="1298511" y="1531105"/>
                </a:lnTo>
                <a:lnTo>
                  <a:pt x="1322120" y="1541425"/>
                </a:lnTo>
                <a:lnTo>
                  <a:pt x="1345730" y="1551415"/>
                </a:lnTo>
                <a:lnTo>
                  <a:pt x="1369339" y="1561096"/>
                </a:lnTo>
                <a:lnTo>
                  <a:pt x="1392948" y="1570485"/>
                </a:lnTo>
                <a:lnTo>
                  <a:pt x="1416558" y="1579601"/>
                </a:lnTo>
                <a:lnTo>
                  <a:pt x="1440167" y="1588464"/>
                </a:lnTo>
                <a:lnTo>
                  <a:pt x="1463776" y="1597091"/>
                </a:lnTo>
                <a:lnTo>
                  <a:pt x="1487385" y="1605503"/>
                </a:lnTo>
                <a:lnTo>
                  <a:pt x="1510995" y="1613716"/>
                </a:lnTo>
                <a:lnTo>
                  <a:pt x="1534604" y="1621752"/>
                </a:lnTo>
                <a:lnTo>
                  <a:pt x="1558213" y="1629627"/>
                </a:lnTo>
                <a:lnTo>
                  <a:pt x="1581823" y="1637362"/>
                </a:lnTo>
                <a:lnTo>
                  <a:pt x="1605432" y="1644974"/>
                </a:lnTo>
                <a:lnTo>
                  <a:pt x="1629041" y="1652483"/>
                </a:lnTo>
                <a:lnTo>
                  <a:pt x="1652651" y="1659907"/>
                </a:lnTo>
                <a:lnTo>
                  <a:pt x="1676260" y="1667265"/>
                </a:lnTo>
                <a:lnTo>
                  <a:pt x="1699869" y="1674577"/>
                </a:lnTo>
                <a:lnTo>
                  <a:pt x="1723478" y="1681775"/>
                </a:lnTo>
                <a:lnTo>
                  <a:pt x="1747088" y="1688787"/>
                </a:lnTo>
                <a:lnTo>
                  <a:pt x="1770697" y="1695621"/>
                </a:lnTo>
                <a:lnTo>
                  <a:pt x="1794306" y="1702287"/>
                </a:lnTo>
                <a:lnTo>
                  <a:pt x="1817916" y="1708794"/>
                </a:lnTo>
                <a:lnTo>
                  <a:pt x="1841525" y="1715150"/>
                </a:lnTo>
                <a:lnTo>
                  <a:pt x="1865134" y="1721366"/>
                </a:lnTo>
                <a:lnTo>
                  <a:pt x="1888744" y="1727450"/>
                </a:lnTo>
                <a:lnTo>
                  <a:pt x="1912353" y="1733410"/>
                </a:lnTo>
                <a:lnTo>
                  <a:pt x="1935962" y="1739258"/>
                </a:lnTo>
                <a:lnTo>
                  <a:pt x="1959571" y="1745000"/>
                </a:lnTo>
                <a:lnTo>
                  <a:pt x="1983181" y="1750647"/>
                </a:lnTo>
                <a:lnTo>
                  <a:pt x="2006790" y="1756208"/>
                </a:lnTo>
                <a:lnTo>
                  <a:pt x="2030399" y="1761692"/>
                </a:lnTo>
                <a:lnTo>
                  <a:pt x="2054009" y="1767107"/>
                </a:lnTo>
                <a:lnTo>
                  <a:pt x="2077618" y="1772463"/>
                </a:lnTo>
                <a:lnTo>
                  <a:pt x="2101227" y="1777769"/>
                </a:lnTo>
                <a:lnTo>
                  <a:pt x="2124837" y="1783034"/>
                </a:lnTo>
                <a:lnTo>
                  <a:pt x="2148446" y="1788225"/>
                </a:lnTo>
                <a:lnTo>
                  <a:pt x="2172055" y="1793304"/>
                </a:lnTo>
                <a:lnTo>
                  <a:pt x="2195664" y="1798277"/>
                </a:lnTo>
                <a:lnTo>
                  <a:pt x="2219274" y="1803149"/>
                </a:lnTo>
                <a:lnTo>
                  <a:pt x="2242883" y="1807925"/>
                </a:lnTo>
                <a:lnTo>
                  <a:pt x="2266492" y="1812610"/>
                </a:lnTo>
                <a:lnTo>
                  <a:pt x="2290102" y="1817208"/>
                </a:lnTo>
                <a:lnTo>
                  <a:pt x="2313711" y="1821724"/>
                </a:lnTo>
                <a:lnTo>
                  <a:pt x="2337320" y="1826164"/>
                </a:lnTo>
                <a:lnTo>
                  <a:pt x="2360930" y="1830533"/>
                </a:lnTo>
                <a:lnTo>
                  <a:pt x="2384539" y="1834835"/>
                </a:lnTo>
                <a:lnTo>
                  <a:pt x="2408148" y="1839075"/>
                </a:lnTo>
                <a:lnTo>
                  <a:pt x="2431757" y="1843258"/>
                </a:lnTo>
                <a:lnTo>
                  <a:pt x="2455367" y="1847390"/>
                </a:lnTo>
                <a:lnTo>
                  <a:pt x="2478976" y="1851474"/>
                </a:lnTo>
                <a:lnTo>
                  <a:pt x="2502585" y="1855517"/>
                </a:lnTo>
                <a:lnTo>
                  <a:pt x="2526195" y="1859522"/>
                </a:lnTo>
                <a:lnTo>
                  <a:pt x="2549804" y="1863496"/>
                </a:lnTo>
                <a:lnTo>
                  <a:pt x="2573413" y="1867418"/>
                </a:lnTo>
                <a:lnTo>
                  <a:pt x="2597023" y="1871270"/>
                </a:lnTo>
                <a:lnTo>
                  <a:pt x="2620632" y="1875052"/>
                </a:lnTo>
                <a:lnTo>
                  <a:pt x="2644241" y="1878770"/>
                </a:lnTo>
                <a:lnTo>
                  <a:pt x="2667850" y="1882424"/>
                </a:lnTo>
                <a:lnTo>
                  <a:pt x="2691460" y="1886019"/>
                </a:lnTo>
                <a:lnTo>
                  <a:pt x="2715069" y="1889557"/>
                </a:lnTo>
                <a:lnTo>
                  <a:pt x="2738678" y="1893042"/>
                </a:lnTo>
                <a:lnTo>
                  <a:pt x="2762288" y="1896475"/>
                </a:lnTo>
                <a:lnTo>
                  <a:pt x="2785897" y="1899860"/>
                </a:lnTo>
                <a:lnTo>
                  <a:pt x="2809506" y="1903200"/>
                </a:lnTo>
                <a:lnTo>
                  <a:pt x="2833116" y="1906498"/>
                </a:lnTo>
                <a:lnTo>
                  <a:pt x="2856725" y="1909757"/>
                </a:lnTo>
                <a:lnTo>
                  <a:pt x="2880334" y="1912979"/>
                </a:lnTo>
                <a:lnTo>
                  <a:pt x="2903943" y="1916168"/>
                </a:lnTo>
                <a:lnTo>
                  <a:pt x="2927553" y="1919326"/>
                </a:lnTo>
                <a:lnTo>
                  <a:pt x="2951162" y="1922457"/>
                </a:lnTo>
                <a:lnTo>
                  <a:pt x="2974771" y="1925563"/>
                </a:lnTo>
                <a:lnTo>
                  <a:pt x="2998381" y="1928632"/>
                </a:lnTo>
                <a:lnTo>
                  <a:pt x="3021990" y="1931654"/>
                </a:lnTo>
                <a:lnTo>
                  <a:pt x="3045599" y="1934628"/>
                </a:lnTo>
                <a:lnTo>
                  <a:pt x="3069209" y="1937558"/>
                </a:lnTo>
                <a:lnTo>
                  <a:pt x="3092818" y="1940445"/>
                </a:lnTo>
                <a:lnTo>
                  <a:pt x="3116427" y="1943290"/>
                </a:lnTo>
                <a:lnTo>
                  <a:pt x="3140036" y="1946097"/>
                </a:lnTo>
                <a:lnTo>
                  <a:pt x="3163646" y="1948866"/>
                </a:lnTo>
                <a:lnTo>
                  <a:pt x="3187255" y="1951599"/>
                </a:lnTo>
                <a:lnTo>
                  <a:pt x="3210864" y="1954298"/>
                </a:lnTo>
                <a:lnTo>
                  <a:pt x="3234474" y="1956966"/>
                </a:lnTo>
                <a:lnTo>
                  <a:pt x="3258083" y="1959603"/>
                </a:lnTo>
                <a:lnTo>
                  <a:pt x="3281692" y="1962212"/>
                </a:lnTo>
                <a:lnTo>
                  <a:pt x="3305302" y="1964794"/>
                </a:lnTo>
                <a:lnTo>
                  <a:pt x="3328911" y="1967352"/>
                </a:lnTo>
                <a:lnTo>
                  <a:pt x="3352520" y="1969887"/>
                </a:lnTo>
                <a:lnTo>
                  <a:pt x="3376129" y="1972401"/>
                </a:lnTo>
                <a:lnTo>
                  <a:pt x="3399739" y="1974896"/>
                </a:lnTo>
                <a:lnTo>
                  <a:pt x="3423348" y="1977364"/>
                </a:lnTo>
                <a:lnTo>
                  <a:pt x="3446957" y="1979798"/>
                </a:lnTo>
                <a:lnTo>
                  <a:pt x="3470567" y="1982198"/>
                </a:lnTo>
                <a:lnTo>
                  <a:pt x="3494176" y="1984567"/>
                </a:lnTo>
                <a:lnTo>
                  <a:pt x="3517785" y="1986905"/>
                </a:lnTo>
                <a:lnTo>
                  <a:pt x="3541395" y="1989213"/>
                </a:lnTo>
                <a:lnTo>
                  <a:pt x="3565004" y="1991493"/>
                </a:lnTo>
                <a:lnTo>
                  <a:pt x="3588613" y="1993746"/>
                </a:lnTo>
                <a:lnTo>
                  <a:pt x="3612222" y="1995973"/>
                </a:lnTo>
                <a:lnTo>
                  <a:pt x="3635832" y="1998176"/>
                </a:lnTo>
                <a:lnTo>
                  <a:pt x="3659441" y="2000354"/>
                </a:lnTo>
                <a:lnTo>
                  <a:pt x="3683050" y="2002511"/>
                </a:lnTo>
                <a:lnTo>
                  <a:pt x="3706660" y="2004646"/>
                </a:lnTo>
                <a:lnTo>
                  <a:pt x="3730269" y="2006762"/>
                </a:lnTo>
                <a:lnTo>
                  <a:pt x="3753878" y="2008859"/>
                </a:lnTo>
                <a:lnTo>
                  <a:pt x="3777488" y="2010938"/>
                </a:lnTo>
                <a:lnTo>
                  <a:pt x="3801097" y="2013001"/>
                </a:lnTo>
                <a:lnTo>
                  <a:pt x="3824706" y="2015049"/>
                </a:lnTo>
                <a:lnTo>
                  <a:pt x="3848935" y="2017118"/>
                </a:lnTo>
                <a:lnTo>
                  <a:pt x="3874256" y="2019234"/>
                </a:lnTo>
                <a:lnTo>
                  <a:pt x="3900453" y="2021383"/>
                </a:lnTo>
                <a:lnTo>
                  <a:pt x="3927305" y="2023552"/>
                </a:lnTo>
                <a:lnTo>
                  <a:pt x="3954594" y="2025727"/>
                </a:lnTo>
                <a:lnTo>
                  <a:pt x="3982101" y="2027895"/>
                </a:lnTo>
                <a:lnTo>
                  <a:pt x="4009609" y="2030042"/>
                </a:lnTo>
                <a:lnTo>
                  <a:pt x="4036898" y="2032154"/>
                </a:lnTo>
                <a:lnTo>
                  <a:pt x="4063750" y="2034217"/>
                </a:lnTo>
                <a:lnTo>
                  <a:pt x="4089946" y="2036219"/>
                </a:lnTo>
                <a:lnTo>
                  <a:pt x="4115268" y="2038145"/>
                </a:lnTo>
                <a:lnTo>
                  <a:pt x="4139497" y="2039982"/>
                </a:lnTo>
                <a:lnTo>
                  <a:pt x="4162414" y="2041716"/>
                </a:lnTo>
                <a:lnTo>
                  <a:pt x="4183801" y="2043333"/>
                </a:lnTo>
                <a:lnTo>
                  <a:pt x="4203439" y="2044821"/>
                </a:lnTo>
                <a:lnTo>
                  <a:pt x="4221109" y="2046165"/>
                </a:lnTo>
                <a:lnTo>
                  <a:pt x="4236594" y="2047351"/>
                </a:lnTo>
                <a:lnTo>
                  <a:pt x="4249674" y="2048367"/>
                </a:lnTo>
              </a:path>
            </a:pathLst>
          </a:custGeom>
          <a:noFill/>
          <a:ln w="31750" cap="rnd">
            <a:solidFill>
              <a:srgbClr val="3E77C0"/>
            </a:solidFill>
            <a:prstDash val="sysDot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CLK04"/>
          <p:cNvSpPr/>
          <p:nvPr/>
        </p:nvSpPr>
        <p:spPr>
          <a:xfrm>
            <a:off x="3735360" y="4051800"/>
            <a:ext cx="822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i="1" u="none" strike="noStrike">
                <a:solidFill>
                  <a:srgbClr val="3E77C0"/>
                </a:solidFill>
                <a:effectLst/>
                <a:uFillTx/>
                <a:latin typeface="Calibri"/>
              </a:rPr>
              <a:t>ATC′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CLK05"/>
          <p:cNvSpPr/>
          <p:nvPr/>
        </p:nvSpPr>
        <p:spPr>
          <a:xfrm>
            <a:off x="7040880" y="1828800"/>
            <a:ext cx="4663080" cy="173700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fixed cost shifts </a:t>
            </a:r>
            <a:r>
              <a:rPr lang="en-US" sz="15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ATC</a:t>
            </a: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up. The firm would pay up to the </a:t>
            </a:r>
            <a:r>
              <a:rPr lang="en-US" sz="15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</a:t>
            </a: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area for the right to produce.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CLK06"/>
          <p:cNvSpPr/>
          <p:nvPr/>
        </p:nvSpPr>
        <p:spPr>
          <a:xfrm>
            <a:off x="7040880" y="3703320"/>
            <a:ext cx="4663080" cy="187416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Once paid, the fixed cost does </a:t>
            </a:r>
            <a:r>
              <a:rPr lang="en-US" sz="15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not</a:t>
            </a: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change </a:t>
            </a:r>
            <a:r>
              <a:rPr lang="en-US" sz="15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P*</a:t>
            </a: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— set only by </a:t>
            </a:r>
            <a:r>
              <a:rPr lang="en-US" sz="15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</a:t>
            </a: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and MC. It only lowers profit; here profit after </a:t>
            </a:r>
            <a:r>
              <a:rPr lang="en-US" sz="1500" b="0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TFC</a:t>
            </a:r>
            <a:r>
              <a:rPr lang="en-US" sz="15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 is zero.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Buying a Liquor License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XBLD_101"/>
          <p:cNvSpPr/>
          <p:nvPr/>
        </p:nvSpPr>
        <p:spPr>
          <a:xfrm>
            <a:off x="502920" y="1828800"/>
            <a:ext cx="1115532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22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Gracias Madre is considering buying a liquor license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What is the maximum amount it would be willing to pay for it?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2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If it buys the license, how does this affect the optimal price and quantity?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CLK00"/>
          <p:cNvSpPr/>
          <p:nvPr/>
        </p:nvSpPr>
        <p:spPr>
          <a:xfrm>
            <a:off x="1371600" y="4617720"/>
            <a:ext cx="8595000" cy="91404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CLK00"/>
          <p:cNvSpPr/>
          <p:nvPr/>
        </p:nvSpPr>
        <p:spPr>
          <a:xfrm>
            <a:off x="1554480" y="4956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60 − </a:t>
            </a:r>
            <a:r>
              <a:rPr lang="en-US" sz="20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/10,000        TC = 2,000 − 10</a:t>
            </a:r>
            <a:r>
              <a:rPr lang="en-US" sz="20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+ 0.20</a:t>
            </a:r>
            <a:r>
              <a:rPr lang="en-US" sz="20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0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²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arallelogram 13"/>
          <p:cNvSpPr/>
          <p:nvPr/>
        </p:nvSpPr>
        <p:spPr>
          <a:xfrm>
            <a:off x="9082800" y="5943600"/>
            <a:ext cx="2742840" cy="548280"/>
          </a:xfrm>
          <a:prstGeom prst="parallelogram">
            <a:avLst>
              <a:gd name="adj" fmla="val 25000"/>
            </a:avLst>
          </a:prstGeom>
          <a:solidFill>
            <a:srgbClr val="E0A21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Group exercise break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Profit Maximization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Solution: Buying a Liquor License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Rectangle 10"/>
          <p:cNvSpPr/>
          <p:nvPr/>
        </p:nvSpPr>
        <p:spPr>
          <a:xfrm>
            <a:off x="530280" y="1929240"/>
            <a:ext cx="155160" cy="1551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11"/>
          <p:cNvSpPr/>
          <p:nvPr/>
        </p:nvSpPr>
        <p:spPr>
          <a:xfrm>
            <a:off x="868680" y="17830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Compute profit at the optimum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2"/>
          <p:cNvSpPr/>
          <p:nvPr/>
        </p:nvSpPr>
        <p:spPr>
          <a:xfrm>
            <a:off x="1234440" y="239580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TR = </a:t>
            </a:r>
            <a:r>
              <a:rPr lang="en-US" sz="21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1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</a:t>
            </a:r>
            <a:r>
              <a:rPr lang="en-US" sz="21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Q</a:t>
            </a:r>
            <a:r>
              <a:rPr lang="en-US" sz="21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* = 59.98 × 175 = 10,496.5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3"/>
          <p:cNvSpPr/>
          <p:nvPr/>
        </p:nvSpPr>
        <p:spPr>
          <a:xfrm>
            <a:off x="1234440" y="294444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TC = 2,000 − 10 × 175 + 0.2 × 175² = 6,375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14"/>
          <p:cNvSpPr/>
          <p:nvPr/>
        </p:nvSpPr>
        <p:spPr>
          <a:xfrm>
            <a:off x="530280" y="3940920"/>
            <a:ext cx="155160" cy="1551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15"/>
          <p:cNvSpPr/>
          <p:nvPr/>
        </p:nvSpPr>
        <p:spPr>
          <a:xfrm>
            <a:off x="868680" y="379476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Maximum willingness to pay = </a:t>
            </a:r>
            <a:r>
              <a:rPr lang="en-US" sz="24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profit = $4,121.5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6"/>
          <p:cNvSpPr/>
          <p:nvPr/>
        </p:nvSpPr>
        <p:spPr>
          <a:xfrm>
            <a:off x="530280" y="4855320"/>
            <a:ext cx="155160" cy="1551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17"/>
          <p:cNvSpPr/>
          <p:nvPr/>
        </p:nvSpPr>
        <p:spPr>
          <a:xfrm>
            <a:off x="868680" y="470916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If the license shifts demand out (more customers), the restaurant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8"/>
          <p:cNvSpPr/>
          <p:nvPr/>
        </p:nvSpPr>
        <p:spPr>
          <a:xfrm>
            <a:off x="868680" y="516636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can pass part of the cost on and raise prices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Roadmap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Outline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ounded Rectangle 10"/>
          <p:cNvSpPr/>
          <p:nvPr/>
        </p:nvSpPr>
        <p:spPr>
          <a:xfrm>
            <a:off x="978480" y="1636920"/>
            <a:ext cx="10423800" cy="93240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5875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Oval 11"/>
          <p:cNvSpPr/>
          <p:nvPr/>
        </p:nvSpPr>
        <p:spPr>
          <a:xfrm>
            <a:off x="1234440" y="1837800"/>
            <a:ext cx="566640" cy="566640"/>
          </a:xfrm>
          <a:prstGeom prst="ellipse">
            <a:avLst/>
          </a:prstGeom>
          <a:solidFill>
            <a:srgbClr val="0B2B4E"/>
          </a:solidFill>
          <a:ln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2"/>
          <p:cNvSpPr/>
          <p:nvPr/>
        </p:nvSpPr>
        <p:spPr>
          <a:xfrm>
            <a:off x="2286000" y="173736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 for price searchers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3"/>
          <p:cNvSpPr/>
          <p:nvPr/>
        </p:nvSpPr>
        <p:spPr>
          <a:xfrm>
            <a:off x="2286000" y="218556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Set MR = MC; markup and the Lerner index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Oval 14"/>
          <p:cNvSpPr/>
          <p:nvPr/>
        </p:nvSpPr>
        <p:spPr>
          <a:xfrm>
            <a:off x="1234440" y="2917080"/>
            <a:ext cx="566640" cy="56664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5"/>
          <p:cNvSpPr/>
          <p:nvPr/>
        </p:nvSpPr>
        <p:spPr>
          <a:xfrm>
            <a:off x="2286000" y="28162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ADB5"/>
                </a:solidFill>
                <a:effectLst/>
                <a:uFillTx/>
                <a:latin typeface="Calibri"/>
              </a:rPr>
              <a:t>Monopoly and welfare impact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6"/>
          <p:cNvSpPr/>
          <p:nvPr/>
        </p:nvSpPr>
        <p:spPr>
          <a:xfrm>
            <a:off x="2286000" y="326448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3C8CE"/>
                </a:solidFill>
                <a:effectLst/>
                <a:uFillTx/>
                <a:latin typeface="Calibri"/>
              </a:rPr>
              <a:t>How monopoly restricts output and reduces welfare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Oval 17"/>
          <p:cNvSpPr/>
          <p:nvPr/>
        </p:nvSpPr>
        <p:spPr>
          <a:xfrm>
            <a:off x="1234440" y="3996000"/>
            <a:ext cx="566640" cy="56664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8"/>
          <p:cNvSpPr/>
          <p:nvPr/>
        </p:nvSpPr>
        <p:spPr>
          <a:xfrm>
            <a:off x="2286000" y="389520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ADB5"/>
                </a:solidFill>
                <a:effectLst/>
                <a:uFillTx/>
                <a:latin typeface="Calibri"/>
              </a:rPr>
              <a:t>Government and market power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9"/>
          <p:cNvSpPr/>
          <p:nvPr/>
        </p:nvSpPr>
        <p:spPr>
          <a:xfrm>
            <a:off x="2286000" y="4343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3C8CE"/>
                </a:solidFill>
                <a:effectLst/>
                <a:uFillTx/>
                <a:latin typeface="Calibri"/>
              </a:rPr>
              <a:t>Antitrust, regulation, and market definition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Oval 20"/>
          <p:cNvSpPr/>
          <p:nvPr/>
        </p:nvSpPr>
        <p:spPr>
          <a:xfrm>
            <a:off x="1234440" y="5074920"/>
            <a:ext cx="566640" cy="566640"/>
          </a:xfrm>
          <a:prstGeom prst="ellipse">
            <a:avLst/>
          </a:prstGeom>
          <a:solidFill>
            <a:srgbClr val="B0B5B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1"/>
          <p:cNvSpPr/>
          <p:nvPr/>
        </p:nvSpPr>
        <p:spPr>
          <a:xfrm>
            <a:off x="2286000" y="4974480"/>
            <a:ext cx="9509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A6ADB5"/>
                </a:solidFill>
                <a:effectLst/>
                <a:uFillTx/>
                <a:latin typeface="Calibri"/>
              </a:rPr>
              <a:t>Monopolistic competition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2"/>
          <p:cNvSpPr/>
          <p:nvPr/>
        </p:nvSpPr>
        <p:spPr>
          <a:xfrm>
            <a:off x="2286000" y="542232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3C8CE"/>
                </a:solidFill>
                <a:effectLst/>
                <a:uFillTx/>
                <a:latin typeface="Calibri"/>
              </a:rPr>
              <a:t>Free entry drives long-run profit to zero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7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Markup Across Firms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2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ounded Rectangle 10"/>
          <p:cNvSpPr/>
          <p:nvPr/>
        </p:nvSpPr>
        <p:spPr>
          <a:xfrm>
            <a:off x="731520" y="1828800"/>
            <a:ext cx="4205880" cy="123408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0B2B4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11"/>
          <p:cNvSpPr/>
          <p:nvPr/>
        </p:nvSpPr>
        <p:spPr>
          <a:xfrm>
            <a:off x="1474920" y="2170080"/>
            <a:ext cx="194508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Markup =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2"/>
          <p:cNvSpPr/>
          <p:nvPr/>
        </p:nvSpPr>
        <p:spPr>
          <a:xfrm>
            <a:off x="2323080" y="1893240"/>
            <a:ext cx="2511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− MC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3"/>
          <p:cNvSpPr/>
          <p:nvPr/>
        </p:nvSpPr>
        <p:spPr>
          <a:xfrm>
            <a:off x="2323080" y="2496240"/>
            <a:ext cx="2511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14"/>
          <p:cNvSpPr/>
          <p:nvPr/>
        </p:nvSpPr>
        <p:spPr>
          <a:xfrm>
            <a:off x="2981520" y="2436840"/>
            <a:ext cx="119448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430" name="Table 15"/>
          <p:cNvGraphicFramePr/>
          <p:nvPr/>
        </p:nvGraphicFramePr>
        <p:xfrm>
          <a:off x="5577840" y="1691640"/>
          <a:ext cx="5760360" cy="4297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Company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Markup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B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Alphabet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0.55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Amazon.com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0.33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American Airlines Group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0.24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Apple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0.33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AT&amp;T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0.35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Johnson &amp; Johnson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0.72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Microsoft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0.56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Pfizer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0.78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Tesla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0.25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United Airlines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0.21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DF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840">
                <a:tc>
                  <a:txBody>
                    <a:bodyPr/>
                    <a:lstStyle/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Whole Foods Market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0B2B4E"/>
                          </a:solidFill>
                          <a:effectLst/>
                          <a:uFillTx/>
                          <a:latin typeface="Calibri"/>
                        </a:rPr>
                        <a:t>0.19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 marT="27360" marB="273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31" name="TextBox 16"/>
          <p:cNvSpPr/>
          <p:nvPr/>
        </p:nvSpPr>
        <p:spPr>
          <a:xfrm>
            <a:off x="5577840" y="6053400"/>
            <a:ext cx="5760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Source: De Loecker et al. (2019)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Lerner Index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ounded Rectangle 10"/>
          <p:cNvSpPr/>
          <p:nvPr/>
        </p:nvSpPr>
        <p:spPr>
          <a:xfrm>
            <a:off x="3108960" y="1600200"/>
            <a:ext cx="5943240" cy="127980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11"/>
          <p:cNvSpPr/>
          <p:nvPr/>
        </p:nvSpPr>
        <p:spPr>
          <a:xfrm>
            <a:off x="4130280" y="1682640"/>
            <a:ext cx="2511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− MC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12"/>
          <p:cNvSpPr/>
          <p:nvPr/>
        </p:nvSpPr>
        <p:spPr>
          <a:xfrm>
            <a:off x="4130280" y="2286000"/>
            <a:ext cx="251136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13"/>
          <p:cNvSpPr/>
          <p:nvPr/>
        </p:nvSpPr>
        <p:spPr>
          <a:xfrm>
            <a:off x="4788720" y="2226600"/>
            <a:ext cx="119448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14"/>
          <p:cNvSpPr/>
          <p:nvPr/>
        </p:nvSpPr>
        <p:spPr>
          <a:xfrm>
            <a:off x="6093360" y="1959480"/>
            <a:ext cx="1250640" cy="56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 − 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6247080" y="1682640"/>
            <a:ext cx="1783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16"/>
          <p:cNvSpPr/>
          <p:nvPr/>
        </p:nvSpPr>
        <p:spPr>
          <a:xfrm>
            <a:off x="6247080" y="2286000"/>
            <a:ext cx="178344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E</a:t>
            </a:r>
            <a:r>
              <a:rPr lang="en-US" sz="1500" b="0" u="none" strike="noStrike" baseline="-25000">
                <a:solidFill>
                  <a:srgbClr val="0B2B4E"/>
                </a:solidFill>
                <a:effectLst/>
                <a:uFillTx/>
                <a:latin typeface="Cambria Math"/>
              </a:rPr>
              <a:t>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17"/>
          <p:cNvSpPr/>
          <p:nvPr/>
        </p:nvSpPr>
        <p:spPr>
          <a:xfrm>
            <a:off x="6905520" y="2226600"/>
            <a:ext cx="46692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XBLD_1111"/>
          <p:cNvSpPr/>
          <p:nvPr/>
        </p:nvSpPr>
        <p:spPr>
          <a:xfrm>
            <a:off x="502920" y="3246120"/>
            <a:ext cx="1115532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599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Links a firm's markup to its demand elasticity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599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As demand becomes more elastic, the optimal markup falls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599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more price-sensitive customers are, the less a firm can mark up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599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Holds only at the profit-maximizing point </a:t>
            </a: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(P*, Q*)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 and the Lerner Index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10"/>
          <p:cNvSpPr/>
          <p:nvPr/>
        </p:nvSpPr>
        <p:spPr>
          <a:xfrm>
            <a:off x="502920" y="1783080"/>
            <a:ext cx="61261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701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Marginal revenue links price, MR, and demand elasticity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701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Profit maximization sets MR = MC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701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Rearranging gives the Lerner index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1"/>
          <p:cNvSpPr/>
          <p:nvPr/>
        </p:nvSpPr>
        <p:spPr>
          <a:xfrm>
            <a:off x="6858000" y="1900440"/>
            <a:ext cx="2046240" cy="49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MR = </a:t>
            </a:r>
            <a:r>
              <a:rPr lang="en-US" sz="23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(1 + 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12"/>
          <p:cNvSpPr/>
          <p:nvPr/>
        </p:nvSpPr>
        <p:spPr>
          <a:xfrm>
            <a:off x="7807320" y="1650240"/>
            <a:ext cx="1760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13"/>
          <p:cNvSpPr/>
          <p:nvPr/>
        </p:nvSpPr>
        <p:spPr>
          <a:xfrm>
            <a:off x="7807320" y="2194560"/>
            <a:ext cx="1760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E</a:t>
            </a:r>
            <a:r>
              <a:rPr lang="en-US" sz="1500" b="0" u="none" strike="noStrike" baseline="-25000">
                <a:solidFill>
                  <a:srgbClr val="0B2B4E"/>
                </a:solidFill>
                <a:effectLst/>
                <a:uFillTx/>
                <a:latin typeface="Cambria Math"/>
              </a:rPr>
              <a:t>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14"/>
          <p:cNvSpPr/>
          <p:nvPr/>
        </p:nvSpPr>
        <p:spPr>
          <a:xfrm>
            <a:off x="8465400" y="2135160"/>
            <a:ext cx="44352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15"/>
          <p:cNvSpPr/>
          <p:nvPr/>
        </p:nvSpPr>
        <p:spPr>
          <a:xfrm>
            <a:off x="9019080" y="1900440"/>
            <a:ext cx="645480" cy="49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)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Box 16"/>
          <p:cNvSpPr/>
          <p:nvPr/>
        </p:nvSpPr>
        <p:spPr>
          <a:xfrm>
            <a:off x="6858000" y="3134880"/>
            <a:ext cx="1280880" cy="49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(1 + 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17"/>
          <p:cNvSpPr/>
          <p:nvPr/>
        </p:nvSpPr>
        <p:spPr>
          <a:xfrm>
            <a:off x="7041960" y="2884680"/>
            <a:ext cx="1760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18"/>
          <p:cNvSpPr/>
          <p:nvPr/>
        </p:nvSpPr>
        <p:spPr>
          <a:xfrm>
            <a:off x="7041960" y="3429000"/>
            <a:ext cx="1760400" cy="45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3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E</a:t>
            </a:r>
            <a:r>
              <a:rPr lang="en-US" sz="1500" b="0" u="none" strike="noStrike" baseline="-25000">
                <a:solidFill>
                  <a:srgbClr val="0B2B4E"/>
                </a:solidFill>
                <a:effectLst/>
                <a:uFillTx/>
                <a:latin typeface="Cambria Math"/>
              </a:rPr>
              <a:t>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19"/>
          <p:cNvSpPr/>
          <p:nvPr/>
        </p:nvSpPr>
        <p:spPr>
          <a:xfrm>
            <a:off x="7700040" y="3369600"/>
            <a:ext cx="44352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20"/>
          <p:cNvSpPr/>
          <p:nvPr/>
        </p:nvSpPr>
        <p:spPr>
          <a:xfrm>
            <a:off x="8253720" y="3134880"/>
            <a:ext cx="1410840" cy="49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) = MC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ounded Rectangle 21"/>
          <p:cNvSpPr/>
          <p:nvPr/>
        </p:nvSpPr>
        <p:spPr>
          <a:xfrm>
            <a:off x="3657600" y="4983480"/>
            <a:ext cx="4845960" cy="1142640"/>
          </a:xfrm>
          <a:prstGeom prst="roundRect">
            <a:avLst>
              <a:gd name="adj" fmla="val 16667"/>
            </a:avLst>
          </a:prstGeom>
          <a:solidFill>
            <a:srgbClr val="FDF6E6"/>
          </a:solidFill>
          <a:ln w="12700">
            <a:solidFill>
              <a:srgbClr val="E09F3E"/>
            </a:solidFill>
            <a:round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54720" rIns="109800" bIns="5472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22"/>
          <p:cNvSpPr/>
          <p:nvPr/>
        </p:nvSpPr>
        <p:spPr>
          <a:xfrm>
            <a:off x="4206240" y="5041440"/>
            <a:ext cx="2429280" cy="47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− MC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23"/>
          <p:cNvSpPr/>
          <p:nvPr/>
        </p:nvSpPr>
        <p:spPr>
          <a:xfrm>
            <a:off x="4206240" y="5605200"/>
            <a:ext cx="2429280" cy="47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ectangle 24"/>
          <p:cNvSpPr/>
          <p:nvPr/>
        </p:nvSpPr>
        <p:spPr>
          <a:xfrm>
            <a:off x="4864680" y="5545800"/>
            <a:ext cx="111240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25"/>
          <p:cNvSpPr/>
          <p:nvPr/>
        </p:nvSpPr>
        <p:spPr>
          <a:xfrm>
            <a:off x="6087240" y="5300640"/>
            <a:ext cx="119664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=  −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26"/>
          <p:cNvSpPr/>
          <p:nvPr/>
        </p:nvSpPr>
        <p:spPr>
          <a:xfrm>
            <a:off x="6186960" y="5041440"/>
            <a:ext cx="1767960" cy="47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27"/>
          <p:cNvSpPr/>
          <p:nvPr/>
        </p:nvSpPr>
        <p:spPr>
          <a:xfrm>
            <a:off x="6186960" y="5605200"/>
            <a:ext cx="1767960" cy="47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E</a:t>
            </a:r>
            <a:r>
              <a:rPr lang="en-US" sz="1500" b="0" u="none" strike="noStrike" baseline="-25000">
                <a:solidFill>
                  <a:srgbClr val="0B2B4E"/>
                </a:solidFill>
                <a:effectLst/>
                <a:uFillTx/>
                <a:latin typeface="Cambria Math"/>
              </a:rPr>
              <a:t>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28"/>
          <p:cNvSpPr/>
          <p:nvPr/>
        </p:nvSpPr>
        <p:spPr>
          <a:xfrm>
            <a:off x="6845400" y="5545800"/>
            <a:ext cx="45144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Which Product Has the Higher Mark-up?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7" name="Picture 10" descr="s21_0_381160.png"/>
          <p:cNvPicPr/>
          <p:nvPr>
            <p:custDataLst>
              <p:tags r:id="rId1"/>
            </p:custDataLst>
          </p:nvPr>
        </p:nvPicPr>
        <p:blipFill>
          <a:blip r:embed="rId4"/>
          <a:stretch/>
        </p:blipFill>
        <p:spPr>
          <a:xfrm>
            <a:off x="1965960" y="1554480"/>
            <a:ext cx="8229240" cy="462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Live Responses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7" name="Picture 10" descr="s22_0_368324.png"/>
          <p:cNvPicPr/>
          <p:nvPr>
            <p:custDataLst>
              <p:tags r:id="rId1"/>
            </p:custDataLst>
          </p:nvPr>
        </p:nvPicPr>
        <p:blipFill>
          <a:blip r:embed="rId4"/>
          <a:stretch/>
        </p:blipFill>
        <p:spPr>
          <a:xfrm>
            <a:off x="1965960" y="1554480"/>
            <a:ext cx="8229240" cy="462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Poll: 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7" name="Picture 10" descr="s23_0_368324.png"/>
          <p:cNvPicPr/>
          <p:nvPr>
            <p:custDataLst>
              <p:tags r:id="rId1"/>
            </p:custDataLst>
          </p:nvPr>
        </p:nvPicPr>
        <p:blipFill>
          <a:blip r:embed="rId4"/>
          <a:stretch/>
        </p:blipFill>
        <p:spPr>
          <a:xfrm>
            <a:off x="1965960" y="1554480"/>
            <a:ext cx="8229240" cy="462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Mark-up and Elasticity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7" name="Picture 10" descr="small_celray.png"/>
          <p:cNvPicPr/>
          <p:nvPr/>
        </p:nvPicPr>
        <p:blipFill>
          <a:blip r:embed="rId3"/>
          <a:stretch/>
        </p:blipFill>
        <p:spPr>
          <a:xfrm>
            <a:off x="8321040" y="1645920"/>
            <a:ext cx="1287360" cy="2285640"/>
          </a:xfrm>
          <a:prstGeom prst="rect">
            <a:avLst/>
          </a:prstGeom>
          <a:noFill/>
          <a:ln w="0"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</p:pic>
      <p:pic>
        <p:nvPicPr>
          <p:cNvPr id="518" name="Picture 11" descr="small_coke_crop.png"/>
          <p:cNvPicPr/>
          <p:nvPr/>
        </p:nvPicPr>
        <p:blipFill>
          <a:blip r:embed="rId4"/>
          <a:stretch/>
        </p:blipFill>
        <p:spPr>
          <a:xfrm>
            <a:off x="10149840" y="1645920"/>
            <a:ext cx="1322640" cy="2285640"/>
          </a:xfrm>
          <a:prstGeom prst="rect">
            <a:avLst/>
          </a:prstGeom>
          <a:noFill/>
          <a:ln w="0">
            <a:noFill/>
          </a:ln>
          <a:effectLst>
            <a:outerShdw blurRad="39960" dist="24840" dir="5400000" rotWithShape="0">
              <a:srgbClr val="000000">
                <a:alpha val="30000"/>
              </a:srgbClr>
            </a:outerShdw>
          </a:effectLst>
        </p:spPr>
      </p:pic>
      <p:sp>
        <p:nvSpPr>
          <p:cNvPr id="519" name="TextBox 12"/>
          <p:cNvSpPr/>
          <p:nvPr/>
        </p:nvSpPr>
        <p:spPr>
          <a:xfrm>
            <a:off x="7955280" y="402336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Coca-Cola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13"/>
          <p:cNvSpPr/>
          <p:nvPr/>
        </p:nvSpPr>
        <p:spPr>
          <a:xfrm>
            <a:off x="9784080" y="402336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i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Dr Brown's Cel-Ray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14"/>
          <p:cNvSpPr/>
          <p:nvPr/>
        </p:nvSpPr>
        <p:spPr>
          <a:xfrm>
            <a:off x="502920" y="1783080"/>
            <a:ext cx="68576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Dr Brown's has the </a:t>
            </a: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higher mark-up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Why? Its demand is less elastic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15"/>
          <p:cNvSpPr/>
          <p:nvPr/>
        </p:nvSpPr>
        <p:spPr>
          <a:xfrm>
            <a:off x="914400" y="4425840"/>
            <a:ext cx="273312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Lerner (Coke) =  −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16"/>
          <p:cNvSpPr/>
          <p:nvPr/>
        </p:nvSpPr>
        <p:spPr>
          <a:xfrm>
            <a:off x="2550600" y="4184640"/>
            <a:ext cx="175248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17"/>
          <p:cNvSpPr/>
          <p:nvPr/>
        </p:nvSpPr>
        <p:spPr>
          <a:xfrm>
            <a:off x="2550600" y="4709160"/>
            <a:ext cx="175248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E</a:t>
            </a:r>
            <a:r>
              <a:rPr lang="en-US" sz="1500" b="0" u="none" strike="noStrike" baseline="-25000">
                <a:solidFill>
                  <a:srgbClr val="0B2B4E"/>
                </a:solidFill>
                <a:effectLst/>
                <a:uFillTx/>
                <a:latin typeface="Cambria Math"/>
              </a:rPr>
              <a:t>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18"/>
          <p:cNvSpPr/>
          <p:nvPr/>
        </p:nvSpPr>
        <p:spPr>
          <a:xfrm>
            <a:off x="3209040" y="4649760"/>
            <a:ext cx="43596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19"/>
          <p:cNvSpPr/>
          <p:nvPr/>
        </p:nvSpPr>
        <p:spPr>
          <a:xfrm>
            <a:off x="3754800" y="4425840"/>
            <a:ext cx="121248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 =  −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20"/>
          <p:cNvSpPr/>
          <p:nvPr/>
        </p:nvSpPr>
        <p:spPr>
          <a:xfrm>
            <a:off x="3870720" y="4184640"/>
            <a:ext cx="19512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21"/>
          <p:cNvSpPr/>
          <p:nvPr/>
        </p:nvSpPr>
        <p:spPr>
          <a:xfrm>
            <a:off x="3870720" y="4709160"/>
            <a:ext cx="19512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−4.1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22"/>
          <p:cNvSpPr/>
          <p:nvPr/>
        </p:nvSpPr>
        <p:spPr>
          <a:xfrm>
            <a:off x="4528800" y="4649760"/>
            <a:ext cx="63432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23"/>
          <p:cNvSpPr/>
          <p:nvPr/>
        </p:nvSpPr>
        <p:spPr>
          <a:xfrm>
            <a:off x="5273640" y="4425840"/>
            <a:ext cx="140436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 = 0.24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24"/>
          <p:cNvSpPr/>
          <p:nvPr/>
        </p:nvSpPr>
        <p:spPr>
          <a:xfrm>
            <a:off x="914400" y="5477400"/>
            <a:ext cx="307440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Lerner (Cel-Ray) =  −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25"/>
          <p:cNvSpPr/>
          <p:nvPr/>
        </p:nvSpPr>
        <p:spPr>
          <a:xfrm>
            <a:off x="2891880" y="5236200"/>
            <a:ext cx="175248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26"/>
          <p:cNvSpPr/>
          <p:nvPr/>
        </p:nvSpPr>
        <p:spPr>
          <a:xfrm>
            <a:off x="2891880" y="5760720"/>
            <a:ext cx="175248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i="1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E</a:t>
            </a:r>
            <a:r>
              <a:rPr lang="en-US" sz="1500" b="0" u="none" strike="noStrike" baseline="-25000">
                <a:solidFill>
                  <a:srgbClr val="0B2B4E"/>
                </a:solidFill>
                <a:effectLst/>
                <a:uFillTx/>
                <a:latin typeface="Cambria Math"/>
              </a:rPr>
              <a:t>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ectangle 27"/>
          <p:cNvSpPr/>
          <p:nvPr/>
        </p:nvSpPr>
        <p:spPr>
          <a:xfrm>
            <a:off x="3550320" y="5701320"/>
            <a:ext cx="43596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TextBox 28"/>
          <p:cNvSpPr/>
          <p:nvPr/>
        </p:nvSpPr>
        <p:spPr>
          <a:xfrm>
            <a:off x="4096080" y="5477400"/>
            <a:ext cx="121248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 =  −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29"/>
          <p:cNvSpPr/>
          <p:nvPr/>
        </p:nvSpPr>
        <p:spPr>
          <a:xfrm>
            <a:off x="4212000" y="5236200"/>
            <a:ext cx="174168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b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30"/>
          <p:cNvSpPr/>
          <p:nvPr/>
        </p:nvSpPr>
        <p:spPr>
          <a:xfrm>
            <a:off x="4212000" y="5760720"/>
            <a:ext cx="174168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−2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31"/>
          <p:cNvSpPr/>
          <p:nvPr/>
        </p:nvSpPr>
        <p:spPr>
          <a:xfrm>
            <a:off x="4870080" y="5701320"/>
            <a:ext cx="424800" cy="2700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32"/>
          <p:cNvSpPr/>
          <p:nvPr/>
        </p:nvSpPr>
        <p:spPr>
          <a:xfrm>
            <a:off x="5405400" y="5477400"/>
            <a:ext cx="1404360" cy="47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B2B4E"/>
                </a:solidFill>
                <a:effectLst/>
                <a:uFillTx/>
                <a:latin typeface="Cambria Math"/>
              </a:rPr>
              <a:t>  = 0.50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ectangle 1"/>
          <p:cNvSpPr/>
          <p:nvPr/>
        </p:nvSpPr>
        <p:spPr>
          <a:xfrm>
            <a:off x="0" y="0"/>
            <a:ext cx="12191400" cy="383760"/>
          </a:xfrm>
          <a:prstGeom prst="rect">
            <a:avLst/>
          </a:prstGeom>
          <a:solidFill>
            <a:srgbClr val="0B2B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2"/>
          <p:cNvSpPr/>
          <p:nvPr/>
        </p:nvSpPr>
        <p:spPr>
          <a:xfrm>
            <a:off x="255960" y="0"/>
            <a:ext cx="109724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Monopoly &amp; Monopolistic Competition · Markup &amp; Lerner Index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3"/>
          <p:cNvSpPr/>
          <p:nvPr/>
        </p:nvSpPr>
        <p:spPr>
          <a:xfrm>
            <a:off x="255960" y="457200"/>
            <a:ext cx="116856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Price Searcher: Take-aways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4"/>
          <p:cNvSpPr/>
          <p:nvPr/>
        </p:nvSpPr>
        <p:spPr>
          <a:xfrm>
            <a:off x="255960" y="1143000"/>
            <a:ext cx="116856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Rectangle 5"/>
          <p:cNvSpPr/>
          <p:nvPr/>
        </p:nvSpPr>
        <p:spPr>
          <a:xfrm>
            <a:off x="255960" y="11340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Rectangle 6"/>
          <p:cNvSpPr/>
          <p:nvPr/>
        </p:nvSpPr>
        <p:spPr>
          <a:xfrm>
            <a:off x="0" y="6537960"/>
            <a:ext cx="12191400" cy="18000"/>
          </a:xfrm>
          <a:prstGeom prst="rect">
            <a:avLst/>
          </a:prstGeom>
          <a:solidFill>
            <a:srgbClr val="C8CDD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Rectangle 7"/>
          <p:cNvSpPr/>
          <p:nvPr/>
        </p:nvSpPr>
        <p:spPr>
          <a:xfrm>
            <a:off x="255960" y="6519600"/>
            <a:ext cx="2011320" cy="45360"/>
          </a:xfrm>
          <a:prstGeom prst="rect">
            <a:avLst/>
          </a:prstGeom>
          <a:solidFill>
            <a:srgbClr val="E09F3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TextBox 8"/>
          <p:cNvSpPr/>
          <p:nvPr/>
        </p:nvSpPr>
        <p:spPr>
          <a:xfrm>
            <a:off x="255960" y="658368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Management 405  ·  Monopoly and Monopolistic Competition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9"/>
          <p:cNvSpPr/>
          <p:nvPr/>
        </p:nvSpPr>
        <p:spPr>
          <a:xfrm>
            <a:off x="11430000" y="65836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XBLD_100101"/>
          <p:cNvSpPr/>
          <p:nvPr/>
        </p:nvSpPr>
        <p:spPr>
          <a:xfrm>
            <a:off x="502920" y="1691640"/>
            <a:ext cx="1115532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decision rule is always the same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Set </a:t>
            </a:r>
            <a:r>
              <a:rPr lang="en-US" sz="2800" b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MR = MC</a:t>
            </a: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 to find </a:t>
            </a:r>
            <a:r>
              <a:rPr lang="en-US" sz="2800" b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Q*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Operate in the short run if </a:t>
            </a:r>
            <a:r>
              <a:rPr lang="en-US" sz="2800" b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P ≥ AVC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The key difference is a downward-sloping demand curve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457200">
              <a:lnSpc>
                <a:spcPct val="100000"/>
              </a:lnSpc>
              <a:spcBef>
                <a:spcPts val="601"/>
              </a:spcBef>
              <a:buClr>
                <a:srgbClr val="555B66"/>
              </a:buClr>
              <a:buFont typeface="Calibri"/>
              <a:buChar char="–"/>
            </a:pPr>
            <a:r>
              <a:rPr lang="en-US" sz="2800" b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MR ≠ P</a:t>
            </a:r>
            <a:r>
              <a:rPr lang="en-US" sz="2800" b="0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  — the price searcher sets </a:t>
            </a:r>
            <a:r>
              <a:rPr lang="en-US" sz="2800" b="1" u="none" strike="noStrike">
                <a:solidFill>
                  <a:srgbClr val="555B66"/>
                </a:solidFill>
                <a:effectLst/>
                <a:uFillTx/>
                <a:latin typeface="Calibri"/>
              </a:rPr>
              <a:t>P* &gt; MR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800"/>
              </a:spcBef>
              <a:buClr>
                <a:srgbClr val="0B2B4E"/>
              </a:buClr>
              <a:buFont typeface="Calibri"/>
              <a:buChar char="▪"/>
            </a:pPr>
            <a:r>
              <a:rPr lang="en-US" sz="3200" b="0" u="none" strike="noStrike">
                <a:solidFill>
                  <a:srgbClr val="0B2B4E"/>
                </a:solidFill>
                <a:effectLst/>
                <a:uFillTx/>
                <a:latin typeface="Calibri"/>
              </a:rPr>
              <a:t>Mark-up (price above marginal cost) depends on elasticity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f33562f-f94d-4839-875d-bd87e646b09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42810b3-ba19-4506-bca4-83298b0c54e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b67751b-7b58-4e03-82e3-f849087d69fa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1843</Words>
  <Application>Microsoft Office PowerPoint</Application>
  <PresentationFormat>Widescreen</PresentationFormat>
  <Paragraphs>378</Paragraphs>
  <Slides>25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Giuliano, Paola</cp:lastModifiedBy>
  <cp:revision>2</cp:revision>
  <dcterms:created xsi:type="dcterms:W3CDTF">2013-01-27T09:14:16Z</dcterms:created>
  <dcterms:modified xsi:type="dcterms:W3CDTF">2026-07-03T22:51:17Z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