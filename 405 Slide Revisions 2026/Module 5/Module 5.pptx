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2.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3.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4.xml" ContentType="application/vnd.openxmlformats-officedocument.presentationml.tags+xml"/>
  <Override PartName="/ppt/notesSlides/notesSlide46.xml" ContentType="application/vnd.openxmlformats-officedocument.presentationml.notesSlide+xml"/>
  <Override PartName="/ppt/tags/tag5.xml" ContentType="application/vnd.openxmlformats-officedocument.presentationml.tag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ags/tag6.xml" ContentType="application/vnd.openxmlformats-officedocument.presentationml.tags+xml"/>
  <Override PartName="/ppt/notesSlides/notesSlide50.xml" ContentType="application/vnd.openxmlformats-officedocument.presentationml.notesSlide+xml"/>
  <Override PartName="/ppt/tags/tag7.xml" ContentType="application/vnd.openxmlformats-officedocument.presentationml.tags+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9" r:id="rId1"/>
    <p:sldMasterId id="2147483756" r:id="rId2"/>
    <p:sldMasterId id="2147483724" r:id="rId3"/>
    <p:sldMasterId id="2147483769" r:id="rId4"/>
  </p:sldMasterIdLst>
  <p:notesMasterIdLst>
    <p:notesMasterId r:id="rId61"/>
  </p:notesMasterIdLst>
  <p:handoutMasterIdLst>
    <p:handoutMasterId r:id="rId62"/>
  </p:handoutMasterIdLst>
  <p:sldIdLst>
    <p:sldId id="257" r:id="rId5"/>
    <p:sldId id="902" r:id="rId6"/>
    <p:sldId id="903" r:id="rId7"/>
    <p:sldId id="730" r:id="rId8"/>
    <p:sldId id="904" r:id="rId9"/>
    <p:sldId id="769" r:id="rId10"/>
    <p:sldId id="777" r:id="rId11"/>
    <p:sldId id="806" r:id="rId12"/>
    <p:sldId id="737" r:id="rId13"/>
    <p:sldId id="912" r:id="rId14"/>
    <p:sldId id="916" r:id="rId15"/>
    <p:sldId id="306" r:id="rId16"/>
    <p:sldId id="307" r:id="rId17"/>
    <p:sldId id="911" r:id="rId18"/>
    <p:sldId id="829" r:id="rId19"/>
    <p:sldId id="913" r:id="rId20"/>
    <p:sldId id="914" r:id="rId21"/>
    <p:sldId id="915" r:id="rId22"/>
    <p:sldId id="905" r:id="rId23"/>
    <p:sldId id="818" r:id="rId24"/>
    <p:sldId id="779" r:id="rId25"/>
    <p:sldId id="780" r:id="rId26"/>
    <p:sldId id="820" r:id="rId27"/>
    <p:sldId id="827" r:id="rId28"/>
    <p:sldId id="815" r:id="rId29"/>
    <p:sldId id="781" r:id="rId30"/>
    <p:sldId id="909" r:id="rId31"/>
    <p:sldId id="816" r:id="rId32"/>
    <p:sldId id="785" r:id="rId33"/>
    <p:sldId id="906" r:id="rId34"/>
    <p:sldId id="731" r:id="rId35"/>
    <p:sldId id="765" r:id="rId36"/>
    <p:sldId id="825" r:id="rId37"/>
    <p:sldId id="311" r:id="rId38"/>
    <p:sldId id="828" r:id="rId39"/>
    <p:sldId id="758" r:id="rId40"/>
    <p:sldId id="749" r:id="rId41"/>
    <p:sldId id="907" r:id="rId42"/>
    <p:sldId id="344" r:id="rId43"/>
    <p:sldId id="823" r:id="rId44"/>
    <p:sldId id="824" r:id="rId45"/>
    <p:sldId id="830" r:id="rId46"/>
    <p:sldId id="621" r:id="rId47"/>
    <p:sldId id="304" r:id="rId48"/>
    <p:sldId id="795" r:id="rId49"/>
    <p:sldId id="908" r:id="rId50"/>
    <p:sldId id="336" r:id="rId51"/>
    <p:sldId id="329" r:id="rId52"/>
    <p:sldId id="910" r:id="rId53"/>
    <p:sldId id="747" r:id="rId54"/>
    <p:sldId id="315" r:id="rId55"/>
    <p:sldId id="316" r:id="rId56"/>
    <p:sldId id="317" r:id="rId57"/>
    <p:sldId id="748" r:id="rId58"/>
    <p:sldId id="793" r:id="rId59"/>
    <p:sldId id="826" r:id="rId60"/>
  </p:sldIdLst>
  <p:sldSz cx="9144000" cy="6858000" type="screen4x3"/>
  <p:notesSz cx="7315200" cy="9601200"/>
  <p:custDataLst>
    <p:tags r:id="rId6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iuliano, Paola" initials="GP" lastIdx="112" clrIdx="0">
    <p:extLst>
      <p:ext uri="{19B8F6BF-5375-455C-9EA6-DF929625EA0E}">
        <p15:presenceInfo xmlns:p15="http://schemas.microsoft.com/office/powerpoint/2012/main" userId="S::giulpao@ad.ucla.edu::132bae3d-d350-492a-913b-ab702ff24d3d" providerId="AD"/>
      </p:ext>
    </p:extLst>
  </p:cmAuthor>
  <p:cmAuthor id="2" name="CLEMENCE TRICAUD" initials="CT" lastIdx="107" clrIdx="1">
    <p:extLst>
      <p:ext uri="{19B8F6BF-5375-455C-9EA6-DF929625EA0E}">
        <p15:presenceInfo xmlns:p15="http://schemas.microsoft.com/office/powerpoint/2012/main" userId="S-1-5-21-1914341619-2963887621-4192079504-39280" providerId="AD"/>
      </p:ext>
    </p:extLst>
  </p:cmAuthor>
  <p:cmAuthor id="3" name="Wasserman, Melanie" initials="WM" lastIdx="14" clrIdx="2">
    <p:extLst>
      <p:ext uri="{19B8F6BF-5375-455C-9EA6-DF929625EA0E}">
        <p15:presenceInfo xmlns:p15="http://schemas.microsoft.com/office/powerpoint/2012/main" userId="S::mswasserman@ad.ucla.edu::dc9d8677-d4c7-4bfe-9320-b2694e2f633d" providerId="AD"/>
      </p:ext>
    </p:extLst>
  </p:cmAuthor>
  <p:cmAuthor id="4" name="Nico Voigtlaender" initials="NV" lastIdx="28" clrIdx="3">
    <p:extLst>
      <p:ext uri="{19B8F6BF-5375-455C-9EA6-DF929625EA0E}">
        <p15:presenceInfo xmlns:p15="http://schemas.microsoft.com/office/powerpoint/2012/main" userId="Nico Voigtlaend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1B8BD5"/>
    <a:srgbClr val="002B56"/>
    <a:srgbClr val="FFFFFF"/>
    <a:srgbClr val="002B4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748" autoAdjust="0"/>
    <p:restoredTop sz="78645" autoAdjust="0"/>
  </p:normalViewPr>
  <p:slideViewPr>
    <p:cSldViewPr snapToGrid="0" snapToObjects="1">
      <p:cViewPr varScale="1">
        <p:scale>
          <a:sx n="89" d="100"/>
          <a:sy n="89" d="100"/>
        </p:scale>
        <p:origin x="990" y="84"/>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0" d="100"/>
        <a:sy n="60" d="100"/>
      </p:scale>
      <p:origin x="0" y="-5142"/>
    </p:cViewPr>
  </p:sorterViewPr>
  <p:notesViewPr>
    <p:cSldViewPr snapToGrid="0" snapToObjects="1">
      <p:cViewPr varScale="1">
        <p:scale>
          <a:sx n="87" d="100"/>
          <a:sy n="87" d="100"/>
        </p:scale>
        <p:origin x="192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gs" Target="tags/tag1.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notesMaster" Target="notesMasters/notes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47" tIns="48324" rIns="96647" bIns="48324" rtlCol="0"/>
          <a:lstStyle>
            <a:lvl1pPr algn="r">
              <a:defRPr sz="1300"/>
            </a:lvl1pPr>
          </a:lstStyle>
          <a:p>
            <a:fld id="{F6D47F8B-C2FC-9540-A0E0-B106EE612B16}" type="datetimeFigureOut">
              <a:rPr lang="en-US" smtClean="0"/>
              <a:t>10/24/2025</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47" tIns="48324" rIns="96647" bIns="48324" rtlCol="0" anchor="b"/>
          <a:lstStyle>
            <a:lvl1pPr algn="r">
              <a:defRPr sz="1300"/>
            </a:lvl1pPr>
          </a:lstStyle>
          <a:p>
            <a:fld id="{14208B52-F97A-2D40-B706-CEC41B37499B}" type="slidenum">
              <a:rPr lang="en-US" smtClean="0"/>
              <a:t>‹#›</a:t>
            </a:fld>
            <a:endParaRPr lang="en-US"/>
          </a:p>
        </p:txBody>
      </p:sp>
    </p:spTree>
    <p:extLst>
      <p:ext uri="{BB962C8B-B14F-4D97-AF65-F5344CB8AC3E}">
        <p14:creationId xmlns:p14="http://schemas.microsoft.com/office/powerpoint/2010/main" val="1431928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47" tIns="48324" rIns="96647" bIns="48324" rtlCol="0"/>
          <a:lstStyle>
            <a:lvl1pPr algn="r">
              <a:defRPr sz="1300"/>
            </a:lvl1pPr>
          </a:lstStyle>
          <a:p>
            <a:fld id="{9FAC1A9B-BDAC-6A46-B8D4-E37AE0BBC950}" type="datetimeFigureOut">
              <a:rPr lang="en-US" smtClean="0"/>
              <a:t>10/24/2025</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47" tIns="48324" rIns="96647" bIns="48324"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47" tIns="48324" rIns="96647" bIns="483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47" tIns="48324" rIns="96647" bIns="48324" rtlCol="0" anchor="b"/>
          <a:lstStyle>
            <a:lvl1pPr algn="r">
              <a:defRPr sz="1300"/>
            </a:lvl1pPr>
          </a:lstStyle>
          <a:p>
            <a:fld id="{8D36AC2A-E969-3C46-9ED8-B46D40C5E669}" type="slidenum">
              <a:rPr lang="en-US" smtClean="0"/>
              <a:t>‹#›</a:t>
            </a:fld>
            <a:endParaRPr lang="en-US"/>
          </a:p>
        </p:txBody>
      </p:sp>
    </p:spTree>
    <p:extLst>
      <p:ext uri="{BB962C8B-B14F-4D97-AF65-F5344CB8AC3E}">
        <p14:creationId xmlns:p14="http://schemas.microsoft.com/office/powerpoint/2010/main" val="119172646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www.youtube.com/watch?v=gDdq2rIqAlM&amp;t=589s"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36AC2A-E969-3C46-9ED8-B46D40C5E669}" type="slidenum">
              <a:rPr lang="en-US" smtClean="0"/>
              <a:t>1</a:t>
            </a:fld>
            <a:endParaRPr lang="en-US"/>
          </a:p>
        </p:txBody>
      </p:sp>
    </p:spTree>
    <p:extLst>
      <p:ext uri="{BB962C8B-B14F-4D97-AF65-F5344CB8AC3E}">
        <p14:creationId xmlns:p14="http://schemas.microsoft.com/office/powerpoint/2010/main" val="6425635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D36AC2A-E969-3C46-9ED8-B46D40C5E669}" type="slidenum">
              <a:rPr lang="en-US" smtClean="0"/>
              <a:t>2</a:t>
            </a:fld>
            <a:endParaRPr lang="en-US"/>
          </a:p>
        </p:txBody>
      </p:sp>
    </p:spTree>
    <p:extLst>
      <p:ext uri="{BB962C8B-B14F-4D97-AF65-F5344CB8AC3E}">
        <p14:creationId xmlns:p14="http://schemas.microsoft.com/office/powerpoint/2010/main" val="12909967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3</a:t>
            </a:fld>
            <a:endParaRPr lang="en-US"/>
          </a:p>
        </p:txBody>
      </p:sp>
    </p:spTree>
    <p:extLst>
      <p:ext uri="{BB962C8B-B14F-4D97-AF65-F5344CB8AC3E}">
        <p14:creationId xmlns:p14="http://schemas.microsoft.com/office/powerpoint/2010/main" val="1373571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baseline="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746102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5</a:t>
            </a:fld>
            <a:endParaRPr lang="en-US"/>
          </a:p>
        </p:txBody>
      </p:sp>
    </p:spTree>
    <p:extLst>
      <p:ext uri="{BB962C8B-B14F-4D97-AF65-F5344CB8AC3E}">
        <p14:creationId xmlns:p14="http://schemas.microsoft.com/office/powerpoint/2010/main" val="34642533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6</a:t>
            </a:fld>
            <a:endParaRPr lang="en-US"/>
          </a:p>
        </p:txBody>
      </p:sp>
    </p:spTree>
    <p:extLst>
      <p:ext uri="{BB962C8B-B14F-4D97-AF65-F5344CB8AC3E}">
        <p14:creationId xmlns:p14="http://schemas.microsoft.com/office/powerpoint/2010/main" val="2638899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513822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8</a:t>
            </a:fld>
            <a:endParaRPr lang="en-US"/>
          </a:p>
        </p:txBody>
      </p:sp>
    </p:spTree>
    <p:extLst>
      <p:ext uri="{BB962C8B-B14F-4D97-AF65-F5344CB8AC3E}">
        <p14:creationId xmlns:p14="http://schemas.microsoft.com/office/powerpoint/2010/main" val="15442473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9</a:t>
            </a:fld>
            <a:endParaRPr lang="en-US"/>
          </a:p>
        </p:txBody>
      </p:sp>
    </p:spTree>
    <p:extLst>
      <p:ext uri="{BB962C8B-B14F-4D97-AF65-F5344CB8AC3E}">
        <p14:creationId xmlns:p14="http://schemas.microsoft.com/office/powerpoint/2010/main" val="2375735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cost per day in a restaurant: 8,000 of which 3,000 food, 3,000 labor, 2,000 other</a:t>
            </a:r>
          </a:p>
          <a:p>
            <a:r>
              <a:rPr lang="en-US" dirty="0"/>
              <a:t>TC=2,000+60Q</a:t>
            </a:r>
          </a:p>
          <a:p>
            <a:r>
              <a:rPr lang="en-US" dirty="0"/>
              <a:t>Q=meal per day</a:t>
            </a:r>
          </a:p>
          <a:p>
            <a:r>
              <a:rPr lang="en-US" dirty="0"/>
              <a:t>At P=50 and 200 people, 10,000 revenue, profit=2,000</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10</a:t>
            </a:fld>
            <a:endParaRPr lang="en-US"/>
          </a:p>
        </p:txBody>
      </p:sp>
    </p:spTree>
    <p:extLst>
      <p:ext uri="{BB962C8B-B14F-4D97-AF65-F5344CB8AC3E}">
        <p14:creationId xmlns:p14="http://schemas.microsoft.com/office/powerpoint/2010/main" val="6347186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36AC2A-E969-3C46-9ED8-B46D40C5E669}" type="slidenum">
              <a:rPr lang="en-US" smtClean="0"/>
              <a:t>11</a:t>
            </a:fld>
            <a:endParaRPr lang="en-US"/>
          </a:p>
        </p:txBody>
      </p:sp>
    </p:spTree>
    <p:extLst>
      <p:ext uri="{BB962C8B-B14F-4D97-AF65-F5344CB8AC3E}">
        <p14:creationId xmlns:p14="http://schemas.microsoft.com/office/powerpoint/2010/main" val="10761611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Gracias Madre is a plant-based Mexican restaurant in west-Hollywood. </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https://www.graciasmadre.co/</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1" kern="1200" dirty="0">
              <a:solidFill>
                <a:schemeClr val="tx1"/>
              </a:solidFill>
              <a:effectLst/>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To maximize</a:t>
            </a:r>
            <a:r>
              <a:rPr lang="en-US" sz="1200" b="1" kern="1200" baseline="0" dirty="0">
                <a:solidFill>
                  <a:schemeClr val="tx1"/>
                </a:solidFill>
                <a:effectLst/>
                <a:latin typeface="+mn-lt"/>
                <a:ea typeface="+mn-ea"/>
                <a:cs typeface="+mn-cs"/>
              </a:rPr>
              <a:t> profit, m</a:t>
            </a:r>
            <a:r>
              <a:rPr lang="en-US" sz="1200" b="1" kern="1200" dirty="0">
                <a:solidFill>
                  <a:schemeClr val="tx1"/>
                </a:solidFill>
                <a:effectLst/>
                <a:latin typeface="+mn-lt"/>
                <a:ea typeface="+mn-ea"/>
                <a:cs typeface="+mn-cs"/>
              </a:rPr>
              <a:t>onopolist sets MC=MR </a:t>
            </a:r>
            <a:r>
              <a:rPr lang="en-US" sz="1200" kern="1200" baseline="0" dirty="0">
                <a:solidFill>
                  <a:schemeClr val="tx1"/>
                </a:solidFill>
                <a:effectLst/>
                <a:latin typeface="+mn-lt"/>
                <a:ea typeface="+mn-ea"/>
                <a:cs typeface="+mn-cs"/>
              </a:rPr>
              <a:t>— only difference with respect to perfect competition is that under perfect competition MR=P, but that is no longer the case for a monopolist.</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D36AC2A-E969-3C46-9ED8-B46D40C5E669}" type="slidenum">
              <a:rPr lang="en-US" smtClean="0"/>
              <a:t>12</a:t>
            </a:fld>
            <a:endParaRPr lang="en-US"/>
          </a:p>
        </p:txBody>
      </p:sp>
    </p:spTree>
    <p:extLst>
      <p:ext uri="{BB962C8B-B14F-4D97-AF65-F5344CB8AC3E}">
        <p14:creationId xmlns:p14="http://schemas.microsoft.com/office/powerpoint/2010/main" val="16718338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36AC2A-E969-3C46-9ED8-B46D40C5E669}" type="slidenum">
              <a:rPr lang="en-US" smtClean="0"/>
              <a:t>13</a:t>
            </a:fld>
            <a:endParaRPr lang="en-US"/>
          </a:p>
        </p:txBody>
      </p:sp>
    </p:spTree>
    <p:extLst>
      <p:ext uri="{BB962C8B-B14F-4D97-AF65-F5344CB8AC3E}">
        <p14:creationId xmlns:p14="http://schemas.microsoft.com/office/powerpoint/2010/main" val="35063213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36AC2A-E969-3C46-9ED8-B46D40C5E669}" type="slidenum">
              <a:rPr lang="en-US" smtClean="0"/>
              <a:t>14</a:t>
            </a:fld>
            <a:endParaRPr lang="en-US"/>
          </a:p>
        </p:txBody>
      </p:sp>
    </p:spTree>
    <p:extLst>
      <p:ext uri="{BB962C8B-B14F-4D97-AF65-F5344CB8AC3E}">
        <p14:creationId xmlns:p14="http://schemas.microsoft.com/office/powerpoint/2010/main" val="42284372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36AC2A-E969-3C46-9ED8-B46D40C5E669}" type="slidenum">
              <a:rPr lang="en-US" smtClean="0"/>
              <a:t>15</a:t>
            </a:fld>
            <a:endParaRPr lang="en-US"/>
          </a:p>
        </p:txBody>
      </p:sp>
    </p:spTree>
    <p:extLst>
      <p:ext uri="{BB962C8B-B14F-4D97-AF65-F5344CB8AC3E}">
        <p14:creationId xmlns:p14="http://schemas.microsoft.com/office/powerpoint/2010/main" val="5052745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36AC2A-E969-3C46-9ED8-B46D40C5E669}" type="slidenum">
              <a:rPr lang="en-US" smtClean="0"/>
              <a:t>16</a:t>
            </a:fld>
            <a:endParaRPr lang="en-US"/>
          </a:p>
        </p:txBody>
      </p:sp>
    </p:spTree>
    <p:extLst>
      <p:ext uri="{BB962C8B-B14F-4D97-AF65-F5344CB8AC3E}">
        <p14:creationId xmlns:p14="http://schemas.microsoft.com/office/powerpoint/2010/main" val="1256133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36AC2A-E969-3C46-9ED8-B46D40C5E669}" type="slidenum">
              <a:rPr lang="en-US" smtClean="0"/>
              <a:t>17</a:t>
            </a:fld>
            <a:endParaRPr lang="en-US"/>
          </a:p>
        </p:txBody>
      </p:sp>
    </p:spTree>
    <p:extLst>
      <p:ext uri="{BB962C8B-B14F-4D97-AF65-F5344CB8AC3E}">
        <p14:creationId xmlns:p14="http://schemas.microsoft.com/office/powerpoint/2010/main" val="28056649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36AC2A-E969-3C46-9ED8-B46D40C5E669}" type="slidenum">
              <a:rPr lang="en-US" smtClean="0"/>
              <a:t>18</a:t>
            </a:fld>
            <a:endParaRPr lang="en-US"/>
          </a:p>
        </p:txBody>
      </p:sp>
    </p:spTree>
    <p:extLst>
      <p:ext uri="{BB962C8B-B14F-4D97-AF65-F5344CB8AC3E}">
        <p14:creationId xmlns:p14="http://schemas.microsoft.com/office/powerpoint/2010/main" val="26314317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19</a:t>
            </a:fld>
            <a:endParaRPr lang="en-US"/>
          </a:p>
        </p:txBody>
      </p:sp>
    </p:spTree>
    <p:extLst>
      <p:ext uri="{BB962C8B-B14F-4D97-AF65-F5344CB8AC3E}">
        <p14:creationId xmlns:p14="http://schemas.microsoft.com/office/powerpoint/2010/main" val="32955425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20</a:t>
            </a:fld>
            <a:endParaRPr lang="en-US"/>
          </a:p>
        </p:txBody>
      </p:sp>
    </p:spTree>
    <p:extLst>
      <p:ext uri="{BB962C8B-B14F-4D97-AF65-F5344CB8AC3E}">
        <p14:creationId xmlns:p14="http://schemas.microsoft.com/office/powerpoint/2010/main" val="40370829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Reference: https://www.janeeckhout.com/wp-content/uploads/RMP.pdf Table 5.1.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Note that markup refers to </a:t>
            </a:r>
            <a:r>
              <a:rPr lang="en-US" sz="1200" i="1" dirty="0"/>
              <a:t>MC</a:t>
            </a:r>
            <a:r>
              <a:rPr lang="en-US" sz="1200" dirty="0"/>
              <a:t> and not </a:t>
            </a:r>
            <a:r>
              <a:rPr lang="en-US" sz="1200" i="1" dirty="0"/>
              <a:t>AVC</a:t>
            </a:r>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21</a:t>
            </a:fld>
            <a:endParaRPr lang="en-US"/>
          </a:p>
        </p:txBody>
      </p:sp>
    </p:spTree>
    <p:extLst>
      <p:ext uri="{BB962C8B-B14F-4D97-AF65-F5344CB8AC3E}">
        <p14:creationId xmlns:p14="http://schemas.microsoft.com/office/powerpoint/2010/main" val="7389781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22</a:t>
            </a:fld>
            <a:endParaRPr lang="en-US"/>
          </a:p>
        </p:txBody>
      </p:sp>
    </p:spTree>
    <p:extLst>
      <p:ext uri="{BB962C8B-B14F-4D97-AF65-F5344CB8AC3E}">
        <p14:creationId xmlns:p14="http://schemas.microsoft.com/office/powerpoint/2010/main" val="22102168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23</a:t>
            </a:fld>
            <a:endParaRPr lang="en-US"/>
          </a:p>
        </p:txBody>
      </p:sp>
    </p:spTree>
    <p:extLst>
      <p:ext uri="{BB962C8B-B14F-4D97-AF65-F5344CB8AC3E}">
        <p14:creationId xmlns:p14="http://schemas.microsoft.com/office/powerpoint/2010/main" val="26752336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From Henry Friedman (Accounting Prof):</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COGS is cost of goods sold. It’s about as close to a pure variable cost as you’re going to get. It’s basically what it cost the firm to get the stuff that it sells. For a merchandising or wholesaling firm, it’s basically the purchase price of inventory, though some shipping and </a:t>
            </a:r>
            <a:r>
              <a:rPr lang="en-US" sz="1200" kern="1200" dirty="0" err="1">
                <a:solidFill>
                  <a:schemeClr val="tx1"/>
                </a:solidFill>
                <a:effectLst/>
                <a:latin typeface="+mn-lt"/>
                <a:ea typeface="+mn-ea"/>
                <a:cs typeface="+mn-cs"/>
              </a:rPr>
              <a:t>wharehousing</a:t>
            </a:r>
            <a:r>
              <a:rPr lang="en-US" sz="1200" kern="1200" dirty="0">
                <a:solidFill>
                  <a:schemeClr val="tx1"/>
                </a:solidFill>
                <a:effectLst/>
                <a:latin typeface="+mn-lt"/>
                <a:ea typeface="+mn-ea"/>
                <a:cs typeface="+mn-cs"/>
              </a:rPr>
              <a:t> costs might be included. For a manufacturing firm, you’d also have some fixed costs (</a:t>
            </a:r>
            <a:r>
              <a:rPr lang="en-US" sz="1200" kern="1200" dirty="0" err="1">
                <a:solidFill>
                  <a:schemeClr val="tx1"/>
                </a:solidFill>
                <a:effectLst/>
                <a:latin typeface="+mn-lt"/>
                <a:ea typeface="+mn-ea"/>
                <a:cs typeface="+mn-cs"/>
              </a:rPr>
              <a:t>e.g</a:t>
            </a:r>
            <a:r>
              <a:rPr lang="en-US" sz="1200" kern="1200" dirty="0">
                <a:solidFill>
                  <a:schemeClr val="tx1"/>
                </a:solidFill>
                <a:effectLst/>
                <a:latin typeface="+mn-lt"/>
                <a:ea typeface="+mn-ea"/>
                <a:cs typeface="+mn-cs"/>
              </a:rPr>
              <a:t>,. assembly facility rent, production line manager and insurance) included, as these are allocated to inventory.</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For a service company, you might have a similar Cost of Services Sold (or cost of revenue) line, which for instance, would be the cost of consultants on a consulting team, but not the cost of the consulting firm’s management.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Linking back to markups, Gross margins, or (Revenue – COGS)/Revenue are close the Lerner index, as dividing the numerator and denominator by Q gets you to (P – AVC)/P, though the AVC here is average variable cost related to inventory specifically. There could be other variable costs, like sales commissions, that come into play. Still though, Gross margins are really close to the Lerner Index</a:t>
            </a:r>
            <a:r>
              <a:rPr lang="en-US" sz="1200" kern="1200">
                <a:solidFill>
                  <a:schemeClr val="tx1"/>
                </a:solidFill>
                <a:effectLst/>
                <a:latin typeface="+mn-lt"/>
                <a:ea typeface="+mn-ea"/>
                <a:cs typeface="+mn-cs"/>
              </a:rPr>
              <a:t>. </a:t>
            </a:r>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24</a:t>
            </a:fld>
            <a:endParaRPr lang="en-US"/>
          </a:p>
        </p:txBody>
      </p:sp>
    </p:spTree>
    <p:extLst>
      <p:ext uri="{BB962C8B-B14F-4D97-AF65-F5344CB8AC3E}">
        <p14:creationId xmlns:p14="http://schemas.microsoft.com/office/powerpoint/2010/main" val="30030093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 poll-</a:t>
            </a:r>
            <a:r>
              <a:rPr lang="en-US" dirty="0" err="1"/>
              <a:t>ev</a:t>
            </a:r>
            <a:r>
              <a:rPr lang="en-US" dirty="0"/>
              <a:t> Consider Coca-Cola and Dr Brown, which has the higher mark-up? </a:t>
            </a:r>
          </a:p>
          <a:p>
            <a:r>
              <a:rPr lang="en-US" dirty="0"/>
              <a:t>Elasticity is lower because of </a:t>
            </a:r>
            <a:r>
              <a:rPr lang="en-US" dirty="0" err="1"/>
              <a:t>nich</a:t>
            </a:r>
            <a:r>
              <a:rPr lang="en-US" dirty="0"/>
              <a:t> product</a:t>
            </a:r>
          </a:p>
        </p:txBody>
      </p:sp>
      <p:sp>
        <p:nvSpPr>
          <p:cNvPr id="4" name="Slide Number Placeholder 3"/>
          <p:cNvSpPr>
            <a:spLocks noGrp="1"/>
          </p:cNvSpPr>
          <p:nvPr>
            <p:ph type="sldNum" sz="quarter" idx="5"/>
          </p:nvPr>
        </p:nvSpPr>
        <p:spPr/>
        <p:txBody>
          <a:bodyPr/>
          <a:lstStyle/>
          <a:p>
            <a:fld id="{8D36AC2A-E969-3C46-9ED8-B46D40C5E669}" type="slidenum">
              <a:rPr lang="en-US" smtClean="0"/>
              <a:t>26</a:t>
            </a:fld>
            <a:endParaRPr lang="en-US"/>
          </a:p>
        </p:txBody>
      </p:sp>
    </p:spTree>
    <p:extLst>
      <p:ext uri="{BB962C8B-B14F-4D97-AF65-F5344CB8AC3E}">
        <p14:creationId xmlns:p14="http://schemas.microsoft.com/office/powerpoint/2010/main" val="6501442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What is the % of the Price that is due to Markup?
https://www.polleverywhere.com/multiple_choice_polls/N7b4Z8mD8cUApKIyTWkWe?state=opened&amp;flow=Default&amp;onscreen=persist</a:t>
            </a:r>
          </a:p>
        </p:txBody>
      </p:sp>
      <p:sp>
        <p:nvSpPr>
          <p:cNvPr id="4" name="Slide Number Placeholder 3"/>
          <p:cNvSpPr>
            <a:spLocks noGrp="1"/>
          </p:cNvSpPr>
          <p:nvPr>
            <p:ph type="sldNum" sz="quarter" idx="5"/>
          </p:nvPr>
        </p:nvSpPr>
        <p:spPr/>
        <p:txBody>
          <a:bodyPr/>
          <a:lstStyle/>
          <a:p>
            <a:fld id="{8D36AC2A-E969-3C46-9ED8-B46D40C5E669}" type="slidenum">
              <a:rPr lang="en-US" smtClean="0"/>
              <a:t>27</a:t>
            </a:fld>
            <a:endParaRPr lang="en-US"/>
          </a:p>
        </p:txBody>
      </p:sp>
      <p:sp>
        <p:nvSpPr>
          <p:cNvPr id="5" name="TextBox 4">
            <a:extLst>
              <a:ext uri="{FF2B5EF4-FFF2-40B4-BE49-F238E27FC236}">
                <a16:creationId xmlns:a16="http://schemas.microsoft.com/office/drawing/2014/main" id="{6782A494-856E-4460-B822-90578A67F99D}"/>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21609732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 poll-</a:t>
            </a:r>
            <a:r>
              <a:rPr lang="en-US" dirty="0" err="1"/>
              <a:t>ev</a:t>
            </a:r>
            <a:r>
              <a:rPr lang="en-US" dirty="0"/>
              <a:t> Consider Coca-Cola and Dr Brown, which has the higher mark-up? </a:t>
            </a:r>
          </a:p>
          <a:p>
            <a:r>
              <a:rPr lang="en-US" dirty="0"/>
              <a:t>Elasticity is lower because of </a:t>
            </a:r>
            <a:r>
              <a:rPr lang="en-US" dirty="0" err="1"/>
              <a:t>nich</a:t>
            </a:r>
            <a:r>
              <a:rPr lang="en-US" dirty="0"/>
              <a:t> product</a:t>
            </a:r>
          </a:p>
        </p:txBody>
      </p:sp>
      <p:sp>
        <p:nvSpPr>
          <p:cNvPr id="4" name="Slide Number Placeholder 3"/>
          <p:cNvSpPr>
            <a:spLocks noGrp="1"/>
          </p:cNvSpPr>
          <p:nvPr>
            <p:ph type="sldNum" sz="quarter" idx="5"/>
          </p:nvPr>
        </p:nvSpPr>
        <p:spPr/>
        <p:txBody>
          <a:bodyPr/>
          <a:lstStyle/>
          <a:p>
            <a:fld id="{8D36AC2A-E969-3C46-9ED8-B46D40C5E669}" type="slidenum">
              <a:rPr lang="en-US" smtClean="0"/>
              <a:t>28</a:t>
            </a:fld>
            <a:endParaRPr lang="en-US"/>
          </a:p>
        </p:txBody>
      </p:sp>
    </p:spTree>
    <p:extLst>
      <p:ext uri="{BB962C8B-B14F-4D97-AF65-F5344CB8AC3E}">
        <p14:creationId xmlns:p14="http://schemas.microsoft.com/office/powerpoint/2010/main" val="30428654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30</a:t>
            </a:fld>
            <a:endParaRPr lang="en-US"/>
          </a:p>
        </p:txBody>
      </p:sp>
    </p:spTree>
    <p:extLst>
      <p:ext uri="{BB962C8B-B14F-4D97-AF65-F5344CB8AC3E}">
        <p14:creationId xmlns:p14="http://schemas.microsoft.com/office/powerpoint/2010/main" val="20787179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459916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Article on </a:t>
            </a:r>
            <a:r>
              <a:rPr lang="en-US" dirty="0" err="1"/>
              <a:t>att</a:t>
            </a:r>
            <a:r>
              <a:rPr lang="en-US" dirty="0"/>
              <a:t>-time-warner merger </a:t>
            </a:r>
          </a:p>
          <a:p>
            <a:r>
              <a:rPr lang="en-US" dirty="0"/>
              <a:t>https://www.cnn.com/2019/02/26/media/att-time-warner-merger-ruling/index.html</a:t>
            </a:r>
          </a:p>
          <a:p>
            <a:endParaRPr lang="en-US" dirty="0"/>
          </a:p>
          <a:p>
            <a:r>
              <a:rPr lang="en-US" sz="1200" kern="1200" dirty="0">
                <a:solidFill>
                  <a:schemeClr val="tx1"/>
                </a:solidFill>
                <a:effectLst/>
                <a:latin typeface="+mn-lt"/>
                <a:ea typeface="+mn-ea"/>
                <a:cs typeface="+mn-cs"/>
              </a:rPr>
              <a:t>Live Nation / Ticketmaster merger</a:t>
            </a:r>
            <a:endParaRPr lang="en-US" dirty="0"/>
          </a:p>
          <a:p>
            <a:r>
              <a:rPr lang="en-US" dirty="0"/>
              <a:t>https://www.nytimes.com/2010/04/25/business/25ticket.html</a:t>
            </a:r>
          </a:p>
        </p:txBody>
      </p:sp>
      <p:sp>
        <p:nvSpPr>
          <p:cNvPr id="4" name="Slide Number Placeholder 3"/>
          <p:cNvSpPr>
            <a:spLocks noGrp="1"/>
          </p:cNvSpPr>
          <p:nvPr>
            <p:ph type="sldNum" sz="quarter" idx="10"/>
          </p:nvPr>
        </p:nvSpPr>
        <p:spPr/>
        <p:txBody>
          <a:bodyPr/>
          <a:lstStyle/>
          <a:p>
            <a:fld id="{8D36AC2A-E969-3C46-9ED8-B46D40C5E669}" type="slidenum">
              <a:rPr lang="en-US" smtClean="0"/>
              <a:t>32</a:t>
            </a:fld>
            <a:endParaRPr lang="en-US"/>
          </a:p>
        </p:txBody>
      </p:sp>
    </p:spTree>
    <p:extLst>
      <p:ext uri="{BB962C8B-B14F-4D97-AF65-F5344CB8AC3E}">
        <p14:creationId xmlns:p14="http://schemas.microsoft.com/office/powerpoint/2010/main" val="8033551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a monopolist charge</a:t>
            </a:r>
            <a:r>
              <a:rPr lang="en-US" baseline="0" dirty="0"/>
              <a:t>s a price above the MC, you might suspect that having market power is beneficial for firms. It is! We can characterize the welfare consequences of market power and specify how it affects consumers and the firm.</a:t>
            </a:r>
          </a:p>
          <a:p>
            <a:endParaRPr lang="en-US" baseline="0" dirty="0"/>
          </a:p>
          <a:p>
            <a:r>
              <a:rPr lang="en-US" baseline="0" dirty="0"/>
              <a:t>We compute consumer and producer surplus similar to the competitive market setting.</a:t>
            </a:r>
          </a:p>
          <a:p>
            <a:endParaRPr lang="en-US" baseline="0" dirty="0"/>
          </a:p>
          <a:p>
            <a:r>
              <a:rPr lang="en-US" baseline="0" dirty="0"/>
              <a:t>Consumer surplus: the area under the demand curve and above the price</a:t>
            </a:r>
          </a:p>
          <a:p>
            <a:r>
              <a:rPr lang="en-US" baseline="0" dirty="0"/>
              <a:t>Producer surplus: the area above the MC curve and below the price. (Recall that a firm’s short run supply curve in a perfectly competitive market is where the MC curve is above AVC.)</a:t>
            </a:r>
          </a:p>
          <a:p>
            <a:endParaRPr lang="en-US" baseline="0" dirty="0"/>
          </a:p>
          <a:p>
            <a:r>
              <a:rPr lang="en-US" baseline="0" dirty="0"/>
              <a:t>Under monopoly (relative to perfect competition): </a:t>
            </a:r>
          </a:p>
          <a:p>
            <a:r>
              <a:rPr lang="en-US" baseline="0" dirty="0"/>
              <a:t>--consumer surplus declines.</a:t>
            </a:r>
          </a:p>
          <a:p>
            <a:r>
              <a:rPr lang="en-US" baseline="0" dirty="0"/>
              <a:t>--producer surplus rises.</a:t>
            </a:r>
          </a:p>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a:t>--total welfare is reduced (deadweight loss of market power).</a:t>
            </a:r>
          </a:p>
          <a:p>
            <a:endParaRPr lang="en-US" dirty="0"/>
          </a:p>
        </p:txBody>
      </p:sp>
      <p:sp>
        <p:nvSpPr>
          <p:cNvPr id="4" name="Slide Number Placeholder 3"/>
          <p:cNvSpPr>
            <a:spLocks noGrp="1"/>
          </p:cNvSpPr>
          <p:nvPr>
            <p:ph type="sldNum" sz="quarter" idx="10"/>
          </p:nvPr>
        </p:nvSpPr>
        <p:spPr/>
        <p:txBody>
          <a:bodyPr/>
          <a:lstStyle/>
          <a:p>
            <a:fld id="{8D36AC2A-E969-3C46-9ED8-B46D40C5E669}" type="slidenum">
              <a:rPr lang="en-US" smtClean="0"/>
              <a:t>33</a:t>
            </a:fld>
            <a:endParaRPr lang="en-US"/>
          </a:p>
        </p:txBody>
      </p:sp>
    </p:spTree>
    <p:extLst>
      <p:ext uri="{BB962C8B-B14F-4D97-AF65-F5344CB8AC3E}">
        <p14:creationId xmlns:p14="http://schemas.microsoft.com/office/powerpoint/2010/main" val="42618577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a monopolist charge</a:t>
            </a:r>
            <a:r>
              <a:rPr lang="en-US" baseline="0" dirty="0"/>
              <a:t>s a price above the MC, you might suspect that having market power is beneficial for firms. It is! We can characterize the welfare consequences of market power and specify how it affects consumers and the firm.</a:t>
            </a:r>
          </a:p>
          <a:p>
            <a:endParaRPr lang="en-US" baseline="0" dirty="0"/>
          </a:p>
          <a:p>
            <a:r>
              <a:rPr lang="en-US" baseline="0" dirty="0"/>
              <a:t>We compute consumer and producer surplus similar to the competitive market setting.</a:t>
            </a:r>
          </a:p>
          <a:p>
            <a:endParaRPr lang="en-US" baseline="0" dirty="0"/>
          </a:p>
          <a:p>
            <a:r>
              <a:rPr lang="en-US" baseline="0" dirty="0"/>
              <a:t>Consumer surplus: the area under the demand curve and above the price</a:t>
            </a:r>
          </a:p>
          <a:p>
            <a:r>
              <a:rPr lang="en-US" baseline="0" dirty="0"/>
              <a:t>Producer surplus: the area above the MC curve and below the price. (Recall that a firm’s short run supply curve in a perfectly competitive market is where the MC curve is above AVC.)</a:t>
            </a:r>
          </a:p>
          <a:p>
            <a:endParaRPr lang="en-US" baseline="0" dirty="0"/>
          </a:p>
          <a:p>
            <a:r>
              <a:rPr lang="en-US" baseline="0" dirty="0"/>
              <a:t>Under monopoly (relative to perfect competition): </a:t>
            </a:r>
          </a:p>
          <a:p>
            <a:r>
              <a:rPr lang="en-US" baseline="0" dirty="0"/>
              <a:t>--consumer surplus declines.</a:t>
            </a:r>
          </a:p>
          <a:p>
            <a:r>
              <a:rPr lang="en-US" baseline="0" dirty="0"/>
              <a:t>--producer surplus rises.</a:t>
            </a:r>
          </a:p>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a:t>--total welfare is reduced (deadweight loss of market power).</a:t>
            </a:r>
          </a:p>
          <a:p>
            <a:endParaRPr lang="en-US" dirty="0"/>
          </a:p>
        </p:txBody>
      </p:sp>
      <p:sp>
        <p:nvSpPr>
          <p:cNvPr id="4" name="Slide Number Placeholder 3"/>
          <p:cNvSpPr>
            <a:spLocks noGrp="1"/>
          </p:cNvSpPr>
          <p:nvPr>
            <p:ph type="sldNum" sz="quarter" idx="10"/>
          </p:nvPr>
        </p:nvSpPr>
        <p:spPr/>
        <p:txBody>
          <a:bodyPr/>
          <a:lstStyle/>
          <a:p>
            <a:fld id="{8D36AC2A-E969-3C46-9ED8-B46D40C5E669}" type="slidenum">
              <a:rPr lang="en-US" smtClean="0"/>
              <a:t>34</a:t>
            </a:fld>
            <a:endParaRPr lang="en-US"/>
          </a:p>
        </p:txBody>
      </p:sp>
    </p:spTree>
    <p:extLst>
      <p:ext uri="{BB962C8B-B14F-4D97-AF65-F5344CB8AC3E}">
        <p14:creationId xmlns:p14="http://schemas.microsoft.com/office/powerpoint/2010/main" val="11977356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hlinkClick r:id="rId3"/>
              </a:rPr>
              <a:t>https://www.youtube.com/watch?v=gDdq2rIqAlM&amp;t=589s</a:t>
            </a:r>
            <a:endParaRPr lang="en-US" sz="1200" dirty="0"/>
          </a:p>
          <a:p>
            <a:endParaRPr lang="en-US" dirty="0"/>
          </a:p>
          <a:p>
            <a:r>
              <a:rPr lang="en-US" dirty="0"/>
              <a:t>Watch 0:55 (if time)</a:t>
            </a:r>
          </a:p>
          <a:p>
            <a:r>
              <a:rPr lang="en-US" dirty="0"/>
              <a:t>Watch from 5:00 –  (if less time)</a:t>
            </a:r>
          </a:p>
          <a:p>
            <a:r>
              <a:rPr lang="en-US" dirty="0"/>
              <a:t>Watch from 6:45 if previously assigned video</a:t>
            </a:r>
          </a:p>
          <a:p>
            <a:endParaRPr lang="en-US" dirty="0"/>
          </a:p>
          <a:p>
            <a:r>
              <a:rPr lang="en-US" dirty="0"/>
              <a:t>Note: Merger with Essilor in 2018: </a:t>
            </a:r>
            <a:r>
              <a:rPr lang="en-US" b="1" dirty="0" err="1"/>
              <a:t>EssilorLuxottica</a:t>
            </a:r>
            <a:endParaRPr lang="en-US" b="1" dirty="0"/>
          </a:p>
          <a:p>
            <a:r>
              <a:rPr lang="en-US" dirty="0"/>
              <a:t>New entrant: </a:t>
            </a:r>
            <a:r>
              <a:rPr lang="en-US" dirty="0" err="1"/>
              <a:t>Warby</a:t>
            </a:r>
            <a:r>
              <a:rPr lang="en-US" dirty="0"/>
              <a:t> Parker </a:t>
            </a:r>
            <a:endParaRPr lang="en-US" b="1" dirty="0"/>
          </a:p>
        </p:txBody>
      </p:sp>
      <p:sp>
        <p:nvSpPr>
          <p:cNvPr id="4" name="Slide Number Placeholder 3"/>
          <p:cNvSpPr>
            <a:spLocks noGrp="1"/>
          </p:cNvSpPr>
          <p:nvPr>
            <p:ph type="sldNum" sz="quarter" idx="5"/>
          </p:nvPr>
        </p:nvSpPr>
        <p:spPr/>
        <p:txBody>
          <a:bodyPr/>
          <a:lstStyle/>
          <a:p>
            <a:fld id="{8D36AC2A-E969-3C46-9ED8-B46D40C5E669}" type="slidenum">
              <a:rPr lang="en-US" smtClean="0"/>
              <a:t>35</a:t>
            </a:fld>
            <a:endParaRPr lang="en-US"/>
          </a:p>
        </p:txBody>
      </p:sp>
    </p:spTree>
    <p:extLst>
      <p:ext uri="{BB962C8B-B14F-4D97-AF65-F5344CB8AC3E}">
        <p14:creationId xmlns:p14="http://schemas.microsoft.com/office/powerpoint/2010/main" val="7713432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38</a:t>
            </a:fld>
            <a:endParaRPr lang="en-US"/>
          </a:p>
        </p:txBody>
      </p:sp>
    </p:spTree>
    <p:extLst>
      <p:ext uri="{BB962C8B-B14F-4D97-AF65-F5344CB8AC3E}">
        <p14:creationId xmlns:p14="http://schemas.microsoft.com/office/powerpoint/2010/main" val="3752218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rationales</a:t>
            </a:r>
            <a:r>
              <a:rPr lang="en-US" baseline="0" dirty="0"/>
              <a:t> for regulating monopoly:</a:t>
            </a:r>
          </a:p>
          <a:p>
            <a:r>
              <a:rPr lang="en-US" baseline="0" dirty="0"/>
              <a:t>-- total welfare</a:t>
            </a:r>
          </a:p>
          <a:p>
            <a:r>
              <a:rPr lang="en-US" baseline="0" dirty="0"/>
              <a:t>-- allocation of surplus among consumers and producers</a:t>
            </a:r>
            <a:endParaRPr lang="en-US" dirty="0"/>
          </a:p>
          <a:p>
            <a:endParaRPr lang="en-US" dirty="0"/>
          </a:p>
          <a:p>
            <a:r>
              <a:rPr lang="en-US" dirty="0"/>
              <a:t>For more on the AT&amp;T</a:t>
            </a:r>
            <a:r>
              <a:rPr lang="en-US" baseline="0" dirty="0"/>
              <a:t> breakup: http://articles.latimes.com/1995-09-21/business/fi-48462_1_system-breakup</a:t>
            </a:r>
          </a:p>
          <a:p>
            <a:endParaRPr lang="en-US" baseline="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baseline="0" dirty="0"/>
              <a:t>…but many mergers that limit competition still go through. CF </a:t>
            </a:r>
            <a:r>
              <a:rPr lang="en-US" sz="1200" dirty="0">
                <a:solidFill>
                  <a:srgbClr val="1F497D">
                    <a:lumMod val="75000"/>
                  </a:srgbClr>
                </a:solidFill>
              </a:rPr>
              <a:t>Live </a:t>
            </a:r>
            <a:r>
              <a:rPr lang="en-US" sz="1200" dirty="0" err="1">
                <a:solidFill>
                  <a:srgbClr val="1F497D">
                    <a:lumMod val="75000"/>
                  </a:srgbClr>
                </a:solidFill>
              </a:rPr>
              <a:t>Nation+Ticketmaster</a:t>
            </a:r>
            <a:r>
              <a:rPr lang="en-US" sz="1200" dirty="0">
                <a:solidFill>
                  <a:srgbClr val="1F497D">
                    <a:lumMod val="75000"/>
                  </a:srgbClr>
                </a:solidFill>
              </a:rPr>
              <a:t> merger </a:t>
            </a:r>
            <a:r>
              <a:rPr lang="en-US" sz="1200">
                <a:solidFill>
                  <a:srgbClr val="1F497D">
                    <a:lumMod val="75000"/>
                  </a:srgbClr>
                </a:solidFill>
              </a:rPr>
              <a:t>in 2010: https://www.vox.com/the-goods/23569504/ticketmaster-monopoly-live-nation-taylor-swift-antitrust-clyde-Lawrence </a:t>
            </a:r>
            <a:endParaRPr kumimoji="0" lang="en-US" sz="1200" b="0" i="0" u="none" strike="noStrike" kern="1100" cap="none" spc="50" normalizeH="0" baseline="0" noProof="0">
              <a:ln>
                <a:noFill/>
              </a:ln>
              <a:solidFill>
                <a:srgbClr val="1F497D">
                  <a:lumMod val="75000"/>
                </a:srgbClr>
              </a:solidFill>
              <a:effectLst/>
              <a:uLnTx/>
              <a:uFillTx/>
              <a:latin typeface="Whitney-Book"/>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39</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817414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website is really cool: https://concentrationcrisis.openmarketsinstitute.org/</a:t>
            </a:r>
          </a:p>
          <a:p>
            <a:r>
              <a:rPr lang="en-US" dirty="0"/>
              <a:t>You can click on the sector and see how  concentrated each market is:</a:t>
            </a:r>
          </a:p>
          <a:p>
            <a:endParaRPr lang="en-US" dirty="0"/>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40</a:t>
            </a:fld>
            <a:endParaRPr lang="en-US"/>
          </a:p>
        </p:txBody>
      </p:sp>
    </p:spTree>
    <p:extLst>
      <p:ext uri="{BB962C8B-B14F-4D97-AF65-F5344CB8AC3E}">
        <p14:creationId xmlns:p14="http://schemas.microsoft.com/office/powerpoint/2010/main" val="12260329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More price comparisons for medical procedures: https://www.nytimes.com/2019/12/27/upshot/expensive-health-care-world-comparison.html</a:t>
            </a:r>
          </a:p>
        </p:txBody>
      </p:sp>
      <p:sp>
        <p:nvSpPr>
          <p:cNvPr id="4" name="Slide Number Placeholder 3"/>
          <p:cNvSpPr>
            <a:spLocks noGrp="1"/>
          </p:cNvSpPr>
          <p:nvPr>
            <p:ph type="sldNum" sz="quarter" idx="5"/>
          </p:nvPr>
        </p:nvSpPr>
        <p:spPr/>
        <p:txBody>
          <a:bodyPr/>
          <a:lstStyle/>
          <a:p>
            <a:fld id="{8D36AC2A-E969-3C46-9ED8-B46D40C5E669}" type="slidenum">
              <a:rPr lang="en-US" smtClean="0"/>
              <a:t>41</a:t>
            </a:fld>
            <a:endParaRPr lang="en-US"/>
          </a:p>
        </p:txBody>
      </p:sp>
    </p:spTree>
    <p:extLst>
      <p:ext uri="{BB962C8B-B14F-4D97-AF65-F5344CB8AC3E}">
        <p14:creationId xmlns:p14="http://schemas.microsoft.com/office/powerpoint/2010/main" val="28275515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website is really cool: https://concentrationcrisis.openmarketsinstitute.org/</a:t>
            </a:r>
          </a:p>
          <a:p>
            <a:r>
              <a:rPr lang="en-US" dirty="0"/>
              <a:t>You can click on the sector and see how  concentrated each market is:</a:t>
            </a:r>
          </a:p>
          <a:p>
            <a:endParaRPr lang="en-US" dirty="0"/>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42</a:t>
            </a:fld>
            <a:endParaRPr lang="en-US"/>
          </a:p>
        </p:txBody>
      </p:sp>
    </p:spTree>
    <p:extLst>
      <p:ext uri="{BB962C8B-B14F-4D97-AF65-F5344CB8AC3E}">
        <p14:creationId xmlns:p14="http://schemas.microsoft.com/office/powerpoint/2010/main" val="178633230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normAutofit/>
              </a:bodyPr>
              <a:lstStyle/>
              <a:p>
                <a:r>
                  <a:rPr lang="fr-FR" dirty="0"/>
                  <a:t>Source: </a:t>
                </a:r>
                <a:r>
                  <a:rPr lang="fr-FR" dirty="0" err="1"/>
                  <a:t>DeLoecker</a:t>
                </a:r>
                <a:r>
                  <a:rPr lang="fr-FR" dirty="0"/>
                  <a:t> et al, QJE 2020:</a:t>
                </a:r>
                <a:r>
                  <a:rPr lang="fr-FR" b="0" dirty="0"/>
                  <a:t> </a:t>
                </a:r>
                <a:r>
                  <a:rPr lang="en-US" sz="1200" b="0" i="0" u="none" strike="noStrike" kern="1200" baseline="0" dirty="0">
                    <a:solidFill>
                      <a:schemeClr val="tx1"/>
                    </a:solidFill>
                    <a:latin typeface="+mn-lt"/>
                    <a:ea typeface="+mn-ea"/>
                    <a:cs typeface="+mn-cs"/>
                  </a:rPr>
                  <a:t>The Rise of Market Power and the Macroeconomic Implications</a:t>
                </a: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sym typeface="Wingdings" panose="05000000000000000000" pitchFamily="2" charset="2"/>
                </a:endParaRPr>
              </a:p>
              <a:p>
                <a:r>
                  <a:rPr lang="en-US" sz="1200" b="0" dirty="0">
                    <a:solidFill>
                      <a:schemeClr val="bg1">
                        <a:lumMod val="65000"/>
                      </a:schemeClr>
                    </a:solidFill>
                  </a:rPr>
                  <a:t>Note: </a:t>
                </a:r>
                <a14:m>
                  <m:oMath xmlns:m="http://schemas.openxmlformats.org/officeDocument/2006/math">
                    <m:r>
                      <a:rPr lang="en-US" sz="1200" b="0" i="1" smtClean="0">
                        <a:solidFill>
                          <a:schemeClr val="bg1">
                            <a:lumMod val="65000"/>
                          </a:schemeClr>
                        </a:solidFill>
                        <a:latin typeface="Cambria Math" panose="02040503050406030204" pitchFamily="18" charset="0"/>
                      </a:rPr>
                      <m:t>𝐿</m:t>
                    </m:r>
                    <m:r>
                      <a:rPr lang="en-US" sz="1200" b="0" i="1" smtClean="0">
                        <a:solidFill>
                          <a:schemeClr val="bg1">
                            <a:lumMod val="65000"/>
                          </a:schemeClr>
                        </a:solidFill>
                        <a:latin typeface="Cambria Math" panose="02040503050406030204" pitchFamily="18" charset="0"/>
                      </a:rPr>
                      <m:t>=</m:t>
                    </m:r>
                    <m:f>
                      <m:fPr>
                        <m:ctrlPr>
                          <a:rPr lang="en-US" sz="1200" b="0" i="1" smtClean="0">
                            <a:solidFill>
                              <a:schemeClr val="bg1">
                                <a:lumMod val="65000"/>
                              </a:schemeClr>
                            </a:solidFill>
                            <a:latin typeface="Cambria Math" panose="02040503050406030204" pitchFamily="18" charset="0"/>
                          </a:rPr>
                        </m:ctrlPr>
                      </m:fPr>
                      <m:num>
                        <m:f>
                          <m:fPr>
                            <m:ctrlPr>
                              <a:rPr lang="en-US" sz="1200" b="0" i="1" smtClean="0">
                                <a:solidFill>
                                  <a:schemeClr val="bg1">
                                    <a:lumMod val="65000"/>
                                  </a:schemeClr>
                                </a:solidFill>
                                <a:latin typeface="Cambria Math" panose="02040503050406030204" pitchFamily="18" charset="0"/>
                              </a:rPr>
                            </m:ctrlPr>
                          </m:fPr>
                          <m:num>
                            <m:r>
                              <a:rPr lang="en-US" sz="1200" b="0" i="1" smtClean="0">
                                <a:solidFill>
                                  <a:schemeClr val="bg1">
                                    <a:lumMod val="65000"/>
                                  </a:schemeClr>
                                </a:solidFill>
                                <a:latin typeface="Cambria Math" panose="02040503050406030204" pitchFamily="18" charset="0"/>
                              </a:rPr>
                              <m:t>𝑃</m:t>
                            </m:r>
                          </m:num>
                          <m:den>
                            <m:r>
                              <a:rPr lang="en-US" sz="1200" b="0" i="1" smtClean="0">
                                <a:solidFill>
                                  <a:schemeClr val="bg1">
                                    <a:lumMod val="65000"/>
                                  </a:schemeClr>
                                </a:solidFill>
                                <a:latin typeface="Cambria Math" panose="02040503050406030204" pitchFamily="18" charset="0"/>
                              </a:rPr>
                              <m:t>𝑀𝐶</m:t>
                            </m:r>
                          </m:den>
                        </m:f>
                        <m:r>
                          <a:rPr lang="en-US" sz="1200" b="0" i="1" smtClean="0">
                            <a:solidFill>
                              <a:schemeClr val="bg1">
                                <a:lumMod val="65000"/>
                              </a:schemeClr>
                            </a:solidFill>
                            <a:latin typeface="Cambria Math" panose="02040503050406030204" pitchFamily="18" charset="0"/>
                          </a:rPr>
                          <m:t> − 1</m:t>
                        </m:r>
                      </m:num>
                      <m:den>
                        <m:f>
                          <m:fPr>
                            <m:ctrlPr>
                              <a:rPr lang="en-US" sz="1200" b="0" i="1" smtClean="0">
                                <a:solidFill>
                                  <a:schemeClr val="bg1">
                                    <a:lumMod val="65000"/>
                                  </a:schemeClr>
                                </a:solidFill>
                                <a:latin typeface="Cambria Math" panose="02040503050406030204" pitchFamily="18" charset="0"/>
                              </a:rPr>
                            </m:ctrlPr>
                          </m:fPr>
                          <m:num>
                            <m:r>
                              <a:rPr lang="en-US" sz="1200" b="0" i="1" smtClean="0">
                                <a:solidFill>
                                  <a:schemeClr val="bg1">
                                    <a:lumMod val="65000"/>
                                  </a:schemeClr>
                                </a:solidFill>
                                <a:latin typeface="Cambria Math" panose="02040503050406030204" pitchFamily="18" charset="0"/>
                              </a:rPr>
                              <m:t>𝑃</m:t>
                            </m:r>
                          </m:num>
                          <m:den>
                            <m:r>
                              <a:rPr lang="en-US" sz="1200" b="0" i="1" smtClean="0">
                                <a:solidFill>
                                  <a:schemeClr val="bg1">
                                    <a:lumMod val="65000"/>
                                  </a:schemeClr>
                                </a:solidFill>
                                <a:latin typeface="Cambria Math" panose="02040503050406030204" pitchFamily="18" charset="0"/>
                              </a:rPr>
                              <m:t>𝑀𝐶</m:t>
                            </m:r>
                          </m:den>
                        </m:f>
                      </m:den>
                    </m:f>
                  </m:oMath>
                </a14:m>
                <a:r>
                  <a:rPr lang="en-US" sz="1200" b="0" dirty="0">
                    <a:solidFill>
                      <a:schemeClr val="bg1">
                        <a:lumMod val="65000"/>
                      </a:schemeClr>
                    </a:solidFill>
                  </a:rPr>
                  <a:t> . So if </a:t>
                </a:r>
                <a14:m>
                  <m:oMath xmlns:m="http://schemas.openxmlformats.org/officeDocument/2006/math">
                    <m:f>
                      <m:fPr>
                        <m:ctrlPr>
                          <a:rPr lang="en-US" sz="1200" i="1">
                            <a:solidFill>
                              <a:schemeClr val="bg1">
                                <a:lumMod val="65000"/>
                              </a:schemeClr>
                            </a:solidFill>
                            <a:latin typeface="Cambria Math" panose="02040503050406030204" pitchFamily="18" charset="0"/>
                          </a:rPr>
                        </m:ctrlPr>
                      </m:fPr>
                      <m:num>
                        <m:r>
                          <a:rPr lang="en-US" sz="1200" i="1">
                            <a:solidFill>
                              <a:schemeClr val="bg1">
                                <a:lumMod val="65000"/>
                              </a:schemeClr>
                            </a:solidFill>
                            <a:latin typeface="Cambria Math" panose="02040503050406030204" pitchFamily="18" charset="0"/>
                          </a:rPr>
                          <m:t>𝑃</m:t>
                        </m:r>
                      </m:num>
                      <m:den>
                        <m:r>
                          <a:rPr lang="en-US" sz="1200" i="1">
                            <a:solidFill>
                              <a:schemeClr val="bg1">
                                <a:lumMod val="65000"/>
                              </a:schemeClr>
                            </a:solidFill>
                            <a:latin typeface="Cambria Math" panose="02040503050406030204" pitchFamily="18" charset="0"/>
                          </a:rPr>
                          <m:t>𝑀𝐶</m:t>
                        </m:r>
                      </m:den>
                    </m:f>
                  </m:oMath>
                </a14:m>
                <a:r>
                  <a:rPr lang="en-US" sz="1200" b="0" dirty="0">
                    <a:solidFill>
                      <a:schemeClr val="bg1">
                        <a:lumMod val="65000"/>
                      </a:schemeClr>
                    </a:solidFill>
                  </a:rPr>
                  <a:t> = 1.5 </a:t>
                </a:r>
                <a:r>
                  <a:rPr lang="en-US" sz="1200" b="0" dirty="0">
                    <a:solidFill>
                      <a:schemeClr val="bg1">
                        <a:lumMod val="65000"/>
                      </a:schemeClr>
                    </a:solidFill>
                    <a:sym typeface="Wingdings" panose="05000000000000000000" pitchFamily="2" charset="2"/>
                  </a:rPr>
                  <a:t> L=0.33 </a:t>
                </a:r>
                <a:r>
                  <a:rPr lang="en-US" sz="1050" b="0" dirty="0">
                    <a:solidFill>
                      <a:schemeClr val="bg1">
                        <a:lumMod val="65000"/>
                      </a:schemeClr>
                    </a:solidFill>
                    <a:sym typeface="Wingdings" panose="05000000000000000000" pitchFamily="2" charset="2"/>
                  </a:rPr>
                  <a:t> [Not needed for exam!]</a:t>
                </a:r>
                <a:endParaRPr lang="en-US" b="0" dirty="0"/>
              </a:p>
            </p:txBody>
          </p:sp>
        </mc:Choice>
        <mc:Fallback xmlns="">
          <p:sp>
            <p:nvSpPr>
              <p:cNvPr id="3" name="Notes Placeholder 2"/>
              <p:cNvSpPr>
                <a:spLocks noGrp="1"/>
              </p:cNvSpPr>
              <p:nvPr>
                <p:ph type="body" idx="1"/>
              </p:nvPr>
            </p:nvSpPr>
            <p:spPr/>
            <p:txBody>
              <a:bodyPr>
                <a:normAutofit/>
              </a:bodyPr>
              <a:lstStyle/>
              <a:p>
                <a:r>
                  <a:rPr lang="fr-FR" dirty="0"/>
                  <a:t>Source: </a:t>
                </a:r>
                <a:r>
                  <a:rPr lang="fr-FR" dirty="0" err="1"/>
                  <a:t>DeLoecker</a:t>
                </a:r>
                <a:r>
                  <a:rPr lang="fr-FR" dirty="0"/>
                  <a:t> et al, QJE 2020:</a:t>
                </a:r>
                <a:r>
                  <a:rPr lang="fr-FR" b="0" dirty="0"/>
                  <a:t> </a:t>
                </a:r>
                <a:r>
                  <a:rPr lang="en-US" sz="1200" b="0" i="0" u="none" strike="noStrike" kern="1200" baseline="0" dirty="0">
                    <a:solidFill>
                      <a:schemeClr val="tx1"/>
                    </a:solidFill>
                    <a:latin typeface="+mn-lt"/>
                    <a:ea typeface="+mn-ea"/>
                    <a:cs typeface="+mn-cs"/>
                  </a:rPr>
                  <a:t>The Rise of Market Power and the Macroeconomic Implications</a:t>
                </a: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sym typeface="Wingdings" panose="05000000000000000000" pitchFamily="2" charset="2"/>
                </a:endParaRPr>
              </a:p>
              <a:p>
                <a:r>
                  <a:rPr lang="en-US" sz="1200" b="0" dirty="0">
                    <a:solidFill>
                      <a:schemeClr val="bg1">
                        <a:lumMod val="65000"/>
                      </a:schemeClr>
                    </a:solidFill>
                  </a:rPr>
                  <a:t>Note: </a:t>
                </a:r>
                <a:r>
                  <a:rPr lang="en-US" sz="1200" b="0" i="0">
                    <a:solidFill>
                      <a:schemeClr val="bg1">
                        <a:lumMod val="65000"/>
                      </a:schemeClr>
                    </a:solidFill>
                    <a:latin typeface="Cambria Math" panose="02040503050406030204" pitchFamily="18" charset="0"/>
                  </a:rPr>
                  <a:t>𝐿=(𝑃/𝑀𝐶  − 1)/(𝑃/𝑀𝐶)</a:t>
                </a:r>
                <a:r>
                  <a:rPr lang="en-US" sz="1200" b="0" dirty="0">
                    <a:solidFill>
                      <a:schemeClr val="bg1">
                        <a:lumMod val="65000"/>
                      </a:schemeClr>
                    </a:solidFill>
                  </a:rPr>
                  <a:t> . So if </a:t>
                </a:r>
                <a:r>
                  <a:rPr lang="en-US" sz="1200" i="0">
                    <a:solidFill>
                      <a:schemeClr val="bg1">
                        <a:lumMod val="65000"/>
                      </a:schemeClr>
                    </a:solidFill>
                    <a:latin typeface="Cambria Math" panose="02040503050406030204" pitchFamily="18" charset="0"/>
                  </a:rPr>
                  <a:t>𝑃/𝑀𝐶</a:t>
                </a:r>
                <a:r>
                  <a:rPr lang="en-US" sz="1200" b="0" dirty="0">
                    <a:solidFill>
                      <a:schemeClr val="bg1">
                        <a:lumMod val="65000"/>
                      </a:schemeClr>
                    </a:solidFill>
                  </a:rPr>
                  <a:t> = 1.5 </a:t>
                </a:r>
                <a:r>
                  <a:rPr lang="en-US" sz="1200" b="0" dirty="0">
                    <a:solidFill>
                      <a:schemeClr val="bg1">
                        <a:lumMod val="65000"/>
                      </a:schemeClr>
                    </a:solidFill>
                    <a:sym typeface="Wingdings" panose="05000000000000000000" pitchFamily="2" charset="2"/>
                  </a:rPr>
                  <a:t> L=0.33 </a:t>
                </a:r>
                <a:r>
                  <a:rPr lang="en-US" sz="1050" b="0" dirty="0">
                    <a:solidFill>
                      <a:schemeClr val="bg1">
                        <a:lumMod val="65000"/>
                      </a:schemeClr>
                    </a:solidFill>
                    <a:sym typeface="Wingdings" panose="05000000000000000000" pitchFamily="2" charset="2"/>
                  </a:rPr>
                  <a:t> [Not needed for exam!]</a:t>
                </a:r>
                <a:endParaRPr lang="en-US" b="0" dirty="0"/>
              </a:p>
            </p:txBody>
          </p:sp>
        </mc:Fallback>
      </mc:AlternateContent>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B94B4F-1C3E-42AD-8B65-1B752C8E558F}"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43</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878457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Even if you are the only player on a market, you have to worry about </a:t>
            </a:r>
            <a:r>
              <a:rPr lang="en-US" sz="1200" i="1" kern="1200" dirty="0">
                <a:solidFill>
                  <a:schemeClr val="tx1"/>
                </a:solidFill>
                <a:effectLst/>
                <a:latin typeface="+mn-lt"/>
                <a:ea typeface="+mn-ea"/>
                <a:cs typeface="+mn-cs"/>
              </a:rPr>
              <a:t>potential</a:t>
            </a:r>
            <a:r>
              <a:rPr lang="en-US" sz="1200" kern="1200" dirty="0">
                <a:solidFill>
                  <a:schemeClr val="tx1"/>
                </a:solidFill>
                <a:effectLst/>
                <a:latin typeface="+mn-lt"/>
                <a:ea typeface="+mn-ea"/>
                <a:cs typeface="+mn-cs"/>
              </a:rPr>
              <a:t> entry: contestable markets. </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4777473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ULCC: discussion on page 321 of the textbook</a:t>
            </a:r>
          </a:p>
          <a:p>
            <a:r>
              <a:rPr lang="en-US" dirty="0"/>
              <a:t>Allegiant, Frontier and Spirit, undercut fares offered by incumbent carriers.</a:t>
            </a:r>
          </a:p>
          <a:p>
            <a:r>
              <a:rPr lang="en-US" dirty="0"/>
              <a:t>Prices can fall by double digit, number of passengers goes up. </a:t>
            </a:r>
          </a:p>
          <a:p>
            <a:r>
              <a:rPr lang="en-US" dirty="0"/>
              <a:t>Drop in prices: Chicago O’Hare (23%), Newark (22%), Houston George Bush Intercontinental (21%), Dallas/Fort Worth (20%), Las Vegas McCarran (20%)</a:t>
            </a:r>
          </a:p>
          <a:p>
            <a:r>
              <a:rPr lang="en-US" dirty="0"/>
              <a:t>The airline sector is very concentrated: Delta (22%), American (21%), United (18%), Southwest (15%) </a:t>
            </a:r>
          </a:p>
        </p:txBody>
      </p:sp>
      <p:sp>
        <p:nvSpPr>
          <p:cNvPr id="4" name="Slide Number Placeholder 3"/>
          <p:cNvSpPr>
            <a:spLocks noGrp="1"/>
          </p:cNvSpPr>
          <p:nvPr>
            <p:ph type="sldNum" sz="quarter" idx="5"/>
          </p:nvPr>
        </p:nvSpPr>
        <p:spPr/>
        <p:txBody>
          <a:bodyPr/>
          <a:lstStyle/>
          <a:p>
            <a:fld id="{8D36AC2A-E969-3C46-9ED8-B46D40C5E669}" type="slidenum">
              <a:rPr lang="en-US" smtClean="0"/>
              <a:t>45</a:t>
            </a:fld>
            <a:endParaRPr lang="en-US"/>
          </a:p>
        </p:txBody>
      </p:sp>
    </p:spTree>
    <p:extLst>
      <p:ext uri="{BB962C8B-B14F-4D97-AF65-F5344CB8AC3E}">
        <p14:creationId xmlns:p14="http://schemas.microsoft.com/office/powerpoint/2010/main" val="28613350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46</a:t>
            </a:fld>
            <a:endParaRPr lang="en-US"/>
          </a:p>
        </p:txBody>
      </p:sp>
    </p:spTree>
    <p:extLst>
      <p:ext uri="{BB962C8B-B14F-4D97-AF65-F5344CB8AC3E}">
        <p14:creationId xmlns:p14="http://schemas.microsoft.com/office/powerpoint/2010/main" val="20208083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936908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36AC2A-E969-3C46-9ED8-B46D40C5E669}" type="slidenum">
              <a:rPr lang="en-US" smtClean="0"/>
              <a:t>48</a:t>
            </a:fld>
            <a:endParaRPr lang="en-US"/>
          </a:p>
        </p:txBody>
      </p:sp>
    </p:spTree>
    <p:extLst>
      <p:ext uri="{BB962C8B-B14F-4D97-AF65-F5344CB8AC3E}">
        <p14:creationId xmlns:p14="http://schemas.microsoft.com/office/powerpoint/2010/main" val="301695010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ed2f74eb24_0_77:notes"/>
          <p:cNvSpPr>
            <a:spLocks noGrp="1" noRot="1" noChangeAspect="1"/>
          </p:cNvSpPr>
          <p:nvPr>
            <p:ph type="sldImg" idx="2"/>
          </p:nvPr>
        </p:nvSpPr>
        <p:spPr>
          <a:xfrm>
            <a:off x="1165225" y="692150"/>
            <a:ext cx="4619625" cy="34639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ed2f74eb24_0_77:notes"/>
          <p:cNvSpPr txBox="1">
            <a:spLocks noGrp="1"/>
          </p:cNvSpPr>
          <p:nvPr>
            <p:ph type="body" idx="1"/>
          </p:nvPr>
        </p:nvSpPr>
        <p:spPr>
          <a:xfrm>
            <a:off x="695008" y="4387136"/>
            <a:ext cx="5560060" cy="4156234"/>
          </a:xfrm>
          <a:prstGeom prst="rect">
            <a:avLst/>
          </a:prstGeom>
        </p:spPr>
        <p:txBody>
          <a:bodyPr spcFirstLastPara="1" wrap="square" lIns="92476" tIns="46226" rIns="92476" bIns="46226" anchor="t" anchorCtr="0">
            <a:noAutofit/>
          </a:bodyPr>
          <a:lstStyle/>
          <a:p>
            <a:pPr marL="0" indent="0">
              <a:buClr>
                <a:srgbClr val="15284B"/>
              </a:buClr>
              <a:buSzPts val="1100"/>
            </a:pPr>
            <a:r>
              <a:rPr lang="en-US">
                <a:solidFill>
                  <a:srgbClr val="15284B"/>
                </a:solidFill>
                <a:latin typeface="Roboto"/>
                <a:ea typeface="Roboto"/>
                <a:cs typeface="Roboto"/>
                <a:sym typeface="Roboto"/>
              </a:rPr>
              <a:t>Take gas stations, for example. Even in small towns, there can be dozens of them. While their marketing departments try really hard to tell you otherwise, all the different stations sell the exact same product. However, there is a bit of product differentiation through their locations. The customers prefer to drive to the closest one. For a given customer, this makes some stations more attractive than others. </a:t>
            </a:r>
            <a:endParaRPr>
              <a:solidFill>
                <a:srgbClr val="15284B"/>
              </a:solidFill>
              <a:latin typeface="Roboto"/>
              <a:ea typeface="Roboto"/>
              <a:cs typeface="Roboto"/>
              <a:sym typeface="Roboto"/>
            </a:endParaRPr>
          </a:p>
          <a:p>
            <a:pPr marL="0" indent="0">
              <a:buClr>
                <a:schemeClr val="dk1"/>
              </a:buClr>
              <a:buSzPts val="1100"/>
            </a:pPr>
            <a:endParaRPr>
              <a:solidFill>
                <a:srgbClr val="15284B"/>
              </a:solidFill>
              <a:latin typeface="Roboto"/>
              <a:ea typeface="Roboto"/>
              <a:cs typeface="Roboto"/>
              <a:sym typeface="Roboto"/>
            </a:endParaRPr>
          </a:p>
          <a:p>
            <a:pPr marL="0" indent="0"/>
            <a:endParaRPr>
              <a:latin typeface="Roboto"/>
              <a:ea typeface="Roboto"/>
              <a:cs typeface="Roboto"/>
              <a:sym typeface="Roboto"/>
            </a:endParaRPr>
          </a:p>
        </p:txBody>
      </p:sp>
      <p:sp>
        <p:nvSpPr>
          <p:cNvPr id="324" name="Google Shape;324;ged2f74eb24_0_77:notes"/>
          <p:cNvSpPr txBox="1">
            <a:spLocks noGrp="1"/>
          </p:cNvSpPr>
          <p:nvPr>
            <p:ph type="sldNum" idx="12"/>
          </p:nvPr>
        </p:nvSpPr>
        <p:spPr>
          <a:xfrm>
            <a:off x="3936768" y="8772668"/>
            <a:ext cx="3011699" cy="461804"/>
          </a:xfrm>
          <a:prstGeom prst="rect">
            <a:avLst/>
          </a:prstGeom>
        </p:spPr>
        <p:txBody>
          <a:bodyPr spcFirstLastPara="1" wrap="square" lIns="92476" tIns="46226" rIns="92476" bIns="46226" anchor="b" anchorCtr="0">
            <a:noAutofit/>
          </a:bodyPr>
          <a:lstStyle/>
          <a:p>
            <a:pPr algn="r"/>
            <a:fld id="{00000000-1234-1234-1234-123412341234}" type="slidenum">
              <a:rPr lang="en-US"/>
              <a:pPr algn="r"/>
              <a:t>49</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Short run</a:t>
            </a:r>
            <a:r>
              <a:rPr lang="en-US" sz="1200" kern="1200" dirty="0">
                <a:solidFill>
                  <a:schemeClr val="tx1"/>
                </a:solidFill>
                <a:effectLst/>
                <a:latin typeface="+mn-lt"/>
                <a:ea typeface="+mn-ea"/>
                <a:cs typeface="+mn-cs"/>
              </a:rPr>
              <a:t>. Firms that differentiate are perpetually looking for those short term profits.</a:t>
            </a:r>
          </a:p>
          <a:p>
            <a:endParaRPr lang="en-US" dirty="0"/>
          </a:p>
        </p:txBody>
      </p:sp>
      <p:sp>
        <p:nvSpPr>
          <p:cNvPr id="4" name="Slide Number Placeholder 3"/>
          <p:cNvSpPr>
            <a:spLocks noGrp="1"/>
          </p:cNvSpPr>
          <p:nvPr>
            <p:ph type="sldNum" sz="quarter" idx="10"/>
          </p:nvPr>
        </p:nvSpPr>
        <p:spPr/>
        <p:txBody>
          <a:bodyPr/>
          <a:lstStyle/>
          <a:p>
            <a:pPr>
              <a:defRPr/>
            </a:pPr>
            <a:fld id="{14B94B4F-1C3E-42AD-8B65-1B752C8E558F}" type="slidenum">
              <a:rPr lang="en-US" smtClean="0"/>
              <a:pPr>
                <a:defRPr/>
              </a:pPr>
              <a:t>51</a:t>
            </a:fld>
            <a:endParaRPr lang="en-US"/>
          </a:p>
        </p:txBody>
      </p:sp>
    </p:spTree>
    <p:extLst>
      <p:ext uri="{BB962C8B-B14F-4D97-AF65-F5344CB8AC3E}">
        <p14:creationId xmlns:p14="http://schemas.microsoft.com/office/powerpoint/2010/main" val="126521643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A76CC1BC-35ED-4790-A07A-B54EBF027281}" type="slidenum">
              <a:rPr lang="en-US"/>
              <a:pPr/>
              <a:t>52</a:t>
            </a:fld>
            <a:endParaRPr lang="en-US"/>
          </a:p>
        </p:txBody>
      </p:sp>
      <p:sp>
        <p:nvSpPr>
          <p:cNvPr id="103426" name="Rectangle 2"/>
          <p:cNvSpPr>
            <a:spLocks noGrp="1" noRot="1" noChangeAspect="1" noChangeArrowheads="1" noTextEdit="1"/>
          </p:cNvSpPr>
          <p:nvPr>
            <p:ph type="sldImg"/>
          </p:nvPr>
        </p:nvSpPr>
        <p:spPr>
          <a:xfrm>
            <a:off x="1123950" y="693738"/>
            <a:ext cx="4610100" cy="3459162"/>
          </a:xfrm>
          <a:ln/>
        </p:spPr>
      </p:sp>
      <p:sp>
        <p:nvSpPr>
          <p:cNvPr id="103427" name="Rectangle 3"/>
          <p:cNvSpPr>
            <a:spLocks noGrp="1" noChangeArrowheads="1"/>
          </p:cNvSpPr>
          <p:nvPr>
            <p:ph type="body" idx="1"/>
          </p:nvPr>
        </p:nvSpPr>
        <p:spPr/>
        <p:txBody>
          <a:bodyPr/>
          <a:lstStyle/>
          <a:p>
            <a:r>
              <a:rPr lang="en-US" sz="1200" b="1" kern="1200" dirty="0">
                <a:solidFill>
                  <a:schemeClr val="tx1"/>
                </a:solidFill>
                <a:effectLst/>
                <a:latin typeface="+mn-lt"/>
                <a:ea typeface="+mn-ea"/>
                <a:cs typeface="+mn-cs"/>
              </a:rPr>
              <a:t>Long run</a:t>
            </a:r>
            <a:r>
              <a:rPr lang="en-US" sz="1200" kern="1200" dirty="0">
                <a:solidFill>
                  <a:schemeClr val="tx1"/>
                </a:solidFill>
                <a:effectLst/>
                <a:latin typeface="+mn-lt"/>
                <a:ea typeface="+mn-ea"/>
                <a:cs typeface="+mn-cs"/>
              </a:rPr>
              <a:t>: Entry of new</a:t>
            </a:r>
            <a:r>
              <a:rPr lang="en-US" sz="1200" kern="1200" baseline="0" dirty="0">
                <a:solidFill>
                  <a:schemeClr val="tx1"/>
                </a:solidFill>
                <a:effectLst/>
                <a:latin typeface="+mn-lt"/>
                <a:ea typeface="+mn-ea"/>
                <a:cs typeface="+mn-cs"/>
              </a:rPr>
              <a:t> firms makes the incumbent firm’s demand more elastic (less steep) due to the availability of substitutes. </a:t>
            </a:r>
            <a:r>
              <a:rPr lang="en-US" sz="1200" kern="1200" dirty="0">
                <a:solidFill>
                  <a:schemeClr val="tx1"/>
                </a:solidFill>
                <a:effectLst/>
                <a:latin typeface="+mn-lt"/>
                <a:ea typeface="+mn-ea"/>
                <a:cs typeface="+mn-cs"/>
              </a:rPr>
              <a:t>Entry of</a:t>
            </a:r>
            <a:r>
              <a:rPr lang="en-US" sz="1200" kern="1200" baseline="0" dirty="0">
                <a:solidFill>
                  <a:schemeClr val="tx1"/>
                </a:solidFill>
                <a:effectLst/>
                <a:latin typeface="+mn-lt"/>
                <a:ea typeface="+mn-ea"/>
                <a:cs typeface="+mn-cs"/>
              </a:rPr>
              <a:t> new firms also shifts the incumbent firm’s demand down due to the fact that the firm is now splitting the market. Marginal revenue will shift accordingly. </a:t>
            </a:r>
          </a:p>
          <a:p>
            <a:endParaRPr lang="en-US" sz="1200" kern="1200" baseline="0" dirty="0">
              <a:solidFill>
                <a:schemeClr val="tx1"/>
              </a:solidFill>
              <a:effectLst/>
              <a:latin typeface="+mn-lt"/>
              <a:ea typeface="+mn-ea"/>
              <a:cs typeface="+mn-cs"/>
            </a:endParaRPr>
          </a:p>
          <a:p>
            <a:r>
              <a:rPr lang="en-US" sz="1200" kern="1200" baseline="0" dirty="0">
                <a:solidFill>
                  <a:schemeClr val="tx1"/>
                </a:solidFill>
                <a:effectLst/>
                <a:latin typeface="+mn-lt"/>
                <a:ea typeface="+mn-ea"/>
                <a:cs typeface="+mn-cs"/>
              </a:rPr>
              <a:t>As long as there are positive profits, more firms will enter. D</a:t>
            </a:r>
            <a:r>
              <a:rPr lang="en-US" sz="1200" kern="1200" dirty="0">
                <a:solidFill>
                  <a:schemeClr val="tx1"/>
                </a:solidFill>
                <a:effectLst/>
                <a:latin typeface="+mn-lt"/>
                <a:ea typeface="+mn-ea"/>
                <a:cs typeface="+mn-cs"/>
              </a:rPr>
              <a:t>emand will shift</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down to where it meets average total cost, so that profits are zero.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Note that the</a:t>
            </a:r>
            <a:r>
              <a:rPr lang="en-US" sz="1200" kern="1200" baseline="0" dirty="0">
                <a:solidFill>
                  <a:schemeClr val="tx1"/>
                </a:solidFill>
                <a:effectLst/>
                <a:latin typeface="+mn-lt"/>
                <a:ea typeface="+mn-ea"/>
                <a:cs typeface="+mn-cs"/>
              </a:rPr>
              <a:t> entry of firms does not lead to the perfectly competitive outcome. There is still a price mark up over the MC due to downward sloping demand.</a:t>
            </a:r>
            <a:r>
              <a:rPr lang="en-US" sz="1200" kern="1200" dirty="0">
                <a:solidFill>
                  <a:schemeClr val="tx1"/>
                </a:solidFill>
                <a:effectLst/>
                <a:latin typeface="+mn-lt"/>
                <a:ea typeface="+mn-ea"/>
                <a:cs typeface="+mn-cs"/>
              </a:rPr>
              <a:t> </a:t>
            </a:r>
          </a:p>
          <a:p>
            <a:endParaRPr lang="en-US" dirty="0"/>
          </a:p>
        </p:txBody>
      </p:sp>
    </p:spTree>
    <p:extLst>
      <p:ext uri="{BB962C8B-B14F-4D97-AF65-F5344CB8AC3E}">
        <p14:creationId xmlns:p14="http://schemas.microsoft.com/office/powerpoint/2010/main" val="254648392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36AC2A-E969-3C46-9ED8-B46D40C5E669}" type="slidenum">
              <a:rPr lang="en-US" smtClean="0"/>
              <a:t>53</a:t>
            </a:fld>
            <a:endParaRPr lang="en-US"/>
          </a:p>
        </p:txBody>
      </p:sp>
    </p:spTree>
    <p:extLst>
      <p:ext uri="{BB962C8B-B14F-4D97-AF65-F5344CB8AC3E}">
        <p14:creationId xmlns:p14="http://schemas.microsoft.com/office/powerpoint/2010/main" val="6706559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of legal barriers include:</a:t>
            </a:r>
          </a:p>
          <a:p>
            <a:r>
              <a:rPr lang="en-US" dirty="0"/>
              <a:t>-- licensing</a:t>
            </a:r>
            <a:r>
              <a:rPr lang="en-US" baseline="0" dirty="0"/>
              <a:t> requirements </a:t>
            </a:r>
          </a:p>
          <a:p>
            <a:r>
              <a:rPr lang="en-US" baseline="0" dirty="0"/>
              <a:t>-- taxi medallions</a:t>
            </a:r>
          </a:p>
          <a:p>
            <a:r>
              <a:rPr lang="en-US" baseline="0" dirty="0"/>
              <a:t>-- patents and copyrights</a:t>
            </a:r>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54</a:t>
            </a:fld>
            <a:endParaRPr lang="en-US"/>
          </a:p>
        </p:txBody>
      </p:sp>
    </p:spTree>
    <p:extLst>
      <p:ext uri="{BB962C8B-B14F-4D97-AF65-F5344CB8AC3E}">
        <p14:creationId xmlns:p14="http://schemas.microsoft.com/office/powerpoint/2010/main" val="320926617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1BF25ACA-6545-48EB-85AF-3472D7152588}" type="slidenum">
              <a:rPr lang="en-US">
                <a:solidFill>
                  <a:prstClr val="black"/>
                </a:solidFill>
              </a:rPr>
              <a:pPr/>
              <a:t>55</a:t>
            </a:fld>
            <a:endParaRPr lang="en-US">
              <a:solidFill>
                <a:prstClr val="black"/>
              </a:solidFill>
            </a:endParaRPr>
          </a:p>
        </p:txBody>
      </p:sp>
      <p:sp>
        <p:nvSpPr>
          <p:cNvPr id="88066" name="Rectangle 2"/>
          <p:cNvSpPr>
            <a:spLocks noGrp="1" noRot="1" noChangeAspect="1" noChangeArrowheads="1" noTextEdit="1"/>
          </p:cNvSpPr>
          <p:nvPr>
            <p:ph type="sldImg"/>
          </p:nvPr>
        </p:nvSpPr>
        <p:spPr bwMode="auto">
          <a:xfrm>
            <a:off x="1143000" y="684213"/>
            <a:ext cx="4573588" cy="3430587"/>
          </a:xfrm>
          <a:prstGeom prst="rect">
            <a:avLst/>
          </a:prstGeom>
          <a:solidFill>
            <a:srgbClr val="FFFFFF"/>
          </a:solidFill>
          <a:ln>
            <a:solidFill>
              <a:srgbClr val="000000"/>
            </a:solidFill>
            <a:miter lim="800000"/>
            <a:headEnd/>
            <a:tailEnd/>
          </a:ln>
        </p:spPr>
      </p:sp>
      <p:sp>
        <p:nvSpPr>
          <p:cNvPr id="88067" name="Rectangle 3"/>
          <p:cNvSpPr>
            <a:spLocks noGrp="1" noChangeArrowheads="1"/>
          </p:cNvSpPr>
          <p:nvPr>
            <p:ph type="body" idx="1"/>
          </p:nvPr>
        </p:nvSpPr>
        <p:spPr bwMode="auto">
          <a:xfrm>
            <a:off x="914400" y="4343756"/>
            <a:ext cx="5029200" cy="4114721"/>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215577768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B94B4F-1C3E-42AD-8B65-1B752C8E558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420904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F8D68B6-7B24-6146-BD9E-412DC96CF560}"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3" name="Text Placeholder 2"/>
          <p:cNvSpPr>
            <a:spLocks noGrp="1"/>
          </p:cNvSpPr>
          <p:nvPr>
            <p:ph type="body" idx="1"/>
          </p:nvPr>
        </p:nvSpPr>
        <p:spPr>
          <a:xfrm>
            <a:off x="518199" y="2906713"/>
            <a:ext cx="7772400" cy="1500187"/>
          </a:xfrm>
        </p:spPr>
        <p:txBody>
          <a:bodyPr anchor="b">
            <a:normAutofit/>
          </a:bodyPr>
          <a:lstStyle>
            <a:lvl1pPr marL="0" indent="0">
              <a:buNone/>
              <a:defRPr sz="1600">
                <a:solidFill>
                  <a:srgbClr val="1B8BD5"/>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Title Placeholder 1"/>
          <p:cNvSpPr>
            <a:spLocks noGrp="1"/>
          </p:cNvSpPr>
          <p:nvPr>
            <p:ph type="title"/>
          </p:nvPr>
        </p:nvSpPr>
        <p:spPr>
          <a:xfrm>
            <a:off x="518199" y="4401792"/>
            <a:ext cx="8229600" cy="1143000"/>
          </a:xfrm>
          <a:prstGeom prst="rect">
            <a:avLst/>
          </a:prstGeom>
        </p:spPr>
        <p:txBody>
          <a:bodyPr vert="horz" lIns="91440" tIns="45720" rIns="91440" bIns="45720" rtlCol="0" anchor="t" anchorCtr="0">
            <a:normAutofit/>
          </a:bodyPr>
          <a:lstStyle>
            <a:lvl1pPr algn="l">
              <a:defRPr>
                <a:solidFill>
                  <a:schemeClr val="bg1"/>
                </a:solidFill>
              </a:defRPr>
            </a:lvl1pPr>
          </a:lstStyle>
          <a:p>
            <a:r>
              <a:rPr lang="en-US" dirty="0"/>
              <a:t>Click to edit Master title style</a:t>
            </a:r>
          </a:p>
        </p:txBody>
      </p:sp>
      <p:cxnSp>
        <p:nvCxnSpPr>
          <p:cNvPr id="12" name="Straight Connector 11"/>
          <p:cNvCxnSpPr/>
          <p:nvPr userDrawn="1"/>
        </p:nvCxnSpPr>
        <p:spPr>
          <a:xfrm>
            <a:off x="623681" y="4406900"/>
            <a:ext cx="7666919" cy="0"/>
          </a:xfrm>
          <a:prstGeom prst="line">
            <a:avLst/>
          </a:prstGeom>
          <a:ln>
            <a:solidFill>
              <a:schemeClr val="tx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2669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t>10/24/2025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4238967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921875-221D-4AB4-9AB1-D7AADC2252B6}"/>
              </a:ext>
            </a:extLst>
          </p:cNvPr>
          <p:cNvSpPr>
            <a:spLocks noGrp="1"/>
          </p:cNvSpPr>
          <p:nvPr>
            <p:ph type="dt" sz="half" idx="10"/>
          </p:nvPr>
        </p:nvSpPr>
        <p:spPr/>
        <p:txBody>
          <a:bodyPr/>
          <a:lstStyle/>
          <a:p>
            <a:fld id="{BF8D68B6-7B24-6146-BD9E-412DC96CF560}" type="datetimeFigureOut">
              <a:rPr lang="en-US" smtClean="0"/>
              <a:pPr/>
              <a:t>10/24/2025</a:t>
            </a:fld>
            <a:endParaRPr lang="en-US" dirty="0"/>
          </a:p>
        </p:txBody>
      </p:sp>
      <p:sp>
        <p:nvSpPr>
          <p:cNvPr id="3" name="Footer Placeholder 2">
            <a:extLst>
              <a:ext uri="{FF2B5EF4-FFF2-40B4-BE49-F238E27FC236}">
                <a16:creationId xmlns:a16="http://schemas.microsoft.com/office/drawing/2014/main" id="{8A442F11-2197-4AAF-8946-65CDB0B150C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5B10AB2A-C67D-4F7F-9570-74856AD13D4A}"/>
              </a:ext>
            </a:extLst>
          </p:cNvPr>
          <p:cNvSpPr>
            <a:spLocks noGrp="1"/>
          </p:cNvSpPr>
          <p:nvPr>
            <p:ph type="sldNum" sz="quarter" idx="12"/>
          </p:nvPr>
        </p:nvSpPr>
        <p:spPr/>
        <p:txBody>
          <a:body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1719775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9E111D7-C283-8E4B-AB2F-B2B17B0FC9BC}"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923028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3155173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noAutofit/>
          </a:bodyPr>
          <a:lstStyle>
            <a:lvl1pPr algn="l">
              <a:defRPr sz="32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E111D7-C283-8E4B-AB2F-B2B17B0FC9BC}"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653757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9E111D7-C283-8E4B-AB2F-B2B17B0FC9BC}"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144116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9E111D7-C283-8E4B-AB2F-B2B17B0FC9BC}" type="datetimeFigureOut">
              <a:rPr lang="en-US" smtClean="0"/>
              <a:t>10/24/2025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683145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9E111D7-C283-8E4B-AB2F-B2B17B0FC9BC}" type="datetimeFigureOut">
              <a:rPr lang="en-US" smtClean="0"/>
              <a:t>10/24/2025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951736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E111D7-C283-8E4B-AB2F-B2B17B0FC9BC}" type="datetimeFigureOut">
              <a:rPr lang="en-US" smtClean="0"/>
              <a:t>10/24/2025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658720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E111D7-C283-8E4B-AB2F-B2B17B0FC9BC}"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33965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E111D7-C283-8E4B-AB2F-B2B17B0FC9BC}"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832547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3956811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834392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F8D68B6-7B24-6146-BD9E-412DC96CF560}"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4292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F8D68B6-7B24-6146-BD9E-412DC96CF560}"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440323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8D68B6-7B24-6146-BD9E-412DC96CF560}"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259889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F8D68B6-7B24-6146-BD9E-412DC96CF560}"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058198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F8D68B6-7B24-6146-BD9E-412DC96CF560}" type="datetimeFigureOut">
              <a:rPr lang="en-US" smtClean="0"/>
              <a:t>10/24/2025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117213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t>10/24/2025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180880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8D68B6-7B24-6146-BD9E-412DC96CF560}" type="datetimeFigureOut">
              <a:rPr lang="en-US" smtClean="0"/>
              <a:t>10/24/2025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046176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8D68B6-7B24-6146-BD9E-412DC96CF560}"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614727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8D68B6-7B24-6146-BD9E-412DC96CF560}"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683847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pPr/>
              <a:t>10/24/2025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3032531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BF8D68B6-7B24-6146-BD9E-412DC96CF560}"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58220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F8D68B6-7B24-6146-BD9E-412DC96CF560}"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120140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BF8D68B6-7B24-6146-BD9E-412DC96CF560}" type="datetimeFigureOut">
              <a:rPr lang="en-US" smtClean="0"/>
              <a:pPr/>
              <a:t>10/24/2025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1949856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F8D68B6-7B24-6146-BD9E-412DC96CF560}" type="datetimeFigureOut">
              <a:rPr lang="en-US" smtClean="0"/>
              <a:pPr/>
              <a:t>10/24/2025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502897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454175" y="296767"/>
            <a:ext cx="8520600" cy="763600"/>
          </a:xfrm>
          <a:prstGeom prst="rect">
            <a:avLst/>
          </a:prstGeom>
        </p:spPr>
        <p:txBody>
          <a:bodyPr spcFirstLastPara="1" wrap="square" lIns="91425" tIns="91425" rIns="91425" bIns="91425" anchor="ctr" anchorCtr="0">
            <a:normAutofit/>
          </a:bodyPr>
          <a:lstStyle>
            <a:lvl1pPr lvl="0" algn="l">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22" name="Google Shape;22;p3"/>
          <p:cNvSpPr txBox="1">
            <a:spLocks noGrp="1"/>
          </p:cNvSpPr>
          <p:nvPr>
            <p:ph type="body" idx="1"/>
          </p:nvPr>
        </p:nvSpPr>
        <p:spPr>
          <a:xfrm>
            <a:off x="387900" y="1536633"/>
            <a:ext cx="8520600" cy="4555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dirty="0"/>
          </a:p>
        </p:txBody>
      </p:sp>
      <p:cxnSp>
        <p:nvCxnSpPr>
          <p:cNvPr id="5" name="Google Shape;23;p3">
            <a:extLst>
              <a:ext uri="{FF2B5EF4-FFF2-40B4-BE49-F238E27FC236}">
                <a16:creationId xmlns:a16="http://schemas.microsoft.com/office/drawing/2014/main" id="{AD7A7535-6862-4B53-88CE-84D2C3656158}"/>
              </a:ext>
            </a:extLst>
          </p:cNvPr>
          <p:cNvCxnSpPr/>
          <p:nvPr userDrawn="1"/>
        </p:nvCxnSpPr>
        <p:spPr>
          <a:xfrm>
            <a:off x="353075" y="211567"/>
            <a:ext cx="0" cy="934000"/>
          </a:xfrm>
          <a:prstGeom prst="straightConnector1">
            <a:avLst/>
          </a:prstGeom>
          <a:noFill/>
          <a:ln w="76200" cap="flat" cmpd="sng">
            <a:solidFill>
              <a:srgbClr val="FDB515"/>
            </a:solidFill>
            <a:prstDash val="solid"/>
            <a:round/>
            <a:headEnd type="none" w="med" len="med"/>
            <a:tailEnd type="none" w="med" len="med"/>
          </a:ln>
        </p:spPr>
      </p:cxnSp>
      <p:sp>
        <p:nvSpPr>
          <p:cNvPr id="8" name="Slide Number Placeholder 7">
            <a:extLst>
              <a:ext uri="{FF2B5EF4-FFF2-40B4-BE49-F238E27FC236}">
                <a16:creationId xmlns:a16="http://schemas.microsoft.com/office/drawing/2014/main" id="{C54F37CC-A312-4C7C-8F97-A8D1562EA0F9}"/>
              </a:ext>
            </a:extLst>
          </p:cNvPr>
          <p:cNvSpPr>
            <a:spLocks noGrp="1"/>
          </p:cNvSpPr>
          <p:nvPr>
            <p:ph type="sldNum" sz="quarter" idx="12"/>
          </p:nvPr>
        </p:nvSpPr>
        <p:spPr>
          <a:xfrm>
            <a:off x="7010400" y="6499283"/>
            <a:ext cx="2133600" cy="365125"/>
          </a:xfrm>
        </p:spPr>
        <p:txBody>
          <a:body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34432323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2 2">
  <p:cSld name="Section title and description 2 2">
    <p:spTree>
      <p:nvGrpSpPr>
        <p:cNvPr id="1" name="Shape 43"/>
        <p:cNvGrpSpPr/>
        <p:nvPr/>
      </p:nvGrpSpPr>
      <p:grpSpPr>
        <a:xfrm>
          <a:off x="0" y="0"/>
          <a:ext cx="0" cy="0"/>
          <a:chOff x="0" y="0"/>
          <a:chExt cx="0" cy="0"/>
        </a:xfrm>
      </p:grpSpPr>
      <p:sp>
        <p:nvSpPr>
          <p:cNvPr id="44" name="Google Shape;44;p8"/>
          <p:cNvSpPr/>
          <p:nvPr/>
        </p:nvSpPr>
        <p:spPr>
          <a:xfrm>
            <a:off x="4572000" y="0"/>
            <a:ext cx="4612800" cy="6858000"/>
          </a:xfrm>
          <a:prstGeom prst="rect">
            <a:avLst/>
          </a:prstGeom>
          <a:solidFill>
            <a:srgbClr val="1528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rgbClr val="15284B"/>
              </a:solidFill>
            </a:endParaRPr>
          </a:p>
        </p:txBody>
      </p:sp>
      <p:sp>
        <p:nvSpPr>
          <p:cNvPr id="45" name="Google Shape;45;p8"/>
          <p:cNvSpPr txBox="1">
            <a:spLocks noGrp="1"/>
          </p:cNvSpPr>
          <p:nvPr>
            <p:ph type="body" idx="1"/>
          </p:nvPr>
        </p:nvSpPr>
        <p:spPr>
          <a:xfrm>
            <a:off x="486725" y="965600"/>
            <a:ext cx="3641700" cy="49268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Clr>
                <a:schemeClr val="dk1"/>
              </a:buClr>
              <a:buSzPts val="1800"/>
              <a:buChar char="■"/>
              <a:defRPr>
                <a:solidFill>
                  <a:schemeClr val="dk1"/>
                </a:solidFill>
              </a:defRPr>
            </a:lvl1pPr>
            <a:lvl2pPr marL="914400" lvl="1" indent="-317500" rtl="0">
              <a:spcBef>
                <a:spcPts val="0"/>
              </a:spcBef>
              <a:spcAft>
                <a:spcPts val="0"/>
              </a:spcAft>
              <a:buClr>
                <a:schemeClr val="dk1"/>
              </a:buClr>
              <a:buSzPts val="1400"/>
              <a:buChar char="○"/>
              <a:defRPr>
                <a:solidFill>
                  <a:schemeClr val="dk1"/>
                </a:solidFill>
              </a:defRPr>
            </a:lvl2pPr>
            <a:lvl3pPr marL="1371600" lvl="2" indent="-317500" rtl="0">
              <a:spcBef>
                <a:spcPts val="0"/>
              </a:spcBef>
              <a:spcAft>
                <a:spcPts val="0"/>
              </a:spcAft>
              <a:buClr>
                <a:schemeClr val="dk1"/>
              </a:buClr>
              <a:buSzPts val="1400"/>
              <a:buChar char="●"/>
              <a:defRPr>
                <a:solidFill>
                  <a:schemeClr val="dk1"/>
                </a:solidFill>
              </a:defRPr>
            </a:lvl3pPr>
            <a:lvl4pPr marL="1828800" lvl="3" indent="-317500" rtl="0">
              <a:spcBef>
                <a:spcPts val="0"/>
              </a:spcBef>
              <a:spcAft>
                <a:spcPts val="0"/>
              </a:spcAft>
              <a:buClr>
                <a:schemeClr val="dk1"/>
              </a:buClr>
              <a:buSzPts val="1400"/>
              <a:buChar char="■"/>
              <a:defRPr>
                <a:solidFill>
                  <a:schemeClr val="dk1"/>
                </a:solidFill>
              </a:defRPr>
            </a:lvl4pPr>
            <a:lvl5pPr marL="2286000" lvl="4" indent="-317500" rtl="0">
              <a:spcBef>
                <a:spcPts val="0"/>
              </a:spcBef>
              <a:spcAft>
                <a:spcPts val="0"/>
              </a:spcAft>
              <a:buClr>
                <a:schemeClr val="dk1"/>
              </a:buClr>
              <a:buSzPts val="1400"/>
              <a:buChar char="○"/>
              <a:defRPr>
                <a:solidFill>
                  <a:schemeClr val="dk1"/>
                </a:solidFill>
              </a:defRPr>
            </a:lvl5pPr>
            <a:lvl6pPr marL="2743200" lvl="5" indent="-317500" rtl="0">
              <a:spcBef>
                <a:spcPts val="0"/>
              </a:spcBef>
              <a:spcAft>
                <a:spcPts val="0"/>
              </a:spcAft>
              <a:buClr>
                <a:schemeClr val="dk1"/>
              </a:buClr>
              <a:buSzPts val="1400"/>
              <a:buChar char="●"/>
              <a:defRPr>
                <a:solidFill>
                  <a:schemeClr val="dk1"/>
                </a:solidFill>
              </a:defRPr>
            </a:lvl6pPr>
            <a:lvl7pPr marL="3200400" lvl="6" indent="-317500" rtl="0">
              <a:spcBef>
                <a:spcPts val="0"/>
              </a:spcBef>
              <a:spcAft>
                <a:spcPts val="0"/>
              </a:spcAft>
              <a:buClr>
                <a:schemeClr val="dk1"/>
              </a:buClr>
              <a:buSzPts val="1400"/>
              <a:buChar char="■"/>
              <a:defRPr>
                <a:solidFill>
                  <a:schemeClr val="dk1"/>
                </a:solidFill>
              </a:defRPr>
            </a:lvl7pPr>
            <a:lvl8pPr marL="3657600" lvl="7" indent="-317500" rtl="0">
              <a:spcBef>
                <a:spcPts val="0"/>
              </a:spcBef>
              <a:spcAft>
                <a:spcPts val="0"/>
              </a:spcAft>
              <a:buClr>
                <a:schemeClr val="dk1"/>
              </a:buClr>
              <a:buSzPts val="1400"/>
              <a:buChar char="○"/>
              <a:defRPr>
                <a:solidFill>
                  <a:schemeClr val="dk1"/>
                </a:solidFill>
              </a:defRPr>
            </a:lvl8pPr>
            <a:lvl9pPr marL="4114800" lvl="8" indent="-317500" rtl="0">
              <a:spcBef>
                <a:spcPts val="0"/>
              </a:spcBef>
              <a:spcAft>
                <a:spcPts val="0"/>
              </a:spcAft>
              <a:buClr>
                <a:schemeClr val="dk1"/>
              </a:buClr>
              <a:buSzPts val="1400"/>
              <a:buChar char="●"/>
              <a:defRPr>
                <a:solidFill>
                  <a:schemeClr val="dk1"/>
                </a:solidFill>
              </a:defRPr>
            </a:lvl9pPr>
          </a:lstStyle>
          <a:p>
            <a:endParaRPr/>
          </a:p>
        </p:txBody>
      </p:sp>
      <p:sp>
        <p:nvSpPr>
          <p:cNvPr id="46" name="Google Shape;46;p8"/>
          <p:cNvSpPr txBox="1">
            <a:spLocks noGrp="1"/>
          </p:cNvSpPr>
          <p:nvPr>
            <p:ph type="title"/>
          </p:nvPr>
        </p:nvSpPr>
        <p:spPr>
          <a:xfrm>
            <a:off x="5301550" y="1834167"/>
            <a:ext cx="3426900" cy="19764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4200"/>
              <a:buNone/>
              <a:defRPr sz="4200">
                <a:solidFill>
                  <a:schemeClr val="lt1"/>
                </a:solidFill>
              </a:defRPr>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a:endParaRPr/>
          </a:p>
        </p:txBody>
      </p:sp>
      <p:sp>
        <p:nvSpPr>
          <p:cNvPr id="47" name="Google Shape;47;p8"/>
          <p:cNvSpPr txBox="1">
            <a:spLocks noGrp="1"/>
          </p:cNvSpPr>
          <p:nvPr>
            <p:ph type="subTitle" idx="2"/>
          </p:nvPr>
        </p:nvSpPr>
        <p:spPr>
          <a:xfrm>
            <a:off x="5301550" y="4194167"/>
            <a:ext cx="3426900" cy="16468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2100"/>
              <a:buNone/>
              <a:defRPr sz="2100">
                <a:solidFill>
                  <a:schemeClr val="lt1"/>
                </a:solidFill>
              </a:defRPr>
            </a:lvl1pPr>
            <a:lvl2pPr lvl="1" rtl="0">
              <a:lnSpc>
                <a:spcPct val="100000"/>
              </a:lnSpc>
              <a:spcBef>
                <a:spcPts val="0"/>
              </a:spcBef>
              <a:spcAft>
                <a:spcPts val="0"/>
              </a:spcAft>
              <a:buClr>
                <a:schemeClr val="lt1"/>
              </a:buClr>
              <a:buSzPts val="2100"/>
              <a:buNone/>
              <a:defRPr sz="2100">
                <a:solidFill>
                  <a:schemeClr val="lt1"/>
                </a:solidFill>
              </a:defRPr>
            </a:lvl2pPr>
            <a:lvl3pPr lvl="2" rtl="0">
              <a:lnSpc>
                <a:spcPct val="100000"/>
              </a:lnSpc>
              <a:spcBef>
                <a:spcPts val="0"/>
              </a:spcBef>
              <a:spcAft>
                <a:spcPts val="0"/>
              </a:spcAft>
              <a:buClr>
                <a:schemeClr val="lt1"/>
              </a:buClr>
              <a:buSzPts val="2100"/>
              <a:buNone/>
              <a:defRPr sz="2100">
                <a:solidFill>
                  <a:schemeClr val="lt1"/>
                </a:solidFill>
              </a:defRPr>
            </a:lvl3pPr>
            <a:lvl4pPr lvl="3" rtl="0">
              <a:lnSpc>
                <a:spcPct val="100000"/>
              </a:lnSpc>
              <a:spcBef>
                <a:spcPts val="0"/>
              </a:spcBef>
              <a:spcAft>
                <a:spcPts val="0"/>
              </a:spcAft>
              <a:buClr>
                <a:schemeClr val="lt1"/>
              </a:buClr>
              <a:buSzPts val="2100"/>
              <a:buNone/>
              <a:defRPr sz="2100">
                <a:solidFill>
                  <a:schemeClr val="lt1"/>
                </a:solidFill>
              </a:defRPr>
            </a:lvl4pPr>
            <a:lvl5pPr lvl="4" rtl="0">
              <a:lnSpc>
                <a:spcPct val="100000"/>
              </a:lnSpc>
              <a:spcBef>
                <a:spcPts val="0"/>
              </a:spcBef>
              <a:spcAft>
                <a:spcPts val="0"/>
              </a:spcAft>
              <a:buClr>
                <a:schemeClr val="lt1"/>
              </a:buClr>
              <a:buSzPts val="2100"/>
              <a:buNone/>
              <a:defRPr sz="2100">
                <a:solidFill>
                  <a:schemeClr val="lt1"/>
                </a:solidFill>
              </a:defRPr>
            </a:lvl5pPr>
            <a:lvl6pPr lvl="5" rtl="0">
              <a:lnSpc>
                <a:spcPct val="100000"/>
              </a:lnSpc>
              <a:spcBef>
                <a:spcPts val="0"/>
              </a:spcBef>
              <a:spcAft>
                <a:spcPts val="0"/>
              </a:spcAft>
              <a:buClr>
                <a:schemeClr val="lt1"/>
              </a:buClr>
              <a:buSzPts val="2100"/>
              <a:buNone/>
              <a:defRPr sz="2100">
                <a:solidFill>
                  <a:schemeClr val="lt1"/>
                </a:solidFill>
              </a:defRPr>
            </a:lvl6pPr>
            <a:lvl7pPr lvl="6" rtl="0">
              <a:lnSpc>
                <a:spcPct val="100000"/>
              </a:lnSpc>
              <a:spcBef>
                <a:spcPts val="0"/>
              </a:spcBef>
              <a:spcAft>
                <a:spcPts val="0"/>
              </a:spcAft>
              <a:buClr>
                <a:schemeClr val="lt1"/>
              </a:buClr>
              <a:buSzPts val="2100"/>
              <a:buNone/>
              <a:defRPr sz="2100">
                <a:solidFill>
                  <a:schemeClr val="lt1"/>
                </a:solidFill>
              </a:defRPr>
            </a:lvl7pPr>
            <a:lvl8pPr lvl="7" rtl="0">
              <a:lnSpc>
                <a:spcPct val="100000"/>
              </a:lnSpc>
              <a:spcBef>
                <a:spcPts val="0"/>
              </a:spcBef>
              <a:spcAft>
                <a:spcPts val="0"/>
              </a:spcAft>
              <a:buClr>
                <a:schemeClr val="lt1"/>
              </a:buClr>
              <a:buSzPts val="2100"/>
              <a:buNone/>
              <a:defRPr sz="2100">
                <a:solidFill>
                  <a:schemeClr val="lt1"/>
                </a:solidFill>
              </a:defRPr>
            </a:lvl8pPr>
            <a:lvl9pPr lvl="8" rtl="0">
              <a:lnSpc>
                <a:spcPct val="100000"/>
              </a:lnSpc>
              <a:spcBef>
                <a:spcPts val="0"/>
              </a:spcBef>
              <a:spcAft>
                <a:spcPts val="0"/>
              </a:spcAft>
              <a:buClr>
                <a:schemeClr val="lt1"/>
              </a:buClr>
              <a:buSzPts val="2100"/>
              <a:buNone/>
              <a:defRPr sz="2100">
                <a:solidFill>
                  <a:schemeClr val="lt1"/>
                </a:solidFill>
              </a:defRPr>
            </a:lvl9pPr>
          </a:lstStyle>
          <a:p>
            <a:endParaRPr/>
          </a:p>
        </p:txBody>
      </p:sp>
      <p:cxnSp>
        <p:nvCxnSpPr>
          <p:cNvPr id="48" name="Google Shape;48;p8"/>
          <p:cNvCxnSpPr/>
          <p:nvPr/>
        </p:nvCxnSpPr>
        <p:spPr>
          <a:xfrm>
            <a:off x="5124800" y="1834167"/>
            <a:ext cx="0" cy="1066400"/>
          </a:xfrm>
          <a:prstGeom prst="straightConnector1">
            <a:avLst/>
          </a:prstGeom>
          <a:noFill/>
          <a:ln w="76200" cap="flat" cmpd="sng">
            <a:solidFill>
              <a:srgbClr val="FDB515"/>
            </a:solidFill>
            <a:prstDash val="solid"/>
            <a:round/>
            <a:headEnd type="none" w="med" len="med"/>
            <a:tailEnd type="none" w="med" len="med"/>
          </a:ln>
        </p:spPr>
      </p:cxnSp>
    </p:spTree>
    <p:extLst>
      <p:ext uri="{BB962C8B-B14F-4D97-AF65-F5344CB8AC3E}">
        <p14:creationId xmlns:p14="http://schemas.microsoft.com/office/powerpoint/2010/main" val="3445337530"/>
      </p:ext>
    </p:extLst>
  </p:cSld>
  <p:clrMapOvr>
    <a:masterClrMapping/>
  </p:clrMapOvr>
  <p:extLst mod="1">
    <p:ext uri="{DCECCB84-F9BA-43D5-87BE-67443E8EF086}">
      <p15:sldGuideLst xmlns:p15="http://schemas.microsoft.com/office/powerpoint/2012/main">
        <p15:guide id="1" orient="horz" pos="1620">
          <p15:clr>
            <a:srgbClr val="FA7B17"/>
          </p15:clr>
        </p15:guide>
        <p15:guide id="2" pos="2880">
          <p15:clr>
            <a:srgbClr val="FA7B17"/>
          </p15:clr>
        </p15:guide>
        <p15:guide id="3" pos="288">
          <p15:clr>
            <a:srgbClr val="FA7B17"/>
          </p15:clr>
        </p15:guide>
        <p15:guide id="4" orient="horz" pos="576">
          <p15:clr>
            <a:srgbClr val="FA7B17"/>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3C16A1EF-F8D3-2C4C-A23B-DABFF455F73F}" type="datetime1">
              <a:rPr lang="en-US" smtClean="0">
                <a:solidFill>
                  <a:prstClr val="black">
                    <a:lumMod val="75000"/>
                    <a:lumOff val="25000"/>
                  </a:prstClr>
                </a:solidFill>
              </a:rPr>
              <a:pPr/>
              <a:t>10/24/2025</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4573656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8"/>
          <p:cNvSpPr>
            <a:spLocks noGrp="1"/>
          </p:cNvSpPr>
          <p:nvPr>
            <p:ph type="dt" sz="half" idx="10"/>
          </p:nvPr>
        </p:nvSpPr>
        <p:spPr/>
        <p:txBody>
          <a:bodyPr/>
          <a:lstStyle/>
          <a:p>
            <a:fld id="{AF541F4B-73DA-634C-9E29-56388643854B}" type="datetime1">
              <a:rPr lang="en-US" smtClean="0">
                <a:solidFill>
                  <a:prstClr val="black">
                    <a:lumMod val="75000"/>
                    <a:lumOff val="25000"/>
                  </a:prstClr>
                </a:solidFill>
              </a:rPr>
              <a:pPr/>
              <a:t>10/24/2025</a:t>
            </a:fld>
            <a:endParaRPr lang="en-US" dirty="0">
              <a:solidFill>
                <a:prstClr val="black">
                  <a:lumMod val="75000"/>
                  <a:lumOff val="25000"/>
                </a:prstClr>
              </a:solidFill>
            </a:endParaRPr>
          </a:p>
        </p:txBody>
      </p:sp>
      <p:sp>
        <p:nvSpPr>
          <p:cNvPr id="10" name="Footer Placeholder 9"/>
          <p:cNvSpPr>
            <a:spLocks noGrp="1"/>
          </p:cNvSpPr>
          <p:nvPr>
            <p:ph type="ftr" sz="quarter" idx="11"/>
          </p:nvPr>
        </p:nvSpPr>
        <p:spPr/>
        <p:txBody>
          <a:bodyPr/>
          <a:lstStyle/>
          <a:p>
            <a:endParaRPr lang="en-US" dirty="0">
              <a:solidFill>
                <a:prstClr val="white">
                  <a:lumMod val="50000"/>
                </a:prstClr>
              </a:solidFill>
            </a:endParaRPr>
          </a:p>
        </p:txBody>
      </p:sp>
      <p:sp>
        <p:nvSpPr>
          <p:cNvPr id="11" name="Slide Number Placeholder 10"/>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30683439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E59C6B-EB5D-C046-9EA3-3CA9495D4FA9}" type="datetime1">
              <a:rPr lang="en-US" smtClean="0">
                <a:solidFill>
                  <a:prstClr val="black">
                    <a:lumMod val="75000"/>
                    <a:lumOff val="25000"/>
                  </a:prstClr>
                </a:solidFill>
              </a:rPr>
              <a:pPr/>
              <a:t>10/24/2025</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9706617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43CE89-0F10-7242-893C-EB6AB707C3E1}" type="datetime1">
              <a:rPr lang="en-US" smtClean="0">
                <a:solidFill>
                  <a:prstClr val="black">
                    <a:lumMod val="75000"/>
                    <a:lumOff val="25000"/>
                  </a:prstClr>
                </a:solidFill>
              </a:rPr>
              <a:pPr/>
              <a:t>10/24/2025</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06095923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47D4AD-BBAE-3345-8D65-FDA503BCC307}" type="datetime1">
              <a:rPr lang="en-US" smtClean="0">
                <a:solidFill>
                  <a:prstClr val="black">
                    <a:lumMod val="75000"/>
                    <a:lumOff val="25000"/>
                  </a:prstClr>
                </a:solidFill>
              </a:rPr>
              <a:pPr/>
              <a:t>10/24/2025</a:t>
            </a:fld>
            <a:endParaRPr lang="en-US">
              <a:solidFill>
                <a:prstClr val="black">
                  <a:lumMod val="75000"/>
                  <a:lumOff val="25000"/>
                </a:prstClr>
              </a:solidFill>
            </a:endParaRPr>
          </a:p>
        </p:txBody>
      </p:sp>
      <p:sp>
        <p:nvSpPr>
          <p:cNvPr id="8" name="Footer Placeholder 7"/>
          <p:cNvSpPr>
            <a:spLocks noGrp="1"/>
          </p:cNvSpPr>
          <p:nvPr>
            <p:ph type="ftr" sz="quarter" idx="11"/>
          </p:nvPr>
        </p:nvSpPr>
        <p:spPr/>
        <p:txBody>
          <a:bodyPr/>
          <a:lstStyle/>
          <a:p>
            <a:endParaRPr lang="en-US">
              <a:solidFill>
                <a:prstClr val="white">
                  <a:lumMod val="50000"/>
                </a:prstClr>
              </a:solidFill>
            </a:endParaRPr>
          </a:p>
        </p:txBody>
      </p:sp>
      <p:sp>
        <p:nvSpPr>
          <p:cNvPr id="9" name="Slide Number Placeholder 8"/>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2464600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81AFE5B-575B-7C44-8512-74AD30B0897C}" type="datetime1">
              <a:rPr lang="en-US" smtClean="0">
                <a:solidFill>
                  <a:prstClr val="black">
                    <a:lumMod val="75000"/>
                    <a:lumOff val="25000"/>
                  </a:prstClr>
                </a:solidFill>
              </a:rPr>
              <a:pPr/>
              <a:t>10/24/2025</a:t>
            </a:fld>
            <a:endParaRPr lang="en-US">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7518844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EADBD6-357E-6446-973D-D43166770EC1}" type="datetime1">
              <a:rPr lang="en-US" smtClean="0">
                <a:solidFill>
                  <a:prstClr val="black">
                    <a:lumMod val="75000"/>
                    <a:lumOff val="25000"/>
                  </a:prstClr>
                </a:solidFill>
              </a:rPr>
              <a:pPr/>
              <a:t>10/24/2025</a:t>
            </a:fld>
            <a:endParaRPr lang="en-US">
              <a:solidFill>
                <a:prstClr val="black">
                  <a:lumMod val="75000"/>
                  <a:lumOff val="25000"/>
                </a:prstClr>
              </a:solidFill>
            </a:endParaRPr>
          </a:p>
        </p:txBody>
      </p:sp>
      <p:sp>
        <p:nvSpPr>
          <p:cNvPr id="3" name="Footer Placeholder 2"/>
          <p:cNvSpPr>
            <a:spLocks noGrp="1"/>
          </p:cNvSpPr>
          <p:nvPr>
            <p:ph type="ftr" sz="quarter" idx="11"/>
          </p:nvPr>
        </p:nvSpPr>
        <p:spPr/>
        <p:txBody>
          <a:bodyPr/>
          <a:lstStyle/>
          <a:p>
            <a:endParaRPr lang="en-US">
              <a:solidFill>
                <a:prstClr val="white">
                  <a:lumMod val="50000"/>
                </a:prstClr>
              </a:solidFill>
            </a:endParaRPr>
          </a:p>
        </p:txBody>
      </p:sp>
      <p:sp>
        <p:nvSpPr>
          <p:cNvPr id="4" name="Slide Number Placeholder 3"/>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50148302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7ED7A8-0006-294D-BE45-F3E7C3592CEA}" type="datetime1">
              <a:rPr lang="en-US" smtClean="0">
                <a:solidFill>
                  <a:prstClr val="black">
                    <a:lumMod val="75000"/>
                    <a:lumOff val="25000"/>
                  </a:prstClr>
                </a:solidFill>
              </a:rPr>
              <a:pPr/>
              <a:t>10/24/2025</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233017140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831F3B-0CB8-3743-AFB9-710E8B95EFBB}" type="datetime1">
              <a:rPr lang="en-US" smtClean="0">
                <a:solidFill>
                  <a:prstClr val="black">
                    <a:lumMod val="75000"/>
                    <a:lumOff val="25000"/>
                  </a:prstClr>
                </a:solidFill>
              </a:rPr>
              <a:pPr/>
              <a:t>10/24/2025</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6550650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B634D085-3135-FC4A-9A84-231E84B61035}" type="datetime1">
              <a:rPr lang="en-US" smtClean="0">
                <a:solidFill>
                  <a:prstClr val="black">
                    <a:lumMod val="75000"/>
                    <a:lumOff val="25000"/>
                  </a:prstClr>
                </a:solidFill>
              </a:rPr>
              <a:pPr/>
              <a:t>10/24/2025</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119059361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solidFill>
                <a:prstClr val="black"/>
              </a:solidFill>
            </a:endParaRPr>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FB5C6980-FB3F-B643-BBDA-B1757172054E}" type="datetime1">
              <a:rPr lang="en-US" smtClean="0">
                <a:solidFill>
                  <a:prstClr val="black">
                    <a:lumMod val="75000"/>
                    <a:lumOff val="25000"/>
                  </a:prstClr>
                </a:solidFill>
              </a:rPr>
              <a:pPr/>
              <a:t>10/24/2025</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00506496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C935DF3-9DEA-544D-8F00-A2AC9DF52A4B}" type="datetime1">
              <a:rPr lang="en-US" smtClean="0">
                <a:solidFill>
                  <a:prstClr val="black">
                    <a:lumMod val="75000"/>
                    <a:lumOff val="25000"/>
                  </a:prstClr>
                </a:solidFill>
              </a:rPr>
              <a:pPr/>
              <a:t>10/24/2025</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403289165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AB1105CF-9EA3-6E4A-B446-49944784288B}" type="datetime1">
              <a:rPr lang="en-US" smtClean="0">
                <a:solidFill>
                  <a:prstClr val="black">
                    <a:lumMod val="75000"/>
                    <a:lumOff val="25000"/>
                  </a:prstClr>
                </a:solidFill>
              </a:rPr>
              <a:pPr/>
              <a:t>10/24/2025</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2667884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88D68B0-69D4-C442-8BE8-D78CC592EE29}" type="datetime1">
              <a:rPr lang="en-US" smtClean="0">
                <a:solidFill>
                  <a:prstClr val="black">
                    <a:lumMod val="75000"/>
                    <a:lumOff val="25000"/>
                  </a:prstClr>
                </a:solidFill>
              </a:rPr>
              <a:pPr/>
              <a:t>10/24/2025</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6281072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gif"/><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image" Target="../media/image2.jpeg"/><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theme" Target="../theme/theme3.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theme" Target="../theme/theme4.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2013UCLAAndersonLogoScreen4-3.gif"/>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7297" y="1417639"/>
            <a:ext cx="7934131" cy="4708525"/>
          </a:xfrm>
          <a:prstGeom prst="rect">
            <a:avLst/>
          </a:prstGeom>
        </p:spPr>
        <p:txBody>
          <a:bodyPr vert="horz" lIns="91440" tIns="45720" rIns="91440" bIns="45720" rtlCol="0">
            <a:normAutofit/>
          </a:bodyPr>
          <a:lstStyle/>
          <a:p>
            <a:pPr lvl="0"/>
            <a:r>
              <a:rPr lang="en-US" dirty="0"/>
              <a:t>Click to edit Master text styles</a:t>
            </a:r>
          </a:p>
        </p:txBody>
      </p:sp>
      <p:sp>
        <p:nvSpPr>
          <p:cNvPr id="4" name="Date Placeholder 3"/>
          <p:cNvSpPr>
            <a:spLocks noGrp="1"/>
          </p:cNvSpPr>
          <p:nvPr>
            <p:ph type="dt" sz="half" idx="2"/>
          </p:nvPr>
        </p:nvSpPr>
        <p:spPr>
          <a:xfrm>
            <a:off x="151030" y="6356351"/>
            <a:ext cx="2133600" cy="365125"/>
          </a:xfrm>
          <a:prstGeom prst="rect">
            <a:avLst/>
          </a:prstGeom>
        </p:spPr>
        <p:txBody>
          <a:bodyPr vert="horz" lIns="91440" tIns="45720" rIns="91440" bIns="45720" rtlCol="0" anchor="ctr"/>
          <a:lstStyle>
            <a:lvl1pPr algn="l">
              <a:defRPr sz="1000" kern="900" spc="400">
                <a:solidFill>
                  <a:schemeClr val="bg1"/>
                </a:solidFill>
                <a:latin typeface=""/>
              </a:defRPr>
            </a:lvl1pPr>
          </a:lstStyle>
          <a:p>
            <a:fld id="{BF8D68B6-7B24-6146-BD9E-412DC96CF560}" type="datetimeFigureOut">
              <a:rPr lang="en-US" smtClean="0"/>
              <a:pPr/>
              <a:t>10/24/2025</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4290648545"/>
      </p:ext>
    </p:extLst>
  </p:cSld>
  <p:clrMap bg1="lt1" tx1="dk1" bg2="lt2" tx2="dk2" accent1="accent1" accent2="accent2" accent3="accent3" accent4="accent4" accent5="accent5" accent6="accent6" hlink="hlink" folHlink="folHlink"/>
  <p:sldLayoutIdLst>
    <p:sldLayoutId id="2147483712" r:id="rId1"/>
    <p:sldLayoutId id="2147483715" r:id="rId2"/>
    <p:sldLayoutId id="2147483784" r:id="rId3"/>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xStyles>
    <p:titleStyle>
      <a:lvl1pPr algn="ctr" defTabSz="457200" rtl="0" eaLnBrk="1" latinLnBrk="0" hangingPunct="1">
        <a:spcBef>
          <a:spcPct val="0"/>
        </a:spcBef>
        <a:buNone/>
        <a:defRPr sz="3000" b="0" i="0" kern="1200" cap="all" spc="400">
          <a:solidFill>
            <a:schemeClr val="bg1"/>
          </a:solidFill>
          <a:latin typeface="Whitney Book"/>
          <a:ea typeface="+mj-ea"/>
          <a:cs typeface="+mj-cs"/>
        </a:defRPr>
      </a:lvl1pPr>
    </p:titleStyle>
    <p:bodyStyle>
      <a:lvl1pPr marL="0" indent="0" algn="l" defTabSz="457200" rtl="0" eaLnBrk="1" latinLnBrk="0" hangingPunct="1">
        <a:spcBef>
          <a:spcPct val="20000"/>
        </a:spcBef>
        <a:buClr>
          <a:srgbClr val="1B8BD5"/>
        </a:buClr>
        <a:buFontTx/>
        <a:buNone/>
        <a:defRPr sz="3200" kern="1100" spc="50" normalizeH="0" baseline="0">
          <a:solidFill>
            <a:schemeClr val="tx2">
              <a:lumMod val="75000"/>
            </a:schemeClr>
          </a:solidFill>
          <a:latin typeface="Whitney-Book"/>
          <a:ea typeface="+mn-ea"/>
          <a:cs typeface="+mn-cs"/>
        </a:defRPr>
      </a:lvl1pPr>
      <a:lvl2pPr marL="457200" indent="0" algn="l" defTabSz="457200" rtl="0" eaLnBrk="1" latinLnBrk="0" hangingPunct="1">
        <a:spcBef>
          <a:spcPct val="20000"/>
        </a:spcBef>
        <a:buClr>
          <a:srgbClr val="1B8BD5"/>
        </a:buClr>
        <a:buFontTx/>
        <a:buNone/>
        <a:defRPr sz="2800" kern="1100" spc="50" normalizeH="0" baseline="0">
          <a:solidFill>
            <a:schemeClr val="tx2">
              <a:lumMod val="75000"/>
            </a:schemeClr>
          </a:solidFill>
          <a:latin typeface="Whitney-Book"/>
          <a:ea typeface="+mn-ea"/>
          <a:cs typeface="+mn-cs"/>
        </a:defRPr>
      </a:lvl2pPr>
      <a:lvl3pPr marL="914400" indent="0" algn="l" defTabSz="457200" rtl="0" eaLnBrk="1" latinLnBrk="0" hangingPunct="1">
        <a:spcBef>
          <a:spcPct val="20000"/>
        </a:spcBef>
        <a:buClr>
          <a:srgbClr val="1B8BD5"/>
        </a:buClr>
        <a:buFontTx/>
        <a:buNone/>
        <a:defRPr sz="2400" kern="1100" spc="50" normalizeH="0" baseline="0">
          <a:solidFill>
            <a:schemeClr val="tx2">
              <a:lumMod val="75000"/>
            </a:schemeClr>
          </a:solidFill>
          <a:latin typeface="Whitney-Book"/>
          <a:ea typeface="+mn-ea"/>
          <a:cs typeface="+mn-cs"/>
        </a:defRPr>
      </a:lvl3pPr>
      <a:lvl4pPr marL="1371600" indent="0" algn="l" defTabSz="457200" rtl="0" eaLnBrk="1" latinLnBrk="0" hangingPunct="1">
        <a:spcBef>
          <a:spcPct val="20000"/>
        </a:spcBef>
        <a:buClr>
          <a:srgbClr val="1B8BD5"/>
        </a:buClr>
        <a:buFontTx/>
        <a:buNone/>
        <a:defRPr sz="2000" kern="1100" spc="50" normalizeH="0" baseline="0">
          <a:solidFill>
            <a:schemeClr val="tx2">
              <a:lumMod val="75000"/>
            </a:schemeClr>
          </a:solidFill>
          <a:latin typeface="Whitney-Book"/>
          <a:ea typeface="+mn-ea"/>
          <a:cs typeface="+mn-cs"/>
        </a:defRPr>
      </a:lvl4pPr>
      <a:lvl5pPr marL="1828800" indent="0" algn="l" defTabSz="457200" rtl="0" eaLnBrk="1" latinLnBrk="0" hangingPunct="1">
        <a:spcBef>
          <a:spcPct val="20000"/>
        </a:spcBef>
        <a:buClr>
          <a:srgbClr val="1B8BD5"/>
        </a:buClr>
        <a:buFontTx/>
        <a:buNone/>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810698" y="0"/>
            <a:ext cx="9954698" cy="4782311"/>
          </a:xfrm>
          <a:prstGeom prst="rect">
            <a:avLst/>
          </a:prstGeom>
        </p:spPr>
      </p:pic>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952530" y="1600201"/>
            <a:ext cx="7836326"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E111D7-C283-8E4B-AB2F-B2B17B0FC9BC}" type="datetimeFigureOut">
              <a:rPr lang="en-US" smtClean="0"/>
              <a:t>10/24/2025</a:t>
            </a:fld>
            <a:endParaRPr lang="en-US" dirty="0"/>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4DDD2-D94C-1147-A389-2CD6A7EEF184}" type="slidenum">
              <a:rPr lang="en-US" smtClean="0"/>
              <a:t>‹#›</a:t>
            </a:fld>
            <a:endParaRPr lang="en-US"/>
          </a:p>
        </p:txBody>
      </p:sp>
    </p:spTree>
    <p:extLst>
      <p:ext uri="{BB962C8B-B14F-4D97-AF65-F5344CB8AC3E}">
        <p14:creationId xmlns:p14="http://schemas.microsoft.com/office/powerpoint/2010/main" val="342558120"/>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xStyles>
    <p:titleStyle>
      <a:lvl1pPr algn="ctr" defTabSz="457200" rtl="0" eaLnBrk="1" latinLnBrk="0" hangingPunct="1">
        <a:spcBef>
          <a:spcPct val="0"/>
        </a:spcBef>
        <a:buNone/>
        <a:defRPr sz="2800" kern="1200" cap="all" spc="4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1pPr>
      <a:lvl2pPr marL="742950" indent="-28575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2pPr>
      <a:lvl3pPr marL="11430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3pPr>
      <a:lvl4pPr marL="16002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4pPr>
      <a:lvl5pPr marL="20574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BF8D68B6-7B24-6146-BD9E-412DC96CF560}" type="datetimeFigureOut">
              <a:rPr lang="en-US" smtClean="0"/>
              <a:pPr/>
              <a:t>10/24/2025</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2217867851"/>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7" r:id="rId10"/>
    <p:sldLayoutId id="2147483734" r:id="rId11"/>
    <p:sldLayoutId id="2147483735" r:id="rId12"/>
    <p:sldLayoutId id="2147483738" r:id="rId13"/>
    <p:sldLayoutId id="2147483768" r:id="rId14"/>
    <p:sldLayoutId id="2147483785" r:id="rId15"/>
    <p:sldLayoutId id="2147483786" r:id="rId16"/>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4E0049A5-3BC7-C248-9551-30ECA52D2877}" type="datetime1">
              <a:rPr lang="en-US" smtClean="0">
                <a:solidFill>
                  <a:prstClr val="black">
                    <a:lumMod val="75000"/>
                    <a:lumOff val="25000"/>
                  </a:prstClr>
                </a:solidFill>
              </a:rPr>
              <a:pPr/>
              <a:t>10/24/2025</a:t>
            </a:fld>
            <a:endParaRPr lang="en-US" dirty="0">
              <a:solidFill>
                <a:prstClr val="black">
                  <a:lumMod val="75000"/>
                  <a:lumOff val="25000"/>
                </a:prstClr>
              </a:solidFill>
            </a:endParaRPr>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solidFill>
                <a:prstClr val="white">
                  <a:lumMod val="50000"/>
                </a:prstClr>
              </a:solidFill>
            </a:endParaRPr>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847157103"/>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Lst>
  <p:hf hdr="0" ftr="0" dt="0"/>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9.xml"/><Relationship Id="rId5" Type="http://schemas.openxmlformats.org/officeDocument/2006/relationships/image" Target="../media/image14.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9.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9.xml"/><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9.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9.xm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9.xml"/><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9.xml"/><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9.xml"/><Relationship Id="rId4" Type="http://schemas.openxmlformats.org/officeDocument/2006/relationships/image" Target="../media/image200.pn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01.png"/><Relationship Id="rId7" Type="http://schemas.openxmlformats.org/officeDocument/2006/relationships/image" Target="../media/image261.png"/><Relationship Id="rId2" Type="http://schemas.openxmlformats.org/officeDocument/2006/relationships/notesSlide" Target="../notesSlides/notesSlide23.xml"/><Relationship Id="rId1" Type="http://schemas.openxmlformats.org/officeDocument/2006/relationships/slideLayout" Target="../slideLayouts/slideLayout29.xml"/><Relationship Id="rId6" Type="http://schemas.openxmlformats.org/officeDocument/2006/relationships/image" Target="../media/image250.png"/><Relationship Id="rId5" Type="http://schemas.openxmlformats.org/officeDocument/2006/relationships/image" Target="../media/image240.png"/><Relationship Id="rId4" Type="http://schemas.openxmlformats.org/officeDocument/2006/relationships/image" Target="../media/image230.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29.xml"/><Relationship Id="rId5" Type="http://schemas.openxmlformats.org/officeDocument/2006/relationships/image" Target="../media/image30.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29.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1.xml"/><Relationship Id="rId1" Type="http://schemas.openxmlformats.org/officeDocument/2006/relationships/tags" Target="../tags/tag2.xml"/><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27.xml"/><Relationship Id="rId1"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9.xml"/></Relationships>
</file>

<file path=ppt/slides/_rels/slide31.xml.rels><?xml version="1.0" encoding="UTF-8" standalone="yes"?>
<Relationships xmlns="http://schemas.openxmlformats.org/package/2006/relationships"><Relationship Id="rId3" Type="http://schemas.openxmlformats.org/officeDocument/2006/relationships/image" Target="../media/image34.jpeg"/><Relationship Id="rId7"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29.xml"/><Relationship Id="rId6" Type="http://schemas.openxmlformats.org/officeDocument/2006/relationships/image" Target="../media/image37.jpeg"/><Relationship Id="rId5" Type="http://schemas.openxmlformats.org/officeDocument/2006/relationships/image" Target="../media/image36.png"/><Relationship Id="rId4" Type="http://schemas.openxmlformats.org/officeDocument/2006/relationships/image" Target="../media/image35.jpeg"/></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2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9.xml"/><Relationship Id="rId1" Type="http://schemas.openxmlformats.org/officeDocument/2006/relationships/video" Target="https://www.youtube.com/embed/gDdq2rIqAlM?feature=oembed" TargetMode="External"/><Relationship Id="rId4" Type="http://schemas.openxmlformats.org/officeDocument/2006/relationships/image" Target="../media/image40.jpeg"/></Relationships>
</file>

<file path=ppt/slides/_rels/slide36.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9.xm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6.xml"/><Relationship Id="rId1" Type="http://schemas.openxmlformats.org/officeDocument/2006/relationships/slideLayout" Target="../slideLayouts/slideLayout29.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7.xml"/><Relationship Id="rId1" Type="http://schemas.openxmlformats.org/officeDocument/2006/relationships/slideLayout" Target="../slideLayouts/slideLayout29.xml"/></Relationships>
</file>

<file path=ppt/slides/_rels/slide42.xml.rels><?xml version="1.0" encoding="UTF-8" standalone="yes"?>
<Relationships xmlns="http://schemas.openxmlformats.org/package/2006/relationships"><Relationship Id="rId3" Type="http://schemas.openxmlformats.org/officeDocument/2006/relationships/hyperlink" Target="https://concentrationcrisis.openmarketsinstitute.org/" TargetMode="External"/><Relationship Id="rId2" Type="http://schemas.openxmlformats.org/officeDocument/2006/relationships/notesSlide" Target="../notesSlides/notesSlide38.xml"/><Relationship Id="rId1" Type="http://schemas.openxmlformats.org/officeDocument/2006/relationships/slideLayout" Target="../slideLayouts/slideLayout29.xml"/><Relationship Id="rId4" Type="http://schemas.openxmlformats.org/officeDocument/2006/relationships/image" Target="../media/image44.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9.xml"/><Relationship Id="rId1" Type="http://schemas.openxmlformats.org/officeDocument/2006/relationships/tags" Target="../tags/tag3.xml"/><Relationship Id="rId4" Type="http://schemas.openxmlformats.org/officeDocument/2006/relationships/image" Target="../media/image45.png"/></Relationships>
</file>

<file path=ppt/slides/_rels/slide44.xml.rels><?xml version="1.0" encoding="UTF-8" standalone="yes"?>
<Relationships xmlns="http://schemas.openxmlformats.org/package/2006/relationships"><Relationship Id="rId3" Type="http://schemas.openxmlformats.org/officeDocument/2006/relationships/hyperlink" Target="http://www.economist.com/techfirms" TargetMode="External"/><Relationship Id="rId2" Type="http://schemas.openxmlformats.org/officeDocument/2006/relationships/notesSlide" Target="../notesSlides/notesSlide40.xml"/><Relationship Id="rId1" Type="http://schemas.openxmlformats.org/officeDocument/2006/relationships/slideLayout" Target="../slideLayouts/slideLayout29.xml"/><Relationship Id="rId4" Type="http://schemas.openxmlformats.org/officeDocument/2006/relationships/image" Target="../media/image46.JPG"/></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1.xml"/><Relationship Id="rId1" Type="http://schemas.openxmlformats.org/officeDocument/2006/relationships/slideLayout" Target="../slideLayouts/slideLayout2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9.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37.jpeg"/><Relationship Id="rId2" Type="http://schemas.openxmlformats.org/officeDocument/2006/relationships/notesSlide" Target="../notesSlides/notesSlide43.xml"/><Relationship Id="rId1" Type="http://schemas.openxmlformats.org/officeDocument/2006/relationships/slideLayout" Target="../slideLayouts/slideLayout29.xml"/><Relationship Id="rId6" Type="http://schemas.openxmlformats.org/officeDocument/2006/relationships/image" Target="../media/image36.png"/><Relationship Id="rId5" Type="http://schemas.openxmlformats.org/officeDocument/2006/relationships/image" Target="../media/image35.jpeg"/><Relationship Id="rId4" Type="http://schemas.openxmlformats.org/officeDocument/2006/relationships/image" Target="../media/image34.jpeg"/></Relationships>
</file>

<file path=ppt/slides/_rels/slide48.xml.rels><?xml version="1.0" encoding="UTF-8" standalone="yes"?>
<Relationships xmlns="http://schemas.openxmlformats.org/package/2006/relationships"><Relationship Id="rId3" Type="http://schemas.openxmlformats.org/officeDocument/2006/relationships/hyperlink" Target="https://www.youtube.com/watch?v=LPLWTT3ZVMo" TargetMode="External"/><Relationship Id="rId2" Type="http://schemas.openxmlformats.org/officeDocument/2006/relationships/notesSlide" Target="../notesSlides/notesSlide44.xml"/><Relationship Id="rId1" Type="http://schemas.openxmlformats.org/officeDocument/2006/relationships/slideLayout" Target="../slideLayouts/slideLayout29.xml"/></Relationships>
</file>

<file path=ppt/slides/_rels/slide4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5.xml"/><Relationship Id="rId1" Type="http://schemas.openxmlformats.org/officeDocument/2006/relationships/slideLayout" Target="../slideLayouts/slideLayout3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9.xml"/><Relationship Id="rId1" Type="http://schemas.openxmlformats.org/officeDocument/2006/relationships/tags" Target="../tags/tag4.xml"/><Relationship Id="rId4" Type="http://schemas.openxmlformats.org/officeDocument/2006/relationships/image" Target="../media/image16.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9.xml"/><Relationship Id="rId1" Type="http://schemas.openxmlformats.org/officeDocument/2006/relationships/tags" Target="../tags/tag5.xml"/><Relationship Id="rId6" Type="http://schemas.openxmlformats.org/officeDocument/2006/relationships/image" Target="../media/image51.png"/><Relationship Id="rId5" Type="http://schemas.openxmlformats.org/officeDocument/2006/relationships/image" Target="../media/image50.jpg"/><Relationship Id="rId4" Type="http://schemas.openxmlformats.org/officeDocument/2006/relationships/image" Target="../media/image49.jpe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9.xml"/></Relationships>
</file>

<file path=ppt/slides/_rels/slide54.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49.xml"/><Relationship Id="rId1" Type="http://schemas.openxmlformats.org/officeDocument/2006/relationships/slideLayout" Target="../slideLayouts/slideLayout29.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9" Type="http://schemas.openxmlformats.org/officeDocument/2006/relationships/image" Target="../media/image58.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9.xml"/><Relationship Id="rId1" Type="http://schemas.openxmlformats.org/officeDocument/2006/relationships/tags" Target="../tags/tag6.xml"/><Relationship Id="rId5" Type="http://schemas.openxmlformats.org/officeDocument/2006/relationships/image" Target="../media/image60.jfif"/><Relationship Id="rId4" Type="http://schemas.openxmlformats.org/officeDocument/2006/relationships/image" Target="../media/image59.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9.xml"/><Relationship Id="rId1" Type="http://schemas.openxmlformats.org/officeDocument/2006/relationships/tags" Target="../tags/tag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6115" y="4406901"/>
            <a:ext cx="7772400" cy="1362075"/>
          </a:xfrm>
        </p:spPr>
        <p:txBody>
          <a:bodyPr>
            <a:normAutofit/>
          </a:bodyPr>
          <a:lstStyle/>
          <a:p>
            <a:r>
              <a:rPr lang="en-US" dirty="0"/>
              <a:t>Price searchers: Monopoly and Monopolistic Competition</a:t>
            </a:r>
            <a:endParaRPr lang="en-US" b="0" dirty="0"/>
          </a:p>
        </p:txBody>
      </p:sp>
      <p:sp>
        <p:nvSpPr>
          <p:cNvPr id="3" name="Text Placeholder 2"/>
          <p:cNvSpPr>
            <a:spLocks noGrp="1"/>
          </p:cNvSpPr>
          <p:nvPr>
            <p:ph type="body" idx="1"/>
          </p:nvPr>
        </p:nvSpPr>
        <p:spPr/>
        <p:txBody>
          <a:bodyPr>
            <a:normAutofit/>
          </a:bodyPr>
          <a:lstStyle/>
          <a:p>
            <a:r>
              <a:rPr lang="en-US" sz="2400" dirty="0"/>
              <a:t>Professor Nico Voigtländer</a:t>
            </a:r>
          </a:p>
          <a:p>
            <a:r>
              <a:rPr lang="en-US" sz="2400" dirty="0"/>
              <a:t>Management 405: Module 5</a:t>
            </a:r>
          </a:p>
        </p:txBody>
      </p:sp>
      <p:pic>
        <p:nvPicPr>
          <p:cNvPr id="4" name="Picture 4" descr="data:image/png;base64,iVBORw0KGgoAAAANSUhEUgAAAgQAAABiCAMAAAAY7jvKAAAAw1BMVEX///8Qe7YjHyAAdrQAAACEttYAcrLF3OsbFhcgHB0AeLUIAAAdGBkAdbNqaGkPCAr5+flbWVre3t4WEBH09PR6eHkchr0zLzCYl5hUUVI7ODlwbm9VncgUDg/T09MuKivAv8Dn5ufv9fmMiopMSEmlpKWwr69JlsREQUKCgIE3NDXb2tuLiYrDw8PNzMxsamuqqaptq9Dk8Pat0eWQutibxd7Q4+9opcwwjL+4z+PK4O7a7PSbxN4iib681eePttVssNPmOyI8AAAa7UlEQVR4nO2dB3ujPBKACdY6NJvqHgy4EFzjzbZs+XL3/3/VqUtgitfxnXO7nufuy9oSAjMvo5lRQfnw58hP5SbnSeuPkfb9te/l/63c/TFyg+BsubbqLic3CM6Wa6vucnKD4Gy5tuouJzcIzpZrq+5ycoPgbLm26i4nNwjOlmur7nJyg+BsubbqLic3CM6Wa6vucnKD4Gy5tuouJzcIzpZrq+5y0gRB0lthmTtvu2M70szyba28K7m26i4nTRAMQYgF7N92x5a4HXP0Rpbek1xbdZeTJggyS8USrt52x5Y2akVzbxC8Q2mAYK/qBAI9C950x24QvGNpgGAeqlT8+E137AbBO5Z6CIKxziB4Y39wg+AdSz0EO4C7AkwBeFN/cIPgHUs9BBMfMRBFGIL0LXfsBsE7lloIkjGKDcK5i/743bfcsRsE71hqIYix5sC0hw3C2nvDHbtB8I6lFgJXwxAoSxP9NQ8V1ZxpnKbxPil+H+yGPbc3jJEzUQKBM02HT6h8WnkByUY0utnFaVx2GtjSPp1P3Kdtuqv0W5IdOnhTeaYz5Nqqu5zUQRAAojjFw/+wRlLZYeQiGUINHEaRCQBQs3lOP8Fy4du+Bv+fHUogcFJ4GC43B+5OHLbF7Y6gA+LMR9kgCmhj7sCCJwGmOu7GeXPiDEcqbcnKtpK5GuKm3FhRvN4YHR0O3DcmPmW5tupqxfidynUQUAMA9RHhAAFISh4CDYrZVTwXaLhUt8xIeqa9EaDJRtUCkyMINiN6GDpSAy5vumujhsFS2WempuskJkl1k9XWLR/kVLlcmxZvybLNIbcGPRNf40E5WLbFzrS6WId0iiqIVBaUq8rodNCfTqdllB10kl77z4+nc1ADgYN7Az2CNnSOVWgPReEQf+NPgkhTuVg6144nf6+C7TDMQZCqcjF0PjPGT9cnXU9CGsAQrGw9V1sLY3aeYGVauTI9XDCgsCuj+mkqH+67F2LgBAj6TE4vMTrt/rfP31/v7++/f//40uoYxwedoNbOL+VD64R6RGog2ODnH+ttbxV7dAKBPiI649oZUwUkWe57VV3rcguxTzWn61Q/fuTJEIRD2jCCIAWkrh+GvkYPY7T1ALMBGrMHYebJEOhulEMIXGoks1kTn2jNH0VNv7A2Puc1Zdw9fHmWzzH78sAse+cL/e5rs1aNl5nytX0iArUQED3bcwXpFCvN3xcK4b3H/+V3mBmLLk0367CzBj6vQiGYmvSjGY3Hvk+fUGLGifL1jFoKCIFHlOhnve285xJVa2tynpVJGbKgj5LRZv2MoEYgUAln/Br1wVuiHEma7+0rrXlf1NEDa+NfMgRG++HHUWfl3L+0860VkSo78y9Y7xSL0QgBdQSm4n5K/QGFAOkDAPg/9mQPsCqn9Pk0B8v9fvcEmO0nEAQuUTQYxRvP2z8BciISfFALgL7StdCGEBxwY4C4ncEuwqcC2JdM6VWA7jQJgiRdE/YAuc4es0Z6iK6RIqKaQ+Ui0nxvv9KarwXL3PrI2vgmWXvjoWJd6KdOvrVO04mNPqr3ubFeMwR7kjKO5A86L+UQ+NhLi0f0hpN5B1STJp2KslloMgSpSRpjykjxs6oPEulQ1HLU3Q6HjjJCB/sTduYpBiTsKWhog7Dn82QmCWp1YrIYBLq+gg9/cCD4qNagQbsnSvO9ZZb9e0Ednc+0YPbAITDav6pc1mdsCjq8tUY730KG4BSL0QgBcQb9Hv4QELNg8v6AQWBPiBX36MQDbCw21IBzH8yz5O5gjavaYkSKjFWGWJUcArubkLuCq9uiJ3eBbdtgFHBDYPd4Ge23QowMg8Cnx8bRJUZBuDTf3BmtWXwmuWWfcRfeePlReaJ7onUGwa+mJxx5BFCck+ODSgiSDN+xkIbwPaKnLSumEFhj9sWOWGIMzYEaEZGbIUQRCEhfoYdCFY7GXVAOAeBGG9sJYQmUdD6EsgwUZ0E8koEUulInEuuZQiBooxcNSvJNZ0jjve0zCD4WuoMOU/jzC9WT0X+uOg3sDhAExj+sRqPb36Yu5Mn9QSUEO2Kzx9SLSvENtTJ2/+j9tGN+AHG9NDTCQIyyJg02eKqIDlh0KZ2MBKM20hyFwFrwQvJwa9sj1SVE4blB7oC4gTayKjQ6sLgjSJJeqrkrtnSWNN1a+kBCeSg+kqx7/9lnDNRtE4EffdHat4YH3Hih/crzqfFBJQREGVyRCZlZANj9oyHiWHjaCxpGKowHOa0QUC4QBBPqZAYJk4D0B7hxCoE0h4V+Y5vuPN15UsdJfAuicC6kdWyyevQncJPjUAhi5RLSCMEjU1vRLnOV/2QFX3MtO7PZ8/Nsxn4qfvSNh6rWjs7LYsnGmk0QBCTBIsYLuliL/hP9SCCwRsKmSxBQkyw/cCueLEqoEV9nYybZQFDTLZgcNqkBHW3b+iDrLhkIW9ID2bkRgYNJNO8wCEQXpjjUs4nLf/NvSiME35gW+4XM3wuz7DSWN37J7f74/PDSb7f7/W+/CBv40Ret/VOvWoP3Qs3eQwMEabH7pC59RL+og8Azj7veOU8bU5sCzbQQGt8jf6JggRRkRfgcN+joW5oJXPLssz4/10/EBCKUNjyKa/+3ELQ+sJoFrQkT8YohaH2TWr1/vOuQ1LBhtO4eEAa4NxGtNZyWp6ggYyemCiogcIhV1ceHlMqSmmlqe+sgSCgEshMuxg42Um4pL9iKHEMAsQkLFUMXdUPEOKl27spj7b1AwANBp9A3G1zpX/CjaojOwPmYHy9o9WEggb3H1r9YnfqeXvgOysn9QQUECdWUbjKhISENGU+CQI57JQhoptjSimJXQKAkXRDmRwjCdcD8z3cLQYsZ+Z9FCHiuiPT2n3mTz49FA25AlAgErLVZPQStT9IlfjnNNayAYGhWPK06Nb51EATUJ5D7aqk7ILFn5B4LcvPLIIBh5SoLTV8yIfbEKe8O0pBf2JUhMPjQQUEVwrJ/xE8qjwxmDyWduPGlT/7QSkWkCrX78iU+v8kSLPIPniR0quEpjmEsNUg9dQhBMEIV9fHUCY5EqYIAWoNp2h0D0w6pidI9lnywc3MEaAD65FwfApYS+lRQWyfnvoscsvKt1JEz8q3d10LQkQ1BczhZB8Hequq3VY1MLamFgDj7klvOQgIcIhLdWBXTO6ogILJJt2uakl6ysMGWhwXJ+DfR/JUhuGO39ksxYcgVhQx9h3sEtYMCBmutiFS+FvM56Z9Pb4CA5QN9WegoLpk5UgtBlz/2TKake5GSRXh0skSOIPCmWHhbCakBnZOANOpPJOeD+iM2Ck+vDQHT7ociBF+lJkSoMKt14wzWadTGfYyv53/Tv6cwUA5BQJN0k1SWlS09eLUQ0NytJm72SBMQJDRtLHXl8y2SFXb5ixD0ABZhOAKcZEYZCxLCqKFkVEg+QlfxkVeGgGUDPhaU255JTQiv/3ttOthgBxWRylViHsF9i/7jKFl5MgR0JFjLp1c94tZbC/Tg1ULgkf7AGtNSh61mI8ZhRPNO/NgYL1m2cWLhCAJyplAYDjKYhcKUmE4uEJmlmCYrcU90bQiq8rxt1gJ6Tnlf3xDPGaxa3dABDw0e2tRwvJ4SH5RCQJPuUf5bh032QQ9sLQTsEfUXMTpu32WxBoFgR+YL2i7NOcfUh8BjAEcQTMnFhJzI2KQ+AQwS6XlGdHLaTqX0JeJnXA0C7qcXn0ZegOYIGcxeNIR+d+ygGl+Pdy1f0fwyLM+n5IvKIKArEHNDPEiWtD">
            <a:extLst>
              <a:ext uri="{FF2B5EF4-FFF2-40B4-BE49-F238E27FC236}">
                <a16:creationId xmlns:a16="http://schemas.microsoft.com/office/drawing/2014/main" id="{B885DF35-F494-43CF-B65C-094AFB4D71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925" y="5852606"/>
            <a:ext cx="2686050" cy="514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1087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3200" dirty="0">
                <a:cs typeface="Times New Roman" pitchFamily="18" charset="0"/>
              </a:rPr>
              <a:t>agenda for the class</a:t>
            </a:r>
            <a:endParaRPr lang="en-US" dirty="0"/>
          </a:p>
        </p:txBody>
      </p:sp>
      <p:sp>
        <p:nvSpPr>
          <p:cNvPr id="6" name="Rectangle 3"/>
          <p:cNvSpPr>
            <a:spLocks noChangeArrowheads="1"/>
          </p:cNvSpPr>
          <p:nvPr/>
        </p:nvSpPr>
        <p:spPr bwMode="auto">
          <a:xfrm>
            <a:off x="1240270" y="1870610"/>
            <a:ext cx="6561139" cy="4572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lIns="20047" tIns="28399" rIns="20047" bIns="28399" anchor="ctr">
            <a:flatTx/>
          </a:bodyPr>
          <a:lstStyle/>
          <a:p>
            <a:pPr marL="0" marR="0" lvl="0" indent="0" algn="ctr" defTabSz="962025" rtl="0" eaLnBrk="0" fontAlgn="auto" latinLnBrk="0" hangingPunct="0">
              <a:lnSpc>
                <a:spcPts val="2950"/>
              </a:lnSpc>
              <a:spcBef>
                <a:spcPts val="0"/>
              </a:spcBef>
              <a:spcAft>
                <a:spcPts val="0"/>
              </a:spcAft>
              <a:buClrTx/>
              <a:buSzTx/>
              <a:buFontTx/>
              <a:buNone/>
              <a:tabLst>
                <a:tab pos="481013" algn="l"/>
                <a:tab pos="962025" algn="l"/>
                <a:tab pos="1443038" algn="l"/>
              </a:tabLst>
              <a:defRPr/>
            </a:pPr>
            <a:r>
              <a:rPr kumimoji="0" lang="en-US" sz="1800" b="0" i="0" u="none" strike="noStrike" kern="1200" cap="none" spc="0" normalizeH="0" baseline="0" noProof="0" dirty="0">
                <a:ln>
                  <a:noFill/>
                </a:ln>
                <a:solidFill>
                  <a:prstClr val="black"/>
                </a:solidFill>
                <a:effectLst/>
                <a:uLnTx/>
                <a:uFillTx/>
                <a:latin typeface="Whitney-Book" pitchFamily="50" charset="0"/>
                <a:cs typeface="Times New Roman" pitchFamily="18" charset="0"/>
              </a:rPr>
              <a:t>1. The Economic Way of Thinking</a:t>
            </a:r>
            <a:endParaRPr kumimoji="0" lang="en-US" sz="1800" b="1" i="0" u="none" strike="noStrike" kern="1200" cap="none" spc="0" normalizeH="0" baseline="0" noProof="0" dirty="0">
              <a:ln>
                <a:noFill/>
              </a:ln>
              <a:solidFill>
                <a:prstClr val="black"/>
              </a:solidFill>
              <a:effectLst/>
              <a:uLnTx/>
              <a:uFillTx/>
              <a:latin typeface="Whitney-Book" pitchFamily="50" charset="0"/>
              <a:cs typeface="Times New Roman" pitchFamily="18" charset="0"/>
            </a:endParaRPr>
          </a:p>
        </p:txBody>
      </p:sp>
      <p:grpSp>
        <p:nvGrpSpPr>
          <p:cNvPr id="7" name="Group 6"/>
          <p:cNvGrpSpPr/>
          <p:nvPr/>
        </p:nvGrpSpPr>
        <p:grpSpPr>
          <a:xfrm>
            <a:off x="2275681" y="3603612"/>
            <a:ext cx="4592638" cy="1250239"/>
            <a:chOff x="2618581" y="4773364"/>
            <a:chExt cx="4592638" cy="1250239"/>
          </a:xfrm>
        </p:grpSpPr>
        <p:sp>
          <p:nvSpPr>
            <p:cNvPr id="8" name="Rectangle 6"/>
            <p:cNvSpPr>
              <a:spLocks noChangeArrowheads="1"/>
            </p:cNvSpPr>
            <p:nvPr/>
          </p:nvSpPr>
          <p:spPr bwMode="auto">
            <a:xfrm>
              <a:off x="2618581" y="5566403"/>
              <a:ext cx="4592638" cy="457200"/>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wrap="none" lIns="20047" tIns="28399" rIns="20047" bIns="28399" anchor="ctr">
              <a:flatTx/>
            </a:bodyPr>
            <a:lstStyle/>
            <a:p>
              <a:pPr marL="0" marR="0" lvl="0" indent="0" algn="ctr" defTabSz="962025" rtl="0" eaLnBrk="0" fontAlgn="auto" latinLnBrk="0" hangingPunct="0">
                <a:lnSpc>
                  <a:spcPts val="2950"/>
                </a:lnSpc>
                <a:spcBef>
                  <a:spcPts val="0"/>
                </a:spcBef>
                <a:spcAft>
                  <a:spcPts val="0"/>
                </a:spcAft>
                <a:buClrTx/>
                <a:buSzTx/>
                <a:buFontTx/>
                <a:buNone/>
                <a:tabLst>
                  <a:tab pos="481013" algn="l"/>
                  <a:tab pos="962025" algn="l"/>
                  <a:tab pos="1443038" algn="l"/>
                </a:tabLst>
                <a:defRPr/>
              </a:pPr>
              <a:r>
                <a:rPr kumimoji="0" lang="en-US" sz="1800" b="0" i="0" u="none" strike="noStrike" kern="1200" cap="none" spc="0" normalizeH="0" baseline="0" noProof="0" dirty="0">
                  <a:ln>
                    <a:noFill/>
                  </a:ln>
                  <a:solidFill>
                    <a:prstClr val="black"/>
                  </a:solidFill>
                  <a:effectLst/>
                  <a:uLnTx/>
                  <a:uFillTx/>
                  <a:latin typeface="Whitney-Book" pitchFamily="50" charset="0"/>
                  <a:cs typeface="Times New Roman" pitchFamily="18" charset="0"/>
                </a:rPr>
                <a:t>4. Markets, Pricing and Strategy</a:t>
              </a:r>
            </a:p>
          </p:txBody>
        </p:sp>
        <p:sp>
          <p:nvSpPr>
            <p:cNvPr id="9" name="Line 7"/>
            <p:cNvSpPr>
              <a:spLocks noChangeShapeType="1"/>
            </p:cNvSpPr>
            <p:nvPr/>
          </p:nvSpPr>
          <p:spPr bwMode="auto">
            <a:xfrm>
              <a:off x="3290021" y="4773364"/>
              <a:ext cx="1089222" cy="780338"/>
            </a:xfrm>
            <a:prstGeom prst="line">
              <a:avLst/>
            </a:prstGeom>
            <a:noFill/>
            <a:ln w="25400">
              <a:solidFill>
                <a:schemeClr val="tx1"/>
              </a:solidFill>
              <a:round/>
              <a:headEnd/>
              <a:tailEnd type="triangle" w="med" len="med"/>
            </a:ln>
            <a:effectLst/>
            <a:scene3d>
              <a:camera prst="orthographicFront"/>
              <a:lightRig rig="threePt" dir="t"/>
            </a:scene3d>
            <a:sp3d extrusionH="1905000"/>
          </p:spPr>
          <p:txBody>
            <a:bodyPr wrap="none" lIns="20047" tIns="28399" rIns="20047" bIns="28399"/>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Line 8"/>
            <p:cNvSpPr>
              <a:spLocks noChangeShapeType="1"/>
            </p:cNvSpPr>
            <p:nvPr/>
          </p:nvSpPr>
          <p:spPr bwMode="auto">
            <a:xfrm flipH="1">
              <a:off x="5105398" y="4800600"/>
              <a:ext cx="1089223" cy="761999"/>
            </a:xfrm>
            <a:prstGeom prst="line">
              <a:avLst/>
            </a:prstGeom>
            <a:noFill/>
            <a:ln w="25400">
              <a:solidFill>
                <a:schemeClr val="tx1"/>
              </a:solidFill>
              <a:round/>
              <a:headEnd/>
              <a:tailEnd type="triangle" w="med" len="med"/>
            </a:ln>
            <a:effectLst/>
            <a:scene3d>
              <a:camera prst="orthographicFront"/>
              <a:lightRig rig="threePt" dir="t"/>
            </a:scene3d>
            <a:sp3d extrusionH="1905000"/>
          </p:spPr>
          <p:txBody>
            <a:bodyPr wrap="none" lIns="20047" tIns="28399" rIns="20047" bIns="28399"/>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0"/>
          <p:cNvGrpSpPr/>
          <p:nvPr/>
        </p:nvGrpSpPr>
        <p:grpSpPr>
          <a:xfrm>
            <a:off x="327941" y="2340672"/>
            <a:ext cx="3844057" cy="1262940"/>
            <a:chOff x="325439" y="2640690"/>
            <a:chExt cx="4475161" cy="1470283"/>
          </a:xfrm>
        </p:grpSpPr>
        <p:sp>
          <p:nvSpPr>
            <p:cNvPr id="12" name="Rectangle 4"/>
            <p:cNvSpPr>
              <a:spLocks noChangeArrowheads="1"/>
            </p:cNvSpPr>
            <p:nvPr/>
          </p:nvSpPr>
          <p:spPr bwMode="auto">
            <a:xfrm>
              <a:off x="325439" y="3578712"/>
              <a:ext cx="4475161" cy="532261"/>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none" lIns="20047" tIns="28399" rIns="20047" bIns="28399">
              <a:flatTx/>
            </a:bodyPr>
            <a:lstStyle/>
            <a:p>
              <a:pPr marL="0" marR="0" lvl="0" indent="0" algn="ctr" defTabSz="962025" rtl="0" eaLnBrk="0" fontAlgn="auto" latinLnBrk="0" hangingPunct="0">
                <a:lnSpc>
                  <a:spcPts val="2950"/>
                </a:lnSpc>
                <a:spcBef>
                  <a:spcPts val="0"/>
                </a:spcBef>
                <a:spcAft>
                  <a:spcPts val="0"/>
                </a:spcAft>
                <a:buClrTx/>
                <a:buSzTx/>
                <a:buFontTx/>
                <a:buNone/>
                <a:tabLst>
                  <a:tab pos="481013" algn="l"/>
                  <a:tab pos="962025" algn="l"/>
                  <a:tab pos="1443038" algn="l"/>
                </a:tabLst>
                <a:defRPr/>
              </a:pPr>
              <a:r>
                <a:rPr kumimoji="0" lang="en-US" sz="1800" b="0" i="0" u="none" strike="noStrike" kern="1200" cap="none" spc="0" normalizeH="0" baseline="0" noProof="0" dirty="0">
                  <a:ln>
                    <a:noFill/>
                  </a:ln>
                  <a:effectLst/>
                  <a:uLnTx/>
                  <a:uFillTx/>
                  <a:latin typeface="Whitney-Book" pitchFamily="50" charset="0"/>
                  <a:cs typeface="Times New Roman" pitchFamily="18" charset="0"/>
                </a:rPr>
                <a:t>2. </a:t>
              </a:r>
              <a:r>
                <a:rPr kumimoji="0" lang="en-US" sz="1800" i="0" u="none" strike="noStrike" kern="1200" normalizeH="0" baseline="0" noProof="0" dirty="0">
                  <a:uLnTx/>
                  <a:uFillTx/>
                  <a:latin typeface="Whitney-Book" pitchFamily="50" charset="0"/>
                  <a:cs typeface="Times New Roman" pitchFamily="18" charset="0"/>
                </a:rPr>
                <a:t>Value and Demand</a:t>
              </a:r>
            </a:p>
            <a:p>
              <a:pPr marL="0" marR="0" lvl="0" indent="0" algn="ctr" defTabSz="962025" rtl="0" eaLnBrk="0" fontAlgn="auto" latinLnBrk="0" hangingPunct="0">
                <a:lnSpc>
                  <a:spcPts val="2950"/>
                </a:lnSpc>
                <a:spcBef>
                  <a:spcPts val="0"/>
                </a:spcBef>
                <a:spcAft>
                  <a:spcPts val="0"/>
                </a:spcAft>
                <a:buClrTx/>
                <a:buSzTx/>
                <a:buFontTx/>
                <a:buNone/>
                <a:tabLst>
                  <a:tab pos="481013" algn="l"/>
                  <a:tab pos="962025" algn="l"/>
                  <a:tab pos="1443038" algn="l"/>
                </a:tabLst>
                <a:defRPr/>
              </a:pPr>
              <a:endParaRPr kumimoji="0" lang="fr-FR" sz="1800" b="1" i="0" u="none" strike="noStrike" kern="1200" cap="none" spc="0" normalizeH="0" baseline="0" noProof="0" dirty="0">
                <a:ln>
                  <a:noFill/>
                </a:ln>
                <a:effectLst/>
                <a:uLnTx/>
                <a:uFillTx/>
                <a:latin typeface="Whitney-Book" pitchFamily="50" charset="0"/>
                <a:cs typeface="Times New Roman" pitchFamily="18" charset="0"/>
              </a:endParaRPr>
            </a:p>
            <a:p>
              <a:pPr marL="0" marR="0" lvl="0" indent="0" algn="ctr" defTabSz="962025" rtl="0" eaLnBrk="0" fontAlgn="auto" latinLnBrk="0" hangingPunct="0">
                <a:lnSpc>
                  <a:spcPts val="2950"/>
                </a:lnSpc>
                <a:spcBef>
                  <a:spcPts val="0"/>
                </a:spcBef>
                <a:spcAft>
                  <a:spcPts val="0"/>
                </a:spcAft>
                <a:buClrTx/>
                <a:buSzTx/>
                <a:buFontTx/>
                <a:buNone/>
                <a:tabLst>
                  <a:tab pos="481013" algn="l"/>
                  <a:tab pos="962025" algn="l"/>
                  <a:tab pos="1443038" algn="l"/>
                </a:tabLst>
                <a:defRPr/>
              </a:pPr>
              <a:endParaRPr lang="fr-FR" b="1" dirty="0">
                <a:latin typeface="Whitney-Book" pitchFamily="50" charset="0"/>
                <a:cs typeface="Times New Roman" pitchFamily="18" charset="0"/>
              </a:endParaRPr>
            </a:p>
            <a:p>
              <a:pPr marL="0" marR="0" lvl="0" indent="0" algn="ctr" defTabSz="962025" rtl="0" eaLnBrk="0" fontAlgn="auto" latinLnBrk="0" hangingPunct="0">
                <a:lnSpc>
                  <a:spcPts val="2950"/>
                </a:lnSpc>
                <a:spcBef>
                  <a:spcPts val="0"/>
                </a:spcBef>
                <a:spcAft>
                  <a:spcPts val="0"/>
                </a:spcAft>
                <a:buClrTx/>
                <a:buSzTx/>
                <a:buFontTx/>
                <a:buNone/>
                <a:tabLst>
                  <a:tab pos="481013" algn="l"/>
                  <a:tab pos="962025" algn="l"/>
                  <a:tab pos="1443038" algn="l"/>
                </a:tabLst>
                <a:defRPr/>
              </a:pPr>
              <a:endParaRPr kumimoji="0" lang="en-US" sz="1800" b="1" i="0" u="none" strike="noStrike" kern="1200" cap="none" spc="0" normalizeH="0" baseline="0" noProof="0" dirty="0">
                <a:ln>
                  <a:noFill/>
                </a:ln>
                <a:effectLst/>
                <a:uLnTx/>
                <a:uFillTx/>
                <a:latin typeface="Whitney-Book" pitchFamily="50" charset="0"/>
                <a:cs typeface="Times New Roman" pitchFamily="18" charset="0"/>
              </a:endParaRPr>
            </a:p>
          </p:txBody>
        </p:sp>
        <p:sp>
          <p:nvSpPr>
            <p:cNvPr id="13" name="Line 7"/>
            <p:cNvSpPr>
              <a:spLocks noChangeShapeType="1"/>
            </p:cNvSpPr>
            <p:nvPr/>
          </p:nvSpPr>
          <p:spPr bwMode="auto">
            <a:xfrm flipH="1">
              <a:off x="3428997" y="2640690"/>
              <a:ext cx="1268048" cy="935949"/>
            </a:xfrm>
            <a:prstGeom prst="line">
              <a:avLst/>
            </a:prstGeom>
            <a:noFill/>
            <a:ln w="25400">
              <a:solidFill>
                <a:schemeClr val="tx1"/>
              </a:solidFill>
              <a:round/>
              <a:headEnd/>
              <a:tailEnd type="triangle" w="med" len="med"/>
            </a:ln>
            <a:effectLst/>
            <a:scene3d>
              <a:camera prst="orthographicFront"/>
              <a:lightRig rig="threePt" dir="t"/>
            </a:scene3d>
            <a:sp3d extrusionH="1905000"/>
          </p:spPr>
          <p:txBody>
            <a:bodyPr wrap="none" lIns="20047" tIns="28399" rIns="20047" bIns="28399"/>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3"/>
          <p:cNvGrpSpPr/>
          <p:nvPr/>
        </p:nvGrpSpPr>
        <p:grpSpPr>
          <a:xfrm>
            <a:off x="4848761" y="2340670"/>
            <a:ext cx="4021018" cy="1262940"/>
            <a:chOff x="4827952" y="2638613"/>
            <a:chExt cx="4681174" cy="1470287"/>
          </a:xfrm>
        </p:grpSpPr>
        <p:sp>
          <p:nvSpPr>
            <p:cNvPr id="15" name="Rectangle 9"/>
            <p:cNvSpPr>
              <a:spLocks noChangeArrowheads="1"/>
            </p:cNvSpPr>
            <p:nvPr/>
          </p:nvSpPr>
          <p:spPr bwMode="auto">
            <a:xfrm>
              <a:off x="4957763" y="3576638"/>
              <a:ext cx="4551363" cy="532262"/>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wrap="none" lIns="20047" tIns="28399" rIns="20047" bIns="28399">
              <a:flatTx/>
            </a:bodyPr>
            <a:lstStyle/>
            <a:p>
              <a:pPr marL="0" marR="0" lvl="0" indent="0" algn="ctr" defTabSz="962025" rtl="0" eaLnBrk="0" fontAlgn="auto" latinLnBrk="0" hangingPunct="0">
                <a:lnSpc>
                  <a:spcPts val="2950"/>
                </a:lnSpc>
                <a:spcBef>
                  <a:spcPts val="0"/>
                </a:spcBef>
                <a:spcAft>
                  <a:spcPts val="0"/>
                </a:spcAft>
                <a:buClrTx/>
                <a:buSzTx/>
                <a:buFontTx/>
                <a:buNone/>
                <a:tabLst>
                  <a:tab pos="481013" algn="l"/>
                  <a:tab pos="962025" algn="l"/>
                  <a:tab pos="1443038" algn="l"/>
                </a:tabLst>
                <a:defRPr/>
              </a:pPr>
              <a:r>
                <a:rPr kumimoji="0" lang="en-US" sz="1800" b="0" i="0" u="none" strike="noStrike" kern="1200" cap="none" spc="0" normalizeH="0" baseline="0" noProof="0" dirty="0">
                  <a:ln>
                    <a:noFill/>
                  </a:ln>
                  <a:effectLst/>
                  <a:uLnTx/>
                  <a:uFillTx/>
                  <a:latin typeface="Whitney-Book" pitchFamily="50" charset="0"/>
                  <a:cs typeface="Times New Roman" pitchFamily="18" charset="0"/>
                </a:rPr>
                <a:t>3</a:t>
              </a:r>
              <a:r>
                <a:rPr lang="en-US" dirty="0">
                  <a:latin typeface="Whitney-Book" pitchFamily="50" charset="0"/>
                  <a:cs typeface="Times New Roman" pitchFamily="18" charset="0"/>
                </a:rPr>
                <a:t>.</a:t>
              </a:r>
              <a:r>
                <a:rPr kumimoji="0" lang="en-US" sz="1800" b="0" i="0" u="none" strike="noStrike" kern="1200" cap="none" spc="0" normalizeH="0" baseline="0" noProof="0" dirty="0">
                  <a:ln>
                    <a:noFill/>
                  </a:ln>
                  <a:effectLst/>
                  <a:uLnTx/>
                  <a:uFillTx/>
                  <a:latin typeface="Whitney-Book" pitchFamily="50" charset="0"/>
                  <a:cs typeface="Times New Roman" pitchFamily="18" charset="0"/>
                </a:rPr>
                <a:t> Supply and Cost</a:t>
              </a:r>
            </a:p>
          </p:txBody>
        </p:sp>
        <p:sp>
          <p:nvSpPr>
            <p:cNvPr id="16" name="Line 7"/>
            <p:cNvSpPr>
              <a:spLocks noChangeShapeType="1"/>
            </p:cNvSpPr>
            <p:nvPr/>
          </p:nvSpPr>
          <p:spPr bwMode="auto">
            <a:xfrm>
              <a:off x="4827952" y="2638613"/>
              <a:ext cx="1268048" cy="938025"/>
            </a:xfrm>
            <a:prstGeom prst="line">
              <a:avLst/>
            </a:prstGeom>
            <a:noFill/>
            <a:ln w="25400">
              <a:solidFill>
                <a:schemeClr val="tx1"/>
              </a:solidFill>
              <a:round/>
              <a:headEnd/>
              <a:tailEnd type="triangle" w="med" len="med"/>
            </a:ln>
            <a:effectLst/>
            <a:scene3d>
              <a:camera prst="orthographicFront"/>
              <a:lightRig rig="threePt" dir="t"/>
            </a:scene3d>
            <a:sp3d extrusionH="1905000"/>
          </p:spPr>
          <p:txBody>
            <a:bodyPr wrap="none" lIns="20047" tIns="28399" rIns="20047" bIns="28399"/>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8" name="Right Arrow 16">
            <a:extLst>
              <a:ext uri="{FF2B5EF4-FFF2-40B4-BE49-F238E27FC236}">
                <a16:creationId xmlns:a16="http://schemas.microsoft.com/office/drawing/2014/main" id="{E2DFD23A-2E86-410D-B200-A0A82876E08C}"/>
              </a:ext>
            </a:extLst>
          </p:cNvPr>
          <p:cNvSpPr/>
          <p:nvPr/>
        </p:nvSpPr>
        <p:spPr bwMode="auto">
          <a:xfrm rot="13328043">
            <a:off x="5359641" y="4964833"/>
            <a:ext cx="1216609" cy="530221"/>
          </a:xfrm>
          <a:prstGeom prst="rightArrow">
            <a:avLst>
              <a:gd name="adj1" fmla="val 50000"/>
              <a:gd name="adj2" fmla="val 87117"/>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effectLst/>
              <a:latin typeface="+mn-lt"/>
            </a:endParaRPr>
          </a:p>
        </p:txBody>
      </p:sp>
    </p:spTree>
    <p:extLst>
      <p:ext uri="{BB962C8B-B14F-4D97-AF65-F5344CB8AC3E}">
        <p14:creationId xmlns:p14="http://schemas.microsoft.com/office/powerpoint/2010/main" val="931784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OUTLINE of module 5</a:t>
            </a:r>
          </a:p>
        </p:txBody>
      </p:sp>
      <p:sp>
        <p:nvSpPr>
          <p:cNvPr id="3" name="Content Placeholder 2"/>
          <p:cNvSpPr>
            <a:spLocks noGrp="1"/>
          </p:cNvSpPr>
          <p:nvPr>
            <p:ph type="body" idx="1"/>
          </p:nvPr>
        </p:nvSpPr>
        <p:spPr/>
        <p:txBody>
          <a:bodyPr>
            <a:normAutofit/>
          </a:bodyPr>
          <a:lstStyle/>
          <a:p>
            <a:pPr>
              <a:spcBef>
                <a:spcPts val="1800"/>
              </a:spcBef>
            </a:pPr>
            <a:r>
              <a:rPr lang="en-US" sz="2810" dirty="0"/>
              <a:t>Profit maximization for price searchers</a:t>
            </a:r>
          </a:p>
          <a:p>
            <a:pPr lvl="1">
              <a:spcBef>
                <a:spcPts val="600"/>
              </a:spcBef>
            </a:pPr>
            <a:r>
              <a:rPr lang="en-US" sz="2610" dirty="0"/>
              <a:t>Markup and Lerner index</a:t>
            </a:r>
            <a:endParaRPr lang="en-US" sz="2810" dirty="0"/>
          </a:p>
          <a:p>
            <a:pPr>
              <a:lnSpc>
                <a:spcPct val="120000"/>
              </a:lnSpc>
              <a:spcBef>
                <a:spcPts val="1800"/>
              </a:spcBef>
            </a:pPr>
            <a:r>
              <a:rPr lang="en-US" sz="2810" dirty="0"/>
              <a:t>Monopoly and welfare impact</a:t>
            </a:r>
          </a:p>
          <a:p>
            <a:pPr>
              <a:lnSpc>
                <a:spcPct val="120000"/>
              </a:lnSpc>
              <a:spcBef>
                <a:spcPts val="1800"/>
              </a:spcBef>
            </a:pPr>
            <a:r>
              <a:rPr lang="en-US" sz="2810" dirty="0"/>
              <a:t>Rising market power and regulations</a:t>
            </a:r>
          </a:p>
          <a:p>
            <a:pPr>
              <a:lnSpc>
                <a:spcPct val="120000"/>
              </a:lnSpc>
              <a:spcBef>
                <a:spcPts val="1800"/>
              </a:spcBef>
            </a:pPr>
            <a:r>
              <a:rPr lang="en-US" sz="2810" dirty="0"/>
              <a:t>Monopolistic competition</a:t>
            </a:r>
          </a:p>
          <a:p>
            <a:pPr marL="514350" indent="-514350">
              <a:lnSpc>
                <a:spcPct val="120000"/>
              </a:lnSpc>
              <a:buFont typeface="+mj-lt"/>
              <a:buAutoNum type="arabicPeriod"/>
            </a:pPr>
            <a:endParaRPr lang="en-US" sz="2813" dirty="0">
              <a:latin typeface="Whitney-Book" pitchFamily="50" charset="0"/>
              <a:cs typeface="Whitney-Book" pitchFamily="50" charset="0"/>
            </a:endParaRPr>
          </a:p>
          <a:p>
            <a:pPr marL="514350" indent="-514350">
              <a:lnSpc>
                <a:spcPct val="120000"/>
              </a:lnSpc>
              <a:buFont typeface="+mj-lt"/>
              <a:buAutoNum type="arabicPeriod"/>
            </a:pPr>
            <a:endParaRPr lang="en-US" sz="2813" dirty="0">
              <a:latin typeface="Whitney-Book" pitchFamily="50" charset="0"/>
              <a:cs typeface="Whitney-Book" pitchFamily="50" charset="0"/>
            </a:endParaRPr>
          </a:p>
          <a:p>
            <a:pPr marL="914400" lvl="1" indent="-514350">
              <a:lnSpc>
                <a:spcPct val="120000"/>
              </a:lnSpc>
            </a:pPr>
            <a:endParaRPr lang="en-US" sz="2613" noProof="0" dirty="0">
              <a:latin typeface="Whitney-Book" pitchFamily="50" charset="0"/>
              <a:cs typeface="Whitney-Book" pitchFamily="50" charset="0"/>
            </a:endParaRPr>
          </a:p>
          <a:p>
            <a:pPr marL="914400" lvl="1" indent="-514350">
              <a:lnSpc>
                <a:spcPct val="120000"/>
              </a:lnSpc>
            </a:pPr>
            <a:endParaRPr lang="en-US" sz="2613" noProof="0" dirty="0">
              <a:latin typeface="Whitney-Book" pitchFamily="50" charset="0"/>
              <a:cs typeface="Whitney-Book" pitchFamily="50" charset="0"/>
            </a:endParaRPr>
          </a:p>
          <a:p>
            <a:pPr marL="457200" lvl="1" indent="0">
              <a:buNone/>
            </a:pPr>
            <a:endParaRPr lang="en-US" noProof="0" dirty="0"/>
          </a:p>
          <a:p>
            <a:pPr lvl="1"/>
            <a:endParaRPr lang="en-US" noProof="0" dirty="0"/>
          </a:p>
          <a:p>
            <a:endParaRPr lang="en-US" noProof="0" dirty="0"/>
          </a:p>
        </p:txBody>
      </p:sp>
    </p:spTree>
    <p:extLst>
      <p:ext uri="{BB962C8B-B14F-4D97-AF65-F5344CB8AC3E}">
        <p14:creationId xmlns:p14="http://schemas.microsoft.com/office/powerpoint/2010/main" val="1273811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four basic market structures</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graphicFrame>
        <p:nvGraphicFramePr>
          <p:cNvPr id="3" name="Table 2"/>
          <p:cNvGraphicFramePr>
            <a:graphicFrameLocks noGrp="1"/>
          </p:cNvGraphicFramePr>
          <p:nvPr>
            <p:extLst/>
          </p:nvPr>
        </p:nvGraphicFramePr>
        <p:xfrm>
          <a:off x="6668496" y="3251931"/>
          <a:ext cx="2001520" cy="2398827"/>
        </p:xfrm>
        <a:graphic>
          <a:graphicData uri="http://schemas.openxmlformats.org/drawingml/2006/table">
            <a:tbl>
              <a:tblPr firstRow="1" bandRow="1">
                <a:tableStyleId>{5C22544A-7EE6-4342-B048-85BDC9FD1C3A}</a:tableStyleId>
              </a:tblPr>
              <a:tblGrid>
                <a:gridCol w="2001520">
                  <a:extLst>
                    <a:ext uri="{9D8B030D-6E8A-4147-A177-3AD203B41FA5}">
                      <a16:colId xmlns:a16="http://schemas.microsoft.com/office/drawing/2014/main" val="3165536391"/>
                    </a:ext>
                  </a:extLst>
                </a:gridCol>
              </a:tblGrid>
              <a:tr h="799609">
                <a:tc>
                  <a:txBody>
                    <a:bodyPr/>
                    <a:lstStyle/>
                    <a:p>
                      <a:pPr marL="0" indent="0" algn="ctr">
                        <a:buClr>
                          <a:schemeClr val="tx2">
                            <a:lumMod val="60000"/>
                            <a:lumOff val="40000"/>
                          </a:schemeClr>
                        </a:buClr>
                        <a:buFont typeface="Lucida Grande"/>
                        <a:buNone/>
                      </a:pPr>
                      <a:r>
                        <a:rPr lang="en-US" sz="2000" b="0" i="0" dirty="0">
                          <a:solidFill>
                            <a:schemeClr val="tx1"/>
                          </a:solidFill>
                          <a:latin typeface="Whitney Book"/>
                        </a:rPr>
                        <a:t>One</a:t>
                      </a:r>
                    </a:p>
                  </a:txBody>
                  <a:tcPr marL="69584" marR="69584" marT="34792" marB="34792" anchor="ctr">
                    <a:lnL w="5715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extLst>
                  <a:ext uri="{0D108BD9-81ED-4DB2-BD59-A6C34878D82A}">
                    <a16:rowId xmlns:a16="http://schemas.microsoft.com/office/drawing/2014/main" val="10002"/>
                  </a:ext>
                </a:extLst>
              </a:tr>
              <a:tr h="799609">
                <a:tc>
                  <a:txBody>
                    <a:bodyPr/>
                    <a:lstStyle/>
                    <a:p>
                      <a:pPr marL="0" indent="0" algn="ctr">
                        <a:buClr>
                          <a:schemeClr val="tx2">
                            <a:lumMod val="60000"/>
                            <a:lumOff val="40000"/>
                          </a:schemeClr>
                        </a:buClr>
                        <a:buFont typeface="Lucida Grande"/>
                        <a:buNone/>
                      </a:pPr>
                      <a:r>
                        <a:rPr lang="en-US" sz="2000" b="0" i="0" dirty="0">
                          <a:solidFill>
                            <a:schemeClr val="tx1"/>
                          </a:solidFill>
                          <a:latin typeface="Whitney Book"/>
                        </a:rPr>
                        <a:t>Unique</a:t>
                      </a:r>
                    </a:p>
                  </a:txBody>
                  <a:tcPr marL="69584" marR="69584" marT="34792" marB="34792" anchor="ctr">
                    <a:lnL w="5715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3839626279"/>
                  </a:ext>
                </a:extLst>
              </a:tr>
              <a:tr h="799609">
                <a:tc>
                  <a:txBody>
                    <a:bodyPr/>
                    <a:lstStyle/>
                    <a:p>
                      <a:pPr marL="0" indent="0" algn="ctr">
                        <a:buClr>
                          <a:schemeClr val="tx2">
                            <a:lumMod val="60000"/>
                            <a:lumOff val="40000"/>
                          </a:schemeClr>
                        </a:buClr>
                        <a:buFont typeface="Lucida Grande"/>
                        <a:buNone/>
                      </a:pPr>
                      <a:r>
                        <a:rPr lang="en-US" sz="2000" b="0" i="0" dirty="0">
                          <a:solidFill>
                            <a:schemeClr val="tx1"/>
                          </a:solidFill>
                          <a:latin typeface="Whitney Book"/>
                        </a:rPr>
                        <a:t>Many</a:t>
                      </a:r>
                    </a:p>
                  </a:txBody>
                  <a:tcPr marL="69584" marR="69584" marT="34792" marB="34792" anchor="ctr">
                    <a:lnL w="5715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498952176"/>
                  </a:ext>
                </a:extLst>
              </a:tr>
            </a:tbl>
          </a:graphicData>
        </a:graphic>
      </p:graphicFrame>
      <p:graphicFrame>
        <p:nvGraphicFramePr>
          <p:cNvPr id="5" name="Table 4"/>
          <p:cNvGraphicFramePr>
            <a:graphicFrameLocks noGrp="1"/>
          </p:cNvGraphicFramePr>
          <p:nvPr>
            <p:extLst/>
          </p:nvPr>
        </p:nvGraphicFramePr>
        <p:xfrm>
          <a:off x="356596" y="2725149"/>
          <a:ext cx="8313420" cy="454244"/>
        </p:xfrm>
        <a:graphic>
          <a:graphicData uri="http://schemas.openxmlformats.org/drawingml/2006/table">
            <a:tbl>
              <a:tblPr firstRow="1" bandRow="1">
                <a:tableStyleId>{5C22544A-7EE6-4342-B048-85BDC9FD1C3A}</a:tableStyleId>
              </a:tblPr>
              <a:tblGrid>
                <a:gridCol w="1218096">
                  <a:extLst>
                    <a:ext uri="{9D8B030D-6E8A-4147-A177-3AD203B41FA5}">
                      <a16:colId xmlns:a16="http://schemas.microsoft.com/office/drawing/2014/main" val="20000"/>
                    </a:ext>
                  </a:extLst>
                </a:gridCol>
                <a:gridCol w="1723432">
                  <a:extLst>
                    <a:ext uri="{9D8B030D-6E8A-4147-A177-3AD203B41FA5}">
                      <a16:colId xmlns:a16="http://schemas.microsoft.com/office/drawing/2014/main" val="1670875575"/>
                    </a:ext>
                  </a:extLst>
                </a:gridCol>
                <a:gridCol w="1864366">
                  <a:extLst>
                    <a:ext uri="{9D8B030D-6E8A-4147-A177-3AD203B41FA5}">
                      <a16:colId xmlns:a16="http://schemas.microsoft.com/office/drawing/2014/main" val="1897832669"/>
                    </a:ext>
                  </a:extLst>
                </a:gridCol>
                <a:gridCol w="1626376">
                  <a:extLst>
                    <a:ext uri="{9D8B030D-6E8A-4147-A177-3AD203B41FA5}">
                      <a16:colId xmlns:a16="http://schemas.microsoft.com/office/drawing/2014/main" val="20001"/>
                    </a:ext>
                  </a:extLst>
                </a:gridCol>
                <a:gridCol w="1881150">
                  <a:extLst>
                    <a:ext uri="{9D8B030D-6E8A-4147-A177-3AD203B41FA5}">
                      <a16:colId xmlns:a16="http://schemas.microsoft.com/office/drawing/2014/main" val="3165536391"/>
                    </a:ext>
                  </a:extLst>
                </a:gridCol>
              </a:tblGrid>
              <a:tr h="454244">
                <a:tc>
                  <a:txBody>
                    <a:bodyPr/>
                    <a:lstStyle/>
                    <a:p>
                      <a:pPr algn="ctr"/>
                      <a:endParaRPr lang="en-US" sz="1200" b="0" i="0" cap="all" spc="200" baseline="0" dirty="0">
                        <a:latin typeface="Whitney Book"/>
                      </a:endParaRPr>
                    </a:p>
                  </a:txBody>
                  <a:tcPr marL="69584" marR="69584" marT="34792" marB="34792" anchor="ctr">
                    <a:lnR w="57150" cap="flat" cmpd="sng" algn="ctr">
                      <a:solidFill>
                        <a:schemeClr val="bg1"/>
                      </a:solidFill>
                      <a:prstDash val="solid"/>
                      <a:round/>
                      <a:headEnd type="none" w="med" len="med"/>
                      <a:tailEnd type="none" w="med" len="med"/>
                    </a:lnR>
                    <a:noFill/>
                  </a:tcPr>
                </a:tc>
                <a:tc>
                  <a:txBody>
                    <a:bodyPr/>
                    <a:lstStyle/>
                    <a:p>
                      <a:pPr algn="ctr"/>
                      <a:r>
                        <a:rPr lang="en-US" sz="1200" b="1" i="0" cap="all" spc="200" baseline="0" dirty="0">
                          <a:solidFill>
                            <a:schemeClr val="tx1"/>
                          </a:solidFill>
                          <a:latin typeface="Whitney Book"/>
                        </a:rPr>
                        <a:t>Perfect competition</a:t>
                      </a:r>
                    </a:p>
                  </a:txBody>
                  <a:tcPr marL="69584" marR="69584" marT="34792" marB="34792"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pPr algn="ctr"/>
                      <a:r>
                        <a:rPr lang="en-US" sz="1200" b="1" i="0" cap="all" spc="200" baseline="0" dirty="0">
                          <a:solidFill>
                            <a:schemeClr val="tx1"/>
                          </a:solidFill>
                          <a:latin typeface="Whitney Book"/>
                        </a:rPr>
                        <a:t>Monopolistic competition</a:t>
                      </a:r>
                    </a:p>
                  </a:txBody>
                  <a:tcPr marL="69584" marR="69584" marT="34792" marB="34792"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pPr algn="ctr"/>
                      <a:r>
                        <a:rPr lang="en-US" sz="1200" b="1" i="0" cap="all" spc="200" baseline="0" dirty="0">
                          <a:solidFill>
                            <a:schemeClr val="tx1"/>
                          </a:solidFill>
                          <a:latin typeface="Whitney Book"/>
                        </a:rPr>
                        <a:t>Oligopoly</a:t>
                      </a:r>
                    </a:p>
                  </a:txBody>
                  <a:tcPr marL="69584" marR="69584" marT="34792" marB="34792"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solidFill>
                      <a:schemeClr val="accent3">
                        <a:lumMod val="60000"/>
                        <a:lumOff val="40000"/>
                      </a:schemeClr>
                    </a:solidFill>
                  </a:tcPr>
                </a:tc>
                <a:tc>
                  <a:txBody>
                    <a:bodyPr/>
                    <a:lstStyle/>
                    <a:p>
                      <a:pPr algn="ctr"/>
                      <a:r>
                        <a:rPr lang="en-US" sz="1200" b="1" i="0" cap="all" spc="200" baseline="0" dirty="0">
                          <a:solidFill>
                            <a:schemeClr val="tx1"/>
                          </a:solidFill>
                          <a:latin typeface="Whitney Book"/>
                        </a:rPr>
                        <a:t>Monopoly</a:t>
                      </a:r>
                    </a:p>
                  </a:txBody>
                  <a:tcPr marL="69584" marR="69584" marT="34792" marB="34792" anchor="ctr">
                    <a:lnL w="57150" cap="flat" cmpd="sng" algn="ctr">
                      <a:solidFill>
                        <a:schemeClr val="bg1"/>
                      </a:solidFill>
                      <a:prstDash val="solid"/>
                      <a:round/>
                      <a:headEnd type="none" w="med" len="med"/>
                      <a:tailEnd type="none" w="med" len="med"/>
                    </a:lnL>
                    <a:lnB w="38100" cap="flat" cmpd="sng" algn="ctr">
                      <a:solidFill>
                        <a:schemeClr val="bg1"/>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0000"/>
                  </a:ext>
                </a:extLst>
              </a:tr>
            </a:tbl>
          </a:graphicData>
        </a:graphic>
      </p:graphicFrame>
      <p:graphicFrame>
        <p:nvGraphicFramePr>
          <p:cNvPr id="7" name="Table 6"/>
          <p:cNvGraphicFramePr>
            <a:graphicFrameLocks noGrp="1"/>
          </p:cNvGraphicFramePr>
          <p:nvPr>
            <p:extLst/>
          </p:nvPr>
        </p:nvGraphicFramePr>
        <p:xfrm>
          <a:off x="3298124" y="3251932"/>
          <a:ext cx="1864366" cy="2398824"/>
        </p:xfrm>
        <a:graphic>
          <a:graphicData uri="http://schemas.openxmlformats.org/drawingml/2006/table">
            <a:tbl>
              <a:tblPr firstRow="1" bandRow="1">
                <a:tableStyleId>{5C22544A-7EE6-4342-B048-85BDC9FD1C3A}</a:tableStyleId>
              </a:tblPr>
              <a:tblGrid>
                <a:gridCol w="1864366">
                  <a:extLst>
                    <a:ext uri="{9D8B030D-6E8A-4147-A177-3AD203B41FA5}">
                      <a16:colId xmlns:a16="http://schemas.microsoft.com/office/drawing/2014/main" val="1897832669"/>
                    </a:ext>
                  </a:extLst>
                </a:gridCol>
              </a:tblGrid>
              <a:tr h="799608">
                <a:tc>
                  <a:txBody>
                    <a:bodyPr/>
                    <a:lstStyle/>
                    <a:p>
                      <a:pPr marL="0" indent="0" algn="ctr">
                        <a:buClr>
                          <a:schemeClr val="tx2">
                            <a:lumMod val="60000"/>
                            <a:lumOff val="40000"/>
                          </a:schemeClr>
                        </a:buClr>
                        <a:buFont typeface="Lucida Grande"/>
                        <a:buNone/>
                      </a:pPr>
                      <a:r>
                        <a:rPr lang="en-US" sz="2000" b="0" i="0" dirty="0">
                          <a:solidFill>
                            <a:schemeClr val="tx1"/>
                          </a:solidFill>
                          <a:latin typeface="Whitney Book"/>
                        </a:rPr>
                        <a:t>Many</a:t>
                      </a:r>
                    </a:p>
                  </a:txBody>
                  <a:tcPr marL="69584" marR="69584" marT="34792" marB="34792"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0002"/>
                  </a:ext>
                </a:extLst>
              </a:tr>
              <a:tr h="799608">
                <a:tc>
                  <a:txBody>
                    <a:bodyPr/>
                    <a:lstStyle/>
                    <a:p>
                      <a:pPr marL="0" indent="0" algn="ctr">
                        <a:buClr>
                          <a:schemeClr val="tx2">
                            <a:lumMod val="60000"/>
                            <a:lumOff val="40000"/>
                          </a:schemeClr>
                        </a:buClr>
                        <a:buFont typeface="Lucida Grande"/>
                        <a:buNone/>
                      </a:pPr>
                      <a:r>
                        <a:rPr lang="en-US" sz="2000" b="0" i="0" dirty="0">
                          <a:solidFill>
                            <a:schemeClr val="tx1"/>
                          </a:solidFill>
                          <a:latin typeface="Whitney Book"/>
                        </a:rPr>
                        <a:t>Differentiated</a:t>
                      </a:r>
                    </a:p>
                  </a:txBody>
                  <a:tcPr marL="69584" marR="69584" marT="34792" marB="34792"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3839626279"/>
                  </a:ext>
                </a:extLst>
              </a:tr>
              <a:tr h="799608">
                <a:tc>
                  <a:txBody>
                    <a:bodyPr/>
                    <a:lstStyle/>
                    <a:p>
                      <a:pPr marL="0" indent="0" algn="ctr">
                        <a:buClr>
                          <a:schemeClr val="tx2">
                            <a:lumMod val="60000"/>
                            <a:lumOff val="40000"/>
                          </a:schemeClr>
                        </a:buClr>
                        <a:buFont typeface="Lucida Grande"/>
                        <a:buNone/>
                      </a:pPr>
                      <a:r>
                        <a:rPr lang="en-US" sz="2000" b="0" i="0" dirty="0">
                          <a:solidFill>
                            <a:schemeClr val="tx1"/>
                          </a:solidFill>
                          <a:latin typeface="Whitney Book"/>
                        </a:rPr>
                        <a:t>None</a:t>
                      </a:r>
                    </a:p>
                  </a:txBody>
                  <a:tcPr marL="69584" marR="69584" marT="34792" marB="34792"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498952176"/>
                  </a:ext>
                </a:extLst>
              </a:tr>
            </a:tbl>
          </a:graphicData>
        </a:graphic>
      </p:graphicFrame>
      <p:graphicFrame>
        <p:nvGraphicFramePr>
          <p:cNvPr id="8" name="Table 7"/>
          <p:cNvGraphicFramePr>
            <a:graphicFrameLocks noGrp="1"/>
          </p:cNvGraphicFramePr>
          <p:nvPr>
            <p:extLst/>
          </p:nvPr>
        </p:nvGraphicFramePr>
        <p:xfrm>
          <a:off x="1574692" y="3251933"/>
          <a:ext cx="1723432" cy="2398824"/>
        </p:xfrm>
        <a:graphic>
          <a:graphicData uri="http://schemas.openxmlformats.org/drawingml/2006/table">
            <a:tbl>
              <a:tblPr firstRow="1" bandRow="1">
                <a:tableStyleId>{5C22544A-7EE6-4342-B048-85BDC9FD1C3A}</a:tableStyleId>
              </a:tblPr>
              <a:tblGrid>
                <a:gridCol w="1723432">
                  <a:extLst>
                    <a:ext uri="{9D8B030D-6E8A-4147-A177-3AD203B41FA5}">
                      <a16:colId xmlns:a16="http://schemas.microsoft.com/office/drawing/2014/main" val="1670875575"/>
                    </a:ext>
                  </a:extLst>
                </a:gridCol>
              </a:tblGrid>
              <a:tr h="799608">
                <a:tc>
                  <a:txBody>
                    <a:bodyPr/>
                    <a:lstStyle/>
                    <a:p>
                      <a:pPr marL="0" indent="0" algn="ctr">
                        <a:buClr>
                          <a:schemeClr val="tx2">
                            <a:lumMod val="60000"/>
                            <a:lumOff val="40000"/>
                          </a:schemeClr>
                        </a:buClr>
                        <a:buFont typeface="Lucida Grande"/>
                        <a:buNone/>
                      </a:pPr>
                      <a:r>
                        <a:rPr lang="en-US" sz="2000" b="0" i="0" dirty="0">
                          <a:solidFill>
                            <a:schemeClr val="tx1"/>
                          </a:solidFill>
                          <a:latin typeface="Whitney Book"/>
                        </a:rPr>
                        <a:t>Many</a:t>
                      </a:r>
                    </a:p>
                  </a:txBody>
                  <a:tcPr marL="69584" marR="69584" marT="34792" marB="34792"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extLst>
                  <a:ext uri="{0D108BD9-81ED-4DB2-BD59-A6C34878D82A}">
                    <a16:rowId xmlns:a16="http://schemas.microsoft.com/office/drawing/2014/main" val="10002"/>
                  </a:ext>
                </a:extLst>
              </a:tr>
              <a:tr h="799608">
                <a:tc>
                  <a:txBody>
                    <a:bodyPr/>
                    <a:lstStyle/>
                    <a:p>
                      <a:pPr marL="0" indent="0" algn="ctr">
                        <a:buClr>
                          <a:schemeClr val="tx2">
                            <a:lumMod val="60000"/>
                            <a:lumOff val="40000"/>
                          </a:schemeClr>
                        </a:buClr>
                        <a:buFont typeface="Lucida Grande"/>
                        <a:buNone/>
                      </a:pPr>
                      <a:r>
                        <a:rPr lang="en-US" sz="2000" b="0" i="0" dirty="0">
                          <a:solidFill>
                            <a:schemeClr val="tx1"/>
                          </a:solidFill>
                          <a:latin typeface="Whitney Book"/>
                        </a:rPr>
                        <a:t>Identical</a:t>
                      </a:r>
                    </a:p>
                  </a:txBody>
                  <a:tcPr marL="69584" marR="69584" marT="34792" marB="34792"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3839626279"/>
                  </a:ext>
                </a:extLst>
              </a:tr>
              <a:tr h="799608">
                <a:tc>
                  <a:txBody>
                    <a:bodyPr/>
                    <a:lstStyle/>
                    <a:p>
                      <a:pPr marL="0" indent="0" algn="ctr">
                        <a:buClr>
                          <a:schemeClr val="tx2">
                            <a:lumMod val="60000"/>
                            <a:lumOff val="40000"/>
                          </a:schemeClr>
                        </a:buClr>
                        <a:buFont typeface="Lucida Grande"/>
                        <a:buNone/>
                      </a:pPr>
                      <a:r>
                        <a:rPr lang="en-US" sz="2000" b="0" i="0" dirty="0">
                          <a:solidFill>
                            <a:schemeClr val="tx1"/>
                          </a:solidFill>
                          <a:latin typeface="Whitney Book"/>
                        </a:rPr>
                        <a:t>None</a:t>
                      </a:r>
                    </a:p>
                  </a:txBody>
                  <a:tcPr marL="69584" marR="69584" marT="34792" marB="34792"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498952176"/>
                  </a:ext>
                </a:extLst>
              </a:tr>
            </a:tbl>
          </a:graphicData>
        </a:graphic>
      </p:graphicFrame>
      <p:graphicFrame>
        <p:nvGraphicFramePr>
          <p:cNvPr id="10" name="Table 9"/>
          <p:cNvGraphicFramePr>
            <a:graphicFrameLocks noGrp="1"/>
          </p:cNvGraphicFramePr>
          <p:nvPr>
            <p:extLst/>
          </p:nvPr>
        </p:nvGraphicFramePr>
        <p:xfrm>
          <a:off x="356596" y="3251933"/>
          <a:ext cx="1218096" cy="2398825"/>
        </p:xfrm>
        <a:graphic>
          <a:graphicData uri="http://schemas.openxmlformats.org/drawingml/2006/table">
            <a:tbl>
              <a:tblPr firstRow="1" bandRow="1">
                <a:tableStyleId>{5C22544A-7EE6-4342-B048-85BDC9FD1C3A}</a:tableStyleId>
              </a:tblPr>
              <a:tblGrid>
                <a:gridCol w="1218096">
                  <a:extLst>
                    <a:ext uri="{9D8B030D-6E8A-4147-A177-3AD203B41FA5}">
                      <a16:colId xmlns:a16="http://schemas.microsoft.com/office/drawing/2014/main" val="20000"/>
                    </a:ext>
                  </a:extLst>
                </a:gridCol>
              </a:tblGrid>
              <a:tr h="695559">
                <a:tc>
                  <a:txBody>
                    <a:bodyPr/>
                    <a:lstStyle/>
                    <a:p>
                      <a:pPr marL="0" indent="0" algn="ctr">
                        <a:buClr>
                          <a:schemeClr val="tx2">
                            <a:lumMod val="60000"/>
                            <a:lumOff val="40000"/>
                          </a:schemeClr>
                        </a:buClr>
                        <a:buFont typeface="Lucida Grande"/>
                        <a:buNone/>
                      </a:pPr>
                      <a:r>
                        <a:rPr lang="en-US" sz="1500" b="1" i="0" dirty="0">
                          <a:solidFill>
                            <a:schemeClr val="tx1"/>
                          </a:solidFill>
                          <a:latin typeface="Whitney Book"/>
                        </a:rPr>
                        <a:t>Number of Firms</a:t>
                      </a:r>
                    </a:p>
                  </a:txBody>
                  <a:tcPr marL="69584" marR="69584" marT="34792" marB="34792" anchor="ctr">
                    <a:lnR w="5715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10002"/>
                  </a:ext>
                </a:extLst>
              </a:tr>
              <a:tr h="1007707">
                <a:tc>
                  <a:txBody>
                    <a:bodyPr/>
                    <a:lstStyle/>
                    <a:p>
                      <a:pPr marL="0" indent="0" algn="ctr">
                        <a:buClr>
                          <a:schemeClr val="tx2">
                            <a:lumMod val="60000"/>
                            <a:lumOff val="40000"/>
                          </a:schemeClr>
                        </a:buClr>
                        <a:buFont typeface="Lucida Grande"/>
                        <a:buNone/>
                      </a:pPr>
                      <a:r>
                        <a:rPr lang="en-US" sz="1500" b="1" i="0" dirty="0">
                          <a:solidFill>
                            <a:schemeClr val="tx1"/>
                          </a:solidFill>
                          <a:latin typeface="Whitney Book"/>
                        </a:rPr>
                        <a:t>Type of Products Sold</a:t>
                      </a:r>
                    </a:p>
                  </a:txBody>
                  <a:tcPr marL="69584" marR="69584" marT="34792" marB="34792" anchor="ctr">
                    <a:lnL w="12700" cmpd="sng">
                      <a:noFill/>
                    </a:lnL>
                    <a:lnR w="5715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extLst>
                  <a:ext uri="{0D108BD9-81ED-4DB2-BD59-A6C34878D82A}">
                    <a16:rowId xmlns:a16="http://schemas.microsoft.com/office/drawing/2014/main" val="3839626279"/>
                  </a:ext>
                </a:extLst>
              </a:tr>
              <a:tr h="695559">
                <a:tc>
                  <a:txBody>
                    <a:bodyPr/>
                    <a:lstStyle/>
                    <a:p>
                      <a:pPr marL="0" indent="0" algn="ctr">
                        <a:buClr>
                          <a:schemeClr val="tx2">
                            <a:lumMod val="60000"/>
                            <a:lumOff val="40000"/>
                          </a:schemeClr>
                        </a:buClr>
                        <a:buFont typeface="Lucida Grande"/>
                        <a:buNone/>
                      </a:pPr>
                      <a:r>
                        <a:rPr lang="en-US" sz="1500" b="1" i="0" dirty="0">
                          <a:solidFill>
                            <a:schemeClr val="tx1"/>
                          </a:solidFill>
                          <a:latin typeface="Whitney Book"/>
                        </a:rPr>
                        <a:t>Barriers</a:t>
                      </a:r>
                      <a:r>
                        <a:rPr lang="en-US" sz="1500" b="1" i="0" baseline="0" dirty="0">
                          <a:solidFill>
                            <a:schemeClr val="tx1"/>
                          </a:solidFill>
                          <a:latin typeface="Whitney Book"/>
                        </a:rPr>
                        <a:t> to Entry</a:t>
                      </a:r>
                      <a:endParaRPr lang="en-US" sz="1500" b="1" i="0" dirty="0">
                        <a:solidFill>
                          <a:schemeClr val="tx1"/>
                        </a:solidFill>
                        <a:latin typeface="Whitney Book"/>
                      </a:endParaRPr>
                    </a:p>
                  </a:txBody>
                  <a:tcPr marL="69584" marR="69584" marT="34792" marB="34792" anchor="ctr">
                    <a:lnL w="12700" cmpd="sng">
                      <a:noFill/>
                    </a:lnL>
                    <a:lnR w="5715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extLst>
                  <a:ext uri="{0D108BD9-81ED-4DB2-BD59-A6C34878D82A}">
                    <a16:rowId xmlns:a16="http://schemas.microsoft.com/office/drawing/2014/main" val="498952176"/>
                  </a:ext>
                </a:extLst>
              </a:tr>
            </a:tbl>
          </a:graphicData>
        </a:graphic>
      </p:graphicFrame>
      <p:graphicFrame>
        <p:nvGraphicFramePr>
          <p:cNvPr id="11" name="Table 10"/>
          <p:cNvGraphicFramePr>
            <a:graphicFrameLocks noGrp="1"/>
          </p:cNvGraphicFramePr>
          <p:nvPr>
            <p:extLst/>
          </p:nvPr>
        </p:nvGraphicFramePr>
        <p:xfrm>
          <a:off x="5162490" y="3251932"/>
          <a:ext cx="1626376" cy="2399059"/>
        </p:xfrm>
        <a:graphic>
          <a:graphicData uri="http://schemas.openxmlformats.org/drawingml/2006/table">
            <a:tbl>
              <a:tblPr firstRow="1" bandRow="1">
                <a:tableStyleId>{5C22544A-7EE6-4342-B048-85BDC9FD1C3A}</a:tableStyleId>
              </a:tblPr>
              <a:tblGrid>
                <a:gridCol w="1626376">
                  <a:extLst>
                    <a:ext uri="{9D8B030D-6E8A-4147-A177-3AD203B41FA5}">
                      <a16:colId xmlns:a16="http://schemas.microsoft.com/office/drawing/2014/main" val="20001"/>
                    </a:ext>
                  </a:extLst>
                </a:gridCol>
              </a:tblGrid>
              <a:tr h="806325">
                <a:tc>
                  <a:txBody>
                    <a:bodyPr/>
                    <a:lstStyle/>
                    <a:p>
                      <a:pPr marL="0" indent="0" algn="ctr">
                        <a:buClr>
                          <a:schemeClr val="tx2">
                            <a:lumMod val="60000"/>
                            <a:lumOff val="40000"/>
                          </a:schemeClr>
                        </a:buClr>
                        <a:buFont typeface="Lucida Grande"/>
                        <a:buNone/>
                      </a:pPr>
                      <a:r>
                        <a:rPr lang="en-US" sz="2000" b="0" i="0" dirty="0">
                          <a:solidFill>
                            <a:schemeClr val="tx1"/>
                          </a:solidFill>
                          <a:latin typeface="Whitney Book"/>
                        </a:rPr>
                        <a:t>Few</a:t>
                      </a:r>
                    </a:p>
                  </a:txBody>
                  <a:tcPr marL="69584" marR="69584" marT="34792" marB="34792"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CC"/>
                    </a:solidFill>
                  </a:tcPr>
                </a:tc>
                <a:extLst>
                  <a:ext uri="{0D108BD9-81ED-4DB2-BD59-A6C34878D82A}">
                    <a16:rowId xmlns:a16="http://schemas.microsoft.com/office/drawing/2014/main" val="10002"/>
                  </a:ext>
                </a:extLst>
              </a:tr>
              <a:tr h="792634">
                <a:tc>
                  <a:txBody>
                    <a:bodyPr/>
                    <a:lstStyle/>
                    <a:p>
                      <a:pPr marL="0" indent="0" algn="ctr">
                        <a:buClr>
                          <a:schemeClr val="tx2">
                            <a:lumMod val="60000"/>
                            <a:lumOff val="40000"/>
                          </a:schemeClr>
                        </a:buClr>
                        <a:buFont typeface="Lucida Grande"/>
                        <a:buNone/>
                      </a:pPr>
                      <a:r>
                        <a:rPr lang="en-US" sz="2000" b="0" i="0" dirty="0">
                          <a:solidFill>
                            <a:schemeClr val="tx1"/>
                          </a:solidFill>
                          <a:latin typeface="Whitney Book"/>
                        </a:rPr>
                        <a:t>Identical or Differentiated</a:t>
                      </a:r>
                    </a:p>
                  </a:txBody>
                  <a:tcPr marL="69584" marR="69584" marT="34792" marB="34792"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3839626279"/>
                  </a:ext>
                </a:extLst>
              </a:tr>
              <a:tr h="800100">
                <a:tc>
                  <a:txBody>
                    <a:bodyPr/>
                    <a:lstStyle/>
                    <a:p>
                      <a:pPr marL="0" indent="0" algn="ctr">
                        <a:buClr>
                          <a:schemeClr val="tx2">
                            <a:lumMod val="60000"/>
                            <a:lumOff val="40000"/>
                          </a:schemeClr>
                        </a:buClr>
                        <a:buFont typeface="Lucida Grande"/>
                        <a:buNone/>
                      </a:pPr>
                      <a:r>
                        <a:rPr lang="en-US" sz="2000" b="0" i="0" dirty="0">
                          <a:solidFill>
                            <a:schemeClr val="tx1"/>
                          </a:solidFill>
                          <a:latin typeface="Whitney Book"/>
                        </a:rPr>
                        <a:t>Some</a:t>
                      </a:r>
                    </a:p>
                  </a:txBody>
                  <a:tcPr marL="69584" marR="69584" marT="34792" marB="34792"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498952176"/>
                  </a:ext>
                </a:extLst>
              </a:tr>
            </a:tbl>
          </a:graphicData>
        </a:graphic>
      </p:graphicFrame>
      <p:sp>
        <p:nvSpPr>
          <p:cNvPr id="12" name="Oval 11">
            <a:extLst>
              <a:ext uri="{FF2B5EF4-FFF2-40B4-BE49-F238E27FC236}">
                <a16:creationId xmlns:a16="http://schemas.microsoft.com/office/drawing/2014/main" id="{CCEF467A-B330-4507-9B0F-3FAE4D3E449F}"/>
              </a:ext>
            </a:extLst>
          </p:cNvPr>
          <p:cNvSpPr/>
          <p:nvPr/>
        </p:nvSpPr>
        <p:spPr>
          <a:xfrm>
            <a:off x="3298124" y="2580401"/>
            <a:ext cx="1864366" cy="671296"/>
          </a:xfrm>
          <a:prstGeom prst="ellipse">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485AAF11-8434-4296-8944-90EC2CF01F12}"/>
              </a:ext>
            </a:extLst>
          </p:cNvPr>
          <p:cNvSpPr/>
          <p:nvPr/>
        </p:nvSpPr>
        <p:spPr>
          <a:xfrm>
            <a:off x="6788866" y="2572224"/>
            <a:ext cx="1864366" cy="671296"/>
          </a:xfrm>
          <a:prstGeom prst="ellipse">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E053BC44-2F90-4968-A4E7-0F26E56A52E4}"/>
              </a:ext>
            </a:extLst>
          </p:cNvPr>
          <p:cNvGrpSpPr/>
          <p:nvPr/>
        </p:nvGrpSpPr>
        <p:grpSpPr>
          <a:xfrm>
            <a:off x="4336145" y="1321523"/>
            <a:ext cx="3333111" cy="1242290"/>
            <a:chOff x="4336145" y="1321523"/>
            <a:chExt cx="3333111" cy="1242290"/>
          </a:xfrm>
        </p:grpSpPr>
        <p:sp>
          <p:nvSpPr>
            <p:cNvPr id="14" name="TextBox 13">
              <a:extLst>
                <a:ext uri="{FF2B5EF4-FFF2-40B4-BE49-F238E27FC236}">
                  <a16:creationId xmlns:a16="http://schemas.microsoft.com/office/drawing/2014/main" id="{A8D7DDCE-FEB7-40EC-939B-B62B53F57ADB}"/>
                </a:ext>
              </a:extLst>
            </p:cNvPr>
            <p:cNvSpPr txBox="1"/>
            <p:nvPr/>
          </p:nvSpPr>
          <p:spPr>
            <a:xfrm>
              <a:off x="4336145" y="1321523"/>
              <a:ext cx="3333111" cy="584775"/>
            </a:xfrm>
            <a:prstGeom prst="rect">
              <a:avLst/>
            </a:prstGeom>
            <a:noFill/>
            <a:ln>
              <a:noFill/>
            </a:ln>
          </p:spPr>
          <p:txBody>
            <a:bodyPr wrap="square" rtlCol="0">
              <a:spAutoFit/>
            </a:bodyPr>
            <a:lstStyle/>
            <a:p>
              <a:pPr algn="ctr"/>
              <a:r>
                <a:rPr lang="en-US" sz="1600" b="1" dirty="0">
                  <a:solidFill>
                    <a:srgbClr val="C00000"/>
                  </a:solidFill>
                  <a:latin typeface="Whitney Book" pitchFamily="50" charset="0"/>
                  <a:cs typeface="Whitney Book" pitchFamily="50" charset="0"/>
                </a:rPr>
                <a:t>Use the same analytics to find optimal price/quantity</a:t>
              </a:r>
              <a:endParaRPr lang="en-US" sz="1600" b="1" i="1" dirty="0">
                <a:solidFill>
                  <a:srgbClr val="C00000"/>
                </a:solidFill>
                <a:latin typeface="Whitney Book" pitchFamily="50" charset="0"/>
                <a:cs typeface="Whitney Book" pitchFamily="50" charset="0"/>
              </a:endParaRPr>
            </a:p>
          </p:txBody>
        </p:sp>
        <p:cxnSp>
          <p:nvCxnSpPr>
            <p:cNvPr id="9" name="Straight Connector 8">
              <a:extLst>
                <a:ext uri="{FF2B5EF4-FFF2-40B4-BE49-F238E27FC236}">
                  <a16:creationId xmlns:a16="http://schemas.microsoft.com/office/drawing/2014/main" id="{FD917596-E606-4E58-A7EC-4F0065FBB462}"/>
                </a:ext>
              </a:extLst>
            </p:cNvPr>
            <p:cNvCxnSpPr/>
            <p:nvPr/>
          </p:nvCxnSpPr>
          <p:spPr>
            <a:xfrm flipV="1">
              <a:off x="4572000" y="1906298"/>
              <a:ext cx="590490" cy="657515"/>
            </a:xfrm>
            <a:prstGeom prst="line">
              <a:avLst/>
            </a:prstGeom>
            <a:ln w="31750">
              <a:solidFill>
                <a:srgbClr val="C00000"/>
              </a:solidFill>
              <a:headEnd type="triangle"/>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7C5A379E-DF37-42B8-9E0E-9E91E4C1435F}"/>
                </a:ext>
              </a:extLst>
            </p:cNvPr>
            <p:cNvCxnSpPr>
              <a:cxnSpLocks/>
            </p:cNvCxnSpPr>
            <p:nvPr/>
          </p:nvCxnSpPr>
          <p:spPr>
            <a:xfrm flipH="1" flipV="1">
              <a:off x="6593190" y="1906462"/>
              <a:ext cx="594419" cy="657351"/>
            </a:xfrm>
            <a:prstGeom prst="line">
              <a:avLst/>
            </a:prstGeom>
            <a:ln w="31750">
              <a:solidFill>
                <a:srgbClr val="C00000"/>
              </a:solidFill>
              <a:head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2162592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OUTLINE of module 5</a:t>
            </a:r>
          </a:p>
        </p:txBody>
      </p:sp>
      <p:sp>
        <p:nvSpPr>
          <p:cNvPr id="3" name="Content Placeholder 2"/>
          <p:cNvSpPr>
            <a:spLocks noGrp="1"/>
          </p:cNvSpPr>
          <p:nvPr>
            <p:ph type="body" idx="1"/>
          </p:nvPr>
        </p:nvSpPr>
        <p:spPr/>
        <p:txBody>
          <a:bodyPr>
            <a:normAutofit/>
          </a:bodyPr>
          <a:lstStyle/>
          <a:p>
            <a:pPr>
              <a:spcBef>
                <a:spcPts val="1800"/>
              </a:spcBef>
            </a:pPr>
            <a:r>
              <a:rPr lang="en-US" sz="2810" dirty="0"/>
              <a:t>Profit maximization for price searchers</a:t>
            </a:r>
          </a:p>
          <a:p>
            <a:pPr lvl="1">
              <a:spcBef>
                <a:spcPts val="600"/>
              </a:spcBef>
            </a:pPr>
            <a:r>
              <a:rPr lang="en-US" sz="2610" dirty="0">
                <a:solidFill>
                  <a:schemeClr val="bg1">
                    <a:lumMod val="65000"/>
                  </a:schemeClr>
                </a:solidFill>
              </a:rPr>
              <a:t>Markup and Lerner index</a:t>
            </a:r>
            <a:endParaRPr lang="en-US" sz="2810" dirty="0">
              <a:solidFill>
                <a:schemeClr val="bg1">
                  <a:lumMod val="65000"/>
                </a:schemeClr>
              </a:solidFill>
            </a:endParaRPr>
          </a:p>
          <a:p>
            <a:pPr>
              <a:lnSpc>
                <a:spcPct val="120000"/>
              </a:lnSpc>
              <a:spcBef>
                <a:spcPts val="1800"/>
              </a:spcBef>
            </a:pPr>
            <a:r>
              <a:rPr lang="en-US" sz="2810" dirty="0">
                <a:solidFill>
                  <a:schemeClr val="bg1">
                    <a:lumMod val="65000"/>
                  </a:schemeClr>
                </a:solidFill>
              </a:rPr>
              <a:t>Monopoly and welfare impact</a:t>
            </a:r>
          </a:p>
          <a:p>
            <a:pPr>
              <a:lnSpc>
                <a:spcPct val="120000"/>
              </a:lnSpc>
              <a:spcBef>
                <a:spcPts val="1800"/>
              </a:spcBef>
            </a:pPr>
            <a:r>
              <a:rPr lang="en-US" sz="2810" dirty="0">
                <a:solidFill>
                  <a:schemeClr val="bg1">
                    <a:lumMod val="65000"/>
                  </a:schemeClr>
                </a:solidFill>
              </a:rPr>
              <a:t>Rising market power and regulations</a:t>
            </a:r>
          </a:p>
          <a:p>
            <a:pPr>
              <a:lnSpc>
                <a:spcPct val="120000"/>
              </a:lnSpc>
              <a:spcBef>
                <a:spcPts val="1800"/>
              </a:spcBef>
            </a:pPr>
            <a:r>
              <a:rPr lang="en-US" sz="2810" dirty="0">
                <a:solidFill>
                  <a:schemeClr val="bg1">
                    <a:lumMod val="65000"/>
                  </a:schemeClr>
                </a:solidFill>
              </a:rPr>
              <a:t>Monopolistic competition</a:t>
            </a:r>
          </a:p>
          <a:p>
            <a:pPr marL="514350" indent="-514350">
              <a:lnSpc>
                <a:spcPct val="120000"/>
              </a:lnSpc>
              <a:buFont typeface="+mj-lt"/>
              <a:buAutoNum type="arabicPeriod"/>
            </a:pPr>
            <a:endParaRPr lang="en-US" sz="2813" dirty="0">
              <a:latin typeface="Whitney-Book" pitchFamily="50" charset="0"/>
              <a:cs typeface="Whitney-Book" pitchFamily="50" charset="0"/>
            </a:endParaRPr>
          </a:p>
          <a:p>
            <a:pPr marL="514350" indent="-514350">
              <a:lnSpc>
                <a:spcPct val="120000"/>
              </a:lnSpc>
              <a:buFont typeface="+mj-lt"/>
              <a:buAutoNum type="arabicPeriod"/>
            </a:pPr>
            <a:endParaRPr lang="en-US" sz="2813" dirty="0">
              <a:latin typeface="Whitney-Book" pitchFamily="50" charset="0"/>
              <a:cs typeface="Whitney-Book" pitchFamily="50" charset="0"/>
            </a:endParaRPr>
          </a:p>
          <a:p>
            <a:pPr marL="914400" lvl="1" indent="-514350">
              <a:lnSpc>
                <a:spcPct val="120000"/>
              </a:lnSpc>
            </a:pPr>
            <a:endParaRPr lang="en-US" sz="2613" noProof="0" dirty="0">
              <a:latin typeface="Whitney-Book" pitchFamily="50" charset="0"/>
              <a:cs typeface="Whitney-Book" pitchFamily="50" charset="0"/>
            </a:endParaRPr>
          </a:p>
          <a:p>
            <a:pPr marL="914400" lvl="1" indent="-514350">
              <a:lnSpc>
                <a:spcPct val="120000"/>
              </a:lnSpc>
            </a:pPr>
            <a:endParaRPr lang="en-US" sz="2613" noProof="0" dirty="0">
              <a:latin typeface="Whitney-Book" pitchFamily="50" charset="0"/>
              <a:cs typeface="Whitney-Book" pitchFamily="50" charset="0"/>
            </a:endParaRPr>
          </a:p>
          <a:p>
            <a:pPr marL="457200" lvl="1" indent="0">
              <a:buNone/>
            </a:pPr>
            <a:endParaRPr lang="en-US" noProof="0" dirty="0"/>
          </a:p>
          <a:p>
            <a:pPr lvl="1"/>
            <a:endParaRPr lang="en-US" noProof="0" dirty="0"/>
          </a:p>
          <a:p>
            <a:endParaRPr lang="en-US" noProof="0" dirty="0"/>
          </a:p>
        </p:txBody>
      </p:sp>
    </p:spTree>
    <p:extLst>
      <p:ext uri="{BB962C8B-B14F-4D97-AF65-F5344CB8AC3E}">
        <p14:creationId xmlns:p14="http://schemas.microsoft.com/office/powerpoint/2010/main" val="4074629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noProof="0" dirty="0"/>
              <a:t>Firm Demand: </a:t>
            </a:r>
            <a:br>
              <a:rPr lang="en-US" noProof="0" dirty="0"/>
            </a:br>
            <a:r>
              <a:rPr lang="en-US" noProof="0" dirty="0"/>
              <a:t>Price takers vs. price searchers</a:t>
            </a:r>
          </a:p>
        </p:txBody>
      </p:sp>
      <p:sp>
        <p:nvSpPr>
          <p:cNvPr id="3" name="Content Placeholder 2"/>
          <p:cNvSpPr>
            <a:spLocks noGrp="1"/>
          </p:cNvSpPr>
          <p:nvPr>
            <p:ph type="body" idx="1"/>
          </p:nvPr>
        </p:nvSpPr>
        <p:spPr/>
        <p:txBody>
          <a:bodyPr>
            <a:normAutofit/>
          </a:bodyPr>
          <a:lstStyle/>
          <a:p>
            <a:pPr marL="514350" indent="-514350">
              <a:lnSpc>
                <a:spcPct val="120000"/>
              </a:lnSpc>
              <a:buFont typeface="+mj-lt"/>
              <a:buAutoNum type="arabicPeriod"/>
            </a:pPr>
            <a:endParaRPr lang="en-US" sz="2813" dirty="0">
              <a:latin typeface="Whitney-Book" pitchFamily="50" charset="0"/>
              <a:cs typeface="Whitney-Book" pitchFamily="50" charset="0"/>
            </a:endParaRPr>
          </a:p>
          <a:p>
            <a:pPr marL="514350" indent="-514350">
              <a:lnSpc>
                <a:spcPct val="120000"/>
              </a:lnSpc>
              <a:buFont typeface="+mj-lt"/>
              <a:buAutoNum type="arabicPeriod"/>
            </a:pPr>
            <a:endParaRPr lang="en-US" sz="2813" dirty="0">
              <a:latin typeface="Whitney-Book" pitchFamily="50" charset="0"/>
              <a:cs typeface="Whitney-Book" pitchFamily="50" charset="0"/>
            </a:endParaRPr>
          </a:p>
          <a:p>
            <a:pPr marL="914400" lvl="1" indent="-514350">
              <a:lnSpc>
                <a:spcPct val="120000"/>
              </a:lnSpc>
            </a:pPr>
            <a:endParaRPr lang="en-US" sz="2613" noProof="0" dirty="0">
              <a:latin typeface="Whitney-Book" pitchFamily="50" charset="0"/>
              <a:cs typeface="Whitney-Book" pitchFamily="50" charset="0"/>
            </a:endParaRPr>
          </a:p>
          <a:p>
            <a:pPr marL="914400" lvl="1" indent="-514350">
              <a:lnSpc>
                <a:spcPct val="120000"/>
              </a:lnSpc>
            </a:pPr>
            <a:endParaRPr lang="en-US" sz="2613" noProof="0" dirty="0">
              <a:latin typeface="Whitney-Book" pitchFamily="50" charset="0"/>
              <a:cs typeface="Whitney-Book" pitchFamily="50" charset="0"/>
            </a:endParaRPr>
          </a:p>
          <a:p>
            <a:pPr marL="457200" lvl="1" indent="0">
              <a:buNone/>
            </a:pPr>
            <a:endParaRPr lang="en-US" noProof="0" dirty="0"/>
          </a:p>
          <a:p>
            <a:pPr lvl="1"/>
            <a:endParaRPr lang="en-US" noProof="0" dirty="0"/>
          </a:p>
          <a:p>
            <a:endParaRPr lang="en-US" noProof="0" dirty="0"/>
          </a:p>
        </p:txBody>
      </p:sp>
      <p:grpSp>
        <p:nvGrpSpPr>
          <p:cNvPr id="4" name="Group 22">
            <a:extLst>
              <a:ext uri="{FF2B5EF4-FFF2-40B4-BE49-F238E27FC236}">
                <a16:creationId xmlns:a16="http://schemas.microsoft.com/office/drawing/2014/main" id="{06094454-FD9E-4376-B346-99B909A200BD}"/>
              </a:ext>
            </a:extLst>
          </p:cNvPr>
          <p:cNvGrpSpPr>
            <a:grpSpLocks/>
          </p:cNvGrpSpPr>
          <p:nvPr/>
        </p:nvGrpSpPr>
        <p:grpSpPr bwMode="auto">
          <a:xfrm>
            <a:off x="997147" y="2006167"/>
            <a:ext cx="2902907" cy="3185303"/>
            <a:chOff x="3192" y="905"/>
            <a:chExt cx="2472" cy="2710"/>
          </a:xfrm>
        </p:grpSpPr>
        <p:sp>
          <p:nvSpPr>
            <p:cNvPr id="5" name="Rectangle 23">
              <a:extLst>
                <a:ext uri="{FF2B5EF4-FFF2-40B4-BE49-F238E27FC236}">
                  <a16:creationId xmlns:a16="http://schemas.microsoft.com/office/drawing/2014/main" id="{A28E955C-DCC9-4EE4-91A5-0E0909E8891B}"/>
                </a:ext>
              </a:extLst>
            </p:cNvPr>
            <p:cNvSpPr>
              <a:spLocks noChangeArrowheads="1"/>
            </p:cNvSpPr>
            <p:nvPr/>
          </p:nvSpPr>
          <p:spPr bwMode="auto">
            <a:xfrm>
              <a:off x="3797" y="905"/>
              <a:ext cx="888" cy="376"/>
            </a:xfrm>
            <a:prstGeom prst="rect">
              <a:avLst/>
            </a:prstGeom>
            <a:noFill/>
            <a:ln w="9525">
              <a:noFill/>
              <a:miter lim="800000"/>
              <a:headEnd/>
              <a:tailEnd/>
            </a:ln>
            <a:effectLst/>
          </p:spPr>
          <p:txBody>
            <a:bodyPr wrap="none" lIns="13394" tIns="18976" rIns="13394" bIns="18976"/>
            <a:lstStyle/>
            <a:p>
              <a:pPr>
                <a:lnSpc>
                  <a:spcPts val="2072"/>
                </a:lnSpc>
                <a:spcAft>
                  <a:spcPts val="666"/>
                </a:spcAft>
                <a:tabLst>
                  <a:tab pos="338314" algn="l"/>
                  <a:tab pos="676628" algn="l"/>
                  <a:tab pos="1014941" algn="l"/>
                </a:tabLst>
              </a:pPr>
              <a:r>
                <a:rPr lang="en-US" sz="2000" b="1" u="sng" dirty="0">
                  <a:latin typeface="Whitney Book" pitchFamily="50" charset="0"/>
                  <a:cs typeface="Times New Roman" pitchFamily="18" charset="0"/>
                </a:rPr>
                <a:t>Price taker</a:t>
              </a:r>
            </a:p>
          </p:txBody>
        </p:sp>
        <p:grpSp>
          <p:nvGrpSpPr>
            <p:cNvPr id="6" name="Group 24">
              <a:extLst>
                <a:ext uri="{FF2B5EF4-FFF2-40B4-BE49-F238E27FC236}">
                  <a16:creationId xmlns:a16="http://schemas.microsoft.com/office/drawing/2014/main" id="{488293C7-5856-4B63-89D1-46B9841CECFF}"/>
                </a:ext>
              </a:extLst>
            </p:cNvPr>
            <p:cNvGrpSpPr>
              <a:grpSpLocks/>
            </p:cNvGrpSpPr>
            <p:nvPr/>
          </p:nvGrpSpPr>
          <p:grpSpPr bwMode="auto">
            <a:xfrm>
              <a:off x="3192" y="1359"/>
              <a:ext cx="2472" cy="2256"/>
              <a:chOff x="3192" y="1359"/>
              <a:chExt cx="2472" cy="2256"/>
            </a:xfrm>
          </p:grpSpPr>
          <p:sp>
            <p:nvSpPr>
              <p:cNvPr id="7" name="Line 25">
                <a:extLst>
                  <a:ext uri="{FF2B5EF4-FFF2-40B4-BE49-F238E27FC236}">
                    <a16:creationId xmlns:a16="http://schemas.microsoft.com/office/drawing/2014/main" id="{03651CC9-FED6-4013-8946-CB27B1B6CBA1}"/>
                  </a:ext>
                </a:extLst>
              </p:cNvPr>
              <p:cNvSpPr>
                <a:spLocks noChangeShapeType="1"/>
              </p:cNvSpPr>
              <p:nvPr/>
            </p:nvSpPr>
            <p:spPr bwMode="auto">
              <a:xfrm>
                <a:off x="3192" y="1359"/>
                <a:ext cx="0" cy="2016"/>
              </a:xfrm>
              <a:prstGeom prst="line">
                <a:avLst/>
              </a:prstGeom>
              <a:noFill/>
              <a:ln w="38100">
                <a:solidFill>
                  <a:schemeClr val="tx1"/>
                </a:solidFill>
                <a:round/>
                <a:headEnd type="arrow" w="med" len="med"/>
                <a:tailEnd type="none" w="med" len="med"/>
              </a:ln>
              <a:effectLst/>
            </p:spPr>
            <p:txBody>
              <a:bodyPr wrap="none" anchor="ctr"/>
              <a:lstStyle/>
              <a:p>
                <a:endParaRPr lang="en-US" sz="1266" dirty="0">
                  <a:latin typeface="Times New Roman" pitchFamily="18" charset="0"/>
                  <a:cs typeface="Times New Roman" pitchFamily="18" charset="0"/>
                </a:endParaRPr>
              </a:p>
            </p:txBody>
          </p:sp>
          <p:sp>
            <p:nvSpPr>
              <p:cNvPr id="8" name="Line 26">
                <a:extLst>
                  <a:ext uri="{FF2B5EF4-FFF2-40B4-BE49-F238E27FC236}">
                    <a16:creationId xmlns:a16="http://schemas.microsoft.com/office/drawing/2014/main" id="{37491A24-5C63-4995-8356-B85B898E42AC}"/>
                  </a:ext>
                </a:extLst>
              </p:cNvPr>
              <p:cNvSpPr>
                <a:spLocks noChangeShapeType="1"/>
              </p:cNvSpPr>
              <p:nvPr/>
            </p:nvSpPr>
            <p:spPr bwMode="auto">
              <a:xfrm>
                <a:off x="3192" y="3375"/>
                <a:ext cx="2000" cy="0"/>
              </a:xfrm>
              <a:prstGeom prst="line">
                <a:avLst/>
              </a:prstGeom>
              <a:noFill/>
              <a:ln w="38100">
                <a:solidFill>
                  <a:schemeClr val="tx1"/>
                </a:solidFill>
                <a:round/>
                <a:headEnd type="none" w="med" len="med"/>
                <a:tailEnd type="arrow" w="med" len="med"/>
              </a:ln>
              <a:effectLst/>
            </p:spPr>
            <p:txBody>
              <a:bodyPr wrap="none" anchor="ctr"/>
              <a:lstStyle/>
              <a:p>
                <a:endParaRPr lang="en-US" sz="1266">
                  <a:latin typeface="Times New Roman" pitchFamily="18" charset="0"/>
                  <a:cs typeface="Times New Roman" pitchFamily="18" charset="0"/>
                </a:endParaRPr>
              </a:p>
            </p:txBody>
          </p:sp>
          <p:sp>
            <p:nvSpPr>
              <p:cNvPr id="9" name="Rectangle 27">
                <a:extLst>
                  <a:ext uri="{FF2B5EF4-FFF2-40B4-BE49-F238E27FC236}">
                    <a16:creationId xmlns:a16="http://schemas.microsoft.com/office/drawing/2014/main" id="{2713C3CA-B83C-44F0-A28F-E62F328F7EC7}"/>
                  </a:ext>
                </a:extLst>
              </p:cNvPr>
              <p:cNvSpPr>
                <a:spLocks noChangeArrowheads="1"/>
              </p:cNvSpPr>
              <p:nvPr/>
            </p:nvSpPr>
            <p:spPr bwMode="auto">
              <a:xfrm>
                <a:off x="5272" y="3239"/>
                <a:ext cx="392" cy="376"/>
              </a:xfrm>
              <a:prstGeom prst="rect">
                <a:avLst/>
              </a:prstGeom>
              <a:noFill/>
              <a:ln w="9525">
                <a:noFill/>
                <a:miter lim="800000"/>
                <a:headEnd/>
                <a:tailEnd/>
              </a:ln>
              <a:effectLst/>
            </p:spPr>
            <p:txBody>
              <a:bodyPr wrap="none" lIns="13394" tIns="18976" rIns="13394" bIns="18976"/>
              <a:lstStyle/>
              <a:p>
                <a:pPr>
                  <a:lnSpc>
                    <a:spcPts val="2072"/>
                  </a:lnSpc>
                  <a:spcAft>
                    <a:spcPts val="666"/>
                  </a:spcAft>
                  <a:tabLst>
                    <a:tab pos="338314" algn="l"/>
                    <a:tab pos="676628" algn="l"/>
                    <a:tab pos="1014941" algn="l"/>
                  </a:tabLst>
                </a:pPr>
                <a:r>
                  <a:rPr lang="en-US" sz="1500" i="1" dirty="0">
                    <a:latin typeface="Whitney Book" pitchFamily="50" charset="0"/>
                    <a:cs typeface="Times New Roman" pitchFamily="18" charset="0"/>
                  </a:rPr>
                  <a:t>Output</a:t>
                </a:r>
              </a:p>
            </p:txBody>
          </p:sp>
        </p:grpSp>
      </p:grpSp>
      <p:sp>
        <p:nvSpPr>
          <p:cNvPr id="10" name="Line 30">
            <a:extLst>
              <a:ext uri="{FF2B5EF4-FFF2-40B4-BE49-F238E27FC236}">
                <a16:creationId xmlns:a16="http://schemas.microsoft.com/office/drawing/2014/main" id="{C692061E-0CE8-4EF4-9B80-7197F601C0EE}"/>
              </a:ext>
            </a:extLst>
          </p:cNvPr>
          <p:cNvSpPr>
            <a:spLocks noChangeShapeType="1"/>
          </p:cNvSpPr>
          <p:nvPr/>
        </p:nvSpPr>
        <p:spPr bwMode="auto">
          <a:xfrm>
            <a:off x="997147" y="3742808"/>
            <a:ext cx="2293437" cy="0"/>
          </a:xfrm>
          <a:prstGeom prst="line">
            <a:avLst/>
          </a:prstGeom>
          <a:noFill/>
          <a:ln w="57150">
            <a:solidFill>
              <a:srgbClr val="FF0000"/>
            </a:solidFill>
            <a:round/>
            <a:headEnd type="none" w="sm" len="sm"/>
            <a:tailEnd type="none" w="sm" len="sm"/>
          </a:ln>
          <a:effectLst/>
        </p:spPr>
        <p:txBody>
          <a:bodyPr wrap="none" anchor="ctr"/>
          <a:lstStyle/>
          <a:p>
            <a:endParaRPr lang="en-US" sz="1266">
              <a:latin typeface="Times New Roman" pitchFamily="18" charset="0"/>
              <a:cs typeface="Times New Roman" pitchFamily="18" charset="0"/>
            </a:endParaRPr>
          </a:p>
        </p:txBody>
      </p:sp>
      <p:sp>
        <p:nvSpPr>
          <p:cNvPr id="11" name="Rectangle 29">
            <a:extLst>
              <a:ext uri="{FF2B5EF4-FFF2-40B4-BE49-F238E27FC236}">
                <a16:creationId xmlns:a16="http://schemas.microsoft.com/office/drawing/2014/main" id="{4643C6E6-059C-444F-A98F-3A0DDB73BC99}"/>
              </a:ext>
            </a:extLst>
          </p:cNvPr>
          <p:cNvSpPr>
            <a:spLocks noChangeArrowheads="1"/>
          </p:cNvSpPr>
          <p:nvPr/>
        </p:nvSpPr>
        <p:spPr bwMode="auto">
          <a:xfrm>
            <a:off x="3367851" y="3599008"/>
            <a:ext cx="462680" cy="441947"/>
          </a:xfrm>
          <a:prstGeom prst="rect">
            <a:avLst/>
          </a:prstGeom>
          <a:noFill/>
          <a:ln w="9525">
            <a:noFill/>
            <a:miter lim="800000"/>
            <a:headEnd/>
            <a:tailEnd/>
          </a:ln>
          <a:effectLst/>
        </p:spPr>
        <p:txBody>
          <a:bodyPr wrap="none" lIns="13394" tIns="18976" rIns="13394" bIns="18976"/>
          <a:lstStyle/>
          <a:p>
            <a:pPr>
              <a:lnSpc>
                <a:spcPts val="2072"/>
              </a:lnSpc>
              <a:spcAft>
                <a:spcPts val="666"/>
              </a:spcAft>
              <a:tabLst>
                <a:tab pos="338314" algn="l"/>
                <a:tab pos="676628" algn="l"/>
                <a:tab pos="1014941" algn="l"/>
              </a:tabLst>
            </a:pPr>
            <a:r>
              <a:rPr lang="en-US" sz="1500" i="1" dirty="0">
                <a:latin typeface="Whitney Book" pitchFamily="50" charset="0"/>
                <a:cs typeface="Whitney Book" pitchFamily="50" charset="0"/>
              </a:rPr>
              <a:t>D=P</a:t>
            </a:r>
            <a:r>
              <a:rPr lang="en-US" sz="1500" i="1" baseline="-25000" dirty="0">
                <a:latin typeface="Whitney Book" pitchFamily="50" charset="0"/>
                <a:cs typeface="Whitney Book" pitchFamily="50" charset="0"/>
              </a:rPr>
              <a:t>M</a:t>
            </a:r>
            <a:r>
              <a:rPr lang="en-US" sz="1500" i="1" dirty="0">
                <a:latin typeface="Whitney Book" pitchFamily="50" charset="0"/>
                <a:cs typeface="Whitney Book" pitchFamily="50" charset="0"/>
              </a:rPr>
              <a:t>=MR</a:t>
            </a:r>
          </a:p>
        </p:txBody>
      </p:sp>
      <p:grpSp>
        <p:nvGrpSpPr>
          <p:cNvPr id="12" name="Group 22">
            <a:extLst>
              <a:ext uri="{FF2B5EF4-FFF2-40B4-BE49-F238E27FC236}">
                <a16:creationId xmlns:a16="http://schemas.microsoft.com/office/drawing/2014/main" id="{E3E3983B-2739-47F6-8103-D1AFA4C85DA9}"/>
              </a:ext>
            </a:extLst>
          </p:cNvPr>
          <p:cNvGrpSpPr>
            <a:grpSpLocks/>
          </p:cNvGrpSpPr>
          <p:nvPr/>
        </p:nvGrpSpPr>
        <p:grpSpPr bwMode="auto">
          <a:xfrm>
            <a:off x="4876845" y="2009691"/>
            <a:ext cx="2981586" cy="3205284"/>
            <a:chOff x="3192" y="888"/>
            <a:chExt cx="2539" cy="2727"/>
          </a:xfrm>
        </p:grpSpPr>
        <p:sp>
          <p:nvSpPr>
            <p:cNvPr id="13" name="Rectangle 23">
              <a:extLst>
                <a:ext uri="{FF2B5EF4-FFF2-40B4-BE49-F238E27FC236}">
                  <a16:creationId xmlns:a16="http://schemas.microsoft.com/office/drawing/2014/main" id="{5389E526-6EAF-4F8A-95D5-E750B665E65B}"/>
                </a:ext>
              </a:extLst>
            </p:cNvPr>
            <p:cNvSpPr>
              <a:spLocks noChangeArrowheads="1"/>
            </p:cNvSpPr>
            <p:nvPr/>
          </p:nvSpPr>
          <p:spPr bwMode="auto">
            <a:xfrm>
              <a:off x="3738" y="888"/>
              <a:ext cx="888" cy="376"/>
            </a:xfrm>
            <a:prstGeom prst="rect">
              <a:avLst/>
            </a:prstGeom>
            <a:noFill/>
            <a:ln w="9525">
              <a:noFill/>
              <a:miter lim="800000"/>
              <a:headEnd/>
              <a:tailEnd/>
            </a:ln>
            <a:effectLst/>
          </p:spPr>
          <p:txBody>
            <a:bodyPr wrap="none" lIns="13394" tIns="18976" rIns="13394" bIns="18976"/>
            <a:lstStyle/>
            <a:p>
              <a:pPr>
                <a:lnSpc>
                  <a:spcPts val="2072"/>
                </a:lnSpc>
                <a:spcAft>
                  <a:spcPts val="666"/>
                </a:spcAft>
                <a:tabLst>
                  <a:tab pos="338314" algn="l"/>
                  <a:tab pos="676628" algn="l"/>
                  <a:tab pos="1014941" algn="l"/>
                </a:tabLst>
              </a:pPr>
              <a:r>
                <a:rPr lang="en-US" sz="2000" b="1" u="sng" dirty="0">
                  <a:latin typeface="Whitney Book" pitchFamily="50" charset="0"/>
                  <a:cs typeface="Times New Roman" pitchFamily="18" charset="0"/>
                </a:rPr>
                <a:t>Price searcher</a:t>
              </a:r>
            </a:p>
          </p:txBody>
        </p:sp>
        <p:grpSp>
          <p:nvGrpSpPr>
            <p:cNvPr id="14" name="Group 24">
              <a:extLst>
                <a:ext uri="{FF2B5EF4-FFF2-40B4-BE49-F238E27FC236}">
                  <a16:creationId xmlns:a16="http://schemas.microsoft.com/office/drawing/2014/main" id="{9E59CCEF-57B8-4D38-8D5B-BEA0F474E1DA}"/>
                </a:ext>
              </a:extLst>
            </p:cNvPr>
            <p:cNvGrpSpPr>
              <a:grpSpLocks/>
            </p:cNvGrpSpPr>
            <p:nvPr/>
          </p:nvGrpSpPr>
          <p:grpSpPr bwMode="auto">
            <a:xfrm>
              <a:off x="3192" y="1359"/>
              <a:ext cx="2539" cy="2256"/>
              <a:chOff x="3192" y="1359"/>
              <a:chExt cx="2539" cy="2256"/>
            </a:xfrm>
          </p:grpSpPr>
          <p:sp>
            <p:nvSpPr>
              <p:cNvPr id="15" name="Line 25">
                <a:extLst>
                  <a:ext uri="{FF2B5EF4-FFF2-40B4-BE49-F238E27FC236}">
                    <a16:creationId xmlns:a16="http://schemas.microsoft.com/office/drawing/2014/main" id="{8D742915-5758-45D4-94A8-0AE94D991392}"/>
                  </a:ext>
                </a:extLst>
              </p:cNvPr>
              <p:cNvSpPr>
                <a:spLocks noChangeShapeType="1"/>
              </p:cNvSpPr>
              <p:nvPr/>
            </p:nvSpPr>
            <p:spPr bwMode="auto">
              <a:xfrm>
                <a:off x="3192" y="1359"/>
                <a:ext cx="0" cy="2016"/>
              </a:xfrm>
              <a:prstGeom prst="line">
                <a:avLst/>
              </a:prstGeom>
              <a:noFill/>
              <a:ln w="38100">
                <a:solidFill>
                  <a:schemeClr val="tx1"/>
                </a:solidFill>
                <a:round/>
                <a:headEnd type="arrow" w="med" len="med"/>
                <a:tailEnd type="none" w="med" len="med"/>
              </a:ln>
              <a:effectLst/>
            </p:spPr>
            <p:txBody>
              <a:bodyPr wrap="none" anchor="ctr"/>
              <a:lstStyle/>
              <a:p>
                <a:endParaRPr lang="en-US" sz="1266">
                  <a:latin typeface="Times New Roman" pitchFamily="18" charset="0"/>
                  <a:cs typeface="Times New Roman" pitchFamily="18" charset="0"/>
                </a:endParaRPr>
              </a:p>
            </p:txBody>
          </p:sp>
          <p:sp>
            <p:nvSpPr>
              <p:cNvPr id="16" name="Line 26">
                <a:extLst>
                  <a:ext uri="{FF2B5EF4-FFF2-40B4-BE49-F238E27FC236}">
                    <a16:creationId xmlns:a16="http://schemas.microsoft.com/office/drawing/2014/main" id="{ACA9F2E5-2C17-49D8-84DF-7E05533B0702}"/>
                  </a:ext>
                </a:extLst>
              </p:cNvPr>
              <p:cNvSpPr>
                <a:spLocks noChangeShapeType="1"/>
              </p:cNvSpPr>
              <p:nvPr/>
            </p:nvSpPr>
            <p:spPr bwMode="auto">
              <a:xfrm>
                <a:off x="3192" y="3375"/>
                <a:ext cx="2000" cy="0"/>
              </a:xfrm>
              <a:prstGeom prst="line">
                <a:avLst/>
              </a:prstGeom>
              <a:noFill/>
              <a:ln w="38100">
                <a:solidFill>
                  <a:schemeClr val="tx1"/>
                </a:solidFill>
                <a:round/>
                <a:headEnd type="none" w="med" len="med"/>
                <a:tailEnd type="arrow" w="med" len="med"/>
              </a:ln>
              <a:effectLst/>
            </p:spPr>
            <p:txBody>
              <a:bodyPr wrap="none" anchor="ctr"/>
              <a:lstStyle/>
              <a:p>
                <a:endParaRPr lang="en-US" sz="1266">
                  <a:latin typeface="Times New Roman" pitchFamily="18" charset="0"/>
                  <a:cs typeface="Times New Roman" pitchFamily="18" charset="0"/>
                </a:endParaRPr>
              </a:p>
            </p:txBody>
          </p:sp>
          <p:sp>
            <p:nvSpPr>
              <p:cNvPr id="17" name="Rectangle 27">
                <a:extLst>
                  <a:ext uri="{FF2B5EF4-FFF2-40B4-BE49-F238E27FC236}">
                    <a16:creationId xmlns:a16="http://schemas.microsoft.com/office/drawing/2014/main" id="{5FE23221-D4A5-4A72-B42C-CE030F84D9FF}"/>
                  </a:ext>
                </a:extLst>
              </p:cNvPr>
              <p:cNvSpPr>
                <a:spLocks noChangeArrowheads="1"/>
              </p:cNvSpPr>
              <p:nvPr/>
            </p:nvSpPr>
            <p:spPr bwMode="auto">
              <a:xfrm>
                <a:off x="5272" y="3239"/>
                <a:ext cx="459" cy="376"/>
              </a:xfrm>
              <a:prstGeom prst="rect">
                <a:avLst/>
              </a:prstGeom>
              <a:noFill/>
              <a:ln w="9525">
                <a:noFill/>
                <a:miter lim="800000"/>
                <a:headEnd/>
                <a:tailEnd/>
              </a:ln>
              <a:effectLst/>
            </p:spPr>
            <p:txBody>
              <a:bodyPr wrap="none" lIns="13394" tIns="18976" rIns="13394" bIns="18976"/>
              <a:lstStyle/>
              <a:p>
                <a:pPr>
                  <a:lnSpc>
                    <a:spcPts val="2072"/>
                  </a:lnSpc>
                  <a:spcAft>
                    <a:spcPts val="666"/>
                  </a:spcAft>
                  <a:tabLst>
                    <a:tab pos="338314" algn="l"/>
                    <a:tab pos="676628" algn="l"/>
                    <a:tab pos="1014941" algn="l"/>
                  </a:tabLst>
                </a:pPr>
                <a:r>
                  <a:rPr lang="en-US" sz="1500" i="1" dirty="0">
                    <a:latin typeface="Whitney Book" pitchFamily="50" charset="0"/>
                    <a:cs typeface="Times New Roman" pitchFamily="18" charset="0"/>
                  </a:rPr>
                  <a:t>Output</a:t>
                </a:r>
              </a:p>
            </p:txBody>
          </p:sp>
        </p:grpSp>
      </p:grpSp>
      <p:grpSp>
        <p:nvGrpSpPr>
          <p:cNvPr id="31" name="Group 30">
            <a:extLst>
              <a:ext uri="{FF2B5EF4-FFF2-40B4-BE49-F238E27FC236}">
                <a16:creationId xmlns:a16="http://schemas.microsoft.com/office/drawing/2014/main" id="{161BDEE2-7839-4BA1-A4D9-E1FF5C096375}"/>
              </a:ext>
            </a:extLst>
          </p:cNvPr>
          <p:cNvGrpSpPr/>
          <p:nvPr/>
        </p:nvGrpSpPr>
        <p:grpSpPr>
          <a:xfrm>
            <a:off x="4877432" y="2967633"/>
            <a:ext cx="2236478" cy="1965249"/>
            <a:chOff x="4877432" y="2967633"/>
            <a:chExt cx="2236478" cy="1965249"/>
          </a:xfrm>
        </p:grpSpPr>
        <p:sp>
          <p:nvSpPr>
            <p:cNvPr id="18" name="Line 17">
              <a:extLst>
                <a:ext uri="{FF2B5EF4-FFF2-40B4-BE49-F238E27FC236}">
                  <a16:creationId xmlns:a16="http://schemas.microsoft.com/office/drawing/2014/main" id="{F72BFA3D-E85E-4212-8548-3E4E56108223}"/>
                </a:ext>
              </a:extLst>
            </p:cNvPr>
            <p:cNvSpPr>
              <a:spLocks noChangeShapeType="1"/>
            </p:cNvSpPr>
            <p:nvPr/>
          </p:nvSpPr>
          <p:spPr bwMode="auto">
            <a:xfrm>
              <a:off x="4877432" y="2967633"/>
              <a:ext cx="2005138" cy="1965249"/>
            </a:xfrm>
            <a:prstGeom prst="line">
              <a:avLst/>
            </a:prstGeom>
            <a:noFill/>
            <a:ln w="57150">
              <a:solidFill>
                <a:srgbClr val="FF0000"/>
              </a:solidFill>
              <a:round/>
              <a:headEnd type="none" w="sm" len="sm"/>
              <a:tailEnd type="none" w="sm" len="sm"/>
            </a:ln>
            <a:effectLst/>
          </p:spPr>
          <p:txBody>
            <a:bodyPr wrap="none" lIns="67663" tIns="33832" rIns="67663" bIns="33832" anchor="ctr"/>
            <a:lstStyle/>
            <a:p>
              <a:endParaRPr lang="en-US" sz="1266">
                <a:latin typeface="Times New Roman" pitchFamily="18" charset="0"/>
                <a:cs typeface="Times New Roman" pitchFamily="18" charset="0"/>
              </a:endParaRPr>
            </a:p>
          </p:txBody>
        </p:sp>
        <p:sp>
          <p:nvSpPr>
            <p:cNvPr id="20" name="Rectangle 29">
              <a:extLst>
                <a:ext uri="{FF2B5EF4-FFF2-40B4-BE49-F238E27FC236}">
                  <a16:creationId xmlns:a16="http://schemas.microsoft.com/office/drawing/2014/main" id="{81CEAD30-61DB-4D67-8C75-585770C4F11E}"/>
                </a:ext>
              </a:extLst>
            </p:cNvPr>
            <p:cNvSpPr>
              <a:spLocks noChangeArrowheads="1"/>
            </p:cNvSpPr>
            <p:nvPr/>
          </p:nvSpPr>
          <p:spPr bwMode="auto">
            <a:xfrm>
              <a:off x="6651230" y="4373555"/>
              <a:ext cx="462680" cy="441947"/>
            </a:xfrm>
            <a:prstGeom prst="rect">
              <a:avLst/>
            </a:prstGeom>
            <a:noFill/>
            <a:ln w="9525">
              <a:noFill/>
              <a:miter lim="800000"/>
              <a:headEnd/>
              <a:tailEnd/>
            </a:ln>
            <a:effectLst/>
          </p:spPr>
          <p:txBody>
            <a:bodyPr wrap="none" lIns="13394" tIns="18976" rIns="13394" bIns="18976"/>
            <a:lstStyle/>
            <a:p>
              <a:pPr>
                <a:lnSpc>
                  <a:spcPts val="2072"/>
                </a:lnSpc>
                <a:spcAft>
                  <a:spcPts val="666"/>
                </a:spcAft>
                <a:tabLst>
                  <a:tab pos="338314" algn="l"/>
                  <a:tab pos="676628" algn="l"/>
                  <a:tab pos="1014941" algn="l"/>
                </a:tabLst>
              </a:pPr>
              <a:r>
                <a:rPr lang="en-US" sz="1500" i="1" dirty="0">
                  <a:solidFill>
                    <a:srgbClr val="FF0000"/>
                  </a:solidFill>
                  <a:latin typeface="Whitney Book" pitchFamily="50" charset="0"/>
                  <a:cs typeface="Whitney Book" pitchFamily="50" charset="0"/>
                </a:rPr>
                <a:t>D</a:t>
              </a:r>
            </a:p>
          </p:txBody>
        </p:sp>
      </p:grpSp>
      <p:grpSp>
        <p:nvGrpSpPr>
          <p:cNvPr id="32" name="Group 31">
            <a:extLst>
              <a:ext uri="{FF2B5EF4-FFF2-40B4-BE49-F238E27FC236}">
                <a16:creationId xmlns:a16="http://schemas.microsoft.com/office/drawing/2014/main" id="{E1F27E92-2800-46AB-94E1-6AE9F9BE47CD}"/>
              </a:ext>
            </a:extLst>
          </p:cNvPr>
          <p:cNvGrpSpPr/>
          <p:nvPr/>
        </p:nvGrpSpPr>
        <p:grpSpPr>
          <a:xfrm>
            <a:off x="4876845" y="3005247"/>
            <a:ext cx="1454338" cy="1985000"/>
            <a:chOff x="4876845" y="3005247"/>
            <a:chExt cx="1454338" cy="1985000"/>
          </a:xfrm>
        </p:grpSpPr>
        <p:sp>
          <p:nvSpPr>
            <p:cNvPr id="19" name="Line 17">
              <a:extLst>
                <a:ext uri="{FF2B5EF4-FFF2-40B4-BE49-F238E27FC236}">
                  <a16:creationId xmlns:a16="http://schemas.microsoft.com/office/drawing/2014/main" id="{0AEE9BF4-DD10-4617-9DA7-52DFD34F14C5}"/>
                </a:ext>
              </a:extLst>
            </p:cNvPr>
            <p:cNvSpPr>
              <a:spLocks noChangeShapeType="1"/>
            </p:cNvSpPr>
            <p:nvPr/>
          </p:nvSpPr>
          <p:spPr bwMode="auto">
            <a:xfrm>
              <a:off x="4876845" y="3005247"/>
              <a:ext cx="991658" cy="1965249"/>
            </a:xfrm>
            <a:prstGeom prst="line">
              <a:avLst/>
            </a:prstGeom>
            <a:noFill/>
            <a:ln w="57150">
              <a:solidFill>
                <a:schemeClr val="tx2">
                  <a:lumMod val="60000"/>
                  <a:lumOff val="40000"/>
                </a:schemeClr>
              </a:solidFill>
              <a:prstDash val="dash"/>
              <a:round/>
              <a:headEnd type="none" w="sm" len="sm"/>
              <a:tailEnd type="none" w="sm" len="sm"/>
            </a:ln>
            <a:effectLst/>
          </p:spPr>
          <p:txBody>
            <a:bodyPr wrap="none" lIns="67663" tIns="33832" rIns="67663" bIns="33832" anchor="ctr"/>
            <a:lstStyle/>
            <a:p>
              <a:endParaRPr lang="en-US" sz="1266" dirty="0">
                <a:latin typeface="Times New Roman" pitchFamily="18" charset="0"/>
                <a:cs typeface="Times New Roman" pitchFamily="18" charset="0"/>
              </a:endParaRPr>
            </a:p>
          </p:txBody>
        </p:sp>
        <p:sp>
          <p:nvSpPr>
            <p:cNvPr id="21" name="Rectangle 29">
              <a:extLst>
                <a:ext uri="{FF2B5EF4-FFF2-40B4-BE49-F238E27FC236}">
                  <a16:creationId xmlns:a16="http://schemas.microsoft.com/office/drawing/2014/main" id="{234ADA3E-D4E6-48A1-8467-0085449D1A5E}"/>
                </a:ext>
              </a:extLst>
            </p:cNvPr>
            <p:cNvSpPr>
              <a:spLocks noChangeArrowheads="1"/>
            </p:cNvSpPr>
            <p:nvPr/>
          </p:nvSpPr>
          <p:spPr bwMode="auto">
            <a:xfrm>
              <a:off x="5868503" y="4548300"/>
              <a:ext cx="462680" cy="441947"/>
            </a:xfrm>
            <a:prstGeom prst="rect">
              <a:avLst/>
            </a:prstGeom>
            <a:noFill/>
            <a:ln w="9525">
              <a:noFill/>
              <a:miter lim="800000"/>
              <a:headEnd/>
              <a:tailEnd/>
            </a:ln>
            <a:effectLst/>
          </p:spPr>
          <p:txBody>
            <a:bodyPr wrap="none" lIns="13394" tIns="18976" rIns="13394" bIns="18976"/>
            <a:lstStyle/>
            <a:p>
              <a:pPr>
                <a:lnSpc>
                  <a:spcPts val="2072"/>
                </a:lnSpc>
                <a:spcAft>
                  <a:spcPts val="666"/>
                </a:spcAft>
                <a:tabLst>
                  <a:tab pos="338314" algn="l"/>
                  <a:tab pos="676628" algn="l"/>
                  <a:tab pos="1014941" algn="l"/>
                </a:tabLst>
              </a:pPr>
              <a:r>
                <a:rPr lang="en-US" sz="1500" i="1" dirty="0">
                  <a:solidFill>
                    <a:srgbClr val="0070C0"/>
                  </a:solidFill>
                  <a:latin typeface="Whitney Book" pitchFamily="50" charset="0"/>
                  <a:cs typeface="Whitney Book" pitchFamily="50" charset="0"/>
                </a:rPr>
                <a:t>MR</a:t>
              </a:r>
            </a:p>
          </p:txBody>
        </p:sp>
      </p:grpSp>
      <p:sp>
        <p:nvSpPr>
          <p:cNvPr id="22" name="Rectangle 29">
            <a:extLst>
              <a:ext uri="{FF2B5EF4-FFF2-40B4-BE49-F238E27FC236}">
                <a16:creationId xmlns:a16="http://schemas.microsoft.com/office/drawing/2014/main" id="{35767458-3A70-4B09-92E0-EDF2A64FB54C}"/>
              </a:ext>
            </a:extLst>
          </p:cNvPr>
          <p:cNvSpPr>
            <a:spLocks noChangeArrowheads="1"/>
          </p:cNvSpPr>
          <p:nvPr/>
        </p:nvSpPr>
        <p:spPr bwMode="auto">
          <a:xfrm>
            <a:off x="671099" y="3567774"/>
            <a:ext cx="462680" cy="441947"/>
          </a:xfrm>
          <a:prstGeom prst="rect">
            <a:avLst/>
          </a:prstGeom>
          <a:noFill/>
          <a:ln w="9525">
            <a:noFill/>
            <a:miter lim="800000"/>
            <a:headEnd/>
            <a:tailEnd/>
          </a:ln>
          <a:effectLst/>
        </p:spPr>
        <p:txBody>
          <a:bodyPr wrap="none" lIns="13394" tIns="18976" rIns="13394" bIns="18976"/>
          <a:lstStyle/>
          <a:p>
            <a:pPr>
              <a:lnSpc>
                <a:spcPts val="2072"/>
              </a:lnSpc>
              <a:spcAft>
                <a:spcPts val="666"/>
              </a:spcAft>
              <a:tabLst>
                <a:tab pos="338314" algn="l"/>
                <a:tab pos="676628" algn="l"/>
                <a:tab pos="1014941" algn="l"/>
              </a:tabLst>
            </a:pPr>
            <a:r>
              <a:rPr lang="en-US" sz="1500" i="1" dirty="0">
                <a:latin typeface="Whitney Book" pitchFamily="50" charset="0"/>
                <a:cs typeface="Whitney Book" pitchFamily="50" charset="0"/>
              </a:rPr>
              <a:t>P</a:t>
            </a:r>
            <a:r>
              <a:rPr lang="en-US" sz="1500" i="1" baseline="-25000" dirty="0">
                <a:latin typeface="Whitney Book" pitchFamily="50" charset="0"/>
                <a:cs typeface="Whitney Book" pitchFamily="50" charset="0"/>
              </a:rPr>
              <a:t>M</a:t>
            </a:r>
          </a:p>
        </p:txBody>
      </p:sp>
      <p:sp>
        <p:nvSpPr>
          <p:cNvPr id="24" name="TextBox 23">
            <a:extLst>
              <a:ext uri="{FF2B5EF4-FFF2-40B4-BE49-F238E27FC236}">
                <a16:creationId xmlns:a16="http://schemas.microsoft.com/office/drawing/2014/main" id="{DF3455F1-9690-4759-B4E6-2EB5F150FCF4}"/>
              </a:ext>
            </a:extLst>
          </p:cNvPr>
          <p:cNvSpPr txBox="1"/>
          <p:nvPr/>
        </p:nvSpPr>
        <p:spPr>
          <a:xfrm>
            <a:off x="306703" y="2432645"/>
            <a:ext cx="642193" cy="416332"/>
          </a:xfrm>
          <a:prstGeom prst="rect">
            <a:avLst/>
          </a:prstGeom>
          <a:noFill/>
        </p:spPr>
        <p:txBody>
          <a:bodyPr wrap="square">
            <a:spAutoFit/>
          </a:bodyPr>
          <a:lstStyle/>
          <a:p>
            <a:pPr>
              <a:lnSpc>
                <a:spcPts val="2947"/>
              </a:lnSpc>
              <a:spcAft>
                <a:spcPts val="947"/>
              </a:spcAft>
              <a:tabLst>
                <a:tab pos="481157" algn="l"/>
                <a:tab pos="962315" algn="l"/>
                <a:tab pos="1443472" algn="l"/>
              </a:tabLst>
            </a:pPr>
            <a:r>
              <a:rPr lang="en-US" sz="1500" b="0" i="1" dirty="0">
                <a:latin typeface="Whitney Book" pitchFamily="50" charset="0"/>
                <a:cs typeface="Times New Roman" panose="02020603050405020304" pitchFamily="18" charset="0"/>
              </a:rPr>
              <a:t>Price</a:t>
            </a:r>
          </a:p>
        </p:txBody>
      </p:sp>
      <p:sp>
        <p:nvSpPr>
          <p:cNvPr id="25" name="TextBox 24">
            <a:extLst>
              <a:ext uri="{FF2B5EF4-FFF2-40B4-BE49-F238E27FC236}">
                <a16:creationId xmlns:a16="http://schemas.microsoft.com/office/drawing/2014/main" id="{E73003AB-DE22-4070-AA2F-CAF8D049F2B9}"/>
              </a:ext>
            </a:extLst>
          </p:cNvPr>
          <p:cNvSpPr txBox="1"/>
          <p:nvPr/>
        </p:nvSpPr>
        <p:spPr>
          <a:xfrm>
            <a:off x="4235239" y="2355134"/>
            <a:ext cx="642193" cy="416332"/>
          </a:xfrm>
          <a:prstGeom prst="rect">
            <a:avLst/>
          </a:prstGeom>
          <a:noFill/>
        </p:spPr>
        <p:txBody>
          <a:bodyPr wrap="square">
            <a:spAutoFit/>
          </a:bodyPr>
          <a:lstStyle/>
          <a:p>
            <a:pPr>
              <a:lnSpc>
                <a:spcPts val="2947"/>
              </a:lnSpc>
              <a:spcAft>
                <a:spcPts val="947"/>
              </a:spcAft>
              <a:tabLst>
                <a:tab pos="481157" algn="l"/>
                <a:tab pos="962315" algn="l"/>
                <a:tab pos="1443472" algn="l"/>
              </a:tabLst>
            </a:pPr>
            <a:r>
              <a:rPr lang="en-US" sz="1500" b="0" i="1" dirty="0">
                <a:latin typeface="Whitney Book" pitchFamily="50" charset="0"/>
                <a:cs typeface="Times New Roman" panose="02020603050405020304" pitchFamily="18" charset="0"/>
              </a:rPr>
              <a:t>Price</a:t>
            </a:r>
          </a:p>
        </p:txBody>
      </p:sp>
      <p:sp>
        <p:nvSpPr>
          <p:cNvPr id="26" name="TextBox 25">
            <a:extLst>
              <a:ext uri="{FF2B5EF4-FFF2-40B4-BE49-F238E27FC236}">
                <a16:creationId xmlns:a16="http://schemas.microsoft.com/office/drawing/2014/main" id="{71F86814-73D5-41CA-9E03-BB2A1E84EDF2}"/>
              </a:ext>
            </a:extLst>
          </p:cNvPr>
          <p:cNvSpPr txBox="1"/>
          <p:nvPr/>
        </p:nvSpPr>
        <p:spPr>
          <a:xfrm>
            <a:off x="561944" y="5297892"/>
            <a:ext cx="3333111" cy="830997"/>
          </a:xfrm>
          <a:prstGeom prst="rect">
            <a:avLst/>
          </a:prstGeom>
          <a:noFill/>
          <a:ln>
            <a:noFill/>
          </a:ln>
        </p:spPr>
        <p:txBody>
          <a:bodyPr wrap="square" rtlCol="0">
            <a:spAutoFit/>
          </a:bodyPr>
          <a:lstStyle/>
          <a:p>
            <a:pPr algn="ctr"/>
            <a:r>
              <a:rPr lang="en-US" sz="1600" b="1" dirty="0">
                <a:solidFill>
                  <a:srgbClr val="C00000"/>
                </a:solidFill>
                <a:latin typeface="Whitney Book" pitchFamily="50" charset="0"/>
                <a:cs typeface="Whitney Book" pitchFamily="50" charset="0"/>
              </a:rPr>
              <a:t>The demand curve faced by a price taker is the market price (which in turn equals </a:t>
            </a:r>
            <a:r>
              <a:rPr lang="en-US" sz="1600" b="1" i="1" dirty="0">
                <a:solidFill>
                  <a:srgbClr val="C00000"/>
                </a:solidFill>
                <a:latin typeface="Whitney Book" pitchFamily="50" charset="0"/>
                <a:cs typeface="Whitney Book" pitchFamily="50" charset="0"/>
              </a:rPr>
              <a:t>MR</a:t>
            </a:r>
            <a:r>
              <a:rPr lang="en-US" sz="1600" b="1" dirty="0">
                <a:solidFill>
                  <a:srgbClr val="C00000"/>
                </a:solidFill>
                <a:latin typeface="Whitney Book" pitchFamily="50" charset="0"/>
                <a:cs typeface="Whitney Book" pitchFamily="50" charset="0"/>
              </a:rPr>
              <a:t> for a price taker)</a:t>
            </a:r>
            <a:endParaRPr lang="en-US" sz="1600" b="1" i="1" dirty="0">
              <a:solidFill>
                <a:srgbClr val="C00000"/>
              </a:solidFill>
              <a:latin typeface="Whitney Book" pitchFamily="50" charset="0"/>
              <a:cs typeface="Whitney Book" pitchFamily="50" charset="0"/>
            </a:endParaRPr>
          </a:p>
        </p:txBody>
      </p:sp>
      <p:sp>
        <p:nvSpPr>
          <p:cNvPr id="27" name="TextBox 26">
            <a:extLst>
              <a:ext uri="{FF2B5EF4-FFF2-40B4-BE49-F238E27FC236}">
                <a16:creationId xmlns:a16="http://schemas.microsoft.com/office/drawing/2014/main" id="{D22138B8-55E1-4221-9D8A-A7C24C40EB6D}"/>
              </a:ext>
            </a:extLst>
          </p:cNvPr>
          <p:cNvSpPr txBox="1"/>
          <p:nvPr/>
        </p:nvSpPr>
        <p:spPr>
          <a:xfrm>
            <a:off x="4654163" y="5321166"/>
            <a:ext cx="3333111" cy="1154162"/>
          </a:xfrm>
          <a:prstGeom prst="rect">
            <a:avLst/>
          </a:prstGeom>
          <a:noFill/>
          <a:ln>
            <a:noFill/>
          </a:ln>
        </p:spPr>
        <p:txBody>
          <a:bodyPr wrap="square" rtlCol="0">
            <a:spAutoFit/>
          </a:bodyPr>
          <a:lstStyle/>
          <a:p>
            <a:pPr algn="ctr"/>
            <a:r>
              <a:rPr lang="en-US" sz="1600" b="1" dirty="0">
                <a:solidFill>
                  <a:srgbClr val="C00000"/>
                </a:solidFill>
                <a:latin typeface="Whitney Book" pitchFamily="50" charset="0"/>
                <a:cs typeface="Whitney Book" pitchFamily="50" charset="0"/>
              </a:rPr>
              <a:t>The demand curve faced by a price searcher is downward-sloping</a:t>
            </a:r>
          </a:p>
          <a:p>
            <a:pPr algn="ctr">
              <a:spcBef>
                <a:spcPts val="600"/>
              </a:spcBef>
            </a:pPr>
            <a:r>
              <a:rPr lang="en-US" sz="1600" b="1" dirty="0">
                <a:solidFill>
                  <a:srgbClr val="0070C0"/>
                </a:solidFill>
                <a:latin typeface="Whitney Book" pitchFamily="50" charset="0"/>
                <a:cs typeface="Whitney Book" pitchFamily="50" charset="0"/>
              </a:rPr>
              <a:t>Marginal Revenue (MR) is different from the demand curve (D)</a:t>
            </a:r>
          </a:p>
        </p:txBody>
      </p:sp>
    </p:spTree>
    <p:extLst>
      <p:ext uri="{BB962C8B-B14F-4D97-AF65-F5344CB8AC3E}">
        <p14:creationId xmlns:p14="http://schemas.microsoft.com/office/powerpoint/2010/main" val="2249877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Test of market power</a:t>
            </a:r>
          </a:p>
        </p:txBody>
      </p:sp>
      <p:sp>
        <p:nvSpPr>
          <p:cNvPr id="5" name="Content Placeholder 4"/>
          <p:cNvSpPr>
            <a:spLocks noGrp="1"/>
          </p:cNvSpPr>
          <p:nvPr>
            <p:ph type="body" idx="1"/>
          </p:nvPr>
        </p:nvSpPr>
        <p:spPr/>
        <p:txBody>
          <a:bodyPr>
            <a:normAutofit/>
          </a:bodyPr>
          <a:lstStyle/>
          <a:p>
            <a:r>
              <a:rPr lang="en-US" dirty="0"/>
              <a:t>If we raise our price, will we lose </a:t>
            </a:r>
            <a:r>
              <a:rPr lang="en-US" u="sng" dirty="0"/>
              <a:t>all</a:t>
            </a:r>
            <a:r>
              <a:rPr lang="en-US" dirty="0"/>
              <a:t> our customers? </a:t>
            </a:r>
          </a:p>
          <a:p>
            <a:pPr lvl="1"/>
            <a:r>
              <a:rPr lang="en-US" dirty="0"/>
              <a:t>“yes” </a:t>
            </a:r>
            <a:r>
              <a:rPr lang="en-US" dirty="0">
                <a:sym typeface="Wingdings" panose="05000000000000000000" pitchFamily="2" charset="2"/>
              </a:rPr>
              <a:t> Price </a:t>
            </a:r>
            <a:r>
              <a:rPr lang="en-US" dirty="0">
                <a:solidFill>
                  <a:srgbClr val="C00000"/>
                </a:solidFill>
                <a:sym typeface="Wingdings" panose="05000000000000000000" pitchFamily="2" charset="2"/>
              </a:rPr>
              <a:t>taker</a:t>
            </a:r>
          </a:p>
          <a:p>
            <a:pPr lvl="2"/>
            <a:r>
              <a:rPr lang="en-US" dirty="0">
                <a:sym typeface="Wingdings" panose="05000000000000000000" pitchFamily="2" charset="2"/>
              </a:rPr>
              <a:t>We have </a:t>
            </a:r>
            <a:r>
              <a:rPr lang="en-US" u="sng" dirty="0">
                <a:sym typeface="Wingdings" panose="05000000000000000000" pitchFamily="2" charset="2"/>
              </a:rPr>
              <a:t>no</a:t>
            </a:r>
            <a:r>
              <a:rPr lang="en-US" dirty="0">
                <a:sym typeface="Wingdings" panose="05000000000000000000" pitchFamily="2" charset="2"/>
              </a:rPr>
              <a:t> market power</a:t>
            </a:r>
          </a:p>
          <a:p>
            <a:pPr lvl="1"/>
            <a:r>
              <a:rPr lang="en-US" dirty="0">
                <a:sym typeface="Wingdings" panose="05000000000000000000" pitchFamily="2" charset="2"/>
              </a:rPr>
              <a:t>“no”  Price </a:t>
            </a:r>
            <a:r>
              <a:rPr lang="en-US" dirty="0">
                <a:solidFill>
                  <a:srgbClr val="C00000"/>
                </a:solidFill>
                <a:sym typeface="Wingdings" panose="05000000000000000000" pitchFamily="2" charset="2"/>
              </a:rPr>
              <a:t>searcher</a:t>
            </a:r>
            <a:r>
              <a:rPr lang="en-US" dirty="0">
                <a:sym typeface="Wingdings" panose="05000000000000000000" pitchFamily="2" charset="2"/>
              </a:rPr>
              <a:t> </a:t>
            </a:r>
          </a:p>
          <a:p>
            <a:pPr lvl="2"/>
            <a:r>
              <a:rPr lang="en-US" dirty="0">
                <a:sym typeface="Wingdings" panose="05000000000000000000" pitchFamily="2" charset="2"/>
              </a:rPr>
              <a:t>We have market power!</a:t>
            </a:r>
          </a:p>
          <a:p>
            <a:pPr lvl="2"/>
            <a:r>
              <a:rPr lang="en-US" dirty="0">
                <a:sym typeface="Wingdings" panose="05000000000000000000" pitchFamily="2" charset="2"/>
              </a:rPr>
              <a:t>We </a:t>
            </a:r>
            <a:r>
              <a:rPr lang="en-US" dirty="0"/>
              <a:t>face a downward-sloping demand curve</a:t>
            </a:r>
          </a:p>
          <a:p>
            <a:pPr lvl="1"/>
            <a:endParaRPr lang="en-US" sz="1300" dirty="0"/>
          </a:p>
          <a:p>
            <a:endParaRPr lang="en-US" sz="1300" dirty="0"/>
          </a:p>
          <a:p>
            <a:endParaRPr lang="en-US" sz="1400" dirty="0"/>
          </a:p>
          <a:p>
            <a:endParaRPr lang="en-US" sz="1300" dirty="0"/>
          </a:p>
          <a:p>
            <a:pPr lvl="1"/>
            <a:endParaRPr lang="en-US" dirty="0"/>
          </a:p>
          <a:p>
            <a:pPr lvl="1"/>
            <a:endParaRPr lang="en-US" sz="2680" dirty="0"/>
          </a:p>
        </p:txBody>
      </p:sp>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spTree>
    <p:extLst>
      <p:ext uri="{BB962C8B-B14F-4D97-AF65-F5344CB8AC3E}">
        <p14:creationId xmlns:p14="http://schemas.microsoft.com/office/powerpoint/2010/main" val="1462525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noProof="0" dirty="0"/>
              <a:t>Profit maximization for price searcher</a:t>
            </a:r>
          </a:p>
        </p:txBody>
      </p:sp>
      <mc:AlternateContent xmlns:mc="http://schemas.openxmlformats.org/markup-compatibility/2006" xmlns:a14="http://schemas.microsoft.com/office/drawing/2010/main">
        <mc:Choice Requires="a14">
          <p:sp>
            <p:nvSpPr>
              <p:cNvPr id="3" name="Content Placeholder 2"/>
              <p:cNvSpPr>
                <a:spLocks noGrp="1"/>
              </p:cNvSpPr>
              <p:nvPr>
                <p:ph type="body" idx="1"/>
              </p:nvPr>
            </p:nvSpPr>
            <p:spPr>
              <a:xfrm>
                <a:off x="387900" y="1012157"/>
                <a:ext cx="8520600" cy="5079676"/>
              </a:xfrm>
            </p:spPr>
            <p:txBody>
              <a:bodyPr>
                <a:normAutofit/>
              </a:bodyPr>
              <a:lstStyle/>
              <a:p>
                <a:endParaRPr lang="en-US" sz="2810" dirty="0"/>
              </a:p>
              <a:p>
                <a:r>
                  <a:rPr lang="en-US" sz="2810" dirty="0"/>
                  <a:t>Profit maximization for price searchers</a:t>
                </a:r>
              </a:p>
              <a:p>
                <a:pPr marL="0" indent="0">
                  <a:lnSpc>
                    <a:spcPct val="120000"/>
                  </a:lnSpc>
                  <a:buNone/>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𝑀𝑅</m:t>
                      </m:r>
                      <m:r>
                        <a:rPr lang="en-US" sz="3200" b="0" i="1" smtClean="0">
                          <a:latin typeface="Cambria Math" panose="02040503050406030204" pitchFamily="18" charset="0"/>
                        </a:rPr>
                        <m:t>=</m:t>
                      </m:r>
                      <m:r>
                        <a:rPr lang="en-US" sz="3200" b="0" i="1" smtClean="0">
                          <a:latin typeface="Cambria Math" panose="02040503050406030204" pitchFamily="18" charset="0"/>
                        </a:rPr>
                        <m:t>𝑀𝐶</m:t>
                      </m:r>
                    </m:oMath>
                  </m:oMathPara>
                </a14:m>
                <a:endParaRPr lang="en-US" sz="3200" dirty="0"/>
              </a:p>
              <a:p>
                <a:pPr marL="514350" indent="-514350">
                  <a:lnSpc>
                    <a:spcPct val="120000"/>
                  </a:lnSpc>
                  <a:buFont typeface="+mj-lt"/>
                  <a:buAutoNum type="arabicPeriod"/>
                </a:pPr>
                <a:endParaRPr lang="en-US" sz="2813" dirty="0">
                  <a:latin typeface="Whitney-Book" pitchFamily="50" charset="0"/>
                  <a:cs typeface="Whitney-Book" pitchFamily="50" charset="0"/>
                </a:endParaRPr>
              </a:p>
              <a:p>
                <a:pPr marL="0" indent="0">
                  <a:lnSpc>
                    <a:spcPct val="120000"/>
                  </a:lnSpc>
                  <a:buNone/>
                </a:pPr>
                <a:endParaRPr lang="en-US" sz="2813" dirty="0">
                  <a:latin typeface="Whitney-Book" pitchFamily="50" charset="0"/>
                  <a:cs typeface="Whitney-Book" pitchFamily="50" charset="0"/>
                </a:endParaRPr>
              </a:p>
              <a:p>
                <a:pPr marL="914400" lvl="1" indent="-514350">
                  <a:lnSpc>
                    <a:spcPct val="120000"/>
                  </a:lnSpc>
                </a:pPr>
                <a:endParaRPr lang="en-US" sz="2613" noProof="0" dirty="0">
                  <a:latin typeface="Whitney-Book" pitchFamily="50" charset="0"/>
                  <a:cs typeface="Whitney-Book" pitchFamily="50" charset="0"/>
                </a:endParaRPr>
              </a:p>
              <a:p>
                <a:pPr marL="914400" lvl="1" indent="-514350">
                  <a:lnSpc>
                    <a:spcPct val="120000"/>
                  </a:lnSpc>
                </a:pPr>
                <a:endParaRPr lang="en-US" sz="2613" noProof="0" dirty="0">
                  <a:latin typeface="Whitney-Book" pitchFamily="50" charset="0"/>
                  <a:cs typeface="Whitney-Book" pitchFamily="50" charset="0"/>
                </a:endParaRPr>
              </a:p>
              <a:p>
                <a:pPr marL="457200" lvl="1" indent="0">
                  <a:buNone/>
                </a:pPr>
                <a:endParaRPr lang="en-US" noProof="0" dirty="0"/>
              </a:p>
              <a:p>
                <a:pPr lvl="1"/>
                <a:endParaRPr lang="en-US" noProof="0" dirty="0"/>
              </a:p>
              <a:p>
                <a:endParaRPr lang="en-US" noProof="0" dirty="0"/>
              </a:p>
            </p:txBody>
          </p:sp>
        </mc:Choice>
        <mc:Fallback xmlns="">
          <p:sp>
            <p:nvSpPr>
              <p:cNvPr id="3" name="Content Placeholder 2"/>
              <p:cNvSpPr>
                <a:spLocks noGrp="1" noRot="1" noChangeAspect="1" noMove="1" noResize="1" noEditPoints="1" noAdjustHandles="1" noChangeArrowheads="1" noChangeShapeType="1" noTextEdit="1"/>
              </p:cNvSpPr>
              <p:nvPr>
                <p:ph type="body" idx="1"/>
              </p:nvPr>
            </p:nvSpPr>
            <p:spPr>
              <a:xfrm>
                <a:off x="387900" y="1012157"/>
                <a:ext cx="8520600" cy="5079676"/>
              </a:xfr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8A3D9247-40AF-450F-B5B8-4A54748D49BF}"/>
                  </a:ext>
                </a:extLst>
              </p:cNvPr>
              <p:cNvSpPr txBox="1"/>
              <p:nvPr/>
            </p:nvSpPr>
            <p:spPr>
              <a:xfrm>
                <a:off x="1119391" y="2911485"/>
                <a:ext cx="3452610" cy="646331"/>
              </a:xfrm>
              <a:prstGeom prst="rect">
                <a:avLst/>
              </a:prstGeom>
              <a:noFill/>
            </p:spPr>
            <p:txBody>
              <a:bodyPr wrap="square">
                <a:spAutoFit/>
              </a:bodyPr>
              <a:lstStyle/>
              <a:p>
                <a:pPr>
                  <a:tabLst>
                    <a:tab pos="457200" algn="l"/>
                    <a:tab pos="914400" algn="l"/>
                    <a:tab pos="1371600" algn="l"/>
                  </a:tabLst>
                  <a:defRPr/>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cs typeface="Times New Roman" pitchFamily="18" charset="0"/>
                        </a:rPr>
                        <m:t>𝑄</m:t>
                      </m:r>
                      <m:r>
                        <a:rPr lang="en-US" b="0" i="1" dirty="0" smtClean="0">
                          <a:latin typeface="Cambria Math" panose="02040503050406030204" pitchFamily="18" charset="0"/>
                          <a:cs typeface="Times New Roman" pitchFamily="18" charset="0"/>
                        </a:rPr>
                        <m:t>  =  1,600 – 4</m:t>
                      </m:r>
                      <m:r>
                        <a:rPr lang="en-US" b="0" i="1" dirty="0">
                          <a:latin typeface="Cambria Math" panose="02040503050406030204" pitchFamily="18" charset="0"/>
                          <a:cs typeface="Times New Roman" pitchFamily="18" charset="0"/>
                        </a:rPr>
                        <m:t>𝑃</m:t>
                      </m:r>
                    </m:oMath>
                  </m:oMathPara>
                </a14:m>
                <a:endParaRPr lang="en-US" b="0" i="1" dirty="0">
                  <a:latin typeface="Cambria Math" panose="02040503050406030204" pitchFamily="18" charset="0"/>
                  <a:cs typeface="Times New Roman" pitchFamily="18" charset="0"/>
                </a:endParaRPr>
              </a:p>
              <a:p>
                <a:pPr>
                  <a:tabLst>
                    <a:tab pos="457200" algn="l"/>
                    <a:tab pos="914400" algn="l"/>
                    <a:tab pos="1371600" algn="l"/>
                  </a:tabLst>
                  <a:defRPr/>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cs typeface="Times New Roman" pitchFamily="18" charset="0"/>
                        </a:rPr>
                        <m:t>→</m:t>
                      </m:r>
                      <m:r>
                        <a:rPr lang="en-US" b="0" i="1" dirty="0" smtClean="0">
                          <a:solidFill>
                            <a:srgbClr val="C00000"/>
                          </a:solidFill>
                          <a:latin typeface="Cambria Math" panose="02040503050406030204" pitchFamily="18" charset="0"/>
                          <a:cs typeface="Times New Roman" pitchFamily="18" charset="0"/>
                        </a:rPr>
                        <m:t>𝑃</m:t>
                      </m:r>
                      <m:r>
                        <a:rPr lang="en-US" b="0" i="1" dirty="0" smtClean="0">
                          <a:solidFill>
                            <a:srgbClr val="C00000"/>
                          </a:solidFill>
                          <a:latin typeface="Cambria Math" panose="02040503050406030204" pitchFamily="18" charset="0"/>
                          <a:cs typeface="Times New Roman" pitchFamily="18" charset="0"/>
                        </a:rPr>
                        <m:t>=400−0.25</m:t>
                      </m:r>
                      <m:r>
                        <a:rPr lang="en-US" b="0" i="1" dirty="0" smtClean="0">
                          <a:solidFill>
                            <a:srgbClr val="C00000"/>
                          </a:solidFill>
                          <a:latin typeface="Cambria Math" panose="02040503050406030204" pitchFamily="18" charset="0"/>
                          <a:cs typeface="Times New Roman" pitchFamily="18" charset="0"/>
                        </a:rPr>
                        <m:t>𝑄</m:t>
                      </m:r>
                    </m:oMath>
                  </m:oMathPara>
                </a14:m>
                <a:endParaRPr lang="en-US" b="0" dirty="0">
                  <a:latin typeface="+mn-lt"/>
                  <a:cs typeface="Times New Roman" pitchFamily="18" charset="0"/>
                </a:endParaRPr>
              </a:p>
            </p:txBody>
          </p:sp>
        </mc:Choice>
        <mc:Fallback xmlns="">
          <p:sp>
            <p:nvSpPr>
              <p:cNvPr id="35" name="TextBox 34">
                <a:extLst>
                  <a:ext uri="{FF2B5EF4-FFF2-40B4-BE49-F238E27FC236}">
                    <a16:creationId xmlns:a16="http://schemas.microsoft.com/office/drawing/2014/main" id="{8A3D9247-40AF-450F-B5B8-4A54748D49BF}"/>
                  </a:ext>
                </a:extLst>
              </p:cNvPr>
              <p:cNvSpPr txBox="1">
                <a:spLocks noRot="1" noChangeAspect="1" noMove="1" noResize="1" noEditPoints="1" noAdjustHandles="1" noChangeArrowheads="1" noChangeShapeType="1" noTextEdit="1"/>
              </p:cNvSpPr>
              <p:nvPr/>
            </p:nvSpPr>
            <p:spPr>
              <a:xfrm>
                <a:off x="1119391" y="2911485"/>
                <a:ext cx="3452610" cy="646331"/>
              </a:xfrm>
              <a:prstGeom prst="rect">
                <a:avLst/>
              </a:prstGeom>
              <a:blipFill>
                <a:blip r:embed="rId4"/>
                <a:stretch>
                  <a:fillRect b="-5660"/>
                </a:stretch>
              </a:blipFill>
            </p:spPr>
            <p:txBody>
              <a:bodyPr/>
              <a:lstStyle/>
              <a:p>
                <a:r>
                  <a:rPr lang="en-US">
                    <a:noFill/>
                  </a:rPr>
                  <a:t> </a:t>
                </a:r>
              </a:p>
            </p:txBody>
          </p:sp>
        </mc:Fallback>
      </mc:AlternateContent>
      <p:grpSp>
        <p:nvGrpSpPr>
          <p:cNvPr id="9" name="Group 8">
            <a:extLst>
              <a:ext uri="{FF2B5EF4-FFF2-40B4-BE49-F238E27FC236}">
                <a16:creationId xmlns:a16="http://schemas.microsoft.com/office/drawing/2014/main" id="{55C58806-89BA-4278-8F33-3554945635EC}"/>
              </a:ext>
            </a:extLst>
          </p:cNvPr>
          <p:cNvGrpSpPr/>
          <p:nvPr/>
        </p:nvGrpSpPr>
        <p:grpSpPr>
          <a:xfrm>
            <a:off x="5332718" y="5074366"/>
            <a:ext cx="3693301" cy="566487"/>
            <a:chOff x="62402" y="6168852"/>
            <a:chExt cx="3495351" cy="566487"/>
          </a:xfrm>
        </p:grpSpPr>
        <p:sp>
          <p:nvSpPr>
            <p:cNvPr id="10" name="Rectangle 3">
              <a:extLst>
                <a:ext uri="{FF2B5EF4-FFF2-40B4-BE49-F238E27FC236}">
                  <a16:creationId xmlns:a16="http://schemas.microsoft.com/office/drawing/2014/main" id="{DC6CCE59-8FAF-4C04-B728-6EACD7124E7D}"/>
                </a:ext>
              </a:extLst>
            </p:cNvPr>
            <p:cNvSpPr txBox="1">
              <a:spLocks noChangeArrowheads="1"/>
            </p:cNvSpPr>
            <p:nvPr/>
          </p:nvSpPr>
          <p:spPr>
            <a:xfrm>
              <a:off x="62402" y="6168852"/>
              <a:ext cx="3495351" cy="566487"/>
            </a:xfrm>
            <a:prstGeom prst="rect">
              <a:avLst/>
            </a:prstGeom>
            <a:gradFill>
              <a:gsLst>
                <a:gs pos="44000">
                  <a:schemeClr val="bg1">
                    <a:lumMod val="85000"/>
                  </a:schemeClr>
                </a:gs>
                <a:gs pos="0">
                  <a:schemeClr val="tx1">
                    <a:lumMod val="65000"/>
                    <a:lumOff val="35000"/>
                  </a:schemeClr>
                </a:gs>
                <a:gs pos="100000">
                  <a:schemeClr val="tx1">
                    <a:lumMod val="50000"/>
                    <a:lumOff val="50000"/>
                  </a:schemeClr>
                </a:gs>
              </a:gsLst>
              <a:lin ang="5400000" scaled="1"/>
            </a:gradFill>
            <a:ln w="15875">
              <a:noFill/>
            </a:ln>
            <a:effectLst>
              <a:outerShdw blurRad="50800" dist="38100" dir="2700000" algn="tl" rotWithShape="0">
                <a:prstClr val="black">
                  <a:alpha val="40000"/>
                </a:prstClr>
              </a:outerShdw>
              <a:softEdge rad="50800"/>
            </a:effectLst>
          </p:spPr>
          <p:txBody>
            <a:bodyPr vert="horz" lIns="92069" tIns="46035" rIns="92069" bIns="46035" rtlCol="0" anchor="ctr">
              <a:normAutofit fontScale="92500"/>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600"/>
                </a:spcBef>
                <a:spcAft>
                  <a:spcPts val="563"/>
                </a:spcAft>
                <a:buNone/>
              </a:pPr>
              <a:r>
                <a:rPr lang="en-US" sz="2400" dirty="0">
                  <a:cs typeface="Times New Roman" pitchFamily="18" charset="0"/>
                </a:rPr>
                <a:t>        </a:t>
              </a:r>
              <a:r>
                <a:rPr lang="en-US" sz="2400" dirty="0">
                  <a:ln>
                    <a:solidFill>
                      <a:schemeClr val="bg1">
                        <a:lumMod val="50000"/>
                      </a:schemeClr>
                    </a:solidFill>
                  </a:ln>
                  <a:solidFill>
                    <a:schemeClr val="tx1"/>
                  </a:solidFill>
                  <a:latin typeface="Calibri" panose="020F0502020204030204" pitchFamily="34" charset="0"/>
                  <a:cs typeface="Calibri" panose="020F0502020204030204" pitchFamily="34" charset="0"/>
                </a:rPr>
                <a:t>Teaching Note MR=MC</a:t>
              </a:r>
            </a:p>
          </p:txBody>
        </p:sp>
        <p:sp>
          <p:nvSpPr>
            <p:cNvPr id="11" name="Right Arrow 1">
              <a:extLst>
                <a:ext uri="{FF2B5EF4-FFF2-40B4-BE49-F238E27FC236}">
                  <a16:creationId xmlns:a16="http://schemas.microsoft.com/office/drawing/2014/main" id="{AAF3DEB9-93D0-4C4C-AC06-22152224CBF4}"/>
                </a:ext>
              </a:extLst>
            </p:cNvPr>
            <p:cNvSpPr/>
            <p:nvPr/>
          </p:nvSpPr>
          <p:spPr>
            <a:xfrm>
              <a:off x="208445" y="6315750"/>
              <a:ext cx="373445" cy="301998"/>
            </a:xfrm>
            <a:prstGeom prst="rightArrow">
              <a:avLst/>
            </a:prstGeom>
            <a:solidFill>
              <a:schemeClr val="accent2"/>
            </a:solidFill>
            <a:effectLst>
              <a:outerShdw blurRad="40000" dist="23000" dir="5400000" rotWithShape="0">
                <a:srgbClr val="000000">
                  <a:alpha val="35000"/>
                </a:srgbClr>
              </a:outerShdw>
              <a:softEdge rad="254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6" name="Group 5">
            <a:extLst>
              <a:ext uri="{FF2B5EF4-FFF2-40B4-BE49-F238E27FC236}">
                <a16:creationId xmlns:a16="http://schemas.microsoft.com/office/drawing/2014/main" id="{81F44274-ABF3-4BCA-9BC2-A39C2AF4A5BA}"/>
              </a:ext>
            </a:extLst>
          </p:cNvPr>
          <p:cNvGrpSpPr/>
          <p:nvPr/>
        </p:nvGrpSpPr>
        <p:grpSpPr>
          <a:xfrm>
            <a:off x="1168873" y="2955826"/>
            <a:ext cx="4081742" cy="3175485"/>
            <a:chOff x="1360170" y="3726180"/>
            <a:chExt cx="3760470" cy="2225040"/>
          </a:xfrm>
        </p:grpSpPr>
        <p:cxnSp>
          <p:nvCxnSpPr>
            <p:cNvPr id="28" name="Straight Connector 27">
              <a:extLst>
                <a:ext uri="{FF2B5EF4-FFF2-40B4-BE49-F238E27FC236}">
                  <a16:creationId xmlns:a16="http://schemas.microsoft.com/office/drawing/2014/main" id="{F9C51AE5-5787-43FA-89DA-74F4DCB399E7}"/>
                </a:ext>
              </a:extLst>
            </p:cNvPr>
            <p:cNvCxnSpPr/>
            <p:nvPr/>
          </p:nvCxnSpPr>
          <p:spPr>
            <a:xfrm>
              <a:off x="1360170" y="3726180"/>
              <a:ext cx="3634740" cy="2225040"/>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sp>
          <p:nvSpPr>
            <p:cNvPr id="30" name="Text Box 59">
              <a:extLst>
                <a:ext uri="{FF2B5EF4-FFF2-40B4-BE49-F238E27FC236}">
                  <a16:creationId xmlns:a16="http://schemas.microsoft.com/office/drawing/2014/main" id="{10FE91ED-1E3D-4428-9107-EFD1C7E28171}"/>
                </a:ext>
              </a:extLst>
            </p:cNvPr>
            <p:cNvSpPr txBox="1"/>
            <p:nvPr/>
          </p:nvSpPr>
          <p:spPr>
            <a:xfrm>
              <a:off x="4699808" y="5522595"/>
              <a:ext cx="420832" cy="2286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400" i="1" dirty="0">
                  <a:solidFill>
                    <a:srgbClr val="C00000"/>
                  </a:solidFill>
                  <a:effectLst/>
                  <a:ea typeface="Calibri" panose="020F0502020204030204" pitchFamily="34" charset="0"/>
                  <a:cs typeface="Times New Roman" panose="02020603050405020304" pitchFamily="18" charset="0"/>
                </a:rPr>
                <a:t>D</a:t>
              </a:r>
              <a:endParaRPr lang="en-US" sz="1400" i="1" dirty="0">
                <a:effectLst/>
                <a:ea typeface="Calibri" panose="020F0502020204030204" pitchFamily="34" charset="0"/>
                <a:cs typeface="Times New Roman" panose="02020603050405020304" pitchFamily="18" charset="0"/>
              </a:endParaRPr>
            </a:p>
          </p:txBody>
        </p:sp>
      </p:grpSp>
      <p:grpSp>
        <p:nvGrpSpPr>
          <p:cNvPr id="8" name="Group 7">
            <a:extLst>
              <a:ext uri="{FF2B5EF4-FFF2-40B4-BE49-F238E27FC236}">
                <a16:creationId xmlns:a16="http://schemas.microsoft.com/office/drawing/2014/main" id="{3E8245AC-0466-4205-BFB2-66B4E3699AD3}"/>
              </a:ext>
            </a:extLst>
          </p:cNvPr>
          <p:cNvGrpSpPr/>
          <p:nvPr/>
        </p:nvGrpSpPr>
        <p:grpSpPr>
          <a:xfrm>
            <a:off x="1200189" y="3019231"/>
            <a:ext cx="2411421" cy="3420355"/>
            <a:chOff x="1389021" y="3904205"/>
            <a:chExt cx="2221619" cy="2396619"/>
          </a:xfrm>
        </p:grpSpPr>
        <p:cxnSp>
          <p:nvCxnSpPr>
            <p:cNvPr id="29" name="Straight Connector 28">
              <a:extLst>
                <a:ext uri="{FF2B5EF4-FFF2-40B4-BE49-F238E27FC236}">
                  <a16:creationId xmlns:a16="http://schemas.microsoft.com/office/drawing/2014/main" id="{1FEBFACA-6BE8-4C8D-AB00-89833C779E44}"/>
                </a:ext>
              </a:extLst>
            </p:cNvPr>
            <p:cNvCxnSpPr>
              <a:cxnSpLocks/>
            </p:cNvCxnSpPr>
            <p:nvPr/>
          </p:nvCxnSpPr>
          <p:spPr>
            <a:xfrm>
              <a:off x="1389021" y="3904205"/>
              <a:ext cx="1693560" cy="2218594"/>
            </a:xfrm>
            <a:prstGeom prst="line">
              <a:avLst/>
            </a:prstGeom>
            <a:ln w="31750">
              <a:solidFill>
                <a:schemeClr val="accent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31" name="Text Box 60">
              <a:extLst>
                <a:ext uri="{FF2B5EF4-FFF2-40B4-BE49-F238E27FC236}">
                  <a16:creationId xmlns:a16="http://schemas.microsoft.com/office/drawing/2014/main" id="{FA474059-3B33-4C57-A294-775ED4E5A5C4}"/>
                </a:ext>
              </a:extLst>
            </p:cNvPr>
            <p:cNvSpPr txBox="1"/>
            <p:nvPr/>
          </p:nvSpPr>
          <p:spPr>
            <a:xfrm>
              <a:off x="3049531" y="6072224"/>
              <a:ext cx="561109" cy="2286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600" i="1" dirty="0">
                  <a:solidFill>
                    <a:srgbClr val="0070C0"/>
                  </a:solidFill>
                  <a:effectLst/>
                  <a:ea typeface="Calibri" panose="020F0502020204030204" pitchFamily="34" charset="0"/>
                  <a:cs typeface="Times New Roman" panose="02020603050405020304" pitchFamily="18" charset="0"/>
                </a:rPr>
                <a:t>MR</a:t>
              </a:r>
              <a:endParaRPr lang="en-US" sz="1600" i="1" dirty="0">
                <a:effectLst/>
                <a:ea typeface="Calibri" panose="020F0502020204030204" pitchFamily="34" charset="0"/>
                <a:cs typeface="Times New Roman" panose="02020603050405020304" pitchFamily="18" charset="0"/>
              </a:endParaRPr>
            </a:p>
          </p:txBody>
        </p:sp>
      </p:grpSp>
      <p:grpSp>
        <p:nvGrpSpPr>
          <p:cNvPr id="23" name="Group 22">
            <a:extLst>
              <a:ext uri="{FF2B5EF4-FFF2-40B4-BE49-F238E27FC236}">
                <a16:creationId xmlns:a16="http://schemas.microsoft.com/office/drawing/2014/main" id="{02B543CC-3CBF-483C-957D-C3D4BC133132}"/>
              </a:ext>
            </a:extLst>
          </p:cNvPr>
          <p:cNvGrpSpPr/>
          <p:nvPr/>
        </p:nvGrpSpPr>
        <p:grpSpPr>
          <a:xfrm>
            <a:off x="831861" y="2417965"/>
            <a:ext cx="5473335" cy="3979613"/>
            <a:chOff x="-77932" y="0"/>
            <a:chExt cx="5042531" cy="2788487"/>
          </a:xfrm>
        </p:grpSpPr>
        <p:cxnSp>
          <p:nvCxnSpPr>
            <p:cNvPr id="24" name="Straight Arrow Connector 23">
              <a:extLst>
                <a:ext uri="{FF2B5EF4-FFF2-40B4-BE49-F238E27FC236}">
                  <a16:creationId xmlns:a16="http://schemas.microsoft.com/office/drawing/2014/main" id="{ECF86E05-69B3-4D03-8A16-DE7F125E87A0}"/>
                </a:ext>
              </a:extLst>
            </p:cNvPr>
            <p:cNvCxnSpPr/>
            <p:nvPr/>
          </p:nvCxnSpPr>
          <p:spPr>
            <a:xfrm>
              <a:off x="236220" y="2522220"/>
              <a:ext cx="439674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9525F248-08C0-4535-A8ED-88D4AC782060}"/>
                </a:ext>
              </a:extLst>
            </p:cNvPr>
            <p:cNvCxnSpPr/>
            <p:nvPr/>
          </p:nvCxnSpPr>
          <p:spPr>
            <a:xfrm flipV="1">
              <a:off x="236220" y="68580"/>
              <a:ext cx="0" cy="245364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 Box 24579">
              <a:extLst>
                <a:ext uri="{FF2B5EF4-FFF2-40B4-BE49-F238E27FC236}">
                  <a16:creationId xmlns:a16="http://schemas.microsoft.com/office/drawing/2014/main" id="{497FE4A0-7CC6-4B1B-AE1A-D2B0AB0B2CDA}"/>
                </a:ext>
              </a:extLst>
            </p:cNvPr>
            <p:cNvSpPr txBox="1"/>
            <p:nvPr/>
          </p:nvSpPr>
          <p:spPr>
            <a:xfrm>
              <a:off x="-77932" y="0"/>
              <a:ext cx="420832" cy="2286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600" i="1" dirty="0">
                  <a:effectLst/>
                  <a:ea typeface="Calibri" panose="020F0502020204030204" pitchFamily="34" charset="0"/>
                  <a:cs typeface="Times New Roman" panose="02020603050405020304" pitchFamily="18" charset="0"/>
                </a:rPr>
                <a:t>P</a:t>
              </a:r>
            </a:p>
          </p:txBody>
        </p:sp>
        <p:sp>
          <p:nvSpPr>
            <p:cNvPr id="27" name="Text Box 24580">
              <a:extLst>
                <a:ext uri="{FF2B5EF4-FFF2-40B4-BE49-F238E27FC236}">
                  <a16:creationId xmlns:a16="http://schemas.microsoft.com/office/drawing/2014/main" id="{80940B3B-D878-4418-9D1F-B82F33A5B2D0}"/>
                </a:ext>
              </a:extLst>
            </p:cNvPr>
            <p:cNvSpPr txBox="1"/>
            <p:nvPr/>
          </p:nvSpPr>
          <p:spPr>
            <a:xfrm>
              <a:off x="4492332" y="2491307"/>
              <a:ext cx="472267" cy="29718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600" i="1" dirty="0">
                  <a:effectLst/>
                  <a:ea typeface="Calibri" panose="020F0502020204030204" pitchFamily="34" charset="0"/>
                  <a:cs typeface="Times New Roman" panose="02020603050405020304" pitchFamily="18" charset="0"/>
                </a:rPr>
                <a:t>Q</a:t>
              </a:r>
            </a:p>
          </p:txBody>
        </p:sp>
      </p:grpSp>
      <p:grpSp>
        <p:nvGrpSpPr>
          <p:cNvPr id="34" name="Group 33">
            <a:extLst>
              <a:ext uri="{FF2B5EF4-FFF2-40B4-BE49-F238E27FC236}">
                <a16:creationId xmlns:a16="http://schemas.microsoft.com/office/drawing/2014/main" id="{4DDAA2A9-B179-4F9C-A642-42E4DBA2CE50}"/>
              </a:ext>
            </a:extLst>
          </p:cNvPr>
          <p:cNvGrpSpPr/>
          <p:nvPr/>
        </p:nvGrpSpPr>
        <p:grpSpPr>
          <a:xfrm>
            <a:off x="363265" y="3622885"/>
            <a:ext cx="2765620" cy="2849237"/>
            <a:chOff x="481010" y="4251960"/>
            <a:chExt cx="2547940" cy="1996440"/>
          </a:xfrm>
        </p:grpSpPr>
        <p:cxnSp>
          <p:nvCxnSpPr>
            <p:cNvPr id="19" name="Straight Connector 18">
              <a:extLst>
                <a:ext uri="{FF2B5EF4-FFF2-40B4-BE49-F238E27FC236}">
                  <a16:creationId xmlns:a16="http://schemas.microsoft.com/office/drawing/2014/main" id="{E35E27BC-07C8-49F2-ADF9-1067D64F5720}"/>
                </a:ext>
              </a:extLst>
            </p:cNvPr>
            <p:cNvCxnSpPr>
              <a:cxnSpLocks/>
            </p:cNvCxnSpPr>
            <p:nvPr/>
          </p:nvCxnSpPr>
          <p:spPr>
            <a:xfrm>
              <a:off x="2169368" y="4389120"/>
              <a:ext cx="0" cy="1540782"/>
            </a:xfrm>
            <a:prstGeom prst="line">
              <a:avLst/>
            </a:prstGeom>
            <a:ln w="12700">
              <a:solidFill>
                <a:srgbClr val="00B050"/>
              </a:solidFill>
              <a:prstDash val="dash"/>
            </a:ln>
          </p:spPr>
          <p:style>
            <a:lnRef idx="1">
              <a:schemeClr val="accent1"/>
            </a:lnRef>
            <a:fillRef idx="0">
              <a:schemeClr val="accent1"/>
            </a:fillRef>
            <a:effectRef idx="0">
              <a:schemeClr val="accent1"/>
            </a:effectRef>
            <a:fontRef idx="minor">
              <a:schemeClr val="tx1"/>
            </a:fontRef>
          </p:style>
        </p:cxnSp>
        <p:sp>
          <p:nvSpPr>
            <p:cNvPr id="20" name="Text Box 24590">
              <a:extLst>
                <a:ext uri="{FF2B5EF4-FFF2-40B4-BE49-F238E27FC236}">
                  <a16:creationId xmlns:a16="http://schemas.microsoft.com/office/drawing/2014/main" id="{57DB42D6-EFA7-4E63-A7F5-18415D2143EF}"/>
                </a:ext>
              </a:extLst>
            </p:cNvPr>
            <p:cNvSpPr txBox="1"/>
            <p:nvPr/>
          </p:nvSpPr>
          <p:spPr>
            <a:xfrm>
              <a:off x="2056361" y="5974080"/>
              <a:ext cx="972589" cy="27432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400" i="1" dirty="0">
                  <a:solidFill>
                    <a:schemeClr val="tx1"/>
                  </a:solidFill>
                  <a:effectLst/>
                  <a:ea typeface="Calibri" panose="020F0502020204030204" pitchFamily="34" charset="0"/>
                  <a:cs typeface="Times New Roman" panose="02020603050405020304" pitchFamily="18" charset="0"/>
                </a:rPr>
                <a:t>Q*=400</a:t>
              </a:r>
            </a:p>
          </p:txBody>
        </p:sp>
        <p:cxnSp>
          <p:nvCxnSpPr>
            <p:cNvPr id="21" name="Straight Connector 20">
              <a:extLst>
                <a:ext uri="{FF2B5EF4-FFF2-40B4-BE49-F238E27FC236}">
                  <a16:creationId xmlns:a16="http://schemas.microsoft.com/office/drawing/2014/main" id="{B967A667-D706-4364-A4D3-0E693FF8978F}"/>
                </a:ext>
              </a:extLst>
            </p:cNvPr>
            <p:cNvCxnSpPr>
              <a:cxnSpLocks/>
            </p:cNvCxnSpPr>
            <p:nvPr/>
          </p:nvCxnSpPr>
          <p:spPr>
            <a:xfrm>
              <a:off x="1234745" y="4352051"/>
              <a:ext cx="934623" cy="7620"/>
            </a:xfrm>
            <a:prstGeom prst="line">
              <a:avLst/>
            </a:prstGeom>
            <a:ln w="12700">
              <a:solidFill>
                <a:srgbClr val="00B050"/>
              </a:solidFill>
              <a:prstDash val="dash"/>
            </a:ln>
          </p:spPr>
          <p:style>
            <a:lnRef idx="1">
              <a:schemeClr val="accent1"/>
            </a:lnRef>
            <a:fillRef idx="0">
              <a:schemeClr val="accent1"/>
            </a:fillRef>
            <a:effectRef idx="0">
              <a:schemeClr val="accent1"/>
            </a:effectRef>
            <a:fontRef idx="minor">
              <a:schemeClr val="tx1"/>
            </a:fontRef>
          </p:style>
        </p:cxnSp>
        <p:sp>
          <p:nvSpPr>
            <p:cNvPr id="17" name="Text Box 24592">
              <a:extLst>
                <a:ext uri="{FF2B5EF4-FFF2-40B4-BE49-F238E27FC236}">
                  <a16:creationId xmlns:a16="http://schemas.microsoft.com/office/drawing/2014/main" id="{BCD413E5-04E4-420B-937D-81B46C0E03EB}"/>
                </a:ext>
              </a:extLst>
            </p:cNvPr>
            <p:cNvSpPr txBox="1"/>
            <p:nvPr/>
          </p:nvSpPr>
          <p:spPr>
            <a:xfrm>
              <a:off x="481010" y="4251960"/>
              <a:ext cx="822960" cy="27432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400" i="1" dirty="0">
                  <a:solidFill>
                    <a:schemeClr val="tx1"/>
                  </a:solidFill>
                  <a:effectLst/>
                  <a:ea typeface="Calibri" panose="020F0502020204030204" pitchFamily="34" charset="0"/>
                  <a:cs typeface="Times New Roman" panose="02020603050405020304" pitchFamily="18" charset="0"/>
                </a:rPr>
                <a:t>P*=$300</a:t>
              </a:r>
            </a:p>
          </p:txBody>
        </p:sp>
      </p:grpSp>
      <p:grpSp>
        <p:nvGrpSpPr>
          <p:cNvPr id="36" name="Group 35">
            <a:extLst>
              <a:ext uri="{FF2B5EF4-FFF2-40B4-BE49-F238E27FC236}">
                <a16:creationId xmlns:a16="http://schemas.microsoft.com/office/drawing/2014/main" id="{05EBE04E-8065-4B57-9029-ABAFA3AB6884}"/>
              </a:ext>
            </a:extLst>
          </p:cNvPr>
          <p:cNvGrpSpPr/>
          <p:nvPr/>
        </p:nvGrpSpPr>
        <p:grpSpPr>
          <a:xfrm>
            <a:off x="344251" y="4511925"/>
            <a:ext cx="5063572" cy="408520"/>
            <a:chOff x="528700" y="5009607"/>
            <a:chExt cx="4665020" cy="286247"/>
          </a:xfrm>
        </p:grpSpPr>
        <p:sp>
          <p:nvSpPr>
            <p:cNvPr id="14" name="Text Box 24588">
              <a:extLst>
                <a:ext uri="{FF2B5EF4-FFF2-40B4-BE49-F238E27FC236}">
                  <a16:creationId xmlns:a16="http://schemas.microsoft.com/office/drawing/2014/main" id="{CAC7A2D6-6619-47B3-9F29-9496AA5023FB}"/>
                </a:ext>
              </a:extLst>
            </p:cNvPr>
            <p:cNvSpPr txBox="1"/>
            <p:nvPr/>
          </p:nvSpPr>
          <p:spPr>
            <a:xfrm>
              <a:off x="528700" y="5021534"/>
              <a:ext cx="972589" cy="27432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400" i="1" dirty="0">
                  <a:solidFill>
                    <a:schemeClr val="tx1"/>
                  </a:solidFill>
                  <a:effectLst/>
                  <a:ea typeface="Calibri" panose="020F0502020204030204" pitchFamily="34" charset="0"/>
                  <a:cs typeface="Times New Roman" panose="02020603050405020304" pitchFamily="18" charset="0"/>
                </a:rPr>
                <a:t>MC=$200</a:t>
              </a:r>
            </a:p>
          </p:txBody>
        </p:sp>
        <p:grpSp>
          <p:nvGrpSpPr>
            <p:cNvPr id="33" name="Group 32">
              <a:extLst>
                <a:ext uri="{FF2B5EF4-FFF2-40B4-BE49-F238E27FC236}">
                  <a16:creationId xmlns:a16="http://schemas.microsoft.com/office/drawing/2014/main" id="{A80DAA58-2DA7-4972-9B2E-50CF7EB6AE6C}"/>
                </a:ext>
              </a:extLst>
            </p:cNvPr>
            <p:cNvGrpSpPr/>
            <p:nvPr/>
          </p:nvGrpSpPr>
          <p:grpSpPr>
            <a:xfrm>
              <a:off x="1327514" y="5009607"/>
              <a:ext cx="3866206" cy="228600"/>
              <a:chOff x="1327514" y="5009607"/>
              <a:chExt cx="3866206" cy="228600"/>
            </a:xfrm>
          </p:grpSpPr>
          <p:cxnSp>
            <p:nvCxnSpPr>
              <p:cNvPr id="18" name="Straight Connector 17">
                <a:extLst>
                  <a:ext uri="{FF2B5EF4-FFF2-40B4-BE49-F238E27FC236}">
                    <a16:creationId xmlns:a16="http://schemas.microsoft.com/office/drawing/2014/main" id="{11A76B8E-0FC3-4B01-A6E7-803DEC98D3F6}"/>
                  </a:ext>
                </a:extLst>
              </p:cNvPr>
              <p:cNvCxnSpPr/>
              <p:nvPr/>
            </p:nvCxnSpPr>
            <p:spPr>
              <a:xfrm>
                <a:off x="1327514" y="5143500"/>
                <a:ext cx="3276600" cy="7620"/>
              </a:xfrm>
              <a:prstGeom prst="line">
                <a:avLst/>
              </a:prstGeom>
              <a:ln w="19050">
                <a:solidFill>
                  <a:srgbClr val="00B050"/>
                </a:solidFill>
                <a:prstDash val="solid"/>
              </a:ln>
            </p:spPr>
            <p:style>
              <a:lnRef idx="1">
                <a:schemeClr val="accent1"/>
              </a:lnRef>
              <a:fillRef idx="0">
                <a:schemeClr val="accent1"/>
              </a:fillRef>
              <a:effectRef idx="0">
                <a:schemeClr val="accent1"/>
              </a:effectRef>
              <a:fontRef idx="minor">
                <a:schemeClr val="tx1"/>
              </a:fontRef>
            </p:style>
          </p:cxnSp>
          <p:sp>
            <p:nvSpPr>
              <p:cNvPr id="32" name="Text Box 60">
                <a:extLst>
                  <a:ext uri="{FF2B5EF4-FFF2-40B4-BE49-F238E27FC236}">
                    <a16:creationId xmlns:a16="http://schemas.microsoft.com/office/drawing/2014/main" id="{473FEFBC-9FFB-4FFD-BE19-86B09FC5A61D}"/>
                  </a:ext>
                </a:extLst>
              </p:cNvPr>
              <p:cNvSpPr txBox="1"/>
              <p:nvPr/>
            </p:nvSpPr>
            <p:spPr>
              <a:xfrm>
                <a:off x="4632611" y="5009607"/>
                <a:ext cx="561109" cy="2286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600" i="1" dirty="0">
                    <a:solidFill>
                      <a:srgbClr val="00B050"/>
                    </a:solidFill>
                    <a:effectLst/>
                    <a:ea typeface="Calibri" panose="020F0502020204030204" pitchFamily="34" charset="0"/>
                    <a:cs typeface="Times New Roman" panose="02020603050405020304" pitchFamily="18" charset="0"/>
                  </a:rPr>
                  <a:t>MC</a:t>
                </a:r>
              </a:p>
            </p:txBody>
          </p:sp>
        </p:grpSp>
      </p:grpSp>
      <p:grpSp>
        <p:nvGrpSpPr>
          <p:cNvPr id="12" name="Group 11">
            <a:extLst>
              <a:ext uri="{FF2B5EF4-FFF2-40B4-BE49-F238E27FC236}">
                <a16:creationId xmlns:a16="http://schemas.microsoft.com/office/drawing/2014/main" id="{DBFB7228-426A-4574-9CC0-5262378E79C6}"/>
              </a:ext>
            </a:extLst>
          </p:cNvPr>
          <p:cNvGrpSpPr/>
          <p:nvPr/>
        </p:nvGrpSpPr>
        <p:grpSpPr>
          <a:xfrm>
            <a:off x="1285803" y="4703013"/>
            <a:ext cx="910064" cy="583974"/>
            <a:chOff x="1285803" y="4703013"/>
            <a:chExt cx="910064" cy="583974"/>
          </a:xfrm>
        </p:grpSpPr>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FED87DA-F0F6-445E-9428-FF24713F76D2}"/>
                    </a:ext>
                  </a:extLst>
                </p:cNvPr>
                <p:cNvSpPr txBox="1"/>
                <p:nvPr/>
              </p:nvSpPr>
              <p:spPr>
                <a:xfrm>
                  <a:off x="1285803" y="5009988"/>
                  <a:ext cx="910064" cy="276999"/>
                </a:xfrm>
                <a:prstGeom prst="rect">
                  <a:avLst/>
                </a:prstGeom>
                <a:noFill/>
                <a:ln w="19050">
                  <a:solidFill>
                    <a:srgbClr val="0070C0"/>
                  </a:solidFill>
                </a:ln>
              </p:spPr>
              <p:txBody>
                <a:bodyPr wrap="square">
                  <a:spAutoFit/>
                </a:bodyPr>
                <a:lstStyle/>
                <a:p>
                  <a:pPr>
                    <a:tabLst>
                      <a:tab pos="457200" algn="l"/>
                      <a:tab pos="914400" algn="l"/>
                      <a:tab pos="1371600" algn="l"/>
                    </a:tabLst>
                    <a:defRPr/>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cs typeface="Times New Roman" pitchFamily="18" charset="0"/>
                          </a:rPr>
                          <m:t>𝑀𝑅</m:t>
                        </m:r>
                        <m:r>
                          <a:rPr lang="en-US" sz="1200" b="0" i="1" smtClean="0">
                            <a:latin typeface="Cambria Math" panose="02040503050406030204" pitchFamily="18" charset="0"/>
                            <a:cs typeface="Times New Roman" pitchFamily="18" charset="0"/>
                          </a:rPr>
                          <m:t>=</m:t>
                        </m:r>
                        <m:r>
                          <a:rPr lang="en-US" sz="1200" b="0" i="1" smtClean="0">
                            <a:latin typeface="Cambria Math" panose="02040503050406030204" pitchFamily="18" charset="0"/>
                            <a:cs typeface="Times New Roman" pitchFamily="18" charset="0"/>
                          </a:rPr>
                          <m:t>𝑀𝐶</m:t>
                        </m:r>
                      </m:oMath>
                    </m:oMathPara>
                  </a14:m>
                  <a:endParaRPr lang="en-US" sz="1200" b="0" dirty="0">
                    <a:cs typeface="Times New Roman" pitchFamily="18" charset="0"/>
                  </a:endParaRPr>
                </a:p>
              </p:txBody>
            </p:sp>
          </mc:Choice>
          <mc:Fallback xmlns="">
            <p:sp>
              <p:nvSpPr>
                <p:cNvPr id="37" name="TextBox 36">
                  <a:extLst>
                    <a:ext uri="{FF2B5EF4-FFF2-40B4-BE49-F238E27FC236}">
                      <a16:creationId xmlns:a16="http://schemas.microsoft.com/office/drawing/2014/main" id="{EFED87DA-F0F6-445E-9428-FF24713F76D2}"/>
                    </a:ext>
                  </a:extLst>
                </p:cNvPr>
                <p:cNvSpPr txBox="1">
                  <a:spLocks noRot="1" noChangeAspect="1" noMove="1" noResize="1" noEditPoints="1" noAdjustHandles="1" noChangeArrowheads="1" noChangeShapeType="1" noTextEdit="1"/>
                </p:cNvSpPr>
                <p:nvPr/>
              </p:nvSpPr>
              <p:spPr>
                <a:xfrm>
                  <a:off x="1285803" y="5009988"/>
                  <a:ext cx="910064" cy="276999"/>
                </a:xfrm>
                <a:prstGeom prst="rect">
                  <a:avLst/>
                </a:prstGeom>
                <a:blipFill>
                  <a:blip r:embed="rId5"/>
                  <a:stretch>
                    <a:fillRect/>
                  </a:stretch>
                </a:blipFill>
                <a:ln w="19050">
                  <a:solidFill>
                    <a:srgbClr val="0070C0"/>
                  </a:solidFill>
                </a:ln>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17F04664-A0BA-4E91-964A-2AEE29FAA550}"/>
                </a:ext>
              </a:extLst>
            </p:cNvPr>
            <p:cNvCxnSpPr>
              <a:cxnSpLocks/>
            </p:cNvCxnSpPr>
            <p:nvPr/>
          </p:nvCxnSpPr>
          <p:spPr>
            <a:xfrm flipV="1">
              <a:off x="1884526" y="4703013"/>
              <a:ext cx="311341" cy="3069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4" name="TextBox 3">
            <a:extLst>
              <a:ext uri="{FF2B5EF4-FFF2-40B4-BE49-F238E27FC236}">
                <a16:creationId xmlns:a16="http://schemas.microsoft.com/office/drawing/2014/main" id="{66C1B056-70BE-4C05-BB06-8DA60B4A5A60}"/>
              </a:ext>
            </a:extLst>
          </p:cNvPr>
          <p:cNvSpPr txBox="1"/>
          <p:nvPr/>
        </p:nvSpPr>
        <p:spPr>
          <a:xfrm>
            <a:off x="3945936" y="2913895"/>
            <a:ext cx="3693289" cy="646331"/>
          </a:xfrm>
          <a:prstGeom prst="rect">
            <a:avLst/>
          </a:prstGeom>
          <a:noFill/>
        </p:spPr>
        <p:txBody>
          <a:bodyPr wrap="square" rtlCol="0">
            <a:spAutoFit/>
          </a:bodyPr>
          <a:lstStyle/>
          <a:p>
            <a:r>
              <a:rPr lang="en-US" dirty="0"/>
              <a:t>(Estimated demand curve)</a:t>
            </a:r>
          </a:p>
          <a:p>
            <a:r>
              <a:rPr lang="en-US" dirty="0">
                <a:solidFill>
                  <a:srgbClr val="C00000"/>
                </a:solidFill>
              </a:rPr>
              <a:t>(inverse demand </a:t>
            </a:r>
            <a:r>
              <a:rPr lang="en-US" dirty="0">
                <a:solidFill>
                  <a:srgbClr val="C00000"/>
                </a:solidFill>
                <a:sym typeface="Wingdings" panose="05000000000000000000" pitchFamily="2" charset="2"/>
              </a:rPr>
              <a:t> what we plot)</a:t>
            </a:r>
            <a:endParaRPr lang="en-US" dirty="0">
              <a:solidFill>
                <a:srgbClr val="C00000"/>
              </a:solidFill>
            </a:endParaRPr>
          </a:p>
        </p:txBody>
      </p:sp>
      <p:sp>
        <p:nvSpPr>
          <p:cNvPr id="38" name="TextBox 37">
            <a:extLst>
              <a:ext uri="{FF2B5EF4-FFF2-40B4-BE49-F238E27FC236}">
                <a16:creationId xmlns:a16="http://schemas.microsoft.com/office/drawing/2014/main" id="{2CBDD972-B0E4-4CD9-816A-C69803BB0734}"/>
              </a:ext>
            </a:extLst>
          </p:cNvPr>
          <p:cNvSpPr txBox="1"/>
          <p:nvPr/>
        </p:nvSpPr>
        <p:spPr>
          <a:xfrm>
            <a:off x="3665670" y="3829702"/>
            <a:ext cx="3693289" cy="646331"/>
          </a:xfrm>
          <a:prstGeom prst="rect">
            <a:avLst/>
          </a:prstGeom>
          <a:noFill/>
        </p:spPr>
        <p:txBody>
          <a:bodyPr wrap="square" rtlCol="0">
            <a:spAutoFit/>
          </a:bodyPr>
          <a:lstStyle/>
          <a:p>
            <a:r>
              <a:rPr lang="en-US" dirty="0">
                <a:solidFill>
                  <a:srgbClr val="0070C0"/>
                </a:solidFill>
              </a:rPr>
              <a:t>MR is derived from the (inverse) demand curve</a:t>
            </a:r>
          </a:p>
        </p:txBody>
      </p:sp>
    </p:spTree>
    <p:extLst>
      <p:ext uri="{BB962C8B-B14F-4D97-AF65-F5344CB8AC3E}">
        <p14:creationId xmlns:p14="http://schemas.microsoft.com/office/powerpoint/2010/main" val="1109544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xEl>
                                              <p:pRg st="0" end="0"/>
                                            </p:txEl>
                                          </p:spTgt>
                                        </p:tgtEl>
                                        <p:attrNameLst>
                                          <p:attrName>style.visibility</p:attrName>
                                        </p:attrNameLst>
                                      </p:cBhvr>
                                      <p:to>
                                        <p:strVal val="visible"/>
                                      </p:to>
                                    </p:set>
                                    <p:anim calcmode="lin" valueType="num">
                                      <p:cBhvr additive="base">
                                        <p:cTn id="19" dur="500" fill="hold"/>
                                        <p:tgtEl>
                                          <p:spTgt spid="35">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5">
                                            <p:txEl>
                                              <p:pRg st="1" end="1"/>
                                            </p:txEl>
                                          </p:spTgt>
                                        </p:tgtEl>
                                        <p:attrNameLst>
                                          <p:attrName>style.visibility</p:attrName>
                                        </p:attrNameLst>
                                      </p:cBhvr>
                                      <p:to>
                                        <p:strVal val="visible"/>
                                      </p:to>
                                    </p:set>
                                    <p:anim calcmode="lin" valueType="num">
                                      <p:cBhvr additive="base">
                                        <p:cTn id="25" dur="500" fill="hold"/>
                                        <p:tgtEl>
                                          <p:spTgt spid="35">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
                                            <p:txEl>
                                              <p:pRg st="1" end="1"/>
                                            </p:txEl>
                                          </p:spTgt>
                                        </p:tgtEl>
                                        <p:attrNameLst>
                                          <p:attrName>ppt_y</p:attrName>
                                        </p:attrNameLst>
                                      </p:cBhvr>
                                      <p:tavLst>
                                        <p:tav tm="0">
                                          <p:val>
                                            <p:strVal val="1+#ppt_h/2"/>
                                          </p:val>
                                        </p:tav>
                                        <p:tav tm="100000">
                                          <p:val>
                                            <p:strVal val="#ppt_y"/>
                                          </p:val>
                                        </p:tav>
                                      </p:tavLst>
                                    </p:anim>
                                  </p:childTnLst>
                                </p:cTn>
                              </p:par>
                              <p:par>
                                <p:cTn id="27" presetID="1" presetClass="entr" presetSubtype="0"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31" presetClass="entr" presetSubtype="0" fill="hold" nodeType="clickEffect">
                                  <p:stCondLst>
                                    <p:cond delay="0"/>
                                  </p:stCondLst>
                                  <p:childTnLst>
                                    <p:set>
                                      <p:cBhvr>
                                        <p:cTn id="54" dur="1" fill="hold">
                                          <p:stCondLst>
                                            <p:cond delay="0"/>
                                          </p:stCondLst>
                                        </p:cTn>
                                        <p:tgtEl>
                                          <p:spTgt spid="9"/>
                                        </p:tgtEl>
                                        <p:attrNameLst>
                                          <p:attrName>style.visibility</p:attrName>
                                        </p:attrNameLst>
                                      </p:cBhvr>
                                      <p:to>
                                        <p:strVal val="visible"/>
                                      </p:to>
                                    </p:set>
                                    <p:anim calcmode="lin" valueType="num">
                                      <p:cBhvr>
                                        <p:cTn id="55" dur="1000" fill="hold"/>
                                        <p:tgtEl>
                                          <p:spTgt spid="9"/>
                                        </p:tgtEl>
                                        <p:attrNameLst>
                                          <p:attrName>ppt_w</p:attrName>
                                        </p:attrNameLst>
                                      </p:cBhvr>
                                      <p:tavLst>
                                        <p:tav tm="0">
                                          <p:val>
                                            <p:fltVal val="0"/>
                                          </p:val>
                                        </p:tav>
                                        <p:tav tm="100000">
                                          <p:val>
                                            <p:strVal val="#ppt_w"/>
                                          </p:val>
                                        </p:tav>
                                      </p:tavLst>
                                    </p:anim>
                                    <p:anim calcmode="lin" valueType="num">
                                      <p:cBhvr>
                                        <p:cTn id="56" dur="1000" fill="hold"/>
                                        <p:tgtEl>
                                          <p:spTgt spid="9"/>
                                        </p:tgtEl>
                                        <p:attrNameLst>
                                          <p:attrName>ppt_h</p:attrName>
                                        </p:attrNameLst>
                                      </p:cBhvr>
                                      <p:tavLst>
                                        <p:tav tm="0">
                                          <p:val>
                                            <p:fltVal val="0"/>
                                          </p:val>
                                        </p:tav>
                                        <p:tav tm="100000">
                                          <p:val>
                                            <p:strVal val="#ppt_h"/>
                                          </p:val>
                                        </p:tav>
                                      </p:tavLst>
                                    </p:anim>
                                    <p:anim calcmode="lin" valueType="num">
                                      <p:cBhvr>
                                        <p:cTn id="57" dur="1000" fill="hold"/>
                                        <p:tgtEl>
                                          <p:spTgt spid="9"/>
                                        </p:tgtEl>
                                        <p:attrNameLst>
                                          <p:attrName>style.rotation</p:attrName>
                                        </p:attrNameLst>
                                      </p:cBhvr>
                                      <p:tavLst>
                                        <p:tav tm="0">
                                          <p:val>
                                            <p:fltVal val="90"/>
                                          </p:val>
                                        </p:tav>
                                        <p:tav tm="100000">
                                          <p:val>
                                            <p:fltVal val="0"/>
                                          </p:val>
                                        </p:tav>
                                      </p:tavLst>
                                    </p:anim>
                                    <p:animEffect transition="in" filter="fade">
                                      <p:cBhvr>
                                        <p:cTn id="58"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F2164-6BAF-47AD-9B4E-C071264EA18C}"/>
              </a:ext>
            </a:extLst>
          </p:cNvPr>
          <p:cNvSpPr>
            <a:spLocks noGrp="1"/>
          </p:cNvSpPr>
          <p:nvPr>
            <p:ph type="title"/>
          </p:nvPr>
        </p:nvSpPr>
        <p:spPr/>
        <p:txBody>
          <a:bodyPr/>
          <a:lstStyle/>
          <a:p>
            <a:r>
              <a:rPr lang="fr-FR" dirty="0"/>
              <a:t>Profit </a:t>
            </a:r>
            <a:r>
              <a:rPr lang="fr-FR" dirty="0" err="1"/>
              <a:t>maximization</a:t>
            </a:r>
            <a:r>
              <a:rPr lang="fr-FR"/>
              <a:t> Of </a:t>
            </a:r>
            <a:r>
              <a:rPr lang="fr-FR" dirty="0"/>
              <a:t>a Restaurant</a:t>
            </a:r>
            <a:endParaRPr lang="en-US" dirty="0"/>
          </a:p>
        </p:txBody>
      </p:sp>
      <p:pic>
        <p:nvPicPr>
          <p:cNvPr id="8" name="Picture 7">
            <a:extLst>
              <a:ext uri="{FF2B5EF4-FFF2-40B4-BE49-F238E27FC236}">
                <a16:creationId xmlns:a16="http://schemas.microsoft.com/office/drawing/2014/main" id="{BE96C30D-E9D0-4C52-BE0C-80ECBB08D56D}"/>
              </a:ext>
            </a:extLst>
          </p:cNvPr>
          <p:cNvPicPr>
            <a:picLocks noChangeAspect="1"/>
          </p:cNvPicPr>
          <p:nvPr/>
        </p:nvPicPr>
        <p:blipFill>
          <a:blip r:embed="rId3"/>
          <a:stretch>
            <a:fillRect/>
          </a:stretch>
        </p:blipFill>
        <p:spPr>
          <a:xfrm>
            <a:off x="1180214" y="1270215"/>
            <a:ext cx="6868632" cy="4123340"/>
          </a:xfrm>
          <a:prstGeom prst="rect">
            <a:avLst/>
          </a:prstGeom>
        </p:spPr>
      </p:pic>
      <p:grpSp>
        <p:nvGrpSpPr>
          <p:cNvPr id="9" name="Group 8">
            <a:extLst>
              <a:ext uri="{FF2B5EF4-FFF2-40B4-BE49-F238E27FC236}">
                <a16:creationId xmlns:a16="http://schemas.microsoft.com/office/drawing/2014/main" id="{71C4DEF1-6B03-4DFB-ADA1-7EC6C74A1DBC}"/>
              </a:ext>
            </a:extLst>
          </p:cNvPr>
          <p:cNvGrpSpPr/>
          <p:nvPr/>
        </p:nvGrpSpPr>
        <p:grpSpPr>
          <a:xfrm>
            <a:off x="4812723" y="5818421"/>
            <a:ext cx="3076636" cy="566487"/>
            <a:chOff x="62403" y="6168852"/>
            <a:chExt cx="2911737" cy="566487"/>
          </a:xfrm>
        </p:grpSpPr>
        <p:sp>
          <p:nvSpPr>
            <p:cNvPr id="10" name="Rectangle 3">
              <a:extLst>
                <a:ext uri="{FF2B5EF4-FFF2-40B4-BE49-F238E27FC236}">
                  <a16:creationId xmlns:a16="http://schemas.microsoft.com/office/drawing/2014/main" id="{73DB8FFC-422F-4F60-8BC8-14B072600D47}"/>
                </a:ext>
              </a:extLst>
            </p:cNvPr>
            <p:cNvSpPr txBox="1">
              <a:spLocks noChangeArrowheads="1"/>
            </p:cNvSpPr>
            <p:nvPr/>
          </p:nvSpPr>
          <p:spPr>
            <a:xfrm>
              <a:off x="62403" y="6168852"/>
              <a:ext cx="2911737" cy="566487"/>
            </a:xfrm>
            <a:prstGeom prst="rect">
              <a:avLst/>
            </a:prstGeom>
            <a:gradFill>
              <a:gsLst>
                <a:gs pos="44000">
                  <a:schemeClr val="bg1">
                    <a:lumMod val="85000"/>
                  </a:schemeClr>
                </a:gs>
                <a:gs pos="0">
                  <a:schemeClr val="tx1">
                    <a:lumMod val="65000"/>
                    <a:lumOff val="35000"/>
                  </a:schemeClr>
                </a:gs>
                <a:gs pos="100000">
                  <a:schemeClr val="tx1">
                    <a:lumMod val="50000"/>
                    <a:lumOff val="50000"/>
                  </a:schemeClr>
                </a:gs>
              </a:gsLst>
              <a:lin ang="5400000" scaled="1"/>
            </a:gradFill>
            <a:ln w="15875">
              <a:noFill/>
            </a:ln>
            <a:effectLst>
              <a:outerShdw blurRad="50800" dist="38100" dir="2700000" algn="tl" rotWithShape="0">
                <a:prstClr val="black">
                  <a:alpha val="40000"/>
                </a:prstClr>
              </a:outerShdw>
              <a:softEdge rad="50800"/>
            </a:effectLst>
          </p:spPr>
          <p:txBody>
            <a:bodyPr vert="horz" lIns="92069" tIns="46035" rIns="92069" bIns="46035" rtlCol="0" anchor="ctr">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600"/>
                </a:spcBef>
                <a:spcAft>
                  <a:spcPts val="563"/>
                </a:spcAft>
                <a:buNone/>
              </a:pPr>
              <a:r>
                <a:rPr lang="en-US" sz="2400" dirty="0">
                  <a:cs typeface="Times New Roman" pitchFamily="18" charset="0"/>
                </a:rPr>
                <a:t>        </a:t>
              </a:r>
              <a:r>
                <a:rPr lang="en-US" sz="2400" dirty="0">
                  <a:ln>
                    <a:solidFill>
                      <a:schemeClr val="bg1">
                        <a:lumMod val="50000"/>
                      </a:schemeClr>
                    </a:solidFill>
                  </a:ln>
                  <a:solidFill>
                    <a:schemeClr val="tx1"/>
                  </a:solidFill>
                  <a:latin typeface="Calibri" panose="020F0502020204030204" pitchFamily="34" charset="0"/>
                  <a:cs typeface="Calibri" panose="020F0502020204030204" pitchFamily="34" charset="0"/>
                </a:rPr>
                <a:t>Practice Video! </a:t>
              </a:r>
            </a:p>
          </p:txBody>
        </p:sp>
        <p:sp>
          <p:nvSpPr>
            <p:cNvPr id="11" name="Right Arrow 1">
              <a:extLst>
                <a:ext uri="{FF2B5EF4-FFF2-40B4-BE49-F238E27FC236}">
                  <a16:creationId xmlns:a16="http://schemas.microsoft.com/office/drawing/2014/main" id="{9B55FF8C-1181-4718-81DD-3B5ECEBC6421}"/>
                </a:ext>
              </a:extLst>
            </p:cNvPr>
            <p:cNvSpPr/>
            <p:nvPr/>
          </p:nvSpPr>
          <p:spPr>
            <a:xfrm>
              <a:off x="208445" y="6315750"/>
              <a:ext cx="373445" cy="301998"/>
            </a:xfrm>
            <a:prstGeom prst="rightArrow">
              <a:avLst/>
            </a:prstGeom>
            <a:solidFill>
              <a:schemeClr val="accent2"/>
            </a:solidFill>
            <a:effectLst>
              <a:outerShdw blurRad="40000" dist="23000" dir="5400000" rotWithShape="0">
                <a:srgbClr val="000000">
                  <a:alpha val="35000"/>
                </a:srgbClr>
              </a:outerShdw>
              <a:softEdge rad="254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182230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style.rotation</p:attrName>
                                        </p:attrNameLst>
                                      </p:cBhvr>
                                      <p:tavLst>
                                        <p:tav tm="0">
                                          <p:val>
                                            <p:fltVal val="90"/>
                                          </p:val>
                                        </p:tav>
                                        <p:tav tm="100000">
                                          <p:val>
                                            <p:fltVal val="0"/>
                                          </p:val>
                                        </p:tav>
                                      </p:tavLst>
                                    </p:anim>
                                    <p:animEffect transition="in" filter="fade">
                                      <p:cBhvr>
                                        <p:cTn id="10"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F2164-6BAF-47AD-9B4E-C071264EA18C}"/>
              </a:ext>
            </a:extLst>
          </p:cNvPr>
          <p:cNvSpPr>
            <a:spLocks noGrp="1"/>
          </p:cNvSpPr>
          <p:nvPr>
            <p:ph type="title"/>
          </p:nvPr>
        </p:nvSpPr>
        <p:spPr/>
        <p:txBody>
          <a:bodyPr>
            <a:normAutofit fontScale="90000"/>
          </a:bodyPr>
          <a:lstStyle/>
          <a:p>
            <a:r>
              <a:rPr lang="fr-FR" dirty="0"/>
              <a:t>This </a:t>
            </a:r>
            <a:r>
              <a:rPr lang="fr-FR" dirty="0" err="1"/>
              <a:t>is</a:t>
            </a:r>
            <a:r>
              <a:rPr lang="fr-FR" dirty="0"/>
              <a:t> </a:t>
            </a:r>
            <a:r>
              <a:rPr lang="fr-FR" dirty="0" err="1"/>
              <a:t>from</a:t>
            </a:r>
            <a:r>
              <a:rPr lang="fr-FR" dirty="0"/>
              <a:t> the </a:t>
            </a:r>
            <a:r>
              <a:rPr lang="fr-FR" b="1" dirty="0"/>
              <a:t>Practice </a:t>
            </a:r>
            <a:r>
              <a:rPr lang="fr-FR" b="1" dirty="0" err="1"/>
              <a:t>Video</a:t>
            </a:r>
            <a:r>
              <a:rPr lang="fr-FR" dirty="0"/>
              <a:t>: </a:t>
            </a:r>
            <a:br>
              <a:rPr lang="fr-FR" dirty="0"/>
            </a:br>
            <a:r>
              <a:rPr lang="fr-FR" dirty="0"/>
              <a:t>Profit </a:t>
            </a:r>
            <a:r>
              <a:rPr lang="fr-FR" dirty="0" err="1"/>
              <a:t>maximization</a:t>
            </a:r>
            <a:r>
              <a:rPr lang="fr-FR" dirty="0"/>
              <a:t> for a Restaurant</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32DFC51-1E88-4A82-BF4A-BB16409470E4}"/>
                  </a:ext>
                </a:extLst>
              </p:cNvPr>
              <p:cNvSpPr>
                <a:spLocks noGrp="1"/>
              </p:cNvSpPr>
              <p:nvPr>
                <p:ph type="body" idx="1"/>
              </p:nvPr>
            </p:nvSpPr>
            <p:spPr>
              <a:xfrm>
                <a:off x="387900" y="1863277"/>
                <a:ext cx="8520600" cy="4228556"/>
              </a:xfrm>
            </p:spPr>
            <p:txBody>
              <a:bodyPr>
                <a:normAutofit fontScale="92500" lnSpcReduction="20000"/>
              </a:bodyPr>
              <a:lstStyle/>
              <a:p>
                <a:endParaRPr lang="fr-FR" dirty="0"/>
              </a:p>
              <a:p>
                <a:r>
                  <a:rPr lang="fr-FR" dirty="0"/>
                  <a:t>The restaurant </a:t>
                </a:r>
                <a:r>
                  <a:rPr lang="fr-FR" dirty="0" err="1"/>
                  <a:t>demand</a:t>
                </a:r>
                <a:r>
                  <a:rPr lang="fr-FR" dirty="0"/>
                  <a:t> (on a </a:t>
                </a:r>
                <a:r>
                  <a:rPr lang="fr-FR" dirty="0" err="1"/>
                  <a:t>daily</a:t>
                </a:r>
                <a:r>
                  <a:rPr lang="fr-FR" dirty="0"/>
                  <a:t> basis) </a:t>
                </a:r>
                <a:r>
                  <a:rPr lang="fr-FR" dirty="0" err="1"/>
                  <a:t>is</a:t>
                </a:r>
                <a:r>
                  <a:rPr lang="fr-FR" dirty="0"/>
                  <a:t>:</a:t>
                </a:r>
                <a:endParaRPr lang="en-US"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𝑃</m:t>
                      </m:r>
                      <m:r>
                        <a:rPr lang="en-US">
                          <a:latin typeface="Cambria Math" panose="02040503050406030204" pitchFamily="18" charset="0"/>
                        </a:rPr>
                        <m:t>=</m:t>
                      </m:r>
                      <m:r>
                        <a:rPr lang="en-US" i="1">
                          <a:latin typeface="Cambria Math" panose="02040503050406030204" pitchFamily="18" charset="0"/>
                        </a:rPr>
                        <m:t>60−0.1</m:t>
                      </m:r>
                      <m:r>
                        <a:rPr lang="en-US" i="1">
                          <a:latin typeface="Cambria Math" panose="02040503050406030204" pitchFamily="18" charset="0"/>
                        </a:rPr>
                        <m:t>𝑄</m:t>
                      </m:r>
                    </m:oMath>
                  </m:oMathPara>
                </a14:m>
                <a:endParaRPr lang="en-US" dirty="0"/>
              </a:p>
              <a:p>
                <a:r>
                  <a:rPr lang="fr-FR" dirty="0"/>
                  <a:t>The total </a:t>
                </a:r>
                <a:r>
                  <a:rPr lang="fr-FR" dirty="0" err="1"/>
                  <a:t>cost</a:t>
                </a:r>
                <a:r>
                  <a:rPr lang="fr-FR" dirty="0"/>
                  <a:t> </a:t>
                </a:r>
                <a:r>
                  <a:rPr lang="fr-FR" dirty="0" err="1"/>
                  <a:t>is</a:t>
                </a:r>
                <a:r>
                  <a:rPr lang="fr-FR" dirty="0"/>
                  <a:t> (</a:t>
                </a:r>
                <a:r>
                  <a:rPr lang="fr-FR" dirty="0" err="1"/>
                  <a:t>also</a:t>
                </a:r>
                <a:r>
                  <a:rPr lang="fr-FR" dirty="0"/>
                  <a:t> </a:t>
                </a:r>
                <a:r>
                  <a:rPr lang="fr-FR" dirty="0" err="1"/>
                  <a:t>daily</a:t>
                </a:r>
                <a:r>
                  <a:rPr lang="fr-FR" dirty="0"/>
                  <a:t>; </a:t>
                </a:r>
                <a:r>
                  <a:rPr lang="fr-FR" dirty="0" err="1"/>
                  <a:t>rent</a:t>
                </a:r>
                <a:r>
                  <a:rPr lang="fr-FR" dirty="0"/>
                  <a:t> not </a:t>
                </a:r>
                <a:r>
                  <a:rPr lang="fr-FR" dirty="0" err="1"/>
                  <a:t>yet</a:t>
                </a:r>
                <a:r>
                  <a:rPr lang="fr-FR" dirty="0"/>
                  <a:t> </a:t>
                </a:r>
                <a:r>
                  <a:rPr lang="fr-FR" dirty="0" err="1"/>
                  <a:t>included</a:t>
                </a:r>
                <a:r>
                  <a:rPr lang="fr-FR" dirty="0"/>
                  <a:t>): </a:t>
                </a:r>
              </a:p>
              <a:p>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fr-FR" i="1" dirty="0" smtClean="0">
                          <a:latin typeface="Cambria Math" panose="02040503050406030204" pitchFamily="18" charset="0"/>
                        </a:rPr>
                        <m:t>𝑇𝐶</m:t>
                      </m:r>
                      <m:r>
                        <a:rPr lang="fr-FR" i="1" dirty="0" smtClean="0">
                          <a:latin typeface="Cambria Math" panose="02040503050406030204" pitchFamily="18" charset="0"/>
                        </a:rPr>
                        <m:t>=2,000+10</m:t>
                      </m:r>
                      <m:r>
                        <a:rPr lang="en-US" b="0" i="1" dirty="0" smtClean="0">
                          <a:latin typeface="Cambria Math" panose="02040503050406030204" pitchFamily="18" charset="0"/>
                        </a:rPr>
                        <m:t>𝑄</m:t>
                      </m:r>
                      <m:r>
                        <a:rPr lang="en-US" b="0" i="1" dirty="0" smtClean="0">
                          <a:latin typeface="Cambria Math" panose="02040503050406030204" pitchFamily="18" charset="0"/>
                        </a:rPr>
                        <m:t>+0.15</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𝑄</m:t>
                          </m:r>
                        </m:e>
                        <m:sup>
                          <m:r>
                            <a:rPr lang="en-US" b="0" i="1" dirty="0" smtClean="0">
                              <a:latin typeface="Cambria Math" panose="02040503050406030204" pitchFamily="18" charset="0"/>
                            </a:rPr>
                            <m:t>2</m:t>
                          </m:r>
                        </m:sup>
                      </m:sSup>
                    </m:oMath>
                  </m:oMathPara>
                </a14:m>
                <a:endParaRPr lang="en-US" dirty="0"/>
              </a:p>
              <a:p>
                <a:endParaRPr lang="fr-FR" dirty="0"/>
              </a:p>
              <a:p>
                <a:r>
                  <a:rPr lang="fr-FR" dirty="0"/>
                  <a:t>W</a:t>
                </a:r>
                <a:r>
                  <a:rPr lang="en-US" dirty="0"/>
                  <a:t>hat is </a:t>
                </a:r>
                <a:r>
                  <a:rPr lang="en-US" i="1" dirty="0"/>
                  <a:t>P*</a:t>
                </a:r>
                <a:r>
                  <a:rPr lang="en-US" dirty="0"/>
                  <a:t> and </a:t>
                </a:r>
                <a:r>
                  <a:rPr lang="en-US" i="1" dirty="0"/>
                  <a:t>Q*</a:t>
                </a:r>
                <a:r>
                  <a:rPr lang="en-US" dirty="0"/>
                  <a:t>? </a:t>
                </a:r>
              </a:p>
              <a:p>
                <a:r>
                  <a:rPr lang="fr-FR" dirty="0"/>
                  <a:t>S</a:t>
                </a:r>
                <a:r>
                  <a:rPr lang="en-US" dirty="0" err="1"/>
                  <a:t>teps</a:t>
                </a:r>
                <a:endParaRPr lang="en-US" dirty="0"/>
              </a:p>
              <a:p>
                <a:pPr marL="971550" lvl="1" indent="-571500">
                  <a:buFont typeface="+mj-lt"/>
                  <a:buAutoNum type="romanLcPeriod"/>
                </a:pPr>
                <a:r>
                  <a:rPr lang="fr-FR" dirty="0"/>
                  <a:t>C</a:t>
                </a:r>
                <a:r>
                  <a:rPr lang="en-US" dirty="0" err="1"/>
                  <a:t>ompute</a:t>
                </a:r>
                <a:r>
                  <a:rPr lang="en-US" dirty="0"/>
                  <a:t> </a:t>
                </a:r>
                <a:r>
                  <a:rPr lang="en-US" i="1" dirty="0"/>
                  <a:t>MR</a:t>
                </a:r>
                <a:r>
                  <a:rPr lang="en-US" dirty="0"/>
                  <a:t> </a:t>
                </a:r>
              </a:p>
              <a:p>
                <a:pPr marL="971550" lvl="1" indent="-571500">
                  <a:buFont typeface="+mj-lt"/>
                  <a:buAutoNum type="romanLcPeriod"/>
                </a:pPr>
                <a:r>
                  <a:rPr lang="en-US" dirty="0"/>
                  <a:t>Compute </a:t>
                </a:r>
                <a:r>
                  <a:rPr lang="en-US" i="1" dirty="0"/>
                  <a:t>MC</a:t>
                </a:r>
              </a:p>
              <a:p>
                <a:pPr marL="971550" lvl="1" indent="-571500">
                  <a:buFont typeface="+mj-lt"/>
                  <a:buAutoNum type="romanLcPeriod"/>
                </a:pPr>
                <a:r>
                  <a:rPr lang="fr-FR" dirty="0"/>
                  <a:t>S</a:t>
                </a:r>
                <a:r>
                  <a:rPr lang="en-US" dirty="0"/>
                  <a:t>et </a:t>
                </a:r>
                <a:r>
                  <a:rPr lang="en-US" i="1" dirty="0"/>
                  <a:t>MR=MC</a:t>
                </a:r>
                <a:r>
                  <a:rPr lang="en-US" dirty="0"/>
                  <a:t> </a:t>
                </a:r>
                <a:r>
                  <a:rPr lang="en-US" dirty="0">
                    <a:sym typeface="Wingdings" panose="05000000000000000000" pitchFamily="2" charset="2"/>
                  </a:rPr>
                  <a:t> </a:t>
                </a:r>
                <a:r>
                  <a:rPr lang="en-US" i="1" dirty="0">
                    <a:sym typeface="Wingdings" panose="05000000000000000000" pitchFamily="2" charset="2"/>
                  </a:rPr>
                  <a:t>Q*</a:t>
                </a:r>
                <a:r>
                  <a:rPr lang="en-US" dirty="0">
                    <a:sym typeface="Wingdings" panose="05000000000000000000" pitchFamily="2" charset="2"/>
                  </a:rPr>
                  <a:t>  </a:t>
                </a:r>
                <a:r>
                  <a:rPr lang="en-US" i="1" dirty="0">
                    <a:sym typeface="Wingdings" panose="05000000000000000000" pitchFamily="2" charset="2"/>
                  </a:rPr>
                  <a:t>P*</a:t>
                </a:r>
              </a:p>
              <a:p>
                <a:pPr marL="0" indent="0">
                  <a:buNone/>
                </a:pPr>
                <a:endParaRPr lang="en-US" dirty="0"/>
              </a:p>
            </p:txBody>
          </p:sp>
        </mc:Choice>
        <mc:Fallback>
          <p:sp>
            <p:nvSpPr>
              <p:cNvPr id="3" name="Content Placeholder 2">
                <a:extLst>
                  <a:ext uri="{FF2B5EF4-FFF2-40B4-BE49-F238E27FC236}">
                    <a16:creationId xmlns:a16="http://schemas.microsoft.com/office/drawing/2014/main" id="{C32DFC51-1E88-4A82-BF4A-BB16409470E4}"/>
                  </a:ext>
                </a:extLst>
              </p:cNvPr>
              <p:cNvSpPr>
                <a:spLocks noGrp="1" noRot="1" noChangeAspect="1" noMove="1" noResize="1" noEditPoints="1" noAdjustHandles="1" noChangeArrowheads="1" noChangeShapeType="1" noTextEdit="1"/>
              </p:cNvSpPr>
              <p:nvPr>
                <p:ph type="body" idx="1"/>
              </p:nvPr>
            </p:nvSpPr>
            <p:spPr>
              <a:xfrm>
                <a:off x="387900" y="1863277"/>
                <a:ext cx="8520600" cy="4228556"/>
              </a:xfrm>
              <a:blipFill>
                <a:blip r:embed="rId3"/>
                <a:stretch>
                  <a:fillRect/>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27FC37B8-5757-4EB5-8964-E63C5F1BFE31}"/>
              </a:ext>
            </a:extLst>
          </p:cNvPr>
          <p:cNvPicPr>
            <a:picLocks noChangeAspect="1"/>
          </p:cNvPicPr>
          <p:nvPr/>
        </p:nvPicPr>
        <p:blipFill>
          <a:blip r:embed="rId4"/>
          <a:stretch>
            <a:fillRect/>
          </a:stretch>
        </p:blipFill>
        <p:spPr>
          <a:xfrm>
            <a:off x="3105150" y="1270215"/>
            <a:ext cx="2933700" cy="593062"/>
          </a:xfrm>
          <a:prstGeom prst="rect">
            <a:avLst/>
          </a:prstGeom>
        </p:spPr>
      </p:pic>
      <p:grpSp>
        <p:nvGrpSpPr>
          <p:cNvPr id="11" name="Group 10">
            <a:extLst>
              <a:ext uri="{FF2B5EF4-FFF2-40B4-BE49-F238E27FC236}">
                <a16:creationId xmlns:a16="http://schemas.microsoft.com/office/drawing/2014/main" id="{AC64D028-DEB9-42E2-8483-9D42A370BFEB}"/>
              </a:ext>
            </a:extLst>
          </p:cNvPr>
          <p:cNvGrpSpPr/>
          <p:nvPr/>
        </p:nvGrpSpPr>
        <p:grpSpPr>
          <a:xfrm>
            <a:off x="5826959" y="4941153"/>
            <a:ext cx="3147816" cy="1311072"/>
            <a:chOff x="5980307" y="3793374"/>
            <a:chExt cx="3147816" cy="1311072"/>
          </a:xfrm>
        </p:grpSpPr>
        <p:sp>
          <p:nvSpPr>
            <p:cNvPr id="5" name="Line 3">
              <a:extLst>
                <a:ext uri="{FF2B5EF4-FFF2-40B4-BE49-F238E27FC236}">
                  <a16:creationId xmlns:a16="http://schemas.microsoft.com/office/drawing/2014/main" id="{C29DEF3D-DD2A-41DC-A7C2-E4F6E965A53A}"/>
                </a:ext>
              </a:extLst>
            </p:cNvPr>
            <p:cNvSpPr>
              <a:spLocks noChangeShapeType="1"/>
            </p:cNvSpPr>
            <p:nvPr/>
          </p:nvSpPr>
          <p:spPr bwMode="auto">
            <a:xfrm>
              <a:off x="6479023" y="3906261"/>
              <a:ext cx="0" cy="1005524"/>
            </a:xfrm>
            <a:prstGeom prst="line">
              <a:avLst/>
            </a:prstGeom>
            <a:noFill/>
            <a:ln w="44450">
              <a:solidFill>
                <a:schemeClr val="tx1"/>
              </a:solidFill>
              <a:round/>
              <a:headEnd type="arrow" w="sm" len="sm"/>
              <a:tailEnd type="none" w="sm" len="sm"/>
            </a:ln>
            <a:effectLst/>
          </p:spPr>
          <p:txBody>
            <a:bodyPr wrap="none" lIns="90217" tIns="45109" rIns="90217" bIns="45109" anchor="ctr"/>
            <a:lstStyle/>
            <a:p>
              <a:endParaRPr lang="en-US" sz="1688">
                <a:solidFill>
                  <a:schemeClr val="bg1"/>
                </a:solidFill>
                <a:latin typeface="Whitney-Book" pitchFamily="50" charset="0"/>
                <a:cs typeface="Whitney-Book" pitchFamily="50" charset="0"/>
              </a:endParaRPr>
            </a:p>
          </p:txBody>
        </p:sp>
        <p:sp>
          <p:nvSpPr>
            <p:cNvPr id="6" name="Line 4">
              <a:extLst>
                <a:ext uri="{FF2B5EF4-FFF2-40B4-BE49-F238E27FC236}">
                  <a16:creationId xmlns:a16="http://schemas.microsoft.com/office/drawing/2014/main" id="{5C5F3C12-516E-40D9-A960-ABC7B26D268C}"/>
                </a:ext>
              </a:extLst>
            </p:cNvPr>
            <p:cNvSpPr>
              <a:spLocks noChangeShapeType="1"/>
            </p:cNvSpPr>
            <p:nvPr/>
          </p:nvSpPr>
          <p:spPr bwMode="auto">
            <a:xfrm flipV="1">
              <a:off x="6479023" y="4929021"/>
              <a:ext cx="2145211" cy="0"/>
            </a:xfrm>
            <a:prstGeom prst="line">
              <a:avLst/>
            </a:prstGeom>
            <a:noFill/>
            <a:ln w="44450">
              <a:solidFill>
                <a:schemeClr val="tx1"/>
              </a:solidFill>
              <a:round/>
              <a:headEnd type="none" w="sm" len="sm"/>
              <a:tailEnd type="arrow" w="sm" len="sm"/>
            </a:ln>
            <a:effectLst/>
          </p:spPr>
          <p:txBody>
            <a:bodyPr wrap="none" lIns="90217" tIns="45109" rIns="90217" bIns="45109" anchor="ctr"/>
            <a:lstStyle/>
            <a:p>
              <a:endParaRPr lang="en-US" sz="1688">
                <a:solidFill>
                  <a:schemeClr val="bg1"/>
                </a:solidFill>
                <a:latin typeface="Whitney-Book" pitchFamily="50" charset="0"/>
                <a:cs typeface="Whitney-Book" pitchFamily="50" charset="0"/>
              </a:endParaRPr>
            </a:p>
          </p:txBody>
        </p:sp>
        <p:sp>
          <p:nvSpPr>
            <p:cNvPr id="7" name="Text Box 5">
              <a:extLst>
                <a:ext uri="{FF2B5EF4-FFF2-40B4-BE49-F238E27FC236}">
                  <a16:creationId xmlns:a16="http://schemas.microsoft.com/office/drawing/2014/main" id="{7D6E254F-3378-4D0F-B27A-D6B3FE463031}"/>
                </a:ext>
              </a:extLst>
            </p:cNvPr>
            <p:cNvSpPr txBox="1">
              <a:spLocks noChangeArrowheads="1"/>
            </p:cNvSpPr>
            <p:nvPr/>
          </p:nvSpPr>
          <p:spPr bwMode="auto">
            <a:xfrm>
              <a:off x="5980307" y="3793374"/>
              <a:ext cx="751562" cy="350850"/>
            </a:xfrm>
            <a:prstGeom prst="rect">
              <a:avLst/>
            </a:prstGeom>
            <a:noFill/>
            <a:ln w="12700">
              <a:noFill/>
              <a:miter lim="800000"/>
              <a:headEnd type="none" w="sm" len="sm"/>
              <a:tailEnd type="none" w="sm" len="sm"/>
            </a:ln>
            <a:effectLst/>
          </p:spPr>
          <p:txBody>
            <a:bodyPr lIns="90217" tIns="45109" rIns="90217" bIns="45109">
              <a:spAutoFit/>
            </a:bodyPr>
            <a:lstStyle/>
            <a:p>
              <a:pPr>
                <a:spcBef>
                  <a:spcPct val="50000"/>
                </a:spcBef>
              </a:pPr>
              <a:r>
                <a:rPr lang="en-US" sz="1688" i="1" dirty="0">
                  <a:latin typeface="Whitney-Book" pitchFamily="50" charset="0"/>
                  <a:cs typeface="Whitney-Book" pitchFamily="50" charset="0"/>
                </a:rPr>
                <a:t>TC</a:t>
              </a:r>
            </a:p>
          </p:txBody>
        </p:sp>
        <p:sp>
          <p:nvSpPr>
            <p:cNvPr id="8" name="Text Box 7">
              <a:extLst>
                <a:ext uri="{FF2B5EF4-FFF2-40B4-BE49-F238E27FC236}">
                  <a16:creationId xmlns:a16="http://schemas.microsoft.com/office/drawing/2014/main" id="{7B4B6BCB-7810-4F5B-91DA-2E8EAFADD9DB}"/>
                </a:ext>
              </a:extLst>
            </p:cNvPr>
            <p:cNvSpPr txBox="1">
              <a:spLocks noChangeArrowheads="1"/>
            </p:cNvSpPr>
            <p:nvPr/>
          </p:nvSpPr>
          <p:spPr bwMode="auto">
            <a:xfrm>
              <a:off x="8624234" y="4753596"/>
              <a:ext cx="503889" cy="350850"/>
            </a:xfrm>
            <a:prstGeom prst="rect">
              <a:avLst/>
            </a:prstGeom>
            <a:noFill/>
            <a:ln w="12700">
              <a:noFill/>
              <a:miter lim="800000"/>
              <a:headEnd type="none" w="sm" len="sm"/>
              <a:tailEnd type="none" w="sm" len="sm"/>
            </a:ln>
            <a:effectLst/>
          </p:spPr>
          <p:txBody>
            <a:bodyPr wrap="square" lIns="90217" tIns="45109" rIns="90217" bIns="45109">
              <a:spAutoFit/>
            </a:bodyPr>
            <a:lstStyle/>
            <a:p>
              <a:pPr>
                <a:spcBef>
                  <a:spcPct val="50000"/>
                </a:spcBef>
              </a:pPr>
              <a:r>
                <a:rPr lang="en-US" sz="1688" i="1" dirty="0">
                  <a:latin typeface="Whitney-Book" pitchFamily="50" charset="0"/>
                  <a:cs typeface="Whitney-Book" pitchFamily="50" charset="0"/>
                </a:rPr>
                <a:t>Q</a:t>
              </a:r>
            </a:p>
          </p:txBody>
        </p:sp>
      </p:grpSp>
      <p:sp>
        <p:nvSpPr>
          <p:cNvPr id="10" name="Arc 9">
            <a:extLst>
              <a:ext uri="{FF2B5EF4-FFF2-40B4-BE49-F238E27FC236}">
                <a16:creationId xmlns:a16="http://schemas.microsoft.com/office/drawing/2014/main" id="{927B2195-6B9D-463E-A461-AA24D4DC1129}"/>
              </a:ext>
            </a:extLst>
          </p:cNvPr>
          <p:cNvSpPr/>
          <p:nvPr/>
        </p:nvSpPr>
        <p:spPr>
          <a:xfrm rot="5400000">
            <a:off x="5787268" y="3338371"/>
            <a:ext cx="1076813" cy="3907264"/>
          </a:xfrm>
          <a:prstGeom prst="arc">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Rectangle 34">
            <a:extLst>
              <a:ext uri="{FF2B5EF4-FFF2-40B4-BE49-F238E27FC236}">
                <a16:creationId xmlns:a16="http://schemas.microsoft.com/office/drawing/2014/main" id="{C19C4549-2A24-4AE0-89E7-A7B23844E127}"/>
              </a:ext>
            </a:extLst>
          </p:cNvPr>
          <p:cNvSpPr>
            <a:spLocks noChangeArrowheads="1"/>
          </p:cNvSpPr>
          <p:nvPr/>
        </p:nvSpPr>
        <p:spPr bwMode="auto">
          <a:xfrm>
            <a:off x="52465" y="6433506"/>
            <a:ext cx="8856035" cy="353043"/>
          </a:xfrm>
          <a:prstGeom prst="rect">
            <a:avLst/>
          </a:prstGeom>
          <a:noFill/>
          <a:ln w="25400">
            <a:solidFill>
              <a:srgbClr val="C00000"/>
            </a:solidFill>
            <a:miter lim="800000"/>
            <a:headEnd/>
            <a:tailEnd/>
          </a:ln>
          <a:effectLst/>
        </p:spPr>
        <p:txBody>
          <a:bodyPr wrap="none" lIns="20048" tIns="28402" rIns="20048" bIns="28402" anchor="ctr" anchorCtr="0"/>
          <a:lstStyle/>
          <a:p>
            <a:pPr algn="ctr">
              <a:lnSpc>
                <a:spcPts val="2526"/>
              </a:lnSpc>
              <a:spcAft>
                <a:spcPts val="947"/>
              </a:spcAft>
              <a:tabLst>
                <a:tab pos="481157" algn="l"/>
                <a:tab pos="962315" algn="l"/>
                <a:tab pos="1443472" algn="l"/>
              </a:tabLst>
            </a:pPr>
            <a:r>
              <a:rPr lang="en-US" dirty="0">
                <a:solidFill>
                  <a:srgbClr val="C00000"/>
                </a:solidFill>
                <a:latin typeface="Whitney-Book" pitchFamily="50" charset="0"/>
                <a:cs typeface="Whitney-Book" pitchFamily="50" charset="0"/>
              </a:rPr>
              <a:t>In class, we will focus on the graphics/intuition. Watch the Practice Video for Exam Prep!</a:t>
            </a:r>
            <a:endParaRPr lang="en-US" b="0" dirty="0">
              <a:solidFill>
                <a:srgbClr val="C00000"/>
              </a:solidFill>
              <a:latin typeface="Whitney-Book" pitchFamily="50" charset="0"/>
              <a:cs typeface="Whitney-Book" pitchFamily="50" charset="0"/>
            </a:endParaRPr>
          </a:p>
        </p:txBody>
      </p:sp>
    </p:spTree>
    <p:extLst>
      <p:ext uri="{BB962C8B-B14F-4D97-AF65-F5344CB8AC3E}">
        <p14:creationId xmlns:p14="http://schemas.microsoft.com/office/powerpoint/2010/main" val="262653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Whitney-Medium" pitchFamily="50" charset="0"/>
                <a:cs typeface="Whitney-Medium" pitchFamily="50" charset="0"/>
              </a:rPr>
              <a:t>Illustration of the Practice Video Example: Profit Maximization</a:t>
            </a:r>
            <a:endParaRPr lang="en-US" dirty="0"/>
          </a:p>
        </p:txBody>
      </p:sp>
      <p:sp>
        <p:nvSpPr>
          <p:cNvPr id="3" name="Slide Number Placeholder 2"/>
          <p:cNvSpPr>
            <a:spLocks noGrp="1"/>
          </p:cNvSpPr>
          <p:nvPr>
            <p:ph type="sldNum" sz="quarter" idx="12"/>
          </p:nvPr>
        </p:nvSpPr>
        <p:spPr/>
        <p:txBody>
          <a:bodyPr/>
          <a:lstStyle/>
          <a:p>
            <a:fld id="{0F3206DB-9488-D04D-BDD1-A7C9D84C4579}" type="slidenum">
              <a:rPr lang="en-US" smtClean="0"/>
              <a:t>11</a:t>
            </a:fld>
            <a:endParaRPr lang="en-US"/>
          </a:p>
        </p:txBody>
      </p:sp>
      <p:pic>
        <p:nvPicPr>
          <p:cNvPr id="50" name="Picture 49">
            <a:extLst>
              <a:ext uri="{FF2B5EF4-FFF2-40B4-BE49-F238E27FC236}">
                <a16:creationId xmlns:a16="http://schemas.microsoft.com/office/drawing/2014/main" id="{8A7AF3EF-5D8E-40A7-9000-62A0F7FF01E3}"/>
              </a:ext>
            </a:extLst>
          </p:cNvPr>
          <p:cNvPicPr>
            <a:picLocks noChangeAspect="1"/>
          </p:cNvPicPr>
          <p:nvPr/>
        </p:nvPicPr>
        <p:blipFill>
          <a:blip r:embed="rId3"/>
          <a:stretch>
            <a:fillRect/>
          </a:stretch>
        </p:blipFill>
        <p:spPr>
          <a:xfrm>
            <a:off x="2820200" y="1282097"/>
            <a:ext cx="2933700" cy="593062"/>
          </a:xfrm>
          <a:prstGeom prst="rect">
            <a:avLst/>
          </a:prstGeom>
        </p:spPr>
      </p:pic>
      <p:pic>
        <p:nvPicPr>
          <p:cNvPr id="5" name="Picture 4">
            <a:extLst>
              <a:ext uri="{FF2B5EF4-FFF2-40B4-BE49-F238E27FC236}">
                <a16:creationId xmlns:a16="http://schemas.microsoft.com/office/drawing/2014/main" id="{455E746B-AC1B-4289-9517-19C746456511}"/>
              </a:ext>
            </a:extLst>
          </p:cNvPr>
          <p:cNvPicPr>
            <a:picLocks noChangeAspect="1"/>
          </p:cNvPicPr>
          <p:nvPr/>
        </p:nvPicPr>
        <p:blipFill>
          <a:blip r:embed="rId4"/>
          <a:stretch>
            <a:fillRect/>
          </a:stretch>
        </p:blipFill>
        <p:spPr>
          <a:xfrm>
            <a:off x="40405" y="2266240"/>
            <a:ext cx="4246645" cy="3410325"/>
          </a:xfrm>
          <a:prstGeom prst="rect">
            <a:avLst/>
          </a:prstGeom>
        </p:spPr>
      </p:pic>
      <p:pic>
        <p:nvPicPr>
          <p:cNvPr id="6" name="Picture 5">
            <a:extLst>
              <a:ext uri="{FF2B5EF4-FFF2-40B4-BE49-F238E27FC236}">
                <a16:creationId xmlns:a16="http://schemas.microsoft.com/office/drawing/2014/main" id="{8855846E-E772-4E90-A289-41AA83AC857B}"/>
              </a:ext>
            </a:extLst>
          </p:cNvPr>
          <p:cNvPicPr>
            <a:picLocks noChangeAspect="1"/>
          </p:cNvPicPr>
          <p:nvPr/>
        </p:nvPicPr>
        <p:blipFill>
          <a:blip r:embed="rId5"/>
          <a:stretch>
            <a:fillRect/>
          </a:stretch>
        </p:blipFill>
        <p:spPr>
          <a:xfrm>
            <a:off x="4572000" y="2266241"/>
            <a:ext cx="4246645" cy="3391771"/>
          </a:xfrm>
          <a:prstGeom prst="rect">
            <a:avLst/>
          </a:prstGeom>
        </p:spPr>
      </p:pic>
      <p:sp>
        <p:nvSpPr>
          <p:cNvPr id="8" name="Rectangle 34">
            <a:extLst>
              <a:ext uri="{FF2B5EF4-FFF2-40B4-BE49-F238E27FC236}">
                <a16:creationId xmlns:a16="http://schemas.microsoft.com/office/drawing/2014/main" id="{D6E812A1-64E6-4AD3-837E-F7BC23C9802A}"/>
              </a:ext>
            </a:extLst>
          </p:cNvPr>
          <p:cNvSpPr>
            <a:spLocks noChangeArrowheads="1"/>
          </p:cNvSpPr>
          <p:nvPr/>
        </p:nvSpPr>
        <p:spPr bwMode="auto">
          <a:xfrm>
            <a:off x="697815" y="5865666"/>
            <a:ext cx="8033320" cy="593063"/>
          </a:xfrm>
          <a:prstGeom prst="rect">
            <a:avLst/>
          </a:prstGeom>
          <a:noFill/>
          <a:ln w="25400">
            <a:solidFill>
              <a:schemeClr val="tx1"/>
            </a:solidFill>
            <a:miter lim="800000"/>
            <a:headEnd/>
            <a:tailEnd/>
          </a:ln>
          <a:effectLst/>
        </p:spPr>
        <p:txBody>
          <a:bodyPr wrap="none" lIns="20048" tIns="28402" rIns="20048" bIns="28402" anchor="ctr" anchorCtr="0"/>
          <a:lstStyle/>
          <a:p>
            <a:pPr algn="ctr">
              <a:lnSpc>
                <a:spcPts val="2526"/>
              </a:lnSpc>
              <a:spcAft>
                <a:spcPts val="947"/>
              </a:spcAft>
              <a:tabLst>
                <a:tab pos="481157" algn="l"/>
                <a:tab pos="962315" algn="l"/>
                <a:tab pos="1443472" algn="l"/>
              </a:tabLst>
            </a:pPr>
            <a:r>
              <a:rPr lang="en-US" sz="2000" dirty="0">
                <a:latin typeface="Whitney-Book" pitchFamily="50" charset="0"/>
                <a:cs typeface="Whitney-Book" pitchFamily="50" charset="0"/>
              </a:rPr>
              <a:t>To find the profit-maximizing quantity, use marginal analysis (MR=MC) </a:t>
            </a:r>
            <a:endParaRPr lang="en-US" sz="2000" b="0" dirty="0">
              <a:latin typeface="Whitney-Book" pitchFamily="50" charset="0"/>
              <a:cs typeface="Whitney-Book" pitchFamily="50" charset="0"/>
            </a:endParaRPr>
          </a:p>
        </p:txBody>
      </p:sp>
    </p:spTree>
    <p:extLst>
      <p:ext uri="{BB962C8B-B14F-4D97-AF65-F5344CB8AC3E}">
        <p14:creationId xmlns:p14="http://schemas.microsoft.com/office/powerpoint/2010/main" val="3912650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price searcher: Maximizing Profit</a:t>
            </a:r>
          </a:p>
        </p:txBody>
      </p:sp>
      <p:sp>
        <p:nvSpPr>
          <p:cNvPr id="3" name="Slide Number Placeholder 2"/>
          <p:cNvSpPr>
            <a:spLocks noGrp="1"/>
          </p:cNvSpPr>
          <p:nvPr>
            <p:ph type="sldNum" sz="quarter" idx="12"/>
          </p:nvPr>
        </p:nvSpPr>
        <p:spPr/>
        <p:txBody>
          <a:bodyPr/>
          <a:lstStyle/>
          <a:p>
            <a:fld id="{0F3206DB-9488-D04D-BDD1-A7C9D84C4579}" type="slidenum">
              <a:rPr lang="en-US" smtClean="0"/>
              <a:t>12</a:t>
            </a:fld>
            <a:endParaRPr lang="en-US"/>
          </a:p>
        </p:txBody>
      </p:sp>
      <p:grpSp>
        <p:nvGrpSpPr>
          <p:cNvPr id="5" name="Group 35"/>
          <p:cNvGrpSpPr>
            <a:grpSpLocks/>
          </p:cNvGrpSpPr>
          <p:nvPr/>
        </p:nvGrpSpPr>
        <p:grpSpPr bwMode="auto">
          <a:xfrm>
            <a:off x="1016667" y="1706808"/>
            <a:ext cx="7305174" cy="4431579"/>
            <a:chOff x="530" y="1325"/>
            <a:chExt cx="4374" cy="2651"/>
          </a:xfrm>
        </p:grpSpPr>
        <p:sp>
          <p:nvSpPr>
            <p:cNvPr id="6" name="Line 5"/>
            <p:cNvSpPr>
              <a:spLocks noChangeShapeType="1"/>
            </p:cNvSpPr>
            <p:nvPr/>
          </p:nvSpPr>
          <p:spPr bwMode="auto">
            <a:xfrm>
              <a:off x="1096" y="1325"/>
              <a:ext cx="0" cy="2232"/>
            </a:xfrm>
            <a:prstGeom prst="line">
              <a:avLst/>
            </a:prstGeom>
            <a:noFill/>
            <a:ln w="44450">
              <a:solidFill>
                <a:schemeClr val="tx1"/>
              </a:solidFill>
              <a:round/>
              <a:headEnd type="arrow" w="sm" len="sm"/>
              <a:tailEnd type="none" w="sm" len="sm"/>
            </a:ln>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7" name="Line 6"/>
            <p:cNvSpPr>
              <a:spLocks noChangeShapeType="1"/>
            </p:cNvSpPr>
            <p:nvPr/>
          </p:nvSpPr>
          <p:spPr bwMode="auto">
            <a:xfrm>
              <a:off x="1096" y="3557"/>
              <a:ext cx="3392" cy="0"/>
            </a:xfrm>
            <a:prstGeom prst="line">
              <a:avLst/>
            </a:prstGeom>
            <a:noFill/>
            <a:ln w="44450">
              <a:solidFill>
                <a:schemeClr val="tx1"/>
              </a:solidFill>
              <a:round/>
              <a:headEnd type="none" w="sm" len="sm"/>
              <a:tailEnd type="arrow" w="sm" len="sm"/>
            </a:ln>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8" name="Rectangle 7"/>
            <p:cNvSpPr>
              <a:spLocks noChangeArrowheads="1"/>
            </p:cNvSpPr>
            <p:nvPr/>
          </p:nvSpPr>
          <p:spPr bwMode="auto">
            <a:xfrm>
              <a:off x="530" y="1384"/>
              <a:ext cx="792" cy="37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latin typeface="Whitney-Book" pitchFamily="50" charset="0"/>
                  <a:cs typeface="Whitney-Book" pitchFamily="50" charset="0"/>
                </a:rPr>
                <a:t>Price</a:t>
              </a:r>
            </a:p>
          </p:txBody>
        </p:sp>
        <p:sp>
          <p:nvSpPr>
            <p:cNvPr id="9" name="Rectangle 8"/>
            <p:cNvSpPr>
              <a:spLocks noChangeArrowheads="1"/>
            </p:cNvSpPr>
            <p:nvPr/>
          </p:nvSpPr>
          <p:spPr bwMode="auto">
            <a:xfrm>
              <a:off x="3778" y="3600"/>
              <a:ext cx="1126" cy="37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latin typeface="Whitney-Book" pitchFamily="50" charset="0"/>
                  <a:cs typeface="Whitney-Book" pitchFamily="50" charset="0"/>
                </a:rPr>
                <a:t>Output</a:t>
              </a:r>
            </a:p>
          </p:txBody>
        </p:sp>
      </p:grpSp>
      <p:grpSp>
        <p:nvGrpSpPr>
          <p:cNvPr id="10" name="Group 36"/>
          <p:cNvGrpSpPr>
            <a:grpSpLocks/>
          </p:cNvGrpSpPr>
          <p:nvPr/>
        </p:nvGrpSpPr>
        <p:grpSpPr bwMode="auto">
          <a:xfrm>
            <a:off x="1961966" y="2054520"/>
            <a:ext cx="3994968" cy="3450314"/>
            <a:chOff x="1096" y="1533"/>
            <a:chExt cx="2392" cy="2064"/>
          </a:xfrm>
        </p:grpSpPr>
        <p:sp>
          <p:nvSpPr>
            <p:cNvPr id="11" name="Rectangle 11"/>
            <p:cNvSpPr>
              <a:spLocks noChangeArrowheads="1"/>
            </p:cNvSpPr>
            <p:nvPr/>
          </p:nvSpPr>
          <p:spPr bwMode="auto">
            <a:xfrm>
              <a:off x="3120" y="3293"/>
              <a:ext cx="368" cy="304"/>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i="1" dirty="0">
                  <a:solidFill>
                    <a:srgbClr val="C00000"/>
                  </a:solidFill>
                  <a:latin typeface="Whitney-Book" pitchFamily="50" charset="0"/>
                  <a:cs typeface="Whitney-Book" pitchFamily="50" charset="0"/>
                </a:rPr>
                <a:t>D</a:t>
              </a:r>
            </a:p>
          </p:txBody>
        </p:sp>
        <p:sp>
          <p:nvSpPr>
            <p:cNvPr id="12" name="Line 12"/>
            <p:cNvSpPr>
              <a:spLocks noChangeShapeType="1"/>
            </p:cNvSpPr>
            <p:nvPr/>
          </p:nvSpPr>
          <p:spPr bwMode="auto">
            <a:xfrm>
              <a:off x="1096" y="1533"/>
              <a:ext cx="2004" cy="2000"/>
            </a:xfrm>
            <a:prstGeom prst="line">
              <a:avLst/>
            </a:prstGeom>
            <a:noFill/>
            <a:ln w="50800">
              <a:solidFill>
                <a:srgbClr val="C00000"/>
              </a:solidFill>
              <a:round/>
              <a:headEnd type="none" w="sm" len="sm"/>
              <a:tailEnd type="none" w="sm" len="sm"/>
            </a:ln>
            <a:effectLst/>
          </p:spPr>
          <p:txBody>
            <a:bodyPr wrap="none" anchor="ctr"/>
            <a:lstStyle/>
            <a:p>
              <a:endParaRPr lang="en-US" sz="2800" b="0">
                <a:solidFill>
                  <a:schemeClr val="bg1"/>
                </a:solidFill>
                <a:latin typeface="Whitney-Book" pitchFamily="50" charset="0"/>
                <a:cs typeface="Whitney-Book" pitchFamily="50" charset="0"/>
              </a:endParaRPr>
            </a:p>
          </p:txBody>
        </p:sp>
      </p:grpSp>
      <p:grpSp>
        <p:nvGrpSpPr>
          <p:cNvPr id="13" name="Group 37"/>
          <p:cNvGrpSpPr>
            <a:grpSpLocks/>
          </p:cNvGrpSpPr>
          <p:nvPr/>
        </p:nvGrpSpPr>
        <p:grpSpPr bwMode="auto">
          <a:xfrm>
            <a:off x="1975328" y="2059535"/>
            <a:ext cx="2698941" cy="4172473"/>
            <a:chOff x="1104" y="1536"/>
            <a:chExt cx="1616" cy="2496"/>
          </a:xfrm>
        </p:grpSpPr>
        <p:sp>
          <p:nvSpPr>
            <p:cNvPr id="14" name="Rectangle 14"/>
            <p:cNvSpPr>
              <a:spLocks noChangeArrowheads="1"/>
            </p:cNvSpPr>
            <p:nvPr/>
          </p:nvSpPr>
          <p:spPr bwMode="auto">
            <a:xfrm>
              <a:off x="2232" y="3728"/>
              <a:ext cx="488" cy="304"/>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i="1" dirty="0">
                  <a:solidFill>
                    <a:srgbClr val="C00000"/>
                  </a:solidFill>
                  <a:latin typeface="Whitney-Book" pitchFamily="50" charset="0"/>
                  <a:cs typeface="Whitney-Book" pitchFamily="50" charset="0"/>
                </a:rPr>
                <a:t>MR</a:t>
              </a:r>
            </a:p>
          </p:txBody>
        </p:sp>
        <p:sp>
          <p:nvSpPr>
            <p:cNvPr id="15" name="Line 15"/>
            <p:cNvSpPr>
              <a:spLocks noChangeShapeType="1"/>
            </p:cNvSpPr>
            <p:nvPr/>
          </p:nvSpPr>
          <p:spPr bwMode="auto">
            <a:xfrm>
              <a:off x="1104" y="1536"/>
              <a:ext cx="1128" cy="2406"/>
            </a:xfrm>
            <a:prstGeom prst="line">
              <a:avLst/>
            </a:prstGeom>
            <a:noFill/>
            <a:ln w="50800">
              <a:solidFill>
                <a:srgbClr val="C00000"/>
              </a:solidFill>
              <a:prstDash val="sysDot"/>
              <a:round/>
              <a:headEnd type="none" w="sm" len="sm"/>
              <a:tailEnd type="none" w="sm" len="sm"/>
            </a:ln>
            <a:effectLst/>
          </p:spPr>
          <p:txBody>
            <a:bodyPr wrap="none" anchor="ctr"/>
            <a:lstStyle/>
            <a:p>
              <a:endParaRPr lang="en-US" sz="2800" b="0">
                <a:solidFill>
                  <a:schemeClr val="bg1"/>
                </a:solidFill>
                <a:latin typeface="Whitney-Book" pitchFamily="50" charset="0"/>
                <a:cs typeface="Whitney-Book" pitchFamily="50" charset="0"/>
              </a:endParaRPr>
            </a:p>
          </p:txBody>
        </p:sp>
      </p:grpSp>
      <p:grpSp>
        <p:nvGrpSpPr>
          <p:cNvPr id="23" name="Group 41"/>
          <p:cNvGrpSpPr>
            <a:grpSpLocks/>
          </p:cNvGrpSpPr>
          <p:nvPr/>
        </p:nvGrpSpPr>
        <p:grpSpPr bwMode="auto">
          <a:xfrm>
            <a:off x="2775324" y="3102653"/>
            <a:ext cx="761582" cy="3057473"/>
            <a:chOff x="1592" y="2160"/>
            <a:chExt cx="456" cy="1829"/>
          </a:xfrm>
        </p:grpSpPr>
        <p:sp>
          <p:nvSpPr>
            <p:cNvPr id="24" name="Line 24"/>
            <p:cNvSpPr>
              <a:spLocks noChangeShapeType="1"/>
            </p:cNvSpPr>
            <p:nvPr/>
          </p:nvSpPr>
          <p:spPr bwMode="auto">
            <a:xfrm>
              <a:off x="1728" y="2160"/>
              <a:ext cx="0" cy="1422"/>
            </a:xfrm>
            <a:prstGeom prst="line">
              <a:avLst/>
            </a:prstGeom>
            <a:noFill/>
            <a:ln w="25400">
              <a:solidFill>
                <a:schemeClr val="tx1"/>
              </a:solidFill>
              <a:prstDash val="sysDot"/>
              <a:round/>
              <a:headEnd type="none" w="sm" len="sm"/>
              <a:tailEnd type="none" w="sm" len="sm"/>
            </a:ln>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25" name="Rectangle 25"/>
            <p:cNvSpPr>
              <a:spLocks noChangeArrowheads="1"/>
            </p:cNvSpPr>
            <p:nvPr/>
          </p:nvSpPr>
          <p:spPr bwMode="auto">
            <a:xfrm>
              <a:off x="1592" y="3613"/>
              <a:ext cx="456" cy="37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latin typeface="Whitney-Book" pitchFamily="50" charset="0"/>
                  <a:cs typeface="Whitney-Book" pitchFamily="50" charset="0"/>
                </a:rPr>
                <a:t>Q*</a:t>
              </a:r>
            </a:p>
          </p:txBody>
        </p:sp>
      </p:grpSp>
      <p:grpSp>
        <p:nvGrpSpPr>
          <p:cNvPr id="26" name="Group 42"/>
          <p:cNvGrpSpPr>
            <a:grpSpLocks/>
          </p:cNvGrpSpPr>
          <p:nvPr/>
        </p:nvGrpSpPr>
        <p:grpSpPr bwMode="auto">
          <a:xfrm>
            <a:off x="1320633" y="2942173"/>
            <a:ext cx="1661787" cy="1145091"/>
            <a:chOff x="712" y="2064"/>
            <a:chExt cx="995" cy="685"/>
          </a:xfrm>
        </p:grpSpPr>
        <p:sp>
          <p:nvSpPr>
            <p:cNvPr id="27" name="Line 27"/>
            <p:cNvSpPr>
              <a:spLocks noChangeShapeType="1"/>
            </p:cNvSpPr>
            <p:nvPr/>
          </p:nvSpPr>
          <p:spPr bwMode="auto">
            <a:xfrm flipH="1">
              <a:off x="1108" y="2135"/>
              <a:ext cx="588" cy="0"/>
            </a:xfrm>
            <a:prstGeom prst="line">
              <a:avLst/>
            </a:prstGeom>
            <a:noFill/>
            <a:ln w="25400">
              <a:solidFill>
                <a:schemeClr val="tx1"/>
              </a:solidFill>
              <a:prstDash val="sysDot"/>
              <a:round/>
              <a:headEnd type="none" w="sm" len="sm"/>
              <a:tailEnd type="none" w="sm" len="sm"/>
            </a:ln>
            <a:effectLst/>
          </p:spPr>
          <p:txBody>
            <a:bodyPr wrap="none" anchor="ctr"/>
            <a:lstStyle/>
            <a:p>
              <a:endParaRPr lang="en-US" sz="2800" b="0" dirty="0">
                <a:latin typeface="Whitney-Book" pitchFamily="50" charset="0"/>
                <a:cs typeface="Whitney-Book" pitchFamily="50" charset="0"/>
              </a:endParaRPr>
            </a:p>
          </p:txBody>
        </p:sp>
        <p:sp>
          <p:nvSpPr>
            <p:cNvPr id="28" name="Rectangle 28"/>
            <p:cNvSpPr>
              <a:spLocks noChangeArrowheads="1"/>
            </p:cNvSpPr>
            <p:nvPr/>
          </p:nvSpPr>
          <p:spPr bwMode="auto">
            <a:xfrm>
              <a:off x="768" y="2064"/>
              <a:ext cx="384" cy="37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200" b="0" i="1" dirty="0">
                  <a:latin typeface="Whitney-Book" pitchFamily="50" charset="0"/>
                  <a:cs typeface="Whitney-Book" pitchFamily="50" charset="0"/>
                </a:rPr>
                <a:t>P*</a:t>
              </a:r>
            </a:p>
          </p:txBody>
        </p:sp>
        <p:sp>
          <p:nvSpPr>
            <p:cNvPr id="29" name="Line 29"/>
            <p:cNvSpPr>
              <a:spLocks noChangeShapeType="1"/>
            </p:cNvSpPr>
            <p:nvPr/>
          </p:nvSpPr>
          <p:spPr bwMode="auto">
            <a:xfrm>
              <a:off x="1105" y="2488"/>
              <a:ext cx="602" cy="4"/>
            </a:xfrm>
            <a:prstGeom prst="line">
              <a:avLst/>
            </a:prstGeom>
            <a:noFill/>
            <a:ln w="25400">
              <a:solidFill>
                <a:schemeClr val="tx1"/>
              </a:solidFill>
              <a:prstDash val="sysDot"/>
              <a:round/>
              <a:headEnd type="none" w="sm" len="sm"/>
              <a:tailEnd type="none" w="sm" len="sm"/>
            </a:ln>
            <a:effectLst/>
          </p:spPr>
          <p:txBody>
            <a:bodyPr wrap="none" anchor="ctr"/>
            <a:lstStyle/>
            <a:p>
              <a:endParaRPr lang="en-US" sz="2800" b="0">
                <a:latin typeface="Whitney-Book" pitchFamily="50" charset="0"/>
                <a:cs typeface="Whitney-Book" pitchFamily="50" charset="0"/>
              </a:endParaRPr>
            </a:p>
          </p:txBody>
        </p:sp>
        <p:sp>
          <p:nvSpPr>
            <p:cNvPr id="30" name="Rectangle 30"/>
            <p:cNvSpPr>
              <a:spLocks noChangeArrowheads="1"/>
            </p:cNvSpPr>
            <p:nvPr/>
          </p:nvSpPr>
          <p:spPr bwMode="auto">
            <a:xfrm>
              <a:off x="712" y="2373"/>
              <a:ext cx="624" cy="37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200" b="0" i="1" dirty="0">
                  <a:latin typeface="Whitney-Book" pitchFamily="50" charset="0"/>
                  <a:cs typeface="Whitney-Book" pitchFamily="50" charset="0"/>
                </a:rPr>
                <a:t>ATC</a:t>
              </a:r>
            </a:p>
          </p:txBody>
        </p:sp>
      </p:grpSp>
      <p:grpSp>
        <p:nvGrpSpPr>
          <p:cNvPr id="31" name="Group 43"/>
          <p:cNvGrpSpPr>
            <a:grpSpLocks/>
          </p:cNvGrpSpPr>
          <p:nvPr/>
        </p:nvGrpSpPr>
        <p:grpSpPr bwMode="auto">
          <a:xfrm>
            <a:off x="1972914" y="1975125"/>
            <a:ext cx="2698941" cy="1658290"/>
            <a:chOff x="1104" y="1470"/>
            <a:chExt cx="1616" cy="992"/>
          </a:xfrm>
        </p:grpSpPr>
        <p:sp>
          <p:nvSpPr>
            <p:cNvPr id="32" name="Rectangle 32"/>
            <p:cNvSpPr>
              <a:spLocks noChangeArrowheads="1"/>
            </p:cNvSpPr>
            <p:nvPr/>
          </p:nvSpPr>
          <p:spPr bwMode="auto">
            <a:xfrm>
              <a:off x="1104" y="2126"/>
              <a:ext cx="614" cy="336"/>
            </a:xfrm>
            <a:prstGeom prst="rect">
              <a:avLst/>
            </a:prstGeom>
            <a:gradFill rotWithShape="0">
              <a:gsLst>
                <a:gs pos="0">
                  <a:srgbClr val="0000FF">
                    <a:gamma/>
                    <a:tint val="0"/>
                    <a:invGamma/>
                  </a:srgbClr>
                </a:gs>
                <a:gs pos="100000">
                  <a:schemeClr val="bg2">
                    <a:lumMod val="50000"/>
                  </a:schemeClr>
                </a:gs>
              </a:gsLst>
              <a:path path="shape">
                <a:fillToRect l="50000" t="50000" r="50000" b="50000"/>
              </a:path>
            </a:gradFill>
            <a:ln w="9525">
              <a:noFill/>
              <a:miter lim="800000"/>
              <a:headEnd/>
              <a:tailEnd/>
            </a:ln>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33" name="Rectangle 33"/>
            <p:cNvSpPr>
              <a:spLocks noChangeArrowheads="1"/>
            </p:cNvSpPr>
            <p:nvPr/>
          </p:nvSpPr>
          <p:spPr bwMode="auto">
            <a:xfrm>
              <a:off x="2057" y="1470"/>
              <a:ext cx="663" cy="311"/>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dirty="0">
                  <a:solidFill>
                    <a:schemeClr val="bg2">
                      <a:lumMod val="50000"/>
                    </a:schemeClr>
                  </a:solidFill>
                  <a:latin typeface="Whitney-Book" pitchFamily="50" charset="0"/>
                  <a:cs typeface="Whitney-Book" pitchFamily="50" charset="0"/>
                </a:rPr>
                <a:t> </a:t>
              </a:r>
              <a:r>
                <a:rPr lang="en-US" sz="2800" b="0" i="1" dirty="0">
                  <a:solidFill>
                    <a:schemeClr val="bg2">
                      <a:lumMod val="50000"/>
                    </a:schemeClr>
                  </a:solidFill>
                  <a:latin typeface="Whitney-Book" pitchFamily="50" charset="0"/>
                  <a:cs typeface="Whitney-Book" pitchFamily="50" charset="0"/>
                </a:rPr>
                <a:t>Profit</a:t>
              </a:r>
            </a:p>
          </p:txBody>
        </p:sp>
        <p:sp>
          <p:nvSpPr>
            <p:cNvPr id="34" name="Line 34"/>
            <p:cNvSpPr>
              <a:spLocks noChangeShapeType="1"/>
            </p:cNvSpPr>
            <p:nvPr/>
          </p:nvSpPr>
          <p:spPr bwMode="auto">
            <a:xfrm flipH="1">
              <a:off x="1438" y="1685"/>
              <a:ext cx="866" cy="586"/>
            </a:xfrm>
            <a:prstGeom prst="line">
              <a:avLst/>
            </a:prstGeom>
            <a:noFill/>
            <a:ln w="38100">
              <a:solidFill>
                <a:schemeClr val="bg2">
                  <a:lumMod val="50000"/>
                </a:schemeClr>
              </a:solidFill>
              <a:round/>
              <a:headEnd type="none" w="sm" len="sm"/>
              <a:tailEnd type="stealth" w="med" len="lg"/>
            </a:ln>
            <a:effectLst/>
          </p:spPr>
          <p:txBody>
            <a:bodyPr wrap="none" anchor="ctr"/>
            <a:lstStyle/>
            <a:p>
              <a:endParaRPr lang="en-US" sz="2800" b="0">
                <a:solidFill>
                  <a:schemeClr val="bg1"/>
                </a:solidFill>
                <a:latin typeface="Whitney-Book" pitchFamily="50" charset="0"/>
                <a:cs typeface="Whitney-Book" pitchFamily="50" charset="0"/>
              </a:endParaRPr>
            </a:p>
          </p:txBody>
        </p:sp>
      </p:grpSp>
      <p:grpSp>
        <p:nvGrpSpPr>
          <p:cNvPr id="36" name="Group 43">
            <a:extLst>
              <a:ext uri="{FF2B5EF4-FFF2-40B4-BE49-F238E27FC236}">
                <a16:creationId xmlns:a16="http://schemas.microsoft.com/office/drawing/2014/main" id="{57455829-A3DB-4B23-BC31-CFA6FC8C8B4B}"/>
              </a:ext>
            </a:extLst>
          </p:cNvPr>
          <p:cNvGrpSpPr>
            <a:grpSpLocks/>
          </p:cNvGrpSpPr>
          <p:nvPr/>
        </p:nvGrpSpPr>
        <p:grpSpPr bwMode="auto">
          <a:xfrm>
            <a:off x="2269069" y="2183005"/>
            <a:ext cx="3925208" cy="2612203"/>
            <a:chOff x="932" y="1479"/>
            <a:chExt cx="1712" cy="1135"/>
          </a:xfrm>
        </p:grpSpPr>
        <p:sp>
          <p:nvSpPr>
            <p:cNvPr id="38" name="Rectangle 33">
              <a:extLst>
                <a:ext uri="{FF2B5EF4-FFF2-40B4-BE49-F238E27FC236}">
                  <a16:creationId xmlns:a16="http://schemas.microsoft.com/office/drawing/2014/main" id="{5513A9BD-BFD9-4469-92DE-582B57FC30BB}"/>
                </a:ext>
              </a:extLst>
            </p:cNvPr>
            <p:cNvSpPr>
              <a:spLocks noChangeArrowheads="1"/>
            </p:cNvSpPr>
            <p:nvPr/>
          </p:nvSpPr>
          <p:spPr bwMode="auto">
            <a:xfrm>
              <a:off x="1981" y="1479"/>
              <a:ext cx="663" cy="311"/>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dirty="0">
                  <a:solidFill>
                    <a:schemeClr val="bg2">
                      <a:lumMod val="50000"/>
                    </a:schemeClr>
                  </a:solidFill>
                  <a:latin typeface="Whitney-Book" pitchFamily="50" charset="0"/>
                  <a:cs typeface="Whitney-Book" pitchFamily="50" charset="0"/>
                </a:rPr>
                <a:t> </a:t>
              </a:r>
              <a:r>
                <a:rPr lang="en-US" sz="2800" b="0" i="1" dirty="0">
                  <a:solidFill>
                    <a:schemeClr val="accent1"/>
                  </a:solidFill>
                  <a:latin typeface="Whitney-Book" pitchFamily="50" charset="0"/>
                  <a:cs typeface="Whitney-Book" pitchFamily="50" charset="0"/>
                </a:rPr>
                <a:t>MC</a:t>
              </a:r>
            </a:p>
          </p:txBody>
        </p:sp>
        <p:sp>
          <p:nvSpPr>
            <p:cNvPr id="39" name="Line 34">
              <a:extLst>
                <a:ext uri="{FF2B5EF4-FFF2-40B4-BE49-F238E27FC236}">
                  <a16:creationId xmlns:a16="http://schemas.microsoft.com/office/drawing/2014/main" id="{7C1335DB-E057-4535-8052-1598936F596E}"/>
                </a:ext>
              </a:extLst>
            </p:cNvPr>
            <p:cNvSpPr>
              <a:spLocks noChangeShapeType="1"/>
            </p:cNvSpPr>
            <p:nvPr/>
          </p:nvSpPr>
          <p:spPr bwMode="auto">
            <a:xfrm flipH="1">
              <a:off x="932" y="1635"/>
              <a:ext cx="1125" cy="979"/>
            </a:xfrm>
            <a:prstGeom prst="line">
              <a:avLst/>
            </a:prstGeom>
            <a:ln w="38100">
              <a:headEnd type="none" w="sm" len="sm"/>
              <a:tailEnd type="none" w="med" len="lg"/>
            </a:ln>
          </p:spPr>
          <p:style>
            <a:lnRef idx="1">
              <a:schemeClr val="accent1"/>
            </a:lnRef>
            <a:fillRef idx="0">
              <a:schemeClr val="accent1"/>
            </a:fillRef>
            <a:effectRef idx="0">
              <a:schemeClr val="accent1"/>
            </a:effectRef>
            <a:fontRef idx="minor">
              <a:schemeClr val="tx1"/>
            </a:fontRef>
          </p:style>
          <p:txBody>
            <a:bodyPr wrap="none" anchor="ctr"/>
            <a:lstStyle/>
            <a:p>
              <a:endParaRPr lang="en-US" sz="2800" b="0" dirty="0">
                <a:solidFill>
                  <a:schemeClr val="bg1"/>
                </a:solidFill>
                <a:latin typeface="Whitney-Book" pitchFamily="50" charset="0"/>
                <a:cs typeface="Whitney-Book" pitchFamily="50" charset="0"/>
              </a:endParaRPr>
            </a:p>
          </p:txBody>
        </p:sp>
      </p:grpSp>
      <p:cxnSp>
        <p:nvCxnSpPr>
          <p:cNvPr id="41" name="Straight Connector 40">
            <a:extLst>
              <a:ext uri="{FF2B5EF4-FFF2-40B4-BE49-F238E27FC236}">
                <a16:creationId xmlns:a16="http://schemas.microsoft.com/office/drawing/2014/main" id="{E5571AB0-8966-43A4-ADE3-3E14B4C51228}"/>
              </a:ext>
            </a:extLst>
          </p:cNvPr>
          <p:cNvCxnSpPr>
            <a:cxnSpLocks/>
            <a:stCxn id="39" idx="1"/>
            <a:endCxn id="39" idx="1"/>
          </p:cNvCxnSpPr>
          <p:nvPr/>
        </p:nvCxnSpPr>
        <p:spPr>
          <a:xfrm>
            <a:off x="2269069" y="4795209"/>
            <a:ext cx="0" cy="0"/>
          </a:xfrm>
          <a:prstGeom prst="line">
            <a:avLst/>
          </a:prstGeom>
        </p:spPr>
        <p:style>
          <a:lnRef idx="2">
            <a:schemeClr val="accent1"/>
          </a:lnRef>
          <a:fillRef idx="0">
            <a:schemeClr val="accent1"/>
          </a:fillRef>
          <a:effectRef idx="1">
            <a:schemeClr val="accent1"/>
          </a:effectRef>
          <a:fontRef idx="minor">
            <a:schemeClr val="tx1"/>
          </a:fontRef>
        </p:style>
      </p:cxnSp>
      <p:pic>
        <p:nvPicPr>
          <p:cNvPr id="51" name="Picture 50">
            <a:extLst>
              <a:ext uri="{FF2B5EF4-FFF2-40B4-BE49-F238E27FC236}">
                <a16:creationId xmlns:a16="http://schemas.microsoft.com/office/drawing/2014/main" id="{DE81C93C-AA09-43CC-A76C-D9594683DE73}"/>
              </a:ext>
            </a:extLst>
          </p:cNvPr>
          <p:cNvPicPr>
            <a:picLocks noChangeAspect="1"/>
          </p:cNvPicPr>
          <p:nvPr/>
        </p:nvPicPr>
        <p:blipFill>
          <a:blip r:embed="rId3"/>
          <a:stretch>
            <a:fillRect/>
          </a:stretch>
        </p:blipFill>
        <p:spPr>
          <a:xfrm>
            <a:off x="2799905" y="877668"/>
            <a:ext cx="2933700" cy="593062"/>
          </a:xfrm>
          <a:prstGeom prst="rect">
            <a:avLst/>
          </a:prstGeom>
        </p:spPr>
      </p:pic>
      <p:pic>
        <p:nvPicPr>
          <p:cNvPr id="52" name="Picture 51">
            <a:extLst>
              <a:ext uri="{FF2B5EF4-FFF2-40B4-BE49-F238E27FC236}">
                <a16:creationId xmlns:a16="http://schemas.microsoft.com/office/drawing/2014/main" id="{DE72C217-8553-4B5E-8BF8-BB73A6295570}"/>
              </a:ext>
            </a:extLst>
          </p:cNvPr>
          <p:cNvPicPr>
            <a:picLocks noChangeAspect="1"/>
          </p:cNvPicPr>
          <p:nvPr/>
        </p:nvPicPr>
        <p:blipFill>
          <a:blip r:embed="rId4"/>
          <a:stretch>
            <a:fillRect/>
          </a:stretch>
        </p:blipFill>
        <p:spPr>
          <a:xfrm>
            <a:off x="6639595" y="1791893"/>
            <a:ext cx="2340821" cy="2878058"/>
          </a:xfrm>
          <a:prstGeom prst="rect">
            <a:avLst/>
          </a:prstGeom>
        </p:spPr>
      </p:pic>
      <p:grpSp>
        <p:nvGrpSpPr>
          <p:cNvPr id="4" name="Group 3">
            <a:extLst>
              <a:ext uri="{FF2B5EF4-FFF2-40B4-BE49-F238E27FC236}">
                <a16:creationId xmlns:a16="http://schemas.microsoft.com/office/drawing/2014/main" id="{EF64BB83-EA45-4B8A-9494-BCA3B4D422F9}"/>
              </a:ext>
            </a:extLst>
          </p:cNvPr>
          <p:cNvGrpSpPr/>
          <p:nvPr/>
        </p:nvGrpSpPr>
        <p:grpSpPr>
          <a:xfrm>
            <a:off x="2026357" y="2642742"/>
            <a:ext cx="4613238" cy="1143600"/>
            <a:chOff x="2026357" y="2642742"/>
            <a:chExt cx="4613238" cy="1143600"/>
          </a:xfrm>
        </p:grpSpPr>
        <p:sp>
          <p:nvSpPr>
            <p:cNvPr id="40" name="Arc 17">
              <a:extLst>
                <a:ext uri="{FF2B5EF4-FFF2-40B4-BE49-F238E27FC236}">
                  <a16:creationId xmlns:a16="http://schemas.microsoft.com/office/drawing/2014/main" id="{76B4A8BD-BB58-408E-9250-E5A310D6C805}"/>
                </a:ext>
              </a:extLst>
            </p:cNvPr>
            <p:cNvSpPr>
              <a:spLocks/>
            </p:cNvSpPr>
            <p:nvPr/>
          </p:nvSpPr>
          <p:spPr bwMode="auto">
            <a:xfrm rot="21130938">
              <a:off x="3638098" y="3608851"/>
              <a:ext cx="2019705" cy="125186"/>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44450" cap="rnd">
              <a:solidFill>
                <a:schemeClr val="accent2">
                  <a:lumMod val="75000"/>
                </a:schemeClr>
              </a:solidFill>
              <a:round/>
              <a:headEnd type="none" w="sm" len="sm"/>
              <a:tailEnd type="none" w="sm" len="sm"/>
            </a:ln>
            <a:effectLst/>
          </p:spPr>
          <p:txBody>
            <a:bodyPr wrap="none" anchor="ctr"/>
            <a:lstStyle/>
            <a:p>
              <a:endParaRPr lang="en-US" sz="2800" b="0" dirty="0">
                <a:solidFill>
                  <a:schemeClr val="accent2">
                    <a:lumMod val="75000"/>
                  </a:schemeClr>
                </a:solidFill>
                <a:latin typeface="Whitney-Book" pitchFamily="50" charset="0"/>
                <a:cs typeface="Whitney-Book" pitchFamily="50" charset="0"/>
              </a:endParaRPr>
            </a:p>
          </p:txBody>
        </p:sp>
        <p:sp>
          <p:nvSpPr>
            <p:cNvPr id="37" name="Arc 17">
              <a:extLst>
                <a:ext uri="{FF2B5EF4-FFF2-40B4-BE49-F238E27FC236}">
                  <a16:creationId xmlns:a16="http://schemas.microsoft.com/office/drawing/2014/main" id="{AFB05BC0-8E3D-488F-B7DA-566A6A00DFC6}"/>
                </a:ext>
              </a:extLst>
            </p:cNvPr>
            <p:cNvSpPr>
              <a:spLocks/>
            </p:cNvSpPr>
            <p:nvPr/>
          </p:nvSpPr>
          <p:spPr bwMode="auto">
            <a:xfrm>
              <a:off x="2026357" y="2642742"/>
              <a:ext cx="1650095" cy="1118495"/>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44450" cap="rnd">
              <a:solidFill>
                <a:schemeClr val="accent2">
                  <a:lumMod val="75000"/>
                </a:schemeClr>
              </a:solidFill>
              <a:round/>
              <a:headEnd type="none" w="sm" len="sm"/>
              <a:tailEnd type="none" w="sm" len="sm"/>
            </a:ln>
            <a:effectLst/>
          </p:spPr>
          <p:txBody>
            <a:bodyPr wrap="none" anchor="ctr"/>
            <a:lstStyle/>
            <a:p>
              <a:endParaRPr lang="en-US" sz="2800" b="0" dirty="0">
                <a:solidFill>
                  <a:schemeClr val="accent2">
                    <a:lumMod val="75000"/>
                  </a:schemeClr>
                </a:solidFill>
                <a:latin typeface="Whitney-Book" pitchFamily="50" charset="0"/>
                <a:cs typeface="Whitney-Book" pitchFamily="50" charset="0"/>
              </a:endParaRPr>
            </a:p>
          </p:txBody>
        </p:sp>
        <p:sp>
          <p:nvSpPr>
            <p:cNvPr id="42" name="Rectangle 19">
              <a:extLst>
                <a:ext uri="{FF2B5EF4-FFF2-40B4-BE49-F238E27FC236}">
                  <a16:creationId xmlns:a16="http://schemas.microsoft.com/office/drawing/2014/main" id="{CC8F9FE2-F0D4-41EE-BF3D-6119FA513C81}"/>
                </a:ext>
              </a:extLst>
            </p:cNvPr>
            <p:cNvSpPr>
              <a:spLocks noChangeArrowheads="1"/>
            </p:cNvSpPr>
            <p:nvPr/>
          </p:nvSpPr>
          <p:spPr bwMode="auto">
            <a:xfrm>
              <a:off x="5597430" y="3157797"/>
              <a:ext cx="1042165" cy="628545"/>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solidFill>
                    <a:schemeClr val="accent2">
                      <a:lumMod val="75000"/>
                    </a:schemeClr>
                  </a:solidFill>
                  <a:latin typeface="Whitney-Book" pitchFamily="50" charset="0"/>
                  <a:cs typeface="Whitney-Book" pitchFamily="50" charset="0"/>
                </a:rPr>
                <a:t>ATC</a:t>
              </a:r>
            </a:p>
          </p:txBody>
        </p:sp>
      </p:grpSp>
      <p:sp>
        <p:nvSpPr>
          <p:cNvPr id="43" name="Rectangle 34">
            <a:extLst>
              <a:ext uri="{FF2B5EF4-FFF2-40B4-BE49-F238E27FC236}">
                <a16:creationId xmlns:a16="http://schemas.microsoft.com/office/drawing/2014/main" id="{181E581E-D884-4655-BD99-38CBC7D09827}"/>
              </a:ext>
            </a:extLst>
          </p:cNvPr>
          <p:cNvSpPr>
            <a:spLocks noChangeArrowheads="1"/>
          </p:cNvSpPr>
          <p:nvPr/>
        </p:nvSpPr>
        <p:spPr bwMode="auto">
          <a:xfrm>
            <a:off x="52465" y="6433506"/>
            <a:ext cx="6388803" cy="353043"/>
          </a:xfrm>
          <a:prstGeom prst="rect">
            <a:avLst/>
          </a:prstGeom>
          <a:noFill/>
          <a:ln w="25400">
            <a:solidFill>
              <a:srgbClr val="C00000"/>
            </a:solidFill>
            <a:miter lim="800000"/>
            <a:headEnd/>
            <a:tailEnd/>
          </a:ln>
          <a:effectLst/>
        </p:spPr>
        <p:txBody>
          <a:bodyPr wrap="none" lIns="20048" tIns="28402" rIns="20048" bIns="28402" anchor="ctr" anchorCtr="0"/>
          <a:lstStyle/>
          <a:p>
            <a:pPr algn="ctr">
              <a:lnSpc>
                <a:spcPts val="2526"/>
              </a:lnSpc>
              <a:spcAft>
                <a:spcPts val="947"/>
              </a:spcAft>
              <a:tabLst>
                <a:tab pos="481157" algn="l"/>
                <a:tab pos="962315" algn="l"/>
                <a:tab pos="1443472" algn="l"/>
              </a:tabLst>
            </a:pPr>
            <a:r>
              <a:rPr lang="en-US" dirty="0">
                <a:solidFill>
                  <a:srgbClr val="C00000"/>
                </a:solidFill>
                <a:latin typeface="Whitney-Book" pitchFamily="50" charset="0"/>
                <a:cs typeface="Whitney-Book" pitchFamily="50" charset="0"/>
              </a:rPr>
              <a:t>Now s</a:t>
            </a:r>
            <a:r>
              <a:rPr lang="en-US" b="0" dirty="0">
                <a:solidFill>
                  <a:srgbClr val="C00000"/>
                </a:solidFill>
                <a:latin typeface="Whitney-Book" pitchFamily="50" charset="0"/>
                <a:cs typeface="Whitney-Book" pitchFamily="50" charset="0"/>
              </a:rPr>
              <a:t>uppose: Rent increases </a:t>
            </a:r>
            <a:r>
              <a:rPr lang="en-US" b="0" dirty="0">
                <a:solidFill>
                  <a:srgbClr val="C00000"/>
                </a:solidFill>
                <a:latin typeface="Whitney-Book" pitchFamily="50" charset="0"/>
                <a:cs typeface="Whitney-Book" pitchFamily="50" charset="0"/>
                <a:sym typeface="Wingdings" panose="05000000000000000000" pitchFamily="2" charset="2"/>
              </a:rPr>
              <a:t> ATC moves up (next slide)</a:t>
            </a:r>
            <a:endParaRPr lang="en-US" b="0" dirty="0">
              <a:solidFill>
                <a:srgbClr val="C00000"/>
              </a:solidFill>
              <a:latin typeface="Whitney-Book" pitchFamily="50" charset="0"/>
              <a:cs typeface="Whitney-Book" pitchFamily="50" charset="0"/>
            </a:endParaRPr>
          </a:p>
        </p:txBody>
      </p:sp>
    </p:spTree>
    <p:extLst>
      <p:ext uri="{BB962C8B-B14F-4D97-AF65-F5344CB8AC3E}">
        <p14:creationId xmlns:p14="http://schemas.microsoft.com/office/powerpoint/2010/main" val="1307179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0-#ppt_w/2"/>
                                          </p:val>
                                        </p:tav>
                                        <p:tav tm="100000">
                                          <p:val>
                                            <p:strVal val="#ppt_x"/>
                                          </p:val>
                                        </p:tav>
                                      </p:tavLst>
                                    </p:anim>
                                    <p:anim calcmode="lin" valueType="num">
                                      <p:cBhvr additive="base">
                                        <p:cTn id="14"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36"/>
                                        </p:tgtEl>
                                        <p:attrNameLst>
                                          <p:attrName>style.visibility</p:attrName>
                                        </p:attrNameLst>
                                      </p:cBhvr>
                                      <p:to>
                                        <p:strVal val="visible"/>
                                      </p:to>
                                    </p:set>
                                    <p:anim calcmode="lin" valueType="num">
                                      <p:cBhvr additive="base">
                                        <p:cTn id="25" dur="500" fill="hold"/>
                                        <p:tgtEl>
                                          <p:spTgt spid="36"/>
                                        </p:tgtEl>
                                        <p:attrNameLst>
                                          <p:attrName>ppt_x</p:attrName>
                                        </p:attrNameLst>
                                      </p:cBhvr>
                                      <p:tavLst>
                                        <p:tav tm="0">
                                          <p:val>
                                            <p:strVal val="0-#ppt_w/2"/>
                                          </p:val>
                                        </p:tav>
                                        <p:tav tm="100000">
                                          <p:val>
                                            <p:strVal val="#ppt_x"/>
                                          </p:val>
                                        </p:tav>
                                      </p:tavLst>
                                    </p:anim>
                                    <p:anim calcmode="lin" valueType="num">
                                      <p:cBhvr additive="base">
                                        <p:cTn id="26" dur="5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0-#ppt_w/2"/>
                                          </p:val>
                                        </p:tav>
                                        <p:tav tm="100000">
                                          <p:val>
                                            <p:strVal val="#ppt_x"/>
                                          </p:val>
                                        </p:tav>
                                      </p:tavLst>
                                    </p:anim>
                                    <p:anim calcmode="lin" valueType="num">
                                      <p:cBhvr additive="base">
                                        <p:cTn id="32"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26"/>
                                        </p:tgtEl>
                                        <p:attrNameLst>
                                          <p:attrName>style.visibility</p:attrName>
                                        </p:attrNameLst>
                                      </p:cBhvr>
                                      <p:to>
                                        <p:strVal val="visible"/>
                                      </p:to>
                                    </p:set>
                                    <p:anim calcmode="lin" valueType="num">
                                      <p:cBhvr additive="base">
                                        <p:cTn id="43" dur="500" fill="hold"/>
                                        <p:tgtEl>
                                          <p:spTgt spid="26"/>
                                        </p:tgtEl>
                                        <p:attrNameLst>
                                          <p:attrName>ppt_x</p:attrName>
                                        </p:attrNameLst>
                                      </p:cBhvr>
                                      <p:tavLst>
                                        <p:tav tm="0">
                                          <p:val>
                                            <p:strVal val="0-#ppt_w/2"/>
                                          </p:val>
                                        </p:tav>
                                        <p:tav tm="100000">
                                          <p:val>
                                            <p:strVal val="#ppt_x"/>
                                          </p:val>
                                        </p:tav>
                                      </p:tavLst>
                                    </p:anim>
                                    <p:anim calcmode="lin" valueType="num">
                                      <p:cBhvr additive="base">
                                        <p:cTn id="44"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31"/>
                                        </p:tgtEl>
                                        <p:attrNameLst>
                                          <p:attrName>style.visibility</p:attrName>
                                        </p:attrNameLst>
                                      </p:cBhvr>
                                      <p:to>
                                        <p:strVal val="visible"/>
                                      </p:to>
                                    </p:set>
                                    <p:anim calcmode="lin" valueType="num">
                                      <p:cBhvr additive="base">
                                        <p:cTn id="49" dur="500" fill="hold"/>
                                        <p:tgtEl>
                                          <p:spTgt spid="31"/>
                                        </p:tgtEl>
                                        <p:attrNameLst>
                                          <p:attrName>ppt_x</p:attrName>
                                        </p:attrNameLst>
                                      </p:cBhvr>
                                      <p:tavLst>
                                        <p:tav tm="0">
                                          <p:val>
                                            <p:strVal val="0-#ppt_w/2"/>
                                          </p:val>
                                        </p:tav>
                                        <p:tav tm="100000">
                                          <p:val>
                                            <p:strVal val="#ppt_x"/>
                                          </p:val>
                                        </p:tav>
                                      </p:tavLst>
                                    </p:anim>
                                    <p:anim calcmode="lin" valueType="num">
                                      <p:cBhvr additive="base">
                                        <p:cTn id="50"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43"/>
                                        </p:tgtEl>
                                        <p:attrNameLst>
                                          <p:attrName>style.visibility</p:attrName>
                                        </p:attrNameLst>
                                      </p:cBhvr>
                                      <p:to>
                                        <p:strVal val="visible"/>
                                      </p:to>
                                    </p:set>
                                    <p:anim calcmode="lin" valueType="num">
                                      <p:cBhvr additive="base">
                                        <p:cTn id="55" dur="500" fill="hold"/>
                                        <p:tgtEl>
                                          <p:spTgt spid="43"/>
                                        </p:tgtEl>
                                        <p:attrNameLst>
                                          <p:attrName>ppt_x</p:attrName>
                                        </p:attrNameLst>
                                      </p:cBhvr>
                                      <p:tavLst>
                                        <p:tav tm="0">
                                          <p:val>
                                            <p:strVal val="#ppt_x"/>
                                          </p:val>
                                        </p:tav>
                                        <p:tav tm="100000">
                                          <p:val>
                                            <p:strVal val="#ppt_x"/>
                                          </p:val>
                                        </p:tav>
                                      </p:tavLst>
                                    </p:anim>
                                    <p:anim calcmode="lin" valueType="num">
                                      <p:cBhvr additive="base">
                                        <p:cTn id="56"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price searcher: minimizing loss</a:t>
            </a:r>
          </a:p>
        </p:txBody>
      </p:sp>
      <p:sp>
        <p:nvSpPr>
          <p:cNvPr id="3" name="Slide Number Placeholder 2"/>
          <p:cNvSpPr>
            <a:spLocks noGrp="1"/>
          </p:cNvSpPr>
          <p:nvPr>
            <p:ph type="sldNum" sz="quarter" idx="12"/>
          </p:nvPr>
        </p:nvSpPr>
        <p:spPr/>
        <p:txBody>
          <a:bodyPr/>
          <a:lstStyle/>
          <a:p>
            <a:fld id="{0F3206DB-9488-D04D-BDD1-A7C9D84C4579}" type="slidenum">
              <a:rPr lang="en-US" smtClean="0"/>
              <a:t>13</a:t>
            </a:fld>
            <a:endParaRPr lang="en-US"/>
          </a:p>
        </p:txBody>
      </p:sp>
      <p:grpSp>
        <p:nvGrpSpPr>
          <p:cNvPr id="36" name="Group 46"/>
          <p:cNvGrpSpPr>
            <a:grpSpLocks/>
          </p:cNvGrpSpPr>
          <p:nvPr/>
        </p:nvGrpSpPr>
        <p:grpSpPr bwMode="auto">
          <a:xfrm>
            <a:off x="1060158" y="1622541"/>
            <a:ext cx="8036699" cy="4466685"/>
            <a:chOff x="548" y="1328"/>
            <a:chExt cx="4812" cy="2672"/>
          </a:xfrm>
        </p:grpSpPr>
        <p:sp>
          <p:nvSpPr>
            <p:cNvPr id="37" name="Line 5"/>
            <p:cNvSpPr>
              <a:spLocks noChangeShapeType="1"/>
            </p:cNvSpPr>
            <p:nvPr/>
          </p:nvSpPr>
          <p:spPr bwMode="auto">
            <a:xfrm>
              <a:off x="1080" y="1344"/>
              <a:ext cx="0" cy="2232"/>
            </a:xfrm>
            <a:prstGeom prst="line">
              <a:avLst/>
            </a:prstGeom>
            <a:noFill/>
            <a:ln w="44450">
              <a:solidFill>
                <a:schemeClr val="tx1"/>
              </a:solidFill>
              <a:round/>
              <a:headEnd type="arrow" w="sm" len="sm"/>
              <a:tailEnd type="none" w="sm" len="sm"/>
            </a:ln>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38" name="Line 6"/>
            <p:cNvSpPr>
              <a:spLocks noChangeShapeType="1"/>
            </p:cNvSpPr>
            <p:nvPr/>
          </p:nvSpPr>
          <p:spPr bwMode="auto">
            <a:xfrm>
              <a:off x="1080" y="3576"/>
              <a:ext cx="3392" cy="0"/>
            </a:xfrm>
            <a:prstGeom prst="line">
              <a:avLst/>
            </a:prstGeom>
            <a:noFill/>
            <a:ln w="44450">
              <a:solidFill>
                <a:schemeClr val="tx1"/>
              </a:solidFill>
              <a:round/>
              <a:headEnd type="none" w="sm" len="sm"/>
              <a:tailEnd type="arrow" w="sm" len="sm"/>
            </a:ln>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39" name="Rectangle 7"/>
            <p:cNvSpPr>
              <a:spLocks noChangeArrowheads="1"/>
            </p:cNvSpPr>
            <p:nvPr/>
          </p:nvSpPr>
          <p:spPr bwMode="auto">
            <a:xfrm>
              <a:off x="548" y="1328"/>
              <a:ext cx="792" cy="37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latin typeface="Whitney-Book" pitchFamily="50" charset="0"/>
                  <a:cs typeface="Whitney-Book" pitchFamily="50" charset="0"/>
                </a:rPr>
                <a:t>Price</a:t>
              </a:r>
            </a:p>
          </p:txBody>
        </p:sp>
        <p:sp>
          <p:nvSpPr>
            <p:cNvPr id="40" name="Rectangle 8"/>
            <p:cNvSpPr>
              <a:spLocks noChangeArrowheads="1"/>
            </p:cNvSpPr>
            <p:nvPr/>
          </p:nvSpPr>
          <p:spPr bwMode="auto">
            <a:xfrm>
              <a:off x="4336" y="3624"/>
              <a:ext cx="1024" cy="37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dirty="0">
                  <a:solidFill>
                    <a:schemeClr val="bg1"/>
                  </a:solidFill>
                  <a:latin typeface="Whitney-Book" pitchFamily="50" charset="0"/>
                  <a:cs typeface="Whitney-Book" pitchFamily="50" charset="0"/>
                </a:rPr>
                <a:t>Output</a:t>
              </a:r>
            </a:p>
          </p:txBody>
        </p:sp>
      </p:grpSp>
      <p:grpSp>
        <p:nvGrpSpPr>
          <p:cNvPr id="41" name="Group 47"/>
          <p:cNvGrpSpPr>
            <a:grpSpLocks/>
          </p:cNvGrpSpPr>
          <p:nvPr/>
        </p:nvGrpSpPr>
        <p:grpSpPr bwMode="auto">
          <a:xfrm>
            <a:off x="1948671" y="2063860"/>
            <a:ext cx="4075134" cy="3316581"/>
            <a:chOff x="1080" y="1592"/>
            <a:chExt cx="2440" cy="1984"/>
          </a:xfrm>
        </p:grpSpPr>
        <p:sp>
          <p:nvSpPr>
            <p:cNvPr id="42" name="Line 10"/>
            <p:cNvSpPr>
              <a:spLocks noChangeShapeType="1"/>
            </p:cNvSpPr>
            <p:nvPr/>
          </p:nvSpPr>
          <p:spPr bwMode="auto">
            <a:xfrm>
              <a:off x="1080" y="1592"/>
              <a:ext cx="2128" cy="1960"/>
            </a:xfrm>
            <a:prstGeom prst="line">
              <a:avLst/>
            </a:prstGeom>
            <a:noFill/>
            <a:ln w="50800">
              <a:solidFill>
                <a:srgbClr val="C00000"/>
              </a:solidFill>
              <a:round/>
              <a:headEnd type="none" w="sm" len="sm"/>
              <a:tailEnd type="none" w="sm" len="sm"/>
            </a:ln>
            <a:effectLst>
              <a:outerShdw blurRad="50800" dist="38100" dir="2700000" algn="tl" rotWithShape="0">
                <a:prstClr val="black">
                  <a:alpha val="40000"/>
                </a:prstClr>
              </a:outerShdw>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43" name="Rectangle 11"/>
            <p:cNvSpPr>
              <a:spLocks noChangeArrowheads="1"/>
            </p:cNvSpPr>
            <p:nvPr/>
          </p:nvSpPr>
          <p:spPr bwMode="auto">
            <a:xfrm>
              <a:off x="3152" y="3272"/>
              <a:ext cx="368" cy="304"/>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i="1" dirty="0">
                  <a:solidFill>
                    <a:srgbClr val="C00000"/>
                  </a:solidFill>
                  <a:latin typeface="Whitney-Book" pitchFamily="50" charset="0"/>
                  <a:cs typeface="Whitney-Book" pitchFamily="50" charset="0"/>
                </a:rPr>
                <a:t>D</a:t>
              </a:r>
            </a:p>
          </p:txBody>
        </p:sp>
      </p:grpSp>
      <p:grpSp>
        <p:nvGrpSpPr>
          <p:cNvPr id="44" name="Group 48"/>
          <p:cNvGrpSpPr>
            <a:grpSpLocks/>
          </p:cNvGrpSpPr>
          <p:nvPr/>
        </p:nvGrpSpPr>
        <p:grpSpPr bwMode="auto">
          <a:xfrm>
            <a:off x="1962032" y="2103980"/>
            <a:ext cx="2713972" cy="3677660"/>
            <a:chOff x="1088" y="1616"/>
            <a:chExt cx="1625" cy="2200"/>
          </a:xfrm>
        </p:grpSpPr>
        <p:sp>
          <p:nvSpPr>
            <p:cNvPr id="45" name="Line 13"/>
            <p:cNvSpPr>
              <a:spLocks noChangeShapeType="1"/>
            </p:cNvSpPr>
            <p:nvPr/>
          </p:nvSpPr>
          <p:spPr bwMode="auto">
            <a:xfrm>
              <a:off x="1088" y="1616"/>
              <a:ext cx="1292" cy="2200"/>
            </a:xfrm>
            <a:prstGeom prst="line">
              <a:avLst/>
            </a:prstGeom>
            <a:noFill/>
            <a:ln w="50800">
              <a:solidFill>
                <a:srgbClr val="C00000"/>
              </a:solidFill>
              <a:prstDash val="sysDot"/>
              <a:round/>
              <a:headEnd type="none" w="sm" len="sm"/>
              <a:tailEnd type="none" w="sm" len="sm"/>
            </a:ln>
            <a:effectLst>
              <a:outerShdw blurRad="50800" dist="38100" dir="2700000" algn="tl" rotWithShape="0">
                <a:prstClr val="black">
                  <a:alpha val="40000"/>
                </a:prstClr>
              </a:outerShdw>
            </a:effectLst>
          </p:spPr>
          <p:txBody>
            <a:bodyPr wrap="none" anchor="ctr"/>
            <a:lstStyle/>
            <a:p>
              <a:endParaRPr lang="en-US" sz="2800" b="0" dirty="0">
                <a:solidFill>
                  <a:schemeClr val="bg1"/>
                </a:solidFill>
                <a:latin typeface="Whitney-Book" pitchFamily="50" charset="0"/>
                <a:cs typeface="Whitney-Book" pitchFamily="50" charset="0"/>
              </a:endParaRPr>
            </a:p>
          </p:txBody>
        </p:sp>
        <p:sp>
          <p:nvSpPr>
            <p:cNvPr id="46" name="Rectangle 14"/>
            <p:cNvSpPr>
              <a:spLocks noChangeArrowheads="1"/>
            </p:cNvSpPr>
            <p:nvPr/>
          </p:nvSpPr>
          <p:spPr bwMode="auto">
            <a:xfrm>
              <a:off x="2225" y="3279"/>
              <a:ext cx="488" cy="304"/>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i="1" dirty="0">
                  <a:solidFill>
                    <a:srgbClr val="C00000"/>
                  </a:solidFill>
                  <a:latin typeface="Whitney-Book" pitchFamily="50" charset="0"/>
                  <a:cs typeface="Whitney-Book" pitchFamily="50" charset="0"/>
                </a:rPr>
                <a:t>MR</a:t>
              </a:r>
            </a:p>
          </p:txBody>
        </p:sp>
      </p:grpSp>
      <p:sp>
        <p:nvSpPr>
          <p:cNvPr id="50" name="Rectangle 18"/>
          <p:cNvSpPr>
            <a:spLocks noChangeArrowheads="1"/>
          </p:cNvSpPr>
          <p:nvPr/>
        </p:nvSpPr>
        <p:spPr bwMode="auto">
          <a:xfrm>
            <a:off x="5971885" y="3550218"/>
            <a:ext cx="1042165" cy="628546"/>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i="1" dirty="0">
                <a:solidFill>
                  <a:srgbClr val="00B050"/>
                </a:solidFill>
                <a:latin typeface="Whitney-Book" pitchFamily="50" charset="0"/>
                <a:cs typeface="Whitney-Book" pitchFamily="50" charset="0"/>
              </a:rPr>
              <a:t>AVC </a:t>
            </a:r>
            <a:r>
              <a:rPr lang="en-US" sz="1400" b="0" dirty="0">
                <a:solidFill>
                  <a:srgbClr val="00B050"/>
                </a:solidFill>
                <a:latin typeface="Whitney-Book" pitchFamily="50" charset="0"/>
                <a:cs typeface="Whitney-Book" pitchFamily="50" charset="0"/>
              </a:rPr>
              <a:t>(needed to check if we stay </a:t>
            </a:r>
          </a:p>
          <a:p>
            <a:pPr>
              <a:spcAft>
                <a:spcPts val="947"/>
              </a:spcAft>
              <a:tabLst>
                <a:tab pos="481157" algn="l"/>
                <a:tab pos="962315" algn="l"/>
                <a:tab pos="1443472" algn="l"/>
              </a:tabLst>
            </a:pPr>
            <a:r>
              <a:rPr lang="en-US" sz="1400" b="0" dirty="0">
                <a:solidFill>
                  <a:srgbClr val="00B050"/>
                </a:solidFill>
                <a:latin typeface="Whitney-Book" pitchFamily="50" charset="0"/>
                <a:cs typeface="Whitney-Book" pitchFamily="50" charset="0"/>
              </a:rPr>
              <a:t>	         in business in the short run)</a:t>
            </a:r>
            <a:endParaRPr lang="en-US" sz="2800" b="0" dirty="0">
              <a:solidFill>
                <a:srgbClr val="00B050"/>
              </a:solidFill>
              <a:latin typeface="Whitney-Book" pitchFamily="50" charset="0"/>
              <a:cs typeface="Whitney-Book" pitchFamily="50" charset="0"/>
            </a:endParaRPr>
          </a:p>
        </p:txBody>
      </p:sp>
      <p:sp>
        <p:nvSpPr>
          <p:cNvPr id="54" name="Rectangle 22"/>
          <p:cNvSpPr>
            <a:spLocks noChangeArrowheads="1"/>
          </p:cNvSpPr>
          <p:nvPr/>
        </p:nvSpPr>
        <p:spPr bwMode="auto">
          <a:xfrm>
            <a:off x="5616292" y="2810914"/>
            <a:ext cx="1082249" cy="628545"/>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solidFill>
                  <a:schemeClr val="accent2">
                    <a:lumMod val="75000"/>
                  </a:schemeClr>
                </a:solidFill>
                <a:latin typeface="Whitney-Book" pitchFamily="50" charset="0"/>
                <a:cs typeface="Whitney-Book" pitchFamily="50" charset="0"/>
              </a:rPr>
              <a:t>ATC </a:t>
            </a:r>
            <a:r>
              <a:rPr lang="en-US" b="0" dirty="0">
                <a:solidFill>
                  <a:schemeClr val="accent2">
                    <a:lumMod val="75000"/>
                  </a:schemeClr>
                </a:solidFill>
                <a:latin typeface="Whitney-Book" pitchFamily="50" charset="0"/>
                <a:cs typeface="Whitney-Book" pitchFamily="50" charset="0"/>
              </a:rPr>
              <a:t>(with higher rent)</a:t>
            </a:r>
            <a:endParaRPr lang="en-US" sz="2800" b="0" dirty="0">
              <a:solidFill>
                <a:schemeClr val="accent2">
                  <a:lumMod val="75000"/>
                </a:schemeClr>
              </a:solidFill>
              <a:latin typeface="Whitney-Book" pitchFamily="50" charset="0"/>
              <a:cs typeface="Whitney-Book" pitchFamily="50" charset="0"/>
            </a:endParaRPr>
          </a:p>
        </p:txBody>
      </p:sp>
      <p:sp>
        <p:nvSpPr>
          <p:cNvPr id="56" name="Rectangle 24"/>
          <p:cNvSpPr>
            <a:spLocks noChangeArrowheads="1"/>
          </p:cNvSpPr>
          <p:nvPr/>
        </p:nvSpPr>
        <p:spPr bwMode="auto">
          <a:xfrm>
            <a:off x="5058466" y="2095025"/>
            <a:ext cx="627971" cy="62854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solidFill>
                  <a:schemeClr val="accent1">
                    <a:lumMod val="75000"/>
                  </a:schemeClr>
                </a:solidFill>
                <a:latin typeface="Whitney-Book" pitchFamily="50" charset="0"/>
                <a:cs typeface="Whitney-Book" pitchFamily="50" charset="0"/>
              </a:rPr>
              <a:t>MC</a:t>
            </a:r>
          </a:p>
        </p:txBody>
      </p:sp>
      <p:grpSp>
        <p:nvGrpSpPr>
          <p:cNvPr id="58" name="Group 52"/>
          <p:cNvGrpSpPr>
            <a:grpSpLocks/>
          </p:cNvGrpSpPr>
          <p:nvPr/>
        </p:nvGrpSpPr>
        <p:grpSpPr bwMode="auto">
          <a:xfrm>
            <a:off x="3004198" y="3200592"/>
            <a:ext cx="761582" cy="2861888"/>
            <a:chOff x="1712" y="2272"/>
            <a:chExt cx="456" cy="1712"/>
          </a:xfrm>
        </p:grpSpPr>
        <p:sp>
          <p:nvSpPr>
            <p:cNvPr id="59" name="Line 27"/>
            <p:cNvSpPr>
              <a:spLocks noChangeShapeType="1"/>
            </p:cNvSpPr>
            <p:nvPr/>
          </p:nvSpPr>
          <p:spPr bwMode="auto">
            <a:xfrm>
              <a:off x="1804" y="2272"/>
              <a:ext cx="6" cy="1296"/>
            </a:xfrm>
            <a:prstGeom prst="line">
              <a:avLst/>
            </a:prstGeom>
            <a:noFill/>
            <a:ln w="25400">
              <a:solidFill>
                <a:schemeClr val="tx1"/>
              </a:solidFill>
              <a:prstDash val="sysDot"/>
              <a:round/>
              <a:headEnd type="none" w="sm" len="sm"/>
              <a:tailEnd type="none" w="sm" len="sm"/>
            </a:ln>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60" name="Rectangle 28"/>
            <p:cNvSpPr>
              <a:spLocks noChangeArrowheads="1"/>
            </p:cNvSpPr>
            <p:nvPr/>
          </p:nvSpPr>
          <p:spPr bwMode="auto">
            <a:xfrm>
              <a:off x="1712" y="3608"/>
              <a:ext cx="456" cy="376"/>
            </a:xfrm>
            <a:prstGeom prst="rect">
              <a:avLst/>
            </a:prstGeom>
            <a:noFill/>
            <a:ln w="9525">
              <a:noFill/>
              <a:prstDash val="sysDot"/>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200" b="0" i="1" dirty="0">
                  <a:latin typeface="Whitney-Book" pitchFamily="50" charset="0"/>
                  <a:cs typeface="Whitney-Book" pitchFamily="50" charset="0"/>
                </a:rPr>
                <a:t>Q*</a:t>
              </a:r>
            </a:p>
          </p:txBody>
        </p:sp>
      </p:grpSp>
      <p:grpSp>
        <p:nvGrpSpPr>
          <p:cNvPr id="61" name="Group 54"/>
          <p:cNvGrpSpPr>
            <a:grpSpLocks/>
          </p:cNvGrpSpPr>
          <p:nvPr/>
        </p:nvGrpSpPr>
        <p:grpSpPr bwMode="auto">
          <a:xfrm>
            <a:off x="1454310" y="3053485"/>
            <a:ext cx="1696859" cy="601799"/>
            <a:chOff x="784" y="2184"/>
            <a:chExt cx="1016" cy="360"/>
          </a:xfrm>
        </p:grpSpPr>
        <p:sp>
          <p:nvSpPr>
            <p:cNvPr id="62" name="Line 30"/>
            <p:cNvSpPr>
              <a:spLocks noChangeShapeType="1"/>
            </p:cNvSpPr>
            <p:nvPr/>
          </p:nvSpPr>
          <p:spPr bwMode="auto">
            <a:xfrm flipH="1">
              <a:off x="1096" y="2264"/>
              <a:ext cx="704" cy="0"/>
            </a:xfrm>
            <a:prstGeom prst="line">
              <a:avLst/>
            </a:prstGeom>
            <a:noFill/>
            <a:ln w="25400">
              <a:solidFill>
                <a:schemeClr val="tx1"/>
              </a:solidFill>
              <a:prstDash val="sysDot"/>
              <a:round/>
              <a:headEnd type="none" w="sm" len="sm"/>
              <a:tailEnd type="none" w="sm" len="sm"/>
            </a:ln>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63" name="Rectangle 31"/>
            <p:cNvSpPr>
              <a:spLocks noChangeArrowheads="1"/>
            </p:cNvSpPr>
            <p:nvPr/>
          </p:nvSpPr>
          <p:spPr bwMode="auto">
            <a:xfrm>
              <a:off x="784" y="2184"/>
              <a:ext cx="352" cy="360"/>
            </a:xfrm>
            <a:prstGeom prst="rect">
              <a:avLst/>
            </a:prstGeom>
            <a:noFill/>
            <a:ln w="9525">
              <a:noFill/>
              <a:miter lim="800000"/>
              <a:headEnd/>
              <a:tailEnd/>
            </a:ln>
            <a:effectLst/>
          </p:spPr>
          <p:txBody>
            <a:bodyPr wrap="none" lIns="19050" tIns="26988" rIns="19050" bIns="26988"/>
            <a:lstStyle/>
            <a:p>
              <a:pPr>
                <a:lnSpc>
                  <a:spcPts val="2736"/>
                </a:lnSpc>
                <a:spcAft>
                  <a:spcPts val="947"/>
                </a:spcAft>
                <a:tabLst>
                  <a:tab pos="481157" algn="l"/>
                  <a:tab pos="962315" algn="l"/>
                  <a:tab pos="1443472" algn="l"/>
                </a:tabLst>
              </a:pPr>
              <a:r>
                <a:rPr lang="en-US" sz="2200" b="0" i="1" dirty="0">
                  <a:latin typeface="Whitney-Book" pitchFamily="50" charset="0"/>
                  <a:cs typeface="Whitney-Book" pitchFamily="50" charset="0"/>
                </a:rPr>
                <a:t>P*</a:t>
              </a:r>
            </a:p>
          </p:txBody>
        </p:sp>
      </p:grpSp>
      <p:sp>
        <p:nvSpPr>
          <p:cNvPr id="64" name="Line 32"/>
          <p:cNvSpPr>
            <a:spLocks noChangeShapeType="1"/>
          </p:cNvSpPr>
          <p:nvPr/>
        </p:nvSpPr>
        <p:spPr bwMode="auto">
          <a:xfrm>
            <a:off x="3157850" y="2949842"/>
            <a:ext cx="0" cy="250750"/>
          </a:xfrm>
          <a:prstGeom prst="line">
            <a:avLst/>
          </a:prstGeom>
          <a:noFill/>
          <a:ln w="25400">
            <a:solidFill>
              <a:srgbClr val="000099"/>
            </a:solidFill>
            <a:round/>
            <a:headEnd type="none" w="sm" len="sm"/>
            <a:tailEnd type="none" w="sm" len="sm"/>
          </a:ln>
          <a:effectLst/>
        </p:spPr>
        <p:txBody>
          <a:bodyPr wrap="none" lIns="96231" tIns="48116" rIns="96231" bIns="48116" anchor="ctr"/>
          <a:lstStyle/>
          <a:p>
            <a:endParaRPr lang="en-US" sz="2800" b="0">
              <a:solidFill>
                <a:schemeClr val="bg1"/>
              </a:solidFill>
              <a:latin typeface="Whitney-Book" pitchFamily="50" charset="0"/>
              <a:cs typeface="Whitney-Book" pitchFamily="50" charset="0"/>
            </a:endParaRPr>
          </a:p>
        </p:txBody>
      </p:sp>
      <p:grpSp>
        <p:nvGrpSpPr>
          <p:cNvPr id="65" name="Group 53"/>
          <p:cNvGrpSpPr>
            <a:grpSpLocks/>
          </p:cNvGrpSpPr>
          <p:nvPr/>
        </p:nvGrpSpPr>
        <p:grpSpPr bwMode="auto">
          <a:xfrm>
            <a:off x="1213810" y="2692405"/>
            <a:ext cx="1930678" cy="2342000"/>
            <a:chOff x="640" y="1968"/>
            <a:chExt cx="1156" cy="1401"/>
          </a:xfrm>
        </p:grpSpPr>
        <p:sp>
          <p:nvSpPr>
            <p:cNvPr id="66" name="Line 34"/>
            <p:cNvSpPr>
              <a:spLocks noChangeShapeType="1"/>
            </p:cNvSpPr>
            <p:nvPr/>
          </p:nvSpPr>
          <p:spPr bwMode="auto">
            <a:xfrm>
              <a:off x="1080" y="3115"/>
              <a:ext cx="704" cy="0"/>
            </a:xfrm>
            <a:prstGeom prst="line">
              <a:avLst/>
            </a:prstGeom>
            <a:noFill/>
            <a:ln w="25400">
              <a:solidFill>
                <a:schemeClr val="tx1"/>
              </a:solidFill>
              <a:prstDash val="sysDot"/>
              <a:round/>
              <a:headEnd type="none" w="sm" len="sm"/>
              <a:tailEnd type="none" w="sm" len="sm"/>
            </a:ln>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67" name="Rectangle 35"/>
            <p:cNvSpPr>
              <a:spLocks noChangeArrowheads="1"/>
            </p:cNvSpPr>
            <p:nvPr/>
          </p:nvSpPr>
          <p:spPr bwMode="auto">
            <a:xfrm>
              <a:off x="662" y="3009"/>
              <a:ext cx="624" cy="360"/>
            </a:xfrm>
            <a:prstGeom prst="rect">
              <a:avLst/>
            </a:prstGeom>
            <a:noFill/>
            <a:ln w="9525">
              <a:noFill/>
              <a:miter lim="800000"/>
              <a:headEnd/>
              <a:tailEnd/>
            </a:ln>
            <a:effectLst/>
          </p:spPr>
          <p:txBody>
            <a:bodyPr wrap="none" lIns="19050" tIns="26988" rIns="19050" bIns="26988"/>
            <a:lstStyle/>
            <a:p>
              <a:pPr>
                <a:lnSpc>
                  <a:spcPts val="2736"/>
                </a:lnSpc>
                <a:spcAft>
                  <a:spcPts val="947"/>
                </a:spcAft>
                <a:tabLst>
                  <a:tab pos="481157" algn="l"/>
                  <a:tab pos="962315" algn="l"/>
                  <a:tab pos="1443472" algn="l"/>
                </a:tabLst>
              </a:pPr>
              <a:r>
                <a:rPr lang="en-US" sz="2200" b="0" i="1" dirty="0">
                  <a:latin typeface="Whitney-Book" pitchFamily="50" charset="0"/>
                  <a:cs typeface="Whitney-Book" pitchFamily="50" charset="0"/>
                </a:rPr>
                <a:t>AVC</a:t>
              </a:r>
            </a:p>
          </p:txBody>
        </p:sp>
        <p:sp>
          <p:nvSpPr>
            <p:cNvPr id="68" name="Rectangle 36"/>
            <p:cNvSpPr>
              <a:spLocks noChangeArrowheads="1"/>
            </p:cNvSpPr>
            <p:nvPr/>
          </p:nvSpPr>
          <p:spPr bwMode="auto">
            <a:xfrm>
              <a:off x="640" y="1968"/>
              <a:ext cx="616" cy="360"/>
            </a:xfrm>
            <a:prstGeom prst="rect">
              <a:avLst/>
            </a:prstGeom>
            <a:noFill/>
            <a:ln w="9525">
              <a:noFill/>
              <a:miter lim="800000"/>
              <a:headEnd/>
              <a:tailEnd/>
            </a:ln>
            <a:effectLst/>
          </p:spPr>
          <p:txBody>
            <a:bodyPr wrap="none" lIns="19050" tIns="26988" rIns="19050" bIns="26988"/>
            <a:lstStyle/>
            <a:p>
              <a:pPr>
                <a:lnSpc>
                  <a:spcPts val="2736"/>
                </a:lnSpc>
                <a:spcAft>
                  <a:spcPts val="947"/>
                </a:spcAft>
                <a:tabLst>
                  <a:tab pos="481157" algn="l"/>
                  <a:tab pos="962315" algn="l"/>
                  <a:tab pos="1443472" algn="l"/>
                </a:tabLst>
              </a:pPr>
              <a:r>
                <a:rPr lang="en-US" sz="2200" b="0" i="1" dirty="0">
                  <a:latin typeface="Whitney-Book" pitchFamily="50" charset="0"/>
                  <a:cs typeface="Whitney-Book" pitchFamily="50" charset="0"/>
                </a:rPr>
                <a:t>ATC</a:t>
              </a:r>
            </a:p>
          </p:txBody>
        </p:sp>
        <p:sp>
          <p:nvSpPr>
            <p:cNvPr id="69" name="Line 37"/>
            <p:cNvSpPr>
              <a:spLocks noChangeShapeType="1"/>
            </p:cNvSpPr>
            <p:nvPr/>
          </p:nvSpPr>
          <p:spPr bwMode="auto">
            <a:xfrm>
              <a:off x="1092" y="2124"/>
              <a:ext cx="704" cy="0"/>
            </a:xfrm>
            <a:prstGeom prst="line">
              <a:avLst/>
            </a:prstGeom>
            <a:noFill/>
            <a:ln w="25400">
              <a:solidFill>
                <a:schemeClr val="tx1"/>
              </a:solidFill>
              <a:prstDash val="sysDot"/>
              <a:round/>
              <a:headEnd type="none" w="sm" len="sm"/>
              <a:tailEnd type="none" w="sm" len="sm"/>
            </a:ln>
            <a:effectLst/>
          </p:spPr>
          <p:txBody>
            <a:bodyPr wrap="none" anchor="ctr"/>
            <a:lstStyle/>
            <a:p>
              <a:endParaRPr lang="en-US" sz="2800" b="0">
                <a:solidFill>
                  <a:schemeClr val="bg1"/>
                </a:solidFill>
                <a:latin typeface="Whitney-Book" pitchFamily="50" charset="0"/>
                <a:cs typeface="Whitney-Book" pitchFamily="50" charset="0"/>
              </a:endParaRPr>
            </a:p>
          </p:txBody>
        </p:sp>
      </p:grpSp>
      <p:grpSp>
        <p:nvGrpSpPr>
          <p:cNvPr id="70" name="Group 61"/>
          <p:cNvGrpSpPr>
            <a:grpSpLocks/>
          </p:cNvGrpSpPr>
          <p:nvPr/>
        </p:nvGrpSpPr>
        <p:grpSpPr bwMode="auto">
          <a:xfrm>
            <a:off x="1956643" y="2060722"/>
            <a:ext cx="3286830" cy="1113328"/>
            <a:chOff x="1092" y="1584"/>
            <a:chExt cx="1968" cy="666"/>
          </a:xfrm>
        </p:grpSpPr>
        <p:sp>
          <p:nvSpPr>
            <p:cNvPr id="71" name="Rectangle 39"/>
            <p:cNvSpPr>
              <a:spLocks noChangeArrowheads="1"/>
            </p:cNvSpPr>
            <p:nvPr/>
          </p:nvSpPr>
          <p:spPr bwMode="auto">
            <a:xfrm>
              <a:off x="1092" y="2124"/>
              <a:ext cx="716" cy="126"/>
            </a:xfrm>
            <a:prstGeom prst="rect">
              <a:avLst/>
            </a:prstGeom>
            <a:solidFill>
              <a:srgbClr val="FFC000"/>
            </a:solidFill>
            <a:ln w="9525">
              <a:noFill/>
              <a:miter lim="800000"/>
              <a:headEnd/>
              <a:tailEnd/>
            </a:ln>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72" name="Line 40"/>
            <p:cNvSpPr>
              <a:spLocks noChangeShapeType="1"/>
            </p:cNvSpPr>
            <p:nvPr/>
          </p:nvSpPr>
          <p:spPr bwMode="auto">
            <a:xfrm flipH="1">
              <a:off x="1676" y="1823"/>
              <a:ext cx="788" cy="401"/>
            </a:xfrm>
            <a:prstGeom prst="line">
              <a:avLst/>
            </a:prstGeom>
            <a:noFill/>
            <a:ln w="25400">
              <a:solidFill>
                <a:schemeClr val="bg2">
                  <a:lumMod val="50000"/>
                </a:schemeClr>
              </a:solidFill>
              <a:round/>
              <a:headEnd type="none" w="sm" len="sm"/>
              <a:tailEnd type="stealth" w="med" len="lg"/>
            </a:ln>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73" name="Rectangle 41"/>
            <p:cNvSpPr>
              <a:spLocks noChangeArrowheads="1"/>
            </p:cNvSpPr>
            <p:nvPr/>
          </p:nvSpPr>
          <p:spPr bwMode="auto">
            <a:xfrm>
              <a:off x="2380" y="1584"/>
              <a:ext cx="680" cy="360"/>
            </a:xfrm>
            <a:prstGeom prst="rect">
              <a:avLst/>
            </a:prstGeom>
            <a:noFill/>
            <a:ln w="9525">
              <a:noFill/>
              <a:miter lim="800000"/>
              <a:headEnd/>
              <a:tailEnd/>
            </a:ln>
            <a:effectLst/>
          </p:spPr>
          <p:txBody>
            <a:bodyPr wrap="none" lIns="19050" tIns="26988" rIns="19050" bIns="26988"/>
            <a:lstStyle/>
            <a:p>
              <a:pPr>
                <a:lnSpc>
                  <a:spcPts val="2736"/>
                </a:lnSpc>
                <a:spcAft>
                  <a:spcPts val="947"/>
                </a:spcAft>
                <a:tabLst>
                  <a:tab pos="481157" algn="l"/>
                  <a:tab pos="962315" algn="l"/>
                  <a:tab pos="1443472" algn="l"/>
                </a:tabLst>
              </a:pPr>
              <a:r>
                <a:rPr lang="en-US" sz="2200" b="0" i="1" dirty="0">
                  <a:solidFill>
                    <a:schemeClr val="bg2">
                      <a:lumMod val="50000"/>
                    </a:schemeClr>
                  </a:solidFill>
                  <a:latin typeface="Whitney-Book" pitchFamily="50" charset="0"/>
                  <a:cs typeface="Whitney-Book" pitchFamily="50" charset="0"/>
                </a:rPr>
                <a:t>Loss</a:t>
              </a:r>
            </a:p>
          </p:txBody>
        </p:sp>
      </p:grpSp>
      <p:grpSp>
        <p:nvGrpSpPr>
          <p:cNvPr id="74" name="Group 63"/>
          <p:cNvGrpSpPr>
            <a:grpSpLocks/>
          </p:cNvGrpSpPr>
          <p:nvPr/>
        </p:nvGrpSpPr>
        <p:grpSpPr bwMode="auto">
          <a:xfrm>
            <a:off x="206717" y="3214215"/>
            <a:ext cx="2951133" cy="1395839"/>
            <a:chOff x="380" y="2269"/>
            <a:chExt cx="1767" cy="835"/>
          </a:xfrm>
        </p:grpSpPr>
        <p:sp>
          <p:nvSpPr>
            <p:cNvPr id="75" name="Rectangle 43"/>
            <p:cNvSpPr>
              <a:spLocks noChangeArrowheads="1"/>
            </p:cNvSpPr>
            <p:nvPr/>
          </p:nvSpPr>
          <p:spPr bwMode="auto">
            <a:xfrm>
              <a:off x="1430" y="2269"/>
              <a:ext cx="717" cy="835"/>
            </a:xfrm>
            <a:prstGeom prst="rect">
              <a:avLst/>
            </a:prstGeom>
            <a:solidFill>
              <a:schemeClr val="accent1">
                <a:lumMod val="50000"/>
                <a:lumOff val="50000"/>
              </a:schemeClr>
            </a:solidFill>
            <a:ln w="9525">
              <a:noFill/>
              <a:miter lim="800000"/>
              <a:headEnd/>
              <a:tailEnd/>
            </a:ln>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76" name="Rectangle 44"/>
            <p:cNvSpPr>
              <a:spLocks noChangeArrowheads="1"/>
            </p:cNvSpPr>
            <p:nvPr/>
          </p:nvSpPr>
          <p:spPr bwMode="auto">
            <a:xfrm>
              <a:off x="380" y="2531"/>
              <a:ext cx="1168" cy="340"/>
            </a:xfrm>
            <a:prstGeom prst="rect">
              <a:avLst/>
            </a:prstGeom>
            <a:noFill/>
            <a:ln w="9525">
              <a:noFill/>
              <a:miter lim="800000"/>
              <a:headEnd/>
              <a:tailEnd/>
            </a:ln>
            <a:effectLst/>
          </p:spPr>
          <p:txBody>
            <a:bodyPr wrap="none" lIns="19050" tIns="26988" rIns="19050" bIns="26988"/>
            <a:lstStyle/>
            <a:p>
              <a:pPr>
                <a:tabLst>
                  <a:tab pos="481157" algn="l"/>
                  <a:tab pos="962315" algn="l"/>
                  <a:tab pos="1443472" algn="l"/>
                </a:tabLst>
              </a:pPr>
              <a:r>
                <a:rPr lang="en-US" sz="2000" b="0" i="1" dirty="0">
                  <a:latin typeface="Whitney-Book" pitchFamily="50" charset="0"/>
                  <a:cs typeface="Whitney-Book" pitchFamily="50" charset="0"/>
                </a:rPr>
                <a:t>Contribution</a:t>
              </a:r>
            </a:p>
            <a:p>
              <a:pPr>
                <a:tabLst>
                  <a:tab pos="481157" algn="l"/>
                  <a:tab pos="962315" algn="l"/>
                  <a:tab pos="1443472" algn="l"/>
                </a:tabLst>
              </a:pPr>
              <a:r>
                <a:rPr lang="en-US" sz="2000" i="1" dirty="0">
                  <a:latin typeface="Whitney-Book" pitchFamily="50" charset="0"/>
                  <a:cs typeface="Whitney-Book" pitchFamily="50" charset="0"/>
                </a:rPr>
                <a:t>to TFC</a:t>
              </a:r>
              <a:endParaRPr lang="en-US" sz="2000" b="0" i="1" dirty="0">
                <a:latin typeface="Whitney-Book" pitchFamily="50" charset="0"/>
                <a:cs typeface="Whitney-Book" pitchFamily="50" charset="0"/>
              </a:endParaRPr>
            </a:p>
          </p:txBody>
        </p:sp>
        <p:sp>
          <p:nvSpPr>
            <p:cNvPr id="77" name="Line 45"/>
            <p:cNvSpPr>
              <a:spLocks noChangeShapeType="1"/>
            </p:cNvSpPr>
            <p:nvPr/>
          </p:nvSpPr>
          <p:spPr bwMode="auto">
            <a:xfrm flipV="1">
              <a:off x="1120" y="2470"/>
              <a:ext cx="571" cy="301"/>
            </a:xfrm>
            <a:prstGeom prst="line">
              <a:avLst/>
            </a:prstGeom>
            <a:noFill/>
            <a:ln w="25400">
              <a:solidFill>
                <a:schemeClr val="tx1"/>
              </a:solidFill>
              <a:round/>
              <a:headEnd type="none" w="sm" len="sm"/>
              <a:tailEnd type="stealth" w="med" len="lg"/>
            </a:ln>
            <a:effectLst/>
          </p:spPr>
          <p:txBody>
            <a:bodyPr wrap="none" anchor="ctr"/>
            <a:lstStyle/>
            <a:p>
              <a:endParaRPr lang="en-US" sz="2800" b="0">
                <a:solidFill>
                  <a:schemeClr val="bg1"/>
                </a:solidFill>
                <a:latin typeface="Whitney-Book" pitchFamily="50" charset="0"/>
                <a:cs typeface="Whitney-Book" pitchFamily="50" charset="0"/>
              </a:endParaRPr>
            </a:p>
          </p:txBody>
        </p:sp>
      </p:grpSp>
      <p:sp>
        <p:nvSpPr>
          <p:cNvPr id="78" name="Rectangle 8"/>
          <p:cNvSpPr>
            <a:spLocks noChangeArrowheads="1"/>
          </p:cNvSpPr>
          <p:nvPr/>
        </p:nvSpPr>
        <p:spPr bwMode="auto">
          <a:xfrm>
            <a:off x="6492968" y="5417734"/>
            <a:ext cx="1710220" cy="62854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latin typeface="Whitney-Book" pitchFamily="50" charset="0"/>
                <a:cs typeface="Whitney-Book" pitchFamily="50" charset="0"/>
              </a:rPr>
              <a:t>Output</a:t>
            </a:r>
          </a:p>
        </p:txBody>
      </p:sp>
      <p:sp>
        <p:nvSpPr>
          <p:cNvPr id="79" name="Rectangle 34">
            <a:extLst>
              <a:ext uri="{FF2B5EF4-FFF2-40B4-BE49-F238E27FC236}">
                <a16:creationId xmlns:a16="http://schemas.microsoft.com/office/drawing/2014/main" id="{EF44043E-3ADC-4EB3-9040-44A89A48C92F}"/>
              </a:ext>
            </a:extLst>
          </p:cNvPr>
          <p:cNvSpPr>
            <a:spLocks noChangeArrowheads="1"/>
          </p:cNvSpPr>
          <p:nvPr/>
        </p:nvSpPr>
        <p:spPr bwMode="auto">
          <a:xfrm>
            <a:off x="52465" y="5982238"/>
            <a:ext cx="8804429" cy="804311"/>
          </a:xfrm>
          <a:prstGeom prst="rect">
            <a:avLst/>
          </a:prstGeom>
          <a:noFill/>
          <a:ln w="25400">
            <a:solidFill>
              <a:srgbClr val="C00000"/>
            </a:solidFill>
            <a:miter lim="800000"/>
            <a:headEnd/>
            <a:tailEnd/>
          </a:ln>
          <a:effectLst/>
        </p:spPr>
        <p:txBody>
          <a:bodyPr wrap="none" lIns="20048" tIns="28402" rIns="20048" bIns="28402" anchor="ctr" anchorCtr="0"/>
          <a:lstStyle/>
          <a:p>
            <a:pPr algn="ctr">
              <a:lnSpc>
                <a:spcPts val="2526"/>
              </a:lnSpc>
              <a:spcAft>
                <a:spcPts val="947"/>
              </a:spcAft>
              <a:tabLst>
                <a:tab pos="481157" algn="l"/>
                <a:tab pos="962315" algn="l"/>
                <a:tab pos="1443472" algn="l"/>
              </a:tabLst>
            </a:pPr>
            <a:r>
              <a:rPr lang="en-US" b="0" dirty="0">
                <a:solidFill>
                  <a:srgbClr val="C00000"/>
                </a:solidFill>
                <a:latin typeface="Whitney-Book" pitchFamily="50" charset="0"/>
                <a:cs typeface="Whitney-Book" pitchFamily="50" charset="0"/>
              </a:rPr>
              <a:t>Negative economic profits (losses) are being made because </a:t>
            </a:r>
            <a:r>
              <a:rPr lang="en-US" b="0" i="1" dirty="0">
                <a:solidFill>
                  <a:srgbClr val="C00000"/>
                </a:solidFill>
                <a:latin typeface="Whitney-Book" pitchFamily="50" charset="0"/>
                <a:cs typeface="Whitney-Book" pitchFamily="50" charset="0"/>
              </a:rPr>
              <a:t>P* &lt; ATC</a:t>
            </a:r>
            <a:r>
              <a:rPr lang="en-US" dirty="0">
                <a:solidFill>
                  <a:srgbClr val="C00000"/>
                </a:solidFill>
                <a:latin typeface="Whitney-Book" pitchFamily="50" charset="0"/>
                <a:cs typeface="Whitney-Book" pitchFamily="50" charset="0"/>
              </a:rPr>
              <a:t>. </a:t>
            </a:r>
          </a:p>
          <a:p>
            <a:pPr algn="ctr">
              <a:lnSpc>
                <a:spcPts val="2526"/>
              </a:lnSpc>
              <a:spcAft>
                <a:spcPts val="947"/>
              </a:spcAft>
              <a:tabLst>
                <a:tab pos="481157" algn="l"/>
                <a:tab pos="962315" algn="l"/>
                <a:tab pos="1443472" algn="l"/>
              </a:tabLst>
            </a:pPr>
            <a:r>
              <a:rPr lang="en-US" dirty="0">
                <a:solidFill>
                  <a:srgbClr val="C00000"/>
                </a:solidFill>
                <a:latin typeface="Whitney-Book" pitchFamily="50" charset="0"/>
                <a:cs typeface="Whitney-Book" pitchFamily="50" charset="0"/>
              </a:rPr>
              <a:t>But </a:t>
            </a:r>
            <a:r>
              <a:rPr lang="en-US" i="1" dirty="0">
                <a:solidFill>
                  <a:srgbClr val="C00000"/>
                </a:solidFill>
                <a:latin typeface="Whitney-Book" pitchFamily="50" charset="0"/>
                <a:cs typeface="Whitney-Book" pitchFamily="50" charset="0"/>
              </a:rPr>
              <a:t>P* </a:t>
            </a:r>
            <a:r>
              <a:rPr lang="fr-FR" i="1" dirty="0">
                <a:solidFill>
                  <a:srgbClr val="C00000"/>
                </a:solidFill>
              </a:rPr>
              <a:t>&gt;</a:t>
            </a:r>
            <a:r>
              <a:rPr lang="en-US" i="1" dirty="0">
                <a:solidFill>
                  <a:srgbClr val="C00000"/>
                </a:solidFill>
                <a:latin typeface="Whitney-Book" pitchFamily="50" charset="0"/>
                <a:cs typeface="Whitney-Book" pitchFamily="50" charset="0"/>
              </a:rPr>
              <a:t> AVC  </a:t>
            </a:r>
            <a:r>
              <a:rPr lang="en-US" dirty="0">
                <a:solidFill>
                  <a:srgbClr val="C00000"/>
                </a:solidFill>
                <a:latin typeface="Whitney-Book" pitchFamily="50" charset="0"/>
                <a:cs typeface="Whitney-Book" pitchFamily="50" charset="0"/>
                <a:sym typeface="Wingdings" panose="05000000000000000000" pitchFamily="2" charset="2"/>
              </a:rPr>
              <a:t> </a:t>
            </a:r>
            <a:r>
              <a:rPr lang="en-US" b="0" dirty="0">
                <a:solidFill>
                  <a:srgbClr val="C00000"/>
                </a:solidFill>
                <a:latin typeface="Whitney-Book" pitchFamily="50" charset="0"/>
                <a:cs typeface="Whitney-Book" pitchFamily="50" charset="0"/>
              </a:rPr>
              <a:t>The firm should continue to produce, </a:t>
            </a:r>
            <a:r>
              <a:rPr lang="en-US" dirty="0">
                <a:solidFill>
                  <a:srgbClr val="C00000"/>
                </a:solidFill>
                <a:latin typeface="Whitney-Book" pitchFamily="50" charset="0"/>
                <a:cs typeface="Whitney-Book" pitchFamily="50" charset="0"/>
              </a:rPr>
              <a:t>to cover part of its T</a:t>
            </a:r>
            <a:r>
              <a:rPr lang="en-US" b="0" dirty="0">
                <a:solidFill>
                  <a:srgbClr val="C00000"/>
                </a:solidFill>
                <a:latin typeface="Whitney-Book" pitchFamily="50" charset="0"/>
                <a:cs typeface="Whitney-Book" pitchFamily="50" charset="0"/>
              </a:rPr>
              <a:t>FC.</a:t>
            </a:r>
          </a:p>
        </p:txBody>
      </p:sp>
      <p:cxnSp>
        <p:nvCxnSpPr>
          <p:cNvPr id="9" name="Straight Connector 8">
            <a:extLst>
              <a:ext uri="{FF2B5EF4-FFF2-40B4-BE49-F238E27FC236}">
                <a16:creationId xmlns:a16="http://schemas.microsoft.com/office/drawing/2014/main" id="{B72A69F8-2336-43C4-8B7D-7B6B9B8FD94A}"/>
              </a:ext>
            </a:extLst>
          </p:cNvPr>
          <p:cNvCxnSpPr>
            <a:cxnSpLocks/>
          </p:cNvCxnSpPr>
          <p:nvPr/>
        </p:nvCxnSpPr>
        <p:spPr>
          <a:xfrm flipV="1">
            <a:off x="1948671" y="2460250"/>
            <a:ext cx="3460524" cy="2542674"/>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BDE3D85D-A3F1-4F0C-AA30-4126F764B57B}"/>
              </a:ext>
            </a:extLst>
          </p:cNvPr>
          <p:cNvCxnSpPr>
            <a:cxnSpLocks/>
          </p:cNvCxnSpPr>
          <p:nvPr/>
        </p:nvCxnSpPr>
        <p:spPr>
          <a:xfrm flipV="1">
            <a:off x="1968712" y="3563796"/>
            <a:ext cx="4055093" cy="1474089"/>
          </a:xfrm>
          <a:prstGeom prst="line">
            <a:avLst/>
          </a:prstGeom>
          <a:ln w="57150">
            <a:solidFill>
              <a:srgbClr val="00B050"/>
            </a:solidFill>
          </a:ln>
          <a:effectLst>
            <a:outerShdw blurRad="50800" dist="38100" dir="2700000" algn="tl" rotWithShape="0">
              <a:prstClr val="black">
                <a:alpha val="40000"/>
              </a:prstClr>
            </a:outerShdw>
          </a:effectLst>
        </p:spPr>
        <p:style>
          <a:lnRef idx="3">
            <a:schemeClr val="accent3"/>
          </a:lnRef>
          <a:fillRef idx="0">
            <a:schemeClr val="accent3"/>
          </a:fillRef>
          <a:effectRef idx="2">
            <a:schemeClr val="accent3"/>
          </a:effectRef>
          <a:fontRef idx="minor">
            <a:schemeClr val="tx1"/>
          </a:fontRef>
        </p:style>
      </p:cxnSp>
      <p:grpSp>
        <p:nvGrpSpPr>
          <p:cNvPr id="5" name="Group 4">
            <a:extLst>
              <a:ext uri="{FF2B5EF4-FFF2-40B4-BE49-F238E27FC236}">
                <a16:creationId xmlns:a16="http://schemas.microsoft.com/office/drawing/2014/main" id="{6918D598-C0A3-443B-AB5C-C53C7CD8EC22}"/>
              </a:ext>
            </a:extLst>
          </p:cNvPr>
          <p:cNvGrpSpPr/>
          <p:nvPr/>
        </p:nvGrpSpPr>
        <p:grpSpPr>
          <a:xfrm>
            <a:off x="2736975" y="2099215"/>
            <a:ext cx="3604351" cy="1230344"/>
            <a:chOff x="2642378" y="2099590"/>
            <a:chExt cx="3604351" cy="1230344"/>
          </a:xfrm>
        </p:grpSpPr>
        <p:sp>
          <p:nvSpPr>
            <p:cNvPr id="83" name="Arc 17">
              <a:extLst>
                <a:ext uri="{FF2B5EF4-FFF2-40B4-BE49-F238E27FC236}">
                  <a16:creationId xmlns:a16="http://schemas.microsoft.com/office/drawing/2014/main" id="{D8317E02-5D54-4AE1-A314-902BDCCFC470}"/>
                </a:ext>
              </a:extLst>
            </p:cNvPr>
            <p:cNvSpPr>
              <a:spLocks/>
            </p:cNvSpPr>
            <p:nvPr/>
          </p:nvSpPr>
          <p:spPr bwMode="auto">
            <a:xfrm rot="21130938">
              <a:off x="4227024" y="3180104"/>
              <a:ext cx="2019705" cy="125186"/>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44450" cap="rnd">
              <a:solidFill>
                <a:schemeClr val="accent2">
                  <a:lumMod val="75000"/>
                </a:schemeClr>
              </a:solidFill>
              <a:prstDash val="dash"/>
              <a:round/>
              <a:headEnd type="none" w="sm" len="sm"/>
              <a:tailEnd type="none" w="sm" len="sm"/>
            </a:ln>
            <a:effectLst/>
          </p:spPr>
          <p:txBody>
            <a:bodyPr wrap="none" anchor="ctr"/>
            <a:lstStyle/>
            <a:p>
              <a:endParaRPr lang="en-US" sz="2800" b="0" dirty="0">
                <a:solidFill>
                  <a:schemeClr val="accent2">
                    <a:lumMod val="75000"/>
                  </a:schemeClr>
                </a:solidFill>
                <a:latin typeface="Whitney-Book" pitchFamily="50" charset="0"/>
                <a:cs typeface="Whitney-Book" pitchFamily="50" charset="0"/>
              </a:endParaRPr>
            </a:p>
          </p:txBody>
        </p:sp>
        <p:sp>
          <p:nvSpPr>
            <p:cNvPr id="84" name="Arc 17">
              <a:extLst>
                <a:ext uri="{FF2B5EF4-FFF2-40B4-BE49-F238E27FC236}">
                  <a16:creationId xmlns:a16="http://schemas.microsoft.com/office/drawing/2014/main" id="{432516B7-781B-4103-AD3C-9A0CDAE4B90C}"/>
                </a:ext>
              </a:extLst>
            </p:cNvPr>
            <p:cNvSpPr>
              <a:spLocks/>
            </p:cNvSpPr>
            <p:nvPr/>
          </p:nvSpPr>
          <p:spPr bwMode="auto">
            <a:xfrm>
              <a:off x="2642378" y="2099590"/>
              <a:ext cx="1650095" cy="1230344"/>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44450" cap="rnd">
              <a:solidFill>
                <a:schemeClr val="accent2">
                  <a:lumMod val="75000"/>
                </a:schemeClr>
              </a:solidFill>
              <a:prstDash val="dash"/>
              <a:round/>
              <a:headEnd type="none" w="sm" len="sm"/>
              <a:tailEnd type="none" w="sm" len="sm"/>
            </a:ln>
            <a:effectLst/>
          </p:spPr>
          <p:txBody>
            <a:bodyPr wrap="none" anchor="ctr"/>
            <a:lstStyle/>
            <a:p>
              <a:endParaRPr lang="en-US" sz="2800" b="0" dirty="0">
                <a:solidFill>
                  <a:schemeClr val="accent2">
                    <a:lumMod val="75000"/>
                  </a:schemeClr>
                </a:solidFill>
                <a:latin typeface="Whitney-Book" pitchFamily="50" charset="0"/>
                <a:cs typeface="Whitney-Book" pitchFamily="50" charset="0"/>
              </a:endParaRPr>
            </a:p>
          </p:txBody>
        </p:sp>
      </p:grpSp>
      <p:pic>
        <p:nvPicPr>
          <p:cNvPr id="47" name="Picture 46">
            <a:extLst>
              <a:ext uri="{FF2B5EF4-FFF2-40B4-BE49-F238E27FC236}">
                <a16:creationId xmlns:a16="http://schemas.microsoft.com/office/drawing/2014/main" id="{59AE28A1-F0FB-4839-A405-A42D332BC38F}"/>
              </a:ext>
            </a:extLst>
          </p:cNvPr>
          <p:cNvPicPr>
            <a:picLocks noChangeAspect="1"/>
          </p:cNvPicPr>
          <p:nvPr/>
        </p:nvPicPr>
        <p:blipFill>
          <a:blip r:embed="rId3"/>
          <a:stretch>
            <a:fillRect/>
          </a:stretch>
        </p:blipFill>
        <p:spPr>
          <a:xfrm>
            <a:off x="5945439" y="902711"/>
            <a:ext cx="2933700" cy="593062"/>
          </a:xfrm>
          <a:prstGeom prst="rect">
            <a:avLst/>
          </a:prstGeom>
        </p:spPr>
      </p:pic>
    </p:spTree>
    <p:extLst>
      <p:ext uri="{BB962C8B-B14F-4D97-AF65-F5344CB8AC3E}">
        <p14:creationId xmlns:p14="http://schemas.microsoft.com/office/powerpoint/2010/main" val="2280873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4"/>
                                        </p:tgtEl>
                                        <p:attrNameLst>
                                          <p:attrName>style.visibility</p:attrName>
                                        </p:attrNameLst>
                                      </p:cBhvr>
                                      <p:to>
                                        <p:strVal val="visible"/>
                                      </p:to>
                                    </p:set>
                                    <p:anim calcmode="lin" valueType="num">
                                      <p:cBhvr additive="base">
                                        <p:cTn id="11" dur="500" fill="hold"/>
                                        <p:tgtEl>
                                          <p:spTgt spid="54"/>
                                        </p:tgtEl>
                                        <p:attrNameLst>
                                          <p:attrName>ppt_x</p:attrName>
                                        </p:attrNameLst>
                                      </p:cBhvr>
                                      <p:tavLst>
                                        <p:tav tm="0">
                                          <p:val>
                                            <p:strVal val="#ppt_x"/>
                                          </p:val>
                                        </p:tav>
                                        <p:tav tm="100000">
                                          <p:val>
                                            <p:strVal val="#ppt_x"/>
                                          </p:val>
                                        </p:tav>
                                      </p:tavLst>
                                    </p:anim>
                                    <p:anim calcmode="lin" valueType="num">
                                      <p:cBhvr additive="base">
                                        <p:cTn id="12"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500" fill="hold"/>
                                        <p:tgtEl>
                                          <p:spTgt spid="23"/>
                                        </p:tgtEl>
                                        <p:attrNameLst>
                                          <p:attrName>ppt_x</p:attrName>
                                        </p:attrNameLst>
                                      </p:cBhvr>
                                      <p:tavLst>
                                        <p:tav tm="0">
                                          <p:val>
                                            <p:strVal val="#ppt_x"/>
                                          </p:val>
                                        </p:tav>
                                        <p:tav tm="100000">
                                          <p:val>
                                            <p:strVal val="#ppt_x"/>
                                          </p:val>
                                        </p:tav>
                                      </p:tavLst>
                                    </p:anim>
                                    <p:anim calcmode="lin" valueType="num">
                                      <p:cBhvr additive="base">
                                        <p:cTn id="18" dur="500" fill="hold"/>
                                        <p:tgtEl>
                                          <p:spTgt spid="23"/>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0"/>
                                        </p:tgtEl>
                                        <p:attrNameLst>
                                          <p:attrName>style.visibility</p:attrName>
                                        </p:attrNameLst>
                                      </p:cBhvr>
                                      <p:to>
                                        <p:strVal val="visible"/>
                                      </p:to>
                                    </p:set>
                                    <p:anim calcmode="lin" valueType="num">
                                      <p:cBhvr additive="base">
                                        <p:cTn id="21" dur="500" fill="hold"/>
                                        <p:tgtEl>
                                          <p:spTgt spid="50"/>
                                        </p:tgtEl>
                                        <p:attrNameLst>
                                          <p:attrName>ppt_x</p:attrName>
                                        </p:attrNameLst>
                                      </p:cBhvr>
                                      <p:tavLst>
                                        <p:tav tm="0">
                                          <p:val>
                                            <p:strVal val="#ppt_x"/>
                                          </p:val>
                                        </p:tav>
                                        <p:tav tm="100000">
                                          <p:val>
                                            <p:strVal val="#ppt_x"/>
                                          </p:val>
                                        </p:tav>
                                      </p:tavLst>
                                    </p:anim>
                                    <p:anim calcmode="lin" valueType="num">
                                      <p:cBhvr additive="base">
                                        <p:cTn id="22"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58"/>
                                        </p:tgtEl>
                                        <p:attrNameLst>
                                          <p:attrName>style.visibility</p:attrName>
                                        </p:attrNameLst>
                                      </p:cBhvr>
                                      <p:to>
                                        <p:strVal val="visible"/>
                                      </p:to>
                                    </p:set>
                                    <p:anim calcmode="lin" valueType="num">
                                      <p:cBhvr additive="base">
                                        <p:cTn id="27" dur="500" fill="hold"/>
                                        <p:tgtEl>
                                          <p:spTgt spid="58"/>
                                        </p:tgtEl>
                                        <p:attrNameLst>
                                          <p:attrName>ppt_x</p:attrName>
                                        </p:attrNameLst>
                                      </p:cBhvr>
                                      <p:tavLst>
                                        <p:tav tm="0">
                                          <p:val>
                                            <p:strVal val="0-#ppt_w/2"/>
                                          </p:val>
                                        </p:tav>
                                        <p:tav tm="100000">
                                          <p:val>
                                            <p:strVal val="#ppt_x"/>
                                          </p:val>
                                        </p:tav>
                                      </p:tavLst>
                                    </p:anim>
                                    <p:anim calcmode="lin" valueType="num">
                                      <p:cBhvr additive="base">
                                        <p:cTn id="28" dur="500" fill="hold"/>
                                        <p:tgtEl>
                                          <p:spTgt spid="58"/>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nodeType="clickEffect">
                                  <p:stCondLst>
                                    <p:cond delay="0"/>
                                  </p:stCondLst>
                                  <p:childTnLst>
                                    <p:set>
                                      <p:cBhvr>
                                        <p:cTn id="32" dur="1" fill="hold">
                                          <p:stCondLst>
                                            <p:cond delay="0"/>
                                          </p:stCondLst>
                                        </p:cTn>
                                        <p:tgtEl>
                                          <p:spTgt spid="61"/>
                                        </p:tgtEl>
                                        <p:attrNameLst>
                                          <p:attrName>style.visibility</p:attrName>
                                        </p:attrNameLst>
                                      </p:cBhvr>
                                      <p:to>
                                        <p:strVal val="visible"/>
                                      </p:to>
                                    </p:set>
                                    <p:anim calcmode="lin" valueType="num">
                                      <p:cBhvr additive="base">
                                        <p:cTn id="33" dur="500" fill="hold"/>
                                        <p:tgtEl>
                                          <p:spTgt spid="61"/>
                                        </p:tgtEl>
                                        <p:attrNameLst>
                                          <p:attrName>ppt_x</p:attrName>
                                        </p:attrNameLst>
                                      </p:cBhvr>
                                      <p:tavLst>
                                        <p:tav tm="0">
                                          <p:val>
                                            <p:strVal val="0-#ppt_w/2"/>
                                          </p:val>
                                        </p:tav>
                                        <p:tav tm="100000">
                                          <p:val>
                                            <p:strVal val="#ppt_x"/>
                                          </p:val>
                                        </p:tav>
                                      </p:tavLst>
                                    </p:anim>
                                    <p:anim calcmode="lin" valueType="num">
                                      <p:cBhvr additive="base">
                                        <p:cTn id="34" dur="500" fill="hold"/>
                                        <p:tgtEl>
                                          <p:spTgt spid="61"/>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64"/>
                                        </p:tgtEl>
                                        <p:attrNameLst>
                                          <p:attrName>style.visibility</p:attrName>
                                        </p:attrNameLst>
                                      </p:cBhvr>
                                      <p:to>
                                        <p:strVal val="visible"/>
                                      </p:to>
                                    </p:set>
                                    <p:anim calcmode="lin" valueType="num">
                                      <p:cBhvr additive="base">
                                        <p:cTn id="39" dur="500" fill="hold"/>
                                        <p:tgtEl>
                                          <p:spTgt spid="64"/>
                                        </p:tgtEl>
                                        <p:attrNameLst>
                                          <p:attrName>ppt_x</p:attrName>
                                        </p:attrNameLst>
                                      </p:cBhvr>
                                      <p:tavLst>
                                        <p:tav tm="0">
                                          <p:val>
                                            <p:strVal val="#ppt_x"/>
                                          </p:val>
                                        </p:tav>
                                        <p:tav tm="100000">
                                          <p:val>
                                            <p:strVal val="#ppt_x"/>
                                          </p:val>
                                        </p:tav>
                                      </p:tavLst>
                                    </p:anim>
                                    <p:anim calcmode="lin" valueType="num">
                                      <p:cBhvr additive="base">
                                        <p:cTn id="40"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nodeType="clickEffect">
                                  <p:stCondLst>
                                    <p:cond delay="0"/>
                                  </p:stCondLst>
                                  <p:childTnLst>
                                    <p:set>
                                      <p:cBhvr>
                                        <p:cTn id="44" dur="1" fill="hold">
                                          <p:stCondLst>
                                            <p:cond delay="0"/>
                                          </p:stCondLst>
                                        </p:cTn>
                                        <p:tgtEl>
                                          <p:spTgt spid="65"/>
                                        </p:tgtEl>
                                        <p:attrNameLst>
                                          <p:attrName>style.visibility</p:attrName>
                                        </p:attrNameLst>
                                      </p:cBhvr>
                                      <p:to>
                                        <p:strVal val="visible"/>
                                      </p:to>
                                    </p:set>
                                    <p:anim calcmode="lin" valueType="num">
                                      <p:cBhvr additive="base">
                                        <p:cTn id="45" dur="500" fill="hold"/>
                                        <p:tgtEl>
                                          <p:spTgt spid="65"/>
                                        </p:tgtEl>
                                        <p:attrNameLst>
                                          <p:attrName>ppt_x</p:attrName>
                                        </p:attrNameLst>
                                      </p:cBhvr>
                                      <p:tavLst>
                                        <p:tav tm="0">
                                          <p:val>
                                            <p:strVal val="0-#ppt_w/2"/>
                                          </p:val>
                                        </p:tav>
                                        <p:tav tm="100000">
                                          <p:val>
                                            <p:strVal val="#ppt_x"/>
                                          </p:val>
                                        </p:tav>
                                      </p:tavLst>
                                    </p:anim>
                                    <p:anim calcmode="lin" valueType="num">
                                      <p:cBhvr additive="base">
                                        <p:cTn id="46" dur="500" fill="hold"/>
                                        <p:tgtEl>
                                          <p:spTgt spid="65"/>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nodeType="clickEffect">
                                  <p:stCondLst>
                                    <p:cond delay="0"/>
                                  </p:stCondLst>
                                  <p:childTnLst>
                                    <p:set>
                                      <p:cBhvr>
                                        <p:cTn id="50" dur="1" fill="hold">
                                          <p:stCondLst>
                                            <p:cond delay="0"/>
                                          </p:stCondLst>
                                        </p:cTn>
                                        <p:tgtEl>
                                          <p:spTgt spid="70"/>
                                        </p:tgtEl>
                                        <p:attrNameLst>
                                          <p:attrName>style.visibility</p:attrName>
                                        </p:attrNameLst>
                                      </p:cBhvr>
                                      <p:to>
                                        <p:strVal val="visible"/>
                                      </p:to>
                                    </p:set>
                                    <p:anim calcmode="lin" valueType="num">
                                      <p:cBhvr additive="base">
                                        <p:cTn id="51" dur="500" fill="hold"/>
                                        <p:tgtEl>
                                          <p:spTgt spid="70"/>
                                        </p:tgtEl>
                                        <p:attrNameLst>
                                          <p:attrName>ppt_x</p:attrName>
                                        </p:attrNameLst>
                                      </p:cBhvr>
                                      <p:tavLst>
                                        <p:tav tm="0">
                                          <p:val>
                                            <p:strVal val="0-#ppt_w/2"/>
                                          </p:val>
                                        </p:tav>
                                        <p:tav tm="100000">
                                          <p:val>
                                            <p:strVal val="#ppt_x"/>
                                          </p:val>
                                        </p:tav>
                                      </p:tavLst>
                                    </p:anim>
                                    <p:anim calcmode="lin" valueType="num">
                                      <p:cBhvr additive="base">
                                        <p:cTn id="52" dur="500" fill="hold"/>
                                        <p:tgtEl>
                                          <p:spTgt spid="70"/>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nodeType="clickEffect">
                                  <p:stCondLst>
                                    <p:cond delay="0"/>
                                  </p:stCondLst>
                                  <p:childTnLst>
                                    <p:set>
                                      <p:cBhvr>
                                        <p:cTn id="56" dur="1" fill="hold">
                                          <p:stCondLst>
                                            <p:cond delay="0"/>
                                          </p:stCondLst>
                                        </p:cTn>
                                        <p:tgtEl>
                                          <p:spTgt spid="74"/>
                                        </p:tgtEl>
                                        <p:attrNameLst>
                                          <p:attrName>style.visibility</p:attrName>
                                        </p:attrNameLst>
                                      </p:cBhvr>
                                      <p:to>
                                        <p:strVal val="visible"/>
                                      </p:to>
                                    </p:set>
                                    <p:anim calcmode="lin" valueType="num">
                                      <p:cBhvr additive="base">
                                        <p:cTn id="57" dur="500" fill="hold"/>
                                        <p:tgtEl>
                                          <p:spTgt spid="74"/>
                                        </p:tgtEl>
                                        <p:attrNameLst>
                                          <p:attrName>ppt_x</p:attrName>
                                        </p:attrNameLst>
                                      </p:cBhvr>
                                      <p:tavLst>
                                        <p:tav tm="0">
                                          <p:val>
                                            <p:strVal val="0-#ppt_w/2"/>
                                          </p:val>
                                        </p:tav>
                                        <p:tav tm="100000">
                                          <p:val>
                                            <p:strVal val="#ppt_x"/>
                                          </p:val>
                                        </p:tav>
                                      </p:tavLst>
                                    </p:anim>
                                    <p:anim calcmode="lin" valueType="num">
                                      <p:cBhvr additive="base">
                                        <p:cTn id="58" dur="500" fill="hold"/>
                                        <p:tgtEl>
                                          <p:spTgt spid="74"/>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79"/>
                                        </p:tgtEl>
                                        <p:attrNameLst>
                                          <p:attrName>style.visibility</p:attrName>
                                        </p:attrNameLst>
                                      </p:cBhvr>
                                      <p:to>
                                        <p:strVal val="visible"/>
                                      </p:to>
                                    </p:set>
                                    <p:anim calcmode="lin" valueType="num">
                                      <p:cBhvr additive="base">
                                        <p:cTn id="63" dur="500" fill="hold"/>
                                        <p:tgtEl>
                                          <p:spTgt spid="79"/>
                                        </p:tgtEl>
                                        <p:attrNameLst>
                                          <p:attrName>ppt_x</p:attrName>
                                        </p:attrNameLst>
                                      </p:cBhvr>
                                      <p:tavLst>
                                        <p:tav tm="0">
                                          <p:val>
                                            <p:strVal val="#ppt_x"/>
                                          </p:val>
                                        </p:tav>
                                        <p:tav tm="100000">
                                          <p:val>
                                            <p:strVal val="#ppt_x"/>
                                          </p:val>
                                        </p:tav>
                                      </p:tavLst>
                                    </p:anim>
                                    <p:anim calcmode="lin" valueType="num">
                                      <p:cBhvr additive="base">
                                        <p:cTn id="64" dur="500" fill="hold"/>
                                        <p:tgtEl>
                                          <p:spTgt spid="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4" grpId="0"/>
      <p:bldP spid="64" grpId="0" animBg="1"/>
      <p:bldP spid="7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Loss when Stopping to Produce in the short run</a:t>
            </a:r>
          </a:p>
        </p:txBody>
      </p:sp>
      <p:sp>
        <p:nvSpPr>
          <p:cNvPr id="3" name="Slide Number Placeholder 2"/>
          <p:cNvSpPr>
            <a:spLocks noGrp="1"/>
          </p:cNvSpPr>
          <p:nvPr>
            <p:ph type="sldNum" sz="quarter" idx="12"/>
          </p:nvPr>
        </p:nvSpPr>
        <p:spPr/>
        <p:txBody>
          <a:bodyPr/>
          <a:lstStyle/>
          <a:p>
            <a:fld id="{0F3206DB-9488-D04D-BDD1-A7C9D84C4579}" type="slidenum">
              <a:rPr lang="en-US" smtClean="0"/>
              <a:t>14</a:t>
            </a:fld>
            <a:endParaRPr lang="en-US" dirty="0"/>
          </a:p>
        </p:txBody>
      </p:sp>
      <p:grpSp>
        <p:nvGrpSpPr>
          <p:cNvPr id="36" name="Group 46"/>
          <p:cNvGrpSpPr>
            <a:grpSpLocks/>
          </p:cNvGrpSpPr>
          <p:nvPr/>
        </p:nvGrpSpPr>
        <p:grpSpPr bwMode="auto">
          <a:xfrm>
            <a:off x="1060158" y="1622541"/>
            <a:ext cx="8036699" cy="4466685"/>
            <a:chOff x="548" y="1328"/>
            <a:chExt cx="4812" cy="2672"/>
          </a:xfrm>
        </p:grpSpPr>
        <p:sp>
          <p:nvSpPr>
            <p:cNvPr id="37" name="Line 5"/>
            <p:cNvSpPr>
              <a:spLocks noChangeShapeType="1"/>
            </p:cNvSpPr>
            <p:nvPr/>
          </p:nvSpPr>
          <p:spPr bwMode="auto">
            <a:xfrm>
              <a:off x="1080" y="1344"/>
              <a:ext cx="0" cy="2232"/>
            </a:xfrm>
            <a:prstGeom prst="line">
              <a:avLst/>
            </a:prstGeom>
            <a:noFill/>
            <a:ln w="44450">
              <a:solidFill>
                <a:schemeClr val="tx1"/>
              </a:solidFill>
              <a:round/>
              <a:headEnd type="arrow" w="sm" len="sm"/>
              <a:tailEnd type="none" w="sm" len="sm"/>
            </a:ln>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38" name="Line 6"/>
            <p:cNvSpPr>
              <a:spLocks noChangeShapeType="1"/>
            </p:cNvSpPr>
            <p:nvPr/>
          </p:nvSpPr>
          <p:spPr bwMode="auto">
            <a:xfrm>
              <a:off x="1080" y="3576"/>
              <a:ext cx="3392" cy="0"/>
            </a:xfrm>
            <a:prstGeom prst="line">
              <a:avLst/>
            </a:prstGeom>
            <a:noFill/>
            <a:ln w="44450">
              <a:solidFill>
                <a:schemeClr val="tx1"/>
              </a:solidFill>
              <a:round/>
              <a:headEnd type="none" w="sm" len="sm"/>
              <a:tailEnd type="arrow" w="sm" len="sm"/>
            </a:ln>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39" name="Rectangle 7"/>
            <p:cNvSpPr>
              <a:spLocks noChangeArrowheads="1"/>
            </p:cNvSpPr>
            <p:nvPr/>
          </p:nvSpPr>
          <p:spPr bwMode="auto">
            <a:xfrm>
              <a:off x="548" y="1328"/>
              <a:ext cx="792" cy="37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latin typeface="Whitney-Book" pitchFamily="50" charset="0"/>
                  <a:cs typeface="Whitney-Book" pitchFamily="50" charset="0"/>
                </a:rPr>
                <a:t>Price</a:t>
              </a:r>
            </a:p>
          </p:txBody>
        </p:sp>
        <p:sp>
          <p:nvSpPr>
            <p:cNvPr id="40" name="Rectangle 8"/>
            <p:cNvSpPr>
              <a:spLocks noChangeArrowheads="1"/>
            </p:cNvSpPr>
            <p:nvPr/>
          </p:nvSpPr>
          <p:spPr bwMode="auto">
            <a:xfrm>
              <a:off x="4336" y="3624"/>
              <a:ext cx="1024" cy="37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dirty="0">
                  <a:solidFill>
                    <a:schemeClr val="bg1"/>
                  </a:solidFill>
                  <a:latin typeface="Whitney-Book" pitchFamily="50" charset="0"/>
                  <a:cs typeface="Whitney-Book" pitchFamily="50" charset="0"/>
                </a:rPr>
                <a:t>Output</a:t>
              </a:r>
            </a:p>
          </p:txBody>
        </p:sp>
      </p:grpSp>
      <p:grpSp>
        <p:nvGrpSpPr>
          <p:cNvPr id="41" name="Group 47"/>
          <p:cNvGrpSpPr>
            <a:grpSpLocks/>
          </p:cNvGrpSpPr>
          <p:nvPr/>
        </p:nvGrpSpPr>
        <p:grpSpPr bwMode="auto">
          <a:xfrm>
            <a:off x="1948671" y="2063860"/>
            <a:ext cx="4075134" cy="3316581"/>
            <a:chOff x="1080" y="1592"/>
            <a:chExt cx="2440" cy="1984"/>
          </a:xfrm>
        </p:grpSpPr>
        <p:sp>
          <p:nvSpPr>
            <p:cNvPr id="42" name="Line 10"/>
            <p:cNvSpPr>
              <a:spLocks noChangeShapeType="1"/>
            </p:cNvSpPr>
            <p:nvPr/>
          </p:nvSpPr>
          <p:spPr bwMode="auto">
            <a:xfrm>
              <a:off x="1080" y="1592"/>
              <a:ext cx="2128" cy="1960"/>
            </a:xfrm>
            <a:prstGeom prst="line">
              <a:avLst/>
            </a:prstGeom>
            <a:noFill/>
            <a:ln w="50800">
              <a:solidFill>
                <a:srgbClr val="C00000"/>
              </a:solidFill>
              <a:round/>
              <a:headEnd type="none" w="sm" len="sm"/>
              <a:tailEnd type="none" w="sm" len="sm"/>
            </a:ln>
            <a:effectLst>
              <a:outerShdw blurRad="50800" dist="38100" dir="2700000" algn="tl" rotWithShape="0">
                <a:prstClr val="black">
                  <a:alpha val="40000"/>
                </a:prstClr>
              </a:outerShdw>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43" name="Rectangle 11"/>
            <p:cNvSpPr>
              <a:spLocks noChangeArrowheads="1"/>
            </p:cNvSpPr>
            <p:nvPr/>
          </p:nvSpPr>
          <p:spPr bwMode="auto">
            <a:xfrm>
              <a:off x="3152" y="3272"/>
              <a:ext cx="368" cy="304"/>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i="1" dirty="0">
                  <a:solidFill>
                    <a:srgbClr val="C00000"/>
                  </a:solidFill>
                  <a:latin typeface="Whitney-Book" pitchFamily="50" charset="0"/>
                  <a:cs typeface="Whitney-Book" pitchFamily="50" charset="0"/>
                </a:rPr>
                <a:t>D</a:t>
              </a:r>
            </a:p>
          </p:txBody>
        </p:sp>
      </p:grpSp>
      <p:grpSp>
        <p:nvGrpSpPr>
          <p:cNvPr id="44" name="Group 48"/>
          <p:cNvGrpSpPr>
            <a:grpSpLocks/>
          </p:cNvGrpSpPr>
          <p:nvPr/>
        </p:nvGrpSpPr>
        <p:grpSpPr bwMode="auto">
          <a:xfrm>
            <a:off x="1962032" y="2103980"/>
            <a:ext cx="2713972" cy="3677660"/>
            <a:chOff x="1088" y="1616"/>
            <a:chExt cx="1625" cy="2200"/>
          </a:xfrm>
        </p:grpSpPr>
        <p:sp>
          <p:nvSpPr>
            <p:cNvPr id="45" name="Line 13"/>
            <p:cNvSpPr>
              <a:spLocks noChangeShapeType="1"/>
            </p:cNvSpPr>
            <p:nvPr/>
          </p:nvSpPr>
          <p:spPr bwMode="auto">
            <a:xfrm>
              <a:off x="1088" y="1616"/>
              <a:ext cx="1292" cy="2200"/>
            </a:xfrm>
            <a:prstGeom prst="line">
              <a:avLst/>
            </a:prstGeom>
            <a:noFill/>
            <a:ln w="50800">
              <a:solidFill>
                <a:srgbClr val="C00000"/>
              </a:solidFill>
              <a:prstDash val="sysDot"/>
              <a:round/>
              <a:headEnd type="none" w="sm" len="sm"/>
              <a:tailEnd type="none" w="sm" len="sm"/>
            </a:ln>
            <a:effectLst>
              <a:outerShdw blurRad="50800" dist="38100" dir="2700000" algn="tl" rotWithShape="0">
                <a:prstClr val="black">
                  <a:alpha val="40000"/>
                </a:prstClr>
              </a:outerShdw>
            </a:effectLst>
          </p:spPr>
          <p:txBody>
            <a:bodyPr wrap="none" anchor="ctr"/>
            <a:lstStyle/>
            <a:p>
              <a:endParaRPr lang="en-US" sz="2800" b="0" dirty="0">
                <a:solidFill>
                  <a:schemeClr val="bg1"/>
                </a:solidFill>
                <a:latin typeface="Whitney-Book" pitchFamily="50" charset="0"/>
                <a:cs typeface="Whitney-Book" pitchFamily="50" charset="0"/>
              </a:endParaRPr>
            </a:p>
          </p:txBody>
        </p:sp>
        <p:sp>
          <p:nvSpPr>
            <p:cNvPr id="46" name="Rectangle 14"/>
            <p:cNvSpPr>
              <a:spLocks noChangeArrowheads="1"/>
            </p:cNvSpPr>
            <p:nvPr/>
          </p:nvSpPr>
          <p:spPr bwMode="auto">
            <a:xfrm>
              <a:off x="2225" y="3279"/>
              <a:ext cx="488" cy="304"/>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i="1" dirty="0">
                  <a:solidFill>
                    <a:srgbClr val="C00000"/>
                  </a:solidFill>
                  <a:latin typeface="Whitney-Book" pitchFamily="50" charset="0"/>
                  <a:cs typeface="Whitney-Book" pitchFamily="50" charset="0"/>
                </a:rPr>
                <a:t>MR</a:t>
              </a:r>
            </a:p>
          </p:txBody>
        </p:sp>
      </p:grpSp>
      <p:sp>
        <p:nvSpPr>
          <p:cNvPr id="50" name="Rectangle 18"/>
          <p:cNvSpPr>
            <a:spLocks noChangeArrowheads="1"/>
          </p:cNvSpPr>
          <p:nvPr/>
        </p:nvSpPr>
        <p:spPr bwMode="auto">
          <a:xfrm>
            <a:off x="5971885" y="3550218"/>
            <a:ext cx="1042165" cy="628546"/>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i="1" dirty="0">
                <a:solidFill>
                  <a:srgbClr val="00B050"/>
                </a:solidFill>
                <a:latin typeface="Whitney-Book" pitchFamily="50" charset="0"/>
                <a:cs typeface="Whitney-Book" pitchFamily="50" charset="0"/>
              </a:rPr>
              <a:t>AVC </a:t>
            </a:r>
            <a:endParaRPr lang="en-US" sz="2800" b="0" dirty="0">
              <a:solidFill>
                <a:srgbClr val="00B050"/>
              </a:solidFill>
              <a:latin typeface="Whitney-Book" pitchFamily="50" charset="0"/>
              <a:cs typeface="Whitney-Book" pitchFamily="50" charset="0"/>
            </a:endParaRPr>
          </a:p>
        </p:txBody>
      </p:sp>
      <p:sp>
        <p:nvSpPr>
          <p:cNvPr id="54" name="Rectangle 22"/>
          <p:cNvSpPr>
            <a:spLocks noChangeArrowheads="1"/>
          </p:cNvSpPr>
          <p:nvPr/>
        </p:nvSpPr>
        <p:spPr bwMode="auto">
          <a:xfrm>
            <a:off x="5616292" y="2810914"/>
            <a:ext cx="1082249" cy="628545"/>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solidFill>
                  <a:schemeClr val="accent2">
                    <a:lumMod val="75000"/>
                  </a:schemeClr>
                </a:solidFill>
                <a:latin typeface="Whitney-Book" pitchFamily="50" charset="0"/>
                <a:cs typeface="Whitney-Book" pitchFamily="50" charset="0"/>
              </a:rPr>
              <a:t>ATC </a:t>
            </a:r>
            <a:r>
              <a:rPr lang="en-US" b="0" dirty="0">
                <a:solidFill>
                  <a:schemeClr val="accent2">
                    <a:lumMod val="75000"/>
                  </a:schemeClr>
                </a:solidFill>
                <a:latin typeface="Whitney-Book" pitchFamily="50" charset="0"/>
                <a:cs typeface="Whitney-Book" pitchFamily="50" charset="0"/>
              </a:rPr>
              <a:t>(with higher rent)</a:t>
            </a:r>
            <a:endParaRPr lang="en-US" sz="2800" b="0" dirty="0">
              <a:solidFill>
                <a:schemeClr val="accent2">
                  <a:lumMod val="75000"/>
                </a:schemeClr>
              </a:solidFill>
              <a:latin typeface="Whitney-Book" pitchFamily="50" charset="0"/>
              <a:cs typeface="Whitney-Book" pitchFamily="50" charset="0"/>
            </a:endParaRPr>
          </a:p>
        </p:txBody>
      </p:sp>
      <p:sp>
        <p:nvSpPr>
          <p:cNvPr id="56" name="Rectangle 24"/>
          <p:cNvSpPr>
            <a:spLocks noChangeArrowheads="1"/>
          </p:cNvSpPr>
          <p:nvPr/>
        </p:nvSpPr>
        <p:spPr bwMode="auto">
          <a:xfrm>
            <a:off x="5058466" y="2095025"/>
            <a:ext cx="627971" cy="62854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solidFill>
                  <a:schemeClr val="accent1">
                    <a:lumMod val="75000"/>
                  </a:schemeClr>
                </a:solidFill>
                <a:latin typeface="Whitney-Book" pitchFamily="50" charset="0"/>
                <a:cs typeface="Whitney-Book" pitchFamily="50" charset="0"/>
              </a:rPr>
              <a:t>MC</a:t>
            </a:r>
          </a:p>
        </p:txBody>
      </p:sp>
      <p:grpSp>
        <p:nvGrpSpPr>
          <p:cNvPr id="58" name="Group 52"/>
          <p:cNvGrpSpPr>
            <a:grpSpLocks/>
          </p:cNvGrpSpPr>
          <p:nvPr/>
        </p:nvGrpSpPr>
        <p:grpSpPr bwMode="auto">
          <a:xfrm>
            <a:off x="3004198" y="3200592"/>
            <a:ext cx="761582" cy="2861888"/>
            <a:chOff x="1712" y="2272"/>
            <a:chExt cx="456" cy="1712"/>
          </a:xfrm>
        </p:grpSpPr>
        <p:sp>
          <p:nvSpPr>
            <p:cNvPr id="59" name="Line 27"/>
            <p:cNvSpPr>
              <a:spLocks noChangeShapeType="1"/>
            </p:cNvSpPr>
            <p:nvPr/>
          </p:nvSpPr>
          <p:spPr bwMode="auto">
            <a:xfrm>
              <a:off x="1804" y="2272"/>
              <a:ext cx="6" cy="1296"/>
            </a:xfrm>
            <a:prstGeom prst="line">
              <a:avLst/>
            </a:prstGeom>
            <a:noFill/>
            <a:ln w="25400">
              <a:solidFill>
                <a:schemeClr val="tx1"/>
              </a:solidFill>
              <a:prstDash val="sysDot"/>
              <a:round/>
              <a:headEnd type="none" w="sm" len="sm"/>
              <a:tailEnd type="none" w="sm" len="sm"/>
            </a:ln>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60" name="Rectangle 28"/>
            <p:cNvSpPr>
              <a:spLocks noChangeArrowheads="1"/>
            </p:cNvSpPr>
            <p:nvPr/>
          </p:nvSpPr>
          <p:spPr bwMode="auto">
            <a:xfrm>
              <a:off x="1712" y="3608"/>
              <a:ext cx="456" cy="376"/>
            </a:xfrm>
            <a:prstGeom prst="rect">
              <a:avLst/>
            </a:prstGeom>
            <a:noFill/>
            <a:ln w="9525">
              <a:noFill/>
              <a:prstDash val="sysDot"/>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200" b="0" i="1" dirty="0">
                  <a:latin typeface="Whitney-Book" pitchFamily="50" charset="0"/>
                  <a:cs typeface="Whitney-Book" pitchFamily="50" charset="0"/>
                </a:rPr>
                <a:t>Q*</a:t>
              </a:r>
            </a:p>
          </p:txBody>
        </p:sp>
      </p:grpSp>
      <p:grpSp>
        <p:nvGrpSpPr>
          <p:cNvPr id="61" name="Group 54"/>
          <p:cNvGrpSpPr>
            <a:grpSpLocks/>
          </p:cNvGrpSpPr>
          <p:nvPr/>
        </p:nvGrpSpPr>
        <p:grpSpPr bwMode="auto">
          <a:xfrm>
            <a:off x="1454310" y="3053485"/>
            <a:ext cx="1696859" cy="601799"/>
            <a:chOff x="784" y="2184"/>
            <a:chExt cx="1016" cy="360"/>
          </a:xfrm>
        </p:grpSpPr>
        <p:sp>
          <p:nvSpPr>
            <p:cNvPr id="62" name="Line 30"/>
            <p:cNvSpPr>
              <a:spLocks noChangeShapeType="1"/>
            </p:cNvSpPr>
            <p:nvPr/>
          </p:nvSpPr>
          <p:spPr bwMode="auto">
            <a:xfrm flipH="1">
              <a:off x="1096" y="2264"/>
              <a:ext cx="704" cy="0"/>
            </a:xfrm>
            <a:prstGeom prst="line">
              <a:avLst/>
            </a:prstGeom>
            <a:noFill/>
            <a:ln w="25400">
              <a:solidFill>
                <a:schemeClr val="tx1"/>
              </a:solidFill>
              <a:prstDash val="sysDot"/>
              <a:round/>
              <a:headEnd type="none" w="sm" len="sm"/>
              <a:tailEnd type="none" w="sm" len="sm"/>
            </a:ln>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63" name="Rectangle 31"/>
            <p:cNvSpPr>
              <a:spLocks noChangeArrowheads="1"/>
            </p:cNvSpPr>
            <p:nvPr/>
          </p:nvSpPr>
          <p:spPr bwMode="auto">
            <a:xfrm>
              <a:off x="784" y="2184"/>
              <a:ext cx="352" cy="360"/>
            </a:xfrm>
            <a:prstGeom prst="rect">
              <a:avLst/>
            </a:prstGeom>
            <a:noFill/>
            <a:ln w="9525">
              <a:noFill/>
              <a:miter lim="800000"/>
              <a:headEnd/>
              <a:tailEnd/>
            </a:ln>
            <a:effectLst/>
          </p:spPr>
          <p:txBody>
            <a:bodyPr wrap="none" lIns="19050" tIns="26988" rIns="19050" bIns="26988"/>
            <a:lstStyle/>
            <a:p>
              <a:pPr>
                <a:lnSpc>
                  <a:spcPts val="2736"/>
                </a:lnSpc>
                <a:spcAft>
                  <a:spcPts val="947"/>
                </a:spcAft>
                <a:tabLst>
                  <a:tab pos="481157" algn="l"/>
                  <a:tab pos="962315" algn="l"/>
                  <a:tab pos="1443472" algn="l"/>
                </a:tabLst>
              </a:pPr>
              <a:r>
                <a:rPr lang="en-US" sz="2200" b="0" i="1" dirty="0">
                  <a:latin typeface="Whitney-Book" pitchFamily="50" charset="0"/>
                  <a:cs typeface="Whitney-Book" pitchFamily="50" charset="0"/>
                </a:rPr>
                <a:t>P*</a:t>
              </a:r>
            </a:p>
          </p:txBody>
        </p:sp>
      </p:grpSp>
      <p:sp>
        <p:nvSpPr>
          <p:cNvPr id="64" name="Line 32"/>
          <p:cNvSpPr>
            <a:spLocks noChangeShapeType="1"/>
          </p:cNvSpPr>
          <p:nvPr/>
        </p:nvSpPr>
        <p:spPr bwMode="auto">
          <a:xfrm>
            <a:off x="3157850" y="2949842"/>
            <a:ext cx="0" cy="250750"/>
          </a:xfrm>
          <a:prstGeom prst="line">
            <a:avLst/>
          </a:prstGeom>
          <a:noFill/>
          <a:ln w="25400">
            <a:solidFill>
              <a:srgbClr val="000099"/>
            </a:solidFill>
            <a:round/>
            <a:headEnd type="none" w="sm" len="sm"/>
            <a:tailEnd type="none" w="sm" len="sm"/>
          </a:ln>
          <a:effectLst/>
        </p:spPr>
        <p:txBody>
          <a:bodyPr wrap="none" lIns="96231" tIns="48116" rIns="96231" bIns="48116" anchor="ctr"/>
          <a:lstStyle/>
          <a:p>
            <a:endParaRPr lang="en-US" sz="2800" b="0">
              <a:solidFill>
                <a:schemeClr val="bg1"/>
              </a:solidFill>
              <a:latin typeface="Whitney-Book" pitchFamily="50" charset="0"/>
              <a:cs typeface="Whitney-Book" pitchFamily="50" charset="0"/>
            </a:endParaRPr>
          </a:p>
        </p:txBody>
      </p:sp>
      <p:grpSp>
        <p:nvGrpSpPr>
          <p:cNvPr id="65" name="Group 53"/>
          <p:cNvGrpSpPr>
            <a:grpSpLocks/>
          </p:cNvGrpSpPr>
          <p:nvPr/>
        </p:nvGrpSpPr>
        <p:grpSpPr bwMode="auto">
          <a:xfrm>
            <a:off x="1213810" y="2692405"/>
            <a:ext cx="1930678" cy="2342000"/>
            <a:chOff x="640" y="1968"/>
            <a:chExt cx="1156" cy="1401"/>
          </a:xfrm>
        </p:grpSpPr>
        <p:sp>
          <p:nvSpPr>
            <p:cNvPr id="66" name="Line 34"/>
            <p:cNvSpPr>
              <a:spLocks noChangeShapeType="1"/>
            </p:cNvSpPr>
            <p:nvPr/>
          </p:nvSpPr>
          <p:spPr bwMode="auto">
            <a:xfrm>
              <a:off x="1080" y="3115"/>
              <a:ext cx="704" cy="0"/>
            </a:xfrm>
            <a:prstGeom prst="line">
              <a:avLst/>
            </a:prstGeom>
            <a:noFill/>
            <a:ln w="25400">
              <a:solidFill>
                <a:schemeClr val="tx1"/>
              </a:solidFill>
              <a:prstDash val="sysDot"/>
              <a:round/>
              <a:headEnd type="none" w="sm" len="sm"/>
              <a:tailEnd type="none" w="sm" len="sm"/>
            </a:ln>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67" name="Rectangle 35"/>
            <p:cNvSpPr>
              <a:spLocks noChangeArrowheads="1"/>
            </p:cNvSpPr>
            <p:nvPr/>
          </p:nvSpPr>
          <p:spPr bwMode="auto">
            <a:xfrm>
              <a:off x="662" y="3009"/>
              <a:ext cx="624" cy="360"/>
            </a:xfrm>
            <a:prstGeom prst="rect">
              <a:avLst/>
            </a:prstGeom>
            <a:noFill/>
            <a:ln w="9525">
              <a:noFill/>
              <a:miter lim="800000"/>
              <a:headEnd/>
              <a:tailEnd/>
            </a:ln>
            <a:effectLst/>
          </p:spPr>
          <p:txBody>
            <a:bodyPr wrap="none" lIns="19050" tIns="26988" rIns="19050" bIns="26988"/>
            <a:lstStyle/>
            <a:p>
              <a:pPr>
                <a:lnSpc>
                  <a:spcPts val="2736"/>
                </a:lnSpc>
                <a:spcAft>
                  <a:spcPts val="947"/>
                </a:spcAft>
                <a:tabLst>
                  <a:tab pos="481157" algn="l"/>
                  <a:tab pos="962315" algn="l"/>
                  <a:tab pos="1443472" algn="l"/>
                </a:tabLst>
              </a:pPr>
              <a:r>
                <a:rPr lang="en-US" sz="2200" b="0" i="1" dirty="0">
                  <a:latin typeface="Whitney-Book" pitchFamily="50" charset="0"/>
                  <a:cs typeface="Whitney-Book" pitchFamily="50" charset="0"/>
                </a:rPr>
                <a:t>AVC</a:t>
              </a:r>
            </a:p>
          </p:txBody>
        </p:sp>
        <p:sp>
          <p:nvSpPr>
            <p:cNvPr id="68" name="Rectangle 36"/>
            <p:cNvSpPr>
              <a:spLocks noChangeArrowheads="1"/>
            </p:cNvSpPr>
            <p:nvPr/>
          </p:nvSpPr>
          <p:spPr bwMode="auto">
            <a:xfrm>
              <a:off x="640" y="1968"/>
              <a:ext cx="616" cy="360"/>
            </a:xfrm>
            <a:prstGeom prst="rect">
              <a:avLst/>
            </a:prstGeom>
            <a:noFill/>
            <a:ln w="9525">
              <a:noFill/>
              <a:miter lim="800000"/>
              <a:headEnd/>
              <a:tailEnd/>
            </a:ln>
            <a:effectLst/>
          </p:spPr>
          <p:txBody>
            <a:bodyPr wrap="none" lIns="19050" tIns="26988" rIns="19050" bIns="26988"/>
            <a:lstStyle/>
            <a:p>
              <a:pPr>
                <a:lnSpc>
                  <a:spcPts val="2736"/>
                </a:lnSpc>
                <a:spcAft>
                  <a:spcPts val="947"/>
                </a:spcAft>
                <a:tabLst>
                  <a:tab pos="481157" algn="l"/>
                  <a:tab pos="962315" algn="l"/>
                  <a:tab pos="1443472" algn="l"/>
                </a:tabLst>
              </a:pPr>
              <a:r>
                <a:rPr lang="en-US" sz="2200" b="0" i="1" dirty="0">
                  <a:latin typeface="Whitney-Book" pitchFamily="50" charset="0"/>
                  <a:cs typeface="Whitney-Book" pitchFamily="50" charset="0"/>
                </a:rPr>
                <a:t>ATC</a:t>
              </a:r>
            </a:p>
          </p:txBody>
        </p:sp>
        <p:sp>
          <p:nvSpPr>
            <p:cNvPr id="69" name="Line 37"/>
            <p:cNvSpPr>
              <a:spLocks noChangeShapeType="1"/>
            </p:cNvSpPr>
            <p:nvPr/>
          </p:nvSpPr>
          <p:spPr bwMode="auto">
            <a:xfrm>
              <a:off x="1092" y="2124"/>
              <a:ext cx="704" cy="0"/>
            </a:xfrm>
            <a:prstGeom prst="line">
              <a:avLst/>
            </a:prstGeom>
            <a:noFill/>
            <a:ln w="25400">
              <a:solidFill>
                <a:schemeClr val="tx1"/>
              </a:solidFill>
              <a:prstDash val="sysDot"/>
              <a:round/>
              <a:headEnd type="none" w="sm" len="sm"/>
              <a:tailEnd type="none" w="sm" len="sm"/>
            </a:ln>
            <a:effectLst/>
          </p:spPr>
          <p:txBody>
            <a:bodyPr wrap="none" anchor="ctr"/>
            <a:lstStyle/>
            <a:p>
              <a:endParaRPr lang="en-US" sz="2800" b="0">
                <a:solidFill>
                  <a:schemeClr val="bg1"/>
                </a:solidFill>
                <a:latin typeface="Whitney-Book" pitchFamily="50" charset="0"/>
                <a:cs typeface="Whitney-Book" pitchFamily="50" charset="0"/>
              </a:endParaRPr>
            </a:p>
          </p:txBody>
        </p:sp>
      </p:grpSp>
      <p:grpSp>
        <p:nvGrpSpPr>
          <p:cNvPr id="74" name="Group 63"/>
          <p:cNvGrpSpPr>
            <a:grpSpLocks/>
          </p:cNvGrpSpPr>
          <p:nvPr/>
        </p:nvGrpSpPr>
        <p:grpSpPr bwMode="auto">
          <a:xfrm>
            <a:off x="1970382" y="2962379"/>
            <a:ext cx="1197488" cy="1636559"/>
            <a:chOff x="1430" y="2125"/>
            <a:chExt cx="717" cy="979"/>
          </a:xfrm>
        </p:grpSpPr>
        <p:sp>
          <p:nvSpPr>
            <p:cNvPr id="75" name="Rectangle 43"/>
            <p:cNvSpPr>
              <a:spLocks noChangeArrowheads="1"/>
            </p:cNvSpPr>
            <p:nvPr/>
          </p:nvSpPr>
          <p:spPr bwMode="auto">
            <a:xfrm>
              <a:off x="1430" y="2125"/>
              <a:ext cx="717" cy="979"/>
            </a:xfrm>
            <a:prstGeom prst="rect">
              <a:avLst/>
            </a:prstGeom>
            <a:solidFill>
              <a:schemeClr val="accent6">
                <a:lumMod val="75000"/>
              </a:schemeClr>
            </a:solidFill>
            <a:ln w="9525">
              <a:noFill/>
              <a:miter lim="800000"/>
              <a:headEnd/>
              <a:tailEnd/>
            </a:ln>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76" name="Rectangle 44"/>
            <p:cNvSpPr>
              <a:spLocks noChangeArrowheads="1"/>
            </p:cNvSpPr>
            <p:nvPr/>
          </p:nvSpPr>
          <p:spPr bwMode="auto">
            <a:xfrm>
              <a:off x="1522" y="2286"/>
              <a:ext cx="509" cy="340"/>
            </a:xfrm>
            <a:prstGeom prst="rect">
              <a:avLst/>
            </a:prstGeom>
            <a:noFill/>
            <a:ln w="9525">
              <a:noFill/>
              <a:miter lim="800000"/>
              <a:headEnd/>
              <a:tailEnd/>
            </a:ln>
            <a:effectLst/>
          </p:spPr>
          <p:txBody>
            <a:bodyPr wrap="none" lIns="19050" tIns="26988" rIns="19050" bIns="26988"/>
            <a:lstStyle/>
            <a:p>
              <a:pPr>
                <a:tabLst>
                  <a:tab pos="481157" algn="l"/>
                  <a:tab pos="962315" algn="l"/>
                  <a:tab pos="1443472" algn="l"/>
                </a:tabLst>
              </a:pPr>
              <a:r>
                <a:rPr lang="en-US" sz="2000" b="1" dirty="0">
                  <a:latin typeface="Whitney-Book" pitchFamily="50" charset="0"/>
                  <a:cs typeface="Whitney-Book" pitchFamily="50" charset="0"/>
                </a:rPr>
                <a:t>Loss</a:t>
              </a:r>
            </a:p>
            <a:p>
              <a:pPr>
                <a:tabLst>
                  <a:tab pos="481157" algn="l"/>
                  <a:tab pos="962315" algn="l"/>
                  <a:tab pos="1443472" algn="l"/>
                </a:tabLst>
              </a:pPr>
              <a:r>
                <a:rPr lang="en-US" sz="2000" b="1" i="1" dirty="0">
                  <a:latin typeface="Whitney-Book" pitchFamily="50" charset="0"/>
                  <a:cs typeface="Whitney-Book" pitchFamily="50" charset="0"/>
                </a:rPr>
                <a:t>(=TFC)</a:t>
              </a:r>
              <a:endParaRPr lang="en-US" sz="2000" b="0" i="1" dirty="0">
                <a:latin typeface="Whitney-Book" pitchFamily="50" charset="0"/>
                <a:cs typeface="Whitney-Book" pitchFamily="50" charset="0"/>
              </a:endParaRPr>
            </a:p>
          </p:txBody>
        </p:sp>
      </p:grpSp>
      <p:sp>
        <p:nvSpPr>
          <p:cNvPr id="78" name="Rectangle 8"/>
          <p:cNvSpPr>
            <a:spLocks noChangeArrowheads="1"/>
          </p:cNvSpPr>
          <p:nvPr/>
        </p:nvSpPr>
        <p:spPr bwMode="auto">
          <a:xfrm>
            <a:off x="6492968" y="5417734"/>
            <a:ext cx="1710220" cy="62854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latin typeface="Whitney-Book" pitchFamily="50" charset="0"/>
                <a:cs typeface="Whitney-Book" pitchFamily="50" charset="0"/>
              </a:rPr>
              <a:t>Output</a:t>
            </a:r>
          </a:p>
        </p:txBody>
      </p:sp>
      <p:sp>
        <p:nvSpPr>
          <p:cNvPr id="79" name="Rectangle 34">
            <a:extLst>
              <a:ext uri="{FF2B5EF4-FFF2-40B4-BE49-F238E27FC236}">
                <a16:creationId xmlns:a16="http://schemas.microsoft.com/office/drawing/2014/main" id="{EF44043E-3ADC-4EB3-9040-44A89A48C92F}"/>
              </a:ext>
            </a:extLst>
          </p:cNvPr>
          <p:cNvSpPr>
            <a:spLocks noChangeArrowheads="1"/>
          </p:cNvSpPr>
          <p:nvPr/>
        </p:nvSpPr>
        <p:spPr bwMode="auto">
          <a:xfrm>
            <a:off x="52465" y="5982238"/>
            <a:ext cx="8804429" cy="804311"/>
          </a:xfrm>
          <a:prstGeom prst="rect">
            <a:avLst/>
          </a:prstGeom>
          <a:noFill/>
          <a:ln w="25400">
            <a:solidFill>
              <a:srgbClr val="C00000"/>
            </a:solidFill>
            <a:miter lim="800000"/>
            <a:headEnd/>
            <a:tailEnd/>
          </a:ln>
          <a:effectLst/>
        </p:spPr>
        <p:txBody>
          <a:bodyPr wrap="none" lIns="20048" tIns="28402" rIns="20048" bIns="28402" anchor="ctr" anchorCtr="0"/>
          <a:lstStyle/>
          <a:p>
            <a:pPr algn="ctr">
              <a:lnSpc>
                <a:spcPts val="2526"/>
              </a:lnSpc>
              <a:spcAft>
                <a:spcPts val="947"/>
              </a:spcAft>
              <a:tabLst>
                <a:tab pos="481157" algn="l"/>
                <a:tab pos="962315" algn="l"/>
                <a:tab pos="1443472" algn="l"/>
              </a:tabLst>
            </a:pPr>
            <a:r>
              <a:rPr lang="en-US" b="0" dirty="0">
                <a:solidFill>
                  <a:srgbClr val="C00000"/>
                </a:solidFill>
                <a:latin typeface="Whitney-Book" pitchFamily="50" charset="0"/>
                <a:cs typeface="Whitney-Book" pitchFamily="50" charset="0"/>
              </a:rPr>
              <a:t>If the restaurant stops serving customers but still has to pay the rent, it loses the </a:t>
            </a:r>
          </a:p>
          <a:p>
            <a:pPr algn="ctr">
              <a:lnSpc>
                <a:spcPts val="2526"/>
              </a:lnSpc>
              <a:spcAft>
                <a:spcPts val="947"/>
              </a:spcAft>
              <a:tabLst>
                <a:tab pos="481157" algn="l"/>
                <a:tab pos="962315" algn="l"/>
                <a:tab pos="1443472" algn="l"/>
              </a:tabLst>
            </a:pPr>
            <a:r>
              <a:rPr lang="en-US" b="0" dirty="0">
                <a:solidFill>
                  <a:srgbClr val="C00000"/>
                </a:solidFill>
                <a:latin typeface="Whitney-Book" pitchFamily="50" charset="0"/>
                <a:cs typeface="Whitney-Book" pitchFamily="50" charset="0"/>
              </a:rPr>
              <a:t>whole fixed cost (TFC), which is equal to the rent</a:t>
            </a:r>
          </a:p>
        </p:txBody>
      </p:sp>
      <p:cxnSp>
        <p:nvCxnSpPr>
          <p:cNvPr id="9" name="Straight Connector 8">
            <a:extLst>
              <a:ext uri="{FF2B5EF4-FFF2-40B4-BE49-F238E27FC236}">
                <a16:creationId xmlns:a16="http://schemas.microsoft.com/office/drawing/2014/main" id="{B72A69F8-2336-43C4-8B7D-7B6B9B8FD94A}"/>
              </a:ext>
            </a:extLst>
          </p:cNvPr>
          <p:cNvCxnSpPr>
            <a:cxnSpLocks/>
          </p:cNvCxnSpPr>
          <p:nvPr/>
        </p:nvCxnSpPr>
        <p:spPr>
          <a:xfrm flipV="1">
            <a:off x="1948671" y="2460250"/>
            <a:ext cx="3460524" cy="2542674"/>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BDE3D85D-A3F1-4F0C-AA30-4126F764B57B}"/>
              </a:ext>
            </a:extLst>
          </p:cNvPr>
          <p:cNvCxnSpPr>
            <a:cxnSpLocks/>
          </p:cNvCxnSpPr>
          <p:nvPr/>
        </p:nvCxnSpPr>
        <p:spPr>
          <a:xfrm flipV="1">
            <a:off x="1968712" y="3563796"/>
            <a:ext cx="4055093" cy="1474089"/>
          </a:xfrm>
          <a:prstGeom prst="line">
            <a:avLst/>
          </a:prstGeom>
          <a:ln w="57150">
            <a:solidFill>
              <a:srgbClr val="00B050"/>
            </a:solidFill>
          </a:ln>
          <a:effectLst>
            <a:outerShdw blurRad="50800" dist="38100" dir="2700000" algn="tl" rotWithShape="0">
              <a:prstClr val="black">
                <a:alpha val="40000"/>
              </a:prstClr>
            </a:outerShdw>
          </a:effectLst>
        </p:spPr>
        <p:style>
          <a:lnRef idx="3">
            <a:schemeClr val="accent3"/>
          </a:lnRef>
          <a:fillRef idx="0">
            <a:schemeClr val="accent3"/>
          </a:fillRef>
          <a:effectRef idx="2">
            <a:schemeClr val="accent3"/>
          </a:effectRef>
          <a:fontRef idx="minor">
            <a:schemeClr val="tx1"/>
          </a:fontRef>
        </p:style>
      </p:cxnSp>
      <p:grpSp>
        <p:nvGrpSpPr>
          <p:cNvPr id="5" name="Group 4">
            <a:extLst>
              <a:ext uri="{FF2B5EF4-FFF2-40B4-BE49-F238E27FC236}">
                <a16:creationId xmlns:a16="http://schemas.microsoft.com/office/drawing/2014/main" id="{6918D598-C0A3-443B-AB5C-C53C7CD8EC22}"/>
              </a:ext>
            </a:extLst>
          </p:cNvPr>
          <p:cNvGrpSpPr/>
          <p:nvPr/>
        </p:nvGrpSpPr>
        <p:grpSpPr>
          <a:xfrm>
            <a:off x="2736975" y="2099215"/>
            <a:ext cx="3604351" cy="1230344"/>
            <a:chOff x="2642378" y="2099590"/>
            <a:chExt cx="3604351" cy="1230344"/>
          </a:xfrm>
        </p:grpSpPr>
        <p:sp>
          <p:nvSpPr>
            <p:cNvPr id="83" name="Arc 17">
              <a:extLst>
                <a:ext uri="{FF2B5EF4-FFF2-40B4-BE49-F238E27FC236}">
                  <a16:creationId xmlns:a16="http://schemas.microsoft.com/office/drawing/2014/main" id="{D8317E02-5D54-4AE1-A314-902BDCCFC470}"/>
                </a:ext>
              </a:extLst>
            </p:cNvPr>
            <p:cNvSpPr>
              <a:spLocks/>
            </p:cNvSpPr>
            <p:nvPr/>
          </p:nvSpPr>
          <p:spPr bwMode="auto">
            <a:xfrm rot="21130938">
              <a:off x="4227024" y="3180104"/>
              <a:ext cx="2019705" cy="125186"/>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44450" cap="rnd">
              <a:solidFill>
                <a:schemeClr val="accent2">
                  <a:lumMod val="75000"/>
                </a:schemeClr>
              </a:solidFill>
              <a:prstDash val="dash"/>
              <a:round/>
              <a:headEnd type="none" w="sm" len="sm"/>
              <a:tailEnd type="none" w="sm" len="sm"/>
            </a:ln>
            <a:effectLst/>
          </p:spPr>
          <p:txBody>
            <a:bodyPr wrap="none" anchor="ctr"/>
            <a:lstStyle/>
            <a:p>
              <a:endParaRPr lang="en-US" sz="2800" b="0" dirty="0">
                <a:solidFill>
                  <a:schemeClr val="accent2">
                    <a:lumMod val="75000"/>
                  </a:schemeClr>
                </a:solidFill>
                <a:latin typeface="Whitney-Book" pitchFamily="50" charset="0"/>
                <a:cs typeface="Whitney-Book" pitchFamily="50" charset="0"/>
              </a:endParaRPr>
            </a:p>
          </p:txBody>
        </p:sp>
        <p:sp>
          <p:nvSpPr>
            <p:cNvPr id="84" name="Arc 17">
              <a:extLst>
                <a:ext uri="{FF2B5EF4-FFF2-40B4-BE49-F238E27FC236}">
                  <a16:creationId xmlns:a16="http://schemas.microsoft.com/office/drawing/2014/main" id="{432516B7-781B-4103-AD3C-9A0CDAE4B90C}"/>
                </a:ext>
              </a:extLst>
            </p:cNvPr>
            <p:cNvSpPr>
              <a:spLocks/>
            </p:cNvSpPr>
            <p:nvPr/>
          </p:nvSpPr>
          <p:spPr bwMode="auto">
            <a:xfrm>
              <a:off x="2642378" y="2099590"/>
              <a:ext cx="1650095" cy="1230344"/>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44450" cap="rnd">
              <a:solidFill>
                <a:schemeClr val="accent2">
                  <a:lumMod val="75000"/>
                </a:schemeClr>
              </a:solidFill>
              <a:prstDash val="dash"/>
              <a:round/>
              <a:headEnd type="none" w="sm" len="sm"/>
              <a:tailEnd type="none" w="sm" len="sm"/>
            </a:ln>
            <a:effectLst/>
          </p:spPr>
          <p:txBody>
            <a:bodyPr wrap="none" anchor="ctr"/>
            <a:lstStyle/>
            <a:p>
              <a:endParaRPr lang="en-US" sz="2800" b="0" dirty="0">
                <a:solidFill>
                  <a:schemeClr val="accent2">
                    <a:lumMod val="75000"/>
                  </a:schemeClr>
                </a:solidFill>
                <a:latin typeface="Whitney-Book" pitchFamily="50" charset="0"/>
                <a:cs typeface="Whitney-Book" pitchFamily="50" charset="0"/>
              </a:endParaRPr>
            </a:p>
          </p:txBody>
        </p:sp>
      </p:grpSp>
      <p:pic>
        <p:nvPicPr>
          <p:cNvPr id="47" name="Picture 46">
            <a:extLst>
              <a:ext uri="{FF2B5EF4-FFF2-40B4-BE49-F238E27FC236}">
                <a16:creationId xmlns:a16="http://schemas.microsoft.com/office/drawing/2014/main" id="{59AE28A1-F0FB-4839-A405-A42D332BC38F}"/>
              </a:ext>
            </a:extLst>
          </p:cNvPr>
          <p:cNvPicPr>
            <a:picLocks noChangeAspect="1"/>
          </p:cNvPicPr>
          <p:nvPr/>
        </p:nvPicPr>
        <p:blipFill>
          <a:blip r:embed="rId3"/>
          <a:stretch>
            <a:fillRect/>
          </a:stretch>
        </p:blipFill>
        <p:spPr>
          <a:xfrm>
            <a:off x="5945439" y="902711"/>
            <a:ext cx="2933700" cy="593062"/>
          </a:xfrm>
          <a:prstGeom prst="rect">
            <a:avLst/>
          </a:prstGeom>
        </p:spPr>
      </p:pic>
    </p:spTree>
    <p:extLst>
      <p:ext uri="{BB962C8B-B14F-4D97-AF65-F5344CB8AC3E}">
        <p14:creationId xmlns:p14="http://schemas.microsoft.com/office/powerpoint/2010/main" val="1510828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79"/>
                                        </p:tgtEl>
                                        <p:attrNameLst>
                                          <p:attrName>style.visibility</p:attrName>
                                        </p:attrNameLst>
                                      </p:cBhvr>
                                      <p:to>
                                        <p:strVal val="visible"/>
                                      </p:to>
                                    </p:set>
                                    <p:anim calcmode="lin" valueType="num">
                                      <p:cBhvr additive="base">
                                        <p:cTn id="11" dur="500" fill="hold"/>
                                        <p:tgtEl>
                                          <p:spTgt spid="79"/>
                                        </p:tgtEl>
                                        <p:attrNameLst>
                                          <p:attrName>ppt_x</p:attrName>
                                        </p:attrNameLst>
                                      </p:cBhvr>
                                      <p:tavLst>
                                        <p:tav tm="0">
                                          <p:val>
                                            <p:strVal val="#ppt_x"/>
                                          </p:val>
                                        </p:tav>
                                        <p:tav tm="100000">
                                          <p:val>
                                            <p:strVal val="#ppt_x"/>
                                          </p:val>
                                        </p:tav>
                                      </p:tavLst>
                                    </p:anim>
                                    <p:anim calcmode="lin" valueType="num">
                                      <p:cBhvr additive="base">
                                        <p:cTn id="12" dur="500" fill="hold"/>
                                        <p:tgtEl>
                                          <p:spTgt spid="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Whitney-Medium" pitchFamily="50" charset="0"/>
                <a:cs typeface="Whitney-Medium" pitchFamily="50" charset="0"/>
              </a:rPr>
              <a:t>Price searcher: </a:t>
            </a:r>
            <a:br>
              <a:rPr lang="en-US" dirty="0">
                <a:latin typeface="Whitney-Medium" pitchFamily="50" charset="0"/>
                <a:cs typeface="Whitney-Medium" pitchFamily="50" charset="0"/>
              </a:rPr>
            </a:br>
            <a:r>
              <a:rPr lang="en-US" dirty="0">
                <a:latin typeface="Whitney-Medium" pitchFamily="50" charset="0"/>
                <a:cs typeface="Whitney-Medium" pitchFamily="50" charset="0"/>
              </a:rPr>
              <a:t>Fixed Cost Does Not Impact Price</a:t>
            </a:r>
            <a:endParaRPr lang="en-US" dirty="0"/>
          </a:p>
        </p:txBody>
      </p:sp>
      <p:sp>
        <p:nvSpPr>
          <p:cNvPr id="3" name="Slide Number Placeholder 2"/>
          <p:cNvSpPr>
            <a:spLocks noGrp="1"/>
          </p:cNvSpPr>
          <p:nvPr>
            <p:ph type="sldNum" sz="quarter" idx="12"/>
          </p:nvPr>
        </p:nvSpPr>
        <p:spPr/>
        <p:txBody>
          <a:bodyPr/>
          <a:lstStyle/>
          <a:p>
            <a:fld id="{0F3206DB-9488-D04D-BDD1-A7C9D84C4579}" type="slidenum">
              <a:rPr lang="en-US" smtClean="0"/>
              <a:t>15</a:t>
            </a:fld>
            <a:endParaRPr lang="en-US"/>
          </a:p>
        </p:txBody>
      </p:sp>
      <p:grpSp>
        <p:nvGrpSpPr>
          <p:cNvPr id="36" name="Group 46"/>
          <p:cNvGrpSpPr>
            <a:grpSpLocks/>
          </p:cNvGrpSpPr>
          <p:nvPr/>
        </p:nvGrpSpPr>
        <p:grpSpPr bwMode="auto">
          <a:xfrm>
            <a:off x="1060158" y="1622541"/>
            <a:ext cx="8036699" cy="4466685"/>
            <a:chOff x="548" y="1328"/>
            <a:chExt cx="4812" cy="2672"/>
          </a:xfrm>
        </p:grpSpPr>
        <p:sp>
          <p:nvSpPr>
            <p:cNvPr id="37" name="Line 5"/>
            <p:cNvSpPr>
              <a:spLocks noChangeShapeType="1"/>
            </p:cNvSpPr>
            <p:nvPr/>
          </p:nvSpPr>
          <p:spPr bwMode="auto">
            <a:xfrm>
              <a:off x="1080" y="1344"/>
              <a:ext cx="0" cy="2232"/>
            </a:xfrm>
            <a:prstGeom prst="line">
              <a:avLst/>
            </a:prstGeom>
            <a:noFill/>
            <a:ln w="44450">
              <a:solidFill>
                <a:schemeClr val="tx1"/>
              </a:solidFill>
              <a:round/>
              <a:headEnd type="arrow" w="sm" len="sm"/>
              <a:tailEnd type="none" w="sm" len="sm"/>
            </a:ln>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38" name="Line 6"/>
            <p:cNvSpPr>
              <a:spLocks noChangeShapeType="1"/>
            </p:cNvSpPr>
            <p:nvPr/>
          </p:nvSpPr>
          <p:spPr bwMode="auto">
            <a:xfrm>
              <a:off x="1080" y="3576"/>
              <a:ext cx="3392" cy="0"/>
            </a:xfrm>
            <a:prstGeom prst="line">
              <a:avLst/>
            </a:prstGeom>
            <a:noFill/>
            <a:ln w="44450">
              <a:solidFill>
                <a:schemeClr val="tx1"/>
              </a:solidFill>
              <a:round/>
              <a:headEnd type="none" w="sm" len="sm"/>
              <a:tailEnd type="arrow" w="sm" len="sm"/>
            </a:ln>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39" name="Rectangle 7"/>
            <p:cNvSpPr>
              <a:spLocks noChangeArrowheads="1"/>
            </p:cNvSpPr>
            <p:nvPr/>
          </p:nvSpPr>
          <p:spPr bwMode="auto">
            <a:xfrm>
              <a:off x="548" y="1328"/>
              <a:ext cx="792" cy="37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latin typeface="Whitney-Book" pitchFamily="50" charset="0"/>
                  <a:cs typeface="Whitney-Book" pitchFamily="50" charset="0"/>
                </a:rPr>
                <a:t>Price</a:t>
              </a:r>
            </a:p>
          </p:txBody>
        </p:sp>
        <p:sp>
          <p:nvSpPr>
            <p:cNvPr id="40" name="Rectangle 8"/>
            <p:cNvSpPr>
              <a:spLocks noChangeArrowheads="1"/>
            </p:cNvSpPr>
            <p:nvPr/>
          </p:nvSpPr>
          <p:spPr bwMode="auto">
            <a:xfrm>
              <a:off x="4336" y="3624"/>
              <a:ext cx="1024" cy="37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dirty="0">
                  <a:solidFill>
                    <a:schemeClr val="bg1"/>
                  </a:solidFill>
                  <a:latin typeface="Whitney-Book" pitchFamily="50" charset="0"/>
                  <a:cs typeface="Whitney-Book" pitchFamily="50" charset="0"/>
                </a:rPr>
                <a:t>Output</a:t>
              </a:r>
            </a:p>
          </p:txBody>
        </p:sp>
      </p:grpSp>
      <p:grpSp>
        <p:nvGrpSpPr>
          <p:cNvPr id="41" name="Group 47"/>
          <p:cNvGrpSpPr>
            <a:grpSpLocks/>
          </p:cNvGrpSpPr>
          <p:nvPr/>
        </p:nvGrpSpPr>
        <p:grpSpPr bwMode="auto">
          <a:xfrm>
            <a:off x="1948671" y="2063860"/>
            <a:ext cx="4075134" cy="3316581"/>
            <a:chOff x="1080" y="1592"/>
            <a:chExt cx="2440" cy="1984"/>
          </a:xfrm>
        </p:grpSpPr>
        <p:sp>
          <p:nvSpPr>
            <p:cNvPr id="42" name="Line 10"/>
            <p:cNvSpPr>
              <a:spLocks noChangeShapeType="1"/>
            </p:cNvSpPr>
            <p:nvPr/>
          </p:nvSpPr>
          <p:spPr bwMode="auto">
            <a:xfrm>
              <a:off x="1080" y="1592"/>
              <a:ext cx="2128" cy="1960"/>
            </a:xfrm>
            <a:prstGeom prst="line">
              <a:avLst/>
            </a:prstGeom>
            <a:noFill/>
            <a:ln w="50800">
              <a:solidFill>
                <a:srgbClr val="C00000"/>
              </a:solidFill>
              <a:round/>
              <a:headEnd type="none" w="sm" len="sm"/>
              <a:tailEnd type="none" w="sm" len="sm"/>
            </a:ln>
            <a:effectLst>
              <a:outerShdw blurRad="50800" dist="38100" dir="2700000" algn="tl" rotWithShape="0">
                <a:prstClr val="black">
                  <a:alpha val="40000"/>
                </a:prstClr>
              </a:outerShdw>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43" name="Rectangle 11"/>
            <p:cNvSpPr>
              <a:spLocks noChangeArrowheads="1"/>
            </p:cNvSpPr>
            <p:nvPr/>
          </p:nvSpPr>
          <p:spPr bwMode="auto">
            <a:xfrm>
              <a:off x="3152" y="3272"/>
              <a:ext cx="368" cy="304"/>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i="1" dirty="0">
                  <a:solidFill>
                    <a:srgbClr val="C00000"/>
                  </a:solidFill>
                  <a:latin typeface="Whitney-Book" pitchFamily="50" charset="0"/>
                  <a:cs typeface="Whitney-Book" pitchFamily="50" charset="0"/>
                </a:rPr>
                <a:t>D</a:t>
              </a:r>
            </a:p>
          </p:txBody>
        </p:sp>
      </p:grpSp>
      <p:grpSp>
        <p:nvGrpSpPr>
          <p:cNvPr id="44" name="Group 48"/>
          <p:cNvGrpSpPr>
            <a:grpSpLocks/>
          </p:cNvGrpSpPr>
          <p:nvPr/>
        </p:nvGrpSpPr>
        <p:grpSpPr bwMode="auto">
          <a:xfrm>
            <a:off x="1962032" y="2103980"/>
            <a:ext cx="2713972" cy="3677660"/>
            <a:chOff x="1088" y="1616"/>
            <a:chExt cx="1625" cy="2200"/>
          </a:xfrm>
        </p:grpSpPr>
        <p:sp>
          <p:nvSpPr>
            <p:cNvPr id="45" name="Line 13"/>
            <p:cNvSpPr>
              <a:spLocks noChangeShapeType="1"/>
            </p:cNvSpPr>
            <p:nvPr/>
          </p:nvSpPr>
          <p:spPr bwMode="auto">
            <a:xfrm>
              <a:off x="1088" y="1616"/>
              <a:ext cx="1292" cy="2200"/>
            </a:xfrm>
            <a:prstGeom prst="line">
              <a:avLst/>
            </a:prstGeom>
            <a:noFill/>
            <a:ln w="50800">
              <a:solidFill>
                <a:srgbClr val="C00000"/>
              </a:solidFill>
              <a:prstDash val="sysDot"/>
              <a:round/>
              <a:headEnd type="none" w="sm" len="sm"/>
              <a:tailEnd type="none" w="sm" len="sm"/>
            </a:ln>
            <a:effectLst>
              <a:outerShdw blurRad="50800" dist="38100" dir="2700000" algn="tl" rotWithShape="0">
                <a:prstClr val="black">
                  <a:alpha val="40000"/>
                </a:prstClr>
              </a:outerShdw>
            </a:effectLst>
          </p:spPr>
          <p:txBody>
            <a:bodyPr wrap="none" anchor="ctr"/>
            <a:lstStyle/>
            <a:p>
              <a:endParaRPr lang="en-US" sz="2800" b="0" dirty="0">
                <a:solidFill>
                  <a:schemeClr val="bg1"/>
                </a:solidFill>
                <a:latin typeface="Whitney-Book" pitchFamily="50" charset="0"/>
                <a:cs typeface="Whitney-Book" pitchFamily="50" charset="0"/>
              </a:endParaRPr>
            </a:p>
          </p:txBody>
        </p:sp>
        <p:sp>
          <p:nvSpPr>
            <p:cNvPr id="46" name="Rectangle 14"/>
            <p:cNvSpPr>
              <a:spLocks noChangeArrowheads="1"/>
            </p:cNvSpPr>
            <p:nvPr/>
          </p:nvSpPr>
          <p:spPr bwMode="auto">
            <a:xfrm>
              <a:off x="2225" y="3279"/>
              <a:ext cx="488" cy="304"/>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800" b="0" i="1" dirty="0">
                  <a:solidFill>
                    <a:srgbClr val="C00000"/>
                  </a:solidFill>
                  <a:latin typeface="Whitney-Book" pitchFamily="50" charset="0"/>
                  <a:cs typeface="Whitney-Book" pitchFamily="50" charset="0"/>
                </a:rPr>
                <a:t>MR</a:t>
              </a:r>
            </a:p>
          </p:txBody>
        </p:sp>
      </p:grpSp>
      <p:sp>
        <p:nvSpPr>
          <p:cNvPr id="56" name="Rectangle 24"/>
          <p:cNvSpPr>
            <a:spLocks noChangeArrowheads="1"/>
          </p:cNvSpPr>
          <p:nvPr/>
        </p:nvSpPr>
        <p:spPr bwMode="auto">
          <a:xfrm>
            <a:off x="5058466" y="2095025"/>
            <a:ext cx="627971" cy="62854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solidFill>
                  <a:schemeClr val="accent1">
                    <a:lumMod val="75000"/>
                  </a:schemeClr>
                </a:solidFill>
                <a:latin typeface="Whitney-Book" pitchFamily="50" charset="0"/>
                <a:cs typeface="Whitney-Book" pitchFamily="50" charset="0"/>
              </a:rPr>
              <a:t>MC</a:t>
            </a:r>
          </a:p>
        </p:txBody>
      </p:sp>
      <p:grpSp>
        <p:nvGrpSpPr>
          <p:cNvPr id="7" name="Group 6">
            <a:extLst>
              <a:ext uri="{FF2B5EF4-FFF2-40B4-BE49-F238E27FC236}">
                <a16:creationId xmlns:a16="http://schemas.microsoft.com/office/drawing/2014/main" id="{38E34C83-7650-406F-A744-3D5D7B725ABE}"/>
              </a:ext>
            </a:extLst>
          </p:cNvPr>
          <p:cNvGrpSpPr/>
          <p:nvPr/>
        </p:nvGrpSpPr>
        <p:grpSpPr>
          <a:xfrm>
            <a:off x="1454310" y="3053485"/>
            <a:ext cx="2311470" cy="3008995"/>
            <a:chOff x="1454310" y="3053485"/>
            <a:chExt cx="2311470" cy="3008995"/>
          </a:xfrm>
        </p:grpSpPr>
        <p:grpSp>
          <p:nvGrpSpPr>
            <p:cNvPr id="58" name="Group 52"/>
            <p:cNvGrpSpPr>
              <a:grpSpLocks/>
            </p:cNvGrpSpPr>
            <p:nvPr/>
          </p:nvGrpSpPr>
          <p:grpSpPr bwMode="auto">
            <a:xfrm>
              <a:off x="3004198" y="3200592"/>
              <a:ext cx="761582" cy="2861888"/>
              <a:chOff x="1712" y="2272"/>
              <a:chExt cx="456" cy="1712"/>
            </a:xfrm>
          </p:grpSpPr>
          <p:sp>
            <p:nvSpPr>
              <p:cNvPr id="59" name="Line 27"/>
              <p:cNvSpPr>
                <a:spLocks noChangeShapeType="1"/>
              </p:cNvSpPr>
              <p:nvPr/>
            </p:nvSpPr>
            <p:spPr bwMode="auto">
              <a:xfrm>
                <a:off x="1804" y="2272"/>
                <a:ext cx="6" cy="1296"/>
              </a:xfrm>
              <a:prstGeom prst="line">
                <a:avLst/>
              </a:prstGeom>
              <a:noFill/>
              <a:ln w="25400">
                <a:solidFill>
                  <a:schemeClr val="tx1"/>
                </a:solidFill>
                <a:prstDash val="sysDot"/>
                <a:round/>
                <a:headEnd type="none" w="sm" len="sm"/>
                <a:tailEnd type="none" w="sm" len="sm"/>
              </a:ln>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60" name="Rectangle 28"/>
              <p:cNvSpPr>
                <a:spLocks noChangeArrowheads="1"/>
              </p:cNvSpPr>
              <p:nvPr/>
            </p:nvSpPr>
            <p:spPr bwMode="auto">
              <a:xfrm>
                <a:off x="1712" y="3608"/>
                <a:ext cx="456" cy="376"/>
              </a:xfrm>
              <a:prstGeom prst="rect">
                <a:avLst/>
              </a:prstGeom>
              <a:noFill/>
              <a:ln w="9525">
                <a:noFill/>
                <a:prstDash val="sysDot"/>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200" b="0" i="1" dirty="0">
                    <a:latin typeface="Whitney-Book" pitchFamily="50" charset="0"/>
                    <a:cs typeface="Whitney-Book" pitchFamily="50" charset="0"/>
                  </a:rPr>
                  <a:t>Q*</a:t>
                </a:r>
              </a:p>
            </p:txBody>
          </p:sp>
        </p:grpSp>
        <p:grpSp>
          <p:nvGrpSpPr>
            <p:cNvPr id="61" name="Group 54"/>
            <p:cNvGrpSpPr>
              <a:grpSpLocks/>
            </p:cNvGrpSpPr>
            <p:nvPr/>
          </p:nvGrpSpPr>
          <p:grpSpPr bwMode="auto">
            <a:xfrm>
              <a:off x="1454310" y="3053485"/>
              <a:ext cx="1696859" cy="601799"/>
              <a:chOff x="784" y="2184"/>
              <a:chExt cx="1016" cy="360"/>
            </a:xfrm>
          </p:grpSpPr>
          <p:sp>
            <p:nvSpPr>
              <p:cNvPr id="62" name="Line 30"/>
              <p:cNvSpPr>
                <a:spLocks noChangeShapeType="1"/>
              </p:cNvSpPr>
              <p:nvPr/>
            </p:nvSpPr>
            <p:spPr bwMode="auto">
              <a:xfrm flipH="1">
                <a:off x="1096" y="2264"/>
                <a:ext cx="704" cy="0"/>
              </a:xfrm>
              <a:prstGeom prst="line">
                <a:avLst/>
              </a:prstGeom>
              <a:noFill/>
              <a:ln w="25400">
                <a:solidFill>
                  <a:schemeClr val="tx1"/>
                </a:solidFill>
                <a:prstDash val="sysDot"/>
                <a:round/>
                <a:headEnd type="none" w="sm" len="sm"/>
                <a:tailEnd type="none" w="sm" len="sm"/>
              </a:ln>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63" name="Rectangle 31"/>
              <p:cNvSpPr>
                <a:spLocks noChangeArrowheads="1"/>
              </p:cNvSpPr>
              <p:nvPr/>
            </p:nvSpPr>
            <p:spPr bwMode="auto">
              <a:xfrm>
                <a:off x="784" y="2184"/>
                <a:ext cx="352" cy="360"/>
              </a:xfrm>
              <a:prstGeom prst="rect">
                <a:avLst/>
              </a:prstGeom>
              <a:noFill/>
              <a:ln w="9525">
                <a:noFill/>
                <a:miter lim="800000"/>
                <a:headEnd/>
                <a:tailEnd/>
              </a:ln>
              <a:effectLst/>
            </p:spPr>
            <p:txBody>
              <a:bodyPr wrap="none" lIns="19050" tIns="26988" rIns="19050" bIns="26988"/>
              <a:lstStyle/>
              <a:p>
                <a:pPr>
                  <a:lnSpc>
                    <a:spcPts val="2736"/>
                  </a:lnSpc>
                  <a:spcAft>
                    <a:spcPts val="947"/>
                  </a:spcAft>
                  <a:tabLst>
                    <a:tab pos="481157" algn="l"/>
                    <a:tab pos="962315" algn="l"/>
                    <a:tab pos="1443472" algn="l"/>
                  </a:tabLst>
                </a:pPr>
                <a:r>
                  <a:rPr lang="en-US" sz="2200" b="0" i="1" dirty="0">
                    <a:latin typeface="Whitney-Book" pitchFamily="50" charset="0"/>
                    <a:cs typeface="Whitney-Book" pitchFamily="50" charset="0"/>
                  </a:rPr>
                  <a:t>P*</a:t>
                </a:r>
              </a:p>
            </p:txBody>
          </p:sp>
        </p:grpSp>
      </p:grpSp>
      <p:sp>
        <p:nvSpPr>
          <p:cNvPr id="78" name="Rectangle 8"/>
          <p:cNvSpPr>
            <a:spLocks noChangeArrowheads="1"/>
          </p:cNvSpPr>
          <p:nvPr/>
        </p:nvSpPr>
        <p:spPr bwMode="auto">
          <a:xfrm>
            <a:off x="6492968" y="5417734"/>
            <a:ext cx="1710220" cy="62854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latin typeface="Whitney-Book" pitchFamily="50" charset="0"/>
                <a:cs typeface="Whitney-Book" pitchFamily="50" charset="0"/>
              </a:rPr>
              <a:t>Output</a:t>
            </a:r>
          </a:p>
        </p:txBody>
      </p:sp>
      <p:sp>
        <p:nvSpPr>
          <p:cNvPr id="79" name="Rectangle 34">
            <a:extLst>
              <a:ext uri="{FF2B5EF4-FFF2-40B4-BE49-F238E27FC236}">
                <a16:creationId xmlns:a16="http://schemas.microsoft.com/office/drawing/2014/main" id="{EF44043E-3ADC-4EB3-9040-44A89A48C92F}"/>
              </a:ext>
            </a:extLst>
          </p:cNvPr>
          <p:cNvSpPr>
            <a:spLocks noChangeArrowheads="1"/>
          </p:cNvSpPr>
          <p:nvPr/>
        </p:nvSpPr>
        <p:spPr bwMode="auto">
          <a:xfrm>
            <a:off x="52465" y="5982238"/>
            <a:ext cx="8804429" cy="804311"/>
          </a:xfrm>
          <a:prstGeom prst="rect">
            <a:avLst/>
          </a:prstGeom>
          <a:noFill/>
          <a:ln w="25400">
            <a:solidFill>
              <a:srgbClr val="C00000"/>
            </a:solidFill>
            <a:miter lim="800000"/>
            <a:headEnd/>
            <a:tailEnd/>
          </a:ln>
          <a:effectLst/>
        </p:spPr>
        <p:txBody>
          <a:bodyPr wrap="none" lIns="20048" tIns="28402" rIns="20048" bIns="28402" anchor="ctr" anchorCtr="0"/>
          <a:lstStyle/>
          <a:p>
            <a:pPr algn="ctr">
              <a:lnSpc>
                <a:spcPts val="2526"/>
              </a:lnSpc>
              <a:spcAft>
                <a:spcPts val="947"/>
              </a:spcAft>
              <a:tabLst>
                <a:tab pos="481157" algn="l"/>
                <a:tab pos="962315" algn="l"/>
                <a:tab pos="1443472" algn="l"/>
              </a:tabLst>
            </a:pPr>
            <a:r>
              <a:rPr lang="en-US" dirty="0">
                <a:solidFill>
                  <a:srgbClr val="C00000"/>
                </a:solidFill>
                <a:latin typeface="Whitney-Book" pitchFamily="50" charset="0"/>
                <a:cs typeface="Whitney-Book" pitchFamily="50" charset="0"/>
              </a:rPr>
              <a:t>When fixed costs (and thus ATC) increase, </a:t>
            </a:r>
            <a:r>
              <a:rPr lang="en-US" i="1" dirty="0">
                <a:solidFill>
                  <a:srgbClr val="C00000"/>
                </a:solidFill>
                <a:latin typeface="Whitney-Book" pitchFamily="50" charset="0"/>
                <a:cs typeface="Whitney-Book" pitchFamily="50" charset="0"/>
              </a:rPr>
              <a:t>P* </a:t>
            </a:r>
            <a:r>
              <a:rPr lang="en-US" dirty="0">
                <a:solidFill>
                  <a:srgbClr val="C00000"/>
                </a:solidFill>
                <a:latin typeface="Whitney-Book" pitchFamily="50" charset="0"/>
                <a:cs typeface="Whitney-Book" pitchFamily="50" charset="0"/>
              </a:rPr>
              <a:t>does not change. But profits fall.</a:t>
            </a:r>
            <a:endParaRPr lang="en-US" b="0" dirty="0">
              <a:solidFill>
                <a:srgbClr val="C00000"/>
              </a:solidFill>
              <a:latin typeface="Whitney-Book" pitchFamily="50" charset="0"/>
              <a:cs typeface="Whitney-Book" pitchFamily="50" charset="0"/>
            </a:endParaRPr>
          </a:p>
        </p:txBody>
      </p:sp>
      <p:cxnSp>
        <p:nvCxnSpPr>
          <p:cNvPr id="9" name="Straight Connector 8">
            <a:extLst>
              <a:ext uri="{FF2B5EF4-FFF2-40B4-BE49-F238E27FC236}">
                <a16:creationId xmlns:a16="http://schemas.microsoft.com/office/drawing/2014/main" id="{B72A69F8-2336-43C4-8B7D-7B6B9B8FD94A}"/>
              </a:ext>
            </a:extLst>
          </p:cNvPr>
          <p:cNvCxnSpPr>
            <a:cxnSpLocks/>
          </p:cNvCxnSpPr>
          <p:nvPr/>
        </p:nvCxnSpPr>
        <p:spPr>
          <a:xfrm flipV="1">
            <a:off x="1948671" y="2460250"/>
            <a:ext cx="3460524" cy="2542674"/>
          </a:xfrm>
          <a:prstGeom prst="line">
            <a:avLst/>
          </a:prstGeom>
          <a:ln w="57150"/>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9551AFE8-D602-4003-8288-79479B4D4A26}"/>
              </a:ext>
            </a:extLst>
          </p:cNvPr>
          <p:cNvGrpSpPr/>
          <p:nvPr/>
        </p:nvGrpSpPr>
        <p:grpSpPr>
          <a:xfrm>
            <a:off x="2117515" y="2762404"/>
            <a:ext cx="4571004" cy="1305922"/>
            <a:chOff x="2117515" y="2762404"/>
            <a:chExt cx="4571004" cy="1305922"/>
          </a:xfrm>
        </p:grpSpPr>
        <p:sp>
          <p:nvSpPr>
            <p:cNvPr id="54" name="Rectangle 22"/>
            <p:cNvSpPr>
              <a:spLocks noChangeArrowheads="1"/>
            </p:cNvSpPr>
            <p:nvPr/>
          </p:nvSpPr>
          <p:spPr bwMode="auto">
            <a:xfrm>
              <a:off x="5606270" y="3439781"/>
              <a:ext cx="1082249" cy="628545"/>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solidFill>
                    <a:schemeClr val="accent2">
                      <a:lumMod val="75000"/>
                    </a:schemeClr>
                  </a:solidFill>
                  <a:latin typeface="Whitney-Book" pitchFamily="50" charset="0"/>
                  <a:cs typeface="Whitney-Book" pitchFamily="50" charset="0"/>
                </a:rPr>
                <a:t>ATC </a:t>
              </a:r>
              <a:r>
                <a:rPr lang="en-US" b="0" dirty="0">
                  <a:solidFill>
                    <a:schemeClr val="accent2">
                      <a:lumMod val="75000"/>
                    </a:schemeClr>
                  </a:solidFill>
                  <a:latin typeface="Whitney-Book" pitchFamily="50" charset="0"/>
                  <a:cs typeface="Whitney-Book" pitchFamily="50" charset="0"/>
                </a:rPr>
                <a:t>(with lower rent)</a:t>
              </a:r>
              <a:endParaRPr lang="en-US" sz="2800" b="0" dirty="0">
                <a:solidFill>
                  <a:schemeClr val="accent2">
                    <a:lumMod val="75000"/>
                  </a:schemeClr>
                </a:solidFill>
                <a:latin typeface="Whitney-Book" pitchFamily="50" charset="0"/>
                <a:cs typeface="Whitney-Book" pitchFamily="50" charset="0"/>
              </a:endParaRPr>
            </a:p>
          </p:txBody>
        </p:sp>
        <p:grpSp>
          <p:nvGrpSpPr>
            <p:cNvPr id="5" name="Group 4">
              <a:extLst>
                <a:ext uri="{FF2B5EF4-FFF2-40B4-BE49-F238E27FC236}">
                  <a16:creationId xmlns:a16="http://schemas.microsoft.com/office/drawing/2014/main" id="{6918D598-C0A3-443B-AB5C-C53C7CD8EC22}"/>
                </a:ext>
              </a:extLst>
            </p:cNvPr>
            <p:cNvGrpSpPr/>
            <p:nvPr/>
          </p:nvGrpSpPr>
          <p:grpSpPr>
            <a:xfrm>
              <a:off x="2117515" y="2762404"/>
              <a:ext cx="3604351" cy="1230344"/>
              <a:chOff x="2642378" y="2099590"/>
              <a:chExt cx="3604351" cy="1230344"/>
            </a:xfrm>
          </p:grpSpPr>
          <p:sp>
            <p:nvSpPr>
              <p:cNvPr id="83" name="Arc 17">
                <a:extLst>
                  <a:ext uri="{FF2B5EF4-FFF2-40B4-BE49-F238E27FC236}">
                    <a16:creationId xmlns:a16="http://schemas.microsoft.com/office/drawing/2014/main" id="{D8317E02-5D54-4AE1-A314-902BDCCFC470}"/>
                  </a:ext>
                </a:extLst>
              </p:cNvPr>
              <p:cNvSpPr>
                <a:spLocks/>
              </p:cNvSpPr>
              <p:nvPr/>
            </p:nvSpPr>
            <p:spPr bwMode="auto">
              <a:xfrm rot="21130938">
                <a:off x="4227024" y="3180104"/>
                <a:ext cx="2019705" cy="125186"/>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44450" cap="rnd">
                <a:solidFill>
                  <a:schemeClr val="accent2">
                    <a:lumMod val="75000"/>
                  </a:schemeClr>
                </a:solidFill>
                <a:round/>
                <a:headEnd type="none" w="sm" len="sm"/>
                <a:tailEnd type="none" w="sm" len="sm"/>
              </a:ln>
              <a:effectLst/>
            </p:spPr>
            <p:txBody>
              <a:bodyPr wrap="none" anchor="ctr"/>
              <a:lstStyle/>
              <a:p>
                <a:endParaRPr lang="en-US" sz="2800" b="0" dirty="0">
                  <a:solidFill>
                    <a:schemeClr val="accent2">
                      <a:lumMod val="75000"/>
                    </a:schemeClr>
                  </a:solidFill>
                  <a:latin typeface="Whitney-Book" pitchFamily="50" charset="0"/>
                  <a:cs typeface="Whitney-Book" pitchFamily="50" charset="0"/>
                </a:endParaRPr>
              </a:p>
            </p:txBody>
          </p:sp>
          <p:sp>
            <p:nvSpPr>
              <p:cNvPr id="84" name="Arc 17">
                <a:extLst>
                  <a:ext uri="{FF2B5EF4-FFF2-40B4-BE49-F238E27FC236}">
                    <a16:creationId xmlns:a16="http://schemas.microsoft.com/office/drawing/2014/main" id="{432516B7-781B-4103-AD3C-9A0CDAE4B90C}"/>
                  </a:ext>
                </a:extLst>
              </p:cNvPr>
              <p:cNvSpPr>
                <a:spLocks/>
              </p:cNvSpPr>
              <p:nvPr/>
            </p:nvSpPr>
            <p:spPr bwMode="auto">
              <a:xfrm>
                <a:off x="2642378" y="2099590"/>
                <a:ext cx="1650095" cy="1230344"/>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44450" cap="rnd">
                <a:solidFill>
                  <a:schemeClr val="accent2">
                    <a:lumMod val="75000"/>
                  </a:schemeClr>
                </a:solidFill>
                <a:round/>
                <a:headEnd type="none" w="sm" len="sm"/>
                <a:tailEnd type="none" w="sm" len="sm"/>
              </a:ln>
              <a:effectLst/>
            </p:spPr>
            <p:txBody>
              <a:bodyPr wrap="none" anchor="ctr"/>
              <a:lstStyle/>
              <a:p>
                <a:endParaRPr lang="en-US" sz="2800" b="0" dirty="0">
                  <a:solidFill>
                    <a:schemeClr val="accent2">
                      <a:lumMod val="75000"/>
                    </a:schemeClr>
                  </a:solidFill>
                  <a:latin typeface="Whitney-Book" pitchFamily="50" charset="0"/>
                  <a:cs typeface="Whitney-Book" pitchFamily="50" charset="0"/>
                </a:endParaRPr>
              </a:p>
            </p:txBody>
          </p:sp>
        </p:grpSp>
      </p:grpSp>
      <p:grpSp>
        <p:nvGrpSpPr>
          <p:cNvPr id="6" name="Group 5">
            <a:extLst>
              <a:ext uri="{FF2B5EF4-FFF2-40B4-BE49-F238E27FC236}">
                <a16:creationId xmlns:a16="http://schemas.microsoft.com/office/drawing/2014/main" id="{3AC4ED05-6039-4D1A-ABDE-8D544DA597B0}"/>
              </a:ext>
            </a:extLst>
          </p:cNvPr>
          <p:cNvGrpSpPr/>
          <p:nvPr/>
        </p:nvGrpSpPr>
        <p:grpSpPr>
          <a:xfrm>
            <a:off x="2778888" y="1981794"/>
            <a:ext cx="3961566" cy="1340244"/>
            <a:chOff x="2778888" y="1981794"/>
            <a:chExt cx="3961566" cy="1340244"/>
          </a:xfrm>
        </p:grpSpPr>
        <p:sp>
          <p:nvSpPr>
            <p:cNvPr id="48" name="Rectangle 22">
              <a:extLst>
                <a:ext uri="{FF2B5EF4-FFF2-40B4-BE49-F238E27FC236}">
                  <a16:creationId xmlns:a16="http://schemas.microsoft.com/office/drawing/2014/main" id="{910BD043-85C6-4411-B5D2-F3D51B53E4D6}"/>
                </a:ext>
              </a:extLst>
            </p:cNvPr>
            <p:cNvSpPr>
              <a:spLocks noChangeArrowheads="1"/>
            </p:cNvSpPr>
            <p:nvPr/>
          </p:nvSpPr>
          <p:spPr bwMode="auto">
            <a:xfrm>
              <a:off x="5658205" y="2693493"/>
              <a:ext cx="1082249" cy="628545"/>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800" b="0" i="1" dirty="0">
                  <a:solidFill>
                    <a:schemeClr val="accent2">
                      <a:lumMod val="75000"/>
                    </a:schemeClr>
                  </a:solidFill>
                  <a:latin typeface="Whitney-Book" pitchFamily="50" charset="0"/>
                  <a:cs typeface="Whitney-Book" pitchFamily="50" charset="0"/>
                </a:rPr>
                <a:t>ATC </a:t>
              </a:r>
              <a:r>
                <a:rPr lang="en-US" b="0" dirty="0">
                  <a:solidFill>
                    <a:schemeClr val="accent2">
                      <a:lumMod val="75000"/>
                    </a:schemeClr>
                  </a:solidFill>
                  <a:latin typeface="Whitney-Book" pitchFamily="50" charset="0"/>
                  <a:cs typeface="Whitney-Book" pitchFamily="50" charset="0"/>
                </a:rPr>
                <a:t>(with higher rent)</a:t>
              </a:r>
              <a:endParaRPr lang="en-US" sz="2800" b="0" dirty="0">
                <a:solidFill>
                  <a:schemeClr val="accent2">
                    <a:lumMod val="75000"/>
                  </a:schemeClr>
                </a:solidFill>
                <a:latin typeface="Whitney-Book" pitchFamily="50" charset="0"/>
                <a:cs typeface="Whitney-Book" pitchFamily="50" charset="0"/>
              </a:endParaRPr>
            </a:p>
          </p:txBody>
        </p:sp>
        <p:grpSp>
          <p:nvGrpSpPr>
            <p:cNvPr id="49" name="Group 48">
              <a:extLst>
                <a:ext uri="{FF2B5EF4-FFF2-40B4-BE49-F238E27FC236}">
                  <a16:creationId xmlns:a16="http://schemas.microsoft.com/office/drawing/2014/main" id="{C62CA6A5-4352-4B3E-9CE4-53F017D67AF8}"/>
                </a:ext>
              </a:extLst>
            </p:cNvPr>
            <p:cNvGrpSpPr/>
            <p:nvPr/>
          </p:nvGrpSpPr>
          <p:grpSpPr>
            <a:xfrm>
              <a:off x="2778888" y="1981794"/>
              <a:ext cx="3604351" cy="1230344"/>
              <a:chOff x="2642378" y="2099590"/>
              <a:chExt cx="3604351" cy="1230344"/>
            </a:xfrm>
          </p:grpSpPr>
          <p:sp>
            <p:nvSpPr>
              <p:cNvPr id="51" name="Arc 17">
                <a:extLst>
                  <a:ext uri="{FF2B5EF4-FFF2-40B4-BE49-F238E27FC236}">
                    <a16:creationId xmlns:a16="http://schemas.microsoft.com/office/drawing/2014/main" id="{77A2EC09-F107-48D0-B75D-D6B44CD87496}"/>
                  </a:ext>
                </a:extLst>
              </p:cNvPr>
              <p:cNvSpPr>
                <a:spLocks/>
              </p:cNvSpPr>
              <p:nvPr/>
            </p:nvSpPr>
            <p:spPr bwMode="auto">
              <a:xfrm rot="21130938">
                <a:off x="4227024" y="3180104"/>
                <a:ext cx="2019705" cy="125186"/>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44450" cap="rnd">
                <a:solidFill>
                  <a:schemeClr val="accent2">
                    <a:lumMod val="75000"/>
                  </a:schemeClr>
                </a:solidFill>
                <a:prstDash val="dash"/>
                <a:round/>
                <a:headEnd type="none" w="sm" len="sm"/>
                <a:tailEnd type="none" w="sm" len="sm"/>
              </a:ln>
              <a:effectLst/>
            </p:spPr>
            <p:txBody>
              <a:bodyPr wrap="none" anchor="ctr"/>
              <a:lstStyle/>
              <a:p>
                <a:endParaRPr lang="en-US" sz="2800" b="0" dirty="0">
                  <a:solidFill>
                    <a:schemeClr val="accent2">
                      <a:lumMod val="75000"/>
                    </a:schemeClr>
                  </a:solidFill>
                  <a:latin typeface="Whitney-Book" pitchFamily="50" charset="0"/>
                  <a:cs typeface="Whitney-Book" pitchFamily="50" charset="0"/>
                </a:endParaRPr>
              </a:p>
            </p:txBody>
          </p:sp>
          <p:sp>
            <p:nvSpPr>
              <p:cNvPr id="52" name="Arc 17">
                <a:extLst>
                  <a:ext uri="{FF2B5EF4-FFF2-40B4-BE49-F238E27FC236}">
                    <a16:creationId xmlns:a16="http://schemas.microsoft.com/office/drawing/2014/main" id="{C20B8E53-6EC6-43EC-B1C0-2E24A643F9E0}"/>
                  </a:ext>
                </a:extLst>
              </p:cNvPr>
              <p:cNvSpPr>
                <a:spLocks/>
              </p:cNvSpPr>
              <p:nvPr/>
            </p:nvSpPr>
            <p:spPr bwMode="auto">
              <a:xfrm>
                <a:off x="2642378" y="2099590"/>
                <a:ext cx="1650095" cy="1230344"/>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44450" cap="rnd">
                <a:solidFill>
                  <a:schemeClr val="accent2">
                    <a:lumMod val="75000"/>
                  </a:schemeClr>
                </a:solidFill>
                <a:prstDash val="dash"/>
                <a:round/>
                <a:headEnd type="none" w="sm" len="sm"/>
                <a:tailEnd type="none" w="sm" len="sm"/>
              </a:ln>
              <a:effectLst/>
            </p:spPr>
            <p:txBody>
              <a:bodyPr wrap="none" anchor="ctr"/>
              <a:lstStyle/>
              <a:p>
                <a:endParaRPr lang="en-US" sz="2800" b="0" dirty="0">
                  <a:solidFill>
                    <a:schemeClr val="accent2">
                      <a:lumMod val="75000"/>
                    </a:schemeClr>
                  </a:solidFill>
                  <a:latin typeface="Whitney-Book" pitchFamily="50" charset="0"/>
                  <a:cs typeface="Whitney-Book" pitchFamily="50" charset="0"/>
                </a:endParaRPr>
              </a:p>
            </p:txBody>
          </p:sp>
        </p:grpSp>
      </p:grpSp>
      <p:grpSp>
        <p:nvGrpSpPr>
          <p:cNvPr id="47" name="Group 63">
            <a:extLst>
              <a:ext uri="{FF2B5EF4-FFF2-40B4-BE49-F238E27FC236}">
                <a16:creationId xmlns:a16="http://schemas.microsoft.com/office/drawing/2014/main" id="{886BC455-1156-48AC-81B1-7FF5455A00B4}"/>
              </a:ext>
            </a:extLst>
          </p:cNvPr>
          <p:cNvGrpSpPr>
            <a:grpSpLocks/>
          </p:cNvGrpSpPr>
          <p:nvPr/>
        </p:nvGrpSpPr>
        <p:grpSpPr bwMode="auto">
          <a:xfrm>
            <a:off x="206717" y="3200839"/>
            <a:ext cx="1950721" cy="1019714"/>
            <a:chOff x="380" y="2261"/>
            <a:chExt cx="1168" cy="610"/>
          </a:xfrm>
        </p:grpSpPr>
        <p:sp>
          <p:nvSpPr>
            <p:cNvPr id="53" name="Rectangle 44">
              <a:extLst>
                <a:ext uri="{FF2B5EF4-FFF2-40B4-BE49-F238E27FC236}">
                  <a16:creationId xmlns:a16="http://schemas.microsoft.com/office/drawing/2014/main" id="{85B7E5AF-5219-40F4-9419-B88ED5C9ED50}"/>
                </a:ext>
              </a:extLst>
            </p:cNvPr>
            <p:cNvSpPr>
              <a:spLocks noChangeArrowheads="1"/>
            </p:cNvSpPr>
            <p:nvPr/>
          </p:nvSpPr>
          <p:spPr bwMode="auto">
            <a:xfrm>
              <a:off x="380" y="2531"/>
              <a:ext cx="1168" cy="340"/>
            </a:xfrm>
            <a:prstGeom prst="rect">
              <a:avLst/>
            </a:prstGeom>
            <a:noFill/>
            <a:ln w="9525">
              <a:noFill/>
              <a:miter lim="800000"/>
              <a:headEnd/>
              <a:tailEnd/>
            </a:ln>
            <a:effectLst/>
          </p:spPr>
          <p:txBody>
            <a:bodyPr wrap="none" lIns="19050" tIns="26988" rIns="19050" bIns="26988"/>
            <a:lstStyle/>
            <a:p>
              <a:pPr>
                <a:tabLst>
                  <a:tab pos="481157" algn="l"/>
                  <a:tab pos="962315" algn="l"/>
                  <a:tab pos="1443472" algn="l"/>
                </a:tabLst>
              </a:pPr>
              <a:r>
                <a:rPr lang="en-US" sz="2000" b="0" i="1" dirty="0">
                  <a:latin typeface="Whitney-Book" pitchFamily="50" charset="0"/>
                  <a:cs typeface="Whitney-Book" pitchFamily="50" charset="0"/>
                </a:rPr>
                <a:t>P* </a:t>
              </a:r>
              <a:r>
                <a:rPr lang="en-US" sz="2000" i="1" dirty="0">
                  <a:latin typeface="Whitney-Book" pitchFamily="50" charset="0"/>
                  <a:cs typeface="Whitney-Book" pitchFamily="50" charset="0"/>
                </a:rPr>
                <a:t>does not </a:t>
              </a:r>
            </a:p>
            <a:p>
              <a:pPr>
                <a:tabLst>
                  <a:tab pos="481157" algn="l"/>
                  <a:tab pos="962315" algn="l"/>
                  <a:tab pos="1443472" algn="l"/>
                </a:tabLst>
              </a:pPr>
              <a:r>
                <a:rPr lang="en-US" sz="2000" i="1" dirty="0">
                  <a:latin typeface="Whitney-Book" pitchFamily="50" charset="0"/>
                  <a:cs typeface="Whitney-Book" pitchFamily="50" charset="0"/>
                </a:rPr>
                <a:t>change if fixed </a:t>
              </a:r>
            </a:p>
            <a:p>
              <a:pPr>
                <a:tabLst>
                  <a:tab pos="481157" algn="l"/>
                  <a:tab pos="962315" algn="l"/>
                  <a:tab pos="1443472" algn="l"/>
                </a:tabLst>
              </a:pPr>
              <a:r>
                <a:rPr lang="en-US" sz="2000" i="1" dirty="0">
                  <a:latin typeface="Whitney-Book" pitchFamily="50" charset="0"/>
                  <a:cs typeface="Whitney-Book" pitchFamily="50" charset="0"/>
                </a:rPr>
                <a:t>costs go up</a:t>
              </a:r>
              <a:endParaRPr lang="en-US" sz="2000" b="0" i="1" dirty="0">
                <a:latin typeface="Whitney-Book" pitchFamily="50" charset="0"/>
                <a:cs typeface="Whitney-Book" pitchFamily="50" charset="0"/>
              </a:endParaRPr>
            </a:p>
          </p:txBody>
        </p:sp>
        <p:sp>
          <p:nvSpPr>
            <p:cNvPr id="55" name="Line 45">
              <a:extLst>
                <a:ext uri="{FF2B5EF4-FFF2-40B4-BE49-F238E27FC236}">
                  <a16:creationId xmlns:a16="http://schemas.microsoft.com/office/drawing/2014/main" id="{BD3571A6-D350-4A5C-8840-F1FC07FF0937}"/>
                </a:ext>
              </a:extLst>
            </p:cNvPr>
            <p:cNvSpPr>
              <a:spLocks noChangeShapeType="1"/>
            </p:cNvSpPr>
            <p:nvPr/>
          </p:nvSpPr>
          <p:spPr bwMode="auto">
            <a:xfrm flipV="1">
              <a:off x="1090" y="2261"/>
              <a:ext cx="295" cy="302"/>
            </a:xfrm>
            <a:prstGeom prst="line">
              <a:avLst/>
            </a:prstGeom>
            <a:noFill/>
            <a:ln w="25400">
              <a:solidFill>
                <a:schemeClr val="tx1"/>
              </a:solidFill>
              <a:round/>
              <a:headEnd type="none" w="sm" len="sm"/>
              <a:tailEnd type="stealth" w="med" len="lg"/>
            </a:ln>
            <a:effectLst/>
          </p:spPr>
          <p:txBody>
            <a:bodyPr wrap="none" anchor="ctr"/>
            <a:lstStyle/>
            <a:p>
              <a:endParaRPr lang="en-US" sz="2800" b="0">
                <a:solidFill>
                  <a:schemeClr val="bg1"/>
                </a:solidFill>
                <a:latin typeface="Whitney-Book" pitchFamily="50" charset="0"/>
                <a:cs typeface="Whitney-Book" pitchFamily="50" charset="0"/>
              </a:endParaRPr>
            </a:p>
          </p:txBody>
        </p:sp>
      </p:grpSp>
    </p:spTree>
    <p:extLst>
      <p:ext uri="{BB962C8B-B14F-4D97-AF65-F5344CB8AC3E}">
        <p14:creationId xmlns:p14="http://schemas.microsoft.com/office/powerpoint/2010/main" val="407510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7"/>
                                        </p:tgtEl>
                                        <p:attrNameLst>
                                          <p:attrName>style.visibility</p:attrName>
                                        </p:attrNameLst>
                                      </p:cBhvr>
                                      <p:to>
                                        <p:strVal val="visible"/>
                                      </p:to>
                                    </p:set>
                                    <p:anim calcmode="lin" valueType="num">
                                      <p:cBhvr additive="base">
                                        <p:cTn id="19" dur="500" fill="hold"/>
                                        <p:tgtEl>
                                          <p:spTgt spid="47"/>
                                        </p:tgtEl>
                                        <p:attrNameLst>
                                          <p:attrName>ppt_x</p:attrName>
                                        </p:attrNameLst>
                                      </p:cBhvr>
                                      <p:tavLst>
                                        <p:tav tm="0">
                                          <p:val>
                                            <p:strVal val="0-#ppt_w/2"/>
                                          </p:val>
                                        </p:tav>
                                        <p:tav tm="100000">
                                          <p:val>
                                            <p:strVal val="#ppt_x"/>
                                          </p:val>
                                        </p:tav>
                                      </p:tavLst>
                                    </p:anim>
                                    <p:anim calcmode="lin" valueType="num">
                                      <p:cBhvr additive="base">
                                        <p:cTn id="20" dur="500" fill="hold"/>
                                        <p:tgtEl>
                                          <p:spTgt spid="4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9"/>
                                        </p:tgtEl>
                                        <p:attrNameLst>
                                          <p:attrName>style.visibility</p:attrName>
                                        </p:attrNameLst>
                                      </p:cBhvr>
                                      <p:to>
                                        <p:strVal val="visible"/>
                                      </p:to>
                                    </p:set>
                                    <p:anim calcmode="lin" valueType="num">
                                      <p:cBhvr additive="base">
                                        <p:cTn id="25" dur="500" fill="hold"/>
                                        <p:tgtEl>
                                          <p:spTgt spid="79"/>
                                        </p:tgtEl>
                                        <p:attrNameLst>
                                          <p:attrName>ppt_x</p:attrName>
                                        </p:attrNameLst>
                                      </p:cBhvr>
                                      <p:tavLst>
                                        <p:tav tm="0">
                                          <p:val>
                                            <p:strVal val="#ppt_x"/>
                                          </p:val>
                                        </p:tav>
                                        <p:tav tm="100000">
                                          <p:val>
                                            <p:strVal val="#ppt_x"/>
                                          </p:val>
                                        </p:tav>
                                      </p:tavLst>
                                    </p:anim>
                                    <p:anim calcmode="lin" valueType="num">
                                      <p:cBhvr additive="base">
                                        <p:cTn id="26" dur="500" fill="hold"/>
                                        <p:tgtEl>
                                          <p:spTgt spid="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Whitney-Medium" pitchFamily="50" charset="0"/>
                <a:cs typeface="Whitney-Medium" pitchFamily="50" charset="0"/>
              </a:rPr>
              <a:t>Illustration based on the Practice Video Example </a:t>
            </a:r>
            <a:endParaRPr lang="en-US" dirty="0"/>
          </a:p>
        </p:txBody>
      </p:sp>
      <p:sp>
        <p:nvSpPr>
          <p:cNvPr id="3" name="Slide Number Placeholder 2"/>
          <p:cNvSpPr>
            <a:spLocks noGrp="1"/>
          </p:cNvSpPr>
          <p:nvPr>
            <p:ph type="sldNum" sz="quarter" idx="12"/>
          </p:nvPr>
        </p:nvSpPr>
        <p:spPr/>
        <p:txBody>
          <a:bodyPr/>
          <a:lstStyle/>
          <a:p>
            <a:fld id="{0F3206DB-9488-D04D-BDD1-A7C9D84C4579}" type="slidenum">
              <a:rPr lang="en-US" smtClean="0"/>
              <a:t>16</a:t>
            </a:fld>
            <a:endParaRPr lang="en-US"/>
          </a:p>
        </p:txBody>
      </p:sp>
      <p:sp>
        <p:nvSpPr>
          <p:cNvPr id="79" name="Rectangle 34">
            <a:extLst>
              <a:ext uri="{FF2B5EF4-FFF2-40B4-BE49-F238E27FC236}">
                <a16:creationId xmlns:a16="http://schemas.microsoft.com/office/drawing/2014/main" id="{EF44043E-3ADC-4EB3-9040-44A89A48C92F}"/>
              </a:ext>
            </a:extLst>
          </p:cNvPr>
          <p:cNvSpPr>
            <a:spLocks noChangeArrowheads="1"/>
          </p:cNvSpPr>
          <p:nvPr/>
        </p:nvSpPr>
        <p:spPr bwMode="auto">
          <a:xfrm>
            <a:off x="1292375" y="1468875"/>
            <a:ext cx="6844200" cy="593063"/>
          </a:xfrm>
          <a:prstGeom prst="rect">
            <a:avLst/>
          </a:prstGeom>
          <a:noFill/>
          <a:ln w="25400">
            <a:solidFill>
              <a:schemeClr val="tx1"/>
            </a:solidFill>
            <a:miter lim="800000"/>
            <a:headEnd/>
            <a:tailEnd/>
          </a:ln>
          <a:effectLst/>
        </p:spPr>
        <p:txBody>
          <a:bodyPr wrap="none" lIns="20048" tIns="28402" rIns="20048" bIns="28402" anchor="ctr" anchorCtr="0"/>
          <a:lstStyle/>
          <a:p>
            <a:pPr algn="ctr">
              <a:lnSpc>
                <a:spcPts val="2526"/>
              </a:lnSpc>
              <a:spcAft>
                <a:spcPts val="947"/>
              </a:spcAft>
              <a:tabLst>
                <a:tab pos="481157" algn="l"/>
                <a:tab pos="962315" algn="l"/>
                <a:tab pos="1443472" algn="l"/>
              </a:tabLst>
            </a:pPr>
            <a:r>
              <a:rPr lang="en-US" sz="2400" dirty="0">
                <a:latin typeface="Whitney-Book" pitchFamily="50" charset="0"/>
                <a:cs typeface="Whitney-Book" pitchFamily="50" charset="0"/>
              </a:rPr>
              <a:t>Case 1: </a:t>
            </a:r>
            <a:r>
              <a:rPr lang="en-US" sz="2400" dirty="0">
                <a:highlight>
                  <a:srgbClr val="FFFF00"/>
                </a:highlight>
                <a:latin typeface="Whitney-Book" pitchFamily="50" charset="0"/>
                <a:cs typeface="Whitney-Book" pitchFamily="50" charset="0"/>
              </a:rPr>
              <a:t>Low Fixed Cost</a:t>
            </a:r>
            <a:r>
              <a:rPr lang="en-US" sz="2400" dirty="0">
                <a:latin typeface="Whitney-Book" pitchFamily="50" charset="0"/>
                <a:cs typeface="Whitney-Book" pitchFamily="50" charset="0"/>
              </a:rPr>
              <a:t> (Rent $1000)</a:t>
            </a:r>
            <a:endParaRPr lang="en-US" sz="2400" b="0" dirty="0">
              <a:latin typeface="Whitney-Book" pitchFamily="50" charset="0"/>
              <a:cs typeface="Whitney-Book" pitchFamily="50" charset="0"/>
            </a:endParaRPr>
          </a:p>
        </p:txBody>
      </p:sp>
      <p:pic>
        <p:nvPicPr>
          <p:cNvPr id="50" name="Picture 49">
            <a:extLst>
              <a:ext uri="{FF2B5EF4-FFF2-40B4-BE49-F238E27FC236}">
                <a16:creationId xmlns:a16="http://schemas.microsoft.com/office/drawing/2014/main" id="{8A7AF3EF-5D8E-40A7-9000-62A0F7FF01E3}"/>
              </a:ext>
            </a:extLst>
          </p:cNvPr>
          <p:cNvPicPr>
            <a:picLocks noChangeAspect="1"/>
          </p:cNvPicPr>
          <p:nvPr/>
        </p:nvPicPr>
        <p:blipFill>
          <a:blip r:embed="rId3"/>
          <a:stretch>
            <a:fillRect/>
          </a:stretch>
        </p:blipFill>
        <p:spPr>
          <a:xfrm>
            <a:off x="2987829" y="787368"/>
            <a:ext cx="2933700" cy="593062"/>
          </a:xfrm>
          <a:prstGeom prst="rect">
            <a:avLst/>
          </a:prstGeom>
        </p:spPr>
      </p:pic>
      <p:pic>
        <p:nvPicPr>
          <p:cNvPr id="11" name="Picture 10">
            <a:extLst>
              <a:ext uri="{FF2B5EF4-FFF2-40B4-BE49-F238E27FC236}">
                <a16:creationId xmlns:a16="http://schemas.microsoft.com/office/drawing/2014/main" id="{966106A5-D156-4BA1-A5BF-96782A2FD64C}"/>
              </a:ext>
            </a:extLst>
          </p:cNvPr>
          <p:cNvPicPr>
            <a:picLocks noChangeAspect="1"/>
          </p:cNvPicPr>
          <p:nvPr/>
        </p:nvPicPr>
        <p:blipFill>
          <a:blip r:embed="rId4"/>
          <a:stretch>
            <a:fillRect/>
          </a:stretch>
        </p:blipFill>
        <p:spPr>
          <a:xfrm>
            <a:off x="252815" y="2753958"/>
            <a:ext cx="4189111" cy="3424062"/>
          </a:xfrm>
          <a:prstGeom prst="rect">
            <a:avLst/>
          </a:prstGeom>
        </p:spPr>
      </p:pic>
      <p:pic>
        <p:nvPicPr>
          <p:cNvPr id="12" name="Picture 11">
            <a:extLst>
              <a:ext uri="{FF2B5EF4-FFF2-40B4-BE49-F238E27FC236}">
                <a16:creationId xmlns:a16="http://schemas.microsoft.com/office/drawing/2014/main" id="{600A1585-A652-4A12-BA3B-6C693C1A02AD}"/>
              </a:ext>
            </a:extLst>
          </p:cNvPr>
          <p:cNvPicPr>
            <a:picLocks noChangeAspect="1"/>
          </p:cNvPicPr>
          <p:nvPr/>
        </p:nvPicPr>
        <p:blipFill>
          <a:blip r:embed="rId5"/>
          <a:stretch>
            <a:fillRect/>
          </a:stretch>
        </p:blipFill>
        <p:spPr>
          <a:xfrm>
            <a:off x="4571999" y="2753958"/>
            <a:ext cx="4417845" cy="3528508"/>
          </a:xfrm>
          <a:prstGeom prst="rect">
            <a:avLst/>
          </a:prstGeom>
        </p:spPr>
      </p:pic>
    </p:spTree>
    <p:extLst>
      <p:ext uri="{BB962C8B-B14F-4D97-AF65-F5344CB8AC3E}">
        <p14:creationId xmlns:p14="http://schemas.microsoft.com/office/powerpoint/2010/main" val="12193121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Whitney-Medium" pitchFamily="50" charset="0"/>
                <a:cs typeface="Whitney-Medium" pitchFamily="50" charset="0"/>
              </a:rPr>
              <a:t>Illustration based on the Practice Video Example </a:t>
            </a:r>
            <a:endParaRPr lang="en-US" dirty="0"/>
          </a:p>
        </p:txBody>
      </p:sp>
      <p:sp>
        <p:nvSpPr>
          <p:cNvPr id="3" name="Slide Number Placeholder 2"/>
          <p:cNvSpPr>
            <a:spLocks noGrp="1"/>
          </p:cNvSpPr>
          <p:nvPr>
            <p:ph type="sldNum" sz="quarter" idx="12"/>
          </p:nvPr>
        </p:nvSpPr>
        <p:spPr/>
        <p:txBody>
          <a:bodyPr/>
          <a:lstStyle/>
          <a:p>
            <a:fld id="{0F3206DB-9488-D04D-BDD1-A7C9D84C4579}" type="slidenum">
              <a:rPr lang="en-US" smtClean="0"/>
              <a:t>17</a:t>
            </a:fld>
            <a:endParaRPr lang="en-US"/>
          </a:p>
        </p:txBody>
      </p:sp>
      <p:sp>
        <p:nvSpPr>
          <p:cNvPr id="79" name="Rectangle 34">
            <a:extLst>
              <a:ext uri="{FF2B5EF4-FFF2-40B4-BE49-F238E27FC236}">
                <a16:creationId xmlns:a16="http://schemas.microsoft.com/office/drawing/2014/main" id="{EF44043E-3ADC-4EB3-9040-44A89A48C92F}"/>
              </a:ext>
            </a:extLst>
          </p:cNvPr>
          <p:cNvSpPr>
            <a:spLocks noChangeArrowheads="1"/>
          </p:cNvSpPr>
          <p:nvPr/>
        </p:nvSpPr>
        <p:spPr bwMode="auto">
          <a:xfrm>
            <a:off x="1292375" y="1468875"/>
            <a:ext cx="6844200" cy="593063"/>
          </a:xfrm>
          <a:prstGeom prst="rect">
            <a:avLst/>
          </a:prstGeom>
          <a:noFill/>
          <a:ln w="25400">
            <a:solidFill>
              <a:schemeClr val="tx1"/>
            </a:solidFill>
            <a:miter lim="800000"/>
            <a:headEnd/>
            <a:tailEnd/>
          </a:ln>
          <a:effectLst/>
        </p:spPr>
        <p:txBody>
          <a:bodyPr wrap="none" lIns="20048" tIns="28402" rIns="20048" bIns="28402" anchor="ctr" anchorCtr="0"/>
          <a:lstStyle/>
          <a:p>
            <a:pPr algn="ctr">
              <a:lnSpc>
                <a:spcPts val="2526"/>
              </a:lnSpc>
              <a:spcAft>
                <a:spcPts val="947"/>
              </a:spcAft>
              <a:tabLst>
                <a:tab pos="481157" algn="l"/>
                <a:tab pos="962315" algn="l"/>
                <a:tab pos="1443472" algn="l"/>
              </a:tabLst>
            </a:pPr>
            <a:r>
              <a:rPr lang="en-US" sz="2400" dirty="0">
                <a:latin typeface="Whitney-Book" pitchFamily="50" charset="0"/>
                <a:cs typeface="Whitney-Book" pitchFamily="50" charset="0"/>
              </a:rPr>
              <a:t>Case 2: </a:t>
            </a:r>
            <a:r>
              <a:rPr lang="en-US" sz="2400" dirty="0">
                <a:highlight>
                  <a:srgbClr val="FFFF00"/>
                </a:highlight>
                <a:latin typeface="Whitney-Book" pitchFamily="50" charset="0"/>
                <a:cs typeface="Whitney-Book" pitchFamily="50" charset="0"/>
              </a:rPr>
              <a:t>Medium Fixed Cost</a:t>
            </a:r>
            <a:r>
              <a:rPr lang="en-US" sz="2400" dirty="0">
                <a:latin typeface="Whitney-Book" pitchFamily="50" charset="0"/>
                <a:cs typeface="Whitney-Book" pitchFamily="50" charset="0"/>
              </a:rPr>
              <a:t> (Rent $2000)</a:t>
            </a:r>
            <a:endParaRPr lang="en-US" sz="2400" b="0" dirty="0">
              <a:latin typeface="Whitney-Book" pitchFamily="50" charset="0"/>
              <a:cs typeface="Whitney-Book" pitchFamily="50" charset="0"/>
            </a:endParaRPr>
          </a:p>
        </p:txBody>
      </p:sp>
      <p:pic>
        <p:nvPicPr>
          <p:cNvPr id="50" name="Picture 49">
            <a:extLst>
              <a:ext uri="{FF2B5EF4-FFF2-40B4-BE49-F238E27FC236}">
                <a16:creationId xmlns:a16="http://schemas.microsoft.com/office/drawing/2014/main" id="{8A7AF3EF-5D8E-40A7-9000-62A0F7FF01E3}"/>
              </a:ext>
            </a:extLst>
          </p:cNvPr>
          <p:cNvPicPr>
            <a:picLocks noChangeAspect="1"/>
          </p:cNvPicPr>
          <p:nvPr/>
        </p:nvPicPr>
        <p:blipFill>
          <a:blip r:embed="rId3"/>
          <a:stretch>
            <a:fillRect/>
          </a:stretch>
        </p:blipFill>
        <p:spPr>
          <a:xfrm>
            <a:off x="2987829" y="787368"/>
            <a:ext cx="2933700" cy="593062"/>
          </a:xfrm>
          <a:prstGeom prst="rect">
            <a:avLst/>
          </a:prstGeom>
        </p:spPr>
      </p:pic>
      <p:pic>
        <p:nvPicPr>
          <p:cNvPr id="5" name="Picture 4">
            <a:extLst>
              <a:ext uri="{FF2B5EF4-FFF2-40B4-BE49-F238E27FC236}">
                <a16:creationId xmlns:a16="http://schemas.microsoft.com/office/drawing/2014/main" id="{455E746B-AC1B-4289-9517-19C746456511}"/>
              </a:ext>
            </a:extLst>
          </p:cNvPr>
          <p:cNvPicPr>
            <a:picLocks noChangeAspect="1"/>
          </p:cNvPicPr>
          <p:nvPr/>
        </p:nvPicPr>
        <p:blipFill>
          <a:blip r:embed="rId4"/>
          <a:stretch>
            <a:fillRect/>
          </a:stretch>
        </p:blipFill>
        <p:spPr>
          <a:xfrm>
            <a:off x="182880" y="2707303"/>
            <a:ext cx="4246645" cy="3410325"/>
          </a:xfrm>
          <a:prstGeom prst="rect">
            <a:avLst/>
          </a:prstGeom>
        </p:spPr>
      </p:pic>
      <p:pic>
        <p:nvPicPr>
          <p:cNvPr id="6" name="Picture 5">
            <a:extLst>
              <a:ext uri="{FF2B5EF4-FFF2-40B4-BE49-F238E27FC236}">
                <a16:creationId xmlns:a16="http://schemas.microsoft.com/office/drawing/2014/main" id="{8855846E-E772-4E90-A289-41AA83AC857B}"/>
              </a:ext>
            </a:extLst>
          </p:cNvPr>
          <p:cNvPicPr>
            <a:picLocks noChangeAspect="1"/>
          </p:cNvPicPr>
          <p:nvPr/>
        </p:nvPicPr>
        <p:blipFill>
          <a:blip r:embed="rId5"/>
          <a:stretch>
            <a:fillRect/>
          </a:stretch>
        </p:blipFill>
        <p:spPr>
          <a:xfrm>
            <a:off x="4714475" y="2707304"/>
            <a:ext cx="4246645" cy="3391771"/>
          </a:xfrm>
          <a:prstGeom prst="rect">
            <a:avLst/>
          </a:prstGeom>
        </p:spPr>
      </p:pic>
    </p:spTree>
    <p:extLst>
      <p:ext uri="{BB962C8B-B14F-4D97-AF65-F5344CB8AC3E}">
        <p14:creationId xmlns:p14="http://schemas.microsoft.com/office/powerpoint/2010/main" val="626312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Whitney-Medium" pitchFamily="50" charset="0"/>
                <a:cs typeface="Whitney-Medium" pitchFamily="50" charset="0"/>
              </a:rPr>
              <a:t>Illustration based on the Practice Video Example </a:t>
            </a:r>
            <a:endParaRPr lang="en-US" dirty="0"/>
          </a:p>
        </p:txBody>
      </p:sp>
      <p:sp>
        <p:nvSpPr>
          <p:cNvPr id="3" name="Slide Number Placeholder 2"/>
          <p:cNvSpPr>
            <a:spLocks noGrp="1"/>
          </p:cNvSpPr>
          <p:nvPr>
            <p:ph type="sldNum" sz="quarter" idx="12"/>
          </p:nvPr>
        </p:nvSpPr>
        <p:spPr/>
        <p:txBody>
          <a:bodyPr/>
          <a:lstStyle/>
          <a:p>
            <a:fld id="{0F3206DB-9488-D04D-BDD1-A7C9D84C4579}" type="slidenum">
              <a:rPr lang="en-US" smtClean="0"/>
              <a:t>18</a:t>
            </a:fld>
            <a:endParaRPr lang="en-US"/>
          </a:p>
        </p:txBody>
      </p:sp>
      <p:sp>
        <p:nvSpPr>
          <p:cNvPr id="79" name="Rectangle 34">
            <a:extLst>
              <a:ext uri="{FF2B5EF4-FFF2-40B4-BE49-F238E27FC236}">
                <a16:creationId xmlns:a16="http://schemas.microsoft.com/office/drawing/2014/main" id="{EF44043E-3ADC-4EB3-9040-44A89A48C92F}"/>
              </a:ext>
            </a:extLst>
          </p:cNvPr>
          <p:cNvSpPr>
            <a:spLocks noChangeArrowheads="1"/>
          </p:cNvSpPr>
          <p:nvPr/>
        </p:nvSpPr>
        <p:spPr bwMode="auto">
          <a:xfrm>
            <a:off x="1292375" y="1468875"/>
            <a:ext cx="6844200" cy="593063"/>
          </a:xfrm>
          <a:prstGeom prst="rect">
            <a:avLst/>
          </a:prstGeom>
          <a:noFill/>
          <a:ln w="25400">
            <a:solidFill>
              <a:schemeClr val="tx1"/>
            </a:solidFill>
            <a:miter lim="800000"/>
            <a:headEnd/>
            <a:tailEnd/>
          </a:ln>
          <a:effectLst/>
        </p:spPr>
        <p:txBody>
          <a:bodyPr wrap="none" lIns="20048" tIns="28402" rIns="20048" bIns="28402" anchor="ctr" anchorCtr="0"/>
          <a:lstStyle/>
          <a:p>
            <a:pPr algn="ctr">
              <a:lnSpc>
                <a:spcPts val="2526"/>
              </a:lnSpc>
              <a:spcAft>
                <a:spcPts val="947"/>
              </a:spcAft>
              <a:tabLst>
                <a:tab pos="481157" algn="l"/>
                <a:tab pos="962315" algn="l"/>
                <a:tab pos="1443472" algn="l"/>
              </a:tabLst>
            </a:pPr>
            <a:r>
              <a:rPr lang="en-US" sz="2400" dirty="0">
                <a:latin typeface="Whitney-Book" pitchFamily="50" charset="0"/>
                <a:cs typeface="Whitney-Book" pitchFamily="50" charset="0"/>
              </a:rPr>
              <a:t>Case 3: </a:t>
            </a:r>
            <a:r>
              <a:rPr lang="en-US" sz="2400" dirty="0">
                <a:highlight>
                  <a:srgbClr val="FFFF00"/>
                </a:highlight>
                <a:latin typeface="Whitney-Book" pitchFamily="50" charset="0"/>
                <a:cs typeface="Whitney-Book" pitchFamily="50" charset="0"/>
              </a:rPr>
              <a:t>High Fixed Cost</a:t>
            </a:r>
            <a:r>
              <a:rPr lang="en-US" sz="2400" dirty="0">
                <a:latin typeface="Whitney-Book" pitchFamily="50" charset="0"/>
                <a:cs typeface="Whitney-Book" pitchFamily="50" charset="0"/>
              </a:rPr>
              <a:t> (Rent $3000)</a:t>
            </a:r>
            <a:endParaRPr lang="en-US" sz="2400" b="0" dirty="0">
              <a:latin typeface="Whitney-Book" pitchFamily="50" charset="0"/>
              <a:cs typeface="Whitney-Book" pitchFamily="50" charset="0"/>
            </a:endParaRPr>
          </a:p>
        </p:txBody>
      </p:sp>
      <p:pic>
        <p:nvPicPr>
          <p:cNvPr id="50" name="Picture 49">
            <a:extLst>
              <a:ext uri="{FF2B5EF4-FFF2-40B4-BE49-F238E27FC236}">
                <a16:creationId xmlns:a16="http://schemas.microsoft.com/office/drawing/2014/main" id="{8A7AF3EF-5D8E-40A7-9000-62A0F7FF01E3}"/>
              </a:ext>
            </a:extLst>
          </p:cNvPr>
          <p:cNvPicPr>
            <a:picLocks noChangeAspect="1"/>
          </p:cNvPicPr>
          <p:nvPr/>
        </p:nvPicPr>
        <p:blipFill>
          <a:blip r:embed="rId3"/>
          <a:stretch>
            <a:fillRect/>
          </a:stretch>
        </p:blipFill>
        <p:spPr>
          <a:xfrm>
            <a:off x="2987829" y="787368"/>
            <a:ext cx="2933700" cy="593062"/>
          </a:xfrm>
          <a:prstGeom prst="rect">
            <a:avLst/>
          </a:prstGeom>
        </p:spPr>
      </p:pic>
      <p:pic>
        <p:nvPicPr>
          <p:cNvPr id="4" name="Picture 3">
            <a:extLst>
              <a:ext uri="{FF2B5EF4-FFF2-40B4-BE49-F238E27FC236}">
                <a16:creationId xmlns:a16="http://schemas.microsoft.com/office/drawing/2014/main" id="{811983B1-D8A6-47B5-AC4A-16D437A4805B}"/>
              </a:ext>
            </a:extLst>
          </p:cNvPr>
          <p:cNvPicPr>
            <a:picLocks noChangeAspect="1"/>
          </p:cNvPicPr>
          <p:nvPr/>
        </p:nvPicPr>
        <p:blipFill>
          <a:blip r:embed="rId4"/>
          <a:stretch>
            <a:fillRect/>
          </a:stretch>
        </p:blipFill>
        <p:spPr>
          <a:xfrm>
            <a:off x="70001" y="2380553"/>
            <a:ext cx="4280136" cy="3437221"/>
          </a:xfrm>
          <a:prstGeom prst="rect">
            <a:avLst/>
          </a:prstGeom>
        </p:spPr>
      </p:pic>
      <p:pic>
        <p:nvPicPr>
          <p:cNvPr id="7" name="Picture 6">
            <a:extLst>
              <a:ext uri="{FF2B5EF4-FFF2-40B4-BE49-F238E27FC236}">
                <a16:creationId xmlns:a16="http://schemas.microsoft.com/office/drawing/2014/main" id="{F6F38B3E-00B1-401A-9DCE-C5568621C153}"/>
              </a:ext>
            </a:extLst>
          </p:cNvPr>
          <p:cNvPicPr>
            <a:picLocks noChangeAspect="1"/>
          </p:cNvPicPr>
          <p:nvPr/>
        </p:nvPicPr>
        <p:blipFill>
          <a:blip r:embed="rId5"/>
          <a:stretch>
            <a:fillRect/>
          </a:stretch>
        </p:blipFill>
        <p:spPr>
          <a:xfrm>
            <a:off x="4572000" y="2380554"/>
            <a:ext cx="4303551" cy="3437221"/>
          </a:xfrm>
          <a:prstGeom prst="rect">
            <a:avLst/>
          </a:prstGeom>
        </p:spPr>
      </p:pic>
      <p:sp>
        <p:nvSpPr>
          <p:cNvPr id="10" name="Rectangle 34">
            <a:extLst>
              <a:ext uri="{FF2B5EF4-FFF2-40B4-BE49-F238E27FC236}">
                <a16:creationId xmlns:a16="http://schemas.microsoft.com/office/drawing/2014/main" id="{168F6BDC-19A0-4739-B677-CBBF5B3F34A2}"/>
              </a:ext>
            </a:extLst>
          </p:cNvPr>
          <p:cNvSpPr>
            <a:spLocks noChangeArrowheads="1"/>
          </p:cNvSpPr>
          <p:nvPr/>
        </p:nvSpPr>
        <p:spPr bwMode="auto">
          <a:xfrm>
            <a:off x="169785" y="6046392"/>
            <a:ext cx="8804429" cy="514841"/>
          </a:xfrm>
          <a:prstGeom prst="rect">
            <a:avLst/>
          </a:prstGeom>
          <a:noFill/>
          <a:ln w="25400">
            <a:solidFill>
              <a:srgbClr val="C00000"/>
            </a:solidFill>
            <a:miter lim="800000"/>
            <a:headEnd/>
            <a:tailEnd/>
          </a:ln>
          <a:effectLst/>
        </p:spPr>
        <p:txBody>
          <a:bodyPr wrap="none" lIns="20048" tIns="28402" rIns="20048" bIns="28402" anchor="ctr" anchorCtr="0"/>
          <a:lstStyle/>
          <a:p>
            <a:pPr algn="ctr">
              <a:lnSpc>
                <a:spcPts val="2526"/>
              </a:lnSpc>
              <a:spcAft>
                <a:spcPts val="947"/>
              </a:spcAft>
              <a:tabLst>
                <a:tab pos="481157" algn="l"/>
                <a:tab pos="962315" algn="l"/>
                <a:tab pos="1443472" algn="l"/>
              </a:tabLst>
            </a:pPr>
            <a:r>
              <a:rPr lang="en-US" sz="2000" b="0" dirty="0">
                <a:solidFill>
                  <a:srgbClr val="C00000"/>
                </a:solidFill>
                <a:latin typeface="Whitney-Book" pitchFamily="50" charset="0"/>
                <a:cs typeface="Whitney-Book" pitchFamily="50" charset="0"/>
                <a:sym typeface="Wingdings" panose="05000000000000000000" pitchFamily="2" charset="2"/>
              </a:rPr>
              <a:t> </a:t>
            </a:r>
            <a:r>
              <a:rPr lang="en-US" sz="2000" b="0" dirty="0">
                <a:solidFill>
                  <a:srgbClr val="C00000"/>
                </a:solidFill>
                <a:latin typeface="Whitney-Book" pitchFamily="50" charset="0"/>
                <a:cs typeface="Whitney-Book" pitchFamily="50" charset="0"/>
              </a:rPr>
              <a:t>In all three fixed-cost cases, the profit-maximizing quantity remains the same </a:t>
            </a:r>
          </a:p>
        </p:txBody>
      </p:sp>
    </p:spTree>
    <p:extLst>
      <p:ext uri="{BB962C8B-B14F-4D97-AF65-F5344CB8AC3E}">
        <p14:creationId xmlns:p14="http://schemas.microsoft.com/office/powerpoint/2010/main" val="2092183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OUTLINE of module 5</a:t>
            </a:r>
          </a:p>
        </p:txBody>
      </p:sp>
      <p:sp>
        <p:nvSpPr>
          <p:cNvPr id="3" name="Content Placeholder 2"/>
          <p:cNvSpPr>
            <a:spLocks noGrp="1"/>
          </p:cNvSpPr>
          <p:nvPr>
            <p:ph type="body" idx="1"/>
          </p:nvPr>
        </p:nvSpPr>
        <p:spPr/>
        <p:txBody>
          <a:bodyPr>
            <a:normAutofit/>
          </a:bodyPr>
          <a:lstStyle/>
          <a:p>
            <a:pPr>
              <a:spcBef>
                <a:spcPts val="1800"/>
              </a:spcBef>
            </a:pPr>
            <a:r>
              <a:rPr lang="en-US" sz="2810" dirty="0">
                <a:solidFill>
                  <a:schemeClr val="bg1">
                    <a:lumMod val="65000"/>
                  </a:schemeClr>
                </a:solidFill>
              </a:rPr>
              <a:t>Profit maximization for price searchers</a:t>
            </a:r>
          </a:p>
          <a:p>
            <a:pPr lvl="1">
              <a:spcBef>
                <a:spcPts val="600"/>
              </a:spcBef>
            </a:pPr>
            <a:r>
              <a:rPr lang="en-US" sz="2610" dirty="0"/>
              <a:t>Markup and Lerner index</a:t>
            </a:r>
            <a:endParaRPr lang="en-US" sz="2810" dirty="0"/>
          </a:p>
          <a:p>
            <a:pPr>
              <a:lnSpc>
                <a:spcPct val="120000"/>
              </a:lnSpc>
              <a:spcBef>
                <a:spcPts val="1800"/>
              </a:spcBef>
            </a:pPr>
            <a:r>
              <a:rPr lang="en-US" sz="2810" dirty="0">
                <a:solidFill>
                  <a:schemeClr val="bg1">
                    <a:lumMod val="65000"/>
                  </a:schemeClr>
                </a:solidFill>
              </a:rPr>
              <a:t>Monopoly and welfare impact</a:t>
            </a:r>
          </a:p>
          <a:p>
            <a:pPr>
              <a:lnSpc>
                <a:spcPct val="120000"/>
              </a:lnSpc>
              <a:spcBef>
                <a:spcPts val="1800"/>
              </a:spcBef>
            </a:pPr>
            <a:r>
              <a:rPr lang="en-US" sz="2810" dirty="0">
                <a:solidFill>
                  <a:schemeClr val="bg1">
                    <a:lumMod val="65000"/>
                  </a:schemeClr>
                </a:solidFill>
              </a:rPr>
              <a:t>Rising market power and regulations</a:t>
            </a:r>
          </a:p>
          <a:p>
            <a:pPr>
              <a:lnSpc>
                <a:spcPct val="120000"/>
              </a:lnSpc>
              <a:spcBef>
                <a:spcPts val="1800"/>
              </a:spcBef>
            </a:pPr>
            <a:r>
              <a:rPr lang="en-US" sz="2810" dirty="0">
                <a:solidFill>
                  <a:schemeClr val="bg1">
                    <a:lumMod val="65000"/>
                  </a:schemeClr>
                </a:solidFill>
              </a:rPr>
              <a:t>Monopolistic competition</a:t>
            </a:r>
          </a:p>
          <a:p>
            <a:pPr marL="514350" indent="-514350">
              <a:lnSpc>
                <a:spcPct val="120000"/>
              </a:lnSpc>
              <a:buFont typeface="+mj-lt"/>
              <a:buAutoNum type="arabicPeriod"/>
            </a:pPr>
            <a:endParaRPr lang="en-US" sz="2813" dirty="0">
              <a:latin typeface="Whitney-Book" pitchFamily="50" charset="0"/>
              <a:cs typeface="Whitney-Book" pitchFamily="50" charset="0"/>
            </a:endParaRPr>
          </a:p>
          <a:p>
            <a:pPr marL="514350" indent="-514350">
              <a:lnSpc>
                <a:spcPct val="120000"/>
              </a:lnSpc>
              <a:buFont typeface="+mj-lt"/>
              <a:buAutoNum type="arabicPeriod"/>
            </a:pPr>
            <a:endParaRPr lang="en-US" sz="2813" dirty="0">
              <a:latin typeface="Whitney-Book" pitchFamily="50" charset="0"/>
              <a:cs typeface="Whitney-Book" pitchFamily="50" charset="0"/>
            </a:endParaRPr>
          </a:p>
          <a:p>
            <a:pPr marL="914400" lvl="1" indent="-514350">
              <a:lnSpc>
                <a:spcPct val="120000"/>
              </a:lnSpc>
            </a:pPr>
            <a:endParaRPr lang="en-US" sz="2613" noProof="0" dirty="0">
              <a:latin typeface="Whitney-Book" pitchFamily="50" charset="0"/>
              <a:cs typeface="Whitney-Book" pitchFamily="50" charset="0"/>
            </a:endParaRPr>
          </a:p>
          <a:p>
            <a:pPr marL="914400" lvl="1" indent="-514350">
              <a:lnSpc>
                <a:spcPct val="120000"/>
              </a:lnSpc>
            </a:pPr>
            <a:endParaRPr lang="en-US" sz="2613" noProof="0" dirty="0">
              <a:latin typeface="Whitney-Book" pitchFamily="50" charset="0"/>
              <a:cs typeface="Whitney-Book" pitchFamily="50" charset="0"/>
            </a:endParaRPr>
          </a:p>
          <a:p>
            <a:pPr marL="457200" lvl="1" indent="0">
              <a:buNone/>
            </a:pPr>
            <a:endParaRPr lang="en-US" noProof="0" dirty="0"/>
          </a:p>
          <a:p>
            <a:pPr lvl="1"/>
            <a:endParaRPr lang="en-US" noProof="0" dirty="0"/>
          </a:p>
          <a:p>
            <a:endParaRPr lang="en-US" noProof="0" dirty="0"/>
          </a:p>
        </p:txBody>
      </p:sp>
    </p:spTree>
    <p:extLst>
      <p:ext uri="{BB962C8B-B14F-4D97-AF65-F5344CB8AC3E}">
        <p14:creationId xmlns:p14="http://schemas.microsoft.com/office/powerpoint/2010/main" val="960034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Markup and The Lerner index</a:t>
            </a:r>
          </a:p>
        </p:txBody>
      </p:sp>
      <mc:AlternateContent xmlns:mc="http://schemas.openxmlformats.org/markup-compatibility/2006">
        <mc:Choice xmlns:a14="http://schemas.microsoft.com/office/drawing/2010/main" Requires="a14">
          <p:sp>
            <p:nvSpPr>
              <p:cNvPr id="3" name="Content Placeholder 2"/>
              <p:cNvSpPr>
                <a:spLocks noGrp="1"/>
              </p:cNvSpPr>
              <p:nvPr>
                <p:ph type="body" idx="1"/>
              </p:nvPr>
            </p:nvSpPr>
            <p:spPr>
              <a:xfrm>
                <a:off x="387900" y="1536633"/>
                <a:ext cx="8520600" cy="5024600"/>
              </a:xfrm>
            </p:spPr>
            <p:txBody>
              <a:bodyPr>
                <a:normAutofit fontScale="77500" lnSpcReduction="20000"/>
              </a:bodyPr>
              <a:lstStyle/>
              <a:p>
                <a:r>
                  <a:rPr lang="en-US" dirty="0"/>
                  <a:t>A firm charges a markup if its price is above its marginal cost (</a:t>
                </a:r>
                <a14:m>
                  <m:oMath xmlns:m="http://schemas.openxmlformats.org/officeDocument/2006/math">
                    <m:r>
                      <a:rPr lang="en-US" i="1">
                        <a:latin typeface="Cambria Math" panose="02040503050406030204" pitchFamily="18" charset="0"/>
                      </a:rPr>
                      <m:t>𝑃</m:t>
                    </m:r>
                    <m:r>
                      <a:rPr lang="en-US" b="0" i="1" smtClean="0">
                        <a:latin typeface="Cambria Math" panose="02040503050406030204" pitchFamily="18" charset="0"/>
                      </a:rPr>
                      <m:t>&gt;</m:t>
                    </m:r>
                    <m:r>
                      <a:rPr lang="en-US" i="1">
                        <a:latin typeface="Cambria Math" panose="02040503050406030204" pitchFamily="18" charset="0"/>
                      </a:rPr>
                      <m:t>𝑀𝐶</m:t>
                    </m:r>
                  </m:oMath>
                </a14:m>
                <a:r>
                  <a:rPr lang="en-US" dirty="0"/>
                  <a:t>)</a:t>
                </a:r>
              </a:p>
              <a:p>
                <a:pPr lvl="1"/>
                <a:r>
                  <a:rPr lang="en-US" dirty="0"/>
                  <a:t>A common definition is </a:t>
                </a:r>
                <a:r>
                  <a:rPr lang="en-US" dirty="0">
                    <a:solidFill>
                      <a:srgbClr val="002B56"/>
                    </a:solidFill>
                  </a:rPr>
                  <a:t>Markup = </a:t>
                </a:r>
                <a14:m>
                  <m:oMath xmlns:m="http://schemas.openxmlformats.org/officeDocument/2006/math">
                    <m:f>
                      <m:fPr>
                        <m:ctrlPr>
                          <a:rPr lang="en-US" i="1">
                            <a:solidFill>
                              <a:srgbClr val="002B56"/>
                            </a:solidFill>
                            <a:latin typeface="Cambria Math" panose="02040503050406030204" pitchFamily="18" charset="0"/>
                          </a:rPr>
                        </m:ctrlPr>
                      </m:fPr>
                      <m:num>
                        <m:r>
                          <a:rPr lang="en-US" i="1">
                            <a:solidFill>
                              <a:srgbClr val="002B56"/>
                            </a:solidFill>
                            <a:latin typeface="Cambria Math" panose="02040503050406030204" pitchFamily="18" charset="0"/>
                          </a:rPr>
                          <m:t>𝑃</m:t>
                        </m:r>
                      </m:num>
                      <m:den>
                        <m:r>
                          <a:rPr lang="en-US" i="1">
                            <a:solidFill>
                              <a:srgbClr val="002B56"/>
                            </a:solidFill>
                            <a:latin typeface="Cambria Math" panose="02040503050406030204" pitchFamily="18" charset="0"/>
                          </a:rPr>
                          <m:t>𝑀𝐶</m:t>
                        </m:r>
                      </m:den>
                    </m:f>
                  </m:oMath>
                </a14:m>
                <a:endParaRPr lang="en-US" dirty="0">
                  <a:solidFill>
                    <a:srgbClr val="C00000"/>
                  </a:solidFill>
                </a:endParaRPr>
              </a:p>
              <a:p>
                <a:pPr lvl="1"/>
                <a:endParaRPr lang="en-US" dirty="0"/>
              </a:p>
              <a:p>
                <a:pPr>
                  <a:spcBef>
                    <a:spcPts val="0"/>
                  </a:spcBef>
                  <a:spcAft>
                    <a:spcPts val="1200"/>
                  </a:spcAft>
                </a:pPr>
                <a:r>
                  <a:rPr lang="en-US" dirty="0"/>
                  <a:t>We will follow the textbook and use the </a:t>
                </a:r>
                <a:r>
                  <a:rPr lang="en-US" dirty="0">
                    <a:solidFill>
                      <a:srgbClr val="C00000"/>
                    </a:solidFill>
                  </a:rPr>
                  <a:t>Lerner Index: </a:t>
                </a:r>
                <a:r>
                  <a:rPr lang="en-US" dirty="0"/>
                  <a:t>a measure of the market power of a firm:</a:t>
                </a:r>
              </a:p>
              <a:p>
                <a:pPr marL="0" indent="0">
                  <a:buNone/>
                </a:pPr>
                <a14:m>
                  <m:oMathPara xmlns:m="http://schemas.openxmlformats.org/officeDocument/2006/math">
                    <m:oMathParaPr>
                      <m:jc m:val="centerGroup"/>
                    </m:oMathParaPr>
                    <m:oMath xmlns:m="http://schemas.openxmlformats.org/officeDocument/2006/math">
                      <m:f>
                        <m:fPr>
                          <m:ctrlPr>
                            <a:rPr lang="en-US" b="0" i="1" smtClean="0">
                              <a:solidFill>
                                <a:srgbClr val="C00000"/>
                              </a:solidFill>
                              <a:latin typeface="Cambria Math" panose="02040503050406030204" pitchFamily="18" charset="0"/>
                            </a:rPr>
                          </m:ctrlPr>
                        </m:fPr>
                        <m:num>
                          <m:r>
                            <a:rPr lang="en-US" b="0" i="1" smtClean="0">
                              <a:solidFill>
                                <a:srgbClr val="C00000"/>
                              </a:solidFill>
                              <a:latin typeface="Cambria Math" panose="02040503050406030204" pitchFamily="18" charset="0"/>
                            </a:rPr>
                            <m:t>𝑃</m:t>
                          </m:r>
                          <m:r>
                            <a:rPr lang="en-US" b="0" i="1" smtClean="0">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𝑀𝐶</m:t>
                          </m:r>
                        </m:num>
                        <m:den>
                          <m:r>
                            <a:rPr lang="en-US" b="0" i="1" smtClean="0">
                              <a:solidFill>
                                <a:srgbClr val="C00000"/>
                              </a:solidFill>
                              <a:latin typeface="Cambria Math" panose="02040503050406030204" pitchFamily="18" charset="0"/>
                            </a:rPr>
                            <m:t>𝑃</m:t>
                          </m:r>
                        </m:den>
                      </m:f>
                    </m:oMath>
                  </m:oMathPara>
                </a14:m>
                <a:endParaRPr lang="en-US" dirty="0"/>
              </a:p>
              <a:p>
                <a:pPr lvl="1">
                  <a:spcBef>
                    <a:spcPts val="1800"/>
                  </a:spcBef>
                </a:pPr>
                <a:r>
                  <a:rPr lang="en-US" sz="2900" dirty="0"/>
                  <a:t>The percentage of a firm’s price that is due to a mark-up above its marginal cost </a:t>
                </a:r>
              </a:p>
              <a:p>
                <a:pPr lvl="2">
                  <a:spcBef>
                    <a:spcPts val="600"/>
                  </a:spcBef>
                </a:pPr>
                <a:r>
                  <a:rPr lang="en-US" sz="2300" dirty="0"/>
                  <a:t>E.g., P=2; MC=1.5 </a:t>
                </a:r>
                <a:r>
                  <a:rPr lang="en-US" sz="2300" dirty="0">
                    <a:sym typeface="Wingdings" panose="05000000000000000000" pitchFamily="2" charset="2"/>
                  </a:rPr>
                  <a:t> 25% of the price is due to mark-up</a:t>
                </a:r>
                <a:endParaRPr lang="en-US" sz="2300" dirty="0"/>
              </a:p>
              <a:p>
                <a:pPr lvl="1">
                  <a:spcBef>
                    <a:spcPts val="600"/>
                  </a:spcBef>
                </a:pPr>
                <a:r>
                  <a:rPr lang="en-US" sz="2900" dirty="0"/>
                  <a:t>The Lerner Index is the larger the higher is the markup</a:t>
                </a:r>
              </a:p>
              <a:p>
                <a:pPr lvl="1">
                  <a:spcBef>
                    <a:spcPts val="600"/>
                  </a:spcBef>
                </a:pPr>
                <a:r>
                  <a:rPr lang="en-US" sz="2900" dirty="0"/>
                  <a:t>Between 0 and 1</a:t>
                </a:r>
              </a:p>
              <a:p>
                <a:pPr lvl="2">
                  <a:spcBef>
                    <a:spcPts val="600"/>
                  </a:spcBef>
                </a:pPr>
                <a:r>
                  <a:rPr lang="en-US" sz="2300" dirty="0"/>
                  <a:t>Zero under perfect competition (</a:t>
                </a:r>
                <a14:m>
                  <m:oMath xmlns:m="http://schemas.openxmlformats.org/officeDocument/2006/math">
                    <m:r>
                      <a:rPr lang="en-US" sz="2300" b="0" i="1" smtClean="0">
                        <a:latin typeface="Cambria Math" panose="02040503050406030204" pitchFamily="18" charset="0"/>
                      </a:rPr>
                      <m:t>𝑃</m:t>
                    </m:r>
                    <m:r>
                      <a:rPr lang="en-US" sz="2300" b="0" i="1" smtClean="0">
                        <a:latin typeface="Cambria Math" panose="02040503050406030204" pitchFamily="18" charset="0"/>
                      </a:rPr>
                      <m:t>=</m:t>
                    </m:r>
                    <m:r>
                      <a:rPr lang="en-US" sz="2300" b="0" i="1" smtClean="0">
                        <a:latin typeface="Cambria Math" panose="02040503050406030204" pitchFamily="18" charset="0"/>
                      </a:rPr>
                      <m:t>𝑀𝐶</m:t>
                    </m:r>
                  </m:oMath>
                </a14:m>
                <a:r>
                  <a:rPr lang="en-US" sz="2300" dirty="0"/>
                  <a:t>)</a:t>
                </a:r>
              </a:p>
              <a:p>
                <a:pPr lvl="2">
                  <a:spcBef>
                    <a:spcPts val="600"/>
                  </a:spcBef>
                </a:pPr>
                <a:r>
                  <a:rPr lang="en-US" sz="2300" dirty="0">
                    <a:latin typeface="Cambria Math" panose="02040503050406030204" pitchFamily="18" charset="0"/>
                  </a:rPr>
                  <a:t>Increases with market power (e.g., advertising, M&amp;A)</a:t>
                </a:r>
                <a:endParaRPr lang="en-US" sz="2300" b="0" dirty="0">
                  <a:latin typeface="Cambria Math" panose="02040503050406030204" pitchFamily="18" charset="0"/>
                </a:endParaRPr>
              </a:p>
              <a:p>
                <a:endParaRPr lang="en-US" dirty="0"/>
              </a:p>
              <a:p>
                <a:pPr marL="514350" indent="-514350">
                  <a:lnSpc>
                    <a:spcPct val="120000"/>
                  </a:lnSpc>
                  <a:buFont typeface="+mj-lt"/>
                  <a:buAutoNum type="arabicPeriod"/>
                </a:pPr>
                <a:endParaRPr lang="en-US" sz="2813" dirty="0">
                  <a:latin typeface="Whitney-Book" pitchFamily="50" charset="0"/>
                  <a:cs typeface="Whitney-Book" pitchFamily="50" charset="0"/>
                </a:endParaRPr>
              </a:p>
              <a:p>
                <a:pPr marL="914400" lvl="1" indent="-514350">
                  <a:lnSpc>
                    <a:spcPct val="120000"/>
                  </a:lnSpc>
                </a:pPr>
                <a:endParaRPr lang="en-US" sz="2613" noProof="0" dirty="0">
                  <a:latin typeface="Whitney-Book" pitchFamily="50" charset="0"/>
                  <a:cs typeface="Whitney-Book" pitchFamily="50" charset="0"/>
                </a:endParaRPr>
              </a:p>
              <a:p>
                <a:pPr marL="914400" lvl="1" indent="-514350">
                  <a:lnSpc>
                    <a:spcPct val="120000"/>
                  </a:lnSpc>
                </a:pPr>
                <a:endParaRPr lang="en-US" sz="2613" noProof="0" dirty="0">
                  <a:latin typeface="Whitney-Book" pitchFamily="50" charset="0"/>
                  <a:cs typeface="Whitney-Book" pitchFamily="50" charset="0"/>
                </a:endParaRPr>
              </a:p>
              <a:p>
                <a:pPr marL="457200" lvl="1" indent="0">
                  <a:buNone/>
                </a:pPr>
                <a:endParaRPr lang="en-US" noProof="0" dirty="0"/>
              </a:p>
              <a:p>
                <a:pPr lvl="1"/>
                <a:endParaRPr lang="en-US" noProof="0" dirty="0"/>
              </a:p>
              <a:p>
                <a:endParaRPr lang="en-US" noProof="0" dirty="0"/>
              </a:p>
            </p:txBody>
          </p:sp>
        </mc:Choice>
        <mc:Fallback>
          <p:sp>
            <p:nvSpPr>
              <p:cNvPr id="3" name="Content Placeholder 2"/>
              <p:cNvSpPr>
                <a:spLocks noGrp="1" noRot="1" noChangeAspect="1" noMove="1" noResize="1" noEditPoints="1" noAdjustHandles="1" noChangeArrowheads="1" noChangeShapeType="1" noTextEdit="1"/>
              </p:cNvSpPr>
              <p:nvPr>
                <p:ph type="body" idx="1"/>
              </p:nvPr>
            </p:nvSpPr>
            <p:spPr>
              <a:xfrm>
                <a:off x="387900" y="1536633"/>
                <a:ext cx="8520600" cy="5024600"/>
              </a:xfrm>
              <a:blipFill>
                <a:blip r:embed="rId3"/>
                <a:stretch>
                  <a:fillRect t="-1214" r="-573"/>
                </a:stretch>
              </a:blipFill>
            </p:spPr>
            <p:txBody>
              <a:bodyPr/>
              <a:lstStyle/>
              <a:p>
                <a:r>
                  <a:rPr lang="en-US">
                    <a:noFill/>
                  </a:rPr>
                  <a:t> </a:t>
                </a:r>
              </a:p>
            </p:txBody>
          </p:sp>
        </mc:Fallback>
      </mc:AlternateContent>
    </p:spTree>
    <p:extLst>
      <p:ext uri="{BB962C8B-B14F-4D97-AF65-F5344CB8AC3E}">
        <p14:creationId xmlns:p14="http://schemas.microsoft.com/office/powerpoint/2010/main" val="2088787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8C5084-A04F-416E-8734-BFA9C9202383}"/>
              </a:ext>
            </a:extLst>
          </p:cNvPr>
          <p:cNvPicPr>
            <a:picLocks noChangeAspect="1"/>
          </p:cNvPicPr>
          <p:nvPr/>
        </p:nvPicPr>
        <p:blipFill>
          <a:blip r:embed="rId3"/>
          <a:stretch>
            <a:fillRect/>
          </a:stretch>
        </p:blipFill>
        <p:spPr>
          <a:xfrm>
            <a:off x="1499191" y="1213691"/>
            <a:ext cx="6257944" cy="5006356"/>
          </a:xfrm>
          <a:prstGeom prst="rect">
            <a:avLst/>
          </a:prstGeom>
        </p:spPr>
      </p:pic>
      <p:sp>
        <p:nvSpPr>
          <p:cNvPr id="2" name="Title 1"/>
          <p:cNvSpPr>
            <a:spLocks noGrp="1"/>
          </p:cNvSpPr>
          <p:nvPr>
            <p:ph type="title"/>
          </p:nvPr>
        </p:nvSpPr>
        <p:spPr/>
        <p:txBody>
          <a:bodyPr/>
          <a:lstStyle/>
          <a:p>
            <a:r>
              <a:rPr lang="en-US" noProof="0" dirty="0"/>
              <a:t>Lerner Index for Major US Companies</a:t>
            </a:r>
          </a:p>
        </p:txBody>
      </p:sp>
      <p:sp>
        <p:nvSpPr>
          <p:cNvPr id="6" name="Title 1">
            <a:extLst>
              <a:ext uri="{FF2B5EF4-FFF2-40B4-BE49-F238E27FC236}">
                <a16:creationId xmlns:a16="http://schemas.microsoft.com/office/drawing/2014/main" id="{79491E6F-BB5C-402D-A1EC-5CF8C2F41786}"/>
              </a:ext>
            </a:extLst>
          </p:cNvPr>
          <p:cNvSpPr txBox="1">
            <a:spLocks/>
          </p:cNvSpPr>
          <p:nvPr/>
        </p:nvSpPr>
        <p:spPr>
          <a:xfrm>
            <a:off x="318186" y="6131940"/>
            <a:ext cx="454127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a:lstStyle>
          <a:p>
            <a:pPr algn="l"/>
            <a:r>
              <a:rPr lang="en-US" sz="1400" dirty="0">
                <a:latin typeface="Whitney-Book" pitchFamily="50" charset="0"/>
              </a:rPr>
              <a:t>Source: De </a:t>
            </a:r>
            <a:r>
              <a:rPr lang="en-US" sz="1400" dirty="0" err="1">
                <a:latin typeface="Whitney-Book" pitchFamily="50" charset="0"/>
              </a:rPr>
              <a:t>Loecker</a:t>
            </a:r>
            <a:r>
              <a:rPr lang="en-US" sz="1400" dirty="0">
                <a:latin typeface="Whitney-Book" pitchFamily="50" charset="0"/>
              </a:rPr>
              <a:t> et al. (2019)</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D54F372-E096-4390-B870-2EC3A4255D92}"/>
                  </a:ext>
                </a:extLst>
              </p:cNvPr>
              <p:cNvSpPr txBox="1"/>
              <p:nvPr/>
            </p:nvSpPr>
            <p:spPr>
              <a:xfrm>
                <a:off x="6336495" y="1798391"/>
                <a:ext cx="822085"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𝑃</m:t>
                          </m:r>
                          <m:r>
                            <a:rPr lang="en-US" b="0" i="1" smtClean="0">
                              <a:solidFill>
                                <a:schemeClr val="bg1"/>
                              </a:solidFill>
                              <a:latin typeface="Cambria Math" panose="02040503050406030204" pitchFamily="18" charset="0"/>
                            </a:rPr>
                            <m:t>−</m:t>
                          </m:r>
                          <m:r>
                            <a:rPr lang="en-US" b="0" i="1" smtClean="0">
                              <a:solidFill>
                                <a:schemeClr val="bg1"/>
                              </a:solidFill>
                              <a:latin typeface="Cambria Math" panose="02040503050406030204" pitchFamily="18" charset="0"/>
                            </a:rPr>
                            <m:t>𝑀𝐶</m:t>
                          </m:r>
                        </m:num>
                        <m:den>
                          <m:r>
                            <a:rPr lang="en-US" b="0" i="1" smtClean="0">
                              <a:solidFill>
                                <a:schemeClr val="bg1"/>
                              </a:solidFill>
                              <a:latin typeface="Cambria Math" panose="02040503050406030204" pitchFamily="18" charset="0"/>
                            </a:rPr>
                            <m:t>𝑃</m:t>
                          </m:r>
                        </m:den>
                      </m:f>
                    </m:oMath>
                  </m:oMathPara>
                </a14:m>
                <a:endParaRPr lang="en-US" dirty="0">
                  <a:solidFill>
                    <a:schemeClr val="bg1"/>
                  </a:solidFill>
                </a:endParaRPr>
              </a:p>
            </p:txBody>
          </p:sp>
        </mc:Choice>
        <mc:Fallback xmlns="">
          <p:sp>
            <p:nvSpPr>
              <p:cNvPr id="12" name="TextBox 11">
                <a:extLst>
                  <a:ext uri="{FF2B5EF4-FFF2-40B4-BE49-F238E27FC236}">
                    <a16:creationId xmlns:a16="http://schemas.microsoft.com/office/drawing/2014/main" id="{9D54F372-E096-4390-B870-2EC3A4255D92}"/>
                  </a:ext>
                </a:extLst>
              </p:cNvPr>
              <p:cNvSpPr txBox="1">
                <a:spLocks noRot="1" noChangeAspect="1" noMove="1" noResize="1" noEditPoints="1" noAdjustHandles="1" noChangeArrowheads="1" noChangeShapeType="1" noTextEdit="1"/>
              </p:cNvSpPr>
              <p:nvPr/>
            </p:nvSpPr>
            <p:spPr>
              <a:xfrm>
                <a:off x="6336495" y="1798391"/>
                <a:ext cx="822085" cy="520399"/>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75940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Lerner index</a:t>
            </a:r>
          </a:p>
        </p:txBody>
      </p:sp>
      <mc:AlternateContent xmlns:mc="http://schemas.openxmlformats.org/markup-compatibility/2006">
        <mc:Choice xmlns:a14="http://schemas.microsoft.com/office/drawing/2010/main" Requires="a14">
          <p:sp>
            <p:nvSpPr>
              <p:cNvPr id="3" name="Content Placeholder 2"/>
              <p:cNvSpPr>
                <a:spLocks noGrp="1"/>
              </p:cNvSpPr>
              <p:nvPr>
                <p:ph type="body" idx="1"/>
              </p:nvPr>
            </p:nvSpPr>
            <p:spPr/>
            <p:txBody>
              <a:bodyPr>
                <a:normAutofit lnSpcReduction="10000"/>
              </a:bodyPr>
              <a:lstStyle/>
              <a:p>
                <a:pPr>
                  <a:spcAft>
                    <a:spcPts val="1200"/>
                  </a:spcAft>
                </a:pPr>
                <a:r>
                  <a:rPr lang="en-US" dirty="0"/>
                  <a:t>The Lerner index is related to the firm’s elasticity:</a:t>
                </a:r>
              </a:p>
              <a:p>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𝑀𝐶</m:t>
                          </m:r>
                        </m:num>
                        <m:den>
                          <m:r>
                            <a:rPr lang="en-US" b="0" i="1" smtClean="0">
                              <a:latin typeface="Cambria Math" panose="02040503050406030204" pitchFamily="18" charset="0"/>
                            </a:rPr>
                            <m:t>𝑃</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𝐷</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𝐸</m:t>
                              </m:r>
                            </m:e>
                            <m:sub>
                              <m:r>
                                <a:rPr lang="en-US" b="0" i="1" smtClean="0">
                                  <a:latin typeface="Cambria Math" panose="02040503050406030204" pitchFamily="18" charset="0"/>
                                </a:rPr>
                                <m:t>𝐷</m:t>
                              </m:r>
                            </m:sub>
                          </m:sSub>
                          <m:r>
                            <a:rPr lang="en-US" b="0" i="1" smtClean="0">
                              <a:latin typeface="Cambria Math" panose="02040503050406030204" pitchFamily="18" charset="0"/>
                            </a:rPr>
                            <m:t>|</m:t>
                          </m:r>
                        </m:den>
                      </m:f>
                    </m:oMath>
                  </m:oMathPara>
                </a14:m>
                <a:endParaRPr lang="en-US" dirty="0"/>
              </a:p>
              <a:p>
                <a:endParaRPr lang="en-US" dirty="0"/>
              </a:p>
              <a:p>
                <a:r>
                  <a:rPr lang="en-US" dirty="0"/>
                  <a:t>As demand becomes more elastic, the % of markup in </a:t>
                </a:r>
                <a14:m>
                  <m:oMath xmlns:m="http://schemas.openxmlformats.org/officeDocument/2006/math">
                    <m:r>
                      <a:rPr lang="en-US" i="1">
                        <a:latin typeface="Cambria Math" panose="02040503050406030204" pitchFamily="18" charset="0"/>
                      </a:rPr>
                      <m:t>𝑃</m:t>
                    </m:r>
                  </m:oMath>
                </a14:m>
                <a:r>
                  <a:rPr lang="en-US" dirty="0"/>
                  <a:t> falls</a:t>
                </a:r>
              </a:p>
              <a:p>
                <a:pPr lvl="1"/>
                <a:r>
                  <a:rPr lang="en-US" dirty="0"/>
                  <a:t>Note: if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𝐸</m:t>
                        </m:r>
                      </m:e>
                      <m:sub>
                        <m:r>
                          <a:rPr lang="en-US" i="1">
                            <a:latin typeface="Cambria Math" panose="02040503050406030204" pitchFamily="18" charset="0"/>
                          </a:rPr>
                          <m:t>𝐷</m:t>
                        </m:r>
                      </m:sub>
                    </m:sSub>
                    <m:r>
                      <a:rPr lang="en-US" i="1">
                        <a:latin typeface="Cambria Math" panose="02040503050406030204" pitchFamily="18" charset="0"/>
                      </a:rPr>
                      <m:t>|</m:t>
                    </m:r>
                    <m:r>
                      <a:rPr lang="en-US" b="0" i="1" smtClean="0">
                        <a:latin typeface="Cambria Math" panose="02040503050406030204" pitchFamily="18" charset="0"/>
                      </a:rPr>
                      <m:t>→∞</m:t>
                    </m:r>
                  </m:oMath>
                </a14:m>
                <a:r>
                  <a:rPr lang="en-US" dirty="0"/>
                  <a:t>  then  Lerner Index=0</a:t>
                </a:r>
              </a:p>
              <a:p>
                <a:pPr>
                  <a:spcBef>
                    <a:spcPts val="600"/>
                  </a:spcBef>
                </a:pPr>
                <a:r>
                  <a:rPr lang="en-US" dirty="0"/>
                  <a:t>Important: This relationship </a:t>
                </a:r>
                <a:r>
                  <a:rPr lang="en-US" dirty="0">
                    <a:solidFill>
                      <a:srgbClr val="C00000"/>
                    </a:solidFill>
                  </a:rPr>
                  <a:t>holds only at the profit-maximizing point</a:t>
                </a:r>
                <a:r>
                  <a:rPr lang="en-US" dirty="0"/>
                  <a:t> (</a:t>
                </a:r>
                <a14:m>
                  <m:oMath xmlns:m="http://schemas.openxmlformats.org/officeDocument/2006/math">
                    <m:sSup>
                      <m:sSupPr>
                        <m:ctrlPr>
                          <a:rPr lang="en-US" b="0" i="1" smtClean="0">
                            <a:latin typeface="Cambria Math" panose="02040503050406030204" pitchFamily="18" charset="0"/>
                          </a:rPr>
                        </m:ctrlPr>
                      </m:sSupPr>
                      <m:e>
                        <m:r>
                          <a:rPr lang="en-US" i="1">
                            <a:latin typeface="Cambria Math" panose="02040503050406030204" pitchFamily="18" charset="0"/>
                          </a:rPr>
                          <m:t>𝑃</m:t>
                        </m:r>
                      </m:e>
                      <m:sup>
                        <m:r>
                          <a:rPr lang="en-US" b="0" i="0" smtClean="0">
                            <a:latin typeface="Cambria Math" panose="02040503050406030204" pitchFamily="18" charset="0"/>
                          </a:rPr>
                          <m:t>∗</m:t>
                        </m:r>
                      </m:sup>
                    </m:sSup>
                    <m:r>
                      <a:rPr lang="en-US" b="0" i="0" smtClean="0">
                        <a:latin typeface="Cambria Math" panose="02040503050406030204" pitchFamily="18" charset="0"/>
                      </a:rPr>
                      <m:t>,</m:t>
                    </m:r>
                    <m:sSup>
                      <m:sSupPr>
                        <m:ctrlPr>
                          <a:rPr lang="en-US" i="1">
                            <a:latin typeface="Cambria Math" panose="02040503050406030204" pitchFamily="18" charset="0"/>
                          </a:rPr>
                        </m:ctrlPr>
                      </m:sSupPr>
                      <m:e>
                        <m:r>
                          <a:rPr lang="en-US" b="0" i="1" smtClean="0">
                            <a:latin typeface="Cambria Math" panose="02040503050406030204" pitchFamily="18" charset="0"/>
                          </a:rPr>
                          <m:t>𝑄</m:t>
                        </m:r>
                      </m:e>
                      <m:sup>
                        <m:r>
                          <a:rPr lang="en-US">
                            <a:latin typeface="Cambria Math" panose="02040503050406030204" pitchFamily="18" charset="0"/>
                          </a:rPr>
                          <m:t>∗</m:t>
                        </m:r>
                      </m:sup>
                    </m:sSup>
                  </m:oMath>
                </a14:m>
                <a:r>
                  <a:rPr lang="en-US" dirty="0"/>
                  <a:t>)</a:t>
                </a:r>
              </a:p>
              <a:p>
                <a:pPr marL="0" indent="0">
                  <a:buNone/>
                </a:pPr>
                <a:endParaRPr lang="en-US" dirty="0"/>
              </a:p>
              <a:p>
                <a:pPr marL="514350" indent="-514350">
                  <a:lnSpc>
                    <a:spcPct val="120000"/>
                  </a:lnSpc>
                  <a:buFont typeface="+mj-lt"/>
                  <a:buAutoNum type="arabicPeriod"/>
                </a:pPr>
                <a:endParaRPr lang="en-US" sz="2813" dirty="0">
                  <a:latin typeface="Whitney-Book" pitchFamily="50" charset="0"/>
                  <a:cs typeface="Whitney-Book" pitchFamily="50" charset="0"/>
                </a:endParaRPr>
              </a:p>
              <a:p>
                <a:pPr marL="914400" lvl="1" indent="-514350">
                  <a:lnSpc>
                    <a:spcPct val="120000"/>
                  </a:lnSpc>
                </a:pPr>
                <a:endParaRPr lang="en-US" sz="2613" noProof="0" dirty="0">
                  <a:latin typeface="Whitney-Book" pitchFamily="50" charset="0"/>
                  <a:cs typeface="Whitney-Book" pitchFamily="50" charset="0"/>
                </a:endParaRPr>
              </a:p>
              <a:p>
                <a:pPr marL="914400" lvl="1" indent="-514350">
                  <a:lnSpc>
                    <a:spcPct val="120000"/>
                  </a:lnSpc>
                </a:pPr>
                <a:endParaRPr lang="en-US" sz="2613" noProof="0" dirty="0">
                  <a:latin typeface="Whitney-Book" pitchFamily="50" charset="0"/>
                  <a:cs typeface="Whitney-Book" pitchFamily="50" charset="0"/>
                </a:endParaRPr>
              </a:p>
              <a:p>
                <a:pPr marL="457200" lvl="1" indent="0">
                  <a:buNone/>
                </a:pPr>
                <a:endParaRPr lang="en-US" noProof="0" dirty="0"/>
              </a:p>
              <a:p>
                <a:pPr lvl="1"/>
                <a:endParaRPr lang="en-US" noProof="0" dirty="0"/>
              </a:p>
              <a:p>
                <a:endParaRPr lang="en-US" noProof="0" dirty="0"/>
              </a:p>
            </p:txBody>
          </p:sp>
        </mc:Choice>
        <mc:Fallback>
          <p:sp>
            <p:nvSpPr>
              <p:cNvPr id="3" name="Content Placeholder 2"/>
              <p:cNvSpPr>
                <a:spLocks noGrp="1" noRot="1" noChangeAspect="1" noMove="1" noResize="1" noEditPoints="1" noAdjustHandles="1" noChangeArrowheads="1" noChangeShapeType="1" noTextEdit="1"/>
              </p:cNvSpPr>
              <p:nvPr>
                <p:ph type="body" idx="1"/>
              </p:nvPr>
            </p:nvSpPr>
            <p:spPr>
              <a:blipFill>
                <a:blip r:embed="rId3"/>
                <a:stretch>
                  <a:fillRect t="-1339"/>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FA7EFB44-E049-40B5-A970-5EE5B80E297F}"/>
              </a:ext>
            </a:extLst>
          </p:cNvPr>
          <p:cNvGrpSpPr/>
          <p:nvPr/>
        </p:nvGrpSpPr>
        <p:grpSpPr>
          <a:xfrm>
            <a:off x="4648200" y="1970349"/>
            <a:ext cx="2353714" cy="997669"/>
            <a:chOff x="1702677" y="3201545"/>
            <a:chExt cx="2353714" cy="997669"/>
          </a:xfrm>
        </p:grpSpPr>
        <p:sp>
          <p:nvSpPr>
            <p:cNvPr id="5" name="TextBox 4">
              <a:extLst>
                <a:ext uri="{FF2B5EF4-FFF2-40B4-BE49-F238E27FC236}">
                  <a16:creationId xmlns:a16="http://schemas.microsoft.com/office/drawing/2014/main" id="{F783488E-58F4-4F08-A852-F6EB1719695A}"/>
                </a:ext>
              </a:extLst>
            </p:cNvPr>
            <p:cNvSpPr txBox="1"/>
            <p:nvPr/>
          </p:nvSpPr>
          <p:spPr>
            <a:xfrm>
              <a:off x="1806275" y="3201545"/>
              <a:ext cx="2250116" cy="430887"/>
            </a:xfrm>
            <a:prstGeom prst="rect">
              <a:avLst/>
            </a:prstGeom>
            <a:noFill/>
            <a:ln>
              <a:solidFill>
                <a:schemeClr val="tx1"/>
              </a:solidFill>
            </a:ln>
          </p:spPr>
          <p:txBody>
            <a:bodyPr wrap="square" rtlCol="0">
              <a:spAutoFit/>
            </a:bodyPr>
            <a:lstStyle/>
            <a:p>
              <a:pPr algn="ctr"/>
              <a:r>
                <a:rPr lang="en-US" sz="1100" dirty="0">
                  <a:latin typeface="Whitney Book" pitchFamily="50" charset="0"/>
                  <a:cs typeface="Whitney Book" pitchFamily="50" charset="0"/>
                </a:rPr>
                <a:t>The elasticity of demand has a negative value</a:t>
              </a:r>
              <a:endParaRPr lang="en-US" sz="1100" i="1" dirty="0">
                <a:latin typeface="Whitney Book" pitchFamily="50" charset="0"/>
                <a:cs typeface="Whitney Book" pitchFamily="50" charset="0"/>
              </a:endParaRPr>
            </a:p>
          </p:txBody>
        </p:sp>
        <p:cxnSp>
          <p:nvCxnSpPr>
            <p:cNvPr id="6" name="Straight Arrow Connector 5">
              <a:extLst>
                <a:ext uri="{FF2B5EF4-FFF2-40B4-BE49-F238E27FC236}">
                  <a16:creationId xmlns:a16="http://schemas.microsoft.com/office/drawing/2014/main" id="{F52D9158-1BCC-42CB-AFBA-3E1DEC507024}"/>
                </a:ext>
              </a:extLst>
            </p:cNvPr>
            <p:cNvCxnSpPr>
              <a:cxnSpLocks/>
            </p:cNvCxnSpPr>
            <p:nvPr/>
          </p:nvCxnSpPr>
          <p:spPr>
            <a:xfrm flipH="1">
              <a:off x="1702677" y="3632432"/>
              <a:ext cx="447128" cy="56678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425837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Illustrating the Lerner </a:t>
            </a:r>
            <a:r>
              <a:rPr lang="en-US" noProof="0" dirty="0" err="1"/>
              <a:t>INdex</a:t>
            </a:r>
            <a:endParaRPr lang="en-US" noProof="0" dirty="0"/>
          </a:p>
        </p:txBody>
      </p:sp>
      <mc:AlternateContent xmlns:mc="http://schemas.openxmlformats.org/markup-compatibility/2006" xmlns:a14="http://schemas.microsoft.com/office/drawing/2010/main">
        <mc:Choice Requires="a14">
          <p:sp>
            <p:nvSpPr>
              <p:cNvPr id="3" name="Content Placeholder 2"/>
              <p:cNvSpPr>
                <a:spLocks noGrp="1"/>
              </p:cNvSpPr>
              <p:nvPr>
                <p:ph type="body" idx="1"/>
              </p:nvPr>
            </p:nvSpPr>
            <p:spPr>
              <a:xfrm>
                <a:off x="387900" y="1375104"/>
                <a:ext cx="8520600" cy="4716729"/>
              </a:xfrm>
            </p:spPr>
            <p:txBody>
              <a:bodyPr>
                <a:normAutofit/>
              </a:bodyPr>
              <a:lstStyle/>
              <a:p>
                <a:r>
                  <a:rPr lang="en-US" sz="2400" dirty="0"/>
                  <a:t>Using example from above:  </a:t>
                </a:r>
                <a14:m>
                  <m:oMath xmlns:m="http://schemas.openxmlformats.org/officeDocument/2006/math">
                    <m:r>
                      <a:rPr lang="en-US" sz="2400" i="1" dirty="0">
                        <a:latin typeface="Cambria Math" panose="02040503050406030204" pitchFamily="18" charset="0"/>
                        <a:cs typeface="Times New Roman" pitchFamily="18" charset="0"/>
                      </a:rPr>
                      <m:t>𝑄</m:t>
                    </m:r>
                    <m:r>
                      <a:rPr lang="en-US" sz="2400" i="1" dirty="0">
                        <a:latin typeface="Cambria Math" panose="02040503050406030204" pitchFamily="18" charset="0"/>
                        <a:cs typeface="Times New Roman" pitchFamily="18" charset="0"/>
                      </a:rPr>
                      <m:t>  =  1,600 – 4</m:t>
                    </m:r>
                    <m:r>
                      <a:rPr lang="en-US" sz="2400" i="1" dirty="0">
                        <a:latin typeface="Cambria Math" panose="02040503050406030204" pitchFamily="18" charset="0"/>
                        <a:cs typeface="Times New Roman" pitchFamily="18" charset="0"/>
                      </a:rPr>
                      <m:t>𝑃</m:t>
                    </m:r>
                    <m:r>
                      <a:rPr lang="en-US" sz="2400" b="0" i="1" dirty="0" smtClean="0">
                        <a:solidFill>
                          <a:srgbClr val="002060"/>
                        </a:solidFill>
                        <a:latin typeface="Cambria Math" panose="02040503050406030204" pitchFamily="18" charset="0"/>
                        <a:cs typeface="Times New Roman" pitchFamily="18" charset="0"/>
                      </a:rPr>
                      <m:t>;</m:t>
                    </m:r>
                    <m:r>
                      <a:rPr lang="en-US" sz="2400" b="0" i="1" dirty="0" smtClean="0">
                        <a:solidFill>
                          <a:srgbClr val="002060"/>
                        </a:solidFill>
                        <a:latin typeface="Cambria Math" panose="02040503050406030204" pitchFamily="18" charset="0"/>
                        <a:cs typeface="Times New Roman" pitchFamily="18" charset="0"/>
                      </a:rPr>
                      <m:t>𝑀𝐶</m:t>
                    </m:r>
                    <m:r>
                      <a:rPr lang="en-US" sz="2400" b="0" i="1" dirty="0" smtClean="0">
                        <a:solidFill>
                          <a:srgbClr val="002060"/>
                        </a:solidFill>
                        <a:latin typeface="Cambria Math" panose="02040503050406030204" pitchFamily="18" charset="0"/>
                        <a:cs typeface="Times New Roman" pitchFamily="18" charset="0"/>
                      </a:rPr>
                      <m:t>=200</m:t>
                    </m:r>
                  </m:oMath>
                </a14:m>
                <a:endParaRPr lang="en-US" sz="4400" dirty="0">
                  <a:cs typeface="Times New Roman" pitchFamily="18" charset="0"/>
                </a:endParaRPr>
              </a:p>
              <a:p>
                <a:endParaRPr lang="en-US" sz="3200" dirty="0"/>
              </a:p>
              <a:p>
                <a:pPr marL="514350" indent="-514350">
                  <a:lnSpc>
                    <a:spcPct val="120000"/>
                  </a:lnSpc>
                  <a:buFont typeface="+mj-lt"/>
                  <a:buAutoNum type="arabicPeriod"/>
                </a:pPr>
                <a:endParaRPr lang="en-US" sz="2813" dirty="0">
                  <a:latin typeface="Whitney-Book" pitchFamily="50" charset="0"/>
                  <a:cs typeface="Whitney-Book" pitchFamily="50" charset="0"/>
                </a:endParaRPr>
              </a:p>
              <a:p>
                <a:pPr marL="0" indent="0">
                  <a:lnSpc>
                    <a:spcPct val="120000"/>
                  </a:lnSpc>
                  <a:buNone/>
                </a:pPr>
                <a:endParaRPr lang="en-US" sz="2813" dirty="0">
                  <a:latin typeface="Whitney-Book" pitchFamily="50" charset="0"/>
                  <a:cs typeface="Whitney-Book" pitchFamily="50" charset="0"/>
                </a:endParaRPr>
              </a:p>
              <a:p>
                <a:pPr marL="914400" lvl="1" indent="-514350">
                  <a:lnSpc>
                    <a:spcPct val="120000"/>
                  </a:lnSpc>
                </a:pPr>
                <a:endParaRPr lang="en-US" sz="2613" noProof="0" dirty="0">
                  <a:latin typeface="Whitney-Book" pitchFamily="50" charset="0"/>
                  <a:cs typeface="Whitney-Book" pitchFamily="50" charset="0"/>
                </a:endParaRPr>
              </a:p>
              <a:p>
                <a:pPr marL="914400" lvl="1" indent="-514350">
                  <a:lnSpc>
                    <a:spcPct val="120000"/>
                  </a:lnSpc>
                </a:pPr>
                <a:endParaRPr lang="en-US" sz="2613" noProof="0" dirty="0">
                  <a:latin typeface="Whitney-Book" pitchFamily="50" charset="0"/>
                  <a:cs typeface="Whitney-Book" pitchFamily="50" charset="0"/>
                </a:endParaRPr>
              </a:p>
              <a:p>
                <a:pPr marL="457200" lvl="1" indent="0">
                  <a:buNone/>
                </a:pPr>
                <a:endParaRPr lang="en-US" noProof="0" dirty="0"/>
              </a:p>
              <a:p>
                <a:pPr lvl="1"/>
                <a:endParaRPr lang="en-US" noProof="0" dirty="0"/>
              </a:p>
              <a:p>
                <a:endParaRPr lang="en-US" noProof="0" dirty="0"/>
              </a:p>
            </p:txBody>
          </p:sp>
        </mc:Choice>
        <mc:Fallback xmlns="">
          <p:sp>
            <p:nvSpPr>
              <p:cNvPr id="3" name="Content Placeholder 2"/>
              <p:cNvSpPr>
                <a:spLocks noGrp="1" noRot="1" noChangeAspect="1" noMove="1" noResize="1" noEditPoints="1" noAdjustHandles="1" noChangeArrowheads="1" noChangeShapeType="1" noTextEdit="1"/>
              </p:cNvSpPr>
              <p:nvPr>
                <p:ph type="body" idx="1"/>
              </p:nvPr>
            </p:nvSpPr>
            <p:spPr>
              <a:xfrm>
                <a:off x="387900" y="1375104"/>
                <a:ext cx="8520600" cy="4716729"/>
              </a:xfrm>
              <a:blipFill>
                <a:blip r:embed="rId3"/>
                <a:stretch>
                  <a:fillRect t="-129"/>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81F44274-ABF3-4BCA-9BC2-A39C2AF4A5BA}"/>
              </a:ext>
            </a:extLst>
          </p:cNvPr>
          <p:cNvGrpSpPr/>
          <p:nvPr/>
        </p:nvGrpSpPr>
        <p:grpSpPr>
          <a:xfrm>
            <a:off x="2691198" y="3032459"/>
            <a:ext cx="4172231" cy="2474893"/>
            <a:chOff x="1371484" y="4124103"/>
            <a:chExt cx="3749156" cy="1827117"/>
          </a:xfrm>
        </p:grpSpPr>
        <p:cxnSp>
          <p:nvCxnSpPr>
            <p:cNvPr id="28" name="Straight Connector 27">
              <a:extLst>
                <a:ext uri="{FF2B5EF4-FFF2-40B4-BE49-F238E27FC236}">
                  <a16:creationId xmlns:a16="http://schemas.microsoft.com/office/drawing/2014/main" id="{F9C51AE5-5787-43FA-89DA-74F4DCB399E7}"/>
                </a:ext>
              </a:extLst>
            </p:cNvPr>
            <p:cNvCxnSpPr>
              <a:cxnSpLocks/>
            </p:cNvCxnSpPr>
            <p:nvPr/>
          </p:nvCxnSpPr>
          <p:spPr>
            <a:xfrm>
              <a:off x="1371484" y="4124103"/>
              <a:ext cx="3623426" cy="1827117"/>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sp>
          <p:nvSpPr>
            <p:cNvPr id="30" name="Text Box 59">
              <a:extLst>
                <a:ext uri="{FF2B5EF4-FFF2-40B4-BE49-F238E27FC236}">
                  <a16:creationId xmlns:a16="http://schemas.microsoft.com/office/drawing/2014/main" id="{10FE91ED-1E3D-4428-9107-EFD1C7E28171}"/>
                </a:ext>
              </a:extLst>
            </p:cNvPr>
            <p:cNvSpPr txBox="1"/>
            <p:nvPr/>
          </p:nvSpPr>
          <p:spPr>
            <a:xfrm>
              <a:off x="4699808" y="5522595"/>
              <a:ext cx="420832" cy="2286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400" i="1" dirty="0">
                  <a:solidFill>
                    <a:srgbClr val="C00000"/>
                  </a:solidFill>
                  <a:effectLst/>
                  <a:ea typeface="Calibri" panose="020F0502020204030204" pitchFamily="34" charset="0"/>
                  <a:cs typeface="Times New Roman" panose="02020603050405020304" pitchFamily="18" charset="0"/>
                </a:rPr>
                <a:t>D</a:t>
              </a:r>
              <a:endParaRPr lang="en-US" sz="1400" i="1" dirty="0">
                <a:effectLst/>
                <a:ea typeface="Calibri" panose="020F0502020204030204" pitchFamily="34" charset="0"/>
                <a:cs typeface="Times New Roman" panose="02020603050405020304" pitchFamily="18" charset="0"/>
              </a:endParaRPr>
            </a:p>
          </p:txBody>
        </p:sp>
      </p:grpSp>
      <p:grpSp>
        <p:nvGrpSpPr>
          <p:cNvPr id="8" name="Group 7">
            <a:extLst>
              <a:ext uri="{FF2B5EF4-FFF2-40B4-BE49-F238E27FC236}">
                <a16:creationId xmlns:a16="http://schemas.microsoft.com/office/drawing/2014/main" id="{3E8245AC-0466-4205-BFB2-66B4E3699AD3}"/>
              </a:ext>
            </a:extLst>
          </p:cNvPr>
          <p:cNvGrpSpPr/>
          <p:nvPr/>
        </p:nvGrpSpPr>
        <p:grpSpPr>
          <a:xfrm>
            <a:off x="2696681" y="3042284"/>
            <a:ext cx="2655187" cy="2880923"/>
            <a:chOff x="1360170" y="3726180"/>
            <a:chExt cx="2401213" cy="2643408"/>
          </a:xfrm>
        </p:grpSpPr>
        <p:cxnSp>
          <p:nvCxnSpPr>
            <p:cNvPr id="29" name="Straight Connector 28">
              <a:extLst>
                <a:ext uri="{FF2B5EF4-FFF2-40B4-BE49-F238E27FC236}">
                  <a16:creationId xmlns:a16="http://schemas.microsoft.com/office/drawing/2014/main" id="{1FEBFACA-6BE8-4C8D-AB00-89833C779E44}"/>
                </a:ext>
              </a:extLst>
            </p:cNvPr>
            <p:cNvCxnSpPr>
              <a:cxnSpLocks/>
            </p:cNvCxnSpPr>
            <p:nvPr/>
          </p:nvCxnSpPr>
          <p:spPr>
            <a:xfrm>
              <a:off x="1360170" y="3726180"/>
              <a:ext cx="1866683" cy="2531727"/>
            </a:xfrm>
            <a:prstGeom prst="line">
              <a:avLst/>
            </a:prstGeom>
            <a:ln w="31750">
              <a:solidFill>
                <a:schemeClr val="accent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31" name="Text Box 60">
              <a:extLst>
                <a:ext uri="{FF2B5EF4-FFF2-40B4-BE49-F238E27FC236}">
                  <a16:creationId xmlns:a16="http://schemas.microsoft.com/office/drawing/2014/main" id="{FA474059-3B33-4C57-A294-775ED4E5A5C4}"/>
                </a:ext>
              </a:extLst>
            </p:cNvPr>
            <p:cNvSpPr txBox="1"/>
            <p:nvPr/>
          </p:nvSpPr>
          <p:spPr>
            <a:xfrm>
              <a:off x="3200274" y="6140988"/>
              <a:ext cx="561109" cy="2286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400" i="1" dirty="0">
                  <a:solidFill>
                    <a:srgbClr val="0070C0"/>
                  </a:solidFill>
                  <a:effectLst/>
                  <a:ea typeface="Calibri" panose="020F0502020204030204" pitchFamily="34" charset="0"/>
                  <a:cs typeface="Times New Roman" panose="02020603050405020304" pitchFamily="18" charset="0"/>
                </a:rPr>
                <a:t>MR</a:t>
              </a:r>
              <a:endParaRPr lang="en-US" sz="1400" i="1" dirty="0">
                <a:effectLst/>
                <a:ea typeface="Calibri" panose="020F0502020204030204" pitchFamily="34" charset="0"/>
                <a:cs typeface="Times New Roman" panose="02020603050405020304" pitchFamily="18" charset="0"/>
              </a:endParaRPr>
            </a:p>
          </p:txBody>
        </p:sp>
      </p:grpSp>
      <p:grpSp>
        <p:nvGrpSpPr>
          <p:cNvPr id="23" name="Group 22">
            <a:extLst>
              <a:ext uri="{FF2B5EF4-FFF2-40B4-BE49-F238E27FC236}">
                <a16:creationId xmlns:a16="http://schemas.microsoft.com/office/drawing/2014/main" id="{02B543CC-3CBF-483C-957D-C3D4BC133132}"/>
              </a:ext>
            </a:extLst>
          </p:cNvPr>
          <p:cNvGrpSpPr/>
          <p:nvPr/>
        </p:nvGrpSpPr>
        <p:grpSpPr>
          <a:xfrm>
            <a:off x="2341595" y="2178178"/>
            <a:ext cx="5611558" cy="3595444"/>
            <a:chOff x="-77932" y="0"/>
            <a:chExt cx="5042531" cy="2788487"/>
          </a:xfrm>
        </p:grpSpPr>
        <p:cxnSp>
          <p:nvCxnSpPr>
            <p:cNvPr id="24" name="Straight Arrow Connector 23">
              <a:extLst>
                <a:ext uri="{FF2B5EF4-FFF2-40B4-BE49-F238E27FC236}">
                  <a16:creationId xmlns:a16="http://schemas.microsoft.com/office/drawing/2014/main" id="{ECF86E05-69B3-4D03-8A16-DE7F125E87A0}"/>
                </a:ext>
              </a:extLst>
            </p:cNvPr>
            <p:cNvCxnSpPr/>
            <p:nvPr/>
          </p:nvCxnSpPr>
          <p:spPr>
            <a:xfrm>
              <a:off x="236220" y="2522220"/>
              <a:ext cx="439674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9525F248-08C0-4535-A8ED-88D4AC782060}"/>
                </a:ext>
              </a:extLst>
            </p:cNvPr>
            <p:cNvCxnSpPr/>
            <p:nvPr/>
          </p:nvCxnSpPr>
          <p:spPr>
            <a:xfrm flipV="1">
              <a:off x="236220" y="68580"/>
              <a:ext cx="0" cy="245364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 Box 24579">
              <a:extLst>
                <a:ext uri="{FF2B5EF4-FFF2-40B4-BE49-F238E27FC236}">
                  <a16:creationId xmlns:a16="http://schemas.microsoft.com/office/drawing/2014/main" id="{497FE4A0-7CC6-4B1B-AE1A-D2B0AB0B2CDA}"/>
                </a:ext>
              </a:extLst>
            </p:cNvPr>
            <p:cNvSpPr txBox="1"/>
            <p:nvPr/>
          </p:nvSpPr>
          <p:spPr>
            <a:xfrm>
              <a:off x="-77932" y="0"/>
              <a:ext cx="420832" cy="2286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600" i="1" dirty="0">
                  <a:effectLst/>
                  <a:ea typeface="Calibri" panose="020F0502020204030204" pitchFamily="34" charset="0"/>
                  <a:cs typeface="Times New Roman" panose="02020603050405020304" pitchFamily="18" charset="0"/>
                </a:rPr>
                <a:t>P</a:t>
              </a:r>
            </a:p>
          </p:txBody>
        </p:sp>
        <p:sp>
          <p:nvSpPr>
            <p:cNvPr id="27" name="Text Box 24580">
              <a:extLst>
                <a:ext uri="{FF2B5EF4-FFF2-40B4-BE49-F238E27FC236}">
                  <a16:creationId xmlns:a16="http://schemas.microsoft.com/office/drawing/2014/main" id="{80940B3B-D878-4418-9D1F-B82F33A5B2D0}"/>
                </a:ext>
              </a:extLst>
            </p:cNvPr>
            <p:cNvSpPr txBox="1"/>
            <p:nvPr/>
          </p:nvSpPr>
          <p:spPr>
            <a:xfrm>
              <a:off x="4492332" y="2491307"/>
              <a:ext cx="472267" cy="29718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400" i="1" dirty="0">
                  <a:effectLst/>
                  <a:ea typeface="Calibri" panose="020F0502020204030204" pitchFamily="34" charset="0"/>
                  <a:cs typeface="Times New Roman" panose="02020603050405020304" pitchFamily="18" charset="0"/>
                </a:rPr>
                <a:t>Q</a:t>
              </a:r>
            </a:p>
          </p:txBody>
        </p:sp>
      </p:grpSp>
      <p:grpSp>
        <p:nvGrpSpPr>
          <p:cNvPr id="34" name="Group 33">
            <a:extLst>
              <a:ext uri="{FF2B5EF4-FFF2-40B4-BE49-F238E27FC236}">
                <a16:creationId xmlns:a16="http://schemas.microsoft.com/office/drawing/2014/main" id="{4DDAA2A9-B179-4F9C-A642-42E4DBA2CE50}"/>
              </a:ext>
            </a:extLst>
          </p:cNvPr>
          <p:cNvGrpSpPr/>
          <p:nvPr/>
        </p:nvGrpSpPr>
        <p:grpSpPr>
          <a:xfrm>
            <a:off x="1896913" y="3397414"/>
            <a:ext cx="2526920" cy="2439187"/>
            <a:chOff x="559951" y="4356659"/>
            <a:chExt cx="2270684" cy="1891741"/>
          </a:xfrm>
        </p:grpSpPr>
        <p:cxnSp>
          <p:nvCxnSpPr>
            <p:cNvPr id="19" name="Straight Connector 18">
              <a:extLst>
                <a:ext uri="{FF2B5EF4-FFF2-40B4-BE49-F238E27FC236}">
                  <a16:creationId xmlns:a16="http://schemas.microsoft.com/office/drawing/2014/main" id="{E35E27BC-07C8-49F2-ADF9-1067D64F5720}"/>
                </a:ext>
              </a:extLst>
            </p:cNvPr>
            <p:cNvCxnSpPr>
              <a:cxnSpLocks/>
            </p:cNvCxnSpPr>
            <p:nvPr/>
          </p:nvCxnSpPr>
          <p:spPr>
            <a:xfrm>
              <a:off x="2056361" y="4460395"/>
              <a:ext cx="0" cy="1513685"/>
            </a:xfrm>
            <a:prstGeom prst="line">
              <a:avLst/>
            </a:prstGeom>
            <a:ln w="25400">
              <a:solidFill>
                <a:srgbClr val="00B050"/>
              </a:solidFill>
              <a:prstDash val="dash"/>
            </a:ln>
          </p:spPr>
          <p:style>
            <a:lnRef idx="1">
              <a:schemeClr val="accent1"/>
            </a:lnRef>
            <a:fillRef idx="0">
              <a:schemeClr val="accent1"/>
            </a:fillRef>
            <a:effectRef idx="0">
              <a:schemeClr val="accent1"/>
            </a:effectRef>
            <a:fontRef idx="minor">
              <a:schemeClr val="tx1"/>
            </a:fontRef>
          </p:style>
        </p:cxnSp>
        <p:sp>
          <p:nvSpPr>
            <p:cNvPr id="20" name="Text Box 24590">
              <a:extLst>
                <a:ext uri="{FF2B5EF4-FFF2-40B4-BE49-F238E27FC236}">
                  <a16:creationId xmlns:a16="http://schemas.microsoft.com/office/drawing/2014/main" id="{57DB42D6-EFA7-4E63-A7F5-18415D2143EF}"/>
                </a:ext>
              </a:extLst>
            </p:cNvPr>
            <p:cNvSpPr txBox="1"/>
            <p:nvPr/>
          </p:nvSpPr>
          <p:spPr>
            <a:xfrm>
              <a:off x="1858046" y="5974080"/>
              <a:ext cx="972589" cy="27432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400" i="1" dirty="0">
                  <a:solidFill>
                    <a:schemeClr val="tx1"/>
                  </a:solidFill>
                  <a:effectLst/>
                  <a:ea typeface="Calibri" panose="020F0502020204030204" pitchFamily="34" charset="0"/>
                  <a:cs typeface="Times New Roman" panose="02020603050405020304" pitchFamily="18" charset="0"/>
                </a:rPr>
                <a:t>Q*=400</a:t>
              </a:r>
            </a:p>
          </p:txBody>
        </p:sp>
        <p:cxnSp>
          <p:nvCxnSpPr>
            <p:cNvPr id="21" name="Straight Connector 20">
              <a:extLst>
                <a:ext uri="{FF2B5EF4-FFF2-40B4-BE49-F238E27FC236}">
                  <a16:creationId xmlns:a16="http://schemas.microsoft.com/office/drawing/2014/main" id="{B967A667-D706-4364-A4D3-0E693FF8978F}"/>
                </a:ext>
              </a:extLst>
            </p:cNvPr>
            <p:cNvCxnSpPr>
              <a:cxnSpLocks/>
            </p:cNvCxnSpPr>
            <p:nvPr/>
          </p:nvCxnSpPr>
          <p:spPr>
            <a:xfrm>
              <a:off x="1271366" y="4471585"/>
              <a:ext cx="784996" cy="0"/>
            </a:xfrm>
            <a:prstGeom prst="line">
              <a:avLst/>
            </a:prstGeom>
            <a:ln w="25400">
              <a:solidFill>
                <a:srgbClr val="00B050"/>
              </a:solidFill>
              <a:prstDash val="dash"/>
            </a:ln>
          </p:spPr>
          <p:style>
            <a:lnRef idx="1">
              <a:schemeClr val="accent1"/>
            </a:lnRef>
            <a:fillRef idx="0">
              <a:schemeClr val="accent1"/>
            </a:fillRef>
            <a:effectRef idx="0">
              <a:schemeClr val="accent1"/>
            </a:effectRef>
            <a:fontRef idx="minor">
              <a:schemeClr val="tx1"/>
            </a:fontRef>
          </p:style>
        </p:cxnSp>
        <p:sp>
          <p:nvSpPr>
            <p:cNvPr id="17" name="Text Box 24592">
              <a:extLst>
                <a:ext uri="{FF2B5EF4-FFF2-40B4-BE49-F238E27FC236}">
                  <a16:creationId xmlns:a16="http://schemas.microsoft.com/office/drawing/2014/main" id="{BCD413E5-04E4-420B-937D-81B46C0E03EB}"/>
                </a:ext>
              </a:extLst>
            </p:cNvPr>
            <p:cNvSpPr txBox="1"/>
            <p:nvPr/>
          </p:nvSpPr>
          <p:spPr>
            <a:xfrm>
              <a:off x="559951" y="4356659"/>
              <a:ext cx="822960" cy="27432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400" i="1" dirty="0">
                  <a:solidFill>
                    <a:schemeClr val="tx1"/>
                  </a:solidFill>
                  <a:effectLst/>
                  <a:ea typeface="Calibri" panose="020F0502020204030204" pitchFamily="34" charset="0"/>
                  <a:cs typeface="Times New Roman" panose="02020603050405020304" pitchFamily="18" charset="0"/>
                </a:rPr>
                <a:t>P*=$300</a:t>
              </a:r>
            </a:p>
          </p:txBody>
        </p:sp>
      </p:grpSp>
      <p:grpSp>
        <p:nvGrpSpPr>
          <p:cNvPr id="36" name="Group 35">
            <a:extLst>
              <a:ext uri="{FF2B5EF4-FFF2-40B4-BE49-F238E27FC236}">
                <a16:creationId xmlns:a16="http://schemas.microsoft.com/office/drawing/2014/main" id="{05EBE04E-8065-4B57-9029-ABAFA3AB6884}"/>
              </a:ext>
            </a:extLst>
          </p:cNvPr>
          <p:cNvGrpSpPr/>
          <p:nvPr/>
        </p:nvGrpSpPr>
        <p:grpSpPr>
          <a:xfrm>
            <a:off x="1845102" y="3974964"/>
            <a:ext cx="5143168" cy="372615"/>
            <a:chOff x="572083" y="5009607"/>
            <a:chExt cx="4621637" cy="288986"/>
          </a:xfrm>
        </p:grpSpPr>
        <p:sp>
          <p:nvSpPr>
            <p:cNvPr id="14" name="Text Box 24588">
              <a:extLst>
                <a:ext uri="{FF2B5EF4-FFF2-40B4-BE49-F238E27FC236}">
                  <a16:creationId xmlns:a16="http://schemas.microsoft.com/office/drawing/2014/main" id="{CAC7A2D6-6619-47B3-9F29-9496AA5023FB}"/>
                </a:ext>
              </a:extLst>
            </p:cNvPr>
            <p:cNvSpPr txBox="1"/>
            <p:nvPr/>
          </p:nvSpPr>
          <p:spPr>
            <a:xfrm>
              <a:off x="572083" y="5024273"/>
              <a:ext cx="972589" cy="27432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400" i="1" dirty="0">
                  <a:solidFill>
                    <a:srgbClr val="00B050"/>
                  </a:solidFill>
                  <a:effectLst/>
                  <a:ea typeface="Calibri" panose="020F0502020204030204" pitchFamily="34" charset="0"/>
                  <a:cs typeface="Times New Roman" panose="02020603050405020304" pitchFamily="18" charset="0"/>
                </a:rPr>
                <a:t>MC=$200</a:t>
              </a:r>
            </a:p>
          </p:txBody>
        </p:sp>
        <p:grpSp>
          <p:nvGrpSpPr>
            <p:cNvPr id="33" name="Group 32">
              <a:extLst>
                <a:ext uri="{FF2B5EF4-FFF2-40B4-BE49-F238E27FC236}">
                  <a16:creationId xmlns:a16="http://schemas.microsoft.com/office/drawing/2014/main" id="{A80DAA58-2DA7-4972-9B2E-50CF7EB6AE6C}"/>
                </a:ext>
              </a:extLst>
            </p:cNvPr>
            <p:cNvGrpSpPr/>
            <p:nvPr/>
          </p:nvGrpSpPr>
          <p:grpSpPr>
            <a:xfrm>
              <a:off x="1337310" y="5009607"/>
              <a:ext cx="3856410" cy="228600"/>
              <a:chOff x="1337310" y="5009607"/>
              <a:chExt cx="3856410" cy="228600"/>
            </a:xfrm>
          </p:grpSpPr>
          <p:cxnSp>
            <p:nvCxnSpPr>
              <p:cNvPr id="18" name="Straight Connector 17">
                <a:extLst>
                  <a:ext uri="{FF2B5EF4-FFF2-40B4-BE49-F238E27FC236}">
                    <a16:creationId xmlns:a16="http://schemas.microsoft.com/office/drawing/2014/main" id="{11A76B8E-0FC3-4B01-A6E7-803DEC98D3F6}"/>
                  </a:ext>
                </a:extLst>
              </p:cNvPr>
              <p:cNvCxnSpPr/>
              <p:nvPr/>
            </p:nvCxnSpPr>
            <p:spPr>
              <a:xfrm>
                <a:off x="1337310" y="5143500"/>
                <a:ext cx="3276600" cy="7620"/>
              </a:xfrm>
              <a:prstGeom prst="line">
                <a:avLst/>
              </a:prstGeom>
              <a:ln w="19050">
                <a:solidFill>
                  <a:srgbClr val="00B050"/>
                </a:solidFill>
                <a:prstDash val="solid"/>
              </a:ln>
            </p:spPr>
            <p:style>
              <a:lnRef idx="1">
                <a:schemeClr val="accent1"/>
              </a:lnRef>
              <a:fillRef idx="0">
                <a:schemeClr val="accent1"/>
              </a:fillRef>
              <a:effectRef idx="0">
                <a:schemeClr val="accent1"/>
              </a:effectRef>
              <a:fontRef idx="minor">
                <a:schemeClr val="tx1"/>
              </a:fontRef>
            </p:style>
          </p:cxnSp>
          <p:sp>
            <p:nvSpPr>
              <p:cNvPr id="32" name="Text Box 60">
                <a:extLst>
                  <a:ext uri="{FF2B5EF4-FFF2-40B4-BE49-F238E27FC236}">
                    <a16:creationId xmlns:a16="http://schemas.microsoft.com/office/drawing/2014/main" id="{473FEFBC-9FFB-4FFD-BE19-86B09FC5A61D}"/>
                  </a:ext>
                </a:extLst>
              </p:cNvPr>
              <p:cNvSpPr txBox="1"/>
              <p:nvPr/>
            </p:nvSpPr>
            <p:spPr>
              <a:xfrm>
                <a:off x="4632611" y="5009607"/>
                <a:ext cx="561109" cy="2286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400" i="1" dirty="0">
                    <a:solidFill>
                      <a:srgbClr val="00B050"/>
                    </a:solidFill>
                    <a:effectLst/>
                    <a:ea typeface="Calibri" panose="020F0502020204030204" pitchFamily="34" charset="0"/>
                    <a:cs typeface="Times New Roman" panose="02020603050405020304" pitchFamily="18" charset="0"/>
                  </a:rPr>
                  <a:t>MC</a:t>
                </a:r>
              </a:p>
            </p:txBody>
          </p:sp>
        </p:grpSp>
      </p:grpSp>
      <p:grpSp>
        <p:nvGrpSpPr>
          <p:cNvPr id="13" name="Group 12">
            <a:extLst>
              <a:ext uri="{FF2B5EF4-FFF2-40B4-BE49-F238E27FC236}">
                <a16:creationId xmlns:a16="http://schemas.microsoft.com/office/drawing/2014/main" id="{97378E06-E83A-4DB3-9531-1D2473BF9014}"/>
              </a:ext>
            </a:extLst>
          </p:cNvPr>
          <p:cNvGrpSpPr/>
          <p:nvPr/>
        </p:nvGrpSpPr>
        <p:grpSpPr>
          <a:xfrm>
            <a:off x="539841" y="3545599"/>
            <a:ext cx="1278379" cy="639014"/>
            <a:chOff x="539841" y="3842464"/>
            <a:chExt cx="1278379" cy="1061906"/>
          </a:xfrm>
        </p:grpSpPr>
        <p:sp>
          <p:nvSpPr>
            <p:cNvPr id="5" name="Left Brace 4">
              <a:extLst>
                <a:ext uri="{FF2B5EF4-FFF2-40B4-BE49-F238E27FC236}">
                  <a16:creationId xmlns:a16="http://schemas.microsoft.com/office/drawing/2014/main" id="{2AF2D20C-8935-43D7-9218-031A54ABE753}"/>
                </a:ext>
              </a:extLst>
            </p:cNvPr>
            <p:cNvSpPr/>
            <p:nvPr/>
          </p:nvSpPr>
          <p:spPr>
            <a:xfrm>
              <a:off x="1618800" y="3842464"/>
              <a:ext cx="199420" cy="106190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420FDDB-6C9D-4F60-89B1-D9B8E7DFEA81}"/>
                    </a:ext>
                  </a:extLst>
                </p:cNvPr>
                <p:cNvSpPr txBox="1"/>
                <p:nvPr/>
              </p:nvSpPr>
              <p:spPr>
                <a:xfrm>
                  <a:off x="539841" y="3914730"/>
                  <a:ext cx="1161370" cy="566821"/>
                </a:xfrm>
                <a:prstGeom prst="rect">
                  <a:avLst/>
                </a:prstGeom>
                <a:noFill/>
              </p:spPr>
              <p:txBody>
                <a:bodyPr wrap="square">
                  <a:spAutoFit/>
                </a:bodyPr>
                <a:lstStyle/>
                <a:p>
                  <a:pPr>
                    <a:lnSpc>
                      <a:spcPts val="2800"/>
                    </a:lnSpc>
                    <a:spcAft>
                      <a:spcPts val="900"/>
                    </a:spcAft>
                    <a:tabLst>
                      <a:tab pos="457200" algn="l"/>
                      <a:tab pos="914400" algn="l"/>
                      <a:tab pos="1371600" algn="l"/>
                    </a:tabLst>
                    <a:defRPr/>
                  </a:pPr>
                  <a14:m>
                    <m:oMathPara xmlns:m="http://schemas.openxmlformats.org/officeDocument/2006/math">
                      <m:oMathParaPr>
                        <m:jc m:val="centerGroup"/>
                      </m:oMathParaPr>
                      <m:oMath xmlns:m="http://schemas.openxmlformats.org/officeDocument/2006/math">
                        <m:r>
                          <a:rPr lang="de-DE" b="0" i="1" dirty="0" smtClean="0">
                            <a:solidFill>
                              <a:srgbClr val="0070C0"/>
                            </a:solidFill>
                            <a:latin typeface="Cambria Math" panose="02040503050406030204" pitchFamily="18" charset="0"/>
                            <a:cs typeface="Times New Roman" pitchFamily="18" charset="0"/>
                          </a:rPr>
                          <m:t>𝑃</m:t>
                        </m:r>
                        <m:r>
                          <a:rPr lang="en-US" b="0" i="1" dirty="0" smtClean="0">
                            <a:solidFill>
                              <a:srgbClr val="0070C0"/>
                            </a:solidFill>
                            <a:latin typeface="Cambria Math" panose="02040503050406030204" pitchFamily="18" charset="0"/>
                            <a:cs typeface="Times New Roman" pitchFamily="18" charset="0"/>
                          </a:rPr>
                          <m:t>−</m:t>
                        </m:r>
                        <m:r>
                          <a:rPr lang="en-US" b="0" i="1" dirty="0" smtClean="0">
                            <a:solidFill>
                              <a:srgbClr val="0070C0"/>
                            </a:solidFill>
                            <a:latin typeface="Cambria Math" panose="02040503050406030204" pitchFamily="18" charset="0"/>
                            <a:cs typeface="Times New Roman" pitchFamily="18" charset="0"/>
                          </a:rPr>
                          <m:t>𝑀𝐶</m:t>
                        </m:r>
                      </m:oMath>
                    </m:oMathPara>
                  </a14:m>
                  <a:endParaRPr lang="en-US" b="0" dirty="0">
                    <a:solidFill>
                      <a:srgbClr val="0070C0"/>
                    </a:solidFill>
                    <a:latin typeface="+mn-lt"/>
                    <a:cs typeface="Times New Roman" pitchFamily="18" charset="0"/>
                  </a:endParaRPr>
                </a:p>
              </p:txBody>
            </p:sp>
          </mc:Choice>
          <mc:Fallback xmlns="">
            <p:sp>
              <p:nvSpPr>
                <p:cNvPr id="38" name="TextBox 37">
                  <a:extLst>
                    <a:ext uri="{FF2B5EF4-FFF2-40B4-BE49-F238E27FC236}">
                      <a16:creationId xmlns:a16="http://schemas.microsoft.com/office/drawing/2014/main" id="{0420FDDB-6C9D-4F60-89B1-D9B8E7DFEA81}"/>
                    </a:ext>
                  </a:extLst>
                </p:cNvPr>
                <p:cNvSpPr txBox="1">
                  <a:spLocks noRot="1" noChangeAspect="1" noMove="1" noResize="1" noEditPoints="1" noAdjustHandles="1" noChangeArrowheads="1" noChangeShapeType="1" noTextEdit="1"/>
                </p:cNvSpPr>
                <p:nvPr/>
              </p:nvSpPr>
              <p:spPr>
                <a:xfrm>
                  <a:off x="539841" y="3914730"/>
                  <a:ext cx="1161370" cy="566821"/>
                </a:xfrm>
                <a:prstGeom prst="rect">
                  <a:avLst/>
                </a:prstGeom>
                <a:blipFill>
                  <a:blip r:embed="rId4"/>
                  <a:stretch>
                    <a:fillRect/>
                  </a:stretch>
                </a:blipFill>
              </p:spPr>
              <p:txBody>
                <a:bodyPr/>
                <a:lstStyle/>
                <a:p>
                  <a:r>
                    <a:rPr lang="en-US">
                      <a:noFill/>
                    </a:rPr>
                    <a:t> </a:t>
                  </a:r>
                </a:p>
              </p:txBody>
            </p:sp>
          </mc:Fallback>
        </mc:AlternateContent>
      </p:grpSp>
      <p:sp>
        <p:nvSpPr>
          <p:cNvPr id="22" name="Oval 21">
            <a:extLst>
              <a:ext uri="{FF2B5EF4-FFF2-40B4-BE49-F238E27FC236}">
                <a16:creationId xmlns:a16="http://schemas.microsoft.com/office/drawing/2014/main" id="{83230BF2-F914-4CED-BD41-D727FD0B539B}"/>
              </a:ext>
            </a:extLst>
          </p:cNvPr>
          <p:cNvSpPr/>
          <p:nvPr/>
        </p:nvSpPr>
        <p:spPr>
          <a:xfrm>
            <a:off x="3477076" y="3467262"/>
            <a:ext cx="169309" cy="149979"/>
          </a:xfrm>
          <a:prstGeom prst="ellipse">
            <a:avLst/>
          </a:prstGeom>
          <a:gradFill>
            <a:gsLst>
              <a:gs pos="0">
                <a:srgbClr val="C00000"/>
              </a:gs>
              <a:gs pos="100000">
                <a:schemeClr val="bg1"/>
              </a:gs>
            </a:gsLs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46" name="Group 45">
            <a:extLst>
              <a:ext uri="{FF2B5EF4-FFF2-40B4-BE49-F238E27FC236}">
                <a16:creationId xmlns:a16="http://schemas.microsoft.com/office/drawing/2014/main" id="{33A19ACC-034C-44AA-B20B-D59E6D143490}"/>
              </a:ext>
            </a:extLst>
          </p:cNvPr>
          <p:cNvGrpSpPr/>
          <p:nvPr/>
        </p:nvGrpSpPr>
        <p:grpSpPr>
          <a:xfrm>
            <a:off x="3621590" y="2220929"/>
            <a:ext cx="2470175" cy="1268297"/>
            <a:chOff x="3621590" y="2445710"/>
            <a:chExt cx="2470175" cy="1268297"/>
          </a:xfrm>
        </p:grpSpPr>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86EEFAFA-FD0A-4CFC-87F6-EA6C7D0A8042}"/>
                    </a:ext>
                  </a:extLst>
                </p:cNvPr>
                <p:cNvSpPr/>
                <p:nvPr/>
              </p:nvSpPr>
              <p:spPr>
                <a:xfrm>
                  <a:off x="4200244" y="3003399"/>
                  <a:ext cx="1376146" cy="533351"/>
                </a:xfrm>
                <a:prstGeom prst="rect">
                  <a:avLst/>
                </a:prstGeom>
                <a:ln>
                  <a:solidFill>
                    <a:srgbClr val="C00000"/>
                  </a:solidFill>
                </a:ln>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1400" i="1" smtClean="0">
                                <a:solidFill>
                                  <a:srgbClr val="C00000"/>
                                </a:solidFill>
                                <a:latin typeface="Cambria Math" panose="02040503050406030204" pitchFamily="18" charset="0"/>
                              </a:rPr>
                            </m:ctrlPr>
                          </m:fPr>
                          <m:num>
                            <m:r>
                              <a:rPr lang="en-US" sz="1400" i="1">
                                <a:solidFill>
                                  <a:srgbClr val="C00000"/>
                                </a:solidFill>
                                <a:latin typeface="Cambria Math" panose="02040503050406030204" pitchFamily="18" charset="0"/>
                              </a:rPr>
                              <m:t>𝑃</m:t>
                            </m:r>
                            <m:r>
                              <a:rPr lang="en-US" sz="1400" i="1">
                                <a:solidFill>
                                  <a:srgbClr val="C00000"/>
                                </a:solidFill>
                                <a:latin typeface="Cambria Math" panose="02040503050406030204" pitchFamily="18" charset="0"/>
                              </a:rPr>
                              <m:t>−</m:t>
                            </m:r>
                            <m:r>
                              <a:rPr lang="en-US" sz="1400" i="1">
                                <a:solidFill>
                                  <a:srgbClr val="C00000"/>
                                </a:solidFill>
                                <a:latin typeface="Cambria Math" panose="02040503050406030204" pitchFamily="18" charset="0"/>
                              </a:rPr>
                              <m:t>𝑀𝐶</m:t>
                            </m:r>
                          </m:num>
                          <m:den>
                            <m:r>
                              <a:rPr lang="en-US" sz="1400" i="1">
                                <a:solidFill>
                                  <a:srgbClr val="C00000"/>
                                </a:solidFill>
                                <a:latin typeface="Cambria Math" panose="02040503050406030204" pitchFamily="18" charset="0"/>
                              </a:rPr>
                              <m:t>𝑃</m:t>
                            </m:r>
                          </m:den>
                        </m:f>
                        <m:r>
                          <a:rPr lang="en-US" sz="1400" i="1">
                            <a:solidFill>
                              <a:srgbClr val="C00000"/>
                            </a:solidFill>
                            <a:latin typeface="Cambria Math" panose="02040503050406030204" pitchFamily="18" charset="0"/>
                          </a:rPr>
                          <m:t>=</m:t>
                        </m:r>
                        <m:f>
                          <m:fPr>
                            <m:ctrlPr>
                              <a:rPr lang="en-US" sz="1400" i="1">
                                <a:solidFill>
                                  <a:srgbClr val="C00000"/>
                                </a:solidFill>
                                <a:latin typeface="Cambria Math" panose="02040503050406030204" pitchFamily="18" charset="0"/>
                              </a:rPr>
                            </m:ctrlPr>
                          </m:fPr>
                          <m:num>
                            <m:r>
                              <a:rPr lang="en-US" sz="1400" i="1">
                                <a:solidFill>
                                  <a:srgbClr val="C00000"/>
                                </a:solidFill>
                                <a:latin typeface="Cambria Math" panose="02040503050406030204" pitchFamily="18" charset="0"/>
                              </a:rPr>
                              <m:t>1</m:t>
                            </m:r>
                          </m:num>
                          <m:den>
                            <m:sSub>
                              <m:sSubPr>
                                <m:ctrlPr>
                                  <a:rPr lang="en-US" sz="1400" i="1">
                                    <a:solidFill>
                                      <a:srgbClr val="C00000"/>
                                    </a:solidFill>
                                    <a:latin typeface="Cambria Math" panose="02040503050406030204" pitchFamily="18" charset="0"/>
                                  </a:rPr>
                                </m:ctrlPr>
                              </m:sSubPr>
                              <m:e>
                                <m:r>
                                  <a:rPr lang="en-US" sz="1400" i="1">
                                    <a:solidFill>
                                      <a:srgbClr val="C00000"/>
                                    </a:solidFill>
                                    <a:latin typeface="Cambria Math" panose="02040503050406030204" pitchFamily="18" charset="0"/>
                                  </a:rPr>
                                  <m:t>|</m:t>
                                </m:r>
                                <m:r>
                                  <a:rPr lang="en-US" sz="1400" i="1">
                                    <a:solidFill>
                                      <a:srgbClr val="C00000"/>
                                    </a:solidFill>
                                    <a:latin typeface="Cambria Math" panose="02040503050406030204" pitchFamily="18" charset="0"/>
                                  </a:rPr>
                                  <m:t>𝐸</m:t>
                                </m:r>
                              </m:e>
                              <m:sub>
                                <m:r>
                                  <a:rPr lang="en-US" sz="1400" i="1">
                                    <a:solidFill>
                                      <a:srgbClr val="C00000"/>
                                    </a:solidFill>
                                    <a:latin typeface="Cambria Math" panose="02040503050406030204" pitchFamily="18" charset="0"/>
                                  </a:rPr>
                                  <m:t>𝐷</m:t>
                                </m:r>
                              </m:sub>
                            </m:sSub>
                            <m:r>
                              <a:rPr lang="en-US" sz="1400" i="1">
                                <a:solidFill>
                                  <a:srgbClr val="C00000"/>
                                </a:solidFill>
                                <a:latin typeface="Cambria Math" panose="02040503050406030204" pitchFamily="18" charset="0"/>
                              </a:rPr>
                              <m:t>|</m:t>
                            </m:r>
                          </m:den>
                        </m:f>
                      </m:oMath>
                    </m:oMathPara>
                  </a14:m>
                  <a:endParaRPr lang="en-US" sz="1400" dirty="0">
                    <a:solidFill>
                      <a:srgbClr val="C00000"/>
                    </a:solidFill>
                  </a:endParaRPr>
                </a:p>
              </p:txBody>
            </p:sp>
          </mc:Choice>
          <mc:Fallback xmlns="">
            <p:sp>
              <p:nvSpPr>
                <p:cNvPr id="41" name="Rectangle 40">
                  <a:extLst>
                    <a:ext uri="{FF2B5EF4-FFF2-40B4-BE49-F238E27FC236}">
                      <a16:creationId xmlns:a16="http://schemas.microsoft.com/office/drawing/2014/main" id="{86EEFAFA-FD0A-4CFC-87F6-EA6C7D0A8042}"/>
                    </a:ext>
                  </a:extLst>
                </p:cNvPr>
                <p:cNvSpPr>
                  <a:spLocks noRot="1" noChangeAspect="1" noMove="1" noResize="1" noEditPoints="1" noAdjustHandles="1" noChangeArrowheads="1" noChangeShapeType="1" noTextEdit="1"/>
                </p:cNvSpPr>
                <p:nvPr/>
              </p:nvSpPr>
              <p:spPr>
                <a:xfrm>
                  <a:off x="4200244" y="3003399"/>
                  <a:ext cx="1376146" cy="533351"/>
                </a:xfrm>
                <a:prstGeom prst="rect">
                  <a:avLst/>
                </a:prstGeom>
                <a:blipFill>
                  <a:blip r:embed="rId5"/>
                  <a:stretch>
                    <a:fillRect b="-4494"/>
                  </a:stretch>
                </a:blipFill>
                <a:ln>
                  <a:solidFill>
                    <a:srgbClr val="C00000"/>
                  </a:solidFill>
                </a:ln>
              </p:spPr>
              <p:txBody>
                <a:bodyPr/>
                <a:lstStyle/>
                <a:p>
                  <a:r>
                    <a:rPr lang="en-US">
                      <a:noFill/>
                    </a:rPr>
                    <a:t> </a:t>
                  </a:r>
                </a:p>
              </p:txBody>
            </p:sp>
          </mc:Fallback>
        </mc:AlternateContent>
        <p:grpSp>
          <p:nvGrpSpPr>
            <p:cNvPr id="42" name="Group 41">
              <a:extLst>
                <a:ext uri="{FF2B5EF4-FFF2-40B4-BE49-F238E27FC236}">
                  <a16:creationId xmlns:a16="http://schemas.microsoft.com/office/drawing/2014/main" id="{B4E49B67-3473-495D-80B3-923AD09F1041}"/>
                </a:ext>
              </a:extLst>
            </p:cNvPr>
            <p:cNvGrpSpPr/>
            <p:nvPr/>
          </p:nvGrpSpPr>
          <p:grpSpPr>
            <a:xfrm>
              <a:off x="3621590" y="2445710"/>
              <a:ext cx="2470175" cy="1268297"/>
              <a:chOff x="1573471" y="2932240"/>
              <a:chExt cx="2470175" cy="1268297"/>
            </a:xfrm>
          </p:grpSpPr>
          <p:sp>
            <p:nvSpPr>
              <p:cNvPr id="43" name="TextBox 42">
                <a:extLst>
                  <a:ext uri="{FF2B5EF4-FFF2-40B4-BE49-F238E27FC236}">
                    <a16:creationId xmlns:a16="http://schemas.microsoft.com/office/drawing/2014/main" id="{A3EBDD38-A8C9-4327-9A91-A1CB25571738}"/>
                  </a:ext>
                </a:extLst>
              </p:cNvPr>
              <p:cNvSpPr txBox="1"/>
              <p:nvPr/>
            </p:nvSpPr>
            <p:spPr>
              <a:xfrm>
                <a:off x="1793530" y="2932240"/>
                <a:ext cx="2250116" cy="523220"/>
              </a:xfrm>
              <a:prstGeom prst="rect">
                <a:avLst/>
              </a:prstGeom>
              <a:noFill/>
              <a:ln>
                <a:solidFill>
                  <a:srgbClr val="C00000"/>
                </a:solidFill>
              </a:ln>
            </p:spPr>
            <p:txBody>
              <a:bodyPr wrap="square" rtlCol="0">
                <a:spAutoFit/>
              </a:bodyPr>
              <a:lstStyle/>
              <a:p>
                <a:pPr algn="ctr"/>
                <a:r>
                  <a:rPr lang="en-US" sz="1400" dirty="0">
                    <a:solidFill>
                      <a:srgbClr val="C00000"/>
                    </a:solidFill>
                    <a:latin typeface="Whitney Book" pitchFamily="50" charset="0"/>
                    <a:cs typeface="Whitney Book" pitchFamily="50" charset="0"/>
                  </a:rPr>
                  <a:t>Lerner Relationship holds only at the profit-max point!</a:t>
                </a:r>
              </a:p>
            </p:txBody>
          </p:sp>
          <p:cxnSp>
            <p:nvCxnSpPr>
              <p:cNvPr id="44" name="Straight Arrow Connector 43">
                <a:extLst>
                  <a:ext uri="{FF2B5EF4-FFF2-40B4-BE49-F238E27FC236}">
                    <a16:creationId xmlns:a16="http://schemas.microsoft.com/office/drawing/2014/main" id="{54EBC008-5164-4F5F-9D76-88BC7C7E2B45}"/>
                  </a:ext>
                </a:extLst>
              </p:cNvPr>
              <p:cNvCxnSpPr>
                <a:cxnSpLocks/>
                <a:endCxn id="22" idx="7"/>
              </p:cNvCxnSpPr>
              <p:nvPr/>
            </p:nvCxnSpPr>
            <p:spPr>
              <a:xfrm flipH="1">
                <a:off x="1573471" y="3493697"/>
                <a:ext cx="522144" cy="706840"/>
              </a:xfrm>
              <a:prstGeom prst="straightConnector1">
                <a:avLst/>
              </a:prstGeom>
              <a:ln>
                <a:solidFill>
                  <a:srgbClr val="C00000"/>
                </a:solidFill>
                <a:tailEnd type="triangle"/>
              </a:ln>
            </p:spPr>
            <p:style>
              <a:lnRef idx="2">
                <a:schemeClr val="dk1"/>
              </a:lnRef>
              <a:fillRef idx="0">
                <a:schemeClr val="dk1"/>
              </a:fillRef>
              <a:effectRef idx="1">
                <a:schemeClr val="dk1"/>
              </a:effectRef>
              <a:fontRef idx="minor">
                <a:schemeClr val="tx1"/>
              </a:fontRef>
            </p:style>
          </p:cxnSp>
        </p:grpSp>
      </p:grpSp>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3ADE7918-4917-4F6A-9763-FB7968D20401}"/>
                  </a:ext>
                </a:extLst>
              </p:cNvPr>
              <p:cNvSpPr/>
              <p:nvPr/>
            </p:nvSpPr>
            <p:spPr>
              <a:xfrm>
                <a:off x="262347" y="5862482"/>
                <a:ext cx="2856038" cy="712503"/>
              </a:xfrm>
              <a:prstGeom prst="rect">
                <a:avLst/>
              </a:prstGeom>
              <a:ln>
                <a:solidFill>
                  <a:schemeClr val="accent1">
                    <a:shade val="95000"/>
                    <a:satMod val="105000"/>
                  </a:schemeClr>
                </a:solidFill>
              </a:ln>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1400" i="1" smtClean="0">
                              <a:latin typeface="Cambria Math" panose="02040503050406030204" pitchFamily="18" charset="0"/>
                            </a:rPr>
                          </m:ctrlPr>
                        </m:fPr>
                        <m:num>
                          <m:r>
                            <a:rPr lang="en-US" sz="1400" i="1" smtClean="0">
                              <a:solidFill>
                                <a:srgbClr val="0070C0"/>
                              </a:solidFill>
                              <a:latin typeface="Cambria Math" panose="02040503050406030204" pitchFamily="18" charset="0"/>
                            </a:rPr>
                            <m:t>𝑃</m:t>
                          </m:r>
                          <m:r>
                            <a:rPr lang="en-US" sz="1400" i="1" smtClean="0">
                              <a:solidFill>
                                <a:srgbClr val="0070C0"/>
                              </a:solidFill>
                              <a:latin typeface="Cambria Math" panose="02040503050406030204" pitchFamily="18" charset="0"/>
                            </a:rPr>
                            <m:t>−</m:t>
                          </m:r>
                          <m:r>
                            <a:rPr lang="en-US" sz="1400" i="1" smtClean="0">
                              <a:solidFill>
                                <a:srgbClr val="0070C0"/>
                              </a:solidFill>
                              <a:latin typeface="Cambria Math" panose="02040503050406030204" pitchFamily="18" charset="0"/>
                            </a:rPr>
                            <m:t>𝑀𝐶</m:t>
                          </m:r>
                        </m:num>
                        <m:den>
                          <m:r>
                            <a:rPr lang="en-US" sz="1400" i="1">
                              <a:latin typeface="Cambria Math" panose="02040503050406030204" pitchFamily="18" charset="0"/>
                            </a:rPr>
                            <m:t>𝑃</m:t>
                          </m:r>
                        </m:den>
                      </m:f>
                      <m:r>
                        <a:rPr lang="en-US" sz="1400" i="1">
                          <a:latin typeface="Cambria Math" panose="02040503050406030204" pitchFamily="18" charset="0"/>
                        </a:rPr>
                        <m:t>=</m:t>
                      </m:r>
                      <m:f>
                        <m:fPr>
                          <m:ctrlPr>
                            <a:rPr lang="en-US" sz="1400" i="1">
                              <a:latin typeface="Cambria Math" panose="02040503050406030204" pitchFamily="18" charset="0"/>
                            </a:rPr>
                          </m:ctrlPr>
                        </m:fPr>
                        <m:num>
                          <m:r>
                            <a:rPr lang="en-US" sz="1400" b="0" i="1" smtClean="0">
                              <a:latin typeface="Cambria Math" panose="02040503050406030204" pitchFamily="18" charset="0"/>
                            </a:rPr>
                            <m:t>300−200</m:t>
                          </m:r>
                        </m:num>
                        <m:den>
                          <m:r>
                            <a:rPr lang="en-US" sz="1400" b="0" i="1" smtClean="0">
                              <a:latin typeface="Cambria Math" panose="02040503050406030204" pitchFamily="18" charset="0"/>
                            </a:rPr>
                            <m:t>300</m:t>
                          </m:r>
                        </m:den>
                      </m:f>
                      <m:r>
                        <a:rPr lang="en-US" sz="1400" b="0" i="0" smtClean="0">
                          <a:latin typeface="Cambria Math" panose="02040503050406030204" pitchFamily="18" charset="0"/>
                        </a:rPr>
                        <m:t>=</m:t>
                      </m:r>
                      <m:r>
                        <a:rPr lang="en-US" sz="1400" b="0" i="1" smtClean="0">
                          <a:latin typeface="Cambria Math" panose="02040503050406030204" pitchFamily="18" charset="0"/>
                        </a:rPr>
                        <m:t>33%</m:t>
                      </m:r>
                    </m:oMath>
                  </m:oMathPara>
                </a14:m>
                <a:endParaRPr lang="en-US" sz="1400" b="0" dirty="0"/>
              </a:p>
              <a:p>
                <a:r>
                  <a:rPr lang="en-US" sz="1400" dirty="0">
                    <a:sym typeface="Wingdings" panose="05000000000000000000" pitchFamily="2" charset="2"/>
                  </a:rPr>
                  <a:t> 33% of the price is due to markup</a:t>
                </a:r>
                <a:endParaRPr lang="en-US" sz="1400" dirty="0"/>
              </a:p>
            </p:txBody>
          </p:sp>
        </mc:Choice>
        <mc:Fallback xmlns="">
          <p:sp>
            <p:nvSpPr>
              <p:cNvPr id="47" name="Rectangle 46">
                <a:extLst>
                  <a:ext uri="{FF2B5EF4-FFF2-40B4-BE49-F238E27FC236}">
                    <a16:creationId xmlns:a16="http://schemas.microsoft.com/office/drawing/2014/main" id="{3ADE7918-4917-4F6A-9763-FB7968D20401}"/>
                  </a:ext>
                </a:extLst>
              </p:cNvPr>
              <p:cNvSpPr>
                <a:spLocks noRot="1" noChangeAspect="1" noMove="1" noResize="1" noEditPoints="1" noAdjustHandles="1" noChangeArrowheads="1" noChangeShapeType="1" noTextEdit="1"/>
              </p:cNvSpPr>
              <p:nvPr/>
            </p:nvSpPr>
            <p:spPr>
              <a:xfrm>
                <a:off x="262347" y="5862482"/>
                <a:ext cx="2856038" cy="712503"/>
              </a:xfrm>
              <a:prstGeom prst="rect">
                <a:avLst/>
              </a:prstGeom>
              <a:blipFill>
                <a:blip r:embed="rId6"/>
                <a:stretch>
                  <a:fillRect l="-425" b="-6723"/>
                </a:stretch>
              </a:blipFill>
              <a:ln>
                <a:solidFill>
                  <a:schemeClr val="accent1">
                    <a:shade val="95000"/>
                    <a:satMod val="105000"/>
                  </a:schemeClr>
                </a:solidFill>
              </a:ln>
            </p:spPr>
            <p:txBody>
              <a:bodyPr/>
              <a:lstStyle/>
              <a:p>
                <a:r>
                  <a:rPr lang="en-US">
                    <a:noFill/>
                  </a:rPr>
                  <a:t> </a:t>
                </a:r>
              </a:p>
            </p:txBody>
          </p:sp>
        </mc:Fallback>
      </mc:AlternateContent>
      <p:grpSp>
        <p:nvGrpSpPr>
          <p:cNvPr id="53" name="Group 52">
            <a:extLst>
              <a:ext uri="{FF2B5EF4-FFF2-40B4-BE49-F238E27FC236}">
                <a16:creationId xmlns:a16="http://schemas.microsoft.com/office/drawing/2014/main" id="{D252F813-2A35-42B8-8283-3604FB2E69AF}"/>
              </a:ext>
            </a:extLst>
          </p:cNvPr>
          <p:cNvGrpSpPr/>
          <p:nvPr/>
        </p:nvGrpSpPr>
        <p:grpSpPr>
          <a:xfrm>
            <a:off x="528283" y="4194663"/>
            <a:ext cx="1332182" cy="1245689"/>
            <a:chOff x="528283" y="4419444"/>
            <a:chExt cx="1332182" cy="1245689"/>
          </a:xfrm>
        </p:grpSpPr>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AC8EE17-C3C8-4AF6-A630-568ADA494F6B}"/>
                    </a:ext>
                  </a:extLst>
                </p:cNvPr>
                <p:cNvSpPr txBox="1"/>
                <p:nvPr/>
              </p:nvSpPr>
              <p:spPr>
                <a:xfrm>
                  <a:off x="528283" y="4810229"/>
                  <a:ext cx="1161370" cy="566822"/>
                </a:xfrm>
                <a:prstGeom prst="rect">
                  <a:avLst/>
                </a:prstGeom>
                <a:noFill/>
              </p:spPr>
              <p:txBody>
                <a:bodyPr wrap="square">
                  <a:spAutoFit/>
                </a:bodyPr>
                <a:lstStyle/>
                <a:p>
                  <a:pPr>
                    <a:lnSpc>
                      <a:spcPts val="2800"/>
                    </a:lnSpc>
                    <a:spcAft>
                      <a:spcPts val="900"/>
                    </a:spcAft>
                    <a:tabLst>
                      <a:tab pos="457200" algn="l"/>
                      <a:tab pos="914400" algn="l"/>
                      <a:tab pos="1371600" algn="l"/>
                    </a:tabLst>
                    <a:defRPr/>
                  </a:pPr>
                  <a14:m>
                    <m:oMathPara xmlns:m="http://schemas.openxmlformats.org/officeDocument/2006/math">
                      <m:oMathParaPr>
                        <m:jc m:val="centerGroup"/>
                      </m:oMathParaPr>
                      <m:oMath xmlns:m="http://schemas.openxmlformats.org/officeDocument/2006/math">
                        <m:r>
                          <a:rPr lang="en-US" b="0" i="1" dirty="0" smtClean="0">
                            <a:solidFill>
                              <a:srgbClr val="00B050"/>
                            </a:solidFill>
                            <a:latin typeface="Cambria Math" panose="02040503050406030204" pitchFamily="18" charset="0"/>
                            <a:cs typeface="Times New Roman" pitchFamily="18" charset="0"/>
                          </a:rPr>
                          <m:t>𝑀𝐶</m:t>
                        </m:r>
                      </m:oMath>
                    </m:oMathPara>
                  </a14:m>
                  <a:endParaRPr lang="en-US" b="0" dirty="0">
                    <a:solidFill>
                      <a:srgbClr val="00B050"/>
                    </a:solidFill>
                    <a:latin typeface="+mn-lt"/>
                    <a:cs typeface="Times New Roman" pitchFamily="18" charset="0"/>
                  </a:endParaRPr>
                </a:p>
              </p:txBody>
            </p:sp>
          </mc:Choice>
          <mc:Fallback xmlns="">
            <p:sp>
              <p:nvSpPr>
                <p:cNvPr id="40" name="TextBox 39">
                  <a:extLst>
                    <a:ext uri="{FF2B5EF4-FFF2-40B4-BE49-F238E27FC236}">
                      <a16:creationId xmlns:a16="http://schemas.microsoft.com/office/drawing/2014/main" id="{BAC8EE17-C3C8-4AF6-A630-568ADA494F6B}"/>
                    </a:ext>
                  </a:extLst>
                </p:cNvPr>
                <p:cNvSpPr txBox="1">
                  <a:spLocks noRot="1" noChangeAspect="1" noMove="1" noResize="1" noEditPoints="1" noAdjustHandles="1" noChangeArrowheads="1" noChangeShapeType="1" noTextEdit="1"/>
                </p:cNvSpPr>
                <p:nvPr/>
              </p:nvSpPr>
              <p:spPr>
                <a:xfrm>
                  <a:off x="528283" y="4810229"/>
                  <a:ext cx="1161370" cy="566822"/>
                </a:xfrm>
                <a:prstGeom prst="rect">
                  <a:avLst/>
                </a:prstGeom>
                <a:blipFill>
                  <a:blip r:embed="rId7"/>
                  <a:stretch>
                    <a:fillRect/>
                  </a:stretch>
                </a:blipFill>
              </p:spPr>
              <p:txBody>
                <a:bodyPr/>
                <a:lstStyle/>
                <a:p>
                  <a:r>
                    <a:rPr lang="en-US">
                      <a:noFill/>
                    </a:rPr>
                    <a:t> </a:t>
                  </a:r>
                </a:p>
              </p:txBody>
            </p:sp>
          </mc:Fallback>
        </mc:AlternateContent>
        <p:sp>
          <p:nvSpPr>
            <p:cNvPr id="52" name="Left Brace 51">
              <a:extLst>
                <a:ext uri="{FF2B5EF4-FFF2-40B4-BE49-F238E27FC236}">
                  <a16:creationId xmlns:a16="http://schemas.microsoft.com/office/drawing/2014/main" id="{B4EA109C-B3CE-4DBD-BF03-7C7AA3C4A7EA}"/>
                </a:ext>
              </a:extLst>
            </p:cNvPr>
            <p:cNvSpPr/>
            <p:nvPr/>
          </p:nvSpPr>
          <p:spPr>
            <a:xfrm>
              <a:off x="1586901" y="4419444"/>
              <a:ext cx="273564" cy="1245689"/>
            </a:xfrm>
            <a:prstGeom prst="leftBrace">
              <a:avLst/>
            </a:prstGeom>
            <a:ln>
              <a:solidFill>
                <a:srgbClr val="00B05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612736C9-E113-4113-8944-655BECF9F451}"/>
                  </a:ext>
                </a:extLst>
              </p:cNvPr>
              <p:cNvSpPr/>
              <p:nvPr/>
            </p:nvSpPr>
            <p:spPr>
              <a:xfrm>
                <a:off x="6549993" y="2908597"/>
                <a:ext cx="2445606" cy="1082540"/>
              </a:xfrm>
              <a:prstGeom prst="rect">
                <a:avLst/>
              </a:prstGeom>
              <a:ln>
                <a:solidFill>
                  <a:srgbClr val="C00000"/>
                </a:solidFill>
                <a:prstDash val="sysDash"/>
              </a:ln>
            </p:spPr>
            <p:txBody>
              <a:bodyPr wrap="none">
                <a:spAutoFit/>
              </a:bodyPr>
              <a:lstStyle/>
              <a:p>
                <a:r>
                  <a:rPr lang="en-US" sz="1400" b="0" i="1" dirty="0">
                    <a:solidFill>
                      <a:srgbClr val="C00000"/>
                    </a:solidFill>
                    <a:latin typeface="Cambria Math" panose="02040503050406030204" pitchFamily="18" charset="0"/>
                  </a:rPr>
                  <a:t>At the profit-max point:</a:t>
                </a:r>
              </a:p>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𝐸</m:t>
                          </m:r>
                        </m:e>
                        <m:sub>
                          <m:r>
                            <a:rPr lang="en-US" sz="1400" b="0" i="1" smtClean="0">
                              <a:latin typeface="Cambria Math" panose="02040503050406030204" pitchFamily="18" charset="0"/>
                            </a:rPr>
                            <m:t>𝐷</m:t>
                          </m:r>
                        </m:sub>
                      </m:sSub>
                      <m:r>
                        <a:rPr lang="en-US" sz="1400" i="1">
                          <a:latin typeface="Cambria Math" panose="02040503050406030204" pitchFamily="18" charset="0"/>
                        </a:rPr>
                        <m:t>=</m:t>
                      </m:r>
                      <m:f>
                        <m:fPr>
                          <m:ctrlPr>
                            <a:rPr lang="en-US" sz="1400" i="1">
                              <a:latin typeface="Cambria Math" panose="02040503050406030204" pitchFamily="18" charset="0"/>
                            </a:rPr>
                          </m:ctrlPr>
                        </m:fPr>
                        <m:num>
                          <m:r>
                            <a:rPr lang="en-US" sz="1400" b="0" i="1" smtClean="0">
                              <a:latin typeface="Cambria Math" panose="02040503050406030204" pitchFamily="18" charset="0"/>
                            </a:rPr>
                            <m:t>𝑑𝑄</m:t>
                          </m:r>
                        </m:num>
                        <m:den>
                          <m:r>
                            <a:rPr lang="en-US" sz="1400" b="0" i="1" smtClean="0">
                              <a:latin typeface="Cambria Math" panose="02040503050406030204" pitchFamily="18" charset="0"/>
                            </a:rPr>
                            <m:t>𝑑𝑃</m:t>
                          </m:r>
                        </m:den>
                      </m:f>
                      <m:f>
                        <m:fPr>
                          <m:ctrlPr>
                            <a:rPr lang="en-US" sz="1400" i="1">
                              <a:latin typeface="Cambria Math" panose="02040503050406030204" pitchFamily="18" charset="0"/>
                            </a:rPr>
                          </m:ctrlPr>
                        </m:fPr>
                        <m:num>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𝑃</m:t>
                              </m:r>
                            </m:e>
                            <m:sup>
                              <m:r>
                                <a:rPr lang="en-US" sz="1400" b="0" i="1" smtClean="0">
                                  <a:latin typeface="Cambria Math" panose="02040503050406030204" pitchFamily="18" charset="0"/>
                                </a:rPr>
                                <m:t>∗</m:t>
                              </m:r>
                            </m:sup>
                          </m:sSup>
                        </m:num>
                        <m:den>
                          <m:sSup>
                            <m:sSupPr>
                              <m:ctrlPr>
                                <a:rPr lang="en-US" sz="1400" i="1">
                                  <a:latin typeface="Cambria Math" panose="02040503050406030204" pitchFamily="18" charset="0"/>
                                </a:rPr>
                              </m:ctrlPr>
                            </m:sSupPr>
                            <m:e>
                              <m:r>
                                <a:rPr lang="en-US" sz="1400" b="0" i="1" smtClean="0">
                                  <a:latin typeface="Cambria Math" panose="02040503050406030204" pitchFamily="18" charset="0"/>
                                </a:rPr>
                                <m:t>𝑄</m:t>
                              </m:r>
                            </m:e>
                            <m:sup>
                              <m:r>
                                <a:rPr lang="en-US" sz="1400" i="1">
                                  <a:latin typeface="Cambria Math" panose="02040503050406030204" pitchFamily="18" charset="0"/>
                                </a:rPr>
                                <m:t>∗</m:t>
                              </m:r>
                            </m:sup>
                          </m:sSup>
                        </m:den>
                      </m:f>
                      <m:r>
                        <a:rPr lang="en-US" sz="1400" b="0" i="1" smtClean="0">
                          <a:latin typeface="Cambria Math" panose="02040503050406030204" pitchFamily="18" charset="0"/>
                        </a:rPr>
                        <m:t>=</m:t>
                      </m:r>
                      <m:r>
                        <a:rPr lang="en-US" sz="1400" b="0" i="1" smtClean="0">
                          <a:solidFill>
                            <a:schemeClr val="accent6">
                              <a:lumMod val="75000"/>
                            </a:schemeClr>
                          </a:solidFill>
                          <a:latin typeface="Cambria Math" panose="02040503050406030204" pitchFamily="18" charset="0"/>
                        </a:rPr>
                        <m:t>−4</m:t>
                      </m:r>
                      <m:f>
                        <m:fPr>
                          <m:ctrlPr>
                            <a:rPr lang="en-US" sz="1400" i="1">
                              <a:latin typeface="Cambria Math" panose="02040503050406030204" pitchFamily="18" charset="0"/>
                            </a:rPr>
                          </m:ctrlPr>
                        </m:fPr>
                        <m:num>
                          <m:r>
                            <a:rPr lang="en-US" sz="1400" b="0" i="1" smtClean="0">
                              <a:latin typeface="Cambria Math" panose="02040503050406030204" pitchFamily="18" charset="0"/>
                            </a:rPr>
                            <m:t>300</m:t>
                          </m:r>
                        </m:num>
                        <m:den>
                          <m:r>
                            <a:rPr lang="en-US" sz="1400" b="0" i="1" smtClean="0">
                              <a:latin typeface="Cambria Math" panose="02040503050406030204" pitchFamily="18" charset="0"/>
                            </a:rPr>
                            <m:t>400</m:t>
                          </m:r>
                        </m:den>
                      </m:f>
                      <m:r>
                        <a:rPr lang="en-US" sz="1400" b="0" i="1" smtClean="0">
                          <a:latin typeface="Cambria Math" panose="02040503050406030204" pitchFamily="18" charset="0"/>
                        </a:rPr>
                        <m:t>=−3</m:t>
                      </m:r>
                    </m:oMath>
                  </m:oMathPara>
                </a14:m>
                <a:endParaRPr lang="en-US" sz="1400" b="0" dirty="0"/>
              </a:p>
              <a:p>
                <a:r>
                  <a:rPr lang="en-US" sz="1400" dirty="0"/>
                  <a:t>Thus: </a:t>
                </a:r>
                <a14:m>
                  <m:oMath xmlns:m="http://schemas.openxmlformats.org/officeDocument/2006/math">
                    <m:f>
                      <m:fPr>
                        <m:ctrlPr>
                          <a:rPr lang="en-US" sz="1400" i="1">
                            <a:latin typeface="Cambria Math" panose="02040503050406030204" pitchFamily="18" charset="0"/>
                          </a:rPr>
                        </m:ctrlPr>
                      </m:fPr>
                      <m:num>
                        <m:r>
                          <a:rPr lang="en-US" sz="1400" i="1">
                            <a:latin typeface="Cambria Math" panose="02040503050406030204" pitchFamily="18" charset="0"/>
                          </a:rPr>
                          <m:t>1</m:t>
                        </m:r>
                      </m:num>
                      <m:den>
                        <m:sSub>
                          <m:sSubPr>
                            <m:ctrlPr>
                              <a:rPr lang="en-US" sz="1400" i="1">
                                <a:latin typeface="Cambria Math" panose="02040503050406030204" pitchFamily="18" charset="0"/>
                              </a:rPr>
                            </m:ctrlPr>
                          </m:sSubPr>
                          <m:e>
                            <m:r>
                              <a:rPr lang="en-US" sz="1400" i="1">
                                <a:latin typeface="Cambria Math" panose="02040503050406030204" pitchFamily="18" charset="0"/>
                              </a:rPr>
                              <m:t>|</m:t>
                            </m:r>
                            <m:r>
                              <a:rPr lang="en-US" sz="1400" i="1">
                                <a:latin typeface="Cambria Math" panose="02040503050406030204" pitchFamily="18" charset="0"/>
                              </a:rPr>
                              <m:t>𝐸</m:t>
                            </m:r>
                          </m:e>
                          <m:sub>
                            <m:r>
                              <a:rPr lang="en-US" sz="1400" i="1">
                                <a:latin typeface="Cambria Math" panose="02040503050406030204" pitchFamily="18" charset="0"/>
                              </a:rPr>
                              <m:t>𝐷</m:t>
                            </m:r>
                          </m:sub>
                        </m:sSub>
                        <m:r>
                          <a:rPr lang="en-US" sz="1400" i="1">
                            <a:latin typeface="Cambria Math" panose="02040503050406030204" pitchFamily="18" charset="0"/>
                          </a:rPr>
                          <m:t>|</m:t>
                        </m:r>
                      </m:den>
                    </m:f>
                    <m:r>
                      <a:rPr lang="en-US" sz="1400" b="0" i="0"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0" smtClean="0">
                            <a:latin typeface="Cambria Math" panose="02040503050406030204" pitchFamily="18" charset="0"/>
                          </a:rPr>
                          <m:t>1</m:t>
                        </m:r>
                      </m:num>
                      <m:den>
                        <m:r>
                          <a:rPr lang="en-US" sz="1400" b="0" i="0" smtClean="0">
                            <a:latin typeface="Cambria Math" panose="02040503050406030204" pitchFamily="18" charset="0"/>
                          </a:rPr>
                          <m:t>3</m:t>
                        </m:r>
                      </m:den>
                    </m:f>
                    <m:r>
                      <a:rPr lang="en-US" sz="1400" b="0" i="0" smtClean="0">
                        <a:latin typeface="Cambria Math" panose="02040503050406030204" pitchFamily="18" charset="0"/>
                      </a:rPr>
                      <m:t>=33%</m:t>
                    </m:r>
                  </m:oMath>
                </a14:m>
                <a:r>
                  <a:rPr lang="en-US" sz="1400" dirty="0"/>
                  <a:t> </a:t>
                </a:r>
                <a:r>
                  <a:rPr lang="en-US" sz="1400" b="1" dirty="0">
                    <a:solidFill>
                      <a:srgbClr val="FF0000"/>
                    </a:solidFill>
                  </a:rPr>
                  <a:t>✓</a:t>
                </a:r>
                <a:endParaRPr lang="en-US" sz="1400" dirty="0">
                  <a:solidFill>
                    <a:srgbClr val="FF0000"/>
                  </a:solidFill>
                </a:endParaRPr>
              </a:p>
            </p:txBody>
          </p:sp>
        </mc:Choice>
        <mc:Fallback xmlns="">
          <p:sp>
            <p:nvSpPr>
              <p:cNvPr id="54" name="Rectangle 53">
                <a:extLst>
                  <a:ext uri="{FF2B5EF4-FFF2-40B4-BE49-F238E27FC236}">
                    <a16:creationId xmlns:a16="http://schemas.microsoft.com/office/drawing/2014/main" id="{612736C9-E113-4113-8944-655BECF9F451}"/>
                  </a:ext>
                </a:extLst>
              </p:cNvPr>
              <p:cNvSpPr>
                <a:spLocks noRot="1" noChangeAspect="1" noMove="1" noResize="1" noEditPoints="1" noAdjustHandles="1" noChangeArrowheads="1" noChangeShapeType="1" noTextEdit="1"/>
              </p:cNvSpPr>
              <p:nvPr/>
            </p:nvSpPr>
            <p:spPr>
              <a:xfrm>
                <a:off x="6549993" y="2908597"/>
                <a:ext cx="2445606" cy="1082540"/>
              </a:xfrm>
              <a:prstGeom prst="rect">
                <a:avLst/>
              </a:prstGeom>
              <a:blipFill>
                <a:blip r:embed="rId8"/>
                <a:stretch>
                  <a:fillRect l="-495" t="-1111"/>
                </a:stretch>
              </a:blipFill>
              <a:ln>
                <a:solidFill>
                  <a:srgbClr val="C00000"/>
                </a:solidFill>
                <a:prstDash val="sysDash"/>
              </a:ln>
            </p:spPr>
            <p:txBody>
              <a:bodyPr/>
              <a:lstStyle/>
              <a:p>
                <a:r>
                  <a:rPr lang="en-US">
                    <a:noFill/>
                  </a:rPr>
                  <a:t> </a:t>
                </a:r>
              </a:p>
            </p:txBody>
          </p:sp>
        </mc:Fallback>
      </mc:AlternateContent>
      <p:cxnSp>
        <p:nvCxnSpPr>
          <p:cNvPr id="55" name="Straight Arrow Connector 54">
            <a:extLst>
              <a:ext uri="{FF2B5EF4-FFF2-40B4-BE49-F238E27FC236}">
                <a16:creationId xmlns:a16="http://schemas.microsoft.com/office/drawing/2014/main" id="{F370EF20-D3CB-48FD-89CF-C90360F7B2B6}"/>
              </a:ext>
            </a:extLst>
          </p:cNvPr>
          <p:cNvCxnSpPr>
            <a:cxnSpLocks/>
          </p:cNvCxnSpPr>
          <p:nvPr/>
        </p:nvCxnSpPr>
        <p:spPr>
          <a:xfrm flipH="1" flipV="1">
            <a:off x="6480647" y="1686135"/>
            <a:ext cx="1472506" cy="1625835"/>
          </a:xfrm>
          <a:prstGeom prst="straightConnector1">
            <a:avLst/>
          </a:prstGeom>
          <a:ln w="9525">
            <a:solidFill>
              <a:schemeClr val="accent6">
                <a:lumMod val="75000"/>
              </a:schemeClr>
            </a:solidFill>
            <a:prstDash val="sysDash"/>
            <a:tailEnd type="triangle"/>
          </a:ln>
        </p:spPr>
        <p:style>
          <a:lnRef idx="2">
            <a:schemeClr val="dk1"/>
          </a:lnRef>
          <a:fillRef idx="0">
            <a:schemeClr val="dk1"/>
          </a:fillRef>
          <a:effectRef idx="1">
            <a:schemeClr val="dk1"/>
          </a:effectRef>
          <a:fontRef idx="minor">
            <a:schemeClr val="tx1"/>
          </a:fontRef>
        </p:style>
      </p:cxnSp>
      <p:cxnSp>
        <p:nvCxnSpPr>
          <p:cNvPr id="60" name="Straight Arrow Connector 59">
            <a:extLst>
              <a:ext uri="{FF2B5EF4-FFF2-40B4-BE49-F238E27FC236}">
                <a16:creationId xmlns:a16="http://schemas.microsoft.com/office/drawing/2014/main" id="{BEC31616-1530-4986-9426-4DDB4E4728A9}"/>
              </a:ext>
            </a:extLst>
          </p:cNvPr>
          <p:cNvCxnSpPr>
            <a:cxnSpLocks/>
          </p:cNvCxnSpPr>
          <p:nvPr/>
        </p:nvCxnSpPr>
        <p:spPr>
          <a:xfrm flipH="1">
            <a:off x="3658837" y="3204219"/>
            <a:ext cx="2891156" cy="354825"/>
          </a:xfrm>
          <a:prstGeom prst="straightConnector1">
            <a:avLst/>
          </a:prstGeom>
          <a:ln w="9525">
            <a:solidFill>
              <a:srgbClr val="C00000"/>
            </a:solidFill>
            <a:prstDash val="sysDash"/>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9049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47" grpId="0" animBg="1"/>
      <p:bldP spid="5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noProof="0" dirty="0"/>
              <a:t>Lerner index – Relationship to Accounting</a:t>
            </a:r>
            <a:br>
              <a:rPr lang="en-US" noProof="0" dirty="0"/>
            </a:br>
            <a:r>
              <a:rPr lang="en-US" sz="2000" noProof="0" dirty="0"/>
              <a:t>(for your notes later, when you take accounting)</a:t>
            </a:r>
            <a:endParaRPr lang="en-US" noProof="0" dirty="0"/>
          </a:p>
        </p:txBody>
      </p:sp>
      <mc:AlternateContent xmlns:mc="http://schemas.openxmlformats.org/markup-compatibility/2006">
        <mc:Choice xmlns:a14="http://schemas.microsoft.com/office/drawing/2010/main" Requires="a14">
          <p:sp>
            <p:nvSpPr>
              <p:cNvPr id="3" name="Content Placeholder 2"/>
              <p:cNvSpPr>
                <a:spLocks noGrp="1"/>
              </p:cNvSpPr>
              <p:nvPr>
                <p:ph type="body" idx="1"/>
              </p:nvPr>
            </p:nvSpPr>
            <p:spPr/>
            <p:txBody>
              <a:bodyPr>
                <a:normAutofit fontScale="92500" lnSpcReduction="10000"/>
              </a:bodyPr>
              <a:lstStyle/>
              <a:p>
                <a:pPr>
                  <a:spcAft>
                    <a:spcPts val="1200"/>
                  </a:spcAft>
                </a:pPr>
                <a:r>
                  <a:rPr lang="en-US" dirty="0"/>
                  <a:t>In Accounting, you’ll see:</a:t>
                </a:r>
              </a:p>
              <a:p>
                <a:endParaRPr lang="en-US" dirty="0"/>
              </a:p>
              <a:p>
                <a:pPr marL="0" indent="0">
                  <a:spcAft>
                    <a:spcPts val="1200"/>
                  </a:spcAft>
                  <a:buNone/>
                </a:pPr>
                <a:r>
                  <a:rPr lang="en-US" b="0" dirty="0"/>
                  <a:t>	Gross Margin =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𝑇𝑅</m:t>
                        </m:r>
                        <m:r>
                          <a:rPr lang="en-US" b="0" i="1" smtClean="0">
                            <a:latin typeface="Cambria Math" panose="02040503050406030204" pitchFamily="18" charset="0"/>
                          </a:rPr>
                          <m:t>−</m:t>
                        </m:r>
                        <m:r>
                          <a:rPr lang="en-US" b="0" i="1" smtClean="0">
                            <a:latin typeface="Cambria Math" panose="02040503050406030204" pitchFamily="18" charset="0"/>
                          </a:rPr>
                          <m:t>𝐶𝑂𝐺𝑆</m:t>
                        </m:r>
                      </m:num>
                      <m:den>
                        <m:r>
                          <a:rPr lang="en-US" b="0" i="1" smtClean="0">
                            <a:latin typeface="Cambria Math" panose="02040503050406030204" pitchFamily="18" charset="0"/>
                          </a:rPr>
                          <m:t>𝑇𝑅</m:t>
                        </m:r>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𝑇𝑅</m:t>
                        </m:r>
                        <m:r>
                          <a:rPr lang="en-US" i="1">
                            <a:latin typeface="Cambria Math" panose="02040503050406030204" pitchFamily="18" charset="0"/>
                          </a:rPr>
                          <m:t>−</m:t>
                        </m:r>
                        <m:r>
                          <a:rPr lang="en-US" i="1">
                            <a:latin typeface="Cambria Math" panose="02040503050406030204" pitchFamily="18" charset="0"/>
                          </a:rPr>
                          <m:t>𝑇𝑉𝐶</m:t>
                        </m:r>
                      </m:num>
                      <m:den>
                        <m:r>
                          <a:rPr lang="en-US" i="1">
                            <a:latin typeface="Cambria Math" panose="02040503050406030204" pitchFamily="18" charset="0"/>
                          </a:rPr>
                          <m:t>𝑇𝑅</m:t>
                        </m:r>
                      </m:den>
                    </m:f>
                  </m:oMath>
                </a14:m>
                <a:endParaRPr lang="en-US" dirty="0"/>
              </a:p>
              <a:p>
                <a:pPr lvl="1"/>
                <a:r>
                  <a:rPr lang="en-US" dirty="0"/>
                  <a:t>Divide by quantity: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𝑇𝑅</m:t>
                        </m:r>
                        <m:r>
                          <a:rPr lang="en-US" i="1">
                            <a:latin typeface="Cambria Math" panose="02040503050406030204" pitchFamily="18" charset="0"/>
                          </a:rPr>
                          <m:t>−</m:t>
                        </m:r>
                        <m:r>
                          <a:rPr lang="en-US" i="1">
                            <a:latin typeface="Cambria Math" panose="02040503050406030204" pitchFamily="18" charset="0"/>
                          </a:rPr>
                          <m:t>𝑇𝑉𝐶</m:t>
                        </m:r>
                      </m:num>
                      <m:den>
                        <m:r>
                          <a:rPr lang="en-US" i="1">
                            <a:latin typeface="Cambria Math" panose="02040503050406030204" pitchFamily="18" charset="0"/>
                          </a:rPr>
                          <m:t>𝑇𝑅</m:t>
                        </m:r>
                      </m:den>
                    </m:f>
                    <m:r>
                      <a:rPr lang="en-US" b="0" i="0" smtClean="0">
                        <a:latin typeface="Cambria Math" panose="02040503050406030204" pitchFamily="18" charset="0"/>
                      </a:rPr>
                      <m:t>=</m:t>
                    </m:r>
                  </m:oMath>
                </a14:m>
                <a:r>
                  <a:rPr lang="en-US" dirty="0"/>
                  <a:t> </a:t>
                </a:r>
                <a14:m>
                  <m:oMath xmlns:m="http://schemas.openxmlformats.org/officeDocument/2006/math">
                    <m:f>
                      <m:fPr>
                        <m:ctrlPr>
                          <a:rPr lang="en-US" i="1">
                            <a:latin typeface="Cambria Math" panose="02040503050406030204" pitchFamily="18" charset="0"/>
                          </a:rPr>
                        </m:ctrlPr>
                      </m:fPr>
                      <m:num>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𝑄</m:t>
                        </m:r>
                        <m:r>
                          <a:rPr lang="en-US" i="1">
                            <a:latin typeface="Cambria Math" panose="02040503050406030204" pitchFamily="18" charset="0"/>
                          </a:rPr>
                          <m:t>−</m:t>
                        </m:r>
                        <m:r>
                          <a:rPr lang="en-US" b="0" i="1" smtClean="0">
                            <a:latin typeface="Cambria Math" panose="02040503050406030204" pitchFamily="18" charset="0"/>
                          </a:rPr>
                          <m:t>𝐴</m:t>
                        </m:r>
                        <m:r>
                          <a:rPr lang="en-US" i="1">
                            <a:latin typeface="Cambria Math" panose="02040503050406030204" pitchFamily="18" charset="0"/>
                          </a:rPr>
                          <m:t>𝑉𝐶</m:t>
                        </m:r>
                        <m:r>
                          <a:rPr lang="en-US" b="0" i="1" smtClean="0">
                            <a:latin typeface="Cambria Math" panose="02040503050406030204" pitchFamily="18" charset="0"/>
                          </a:rPr>
                          <m:t>⋅</m:t>
                        </m:r>
                        <m:r>
                          <a:rPr lang="en-US" b="0" i="1" smtClean="0">
                            <a:latin typeface="Cambria Math" panose="02040503050406030204" pitchFamily="18" charset="0"/>
                          </a:rPr>
                          <m:t>𝑄</m:t>
                        </m:r>
                      </m:num>
                      <m:den>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𝑄</m:t>
                        </m:r>
                      </m:den>
                    </m:f>
                    <m:r>
                      <a:rPr lang="en-US">
                        <a:latin typeface="Cambria Math" panose="02040503050406030204" pitchFamily="18" charset="0"/>
                      </a:rPr>
                      <m:t>=</m:t>
                    </m:r>
                  </m:oMath>
                </a14:m>
                <a:r>
                  <a:rPr lang="en-US" dirty="0"/>
                  <a:t>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𝐴𝑉𝐶</m:t>
                        </m:r>
                      </m:num>
                      <m:den>
                        <m:r>
                          <a:rPr lang="en-US" i="1">
                            <a:latin typeface="Cambria Math" panose="02040503050406030204" pitchFamily="18" charset="0"/>
                          </a:rPr>
                          <m:t>𝑃</m:t>
                        </m:r>
                      </m:den>
                    </m:f>
                  </m:oMath>
                </a14:m>
                <a:endParaRPr lang="en-US" dirty="0"/>
              </a:p>
              <a:p>
                <a:pPr marL="0" indent="0">
                  <a:buNone/>
                </a:pPr>
                <a:endParaRPr lang="en-US" dirty="0"/>
              </a:p>
              <a:p>
                <a:pPr marL="0" indent="0">
                  <a:buNone/>
                </a:pPr>
                <a:r>
                  <a:rPr lang="en-US" dirty="0">
                    <a:sym typeface="Wingdings" panose="05000000000000000000" pitchFamily="2" charset="2"/>
                  </a:rPr>
                  <a:t> </a:t>
                </a:r>
                <a:r>
                  <a:rPr lang="en-US" dirty="0"/>
                  <a:t>Gross Margin </a:t>
                </a:r>
                <a14:m>
                  <m:oMath xmlns:m="http://schemas.openxmlformats.org/officeDocument/2006/math">
                    <m:r>
                      <a:rPr lang="en-US" sz="3000" i="1">
                        <a:latin typeface="Cambria Math" panose="02040503050406030204" pitchFamily="18" charset="0"/>
                      </a:rPr>
                      <m:t>≈</m:t>
                    </m:r>
                  </m:oMath>
                </a14:m>
                <a:r>
                  <a:rPr lang="en-US" sz="3000" dirty="0"/>
                  <a:t> </a:t>
                </a:r>
                <a14:m>
                  <m:oMath xmlns:m="http://schemas.openxmlformats.org/officeDocument/2006/math">
                    <m:f>
                      <m:fPr>
                        <m:ctrlPr>
                          <a:rPr lang="en-US" sz="3000" i="1">
                            <a:latin typeface="Cambria Math" panose="02040503050406030204" pitchFamily="18" charset="0"/>
                          </a:rPr>
                        </m:ctrlPr>
                      </m:fPr>
                      <m:num>
                        <m:r>
                          <a:rPr lang="en-US" sz="3000" i="1">
                            <a:latin typeface="Cambria Math" panose="02040503050406030204" pitchFamily="18" charset="0"/>
                          </a:rPr>
                          <m:t>𝑃</m:t>
                        </m:r>
                        <m:r>
                          <a:rPr lang="en-US" sz="3000" i="1">
                            <a:latin typeface="Cambria Math" panose="02040503050406030204" pitchFamily="18" charset="0"/>
                          </a:rPr>
                          <m:t>−</m:t>
                        </m:r>
                        <m:r>
                          <a:rPr lang="en-US" sz="3000" i="1">
                            <a:latin typeface="Cambria Math" panose="02040503050406030204" pitchFamily="18" charset="0"/>
                          </a:rPr>
                          <m:t>𝐴𝑉𝐶</m:t>
                        </m:r>
                      </m:num>
                      <m:den>
                        <m:r>
                          <a:rPr lang="en-US" sz="3000" i="1">
                            <a:latin typeface="Cambria Math" panose="02040503050406030204" pitchFamily="18" charset="0"/>
                          </a:rPr>
                          <m:t>𝑃</m:t>
                        </m:r>
                      </m:den>
                    </m:f>
                  </m:oMath>
                </a14:m>
                <a:endParaRPr lang="en-US" dirty="0"/>
              </a:p>
              <a:p>
                <a:endParaRPr lang="en-US" dirty="0"/>
              </a:p>
              <a:p>
                <a:r>
                  <a:rPr lang="en-US" sz="2600" dirty="0"/>
                  <a:t>Thus: The Gross Margin is similar to the Lerner Index, but it is measured at </a:t>
                </a:r>
                <a:r>
                  <a:rPr lang="en-US" sz="2600" u="sng" dirty="0"/>
                  <a:t>average</a:t>
                </a:r>
                <a:r>
                  <a:rPr lang="en-US" sz="2600" dirty="0"/>
                  <a:t> instead of </a:t>
                </a:r>
                <a:r>
                  <a:rPr lang="en-US" sz="2600" u="sng" dirty="0"/>
                  <a:t>marginal</a:t>
                </a:r>
                <a:r>
                  <a:rPr lang="en-US" sz="2600" dirty="0"/>
                  <a:t> cost</a:t>
                </a:r>
              </a:p>
              <a:p>
                <a:pPr marL="0" indent="0">
                  <a:spcBef>
                    <a:spcPts val="600"/>
                  </a:spcBef>
                  <a:buNone/>
                </a:pPr>
                <a:r>
                  <a:rPr lang="en-US" sz="2200" dirty="0">
                    <a:sym typeface="Wingdings" panose="05000000000000000000" pitchFamily="2" charset="2"/>
                  </a:rPr>
                  <a:t>	 Economists think at the </a:t>
                </a:r>
                <a:r>
                  <a:rPr lang="en-US" sz="2200" u="sng" dirty="0">
                    <a:sym typeface="Wingdings" panose="05000000000000000000" pitchFamily="2" charset="2"/>
                  </a:rPr>
                  <a:t>margin</a:t>
                </a:r>
                <a:endParaRPr lang="en-US" sz="2200" u="sng" dirty="0"/>
              </a:p>
              <a:p>
                <a:pPr marL="0" indent="0">
                  <a:buNone/>
                </a:pPr>
                <a:endParaRPr lang="en-US" dirty="0"/>
              </a:p>
              <a:p>
                <a:pPr marL="514350" indent="-514350">
                  <a:lnSpc>
                    <a:spcPct val="120000"/>
                  </a:lnSpc>
                  <a:buFont typeface="+mj-lt"/>
                  <a:buAutoNum type="arabicPeriod"/>
                </a:pPr>
                <a:endParaRPr lang="en-US" sz="2813" dirty="0">
                  <a:latin typeface="Whitney-Book" pitchFamily="50" charset="0"/>
                  <a:cs typeface="Whitney-Book" pitchFamily="50" charset="0"/>
                </a:endParaRPr>
              </a:p>
              <a:p>
                <a:pPr marL="914400" lvl="1" indent="-514350">
                  <a:lnSpc>
                    <a:spcPct val="120000"/>
                  </a:lnSpc>
                </a:pPr>
                <a:endParaRPr lang="en-US" sz="2613" noProof="0" dirty="0">
                  <a:latin typeface="Whitney-Book" pitchFamily="50" charset="0"/>
                  <a:cs typeface="Whitney-Book" pitchFamily="50" charset="0"/>
                </a:endParaRPr>
              </a:p>
              <a:p>
                <a:pPr marL="914400" lvl="1" indent="-514350">
                  <a:lnSpc>
                    <a:spcPct val="120000"/>
                  </a:lnSpc>
                </a:pPr>
                <a:endParaRPr lang="en-US" sz="2613" noProof="0" dirty="0">
                  <a:latin typeface="Whitney-Book" pitchFamily="50" charset="0"/>
                  <a:cs typeface="Whitney-Book" pitchFamily="50" charset="0"/>
                </a:endParaRPr>
              </a:p>
              <a:p>
                <a:pPr marL="457200" lvl="1" indent="0">
                  <a:buNone/>
                </a:pPr>
                <a:endParaRPr lang="en-US" noProof="0" dirty="0"/>
              </a:p>
              <a:p>
                <a:pPr lvl="1"/>
                <a:endParaRPr lang="en-US" noProof="0" dirty="0"/>
              </a:p>
              <a:p>
                <a:endParaRPr lang="en-US" noProof="0" dirty="0"/>
              </a:p>
            </p:txBody>
          </p:sp>
        </mc:Choice>
        <mc:Fallback>
          <p:sp>
            <p:nvSpPr>
              <p:cNvPr id="3" name="Content Placeholder 2"/>
              <p:cNvSpPr>
                <a:spLocks noGrp="1" noRot="1" noChangeAspect="1" noMove="1" noResize="1" noEditPoints="1" noAdjustHandles="1" noChangeArrowheads="1" noChangeShapeType="1" noTextEdit="1"/>
              </p:cNvSpPr>
              <p:nvPr>
                <p:ph type="body" idx="1"/>
              </p:nvPr>
            </p:nvSpPr>
            <p:spPr>
              <a:blipFill>
                <a:blip r:embed="rId3"/>
                <a:stretch>
                  <a:fillRect l="-1288" t="-1071" r="-1360"/>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FA7EFB44-E049-40B5-A970-5EE5B80E297F}"/>
              </a:ext>
            </a:extLst>
          </p:cNvPr>
          <p:cNvGrpSpPr/>
          <p:nvPr/>
        </p:nvGrpSpPr>
        <p:grpSpPr>
          <a:xfrm>
            <a:off x="4348687" y="1581675"/>
            <a:ext cx="2201002" cy="705100"/>
            <a:chOff x="1458471" y="3397939"/>
            <a:chExt cx="2201002" cy="70510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783488E-58F4-4F08-A852-F6EB1719695A}"/>
                    </a:ext>
                  </a:extLst>
                </p:cNvPr>
                <p:cNvSpPr txBox="1"/>
                <p:nvPr/>
              </p:nvSpPr>
              <p:spPr>
                <a:xfrm>
                  <a:off x="1926241" y="3397939"/>
                  <a:ext cx="1733232" cy="461665"/>
                </a:xfrm>
                <a:prstGeom prst="rect">
                  <a:avLst/>
                </a:prstGeom>
                <a:noFill/>
                <a:ln>
                  <a:solidFill>
                    <a:schemeClr val="tx1"/>
                  </a:solidFill>
                </a:ln>
              </p:spPr>
              <p:txBody>
                <a:bodyPr wrap="square" rtlCol="0">
                  <a:spAutoFit/>
                </a:bodyPr>
                <a:lstStyle/>
                <a:p>
                  <a:pPr algn="ctr"/>
                  <a:r>
                    <a:rPr lang="en-US" sz="1200" dirty="0">
                      <a:latin typeface="Whitney Book" pitchFamily="50" charset="0"/>
                      <a:cs typeface="Whitney Book" pitchFamily="50" charset="0"/>
                    </a:rPr>
                    <a:t>“Cost of Goods Sold” </a:t>
                  </a:r>
                  <a14:m>
                    <m:oMath xmlns:m="http://schemas.openxmlformats.org/officeDocument/2006/math">
                      <m:r>
                        <a:rPr lang="en-US" sz="1200" i="1">
                          <a:latin typeface="Cambria Math" panose="02040503050406030204" pitchFamily="18" charset="0"/>
                          <a:cs typeface="Whitney Book" pitchFamily="50" charset="0"/>
                        </a:rPr>
                        <m:t>≈</m:t>
                      </m:r>
                    </m:oMath>
                  </a14:m>
                  <a:r>
                    <a:rPr lang="en-US" sz="1200" i="1" dirty="0">
                      <a:latin typeface="Whitney Book" pitchFamily="50" charset="0"/>
                      <a:cs typeface="Whitney Book" pitchFamily="50" charset="0"/>
                    </a:rPr>
                    <a:t>TVC</a:t>
                  </a:r>
                </a:p>
              </p:txBody>
            </p:sp>
          </mc:Choice>
          <mc:Fallback xmlns="">
            <p:sp>
              <p:nvSpPr>
                <p:cNvPr id="5" name="TextBox 4">
                  <a:extLst>
                    <a:ext uri="{FF2B5EF4-FFF2-40B4-BE49-F238E27FC236}">
                      <a16:creationId xmlns:a16="http://schemas.microsoft.com/office/drawing/2014/main" id="{F783488E-58F4-4F08-A852-F6EB1719695A}"/>
                    </a:ext>
                  </a:extLst>
                </p:cNvPr>
                <p:cNvSpPr txBox="1">
                  <a:spLocks noRot="1" noChangeAspect="1" noMove="1" noResize="1" noEditPoints="1" noAdjustHandles="1" noChangeArrowheads="1" noChangeShapeType="1" noTextEdit="1"/>
                </p:cNvSpPr>
                <p:nvPr/>
              </p:nvSpPr>
              <p:spPr>
                <a:xfrm>
                  <a:off x="1926241" y="3397939"/>
                  <a:ext cx="1733232" cy="461665"/>
                </a:xfrm>
                <a:prstGeom prst="rect">
                  <a:avLst/>
                </a:prstGeom>
                <a:blipFill>
                  <a:blip r:embed="rId4"/>
                  <a:stretch>
                    <a:fillRect b="-7692"/>
                  </a:stretch>
                </a:blipFill>
                <a:ln>
                  <a:solidFill>
                    <a:schemeClr val="tx1"/>
                  </a:solidFill>
                </a:ln>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F52D9158-1BCC-42CB-AFBA-3E1DEC507024}"/>
                </a:ext>
              </a:extLst>
            </p:cNvPr>
            <p:cNvCxnSpPr>
              <a:cxnSpLocks/>
            </p:cNvCxnSpPr>
            <p:nvPr/>
          </p:nvCxnSpPr>
          <p:spPr>
            <a:xfrm flipH="1">
              <a:off x="1458471" y="3688369"/>
              <a:ext cx="467770" cy="41467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9" name="Group 8">
            <a:extLst>
              <a:ext uri="{FF2B5EF4-FFF2-40B4-BE49-F238E27FC236}">
                <a16:creationId xmlns:a16="http://schemas.microsoft.com/office/drawing/2014/main" id="{A6B5A3D4-16F4-41F4-81BE-82A3AA7C723D}"/>
              </a:ext>
            </a:extLst>
          </p:cNvPr>
          <p:cNvGrpSpPr/>
          <p:nvPr/>
        </p:nvGrpSpPr>
        <p:grpSpPr>
          <a:xfrm>
            <a:off x="7046583" y="2264037"/>
            <a:ext cx="1616211" cy="722050"/>
            <a:chOff x="2792857" y="3397939"/>
            <a:chExt cx="1616211" cy="722050"/>
          </a:xfrm>
        </p:grpSpPr>
        <p:sp>
          <p:nvSpPr>
            <p:cNvPr id="10" name="TextBox 9">
              <a:extLst>
                <a:ext uri="{FF2B5EF4-FFF2-40B4-BE49-F238E27FC236}">
                  <a16:creationId xmlns:a16="http://schemas.microsoft.com/office/drawing/2014/main" id="{AC139F73-59DB-4065-B018-C24F99EE4CAF}"/>
                </a:ext>
              </a:extLst>
            </p:cNvPr>
            <p:cNvSpPr txBox="1"/>
            <p:nvPr/>
          </p:nvSpPr>
          <p:spPr>
            <a:xfrm>
              <a:off x="2792857" y="3397939"/>
              <a:ext cx="1616211" cy="261610"/>
            </a:xfrm>
            <a:prstGeom prst="rect">
              <a:avLst/>
            </a:prstGeom>
            <a:noFill/>
            <a:ln>
              <a:solidFill>
                <a:schemeClr val="tx1"/>
              </a:solidFill>
            </a:ln>
          </p:spPr>
          <p:txBody>
            <a:bodyPr wrap="square" rtlCol="0">
              <a:spAutoFit/>
            </a:bodyPr>
            <a:lstStyle/>
            <a:p>
              <a:pPr algn="ctr"/>
              <a:r>
                <a:rPr lang="en-US" sz="1100" i="1" dirty="0">
                  <a:latin typeface="Whitney Book" pitchFamily="50" charset="0"/>
                  <a:cs typeface="Whitney Book" pitchFamily="50" charset="0"/>
                </a:rPr>
                <a:t>Average variable cost</a:t>
              </a:r>
            </a:p>
          </p:txBody>
        </p:sp>
        <p:cxnSp>
          <p:nvCxnSpPr>
            <p:cNvPr id="11" name="Straight Arrow Connector 10">
              <a:extLst>
                <a:ext uri="{FF2B5EF4-FFF2-40B4-BE49-F238E27FC236}">
                  <a16:creationId xmlns:a16="http://schemas.microsoft.com/office/drawing/2014/main" id="{64993B31-D745-4B6F-A7B7-B98BA21CF2F2}"/>
                </a:ext>
              </a:extLst>
            </p:cNvPr>
            <p:cNvCxnSpPr>
              <a:cxnSpLocks/>
            </p:cNvCxnSpPr>
            <p:nvPr/>
          </p:nvCxnSpPr>
          <p:spPr>
            <a:xfrm flipH="1">
              <a:off x="3093372" y="3659549"/>
              <a:ext cx="449080" cy="46044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14" name="Group 13">
            <a:extLst>
              <a:ext uri="{FF2B5EF4-FFF2-40B4-BE49-F238E27FC236}">
                <a16:creationId xmlns:a16="http://schemas.microsoft.com/office/drawing/2014/main" id="{4AA69BC2-0A9A-45E6-B408-61340F2022A0}"/>
              </a:ext>
            </a:extLst>
          </p:cNvPr>
          <p:cNvGrpSpPr/>
          <p:nvPr/>
        </p:nvGrpSpPr>
        <p:grpSpPr>
          <a:xfrm>
            <a:off x="5443453" y="3104805"/>
            <a:ext cx="1028649" cy="641854"/>
            <a:chOff x="5358812" y="3655174"/>
            <a:chExt cx="1028649" cy="641854"/>
          </a:xfrm>
        </p:grpSpPr>
        <p:cxnSp>
          <p:nvCxnSpPr>
            <p:cNvPr id="8" name="Straight Connector 7">
              <a:extLst>
                <a:ext uri="{FF2B5EF4-FFF2-40B4-BE49-F238E27FC236}">
                  <a16:creationId xmlns:a16="http://schemas.microsoft.com/office/drawing/2014/main" id="{CB3EBACB-6A1A-4268-B536-DF0DA9E0F548}"/>
                </a:ext>
              </a:extLst>
            </p:cNvPr>
            <p:cNvCxnSpPr/>
            <p:nvPr/>
          </p:nvCxnSpPr>
          <p:spPr>
            <a:xfrm flipV="1">
              <a:off x="5358812" y="3658705"/>
              <a:ext cx="180753" cy="275342"/>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DEE492C4-9EF5-4CC8-ACD4-03382F763372}"/>
                </a:ext>
              </a:extLst>
            </p:cNvPr>
            <p:cNvCxnSpPr/>
            <p:nvPr/>
          </p:nvCxnSpPr>
          <p:spPr>
            <a:xfrm flipV="1">
              <a:off x="5777025" y="4021686"/>
              <a:ext cx="180753" cy="275342"/>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6439F0AE-E92A-41D0-8CA0-4E767831A9DC}"/>
                </a:ext>
              </a:extLst>
            </p:cNvPr>
            <p:cNvCxnSpPr/>
            <p:nvPr/>
          </p:nvCxnSpPr>
          <p:spPr>
            <a:xfrm flipV="1">
              <a:off x="6206708" y="3655174"/>
              <a:ext cx="180753" cy="275342"/>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16" name="Group 15">
            <a:extLst>
              <a:ext uri="{FF2B5EF4-FFF2-40B4-BE49-F238E27FC236}">
                <a16:creationId xmlns:a16="http://schemas.microsoft.com/office/drawing/2014/main" id="{483AB6BD-EAFC-461E-8AE7-48F7745094E2}"/>
              </a:ext>
            </a:extLst>
          </p:cNvPr>
          <p:cNvGrpSpPr/>
          <p:nvPr/>
        </p:nvGrpSpPr>
        <p:grpSpPr>
          <a:xfrm>
            <a:off x="5692186" y="4001889"/>
            <a:ext cx="2970608" cy="610936"/>
            <a:chOff x="5692186" y="4001889"/>
            <a:chExt cx="2970608" cy="610936"/>
          </a:xfrm>
        </p:grpSpPr>
        <mc:AlternateContent xmlns:mc="http://schemas.openxmlformats.org/markup-compatibility/2006">
          <mc:Choice xmlns:a14="http://schemas.microsoft.com/office/drawing/2010/main" Requires="a14">
            <p:sp>
              <p:nvSpPr>
                <p:cNvPr id="7" name="Rectangle 6">
                  <a:extLst>
                    <a:ext uri="{FF2B5EF4-FFF2-40B4-BE49-F238E27FC236}">
                      <a16:creationId xmlns:a16="http://schemas.microsoft.com/office/drawing/2014/main" id="{3493232C-E2D9-42D2-B037-D1CE4FA5244E}"/>
                    </a:ext>
                  </a:extLst>
                </p:cNvPr>
                <p:cNvSpPr/>
                <p:nvPr/>
              </p:nvSpPr>
              <p:spPr>
                <a:xfrm>
                  <a:off x="7656044" y="4001889"/>
                  <a:ext cx="1006750" cy="610936"/>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𝑃</m:t>
                            </m:r>
                            <m:r>
                              <a:rPr lang="en-US" i="1">
                                <a:latin typeface="Cambria Math" panose="02040503050406030204" pitchFamily="18" charset="0"/>
                              </a:rPr>
                              <m:t>−</m:t>
                            </m:r>
                            <m:r>
                              <a:rPr lang="en-US" i="1" smtClean="0">
                                <a:solidFill>
                                  <a:srgbClr val="FF0000"/>
                                </a:solidFill>
                                <a:latin typeface="Cambria Math" panose="02040503050406030204" pitchFamily="18" charset="0"/>
                              </a:rPr>
                              <m:t>𝑀𝐶</m:t>
                            </m:r>
                          </m:num>
                          <m:den>
                            <m:r>
                              <a:rPr lang="en-US" i="1">
                                <a:latin typeface="Cambria Math" panose="02040503050406030204" pitchFamily="18" charset="0"/>
                              </a:rPr>
                              <m:t>𝑃</m:t>
                            </m:r>
                          </m:den>
                        </m:f>
                      </m:oMath>
                    </m:oMathPara>
                  </a14:m>
                  <a:endParaRPr lang="en-US" dirty="0"/>
                </a:p>
              </p:txBody>
            </p:sp>
          </mc:Choice>
          <mc:Fallback>
            <p:sp>
              <p:nvSpPr>
                <p:cNvPr id="7" name="Rectangle 6">
                  <a:extLst>
                    <a:ext uri="{FF2B5EF4-FFF2-40B4-BE49-F238E27FC236}">
                      <a16:creationId xmlns:a16="http://schemas.microsoft.com/office/drawing/2014/main" id="{3493232C-E2D9-42D2-B037-D1CE4FA5244E}"/>
                    </a:ext>
                  </a:extLst>
                </p:cNvPr>
                <p:cNvSpPr>
                  <a:spLocks noRot="1" noChangeAspect="1" noMove="1" noResize="1" noEditPoints="1" noAdjustHandles="1" noChangeArrowheads="1" noChangeShapeType="1" noTextEdit="1"/>
                </p:cNvSpPr>
                <p:nvPr/>
              </p:nvSpPr>
              <p:spPr>
                <a:xfrm>
                  <a:off x="7656044" y="4001889"/>
                  <a:ext cx="1006750" cy="610936"/>
                </a:xfrm>
                <a:prstGeom prst="rect">
                  <a:avLst/>
                </a:prstGeom>
                <a:blipFill>
                  <a:blip r:embed="rId5"/>
                  <a:stretch>
                    <a:fillRect/>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D234EA88-5D05-476E-9B99-BF766BE2F26F}"/>
                </a:ext>
              </a:extLst>
            </p:cNvPr>
            <p:cNvSpPr txBox="1"/>
            <p:nvPr/>
          </p:nvSpPr>
          <p:spPr>
            <a:xfrm>
              <a:off x="5692186" y="4043492"/>
              <a:ext cx="2039046" cy="461665"/>
            </a:xfrm>
            <a:prstGeom prst="rect">
              <a:avLst/>
            </a:prstGeom>
            <a:noFill/>
            <a:ln>
              <a:noFill/>
            </a:ln>
          </p:spPr>
          <p:txBody>
            <a:bodyPr wrap="square" rtlCol="0">
              <a:spAutoFit/>
            </a:bodyPr>
            <a:lstStyle/>
            <a:p>
              <a:pPr algn="ctr"/>
              <a:r>
                <a:rPr lang="en-US" sz="2400" dirty="0">
                  <a:latin typeface="Whitney Book" pitchFamily="50" charset="0"/>
                  <a:cs typeface="Whitney Book" pitchFamily="50" charset="0"/>
                </a:rPr>
                <a:t>Learner Index: </a:t>
              </a:r>
              <a:endParaRPr lang="en-US" sz="2400" i="1" dirty="0">
                <a:latin typeface="Whitney Book" pitchFamily="50" charset="0"/>
                <a:cs typeface="Whitney Book" pitchFamily="50" charset="0"/>
              </a:endParaRPr>
            </a:p>
          </p:txBody>
        </p:sp>
      </p:grpSp>
    </p:spTree>
    <p:extLst>
      <p:ext uri="{BB962C8B-B14F-4D97-AF65-F5344CB8AC3E}">
        <p14:creationId xmlns:p14="http://schemas.microsoft.com/office/powerpoint/2010/main" val="2740999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45615-BF15-4EBF-9D5B-6705BCCCC09B}"/>
              </a:ext>
            </a:extLst>
          </p:cNvPr>
          <p:cNvSpPr>
            <a:spLocks noGrp="1"/>
          </p:cNvSpPr>
          <p:nvPr>
            <p:ph type="title"/>
          </p:nvPr>
        </p:nvSpPr>
        <p:spPr/>
        <p:txBody>
          <a:bodyPr/>
          <a:lstStyle/>
          <a:p>
            <a:r>
              <a:rPr lang="en-US" dirty="0"/>
              <a:t>Firm and market elasticity</a:t>
            </a:r>
          </a:p>
        </p:txBody>
      </p:sp>
      <p:sp>
        <p:nvSpPr>
          <p:cNvPr id="3" name="Content Placeholder 2">
            <a:extLst>
              <a:ext uri="{FF2B5EF4-FFF2-40B4-BE49-F238E27FC236}">
                <a16:creationId xmlns:a16="http://schemas.microsoft.com/office/drawing/2014/main" id="{E27A2468-5BD6-4AA0-805C-46482AB008C8}"/>
              </a:ext>
            </a:extLst>
          </p:cNvPr>
          <p:cNvSpPr>
            <a:spLocks noGrp="1"/>
          </p:cNvSpPr>
          <p:nvPr>
            <p:ph type="body" idx="1"/>
          </p:nvPr>
        </p:nvSpPr>
        <p:spPr/>
        <p:txBody>
          <a:bodyPr/>
          <a:lstStyle/>
          <a:p>
            <a:pPr marL="0" marR="0">
              <a:spcBef>
                <a:spcPts val="0"/>
              </a:spcBef>
              <a:spcAft>
                <a:spcPts val="0"/>
              </a:spcAft>
            </a:pPr>
            <a:r>
              <a:rPr lang="en-US" dirty="0">
                <a:effectLst/>
                <a:latin typeface="Whitney-Book" pitchFamily="50" charset="0"/>
                <a:ea typeface="Times New Roman" panose="02020603050405020304" pitchFamily="18" charset="0"/>
              </a:rPr>
              <a:t>Note that the Lerner index is calculated based on the </a:t>
            </a:r>
            <a:r>
              <a:rPr lang="en-US" u="sng" dirty="0">
                <a:effectLst/>
                <a:latin typeface="Whitney-Book" pitchFamily="50" charset="0"/>
                <a:ea typeface="Times New Roman" panose="02020603050405020304" pitchFamily="18" charset="0"/>
              </a:rPr>
              <a:t>firm</a:t>
            </a:r>
            <a:r>
              <a:rPr lang="en-US" dirty="0">
                <a:effectLst/>
                <a:latin typeface="Whitney-Book" pitchFamily="50" charset="0"/>
                <a:ea typeface="Times New Roman" panose="02020603050405020304" pitchFamily="18" charset="0"/>
              </a:rPr>
              <a:t> elasticity</a:t>
            </a:r>
          </a:p>
          <a:p>
            <a:pPr marL="0" marR="0" indent="0">
              <a:spcBef>
                <a:spcPts val="2400"/>
              </a:spcBef>
              <a:spcAft>
                <a:spcPts val="0"/>
              </a:spcAft>
              <a:buNone/>
            </a:pPr>
            <a:r>
              <a:rPr lang="en-US" u="sng" dirty="0">
                <a:latin typeface="Whitney-Book" pitchFamily="50" charset="0"/>
                <a:ea typeface="Times New Roman" panose="02020603050405020304" pitchFamily="18" charset="0"/>
              </a:rPr>
              <a:t>Important</a:t>
            </a:r>
            <a:r>
              <a:rPr lang="en-US" dirty="0">
                <a:latin typeface="Whitney-Book" pitchFamily="50" charset="0"/>
                <a:ea typeface="Times New Roman" panose="02020603050405020304" pitchFamily="18" charset="0"/>
              </a:rPr>
              <a:t>: </a:t>
            </a:r>
            <a:endParaRPr lang="en-US" dirty="0">
              <a:effectLst/>
              <a:latin typeface="Whitney-Book" pitchFamily="50" charset="0"/>
              <a:ea typeface="Times New Roman" panose="02020603050405020304" pitchFamily="18" charset="0"/>
            </a:endParaRPr>
          </a:p>
          <a:p>
            <a:pPr marL="0" marR="0">
              <a:spcBef>
                <a:spcPts val="1200"/>
              </a:spcBef>
              <a:spcAft>
                <a:spcPts val="0"/>
              </a:spcAft>
            </a:pPr>
            <a:r>
              <a:rPr lang="en-US" sz="2400" dirty="0">
                <a:effectLst/>
                <a:latin typeface="Whitney-Book" pitchFamily="50" charset="0"/>
                <a:ea typeface="Times New Roman" panose="02020603050405020304" pitchFamily="18" charset="0"/>
              </a:rPr>
              <a:t>Firm and market elasticity are generally different</a:t>
            </a:r>
            <a:endParaRPr lang="en-US" sz="2400" dirty="0">
              <a:effectLst/>
              <a:latin typeface="Whitney-Book" pitchFamily="50" charset="0"/>
              <a:ea typeface="Calibri" panose="020F0502020204030204" pitchFamily="34" charset="0"/>
            </a:endParaRPr>
          </a:p>
          <a:p>
            <a:pPr marL="0" marR="0">
              <a:spcBef>
                <a:spcPts val="1200"/>
              </a:spcBef>
              <a:spcAft>
                <a:spcPts val="0"/>
              </a:spcAft>
            </a:pPr>
            <a:r>
              <a:rPr lang="en-US" sz="2400" b="1" dirty="0">
                <a:effectLst/>
                <a:latin typeface="Whitney-Book" pitchFamily="50" charset="0"/>
                <a:ea typeface="Times New Roman" panose="02020603050405020304" pitchFamily="18" charset="0"/>
              </a:rPr>
              <a:t>Firm elasticity tends to be larger than market elasticity,</a:t>
            </a:r>
            <a:r>
              <a:rPr lang="en-US" sz="2400" dirty="0">
                <a:effectLst/>
                <a:latin typeface="Whitney-Book" pitchFamily="50" charset="0"/>
                <a:ea typeface="Times New Roman" panose="02020603050405020304" pitchFamily="18" charset="0"/>
              </a:rPr>
              <a:t> especially if there are many firms competing in an industry </a:t>
            </a:r>
            <a:endParaRPr lang="en-US" sz="2400" dirty="0">
              <a:effectLst/>
              <a:latin typeface="Whitney-Book" pitchFamily="50" charset="0"/>
              <a:ea typeface="Calibri" panose="020F0502020204030204" pitchFamily="34" charset="0"/>
            </a:endParaRPr>
          </a:p>
          <a:p>
            <a:pPr marL="0" marR="0">
              <a:spcBef>
                <a:spcPts val="1200"/>
              </a:spcBef>
              <a:spcAft>
                <a:spcPts val="0"/>
              </a:spcAft>
            </a:pPr>
            <a:r>
              <a:rPr lang="en-US" sz="2400" dirty="0">
                <a:effectLst/>
                <a:latin typeface="Whitney-Book" pitchFamily="50" charset="0"/>
                <a:ea typeface="Times New Roman" panose="02020603050405020304" pitchFamily="18" charset="0"/>
              </a:rPr>
              <a:t>Across firms, those with more differentiated products tend to face lower elasticities</a:t>
            </a:r>
            <a:endParaRPr lang="en-US" sz="2400" dirty="0">
              <a:effectLst/>
              <a:latin typeface="Whitney-Book" pitchFamily="50" charset="0"/>
              <a:ea typeface="Calibri" panose="020F0502020204030204" pitchFamily="34" charset="0"/>
            </a:endParaRPr>
          </a:p>
          <a:p>
            <a:endParaRPr lang="en-US" dirty="0"/>
          </a:p>
        </p:txBody>
      </p:sp>
    </p:spTree>
    <p:extLst>
      <p:ext uri="{BB962C8B-B14F-4D97-AF65-F5344CB8AC3E}">
        <p14:creationId xmlns:p14="http://schemas.microsoft.com/office/powerpoint/2010/main" val="100440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Mark-up and elasticity</a:t>
            </a:r>
            <a:endParaRPr lang="en-US" noProof="0" dirty="0"/>
          </a:p>
        </p:txBody>
      </p:sp>
      <p:sp>
        <p:nvSpPr>
          <p:cNvPr id="3" name="Content Placeholder 2"/>
          <p:cNvSpPr>
            <a:spLocks noGrp="1"/>
          </p:cNvSpPr>
          <p:nvPr>
            <p:ph type="body" idx="1"/>
          </p:nvPr>
        </p:nvSpPr>
        <p:spPr>
          <a:xfrm>
            <a:off x="387900" y="1536633"/>
            <a:ext cx="4524342" cy="4555200"/>
          </a:xfrm>
        </p:spPr>
        <p:txBody>
          <a:bodyPr>
            <a:normAutofit fontScale="92500" lnSpcReduction="10000"/>
          </a:bodyPr>
          <a:lstStyle/>
          <a:p>
            <a:endParaRPr lang="en-US" dirty="0"/>
          </a:p>
          <a:p>
            <a:r>
              <a:rPr lang="en-US" dirty="0"/>
              <a:t>Coca Cola’s demand elasticity is -4.1</a:t>
            </a:r>
          </a:p>
          <a:p>
            <a:pPr>
              <a:spcBef>
                <a:spcPts val="600"/>
              </a:spcBef>
            </a:pPr>
            <a:r>
              <a:rPr lang="en-US" dirty="0"/>
              <a:t>Dr. Brown’s </a:t>
            </a:r>
            <a:r>
              <a:rPr lang="en-US" dirty="0" err="1"/>
              <a:t>Cel</a:t>
            </a:r>
            <a:r>
              <a:rPr lang="en-US" dirty="0"/>
              <a:t>-Ray has a demand elasticity of -2.0</a:t>
            </a:r>
          </a:p>
          <a:p>
            <a:endParaRPr lang="en-US" dirty="0"/>
          </a:p>
          <a:p>
            <a:r>
              <a:rPr lang="en-US" dirty="0"/>
              <a:t>What is the % of the price that is due to markup for the two products?</a:t>
            </a:r>
          </a:p>
          <a:p>
            <a:pPr>
              <a:spcBef>
                <a:spcPts val="600"/>
              </a:spcBef>
            </a:pPr>
            <a:r>
              <a:rPr lang="en-US" sz="2000" dirty="0"/>
              <a:t>Note: You may assume that elasticities are for the profit-maximizing P and Q. </a:t>
            </a:r>
          </a:p>
          <a:p>
            <a:endParaRPr lang="en-US" dirty="0"/>
          </a:p>
          <a:p>
            <a:pPr>
              <a:lnSpc>
                <a:spcPct val="120000"/>
              </a:lnSpc>
            </a:pPr>
            <a:endParaRPr lang="en-US" dirty="0"/>
          </a:p>
          <a:p>
            <a:pPr marL="342900" lvl="1" indent="-342900">
              <a:lnSpc>
                <a:spcPct val="120000"/>
              </a:lnSpc>
            </a:pPr>
            <a:endParaRPr lang="en-US" sz="2800" dirty="0"/>
          </a:p>
          <a:p>
            <a:pPr marL="342900" lvl="1" indent="-342900">
              <a:lnSpc>
                <a:spcPct val="120000"/>
              </a:lnSpc>
            </a:pPr>
            <a:endParaRPr lang="en-US" sz="2800" dirty="0"/>
          </a:p>
          <a:p>
            <a:pPr marL="342900" lvl="1" indent="-342900"/>
            <a:endParaRPr lang="en-US" sz="2800" dirty="0"/>
          </a:p>
          <a:p>
            <a:pPr lvl="1"/>
            <a:endParaRPr lang="en-US" noProof="0" dirty="0"/>
          </a:p>
          <a:p>
            <a:endParaRPr lang="en-US" noProof="0" dirty="0"/>
          </a:p>
        </p:txBody>
      </p:sp>
      <p:pic>
        <p:nvPicPr>
          <p:cNvPr id="4" name="Picture Placeholder 3" descr="A photo shows a bottle of soda. Text on the bottle reads, Doctor Brown’s Cel Ray.">
            <a:extLst>
              <a:ext uri="{FF2B5EF4-FFF2-40B4-BE49-F238E27FC236}">
                <a16:creationId xmlns:a16="http://schemas.microsoft.com/office/drawing/2014/main" id="{0D5A5A4F-F5A0-48D9-AFF8-189FE75D6D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5307" y="1595699"/>
            <a:ext cx="1811561" cy="3642652"/>
          </a:xfrm>
          <a:prstGeom prst="rect">
            <a:avLst/>
          </a:prstGeom>
        </p:spPr>
      </p:pic>
      <p:pic>
        <p:nvPicPr>
          <p:cNvPr id="5" name="Picture 4">
            <a:extLst>
              <a:ext uri="{FF2B5EF4-FFF2-40B4-BE49-F238E27FC236}">
                <a16:creationId xmlns:a16="http://schemas.microsoft.com/office/drawing/2014/main" id="{F066AC70-9774-4F60-A0E1-7A06E91D1A5E}"/>
              </a:ext>
            </a:extLst>
          </p:cNvPr>
          <p:cNvPicPr>
            <a:picLocks noChangeAspect="1"/>
          </p:cNvPicPr>
          <p:nvPr/>
        </p:nvPicPr>
        <p:blipFill>
          <a:blip r:embed="rId4"/>
          <a:stretch>
            <a:fillRect/>
          </a:stretch>
        </p:blipFill>
        <p:spPr>
          <a:xfrm>
            <a:off x="5152914" y="1595699"/>
            <a:ext cx="2002393" cy="3666601"/>
          </a:xfrm>
          <a:prstGeom prst="rect">
            <a:avLst/>
          </a:prstGeom>
        </p:spPr>
      </p:pic>
      <p:sp>
        <p:nvSpPr>
          <p:cNvPr id="8" name="Parallelogram 7">
            <a:extLst>
              <a:ext uri="{FF2B5EF4-FFF2-40B4-BE49-F238E27FC236}">
                <a16:creationId xmlns:a16="http://schemas.microsoft.com/office/drawing/2014/main" id="{F66B3FEF-C589-4B2F-8325-0397A4B66B6D}"/>
              </a:ext>
            </a:extLst>
          </p:cNvPr>
          <p:cNvSpPr/>
          <p:nvPr/>
        </p:nvSpPr>
        <p:spPr>
          <a:xfrm>
            <a:off x="6237170" y="6097419"/>
            <a:ext cx="2449629" cy="687801"/>
          </a:xfrm>
          <a:prstGeom prst="parallelogram">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50000" t="50000" r="50000" b="50000"/>
            </a:path>
            <a:tileRect/>
          </a:gradFill>
          <a:ln>
            <a:noFill/>
          </a:ln>
        </p:spPr>
        <p:style>
          <a:lnRef idx="1">
            <a:schemeClr val="accent2"/>
          </a:lnRef>
          <a:fillRef idx="3">
            <a:schemeClr val="accent2"/>
          </a:fillRef>
          <a:effectRef idx="2">
            <a:schemeClr val="accent2"/>
          </a:effectRef>
          <a:fontRef idx="minor">
            <a:schemeClr val="lt1"/>
          </a:fontRef>
        </p:style>
        <p:txBody>
          <a:bodyPr rtlCol="0" anchor="ctr"/>
          <a:lstStyle/>
          <a:p>
            <a:pPr>
              <a:defRPr/>
            </a:pPr>
            <a:r>
              <a:rPr lang="en-US" sz="3200" b="1" i="1" dirty="0">
                <a:solidFill>
                  <a:prstClr val="white"/>
                </a:solidFill>
              </a:rPr>
              <a:t>Poll Break</a:t>
            </a:r>
          </a:p>
        </p:txBody>
      </p:sp>
    </p:spTree>
    <p:extLst>
      <p:ext uri="{BB962C8B-B14F-4D97-AF65-F5344CB8AC3E}">
        <p14:creationId xmlns:p14="http://schemas.microsoft.com/office/powerpoint/2010/main" val="469882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85DF290-8C41-42A3-AE12-D9D678D0A859}"/>
              </a:ext>
            </a:extLst>
          </p:cNvPr>
          <p:cNvPicPr>
            <a:picLocks/>
          </p:cNvPicPr>
          <p:nvPr>
            <p:custDataLst>
              <p:tags r:id="rId1"/>
            </p:custDataLst>
          </p:nvPr>
        </p:nvPicPr>
        <p:blipFill>
          <a:blip r:embed="rId4"/>
          <a:stretch>
            <a:fillRect/>
          </a:stretch>
        </p:blipFill>
        <p:spPr>
          <a:xfrm>
            <a:off x="190500" y="190500"/>
            <a:ext cx="8763000" cy="6477000"/>
          </a:xfrm>
          <a:prstGeom prst="rect">
            <a:avLst/>
          </a:prstGeom>
        </p:spPr>
      </p:pic>
    </p:spTree>
    <p:extLst>
      <p:ext uri="{BB962C8B-B14F-4D97-AF65-F5344CB8AC3E}">
        <p14:creationId xmlns:p14="http://schemas.microsoft.com/office/powerpoint/2010/main" val="4108942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endParaRPr lang="en-US" noProof="0" dirty="0"/>
          </a:p>
        </p:txBody>
      </p:sp>
      <mc:AlternateContent xmlns:mc="http://schemas.openxmlformats.org/markup-compatibility/2006" xmlns:a14="http://schemas.microsoft.com/office/drawing/2010/main">
        <mc:Choice Requires="a14">
          <p:sp>
            <p:nvSpPr>
              <p:cNvPr id="3" name="Content Placeholder 2"/>
              <p:cNvSpPr>
                <a:spLocks noGrp="1"/>
              </p:cNvSpPr>
              <p:nvPr>
                <p:ph type="body" idx="1"/>
              </p:nvPr>
            </p:nvSpPr>
            <p:spPr/>
            <p:txBody>
              <a:bodyPr>
                <a:normAutofit/>
              </a:bodyPr>
              <a:lstStyle/>
              <a:p>
                <a:pPr marL="0" indent="0">
                  <a:buNone/>
                </a:pPr>
                <a:endParaRPr lang="en-US" dirty="0"/>
              </a:p>
              <a:p>
                <a:r>
                  <a:rPr lang="en-US" dirty="0"/>
                  <a:t>Use the Lerner Index: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𝑀𝐶</m:t>
                        </m:r>
                      </m:num>
                      <m:den>
                        <m:r>
                          <a:rPr lang="en-US" i="1">
                            <a:latin typeface="Cambria Math" panose="02040503050406030204" pitchFamily="18" charset="0"/>
                          </a:rPr>
                          <m:t>𝑃</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𝐸</m:t>
                            </m:r>
                          </m:e>
                          <m:sub>
                            <m:r>
                              <a:rPr lang="en-US" i="1">
                                <a:latin typeface="Cambria Math" panose="02040503050406030204" pitchFamily="18" charset="0"/>
                              </a:rPr>
                              <m:t>𝐷</m:t>
                            </m:r>
                          </m:sub>
                        </m:sSub>
                        <m:r>
                          <a:rPr lang="en-US" i="1">
                            <a:latin typeface="Cambria Math" panose="02040503050406030204" pitchFamily="18" charset="0"/>
                          </a:rPr>
                          <m:t>|</m:t>
                        </m:r>
                      </m:den>
                    </m:f>
                  </m:oMath>
                </a14:m>
                <a:endParaRPr lang="en-US" dirty="0"/>
              </a:p>
              <a:p>
                <a:pPr lvl="1"/>
                <a:r>
                  <a:rPr lang="en-US" sz="2200" dirty="0"/>
                  <a:t>% Markup for Coke: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sSub>
                          <m:sSubPr>
                            <m:ctrlPr>
                              <a:rPr lang="en-US" sz="2400" i="1">
                                <a:latin typeface="Cambria Math" panose="02040503050406030204" pitchFamily="18" charset="0"/>
                              </a:rPr>
                            </m:ctrlPr>
                          </m:sSubPr>
                          <m:e>
                            <m:r>
                              <a:rPr lang="en-US" sz="2400" i="1">
                                <a:latin typeface="Cambria Math" panose="02040503050406030204" pitchFamily="18" charset="0"/>
                              </a:rPr>
                              <m:t>|</m:t>
                            </m:r>
                            <m:r>
                              <a:rPr lang="en-US" sz="2400" i="1">
                                <a:latin typeface="Cambria Math" panose="02040503050406030204" pitchFamily="18" charset="0"/>
                              </a:rPr>
                              <m:t>𝐸</m:t>
                            </m:r>
                          </m:e>
                          <m:sub>
                            <m:r>
                              <a:rPr lang="en-US" sz="2400" i="1">
                                <a:latin typeface="Cambria Math" panose="02040503050406030204" pitchFamily="18" charset="0"/>
                              </a:rPr>
                              <m:t>𝐷</m:t>
                            </m:r>
                          </m:sub>
                        </m:sSub>
                        <m:r>
                          <a:rPr lang="en-US" sz="2400" i="1">
                            <a:latin typeface="Cambria Math" panose="02040503050406030204" pitchFamily="18" charset="0"/>
                          </a:rPr>
                          <m:t>|</m:t>
                        </m:r>
                      </m:den>
                    </m:f>
                    <m:r>
                      <a:rPr lang="en-US" sz="2400" i="1">
                        <a:latin typeface="Cambria Math" panose="02040503050406030204" pitchFamily="18" charset="0"/>
                      </a:rPr>
                      <m:t> </m:t>
                    </m:r>
                  </m:oMath>
                </a14:m>
                <a:r>
                  <a:rPr lang="en-US" sz="2200" dirty="0"/>
                  <a:t>=</a:t>
                </a:r>
                <a14:m>
                  <m:oMath xmlns:m="http://schemas.openxmlformats.org/officeDocument/2006/math">
                    <m:r>
                      <a:rPr lang="en-US" sz="2200" b="0" i="0" smtClean="0">
                        <a:latin typeface="Cambria Math" panose="02040503050406030204" pitchFamily="18" charset="0"/>
                        <a:ea typeface="Cambria Math" panose="02040503050406030204" pitchFamily="18" charset="0"/>
                      </a:rPr>
                      <m:t> </m:t>
                    </m:r>
                    <m:f>
                      <m:fPr>
                        <m:ctrlPr>
                          <a:rPr lang="en-US" sz="2200" b="0" i="1" smtClean="0">
                            <a:latin typeface="Cambria Math" panose="02040503050406030204" pitchFamily="18" charset="0"/>
                            <a:ea typeface="Cambria Math" panose="02040503050406030204" pitchFamily="18" charset="0"/>
                          </a:rPr>
                        </m:ctrlPr>
                      </m:fPr>
                      <m:num>
                        <m:r>
                          <a:rPr lang="en-US" sz="2200" b="0" i="1" smtClean="0">
                            <a:latin typeface="Cambria Math" panose="02040503050406030204" pitchFamily="18" charset="0"/>
                            <a:ea typeface="Cambria Math" panose="02040503050406030204" pitchFamily="18" charset="0"/>
                          </a:rPr>
                          <m:t>1</m:t>
                        </m:r>
                      </m:num>
                      <m:den>
                        <m:r>
                          <a:rPr lang="en-US" sz="2200" b="0" i="1" smtClean="0">
                            <a:latin typeface="Cambria Math" panose="02040503050406030204" pitchFamily="18" charset="0"/>
                            <a:ea typeface="Cambria Math" panose="02040503050406030204" pitchFamily="18" charset="0"/>
                          </a:rPr>
                          <m:t>4.1</m:t>
                        </m:r>
                      </m:den>
                    </m:f>
                    <m:r>
                      <a:rPr lang="en-US" sz="2200" b="0" i="1" smtClean="0">
                        <a:latin typeface="Cambria Math" panose="02040503050406030204" pitchFamily="18" charset="0"/>
                        <a:ea typeface="Cambria Math" panose="02040503050406030204" pitchFamily="18" charset="0"/>
                      </a:rPr>
                      <m:t>=0.24=24% </m:t>
                    </m:r>
                  </m:oMath>
                </a14:m>
                <a:endParaRPr lang="en-US" sz="2200" b="0" dirty="0">
                  <a:ea typeface="Cambria Math" panose="02040503050406030204" pitchFamily="18" charset="0"/>
                </a:endParaRPr>
              </a:p>
              <a:p>
                <a:pPr lvl="1"/>
                <a:r>
                  <a:rPr lang="en-US" sz="2200" dirty="0"/>
                  <a:t>% Markup for </a:t>
                </a:r>
                <a:r>
                  <a:rPr lang="en-US" sz="2200" dirty="0" err="1"/>
                  <a:t>Cel</a:t>
                </a:r>
                <a:r>
                  <a:rPr lang="en-US" sz="2200" dirty="0"/>
                  <a:t>-Ray: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sSub>
                          <m:sSubPr>
                            <m:ctrlPr>
                              <a:rPr lang="en-US" sz="2400" i="1">
                                <a:latin typeface="Cambria Math" panose="02040503050406030204" pitchFamily="18" charset="0"/>
                              </a:rPr>
                            </m:ctrlPr>
                          </m:sSubPr>
                          <m:e>
                            <m:r>
                              <a:rPr lang="en-US" sz="2400" i="1">
                                <a:latin typeface="Cambria Math" panose="02040503050406030204" pitchFamily="18" charset="0"/>
                              </a:rPr>
                              <m:t>|</m:t>
                            </m:r>
                            <m:r>
                              <a:rPr lang="en-US" sz="2400" i="1">
                                <a:latin typeface="Cambria Math" panose="02040503050406030204" pitchFamily="18" charset="0"/>
                              </a:rPr>
                              <m:t>𝐸</m:t>
                            </m:r>
                          </m:e>
                          <m:sub>
                            <m:r>
                              <a:rPr lang="en-US" sz="2400" i="1">
                                <a:latin typeface="Cambria Math" panose="02040503050406030204" pitchFamily="18" charset="0"/>
                              </a:rPr>
                              <m:t>𝐷</m:t>
                            </m:r>
                          </m:sub>
                        </m:sSub>
                        <m:r>
                          <a:rPr lang="en-US" sz="2400" i="1">
                            <a:latin typeface="Cambria Math" panose="02040503050406030204" pitchFamily="18" charset="0"/>
                          </a:rPr>
                          <m:t>|</m:t>
                        </m:r>
                      </m:den>
                    </m:f>
                    <m:r>
                      <a:rPr lang="en-US" sz="2400" i="1">
                        <a:latin typeface="Cambria Math" panose="02040503050406030204" pitchFamily="18" charset="0"/>
                      </a:rPr>
                      <m:t> </m:t>
                    </m:r>
                  </m:oMath>
                </a14:m>
                <a:r>
                  <a:rPr lang="en-US" sz="2200" dirty="0"/>
                  <a:t>= </a:t>
                </a:r>
                <a14:m>
                  <m:oMath xmlns:m="http://schemas.openxmlformats.org/officeDocument/2006/math">
                    <m:f>
                      <m:fPr>
                        <m:ctrlPr>
                          <a:rPr lang="en-US" sz="2200" b="0" i="1" smtClean="0">
                            <a:latin typeface="Cambria Math" panose="02040503050406030204" pitchFamily="18" charset="0"/>
                            <a:ea typeface="Cambria Math" panose="02040503050406030204" pitchFamily="18" charset="0"/>
                          </a:rPr>
                        </m:ctrlPr>
                      </m:fPr>
                      <m:num>
                        <m:r>
                          <a:rPr lang="en-US" sz="2200" b="0" i="1" smtClean="0">
                            <a:latin typeface="Cambria Math" panose="02040503050406030204" pitchFamily="18" charset="0"/>
                            <a:ea typeface="Cambria Math" panose="02040503050406030204" pitchFamily="18" charset="0"/>
                          </a:rPr>
                          <m:t>1</m:t>
                        </m:r>
                      </m:num>
                      <m:den>
                        <m:r>
                          <a:rPr lang="en-US" sz="2200" b="0" i="1" smtClean="0">
                            <a:latin typeface="Cambria Math" panose="02040503050406030204" pitchFamily="18" charset="0"/>
                            <a:ea typeface="Cambria Math" panose="02040503050406030204" pitchFamily="18" charset="0"/>
                          </a:rPr>
                          <m:t>2</m:t>
                        </m:r>
                      </m:den>
                    </m:f>
                    <m:r>
                      <a:rPr lang="en-US" sz="2200" b="0" i="1" smtClean="0">
                        <a:latin typeface="Cambria Math" panose="02040503050406030204" pitchFamily="18" charset="0"/>
                        <a:ea typeface="Cambria Math" panose="02040503050406030204" pitchFamily="18" charset="0"/>
                      </a:rPr>
                      <m:t>=0.5=50% </m:t>
                    </m:r>
                  </m:oMath>
                </a14:m>
                <a:endParaRPr lang="en-US" sz="2200" b="0" dirty="0">
                  <a:ea typeface="Cambria Math" panose="02040503050406030204" pitchFamily="18" charset="0"/>
                </a:endParaRPr>
              </a:p>
              <a:p>
                <a:pPr lvl="1"/>
                <a:endParaRPr lang="en-US" sz="2200" dirty="0">
                  <a:ea typeface="Cambria Math" panose="02040503050406030204" pitchFamily="18" charset="0"/>
                </a:endParaRPr>
              </a:p>
              <a:p>
                <a:pPr lvl="1"/>
                <a:endParaRPr lang="en-US" sz="2200" b="0" dirty="0">
                  <a:ea typeface="Cambria Math" panose="02040503050406030204" pitchFamily="18" charset="0"/>
                </a:endParaRPr>
              </a:p>
              <a:p>
                <a:r>
                  <a:rPr lang="en-US" sz="2400" dirty="0">
                    <a:ea typeface="Cambria Math" panose="02040503050406030204" pitchFamily="18" charset="0"/>
                  </a:rPr>
                  <a:t>Note: Dr. Brown’s </a:t>
                </a:r>
                <a:r>
                  <a:rPr lang="en-US" sz="2400" dirty="0" err="1">
                    <a:ea typeface="Cambria Math" panose="02040503050406030204" pitchFamily="18" charset="0"/>
                  </a:rPr>
                  <a:t>Cel</a:t>
                </a:r>
                <a:r>
                  <a:rPr lang="en-US" sz="2400" dirty="0">
                    <a:ea typeface="Cambria Math" panose="02040503050406030204" pitchFamily="18" charset="0"/>
                  </a:rPr>
                  <a:t>-Ray is more differentiated (specialized) </a:t>
                </a:r>
                <a:r>
                  <a:rPr lang="en-US" sz="2400" dirty="0">
                    <a:ea typeface="Cambria Math" panose="02040503050406030204" pitchFamily="18" charset="0"/>
                    <a:sym typeface="Wingdings" panose="05000000000000000000" pitchFamily="2" charset="2"/>
                  </a:rPr>
                  <a:t> Lower demand elasticity</a:t>
                </a:r>
                <a:endParaRPr lang="en-US" sz="2400" b="0" dirty="0">
                  <a:ea typeface="Cambria Math" panose="02040503050406030204" pitchFamily="18" charset="0"/>
                </a:endParaRPr>
              </a:p>
              <a:p>
                <a:pPr lvl="1"/>
                <a:endParaRPr lang="en-US" dirty="0"/>
              </a:p>
              <a:p>
                <a:endParaRPr lang="en-US" dirty="0"/>
              </a:p>
              <a:p>
                <a:pPr>
                  <a:lnSpc>
                    <a:spcPct val="120000"/>
                  </a:lnSpc>
                </a:pPr>
                <a:endParaRPr lang="en-US" dirty="0"/>
              </a:p>
              <a:p>
                <a:pPr marL="342900" lvl="1" indent="-342900">
                  <a:lnSpc>
                    <a:spcPct val="120000"/>
                  </a:lnSpc>
                </a:pPr>
                <a:endParaRPr lang="en-US" sz="2800" dirty="0"/>
              </a:p>
              <a:p>
                <a:pPr marL="342900" lvl="1" indent="-342900">
                  <a:lnSpc>
                    <a:spcPct val="120000"/>
                  </a:lnSpc>
                </a:pPr>
                <a:endParaRPr lang="en-US" sz="2800" dirty="0"/>
              </a:p>
              <a:p>
                <a:pPr marL="342900" lvl="1" indent="-342900"/>
                <a:endParaRPr lang="en-US" sz="2800" dirty="0"/>
              </a:p>
              <a:p>
                <a:pPr lvl="1"/>
                <a:endParaRPr lang="en-US" noProof="0" dirty="0"/>
              </a:p>
              <a:p>
                <a:endParaRPr lang="en-US" noProof="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77132" y="1094874"/>
                <a:ext cx="8509668" cy="5212407"/>
              </a:xfrm>
              <a:blipFill>
                <a:blip r:embed="rId3"/>
                <a:stretch>
                  <a:fillRect l="-1719"/>
                </a:stretch>
              </a:blipFill>
            </p:spPr>
            <p:txBody>
              <a:bodyPr/>
              <a:lstStyle/>
              <a:p>
                <a:r>
                  <a:rPr lang="en-US">
                    <a:noFill/>
                  </a:rPr>
                  <a:t> </a:t>
                </a:r>
              </a:p>
            </p:txBody>
          </p:sp>
        </mc:Fallback>
      </mc:AlternateContent>
      <p:sp>
        <p:nvSpPr>
          <p:cNvPr id="5" name="Parallelogram 4">
            <a:extLst>
              <a:ext uri="{FF2B5EF4-FFF2-40B4-BE49-F238E27FC236}">
                <a16:creationId xmlns:a16="http://schemas.microsoft.com/office/drawing/2014/main" id="{3C32FC60-013C-4903-8F85-6C803E688199}"/>
              </a:ext>
            </a:extLst>
          </p:cNvPr>
          <p:cNvSpPr/>
          <p:nvPr/>
        </p:nvSpPr>
        <p:spPr>
          <a:xfrm>
            <a:off x="6237170" y="6097419"/>
            <a:ext cx="2449629" cy="687801"/>
          </a:xfrm>
          <a:prstGeom prst="parallelogram">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50000" t="50000" r="50000" b="50000"/>
            </a:path>
            <a:tileRect/>
          </a:gradFill>
          <a:ln>
            <a:noFill/>
          </a:ln>
        </p:spPr>
        <p:style>
          <a:lnRef idx="1">
            <a:schemeClr val="accent2"/>
          </a:lnRef>
          <a:fillRef idx="3">
            <a:schemeClr val="accent2"/>
          </a:fillRef>
          <a:effectRef idx="2">
            <a:schemeClr val="accent2"/>
          </a:effectRef>
          <a:fontRef idx="minor">
            <a:schemeClr val="lt1"/>
          </a:fontRef>
        </p:style>
        <p:txBody>
          <a:bodyPr rtlCol="0" anchor="ctr"/>
          <a:lstStyle/>
          <a:p>
            <a:pPr>
              <a:defRPr/>
            </a:pPr>
            <a:r>
              <a:rPr lang="en-US" sz="3200" b="1" i="1" dirty="0">
                <a:solidFill>
                  <a:prstClr val="white"/>
                </a:solidFill>
              </a:rPr>
              <a:t>Poll Break</a:t>
            </a:r>
          </a:p>
        </p:txBody>
      </p:sp>
    </p:spTree>
    <p:extLst>
      <p:ext uri="{BB962C8B-B14F-4D97-AF65-F5344CB8AC3E}">
        <p14:creationId xmlns:p14="http://schemas.microsoft.com/office/powerpoint/2010/main" val="1843460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BCA39-E8D5-4C21-ADB8-1A7BC6ECD138}"/>
              </a:ext>
            </a:extLst>
          </p:cNvPr>
          <p:cNvSpPr>
            <a:spLocks noGrp="1"/>
          </p:cNvSpPr>
          <p:nvPr>
            <p:ph type="title"/>
          </p:nvPr>
        </p:nvSpPr>
        <p:spPr/>
        <p:txBody>
          <a:bodyPr/>
          <a:lstStyle/>
          <a:p>
            <a:r>
              <a:rPr lang="fr-FR" dirty="0"/>
              <a:t>Price </a:t>
            </a:r>
            <a:r>
              <a:rPr lang="fr-FR" dirty="0" err="1"/>
              <a:t>searcher</a:t>
            </a:r>
            <a:r>
              <a:rPr lang="fr-FR" dirty="0"/>
              <a:t> </a:t>
            </a:r>
            <a:r>
              <a:rPr lang="fr-FR" dirty="0" err="1"/>
              <a:t>Take-aways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CE3664D-83C9-4D47-9E46-959FE30299D2}"/>
                  </a:ext>
                </a:extLst>
              </p:cNvPr>
              <p:cNvSpPr>
                <a:spLocks noGrp="1"/>
              </p:cNvSpPr>
              <p:nvPr>
                <p:ph type="body" idx="1"/>
              </p:nvPr>
            </p:nvSpPr>
            <p:spPr/>
            <p:txBody>
              <a:bodyPr>
                <a:normAutofit/>
              </a:bodyPr>
              <a:lstStyle/>
              <a:p>
                <a:r>
                  <a:rPr lang="fr-FR" dirty="0"/>
                  <a:t>Basic </a:t>
                </a:r>
                <a:r>
                  <a:rPr lang="fr-FR" dirty="0" err="1"/>
                  <a:t>rule</a:t>
                </a:r>
                <a:r>
                  <a:rPr lang="fr-FR" dirty="0"/>
                  <a:t> for profit </a:t>
                </a:r>
                <a:r>
                  <a:rPr lang="fr-FR" dirty="0" err="1"/>
                  <a:t>maximization</a:t>
                </a:r>
                <a:r>
                  <a:rPr lang="fr-FR" dirty="0"/>
                  <a:t>:</a:t>
                </a:r>
              </a:p>
              <a:p>
                <a:pPr lvl="1"/>
                <a:r>
                  <a:rPr lang="fr-FR" dirty="0"/>
                  <a:t>Set </a:t>
                </a:r>
                <a:r>
                  <a:rPr lang="fr-FR" i="1" dirty="0"/>
                  <a:t>MR=MC </a:t>
                </a:r>
                <a:r>
                  <a:rPr lang="fr-FR" dirty="0"/>
                  <a:t>to </a:t>
                </a:r>
                <a:r>
                  <a:rPr lang="fr-FR" dirty="0" err="1"/>
                  <a:t>find</a:t>
                </a:r>
                <a:r>
                  <a:rPr lang="fr-FR" dirty="0"/>
                  <a:t> </a:t>
                </a:r>
                <a:r>
                  <a:rPr lang="fr-FR" i="1" dirty="0"/>
                  <a:t>Q*</a:t>
                </a:r>
                <a:r>
                  <a:rPr lang="fr-FR" dirty="0"/>
                  <a:t> </a:t>
                </a:r>
              </a:p>
              <a:p>
                <a:pPr lvl="1"/>
                <a:r>
                  <a:rPr lang="fr-FR" dirty="0" err="1"/>
                  <a:t>Operate</a:t>
                </a:r>
                <a:r>
                  <a:rPr lang="fr-FR" dirty="0"/>
                  <a:t> in the short run if </a:t>
                </a:r>
                <a:r>
                  <a:rPr lang="fr-FR" i="1" dirty="0"/>
                  <a:t>P </a:t>
                </a:r>
                <a14:m>
                  <m:oMath xmlns:m="http://schemas.openxmlformats.org/officeDocument/2006/math">
                    <m:r>
                      <a:rPr lang="fr-FR" i="1" dirty="0" smtClean="0">
                        <a:latin typeface="Cambria Math" panose="02040503050406030204" pitchFamily="18" charset="0"/>
                        <a:ea typeface="Cambria Math" panose="02040503050406030204" pitchFamily="18" charset="0"/>
                      </a:rPr>
                      <m:t>≥</m:t>
                    </m:r>
                  </m:oMath>
                </a14:m>
                <a:r>
                  <a:rPr lang="fr-FR" i="1" dirty="0"/>
                  <a:t> AVC</a:t>
                </a:r>
              </a:p>
              <a:p>
                <a:pPr>
                  <a:spcBef>
                    <a:spcPts val="1200"/>
                  </a:spcBef>
                </a:pPr>
                <a:r>
                  <a:rPr lang="fr-FR" dirty="0"/>
                  <a:t>Key </a:t>
                </a:r>
                <a:r>
                  <a:rPr lang="fr-FR" dirty="0" err="1"/>
                  <a:t>difference</a:t>
                </a:r>
                <a:r>
                  <a:rPr lang="fr-FR" dirty="0"/>
                  <a:t> to </a:t>
                </a:r>
                <a:r>
                  <a:rPr lang="fr-FR" dirty="0" err="1"/>
                  <a:t>price</a:t>
                </a:r>
                <a:r>
                  <a:rPr lang="fr-FR" dirty="0"/>
                  <a:t> </a:t>
                </a:r>
                <a:r>
                  <a:rPr lang="fr-FR" dirty="0" err="1"/>
                  <a:t>taker</a:t>
                </a:r>
                <a:r>
                  <a:rPr lang="fr-FR" dirty="0"/>
                  <a:t>:</a:t>
                </a:r>
              </a:p>
              <a:p>
                <a:pPr lvl="1"/>
                <a:r>
                  <a:rPr lang="fr-FR" dirty="0"/>
                  <a:t>T</a:t>
                </a:r>
                <a:r>
                  <a:rPr lang="en-US" dirty="0"/>
                  <a:t>he price searcher sets </a:t>
                </a:r>
                <a:r>
                  <a:rPr lang="en-US" i="1" dirty="0"/>
                  <a:t>P*</a:t>
                </a:r>
                <a:r>
                  <a:rPr lang="en-US" dirty="0"/>
                  <a:t> &gt;</a:t>
                </a:r>
                <a:r>
                  <a:rPr lang="en-US" i="1" dirty="0"/>
                  <a:t>MC</a:t>
                </a:r>
              </a:p>
              <a:p>
                <a:pPr>
                  <a:spcBef>
                    <a:spcPts val="1200"/>
                  </a:spcBef>
                </a:pPr>
                <a:r>
                  <a:rPr lang="en-US" dirty="0"/>
                  <a:t>Mark-up depends on elasticity</a:t>
                </a:r>
              </a:p>
            </p:txBody>
          </p:sp>
        </mc:Choice>
        <mc:Fallback xmlns="">
          <p:sp>
            <p:nvSpPr>
              <p:cNvPr id="3" name="Content Placeholder 2">
                <a:extLst>
                  <a:ext uri="{FF2B5EF4-FFF2-40B4-BE49-F238E27FC236}">
                    <a16:creationId xmlns:a16="http://schemas.microsoft.com/office/drawing/2014/main" id="{FCE3664D-83C9-4D47-9E46-959FE30299D2}"/>
                  </a:ext>
                </a:extLst>
              </p:cNvPr>
              <p:cNvSpPr>
                <a:spLocks noGrp="1" noRot="1" noChangeAspect="1" noMove="1" noResize="1" noEditPoints="1" noAdjustHandles="1" noChangeArrowheads="1" noChangeShapeType="1" noTextEdit="1"/>
              </p:cNvSpPr>
              <p:nvPr>
                <p:ph type="body" idx="1"/>
              </p:nvPr>
            </p:nvSpPr>
            <p:spPr>
              <a:blipFill>
                <a:blip r:embed="rId2"/>
                <a:stretch>
                  <a:fillRect t="-402"/>
                </a:stretch>
              </a:blipFill>
            </p:spPr>
            <p:txBody>
              <a:bodyPr/>
              <a:lstStyle/>
              <a:p>
                <a:r>
                  <a:rPr lang="en-US">
                    <a:noFill/>
                  </a:rPr>
                  <a:t> </a:t>
                </a:r>
              </a:p>
            </p:txBody>
          </p:sp>
        </mc:Fallback>
      </mc:AlternateContent>
    </p:spTree>
    <p:extLst>
      <p:ext uri="{BB962C8B-B14F-4D97-AF65-F5344CB8AC3E}">
        <p14:creationId xmlns:p14="http://schemas.microsoft.com/office/powerpoint/2010/main" val="1789198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OUTLINE of module 5</a:t>
            </a:r>
          </a:p>
        </p:txBody>
      </p:sp>
      <p:sp>
        <p:nvSpPr>
          <p:cNvPr id="3" name="Content Placeholder 2"/>
          <p:cNvSpPr>
            <a:spLocks noGrp="1"/>
          </p:cNvSpPr>
          <p:nvPr>
            <p:ph type="body" idx="1"/>
          </p:nvPr>
        </p:nvSpPr>
        <p:spPr/>
        <p:txBody>
          <a:bodyPr>
            <a:normAutofit/>
          </a:bodyPr>
          <a:lstStyle/>
          <a:p>
            <a:pPr>
              <a:spcBef>
                <a:spcPts val="1800"/>
              </a:spcBef>
            </a:pPr>
            <a:r>
              <a:rPr lang="en-US" sz="2810" dirty="0">
                <a:solidFill>
                  <a:schemeClr val="bg1">
                    <a:lumMod val="65000"/>
                  </a:schemeClr>
                </a:solidFill>
              </a:rPr>
              <a:t>Profit maximization for price searchers</a:t>
            </a:r>
          </a:p>
          <a:p>
            <a:pPr lvl="1">
              <a:spcBef>
                <a:spcPts val="600"/>
              </a:spcBef>
            </a:pPr>
            <a:r>
              <a:rPr lang="en-US" sz="2610" dirty="0">
                <a:solidFill>
                  <a:schemeClr val="bg1">
                    <a:lumMod val="65000"/>
                  </a:schemeClr>
                </a:solidFill>
              </a:rPr>
              <a:t>Markup and Lerner index</a:t>
            </a:r>
            <a:endParaRPr lang="en-US" sz="2810" dirty="0">
              <a:solidFill>
                <a:schemeClr val="bg1">
                  <a:lumMod val="65000"/>
                </a:schemeClr>
              </a:solidFill>
            </a:endParaRPr>
          </a:p>
          <a:p>
            <a:pPr>
              <a:lnSpc>
                <a:spcPct val="120000"/>
              </a:lnSpc>
              <a:spcBef>
                <a:spcPts val="1800"/>
              </a:spcBef>
            </a:pPr>
            <a:r>
              <a:rPr lang="en-US" sz="2810" dirty="0"/>
              <a:t>Monopoly and welfare impact</a:t>
            </a:r>
          </a:p>
          <a:p>
            <a:pPr>
              <a:lnSpc>
                <a:spcPct val="120000"/>
              </a:lnSpc>
              <a:spcBef>
                <a:spcPts val="1800"/>
              </a:spcBef>
            </a:pPr>
            <a:r>
              <a:rPr lang="en-US" sz="2810" dirty="0">
                <a:solidFill>
                  <a:schemeClr val="bg1">
                    <a:lumMod val="65000"/>
                  </a:schemeClr>
                </a:solidFill>
              </a:rPr>
              <a:t>Rising market power and regulations</a:t>
            </a:r>
          </a:p>
          <a:p>
            <a:pPr>
              <a:lnSpc>
                <a:spcPct val="120000"/>
              </a:lnSpc>
              <a:spcBef>
                <a:spcPts val="1800"/>
              </a:spcBef>
            </a:pPr>
            <a:r>
              <a:rPr lang="en-US" sz="2810" dirty="0">
                <a:solidFill>
                  <a:schemeClr val="bg1">
                    <a:lumMod val="65000"/>
                  </a:schemeClr>
                </a:solidFill>
              </a:rPr>
              <a:t>Monopolistic competition</a:t>
            </a:r>
          </a:p>
          <a:p>
            <a:pPr marL="514350" indent="-514350">
              <a:lnSpc>
                <a:spcPct val="120000"/>
              </a:lnSpc>
              <a:buFont typeface="+mj-lt"/>
              <a:buAutoNum type="arabicPeriod"/>
            </a:pPr>
            <a:endParaRPr lang="en-US" sz="2813" dirty="0">
              <a:latin typeface="Whitney-Book" pitchFamily="50" charset="0"/>
              <a:cs typeface="Whitney-Book" pitchFamily="50" charset="0"/>
            </a:endParaRPr>
          </a:p>
          <a:p>
            <a:pPr marL="514350" indent="-514350">
              <a:lnSpc>
                <a:spcPct val="120000"/>
              </a:lnSpc>
              <a:buFont typeface="+mj-lt"/>
              <a:buAutoNum type="arabicPeriod"/>
            </a:pPr>
            <a:endParaRPr lang="en-US" sz="2813" dirty="0">
              <a:latin typeface="Whitney-Book" pitchFamily="50" charset="0"/>
              <a:cs typeface="Whitney-Book" pitchFamily="50" charset="0"/>
            </a:endParaRPr>
          </a:p>
          <a:p>
            <a:pPr marL="914400" lvl="1" indent="-514350">
              <a:lnSpc>
                <a:spcPct val="120000"/>
              </a:lnSpc>
            </a:pPr>
            <a:endParaRPr lang="en-US" sz="2613" noProof="0" dirty="0">
              <a:latin typeface="Whitney-Book" pitchFamily="50" charset="0"/>
              <a:cs typeface="Whitney-Book" pitchFamily="50" charset="0"/>
            </a:endParaRPr>
          </a:p>
          <a:p>
            <a:pPr marL="914400" lvl="1" indent="-514350">
              <a:lnSpc>
                <a:spcPct val="120000"/>
              </a:lnSpc>
            </a:pPr>
            <a:endParaRPr lang="en-US" sz="2613" noProof="0" dirty="0">
              <a:latin typeface="Whitney-Book" pitchFamily="50" charset="0"/>
              <a:cs typeface="Whitney-Book" pitchFamily="50" charset="0"/>
            </a:endParaRPr>
          </a:p>
          <a:p>
            <a:pPr marL="457200" lvl="1" indent="0">
              <a:buNone/>
            </a:pPr>
            <a:endParaRPr lang="en-US" noProof="0" dirty="0"/>
          </a:p>
          <a:p>
            <a:pPr lvl="1"/>
            <a:endParaRPr lang="en-US" noProof="0" dirty="0"/>
          </a:p>
          <a:p>
            <a:endParaRPr lang="en-US" noProof="0" dirty="0"/>
          </a:p>
        </p:txBody>
      </p:sp>
    </p:spTree>
    <p:extLst>
      <p:ext uri="{BB962C8B-B14F-4D97-AF65-F5344CB8AC3E}">
        <p14:creationId xmlns:p14="http://schemas.microsoft.com/office/powerpoint/2010/main" val="2885749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800" dirty="0">
                <a:cs typeface="Times New Roman" pitchFamily="18" charset="0"/>
              </a:rPr>
              <a:t>Where We Are and </a:t>
            </a:r>
            <a:br>
              <a:rPr lang="en-US" sz="2800" dirty="0">
                <a:cs typeface="Times New Roman" pitchFamily="18" charset="0"/>
              </a:rPr>
            </a:br>
            <a:r>
              <a:rPr lang="en-US" sz="2800" dirty="0">
                <a:cs typeface="Times New Roman" pitchFamily="18" charset="0"/>
              </a:rPr>
              <a:t>Where We Are Going</a:t>
            </a:r>
            <a:endParaRPr lang="en-US" dirty="0"/>
          </a:p>
        </p:txBody>
      </p:sp>
      <p:sp>
        <p:nvSpPr>
          <p:cNvPr id="24" name="Text Placeholder 23">
            <a:extLst>
              <a:ext uri="{FF2B5EF4-FFF2-40B4-BE49-F238E27FC236}">
                <a16:creationId xmlns:a16="http://schemas.microsoft.com/office/drawing/2014/main" id="{4737FE07-BEE9-4524-9095-19E2B65D6031}"/>
              </a:ext>
            </a:extLst>
          </p:cNvPr>
          <p:cNvSpPr>
            <a:spLocks noGrp="1"/>
          </p:cNvSpPr>
          <p:nvPr>
            <p:ph type="body" idx="1"/>
          </p:nvPr>
        </p:nvSpPr>
        <p:spPr/>
        <p:txBody>
          <a:bodyPr/>
          <a:lstStyle/>
          <a:p>
            <a:endParaRPr lang="en-US"/>
          </a:p>
        </p:txBody>
      </p:sp>
      <p:sp>
        <p:nvSpPr>
          <p:cNvPr id="9" name="Slide Number Placeholder 8"/>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grpSp>
        <p:nvGrpSpPr>
          <p:cNvPr id="5" name="Group 5"/>
          <p:cNvGrpSpPr>
            <a:grpSpLocks/>
          </p:cNvGrpSpPr>
          <p:nvPr/>
        </p:nvGrpSpPr>
        <p:grpSpPr bwMode="auto">
          <a:xfrm>
            <a:off x="99303" y="1808320"/>
            <a:ext cx="9088887" cy="638576"/>
            <a:chOff x="191" y="1628"/>
            <a:chExt cx="5442" cy="382"/>
          </a:xfrm>
        </p:grpSpPr>
        <p:sp>
          <p:nvSpPr>
            <p:cNvPr id="6" name="Rectangle 6"/>
            <p:cNvSpPr>
              <a:spLocks noChangeArrowheads="1"/>
            </p:cNvSpPr>
            <p:nvPr/>
          </p:nvSpPr>
          <p:spPr bwMode="auto">
            <a:xfrm>
              <a:off x="191" y="1628"/>
              <a:ext cx="1880" cy="376"/>
            </a:xfrm>
            <a:prstGeom prst="rect">
              <a:avLst/>
            </a:prstGeom>
            <a:noFill/>
            <a:ln w="9525">
              <a:noFill/>
              <a:miter lim="800000"/>
              <a:headEnd/>
              <a:tailEnd/>
            </a:ln>
            <a:effectLst/>
          </p:spPr>
          <p:txBody>
            <a:bodyPr wrap="none" lIns="19050" tIns="26988" rIns="19050" bIns="26988"/>
            <a:lstStyle/>
            <a:p>
              <a:pPr marL="0" marR="0" lvl="0" indent="0" algn="ctr" defTabSz="457200" rtl="0" eaLnBrk="1" fontAlgn="auto" latinLnBrk="0" hangingPunct="1">
                <a:lnSpc>
                  <a:spcPts val="2947"/>
                </a:lnSpc>
                <a:spcBef>
                  <a:spcPts val="0"/>
                </a:spcBef>
                <a:spcAft>
                  <a:spcPts val="947"/>
                </a:spcAft>
                <a:buClrTx/>
                <a:buSzTx/>
                <a:buFontTx/>
                <a:buNone/>
                <a:tabLst>
                  <a:tab pos="481157" algn="l"/>
                  <a:tab pos="962315" algn="l"/>
                  <a:tab pos="1443472" algn="l"/>
                </a:tabLst>
                <a:defRPr/>
              </a:pPr>
              <a:r>
                <a:rPr kumimoji="0" lang="en-US" sz="2800"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Least Market Power</a:t>
              </a:r>
            </a:p>
          </p:txBody>
        </p:sp>
        <p:sp>
          <p:nvSpPr>
            <p:cNvPr id="7" name="Line 7"/>
            <p:cNvSpPr>
              <a:spLocks noChangeShapeType="1"/>
            </p:cNvSpPr>
            <p:nvPr/>
          </p:nvSpPr>
          <p:spPr bwMode="auto">
            <a:xfrm>
              <a:off x="232" y="1943"/>
              <a:ext cx="5232" cy="0"/>
            </a:xfrm>
            <a:prstGeom prst="line">
              <a:avLst/>
            </a:prstGeom>
            <a:noFill/>
            <a:ln w="50800">
              <a:solidFill>
                <a:schemeClr val="accent1">
                  <a:lumMod val="75000"/>
                </a:schemeClr>
              </a:solidFill>
              <a:round/>
              <a:headEnd type="stealth" w="med" len="lg"/>
              <a:tailEnd type="stealth" w="med" len="lg"/>
            </a:ln>
            <a:effectLst/>
          </p:spPr>
          <p:txBody>
            <a:bodyPr wrap="non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8" name="Rectangle 8"/>
            <p:cNvSpPr>
              <a:spLocks noChangeArrowheads="1"/>
            </p:cNvSpPr>
            <p:nvPr/>
          </p:nvSpPr>
          <p:spPr bwMode="auto">
            <a:xfrm>
              <a:off x="3513" y="1634"/>
              <a:ext cx="2120" cy="376"/>
            </a:xfrm>
            <a:prstGeom prst="rect">
              <a:avLst/>
            </a:prstGeom>
            <a:noFill/>
            <a:ln w="9525">
              <a:noFill/>
              <a:miter lim="800000"/>
              <a:headEnd/>
              <a:tailEnd/>
            </a:ln>
            <a:effectLst/>
          </p:spPr>
          <p:txBody>
            <a:bodyPr wrap="none" lIns="19050" tIns="26988" rIns="19050" bIns="26988"/>
            <a:lstStyle/>
            <a:p>
              <a:pPr marL="0" marR="0" lvl="0" indent="0" algn="ctr" defTabSz="457200" rtl="0" eaLnBrk="1" fontAlgn="auto" latinLnBrk="0" hangingPunct="1">
                <a:lnSpc>
                  <a:spcPts val="2947"/>
                </a:lnSpc>
                <a:spcBef>
                  <a:spcPts val="0"/>
                </a:spcBef>
                <a:spcAft>
                  <a:spcPts val="947"/>
                </a:spcAft>
                <a:buClrTx/>
                <a:buSzTx/>
                <a:buFontTx/>
                <a:buNone/>
                <a:tabLst>
                  <a:tab pos="481157" algn="l"/>
                  <a:tab pos="962315" algn="l"/>
                  <a:tab pos="1443472" algn="l"/>
                </a:tabLst>
                <a:defRPr/>
              </a:pPr>
              <a:r>
                <a:rPr kumimoji="0" lang="en-US" sz="2800"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Most Market Power</a:t>
              </a:r>
            </a:p>
          </p:txBody>
        </p:sp>
      </p:grpSp>
      <p:grpSp>
        <p:nvGrpSpPr>
          <p:cNvPr id="32" name="Group 31"/>
          <p:cNvGrpSpPr/>
          <p:nvPr/>
        </p:nvGrpSpPr>
        <p:grpSpPr>
          <a:xfrm>
            <a:off x="167779" y="2617404"/>
            <a:ext cx="2792469" cy="1041447"/>
            <a:chOff x="167779" y="2617404"/>
            <a:chExt cx="2792469" cy="1041447"/>
          </a:xfrm>
        </p:grpSpPr>
        <p:sp>
          <p:nvSpPr>
            <p:cNvPr id="11" name="Rectangle 11"/>
            <p:cNvSpPr>
              <a:spLocks noChangeArrowheads="1"/>
            </p:cNvSpPr>
            <p:nvPr/>
          </p:nvSpPr>
          <p:spPr bwMode="auto">
            <a:xfrm>
              <a:off x="167779" y="2617404"/>
              <a:ext cx="2658858" cy="1041447"/>
            </a:xfrm>
            <a:prstGeom prst="rect">
              <a:avLst/>
            </a:prstGeom>
            <a:noFill/>
            <a:ln w="9525">
              <a:noFill/>
              <a:miter lim="800000"/>
              <a:headEnd/>
              <a:tailEnd/>
            </a:ln>
            <a:effectLst/>
          </p:spPr>
          <p:txBody>
            <a:bodyPr wrap="none" lIns="19050" tIns="26988" rIns="19050" bIns="26988"/>
            <a:lstStyle/>
            <a:p>
              <a:pPr marL="0" marR="0" lvl="0" indent="0" algn="ctr" defTabSz="457200" rtl="0" eaLnBrk="1" fontAlgn="auto" latinLnBrk="0" hangingPunct="1">
                <a:lnSpc>
                  <a:spcPts val="2947"/>
                </a:lnSpc>
                <a:spcBef>
                  <a:spcPts val="0"/>
                </a:spcBef>
                <a:spcAft>
                  <a:spcPts val="947"/>
                </a:spcAft>
                <a:buClrTx/>
                <a:buSzTx/>
                <a:buFontTx/>
                <a:buNone/>
                <a:tabLst>
                  <a:tab pos="481157" algn="l"/>
                  <a:tab pos="962315" algn="l"/>
                  <a:tab pos="1443472" algn="l"/>
                </a:tabLst>
                <a:defRPr/>
              </a:pPr>
              <a:r>
                <a:rPr kumimoji="0" lang="en-US" sz="2800"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Perfect </a:t>
              </a:r>
            </a:p>
            <a:p>
              <a:pPr marL="0" marR="0" lvl="0" indent="0" algn="ctr" defTabSz="457200" rtl="0" eaLnBrk="1" fontAlgn="auto" latinLnBrk="0" hangingPunct="1">
                <a:lnSpc>
                  <a:spcPts val="2947"/>
                </a:lnSpc>
                <a:spcBef>
                  <a:spcPts val="0"/>
                </a:spcBef>
                <a:spcAft>
                  <a:spcPts val="947"/>
                </a:spcAft>
                <a:buClrTx/>
                <a:buSzTx/>
                <a:buFontTx/>
                <a:buNone/>
                <a:tabLst>
                  <a:tab pos="481157" algn="l"/>
                  <a:tab pos="962315" algn="l"/>
                  <a:tab pos="1443472" algn="l"/>
                </a:tabLst>
                <a:defRPr/>
              </a:pPr>
              <a:r>
                <a:rPr kumimoji="0" lang="en-US" sz="2800"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Competition</a:t>
              </a:r>
            </a:p>
          </p:txBody>
        </p:sp>
        <p:sp>
          <p:nvSpPr>
            <p:cNvPr id="13" name="Line 13"/>
            <p:cNvSpPr>
              <a:spLocks noChangeShapeType="1"/>
            </p:cNvSpPr>
            <p:nvPr/>
          </p:nvSpPr>
          <p:spPr bwMode="auto">
            <a:xfrm>
              <a:off x="2960248" y="2617404"/>
              <a:ext cx="0" cy="894340"/>
            </a:xfrm>
            <a:prstGeom prst="line">
              <a:avLst/>
            </a:prstGeom>
            <a:noFill/>
            <a:ln w="50800">
              <a:solidFill>
                <a:srgbClr val="C00000"/>
              </a:solidFill>
              <a:round/>
              <a:headEnd type="none" w="sm" len="sm"/>
              <a:tailEnd type="none" w="sm" len="sm"/>
            </a:ln>
            <a:effectLst/>
          </p:spPr>
          <p:txBody>
            <a:bodyPr wrap="non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grpSp>
      <p:grpSp>
        <p:nvGrpSpPr>
          <p:cNvPr id="14" name="Group 25"/>
          <p:cNvGrpSpPr>
            <a:grpSpLocks/>
          </p:cNvGrpSpPr>
          <p:nvPr/>
        </p:nvGrpSpPr>
        <p:grpSpPr bwMode="auto">
          <a:xfrm>
            <a:off x="3093859" y="2602359"/>
            <a:ext cx="2137775" cy="1002998"/>
            <a:chOff x="1984" y="2103"/>
            <a:chExt cx="1280" cy="600"/>
          </a:xfrm>
        </p:grpSpPr>
        <p:sp>
          <p:nvSpPr>
            <p:cNvPr id="15" name="Rectangle 15"/>
            <p:cNvSpPr>
              <a:spLocks noChangeArrowheads="1"/>
            </p:cNvSpPr>
            <p:nvPr/>
          </p:nvSpPr>
          <p:spPr bwMode="auto">
            <a:xfrm>
              <a:off x="1984" y="2103"/>
              <a:ext cx="1232" cy="600"/>
            </a:xfrm>
            <a:prstGeom prst="rect">
              <a:avLst/>
            </a:prstGeom>
            <a:noFill/>
            <a:ln w="9525">
              <a:noFill/>
              <a:miter lim="800000"/>
              <a:headEnd/>
              <a:tailEnd/>
            </a:ln>
            <a:effectLst/>
          </p:spPr>
          <p:txBody>
            <a:bodyPr wrap="none" lIns="19050" tIns="26988" rIns="19050" bIns="26988"/>
            <a:lstStyle/>
            <a:p>
              <a:pPr marL="0" marR="0" lvl="0" indent="0" algn="ctr" defTabSz="457200" rtl="0" eaLnBrk="1" fontAlgn="auto" latinLnBrk="0" hangingPunct="1">
                <a:lnSpc>
                  <a:spcPts val="2947"/>
                </a:lnSpc>
                <a:spcBef>
                  <a:spcPts val="0"/>
                </a:spcBef>
                <a:spcAft>
                  <a:spcPts val="947"/>
                </a:spcAft>
                <a:buClrTx/>
                <a:buSzTx/>
                <a:buFontTx/>
                <a:buNone/>
                <a:tabLst>
                  <a:tab pos="481157" algn="l"/>
                  <a:tab pos="962315" algn="l"/>
                  <a:tab pos="1443472" algn="l"/>
                </a:tabLst>
                <a:defRPr/>
              </a:pPr>
              <a:r>
                <a:rPr kumimoji="0" lang="en-US" sz="2800"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Monopolistic </a:t>
              </a:r>
              <a:br>
                <a:rPr kumimoji="0" lang="en-US" sz="2800"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br>
              <a:r>
                <a:rPr kumimoji="0" lang="en-US" sz="2800"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Competition</a:t>
              </a:r>
            </a:p>
          </p:txBody>
        </p:sp>
        <p:sp>
          <p:nvSpPr>
            <p:cNvPr id="16" name="Line 16"/>
            <p:cNvSpPr>
              <a:spLocks noChangeShapeType="1"/>
            </p:cNvSpPr>
            <p:nvPr/>
          </p:nvSpPr>
          <p:spPr bwMode="auto">
            <a:xfrm>
              <a:off x="3264" y="2127"/>
              <a:ext cx="0" cy="520"/>
            </a:xfrm>
            <a:prstGeom prst="line">
              <a:avLst/>
            </a:prstGeom>
            <a:noFill/>
            <a:ln w="50800">
              <a:solidFill>
                <a:srgbClr val="C00000"/>
              </a:solidFill>
              <a:round/>
              <a:headEnd type="none" w="sm" len="sm"/>
              <a:tailEnd type="none" w="sm" len="sm"/>
            </a:ln>
            <a:effectLst/>
          </p:spPr>
          <p:txBody>
            <a:bodyPr wrap="non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grpSp>
      <p:grpSp>
        <p:nvGrpSpPr>
          <p:cNvPr id="17" name="Group 17"/>
          <p:cNvGrpSpPr>
            <a:grpSpLocks/>
          </p:cNvGrpSpPr>
          <p:nvPr/>
        </p:nvGrpSpPr>
        <p:grpSpPr bwMode="auto">
          <a:xfrm>
            <a:off x="5285079" y="2602359"/>
            <a:ext cx="1683498" cy="909385"/>
            <a:chOff x="3280" y="2103"/>
            <a:chExt cx="1008" cy="544"/>
          </a:xfrm>
        </p:grpSpPr>
        <p:sp>
          <p:nvSpPr>
            <p:cNvPr id="18" name="Rectangle 18"/>
            <p:cNvSpPr>
              <a:spLocks noChangeArrowheads="1"/>
            </p:cNvSpPr>
            <p:nvPr/>
          </p:nvSpPr>
          <p:spPr bwMode="auto">
            <a:xfrm>
              <a:off x="3280" y="2103"/>
              <a:ext cx="960" cy="376"/>
            </a:xfrm>
            <a:prstGeom prst="rect">
              <a:avLst/>
            </a:prstGeom>
            <a:noFill/>
            <a:ln w="9525">
              <a:noFill/>
              <a:miter lim="800000"/>
              <a:headEnd/>
              <a:tailEnd/>
            </a:ln>
            <a:effectLst/>
          </p:spPr>
          <p:txBody>
            <a:bodyPr wrap="none" lIns="19050" tIns="26988" rIns="19050" bIns="26988"/>
            <a:lstStyle/>
            <a:p>
              <a:pPr marL="0" marR="0" lvl="0" indent="0" algn="ctr" defTabSz="457200" rtl="0" eaLnBrk="1" fontAlgn="auto" latinLnBrk="0" hangingPunct="1">
                <a:lnSpc>
                  <a:spcPts val="2947"/>
                </a:lnSpc>
                <a:spcBef>
                  <a:spcPts val="0"/>
                </a:spcBef>
                <a:spcAft>
                  <a:spcPts val="947"/>
                </a:spcAft>
                <a:buClrTx/>
                <a:buSzTx/>
                <a:buFontTx/>
                <a:buNone/>
                <a:tabLst>
                  <a:tab pos="481157" algn="l"/>
                  <a:tab pos="962315" algn="l"/>
                  <a:tab pos="1443472" algn="l"/>
                </a:tabLst>
                <a:defRPr/>
              </a:pPr>
              <a:r>
                <a:rPr kumimoji="0" lang="en-US" sz="2800"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Oligopoly</a:t>
              </a:r>
            </a:p>
          </p:txBody>
        </p:sp>
        <p:sp>
          <p:nvSpPr>
            <p:cNvPr id="19" name="Line 19"/>
            <p:cNvSpPr>
              <a:spLocks noChangeShapeType="1"/>
            </p:cNvSpPr>
            <p:nvPr/>
          </p:nvSpPr>
          <p:spPr bwMode="auto">
            <a:xfrm>
              <a:off x="4288" y="2119"/>
              <a:ext cx="0" cy="528"/>
            </a:xfrm>
            <a:prstGeom prst="line">
              <a:avLst/>
            </a:prstGeom>
            <a:noFill/>
            <a:ln w="50800">
              <a:solidFill>
                <a:srgbClr val="C00000"/>
              </a:solidFill>
              <a:round/>
              <a:headEnd type="none" w="sm" len="sm"/>
              <a:tailEnd type="none" w="sm" len="sm"/>
            </a:ln>
            <a:effectLst/>
          </p:spPr>
          <p:txBody>
            <a:bodyPr wrap="non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grpSp>
      <p:sp>
        <p:nvSpPr>
          <p:cNvPr id="20" name="Rectangle 20"/>
          <p:cNvSpPr>
            <a:spLocks noChangeArrowheads="1"/>
          </p:cNvSpPr>
          <p:nvPr/>
        </p:nvSpPr>
        <p:spPr bwMode="auto">
          <a:xfrm>
            <a:off x="7102187" y="2615732"/>
            <a:ext cx="1603333" cy="628546"/>
          </a:xfrm>
          <a:prstGeom prst="rect">
            <a:avLst/>
          </a:prstGeom>
          <a:noFill/>
          <a:ln w="9525">
            <a:noFill/>
            <a:miter lim="800000"/>
            <a:headEnd/>
            <a:tailEnd/>
          </a:ln>
          <a:effectLst/>
        </p:spPr>
        <p:txBody>
          <a:bodyPr wrap="none" lIns="20048" tIns="28402" rIns="20048" bIns="28402"/>
          <a:lstStyle/>
          <a:p>
            <a:pPr marL="0" marR="0" lvl="0" indent="0" algn="ctr" defTabSz="457200" rtl="0" eaLnBrk="1" fontAlgn="auto" latinLnBrk="0" hangingPunct="1">
              <a:lnSpc>
                <a:spcPts val="2947"/>
              </a:lnSpc>
              <a:spcBef>
                <a:spcPts val="0"/>
              </a:spcBef>
              <a:spcAft>
                <a:spcPts val="947"/>
              </a:spcAft>
              <a:buClrTx/>
              <a:buSzTx/>
              <a:buFontTx/>
              <a:buNone/>
              <a:tabLst>
                <a:tab pos="481157" algn="l"/>
                <a:tab pos="962315" algn="l"/>
                <a:tab pos="1443472" algn="l"/>
              </a:tabLst>
              <a:defRPr/>
            </a:pPr>
            <a:r>
              <a:rPr kumimoji="0" lang="en-US" sz="2800"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Monopoly</a:t>
            </a:r>
          </a:p>
        </p:txBody>
      </p:sp>
      <p:grpSp>
        <p:nvGrpSpPr>
          <p:cNvPr id="31" name="Group 30"/>
          <p:cNvGrpSpPr/>
          <p:nvPr/>
        </p:nvGrpSpPr>
        <p:grpSpPr>
          <a:xfrm>
            <a:off x="325607" y="3735747"/>
            <a:ext cx="8246301" cy="631889"/>
            <a:chOff x="325607" y="3735747"/>
            <a:chExt cx="8246301" cy="631889"/>
          </a:xfrm>
        </p:grpSpPr>
        <p:sp>
          <p:nvSpPr>
            <p:cNvPr id="10" name="Line 10"/>
            <p:cNvSpPr>
              <a:spLocks noChangeShapeType="1"/>
            </p:cNvSpPr>
            <p:nvPr/>
          </p:nvSpPr>
          <p:spPr bwMode="auto">
            <a:xfrm>
              <a:off x="501806" y="4248948"/>
              <a:ext cx="2378275" cy="0"/>
            </a:xfrm>
            <a:prstGeom prst="line">
              <a:avLst/>
            </a:prstGeom>
            <a:noFill/>
            <a:ln w="50800">
              <a:solidFill>
                <a:schemeClr val="accent1">
                  <a:lumMod val="75000"/>
                </a:schemeClr>
              </a:solidFill>
              <a:round/>
              <a:headEnd type="stealth" w="med" len="lg"/>
              <a:tailEnd type="stealth" w="med" len="lg"/>
            </a:ln>
            <a:effectLst/>
          </p:spPr>
          <p:txBody>
            <a:bodyPr wrap="non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12" name="Rectangle 12"/>
            <p:cNvSpPr>
              <a:spLocks noChangeArrowheads="1"/>
            </p:cNvSpPr>
            <p:nvPr/>
          </p:nvSpPr>
          <p:spPr bwMode="auto">
            <a:xfrm>
              <a:off x="325607" y="3735747"/>
              <a:ext cx="2713972" cy="628546"/>
            </a:xfrm>
            <a:prstGeom prst="rect">
              <a:avLst/>
            </a:prstGeom>
            <a:noFill/>
            <a:ln w="9525">
              <a:noFill/>
              <a:miter lim="800000"/>
              <a:headEnd/>
              <a:tailEnd/>
            </a:ln>
            <a:effectLst/>
          </p:spPr>
          <p:txBody>
            <a:bodyPr wrap="none" lIns="19050" tIns="26988" rIns="19050" bIns="26988"/>
            <a:lstStyle/>
            <a:p>
              <a:pPr marL="0" marR="0" lvl="0" indent="0" algn="ctr" defTabSz="457200" rtl="0" eaLnBrk="1" fontAlgn="auto" latinLnBrk="0" hangingPunct="1">
                <a:lnSpc>
                  <a:spcPts val="2947"/>
                </a:lnSpc>
                <a:spcBef>
                  <a:spcPts val="0"/>
                </a:spcBef>
                <a:spcAft>
                  <a:spcPts val="947"/>
                </a:spcAft>
                <a:buClrTx/>
                <a:buSzTx/>
                <a:buFontTx/>
                <a:buNone/>
                <a:tabLst>
                  <a:tab pos="481157" algn="l"/>
                  <a:tab pos="962315" algn="l"/>
                  <a:tab pos="1443472" algn="l"/>
                </a:tabLst>
                <a:defRPr/>
              </a:pPr>
              <a:r>
                <a:rPr kumimoji="0" lang="en-US" sz="2800"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(Price Takers)</a:t>
              </a:r>
            </a:p>
          </p:txBody>
        </p:sp>
        <p:grpSp>
          <p:nvGrpSpPr>
            <p:cNvPr id="21" name="Group 21"/>
            <p:cNvGrpSpPr>
              <a:grpSpLocks/>
            </p:cNvGrpSpPr>
            <p:nvPr/>
          </p:nvGrpSpPr>
          <p:grpSpPr bwMode="auto">
            <a:xfrm>
              <a:off x="3521414" y="3739090"/>
              <a:ext cx="5050494" cy="628546"/>
              <a:chOff x="2240" y="2783"/>
              <a:chExt cx="3024" cy="376"/>
            </a:xfrm>
          </p:grpSpPr>
          <p:sp>
            <p:nvSpPr>
              <p:cNvPr id="22" name="Line 22"/>
              <p:cNvSpPr>
                <a:spLocks noChangeShapeType="1"/>
              </p:cNvSpPr>
              <p:nvPr/>
            </p:nvSpPr>
            <p:spPr bwMode="auto">
              <a:xfrm>
                <a:off x="2240" y="3079"/>
                <a:ext cx="3024" cy="0"/>
              </a:xfrm>
              <a:prstGeom prst="line">
                <a:avLst/>
              </a:prstGeom>
              <a:noFill/>
              <a:ln w="50800">
                <a:solidFill>
                  <a:schemeClr val="accent1">
                    <a:lumMod val="75000"/>
                  </a:schemeClr>
                </a:solidFill>
                <a:round/>
                <a:headEnd type="stealth" w="med" len="lg"/>
                <a:tailEnd type="stealth" w="med" len="lg"/>
              </a:ln>
              <a:effectLst/>
            </p:spPr>
            <p:txBody>
              <a:bodyPr wrap="non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23" name="Rectangle 23"/>
              <p:cNvSpPr>
                <a:spLocks noChangeArrowheads="1"/>
              </p:cNvSpPr>
              <p:nvPr/>
            </p:nvSpPr>
            <p:spPr bwMode="auto">
              <a:xfrm>
                <a:off x="2952" y="2783"/>
                <a:ext cx="2024" cy="376"/>
              </a:xfrm>
              <a:prstGeom prst="rect">
                <a:avLst/>
              </a:prstGeom>
              <a:noFill/>
              <a:ln w="9525">
                <a:noFill/>
                <a:miter lim="800000"/>
                <a:headEnd/>
                <a:tailEnd/>
              </a:ln>
              <a:effectLst/>
            </p:spPr>
            <p:txBody>
              <a:bodyPr wrap="none" lIns="19050" tIns="26988" rIns="19050" bIns="26988"/>
              <a:lstStyle/>
              <a:p>
                <a:pPr marL="0" marR="0" lvl="0" indent="0" algn="ctr" defTabSz="457200" rtl="0" eaLnBrk="1" fontAlgn="auto" latinLnBrk="0" hangingPunct="1">
                  <a:lnSpc>
                    <a:spcPts val="2947"/>
                  </a:lnSpc>
                  <a:spcBef>
                    <a:spcPts val="0"/>
                  </a:spcBef>
                  <a:spcAft>
                    <a:spcPts val="947"/>
                  </a:spcAft>
                  <a:buClrTx/>
                  <a:buSzTx/>
                  <a:buFontTx/>
                  <a:buNone/>
                  <a:tabLst>
                    <a:tab pos="481157" algn="l"/>
                    <a:tab pos="962315" algn="l"/>
                    <a:tab pos="1443472" algn="l"/>
                  </a:tabLst>
                  <a:defRPr/>
                </a:pPr>
                <a:r>
                  <a:rPr kumimoji="0" lang="en-US" sz="2800"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(Price Searchers)</a:t>
                </a:r>
              </a:p>
            </p:txBody>
          </p:sp>
        </p:grpSp>
      </p:grpSp>
      <p:pic>
        <p:nvPicPr>
          <p:cNvPr id="25" name="Picture 29" descr="commodities-l"/>
          <p:cNvPicPr>
            <a:picLocks noChangeAspect="1" noChangeArrowheads="1"/>
          </p:cNvPicPr>
          <p:nvPr/>
        </p:nvPicPr>
        <p:blipFill>
          <a:blip r:embed="rId3" cstate="print"/>
          <a:srcRect/>
          <a:stretch>
            <a:fillRect/>
          </a:stretch>
        </p:blipFill>
        <p:spPr bwMode="auto">
          <a:xfrm>
            <a:off x="849767" y="4493011"/>
            <a:ext cx="1314308" cy="1270049"/>
          </a:xfrm>
          <a:prstGeom prst="rect">
            <a:avLst/>
          </a:prstGeom>
          <a:noFill/>
        </p:spPr>
      </p:pic>
      <p:grpSp>
        <p:nvGrpSpPr>
          <p:cNvPr id="30" name="Group 29"/>
          <p:cNvGrpSpPr/>
          <p:nvPr/>
        </p:nvGrpSpPr>
        <p:grpSpPr>
          <a:xfrm>
            <a:off x="3230643" y="1240485"/>
            <a:ext cx="5772013" cy="4713768"/>
            <a:chOff x="792237" y="1398933"/>
            <a:chExt cx="5772013" cy="4713768"/>
          </a:xfrm>
        </p:grpSpPr>
        <p:sp>
          <p:nvSpPr>
            <p:cNvPr id="3" name="Rectangle 2"/>
            <p:cNvSpPr/>
            <p:nvPr/>
          </p:nvSpPr>
          <p:spPr>
            <a:xfrm>
              <a:off x="4352835" y="1398933"/>
              <a:ext cx="2211415" cy="4713768"/>
            </a:xfrm>
            <a:prstGeom prst="rect">
              <a:avLst/>
            </a:prstGeom>
            <a:noFill/>
            <a:ln w="57150">
              <a:solidFill>
                <a:srgbClr val="FF0000"/>
              </a:solidFill>
            </a:ln>
            <a:effectLst>
              <a:outerShdw blurRad="50800" dist="38100" dir="16200000"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4" name="Group 3"/>
            <p:cNvGrpSpPr/>
            <p:nvPr/>
          </p:nvGrpSpPr>
          <p:grpSpPr>
            <a:xfrm>
              <a:off x="792237" y="1591289"/>
              <a:ext cx="3322564" cy="522919"/>
              <a:chOff x="7424200" y="1432385"/>
              <a:chExt cx="3322564" cy="522919"/>
            </a:xfrm>
          </p:grpSpPr>
          <p:sp>
            <p:nvSpPr>
              <p:cNvPr id="28" name="Right Arrow 27"/>
              <p:cNvSpPr/>
              <p:nvPr/>
            </p:nvSpPr>
            <p:spPr bwMode="auto">
              <a:xfrm rot="10800000" flipH="1">
                <a:off x="9704895" y="1432385"/>
                <a:ext cx="1041869" cy="522919"/>
              </a:xfrm>
              <a:prstGeom prst="rightArrow">
                <a:avLst>
                  <a:gd name="adj1" fmla="val 50000"/>
                  <a:gd name="adj2" fmla="val 87117"/>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prstClr val="black"/>
                  </a:solidFill>
                  <a:effectLst/>
                  <a:uLnTx/>
                  <a:uFillTx/>
                  <a:latin typeface="Calibri"/>
                  <a:ea typeface="+mn-ea"/>
                  <a:cs typeface="+mn-cs"/>
                </a:endParaRPr>
              </a:p>
            </p:txBody>
          </p:sp>
          <p:sp>
            <p:nvSpPr>
              <p:cNvPr id="29" name="TextBox 28"/>
              <p:cNvSpPr txBox="1"/>
              <p:nvPr/>
            </p:nvSpPr>
            <p:spPr>
              <a:xfrm>
                <a:off x="7424200" y="1453418"/>
                <a:ext cx="2138727" cy="46166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Whitney-Book" pitchFamily="50" charset="0"/>
                    <a:ea typeface="+mn-ea"/>
                    <a:cs typeface="Whitney-Book" pitchFamily="50" charset="0"/>
                  </a:rPr>
                  <a:t>WE ARE HERE</a:t>
                </a:r>
              </a:p>
            </p:txBody>
          </p:sp>
        </p:grpSp>
      </p:grpSp>
      <p:grpSp>
        <p:nvGrpSpPr>
          <p:cNvPr id="33" name="Group 32">
            <a:extLst>
              <a:ext uri="{FF2B5EF4-FFF2-40B4-BE49-F238E27FC236}">
                <a16:creationId xmlns:a16="http://schemas.microsoft.com/office/drawing/2014/main" id="{42091101-6F86-4557-A85D-E6C909044F60}"/>
              </a:ext>
            </a:extLst>
          </p:cNvPr>
          <p:cNvGrpSpPr/>
          <p:nvPr/>
        </p:nvGrpSpPr>
        <p:grpSpPr>
          <a:xfrm>
            <a:off x="5396978" y="4404420"/>
            <a:ext cx="1270322" cy="1841754"/>
            <a:chOff x="5715000" y="5334000"/>
            <a:chExt cx="1270322" cy="1841754"/>
          </a:xfrm>
        </p:grpSpPr>
        <p:pic>
          <p:nvPicPr>
            <p:cNvPr id="34" name="Picture 28" descr="boeing">
              <a:extLst>
                <a:ext uri="{FF2B5EF4-FFF2-40B4-BE49-F238E27FC236}">
                  <a16:creationId xmlns:a16="http://schemas.microsoft.com/office/drawing/2014/main" id="{5DD36CF2-EDC8-4C5E-8CDC-89F7665A99E3}"/>
                </a:ext>
              </a:extLst>
            </p:cNvPr>
            <p:cNvPicPr>
              <a:picLocks noChangeAspect="1" noChangeArrowheads="1"/>
            </p:cNvPicPr>
            <p:nvPr/>
          </p:nvPicPr>
          <p:blipFill>
            <a:blip r:embed="rId4" cstate="print"/>
            <a:srcRect/>
            <a:stretch>
              <a:fillRect/>
            </a:stretch>
          </p:blipFill>
          <p:spPr bwMode="auto">
            <a:xfrm>
              <a:off x="5715000" y="5334000"/>
              <a:ext cx="1266173" cy="842875"/>
            </a:xfrm>
            <a:prstGeom prst="rect">
              <a:avLst/>
            </a:prstGeom>
            <a:noFill/>
          </p:spPr>
        </p:pic>
        <p:pic>
          <p:nvPicPr>
            <p:cNvPr id="35" name="Picture 1">
              <a:extLst>
                <a:ext uri="{FF2B5EF4-FFF2-40B4-BE49-F238E27FC236}">
                  <a16:creationId xmlns:a16="http://schemas.microsoft.com/office/drawing/2014/main" id="{7F240BAF-69D6-436C-BEF9-96B9FCD93073}"/>
                </a:ext>
              </a:extLst>
            </p:cNvPr>
            <p:cNvPicPr>
              <a:picLocks noChangeAspect="1" noChangeArrowheads="1"/>
            </p:cNvPicPr>
            <p:nvPr/>
          </p:nvPicPr>
          <p:blipFill>
            <a:blip r:embed="rId5" cstate="print"/>
            <a:srcRect/>
            <a:stretch>
              <a:fillRect/>
            </a:stretch>
          </p:blipFill>
          <p:spPr bwMode="auto">
            <a:xfrm>
              <a:off x="5715000" y="6172200"/>
              <a:ext cx="1270322" cy="1003554"/>
            </a:xfrm>
            <a:prstGeom prst="rect">
              <a:avLst/>
            </a:prstGeom>
            <a:noFill/>
            <a:ln w="9525">
              <a:noFill/>
              <a:miter lim="800000"/>
              <a:headEnd/>
              <a:tailEnd/>
            </a:ln>
          </p:spPr>
        </p:pic>
      </p:grpSp>
      <p:pic>
        <p:nvPicPr>
          <p:cNvPr id="36" name="Picture 4" descr="http://d2uaszwku8m8xd.cloudfront.net/wordpress/wp-content/uploads/2012/11/LADWP_Logo1.jpg">
            <a:extLst>
              <a:ext uri="{FF2B5EF4-FFF2-40B4-BE49-F238E27FC236}">
                <a16:creationId xmlns:a16="http://schemas.microsoft.com/office/drawing/2014/main" id="{1DC7C4C4-E32F-493E-9007-4C7BE013B40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218384" y="4404420"/>
            <a:ext cx="1353524" cy="1432842"/>
          </a:xfrm>
          <a:prstGeom prst="rect">
            <a:avLst/>
          </a:prstGeom>
          <a:noFill/>
          <a:extLst>
            <a:ext uri="{909E8E84-426E-40DD-AFC4-6F175D3DCCD1}">
              <a14:hiddenFill xmlns:a14="http://schemas.microsoft.com/office/drawing/2010/main">
                <a:solidFill>
                  <a:srgbClr val="FFFFFF"/>
                </a:solidFill>
              </a14:hiddenFill>
            </a:ext>
          </a:extLst>
        </p:spPr>
      </p:pic>
      <p:grpSp>
        <p:nvGrpSpPr>
          <p:cNvPr id="38" name="Group 37">
            <a:extLst>
              <a:ext uri="{FF2B5EF4-FFF2-40B4-BE49-F238E27FC236}">
                <a16:creationId xmlns:a16="http://schemas.microsoft.com/office/drawing/2014/main" id="{61694B58-EF87-439E-92B8-EBDE92F1AA39}"/>
              </a:ext>
            </a:extLst>
          </p:cNvPr>
          <p:cNvGrpSpPr/>
          <p:nvPr/>
        </p:nvGrpSpPr>
        <p:grpSpPr>
          <a:xfrm>
            <a:off x="2880081" y="4367636"/>
            <a:ext cx="2182920" cy="2373611"/>
            <a:chOff x="3102159" y="4367636"/>
            <a:chExt cx="2182920" cy="2335939"/>
          </a:xfrm>
        </p:grpSpPr>
        <p:pic>
          <p:nvPicPr>
            <p:cNvPr id="39" name="Picture 38">
              <a:extLst>
                <a:ext uri="{FF2B5EF4-FFF2-40B4-BE49-F238E27FC236}">
                  <a16:creationId xmlns:a16="http://schemas.microsoft.com/office/drawing/2014/main" id="{888A8F61-7DB5-4B95-8C59-F87E6262B14D}"/>
                </a:ext>
              </a:extLst>
            </p:cNvPr>
            <p:cNvPicPr>
              <a:picLocks noChangeAspect="1"/>
            </p:cNvPicPr>
            <p:nvPr/>
          </p:nvPicPr>
          <p:blipFill>
            <a:blip r:embed="rId7"/>
            <a:stretch>
              <a:fillRect/>
            </a:stretch>
          </p:blipFill>
          <p:spPr>
            <a:xfrm>
              <a:off x="3102159" y="4367636"/>
              <a:ext cx="2182920" cy="2039838"/>
            </a:xfrm>
            <a:prstGeom prst="rect">
              <a:avLst/>
            </a:prstGeom>
          </p:spPr>
        </p:pic>
        <p:sp>
          <p:nvSpPr>
            <p:cNvPr id="40" name="TextBox 39">
              <a:extLst>
                <a:ext uri="{FF2B5EF4-FFF2-40B4-BE49-F238E27FC236}">
                  <a16:creationId xmlns:a16="http://schemas.microsoft.com/office/drawing/2014/main" id="{5A8EC6F6-6E35-497E-9785-06E76B3A9F00}"/>
                </a:ext>
              </a:extLst>
            </p:cNvPr>
            <p:cNvSpPr txBox="1"/>
            <p:nvPr/>
          </p:nvSpPr>
          <p:spPr>
            <a:xfrm>
              <a:off x="3211169" y="6365021"/>
              <a:ext cx="1912306" cy="338554"/>
            </a:xfrm>
            <a:prstGeom prst="rect">
              <a:avLst/>
            </a:prstGeom>
            <a:noFill/>
          </p:spPr>
          <p:txBody>
            <a:bodyPr wrap="square" rtlCol="0">
              <a:spAutoFit/>
            </a:bodyPr>
            <a:lstStyle/>
            <a:p>
              <a:r>
                <a:rPr lang="en-US" sz="1600" dirty="0"/>
                <a:t>Restaurants in </a:t>
              </a:r>
              <a:r>
                <a:rPr lang="en-US" sz="1600" dirty="0" err="1"/>
                <a:t>WeHo</a:t>
              </a:r>
              <a:endParaRPr lang="en-US" sz="1600" dirty="0"/>
            </a:p>
          </p:txBody>
        </p:sp>
      </p:grpSp>
    </p:spTree>
    <p:extLst>
      <p:ext uri="{BB962C8B-B14F-4D97-AF65-F5344CB8AC3E}">
        <p14:creationId xmlns:p14="http://schemas.microsoft.com/office/powerpoint/2010/main" val="1573720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Market structure characteristics</a:t>
            </a:r>
          </a:p>
        </p:txBody>
      </p:sp>
      <p:sp>
        <p:nvSpPr>
          <p:cNvPr id="4" name="Text Placeholder 3">
            <a:extLst>
              <a:ext uri="{FF2B5EF4-FFF2-40B4-BE49-F238E27FC236}">
                <a16:creationId xmlns:a16="http://schemas.microsoft.com/office/drawing/2014/main" id="{D4D59A68-C4A6-4C5C-8A29-B5E8688CB3DF}"/>
              </a:ext>
            </a:extLst>
          </p:cNvPr>
          <p:cNvSpPr>
            <a:spLocks noGrp="1"/>
          </p:cNvSpPr>
          <p:nvPr>
            <p:ph type="body" idx="1"/>
          </p:nvPr>
        </p:nvSpPr>
        <p:spPr/>
        <p:txBody>
          <a:bodyPr/>
          <a:lstStyle/>
          <a:p>
            <a:endParaRPr lang="en-US"/>
          </a:p>
        </p:txBody>
      </p:sp>
      <p:sp>
        <p:nvSpPr>
          <p:cNvPr id="2" name="Slide Number Placeholder 1"/>
          <p:cNvSpPr>
            <a:spLocks noGrp="1"/>
          </p:cNvSpPr>
          <p:nvPr>
            <p:ph type="sldNum" sz="quarter" idx="12"/>
          </p:nvPr>
        </p:nvSpPr>
        <p:spPr/>
        <p:txBody>
          <a:bodyPr/>
          <a:lstStyle/>
          <a:p>
            <a:fld id="{0F3206DB-9488-D04D-BDD1-A7C9D84C4579}" type="slidenum">
              <a:rPr lang="en-US" smtClean="0"/>
              <a:t>32</a:t>
            </a:fld>
            <a:endParaRPr lang="en-US"/>
          </a:p>
        </p:txBody>
      </p:sp>
      <p:sp>
        <p:nvSpPr>
          <p:cNvPr id="6" name="Rectangle 3"/>
          <p:cNvSpPr>
            <a:spLocks noChangeArrowheads="1"/>
          </p:cNvSpPr>
          <p:nvPr/>
        </p:nvSpPr>
        <p:spPr bwMode="auto">
          <a:xfrm>
            <a:off x="4343400" y="2133600"/>
            <a:ext cx="5224188" cy="4724400"/>
          </a:xfrm>
          <a:prstGeom prst="rect">
            <a:avLst/>
          </a:prstGeom>
          <a:noFill/>
          <a:ln w="9525">
            <a:noFill/>
            <a:miter lim="800000"/>
            <a:headEnd/>
            <a:tailEnd/>
          </a:ln>
          <a:effectLst/>
        </p:spPr>
        <p:txBody>
          <a:bodyPr wrap="none" lIns="20045" tIns="28397" rIns="20045" bIns="28397"/>
          <a:lstStyle/>
          <a:p>
            <a:pPr>
              <a:lnSpc>
                <a:spcPts val="2526"/>
              </a:lnSpc>
              <a:tabLst>
                <a:tab pos="481157" algn="l"/>
                <a:tab pos="962315" algn="l"/>
                <a:tab pos="1441802" algn="l"/>
              </a:tabLst>
            </a:pPr>
            <a:r>
              <a:rPr lang="en-US" b="0" dirty="0">
                <a:latin typeface="Whitney-Book" pitchFamily="50" charset="0"/>
                <a:cs typeface="Whitney-Book" pitchFamily="50" charset="0"/>
              </a:rPr>
              <a:t> Single seller</a:t>
            </a:r>
          </a:p>
          <a:p>
            <a:pPr>
              <a:lnSpc>
                <a:spcPts val="2526"/>
              </a:lnSpc>
              <a:tabLst>
                <a:tab pos="481157" algn="l"/>
                <a:tab pos="962315" algn="l"/>
                <a:tab pos="1441802" algn="l"/>
              </a:tabLst>
            </a:pPr>
            <a:endParaRPr lang="en-US" b="0" dirty="0">
              <a:latin typeface="Whitney-Book" pitchFamily="50" charset="0"/>
              <a:cs typeface="Whitney-Book" pitchFamily="50" charset="0"/>
            </a:endParaRPr>
          </a:p>
          <a:p>
            <a:pPr>
              <a:lnSpc>
                <a:spcPts val="2526"/>
              </a:lnSpc>
              <a:tabLst>
                <a:tab pos="481157" algn="l"/>
                <a:tab pos="962315" algn="l"/>
                <a:tab pos="1441802" algn="l"/>
              </a:tabLst>
            </a:pPr>
            <a:endParaRPr lang="en-US" b="0" dirty="0">
              <a:latin typeface="Whitney-Book" pitchFamily="50" charset="0"/>
              <a:cs typeface="Whitney-Book" pitchFamily="50" charset="0"/>
            </a:endParaRPr>
          </a:p>
          <a:p>
            <a:pPr>
              <a:lnSpc>
                <a:spcPts val="2526"/>
              </a:lnSpc>
              <a:tabLst>
                <a:tab pos="481157" algn="l"/>
                <a:tab pos="962315" algn="l"/>
                <a:tab pos="1441802" algn="l"/>
              </a:tabLst>
            </a:pPr>
            <a:r>
              <a:rPr lang="en-US" b="0" dirty="0">
                <a:latin typeface="Whitney-Book" pitchFamily="50" charset="0"/>
                <a:cs typeface="Whitney-Book" pitchFamily="50" charset="0"/>
              </a:rPr>
              <a:t>Very high – no close substitutes</a:t>
            </a:r>
          </a:p>
          <a:p>
            <a:pPr>
              <a:lnSpc>
                <a:spcPts val="2526"/>
              </a:lnSpc>
              <a:tabLst>
                <a:tab pos="481157" algn="l"/>
                <a:tab pos="962315" algn="l"/>
                <a:tab pos="1441802" algn="l"/>
              </a:tabLst>
            </a:pPr>
            <a:endParaRPr lang="en-US" b="0" dirty="0">
              <a:latin typeface="Whitney-Book" pitchFamily="50" charset="0"/>
              <a:cs typeface="Whitney-Book" pitchFamily="50" charset="0"/>
            </a:endParaRPr>
          </a:p>
          <a:p>
            <a:pPr>
              <a:lnSpc>
                <a:spcPts val="2526"/>
              </a:lnSpc>
              <a:tabLst>
                <a:tab pos="481157" algn="l"/>
                <a:tab pos="962315" algn="l"/>
                <a:tab pos="1441802" algn="l"/>
              </a:tabLst>
            </a:pPr>
            <a:r>
              <a:rPr lang="en-US" b="0" dirty="0">
                <a:latin typeface="Whitney-Book" pitchFamily="50" charset="0"/>
                <a:cs typeface="Whitney-Book" pitchFamily="50" charset="0"/>
              </a:rPr>
              <a:t>Restricted access (barriers)</a:t>
            </a:r>
          </a:p>
          <a:p>
            <a:pPr>
              <a:lnSpc>
                <a:spcPts val="2526"/>
              </a:lnSpc>
              <a:tabLst>
                <a:tab pos="481157" algn="l"/>
                <a:tab pos="962315" algn="l"/>
                <a:tab pos="1441802" algn="l"/>
              </a:tabLst>
            </a:pPr>
            <a:endParaRPr lang="en-US" b="0" dirty="0">
              <a:latin typeface="Whitney-Book" pitchFamily="50" charset="0"/>
              <a:cs typeface="Whitney-Book" pitchFamily="50" charset="0"/>
            </a:endParaRPr>
          </a:p>
          <a:p>
            <a:pPr>
              <a:lnSpc>
                <a:spcPts val="2526"/>
              </a:lnSpc>
              <a:tabLst>
                <a:tab pos="481157" algn="l"/>
                <a:tab pos="962315" algn="l"/>
                <a:tab pos="1441802" algn="l"/>
              </a:tabLst>
            </a:pPr>
            <a:r>
              <a:rPr lang="en-US" dirty="0">
                <a:latin typeface="Whitney-Book" pitchFamily="50" charset="0"/>
                <a:cs typeface="Whitney-Book" pitchFamily="50" charset="0"/>
              </a:rPr>
              <a:t>Profit potential in short </a:t>
            </a:r>
            <a:r>
              <a:rPr lang="en-US" u="sng" dirty="0">
                <a:latin typeface="Whitney-Book" pitchFamily="50" charset="0"/>
                <a:cs typeface="Whitney-Book" pitchFamily="50" charset="0"/>
              </a:rPr>
              <a:t>and</a:t>
            </a:r>
            <a:r>
              <a:rPr lang="en-US" dirty="0">
                <a:latin typeface="Whitney-Book" pitchFamily="50" charset="0"/>
                <a:cs typeface="Whitney-Book" pitchFamily="50" charset="0"/>
              </a:rPr>
              <a:t> long run </a:t>
            </a:r>
          </a:p>
          <a:p>
            <a:pPr>
              <a:lnSpc>
                <a:spcPts val="2526"/>
              </a:lnSpc>
              <a:tabLst>
                <a:tab pos="481157" algn="l"/>
                <a:tab pos="962315" algn="l"/>
                <a:tab pos="1441802" algn="l"/>
              </a:tabLst>
            </a:pPr>
            <a:endParaRPr lang="en-US" b="0" dirty="0">
              <a:latin typeface="Whitney-Book" pitchFamily="50" charset="0"/>
              <a:cs typeface="Whitney-Book" pitchFamily="50" charset="0"/>
            </a:endParaRPr>
          </a:p>
          <a:p>
            <a:pPr>
              <a:lnSpc>
                <a:spcPts val="2526"/>
              </a:lnSpc>
              <a:tabLst>
                <a:tab pos="481157" algn="l"/>
                <a:tab pos="962315" algn="l"/>
                <a:tab pos="1441802" algn="l"/>
              </a:tabLst>
            </a:pPr>
            <a:r>
              <a:rPr lang="en-US" dirty="0">
                <a:latin typeface="Whitney-Book" pitchFamily="50" charset="0"/>
                <a:cs typeface="Whitney-Book" pitchFamily="50" charset="0"/>
              </a:rPr>
              <a:t>Microsoft (before the rise of Apple); </a:t>
            </a:r>
          </a:p>
          <a:p>
            <a:pPr>
              <a:lnSpc>
                <a:spcPts val="2526"/>
              </a:lnSpc>
              <a:tabLst>
                <a:tab pos="481157" algn="l"/>
                <a:tab pos="962315" algn="l"/>
                <a:tab pos="1441802" algn="l"/>
              </a:tabLst>
            </a:pPr>
            <a:r>
              <a:rPr lang="en-US" dirty="0">
                <a:latin typeface="Whitney-Book" pitchFamily="50" charset="0"/>
                <a:cs typeface="Whitney-Book" pitchFamily="50" charset="0"/>
              </a:rPr>
              <a:t>gas, water and electric utilities</a:t>
            </a:r>
            <a:endParaRPr lang="en-US" sz="2000" b="0" dirty="0">
              <a:latin typeface="Whitney-Book" pitchFamily="50" charset="0"/>
              <a:cs typeface="Whitney-Book" pitchFamily="50" charset="0"/>
            </a:endParaRPr>
          </a:p>
          <a:p>
            <a:pPr>
              <a:lnSpc>
                <a:spcPts val="2526"/>
              </a:lnSpc>
              <a:tabLst>
                <a:tab pos="481157" algn="l"/>
                <a:tab pos="962315" algn="l"/>
                <a:tab pos="1441802" algn="l"/>
              </a:tabLst>
            </a:pPr>
            <a:endParaRPr lang="en-US" sz="2000" b="0" dirty="0">
              <a:latin typeface="Whitney-Book" pitchFamily="50" charset="0"/>
              <a:cs typeface="Whitney-Book" pitchFamily="50" charset="0"/>
            </a:endParaRPr>
          </a:p>
          <a:p>
            <a:pPr>
              <a:lnSpc>
                <a:spcPts val="2526"/>
              </a:lnSpc>
              <a:tabLst>
                <a:tab pos="481157" algn="l"/>
                <a:tab pos="962315" algn="l"/>
                <a:tab pos="1441802" algn="l"/>
              </a:tabLst>
            </a:pPr>
            <a:endParaRPr lang="en-US" sz="2000" b="0" dirty="0">
              <a:latin typeface="Whitney-Book" pitchFamily="50" charset="0"/>
              <a:cs typeface="Whitney-Book" pitchFamily="50" charset="0"/>
            </a:endParaRPr>
          </a:p>
          <a:p>
            <a:pPr>
              <a:lnSpc>
                <a:spcPts val="2526"/>
              </a:lnSpc>
              <a:tabLst>
                <a:tab pos="481157" algn="l"/>
                <a:tab pos="962315" algn="l"/>
                <a:tab pos="1441802" algn="l"/>
              </a:tabLst>
            </a:pPr>
            <a:endParaRPr lang="en-US" sz="2000" b="0" dirty="0">
              <a:latin typeface="Whitney-Book" pitchFamily="50" charset="0"/>
              <a:cs typeface="Whitney-Book" pitchFamily="50" charset="0"/>
            </a:endParaRPr>
          </a:p>
          <a:p>
            <a:pPr>
              <a:lnSpc>
                <a:spcPts val="2526"/>
              </a:lnSpc>
              <a:tabLst>
                <a:tab pos="481157" algn="l"/>
                <a:tab pos="962315" algn="l"/>
                <a:tab pos="1441802" algn="l"/>
              </a:tabLst>
            </a:pPr>
            <a:endParaRPr lang="en-US" sz="2000" b="0" dirty="0">
              <a:latin typeface="Whitney-Book" pitchFamily="50" charset="0"/>
              <a:cs typeface="Whitney-Book" pitchFamily="50" charset="0"/>
            </a:endParaRPr>
          </a:p>
        </p:txBody>
      </p:sp>
      <p:sp>
        <p:nvSpPr>
          <p:cNvPr id="7" name="Rectangle 4"/>
          <p:cNvSpPr>
            <a:spLocks noChangeArrowheads="1"/>
          </p:cNvSpPr>
          <p:nvPr/>
        </p:nvSpPr>
        <p:spPr bwMode="auto">
          <a:xfrm>
            <a:off x="381000" y="2133600"/>
            <a:ext cx="3580774" cy="4724400"/>
          </a:xfrm>
          <a:prstGeom prst="rect">
            <a:avLst/>
          </a:prstGeom>
          <a:noFill/>
          <a:ln w="9525">
            <a:noFill/>
            <a:miter lim="800000"/>
            <a:headEnd/>
            <a:tailEnd/>
          </a:ln>
          <a:effectLst/>
        </p:spPr>
        <p:txBody>
          <a:bodyPr wrap="none" lIns="20045" tIns="28397" rIns="20045" bIns="28397"/>
          <a:lstStyle/>
          <a:p>
            <a:pPr>
              <a:lnSpc>
                <a:spcPts val="2526"/>
              </a:lnSpc>
              <a:tabLst>
                <a:tab pos="481157" algn="l"/>
                <a:tab pos="962315" algn="l"/>
                <a:tab pos="1441802" algn="l"/>
              </a:tabLst>
            </a:pPr>
            <a:r>
              <a:rPr lang="en-US" b="0" dirty="0">
                <a:latin typeface="Whitney-Book" pitchFamily="50" charset="0"/>
                <a:cs typeface="Whitney-Book" pitchFamily="50" charset="0"/>
              </a:rPr>
              <a:t>Number of actual or potential </a:t>
            </a:r>
            <a:br>
              <a:rPr lang="en-US" b="0" dirty="0">
                <a:latin typeface="Whitney-Book" pitchFamily="50" charset="0"/>
                <a:cs typeface="Whitney-Book" pitchFamily="50" charset="0"/>
              </a:rPr>
            </a:br>
            <a:r>
              <a:rPr lang="en-US" b="0" dirty="0">
                <a:latin typeface="Whitney-Book" pitchFamily="50" charset="0"/>
                <a:cs typeface="Whitney-Book" pitchFamily="50" charset="0"/>
              </a:rPr>
              <a:t>competitors</a:t>
            </a:r>
          </a:p>
          <a:p>
            <a:pPr>
              <a:lnSpc>
                <a:spcPts val="2526"/>
              </a:lnSpc>
              <a:tabLst>
                <a:tab pos="481157" algn="l"/>
                <a:tab pos="962315" algn="l"/>
                <a:tab pos="1441802" algn="l"/>
              </a:tabLst>
            </a:pPr>
            <a:endParaRPr lang="en-US" b="0" dirty="0">
              <a:latin typeface="Whitney-Book" pitchFamily="50" charset="0"/>
              <a:cs typeface="Whitney-Book" pitchFamily="50" charset="0"/>
            </a:endParaRPr>
          </a:p>
          <a:p>
            <a:pPr>
              <a:lnSpc>
                <a:spcPts val="2526"/>
              </a:lnSpc>
              <a:tabLst>
                <a:tab pos="481157" algn="l"/>
                <a:tab pos="962315" algn="l"/>
                <a:tab pos="1441802" algn="l"/>
              </a:tabLst>
            </a:pPr>
            <a:r>
              <a:rPr lang="en-US" b="0" dirty="0">
                <a:latin typeface="Whitney-Book" pitchFamily="50" charset="0"/>
                <a:cs typeface="Whitney-Book" pitchFamily="50" charset="0"/>
              </a:rPr>
              <a:t>Product differentiation</a:t>
            </a:r>
          </a:p>
          <a:p>
            <a:pPr>
              <a:lnSpc>
                <a:spcPts val="2526"/>
              </a:lnSpc>
              <a:tabLst>
                <a:tab pos="481157" algn="l"/>
                <a:tab pos="962315" algn="l"/>
                <a:tab pos="1441802" algn="l"/>
              </a:tabLst>
            </a:pPr>
            <a:endParaRPr lang="en-US" b="0" dirty="0">
              <a:latin typeface="Whitney-Book" pitchFamily="50" charset="0"/>
              <a:cs typeface="Whitney-Book" pitchFamily="50" charset="0"/>
            </a:endParaRPr>
          </a:p>
          <a:p>
            <a:pPr>
              <a:lnSpc>
                <a:spcPts val="2526"/>
              </a:lnSpc>
              <a:tabLst>
                <a:tab pos="481157" algn="l"/>
                <a:tab pos="962315" algn="l"/>
                <a:tab pos="1441802" algn="l"/>
              </a:tabLst>
            </a:pPr>
            <a:r>
              <a:rPr lang="en-US" b="0" dirty="0">
                <a:latin typeface="Whitney-Book" pitchFamily="50" charset="0"/>
                <a:cs typeface="Whitney-Book" pitchFamily="50" charset="0"/>
              </a:rPr>
              <a:t>Entry conditions</a:t>
            </a:r>
          </a:p>
          <a:p>
            <a:pPr>
              <a:lnSpc>
                <a:spcPts val="2526"/>
              </a:lnSpc>
              <a:tabLst>
                <a:tab pos="481157" algn="l"/>
                <a:tab pos="962315" algn="l"/>
                <a:tab pos="1441802" algn="l"/>
              </a:tabLst>
            </a:pPr>
            <a:endParaRPr lang="en-US" b="0" dirty="0">
              <a:latin typeface="Whitney-Book" pitchFamily="50" charset="0"/>
              <a:cs typeface="Whitney-Book" pitchFamily="50" charset="0"/>
            </a:endParaRPr>
          </a:p>
          <a:p>
            <a:pPr>
              <a:lnSpc>
                <a:spcPts val="2526"/>
              </a:lnSpc>
              <a:tabLst>
                <a:tab pos="481157" algn="l"/>
                <a:tab pos="962315" algn="l"/>
                <a:tab pos="1441802" algn="l"/>
              </a:tabLst>
            </a:pPr>
            <a:r>
              <a:rPr lang="en-US" b="0" dirty="0">
                <a:latin typeface="Whitney-Book" pitchFamily="50" charset="0"/>
                <a:cs typeface="Whitney-Book" pitchFamily="50" charset="0"/>
              </a:rPr>
              <a:t>Profit potential</a:t>
            </a:r>
          </a:p>
          <a:p>
            <a:pPr>
              <a:lnSpc>
                <a:spcPts val="2526"/>
              </a:lnSpc>
              <a:tabLst>
                <a:tab pos="481157" algn="l"/>
                <a:tab pos="962315" algn="l"/>
                <a:tab pos="1441802" algn="l"/>
              </a:tabLst>
            </a:pPr>
            <a:endParaRPr lang="en-US" b="0" dirty="0">
              <a:latin typeface="Whitney-Book" pitchFamily="50" charset="0"/>
              <a:cs typeface="Whitney-Book" pitchFamily="50" charset="0"/>
            </a:endParaRPr>
          </a:p>
          <a:p>
            <a:pPr>
              <a:lnSpc>
                <a:spcPts val="2526"/>
              </a:lnSpc>
              <a:tabLst>
                <a:tab pos="481157" algn="l"/>
                <a:tab pos="962315" algn="l"/>
                <a:tab pos="1441802" algn="l"/>
              </a:tabLst>
            </a:pPr>
            <a:r>
              <a:rPr lang="en-US" b="0" dirty="0">
                <a:latin typeface="Whitney-Book" pitchFamily="50" charset="0"/>
                <a:cs typeface="Whitney-Book" pitchFamily="50" charset="0"/>
              </a:rPr>
              <a:t>Examples</a:t>
            </a:r>
          </a:p>
          <a:p>
            <a:pPr>
              <a:lnSpc>
                <a:spcPts val="2526"/>
              </a:lnSpc>
              <a:tabLst>
                <a:tab pos="481157" algn="l"/>
                <a:tab pos="962315" algn="l"/>
                <a:tab pos="1441802" algn="l"/>
              </a:tabLst>
            </a:pPr>
            <a:endParaRPr lang="en-US" sz="2000" b="0" dirty="0">
              <a:latin typeface="Whitney-Book" pitchFamily="50" charset="0"/>
              <a:cs typeface="Whitney-Book" pitchFamily="50" charset="0"/>
            </a:endParaRPr>
          </a:p>
          <a:p>
            <a:pPr>
              <a:lnSpc>
                <a:spcPts val="2526"/>
              </a:lnSpc>
              <a:tabLst>
                <a:tab pos="481157" algn="l"/>
                <a:tab pos="962315" algn="l"/>
                <a:tab pos="1441802" algn="l"/>
              </a:tabLst>
            </a:pPr>
            <a:endParaRPr lang="en-US" sz="2000" b="0" dirty="0">
              <a:latin typeface="Whitney-Book" pitchFamily="50" charset="0"/>
              <a:cs typeface="Whitney-Book" pitchFamily="50" charset="0"/>
            </a:endParaRPr>
          </a:p>
          <a:p>
            <a:pPr>
              <a:lnSpc>
                <a:spcPts val="2526"/>
              </a:lnSpc>
              <a:tabLst>
                <a:tab pos="481157" algn="l"/>
                <a:tab pos="962315" algn="l"/>
                <a:tab pos="1441802" algn="l"/>
              </a:tabLst>
            </a:pPr>
            <a:endParaRPr lang="en-US" sz="2000" b="0" dirty="0">
              <a:latin typeface="Whitney-Book" pitchFamily="50" charset="0"/>
              <a:cs typeface="Whitney-Book" pitchFamily="50" charset="0"/>
            </a:endParaRPr>
          </a:p>
          <a:p>
            <a:pPr>
              <a:lnSpc>
                <a:spcPts val="2526"/>
              </a:lnSpc>
              <a:tabLst>
                <a:tab pos="481157" algn="l"/>
                <a:tab pos="962315" algn="l"/>
                <a:tab pos="1441802" algn="l"/>
              </a:tabLst>
            </a:pPr>
            <a:endParaRPr lang="en-US" sz="2000" b="0" dirty="0">
              <a:latin typeface="Whitney-Book" pitchFamily="50" charset="0"/>
              <a:cs typeface="Whitney-Book" pitchFamily="50" charset="0"/>
            </a:endParaRPr>
          </a:p>
          <a:p>
            <a:pPr>
              <a:lnSpc>
                <a:spcPts val="2526"/>
              </a:lnSpc>
              <a:tabLst>
                <a:tab pos="481157" algn="l"/>
                <a:tab pos="962315" algn="l"/>
                <a:tab pos="1441802" algn="l"/>
              </a:tabLst>
            </a:pPr>
            <a:endParaRPr lang="en-US" sz="2000" b="0" dirty="0">
              <a:latin typeface="Whitney-Book" pitchFamily="50" charset="0"/>
              <a:cs typeface="Whitney-Book" pitchFamily="50" charset="0"/>
            </a:endParaRPr>
          </a:p>
        </p:txBody>
      </p:sp>
      <p:sp>
        <p:nvSpPr>
          <p:cNvPr id="8" name="Rectangle 6"/>
          <p:cNvSpPr>
            <a:spLocks noChangeArrowheads="1"/>
          </p:cNvSpPr>
          <p:nvPr/>
        </p:nvSpPr>
        <p:spPr bwMode="auto">
          <a:xfrm>
            <a:off x="2020530" y="1219200"/>
            <a:ext cx="5050494" cy="615172"/>
          </a:xfrm>
          <a:prstGeom prst="rect">
            <a:avLst/>
          </a:prstGeom>
          <a:noFill/>
          <a:ln w="9525">
            <a:noFill/>
            <a:miter lim="800000"/>
            <a:headEnd/>
            <a:tailEnd/>
          </a:ln>
          <a:effectLst/>
        </p:spPr>
        <p:txBody>
          <a:bodyPr wrap="none" lIns="20045" tIns="28397" rIns="20045" bIns="28397"/>
          <a:lstStyle/>
          <a:p>
            <a:pPr algn="ctr">
              <a:lnSpc>
                <a:spcPts val="3789"/>
              </a:lnSpc>
              <a:tabLst>
                <a:tab pos="962315" algn="l"/>
                <a:tab pos="1924629" algn="l"/>
                <a:tab pos="2886944" algn="l"/>
                <a:tab pos="3847588" algn="l"/>
                <a:tab pos="4809903" algn="l"/>
                <a:tab pos="5773887" algn="l"/>
                <a:tab pos="6734532" algn="l"/>
              </a:tabLst>
            </a:pPr>
            <a:r>
              <a:rPr lang="en-US" sz="3200" b="0" dirty="0">
                <a:latin typeface="Whitney-Book" pitchFamily="50" charset="0"/>
                <a:cs typeface="Whitney-Book" pitchFamily="50" charset="0"/>
              </a:rPr>
              <a:t>Monopoly</a:t>
            </a:r>
          </a:p>
        </p:txBody>
      </p:sp>
      <p:sp>
        <p:nvSpPr>
          <p:cNvPr id="9" name="Line 7"/>
          <p:cNvSpPr>
            <a:spLocks noChangeShapeType="1"/>
          </p:cNvSpPr>
          <p:nvPr/>
        </p:nvSpPr>
        <p:spPr bwMode="auto">
          <a:xfrm>
            <a:off x="304800" y="1981200"/>
            <a:ext cx="8818323" cy="0"/>
          </a:xfrm>
          <a:prstGeom prst="line">
            <a:avLst/>
          </a:prstGeom>
          <a:noFill/>
          <a:ln w="50800">
            <a:solidFill>
              <a:schemeClr val="accent1"/>
            </a:solidFill>
            <a:round/>
            <a:headEnd type="none" w="sm" len="sm"/>
            <a:tailEnd type="none" w="sm" len="sm"/>
          </a:ln>
          <a:effectLst/>
        </p:spPr>
        <p:txBody>
          <a:bodyPr wrap="none" lIns="96231" tIns="48116" rIns="96231" bIns="48116" anchor="ctr"/>
          <a:lstStyle/>
          <a:p>
            <a:endParaRPr lang="en-US" b="0">
              <a:latin typeface="+mn-lt"/>
              <a:cs typeface="Times New Roman" pitchFamily="18" charset="0"/>
            </a:endParaRPr>
          </a:p>
        </p:txBody>
      </p:sp>
      <p:sp>
        <p:nvSpPr>
          <p:cNvPr id="10" name="Line 8"/>
          <p:cNvSpPr>
            <a:spLocks noChangeShapeType="1"/>
          </p:cNvSpPr>
          <p:nvPr/>
        </p:nvSpPr>
        <p:spPr bwMode="auto">
          <a:xfrm>
            <a:off x="304800" y="5948218"/>
            <a:ext cx="8818323" cy="0"/>
          </a:xfrm>
          <a:prstGeom prst="line">
            <a:avLst/>
          </a:prstGeom>
          <a:noFill/>
          <a:ln w="50800">
            <a:solidFill>
              <a:schemeClr val="accent1"/>
            </a:solidFill>
            <a:round/>
            <a:headEnd type="none" w="sm" len="sm"/>
            <a:tailEnd type="none" w="sm" len="sm"/>
          </a:ln>
          <a:effectLst/>
        </p:spPr>
        <p:txBody>
          <a:bodyPr wrap="none" lIns="96231" tIns="48116" rIns="96231" bIns="48116" anchor="ctr"/>
          <a:lstStyle/>
          <a:p>
            <a:endParaRPr lang="en-US" b="0">
              <a:latin typeface="+mn-lt"/>
              <a:cs typeface="Times New Roman" pitchFamily="18" charset="0"/>
            </a:endParaRPr>
          </a:p>
        </p:txBody>
      </p:sp>
      <p:pic>
        <p:nvPicPr>
          <p:cNvPr id="11" name="Picture 10">
            <a:extLst>
              <a:ext uri="{FF2B5EF4-FFF2-40B4-BE49-F238E27FC236}">
                <a16:creationId xmlns:a16="http://schemas.microsoft.com/office/drawing/2014/main" id="{2DAB20F8-5ED6-476A-8E52-3FB8EDE5AB88}"/>
              </a:ext>
            </a:extLst>
          </p:cNvPr>
          <p:cNvPicPr>
            <a:picLocks noChangeAspect="1"/>
          </p:cNvPicPr>
          <p:nvPr/>
        </p:nvPicPr>
        <p:blipFill>
          <a:blip r:embed="rId3"/>
          <a:stretch>
            <a:fillRect/>
          </a:stretch>
        </p:blipFill>
        <p:spPr>
          <a:xfrm>
            <a:off x="3364237" y="1219200"/>
            <a:ext cx="2605090" cy="547688"/>
          </a:xfrm>
          <a:prstGeom prst="rect">
            <a:avLst/>
          </a:prstGeom>
        </p:spPr>
      </p:pic>
    </p:spTree>
    <p:extLst>
      <p:ext uri="{BB962C8B-B14F-4D97-AF65-F5344CB8AC3E}">
        <p14:creationId xmlns:p14="http://schemas.microsoft.com/office/powerpoint/2010/main" val="31525539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5"/>
          <p:cNvGrpSpPr>
            <a:grpSpLocks/>
          </p:cNvGrpSpPr>
          <p:nvPr/>
        </p:nvGrpSpPr>
        <p:grpSpPr bwMode="auto">
          <a:xfrm>
            <a:off x="92415" y="1887308"/>
            <a:ext cx="7057999" cy="4610448"/>
            <a:chOff x="104" y="1133"/>
            <a:chExt cx="4226" cy="2758"/>
          </a:xfrm>
        </p:grpSpPr>
        <p:sp>
          <p:nvSpPr>
            <p:cNvPr id="5" name="Line 4"/>
            <p:cNvSpPr>
              <a:spLocks noChangeShapeType="1"/>
            </p:cNvSpPr>
            <p:nvPr/>
          </p:nvSpPr>
          <p:spPr bwMode="auto">
            <a:xfrm>
              <a:off x="580" y="1408"/>
              <a:ext cx="4" cy="2168"/>
            </a:xfrm>
            <a:prstGeom prst="line">
              <a:avLst/>
            </a:prstGeom>
            <a:noFill/>
            <a:ln w="50800">
              <a:solidFill>
                <a:schemeClr val="tx1"/>
              </a:solidFill>
              <a:round/>
              <a:headEnd type="arrow" w="sm" len="sm"/>
              <a:tailEnd type="none" w="sm" len="sm"/>
            </a:ln>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6" name="Line 5"/>
            <p:cNvSpPr>
              <a:spLocks noChangeShapeType="1"/>
            </p:cNvSpPr>
            <p:nvPr/>
          </p:nvSpPr>
          <p:spPr bwMode="auto">
            <a:xfrm>
              <a:off x="584" y="3576"/>
              <a:ext cx="3280" cy="0"/>
            </a:xfrm>
            <a:prstGeom prst="line">
              <a:avLst/>
            </a:prstGeom>
            <a:noFill/>
            <a:ln w="50800">
              <a:solidFill>
                <a:schemeClr val="tx1"/>
              </a:solidFill>
              <a:round/>
              <a:headEnd type="none" w="sm" len="sm"/>
              <a:tailEnd type="arrow" w="sm" len="sm"/>
            </a:ln>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7" name="Rectangle 6"/>
            <p:cNvSpPr>
              <a:spLocks noChangeArrowheads="1"/>
            </p:cNvSpPr>
            <p:nvPr/>
          </p:nvSpPr>
          <p:spPr bwMode="auto">
            <a:xfrm>
              <a:off x="3906" y="3515"/>
              <a:ext cx="424" cy="37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b="0" i="1" dirty="0">
                  <a:latin typeface="Whitney-Book" pitchFamily="50" charset="0"/>
                  <a:cs typeface="Whitney-Book" pitchFamily="50" charset="0"/>
                </a:rPr>
                <a:t>Q</a:t>
              </a:r>
            </a:p>
          </p:txBody>
        </p:sp>
        <p:sp>
          <p:nvSpPr>
            <p:cNvPr id="8" name="Rectangle 7"/>
            <p:cNvSpPr>
              <a:spLocks noChangeArrowheads="1"/>
            </p:cNvSpPr>
            <p:nvPr/>
          </p:nvSpPr>
          <p:spPr bwMode="auto">
            <a:xfrm>
              <a:off x="104" y="1133"/>
              <a:ext cx="395" cy="221"/>
            </a:xfrm>
            <a:prstGeom prst="rect">
              <a:avLst/>
            </a:prstGeom>
            <a:noFill/>
            <a:ln w="9525">
              <a:noFill/>
              <a:miter lim="800000"/>
              <a:headEnd/>
              <a:tailEnd/>
            </a:ln>
            <a:effectLst/>
          </p:spPr>
          <p:txBody>
            <a:bodyPr wrap="none" lIns="92075" tIns="46038" rIns="92075" bIns="46038">
              <a:spAutoFit/>
            </a:bodyPr>
            <a:lstStyle/>
            <a:p>
              <a:r>
                <a:rPr lang="en-US" b="0" i="1" dirty="0">
                  <a:latin typeface="Whitney-Book" pitchFamily="50" charset="0"/>
                  <a:cs typeface="Whitney-Book" pitchFamily="50" charset="0"/>
                </a:rPr>
                <a:t>Price</a:t>
              </a:r>
            </a:p>
          </p:txBody>
        </p:sp>
      </p:grpSp>
      <p:grpSp>
        <p:nvGrpSpPr>
          <p:cNvPr id="9" name="Group 46"/>
          <p:cNvGrpSpPr>
            <a:grpSpLocks/>
          </p:cNvGrpSpPr>
          <p:nvPr/>
        </p:nvGrpSpPr>
        <p:grpSpPr bwMode="auto">
          <a:xfrm>
            <a:off x="894080" y="2942129"/>
            <a:ext cx="5478049" cy="2694722"/>
            <a:chOff x="584" y="1764"/>
            <a:chExt cx="3280" cy="1612"/>
          </a:xfrm>
        </p:grpSpPr>
        <p:sp>
          <p:nvSpPr>
            <p:cNvPr id="10" name="Line 9"/>
            <p:cNvSpPr>
              <a:spLocks noChangeShapeType="1"/>
            </p:cNvSpPr>
            <p:nvPr/>
          </p:nvSpPr>
          <p:spPr bwMode="auto">
            <a:xfrm>
              <a:off x="584" y="1764"/>
              <a:ext cx="2816" cy="1344"/>
            </a:xfrm>
            <a:prstGeom prst="line">
              <a:avLst/>
            </a:prstGeom>
            <a:noFill/>
            <a:ln w="50800">
              <a:solidFill>
                <a:srgbClr val="C00000"/>
              </a:solidFill>
              <a:round/>
              <a:headEnd type="none" w="sm" len="sm"/>
              <a:tailEnd type="none" w="sm" len="sm"/>
            </a:ln>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11" name="Rectangle 10"/>
            <p:cNvSpPr>
              <a:spLocks noChangeArrowheads="1"/>
            </p:cNvSpPr>
            <p:nvPr/>
          </p:nvSpPr>
          <p:spPr bwMode="auto">
            <a:xfrm>
              <a:off x="3440" y="3000"/>
              <a:ext cx="424" cy="37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400" b="0" i="1" dirty="0">
                  <a:solidFill>
                    <a:srgbClr val="C00000"/>
                  </a:solidFill>
                  <a:latin typeface="Whitney-Book" pitchFamily="50" charset="0"/>
                  <a:cs typeface="Whitney-Book" pitchFamily="50" charset="0"/>
                </a:rPr>
                <a:t>D</a:t>
              </a:r>
            </a:p>
          </p:txBody>
        </p:sp>
      </p:grpSp>
      <p:sp>
        <p:nvSpPr>
          <p:cNvPr id="16" name="Line 15"/>
          <p:cNvSpPr>
            <a:spLocks noChangeShapeType="1"/>
          </p:cNvSpPr>
          <p:nvPr/>
        </p:nvSpPr>
        <p:spPr bwMode="auto">
          <a:xfrm flipV="1">
            <a:off x="905772" y="4057128"/>
            <a:ext cx="4362398" cy="1200254"/>
          </a:xfrm>
          <a:prstGeom prst="line">
            <a:avLst/>
          </a:prstGeom>
          <a:noFill/>
          <a:ln w="50800">
            <a:solidFill>
              <a:schemeClr val="accent1"/>
            </a:solidFill>
            <a:round/>
            <a:headEnd type="none" w="sm" len="sm"/>
            <a:tailEnd type="none" w="sm" len="sm"/>
          </a:ln>
          <a:effectLst/>
        </p:spPr>
        <p:txBody>
          <a:bodyPr wrap="none" anchor="ctr"/>
          <a:lstStyle/>
          <a:p>
            <a:endParaRPr lang="en-US" sz="2800" b="0">
              <a:solidFill>
                <a:schemeClr val="bg1"/>
              </a:solidFill>
              <a:latin typeface="Whitney-Book" pitchFamily="50" charset="0"/>
              <a:cs typeface="Whitney-Book" pitchFamily="50" charset="0"/>
            </a:endParaRPr>
          </a:p>
        </p:txBody>
      </p:sp>
      <p:grpSp>
        <p:nvGrpSpPr>
          <p:cNvPr id="18" name="Group 57"/>
          <p:cNvGrpSpPr>
            <a:grpSpLocks/>
          </p:cNvGrpSpPr>
          <p:nvPr/>
        </p:nvGrpSpPr>
        <p:grpSpPr bwMode="auto">
          <a:xfrm>
            <a:off x="222685" y="4180831"/>
            <a:ext cx="4364069" cy="2459017"/>
            <a:chOff x="182" y="2505"/>
            <a:chExt cx="2613" cy="1471"/>
          </a:xfrm>
        </p:grpSpPr>
        <p:sp>
          <p:nvSpPr>
            <p:cNvPr id="19" name="Rectangle 17"/>
            <p:cNvSpPr>
              <a:spLocks noChangeArrowheads="1"/>
            </p:cNvSpPr>
            <p:nvPr/>
          </p:nvSpPr>
          <p:spPr bwMode="auto">
            <a:xfrm>
              <a:off x="182" y="2505"/>
              <a:ext cx="617" cy="37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b="0" i="1" dirty="0" err="1">
                  <a:latin typeface="Whitney-Book" pitchFamily="50" charset="0"/>
                  <a:cs typeface="Whitney-Book" pitchFamily="50" charset="0"/>
                </a:rPr>
                <a:t>P</a:t>
              </a:r>
              <a:r>
                <a:rPr lang="en-US" i="1" baseline="-25000" dirty="0" err="1">
                  <a:latin typeface="Whitney-Book" pitchFamily="50" charset="0"/>
                  <a:cs typeface="Whitney-Book" pitchFamily="50" charset="0"/>
                </a:rPr>
                <a:t>Comp</a:t>
              </a:r>
              <a:endParaRPr lang="en-US" sz="1800" b="0" i="1" baseline="-25000" dirty="0">
                <a:latin typeface="Whitney-Book" pitchFamily="50" charset="0"/>
                <a:cs typeface="Whitney-Book" pitchFamily="50" charset="0"/>
              </a:endParaRPr>
            </a:p>
          </p:txBody>
        </p:sp>
        <p:grpSp>
          <p:nvGrpSpPr>
            <p:cNvPr id="20" name="Group 53"/>
            <p:cNvGrpSpPr>
              <a:grpSpLocks/>
            </p:cNvGrpSpPr>
            <p:nvPr/>
          </p:nvGrpSpPr>
          <p:grpSpPr bwMode="auto">
            <a:xfrm>
              <a:off x="2315" y="2638"/>
              <a:ext cx="480" cy="1338"/>
              <a:chOff x="2315" y="2638"/>
              <a:chExt cx="480" cy="1338"/>
            </a:xfrm>
          </p:grpSpPr>
          <p:sp>
            <p:nvSpPr>
              <p:cNvPr id="21" name="Rectangle 20"/>
              <p:cNvSpPr>
                <a:spLocks noChangeArrowheads="1"/>
              </p:cNvSpPr>
              <p:nvPr/>
            </p:nvSpPr>
            <p:spPr bwMode="auto">
              <a:xfrm>
                <a:off x="2315" y="3593"/>
                <a:ext cx="480" cy="383"/>
              </a:xfrm>
              <a:prstGeom prst="rect">
                <a:avLst/>
              </a:prstGeom>
              <a:noFill/>
              <a:ln w="9525">
                <a:noFill/>
                <a:prstDash val="sysDot"/>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b="0" i="1" dirty="0" err="1">
                    <a:latin typeface="Whitney-Book" pitchFamily="50" charset="0"/>
                    <a:cs typeface="Whitney-Book" pitchFamily="50" charset="0"/>
                  </a:rPr>
                  <a:t>Q</a:t>
                </a:r>
                <a:r>
                  <a:rPr lang="en-US" i="1" baseline="-25000" dirty="0" err="1">
                    <a:latin typeface="Whitney-Book" pitchFamily="50" charset="0"/>
                    <a:cs typeface="Whitney-Book" pitchFamily="50" charset="0"/>
                  </a:rPr>
                  <a:t>Comp</a:t>
                </a:r>
                <a:endParaRPr lang="en-US" sz="1800" b="0" i="1" baseline="-25000" dirty="0">
                  <a:latin typeface="Whitney-Book" pitchFamily="50" charset="0"/>
                  <a:cs typeface="Whitney-Book" pitchFamily="50" charset="0"/>
                </a:endParaRPr>
              </a:p>
            </p:txBody>
          </p:sp>
          <p:sp>
            <p:nvSpPr>
              <p:cNvPr id="22" name="Line 21"/>
              <p:cNvSpPr>
                <a:spLocks noChangeShapeType="1"/>
              </p:cNvSpPr>
              <p:nvPr/>
            </p:nvSpPr>
            <p:spPr bwMode="auto">
              <a:xfrm>
                <a:off x="2416" y="2638"/>
                <a:ext cx="0" cy="945"/>
              </a:xfrm>
              <a:prstGeom prst="line">
                <a:avLst/>
              </a:prstGeom>
              <a:noFill/>
              <a:ln w="25400">
                <a:solidFill>
                  <a:schemeClr val="tx1"/>
                </a:solidFill>
                <a:prstDash val="sysDot"/>
                <a:round/>
                <a:headEnd type="none" w="sm" len="sm"/>
                <a:tailEnd type="none" w="sm" len="sm"/>
              </a:ln>
              <a:effectLst/>
            </p:spPr>
            <p:txBody>
              <a:bodyPr wrap="none" anchor="ctr"/>
              <a:lstStyle/>
              <a:p>
                <a:endParaRPr lang="en-US" sz="2800" b="0">
                  <a:solidFill>
                    <a:schemeClr val="bg1"/>
                  </a:solidFill>
                  <a:latin typeface="Whitney-Book" pitchFamily="50" charset="0"/>
                  <a:cs typeface="Whitney-Book" pitchFamily="50" charset="0"/>
                </a:endParaRPr>
              </a:p>
            </p:txBody>
          </p:sp>
        </p:grpSp>
      </p:grpSp>
      <p:sp>
        <p:nvSpPr>
          <p:cNvPr id="54" name="Title 53">
            <a:extLst>
              <a:ext uri="{FF2B5EF4-FFF2-40B4-BE49-F238E27FC236}">
                <a16:creationId xmlns:a16="http://schemas.microsoft.com/office/drawing/2014/main" id="{EB48780F-5C1F-4D6B-B47A-B819E1ECDC24}"/>
              </a:ext>
            </a:extLst>
          </p:cNvPr>
          <p:cNvSpPr>
            <a:spLocks noGrp="1"/>
          </p:cNvSpPr>
          <p:nvPr>
            <p:ph type="title"/>
          </p:nvPr>
        </p:nvSpPr>
        <p:spPr/>
        <p:txBody>
          <a:bodyPr>
            <a:normAutofit fontScale="90000"/>
          </a:bodyPr>
          <a:lstStyle/>
          <a:p>
            <a:r>
              <a:rPr lang="en-US" dirty="0"/>
              <a:t>Recall: Consumer And Producer Surplus under Competition</a:t>
            </a:r>
          </a:p>
        </p:txBody>
      </p:sp>
      <p:sp>
        <p:nvSpPr>
          <p:cNvPr id="3" name="Slide Number Placeholder 2"/>
          <p:cNvSpPr>
            <a:spLocks noGrp="1"/>
          </p:cNvSpPr>
          <p:nvPr>
            <p:ph type="sldNum" sz="quarter" idx="12"/>
          </p:nvPr>
        </p:nvSpPr>
        <p:spPr/>
        <p:txBody>
          <a:bodyPr/>
          <a:lstStyle/>
          <a:p>
            <a:fld id="{0F3206DB-9488-D04D-BDD1-A7C9D84C4579}" type="slidenum">
              <a:rPr lang="en-US" smtClean="0"/>
              <a:t>33</a:t>
            </a:fld>
            <a:endParaRPr lang="en-US"/>
          </a:p>
        </p:txBody>
      </p:sp>
      <p:cxnSp>
        <p:nvCxnSpPr>
          <p:cNvPr id="56" name="Straight Connector 55">
            <a:extLst>
              <a:ext uri="{FF2B5EF4-FFF2-40B4-BE49-F238E27FC236}">
                <a16:creationId xmlns:a16="http://schemas.microsoft.com/office/drawing/2014/main" id="{245F18C7-9DB2-4140-A8A1-16F39003B82D}"/>
              </a:ext>
            </a:extLst>
          </p:cNvPr>
          <p:cNvCxnSpPr>
            <a:cxnSpLocks/>
            <a:endCxn id="22" idx="0"/>
          </p:cNvCxnSpPr>
          <p:nvPr/>
        </p:nvCxnSpPr>
        <p:spPr>
          <a:xfrm>
            <a:off x="887400" y="4403162"/>
            <a:ext cx="3066371" cy="0"/>
          </a:xfrm>
          <a:prstGeom prst="line">
            <a:avLst/>
          </a:prstGeom>
          <a:ln>
            <a:prstDash val="sysDot"/>
          </a:ln>
        </p:spPr>
        <p:style>
          <a:lnRef idx="2">
            <a:schemeClr val="dk1"/>
          </a:lnRef>
          <a:fillRef idx="0">
            <a:schemeClr val="dk1"/>
          </a:fillRef>
          <a:effectRef idx="1">
            <a:schemeClr val="dk1"/>
          </a:effectRef>
          <a:fontRef idx="minor">
            <a:schemeClr val="tx1"/>
          </a:fontRef>
        </p:style>
      </p:cxnSp>
      <p:sp>
        <p:nvSpPr>
          <p:cNvPr id="47" name="TextBox 46">
            <a:extLst>
              <a:ext uri="{FF2B5EF4-FFF2-40B4-BE49-F238E27FC236}">
                <a16:creationId xmlns:a16="http://schemas.microsoft.com/office/drawing/2014/main" id="{7A4B4452-D6AB-4924-9D81-A6D6F0B0C03B}"/>
              </a:ext>
            </a:extLst>
          </p:cNvPr>
          <p:cNvSpPr txBox="1"/>
          <p:nvPr/>
        </p:nvSpPr>
        <p:spPr>
          <a:xfrm>
            <a:off x="5466313" y="3919584"/>
            <a:ext cx="917715" cy="445122"/>
          </a:xfrm>
          <a:prstGeom prst="rect">
            <a:avLst/>
          </a:prstGeom>
          <a:noFill/>
        </p:spPr>
        <p:txBody>
          <a:bodyPr wrap="square">
            <a:spAutoFit/>
          </a:bodyPr>
          <a:lstStyle/>
          <a:p>
            <a:pPr>
              <a:lnSpc>
                <a:spcPts val="2947"/>
              </a:lnSpc>
              <a:spcAft>
                <a:spcPts val="947"/>
              </a:spcAft>
              <a:tabLst>
                <a:tab pos="481157" algn="l"/>
                <a:tab pos="962315" algn="l"/>
                <a:tab pos="1443472" algn="l"/>
              </a:tabLst>
            </a:pPr>
            <a:r>
              <a:rPr lang="en-US" sz="2400" b="0" i="1" dirty="0">
                <a:solidFill>
                  <a:schemeClr val="accent1">
                    <a:lumMod val="75000"/>
                  </a:schemeClr>
                </a:solidFill>
                <a:latin typeface="Whitney-Book" pitchFamily="50" charset="0"/>
                <a:cs typeface="Whitney-Book" pitchFamily="50" charset="0"/>
              </a:rPr>
              <a:t>MC</a:t>
            </a:r>
          </a:p>
        </p:txBody>
      </p:sp>
      <p:grpSp>
        <p:nvGrpSpPr>
          <p:cNvPr id="44" name="Group 43">
            <a:extLst>
              <a:ext uri="{FF2B5EF4-FFF2-40B4-BE49-F238E27FC236}">
                <a16:creationId xmlns:a16="http://schemas.microsoft.com/office/drawing/2014/main" id="{5DEAA873-4E56-4515-B1F3-09815263DE4E}"/>
              </a:ext>
            </a:extLst>
          </p:cNvPr>
          <p:cNvGrpSpPr/>
          <p:nvPr/>
        </p:nvGrpSpPr>
        <p:grpSpPr>
          <a:xfrm>
            <a:off x="912454" y="4412525"/>
            <a:ext cx="2974509" cy="843181"/>
            <a:chOff x="1934014" y="4267199"/>
            <a:chExt cx="2256983" cy="1991173"/>
          </a:xfrm>
        </p:grpSpPr>
        <p:sp>
          <p:nvSpPr>
            <p:cNvPr id="46" name="Isosceles Triangle 45">
              <a:extLst>
                <a:ext uri="{FF2B5EF4-FFF2-40B4-BE49-F238E27FC236}">
                  <a16:creationId xmlns:a16="http://schemas.microsoft.com/office/drawing/2014/main" id="{C739EF80-FA2E-4E0A-9135-5B865C8E3A25}"/>
                </a:ext>
              </a:extLst>
            </p:cNvPr>
            <p:cNvSpPr/>
            <p:nvPr/>
          </p:nvSpPr>
          <p:spPr bwMode="auto">
            <a:xfrm rot="5400000">
              <a:off x="2066919" y="4134294"/>
              <a:ext cx="1991173" cy="2256983"/>
            </a:xfrm>
            <a:prstGeom prst="triangle">
              <a:avLst>
                <a:gd name="adj" fmla="val 0"/>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effectLst/>
                <a:latin typeface="Whitney-Book" pitchFamily="50" charset="0"/>
                <a:cs typeface="Whitney-Book" pitchFamily="50" charset="0"/>
              </a:endParaRPr>
            </a:p>
          </p:txBody>
        </p:sp>
        <p:sp>
          <p:nvSpPr>
            <p:cNvPr id="48" name="TextBox 47">
              <a:extLst>
                <a:ext uri="{FF2B5EF4-FFF2-40B4-BE49-F238E27FC236}">
                  <a16:creationId xmlns:a16="http://schemas.microsoft.com/office/drawing/2014/main" id="{4711E46C-36A1-4460-8C6E-BCB233D5A581}"/>
                </a:ext>
              </a:extLst>
            </p:cNvPr>
            <p:cNvSpPr txBox="1"/>
            <p:nvPr/>
          </p:nvSpPr>
          <p:spPr>
            <a:xfrm>
              <a:off x="2209800" y="4572000"/>
              <a:ext cx="1066800" cy="369332"/>
            </a:xfrm>
            <a:prstGeom prst="rect">
              <a:avLst/>
            </a:prstGeom>
            <a:noFill/>
          </p:spPr>
          <p:txBody>
            <a:bodyPr wrap="square" rtlCol="0">
              <a:spAutoFit/>
            </a:bodyPr>
            <a:lstStyle/>
            <a:p>
              <a:r>
                <a:rPr lang="en-US" dirty="0">
                  <a:latin typeface="Whitney-Book" pitchFamily="50" charset="0"/>
                  <a:cs typeface="Whitney-Book" pitchFamily="50" charset="0"/>
                </a:rPr>
                <a:t>PS</a:t>
              </a:r>
            </a:p>
          </p:txBody>
        </p:sp>
      </p:grpSp>
      <p:grpSp>
        <p:nvGrpSpPr>
          <p:cNvPr id="49" name="Group 48">
            <a:extLst>
              <a:ext uri="{FF2B5EF4-FFF2-40B4-BE49-F238E27FC236}">
                <a16:creationId xmlns:a16="http://schemas.microsoft.com/office/drawing/2014/main" id="{35F95477-AFF4-43C2-89E2-2A1A0611757D}"/>
              </a:ext>
            </a:extLst>
          </p:cNvPr>
          <p:cNvGrpSpPr/>
          <p:nvPr/>
        </p:nvGrpSpPr>
        <p:grpSpPr>
          <a:xfrm>
            <a:off x="908224" y="2974107"/>
            <a:ext cx="2876864" cy="1409997"/>
            <a:chOff x="1905000" y="2362200"/>
            <a:chExt cx="2362200" cy="1905000"/>
          </a:xfrm>
        </p:grpSpPr>
        <p:sp>
          <p:nvSpPr>
            <p:cNvPr id="50" name="Isosceles Triangle 49">
              <a:extLst>
                <a:ext uri="{FF2B5EF4-FFF2-40B4-BE49-F238E27FC236}">
                  <a16:creationId xmlns:a16="http://schemas.microsoft.com/office/drawing/2014/main" id="{502F98C1-54A7-4F6A-9D59-6519F6C54277}"/>
                </a:ext>
              </a:extLst>
            </p:cNvPr>
            <p:cNvSpPr/>
            <p:nvPr/>
          </p:nvSpPr>
          <p:spPr bwMode="auto">
            <a:xfrm>
              <a:off x="1905000" y="2362200"/>
              <a:ext cx="2362200" cy="1905000"/>
            </a:xfrm>
            <a:prstGeom prst="triangle">
              <a:avLst>
                <a:gd name="adj" fmla="val 1005"/>
              </a:avLst>
            </a:prstGeom>
            <a:solidFill>
              <a:schemeClr val="accent2">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effectLst/>
                <a:latin typeface="Whitney Book" pitchFamily="50" charset="0"/>
                <a:cs typeface="Whitney Book" pitchFamily="50" charset="0"/>
              </a:endParaRPr>
            </a:p>
          </p:txBody>
        </p:sp>
        <p:sp>
          <p:nvSpPr>
            <p:cNvPr id="51" name="TextBox 50">
              <a:extLst>
                <a:ext uri="{FF2B5EF4-FFF2-40B4-BE49-F238E27FC236}">
                  <a16:creationId xmlns:a16="http://schemas.microsoft.com/office/drawing/2014/main" id="{ABA54100-0CA1-4141-9053-37A3706A281A}"/>
                </a:ext>
              </a:extLst>
            </p:cNvPr>
            <p:cNvSpPr txBox="1"/>
            <p:nvPr/>
          </p:nvSpPr>
          <p:spPr>
            <a:xfrm>
              <a:off x="2209800" y="3429000"/>
              <a:ext cx="1066800" cy="433848"/>
            </a:xfrm>
            <a:prstGeom prst="rect">
              <a:avLst/>
            </a:prstGeom>
            <a:noFill/>
          </p:spPr>
          <p:txBody>
            <a:bodyPr wrap="square" rtlCol="0">
              <a:spAutoFit/>
            </a:bodyPr>
            <a:lstStyle/>
            <a:p>
              <a:r>
                <a:rPr lang="en-US" dirty="0">
                  <a:latin typeface="Whitney Book" pitchFamily="50" charset="0"/>
                  <a:cs typeface="Whitney Book" pitchFamily="50" charset="0"/>
                </a:rPr>
                <a:t>CS</a:t>
              </a:r>
            </a:p>
          </p:txBody>
        </p:sp>
      </p:grpSp>
      <p:grpSp>
        <p:nvGrpSpPr>
          <p:cNvPr id="40" name="Group 51"/>
          <p:cNvGrpSpPr>
            <a:grpSpLocks/>
          </p:cNvGrpSpPr>
          <p:nvPr/>
        </p:nvGrpSpPr>
        <p:grpSpPr bwMode="auto">
          <a:xfrm>
            <a:off x="1703058" y="2430554"/>
            <a:ext cx="2683911" cy="1221986"/>
            <a:chOff x="1011" y="1690"/>
            <a:chExt cx="1607" cy="731"/>
          </a:xfrm>
        </p:grpSpPr>
        <p:sp>
          <p:nvSpPr>
            <p:cNvPr id="41" name="Rectangle 30"/>
            <p:cNvSpPr>
              <a:spLocks noChangeArrowheads="1"/>
            </p:cNvSpPr>
            <p:nvPr/>
          </p:nvSpPr>
          <p:spPr bwMode="auto">
            <a:xfrm>
              <a:off x="1011" y="1690"/>
              <a:ext cx="1607" cy="385"/>
            </a:xfrm>
            <a:prstGeom prst="rect">
              <a:avLst/>
            </a:prstGeom>
            <a:noFill/>
            <a:ln w="9525">
              <a:noFill/>
              <a:miter lim="800000"/>
              <a:headEnd/>
              <a:tailEnd/>
            </a:ln>
            <a:effectLst/>
          </p:spPr>
          <p:txBody>
            <a:bodyPr wrap="none" lIns="19050" tIns="26988" rIns="19050" bIns="26988"/>
            <a:lstStyle/>
            <a:p>
              <a:pPr>
                <a:spcAft>
                  <a:spcPts val="0"/>
                </a:spcAft>
                <a:tabLst>
                  <a:tab pos="481157" algn="l"/>
                  <a:tab pos="962315" algn="l"/>
                  <a:tab pos="1443472" algn="l"/>
                </a:tabLst>
              </a:pPr>
              <a:r>
                <a:rPr lang="en-US" sz="2000" b="0" dirty="0">
                  <a:solidFill>
                    <a:srgbClr val="C00000"/>
                  </a:solidFill>
                  <a:latin typeface="Whitney-Book" pitchFamily="50" charset="0"/>
                  <a:cs typeface="Whitney-Book" pitchFamily="50" charset="0"/>
                </a:rPr>
                <a:t>Consumer surplus </a:t>
              </a:r>
            </a:p>
            <a:p>
              <a:pPr>
                <a:spcAft>
                  <a:spcPts val="0"/>
                </a:spcAft>
                <a:tabLst>
                  <a:tab pos="481157" algn="l"/>
                  <a:tab pos="962315" algn="l"/>
                  <a:tab pos="1443472" algn="l"/>
                </a:tabLst>
              </a:pPr>
              <a:r>
                <a:rPr lang="en-US" sz="2000" b="0" dirty="0">
                  <a:solidFill>
                    <a:srgbClr val="C00000"/>
                  </a:solidFill>
                  <a:latin typeface="Whitney-Book" pitchFamily="50" charset="0"/>
                  <a:cs typeface="Whitney-Book" pitchFamily="50" charset="0"/>
                </a:rPr>
                <a:t>under competition</a:t>
              </a:r>
            </a:p>
          </p:txBody>
        </p:sp>
        <p:sp>
          <p:nvSpPr>
            <p:cNvPr id="42" name="Line 31"/>
            <p:cNvSpPr>
              <a:spLocks noChangeShapeType="1"/>
            </p:cNvSpPr>
            <p:nvPr/>
          </p:nvSpPr>
          <p:spPr bwMode="auto">
            <a:xfrm flipH="1">
              <a:off x="1011" y="2100"/>
              <a:ext cx="502" cy="321"/>
            </a:xfrm>
            <a:prstGeom prst="line">
              <a:avLst/>
            </a:prstGeom>
            <a:noFill/>
            <a:ln w="25400">
              <a:solidFill>
                <a:schemeClr val="tx1"/>
              </a:solidFill>
              <a:round/>
              <a:headEnd type="none" w="sm" len="sm"/>
              <a:tailEnd type="stealth" w="med" len="lg"/>
            </a:ln>
            <a:effectLst/>
          </p:spPr>
          <p:txBody>
            <a:bodyPr wrap="none" anchor="ctr"/>
            <a:lstStyle/>
            <a:p>
              <a:endParaRPr lang="en-US" sz="2800" b="0">
                <a:solidFill>
                  <a:schemeClr val="bg1"/>
                </a:solidFill>
                <a:latin typeface="Whitney-Book" pitchFamily="50" charset="0"/>
                <a:cs typeface="Whitney-Book" pitchFamily="50" charset="0"/>
              </a:endParaRPr>
            </a:p>
          </p:txBody>
        </p:sp>
      </p:grpSp>
      <p:grpSp>
        <p:nvGrpSpPr>
          <p:cNvPr id="29" name="Group 51"/>
          <p:cNvGrpSpPr>
            <a:grpSpLocks/>
          </p:cNvGrpSpPr>
          <p:nvPr/>
        </p:nvGrpSpPr>
        <p:grpSpPr bwMode="auto">
          <a:xfrm>
            <a:off x="1698657" y="4707125"/>
            <a:ext cx="2872635" cy="1113326"/>
            <a:chOff x="1040" y="1474"/>
            <a:chExt cx="1720" cy="666"/>
          </a:xfrm>
        </p:grpSpPr>
        <p:sp>
          <p:nvSpPr>
            <p:cNvPr id="31" name="Rectangle 30"/>
            <p:cNvSpPr>
              <a:spLocks noChangeArrowheads="1"/>
            </p:cNvSpPr>
            <p:nvPr/>
          </p:nvSpPr>
          <p:spPr bwMode="auto">
            <a:xfrm>
              <a:off x="1153" y="1841"/>
              <a:ext cx="1607" cy="299"/>
            </a:xfrm>
            <a:prstGeom prst="rect">
              <a:avLst/>
            </a:prstGeom>
            <a:noFill/>
            <a:ln w="9525">
              <a:noFill/>
              <a:miter lim="800000"/>
              <a:headEnd/>
              <a:tailEnd/>
            </a:ln>
            <a:effectLst/>
          </p:spPr>
          <p:txBody>
            <a:bodyPr wrap="none" lIns="19050" tIns="26988" rIns="19050" bIns="26988"/>
            <a:lstStyle/>
            <a:p>
              <a:pPr>
                <a:lnSpc>
                  <a:spcPts val="2210"/>
                </a:lnSpc>
                <a:spcAft>
                  <a:spcPts val="947"/>
                </a:spcAft>
                <a:tabLst>
                  <a:tab pos="481157" algn="l"/>
                  <a:tab pos="962315" algn="l"/>
                  <a:tab pos="1443472" algn="l"/>
                </a:tabLst>
              </a:pPr>
              <a:r>
                <a:rPr lang="en-US" sz="2000" b="0" dirty="0">
                  <a:solidFill>
                    <a:schemeClr val="accent4">
                      <a:lumMod val="75000"/>
                    </a:schemeClr>
                  </a:solidFill>
                  <a:latin typeface="Whitney-Book" pitchFamily="50" charset="0"/>
                  <a:cs typeface="Whitney-Book" pitchFamily="50" charset="0"/>
                </a:rPr>
                <a:t>Producer surplus under competition</a:t>
              </a:r>
            </a:p>
          </p:txBody>
        </p:sp>
        <p:sp>
          <p:nvSpPr>
            <p:cNvPr id="32" name="Line 31"/>
            <p:cNvSpPr>
              <a:spLocks noChangeShapeType="1"/>
            </p:cNvSpPr>
            <p:nvPr/>
          </p:nvSpPr>
          <p:spPr bwMode="auto">
            <a:xfrm flipH="1" flipV="1">
              <a:off x="1040" y="1474"/>
              <a:ext cx="589" cy="378"/>
            </a:xfrm>
            <a:prstGeom prst="line">
              <a:avLst/>
            </a:prstGeom>
            <a:noFill/>
            <a:ln w="25400">
              <a:solidFill>
                <a:schemeClr val="tx1"/>
              </a:solidFill>
              <a:round/>
              <a:headEnd type="none" w="sm" len="sm"/>
              <a:tailEnd type="stealth" w="med" len="lg"/>
            </a:ln>
            <a:effectLst/>
          </p:spPr>
          <p:txBody>
            <a:bodyPr wrap="none" anchor="ctr"/>
            <a:lstStyle/>
            <a:p>
              <a:endParaRPr lang="en-US" sz="2800" b="0">
                <a:solidFill>
                  <a:schemeClr val="bg1"/>
                </a:solidFill>
                <a:latin typeface="Whitney-Book" pitchFamily="50" charset="0"/>
                <a:cs typeface="Whitney-Book" pitchFamily="50" charset="0"/>
              </a:endParaRPr>
            </a:p>
          </p:txBody>
        </p:sp>
      </p:grpSp>
    </p:spTree>
    <p:extLst>
      <p:ext uri="{BB962C8B-B14F-4D97-AF65-F5344CB8AC3E}">
        <p14:creationId xmlns:p14="http://schemas.microsoft.com/office/powerpoint/2010/main" val="987144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44"/>
                                        </p:tgtEl>
                                        <p:attrNameLst>
                                          <p:attrName>style.visibility</p:attrName>
                                        </p:attrNameLst>
                                      </p:cBhvr>
                                      <p:to>
                                        <p:strVal val="visible"/>
                                      </p:to>
                                    </p:set>
                                    <p:animEffect transition="in" filter="box(in)">
                                      <p:cBhvr>
                                        <p:cTn id="23" dur="500"/>
                                        <p:tgtEl>
                                          <p:spTgt spid="44"/>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4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4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5"/>
          <p:cNvGrpSpPr>
            <a:grpSpLocks/>
          </p:cNvGrpSpPr>
          <p:nvPr/>
        </p:nvGrpSpPr>
        <p:grpSpPr bwMode="auto">
          <a:xfrm>
            <a:off x="92415" y="1887308"/>
            <a:ext cx="7057999" cy="4610448"/>
            <a:chOff x="104" y="1133"/>
            <a:chExt cx="4226" cy="2758"/>
          </a:xfrm>
        </p:grpSpPr>
        <p:sp>
          <p:nvSpPr>
            <p:cNvPr id="5" name="Line 4"/>
            <p:cNvSpPr>
              <a:spLocks noChangeShapeType="1"/>
            </p:cNvSpPr>
            <p:nvPr/>
          </p:nvSpPr>
          <p:spPr bwMode="auto">
            <a:xfrm>
              <a:off x="580" y="1408"/>
              <a:ext cx="4" cy="2168"/>
            </a:xfrm>
            <a:prstGeom prst="line">
              <a:avLst/>
            </a:prstGeom>
            <a:noFill/>
            <a:ln w="50800">
              <a:solidFill>
                <a:schemeClr val="tx1"/>
              </a:solidFill>
              <a:round/>
              <a:headEnd type="arrow" w="sm" len="sm"/>
              <a:tailEnd type="none" w="sm" len="sm"/>
            </a:ln>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6" name="Line 5"/>
            <p:cNvSpPr>
              <a:spLocks noChangeShapeType="1"/>
            </p:cNvSpPr>
            <p:nvPr/>
          </p:nvSpPr>
          <p:spPr bwMode="auto">
            <a:xfrm>
              <a:off x="584" y="3576"/>
              <a:ext cx="3280" cy="0"/>
            </a:xfrm>
            <a:prstGeom prst="line">
              <a:avLst/>
            </a:prstGeom>
            <a:noFill/>
            <a:ln w="50800">
              <a:solidFill>
                <a:schemeClr val="tx1"/>
              </a:solidFill>
              <a:round/>
              <a:headEnd type="none" w="sm" len="sm"/>
              <a:tailEnd type="arrow" w="sm" len="sm"/>
            </a:ln>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7" name="Rectangle 6"/>
            <p:cNvSpPr>
              <a:spLocks noChangeArrowheads="1"/>
            </p:cNvSpPr>
            <p:nvPr/>
          </p:nvSpPr>
          <p:spPr bwMode="auto">
            <a:xfrm>
              <a:off x="3906" y="3515"/>
              <a:ext cx="424" cy="37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b="0" i="1" dirty="0">
                  <a:latin typeface="Whitney-Book" pitchFamily="50" charset="0"/>
                  <a:cs typeface="Whitney-Book" pitchFamily="50" charset="0"/>
                </a:rPr>
                <a:t>Q</a:t>
              </a:r>
            </a:p>
          </p:txBody>
        </p:sp>
        <p:sp>
          <p:nvSpPr>
            <p:cNvPr id="8" name="Rectangle 7"/>
            <p:cNvSpPr>
              <a:spLocks noChangeArrowheads="1"/>
            </p:cNvSpPr>
            <p:nvPr/>
          </p:nvSpPr>
          <p:spPr bwMode="auto">
            <a:xfrm>
              <a:off x="104" y="1133"/>
              <a:ext cx="395" cy="221"/>
            </a:xfrm>
            <a:prstGeom prst="rect">
              <a:avLst/>
            </a:prstGeom>
            <a:noFill/>
            <a:ln w="9525">
              <a:noFill/>
              <a:miter lim="800000"/>
              <a:headEnd/>
              <a:tailEnd/>
            </a:ln>
            <a:effectLst/>
          </p:spPr>
          <p:txBody>
            <a:bodyPr wrap="none" lIns="92075" tIns="46038" rIns="92075" bIns="46038">
              <a:spAutoFit/>
            </a:bodyPr>
            <a:lstStyle/>
            <a:p>
              <a:r>
                <a:rPr lang="en-US" b="0" i="1" dirty="0">
                  <a:latin typeface="Whitney-Book" pitchFamily="50" charset="0"/>
                  <a:cs typeface="Whitney-Book" pitchFamily="50" charset="0"/>
                </a:rPr>
                <a:t>Price</a:t>
              </a:r>
            </a:p>
          </p:txBody>
        </p:sp>
      </p:grpSp>
      <p:grpSp>
        <p:nvGrpSpPr>
          <p:cNvPr id="9" name="Group 46"/>
          <p:cNvGrpSpPr>
            <a:grpSpLocks/>
          </p:cNvGrpSpPr>
          <p:nvPr/>
        </p:nvGrpSpPr>
        <p:grpSpPr bwMode="auto">
          <a:xfrm>
            <a:off x="894080" y="2942129"/>
            <a:ext cx="5478049" cy="2694722"/>
            <a:chOff x="584" y="1764"/>
            <a:chExt cx="3280" cy="1612"/>
          </a:xfrm>
        </p:grpSpPr>
        <p:sp>
          <p:nvSpPr>
            <p:cNvPr id="10" name="Line 9"/>
            <p:cNvSpPr>
              <a:spLocks noChangeShapeType="1"/>
            </p:cNvSpPr>
            <p:nvPr/>
          </p:nvSpPr>
          <p:spPr bwMode="auto">
            <a:xfrm>
              <a:off x="584" y="1764"/>
              <a:ext cx="2816" cy="1344"/>
            </a:xfrm>
            <a:prstGeom prst="line">
              <a:avLst/>
            </a:prstGeom>
            <a:noFill/>
            <a:ln w="50800">
              <a:solidFill>
                <a:srgbClr val="C00000"/>
              </a:solidFill>
              <a:round/>
              <a:headEnd type="none" w="sm" len="sm"/>
              <a:tailEnd type="none" w="sm" len="sm"/>
            </a:ln>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11" name="Rectangle 10"/>
            <p:cNvSpPr>
              <a:spLocks noChangeArrowheads="1"/>
            </p:cNvSpPr>
            <p:nvPr/>
          </p:nvSpPr>
          <p:spPr bwMode="auto">
            <a:xfrm>
              <a:off x="3440" y="3000"/>
              <a:ext cx="424" cy="37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sz="2400" b="0" i="1" dirty="0">
                  <a:solidFill>
                    <a:srgbClr val="C00000"/>
                  </a:solidFill>
                  <a:latin typeface="Whitney-Book" pitchFamily="50" charset="0"/>
                  <a:cs typeface="Whitney-Book" pitchFamily="50" charset="0"/>
                </a:rPr>
                <a:t>D</a:t>
              </a:r>
            </a:p>
          </p:txBody>
        </p:sp>
      </p:grpSp>
      <p:grpSp>
        <p:nvGrpSpPr>
          <p:cNvPr id="12" name="Group 48"/>
          <p:cNvGrpSpPr>
            <a:grpSpLocks/>
          </p:cNvGrpSpPr>
          <p:nvPr/>
        </p:nvGrpSpPr>
        <p:grpSpPr bwMode="auto">
          <a:xfrm>
            <a:off x="873861" y="2956338"/>
            <a:ext cx="3188667" cy="3123010"/>
            <a:chOff x="557" y="1750"/>
            <a:chExt cx="2175" cy="2135"/>
          </a:xfrm>
        </p:grpSpPr>
        <p:sp>
          <p:nvSpPr>
            <p:cNvPr id="13" name="Rectangle 12"/>
            <p:cNvSpPr>
              <a:spLocks noChangeArrowheads="1"/>
            </p:cNvSpPr>
            <p:nvPr/>
          </p:nvSpPr>
          <p:spPr bwMode="auto">
            <a:xfrm>
              <a:off x="2267" y="3530"/>
              <a:ext cx="465" cy="304"/>
            </a:xfrm>
            <a:prstGeom prst="rect">
              <a:avLst/>
            </a:prstGeom>
            <a:noFill/>
            <a:ln w="9525">
              <a:noFill/>
              <a:miter lim="800000"/>
              <a:headEnd/>
              <a:tailEnd/>
            </a:ln>
            <a:effectLst/>
          </p:spPr>
          <p:txBody>
            <a:bodyPr wrap="none" lIns="19050" tIns="26988" rIns="19050" bIns="26988"/>
            <a:lstStyle/>
            <a:p>
              <a:pPr>
                <a:lnSpc>
                  <a:spcPts val="2947"/>
                </a:lnSpc>
                <a:tabLst>
                  <a:tab pos="481157" algn="l"/>
                  <a:tab pos="962315" algn="l"/>
                  <a:tab pos="1443472" algn="l"/>
                </a:tabLst>
              </a:pPr>
              <a:r>
                <a:rPr lang="en-US" sz="2200" b="0" i="1" dirty="0">
                  <a:solidFill>
                    <a:srgbClr val="C00000"/>
                  </a:solidFill>
                  <a:latin typeface="Whitney-Book" pitchFamily="50" charset="0"/>
                  <a:cs typeface="Whitney-Book" pitchFamily="50" charset="0"/>
                </a:rPr>
                <a:t>MR</a:t>
              </a:r>
            </a:p>
          </p:txBody>
        </p:sp>
        <p:sp>
          <p:nvSpPr>
            <p:cNvPr id="14" name="Line 13"/>
            <p:cNvSpPr>
              <a:spLocks noChangeShapeType="1"/>
            </p:cNvSpPr>
            <p:nvPr/>
          </p:nvSpPr>
          <p:spPr bwMode="auto">
            <a:xfrm>
              <a:off x="557" y="1750"/>
              <a:ext cx="1761" cy="2135"/>
            </a:xfrm>
            <a:prstGeom prst="line">
              <a:avLst/>
            </a:prstGeom>
            <a:noFill/>
            <a:ln w="50800">
              <a:solidFill>
                <a:srgbClr val="C00000"/>
              </a:solidFill>
              <a:prstDash val="dash"/>
              <a:round/>
              <a:headEnd type="none" w="sm" len="sm"/>
              <a:tailEnd type="none" w="sm" len="sm"/>
            </a:ln>
            <a:effectLst/>
          </p:spPr>
          <p:txBody>
            <a:bodyPr wrap="none" anchor="ctr"/>
            <a:lstStyle/>
            <a:p>
              <a:endParaRPr lang="en-US" sz="2800" b="0">
                <a:solidFill>
                  <a:schemeClr val="bg1"/>
                </a:solidFill>
                <a:latin typeface="Whitney-Book" pitchFamily="50" charset="0"/>
                <a:cs typeface="Whitney-Book" pitchFamily="50" charset="0"/>
              </a:endParaRPr>
            </a:p>
          </p:txBody>
        </p:sp>
      </p:grpSp>
      <p:sp>
        <p:nvSpPr>
          <p:cNvPr id="16" name="Line 15"/>
          <p:cNvSpPr>
            <a:spLocks noChangeShapeType="1"/>
          </p:cNvSpPr>
          <p:nvPr/>
        </p:nvSpPr>
        <p:spPr bwMode="auto">
          <a:xfrm flipV="1">
            <a:off x="905772" y="4057128"/>
            <a:ext cx="4362398" cy="1200254"/>
          </a:xfrm>
          <a:prstGeom prst="line">
            <a:avLst/>
          </a:prstGeom>
          <a:noFill/>
          <a:ln w="50800">
            <a:solidFill>
              <a:schemeClr val="accent1"/>
            </a:solidFill>
            <a:round/>
            <a:headEnd type="none" w="sm" len="sm"/>
            <a:tailEnd type="none" w="sm" len="sm"/>
          </a:ln>
          <a:effectLst/>
        </p:spPr>
        <p:txBody>
          <a:bodyPr wrap="none" anchor="ctr"/>
          <a:lstStyle/>
          <a:p>
            <a:endParaRPr lang="en-US" sz="2800" b="0">
              <a:solidFill>
                <a:schemeClr val="bg1"/>
              </a:solidFill>
              <a:latin typeface="Whitney-Book" pitchFamily="50" charset="0"/>
              <a:cs typeface="Whitney-Book" pitchFamily="50" charset="0"/>
            </a:endParaRPr>
          </a:p>
        </p:txBody>
      </p:sp>
      <p:grpSp>
        <p:nvGrpSpPr>
          <p:cNvPr id="18" name="Group 57"/>
          <p:cNvGrpSpPr>
            <a:grpSpLocks/>
          </p:cNvGrpSpPr>
          <p:nvPr/>
        </p:nvGrpSpPr>
        <p:grpSpPr bwMode="auto">
          <a:xfrm>
            <a:off x="286150" y="4180831"/>
            <a:ext cx="4300604" cy="2459017"/>
            <a:chOff x="220" y="2505"/>
            <a:chExt cx="2575" cy="1471"/>
          </a:xfrm>
        </p:grpSpPr>
        <p:sp>
          <p:nvSpPr>
            <p:cNvPr id="19" name="Rectangle 17"/>
            <p:cNvSpPr>
              <a:spLocks noChangeArrowheads="1"/>
            </p:cNvSpPr>
            <p:nvPr/>
          </p:nvSpPr>
          <p:spPr bwMode="auto">
            <a:xfrm>
              <a:off x="220" y="2505"/>
              <a:ext cx="579" cy="376"/>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b="0" i="1" dirty="0" err="1">
                  <a:latin typeface="Whitney-Book" pitchFamily="50" charset="0"/>
                  <a:cs typeface="Whitney-Book" pitchFamily="50" charset="0"/>
                </a:rPr>
                <a:t>P</a:t>
              </a:r>
              <a:r>
                <a:rPr lang="en-US" i="1" baseline="-25000" dirty="0" err="1">
                  <a:latin typeface="Whitney-Book" pitchFamily="50" charset="0"/>
                  <a:cs typeface="Whitney-Book" pitchFamily="50" charset="0"/>
                </a:rPr>
                <a:t>Comp</a:t>
              </a:r>
              <a:endParaRPr lang="en-US" sz="1800" b="0" i="1" baseline="-25000" dirty="0">
                <a:latin typeface="Whitney-Book" pitchFamily="50" charset="0"/>
                <a:cs typeface="Whitney-Book" pitchFamily="50" charset="0"/>
              </a:endParaRPr>
            </a:p>
          </p:txBody>
        </p:sp>
        <p:grpSp>
          <p:nvGrpSpPr>
            <p:cNvPr id="20" name="Group 53"/>
            <p:cNvGrpSpPr>
              <a:grpSpLocks/>
            </p:cNvGrpSpPr>
            <p:nvPr/>
          </p:nvGrpSpPr>
          <p:grpSpPr bwMode="auto">
            <a:xfrm>
              <a:off x="2315" y="2638"/>
              <a:ext cx="480" cy="1338"/>
              <a:chOff x="2315" y="2638"/>
              <a:chExt cx="480" cy="1338"/>
            </a:xfrm>
          </p:grpSpPr>
          <p:sp>
            <p:nvSpPr>
              <p:cNvPr id="21" name="Rectangle 20"/>
              <p:cNvSpPr>
                <a:spLocks noChangeArrowheads="1"/>
              </p:cNvSpPr>
              <p:nvPr/>
            </p:nvSpPr>
            <p:spPr bwMode="auto">
              <a:xfrm>
                <a:off x="2315" y="3593"/>
                <a:ext cx="480" cy="383"/>
              </a:xfrm>
              <a:prstGeom prst="rect">
                <a:avLst/>
              </a:prstGeom>
              <a:noFill/>
              <a:ln w="9525">
                <a:noFill/>
                <a:prstDash val="sysDot"/>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b="0" i="1" dirty="0" err="1">
                    <a:latin typeface="Whitney-Book" pitchFamily="50" charset="0"/>
                    <a:cs typeface="Whitney-Book" pitchFamily="50" charset="0"/>
                  </a:rPr>
                  <a:t>Q</a:t>
                </a:r>
                <a:r>
                  <a:rPr lang="en-US" i="1" baseline="-25000" dirty="0" err="1">
                    <a:latin typeface="Whitney-Book" pitchFamily="50" charset="0"/>
                    <a:cs typeface="Whitney-Book" pitchFamily="50" charset="0"/>
                  </a:rPr>
                  <a:t>Comp</a:t>
                </a:r>
                <a:endParaRPr lang="en-US" sz="1800" b="0" i="1" baseline="-25000" dirty="0">
                  <a:latin typeface="Whitney-Book" pitchFamily="50" charset="0"/>
                  <a:cs typeface="Whitney-Book" pitchFamily="50" charset="0"/>
                </a:endParaRPr>
              </a:p>
            </p:txBody>
          </p:sp>
          <p:sp>
            <p:nvSpPr>
              <p:cNvPr id="22" name="Line 21"/>
              <p:cNvSpPr>
                <a:spLocks noChangeShapeType="1"/>
              </p:cNvSpPr>
              <p:nvPr/>
            </p:nvSpPr>
            <p:spPr bwMode="auto">
              <a:xfrm>
                <a:off x="2416" y="2638"/>
                <a:ext cx="0" cy="945"/>
              </a:xfrm>
              <a:prstGeom prst="line">
                <a:avLst/>
              </a:prstGeom>
              <a:noFill/>
              <a:ln w="25400">
                <a:solidFill>
                  <a:schemeClr val="tx1"/>
                </a:solidFill>
                <a:prstDash val="sysDot"/>
                <a:round/>
                <a:headEnd type="none" w="sm" len="sm"/>
                <a:tailEnd type="none" w="sm" len="sm"/>
              </a:ln>
              <a:effectLst/>
            </p:spPr>
            <p:txBody>
              <a:bodyPr wrap="none" anchor="ctr"/>
              <a:lstStyle/>
              <a:p>
                <a:endParaRPr lang="en-US" sz="2800" b="0">
                  <a:solidFill>
                    <a:schemeClr val="bg1"/>
                  </a:solidFill>
                  <a:latin typeface="Whitney-Book" pitchFamily="50" charset="0"/>
                  <a:cs typeface="Whitney-Book" pitchFamily="50" charset="0"/>
                </a:endParaRPr>
              </a:p>
            </p:txBody>
          </p:sp>
        </p:grpSp>
      </p:grpSp>
      <p:grpSp>
        <p:nvGrpSpPr>
          <p:cNvPr id="23" name="Group 54"/>
          <p:cNvGrpSpPr>
            <a:grpSpLocks/>
          </p:cNvGrpSpPr>
          <p:nvPr/>
        </p:nvGrpSpPr>
        <p:grpSpPr bwMode="auto">
          <a:xfrm>
            <a:off x="2136662" y="3670974"/>
            <a:ext cx="868471" cy="2962188"/>
            <a:chOff x="1328" y="2200"/>
            <a:chExt cx="520" cy="1772"/>
          </a:xfrm>
        </p:grpSpPr>
        <p:sp>
          <p:nvSpPr>
            <p:cNvPr id="24" name="Rectangle 23"/>
            <p:cNvSpPr>
              <a:spLocks noChangeArrowheads="1"/>
            </p:cNvSpPr>
            <p:nvPr/>
          </p:nvSpPr>
          <p:spPr bwMode="auto">
            <a:xfrm>
              <a:off x="1328" y="3595"/>
              <a:ext cx="520" cy="377"/>
            </a:xfrm>
            <a:prstGeom prst="rect">
              <a:avLst/>
            </a:prstGeom>
            <a:noFill/>
            <a:ln w="9525">
              <a:noFill/>
              <a:prstDash val="sysDot"/>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b="0" i="1" dirty="0">
                  <a:latin typeface="Whitney-Book" pitchFamily="50" charset="0"/>
                  <a:cs typeface="Whitney-Book" pitchFamily="50" charset="0"/>
                </a:rPr>
                <a:t>Q</a:t>
              </a:r>
              <a:r>
                <a:rPr lang="en-US" i="1" baseline="-25000" dirty="0">
                  <a:latin typeface="Whitney-Book" pitchFamily="50" charset="0"/>
                  <a:cs typeface="Whitney-Book" pitchFamily="50" charset="0"/>
                </a:rPr>
                <a:t>M</a:t>
              </a:r>
              <a:endParaRPr lang="en-US" sz="1800" b="0" i="1" baseline="-25000" dirty="0">
                <a:latin typeface="Whitney-Book" pitchFamily="50" charset="0"/>
                <a:cs typeface="Whitney-Book" pitchFamily="50" charset="0"/>
              </a:endParaRPr>
            </a:p>
          </p:txBody>
        </p:sp>
        <p:sp>
          <p:nvSpPr>
            <p:cNvPr id="25" name="Line 24"/>
            <p:cNvSpPr>
              <a:spLocks noChangeShapeType="1"/>
            </p:cNvSpPr>
            <p:nvPr/>
          </p:nvSpPr>
          <p:spPr bwMode="auto">
            <a:xfrm>
              <a:off x="1488" y="2200"/>
              <a:ext cx="0" cy="1368"/>
            </a:xfrm>
            <a:prstGeom prst="line">
              <a:avLst/>
            </a:prstGeom>
            <a:noFill/>
            <a:ln w="25400">
              <a:solidFill>
                <a:schemeClr val="tx1"/>
              </a:solidFill>
              <a:prstDash val="sysDot"/>
              <a:round/>
              <a:headEnd type="none" w="sm" len="sm"/>
              <a:tailEnd type="none" w="sm" len="sm"/>
            </a:ln>
            <a:effectLst/>
          </p:spPr>
          <p:txBody>
            <a:bodyPr wrap="none" anchor="ctr"/>
            <a:lstStyle/>
            <a:p>
              <a:endParaRPr lang="en-US" sz="2800" b="0">
                <a:solidFill>
                  <a:schemeClr val="bg1"/>
                </a:solidFill>
                <a:latin typeface="Whitney-Book" pitchFamily="50" charset="0"/>
                <a:cs typeface="Whitney-Book" pitchFamily="50" charset="0"/>
              </a:endParaRPr>
            </a:p>
          </p:txBody>
        </p:sp>
      </p:grpSp>
      <p:grpSp>
        <p:nvGrpSpPr>
          <p:cNvPr id="26" name="Group 55"/>
          <p:cNvGrpSpPr>
            <a:grpSpLocks/>
          </p:cNvGrpSpPr>
          <p:nvPr/>
        </p:nvGrpSpPr>
        <p:grpSpPr bwMode="auto">
          <a:xfrm>
            <a:off x="444813" y="3477061"/>
            <a:ext cx="1935689" cy="608486"/>
            <a:chOff x="315" y="2084"/>
            <a:chExt cx="1159" cy="364"/>
          </a:xfrm>
        </p:grpSpPr>
        <p:sp>
          <p:nvSpPr>
            <p:cNvPr id="27" name="Rectangle 26"/>
            <p:cNvSpPr>
              <a:spLocks noChangeArrowheads="1"/>
            </p:cNvSpPr>
            <p:nvPr/>
          </p:nvSpPr>
          <p:spPr bwMode="auto">
            <a:xfrm>
              <a:off x="315" y="2084"/>
              <a:ext cx="452" cy="364"/>
            </a:xfrm>
            <a:prstGeom prst="rect">
              <a:avLst/>
            </a:prstGeom>
            <a:noFill/>
            <a:ln w="9525">
              <a:noFill/>
              <a:miter lim="800000"/>
              <a:headEnd/>
              <a:tailEnd/>
            </a:ln>
            <a:effectLst/>
          </p:spPr>
          <p:txBody>
            <a:bodyPr wrap="none" lIns="19050" tIns="26988" rIns="19050" bIns="26988"/>
            <a:lstStyle/>
            <a:p>
              <a:pPr>
                <a:lnSpc>
                  <a:spcPts val="2947"/>
                </a:lnSpc>
                <a:spcAft>
                  <a:spcPts val="947"/>
                </a:spcAft>
                <a:tabLst>
                  <a:tab pos="481157" algn="l"/>
                  <a:tab pos="962315" algn="l"/>
                  <a:tab pos="1443472" algn="l"/>
                </a:tabLst>
              </a:pPr>
              <a:r>
                <a:rPr lang="en-US" b="0" i="1" dirty="0">
                  <a:latin typeface="Whitney-Book" pitchFamily="50" charset="0"/>
                  <a:cs typeface="Whitney-Book" pitchFamily="50" charset="0"/>
                </a:rPr>
                <a:t>P</a:t>
              </a:r>
              <a:r>
                <a:rPr lang="en-US" i="1" baseline="-25000" dirty="0">
                  <a:latin typeface="Whitney-Book" pitchFamily="50" charset="0"/>
                  <a:cs typeface="Whitney-Book" pitchFamily="50" charset="0"/>
                </a:rPr>
                <a:t>M</a:t>
              </a:r>
              <a:endParaRPr lang="en-US" sz="1800" b="0" i="1" baseline="-25000" dirty="0">
                <a:latin typeface="Whitney-Book" pitchFamily="50" charset="0"/>
                <a:cs typeface="Whitney-Book" pitchFamily="50" charset="0"/>
              </a:endParaRPr>
            </a:p>
          </p:txBody>
        </p:sp>
        <p:sp>
          <p:nvSpPr>
            <p:cNvPr id="28" name="Line 27"/>
            <p:cNvSpPr>
              <a:spLocks noChangeShapeType="1"/>
            </p:cNvSpPr>
            <p:nvPr/>
          </p:nvSpPr>
          <p:spPr bwMode="auto">
            <a:xfrm flipH="1">
              <a:off x="591" y="2200"/>
              <a:ext cx="883" cy="0"/>
            </a:xfrm>
            <a:prstGeom prst="line">
              <a:avLst/>
            </a:prstGeom>
            <a:noFill/>
            <a:ln w="25400">
              <a:solidFill>
                <a:schemeClr val="tx1"/>
              </a:solidFill>
              <a:prstDash val="sysDot"/>
              <a:round/>
              <a:headEnd type="none" w="sm" len="sm"/>
              <a:tailEnd type="none" w="sm" len="sm"/>
            </a:ln>
            <a:effectLst/>
          </p:spPr>
          <p:txBody>
            <a:bodyPr wrap="none" anchor="ctr"/>
            <a:lstStyle/>
            <a:p>
              <a:endParaRPr lang="en-US" sz="2800" b="0">
                <a:solidFill>
                  <a:schemeClr val="bg1"/>
                </a:solidFill>
                <a:latin typeface="Whitney-Book" pitchFamily="50" charset="0"/>
                <a:cs typeface="Whitney-Book" pitchFamily="50" charset="0"/>
              </a:endParaRPr>
            </a:p>
          </p:txBody>
        </p:sp>
      </p:grpSp>
      <p:grpSp>
        <p:nvGrpSpPr>
          <p:cNvPr id="29" name="Group 51"/>
          <p:cNvGrpSpPr>
            <a:grpSpLocks/>
          </p:cNvGrpSpPr>
          <p:nvPr/>
        </p:nvGrpSpPr>
        <p:grpSpPr bwMode="auto">
          <a:xfrm>
            <a:off x="892619" y="2884733"/>
            <a:ext cx="4642980" cy="2343670"/>
            <a:chOff x="590" y="1733"/>
            <a:chExt cx="2780" cy="1402"/>
          </a:xfrm>
        </p:grpSpPr>
        <p:sp>
          <p:nvSpPr>
            <p:cNvPr id="30" name="Rectangle 29"/>
            <p:cNvSpPr>
              <a:spLocks noChangeArrowheads="1"/>
            </p:cNvSpPr>
            <p:nvPr/>
          </p:nvSpPr>
          <p:spPr bwMode="auto">
            <a:xfrm>
              <a:off x="590" y="2197"/>
              <a:ext cx="896" cy="938"/>
            </a:xfrm>
            <a:custGeom>
              <a:avLst/>
              <a:gdLst>
                <a:gd name="connsiteX0" fmla="*/ 0 w 1481411"/>
                <a:gd name="connsiteY0" fmla="*/ 0 h 1121685"/>
                <a:gd name="connsiteX1" fmla="*/ 1481411 w 1481411"/>
                <a:gd name="connsiteY1" fmla="*/ 0 h 1121685"/>
                <a:gd name="connsiteX2" fmla="*/ 1481411 w 1481411"/>
                <a:gd name="connsiteY2" fmla="*/ 1121685 h 1121685"/>
                <a:gd name="connsiteX3" fmla="*/ 0 w 1481411"/>
                <a:gd name="connsiteY3" fmla="*/ 1121685 h 1121685"/>
                <a:gd name="connsiteX4" fmla="*/ 0 w 1481411"/>
                <a:gd name="connsiteY4" fmla="*/ 0 h 1121685"/>
                <a:gd name="connsiteX0" fmla="*/ 0 w 1481411"/>
                <a:gd name="connsiteY0" fmla="*/ 0 h 1551990"/>
                <a:gd name="connsiteX1" fmla="*/ 1481411 w 1481411"/>
                <a:gd name="connsiteY1" fmla="*/ 0 h 1551990"/>
                <a:gd name="connsiteX2" fmla="*/ 1481411 w 1481411"/>
                <a:gd name="connsiteY2" fmla="*/ 1121685 h 1551990"/>
                <a:gd name="connsiteX3" fmla="*/ 43031 w 1481411"/>
                <a:gd name="connsiteY3" fmla="*/ 1551990 h 1551990"/>
                <a:gd name="connsiteX4" fmla="*/ 0 w 1481411"/>
                <a:gd name="connsiteY4" fmla="*/ 0 h 1551990"/>
                <a:gd name="connsiteX0" fmla="*/ 68311 w 1549722"/>
                <a:gd name="connsiteY0" fmla="*/ 0 h 1541618"/>
                <a:gd name="connsiteX1" fmla="*/ 1549722 w 1549722"/>
                <a:gd name="connsiteY1" fmla="*/ 0 h 1541618"/>
                <a:gd name="connsiteX2" fmla="*/ 1549722 w 1549722"/>
                <a:gd name="connsiteY2" fmla="*/ 1121685 h 1541618"/>
                <a:gd name="connsiteX3" fmla="*/ 0 w 1549722"/>
                <a:gd name="connsiteY3" fmla="*/ 1541618 h 1541618"/>
                <a:gd name="connsiteX4" fmla="*/ 68311 w 1549722"/>
                <a:gd name="connsiteY4" fmla="*/ 0 h 1541618"/>
                <a:gd name="connsiteX0" fmla="*/ 0 w 1481411"/>
                <a:gd name="connsiteY0" fmla="*/ 0 h 1541618"/>
                <a:gd name="connsiteX1" fmla="*/ 1481411 w 1481411"/>
                <a:gd name="connsiteY1" fmla="*/ 0 h 1541618"/>
                <a:gd name="connsiteX2" fmla="*/ 1481411 w 1481411"/>
                <a:gd name="connsiteY2" fmla="*/ 1121685 h 1541618"/>
                <a:gd name="connsiteX3" fmla="*/ 20715 w 1481411"/>
                <a:gd name="connsiteY3" fmla="*/ 1541618 h 1541618"/>
                <a:gd name="connsiteX4" fmla="*/ 0 w 1481411"/>
                <a:gd name="connsiteY4" fmla="*/ 0 h 1541618"/>
                <a:gd name="connsiteX0" fmla="*/ 0 w 1492546"/>
                <a:gd name="connsiteY0" fmla="*/ 0 h 1541618"/>
                <a:gd name="connsiteX1" fmla="*/ 1481411 w 1492546"/>
                <a:gd name="connsiteY1" fmla="*/ 0 h 1541618"/>
                <a:gd name="connsiteX2" fmla="*/ 1492546 w 1492546"/>
                <a:gd name="connsiteY2" fmla="*/ 1163152 h 1541618"/>
                <a:gd name="connsiteX3" fmla="*/ 20715 w 1492546"/>
                <a:gd name="connsiteY3" fmla="*/ 1541618 h 1541618"/>
                <a:gd name="connsiteX4" fmla="*/ 0 w 1492546"/>
                <a:gd name="connsiteY4" fmla="*/ 0 h 1541618"/>
                <a:gd name="connsiteX0" fmla="*/ 0 w 1548246"/>
                <a:gd name="connsiteY0" fmla="*/ 0 h 1551984"/>
                <a:gd name="connsiteX1" fmla="*/ 1537111 w 1548246"/>
                <a:gd name="connsiteY1" fmla="*/ 10366 h 1551984"/>
                <a:gd name="connsiteX2" fmla="*/ 1548246 w 1548246"/>
                <a:gd name="connsiteY2" fmla="*/ 1173518 h 1551984"/>
                <a:gd name="connsiteX3" fmla="*/ 76415 w 1548246"/>
                <a:gd name="connsiteY3" fmla="*/ 1551984 h 1551984"/>
                <a:gd name="connsiteX4" fmla="*/ 0 w 1548246"/>
                <a:gd name="connsiteY4" fmla="*/ 0 h 1551984"/>
                <a:gd name="connsiteX0" fmla="*/ 0 w 1548246"/>
                <a:gd name="connsiteY0" fmla="*/ 0 h 1551984"/>
                <a:gd name="connsiteX1" fmla="*/ 1537111 w 1548246"/>
                <a:gd name="connsiteY1" fmla="*/ 10366 h 1551984"/>
                <a:gd name="connsiteX2" fmla="*/ 1548246 w 1548246"/>
                <a:gd name="connsiteY2" fmla="*/ 1173518 h 1551984"/>
                <a:gd name="connsiteX3" fmla="*/ 9560 w 1548246"/>
                <a:gd name="connsiteY3" fmla="*/ 1551984 h 1551984"/>
                <a:gd name="connsiteX4" fmla="*/ 0 w 1548246"/>
                <a:gd name="connsiteY4" fmla="*/ 0 h 1551984"/>
                <a:gd name="connsiteX0" fmla="*/ 2352 w 1539455"/>
                <a:gd name="connsiteY0" fmla="*/ 31118 h 1541618"/>
                <a:gd name="connsiteX1" fmla="*/ 1528320 w 1539455"/>
                <a:gd name="connsiteY1" fmla="*/ 0 h 1541618"/>
                <a:gd name="connsiteX2" fmla="*/ 1539455 w 1539455"/>
                <a:gd name="connsiteY2" fmla="*/ 1163152 h 1541618"/>
                <a:gd name="connsiteX3" fmla="*/ 769 w 1539455"/>
                <a:gd name="connsiteY3" fmla="*/ 1541618 h 1541618"/>
                <a:gd name="connsiteX4" fmla="*/ 2352 w 1539455"/>
                <a:gd name="connsiteY4" fmla="*/ 31118 h 1541618"/>
                <a:gd name="connsiteX0" fmla="*/ 2352 w 1550603"/>
                <a:gd name="connsiteY0" fmla="*/ 0 h 1510500"/>
                <a:gd name="connsiteX1" fmla="*/ 1550603 w 1550603"/>
                <a:gd name="connsiteY1" fmla="*/ 20715 h 1510500"/>
                <a:gd name="connsiteX2" fmla="*/ 1539455 w 1550603"/>
                <a:gd name="connsiteY2" fmla="*/ 1132034 h 1510500"/>
                <a:gd name="connsiteX3" fmla="*/ 769 w 1550603"/>
                <a:gd name="connsiteY3" fmla="*/ 1510500 h 1510500"/>
                <a:gd name="connsiteX4" fmla="*/ 2352 w 1550603"/>
                <a:gd name="connsiteY4" fmla="*/ 0 h 1510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0603" h="1510500">
                  <a:moveTo>
                    <a:pt x="2352" y="0"/>
                  </a:moveTo>
                  <a:lnTo>
                    <a:pt x="1550603" y="20715"/>
                  </a:lnTo>
                  <a:lnTo>
                    <a:pt x="1539455" y="1132034"/>
                  </a:lnTo>
                  <a:lnTo>
                    <a:pt x="769" y="1510500"/>
                  </a:lnTo>
                  <a:cubicBezTo>
                    <a:pt x="-2418" y="993172"/>
                    <a:pt x="5539" y="517328"/>
                    <a:pt x="2352" y="0"/>
                  </a:cubicBezTo>
                  <a:close/>
                </a:path>
              </a:pathLst>
            </a:custGeom>
            <a:gradFill>
              <a:gsLst>
                <a:gs pos="92035">
                  <a:schemeClr val="accent1">
                    <a:lumMod val="60000"/>
                    <a:lumOff val="40000"/>
                  </a:schemeClr>
                </a:gs>
                <a:gs pos="0">
                  <a:schemeClr val="accent1">
                    <a:lumMod val="60000"/>
                    <a:lumOff val="40000"/>
                  </a:schemeClr>
                </a:gs>
                <a:gs pos="0">
                  <a:srgbClr val="E6D78A"/>
                </a:gs>
                <a:gs pos="0">
                  <a:srgbClr val="C7AC4C"/>
                </a:gs>
                <a:gs pos="0">
                  <a:schemeClr val="tx2">
                    <a:lumMod val="60000"/>
                    <a:lumOff val="40000"/>
                  </a:schemeClr>
                </a:gs>
              </a:gsLst>
              <a:lin ang="0" scaled="0"/>
            </a:gradFill>
            <a:ln w="9525">
              <a:noFill/>
              <a:miter lim="800000"/>
              <a:headEnd/>
              <a:tailEnd/>
            </a:ln>
            <a:effectLst/>
          </p:spPr>
          <p:txBody>
            <a:bodyPr wrap="none" anchor="ctr"/>
            <a:lstStyle/>
            <a:p>
              <a:endParaRPr lang="en-US" sz="2800" b="0">
                <a:solidFill>
                  <a:schemeClr val="bg1"/>
                </a:solidFill>
                <a:latin typeface="Whitney-Book" pitchFamily="50" charset="0"/>
                <a:cs typeface="Whitney-Book" pitchFamily="50" charset="0"/>
              </a:endParaRPr>
            </a:p>
          </p:txBody>
        </p:sp>
        <p:sp>
          <p:nvSpPr>
            <p:cNvPr id="31" name="Rectangle 30"/>
            <p:cNvSpPr>
              <a:spLocks noChangeArrowheads="1"/>
            </p:cNvSpPr>
            <p:nvPr/>
          </p:nvSpPr>
          <p:spPr bwMode="auto">
            <a:xfrm>
              <a:off x="1763" y="1733"/>
              <a:ext cx="1607" cy="299"/>
            </a:xfrm>
            <a:prstGeom prst="rect">
              <a:avLst/>
            </a:prstGeom>
            <a:noFill/>
            <a:ln w="9525">
              <a:noFill/>
              <a:miter lim="800000"/>
              <a:headEnd/>
              <a:tailEnd/>
            </a:ln>
            <a:effectLst/>
          </p:spPr>
          <p:txBody>
            <a:bodyPr wrap="none" lIns="19050" tIns="26988" rIns="19050" bIns="26988"/>
            <a:lstStyle/>
            <a:p>
              <a:pPr>
                <a:lnSpc>
                  <a:spcPts val="2210"/>
                </a:lnSpc>
                <a:spcAft>
                  <a:spcPts val="947"/>
                </a:spcAft>
                <a:tabLst>
                  <a:tab pos="481157" algn="l"/>
                  <a:tab pos="962315" algn="l"/>
                  <a:tab pos="1443472" algn="l"/>
                </a:tabLst>
              </a:pPr>
              <a:r>
                <a:rPr lang="en-US" sz="2000" b="0" dirty="0">
                  <a:solidFill>
                    <a:schemeClr val="accent4">
                      <a:lumMod val="75000"/>
                    </a:schemeClr>
                  </a:solidFill>
                  <a:latin typeface="Whitney-Book" pitchFamily="50" charset="0"/>
                  <a:cs typeface="Whitney-Book" pitchFamily="50" charset="0"/>
                </a:rPr>
                <a:t>Producer surplus under monopoly</a:t>
              </a:r>
            </a:p>
          </p:txBody>
        </p:sp>
        <p:sp>
          <p:nvSpPr>
            <p:cNvPr id="32" name="Line 31"/>
            <p:cNvSpPr>
              <a:spLocks noChangeShapeType="1"/>
            </p:cNvSpPr>
            <p:nvPr/>
          </p:nvSpPr>
          <p:spPr bwMode="auto">
            <a:xfrm flipH="1">
              <a:off x="1011" y="1918"/>
              <a:ext cx="998" cy="503"/>
            </a:xfrm>
            <a:prstGeom prst="line">
              <a:avLst/>
            </a:prstGeom>
            <a:noFill/>
            <a:ln w="25400">
              <a:solidFill>
                <a:schemeClr val="tx1"/>
              </a:solidFill>
              <a:round/>
              <a:headEnd type="none" w="sm" len="sm"/>
              <a:tailEnd type="stealth" w="med" len="lg"/>
            </a:ln>
            <a:effectLst/>
          </p:spPr>
          <p:txBody>
            <a:bodyPr wrap="none" anchor="ctr"/>
            <a:lstStyle/>
            <a:p>
              <a:endParaRPr lang="en-US" sz="2800" b="0">
                <a:solidFill>
                  <a:schemeClr val="bg1"/>
                </a:solidFill>
                <a:latin typeface="Whitney-Book" pitchFamily="50" charset="0"/>
                <a:cs typeface="Whitney-Book" pitchFamily="50" charset="0"/>
              </a:endParaRPr>
            </a:p>
          </p:txBody>
        </p:sp>
      </p:grpSp>
      <p:grpSp>
        <p:nvGrpSpPr>
          <p:cNvPr id="33" name="Group 32"/>
          <p:cNvGrpSpPr/>
          <p:nvPr/>
        </p:nvGrpSpPr>
        <p:grpSpPr>
          <a:xfrm>
            <a:off x="2369019" y="3574744"/>
            <a:ext cx="5223354" cy="1235244"/>
            <a:chOff x="2450299" y="3581430"/>
            <a:chExt cx="5223354" cy="1235244"/>
          </a:xfrm>
        </p:grpSpPr>
        <p:sp>
          <p:nvSpPr>
            <p:cNvPr id="34" name="Isosceles Triangle 33"/>
            <p:cNvSpPr/>
            <p:nvPr/>
          </p:nvSpPr>
          <p:spPr bwMode="auto">
            <a:xfrm>
              <a:off x="2450299" y="3712464"/>
              <a:ext cx="1515329" cy="1104210"/>
            </a:xfrm>
            <a:custGeom>
              <a:avLst/>
              <a:gdLst>
                <a:gd name="connsiteX0" fmla="*/ 0 w 1452475"/>
                <a:gd name="connsiteY0" fmla="*/ 673904 h 673904"/>
                <a:gd name="connsiteX1" fmla="*/ 0 w 1452475"/>
                <a:gd name="connsiteY1" fmla="*/ 0 h 673904"/>
                <a:gd name="connsiteX2" fmla="*/ 1452475 w 1452475"/>
                <a:gd name="connsiteY2" fmla="*/ 673904 h 673904"/>
                <a:gd name="connsiteX3" fmla="*/ 0 w 1452475"/>
                <a:gd name="connsiteY3" fmla="*/ 673904 h 673904"/>
                <a:gd name="connsiteX0" fmla="*/ 0 w 1463233"/>
                <a:gd name="connsiteY0" fmla="*/ 1104210 h 1104210"/>
                <a:gd name="connsiteX1" fmla="*/ 10758 w 1463233"/>
                <a:gd name="connsiteY1" fmla="*/ 0 h 1104210"/>
                <a:gd name="connsiteX2" fmla="*/ 1463233 w 1463233"/>
                <a:gd name="connsiteY2" fmla="*/ 673904 h 1104210"/>
                <a:gd name="connsiteX3" fmla="*/ 0 w 1463233"/>
                <a:gd name="connsiteY3" fmla="*/ 1104210 h 1104210"/>
                <a:gd name="connsiteX0" fmla="*/ 0 w 1484748"/>
                <a:gd name="connsiteY0" fmla="*/ 1104210 h 1104210"/>
                <a:gd name="connsiteX1" fmla="*/ 10758 w 1484748"/>
                <a:gd name="connsiteY1" fmla="*/ 0 h 1104210"/>
                <a:gd name="connsiteX2" fmla="*/ 1484748 w 1484748"/>
                <a:gd name="connsiteY2" fmla="*/ 706177 h 1104210"/>
                <a:gd name="connsiteX3" fmla="*/ 0 w 1484748"/>
                <a:gd name="connsiteY3" fmla="*/ 1104210 h 1104210"/>
              </a:gdLst>
              <a:ahLst/>
              <a:cxnLst>
                <a:cxn ang="0">
                  <a:pos x="connsiteX0" y="connsiteY0"/>
                </a:cxn>
                <a:cxn ang="0">
                  <a:pos x="connsiteX1" y="connsiteY1"/>
                </a:cxn>
                <a:cxn ang="0">
                  <a:pos x="connsiteX2" y="connsiteY2"/>
                </a:cxn>
                <a:cxn ang="0">
                  <a:pos x="connsiteX3" y="connsiteY3"/>
                </a:cxn>
              </a:cxnLst>
              <a:rect l="l" t="t" r="r" b="b"/>
              <a:pathLst>
                <a:path w="1484748" h="1104210">
                  <a:moveTo>
                    <a:pt x="0" y="1104210"/>
                  </a:moveTo>
                  <a:lnTo>
                    <a:pt x="10758" y="0"/>
                  </a:lnTo>
                  <a:lnTo>
                    <a:pt x="1484748" y="706177"/>
                  </a:lnTo>
                  <a:lnTo>
                    <a:pt x="0" y="1104210"/>
                  </a:lnTo>
                  <a:close/>
                </a:path>
              </a:pathLst>
            </a:cu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Whitney-Book" pitchFamily="50" charset="0"/>
                <a:cs typeface="Whitney-Book" pitchFamily="50" charset="0"/>
              </a:endParaRPr>
            </a:p>
          </p:txBody>
        </p:sp>
        <p:grpSp>
          <p:nvGrpSpPr>
            <p:cNvPr id="35" name="Group 41"/>
            <p:cNvGrpSpPr>
              <a:grpSpLocks/>
            </p:cNvGrpSpPr>
            <p:nvPr/>
          </p:nvGrpSpPr>
          <p:grpSpPr bwMode="auto">
            <a:xfrm>
              <a:off x="3124200" y="3581430"/>
              <a:ext cx="4549453" cy="672027"/>
              <a:chOff x="1871" y="2105"/>
              <a:chExt cx="2724" cy="604"/>
            </a:xfrm>
          </p:grpSpPr>
          <p:sp>
            <p:nvSpPr>
              <p:cNvPr id="36" name="Rectangle 43"/>
              <p:cNvSpPr>
                <a:spLocks noChangeArrowheads="1"/>
              </p:cNvSpPr>
              <p:nvPr/>
            </p:nvSpPr>
            <p:spPr bwMode="auto">
              <a:xfrm>
                <a:off x="2555" y="2105"/>
                <a:ext cx="2040" cy="266"/>
              </a:xfrm>
              <a:prstGeom prst="rect">
                <a:avLst/>
              </a:prstGeom>
              <a:noFill/>
              <a:ln w="9525">
                <a:noFill/>
                <a:miter lim="800000"/>
                <a:headEnd/>
                <a:tailEnd/>
              </a:ln>
              <a:effectLst/>
            </p:spPr>
            <p:txBody>
              <a:bodyPr wrap="none" lIns="19050" tIns="26988" rIns="19050" bIns="26988"/>
              <a:lstStyle/>
              <a:p>
                <a:pPr>
                  <a:lnSpc>
                    <a:spcPts val="2210"/>
                  </a:lnSpc>
                  <a:spcAft>
                    <a:spcPts val="947"/>
                  </a:spcAft>
                  <a:tabLst>
                    <a:tab pos="481157" algn="l"/>
                    <a:tab pos="962315" algn="l"/>
                    <a:tab pos="1443472" algn="l"/>
                  </a:tabLst>
                </a:pPr>
                <a:r>
                  <a:rPr lang="en-US" sz="2000" b="0" dirty="0">
                    <a:solidFill>
                      <a:srgbClr val="FF0000"/>
                    </a:solidFill>
                    <a:latin typeface="Whitney-Book" pitchFamily="50" charset="0"/>
                    <a:cs typeface="Whitney-Book" pitchFamily="50" charset="0"/>
                  </a:rPr>
                  <a:t>Deadweight loss under monopoly</a:t>
                </a:r>
              </a:p>
            </p:txBody>
          </p:sp>
          <p:sp>
            <p:nvSpPr>
              <p:cNvPr id="37" name="Line 42"/>
              <p:cNvSpPr>
                <a:spLocks noChangeShapeType="1"/>
              </p:cNvSpPr>
              <p:nvPr/>
            </p:nvSpPr>
            <p:spPr bwMode="auto">
              <a:xfrm flipH="1">
                <a:off x="1871" y="2310"/>
                <a:ext cx="639" cy="399"/>
              </a:xfrm>
              <a:prstGeom prst="line">
                <a:avLst/>
              </a:prstGeom>
              <a:noFill/>
              <a:ln w="25400">
                <a:solidFill>
                  <a:schemeClr val="tx1"/>
                </a:solidFill>
                <a:round/>
                <a:headEnd type="none" w="sm" len="sm"/>
                <a:tailEnd type="stealth" w="med" len="lg"/>
              </a:ln>
              <a:effectLst/>
            </p:spPr>
            <p:txBody>
              <a:bodyPr wrap="none" anchor="ctr"/>
              <a:lstStyle/>
              <a:p>
                <a:endParaRPr lang="en-US" sz="2800" b="0">
                  <a:solidFill>
                    <a:schemeClr val="bg1"/>
                  </a:solidFill>
                  <a:latin typeface="Whitney-Book" pitchFamily="50" charset="0"/>
                  <a:cs typeface="Whitney-Book" pitchFamily="50" charset="0"/>
                </a:endParaRPr>
              </a:p>
            </p:txBody>
          </p:sp>
        </p:grpSp>
      </p:grpSp>
      <p:grpSp>
        <p:nvGrpSpPr>
          <p:cNvPr id="38" name="Group 37"/>
          <p:cNvGrpSpPr/>
          <p:nvPr/>
        </p:nvGrpSpPr>
        <p:grpSpPr>
          <a:xfrm>
            <a:off x="909320" y="2203114"/>
            <a:ext cx="2912511" cy="1447800"/>
            <a:chOff x="990600" y="2209800"/>
            <a:chExt cx="2912511" cy="1447800"/>
          </a:xfrm>
        </p:grpSpPr>
        <p:sp>
          <p:nvSpPr>
            <p:cNvPr id="39" name="Isosceles Triangle 38"/>
            <p:cNvSpPr/>
            <p:nvPr/>
          </p:nvSpPr>
          <p:spPr bwMode="auto">
            <a:xfrm>
              <a:off x="990600" y="2971800"/>
              <a:ext cx="1447800" cy="685800"/>
            </a:xfrm>
            <a:prstGeom prst="triangle">
              <a:avLst>
                <a:gd name="adj" fmla="val 0"/>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Whitney-Book" pitchFamily="50" charset="0"/>
                <a:cs typeface="Whitney-Book" pitchFamily="50" charset="0"/>
              </a:endParaRPr>
            </a:p>
          </p:txBody>
        </p:sp>
        <p:grpSp>
          <p:nvGrpSpPr>
            <p:cNvPr id="40" name="Group 51"/>
            <p:cNvGrpSpPr>
              <a:grpSpLocks/>
            </p:cNvGrpSpPr>
            <p:nvPr/>
          </p:nvGrpSpPr>
          <p:grpSpPr bwMode="auto">
            <a:xfrm>
              <a:off x="1219200" y="2209800"/>
              <a:ext cx="2683911" cy="1221986"/>
              <a:chOff x="1011" y="1690"/>
              <a:chExt cx="1607" cy="731"/>
            </a:xfrm>
          </p:grpSpPr>
          <p:sp>
            <p:nvSpPr>
              <p:cNvPr id="41" name="Rectangle 30"/>
              <p:cNvSpPr>
                <a:spLocks noChangeArrowheads="1"/>
              </p:cNvSpPr>
              <p:nvPr/>
            </p:nvSpPr>
            <p:spPr bwMode="auto">
              <a:xfrm>
                <a:off x="1011" y="1690"/>
                <a:ext cx="1607" cy="385"/>
              </a:xfrm>
              <a:prstGeom prst="rect">
                <a:avLst/>
              </a:prstGeom>
              <a:noFill/>
              <a:ln w="9525">
                <a:noFill/>
                <a:miter lim="800000"/>
                <a:headEnd/>
                <a:tailEnd/>
              </a:ln>
              <a:effectLst/>
            </p:spPr>
            <p:txBody>
              <a:bodyPr wrap="none" lIns="19050" tIns="26988" rIns="19050" bIns="26988"/>
              <a:lstStyle/>
              <a:p>
                <a:pPr>
                  <a:spcAft>
                    <a:spcPts val="0"/>
                  </a:spcAft>
                  <a:tabLst>
                    <a:tab pos="481157" algn="l"/>
                    <a:tab pos="962315" algn="l"/>
                    <a:tab pos="1443472" algn="l"/>
                  </a:tabLst>
                </a:pPr>
                <a:r>
                  <a:rPr lang="en-US" sz="2000" b="0" dirty="0">
                    <a:solidFill>
                      <a:srgbClr val="C00000"/>
                    </a:solidFill>
                    <a:latin typeface="Whitney-Book" pitchFamily="50" charset="0"/>
                    <a:cs typeface="Whitney-Book" pitchFamily="50" charset="0"/>
                  </a:rPr>
                  <a:t>Consumer surplus </a:t>
                </a:r>
              </a:p>
              <a:p>
                <a:pPr>
                  <a:spcAft>
                    <a:spcPts val="0"/>
                  </a:spcAft>
                  <a:tabLst>
                    <a:tab pos="481157" algn="l"/>
                    <a:tab pos="962315" algn="l"/>
                    <a:tab pos="1443472" algn="l"/>
                  </a:tabLst>
                </a:pPr>
                <a:r>
                  <a:rPr lang="en-US" sz="2000" b="0" dirty="0">
                    <a:solidFill>
                      <a:srgbClr val="C00000"/>
                    </a:solidFill>
                    <a:latin typeface="Whitney-Book" pitchFamily="50" charset="0"/>
                    <a:cs typeface="Whitney-Book" pitchFamily="50" charset="0"/>
                  </a:rPr>
                  <a:t>under monopoly</a:t>
                </a:r>
              </a:p>
            </p:txBody>
          </p:sp>
          <p:sp>
            <p:nvSpPr>
              <p:cNvPr id="42" name="Line 31"/>
              <p:cNvSpPr>
                <a:spLocks noChangeShapeType="1"/>
              </p:cNvSpPr>
              <p:nvPr/>
            </p:nvSpPr>
            <p:spPr bwMode="auto">
              <a:xfrm flipH="1">
                <a:off x="1011" y="2100"/>
                <a:ext cx="502" cy="321"/>
              </a:xfrm>
              <a:prstGeom prst="line">
                <a:avLst/>
              </a:prstGeom>
              <a:noFill/>
              <a:ln w="25400">
                <a:solidFill>
                  <a:schemeClr val="tx1"/>
                </a:solidFill>
                <a:round/>
                <a:headEnd type="none" w="sm" len="sm"/>
                <a:tailEnd type="stealth" w="med" len="lg"/>
              </a:ln>
              <a:effectLst/>
            </p:spPr>
            <p:txBody>
              <a:bodyPr wrap="none" anchor="ctr"/>
              <a:lstStyle/>
              <a:p>
                <a:endParaRPr lang="en-US" sz="2800" b="0">
                  <a:solidFill>
                    <a:schemeClr val="bg1"/>
                  </a:solidFill>
                  <a:latin typeface="Whitney-Book" pitchFamily="50" charset="0"/>
                  <a:cs typeface="Whitney-Book" pitchFamily="50" charset="0"/>
                </a:endParaRPr>
              </a:p>
            </p:txBody>
          </p:sp>
        </p:grpSp>
      </p:grpSp>
      <p:sp>
        <p:nvSpPr>
          <p:cNvPr id="54" name="Title 53">
            <a:extLst>
              <a:ext uri="{FF2B5EF4-FFF2-40B4-BE49-F238E27FC236}">
                <a16:creationId xmlns:a16="http://schemas.microsoft.com/office/drawing/2014/main" id="{EB48780F-5C1F-4D6B-B47A-B819E1ECDC24}"/>
              </a:ext>
            </a:extLst>
          </p:cNvPr>
          <p:cNvSpPr>
            <a:spLocks noGrp="1"/>
          </p:cNvSpPr>
          <p:nvPr>
            <p:ph type="title"/>
          </p:nvPr>
        </p:nvSpPr>
        <p:spPr/>
        <p:txBody>
          <a:bodyPr>
            <a:normAutofit fontScale="90000"/>
          </a:bodyPr>
          <a:lstStyle/>
          <a:p>
            <a:r>
              <a:rPr lang="en-US" dirty="0"/>
              <a:t>Monopoly: Good for business, bad for Consumers and Welfare</a:t>
            </a:r>
          </a:p>
        </p:txBody>
      </p:sp>
      <p:sp>
        <p:nvSpPr>
          <p:cNvPr id="3" name="Slide Number Placeholder 2"/>
          <p:cNvSpPr>
            <a:spLocks noGrp="1"/>
          </p:cNvSpPr>
          <p:nvPr>
            <p:ph type="sldNum" sz="quarter" idx="12"/>
          </p:nvPr>
        </p:nvSpPr>
        <p:spPr/>
        <p:txBody>
          <a:bodyPr/>
          <a:lstStyle/>
          <a:p>
            <a:fld id="{0F3206DB-9488-D04D-BDD1-A7C9D84C4579}" type="slidenum">
              <a:rPr lang="en-US" smtClean="0"/>
              <a:t>34</a:t>
            </a:fld>
            <a:endParaRPr lang="en-US"/>
          </a:p>
        </p:txBody>
      </p:sp>
      <p:cxnSp>
        <p:nvCxnSpPr>
          <p:cNvPr id="56" name="Straight Connector 55">
            <a:extLst>
              <a:ext uri="{FF2B5EF4-FFF2-40B4-BE49-F238E27FC236}">
                <a16:creationId xmlns:a16="http://schemas.microsoft.com/office/drawing/2014/main" id="{245F18C7-9DB2-4140-A8A1-16F39003B82D}"/>
              </a:ext>
            </a:extLst>
          </p:cNvPr>
          <p:cNvCxnSpPr>
            <a:endCxn id="22" idx="0"/>
          </p:cNvCxnSpPr>
          <p:nvPr/>
        </p:nvCxnSpPr>
        <p:spPr>
          <a:xfrm>
            <a:off x="887400" y="4403162"/>
            <a:ext cx="3066371" cy="0"/>
          </a:xfrm>
          <a:prstGeom prst="line">
            <a:avLst/>
          </a:prstGeom>
          <a:ln>
            <a:prstDash val="sysDot"/>
          </a:ln>
        </p:spPr>
        <p:style>
          <a:lnRef idx="2">
            <a:schemeClr val="dk1"/>
          </a:lnRef>
          <a:fillRef idx="0">
            <a:schemeClr val="dk1"/>
          </a:fillRef>
          <a:effectRef idx="1">
            <a:schemeClr val="dk1"/>
          </a:effectRef>
          <a:fontRef idx="minor">
            <a:schemeClr val="tx1"/>
          </a:fontRef>
        </p:style>
      </p:cxnSp>
      <p:sp>
        <p:nvSpPr>
          <p:cNvPr id="47" name="TextBox 46">
            <a:extLst>
              <a:ext uri="{FF2B5EF4-FFF2-40B4-BE49-F238E27FC236}">
                <a16:creationId xmlns:a16="http://schemas.microsoft.com/office/drawing/2014/main" id="{7A4B4452-D6AB-4924-9D81-A6D6F0B0C03B}"/>
              </a:ext>
            </a:extLst>
          </p:cNvPr>
          <p:cNvSpPr txBox="1"/>
          <p:nvPr/>
        </p:nvSpPr>
        <p:spPr>
          <a:xfrm>
            <a:off x="5466313" y="3919584"/>
            <a:ext cx="917715" cy="445122"/>
          </a:xfrm>
          <a:prstGeom prst="rect">
            <a:avLst/>
          </a:prstGeom>
          <a:noFill/>
        </p:spPr>
        <p:txBody>
          <a:bodyPr wrap="square">
            <a:spAutoFit/>
          </a:bodyPr>
          <a:lstStyle/>
          <a:p>
            <a:pPr>
              <a:lnSpc>
                <a:spcPts val="2947"/>
              </a:lnSpc>
              <a:spcAft>
                <a:spcPts val="947"/>
              </a:spcAft>
              <a:tabLst>
                <a:tab pos="481157" algn="l"/>
                <a:tab pos="962315" algn="l"/>
                <a:tab pos="1443472" algn="l"/>
              </a:tabLst>
            </a:pPr>
            <a:r>
              <a:rPr lang="en-US" sz="2400" b="0" i="1" dirty="0">
                <a:solidFill>
                  <a:schemeClr val="accent1">
                    <a:lumMod val="75000"/>
                  </a:schemeClr>
                </a:solidFill>
                <a:latin typeface="Whitney-Book" pitchFamily="50" charset="0"/>
                <a:cs typeface="Whitney-Book" pitchFamily="50" charset="0"/>
              </a:rPr>
              <a:t>MC</a:t>
            </a:r>
          </a:p>
        </p:txBody>
      </p:sp>
    </p:spTree>
    <p:extLst>
      <p:ext uri="{BB962C8B-B14F-4D97-AF65-F5344CB8AC3E}">
        <p14:creationId xmlns:p14="http://schemas.microsoft.com/office/powerpoint/2010/main" val="4129270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4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C028C-5E08-4D2A-A5CD-69B37EF87E1C}"/>
              </a:ext>
            </a:extLst>
          </p:cNvPr>
          <p:cNvSpPr>
            <a:spLocks noGrp="1"/>
          </p:cNvSpPr>
          <p:nvPr>
            <p:ph type="title"/>
          </p:nvPr>
        </p:nvSpPr>
        <p:spPr/>
        <p:txBody>
          <a:bodyPr>
            <a:normAutofit fontScale="90000"/>
          </a:bodyPr>
          <a:lstStyle/>
          <a:p>
            <a:r>
              <a:rPr lang="en-US" dirty="0"/>
              <a:t>The case of </a:t>
            </a:r>
            <a:r>
              <a:rPr lang="en-US" dirty="0" err="1"/>
              <a:t>luxotTica</a:t>
            </a:r>
            <a:r>
              <a:rPr lang="en-US" dirty="0"/>
              <a:t> </a:t>
            </a:r>
            <a:r>
              <a:rPr lang="en-US" sz="2200" dirty="0"/>
              <a:t>(now Essilor-Luxottica) </a:t>
            </a:r>
            <a:endParaRPr lang="en-US" dirty="0"/>
          </a:p>
        </p:txBody>
      </p:sp>
      <p:pic>
        <p:nvPicPr>
          <p:cNvPr id="5" name="Online Media 4" title="60 Minutes - Luxottica. Do you know who makes your glasses?">
            <a:hlinkClick r:id="" action="ppaction://media"/>
            <a:extLst>
              <a:ext uri="{FF2B5EF4-FFF2-40B4-BE49-F238E27FC236}">
                <a16:creationId xmlns:a16="http://schemas.microsoft.com/office/drawing/2014/main" id="{83B26F87-D53E-4AE7-8B5A-94706C66842E}"/>
              </a:ext>
            </a:extLst>
          </p:cNvPr>
          <p:cNvPicPr>
            <a:picLocks noGrp="1" noRot="1" noChangeAspect="1"/>
          </p:cNvPicPr>
          <p:nvPr>
            <p:ph idx="4294967295"/>
            <a:videoFile r:link="rId1"/>
          </p:nvPr>
        </p:nvPicPr>
        <p:blipFill>
          <a:blip r:embed="rId4"/>
          <a:stretch>
            <a:fillRect/>
          </a:stretch>
        </p:blipFill>
        <p:spPr>
          <a:xfrm>
            <a:off x="566737" y="1419225"/>
            <a:ext cx="8010525" cy="4525963"/>
          </a:xfrm>
          <a:prstGeom prst="rect">
            <a:avLst/>
          </a:prstGeom>
        </p:spPr>
      </p:pic>
      <p:sp>
        <p:nvSpPr>
          <p:cNvPr id="7" name="Parallelogram 6">
            <a:extLst>
              <a:ext uri="{FF2B5EF4-FFF2-40B4-BE49-F238E27FC236}">
                <a16:creationId xmlns:a16="http://schemas.microsoft.com/office/drawing/2014/main" id="{6D63D38B-965C-4091-B570-418BFD190E49}"/>
              </a:ext>
            </a:extLst>
          </p:cNvPr>
          <p:cNvSpPr/>
          <p:nvPr/>
        </p:nvSpPr>
        <p:spPr>
          <a:xfrm>
            <a:off x="5061098" y="6097419"/>
            <a:ext cx="3625702" cy="687801"/>
          </a:xfrm>
          <a:prstGeom prst="parallelogram">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50000" t="50000" r="50000" b="50000"/>
            </a:path>
            <a:tileRect/>
          </a:gradFill>
          <a:ln>
            <a:noFill/>
          </a:ln>
        </p:spPr>
        <p:style>
          <a:lnRef idx="1">
            <a:schemeClr val="accent2"/>
          </a:lnRef>
          <a:fillRef idx="3">
            <a:schemeClr val="accent2"/>
          </a:fillRef>
          <a:effectRef idx="2">
            <a:schemeClr val="accent2"/>
          </a:effectRef>
          <a:fontRef idx="minor">
            <a:schemeClr val="lt1"/>
          </a:fontRef>
        </p:style>
        <p:txBody>
          <a:bodyPr rtlCol="0" anchor="ctr"/>
          <a:lstStyle/>
          <a:p>
            <a:pPr>
              <a:defRPr/>
            </a:pPr>
            <a:r>
              <a:rPr lang="en-US" sz="3200" b="1" i="1" dirty="0">
                <a:solidFill>
                  <a:prstClr val="white"/>
                </a:solidFill>
              </a:rPr>
              <a:t>Class Discussion</a:t>
            </a:r>
          </a:p>
        </p:txBody>
      </p:sp>
    </p:spTree>
    <p:extLst>
      <p:ext uri="{BB962C8B-B14F-4D97-AF65-F5344CB8AC3E}">
        <p14:creationId xmlns:p14="http://schemas.microsoft.com/office/powerpoint/2010/main" val="2645925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A9B9E-85A2-45D2-BDF7-1C48D8AB32F6}"/>
              </a:ext>
            </a:extLst>
          </p:cNvPr>
          <p:cNvSpPr>
            <a:spLocks noGrp="1"/>
          </p:cNvSpPr>
          <p:nvPr>
            <p:ph type="title"/>
          </p:nvPr>
        </p:nvSpPr>
        <p:spPr/>
        <p:txBody>
          <a:bodyPr/>
          <a:lstStyle/>
          <a:p>
            <a:r>
              <a:rPr lang="fr-FR" dirty="0"/>
              <a:t>The case of </a:t>
            </a:r>
            <a:r>
              <a:rPr lang="fr-FR" dirty="0" err="1"/>
              <a:t>luxottica</a:t>
            </a:r>
            <a:endParaRPr lang="en-US" dirty="0"/>
          </a:p>
        </p:txBody>
      </p:sp>
      <p:sp>
        <p:nvSpPr>
          <p:cNvPr id="4" name="Text Placeholder 3">
            <a:extLst>
              <a:ext uri="{FF2B5EF4-FFF2-40B4-BE49-F238E27FC236}">
                <a16:creationId xmlns:a16="http://schemas.microsoft.com/office/drawing/2014/main" id="{F9691858-F1DC-4CE1-A86B-F17FF5F65EA3}"/>
              </a:ext>
            </a:extLst>
          </p:cNvPr>
          <p:cNvSpPr>
            <a:spLocks noGrp="1"/>
          </p:cNvSpPr>
          <p:nvPr>
            <p:ph type="body" idx="1"/>
          </p:nvPr>
        </p:nvSpPr>
        <p:spPr/>
        <p:txBody>
          <a:bodyPr/>
          <a:lstStyle/>
          <a:p>
            <a:endParaRPr lang="en-US"/>
          </a:p>
        </p:txBody>
      </p:sp>
      <p:sp>
        <p:nvSpPr>
          <p:cNvPr id="3" name="Content Placeholder 2">
            <a:extLst>
              <a:ext uri="{FF2B5EF4-FFF2-40B4-BE49-F238E27FC236}">
                <a16:creationId xmlns:a16="http://schemas.microsoft.com/office/drawing/2014/main" id="{D87252F2-71E2-40E9-A849-44EAFE5E22A4}"/>
              </a:ext>
            </a:extLst>
          </p:cNvPr>
          <p:cNvSpPr txBox="1">
            <a:spLocks/>
          </p:cNvSpPr>
          <p:nvPr/>
        </p:nvSpPr>
        <p:spPr>
          <a:xfrm>
            <a:off x="457200" y="1419985"/>
            <a:ext cx="8229600" cy="4525963"/>
          </a:xfrm>
          <a:prstGeom prst="rect">
            <a:avLst/>
          </a:prstGeom>
        </p:spPr>
        <p:txBody>
          <a:bodyPr>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a:defRPr/>
            </a:pPr>
            <a:r>
              <a:rPr kumimoji="0" lang="fr-FR" sz="2400" b="0" i="0" u="none" strike="noStrike" kern="1100" cap="none" spc="50" normalizeH="0" baseline="0" noProof="0" dirty="0" err="1">
                <a:ln>
                  <a:noFill/>
                </a:ln>
                <a:solidFill>
                  <a:srgbClr val="1F497D">
                    <a:lumMod val="75000"/>
                  </a:srgbClr>
                </a:solidFill>
                <a:effectLst/>
                <a:uLnTx/>
                <a:uFillTx/>
                <a:latin typeface="Whitney-Book"/>
                <a:ea typeface="+mn-ea"/>
                <a:cs typeface="+mn-cs"/>
              </a:rPr>
              <a:t>Which</a:t>
            </a:r>
            <a:r>
              <a:rPr kumimoji="0" lang="fr-FR" sz="2400" b="0" i="0" u="none" strike="noStrike" kern="1100" cap="none" spc="50" normalizeH="0" baseline="0" noProof="0" dirty="0">
                <a:ln>
                  <a:noFill/>
                </a:ln>
                <a:solidFill>
                  <a:srgbClr val="1F497D">
                    <a:lumMod val="75000"/>
                  </a:srgbClr>
                </a:solidFill>
                <a:effectLst/>
                <a:uLnTx/>
                <a:uFillTx/>
                <a:latin typeface="Whitney-Book"/>
                <a:ea typeface="+mn-ea"/>
                <a:cs typeface="+mn-cs"/>
              </a:rPr>
              <a:t> type of </a:t>
            </a:r>
            <a:r>
              <a:rPr kumimoji="0" lang="fr-FR" sz="2400" b="0" i="0" u="none" strike="noStrike" kern="1100" cap="none" spc="50" normalizeH="0" baseline="0" noProof="0" dirty="0" err="1">
                <a:ln>
                  <a:noFill/>
                </a:ln>
                <a:solidFill>
                  <a:srgbClr val="1F497D">
                    <a:lumMod val="75000"/>
                  </a:srgbClr>
                </a:solidFill>
                <a:effectLst/>
                <a:uLnTx/>
                <a:uFillTx/>
                <a:latin typeface="Whitney-Book"/>
                <a:ea typeface="+mn-ea"/>
                <a:cs typeface="+mn-cs"/>
              </a:rPr>
              <a:t>market</a:t>
            </a:r>
            <a:r>
              <a:rPr kumimoji="0" lang="fr-FR" sz="2400" b="0" i="0" u="none" strike="noStrike" kern="1100" cap="none" spc="50" normalizeH="0" baseline="0" noProof="0" dirty="0">
                <a:ln>
                  <a:noFill/>
                </a:ln>
                <a:solidFill>
                  <a:srgbClr val="1F497D">
                    <a:lumMod val="75000"/>
                  </a:srgbClr>
                </a:solidFill>
                <a:effectLst/>
                <a:uLnTx/>
                <a:uFillTx/>
                <a:latin typeface="Whitney-Book"/>
                <a:ea typeface="+mn-ea"/>
                <a:cs typeface="+mn-cs"/>
              </a:rPr>
              <a:t> </a:t>
            </a:r>
            <a:r>
              <a:rPr kumimoji="0" lang="fr-FR" sz="2400" b="0" i="0" u="none" strike="noStrike" kern="1100" cap="none" spc="50" normalizeH="0" baseline="0" noProof="0" dirty="0" err="1">
                <a:ln>
                  <a:noFill/>
                </a:ln>
                <a:solidFill>
                  <a:srgbClr val="1F497D">
                    <a:lumMod val="75000"/>
                  </a:srgbClr>
                </a:solidFill>
                <a:effectLst/>
                <a:uLnTx/>
                <a:uFillTx/>
                <a:latin typeface="Whitney-Book"/>
                <a:ea typeface="+mn-ea"/>
                <a:cs typeface="+mn-cs"/>
              </a:rPr>
              <a:t>is</a:t>
            </a:r>
            <a:r>
              <a:rPr lang="fr-FR" sz="2400" dirty="0">
                <a:solidFill>
                  <a:srgbClr val="1F497D">
                    <a:lumMod val="75000"/>
                  </a:srgbClr>
                </a:solidFill>
              </a:rPr>
              <a:t> Luxottica operating in?</a:t>
            </a:r>
            <a:endParaRPr kumimoji="0" lang="fr-FR" sz="2400" b="0" i="0" u="none" strike="noStrike" kern="1100" cap="none" spc="50" normalizeH="0" baseline="0" noProof="0" dirty="0">
              <a:ln>
                <a:noFill/>
              </a:ln>
              <a:solidFill>
                <a:srgbClr val="1F497D">
                  <a:lumMod val="75000"/>
                </a:srgbClr>
              </a:solidFill>
              <a:effectLst/>
              <a:uLnTx/>
              <a:uFillTx/>
              <a:latin typeface="Whitney-Book"/>
              <a:ea typeface="+mn-ea"/>
              <a:cs typeface="+mn-cs"/>
            </a:endParaRPr>
          </a:p>
          <a:p>
            <a:pPr marL="342900" marR="0" lvl="0" indent="-342900" algn="l" defTabSz="457200" rtl="0" eaLnBrk="1" fontAlgn="auto" latinLnBrk="0" hangingPunct="1">
              <a:lnSpc>
                <a:spcPct val="100000"/>
              </a:lnSpc>
              <a:spcBef>
                <a:spcPct val="20000"/>
              </a:spcBef>
              <a:spcAft>
                <a:spcPts val="0"/>
              </a:spcAft>
              <a:buClr>
                <a:srgbClr val="1B8BD5"/>
              </a:buClr>
              <a:buSzTx/>
              <a:buFont typeface="Lucida Grande"/>
              <a:buChar char="»"/>
              <a:tabLst/>
              <a:defRPr/>
            </a:pPr>
            <a:r>
              <a:rPr kumimoji="0" lang="fr-FR" sz="2400" b="0" i="0" u="none" strike="noStrike" kern="1100" cap="none" spc="50" normalizeH="0" baseline="0" noProof="0" dirty="0">
                <a:ln>
                  <a:noFill/>
                </a:ln>
                <a:solidFill>
                  <a:srgbClr val="1F497D">
                    <a:lumMod val="75000"/>
                  </a:srgbClr>
                </a:solidFill>
                <a:effectLst/>
                <a:uLnTx/>
                <a:uFillTx/>
                <a:latin typeface="Whitney-Book"/>
                <a:ea typeface="+mn-ea"/>
                <a:cs typeface="+mn-cs"/>
              </a:rPr>
              <a:t>How</a:t>
            </a:r>
            <a:r>
              <a:rPr kumimoji="0" lang="fr-FR" sz="2400" b="0" i="0" u="none" strike="noStrike" kern="1100" cap="none" spc="50" normalizeH="0" noProof="0" dirty="0">
                <a:ln>
                  <a:noFill/>
                </a:ln>
                <a:solidFill>
                  <a:srgbClr val="1F497D">
                    <a:lumMod val="75000"/>
                  </a:srgbClr>
                </a:solidFill>
                <a:effectLst/>
                <a:uLnTx/>
                <a:uFillTx/>
                <a:latin typeface="Whitney-Book"/>
                <a:ea typeface="+mn-ea"/>
                <a:cs typeface="+mn-cs"/>
              </a:rPr>
              <a:t> do </a:t>
            </a:r>
            <a:r>
              <a:rPr kumimoji="0" lang="fr-FR" sz="2400" b="0" i="0" u="none" strike="noStrike" kern="1100" cap="none" spc="50" normalizeH="0" noProof="0" dirty="0" err="1">
                <a:ln>
                  <a:noFill/>
                </a:ln>
                <a:solidFill>
                  <a:srgbClr val="1F497D">
                    <a:lumMod val="75000"/>
                  </a:srgbClr>
                </a:solidFill>
                <a:effectLst/>
                <a:uLnTx/>
                <a:uFillTx/>
                <a:latin typeface="Whitney-Book"/>
                <a:ea typeface="+mn-ea"/>
                <a:cs typeface="+mn-cs"/>
              </a:rPr>
              <a:t>they</a:t>
            </a:r>
            <a:r>
              <a:rPr kumimoji="0" lang="fr-FR" sz="2400" b="0" i="0" u="none" strike="noStrike" kern="1100" cap="none" spc="50" normalizeH="0" noProof="0" dirty="0">
                <a:ln>
                  <a:noFill/>
                </a:ln>
                <a:solidFill>
                  <a:srgbClr val="1F497D">
                    <a:lumMod val="75000"/>
                  </a:srgbClr>
                </a:solidFill>
                <a:effectLst/>
                <a:uLnTx/>
                <a:uFillTx/>
                <a:latin typeface="Whitney-Book"/>
                <a:ea typeface="+mn-ea"/>
                <a:cs typeface="+mn-cs"/>
              </a:rPr>
              <a:t> </a:t>
            </a:r>
            <a:r>
              <a:rPr kumimoji="0" lang="fr-FR" sz="2400" b="0" i="0" u="none" strike="noStrike" kern="1100" cap="none" spc="50" normalizeH="0" noProof="0" dirty="0" err="1">
                <a:ln>
                  <a:noFill/>
                </a:ln>
                <a:solidFill>
                  <a:srgbClr val="1F497D">
                    <a:lumMod val="75000"/>
                  </a:srgbClr>
                </a:solidFill>
                <a:effectLst/>
                <a:uLnTx/>
                <a:uFillTx/>
                <a:latin typeface="Whitney-Book"/>
                <a:ea typeface="+mn-ea"/>
                <a:cs typeface="+mn-cs"/>
              </a:rPr>
              <a:t>achieve</a:t>
            </a:r>
            <a:r>
              <a:rPr kumimoji="0" lang="fr-FR" sz="2400" b="0" i="0" u="none" strike="noStrike" kern="1100" cap="none" spc="50" normalizeH="0" noProof="0" dirty="0">
                <a:ln>
                  <a:noFill/>
                </a:ln>
                <a:solidFill>
                  <a:srgbClr val="1F497D">
                    <a:lumMod val="75000"/>
                  </a:srgbClr>
                </a:solidFill>
                <a:effectLst/>
                <a:uLnTx/>
                <a:uFillTx/>
                <a:latin typeface="Whitney-Book"/>
                <a:ea typeface="+mn-ea"/>
                <a:cs typeface="+mn-cs"/>
              </a:rPr>
              <a:t> </a:t>
            </a:r>
            <a:r>
              <a:rPr kumimoji="0" lang="fr-FR" sz="2400" b="0" i="0" u="none" strike="noStrike" kern="1100" cap="none" spc="50" normalizeH="0" noProof="0" dirty="0" err="1">
                <a:ln>
                  <a:noFill/>
                </a:ln>
                <a:solidFill>
                  <a:srgbClr val="1F497D">
                    <a:lumMod val="75000"/>
                  </a:srgbClr>
                </a:solidFill>
                <a:effectLst/>
                <a:uLnTx/>
                <a:uFillTx/>
                <a:latin typeface="Whitney-Book"/>
                <a:ea typeface="+mn-ea"/>
                <a:cs typeface="+mn-cs"/>
              </a:rPr>
              <a:t>market</a:t>
            </a:r>
            <a:r>
              <a:rPr kumimoji="0" lang="fr-FR" sz="2400" b="0" i="0" u="none" strike="noStrike" kern="1100" cap="none" spc="50" normalizeH="0" noProof="0" dirty="0">
                <a:ln>
                  <a:noFill/>
                </a:ln>
                <a:solidFill>
                  <a:srgbClr val="1F497D">
                    <a:lumMod val="75000"/>
                  </a:srgbClr>
                </a:solidFill>
                <a:effectLst/>
                <a:uLnTx/>
                <a:uFillTx/>
                <a:latin typeface="Whitney-Book"/>
                <a:ea typeface="+mn-ea"/>
                <a:cs typeface="+mn-cs"/>
              </a:rPr>
              <a:t> power?</a:t>
            </a:r>
            <a:endParaRPr kumimoji="0" lang="fr-FR" sz="2400" b="0" i="0" u="none" strike="noStrike" kern="1100" cap="none" spc="50" normalizeH="0" baseline="0" noProof="0" dirty="0">
              <a:ln>
                <a:noFill/>
              </a:ln>
              <a:solidFill>
                <a:srgbClr val="1F497D">
                  <a:lumMod val="75000"/>
                </a:srgbClr>
              </a:solidFill>
              <a:effectLst/>
              <a:uLnTx/>
              <a:uFillTx/>
              <a:latin typeface="Whitney-Book"/>
              <a:ea typeface="+mn-ea"/>
              <a:cs typeface="+mn-cs"/>
            </a:endParaRPr>
          </a:p>
          <a:p>
            <a:pPr marL="342900" marR="0" lvl="0" indent="-342900" algn="l" defTabSz="457200" rtl="0" eaLnBrk="1" fontAlgn="auto" latinLnBrk="0" hangingPunct="1">
              <a:lnSpc>
                <a:spcPct val="100000"/>
              </a:lnSpc>
              <a:spcBef>
                <a:spcPct val="20000"/>
              </a:spcBef>
              <a:spcAft>
                <a:spcPts val="0"/>
              </a:spcAft>
              <a:buClr>
                <a:srgbClr val="1B8BD5"/>
              </a:buClr>
              <a:buSzTx/>
              <a:buFont typeface="Lucida Grande"/>
              <a:buChar char="»"/>
              <a:tabLst/>
              <a:defRPr/>
            </a:pPr>
            <a:r>
              <a:rPr lang="fr-FR" sz="2400" dirty="0">
                <a:solidFill>
                  <a:srgbClr val="1F497D">
                    <a:lumMod val="75000"/>
                  </a:srgbClr>
                </a:solidFill>
              </a:rPr>
              <a:t>Do </a:t>
            </a:r>
            <a:r>
              <a:rPr lang="fr-FR" sz="2400" dirty="0" err="1">
                <a:solidFill>
                  <a:srgbClr val="1F497D">
                    <a:lumMod val="75000"/>
                  </a:srgbClr>
                </a:solidFill>
              </a:rPr>
              <a:t>they</a:t>
            </a:r>
            <a:r>
              <a:rPr lang="fr-FR" sz="2400" dirty="0">
                <a:solidFill>
                  <a:srgbClr val="1F497D">
                    <a:lumMod val="75000"/>
                  </a:srgbClr>
                </a:solidFill>
              </a:rPr>
              <a:t> have a high markup?</a:t>
            </a:r>
          </a:p>
          <a:p>
            <a:pPr marL="342900" marR="0" lvl="0" indent="-342900" algn="l" defTabSz="457200" rtl="0" eaLnBrk="1" fontAlgn="auto" latinLnBrk="0" hangingPunct="1">
              <a:lnSpc>
                <a:spcPct val="100000"/>
              </a:lnSpc>
              <a:spcBef>
                <a:spcPct val="20000"/>
              </a:spcBef>
              <a:spcAft>
                <a:spcPts val="0"/>
              </a:spcAft>
              <a:buClr>
                <a:srgbClr val="1B8BD5"/>
              </a:buClr>
              <a:buSzTx/>
              <a:buFont typeface="Lucida Grande"/>
              <a:buChar char="»"/>
              <a:tabLst/>
              <a:defRPr/>
            </a:pPr>
            <a:endParaRPr kumimoji="0" lang="fr-FR" sz="2400" b="0" i="0" u="none" strike="noStrike" kern="1100" cap="none" spc="50" normalizeH="0" baseline="0" noProof="0" dirty="0">
              <a:ln>
                <a:noFill/>
              </a:ln>
              <a:solidFill>
                <a:srgbClr val="1F497D">
                  <a:lumMod val="75000"/>
                </a:srgbClr>
              </a:solidFill>
              <a:effectLst/>
              <a:uLnTx/>
              <a:uFillTx/>
              <a:latin typeface="Whitney-Book"/>
              <a:ea typeface="+mn-ea"/>
              <a:cs typeface="+mn-cs"/>
            </a:endParaRPr>
          </a:p>
          <a:p>
            <a:pPr marL="342900" marR="0" lvl="0" indent="-342900" algn="l" defTabSz="457200" rtl="0" eaLnBrk="1" fontAlgn="auto" latinLnBrk="0" hangingPunct="1">
              <a:lnSpc>
                <a:spcPct val="100000"/>
              </a:lnSpc>
              <a:spcBef>
                <a:spcPct val="20000"/>
              </a:spcBef>
              <a:spcAft>
                <a:spcPts val="0"/>
              </a:spcAft>
              <a:buClr>
                <a:srgbClr val="1B8BD5"/>
              </a:buClr>
              <a:buSzTx/>
              <a:buFont typeface="Lucida Grande"/>
              <a:buChar char="»"/>
              <a:tabLst/>
              <a:defRPr/>
            </a:pPr>
            <a:r>
              <a:rPr lang="fr-FR" sz="2400" dirty="0">
                <a:solidFill>
                  <a:srgbClr val="1F497D">
                    <a:lumMod val="75000"/>
                  </a:srgbClr>
                </a:solidFill>
              </a:rPr>
              <a:t>How </a:t>
            </a:r>
            <a:r>
              <a:rPr lang="fr-FR" sz="2400" dirty="0" err="1">
                <a:solidFill>
                  <a:srgbClr val="1F497D">
                    <a:lumMod val="75000"/>
                  </a:srgbClr>
                </a:solidFill>
              </a:rPr>
              <a:t>does</a:t>
            </a:r>
            <a:r>
              <a:rPr lang="fr-FR" sz="2400" dirty="0">
                <a:solidFill>
                  <a:srgbClr val="1F497D">
                    <a:lumMod val="75000"/>
                  </a:srgbClr>
                </a:solidFill>
              </a:rPr>
              <a:t> the </a:t>
            </a:r>
            <a:r>
              <a:rPr lang="fr-FR" sz="2400" dirty="0" err="1">
                <a:solidFill>
                  <a:srgbClr val="1F497D">
                    <a:lumMod val="75000"/>
                  </a:srgbClr>
                </a:solidFill>
              </a:rPr>
              <a:t>following</a:t>
            </a:r>
            <a:r>
              <a:rPr lang="fr-FR" sz="2400" dirty="0">
                <a:solidFill>
                  <a:srgbClr val="1F497D">
                    <a:lumMod val="75000"/>
                  </a:srgbClr>
                </a:solidFill>
              </a:rPr>
              <a:t> </a:t>
            </a:r>
            <a:r>
              <a:rPr lang="fr-FR" sz="2400" dirty="0" err="1">
                <a:solidFill>
                  <a:srgbClr val="1F497D">
                    <a:lumMod val="75000"/>
                  </a:srgbClr>
                </a:solidFill>
              </a:rPr>
              <a:t>statement</a:t>
            </a:r>
            <a:r>
              <a:rPr lang="fr-FR" sz="2400" dirty="0">
                <a:solidFill>
                  <a:srgbClr val="1F497D">
                    <a:lumMod val="75000"/>
                  </a:srgbClr>
                </a:solidFill>
              </a:rPr>
              <a:t> by </a:t>
            </a:r>
            <a:r>
              <a:rPr lang="fr-FR" sz="2400" dirty="0" err="1">
                <a:solidFill>
                  <a:srgbClr val="1F497D">
                    <a:lumMod val="75000"/>
                  </a:srgbClr>
                </a:solidFill>
              </a:rPr>
              <a:t>Luxottica’s</a:t>
            </a:r>
            <a:r>
              <a:rPr lang="fr-FR" sz="2400" dirty="0">
                <a:solidFill>
                  <a:srgbClr val="1F497D">
                    <a:lumMod val="75000"/>
                  </a:srgbClr>
                </a:solidFill>
              </a:rPr>
              <a:t> former CEO relate to </a:t>
            </a:r>
            <a:r>
              <a:rPr lang="fr-FR" sz="2400" dirty="0" err="1">
                <a:solidFill>
                  <a:srgbClr val="1F497D">
                    <a:lumMod val="75000"/>
                  </a:srgbClr>
                </a:solidFill>
              </a:rPr>
              <a:t>what</a:t>
            </a:r>
            <a:r>
              <a:rPr lang="fr-FR" sz="2400" dirty="0">
                <a:solidFill>
                  <a:srgbClr val="1F497D">
                    <a:lumMod val="75000"/>
                  </a:srgbClr>
                </a:solidFill>
              </a:rPr>
              <a:t> </a:t>
            </a:r>
            <a:r>
              <a:rPr lang="fr-FR" sz="2400" dirty="0" err="1">
                <a:solidFill>
                  <a:srgbClr val="1F497D">
                    <a:lumMod val="75000"/>
                  </a:srgbClr>
                </a:solidFill>
              </a:rPr>
              <a:t>we</a:t>
            </a:r>
            <a:r>
              <a:rPr lang="fr-FR" sz="2400" dirty="0">
                <a:solidFill>
                  <a:srgbClr val="1F497D">
                    <a:lumMod val="75000"/>
                  </a:srgbClr>
                </a:solidFill>
              </a:rPr>
              <a:t> </a:t>
            </a:r>
            <a:r>
              <a:rPr lang="fr-FR" sz="2400" dirty="0" err="1">
                <a:solidFill>
                  <a:srgbClr val="1F497D">
                    <a:lumMod val="75000"/>
                  </a:srgbClr>
                </a:solidFill>
              </a:rPr>
              <a:t>learned</a:t>
            </a:r>
            <a:r>
              <a:rPr lang="fr-FR" sz="2400" dirty="0">
                <a:solidFill>
                  <a:srgbClr val="1F497D">
                    <a:lumMod val="75000"/>
                  </a:srgbClr>
                </a:solidFill>
              </a:rPr>
              <a:t> about the </a:t>
            </a:r>
            <a:r>
              <a:rPr lang="fr-FR" sz="2400" dirty="0" err="1">
                <a:solidFill>
                  <a:srgbClr val="1F497D">
                    <a:lumMod val="75000"/>
                  </a:srgbClr>
                </a:solidFill>
              </a:rPr>
              <a:t>demand</a:t>
            </a:r>
            <a:r>
              <a:rPr lang="fr-FR" sz="2400" dirty="0">
                <a:solidFill>
                  <a:srgbClr val="1F497D">
                    <a:lumMod val="75000"/>
                  </a:srgbClr>
                </a:solidFill>
              </a:rPr>
              <a:t> </a:t>
            </a:r>
            <a:r>
              <a:rPr lang="fr-FR" sz="2400" dirty="0" err="1">
                <a:solidFill>
                  <a:srgbClr val="1F497D">
                    <a:lumMod val="75000"/>
                  </a:srgbClr>
                </a:solidFill>
              </a:rPr>
              <a:t>curve</a:t>
            </a:r>
            <a:r>
              <a:rPr lang="fr-FR" sz="2400" dirty="0">
                <a:solidFill>
                  <a:srgbClr val="1F497D">
                    <a:lumMod val="75000"/>
                  </a:srgbClr>
                </a:solidFill>
              </a:rPr>
              <a:t>? </a:t>
            </a:r>
          </a:p>
          <a:p>
            <a:pPr lvl="1" indent="-342900">
              <a:defRPr/>
            </a:pPr>
            <a:r>
              <a:rPr kumimoji="0" lang="fr-FR" sz="2200" b="0" i="0" u="none" strike="noStrike" kern="1100" cap="none" spc="50" normalizeH="0" baseline="0" noProof="0" dirty="0">
                <a:ln>
                  <a:noFill/>
                </a:ln>
                <a:solidFill>
                  <a:srgbClr val="1F497D">
                    <a:lumMod val="75000"/>
                  </a:srgbClr>
                </a:solidFill>
                <a:effectLst/>
                <a:uLnTx/>
                <a:uFillTx/>
                <a:latin typeface="Whitney-Book"/>
                <a:ea typeface="+mn-ea"/>
                <a:cs typeface="+mn-cs"/>
              </a:rPr>
              <a:t>« </a:t>
            </a:r>
            <a:r>
              <a:rPr kumimoji="0" lang="fr-FR" sz="2200" b="0" i="0" u="none" strike="noStrike" kern="1100" cap="none" spc="50" normalizeH="0" baseline="0" noProof="0" dirty="0" err="1">
                <a:ln>
                  <a:noFill/>
                </a:ln>
                <a:solidFill>
                  <a:srgbClr val="1F497D">
                    <a:lumMod val="75000"/>
                  </a:srgbClr>
                </a:solidFill>
                <a:effectLst/>
                <a:uLnTx/>
                <a:uFillTx/>
                <a:latin typeface="Whitney-Book"/>
                <a:ea typeface="+mn-ea"/>
                <a:cs typeface="+mn-cs"/>
              </a:rPr>
              <a:t>Everything</a:t>
            </a:r>
            <a:r>
              <a:rPr kumimoji="0" lang="fr-FR" sz="2200" b="0" i="0" u="none" strike="noStrike" kern="1100" cap="none" spc="50" normalizeH="0" baseline="0" noProof="0" dirty="0">
                <a:ln>
                  <a:noFill/>
                </a:ln>
                <a:solidFill>
                  <a:srgbClr val="1F497D">
                    <a:lumMod val="75000"/>
                  </a:srgbClr>
                </a:solidFill>
                <a:effectLst/>
                <a:uLnTx/>
                <a:uFillTx/>
                <a:latin typeface="Whitney-Book"/>
                <a:ea typeface="+mn-ea"/>
                <a:cs typeface="+mn-cs"/>
              </a:rPr>
              <a:t> </a:t>
            </a:r>
            <a:r>
              <a:rPr kumimoji="0" lang="fr-FR" sz="2200" b="0" i="0" u="none" strike="noStrike" kern="1100" cap="none" spc="50" normalizeH="0" baseline="0" noProof="0" dirty="0" err="1">
                <a:ln>
                  <a:noFill/>
                </a:ln>
                <a:solidFill>
                  <a:srgbClr val="1F497D">
                    <a:lumMod val="75000"/>
                  </a:srgbClr>
                </a:solidFill>
                <a:effectLst/>
                <a:uLnTx/>
                <a:uFillTx/>
                <a:latin typeface="Whitney-Book"/>
                <a:ea typeface="+mn-ea"/>
                <a:cs typeface="+mn-cs"/>
              </a:rPr>
              <a:t>is</a:t>
            </a:r>
            <a:r>
              <a:rPr kumimoji="0" lang="fr-FR" sz="2200" b="0" i="0" u="none" strike="noStrike" kern="1100" cap="none" spc="50" normalizeH="0" baseline="0" noProof="0" dirty="0">
                <a:ln>
                  <a:noFill/>
                </a:ln>
                <a:solidFill>
                  <a:srgbClr val="1F497D">
                    <a:lumMod val="75000"/>
                  </a:srgbClr>
                </a:solidFill>
                <a:effectLst/>
                <a:uLnTx/>
                <a:uFillTx/>
                <a:latin typeface="Whitney-Book"/>
                <a:ea typeface="+mn-ea"/>
                <a:cs typeface="+mn-cs"/>
              </a:rPr>
              <a:t> </a:t>
            </a:r>
            <a:r>
              <a:rPr kumimoji="0" lang="fr-FR" sz="2200" b="0" i="0" u="none" strike="noStrike" kern="1100" cap="none" spc="50" normalizeH="0" baseline="0" noProof="0" dirty="0" err="1">
                <a:ln>
                  <a:noFill/>
                </a:ln>
                <a:solidFill>
                  <a:srgbClr val="1F497D">
                    <a:lumMod val="75000"/>
                  </a:srgbClr>
                </a:solidFill>
                <a:effectLst/>
                <a:uLnTx/>
                <a:uFillTx/>
                <a:latin typeface="Whitney-Book"/>
                <a:ea typeface="+mn-ea"/>
                <a:cs typeface="+mn-cs"/>
              </a:rPr>
              <a:t>worth</a:t>
            </a:r>
            <a:r>
              <a:rPr kumimoji="0" lang="fr-FR" sz="2200" b="0" i="0" u="none" strike="noStrike" kern="1100" cap="none" spc="50" normalizeH="0" baseline="0" noProof="0" dirty="0">
                <a:ln>
                  <a:noFill/>
                </a:ln>
                <a:solidFill>
                  <a:srgbClr val="1F497D">
                    <a:lumMod val="75000"/>
                  </a:srgbClr>
                </a:solidFill>
                <a:effectLst/>
                <a:uLnTx/>
                <a:uFillTx/>
                <a:latin typeface="Whitney-Book"/>
                <a:ea typeface="+mn-ea"/>
                <a:cs typeface="+mn-cs"/>
              </a:rPr>
              <a:t> </a:t>
            </a:r>
            <a:r>
              <a:rPr kumimoji="0" lang="fr-FR" sz="2200" b="0" i="0" u="none" strike="noStrike" kern="1100" cap="none" spc="50" normalizeH="0" baseline="0" noProof="0" dirty="0" err="1">
                <a:ln>
                  <a:noFill/>
                </a:ln>
                <a:solidFill>
                  <a:srgbClr val="1F497D">
                    <a:lumMod val="75000"/>
                  </a:srgbClr>
                </a:solidFill>
                <a:effectLst/>
                <a:uLnTx/>
                <a:uFillTx/>
                <a:latin typeface="Whitney-Book"/>
                <a:ea typeface="+mn-ea"/>
                <a:cs typeface="+mn-cs"/>
              </a:rPr>
              <a:t>what</a:t>
            </a:r>
            <a:r>
              <a:rPr kumimoji="0" lang="fr-FR" sz="2200" b="0" i="0" u="none" strike="noStrike" kern="1100" cap="none" spc="50" normalizeH="0" baseline="0" noProof="0" dirty="0">
                <a:ln>
                  <a:noFill/>
                </a:ln>
                <a:solidFill>
                  <a:srgbClr val="1F497D">
                    <a:lumMod val="75000"/>
                  </a:srgbClr>
                </a:solidFill>
                <a:effectLst/>
                <a:uLnTx/>
                <a:uFillTx/>
                <a:latin typeface="Whitney-Book"/>
                <a:ea typeface="+mn-ea"/>
                <a:cs typeface="+mn-cs"/>
              </a:rPr>
              <a:t> people are </a:t>
            </a:r>
            <a:r>
              <a:rPr kumimoji="0" lang="fr-FR" sz="2200" b="0" i="0" u="none" strike="noStrike" kern="1100" cap="none" spc="50" normalizeH="0" baseline="0" noProof="0" dirty="0" err="1">
                <a:ln>
                  <a:noFill/>
                </a:ln>
                <a:solidFill>
                  <a:srgbClr val="1F497D">
                    <a:lumMod val="75000"/>
                  </a:srgbClr>
                </a:solidFill>
                <a:effectLst/>
                <a:uLnTx/>
                <a:uFillTx/>
                <a:latin typeface="Whitney-Book"/>
                <a:ea typeface="+mn-ea"/>
                <a:cs typeface="+mn-cs"/>
              </a:rPr>
              <a:t>ready</a:t>
            </a:r>
            <a:r>
              <a:rPr kumimoji="0" lang="fr-FR" sz="2200" b="0" i="0" u="none" strike="noStrike" kern="1100" cap="none" spc="50" normalizeH="0" baseline="0" noProof="0" dirty="0">
                <a:ln>
                  <a:noFill/>
                </a:ln>
                <a:solidFill>
                  <a:srgbClr val="1F497D">
                    <a:lumMod val="75000"/>
                  </a:srgbClr>
                </a:solidFill>
                <a:effectLst/>
                <a:uLnTx/>
                <a:uFillTx/>
                <a:latin typeface="Whitney-Book"/>
                <a:ea typeface="+mn-ea"/>
                <a:cs typeface="+mn-cs"/>
              </a:rPr>
              <a:t> to </a:t>
            </a:r>
            <a:r>
              <a:rPr kumimoji="0" lang="fr-FR" sz="2200" b="0" i="0" u="none" strike="noStrike" kern="1100" cap="none" spc="50" normalizeH="0" baseline="0" noProof="0" dirty="0" err="1">
                <a:ln>
                  <a:noFill/>
                </a:ln>
                <a:solidFill>
                  <a:srgbClr val="1F497D">
                    <a:lumMod val="75000"/>
                  </a:srgbClr>
                </a:solidFill>
                <a:effectLst/>
                <a:uLnTx/>
                <a:uFillTx/>
                <a:latin typeface="Whitney-Book"/>
                <a:ea typeface="+mn-ea"/>
                <a:cs typeface="+mn-cs"/>
              </a:rPr>
              <a:t>pay</a:t>
            </a:r>
            <a:r>
              <a:rPr kumimoji="0" lang="fr-FR" sz="2200" b="0" i="0" u="none" strike="noStrike" kern="1100" cap="none" spc="50" normalizeH="0" baseline="0" noProof="0" dirty="0">
                <a:ln>
                  <a:noFill/>
                </a:ln>
                <a:solidFill>
                  <a:srgbClr val="1F497D">
                    <a:lumMod val="75000"/>
                  </a:srgbClr>
                </a:solidFill>
                <a:effectLst/>
                <a:uLnTx/>
                <a:uFillTx/>
                <a:latin typeface="Whitney-Book"/>
                <a:ea typeface="+mn-ea"/>
                <a:cs typeface="+mn-cs"/>
              </a:rPr>
              <a:t> »</a:t>
            </a:r>
          </a:p>
          <a:p>
            <a:pPr marL="0" marR="0" lvl="0" indent="0" algn="l" defTabSz="457200" rtl="0" eaLnBrk="1" fontAlgn="auto" latinLnBrk="0" hangingPunct="1">
              <a:lnSpc>
                <a:spcPct val="100000"/>
              </a:lnSpc>
              <a:spcBef>
                <a:spcPct val="20000"/>
              </a:spcBef>
              <a:spcAft>
                <a:spcPts val="0"/>
              </a:spcAft>
              <a:buClr>
                <a:srgbClr val="1B8BD5"/>
              </a:buClr>
              <a:buSzTx/>
              <a:buFont typeface="Lucida Grande"/>
              <a:buNone/>
              <a:tabLst/>
              <a:defRPr/>
            </a:pPr>
            <a:endParaRPr kumimoji="0" lang="en-US" sz="2800" b="0" i="0" u="none" strike="noStrike" kern="1100" cap="none" spc="50" normalizeH="0" baseline="0" noProof="0" dirty="0">
              <a:ln>
                <a:noFill/>
              </a:ln>
              <a:solidFill>
                <a:srgbClr val="1F497D">
                  <a:lumMod val="75000"/>
                </a:srgbClr>
              </a:solidFill>
              <a:effectLst/>
              <a:uLnTx/>
              <a:uFillTx/>
              <a:latin typeface="Whitney-Book"/>
              <a:ea typeface="+mn-ea"/>
              <a:cs typeface="+mn-cs"/>
            </a:endParaRPr>
          </a:p>
        </p:txBody>
      </p:sp>
      <p:pic>
        <p:nvPicPr>
          <p:cNvPr id="1026" name="Picture 2" descr="Luxottica">
            <a:extLst>
              <a:ext uri="{FF2B5EF4-FFF2-40B4-BE49-F238E27FC236}">
                <a16:creationId xmlns:a16="http://schemas.microsoft.com/office/drawing/2014/main" id="{14BE7B7D-1F03-4578-BF0C-7FDBDAD2DD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7513" y="5244009"/>
            <a:ext cx="2613764" cy="14038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2385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BCA39-E8D5-4C21-ADB8-1A7BC6ECD138}"/>
              </a:ext>
            </a:extLst>
          </p:cNvPr>
          <p:cNvSpPr>
            <a:spLocks noGrp="1"/>
          </p:cNvSpPr>
          <p:nvPr>
            <p:ph type="title"/>
          </p:nvPr>
        </p:nvSpPr>
        <p:spPr/>
        <p:txBody>
          <a:bodyPr/>
          <a:lstStyle/>
          <a:p>
            <a:r>
              <a:rPr lang="fr-FR" dirty="0"/>
              <a:t>Monopoly </a:t>
            </a:r>
            <a:r>
              <a:rPr lang="fr-FR" dirty="0" err="1"/>
              <a:t>Take-aways</a:t>
            </a:r>
            <a:endParaRPr lang="en-US" dirty="0"/>
          </a:p>
        </p:txBody>
      </p:sp>
      <p:sp>
        <p:nvSpPr>
          <p:cNvPr id="3" name="Content Placeholder 2">
            <a:extLst>
              <a:ext uri="{FF2B5EF4-FFF2-40B4-BE49-F238E27FC236}">
                <a16:creationId xmlns:a16="http://schemas.microsoft.com/office/drawing/2014/main" id="{FCE3664D-83C9-4D47-9E46-959FE30299D2}"/>
              </a:ext>
            </a:extLst>
          </p:cNvPr>
          <p:cNvSpPr>
            <a:spLocks noGrp="1"/>
          </p:cNvSpPr>
          <p:nvPr>
            <p:ph type="body" idx="1"/>
          </p:nvPr>
        </p:nvSpPr>
        <p:spPr/>
        <p:txBody>
          <a:bodyPr>
            <a:normAutofit/>
          </a:bodyPr>
          <a:lstStyle/>
          <a:p>
            <a:r>
              <a:rPr lang="fr-FR" dirty="0"/>
              <a:t>M</a:t>
            </a:r>
            <a:r>
              <a:rPr lang="en-US" dirty="0" err="1"/>
              <a:t>onopolist</a:t>
            </a:r>
            <a:r>
              <a:rPr lang="en-US" dirty="0"/>
              <a:t>: Large degree of market power</a:t>
            </a:r>
          </a:p>
          <a:p>
            <a:pPr lvl="1"/>
            <a:r>
              <a:rPr lang="fr-FR" dirty="0"/>
              <a:t>Enables high profits</a:t>
            </a:r>
          </a:p>
          <a:p>
            <a:pPr lvl="1"/>
            <a:r>
              <a:rPr lang="fr-FR" dirty="0"/>
              <a:t>R</a:t>
            </a:r>
            <a:r>
              <a:rPr lang="en-US" dirty="0"/>
              <a:t>educes consumer surplus</a:t>
            </a:r>
          </a:p>
          <a:p>
            <a:pPr lvl="1"/>
            <a:r>
              <a:rPr lang="fr-FR" dirty="0"/>
              <a:t>R</a:t>
            </a:r>
            <a:r>
              <a:rPr lang="en-US" dirty="0"/>
              <a:t>educes overall (society) welfare</a:t>
            </a:r>
          </a:p>
          <a:p>
            <a:pPr marL="596900" lvl="1" indent="0">
              <a:buNone/>
            </a:pPr>
            <a:endParaRPr lang="en-US" dirty="0"/>
          </a:p>
          <a:p>
            <a:pPr lvl="0">
              <a:defRPr/>
            </a:pPr>
            <a:r>
              <a:rPr lang="en-US" dirty="0"/>
              <a:t>Silver lining: Patents, licenses and copyrights</a:t>
            </a:r>
          </a:p>
          <a:p>
            <a:pPr lvl="1">
              <a:defRPr/>
            </a:pPr>
            <a:r>
              <a:rPr lang="en-US" dirty="0"/>
              <a:t>The prospect of monopoly power provides incentives for innovation (e.g., new drugs)</a:t>
            </a:r>
          </a:p>
          <a:p>
            <a:pPr lvl="1">
              <a:defRPr/>
            </a:pPr>
            <a:r>
              <a:rPr lang="en-US" dirty="0"/>
              <a:t>Consumer surplus from new product creation can outweigh deadweight loss due to high prices</a:t>
            </a:r>
          </a:p>
        </p:txBody>
      </p:sp>
    </p:spTree>
    <p:extLst>
      <p:ext uri="{BB962C8B-B14F-4D97-AF65-F5344CB8AC3E}">
        <p14:creationId xmlns:p14="http://schemas.microsoft.com/office/powerpoint/2010/main" val="3271295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OUTLINE of module 5</a:t>
            </a:r>
          </a:p>
        </p:txBody>
      </p:sp>
      <p:sp>
        <p:nvSpPr>
          <p:cNvPr id="3" name="Content Placeholder 2"/>
          <p:cNvSpPr>
            <a:spLocks noGrp="1"/>
          </p:cNvSpPr>
          <p:nvPr>
            <p:ph type="body" idx="1"/>
          </p:nvPr>
        </p:nvSpPr>
        <p:spPr/>
        <p:txBody>
          <a:bodyPr>
            <a:normAutofit/>
          </a:bodyPr>
          <a:lstStyle/>
          <a:p>
            <a:pPr>
              <a:spcBef>
                <a:spcPts val="1800"/>
              </a:spcBef>
            </a:pPr>
            <a:r>
              <a:rPr lang="en-US" sz="2810" dirty="0">
                <a:solidFill>
                  <a:schemeClr val="bg1">
                    <a:lumMod val="65000"/>
                  </a:schemeClr>
                </a:solidFill>
              </a:rPr>
              <a:t>Profit maximization for price searchers</a:t>
            </a:r>
          </a:p>
          <a:p>
            <a:pPr lvl="1">
              <a:spcBef>
                <a:spcPts val="600"/>
              </a:spcBef>
            </a:pPr>
            <a:r>
              <a:rPr lang="en-US" sz="2610" dirty="0">
                <a:solidFill>
                  <a:schemeClr val="bg1">
                    <a:lumMod val="65000"/>
                  </a:schemeClr>
                </a:solidFill>
              </a:rPr>
              <a:t>Markup and Lerner index</a:t>
            </a:r>
            <a:endParaRPr lang="en-US" sz="2810" dirty="0">
              <a:solidFill>
                <a:schemeClr val="bg1">
                  <a:lumMod val="65000"/>
                </a:schemeClr>
              </a:solidFill>
            </a:endParaRPr>
          </a:p>
          <a:p>
            <a:pPr>
              <a:lnSpc>
                <a:spcPct val="120000"/>
              </a:lnSpc>
              <a:spcBef>
                <a:spcPts val="1800"/>
              </a:spcBef>
            </a:pPr>
            <a:r>
              <a:rPr lang="en-US" sz="2810" dirty="0">
                <a:solidFill>
                  <a:schemeClr val="bg1">
                    <a:lumMod val="65000"/>
                  </a:schemeClr>
                </a:solidFill>
              </a:rPr>
              <a:t>Monopoly and welfare impact</a:t>
            </a:r>
          </a:p>
          <a:p>
            <a:pPr>
              <a:lnSpc>
                <a:spcPct val="120000"/>
              </a:lnSpc>
              <a:spcBef>
                <a:spcPts val="1800"/>
              </a:spcBef>
            </a:pPr>
            <a:r>
              <a:rPr lang="en-US" sz="2810" dirty="0"/>
              <a:t>Rising market power and regulations</a:t>
            </a:r>
          </a:p>
          <a:p>
            <a:pPr>
              <a:lnSpc>
                <a:spcPct val="120000"/>
              </a:lnSpc>
              <a:spcBef>
                <a:spcPts val="1800"/>
              </a:spcBef>
            </a:pPr>
            <a:r>
              <a:rPr lang="en-US" sz="2810" dirty="0">
                <a:solidFill>
                  <a:schemeClr val="bg1">
                    <a:lumMod val="65000"/>
                  </a:schemeClr>
                </a:solidFill>
              </a:rPr>
              <a:t>Monopolistic competition</a:t>
            </a:r>
          </a:p>
          <a:p>
            <a:pPr marL="514350" indent="-514350">
              <a:lnSpc>
                <a:spcPct val="120000"/>
              </a:lnSpc>
              <a:buFont typeface="+mj-lt"/>
              <a:buAutoNum type="arabicPeriod"/>
            </a:pPr>
            <a:endParaRPr lang="en-US" sz="2813" dirty="0">
              <a:latin typeface="Whitney-Book" pitchFamily="50" charset="0"/>
              <a:cs typeface="Whitney-Book" pitchFamily="50" charset="0"/>
            </a:endParaRPr>
          </a:p>
          <a:p>
            <a:pPr marL="514350" indent="-514350">
              <a:lnSpc>
                <a:spcPct val="120000"/>
              </a:lnSpc>
              <a:buFont typeface="+mj-lt"/>
              <a:buAutoNum type="arabicPeriod"/>
            </a:pPr>
            <a:endParaRPr lang="en-US" sz="2813" dirty="0">
              <a:latin typeface="Whitney-Book" pitchFamily="50" charset="0"/>
              <a:cs typeface="Whitney-Book" pitchFamily="50" charset="0"/>
            </a:endParaRPr>
          </a:p>
          <a:p>
            <a:pPr marL="914400" lvl="1" indent="-514350">
              <a:lnSpc>
                <a:spcPct val="120000"/>
              </a:lnSpc>
            </a:pPr>
            <a:endParaRPr lang="en-US" sz="2613" noProof="0" dirty="0">
              <a:latin typeface="Whitney-Book" pitchFamily="50" charset="0"/>
              <a:cs typeface="Whitney-Book" pitchFamily="50" charset="0"/>
            </a:endParaRPr>
          </a:p>
          <a:p>
            <a:pPr marL="914400" lvl="1" indent="-514350">
              <a:lnSpc>
                <a:spcPct val="120000"/>
              </a:lnSpc>
            </a:pPr>
            <a:endParaRPr lang="en-US" sz="2613" noProof="0" dirty="0">
              <a:latin typeface="Whitney-Book" pitchFamily="50" charset="0"/>
              <a:cs typeface="Whitney-Book" pitchFamily="50" charset="0"/>
            </a:endParaRPr>
          </a:p>
          <a:p>
            <a:pPr marL="457200" lvl="1" indent="0">
              <a:buNone/>
            </a:pPr>
            <a:endParaRPr lang="en-US" noProof="0" dirty="0"/>
          </a:p>
          <a:p>
            <a:pPr lvl="1"/>
            <a:endParaRPr lang="en-US" noProof="0" dirty="0"/>
          </a:p>
          <a:p>
            <a:endParaRPr lang="en-US" noProof="0" dirty="0"/>
          </a:p>
        </p:txBody>
      </p:sp>
    </p:spTree>
    <p:extLst>
      <p:ext uri="{BB962C8B-B14F-4D97-AF65-F5344CB8AC3E}">
        <p14:creationId xmlns:p14="http://schemas.microsoft.com/office/powerpoint/2010/main" val="4108197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Governments Regulations to control Market Power</a:t>
            </a:r>
          </a:p>
        </p:txBody>
      </p:sp>
      <p:sp>
        <p:nvSpPr>
          <p:cNvPr id="4" name="Text Placeholder 3">
            <a:extLst>
              <a:ext uri="{FF2B5EF4-FFF2-40B4-BE49-F238E27FC236}">
                <a16:creationId xmlns:a16="http://schemas.microsoft.com/office/drawing/2014/main" id="{EB72786D-40A6-46A9-86D4-D0084D3F8E18}"/>
              </a:ext>
            </a:extLst>
          </p:cNvPr>
          <p:cNvSpPr>
            <a:spLocks noGrp="1"/>
          </p:cNvSpPr>
          <p:nvPr>
            <p:ph type="body" idx="1"/>
          </p:nvPr>
        </p:nvSpPr>
        <p:spPr/>
        <p:txBody>
          <a:bodyPr/>
          <a:lstStyle/>
          <a:p>
            <a:r>
              <a:rPr lang="en-US" dirty="0"/>
              <a:t>Price regulations</a:t>
            </a:r>
          </a:p>
          <a:p>
            <a:pPr lvl="1"/>
            <a:r>
              <a:rPr lang="en-US" dirty="0"/>
              <a:t>Happens frequently with natural monopolies: electricity, natural gas, (historically: local telephone service)</a:t>
            </a:r>
          </a:p>
          <a:p>
            <a:r>
              <a:rPr lang="en-US" dirty="0"/>
              <a:t>Antitrust laws</a:t>
            </a:r>
          </a:p>
          <a:p>
            <a:pPr lvl="1"/>
            <a:r>
              <a:rPr lang="en-US" dirty="0"/>
              <a:t>Scrutiny on mergers/acquisitions that would limit competition</a:t>
            </a:r>
          </a:p>
          <a:p>
            <a:pPr lvl="1"/>
            <a:r>
              <a:rPr lang="en-US" dirty="0"/>
              <a:t>FTC successfully blocked Kroger’s acquisition of Albertsons in 2024 (~ $24.6 billion)</a:t>
            </a:r>
          </a:p>
          <a:p>
            <a:pPr lvl="1"/>
            <a:r>
              <a:rPr lang="en-US" dirty="0"/>
              <a:t>Ban collusion on prices </a:t>
            </a:r>
          </a:p>
          <a:p>
            <a:pPr>
              <a:spcBef>
                <a:spcPts val="600"/>
              </a:spcBef>
            </a:pPr>
            <a:r>
              <a:rPr lang="en-US" dirty="0"/>
              <a:t>Nevertheless: Very high and rising market concentration in the US</a:t>
            </a:r>
          </a:p>
          <a:p>
            <a:endParaRPr lang="en-US" dirty="0"/>
          </a:p>
        </p:txBody>
      </p:sp>
      <p:sp>
        <p:nvSpPr>
          <p:cNvPr id="3" name="Slide Number Placeholder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39</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spTree>
    <p:extLst>
      <p:ext uri="{BB962C8B-B14F-4D97-AF65-F5344CB8AC3E}">
        <p14:creationId xmlns:p14="http://schemas.microsoft.com/office/powerpoint/2010/main" val="566799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53">
            <a:extLst>
              <a:ext uri="{FF2B5EF4-FFF2-40B4-BE49-F238E27FC236}">
                <a16:creationId xmlns:a16="http://schemas.microsoft.com/office/drawing/2014/main" id="{A546AD3E-0DD4-4390-9DFE-E26D0C6D5523}"/>
              </a:ext>
            </a:extLst>
          </p:cNvPr>
          <p:cNvSpPr>
            <a:spLocks noGrp="1"/>
          </p:cNvSpPr>
          <p:nvPr>
            <p:ph type="title"/>
          </p:nvPr>
        </p:nvSpPr>
        <p:spPr/>
        <p:txBody>
          <a:bodyPr/>
          <a:lstStyle/>
          <a:p>
            <a:r>
              <a:rPr lang="en-US" dirty="0"/>
              <a:t>Concentration in health care</a:t>
            </a:r>
          </a:p>
        </p:txBody>
      </p:sp>
      <p:sp>
        <p:nvSpPr>
          <p:cNvPr id="2" name="Text Placeholder 1">
            <a:extLst>
              <a:ext uri="{FF2B5EF4-FFF2-40B4-BE49-F238E27FC236}">
                <a16:creationId xmlns:a16="http://schemas.microsoft.com/office/drawing/2014/main" id="{D6F50B1A-CC1B-4A27-A77A-2023B5E83ED8}"/>
              </a:ext>
            </a:extLst>
          </p:cNvPr>
          <p:cNvSpPr>
            <a:spLocks noGrp="1"/>
          </p:cNvSpPr>
          <p:nvPr>
            <p:ph type="body" idx="1"/>
          </p:nvPr>
        </p:nvSpPr>
        <p:spPr/>
        <p:txBody>
          <a:bodyPr/>
          <a:lstStyle/>
          <a:p>
            <a:endParaRPr lang="en-US"/>
          </a:p>
        </p:txBody>
      </p:sp>
      <p:pic>
        <p:nvPicPr>
          <p:cNvPr id="8" name="Picture 7" descr="A picture containing graphical user interface&#10;&#10;Description automatically generated">
            <a:extLst>
              <a:ext uri="{FF2B5EF4-FFF2-40B4-BE49-F238E27FC236}">
                <a16:creationId xmlns:a16="http://schemas.microsoft.com/office/drawing/2014/main" id="{07ED810A-100D-40E3-A5B3-0B8E314194FE}"/>
              </a:ext>
            </a:extLst>
          </p:cNvPr>
          <p:cNvPicPr>
            <a:picLocks noChangeAspect="1"/>
          </p:cNvPicPr>
          <p:nvPr/>
        </p:nvPicPr>
        <p:blipFill>
          <a:blip r:embed="rId3"/>
          <a:stretch>
            <a:fillRect/>
          </a:stretch>
        </p:blipFill>
        <p:spPr>
          <a:xfrm>
            <a:off x="406543" y="1270215"/>
            <a:ext cx="8280257" cy="4512739"/>
          </a:xfrm>
          <a:prstGeom prst="rect">
            <a:avLst/>
          </a:prstGeom>
          <a:noFill/>
        </p:spPr>
      </p:pic>
    </p:spTree>
    <p:extLst>
      <p:ext uri="{BB962C8B-B14F-4D97-AF65-F5344CB8AC3E}">
        <p14:creationId xmlns:p14="http://schemas.microsoft.com/office/powerpoint/2010/main" val="1573393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53">
            <a:extLst>
              <a:ext uri="{FF2B5EF4-FFF2-40B4-BE49-F238E27FC236}">
                <a16:creationId xmlns:a16="http://schemas.microsoft.com/office/drawing/2014/main" id="{A546AD3E-0DD4-4390-9DFE-E26D0C6D5523}"/>
              </a:ext>
            </a:extLst>
          </p:cNvPr>
          <p:cNvSpPr>
            <a:spLocks noGrp="1"/>
          </p:cNvSpPr>
          <p:nvPr>
            <p:ph type="title"/>
          </p:nvPr>
        </p:nvSpPr>
        <p:spPr/>
        <p:txBody>
          <a:bodyPr>
            <a:normAutofit fontScale="90000"/>
          </a:bodyPr>
          <a:lstStyle/>
          <a:p>
            <a:r>
              <a:rPr lang="en-US" dirty="0"/>
              <a:t>health care Cost comparison</a:t>
            </a:r>
            <a:br>
              <a:rPr lang="en-US" dirty="0"/>
            </a:br>
            <a:r>
              <a:rPr lang="en-US" dirty="0"/>
              <a:t>Heart-related Treatments</a:t>
            </a:r>
          </a:p>
        </p:txBody>
      </p:sp>
      <p:sp>
        <p:nvSpPr>
          <p:cNvPr id="2" name="Text Placeholder 1">
            <a:extLst>
              <a:ext uri="{FF2B5EF4-FFF2-40B4-BE49-F238E27FC236}">
                <a16:creationId xmlns:a16="http://schemas.microsoft.com/office/drawing/2014/main" id="{880DDAB2-6142-4EDA-95B3-46738AC9F7E7}"/>
              </a:ext>
            </a:extLst>
          </p:cNvPr>
          <p:cNvSpPr>
            <a:spLocks noGrp="1"/>
          </p:cNvSpPr>
          <p:nvPr>
            <p:ph type="body" idx="1"/>
          </p:nvPr>
        </p:nvSpPr>
        <p:spPr/>
        <p:txBody>
          <a:bodyPr/>
          <a:lstStyle/>
          <a:p>
            <a:endParaRPr lang="en-US"/>
          </a:p>
        </p:txBody>
      </p:sp>
      <p:pic>
        <p:nvPicPr>
          <p:cNvPr id="9" name="Picture 8" descr="Chart, bar chart&#10;&#10;Description automatically generated">
            <a:extLst>
              <a:ext uri="{FF2B5EF4-FFF2-40B4-BE49-F238E27FC236}">
                <a16:creationId xmlns:a16="http://schemas.microsoft.com/office/drawing/2014/main" id="{C98FF00D-8D3C-49A0-BF1C-5F8ADDB0684D}"/>
              </a:ext>
            </a:extLst>
          </p:cNvPr>
          <p:cNvPicPr>
            <a:picLocks noChangeAspect="1"/>
          </p:cNvPicPr>
          <p:nvPr/>
        </p:nvPicPr>
        <p:blipFill>
          <a:blip r:embed="rId3"/>
          <a:stretch>
            <a:fillRect/>
          </a:stretch>
        </p:blipFill>
        <p:spPr>
          <a:xfrm>
            <a:off x="1296307" y="2975976"/>
            <a:ext cx="6660290" cy="3615053"/>
          </a:xfrm>
          <a:prstGeom prst="rect">
            <a:avLst/>
          </a:prstGeom>
        </p:spPr>
      </p:pic>
      <p:sp>
        <p:nvSpPr>
          <p:cNvPr id="5" name="Content Placeholder 2">
            <a:extLst>
              <a:ext uri="{FF2B5EF4-FFF2-40B4-BE49-F238E27FC236}">
                <a16:creationId xmlns:a16="http://schemas.microsoft.com/office/drawing/2014/main" id="{E0B3298D-DCCD-4E7C-90D3-B40AEA87DB5A}"/>
              </a:ext>
            </a:extLst>
          </p:cNvPr>
          <p:cNvSpPr txBox="1">
            <a:spLocks/>
          </p:cNvSpPr>
          <p:nvPr/>
        </p:nvSpPr>
        <p:spPr>
          <a:xfrm>
            <a:off x="580852" y="1499190"/>
            <a:ext cx="8091201" cy="1288173"/>
          </a:xfrm>
          <a:prstGeom prst="rect">
            <a:avLst/>
          </a:prstGeom>
        </p:spPr>
        <p:txBody>
          <a:bodyPr>
            <a:normAutofit fontScale="92500" lnSpcReduction="20000"/>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r>
              <a:rPr lang="en-US" sz="2400" dirty="0"/>
              <a:t>Angioplasty: a procedure used to open blocked coronary arteries</a:t>
            </a:r>
          </a:p>
          <a:p>
            <a:pPr>
              <a:defRPr/>
            </a:pPr>
            <a:r>
              <a:rPr lang="en-US" sz="2400" dirty="0"/>
              <a:t>Bypass surgery: redirect blood around blocked section of an artery in the heart</a:t>
            </a:r>
          </a:p>
          <a:p>
            <a:pPr>
              <a:defRPr/>
            </a:pPr>
            <a:endParaRPr lang="en-US" sz="2400" dirty="0"/>
          </a:p>
          <a:p>
            <a:pPr>
              <a:defRPr/>
            </a:pPr>
            <a:endParaRPr lang="en-US" sz="2400" dirty="0"/>
          </a:p>
        </p:txBody>
      </p:sp>
    </p:spTree>
    <p:extLst>
      <p:ext uri="{BB962C8B-B14F-4D97-AF65-F5344CB8AC3E}">
        <p14:creationId xmlns:p14="http://schemas.microsoft.com/office/powerpoint/2010/main" val="3936403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8E286BDD-EDAF-41BF-9A23-587C32857637}"/>
              </a:ext>
            </a:extLst>
          </p:cNvPr>
          <p:cNvSpPr txBox="1"/>
          <p:nvPr/>
        </p:nvSpPr>
        <p:spPr>
          <a:xfrm>
            <a:off x="1293607" y="6284273"/>
            <a:ext cx="6556786" cy="369332"/>
          </a:xfrm>
          <a:prstGeom prst="rect">
            <a:avLst/>
          </a:prstGeom>
          <a:noFill/>
        </p:spPr>
        <p:txBody>
          <a:bodyPr wrap="square">
            <a:spAutoFit/>
          </a:bodyPr>
          <a:lstStyle/>
          <a:p>
            <a:r>
              <a:rPr lang="en-US" dirty="0">
                <a:hlinkClick r:id="rId3"/>
              </a:rPr>
              <a:t>https://concentrationcrisis.openmarketsinstitute.org/</a:t>
            </a:r>
            <a:endParaRPr lang="en-US" dirty="0"/>
          </a:p>
        </p:txBody>
      </p:sp>
      <p:sp>
        <p:nvSpPr>
          <p:cNvPr id="12" name="Title 53">
            <a:extLst>
              <a:ext uri="{FF2B5EF4-FFF2-40B4-BE49-F238E27FC236}">
                <a16:creationId xmlns:a16="http://schemas.microsoft.com/office/drawing/2014/main" id="{A546AD3E-0DD4-4390-9DFE-E26D0C6D5523}"/>
              </a:ext>
            </a:extLst>
          </p:cNvPr>
          <p:cNvSpPr>
            <a:spLocks noGrp="1"/>
          </p:cNvSpPr>
          <p:nvPr>
            <p:ph type="title"/>
          </p:nvPr>
        </p:nvSpPr>
        <p:spPr/>
        <p:txBody>
          <a:bodyPr/>
          <a:lstStyle/>
          <a:p>
            <a:r>
              <a:rPr lang="en-US" dirty="0"/>
              <a:t>Concentration in US Industries</a:t>
            </a:r>
          </a:p>
        </p:txBody>
      </p:sp>
      <p:sp>
        <p:nvSpPr>
          <p:cNvPr id="2" name="Text Placeholder 1">
            <a:extLst>
              <a:ext uri="{FF2B5EF4-FFF2-40B4-BE49-F238E27FC236}">
                <a16:creationId xmlns:a16="http://schemas.microsoft.com/office/drawing/2014/main" id="{2373CD71-7CAF-44B3-9233-42F801D0D662}"/>
              </a:ext>
            </a:extLst>
          </p:cNvPr>
          <p:cNvSpPr>
            <a:spLocks noGrp="1"/>
          </p:cNvSpPr>
          <p:nvPr>
            <p:ph type="body" idx="1"/>
          </p:nvPr>
        </p:nvSpPr>
        <p:spPr/>
        <p:txBody>
          <a:bodyPr/>
          <a:lstStyle/>
          <a:p>
            <a:endParaRPr lang="en-US"/>
          </a:p>
        </p:txBody>
      </p:sp>
      <p:pic>
        <p:nvPicPr>
          <p:cNvPr id="13" name="Picture 12" descr="A picture containing text, calculator&#10;&#10;Description automatically generated">
            <a:extLst>
              <a:ext uri="{FF2B5EF4-FFF2-40B4-BE49-F238E27FC236}">
                <a16:creationId xmlns:a16="http://schemas.microsoft.com/office/drawing/2014/main" id="{FF2883FA-D8D3-45F1-B4EB-C20D2B078C3C}"/>
              </a:ext>
            </a:extLst>
          </p:cNvPr>
          <p:cNvPicPr>
            <a:picLocks noChangeAspect="1"/>
          </p:cNvPicPr>
          <p:nvPr/>
        </p:nvPicPr>
        <p:blipFill>
          <a:blip r:embed="rId4"/>
          <a:stretch>
            <a:fillRect/>
          </a:stretch>
        </p:blipFill>
        <p:spPr>
          <a:xfrm>
            <a:off x="535645" y="1075046"/>
            <a:ext cx="5383054" cy="5181190"/>
          </a:xfrm>
          <a:prstGeom prst="rect">
            <a:avLst/>
          </a:prstGeom>
          <a:noFill/>
        </p:spPr>
      </p:pic>
      <p:sp>
        <p:nvSpPr>
          <p:cNvPr id="4" name="TextBox 3">
            <a:extLst>
              <a:ext uri="{FF2B5EF4-FFF2-40B4-BE49-F238E27FC236}">
                <a16:creationId xmlns:a16="http://schemas.microsoft.com/office/drawing/2014/main" id="{81DFF19A-79CB-48DA-B9FD-F7AD4013BEC1}"/>
              </a:ext>
            </a:extLst>
          </p:cNvPr>
          <p:cNvSpPr txBox="1"/>
          <p:nvPr/>
        </p:nvSpPr>
        <p:spPr>
          <a:xfrm>
            <a:off x="6581553" y="2349795"/>
            <a:ext cx="2286000" cy="2308324"/>
          </a:xfrm>
          <a:prstGeom prst="rect">
            <a:avLst/>
          </a:prstGeom>
          <a:noFill/>
        </p:spPr>
        <p:txBody>
          <a:bodyPr wrap="square" rtlCol="0">
            <a:spAutoFit/>
          </a:bodyPr>
          <a:lstStyle/>
          <a:p>
            <a:r>
              <a:rPr lang="en-US" sz="2400" b="1" dirty="0"/>
              <a:t>A market is “concentrated” if CR4 (the share of sales of top-4 companies) is above 50%</a:t>
            </a:r>
            <a:endParaRPr lang="en-US" sz="2400" dirty="0"/>
          </a:p>
        </p:txBody>
      </p:sp>
    </p:spTree>
    <p:extLst>
      <p:ext uri="{BB962C8B-B14F-4D97-AF65-F5344CB8AC3E}">
        <p14:creationId xmlns:p14="http://schemas.microsoft.com/office/powerpoint/2010/main" val="28680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bwMode="auto">
          <a:xfrm>
            <a:off x="0" y="0"/>
            <a:ext cx="85725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2" name="Title 1"/>
          <p:cNvSpPr>
            <a:spLocks noGrp="1"/>
          </p:cNvSpPr>
          <p:nvPr>
            <p:ph type="title"/>
          </p:nvPr>
        </p:nvSpPr>
        <p:spPr/>
        <p:txBody>
          <a:bodyPr>
            <a:normAutofit/>
          </a:bodyPr>
          <a:lstStyle/>
          <a:p>
            <a:r>
              <a:rPr lang="en-US" dirty="0"/>
              <a:t>Rising Markups in the US</a:t>
            </a:r>
          </a:p>
        </p:txBody>
      </p:sp>
      <p:sp>
        <p:nvSpPr>
          <p:cNvPr id="3" name="Text Placeholder 2">
            <a:extLst>
              <a:ext uri="{FF2B5EF4-FFF2-40B4-BE49-F238E27FC236}">
                <a16:creationId xmlns:a16="http://schemas.microsoft.com/office/drawing/2014/main" id="{FAB4BC4E-827B-4A14-A64B-B97968FDE9F8}"/>
              </a:ext>
            </a:extLst>
          </p:cNvPr>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DBC38028-5B1C-49D3-BF22-2CE9385E6DA2}" type="slidenum">
              <a:rPr kumimoji="0" lang="en-US" sz="800" b="0" i="0" u="none" strike="noStrike" kern="800" cap="none" spc="400" normalizeH="0" baseline="0" noProof="0" smtClean="0">
                <a:ln>
                  <a:noFill/>
                </a:ln>
                <a:solidFill>
                  <a:prstClr val="black">
                    <a:lumMod val="75000"/>
                    <a:lumOff val="25000"/>
                  </a:prstClr>
                </a:solidFill>
                <a:effectLst/>
                <a:uLnTx/>
                <a:uFillTx/>
                <a:latin typeface=""/>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43</a:t>
            </a:fld>
            <a:endParaRPr kumimoji="0" lang="en-US" sz="800" b="0" i="0" u="none" strike="noStrike" kern="800" cap="none" spc="400" normalizeH="0" baseline="0" noProof="0" dirty="0">
              <a:ln>
                <a:noFill/>
              </a:ln>
              <a:solidFill>
                <a:prstClr val="black">
                  <a:lumMod val="75000"/>
                  <a:lumOff val="25000"/>
                </a:prstClr>
              </a:solidFill>
              <a:effectLst/>
              <a:uLnTx/>
              <a:uFillTx/>
              <a:latin typeface=""/>
              <a:ea typeface="+mn-ea"/>
              <a:cs typeface="+mn-cs"/>
            </a:endParaRPr>
          </a:p>
        </p:txBody>
      </p:sp>
      <p:pic>
        <p:nvPicPr>
          <p:cNvPr id="8" name="Picture 7">
            <a:extLst>
              <a:ext uri="{FF2B5EF4-FFF2-40B4-BE49-F238E27FC236}">
                <a16:creationId xmlns:a16="http://schemas.microsoft.com/office/drawing/2014/main" id="{542CBCBB-8FE0-49FE-A5BD-F37A97BC29FB}"/>
              </a:ext>
            </a:extLst>
          </p:cNvPr>
          <p:cNvPicPr>
            <a:picLocks noChangeAspect="1"/>
          </p:cNvPicPr>
          <p:nvPr/>
        </p:nvPicPr>
        <p:blipFill>
          <a:blip r:embed="rId4"/>
          <a:stretch>
            <a:fillRect/>
          </a:stretch>
        </p:blipFill>
        <p:spPr>
          <a:xfrm>
            <a:off x="2033587" y="1804987"/>
            <a:ext cx="5076825" cy="3248025"/>
          </a:xfrm>
          <a:prstGeom prst="rect">
            <a:avLst/>
          </a:prstGeom>
        </p:spPr>
      </p:pic>
      <p:sp>
        <p:nvSpPr>
          <p:cNvPr id="10" name="Rectangle 9">
            <a:extLst>
              <a:ext uri="{FF2B5EF4-FFF2-40B4-BE49-F238E27FC236}">
                <a16:creationId xmlns:a16="http://schemas.microsoft.com/office/drawing/2014/main" id="{E83C4B21-F1C3-4F5F-A916-420F220996AD}"/>
              </a:ext>
            </a:extLst>
          </p:cNvPr>
          <p:cNvSpPr/>
          <p:nvPr/>
        </p:nvSpPr>
        <p:spPr>
          <a:xfrm>
            <a:off x="2453117" y="1502363"/>
            <a:ext cx="4353179" cy="369332"/>
          </a:xfrm>
          <a:prstGeom prst="rect">
            <a:avLst/>
          </a:prstGeom>
          <a:ln>
            <a:noFill/>
          </a:ln>
        </p:spPr>
        <p:txBody>
          <a:bodyPr wrap="none">
            <a:spAutoFit/>
          </a:bodyPr>
          <a:lstStyle/>
          <a:p>
            <a:r>
              <a:rPr lang="en-US" dirty="0"/>
              <a:t>Average markup (P/MC) in the US economy*</a:t>
            </a:r>
            <a:endParaRPr lang="en-US" b="0" dirty="0"/>
          </a:p>
        </p:txBody>
      </p:sp>
      <p:sp>
        <p:nvSpPr>
          <p:cNvPr id="11" name="Rectangle 10">
            <a:extLst>
              <a:ext uri="{FF2B5EF4-FFF2-40B4-BE49-F238E27FC236}">
                <a16:creationId xmlns:a16="http://schemas.microsoft.com/office/drawing/2014/main" id="{2515B3D3-3F9F-427B-A2C9-83DB707DBD21}"/>
              </a:ext>
            </a:extLst>
          </p:cNvPr>
          <p:cNvSpPr/>
          <p:nvPr/>
        </p:nvSpPr>
        <p:spPr>
          <a:xfrm>
            <a:off x="0" y="6520247"/>
            <a:ext cx="7356245" cy="307777"/>
          </a:xfrm>
          <a:prstGeom prst="rect">
            <a:avLst/>
          </a:prstGeom>
          <a:ln>
            <a:noFill/>
          </a:ln>
        </p:spPr>
        <p:txBody>
          <a:bodyPr wrap="none">
            <a:spAutoFit/>
          </a:bodyPr>
          <a:lstStyle/>
          <a:p>
            <a:r>
              <a:rPr lang="fr-FR" sz="1400" dirty="0"/>
              <a:t>Source: </a:t>
            </a:r>
            <a:r>
              <a:rPr lang="fr-FR" sz="1400" dirty="0" err="1"/>
              <a:t>DeLoecker</a:t>
            </a:r>
            <a:r>
              <a:rPr lang="fr-FR" sz="1400" dirty="0"/>
              <a:t> et al, QJE 2020: </a:t>
            </a:r>
            <a:r>
              <a:rPr lang="en-US" sz="1400" dirty="0"/>
              <a:t>The Rise of Market Power and the Macroeconomic Implications</a:t>
            </a:r>
          </a:p>
        </p:txBody>
      </p:sp>
      <p:sp>
        <p:nvSpPr>
          <p:cNvPr id="9" name="Rectangle 8">
            <a:extLst>
              <a:ext uri="{FF2B5EF4-FFF2-40B4-BE49-F238E27FC236}">
                <a16:creationId xmlns:a16="http://schemas.microsoft.com/office/drawing/2014/main" id="{E9A8DDE5-502A-4B8F-B917-356D839E4533}"/>
              </a:ext>
            </a:extLst>
          </p:cNvPr>
          <p:cNvSpPr/>
          <p:nvPr/>
        </p:nvSpPr>
        <p:spPr>
          <a:xfrm>
            <a:off x="2238703" y="5053012"/>
            <a:ext cx="5289148" cy="984885"/>
          </a:xfrm>
          <a:prstGeom prst="rect">
            <a:avLst/>
          </a:prstGeom>
          <a:ln>
            <a:noFill/>
          </a:ln>
        </p:spPr>
        <p:txBody>
          <a:bodyPr wrap="square">
            <a:spAutoFit/>
          </a:bodyPr>
          <a:lstStyle/>
          <a:p>
            <a:r>
              <a:rPr lang="en-US" sz="1400" dirty="0"/>
              <a:t>* Source uses the markup definition (P/MC) – this is different from the Lerner index (P-MC)/P.</a:t>
            </a:r>
          </a:p>
          <a:p>
            <a:endParaRPr lang="en-US" sz="1400" dirty="0"/>
          </a:p>
          <a:p>
            <a:r>
              <a:rPr lang="en-US" sz="1600" dirty="0"/>
              <a:t>Note: If Markup=1.5 </a:t>
            </a:r>
            <a:r>
              <a:rPr lang="en-US" sz="1600" dirty="0">
                <a:sym typeface="Wingdings" panose="05000000000000000000" pitchFamily="2" charset="2"/>
              </a:rPr>
              <a:t> Learner index = 0.33</a:t>
            </a:r>
          </a:p>
        </p:txBody>
      </p:sp>
    </p:spTree>
    <p:custDataLst>
      <p:tags r:id="rId1"/>
    </p:custDataLst>
    <p:extLst>
      <p:ext uri="{BB962C8B-B14F-4D97-AF65-F5344CB8AC3E}">
        <p14:creationId xmlns:p14="http://schemas.microsoft.com/office/powerpoint/2010/main" val="1413456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hlinkClick r:id="rId3"/>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47521" y="1148080"/>
            <a:ext cx="5865000" cy="5240388"/>
          </a:xfrm>
          <a:prstGeom prst="rect">
            <a:avLst/>
          </a:prstGeom>
        </p:spPr>
      </p:pic>
      <p:sp>
        <p:nvSpPr>
          <p:cNvPr id="2" name="Title 1"/>
          <p:cNvSpPr>
            <a:spLocks noGrp="1"/>
          </p:cNvSpPr>
          <p:nvPr>
            <p:ph type="title"/>
          </p:nvPr>
        </p:nvSpPr>
        <p:spPr/>
        <p:txBody>
          <a:bodyPr>
            <a:normAutofit fontScale="90000"/>
          </a:bodyPr>
          <a:lstStyle/>
          <a:p>
            <a:r>
              <a:rPr lang="en-US" dirty="0"/>
              <a:t>However: all Firms face Potential (future) competitors</a:t>
            </a:r>
          </a:p>
        </p:txBody>
      </p:sp>
      <p:sp>
        <p:nvSpPr>
          <p:cNvPr id="3" name="Content Placeholder 3"/>
          <p:cNvSpPr txBox="1">
            <a:spLocks/>
          </p:cNvSpPr>
          <p:nvPr/>
        </p:nvSpPr>
        <p:spPr>
          <a:xfrm>
            <a:off x="0" y="6328180"/>
            <a:ext cx="8010112" cy="897685"/>
          </a:xfrm>
          <a:prstGeom prst="rect">
            <a:avLst/>
          </a:prstGeom>
        </p:spPr>
        <p:txBody>
          <a:bodyPr>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
                <a:srgbClr val="1B8BD5"/>
              </a:buClr>
              <a:buSzTx/>
              <a:buFont typeface="Lucida Grande"/>
              <a:buNone/>
              <a:tabLst/>
              <a:defRPr/>
            </a:pPr>
            <a:r>
              <a:rPr kumimoji="0" lang="en-US" sz="2400" b="0" i="0" u="none" strike="noStrike" kern="1100" cap="none" spc="50" normalizeH="0" baseline="0" noProof="0" dirty="0">
                <a:ln>
                  <a:noFill/>
                </a:ln>
                <a:solidFill>
                  <a:srgbClr val="1F497D">
                    <a:lumMod val="75000"/>
                  </a:srgbClr>
                </a:solidFill>
                <a:effectLst/>
                <a:uLnTx/>
                <a:uFillTx/>
                <a:latin typeface="Whitney-Book"/>
                <a:ea typeface="+mn-ea"/>
                <a:cs typeface="+mn-cs"/>
              </a:rPr>
              <a:t>Source: http://www.economist.com/techfirms </a:t>
            </a:r>
          </a:p>
        </p:txBody>
      </p:sp>
    </p:spTree>
    <p:extLst>
      <p:ext uri="{BB962C8B-B14F-4D97-AF65-F5344CB8AC3E}">
        <p14:creationId xmlns:p14="http://schemas.microsoft.com/office/powerpoint/2010/main" val="1586040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53">
            <a:extLst>
              <a:ext uri="{FF2B5EF4-FFF2-40B4-BE49-F238E27FC236}">
                <a16:creationId xmlns:a16="http://schemas.microsoft.com/office/drawing/2014/main" id="{A546AD3E-0DD4-4390-9DFE-E26D0C6D5523}"/>
              </a:ext>
            </a:extLst>
          </p:cNvPr>
          <p:cNvSpPr>
            <a:spLocks noGrp="1"/>
          </p:cNvSpPr>
          <p:nvPr>
            <p:ph type="title"/>
          </p:nvPr>
        </p:nvSpPr>
        <p:spPr/>
        <p:txBody>
          <a:bodyPr>
            <a:normAutofit fontScale="90000"/>
          </a:bodyPr>
          <a:lstStyle/>
          <a:p>
            <a:r>
              <a:rPr lang="en-US" dirty="0"/>
              <a:t>Ultra-Low-Cost Carrier Airlines: Entry Drives down prices</a:t>
            </a:r>
          </a:p>
        </p:txBody>
      </p:sp>
      <p:sp>
        <p:nvSpPr>
          <p:cNvPr id="5" name="Content Placeholder 4">
            <a:extLst>
              <a:ext uri="{FF2B5EF4-FFF2-40B4-BE49-F238E27FC236}">
                <a16:creationId xmlns:a16="http://schemas.microsoft.com/office/drawing/2014/main" id="{FBC9DADF-6669-4B7D-8663-390BF23F0CFC}"/>
              </a:ext>
            </a:extLst>
          </p:cNvPr>
          <p:cNvSpPr>
            <a:spLocks noGrp="1"/>
          </p:cNvSpPr>
          <p:nvPr>
            <p:ph type="body" idx="1"/>
          </p:nvPr>
        </p:nvSpPr>
        <p:spPr>
          <a:xfrm>
            <a:off x="387900" y="1536633"/>
            <a:ext cx="4743498" cy="4555200"/>
          </a:xfrm>
        </p:spPr>
        <p:txBody>
          <a:bodyPr>
            <a:normAutofit/>
          </a:bodyPr>
          <a:lstStyle/>
          <a:p>
            <a:r>
              <a:rPr lang="en-US" sz="2400" dirty="0"/>
              <a:t>Ultra-low-cost carriers (ULCC) </a:t>
            </a:r>
          </a:p>
          <a:p>
            <a:r>
              <a:rPr lang="en-US" sz="2400" dirty="0"/>
              <a:t>On routes that ULCC start to fly:</a:t>
            </a:r>
          </a:p>
          <a:p>
            <a:pPr lvl="1"/>
            <a:r>
              <a:rPr lang="en-US" sz="2200" dirty="0"/>
              <a:t>Prices can fall by double-digits (Chicago, 23%, Newark, 22%, Houston, 21%, Dallas, 20% and Las Vegas, 20%)</a:t>
            </a:r>
          </a:p>
          <a:p>
            <a:pPr lvl="1"/>
            <a:r>
              <a:rPr lang="en-US" sz="2200" dirty="0"/>
              <a:t>Number of passengers go up</a:t>
            </a:r>
          </a:p>
        </p:txBody>
      </p:sp>
      <p:pic>
        <p:nvPicPr>
          <p:cNvPr id="2" name="Picture 1">
            <a:extLst>
              <a:ext uri="{FF2B5EF4-FFF2-40B4-BE49-F238E27FC236}">
                <a16:creationId xmlns:a16="http://schemas.microsoft.com/office/drawing/2014/main" id="{86266899-CDA0-476E-AB51-00626EE83825}"/>
              </a:ext>
            </a:extLst>
          </p:cNvPr>
          <p:cNvPicPr>
            <a:picLocks noChangeAspect="1"/>
          </p:cNvPicPr>
          <p:nvPr/>
        </p:nvPicPr>
        <p:blipFill>
          <a:blip r:embed="rId3"/>
          <a:stretch>
            <a:fillRect/>
          </a:stretch>
        </p:blipFill>
        <p:spPr>
          <a:xfrm>
            <a:off x="5365937" y="2276643"/>
            <a:ext cx="3488615" cy="1947134"/>
          </a:xfrm>
          <a:prstGeom prst="rect">
            <a:avLst/>
          </a:prstGeom>
        </p:spPr>
      </p:pic>
    </p:spTree>
    <p:extLst>
      <p:ext uri="{BB962C8B-B14F-4D97-AF65-F5344CB8AC3E}">
        <p14:creationId xmlns:p14="http://schemas.microsoft.com/office/powerpoint/2010/main" val="3844031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OUTLINE of module 5</a:t>
            </a:r>
          </a:p>
        </p:txBody>
      </p:sp>
      <p:sp>
        <p:nvSpPr>
          <p:cNvPr id="3" name="Content Placeholder 2"/>
          <p:cNvSpPr>
            <a:spLocks noGrp="1"/>
          </p:cNvSpPr>
          <p:nvPr>
            <p:ph type="body" idx="1"/>
          </p:nvPr>
        </p:nvSpPr>
        <p:spPr/>
        <p:txBody>
          <a:bodyPr>
            <a:normAutofit/>
          </a:bodyPr>
          <a:lstStyle/>
          <a:p>
            <a:pPr>
              <a:spcBef>
                <a:spcPts val="1800"/>
              </a:spcBef>
            </a:pPr>
            <a:r>
              <a:rPr lang="en-US" sz="2810" dirty="0">
                <a:solidFill>
                  <a:schemeClr val="bg1">
                    <a:lumMod val="65000"/>
                  </a:schemeClr>
                </a:solidFill>
              </a:rPr>
              <a:t>Profit maximization for price searchers</a:t>
            </a:r>
          </a:p>
          <a:p>
            <a:pPr lvl="1">
              <a:spcBef>
                <a:spcPts val="600"/>
              </a:spcBef>
            </a:pPr>
            <a:r>
              <a:rPr lang="en-US" sz="2610" dirty="0">
                <a:solidFill>
                  <a:schemeClr val="bg1">
                    <a:lumMod val="65000"/>
                  </a:schemeClr>
                </a:solidFill>
              </a:rPr>
              <a:t>Markup and Lerner index</a:t>
            </a:r>
            <a:endParaRPr lang="en-US" sz="2810" dirty="0">
              <a:solidFill>
                <a:schemeClr val="bg1">
                  <a:lumMod val="65000"/>
                </a:schemeClr>
              </a:solidFill>
            </a:endParaRPr>
          </a:p>
          <a:p>
            <a:pPr>
              <a:lnSpc>
                <a:spcPct val="120000"/>
              </a:lnSpc>
              <a:spcBef>
                <a:spcPts val="1800"/>
              </a:spcBef>
            </a:pPr>
            <a:r>
              <a:rPr lang="en-US" sz="2810" dirty="0">
                <a:solidFill>
                  <a:schemeClr val="bg1">
                    <a:lumMod val="65000"/>
                  </a:schemeClr>
                </a:solidFill>
              </a:rPr>
              <a:t>Monopoly and welfare impact</a:t>
            </a:r>
          </a:p>
          <a:p>
            <a:pPr>
              <a:lnSpc>
                <a:spcPct val="120000"/>
              </a:lnSpc>
              <a:spcBef>
                <a:spcPts val="1800"/>
              </a:spcBef>
            </a:pPr>
            <a:r>
              <a:rPr lang="en-US" sz="2810" dirty="0">
                <a:solidFill>
                  <a:schemeClr val="bg1">
                    <a:lumMod val="65000"/>
                  </a:schemeClr>
                </a:solidFill>
              </a:rPr>
              <a:t>Rising market power and regulations</a:t>
            </a:r>
          </a:p>
          <a:p>
            <a:pPr>
              <a:lnSpc>
                <a:spcPct val="120000"/>
              </a:lnSpc>
              <a:spcBef>
                <a:spcPts val="1800"/>
              </a:spcBef>
            </a:pPr>
            <a:r>
              <a:rPr lang="en-US" sz="2810" dirty="0"/>
              <a:t>Monopolistic competition</a:t>
            </a:r>
          </a:p>
          <a:p>
            <a:pPr marL="514350" indent="-514350">
              <a:lnSpc>
                <a:spcPct val="120000"/>
              </a:lnSpc>
              <a:buFont typeface="+mj-lt"/>
              <a:buAutoNum type="arabicPeriod"/>
            </a:pPr>
            <a:endParaRPr lang="en-US" sz="2813" dirty="0">
              <a:latin typeface="Whitney-Book" pitchFamily="50" charset="0"/>
              <a:cs typeface="Whitney-Book" pitchFamily="50" charset="0"/>
            </a:endParaRPr>
          </a:p>
          <a:p>
            <a:pPr marL="514350" indent="-514350">
              <a:lnSpc>
                <a:spcPct val="120000"/>
              </a:lnSpc>
              <a:buFont typeface="+mj-lt"/>
              <a:buAutoNum type="arabicPeriod"/>
            </a:pPr>
            <a:endParaRPr lang="en-US" sz="2813" dirty="0">
              <a:latin typeface="Whitney-Book" pitchFamily="50" charset="0"/>
              <a:cs typeface="Whitney-Book" pitchFamily="50" charset="0"/>
            </a:endParaRPr>
          </a:p>
          <a:p>
            <a:pPr marL="914400" lvl="1" indent="-514350">
              <a:lnSpc>
                <a:spcPct val="120000"/>
              </a:lnSpc>
            </a:pPr>
            <a:endParaRPr lang="en-US" sz="2613" noProof="0" dirty="0">
              <a:latin typeface="Whitney-Book" pitchFamily="50" charset="0"/>
              <a:cs typeface="Whitney-Book" pitchFamily="50" charset="0"/>
            </a:endParaRPr>
          </a:p>
          <a:p>
            <a:pPr marL="914400" lvl="1" indent="-514350">
              <a:lnSpc>
                <a:spcPct val="120000"/>
              </a:lnSpc>
            </a:pPr>
            <a:endParaRPr lang="en-US" sz="2613" noProof="0" dirty="0">
              <a:latin typeface="Whitney-Book" pitchFamily="50" charset="0"/>
              <a:cs typeface="Whitney-Book" pitchFamily="50" charset="0"/>
            </a:endParaRPr>
          </a:p>
          <a:p>
            <a:pPr marL="457200" lvl="1" indent="0">
              <a:buNone/>
            </a:pPr>
            <a:endParaRPr lang="en-US" noProof="0" dirty="0"/>
          </a:p>
          <a:p>
            <a:pPr lvl="1"/>
            <a:endParaRPr lang="en-US" noProof="0" dirty="0"/>
          </a:p>
          <a:p>
            <a:endParaRPr lang="en-US" noProof="0" dirty="0"/>
          </a:p>
        </p:txBody>
      </p:sp>
    </p:spTree>
    <p:extLst>
      <p:ext uri="{BB962C8B-B14F-4D97-AF65-F5344CB8AC3E}">
        <p14:creationId xmlns:p14="http://schemas.microsoft.com/office/powerpoint/2010/main" val="2272244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528F9558-0F44-4279-83B5-641552799E10}"/>
              </a:ext>
            </a:extLst>
          </p:cNvPr>
          <p:cNvGrpSpPr/>
          <p:nvPr/>
        </p:nvGrpSpPr>
        <p:grpSpPr>
          <a:xfrm>
            <a:off x="2988592" y="4335874"/>
            <a:ext cx="2182920" cy="2373611"/>
            <a:chOff x="3102159" y="4367636"/>
            <a:chExt cx="2182920" cy="2335939"/>
          </a:xfrm>
        </p:grpSpPr>
        <p:pic>
          <p:nvPicPr>
            <p:cNvPr id="39" name="Picture 38">
              <a:extLst>
                <a:ext uri="{FF2B5EF4-FFF2-40B4-BE49-F238E27FC236}">
                  <a16:creationId xmlns:a16="http://schemas.microsoft.com/office/drawing/2014/main" id="{EBC15359-3784-458C-B62A-317F89B5E017}"/>
                </a:ext>
              </a:extLst>
            </p:cNvPr>
            <p:cNvPicPr>
              <a:picLocks noChangeAspect="1"/>
            </p:cNvPicPr>
            <p:nvPr/>
          </p:nvPicPr>
          <p:blipFill>
            <a:blip r:embed="rId3"/>
            <a:stretch>
              <a:fillRect/>
            </a:stretch>
          </p:blipFill>
          <p:spPr>
            <a:xfrm>
              <a:off x="3102159" y="4367636"/>
              <a:ext cx="2182920" cy="2039838"/>
            </a:xfrm>
            <a:prstGeom prst="rect">
              <a:avLst/>
            </a:prstGeom>
          </p:spPr>
        </p:pic>
        <p:sp>
          <p:nvSpPr>
            <p:cNvPr id="40" name="TextBox 39">
              <a:extLst>
                <a:ext uri="{FF2B5EF4-FFF2-40B4-BE49-F238E27FC236}">
                  <a16:creationId xmlns:a16="http://schemas.microsoft.com/office/drawing/2014/main" id="{F750C7A4-6984-42DE-9ACE-618841825041}"/>
                </a:ext>
              </a:extLst>
            </p:cNvPr>
            <p:cNvSpPr txBox="1"/>
            <p:nvPr/>
          </p:nvSpPr>
          <p:spPr>
            <a:xfrm>
              <a:off x="3211169" y="6365021"/>
              <a:ext cx="1912306" cy="338554"/>
            </a:xfrm>
            <a:prstGeom prst="rect">
              <a:avLst/>
            </a:prstGeom>
            <a:noFill/>
          </p:spPr>
          <p:txBody>
            <a:bodyPr wrap="square" rtlCol="0">
              <a:spAutoFit/>
            </a:bodyPr>
            <a:lstStyle/>
            <a:p>
              <a:r>
                <a:rPr lang="en-US" sz="1600" dirty="0"/>
                <a:t>Restaurants in </a:t>
              </a:r>
              <a:r>
                <a:rPr lang="en-US" sz="1600" dirty="0" err="1"/>
                <a:t>WeHo</a:t>
              </a:r>
              <a:endParaRPr lang="en-US" sz="1600" dirty="0"/>
            </a:p>
          </p:txBody>
        </p:sp>
      </p:grpSp>
      <p:sp>
        <p:nvSpPr>
          <p:cNvPr id="2" name="Title 1"/>
          <p:cNvSpPr>
            <a:spLocks noGrp="1"/>
          </p:cNvSpPr>
          <p:nvPr>
            <p:ph type="title"/>
          </p:nvPr>
        </p:nvSpPr>
        <p:spPr/>
        <p:txBody>
          <a:bodyPr/>
          <a:lstStyle/>
          <a:p>
            <a:r>
              <a:rPr lang="en-US" sz="2800" dirty="0">
                <a:cs typeface="Times New Roman" pitchFamily="18" charset="0"/>
              </a:rPr>
              <a:t>Where We Are</a:t>
            </a:r>
            <a:endParaRPr lang="en-US" dirty="0"/>
          </a:p>
        </p:txBody>
      </p:sp>
      <p:sp>
        <p:nvSpPr>
          <p:cNvPr id="9" name="Slide Number Placeholder 8"/>
          <p:cNvSpPr>
            <a:spLocks noGrp="1"/>
          </p:cNvSpPr>
          <p:nvPr>
            <p:ph type="sldNum" sz="quarter" idx="12"/>
          </p:nvPr>
        </p:nvSpPr>
        <p:spPr/>
        <p:txBody>
          <a:bodyPr/>
          <a:lstStyle/>
          <a:p>
            <a:fld id="{0F3206DB-9488-D04D-BDD1-A7C9D84C4579}" type="slidenum">
              <a:rPr lang="en-US" smtClean="0"/>
              <a:t>47</a:t>
            </a:fld>
            <a:endParaRPr lang="en-US"/>
          </a:p>
        </p:txBody>
      </p:sp>
      <p:grpSp>
        <p:nvGrpSpPr>
          <p:cNvPr id="5" name="Group 5"/>
          <p:cNvGrpSpPr>
            <a:grpSpLocks/>
          </p:cNvGrpSpPr>
          <p:nvPr/>
        </p:nvGrpSpPr>
        <p:grpSpPr bwMode="auto">
          <a:xfrm>
            <a:off x="99303" y="1808320"/>
            <a:ext cx="9088887" cy="638576"/>
            <a:chOff x="191" y="1628"/>
            <a:chExt cx="5442" cy="382"/>
          </a:xfrm>
        </p:grpSpPr>
        <p:sp>
          <p:nvSpPr>
            <p:cNvPr id="6" name="Rectangle 6"/>
            <p:cNvSpPr>
              <a:spLocks noChangeArrowheads="1"/>
            </p:cNvSpPr>
            <p:nvPr/>
          </p:nvSpPr>
          <p:spPr bwMode="auto">
            <a:xfrm>
              <a:off x="191" y="1628"/>
              <a:ext cx="1880" cy="376"/>
            </a:xfrm>
            <a:prstGeom prst="rect">
              <a:avLst/>
            </a:prstGeom>
            <a:noFill/>
            <a:ln w="9525">
              <a:noFill/>
              <a:miter lim="800000"/>
              <a:headEnd/>
              <a:tailEnd/>
            </a:ln>
            <a:effectLst/>
          </p:spPr>
          <p:txBody>
            <a:bodyPr wrap="none" lIns="19050" tIns="26988" rIns="19050" bIns="26988"/>
            <a:lstStyle/>
            <a:p>
              <a:pPr marL="0" marR="0" lvl="0" indent="0" algn="ctr" defTabSz="457200" rtl="0" eaLnBrk="1" fontAlgn="auto" latinLnBrk="0" hangingPunct="1">
                <a:lnSpc>
                  <a:spcPts val="2947"/>
                </a:lnSpc>
                <a:spcBef>
                  <a:spcPts val="0"/>
                </a:spcBef>
                <a:spcAft>
                  <a:spcPts val="947"/>
                </a:spcAft>
                <a:buClrTx/>
                <a:buSzTx/>
                <a:buFontTx/>
                <a:buNone/>
                <a:tabLst>
                  <a:tab pos="481157" algn="l"/>
                  <a:tab pos="962315" algn="l"/>
                  <a:tab pos="1443472" algn="l"/>
                </a:tabLst>
                <a:defRPr/>
              </a:pPr>
              <a:r>
                <a:rPr kumimoji="0" lang="en-US" sz="2800"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Least Market Power</a:t>
              </a:r>
            </a:p>
          </p:txBody>
        </p:sp>
        <p:sp>
          <p:nvSpPr>
            <p:cNvPr id="7" name="Line 7"/>
            <p:cNvSpPr>
              <a:spLocks noChangeShapeType="1"/>
            </p:cNvSpPr>
            <p:nvPr/>
          </p:nvSpPr>
          <p:spPr bwMode="auto">
            <a:xfrm>
              <a:off x="232" y="1943"/>
              <a:ext cx="5232" cy="0"/>
            </a:xfrm>
            <a:prstGeom prst="line">
              <a:avLst/>
            </a:prstGeom>
            <a:noFill/>
            <a:ln w="50800">
              <a:solidFill>
                <a:schemeClr val="accent1">
                  <a:lumMod val="75000"/>
                </a:schemeClr>
              </a:solidFill>
              <a:round/>
              <a:headEnd type="stealth" w="med" len="lg"/>
              <a:tailEnd type="stealth" w="med" len="lg"/>
            </a:ln>
            <a:effectLst/>
          </p:spPr>
          <p:txBody>
            <a:bodyPr wrap="non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8" name="Rectangle 8"/>
            <p:cNvSpPr>
              <a:spLocks noChangeArrowheads="1"/>
            </p:cNvSpPr>
            <p:nvPr/>
          </p:nvSpPr>
          <p:spPr bwMode="auto">
            <a:xfrm>
              <a:off x="3513" y="1634"/>
              <a:ext cx="2120" cy="376"/>
            </a:xfrm>
            <a:prstGeom prst="rect">
              <a:avLst/>
            </a:prstGeom>
            <a:noFill/>
            <a:ln w="9525">
              <a:noFill/>
              <a:miter lim="800000"/>
              <a:headEnd/>
              <a:tailEnd/>
            </a:ln>
            <a:effectLst/>
          </p:spPr>
          <p:txBody>
            <a:bodyPr wrap="none" lIns="19050" tIns="26988" rIns="19050" bIns="26988"/>
            <a:lstStyle/>
            <a:p>
              <a:pPr marL="0" marR="0" lvl="0" indent="0" algn="ctr" defTabSz="457200" rtl="0" eaLnBrk="1" fontAlgn="auto" latinLnBrk="0" hangingPunct="1">
                <a:lnSpc>
                  <a:spcPts val="2947"/>
                </a:lnSpc>
                <a:spcBef>
                  <a:spcPts val="0"/>
                </a:spcBef>
                <a:spcAft>
                  <a:spcPts val="947"/>
                </a:spcAft>
                <a:buClrTx/>
                <a:buSzTx/>
                <a:buFontTx/>
                <a:buNone/>
                <a:tabLst>
                  <a:tab pos="481157" algn="l"/>
                  <a:tab pos="962315" algn="l"/>
                  <a:tab pos="1443472" algn="l"/>
                </a:tabLst>
                <a:defRPr/>
              </a:pPr>
              <a:r>
                <a:rPr kumimoji="0" lang="en-US" sz="2800"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Most Market Power</a:t>
              </a:r>
            </a:p>
          </p:txBody>
        </p:sp>
      </p:grpSp>
      <p:grpSp>
        <p:nvGrpSpPr>
          <p:cNvPr id="32" name="Group 31"/>
          <p:cNvGrpSpPr/>
          <p:nvPr/>
        </p:nvGrpSpPr>
        <p:grpSpPr>
          <a:xfrm>
            <a:off x="167779" y="2617404"/>
            <a:ext cx="2792469" cy="1041447"/>
            <a:chOff x="167779" y="2617404"/>
            <a:chExt cx="2792469" cy="1041447"/>
          </a:xfrm>
        </p:grpSpPr>
        <p:sp>
          <p:nvSpPr>
            <p:cNvPr id="11" name="Rectangle 11"/>
            <p:cNvSpPr>
              <a:spLocks noChangeArrowheads="1"/>
            </p:cNvSpPr>
            <p:nvPr/>
          </p:nvSpPr>
          <p:spPr bwMode="auto">
            <a:xfrm>
              <a:off x="167779" y="2617404"/>
              <a:ext cx="2658858" cy="1041447"/>
            </a:xfrm>
            <a:prstGeom prst="rect">
              <a:avLst/>
            </a:prstGeom>
            <a:noFill/>
            <a:ln w="9525">
              <a:noFill/>
              <a:miter lim="800000"/>
              <a:headEnd/>
              <a:tailEnd/>
            </a:ln>
            <a:effectLst/>
          </p:spPr>
          <p:txBody>
            <a:bodyPr wrap="none" lIns="19050" tIns="26988" rIns="19050" bIns="26988"/>
            <a:lstStyle/>
            <a:p>
              <a:pPr marL="0" marR="0" lvl="0" indent="0" algn="ctr" defTabSz="457200" rtl="0" eaLnBrk="1" fontAlgn="auto" latinLnBrk="0" hangingPunct="1">
                <a:lnSpc>
                  <a:spcPts val="2947"/>
                </a:lnSpc>
                <a:spcBef>
                  <a:spcPts val="0"/>
                </a:spcBef>
                <a:spcAft>
                  <a:spcPts val="947"/>
                </a:spcAft>
                <a:buClrTx/>
                <a:buSzTx/>
                <a:buFontTx/>
                <a:buNone/>
                <a:tabLst>
                  <a:tab pos="481157" algn="l"/>
                  <a:tab pos="962315" algn="l"/>
                  <a:tab pos="1443472" algn="l"/>
                </a:tabLst>
                <a:defRPr/>
              </a:pPr>
              <a:r>
                <a:rPr kumimoji="0" lang="en-US" sz="2800"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Perfect </a:t>
              </a:r>
            </a:p>
            <a:p>
              <a:pPr marL="0" marR="0" lvl="0" indent="0" algn="ctr" defTabSz="457200" rtl="0" eaLnBrk="1" fontAlgn="auto" latinLnBrk="0" hangingPunct="1">
                <a:lnSpc>
                  <a:spcPts val="2947"/>
                </a:lnSpc>
                <a:spcBef>
                  <a:spcPts val="0"/>
                </a:spcBef>
                <a:spcAft>
                  <a:spcPts val="947"/>
                </a:spcAft>
                <a:buClrTx/>
                <a:buSzTx/>
                <a:buFontTx/>
                <a:buNone/>
                <a:tabLst>
                  <a:tab pos="481157" algn="l"/>
                  <a:tab pos="962315" algn="l"/>
                  <a:tab pos="1443472" algn="l"/>
                </a:tabLst>
                <a:defRPr/>
              </a:pPr>
              <a:r>
                <a:rPr kumimoji="0" lang="en-US" sz="2800"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Competition</a:t>
              </a:r>
            </a:p>
          </p:txBody>
        </p:sp>
        <p:sp>
          <p:nvSpPr>
            <p:cNvPr id="13" name="Line 13"/>
            <p:cNvSpPr>
              <a:spLocks noChangeShapeType="1"/>
            </p:cNvSpPr>
            <p:nvPr/>
          </p:nvSpPr>
          <p:spPr bwMode="auto">
            <a:xfrm>
              <a:off x="2960248" y="2617404"/>
              <a:ext cx="0" cy="894340"/>
            </a:xfrm>
            <a:prstGeom prst="line">
              <a:avLst/>
            </a:prstGeom>
            <a:noFill/>
            <a:ln w="50800">
              <a:solidFill>
                <a:srgbClr val="C00000"/>
              </a:solidFill>
              <a:round/>
              <a:headEnd type="none" w="sm" len="sm"/>
              <a:tailEnd type="none" w="sm" len="sm"/>
            </a:ln>
            <a:effectLst/>
          </p:spPr>
          <p:txBody>
            <a:bodyPr wrap="non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grpSp>
      <p:grpSp>
        <p:nvGrpSpPr>
          <p:cNvPr id="14" name="Group 25"/>
          <p:cNvGrpSpPr>
            <a:grpSpLocks/>
          </p:cNvGrpSpPr>
          <p:nvPr/>
        </p:nvGrpSpPr>
        <p:grpSpPr bwMode="auto">
          <a:xfrm>
            <a:off x="3093859" y="2602359"/>
            <a:ext cx="2137775" cy="1002998"/>
            <a:chOff x="1984" y="2103"/>
            <a:chExt cx="1280" cy="600"/>
          </a:xfrm>
        </p:grpSpPr>
        <p:sp>
          <p:nvSpPr>
            <p:cNvPr id="15" name="Rectangle 15"/>
            <p:cNvSpPr>
              <a:spLocks noChangeArrowheads="1"/>
            </p:cNvSpPr>
            <p:nvPr/>
          </p:nvSpPr>
          <p:spPr bwMode="auto">
            <a:xfrm>
              <a:off x="1984" y="2103"/>
              <a:ext cx="1232" cy="600"/>
            </a:xfrm>
            <a:prstGeom prst="rect">
              <a:avLst/>
            </a:prstGeom>
            <a:noFill/>
            <a:ln w="9525">
              <a:noFill/>
              <a:miter lim="800000"/>
              <a:headEnd/>
              <a:tailEnd/>
            </a:ln>
            <a:effectLst/>
          </p:spPr>
          <p:txBody>
            <a:bodyPr wrap="none" lIns="19050" tIns="26988" rIns="19050" bIns="26988"/>
            <a:lstStyle/>
            <a:p>
              <a:pPr marL="0" marR="0" lvl="0" indent="0" algn="ctr" defTabSz="457200" rtl="0" eaLnBrk="1" fontAlgn="auto" latinLnBrk="0" hangingPunct="1">
                <a:lnSpc>
                  <a:spcPts val="2947"/>
                </a:lnSpc>
                <a:spcBef>
                  <a:spcPts val="0"/>
                </a:spcBef>
                <a:spcAft>
                  <a:spcPts val="947"/>
                </a:spcAft>
                <a:buClrTx/>
                <a:buSzTx/>
                <a:buFontTx/>
                <a:buNone/>
                <a:tabLst>
                  <a:tab pos="481157" algn="l"/>
                  <a:tab pos="962315" algn="l"/>
                  <a:tab pos="1443472" algn="l"/>
                </a:tabLst>
                <a:defRPr/>
              </a:pPr>
              <a:r>
                <a:rPr kumimoji="0" lang="en-US" sz="2800"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Monopolistic </a:t>
              </a:r>
              <a:br>
                <a:rPr kumimoji="0" lang="en-US" sz="2800"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br>
              <a:r>
                <a:rPr kumimoji="0" lang="en-US" sz="2800"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Competition</a:t>
              </a:r>
            </a:p>
          </p:txBody>
        </p:sp>
        <p:sp>
          <p:nvSpPr>
            <p:cNvPr id="16" name="Line 16"/>
            <p:cNvSpPr>
              <a:spLocks noChangeShapeType="1"/>
            </p:cNvSpPr>
            <p:nvPr/>
          </p:nvSpPr>
          <p:spPr bwMode="auto">
            <a:xfrm>
              <a:off x="3264" y="2127"/>
              <a:ext cx="0" cy="520"/>
            </a:xfrm>
            <a:prstGeom prst="line">
              <a:avLst/>
            </a:prstGeom>
            <a:noFill/>
            <a:ln w="50800">
              <a:solidFill>
                <a:srgbClr val="C00000"/>
              </a:solidFill>
              <a:round/>
              <a:headEnd type="none" w="sm" len="sm"/>
              <a:tailEnd type="none" w="sm" len="sm"/>
            </a:ln>
            <a:effectLst/>
          </p:spPr>
          <p:txBody>
            <a:bodyPr wrap="non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grpSp>
      <p:grpSp>
        <p:nvGrpSpPr>
          <p:cNvPr id="17" name="Group 17"/>
          <p:cNvGrpSpPr>
            <a:grpSpLocks/>
          </p:cNvGrpSpPr>
          <p:nvPr/>
        </p:nvGrpSpPr>
        <p:grpSpPr bwMode="auto">
          <a:xfrm>
            <a:off x="5285079" y="2602359"/>
            <a:ext cx="1683498" cy="909385"/>
            <a:chOff x="3280" y="2103"/>
            <a:chExt cx="1008" cy="544"/>
          </a:xfrm>
        </p:grpSpPr>
        <p:sp>
          <p:nvSpPr>
            <p:cNvPr id="18" name="Rectangle 18"/>
            <p:cNvSpPr>
              <a:spLocks noChangeArrowheads="1"/>
            </p:cNvSpPr>
            <p:nvPr/>
          </p:nvSpPr>
          <p:spPr bwMode="auto">
            <a:xfrm>
              <a:off x="3280" y="2103"/>
              <a:ext cx="960" cy="376"/>
            </a:xfrm>
            <a:prstGeom prst="rect">
              <a:avLst/>
            </a:prstGeom>
            <a:noFill/>
            <a:ln w="9525">
              <a:noFill/>
              <a:miter lim="800000"/>
              <a:headEnd/>
              <a:tailEnd/>
            </a:ln>
            <a:effectLst/>
          </p:spPr>
          <p:txBody>
            <a:bodyPr wrap="none" lIns="19050" tIns="26988" rIns="19050" bIns="26988"/>
            <a:lstStyle/>
            <a:p>
              <a:pPr marL="0" marR="0" lvl="0" indent="0" algn="ctr" defTabSz="457200" rtl="0" eaLnBrk="1" fontAlgn="auto" latinLnBrk="0" hangingPunct="1">
                <a:lnSpc>
                  <a:spcPts val="2947"/>
                </a:lnSpc>
                <a:spcBef>
                  <a:spcPts val="0"/>
                </a:spcBef>
                <a:spcAft>
                  <a:spcPts val="947"/>
                </a:spcAft>
                <a:buClrTx/>
                <a:buSzTx/>
                <a:buFontTx/>
                <a:buNone/>
                <a:tabLst>
                  <a:tab pos="481157" algn="l"/>
                  <a:tab pos="962315" algn="l"/>
                  <a:tab pos="1443472" algn="l"/>
                </a:tabLst>
                <a:defRPr/>
              </a:pPr>
              <a:r>
                <a:rPr kumimoji="0" lang="en-US" sz="2800"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Oligopoly</a:t>
              </a:r>
            </a:p>
          </p:txBody>
        </p:sp>
        <p:sp>
          <p:nvSpPr>
            <p:cNvPr id="19" name="Line 19"/>
            <p:cNvSpPr>
              <a:spLocks noChangeShapeType="1"/>
            </p:cNvSpPr>
            <p:nvPr/>
          </p:nvSpPr>
          <p:spPr bwMode="auto">
            <a:xfrm>
              <a:off x="4288" y="2119"/>
              <a:ext cx="0" cy="528"/>
            </a:xfrm>
            <a:prstGeom prst="line">
              <a:avLst/>
            </a:prstGeom>
            <a:noFill/>
            <a:ln w="50800">
              <a:solidFill>
                <a:srgbClr val="C00000"/>
              </a:solidFill>
              <a:round/>
              <a:headEnd type="none" w="sm" len="sm"/>
              <a:tailEnd type="none" w="sm" len="sm"/>
            </a:ln>
            <a:effectLst/>
          </p:spPr>
          <p:txBody>
            <a:bodyPr wrap="non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grpSp>
      <p:sp>
        <p:nvSpPr>
          <p:cNvPr id="20" name="Rectangle 20"/>
          <p:cNvSpPr>
            <a:spLocks noChangeArrowheads="1"/>
          </p:cNvSpPr>
          <p:nvPr/>
        </p:nvSpPr>
        <p:spPr bwMode="auto">
          <a:xfrm>
            <a:off x="7102187" y="2615732"/>
            <a:ext cx="1603333" cy="628546"/>
          </a:xfrm>
          <a:prstGeom prst="rect">
            <a:avLst/>
          </a:prstGeom>
          <a:noFill/>
          <a:ln w="9525">
            <a:noFill/>
            <a:miter lim="800000"/>
            <a:headEnd/>
            <a:tailEnd/>
          </a:ln>
          <a:effectLst/>
        </p:spPr>
        <p:txBody>
          <a:bodyPr wrap="none" lIns="20048" tIns="28402" rIns="20048" bIns="28402"/>
          <a:lstStyle/>
          <a:p>
            <a:pPr marL="0" marR="0" lvl="0" indent="0" algn="ctr" defTabSz="457200" rtl="0" eaLnBrk="1" fontAlgn="auto" latinLnBrk="0" hangingPunct="1">
              <a:lnSpc>
                <a:spcPts val="2947"/>
              </a:lnSpc>
              <a:spcBef>
                <a:spcPts val="0"/>
              </a:spcBef>
              <a:spcAft>
                <a:spcPts val="947"/>
              </a:spcAft>
              <a:buClrTx/>
              <a:buSzTx/>
              <a:buFontTx/>
              <a:buNone/>
              <a:tabLst>
                <a:tab pos="481157" algn="l"/>
                <a:tab pos="962315" algn="l"/>
                <a:tab pos="1443472" algn="l"/>
              </a:tabLst>
              <a:defRPr/>
            </a:pPr>
            <a:r>
              <a:rPr kumimoji="0" lang="en-US" sz="2800"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Monopoly</a:t>
            </a:r>
          </a:p>
        </p:txBody>
      </p:sp>
      <p:grpSp>
        <p:nvGrpSpPr>
          <p:cNvPr id="31" name="Group 30"/>
          <p:cNvGrpSpPr/>
          <p:nvPr/>
        </p:nvGrpSpPr>
        <p:grpSpPr>
          <a:xfrm>
            <a:off x="325607" y="3707328"/>
            <a:ext cx="8246301" cy="656965"/>
            <a:chOff x="325607" y="3707328"/>
            <a:chExt cx="8246301" cy="656965"/>
          </a:xfrm>
        </p:grpSpPr>
        <p:sp>
          <p:nvSpPr>
            <p:cNvPr id="10" name="Line 10"/>
            <p:cNvSpPr>
              <a:spLocks noChangeShapeType="1"/>
            </p:cNvSpPr>
            <p:nvPr/>
          </p:nvSpPr>
          <p:spPr bwMode="auto">
            <a:xfrm>
              <a:off x="501806" y="4248948"/>
              <a:ext cx="2378275" cy="0"/>
            </a:xfrm>
            <a:prstGeom prst="line">
              <a:avLst/>
            </a:prstGeom>
            <a:noFill/>
            <a:ln w="50800">
              <a:solidFill>
                <a:schemeClr val="accent1">
                  <a:lumMod val="75000"/>
                </a:schemeClr>
              </a:solidFill>
              <a:round/>
              <a:headEnd type="stealth" w="med" len="lg"/>
              <a:tailEnd type="stealth" w="med" len="lg"/>
            </a:ln>
            <a:effectLst/>
          </p:spPr>
          <p:txBody>
            <a:bodyPr wrap="non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12" name="Rectangle 12"/>
            <p:cNvSpPr>
              <a:spLocks noChangeArrowheads="1"/>
            </p:cNvSpPr>
            <p:nvPr/>
          </p:nvSpPr>
          <p:spPr bwMode="auto">
            <a:xfrm>
              <a:off x="325607" y="3735747"/>
              <a:ext cx="2713972" cy="628546"/>
            </a:xfrm>
            <a:prstGeom prst="rect">
              <a:avLst/>
            </a:prstGeom>
            <a:noFill/>
            <a:ln w="9525">
              <a:noFill/>
              <a:miter lim="800000"/>
              <a:headEnd/>
              <a:tailEnd/>
            </a:ln>
            <a:effectLst/>
          </p:spPr>
          <p:txBody>
            <a:bodyPr wrap="none" lIns="19050" tIns="26988" rIns="19050" bIns="26988"/>
            <a:lstStyle/>
            <a:p>
              <a:pPr marL="0" marR="0" lvl="0" indent="0" algn="ctr" defTabSz="457200" rtl="0" eaLnBrk="1" fontAlgn="auto" latinLnBrk="0" hangingPunct="1">
                <a:lnSpc>
                  <a:spcPts val="2947"/>
                </a:lnSpc>
                <a:spcBef>
                  <a:spcPts val="0"/>
                </a:spcBef>
                <a:spcAft>
                  <a:spcPts val="947"/>
                </a:spcAft>
                <a:buClrTx/>
                <a:buSzTx/>
                <a:buFontTx/>
                <a:buNone/>
                <a:tabLst>
                  <a:tab pos="481157" algn="l"/>
                  <a:tab pos="962315" algn="l"/>
                  <a:tab pos="1443472" algn="l"/>
                </a:tabLst>
                <a:defRPr/>
              </a:pPr>
              <a:r>
                <a:rPr kumimoji="0" lang="en-US" sz="2800"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(Price Takers)</a:t>
              </a:r>
            </a:p>
          </p:txBody>
        </p:sp>
        <p:grpSp>
          <p:nvGrpSpPr>
            <p:cNvPr id="21" name="Group 21"/>
            <p:cNvGrpSpPr>
              <a:grpSpLocks/>
            </p:cNvGrpSpPr>
            <p:nvPr/>
          </p:nvGrpSpPr>
          <p:grpSpPr bwMode="auto">
            <a:xfrm>
              <a:off x="3521414" y="3707328"/>
              <a:ext cx="5050494" cy="628546"/>
              <a:chOff x="2240" y="2764"/>
              <a:chExt cx="3024" cy="376"/>
            </a:xfrm>
          </p:grpSpPr>
          <p:sp>
            <p:nvSpPr>
              <p:cNvPr id="22" name="Line 22"/>
              <p:cNvSpPr>
                <a:spLocks noChangeShapeType="1"/>
              </p:cNvSpPr>
              <p:nvPr/>
            </p:nvSpPr>
            <p:spPr bwMode="auto">
              <a:xfrm>
                <a:off x="2240" y="3079"/>
                <a:ext cx="3024" cy="0"/>
              </a:xfrm>
              <a:prstGeom prst="line">
                <a:avLst/>
              </a:prstGeom>
              <a:noFill/>
              <a:ln w="50800">
                <a:solidFill>
                  <a:schemeClr val="accent1">
                    <a:lumMod val="75000"/>
                  </a:schemeClr>
                </a:solidFill>
                <a:round/>
                <a:headEnd type="stealth" w="med" len="lg"/>
                <a:tailEnd type="stealth" w="med" len="lg"/>
              </a:ln>
              <a:effectLst/>
            </p:spPr>
            <p:txBody>
              <a:bodyPr wrap="non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23" name="Rectangle 23"/>
              <p:cNvSpPr>
                <a:spLocks noChangeArrowheads="1"/>
              </p:cNvSpPr>
              <p:nvPr/>
            </p:nvSpPr>
            <p:spPr bwMode="auto">
              <a:xfrm>
                <a:off x="2653" y="2764"/>
                <a:ext cx="2024" cy="376"/>
              </a:xfrm>
              <a:prstGeom prst="rect">
                <a:avLst/>
              </a:prstGeom>
              <a:noFill/>
              <a:ln w="9525">
                <a:noFill/>
                <a:miter lim="800000"/>
                <a:headEnd/>
                <a:tailEnd/>
              </a:ln>
              <a:effectLst/>
            </p:spPr>
            <p:txBody>
              <a:bodyPr wrap="none" lIns="19050" tIns="26988" rIns="19050" bIns="26988"/>
              <a:lstStyle/>
              <a:p>
                <a:pPr marL="0" marR="0" lvl="0" indent="0" algn="ctr" defTabSz="457200" rtl="0" eaLnBrk="1" fontAlgn="auto" latinLnBrk="0" hangingPunct="1">
                  <a:lnSpc>
                    <a:spcPts val="2947"/>
                  </a:lnSpc>
                  <a:spcBef>
                    <a:spcPts val="0"/>
                  </a:spcBef>
                  <a:spcAft>
                    <a:spcPts val="947"/>
                  </a:spcAft>
                  <a:buClrTx/>
                  <a:buSzTx/>
                  <a:buFontTx/>
                  <a:buNone/>
                  <a:tabLst>
                    <a:tab pos="481157" algn="l"/>
                    <a:tab pos="962315" algn="l"/>
                    <a:tab pos="1443472" algn="l"/>
                  </a:tabLst>
                  <a:defRPr/>
                </a:pPr>
                <a:r>
                  <a:rPr kumimoji="0" lang="en-US" sz="2800"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(Price Searchers)</a:t>
                </a:r>
              </a:p>
            </p:txBody>
          </p:sp>
        </p:grpSp>
      </p:grpSp>
      <p:pic>
        <p:nvPicPr>
          <p:cNvPr id="25" name="Picture 29" descr="commodities-l"/>
          <p:cNvPicPr>
            <a:picLocks noChangeAspect="1" noChangeArrowheads="1"/>
          </p:cNvPicPr>
          <p:nvPr/>
        </p:nvPicPr>
        <p:blipFill>
          <a:blip r:embed="rId4" cstate="print"/>
          <a:srcRect/>
          <a:stretch>
            <a:fillRect/>
          </a:stretch>
        </p:blipFill>
        <p:spPr bwMode="auto">
          <a:xfrm>
            <a:off x="849767" y="4493011"/>
            <a:ext cx="1314308" cy="1270049"/>
          </a:xfrm>
          <a:prstGeom prst="rect">
            <a:avLst/>
          </a:prstGeom>
          <a:noFill/>
        </p:spPr>
      </p:pic>
      <p:grpSp>
        <p:nvGrpSpPr>
          <p:cNvPr id="30" name="Group 29"/>
          <p:cNvGrpSpPr/>
          <p:nvPr/>
        </p:nvGrpSpPr>
        <p:grpSpPr>
          <a:xfrm>
            <a:off x="2806679" y="987824"/>
            <a:ext cx="4503560" cy="5742957"/>
            <a:chOff x="368273" y="987824"/>
            <a:chExt cx="4503560" cy="5742957"/>
          </a:xfrm>
        </p:grpSpPr>
        <p:sp>
          <p:nvSpPr>
            <p:cNvPr id="3" name="Rectangle 2"/>
            <p:cNvSpPr/>
            <p:nvPr/>
          </p:nvSpPr>
          <p:spPr>
            <a:xfrm>
              <a:off x="368273" y="1398932"/>
              <a:ext cx="2456687" cy="5331849"/>
            </a:xfrm>
            <a:prstGeom prst="rect">
              <a:avLst/>
            </a:prstGeom>
            <a:noFill/>
            <a:ln w="57150">
              <a:solidFill>
                <a:srgbClr val="FF0000"/>
              </a:solidFill>
            </a:ln>
            <a:effectLst>
              <a:outerShdw blurRad="50800" dist="38100" dir="16200000"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4" name="Group 3"/>
            <p:cNvGrpSpPr/>
            <p:nvPr/>
          </p:nvGrpSpPr>
          <p:grpSpPr>
            <a:xfrm>
              <a:off x="2733106" y="987824"/>
              <a:ext cx="2138727" cy="986803"/>
              <a:chOff x="9365069" y="828920"/>
              <a:chExt cx="2138727" cy="986803"/>
            </a:xfrm>
          </p:grpSpPr>
          <p:sp>
            <p:nvSpPr>
              <p:cNvPr id="28" name="Right Arrow 27"/>
              <p:cNvSpPr/>
              <p:nvPr/>
            </p:nvSpPr>
            <p:spPr bwMode="auto">
              <a:xfrm rot="10800000">
                <a:off x="9487244" y="1292804"/>
                <a:ext cx="1219200" cy="522919"/>
              </a:xfrm>
              <a:prstGeom prst="rightArrow">
                <a:avLst>
                  <a:gd name="adj1" fmla="val 50000"/>
                  <a:gd name="adj2" fmla="val 87117"/>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prstClr val="black"/>
                  </a:solidFill>
                  <a:effectLst/>
                  <a:uLnTx/>
                  <a:uFillTx/>
                  <a:latin typeface="Calibri"/>
                  <a:ea typeface="+mn-ea"/>
                  <a:cs typeface="+mn-cs"/>
                </a:endParaRPr>
              </a:p>
            </p:txBody>
          </p:sp>
          <p:sp>
            <p:nvSpPr>
              <p:cNvPr id="29" name="TextBox 28"/>
              <p:cNvSpPr txBox="1"/>
              <p:nvPr/>
            </p:nvSpPr>
            <p:spPr>
              <a:xfrm>
                <a:off x="9365069" y="828920"/>
                <a:ext cx="2138727" cy="46166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Whitney-Book" pitchFamily="50" charset="0"/>
                    <a:ea typeface="+mn-ea"/>
                    <a:cs typeface="Whitney-Book" pitchFamily="50" charset="0"/>
                  </a:rPr>
                  <a:t>WE ARE HERE</a:t>
                </a:r>
              </a:p>
            </p:txBody>
          </p:sp>
        </p:grpSp>
      </p:grpSp>
      <p:grpSp>
        <p:nvGrpSpPr>
          <p:cNvPr id="33" name="Group 32">
            <a:extLst>
              <a:ext uri="{FF2B5EF4-FFF2-40B4-BE49-F238E27FC236}">
                <a16:creationId xmlns:a16="http://schemas.microsoft.com/office/drawing/2014/main" id="{A24BB07B-37F0-42CE-B9AE-32EB864AB1C0}"/>
              </a:ext>
            </a:extLst>
          </p:cNvPr>
          <p:cNvGrpSpPr/>
          <p:nvPr/>
        </p:nvGrpSpPr>
        <p:grpSpPr>
          <a:xfrm>
            <a:off x="5396978" y="4404420"/>
            <a:ext cx="1270322" cy="1841754"/>
            <a:chOff x="5715000" y="5334000"/>
            <a:chExt cx="1270322" cy="1841754"/>
          </a:xfrm>
        </p:grpSpPr>
        <p:pic>
          <p:nvPicPr>
            <p:cNvPr id="34" name="Picture 28" descr="boeing">
              <a:extLst>
                <a:ext uri="{FF2B5EF4-FFF2-40B4-BE49-F238E27FC236}">
                  <a16:creationId xmlns:a16="http://schemas.microsoft.com/office/drawing/2014/main" id="{3FD26C87-30DD-4839-A232-E4D281DF9AA1}"/>
                </a:ext>
              </a:extLst>
            </p:cNvPr>
            <p:cNvPicPr>
              <a:picLocks noChangeAspect="1" noChangeArrowheads="1"/>
            </p:cNvPicPr>
            <p:nvPr/>
          </p:nvPicPr>
          <p:blipFill>
            <a:blip r:embed="rId5" cstate="print"/>
            <a:srcRect/>
            <a:stretch>
              <a:fillRect/>
            </a:stretch>
          </p:blipFill>
          <p:spPr bwMode="auto">
            <a:xfrm>
              <a:off x="5715000" y="5334000"/>
              <a:ext cx="1266173" cy="842875"/>
            </a:xfrm>
            <a:prstGeom prst="rect">
              <a:avLst/>
            </a:prstGeom>
            <a:noFill/>
          </p:spPr>
        </p:pic>
        <p:pic>
          <p:nvPicPr>
            <p:cNvPr id="35" name="Picture 1">
              <a:extLst>
                <a:ext uri="{FF2B5EF4-FFF2-40B4-BE49-F238E27FC236}">
                  <a16:creationId xmlns:a16="http://schemas.microsoft.com/office/drawing/2014/main" id="{0C538CFC-FA40-4EDE-978F-943814F5EB20}"/>
                </a:ext>
              </a:extLst>
            </p:cNvPr>
            <p:cNvPicPr>
              <a:picLocks noChangeAspect="1" noChangeArrowheads="1"/>
            </p:cNvPicPr>
            <p:nvPr/>
          </p:nvPicPr>
          <p:blipFill>
            <a:blip r:embed="rId6" cstate="print"/>
            <a:srcRect/>
            <a:stretch>
              <a:fillRect/>
            </a:stretch>
          </p:blipFill>
          <p:spPr bwMode="auto">
            <a:xfrm>
              <a:off x="5715000" y="6172200"/>
              <a:ext cx="1270322" cy="1003554"/>
            </a:xfrm>
            <a:prstGeom prst="rect">
              <a:avLst/>
            </a:prstGeom>
            <a:noFill/>
            <a:ln w="9525">
              <a:noFill/>
              <a:miter lim="800000"/>
              <a:headEnd/>
              <a:tailEnd/>
            </a:ln>
          </p:spPr>
        </p:pic>
      </p:grpSp>
      <p:pic>
        <p:nvPicPr>
          <p:cNvPr id="36" name="Picture 4" descr="http://d2uaszwku8m8xd.cloudfront.net/wordpress/wp-content/uploads/2012/11/LADWP_Logo1.jpg">
            <a:extLst>
              <a:ext uri="{FF2B5EF4-FFF2-40B4-BE49-F238E27FC236}">
                <a16:creationId xmlns:a16="http://schemas.microsoft.com/office/drawing/2014/main" id="{C31B5B8B-AFB4-4AE0-B45F-4DC4468599E2}"/>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218384" y="4404420"/>
            <a:ext cx="1353524" cy="14328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1931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Market structure characteristics</a:t>
            </a:r>
          </a:p>
        </p:txBody>
      </p:sp>
      <p:sp>
        <p:nvSpPr>
          <p:cNvPr id="2" name="Slide Number Placeholder 1"/>
          <p:cNvSpPr>
            <a:spLocks noGrp="1"/>
          </p:cNvSpPr>
          <p:nvPr>
            <p:ph type="sldNum" sz="quarter" idx="12"/>
          </p:nvPr>
        </p:nvSpPr>
        <p:spPr/>
        <p:txBody>
          <a:bodyPr/>
          <a:lstStyle/>
          <a:p>
            <a:fld id="{0F3206DB-9488-D04D-BDD1-A7C9D84C4579}" type="slidenum">
              <a:rPr lang="en-US" smtClean="0"/>
              <a:t>48</a:t>
            </a:fld>
            <a:endParaRPr lang="en-US"/>
          </a:p>
        </p:txBody>
      </p:sp>
      <p:sp>
        <p:nvSpPr>
          <p:cNvPr id="6" name="Rectangle 3"/>
          <p:cNvSpPr>
            <a:spLocks noChangeArrowheads="1"/>
          </p:cNvSpPr>
          <p:nvPr/>
        </p:nvSpPr>
        <p:spPr bwMode="auto">
          <a:xfrm>
            <a:off x="4343400" y="2133600"/>
            <a:ext cx="5224188" cy="4724400"/>
          </a:xfrm>
          <a:prstGeom prst="rect">
            <a:avLst/>
          </a:prstGeom>
          <a:noFill/>
          <a:ln w="9525">
            <a:noFill/>
            <a:miter lim="800000"/>
            <a:headEnd/>
            <a:tailEnd/>
          </a:ln>
          <a:effectLst/>
        </p:spPr>
        <p:txBody>
          <a:bodyPr wrap="none" lIns="20045" tIns="28397" rIns="20045" bIns="28397"/>
          <a:lstStyle/>
          <a:p>
            <a:pPr>
              <a:lnSpc>
                <a:spcPts val="2526"/>
              </a:lnSpc>
              <a:tabLst>
                <a:tab pos="481157" algn="l"/>
                <a:tab pos="962315" algn="l"/>
                <a:tab pos="1441802" algn="l"/>
              </a:tabLst>
            </a:pPr>
            <a:r>
              <a:rPr lang="en-US" b="0" dirty="0">
                <a:latin typeface="Whitney-Book" pitchFamily="50" charset="0"/>
                <a:cs typeface="Whitney-Book" pitchFamily="50" charset="0"/>
              </a:rPr>
              <a:t>  Many sellers</a:t>
            </a:r>
          </a:p>
          <a:p>
            <a:pPr>
              <a:lnSpc>
                <a:spcPts val="2526"/>
              </a:lnSpc>
              <a:tabLst>
                <a:tab pos="481157" algn="l"/>
                <a:tab pos="962315" algn="l"/>
                <a:tab pos="1441802" algn="l"/>
              </a:tabLst>
            </a:pPr>
            <a:endParaRPr lang="en-US" b="0" dirty="0">
              <a:latin typeface="Whitney-Book" pitchFamily="50" charset="0"/>
              <a:cs typeface="Whitney-Book" pitchFamily="50" charset="0"/>
            </a:endParaRPr>
          </a:p>
          <a:p>
            <a:pPr>
              <a:lnSpc>
                <a:spcPts val="2526"/>
              </a:lnSpc>
              <a:tabLst>
                <a:tab pos="481157" algn="l"/>
                <a:tab pos="962315" algn="l"/>
                <a:tab pos="1441802" algn="l"/>
              </a:tabLst>
            </a:pPr>
            <a:endParaRPr lang="en-US" b="0" dirty="0">
              <a:latin typeface="Whitney-Book" pitchFamily="50" charset="0"/>
              <a:cs typeface="Whitney-Book" pitchFamily="50" charset="0"/>
            </a:endParaRPr>
          </a:p>
          <a:p>
            <a:pPr>
              <a:lnSpc>
                <a:spcPts val="2526"/>
              </a:lnSpc>
              <a:tabLst>
                <a:tab pos="481157" algn="l"/>
                <a:tab pos="962315" algn="l"/>
                <a:tab pos="1441802" algn="l"/>
              </a:tabLst>
            </a:pPr>
            <a:r>
              <a:rPr lang="en-US" b="0" dirty="0">
                <a:latin typeface="Whitney-Book" pitchFamily="50" charset="0"/>
                <a:cs typeface="Whitney-Book" pitchFamily="50" charset="0"/>
              </a:rPr>
              <a:t>  Perceived differences but relatively close </a:t>
            </a:r>
          </a:p>
          <a:p>
            <a:pPr>
              <a:lnSpc>
                <a:spcPts val="2526"/>
              </a:lnSpc>
              <a:tabLst>
                <a:tab pos="481157" algn="l"/>
                <a:tab pos="962315" algn="l"/>
                <a:tab pos="1441802" algn="l"/>
              </a:tabLst>
            </a:pPr>
            <a:r>
              <a:rPr lang="en-US" b="0" dirty="0">
                <a:latin typeface="Whitney-Book" pitchFamily="50" charset="0"/>
                <a:cs typeface="Whitney-Book" pitchFamily="50" charset="0"/>
              </a:rPr>
              <a:t>  substitutes </a:t>
            </a:r>
          </a:p>
          <a:p>
            <a:pPr>
              <a:lnSpc>
                <a:spcPts val="2526"/>
              </a:lnSpc>
              <a:tabLst>
                <a:tab pos="481157" algn="l"/>
                <a:tab pos="962315" algn="l"/>
                <a:tab pos="1441802" algn="l"/>
              </a:tabLst>
            </a:pPr>
            <a:endParaRPr lang="en-US" b="0" dirty="0">
              <a:latin typeface="Whitney-Book" pitchFamily="50" charset="0"/>
              <a:cs typeface="Whitney-Book" pitchFamily="50" charset="0"/>
            </a:endParaRPr>
          </a:p>
          <a:p>
            <a:pPr>
              <a:lnSpc>
                <a:spcPts val="2526"/>
              </a:lnSpc>
              <a:tabLst>
                <a:tab pos="481157" algn="l"/>
                <a:tab pos="962315" algn="l"/>
                <a:tab pos="1441802" algn="l"/>
              </a:tabLst>
            </a:pPr>
            <a:r>
              <a:rPr lang="en-US" b="0" dirty="0">
                <a:latin typeface="Whitney-Book" pitchFamily="50" charset="0"/>
                <a:cs typeface="Whitney-Book" pitchFamily="50" charset="0"/>
              </a:rPr>
              <a:t>  No (major) barriers to entry</a:t>
            </a:r>
          </a:p>
          <a:p>
            <a:pPr>
              <a:lnSpc>
                <a:spcPts val="2526"/>
              </a:lnSpc>
              <a:tabLst>
                <a:tab pos="481157" algn="l"/>
                <a:tab pos="962315" algn="l"/>
                <a:tab pos="1441802" algn="l"/>
              </a:tabLst>
            </a:pPr>
            <a:endParaRPr lang="en-US" b="0" dirty="0">
              <a:latin typeface="Whitney-Book" pitchFamily="50" charset="0"/>
              <a:cs typeface="Whitney-Book" pitchFamily="50" charset="0"/>
            </a:endParaRPr>
          </a:p>
          <a:p>
            <a:pPr>
              <a:lnSpc>
                <a:spcPts val="2526"/>
              </a:lnSpc>
              <a:tabLst>
                <a:tab pos="481157" algn="l"/>
                <a:tab pos="962315" algn="l"/>
                <a:tab pos="1441802" algn="l"/>
              </a:tabLst>
            </a:pPr>
            <a:r>
              <a:rPr lang="en-US" b="0" dirty="0">
                <a:latin typeface="Whitney-Book" pitchFamily="50" charset="0"/>
                <a:cs typeface="Whitney-Book" pitchFamily="50" charset="0"/>
              </a:rPr>
              <a:t>  Normal economic profit in long run; losses and </a:t>
            </a:r>
            <a:br>
              <a:rPr lang="en-US" b="0" dirty="0">
                <a:latin typeface="Whitney-Book" pitchFamily="50" charset="0"/>
                <a:cs typeface="Whitney-Book" pitchFamily="50" charset="0"/>
              </a:rPr>
            </a:br>
            <a:r>
              <a:rPr lang="en-US" b="0" dirty="0">
                <a:latin typeface="Whitney-Book" pitchFamily="50" charset="0"/>
                <a:cs typeface="Whitney-Book" pitchFamily="50" charset="0"/>
              </a:rPr>
              <a:t>  profits in short run only </a:t>
            </a:r>
          </a:p>
          <a:p>
            <a:pPr>
              <a:lnSpc>
                <a:spcPts val="2526"/>
              </a:lnSpc>
              <a:tabLst>
                <a:tab pos="481157" algn="l"/>
                <a:tab pos="962315" algn="l"/>
                <a:tab pos="1441802" algn="l"/>
              </a:tabLst>
            </a:pPr>
            <a:endParaRPr lang="en-US" b="0" dirty="0">
              <a:latin typeface="Whitney-Book" pitchFamily="50" charset="0"/>
              <a:cs typeface="Whitney-Book" pitchFamily="50" charset="0"/>
            </a:endParaRPr>
          </a:p>
          <a:p>
            <a:pPr>
              <a:lnSpc>
                <a:spcPts val="2526"/>
              </a:lnSpc>
              <a:tabLst>
                <a:tab pos="481157" algn="l"/>
                <a:tab pos="962315" algn="l"/>
                <a:tab pos="1441802" algn="l"/>
              </a:tabLst>
            </a:pPr>
            <a:r>
              <a:rPr lang="en-US" b="0" dirty="0">
                <a:latin typeface="Whitney-Book" pitchFamily="50" charset="0"/>
                <a:cs typeface="Whitney-Book" pitchFamily="50" charset="0"/>
              </a:rPr>
              <a:t>  Professional services (plumbers, gardeners);</a:t>
            </a:r>
          </a:p>
          <a:p>
            <a:pPr>
              <a:lnSpc>
                <a:spcPts val="2526"/>
              </a:lnSpc>
              <a:tabLst>
                <a:tab pos="481157" algn="l"/>
                <a:tab pos="962315" algn="l"/>
                <a:tab pos="1441802" algn="l"/>
              </a:tabLst>
            </a:pPr>
            <a:r>
              <a:rPr lang="en-US" b="0" dirty="0">
                <a:latin typeface="Whitney-Book" pitchFamily="50" charset="0"/>
                <a:cs typeface="Whitney-Book" pitchFamily="50" charset="0"/>
              </a:rPr>
              <a:t>  restaurants, gas stations; clothing</a:t>
            </a:r>
          </a:p>
          <a:p>
            <a:pPr>
              <a:lnSpc>
                <a:spcPts val="2526"/>
              </a:lnSpc>
              <a:tabLst>
                <a:tab pos="481157" algn="l"/>
                <a:tab pos="962315" algn="l"/>
                <a:tab pos="1441802" algn="l"/>
              </a:tabLst>
            </a:pPr>
            <a:endParaRPr lang="en-US" sz="2000" b="0" dirty="0">
              <a:latin typeface="Whitney-Book" pitchFamily="50" charset="0"/>
              <a:cs typeface="Whitney-Book" pitchFamily="50" charset="0"/>
            </a:endParaRPr>
          </a:p>
          <a:p>
            <a:pPr>
              <a:lnSpc>
                <a:spcPts val="2526"/>
              </a:lnSpc>
              <a:tabLst>
                <a:tab pos="481157" algn="l"/>
                <a:tab pos="962315" algn="l"/>
                <a:tab pos="1441802" algn="l"/>
              </a:tabLst>
            </a:pPr>
            <a:endParaRPr lang="en-US" sz="2000" b="0" dirty="0">
              <a:latin typeface="Whitney-Book" pitchFamily="50" charset="0"/>
              <a:cs typeface="Whitney-Book" pitchFamily="50" charset="0"/>
            </a:endParaRPr>
          </a:p>
          <a:p>
            <a:pPr>
              <a:lnSpc>
                <a:spcPts val="2526"/>
              </a:lnSpc>
              <a:tabLst>
                <a:tab pos="481157" algn="l"/>
                <a:tab pos="962315" algn="l"/>
                <a:tab pos="1441802" algn="l"/>
              </a:tabLst>
            </a:pPr>
            <a:endParaRPr lang="en-US" sz="2000" b="0" dirty="0">
              <a:latin typeface="Whitney-Book" pitchFamily="50" charset="0"/>
              <a:cs typeface="Whitney-Book" pitchFamily="50" charset="0"/>
            </a:endParaRPr>
          </a:p>
          <a:p>
            <a:pPr>
              <a:lnSpc>
                <a:spcPts val="2526"/>
              </a:lnSpc>
              <a:tabLst>
                <a:tab pos="481157" algn="l"/>
                <a:tab pos="962315" algn="l"/>
                <a:tab pos="1441802" algn="l"/>
              </a:tabLst>
            </a:pPr>
            <a:endParaRPr lang="en-US" sz="2000" b="0" dirty="0">
              <a:latin typeface="Whitney-Book" pitchFamily="50" charset="0"/>
              <a:cs typeface="Whitney-Book" pitchFamily="50" charset="0"/>
            </a:endParaRPr>
          </a:p>
          <a:p>
            <a:pPr>
              <a:lnSpc>
                <a:spcPts val="2526"/>
              </a:lnSpc>
              <a:tabLst>
                <a:tab pos="481157" algn="l"/>
                <a:tab pos="962315" algn="l"/>
                <a:tab pos="1441802" algn="l"/>
              </a:tabLst>
            </a:pPr>
            <a:endParaRPr lang="en-US" sz="2000" b="0" dirty="0">
              <a:latin typeface="Whitney-Book" pitchFamily="50" charset="0"/>
              <a:cs typeface="Whitney-Book" pitchFamily="50" charset="0"/>
            </a:endParaRPr>
          </a:p>
        </p:txBody>
      </p:sp>
      <p:sp>
        <p:nvSpPr>
          <p:cNvPr id="7" name="Rectangle 4"/>
          <p:cNvSpPr>
            <a:spLocks noChangeArrowheads="1"/>
          </p:cNvSpPr>
          <p:nvPr/>
        </p:nvSpPr>
        <p:spPr bwMode="auto">
          <a:xfrm>
            <a:off x="381000" y="2133600"/>
            <a:ext cx="3580774" cy="4724400"/>
          </a:xfrm>
          <a:prstGeom prst="rect">
            <a:avLst/>
          </a:prstGeom>
          <a:noFill/>
          <a:ln w="9525">
            <a:noFill/>
            <a:miter lim="800000"/>
            <a:headEnd/>
            <a:tailEnd/>
          </a:ln>
          <a:effectLst/>
        </p:spPr>
        <p:txBody>
          <a:bodyPr wrap="none" lIns="20045" tIns="28397" rIns="20045" bIns="28397"/>
          <a:lstStyle/>
          <a:p>
            <a:pPr>
              <a:lnSpc>
                <a:spcPts val="2526"/>
              </a:lnSpc>
              <a:tabLst>
                <a:tab pos="481157" algn="l"/>
                <a:tab pos="962315" algn="l"/>
                <a:tab pos="1441802" algn="l"/>
              </a:tabLst>
            </a:pPr>
            <a:r>
              <a:rPr lang="en-US" b="0" dirty="0">
                <a:latin typeface="Whitney-Book" pitchFamily="50" charset="0"/>
                <a:cs typeface="Whitney-Book" pitchFamily="50" charset="0"/>
              </a:rPr>
              <a:t>Number of actual or potential </a:t>
            </a:r>
            <a:br>
              <a:rPr lang="en-US" b="0" dirty="0">
                <a:latin typeface="Whitney-Book" pitchFamily="50" charset="0"/>
                <a:cs typeface="Whitney-Book" pitchFamily="50" charset="0"/>
              </a:rPr>
            </a:br>
            <a:r>
              <a:rPr lang="en-US" b="0" dirty="0">
                <a:latin typeface="Whitney-Book" pitchFamily="50" charset="0"/>
                <a:cs typeface="Whitney-Book" pitchFamily="50" charset="0"/>
              </a:rPr>
              <a:t>competitors</a:t>
            </a:r>
          </a:p>
          <a:p>
            <a:pPr>
              <a:lnSpc>
                <a:spcPts val="2526"/>
              </a:lnSpc>
              <a:tabLst>
                <a:tab pos="481157" algn="l"/>
                <a:tab pos="962315" algn="l"/>
                <a:tab pos="1441802" algn="l"/>
              </a:tabLst>
            </a:pPr>
            <a:endParaRPr lang="en-US" b="0" dirty="0">
              <a:latin typeface="Whitney-Book" pitchFamily="50" charset="0"/>
              <a:cs typeface="Whitney-Book" pitchFamily="50" charset="0"/>
            </a:endParaRPr>
          </a:p>
          <a:p>
            <a:pPr>
              <a:lnSpc>
                <a:spcPts val="2526"/>
              </a:lnSpc>
              <a:tabLst>
                <a:tab pos="481157" algn="l"/>
                <a:tab pos="962315" algn="l"/>
                <a:tab pos="1441802" algn="l"/>
              </a:tabLst>
            </a:pPr>
            <a:r>
              <a:rPr lang="en-US" b="0" dirty="0">
                <a:latin typeface="Whitney-Book" pitchFamily="50" charset="0"/>
                <a:cs typeface="Whitney-Book" pitchFamily="50" charset="0"/>
              </a:rPr>
              <a:t>Product differentiation</a:t>
            </a:r>
          </a:p>
          <a:p>
            <a:pPr>
              <a:lnSpc>
                <a:spcPts val="2526"/>
              </a:lnSpc>
              <a:tabLst>
                <a:tab pos="481157" algn="l"/>
                <a:tab pos="962315" algn="l"/>
                <a:tab pos="1441802" algn="l"/>
              </a:tabLst>
            </a:pPr>
            <a:endParaRPr lang="en-US" b="0" dirty="0">
              <a:latin typeface="Whitney-Book" pitchFamily="50" charset="0"/>
              <a:cs typeface="Whitney-Book" pitchFamily="50" charset="0"/>
            </a:endParaRPr>
          </a:p>
          <a:p>
            <a:pPr>
              <a:lnSpc>
                <a:spcPts val="2526"/>
              </a:lnSpc>
              <a:tabLst>
                <a:tab pos="481157" algn="l"/>
                <a:tab pos="962315" algn="l"/>
                <a:tab pos="1441802" algn="l"/>
              </a:tabLst>
            </a:pPr>
            <a:endParaRPr lang="en-US" b="0" dirty="0">
              <a:latin typeface="Whitney-Book" pitchFamily="50" charset="0"/>
              <a:cs typeface="Whitney-Book" pitchFamily="50" charset="0"/>
            </a:endParaRPr>
          </a:p>
          <a:p>
            <a:pPr>
              <a:lnSpc>
                <a:spcPts val="2526"/>
              </a:lnSpc>
              <a:tabLst>
                <a:tab pos="481157" algn="l"/>
                <a:tab pos="962315" algn="l"/>
                <a:tab pos="1441802" algn="l"/>
              </a:tabLst>
            </a:pPr>
            <a:r>
              <a:rPr lang="en-US" b="0" dirty="0">
                <a:latin typeface="Whitney-Book" pitchFamily="50" charset="0"/>
                <a:cs typeface="Whitney-Book" pitchFamily="50" charset="0"/>
              </a:rPr>
              <a:t>Entry conditions</a:t>
            </a:r>
          </a:p>
          <a:p>
            <a:pPr>
              <a:lnSpc>
                <a:spcPts val="2526"/>
              </a:lnSpc>
              <a:tabLst>
                <a:tab pos="481157" algn="l"/>
                <a:tab pos="962315" algn="l"/>
                <a:tab pos="1441802" algn="l"/>
              </a:tabLst>
            </a:pPr>
            <a:endParaRPr lang="en-US" b="0" dirty="0">
              <a:latin typeface="Whitney-Book" pitchFamily="50" charset="0"/>
              <a:cs typeface="Whitney-Book" pitchFamily="50" charset="0"/>
            </a:endParaRPr>
          </a:p>
          <a:p>
            <a:pPr>
              <a:lnSpc>
                <a:spcPts val="2526"/>
              </a:lnSpc>
              <a:tabLst>
                <a:tab pos="481157" algn="l"/>
                <a:tab pos="962315" algn="l"/>
                <a:tab pos="1441802" algn="l"/>
              </a:tabLst>
            </a:pPr>
            <a:r>
              <a:rPr lang="en-US" b="0" dirty="0">
                <a:latin typeface="Whitney-Book" pitchFamily="50" charset="0"/>
                <a:cs typeface="Whitney-Book" pitchFamily="50" charset="0"/>
              </a:rPr>
              <a:t>Profit potential</a:t>
            </a:r>
          </a:p>
          <a:p>
            <a:pPr>
              <a:lnSpc>
                <a:spcPts val="2526"/>
              </a:lnSpc>
              <a:tabLst>
                <a:tab pos="481157" algn="l"/>
                <a:tab pos="962315" algn="l"/>
                <a:tab pos="1441802" algn="l"/>
              </a:tabLst>
            </a:pPr>
            <a:endParaRPr lang="en-US" b="0" dirty="0">
              <a:latin typeface="Whitney-Book" pitchFamily="50" charset="0"/>
              <a:cs typeface="Whitney-Book" pitchFamily="50" charset="0"/>
            </a:endParaRPr>
          </a:p>
          <a:p>
            <a:pPr>
              <a:lnSpc>
                <a:spcPts val="2526"/>
              </a:lnSpc>
              <a:tabLst>
                <a:tab pos="481157" algn="l"/>
                <a:tab pos="962315" algn="l"/>
                <a:tab pos="1441802" algn="l"/>
              </a:tabLst>
            </a:pPr>
            <a:endParaRPr lang="en-US" b="0" dirty="0">
              <a:latin typeface="Whitney-Book" pitchFamily="50" charset="0"/>
              <a:cs typeface="Whitney-Book" pitchFamily="50" charset="0"/>
            </a:endParaRPr>
          </a:p>
          <a:p>
            <a:pPr>
              <a:lnSpc>
                <a:spcPts val="2526"/>
              </a:lnSpc>
              <a:tabLst>
                <a:tab pos="481157" algn="l"/>
                <a:tab pos="962315" algn="l"/>
                <a:tab pos="1441802" algn="l"/>
              </a:tabLst>
            </a:pPr>
            <a:r>
              <a:rPr lang="en-US" b="0" dirty="0">
                <a:latin typeface="Whitney-Book" pitchFamily="50" charset="0"/>
                <a:cs typeface="Whitney-Book" pitchFamily="50" charset="0"/>
              </a:rPr>
              <a:t>Examples</a:t>
            </a:r>
          </a:p>
          <a:p>
            <a:pPr>
              <a:lnSpc>
                <a:spcPts val="2526"/>
              </a:lnSpc>
              <a:tabLst>
                <a:tab pos="481157" algn="l"/>
                <a:tab pos="962315" algn="l"/>
                <a:tab pos="1441802" algn="l"/>
              </a:tabLst>
            </a:pPr>
            <a:endParaRPr lang="en-US" sz="2000" b="0" dirty="0">
              <a:latin typeface="Whitney-Book" pitchFamily="50" charset="0"/>
              <a:cs typeface="Whitney-Book" pitchFamily="50" charset="0"/>
            </a:endParaRPr>
          </a:p>
          <a:p>
            <a:pPr>
              <a:lnSpc>
                <a:spcPts val="2526"/>
              </a:lnSpc>
              <a:tabLst>
                <a:tab pos="481157" algn="l"/>
                <a:tab pos="962315" algn="l"/>
                <a:tab pos="1441802" algn="l"/>
              </a:tabLst>
            </a:pPr>
            <a:endParaRPr lang="en-US" sz="2000" b="0" dirty="0">
              <a:latin typeface="Whitney-Book" pitchFamily="50" charset="0"/>
              <a:cs typeface="Whitney-Book" pitchFamily="50" charset="0"/>
            </a:endParaRPr>
          </a:p>
          <a:p>
            <a:pPr>
              <a:lnSpc>
                <a:spcPts val="2526"/>
              </a:lnSpc>
              <a:tabLst>
                <a:tab pos="481157" algn="l"/>
                <a:tab pos="962315" algn="l"/>
                <a:tab pos="1441802" algn="l"/>
              </a:tabLst>
            </a:pPr>
            <a:endParaRPr lang="en-US" sz="2000" b="0" dirty="0">
              <a:latin typeface="Whitney-Book" pitchFamily="50" charset="0"/>
              <a:cs typeface="Whitney-Book" pitchFamily="50" charset="0"/>
            </a:endParaRPr>
          </a:p>
          <a:p>
            <a:pPr>
              <a:lnSpc>
                <a:spcPts val="2526"/>
              </a:lnSpc>
              <a:tabLst>
                <a:tab pos="481157" algn="l"/>
                <a:tab pos="962315" algn="l"/>
                <a:tab pos="1441802" algn="l"/>
              </a:tabLst>
            </a:pPr>
            <a:endParaRPr lang="en-US" sz="2000" b="0" dirty="0">
              <a:latin typeface="Whitney-Book" pitchFamily="50" charset="0"/>
              <a:cs typeface="Whitney-Book" pitchFamily="50" charset="0"/>
            </a:endParaRPr>
          </a:p>
          <a:p>
            <a:pPr>
              <a:lnSpc>
                <a:spcPts val="2526"/>
              </a:lnSpc>
              <a:tabLst>
                <a:tab pos="481157" algn="l"/>
                <a:tab pos="962315" algn="l"/>
                <a:tab pos="1441802" algn="l"/>
              </a:tabLst>
            </a:pPr>
            <a:endParaRPr lang="en-US" sz="2000" b="0" dirty="0">
              <a:latin typeface="Whitney-Book" pitchFamily="50" charset="0"/>
              <a:cs typeface="Whitney-Book" pitchFamily="50" charset="0"/>
            </a:endParaRPr>
          </a:p>
        </p:txBody>
      </p:sp>
      <p:sp>
        <p:nvSpPr>
          <p:cNvPr id="8" name="Rectangle 6"/>
          <p:cNvSpPr>
            <a:spLocks noChangeArrowheads="1"/>
          </p:cNvSpPr>
          <p:nvPr/>
        </p:nvSpPr>
        <p:spPr bwMode="auto">
          <a:xfrm>
            <a:off x="2020530" y="1219200"/>
            <a:ext cx="5050494" cy="615172"/>
          </a:xfrm>
          <a:prstGeom prst="rect">
            <a:avLst/>
          </a:prstGeom>
          <a:noFill/>
          <a:ln w="9525">
            <a:noFill/>
            <a:miter lim="800000"/>
            <a:headEnd/>
            <a:tailEnd/>
          </a:ln>
          <a:effectLst/>
        </p:spPr>
        <p:txBody>
          <a:bodyPr wrap="none" lIns="20045" tIns="28397" rIns="20045" bIns="28397"/>
          <a:lstStyle/>
          <a:p>
            <a:pPr algn="ctr">
              <a:lnSpc>
                <a:spcPts val="3789"/>
              </a:lnSpc>
              <a:tabLst>
                <a:tab pos="962315" algn="l"/>
                <a:tab pos="1924629" algn="l"/>
                <a:tab pos="2886944" algn="l"/>
                <a:tab pos="3847588" algn="l"/>
                <a:tab pos="4809903" algn="l"/>
                <a:tab pos="5773887" algn="l"/>
                <a:tab pos="6734532" algn="l"/>
              </a:tabLst>
            </a:pPr>
            <a:r>
              <a:rPr lang="en-US" sz="3200" b="0" dirty="0">
                <a:latin typeface="Whitney-Book" pitchFamily="50" charset="0"/>
                <a:cs typeface="Whitney-Book" pitchFamily="50" charset="0"/>
              </a:rPr>
              <a:t>Monopolistic Competition</a:t>
            </a:r>
          </a:p>
        </p:txBody>
      </p:sp>
      <p:sp>
        <p:nvSpPr>
          <p:cNvPr id="9" name="Line 7"/>
          <p:cNvSpPr>
            <a:spLocks noChangeShapeType="1"/>
          </p:cNvSpPr>
          <p:nvPr/>
        </p:nvSpPr>
        <p:spPr bwMode="auto">
          <a:xfrm>
            <a:off x="304800" y="1981200"/>
            <a:ext cx="8818323" cy="0"/>
          </a:xfrm>
          <a:prstGeom prst="line">
            <a:avLst/>
          </a:prstGeom>
          <a:noFill/>
          <a:ln w="50800">
            <a:solidFill>
              <a:schemeClr val="accent1"/>
            </a:solidFill>
            <a:round/>
            <a:headEnd type="none" w="sm" len="sm"/>
            <a:tailEnd type="none" w="sm" len="sm"/>
          </a:ln>
          <a:effectLst/>
        </p:spPr>
        <p:txBody>
          <a:bodyPr wrap="none" lIns="96231" tIns="48116" rIns="96231" bIns="48116" anchor="ctr"/>
          <a:lstStyle/>
          <a:p>
            <a:endParaRPr lang="en-US" b="0">
              <a:latin typeface="+mn-lt"/>
              <a:cs typeface="Times New Roman" pitchFamily="18" charset="0"/>
            </a:endParaRPr>
          </a:p>
        </p:txBody>
      </p:sp>
      <p:sp>
        <p:nvSpPr>
          <p:cNvPr id="10" name="Line 8"/>
          <p:cNvSpPr>
            <a:spLocks noChangeShapeType="1"/>
          </p:cNvSpPr>
          <p:nvPr/>
        </p:nvSpPr>
        <p:spPr bwMode="auto">
          <a:xfrm>
            <a:off x="304800" y="6705600"/>
            <a:ext cx="8818323" cy="0"/>
          </a:xfrm>
          <a:prstGeom prst="line">
            <a:avLst/>
          </a:prstGeom>
          <a:noFill/>
          <a:ln w="50800">
            <a:solidFill>
              <a:schemeClr val="accent1"/>
            </a:solidFill>
            <a:round/>
            <a:headEnd type="none" w="sm" len="sm"/>
            <a:tailEnd type="none" w="sm" len="sm"/>
          </a:ln>
          <a:effectLst/>
        </p:spPr>
        <p:txBody>
          <a:bodyPr wrap="none" lIns="96231" tIns="48116" rIns="96231" bIns="48116" anchor="ctr"/>
          <a:lstStyle/>
          <a:p>
            <a:endParaRPr lang="en-US" b="0">
              <a:latin typeface="+mn-lt"/>
              <a:cs typeface="Times New Roman" pitchFamily="18" charset="0"/>
            </a:endParaRPr>
          </a:p>
        </p:txBody>
      </p:sp>
      <p:sp>
        <p:nvSpPr>
          <p:cNvPr id="4" name="Rectangle 3">
            <a:extLst>
              <a:ext uri="{FF2B5EF4-FFF2-40B4-BE49-F238E27FC236}">
                <a16:creationId xmlns:a16="http://schemas.microsoft.com/office/drawing/2014/main" id="{2E7326F0-FA16-4358-9FE4-FB1647D7C7B9}"/>
              </a:ext>
            </a:extLst>
          </p:cNvPr>
          <p:cNvSpPr/>
          <p:nvPr/>
        </p:nvSpPr>
        <p:spPr>
          <a:xfrm>
            <a:off x="4343399" y="3947532"/>
            <a:ext cx="2876107" cy="524088"/>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5F462E7E-87A8-40E9-95BB-D56E440BFE81}"/>
              </a:ext>
            </a:extLst>
          </p:cNvPr>
          <p:cNvSpPr txBox="1"/>
          <p:nvPr/>
        </p:nvSpPr>
        <p:spPr>
          <a:xfrm>
            <a:off x="5583973" y="3394143"/>
            <a:ext cx="3869316" cy="646331"/>
          </a:xfrm>
          <a:prstGeom prst="rect">
            <a:avLst/>
          </a:prstGeom>
          <a:noFill/>
        </p:spPr>
        <p:txBody>
          <a:bodyPr wrap="square" rtlCol="0">
            <a:spAutoFit/>
          </a:bodyPr>
          <a:lstStyle/>
          <a:p>
            <a:r>
              <a:rPr lang="fr-FR" dirty="0">
                <a:latin typeface="Whitney Book" pitchFamily="50" charset="0"/>
                <a:cs typeface="Whitney Book" pitchFamily="50" charset="0"/>
              </a:rPr>
              <a:t>(How to </a:t>
            </a:r>
            <a:r>
              <a:rPr lang="fr-FR" dirty="0" err="1">
                <a:latin typeface="Whitney Book" pitchFamily="50" charset="0"/>
                <a:cs typeface="Whitney Book" pitchFamily="50" charset="0"/>
              </a:rPr>
              <a:t>get</a:t>
            </a:r>
            <a:r>
              <a:rPr lang="fr-FR" dirty="0">
                <a:latin typeface="Whitney Book" pitchFamily="50" charset="0"/>
                <a:cs typeface="Whitney Book" pitchFamily="50" charset="0"/>
              </a:rPr>
              <a:t> </a:t>
            </a:r>
            <a:r>
              <a:rPr lang="fr-FR" dirty="0" err="1">
                <a:latin typeface="Whitney Book" pitchFamily="50" charset="0"/>
                <a:cs typeface="Whitney Book" pitchFamily="50" charset="0"/>
              </a:rPr>
              <a:t>market</a:t>
            </a:r>
            <a:r>
              <a:rPr lang="fr-FR" dirty="0">
                <a:latin typeface="Whitney Book" pitchFamily="50" charset="0"/>
                <a:cs typeface="Whitney Book" pitchFamily="50" charset="0"/>
              </a:rPr>
              <a:t> power: </a:t>
            </a:r>
            <a:r>
              <a:rPr lang="en-US" dirty="0">
                <a:latin typeface="Whitney Book" pitchFamily="50" charset="0"/>
                <a:cs typeface="Whitney Book" pitchFamily="50" charset="0"/>
                <a:hlinkClick r:id="rId3"/>
              </a:rPr>
              <a:t>Palessi</a:t>
            </a:r>
            <a:r>
              <a:rPr lang="en-US" dirty="0">
                <a:latin typeface="Whitney Book" pitchFamily="50" charset="0"/>
                <a:cs typeface="Whitney Book" pitchFamily="50" charset="0"/>
              </a:rPr>
              <a:t>)</a:t>
            </a:r>
          </a:p>
          <a:p>
            <a:endParaRPr lang="en-US" dirty="0">
              <a:latin typeface="Whitney Book" pitchFamily="50" charset="0"/>
              <a:cs typeface="Whitney Book" pitchFamily="50" charset="0"/>
            </a:endParaRPr>
          </a:p>
        </p:txBody>
      </p:sp>
    </p:spTree>
    <p:extLst>
      <p:ext uri="{BB962C8B-B14F-4D97-AF65-F5344CB8AC3E}">
        <p14:creationId xmlns:p14="http://schemas.microsoft.com/office/powerpoint/2010/main" val="617860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5"/>
          <p:cNvSpPr txBox="1">
            <a:spLocks noGrp="1"/>
          </p:cNvSpPr>
          <p:nvPr>
            <p:ph type="title"/>
          </p:nvPr>
        </p:nvSpPr>
        <p:spPr>
          <a:xfrm>
            <a:off x="5301550" y="1787299"/>
            <a:ext cx="3426900" cy="1482300"/>
          </a:xfrm>
          <a:prstGeom prst="rect">
            <a:avLst/>
          </a:prstGeom>
        </p:spPr>
        <p:txBody>
          <a:bodyPr spcFirstLastPara="1" vert="horz" wrap="square" lIns="91425" tIns="91425" rIns="91425" bIns="91425" rtlCol="0" anchor="t" anchorCtr="0">
            <a:noAutofit/>
          </a:bodyPr>
          <a:lstStyle/>
          <a:p>
            <a:pPr algn="l">
              <a:buSzPts val="990"/>
            </a:pPr>
            <a:r>
              <a:rPr lang="en-US" sz="2180" dirty="0"/>
              <a:t>MONOPOLISTIC COMPETITION EXAMPLE: </a:t>
            </a:r>
            <a:endParaRPr sz="2180" dirty="0"/>
          </a:p>
          <a:p>
            <a:pPr algn="l">
              <a:buSzPts val="990"/>
            </a:pPr>
            <a:endParaRPr sz="2180" dirty="0"/>
          </a:p>
          <a:p>
            <a:pPr algn="l">
              <a:buSzPts val="990"/>
            </a:pPr>
            <a:endParaRPr sz="2180" dirty="0"/>
          </a:p>
        </p:txBody>
      </p:sp>
      <p:sp>
        <p:nvSpPr>
          <p:cNvPr id="327" name="Google Shape;327;p25"/>
          <p:cNvSpPr txBox="1">
            <a:spLocks noGrp="1"/>
          </p:cNvSpPr>
          <p:nvPr>
            <p:ph type="subTitle" idx="2"/>
          </p:nvPr>
        </p:nvSpPr>
        <p:spPr>
          <a:xfrm>
            <a:off x="5301550" y="4002875"/>
            <a:ext cx="3426900" cy="1235100"/>
          </a:xfrm>
          <a:prstGeom prst="rect">
            <a:avLst/>
          </a:prstGeom>
        </p:spPr>
        <p:txBody>
          <a:bodyPr spcFirstLastPara="1" vert="horz" wrap="square" lIns="91425" tIns="91425" rIns="91425" bIns="91425" rtlCol="0" anchor="t" anchorCtr="0">
            <a:normAutofit/>
          </a:bodyPr>
          <a:lstStyle/>
          <a:p>
            <a:pPr marL="0" indent="0"/>
            <a:r>
              <a:rPr lang="en-US" dirty="0"/>
              <a:t>Gas Stations – Product differentiation by location</a:t>
            </a:r>
            <a:endParaRPr dirty="0"/>
          </a:p>
        </p:txBody>
      </p:sp>
      <p:pic>
        <p:nvPicPr>
          <p:cNvPr id="328" name="Google Shape;328;p25"/>
          <p:cNvPicPr preferRelativeResize="0"/>
          <p:nvPr/>
        </p:nvPicPr>
        <p:blipFill>
          <a:blip r:embed="rId3">
            <a:alphaModFix/>
          </a:blip>
          <a:stretch>
            <a:fillRect/>
          </a:stretch>
        </p:blipFill>
        <p:spPr>
          <a:xfrm>
            <a:off x="338328" y="1765555"/>
            <a:ext cx="3886198" cy="341430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5477A-C832-4A12-98E3-90FA83320CA5}"/>
              </a:ext>
            </a:extLst>
          </p:cNvPr>
          <p:cNvSpPr>
            <a:spLocks noGrp="1"/>
          </p:cNvSpPr>
          <p:nvPr>
            <p:ph type="title"/>
          </p:nvPr>
        </p:nvSpPr>
        <p:spPr/>
        <p:txBody>
          <a:bodyPr>
            <a:normAutofit fontScale="90000"/>
          </a:bodyPr>
          <a:lstStyle/>
          <a:p>
            <a:r>
              <a:rPr lang="fr-FR" dirty="0" err="1"/>
              <a:t>Monopolistic</a:t>
            </a:r>
            <a:r>
              <a:rPr lang="fr-FR" dirty="0"/>
              <a:t> </a:t>
            </a:r>
            <a:r>
              <a:rPr lang="fr-FR" dirty="0" err="1"/>
              <a:t>competition</a:t>
            </a:r>
            <a:r>
              <a:rPr lang="fr-FR" dirty="0"/>
              <a:t>: the </a:t>
            </a:r>
            <a:r>
              <a:rPr lang="fr-FR" dirty="0" err="1"/>
              <a:t>role</a:t>
            </a:r>
            <a:r>
              <a:rPr lang="fr-FR" dirty="0"/>
              <a:t> of entry</a:t>
            </a:r>
            <a:endParaRPr lang="en-US" dirty="0"/>
          </a:p>
        </p:txBody>
      </p:sp>
      <p:sp>
        <p:nvSpPr>
          <p:cNvPr id="3" name="Content Placeholder 2">
            <a:extLst>
              <a:ext uri="{FF2B5EF4-FFF2-40B4-BE49-F238E27FC236}">
                <a16:creationId xmlns:a16="http://schemas.microsoft.com/office/drawing/2014/main" id="{4B827D23-1AE5-4A0C-B548-E6EBFC835E2B}"/>
              </a:ext>
            </a:extLst>
          </p:cNvPr>
          <p:cNvSpPr>
            <a:spLocks noGrp="1"/>
          </p:cNvSpPr>
          <p:nvPr>
            <p:ph type="body" idx="1"/>
          </p:nvPr>
        </p:nvSpPr>
        <p:spPr/>
        <p:txBody>
          <a:bodyPr/>
          <a:lstStyle/>
          <a:p>
            <a:r>
              <a:rPr lang="fr-FR" dirty="0" err="1"/>
              <a:t>Monopolistic</a:t>
            </a:r>
            <a:r>
              <a:rPr lang="fr-FR" dirty="0"/>
              <a:t> </a:t>
            </a:r>
            <a:r>
              <a:rPr lang="fr-FR" dirty="0" err="1"/>
              <a:t>competition</a:t>
            </a:r>
            <a:endParaRPr lang="fr-FR" dirty="0"/>
          </a:p>
          <a:p>
            <a:pPr lvl="1"/>
            <a:r>
              <a:rPr lang="fr-FR" dirty="0"/>
              <a:t>Large </a:t>
            </a:r>
            <a:r>
              <a:rPr lang="fr-FR" dirty="0" err="1"/>
              <a:t>number</a:t>
            </a:r>
            <a:r>
              <a:rPr lang="fr-FR" dirty="0"/>
              <a:t> of </a:t>
            </a:r>
            <a:r>
              <a:rPr lang="fr-FR" dirty="0" err="1"/>
              <a:t>firms</a:t>
            </a:r>
            <a:endParaRPr lang="fr-FR" dirty="0"/>
          </a:p>
          <a:p>
            <a:pPr lvl="1"/>
            <a:r>
              <a:rPr lang="fr-FR" dirty="0"/>
              <a:t>No (major) entry </a:t>
            </a:r>
            <a:r>
              <a:rPr lang="fr-FR" dirty="0" err="1"/>
              <a:t>barriers</a:t>
            </a:r>
            <a:endParaRPr lang="fr-FR" dirty="0"/>
          </a:p>
          <a:p>
            <a:pPr lvl="1"/>
            <a:endParaRPr lang="fr-FR" sz="1200" dirty="0"/>
          </a:p>
          <a:p>
            <a:r>
              <a:rPr lang="fr-FR" dirty="0">
                <a:solidFill>
                  <a:srgbClr val="C00000"/>
                </a:solidFill>
              </a:rPr>
              <a:t>Short run</a:t>
            </a:r>
            <a:r>
              <a:rPr lang="fr-FR" dirty="0"/>
              <a:t>: </a:t>
            </a:r>
            <a:r>
              <a:rPr lang="fr-FR" dirty="0" err="1"/>
              <a:t>economic</a:t>
            </a:r>
            <a:r>
              <a:rPr lang="fr-FR" dirty="0"/>
              <a:t> profits possible</a:t>
            </a:r>
          </a:p>
          <a:p>
            <a:pPr lvl="1"/>
            <a:endParaRPr lang="fr-FR" sz="1100" dirty="0"/>
          </a:p>
          <a:p>
            <a:r>
              <a:rPr lang="fr-FR" dirty="0">
                <a:solidFill>
                  <a:srgbClr val="0070C0"/>
                </a:solidFill>
              </a:rPr>
              <a:t>Long run</a:t>
            </a:r>
            <a:r>
              <a:rPr lang="fr-FR" dirty="0"/>
              <a:t>: entry </a:t>
            </a:r>
            <a:r>
              <a:rPr lang="fr-FR" dirty="0" err="1"/>
              <a:t>erodes</a:t>
            </a:r>
            <a:r>
              <a:rPr lang="fr-FR" dirty="0"/>
              <a:t> </a:t>
            </a:r>
            <a:r>
              <a:rPr lang="fr-FR" dirty="0" err="1"/>
              <a:t>economic</a:t>
            </a:r>
            <a:r>
              <a:rPr lang="fr-FR" dirty="0"/>
              <a:t> profits</a:t>
            </a:r>
          </a:p>
        </p:txBody>
      </p:sp>
    </p:spTree>
    <p:extLst>
      <p:ext uri="{BB962C8B-B14F-4D97-AF65-F5344CB8AC3E}">
        <p14:creationId xmlns:p14="http://schemas.microsoft.com/office/powerpoint/2010/main" val="1219636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normAutofit fontScale="90000"/>
          </a:bodyPr>
          <a:lstStyle/>
          <a:p>
            <a:r>
              <a:rPr lang="en-US" dirty="0">
                <a:latin typeface="Whitney-Medium" pitchFamily="50" charset="0"/>
                <a:cs typeface="Whitney-Medium" pitchFamily="50" charset="0"/>
              </a:rPr>
              <a:t>Monopolistic Competition: Short run</a:t>
            </a:r>
          </a:p>
        </p:txBody>
      </p:sp>
      <p:sp>
        <p:nvSpPr>
          <p:cNvPr id="11" name="Slide Number Placeholder 10"/>
          <p:cNvSpPr>
            <a:spLocks noGrp="1"/>
          </p:cNvSpPr>
          <p:nvPr>
            <p:ph type="sldNum" sz="quarter" idx="12"/>
          </p:nvPr>
        </p:nvSpPr>
        <p:spPr/>
        <p:txBody>
          <a:bodyPr/>
          <a:lstStyle/>
          <a:p>
            <a:fld id="{0F3206DB-9488-D04D-BDD1-A7C9D84C4579}" type="slidenum">
              <a:rPr lang="en-US" smtClean="0"/>
              <a:t>51</a:t>
            </a:fld>
            <a:endParaRPr lang="en-US"/>
          </a:p>
        </p:txBody>
      </p:sp>
      <p:grpSp>
        <p:nvGrpSpPr>
          <p:cNvPr id="2" name="Group 35"/>
          <p:cNvGrpSpPr>
            <a:grpSpLocks/>
          </p:cNvGrpSpPr>
          <p:nvPr/>
        </p:nvGrpSpPr>
        <p:grpSpPr bwMode="auto">
          <a:xfrm>
            <a:off x="1107771" y="1870827"/>
            <a:ext cx="6939419" cy="3881917"/>
            <a:chOff x="336" y="1259"/>
            <a:chExt cx="4432" cy="2477"/>
          </a:xfrm>
        </p:grpSpPr>
        <p:sp>
          <p:nvSpPr>
            <p:cNvPr id="64517" name="Line 5"/>
            <p:cNvSpPr>
              <a:spLocks noChangeShapeType="1"/>
            </p:cNvSpPr>
            <p:nvPr/>
          </p:nvSpPr>
          <p:spPr bwMode="auto">
            <a:xfrm>
              <a:off x="512" y="1368"/>
              <a:ext cx="0" cy="2160"/>
            </a:xfrm>
            <a:prstGeom prst="line">
              <a:avLst/>
            </a:prstGeom>
            <a:noFill/>
            <a:ln w="44450">
              <a:solidFill>
                <a:schemeClr val="tx1"/>
              </a:solidFill>
              <a:round/>
              <a:headEnd type="arrow" w="sm" len="sm"/>
              <a:tailEnd type="none" w="sm" len="sm"/>
            </a:ln>
            <a:effectLst/>
          </p:spPr>
          <p:txBody>
            <a:bodyPr wrap="none" anchor="ctr"/>
            <a:lstStyle/>
            <a:p>
              <a:endParaRPr lang="en-US" sz="2625">
                <a:solidFill>
                  <a:schemeClr val="bg1"/>
                </a:solidFill>
                <a:latin typeface="Whitney-Book" pitchFamily="50" charset="0"/>
                <a:cs typeface="Whitney-Book" pitchFamily="50" charset="0"/>
              </a:endParaRPr>
            </a:p>
          </p:txBody>
        </p:sp>
        <p:sp>
          <p:nvSpPr>
            <p:cNvPr id="64518" name="Line 6"/>
            <p:cNvSpPr>
              <a:spLocks noChangeShapeType="1"/>
            </p:cNvSpPr>
            <p:nvPr/>
          </p:nvSpPr>
          <p:spPr bwMode="auto">
            <a:xfrm flipV="1">
              <a:off x="496" y="3528"/>
              <a:ext cx="3864" cy="4"/>
            </a:xfrm>
            <a:prstGeom prst="line">
              <a:avLst/>
            </a:prstGeom>
            <a:noFill/>
            <a:ln w="44450">
              <a:solidFill>
                <a:schemeClr val="tx1"/>
              </a:solidFill>
              <a:round/>
              <a:headEnd type="none" w="sm" len="sm"/>
              <a:tailEnd type="arrow" w="sm" len="sm"/>
            </a:ln>
            <a:effectLst/>
          </p:spPr>
          <p:txBody>
            <a:bodyPr wrap="none" anchor="ctr"/>
            <a:lstStyle/>
            <a:p>
              <a:endParaRPr lang="en-US" sz="2625">
                <a:solidFill>
                  <a:schemeClr val="bg1"/>
                </a:solidFill>
                <a:latin typeface="Whitney-Book" pitchFamily="50" charset="0"/>
                <a:cs typeface="Whitney-Book" pitchFamily="50" charset="0"/>
              </a:endParaRPr>
            </a:p>
          </p:txBody>
        </p:sp>
        <p:sp>
          <p:nvSpPr>
            <p:cNvPr id="64519" name="Rectangle 7"/>
            <p:cNvSpPr>
              <a:spLocks noChangeArrowheads="1"/>
            </p:cNvSpPr>
            <p:nvPr/>
          </p:nvSpPr>
          <p:spPr bwMode="auto">
            <a:xfrm>
              <a:off x="4400" y="3448"/>
              <a:ext cx="368" cy="288"/>
            </a:xfrm>
            <a:prstGeom prst="rect">
              <a:avLst/>
            </a:prstGeom>
            <a:noFill/>
            <a:ln w="9525">
              <a:noFill/>
              <a:miter lim="800000"/>
              <a:headEnd/>
              <a:tailEnd/>
            </a:ln>
            <a:effectLst/>
          </p:spPr>
          <p:txBody>
            <a:bodyPr wrap="none" lIns="17859" tIns="25301" rIns="17859" bIns="25301"/>
            <a:lstStyle/>
            <a:p>
              <a:pPr>
                <a:lnSpc>
                  <a:spcPts val="2763"/>
                </a:lnSpc>
                <a:tabLst>
                  <a:tab pos="451085" algn="l"/>
                  <a:tab pos="902170" algn="l"/>
                  <a:tab pos="1353255" algn="l"/>
                </a:tabLst>
              </a:pPr>
              <a:r>
                <a:rPr lang="en-US" sz="2625" i="1" dirty="0">
                  <a:latin typeface="Whitney-Book" pitchFamily="50" charset="0"/>
                  <a:cs typeface="Whitney-Book" pitchFamily="50" charset="0"/>
                </a:rPr>
                <a:t>Q</a:t>
              </a:r>
            </a:p>
          </p:txBody>
        </p:sp>
        <p:sp>
          <p:nvSpPr>
            <p:cNvPr id="64520" name="Rectangle 8"/>
            <p:cNvSpPr>
              <a:spLocks noChangeArrowheads="1"/>
            </p:cNvSpPr>
            <p:nvPr/>
          </p:nvSpPr>
          <p:spPr bwMode="auto">
            <a:xfrm>
              <a:off x="336" y="1259"/>
              <a:ext cx="384" cy="288"/>
            </a:xfrm>
            <a:prstGeom prst="rect">
              <a:avLst/>
            </a:prstGeom>
            <a:noFill/>
            <a:ln w="9525">
              <a:noFill/>
              <a:miter lim="800000"/>
              <a:headEnd/>
              <a:tailEnd/>
            </a:ln>
            <a:effectLst/>
          </p:spPr>
          <p:txBody>
            <a:bodyPr wrap="none" lIns="17859" tIns="25301" rIns="17859" bIns="25301"/>
            <a:lstStyle/>
            <a:p>
              <a:pPr>
                <a:lnSpc>
                  <a:spcPts val="2763"/>
                </a:lnSpc>
                <a:tabLst>
                  <a:tab pos="451085" algn="l"/>
                  <a:tab pos="902170" algn="l"/>
                  <a:tab pos="1353255" algn="l"/>
                </a:tabLst>
              </a:pPr>
              <a:r>
                <a:rPr lang="en-US" sz="2625" i="1" dirty="0">
                  <a:latin typeface="Whitney-Book" pitchFamily="50" charset="0"/>
                  <a:cs typeface="Whitney-Book" pitchFamily="50" charset="0"/>
                </a:rPr>
                <a:t>P</a:t>
              </a:r>
            </a:p>
          </p:txBody>
        </p:sp>
      </p:grpSp>
      <p:grpSp>
        <p:nvGrpSpPr>
          <p:cNvPr id="3" name="Group 36"/>
          <p:cNvGrpSpPr>
            <a:grpSpLocks/>
          </p:cNvGrpSpPr>
          <p:nvPr/>
        </p:nvGrpSpPr>
        <p:grpSpPr bwMode="auto">
          <a:xfrm>
            <a:off x="1383342" y="2568224"/>
            <a:ext cx="6789107" cy="2118833"/>
            <a:chOff x="512" y="1704"/>
            <a:chExt cx="4336" cy="1352"/>
          </a:xfrm>
        </p:grpSpPr>
        <p:sp>
          <p:nvSpPr>
            <p:cNvPr id="64522" name="Line 10"/>
            <p:cNvSpPr>
              <a:spLocks noChangeShapeType="1"/>
            </p:cNvSpPr>
            <p:nvPr/>
          </p:nvSpPr>
          <p:spPr bwMode="auto">
            <a:xfrm>
              <a:off x="512" y="1704"/>
              <a:ext cx="3872" cy="1200"/>
            </a:xfrm>
            <a:prstGeom prst="line">
              <a:avLst/>
            </a:prstGeom>
            <a:noFill/>
            <a:ln w="50800">
              <a:solidFill>
                <a:srgbClr val="C00000"/>
              </a:solidFill>
              <a:round/>
              <a:headEnd type="none" w="sm" len="sm"/>
              <a:tailEnd type="none" w="sm" len="sm"/>
            </a:ln>
            <a:effectLst/>
          </p:spPr>
          <p:txBody>
            <a:bodyPr wrap="none" anchor="ctr"/>
            <a:lstStyle/>
            <a:p>
              <a:endParaRPr lang="en-US" sz="2625">
                <a:solidFill>
                  <a:schemeClr val="bg1"/>
                </a:solidFill>
                <a:latin typeface="Whitney-Book" pitchFamily="50" charset="0"/>
                <a:cs typeface="Whitney-Book" pitchFamily="50" charset="0"/>
              </a:endParaRPr>
            </a:p>
          </p:txBody>
        </p:sp>
        <p:sp>
          <p:nvSpPr>
            <p:cNvPr id="64523" name="Rectangle 11"/>
            <p:cNvSpPr>
              <a:spLocks noChangeArrowheads="1"/>
            </p:cNvSpPr>
            <p:nvPr/>
          </p:nvSpPr>
          <p:spPr bwMode="auto">
            <a:xfrm>
              <a:off x="4440" y="2752"/>
              <a:ext cx="408" cy="304"/>
            </a:xfrm>
            <a:prstGeom prst="rect">
              <a:avLst/>
            </a:prstGeom>
            <a:noFill/>
            <a:ln w="9525">
              <a:noFill/>
              <a:miter lim="800000"/>
              <a:headEnd/>
              <a:tailEnd/>
            </a:ln>
            <a:effectLst/>
          </p:spPr>
          <p:txBody>
            <a:bodyPr wrap="none" lIns="17859" tIns="25301" rIns="17859" bIns="25301"/>
            <a:lstStyle/>
            <a:p>
              <a:pPr>
                <a:lnSpc>
                  <a:spcPts val="2763"/>
                </a:lnSpc>
                <a:tabLst>
                  <a:tab pos="451085" algn="l"/>
                  <a:tab pos="902170" algn="l"/>
                  <a:tab pos="1353255" algn="l"/>
                </a:tabLst>
              </a:pPr>
              <a:r>
                <a:rPr lang="en-US" sz="2625" i="1" dirty="0">
                  <a:solidFill>
                    <a:srgbClr val="C00000"/>
                  </a:solidFill>
                  <a:latin typeface="Whitney-Book" pitchFamily="50" charset="0"/>
                  <a:cs typeface="Whitney-Book" pitchFamily="50" charset="0"/>
                </a:rPr>
                <a:t>D</a:t>
              </a:r>
            </a:p>
          </p:txBody>
        </p:sp>
      </p:grpSp>
      <p:grpSp>
        <p:nvGrpSpPr>
          <p:cNvPr id="4" name="Group 37"/>
          <p:cNvGrpSpPr>
            <a:grpSpLocks/>
          </p:cNvGrpSpPr>
          <p:nvPr/>
        </p:nvGrpSpPr>
        <p:grpSpPr bwMode="auto">
          <a:xfrm>
            <a:off x="1383344" y="2568224"/>
            <a:ext cx="5289115" cy="2750409"/>
            <a:chOff x="512" y="1704"/>
            <a:chExt cx="3378" cy="1755"/>
          </a:xfrm>
        </p:grpSpPr>
        <p:sp>
          <p:nvSpPr>
            <p:cNvPr id="64525" name="Line 13"/>
            <p:cNvSpPr>
              <a:spLocks noChangeShapeType="1"/>
            </p:cNvSpPr>
            <p:nvPr/>
          </p:nvSpPr>
          <p:spPr bwMode="auto">
            <a:xfrm>
              <a:off x="512" y="1704"/>
              <a:ext cx="2896" cy="1728"/>
            </a:xfrm>
            <a:prstGeom prst="line">
              <a:avLst/>
            </a:prstGeom>
            <a:noFill/>
            <a:ln w="50800">
              <a:solidFill>
                <a:srgbClr val="C00000"/>
              </a:solidFill>
              <a:prstDash val="sysDot"/>
              <a:round/>
              <a:headEnd type="none" w="sm" len="sm"/>
              <a:tailEnd type="none" w="sm" len="sm"/>
            </a:ln>
            <a:effectLst/>
          </p:spPr>
          <p:txBody>
            <a:bodyPr wrap="none" anchor="ctr"/>
            <a:lstStyle/>
            <a:p>
              <a:endParaRPr lang="en-US" sz="2625">
                <a:solidFill>
                  <a:schemeClr val="bg1"/>
                </a:solidFill>
                <a:latin typeface="Whitney-Book" pitchFamily="50" charset="0"/>
                <a:cs typeface="Whitney-Book" pitchFamily="50" charset="0"/>
              </a:endParaRPr>
            </a:p>
          </p:txBody>
        </p:sp>
        <p:sp>
          <p:nvSpPr>
            <p:cNvPr id="64526" name="Rectangle 14"/>
            <p:cNvSpPr>
              <a:spLocks noChangeArrowheads="1"/>
            </p:cNvSpPr>
            <p:nvPr/>
          </p:nvSpPr>
          <p:spPr bwMode="auto">
            <a:xfrm>
              <a:off x="3322" y="3155"/>
              <a:ext cx="568" cy="304"/>
            </a:xfrm>
            <a:prstGeom prst="rect">
              <a:avLst/>
            </a:prstGeom>
            <a:noFill/>
            <a:ln w="9525">
              <a:noFill/>
              <a:miter lim="800000"/>
              <a:headEnd/>
              <a:tailEnd/>
            </a:ln>
            <a:effectLst/>
          </p:spPr>
          <p:txBody>
            <a:bodyPr wrap="none" lIns="17859" tIns="25301" rIns="17859" bIns="25301"/>
            <a:lstStyle/>
            <a:p>
              <a:pPr>
                <a:lnSpc>
                  <a:spcPts val="2763"/>
                </a:lnSpc>
                <a:tabLst>
                  <a:tab pos="451085" algn="l"/>
                  <a:tab pos="902170" algn="l"/>
                  <a:tab pos="1353255" algn="l"/>
                </a:tabLst>
              </a:pPr>
              <a:r>
                <a:rPr lang="en-US" sz="2625" i="1" dirty="0">
                  <a:solidFill>
                    <a:srgbClr val="C00000"/>
                  </a:solidFill>
                  <a:latin typeface="Whitney-Book" pitchFamily="50" charset="0"/>
                  <a:cs typeface="Whitney-Book" pitchFamily="50" charset="0"/>
                </a:rPr>
                <a:t>MR</a:t>
              </a:r>
            </a:p>
          </p:txBody>
        </p:sp>
      </p:grpSp>
      <p:grpSp>
        <p:nvGrpSpPr>
          <p:cNvPr id="6" name="Group 39"/>
          <p:cNvGrpSpPr>
            <a:grpSpLocks/>
          </p:cNvGrpSpPr>
          <p:nvPr/>
        </p:nvGrpSpPr>
        <p:grpSpPr bwMode="auto">
          <a:xfrm>
            <a:off x="4185652" y="3503932"/>
            <a:ext cx="776614" cy="2419733"/>
            <a:chOff x="2418" y="2344"/>
            <a:chExt cx="496" cy="1544"/>
          </a:xfrm>
        </p:grpSpPr>
        <p:sp>
          <p:nvSpPr>
            <p:cNvPr id="64531" name="Line 19"/>
            <p:cNvSpPr>
              <a:spLocks noChangeShapeType="1"/>
            </p:cNvSpPr>
            <p:nvPr/>
          </p:nvSpPr>
          <p:spPr bwMode="auto">
            <a:xfrm flipV="1">
              <a:off x="2568" y="2344"/>
              <a:ext cx="0" cy="1184"/>
            </a:xfrm>
            <a:prstGeom prst="line">
              <a:avLst/>
            </a:prstGeom>
            <a:noFill/>
            <a:ln w="22225">
              <a:solidFill>
                <a:schemeClr val="tx1"/>
              </a:solidFill>
              <a:prstDash val="sysDash"/>
              <a:round/>
              <a:headEnd type="none" w="sm" len="sm"/>
              <a:tailEnd type="none" w="sm" len="sm"/>
            </a:ln>
            <a:effectLst/>
          </p:spPr>
          <p:txBody>
            <a:bodyPr wrap="none" anchor="ctr"/>
            <a:lstStyle/>
            <a:p>
              <a:endParaRPr lang="en-US" sz="2625">
                <a:solidFill>
                  <a:schemeClr val="bg1"/>
                </a:solidFill>
                <a:latin typeface="Whitney-Book" pitchFamily="50" charset="0"/>
                <a:cs typeface="Whitney-Book" pitchFamily="50" charset="0"/>
              </a:endParaRPr>
            </a:p>
          </p:txBody>
        </p:sp>
        <p:sp>
          <p:nvSpPr>
            <p:cNvPr id="64532" name="Rectangle 20"/>
            <p:cNvSpPr>
              <a:spLocks noChangeArrowheads="1"/>
            </p:cNvSpPr>
            <p:nvPr/>
          </p:nvSpPr>
          <p:spPr bwMode="auto">
            <a:xfrm>
              <a:off x="2418" y="3584"/>
              <a:ext cx="496" cy="304"/>
            </a:xfrm>
            <a:prstGeom prst="rect">
              <a:avLst/>
            </a:prstGeom>
            <a:noFill/>
            <a:ln w="9525">
              <a:noFill/>
              <a:miter lim="800000"/>
              <a:headEnd/>
              <a:tailEnd/>
            </a:ln>
            <a:effectLst/>
          </p:spPr>
          <p:txBody>
            <a:bodyPr wrap="none" lIns="17859" tIns="25301" rIns="17859" bIns="25301"/>
            <a:lstStyle/>
            <a:p>
              <a:pPr>
                <a:lnSpc>
                  <a:spcPts val="2763"/>
                </a:lnSpc>
                <a:tabLst>
                  <a:tab pos="451085" algn="l"/>
                  <a:tab pos="902170" algn="l"/>
                  <a:tab pos="1353255" algn="l"/>
                </a:tabLst>
              </a:pPr>
              <a:r>
                <a:rPr lang="en-US" sz="2625" i="1" dirty="0">
                  <a:latin typeface="Whitney-Book" pitchFamily="50" charset="0"/>
                  <a:cs typeface="Whitney-Book" pitchFamily="50" charset="0"/>
                </a:rPr>
                <a:t>Q*</a:t>
              </a:r>
            </a:p>
          </p:txBody>
        </p:sp>
      </p:grpSp>
      <p:grpSp>
        <p:nvGrpSpPr>
          <p:cNvPr id="7" name="Group 41"/>
          <p:cNvGrpSpPr>
            <a:grpSpLocks/>
          </p:cNvGrpSpPr>
          <p:nvPr/>
        </p:nvGrpSpPr>
        <p:grpSpPr bwMode="auto">
          <a:xfrm>
            <a:off x="757043" y="3251109"/>
            <a:ext cx="3663472" cy="394930"/>
            <a:chOff x="112" y="2200"/>
            <a:chExt cx="2223" cy="252"/>
          </a:xfrm>
        </p:grpSpPr>
        <p:sp>
          <p:nvSpPr>
            <p:cNvPr id="64534" name="Line 22"/>
            <p:cNvSpPr>
              <a:spLocks noChangeShapeType="1"/>
            </p:cNvSpPr>
            <p:nvPr/>
          </p:nvSpPr>
          <p:spPr bwMode="auto">
            <a:xfrm flipH="1" flipV="1">
              <a:off x="512" y="2344"/>
              <a:ext cx="1823" cy="7"/>
            </a:xfrm>
            <a:prstGeom prst="line">
              <a:avLst/>
            </a:prstGeom>
            <a:noFill/>
            <a:ln w="22225">
              <a:solidFill>
                <a:schemeClr val="tx1"/>
              </a:solidFill>
              <a:prstDash val="sysDash"/>
              <a:round/>
              <a:headEnd type="none" w="sm" len="sm"/>
              <a:tailEnd type="none" w="sm" len="sm"/>
            </a:ln>
            <a:effectLst/>
          </p:spPr>
          <p:txBody>
            <a:bodyPr wrap="none" anchor="ctr"/>
            <a:lstStyle/>
            <a:p>
              <a:endParaRPr lang="en-US" sz="2625">
                <a:solidFill>
                  <a:schemeClr val="bg1"/>
                </a:solidFill>
                <a:latin typeface="Whitney-Book" pitchFamily="50" charset="0"/>
                <a:cs typeface="Whitney-Book" pitchFamily="50" charset="0"/>
              </a:endParaRPr>
            </a:p>
          </p:txBody>
        </p:sp>
        <p:sp>
          <p:nvSpPr>
            <p:cNvPr id="64535" name="Rectangle 23"/>
            <p:cNvSpPr>
              <a:spLocks noChangeArrowheads="1"/>
            </p:cNvSpPr>
            <p:nvPr/>
          </p:nvSpPr>
          <p:spPr bwMode="auto">
            <a:xfrm>
              <a:off x="112" y="2200"/>
              <a:ext cx="336" cy="252"/>
            </a:xfrm>
            <a:prstGeom prst="rect">
              <a:avLst/>
            </a:prstGeom>
            <a:noFill/>
            <a:ln w="9525">
              <a:noFill/>
              <a:miter lim="800000"/>
              <a:headEnd/>
              <a:tailEnd/>
            </a:ln>
            <a:effectLst/>
          </p:spPr>
          <p:txBody>
            <a:bodyPr wrap="none" lIns="17859" tIns="25301" rIns="17859" bIns="25301"/>
            <a:lstStyle/>
            <a:p>
              <a:pPr>
                <a:lnSpc>
                  <a:spcPts val="2763"/>
                </a:lnSpc>
                <a:tabLst>
                  <a:tab pos="451085" algn="l"/>
                  <a:tab pos="902170" algn="l"/>
                  <a:tab pos="1353255" algn="l"/>
                </a:tabLst>
              </a:pPr>
              <a:r>
                <a:rPr lang="en-US" sz="2625" i="1" dirty="0">
                  <a:latin typeface="Whitney-Book" pitchFamily="50" charset="0"/>
                  <a:cs typeface="Whitney-Book" pitchFamily="50" charset="0"/>
                </a:rPr>
                <a:t>P*</a:t>
              </a:r>
            </a:p>
            <a:p>
              <a:pPr>
                <a:lnSpc>
                  <a:spcPts val="2763"/>
                </a:lnSpc>
                <a:tabLst>
                  <a:tab pos="451085" algn="l"/>
                  <a:tab pos="902170" algn="l"/>
                  <a:tab pos="1353255" algn="l"/>
                </a:tabLst>
              </a:pPr>
              <a:endParaRPr lang="en-US" sz="2625" dirty="0">
                <a:latin typeface="Whitney-Book" pitchFamily="50" charset="0"/>
                <a:cs typeface="Whitney-Book" pitchFamily="50" charset="0"/>
              </a:endParaRPr>
            </a:p>
          </p:txBody>
        </p:sp>
      </p:grpSp>
      <p:sp>
        <p:nvSpPr>
          <p:cNvPr id="64539" name="Rectangle 27"/>
          <p:cNvSpPr>
            <a:spLocks noChangeArrowheads="1"/>
          </p:cNvSpPr>
          <p:nvPr/>
        </p:nvSpPr>
        <p:spPr bwMode="auto">
          <a:xfrm>
            <a:off x="6859566" y="3661566"/>
            <a:ext cx="1014608" cy="476425"/>
          </a:xfrm>
          <a:prstGeom prst="rect">
            <a:avLst/>
          </a:prstGeom>
          <a:noFill/>
          <a:ln w="9525">
            <a:noFill/>
            <a:miter lim="800000"/>
            <a:headEnd/>
            <a:tailEnd/>
          </a:ln>
          <a:effectLst/>
        </p:spPr>
        <p:txBody>
          <a:bodyPr wrap="none" lIns="17859" tIns="25301" rIns="17859" bIns="25301"/>
          <a:lstStyle/>
          <a:p>
            <a:pPr>
              <a:lnSpc>
                <a:spcPts val="2763"/>
              </a:lnSpc>
              <a:tabLst>
                <a:tab pos="451085" algn="l"/>
                <a:tab pos="902170" algn="l"/>
                <a:tab pos="1353255" algn="l"/>
              </a:tabLst>
            </a:pPr>
            <a:r>
              <a:rPr lang="en-US" sz="2625" i="1" dirty="0">
                <a:solidFill>
                  <a:srgbClr val="00B050"/>
                </a:solidFill>
                <a:latin typeface="Whitney-Book" pitchFamily="50" charset="0"/>
                <a:cs typeface="Whitney-Book" pitchFamily="50" charset="0"/>
              </a:rPr>
              <a:t>ATC</a:t>
            </a:r>
          </a:p>
        </p:txBody>
      </p:sp>
      <p:grpSp>
        <p:nvGrpSpPr>
          <p:cNvPr id="9" name="Group 40"/>
          <p:cNvGrpSpPr>
            <a:grpSpLocks/>
          </p:cNvGrpSpPr>
          <p:nvPr/>
        </p:nvGrpSpPr>
        <p:grpSpPr bwMode="auto">
          <a:xfrm>
            <a:off x="581677" y="3853316"/>
            <a:ext cx="3838837" cy="451349"/>
            <a:chOff x="0" y="2524"/>
            <a:chExt cx="2335" cy="288"/>
          </a:xfrm>
        </p:grpSpPr>
        <p:sp>
          <p:nvSpPr>
            <p:cNvPr id="64541" name="Line 29"/>
            <p:cNvSpPr>
              <a:spLocks noChangeShapeType="1"/>
            </p:cNvSpPr>
            <p:nvPr/>
          </p:nvSpPr>
          <p:spPr bwMode="auto">
            <a:xfrm flipH="1" flipV="1">
              <a:off x="512" y="2620"/>
              <a:ext cx="1823" cy="8"/>
            </a:xfrm>
            <a:prstGeom prst="line">
              <a:avLst/>
            </a:prstGeom>
            <a:noFill/>
            <a:ln w="22225">
              <a:solidFill>
                <a:schemeClr val="tx1"/>
              </a:solidFill>
              <a:prstDash val="sysDash"/>
              <a:round/>
              <a:headEnd type="none" w="sm" len="sm"/>
              <a:tailEnd type="none" w="sm" len="sm"/>
            </a:ln>
            <a:effectLst/>
          </p:spPr>
          <p:txBody>
            <a:bodyPr wrap="none" anchor="ctr"/>
            <a:lstStyle/>
            <a:p>
              <a:endParaRPr lang="en-US" sz="2625">
                <a:solidFill>
                  <a:schemeClr val="bg1"/>
                </a:solidFill>
                <a:latin typeface="Whitney-Book" pitchFamily="50" charset="0"/>
                <a:cs typeface="Whitney-Book" pitchFamily="50" charset="0"/>
              </a:endParaRPr>
            </a:p>
          </p:txBody>
        </p:sp>
        <p:sp>
          <p:nvSpPr>
            <p:cNvPr id="64542" name="Rectangle 30"/>
            <p:cNvSpPr>
              <a:spLocks noChangeArrowheads="1"/>
            </p:cNvSpPr>
            <p:nvPr/>
          </p:nvSpPr>
          <p:spPr bwMode="auto">
            <a:xfrm>
              <a:off x="0" y="2524"/>
              <a:ext cx="632" cy="288"/>
            </a:xfrm>
            <a:prstGeom prst="rect">
              <a:avLst/>
            </a:prstGeom>
            <a:noFill/>
            <a:ln w="9525">
              <a:noFill/>
              <a:miter lim="800000"/>
              <a:headEnd/>
              <a:tailEnd/>
            </a:ln>
            <a:effectLst/>
          </p:spPr>
          <p:txBody>
            <a:bodyPr wrap="none" lIns="17859" tIns="25301" rIns="17859" bIns="25301"/>
            <a:lstStyle/>
            <a:p>
              <a:pPr>
                <a:lnSpc>
                  <a:spcPts val="2763"/>
                </a:lnSpc>
                <a:tabLst>
                  <a:tab pos="451085" algn="l"/>
                  <a:tab pos="902170" algn="l"/>
                  <a:tab pos="1353255" algn="l"/>
                </a:tabLst>
              </a:pPr>
              <a:r>
                <a:rPr lang="en-US" sz="2625" i="1" dirty="0">
                  <a:latin typeface="Whitney-Book" pitchFamily="50" charset="0"/>
                  <a:cs typeface="Whitney-Book" pitchFamily="50" charset="0"/>
                </a:rPr>
                <a:t>ATC</a:t>
              </a:r>
            </a:p>
          </p:txBody>
        </p:sp>
      </p:grpSp>
      <p:sp>
        <p:nvSpPr>
          <p:cNvPr id="64544" name="Rectangle 32"/>
          <p:cNvSpPr>
            <a:spLocks noChangeArrowheads="1"/>
          </p:cNvSpPr>
          <p:nvPr/>
        </p:nvSpPr>
        <p:spPr bwMode="auto">
          <a:xfrm>
            <a:off x="1416225" y="3520324"/>
            <a:ext cx="2957708" cy="463887"/>
          </a:xfrm>
          <a:prstGeom prst="rect">
            <a:avLst/>
          </a:prstGeom>
          <a:gradFill rotWithShape="0">
            <a:gsLst>
              <a:gs pos="0">
                <a:srgbClr val="FF557C">
                  <a:gamma/>
                  <a:tint val="0"/>
                  <a:invGamma/>
                </a:srgbClr>
              </a:gs>
              <a:gs pos="100000">
                <a:srgbClr val="FF557C"/>
              </a:gs>
            </a:gsLst>
            <a:path path="shape">
              <a:fillToRect l="50000" t="50000" r="50000" b="50000"/>
            </a:path>
          </a:gradFill>
          <a:ln w="9525">
            <a:noFill/>
            <a:miter lim="800000"/>
            <a:headEnd/>
            <a:tailEnd/>
          </a:ln>
          <a:effectLst/>
        </p:spPr>
        <p:txBody>
          <a:bodyPr wrap="none" anchor="ctr"/>
          <a:lstStyle/>
          <a:p>
            <a:pPr algn="ctr"/>
            <a:r>
              <a:rPr lang="en-US" sz="2625" b="1" dirty="0">
                <a:latin typeface="Whitney-Book" pitchFamily="50" charset="0"/>
                <a:cs typeface="Whitney-Book" pitchFamily="50" charset="0"/>
              </a:rPr>
              <a:t>Profit</a:t>
            </a:r>
          </a:p>
        </p:txBody>
      </p:sp>
      <p:pic>
        <p:nvPicPr>
          <p:cNvPr id="35" name="Picture 34">
            <a:extLst>
              <a:ext uri="{FF2B5EF4-FFF2-40B4-BE49-F238E27FC236}">
                <a16:creationId xmlns:a16="http://schemas.microsoft.com/office/drawing/2014/main" id="{9EF3E916-7EDE-442C-BDB0-489670EF66E9}"/>
              </a:ext>
            </a:extLst>
          </p:cNvPr>
          <p:cNvPicPr>
            <a:picLocks noChangeAspect="1"/>
          </p:cNvPicPr>
          <p:nvPr/>
        </p:nvPicPr>
        <p:blipFill>
          <a:blip r:embed="rId4"/>
          <a:stretch>
            <a:fillRect/>
          </a:stretch>
        </p:blipFill>
        <p:spPr>
          <a:xfrm>
            <a:off x="6168286" y="1308775"/>
            <a:ext cx="2933700" cy="593062"/>
          </a:xfrm>
          <a:prstGeom prst="rect">
            <a:avLst/>
          </a:prstGeom>
        </p:spPr>
      </p:pic>
      <p:cxnSp>
        <p:nvCxnSpPr>
          <p:cNvPr id="13" name="Straight Connector 12">
            <a:extLst>
              <a:ext uri="{FF2B5EF4-FFF2-40B4-BE49-F238E27FC236}">
                <a16:creationId xmlns:a16="http://schemas.microsoft.com/office/drawing/2014/main" id="{3D6B46C5-1058-45EB-956B-02489525F520}"/>
              </a:ext>
            </a:extLst>
          </p:cNvPr>
          <p:cNvCxnSpPr>
            <a:cxnSpLocks/>
          </p:cNvCxnSpPr>
          <p:nvPr/>
        </p:nvCxnSpPr>
        <p:spPr>
          <a:xfrm flipV="1">
            <a:off x="3033648" y="3562638"/>
            <a:ext cx="3358541" cy="1360236"/>
          </a:xfrm>
          <a:prstGeom prst="line">
            <a:avLst/>
          </a:prstGeom>
          <a:ln/>
        </p:spPr>
        <p:style>
          <a:lnRef idx="3">
            <a:schemeClr val="accent1"/>
          </a:lnRef>
          <a:fillRef idx="0">
            <a:schemeClr val="accent1"/>
          </a:fillRef>
          <a:effectRef idx="2">
            <a:schemeClr val="accent1"/>
          </a:effectRef>
          <a:fontRef idx="minor">
            <a:schemeClr val="tx1"/>
          </a:fontRef>
        </p:style>
      </p:cxnSp>
      <p:sp>
        <p:nvSpPr>
          <p:cNvPr id="38" name="Rectangle 17">
            <a:extLst>
              <a:ext uri="{FF2B5EF4-FFF2-40B4-BE49-F238E27FC236}">
                <a16:creationId xmlns:a16="http://schemas.microsoft.com/office/drawing/2014/main" id="{81B23F06-B41A-41F4-8A97-3F36544210C0}"/>
              </a:ext>
            </a:extLst>
          </p:cNvPr>
          <p:cNvSpPr>
            <a:spLocks noChangeArrowheads="1"/>
          </p:cNvSpPr>
          <p:nvPr/>
        </p:nvSpPr>
        <p:spPr bwMode="auto">
          <a:xfrm>
            <a:off x="5901327" y="3162187"/>
            <a:ext cx="889348" cy="380826"/>
          </a:xfrm>
          <a:prstGeom prst="rect">
            <a:avLst/>
          </a:prstGeom>
          <a:noFill/>
          <a:ln w="9525">
            <a:noFill/>
            <a:miter lim="800000"/>
            <a:headEnd/>
            <a:tailEnd/>
          </a:ln>
          <a:effectLst/>
        </p:spPr>
        <p:txBody>
          <a:bodyPr wrap="none" lIns="17859" tIns="25301" rIns="17859" bIns="25301"/>
          <a:lstStyle/>
          <a:p>
            <a:pPr>
              <a:lnSpc>
                <a:spcPts val="2763"/>
              </a:lnSpc>
              <a:tabLst>
                <a:tab pos="451085" algn="l"/>
                <a:tab pos="902170" algn="l"/>
                <a:tab pos="1353255" algn="l"/>
              </a:tabLst>
            </a:pPr>
            <a:r>
              <a:rPr lang="en-US" sz="2625" i="1" dirty="0">
                <a:solidFill>
                  <a:schemeClr val="accent1"/>
                </a:solidFill>
                <a:latin typeface="Whitney-Book" pitchFamily="50" charset="0"/>
                <a:cs typeface="Whitney-Book" pitchFamily="50" charset="0"/>
              </a:rPr>
              <a:t>MC</a:t>
            </a:r>
          </a:p>
        </p:txBody>
      </p:sp>
      <p:grpSp>
        <p:nvGrpSpPr>
          <p:cNvPr id="14" name="Group 13">
            <a:extLst>
              <a:ext uri="{FF2B5EF4-FFF2-40B4-BE49-F238E27FC236}">
                <a16:creationId xmlns:a16="http://schemas.microsoft.com/office/drawing/2014/main" id="{AD9595ED-31A3-4941-9964-6BDC13545F53}"/>
              </a:ext>
            </a:extLst>
          </p:cNvPr>
          <p:cNvGrpSpPr/>
          <p:nvPr/>
        </p:nvGrpSpPr>
        <p:grpSpPr>
          <a:xfrm rot="21369184">
            <a:off x="3022009" y="2544845"/>
            <a:ext cx="3871117" cy="1567186"/>
            <a:chOff x="2938136" y="2555684"/>
            <a:chExt cx="3871117" cy="1567186"/>
          </a:xfrm>
        </p:grpSpPr>
        <p:sp>
          <p:nvSpPr>
            <p:cNvPr id="36" name="Arc 17">
              <a:extLst>
                <a:ext uri="{FF2B5EF4-FFF2-40B4-BE49-F238E27FC236}">
                  <a16:creationId xmlns:a16="http://schemas.microsoft.com/office/drawing/2014/main" id="{F3AE1B3F-95EF-4706-A181-C0FD9B60735B}"/>
                </a:ext>
              </a:extLst>
            </p:cNvPr>
            <p:cNvSpPr>
              <a:spLocks/>
            </p:cNvSpPr>
            <p:nvPr/>
          </p:nvSpPr>
          <p:spPr bwMode="auto">
            <a:xfrm rot="21060185">
              <a:off x="4789548" y="3947200"/>
              <a:ext cx="2019705" cy="125186"/>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57150" cap="rnd">
              <a:solidFill>
                <a:srgbClr val="00B050"/>
              </a:solidFill>
              <a:round/>
              <a:headEnd type="none" w="sm" len="sm"/>
              <a:tailEnd type="none" w="sm" len="sm"/>
            </a:ln>
            <a:effectLst/>
          </p:spPr>
          <p:txBody>
            <a:bodyPr wrap="none" anchor="ctr"/>
            <a:lstStyle/>
            <a:p>
              <a:endParaRPr lang="en-US" sz="2800" b="0" dirty="0">
                <a:solidFill>
                  <a:schemeClr val="accent2">
                    <a:lumMod val="75000"/>
                  </a:schemeClr>
                </a:solidFill>
                <a:latin typeface="Whitney-Book" pitchFamily="50" charset="0"/>
                <a:cs typeface="Whitney-Book" pitchFamily="50" charset="0"/>
              </a:endParaRPr>
            </a:p>
          </p:txBody>
        </p:sp>
        <p:sp>
          <p:nvSpPr>
            <p:cNvPr id="39" name="Arc 25">
              <a:extLst>
                <a:ext uri="{FF2B5EF4-FFF2-40B4-BE49-F238E27FC236}">
                  <a16:creationId xmlns:a16="http://schemas.microsoft.com/office/drawing/2014/main" id="{053E1F1C-E572-4860-8928-72970F8A3548}"/>
                </a:ext>
              </a:extLst>
            </p:cNvPr>
            <p:cNvSpPr>
              <a:spLocks/>
            </p:cNvSpPr>
            <p:nvPr/>
          </p:nvSpPr>
          <p:spPr bwMode="auto">
            <a:xfrm>
              <a:off x="2938136" y="2555684"/>
              <a:ext cx="2123161" cy="1567186"/>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57150" cap="rnd">
              <a:solidFill>
                <a:srgbClr val="00B050"/>
              </a:solidFill>
              <a:round/>
              <a:headEnd type="none" w="sm" len="sm"/>
              <a:tailEnd type="none" w="sm" len="sm"/>
            </a:ln>
            <a:effectLst/>
          </p:spPr>
          <p:txBody>
            <a:bodyPr wrap="none" anchor="ctr"/>
            <a:lstStyle/>
            <a:p>
              <a:endParaRPr lang="en-US" sz="2625" dirty="0">
                <a:solidFill>
                  <a:schemeClr val="bg1"/>
                </a:solidFill>
                <a:latin typeface="Whitney-Book" pitchFamily="50" charset="0"/>
                <a:cs typeface="Whitney-Book" pitchFamily="50" charset="0"/>
              </a:endParaRPr>
            </a:p>
          </p:txBody>
        </p:sp>
      </p:grpSp>
    </p:spTree>
    <p:custDataLst>
      <p:tags r:id="rId1"/>
    </p:custDataLst>
    <p:extLst>
      <p:ext uri="{BB962C8B-B14F-4D97-AF65-F5344CB8AC3E}">
        <p14:creationId xmlns:p14="http://schemas.microsoft.com/office/powerpoint/2010/main" val="1918098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anim calcmode="lin" valueType="num">
                                      <p:cBhvr additive="base">
                                        <p:cTn id="29" dur="500" fill="hold"/>
                                        <p:tgtEl>
                                          <p:spTgt spid="38"/>
                                        </p:tgtEl>
                                        <p:attrNameLst>
                                          <p:attrName>ppt_x</p:attrName>
                                        </p:attrNameLst>
                                      </p:cBhvr>
                                      <p:tavLst>
                                        <p:tav tm="0">
                                          <p:val>
                                            <p:strVal val="#ppt_x"/>
                                          </p:val>
                                        </p:tav>
                                        <p:tav tm="100000">
                                          <p:val>
                                            <p:strVal val="#ppt_x"/>
                                          </p:val>
                                        </p:tav>
                                      </p:tavLst>
                                    </p:anim>
                                    <p:anim calcmode="lin" valueType="num">
                                      <p:cBhvr additive="base">
                                        <p:cTn id="30"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additive="base">
                                        <p:cTn id="35" dur="500" fill="hold"/>
                                        <p:tgtEl>
                                          <p:spTgt spid="6"/>
                                        </p:tgtEl>
                                        <p:attrNameLst>
                                          <p:attrName>ppt_x</p:attrName>
                                        </p:attrNameLst>
                                      </p:cBhvr>
                                      <p:tavLst>
                                        <p:tav tm="0">
                                          <p:val>
                                            <p:strVal val="0-#ppt_w/2"/>
                                          </p:val>
                                        </p:tav>
                                        <p:tav tm="100000">
                                          <p:val>
                                            <p:strVal val="#ppt_x"/>
                                          </p:val>
                                        </p:tav>
                                      </p:tavLst>
                                    </p:anim>
                                    <p:anim calcmode="lin" valueType="num">
                                      <p:cBhvr additive="base">
                                        <p:cTn id="36"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 calcmode="lin" valueType="num">
                                      <p:cBhvr additive="base">
                                        <p:cTn id="41" dur="500" fill="hold"/>
                                        <p:tgtEl>
                                          <p:spTgt spid="7"/>
                                        </p:tgtEl>
                                        <p:attrNameLst>
                                          <p:attrName>ppt_x</p:attrName>
                                        </p:attrNameLst>
                                      </p:cBhvr>
                                      <p:tavLst>
                                        <p:tav tm="0">
                                          <p:val>
                                            <p:strVal val="0-#ppt_w/2"/>
                                          </p:val>
                                        </p:tav>
                                        <p:tav tm="100000">
                                          <p:val>
                                            <p:strVal val="#ppt_x"/>
                                          </p:val>
                                        </p:tav>
                                      </p:tavLst>
                                    </p:anim>
                                    <p:anim calcmode="lin" valueType="num">
                                      <p:cBhvr additive="base">
                                        <p:cTn id="42"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p:tgtEl>
                                          <p:spTgt spid="14"/>
                                        </p:tgtEl>
                                        <p:attrNameLst>
                                          <p:attrName>ppt_x</p:attrName>
                                        </p:attrNameLst>
                                      </p:cBhvr>
                                      <p:tavLst>
                                        <p:tav tm="0">
                                          <p:val>
                                            <p:strVal val="#ppt_x"/>
                                          </p:val>
                                        </p:tav>
                                        <p:tav tm="100000">
                                          <p:val>
                                            <p:strVal val="#ppt_x"/>
                                          </p:val>
                                        </p:tav>
                                      </p:tavLst>
                                    </p:anim>
                                    <p:anim calcmode="lin" valueType="num">
                                      <p:cBhvr additive="base">
                                        <p:cTn id="48" dur="500" fill="hold"/>
                                        <p:tgtEl>
                                          <p:spTgt spid="14"/>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64539"/>
                                        </p:tgtEl>
                                        <p:attrNameLst>
                                          <p:attrName>style.visibility</p:attrName>
                                        </p:attrNameLst>
                                      </p:cBhvr>
                                      <p:to>
                                        <p:strVal val="visible"/>
                                      </p:to>
                                    </p:set>
                                    <p:anim calcmode="lin" valueType="num">
                                      <p:cBhvr additive="base">
                                        <p:cTn id="51" dur="500" fill="hold"/>
                                        <p:tgtEl>
                                          <p:spTgt spid="64539"/>
                                        </p:tgtEl>
                                        <p:attrNameLst>
                                          <p:attrName>ppt_x</p:attrName>
                                        </p:attrNameLst>
                                      </p:cBhvr>
                                      <p:tavLst>
                                        <p:tav tm="0">
                                          <p:val>
                                            <p:strVal val="#ppt_x"/>
                                          </p:val>
                                        </p:tav>
                                        <p:tav tm="100000">
                                          <p:val>
                                            <p:strVal val="#ppt_x"/>
                                          </p:val>
                                        </p:tav>
                                      </p:tavLst>
                                    </p:anim>
                                    <p:anim calcmode="lin" valueType="num">
                                      <p:cBhvr additive="base">
                                        <p:cTn id="52" dur="500" fill="hold"/>
                                        <p:tgtEl>
                                          <p:spTgt spid="64539"/>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nodeType="clickEffect">
                                  <p:stCondLst>
                                    <p:cond delay="0"/>
                                  </p:stCondLst>
                                  <p:childTnLst>
                                    <p:set>
                                      <p:cBhvr>
                                        <p:cTn id="56" dur="1" fill="hold">
                                          <p:stCondLst>
                                            <p:cond delay="0"/>
                                          </p:stCondLst>
                                        </p:cTn>
                                        <p:tgtEl>
                                          <p:spTgt spid="9"/>
                                        </p:tgtEl>
                                        <p:attrNameLst>
                                          <p:attrName>style.visibility</p:attrName>
                                        </p:attrNameLst>
                                      </p:cBhvr>
                                      <p:to>
                                        <p:strVal val="visible"/>
                                      </p:to>
                                    </p:set>
                                    <p:anim calcmode="lin" valueType="num">
                                      <p:cBhvr additive="base">
                                        <p:cTn id="57" dur="500" fill="hold"/>
                                        <p:tgtEl>
                                          <p:spTgt spid="9"/>
                                        </p:tgtEl>
                                        <p:attrNameLst>
                                          <p:attrName>ppt_x</p:attrName>
                                        </p:attrNameLst>
                                      </p:cBhvr>
                                      <p:tavLst>
                                        <p:tav tm="0">
                                          <p:val>
                                            <p:strVal val="0-#ppt_w/2"/>
                                          </p:val>
                                        </p:tav>
                                        <p:tav tm="100000">
                                          <p:val>
                                            <p:strVal val="#ppt_x"/>
                                          </p:val>
                                        </p:tav>
                                      </p:tavLst>
                                    </p:anim>
                                    <p:anim calcmode="lin" valueType="num">
                                      <p:cBhvr additive="base">
                                        <p:cTn id="5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45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39" grpId="0"/>
      <p:bldP spid="64544" grpId="0" animBg="1"/>
      <p:bldP spid="3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normAutofit fontScale="90000"/>
          </a:bodyPr>
          <a:lstStyle/>
          <a:p>
            <a:pPr algn="ctr"/>
            <a:r>
              <a:rPr lang="en-US" dirty="0">
                <a:latin typeface="Whitney-Medium" pitchFamily="50" charset="0"/>
                <a:cs typeface="Whitney-Medium" pitchFamily="50" charset="0"/>
              </a:rPr>
              <a:t>Monopolistic Competition:</a:t>
            </a:r>
            <a:br>
              <a:rPr lang="en-US" dirty="0">
                <a:latin typeface="Whitney-Medium" pitchFamily="50" charset="0"/>
                <a:cs typeface="Whitney-Medium" pitchFamily="50" charset="0"/>
              </a:rPr>
            </a:br>
            <a:r>
              <a:rPr lang="en-US" dirty="0">
                <a:latin typeface="Whitney-Medium" pitchFamily="50" charset="0"/>
                <a:cs typeface="Whitney-Medium" pitchFamily="50" charset="0"/>
              </a:rPr>
              <a:t>entry of new firms</a:t>
            </a:r>
          </a:p>
        </p:txBody>
      </p:sp>
      <p:sp>
        <p:nvSpPr>
          <p:cNvPr id="10" name="Slide Number Placeholder 9"/>
          <p:cNvSpPr>
            <a:spLocks noGrp="1"/>
          </p:cNvSpPr>
          <p:nvPr>
            <p:ph type="sldNum" sz="quarter" idx="12"/>
          </p:nvPr>
        </p:nvSpPr>
        <p:spPr/>
        <p:txBody>
          <a:bodyPr/>
          <a:lstStyle/>
          <a:p>
            <a:fld id="{0F3206DB-9488-D04D-BDD1-A7C9D84C4579}" type="slidenum">
              <a:rPr lang="en-US" smtClean="0"/>
              <a:t>52</a:t>
            </a:fld>
            <a:endParaRPr lang="en-US"/>
          </a:p>
        </p:txBody>
      </p:sp>
      <p:sp>
        <p:nvSpPr>
          <p:cNvPr id="65540" name="Line 4"/>
          <p:cNvSpPr>
            <a:spLocks noChangeShapeType="1"/>
          </p:cNvSpPr>
          <p:nvPr/>
        </p:nvSpPr>
        <p:spPr bwMode="auto">
          <a:xfrm>
            <a:off x="1577302" y="2234124"/>
            <a:ext cx="450937" cy="300899"/>
          </a:xfrm>
          <a:prstGeom prst="line">
            <a:avLst/>
          </a:prstGeom>
          <a:noFill/>
          <a:ln w="9525">
            <a:noFill/>
            <a:round/>
            <a:headEnd type="none" w="sm" len="sm"/>
            <a:tailEnd type="none" w="sm" len="sm"/>
          </a:ln>
          <a:effectLst/>
        </p:spPr>
        <p:txBody>
          <a:bodyPr wrap="none" lIns="90217" tIns="45109" rIns="90217" bIns="45109" anchor="ctr"/>
          <a:lstStyle/>
          <a:p>
            <a:endParaRPr lang="en-US" sz="2625">
              <a:latin typeface="Whitney-Book" pitchFamily="50" charset="0"/>
              <a:cs typeface="Whitney-Book" pitchFamily="50" charset="0"/>
            </a:endParaRPr>
          </a:p>
        </p:txBody>
      </p:sp>
      <p:grpSp>
        <p:nvGrpSpPr>
          <p:cNvPr id="2" name="Group 33"/>
          <p:cNvGrpSpPr>
            <a:grpSpLocks/>
          </p:cNvGrpSpPr>
          <p:nvPr/>
        </p:nvGrpSpPr>
        <p:grpSpPr bwMode="auto">
          <a:xfrm>
            <a:off x="401421" y="1909717"/>
            <a:ext cx="8572499" cy="4375579"/>
            <a:chOff x="365" y="1185"/>
            <a:chExt cx="5475" cy="2792"/>
          </a:xfrm>
          <a:solidFill>
            <a:schemeClr val="bg1"/>
          </a:solidFill>
        </p:grpSpPr>
        <p:sp>
          <p:nvSpPr>
            <p:cNvPr id="65542" name="Line 6"/>
            <p:cNvSpPr>
              <a:spLocks noChangeShapeType="1"/>
            </p:cNvSpPr>
            <p:nvPr/>
          </p:nvSpPr>
          <p:spPr bwMode="auto">
            <a:xfrm>
              <a:off x="860" y="1368"/>
              <a:ext cx="0" cy="2152"/>
            </a:xfrm>
            <a:prstGeom prst="line">
              <a:avLst/>
            </a:prstGeom>
            <a:grpFill/>
            <a:ln w="44450">
              <a:solidFill>
                <a:schemeClr val="tx1"/>
              </a:solidFill>
              <a:round/>
              <a:headEnd type="arrow" w="sm" len="sm"/>
              <a:tailEnd type="none" w="sm" len="sm"/>
            </a:ln>
            <a:effectLst/>
          </p:spPr>
          <p:txBody>
            <a:bodyPr wrap="none" anchor="ctr"/>
            <a:lstStyle/>
            <a:p>
              <a:endParaRPr lang="en-US" sz="2625">
                <a:latin typeface="Whitney-Book" pitchFamily="50" charset="0"/>
                <a:cs typeface="Whitney-Book" pitchFamily="50" charset="0"/>
              </a:endParaRPr>
            </a:p>
          </p:txBody>
        </p:sp>
        <p:sp>
          <p:nvSpPr>
            <p:cNvPr id="65543" name="Line 7"/>
            <p:cNvSpPr>
              <a:spLocks noChangeShapeType="1"/>
            </p:cNvSpPr>
            <p:nvPr/>
          </p:nvSpPr>
          <p:spPr bwMode="auto">
            <a:xfrm>
              <a:off x="864" y="3520"/>
              <a:ext cx="4188" cy="0"/>
            </a:xfrm>
            <a:prstGeom prst="line">
              <a:avLst/>
            </a:prstGeom>
            <a:grpFill/>
            <a:ln w="44450">
              <a:solidFill>
                <a:schemeClr val="tx1"/>
              </a:solidFill>
              <a:round/>
              <a:headEnd type="none" w="sm" len="sm"/>
              <a:tailEnd type="arrow" w="sm" len="sm"/>
            </a:ln>
            <a:effectLst/>
          </p:spPr>
          <p:txBody>
            <a:bodyPr wrap="none" anchor="ctr"/>
            <a:lstStyle/>
            <a:p>
              <a:endParaRPr lang="en-US" sz="2625">
                <a:latin typeface="Whitney-Book" pitchFamily="50" charset="0"/>
                <a:cs typeface="Whitney-Book" pitchFamily="50" charset="0"/>
              </a:endParaRPr>
            </a:p>
          </p:txBody>
        </p:sp>
        <p:sp>
          <p:nvSpPr>
            <p:cNvPr id="65544" name="Rectangle 8"/>
            <p:cNvSpPr>
              <a:spLocks noChangeArrowheads="1"/>
            </p:cNvSpPr>
            <p:nvPr/>
          </p:nvSpPr>
          <p:spPr bwMode="auto">
            <a:xfrm>
              <a:off x="4816" y="3601"/>
              <a:ext cx="1024" cy="376"/>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625" i="1" dirty="0">
                  <a:latin typeface="Whitney-Book" pitchFamily="50" charset="0"/>
                  <a:cs typeface="Whitney-Book" pitchFamily="50" charset="0"/>
                </a:rPr>
                <a:t>Output</a:t>
              </a:r>
            </a:p>
          </p:txBody>
        </p:sp>
        <p:sp>
          <p:nvSpPr>
            <p:cNvPr id="65545" name="Rectangle 9"/>
            <p:cNvSpPr>
              <a:spLocks noChangeArrowheads="1"/>
            </p:cNvSpPr>
            <p:nvPr/>
          </p:nvSpPr>
          <p:spPr bwMode="auto">
            <a:xfrm>
              <a:off x="365" y="1185"/>
              <a:ext cx="632" cy="424"/>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625" i="1" dirty="0">
                  <a:latin typeface="Whitney-Book" pitchFamily="50" charset="0"/>
                  <a:cs typeface="Whitney-Book" pitchFamily="50" charset="0"/>
                </a:rPr>
                <a:t>Price</a:t>
              </a:r>
            </a:p>
          </p:txBody>
        </p:sp>
      </p:grpSp>
      <p:sp>
        <p:nvSpPr>
          <p:cNvPr id="65552" name="Rectangle 16"/>
          <p:cNvSpPr>
            <a:spLocks noChangeArrowheads="1"/>
          </p:cNvSpPr>
          <p:nvPr/>
        </p:nvSpPr>
        <p:spPr bwMode="auto">
          <a:xfrm>
            <a:off x="6534924" y="3503543"/>
            <a:ext cx="977030" cy="589262"/>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625" i="1" dirty="0">
                <a:solidFill>
                  <a:srgbClr val="00B050"/>
                </a:solidFill>
                <a:latin typeface="Whitney-Book" pitchFamily="50" charset="0"/>
                <a:cs typeface="Whitney-Book" pitchFamily="50" charset="0"/>
              </a:rPr>
              <a:t>ATC</a:t>
            </a:r>
          </a:p>
        </p:txBody>
      </p:sp>
      <p:sp>
        <p:nvSpPr>
          <p:cNvPr id="65559" name="Rectangle 23"/>
          <p:cNvSpPr>
            <a:spLocks noChangeArrowheads="1"/>
          </p:cNvSpPr>
          <p:nvPr/>
        </p:nvSpPr>
        <p:spPr bwMode="auto">
          <a:xfrm>
            <a:off x="7358063" y="2012709"/>
            <a:ext cx="1615857" cy="1714499"/>
          </a:xfrm>
          <a:prstGeom prst="rect">
            <a:avLst/>
          </a:prstGeom>
          <a:noFill/>
          <a:ln w="25400">
            <a:solidFill>
              <a:srgbClr val="C00000"/>
            </a:solidFill>
            <a:miter lim="800000"/>
            <a:headEnd/>
            <a:tailEnd/>
          </a:ln>
          <a:effectLst/>
        </p:spPr>
        <p:txBody>
          <a:bodyPr wrap="square" lIns="18795" tIns="26627" rIns="18795" bIns="26627" anchor="ctr" anchorCtr="0">
            <a:noAutofit/>
          </a:bodyPr>
          <a:lstStyle/>
          <a:p>
            <a:pPr algn="ctr">
              <a:lnSpc>
                <a:spcPts val="2344"/>
              </a:lnSpc>
              <a:tabLst>
                <a:tab pos="451085" algn="l"/>
                <a:tab pos="902170" algn="l"/>
                <a:tab pos="1353255" algn="l"/>
              </a:tabLst>
            </a:pPr>
            <a:r>
              <a:rPr lang="en-US" sz="1688" dirty="0">
                <a:solidFill>
                  <a:srgbClr val="C00000"/>
                </a:solidFill>
                <a:latin typeface="Whitney-Book" pitchFamily="50" charset="0"/>
                <a:cs typeface="Whitney-Book" pitchFamily="50" charset="0"/>
              </a:rPr>
              <a:t>New entrants </a:t>
            </a:r>
            <a:r>
              <a:rPr lang="en-US" sz="1688" dirty="0">
                <a:solidFill>
                  <a:srgbClr val="C00000"/>
                </a:solidFill>
                <a:latin typeface="Whitney-Book" pitchFamily="50" charset="0"/>
                <a:cs typeface="Whitney-Book" pitchFamily="50" charset="0"/>
                <a:sym typeface="Wingdings" panose="05000000000000000000" pitchFamily="2" charset="2"/>
              </a:rPr>
              <a:t></a:t>
            </a:r>
            <a:r>
              <a:rPr lang="en-US" sz="1688" dirty="0">
                <a:solidFill>
                  <a:srgbClr val="C00000"/>
                </a:solidFill>
                <a:latin typeface="Whitney-Book" pitchFamily="50" charset="0"/>
                <a:cs typeface="Whitney-Book" pitchFamily="50" charset="0"/>
              </a:rPr>
              <a:t> Demand for incumbent drops and becomes more elastic (D</a:t>
            </a:r>
            <a:r>
              <a:rPr lang="en-US" sz="1688" baseline="-25000" dirty="0">
                <a:solidFill>
                  <a:srgbClr val="C00000"/>
                </a:solidFill>
                <a:latin typeface="Whitney-Book" pitchFamily="50" charset="0"/>
                <a:cs typeface="Whitney-Book" pitchFamily="50" charset="0"/>
              </a:rPr>
              <a:t>2</a:t>
            </a:r>
            <a:r>
              <a:rPr lang="en-US" sz="1688" dirty="0">
                <a:solidFill>
                  <a:srgbClr val="C00000"/>
                </a:solidFill>
                <a:latin typeface="Whitney-Book" pitchFamily="50" charset="0"/>
                <a:cs typeface="Whitney-Book" pitchFamily="50" charset="0"/>
              </a:rPr>
              <a:t>)</a:t>
            </a:r>
          </a:p>
        </p:txBody>
      </p:sp>
      <p:grpSp>
        <p:nvGrpSpPr>
          <p:cNvPr id="7" name="Group 38"/>
          <p:cNvGrpSpPr>
            <a:grpSpLocks/>
          </p:cNvGrpSpPr>
          <p:nvPr/>
        </p:nvGrpSpPr>
        <p:grpSpPr bwMode="auto">
          <a:xfrm>
            <a:off x="1207784" y="3013014"/>
            <a:ext cx="5519281" cy="2725334"/>
            <a:chOff x="880" y="1889"/>
            <a:chExt cx="3525" cy="1739"/>
          </a:xfrm>
        </p:grpSpPr>
        <p:sp>
          <p:nvSpPr>
            <p:cNvPr id="65561" name="Line 25"/>
            <p:cNvSpPr>
              <a:spLocks noChangeShapeType="1"/>
            </p:cNvSpPr>
            <p:nvPr/>
          </p:nvSpPr>
          <p:spPr bwMode="auto">
            <a:xfrm>
              <a:off x="880" y="1889"/>
              <a:ext cx="2981" cy="1612"/>
            </a:xfrm>
            <a:prstGeom prst="line">
              <a:avLst/>
            </a:prstGeom>
            <a:noFill/>
            <a:ln w="50800">
              <a:solidFill>
                <a:schemeClr val="accent2">
                  <a:lumMod val="60000"/>
                  <a:lumOff val="40000"/>
                </a:schemeClr>
              </a:solidFill>
              <a:prstDash val="dash"/>
              <a:round/>
              <a:headEnd type="none" w="sm" len="sm"/>
              <a:tailEnd type="none" w="sm" len="sm"/>
            </a:ln>
            <a:effectLst/>
          </p:spPr>
          <p:txBody>
            <a:bodyPr wrap="none" anchor="ctr"/>
            <a:lstStyle/>
            <a:p>
              <a:endParaRPr lang="en-US" sz="2625">
                <a:latin typeface="Whitney-Book" pitchFamily="50" charset="0"/>
                <a:cs typeface="Whitney-Book" pitchFamily="50" charset="0"/>
              </a:endParaRPr>
            </a:p>
          </p:txBody>
        </p:sp>
        <p:sp>
          <p:nvSpPr>
            <p:cNvPr id="65562" name="Rectangle 26"/>
            <p:cNvSpPr>
              <a:spLocks noChangeArrowheads="1"/>
            </p:cNvSpPr>
            <p:nvPr/>
          </p:nvSpPr>
          <p:spPr bwMode="auto">
            <a:xfrm>
              <a:off x="3813" y="3252"/>
              <a:ext cx="592" cy="376"/>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625" i="1" dirty="0">
                  <a:solidFill>
                    <a:schemeClr val="accent2">
                      <a:lumMod val="60000"/>
                      <a:lumOff val="40000"/>
                    </a:schemeClr>
                  </a:solidFill>
                  <a:latin typeface="Whitney-Book" pitchFamily="50" charset="0"/>
                  <a:cs typeface="Whitney-Book" pitchFamily="50" charset="0"/>
                </a:rPr>
                <a:t>MR</a:t>
              </a:r>
              <a:r>
                <a:rPr lang="en-US" sz="1688" i="1" dirty="0">
                  <a:solidFill>
                    <a:schemeClr val="accent2">
                      <a:lumMod val="60000"/>
                      <a:lumOff val="40000"/>
                    </a:schemeClr>
                  </a:solidFill>
                  <a:latin typeface="Whitney-Book" pitchFamily="50" charset="0"/>
                  <a:cs typeface="Whitney-Book" pitchFamily="50" charset="0"/>
                </a:rPr>
                <a:t>2</a:t>
              </a:r>
              <a:endParaRPr lang="en-US" sz="1875" i="1" dirty="0">
                <a:solidFill>
                  <a:schemeClr val="accent2">
                    <a:lumMod val="60000"/>
                    <a:lumOff val="40000"/>
                  </a:schemeClr>
                </a:solidFill>
                <a:latin typeface="Whitney-Book" pitchFamily="50" charset="0"/>
                <a:cs typeface="Whitney-Book" pitchFamily="50" charset="0"/>
              </a:endParaRPr>
            </a:p>
            <a:p>
              <a:pPr>
                <a:lnSpc>
                  <a:spcPts val="2763"/>
                </a:lnSpc>
                <a:spcAft>
                  <a:spcPts val="888"/>
                </a:spcAft>
                <a:tabLst>
                  <a:tab pos="451085" algn="l"/>
                  <a:tab pos="902170" algn="l"/>
                  <a:tab pos="1353255" algn="l"/>
                </a:tabLst>
              </a:pPr>
              <a:endParaRPr lang="en-US" sz="2625" dirty="0">
                <a:solidFill>
                  <a:schemeClr val="accent2">
                    <a:lumMod val="60000"/>
                    <a:lumOff val="40000"/>
                  </a:schemeClr>
                </a:solidFill>
                <a:latin typeface="Whitney-Book" pitchFamily="50" charset="0"/>
                <a:cs typeface="Whitney-Book" pitchFamily="50" charset="0"/>
              </a:endParaRPr>
            </a:p>
          </p:txBody>
        </p:sp>
      </p:grpSp>
      <p:grpSp>
        <p:nvGrpSpPr>
          <p:cNvPr id="8" name="Group 41"/>
          <p:cNvGrpSpPr>
            <a:grpSpLocks/>
          </p:cNvGrpSpPr>
          <p:nvPr/>
        </p:nvGrpSpPr>
        <p:grpSpPr bwMode="auto">
          <a:xfrm>
            <a:off x="3601014" y="3627347"/>
            <a:ext cx="713983" cy="2670484"/>
            <a:chOff x="2652" y="2248"/>
            <a:chExt cx="456" cy="1704"/>
          </a:xfrm>
        </p:grpSpPr>
        <p:sp>
          <p:nvSpPr>
            <p:cNvPr id="65565" name="Rectangle 29"/>
            <p:cNvSpPr>
              <a:spLocks noChangeArrowheads="1"/>
            </p:cNvSpPr>
            <p:nvPr/>
          </p:nvSpPr>
          <p:spPr bwMode="auto">
            <a:xfrm>
              <a:off x="2652" y="3572"/>
              <a:ext cx="456" cy="380"/>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625" i="1" dirty="0">
                  <a:latin typeface="Whitney-Book" pitchFamily="50" charset="0"/>
                  <a:cs typeface="Whitney-Book" pitchFamily="50" charset="0"/>
                </a:rPr>
                <a:t>Q</a:t>
              </a:r>
              <a:r>
                <a:rPr lang="en-US" sz="1688" i="1" dirty="0">
                  <a:latin typeface="Whitney-Book" pitchFamily="50" charset="0"/>
                  <a:cs typeface="Whitney-Book" pitchFamily="50" charset="0"/>
                </a:rPr>
                <a:t>2</a:t>
              </a:r>
              <a:endParaRPr lang="en-US" sz="1875" i="1" dirty="0">
                <a:latin typeface="Whitney-Book" pitchFamily="50" charset="0"/>
                <a:cs typeface="Whitney-Book" pitchFamily="50" charset="0"/>
              </a:endParaRPr>
            </a:p>
          </p:txBody>
        </p:sp>
        <p:sp>
          <p:nvSpPr>
            <p:cNvPr id="65564" name="Line 28"/>
            <p:cNvSpPr>
              <a:spLocks noChangeShapeType="1"/>
            </p:cNvSpPr>
            <p:nvPr/>
          </p:nvSpPr>
          <p:spPr bwMode="auto">
            <a:xfrm>
              <a:off x="2748" y="2248"/>
              <a:ext cx="0" cy="1267"/>
            </a:xfrm>
            <a:prstGeom prst="line">
              <a:avLst/>
            </a:prstGeom>
            <a:noFill/>
            <a:ln w="25400">
              <a:solidFill>
                <a:schemeClr val="tx1"/>
              </a:solidFill>
              <a:prstDash val="sysDash"/>
              <a:round/>
              <a:headEnd type="none" w="sm" len="sm"/>
              <a:tailEnd type="none" w="sm" len="sm"/>
            </a:ln>
            <a:effectLst/>
          </p:spPr>
          <p:txBody>
            <a:bodyPr wrap="none" anchor="ctr"/>
            <a:lstStyle/>
            <a:p>
              <a:endParaRPr lang="en-US" sz="2625" dirty="0">
                <a:latin typeface="Whitney-Book" pitchFamily="50" charset="0"/>
                <a:cs typeface="Whitney-Book" pitchFamily="50" charset="0"/>
              </a:endParaRPr>
            </a:p>
          </p:txBody>
        </p:sp>
      </p:grpSp>
      <p:sp>
        <p:nvSpPr>
          <p:cNvPr id="35" name="Rectangle 23">
            <a:extLst>
              <a:ext uri="{FF2B5EF4-FFF2-40B4-BE49-F238E27FC236}">
                <a16:creationId xmlns:a16="http://schemas.microsoft.com/office/drawing/2014/main" id="{C8AD2DD4-308D-48B9-915F-1B575363A14B}"/>
              </a:ext>
            </a:extLst>
          </p:cNvPr>
          <p:cNvSpPr>
            <a:spLocks noChangeArrowheads="1"/>
          </p:cNvSpPr>
          <p:nvPr/>
        </p:nvSpPr>
        <p:spPr bwMode="auto">
          <a:xfrm>
            <a:off x="657925" y="6100838"/>
            <a:ext cx="8028872" cy="589261"/>
          </a:xfrm>
          <a:prstGeom prst="rect">
            <a:avLst/>
          </a:prstGeom>
          <a:noFill/>
          <a:ln w="25400">
            <a:solidFill>
              <a:srgbClr val="C00000"/>
            </a:solidFill>
            <a:miter lim="800000"/>
            <a:headEnd/>
            <a:tailEnd/>
          </a:ln>
          <a:effectLst/>
        </p:spPr>
        <p:txBody>
          <a:bodyPr wrap="square" lIns="18795" tIns="26627" rIns="18795" bIns="26627" anchor="ctr" anchorCtr="0">
            <a:noAutofit/>
          </a:bodyPr>
          <a:lstStyle/>
          <a:p>
            <a:pPr algn="ctr">
              <a:lnSpc>
                <a:spcPts val="2344"/>
              </a:lnSpc>
              <a:tabLst>
                <a:tab pos="451085" algn="l"/>
                <a:tab pos="902170" algn="l"/>
                <a:tab pos="1353255" algn="l"/>
              </a:tabLst>
            </a:pPr>
            <a:r>
              <a:rPr lang="en-US" sz="1688" dirty="0">
                <a:solidFill>
                  <a:srgbClr val="C00000"/>
                </a:solidFill>
                <a:latin typeface="Whitney-Book" pitchFamily="50" charset="0"/>
                <a:cs typeface="Whitney-Book" pitchFamily="50" charset="0"/>
              </a:rPr>
              <a:t>Profits of the incumbent firm decline as more competitors with similar (but differentiated) products enter the monopolistically competitive market. </a:t>
            </a:r>
          </a:p>
        </p:txBody>
      </p:sp>
      <p:pic>
        <p:nvPicPr>
          <p:cNvPr id="16" name="Picture 15" descr="A picture containing text&#10;&#10;Description automatically generated">
            <a:extLst>
              <a:ext uri="{FF2B5EF4-FFF2-40B4-BE49-F238E27FC236}">
                <a16:creationId xmlns:a16="http://schemas.microsoft.com/office/drawing/2014/main" id="{532A114E-37BB-4714-8AAF-3E18231AEC98}"/>
              </a:ext>
            </a:extLst>
          </p:cNvPr>
          <p:cNvPicPr>
            <a:picLocks noChangeAspect="1"/>
          </p:cNvPicPr>
          <p:nvPr/>
        </p:nvPicPr>
        <p:blipFill>
          <a:blip r:embed="rId4"/>
          <a:stretch>
            <a:fillRect/>
          </a:stretch>
        </p:blipFill>
        <p:spPr>
          <a:xfrm>
            <a:off x="1683147" y="1261099"/>
            <a:ext cx="1469241" cy="626523"/>
          </a:xfrm>
          <a:prstGeom prst="rect">
            <a:avLst/>
          </a:prstGeom>
        </p:spPr>
      </p:pic>
      <p:pic>
        <p:nvPicPr>
          <p:cNvPr id="20" name="Picture 19" descr="Text&#10;&#10;Description automatically generated with medium confidence">
            <a:extLst>
              <a:ext uri="{FF2B5EF4-FFF2-40B4-BE49-F238E27FC236}">
                <a16:creationId xmlns:a16="http://schemas.microsoft.com/office/drawing/2014/main" id="{C44A54A8-043B-4DD1-9343-A9E265442969}"/>
              </a:ext>
            </a:extLst>
          </p:cNvPr>
          <p:cNvPicPr>
            <a:picLocks noChangeAspect="1"/>
          </p:cNvPicPr>
          <p:nvPr/>
        </p:nvPicPr>
        <p:blipFill>
          <a:blip r:embed="rId5"/>
          <a:stretch>
            <a:fillRect/>
          </a:stretch>
        </p:blipFill>
        <p:spPr>
          <a:xfrm>
            <a:off x="3393055" y="1257275"/>
            <a:ext cx="1952625" cy="628650"/>
          </a:xfrm>
          <a:prstGeom prst="rect">
            <a:avLst/>
          </a:prstGeom>
        </p:spPr>
      </p:pic>
      <p:pic>
        <p:nvPicPr>
          <p:cNvPr id="21" name="Picture 20">
            <a:extLst>
              <a:ext uri="{FF2B5EF4-FFF2-40B4-BE49-F238E27FC236}">
                <a16:creationId xmlns:a16="http://schemas.microsoft.com/office/drawing/2014/main" id="{492BB738-941E-4D59-AD7D-BDB492829425}"/>
              </a:ext>
            </a:extLst>
          </p:cNvPr>
          <p:cNvPicPr>
            <a:picLocks noChangeAspect="1"/>
          </p:cNvPicPr>
          <p:nvPr/>
        </p:nvPicPr>
        <p:blipFill>
          <a:blip r:embed="rId6"/>
          <a:stretch>
            <a:fillRect/>
          </a:stretch>
        </p:blipFill>
        <p:spPr>
          <a:xfrm>
            <a:off x="5696379" y="1187141"/>
            <a:ext cx="922993" cy="922993"/>
          </a:xfrm>
          <a:prstGeom prst="rect">
            <a:avLst/>
          </a:prstGeom>
        </p:spPr>
      </p:pic>
      <p:cxnSp>
        <p:nvCxnSpPr>
          <p:cNvPr id="14" name="Straight Connector 13">
            <a:extLst>
              <a:ext uri="{FF2B5EF4-FFF2-40B4-BE49-F238E27FC236}">
                <a16:creationId xmlns:a16="http://schemas.microsoft.com/office/drawing/2014/main" id="{FF2890E9-63AC-4D67-9377-A7664CDFF0B4}"/>
              </a:ext>
            </a:extLst>
          </p:cNvPr>
          <p:cNvCxnSpPr>
            <a:cxnSpLocks/>
          </p:cNvCxnSpPr>
          <p:nvPr/>
        </p:nvCxnSpPr>
        <p:spPr>
          <a:xfrm flipV="1">
            <a:off x="2384582" y="3068195"/>
            <a:ext cx="3879598" cy="2127918"/>
          </a:xfrm>
          <a:prstGeom prst="line">
            <a:avLst/>
          </a:prstGeom>
        </p:spPr>
        <p:style>
          <a:lnRef idx="3">
            <a:schemeClr val="accent1"/>
          </a:lnRef>
          <a:fillRef idx="0">
            <a:schemeClr val="accent1"/>
          </a:fillRef>
          <a:effectRef idx="2">
            <a:schemeClr val="accent1"/>
          </a:effectRef>
          <a:fontRef idx="minor">
            <a:schemeClr val="tx1"/>
          </a:fontRef>
        </p:style>
      </p:cxnSp>
      <p:sp>
        <p:nvSpPr>
          <p:cNvPr id="41" name="Rectangle 19">
            <a:extLst>
              <a:ext uri="{FF2B5EF4-FFF2-40B4-BE49-F238E27FC236}">
                <a16:creationId xmlns:a16="http://schemas.microsoft.com/office/drawing/2014/main" id="{1A78F6C5-3743-4FA1-B2B9-FFA26FA0E274}"/>
              </a:ext>
            </a:extLst>
          </p:cNvPr>
          <p:cNvSpPr>
            <a:spLocks noChangeArrowheads="1"/>
          </p:cNvSpPr>
          <p:nvPr/>
        </p:nvSpPr>
        <p:spPr bwMode="auto">
          <a:xfrm>
            <a:off x="6244773" y="2731611"/>
            <a:ext cx="1036646" cy="519633"/>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625" i="1" dirty="0">
                <a:solidFill>
                  <a:schemeClr val="accent1"/>
                </a:solidFill>
                <a:latin typeface="Whitney-Book" pitchFamily="50" charset="0"/>
                <a:cs typeface="Whitney-Book" pitchFamily="50" charset="0"/>
              </a:rPr>
              <a:t>MC</a:t>
            </a:r>
          </a:p>
        </p:txBody>
      </p:sp>
      <p:grpSp>
        <p:nvGrpSpPr>
          <p:cNvPr id="15" name="Group 14">
            <a:extLst>
              <a:ext uri="{FF2B5EF4-FFF2-40B4-BE49-F238E27FC236}">
                <a16:creationId xmlns:a16="http://schemas.microsoft.com/office/drawing/2014/main" id="{D59A8CB4-9FC1-46EB-BE5D-C80B28E99CEF}"/>
              </a:ext>
            </a:extLst>
          </p:cNvPr>
          <p:cNvGrpSpPr/>
          <p:nvPr/>
        </p:nvGrpSpPr>
        <p:grpSpPr>
          <a:xfrm>
            <a:off x="1224362" y="2069000"/>
            <a:ext cx="6958110" cy="2700827"/>
            <a:chOff x="1351931" y="1537541"/>
            <a:chExt cx="6958110" cy="2700827"/>
          </a:xfrm>
        </p:grpSpPr>
        <p:grpSp>
          <p:nvGrpSpPr>
            <p:cNvPr id="12" name="Group 11">
              <a:extLst>
                <a:ext uri="{FF2B5EF4-FFF2-40B4-BE49-F238E27FC236}">
                  <a16:creationId xmlns:a16="http://schemas.microsoft.com/office/drawing/2014/main" id="{785F09BE-6697-4244-8222-EA07B00F7924}"/>
                </a:ext>
              </a:extLst>
            </p:cNvPr>
            <p:cNvGrpSpPr/>
            <p:nvPr/>
          </p:nvGrpSpPr>
          <p:grpSpPr>
            <a:xfrm>
              <a:off x="1351931" y="1537541"/>
              <a:ext cx="6958110" cy="2700827"/>
              <a:chOff x="1351931" y="1537541"/>
              <a:chExt cx="6958110" cy="2700827"/>
            </a:xfrm>
          </p:grpSpPr>
          <p:sp>
            <p:nvSpPr>
              <p:cNvPr id="65547" name="Line 11"/>
              <p:cNvSpPr>
                <a:spLocks noChangeShapeType="1"/>
              </p:cNvSpPr>
              <p:nvPr/>
            </p:nvSpPr>
            <p:spPr bwMode="auto">
              <a:xfrm>
                <a:off x="1351931" y="1537541"/>
                <a:ext cx="6079071" cy="2203179"/>
              </a:xfrm>
              <a:prstGeom prst="line">
                <a:avLst/>
              </a:prstGeom>
              <a:noFill/>
              <a:ln w="50800">
                <a:solidFill>
                  <a:srgbClr val="C00000"/>
                </a:solidFill>
                <a:round/>
                <a:headEnd type="none" w="sm" len="sm"/>
                <a:tailEnd type="none" w="sm" len="sm"/>
              </a:ln>
              <a:effectLst/>
            </p:spPr>
            <p:txBody>
              <a:bodyPr wrap="none" anchor="ctr"/>
              <a:lstStyle/>
              <a:p>
                <a:endParaRPr lang="en-US" sz="2625">
                  <a:latin typeface="Whitney-Book" pitchFamily="50" charset="0"/>
                  <a:cs typeface="Whitney-Book" pitchFamily="50" charset="0"/>
                </a:endParaRPr>
              </a:p>
            </p:txBody>
          </p:sp>
          <p:sp>
            <p:nvSpPr>
              <p:cNvPr id="65548" name="Rectangle 12"/>
              <p:cNvSpPr>
                <a:spLocks noChangeArrowheads="1"/>
              </p:cNvSpPr>
              <p:nvPr/>
            </p:nvSpPr>
            <p:spPr bwMode="auto">
              <a:xfrm>
                <a:off x="7549978" y="3692075"/>
                <a:ext cx="760063" cy="546293"/>
              </a:xfrm>
              <a:prstGeom prst="rect">
                <a:avLst/>
              </a:prstGeom>
              <a:noFill/>
              <a:ln w="9525">
                <a:noFill/>
                <a:miter lim="800000"/>
                <a:headEnd/>
                <a:tailEnd/>
              </a:ln>
              <a:effectLst/>
            </p:spPr>
            <p:txBody>
              <a:bodyPr wrap="none" lIns="17859" tIns="25301" rIns="17859" bIns="25301"/>
              <a:lstStyle/>
              <a:p>
                <a:pPr>
                  <a:lnSpc>
                    <a:spcPts val="2763"/>
                  </a:lnSpc>
                  <a:tabLst>
                    <a:tab pos="451085" algn="l"/>
                    <a:tab pos="902170" algn="l"/>
                    <a:tab pos="1353255" algn="l"/>
                  </a:tabLst>
                </a:pPr>
                <a:r>
                  <a:rPr lang="en-US" sz="2625" i="1" dirty="0">
                    <a:solidFill>
                      <a:srgbClr val="C00000"/>
                    </a:solidFill>
                    <a:latin typeface="Whitney-Book" pitchFamily="50" charset="0"/>
                    <a:cs typeface="Whitney-Book" pitchFamily="50" charset="0"/>
                  </a:rPr>
                  <a:t>D</a:t>
                </a:r>
                <a:r>
                  <a:rPr lang="en-US" sz="1688" i="1" dirty="0">
                    <a:solidFill>
                      <a:srgbClr val="C00000"/>
                    </a:solidFill>
                    <a:latin typeface="Whitney-Book" pitchFamily="50" charset="0"/>
                    <a:cs typeface="Whitney-Book" pitchFamily="50" charset="0"/>
                  </a:rPr>
                  <a:t>1</a:t>
                </a:r>
                <a:endParaRPr lang="en-US" sz="1875" i="1" dirty="0">
                  <a:solidFill>
                    <a:srgbClr val="C00000"/>
                  </a:solidFill>
                  <a:latin typeface="Whitney-Book" pitchFamily="50" charset="0"/>
                  <a:cs typeface="Whitney-Book" pitchFamily="50" charset="0"/>
                </a:endParaRPr>
              </a:p>
            </p:txBody>
          </p:sp>
        </p:grpSp>
        <p:sp>
          <p:nvSpPr>
            <p:cNvPr id="38" name="Arc 25">
              <a:extLst>
                <a:ext uri="{FF2B5EF4-FFF2-40B4-BE49-F238E27FC236}">
                  <a16:creationId xmlns:a16="http://schemas.microsoft.com/office/drawing/2014/main" id="{96877987-46CA-473C-814B-66943BD870D9}"/>
                </a:ext>
              </a:extLst>
            </p:cNvPr>
            <p:cNvSpPr>
              <a:spLocks/>
            </p:cNvSpPr>
            <p:nvPr/>
          </p:nvSpPr>
          <p:spPr bwMode="auto">
            <a:xfrm rot="444089">
              <a:off x="2788566" y="1641891"/>
              <a:ext cx="1948644" cy="1712793"/>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57150" cap="rnd">
              <a:solidFill>
                <a:srgbClr val="00B050"/>
              </a:solidFill>
              <a:round/>
              <a:headEnd type="none" w="sm" len="sm"/>
              <a:tailEnd type="none" w="sm" len="sm"/>
            </a:ln>
            <a:effectLst/>
          </p:spPr>
          <p:txBody>
            <a:bodyPr wrap="none" anchor="ctr"/>
            <a:lstStyle/>
            <a:p>
              <a:endParaRPr lang="en-US" sz="2625" dirty="0">
                <a:solidFill>
                  <a:schemeClr val="bg1"/>
                </a:solidFill>
                <a:latin typeface="Whitney-Book" pitchFamily="50" charset="0"/>
                <a:cs typeface="Whitney-Book" pitchFamily="50" charset="0"/>
              </a:endParaRPr>
            </a:p>
          </p:txBody>
        </p:sp>
        <p:sp>
          <p:nvSpPr>
            <p:cNvPr id="39" name="Arc 17">
              <a:extLst>
                <a:ext uri="{FF2B5EF4-FFF2-40B4-BE49-F238E27FC236}">
                  <a16:creationId xmlns:a16="http://schemas.microsoft.com/office/drawing/2014/main" id="{225FF184-B476-42D3-9EEC-820181FAE64D}"/>
                </a:ext>
              </a:extLst>
            </p:cNvPr>
            <p:cNvSpPr>
              <a:spLocks/>
            </p:cNvSpPr>
            <p:nvPr/>
          </p:nvSpPr>
          <p:spPr bwMode="auto">
            <a:xfrm rot="21060185">
              <a:off x="4614510" y="3307425"/>
              <a:ext cx="2019705" cy="125186"/>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57150" cap="rnd">
              <a:solidFill>
                <a:srgbClr val="00B050"/>
              </a:solidFill>
              <a:round/>
              <a:headEnd type="none" w="sm" len="sm"/>
              <a:tailEnd type="none" w="sm" len="sm"/>
            </a:ln>
            <a:effectLst/>
          </p:spPr>
          <p:txBody>
            <a:bodyPr wrap="none" anchor="ctr"/>
            <a:lstStyle/>
            <a:p>
              <a:endParaRPr lang="en-US" sz="2800" b="0" dirty="0">
                <a:solidFill>
                  <a:schemeClr val="accent2">
                    <a:lumMod val="75000"/>
                  </a:schemeClr>
                </a:solidFill>
                <a:latin typeface="Whitney-Book" pitchFamily="50" charset="0"/>
                <a:cs typeface="Whitney-Book" pitchFamily="50" charset="0"/>
              </a:endParaRPr>
            </a:p>
          </p:txBody>
        </p:sp>
      </p:grpSp>
      <p:grpSp>
        <p:nvGrpSpPr>
          <p:cNvPr id="24" name="Group 23">
            <a:extLst>
              <a:ext uri="{FF2B5EF4-FFF2-40B4-BE49-F238E27FC236}">
                <a16:creationId xmlns:a16="http://schemas.microsoft.com/office/drawing/2014/main" id="{7C340C7D-F2FA-4FFF-BAAF-2C1EEFD9E2E1}"/>
              </a:ext>
            </a:extLst>
          </p:cNvPr>
          <p:cNvGrpSpPr/>
          <p:nvPr/>
        </p:nvGrpSpPr>
        <p:grpSpPr>
          <a:xfrm>
            <a:off x="1237923" y="2501512"/>
            <a:ext cx="6737437" cy="2731419"/>
            <a:chOff x="1234403" y="2485526"/>
            <a:chExt cx="6737437" cy="2731419"/>
          </a:xfrm>
        </p:grpSpPr>
        <p:grpSp>
          <p:nvGrpSpPr>
            <p:cNvPr id="13" name="Group 12"/>
            <p:cNvGrpSpPr/>
            <p:nvPr/>
          </p:nvGrpSpPr>
          <p:grpSpPr>
            <a:xfrm>
              <a:off x="1234403" y="2485526"/>
              <a:ext cx="6737437" cy="2731419"/>
              <a:chOff x="1350098" y="2651228"/>
              <a:chExt cx="7186600" cy="2913514"/>
            </a:xfrm>
          </p:grpSpPr>
          <p:grpSp>
            <p:nvGrpSpPr>
              <p:cNvPr id="6" name="Group 35"/>
              <p:cNvGrpSpPr>
                <a:grpSpLocks/>
              </p:cNvGrpSpPr>
              <p:nvPr/>
            </p:nvGrpSpPr>
            <p:grpSpPr bwMode="auto">
              <a:xfrm>
                <a:off x="1350098" y="3152532"/>
                <a:ext cx="7186600" cy="2412210"/>
                <a:chOff x="917" y="1997"/>
                <a:chExt cx="4303" cy="1443"/>
              </a:xfrm>
            </p:grpSpPr>
            <p:sp>
              <p:nvSpPr>
                <p:cNvPr id="65557" name="Line 21"/>
                <p:cNvSpPr>
                  <a:spLocks noChangeShapeType="1"/>
                </p:cNvSpPr>
                <p:nvPr/>
              </p:nvSpPr>
              <p:spPr bwMode="auto">
                <a:xfrm>
                  <a:off x="917" y="1997"/>
                  <a:ext cx="3911" cy="1039"/>
                </a:xfrm>
                <a:prstGeom prst="line">
                  <a:avLst/>
                </a:prstGeom>
                <a:noFill/>
                <a:ln w="50800">
                  <a:solidFill>
                    <a:schemeClr val="accent2">
                      <a:lumMod val="60000"/>
                      <a:lumOff val="40000"/>
                    </a:schemeClr>
                  </a:solidFill>
                  <a:round/>
                  <a:headEnd type="none" w="sm" len="sm"/>
                  <a:tailEnd type="none" w="sm" len="sm"/>
                </a:ln>
                <a:effectLst/>
              </p:spPr>
              <p:txBody>
                <a:bodyPr wrap="none" anchor="ctr"/>
                <a:lstStyle/>
                <a:p>
                  <a:endParaRPr lang="en-US" sz="2625" dirty="0">
                    <a:latin typeface="Whitney-Book" pitchFamily="50" charset="0"/>
                    <a:cs typeface="Whitney-Book" pitchFamily="50" charset="0"/>
                  </a:endParaRPr>
                </a:p>
              </p:txBody>
            </p:sp>
            <p:sp>
              <p:nvSpPr>
                <p:cNvPr id="65558" name="Rectangle 22"/>
                <p:cNvSpPr>
                  <a:spLocks noChangeArrowheads="1"/>
                </p:cNvSpPr>
                <p:nvPr/>
              </p:nvSpPr>
              <p:spPr bwMode="auto">
                <a:xfrm>
                  <a:off x="4772" y="3064"/>
                  <a:ext cx="448" cy="376"/>
                </a:xfrm>
                <a:prstGeom prst="rect">
                  <a:avLst/>
                </a:prstGeom>
                <a:noFill/>
                <a:ln w="9525">
                  <a:noFill/>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625" i="1" dirty="0">
                      <a:solidFill>
                        <a:schemeClr val="accent2">
                          <a:lumMod val="60000"/>
                          <a:lumOff val="40000"/>
                        </a:schemeClr>
                      </a:solidFill>
                      <a:latin typeface="Whitney-Book" pitchFamily="50" charset="0"/>
                      <a:cs typeface="Whitney-Book" pitchFamily="50" charset="0"/>
                    </a:rPr>
                    <a:t>D</a:t>
                  </a:r>
                  <a:r>
                    <a:rPr lang="en-US" sz="1688" i="1" dirty="0">
                      <a:solidFill>
                        <a:schemeClr val="accent2">
                          <a:lumMod val="60000"/>
                          <a:lumOff val="40000"/>
                        </a:schemeClr>
                      </a:solidFill>
                      <a:latin typeface="Whitney-Book" pitchFamily="50" charset="0"/>
                      <a:cs typeface="Whitney-Book" pitchFamily="50" charset="0"/>
                    </a:rPr>
                    <a:t>2</a:t>
                  </a:r>
                  <a:endParaRPr lang="en-US" sz="1875" i="1" dirty="0">
                    <a:solidFill>
                      <a:schemeClr val="accent2">
                        <a:lumMod val="60000"/>
                        <a:lumOff val="40000"/>
                      </a:schemeClr>
                    </a:solidFill>
                    <a:latin typeface="Whitney-Book" pitchFamily="50" charset="0"/>
                    <a:cs typeface="Whitney-Book" pitchFamily="50" charset="0"/>
                  </a:endParaRPr>
                </a:p>
              </p:txBody>
            </p:sp>
          </p:grpSp>
          <p:cxnSp>
            <p:nvCxnSpPr>
              <p:cNvPr id="11" name="Straight Arrow Connector 10"/>
              <p:cNvCxnSpPr>
                <a:cxnSpLocks/>
              </p:cNvCxnSpPr>
              <p:nvPr/>
            </p:nvCxnSpPr>
            <p:spPr>
              <a:xfrm flipH="1">
                <a:off x="2157821" y="2651228"/>
                <a:ext cx="248577" cy="615041"/>
              </a:xfrm>
              <a:prstGeom prst="straightConnector1">
                <a:avLst/>
              </a:prstGeom>
              <a:ln w="28575">
                <a:gradFill>
                  <a:gsLst>
                    <a:gs pos="0">
                      <a:schemeClr val="accent2">
                        <a:lumMod val="60000"/>
                        <a:lumOff val="40000"/>
                      </a:schemeClr>
                    </a:gs>
                    <a:gs pos="100000">
                      <a:srgbClr val="C00000"/>
                    </a:gs>
                  </a:gsLst>
                  <a:lin ang="5400000" scaled="1"/>
                </a:gradFill>
                <a:tailEnd type="triangle" w="med" len="lg"/>
              </a:ln>
            </p:spPr>
            <p:style>
              <a:lnRef idx="1">
                <a:schemeClr val="accent1"/>
              </a:lnRef>
              <a:fillRef idx="0">
                <a:schemeClr val="accent1"/>
              </a:fillRef>
              <a:effectRef idx="0">
                <a:schemeClr val="accent1"/>
              </a:effectRef>
              <a:fontRef idx="minor">
                <a:schemeClr val="tx1"/>
              </a:fontRef>
            </p:style>
          </p:cxnSp>
        </p:grpSp>
        <p:cxnSp>
          <p:nvCxnSpPr>
            <p:cNvPr id="45" name="Straight Arrow Connector 44">
              <a:extLst>
                <a:ext uri="{FF2B5EF4-FFF2-40B4-BE49-F238E27FC236}">
                  <a16:creationId xmlns:a16="http://schemas.microsoft.com/office/drawing/2014/main" id="{5E9BD174-1A33-4593-B392-2B4AD236CB13}"/>
                </a:ext>
              </a:extLst>
            </p:cNvPr>
            <p:cNvCxnSpPr>
              <a:cxnSpLocks/>
            </p:cNvCxnSpPr>
            <p:nvPr/>
          </p:nvCxnSpPr>
          <p:spPr>
            <a:xfrm flipH="1">
              <a:off x="6807497" y="4118226"/>
              <a:ext cx="123612" cy="321042"/>
            </a:xfrm>
            <a:prstGeom prst="straightConnector1">
              <a:avLst/>
            </a:prstGeom>
            <a:ln w="28575">
              <a:gradFill>
                <a:gsLst>
                  <a:gs pos="0">
                    <a:schemeClr val="accent2">
                      <a:lumMod val="60000"/>
                      <a:lumOff val="40000"/>
                    </a:schemeClr>
                  </a:gs>
                  <a:gs pos="100000">
                    <a:srgbClr val="C00000"/>
                  </a:gs>
                </a:gsLst>
                <a:lin ang="5400000" scaled="1"/>
              </a:gra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9" name="Group 40"/>
          <p:cNvGrpSpPr>
            <a:grpSpLocks/>
          </p:cNvGrpSpPr>
          <p:nvPr/>
        </p:nvGrpSpPr>
        <p:grpSpPr bwMode="auto">
          <a:xfrm>
            <a:off x="779687" y="3388465"/>
            <a:ext cx="2934225" cy="589262"/>
            <a:chOff x="584" y="2039"/>
            <a:chExt cx="1874" cy="376"/>
          </a:xfrm>
        </p:grpSpPr>
        <p:sp>
          <p:nvSpPr>
            <p:cNvPr id="65567" name="Line 31"/>
            <p:cNvSpPr>
              <a:spLocks noChangeShapeType="1"/>
            </p:cNvSpPr>
            <p:nvPr/>
          </p:nvSpPr>
          <p:spPr bwMode="auto">
            <a:xfrm flipH="1" flipV="1">
              <a:off x="853" y="2188"/>
              <a:ext cx="1605" cy="3"/>
            </a:xfrm>
            <a:prstGeom prst="line">
              <a:avLst/>
            </a:prstGeom>
            <a:noFill/>
            <a:ln w="25400">
              <a:solidFill>
                <a:schemeClr val="tx1"/>
              </a:solidFill>
              <a:prstDash val="sysDash"/>
              <a:round/>
              <a:headEnd type="none" w="sm" len="sm"/>
              <a:tailEnd type="none" w="sm" len="sm"/>
            </a:ln>
            <a:effectLst/>
          </p:spPr>
          <p:txBody>
            <a:bodyPr wrap="none" anchor="ctr"/>
            <a:lstStyle/>
            <a:p>
              <a:endParaRPr lang="en-US" sz="2625">
                <a:latin typeface="Whitney-Book" pitchFamily="50" charset="0"/>
                <a:cs typeface="Whitney-Book" pitchFamily="50" charset="0"/>
              </a:endParaRPr>
            </a:p>
          </p:txBody>
        </p:sp>
        <p:sp>
          <p:nvSpPr>
            <p:cNvPr id="65568" name="Rectangle 32"/>
            <p:cNvSpPr>
              <a:spLocks noChangeArrowheads="1"/>
            </p:cNvSpPr>
            <p:nvPr/>
          </p:nvSpPr>
          <p:spPr bwMode="auto">
            <a:xfrm>
              <a:off x="584" y="2039"/>
              <a:ext cx="469" cy="376"/>
            </a:xfrm>
            <a:prstGeom prst="rect">
              <a:avLst/>
            </a:prstGeom>
            <a:noFill/>
            <a:ln w="9525">
              <a:noFill/>
              <a:prstDash val="sysDot"/>
              <a:miter lim="800000"/>
              <a:headEnd/>
              <a:tailEnd/>
            </a:ln>
            <a:effectLst/>
          </p:spPr>
          <p:txBody>
            <a:bodyPr wrap="none" lIns="17859" tIns="25301" rIns="17859" bIns="25301"/>
            <a:lstStyle/>
            <a:p>
              <a:pPr>
                <a:lnSpc>
                  <a:spcPts val="2763"/>
                </a:lnSpc>
                <a:spcAft>
                  <a:spcPts val="888"/>
                </a:spcAft>
                <a:tabLst>
                  <a:tab pos="451085" algn="l"/>
                  <a:tab pos="902170" algn="l"/>
                  <a:tab pos="1353255" algn="l"/>
                </a:tabLst>
              </a:pPr>
              <a:r>
                <a:rPr lang="en-US" sz="2400" i="1" dirty="0">
                  <a:latin typeface="Whitney-Book" pitchFamily="50" charset="0"/>
                  <a:cs typeface="Whitney-Book" pitchFamily="50" charset="0"/>
                </a:rPr>
                <a:t>P</a:t>
              </a:r>
              <a:r>
                <a:rPr lang="en-US" sz="1600" i="1" dirty="0">
                  <a:latin typeface="Whitney-Book" pitchFamily="50" charset="0"/>
                  <a:cs typeface="Whitney-Book" pitchFamily="50" charset="0"/>
                </a:rPr>
                <a:t>2</a:t>
              </a:r>
              <a:endParaRPr lang="en-US" sz="2400" i="1" dirty="0">
                <a:latin typeface="Whitney-Book" pitchFamily="50" charset="0"/>
                <a:cs typeface="Whitney-Book" pitchFamily="50" charset="0"/>
              </a:endParaRPr>
            </a:p>
          </p:txBody>
        </p:sp>
      </p:grpSp>
      <p:grpSp>
        <p:nvGrpSpPr>
          <p:cNvPr id="49" name="Group 40">
            <a:extLst>
              <a:ext uri="{FF2B5EF4-FFF2-40B4-BE49-F238E27FC236}">
                <a16:creationId xmlns:a16="http://schemas.microsoft.com/office/drawing/2014/main" id="{1E2EBA3D-E8FE-465F-9A4B-EBA5725C99CB}"/>
              </a:ext>
            </a:extLst>
          </p:cNvPr>
          <p:cNvGrpSpPr>
            <a:grpSpLocks/>
          </p:cNvGrpSpPr>
          <p:nvPr/>
        </p:nvGrpSpPr>
        <p:grpSpPr bwMode="auto">
          <a:xfrm>
            <a:off x="735414" y="3632042"/>
            <a:ext cx="3021749" cy="451349"/>
            <a:chOff x="497" y="2530"/>
            <a:chExt cx="1838" cy="288"/>
          </a:xfrm>
        </p:grpSpPr>
        <p:sp>
          <p:nvSpPr>
            <p:cNvPr id="50" name="Line 29">
              <a:extLst>
                <a:ext uri="{FF2B5EF4-FFF2-40B4-BE49-F238E27FC236}">
                  <a16:creationId xmlns:a16="http://schemas.microsoft.com/office/drawing/2014/main" id="{0E1A0DEB-B56E-491C-8800-B0F0F1B979BB}"/>
                </a:ext>
              </a:extLst>
            </p:cNvPr>
            <p:cNvSpPr>
              <a:spLocks noChangeShapeType="1"/>
            </p:cNvSpPr>
            <p:nvPr/>
          </p:nvSpPr>
          <p:spPr bwMode="auto">
            <a:xfrm flipH="1" flipV="1">
              <a:off x="784" y="2628"/>
              <a:ext cx="1551" cy="0"/>
            </a:xfrm>
            <a:prstGeom prst="line">
              <a:avLst/>
            </a:prstGeom>
            <a:noFill/>
            <a:ln w="22225">
              <a:solidFill>
                <a:schemeClr val="tx1"/>
              </a:solidFill>
              <a:prstDash val="sysDash"/>
              <a:round/>
              <a:headEnd type="none" w="sm" len="sm"/>
              <a:tailEnd type="none" w="sm" len="sm"/>
            </a:ln>
            <a:effectLst/>
          </p:spPr>
          <p:txBody>
            <a:bodyPr wrap="none" anchor="ctr"/>
            <a:lstStyle/>
            <a:p>
              <a:endParaRPr lang="en-US" sz="2625">
                <a:solidFill>
                  <a:schemeClr val="bg1"/>
                </a:solidFill>
                <a:latin typeface="Whitney-Book" pitchFamily="50" charset="0"/>
                <a:cs typeface="Whitney-Book" pitchFamily="50" charset="0"/>
              </a:endParaRPr>
            </a:p>
          </p:txBody>
        </p:sp>
        <p:sp>
          <p:nvSpPr>
            <p:cNvPr id="51" name="Rectangle 30">
              <a:extLst>
                <a:ext uri="{FF2B5EF4-FFF2-40B4-BE49-F238E27FC236}">
                  <a16:creationId xmlns:a16="http://schemas.microsoft.com/office/drawing/2014/main" id="{B49DE220-55DA-4121-BF20-32FA2163472D}"/>
                </a:ext>
              </a:extLst>
            </p:cNvPr>
            <p:cNvSpPr>
              <a:spLocks noChangeArrowheads="1"/>
            </p:cNvSpPr>
            <p:nvPr/>
          </p:nvSpPr>
          <p:spPr bwMode="auto">
            <a:xfrm>
              <a:off x="497" y="2530"/>
              <a:ext cx="339" cy="288"/>
            </a:xfrm>
            <a:prstGeom prst="rect">
              <a:avLst/>
            </a:prstGeom>
            <a:noFill/>
            <a:ln w="9525">
              <a:noFill/>
              <a:miter lim="800000"/>
              <a:headEnd/>
              <a:tailEnd/>
            </a:ln>
            <a:effectLst/>
          </p:spPr>
          <p:txBody>
            <a:bodyPr wrap="none" lIns="17859" tIns="25301" rIns="17859" bIns="25301"/>
            <a:lstStyle/>
            <a:p>
              <a:pPr>
                <a:lnSpc>
                  <a:spcPts val="2763"/>
                </a:lnSpc>
                <a:tabLst>
                  <a:tab pos="451085" algn="l"/>
                  <a:tab pos="902170" algn="l"/>
                  <a:tab pos="1353255" algn="l"/>
                </a:tabLst>
              </a:pPr>
              <a:r>
                <a:rPr lang="en-US" sz="1600" i="1" dirty="0">
                  <a:latin typeface="Whitney-Book" pitchFamily="50" charset="0"/>
                  <a:cs typeface="Whitney-Book" pitchFamily="50" charset="0"/>
                </a:rPr>
                <a:t>ATC</a:t>
              </a:r>
            </a:p>
          </p:txBody>
        </p:sp>
      </p:grpSp>
      <p:grpSp>
        <p:nvGrpSpPr>
          <p:cNvPr id="52" name="Group 43">
            <a:extLst>
              <a:ext uri="{FF2B5EF4-FFF2-40B4-BE49-F238E27FC236}">
                <a16:creationId xmlns:a16="http://schemas.microsoft.com/office/drawing/2014/main" id="{3B40FA4A-64DF-4410-ACA9-E36CB76DAEF9}"/>
              </a:ext>
            </a:extLst>
          </p:cNvPr>
          <p:cNvGrpSpPr>
            <a:grpSpLocks/>
          </p:cNvGrpSpPr>
          <p:nvPr/>
        </p:nvGrpSpPr>
        <p:grpSpPr bwMode="auto">
          <a:xfrm>
            <a:off x="1190756" y="3634796"/>
            <a:ext cx="2560007" cy="1060984"/>
            <a:chOff x="396" y="2241"/>
            <a:chExt cx="1635" cy="674"/>
          </a:xfrm>
        </p:grpSpPr>
        <p:sp>
          <p:nvSpPr>
            <p:cNvPr id="53" name="Rectangle 32">
              <a:extLst>
                <a:ext uri="{FF2B5EF4-FFF2-40B4-BE49-F238E27FC236}">
                  <a16:creationId xmlns:a16="http://schemas.microsoft.com/office/drawing/2014/main" id="{12EE0670-FA9B-4E3C-8994-91A3173A189F}"/>
                </a:ext>
              </a:extLst>
            </p:cNvPr>
            <p:cNvSpPr>
              <a:spLocks noChangeArrowheads="1"/>
            </p:cNvSpPr>
            <p:nvPr/>
          </p:nvSpPr>
          <p:spPr bwMode="auto">
            <a:xfrm>
              <a:off x="396" y="2241"/>
              <a:ext cx="1635" cy="89"/>
            </a:xfrm>
            <a:prstGeom prst="rect">
              <a:avLst/>
            </a:prstGeom>
            <a:gradFill rotWithShape="0">
              <a:gsLst>
                <a:gs pos="0">
                  <a:srgbClr val="FF557C">
                    <a:gamma/>
                    <a:tint val="0"/>
                    <a:invGamma/>
                  </a:srgbClr>
                </a:gs>
                <a:gs pos="100000">
                  <a:srgbClr val="FF557C"/>
                </a:gs>
              </a:gsLst>
              <a:path path="shape">
                <a:fillToRect l="50000" t="50000" r="50000" b="50000"/>
              </a:path>
            </a:gradFill>
            <a:ln w="9525">
              <a:noFill/>
              <a:miter lim="800000"/>
              <a:headEnd/>
              <a:tailEnd/>
            </a:ln>
            <a:effectLst/>
          </p:spPr>
          <p:txBody>
            <a:bodyPr wrap="none" anchor="ctr"/>
            <a:lstStyle/>
            <a:p>
              <a:endParaRPr lang="en-US" sz="2625">
                <a:solidFill>
                  <a:schemeClr val="bg1"/>
                </a:solidFill>
                <a:latin typeface="Whitney-Book" pitchFamily="50" charset="0"/>
                <a:cs typeface="Whitney-Book" pitchFamily="50" charset="0"/>
              </a:endParaRPr>
            </a:p>
          </p:txBody>
        </p:sp>
        <p:sp>
          <p:nvSpPr>
            <p:cNvPr id="54" name="Rectangle 33">
              <a:extLst>
                <a:ext uri="{FF2B5EF4-FFF2-40B4-BE49-F238E27FC236}">
                  <a16:creationId xmlns:a16="http://schemas.microsoft.com/office/drawing/2014/main" id="{DDA92EE4-00EE-46B6-8BE3-CC1CE4AC1E32}"/>
                </a:ext>
              </a:extLst>
            </p:cNvPr>
            <p:cNvSpPr>
              <a:spLocks noChangeArrowheads="1"/>
            </p:cNvSpPr>
            <p:nvPr/>
          </p:nvSpPr>
          <p:spPr bwMode="auto">
            <a:xfrm>
              <a:off x="802" y="2599"/>
              <a:ext cx="759" cy="316"/>
            </a:xfrm>
            <a:prstGeom prst="rect">
              <a:avLst/>
            </a:prstGeom>
            <a:noFill/>
            <a:ln w="9525">
              <a:noFill/>
              <a:miter lim="800000"/>
              <a:headEnd/>
              <a:tailEnd/>
            </a:ln>
            <a:effectLst/>
          </p:spPr>
          <p:txBody>
            <a:bodyPr wrap="none" lIns="17859" tIns="25301" rIns="17859" bIns="25301"/>
            <a:lstStyle/>
            <a:p>
              <a:pPr>
                <a:lnSpc>
                  <a:spcPts val="2763"/>
                </a:lnSpc>
                <a:tabLst>
                  <a:tab pos="451085" algn="l"/>
                  <a:tab pos="902170" algn="l"/>
                  <a:tab pos="1353255" algn="l"/>
                </a:tabLst>
              </a:pPr>
              <a:r>
                <a:rPr lang="en-US" sz="2625" dirty="0">
                  <a:latin typeface="Whitney-Book" pitchFamily="50" charset="0"/>
                  <a:cs typeface="Whitney-Book" pitchFamily="50" charset="0"/>
                </a:rPr>
                <a:t>Profit</a:t>
              </a:r>
            </a:p>
          </p:txBody>
        </p:sp>
        <p:sp>
          <p:nvSpPr>
            <p:cNvPr id="55" name="Line 34">
              <a:extLst>
                <a:ext uri="{FF2B5EF4-FFF2-40B4-BE49-F238E27FC236}">
                  <a16:creationId xmlns:a16="http://schemas.microsoft.com/office/drawing/2014/main" id="{5968B13B-70A1-4D56-A79E-B454426E883B}"/>
                </a:ext>
              </a:extLst>
            </p:cNvPr>
            <p:cNvSpPr>
              <a:spLocks noChangeShapeType="1"/>
            </p:cNvSpPr>
            <p:nvPr/>
          </p:nvSpPr>
          <p:spPr bwMode="auto">
            <a:xfrm flipV="1">
              <a:off x="1097" y="2287"/>
              <a:ext cx="169" cy="392"/>
            </a:xfrm>
            <a:prstGeom prst="line">
              <a:avLst/>
            </a:prstGeom>
            <a:noFill/>
            <a:ln w="25400">
              <a:solidFill>
                <a:schemeClr val="tx1"/>
              </a:solidFill>
              <a:round/>
              <a:headEnd type="none" w="sm" len="sm"/>
              <a:tailEnd type="stealth" w="med" len="lg"/>
            </a:ln>
            <a:effectLst/>
          </p:spPr>
          <p:txBody>
            <a:bodyPr wrap="none" anchor="ctr"/>
            <a:lstStyle/>
            <a:p>
              <a:endParaRPr lang="en-US" sz="2625">
                <a:solidFill>
                  <a:schemeClr val="bg1"/>
                </a:solidFill>
                <a:latin typeface="Whitney-Book" pitchFamily="50" charset="0"/>
                <a:cs typeface="Whitney-Book" pitchFamily="50" charset="0"/>
              </a:endParaRPr>
            </a:p>
          </p:txBody>
        </p:sp>
      </p:grpSp>
    </p:spTree>
    <p:custDataLst>
      <p:tags r:id="rId1"/>
    </p:custDataLst>
    <p:extLst>
      <p:ext uri="{BB962C8B-B14F-4D97-AF65-F5344CB8AC3E}">
        <p14:creationId xmlns:p14="http://schemas.microsoft.com/office/powerpoint/2010/main" val="9958781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65552"/>
                                        </p:tgtEl>
                                        <p:attrNameLst>
                                          <p:attrName>style.visibility</p:attrName>
                                        </p:attrNameLst>
                                      </p:cBhvr>
                                      <p:to>
                                        <p:strVal val="visible"/>
                                      </p:to>
                                    </p:set>
                                    <p:anim calcmode="lin" valueType="num">
                                      <p:cBhvr additive="base">
                                        <p:cTn id="17" dur="500" fill="hold"/>
                                        <p:tgtEl>
                                          <p:spTgt spid="65552"/>
                                        </p:tgtEl>
                                        <p:attrNameLst>
                                          <p:attrName>ppt_x</p:attrName>
                                        </p:attrNameLst>
                                      </p:cBhvr>
                                      <p:tavLst>
                                        <p:tav tm="0">
                                          <p:val>
                                            <p:strVal val="#ppt_x"/>
                                          </p:val>
                                        </p:tav>
                                        <p:tav tm="100000">
                                          <p:val>
                                            <p:strVal val="#ppt_x"/>
                                          </p:val>
                                        </p:tav>
                                      </p:tavLst>
                                    </p:anim>
                                    <p:anim calcmode="lin" valueType="num">
                                      <p:cBhvr additive="base">
                                        <p:cTn id="18" dur="500" fill="hold"/>
                                        <p:tgtEl>
                                          <p:spTgt spid="6555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nodePh="1">
                                  <p:stCondLst>
                                    <p:cond delay="0"/>
                                  </p:stCondLst>
                                  <p:endCondLst>
                                    <p:cond evt="begin" delay="0">
                                      <p:tn val="21"/>
                                    </p:cond>
                                  </p:endCondLst>
                                  <p:childTnLst>
                                    <p:set>
                                      <p:cBhvr>
                                        <p:cTn id="22" dur="1" fill="hold">
                                          <p:stCondLst>
                                            <p:cond delay="0"/>
                                          </p:stCondLst>
                                        </p:cTn>
                                        <p:tgtEl>
                                          <p:spTgt spid="65540"/>
                                        </p:tgtEl>
                                        <p:attrNameLst>
                                          <p:attrName>style.visibility</p:attrName>
                                        </p:attrNameLst>
                                      </p:cBhvr>
                                      <p:to>
                                        <p:strVal val="visible"/>
                                      </p:to>
                                    </p:set>
                                    <p:anim calcmode="lin" valueType="num">
                                      <p:cBhvr additive="base">
                                        <p:cTn id="23" dur="500" fill="hold"/>
                                        <p:tgtEl>
                                          <p:spTgt spid="65540"/>
                                        </p:tgtEl>
                                        <p:attrNameLst>
                                          <p:attrName>ppt_x</p:attrName>
                                        </p:attrNameLst>
                                      </p:cBhvr>
                                      <p:tavLst>
                                        <p:tav tm="0">
                                          <p:val>
                                            <p:strVal val="0-#ppt_w/2"/>
                                          </p:val>
                                        </p:tav>
                                        <p:tav tm="100000">
                                          <p:val>
                                            <p:strVal val="#ppt_x"/>
                                          </p:val>
                                        </p:tav>
                                      </p:tavLst>
                                    </p:anim>
                                    <p:anim calcmode="lin" valueType="num">
                                      <p:cBhvr additive="base">
                                        <p:cTn id="24" dur="500" fill="hold"/>
                                        <p:tgtEl>
                                          <p:spTgt spid="65540"/>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65559"/>
                                        </p:tgtEl>
                                        <p:attrNameLst>
                                          <p:attrName>style.visibility</p:attrName>
                                        </p:attrNameLst>
                                      </p:cBhvr>
                                      <p:to>
                                        <p:strVal val="visible"/>
                                      </p:to>
                                    </p:set>
                                    <p:anim calcmode="lin" valueType="num">
                                      <p:cBhvr additive="base">
                                        <p:cTn id="29" dur="500" fill="hold"/>
                                        <p:tgtEl>
                                          <p:spTgt spid="65559"/>
                                        </p:tgtEl>
                                        <p:attrNameLst>
                                          <p:attrName>ppt_x</p:attrName>
                                        </p:attrNameLst>
                                      </p:cBhvr>
                                      <p:tavLst>
                                        <p:tav tm="0">
                                          <p:val>
                                            <p:strVal val="#ppt_x"/>
                                          </p:val>
                                        </p:tav>
                                        <p:tav tm="100000">
                                          <p:val>
                                            <p:strVal val="#ppt_x"/>
                                          </p:val>
                                        </p:tav>
                                      </p:tavLst>
                                    </p:anim>
                                    <p:anim calcmode="lin" valueType="num">
                                      <p:cBhvr additive="base">
                                        <p:cTn id="30" dur="500" fill="hold"/>
                                        <p:tgtEl>
                                          <p:spTgt spid="6555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3" fill="hold" nodeType="clickEffect">
                                  <p:stCondLst>
                                    <p:cond delay="0"/>
                                  </p:stCondLst>
                                  <p:childTnLst>
                                    <p:set>
                                      <p:cBhvr>
                                        <p:cTn id="34" dur="1" fill="hold">
                                          <p:stCondLst>
                                            <p:cond delay="0"/>
                                          </p:stCondLst>
                                        </p:cTn>
                                        <p:tgtEl>
                                          <p:spTgt spid="24"/>
                                        </p:tgtEl>
                                        <p:attrNameLst>
                                          <p:attrName>style.visibility</p:attrName>
                                        </p:attrNameLst>
                                      </p:cBhvr>
                                      <p:to>
                                        <p:strVal val="visible"/>
                                      </p:to>
                                    </p:set>
                                    <p:anim calcmode="lin" valueType="num">
                                      <p:cBhvr additive="base">
                                        <p:cTn id="35" dur="500" fill="hold"/>
                                        <p:tgtEl>
                                          <p:spTgt spid="24"/>
                                        </p:tgtEl>
                                        <p:attrNameLst>
                                          <p:attrName>ppt_x</p:attrName>
                                        </p:attrNameLst>
                                      </p:cBhvr>
                                      <p:tavLst>
                                        <p:tav tm="0">
                                          <p:val>
                                            <p:strVal val="1+#ppt_w/2"/>
                                          </p:val>
                                        </p:tav>
                                        <p:tav tm="100000">
                                          <p:val>
                                            <p:strVal val="#ppt_x"/>
                                          </p:val>
                                        </p:tav>
                                      </p:tavLst>
                                    </p:anim>
                                    <p:anim calcmode="lin" valueType="num">
                                      <p:cBhvr additive="base">
                                        <p:cTn id="36" dur="500" fill="hold"/>
                                        <p:tgtEl>
                                          <p:spTgt spid="24"/>
                                        </p:tgtEl>
                                        <p:attrNameLst>
                                          <p:attrName>ppt_y</p:attrName>
                                        </p:attrNameLst>
                                      </p:cBhvr>
                                      <p:tavLst>
                                        <p:tav tm="0">
                                          <p:val>
                                            <p:strVal val="0-#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ppt_x"/>
                                          </p:val>
                                        </p:tav>
                                        <p:tav tm="100000">
                                          <p:val>
                                            <p:strVal val="#ppt_x"/>
                                          </p:val>
                                        </p:tav>
                                      </p:tavLst>
                                    </p:anim>
                                    <p:anim calcmode="lin" valueType="num">
                                      <p:cBhvr additive="base">
                                        <p:cTn id="42" dur="500" fill="hold"/>
                                        <p:tgtEl>
                                          <p:spTgt spid="14"/>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41"/>
                                        </p:tgtEl>
                                        <p:attrNameLst>
                                          <p:attrName>style.visibility</p:attrName>
                                        </p:attrNameLst>
                                      </p:cBhvr>
                                      <p:to>
                                        <p:strVal val="visible"/>
                                      </p:to>
                                    </p:set>
                                    <p:anim calcmode="lin" valueType="num">
                                      <p:cBhvr additive="base">
                                        <p:cTn id="45" dur="500" fill="hold"/>
                                        <p:tgtEl>
                                          <p:spTgt spid="41"/>
                                        </p:tgtEl>
                                        <p:attrNameLst>
                                          <p:attrName>ppt_x</p:attrName>
                                        </p:attrNameLst>
                                      </p:cBhvr>
                                      <p:tavLst>
                                        <p:tav tm="0">
                                          <p:val>
                                            <p:strVal val="#ppt_x"/>
                                          </p:val>
                                        </p:tav>
                                        <p:tav tm="100000">
                                          <p:val>
                                            <p:strVal val="#ppt_x"/>
                                          </p:val>
                                        </p:tav>
                                      </p:tavLst>
                                    </p:anim>
                                    <p:anim calcmode="lin" valueType="num">
                                      <p:cBhvr additive="base">
                                        <p:cTn id="46"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nodeType="clickEffect">
                                  <p:stCondLst>
                                    <p:cond delay="0"/>
                                  </p:stCondLst>
                                  <p:childTnLst>
                                    <p:set>
                                      <p:cBhvr>
                                        <p:cTn id="50" dur="1" fill="hold">
                                          <p:stCondLst>
                                            <p:cond delay="0"/>
                                          </p:stCondLst>
                                        </p:cTn>
                                        <p:tgtEl>
                                          <p:spTgt spid="7"/>
                                        </p:tgtEl>
                                        <p:attrNameLst>
                                          <p:attrName>style.visibility</p:attrName>
                                        </p:attrNameLst>
                                      </p:cBhvr>
                                      <p:to>
                                        <p:strVal val="visible"/>
                                      </p:to>
                                    </p:set>
                                    <p:anim calcmode="lin" valueType="num">
                                      <p:cBhvr additive="base">
                                        <p:cTn id="51" dur="500" fill="hold"/>
                                        <p:tgtEl>
                                          <p:spTgt spid="7"/>
                                        </p:tgtEl>
                                        <p:attrNameLst>
                                          <p:attrName>ppt_x</p:attrName>
                                        </p:attrNameLst>
                                      </p:cBhvr>
                                      <p:tavLst>
                                        <p:tav tm="0">
                                          <p:val>
                                            <p:strVal val="0-#ppt_w/2"/>
                                          </p:val>
                                        </p:tav>
                                        <p:tav tm="100000">
                                          <p:val>
                                            <p:strVal val="#ppt_x"/>
                                          </p:val>
                                        </p:tav>
                                      </p:tavLst>
                                    </p:anim>
                                    <p:anim calcmode="lin" valueType="num">
                                      <p:cBhvr additive="base">
                                        <p:cTn id="52"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nodeType="click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additive="base">
                                        <p:cTn id="57" dur="500" fill="hold"/>
                                        <p:tgtEl>
                                          <p:spTgt spid="8"/>
                                        </p:tgtEl>
                                        <p:attrNameLst>
                                          <p:attrName>ppt_x</p:attrName>
                                        </p:attrNameLst>
                                      </p:cBhvr>
                                      <p:tavLst>
                                        <p:tav tm="0">
                                          <p:val>
                                            <p:strVal val="0-#ppt_w/2"/>
                                          </p:val>
                                        </p:tav>
                                        <p:tav tm="100000">
                                          <p:val>
                                            <p:strVal val="#ppt_x"/>
                                          </p:val>
                                        </p:tav>
                                      </p:tavLst>
                                    </p:anim>
                                    <p:anim calcmode="lin" valueType="num">
                                      <p:cBhvr additive="base">
                                        <p:cTn id="5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8" fill="hold" nodeType="clickEffect">
                                  <p:stCondLst>
                                    <p:cond delay="0"/>
                                  </p:stCondLst>
                                  <p:childTnLst>
                                    <p:set>
                                      <p:cBhvr>
                                        <p:cTn id="62" dur="1" fill="hold">
                                          <p:stCondLst>
                                            <p:cond delay="0"/>
                                          </p:stCondLst>
                                        </p:cTn>
                                        <p:tgtEl>
                                          <p:spTgt spid="9"/>
                                        </p:tgtEl>
                                        <p:attrNameLst>
                                          <p:attrName>style.visibility</p:attrName>
                                        </p:attrNameLst>
                                      </p:cBhvr>
                                      <p:to>
                                        <p:strVal val="visible"/>
                                      </p:to>
                                    </p:set>
                                    <p:anim calcmode="lin" valueType="num">
                                      <p:cBhvr additive="base">
                                        <p:cTn id="63" dur="500" fill="hold"/>
                                        <p:tgtEl>
                                          <p:spTgt spid="9"/>
                                        </p:tgtEl>
                                        <p:attrNameLst>
                                          <p:attrName>ppt_x</p:attrName>
                                        </p:attrNameLst>
                                      </p:cBhvr>
                                      <p:tavLst>
                                        <p:tav tm="0">
                                          <p:val>
                                            <p:strVal val="0-#ppt_w/2"/>
                                          </p:val>
                                        </p:tav>
                                        <p:tav tm="100000">
                                          <p:val>
                                            <p:strVal val="#ppt_x"/>
                                          </p:val>
                                        </p:tav>
                                      </p:tavLst>
                                    </p:anim>
                                    <p:anim calcmode="lin" valueType="num">
                                      <p:cBhvr additive="base">
                                        <p:cTn id="6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8" fill="hold" nodeType="clickEffect">
                                  <p:stCondLst>
                                    <p:cond delay="0"/>
                                  </p:stCondLst>
                                  <p:childTnLst>
                                    <p:set>
                                      <p:cBhvr>
                                        <p:cTn id="68" dur="1" fill="hold">
                                          <p:stCondLst>
                                            <p:cond delay="0"/>
                                          </p:stCondLst>
                                        </p:cTn>
                                        <p:tgtEl>
                                          <p:spTgt spid="49"/>
                                        </p:tgtEl>
                                        <p:attrNameLst>
                                          <p:attrName>style.visibility</p:attrName>
                                        </p:attrNameLst>
                                      </p:cBhvr>
                                      <p:to>
                                        <p:strVal val="visible"/>
                                      </p:to>
                                    </p:set>
                                    <p:anim calcmode="lin" valueType="num">
                                      <p:cBhvr additive="base">
                                        <p:cTn id="69" dur="500" fill="hold"/>
                                        <p:tgtEl>
                                          <p:spTgt spid="49"/>
                                        </p:tgtEl>
                                        <p:attrNameLst>
                                          <p:attrName>ppt_x</p:attrName>
                                        </p:attrNameLst>
                                      </p:cBhvr>
                                      <p:tavLst>
                                        <p:tav tm="0">
                                          <p:val>
                                            <p:strVal val="0-#ppt_w/2"/>
                                          </p:val>
                                        </p:tav>
                                        <p:tav tm="100000">
                                          <p:val>
                                            <p:strVal val="#ppt_x"/>
                                          </p:val>
                                        </p:tav>
                                      </p:tavLst>
                                    </p:anim>
                                    <p:anim calcmode="lin" valueType="num">
                                      <p:cBhvr additive="base">
                                        <p:cTn id="70" dur="500" fill="hold"/>
                                        <p:tgtEl>
                                          <p:spTgt spid="49"/>
                                        </p:tgtEl>
                                        <p:attrNameLst>
                                          <p:attrName>ppt_y</p:attrName>
                                        </p:attrNameLst>
                                      </p:cBhvr>
                                      <p:tavLst>
                                        <p:tav tm="0">
                                          <p:val>
                                            <p:strVal val="#ppt_y"/>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8" fill="hold" nodeType="clickEffect">
                                  <p:stCondLst>
                                    <p:cond delay="0"/>
                                  </p:stCondLst>
                                  <p:childTnLst>
                                    <p:set>
                                      <p:cBhvr>
                                        <p:cTn id="74" dur="1" fill="hold">
                                          <p:stCondLst>
                                            <p:cond delay="0"/>
                                          </p:stCondLst>
                                        </p:cTn>
                                        <p:tgtEl>
                                          <p:spTgt spid="52"/>
                                        </p:tgtEl>
                                        <p:attrNameLst>
                                          <p:attrName>style.visibility</p:attrName>
                                        </p:attrNameLst>
                                      </p:cBhvr>
                                      <p:to>
                                        <p:strVal val="visible"/>
                                      </p:to>
                                    </p:set>
                                    <p:anim calcmode="lin" valueType="num">
                                      <p:cBhvr additive="base">
                                        <p:cTn id="75" dur="500" fill="hold"/>
                                        <p:tgtEl>
                                          <p:spTgt spid="52"/>
                                        </p:tgtEl>
                                        <p:attrNameLst>
                                          <p:attrName>ppt_x</p:attrName>
                                        </p:attrNameLst>
                                      </p:cBhvr>
                                      <p:tavLst>
                                        <p:tav tm="0">
                                          <p:val>
                                            <p:strVal val="0-#ppt_w/2"/>
                                          </p:val>
                                        </p:tav>
                                        <p:tav tm="100000">
                                          <p:val>
                                            <p:strVal val="#ppt_x"/>
                                          </p:val>
                                        </p:tav>
                                      </p:tavLst>
                                    </p:anim>
                                    <p:anim calcmode="lin" valueType="num">
                                      <p:cBhvr additive="base">
                                        <p:cTn id="76" dur="500" fill="hold"/>
                                        <p:tgtEl>
                                          <p:spTgt spid="52"/>
                                        </p:tgtEl>
                                        <p:attrNameLst>
                                          <p:attrName>ppt_y</p:attrName>
                                        </p:attrNameLst>
                                      </p:cBhvr>
                                      <p:tavLst>
                                        <p:tav tm="0">
                                          <p:val>
                                            <p:strVal val="#ppt_y"/>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35"/>
                                        </p:tgtEl>
                                        <p:attrNameLst>
                                          <p:attrName>style.visibility</p:attrName>
                                        </p:attrNameLst>
                                      </p:cBhvr>
                                      <p:to>
                                        <p:strVal val="visible"/>
                                      </p:to>
                                    </p:set>
                                    <p:anim calcmode="lin" valueType="num">
                                      <p:cBhvr additive="base">
                                        <p:cTn id="81" dur="500" fill="hold"/>
                                        <p:tgtEl>
                                          <p:spTgt spid="35"/>
                                        </p:tgtEl>
                                        <p:attrNameLst>
                                          <p:attrName>ppt_x</p:attrName>
                                        </p:attrNameLst>
                                      </p:cBhvr>
                                      <p:tavLst>
                                        <p:tav tm="0">
                                          <p:val>
                                            <p:strVal val="#ppt_x"/>
                                          </p:val>
                                        </p:tav>
                                        <p:tav tm="100000">
                                          <p:val>
                                            <p:strVal val="#ppt_x"/>
                                          </p:val>
                                        </p:tav>
                                      </p:tavLst>
                                    </p:anim>
                                    <p:anim calcmode="lin" valueType="num">
                                      <p:cBhvr additive="base">
                                        <p:cTn id="82"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0" grpId="0"/>
      <p:bldP spid="65552" grpId="0"/>
      <p:bldP spid="65559" grpId="0" animBg="1" autoUpdateAnimBg="0"/>
      <p:bldP spid="35" grpId="0" animBg="1" autoUpdateAnimBg="0"/>
      <p:bldP spid="41"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Barriers to entry</a:t>
            </a:r>
          </a:p>
        </p:txBody>
      </p:sp>
      <p:sp>
        <p:nvSpPr>
          <p:cNvPr id="3" name="Content Placeholder 2"/>
          <p:cNvSpPr>
            <a:spLocks noGrp="1"/>
          </p:cNvSpPr>
          <p:nvPr>
            <p:ph type="body" idx="1"/>
          </p:nvPr>
        </p:nvSpPr>
        <p:spPr/>
        <p:txBody>
          <a:bodyPr/>
          <a:lstStyle/>
          <a:p>
            <a:r>
              <a:rPr lang="en-US" dirty="0"/>
              <a:t>Entry erodes profits in a monopolistically competitive market</a:t>
            </a:r>
          </a:p>
          <a:p>
            <a:r>
              <a:rPr lang="en-US" dirty="0"/>
              <a:t>Different from monopoly</a:t>
            </a:r>
          </a:p>
          <a:p>
            <a:r>
              <a:rPr lang="en-US" dirty="0"/>
              <a:t>Why? </a:t>
            </a:r>
          </a:p>
          <a:p>
            <a:pPr lvl="1"/>
            <a:r>
              <a:rPr lang="en-US" dirty="0"/>
              <a:t>No (or low) barriers to entry in monopolistically competitive markets</a:t>
            </a:r>
          </a:p>
          <a:p>
            <a:pPr lvl="1"/>
            <a:r>
              <a:rPr lang="en-US" dirty="0"/>
              <a:t>Can firms create barriers to entry?</a:t>
            </a:r>
          </a:p>
        </p:txBody>
      </p:sp>
      <p:sp>
        <p:nvSpPr>
          <p:cNvPr id="4" name="Slide Number Placeholder 3"/>
          <p:cNvSpPr>
            <a:spLocks noGrp="1"/>
          </p:cNvSpPr>
          <p:nvPr>
            <p:ph type="sldNum" sz="quarter" idx="12"/>
          </p:nvPr>
        </p:nvSpPr>
        <p:spPr/>
        <p:txBody>
          <a:bodyPr/>
          <a:lstStyle/>
          <a:p>
            <a:fld id="{0F3206DB-9488-D04D-BDD1-A7C9D84C4579}" type="slidenum">
              <a:rPr lang="en-US" smtClean="0"/>
              <a:t>53</a:t>
            </a:fld>
            <a:endParaRPr lang="en-US"/>
          </a:p>
        </p:txBody>
      </p:sp>
    </p:spTree>
    <p:extLst>
      <p:ext uri="{BB962C8B-B14F-4D97-AF65-F5344CB8AC3E}">
        <p14:creationId xmlns:p14="http://schemas.microsoft.com/office/powerpoint/2010/main" val="326403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01564-BC0C-415B-9CF7-E084B1CDD8FC}"/>
              </a:ext>
            </a:extLst>
          </p:cNvPr>
          <p:cNvSpPr>
            <a:spLocks noGrp="1"/>
          </p:cNvSpPr>
          <p:nvPr>
            <p:ph type="title"/>
          </p:nvPr>
        </p:nvSpPr>
        <p:spPr/>
        <p:txBody>
          <a:bodyPr/>
          <a:lstStyle/>
          <a:p>
            <a:r>
              <a:rPr lang="fr-FR" dirty="0"/>
              <a:t>« Structural » </a:t>
            </a:r>
            <a:r>
              <a:rPr lang="fr-FR" dirty="0" err="1"/>
              <a:t>barriers</a:t>
            </a:r>
            <a:r>
              <a:rPr lang="fr-FR" dirty="0"/>
              <a:t> to entry</a:t>
            </a:r>
            <a:endParaRPr lang="en-US" dirty="0"/>
          </a:p>
        </p:txBody>
      </p:sp>
      <p:sp>
        <p:nvSpPr>
          <p:cNvPr id="3" name="Content Placeholder 2">
            <a:extLst>
              <a:ext uri="{FF2B5EF4-FFF2-40B4-BE49-F238E27FC236}">
                <a16:creationId xmlns:a16="http://schemas.microsoft.com/office/drawing/2014/main" id="{949A9154-C856-44CF-8293-15071CF58C7F}"/>
              </a:ext>
            </a:extLst>
          </p:cNvPr>
          <p:cNvSpPr>
            <a:spLocks noGrp="1"/>
          </p:cNvSpPr>
          <p:nvPr>
            <p:ph type="body" idx="1"/>
          </p:nvPr>
        </p:nvSpPr>
        <p:spPr/>
        <p:txBody>
          <a:bodyPr>
            <a:normAutofit/>
          </a:bodyPr>
          <a:lstStyle/>
          <a:p>
            <a:pPr>
              <a:lnSpc>
                <a:spcPct val="200000"/>
              </a:lnSpc>
            </a:pPr>
            <a:r>
              <a:rPr lang="fr-FR" dirty="0"/>
              <a:t>Legal </a:t>
            </a:r>
            <a:r>
              <a:rPr lang="fr-FR" dirty="0" err="1"/>
              <a:t>barriers</a:t>
            </a:r>
            <a:endParaRPr lang="fr-FR" dirty="0"/>
          </a:p>
          <a:p>
            <a:pPr>
              <a:lnSpc>
                <a:spcPct val="200000"/>
              </a:lnSpc>
            </a:pPr>
            <a:r>
              <a:rPr lang="fr-FR" dirty="0"/>
              <a:t>Network </a:t>
            </a:r>
            <a:r>
              <a:rPr lang="fr-FR" dirty="0" err="1"/>
              <a:t>effect</a:t>
            </a:r>
            <a:endParaRPr lang="fr-FR" dirty="0"/>
          </a:p>
          <a:p>
            <a:pPr>
              <a:lnSpc>
                <a:spcPct val="200000"/>
              </a:lnSpc>
            </a:pPr>
            <a:r>
              <a:rPr lang="fr-FR" dirty="0"/>
              <a:t>Economies of </a:t>
            </a:r>
            <a:r>
              <a:rPr lang="fr-FR" dirty="0" err="1"/>
              <a:t>scale</a:t>
            </a:r>
            <a:endParaRPr lang="fr-FR" dirty="0"/>
          </a:p>
          <a:p>
            <a:pPr>
              <a:lnSpc>
                <a:spcPct val="200000"/>
              </a:lnSpc>
            </a:pPr>
            <a:r>
              <a:rPr lang="fr-FR" dirty="0"/>
              <a:t>Learning</a:t>
            </a:r>
          </a:p>
          <a:p>
            <a:pPr>
              <a:lnSpc>
                <a:spcPct val="200000"/>
              </a:lnSpc>
            </a:pPr>
            <a:r>
              <a:rPr lang="fr-FR" dirty="0"/>
              <a:t>Control of </a:t>
            </a:r>
            <a:r>
              <a:rPr lang="fr-FR" dirty="0" err="1"/>
              <a:t>resources</a:t>
            </a:r>
            <a:r>
              <a:rPr lang="fr-FR" dirty="0"/>
              <a:t> </a:t>
            </a:r>
            <a:endParaRPr lang="en-US" dirty="0"/>
          </a:p>
        </p:txBody>
      </p:sp>
      <p:sp>
        <p:nvSpPr>
          <p:cNvPr id="7" name="Rectangle 6">
            <a:extLst>
              <a:ext uri="{FF2B5EF4-FFF2-40B4-BE49-F238E27FC236}">
                <a16:creationId xmlns:a16="http://schemas.microsoft.com/office/drawing/2014/main" id="{D70C78DC-4624-4D21-96EE-9DDAA8DA0AFA}"/>
              </a:ext>
            </a:extLst>
          </p:cNvPr>
          <p:cNvSpPr/>
          <p:nvPr/>
        </p:nvSpPr>
        <p:spPr>
          <a:xfrm>
            <a:off x="3418037" y="3416326"/>
            <a:ext cx="4038841" cy="2337794"/>
          </a:xfrm>
          <a:prstGeom prst="rect">
            <a:avLst/>
          </a:prstGeom>
          <a:blipFill dpi="0" rotWithShape="1">
            <a:blip r:embed="rId3"/>
            <a:srcRect/>
            <a:stretch>
              <a:fillRect/>
            </a:stretch>
          </a:bli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2B1753A5-78A7-47B4-918C-2066ACCA3B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3639" y="4573980"/>
            <a:ext cx="2337794" cy="2337794"/>
          </a:xfrm>
          <a:prstGeom prst="rect">
            <a:avLst/>
          </a:prstGeom>
        </p:spPr>
      </p:pic>
      <p:pic>
        <p:nvPicPr>
          <p:cNvPr id="1026" name="Picture 2" descr="U.S. Food and Drug Administration">
            <a:extLst>
              <a:ext uri="{FF2B5EF4-FFF2-40B4-BE49-F238E27FC236}">
                <a16:creationId xmlns:a16="http://schemas.microsoft.com/office/drawing/2014/main" id="{15BD3116-C8B2-4048-8D37-467EEEF9EF3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25165" b="22393"/>
          <a:stretch/>
        </p:blipFill>
        <p:spPr bwMode="auto">
          <a:xfrm>
            <a:off x="4721313" y="1252756"/>
            <a:ext cx="2399924" cy="70793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9B9774EA-67B1-4374-B45B-DA97C3A5F5AE}"/>
              </a:ext>
            </a:extLst>
          </p:cNvPr>
          <p:cNvPicPr>
            <a:picLocks noChangeAspect="1"/>
          </p:cNvPicPr>
          <p:nvPr/>
        </p:nvPicPr>
        <p:blipFill>
          <a:blip r:embed="rId6"/>
          <a:stretch>
            <a:fillRect/>
          </a:stretch>
        </p:blipFill>
        <p:spPr>
          <a:xfrm>
            <a:off x="5298837" y="3268094"/>
            <a:ext cx="3457263" cy="848130"/>
          </a:xfrm>
          <a:prstGeom prst="rect">
            <a:avLst/>
          </a:prstGeom>
        </p:spPr>
      </p:pic>
      <p:grpSp>
        <p:nvGrpSpPr>
          <p:cNvPr id="10" name="Group 9">
            <a:extLst>
              <a:ext uri="{FF2B5EF4-FFF2-40B4-BE49-F238E27FC236}">
                <a16:creationId xmlns:a16="http://schemas.microsoft.com/office/drawing/2014/main" id="{2E0C5274-5F65-4970-80FB-B46CDAFA9FE1}"/>
              </a:ext>
            </a:extLst>
          </p:cNvPr>
          <p:cNvGrpSpPr/>
          <p:nvPr/>
        </p:nvGrpSpPr>
        <p:grpSpPr>
          <a:xfrm>
            <a:off x="3166851" y="2085882"/>
            <a:ext cx="3405704" cy="1146014"/>
            <a:chOff x="3166851" y="2085882"/>
            <a:chExt cx="3405704" cy="1146014"/>
          </a:xfrm>
        </p:grpSpPr>
        <p:pic>
          <p:nvPicPr>
            <p:cNvPr id="5" name="Picture 4">
              <a:extLst>
                <a:ext uri="{FF2B5EF4-FFF2-40B4-BE49-F238E27FC236}">
                  <a16:creationId xmlns:a16="http://schemas.microsoft.com/office/drawing/2014/main" id="{6BF4D5FF-2EA1-49FC-914F-FF28402A7A8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166851" y="2085882"/>
              <a:ext cx="1720742" cy="1146014"/>
            </a:xfrm>
            <a:prstGeom prst="rect">
              <a:avLst/>
            </a:prstGeom>
          </p:spPr>
        </p:pic>
        <p:pic>
          <p:nvPicPr>
            <p:cNvPr id="6" name="Picture 5">
              <a:extLst>
                <a:ext uri="{FF2B5EF4-FFF2-40B4-BE49-F238E27FC236}">
                  <a16:creationId xmlns:a16="http://schemas.microsoft.com/office/drawing/2014/main" id="{F1ABF66E-9111-4A55-9322-42E96BF826BB}"/>
                </a:ext>
              </a:extLst>
            </p:cNvPr>
            <p:cNvPicPr>
              <a:picLocks noChangeAspect="1"/>
            </p:cNvPicPr>
            <p:nvPr/>
          </p:nvPicPr>
          <p:blipFill>
            <a:blip r:embed="rId8"/>
            <a:stretch>
              <a:fillRect/>
            </a:stretch>
          </p:blipFill>
          <p:spPr>
            <a:xfrm>
              <a:off x="4714475" y="2238532"/>
              <a:ext cx="824099" cy="882963"/>
            </a:xfrm>
            <a:prstGeom prst="rect">
              <a:avLst/>
            </a:prstGeom>
          </p:spPr>
        </p:pic>
        <p:pic>
          <p:nvPicPr>
            <p:cNvPr id="9" name="Picture 8">
              <a:extLst>
                <a:ext uri="{FF2B5EF4-FFF2-40B4-BE49-F238E27FC236}">
                  <a16:creationId xmlns:a16="http://schemas.microsoft.com/office/drawing/2014/main" id="{D564E509-AC72-4A1E-A41D-EB3EE1E7BCD4}"/>
                </a:ext>
              </a:extLst>
            </p:cNvPr>
            <p:cNvPicPr>
              <a:picLocks noChangeAspect="1"/>
            </p:cNvPicPr>
            <p:nvPr/>
          </p:nvPicPr>
          <p:blipFill>
            <a:blip r:embed="rId9"/>
            <a:stretch>
              <a:fillRect/>
            </a:stretch>
          </p:blipFill>
          <p:spPr>
            <a:xfrm>
              <a:off x="5705852" y="2243744"/>
              <a:ext cx="866703" cy="848131"/>
            </a:xfrm>
            <a:prstGeom prst="rect">
              <a:avLst/>
            </a:prstGeom>
          </p:spPr>
        </p:pic>
      </p:grpSp>
    </p:spTree>
    <p:extLst>
      <p:ext uri="{BB962C8B-B14F-4D97-AF65-F5344CB8AC3E}">
        <p14:creationId xmlns:p14="http://schemas.microsoft.com/office/powerpoint/2010/main" val="2164080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a:spLocks noGrp="1"/>
          </p:cNvSpPr>
          <p:nvPr>
            <p:ph type="title"/>
          </p:nvPr>
        </p:nvSpPr>
        <p:spPr/>
        <p:txBody>
          <a:bodyPr>
            <a:normAutofit fontScale="90000"/>
          </a:bodyPr>
          <a:lstStyle/>
          <a:p>
            <a:r>
              <a:rPr lang="en-US" dirty="0"/>
              <a:t>switching costs Can also raise barriers to Entry</a:t>
            </a:r>
          </a:p>
        </p:txBody>
      </p:sp>
      <p:sp>
        <p:nvSpPr>
          <p:cNvPr id="2" name="Text Placeholder 1">
            <a:extLst>
              <a:ext uri="{FF2B5EF4-FFF2-40B4-BE49-F238E27FC236}">
                <a16:creationId xmlns:a16="http://schemas.microsoft.com/office/drawing/2014/main" id="{55C620D8-C638-4725-890A-7C12CA3D264E}"/>
              </a:ext>
            </a:extLst>
          </p:cNvPr>
          <p:cNvSpPr>
            <a:spLocks noGrp="1"/>
          </p:cNvSpPr>
          <p:nvPr>
            <p:ph type="body" idx="1"/>
          </p:nvPr>
        </p:nvSpPr>
        <p:spPr>
          <a:xfrm>
            <a:off x="771759" y="2110791"/>
            <a:ext cx="3885977" cy="758987"/>
          </a:xfrm>
        </p:spPr>
        <p:txBody>
          <a:bodyPr/>
          <a:lstStyle/>
          <a:p>
            <a:r>
              <a:rPr lang="en-US" dirty="0">
                <a:solidFill>
                  <a:srgbClr val="1F497D">
                    <a:lumMod val="75000"/>
                  </a:srgbClr>
                </a:solidFill>
              </a:rPr>
              <a:t>Loyalty programs</a:t>
            </a:r>
          </a:p>
          <a:p>
            <a:endParaRPr lang="en-US" dirty="0"/>
          </a:p>
        </p:txBody>
      </p:sp>
      <p:pic>
        <p:nvPicPr>
          <p:cNvPr id="10" name="Picture 9"/>
          <p:cNvPicPr>
            <a:picLocks noChangeAspect="1"/>
          </p:cNvPicPr>
          <p:nvPr/>
        </p:nvPicPr>
        <p:blipFill>
          <a:blip r:embed="rId4"/>
          <a:stretch>
            <a:fillRect/>
          </a:stretch>
        </p:blipFill>
        <p:spPr>
          <a:xfrm>
            <a:off x="5663465" y="2869778"/>
            <a:ext cx="2694499" cy="1608486"/>
          </a:xfrm>
          <a:prstGeom prst="rect">
            <a:avLst/>
          </a:prstGeom>
        </p:spPr>
      </p:pic>
      <p:pic>
        <p:nvPicPr>
          <p:cNvPr id="5" name="Picture 4" descr="A picture containing text, aircraft, airplane, transport&#10;&#10;Description automatically generated">
            <a:extLst>
              <a:ext uri="{FF2B5EF4-FFF2-40B4-BE49-F238E27FC236}">
                <a16:creationId xmlns:a16="http://schemas.microsoft.com/office/drawing/2014/main" id="{F16A3C5A-1E00-4842-8A96-EB7CB8AA51DD}"/>
              </a:ext>
            </a:extLst>
          </p:cNvPr>
          <p:cNvPicPr>
            <a:picLocks noChangeAspect="1"/>
          </p:cNvPicPr>
          <p:nvPr/>
        </p:nvPicPr>
        <p:blipFill>
          <a:blip r:embed="rId5"/>
          <a:stretch>
            <a:fillRect/>
          </a:stretch>
        </p:blipFill>
        <p:spPr>
          <a:xfrm>
            <a:off x="1147817" y="2885727"/>
            <a:ext cx="2417124" cy="1608486"/>
          </a:xfrm>
          <a:prstGeom prst="rect">
            <a:avLst/>
          </a:prstGeom>
        </p:spPr>
      </p:pic>
      <p:sp>
        <p:nvSpPr>
          <p:cNvPr id="8" name="Text Placeholder 1">
            <a:extLst>
              <a:ext uri="{FF2B5EF4-FFF2-40B4-BE49-F238E27FC236}">
                <a16:creationId xmlns:a16="http://schemas.microsoft.com/office/drawing/2014/main" id="{01E1B95C-DA25-4E39-B7FC-E3409D925DA5}"/>
              </a:ext>
            </a:extLst>
          </p:cNvPr>
          <p:cNvSpPr txBox="1">
            <a:spLocks/>
          </p:cNvSpPr>
          <p:nvPr/>
        </p:nvSpPr>
        <p:spPr>
          <a:xfrm>
            <a:off x="5187814" y="2110790"/>
            <a:ext cx="3885977" cy="758987"/>
          </a:xfrm>
          <a:prstGeom prst="rect">
            <a:avLst/>
          </a:prstGeom>
        </p:spPr>
        <p:txBody>
          <a:bodyPr spcFirstLastPara="1" vert="horz" wrap="square" lIns="91425" tIns="91425" rIns="91425" bIns="91425" rtlCol="0" anchor="t" anchorCtr="0">
            <a:noAutofit/>
          </a:bodyPr>
          <a:lstStyle>
            <a:lvl1pPr marL="457200" lvl="0" indent="-342900" algn="l" defTabSz="457200" rtl="0" eaLnBrk="1" latinLnBrk="0" hangingPunct="1">
              <a:spcBef>
                <a:spcPts val="0"/>
              </a:spcBef>
              <a:spcAft>
                <a:spcPts val="0"/>
              </a:spcAft>
              <a:buClr>
                <a:srgbClr val="1B8BD5"/>
              </a:buClr>
              <a:buSzPts val="1800"/>
              <a:buFont typeface="Lucida Grande"/>
              <a:buChar char="■"/>
              <a:defRPr sz="2800" kern="1100" spc="50" normalizeH="0" baseline="0">
                <a:solidFill>
                  <a:schemeClr val="tx2">
                    <a:lumMod val="75000"/>
                  </a:schemeClr>
                </a:solidFill>
                <a:latin typeface="Whitney-Book"/>
                <a:ea typeface="+mn-ea"/>
                <a:cs typeface="+mn-cs"/>
              </a:defRPr>
            </a:lvl1pPr>
            <a:lvl2pPr marL="914400" lvl="1" indent="-317500" algn="l" defTabSz="457200" rtl="0" eaLnBrk="1" latinLnBrk="0" hangingPunct="1">
              <a:spcBef>
                <a:spcPts val="0"/>
              </a:spcBef>
              <a:spcAft>
                <a:spcPts val="0"/>
              </a:spcAft>
              <a:buClr>
                <a:srgbClr val="1B8BD5"/>
              </a:buClr>
              <a:buSzPts val="1400"/>
              <a:buFont typeface="Lucida Grande"/>
              <a:buChar char="○"/>
              <a:defRPr sz="2600" kern="1100" spc="50" normalizeH="0" baseline="0">
                <a:solidFill>
                  <a:schemeClr val="tx2">
                    <a:lumMod val="75000"/>
                  </a:schemeClr>
                </a:solidFill>
                <a:latin typeface="Whitney-Book"/>
                <a:ea typeface="+mn-ea"/>
                <a:cs typeface="+mn-cs"/>
              </a:defRPr>
            </a:lvl2pPr>
            <a:lvl3pPr marL="1371600" lvl="2" indent="-317500" algn="l" defTabSz="457200" rtl="0" eaLnBrk="1" latinLnBrk="0" hangingPunct="1">
              <a:spcBef>
                <a:spcPts val="0"/>
              </a:spcBef>
              <a:spcAft>
                <a:spcPts val="0"/>
              </a:spcAft>
              <a:buClr>
                <a:srgbClr val="1B8BD5"/>
              </a:buClr>
              <a:buSzPts val="1400"/>
              <a:buFont typeface="Lucida Grande"/>
              <a:buChar char="●"/>
              <a:defRPr sz="2200" kern="1100" spc="50" normalizeH="0" baseline="0">
                <a:solidFill>
                  <a:schemeClr val="tx2">
                    <a:lumMod val="75000"/>
                  </a:schemeClr>
                </a:solidFill>
                <a:latin typeface="Whitney-Book"/>
                <a:ea typeface="+mn-ea"/>
                <a:cs typeface="+mn-cs"/>
              </a:defRPr>
            </a:lvl3pPr>
            <a:lvl4pPr marL="1828800" lvl="3" indent="-317500" algn="l" defTabSz="457200" rtl="0" eaLnBrk="1" latinLnBrk="0" hangingPunct="1">
              <a:spcBef>
                <a:spcPts val="0"/>
              </a:spcBef>
              <a:spcAft>
                <a:spcPts val="0"/>
              </a:spcAft>
              <a:buClr>
                <a:srgbClr val="1B8BD5"/>
              </a:buClr>
              <a:buSzPts val="1400"/>
              <a:buFont typeface="Lucida Grande"/>
              <a:buChar char="■"/>
              <a:defRPr sz="2000" kern="1100" spc="50" normalizeH="0" baseline="0">
                <a:solidFill>
                  <a:schemeClr val="tx2">
                    <a:lumMod val="75000"/>
                  </a:schemeClr>
                </a:solidFill>
                <a:latin typeface="Whitney-Book"/>
                <a:ea typeface="+mn-ea"/>
                <a:cs typeface="+mn-cs"/>
              </a:defRPr>
            </a:lvl4pPr>
            <a:lvl5pPr marL="2286000" lvl="4" indent="-317500" algn="l" defTabSz="457200" rtl="0" eaLnBrk="1" latinLnBrk="0" hangingPunct="1">
              <a:spcBef>
                <a:spcPts val="0"/>
              </a:spcBef>
              <a:spcAft>
                <a:spcPts val="0"/>
              </a:spcAft>
              <a:buClr>
                <a:srgbClr val="1B8BD5"/>
              </a:buClr>
              <a:buSzPts val="1400"/>
              <a:buFont typeface="Lucida Grande"/>
              <a:buChar char="○"/>
              <a:defRPr sz="2000" kern="1100" spc="50" normalizeH="0" baseline="0">
                <a:solidFill>
                  <a:schemeClr val="tx2">
                    <a:lumMod val="75000"/>
                  </a:schemeClr>
                </a:solidFill>
                <a:latin typeface="Whitney-Book"/>
                <a:ea typeface="+mn-ea"/>
                <a:cs typeface="+mn-cs"/>
              </a:defRPr>
            </a:lvl5pPr>
            <a:lvl6pPr marL="2743200" lvl="5" indent="-317500" algn="l" defTabSz="457200" rtl="0" eaLnBrk="1" latinLnBrk="0" hangingPunct="1">
              <a:spcBef>
                <a:spcPts val="0"/>
              </a:spcBef>
              <a:spcAft>
                <a:spcPts val="0"/>
              </a:spcAft>
              <a:buSzPts val="1400"/>
              <a:buFont typeface="Arial"/>
              <a:buChar char="●"/>
              <a:defRPr sz="2000" kern="1200">
                <a:solidFill>
                  <a:schemeClr val="tx1"/>
                </a:solidFill>
                <a:latin typeface="+mn-lt"/>
                <a:ea typeface="+mn-ea"/>
                <a:cs typeface="+mn-cs"/>
              </a:defRPr>
            </a:lvl6pPr>
            <a:lvl7pPr marL="3200400" lvl="6" indent="-317500" algn="l" defTabSz="457200" rtl="0" eaLnBrk="1" latinLnBrk="0" hangingPunct="1">
              <a:spcBef>
                <a:spcPts val="0"/>
              </a:spcBef>
              <a:spcAft>
                <a:spcPts val="0"/>
              </a:spcAft>
              <a:buSzPts val="1400"/>
              <a:buFont typeface="Arial"/>
              <a:buChar char="■"/>
              <a:defRPr sz="2000" kern="1200">
                <a:solidFill>
                  <a:schemeClr val="tx1"/>
                </a:solidFill>
                <a:latin typeface="+mn-lt"/>
                <a:ea typeface="+mn-ea"/>
                <a:cs typeface="+mn-cs"/>
              </a:defRPr>
            </a:lvl7pPr>
            <a:lvl8pPr marL="3657600" lvl="7" indent="-317500" algn="l" defTabSz="457200" rtl="0" eaLnBrk="1" latinLnBrk="0" hangingPunct="1">
              <a:spcBef>
                <a:spcPts val="0"/>
              </a:spcBef>
              <a:spcAft>
                <a:spcPts val="0"/>
              </a:spcAft>
              <a:buSzPts val="1400"/>
              <a:buFont typeface="Arial"/>
              <a:buChar char="○"/>
              <a:defRPr sz="2000" kern="1200">
                <a:solidFill>
                  <a:schemeClr val="tx1"/>
                </a:solidFill>
                <a:latin typeface="+mn-lt"/>
                <a:ea typeface="+mn-ea"/>
                <a:cs typeface="+mn-cs"/>
              </a:defRPr>
            </a:lvl8pPr>
            <a:lvl9pPr marL="4114800" lvl="8" indent="-317500" algn="l" defTabSz="457200" rtl="0" eaLnBrk="1" latinLnBrk="0" hangingPunct="1">
              <a:spcBef>
                <a:spcPts val="0"/>
              </a:spcBef>
              <a:spcAft>
                <a:spcPts val="0"/>
              </a:spcAft>
              <a:buSzPts val="1400"/>
              <a:buFont typeface="Arial"/>
              <a:buChar char="●"/>
              <a:defRPr sz="2000" kern="1200">
                <a:solidFill>
                  <a:schemeClr val="tx1"/>
                </a:solidFill>
                <a:latin typeface="+mn-lt"/>
                <a:ea typeface="+mn-ea"/>
                <a:cs typeface="+mn-cs"/>
              </a:defRPr>
            </a:lvl9pPr>
          </a:lstStyle>
          <a:p>
            <a:r>
              <a:rPr lang="en-US" dirty="0">
                <a:solidFill>
                  <a:srgbClr val="1F497D">
                    <a:lumMod val="75000"/>
                  </a:srgbClr>
                </a:solidFill>
              </a:rPr>
              <a:t>Compatibility</a:t>
            </a:r>
          </a:p>
          <a:p>
            <a:endParaRPr lang="en-US" dirty="0"/>
          </a:p>
        </p:txBody>
      </p:sp>
    </p:spTree>
    <p:custDataLst>
      <p:tags r:id="rId1"/>
    </p:custDataLst>
    <p:extLst>
      <p:ext uri="{BB962C8B-B14F-4D97-AF65-F5344CB8AC3E}">
        <p14:creationId xmlns:p14="http://schemas.microsoft.com/office/powerpoint/2010/main" val="4128575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8"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a:t>Module 5 summary</a:t>
            </a:r>
            <a:endParaRPr lang="en-US" sz="3000" dirty="0"/>
          </a:p>
        </p:txBody>
      </p:sp>
      <p:sp>
        <p:nvSpPr>
          <p:cNvPr id="3" name="Content Placeholder 2"/>
          <p:cNvSpPr>
            <a:spLocks noGrp="1"/>
          </p:cNvSpPr>
          <p:nvPr>
            <p:ph type="body" idx="1"/>
          </p:nvPr>
        </p:nvSpPr>
        <p:spPr>
          <a:xfrm>
            <a:off x="387900" y="1392865"/>
            <a:ext cx="8520600" cy="4698968"/>
          </a:xfrm>
        </p:spPr>
        <p:txBody>
          <a:bodyPr>
            <a:noAutofit/>
          </a:bodyPr>
          <a:lstStyle/>
          <a:p>
            <a:r>
              <a:rPr lang="fr-FR" sz="2400" dirty="0"/>
              <a:t>Profit </a:t>
            </a:r>
            <a:r>
              <a:rPr lang="fr-FR" sz="2400" dirty="0" err="1"/>
              <a:t>maximization</a:t>
            </a:r>
            <a:r>
              <a:rPr lang="fr-FR" sz="2400" dirty="0"/>
              <a:t> of a </a:t>
            </a:r>
            <a:r>
              <a:rPr lang="fr-FR" sz="2400" dirty="0" err="1"/>
              <a:t>price</a:t>
            </a:r>
            <a:r>
              <a:rPr lang="fr-FR" sz="2400" dirty="0"/>
              <a:t> </a:t>
            </a:r>
            <a:r>
              <a:rPr lang="fr-FR" sz="2400" dirty="0" err="1"/>
              <a:t>searcher</a:t>
            </a:r>
            <a:endParaRPr lang="fr-FR" sz="2400" dirty="0"/>
          </a:p>
          <a:p>
            <a:pPr lvl="1"/>
            <a:r>
              <a:rPr lang="fr-FR" sz="2200" dirty="0"/>
              <a:t>Set </a:t>
            </a:r>
            <a:r>
              <a:rPr lang="fr-FR" sz="2200" i="1" dirty="0"/>
              <a:t>MR=MC </a:t>
            </a:r>
          </a:p>
          <a:p>
            <a:pPr lvl="1"/>
            <a:r>
              <a:rPr lang="en-US" sz="2200" i="1" dirty="0"/>
              <a:t>MR≠P</a:t>
            </a:r>
          </a:p>
          <a:p>
            <a:pPr lvl="1"/>
            <a:r>
              <a:rPr lang="en-US" sz="2200" dirty="0"/>
              <a:t>This methodology applies to both monopoly and monopolistic competition</a:t>
            </a:r>
          </a:p>
          <a:p>
            <a:pPr>
              <a:spcBef>
                <a:spcPts val="600"/>
              </a:spcBef>
            </a:pPr>
            <a:r>
              <a:rPr lang="fr-FR" sz="2400" dirty="0" err="1"/>
              <a:t>Monopolist</a:t>
            </a:r>
            <a:r>
              <a:rPr lang="fr-FR" sz="2400" dirty="0"/>
              <a:t>: can </a:t>
            </a:r>
            <a:r>
              <a:rPr lang="fr-FR" sz="2400" dirty="0" err="1"/>
              <a:t>make</a:t>
            </a:r>
            <a:r>
              <a:rPr lang="fr-FR" sz="2400" dirty="0"/>
              <a:t> short-</a:t>
            </a:r>
            <a:r>
              <a:rPr lang="fr-FR" sz="2400" dirty="0" err="1"/>
              <a:t>term</a:t>
            </a:r>
            <a:r>
              <a:rPr lang="fr-FR" sz="2400" dirty="0"/>
              <a:t> and long-</a:t>
            </a:r>
            <a:r>
              <a:rPr lang="fr-FR" sz="2400" dirty="0" err="1"/>
              <a:t>term</a:t>
            </a:r>
            <a:r>
              <a:rPr lang="fr-FR" sz="2400" dirty="0"/>
              <a:t> profits</a:t>
            </a:r>
          </a:p>
          <a:p>
            <a:pPr lvl="1"/>
            <a:r>
              <a:rPr lang="fr-FR" sz="2200" dirty="0"/>
              <a:t>Good for business (</a:t>
            </a:r>
            <a:r>
              <a:rPr lang="fr-FR" sz="2200" dirty="0" err="1"/>
              <a:t>higher</a:t>
            </a:r>
            <a:r>
              <a:rPr lang="fr-FR" sz="2200" dirty="0"/>
              <a:t> profits), </a:t>
            </a:r>
            <a:r>
              <a:rPr lang="fr-FR" sz="2200" dirty="0" err="1"/>
              <a:t>bad</a:t>
            </a:r>
            <a:r>
              <a:rPr lang="fr-FR" sz="2200" dirty="0"/>
              <a:t> for </a:t>
            </a:r>
            <a:r>
              <a:rPr lang="fr-FR" sz="2200" dirty="0" err="1"/>
              <a:t>consumers</a:t>
            </a:r>
            <a:r>
              <a:rPr lang="fr-FR" sz="2200" dirty="0"/>
              <a:t> (</a:t>
            </a:r>
            <a:r>
              <a:rPr lang="fr-FR" sz="2200" dirty="0" err="1"/>
              <a:t>lower</a:t>
            </a:r>
            <a:r>
              <a:rPr lang="fr-FR" sz="2200" dirty="0"/>
              <a:t> consumer surplus) and </a:t>
            </a:r>
            <a:r>
              <a:rPr lang="fr-FR" sz="2200" dirty="0" err="1"/>
              <a:t>welfare</a:t>
            </a:r>
            <a:r>
              <a:rPr lang="fr-FR" sz="2200" dirty="0"/>
              <a:t> (</a:t>
            </a:r>
            <a:r>
              <a:rPr lang="fr-FR" sz="2200" dirty="0" err="1"/>
              <a:t>deadweight</a:t>
            </a:r>
            <a:r>
              <a:rPr lang="fr-FR" sz="2200" dirty="0"/>
              <a:t> </a:t>
            </a:r>
            <a:r>
              <a:rPr lang="fr-FR" sz="2200" dirty="0" err="1"/>
              <a:t>loss</a:t>
            </a:r>
            <a:r>
              <a:rPr lang="fr-FR" sz="2200" dirty="0"/>
              <a:t>)</a:t>
            </a:r>
          </a:p>
          <a:p>
            <a:pPr>
              <a:spcBef>
                <a:spcPts val="600"/>
              </a:spcBef>
            </a:pPr>
            <a:r>
              <a:rPr lang="fr-FR" sz="2400" dirty="0" err="1"/>
              <a:t>Monopolistic</a:t>
            </a:r>
            <a:r>
              <a:rPr lang="fr-FR" sz="2400" dirty="0"/>
              <a:t> </a:t>
            </a:r>
            <a:r>
              <a:rPr lang="fr-FR" sz="2400" dirty="0" err="1"/>
              <a:t>competition</a:t>
            </a:r>
            <a:endParaRPr lang="fr-FR" sz="2400" dirty="0"/>
          </a:p>
          <a:p>
            <a:pPr lvl="1"/>
            <a:r>
              <a:rPr lang="fr-FR" sz="2200" dirty="0"/>
              <a:t>Short-</a:t>
            </a:r>
            <a:r>
              <a:rPr lang="fr-FR" sz="2200" dirty="0" err="1"/>
              <a:t>term</a:t>
            </a:r>
            <a:r>
              <a:rPr lang="fr-FR" sz="2200" dirty="0"/>
              <a:t> profits are possible</a:t>
            </a:r>
          </a:p>
          <a:p>
            <a:pPr lvl="1"/>
            <a:r>
              <a:rPr lang="fr-FR" sz="2200" dirty="0"/>
              <a:t>Entry </a:t>
            </a:r>
            <a:r>
              <a:rPr lang="fr-FR" sz="2200" dirty="0" err="1"/>
              <a:t>erodes</a:t>
            </a:r>
            <a:r>
              <a:rPr lang="fr-FR" sz="2200" dirty="0"/>
              <a:t> </a:t>
            </a:r>
            <a:r>
              <a:rPr lang="fr-FR" sz="2200" dirty="0" err="1"/>
              <a:t>economic</a:t>
            </a:r>
            <a:r>
              <a:rPr lang="fr-FR" sz="2200" dirty="0"/>
              <a:t> profit in the long run</a:t>
            </a:r>
          </a:p>
          <a:p>
            <a:pPr>
              <a:spcBef>
                <a:spcPts val="600"/>
              </a:spcBef>
            </a:pPr>
            <a:r>
              <a:rPr lang="fr-FR" sz="2400" dirty="0"/>
              <a:t>Sources of </a:t>
            </a:r>
            <a:r>
              <a:rPr lang="fr-FR" sz="2400" dirty="0" err="1"/>
              <a:t>market</a:t>
            </a:r>
            <a:r>
              <a:rPr lang="fr-FR" sz="2400" dirty="0"/>
              <a:t> power: Product </a:t>
            </a:r>
            <a:r>
              <a:rPr lang="fr-FR" sz="2400" dirty="0" err="1"/>
              <a:t>differentiation</a:t>
            </a:r>
            <a:r>
              <a:rPr lang="fr-FR" sz="2400" dirty="0"/>
              <a:t> and </a:t>
            </a:r>
            <a:r>
              <a:rPr lang="fr-FR" sz="2400" dirty="0" err="1"/>
              <a:t>barriers</a:t>
            </a:r>
            <a:r>
              <a:rPr lang="fr-FR" sz="2400" dirty="0"/>
              <a:t> to entry</a:t>
            </a:r>
          </a:p>
          <a:p>
            <a:pPr marL="457200" lvl="1" indent="0">
              <a:buNone/>
            </a:pPr>
            <a:endParaRPr lang="en-US" sz="2200" dirty="0"/>
          </a:p>
        </p:txBody>
      </p:sp>
      <p:sp>
        <p:nvSpPr>
          <p:cNvPr id="2" name="Slide Number Placeholder 1">
            <a:extLst>
              <a:ext uri="{FF2B5EF4-FFF2-40B4-BE49-F238E27FC236}">
                <a16:creationId xmlns:a16="http://schemas.microsoft.com/office/drawing/2014/main" id="{A4F83A1D-3EDB-AD46-8E68-8AFE6F1A437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1F4DDD2-D94C-1147-A389-2CD6A7EEF184}"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ustDataLst>
      <p:tags r:id="rId1"/>
    </p:custDataLst>
    <p:extLst>
      <p:ext uri="{BB962C8B-B14F-4D97-AF65-F5344CB8AC3E}">
        <p14:creationId xmlns:p14="http://schemas.microsoft.com/office/powerpoint/2010/main" val="2199202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PPRESENTATIONGUID" val="fb4bfb20-bb85-4e69-83ee-0653ca024c4d"/>
  <p:tag name="TPLASTSAVEVERSION" val="6.2 PC"/>
  <p:tag name="WASPOLLED" val="9395E21AB51D4B2FB317ED88EF6AF71F"/>
  <p:tag name="TPVERSION" val="5"/>
  <p:tag name="TPFULLVERSION" val="5.3.2.24"/>
  <p:tag name="PPTVERSION" val="16"/>
  <p:tag name="TPOS" val="2"/>
</p:tagLst>
</file>

<file path=ppt/tags/tag2.xml><?xml version="1.0" encoding="utf-8"?>
<p:tagLst xmlns:a="http://schemas.openxmlformats.org/drawingml/2006/main" xmlns:r="http://schemas.openxmlformats.org/officeDocument/2006/relationships" xmlns:p="http://schemas.openxmlformats.org/presentationml/2006/main">
  <p:tag name="__PE_POLL_EMBED_ID" val="f7f7ad54-3165-441f-9dba-b1c3742926d7"/>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theme1.xml><?xml version="1.0" encoding="utf-8"?>
<a:theme xmlns:a="http://schemas.openxmlformats.org/drawingml/2006/main" name="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3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5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78197</TotalTime>
  <Words>3819</Words>
  <Application>Microsoft Office PowerPoint</Application>
  <PresentationFormat>On-screen Show (4:3)</PresentationFormat>
  <Paragraphs>743</Paragraphs>
  <Slides>56</Slides>
  <Notes>51</Notes>
  <HiddenSlides>0</HiddenSlides>
  <MMClips>1</MMClips>
  <ScaleCrop>false</ScaleCrop>
  <HeadingPairs>
    <vt:vector size="6" baseType="variant">
      <vt:variant>
        <vt:lpstr>Fonts Used</vt:lpstr>
      </vt:variant>
      <vt:variant>
        <vt:i4>11</vt:i4>
      </vt:variant>
      <vt:variant>
        <vt:lpstr>Theme</vt:lpstr>
      </vt:variant>
      <vt:variant>
        <vt:i4>4</vt:i4>
      </vt:variant>
      <vt:variant>
        <vt:lpstr>Slide Titles</vt:lpstr>
      </vt:variant>
      <vt:variant>
        <vt:i4>56</vt:i4>
      </vt:variant>
    </vt:vector>
  </HeadingPairs>
  <TitlesOfParts>
    <vt:vector size="71" baseType="lpstr">
      <vt:lpstr>Arial</vt:lpstr>
      <vt:lpstr>Calibri</vt:lpstr>
      <vt:lpstr>Cambria Math</vt:lpstr>
      <vt:lpstr>Lucida Grande</vt:lpstr>
      <vt:lpstr>Roboto</vt:lpstr>
      <vt:lpstr>Times New Roman</vt:lpstr>
      <vt:lpstr>Trebuchet MS</vt:lpstr>
      <vt:lpstr>Whitney Book</vt:lpstr>
      <vt:lpstr>Whitney-Book</vt:lpstr>
      <vt:lpstr>Whitney-Medium</vt:lpstr>
      <vt:lpstr>Wingdings</vt:lpstr>
      <vt:lpstr>2_Custom Design</vt:lpstr>
      <vt:lpstr>Custom Design</vt:lpstr>
      <vt:lpstr>3_Custom Design</vt:lpstr>
      <vt:lpstr>5_Custom Design</vt:lpstr>
      <vt:lpstr>Price searchers: Monopoly and Monopolistic Competition</vt:lpstr>
      <vt:lpstr>agenda for the class</vt:lpstr>
      <vt:lpstr>OUTLINE of module 5</vt:lpstr>
      <vt:lpstr>the four basic market structures</vt:lpstr>
      <vt:lpstr>OUTLINE of module 5</vt:lpstr>
      <vt:lpstr>Firm Demand:  Price takers vs. price searchers</vt:lpstr>
      <vt:lpstr>Test of market power</vt:lpstr>
      <vt:lpstr>Profit maximization for price searcher</vt:lpstr>
      <vt:lpstr>Profit maximization Of a Restaurant</vt:lpstr>
      <vt:lpstr>This is from the Practice Video:  Profit maximization for a Restaurant</vt:lpstr>
      <vt:lpstr>Illustration of the Practice Video Example: Profit Maximization</vt:lpstr>
      <vt:lpstr>price searcher: Maximizing Profit</vt:lpstr>
      <vt:lpstr>price searcher: minimizing loss</vt:lpstr>
      <vt:lpstr>Loss when Stopping to Produce in the short run</vt:lpstr>
      <vt:lpstr>Price searcher:  Fixed Cost Does Not Impact Price</vt:lpstr>
      <vt:lpstr>Illustration based on the Practice Video Example </vt:lpstr>
      <vt:lpstr>Illustration based on the Practice Video Example </vt:lpstr>
      <vt:lpstr>Illustration based on the Practice Video Example </vt:lpstr>
      <vt:lpstr>OUTLINE of module 5</vt:lpstr>
      <vt:lpstr>Markup and The Lerner index</vt:lpstr>
      <vt:lpstr>Lerner Index for Major US Companies</vt:lpstr>
      <vt:lpstr>Lerner index</vt:lpstr>
      <vt:lpstr>Illustrating the Lerner INdex</vt:lpstr>
      <vt:lpstr>Lerner index – Relationship to Accounting (for your notes later, when you take accounting)</vt:lpstr>
      <vt:lpstr>Firm and market elasticity</vt:lpstr>
      <vt:lpstr>Mark-up and elasticity</vt:lpstr>
      <vt:lpstr>PowerPoint Presentation</vt:lpstr>
      <vt:lpstr>Solution</vt:lpstr>
      <vt:lpstr>Price searcher Take-aways</vt:lpstr>
      <vt:lpstr>OUTLINE of module 5</vt:lpstr>
      <vt:lpstr>Where We Are and  Where We Are Going</vt:lpstr>
      <vt:lpstr>Market structure characteristics</vt:lpstr>
      <vt:lpstr>Recall: Consumer And Producer Surplus under Competition</vt:lpstr>
      <vt:lpstr>Monopoly: Good for business, bad for Consumers and Welfare</vt:lpstr>
      <vt:lpstr>The case of luxotTica (now Essilor-Luxottica) </vt:lpstr>
      <vt:lpstr>The case of luxottica</vt:lpstr>
      <vt:lpstr>Monopoly Take-aways</vt:lpstr>
      <vt:lpstr>OUTLINE of module 5</vt:lpstr>
      <vt:lpstr>Governments Regulations to control Market Power</vt:lpstr>
      <vt:lpstr>Concentration in health care</vt:lpstr>
      <vt:lpstr>health care Cost comparison Heart-related Treatments</vt:lpstr>
      <vt:lpstr>Concentration in US Industries</vt:lpstr>
      <vt:lpstr>Rising Markups in the US</vt:lpstr>
      <vt:lpstr>However: all Firms face Potential (future) competitors</vt:lpstr>
      <vt:lpstr>Ultra-Low-Cost Carrier Airlines: Entry Drives down prices</vt:lpstr>
      <vt:lpstr>OUTLINE of module 5</vt:lpstr>
      <vt:lpstr>Where We Are</vt:lpstr>
      <vt:lpstr>Market structure characteristics</vt:lpstr>
      <vt:lpstr>MONOPOLISTIC COMPETITION EXAMPLE:   </vt:lpstr>
      <vt:lpstr>Monopolistic competition: the role of entry</vt:lpstr>
      <vt:lpstr>Monopolistic Competition: Short run</vt:lpstr>
      <vt:lpstr>Monopolistic Competition: entry of new firms</vt:lpstr>
      <vt:lpstr>Barriers to entry</vt:lpstr>
      <vt:lpstr>« Structural » barriers to entry</vt:lpstr>
      <vt:lpstr>switching costs Can also raise barriers to Entry</vt:lpstr>
      <vt:lpstr>Module 5 summary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Pub Office 3</dc:creator>
  <cp:keywords/>
  <dc:description/>
  <cp:lastModifiedBy>NICO VOIGTLAENDER</cp:lastModifiedBy>
  <cp:revision>1354</cp:revision>
  <cp:lastPrinted>2022-02-06T01:09:09Z</cp:lastPrinted>
  <dcterms:created xsi:type="dcterms:W3CDTF">2013-01-24T22:32:50Z</dcterms:created>
  <dcterms:modified xsi:type="dcterms:W3CDTF">2025-10-24T19:17:27Z</dcterms:modified>
  <cp:category/>
</cp:coreProperties>
</file>