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tags/tag3.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7" d="100"/>
          <a:sy n="57" d="100"/>
        </p:scale>
        <p:origin x="108" y="10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E999284C-04EA-4E63-8572-370FAB54217F}" type="datetimeFigureOut">
              <a:rPr lang="en-US" smtClean="0"/>
              <a:t>7/3/2026</a:t>
            </a:fld>
            <a:endParaRPr lang="en-US"/>
          </a:p>
        </p:txBody>
      </p:sp>
      <p:sp>
        <p:nvSpPr>
          <p:cNvPr id="4" name="Slide Image Placeholder 3"/>
          <p:cNvSpPr>
            <a:spLocks noGrp="1" noRot="1" noChangeAspect="1"/>
          </p:cNvSpPr>
          <p:nvPr>
            <p:ph type="sldImg" idx="2"/>
          </p:nvPr>
        </p:nvSpPr>
        <p:spPr>
          <a:xfrm>
            <a:off x="573088" y="1336675"/>
            <a:ext cx="6413500"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BB49B41E-AE51-4AE5-A8DA-4C3CDA6D27CD}" type="slidenum">
              <a:rPr lang="en-US" smtClean="0"/>
              <a:t>‹#›</a:t>
            </a:fld>
            <a:endParaRPr lang="en-US"/>
          </a:p>
        </p:txBody>
      </p:sp>
    </p:spTree>
    <p:extLst>
      <p:ext uri="{BB962C8B-B14F-4D97-AF65-F5344CB8AC3E}">
        <p14:creationId xmlns:p14="http://schemas.microsoft.com/office/powerpoint/2010/main" val="15632682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Article on amazon-mgm</a:t>
            </a:r>
          </a:p>
          <a:p>
            <a:r>
              <a:t>https://www.npr.org/2022/03/17/1087268067/amazon-mgm-deal</a:t>
            </a:r>
          </a:p>
          <a:p>
            <a:endParaRPr/>
          </a:p>
          <a:p>
            <a:endParaRPr/>
          </a:p>
          <a:p>
            <a:r>
              <a:t>Article on att-time-warner merger </a:t>
            </a:r>
          </a:p>
          <a:p>
            <a:r>
              <a:t>https://www.cnn.com/2019/02/26/media/att-time-warner-merger-ruling/index.html</a:t>
            </a:r>
          </a:p>
          <a:p>
            <a:endParaRPr/>
          </a:p>
          <a:p>
            <a:r>
              <a:t>In 2018, a merger between AT&amp;T and Time Warner</a:t>
            </a:r>
          </a:p>
          <a:p>
            <a:r>
              <a:t>The federal government on Tuesday lost its second court challenge to AT&amp;T’s $85.4 billion merger with Time Warner, a blockbuster deal that has already begun to reshape much of the media industry.</a:t>
            </a:r>
          </a:p>
          <a:p>
            <a:r>
              <a:t>Justice Department lawyers have argued that the combination of the two companies would reduce competition and hurt consumers.</a:t>
            </a:r>
          </a:p>
          <a:p>
            <a:r>
              <a:t>AT&amp;T can now proceed with its plan to transform WarnerMedia into a streaming-video business in its version of the television industry’s go-to strategy. The company has said it would unveil several online video products by early next year, with the premium cable channel HBO anchoring a service that would feature films and television shows from the Warner Bros. library. (HBO will continue to be available as a stand-alone service.)</a:t>
            </a:r>
          </a:p>
          <a:p>
            <a:r>
              <a:t>That means blockbuster movies like “Wonder Woman” and installments of the Harry Potter franchise could show up on the service next to TV shows like “Friends” and HBO hits like “Game of Thrones.” AT&amp;T also plans to license some of its video properties to services like Netflix, a strategy that could undermine its own streaming product since audiences would be able to watch its shows and movies elsewhere</a:t>
            </a:r>
          </a:p>
          <a:p>
            <a:r>
              <a:t>In the case of AT&amp;T and Time Warner, which has been renamed WarnerMedia, the wireless provider is considered a content distributor and the media business a content supplier. AT&amp;T said that because the companies did not compete, the merger would yield benefits for customers like lower bills and new shows tailored for mobile devices.</a:t>
            </a:r>
          </a:p>
          <a:p>
            <a:r>
              <a:t>The deal brought together one of the nation’s largest wireless providers with a vast media business that includes CNN in addition to HBO and Warner Bros. AT&amp;T has over 153 million wireless subscribers and also owns the satellite TV service DirecTV.</a:t>
            </a:r>
          </a:p>
          <a:p>
            <a:r>
              <a:t>In 2021, After AT&amp;T spent so much time fighting to acquire Time Warner, its decision to let those assets go is an acknowledgment of the new realities of the streaming wars, which seem to reward services with sprawling content offerings like Netflix’s and Disney’s deep archive of beloved classics.</a:t>
            </a:r>
          </a:p>
          <a:p>
            <a:r>
              <a:t>When AT&amp;T’s bold megadeal to buy Time Warner was announced in October 2016, combining AT&amp;T’s broadband and wireless networks with Time Warner content, many analysts and investors cheered. They loved the promise of cutting out the cable middleman and delivering entertainment directly to people’s TVs, laptops and phones.</a:t>
            </a:r>
          </a:p>
          <a:p>
            <a:r>
              <a:t>Less than four years after the merger, AT&amp;T abandoned its grand initiative. It spun off its Warner Media assets and ceded management control to Discovery. The new company, Warner Bros. Discovery, took on $43 billion of AT&amp;T’s debt, and AT&amp;T shareholders kept 71 percent of the company, a stake worth less than $20 billion. </a:t>
            </a:r>
          </a:p>
          <a:p>
            <a:r>
              <a:t>https://www.nytimes.com/2022/11/19/business/media/att-time-warner-deal.html </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Do not modify the notes in this section to avoid tampering with the Poll Everywhere activity.</a:t>
            </a:r>
          </a:p>
          <a:p>
            <a:r>
              <a:t>More info at polleverywhere.com/support</a:t>
            </a:r>
          </a:p>
          <a:p>
            <a:endParaRPr/>
          </a:p>
          <a:p>
            <a:r>
              <a:t>In March 2022, Amazon completed its acquisition of MGM Studios for $8.45 billion. This merger:</a:t>
            </a:r>
          </a:p>
          <a:p>
            <a:r>
              <a:t>https://www.polleverywhere.com/multiple_choice_polls/IJ8aUfND9oCGPDbgSvELK?display_state=instructions&amp;activity_state=opened&amp;state=opened&amp;flow=Engagement&amp;onscreen=persist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Do not modify the notes in this section to avoid tampering with the Poll Everywhere activity.</a:t>
            </a:r>
          </a:p>
          <a:p>
            <a:r>
              <a:t>More info at polleverywhere.com/support</a:t>
            </a:r>
          </a:p>
          <a:p>
            <a:endParaRPr/>
          </a:p>
          <a:p>
            <a:r>
              <a:t>In March 2022, Amazon completed its acquisition of MGM Studios for $8.45 billion. This merger:</a:t>
            </a:r>
          </a:p>
          <a:p>
            <a:r>
              <a:t>https://www.polleverywhere.com/multiple_choice_polls/IJ8aUfND9oCGPDbgSvELK?display_state=chart&amp;activity_state=opened&amp;state=opened&amp;flow=Engagement&amp;onscreen=persist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Do not modify the notes in this section to avoid tampering with the Poll Everywhere activity.</a:t>
            </a:r>
          </a:p>
          <a:p>
            <a:r>
              <a:t>More info at polleverywhere.com/support</a:t>
            </a:r>
          </a:p>
          <a:p>
            <a:endParaRPr/>
          </a:p>
          <a:p>
            <a:r>
              <a:t>In March 2022, Amazon completed its acquisition of MGM Studios for $8.45 billion. This merger:</a:t>
            </a:r>
          </a:p>
          <a:p>
            <a:r>
              <a:t>https://www.polleverywhere.com/multiple_choice_polls/IJ8aUfND9oCGPDbgSvELK?display_state=chart&amp;activity_state=closed&amp;state=closed&amp;flow=Engagement&amp;onscreen=persist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Since a monopolist charges a price above the MC, you might suspect that having market power is beneficial for firms. It is! We can characterize the welfare consequences of market power and specify how it affects consumers and the firm.</a:t>
            </a:r>
          </a:p>
          <a:p>
            <a:endParaRPr/>
          </a:p>
          <a:p>
            <a:r>
              <a:t>We compute consumer and producer surplus similar to the competitive market setting.</a:t>
            </a:r>
          </a:p>
          <a:p>
            <a:endParaRPr/>
          </a:p>
          <a:p>
            <a:r>
              <a:t>Consumer surplus: the area under the demand curve and above the price</a:t>
            </a:r>
          </a:p>
          <a:p>
            <a:r>
              <a:t>Producer surplus: the area above the MC curve and below the price. (Recall that a firm’s short run supply curve in a perfectly competitive market is where the MC curve is above AVC.)</a:t>
            </a:r>
          </a:p>
          <a:p>
            <a:endParaRPr/>
          </a:p>
          <a:p>
            <a:r>
              <a:t>Under monopoly (relative to perfect competition): </a:t>
            </a:r>
          </a:p>
          <a:p>
            <a:r>
              <a:t>--consumer surplus declines.</a:t>
            </a:r>
          </a:p>
          <a:p>
            <a:r>
              <a:t>--producer surplus rises.</a:t>
            </a:r>
          </a:p>
          <a:p>
            <a:r>
              <a:t>--total welfare is reduced (deadweight loss of market power).</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website is really cool: https://concentrationcrisis.openmarketsinstitute.org/</a:t>
            </a:r>
          </a:p>
          <a:p>
            <a:r>
              <a:t>You can click on the sector and see how  concentrated each market is:</a:t>
            </a:r>
          </a:p>
          <a:p>
            <a:endParaRP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ULCC: discussion on page 321 of the textbook</a:t>
            </a:r>
          </a:p>
          <a:p>
            <a:r>
              <a:t>Allegiant, Frontier and Spirit, undercut fares offered by incumbent carriers.</a:t>
            </a:r>
          </a:p>
          <a:p>
            <a:r>
              <a:t>Prices can fall by double digit, number of passengers goes up. </a:t>
            </a:r>
          </a:p>
          <a:p>
            <a:r>
              <a:t>Drop in prices: Chicago O’Hare (23%), Newark (22%), Houston George Bush Intercontinental (21%), Dallas/Fort Worth (20%), Las Vegas McCarran (20%)</a:t>
            </a:r>
          </a:p>
          <a:p>
            <a:r>
              <a:t>The airline sector is very concentrated: Delta (22%), American (21%), United (18%), Southwest (15%) </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rationales for regulating monopoly:</a:t>
            </a:r>
          </a:p>
          <a:p>
            <a:r>
              <a:t>-- total welfare</a:t>
            </a:r>
          </a:p>
          <a:p>
            <a:r>
              <a:t>-- allocation of surplus among consumers and producers</a:t>
            </a:r>
          </a:p>
          <a:p>
            <a:r>
              <a:t>AT&amp;T long distance service, Bell local services</a:t>
            </a:r>
          </a:p>
          <a:p>
            <a:r>
              <a:t>For more on the AT&amp;T breakup: http://articles.latimes.com/1995-09-21/business/fi-48462_1_system-breakup</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are the main outcomes of Judge Mehta’s ruling for Google?</a:t>
            </a:r>
          </a:p>
          <a:p>
            <a:r>
              <a:t>Barred from making exclusive search deals</a:t>
            </a:r>
          </a:p>
          <a:p>
            <a:r>
              <a:t>Allowed to keep Chrome (no divestiture)</a:t>
            </a:r>
          </a:p>
          <a:p>
            <a:r>
              <a:t>Allowed to keep its agreement with Apple (with oversight)</a:t>
            </a:r>
          </a:p>
          <a:p>
            <a:r>
              <a:t>2. What new requirement did the judge impose on Google regarding its data?</a:t>
            </a:r>
          </a:p>
          <a:p>
            <a:r>
              <a:t>Google must share its search index and click/interaction data with competitors to help them build rival search engines.</a:t>
            </a:r>
          </a:p>
          <a:p>
            <a:r>
              <a:t>3. What type of remedy did Judge Mehta emphasize?</a:t>
            </a:r>
          </a:p>
          <a:p>
            <a:r>
              <a:t>He emphasized behavioral remedies (rules about how Google can act in the future) rather than structural remedies (like breaking up the company).</a:t>
            </a:r>
          </a:p>
          <a:p>
            <a:r>
              <a:t>4. How has the rise of AI influenced Judge Mehta’s decision in the Google case?</a:t>
            </a:r>
          </a:p>
          <a:p>
            <a:r>
              <a:t>The growth of AI tools and chatbots was seen as creating new competition for search. This likely influenced Mehta’s choice not to impose drastic structural changes, since the market may already be shifting due to technological innovation.</a:t>
            </a:r>
          </a:p>
          <a:p>
            <a:endParaRPr/>
          </a:p>
          <a:p>
            <a:r>
              <a:t>	</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Video in the article is very good</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2130480"/>
            <a:ext cx="7772040" cy="146952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p>
        </p:txBody>
      </p:sp>
      <p:sp>
        <p:nvSpPr>
          <p:cNvPr id="3" name="PlaceHolder 2"/>
          <p:cNvSpPr>
            <a:spLocks noGrp="1"/>
          </p:cNvSpPr>
          <p:nvPr>
            <p:ph type="dt" idx="1"/>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5" name="PlaceHolder 4"/>
          <p:cNvSpPr>
            <a:spLocks noGrp="1"/>
          </p:cNvSpPr>
          <p:nvPr>
            <p:ph type="sldNum" idx="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4A187CD4-759F-4A40-905D-96EF3E9220FF}"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rgbClr val="FFFFFF"/>
        </a:solidFill>
        <a:effectLst/>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p>
        </p:txBody>
      </p:sp>
      <p:sp>
        <p:nvSpPr>
          <p:cNvPr id="7" name="PlaceHolder 2"/>
          <p:cNvSpPr>
            <a:spLocks noGrp="1"/>
          </p:cNvSpPr>
          <p:nvPr>
            <p:ph type="body"/>
          </p:nvPr>
        </p:nvSpPr>
        <p:spPr>
          <a:xfrm>
            <a:off x="457200" y="1600200"/>
            <a:ext cx="8229240" cy="4525560"/>
          </a:xfrm>
          <a:prstGeom prst="rect">
            <a:avLst/>
          </a:prstGeom>
          <a:noFill/>
          <a:ln w="0">
            <a:noFill/>
          </a:ln>
        </p:spPr>
        <p:txBody>
          <a:bodyPr vert="eaVert"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8" name="PlaceHolder 3"/>
          <p:cNvSpPr>
            <a:spLocks noGrp="1"/>
          </p:cNvSpPr>
          <p:nvPr>
            <p:ph type="dt" idx="4"/>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9" name="PlaceHolder 4"/>
          <p:cNvSpPr>
            <a:spLocks noGrp="1"/>
          </p:cNvSpPr>
          <p:nvPr>
            <p:ph type="ftr" idx="5"/>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10" name="PlaceHolder 5"/>
          <p:cNvSpPr>
            <a:spLocks noGrp="1"/>
          </p:cNvSpPr>
          <p:nvPr>
            <p:ph type="sldNum" idx="6"/>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03E0C465-80F6-4447-9399-DAD0A1D4C7CA}"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solidFill>
          <a:srgbClr val="FFFFFF"/>
        </a:solidFill>
        <a:effectLst/>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629400" y="274680"/>
            <a:ext cx="2057040" cy="5851080"/>
          </a:xfrm>
          <a:prstGeom prst="rect">
            <a:avLst/>
          </a:prstGeom>
          <a:noFill/>
          <a:ln w="0">
            <a:noFill/>
          </a:ln>
        </p:spPr>
        <p:txBody>
          <a:bodyPr vert="eaVert"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p>
        </p:txBody>
      </p:sp>
      <p:sp>
        <p:nvSpPr>
          <p:cNvPr id="12" name="PlaceHolder 2"/>
          <p:cNvSpPr>
            <a:spLocks noGrp="1"/>
          </p:cNvSpPr>
          <p:nvPr>
            <p:ph type="body"/>
          </p:nvPr>
        </p:nvSpPr>
        <p:spPr>
          <a:xfrm>
            <a:off x="457200" y="274680"/>
            <a:ext cx="6019560" cy="5851080"/>
          </a:xfrm>
          <a:prstGeom prst="rect">
            <a:avLst/>
          </a:prstGeom>
          <a:noFill/>
          <a:ln w="0">
            <a:noFill/>
          </a:ln>
        </p:spPr>
        <p:txBody>
          <a:bodyPr vert="eaVert"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13" name="PlaceHolder 3"/>
          <p:cNvSpPr>
            <a:spLocks noGrp="1"/>
          </p:cNvSpPr>
          <p:nvPr>
            <p:ph type="dt" idx="7"/>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4" name="PlaceHolder 4"/>
          <p:cNvSpPr>
            <a:spLocks noGrp="1"/>
          </p:cNvSpPr>
          <p:nvPr>
            <p:ph type="ftr" idx="8"/>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15" name="PlaceHolder 5"/>
          <p:cNvSpPr>
            <a:spLocks noGrp="1"/>
          </p:cNvSpPr>
          <p:nvPr>
            <p:ph type="sldNum" idx="9"/>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AABF7AA0-27C6-481D-9925-D58439CBEC6E}"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FFFFFF"/>
        </a:solidFill>
        <a:effectLst/>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p>
        </p:txBody>
      </p:sp>
      <p:sp>
        <p:nvSpPr>
          <p:cNvPr id="17"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18" name="PlaceHolder 3"/>
          <p:cNvSpPr>
            <a:spLocks noGrp="1"/>
          </p:cNvSpPr>
          <p:nvPr>
            <p:ph type="dt" idx="10"/>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9" name="PlaceHolder 4"/>
          <p:cNvSpPr>
            <a:spLocks noGrp="1"/>
          </p:cNvSpPr>
          <p:nvPr>
            <p:ph type="ftr" idx="11"/>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20" name="PlaceHolder 5"/>
          <p:cNvSpPr>
            <a:spLocks noGrp="1"/>
          </p:cNvSpPr>
          <p:nvPr>
            <p:ph type="sldNum" idx="12"/>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B50F2341-F842-42D7-A9C1-7A47484DC7C8}"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Section Header">
    <p:bg>
      <p:bgPr>
        <a:solidFill>
          <a:srgbClr val="FFFFFF"/>
        </a:solidFill>
        <a:effectLst/>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722160" y="4406760"/>
            <a:ext cx="7772040" cy="1361880"/>
          </a:xfrm>
          <a:prstGeom prst="rect">
            <a:avLst/>
          </a:prstGeom>
          <a:noFill/>
          <a:ln w="0">
            <a:noFill/>
          </a:ln>
        </p:spPr>
        <p:txBody>
          <a:bodyPr lIns="91440" tIns="45720" rIns="91440" bIns="45720" anchor="t">
            <a:noAutofit/>
          </a:bodyPr>
          <a:lstStyle>
            <a:lvl1pPr indent="0" algn="l" defTabSz="457200">
              <a:lnSpc>
                <a:spcPct val="100000"/>
              </a:lnSpc>
              <a:buNone/>
              <a:defRPr lang="en-US" sz="4000" b="1" u="none" strike="noStrike" cap="all">
                <a:solidFill>
                  <a:schemeClr val="dk1"/>
                </a:solidFill>
                <a:effectLst/>
                <a:uFillTx/>
                <a:latin typeface="Calibri"/>
              </a:defRPr>
            </a:lvl1pPr>
          </a:lstStyle>
          <a:p>
            <a:pPr indent="0" algn="l" defTabSz="457200">
              <a:lnSpc>
                <a:spcPct val="100000"/>
              </a:lnSpc>
              <a:buNone/>
            </a:pPr>
            <a:r>
              <a:rPr lang="en-US" sz="4000" b="1" u="none" strike="noStrike" cap="all">
                <a:solidFill>
                  <a:schemeClr val="dk1"/>
                </a:solidFill>
                <a:effectLst/>
                <a:uFillTx/>
                <a:latin typeface="Calibri"/>
              </a:rPr>
              <a:t>Click to edit Master title style</a:t>
            </a:r>
          </a:p>
        </p:txBody>
      </p:sp>
      <p:sp>
        <p:nvSpPr>
          <p:cNvPr id="22" name="PlaceHolder 2"/>
          <p:cNvSpPr>
            <a:spLocks noGrp="1"/>
          </p:cNvSpPr>
          <p:nvPr>
            <p:ph type="body"/>
          </p:nvPr>
        </p:nvSpPr>
        <p:spPr>
          <a:xfrm>
            <a:off x="722160" y="2906640"/>
            <a:ext cx="7772040" cy="1499760"/>
          </a:xfrm>
          <a:prstGeom prst="rect">
            <a:avLst/>
          </a:prstGeom>
          <a:noFill/>
          <a:ln w="0">
            <a:noFill/>
          </a:ln>
        </p:spPr>
        <p:txBody>
          <a:bodyPr lIns="91440" tIns="45720" rIns="91440" bIns="45720" anchor="b">
            <a:noAutofit/>
          </a:bodyPr>
          <a:lstStyle>
            <a:lvl1pPr indent="0" algn="l" defTabSz="457200">
              <a:lnSpc>
                <a:spcPct val="100000"/>
              </a:lnSpc>
              <a:spcBef>
                <a:spcPts val="400"/>
              </a:spcBef>
              <a:buNone/>
              <a:tabLst>
                <a:tab pos="0" algn="l"/>
              </a:tabLst>
              <a:defRPr lang="en-US" sz="2000" b="0" u="none" strike="noStrike">
                <a:solidFill>
                  <a:schemeClr val="dk1">
                    <a:tint val="75000"/>
                  </a:schemeClr>
                </a:solidFill>
                <a:effectLst/>
                <a:uFillTx/>
                <a:latin typeface="Calibri"/>
              </a:defRPr>
            </a:lvl1pPr>
          </a:lstStyle>
          <a:p>
            <a:pPr indent="0" algn="l" defTabSz="457200">
              <a:lnSpc>
                <a:spcPct val="100000"/>
              </a:lnSpc>
              <a:spcBef>
                <a:spcPts val="400"/>
              </a:spcBef>
              <a:buNone/>
              <a:tabLst>
                <a:tab pos="0" algn="l"/>
              </a:tabLst>
            </a:pPr>
            <a:r>
              <a:rPr lang="en-US" sz="2000" b="0" u="none" strike="noStrike">
                <a:solidFill>
                  <a:schemeClr val="dk1">
                    <a:tint val="75000"/>
                  </a:schemeClr>
                </a:solidFill>
                <a:effectLst/>
                <a:uFillTx/>
                <a:latin typeface="Calibri"/>
              </a:rPr>
              <a:t>Click to edit Master text styles</a:t>
            </a:r>
          </a:p>
        </p:txBody>
      </p:sp>
      <p:sp>
        <p:nvSpPr>
          <p:cNvPr id="23" name="PlaceHolder 3"/>
          <p:cNvSpPr>
            <a:spLocks noGrp="1"/>
          </p:cNvSpPr>
          <p:nvPr>
            <p:ph type="dt" idx="13"/>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24" name="PlaceHolder 4"/>
          <p:cNvSpPr>
            <a:spLocks noGrp="1"/>
          </p:cNvSpPr>
          <p:nvPr>
            <p:ph type="ftr" idx="14"/>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25" name="PlaceHolder 5"/>
          <p:cNvSpPr>
            <a:spLocks noGrp="1"/>
          </p:cNvSpPr>
          <p:nvPr>
            <p:ph type="sldNum" idx="15"/>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9E24AF35-A0F6-4A9D-B3E5-E0389B79B328}"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rgbClr val="FFFFFF"/>
        </a:solidFill>
        <a:effectLst/>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p>
        </p:txBody>
      </p:sp>
      <p:sp>
        <p:nvSpPr>
          <p:cNvPr id="27" name="PlaceHolder 2"/>
          <p:cNvSpPr>
            <a:spLocks noGrp="1"/>
          </p:cNvSpPr>
          <p:nvPr>
            <p:ph type="body"/>
          </p:nvPr>
        </p:nvSpPr>
        <p:spPr>
          <a:xfrm>
            <a:off x="457200" y="1600200"/>
            <a:ext cx="4038120" cy="452556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p>
        </p:txBody>
      </p:sp>
      <p:sp>
        <p:nvSpPr>
          <p:cNvPr id="28" name="PlaceHolder 3"/>
          <p:cNvSpPr>
            <a:spLocks noGrp="1"/>
          </p:cNvSpPr>
          <p:nvPr>
            <p:ph type="body"/>
          </p:nvPr>
        </p:nvSpPr>
        <p:spPr>
          <a:xfrm>
            <a:off x="4648320" y="1600200"/>
            <a:ext cx="4038120" cy="452556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p>
        </p:txBody>
      </p:sp>
      <p:sp>
        <p:nvSpPr>
          <p:cNvPr id="29" name="PlaceHolder 4"/>
          <p:cNvSpPr>
            <a:spLocks noGrp="1"/>
          </p:cNvSpPr>
          <p:nvPr>
            <p:ph type="dt" idx="16"/>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0" name="PlaceHolder 5"/>
          <p:cNvSpPr>
            <a:spLocks noGrp="1"/>
          </p:cNvSpPr>
          <p:nvPr>
            <p:ph type="ftr" idx="17"/>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31" name="PlaceHolder 6"/>
          <p:cNvSpPr>
            <a:spLocks noGrp="1"/>
          </p:cNvSpPr>
          <p:nvPr>
            <p:ph type="sldNum" idx="18"/>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C5F3C7B2-96A7-4D78-8D61-C14769890B44}"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omparison">
    <p:bg>
      <p:bgPr>
        <a:solidFill>
          <a:srgbClr val="FFFFFF"/>
        </a:solidFill>
        <a:effectLst/>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p>
        </p:txBody>
      </p:sp>
      <p:sp>
        <p:nvSpPr>
          <p:cNvPr id="33" name="PlaceHolder 2"/>
          <p:cNvSpPr>
            <a:spLocks noGrp="1"/>
          </p:cNvSpPr>
          <p:nvPr>
            <p:ph type="body"/>
          </p:nvPr>
        </p:nvSpPr>
        <p:spPr>
          <a:xfrm>
            <a:off x="457200" y="1535040"/>
            <a:ext cx="4039920" cy="63936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4" name="PlaceHolder 3"/>
          <p:cNvSpPr>
            <a:spLocks noGrp="1"/>
          </p:cNvSpPr>
          <p:nvPr>
            <p:ph type="body"/>
          </p:nvPr>
        </p:nvSpPr>
        <p:spPr>
          <a:xfrm>
            <a:off x="457200" y="2174760"/>
            <a:ext cx="4039920" cy="395100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p>
        </p:txBody>
      </p:sp>
      <p:sp>
        <p:nvSpPr>
          <p:cNvPr id="35" name="PlaceHolder 4"/>
          <p:cNvSpPr>
            <a:spLocks noGrp="1"/>
          </p:cNvSpPr>
          <p:nvPr>
            <p:ph type="body"/>
          </p:nvPr>
        </p:nvSpPr>
        <p:spPr>
          <a:xfrm>
            <a:off x="4645080" y="1535040"/>
            <a:ext cx="4041360" cy="63936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6" name="PlaceHolder 5"/>
          <p:cNvSpPr>
            <a:spLocks noGrp="1"/>
          </p:cNvSpPr>
          <p:nvPr>
            <p:ph type="body"/>
          </p:nvPr>
        </p:nvSpPr>
        <p:spPr>
          <a:xfrm>
            <a:off x="4645080" y="2174760"/>
            <a:ext cx="4041360" cy="395100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p>
        </p:txBody>
      </p:sp>
      <p:sp>
        <p:nvSpPr>
          <p:cNvPr id="37" name="PlaceHolder 6"/>
          <p:cNvSpPr>
            <a:spLocks noGrp="1"/>
          </p:cNvSpPr>
          <p:nvPr>
            <p:ph type="dt" idx="19"/>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8" name="PlaceHolder 7"/>
          <p:cNvSpPr>
            <a:spLocks noGrp="1"/>
          </p:cNvSpPr>
          <p:nvPr>
            <p:ph type="ftr" idx="20"/>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39" name="PlaceHolder 8"/>
          <p:cNvSpPr>
            <a:spLocks noGrp="1"/>
          </p:cNvSpPr>
          <p:nvPr>
            <p:ph type="sldNum" idx="21"/>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48F61B33-77F9-413A-87C6-48F8BD6C7D44}"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FFFFFF"/>
        </a:solidFill>
        <a:effectLst/>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p>
        </p:txBody>
      </p:sp>
      <p:sp>
        <p:nvSpPr>
          <p:cNvPr id="41" name="PlaceHolder 2"/>
          <p:cNvSpPr>
            <a:spLocks noGrp="1"/>
          </p:cNvSpPr>
          <p:nvPr>
            <p:ph type="dt" idx="22"/>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2" name="PlaceHolder 3"/>
          <p:cNvSpPr>
            <a:spLocks noGrp="1"/>
          </p:cNvSpPr>
          <p:nvPr>
            <p:ph type="ftr" idx="23"/>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43" name="PlaceHolder 4"/>
          <p:cNvSpPr>
            <a:spLocks noGrp="1"/>
          </p:cNvSpPr>
          <p:nvPr>
            <p:ph type="sldNum" idx="24"/>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7B2824B1-ABE9-4F73-A7CD-6D259FBF3ABE}"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FFFFF"/>
        </a:solidFill>
        <a:effectLst/>
      </p:bgPr>
    </p:bg>
    <p:spTree>
      <p:nvGrpSpPr>
        <p:cNvPr id="1" name=""/>
        <p:cNvGrpSpPr/>
        <p:nvPr/>
      </p:nvGrpSpPr>
      <p:grpSpPr>
        <a:xfrm>
          <a:off x="0" y="0"/>
          <a:ext cx="0" cy="0"/>
          <a:chOff x="0" y="0"/>
          <a:chExt cx="0" cy="0"/>
        </a:xfrm>
      </p:grpSpPr>
      <p:sp>
        <p:nvSpPr>
          <p:cNvPr id="44" name="PlaceHolder 1"/>
          <p:cNvSpPr>
            <a:spLocks noGrp="1"/>
          </p:cNvSpPr>
          <p:nvPr>
            <p:ph type="dt" idx="25"/>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5" name="PlaceHolder 2"/>
          <p:cNvSpPr>
            <a:spLocks noGrp="1"/>
          </p:cNvSpPr>
          <p:nvPr>
            <p:ph type="ftr" idx="26"/>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46" name="PlaceHolder 3"/>
          <p:cNvSpPr>
            <a:spLocks noGrp="1"/>
          </p:cNvSpPr>
          <p:nvPr>
            <p:ph type="sldNum" idx="27"/>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37C7C3A3-A98B-49EF-A303-A7A8DF80CF5F}"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
        <p:nvSpPr>
          <p:cNvPr id="47" name="PlaceHolder 4"/>
          <p:cNvSpPr>
            <a:spLocks noGrp="1"/>
          </p:cNvSpPr>
          <p:nvPr>
            <p:ph type="title"/>
          </p:nvPr>
        </p:nvSpPr>
        <p:spPr>
          <a:xfrm>
            <a:off x="609480" y="273600"/>
            <a:ext cx="10972080" cy="1144800"/>
          </a:xfrm>
          <a:prstGeom prst="rect">
            <a:avLst/>
          </a:prstGeom>
          <a:noFill/>
          <a:ln w="0">
            <a:noFill/>
          </a:ln>
        </p:spPr>
        <p:txBody>
          <a:bodyPr lIns="0" tIns="0" rIns="0" bIns="0" anchor="ctr">
            <a:noAutofit/>
          </a:bodyPr>
          <a:lstStyle>
            <a:lvl1pPr indent="0" algn="ctr" defTabSz="457200">
              <a:buNone/>
              <a:defRPr lang="en-US" sz="4400" b="0" u="none" strike="noStrike">
                <a:solidFill>
                  <a:schemeClr val="dk1"/>
                </a:solidFill>
                <a:effectLst/>
                <a:uFillTx/>
                <a:latin typeface="Calibri"/>
              </a:defRPr>
            </a:lvl1pPr>
          </a:lstStyle>
          <a:p>
            <a:pPr indent="0" algn="ctr" defTabSz="457200">
              <a:buNone/>
            </a:pPr>
            <a:r>
              <a:rPr lang="en-US" sz="4400" b="0" u="none" strike="noStrike">
                <a:solidFill>
                  <a:schemeClr val="dk1"/>
                </a:solidFill>
                <a:effectLst/>
                <a:uFillTx/>
                <a:latin typeface="Calibri"/>
              </a:rPr>
              <a:t>Click to edit the title text format</a:t>
            </a:r>
          </a:p>
        </p:txBody>
      </p:sp>
      <p:sp>
        <p:nvSpPr>
          <p:cNvPr id="48" name="PlaceHolder 5"/>
          <p:cNvSpPr>
            <a:spLocks noGrp="1"/>
          </p:cNvSpPr>
          <p:nvPr>
            <p:ph type="body"/>
          </p:nvPr>
        </p:nvSpPr>
        <p:spPr>
          <a:xfrm>
            <a:off x="609480" y="1604520"/>
            <a:ext cx="10972080" cy="3977280"/>
          </a:xfrm>
          <a:prstGeom prst="rect">
            <a:avLst/>
          </a:prstGeom>
          <a:noFill/>
          <a:ln w="0">
            <a:noFill/>
          </a:ln>
        </p:spPr>
        <p:txBody>
          <a:bodyPr lIns="0" tIns="0" rIns="0" bIns="0" anchor="t">
            <a:normAutofit/>
          </a:bodyPr>
          <a:lstStyle>
            <a:lvl1pPr algn="l" defTabSz="457200">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spcBef>
                <a:spcPts val="561"/>
              </a:spcBef>
              <a:buClr>
                <a:srgbClr val="000000"/>
              </a:buClr>
              <a:buSzPct val="75000"/>
              <a:buFont typeface="Symbol" charset="2"/>
              <a:buChar char=""/>
              <a:defRPr lang="en-US" sz="2800" b="0" u="none" strike="noStrike">
                <a:solidFill>
                  <a:schemeClr val="dk1"/>
                </a:solidFill>
                <a:effectLst/>
                <a:uFillTx/>
                <a:latin typeface="Calibri"/>
              </a:defRPr>
            </a:lvl2pPr>
            <a:lvl3pPr lvl="2" algn="l" defTabSz="457200">
              <a:spcBef>
                <a:spcPts val="479"/>
              </a:spcBef>
              <a:buClr>
                <a:srgbClr val="000000"/>
              </a:buClr>
              <a:buSzPct val="45000"/>
              <a:buFont typeface="Wingdings" charset="2"/>
              <a:buChar char=""/>
              <a:defRPr lang="en-US" sz="2400" b="0" u="none" strike="noStrike">
                <a:solidFill>
                  <a:schemeClr val="dk1"/>
                </a:solidFill>
                <a:effectLst/>
                <a:uFillTx/>
                <a:latin typeface="Calibri"/>
              </a:defRPr>
            </a:lvl3pPr>
            <a:lvl4pPr lvl="3" algn="l" defTabSz="457200">
              <a:spcBef>
                <a:spcPts val="400"/>
              </a:spcBef>
              <a:buClr>
                <a:srgbClr val="000000"/>
              </a:buClr>
              <a:buSzPct val="75000"/>
              <a:buFont typeface="Symbol" charset="2"/>
              <a:buChar char=""/>
              <a:defRPr lang="en-US" sz="2000" b="0" u="none" strike="noStrike">
                <a:solidFill>
                  <a:schemeClr val="dk1"/>
                </a:solidFill>
                <a:effectLst/>
                <a:uFillTx/>
                <a:latin typeface="Calibri"/>
              </a:defRPr>
            </a:lvl4pPr>
            <a:lvl5pPr lvl="4" algn="l" defTabSz="457200">
              <a:spcBef>
                <a:spcPts val="400"/>
              </a:spcBef>
              <a:buClr>
                <a:srgbClr val="000000"/>
              </a:buClr>
              <a:buSzPct val="45000"/>
              <a:buFont typeface="Wingdings" charset="2"/>
              <a:buChar char=""/>
              <a:defRPr lang="en-US" sz="2000" b="0" u="none" strike="noStrike">
                <a:solidFill>
                  <a:schemeClr val="dk1"/>
                </a:solidFill>
                <a:effectLst/>
                <a:uFillTx/>
                <a:latin typeface="Calibri"/>
              </a:defRPr>
            </a:lvl5pPr>
            <a:lvl6pPr lvl="5" algn="l" defTabSz="457200">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defTabSz="457200">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343080" indent="-343080" algn="l" defTabSz="457200">
              <a:spcBef>
                <a:spcPts val="641"/>
              </a:spcBef>
              <a:buClr>
                <a:srgbClr val="000000"/>
              </a:buClr>
              <a:buFont typeface="Arial"/>
              <a:buChar char="•"/>
            </a:pPr>
            <a:r>
              <a:rPr lang="en-US" sz="3200" b="0" u="none" strike="noStrike">
                <a:solidFill>
                  <a:schemeClr val="dk1"/>
                </a:solidFill>
                <a:effectLst/>
                <a:uFillTx/>
                <a:latin typeface="Calibri"/>
              </a:rPr>
              <a:t>Click to edit the outline text format</a:t>
            </a:r>
          </a:p>
          <a:p>
            <a:pPr marL="864000" lvl="1" indent="-324000" algn="l" defTabSz="457200">
              <a:spcBef>
                <a:spcPts val="561"/>
              </a:spcBef>
              <a:buClr>
                <a:srgbClr val="000000"/>
              </a:buClr>
              <a:buSzPct val="75000"/>
              <a:buFont typeface="Symbol" charset="2"/>
              <a:buChar char=""/>
            </a:pPr>
            <a:r>
              <a:rPr lang="en-US" sz="2800" b="0" u="none" strike="noStrike">
                <a:solidFill>
                  <a:schemeClr val="dk1"/>
                </a:solidFill>
                <a:effectLst/>
                <a:uFillTx/>
                <a:latin typeface="Calibri"/>
              </a:rPr>
              <a:t>Second Outline Level</a:t>
            </a:r>
          </a:p>
          <a:p>
            <a:pPr marL="1296000" lvl="2" indent="-288000" algn="l" defTabSz="457200">
              <a:spcBef>
                <a:spcPts val="479"/>
              </a:spcBef>
              <a:buClr>
                <a:srgbClr val="000000"/>
              </a:buClr>
              <a:buSzPct val="45000"/>
              <a:buFont typeface="Wingdings" charset="2"/>
              <a:buChar char=""/>
            </a:pPr>
            <a:r>
              <a:rPr lang="en-US" sz="2400" b="0" u="none" strike="noStrike">
                <a:solidFill>
                  <a:schemeClr val="dk1"/>
                </a:solidFill>
                <a:effectLst/>
                <a:uFillTx/>
                <a:latin typeface="Calibri"/>
              </a:rPr>
              <a:t>Third Outline Level</a:t>
            </a:r>
          </a:p>
          <a:p>
            <a:pPr marL="1728000" lvl="3" indent="-216000" algn="l" defTabSz="457200">
              <a:spcBef>
                <a:spcPts val="400"/>
              </a:spcBef>
              <a:buClr>
                <a:srgbClr val="000000"/>
              </a:buClr>
              <a:buSzPct val="75000"/>
              <a:buFont typeface="Symbol" charset="2"/>
              <a:buChar char=""/>
            </a:pPr>
            <a:r>
              <a:rPr lang="en-US" sz="2000" b="0" u="none" strike="noStrike">
                <a:solidFill>
                  <a:schemeClr val="dk1"/>
                </a:solidFill>
                <a:effectLst/>
                <a:uFillTx/>
                <a:latin typeface="Calibri"/>
              </a:rPr>
              <a:t>Fourth Outline Level</a:t>
            </a:r>
          </a:p>
          <a:p>
            <a:pPr marL="2160000" lvl="4" indent="-216000" algn="l" defTabSz="457200">
              <a:spcBef>
                <a:spcPts val="400"/>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lgn="l" defTabSz="457200">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lgn="l" defTabSz="457200">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ontent with Caption">
    <p:bg>
      <p:bgPr>
        <a:solidFill>
          <a:srgbClr val="FFFFFF"/>
        </a:solidFill>
        <a:effectLst/>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2880"/>
            <a:ext cx="3007800" cy="1161720"/>
          </a:xfrm>
          <a:prstGeom prst="rect">
            <a:avLst/>
          </a:prstGeom>
          <a:noFill/>
          <a:ln w="0">
            <a:noFill/>
          </a:ln>
        </p:spPr>
        <p:txBody>
          <a:bodyPr lIns="91440" tIns="45720" rIns="91440" bIns="45720" anchor="b">
            <a:noAutofit/>
          </a:bodyPr>
          <a:lstStyle>
            <a:lvl1pPr indent="0" algn="l" defTabSz="457200">
              <a:lnSpc>
                <a:spcPct val="100000"/>
              </a:lnSpc>
              <a:buNone/>
              <a:defRPr lang="en-US" sz="2000" b="1" u="none" strike="noStrike">
                <a:solidFill>
                  <a:schemeClr val="dk1"/>
                </a:solidFill>
                <a:effectLst/>
                <a:uFillTx/>
                <a:latin typeface="Calibri"/>
              </a:defRPr>
            </a:lvl1pPr>
          </a:lstStyle>
          <a:p>
            <a:pPr indent="0" algn="l" defTabSz="457200">
              <a:lnSpc>
                <a:spcPct val="100000"/>
              </a:lnSpc>
              <a:buNone/>
            </a:pPr>
            <a:r>
              <a:rPr lang="en-US" sz="2000" b="1" u="none" strike="noStrike">
                <a:solidFill>
                  <a:schemeClr val="dk1"/>
                </a:solidFill>
                <a:effectLst/>
                <a:uFillTx/>
                <a:latin typeface="Calibri"/>
              </a:rPr>
              <a:t>Click to edit Master title style</a:t>
            </a:r>
          </a:p>
        </p:txBody>
      </p:sp>
      <p:sp>
        <p:nvSpPr>
          <p:cNvPr id="50" name="PlaceHolder 2"/>
          <p:cNvSpPr>
            <a:spLocks noGrp="1"/>
          </p:cNvSpPr>
          <p:nvPr>
            <p:ph type="body"/>
          </p:nvPr>
        </p:nvSpPr>
        <p:spPr>
          <a:xfrm>
            <a:off x="3575160" y="272880"/>
            <a:ext cx="5111280" cy="585288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51" name="PlaceHolder 3"/>
          <p:cNvSpPr>
            <a:spLocks noGrp="1"/>
          </p:cNvSpPr>
          <p:nvPr>
            <p:ph type="body"/>
          </p:nvPr>
        </p:nvSpPr>
        <p:spPr>
          <a:xfrm>
            <a:off x="457200" y="1434960"/>
            <a:ext cx="3007800" cy="469080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p>
        </p:txBody>
      </p:sp>
      <p:sp>
        <p:nvSpPr>
          <p:cNvPr id="52" name="PlaceHolder 4"/>
          <p:cNvSpPr>
            <a:spLocks noGrp="1"/>
          </p:cNvSpPr>
          <p:nvPr>
            <p:ph type="dt" idx="28"/>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3" name="PlaceHolder 5"/>
          <p:cNvSpPr>
            <a:spLocks noGrp="1"/>
          </p:cNvSpPr>
          <p:nvPr>
            <p:ph type="ftr" idx="29"/>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54" name="PlaceHolder 6"/>
          <p:cNvSpPr>
            <a:spLocks noGrp="1"/>
          </p:cNvSpPr>
          <p:nvPr>
            <p:ph type="sldNum" idx="30"/>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967D36DF-0142-45E7-A742-46FFC26DA20D}"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Picture with Caption">
    <p:bg>
      <p:bgPr>
        <a:solidFill>
          <a:srgbClr val="FFFFFF"/>
        </a:solidFill>
        <a:effectLst/>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1792440" y="4800600"/>
            <a:ext cx="5486040" cy="566280"/>
          </a:xfrm>
          <a:prstGeom prst="rect">
            <a:avLst/>
          </a:prstGeom>
          <a:noFill/>
          <a:ln w="0">
            <a:noFill/>
          </a:ln>
        </p:spPr>
        <p:txBody>
          <a:bodyPr lIns="91440" tIns="45720" rIns="91440" bIns="45720" anchor="b">
            <a:noAutofit/>
          </a:bodyPr>
          <a:lstStyle>
            <a:lvl1pPr indent="0" algn="l" defTabSz="457200">
              <a:lnSpc>
                <a:spcPct val="100000"/>
              </a:lnSpc>
              <a:buNone/>
              <a:defRPr lang="en-US" sz="2000" b="1" u="none" strike="noStrike">
                <a:solidFill>
                  <a:schemeClr val="dk1"/>
                </a:solidFill>
                <a:effectLst/>
                <a:uFillTx/>
                <a:latin typeface="Calibri"/>
              </a:defRPr>
            </a:lvl1pPr>
          </a:lstStyle>
          <a:p>
            <a:pPr indent="0" algn="l" defTabSz="457200">
              <a:lnSpc>
                <a:spcPct val="100000"/>
              </a:lnSpc>
              <a:buNone/>
            </a:pPr>
            <a:r>
              <a:rPr lang="en-US" sz="2000" b="1" u="none" strike="noStrike">
                <a:solidFill>
                  <a:schemeClr val="dk1"/>
                </a:solidFill>
                <a:effectLst/>
                <a:uFillTx/>
                <a:latin typeface="Calibri"/>
              </a:rPr>
              <a:t>Click to edit Master title style</a:t>
            </a:r>
          </a:p>
        </p:txBody>
      </p:sp>
      <p:sp>
        <p:nvSpPr>
          <p:cNvPr id="56" name="PlaceHolder 2"/>
          <p:cNvSpPr>
            <a:spLocks noGrp="1"/>
          </p:cNvSpPr>
          <p:nvPr>
            <p:ph type="body"/>
          </p:nvPr>
        </p:nvSpPr>
        <p:spPr>
          <a:xfrm>
            <a:off x="1792440" y="612720"/>
            <a:ext cx="5486040" cy="4114440"/>
          </a:xfrm>
          <a:prstGeom prst="rect">
            <a:avLst/>
          </a:prstGeom>
          <a:noFill/>
          <a:ln w="0">
            <a:noFill/>
          </a:ln>
        </p:spPr>
        <p:txBody>
          <a:bodyPr lIns="90000" tIns="45000" rIns="90000" bIns="45000" anchor="t">
            <a:noAutofit/>
          </a:bodyPr>
          <a:lstStyle>
            <a:lvl1pPr algn="l" defTabSz="457200">
              <a:spcBef>
                <a:spcPts val="281"/>
              </a:spcBef>
              <a:buClr>
                <a:srgbClr val="000000"/>
              </a:buClr>
              <a:buFont typeface="Arial"/>
              <a:buChar char="•"/>
              <a:tabLst>
                <a:tab pos="0" algn="l"/>
              </a:tabLst>
              <a:defRPr lang="en-US" sz="3200" b="0" u="none" strike="noStrike">
                <a:solidFill>
                  <a:schemeClr val="dk1"/>
                </a:solidFill>
                <a:effectLst/>
                <a:uFillTx/>
                <a:latin typeface="Calibri"/>
              </a:defRPr>
            </a:lvl1pPr>
            <a:lvl2pPr lvl="1" algn="l" defTabSz="457200">
              <a:spcBef>
                <a:spcPts val="561"/>
              </a:spcBef>
              <a:buClr>
                <a:srgbClr val="000000"/>
              </a:buClr>
              <a:buSzPct val="75000"/>
              <a:buFont typeface="Symbol" charset="2"/>
              <a:buChar char=""/>
              <a:defRPr lang="en-US" sz="3200" b="0" u="none" strike="noStrike">
                <a:solidFill>
                  <a:schemeClr val="dk1"/>
                </a:solidFill>
                <a:effectLst/>
                <a:uFillTx/>
                <a:latin typeface="Calibri"/>
              </a:defRPr>
            </a:lvl2pPr>
            <a:lvl3pPr lvl="2" algn="l" defTabSz="457200">
              <a:spcBef>
                <a:spcPts val="479"/>
              </a:spcBef>
              <a:buClr>
                <a:srgbClr val="000000"/>
              </a:buClr>
              <a:buSzPct val="45000"/>
              <a:buFont typeface="Wingdings" charset="2"/>
              <a:buChar char=""/>
              <a:defRPr lang="en-US" sz="3200" b="0" u="none" strike="noStrike">
                <a:solidFill>
                  <a:schemeClr val="dk1"/>
                </a:solidFill>
                <a:effectLst/>
                <a:uFillTx/>
                <a:latin typeface="Calibri"/>
              </a:defRPr>
            </a:lvl3pPr>
            <a:lvl4pPr lvl="3" algn="l" defTabSz="457200">
              <a:spcBef>
                <a:spcPts val="400"/>
              </a:spcBef>
              <a:buClr>
                <a:srgbClr val="000000"/>
              </a:buClr>
              <a:buSzPct val="75000"/>
              <a:buFont typeface="Symbol" charset="2"/>
              <a:buChar char=""/>
              <a:defRPr lang="en-US" sz="3200" b="0" u="none" strike="noStrike">
                <a:solidFill>
                  <a:schemeClr val="dk1"/>
                </a:solidFill>
                <a:effectLst/>
                <a:uFillTx/>
                <a:latin typeface="Calibri"/>
              </a:defRPr>
            </a:lvl4pPr>
            <a:lvl5pPr lvl="4" algn="l" defTabSz="457200">
              <a:spcBef>
                <a:spcPts val="400"/>
              </a:spcBef>
              <a:buClr>
                <a:srgbClr val="000000"/>
              </a:buClr>
              <a:buSzPct val="45000"/>
              <a:buFont typeface="Wingdings" charset="2"/>
              <a:buChar char=""/>
              <a:defRPr lang="en-US" sz="3200" b="0" u="none" strike="noStrike">
                <a:solidFill>
                  <a:schemeClr val="dk1"/>
                </a:solidFill>
                <a:effectLst/>
                <a:uFillTx/>
                <a:latin typeface="Calibri"/>
              </a:defRPr>
            </a:lvl5pPr>
            <a:lvl6pPr lvl="5" algn="l" defTabSz="457200">
              <a:spcBef>
                <a:spcPts val="283"/>
              </a:spcBef>
              <a:buClr>
                <a:srgbClr val="000000"/>
              </a:buClr>
              <a:buSzPct val="45000"/>
              <a:buFont typeface="Wingdings" charset="2"/>
              <a:buChar char=""/>
              <a:defRPr lang="en-US" sz="3200" b="0" u="none" strike="noStrike">
                <a:solidFill>
                  <a:schemeClr val="dk1"/>
                </a:solidFill>
                <a:effectLst/>
                <a:uFillTx/>
                <a:latin typeface="Calibri"/>
              </a:defRPr>
            </a:lvl6pPr>
            <a:lvl7pPr lvl="6" algn="l" defTabSz="457200">
              <a:spcBef>
                <a:spcPts val="283"/>
              </a:spcBef>
              <a:buClr>
                <a:srgbClr val="000000"/>
              </a:buClr>
              <a:buSzPct val="45000"/>
              <a:buFont typeface="Wingdings" charset="2"/>
              <a:buChar char=""/>
              <a:defRPr lang="en-US" sz="3200" b="0" u="none" strike="noStrike">
                <a:solidFill>
                  <a:schemeClr val="dk1"/>
                </a:solidFill>
                <a:effectLst/>
                <a:uFillTx/>
                <a:latin typeface="Calibri"/>
              </a:defRPr>
            </a:lvl7pPr>
          </a:lstStyle>
          <a:p>
            <a:pPr algn="l" defTabSz="457200">
              <a:spcBef>
                <a:spcPts val="281"/>
              </a:spcBef>
              <a:buClr>
                <a:srgbClr val="000000"/>
              </a:buClr>
              <a:buFont typeface="Arial"/>
              <a:buChar char="•"/>
              <a:tabLst>
                <a:tab pos="0" algn="l"/>
              </a:tabLst>
            </a:pPr>
            <a:r>
              <a:rPr lang="en-US" sz="3200" b="0" u="none" strike="noStrike">
                <a:solidFill>
                  <a:schemeClr val="dk1"/>
                </a:solidFill>
                <a:effectLst/>
                <a:uFillTx/>
                <a:latin typeface="Calibri"/>
              </a:rPr>
              <a:t>Click to edit the outline text format</a:t>
            </a:r>
          </a:p>
          <a:p>
            <a:pPr marL="457200" lvl="1" algn="l" defTabSz="457200">
              <a:spcBef>
                <a:spcPts val="561"/>
              </a:spcBef>
              <a:buClr>
                <a:srgbClr val="000000"/>
              </a:buClr>
              <a:buSzPct val="75000"/>
              <a:buFont typeface="Symbol" charset="2"/>
              <a:buChar char=""/>
            </a:pPr>
            <a:r>
              <a:rPr lang="en-US" sz="3200" b="0" u="none" strike="noStrike">
                <a:solidFill>
                  <a:schemeClr val="dk1"/>
                </a:solidFill>
                <a:effectLst/>
                <a:uFillTx/>
                <a:latin typeface="Calibri"/>
              </a:rPr>
              <a:t>Second Outline Level</a:t>
            </a:r>
          </a:p>
          <a:p>
            <a:pPr marL="914400" lvl="2" algn="l" defTabSz="457200">
              <a:spcBef>
                <a:spcPts val="479"/>
              </a:spcBef>
              <a:buClr>
                <a:srgbClr val="000000"/>
              </a:buClr>
              <a:buSzPct val="45000"/>
              <a:buFont typeface="Wingdings" charset="2"/>
              <a:buChar char=""/>
            </a:pPr>
            <a:r>
              <a:rPr lang="en-US" sz="3200" b="0" u="none" strike="noStrike">
                <a:solidFill>
                  <a:schemeClr val="dk1"/>
                </a:solidFill>
                <a:effectLst/>
                <a:uFillTx/>
                <a:latin typeface="Calibri"/>
              </a:rPr>
              <a:t>Third Outline Level</a:t>
            </a:r>
          </a:p>
          <a:p>
            <a:pPr marL="1371600" lvl="3" algn="l" defTabSz="457200">
              <a:spcBef>
                <a:spcPts val="400"/>
              </a:spcBef>
              <a:buClr>
                <a:srgbClr val="000000"/>
              </a:buClr>
              <a:buSzPct val="75000"/>
              <a:buFont typeface="Symbol" charset="2"/>
              <a:buChar char=""/>
            </a:pPr>
            <a:r>
              <a:rPr lang="en-US" sz="3200" b="0" u="none" strike="noStrike">
                <a:solidFill>
                  <a:schemeClr val="dk1"/>
                </a:solidFill>
                <a:effectLst/>
                <a:uFillTx/>
                <a:latin typeface="Calibri"/>
              </a:rPr>
              <a:t>Fourth Outline Level</a:t>
            </a:r>
          </a:p>
          <a:p>
            <a:pPr marL="1828800" lvl="4" algn="l" defTabSz="457200">
              <a:spcBef>
                <a:spcPts val="400"/>
              </a:spcBef>
              <a:buClr>
                <a:srgbClr val="000000"/>
              </a:buClr>
              <a:buSzPct val="45000"/>
              <a:buFont typeface="Wingdings" charset="2"/>
              <a:buChar char=""/>
            </a:pPr>
            <a:r>
              <a:rPr lang="en-US" sz="3200" b="0" u="none" strike="noStrike">
                <a:solidFill>
                  <a:schemeClr val="dk1"/>
                </a:solidFill>
                <a:effectLst/>
                <a:uFillTx/>
                <a:latin typeface="Calibri"/>
              </a:rPr>
              <a:t>Fifth Outline Level</a:t>
            </a:r>
          </a:p>
          <a:p>
            <a:pPr marL="2286000" lvl="5" algn="l" defTabSz="457200">
              <a:spcBef>
                <a:spcPts val="283"/>
              </a:spcBef>
              <a:buClr>
                <a:srgbClr val="000000"/>
              </a:buClr>
              <a:buSzPct val="45000"/>
              <a:buFont typeface="Wingdings" charset="2"/>
              <a:buChar char=""/>
            </a:pPr>
            <a:r>
              <a:rPr lang="en-US" sz="3200" b="0" u="none" strike="noStrike">
                <a:solidFill>
                  <a:schemeClr val="dk1"/>
                </a:solidFill>
                <a:effectLst/>
                <a:uFillTx/>
                <a:latin typeface="Calibri"/>
              </a:rPr>
              <a:t>Sixth Outline Level</a:t>
            </a:r>
          </a:p>
          <a:p>
            <a:pPr marL="2743200" lvl="6" algn="l" defTabSz="457200">
              <a:spcBef>
                <a:spcPts val="283"/>
              </a:spcBef>
              <a:buClr>
                <a:srgbClr val="000000"/>
              </a:buClr>
              <a:buSzPct val="45000"/>
              <a:buFont typeface="Wingdings" charset="2"/>
              <a:buChar char=""/>
            </a:pPr>
            <a:r>
              <a:rPr lang="en-US" sz="3200" b="0" u="none" strike="noStrike">
                <a:solidFill>
                  <a:schemeClr val="dk1"/>
                </a:solidFill>
                <a:effectLst/>
                <a:uFillTx/>
                <a:latin typeface="Calibri"/>
              </a:rPr>
              <a:t>Seventh Outline Level</a:t>
            </a:r>
          </a:p>
        </p:txBody>
      </p:sp>
      <p:sp>
        <p:nvSpPr>
          <p:cNvPr id="57" name="PlaceHolder 3"/>
          <p:cNvSpPr>
            <a:spLocks noGrp="1"/>
          </p:cNvSpPr>
          <p:nvPr>
            <p:ph type="body"/>
          </p:nvPr>
        </p:nvSpPr>
        <p:spPr>
          <a:xfrm>
            <a:off x="1792440" y="5367240"/>
            <a:ext cx="5486040" cy="80460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p>
        </p:txBody>
      </p:sp>
      <p:sp>
        <p:nvSpPr>
          <p:cNvPr id="58" name="PlaceHolder 4"/>
          <p:cNvSpPr>
            <a:spLocks noGrp="1"/>
          </p:cNvSpPr>
          <p:nvPr>
            <p:ph type="dt" idx="31"/>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9" name="PlaceHolder 5"/>
          <p:cNvSpPr>
            <a:spLocks noGrp="1"/>
          </p:cNvSpPr>
          <p:nvPr>
            <p:ph type="ftr" idx="3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60" name="PlaceHolder 6"/>
          <p:cNvSpPr>
            <a:spLocks noGrp="1"/>
          </p:cNvSpPr>
          <p:nvPr>
            <p:ph type="sldNum" idx="3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F60C75DD-34D5-4EEF-8B27-A47452F57084}"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9.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9.xml"/><Relationship Id="rId1" Type="http://schemas.openxmlformats.org/officeDocument/2006/relationships/tags" Target="../tags/tag1.xml"/><Relationship Id="rId4" Type="http://schemas.openxmlformats.org/officeDocument/2006/relationships/image" Target="../media/image7.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9.xml"/><Relationship Id="rId1" Type="http://schemas.openxmlformats.org/officeDocument/2006/relationships/tags" Target="../tags/tag2.xml"/><Relationship Id="rId4" Type="http://schemas.openxmlformats.org/officeDocument/2006/relationships/image" Target="../media/image8.jpe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9.xml"/><Relationship Id="rId1" Type="http://schemas.openxmlformats.org/officeDocument/2006/relationships/tags" Target="../tags/tag3.xml"/><Relationship Id="rId4" Type="http://schemas.openxmlformats.org/officeDocument/2006/relationships/image" Target="../media/image8.jpe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9.xml"/><Relationship Id="rId5" Type="http://schemas.openxmlformats.org/officeDocument/2006/relationships/hyperlink" Target="https://concentrationcrisis.openmarketsinstitute.org/" TargetMode="External"/><Relationship Id="rId4" Type="http://schemas.openxmlformats.org/officeDocument/2006/relationships/image" Target="../media/image10.jpe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9.xml"/><Relationship Id="rId4" Type="http://schemas.openxmlformats.org/officeDocument/2006/relationships/hyperlink" Target="https://www.wsj.com/video/series/wsj-explains/how-apple-and-google-formed-one-of-techs-most-powerful-partnerships/ACED4938-1A00-4031-923F-390E6C6B0B6F"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TextBox 1"/>
          <p:cNvSpPr/>
          <p:nvPr/>
        </p:nvSpPr>
        <p:spPr>
          <a:xfrm>
            <a:off x="457200" y="1828800"/>
            <a:ext cx="11274120" cy="155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4800" b="1" u="none" strike="noStrike">
                <a:solidFill>
                  <a:srgbClr val="0B2B4E"/>
                </a:solidFill>
                <a:effectLst/>
                <a:uFillTx/>
                <a:latin typeface="Calibri"/>
              </a:rPr>
              <a:t>Monopoly &amp; Monopolistic Competition</a:t>
            </a:r>
            <a:endParaRPr lang="en-US" sz="4800" b="0" u="none" strike="noStrike">
              <a:solidFill>
                <a:srgbClr val="000000"/>
              </a:solidFill>
              <a:effectLst/>
              <a:uFillTx/>
              <a:latin typeface="Arial"/>
            </a:endParaRPr>
          </a:p>
        </p:txBody>
      </p:sp>
      <p:sp>
        <p:nvSpPr>
          <p:cNvPr id="62" name="TextBox 2"/>
          <p:cNvSpPr/>
          <p:nvPr/>
        </p:nvSpPr>
        <p:spPr>
          <a:xfrm>
            <a:off x="457200" y="3520440"/>
            <a:ext cx="1127412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3000" b="1" u="none" strike="noStrike">
                <a:solidFill>
                  <a:srgbClr val="E09F3E"/>
                </a:solidFill>
                <a:effectLst/>
                <a:uFillTx/>
                <a:latin typeface="Calibri"/>
              </a:rPr>
              <a:t>Monopoly, Welfare &amp; Market Power</a:t>
            </a:r>
            <a:endParaRPr lang="en-US" sz="3000" b="0" u="none" strike="noStrike">
              <a:solidFill>
                <a:srgbClr val="000000"/>
              </a:solidFill>
              <a:effectLst/>
              <a:uFillTx/>
              <a:latin typeface="Arial"/>
            </a:endParaRPr>
          </a:p>
        </p:txBody>
      </p:sp>
      <p:sp>
        <p:nvSpPr>
          <p:cNvPr id="63" name="Rectangle 3"/>
          <p:cNvSpPr/>
          <p:nvPr/>
        </p:nvSpPr>
        <p:spPr>
          <a:xfrm>
            <a:off x="4270320" y="4434840"/>
            <a:ext cx="3657240" cy="54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64" name="TextBox 4"/>
          <p:cNvSpPr/>
          <p:nvPr/>
        </p:nvSpPr>
        <p:spPr>
          <a:xfrm>
            <a:off x="457200" y="4800600"/>
            <a:ext cx="1127412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2600" b="1" u="none" strike="noStrike">
                <a:solidFill>
                  <a:srgbClr val="555B66"/>
                </a:solidFill>
                <a:effectLst/>
                <a:uFillTx/>
                <a:latin typeface="Calibri"/>
              </a:rPr>
              <a:t>Management 405</a:t>
            </a:r>
            <a:endParaRPr lang="en-US" sz="2600" b="0" u="none" strike="noStrike">
              <a:solidFill>
                <a:srgbClr val="000000"/>
              </a:solidFill>
              <a:effectLst/>
              <a:uFillTx/>
              <a:latin typeface="Arial"/>
            </a:endParaRPr>
          </a:p>
        </p:txBody>
      </p:sp>
      <p:sp>
        <p:nvSpPr>
          <p:cNvPr id="65" name="TextBox 5"/>
          <p:cNvSpPr/>
          <p:nvPr/>
        </p:nvSpPr>
        <p:spPr>
          <a:xfrm>
            <a:off x="457200" y="5394960"/>
            <a:ext cx="112741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2200" b="0" u="none" strike="noStrike">
                <a:solidFill>
                  <a:srgbClr val="555B66"/>
                </a:solidFill>
                <a:effectLst/>
                <a:uFillTx/>
                <a:latin typeface="Calibri"/>
              </a:rPr>
              <a:t>Prof. Paola Giuliano  ·  UCLA Anderson</a:t>
            </a:r>
            <a:endParaRPr lang="en-US" sz="2200" b="0" u="none" strike="noStrike">
              <a:solidFill>
                <a:srgbClr val="000000"/>
              </a:solidFill>
              <a:effectLst/>
              <a:uFillTx/>
              <a:latin typeface="Arial"/>
            </a:endParaRPr>
          </a:p>
        </p:txBody>
      </p:sp>
      <p:sp>
        <p:nvSpPr>
          <p:cNvPr id="66" name="Rectangle 6"/>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67" name="Rectangle 7"/>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Rectangle 1"/>
          <p:cNvSpPr/>
          <p:nvPr/>
        </p:nvSpPr>
        <p:spPr>
          <a:xfrm>
            <a:off x="0" y="0"/>
            <a:ext cx="12191400" cy="383760"/>
          </a:xfrm>
          <a:prstGeom prst="rect">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69" name="TextBox 2"/>
          <p:cNvSpPr/>
          <p:nvPr/>
        </p:nvSpPr>
        <p:spPr>
          <a:xfrm>
            <a:off x="255960" y="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FFFFFF"/>
                </a:solidFill>
                <a:effectLst/>
                <a:uFillTx/>
                <a:latin typeface="Calibri"/>
              </a:rPr>
              <a:t>Monopoly &amp; Monopolistic Competition · Roadmap</a:t>
            </a:r>
            <a:endParaRPr lang="en-US" sz="1600" b="0" u="none" strike="noStrike">
              <a:solidFill>
                <a:srgbClr val="000000"/>
              </a:solidFill>
              <a:effectLst/>
              <a:uFillTx/>
              <a:latin typeface="Arial"/>
            </a:endParaRPr>
          </a:p>
        </p:txBody>
      </p:sp>
      <p:sp>
        <p:nvSpPr>
          <p:cNvPr id="70" name="TextBox 3"/>
          <p:cNvSpPr/>
          <p:nvPr/>
        </p:nvSpPr>
        <p:spPr>
          <a:xfrm>
            <a:off x="255960" y="457200"/>
            <a:ext cx="1168560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3200" b="1" u="none" strike="noStrike">
                <a:solidFill>
                  <a:srgbClr val="0B2B4E"/>
                </a:solidFill>
                <a:effectLst/>
                <a:uFillTx/>
                <a:latin typeface="Calibri"/>
              </a:rPr>
              <a:t>Outline</a:t>
            </a:r>
            <a:endParaRPr lang="en-US" sz="3200" b="0" u="none" strike="noStrike">
              <a:solidFill>
                <a:srgbClr val="000000"/>
              </a:solidFill>
              <a:effectLst/>
              <a:uFillTx/>
              <a:latin typeface="Arial"/>
            </a:endParaRPr>
          </a:p>
        </p:txBody>
      </p:sp>
      <p:sp>
        <p:nvSpPr>
          <p:cNvPr id="71" name="Rectangle 4"/>
          <p:cNvSpPr/>
          <p:nvPr/>
        </p:nvSpPr>
        <p:spPr>
          <a:xfrm>
            <a:off x="255960" y="1143000"/>
            <a:ext cx="116856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72" name="Rectangle 5"/>
          <p:cNvSpPr/>
          <p:nvPr/>
        </p:nvSpPr>
        <p:spPr>
          <a:xfrm>
            <a:off x="255960" y="11340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73" name="Rectangle 6"/>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74" name="Rectangle 7"/>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75" name="TextBox 8"/>
          <p:cNvSpPr/>
          <p:nvPr/>
        </p:nvSpPr>
        <p:spPr>
          <a:xfrm>
            <a:off x="255960" y="65836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0" u="none" strike="noStrike">
                <a:solidFill>
                  <a:srgbClr val="555B66"/>
                </a:solidFill>
                <a:effectLst/>
                <a:uFillTx/>
                <a:latin typeface="Calibri"/>
              </a:rPr>
              <a:t>Management 405  ·  Monopoly and Monopolistic Competition</a:t>
            </a:r>
            <a:endParaRPr lang="en-US" sz="1200" b="0" u="none" strike="noStrike">
              <a:solidFill>
                <a:srgbClr val="000000"/>
              </a:solidFill>
              <a:effectLst/>
              <a:uFillTx/>
              <a:latin typeface="Arial"/>
            </a:endParaRPr>
          </a:p>
        </p:txBody>
      </p:sp>
      <p:sp>
        <p:nvSpPr>
          <p:cNvPr id="76" name="TextBox 9"/>
          <p:cNvSpPr/>
          <p:nvPr/>
        </p:nvSpPr>
        <p:spPr>
          <a:xfrm>
            <a:off x="11430000" y="658368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1200" b="0" u="none" strike="noStrike">
                <a:solidFill>
                  <a:srgbClr val="555B66"/>
                </a:solidFill>
                <a:effectLst/>
                <a:uFillTx/>
                <a:latin typeface="Calibri"/>
              </a:rPr>
              <a:t>2</a:t>
            </a:r>
            <a:endParaRPr lang="en-US" sz="1200" b="0" u="none" strike="noStrike">
              <a:solidFill>
                <a:srgbClr val="000000"/>
              </a:solidFill>
              <a:effectLst/>
              <a:uFillTx/>
              <a:latin typeface="Arial"/>
            </a:endParaRPr>
          </a:p>
        </p:txBody>
      </p:sp>
      <p:sp>
        <p:nvSpPr>
          <p:cNvPr id="77" name="Oval 10"/>
          <p:cNvSpPr/>
          <p:nvPr/>
        </p:nvSpPr>
        <p:spPr>
          <a:xfrm>
            <a:off x="1234440" y="1837800"/>
            <a:ext cx="566640" cy="566640"/>
          </a:xfrm>
          <a:prstGeom prst="ellipse">
            <a:avLst/>
          </a:prstGeom>
          <a:solidFill>
            <a:srgbClr val="B0B5BC"/>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pPr algn="ctr" defTabSz="457200">
              <a:lnSpc>
                <a:spcPct val="100000"/>
              </a:lnSpc>
            </a:pPr>
            <a:r>
              <a:rPr lang="en-US" sz="2200" b="1" u="none" strike="noStrike">
                <a:solidFill>
                  <a:srgbClr val="FFFFFF"/>
                </a:solidFill>
                <a:effectLst/>
                <a:uFillTx/>
                <a:latin typeface="Calibri"/>
              </a:rPr>
              <a:t>1</a:t>
            </a:r>
            <a:endParaRPr lang="en-US" sz="2200" b="0" u="none" strike="noStrike">
              <a:solidFill>
                <a:srgbClr val="000000"/>
              </a:solidFill>
              <a:effectLst/>
              <a:uFillTx/>
              <a:latin typeface="Arial"/>
            </a:endParaRPr>
          </a:p>
        </p:txBody>
      </p:sp>
      <p:sp>
        <p:nvSpPr>
          <p:cNvPr id="78" name="TextBox 11"/>
          <p:cNvSpPr/>
          <p:nvPr/>
        </p:nvSpPr>
        <p:spPr>
          <a:xfrm>
            <a:off x="2286000" y="1737360"/>
            <a:ext cx="950940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2400" b="1" u="none" strike="noStrike">
                <a:solidFill>
                  <a:srgbClr val="A6ADB5"/>
                </a:solidFill>
                <a:effectLst/>
                <a:uFillTx/>
                <a:latin typeface="Calibri"/>
              </a:rPr>
              <a:t>Profit maximization for price searchers</a:t>
            </a:r>
            <a:endParaRPr lang="en-US" sz="2400" b="0" u="none" strike="noStrike">
              <a:solidFill>
                <a:srgbClr val="000000"/>
              </a:solidFill>
              <a:effectLst/>
              <a:uFillTx/>
              <a:latin typeface="Arial"/>
            </a:endParaRPr>
          </a:p>
        </p:txBody>
      </p:sp>
      <p:sp>
        <p:nvSpPr>
          <p:cNvPr id="79" name="TextBox 12"/>
          <p:cNvSpPr/>
          <p:nvPr/>
        </p:nvSpPr>
        <p:spPr>
          <a:xfrm>
            <a:off x="2286000" y="2185560"/>
            <a:ext cx="950940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800" b="0" u="none" strike="noStrike">
                <a:solidFill>
                  <a:srgbClr val="C3C8CE"/>
                </a:solidFill>
                <a:effectLst/>
                <a:uFillTx/>
                <a:latin typeface="Calibri"/>
              </a:rPr>
              <a:t>Set MR = MC; markup and the Lerner index</a:t>
            </a:r>
            <a:endParaRPr lang="en-US" sz="1800" b="0" u="none" strike="noStrike">
              <a:solidFill>
                <a:srgbClr val="000000"/>
              </a:solidFill>
              <a:effectLst/>
              <a:uFillTx/>
              <a:latin typeface="Arial"/>
            </a:endParaRPr>
          </a:p>
        </p:txBody>
      </p:sp>
      <p:sp>
        <p:nvSpPr>
          <p:cNvPr id="80" name="Rounded Rectangle 13"/>
          <p:cNvSpPr/>
          <p:nvPr/>
        </p:nvSpPr>
        <p:spPr>
          <a:xfrm>
            <a:off x="978480" y="2715840"/>
            <a:ext cx="10423800" cy="932400"/>
          </a:xfrm>
          <a:prstGeom prst="roundRect">
            <a:avLst>
              <a:gd name="adj" fmla="val 16667"/>
            </a:avLst>
          </a:prstGeom>
          <a:solidFill>
            <a:srgbClr val="FDF6E6"/>
          </a:solidFill>
          <a:ln w="15875">
            <a:solidFill>
              <a:srgbClr val="E09F3E"/>
            </a:solidFill>
            <a:round/>
          </a:ln>
          <a:effectLst>
            <a:outerShdw blurRad="39960" dist="24840" dir="5400000" rotWithShape="0">
              <a:srgbClr val="000000">
                <a:alpha val="30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81" name="Oval 14"/>
          <p:cNvSpPr/>
          <p:nvPr/>
        </p:nvSpPr>
        <p:spPr>
          <a:xfrm>
            <a:off x="1234440" y="2917080"/>
            <a:ext cx="566640" cy="566640"/>
          </a:xfrm>
          <a:prstGeom prst="ellipse">
            <a:avLst/>
          </a:prstGeom>
          <a:solidFill>
            <a:srgbClr val="0B2B4E"/>
          </a:solidFill>
          <a:ln>
            <a:noFill/>
          </a:ln>
          <a:effectLst>
            <a:outerShdw blurRad="39960" dist="24840" dir="5400000" rotWithShape="0">
              <a:srgbClr val="000000">
                <a:alpha val="30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pPr algn="ctr" defTabSz="457200">
              <a:lnSpc>
                <a:spcPct val="100000"/>
              </a:lnSpc>
            </a:pPr>
            <a:r>
              <a:rPr lang="en-US" sz="2200" b="1" u="none" strike="noStrike">
                <a:solidFill>
                  <a:srgbClr val="FFFFFF"/>
                </a:solidFill>
                <a:effectLst/>
                <a:uFillTx/>
                <a:latin typeface="Calibri"/>
              </a:rPr>
              <a:t>2</a:t>
            </a:r>
            <a:endParaRPr lang="en-US" sz="2200" b="0" u="none" strike="noStrike">
              <a:solidFill>
                <a:srgbClr val="FFFFFF"/>
              </a:solidFill>
              <a:effectLst/>
              <a:uFillTx/>
              <a:latin typeface="Arial"/>
            </a:endParaRPr>
          </a:p>
        </p:txBody>
      </p:sp>
      <p:sp>
        <p:nvSpPr>
          <p:cNvPr id="82" name="TextBox 15"/>
          <p:cNvSpPr/>
          <p:nvPr/>
        </p:nvSpPr>
        <p:spPr>
          <a:xfrm>
            <a:off x="2286000" y="2816280"/>
            <a:ext cx="950940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2400" b="1" u="none" strike="noStrike">
                <a:solidFill>
                  <a:srgbClr val="0B2B4E"/>
                </a:solidFill>
                <a:effectLst/>
                <a:uFillTx/>
                <a:latin typeface="Calibri"/>
              </a:rPr>
              <a:t>Monopoly and welfare impact</a:t>
            </a:r>
            <a:endParaRPr lang="en-US" sz="2400" b="0" u="none" strike="noStrike">
              <a:solidFill>
                <a:srgbClr val="000000"/>
              </a:solidFill>
              <a:effectLst/>
              <a:uFillTx/>
              <a:latin typeface="Arial"/>
            </a:endParaRPr>
          </a:p>
        </p:txBody>
      </p:sp>
      <p:sp>
        <p:nvSpPr>
          <p:cNvPr id="83" name="TextBox 16"/>
          <p:cNvSpPr/>
          <p:nvPr/>
        </p:nvSpPr>
        <p:spPr>
          <a:xfrm>
            <a:off x="2286000" y="3264480"/>
            <a:ext cx="950940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800" b="0" u="none" strike="noStrike">
                <a:solidFill>
                  <a:srgbClr val="0B2B4E"/>
                </a:solidFill>
                <a:effectLst/>
                <a:uFillTx/>
                <a:latin typeface="Calibri"/>
              </a:rPr>
              <a:t>How monopoly restricts output and reduces welfare</a:t>
            </a:r>
            <a:endParaRPr lang="en-US" sz="1800" b="0" u="none" strike="noStrike">
              <a:solidFill>
                <a:srgbClr val="000000"/>
              </a:solidFill>
              <a:effectLst/>
              <a:uFillTx/>
              <a:latin typeface="Arial"/>
            </a:endParaRPr>
          </a:p>
        </p:txBody>
      </p:sp>
      <p:sp>
        <p:nvSpPr>
          <p:cNvPr id="84" name="Oval 17"/>
          <p:cNvSpPr/>
          <p:nvPr/>
        </p:nvSpPr>
        <p:spPr>
          <a:xfrm>
            <a:off x="1234440" y="3996000"/>
            <a:ext cx="566640" cy="566640"/>
          </a:xfrm>
          <a:prstGeom prst="ellipse">
            <a:avLst/>
          </a:prstGeom>
          <a:solidFill>
            <a:srgbClr val="B0B5BC"/>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pPr algn="ctr" defTabSz="457200">
              <a:lnSpc>
                <a:spcPct val="100000"/>
              </a:lnSpc>
            </a:pPr>
            <a:r>
              <a:rPr lang="en-US" sz="2200" b="1" u="none" strike="noStrike">
                <a:solidFill>
                  <a:srgbClr val="FFFFFF"/>
                </a:solidFill>
                <a:effectLst/>
                <a:uFillTx/>
                <a:latin typeface="Calibri"/>
              </a:rPr>
              <a:t>3</a:t>
            </a:r>
            <a:endParaRPr lang="en-US" sz="2200" b="0" u="none" strike="noStrike">
              <a:solidFill>
                <a:srgbClr val="000000"/>
              </a:solidFill>
              <a:effectLst/>
              <a:uFillTx/>
              <a:latin typeface="Arial"/>
            </a:endParaRPr>
          </a:p>
        </p:txBody>
      </p:sp>
      <p:sp>
        <p:nvSpPr>
          <p:cNvPr id="85" name="TextBox 18"/>
          <p:cNvSpPr/>
          <p:nvPr/>
        </p:nvSpPr>
        <p:spPr>
          <a:xfrm>
            <a:off x="2286000" y="3895200"/>
            <a:ext cx="950940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2400" b="1" u="none" strike="noStrike">
                <a:solidFill>
                  <a:srgbClr val="A6ADB5"/>
                </a:solidFill>
                <a:effectLst/>
                <a:uFillTx/>
                <a:latin typeface="Calibri"/>
              </a:rPr>
              <a:t>Government and market power</a:t>
            </a:r>
            <a:endParaRPr lang="en-US" sz="2400" b="0" u="none" strike="noStrike">
              <a:solidFill>
                <a:srgbClr val="000000"/>
              </a:solidFill>
              <a:effectLst/>
              <a:uFillTx/>
              <a:latin typeface="Arial"/>
            </a:endParaRPr>
          </a:p>
        </p:txBody>
      </p:sp>
      <p:sp>
        <p:nvSpPr>
          <p:cNvPr id="86" name="TextBox 19"/>
          <p:cNvSpPr/>
          <p:nvPr/>
        </p:nvSpPr>
        <p:spPr>
          <a:xfrm>
            <a:off x="2286000" y="4343400"/>
            <a:ext cx="950940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800" b="0" u="none" strike="noStrike">
                <a:solidFill>
                  <a:srgbClr val="C3C8CE"/>
                </a:solidFill>
                <a:effectLst/>
                <a:uFillTx/>
                <a:latin typeface="Calibri"/>
              </a:rPr>
              <a:t>Antitrust, regulation, and market definition</a:t>
            </a:r>
            <a:endParaRPr lang="en-US" sz="1800" b="0" u="none" strike="noStrike">
              <a:solidFill>
                <a:srgbClr val="000000"/>
              </a:solidFill>
              <a:effectLst/>
              <a:uFillTx/>
              <a:latin typeface="Arial"/>
            </a:endParaRPr>
          </a:p>
        </p:txBody>
      </p:sp>
      <p:sp>
        <p:nvSpPr>
          <p:cNvPr id="87" name="Oval 20"/>
          <p:cNvSpPr/>
          <p:nvPr/>
        </p:nvSpPr>
        <p:spPr>
          <a:xfrm>
            <a:off x="1234440" y="5074920"/>
            <a:ext cx="566640" cy="566640"/>
          </a:xfrm>
          <a:prstGeom prst="ellipse">
            <a:avLst/>
          </a:prstGeom>
          <a:solidFill>
            <a:srgbClr val="B0B5BC"/>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pPr algn="ctr" defTabSz="457200">
              <a:lnSpc>
                <a:spcPct val="100000"/>
              </a:lnSpc>
            </a:pPr>
            <a:r>
              <a:rPr lang="en-US" sz="2200" b="1" u="none" strike="noStrike">
                <a:solidFill>
                  <a:srgbClr val="FFFFFF"/>
                </a:solidFill>
                <a:effectLst/>
                <a:uFillTx/>
                <a:latin typeface="Calibri"/>
              </a:rPr>
              <a:t>4</a:t>
            </a:r>
            <a:endParaRPr lang="en-US" sz="2200" b="0" u="none" strike="noStrike">
              <a:solidFill>
                <a:srgbClr val="000000"/>
              </a:solidFill>
              <a:effectLst/>
              <a:uFillTx/>
              <a:latin typeface="Arial"/>
            </a:endParaRPr>
          </a:p>
        </p:txBody>
      </p:sp>
      <p:sp>
        <p:nvSpPr>
          <p:cNvPr id="88" name="TextBox 21"/>
          <p:cNvSpPr/>
          <p:nvPr/>
        </p:nvSpPr>
        <p:spPr>
          <a:xfrm>
            <a:off x="2286000" y="4974480"/>
            <a:ext cx="950940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2400" b="1" u="none" strike="noStrike">
                <a:solidFill>
                  <a:srgbClr val="A6ADB5"/>
                </a:solidFill>
                <a:effectLst/>
                <a:uFillTx/>
                <a:latin typeface="Calibri"/>
              </a:rPr>
              <a:t>Monopolistic competition</a:t>
            </a:r>
            <a:endParaRPr lang="en-US" sz="2400" b="0" u="none" strike="noStrike">
              <a:solidFill>
                <a:srgbClr val="000000"/>
              </a:solidFill>
              <a:effectLst/>
              <a:uFillTx/>
              <a:latin typeface="Arial"/>
            </a:endParaRPr>
          </a:p>
        </p:txBody>
      </p:sp>
      <p:sp>
        <p:nvSpPr>
          <p:cNvPr id="89" name="TextBox 22"/>
          <p:cNvSpPr/>
          <p:nvPr/>
        </p:nvSpPr>
        <p:spPr>
          <a:xfrm>
            <a:off x="2286000" y="5422320"/>
            <a:ext cx="950940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800" b="0" u="none" strike="noStrike">
                <a:solidFill>
                  <a:srgbClr val="C3C8CE"/>
                </a:solidFill>
                <a:effectLst/>
                <a:uFillTx/>
                <a:latin typeface="Calibri"/>
              </a:rPr>
              <a:t>Free entry drives long-run profit to zero</a:t>
            </a:r>
            <a:endParaRPr lang="en-US" sz="1800" b="0" u="none" strike="noStrike">
              <a:solidFill>
                <a:srgbClr val="000000"/>
              </a:solidFill>
              <a:effectLst/>
              <a:uFillTx/>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Rectangle 1"/>
          <p:cNvSpPr/>
          <p:nvPr/>
        </p:nvSpPr>
        <p:spPr>
          <a:xfrm>
            <a:off x="0" y="0"/>
            <a:ext cx="12191400" cy="383760"/>
          </a:xfrm>
          <a:prstGeom prst="rect">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91" name="TextBox 2"/>
          <p:cNvSpPr/>
          <p:nvPr/>
        </p:nvSpPr>
        <p:spPr>
          <a:xfrm>
            <a:off x="255960" y="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FFFFFF"/>
                </a:solidFill>
                <a:effectLst/>
                <a:uFillTx/>
                <a:latin typeface="Calibri"/>
              </a:rPr>
              <a:t>Monopoly &amp; Monopolistic Competition · Market Structures</a:t>
            </a:r>
            <a:endParaRPr lang="en-US" sz="1600" b="0" u="none" strike="noStrike">
              <a:solidFill>
                <a:srgbClr val="000000"/>
              </a:solidFill>
              <a:effectLst/>
              <a:uFillTx/>
              <a:latin typeface="Arial"/>
            </a:endParaRPr>
          </a:p>
        </p:txBody>
      </p:sp>
      <p:sp>
        <p:nvSpPr>
          <p:cNvPr id="92" name="TextBox 3"/>
          <p:cNvSpPr/>
          <p:nvPr/>
        </p:nvSpPr>
        <p:spPr>
          <a:xfrm>
            <a:off x="255960" y="457200"/>
            <a:ext cx="1168560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3200" b="1" u="none" strike="noStrike">
                <a:solidFill>
                  <a:srgbClr val="0B2B4E"/>
                </a:solidFill>
                <a:effectLst/>
                <a:uFillTx/>
                <a:latin typeface="Calibri"/>
              </a:rPr>
              <a:t>Where We Are — and Where We're Going</a:t>
            </a:r>
            <a:endParaRPr lang="en-US" sz="3200" b="0" u="none" strike="noStrike">
              <a:solidFill>
                <a:srgbClr val="000000"/>
              </a:solidFill>
              <a:effectLst/>
              <a:uFillTx/>
              <a:latin typeface="Arial"/>
            </a:endParaRPr>
          </a:p>
        </p:txBody>
      </p:sp>
      <p:sp>
        <p:nvSpPr>
          <p:cNvPr id="93" name="Rectangle 4"/>
          <p:cNvSpPr/>
          <p:nvPr/>
        </p:nvSpPr>
        <p:spPr>
          <a:xfrm>
            <a:off x="255960" y="1143000"/>
            <a:ext cx="116856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94" name="Rectangle 5"/>
          <p:cNvSpPr/>
          <p:nvPr/>
        </p:nvSpPr>
        <p:spPr>
          <a:xfrm>
            <a:off x="255960" y="11340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95" name="Rectangle 6"/>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96" name="Rectangle 7"/>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97" name="TextBox 8"/>
          <p:cNvSpPr/>
          <p:nvPr/>
        </p:nvSpPr>
        <p:spPr>
          <a:xfrm>
            <a:off x="255960" y="65836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0" u="none" strike="noStrike">
                <a:solidFill>
                  <a:srgbClr val="555B66"/>
                </a:solidFill>
                <a:effectLst/>
                <a:uFillTx/>
                <a:latin typeface="Calibri"/>
              </a:rPr>
              <a:t>Management 405  ·  Monopoly and Monopolistic Competition</a:t>
            </a:r>
            <a:endParaRPr lang="en-US" sz="1200" b="0" u="none" strike="noStrike">
              <a:solidFill>
                <a:srgbClr val="000000"/>
              </a:solidFill>
              <a:effectLst/>
              <a:uFillTx/>
              <a:latin typeface="Arial"/>
            </a:endParaRPr>
          </a:p>
        </p:txBody>
      </p:sp>
      <p:sp>
        <p:nvSpPr>
          <p:cNvPr id="98" name="TextBox 9"/>
          <p:cNvSpPr/>
          <p:nvPr/>
        </p:nvSpPr>
        <p:spPr>
          <a:xfrm>
            <a:off x="11430000" y="658368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1200" b="0" u="none" strike="noStrike">
                <a:solidFill>
                  <a:srgbClr val="555B66"/>
                </a:solidFill>
                <a:effectLst/>
                <a:uFillTx/>
                <a:latin typeface="Calibri"/>
              </a:rPr>
              <a:t>3</a:t>
            </a:r>
            <a:endParaRPr lang="en-US" sz="1200" b="0" u="none" strike="noStrike">
              <a:solidFill>
                <a:srgbClr val="000000"/>
              </a:solidFill>
              <a:effectLst/>
              <a:uFillTx/>
              <a:latin typeface="Arial"/>
            </a:endParaRPr>
          </a:p>
        </p:txBody>
      </p:sp>
      <p:sp>
        <p:nvSpPr>
          <p:cNvPr id="99" name="CLK00"/>
          <p:cNvSpPr/>
          <p:nvPr/>
        </p:nvSpPr>
        <p:spPr>
          <a:xfrm>
            <a:off x="4206240" y="1234440"/>
            <a:ext cx="292572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1700" b="1" u="none" strike="noStrike">
                <a:solidFill>
                  <a:srgbClr val="C0504D"/>
                </a:solidFill>
                <a:effectLst/>
                <a:uFillTx/>
                <a:latin typeface="Calibri"/>
              </a:rPr>
              <a:t>WE ARE HERE</a:t>
            </a:r>
            <a:endParaRPr lang="en-US" sz="1700" b="0" u="none" strike="noStrike">
              <a:solidFill>
                <a:srgbClr val="000000"/>
              </a:solidFill>
              <a:effectLst/>
              <a:uFillTx/>
              <a:latin typeface="Arial"/>
            </a:endParaRPr>
          </a:p>
        </p:txBody>
      </p:sp>
      <p:sp>
        <p:nvSpPr>
          <p:cNvPr id="100" name="CLK00"/>
          <p:cNvSpPr/>
          <p:nvPr/>
        </p:nvSpPr>
        <p:spPr>
          <a:xfrm>
            <a:off x="7269480" y="1298520"/>
            <a:ext cx="1554120" cy="456840"/>
          </a:xfrm>
          <a:prstGeom prst="rightArrow">
            <a:avLst>
              <a:gd name="adj1" fmla="val 50000"/>
              <a:gd name="adj2" fmla="val 50000"/>
            </a:avLst>
          </a:prstGeom>
          <a:solidFill>
            <a:srgbClr val="C0504D"/>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01" name="TextBox 12"/>
          <p:cNvSpPr/>
          <p:nvPr/>
        </p:nvSpPr>
        <p:spPr>
          <a:xfrm>
            <a:off x="502920" y="1828800"/>
            <a:ext cx="384012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500" b="0" i="1" u="none" strike="noStrike">
                <a:solidFill>
                  <a:srgbClr val="555B66"/>
                </a:solidFill>
                <a:effectLst/>
                <a:uFillTx/>
                <a:latin typeface="Calibri"/>
              </a:rPr>
              <a:t>Least market power</a:t>
            </a:r>
            <a:endParaRPr lang="en-US" sz="1500" b="0" u="none" strike="noStrike">
              <a:solidFill>
                <a:srgbClr val="000000"/>
              </a:solidFill>
              <a:effectLst/>
              <a:uFillTx/>
              <a:latin typeface="Arial"/>
            </a:endParaRPr>
          </a:p>
        </p:txBody>
      </p:sp>
      <p:sp>
        <p:nvSpPr>
          <p:cNvPr id="102" name="TextBox 13"/>
          <p:cNvSpPr/>
          <p:nvPr/>
        </p:nvSpPr>
        <p:spPr>
          <a:xfrm>
            <a:off x="8138160" y="1828800"/>
            <a:ext cx="35658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1500" b="0" i="1" u="none" strike="noStrike">
                <a:solidFill>
                  <a:srgbClr val="555B66"/>
                </a:solidFill>
                <a:effectLst/>
                <a:uFillTx/>
                <a:latin typeface="Calibri"/>
              </a:rPr>
              <a:t>Most market power</a:t>
            </a:r>
            <a:endParaRPr lang="en-US" sz="1500" b="0" u="none" strike="noStrike">
              <a:solidFill>
                <a:srgbClr val="000000"/>
              </a:solidFill>
              <a:effectLst/>
              <a:uFillTx/>
              <a:latin typeface="Arial"/>
            </a:endParaRPr>
          </a:p>
        </p:txBody>
      </p:sp>
      <p:cxnSp>
        <p:nvCxnSpPr>
          <p:cNvPr id="103" name="Connector 14"/>
          <p:cNvCxnSpPr/>
          <p:nvPr/>
        </p:nvCxnSpPr>
        <p:spPr>
          <a:xfrm>
            <a:off x="548640" y="2286000"/>
            <a:ext cx="11110320" cy="720"/>
          </a:xfrm>
          <a:prstGeom prst="straightConnector1">
            <a:avLst/>
          </a:prstGeom>
          <a:ln w="27940">
            <a:solidFill>
              <a:srgbClr val="0B2B4E"/>
            </a:solidFill>
            <a:round/>
            <a:tailEnd type="triangle" w="med" len="med"/>
          </a:ln>
        </p:spPr>
      </p:cxnSp>
      <p:cxnSp>
        <p:nvCxnSpPr>
          <p:cNvPr id="104" name="Connector 15"/>
          <p:cNvCxnSpPr/>
          <p:nvPr/>
        </p:nvCxnSpPr>
        <p:spPr>
          <a:xfrm flipH="1">
            <a:off x="548640" y="2286000"/>
            <a:ext cx="11110320" cy="720"/>
          </a:xfrm>
          <a:prstGeom prst="straightConnector1">
            <a:avLst/>
          </a:prstGeom>
          <a:ln w="27940">
            <a:solidFill>
              <a:srgbClr val="0B2B4E"/>
            </a:solidFill>
            <a:round/>
            <a:tailEnd type="triangle" w="med" len="med"/>
          </a:ln>
        </p:spPr>
      </p:cxnSp>
      <p:sp>
        <p:nvSpPr>
          <p:cNvPr id="105" name="TextBox 16"/>
          <p:cNvSpPr/>
          <p:nvPr/>
        </p:nvSpPr>
        <p:spPr>
          <a:xfrm>
            <a:off x="548640" y="2423160"/>
            <a:ext cx="269712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r>
              <a:rPr lang="en-US" sz="1900" b="1" u="none" strike="noStrike">
                <a:solidFill>
                  <a:srgbClr val="0B2B4E"/>
                </a:solidFill>
                <a:effectLst/>
                <a:uFillTx/>
                <a:latin typeface="Calibri"/>
              </a:rPr>
              <a:t>Perfect</a:t>
            </a:r>
            <a:endParaRPr lang="en-US" sz="1900" b="0" u="none" strike="noStrike">
              <a:solidFill>
                <a:srgbClr val="000000"/>
              </a:solidFill>
              <a:effectLst/>
              <a:uFillTx/>
              <a:latin typeface="Arial"/>
            </a:endParaRPr>
          </a:p>
          <a:p>
            <a:pPr algn="ctr" defTabSz="457200">
              <a:lnSpc>
                <a:spcPct val="100000"/>
              </a:lnSpc>
            </a:pPr>
            <a:r>
              <a:rPr lang="en-US" sz="1900" b="1" u="none" strike="noStrike">
                <a:solidFill>
                  <a:srgbClr val="0B2B4E"/>
                </a:solidFill>
                <a:effectLst/>
                <a:uFillTx/>
                <a:latin typeface="Calibri"/>
              </a:rPr>
              <a:t>Competition</a:t>
            </a:r>
            <a:endParaRPr lang="en-US" sz="1900" b="0" u="none" strike="noStrike">
              <a:solidFill>
                <a:srgbClr val="000000"/>
              </a:solidFill>
              <a:effectLst/>
              <a:uFillTx/>
              <a:latin typeface="Arial"/>
            </a:endParaRPr>
          </a:p>
        </p:txBody>
      </p:sp>
      <p:sp>
        <p:nvSpPr>
          <p:cNvPr id="106" name="TextBox 17"/>
          <p:cNvSpPr/>
          <p:nvPr/>
        </p:nvSpPr>
        <p:spPr>
          <a:xfrm>
            <a:off x="3246120" y="2423160"/>
            <a:ext cx="269712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r>
              <a:rPr lang="en-US" sz="1900" b="1" u="none" strike="noStrike">
                <a:solidFill>
                  <a:srgbClr val="0B2B4E"/>
                </a:solidFill>
                <a:effectLst/>
                <a:uFillTx/>
                <a:latin typeface="Calibri"/>
              </a:rPr>
              <a:t>Monopolistic</a:t>
            </a:r>
            <a:endParaRPr lang="en-US" sz="1900" b="0" u="none" strike="noStrike">
              <a:solidFill>
                <a:srgbClr val="000000"/>
              </a:solidFill>
              <a:effectLst/>
              <a:uFillTx/>
              <a:latin typeface="Arial"/>
            </a:endParaRPr>
          </a:p>
          <a:p>
            <a:pPr algn="ctr" defTabSz="457200">
              <a:lnSpc>
                <a:spcPct val="100000"/>
              </a:lnSpc>
            </a:pPr>
            <a:r>
              <a:rPr lang="en-US" sz="1900" b="1" u="none" strike="noStrike">
                <a:solidFill>
                  <a:srgbClr val="0B2B4E"/>
                </a:solidFill>
                <a:effectLst/>
                <a:uFillTx/>
                <a:latin typeface="Calibri"/>
              </a:rPr>
              <a:t>Competition</a:t>
            </a:r>
            <a:endParaRPr lang="en-US" sz="1900" b="0" u="none" strike="noStrike">
              <a:solidFill>
                <a:srgbClr val="000000"/>
              </a:solidFill>
              <a:effectLst/>
              <a:uFillTx/>
              <a:latin typeface="Arial"/>
            </a:endParaRPr>
          </a:p>
        </p:txBody>
      </p:sp>
      <p:sp>
        <p:nvSpPr>
          <p:cNvPr id="107" name="TextBox 18"/>
          <p:cNvSpPr/>
          <p:nvPr/>
        </p:nvSpPr>
        <p:spPr>
          <a:xfrm>
            <a:off x="5943600" y="2423160"/>
            <a:ext cx="28342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1900" b="1" u="none" strike="noStrike">
                <a:solidFill>
                  <a:srgbClr val="0B2B4E"/>
                </a:solidFill>
                <a:effectLst/>
                <a:uFillTx/>
                <a:latin typeface="Calibri"/>
              </a:rPr>
              <a:t>Oligopoly</a:t>
            </a:r>
            <a:endParaRPr lang="en-US" sz="1900" b="0" u="none" strike="noStrike">
              <a:solidFill>
                <a:srgbClr val="000000"/>
              </a:solidFill>
              <a:effectLst/>
              <a:uFillTx/>
              <a:latin typeface="Arial"/>
            </a:endParaRPr>
          </a:p>
        </p:txBody>
      </p:sp>
      <p:sp>
        <p:nvSpPr>
          <p:cNvPr id="108" name="TextBox 19"/>
          <p:cNvSpPr/>
          <p:nvPr/>
        </p:nvSpPr>
        <p:spPr>
          <a:xfrm>
            <a:off x="8778240" y="2423160"/>
            <a:ext cx="288000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1900" b="1" u="none" strike="noStrike">
                <a:solidFill>
                  <a:srgbClr val="0B2B4E"/>
                </a:solidFill>
                <a:effectLst/>
                <a:uFillTx/>
                <a:latin typeface="Calibri"/>
              </a:rPr>
              <a:t>Monopoly</a:t>
            </a:r>
            <a:endParaRPr lang="en-US" sz="1900" b="0" u="none" strike="noStrike">
              <a:solidFill>
                <a:srgbClr val="000000"/>
              </a:solidFill>
              <a:effectLst/>
              <a:uFillTx/>
              <a:latin typeface="Arial"/>
            </a:endParaRPr>
          </a:p>
        </p:txBody>
      </p:sp>
      <p:cxnSp>
        <p:nvCxnSpPr>
          <p:cNvPr id="109" name="Connector 20"/>
          <p:cNvCxnSpPr/>
          <p:nvPr/>
        </p:nvCxnSpPr>
        <p:spPr>
          <a:xfrm>
            <a:off x="3246120" y="2377440"/>
            <a:ext cx="720" cy="3246480"/>
          </a:xfrm>
          <a:prstGeom prst="straightConnector1">
            <a:avLst/>
          </a:prstGeom>
          <a:ln w="25400">
            <a:solidFill>
              <a:srgbClr val="C0504D"/>
            </a:solidFill>
            <a:round/>
          </a:ln>
        </p:spPr>
      </p:cxnSp>
      <p:cxnSp>
        <p:nvCxnSpPr>
          <p:cNvPr id="110" name="Connector 21"/>
          <p:cNvCxnSpPr/>
          <p:nvPr/>
        </p:nvCxnSpPr>
        <p:spPr>
          <a:xfrm>
            <a:off x="5943600" y="2377440"/>
            <a:ext cx="720" cy="3246480"/>
          </a:xfrm>
          <a:prstGeom prst="straightConnector1">
            <a:avLst/>
          </a:prstGeom>
          <a:ln w="25400">
            <a:solidFill>
              <a:srgbClr val="C0504D"/>
            </a:solidFill>
            <a:round/>
          </a:ln>
        </p:spPr>
      </p:cxnSp>
      <p:cxnSp>
        <p:nvCxnSpPr>
          <p:cNvPr id="111" name="Connector 22"/>
          <p:cNvCxnSpPr/>
          <p:nvPr/>
        </p:nvCxnSpPr>
        <p:spPr>
          <a:xfrm>
            <a:off x="8778240" y="2377440"/>
            <a:ext cx="720" cy="3246480"/>
          </a:xfrm>
          <a:prstGeom prst="straightConnector1">
            <a:avLst/>
          </a:prstGeom>
          <a:ln w="25400">
            <a:solidFill>
              <a:srgbClr val="C0504D"/>
            </a:solidFill>
            <a:round/>
          </a:ln>
        </p:spPr>
      </p:cxnSp>
      <p:sp>
        <p:nvSpPr>
          <p:cNvPr id="112" name="TextBox 23"/>
          <p:cNvSpPr/>
          <p:nvPr/>
        </p:nvSpPr>
        <p:spPr>
          <a:xfrm>
            <a:off x="548640" y="3337560"/>
            <a:ext cx="269712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1500" b="0" i="1" u="none" strike="noStrike">
                <a:solidFill>
                  <a:srgbClr val="555B66"/>
                </a:solidFill>
                <a:effectLst/>
                <a:uFillTx/>
                <a:latin typeface="Calibri"/>
              </a:rPr>
              <a:t>(Price takers)</a:t>
            </a:r>
            <a:endParaRPr lang="en-US" sz="1500" b="0" u="none" strike="noStrike">
              <a:solidFill>
                <a:srgbClr val="000000"/>
              </a:solidFill>
              <a:effectLst/>
              <a:uFillTx/>
              <a:latin typeface="Arial"/>
            </a:endParaRPr>
          </a:p>
        </p:txBody>
      </p:sp>
      <p:sp>
        <p:nvSpPr>
          <p:cNvPr id="113" name="TextBox 24"/>
          <p:cNvSpPr/>
          <p:nvPr/>
        </p:nvSpPr>
        <p:spPr>
          <a:xfrm>
            <a:off x="3246120" y="3337560"/>
            <a:ext cx="841212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1500" b="0" i="1" u="none" strike="noStrike">
                <a:solidFill>
                  <a:srgbClr val="555B66"/>
                </a:solidFill>
                <a:effectLst/>
                <a:uFillTx/>
                <a:latin typeface="Calibri"/>
              </a:rPr>
              <a:t>(Price searchers)</a:t>
            </a:r>
            <a:endParaRPr lang="en-US" sz="1500" b="0" u="none" strike="noStrike">
              <a:solidFill>
                <a:srgbClr val="000000"/>
              </a:solidFill>
              <a:effectLst/>
              <a:uFillTx/>
              <a:latin typeface="Arial"/>
            </a:endParaRPr>
          </a:p>
        </p:txBody>
      </p:sp>
      <p:cxnSp>
        <p:nvCxnSpPr>
          <p:cNvPr id="114" name="Connector 25"/>
          <p:cNvCxnSpPr/>
          <p:nvPr/>
        </p:nvCxnSpPr>
        <p:spPr>
          <a:xfrm>
            <a:off x="685800" y="3748680"/>
            <a:ext cx="2423520" cy="720"/>
          </a:xfrm>
          <a:prstGeom prst="straightConnector1">
            <a:avLst/>
          </a:prstGeom>
          <a:ln w="22860">
            <a:solidFill>
              <a:srgbClr val="0B2B4E"/>
            </a:solidFill>
            <a:round/>
            <a:tailEnd type="triangle" w="med" len="med"/>
          </a:ln>
        </p:spPr>
      </p:cxnSp>
      <p:cxnSp>
        <p:nvCxnSpPr>
          <p:cNvPr id="115" name="Connector 26"/>
          <p:cNvCxnSpPr/>
          <p:nvPr/>
        </p:nvCxnSpPr>
        <p:spPr>
          <a:xfrm flipH="1">
            <a:off x="685800" y="3748680"/>
            <a:ext cx="2423520" cy="720"/>
          </a:xfrm>
          <a:prstGeom prst="straightConnector1">
            <a:avLst/>
          </a:prstGeom>
          <a:ln w="22860">
            <a:solidFill>
              <a:srgbClr val="0B2B4E"/>
            </a:solidFill>
            <a:round/>
            <a:tailEnd type="triangle" w="med" len="med"/>
          </a:ln>
        </p:spPr>
      </p:cxnSp>
      <p:cxnSp>
        <p:nvCxnSpPr>
          <p:cNvPr id="116" name="Connector 27"/>
          <p:cNvCxnSpPr/>
          <p:nvPr/>
        </p:nvCxnSpPr>
        <p:spPr>
          <a:xfrm>
            <a:off x="3429000" y="3748680"/>
            <a:ext cx="8047080" cy="720"/>
          </a:xfrm>
          <a:prstGeom prst="straightConnector1">
            <a:avLst/>
          </a:prstGeom>
          <a:ln w="22860">
            <a:solidFill>
              <a:srgbClr val="0B2B4E"/>
            </a:solidFill>
            <a:round/>
            <a:tailEnd type="triangle" w="med" len="med"/>
          </a:ln>
        </p:spPr>
      </p:cxnSp>
      <p:cxnSp>
        <p:nvCxnSpPr>
          <p:cNvPr id="117" name="Connector 28"/>
          <p:cNvCxnSpPr/>
          <p:nvPr/>
        </p:nvCxnSpPr>
        <p:spPr>
          <a:xfrm flipH="1">
            <a:off x="3429000" y="3748680"/>
            <a:ext cx="8047080" cy="720"/>
          </a:xfrm>
          <a:prstGeom prst="straightConnector1">
            <a:avLst/>
          </a:prstGeom>
          <a:ln w="22860">
            <a:solidFill>
              <a:srgbClr val="0B2B4E"/>
            </a:solidFill>
            <a:round/>
            <a:tailEnd type="triangle" w="med" len="med"/>
          </a:ln>
        </p:spPr>
      </p:cxnSp>
      <p:pic>
        <p:nvPicPr>
          <p:cNvPr id="118" name="Picture 29" descr="s03_0_57568.jpeg"/>
          <p:cNvPicPr/>
          <p:nvPr/>
        </p:nvPicPr>
        <p:blipFill>
          <a:blip r:embed="rId2"/>
          <a:stretch/>
        </p:blipFill>
        <p:spPr>
          <a:xfrm>
            <a:off x="1302840" y="4023360"/>
            <a:ext cx="1188360" cy="1146960"/>
          </a:xfrm>
          <a:prstGeom prst="rect">
            <a:avLst/>
          </a:prstGeom>
          <a:noFill/>
          <a:ln w="0">
            <a:noFill/>
          </a:ln>
        </p:spPr>
      </p:pic>
      <p:pic>
        <p:nvPicPr>
          <p:cNvPr id="119" name="Picture 30" descr="s03_4_16350.jpeg"/>
          <p:cNvPicPr/>
          <p:nvPr/>
        </p:nvPicPr>
        <p:blipFill>
          <a:blip r:embed="rId3"/>
          <a:stretch/>
        </p:blipFill>
        <p:spPr>
          <a:xfrm>
            <a:off x="3726360" y="4160520"/>
            <a:ext cx="1737000" cy="1299240"/>
          </a:xfrm>
          <a:prstGeom prst="rect">
            <a:avLst/>
          </a:prstGeom>
          <a:noFill/>
          <a:ln w="0">
            <a:noFill/>
          </a:ln>
        </p:spPr>
      </p:pic>
      <p:pic>
        <p:nvPicPr>
          <p:cNvPr id="120" name="Picture 31" descr="s03_2_40821.png"/>
          <p:cNvPicPr/>
          <p:nvPr/>
        </p:nvPicPr>
        <p:blipFill>
          <a:blip r:embed="rId4"/>
          <a:stretch/>
        </p:blipFill>
        <p:spPr>
          <a:xfrm>
            <a:off x="6537960" y="3977640"/>
            <a:ext cx="1645560" cy="1299960"/>
          </a:xfrm>
          <a:prstGeom prst="rect">
            <a:avLst/>
          </a:prstGeom>
          <a:noFill/>
          <a:ln w="0">
            <a:noFill/>
          </a:ln>
        </p:spPr>
      </p:pic>
      <p:pic>
        <p:nvPicPr>
          <p:cNvPr id="121" name="Picture 32" descr="s03_1_26796.jpeg"/>
          <p:cNvPicPr/>
          <p:nvPr/>
        </p:nvPicPr>
        <p:blipFill>
          <a:blip r:embed="rId5"/>
          <a:stretch/>
        </p:blipFill>
        <p:spPr>
          <a:xfrm>
            <a:off x="6583680" y="4800600"/>
            <a:ext cx="1554120" cy="1033560"/>
          </a:xfrm>
          <a:prstGeom prst="rect">
            <a:avLst/>
          </a:prstGeom>
          <a:noFill/>
          <a:ln w="0">
            <a:noFill/>
          </a:ln>
        </p:spPr>
      </p:pic>
      <p:pic>
        <p:nvPicPr>
          <p:cNvPr id="122" name="Picture 33" descr="s03_3_19018.jpeg"/>
          <p:cNvPicPr/>
          <p:nvPr/>
        </p:nvPicPr>
        <p:blipFill>
          <a:blip r:embed="rId6"/>
          <a:stretch/>
        </p:blipFill>
        <p:spPr>
          <a:xfrm>
            <a:off x="9624240" y="4069080"/>
            <a:ext cx="1188360" cy="1257480"/>
          </a:xfrm>
          <a:prstGeom prst="rect">
            <a:avLst/>
          </a:prstGeom>
          <a:noFill/>
          <a:ln w="0">
            <a:noFill/>
          </a:ln>
        </p:spPr>
      </p:pic>
      <p:sp>
        <p:nvSpPr>
          <p:cNvPr id="123" name="CLK00"/>
          <p:cNvSpPr/>
          <p:nvPr/>
        </p:nvSpPr>
        <p:spPr>
          <a:xfrm>
            <a:off x="8796600" y="2331720"/>
            <a:ext cx="2834280" cy="3309840"/>
          </a:xfrm>
          <a:prstGeom prst="rect">
            <a:avLst/>
          </a:prstGeom>
          <a:noFill/>
          <a:ln w="38100">
            <a:solidFill>
              <a:srgbClr val="C0504D"/>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Rectangle 1"/>
          <p:cNvSpPr/>
          <p:nvPr/>
        </p:nvSpPr>
        <p:spPr>
          <a:xfrm>
            <a:off x="0" y="0"/>
            <a:ext cx="12191400" cy="383760"/>
          </a:xfrm>
          <a:prstGeom prst="rect">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25" name="TextBox 2"/>
          <p:cNvSpPr/>
          <p:nvPr/>
        </p:nvSpPr>
        <p:spPr>
          <a:xfrm>
            <a:off x="255960" y="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FFFFFF"/>
                </a:solidFill>
                <a:effectLst/>
                <a:uFillTx/>
                <a:latin typeface="Calibri"/>
              </a:rPr>
              <a:t>Monopoly &amp; Monopolistic Competition · Market Structures</a:t>
            </a:r>
            <a:endParaRPr lang="en-US" sz="1600" b="0" u="none" strike="noStrike">
              <a:solidFill>
                <a:srgbClr val="000000"/>
              </a:solidFill>
              <a:effectLst/>
              <a:uFillTx/>
              <a:latin typeface="Arial"/>
            </a:endParaRPr>
          </a:p>
        </p:txBody>
      </p:sp>
      <p:sp>
        <p:nvSpPr>
          <p:cNvPr id="126" name="TextBox 3"/>
          <p:cNvSpPr/>
          <p:nvPr/>
        </p:nvSpPr>
        <p:spPr>
          <a:xfrm>
            <a:off x="255960" y="457200"/>
            <a:ext cx="1168560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3200" b="1" u="none" strike="noStrike">
                <a:solidFill>
                  <a:srgbClr val="0B2B4E"/>
                </a:solidFill>
                <a:effectLst/>
                <a:uFillTx/>
                <a:latin typeface="Calibri"/>
              </a:rPr>
              <a:t>Market Structure: Monopoly</a:t>
            </a:r>
            <a:endParaRPr lang="en-US" sz="3200" b="0" u="none" strike="noStrike">
              <a:solidFill>
                <a:srgbClr val="000000"/>
              </a:solidFill>
              <a:effectLst/>
              <a:uFillTx/>
              <a:latin typeface="Arial"/>
            </a:endParaRPr>
          </a:p>
        </p:txBody>
      </p:sp>
      <p:sp>
        <p:nvSpPr>
          <p:cNvPr id="127" name="Rectangle 4"/>
          <p:cNvSpPr/>
          <p:nvPr/>
        </p:nvSpPr>
        <p:spPr>
          <a:xfrm>
            <a:off x="255960" y="1143000"/>
            <a:ext cx="116856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28" name="Rectangle 5"/>
          <p:cNvSpPr/>
          <p:nvPr/>
        </p:nvSpPr>
        <p:spPr>
          <a:xfrm>
            <a:off x="255960" y="11340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29" name="Rectangle 6"/>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30" name="Rectangle 7"/>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31" name="TextBox 8"/>
          <p:cNvSpPr/>
          <p:nvPr/>
        </p:nvSpPr>
        <p:spPr>
          <a:xfrm>
            <a:off x="255960" y="65836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0" u="none" strike="noStrike">
                <a:solidFill>
                  <a:srgbClr val="555B66"/>
                </a:solidFill>
                <a:effectLst/>
                <a:uFillTx/>
                <a:latin typeface="Calibri"/>
              </a:rPr>
              <a:t>Management 405  ·  Monopoly and Monopolistic Competition</a:t>
            </a:r>
            <a:endParaRPr lang="en-US" sz="1200" b="0" u="none" strike="noStrike">
              <a:solidFill>
                <a:srgbClr val="000000"/>
              </a:solidFill>
              <a:effectLst/>
              <a:uFillTx/>
              <a:latin typeface="Arial"/>
            </a:endParaRPr>
          </a:p>
        </p:txBody>
      </p:sp>
      <p:sp>
        <p:nvSpPr>
          <p:cNvPr id="132" name="TextBox 9"/>
          <p:cNvSpPr/>
          <p:nvPr/>
        </p:nvSpPr>
        <p:spPr>
          <a:xfrm>
            <a:off x="11430000" y="658368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1200" b="0" u="none" strike="noStrike">
                <a:solidFill>
                  <a:srgbClr val="555B66"/>
                </a:solidFill>
                <a:effectLst/>
                <a:uFillTx/>
                <a:latin typeface="Calibri"/>
              </a:rPr>
              <a:t>4</a:t>
            </a:r>
            <a:endParaRPr lang="en-US" sz="1200" b="0" u="none" strike="noStrike">
              <a:solidFill>
                <a:srgbClr val="000000"/>
              </a:solidFill>
              <a:effectLst/>
              <a:uFillTx/>
              <a:latin typeface="Arial"/>
            </a:endParaRPr>
          </a:p>
        </p:txBody>
      </p:sp>
      <p:pic>
        <p:nvPicPr>
          <p:cNvPr id="133" name="Picture 10" descr="s04_0_17172.png"/>
          <p:cNvPicPr/>
          <p:nvPr/>
        </p:nvPicPr>
        <p:blipFill>
          <a:blip r:embed="rId3"/>
          <a:stretch/>
        </p:blipFill>
        <p:spPr>
          <a:xfrm>
            <a:off x="4709160" y="1371600"/>
            <a:ext cx="2742840" cy="576360"/>
          </a:xfrm>
          <a:prstGeom prst="rect">
            <a:avLst/>
          </a:prstGeom>
          <a:noFill/>
          <a:ln w="0">
            <a:noFill/>
          </a:ln>
          <a:effectLst>
            <a:outerShdw blurRad="39960" dist="24840" dir="5400000" rotWithShape="0">
              <a:srgbClr val="000000">
                <a:alpha val="30000"/>
              </a:srgbClr>
            </a:outerShdw>
          </a:effectLst>
        </p:spPr>
      </p:pic>
      <p:sp>
        <p:nvSpPr>
          <p:cNvPr id="134" name="Rectangle 11"/>
          <p:cNvSpPr/>
          <p:nvPr/>
        </p:nvSpPr>
        <p:spPr>
          <a:xfrm>
            <a:off x="1316880" y="2597040"/>
            <a:ext cx="9527760" cy="3401280"/>
          </a:xfrm>
          <a:prstGeom prst="rect">
            <a:avLst/>
          </a:prstGeom>
          <a:solidFill>
            <a:srgbClr val="FFFFFF"/>
          </a:solidFill>
          <a:ln>
            <a:noFill/>
          </a:ln>
          <a:effectLst>
            <a:outerShdw blurRad="39960" dist="24840" dir="5400000" rotWithShape="0">
              <a:srgbClr val="000000">
                <a:alpha val="30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graphicFrame>
        <p:nvGraphicFramePr>
          <p:cNvPr id="135" name="Table 12"/>
          <p:cNvGraphicFramePr/>
          <p:nvPr/>
        </p:nvGraphicFramePr>
        <p:xfrm>
          <a:off x="1371600" y="2651760"/>
          <a:ext cx="9418320" cy="3290400"/>
        </p:xfrm>
        <a:graphic>
          <a:graphicData uri="http://schemas.openxmlformats.org/drawingml/2006/table">
            <a:tbl>
              <a:tblPr/>
              <a:tblGrid>
                <a:gridCol w="3840480">
                  <a:extLst>
                    <a:ext uri="{9D8B030D-6E8A-4147-A177-3AD203B41FA5}">
                      <a16:colId xmlns:a16="http://schemas.microsoft.com/office/drawing/2014/main" val="20000"/>
                    </a:ext>
                  </a:extLst>
                </a:gridCol>
                <a:gridCol w="5577840">
                  <a:extLst>
                    <a:ext uri="{9D8B030D-6E8A-4147-A177-3AD203B41FA5}">
                      <a16:colId xmlns:a16="http://schemas.microsoft.com/office/drawing/2014/main" val="20001"/>
                    </a:ext>
                  </a:extLst>
                </a:gridCol>
              </a:tblGrid>
              <a:tr h="658080">
                <a:tc>
                  <a:txBody>
                    <a:bodyPr/>
                    <a:lstStyle/>
                    <a:p>
                      <a:pPr defTabSz="457200">
                        <a:lnSpc>
                          <a:spcPct val="100000"/>
                        </a:lnSpc>
                      </a:pPr>
                      <a:r>
                        <a:rPr lang="en-US" sz="1600" b="1" u="none" strike="noStrike">
                          <a:solidFill>
                            <a:srgbClr val="0B2B4E"/>
                          </a:solidFill>
                          <a:effectLst/>
                          <a:uFillTx/>
                          <a:latin typeface="Calibri"/>
                        </a:rPr>
                        <a:t>Number of firms</a:t>
                      </a:r>
                      <a:endParaRPr lang="en-US" sz="1600" b="0" u="none" strike="noStrike">
                        <a:solidFill>
                          <a:srgbClr val="000000"/>
                        </a:solidFill>
                        <a:effectLst/>
                        <a:uFillTx/>
                        <a:latin typeface="Arial"/>
                      </a:endParaRPr>
                    </a:p>
                  </a:txBody>
                  <a:tcPr marL="127800" marT="36360" marB="363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lstStyle/>
                    <a:p>
                      <a:pPr defTabSz="457200">
                        <a:lnSpc>
                          <a:spcPct val="100000"/>
                        </a:lnSpc>
                      </a:pPr>
                      <a:r>
                        <a:rPr lang="en-US" sz="1600" b="0" u="none" strike="noStrike">
                          <a:solidFill>
                            <a:srgbClr val="0B2B4E"/>
                          </a:solidFill>
                          <a:effectLst/>
                          <a:uFillTx/>
                          <a:latin typeface="Calibri"/>
                        </a:rPr>
                        <a:t>Single seller</a:t>
                      </a:r>
                      <a:endParaRPr lang="en-US" sz="1600" b="0" u="none" strike="noStrike">
                        <a:solidFill>
                          <a:srgbClr val="000000"/>
                        </a:solidFill>
                        <a:effectLst/>
                        <a:uFillTx/>
                        <a:latin typeface="Arial"/>
                      </a:endParaRPr>
                    </a:p>
                  </a:txBody>
                  <a:tcPr marL="127800" marT="36360" marB="363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extLst>
                  <a:ext uri="{0D108BD9-81ED-4DB2-BD59-A6C34878D82A}">
                    <a16:rowId xmlns:a16="http://schemas.microsoft.com/office/drawing/2014/main" val="10000"/>
                  </a:ext>
                </a:extLst>
              </a:tr>
              <a:tr h="658080">
                <a:tc>
                  <a:txBody>
                    <a:bodyPr/>
                    <a:lstStyle/>
                    <a:p>
                      <a:pPr defTabSz="457200">
                        <a:lnSpc>
                          <a:spcPct val="100000"/>
                        </a:lnSpc>
                      </a:pPr>
                      <a:r>
                        <a:rPr lang="en-US" sz="1600" b="1" u="none" strike="noStrike">
                          <a:solidFill>
                            <a:srgbClr val="0B2B4E"/>
                          </a:solidFill>
                          <a:effectLst/>
                          <a:uFillTx/>
                          <a:latin typeface="Calibri"/>
                        </a:rPr>
                        <a:t>Product differentiation</a:t>
                      </a:r>
                      <a:endParaRPr lang="en-US" sz="1600" b="0" u="none" strike="noStrike">
                        <a:solidFill>
                          <a:srgbClr val="000000"/>
                        </a:solidFill>
                        <a:effectLst/>
                        <a:uFillTx/>
                        <a:latin typeface="Arial"/>
                      </a:endParaRPr>
                    </a:p>
                  </a:txBody>
                  <a:tcPr marL="127800" marT="36360" marB="363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DF6E6"/>
                    </a:solidFill>
                  </a:tcPr>
                </a:tc>
                <a:tc>
                  <a:txBody>
                    <a:bodyPr/>
                    <a:lstStyle/>
                    <a:p>
                      <a:pPr defTabSz="457200">
                        <a:lnSpc>
                          <a:spcPct val="100000"/>
                        </a:lnSpc>
                      </a:pPr>
                      <a:r>
                        <a:rPr lang="en-US" sz="1600" b="0" u="none" strike="noStrike">
                          <a:solidFill>
                            <a:srgbClr val="0B2B4E"/>
                          </a:solidFill>
                          <a:effectLst/>
                          <a:uFillTx/>
                          <a:latin typeface="Calibri"/>
                        </a:rPr>
                        <a:t>Very high — no close substitutes</a:t>
                      </a:r>
                      <a:endParaRPr lang="en-US" sz="1600" b="0" u="none" strike="noStrike">
                        <a:solidFill>
                          <a:srgbClr val="000000"/>
                        </a:solidFill>
                        <a:effectLst/>
                        <a:uFillTx/>
                        <a:latin typeface="Arial"/>
                      </a:endParaRPr>
                    </a:p>
                  </a:txBody>
                  <a:tcPr marL="127800" marT="36360" marB="363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DF6E6"/>
                    </a:solidFill>
                  </a:tcPr>
                </a:tc>
                <a:extLst>
                  <a:ext uri="{0D108BD9-81ED-4DB2-BD59-A6C34878D82A}">
                    <a16:rowId xmlns:a16="http://schemas.microsoft.com/office/drawing/2014/main" val="10001"/>
                  </a:ext>
                </a:extLst>
              </a:tr>
              <a:tr h="658080">
                <a:tc>
                  <a:txBody>
                    <a:bodyPr/>
                    <a:lstStyle/>
                    <a:p>
                      <a:pPr defTabSz="457200">
                        <a:lnSpc>
                          <a:spcPct val="100000"/>
                        </a:lnSpc>
                      </a:pPr>
                      <a:r>
                        <a:rPr lang="en-US" sz="1600" b="1" u="none" strike="noStrike">
                          <a:solidFill>
                            <a:srgbClr val="0B2B4E"/>
                          </a:solidFill>
                          <a:effectLst/>
                          <a:uFillTx/>
                          <a:latin typeface="Calibri"/>
                        </a:rPr>
                        <a:t>Entry conditions</a:t>
                      </a:r>
                      <a:endParaRPr lang="en-US" sz="1600" b="0" u="none" strike="noStrike">
                        <a:solidFill>
                          <a:srgbClr val="000000"/>
                        </a:solidFill>
                        <a:effectLst/>
                        <a:uFillTx/>
                        <a:latin typeface="Arial"/>
                      </a:endParaRPr>
                    </a:p>
                  </a:txBody>
                  <a:tcPr marL="127800" marT="36360" marB="363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lstStyle/>
                    <a:p>
                      <a:pPr defTabSz="457200">
                        <a:lnSpc>
                          <a:spcPct val="100000"/>
                        </a:lnSpc>
                      </a:pPr>
                      <a:r>
                        <a:rPr lang="en-US" sz="1600" b="0" u="none" strike="noStrike">
                          <a:solidFill>
                            <a:srgbClr val="0B2B4E"/>
                          </a:solidFill>
                          <a:effectLst/>
                          <a:uFillTx/>
                          <a:latin typeface="Calibri"/>
                        </a:rPr>
                        <a:t>Restricted access (barriers)</a:t>
                      </a:r>
                      <a:endParaRPr lang="en-US" sz="1600" b="0" u="none" strike="noStrike">
                        <a:solidFill>
                          <a:srgbClr val="000000"/>
                        </a:solidFill>
                        <a:effectLst/>
                        <a:uFillTx/>
                        <a:latin typeface="Arial"/>
                      </a:endParaRPr>
                    </a:p>
                  </a:txBody>
                  <a:tcPr marL="127800" marT="36360" marB="363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extLst>
                  <a:ext uri="{0D108BD9-81ED-4DB2-BD59-A6C34878D82A}">
                    <a16:rowId xmlns:a16="http://schemas.microsoft.com/office/drawing/2014/main" val="10002"/>
                  </a:ext>
                </a:extLst>
              </a:tr>
              <a:tr h="658080">
                <a:tc>
                  <a:txBody>
                    <a:bodyPr/>
                    <a:lstStyle/>
                    <a:p>
                      <a:pPr defTabSz="457200">
                        <a:lnSpc>
                          <a:spcPct val="100000"/>
                        </a:lnSpc>
                      </a:pPr>
                      <a:r>
                        <a:rPr lang="en-US" sz="1600" b="1" u="none" strike="noStrike">
                          <a:solidFill>
                            <a:srgbClr val="0B2B4E"/>
                          </a:solidFill>
                          <a:effectLst/>
                          <a:uFillTx/>
                          <a:latin typeface="Calibri"/>
                        </a:rPr>
                        <a:t>Profit potential</a:t>
                      </a:r>
                      <a:endParaRPr lang="en-US" sz="1600" b="0" u="none" strike="noStrike">
                        <a:solidFill>
                          <a:srgbClr val="000000"/>
                        </a:solidFill>
                        <a:effectLst/>
                        <a:uFillTx/>
                        <a:latin typeface="Arial"/>
                      </a:endParaRPr>
                    </a:p>
                  </a:txBody>
                  <a:tcPr marL="127800" marT="36360" marB="363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DF6E6"/>
                    </a:solidFill>
                  </a:tcPr>
                </a:tc>
                <a:tc>
                  <a:txBody>
                    <a:bodyPr/>
                    <a:lstStyle/>
                    <a:p>
                      <a:pPr defTabSz="457200">
                        <a:lnSpc>
                          <a:spcPct val="100000"/>
                        </a:lnSpc>
                      </a:pPr>
                      <a:r>
                        <a:rPr lang="en-US" sz="1600" b="0" u="none" strike="noStrike">
                          <a:solidFill>
                            <a:srgbClr val="0B2B4E"/>
                          </a:solidFill>
                          <a:effectLst/>
                          <a:uFillTx/>
                          <a:latin typeface="Calibri"/>
                        </a:rPr>
                        <a:t>Positive profit in the short and long run</a:t>
                      </a:r>
                      <a:endParaRPr lang="en-US" sz="1600" b="0" u="none" strike="noStrike">
                        <a:solidFill>
                          <a:srgbClr val="000000"/>
                        </a:solidFill>
                        <a:effectLst/>
                        <a:uFillTx/>
                        <a:latin typeface="Arial"/>
                      </a:endParaRPr>
                    </a:p>
                  </a:txBody>
                  <a:tcPr marL="127800" marT="36360" marB="363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DF6E6"/>
                    </a:solidFill>
                  </a:tcPr>
                </a:tc>
                <a:extLst>
                  <a:ext uri="{0D108BD9-81ED-4DB2-BD59-A6C34878D82A}">
                    <a16:rowId xmlns:a16="http://schemas.microsoft.com/office/drawing/2014/main" val="10003"/>
                  </a:ext>
                </a:extLst>
              </a:tr>
              <a:tr h="658080">
                <a:tc>
                  <a:txBody>
                    <a:bodyPr/>
                    <a:lstStyle/>
                    <a:p>
                      <a:pPr defTabSz="457200">
                        <a:lnSpc>
                          <a:spcPct val="100000"/>
                        </a:lnSpc>
                      </a:pPr>
                      <a:r>
                        <a:rPr lang="en-US" sz="1600" b="1" u="none" strike="noStrike">
                          <a:solidFill>
                            <a:srgbClr val="0B2B4E"/>
                          </a:solidFill>
                          <a:effectLst/>
                          <a:uFillTx/>
                          <a:latin typeface="Calibri"/>
                        </a:rPr>
                        <a:t>Examples</a:t>
                      </a:r>
                      <a:endParaRPr lang="en-US" sz="1600" b="0" u="none" strike="noStrike">
                        <a:solidFill>
                          <a:srgbClr val="000000"/>
                        </a:solidFill>
                        <a:effectLst/>
                        <a:uFillTx/>
                        <a:latin typeface="Arial"/>
                      </a:endParaRPr>
                    </a:p>
                  </a:txBody>
                  <a:tcPr marL="127800" marT="36360" marB="363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lstStyle/>
                    <a:p>
                      <a:pPr defTabSz="457200">
                        <a:lnSpc>
                          <a:spcPct val="100000"/>
                        </a:lnSpc>
                      </a:pPr>
                      <a:r>
                        <a:rPr lang="en-US" sz="1600" b="0" u="none" strike="noStrike">
                          <a:solidFill>
                            <a:srgbClr val="0B2B4E"/>
                          </a:solidFill>
                          <a:effectLst/>
                          <a:uFillTx/>
                          <a:latin typeface="Calibri"/>
                        </a:rPr>
                        <a:t>Microsoft; gas, water &amp; electric utilities; big tech (?)</a:t>
                      </a:r>
                      <a:endParaRPr lang="en-US" sz="1600" b="0" u="none" strike="noStrike">
                        <a:solidFill>
                          <a:srgbClr val="000000"/>
                        </a:solidFill>
                        <a:effectLst/>
                        <a:uFillTx/>
                        <a:latin typeface="Arial"/>
                      </a:endParaRPr>
                    </a:p>
                  </a:txBody>
                  <a:tcPr marL="127800" marT="36360" marB="363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Rectangle 1"/>
          <p:cNvSpPr/>
          <p:nvPr/>
        </p:nvSpPr>
        <p:spPr>
          <a:xfrm>
            <a:off x="0" y="0"/>
            <a:ext cx="12191400" cy="383760"/>
          </a:xfrm>
          <a:prstGeom prst="rect">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37" name="TextBox 2"/>
          <p:cNvSpPr/>
          <p:nvPr/>
        </p:nvSpPr>
        <p:spPr>
          <a:xfrm>
            <a:off x="255960" y="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FFFFFF"/>
                </a:solidFill>
                <a:effectLst/>
                <a:uFillTx/>
                <a:latin typeface="Calibri"/>
              </a:rPr>
              <a:t>Monopoly &amp; Monopolistic Competition · Monopoly &amp; Welfare</a:t>
            </a:r>
            <a:endParaRPr lang="en-US" sz="1600" b="0" u="none" strike="noStrike">
              <a:solidFill>
                <a:srgbClr val="000000"/>
              </a:solidFill>
              <a:effectLst/>
              <a:uFillTx/>
              <a:latin typeface="Arial"/>
            </a:endParaRPr>
          </a:p>
        </p:txBody>
      </p:sp>
      <p:sp>
        <p:nvSpPr>
          <p:cNvPr id="138" name="TextBox 3"/>
          <p:cNvSpPr/>
          <p:nvPr/>
        </p:nvSpPr>
        <p:spPr>
          <a:xfrm>
            <a:off x="255960" y="457200"/>
            <a:ext cx="1168560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3200" b="1" u="none" strike="noStrike">
                <a:solidFill>
                  <a:srgbClr val="0B2B4E"/>
                </a:solidFill>
                <a:effectLst/>
                <a:uFillTx/>
                <a:latin typeface="Calibri"/>
              </a:rPr>
              <a:t>Poll: Was the Amazon–MGM Merger Bad for Consumers?</a:t>
            </a:r>
            <a:endParaRPr lang="en-US" sz="3200" b="0" u="none" strike="noStrike">
              <a:solidFill>
                <a:srgbClr val="000000"/>
              </a:solidFill>
              <a:effectLst/>
              <a:uFillTx/>
              <a:latin typeface="Arial"/>
            </a:endParaRPr>
          </a:p>
        </p:txBody>
      </p:sp>
      <p:sp>
        <p:nvSpPr>
          <p:cNvPr id="139" name="Rectangle 4"/>
          <p:cNvSpPr/>
          <p:nvPr/>
        </p:nvSpPr>
        <p:spPr>
          <a:xfrm>
            <a:off x="255960" y="1143000"/>
            <a:ext cx="116856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40" name="Rectangle 5"/>
          <p:cNvSpPr/>
          <p:nvPr/>
        </p:nvSpPr>
        <p:spPr>
          <a:xfrm>
            <a:off x="255960" y="11340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41" name="Rectangle 6"/>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42" name="Rectangle 7"/>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43" name="TextBox 8"/>
          <p:cNvSpPr/>
          <p:nvPr/>
        </p:nvSpPr>
        <p:spPr>
          <a:xfrm>
            <a:off x="255960" y="65836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0" u="none" strike="noStrike">
                <a:solidFill>
                  <a:srgbClr val="555B66"/>
                </a:solidFill>
                <a:effectLst/>
                <a:uFillTx/>
                <a:latin typeface="Calibri"/>
              </a:rPr>
              <a:t>Management 405  ·  Monopoly and Monopolistic Competition</a:t>
            </a:r>
            <a:endParaRPr lang="en-US" sz="1200" b="0" u="none" strike="noStrike">
              <a:solidFill>
                <a:srgbClr val="000000"/>
              </a:solidFill>
              <a:effectLst/>
              <a:uFillTx/>
              <a:latin typeface="Arial"/>
            </a:endParaRPr>
          </a:p>
        </p:txBody>
      </p:sp>
      <p:sp>
        <p:nvSpPr>
          <p:cNvPr id="144" name="TextBox 9"/>
          <p:cNvSpPr/>
          <p:nvPr/>
        </p:nvSpPr>
        <p:spPr>
          <a:xfrm>
            <a:off x="11430000" y="658368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1200" b="0" u="none" strike="noStrike">
                <a:solidFill>
                  <a:srgbClr val="555B66"/>
                </a:solidFill>
                <a:effectLst/>
                <a:uFillTx/>
                <a:latin typeface="Calibri"/>
              </a:rPr>
              <a:t>5</a:t>
            </a:r>
            <a:endParaRPr lang="en-US" sz="1200" b="0" u="none" strike="noStrike">
              <a:solidFill>
                <a:srgbClr val="000000"/>
              </a:solidFill>
              <a:effectLst/>
              <a:uFillTx/>
              <a:latin typeface="Arial"/>
            </a:endParaRPr>
          </a:p>
        </p:txBody>
      </p:sp>
      <p:pic>
        <p:nvPicPr>
          <p:cNvPr id="145" name="Picture 10" descr="sm_s05_0_247910.jpg"/>
          <p:cNvPicPr/>
          <p:nvPr>
            <p:custDataLst>
              <p:tags r:id="rId1"/>
            </p:custDataLst>
          </p:nvPr>
        </p:nvPicPr>
        <p:blipFill>
          <a:blip r:embed="rId4"/>
          <a:stretch/>
        </p:blipFill>
        <p:spPr>
          <a:xfrm>
            <a:off x="1965960" y="1554480"/>
            <a:ext cx="8229240" cy="4626000"/>
          </a:xfrm>
          <a:prstGeom prst="rect">
            <a:avLst/>
          </a:prstGeom>
          <a:noFill/>
          <a:ln w="0">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Rectangle 1"/>
          <p:cNvSpPr/>
          <p:nvPr/>
        </p:nvSpPr>
        <p:spPr>
          <a:xfrm>
            <a:off x="0" y="0"/>
            <a:ext cx="12191400" cy="383760"/>
          </a:xfrm>
          <a:prstGeom prst="rect">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47" name="TextBox 2"/>
          <p:cNvSpPr/>
          <p:nvPr/>
        </p:nvSpPr>
        <p:spPr>
          <a:xfrm>
            <a:off x="255960" y="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FFFFFF"/>
                </a:solidFill>
                <a:effectLst/>
                <a:uFillTx/>
                <a:latin typeface="Calibri"/>
              </a:rPr>
              <a:t>Monopoly &amp; Monopolistic Competition · Monopoly &amp; Welfare</a:t>
            </a:r>
            <a:endParaRPr lang="en-US" sz="1600" b="0" u="none" strike="noStrike">
              <a:solidFill>
                <a:srgbClr val="000000"/>
              </a:solidFill>
              <a:effectLst/>
              <a:uFillTx/>
              <a:latin typeface="Arial"/>
            </a:endParaRPr>
          </a:p>
        </p:txBody>
      </p:sp>
      <p:sp>
        <p:nvSpPr>
          <p:cNvPr id="148" name="TextBox 3"/>
          <p:cNvSpPr/>
          <p:nvPr/>
        </p:nvSpPr>
        <p:spPr>
          <a:xfrm>
            <a:off x="255960" y="457200"/>
            <a:ext cx="1168560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3200" b="1" u="none" strike="noStrike">
                <a:solidFill>
                  <a:srgbClr val="0B2B4E"/>
                </a:solidFill>
                <a:effectLst/>
                <a:uFillTx/>
                <a:latin typeface="Calibri"/>
              </a:rPr>
              <a:t>Poll: Live Responses</a:t>
            </a:r>
            <a:endParaRPr lang="en-US" sz="3200" b="0" u="none" strike="noStrike">
              <a:solidFill>
                <a:srgbClr val="000000"/>
              </a:solidFill>
              <a:effectLst/>
              <a:uFillTx/>
              <a:latin typeface="Arial"/>
            </a:endParaRPr>
          </a:p>
        </p:txBody>
      </p:sp>
      <p:sp>
        <p:nvSpPr>
          <p:cNvPr id="149" name="Rectangle 4"/>
          <p:cNvSpPr/>
          <p:nvPr/>
        </p:nvSpPr>
        <p:spPr>
          <a:xfrm>
            <a:off x="255960" y="1143000"/>
            <a:ext cx="116856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50" name="Rectangle 5"/>
          <p:cNvSpPr/>
          <p:nvPr/>
        </p:nvSpPr>
        <p:spPr>
          <a:xfrm>
            <a:off x="255960" y="11340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51" name="Rectangle 6"/>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52" name="Rectangle 7"/>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53" name="TextBox 8"/>
          <p:cNvSpPr/>
          <p:nvPr/>
        </p:nvSpPr>
        <p:spPr>
          <a:xfrm>
            <a:off x="255960" y="65836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0" u="none" strike="noStrike">
                <a:solidFill>
                  <a:srgbClr val="555B66"/>
                </a:solidFill>
                <a:effectLst/>
                <a:uFillTx/>
                <a:latin typeface="Calibri"/>
              </a:rPr>
              <a:t>Management 405  ·  Monopoly and Monopolistic Competition</a:t>
            </a:r>
            <a:endParaRPr lang="en-US" sz="1200" b="0" u="none" strike="noStrike">
              <a:solidFill>
                <a:srgbClr val="000000"/>
              </a:solidFill>
              <a:effectLst/>
              <a:uFillTx/>
              <a:latin typeface="Arial"/>
            </a:endParaRPr>
          </a:p>
        </p:txBody>
      </p:sp>
      <p:sp>
        <p:nvSpPr>
          <p:cNvPr id="154" name="TextBox 9"/>
          <p:cNvSpPr/>
          <p:nvPr/>
        </p:nvSpPr>
        <p:spPr>
          <a:xfrm>
            <a:off x="11430000" y="658368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1200" b="0" u="none" strike="noStrike">
                <a:solidFill>
                  <a:srgbClr val="555B66"/>
                </a:solidFill>
                <a:effectLst/>
                <a:uFillTx/>
                <a:latin typeface="Calibri"/>
              </a:rPr>
              <a:t>6</a:t>
            </a:r>
            <a:endParaRPr lang="en-US" sz="1200" b="0" u="none" strike="noStrike">
              <a:solidFill>
                <a:srgbClr val="000000"/>
              </a:solidFill>
              <a:effectLst/>
              <a:uFillTx/>
              <a:latin typeface="Arial"/>
            </a:endParaRPr>
          </a:p>
        </p:txBody>
      </p:sp>
      <p:pic>
        <p:nvPicPr>
          <p:cNvPr id="155" name="Picture 10" descr="sm_s06_0_245393.jpg"/>
          <p:cNvPicPr/>
          <p:nvPr>
            <p:custDataLst>
              <p:tags r:id="rId1"/>
            </p:custDataLst>
          </p:nvPr>
        </p:nvPicPr>
        <p:blipFill>
          <a:blip r:embed="rId4"/>
          <a:stretch/>
        </p:blipFill>
        <p:spPr>
          <a:xfrm>
            <a:off x="1965960" y="1554480"/>
            <a:ext cx="8229240" cy="4626000"/>
          </a:xfrm>
          <a:prstGeom prst="rect">
            <a:avLst/>
          </a:prstGeom>
          <a:noFill/>
          <a:ln w="0">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 name="Rectangle 1"/>
          <p:cNvSpPr/>
          <p:nvPr/>
        </p:nvSpPr>
        <p:spPr>
          <a:xfrm>
            <a:off x="0" y="0"/>
            <a:ext cx="12191400" cy="383760"/>
          </a:xfrm>
          <a:prstGeom prst="rect">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57" name="TextBox 2"/>
          <p:cNvSpPr/>
          <p:nvPr/>
        </p:nvSpPr>
        <p:spPr>
          <a:xfrm>
            <a:off x="255960" y="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FFFFFF"/>
                </a:solidFill>
                <a:effectLst/>
                <a:uFillTx/>
                <a:latin typeface="Calibri"/>
              </a:rPr>
              <a:t>Monopoly &amp; Monopolistic Competition · Monopoly &amp; Welfare</a:t>
            </a:r>
            <a:endParaRPr lang="en-US" sz="1600" b="0" u="none" strike="noStrike">
              <a:solidFill>
                <a:srgbClr val="000000"/>
              </a:solidFill>
              <a:effectLst/>
              <a:uFillTx/>
              <a:latin typeface="Arial"/>
            </a:endParaRPr>
          </a:p>
        </p:txBody>
      </p:sp>
      <p:sp>
        <p:nvSpPr>
          <p:cNvPr id="158" name="TextBox 3"/>
          <p:cNvSpPr/>
          <p:nvPr/>
        </p:nvSpPr>
        <p:spPr>
          <a:xfrm>
            <a:off x="255960" y="457200"/>
            <a:ext cx="1168560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3200" b="1" u="none" strike="noStrike">
                <a:solidFill>
                  <a:srgbClr val="0B2B4E"/>
                </a:solidFill>
                <a:effectLst/>
                <a:uFillTx/>
                <a:latin typeface="Calibri"/>
              </a:rPr>
              <a:t>Poll: Results</a:t>
            </a:r>
            <a:endParaRPr lang="en-US" sz="3200" b="0" u="none" strike="noStrike">
              <a:solidFill>
                <a:srgbClr val="000000"/>
              </a:solidFill>
              <a:effectLst/>
              <a:uFillTx/>
              <a:latin typeface="Arial"/>
            </a:endParaRPr>
          </a:p>
        </p:txBody>
      </p:sp>
      <p:sp>
        <p:nvSpPr>
          <p:cNvPr id="159" name="Rectangle 4"/>
          <p:cNvSpPr/>
          <p:nvPr/>
        </p:nvSpPr>
        <p:spPr>
          <a:xfrm>
            <a:off x="255960" y="1143000"/>
            <a:ext cx="116856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60" name="Rectangle 5"/>
          <p:cNvSpPr/>
          <p:nvPr/>
        </p:nvSpPr>
        <p:spPr>
          <a:xfrm>
            <a:off x="255960" y="11340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61" name="Rectangle 6"/>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62" name="Rectangle 7"/>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63" name="TextBox 8"/>
          <p:cNvSpPr/>
          <p:nvPr/>
        </p:nvSpPr>
        <p:spPr>
          <a:xfrm>
            <a:off x="255960" y="65836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0" u="none" strike="noStrike">
                <a:solidFill>
                  <a:srgbClr val="555B66"/>
                </a:solidFill>
                <a:effectLst/>
                <a:uFillTx/>
                <a:latin typeface="Calibri"/>
              </a:rPr>
              <a:t>Management 405  ·  Monopoly and Monopolistic Competition</a:t>
            </a:r>
            <a:endParaRPr lang="en-US" sz="1200" b="0" u="none" strike="noStrike">
              <a:solidFill>
                <a:srgbClr val="000000"/>
              </a:solidFill>
              <a:effectLst/>
              <a:uFillTx/>
              <a:latin typeface="Arial"/>
            </a:endParaRPr>
          </a:p>
        </p:txBody>
      </p:sp>
      <p:sp>
        <p:nvSpPr>
          <p:cNvPr id="164" name="TextBox 9"/>
          <p:cNvSpPr/>
          <p:nvPr/>
        </p:nvSpPr>
        <p:spPr>
          <a:xfrm>
            <a:off x="11430000" y="658368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1200" b="0" u="none" strike="noStrike">
                <a:solidFill>
                  <a:srgbClr val="555B66"/>
                </a:solidFill>
                <a:effectLst/>
                <a:uFillTx/>
                <a:latin typeface="Calibri"/>
              </a:rPr>
              <a:t>7</a:t>
            </a:r>
            <a:endParaRPr lang="en-US" sz="1200" b="0" u="none" strike="noStrike">
              <a:solidFill>
                <a:srgbClr val="000000"/>
              </a:solidFill>
              <a:effectLst/>
              <a:uFillTx/>
              <a:latin typeface="Arial"/>
            </a:endParaRPr>
          </a:p>
        </p:txBody>
      </p:sp>
      <p:pic>
        <p:nvPicPr>
          <p:cNvPr id="165" name="Picture 10" descr="sm_s06_0_245393.jpg"/>
          <p:cNvPicPr/>
          <p:nvPr>
            <p:custDataLst>
              <p:tags r:id="rId1"/>
            </p:custDataLst>
          </p:nvPr>
        </p:nvPicPr>
        <p:blipFill>
          <a:blip r:embed="rId4"/>
          <a:stretch/>
        </p:blipFill>
        <p:spPr>
          <a:xfrm>
            <a:off x="1965960" y="1554480"/>
            <a:ext cx="8229240" cy="4626000"/>
          </a:xfrm>
          <a:prstGeom prst="rect">
            <a:avLst/>
          </a:prstGeom>
          <a:noFill/>
          <a:ln w="0">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 name="Rectangle 1"/>
          <p:cNvSpPr/>
          <p:nvPr/>
        </p:nvSpPr>
        <p:spPr>
          <a:xfrm>
            <a:off x="0" y="0"/>
            <a:ext cx="12191400" cy="383760"/>
          </a:xfrm>
          <a:prstGeom prst="rect">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67" name="TextBox 2"/>
          <p:cNvSpPr/>
          <p:nvPr/>
        </p:nvSpPr>
        <p:spPr>
          <a:xfrm>
            <a:off x="255960" y="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FFFFFF"/>
                </a:solidFill>
                <a:effectLst/>
                <a:uFillTx/>
                <a:latin typeface="Calibri"/>
              </a:rPr>
              <a:t>Monopoly &amp; Monopolistic Competition · Monopoly &amp; Welfare</a:t>
            </a:r>
            <a:endParaRPr lang="en-US" sz="1600" b="0" u="none" strike="noStrike">
              <a:solidFill>
                <a:srgbClr val="000000"/>
              </a:solidFill>
              <a:effectLst/>
              <a:uFillTx/>
              <a:latin typeface="Arial"/>
            </a:endParaRPr>
          </a:p>
        </p:txBody>
      </p:sp>
      <p:sp>
        <p:nvSpPr>
          <p:cNvPr id="168" name="TextBox 3"/>
          <p:cNvSpPr/>
          <p:nvPr/>
        </p:nvSpPr>
        <p:spPr>
          <a:xfrm>
            <a:off x="255960" y="457200"/>
            <a:ext cx="1168560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3200" b="1" u="none" strike="noStrike">
                <a:solidFill>
                  <a:srgbClr val="0B2B4E"/>
                </a:solidFill>
                <a:effectLst/>
                <a:uFillTx/>
                <a:latin typeface="Calibri"/>
              </a:rPr>
              <a:t>Monopoly: Good for Business, Bad for Welfare</a:t>
            </a:r>
            <a:endParaRPr lang="en-US" sz="3200" b="0" u="none" strike="noStrike">
              <a:solidFill>
                <a:srgbClr val="000000"/>
              </a:solidFill>
              <a:effectLst/>
              <a:uFillTx/>
              <a:latin typeface="Arial"/>
            </a:endParaRPr>
          </a:p>
        </p:txBody>
      </p:sp>
      <p:sp>
        <p:nvSpPr>
          <p:cNvPr id="169" name="Rectangle 4"/>
          <p:cNvSpPr/>
          <p:nvPr/>
        </p:nvSpPr>
        <p:spPr>
          <a:xfrm>
            <a:off x="255960" y="1143000"/>
            <a:ext cx="116856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70" name="Rectangle 5"/>
          <p:cNvSpPr/>
          <p:nvPr/>
        </p:nvSpPr>
        <p:spPr>
          <a:xfrm>
            <a:off x="255960" y="11340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71" name="Rectangle 6"/>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72" name="Rectangle 7"/>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73" name="TextBox 8"/>
          <p:cNvSpPr/>
          <p:nvPr/>
        </p:nvSpPr>
        <p:spPr>
          <a:xfrm>
            <a:off x="255960" y="65836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0" u="none" strike="noStrike">
                <a:solidFill>
                  <a:srgbClr val="555B66"/>
                </a:solidFill>
                <a:effectLst/>
                <a:uFillTx/>
                <a:latin typeface="Calibri"/>
              </a:rPr>
              <a:t>Management 405  ·  Monopoly and Monopolistic Competition</a:t>
            </a:r>
            <a:endParaRPr lang="en-US" sz="1200" b="0" u="none" strike="noStrike">
              <a:solidFill>
                <a:srgbClr val="000000"/>
              </a:solidFill>
              <a:effectLst/>
              <a:uFillTx/>
              <a:latin typeface="Arial"/>
            </a:endParaRPr>
          </a:p>
        </p:txBody>
      </p:sp>
      <p:sp>
        <p:nvSpPr>
          <p:cNvPr id="174" name="TextBox 9"/>
          <p:cNvSpPr/>
          <p:nvPr/>
        </p:nvSpPr>
        <p:spPr>
          <a:xfrm>
            <a:off x="11430000" y="658368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1200" b="0" u="none" strike="noStrike">
                <a:solidFill>
                  <a:srgbClr val="555B66"/>
                </a:solidFill>
                <a:effectLst/>
                <a:uFillTx/>
                <a:latin typeface="Calibri"/>
              </a:rPr>
              <a:t>8</a:t>
            </a:r>
            <a:endParaRPr lang="en-US" sz="1200" b="0" u="none" strike="noStrike">
              <a:solidFill>
                <a:srgbClr val="000000"/>
              </a:solidFill>
              <a:effectLst/>
              <a:uFillTx/>
              <a:latin typeface="Arial"/>
            </a:endParaRPr>
          </a:p>
        </p:txBody>
      </p:sp>
      <p:cxnSp>
        <p:nvCxnSpPr>
          <p:cNvPr id="175" name="Connector 10"/>
          <p:cNvCxnSpPr/>
          <p:nvPr/>
        </p:nvCxnSpPr>
        <p:spPr>
          <a:xfrm flipV="1">
            <a:off x="914400" y="1874160"/>
            <a:ext cx="720" cy="4252320"/>
          </a:xfrm>
          <a:prstGeom prst="straightConnector1">
            <a:avLst/>
          </a:prstGeom>
          <a:ln w="25400">
            <a:solidFill>
              <a:srgbClr val="0B2B4E"/>
            </a:solidFill>
            <a:round/>
            <a:tailEnd type="triangle" w="med" len="med"/>
          </a:ln>
        </p:spPr>
      </p:cxnSp>
      <p:cxnSp>
        <p:nvCxnSpPr>
          <p:cNvPr id="176" name="Connector 11"/>
          <p:cNvCxnSpPr/>
          <p:nvPr/>
        </p:nvCxnSpPr>
        <p:spPr>
          <a:xfrm>
            <a:off x="914400" y="6126120"/>
            <a:ext cx="7086960" cy="720"/>
          </a:xfrm>
          <a:prstGeom prst="straightConnector1">
            <a:avLst/>
          </a:prstGeom>
          <a:ln w="25400">
            <a:solidFill>
              <a:srgbClr val="0B2B4E"/>
            </a:solidFill>
            <a:round/>
            <a:tailEnd type="triangle" w="med" len="med"/>
          </a:ln>
        </p:spPr>
      </p:cxnSp>
      <p:sp>
        <p:nvSpPr>
          <p:cNvPr id="177" name="TextBox 12"/>
          <p:cNvSpPr/>
          <p:nvPr/>
        </p:nvSpPr>
        <p:spPr>
          <a:xfrm>
            <a:off x="777240" y="1490400"/>
            <a:ext cx="2377080" cy="365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b">
            <a:spAutoFit/>
          </a:bodyPr>
          <a:lstStyle/>
          <a:p>
            <a:pPr defTabSz="457200">
              <a:lnSpc>
                <a:spcPct val="100000"/>
              </a:lnSpc>
            </a:pPr>
            <a:r>
              <a:rPr lang="en-US" sz="1800" b="1" i="1" u="none" strike="noStrike">
                <a:solidFill>
                  <a:srgbClr val="0B2B4E"/>
                </a:solidFill>
                <a:effectLst/>
                <a:uFillTx/>
                <a:latin typeface="Calibri"/>
              </a:rPr>
              <a:t>Price</a:t>
            </a:r>
            <a:endParaRPr lang="en-US" sz="1800" b="0" u="none" strike="noStrike">
              <a:solidFill>
                <a:srgbClr val="000000"/>
              </a:solidFill>
              <a:effectLst/>
              <a:uFillTx/>
              <a:latin typeface="Arial"/>
            </a:endParaRPr>
          </a:p>
        </p:txBody>
      </p:sp>
      <p:sp>
        <p:nvSpPr>
          <p:cNvPr id="178" name="TextBox 13"/>
          <p:cNvSpPr/>
          <p:nvPr/>
        </p:nvSpPr>
        <p:spPr>
          <a:xfrm>
            <a:off x="7909560" y="6181200"/>
            <a:ext cx="1645560" cy="365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spAutoFit/>
          </a:bodyPr>
          <a:lstStyle/>
          <a:p>
            <a:pPr defTabSz="457200">
              <a:lnSpc>
                <a:spcPct val="100000"/>
              </a:lnSpc>
            </a:pPr>
            <a:r>
              <a:rPr lang="en-US" sz="1800" b="1" i="1" u="none" strike="noStrike">
                <a:solidFill>
                  <a:srgbClr val="0B2B4E"/>
                </a:solidFill>
                <a:effectLst/>
                <a:uFillTx/>
                <a:latin typeface="Calibri"/>
              </a:rPr>
              <a:t>Q</a:t>
            </a:r>
            <a:endParaRPr lang="en-US" sz="1800" b="0" u="none" strike="noStrike">
              <a:solidFill>
                <a:srgbClr val="000000"/>
              </a:solidFill>
              <a:effectLst/>
              <a:uFillTx/>
              <a:latin typeface="Arial"/>
            </a:endParaRPr>
          </a:p>
        </p:txBody>
      </p:sp>
      <p:sp>
        <p:nvSpPr>
          <p:cNvPr id="179" name="CLK04"/>
          <p:cNvSpPr/>
          <p:nvPr/>
        </p:nvSpPr>
        <p:spPr>
          <a:xfrm>
            <a:off x="914400" y="2552040"/>
            <a:ext cx="2435760" cy="1286280"/>
          </a:xfrm>
          <a:custGeom>
            <a:avLst/>
            <a:gdLst>
              <a:gd name="textAreaLeft" fmla="*/ 0 w 2435760"/>
              <a:gd name="textAreaRight" fmla="*/ 2436120 w 2435760"/>
              <a:gd name="textAreaTop" fmla="*/ 0 h 1286280"/>
              <a:gd name="textAreaBottom" fmla="*/ 1286640 h 1286280"/>
            </a:gdLst>
            <a:ahLst/>
            <a:cxnLst/>
            <a:rect l="textAreaLeft" t="textAreaTop" r="textAreaRight" b="textAreaBottom"/>
            <a:pathLst>
              <a:path w="2435961" h="1286810">
                <a:moveTo>
                  <a:pt x="0" y="1286810"/>
                </a:moveTo>
                <a:lnTo>
                  <a:pt x="0" y="0"/>
                </a:lnTo>
                <a:lnTo>
                  <a:pt x="2435961" y="1286810"/>
                </a:lnTo>
                <a:close/>
              </a:path>
            </a:pathLst>
          </a:custGeom>
          <a:solidFill>
            <a:srgbClr val="9DC3E6">
              <a:alpha val="85000"/>
            </a:srgbClr>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80" name="CLK05"/>
          <p:cNvSpPr/>
          <p:nvPr/>
        </p:nvSpPr>
        <p:spPr>
          <a:xfrm>
            <a:off x="914400" y="3838680"/>
            <a:ext cx="2435760" cy="1929960"/>
          </a:xfrm>
          <a:custGeom>
            <a:avLst/>
            <a:gdLst>
              <a:gd name="textAreaLeft" fmla="*/ 0 w 2435760"/>
              <a:gd name="textAreaRight" fmla="*/ 2436120 w 2435760"/>
              <a:gd name="textAreaTop" fmla="*/ 0 h 1929960"/>
              <a:gd name="textAreaBottom" fmla="*/ 1930320 h 1929960"/>
            </a:gdLst>
            <a:ahLst/>
            <a:cxnLst/>
            <a:rect l="textAreaLeft" t="textAreaTop" r="textAreaRight" b="textAreaBottom"/>
            <a:pathLst>
              <a:path w="2435961" h="1930215">
                <a:moveTo>
                  <a:pt x="0" y="1930215"/>
                </a:moveTo>
                <a:lnTo>
                  <a:pt x="0" y="0"/>
                </a:lnTo>
                <a:lnTo>
                  <a:pt x="2435961" y="0"/>
                </a:lnTo>
                <a:lnTo>
                  <a:pt x="2435961" y="1286810"/>
                </a:lnTo>
                <a:close/>
              </a:path>
            </a:pathLst>
          </a:custGeom>
          <a:solidFill>
            <a:srgbClr val="E6D5A8">
              <a:alpha val="85000"/>
            </a:srgbClr>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81" name="CLK07"/>
          <p:cNvSpPr/>
          <p:nvPr/>
        </p:nvSpPr>
        <p:spPr>
          <a:xfrm>
            <a:off x="3350520" y="3838680"/>
            <a:ext cx="1623600" cy="1286280"/>
          </a:xfrm>
          <a:custGeom>
            <a:avLst/>
            <a:gdLst>
              <a:gd name="textAreaLeft" fmla="*/ 0 w 1623600"/>
              <a:gd name="textAreaRight" fmla="*/ 1623960 w 1623600"/>
              <a:gd name="textAreaTop" fmla="*/ 0 h 1286280"/>
              <a:gd name="textAreaBottom" fmla="*/ 1286640 h 1286280"/>
            </a:gdLst>
            <a:ahLst/>
            <a:cxnLst/>
            <a:rect l="textAreaLeft" t="textAreaTop" r="textAreaRight" b="textAreaBottom"/>
            <a:pathLst>
              <a:path w="1623975" h="1286810">
                <a:moveTo>
                  <a:pt x="0" y="0"/>
                </a:moveTo>
                <a:lnTo>
                  <a:pt x="0" y="1286810"/>
                </a:lnTo>
                <a:lnTo>
                  <a:pt x="1623975" y="857873"/>
                </a:lnTo>
                <a:close/>
              </a:path>
            </a:pathLst>
          </a:custGeom>
          <a:solidFill>
            <a:srgbClr val="E8332A">
              <a:alpha val="80000"/>
            </a:srgbClr>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82" name="CLK00"/>
          <p:cNvSpPr/>
          <p:nvPr/>
        </p:nvSpPr>
        <p:spPr>
          <a:xfrm>
            <a:off x="914400" y="2552040"/>
            <a:ext cx="6766200" cy="3574080"/>
          </a:xfrm>
          <a:custGeom>
            <a:avLst/>
            <a:gdLst>
              <a:gd name="textAreaLeft" fmla="*/ 0 w 6766200"/>
              <a:gd name="textAreaRight" fmla="*/ 6766560 w 6766200"/>
              <a:gd name="textAreaTop" fmla="*/ 0 h 3574080"/>
              <a:gd name="textAreaBottom" fmla="*/ 3574440 h 3574080"/>
            </a:gdLst>
            <a:ahLst/>
            <a:cxnLst/>
            <a:rect l="textAreaLeft" t="textAreaTop" r="textAreaRight" b="textAreaBottom"/>
            <a:pathLst>
              <a:path w="6766560" h="3574472">
                <a:moveTo>
                  <a:pt x="0" y="0"/>
                </a:moveTo>
                <a:lnTo>
                  <a:pt x="6766560" y="3574472"/>
                </a:lnTo>
              </a:path>
            </a:pathLst>
          </a:custGeom>
          <a:noFill/>
          <a:ln w="38100" cap="rnd">
            <a:solidFill>
              <a:srgbClr val="C0201B"/>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83" name="CLK00"/>
          <p:cNvSpPr/>
          <p:nvPr/>
        </p:nvSpPr>
        <p:spPr>
          <a:xfrm>
            <a:off x="7220260" y="5540480"/>
            <a:ext cx="731160" cy="3106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defTabSz="457200">
              <a:lnSpc>
                <a:spcPct val="100000"/>
              </a:lnSpc>
            </a:pPr>
            <a:r>
              <a:rPr lang="en-US" sz="1700" b="1" i="1" u="none" strike="noStrike" dirty="0">
                <a:solidFill>
                  <a:srgbClr val="C0201B"/>
                </a:solidFill>
                <a:effectLst/>
                <a:uFillTx/>
                <a:latin typeface="Calibri"/>
              </a:rPr>
              <a:t>D</a:t>
            </a:r>
            <a:endParaRPr lang="en-US" sz="1700" b="0" u="none" strike="noStrike" dirty="0">
              <a:solidFill>
                <a:srgbClr val="000000"/>
              </a:solidFill>
              <a:effectLst/>
              <a:uFillTx/>
              <a:latin typeface="Arial"/>
            </a:endParaRPr>
          </a:p>
        </p:txBody>
      </p:sp>
      <p:sp>
        <p:nvSpPr>
          <p:cNvPr id="184" name="CLK01"/>
          <p:cNvSpPr/>
          <p:nvPr/>
        </p:nvSpPr>
        <p:spPr>
          <a:xfrm>
            <a:off x="914400" y="2552040"/>
            <a:ext cx="3382920" cy="3574080"/>
          </a:xfrm>
          <a:custGeom>
            <a:avLst/>
            <a:gdLst>
              <a:gd name="textAreaLeft" fmla="*/ 0 w 3382920"/>
              <a:gd name="textAreaRight" fmla="*/ 3383280 w 3382920"/>
              <a:gd name="textAreaTop" fmla="*/ 0 h 3574080"/>
              <a:gd name="textAreaBottom" fmla="*/ 3574440 h 3574080"/>
            </a:gdLst>
            <a:ahLst/>
            <a:cxnLst/>
            <a:rect l="textAreaLeft" t="textAreaTop" r="textAreaRight" b="textAreaBottom"/>
            <a:pathLst>
              <a:path w="3383280" h="3574472">
                <a:moveTo>
                  <a:pt x="0" y="0"/>
                </a:moveTo>
                <a:lnTo>
                  <a:pt x="3383280" y="3574472"/>
                </a:lnTo>
              </a:path>
            </a:pathLst>
          </a:custGeom>
          <a:noFill/>
          <a:ln w="33020" cap="rnd">
            <a:solidFill>
              <a:srgbClr val="C0201B"/>
            </a:solidFill>
            <a:prstDash val="sysDot"/>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85" name="CLK01"/>
          <p:cNvSpPr/>
          <p:nvPr/>
        </p:nvSpPr>
        <p:spPr>
          <a:xfrm>
            <a:off x="4315140" y="5724180"/>
            <a:ext cx="1005480" cy="3106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defTabSz="457200">
              <a:lnSpc>
                <a:spcPct val="100000"/>
              </a:lnSpc>
            </a:pPr>
            <a:r>
              <a:rPr lang="en-US" sz="1500" b="1" i="1" u="none" strike="noStrike" dirty="0">
                <a:solidFill>
                  <a:srgbClr val="C0201B"/>
                </a:solidFill>
                <a:effectLst/>
                <a:uFillTx/>
                <a:latin typeface="Calibri"/>
              </a:rPr>
              <a:t>MR</a:t>
            </a:r>
            <a:endParaRPr lang="en-US" sz="1500" b="0" u="none" strike="noStrike" dirty="0">
              <a:solidFill>
                <a:srgbClr val="000000"/>
              </a:solidFill>
              <a:effectLst/>
              <a:uFillTx/>
              <a:latin typeface="Arial"/>
            </a:endParaRPr>
          </a:p>
        </p:txBody>
      </p:sp>
      <p:sp>
        <p:nvSpPr>
          <p:cNvPr id="186" name="CLK02"/>
          <p:cNvSpPr/>
          <p:nvPr/>
        </p:nvSpPr>
        <p:spPr>
          <a:xfrm>
            <a:off x="914400" y="4160520"/>
            <a:ext cx="6089400" cy="1608120"/>
          </a:xfrm>
          <a:custGeom>
            <a:avLst/>
            <a:gdLst>
              <a:gd name="textAreaLeft" fmla="*/ 0 w 6089400"/>
              <a:gd name="textAreaRight" fmla="*/ 6089760 w 6089400"/>
              <a:gd name="textAreaTop" fmla="*/ 0 h 1608120"/>
              <a:gd name="textAreaBottom" fmla="*/ 1608480 h 1608120"/>
            </a:gdLst>
            <a:ahLst/>
            <a:cxnLst/>
            <a:rect l="textAreaLeft" t="textAreaTop" r="textAreaRight" b="textAreaBottom"/>
            <a:pathLst>
              <a:path w="6089904" h="1608513">
                <a:moveTo>
                  <a:pt x="0" y="1608513"/>
                </a:moveTo>
                <a:lnTo>
                  <a:pt x="6089904" y="0"/>
                </a:lnTo>
              </a:path>
            </a:pathLst>
          </a:custGeom>
          <a:noFill/>
          <a:ln w="38100" cap="rnd">
            <a:solidFill>
              <a:srgbClr val="3E77C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87" name="CLK02"/>
          <p:cNvSpPr/>
          <p:nvPr/>
        </p:nvSpPr>
        <p:spPr>
          <a:xfrm>
            <a:off x="6937560" y="3809880"/>
            <a:ext cx="914040" cy="3106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defTabSz="457200">
              <a:lnSpc>
                <a:spcPct val="100000"/>
              </a:lnSpc>
            </a:pPr>
            <a:r>
              <a:rPr lang="en-US" sz="1600" b="1" i="1" u="none" strike="noStrike" dirty="0">
                <a:solidFill>
                  <a:srgbClr val="3E77C0"/>
                </a:solidFill>
                <a:effectLst/>
                <a:uFillTx/>
                <a:latin typeface="Calibri"/>
              </a:rPr>
              <a:t>MC</a:t>
            </a:r>
            <a:endParaRPr lang="en-US" sz="1600" b="0" u="none" strike="noStrike" dirty="0">
              <a:solidFill>
                <a:srgbClr val="000000"/>
              </a:solidFill>
              <a:effectLst/>
              <a:uFillTx/>
              <a:latin typeface="Arial"/>
            </a:endParaRPr>
          </a:p>
        </p:txBody>
      </p:sp>
      <p:cxnSp>
        <p:nvCxnSpPr>
          <p:cNvPr id="188" name="CLK03"/>
          <p:cNvCxnSpPr/>
          <p:nvPr/>
        </p:nvCxnSpPr>
        <p:spPr>
          <a:xfrm>
            <a:off x="3350160" y="3838680"/>
            <a:ext cx="720" cy="2287800"/>
          </a:xfrm>
          <a:prstGeom prst="straightConnector1">
            <a:avLst/>
          </a:prstGeom>
          <a:ln w="15240">
            <a:solidFill>
              <a:srgbClr val="0B2B4E"/>
            </a:solidFill>
            <a:prstDash val="dash"/>
            <a:round/>
          </a:ln>
        </p:spPr>
      </p:cxnSp>
      <p:cxnSp>
        <p:nvCxnSpPr>
          <p:cNvPr id="189" name="CLK03"/>
          <p:cNvCxnSpPr/>
          <p:nvPr/>
        </p:nvCxnSpPr>
        <p:spPr>
          <a:xfrm>
            <a:off x="914400" y="3838680"/>
            <a:ext cx="2436120" cy="720"/>
          </a:xfrm>
          <a:prstGeom prst="straightConnector1">
            <a:avLst/>
          </a:prstGeom>
          <a:ln w="12700">
            <a:solidFill>
              <a:srgbClr val="0B2B4E"/>
            </a:solidFill>
            <a:prstDash val="dash"/>
            <a:round/>
          </a:ln>
        </p:spPr>
      </p:cxnSp>
      <p:cxnSp>
        <p:nvCxnSpPr>
          <p:cNvPr id="190" name="CLK06"/>
          <p:cNvCxnSpPr/>
          <p:nvPr/>
        </p:nvCxnSpPr>
        <p:spPr>
          <a:xfrm>
            <a:off x="914400" y="4696560"/>
            <a:ext cx="4060080" cy="720"/>
          </a:xfrm>
          <a:prstGeom prst="straightConnector1">
            <a:avLst/>
          </a:prstGeom>
          <a:ln w="12700">
            <a:solidFill>
              <a:srgbClr val="0B2B4E"/>
            </a:solidFill>
            <a:prstDash val="dash"/>
            <a:round/>
          </a:ln>
        </p:spPr>
      </p:cxnSp>
      <p:cxnSp>
        <p:nvCxnSpPr>
          <p:cNvPr id="191" name="CLK06"/>
          <p:cNvCxnSpPr/>
          <p:nvPr/>
        </p:nvCxnSpPr>
        <p:spPr>
          <a:xfrm>
            <a:off x="4974120" y="4696560"/>
            <a:ext cx="720" cy="1429920"/>
          </a:xfrm>
          <a:prstGeom prst="straightConnector1">
            <a:avLst/>
          </a:prstGeom>
          <a:ln w="12700">
            <a:solidFill>
              <a:srgbClr val="0B2B4E"/>
            </a:solidFill>
            <a:prstDash val="dash"/>
            <a:round/>
          </a:ln>
        </p:spPr>
      </p:cxnSp>
      <p:sp>
        <p:nvSpPr>
          <p:cNvPr id="192" name="CLK03"/>
          <p:cNvSpPr/>
          <p:nvPr/>
        </p:nvSpPr>
        <p:spPr>
          <a:xfrm>
            <a:off x="3295440" y="3783960"/>
            <a:ext cx="109440" cy="109440"/>
          </a:xfrm>
          <a:prstGeom prst="ellipse">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2760" rIns="90000" bIns="32760" anchor="ctr">
            <a:noAutofit/>
          </a:bodyPr>
          <a:lstStyle/>
          <a:p>
            <a:endParaRPr lang="en-US" sz="1800" b="0" u="none" strike="noStrike">
              <a:solidFill>
                <a:schemeClr val="lt1"/>
              </a:solidFill>
              <a:effectLst/>
              <a:uFillTx/>
              <a:latin typeface="Calibri"/>
            </a:endParaRPr>
          </a:p>
        </p:txBody>
      </p:sp>
      <p:sp>
        <p:nvSpPr>
          <p:cNvPr id="193" name="CLK06"/>
          <p:cNvSpPr/>
          <p:nvPr/>
        </p:nvSpPr>
        <p:spPr>
          <a:xfrm>
            <a:off x="4919400" y="4641840"/>
            <a:ext cx="109440" cy="109440"/>
          </a:xfrm>
          <a:prstGeom prst="ellipse">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2760" rIns="90000" bIns="32760" anchor="ctr">
            <a:noAutofit/>
          </a:bodyPr>
          <a:lstStyle/>
          <a:p>
            <a:endParaRPr lang="en-US" sz="1800" b="0" u="none" strike="noStrike">
              <a:solidFill>
                <a:schemeClr val="lt1"/>
              </a:solidFill>
              <a:effectLst/>
              <a:uFillTx/>
              <a:latin typeface="Calibri"/>
            </a:endParaRPr>
          </a:p>
        </p:txBody>
      </p:sp>
      <p:sp>
        <p:nvSpPr>
          <p:cNvPr id="194" name="CLK00"/>
          <p:cNvSpPr/>
          <p:nvPr/>
        </p:nvSpPr>
        <p:spPr>
          <a:xfrm>
            <a:off x="284947" y="2352270"/>
            <a:ext cx="868320" cy="2923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chorCtr="1">
            <a:spAutoFit/>
          </a:bodyPr>
          <a:lstStyle/>
          <a:p>
            <a:pPr algn="r" defTabSz="457200">
              <a:lnSpc>
                <a:spcPct val="100000"/>
              </a:lnSpc>
            </a:pPr>
            <a:r>
              <a:rPr lang="en-US" sz="1600" b="0" i="1" u="none" strike="noStrike">
                <a:solidFill>
                  <a:srgbClr val="0B2B4E"/>
                </a:solidFill>
                <a:effectLst/>
                <a:uFillTx/>
                <a:latin typeface="Cambria Math"/>
              </a:rPr>
              <a:t>P</a:t>
            </a:r>
            <a:r>
              <a:rPr lang="en-US" sz="1000" b="0" u="none" strike="noStrike" baseline="-25000">
                <a:solidFill>
                  <a:srgbClr val="0B2B4E"/>
                </a:solidFill>
                <a:effectLst/>
                <a:uFillTx/>
                <a:latin typeface="Cambria Math"/>
              </a:rPr>
              <a:t>max</a:t>
            </a:r>
            <a:endParaRPr lang="en-US" sz="1000" b="0" u="none" strike="noStrike">
              <a:solidFill>
                <a:srgbClr val="000000"/>
              </a:solidFill>
              <a:effectLst/>
              <a:uFillTx/>
              <a:latin typeface="Arial"/>
            </a:endParaRPr>
          </a:p>
        </p:txBody>
      </p:sp>
      <p:sp>
        <p:nvSpPr>
          <p:cNvPr id="195" name="CLK03"/>
          <p:cNvSpPr/>
          <p:nvPr/>
        </p:nvSpPr>
        <p:spPr>
          <a:xfrm>
            <a:off x="292320" y="3675420"/>
            <a:ext cx="868320" cy="2923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chorCtr="1">
            <a:spAutoFit/>
          </a:bodyPr>
          <a:lstStyle/>
          <a:p>
            <a:pPr algn="r" defTabSz="457200">
              <a:lnSpc>
                <a:spcPct val="100000"/>
              </a:lnSpc>
            </a:pPr>
            <a:r>
              <a:rPr lang="en-US" sz="1600" b="0" i="1" u="none" strike="noStrike" dirty="0">
                <a:solidFill>
                  <a:srgbClr val="0B2B4E"/>
                </a:solidFill>
                <a:effectLst/>
                <a:uFillTx/>
                <a:latin typeface="Cambria Math"/>
              </a:rPr>
              <a:t>P</a:t>
            </a:r>
            <a:r>
              <a:rPr lang="en-US" sz="1000" b="0" u="none" strike="noStrike" baseline="-25000" dirty="0">
                <a:solidFill>
                  <a:srgbClr val="0B2B4E"/>
                </a:solidFill>
                <a:effectLst/>
                <a:uFillTx/>
                <a:latin typeface="Cambria Math"/>
              </a:rPr>
              <a:t>M</a:t>
            </a:r>
            <a:endParaRPr lang="en-US" sz="1000" b="0" u="none" strike="noStrike" dirty="0">
              <a:solidFill>
                <a:srgbClr val="000000"/>
              </a:solidFill>
              <a:effectLst/>
              <a:uFillTx/>
              <a:latin typeface="Arial"/>
            </a:endParaRPr>
          </a:p>
        </p:txBody>
      </p:sp>
      <p:sp>
        <p:nvSpPr>
          <p:cNvPr id="196" name="CLK06"/>
          <p:cNvSpPr/>
          <p:nvPr/>
        </p:nvSpPr>
        <p:spPr>
          <a:xfrm>
            <a:off x="292320" y="4549900"/>
            <a:ext cx="868320" cy="2923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chorCtr="1">
            <a:spAutoFit/>
          </a:bodyPr>
          <a:lstStyle/>
          <a:p>
            <a:pPr algn="r" defTabSz="457200">
              <a:lnSpc>
                <a:spcPct val="100000"/>
              </a:lnSpc>
            </a:pPr>
            <a:r>
              <a:rPr lang="en-US" sz="1600" b="0" i="1" u="none" strike="noStrike" dirty="0">
                <a:solidFill>
                  <a:srgbClr val="0B2B4E"/>
                </a:solidFill>
                <a:effectLst/>
                <a:uFillTx/>
                <a:latin typeface="Cambria Math"/>
              </a:rPr>
              <a:t>P</a:t>
            </a:r>
            <a:r>
              <a:rPr lang="en-US" sz="1000" b="0" u="none" strike="noStrike" baseline="-25000" dirty="0">
                <a:solidFill>
                  <a:srgbClr val="0B2B4E"/>
                </a:solidFill>
                <a:effectLst/>
                <a:uFillTx/>
                <a:latin typeface="Cambria Math"/>
              </a:rPr>
              <a:t>C</a:t>
            </a:r>
            <a:endParaRPr lang="en-US" sz="1000" b="0" u="none" strike="noStrike" dirty="0">
              <a:solidFill>
                <a:srgbClr val="000000"/>
              </a:solidFill>
              <a:effectLst/>
              <a:uFillTx/>
              <a:latin typeface="Arial"/>
            </a:endParaRPr>
          </a:p>
        </p:txBody>
      </p:sp>
      <p:sp>
        <p:nvSpPr>
          <p:cNvPr id="197" name="CLK03"/>
          <p:cNvSpPr/>
          <p:nvPr/>
        </p:nvSpPr>
        <p:spPr>
          <a:xfrm>
            <a:off x="2893320" y="6199560"/>
            <a:ext cx="914040" cy="2739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algn="ctr" defTabSz="457200">
              <a:lnSpc>
                <a:spcPct val="100000"/>
              </a:lnSpc>
            </a:pPr>
            <a:r>
              <a:rPr lang="en-US" sz="1600" b="0" i="1" u="none" strike="noStrike">
                <a:solidFill>
                  <a:srgbClr val="0B2B4E"/>
                </a:solidFill>
                <a:effectLst/>
                <a:uFillTx/>
                <a:latin typeface="Cambria Math"/>
              </a:rPr>
              <a:t>Q</a:t>
            </a:r>
            <a:r>
              <a:rPr lang="en-US" sz="1000" b="0" u="none" strike="noStrike" baseline="-25000">
                <a:solidFill>
                  <a:srgbClr val="0B2B4E"/>
                </a:solidFill>
                <a:effectLst/>
                <a:uFillTx/>
                <a:latin typeface="Cambria Math"/>
              </a:rPr>
              <a:t>M</a:t>
            </a:r>
            <a:endParaRPr lang="en-US" sz="1000" b="0" u="none" strike="noStrike">
              <a:solidFill>
                <a:srgbClr val="000000"/>
              </a:solidFill>
              <a:effectLst/>
              <a:uFillTx/>
              <a:latin typeface="Arial"/>
            </a:endParaRPr>
          </a:p>
        </p:txBody>
      </p:sp>
      <p:sp>
        <p:nvSpPr>
          <p:cNvPr id="198" name="CLK06"/>
          <p:cNvSpPr/>
          <p:nvPr/>
        </p:nvSpPr>
        <p:spPr>
          <a:xfrm>
            <a:off x="4517280" y="6199560"/>
            <a:ext cx="914040" cy="2739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algn="ctr" defTabSz="457200">
              <a:lnSpc>
                <a:spcPct val="100000"/>
              </a:lnSpc>
            </a:pPr>
            <a:r>
              <a:rPr lang="en-US" sz="1600" b="0" i="1" u="none" strike="noStrike">
                <a:solidFill>
                  <a:srgbClr val="0B2B4E"/>
                </a:solidFill>
                <a:effectLst/>
                <a:uFillTx/>
                <a:latin typeface="Cambria Math"/>
              </a:rPr>
              <a:t>Q</a:t>
            </a:r>
            <a:r>
              <a:rPr lang="en-US" sz="1000" b="0" u="none" strike="noStrike" baseline="-25000">
                <a:solidFill>
                  <a:srgbClr val="0B2B4E"/>
                </a:solidFill>
                <a:effectLst/>
                <a:uFillTx/>
                <a:latin typeface="Cambria Math"/>
              </a:rPr>
              <a:t>C</a:t>
            </a:r>
            <a:endParaRPr lang="en-US" sz="1000" b="0" u="none" strike="noStrike">
              <a:solidFill>
                <a:srgbClr val="000000"/>
              </a:solidFill>
              <a:effectLst/>
              <a:uFillTx/>
              <a:latin typeface="Arial"/>
            </a:endParaRPr>
          </a:p>
        </p:txBody>
      </p:sp>
      <p:sp>
        <p:nvSpPr>
          <p:cNvPr id="199" name="CLK04"/>
          <p:cNvSpPr/>
          <p:nvPr/>
        </p:nvSpPr>
        <p:spPr>
          <a:xfrm>
            <a:off x="2064600" y="2337480"/>
            <a:ext cx="265140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300" b="1" u="none" strike="noStrike">
                <a:solidFill>
                  <a:srgbClr val="2E5B8A"/>
                </a:solidFill>
                <a:effectLst/>
                <a:uFillTx/>
                <a:latin typeface="Calibri"/>
              </a:rPr>
              <a:t>Consumer surplus under monopoly</a:t>
            </a:r>
            <a:endParaRPr lang="en-US" sz="1300" b="0" u="none" strike="noStrike">
              <a:solidFill>
                <a:srgbClr val="000000"/>
              </a:solidFill>
              <a:effectLst/>
              <a:uFillTx/>
              <a:latin typeface="Arial"/>
            </a:endParaRPr>
          </a:p>
        </p:txBody>
      </p:sp>
      <p:cxnSp>
        <p:nvCxnSpPr>
          <p:cNvPr id="200" name="CLK04"/>
          <p:cNvCxnSpPr/>
          <p:nvPr/>
        </p:nvCxnSpPr>
        <p:spPr>
          <a:xfrm flipH="1">
            <a:off x="1523160" y="2694960"/>
            <a:ext cx="677160" cy="500760"/>
          </a:xfrm>
          <a:prstGeom prst="straightConnector1">
            <a:avLst/>
          </a:prstGeom>
          <a:ln w="20320">
            <a:solidFill>
              <a:srgbClr val="1A1A1A"/>
            </a:solidFill>
            <a:round/>
            <a:tailEnd type="triangle" w="med" len="med"/>
          </a:ln>
        </p:spPr>
      </p:cxnSp>
      <p:sp>
        <p:nvSpPr>
          <p:cNvPr id="201" name="CLK05"/>
          <p:cNvSpPr/>
          <p:nvPr/>
        </p:nvSpPr>
        <p:spPr>
          <a:xfrm>
            <a:off x="3418200" y="2909520"/>
            <a:ext cx="29257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300" b="1" u="none" strike="noStrike">
                <a:solidFill>
                  <a:srgbClr val="7A6A3A"/>
                </a:solidFill>
                <a:effectLst/>
                <a:uFillTx/>
                <a:latin typeface="Calibri"/>
              </a:rPr>
              <a:t>Producer surplus under monopoly</a:t>
            </a:r>
            <a:endParaRPr lang="en-US" sz="1300" b="0" u="none" strike="noStrike">
              <a:solidFill>
                <a:srgbClr val="000000"/>
              </a:solidFill>
              <a:effectLst/>
              <a:uFillTx/>
              <a:latin typeface="Arial"/>
            </a:endParaRPr>
          </a:p>
        </p:txBody>
      </p:sp>
      <p:cxnSp>
        <p:nvCxnSpPr>
          <p:cNvPr id="202" name="CLK05"/>
          <p:cNvCxnSpPr/>
          <p:nvPr/>
        </p:nvCxnSpPr>
        <p:spPr>
          <a:xfrm flipH="1">
            <a:off x="2064600" y="3123720"/>
            <a:ext cx="1421280" cy="1358640"/>
          </a:xfrm>
          <a:prstGeom prst="straightConnector1">
            <a:avLst/>
          </a:prstGeom>
          <a:ln w="20320">
            <a:solidFill>
              <a:srgbClr val="1A1A1A"/>
            </a:solidFill>
            <a:round/>
            <a:tailEnd type="triangle" w="med" len="med"/>
          </a:ln>
        </p:spPr>
      </p:cxnSp>
      <p:sp>
        <p:nvSpPr>
          <p:cNvPr id="203" name="CLK07"/>
          <p:cNvSpPr/>
          <p:nvPr/>
        </p:nvSpPr>
        <p:spPr>
          <a:xfrm>
            <a:off x="4230000" y="3481200"/>
            <a:ext cx="310860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300" b="1" u="none" strike="noStrike">
                <a:solidFill>
                  <a:srgbClr val="E8332A"/>
                </a:solidFill>
                <a:effectLst/>
                <a:uFillTx/>
                <a:latin typeface="Calibri"/>
              </a:rPr>
              <a:t>Deadweight loss under monopoly</a:t>
            </a:r>
            <a:endParaRPr lang="en-US" sz="1300" b="0" u="none" strike="noStrike">
              <a:solidFill>
                <a:srgbClr val="000000"/>
              </a:solidFill>
              <a:effectLst/>
              <a:uFillTx/>
              <a:latin typeface="Arial"/>
            </a:endParaRPr>
          </a:p>
        </p:txBody>
      </p:sp>
      <p:cxnSp>
        <p:nvCxnSpPr>
          <p:cNvPr id="204" name="CLK07"/>
          <p:cNvCxnSpPr/>
          <p:nvPr/>
        </p:nvCxnSpPr>
        <p:spPr>
          <a:xfrm flipH="1">
            <a:off x="3891600" y="3659760"/>
            <a:ext cx="812160" cy="786960"/>
          </a:xfrm>
          <a:prstGeom prst="straightConnector1">
            <a:avLst/>
          </a:prstGeom>
          <a:ln w="20320">
            <a:solidFill>
              <a:srgbClr val="1A1A1A"/>
            </a:solidFill>
            <a:round/>
            <a:tailEnd type="triangle" w="med" len="med"/>
          </a:ln>
        </p:spPr>
      </p:cxnSp>
      <p:sp>
        <p:nvSpPr>
          <p:cNvPr id="205" name="CLK08"/>
          <p:cNvSpPr/>
          <p:nvPr/>
        </p:nvSpPr>
        <p:spPr>
          <a:xfrm>
            <a:off x="8222040" y="2095200"/>
            <a:ext cx="3474360" cy="456840"/>
          </a:xfrm>
          <a:prstGeom prst="roundRect">
            <a:avLst>
              <a:gd name="adj" fmla="val 16667"/>
            </a:avLst>
          </a:prstGeom>
          <a:solidFill>
            <a:srgbClr val="FFFFFF"/>
          </a:solidFill>
          <a:ln w="19050">
            <a:solidFill>
              <a:srgbClr val="E09F3E"/>
            </a:solidFill>
            <a:round/>
          </a:ln>
          <a:effectLst>
            <a:outerShdw blurRad="39960" dist="24840" dir="5400000" rotWithShape="0">
              <a:srgbClr val="000000">
                <a:alpha val="30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r>
              <a:rPr lang="en-US" sz="1500" b="1" i="1" u="none" strike="noStrike">
                <a:solidFill>
                  <a:srgbClr val="0B2B4E"/>
                </a:solidFill>
                <a:effectLst/>
                <a:uFillTx/>
                <a:latin typeface="Calibri"/>
              </a:rPr>
              <a:t>Problem Set 4  ·  #2</a:t>
            </a:r>
            <a:endParaRPr lang="en-US" sz="1500" b="0" u="none" strike="noStrike">
              <a:solidFill>
                <a:srgbClr val="000000"/>
              </a:solidFill>
              <a:effectLst/>
              <a:uFillTx/>
              <a:latin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9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8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8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8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8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8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9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9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9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79"/>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99"/>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0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80"/>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01"/>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0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90"/>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91"/>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93"/>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196"/>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198"/>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81"/>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203"/>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204"/>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2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Rectangle 1"/>
          <p:cNvSpPr/>
          <p:nvPr/>
        </p:nvSpPr>
        <p:spPr>
          <a:xfrm>
            <a:off x="0" y="0"/>
            <a:ext cx="12191400" cy="383760"/>
          </a:xfrm>
          <a:prstGeom prst="rect">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07" name="TextBox 2"/>
          <p:cNvSpPr/>
          <p:nvPr/>
        </p:nvSpPr>
        <p:spPr>
          <a:xfrm>
            <a:off x="255960" y="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FFFFFF"/>
                </a:solidFill>
                <a:effectLst/>
                <a:uFillTx/>
                <a:latin typeface="Calibri"/>
              </a:rPr>
              <a:t>Monopoly &amp; Monopolistic Competition · Monopoly &amp; Welfare</a:t>
            </a:r>
            <a:endParaRPr lang="en-US" sz="1600" b="0" u="none" strike="noStrike">
              <a:solidFill>
                <a:srgbClr val="000000"/>
              </a:solidFill>
              <a:effectLst/>
              <a:uFillTx/>
              <a:latin typeface="Arial"/>
            </a:endParaRPr>
          </a:p>
        </p:txBody>
      </p:sp>
      <p:sp>
        <p:nvSpPr>
          <p:cNvPr id="208" name="TextBox 3"/>
          <p:cNvSpPr/>
          <p:nvPr/>
        </p:nvSpPr>
        <p:spPr>
          <a:xfrm>
            <a:off x="255960" y="457200"/>
            <a:ext cx="1168560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3200" b="1" u="none" strike="noStrike">
                <a:solidFill>
                  <a:srgbClr val="0B2B4E"/>
                </a:solidFill>
                <a:effectLst/>
                <a:uFillTx/>
                <a:latin typeface="Calibri"/>
              </a:rPr>
              <a:t>Monopoly: Take-aways</a:t>
            </a:r>
            <a:endParaRPr lang="en-US" sz="3200" b="0" u="none" strike="noStrike">
              <a:solidFill>
                <a:srgbClr val="000000"/>
              </a:solidFill>
              <a:effectLst/>
              <a:uFillTx/>
              <a:latin typeface="Arial"/>
            </a:endParaRPr>
          </a:p>
        </p:txBody>
      </p:sp>
      <p:sp>
        <p:nvSpPr>
          <p:cNvPr id="209" name="Rectangle 4"/>
          <p:cNvSpPr/>
          <p:nvPr/>
        </p:nvSpPr>
        <p:spPr>
          <a:xfrm>
            <a:off x="255960" y="1143000"/>
            <a:ext cx="116856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10" name="Rectangle 5"/>
          <p:cNvSpPr/>
          <p:nvPr/>
        </p:nvSpPr>
        <p:spPr>
          <a:xfrm>
            <a:off x="255960" y="11340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11" name="Rectangle 6"/>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12" name="Rectangle 7"/>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13" name="TextBox 8"/>
          <p:cNvSpPr/>
          <p:nvPr/>
        </p:nvSpPr>
        <p:spPr>
          <a:xfrm>
            <a:off x="255960" y="65836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0" u="none" strike="noStrike">
                <a:solidFill>
                  <a:srgbClr val="555B66"/>
                </a:solidFill>
                <a:effectLst/>
                <a:uFillTx/>
                <a:latin typeface="Calibri"/>
              </a:rPr>
              <a:t>Management 405  ·  Monopoly and Monopolistic Competition</a:t>
            </a:r>
            <a:endParaRPr lang="en-US" sz="1200" b="0" u="none" strike="noStrike">
              <a:solidFill>
                <a:srgbClr val="000000"/>
              </a:solidFill>
              <a:effectLst/>
              <a:uFillTx/>
              <a:latin typeface="Arial"/>
            </a:endParaRPr>
          </a:p>
        </p:txBody>
      </p:sp>
      <p:sp>
        <p:nvSpPr>
          <p:cNvPr id="214" name="TextBox 9"/>
          <p:cNvSpPr/>
          <p:nvPr/>
        </p:nvSpPr>
        <p:spPr>
          <a:xfrm>
            <a:off x="11430000" y="658368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1200" b="0" u="none" strike="noStrike">
                <a:solidFill>
                  <a:srgbClr val="555B66"/>
                </a:solidFill>
                <a:effectLst/>
                <a:uFillTx/>
                <a:latin typeface="Calibri"/>
              </a:rPr>
              <a:t>9</a:t>
            </a:r>
            <a:endParaRPr lang="en-US" sz="1200" b="0" u="none" strike="noStrike">
              <a:solidFill>
                <a:srgbClr val="000000"/>
              </a:solidFill>
              <a:effectLst/>
              <a:uFillTx/>
              <a:latin typeface="Arial"/>
            </a:endParaRPr>
          </a:p>
        </p:txBody>
      </p:sp>
      <p:sp>
        <p:nvSpPr>
          <p:cNvPr id="215" name="TXBLD_1000"/>
          <p:cNvSpPr/>
          <p:nvPr/>
        </p:nvSpPr>
        <p:spPr>
          <a:xfrm>
            <a:off x="502920" y="1920240"/>
            <a:ext cx="11155320" cy="3840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343080" indent="-343080" defTabSz="457200">
              <a:lnSpc>
                <a:spcPct val="100000"/>
              </a:lnSpc>
              <a:spcBef>
                <a:spcPts val="2200"/>
              </a:spcBef>
              <a:buClr>
                <a:srgbClr val="0B2B4E"/>
              </a:buClr>
              <a:buFont typeface="Calibri"/>
              <a:buChar char="▪"/>
            </a:pPr>
            <a:r>
              <a:rPr lang="en-US" sz="3200" b="0" u="none" strike="noStrike">
                <a:solidFill>
                  <a:srgbClr val="0B2B4E"/>
                </a:solidFill>
                <a:effectLst/>
                <a:uFillTx/>
                <a:latin typeface="Calibri"/>
              </a:rPr>
              <a:t>A monopolist restricts quantity to raise price</a:t>
            </a:r>
            <a:endParaRPr lang="en-US" sz="3200" b="0" u="none" strike="noStrike">
              <a:solidFill>
                <a:srgbClr val="000000"/>
              </a:solidFill>
              <a:effectLst/>
              <a:uFillTx/>
              <a:latin typeface="Arial"/>
            </a:endParaRPr>
          </a:p>
          <a:p>
            <a:pPr marL="685800" lvl="1" indent="-228600" defTabSz="457200">
              <a:lnSpc>
                <a:spcPct val="100000"/>
              </a:lnSpc>
              <a:spcBef>
                <a:spcPts val="601"/>
              </a:spcBef>
              <a:buClr>
                <a:srgbClr val="555B66"/>
              </a:buClr>
              <a:buFont typeface="Calibri"/>
              <a:buChar char="–"/>
            </a:pPr>
            <a:r>
              <a:rPr lang="en-US" sz="2800" b="0" u="none" strike="noStrike">
                <a:solidFill>
                  <a:srgbClr val="555B66"/>
                </a:solidFill>
                <a:effectLst/>
                <a:uFillTx/>
                <a:latin typeface="Calibri"/>
              </a:rPr>
              <a:t>Higher profits for the firm</a:t>
            </a:r>
            <a:endParaRPr lang="en-US" sz="2800" b="0" u="none" strike="noStrike">
              <a:solidFill>
                <a:srgbClr val="000000"/>
              </a:solidFill>
              <a:effectLst/>
              <a:uFillTx/>
              <a:latin typeface="Arial"/>
            </a:endParaRPr>
          </a:p>
          <a:p>
            <a:pPr marL="685800" lvl="1" indent="-228600" defTabSz="457200">
              <a:lnSpc>
                <a:spcPct val="100000"/>
              </a:lnSpc>
              <a:spcBef>
                <a:spcPts val="601"/>
              </a:spcBef>
              <a:buClr>
                <a:srgbClr val="555B66"/>
              </a:buClr>
              <a:buFont typeface="Calibri"/>
              <a:buChar char="–"/>
            </a:pPr>
            <a:r>
              <a:rPr lang="en-US" sz="2800" b="0" u="none" strike="noStrike">
                <a:solidFill>
                  <a:srgbClr val="555B66"/>
                </a:solidFill>
                <a:effectLst/>
                <a:uFillTx/>
                <a:latin typeface="Calibri"/>
              </a:rPr>
              <a:t>Smaller consumer surplus</a:t>
            </a:r>
            <a:endParaRPr lang="en-US" sz="2800" b="0" u="none" strike="noStrike">
              <a:solidFill>
                <a:srgbClr val="000000"/>
              </a:solidFill>
              <a:effectLst/>
              <a:uFillTx/>
              <a:latin typeface="Arial"/>
            </a:endParaRPr>
          </a:p>
          <a:p>
            <a:pPr marL="685800" lvl="1" indent="-228600" defTabSz="457200">
              <a:lnSpc>
                <a:spcPct val="100000"/>
              </a:lnSpc>
              <a:spcBef>
                <a:spcPts val="601"/>
              </a:spcBef>
              <a:buClr>
                <a:srgbClr val="555B66"/>
              </a:buClr>
              <a:buFont typeface="Calibri"/>
              <a:buChar char="–"/>
            </a:pPr>
            <a:r>
              <a:rPr lang="en-US" sz="2800" b="0" u="none" strike="noStrike">
                <a:solidFill>
                  <a:srgbClr val="555B66"/>
                </a:solidFill>
                <a:effectLst/>
                <a:uFillTx/>
                <a:latin typeface="Calibri"/>
              </a:rPr>
              <a:t>Lower total welfare — a </a:t>
            </a:r>
            <a:r>
              <a:rPr lang="en-US" sz="2800" b="1" u="none" strike="noStrike">
                <a:solidFill>
                  <a:srgbClr val="0070C0"/>
                </a:solidFill>
                <a:effectLst/>
                <a:uFillTx/>
                <a:latin typeface="Calibri"/>
              </a:rPr>
              <a:t>deadweight loss</a:t>
            </a:r>
            <a:endParaRPr lang="en-US" sz="2800" b="0" u="none" strike="noStrike">
              <a:solidFill>
                <a:srgbClr val="000000"/>
              </a:solidFill>
              <a:effectLst/>
              <a:uFillTx/>
              <a:latin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1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1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1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 name="Rectangle 1"/>
          <p:cNvSpPr/>
          <p:nvPr/>
        </p:nvSpPr>
        <p:spPr>
          <a:xfrm>
            <a:off x="0" y="0"/>
            <a:ext cx="12191400" cy="383760"/>
          </a:xfrm>
          <a:prstGeom prst="rect">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17" name="TextBox 2"/>
          <p:cNvSpPr/>
          <p:nvPr/>
        </p:nvSpPr>
        <p:spPr>
          <a:xfrm>
            <a:off x="255960" y="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FFFFFF"/>
                </a:solidFill>
                <a:effectLst/>
                <a:uFillTx/>
                <a:latin typeface="Calibri"/>
              </a:rPr>
              <a:t>Monopoly &amp; Monopolistic Competition · Monopoly &amp; Welfare</a:t>
            </a:r>
            <a:endParaRPr lang="en-US" sz="1600" b="0" u="none" strike="noStrike">
              <a:solidFill>
                <a:srgbClr val="000000"/>
              </a:solidFill>
              <a:effectLst/>
              <a:uFillTx/>
              <a:latin typeface="Arial"/>
            </a:endParaRPr>
          </a:p>
        </p:txBody>
      </p:sp>
      <p:sp>
        <p:nvSpPr>
          <p:cNvPr id="218" name="TextBox 3"/>
          <p:cNvSpPr/>
          <p:nvPr/>
        </p:nvSpPr>
        <p:spPr>
          <a:xfrm>
            <a:off x="255960" y="457200"/>
            <a:ext cx="1168560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3200" b="1" u="none" strike="noStrike">
                <a:solidFill>
                  <a:srgbClr val="0B2B4E"/>
                </a:solidFill>
                <a:effectLst/>
                <a:uFillTx/>
                <a:latin typeface="Calibri"/>
              </a:rPr>
              <a:t>Concentration in Health Care</a:t>
            </a:r>
            <a:endParaRPr lang="en-US" sz="3200" b="0" u="none" strike="noStrike">
              <a:solidFill>
                <a:srgbClr val="000000"/>
              </a:solidFill>
              <a:effectLst/>
              <a:uFillTx/>
              <a:latin typeface="Arial"/>
            </a:endParaRPr>
          </a:p>
        </p:txBody>
      </p:sp>
      <p:sp>
        <p:nvSpPr>
          <p:cNvPr id="219" name="Rectangle 4"/>
          <p:cNvSpPr/>
          <p:nvPr/>
        </p:nvSpPr>
        <p:spPr>
          <a:xfrm>
            <a:off x="255960" y="1143000"/>
            <a:ext cx="116856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20" name="Rectangle 5"/>
          <p:cNvSpPr/>
          <p:nvPr/>
        </p:nvSpPr>
        <p:spPr>
          <a:xfrm>
            <a:off x="255960" y="11340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21" name="Rectangle 6"/>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22" name="Rectangle 7"/>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23" name="TextBox 8"/>
          <p:cNvSpPr/>
          <p:nvPr/>
        </p:nvSpPr>
        <p:spPr>
          <a:xfrm>
            <a:off x="255960" y="65836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0" u="none" strike="noStrike">
                <a:solidFill>
                  <a:srgbClr val="555B66"/>
                </a:solidFill>
                <a:effectLst/>
                <a:uFillTx/>
                <a:latin typeface="Calibri"/>
              </a:rPr>
              <a:t>Management 405  ·  Monopoly and Monopolistic Competition</a:t>
            </a:r>
            <a:endParaRPr lang="en-US" sz="1200" b="0" u="none" strike="noStrike">
              <a:solidFill>
                <a:srgbClr val="000000"/>
              </a:solidFill>
              <a:effectLst/>
              <a:uFillTx/>
              <a:latin typeface="Arial"/>
            </a:endParaRPr>
          </a:p>
        </p:txBody>
      </p:sp>
      <p:sp>
        <p:nvSpPr>
          <p:cNvPr id="224" name="TextBox 9"/>
          <p:cNvSpPr/>
          <p:nvPr/>
        </p:nvSpPr>
        <p:spPr>
          <a:xfrm>
            <a:off x="11430000" y="658368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1200" b="0" u="none" strike="noStrike">
                <a:solidFill>
                  <a:srgbClr val="555B66"/>
                </a:solidFill>
                <a:effectLst/>
                <a:uFillTx/>
                <a:latin typeface="Calibri"/>
              </a:rPr>
              <a:t>10</a:t>
            </a:r>
            <a:endParaRPr lang="en-US" sz="1200" b="0" u="none" strike="noStrike">
              <a:solidFill>
                <a:srgbClr val="000000"/>
              </a:solidFill>
              <a:effectLst/>
              <a:uFillTx/>
              <a:latin typeface="Arial"/>
            </a:endParaRPr>
          </a:p>
        </p:txBody>
      </p:sp>
      <p:sp>
        <p:nvSpPr>
          <p:cNvPr id="225" name="CLK00" descr="s10_2_128927.png"/>
          <p:cNvSpPr/>
          <p:nvPr/>
        </p:nvSpPr>
        <p:spPr>
          <a:xfrm>
            <a:off x="640080" y="1600200"/>
            <a:ext cx="4469400" cy="4297320"/>
          </a:xfrm>
          <a:prstGeom prst="roundRect">
            <a:avLst>
              <a:gd name="adj" fmla="val 6000"/>
            </a:avLst>
          </a:prstGeom>
          <a:blipFill rotWithShape="0">
            <a:blip r:embed="rId3"/>
            <a:srcRect/>
            <a:stretch/>
          </a:blipFill>
          <a:ln w="0">
            <a:noFill/>
          </a:ln>
          <a:effectLst>
            <a:outerShdw blurRad="39960" dist="24840" dir="5400000" rotWithShape="0">
              <a:srgbClr val="000000">
                <a:alpha val="3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26" name="CLK01" descr="sm_s10_0_95518.jpg"/>
          <p:cNvSpPr/>
          <p:nvPr/>
        </p:nvSpPr>
        <p:spPr>
          <a:xfrm>
            <a:off x="6126480" y="2011680"/>
            <a:ext cx="5486040" cy="2985840"/>
          </a:xfrm>
          <a:prstGeom prst="roundRect">
            <a:avLst>
              <a:gd name="adj" fmla="val 6000"/>
            </a:avLst>
          </a:prstGeom>
          <a:blipFill rotWithShape="0">
            <a:blip r:embed="rId4"/>
            <a:srcRect/>
            <a:stretch/>
          </a:blipFill>
          <a:ln w="0">
            <a:noFill/>
          </a:ln>
          <a:effectLst>
            <a:outerShdw blurRad="39960" dist="24840" dir="5400000" rotWithShape="0">
              <a:srgbClr val="000000">
                <a:alpha val="3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27" name="TextBox 12"/>
          <p:cNvSpPr/>
          <p:nvPr/>
        </p:nvSpPr>
        <p:spPr>
          <a:xfrm>
            <a:off x="640080" y="6144840"/>
            <a:ext cx="10515240" cy="3196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en-US" sz="1100" b="0" i="1" u="none" strike="noStrike">
                <a:solidFill>
                  <a:srgbClr val="555B66"/>
                </a:solidFill>
                <a:effectLst/>
                <a:uFillTx/>
                <a:latin typeface="Calibri"/>
              </a:rPr>
              <a:t>Source: </a:t>
            </a:r>
            <a:r>
              <a:rPr lang="en-US" sz="1100" b="0" i="1" u="sng" strike="noStrike">
                <a:solidFill>
                  <a:srgbClr val="0000FF"/>
                </a:solidFill>
                <a:effectLst/>
                <a:uFillTx/>
                <a:latin typeface="Calibri"/>
                <a:hlinkClick r:id="rId5"/>
              </a:rPr>
              <a:t>concentrationcrisis.openmarketsinstitute.org</a:t>
            </a:r>
            <a:endParaRPr lang="en-US" sz="1100" b="0" u="none" strike="noStrike">
              <a:solidFill>
                <a:srgbClr val="000000"/>
              </a:solidFill>
              <a:effectLst/>
              <a:uFillTx/>
              <a:latin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 name="Rectangle 1"/>
          <p:cNvSpPr/>
          <p:nvPr/>
        </p:nvSpPr>
        <p:spPr>
          <a:xfrm>
            <a:off x="0" y="0"/>
            <a:ext cx="12191400" cy="383760"/>
          </a:xfrm>
          <a:prstGeom prst="rect">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29" name="TextBox 2"/>
          <p:cNvSpPr/>
          <p:nvPr/>
        </p:nvSpPr>
        <p:spPr>
          <a:xfrm>
            <a:off x="255960" y="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FFFFFF"/>
                </a:solidFill>
                <a:effectLst/>
                <a:uFillTx/>
                <a:latin typeface="Calibri"/>
              </a:rPr>
              <a:t>Monopoly &amp; Monopolistic Competition · Monopoly &amp; Welfare</a:t>
            </a:r>
            <a:endParaRPr lang="en-US" sz="1600" b="0" u="none" strike="noStrike">
              <a:solidFill>
                <a:srgbClr val="000000"/>
              </a:solidFill>
              <a:effectLst/>
              <a:uFillTx/>
              <a:latin typeface="Arial"/>
            </a:endParaRPr>
          </a:p>
        </p:txBody>
      </p:sp>
      <p:sp>
        <p:nvSpPr>
          <p:cNvPr id="230" name="TextBox 3"/>
          <p:cNvSpPr/>
          <p:nvPr/>
        </p:nvSpPr>
        <p:spPr>
          <a:xfrm>
            <a:off x="255960" y="457200"/>
            <a:ext cx="1168560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3200" b="1" u="none" strike="noStrike">
                <a:solidFill>
                  <a:srgbClr val="0B2B4E"/>
                </a:solidFill>
                <a:effectLst/>
                <a:uFillTx/>
                <a:latin typeface="Calibri"/>
              </a:rPr>
              <a:t>Ultra-Low-Cost Carriers Discipline Prices</a:t>
            </a:r>
            <a:endParaRPr lang="en-US" sz="3200" b="0" u="none" strike="noStrike">
              <a:solidFill>
                <a:srgbClr val="000000"/>
              </a:solidFill>
              <a:effectLst/>
              <a:uFillTx/>
              <a:latin typeface="Arial"/>
            </a:endParaRPr>
          </a:p>
        </p:txBody>
      </p:sp>
      <p:sp>
        <p:nvSpPr>
          <p:cNvPr id="231" name="Rectangle 4"/>
          <p:cNvSpPr/>
          <p:nvPr/>
        </p:nvSpPr>
        <p:spPr>
          <a:xfrm>
            <a:off x="255960" y="1143000"/>
            <a:ext cx="116856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32" name="Rectangle 5"/>
          <p:cNvSpPr/>
          <p:nvPr/>
        </p:nvSpPr>
        <p:spPr>
          <a:xfrm>
            <a:off x="255960" y="11340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33" name="Rectangle 6"/>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34" name="Rectangle 7"/>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35" name="TextBox 8"/>
          <p:cNvSpPr/>
          <p:nvPr/>
        </p:nvSpPr>
        <p:spPr>
          <a:xfrm>
            <a:off x="255960" y="65836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0" u="none" strike="noStrike">
                <a:solidFill>
                  <a:srgbClr val="555B66"/>
                </a:solidFill>
                <a:effectLst/>
                <a:uFillTx/>
                <a:latin typeface="Calibri"/>
              </a:rPr>
              <a:t>Management 405  ·  Monopoly and Monopolistic Competition</a:t>
            </a:r>
            <a:endParaRPr lang="en-US" sz="1200" b="0" u="none" strike="noStrike">
              <a:solidFill>
                <a:srgbClr val="000000"/>
              </a:solidFill>
              <a:effectLst/>
              <a:uFillTx/>
              <a:latin typeface="Arial"/>
            </a:endParaRPr>
          </a:p>
        </p:txBody>
      </p:sp>
      <p:sp>
        <p:nvSpPr>
          <p:cNvPr id="236" name="TextBox 9"/>
          <p:cNvSpPr/>
          <p:nvPr/>
        </p:nvSpPr>
        <p:spPr>
          <a:xfrm>
            <a:off x="11430000" y="658368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1200" b="0" u="none" strike="noStrike">
                <a:solidFill>
                  <a:srgbClr val="555B66"/>
                </a:solidFill>
                <a:effectLst/>
                <a:uFillTx/>
                <a:latin typeface="Calibri"/>
              </a:rPr>
              <a:t>11</a:t>
            </a:r>
            <a:endParaRPr lang="en-US" sz="1200" b="0" u="none" strike="noStrike">
              <a:solidFill>
                <a:srgbClr val="000000"/>
              </a:solidFill>
              <a:effectLst/>
              <a:uFillTx/>
              <a:latin typeface="Arial"/>
            </a:endParaRPr>
          </a:p>
        </p:txBody>
      </p:sp>
      <p:sp>
        <p:nvSpPr>
          <p:cNvPr id="237" name="Picture 10" descr="s11_0_91275.png"/>
          <p:cNvSpPr/>
          <p:nvPr/>
        </p:nvSpPr>
        <p:spPr>
          <a:xfrm>
            <a:off x="7680960" y="1828800"/>
            <a:ext cx="4023000" cy="2245320"/>
          </a:xfrm>
          <a:prstGeom prst="roundRect">
            <a:avLst>
              <a:gd name="adj" fmla="val 6000"/>
            </a:avLst>
          </a:prstGeom>
          <a:blipFill rotWithShape="0">
            <a:blip r:embed="rId3"/>
            <a:srcRect/>
            <a:stretch/>
          </a:blipFill>
          <a:ln w="0">
            <a:noFill/>
          </a:ln>
          <a:effectLst>
            <a:outerShdw blurRad="39960" dist="24840" dir="5400000" rotWithShape="0">
              <a:srgbClr val="000000">
                <a:alpha val="3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38" name="TextBox 11"/>
          <p:cNvSpPr/>
          <p:nvPr/>
        </p:nvSpPr>
        <p:spPr>
          <a:xfrm>
            <a:off x="502920" y="2011680"/>
            <a:ext cx="6949080" cy="365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343080" indent="-343080" defTabSz="457200">
              <a:lnSpc>
                <a:spcPct val="100000"/>
              </a:lnSpc>
              <a:spcBef>
                <a:spcPts val="2001"/>
              </a:spcBef>
              <a:buClr>
                <a:srgbClr val="0B2B4E"/>
              </a:buClr>
              <a:buFont typeface="Calibri"/>
              <a:buChar char="▪"/>
            </a:pPr>
            <a:r>
              <a:rPr lang="en-US" sz="3200" b="0" u="none" strike="noStrike">
                <a:solidFill>
                  <a:srgbClr val="0B2B4E"/>
                </a:solidFill>
                <a:effectLst/>
                <a:uFillTx/>
                <a:latin typeface="Calibri"/>
              </a:rPr>
              <a:t>Ultra-low-cost carriers (ULCCs) enter routes aggressively</a:t>
            </a:r>
            <a:endParaRPr lang="en-US" sz="3200" b="0" u="none" strike="noStrike">
              <a:solidFill>
                <a:srgbClr val="000000"/>
              </a:solidFill>
              <a:effectLst/>
              <a:uFillTx/>
              <a:latin typeface="Arial"/>
            </a:endParaRPr>
          </a:p>
          <a:p>
            <a:pPr marL="343080" indent="-343080" defTabSz="457200">
              <a:lnSpc>
                <a:spcPct val="100000"/>
              </a:lnSpc>
              <a:spcBef>
                <a:spcPts val="2001"/>
              </a:spcBef>
              <a:buClr>
                <a:srgbClr val="0B2B4E"/>
              </a:buClr>
              <a:buFont typeface="Calibri"/>
              <a:buChar char="▪"/>
            </a:pPr>
            <a:r>
              <a:rPr lang="en-US" sz="3200" b="0" u="none" strike="noStrike">
                <a:solidFill>
                  <a:srgbClr val="0B2B4E"/>
                </a:solidFill>
                <a:effectLst/>
                <a:uFillTx/>
                <a:latin typeface="Calibri"/>
              </a:rPr>
              <a:t>When a ULCC starts flying a route:</a:t>
            </a:r>
            <a:endParaRPr lang="en-US" sz="3200" b="0" u="none" strike="noStrike">
              <a:solidFill>
                <a:srgbClr val="000000"/>
              </a:solidFill>
              <a:effectLst/>
              <a:uFillTx/>
              <a:latin typeface="Arial"/>
            </a:endParaRPr>
          </a:p>
          <a:p>
            <a:pPr marL="685800" lvl="1" indent="-228600" defTabSz="457200">
              <a:lnSpc>
                <a:spcPct val="100000"/>
              </a:lnSpc>
              <a:spcBef>
                <a:spcPts val="601"/>
              </a:spcBef>
              <a:buClr>
                <a:srgbClr val="555B66"/>
              </a:buClr>
              <a:buFont typeface="Calibri"/>
              <a:buChar char="–"/>
            </a:pPr>
            <a:r>
              <a:rPr lang="en-US" sz="2800" b="0" u="none" strike="noStrike">
                <a:solidFill>
                  <a:srgbClr val="555B66"/>
                </a:solidFill>
                <a:effectLst/>
                <a:uFillTx/>
                <a:latin typeface="Calibri"/>
              </a:rPr>
              <a:t>Fares fall sharply — Chicago 23%, Newark 22%, Houston 21%, Dallas 20%, Las Vegas 20%</a:t>
            </a:r>
            <a:endParaRPr lang="en-US" sz="2800" b="0" u="none" strike="noStrike">
              <a:solidFill>
                <a:srgbClr val="000000"/>
              </a:solidFill>
              <a:effectLst/>
              <a:uFillTx/>
              <a:latin typeface="Arial"/>
            </a:endParaRPr>
          </a:p>
          <a:p>
            <a:pPr marL="685800" lvl="1" indent="-228600" defTabSz="457200">
              <a:lnSpc>
                <a:spcPct val="100000"/>
              </a:lnSpc>
              <a:spcBef>
                <a:spcPts val="601"/>
              </a:spcBef>
              <a:buClr>
                <a:srgbClr val="555B66"/>
              </a:buClr>
              <a:buFont typeface="Calibri"/>
              <a:buChar char="–"/>
            </a:pPr>
            <a:r>
              <a:rPr lang="en-US" sz="2800" b="0" u="none" strike="noStrike">
                <a:solidFill>
                  <a:srgbClr val="555B66"/>
                </a:solidFill>
                <a:effectLst/>
                <a:uFillTx/>
                <a:latin typeface="Calibri"/>
              </a:rPr>
              <a:t>Passenger numbers rise</a:t>
            </a:r>
            <a:endParaRPr lang="en-US" sz="2800" b="0" u="none" strike="noStrike">
              <a:solidFill>
                <a:srgbClr val="000000"/>
              </a:solidFill>
              <a:effectLst/>
              <a:uFillTx/>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 name="Rectangle 1"/>
          <p:cNvSpPr/>
          <p:nvPr/>
        </p:nvSpPr>
        <p:spPr>
          <a:xfrm>
            <a:off x="0" y="0"/>
            <a:ext cx="12191400" cy="383760"/>
          </a:xfrm>
          <a:prstGeom prst="rect">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40" name="TextBox 2"/>
          <p:cNvSpPr/>
          <p:nvPr/>
        </p:nvSpPr>
        <p:spPr>
          <a:xfrm>
            <a:off x="255960" y="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FFFFFF"/>
                </a:solidFill>
                <a:effectLst/>
                <a:uFillTx/>
                <a:latin typeface="Calibri"/>
              </a:rPr>
              <a:t>Monopoly &amp; Monopolistic Competition · Roadmap</a:t>
            </a:r>
            <a:endParaRPr lang="en-US" sz="1600" b="0" u="none" strike="noStrike">
              <a:solidFill>
                <a:srgbClr val="000000"/>
              </a:solidFill>
              <a:effectLst/>
              <a:uFillTx/>
              <a:latin typeface="Arial"/>
            </a:endParaRPr>
          </a:p>
        </p:txBody>
      </p:sp>
      <p:sp>
        <p:nvSpPr>
          <p:cNvPr id="241" name="TextBox 3"/>
          <p:cNvSpPr/>
          <p:nvPr/>
        </p:nvSpPr>
        <p:spPr>
          <a:xfrm>
            <a:off x="255960" y="457200"/>
            <a:ext cx="1168560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3200" b="1" u="none" strike="noStrike">
                <a:solidFill>
                  <a:srgbClr val="0B2B4E"/>
                </a:solidFill>
                <a:effectLst/>
                <a:uFillTx/>
                <a:latin typeface="Calibri"/>
              </a:rPr>
              <a:t>Outline</a:t>
            </a:r>
            <a:endParaRPr lang="en-US" sz="3200" b="0" u="none" strike="noStrike">
              <a:solidFill>
                <a:srgbClr val="000000"/>
              </a:solidFill>
              <a:effectLst/>
              <a:uFillTx/>
              <a:latin typeface="Arial"/>
            </a:endParaRPr>
          </a:p>
        </p:txBody>
      </p:sp>
      <p:sp>
        <p:nvSpPr>
          <p:cNvPr id="242" name="Rectangle 4"/>
          <p:cNvSpPr/>
          <p:nvPr/>
        </p:nvSpPr>
        <p:spPr>
          <a:xfrm>
            <a:off x="255960" y="1143000"/>
            <a:ext cx="116856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43" name="Rectangle 5"/>
          <p:cNvSpPr/>
          <p:nvPr/>
        </p:nvSpPr>
        <p:spPr>
          <a:xfrm>
            <a:off x="255960" y="11340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44" name="Rectangle 6"/>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45" name="Rectangle 7"/>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46" name="TextBox 8"/>
          <p:cNvSpPr/>
          <p:nvPr/>
        </p:nvSpPr>
        <p:spPr>
          <a:xfrm>
            <a:off x="255960" y="65836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0" u="none" strike="noStrike">
                <a:solidFill>
                  <a:srgbClr val="555B66"/>
                </a:solidFill>
                <a:effectLst/>
                <a:uFillTx/>
                <a:latin typeface="Calibri"/>
              </a:rPr>
              <a:t>Management 405  ·  Monopoly and Monopolistic Competition</a:t>
            </a:r>
            <a:endParaRPr lang="en-US" sz="1200" b="0" u="none" strike="noStrike">
              <a:solidFill>
                <a:srgbClr val="000000"/>
              </a:solidFill>
              <a:effectLst/>
              <a:uFillTx/>
              <a:latin typeface="Arial"/>
            </a:endParaRPr>
          </a:p>
        </p:txBody>
      </p:sp>
      <p:sp>
        <p:nvSpPr>
          <p:cNvPr id="247" name="TextBox 9"/>
          <p:cNvSpPr/>
          <p:nvPr/>
        </p:nvSpPr>
        <p:spPr>
          <a:xfrm>
            <a:off x="11430000" y="658368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1200" b="0" u="none" strike="noStrike">
                <a:solidFill>
                  <a:srgbClr val="555B66"/>
                </a:solidFill>
                <a:effectLst/>
                <a:uFillTx/>
                <a:latin typeface="Calibri"/>
              </a:rPr>
              <a:t>12</a:t>
            </a:r>
            <a:endParaRPr lang="en-US" sz="1200" b="0" u="none" strike="noStrike">
              <a:solidFill>
                <a:srgbClr val="000000"/>
              </a:solidFill>
              <a:effectLst/>
              <a:uFillTx/>
              <a:latin typeface="Arial"/>
            </a:endParaRPr>
          </a:p>
        </p:txBody>
      </p:sp>
      <p:sp>
        <p:nvSpPr>
          <p:cNvPr id="248" name="Oval 10"/>
          <p:cNvSpPr/>
          <p:nvPr/>
        </p:nvSpPr>
        <p:spPr>
          <a:xfrm>
            <a:off x="1234440" y="1837800"/>
            <a:ext cx="566640" cy="566640"/>
          </a:xfrm>
          <a:prstGeom prst="ellipse">
            <a:avLst/>
          </a:prstGeom>
          <a:solidFill>
            <a:srgbClr val="B0B5BC"/>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pPr algn="ctr" defTabSz="457200">
              <a:lnSpc>
                <a:spcPct val="100000"/>
              </a:lnSpc>
            </a:pPr>
            <a:r>
              <a:rPr lang="en-US" sz="2200" b="1" u="none" strike="noStrike">
                <a:solidFill>
                  <a:srgbClr val="FFFFFF"/>
                </a:solidFill>
                <a:effectLst/>
                <a:uFillTx/>
                <a:latin typeface="Calibri"/>
              </a:rPr>
              <a:t>1</a:t>
            </a:r>
            <a:endParaRPr lang="en-US" sz="2200" b="0" u="none" strike="noStrike">
              <a:solidFill>
                <a:srgbClr val="000000"/>
              </a:solidFill>
              <a:effectLst/>
              <a:uFillTx/>
              <a:latin typeface="Arial"/>
            </a:endParaRPr>
          </a:p>
        </p:txBody>
      </p:sp>
      <p:sp>
        <p:nvSpPr>
          <p:cNvPr id="249" name="TextBox 11"/>
          <p:cNvSpPr/>
          <p:nvPr/>
        </p:nvSpPr>
        <p:spPr>
          <a:xfrm>
            <a:off x="2286000" y="1737360"/>
            <a:ext cx="950940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2400" b="1" u="none" strike="noStrike">
                <a:solidFill>
                  <a:srgbClr val="A6ADB5"/>
                </a:solidFill>
                <a:effectLst/>
                <a:uFillTx/>
                <a:latin typeface="Calibri"/>
              </a:rPr>
              <a:t>Profit maximization for price searchers</a:t>
            </a:r>
            <a:endParaRPr lang="en-US" sz="2400" b="0" u="none" strike="noStrike">
              <a:solidFill>
                <a:srgbClr val="000000"/>
              </a:solidFill>
              <a:effectLst/>
              <a:uFillTx/>
              <a:latin typeface="Arial"/>
            </a:endParaRPr>
          </a:p>
        </p:txBody>
      </p:sp>
      <p:sp>
        <p:nvSpPr>
          <p:cNvPr id="250" name="TextBox 12"/>
          <p:cNvSpPr/>
          <p:nvPr/>
        </p:nvSpPr>
        <p:spPr>
          <a:xfrm>
            <a:off x="2286000" y="2185560"/>
            <a:ext cx="950940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800" b="0" u="none" strike="noStrike">
                <a:solidFill>
                  <a:srgbClr val="C3C8CE"/>
                </a:solidFill>
                <a:effectLst/>
                <a:uFillTx/>
                <a:latin typeface="Calibri"/>
              </a:rPr>
              <a:t>Set MR = MC; markup and the Lerner index</a:t>
            </a:r>
            <a:endParaRPr lang="en-US" sz="1800" b="0" u="none" strike="noStrike">
              <a:solidFill>
                <a:srgbClr val="000000"/>
              </a:solidFill>
              <a:effectLst/>
              <a:uFillTx/>
              <a:latin typeface="Arial"/>
            </a:endParaRPr>
          </a:p>
        </p:txBody>
      </p:sp>
      <p:sp>
        <p:nvSpPr>
          <p:cNvPr id="251" name="Oval 13"/>
          <p:cNvSpPr/>
          <p:nvPr/>
        </p:nvSpPr>
        <p:spPr>
          <a:xfrm>
            <a:off x="1234440" y="2917080"/>
            <a:ext cx="566640" cy="566640"/>
          </a:xfrm>
          <a:prstGeom prst="ellipse">
            <a:avLst/>
          </a:prstGeom>
          <a:solidFill>
            <a:srgbClr val="B0B5BC"/>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pPr algn="ctr" defTabSz="457200">
              <a:lnSpc>
                <a:spcPct val="100000"/>
              </a:lnSpc>
            </a:pPr>
            <a:r>
              <a:rPr lang="en-US" sz="2200" b="1" u="none" strike="noStrike">
                <a:solidFill>
                  <a:srgbClr val="FFFFFF"/>
                </a:solidFill>
                <a:effectLst/>
                <a:uFillTx/>
                <a:latin typeface="Calibri"/>
              </a:rPr>
              <a:t>2</a:t>
            </a:r>
            <a:endParaRPr lang="en-US" sz="2200" b="0" u="none" strike="noStrike">
              <a:solidFill>
                <a:srgbClr val="000000"/>
              </a:solidFill>
              <a:effectLst/>
              <a:uFillTx/>
              <a:latin typeface="Arial"/>
            </a:endParaRPr>
          </a:p>
        </p:txBody>
      </p:sp>
      <p:sp>
        <p:nvSpPr>
          <p:cNvPr id="252" name="TextBox 14"/>
          <p:cNvSpPr/>
          <p:nvPr/>
        </p:nvSpPr>
        <p:spPr>
          <a:xfrm>
            <a:off x="2286000" y="2816280"/>
            <a:ext cx="950940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2400" b="1" u="none" strike="noStrike">
                <a:solidFill>
                  <a:srgbClr val="A6ADB5"/>
                </a:solidFill>
                <a:effectLst/>
                <a:uFillTx/>
                <a:latin typeface="Calibri"/>
              </a:rPr>
              <a:t>Monopoly and welfare impact</a:t>
            </a:r>
            <a:endParaRPr lang="en-US" sz="2400" b="0" u="none" strike="noStrike">
              <a:solidFill>
                <a:srgbClr val="000000"/>
              </a:solidFill>
              <a:effectLst/>
              <a:uFillTx/>
              <a:latin typeface="Arial"/>
            </a:endParaRPr>
          </a:p>
        </p:txBody>
      </p:sp>
      <p:sp>
        <p:nvSpPr>
          <p:cNvPr id="253" name="TextBox 15"/>
          <p:cNvSpPr/>
          <p:nvPr/>
        </p:nvSpPr>
        <p:spPr>
          <a:xfrm>
            <a:off x="2286000" y="3264480"/>
            <a:ext cx="950940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800" b="0" u="none" strike="noStrike">
                <a:solidFill>
                  <a:srgbClr val="C3C8CE"/>
                </a:solidFill>
                <a:effectLst/>
                <a:uFillTx/>
                <a:latin typeface="Calibri"/>
              </a:rPr>
              <a:t>How monopoly restricts output and reduces welfare</a:t>
            </a:r>
            <a:endParaRPr lang="en-US" sz="1800" b="0" u="none" strike="noStrike">
              <a:solidFill>
                <a:srgbClr val="000000"/>
              </a:solidFill>
              <a:effectLst/>
              <a:uFillTx/>
              <a:latin typeface="Arial"/>
            </a:endParaRPr>
          </a:p>
        </p:txBody>
      </p:sp>
      <p:sp>
        <p:nvSpPr>
          <p:cNvPr id="254" name="Rounded Rectangle 16"/>
          <p:cNvSpPr/>
          <p:nvPr/>
        </p:nvSpPr>
        <p:spPr>
          <a:xfrm>
            <a:off x="978480" y="3794760"/>
            <a:ext cx="10423800" cy="932400"/>
          </a:xfrm>
          <a:prstGeom prst="roundRect">
            <a:avLst>
              <a:gd name="adj" fmla="val 16667"/>
            </a:avLst>
          </a:prstGeom>
          <a:solidFill>
            <a:srgbClr val="FDF6E6"/>
          </a:solidFill>
          <a:ln w="15875">
            <a:solidFill>
              <a:srgbClr val="E09F3E"/>
            </a:solidFill>
            <a:round/>
          </a:ln>
          <a:effectLst>
            <a:outerShdw blurRad="39960" dist="24840" dir="5400000" rotWithShape="0">
              <a:srgbClr val="000000">
                <a:alpha val="30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55" name="Oval 17"/>
          <p:cNvSpPr/>
          <p:nvPr/>
        </p:nvSpPr>
        <p:spPr>
          <a:xfrm>
            <a:off x="1234440" y="3996000"/>
            <a:ext cx="566640" cy="566640"/>
          </a:xfrm>
          <a:prstGeom prst="ellipse">
            <a:avLst/>
          </a:prstGeom>
          <a:solidFill>
            <a:srgbClr val="0B2B4E"/>
          </a:solidFill>
          <a:ln>
            <a:noFill/>
          </a:ln>
          <a:effectLst>
            <a:outerShdw blurRad="39960" dist="24840" dir="5400000" rotWithShape="0">
              <a:srgbClr val="000000">
                <a:alpha val="30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pPr algn="ctr" defTabSz="457200">
              <a:lnSpc>
                <a:spcPct val="100000"/>
              </a:lnSpc>
            </a:pPr>
            <a:r>
              <a:rPr lang="en-US" sz="2200" b="1" u="none" strike="noStrike">
                <a:solidFill>
                  <a:srgbClr val="FFFFFF"/>
                </a:solidFill>
                <a:effectLst/>
                <a:uFillTx/>
                <a:latin typeface="Calibri"/>
              </a:rPr>
              <a:t>3</a:t>
            </a:r>
            <a:endParaRPr lang="en-US" sz="2200" b="0" u="none" strike="noStrike">
              <a:solidFill>
                <a:srgbClr val="FFFFFF"/>
              </a:solidFill>
              <a:effectLst/>
              <a:uFillTx/>
              <a:latin typeface="Arial"/>
            </a:endParaRPr>
          </a:p>
        </p:txBody>
      </p:sp>
      <p:sp>
        <p:nvSpPr>
          <p:cNvPr id="256" name="TextBox 18"/>
          <p:cNvSpPr/>
          <p:nvPr/>
        </p:nvSpPr>
        <p:spPr>
          <a:xfrm>
            <a:off x="2286000" y="3895200"/>
            <a:ext cx="950940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2400" b="1" u="none" strike="noStrike">
                <a:solidFill>
                  <a:srgbClr val="0B2B4E"/>
                </a:solidFill>
                <a:effectLst/>
                <a:uFillTx/>
                <a:latin typeface="Calibri"/>
              </a:rPr>
              <a:t>Government and market power</a:t>
            </a:r>
            <a:endParaRPr lang="en-US" sz="2400" b="0" u="none" strike="noStrike">
              <a:solidFill>
                <a:srgbClr val="000000"/>
              </a:solidFill>
              <a:effectLst/>
              <a:uFillTx/>
              <a:latin typeface="Arial"/>
            </a:endParaRPr>
          </a:p>
        </p:txBody>
      </p:sp>
      <p:sp>
        <p:nvSpPr>
          <p:cNvPr id="257" name="TextBox 19"/>
          <p:cNvSpPr/>
          <p:nvPr/>
        </p:nvSpPr>
        <p:spPr>
          <a:xfrm>
            <a:off x="2286000" y="4343400"/>
            <a:ext cx="950940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800" b="0" u="none" strike="noStrike">
                <a:solidFill>
                  <a:srgbClr val="0B2B4E"/>
                </a:solidFill>
                <a:effectLst/>
                <a:uFillTx/>
                <a:latin typeface="Calibri"/>
              </a:rPr>
              <a:t>Antitrust, regulation, and market definition</a:t>
            </a:r>
            <a:endParaRPr lang="en-US" sz="1800" b="0" u="none" strike="noStrike">
              <a:solidFill>
                <a:srgbClr val="000000"/>
              </a:solidFill>
              <a:effectLst/>
              <a:uFillTx/>
              <a:latin typeface="Arial"/>
            </a:endParaRPr>
          </a:p>
        </p:txBody>
      </p:sp>
      <p:sp>
        <p:nvSpPr>
          <p:cNvPr id="258" name="Oval 20"/>
          <p:cNvSpPr/>
          <p:nvPr/>
        </p:nvSpPr>
        <p:spPr>
          <a:xfrm>
            <a:off x="1234440" y="5074920"/>
            <a:ext cx="566640" cy="566640"/>
          </a:xfrm>
          <a:prstGeom prst="ellipse">
            <a:avLst/>
          </a:prstGeom>
          <a:solidFill>
            <a:srgbClr val="B0B5BC"/>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pPr algn="ctr" defTabSz="457200">
              <a:lnSpc>
                <a:spcPct val="100000"/>
              </a:lnSpc>
            </a:pPr>
            <a:r>
              <a:rPr lang="en-US" sz="2200" b="1" u="none" strike="noStrike">
                <a:solidFill>
                  <a:srgbClr val="FFFFFF"/>
                </a:solidFill>
                <a:effectLst/>
                <a:uFillTx/>
                <a:latin typeface="Calibri"/>
              </a:rPr>
              <a:t>4</a:t>
            </a:r>
            <a:endParaRPr lang="en-US" sz="2200" b="0" u="none" strike="noStrike">
              <a:solidFill>
                <a:srgbClr val="000000"/>
              </a:solidFill>
              <a:effectLst/>
              <a:uFillTx/>
              <a:latin typeface="Arial"/>
            </a:endParaRPr>
          </a:p>
        </p:txBody>
      </p:sp>
      <p:sp>
        <p:nvSpPr>
          <p:cNvPr id="259" name="TextBox 21"/>
          <p:cNvSpPr/>
          <p:nvPr/>
        </p:nvSpPr>
        <p:spPr>
          <a:xfrm>
            <a:off x="2286000" y="4974480"/>
            <a:ext cx="950940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2400" b="1" u="none" strike="noStrike">
                <a:solidFill>
                  <a:srgbClr val="A6ADB5"/>
                </a:solidFill>
                <a:effectLst/>
                <a:uFillTx/>
                <a:latin typeface="Calibri"/>
              </a:rPr>
              <a:t>Monopolistic competition</a:t>
            </a:r>
            <a:endParaRPr lang="en-US" sz="2400" b="0" u="none" strike="noStrike">
              <a:solidFill>
                <a:srgbClr val="000000"/>
              </a:solidFill>
              <a:effectLst/>
              <a:uFillTx/>
              <a:latin typeface="Arial"/>
            </a:endParaRPr>
          </a:p>
        </p:txBody>
      </p:sp>
      <p:sp>
        <p:nvSpPr>
          <p:cNvPr id="260" name="TextBox 22"/>
          <p:cNvSpPr/>
          <p:nvPr/>
        </p:nvSpPr>
        <p:spPr>
          <a:xfrm>
            <a:off x="2286000" y="5422320"/>
            <a:ext cx="950940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800" b="0" u="none" strike="noStrike">
                <a:solidFill>
                  <a:srgbClr val="C3C8CE"/>
                </a:solidFill>
                <a:effectLst/>
                <a:uFillTx/>
                <a:latin typeface="Calibri"/>
              </a:rPr>
              <a:t>Free entry drives long-run profit to zero</a:t>
            </a:r>
            <a:endParaRPr lang="en-US" sz="1800" b="0" u="none" strike="noStrike">
              <a:solidFill>
                <a:srgbClr val="000000"/>
              </a:solidFill>
              <a:effectLst/>
              <a:uFillTx/>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 name="Rectangle 1"/>
          <p:cNvSpPr/>
          <p:nvPr/>
        </p:nvSpPr>
        <p:spPr>
          <a:xfrm>
            <a:off x="0" y="0"/>
            <a:ext cx="12191400" cy="383760"/>
          </a:xfrm>
          <a:prstGeom prst="rect">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62" name="TextBox 2"/>
          <p:cNvSpPr/>
          <p:nvPr/>
        </p:nvSpPr>
        <p:spPr>
          <a:xfrm>
            <a:off x="255960" y="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FFFFFF"/>
                </a:solidFill>
                <a:effectLst/>
                <a:uFillTx/>
                <a:latin typeface="Calibri"/>
              </a:rPr>
              <a:t>Monopoly &amp; Monopolistic Competition · Government &amp; Market Power</a:t>
            </a:r>
            <a:endParaRPr lang="en-US" sz="1600" b="0" u="none" strike="noStrike">
              <a:solidFill>
                <a:srgbClr val="000000"/>
              </a:solidFill>
              <a:effectLst/>
              <a:uFillTx/>
              <a:latin typeface="Arial"/>
            </a:endParaRPr>
          </a:p>
        </p:txBody>
      </p:sp>
      <p:sp>
        <p:nvSpPr>
          <p:cNvPr id="263" name="TextBox 3"/>
          <p:cNvSpPr/>
          <p:nvPr/>
        </p:nvSpPr>
        <p:spPr>
          <a:xfrm>
            <a:off x="255960" y="457200"/>
            <a:ext cx="1168560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3200" b="1" u="none" strike="noStrike">
                <a:solidFill>
                  <a:srgbClr val="0B2B4E"/>
                </a:solidFill>
                <a:effectLst/>
                <a:uFillTx/>
                <a:latin typeface="Calibri"/>
              </a:rPr>
              <a:t>Governments and Market Power</a:t>
            </a:r>
            <a:endParaRPr lang="en-US" sz="3200" b="0" u="none" strike="noStrike">
              <a:solidFill>
                <a:srgbClr val="000000"/>
              </a:solidFill>
              <a:effectLst/>
              <a:uFillTx/>
              <a:latin typeface="Arial"/>
            </a:endParaRPr>
          </a:p>
        </p:txBody>
      </p:sp>
      <p:sp>
        <p:nvSpPr>
          <p:cNvPr id="264" name="Rectangle 4"/>
          <p:cNvSpPr/>
          <p:nvPr/>
        </p:nvSpPr>
        <p:spPr>
          <a:xfrm>
            <a:off x="255960" y="1143000"/>
            <a:ext cx="116856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65" name="Rectangle 5"/>
          <p:cNvSpPr/>
          <p:nvPr/>
        </p:nvSpPr>
        <p:spPr>
          <a:xfrm>
            <a:off x="255960" y="11340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66" name="Rectangle 6"/>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67" name="Rectangle 7"/>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68" name="TextBox 8"/>
          <p:cNvSpPr/>
          <p:nvPr/>
        </p:nvSpPr>
        <p:spPr>
          <a:xfrm>
            <a:off x="255960" y="65836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0" u="none" strike="noStrike">
                <a:solidFill>
                  <a:srgbClr val="555B66"/>
                </a:solidFill>
                <a:effectLst/>
                <a:uFillTx/>
                <a:latin typeface="Calibri"/>
              </a:rPr>
              <a:t>Management 405  ·  Monopoly and Monopolistic Competition</a:t>
            </a:r>
            <a:endParaRPr lang="en-US" sz="1200" b="0" u="none" strike="noStrike">
              <a:solidFill>
                <a:srgbClr val="000000"/>
              </a:solidFill>
              <a:effectLst/>
              <a:uFillTx/>
              <a:latin typeface="Arial"/>
            </a:endParaRPr>
          </a:p>
        </p:txBody>
      </p:sp>
      <p:sp>
        <p:nvSpPr>
          <p:cNvPr id="269" name="TextBox 9"/>
          <p:cNvSpPr/>
          <p:nvPr/>
        </p:nvSpPr>
        <p:spPr>
          <a:xfrm>
            <a:off x="11430000" y="658368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1200" b="0" u="none" strike="noStrike">
                <a:solidFill>
                  <a:srgbClr val="555B66"/>
                </a:solidFill>
                <a:effectLst/>
                <a:uFillTx/>
                <a:latin typeface="Calibri"/>
              </a:rPr>
              <a:t>13</a:t>
            </a:r>
            <a:endParaRPr lang="en-US" sz="1200" b="0" u="none" strike="noStrike">
              <a:solidFill>
                <a:srgbClr val="000000"/>
              </a:solidFill>
              <a:effectLst/>
              <a:uFillTx/>
              <a:latin typeface="Arial"/>
            </a:endParaRPr>
          </a:p>
        </p:txBody>
      </p:sp>
      <p:sp>
        <p:nvSpPr>
          <p:cNvPr id="270" name="TXBLD_10010001000"/>
          <p:cNvSpPr/>
          <p:nvPr/>
        </p:nvSpPr>
        <p:spPr>
          <a:xfrm>
            <a:off x="502920" y="1417320"/>
            <a:ext cx="11155320" cy="5028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343080" indent="-343080" defTabSz="457200">
              <a:lnSpc>
                <a:spcPct val="100000"/>
              </a:lnSpc>
              <a:spcBef>
                <a:spcPts val="799"/>
              </a:spcBef>
              <a:buClr>
                <a:srgbClr val="0B2B4E"/>
              </a:buClr>
              <a:buFont typeface="Calibri"/>
              <a:buChar char="▪"/>
            </a:pPr>
            <a:r>
              <a:rPr lang="en-US" sz="2200" b="1" u="none" strike="noStrike">
                <a:solidFill>
                  <a:srgbClr val="0B2B4E"/>
                </a:solidFill>
                <a:effectLst/>
                <a:uFillTx/>
                <a:latin typeface="Calibri"/>
              </a:rPr>
              <a:t>Price regulations</a:t>
            </a:r>
            <a:endParaRPr lang="en-US" sz="2200" b="0" u="none" strike="noStrike">
              <a:solidFill>
                <a:srgbClr val="000000"/>
              </a:solidFill>
              <a:effectLst/>
              <a:uFillTx/>
              <a:latin typeface="Arial"/>
            </a:endParaRPr>
          </a:p>
          <a:p>
            <a:pPr marL="685800" lvl="1" indent="-228600" defTabSz="457200">
              <a:lnSpc>
                <a:spcPct val="100000"/>
              </a:lnSpc>
              <a:spcBef>
                <a:spcPts val="300"/>
              </a:spcBef>
              <a:buClr>
                <a:srgbClr val="555B66"/>
              </a:buClr>
              <a:buFont typeface="Calibri"/>
              <a:buChar char="–"/>
            </a:pPr>
            <a:r>
              <a:rPr lang="en-US" sz="1700" b="0" u="none" strike="noStrike">
                <a:solidFill>
                  <a:srgbClr val="555B66"/>
                </a:solidFill>
                <a:effectLst/>
                <a:uFillTx/>
                <a:latin typeface="Calibri"/>
              </a:rPr>
              <a:t>Happens frequently with natural monopolies: electricity, natural gas, cable television, local telephone service</a:t>
            </a:r>
            <a:endParaRPr lang="en-US" sz="1700" b="0" u="none" strike="noStrike">
              <a:solidFill>
                <a:srgbClr val="000000"/>
              </a:solidFill>
              <a:effectLst/>
              <a:uFillTx/>
              <a:latin typeface="Arial"/>
            </a:endParaRPr>
          </a:p>
          <a:p>
            <a:pPr marL="685800" lvl="1" indent="-228600" defTabSz="457200">
              <a:lnSpc>
                <a:spcPct val="100000"/>
              </a:lnSpc>
              <a:spcBef>
                <a:spcPts val="300"/>
              </a:spcBef>
              <a:buClr>
                <a:srgbClr val="555B66"/>
              </a:buClr>
              <a:buFont typeface="Calibri"/>
              <a:buChar char="–"/>
            </a:pPr>
            <a:r>
              <a:rPr lang="en-US" sz="1700" b="0" u="none" strike="noStrike">
                <a:solidFill>
                  <a:srgbClr val="555B66"/>
                </a:solidFill>
                <a:effectLst/>
                <a:uFillTx/>
                <a:latin typeface="Calibri"/>
              </a:rPr>
              <a:t>Impose a price cap → increase consumer surplus, reduce producer surplus, increase quantity</a:t>
            </a:r>
            <a:endParaRPr lang="en-US" sz="1700" b="0" u="none" strike="noStrike">
              <a:solidFill>
                <a:srgbClr val="000000"/>
              </a:solidFill>
              <a:effectLst/>
              <a:uFillTx/>
              <a:latin typeface="Arial"/>
            </a:endParaRPr>
          </a:p>
          <a:p>
            <a:pPr marL="343080" indent="-343080" defTabSz="457200">
              <a:lnSpc>
                <a:spcPct val="100000"/>
              </a:lnSpc>
              <a:spcBef>
                <a:spcPts val="799"/>
              </a:spcBef>
              <a:buClr>
                <a:srgbClr val="0B2B4E"/>
              </a:buClr>
              <a:buFont typeface="Calibri"/>
              <a:buChar char="▪"/>
            </a:pPr>
            <a:r>
              <a:rPr lang="en-US" sz="2200" b="1" u="none" strike="noStrike">
                <a:solidFill>
                  <a:srgbClr val="0B2B4E"/>
                </a:solidFill>
                <a:effectLst/>
                <a:uFillTx/>
                <a:latin typeface="Calibri"/>
              </a:rPr>
              <a:t>Antitrust laws</a:t>
            </a:r>
            <a:endParaRPr lang="en-US" sz="2200" b="0" u="none" strike="noStrike">
              <a:solidFill>
                <a:srgbClr val="000000"/>
              </a:solidFill>
              <a:effectLst/>
              <a:uFillTx/>
              <a:latin typeface="Arial"/>
            </a:endParaRPr>
          </a:p>
          <a:p>
            <a:pPr marL="685800" lvl="1" indent="-228600" defTabSz="457200">
              <a:lnSpc>
                <a:spcPct val="100000"/>
              </a:lnSpc>
              <a:spcBef>
                <a:spcPts val="300"/>
              </a:spcBef>
              <a:buClr>
                <a:srgbClr val="555B66"/>
              </a:buClr>
              <a:buFont typeface="Calibri"/>
              <a:buChar char="–"/>
            </a:pPr>
            <a:r>
              <a:rPr lang="en-US" sz="1700" b="0" u="none" strike="noStrike">
                <a:solidFill>
                  <a:srgbClr val="555B66"/>
                </a:solidFill>
                <a:effectLst/>
                <a:uFillTx/>
                <a:latin typeface="Calibri"/>
              </a:rPr>
              <a:t>Prevent mergers/acquisitions that would limit competition</a:t>
            </a:r>
            <a:endParaRPr lang="en-US" sz="1700" b="0" u="none" strike="noStrike">
              <a:solidFill>
                <a:srgbClr val="000000"/>
              </a:solidFill>
              <a:effectLst/>
              <a:uFillTx/>
              <a:latin typeface="Arial"/>
            </a:endParaRPr>
          </a:p>
          <a:p>
            <a:pPr marL="685800" lvl="1" indent="-228600" defTabSz="457200">
              <a:lnSpc>
                <a:spcPct val="100000"/>
              </a:lnSpc>
              <a:spcBef>
                <a:spcPts val="300"/>
              </a:spcBef>
              <a:buClr>
                <a:srgbClr val="555B66"/>
              </a:buClr>
              <a:buFont typeface="Calibri"/>
              <a:buChar char="–"/>
            </a:pPr>
            <a:r>
              <a:rPr lang="en-US" sz="1700" b="0" u="none" strike="noStrike">
                <a:solidFill>
                  <a:srgbClr val="555B66"/>
                </a:solidFill>
                <a:effectLst/>
                <a:uFillTx/>
                <a:latin typeface="Calibri"/>
              </a:rPr>
              <a:t>Occasionally force breakup of existing firm (AT&amp;T in 1982)</a:t>
            </a:r>
            <a:endParaRPr lang="en-US" sz="1700" b="0" u="none" strike="noStrike">
              <a:solidFill>
                <a:srgbClr val="000000"/>
              </a:solidFill>
              <a:effectLst/>
              <a:uFillTx/>
              <a:latin typeface="Arial"/>
            </a:endParaRPr>
          </a:p>
          <a:p>
            <a:pPr marL="685800" lvl="1" indent="-228600" defTabSz="457200">
              <a:lnSpc>
                <a:spcPct val="100000"/>
              </a:lnSpc>
              <a:spcBef>
                <a:spcPts val="300"/>
              </a:spcBef>
              <a:buClr>
                <a:srgbClr val="555B66"/>
              </a:buClr>
              <a:buFont typeface="Calibri"/>
              <a:buChar char="–"/>
            </a:pPr>
            <a:r>
              <a:rPr lang="en-US" sz="1700" b="0" u="none" strike="noStrike">
                <a:solidFill>
                  <a:srgbClr val="555B66"/>
                </a:solidFill>
                <a:effectLst/>
                <a:uFillTx/>
                <a:latin typeface="Calibri"/>
              </a:rPr>
              <a:t>Ban collusion on prices</a:t>
            </a:r>
            <a:endParaRPr lang="en-US" sz="1700" b="0" u="none" strike="noStrike">
              <a:solidFill>
                <a:srgbClr val="000000"/>
              </a:solidFill>
              <a:effectLst/>
              <a:uFillTx/>
              <a:latin typeface="Arial"/>
            </a:endParaRPr>
          </a:p>
          <a:p>
            <a:pPr marL="343080" indent="-343080" defTabSz="457200">
              <a:lnSpc>
                <a:spcPct val="100000"/>
              </a:lnSpc>
              <a:spcBef>
                <a:spcPts val="799"/>
              </a:spcBef>
              <a:buClr>
                <a:srgbClr val="0B2B4E"/>
              </a:buClr>
              <a:buFont typeface="Calibri"/>
              <a:buChar char="▪"/>
            </a:pPr>
            <a:r>
              <a:rPr lang="en-US" sz="2200" b="1" u="none" strike="noStrike">
                <a:solidFill>
                  <a:srgbClr val="0B2B4E"/>
                </a:solidFill>
                <a:effectLst/>
                <a:uFillTx/>
                <a:latin typeface="Calibri"/>
              </a:rPr>
              <a:t>Patents, licenses and copyrights</a:t>
            </a:r>
            <a:endParaRPr lang="en-US" sz="2200" b="0" u="none" strike="noStrike">
              <a:solidFill>
                <a:srgbClr val="000000"/>
              </a:solidFill>
              <a:effectLst/>
              <a:uFillTx/>
              <a:latin typeface="Arial"/>
            </a:endParaRPr>
          </a:p>
          <a:p>
            <a:pPr marL="685800" lvl="1" indent="-228600" defTabSz="457200">
              <a:lnSpc>
                <a:spcPct val="100000"/>
              </a:lnSpc>
              <a:spcBef>
                <a:spcPts val="300"/>
              </a:spcBef>
              <a:buClr>
                <a:srgbClr val="555B66"/>
              </a:buClr>
              <a:buFont typeface="Calibri"/>
              <a:buChar char="–"/>
            </a:pPr>
            <a:r>
              <a:rPr lang="en-US" sz="1700" b="0" u="none" strike="noStrike">
                <a:solidFill>
                  <a:srgbClr val="555B66"/>
                </a:solidFill>
                <a:effectLst/>
                <a:uFillTx/>
                <a:latin typeface="Calibri"/>
              </a:rPr>
              <a:t>Encourage monopolies for the sake of innovation</a:t>
            </a:r>
            <a:endParaRPr lang="en-US" sz="1700" b="0" u="none" strike="noStrike">
              <a:solidFill>
                <a:srgbClr val="000000"/>
              </a:solidFill>
              <a:effectLst/>
              <a:uFillTx/>
              <a:latin typeface="Arial"/>
            </a:endParaRPr>
          </a:p>
          <a:p>
            <a:pPr marL="685800" lvl="1" indent="-228600" defTabSz="457200">
              <a:lnSpc>
                <a:spcPct val="100000"/>
              </a:lnSpc>
              <a:spcBef>
                <a:spcPts val="300"/>
              </a:spcBef>
              <a:buClr>
                <a:srgbClr val="555B66"/>
              </a:buClr>
              <a:buFont typeface="Calibri"/>
              <a:buChar char="–"/>
            </a:pPr>
            <a:r>
              <a:rPr lang="en-US" sz="1700" b="0" u="none" strike="noStrike">
                <a:solidFill>
                  <a:srgbClr val="555B66"/>
                </a:solidFill>
                <a:effectLst/>
                <a:uFillTx/>
                <a:latin typeface="Calibri"/>
              </a:rPr>
              <a:t>Consumer surplus from product creation outweighs DWL</a:t>
            </a:r>
            <a:endParaRPr lang="en-US" sz="1700" b="0" u="none" strike="noStrike">
              <a:solidFill>
                <a:srgbClr val="000000"/>
              </a:solidFill>
              <a:effectLst/>
              <a:uFillTx/>
              <a:latin typeface="Arial"/>
            </a:endParaRPr>
          </a:p>
          <a:p>
            <a:pPr marL="685800" lvl="1" indent="-228600" defTabSz="457200">
              <a:lnSpc>
                <a:spcPct val="100000"/>
              </a:lnSpc>
              <a:spcBef>
                <a:spcPts val="300"/>
              </a:spcBef>
              <a:buClr>
                <a:srgbClr val="555B66"/>
              </a:buClr>
              <a:buFont typeface="Calibri"/>
              <a:buChar char="–"/>
            </a:pPr>
            <a:r>
              <a:rPr lang="en-US" sz="1700" b="0" u="none" strike="noStrike">
                <a:solidFill>
                  <a:srgbClr val="555B66"/>
                </a:solidFill>
                <a:effectLst/>
                <a:uFillTx/>
                <a:latin typeface="Calibri"/>
              </a:rPr>
              <a:t>Lead to innovation in types of goods that people value, but high prices</a:t>
            </a:r>
            <a:endParaRPr lang="en-US" sz="1700" b="0" u="none" strike="noStrike">
              <a:solidFill>
                <a:srgbClr val="000000"/>
              </a:solidFill>
              <a:effectLst/>
              <a:uFillTx/>
              <a:latin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0">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70">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70">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70">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70">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70">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70">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70">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70">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70">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70">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 name="Rectangle 1"/>
          <p:cNvSpPr/>
          <p:nvPr/>
        </p:nvSpPr>
        <p:spPr>
          <a:xfrm>
            <a:off x="0" y="0"/>
            <a:ext cx="12191400" cy="383760"/>
          </a:xfrm>
          <a:prstGeom prst="rect">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72" name="TextBox 2"/>
          <p:cNvSpPr/>
          <p:nvPr/>
        </p:nvSpPr>
        <p:spPr>
          <a:xfrm>
            <a:off x="255960" y="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FFFFFF"/>
                </a:solidFill>
                <a:effectLst/>
                <a:uFillTx/>
                <a:latin typeface="Calibri"/>
              </a:rPr>
              <a:t>Monopoly &amp; Monopolistic Competition · Government &amp; Market Power</a:t>
            </a:r>
            <a:endParaRPr lang="en-US" sz="1600" b="0" u="none" strike="noStrike">
              <a:solidFill>
                <a:srgbClr val="000000"/>
              </a:solidFill>
              <a:effectLst/>
              <a:uFillTx/>
              <a:latin typeface="Arial"/>
            </a:endParaRPr>
          </a:p>
        </p:txBody>
      </p:sp>
      <p:sp>
        <p:nvSpPr>
          <p:cNvPr id="273" name="TextBox 3"/>
          <p:cNvSpPr/>
          <p:nvPr/>
        </p:nvSpPr>
        <p:spPr>
          <a:xfrm>
            <a:off x="255960" y="457200"/>
            <a:ext cx="1168560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3200" b="1" u="none" strike="noStrike">
                <a:solidFill>
                  <a:srgbClr val="0B2B4E"/>
                </a:solidFill>
                <a:effectLst/>
                <a:uFillTx/>
                <a:latin typeface="Calibri"/>
              </a:rPr>
              <a:t>Antitrust: The Google Trial</a:t>
            </a:r>
            <a:endParaRPr lang="en-US" sz="3200" b="0" u="none" strike="noStrike">
              <a:solidFill>
                <a:srgbClr val="000000"/>
              </a:solidFill>
              <a:effectLst/>
              <a:uFillTx/>
              <a:latin typeface="Arial"/>
            </a:endParaRPr>
          </a:p>
        </p:txBody>
      </p:sp>
      <p:sp>
        <p:nvSpPr>
          <p:cNvPr id="274" name="Rectangle 4"/>
          <p:cNvSpPr/>
          <p:nvPr/>
        </p:nvSpPr>
        <p:spPr>
          <a:xfrm>
            <a:off x="255960" y="1143000"/>
            <a:ext cx="116856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75" name="Rectangle 5"/>
          <p:cNvSpPr/>
          <p:nvPr/>
        </p:nvSpPr>
        <p:spPr>
          <a:xfrm>
            <a:off x="255960" y="11340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76" name="Rectangle 6"/>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77" name="Rectangle 7"/>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78" name="TextBox 8"/>
          <p:cNvSpPr/>
          <p:nvPr/>
        </p:nvSpPr>
        <p:spPr>
          <a:xfrm>
            <a:off x="255960" y="65836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0" u="none" strike="noStrike">
                <a:solidFill>
                  <a:srgbClr val="555B66"/>
                </a:solidFill>
                <a:effectLst/>
                <a:uFillTx/>
                <a:latin typeface="Calibri"/>
              </a:rPr>
              <a:t>Management 405  ·  Monopoly and Monopolistic Competition</a:t>
            </a:r>
            <a:endParaRPr lang="en-US" sz="1200" b="0" u="none" strike="noStrike">
              <a:solidFill>
                <a:srgbClr val="000000"/>
              </a:solidFill>
              <a:effectLst/>
              <a:uFillTx/>
              <a:latin typeface="Arial"/>
            </a:endParaRPr>
          </a:p>
        </p:txBody>
      </p:sp>
      <p:sp>
        <p:nvSpPr>
          <p:cNvPr id="279" name="TextBox 9"/>
          <p:cNvSpPr/>
          <p:nvPr/>
        </p:nvSpPr>
        <p:spPr>
          <a:xfrm>
            <a:off x="11430000" y="658368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1200" b="0" u="none" strike="noStrike">
                <a:solidFill>
                  <a:srgbClr val="555B66"/>
                </a:solidFill>
                <a:effectLst/>
                <a:uFillTx/>
                <a:latin typeface="Calibri"/>
              </a:rPr>
              <a:t>14</a:t>
            </a:r>
            <a:endParaRPr lang="en-US" sz="1200" b="0" u="none" strike="noStrike">
              <a:solidFill>
                <a:srgbClr val="000000"/>
              </a:solidFill>
              <a:effectLst/>
              <a:uFillTx/>
              <a:latin typeface="Arial"/>
            </a:endParaRPr>
          </a:p>
        </p:txBody>
      </p:sp>
      <p:sp>
        <p:nvSpPr>
          <p:cNvPr id="280" name="Picture 10" descr="sm_s14_0_3701462.jpg"/>
          <p:cNvSpPr/>
          <p:nvPr/>
        </p:nvSpPr>
        <p:spPr>
          <a:xfrm>
            <a:off x="7772400" y="2286000"/>
            <a:ext cx="3931560" cy="1711080"/>
          </a:xfrm>
          <a:prstGeom prst="roundRect">
            <a:avLst>
              <a:gd name="adj" fmla="val 6000"/>
            </a:avLst>
          </a:prstGeom>
          <a:blipFill rotWithShape="0">
            <a:blip r:embed="rId3"/>
            <a:srcRect/>
            <a:stretch/>
          </a:blipFill>
          <a:ln w="0">
            <a:noFill/>
          </a:ln>
          <a:effectLst>
            <a:outerShdw blurRad="39960" dist="24840" dir="5400000" rotWithShape="0">
              <a:srgbClr val="000000">
                <a:alpha val="3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81" name="TextBox 11"/>
          <p:cNvSpPr/>
          <p:nvPr/>
        </p:nvSpPr>
        <p:spPr>
          <a:xfrm>
            <a:off x="502920" y="1965960"/>
            <a:ext cx="7040520" cy="402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343080" indent="-343080" defTabSz="457200">
              <a:lnSpc>
                <a:spcPct val="100000"/>
              </a:lnSpc>
              <a:spcBef>
                <a:spcPts val="1599"/>
              </a:spcBef>
              <a:buClr>
                <a:srgbClr val="0B2B4E"/>
              </a:buClr>
              <a:buFont typeface="Calibri"/>
              <a:buChar char="▪"/>
            </a:pPr>
            <a:r>
              <a:rPr lang="en-US" sz="2100" b="0" u="none" strike="noStrike">
                <a:solidFill>
                  <a:srgbClr val="0B2B4E"/>
                </a:solidFill>
                <a:effectLst/>
                <a:uFillTx/>
                <a:latin typeface="Calibri"/>
              </a:rPr>
              <a:t>What were the main outcomes of Judge Mehta's ruling for Google?</a:t>
            </a:r>
            <a:endParaRPr lang="en-US" sz="2100" b="0" u="none" strike="noStrike">
              <a:solidFill>
                <a:srgbClr val="000000"/>
              </a:solidFill>
              <a:effectLst/>
              <a:uFillTx/>
              <a:latin typeface="Arial"/>
            </a:endParaRPr>
          </a:p>
          <a:p>
            <a:pPr marL="343080" indent="-343080" defTabSz="457200">
              <a:lnSpc>
                <a:spcPct val="100000"/>
              </a:lnSpc>
              <a:spcBef>
                <a:spcPts val="1599"/>
              </a:spcBef>
              <a:buClr>
                <a:srgbClr val="0B2B4E"/>
              </a:buClr>
              <a:buFont typeface="Calibri"/>
              <a:buChar char="▪"/>
            </a:pPr>
            <a:r>
              <a:rPr lang="en-US" sz="2100" b="0" u="none" strike="noStrike">
                <a:solidFill>
                  <a:srgbClr val="0B2B4E"/>
                </a:solidFill>
                <a:effectLst/>
                <a:uFillTx/>
                <a:latin typeface="Calibri"/>
              </a:rPr>
              <a:t>What new requirement did he impose regarding Google's data?</a:t>
            </a:r>
            <a:endParaRPr lang="en-US" sz="2100" b="0" u="none" strike="noStrike">
              <a:solidFill>
                <a:srgbClr val="000000"/>
              </a:solidFill>
              <a:effectLst/>
              <a:uFillTx/>
              <a:latin typeface="Arial"/>
            </a:endParaRPr>
          </a:p>
          <a:p>
            <a:pPr marL="343080" indent="-343080" defTabSz="457200">
              <a:lnSpc>
                <a:spcPct val="100000"/>
              </a:lnSpc>
              <a:spcBef>
                <a:spcPts val="1599"/>
              </a:spcBef>
              <a:buClr>
                <a:srgbClr val="0B2B4E"/>
              </a:buClr>
              <a:buFont typeface="Calibri"/>
              <a:buChar char="▪"/>
            </a:pPr>
            <a:r>
              <a:rPr lang="en-US" sz="2100" b="0" u="none" strike="noStrike">
                <a:solidFill>
                  <a:srgbClr val="0B2B4E"/>
                </a:solidFill>
                <a:effectLst/>
                <a:uFillTx/>
                <a:latin typeface="Calibri"/>
              </a:rPr>
              <a:t>What type of remedy did Judge Mehta emphasize?</a:t>
            </a:r>
            <a:endParaRPr lang="en-US" sz="2100" b="0" u="none" strike="noStrike">
              <a:solidFill>
                <a:srgbClr val="000000"/>
              </a:solidFill>
              <a:effectLst/>
              <a:uFillTx/>
              <a:latin typeface="Arial"/>
            </a:endParaRPr>
          </a:p>
          <a:p>
            <a:pPr marL="343080" indent="-343080" defTabSz="457200">
              <a:lnSpc>
                <a:spcPct val="100000"/>
              </a:lnSpc>
              <a:spcBef>
                <a:spcPts val="1599"/>
              </a:spcBef>
              <a:buClr>
                <a:srgbClr val="0B2B4E"/>
              </a:buClr>
              <a:buFont typeface="Calibri"/>
              <a:buChar char="▪"/>
            </a:pPr>
            <a:r>
              <a:rPr lang="en-US" sz="2100" b="0" u="none" strike="noStrike">
                <a:solidFill>
                  <a:srgbClr val="0B2B4E"/>
                </a:solidFill>
                <a:effectLst/>
                <a:uFillTx/>
                <a:latin typeface="Calibri"/>
              </a:rPr>
              <a:t>How has the rise of AI shaped his decision?</a:t>
            </a:r>
            <a:endParaRPr lang="en-US" sz="2100" b="0" u="none" strike="noStrike">
              <a:solidFill>
                <a:srgbClr val="000000"/>
              </a:solidFill>
              <a:effectLst/>
              <a:uFillTx/>
              <a:latin typeface="Arial"/>
            </a:endParaRPr>
          </a:p>
        </p:txBody>
      </p:sp>
      <p:sp>
        <p:nvSpPr>
          <p:cNvPr id="282" name="Parallelogram 12"/>
          <p:cNvSpPr/>
          <p:nvPr/>
        </p:nvSpPr>
        <p:spPr>
          <a:xfrm>
            <a:off x="9082800" y="5943600"/>
            <a:ext cx="2742840" cy="548280"/>
          </a:xfrm>
          <a:prstGeom prst="parallelogram">
            <a:avLst>
              <a:gd name="adj" fmla="val 25000"/>
            </a:avLst>
          </a:prstGeom>
          <a:solidFill>
            <a:srgbClr val="E0A21E"/>
          </a:solidFill>
          <a:ln>
            <a:noFill/>
          </a:ln>
          <a:effectLst>
            <a:outerShdw blurRad="39960" dist="24840" dir="5400000" rotWithShape="0">
              <a:srgbClr val="000000">
                <a:alpha val="30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r>
              <a:rPr lang="en-US" sz="1500" b="1" u="none" strike="noStrike">
                <a:solidFill>
                  <a:srgbClr val="0B2B4E"/>
                </a:solidFill>
                <a:effectLst/>
                <a:uFillTx/>
                <a:latin typeface="Calibri"/>
              </a:rPr>
              <a:t>Class discussion break</a:t>
            </a:r>
            <a:endParaRPr lang="en-US" sz="1500" b="0" u="none" strike="noStrike">
              <a:solidFill>
                <a:srgbClr val="000000"/>
              </a:solidFill>
              <a:effectLst/>
              <a:uFillTx/>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 name="Rectangle 1"/>
          <p:cNvSpPr/>
          <p:nvPr/>
        </p:nvSpPr>
        <p:spPr>
          <a:xfrm>
            <a:off x="0" y="0"/>
            <a:ext cx="12191400" cy="383760"/>
          </a:xfrm>
          <a:prstGeom prst="rect">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84" name="TextBox 2"/>
          <p:cNvSpPr/>
          <p:nvPr/>
        </p:nvSpPr>
        <p:spPr>
          <a:xfrm>
            <a:off x="255960" y="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FFFFFF"/>
                </a:solidFill>
                <a:effectLst/>
                <a:uFillTx/>
                <a:latin typeface="Calibri"/>
              </a:rPr>
              <a:t>Monopoly &amp; Monopolistic Competition · Government &amp; Market Power</a:t>
            </a:r>
            <a:endParaRPr lang="en-US" sz="1600" b="0" u="none" strike="noStrike">
              <a:solidFill>
                <a:srgbClr val="000000"/>
              </a:solidFill>
              <a:effectLst/>
              <a:uFillTx/>
              <a:latin typeface="Arial"/>
            </a:endParaRPr>
          </a:p>
        </p:txBody>
      </p:sp>
      <p:sp>
        <p:nvSpPr>
          <p:cNvPr id="285" name="TextBox 3"/>
          <p:cNvSpPr/>
          <p:nvPr/>
        </p:nvSpPr>
        <p:spPr>
          <a:xfrm>
            <a:off x="255960" y="457200"/>
            <a:ext cx="1168560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3200" b="1" u="none" strike="noStrike">
                <a:solidFill>
                  <a:srgbClr val="0B2B4E"/>
                </a:solidFill>
                <a:effectLst/>
                <a:uFillTx/>
                <a:latin typeface="Calibri"/>
              </a:rPr>
              <a:t>The Google–Apple Search Deal</a:t>
            </a:r>
            <a:endParaRPr lang="en-US" sz="3200" b="0" u="none" strike="noStrike">
              <a:solidFill>
                <a:srgbClr val="000000"/>
              </a:solidFill>
              <a:effectLst/>
              <a:uFillTx/>
              <a:latin typeface="Arial"/>
            </a:endParaRPr>
          </a:p>
        </p:txBody>
      </p:sp>
      <p:sp>
        <p:nvSpPr>
          <p:cNvPr id="286" name="Rectangle 4"/>
          <p:cNvSpPr/>
          <p:nvPr/>
        </p:nvSpPr>
        <p:spPr>
          <a:xfrm>
            <a:off x="255960" y="1143000"/>
            <a:ext cx="116856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87" name="Rectangle 5"/>
          <p:cNvSpPr/>
          <p:nvPr/>
        </p:nvSpPr>
        <p:spPr>
          <a:xfrm>
            <a:off x="255960" y="11340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88" name="Rectangle 6"/>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89" name="Rectangle 7"/>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90" name="TextBox 8"/>
          <p:cNvSpPr/>
          <p:nvPr/>
        </p:nvSpPr>
        <p:spPr>
          <a:xfrm>
            <a:off x="255960" y="65836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0" u="none" strike="noStrike">
                <a:solidFill>
                  <a:srgbClr val="555B66"/>
                </a:solidFill>
                <a:effectLst/>
                <a:uFillTx/>
                <a:latin typeface="Calibri"/>
              </a:rPr>
              <a:t>Management 405  ·  Monopoly and Monopolistic Competition</a:t>
            </a:r>
            <a:endParaRPr lang="en-US" sz="1200" b="0" u="none" strike="noStrike">
              <a:solidFill>
                <a:srgbClr val="000000"/>
              </a:solidFill>
              <a:effectLst/>
              <a:uFillTx/>
              <a:latin typeface="Arial"/>
            </a:endParaRPr>
          </a:p>
        </p:txBody>
      </p:sp>
      <p:sp>
        <p:nvSpPr>
          <p:cNvPr id="291" name="TextBox 9"/>
          <p:cNvSpPr/>
          <p:nvPr/>
        </p:nvSpPr>
        <p:spPr>
          <a:xfrm>
            <a:off x="11430000" y="658368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1200" b="0" u="none" strike="noStrike">
                <a:solidFill>
                  <a:srgbClr val="555B66"/>
                </a:solidFill>
                <a:effectLst/>
                <a:uFillTx/>
                <a:latin typeface="Calibri"/>
              </a:rPr>
              <a:t>15</a:t>
            </a:r>
            <a:endParaRPr lang="en-US" sz="1200" b="0" u="none" strike="noStrike">
              <a:solidFill>
                <a:srgbClr val="000000"/>
              </a:solidFill>
              <a:effectLst/>
              <a:uFillTx/>
              <a:latin typeface="Arial"/>
            </a:endParaRPr>
          </a:p>
        </p:txBody>
      </p:sp>
      <p:sp>
        <p:nvSpPr>
          <p:cNvPr id="292" name="Picture 10" descr="s15_1_547384.png"/>
          <p:cNvSpPr/>
          <p:nvPr/>
        </p:nvSpPr>
        <p:spPr>
          <a:xfrm>
            <a:off x="7589520" y="2194560"/>
            <a:ext cx="4023000" cy="2335680"/>
          </a:xfrm>
          <a:prstGeom prst="roundRect">
            <a:avLst>
              <a:gd name="adj" fmla="val 6000"/>
            </a:avLst>
          </a:prstGeom>
          <a:blipFill rotWithShape="0">
            <a:blip r:embed="rId3"/>
            <a:srcRect/>
            <a:stretch/>
          </a:blipFill>
          <a:ln w="0">
            <a:noFill/>
          </a:ln>
          <a:effectLst>
            <a:outerShdw blurRad="39960" dist="24840" dir="5400000" rotWithShape="0">
              <a:srgbClr val="000000">
                <a:alpha val="3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93" name="Rounded Rectangle 11"/>
          <p:cNvSpPr/>
          <p:nvPr/>
        </p:nvSpPr>
        <p:spPr>
          <a:xfrm>
            <a:off x="731520" y="2194560"/>
            <a:ext cx="6400440" cy="2377080"/>
          </a:xfrm>
          <a:prstGeom prst="roundRect">
            <a:avLst>
              <a:gd name="adj" fmla="val 16667"/>
            </a:avLst>
          </a:prstGeom>
          <a:solidFill>
            <a:srgbClr val="FDF6E6"/>
          </a:solidFill>
          <a:ln w="12700">
            <a:solidFill>
              <a:srgbClr val="0B2B4E"/>
            </a:solidFill>
            <a:round/>
          </a:ln>
          <a:effectLst>
            <a:outerShdw blurRad="39960" dist="24840" dir="5400000" rotWithShape="0">
              <a:srgbClr val="000000">
                <a:alpha val="30000"/>
              </a:srgbClr>
            </a:outerShdw>
          </a:effectLst>
        </p:spPr>
        <p:style>
          <a:lnRef idx="1">
            <a:schemeClr val="accent1"/>
          </a:lnRef>
          <a:fillRef idx="3">
            <a:schemeClr val="accent1"/>
          </a:fillRef>
          <a:effectRef idx="2">
            <a:schemeClr val="accent1"/>
          </a:effectRef>
          <a:fontRef idx="minor"/>
        </p:style>
        <p:txBody>
          <a:bodyPr lIns="109800" tIns="54720" rIns="109800" bIns="54720" anchor="ctr">
            <a:noAutofit/>
          </a:bodyPr>
          <a:lstStyle/>
          <a:p>
            <a:pPr defTabSz="457200">
              <a:lnSpc>
                <a:spcPct val="100000"/>
              </a:lnSpc>
            </a:pPr>
            <a:r>
              <a:rPr lang="en-US" sz="2200" b="0" u="none" strike="noStrike">
                <a:solidFill>
                  <a:srgbClr val="0B2B4E"/>
                </a:solidFill>
                <a:effectLst/>
                <a:uFillTx/>
                <a:latin typeface="Calibri"/>
              </a:rPr>
              <a:t>“Google paid Apple up to </a:t>
            </a:r>
            <a:r>
              <a:rPr lang="en-US" sz="2200" b="1" u="none" strike="noStrike">
                <a:solidFill>
                  <a:srgbClr val="0070C0"/>
                </a:solidFill>
                <a:effectLst/>
                <a:uFillTx/>
                <a:latin typeface="Calibri"/>
              </a:rPr>
              <a:t>$12 billion</a:t>
            </a:r>
            <a:r>
              <a:rPr lang="en-US" sz="2200" b="0" u="none" strike="noStrike">
                <a:solidFill>
                  <a:srgbClr val="0B2B4E"/>
                </a:solidFill>
                <a:effectLst/>
                <a:uFillTx/>
                <a:latin typeface="Calibri"/>
              </a:rPr>
              <a:t> for a search-engine deal that disadvantaged competitors,” a landmark antitrust suit claims.</a:t>
            </a:r>
            <a:endParaRPr lang="en-US" sz="2200" b="0" u="none" strike="noStrike">
              <a:solidFill>
                <a:srgbClr val="000000"/>
              </a:solidFill>
              <a:effectLst/>
              <a:uFillTx/>
              <a:latin typeface="Arial"/>
            </a:endParaRPr>
          </a:p>
        </p:txBody>
      </p:sp>
      <p:sp>
        <p:nvSpPr>
          <p:cNvPr id="294" name="TextBox 12"/>
          <p:cNvSpPr/>
          <p:nvPr/>
        </p:nvSpPr>
        <p:spPr>
          <a:xfrm>
            <a:off x="7589520" y="5943600"/>
            <a:ext cx="40230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1200" b="0" i="1" u="none" strike="noStrike">
                <a:solidFill>
                  <a:srgbClr val="555B66"/>
                </a:solidFill>
                <a:effectLst/>
                <a:uFillTx/>
                <a:latin typeface="Calibri"/>
              </a:rPr>
              <a:t>Tim Cook (Apple)   ·   Sundar Pichai (Google)</a:t>
            </a:r>
            <a:endParaRPr lang="en-US" sz="1200" b="0" u="none" strike="noStrike">
              <a:solidFill>
                <a:srgbClr val="000000"/>
              </a:solidFill>
              <a:effectLst/>
              <a:uFillTx/>
              <a:latin typeface="Arial"/>
            </a:endParaRPr>
          </a:p>
        </p:txBody>
      </p:sp>
      <p:sp>
        <p:nvSpPr>
          <p:cNvPr id="295" name="TextBox 13"/>
          <p:cNvSpPr/>
          <p:nvPr/>
        </p:nvSpPr>
        <p:spPr>
          <a:xfrm>
            <a:off x="731520" y="4892040"/>
            <a:ext cx="8229240" cy="4568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en-US" sz="1500" b="0" u="sng" strike="noStrike">
                <a:solidFill>
                  <a:srgbClr val="0000FF"/>
                </a:solidFill>
                <a:effectLst/>
                <a:uFillTx/>
                <a:latin typeface="Calibri"/>
                <a:hlinkClick r:id="rId4"/>
              </a:rPr>
              <a:t>▶  WSJ Explains: How Apple &amp; Google formed one of tech's most powerful partnerships</a:t>
            </a:r>
            <a:endParaRPr lang="en-US" sz="1500" b="0" u="none" strike="noStrike">
              <a:solidFill>
                <a:srgbClr val="000000"/>
              </a:solidFill>
              <a:effectLst/>
              <a:uFillTx/>
              <a:latin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 name="Rectangle 1"/>
          <p:cNvSpPr/>
          <p:nvPr/>
        </p:nvSpPr>
        <p:spPr>
          <a:xfrm>
            <a:off x="0" y="0"/>
            <a:ext cx="12191400" cy="383760"/>
          </a:xfrm>
          <a:prstGeom prst="rect">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97" name="TextBox 2"/>
          <p:cNvSpPr/>
          <p:nvPr/>
        </p:nvSpPr>
        <p:spPr>
          <a:xfrm>
            <a:off x="255960" y="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FFFFFF"/>
                </a:solidFill>
                <a:effectLst/>
                <a:uFillTx/>
                <a:latin typeface="Calibri"/>
              </a:rPr>
              <a:t>Monopoly &amp; Monopolistic Competition · Government &amp; Market Power</a:t>
            </a:r>
            <a:endParaRPr lang="en-US" sz="1600" b="0" u="none" strike="noStrike">
              <a:solidFill>
                <a:srgbClr val="000000"/>
              </a:solidFill>
              <a:effectLst/>
              <a:uFillTx/>
              <a:latin typeface="Arial"/>
            </a:endParaRPr>
          </a:p>
        </p:txBody>
      </p:sp>
      <p:sp>
        <p:nvSpPr>
          <p:cNvPr id="298" name="TextBox 3"/>
          <p:cNvSpPr/>
          <p:nvPr/>
        </p:nvSpPr>
        <p:spPr>
          <a:xfrm>
            <a:off x="255960" y="457200"/>
            <a:ext cx="1168560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3200" b="1" u="none" strike="noStrike">
                <a:solidFill>
                  <a:srgbClr val="0B2B4E"/>
                </a:solidFill>
                <a:effectLst/>
                <a:uFillTx/>
                <a:latin typeface="Calibri"/>
              </a:rPr>
              <a:t>The Google Antitrust Case: A Timeline</a:t>
            </a:r>
            <a:endParaRPr lang="en-US" sz="3200" b="0" u="none" strike="noStrike">
              <a:solidFill>
                <a:srgbClr val="000000"/>
              </a:solidFill>
              <a:effectLst/>
              <a:uFillTx/>
              <a:latin typeface="Arial"/>
            </a:endParaRPr>
          </a:p>
        </p:txBody>
      </p:sp>
      <p:sp>
        <p:nvSpPr>
          <p:cNvPr id="299" name="Rectangle 4"/>
          <p:cNvSpPr/>
          <p:nvPr/>
        </p:nvSpPr>
        <p:spPr>
          <a:xfrm>
            <a:off x="255960" y="1143000"/>
            <a:ext cx="116856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300" name="Rectangle 5"/>
          <p:cNvSpPr/>
          <p:nvPr/>
        </p:nvSpPr>
        <p:spPr>
          <a:xfrm>
            <a:off x="255960" y="11340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301" name="Rectangle 6"/>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302" name="Rectangle 7"/>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303" name="TextBox 8"/>
          <p:cNvSpPr/>
          <p:nvPr/>
        </p:nvSpPr>
        <p:spPr>
          <a:xfrm>
            <a:off x="255960" y="65836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0" u="none" strike="noStrike">
                <a:solidFill>
                  <a:srgbClr val="555B66"/>
                </a:solidFill>
                <a:effectLst/>
                <a:uFillTx/>
                <a:latin typeface="Calibri"/>
              </a:rPr>
              <a:t>Management 405  ·  Monopoly and Monopolistic Competition</a:t>
            </a:r>
            <a:endParaRPr lang="en-US" sz="1200" b="0" u="none" strike="noStrike">
              <a:solidFill>
                <a:srgbClr val="000000"/>
              </a:solidFill>
              <a:effectLst/>
              <a:uFillTx/>
              <a:latin typeface="Arial"/>
            </a:endParaRPr>
          </a:p>
        </p:txBody>
      </p:sp>
      <p:sp>
        <p:nvSpPr>
          <p:cNvPr id="304" name="TextBox 9"/>
          <p:cNvSpPr/>
          <p:nvPr/>
        </p:nvSpPr>
        <p:spPr>
          <a:xfrm>
            <a:off x="11430000" y="658368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1200" b="0" u="none" strike="noStrike">
                <a:solidFill>
                  <a:srgbClr val="555B66"/>
                </a:solidFill>
                <a:effectLst/>
                <a:uFillTx/>
                <a:latin typeface="Calibri"/>
              </a:rPr>
              <a:t>16</a:t>
            </a:r>
            <a:endParaRPr lang="en-US" sz="1200" b="0" u="none" strike="noStrike">
              <a:solidFill>
                <a:srgbClr val="000000"/>
              </a:solidFill>
              <a:effectLst/>
              <a:uFillTx/>
              <a:latin typeface="Arial"/>
            </a:endParaRPr>
          </a:p>
        </p:txBody>
      </p:sp>
      <p:cxnSp>
        <p:nvCxnSpPr>
          <p:cNvPr id="305" name="Connector 10"/>
          <p:cNvCxnSpPr/>
          <p:nvPr/>
        </p:nvCxnSpPr>
        <p:spPr>
          <a:xfrm>
            <a:off x="1051560" y="1600200"/>
            <a:ext cx="720" cy="4023360"/>
          </a:xfrm>
          <a:prstGeom prst="straightConnector1">
            <a:avLst/>
          </a:prstGeom>
          <a:ln w="27940">
            <a:solidFill>
              <a:srgbClr val="0B2B4E"/>
            </a:solidFill>
            <a:round/>
          </a:ln>
        </p:spPr>
      </p:cxnSp>
      <p:sp>
        <p:nvSpPr>
          <p:cNvPr id="306" name="Oval 11"/>
          <p:cNvSpPr/>
          <p:nvPr/>
        </p:nvSpPr>
        <p:spPr>
          <a:xfrm>
            <a:off x="932760" y="1481400"/>
            <a:ext cx="237240" cy="237240"/>
          </a:xfrm>
          <a:prstGeom prst="ellipse">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07" name="TextBox 12"/>
          <p:cNvSpPr/>
          <p:nvPr/>
        </p:nvSpPr>
        <p:spPr>
          <a:xfrm>
            <a:off x="1325880" y="1417320"/>
            <a:ext cx="13712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0B2B4E"/>
                </a:solidFill>
                <a:effectLst/>
                <a:uFillTx/>
                <a:latin typeface="Calibri"/>
              </a:rPr>
              <a:t>Oct 2020</a:t>
            </a:r>
            <a:endParaRPr lang="en-US" sz="1600" b="0" u="none" strike="noStrike">
              <a:solidFill>
                <a:srgbClr val="000000"/>
              </a:solidFill>
              <a:effectLst/>
              <a:uFillTx/>
              <a:latin typeface="Arial"/>
            </a:endParaRPr>
          </a:p>
        </p:txBody>
      </p:sp>
      <p:sp>
        <p:nvSpPr>
          <p:cNvPr id="308" name="TextBox 13"/>
          <p:cNvSpPr/>
          <p:nvPr/>
        </p:nvSpPr>
        <p:spPr>
          <a:xfrm>
            <a:off x="2743200" y="1344240"/>
            <a:ext cx="475452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400" b="0" u="none" strike="noStrike">
                <a:solidFill>
                  <a:srgbClr val="555B66"/>
                </a:solidFill>
                <a:effectLst/>
                <a:uFillTx/>
                <a:latin typeface="Calibri"/>
              </a:rPr>
              <a:t>DOJ and 11 states sue Google for illegally monopolizing online search</a:t>
            </a:r>
            <a:endParaRPr lang="en-US" sz="1400" b="0" u="none" strike="noStrike">
              <a:solidFill>
                <a:srgbClr val="000000"/>
              </a:solidFill>
              <a:effectLst/>
              <a:uFillTx/>
              <a:latin typeface="Arial"/>
            </a:endParaRPr>
          </a:p>
        </p:txBody>
      </p:sp>
      <p:sp>
        <p:nvSpPr>
          <p:cNvPr id="309" name="Oval 14"/>
          <p:cNvSpPr/>
          <p:nvPr/>
        </p:nvSpPr>
        <p:spPr>
          <a:xfrm>
            <a:off x="932760" y="2267640"/>
            <a:ext cx="237240" cy="237240"/>
          </a:xfrm>
          <a:prstGeom prst="ellipse">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10" name="TextBox 15"/>
          <p:cNvSpPr/>
          <p:nvPr/>
        </p:nvSpPr>
        <p:spPr>
          <a:xfrm>
            <a:off x="1325880" y="2203560"/>
            <a:ext cx="13712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0B2B4E"/>
                </a:solidFill>
                <a:effectLst/>
                <a:uFillTx/>
                <a:latin typeface="Calibri"/>
              </a:rPr>
              <a:t>2023</a:t>
            </a:r>
            <a:endParaRPr lang="en-US" sz="1600" b="0" u="none" strike="noStrike">
              <a:solidFill>
                <a:srgbClr val="000000"/>
              </a:solidFill>
              <a:effectLst/>
              <a:uFillTx/>
              <a:latin typeface="Arial"/>
            </a:endParaRPr>
          </a:p>
        </p:txBody>
      </p:sp>
      <p:sp>
        <p:nvSpPr>
          <p:cNvPr id="311" name="TextBox 16"/>
          <p:cNvSpPr/>
          <p:nvPr/>
        </p:nvSpPr>
        <p:spPr>
          <a:xfrm>
            <a:off x="2743200" y="2130480"/>
            <a:ext cx="475452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400" b="0" u="none" strike="noStrike">
                <a:solidFill>
                  <a:srgbClr val="555B66"/>
                </a:solidFill>
                <a:effectLst/>
                <a:uFillTx/>
                <a:latin typeface="Calibri"/>
              </a:rPr>
              <a:t>10-week bench trial before Judge Amit Mehta (Washington, D.C.)</a:t>
            </a:r>
            <a:endParaRPr lang="en-US" sz="1400" b="0" u="none" strike="noStrike">
              <a:solidFill>
                <a:srgbClr val="000000"/>
              </a:solidFill>
              <a:effectLst/>
              <a:uFillTx/>
              <a:latin typeface="Arial"/>
            </a:endParaRPr>
          </a:p>
        </p:txBody>
      </p:sp>
      <p:sp>
        <p:nvSpPr>
          <p:cNvPr id="312" name="Oval 17"/>
          <p:cNvSpPr/>
          <p:nvPr/>
        </p:nvSpPr>
        <p:spPr>
          <a:xfrm>
            <a:off x="932760" y="3054240"/>
            <a:ext cx="237240" cy="237240"/>
          </a:xfrm>
          <a:prstGeom prst="ellipse">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13" name="TextBox 18"/>
          <p:cNvSpPr/>
          <p:nvPr/>
        </p:nvSpPr>
        <p:spPr>
          <a:xfrm>
            <a:off x="1325880" y="2990160"/>
            <a:ext cx="13712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0B2B4E"/>
                </a:solidFill>
                <a:effectLst/>
                <a:uFillTx/>
                <a:latin typeface="Calibri"/>
              </a:rPr>
              <a:t>Aug 2024</a:t>
            </a:r>
            <a:endParaRPr lang="en-US" sz="1600" b="0" u="none" strike="noStrike">
              <a:solidFill>
                <a:srgbClr val="000000"/>
              </a:solidFill>
              <a:effectLst/>
              <a:uFillTx/>
              <a:latin typeface="Arial"/>
            </a:endParaRPr>
          </a:p>
        </p:txBody>
      </p:sp>
      <p:sp>
        <p:nvSpPr>
          <p:cNvPr id="314" name="TextBox 19"/>
          <p:cNvSpPr/>
          <p:nvPr/>
        </p:nvSpPr>
        <p:spPr>
          <a:xfrm>
            <a:off x="2743200" y="2917080"/>
            <a:ext cx="475452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400" b="0" u="none" strike="noStrike">
                <a:solidFill>
                  <a:srgbClr val="555B66"/>
                </a:solidFill>
                <a:effectLst/>
                <a:uFillTx/>
                <a:latin typeface="Calibri"/>
              </a:rPr>
              <a:t>Mehta rules “Google is a monopolist” in search and text ads</a:t>
            </a:r>
            <a:endParaRPr lang="en-US" sz="1400" b="0" u="none" strike="noStrike">
              <a:solidFill>
                <a:srgbClr val="000000"/>
              </a:solidFill>
              <a:effectLst/>
              <a:uFillTx/>
              <a:latin typeface="Arial"/>
            </a:endParaRPr>
          </a:p>
        </p:txBody>
      </p:sp>
      <p:sp>
        <p:nvSpPr>
          <p:cNvPr id="315" name="Oval 20"/>
          <p:cNvSpPr/>
          <p:nvPr/>
        </p:nvSpPr>
        <p:spPr>
          <a:xfrm>
            <a:off x="932760" y="3840480"/>
            <a:ext cx="237240" cy="237240"/>
          </a:xfrm>
          <a:prstGeom prst="ellipse">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16" name="TextBox 21"/>
          <p:cNvSpPr/>
          <p:nvPr/>
        </p:nvSpPr>
        <p:spPr>
          <a:xfrm>
            <a:off x="1325880" y="3776400"/>
            <a:ext cx="13712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0B2B4E"/>
                </a:solidFill>
                <a:effectLst/>
                <a:uFillTx/>
                <a:latin typeface="Calibri"/>
              </a:rPr>
              <a:t>Nov 2024</a:t>
            </a:r>
            <a:endParaRPr lang="en-US" sz="1600" b="0" u="none" strike="noStrike">
              <a:solidFill>
                <a:srgbClr val="000000"/>
              </a:solidFill>
              <a:effectLst/>
              <a:uFillTx/>
              <a:latin typeface="Arial"/>
            </a:endParaRPr>
          </a:p>
        </p:txBody>
      </p:sp>
      <p:sp>
        <p:nvSpPr>
          <p:cNvPr id="317" name="TextBox 22"/>
          <p:cNvSpPr/>
          <p:nvPr/>
        </p:nvSpPr>
        <p:spPr>
          <a:xfrm>
            <a:off x="2743200" y="3703320"/>
            <a:ext cx="475452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400" b="0" u="none" strike="noStrike">
                <a:solidFill>
                  <a:srgbClr val="555B66"/>
                </a:solidFill>
                <a:effectLst/>
                <a:uFillTx/>
                <a:latin typeface="Calibri"/>
              </a:rPr>
              <a:t>DOJ proposes remedies — including forcing Google to sell Chrome</a:t>
            </a:r>
            <a:endParaRPr lang="en-US" sz="1400" b="0" u="none" strike="noStrike">
              <a:solidFill>
                <a:srgbClr val="000000"/>
              </a:solidFill>
              <a:effectLst/>
              <a:uFillTx/>
              <a:latin typeface="Arial"/>
            </a:endParaRPr>
          </a:p>
        </p:txBody>
      </p:sp>
      <p:sp>
        <p:nvSpPr>
          <p:cNvPr id="318" name="Oval 23"/>
          <p:cNvSpPr/>
          <p:nvPr/>
        </p:nvSpPr>
        <p:spPr>
          <a:xfrm>
            <a:off x="932760" y="4626720"/>
            <a:ext cx="237240" cy="237240"/>
          </a:xfrm>
          <a:prstGeom prst="ellipse">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19" name="TextBox 24"/>
          <p:cNvSpPr/>
          <p:nvPr/>
        </p:nvSpPr>
        <p:spPr>
          <a:xfrm>
            <a:off x="1325880" y="4563000"/>
            <a:ext cx="13712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0B2B4E"/>
                </a:solidFill>
                <a:effectLst/>
                <a:uFillTx/>
                <a:latin typeface="Calibri"/>
              </a:rPr>
              <a:t>Sep 2025</a:t>
            </a:r>
            <a:endParaRPr lang="en-US" sz="1600" b="0" u="none" strike="noStrike">
              <a:solidFill>
                <a:srgbClr val="000000"/>
              </a:solidFill>
              <a:effectLst/>
              <a:uFillTx/>
              <a:latin typeface="Arial"/>
            </a:endParaRPr>
          </a:p>
        </p:txBody>
      </p:sp>
      <p:sp>
        <p:nvSpPr>
          <p:cNvPr id="320" name="TextBox 25"/>
          <p:cNvSpPr/>
          <p:nvPr/>
        </p:nvSpPr>
        <p:spPr>
          <a:xfrm>
            <a:off x="2743200" y="4489560"/>
            <a:ext cx="475452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400" b="0" u="none" strike="noStrike">
                <a:solidFill>
                  <a:srgbClr val="555B66"/>
                </a:solidFill>
                <a:effectLst/>
                <a:uFillTx/>
                <a:latin typeface="Calibri"/>
              </a:rPr>
              <a:t>Remedies ruling: no breakup; ends exclusive default deals; must share search data</a:t>
            </a:r>
            <a:endParaRPr lang="en-US" sz="1400" b="0" u="none" strike="noStrike">
              <a:solidFill>
                <a:srgbClr val="000000"/>
              </a:solidFill>
              <a:effectLst/>
              <a:uFillTx/>
              <a:latin typeface="Arial"/>
            </a:endParaRPr>
          </a:p>
        </p:txBody>
      </p:sp>
      <p:sp>
        <p:nvSpPr>
          <p:cNvPr id="321" name="Oval 26"/>
          <p:cNvSpPr/>
          <p:nvPr/>
        </p:nvSpPr>
        <p:spPr>
          <a:xfrm>
            <a:off x="932760" y="5413320"/>
            <a:ext cx="237240" cy="237240"/>
          </a:xfrm>
          <a:prstGeom prst="ellipse">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22" name="TextBox 27"/>
          <p:cNvSpPr/>
          <p:nvPr/>
        </p:nvSpPr>
        <p:spPr>
          <a:xfrm>
            <a:off x="1325880" y="5349240"/>
            <a:ext cx="13712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0B2B4E"/>
                </a:solidFill>
                <a:effectLst/>
                <a:uFillTx/>
                <a:latin typeface="Calibri"/>
              </a:rPr>
              <a:t>Dec 2025</a:t>
            </a:r>
            <a:endParaRPr lang="en-US" sz="1600" b="0" u="none" strike="noStrike">
              <a:solidFill>
                <a:srgbClr val="000000"/>
              </a:solidFill>
              <a:effectLst/>
              <a:uFillTx/>
              <a:latin typeface="Arial"/>
            </a:endParaRPr>
          </a:p>
        </p:txBody>
      </p:sp>
      <p:sp>
        <p:nvSpPr>
          <p:cNvPr id="323" name="TextBox 28"/>
          <p:cNvSpPr/>
          <p:nvPr/>
        </p:nvSpPr>
        <p:spPr>
          <a:xfrm>
            <a:off x="2743200" y="5276160"/>
            <a:ext cx="475452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400" b="0" u="none" strike="noStrike">
                <a:solidFill>
                  <a:srgbClr val="555B66"/>
                </a:solidFill>
                <a:effectLst/>
                <a:uFillTx/>
                <a:latin typeface="Calibri"/>
              </a:rPr>
              <a:t>Final judgment entered; Google expected to appeal</a:t>
            </a:r>
            <a:endParaRPr lang="en-US" sz="1400" b="0" u="none" strike="noStrike">
              <a:solidFill>
                <a:srgbClr val="000000"/>
              </a:solidFill>
              <a:effectLst/>
              <a:uFillTx/>
              <a:latin typeface="Arial"/>
            </a:endParaRPr>
          </a:p>
        </p:txBody>
      </p:sp>
      <p:sp>
        <p:nvSpPr>
          <p:cNvPr id="324" name="Rounded Rectangle 29"/>
          <p:cNvSpPr/>
          <p:nvPr/>
        </p:nvSpPr>
        <p:spPr>
          <a:xfrm>
            <a:off x="7635240" y="1600200"/>
            <a:ext cx="4205880" cy="4388760"/>
          </a:xfrm>
          <a:prstGeom prst="roundRect">
            <a:avLst>
              <a:gd name="adj" fmla="val 16667"/>
            </a:avLst>
          </a:prstGeom>
          <a:solidFill>
            <a:srgbClr val="FFFFFF"/>
          </a:solidFill>
          <a:ln w="15875">
            <a:solidFill>
              <a:srgbClr val="0B2B4E"/>
            </a:solidFill>
            <a:round/>
          </a:ln>
          <a:effectLst>
            <a:outerShdw blurRad="39960" dist="24840" dir="5400000" rotWithShape="0">
              <a:srgbClr val="000000">
                <a:alpha val="30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25" name="TextBox 30"/>
          <p:cNvSpPr/>
          <p:nvPr/>
        </p:nvSpPr>
        <p:spPr>
          <a:xfrm>
            <a:off x="7635240" y="1801440"/>
            <a:ext cx="420588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1500" b="1" u="none" strike="noStrike">
                <a:solidFill>
                  <a:srgbClr val="0B2B4E"/>
                </a:solidFill>
                <a:effectLst/>
                <a:uFillTx/>
                <a:latin typeface="Calibri"/>
              </a:rPr>
              <a:t>UNITED STATES  v.  GOOGLE LLC</a:t>
            </a:r>
            <a:endParaRPr lang="en-US" sz="1500" b="0" u="none" strike="noStrike">
              <a:solidFill>
                <a:srgbClr val="000000"/>
              </a:solidFill>
              <a:effectLst/>
              <a:uFillTx/>
              <a:latin typeface="Arial"/>
            </a:endParaRPr>
          </a:p>
        </p:txBody>
      </p:sp>
      <p:sp>
        <p:nvSpPr>
          <p:cNvPr id="326" name="TextBox 31"/>
          <p:cNvSpPr/>
          <p:nvPr/>
        </p:nvSpPr>
        <p:spPr>
          <a:xfrm>
            <a:off x="7635240" y="2194560"/>
            <a:ext cx="4205880" cy="6854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457200">
              <a:lnSpc>
                <a:spcPct val="100000"/>
              </a:lnSpc>
            </a:pPr>
            <a:r>
              <a:rPr lang="en-US" sz="4600" b="1" u="none" strike="noStrike">
                <a:solidFill>
                  <a:srgbClr val="4285F4"/>
                </a:solidFill>
                <a:effectLst/>
                <a:uFillTx/>
                <a:latin typeface="Arial"/>
              </a:rPr>
              <a:t>G</a:t>
            </a:r>
            <a:r>
              <a:rPr lang="en-US" sz="4600" b="1" u="none" strike="noStrike">
                <a:solidFill>
                  <a:srgbClr val="EA4335"/>
                </a:solidFill>
                <a:effectLst/>
                <a:uFillTx/>
                <a:latin typeface="Arial"/>
              </a:rPr>
              <a:t>o</a:t>
            </a:r>
            <a:r>
              <a:rPr lang="en-US" sz="4600" b="1" u="none" strike="noStrike">
                <a:solidFill>
                  <a:srgbClr val="FBBC05"/>
                </a:solidFill>
                <a:effectLst/>
                <a:uFillTx/>
                <a:latin typeface="Arial"/>
              </a:rPr>
              <a:t>o</a:t>
            </a:r>
            <a:r>
              <a:rPr lang="en-US" sz="4600" b="1" u="none" strike="noStrike">
                <a:solidFill>
                  <a:srgbClr val="4285F4"/>
                </a:solidFill>
                <a:effectLst/>
                <a:uFillTx/>
                <a:latin typeface="Arial"/>
              </a:rPr>
              <a:t>g</a:t>
            </a:r>
            <a:r>
              <a:rPr lang="en-US" sz="4600" b="1" u="none" strike="noStrike">
                <a:solidFill>
                  <a:srgbClr val="34A853"/>
                </a:solidFill>
                <a:effectLst/>
                <a:uFillTx/>
                <a:latin typeface="Arial"/>
              </a:rPr>
              <a:t>l</a:t>
            </a:r>
            <a:r>
              <a:rPr lang="en-US" sz="4600" b="1" u="none" strike="noStrike">
                <a:solidFill>
                  <a:srgbClr val="EA4335"/>
                </a:solidFill>
                <a:effectLst/>
                <a:uFillTx/>
                <a:latin typeface="Arial"/>
              </a:rPr>
              <a:t>e</a:t>
            </a:r>
            <a:endParaRPr lang="en-US" sz="4600" b="0" u="none" strike="noStrike">
              <a:solidFill>
                <a:srgbClr val="000000"/>
              </a:solidFill>
              <a:effectLst/>
              <a:uFillTx/>
              <a:latin typeface="Arial"/>
            </a:endParaRPr>
          </a:p>
        </p:txBody>
      </p:sp>
      <p:sp>
        <p:nvSpPr>
          <p:cNvPr id="327" name="Rounded Rectangle 32"/>
          <p:cNvSpPr/>
          <p:nvPr/>
        </p:nvSpPr>
        <p:spPr>
          <a:xfrm>
            <a:off x="9171360" y="3200400"/>
            <a:ext cx="1133640" cy="310680"/>
          </a:xfrm>
          <a:prstGeom prst="roundRect">
            <a:avLst>
              <a:gd name="adj" fmla="val 16667"/>
            </a:avLst>
          </a:prstGeom>
          <a:solidFill>
            <a:srgbClr val="8A5A2C"/>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28" name="Rounded Rectangle 33"/>
          <p:cNvSpPr/>
          <p:nvPr/>
        </p:nvSpPr>
        <p:spPr>
          <a:xfrm>
            <a:off x="9135000" y="3154680"/>
            <a:ext cx="145800" cy="402120"/>
          </a:xfrm>
          <a:prstGeom prst="roundRect">
            <a:avLst>
              <a:gd name="adj" fmla="val 16667"/>
            </a:avLst>
          </a:prstGeom>
          <a:solidFill>
            <a:srgbClr val="5E3C18"/>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29" name="Rounded Rectangle 34"/>
          <p:cNvSpPr/>
          <p:nvPr/>
        </p:nvSpPr>
        <p:spPr>
          <a:xfrm>
            <a:off x="10195560" y="3154680"/>
            <a:ext cx="145800" cy="402120"/>
          </a:xfrm>
          <a:prstGeom prst="roundRect">
            <a:avLst>
              <a:gd name="adj" fmla="val 16667"/>
            </a:avLst>
          </a:prstGeom>
          <a:solidFill>
            <a:srgbClr val="5E3C18"/>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30" name="Rounded Rectangle 35"/>
          <p:cNvSpPr/>
          <p:nvPr/>
        </p:nvSpPr>
        <p:spPr>
          <a:xfrm>
            <a:off x="9674280" y="3474720"/>
            <a:ext cx="127800" cy="658080"/>
          </a:xfrm>
          <a:prstGeom prst="roundRect">
            <a:avLst>
              <a:gd name="adj" fmla="val 16667"/>
            </a:avLst>
          </a:prstGeom>
          <a:solidFill>
            <a:srgbClr val="8A5A2C"/>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31" name="Rounded Rectangle 36"/>
          <p:cNvSpPr/>
          <p:nvPr/>
        </p:nvSpPr>
        <p:spPr>
          <a:xfrm>
            <a:off x="9235440" y="4142160"/>
            <a:ext cx="1005480" cy="155160"/>
          </a:xfrm>
          <a:prstGeom prst="roundRect">
            <a:avLst>
              <a:gd name="adj" fmla="val 16667"/>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32" name="Rectangle 37"/>
          <p:cNvSpPr/>
          <p:nvPr/>
        </p:nvSpPr>
        <p:spPr>
          <a:xfrm>
            <a:off x="8549640" y="4480560"/>
            <a:ext cx="2377080" cy="2700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333" name="TextBox 38"/>
          <p:cNvSpPr/>
          <p:nvPr/>
        </p:nvSpPr>
        <p:spPr>
          <a:xfrm>
            <a:off x="7726680" y="4617720"/>
            <a:ext cx="40230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1400" b="1" u="none" strike="noStrike">
                <a:solidFill>
                  <a:srgbClr val="0B2B4E"/>
                </a:solidFill>
                <a:effectLst/>
                <a:uFillTx/>
                <a:latin typeface="Calibri"/>
              </a:rPr>
              <a:t>Search-monopoly antitrust trial</a:t>
            </a:r>
            <a:endParaRPr lang="en-US" sz="1400" b="0" u="none" strike="noStrike">
              <a:solidFill>
                <a:srgbClr val="000000"/>
              </a:solidFill>
              <a:effectLst/>
              <a:uFillTx/>
              <a:latin typeface="Arial"/>
            </a:endParaRPr>
          </a:p>
        </p:txBody>
      </p:sp>
      <p:sp>
        <p:nvSpPr>
          <p:cNvPr id="334" name="TextBox 39"/>
          <p:cNvSpPr/>
          <p:nvPr/>
        </p:nvSpPr>
        <p:spPr>
          <a:xfrm>
            <a:off x="7726680" y="5056560"/>
            <a:ext cx="402300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1200" b="0" i="1" u="none" strike="noStrike">
                <a:solidFill>
                  <a:srgbClr val="555B66"/>
                </a:solidFill>
                <a:effectLst/>
                <a:uFillTx/>
                <a:latin typeface="Calibri"/>
              </a:rPr>
              <a:t>U.S. District Court, D.D.C.</a:t>
            </a:r>
            <a:endParaRPr lang="en-US" sz="1200" b="0" u="none" strike="noStrike">
              <a:solidFill>
                <a:srgbClr val="000000"/>
              </a:solidFill>
              <a:effectLst/>
              <a:uFillTx/>
              <a:latin typeface="Arial"/>
            </a:endParaRPr>
          </a:p>
        </p:txBody>
      </p:sp>
      <p:sp>
        <p:nvSpPr>
          <p:cNvPr id="335" name="TextBox 40"/>
          <p:cNvSpPr/>
          <p:nvPr/>
        </p:nvSpPr>
        <p:spPr>
          <a:xfrm>
            <a:off x="7726680" y="5349240"/>
            <a:ext cx="402300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1200" b="0" i="1" u="none" strike="noStrike">
                <a:solidFill>
                  <a:srgbClr val="555B66"/>
                </a:solidFill>
                <a:effectLst/>
                <a:uFillTx/>
                <a:latin typeface="Calibri"/>
              </a:rPr>
              <a:t>Judge Amit P. Mehta  ·  2020–2025</a:t>
            </a:r>
            <a:endParaRPr lang="en-US" sz="1200" b="0" u="none" strike="noStrike">
              <a:solidFill>
                <a:srgbClr val="000000"/>
              </a:solidFill>
              <a:effectLst/>
              <a:uFillTx/>
              <a:latin typeface="Arial"/>
            </a:endParaRPr>
          </a:p>
        </p:txBody>
      </p:sp>
      <p:sp>
        <p:nvSpPr>
          <p:cNvPr id="336" name="Rounded Rectangle 41"/>
          <p:cNvSpPr/>
          <p:nvPr/>
        </p:nvSpPr>
        <p:spPr>
          <a:xfrm>
            <a:off x="914400" y="5742360"/>
            <a:ext cx="6126120" cy="566640"/>
          </a:xfrm>
          <a:prstGeom prst="roundRect">
            <a:avLst>
              <a:gd name="adj" fmla="val 16667"/>
            </a:avLst>
          </a:prstGeom>
          <a:solidFill>
            <a:srgbClr val="FDF6E6"/>
          </a:solidFill>
          <a:ln w="12700">
            <a:solidFill>
              <a:srgbClr val="E09F3E"/>
            </a:solidFill>
            <a:round/>
          </a:ln>
          <a:effectLst>
            <a:outerShdw blurRad="39960" dist="24840" dir="5400000" rotWithShape="0">
              <a:srgbClr val="000000">
                <a:alpha val="30000"/>
              </a:srgbClr>
            </a:outerShdw>
          </a:effectLst>
        </p:spPr>
        <p:style>
          <a:lnRef idx="1">
            <a:schemeClr val="accent1"/>
          </a:lnRef>
          <a:fillRef idx="3">
            <a:schemeClr val="accent1"/>
          </a:fillRef>
          <a:effectRef idx="2">
            <a:schemeClr val="accent1"/>
          </a:effectRef>
          <a:fontRef idx="minor"/>
        </p:style>
        <p:txBody>
          <a:bodyPr lIns="109800" tIns="54720" rIns="109800" bIns="54720" anchor="ctr">
            <a:noAutofit/>
          </a:bodyPr>
          <a:lstStyle/>
          <a:p>
            <a:pPr defTabSz="457200">
              <a:lnSpc>
                <a:spcPct val="100000"/>
              </a:lnSpc>
            </a:pPr>
            <a:r>
              <a:rPr lang="en-US" sz="1300" b="1" u="none" strike="noStrike">
                <a:solidFill>
                  <a:srgbClr val="0070C0"/>
                </a:solidFill>
                <a:effectLst/>
                <a:uFillTx/>
                <a:latin typeface="Calibri"/>
              </a:rPr>
              <a:t>~90%</a:t>
            </a:r>
            <a:r>
              <a:rPr lang="en-US" sz="1300" b="0" u="none" strike="noStrike">
                <a:solidFill>
                  <a:srgbClr val="0B2B4E"/>
                </a:solidFill>
                <a:effectLst/>
                <a:uFillTx/>
                <a:latin typeface="Calibri"/>
              </a:rPr>
              <a:t> of U.S. search   </a:t>
            </a:r>
            <a:r>
              <a:rPr lang="en-US" sz="1300" b="1" u="none" strike="noStrike">
                <a:solidFill>
                  <a:srgbClr val="0070C0"/>
                </a:solidFill>
                <a:effectLst/>
                <a:uFillTx/>
                <a:latin typeface="Calibri"/>
              </a:rPr>
              <a:t>~$26B</a:t>
            </a:r>
            <a:r>
              <a:rPr lang="en-US" sz="1300" b="0" u="none" strike="noStrike">
                <a:solidFill>
                  <a:srgbClr val="0B2B4E"/>
                </a:solidFill>
                <a:effectLst/>
                <a:uFillTx/>
                <a:latin typeface="Calibri"/>
              </a:rPr>
              <a:t>/yr in default deals   </a:t>
            </a:r>
            <a:r>
              <a:rPr lang="en-US" sz="1300" b="1" u="none" strike="noStrike">
                <a:solidFill>
                  <a:srgbClr val="0070C0"/>
                </a:solidFill>
                <a:effectLst/>
                <a:uFillTx/>
                <a:latin typeface="Calibri"/>
              </a:rPr>
              <a:t>Behavioral</a:t>
            </a:r>
            <a:r>
              <a:rPr lang="en-US" sz="1300" b="0" u="none" strike="noStrike">
                <a:solidFill>
                  <a:srgbClr val="0B2B4E"/>
                </a:solidFill>
                <a:effectLst/>
                <a:uFillTx/>
                <a:latin typeface="Calibri"/>
              </a:rPr>
              <a:t> remedy — no breakup</a:t>
            </a:r>
            <a:endParaRPr lang="en-US" sz="1300" b="0" u="none" strike="noStrike">
              <a:solidFill>
                <a:srgbClr val="000000"/>
              </a:solidFill>
              <a:effectLst/>
              <a:uFillTx/>
              <a:latin typeface="Arial"/>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__PE_POLL_EMBED_ID" val="43952bd0-0092-4e00-ab81-bfbd30fffe63"/>
</p:tagLst>
</file>

<file path=ppt/tags/tag2.xml><?xml version="1.0" encoding="utf-8"?>
<p:tagLst xmlns:a="http://schemas.openxmlformats.org/drawingml/2006/main" xmlns:r="http://schemas.openxmlformats.org/officeDocument/2006/relationships" xmlns:p="http://schemas.openxmlformats.org/presentationml/2006/main">
  <p:tag name="__PE_POLL_EMBED_ID" val="4b19b45d-b395-4aa1-95a2-9680b1096bcf"/>
</p:tagLst>
</file>

<file path=ppt/tags/tag3.xml><?xml version="1.0" encoding="utf-8"?>
<p:tagLst xmlns:a="http://schemas.openxmlformats.org/drawingml/2006/main" xmlns:r="http://schemas.openxmlformats.org/officeDocument/2006/relationships" xmlns:p="http://schemas.openxmlformats.org/presentationml/2006/main">
  <p:tag name="__PE_POLL_EMBED_ID" val="3ccad4b0-f57b-45c9-936e-5101cec82511"/>
</p:tagLst>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6</TotalTime>
  <Words>2210</Words>
  <Application>Microsoft Office PowerPoint</Application>
  <PresentationFormat>Widescreen</PresentationFormat>
  <Paragraphs>242</Paragraphs>
  <Slides>16</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Aptos</vt:lpstr>
      <vt:lpstr>Arial</vt:lpstr>
      <vt:lpstr>Calibri</vt:lpstr>
      <vt:lpstr>Cambria Math</vt:lpstr>
      <vt:lpstr>Symbol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dc:description>generated using python-pptx</dc:description>
  <cp:lastModifiedBy>Giuliano, Paola</cp:lastModifiedBy>
  <cp:revision>2</cp:revision>
  <dcterms:created xsi:type="dcterms:W3CDTF">2013-01-27T09:14:16Z</dcterms:created>
  <dcterms:modified xsi:type="dcterms:W3CDTF">2026-07-03T21:39:36Z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