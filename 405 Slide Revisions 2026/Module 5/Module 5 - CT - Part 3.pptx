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108" y="9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1BDD19DE-446E-4EE1-8F34-64F0702CF0B0}" type="datetimeFigureOut">
              <a:rPr lang="en-US" smtClean="0"/>
              <a:t>7/3/2026</a:t>
            </a:fld>
            <a:endParaRPr lang="en-US"/>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A67C5F2D-73E8-4D24-A4CB-D34E271D07A5}" type="slidenum">
              <a:rPr lang="en-US" smtClean="0"/>
              <a:t>‹#›</a:t>
            </a:fld>
            <a:endParaRPr lang="en-US"/>
          </a:p>
        </p:txBody>
      </p:sp>
    </p:spTree>
    <p:extLst>
      <p:ext uri="{BB962C8B-B14F-4D97-AF65-F5344CB8AC3E}">
        <p14:creationId xmlns:p14="http://schemas.microsoft.com/office/powerpoint/2010/main" val="3234827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Short run. Firms that differentiate are perpetually looking for those short term profits.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Long run: Entry of new firms makes the incumbent firm’s demand more elastic (less steep) due to the availability of substitutes. Entry of new firms also shifts the incumbent firm’s demand down due to the fact that the firm is now splitting the market. Marginal revenue will shift accordingly. </a:t>
            </a:r>
          </a:p>
          <a:p>
            <a:endParaRPr/>
          </a:p>
          <a:p>
            <a:r>
              <a:t>As long as there are positive profits, more firms will enter. Demand will shift down to where it meets average total cost, so that profits are zero. </a:t>
            </a:r>
          </a:p>
          <a:p>
            <a:endParaRPr/>
          </a:p>
          <a:p>
            <a:r>
              <a:t>Note that the entry of firms does not lead to the perfectly competitive outcome. There is still a price mark up over the MC due to downward sloping demand. </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https://www.youtube.com/watch?v=gDdq2rIqAlM&amp;t=589s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Example of legal barriers include:</a:t>
            </a:r>
          </a:p>
          <a:p>
            <a:r>
              <a:t>-- licensing requirements </a:t>
            </a:r>
          </a:p>
          <a:p>
            <a:r>
              <a:t>-- taxi medallions</a:t>
            </a:r>
          </a:p>
          <a:p>
            <a:r>
              <a:t>-- patents and copyrights</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A345A45-90A8-4B23-BE57-72CF312A1729}"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0ED52CE-6F15-4F36-8654-43F27862DB67}"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7FF5B0C-6EC3-4B9E-9C3E-249A8546DC36}"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AE8455B-0B4F-464F-81BE-8CB8A94383D3}"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058CCA3-BF2A-4932-822C-31739C46338E}"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7A9D260-5098-47CF-A550-C847CFB267B9}"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280B0A3-2DBA-4C42-9EF4-0426D3BAED0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323C364-F861-4196-A0C2-5595CBC2B8B6}"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6502A4E-C932-4EF4-BB68-239872B8DC62}"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55C185F-F8F5-4263-8C19-FA7D940A1A2A}"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2F39A01-86BB-4210-B875-00C7CEA59761}"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hyperlink" Target="https://www.youtube.com/watch?v=LPLWTT3ZVMo" TargetMode="Externa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9.xml"/><Relationship Id="rId5" Type="http://schemas.openxmlformats.org/officeDocument/2006/relationships/image" Target="../media/image9.pn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hyperlink" Target="https://www.youtube.com/watch?v=gDdq2rIqAlM"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9.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extBox 1"/>
          <p:cNvSpPr/>
          <p:nvPr/>
        </p:nvSpPr>
        <p:spPr>
          <a:xfrm>
            <a:off x="457200" y="1828800"/>
            <a:ext cx="11274120" cy="155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4800" b="1" u="none" strike="noStrike">
                <a:solidFill>
                  <a:srgbClr val="0B2B4E"/>
                </a:solidFill>
                <a:effectLst/>
                <a:uFillTx/>
                <a:latin typeface="Calibri"/>
              </a:rPr>
              <a:t>Monopoly &amp; Monopolistic Competition</a:t>
            </a:r>
            <a:endParaRPr lang="en-US" sz="4800" b="0" u="none" strike="noStrike">
              <a:solidFill>
                <a:srgbClr val="000000"/>
              </a:solidFill>
              <a:effectLst/>
              <a:uFillTx/>
              <a:latin typeface="Arial"/>
            </a:endParaRPr>
          </a:p>
        </p:txBody>
      </p:sp>
      <p:sp>
        <p:nvSpPr>
          <p:cNvPr id="62" name="TextBox 2"/>
          <p:cNvSpPr/>
          <p:nvPr/>
        </p:nvSpPr>
        <p:spPr>
          <a:xfrm>
            <a:off x="457200" y="3520440"/>
            <a:ext cx="112741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3200" b="1" u="none" strike="noStrike">
                <a:solidFill>
                  <a:srgbClr val="E09F3E"/>
                </a:solidFill>
                <a:effectLst/>
                <a:uFillTx/>
                <a:latin typeface="Calibri"/>
              </a:rPr>
              <a:t>Monopolistic Competition</a:t>
            </a:r>
            <a:endParaRPr lang="en-US" sz="3200" b="0" u="none" strike="noStrike">
              <a:solidFill>
                <a:srgbClr val="000000"/>
              </a:solidFill>
              <a:effectLst/>
              <a:uFillTx/>
              <a:latin typeface="Arial"/>
            </a:endParaRPr>
          </a:p>
        </p:txBody>
      </p:sp>
      <p:sp>
        <p:nvSpPr>
          <p:cNvPr id="63" name="Rectangle 3"/>
          <p:cNvSpPr/>
          <p:nvPr/>
        </p:nvSpPr>
        <p:spPr>
          <a:xfrm>
            <a:off x="4270320" y="4434840"/>
            <a:ext cx="3657240" cy="54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4" name="TextBox 4"/>
          <p:cNvSpPr/>
          <p:nvPr/>
        </p:nvSpPr>
        <p:spPr>
          <a:xfrm>
            <a:off x="457200" y="4800600"/>
            <a:ext cx="112741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2600" b="1" u="none" strike="noStrike">
                <a:solidFill>
                  <a:srgbClr val="555B66"/>
                </a:solidFill>
                <a:effectLst/>
                <a:uFillTx/>
                <a:latin typeface="Calibri"/>
              </a:rPr>
              <a:t>Management 405</a:t>
            </a:r>
            <a:endParaRPr lang="en-US" sz="2600" b="0" u="none" strike="noStrike">
              <a:solidFill>
                <a:srgbClr val="000000"/>
              </a:solidFill>
              <a:effectLst/>
              <a:uFillTx/>
              <a:latin typeface="Arial"/>
            </a:endParaRPr>
          </a:p>
        </p:txBody>
      </p:sp>
      <p:sp>
        <p:nvSpPr>
          <p:cNvPr id="65" name="TextBox 5"/>
          <p:cNvSpPr/>
          <p:nvPr/>
        </p:nvSpPr>
        <p:spPr>
          <a:xfrm>
            <a:off x="457200" y="5394960"/>
            <a:ext cx="11274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2200" b="0" u="none" strike="noStrike">
                <a:solidFill>
                  <a:srgbClr val="555B66"/>
                </a:solidFill>
                <a:effectLst/>
                <a:uFillTx/>
                <a:latin typeface="Calibri"/>
              </a:rPr>
              <a:t>Prof. Paola Giuliano  ·  UCLA Anderson</a:t>
            </a:r>
            <a:endParaRPr lang="en-US" sz="2200" b="0" u="none" strike="noStrike">
              <a:solidFill>
                <a:srgbClr val="000000"/>
              </a:solidFill>
              <a:effectLst/>
              <a:uFillTx/>
              <a:latin typeface="Arial"/>
            </a:endParaRPr>
          </a:p>
        </p:txBody>
      </p:sp>
      <p:sp>
        <p:nvSpPr>
          <p:cNvPr id="66"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7"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69"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Roadmap</a:t>
            </a:r>
            <a:endParaRPr lang="en-US" sz="1600" b="0" u="none" strike="noStrike">
              <a:solidFill>
                <a:srgbClr val="000000"/>
              </a:solidFill>
              <a:effectLst/>
              <a:uFillTx/>
              <a:latin typeface="Arial"/>
            </a:endParaRPr>
          </a:p>
        </p:txBody>
      </p:sp>
      <p:sp>
        <p:nvSpPr>
          <p:cNvPr id="70"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Outline</a:t>
            </a:r>
            <a:endParaRPr lang="en-US" sz="3200" b="0" u="none" strike="noStrike">
              <a:solidFill>
                <a:srgbClr val="000000"/>
              </a:solidFill>
              <a:effectLst/>
              <a:uFillTx/>
              <a:latin typeface="Arial"/>
            </a:endParaRPr>
          </a:p>
        </p:txBody>
      </p:sp>
      <p:sp>
        <p:nvSpPr>
          <p:cNvPr id="71"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72"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73"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74"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75"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76"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2</a:t>
            </a:r>
            <a:endParaRPr lang="en-US" sz="1200" b="0" u="none" strike="noStrike">
              <a:solidFill>
                <a:srgbClr val="000000"/>
              </a:solidFill>
              <a:effectLst/>
              <a:uFillTx/>
              <a:latin typeface="Arial"/>
            </a:endParaRPr>
          </a:p>
        </p:txBody>
      </p:sp>
      <p:sp>
        <p:nvSpPr>
          <p:cNvPr id="77" name="Oval 10"/>
          <p:cNvSpPr/>
          <p:nvPr/>
        </p:nvSpPr>
        <p:spPr>
          <a:xfrm>
            <a:off x="1234440" y="1837800"/>
            <a:ext cx="566640" cy="56664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200" b="1" u="none" strike="noStrike">
                <a:solidFill>
                  <a:srgbClr val="FFFFFF"/>
                </a:solidFill>
                <a:effectLst/>
                <a:uFillTx/>
                <a:latin typeface="Calibri"/>
              </a:rPr>
              <a:t>1</a:t>
            </a:r>
            <a:endParaRPr lang="en-US" sz="2200" b="0" u="none" strike="noStrike">
              <a:solidFill>
                <a:srgbClr val="000000"/>
              </a:solidFill>
              <a:effectLst/>
              <a:uFillTx/>
              <a:latin typeface="Arial"/>
            </a:endParaRPr>
          </a:p>
        </p:txBody>
      </p:sp>
      <p:sp>
        <p:nvSpPr>
          <p:cNvPr id="78" name="TextBox 11"/>
          <p:cNvSpPr/>
          <p:nvPr/>
        </p:nvSpPr>
        <p:spPr>
          <a:xfrm>
            <a:off x="2286000" y="1737360"/>
            <a:ext cx="95094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400" b="1" u="none" strike="noStrike">
                <a:solidFill>
                  <a:srgbClr val="A6ADB5"/>
                </a:solidFill>
                <a:effectLst/>
                <a:uFillTx/>
                <a:latin typeface="Calibri"/>
              </a:rPr>
              <a:t>Profit maximization for price searchers</a:t>
            </a:r>
            <a:endParaRPr lang="en-US" sz="2400" b="0" u="none" strike="noStrike">
              <a:solidFill>
                <a:srgbClr val="000000"/>
              </a:solidFill>
              <a:effectLst/>
              <a:uFillTx/>
              <a:latin typeface="Arial"/>
            </a:endParaRPr>
          </a:p>
        </p:txBody>
      </p:sp>
      <p:sp>
        <p:nvSpPr>
          <p:cNvPr id="79" name="TextBox 12"/>
          <p:cNvSpPr/>
          <p:nvPr/>
        </p:nvSpPr>
        <p:spPr>
          <a:xfrm>
            <a:off x="2286000" y="218556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800" b="0" u="none" strike="noStrike">
                <a:solidFill>
                  <a:srgbClr val="C3C8CE"/>
                </a:solidFill>
                <a:effectLst/>
                <a:uFillTx/>
                <a:latin typeface="Calibri"/>
              </a:rPr>
              <a:t>Set MR = MC; markup and the Lerner index</a:t>
            </a:r>
            <a:endParaRPr lang="en-US" sz="1800" b="0" u="none" strike="noStrike">
              <a:solidFill>
                <a:srgbClr val="000000"/>
              </a:solidFill>
              <a:effectLst/>
              <a:uFillTx/>
              <a:latin typeface="Arial"/>
            </a:endParaRPr>
          </a:p>
        </p:txBody>
      </p:sp>
      <p:sp>
        <p:nvSpPr>
          <p:cNvPr id="80" name="Oval 13"/>
          <p:cNvSpPr/>
          <p:nvPr/>
        </p:nvSpPr>
        <p:spPr>
          <a:xfrm>
            <a:off x="1234440" y="2917080"/>
            <a:ext cx="566640" cy="56664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200" b="1" u="none" strike="noStrike">
                <a:solidFill>
                  <a:srgbClr val="FFFFFF"/>
                </a:solidFill>
                <a:effectLst/>
                <a:uFillTx/>
                <a:latin typeface="Calibri"/>
              </a:rPr>
              <a:t>2</a:t>
            </a:r>
            <a:endParaRPr lang="en-US" sz="2200" b="0" u="none" strike="noStrike">
              <a:solidFill>
                <a:srgbClr val="000000"/>
              </a:solidFill>
              <a:effectLst/>
              <a:uFillTx/>
              <a:latin typeface="Arial"/>
            </a:endParaRPr>
          </a:p>
        </p:txBody>
      </p:sp>
      <p:sp>
        <p:nvSpPr>
          <p:cNvPr id="81" name="TextBox 14"/>
          <p:cNvSpPr/>
          <p:nvPr/>
        </p:nvSpPr>
        <p:spPr>
          <a:xfrm>
            <a:off x="2286000" y="2816280"/>
            <a:ext cx="95094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400" b="1" u="none" strike="noStrike">
                <a:solidFill>
                  <a:srgbClr val="A6ADB5"/>
                </a:solidFill>
                <a:effectLst/>
                <a:uFillTx/>
                <a:latin typeface="Calibri"/>
              </a:rPr>
              <a:t>Monopoly and welfare impact</a:t>
            </a:r>
            <a:endParaRPr lang="en-US" sz="2400" b="0" u="none" strike="noStrike">
              <a:solidFill>
                <a:srgbClr val="000000"/>
              </a:solidFill>
              <a:effectLst/>
              <a:uFillTx/>
              <a:latin typeface="Arial"/>
            </a:endParaRPr>
          </a:p>
        </p:txBody>
      </p:sp>
      <p:sp>
        <p:nvSpPr>
          <p:cNvPr id="82" name="TextBox 15"/>
          <p:cNvSpPr/>
          <p:nvPr/>
        </p:nvSpPr>
        <p:spPr>
          <a:xfrm>
            <a:off x="2286000" y="326448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800" b="0" u="none" strike="noStrike">
                <a:solidFill>
                  <a:srgbClr val="C3C8CE"/>
                </a:solidFill>
                <a:effectLst/>
                <a:uFillTx/>
                <a:latin typeface="Calibri"/>
              </a:rPr>
              <a:t>How monopoly restricts output and reduces welfare</a:t>
            </a:r>
            <a:endParaRPr lang="en-US" sz="1800" b="0" u="none" strike="noStrike">
              <a:solidFill>
                <a:srgbClr val="000000"/>
              </a:solidFill>
              <a:effectLst/>
              <a:uFillTx/>
              <a:latin typeface="Arial"/>
            </a:endParaRPr>
          </a:p>
        </p:txBody>
      </p:sp>
      <p:sp>
        <p:nvSpPr>
          <p:cNvPr id="83" name="Oval 16"/>
          <p:cNvSpPr/>
          <p:nvPr/>
        </p:nvSpPr>
        <p:spPr>
          <a:xfrm>
            <a:off x="1234440" y="3996000"/>
            <a:ext cx="566640" cy="566640"/>
          </a:xfrm>
          <a:prstGeom prst="ellipse">
            <a:avLst/>
          </a:prstGeom>
          <a:solidFill>
            <a:srgbClr val="B0B5BC"/>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200" b="1" u="none" strike="noStrike">
                <a:solidFill>
                  <a:srgbClr val="FFFFFF"/>
                </a:solidFill>
                <a:effectLst/>
                <a:uFillTx/>
                <a:latin typeface="Calibri"/>
              </a:rPr>
              <a:t>3</a:t>
            </a:r>
            <a:endParaRPr lang="en-US" sz="2200" b="0" u="none" strike="noStrike">
              <a:solidFill>
                <a:srgbClr val="000000"/>
              </a:solidFill>
              <a:effectLst/>
              <a:uFillTx/>
              <a:latin typeface="Arial"/>
            </a:endParaRPr>
          </a:p>
        </p:txBody>
      </p:sp>
      <p:sp>
        <p:nvSpPr>
          <p:cNvPr id="84" name="TextBox 17"/>
          <p:cNvSpPr/>
          <p:nvPr/>
        </p:nvSpPr>
        <p:spPr>
          <a:xfrm>
            <a:off x="2286000" y="3895200"/>
            <a:ext cx="95094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400" b="1" u="none" strike="noStrike">
                <a:solidFill>
                  <a:srgbClr val="A6ADB5"/>
                </a:solidFill>
                <a:effectLst/>
                <a:uFillTx/>
                <a:latin typeface="Calibri"/>
              </a:rPr>
              <a:t>Government and market power</a:t>
            </a:r>
            <a:endParaRPr lang="en-US" sz="2400" b="0" u="none" strike="noStrike">
              <a:solidFill>
                <a:srgbClr val="000000"/>
              </a:solidFill>
              <a:effectLst/>
              <a:uFillTx/>
              <a:latin typeface="Arial"/>
            </a:endParaRPr>
          </a:p>
        </p:txBody>
      </p:sp>
      <p:sp>
        <p:nvSpPr>
          <p:cNvPr id="85" name="TextBox 18"/>
          <p:cNvSpPr/>
          <p:nvPr/>
        </p:nvSpPr>
        <p:spPr>
          <a:xfrm>
            <a:off x="2286000" y="434340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800" b="0" u="none" strike="noStrike">
                <a:solidFill>
                  <a:srgbClr val="C3C8CE"/>
                </a:solidFill>
                <a:effectLst/>
                <a:uFillTx/>
                <a:latin typeface="Calibri"/>
              </a:rPr>
              <a:t>Antitrust, regulation, and market definition</a:t>
            </a:r>
            <a:endParaRPr lang="en-US" sz="1800" b="0" u="none" strike="noStrike">
              <a:solidFill>
                <a:srgbClr val="000000"/>
              </a:solidFill>
              <a:effectLst/>
              <a:uFillTx/>
              <a:latin typeface="Arial"/>
            </a:endParaRPr>
          </a:p>
        </p:txBody>
      </p:sp>
      <p:sp>
        <p:nvSpPr>
          <p:cNvPr id="86" name="Rounded Rectangle 19"/>
          <p:cNvSpPr/>
          <p:nvPr/>
        </p:nvSpPr>
        <p:spPr>
          <a:xfrm>
            <a:off x="978480" y="4873680"/>
            <a:ext cx="10423800" cy="932400"/>
          </a:xfrm>
          <a:prstGeom prst="roundRect">
            <a:avLst>
              <a:gd name="adj" fmla="val 16667"/>
            </a:avLst>
          </a:prstGeom>
          <a:solidFill>
            <a:srgbClr val="FDF6E6"/>
          </a:solidFill>
          <a:ln w="15875">
            <a:solidFill>
              <a:srgbClr val="E09F3E"/>
            </a:solidFill>
            <a:round/>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87" name="Oval 20"/>
          <p:cNvSpPr/>
          <p:nvPr/>
        </p:nvSpPr>
        <p:spPr>
          <a:xfrm>
            <a:off x="1234440" y="5074920"/>
            <a:ext cx="566640" cy="566640"/>
          </a:xfrm>
          <a:prstGeom prst="ellipse">
            <a:avLst/>
          </a:prstGeom>
          <a:solidFill>
            <a:srgbClr val="0B2B4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pPr algn="ctr" defTabSz="457200">
              <a:lnSpc>
                <a:spcPct val="100000"/>
              </a:lnSpc>
            </a:pPr>
            <a:r>
              <a:rPr lang="en-US" sz="2200" b="1" u="none" strike="noStrike">
                <a:solidFill>
                  <a:srgbClr val="FFFFFF"/>
                </a:solidFill>
                <a:effectLst/>
                <a:uFillTx/>
                <a:latin typeface="Calibri"/>
              </a:rPr>
              <a:t>4</a:t>
            </a:r>
            <a:endParaRPr lang="en-US" sz="2200" b="0" u="none" strike="noStrike">
              <a:solidFill>
                <a:srgbClr val="FFFFFF"/>
              </a:solidFill>
              <a:effectLst/>
              <a:uFillTx/>
              <a:latin typeface="Arial"/>
            </a:endParaRPr>
          </a:p>
        </p:txBody>
      </p:sp>
      <p:sp>
        <p:nvSpPr>
          <p:cNvPr id="88" name="TextBox 21"/>
          <p:cNvSpPr/>
          <p:nvPr/>
        </p:nvSpPr>
        <p:spPr>
          <a:xfrm>
            <a:off x="2286000" y="4974480"/>
            <a:ext cx="95094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400" b="1" u="none" strike="noStrike">
                <a:solidFill>
                  <a:srgbClr val="0B2B4E"/>
                </a:solidFill>
                <a:effectLst/>
                <a:uFillTx/>
                <a:latin typeface="Calibri"/>
              </a:rPr>
              <a:t>Monopolistic competition</a:t>
            </a:r>
            <a:endParaRPr lang="en-US" sz="2400" b="0" u="none" strike="noStrike">
              <a:solidFill>
                <a:srgbClr val="000000"/>
              </a:solidFill>
              <a:effectLst/>
              <a:uFillTx/>
              <a:latin typeface="Arial"/>
            </a:endParaRPr>
          </a:p>
        </p:txBody>
      </p:sp>
      <p:sp>
        <p:nvSpPr>
          <p:cNvPr id="89" name="TextBox 22"/>
          <p:cNvSpPr/>
          <p:nvPr/>
        </p:nvSpPr>
        <p:spPr>
          <a:xfrm>
            <a:off x="2286000" y="5422320"/>
            <a:ext cx="95094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800" b="0" u="none" strike="noStrike">
                <a:solidFill>
                  <a:srgbClr val="0B2B4E"/>
                </a:solidFill>
                <a:effectLst/>
                <a:uFillTx/>
                <a:latin typeface="Calibri"/>
              </a:rPr>
              <a:t>Free entry drives long-run profit to zero</a:t>
            </a:r>
            <a:endParaRPr lang="en-US" sz="18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91"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Market Structures</a:t>
            </a:r>
            <a:endParaRPr lang="en-US" sz="1600" b="0" u="none" strike="noStrike">
              <a:solidFill>
                <a:srgbClr val="000000"/>
              </a:solidFill>
              <a:effectLst/>
              <a:uFillTx/>
              <a:latin typeface="Arial"/>
            </a:endParaRPr>
          </a:p>
        </p:txBody>
      </p:sp>
      <p:sp>
        <p:nvSpPr>
          <p:cNvPr id="92"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Where We Are — and Where We're Going</a:t>
            </a:r>
            <a:endParaRPr lang="en-US" sz="3200" b="0" u="none" strike="noStrike">
              <a:solidFill>
                <a:srgbClr val="000000"/>
              </a:solidFill>
              <a:effectLst/>
              <a:uFillTx/>
              <a:latin typeface="Arial"/>
            </a:endParaRPr>
          </a:p>
        </p:txBody>
      </p:sp>
      <p:sp>
        <p:nvSpPr>
          <p:cNvPr id="93"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94"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95"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96"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97"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98"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3</a:t>
            </a:r>
            <a:endParaRPr lang="en-US" sz="1200" b="0" u="none" strike="noStrike">
              <a:solidFill>
                <a:srgbClr val="000000"/>
              </a:solidFill>
              <a:effectLst/>
              <a:uFillTx/>
              <a:latin typeface="Arial"/>
            </a:endParaRPr>
          </a:p>
        </p:txBody>
      </p:sp>
      <p:sp>
        <p:nvSpPr>
          <p:cNvPr id="99" name="CLK00"/>
          <p:cNvSpPr/>
          <p:nvPr/>
        </p:nvSpPr>
        <p:spPr>
          <a:xfrm>
            <a:off x="2743200" y="1234440"/>
            <a:ext cx="29257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700" b="1" u="none" strike="noStrike">
                <a:solidFill>
                  <a:srgbClr val="C0504D"/>
                </a:solidFill>
                <a:effectLst/>
                <a:uFillTx/>
                <a:latin typeface="Calibri"/>
              </a:rPr>
              <a:t>WE ARE HERE</a:t>
            </a:r>
            <a:endParaRPr lang="en-US" sz="1700" b="0" u="none" strike="noStrike">
              <a:solidFill>
                <a:srgbClr val="000000"/>
              </a:solidFill>
              <a:effectLst/>
              <a:uFillTx/>
              <a:latin typeface="Arial"/>
            </a:endParaRPr>
          </a:p>
        </p:txBody>
      </p:sp>
      <p:sp>
        <p:nvSpPr>
          <p:cNvPr id="100" name="CLK00"/>
          <p:cNvSpPr/>
          <p:nvPr/>
        </p:nvSpPr>
        <p:spPr>
          <a:xfrm>
            <a:off x="4338720" y="1691640"/>
            <a:ext cx="511560" cy="456840"/>
          </a:xfrm>
          <a:prstGeom prst="downArrow">
            <a:avLst>
              <a:gd name="adj1" fmla="val 50000"/>
              <a:gd name="adj2" fmla="val 50000"/>
            </a:avLst>
          </a:prstGeom>
          <a:solidFill>
            <a:srgbClr val="C0504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01" name="TextBox 12"/>
          <p:cNvSpPr/>
          <p:nvPr/>
        </p:nvSpPr>
        <p:spPr>
          <a:xfrm>
            <a:off x="502920" y="1828800"/>
            <a:ext cx="3840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500" b="0" i="1" u="none" strike="noStrike">
                <a:solidFill>
                  <a:srgbClr val="555B66"/>
                </a:solidFill>
                <a:effectLst/>
                <a:uFillTx/>
                <a:latin typeface="Calibri"/>
              </a:rPr>
              <a:t>Least market power</a:t>
            </a:r>
            <a:endParaRPr lang="en-US" sz="1500" b="0" u="none" strike="noStrike">
              <a:solidFill>
                <a:srgbClr val="000000"/>
              </a:solidFill>
              <a:effectLst/>
              <a:uFillTx/>
              <a:latin typeface="Arial"/>
            </a:endParaRPr>
          </a:p>
        </p:txBody>
      </p:sp>
      <p:sp>
        <p:nvSpPr>
          <p:cNvPr id="102" name="TextBox 13"/>
          <p:cNvSpPr/>
          <p:nvPr/>
        </p:nvSpPr>
        <p:spPr>
          <a:xfrm>
            <a:off x="8138160" y="1828800"/>
            <a:ext cx="35658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500" b="0" i="1" u="none" strike="noStrike">
                <a:solidFill>
                  <a:srgbClr val="555B66"/>
                </a:solidFill>
                <a:effectLst/>
                <a:uFillTx/>
                <a:latin typeface="Calibri"/>
              </a:rPr>
              <a:t>Most market power</a:t>
            </a:r>
            <a:endParaRPr lang="en-US" sz="1500" b="0" u="none" strike="noStrike">
              <a:solidFill>
                <a:srgbClr val="000000"/>
              </a:solidFill>
              <a:effectLst/>
              <a:uFillTx/>
              <a:latin typeface="Arial"/>
            </a:endParaRPr>
          </a:p>
        </p:txBody>
      </p:sp>
      <p:cxnSp>
        <p:nvCxnSpPr>
          <p:cNvPr id="103" name="Connector 14"/>
          <p:cNvCxnSpPr/>
          <p:nvPr/>
        </p:nvCxnSpPr>
        <p:spPr>
          <a:xfrm>
            <a:off x="548640" y="2331720"/>
            <a:ext cx="11110320" cy="720"/>
          </a:xfrm>
          <a:prstGeom prst="straightConnector1">
            <a:avLst/>
          </a:prstGeom>
          <a:ln w="27940">
            <a:solidFill>
              <a:srgbClr val="0B2B4E"/>
            </a:solidFill>
            <a:round/>
            <a:tailEnd type="triangle" w="med" len="med"/>
          </a:ln>
        </p:spPr>
      </p:cxnSp>
      <p:cxnSp>
        <p:nvCxnSpPr>
          <p:cNvPr id="104" name="Connector 15"/>
          <p:cNvCxnSpPr/>
          <p:nvPr/>
        </p:nvCxnSpPr>
        <p:spPr>
          <a:xfrm flipH="1">
            <a:off x="548640" y="2331720"/>
            <a:ext cx="11110320" cy="720"/>
          </a:xfrm>
          <a:prstGeom prst="straightConnector1">
            <a:avLst/>
          </a:prstGeom>
          <a:ln w="27940">
            <a:solidFill>
              <a:srgbClr val="0B2B4E"/>
            </a:solidFill>
            <a:round/>
            <a:tailEnd type="triangle" w="med" len="med"/>
          </a:ln>
        </p:spPr>
      </p:cxnSp>
      <p:sp>
        <p:nvSpPr>
          <p:cNvPr id="105" name="TextBox 16"/>
          <p:cNvSpPr/>
          <p:nvPr/>
        </p:nvSpPr>
        <p:spPr>
          <a:xfrm>
            <a:off x="548640" y="2468880"/>
            <a:ext cx="269712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r>
              <a:rPr lang="en-US" sz="1900" b="1" u="none" strike="noStrike">
                <a:solidFill>
                  <a:srgbClr val="0B2B4E"/>
                </a:solidFill>
                <a:effectLst/>
                <a:uFillTx/>
                <a:latin typeface="Calibri"/>
              </a:rPr>
              <a:t>Perfect</a:t>
            </a:r>
            <a:endParaRPr lang="en-US" sz="1900" b="0" u="none" strike="noStrike">
              <a:solidFill>
                <a:srgbClr val="000000"/>
              </a:solidFill>
              <a:effectLst/>
              <a:uFillTx/>
              <a:latin typeface="Arial"/>
            </a:endParaRPr>
          </a:p>
          <a:p>
            <a:pPr algn="ctr" defTabSz="457200">
              <a:lnSpc>
                <a:spcPct val="100000"/>
              </a:lnSpc>
            </a:pPr>
            <a:r>
              <a:rPr lang="en-US" sz="1900" b="1" u="none" strike="noStrike">
                <a:solidFill>
                  <a:srgbClr val="0B2B4E"/>
                </a:solidFill>
                <a:effectLst/>
                <a:uFillTx/>
                <a:latin typeface="Calibri"/>
              </a:rPr>
              <a:t>Competition</a:t>
            </a:r>
            <a:endParaRPr lang="en-US" sz="1900" b="0" u="none" strike="noStrike">
              <a:solidFill>
                <a:srgbClr val="000000"/>
              </a:solidFill>
              <a:effectLst/>
              <a:uFillTx/>
              <a:latin typeface="Arial"/>
            </a:endParaRPr>
          </a:p>
        </p:txBody>
      </p:sp>
      <p:sp>
        <p:nvSpPr>
          <p:cNvPr id="106" name="TextBox 17"/>
          <p:cNvSpPr/>
          <p:nvPr/>
        </p:nvSpPr>
        <p:spPr>
          <a:xfrm>
            <a:off x="3246120" y="2468880"/>
            <a:ext cx="269712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r>
              <a:rPr lang="en-US" sz="1900" b="1" u="none" strike="noStrike">
                <a:solidFill>
                  <a:srgbClr val="0B2B4E"/>
                </a:solidFill>
                <a:effectLst/>
                <a:uFillTx/>
                <a:latin typeface="Calibri"/>
              </a:rPr>
              <a:t>Monopolistic</a:t>
            </a:r>
            <a:endParaRPr lang="en-US" sz="1900" b="0" u="none" strike="noStrike">
              <a:solidFill>
                <a:srgbClr val="000000"/>
              </a:solidFill>
              <a:effectLst/>
              <a:uFillTx/>
              <a:latin typeface="Arial"/>
            </a:endParaRPr>
          </a:p>
          <a:p>
            <a:pPr algn="ctr" defTabSz="457200">
              <a:lnSpc>
                <a:spcPct val="100000"/>
              </a:lnSpc>
            </a:pPr>
            <a:r>
              <a:rPr lang="en-US" sz="1900" b="1" u="none" strike="noStrike">
                <a:solidFill>
                  <a:srgbClr val="0B2B4E"/>
                </a:solidFill>
                <a:effectLst/>
                <a:uFillTx/>
                <a:latin typeface="Calibri"/>
              </a:rPr>
              <a:t>Competition</a:t>
            </a:r>
            <a:endParaRPr lang="en-US" sz="1900" b="0" u="none" strike="noStrike">
              <a:solidFill>
                <a:srgbClr val="000000"/>
              </a:solidFill>
              <a:effectLst/>
              <a:uFillTx/>
              <a:latin typeface="Arial"/>
            </a:endParaRPr>
          </a:p>
        </p:txBody>
      </p:sp>
      <p:sp>
        <p:nvSpPr>
          <p:cNvPr id="107" name="TextBox 18"/>
          <p:cNvSpPr/>
          <p:nvPr/>
        </p:nvSpPr>
        <p:spPr>
          <a:xfrm>
            <a:off x="5943600" y="2468880"/>
            <a:ext cx="28342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900" b="1" u="none" strike="noStrike">
                <a:solidFill>
                  <a:srgbClr val="0B2B4E"/>
                </a:solidFill>
                <a:effectLst/>
                <a:uFillTx/>
                <a:latin typeface="Calibri"/>
              </a:rPr>
              <a:t>Oligopoly</a:t>
            </a:r>
            <a:endParaRPr lang="en-US" sz="1900" b="0" u="none" strike="noStrike">
              <a:solidFill>
                <a:srgbClr val="000000"/>
              </a:solidFill>
              <a:effectLst/>
              <a:uFillTx/>
              <a:latin typeface="Arial"/>
            </a:endParaRPr>
          </a:p>
        </p:txBody>
      </p:sp>
      <p:sp>
        <p:nvSpPr>
          <p:cNvPr id="108" name="TextBox 19"/>
          <p:cNvSpPr/>
          <p:nvPr/>
        </p:nvSpPr>
        <p:spPr>
          <a:xfrm>
            <a:off x="8778240" y="2468880"/>
            <a:ext cx="28800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900" b="1" u="none" strike="noStrike">
                <a:solidFill>
                  <a:srgbClr val="0B2B4E"/>
                </a:solidFill>
                <a:effectLst/>
                <a:uFillTx/>
                <a:latin typeface="Calibri"/>
              </a:rPr>
              <a:t>Monopoly</a:t>
            </a:r>
            <a:endParaRPr lang="en-US" sz="1900" b="0" u="none" strike="noStrike">
              <a:solidFill>
                <a:srgbClr val="000000"/>
              </a:solidFill>
              <a:effectLst/>
              <a:uFillTx/>
              <a:latin typeface="Arial"/>
            </a:endParaRPr>
          </a:p>
        </p:txBody>
      </p:sp>
      <p:cxnSp>
        <p:nvCxnSpPr>
          <p:cNvPr id="109" name="Connector 20"/>
          <p:cNvCxnSpPr/>
          <p:nvPr/>
        </p:nvCxnSpPr>
        <p:spPr>
          <a:xfrm>
            <a:off x="3246120" y="2423160"/>
            <a:ext cx="720" cy="3200760"/>
          </a:xfrm>
          <a:prstGeom prst="straightConnector1">
            <a:avLst/>
          </a:prstGeom>
          <a:ln w="25400">
            <a:solidFill>
              <a:srgbClr val="C0504D"/>
            </a:solidFill>
            <a:round/>
          </a:ln>
        </p:spPr>
      </p:cxnSp>
      <p:cxnSp>
        <p:nvCxnSpPr>
          <p:cNvPr id="110" name="Connector 21"/>
          <p:cNvCxnSpPr/>
          <p:nvPr/>
        </p:nvCxnSpPr>
        <p:spPr>
          <a:xfrm>
            <a:off x="5943600" y="2423160"/>
            <a:ext cx="720" cy="3200760"/>
          </a:xfrm>
          <a:prstGeom prst="straightConnector1">
            <a:avLst/>
          </a:prstGeom>
          <a:ln w="25400">
            <a:solidFill>
              <a:srgbClr val="C0504D"/>
            </a:solidFill>
            <a:round/>
          </a:ln>
        </p:spPr>
      </p:cxnSp>
      <p:cxnSp>
        <p:nvCxnSpPr>
          <p:cNvPr id="111" name="Connector 22"/>
          <p:cNvCxnSpPr/>
          <p:nvPr/>
        </p:nvCxnSpPr>
        <p:spPr>
          <a:xfrm>
            <a:off x="8778240" y="2423160"/>
            <a:ext cx="720" cy="3200760"/>
          </a:xfrm>
          <a:prstGeom prst="straightConnector1">
            <a:avLst/>
          </a:prstGeom>
          <a:ln w="25400">
            <a:solidFill>
              <a:srgbClr val="C0504D"/>
            </a:solidFill>
            <a:round/>
          </a:ln>
        </p:spPr>
      </p:cxnSp>
      <p:sp>
        <p:nvSpPr>
          <p:cNvPr id="112" name="TextBox 23"/>
          <p:cNvSpPr/>
          <p:nvPr/>
        </p:nvSpPr>
        <p:spPr>
          <a:xfrm>
            <a:off x="548640" y="3383280"/>
            <a:ext cx="2697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500" b="0" i="1" u="none" strike="noStrike">
                <a:solidFill>
                  <a:srgbClr val="555B66"/>
                </a:solidFill>
                <a:effectLst/>
                <a:uFillTx/>
                <a:latin typeface="Calibri"/>
              </a:rPr>
              <a:t>(Price takers)</a:t>
            </a:r>
            <a:endParaRPr lang="en-US" sz="1500" b="0" u="none" strike="noStrike">
              <a:solidFill>
                <a:srgbClr val="000000"/>
              </a:solidFill>
              <a:effectLst/>
              <a:uFillTx/>
              <a:latin typeface="Arial"/>
            </a:endParaRPr>
          </a:p>
        </p:txBody>
      </p:sp>
      <p:sp>
        <p:nvSpPr>
          <p:cNvPr id="113" name="TextBox 24"/>
          <p:cNvSpPr/>
          <p:nvPr/>
        </p:nvSpPr>
        <p:spPr>
          <a:xfrm>
            <a:off x="3246120" y="3383280"/>
            <a:ext cx="8412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500" b="0" i="1" u="none" strike="noStrike">
                <a:solidFill>
                  <a:srgbClr val="555B66"/>
                </a:solidFill>
                <a:effectLst/>
                <a:uFillTx/>
                <a:latin typeface="Calibri"/>
              </a:rPr>
              <a:t>(Price searchers)</a:t>
            </a:r>
            <a:endParaRPr lang="en-US" sz="1500" b="0" u="none" strike="noStrike">
              <a:solidFill>
                <a:srgbClr val="000000"/>
              </a:solidFill>
              <a:effectLst/>
              <a:uFillTx/>
              <a:latin typeface="Arial"/>
            </a:endParaRPr>
          </a:p>
        </p:txBody>
      </p:sp>
      <p:cxnSp>
        <p:nvCxnSpPr>
          <p:cNvPr id="114" name="Connector 25"/>
          <p:cNvCxnSpPr/>
          <p:nvPr/>
        </p:nvCxnSpPr>
        <p:spPr>
          <a:xfrm>
            <a:off x="685800" y="3794760"/>
            <a:ext cx="2423520" cy="720"/>
          </a:xfrm>
          <a:prstGeom prst="straightConnector1">
            <a:avLst/>
          </a:prstGeom>
          <a:ln w="22860">
            <a:solidFill>
              <a:srgbClr val="0B2B4E"/>
            </a:solidFill>
            <a:round/>
            <a:tailEnd type="triangle" w="med" len="med"/>
          </a:ln>
        </p:spPr>
      </p:cxnSp>
      <p:cxnSp>
        <p:nvCxnSpPr>
          <p:cNvPr id="115" name="Connector 26"/>
          <p:cNvCxnSpPr/>
          <p:nvPr/>
        </p:nvCxnSpPr>
        <p:spPr>
          <a:xfrm flipH="1">
            <a:off x="685800" y="3794760"/>
            <a:ext cx="2423520" cy="720"/>
          </a:xfrm>
          <a:prstGeom prst="straightConnector1">
            <a:avLst/>
          </a:prstGeom>
          <a:ln w="22860">
            <a:solidFill>
              <a:srgbClr val="0B2B4E"/>
            </a:solidFill>
            <a:round/>
            <a:tailEnd type="triangle" w="med" len="med"/>
          </a:ln>
        </p:spPr>
      </p:cxnSp>
      <p:cxnSp>
        <p:nvCxnSpPr>
          <p:cNvPr id="116" name="Connector 27"/>
          <p:cNvCxnSpPr/>
          <p:nvPr/>
        </p:nvCxnSpPr>
        <p:spPr>
          <a:xfrm>
            <a:off x="3429000" y="3794760"/>
            <a:ext cx="8047080" cy="720"/>
          </a:xfrm>
          <a:prstGeom prst="straightConnector1">
            <a:avLst/>
          </a:prstGeom>
          <a:ln w="22860">
            <a:solidFill>
              <a:srgbClr val="0B2B4E"/>
            </a:solidFill>
            <a:round/>
            <a:tailEnd type="triangle" w="med" len="med"/>
          </a:ln>
        </p:spPr>
      </p:cxnSp>
      <p:cxnSp>
        <p:nvCxnSpPr>
          <p:cNvPr id="117" name="Connector 28"/>
          <p:cNvCxnSpPr/>
          <p:nvPr/>
        </p:nvCxnSpPr>
        <p:spPr>
          <a:xfrm flipH="1">
            <a:off x="3429000" y="3794760"/>
            <a:ext cx="8047080" cy="720"/>
          </a:xfrm>
          <a:prstGeom prst="straightConnector1">
            <a:avLst/>
          </a:prstGeom>
          <a:ln w="22860">
            <a:solidFill>
              <a:srgbClr val="0B2B4E"/>
            </a:solidFill>
            <a:round/>
            <a:tailEnd type="triangle" w="med" len="med"/>
          </a:ln>
        </p:spPr>
      </p:cxnSp>
      <p:pic>
        <p:nvPicPr>
          <p:cNvPr id="118" name="Picture 29" descr="s03_0_57568.jpeg"/>
          <p:cNvPicPr/>
          <p:nvPr/>
        </p:nvPicPr>
        <p:blipFill>
          <a:blip r:embed="rId2"/>
          <a:stretch/>
        </p:blipFill>
        <p:spPr>
          <a:xfrm>
            <a:off x="1302840" y="4069080"/>
            <a:ext cx="1188360" cy="1146960"/>
          </a:xfrm>
          <a:prstGeom prst="rect">
            <a:avLst/>
          </a:prstGeom>
          <a:noFill/>
          <a:ln w="0">
            <a:noFill/>
          </a:ln>
        </p:spPr>
      </p:pic>
      <p:pic>
        <p:nvPicPr>
          <p:cNvPr id="119" name="Picture 30" descr="s03_4_16350.jpeg"/>
          <p:cNvPicPr/>
          <p:nvPr/>
        </p:nvPicPr>
        <p:blipFill>
          <a:blip r:embed="rId3"/>
          <a:stretch/>
        </p:blipFill>
        <p:spPr>
          <a:xfrm>
            <a:off x="3726360" y="4206240"/>
            <a:ext cx="1737000" cy="1299240"/>
          </a:xfrm>
          <a:prstGeom prst="rect">
            <a:avLst/>
          </a:prstGeom>
          <a:noFill/>
          <a:ln w="0">
            <a:noFill/>
          </a:ln>
        </p:spPr>
      </p:pic>
      <p:pic>
        <p:nvPicPr>
          <p:cNvPr id="120" name="Picture 31" descr="s03_2_40821.png"/>
          <p:cNvPicPr/>
          <p:nvPr/>
        </p:nvPicPr>
        <p:blipFill>
          <a:blip r:embed="rId4"/>
          <a:stretch/>
        </p:blipFill>
        <p:spPr>
          <a:xfrm>
            <a:off x="6537960" y="4023360"/>
            <a:ext cx="1645560" cy="1299960"/>
          </a:xfrm>
          <a:prstGeom prst="rect">
            <a:avLst/>
          </a:prstGeom>
          <a:noFill/>
          <a:ln w="0">
            <a:noFill/>
          </a:ln>
        </p:spPr>
      </p:pic>
      <p:pic>
        <p:nvPicPr>
          <p:cNvPr id="121" name="Picture 32" descr="s03_1_26796.jpeg"/>
          <p:cNvPicPr/>
          <p:nvPr/>
        </p:nvPicPr>
        <p:blipFill>
          <a:blip r:embed="rId5"/>
          <a:stretch/>
        </p:blipFill>
        <p:spPr>
          <a:xfrm>
            <a:off x="6583680" y="4846320"/>
            <a:ext cx="1554120" cy="1033560"/>
          </a:xfrm>
          <a:prstGeom prst="rect">
            <a:avLst/>
          </a:prstGeom>
          <a:noFill/>
          <a:ln w="0">
            <a:noFill/>
          </a:ln>
        </p:spPr>
      </p:pic>
      <p:pic>
        <p:nvPicPr>
          <p:cNvPr id="122" name="Picture 33" descr="s03_3_19018.jpeg"/>
          <p:cNvPicPr/>
          <p:nvPr/>
        </p:nvPicPr>
        <p:blipFill>
          <a:blip r:embed="rId6"/>
          <a:stretch/>
        </p:blipFill>
        <p:spPr>
          <a:xfrm>
            <a:off x="9624240" y="4114800"/>
            <a:ext cx="1188360" cy="1257480"/>
          </a:xfrm>
          <a:prstGeom prst="rect">
            <a:avLst/>
          </a:prstGeom>
          <a:noFill/>
          <a:ln w="0">
            <a:noFill/>
          </a:ln>
        </p:spPr>
      </p:pic>
      <p:sp>
        <p:nvSpPr>
          <p:cNvPr id="123" name="CLK00"/>
          <p:cNvSpPr/>
          <p:nvPr/>
        </p:nvSpPr>
        <p:spPr>
          <a:xfrm>
            <a:off x="3264480" y="2377440"/>
            <a:ext cx="2651400" cy="3264120"/>
          </a:xfrm>
          <a:prstGeom prst="rect">
            <a:avLst/>
          </a:prstGeom>
          <a:noFill/>
          <a:ln w="38100">
            <a:solidFill>
              <a:srgbClr val="C0504D"/>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25"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Market Structures</a:t>
            </a:r>
            <a:endParaRPr lang="en-US" sz="1600" b="0" u="none" strike="noStrike">
              <a:solidFill>
                <a:srgbClr val="000000"/>
              </a:solidFill>
              <a:effectLst/>
              <a:uFillTx/>
              <a:latin typeface="Arial"/>
            </a:endParaRPr>
          </a:p>
        </p:txBody>
      </p:sp>
      <p:sp>
        <p:nvSpPr>
          <p:cNvPr id="126"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Market Structure: Monopolistic Competition</a:t>
            </a:r>
            <a:endParaRPr lang="en-US" sz="3200" b="0" u="none" strike="noStrike">
              <a:solidFill>
                <a:srgbClr val="000000"/>
              </a:solidFill>
              <a:effectLst/>
              <a:uFillTx/>
              <a:latin typeface="Arial"/>
            </a:endParaRPr>
          </a:p>
        </p:txBody>
      </p:sp>
      <p:sp>
        <p:nvSpPr>
          <p:cNvPr id="127"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28"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29"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30"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31"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132"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4</a:t>
            </a:r>
            <a:endParaRPr lang="en-US" sz="1200" b="0" u="none" strike="noStrike">
              <a:solidFill>
                <a:srgbClr val="000000"/>
              </a:solidFill>
              <a:effectLst/>
              <a:uFillTx/>
              <a:latin typeface="Arial"/>
            </a:endParaRPr>
          </a:p>
        </p:txBody>
      </p:sp>
      <p:sp>
        <p:nvSpPr>
          <p:cNvPr id="133" name="Rectangle 10"/>
          <p:cNvSpPr/>
          <p:nvPr/>
        </p:nvSpPr>
        <p:spPr>
          <a:xfrm>
            <a:off x="1225440" y="2094120"/>
            <a:ext cx="9710640" cy="3675600"/>
          </a:xfrm>
          <a:prstGeom prst="rect">
            <a:avLst/>
          </a:prstGeom>
          <a:solidFill>
            <a:srgbClr val="FFFFFF"/>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graphicFrame>
        <p:nvGraphicFramePr>
          <p:cNvPr id="134" name="Table 11"/>
          <p:cNvGraphicFramePr/>
          <p:nvPr/>
        </p:nvGraphicFramePr>
        <p:xfrm>
          <a:off x="1280160" y="2148840"/>
          <a:ext cx="9600840" cy="3565800"/>
        </p:xfrm>
        <a:graphic>
          <a:graphicData uri="http://schemas.openxmlformats.org/drawingml/2006/table">
            <a:tbl>
              <a:tblPr/>
              <a:tblGrid>
                <a:gridCol w="356616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713160">
                <a:tc>
                  <a:txBody>
                    <a:bodyPr/>
                    <a:lstStyle/>
                    <a:p>
                      <a:pPr defTabSz="457200">
                        <a:lnSpc>
                          <a:spcPct val="100000"/>
                        </a:lnSpc>
                      </a:pPr>
                      <a:r>
                        <a:rPr lang="en-US" sz="1600" b="1" u="none" strike="noStrike">
                          <a:solidFill>
                            <a:srgbClr val="0B2B4E"/>
                          </a:solidFill>
                          <a:effectLst/>
                          <a:uFillTx/>
                          <a:latin typeface="Calibri"/>
                        </a:rPr>
                        <a:t>Number of firms</a:t>
                      </a:r>
                      <a:endParaRPr lang="en-US" sz="1600" b="0" u="none" strike="noStrike">
                        <a:solidFill>
                          <a:srgbClr val="000000"/>
                        </a:solidFill>
                        <a:effectLst/>
                        <a:uFillTx/>
                        <a:latin typeface="Arial"/>
                      </a:endParaRPr>
                    </a:p>
                  </a:txBody>
                  <a:tcPr marL="127800" marT="36360" marB="363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defTabSz="457200">
                        <a:lnSpc>
                          <a:spcPct val="100000"/>
                        </a:lnSpc>
                      </a:pPr>
                      <a:r>
                        <a:rPr lang="en-US" sz="1600" b="0" u="none" strike="noStrike">
                          <a:solidFill>
                            <a:srgbClr val="0B2B4E"/>
                          </a:solidFill>
                          <a:effectLst/>
                          <a:uFillTx/>
                          <a:latin typeface="Calibri"/>
                        </a:rPr>
                        <a:t>Many sellers</a:t>
                      </a:r>
                      <a:endParaRPr lang="en-US" sz="1600" b="0" u="none" strike="noStrike">
                        <a:solidFill>
                          <a:srgbClr val="000000"/>
                        </a:solidFill>
                        <a:effectLst/>
                        <a:uFillTx/>
                        <a:latin typeface="Arial"/>
                      </a:endParaRPr>
                    </a:p>
                  </a:txBody>
                  <a:tcPr marL="127800" marT="36360" marB="363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0"/>
                  </a:ext>
                </a:extLst>
              </a:tr>
              <a:tr h="713160">
                <a:tc>
                  <a:txBody>
                    <a:bodyPr/>
                    <a:lstStyle/>
                    <a:p>
                      <a:pPr defTabSz="457200">
                        <a:lnSpc>
                          <a:spcPct val="100000"/>
                        </a:lnSpc>
                      </a:pPr>
                      <a:r>
                        <a:rPr lang="en-US" sz="1600" b="1" u="none" strike="noStrike">
                          <a:solidFill>
                            <a:srgbClr val="0B2B4E"/>
                          </a:solidFill>
                          <a:effectLst/>
                          <a:uFillTx/>
                          <a:latin typeface="Calibri"/>
                        </a:rPr>
                        <a:t>Product differentiation</a:t>
                      </a:r>
                      <a:endParaRPr lang="en-US" sz="1600" b="0" u="none" strike="noStrike">
                        <a:solidFill>
                          <a:srgbClr val="000000"/>
                        </a:solidFill>
                        <a:effectLst/>
                        <a:uFillTx/>
                        <a:latin typeface="Arial"/>
                      </a:endParaRPr>
                    </a:p>
                  </a:txBody>
                  <a:tcPr marL="127800" marT="36360" marB="363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DF6E6"/>
                    </a:solidFill>
                  </a:tcPr>
                </a:tc>
                <a:tc>
                  <a:txBody>
                    <a:bodyPr/>
                    <a:lstStyle/>
                    <a:p>
                      <a:pPr defTabSz="457200">
                        <a:lnSpc>
                          <a:spcPct val="100000"/>
                        </a:lnSpc>
                      </a:pPr>
                      <a:r>
                        <a:rPr lang="en-US" sz="1600" b="0" u="none" strike="noStrike">
                          <a:solidFill>
                            <a:srgbClr val="0B2B4E"/>
                          </a:solidFill>
                          <a:effectLst/>
                          <a:uFillTx/>
                          <a:latin typeface="Calibri"/>
                        </a:rPr>
                        <a:t>Perceived differences, but relatively close substitutes</a:t>
                      </a:r>
                      <a:endParaRPr lang="en-US" sz="1600" b="0" u="none" strike="noStrike">
                        <a:solidFill>
                          <a:srgbClr val="000000"/>
                        </a:solidFill>
                        <a:effectLst/>
                        <a:uFillTx/>
                        <a:latin typeface="Arial"/>
                      </a:endParaRPr>
                    </a:p>
                    <a:p>
                      <a:pPr defTabSz="457200">
                        <a:lnSpc>
                          <a:spcPct val="100000"/>
                        </a:lnSpc>
                      </a:pPr>
                      <a:r>
                        <a:rPr lang="en-US" sz="1200" b="0" i="1" u="none" strike="noStrike">
                          <a:solidFill>
                            <a:srgbClr val="555B66"/>
                          </a:solidFill>
                          <a:effectLst/>
                          <a:uFillTx/>
                          <a:latin typeface="Calibri"/>
                        </a:rPr>
                        <a:t>(How to get market power: </a:t>
                      </a:r>
                      <a:r>
                        <a:rPr lang="en-US" sz="1200" b="0" i="1" u="sng" strike="noStrike">
                          <a:solidFill>
                            <a:srgbClr val="0000FF"/>
                          </a:solidFill>
                          <a:effectLst/>
                          <a:uFillTx/>
                          <a:latin typeface="Calibri"/>
                          <a:hlinkClick r:id="rId2"/>
                        </a:rPr>
                        <a:t>Palessi</a:t>
                      </a:r>
                      <a:r>
                        <a:rPr lang="en-US" sz="1200" b="0" i="1" u="none" strike="noStrike">
                          <a:solidFill>
                            <a:srgbClr val="555B66"/>
                          </a:solidFill>
                          <a:effectLst/>
                          <a:uFillTx/>
                          <a:latin typeface="Calibri"/>
                        </a:rPr>
                        <a:t>)</a:t>
                      </a:r>
                      <a:endParaRPr lang="en-US" sz="1200" b="0" u="none" strike="noStrike">
                        <a:solidFill>
                          <a:srgbClr val="000000"/>
                        </a:solidFill>
                        <a:effectLst/>
                        <a:uFillTx/>
                        <a:latin typeface="Arial"/>
                      </a:endParaRPr>
                    </a:p>
                  </a:txBody>
                  <a:tcPr marL="127800" marT="36360" marB="363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DF6E6"/>
                    </a:solidFill>
                  </a:tcPr>
                </a:tc>
                <a:extLst>
                  <a:ext uri="{0D108BD9-81ED-4DB2-BD59-A6C34878D82A}">
                    <a16:rowId xmlns:a16="http://schemas.microsoft.com/office/drawing/2014/main" val="10001"/>
                  </a:ext>
                </a:extLst>
              </a:tr>
              <a:tr h="713160">
                <a:tc>
                  <a:txBody>
                    <a:bodyPr/>
                    <a:lstStyle/>
                    <a:p>
                      <a:pPr defTabSz="457200">
                        <a:lnSpc>
                          <a:spcPct val="100000"/>
                        </a:lnSpc>
                      </a:pPr>
                      <a:r>
                        <a:rPr lang="en-US" sz="1600" b="1" u="none" strike="noStrike">
                          <a:solidFill>
                            <a:srgbClr val="0B2B4E"/>
                          </a:solidFill>
                          <a:effectLst/>
                          <a:uFillTx/>
                          <a:latin typeface="Calibri"/>
                        </a:rPr>
                        <a:t>Entry conditions</a:t>
                      </a:r>
                      <a:endParaRPr lang="en-US" sz="1600" b="0" u="none" strike="noStrike">
                        <a:solidFill>
                          <a:srgbClr val="000000"/>
                        </a:solidFill>
                        <a:effectLst/>
                        <a:uFillTx/>
                        <a:latin typeface="Arial"/>
                      </a:endParaRPr>
                    </a:p>
                  </a:txBody>
                  <a:tcPr marL="127800" marT="36360" marB="363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defTabSz="457200">
                        <a:lnSpc>
                          <a:spcPct val="100000"/>
                        </a:lnSpc>
                      </a:pPr>
                      <a:r>
                        <a:rPr lang="en-US" sz="1600" b="0" u="none" strike="noStrike">
                          <a:solidFill>
                            <a:srgbClr val="0B2B4E"/>
                          </a:solidFill>
                          <a:effectLst/>
                          <a:uFillTx/>
                          <a:latin typeface="Calibri"/>
                        </a:rPr>
                        <a:t>No barriers to entry</a:t>
                      </a:r>
                      <a:endParaRPr lang="en-US" sz="1600" b="0" u="none" strike="noStrike">
                        <a:solidFill>
                          <a:srgbClr val="000000"/>
                        </a:solidFill>
                        <a:effectLst/>
                        <a:uFillTx/>
                        <a:latin typeface="Arial"/>
                      </a:endParaRPr>
                    </a:p>
                  </a:txBody>
                  <a:tcPr marL="127800" marT="36360" marB="363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2"/>
                  </a:ext>
                </a:extLst>
              </a:tr>
              <a:tr h="713160">
                <a:tc>
                  <a:txBody>
                    <a:bodyPr/>
                    <a:lstStyle/>
                    <a:p>
                      <a:pPr defTabSz="457200">
                        <a:lnSpc>
                          <a:spcPct val="100000"/>
                        </a:lnSpc>
                      </a:pPr>
                      <a:r>
                        <a:rPr lang="en-US" sz="1600" b="1" u="none" strike="noStrike">
                          <a:solidFill>
                            <a:srgbClr val="0B2B4E"/>
                          </a:solidFill>
                          <a:effectLst/>
                          <a:uFillTx/>
                          <a:latin typeface="Calibri"/>
                        </a:rPr>
                        <a:t>Profit potential</a:t>
                      </a:r>
                      <a:endParaRPr lang="en-US" sz="1600" b="0" u="none" strike="noStrike">
                        <a:solidFill>
                          <a:srgbClr val="000000"/>
                        </a:solidFill>
                        <a:effectLst/>
                        <a:uFillTx/>
                        <a:latin typeface="Arial"/>
                      </a:endParaRPr>
                    </a:p>
                  </a:txBody>
                  <a:tcPr marL="127800" marT="36360" marB="363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DF6E6"/>
                    </a:solidFill>
                  </a:tcPr>
                </a:tc>
                <a:tc>
                  <a:txBody>
                    <a:bodyPr/>
                    <a:lstStyle/>
                    <a:p>
                      <a:pPr defTabSz="457200">
                        <a:lnSpc>
                          <a:spcPct val="100000"/>
                        </a:lnSpc>
                      </a:pPr>
                      <a:r>
                        <a:rPr lang="en-US" sz="1600" b="0" u="none" strike="noStrike">
                          <a:solidFill>
                            <a:srgbClr val="0B2B4E"/>
                          </a:solidFill>
                          <a:effectLst/>
                          <a:uFillTx/>
                          <a:latin typeface="Calibri"/>
                        </a:rPr>
                        <a:t>Normal profit in the long run; profits or losses only in the short run</a:t>
                      </a:r>
                      <a:endParaRPr lang="en-US" sz="1600" b="0" u="none" strike="noStrike">
                        <a:solidFill>
                          <a:srgbClr val="000000"/>
                        </a:solidFill>
                        <a:effectLst/>
                        <a:uFillTx/>
                        <a:latin typeface="Arial"/>
                      </a:endParaRPr>
                    </a:p>
                  </a:txBody>
                  <a:tcPr marL="127800" marT="36360" marB="363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DF6E6"/>
                    </a:solidFill>
                  </a:tcPr>
                </a:tc>
                <a:extLst>
                  <a:ext uri="{0D108BD9-81ED-4DB2-BD59-A6C34878D82A}">
                    <a16:rowId xmlns:a16="http://schemas.microsoft.com/office/drawing/2014/main" val="10003"/>
                  </a:ext>
                </a:extLst>
              </a:tr>
              <a:tr h="713160">
                <a:tc>
                  <a:txBody>
                    <a:bodyPr/>
                    <a:lstStyle/>
                    <a:p>
                      <a:pPr defTabSz="457200">
                        <a:lnSpc>
                          <a:spcPct val="100000"/>
                        </a:lnSpc>
                      </a:pPr>
                      <a:r>
                        <a:rPr lang="en-US" sz="1600" b="1" u="none" strike="noStrike">
                          <a:solidFill>
                            <a:srgbClr val="0B2B4E"/>
                          </a:solidFill>
                          <a:effectLst/>
                          <a:uFillTx/>
                          <a:latin typeface="Calibri"/>
                        </a:rPr>
                        <a:t>Examples</a:t>
                      </a:r>
                      <a:endParaRPr lang="en-US" sz="1600" b="0" u="none" strike="noStrike">
                        <a:solidFill>
                          <a:srgbClr val="000000"/>
                        </a:solidFill>
                        <a:effectLst/>
                        <a:uFillTx/>
                        <a:latin typeface="Arial"/>
                      </a:endParaRPr>
                    </a:p>
                  </a:txBody>
                  <a:tcPr marL="127800" marT="36360" marB="363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lstStyle/>
                    <a:p>
                      <a:pPr defTabSz="457200">
                        <a:lnSpc>
                          <a:spcPct val="100000"/>
                        </a:lnSpc>
                      </a:pPr>
                      <a:r>
                        <a:rPr lang="en-US" sz="1600" b="0" u="none" strike="noStrike">
                          <a:solidFill>
                            <a:srgbClr val="0B2B4E"/>
                          </a:solidFill>
                          <a:effectLst/>
                          <a:uFillTx/>
                          <a:latin typeface="Calibri"/>
                        </a:rPr>
                        <a:t>Professional services (plumbers, gardeners); restaurants; clothing</a:t>
                      </a:r>
                      <a:endParaRPr lang="en-US" sz="1600" b="0" u="none" strike="noStrike">
                        <a:solidFill>
                          <a:srgbClr val="000000"/>
                        </a:solidFill>
                        <a:effectLst/>
                        <a:uFillTx/>
                        <a:latin typeface="Arial"/>
                      </a:endParaRPr>
                    </a:p>
                  </a:txBody>
                  <a:tcPr marL="127800" marT="36360" marB="3636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36"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Monopolistic Competition</a:t>
            </a:r>
            <a:endParaRPr lang="en-US" sz="1600" b="0" u="none" strike="noStrike">
              <a:solidFill>
                <a:srgbClr val="000000"/>
              </a:solidFill>
              <a:effectLst/>
              <a:uFillTx/>
              <a:latin typeface="Arial"/>
            </a:endParaRPr>
          </a:p>
        </p:txBody>
      </p:sp>
      <p:sp>
        <p:nvSpPr>
          <p:cNvPr id="137"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Monopolistic Competition: The Role of Entry</a:t>
            </a:r>
            <a:endParaRPr lang="en-US" sz="3200" b="0" u="none" strike="noStrike">
              <a:solidFill>
                <a:srgbClr val="000000"/>
              </a:solidFill>
              <a:effectLst/>
              <a:uFillTx/>
              <a:latin typeface="Arial"/>
            </a:endParaRPr>
          </a:p>
        </p:txBody>
      </p:sp>
      <p:sp>
        <p:nvSpPr>
          <p:cNvPr id="138"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39"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40"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41"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42"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143"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5</a:t>
            </a:r>
            <a:endParaRPr lang="en-US" sz="1200" b="0" u="none" strike="noStrike">
              <a:solidFill>
                <a:srgbClr val="000000"/>
              </a:solidFill>
              <a:effectLst/>
              <a:uFillTx/>
              <a:latin typeface="Arial"/>
            </a:endParaRPr>
          </a:p>
        </p:txBody>
      </p:sp>
      <p:sp>
        <p:nvSpPr>
          <p:cNvPr id="144" name="TXBLD_100110"/>
          <p:cNvSpPr/>
          <p:nvPr/>
        </p:nvSpPr>
        <p:spPr>
          <a:xfrm>
            <a:off x="502920" y="1828800"/>
            <a:ext cx="11155320" cy="374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800"/>
              </a:spcBef>
              <a:buClr>
                <a:srgbClr val="0B2B4E"/>
              </a:buClr>
              <a:buFont typeface="Calibri"/>
              <a:buChar char="▪"/>
            </a:pPr>
            <a:r>
              <a:rPr lang="en-US" sz="3200" b="0" u="none" strike="noStrike">
                <a:solidFill>
                  <a:srgbClr val="0B2B4E"/>
                </a:solidFill>
                <a:effectLst/>
                <a:uFillTx/>
                <a:latin typeface="Calibri"/>
              </a:rPr>
              <a:t>Monopolistic competition</a:t>
            </a:r>
            <a:endParaRPr lang="en-US" sz="32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Large number of firms</a:t>
            </a:r>
            <a:endParaRPr lang="en-US" sz="28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No entry barriers</a:t>
            </a:r>
            <a:endParaRPr lang="en-US" sz="2800" b="0" u="none" strike="noStrike">
              <a:solidFill>
                <a:srgbClr val="000000"/>
              </a:solidFill>
              <a:effectLst/>
              <a:uFillTx/>
              <a:latin typeface="Arial"/>
            </a:endParaRPr>
          </a:p>
          <a:p>
            <a:pPr marL="343080" indent="-343080" defTabSz="457200">
              <a:lnSpc>
                <a:spcPct val="100000"/>
              </a:lnSpc>
              <a:spcBef>
                <a:spcPts val="1800"/>
              </a:spcBef>
              <a:buClr>
                <a:srgbClr val="0B2B4E"/>
              </a:buClr>
              <a:buFont typeface="Calibri"/>
              <a:buChar char="▪"/>
            </a:pPr>
            <a:r>
              <a:rPr lang="en-US" sz="3200" b="1" u="none" strike="noStrike">
                <a:solidFill>
                  <a:srgbClr val="0B2B4E"/>
                </a:solidFill>
                <a:effectLst/>
                <a:uFillTx/>
                <a:latin typeface="Calibri"/>
              </a:rPr>
              <a:t>Short run: </a:t>
            </a:r>
            <a:r>
              <a:rPr lang="en-US" sz="3200" b="0" u="none" strike="noStrike">
                <a:solidFill>
                  <a:srgbClr val="0B2B4E"/>
                </a:solidFill>
                <a:effectLst/>
                <a:uFillTx/>
                <a:latin typeface="Calibri"/>
              </a:rPr>
              <a:t>economic profits are possible</a:t>
            </a:r>
            <a:endParaRPr lang="en-US" sz="3200" b="0" u="none" strike="noStrike">
              <a:solidFill>
                <a:srgbClr val="000000"/>
              </a:solidFill>
              <a:effectLst/>
              <a:uFillTx/>
              <a:latin typeface="Arial"/>
            </a:endParaRPr>
          </a:p>
          <a:p>
            <a:pPr marL="343080" indent="-343080" defTabSz="457200">
              <a:lnSpc>
                <a:spcPct val="100000"/>
              </a:lnSpc>
              <a:spcBef>
                <a:spcPts val="1800"/>
              </a:spcBef>
              <a:buClr>
                <a:srgbClr val="0B2B4E"/>
              </a:buClr>
              <a:buFont typeface="Calibri"/>
              <a:buChar char="▪"/>
            </a:pPr>
            <a:r>
              <a:rPr lang="en-US" sz="3200" b="1" u="none" strike="noStrike">
                <a:solidFill>
                  <a:srgbClr val="0B2B4E"/>
                </a:solidFill>
                <a:effectLst/>
                <a:uFillTx/>
                <a:latin typeface="Calibri"/>
              </a:rPr>
              <a:t>Long run: </a:t>
            </a:r>
            <a:r>
              <a:rPr lang="en-US" sz="3200" b="0" u="none" strike="noStrike">
                <a:solidFill>
                  <a:srgbClr val="0B2B4E"/>
                </a:solidFill>
                <a:effectLst/>
                <a:uFillTx/>
                <a:latin typeface="Calibri"/>
              </a:rPr>
              <a:t>entry erodes economic profits</a:t>
            </a:r>
            <a:endParaRPr lang="en-US" sz="32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Long-run economic profits approach zero</a:t>
            </a:r>
            <a:endParaRPr lang="en-US" sz="2800" b="0" u="none" strike="noStrike">
              <a:solidFill>
                <a:srgbClr val="000000"/>
              </a:solidFill>
              <a:effectLst/>
              <a:uFillTx/>
              <a:latin typeface="Arial"/>
            </a:endParaRPr>
          </a:p>
        </p:txBody>
      </p:sp>
      <p:sp>
        <p:nvSpPr>
          <p:cNvPr id="145" name="CLK00"/>
          <p:cNvSpPr/>
          <p:nvPr/>
        </p:nvSpPr>
        <p:spPr>
          <a:xfrm>
            <a:off x="4358520" y="5989320"/>
            <a:ext cx="3474360" cy="456840"/>
          </a:xfrm>
          <a:prstGeom prst="roundRect">
            <a:avLst>
              <a:gd name="adj" fmla="val 16667"/>
            </a:avLst>
          </a:prstGeom>
          <a:solidFill>
            <a:srgbClr val="FFFFFF"/>
          </a:solidFill>
          <a:ln w="19050">
            <a:solidFill>
              <a:srgbClr val="E09F3E"/>
            </a:solidFill>
            <a:round/>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r>
              <a:rPr lang="en-US" sz="1500" b="1" i="1" u="none" strike="noStrike">
                <a:solidFill>
                  <a:srgbClr val="0B2B4E"/>
                </a:solidFill>
                <a:effectLst/>
                <a:uFillTx/>
                <a:latin typeface="Calibri"/>
              </a:rPr>
              <a:t>Problem Set 4  ·  #3</a:t>
            </a:r>
            <a:endParaRPr lang="en-US" sz="15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47"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Monopolistic Competition</a:t>
            </a:r>
            <a:endParaRPr lang="en-US" sz="1600" b="0" u="none" strike="noStrike">
              <a:solidFill>
                <a:srgbClr val="000000"/>
              </a:solidFill>
              <a:effectLst/>
              <a:uFillTx/>
              <a:latin typeface="Arial"/>
            </a:endParaRPr>
          </a:p>
        </p:txBody>
      </p:sp>
      <p:sp>
        <p:nvSpPr>
          <p:cNvPr id="148"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Monopolistic Competition: Short Run</a:t>
            </a:r>
            <a:endParaRPr lang="en-US" sz="3200" b="0" u="none" strike="noStrike">
              <a:solidFill>
                <a:srgbClr val="000000"/>
              </a:solidFill>
              <a:effectLst/>
              <a:uFillTx/>
              <a:latin typeface="Arial"/>
            </a:endParaRPr>
          </a:p>
        </p:txBody>
      </p:sp>
      <p:sp>
        <p:nvSpPr>
          <p:cNvPr id="149"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50"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51"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52"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53"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154"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6</a:t>
            </a:r>
            <a:endParaRPr lang="en-US" sz="1200" b="0" u="none" strike="noStrike">
              <a:solidFill>
                <a:srgbClr val="000000"/>
              </a:solidFill>
              <a:effectLst/>
              <a:uFillTx/>
              <a:latin typeface="Arial"/>
            </a:endParaRPr>
          </a:p>
        </p:txBody>
      </p:sp>
      <p:pic>
        <p:nvPicPr>
          <p:cNvPr id="155" name="Picture 10" descr="gm.png"/>
          <p:cNvPicPr/>
          <p:nvPr/>
        </p:nvPicPr>
        <p:blipFill>
          <a:blip r:embed="rId3"/>
          <a:stretch/>
        </p:blipFill>
        <p:spPr>
          <a:xfrm>
            <a:off x="9235440" y="1234440"/>
            <a:ext cx="2331360" cy="506880"/>
          </a:xfrm>
          <a:prstGeom prst="rect">
            <a:avLst/>
          </a:prstGeom>
          <a:noFill/>
          <a:ln w="0">
            <a:noFill/>
          </a:ln>
        </p:spPr>
      </p:pic>
      <p:cxnSp>
        <p:nvCxnSpPr>
          <p:cNvPr id="156" name="Connector 11"/>
          <p:cNvCxnSpPr/>
          <p:nvPr/>
        </p:nvCxnSpPr>
        <p:spPr>
          <a:xfrm flipV="1">
            <a:off x="1691640" y="1508760"/>
            <a:ext cx="720" cy="4800960"/>
          </a:xfrm>
          <a:prstGeom prst="straightConnector1">
            <a:avLst/>
          </a:prstGeom>
          <a:ln w="25400">
            <a:solidFill>
              <a:srgbClr val="0B2B4E"/>
            </a:solidFill>
            <a:round/>
            <a:tailEnd type="triangle" w="med" len="med"/>
          </a:ln>
        </p:spPr>
      </p:cxnSp>
      <p:cxnSp>
        <p:nvCxnSpPr>
          <p:cNvPr id="157" name="Connector 12"/>
          <p:cNvCxnSpPr/>
          <p:nvPr/>
        </p:nvCxnSpPr>
        <p:spPr>
          <a:xfrm>
            <a:off x="1691640" y="6309360"/>
            <a:ext cx="7681320" cy="720"/>
          </a:xfrm>
          <a:prstGeom prst="straightConnector1">
            <a:avLst/>
          </a:prstGeom>
          <a:ln w="25400">
            <a:solidFill>
              <a:srgbClr val="0B2B4E"/>
            </a:solidFill>
            <a:round/>
            <a:tailEnd type="triangle" w="med" len="med"/>
          </a:ln>
        </p:spPr>
      </p:cxnSp>
      <p:sp>
        <p:nvSpPr>
          <p:cNvPr id="158" name="TextBox 13"/>
          <p:cNvSpPr/>
          <p:nvPr/>
        </p:nvSpPr>
        <p:spPr>
          <a:xfrm>
            <a:off x="1554480" y="1124640"/>
            <a:ext cx="237708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b">
            <a:spAutoFit/>
          </a:bodyPr>
          <a:lstStyle/>
          <a:p>
            <a:pPr defTabSz="457200">
              <a:lnSpc>
                <a:spcPct val="100000"/>
              </a:lnSpc>
            </a:pPr>
            <a:r>
              <a:rPr lang="en-US" sz="1800" b="1" i="1" u="none" strike="noStrike">
                <a:solidFill>
                  <a:srgbClr val="0B2B4E"/>
                </a:solidFill>
                <a:effectLst/>
                <a:uFillTx/>
                <a:latin typeface="Calibri"/>
              </a:rPr>
              <a:t>P</a:t>
            </a:r>
            <a:endParaRPr lang="en-US" sz="1800" b="0" u="none" strike="noStrike">
              <a:solidFill>
                <a:srgbClr val="000000"/>
              </a:solidFill>
              <a:effectLst/>
              <a:uFillTx/>
              <a:latin typeface="Arial"/>
            </a:endParaRPr>
          </a:p>
        </p:txBody>
      </p:sp>
      <p:sp>
        <p:nvSpPr>
          <p:cNvPr id="159" name="TextBox 14"/>
          <p:cNvSpPr/>
          <p:nvPr/>
        </p:nvSpPr>
        <p:spPr>
          <a:xfrm>
            <a:off x="9281160" y="6364080"/>
            <a:ext cx="164556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457200">
              <a:lnSpc>
                <a:spcPct val="100000"/>
              </a:lnSpc>
            </a:pPr>
            <a:r>
              <a:rPr lang="en-US" sz="1800" b="1" i="1" u="none" strike="noStrike">
                <a:solidFill>
                  <a:srgbClr val="0B2B4E"/>
                </a:solidFill>
                <a:effectLst/>
                <a:uFillTx/>
                <a:latin typeface="Calibri"/>
              </a:rPr>
              <a:t>Q</a:t>
            </a:r>
            <a:endParaRPr lang="en-US" sz="1800" b="0" u="none" strike="noStrike">
              <a:solidFill>
                <a:srgbClr val="000000"/>
              </a:solidFill>
              <a:effectLst/>
              <a:uFillTx/>
              <a:latin typeface="Arial"/>
            </a:endParaRPr>
          </a:p>
        </p:txBody>
      </p:sp>
      <p:sp>
        <p:nvSpPr>
          <p:cNvPr id="160" name="CLK00"/>
          <p:cNvSpPr/>
          <p:nvPr/>
        </p:nvSpPr>
        <p:spPr>
          <a:xfrm>
            <a:off x="1691640" y="2277000"/>
            <a:ext cx="6624360" cy="4032000"/>
          </a:xfrm>
          <a:custGeom>
            <a:avLst/>
            <a:gdLst>
              <a:gd name="textAreaLeft" fmla="*/ 0 w 6624360"/>
              <a:gd name="textAreaRight" fmla="*/ 6624720 w 6624360"/>
              <a:gd name="textAreaTop" fmla="*/ 0 h 4032000"/>
              <a:gd name="textAreaBottom" fmla="*/ 4032360 h 4032000"/>
            </a:gdLst>
            <a:ahLst/>
            <a:cxnLst/>
            <a:rect l="textAreaLeft" t="textAreaTop" r="textAreaRight" b="textAreaBottom"/>
            <a:pathLst>
              <a:path w="6624828" h="4032504">
                <a:moveTo>
                  <a:pt x="0" y="0"/>
                </a:moveTo>
                <a:lnTo>
                  <a:pt x="6624828" y="4032504"/>
                </a:lnTo>
              </a:path>
            </a:pathLst>
          </a:custGeom>
          <a:noFill/>
          <a:ln w="40640" cap="rnd">
            <a:solidFill>
              <a:srgbClr val="C0201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61" name="CLK00"/>
          <p:cNvSpPr/>
          <p:nvPr/>
        </p:nvSpPr>
        <p:spPr>
          <a:xfrm>
            <a:off x="7359480" y="5995800"/>
            <a:ext cx="73116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800" b="1" i="1" u="none" strike="noStrike">
                <a:solidFill>
                  <a:srgbClr val="C0201B"/>
                </a:solidFill>
                <a:effectLst/>
                <a:uFillTx/>
                <a:latin typeface="Calibri"/>
              </a:rPr>
              <a:t>D</a:t>
            </a:r>
            <a:endParaRPr lang="en-US" sz="1800" b="0" u="none" strike="noStrike">
              <a:solidFill>
                <a:srgbClr val="000000"/>
              </a:solidFill>
              <a:effectLst/>
              <a:uFillTx/>
              <a:latin typeface="Arial"/>
            </a:endParaRPr>
          </a:p>
        </p:txBody>
      </p:sp>
      <p:sp>
        <p:nvSpPr>
          <p:cNvPr id="162" name="CLK01"/>
          <p:cNvSpPr/>
          <p:nvPr/>
        </p:nvSpPr>
        <p:spPr>
          <a:xfrm>
            <a:off x="1691640" y="2277000"/>
            <a:ext cx="3312000" cy="4032000"/>
          </a:xfrm>
          <a:custGeom>
            <a:avLst/>
            <a:gdLst>
              <a:gd name="textAreaLeft" fmla="*/ 0 w 3312000"/>
              <a:gd name="textAreaRight" fmla="*/ 3312360 w 3312000"/>
              <a:gd name="textAreaTop" fmla="*/ 0 h 4032000"/>
              <a:gd name="textAreaBottom" fmla="*/ 4032360 h 4032000"/>
            </a:gdLst>
            <a:ahLst/>
            <a:cxnLst/>
            <a:rect l="textAreaLeft" t="textAreaTop" r="textAreaRight" b="textAreaBottom"/>
            <a:pathLst>
              <a:path w="3312414" h="4032504">
                <a:moveTo>
                  <a:pt x="0" y="0"/>
                </a:moveTo>
                <a:lnTo>
                  <a:pt x="3312414" y="4032504"/>
                </a:lnTo>
              </a:path>
            </a:pathLst>
          </a:custGeom>
          <a:noFill/>
          <a:ln w="35560" cap="rnd">
            <a:solidFill>
              <a:srgbClr val="C0201B"/>
            </a:solidFill>
            <a:prstDash val="sysDot"/>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63" name="CLK01"/>
          <p:cNvSpPr/>
          <p:nvPr/>
        </p:nvSpPr>
        <p:spPr>
          <a:xfrm>
            <a:off x="4709520" y="6085440"/>
            <a:ext cx="100548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600" b="1" i="1" u="none" strike="noStrike">
                <a:solidFill>
                  <a:srgbClr val="C0201B"/>
                </a:solidFill>
                <a:effectLst/>
                <a:uFillTx/>
                <a:latin typeface="Calibri"/>
              </a:rPr>
              <a:t>MR</a:t>
            </a:r>
            <a:endParaRPr lang="en-US" sz="1600" b="0" u="none" strike="noStrike">
              <a:solidFill>
                <a:srgbClr val="000000"/>
              </a:solidFill>
              <a:effectLst/>
              <a:uFillTx/>
              <a:latin typeface="Arial"/>
            </a:endParaRPr>
          </a:p>
        </p:txBody>
      </p:sp>
      <p:sp>
        <p:nvSpPr>
          <p:cNvPr id="164" name="CLK02"/>
          <p:cNvSpPr/>
          <p:nvPr/>
        </p:nvSpPr>
        <p:spPr>
          <a:xfrm>
            <a:off x="1691640" y="4293000"/>
            <a:ext cx="5888520" cy="1791720"/>
          </a:xfrm>
          <a:custGeom>
            <a:avLst/>
            <a:gdLst>
              <a:gd name="textAreaLeft" fmla="*/ 0 w 5888520"/>
              <a:gd name="textAreaRight" fmla="*/ 5888880 w 5888520"/>
              <a:gd name="textAreaTop" fmla="*/ 0 h 1791720"/>
              <a:gd name="textAreaBottom" fmla="*/ 1792080 h 1791720"/>
            </a:gdLst>
            <a:ahLst/>
            <a:cxnLst/>
            <a:rect l="textAreaLeft" t="textAreaTop" r="textAreaRight" b="textAreaBottom"/>
            <a:pathLst>
              <a:path w="5888736" h="1792224">
                <a:moveTo>
                  <a:pt x="0" y="1792224"/>
                </a:moveTo>
                <a:lnTo>
                  <a:pt x="5888736" y="0"/>
                </a:lnTo>
              </a:path>
            </a:pathLst>
          </a:custGeom>
          <a:noFill/>
          <a:ln w="38100" cap="rnd">
            <a:solidFill>
              <a:srgbClr val="3E77C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65" name="CLK02"/>
          <p:cNvSpPr/>
          <p:nvPr/>
        </p:nvSpPr>
        <p:spPr>
          <a:xfrm>
            <a:off x="7138800" y="4246560"/>
            <a:ext cx="91404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700" b="1" i="1" u="none" strike="noStrike">
                <a:solidFill>
                  <a:srgbClr val="3E77C0"/>
                </a:solidFill>
                <a:effectLst/>
                <a:uFillTx/>
                <a:latin typeface="Calibri"/>
              </a:rPr>
              <a:t>MC</a:t>
            </a:r>
            <a:endParaRPr lang="en-US" sz="1700" b="0" u="none" strike="noStrike">
              <a:solidFill>
                <a:srgbClr val="000000"/>
              </a:solidFill>
              <a:effectLst/>
              <a:uFillTx/>
              <a:latin typeface="Arial"/>
            </a:endParaRPr>
          </a:p>
        </p:txBody>
      </p:sp>
      <p:cxnSp>
        <p:nvCxnSpPr>
          <p:cNvPr id="166" name="CLK03"/>
          <p:cNvCxnSpPr/>
          <p:nvPr/>
        </p:nvCxnSpPr>
        <p:spPr>
          <a:xfrm>
            <a:off x="4194000" y="3800160"/>
            <a:ext cx="720" cy="2509560"/>
          </a:xfrm>
          <a:prstGeom prst="straightConnector1">
            <a:avLst/>
          </a:prstGeom>
          <a:ln w="16510">
            <a:solidFill>
              <a:srgbClr val="0B2B4E"/>
            </a:solidFill>
            <a:prstDash val="dash"/>
            <a:round/>
          </a:ln>
        </p:spPr>
      </p:cxnSp>
      <p:cxnSp>
        <p:nvCxnSpPr>
          <p:cNvPr id="167" name="CLK03"/>
          <p:cNvCxnSpPr/>
          <p:nvPr/>
        </p:nvCxnSpPr>
        <p:spPr>
          <a:xfrm>
            <a:off x="1691640" y="3800160"/>
            <a:ext cx="2502720" cy="720"/>
          </a:xfrm>
          <a:prstGeom prst="straightConnector1">
            <a:avLst/>
          </a:prstGeom>
          <a:ln w="15240">
            <a:solidFill>
              <a:srgbClr val="0B2B4E"/>
            </a:solidFill>
            <a:prstDash val="dash"/>
            <a:round/>
          </a:ln>
        </p:spPr>
      </p:cxnSp>
      <p:sp>
        <p:nvSpPr>
          <p:cNvPr id="168" name="CLK03"/>
          <p:cNvSpPr/>
          <p:nvPr/>
        </p:nvSpPr>
        <p:spPr>
          <a:xfrm>
            <a:off x="4139640" y="5268600"/>
            <a:ext cx="109440" cy="109440"/>
          </a:xfrm>
          <a:prstGeom prst="ellipse">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2760" rIns="90000" bIns="32760" anchor="ctr">
            <a:noAutofit/>
          </a:bodyPr>
          <a:lstStyle/>
          <a:p>
            <a:endParaRPr lang="en-US" sz="1800" b="0" u="none" strike="noStrike">
              <a:solidFill>
                <a:schemeClr val="lt1"/>
              </a:solidFill>
              <a:effectLst/>
              <a:uFillTx/>
              <a:latin typeface="Calibri"/>
            </a:endParaRPr>
          </a:p>
        </p:txBody>
      </p:sp>
      <p:sp>
        <p:nvSpPr>
          <p:cNvPr id="169" name="CLK03"/>
          <p:cNvSpPr/>
          <p:nvPr/>
        </p:nvSpPr>
        <p:spPr>
          <a:xfrm>
            <a:off x="4139640" y="3745440"/>
            <a:ext cx="109440" cy="109440"/>
          </a:xfrm>
          <a:prstGeom prst="ellipse">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2760" rIns="90000" bIns="32760" anchor="ctr">
            <a:noAutofit/>
          </a:bodyPr>
          <a:lstStyle/>
          <a:p>
            <a:endParaRPr lang="en-US" sz="1800" b="0" u="none" strike="noStrike">
              <a:solidFill>
                <a:schemeClr val="lt1"/>
              </a:solidFill>
              <a:effectLst/>
              <a:uFillTx/>
              <a:latin typeface="Calibri"/>
            </a:endParaRPr>
          </a:p>
        </p:txBody>
      </p:sp>
      <p:sp>
        <p:nvSpPr>
          <p:cNvPr id="170" name="CLK03"/>
          <p:cNvSpPr/>
          <p:nvPr/>
        </p:nvSpPr>
        <p:spPr>
          <a:xfrm>
            <a:off x="1143000" y="3654000"/>
            <a:ext cx="54828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400" b="0" u="none" strike="noStrike">
                <a:solidFill>
                  <a:srgbClr val="0B2B4E"/>
                </a:solidFill>
                <a:effectLst/>
                <a:uFillTx/>
                <a:latin typeface="Calibri"/>
              </a:rPr>
              <a:t>P*</a:t>
            </a:r>
            <a:endParaRPr lang="en-US" sz="1400" b="0" u="none" strike="noStrike">
              <a:solidFill>
                <a:srgbClr val="000000"/>
              </a:solidFill>
              <a:effectLst/>
              <a:uFillTx/>
              <a:latin typeface="Arial"/>
            </a:endParaRPr>
          </a:p>
        </p:txBody>
      </p:sp>
      <p:sp>
        <p:nvSpPr>
          <p:cNvPr id="171" name="CLK03"/>
          <p:cNvSpPr/>
          <p:nvPr/>
        </p:nvSpPr>
        <p:spPr>
          <a:xfrm>
            <a:off x="3737160" y="6364080"/>
            <a:ext cx="914040" cy="273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algn="ctr" defTabSz="457200">
              <a:lnSpc>
                <a:spcPct val="100000"/>
              </a:lnSpc>
            </a:pPr>
            <a:r>
              <a:rPr lang="en-US" sz="1400" b="0" u="none" strike="noStrike">
                <a:solidFill>
                  <a:srgbClr val="0B2B4E"/>
                </a:solidFill>
                <a:effectLst/>
                <a:uFillTx/>
                <a:latin typeface="Calibri"/>
              </a:rPr>
              <a:t>Q*</a:t>
            </a:r>
            <a:endParaRPr lang="en-US" sz="1400" b="0" u="none" strike="noStrike">
              <a:solidFill>
                <a:srgbClr val="000000"/>
              </a:solidFill>
              <a:effectLst/>
              <a:uFillTx/>
              <a:latin typeface="Arial"/>
            </a:endParaRPr>
          </a:p>
        </p:txBody>
      </p:sp>
      <p:sp>
        <p:nvSpPr>
          <p:cNvPr id="172" name="CLK04"/>
          <p:cNvSpPr/>
          <p:nvPr/>
        </p:nvSpPr>
        <p:spPr>
          <a:xfrm>
            <a:off x="2427840" y="3383640"/>
            <a:ext cx="4710600" cy="1626120"/>
          </a:xfrm>
          <a:custGeom>
            <a:avLst/>
            <a:gdLst>
              <a:gd name="textAreaLeft" fmla="*/ 0 w 4710600"/>
              <a:gd name="textAreaRight" fmla="*/ 4710960 w 4710600"/>
              <a:gd name="textAreaTop" fmla="*/ 0 h 1626120"/>
              <a:gd name="textAreaBottom" fmla="*/ 1626480 h 1626120"/>
            </a:gdLst>
            <a:ahLst/>
            <a:cxnLst/>
            <a:rect l="textAreaLeft" t="textAreaTop" r="textAreaRight" b="textAreaBottom"/>
            <a:pathLst>
              <a:path w="4710988" h="1626348">
                <a:moveTo>
                  <a:pt x="0" y="0"/>
                </a:moveTo>
                <a:lnTo>
                  <a:pt x="22655" y="37665"/>
                </a:lnTo>
                <a:lnTo>
                  <a:pt x="49476" y="84243"/>
                </a:lnTo>
                <a:lnTo>
                  <a:pt x="80084" y="138683"/>
                </a:lnTo>
                <a:lnTo>
                  <a:pt x="114099" y="199931"/>
                </a:lnTo>
                <a:lnTo>
                  <a:pt x="151143" y="266935"/>
                </a:lnTo>
                <a:lnTo>
                  <a:pt x="190838" y="338642"/>
                </a:lnTo>
                <a:lnTo>
                  <a:pt x="232805" y="414000"/>
                </a:lnTo>
                <a:lnTo>
                  <a:pt x="276665" y="491956"/>
                </a:lnTo>
                <a:lnTo>
                  <a:pt x="322040" y="571458"/>
                </a:lnTo>
                <a:lnTo>
                  <a:pt x="368550" y="651453"/>
                </a:lnTo>
                <a:lnTo>
                  <a:pt x="415818" y="730889"/>
                </a:lnTo>
                <a:lnTo>
                  <a:pt x="463465" y="808713"/>
                </a:lnTo>
                <a:lnTo>
                  <a:pt x="511111" y="883873"/>
                </a:lnTo>
                <a:lnTo>
                  <a:pt x="558379" y="955316"/>
                </a:lnTo>
                <a:lnTo>
                  <a:pt x="604890" y="1021989"/>
                </a:lnTo>
                <a:lnTo>
                  <a:pt x="650265" y="1082841"/>
                </a:lnTo>
                <a:lnTo>
                  <a:pt x="694125" y="1136818"/>
                </a:lnTo>
                <a:lnTo>
                  <a:pt x="736092" y="1182868"/>
                </a:lnTo>
                <a:lnTo>
                  <a:pt x="777629" y="1222396"/>
                </a:lnTo>
                <a:lnTo>
                  <a:pt x="820303" y="1257716"/>
                </a:lnTo>
                <a:lnTo>
                  <a:pt x="863885" y="1289136"/>
                </a:lnTo>
                <a:lnTo>
                  <a:pt x="908149" y="1316965"/>
                </a:lnTo>
                <a:lnTo>
                  <a:pt x="952868" y="1341512"/>
                </a:lnTo>
                <a:lnTo>
                  <a:pt x="997813" y="1363086"/>
                </a:lnTo>
                <a:lnTo>
                  <a:pt x="1042759" y="1381995"/>
                </a:lnTo>
                <a:lnTo>
                  <a:pt x="1087477" y="1398549"/>
                </a:lnTo>
                <a:lnTo>
                  <a:pt x="1131741" y="1413056"/>
                </a:lnTo>
                <a:lnTo>
                  <a:pt x="1175323" y="1425826"/>
                </a:lnTo>
                <a:lnTo>
                  <a:pt x="1217997" y="1437166"/>
                </a:lnTo>
                <a:lnTo>
                  <a:pt x="1259535" y="1447387"/>
                </a:lnTo>
                <a:lnTo>
                  <a:pt x="1299709" y="1456796"/>
                </a:lnTo>
                <a:lnTo>
                  <a:pt x="1338294" y="1465702"/>
                </a:lnTo>
                <a:lnTo>
                  <a:pt x="1375060" y="1474415"/>
                </a:lnTo>
                <a:lnTo>
                  <a:pt x="1409782" y="1483243"/>
                </a:lnTo>
                <a:lnTo>
                  <a:pt x="1442232" y="1492496"/>
                </a:lnTo>
                <a:lnTo>
                  <a:pt x="1472184" y="1502481"/>
                </a:lnTo>
                <a:lnTo>
                  <a:pt x="1498733" y="1512138"/>
                </a:lnTo>
                <a:lnTo>
                  <a:pt x="1521458" y="1520291"/>
                </a:lnTo>
                <a:lnTo>
                  <a:pt x="1540851" y="1527080"/>
                </a:lnTo>
                <a:lnTo>
                  <a:pt x="1557405" y="1532642"/>
                </a:lnTo>
                <a:lnTo>
                  <a:pt x="1571610" y="1537115"/>
                </a:lnTo>
                <a:lnTo>
                  <a:pt x="1583960" y="1540639"/>
                </a:lnTo>
                <a:lnTo>
                  <a:pt x="1594948" y="1543352"/>
                </a:lnTo>
                <a:lnTo>
                  <a:pt x="1605064" y="1545392"/>
                </a:lnTo>
                <a:lnTo>
                  <a:pt x="1614801" y="1546898"/>
                </a:lnTo>
                <a:lnTo>
                  <a:pt x="1624652" y="1548007"/>
                </a:lnTo>
                <a:lnTo>
                  <a:pt x="1635109" y="1548859"/>
                </a:lnTo>
                <a:lnTo>
                  <a:pt x="1646665" y="1549591"/>
                </a:lnTo>
                <a:lnTo>
                  <a:pt x="1659810" y="1550343"/>
                </a:lnTo>
                <a:lnTo>
                  <a:pt x="1675038" y="1551253"/>
                </a:lnTo>
                <a:lnTo>
                  <a:pt x="1692841" y="1552458"/>
                </a:lnTo>
                <a:lnTo>
                  <a:pt x="1713711" y="1554098"/>
                </a:lnTo>
                <a:lnTo>
                  <a:pt x="1738140" y="1556311"/>
                </a:lnTo>
                <a:lnTo>
                  <a:pt x="1766620" y="1559235"/>
                </a:lnTo>
                <a:lnTo>
                  <a:pt x="1798944" y="1562682"/>
                </a:lnTo>
                <a:lnTo>
                  <a:pt x="1834373" y="1566345"/>
                </a:lnTo>
                <a:lnTo>
                  <a:pt x="1872604" y="1570185"/>
                </a:lnTo>
                <a:lnTo>
                  <a:pt x="1913334" y="1574162"/>
                </a:lnTo>
                <a:lnTo>
                  <a:pt x="1956260" y="1578238"/>
                </a:lnTo>
                <a:lnTo>
                  <a:pt x="2001079" y="1582372"/>
                </a:lnTo>
                <a:lnTo>
                  <a:pt x="2047489" y="1586525"/>
                </a:lnTo>
                <a:lnTo>
                  <a:pt x="2095186" y="1590658"/>
                </a:lnTo>
                <a:lnTo>
                  <a:pt x="2143867" y="1594731"/>
                </a:lnTo>
                <a:lnTo>
                  <a:pt x="2193231" y="1598706"/>
                </a:lnTo>
                <a:lnTo>
                  <a:pt x="2242972" y="1602542"/>
                </a:lnTo>
                <a:lnTo>
                  <a:pt x="2292790" y="1606200"/>
                </a:lnTo>
                <a:lnTo>
                  <a:pt x="2342380" y="1609641"/>
                </a:lnTo>
                <a:lnTo>
                  <a:pt x="2391440" y="1612826"/>
                </a:lnTo>
                <a:lnTo>
                  <a:pt x="2439667" y="1615715"/>
                </a:lnTo>
                <a:lnTo>
                  <a:pt x="2486759" y="1618268"/>
                </a:lnTo>
                <a:lnTo>
                  <a:pt x="2532411" y="1620447"/>
                </a:lnTo>
                <a:lnTo>
                  <a:pt x="2576322" y="1622211"/>
                </a:lnTo>
                <a:lnTo>
                  <a:pt x="2618932" y="1623599"/>
                </a:lnTo>
                <a:lnTo>
                  <a:pt x="2660937" y="1624685"/>
                </a:lnTo>
                <a:lnTo>
                  <a:pt x="2702411" y="1625486"/>
                </a:lnTo>
                <a:lnTo>
                  <a:pt x="2743432" y="1626018"/>
                </a:lnTo>
                <a:lnTo>
                  <a:pt x="2784073" y="1626300"/>
                </a:lnTo>
                <a:lnTo>
                  <a:pt x="2824412" y="1626348"/>
                </a:lnTo>
                <a:lnTo>
                  <a:pt x="2864523" y="1626178"/>
                </a:lnTo>
                <a:lnTo>
                  <a:pt x="2904483" y="1625808"/>
                </a:lnTo>
                <a:lnTo>
                  <a:pt x="2944368" y="1625255"/>
                </a:lnTo>
                <a:lnTo>
                  <a:pt x="2984252" y="1624536"/>
                </a:lnTo>
                <a:lnTo>
                  <a:pt x="3024212" y="1623667"/>
                </a:lnTo>
                <a:lnTo>
                  <a:pt x="3064323" y="1622667"/>
                </a:lnTo>
                <a:lnTo>
                  <a:pt x="3104662" y="1621550"/>
                </a:lnTo>
                <a:lnTo>
                  <a:pt x="3145303" y="1620336"/>
                </a:lnTo>
                <a:lnTo>
                  <a:pt x="3186324" y="1619040"/>
                </a:lnTo>
                <a:lnTo>
                  <a:pt x="3227798" y="1617680"/>
                </a:lnTo>
                <a:lnTo>
                  <a:pt x="3269803" y="1616272"/>
                </a:lnTo>
                <a:lnTo>
                  <a:pt x="3312414" y="1614834"/>
                </a:lnTo>
                <a:lnTo>
                  <a:pt x="3355895" y="1613278"/>
                </a:lnTo>
                <a:lnTo>
                  <a:pt x="3400361" y="1611517"/>
                </a:lnTo>
                <a:lnTo>
                  <a:pt x="3445660" y="1609569"/>
                </a:lnTo>
                <a:lnTo>
                  <a:pt x="3491640" y="1607451"/>
                </a:lnTo>
                <a:lnTo>
                  <a:pt x="3538151" y="1605182"/>
                </a:lnTo>
                <a:lnTo>
                  <a:pt x="3585040" y="1602780"/>
                </a:lnTo>
                <a:lnTo>
                  <a:pt x="3632157" y="1600263"/>
                </a:lnTo>
                <a:lnTo>
                  <a:pt x="3679349" y="1597648"/>
                </a:lnTo>
                <a:lnTo>
                  <a:pt x="3726465" y="1594954"/>
                </a:lnTo>
                <a:lnTo>
                  <a:pt x="3773355" y="1592198"/>
                </a:lnTo>
                <a:lnTo>
                  <a:pt x="3819865" y="1589399"/>
                </a:lnTo>
                <a:lnTo>
                  <a:pt x="3865846" y="1586575"/>
                </a:lnTo>
                <a:lnTo>
                  <a:pt x="3911145" y="1583743"/>
                </a:lnTo>
                <a:lnTo>
                  <a:pt x="3955610" y="1580921"/>
                </a:lnTo>
                <a:lnTo>
                  <a:pt x="3999092" y="1578127"/>
                </a:lnTo>
                <a:lnTo>
                  <a:pt x="4041437" y="1575380"/>
                </a:lnTo>
                <a:lnTo>
                  <a:pt x="4082495" y="1572697"/>
                </a:lnTo>
                <a:lnTo>
                  <a:pt x="4122115" y="1570097"/>
                </a:lnTo>
                <a:lnTo>
                  <a:pt x="4161160" y="1567467"/>
                </a:lnTo>
                <a:lnTo>
                  <a:pt x="4200470" y="1564702"/>
                </a:lnTo>
                <a:lnTo>
                  <a:pt x="4239855" y="1561827"/>
                </a:lnTo>
                <a:lnTo>
                  <a:pt x="4279127" y="1558868"/>
                </a:lnTo>
                <a:lnTo>
                  <a:pt x="4318097" y="1555851"/>
                </a:lnTo>
                <a:lnTo>
                  <a:pt x="4356574" y="1552800"/>
                </a:lnTo>
                <a:lnTo>
                  <a:pt x="4394369" y="1549742"/>
                </a:lnTo>
                <a:lnTo>
                  <a:pt x="4431294" y="1546702"/>
                </a:lnTo>
                <a:lnTo>
                  <a:pt x="4467158" y="1543705"/>
                </a:lnTo>
                <a:lnTo>
                  <a:pt x="4501773" y="1540777"/>
                </a:lnTo>
                <a:lnTo>
                  <a:pt x="4534948" y="1537944"/>
                </a:lnTo>
                <a:lnTo>
                  <a:pt x="4566496" y="1535231"/>
                </a:lnTo>
                <a:lnTo>
                  <a:pt x="4596226" y="1532664"/>
                </a:lnTo>
                <a:lnTo>
                  <a:pt x="4623950" y="1530268"/>
                </a:lnTo>
                <a:lnTo>
                  <a:pt x="4649477" y="1528068"/>
                </a:lnTo>
                <a:lnTo>
                  <a:pt x="4672619" y="1526091"/>
                </a:lnTo>
                <a:lnTo>
                  <a:pt x="4693186" y="1524362"/>
                </a:lnTo>
                <a:lnTo>
                  <a:pt x="4710988" y="1522906"/>
                </a:lnTo>
              </a:path>
            </a:pathLst>
          </a:custGeom>
          <a:noFill/>
          <a:ln w="35560" cap="rnd">
            <a:solidFill>
              <a:srgbClr val="2E9E5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73" name="CLK04"/>
          <p:cNvSpPr/>
          <p:nvPr/>
        </p:nvSpPr>
        <p:spPr>
          <a:xfrm>
            <a:off x="6844320" y="4906440"/>
            <a:ext cx="91404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700" b="1" i="1" u="none" strike="noStrike">
                <a:solidFill>
                  <a:srgbClr val="2E9E5B"/>
                </a:solidFill>
                <a:effectLst/>
                <a:uFillTx/>
                <a:latin typeface="Calibri"/>
              </a:rPr>
              <a:t>ATC</a:t>
            </a:r>
            <a:endParaRPr lang="en-US" sz="1700" b="0" u="none" strike="noStrike">
              <a:solidFill>
                <a:srgbClr val="000000"/>
              </a:solidFill>
              <a:effectLst/>
              <a:uFillTx/>
              <a:latin typeface="Arial"/>
            </a:endParaRPr>
          </a:p>
        </p:txBody>
      </p:sp>
      <p:cxnSp>
        <p:nvCxnSpPr>
          <p:cNvPr id="174" name="CLK05"/>
          <p:cNvCxnSpPr/>
          <p:nvPr/>
        </p:nvCxnSpPr>
        <p:spPr>
          <a:xfrm>
            <a:off x="1691640" y="4942440"/>
            <a:ext cx="2502720" cy="720"/>
          </a:xfrm>
          <a:prstGeom prst="straightConnector1">
            <a:avLst/>
          </a:prstGeom>
          <a:ln w="15240">
            <a:solidFill>
              <a:srgbClr val="0B2B4E"/>
            </a:solidFill>
            <a:prstDash val="dash"/>
            <a:round/>
          </a:ln>
        </p:spPr>
      </p:cxnSp>
      <p:sp>
        <p:nvSpPr>
          <p:cNvPr id="175" name="CLK05"/>
          <p:cNvSpPr/>
          <p:nvPr/>
        </p:nvSpPr>
        <p:spPr>
          <a:xfrm>
            <a:off x="1143000" y="4796640"/>
            <a:ext cx="54828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400" b="0" u="none" strike="noStrike">
                <a:solidFill>
                  <a:srgbClr val="0B2B4E"/>
                </a:solidFill>
                <a:effectLst/>
                <a:uFillTx/>
                <a:latin typeface="Calibri"/>
              </a:rPr>
              <a:t>ATC</a:t>
            </a:r>
            <a:endParaRPr lang="en-US" sz="1400" b="0" u="none" strike="noStrike">
              <a:solidFill>
                <a:srgbClr val="000000"/>
              </a:solidFill>
              <a:effectLst/>
              <a:uFillTx/>
              <a:latin typeface="Arial"/>
            </a:endParaRPr>
          </a:p>
        </p:txBody>
      </p:sp>
      <p:sp>
        <p:nvSpPr>
          <p:cNvPr id="176" name="CLK06"/>
          <p:cNvSpPr/>
          <p:nvPr/>
        </p:nvSpPr>
        <p:spPr>
          <a:xfrm>
            <a:off x="1691640" y="3800160"/>
            <a:ext cx="2502360" cy="1142280"/>
          </a:xfrm>
          <a:prstGeom prst="rect">
            <a:avLst/>
          </a:prstGeom>
          <a:solidFill>
            <a:srgbClr val="EFA9C4">
              <a:alpha val="60000"/>
            </a:srgbClr>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77" name="CLK06"/>
          <p:cNvSpPr/>
          <p:nvPr/>
        </p:nvSpPr>
        <p:spPr>
          <a:xfrm>
            <a:off x="2575080" y="4371480"/>
            <a:ext cx="146268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700" b="1" i="1" u="none" strike="noStrike">
                <a:solidFill>
                  <a:srgbClr val="0B2B4E"/>
                </a:solidFill>
                <a:effectLst/>
                <a:uFillTx/>
                <a:latin typeface="Calibri"/>
              </a:rPr>
              <a:t>Profit</a:t>
            </a:r>
            <a:endParaRPr lang="en-US" sz="17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7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7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79"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Monopolistic Competition</a:t>
            </a:r>
            <a:endParaRPr lang="en-US" sz="1600" b="0" u="none" strike="noStrike">
              <a:solidFill>
                <a:srgbClr val="000000"/>
              </a:solidFill>
              <a:effectLst/>
              <a:uFillTx/>
              <a:latin typeface="Arial"/>
            </a:endParaRPr>
          </a:p>
        </p:txBody>
      </p:sp>
      <p:sp>
        <p:nvSpPr>
          <p:cNvPr id="180"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Monopolistic Competition: Long-Run Entry</a:t>
            </a:r>
            <a:endParaRPr lang="en-US" sz="3200" b="0" u="none" strike="noStrike">
              <a:solidFill>
                <a:srgbClr val="000000"/>
              </a:solidFill>
              <a:effectLst/>
              <a:uFillTx/>
              <a:latin typeface="Arial"/>
            </a:endParaRPr>
          </a:p>
        </p:txBody>
      </p:sp>
      <p:sp>
        <p:nvSpPr>
          <p:cNvPr id="181"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82"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83"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84"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185"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186"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7</a:t>
            </a:r>
            <a:endParaRPr lang="en-US" sz="1200" b="0" u="none" strike="noStrike">
              <a:solidFill>
                <a:srgbClr val="000000"/>
              </a:solidFill>
              <a:effectLst/>
              <a:uFillTx/>
              <a:latin typeface="Arial"/>
            </a:endParaRPr>
          </a:p>
        </p:txBody>
      </p:sp>
      <p:pic>
        <p:nvPicPr>
          <p:cNvPr id="187" name="Picture 10" descr="guisados.jpg"/>
          <p:cNvPicPr/>
          <p:nvPr/>
        </p:nvPicPr>
        <p:blipFill>
          <a:blip r:embed="rId3"/>
          <a:stretch/>
        </p:blipFill>
        <p:spPr>
          <a:xfrm>
            <a:off x="1600200" y="1280160"/>
            <a:ext cx="1737000" cy="740520"/>
          </a:xfrm>
          <a:prstGeom prst="rect">
            <a:avLst/>
          </a:prstGeom>
          <a:noFill/>
          <a:ln w="0">
            <a:noFill/>
          </a:ln>
        </p:spPr>
      </p:pic>
      <p:pic>
        <p:nvPicPr>
          <p:cNvPr id="188" name="Picture 11" descr="mercado.jpg"/>
          <p:cNvPicPr/>
          <p:nvPr/>
        </p:nvPicPr>
        <p:blipFill>
          <a:blip r:embed="rId4"/>
          <a:stretch/>
        </p:blipFill>
        <p:spPr>
          <a:xfrm>
            <a:off x="3520440" y="1298520"/>
            <a:ext cx="1737000" cy="559080"/>
          </a:xfrm>
          <a:prstGeom prst="rect">
            <a:avLst/>
          </a:prstGeom>
          <a:noFill/>
          <a:ln w="0">
            <a:noFill/>
          </a:ln>
        </p:spPr>
      </p:pic>
      <p:pic>
        <p:nvPicPr>
          <p:cNvPr id="189" name="Picture 12" descr="tocaya.png"/>
          <p:cNvPicPr/>
          <p:nvPr/>
        </p:nvPicPr>
        <p:blipFill>
          <a:blip r:embed="rId5"/>
          <a:stretch/>
        </p:blipFill>
        <p:spPr>
          <a:xfrm>
            <a:off x="5440680" y="1207080"/>
            <a:ext cx="914040" cy="914040"/>
          </a:xfrm>
          <a:prstGeom prst="rect">
            <a:avLst/>
          </a:prstGeom>
          <a:noFill/>
          <a:ln w="0">
            <a:noFill/>
          </a:ln>
        </p:spPr>
      </p:pic>
      <p:cxnSp>
        <p:nvCxnSpPr>
          <p:cNvPr id="190" name="Connector 13"/>
          <p:cNvCxnSpPr/>
          <p:nvPr/>
        </p:nvCxnSpPr>
        <p:spPr>
          <a:xfrm flipV="1">
            <a:off x="1234440" y="1874160"/>
            <a:ext cx="720" cy="3932640"/>
          </a:xfrm>
          <a:prstGeom prst="straightConnector1">
            <a:avLst/>
          </a:prstGeom>
          <a:ln w="25400">
            <a:solidFill>
              <a:srgbClr val="0B2B4E"/>
            </a:solidFill>
            <a:round/>
            <a:tailEnd type="triangle" w="med" len="med"/>
          </a:ln>
        </p:spPr>
      </p:cxnSp>
      <p:cxnSp>
        <p:nvCxnSpPr>
          <p:cNvPr id="191" name="Connector 14"/>
          <p:cNvCxnSpPr/>
          <p:nvPr/>
        </p:nvCxnSpPr>
        <p:spPr>
          <a:xfrm>
            <a:off x="1234440" y="5806440"/>
            <a:ext cx="7224120" cy="720"/>
          </a:xfrm>
          <a:prstGeom prst="straightConnector1">
            <a:avLst/>
          </a:prstGeom>
          <a:ln w="25400">
            <a:solidFill>
              <a:srgbClr val="0B2B4E"/>
            </a:solidFill>
            <a:round/>
            <a:tailEnd type="triangle" w="med" len="med"/>
          </a:ln>
        </p:spPr>
      </p:cxnSp>
      <p:sp>
        <p:nvSpPr>
          <p:cNvPr id="192" name="TextBox 15"/>
          <p:cNvSpPr/>
          <p:nvPr/>
        </p:nvSpPr>
        <p:spPr>
          <a:xfrm>
            <a:off x="1097280" y="1490400"/>
            <a:ext cx="237708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b">
            <a:spAutoFit/>
          </a:bodyPr>
          <a:lstStyle/>
          <a:p>
            <a:pPr defTabSz="457200">
              <a:lnSpc>
                <a:spcPct val="100000"/>
              </a:lnSpc>
            </a:pPr>
            <a:r>
              <a:rPr lang="en-US" sz="1800" b="1" i="1" u="none" strike="noStrike">
                <a:solidFill>
                  <a:srgbClr val="0B2B4E"/>
                </a:solidFill>
                <a:effectLst/>
                <a:uFillTx/>
                <a:latin typeface="Calibri"/>
              </a:rPr>
              <a:t>Price</a:t>
            </a:r>
            <a:endParaRPr lang="en-US" sz="1800" b="0" u="none" strike="noStrike">
              <a:solidFill>
                <a:srgbClr val="000000"/>
              </a:solidFill>
              <a:effectLst/>
              <a:uFillTx/>
              <a:latin typeface="Arial"/>
            </a:endParaRPr>
          </a:p>
        </p:txBody>
      </p:sp>
      <p:sp>
        <p:nvSpPr>
          <p:cNvPr id="193" name="TextBox 16"/>
          <p:cNvSpPr/>
          <p:nvPr/>
        </p:nvSpPr>
        <p:spPr>
          <a:xfrm>
            <a:off x="8366760" y="5861160"/>
            <a:ext cx="1645560" cy="36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457200">
              <a:lnSpc>
                <a:spcPct val="100000"/>
              </a:lnSpc>
            </a:pPr>
            <a:r>
              <a:rPr lang="en-US" sz="1800" b="1" i="1" u="none" strike="noStrike">
                <a:solidFill>
                  <a:srgbClr val="0B2B4E"/>
                </a:solidFill>
                <a:effectLst/>
                <a:uFillTx/>
                <a:latin typeface="Calibri"/>
              </a:rPr>
              <a:t>Output</a:t>
            </a:r>
            <a:endParaRPr lang="en-US" sz="1800" b="0" u="none" strike="noStrike">
              <a:solidFill>
                <a:srgbClr val="000000"/>
              </a:solidFill>
              <a:effectLst/>
              <a:uFillTx/>
              <a:latin typeface="Arial"/>
            </a:endParaRPr>
          </a:p>
        </p:txBody>
      </p:sp>
      <p:sp>
        <p:nvSpPr>
          <p:cNvPr id="194" name="CLK00"/>
          <p:cNvSpPr/>
          <p:nvPr/>
        </p:nvSpPr>
        <p:spPr>
          <a:xfrm>
            <a:off x="1234440" y="2628000"/>
            <a:ext cx="6212880" cy="2166840"/>
          </a:xfrm>
          <a:custGeom>
            <a:avLst/>
            <a:gdLst>
              <a:gd name="textAreaLeft" fmla="*/ 0 w 6212880"/>
              <a:gd name="textAreaRight" fmla="*/ 6213240 w 6212880"/>
              <a:gd name="textAreaTop" fmla="*/ 0 h 2166840"/>
              <a:gd name="textAreaBottom" fmla="*/ 2167200 h 2166840"/>
            </a:gdLst>
            <a:ahLst/>
            <a:cxnLst/>
            <a:rect l="textAreaLeft" t="textAreaTop" r="textAreaRight" b="textAreaBottom"/>
            <a:pathLst>
              <a:path w="6213348" h="2167128">
                <a:moveTo>
                  <a:pt x="0" y="0"/>
                </a:moveTo>
                <a:lnTo>
                  <a:pt x="6213348" y="2167128"/>
                </a:lnTo>
              </a:path>
            </a:pathLst>
          </a:custGeom>
          <a:noFill/>
          <a:ln w="35560" cap="rnd">
            <a:solidFill>
              <a:srgbClr val="C0201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95" name="CLK00"/>
          <p:cNvSpPr/>
          <p:nvPr/>
        </p:nvSpPr>
        <p:spPr>
          <a:xfrm>
            <a:off x="6895440" y="4650480"/>
            <a:ext cx="82260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600" b="1" i="1" u="none" strike="noStrike">
                <a:solidFill>
                  <a:srgbClr val="D98A8A"/>
                </a:solidFill>
                <a:effectLst/>
                <a:uFillTx/>
                <a:latin typeface="Calibri"/>
              </a:rPr>
              <a:t>D₁</a:t>
            </a:r>
            <a:endParaRPr lang="en-US" sz="1600" b="0" u="none" strike="noStrike">
              <a:solidFill>
                <a:srgbClr val="000000"/>
              </a:solidFill>
              <a:effectLst/>
              <a:uFillTx/>
              <a:latin typeface="Arial"/>
            </a:endParaRPr>
          </a:p>
        </p:txBody>
      </p:sp>
      <p:sp>
        <p:nvSpPr>
          <p:cNvPr id="196" name="CLK01"/>
          <p:cNvSpPr/>
          <p:nvPr/>
        </p:nvSpPr>
        <p:spPr>
          <a:xfrm>
            <a:off x="1924920" y="2878560"/>
            <a:ext cx="4487040" cy="1386720"/>
          </a:xfrm>
          <a:custGeom>
            <a:avLst/>
            <a:gdLst>
              <a:gd name="textAreaLeft" fmla="*/ 0 w 4487040"/>
              <a:gd name="textAreaRight" fmla="*/ 4487400 w 4487040"/>
              <a:gd name="textAreaTop" fmla="*/ 0 h 1386720"/>
              <a:gd name="textAreaBottom" fmla="*/ 1387080 h 1386720"/>
            </a:gdLst>
            <a:ahLst/>
            <a:cxnLst/>
            <a:rect l="textAreaLeft" t="textAreaTop" r="textAreaRight" b="textAreaBottom"/>
            <a:pathLst>
              <a:path w="4487417" h="1386962">
                <a:moveTo>
                  <a:pt x="0" y="0"/>
                </a:moveTo>
                <a:lnTo>
                  <a:pt x="21248" y="18929"/>
                </a:lnTo>
                <a:lnTo>
                  <a:pt x="46403" y="41737"/>
                </a:lnTo>
                <a:lnTo>
                  <a:pt x="75109" y="68024"/>
                </a:lnTo>
                <a:lnTo>
                  <a:pt x="107012" y="97387"/>
                </a:lnTo>
                <a:lnTo>
                  <a:pt x="141755" y="129425"/>
                </a:lnTo>
                <a:lnTo>
                  <a:pt x="178985" y="163738"/>
                </a:lnTo>
                <a:lnTo>
                  <a:pt x="218345" y="199924"/>
                </a:lnTo>
                <a:lnTo>
                  <a:pt x="259481" y="237581"/>
                </a:lnTo>
                <a:lnTo>
                  <a:pt x="302037" y="276309"/>
                </a:lnTo>
                <a:lnTo>
                  <a:pt x="345659" y="315705"/>
                </a:lnTo>
                <a:lnTo>
                  <a:pt x="389991" y="355369"/>
                </a:lnTo>
                <a:lnTo>
                  <a:pt x="434678" y="394899"/>
                </a:lnTo>
                <a:lnTo>
                  <a:pt x="479365" y="433894"/>
                </a:lnTo>
                <a:lnTo>
                  <a:pt x="523697" y="471952"/>
                </a:lnTo>
                <a:lnTo>
                  <a:pt x="567319" y="508673"/>
                </a:lnTo>
                <a:lnTo>
                  <a:pt x="609875" y="543655"/>
                </a:lnTo>
                <a:lnTo>
                  <a:pt x="651011" y="576496"/>
                </a:lnTo>
                <a:lnTo>
                  <a:pt x="690372" y="606796"/>
                </a:lnTo>
                <a:lnTo>
                  <a:pt x="729229" y="635581"/>
                </a:lnTo>
                <a:lnTo>
                  <a:pt x="768974" y="664110"/>
                </a:lnTo>
                <a:lnTo>
                  <a:pt x="809429" y="692327"/>
                </a:lnTo>
                <a:lnTo>
                  <a:pt x="850417" y="720176"/>
                </a:lnTo>
                <a:lnTo>
                  <a:pt x="891760" y="747601"/>
                </a:lnTo>
                <a:lnTo>
                  <a:pt x="933280" y="774547"/>
                </a:lnTo>
                <a:lnTo>
                  <a:pt x="974801" y="800958"/>
                </a:lnTo>
                <a:lnTo>
                  <a:pt x="1016144" y="826778"/>
                </a:lnTo>
                <a:lnTo>
                  <a:pt x="1057132" y="851952"/>
                </a:lnTo>
                <a:lnTo>
                  <a:pt x="1097587" y="876423"/>
                </a:lnTo>
                <a:lnTo>
                  <a:pt x="1137332" y="900136"/>
                </a:lnTo>
                <a:lnTo>
                  <a:pt x="1176189" y="923036"/>
                </a:lnTo>
                <a:lnTo>
                  <a:pt x="1213981" y="945066"/>
                </a:lnTo>
                <a:lnTo>
                  <a:pt x="1250529" y="966170"/>
                </a:lnTo>
                <a:lnTo>
                  <a:pt x="1285658" y="986294"/>
                </a:lnTo>
                <a:lnTo>
                  <a:pt x="1319188" y="1005381"/>
                </a:lnTo>
                <a:lnTo>
                  <a:pt x="1350942" y="1023375"/>
                </a:lnTo>
                <a:lnTo>
                  <a:pt x="1380744" y="1040221"/>
                </a:lnTo>
                <a:lnTo>
                  <a:pt x="1408473" y="1055692"/>
                </a:lnTo>
                <a:lnTo>
                  <a:pt x="1434250" y="1069681"/>
                </a:lnTo>
                <a:lnTo>
                  <a:pt x="1458251" y="1082310"/>
                </a:lnTo>
                <a:lnTo>
                  <a:pt x="1480653" y="1093701"/>
                </a:lnTo>
                <a:lnTo>
                  <a:pt x="1501636" y="1103977"/>
                </a:lnTo>
                <a:lnTo>
                  <a:pt x="1521375" y="1113261"/>
                </a:lnTo>
                <a:lnTo>
                  <a:pt x="1540049" y="1121676"/>
                </a:lnTo>
                <a:lnTo>
                  <a:pt x="1557835" y="1129344"/>
                </a:lnTo>
                <a:lnTo>
                  <a:pt x="1574911" y="1136388"/>
                </a:lnTo>
                <a:lnTo>
                  <a:pt x="1591454" y="1142929"/>
                </a:lnTo>
                <a:lnTo>
                  <a:pt x="1607642" y="1149092"/>
                </a:lnTo>
                <a:lnTo>
                  <a:pt x="1623652" y="1154999"/>
                </a:lnTo>
                <a:lnTo>
                  <a:pt x="1639663" y="1160771"/>
                </a:lnTo>
                <a:lnTo>
                  <a:pt x="1655851" y="1166533"/>
                </a:lnTo>
                <a:lnTo>
                  <a:pt x="1672394" y="1172406"/>
                </a:lnTo>
                <a:lnTo>
                  <a:pt x="1689470" y="1178513"/>
                </a:lnTo>
                <a:lnTo>
                  <a:pt x="1707256" y="1184977"/>
                </a:lnTo>
                <a:lnTo>
                  <a:pt x="1725929" y="1191920"/>
                </a:lnTo>
                <a:lnTo>
                  <a:pt x="1744603" y="1199045"/>
                </a:lnTo>
                <a:lnTo>
                  <a:pt x="1762389" y="1205981"/>
                </a:lnTo>
                <a:lnTo>
                  <a:pt x="1779465" y="1212739"/>
                </a:lnTo>
                <a:lnTo>
                  <a:pt x="1796008" y="1219329"/>
                </a:lnTo>
                <a:lnTo>
                  <a:pt x="1812196" y="1225763"/>
                </a:lnTo>
                <a:lnTo>
                  <a:pt x="1828207" y="1232052"/>
                </a:lnTo>
                <a:lnTo>
                  <a:pt x="1844217" y="1238208"/>
                </a:lnTo>
                <a:lnTo>
                  <a:pt x="1860405" y="1244240"/>
                </a:lnTo>
                <a:lnTo>
                  <a:pt x="1876948" y="1250162"/>
                </a:lnTo>
                <a:lnTo>
                  <a:pt x="1894024" y="1255983"/>
                </a:lnTo>
                <a:lnTo>
                  <a:pt x="1911810" y="1261715"/>
                </a:lnTo>
                <a:lnTo>
                  <a:pt x="1930484" y="1267368"/>
                </a:lnTo>
                <a:lnTo>
                  <a:pt x="1950223" y="1272955"/>
                </a:lnTo>
                <a:lnTo>
                  <a:pt x="1971206" y="1278486"/>
                </a:lnTo>
                <a:lnTo>
                  <a:pt x="1993608" y="1283973"/>
                </a:lnTo>
                <a:lnTo>
                  <a:pt x="2017609" y="1289426"/>
                </a:lnTo>
                <a:lnTo>
                  <a:pt x="2043386" y="1294857"/>
                </a:lnTo>
                <a:lnTo>
                  <a:pt x="2071116" y="1300277"/>
                </a:lnTo>
                <a:lnTo>
                  <a:pt x="2100917" y="1305882"/>
                </a:lnTo>
                <a:lnTo>
                  <a:pt x="2132671" y="1311811"/>
                </a:lnTo>
                <a:lnTo>
                  <a:pt x="2166201" y="1317985"/>
                </a:lnTo>
                <a:lnTo>
                  <a:pt x="2201330" y="1324326"/>
                </a:lnTo>
                <a:lnTo>
                  <a:pt x="2237878" y="1330756"/>
                </a:lnTo>
                <a:lnTo>
                  <a:pt x="2275670" y="1337198"/>
                </a:lnTo>
                <a:lnTo>
                  <a:pt x="2314527" y="1343573"/>
                </a:lnTo>
                <a:lnTo>
                  <a:pt x="2354272" y="1349802"/>
                </a:lnTo>
                <a:lnTo>
                  <a:pt x="2394727" y="1355809"/>
                </a:lnTo>
                <a:lnTo>
                  <a:pt x="2435715" y="1361515"/>
                </a:lnTo>
                <a:lnTo>
                  <a:pt x="2477058" y="1366842"/>
                </a:lnTo>
                <a:lnTo>
                  <a:pt x="2518579" y="1371712"/>
                </a:lnTo>
                <a:lnTo>
                  <a:pt x="2560099" y="1376046"/>
                </a:lnTo>
                <a:lnTo>
                  <a:pt x="2601442" y="1379768"/>
                </a:lnTo>
                <a:lnTo>
                  <a:pt x="2642430" y="1382798"/>
                </a:lnTo>
                <a:lnTo>
                  <a:pt x="2682885" y="1385059"/>
                </a:lnTo>
                <a:lnTo>
                  <a:pt x="2722630" y="1386473"/>
                </a:lnTo>
                <a:lnTo>
                  <a:pt x="2761488" y="1386962"/>
                </a:lnTo>
                <a:lnTo>
                  <a:pt x="2799842" y="1386694"/>
                </a:lnTo>
                <a:lnTo>
                  <a:pt x="2838196" y="1385892"/>
                </a:lnTo>
                <a:lnTo>
                  <a:pt x="2876550" y="1384554"/>
                </a:lnTo>
                <a:lnTo>
                  <a:pt x="2914904" y="1382681"/>
                </a:lnTo>
                <a:lnTo>
                  <a:pt x="2953258" y="1380273"/>
                </a:lnTo>
                <a:lnTo>
                  <a:pt x="2991612" y="1377330"/>
                </a:lnTo>
                <a:lnTo>
                  <a:pt x="3029966" y="1373852"/>
                </a:lnTo>
                <a:lnTo>
                  <a:pt x="3068320" y="1369839"/>
                </a:lnTo>
                <a:lnTo>
                  <a:pt x="3106674" y="1365290"/>
                </a:lnTo>
                <a:lnTo>
                  <a:pt x="3145028" y="1360207"/>
                </a:lnTo>
                <a:lnTo>
                  <a:pt x="3183382" y="1354589"/>
                </a:lnTo>
                <a:lnTo>
                  <a:pt x="3221736" y="1348435"/>
                </a:lnTo>
                <a:lnTo>
                  <a:pt x="3260089" y="1341746"/>
                </a:lnTo>
                <a:lnTo>
                  <a:pt x="3298443" y="1334523"/>
                </a:lnTo>
                <a:lnTo>
                  <a:pt x="3336798" y="1326764"/>
                </a:lnTo>
                <a:lnTo>
                  <a:pt x="3375152" y="1318470"/>
                </a:lnTo>
                <a:lnTo>
                  <a:pt x="3413506" y="1309641"/>
                </a:lnTo>
                <a:lnTo>
                  <a:pt x="3451859" y="1300277"/>
                </a:lnTo>
                <a:lnTo>
                  <a:pt x="3490717" y="1290030"/>
                </a:lnTo>
                <a:lnTo>
                  <a:pt x="3530462" y="1278635"/>
                </a:lnTo>
                <a:lnTo>
                  <a:pt x="3570917" y="1266215"/>
                </a:lnTo>
                <a:lnTo>
                  <a:pt x="3611905" y="1252891"/>
                </a:lnTo>
                <a:lnTo>
                  <a:pt x="3653248" y="1238787"/>
                </a:lnTo>
                <a:lnTo>
                  <a:pt x="3694768" y="1224026"/>
                </a:lnTo>
                <a:lnTo>
                  <a:pt x="3736289" y="1208729"/>
                </a:lnTo>
                <a:lnTo>
                  <a:pt x="3777632" y="1193020"/>
                </a:lnTo>
                <a:lnTo>
                  <a:pt x="3818620" y="1177021"/>
                </a:lnTo>
                <a:lnTo>
                  <a:pt x="3859075" y="1160855"/>
                </a:lnTo>
                <a:lnTo>
                  <a:pt x="3898820" y="1144644"/>
                </a:lnTo>
                <a:lnTo>
                  <a:pt x="3937677" y="1128512"/>
                </a:lnTo>
                <a:lnTo>
                  <a:pt x="3975469" y="1112580"/>
                </a:lnTo>
                <a:lnTo>
                  <a:pt x="4012017" y="1096971"/>
                </a:lnTo>
                <a:lnTo>
                  <a:pt x="4047146" y="1081808"/>
                </a:lnTo>
                <a:lnTo>
                  <a:pt x="4080676" y="1067214"/>
                </a:lnTo>
                <a:lnTo>
                  <a:pt x="4112430" y="1053311"/>
                </a:lnTo>
                <a:lnTo>
                  <a:pt x="4142232" y="1040221"/>
                </a:lnTo>
                <a:lnTo>
                  <a:pt x="4170464" y="1027490"/>
                </a:lnTo>
                <a:lnTo>
                  <a:pt x="4197632" y="1014626"/>
                </a:lnTo>
                <a:lnTo>
                  <a:pt x="4223734" y="1001694"/>
                </a:lnTo>
                <a:lnTo>
                  <a:pt x="4248770" y="988763"/>
                </a:lnTo>
                <a:lnTo>
                  <a:pt x="4272742" y="975899"/>
                </a:lnTo>
                <a:lnTo>
                  <a:pt x="4295647" y="963168"/>
                </a:lnTo>
                <a:lnTo>
                  <a:pt x="4317488" y="950638"/>
                </a:lnTo>
                <a:lnTo>
                  <a:pt x="4338263" y="938375"/>
                </a:lnTo>
                <a:lnTo>
                  <a:pt x="4357973" y="926447"/>
                </a:lnTo>
                <a:lnTo>
                  <a:pt x="4376617" y="914920"/>
                </a:lnTo>
                <a:lnTo>
                  <a:pt x="4394196" y="903862"/>
                </a:lnTo>
                <a:lnTo>
                  <a:pt x="4410710" y="893338"/>
                </a:lnTo>
                <a:lnTo>
                  <a:pt x="4426158" y="883417"/>
                </a:lnTo>
                <a:lnTo>
                  <a:pt x="4440540" y="874164"/>
                </a:lnTo>
                <a:lnTo>
                  <a:pt x="4453858" y="865647"/>
                </a:lnTo>
                <a:lnTo>
                  <a:pt x="4466110" y="857933"/>
                </a:lnTo>
                <a:lnTo>
                  <a:pt x="4477296" y="851088"/>
                </a:lnTo>
                <a:lnTo>
                  <a:pt x="4487417" y="845180"/>
                </a:lnTo>
              </a:path>
            </a:pathLst>
          </a:custGeom>
          <a:noFill/>
          <a:ln w="35560" cap="rnd">
            <a:solidFill>
              <a:srgbClr val="2E9E5B"/>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97" name="CLK01"/>
          <p:cNvSpPr/>
          <p:nvPr/>
        </p:nvSpPr>
        <p:spPr>
          <a:xfrm>
            <a:off x="6481440" y="3543120"/>
            <a:ext cx="109692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600" b="1" i="1" u="none" strike="noStrike">
                <a:solidFill>
                  <a:srgbClr val="2E9E5B"/>
                </a:solidFill>
                <a:effectLst/>
                <a:uFillTx/>
                <a:latin typeface="Calibri"/>
              </a:rPr>
              <a:t>LAC</a:t>
            </a:r>
            <a:endParaRPr lang="en-US" sz="1600" b="0" u="none" strike="noStrike">
              <a:solidFill>
                <a:srgbClr val="000000"/>
              </a:solidFill>
              <a:effectLst/>
              <a:uFillTx/>
              <a:latin typeface="Arial"/>
            </a:endParaRPr>
          </a:p>
        </p:txBody>
      </p:sp>
      <p:sp>
        <p:nvSpPr>
          <p:cNvPr id="198" name="CLK02"/>
          <p:cNvSpPr/>
          <p:nvPr/>
        </p:nvSpPr>
        <p:spPr>
          <a:xfrm>
            <a:off x="1234440" y="3162600"/>
            <a:ext cx="6212880" cy="2340000"/>
          </a:xfrm>
          <a:custGeom>
            <a:avLst/>
            <a:gdLst>
              <a:gd name="textAreaLeft" fmla="*/ 0 w 6212880"/>
              <a:gd name="textAreaRight" fmla="*/ 6213240 w 6212880"/>
              <a:gd name="textAreaTop" fmla="*/ 0 h 2340000"/>
              <a:gd name="textAreaBottom" fmla="*/ 2340360 h 2340000"/>
            </a:gdLst>
            <a:ahLst/>
            <a:cxnLst/>
            <a:rect l="textAreaLeft" t="textAreaTop" r="textAreaRight" b="textAreaBottom"/>
            <a:pathLst>
              <a:path w="6213348" h="2340499">
                <a:moveTo>
                  <a:pt x="0" y="0"/>
                </a:moveTo>
                <a:lnTo>
                  <a:pt x="6213348" y="2340499"/>
                </a:lnTo>
              </a:path>
            </a:pathLst>
          </a:custGeom>
          <a:noFill/>
          <a:ln w="33020" cap="rnd">
            <a:solidFill>
              <a:srgbClr val="C0201B"/>
            </a:solidFill>
            <a:prstDash val="dash"/>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99" name="CLK02"/>
          <p:cNvSpPr/>
          <p:nvPr/>
        </p:nvSpPr>
        <p:spPr>
          <a:xfrm>
            <a:off x="6895440" y="5447160"/>
            <a:ext cx="82260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600" b="1" i="1" u="none" strike="noStrike">
                <a:solidFill>
                  <a:srgbClr val="C0201B"/>
                </a:solidFill>
                <a:effectLst/>
                <a:uFillTx/>
                <a:latin typeface="Calibri"/>
              </a:rPr>
              <a:t>D₂</a:t>
            </a:r>
            <a:endParaRPr lang="en-US" sz="1600" b="0" u="none" strike="noStrike">
              <a:solidFill>
                <a:srgbClr val="000000"/>
              </a:solidFill>
              <a:effectLst/>
              <a:uFillTx/>
              <a:latin typeface="Arial"/>
            </a:endParaRPr>
          </a:p>
        </p:txBody>
      </p:sp>
      <p:sp>
        <p:nvSpPr>
          <p:cNvPr id="200" name="CLK04"/>
          <p:cNvSpPr/>
          <p:nvPr/>
        </p:nvSpPr>
        <p:spPr>
          <a:xfrm>
            <a:off x="1441440" y="4217040"/>
            <a:ext cx="4970160" cy="1386720"/>
          </a:xfrm>
          <a:custGeom>
            <a:avLst/>
            <a:gdLst>
              <a:gd name="textAreaLeft" fmla="*/ 0 w 4970160"/>
              <a:gd name="textAreaRight" fmla="*/ 4970520 w 4970160"/>
              <a:gd name="textAreaTop" fmla="*/ 0 h 1386720"/>
              <a:gd name="textAreaBottom" fmla="*/ 1387080 h 1386720"/>
            </a:gdLst>
            <a:ahLst/>
            <a:cxnLst/>
            <a:rect l="textAreaLeft" t="textAreaTop" r="textAreaRight" b="textAreaBottom"/>
            <a:pathLst>
              <a:path w="4970678" h="1386962">
                <a:moveTo>
                  <a:pt x="0" y="1386962"/>
                </a:moveTo>
                <a:lnTo>
                  <a:pt x="4970678" y="0"/>
                </a:lnTo>
              </a:path>
            </a:pathLst>
          </a:custGeom>
          <a:noFill/>
          <a:ln w="38100" cap="rnd">
            <a:solidFill>
              <a:srgbClr val="3E77C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01" name="CLK04"/>
          <p:cNvSpPr/>
          <p:nvPr/>
        </p:nvSpPr>
        <p:spPr>
          <a:xfrm>
            <a:off x="6481440" y="4289400"/>
            <a:ext cx="109692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600" b="1" i="1" u="none" strike="noStrike">
                <a:solidFill>
                  <a:srgbClr val="3E77C0"/>
                </a:solidFill>
                <a:effectLst/>
                <a:uFillTx/>
                <a:latin typeface="Calibri"/>
              </a:rPr>
              <a:t>LMC</a:t>
            </a:r>
            <a:endParaRPr lang="en-US" sz="1600" b="0" u="none" strike="noStrike">
              <a:solidFill>
                <a:srgbClr val="000000"/>
              </a:solidFill>
              <a:effectLst/>
              <a:uFillTx/>
              <a:latin typeface="Arial"/>
            </a:endParaRPr>
          </a:p>
        </p:txBody>
      </p:sp>
      <p:sp>
        <p:nvSpPr>
          <p:cNvPr id="202" name="CLK03"/>
          <p:cNvSpPr/>
          <p:nvPr/>
        </p:nvSpPr>
        <p:spPr>
          <a:xfrm>
            <a:off x="1234440" y="3162600"/>
            <a:ext cx="3506760" cy="2643480"/>
          </a:xfrm>
          <a:custGeom>
            <a:avLst/>
            <a:gdLst>
              <a:gd name="textAreaLeft" fmla="*/ 0 w 3506760"/>
              <a:gd name="textAreaRight" fmla="*/ 3507120 w 3506760"/>
              <a:gd name="textAreaTop" fmla="*/ 0 h 2643480"/>
              <a:gd name="textAreaBottom" fmla="*/ 2643840 h 2643480"/>
            </a:gdLst>
            <a:ahLst/>
            <a:cxnLst/>
            <a:rect l="textAreaLeft" t="textAreaTop" r="textAreaRight" b="textAreaBottom"/>
            <a:pathLst>
              <a:path w="3507089" h="2643897">
                <a:moveTo>
                  <a:pt x="0" y="0"/>
                </a:moveTo>
                <a:lnTo>
                  <a:pt x="3507089" y="2643897"/>
                </a:lnTo>
              </a:path>
            </a:pathLst>
          </a:custGeom>
          <a:noFill/>
          <a:ln w="27940" cap="rnd">
            <a:solidFill>
              <a:srgbClr val="C0201B"/>
            </a:solidFill>
            <a:prstDash val="sysDot"/>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03" name="CLK03"/>
          <p:cNvSpPr/>
          <p:nvPr/>
        </p:nvSpPr>
        <p:spPr>
          <a:xfrm>
            <a:off x="4341240" y="5637960"/>
            <a:ext cx="1005480" cy="31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defTabSz="457200">
              <a:lnSpc>
                <a:spcPct val="100000"/>
              </a:lnSpc>
            </a:pPr>
            <a:r>
              <a:rPr lang="en-US" sz="1500" b="1" i="1" u="none" strike="noStrike">
                <a:solidFill>
                  <a:srgbClr val="C0201B"/>
                </a:solidFill>
                <a:effectLst/>
                <a:uFillTx/>
                <a:latin typeface="Calibri"/>
              </a:rPr>
              <a:t>MR₂</a:t>
            </a:r>
            <a:endParaRPr lang="en-US" sz="1500" b="0" u="none" strike="noStrike">
              <a:solidFill>
                <a:srgbClr val="000000"/>
              </a:solidFill>
              <a:effectLst/>
              <a:uFillTx/>
              <a:latin typeface="Arial"/>
            </a:endParaRPr>
          </a:p>
        </p:txBody>
      </p:sp>
      <p:cxnSp>
        <p:nvCxnSpPr>
          <p:cNvPr id="204" name="CLK05"/>
          <p:cNvCxnSpPr/>
          <p:nvPr/>
        </p:nvCxnSpPr>
        <p:spPr>
          <a:xfrm>
            <a:off x="3650400" y="4072680"/>
            <a:ext cx="720" cy="1734120"/>
          </a:xfrm>
          <a:prstGeom prst="straightConnector1">
            <a:avLst/>
          </a:prstGeom>
          <a:ln w="16510">
            <a:solidFill>
              <a:srgbClr val="0B2B4E"/>
            </a:solidFill>
            <a:prstDash val="dash"/>
            <a:round/>
          </a:ln>
        </p:spPr>
      </p:cxnSp>
      <p:cxnSp>
        <p:nvCxnSpPr>
          <p:cNvPr id="205" name="CLK05"/>
          <p:cNvCxnSpPr/>
          <p:nvPr/>
        </p:nvCxnSpPr>
        <p:spPr>
          <a:xfrm>
            <a:off x="1234440" y="4072680"/>
            <a:ext cx="2416320" cy="720"/>
          </a:xfrm>
          <a:prstGeom prst="straightConnector1">
            <a:avLst/>
          </a:prstGeom>
          <a:ln w="15240">
            <a:solidFill>
              <a:srgbClr val="0B2B4E"/>
            </a:solidFill>
            <a:prstDash val="dash"/>
            <a:round/>
          </a:ln>
        </p:spPr>
      </p:cxnSp>
      <p:sp>
        <p:nvSpPr>
          <p:cNvPr id="206" name="CLK05"/>
          <p:cNvSpPr/>
          <p:nvPr/>
        </p:nvSpPr>
        <p:spPr>
          <a:xfrm>
            <a:off x="3591360" y="4013280"/>
            <a:ext cx="118440" cy="118440"/>
          </a:xfrm>
          <a:prstGeom prst="ellipse">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8880" rIns="90000" bIns="38880" anchor="ctr">
            <a:noAutofit/>
          </a:bodyPr>
          <a:lstStyle/>
          <a:p>
            <a:endParaRPr lang="en-US" sz="1800" b="0" u="none" strike="noStrike">
              <a:solidFill>
                <a:schemeClr val="lt1"/>
              </a:solidFill>
              <a:effectLst/>
              <a:uFillTx/>
              <a:latin typeface="Calibri"/>
            </a:endParaRPr>
          </a:p>
        </p:txBody>
      </p:sp>
      <p:sp>
        <p:nvSpPr>
          <p:cNvPr id="207" name="CLK05"/>
          <p:cNvSpPr/>
          <p:nvPr/>
        </p:nvSpPr>
        <p:spPr>
          <a:xfrm>
            <a:off x="-182880" y="3926520"/>
            <a:ext cx="1371240" cy="2923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defTabSz="457200">
              <a:lnSpc>
                <a:spcPct val="100000"/>
              </a:lnSpc>
            </a:pPr>
            <a:r>
              <a:rPr lang="en-US" sz="1500" b="0" i="1" u="none" strike="noStrike">
                <a:solidFill>
                  <a:srgbClr val="0B2B4E"/>
                </a:solidFill>
                <a:effectLst/>
                <a:uFillTx/>
                <a:latin typeface="Cambria Math"/>
              </a:rPr>
              <a:t>P</a:t>
            </a:r>
            <a:r>
              <a:rPr lang="en-US" sz="1000" b="0" u="none" strike="noStrike" baseline="-25000">
                <a:solidFill>
                  <a:srgbClr val="0B2B4E"/>
                </a:solidFill>
                <a:effectLst/>
                <a:uFillTx/>
                <a:latin typeface="Cambria Math"/>
              </a:rPr>
              <a:t>2</a:t>
            </a:r>
            <a:r>
              <a:rPr lang="en-US" sz="1500" b="0" u="none" strike="noStrike">
                <a:solidFill>
                  <a:srgbClr val="0B2B4E"/>
                </a:solidFill>
                <a:effectLst/>
                <a:uFillTx/>
                <a:latin typeface="Cambria Math"/>
              </a:rPr>
              <a:t> = LAC</a:t>
            </a:r>
            <a:endParaRPr lang="en-US" sz="1500" b="0" u="none" strike="noStrike">
              <a:solidFill>
                <a:srgbClr val="000000"/>
              </a:solidFill>
              <a:effectLst/>
              <a:uFillTx/>
              <a:latin typeface="Arial"/>
            </a:endParaRPr>
          </a:p>
        </p:txBody>
      </p:sp>
      <p:sp>
        <p:nvSpPr>
          <p:cNvPr id="208" name="CLK05"/>
          <p:cNvSpPr/>
          <p:nvPr/>
        </p:nvSpPr>
        <p:spPr>
          <a:xfrm>
            <a:off x="3193560" y="5879520"/>
            <a:ext cx="914040" cy="2739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457200">
              <a:lnSpc>
                <a:spcPct val="100000"/>
              </a:lnSpc>
            </a:pPr>
            <a:r>
              <a:rPr lang="en-US" sz="1500" b="0" i="1" u="none" strike="noStrike">
                <a:solidFill>
                  <a:srgbClr val="0B2B4E"/>
                </a:solidFill>
                <a:effectLst/>
                <a:uFillTx/>
                <a:latin typeface="Cambria Math"/>
              </a:rPr>
              <a:t>Q</a:t>
            </a:r>
            <a:r>
              <a:rPr lang="en-US" sz="1000" b="0" u="none" strike="noStrike" baseline="-25000">
                <a:solidFill>
                  <a:srgbClr val="0B2B4E"/>
                </a:solidFill>
                <a:effectLst/>
                <a:uFillTx/>
                <a:latin typeface="Cambria Math"/>
              </a:rPr>
              <a:t>2</a:t>
            </a:r>
            <a:endParaRPr lang="en-US" sz="1000" b="0" u="none" strike="noStrike">
              <a:solidFill>
                <a:srgbClr val="000000"/>
              </a:solidFill>
              <a:effectLst/>
              <a:uFillTx/>
              <a:latin typeface="Arial"/>
            </a:endParaRPr>
          </a:p>
        </p:txBody>
      </p:sp>
      <p:sp>
        <p:nvSpPr>
          <p:cNvPr id="209" name="CLK02"/>
          <p:cNvSpPr/>
          <p:nvPr/>
        </p:nvSpPr>
        <p:spPr>
          <a:xfrm>
            <a:off x="8275320" y="2286000"/>
            <a:ext cx="3474360" cy="1416960"/>
          </a:xfrm>
          <a:prstGeom prst="roundRect">
            <a:avLst>
              <a:gd name="adj" fmla="val 16667"/>
            </a:avLst>
          </a:prstGeom>
          <a:solidFill>
            <a:srgbClr val="FDF6E6"/>
          </a:solidFill>
          <a:ln w="12700">
            <a:solidFill>
              <a:srgbClr val="C0504D"/>
            </a:solidFill>
            <a:round/>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109800" tIns="54720" rIns="109800" bIns="54720" anchor="ctr">
            <a:noAutofit/>
          </a:bodyPr>
          <a:lstStyle/>
          <a:p>
            <a:pPr defTabSz="457200">
              <a:lnSpc>
                <a:spcPct val="100000"/>
              </a:lnSpc>
            </a:pPr>
            <a:r>
              <a:rPr lang="en-US" sz="1400" b="0" u="none" strike="noStrike">
                <a:solidFill>
                  <a:srgbClr val="0B2B4E"/>
                </a:solidFill>
                <a:effectLst/>
                <a:uFillTx/>
                <a:latin typeface="Calibri"/>
              </a:rPr>
              <a:t>Entry shifts demand </a:t>
            </a:r>
            <a:r>
              <a:rPr lang="en-US" sz="1400" b="1" u="none" strike="noStrike">
                <a:solidFill>
                  <a:srgbClr val="0B2B4E"/>
                </a:solidFill>
                <a:effectLst/>
                <a:uFillTx/>
                <a:latin typeface="Calibri"/>
              </a:rPr>
              <a:t>down</a:t>
            </a:r>
            <a:r>
              <a:rPr lang="en-US" sz="1400" b="0" u="none" strike="noStrike">
                <a:solidFill>
                  <a:srgbClr val="0B2B4E"/>
                </a:solidFill>
                <a:effectLst/>
                <a:uFillTx/>
                <a:latin typeface="Calibri"/>
              </a:rPr>
              <a:t> and makes it </a:t>
            </a:r>
            <a:r>
              <a:rPr lang="en-US" sz="1400" b="1" u="none" strike="noStrike">
                <a:solidFill>
                  <a:srgbClr val="0B2B4E"/>
                </a:solidFill>
                <a:effectLst/>
                <a:uFillTx/>
                <a:latin typeface="Calibri"/>
              </a:rPr>
              <a:t>more elastic</a:t>
            </a:r>
            <a:r>
              <a:rPr lang="en-US" sz="1400" b="0" u="none" strike="noStrike">
                <a:solidFill>
                  <a:srgbClr val="0B2B4E"/>
                </a:solidFill>
                <a:effectLst/>
                <a:uFillTx/>
                <a:latin typeface="Calibri"/>
              </a:rPr>
              <a:t> (flatter)</a:t>
            </a:r>
            <a:endParaRPr lang="en-US" sz="1400" b="0" u="none" strike="noStrike">
              <a:solidFill>
                <a:srgbClr val="000000"/>
              </a:solidFill>
              <a:effectLst/>
              <a:uFillTx/>
              <a:latin typeface="Arial"/>
            </a:endParaRPr>
          </a:p>
        </p:txBody>
      </p:sp>
      <p:sp>
        <p:nvSpPr>
          <p:cNvPr id="210" name="CLK06"/>
          <p:cNvSpPr/>
          <p:nvPr/>
        </p:nvSpPr>
        <p:spPr>
          <a:xfrm>
            <a:off x="914400" y="6089760"/>
            <a:ext cx="10881000" cy="456840"/>
          </a:xfrm>
          <a:prstGeom prst="roundRect">
            <a:avLst>
              <a:gd name="adj" fmla="val 16667"/>
            </a:avLst>
          </a:prstGeom>
          <a:solidFill>
            <a:srgbClr val="E09F3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36720" rIns="90000" bIns="36720" anchor="ctr">
            <a:noAutofit/>
          </a:bodyPr>
          <a:lstStyle/>
          <a:p>
            <a:pPr algn="ctr" defTabSz="457200">
              <a:lnSpc>
                <a:spcPct val="100000"/>
              </a:lnSpc>
            </a:pPr>
            <a:r>
              <a:rPr lang="en-US" sz="1500" b="1" i="1" u="none" strike="noStrike">
                <a:solidFill>
                  <a:srgbClr val="0B2B4E"/>
                </a:solidFill>
                <a:effectLst/>
                <a:uFillTx/>
                <a:latin typeface="Calibri"/>
              </a:rPr>
              <a:t>In the long run, each monopolistically-competitive firm earns zero economic profit  (P = LAC)</a:t>
            </a:r>
            <a:endParaRPr lang="en-US" sz="15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0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0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12"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Monopolistic Competition</a:t>
            </a:r>
            <a:endParaRPr lang="en-US" sz="1600" b="0" u="none" strike="noStrike">
              <a:solidFill>
                <a:srgbClr val="000000"/>
              </a:solidFill>
              <a:effectLst/>
              <a:uFillTx/>
              <a:latin typeface="Arial"/>
            </a:endParaRPr>
          </a:p>
        </p:txBody>
      </p:sp>
      <p:sp>
        <p:nvSpPr>
          <p:cNvPr id="213"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The Case of Luxottica</a:t>
            </a:r>
            <a:endParaRPr lang="en-US" sz="3200" b="0" u="none" strike="noStrike">
              <a:solidFill>
                <a:srgbClr val="000000"/>
              </a:solidFill>
              <a:effectLst/>
              <a:uFillTx/>
              <a:latin typeface="Arial"/>
            </a:endParaRPr>
          </a:p>
        </p:txBody>
      </p:sp>
      <p:sp>
        <p:nvSpPr>
          <p:cNvPr id="214"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15"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16"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17"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18"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219"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8</a:t>
            </a:r>
            <a:endParaRPr lang="en-US" sz="1200" b="0" u="none" strike="noStrike">
              <a:solidFill>
                <a:srgbClr val="000000"/>
              </a:solidFill>
              <a:effectLst/>
              <a:uFillTx/>
              <a:latin typeface="Arial"/>
            </a:endParaRPr>
          </a:p>
        </p:txBody>
      </p:sp>
      <p:sp>
        <p:nvSpPr>
          <p:cNvPr id="220" name="Picture 10" descr="luxvideo.jpg"/>
          <p:cNvSpPr/>
          <p:nvPr/>
        </p:nvSpPr>
        <p:spPr>
          <a:xfrm>
            <a:off x="3566160" y="1828800"/>
            <a:ext cx="5028840" cy="284112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1" name="TextBox 11"/>
          <p:cNvSpPr/>
          <p:nvPr/>
        </p:nvSpPr>
        <p:spPr>
          <a:xfrm>
            <a:off x="3566160" y="5212080"/>
            <a:ext cx="5943240" cy="36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1500" b="0" u="sng" strike="noStrike">
                <a:solidFill>
                  <a:srgbClr val="0000FF"/>
                </a:solidFill>
                <a:effectLst/>
                <a:uFillTx/>
                <a:latin typeface="Calibri"/>
                <a:hlinkClick r:id="rId4"/>
              </a:rPr>
              <a:t>▶  Watch: 60 Minutes — “Sticker Shock: Why Are Glasses So Expensive?”</a:t>
            </a:r>
            <a:endParaRPr lang="en-US" sz="1500" b="0" u="none" strike="noStrike">
              <a:solidFill>
                <a:srgbClr val="000000"/>
              </a:solidFill>
              <a:effectLst/>
              <a:uFillTx/>
              <a:latin typeface="Arial"/>
            </a:endParaRPr>
          </a:p>
        </p:txBody>
      </p:sp>
      <p:sp>
        <p:nvSpPr>
          <p:cNvPr id="222" name="Parallelogram 12"/>
          <p:cNvSpPr/>
          <p:nvPr/>
        </p:nvSpPr>
        <p:spPr>
          <a:xfrm>
            <a:off x="9082800" y="5943600"/>
            <a:ext cx="2742840" cy="548280"/>
          </a:xfrm>
          <a:prstGeom prst="parallelogram">
            <a:avLst>
              <a:gd name="adj" fmla="val 25000"/>
            </a:avLst>
          </a:prstGeom>
          <a:solidFill>
            <a:srgbClr val="E0A21E"/>
          </a:solidFill>
          <a:ln>
            <a:noFill/>
          </a:ln>
          <a:effectLst>
            <a:outerShdw blurRad="39960" dist="24840" dir="5400000" rotWithShape="0">
              <a:srgbClr val="000000">
                <a:alpha val="30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457200">
              <a:lnSpc>
                <a:spcPct val="100000"/>
              </a:lnSpc>
            </a:pPr>
            <a:r>
              <a:rPr lang="en-US" sz="1500" b="1" u="none" strike="noStrike">
                <a:solidFill>
                  <a:srgbClr val="0B2B4E"/>
                </a:solidFill>
                <a:effectLst/>
                <a:uFillTx/>
                <a:latin typeface="Calibri"/>
              </a:rPr>
              <a:t>Class discussion break</a:t>
            </a:r>
            <a:endParaRPr lang="en-US" sz="15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24"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Monopolistic Competition</a:t>
            </a:r>
            <a:endParaRPr lang="en-US" sz="1600" b="0" u="none" strike="noStrike">
              <a:solidFill>
                <a:srgbClr val="000000"/>
              </a:solidFill>
              <a:effectLst/>
              <a:uFillTx/>
              <a:latin typeface="Arial"/>
            </a:endParaRPr>
          </a:p>
        </p:txBody>
      </p:sp>
      <p:sp>
        <p:nvSpPr>
          <p:cNvPr id="225"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The Case of Luxottica</a:t>
            </a:r>
            <a:endParaRPr lang="en-US" sz="3200" b="0" u="none" strike="noStrike">
              <a:solidFill>
                <a:srgbClr val="000000"/>
              </a:solidFill>
              <a:effectLst/>
              <a:uFillTx/>
              <a:latin typeface="Arial"/>
            </a:endParaRPr>
          </a:p>
        </p:txBody>
      </p:sp>
      <p:sp>
        <p:nvSpPr>
          <p:cNvPr id="226"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27"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28"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29"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30"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231"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9</a:t>
            </a:r>
            <a:endParaRPr lang="en-US" sz="1200" b="0" u="none" strike="noStrike">
              <a:solidFill>
                <a:srgbClr val="000000"/>
              </a:solidFill>
              <a:effectLst/>
              <a:uFillTx/>
              <a:latin typeface="Arial"/>
            </a:endParaRPr>
          </a:p>
        </p:txBody>
      </p:sp>
      <p:sp>
        <p:nvSpPr>
          <p:cNvPr id="232" name="Picture 10" descr="luxlogo.jpg"/>
          <p:cNvSpPr/>
          <p:nvPr/>
        </p:nvSpPr>
        <p:spPr>
          <a:xfrm>
            <a:off x="8412480" y="2194560"/>
            <a:ext cx="3108600" cy="1669320"/>
          </a:xfrm>
          <a:prstGeom prst="roundRect">
            <a:avLst>
              <a:gd name="adj" fmla="val 6000"/>
            </a:avLst>
          </a:prstGeom>
          <a:blipFill rotWithShape="0">
            <a:blip r:embed="rId2"/>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3" name="TXBLD_111"/>
          <p:cNvSpPr/>
          <p:nvPr/>
        </p:nvSpPr>
        <p:spPr>
          <a:xfrm>
            <a:off x="502920" y="2194560"/>
            <a:ext cx="6949080" cy="3291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2599"/>
              </a:spcBef>
              <a:buClr>
                <a:srgbClr val="0B2B4E"/>
              </a:buClr>
              <a:buFont typeface="Calibri"/>
              <a:buChar char="▪"/>
            </a:pPr>
            <a:r>
              <a:rPr lang="en-US" sz="3200" b="0" u="none" strike="noStrike">
                <a:solidFill>
                  <a:srgbClr val="0B2B4E"/>
                </a:solidFill>
                <a:effectLst/>
                <a:uFillTx/>
                <a:latin typeface="Calibri"/>
              </a:rPr>
              <a:t>What type of market do you think the eyewear market is?</a:t>
            </a:r>
            <a:endParaRPr lang="en-US" sz="3200" b="0" u="none" strike="noStrike">
              <a:solidFill>
                <a:srgbClr val="000000"/>
              </a:solidFill>
              <a:effectLst/>
              <a:uFillTx/>
              <a:latin typeface="Arial"/>
            </a:endParaRPr>
          </a:p>
          <a:p>
            <a:pPr marL="343080" indent="-343080" defTabSz="457200">
              <a:lnSpc>
                <a:spcPct val="100000"/>
              </a:lnSpc>
              <a:spcBef>
                <a:spcPts val="2599"/>
              </a:spcBef>
              <a:buClr>
                <a:srgbClr val="0B2B4E"/>
              </a:buClr>
              <a:buFont typeface="Calibri"/>
              <a:buChar char="▪"/>
            </a:pPr>
            <a:r>
              <a:rPr lang="en-US" sz="3200" b="0" u="none" strike="noStrike">
                <a:solidFill>
                  <a:srgbClr val="0B2B4E"/>
                </a:solidFill>
                <a:effectLst/>
                <a:uFillTx/>
                <a:latin typeface="Calibri"/>
              </a:rPr>
              <a:t>What is Luxottica's business model? How does it achieve profits?</a:t>
            </a:r>
            <a:endParaRPr lang="en-US" sz="3200" b="0" u="none" strike="noStrike">
              <a:solidFill>
                <a:srgbClr val="000000"/>
              </a:solidFill>
              <a:effectLst/>
              <a:uFillTx/>
              <a:latin typeface="Arial"/>
            </a:endParaRPr>
          </a:p>
          <a:p>
            <a:pPr marL="343080" indent="-343080" defTabSz="457200">
              <a:lnSpc>
                <a:spcPct val="100000"/>
              </a:lnSpc>
              <a:spcBef>
                <a:spcPts val="2599"/>
              </a:spcBef>
              <a:buClr>
                <a:srgbClr val="0B2B4E"/>
              </a:buClr>
              <a:buFont typeface="Calibri"/>
              <a:buChar char="▪"/>
            </a:pPr>
            <a:r>
              <a:rPr lang="en-US" sz="3200" b="0" u="none" strike="noStrike">
                <a:solidFill>
                  <a:srgbClr val="0B2B4E"/>
                </a:solidFill>
                <a:effectLst/>
                <a:uFillTx/>
                <a:latin typeface="Calibri"/>
              </a:rPr>
              <a:t>Does Luxottica need to worry about antitrust?</a:t>
            </a:r>
            <a:endParaRPr lang="en-US" sz="32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35"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Monopolistic Competition</a:t>
            </a:r>
            <a:endParaRPr lang="en-US" sz="1600" b="0" u="none" strike="noStrike">
              <a:solidFill>
                <a:srgbClr val="000000"/>
              </a:solidFill>
              <a:effectLst/>
              <a:uFillTx/>
              <a:latin typeface="Arial"/>
            </a:endParaRPr>
          </a:p>
        </p:txBody>
      </p:sp>
      <p:sp>
        <p:nvSpPr>
          <p:cNvPr id="236"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Barriers to Entry</a:t>
            </a:r>
            <a:endParaRPr lang="en-US" sz="3200" b="0" u="none" strike="noStrike">
              <a:solidFill>
                <a:srgbClr val="000000"/>
              </a:solidFill>
              <a:effectLst/>
              <a:uFillTx/>
              <a:latin typeface="Arial"/>
            </a:endParaRPr>
          </a:p>
        </p:txBody>
      </p:sp>
      <p:sp>
        <p:nvSpPr>
          <p:cNvPr id="237"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38"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39"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40"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41"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242"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10</a:t>
            </a:r>
            <a:endParaRPr lang="en-US" sz="1200" b="0" u="none" strike="noStrike">
              <a:solidFill>
                <a:srgbClr val="000000"/>
              </a:solidFill>
              <a:effectLst/>
              <a:uFillTx/>
              <a:latin typeface="Arial"/>
            </a:endParaRPr>
          </a:p>
        </p:txBody>
      </p:sp>
      <p:sp>
        <p:nvSpPr>
          <p:cNvPr id="243" name="TXBLD_111000"/>
          <p:cNvSpPr/>
          <p:nvPr/>
        </p:nvSpPr>
        <p:spPr>
          <a:xfrm>
            <a:off x="502920" y="1783080"/>
            <a:ext cx="11155320" cy="420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1599"/>
              </a:spcBef>
              <a:buClr>
                <a:srgbClr val="0B2B4E"/>
              </a:buClr>
              <a:buFont typeface="Calibri"/>
              <a:buChar char="▪"/>
            </a:pPr>
            <a:r>
              <a:rPr lang="en-US" sz="3200" b="0" u="none" strike="noStrike">
                <a:solidFill>
                  <a:srgbClr val="0B2B4E"/>
                </a:solidFill>
                <a:effectLst/>
                <a:uFillTx/>
                <a:latin typeface="Calibri"/>
              </a:rPr>
              <a:t>Monopolistically competitive firms make zero economic profits in the long run</a:t>
            </a:r>
            <a:endParaRPr lang="en-US" sz="3200" b="0" u="none" strike="noStrike">
              <a:solidFill>
                <a:srgbClr val="000000"/>
              </a:solidFill>
              <a:effectLst/>
              <a:uFillTx/>
              <a:latin typeface="Arial"/>
            </a:endParaRPr>
          </a:p>
          <a:p>
            <a:pPr marL="343080" indent="-343080" defTabSz="457200">
              <a:lnSpc>
                <a:spcPct val="100000"/>
              </a:lnSpc>
              <a:spcBef>
                <a:spcPts val="1599"/>
              </a:spcBef>
              <a:buClr>
                <a:srgbClr val="0B2B4E"/>
              </a:buClr>
              <a:buFont typeface="Calibri"/>
              <a:buChar char="▪"/>
            </a:pPr>
            <a:r>
              <a:rPr lang="en-US" sz="3200" b="0" u="none" strike="noStrike">
                <a:solidFill>
                  <a:srgbClr val="0B2B4E"/>
                </a:solidFill>
                <a:effectLst/>
                <a:uFillTx/>
                <a:latin typeface="Calibri"/>
              </a:rPr>
              <a:t>A monopolist makes positive economic profits</a:t>
            </a:r>
            <a:endParaRPr lang="en-US" sz="3200" b="0" u="none" strike="noStrike">
              <a:solidFill>
                <a:srgbClr val="000000"/>
              </a:solidFill>
              <a:effectLst/>
              <a:uFillTx/>
              <a:latin typeface="Arial"/>
            </a:endParaRPr>
          </a:p>
          <a:p>
            <a:pPr marL="343080" indent="-343080" defTabSz="457200">
              <a:lnSpc>
                <a:spcPct val="100000"/>
              </a:lnSpc>
              <a:spcBef>
                <a:spcPts val="1599"/>
              </a:spcBef>
              <a:buClr>
                <a:srgbClr val="0B2B4E"/>
              </a:buClr>
              <a:buFont typeface="Calibri"/>
              <a:buChar char="▪"/>
            </a:pPr>
            <a:r>
              <a:rPr lang="en-US" sz="3200" b="0" u="none" strike="noStrike">
                <a:solidFill>
                  <a:srgbClr val="0B2B4E"/>
                </a:solidFill>
                <a:effectLst/>
                <a:uFillTx/>
                <a:latin typeface="Calibri"/>
              </a:rPr>
              <a:t>Why the difference?</a:t>
            </a:r>
            <a:endParaRPr lang="en-US" sz="32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1" u="none" strike="noStrike">
                <a:solidFill>
                  <a:srgbClr val="0070C0"/>
                </a:solidFill>
                <a:effectLst/>
                <a:uFillTx/>
                <a:latin typeface="Calibri"/>
              </a:rPr>
              <a:t>Barriers to entry</a:t>
            </a:r>
            <a:endParaRPr lang="en-US" sz="28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What are the sources of market power?</a:t>
            </a:r>
            <a:endParaRPr lang="en-US" sz="2800" b="0" u="none" strike="noStrike">
              <a:solidFill>
                <a:srgbClr val="000000"/>
              </a:solidFill>
              <a:effectLst/>
              <a:uFillTx/>
              <a:latin typeface="Arial"/>
            </a:endParaRPr>
          </a:p>
          <a:p>
            <a:pPr marL="685800" lvl="1" indent="-228600" defTabSz="457200">
              <a:lnSpc>
                <a:spcPct val="100000"/>
              </a:lnSpc>
              <a:spcBef>
                <a:spcPts val="601"/>
              </a:spcBef>
              <a:buClr>
                <a:srgbClr val="555B66"/>
              </a:buClr>
              <a:buFont typeface="Calibri"/>
              <a:buChar char="–"/>
            </a:pPr>
            <a:r>
              <a:rPr lang="en-US" sz="2800" b="0" u="none" strike="noStrike">
                <a:solidFill>
                  <a:srgbClr val="555B66"/>
                </a:solidFill>
                <a:effectLst/>
                <a:uFillTx/>
                <a:latin typeface="Calibri"/>
              </a:rPr>
              <a:t>Can we create barriers to entry?</a:t>
            </a:r>
            <a:endParaRPr lang="en-US" sz="28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45"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Monopolistic Competition</a:t>
            </a:r>
            <a:endParaRPr lang="en-US" sz="1600" b="0" u="none" strike="noStrike">
              <a:solidFill>
                <a:srgbClr val="000000"/>
              </a:solidFill>
              <a:effectLst/>
              <a:uFillTx/>
              <a:latin typeface="Arial"/>
            </a:endParaRPr>
          </a:p>
        </p:txBody>
      </p:sp>
      <p:sp>
        <p:nvSpPr>
          <p:cNvPr id="246"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“Structural” Barriers to Entry</a:t>
            </a:r>
            <a:endParaRPr lang="en-US" sz="3200" b="0" u="none" strike="noStrike">
              <a:solidFill>
                <a:srgbClr val="000000"/>
              </a:solidFill>
              <a:effectLst/>
              <a:uFillTx/>
              <a:latin typeface="Arial"/>
            </a:endParaRPr>
          </a:p>
        </p:txBody>
      </p:sp>
      <p:sp>
        <p:nvSpPr>
          <p:cNvPr id="247"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48"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49"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50"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51"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252"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11</a:t>
            </a:r>
            <a:endParaRPr lang="en-US" sz="1200" b="0" u="none" strike="noStrike">
              <a:solidFill>
                <a:srgbClr val="000000"/>
              </a:solidFill>
              <a:effectLst/>
              <a:uFillTx/>
              <a:latin typeface="Arial"/>
            </a:endParaRPr>
          </a:p>
        </p:txBody>
      </p:sp>
      <p:sp>
        <p:nvSpPr>
          <p:cNvPr id="253" name="CLK00"/>
          <p:cNvSpPr/>
          <p:nvPr/>
        </p:nvSpPr>
        <p:spPr>
          <a:xfrm>
            <a:off x="502920" y="1682640"/>
            <a:ext cx="306288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400" b="1" u="none" strike="noStrike">
                <a:solidFill>
                  <a:srgbClr val="0B2B4E"/>
                </a:solidFill>
                <a:effectLst/>
                <a:uFillTx/>
                <a:latin typeface="Calibri"/>
              </a:rPr>
              <a:t>•  Legal barriers</a:t>
            </a:r>
            <a:endParaRPr lang="en-US" sz="2400" b="0" u="none" strike="noStrike">
              <a:solidFill>
                <a:srgbClr val="000000"/>
              </a:solidFill>
              <a:effectLst/>
              <a:uFillTx/>
              <a:latin typeface="Arial"/>
            </a:endParaRPr>
          </a:p>
        </p:txBody>
      </p:sp>
      <p:sp>
        <p:nvSpPr>
          <p:cNvPr id="254" name="CLK00" descr="fda.jpg"/>
          <p:cNvSpPr/>
          <p:nvPr/>
        </p:nvSpPr>
        <p:spPr>
          <a:xfrm>
            <a:off x="5669280" y="1481400"/>
            <a:ext cx="2395440" cy="70380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5" name="CLK01"/>
          <p:cNvSpPr/>
          <p:nvPr/>
        </p:nvSpPr>
        <p:spPr>
          <a:xfrm>
            <a:off x="502920" y="2615040"/>
            <a:ext cx="306288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400" b="1" u="none" strike="noStrike">
                <a:solidFill>
                  <a:srgbClr val="0B2B4E"/>
                </a:solidFill>
                <a:effectLst/>
                <a:uFillTx/>
                <a:latin typeface="Calibri"/>
              </a:rPr>
              <a:t>•  Network effects</a:t>
            </a:r>
            <a:endParaRPr lang="en-US" sz="2400" b="0" u="none" strike="noStrike">
              <a:solidFill>
                <a:srgbClr val="000000"/>
              </a:solidFill>
              <a:effectLst/>
              <a:uFillTx/>
              <a:latin typeface="Arial"/>
            </a:endParaRPr>
          </a:p>
        </p:txBody>
      </p:sp>
      <p:sp>
        <p:nvSpPr>
          <p:cNvPr id="256" name="CLK01" descr="facebook.png"/>
          <p:cNvSpPr/>
          <p:nvPr/>
        </p:nvSpPr>
        <p:spPr>
          <a:xfrm>
            <a:off x="3703320" y="1874520"/>
            <a:ext cx="1718640" cy="1142640"/>
          </a:xfrm>
          <a:prstGeom prst="roundRect">
            <a:avLst>
              <a:gd name="adj" fmla="val 6000"/>
            </a:avLst>
          </a:prstGeom>
          <a:blipFill rotWithShape="0">
            <a:blip r:embed="rId4"/>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7" name="CLK02"/>
          <p:cNvSpPr/>
          <p:nvPr/>
        </p:nvSpPr>
        <p:spPr>
          <a:xfrm>
            <a:off x="502920" y="3547800"/>
            <a:ext cx="306288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400" b="1" u="none" strike="noStrike">
                <a:solidFill>
                  <a:srgbClr val="0B2B4E"/>
                </a:solidFill>
                <a:effectLst/>
                <a:uFillTx/>
                <a:latin typeface="Calibri"/>
              </a:rPr>
              <a:t>•  Economies of scale</a:t>
            </a:r>
            <a:endParaRPr lang="en-US" sz="2400" b="0" u="none" strike="noStrike">
              <a:solidFill>
                <a:srgbClr val="000000"/>
              </a:solidFill>
              <a:effectLst/>
              <a:uFillTx/>
              <a:latin typeface="Arial"/>
            </a:endParaRPr>
          </a:p>
        </p:txBody>
      </p:sp>
      <p:sp>
        <p:nvSpPr>
          <p:cNvPr id="258" name="CLK02" descr="telecom.jpg"/>
          <p:cNvSpPr/>
          <p:nvPr/>
        </p:nvSpPr>
        <p:spPr>
          <a:xfrm>
            <a:off x="5486400" y="2487240"/>
            <a:ext cx="3958920" cy="1517400"/>
          </a:xfrm>
          <a:prstGeom prst="roundRect">
            <a:avLst>
              <a:gd name="adj" fmla="val 6000"/>
            </a:avLst>
          </a:prstGeom>
          <a:blipFill rotWithShape="0">
            <a:blip r:embed="rId5"/>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9" name="CLK03"/>
          <p:cNvSpPr/>
          <p:nvPr/>
        </p:nvSpPr>
        <p:spPr>
          <a:xfrm>
            <a:off x="502920" y="4480560"/>
            <a:ext cx="306288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400" b="1" u="none" strike="noStrike">
                <a:solidFill>
                  <a:srgbClr val="0B2B4E"/>
                </a:solidFill>
                <a:effectLst/>
                <a:uFillTx/>
                <a:latin typeface="Calibri"/>
              </a:rPr>
              <a:t>•  Learning</a:t>
            </a:r>
            <a:endParaRPr lang="en-US" sz="2400" b="0" u="none" strike="noStrike">
              <a:solidFill>
                <a:srgbClr val="000000"/>
              </a:solidFill>
              <a:effectLst/>
              <a:uFillTx/>
              <a:latin typeface="Arial"/>
            </a:endParaRPr>
          </a:p>
        </p:txBody>
      </p:sp>
      <p:sp>
        <p:nvSpPr>
          <p:cNvPr id="260" name="CLK03" descr="plane.png"/>
          <p:cNvSpPr/>
          <p:nvPr/>
        </p:nvSpPr>
        <p:spPr>
          <a:xfrm>
            <a:off x="3520440" y="3310200"/>
            <a:ext cx="4041360" cy="2340360"/>
          </a:xfrm>
          <a:prstGeom prst="roundRect">
            <a:avLst>
              <a:gd name="adj" fmla="val 6000"/>
            </a:avLst>
          </a:prstGeom>
          <a:blipFill rotWithShape="0">
            <a:blip r:embed="rId6"/>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1" name="CLK04"/>
          <p:cNvSpPr/>
          <p:nvPr/>
        </p:nvSpPr>
        <p:spPr>
          <a:xfrm>
            <a:off x="502920" y="5413320"/>
            <a:ext cx="306288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2400" b="1" u="none" strike="noStrike">
                <a:solidFill>
                  <a:srgbClr val="0B2B4E"/>
                </a:solidFill>
                <a:effectLst/>
                <a:uFillTx/>
                <a:latin typeface="Calibri"/>
              </a:rPr>
              <a:t>•  Control of resources</a:t>
            </a:r>
            <a:endParaRPr lang="en-US" sz="2400" b="0" u="none" strike="noStrike">
              <a:solidFill>
                <a:srgbClr val="000000"/>
              </a:solidFill>
              <a:effectLst/>
              <a:uFillTx/>
              <a:latin typeface="Arial"/>
            </a:endParaRPr>
          </a:p>
        </p:txBody>
      </p:sp>
      <p:sp>
        <p:nvSpPr>
          <p:cNvPr id="262" name="CLK04" descr="champagne.png"/>
          <p:cNvSpPr/>
          <p:nvPr/>
        </p:nvSpPr>
        <p:spPr>
          <a:xfrm>
            <a:off x="8001000" y="3950280"/>
            <a:ext cx="2340360" cy="2340360"/>
          </a:xfrm>
          <a:prstGeom prst="roundRect">
            <a:avLst>
              <a:gd name="adj" fmla="val 6000"/>
            </a:avLst>
          </a:prstGeom>
          <a:blipFill rotWithShape="0">
            <a:blip r:embed="rId7"/>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5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64"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Monopolistic Competition</a:t>
            </a:r>
            <a:endParaRPr lang="en-US" sz="1600" b="0" u="none" strike="noStrike">
              <a:solidFill>
                <a:srgbClr val="000000"/>
              </a:solidFill>
              <a:effectLst/>
              <a:uFillTx/>
              <a:latin typeface="Arial"/>
            </a:endParaRPr>
          </a:p>
        </p:txBody>
      </p:sp>
      <p:sp>
        <p:nvSpPr>
          <p:cNvPr id="265"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Switching Costs Lock Customers In</a:t>
            </a:r>
            <a:endParaRPr lang="en-US" sz="3200" b="0" u="none" strike="noStrike">
              <a:solidFill>
                <a:srgbClr val="000000"/>
              </a:solidFill>
              <a:effectLst/>
              <a:uFillTx/>
              <a:latin typeface="Arial"/>
            </a:endParaRPr>
          </a:p>
        </p:txBody>
      </p:sp>
      <p:sp>
        <p:nvSpPr>
          <p:cNvPr id="266"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67"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68"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69"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70"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271"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12</a:t>
            </a:r>
            <a:endParaRPr lang="en-US" sz="1200" b="0" u="none" strike="noStrike">
              <a:solidFill>
                <a:srgbClr val="000000"/>
              </a:solidFill>
              <a:effectLst/>
              <a:uFillTx/>
              <a:latin typeface="Arial"/>
            </a:endParaRPr>
          </a:p>
        </p:txBody>
      </p:sp>
      <p:sp>
        <p:nvSpPr>
          <p:cNvPr id="272" name="TextBox 10"/>
          <p:cNvSpPr/>
          <p:nvPr/>
        </p:nvSpPr>
        <p:spPr>
          <a:xfrm>
            <a:off x="502920" y="1783080"/>
            <a:ext cx="3657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2200" b="1" u="none" strike="noStrike">
                <a:solidFill>
                  <a:srgbClr val="0B2B4E"/>
                </a:solidFill>
                <a:effectLst/>
                <a:uFillTx/>
                <a:latin typeface="Calibri"/>
              </a:rPr>
              <a:t>Loyalty</a:t>
            </a:r>
            <a:endParaRPr lang="en-US" sz="2200" b="0" u="none" strike="noStrike">
              <a:solidFill>
                <a:srgbClr val="000000"/>
              </a:solidFill>
              <a:effectLst/>
              <a:uFillTx/>
              <a:latin typeface="Arial"/>
            </a:endParaRPr>
          </a:p>
        </p:txBody>
      </p:sp>
      <p:sp>
        <p:nvSpPr>
          <p:cNvPr id="273" name="Picture 11" descr="miles.jpg"/>
          <p:cNvSpPr/>
          <p:nvPr/>
        </p:nvSpPr>
        <p:spPr>
          <a:xfrm>
            <a:off x="685800" y="2514600"/>
            <a:ext cx="3291480" cy="2190240"/>
          </a:xfrm>
          <a:prstGeom prst="roundRect">
            <a:avLst>
              <a:gd name="adj" fmla="val 6000"/>
            </a:avLst>
          </a:prstGeom>
          <a:blipFill rotWithShape="0">
            <a:blip r:embed="rId2"/>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4" name="TextBox 12"/>
          <p:cNvSpPr/>
          <p:nvPr/>
        </p:nvSpPr>
        <p:spPr>
          <a:xfrm>
            <a:off x="4270320" y="1783080"/>
            <a:ext cx="3657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2200" b="1" u="none" strike="noStrike">
                <a:solidFill>
                  <a:srgbClr val="0B2B4E"/>
                </a:solidFill>
                <a:effectLst/>
                <a:uFillTx/>
                <a:latin typeface="Calibri"/>
              </a:rPr>
              <a:t>Compatibility</a:t>
            </a:r>
            <a:endParaRPr lang="en-US" sz="2200" b="0" u="none" strike="noStrike">
              <a:solidFill>
                <a:srgbClr val="000000"/>
              </a:solidFill>
              <a:effectLst/>
              <a:uFillTx/>
              <a:latin typeface="Arial"/>
            </a:endParaRPr>
          </a:p>
        </p:txBody>
      </p:sp>
      <p:sp>
        <p:nvSpPr>
          <p:cNvPr id="275" name="Picture 13" descr="apple.jpg"/>
          <p:cNvSpPr/>
          <p:nvPr/>
        </p:nvSpPr>
        <p:spPr>
          <a:xfrm>
            <a:off x="4453200" y="2514600"/>
            <a:ext cx="3291480" cy="1964880"/>
          </a:xfrm>
          <a:prstGeom prst="roundRect">
            <a:avLst>
              <a:gd name="adj" fmla="val 6000"/>
            </a:avLst>
          </a:prstGeom>
          <a:blipFill rotWithShape="0">
            <a:blip r:embed="rId3"/>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6" name="TextBox 14"/>
          <p:cNvSpPr/>
          <p:nvPr/>
        </p:nvSpPr>
        <p:spPr>
          <a:xfrm>
            <a:off x="8028360" y="1783080"/>
            <a:ext cx="3657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2200" b="1" u="none" strike="noStrike">
                <a:solidFill>
                  <a:srgbClr val="0B2B4E"/>
                </a:solidFill>
                <a:effectLst/>
                <a:uFillTx/>
                <a:latin typeface="Calibri"/>
              </a:rPr>
              <a:t>Learning</a:t>
            </a:r>
            <a:endParaRPr lang="en-US" sz="2200" b="0" u="none" strike="noStrike">
              <a:solidFill>
                <a:srgbClr val="000000"/>
              </a:solidFill>
              <a:effectLst/>
              <a:uFillTx/>
              <a:latin typeface="Arial"/>
            </a:endParaRPr>
          </a:p>
        </p:txBody>
      </p:sp>
      <p:sp>
        <p:nvSpPr>
          <p:cNvPr id="277" name="Picture 15" descr="oracle.png"/>
          <p:cNvSpPr/>
          <p:nvPr/>
        </p:nvSpPr>
        <p:spPr>
          <a:xfrm>
            <a:off x="8211240" y="2514600"/>
            <a:ext cx="3291480" cy="1592280"/>
          </a:xfrm>
          <a:prstGeom prst="roundRect">
            <a:avLst>
              <a:gd name="adj" fmla="val 6000"/>
            </a:avLst>
          </a:prstGeom>
          <a:blipFill rotWithShape="0">
            <a:blip r:embed="rId4"/>
            <a:srcRect/>
            <a:stretch/>
          </a:blipFill>
          <a:ln w="0">
            <a:noFill/>
          </a:ln>
          <a:effectLst>
            <a:outerShdw blurRad="39960" dist="24840" dir="5400000" rotWithShape="0">
              <a:srgbClr val="000000">
                <a:alpha val="3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Rectangle 1"/>
          <p:cNvSpPr/>
          <p:nvPr/>
        </p:nvSpPr>
        <p:spPr>
          <a:xfrm>
            <a:off x="0" y="0"/>
            <a:ext cx="12191400" cy="383760"/>
          </a:xfrm>
          <a:prstGeom prst="rect">
            <a:avLst/>
          </a:prstGeom>
          <a:solidFill>
            <a:srgbClr val="0B2B4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79" name="TextBox 2"/>
          <p:cNvSpPr/>
          <p:nvPr/>
        </p:nvSpPr>
        <p:spPr>
          <a:xfrm>
            <a:off x="255960" y="0"/>
            <a:ext cx="109724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FFFFFF"/>
                </a:solidFill>
                <a:effectLst/>
                <a:uFillTx/>
                <a:latin typeface="Calibri"/>
              </a:rPr>
              <a:t>Monopoly &amp; Monopolistic Competition · Monopolistic Competition</a:t>
            </a:r>
            <a:endParaRPr lang="en-US" sz="1600" b="0" u="none" strike="noStrike">
              <a:solidFill>
                <a:srgbClr val="000000"/>
              </a:solidFill>
              <a:effectLst/>
              <a:uFillTx/>
              <a:latin typeface="Arial"/>
            </a:endParaRPr>
          </a:p>
        </p:txBody>
      </p:sp>
      <p:sp>
        <p:nvSpPr>
          <p:cNvPr id="280" name="TextBox 3"/>
          <p:cNvSpPr/>
          <p:nvPr/>
        </p:nvSpPr>
        <p:spPr>
          <a:xfrm>
            <a:off x="255960" y="457200"/>
            <a:ext cx="11685600" cy="71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3200" b="1" u="none" strike="noStrike">
                <a:solidFill>
                  <a:srgbClr val="0B2B4E"/>
                </a:solidFill>
                <a:effectLst/>
                <a:uFillTx/>
                <a:latin typeface="Calibri"/>
              </a:rPr>
              <a:t>Module 5: Summary</a:t>
            </a:r>
            <a:endParaRPr lang="en-US" sz="3200" b="0" u="none" strike="noStrike">
              <a:solidFill>
                <a:srgbClr val="000000"/>
              </a:solidFill>
              <a:effectLst/>
              <a:uFillTx/>
              <a:latin typeface="Arial"/>
            </a:endParaRPr>
          </a:p>
        </p:txBody>
      </p:sp>
      <p:sp>
        <p:nvSpPr>
          <p:cNvPr id="281" name="Rectangle 4"/>
          <p:cNvSpPr/>
          <p:nvPr/>
        </p:nvSpPr>
        <p:spPr>
          <a:xfrm>
            <a:off x="255960" y="1143000"/>
            <a:ext cx="116856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82" name="Rectangle 5"/>
          <p:cNvSpPr/>
          <p:nvPr/>
        </p:nvSpPr>
        <p:spPr>
          <a:xfrm>
            <a:off x="255960" y="11340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83" name="Rectangle 6"/>
          <p:cNvSpPr/>
          <p:nvPr/>
        </p:nvSpPr>
        <p:spPr>
          <a:xfrm>
            <a:off x="0" y="6537960"/>
            <a:ext cx="12191400" cy="18000"/>
          </a:xfrm>
          <a:prstGeom prst="rect">
            <a:avLst/>
          </a:prstGeom>
          <a:solidFill>
            <a:srgbClr val="C8CDD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84" name="Rectangle 7"/>
          <p:cNvSpPr/>
          <p:nvPr/>
        </p:nvSpPr>
        <p:spPr>
          <a:xfrm>
            <a:off x="255960" y="6519600"/>
            <a:ext cx="2011320" cy="45360"/>
          </a:xfrm>
          <a:prstGeom prst="rect">
            <a:avLst/>
          </a:prstGeom>
          <a:solidFill>
            <a:srgbClr val="E09F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chemeClr val="lt1"/>
              </a:solidFill>
              <a:effectLst/>
              <a:uFillTx/>
              <a:latin typeface="Calibri"/>
            </a:endParaRPr>
          </a:p>
        </p:txBody>
      </p:sp>
      <p:sp>
        <p:nvSpPr>
          <p:cNvPr id="285" name="TextBox 8"/>
          <p:cNvSpPr/>
          <p:nvPr/>
        </p:nvSpPr>
        <p:spPr>
          <a:xfrm>
            <a:off x="255960" y="6583680"/>
            <a:ext cx="100580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0" u="none" strike="noStrike">
                <a:solidFill>
                  <a:srgbClr val="555B66"/>
                </a:solidFill>
                <a:effectLst/>
                <a:uFillTx/>
                <a:latin typeface="Calibri"/>
              </a:rPr>
              <a:t>Management 405  ·  Monopoly and Monopolistic Competition</a:t>
            </a:r>
            <a:endParaRPr lang="en-US" sz="1200" b="0" u="none" strike="noStrike">
              <a:solidFill>
                <a:srgbClr val="000000"/>
              </a:solidFill>
              <a:effectLst/>
              <a:uFillTx/>
              <a:latin typeface="Arial"/>
            </a:endParaRPr>
          </a:p>
        </p:txBody>
      </p:sp>
      <p:sp>
        <p:nvSpPr>
          <p:cNvPr id="286" name="TextBox 9"/>
          <p:cNvSpPr/>
          <p:nvPr/>
        </p:nvSpPr>
        <p:spPr>
          <a:xfrm>
            <a:off x="11430000" y="6583680"/>
            <a:ext cx="5482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457200">
              <a:lnSpc>
                <a:spcPct val="100000"/>
              </a:lnSpc>
            </a:pPr>
            <a:r>
              <a:rPr lang="en-US" sz="1200" b="0" u="none" strike="noStrike">
                <a:solidFill>
                  <a:srgbClr val="555B66"/>
                </a:solidFill>
                <a:effectLst/>
                <a:uFillTx/>
                <a:latin typeface="Calibri"/>
              </a:rPr>
              <a:t>13</a:t>
            </a:r>
            <a:endParaRPr lang="en-US" sz="1200" b="0" u="none" strike="noStrike">
              <a:solidFill>
                <a:srgbClr val="000000"/>
              </a:solidFill>
              <a:effectLst/>
              <a:uFillTx/>
              <a:latin typeface="Arial"/>
            </a:endParaRPr>
          </a:p>
        </p:txBody>
      </p:sp>
      <p:sp>
        <p:nvSpPr>
          <p:cNvPr id="287" name="TXBLD_111001111"/>
          <p:cNvSpPr/>
          <p:nvPr/>
        </p:nvSpPr>
        <p:spPr>
          <a:xfrm>
            <a:off x="502920" y="1417320"/>
            <a:ext cx="11155320" cy="5028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343080" indent="-343080" defTabSz="457200">
              <a:lnSpc>
                <a:spcPct val="100000"/>
              </a:lnSpc>
              <a:spcBef>
                <a:spcPts val="799"/>
              </a:spcBef>
              <a:buClr>
                <a:srgbClr val="0B2B4E"/>
              </a:buClr>
              <a:buFont typeface="Calibri"/>
              <a:buChar char="▪"/>
            </a:pPr>
            <a:r>
              <a:rPr lang="en-US" sz="2200" b="0" u="none" strike="noStrike">
                <a:solidFill>
                  <a:srgbClr val="0B2B4E"/>
                </a:solidFill>
                <a:effectLst/>
                <a:uFillTx/>
                <a:latin typeface="Calibri"/>
              </a:rPr>
              <a:t>Market power hinges on the definition of the market</a:t>
            </a:r>
            <a:endParaRPr lang="en-US" sz="2200" b="0" u="none" strike="noStrike">
              <a:solidFill>
                <a:srgbClr val="000000"/>
              </a:solidFill>
              <a:effectLst/>
              <a:uFillTx/>
              <a:latin typeface="Arial"/>
            </a:endParaRPr>
          </a:p>
          <a:p>
            <a:pPr marL="343080" indent="-343080" defTabSz="457200">
              <a:lnSpc>
                <a:spcPct val="100000"/>
              </a:lnSpc>
              <a:spcBef>
                <a:spcPts val="799"/>
              </a:spcBef>
              <a:buClr>
                <a:srgbClr val="0B2B4E"/>
              </a:buClr>
              <a:buFont typeface="Calibri"/>
              <a:buChar char="▪"/>
            </a:pPr>
            <a:r>
              <a:rPr lang="en-US" sz="2200" b="0" u="none" strike="noStrike">
                <a:solidFill>
                  <a:srgbClr val="0B2B4E"/>
                </a:solidFill>
                <a:effectLst/>
                <a:uFillTx/>
                <a:latin typeface="Calibri"/>
              </a:rPr>
              <a:t>Regardless of market power, set </a:t>
            </a:r>
            <a:r>
              <a:rPr lang="en-US" sz="2200" b="1" u="none" strike="noStrike">
                <a:solidFill>
                  <a:srgbClr val="0B2B4E"/>
                </a:solidFill>
                <a:effectLst/>
                <a:uFillTx/>
                <a:latin typeface="Calibri"/>
              </a:rPr>
              <a:t>MR = MC</a:t>
            </a:r>
            <a:endParaRPr lang="en-US" sz="2200" b="0" u="none" strike="noStrike">
              <a:solidFill>
                <a:srgbClr val="000000"/>
              </a:solidFill>
              <a:effectLst/>
              <a:uFillTx/>
              <a:latin typeface="Arial"/>
            </a:endParaRPr>
          </a:p>
          <a:p>
            <a:pPr marL="343080" indent="-343080" defTabSz="457200">
              <a:lnSpc>
                <a:spcPct val="100000"/>
              </a:lnSpc>
              <a:spcBef>
                <a:spcPts val="799"/>
              </a:spcBef>
              <a:buClr>
                <a:srgbClr val="0B2B4E"/>
              </a:buClr>
              <a:buFont typeface="Calibri"/>
              <a:buChar char="▪"/>
            </a:pPr>
            <a:r>
              <a:rPr lang="en-US" sz="2200" b="0" u="none" strike="noStrike">
                <a:solidFill>
                  <a:srgbClr val="0B2B4E"/>
                </a:solidFill>
                <a:effectLst/>
                <a:uFillTx/>
                <a:latin typeface="Calibri"/>
              </a:rPr>
              <a:t>The real distinction:</a:t>
            </a:r>
            <a:endParaRPr lang="en-US" sz="2200" b="0" u="none" strike="noStrike">
              <a:solidFill>
                <a:srgbClr val="000000"/>
              </a:solidFill>
              <a:effectLst/>
              <a:uFillTx/>
              <a:latin typeface="Arial"/>
            </a:endParaRPr>
          </a:p>
          <a:p>
            <a:pPr marL="685800" lvl="1" indent="-228600" defTabSz="457200">
              <a:lnSpc>
                <a:spcPct val="100000"/>
              </a:lnSpc>
              <a:spcBef>
                <a:spcPts val="300"/>
              </a:spcBef>
              <a:buClr>
                <a:srgbClr val="555B66"/>
              </a:buClr>
              <a:buFont typeface="Calibri"/>
              <a:buChar char="–"/>
            </a:pPr>
            <a:r>
              <a:rPr lang="en-US" sz="1800" b="0" u="none" strike="noStrike">
                <a:solidFill>
                  <a:srgbClr val="555B66"/>
                </a:solidFill>
                <a:effectLst/>
                <a:uFillTx/>
                <a:latin typeface="Calibri"/>
              </a:rPr>
              <a:t>Price taker: </a:t>
            </a:r>
            <a:r>
              <a:rPr lang="en-US" sz="1800" b="1" u="none" strike="noStrike">
                <a:solidFill>
                  <a:srgbClr val="555B66"/>
                </a:solidFill>
                <a:effectLst/>
                <a:uFillTx/>
                <a:latin typeface="Calibri"/>
              </a:rPr>
              <a:t>MR = P</a:t>
            </a:r>
            <a:endParaRPr lang="en-US" sz="1800" b="0" u="none" strike="noStrike">
              <a:solidFill>
                <a:srgbClr val="000000"/>
              </a:solidFill>
              <a:effectLst/>
              <a:uFillTx/>
              <a:latin typeface="Arial"/>
            </a:endParaRPr>
          </a:p>
          <a:p>
            <a:pPr marL="685800" lvl="1" indent="-228600" defTabSz="457200">
              <a:lnSpc>
                <a:spcPct val="100000"/>
              </a:lnSpc>
              <a:spcBef>
                <a:spcPts val="300"/>
              </a:spcBef>
              <a:buClr>
                <a:srgbClr val="555B66"/>
              </a:buClr>
              <a:buFont typeface="Calibri"/>
              <a:buChar char="–"/>
            </a:pPr>
            <a:r>
              <a:rPr lang="en-US" sz="1800" b="0" u="none" strike="noStrike">
                <a:solidFill>
                  <a:srgbClr val="555B66"/>
                </a:solidFill>
                <a:effectLst/>
                <a:uFillTx/>
                <a:latin typeface="Calibri"/>
              </a:rPr>
              <a:t>Price searcher: </a:t>
            </a:r>
            <a:r>
              <a:rPr lang="en-US" sz="1800" b="1" u="none" strike="noStrike">
                <a:solidFill>
                  <a:srgbClr val="555B66"/>
                </a:solidFill>
                <a:effectLst/>
                <a:uFillTx/>
                <a:latin typeface="Calibri"/>
              </a:rPr>
              <a:t>MR ≠ P</a:t>
            </a:r>
            <a:endParaRPr lang="en-US" sz="1800" b="0" u="none" strike="noStrike">
              <a:solidFill>
                <a:srgbClr val="000000"/>
              </a:solidFill>
              <a:effectLst/>
              <a:uFillTx/>
              <a:latin typeface="Arial"/>
            </a:endParaRPr>
          </a:p>
          <a:p>
            <a:pPr marL="343080" indent="-343080" defTabSz="457200">
              <a:lnSpc>
                <a:spcPct val="100000"/>
              </a:lnSpc>
              <a:spcBef>
                <a:spcPts val="799"/>
              </a:spcBef>
              <a:buClr>
                <a:srgbClr val="0B2B4E"/>
              </a:buClr>
              <a:buFont typeface="Calibri"/>
              <a:buChar char="▪"/>
            </a:pPr>
            <a:r>
              <a:rPr lang="en-US" sz="2200" b="0" u="none" strike="noStrike">
                <a:solidFill>
                  <a:srgbClr val="0B2B4E"/>
                </a:solidFill>
                <a:effectLst/>
                <a:uFillTx/>
                <a:latin typeface="Calibri"/>
              </a:rPr>
              <a:t>Monopoly: short- and long-run profits — good for business, bad for consumers</a:t>
            </a:r>
            <a:endParaRPr lang="en-US" sz="2200" b="0" u="none" strike="noStrike">
              <a:solidFill>
                <a:srgbClr val="000000"/>
              </a:solidFill>
              <a:effectLst/>
              <a:uFillTx/>
              <a:latin typeface="Arial"/>
            </a:endParaRPr>
          </a:p>
          <a:p>
            <a:pPr marL="343080" indent="-343080" defTabSz="457200">
              <a:lnSpc>
                <a:spcPct val="100000"/>
              </a:lnSpc>
              <a:spcBef>
                <a:spcPts val="799"/>
              </a:spcBef>
              <a:buClr>
                <a:srgbClr val="0B2B4E"/>
              </a:buClr>
              <a:buFont typeface="Calibri"/>
              <a:buChar char="▪"/>
            </a:pPr>
            <a:r>
              <a:rPr lang="en-US" sz="2200" b="0" u="none" strike="noStrike">
                <a:solidFill>
                  <a:srgbClr val="0B2B4E"/>
                </a:solidFill>
                <a:effectLst/>
                <a:uFillTx/>
                <a:latin typeface="Calibri"/>
              </a:rPr>
              <a:t>Government interventions can curb market power</a:t>
            </a:r>
            <a:endParaRPr lang="en-US" sz="2200" b="0" u="none" strike="noStrike">
              <a:solidFill>
                <a:srgbClr val="000000"/>
              </a:solidFill>
              <a:effectLst/>
              <a:uFillTx/>
              <a:latin typeface="Arial"/>
            </a:endParaRPr>
          </a:p>
          <a:p>
            <a:pPr marL="343080" indent="-343080" defTabSz="457200">
              <a:lnSpc>
                <a:spcPct val="100000"/>
              </a:lnSpc>
              <a:spcBef>
                <a:spcPts val="799"/>
              </a:spcBef>
              <a:buClr>
                <a:srgbClr val="0B2B4E"/>
              </a:buClr>
              <a:buFont typeface="Calibri"/>
              <a:buChar char="▪"/>
            </a:pPr>
            <a:r>
              <a:rPr lang="en-US" sz="2200" b="0" u="none" strike="noStrike">
                <a:solidFill>
                  <a:srgbClr val="0B2B4E"/>
                </a:solidFill>
                <a:effectLst/>
                <a:uFillTx/>
                <a:latin typeface="Calibri"/>
              </a:rPr>
              <a:t>Monopolistic competition: short-run profit; long-run entry erodes it</a:t>
            </a:r>
            <a:endParaRPr lang="en-US" sz="2200" b="0" u="none" strike="noStrike">
              <a:solidFill>
                <a:srgbClr val="000000"/>
              </a:solidFill>
              <a:effectLst/>
              <a:uFillTx/>
              <a:latin typeface="Arial"/>
            </a:endParaRPr>
          </a:p>
          <a:p>
            <a:pPr marL="343080" indent="-343080" defTabSz="457200">
              <a:lnSpc>
                <a:spcPct val="100000"/>
              </a:lnSpc>
              <a:spcBef>
                <a:spcPts val="799"/>
              </a:spcBef>
              <a:buClr>
                <a:srgbClr val="0B2B4E"/>
              </a:buClr>
              <a:buFont typeface="Calibri"/>
              <a:buChar char="▪"/>
            </a:pPr>
            <a:r>
              <a:rPr lang="en-US" sz="2200" b="0" u="none" strike="noStrike">
                <a:solidFill>
                  <a:srgbClr val="0B2B4E"/>
                </a:solidFill>
                <a:effectLst/>
                <a:uFillTx/>
                <a:latin typeface="Calibri"/>
              </a:rPr>
              <a:t>Source of market power: </a:t>
            </a:r>
            <a:r>
              <a:rPr lang="en-US" sz="2200" b="1" u="none" strike="noStrike">
                <a:solidFill>
                  <a:srgbClr val="0070C0"/>
                </a:solidFill>
                <a:effectLst/>
                <a:uFillTx/>
                <a:latin typeface="Calibri"/>
              </a:rPr>
              <a:t>barriers to entry</a:t>
            </a:r>
            <a:endParaRPr lang="en-US" sz="22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7">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7">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7">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TotalTime>
  <Words>816</Words>
  <Application>Microsoft Office PowerPoint</Application>
  <PresentationFormat>Widescreen</PresentationFormat>
  <Paragraphs>153</Paragraphs>
  <Slides>13</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Arial</vt:lpstr>
      <vt:lpstr>Calibri</vt:lpstr>
      <vt:lpstr>Cambria Math</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PAOLA GIULIANO</dc:creator>
  <dc:description>generated using python-pptx</dc:description>
  <cp:lastModifiedBy>Giuliano, Paola</cp:lastModifiedBy>
  <cp:revision>1</cp:revision>
  <dcterms:created xsi:type="dcterms:W3CDTF">2013-01-27T09:14:16Z</dcterms:created>
  <dcterms:modified xsi:type="dcterms:W3CDTF">2026-07-04T00:25:45Z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