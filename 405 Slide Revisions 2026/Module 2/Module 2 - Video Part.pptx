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3.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4.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5.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6.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7.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8.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9" r:id="rId1"/>
    <p:sldMasterId id="2147483756" r:id="rId2"/>
    <p:sldMasterId id="2147483724" r:id="rId3"/>
    <p:sldMasterId id="2147483769" r:id="rId4"/>
  </p:sldMasterIdLst>
  <p:notesMasterIdLst>
    <p:notesMasterId r:id="rId45"/>
  </p:notesMasterIdLst>
  <p:handoutMasterIdLst>
    <p:handoutMasterId r:id="rId46"/>
  </p:handoutMasterIdLst>
  <p:sldIdLst>
    <p:sldId id="257" r:id="rId5"/>
    <p:sldId id="719" r:id="rId6"/>
    <p:sldId id="720" r:id="rId7"/>
    <p:sldId id="721" r:id="rId8"/>
    <p:sldId id="503" r:id="rId9"/>
    <p:sldId id="712" r:id="rId10"/>
    <p:sldId id="496" r:id="rId11"/>
    <p:sldId id="377" r:id="rId12"/>
    <p:sldId id="786" r:id="rId13"/>
    <p:sldId id="723" r:id="rId14"/>
    <p:sldId id="504" r:id="rId15"/>
    <p:sldId id="749" r:id="rId16"/>
    <p:sldId id="335" r:id="rId17"/>
    <p:sldId id="750" r:id="rId18"/>
    <p:sldId id="743" r:id="rId19"/>
    <p:sldId id="341" r:id="rId20"/>
    <p:sldId id="751" r:id="rId21"/>
    <p:sldId id="342" r:id="rId22"/>
    <p:sldId id="752" r:id="rId23"/>
    <p:sldId id="788" r:id="rId24"/>
    <p:sldId id="458" r:id="rId25"/>
    <p:sldId id="755" r:id="rId26"/>
    <p:sldId id="434" r:id="rId27"/>
    <p:sldId id="328" r:id="rId28"/>
    <p:sldId id="329" r:id="rId29"/>
    <p:sldId id="303" r:id="rId30"/>
    <p:sldId id="762" r:id="rId31"/>
    <p:sldId id="761" r:id="rId32"/>
    <p:sldId id="306" r:id="rId33"/>
    <p:sldId id="307" r:id="rId34"/>
    <p:sldId id="789" r:id="rId35"/>
    <p:sldId id="758" r:id="rId36"/>
    <p:sldId id="309" r:id="rId37"/>
    <p:sldId id="763" r:id="rId38"/>
    <p:sldId id="756" r:id="rId39"/>
    <p:sldId id="764" r:id="rId40"/>
    <p:sldId id="757" r:id="rId41"/>
    <p:sldId id="375" r:id="rId42"/>
    <p:sldId id="742" r:id="rId43"/>
    <p:sldId id="680" r:id="rId44"/>
  </p:sldIdLst>
  <p:sldSz cx="9144000" cy="6858000" type="screen4x3"/>
  <p:notesSz cx="7315200" cy="9601200"/>
  <p:custDataLst>
    <p:tags r:id="rId4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LEMENCE TRICAUD" initials="CT" lastIdx="44" clrIdx="0">
    <p:extLst>
      <p:ext uri="{19B8F6BF-5375-455C-9EA6-DF929625EA0E}">
        <p15:presenceInfo xmlns:p15="http://schemas.microsoft.com/office/powerpoint/2012/main" userId="S-1-5-21-1914341619-2963887621-4192079504-39280" providerId="AD"/>
      </p:ext>
    </p:extLst>
  </p:cmAuthor>
  <p:cmAuthor id="2" name="Giuliano, Paola" initials="GP" lastIdx="10" clrIdx="1">
    <p:extLst>
      <p:ext uri="{19B8F6BF-5375-455C-9EA6-DF929625EA0E}">
        <p15:presenceInfo xmlns:p15="http://schemas.microsoft.com/office/powerpoint/2012/main" userId="S::giulpao@ad.ucla.edu::132bae3d-d350-492a-913b-ab702ff24d3d" providerId="AD"/>
      </p:ext>
    </p:extLst>
  </p:cmAuthor>
  <p:cmAuthor id="3" name="Nico Voigtlaender" initials="NV" lastIdx="9" clrIdx="2">
    <p:extLst>
      <p:ext uri="{19B8F6BF-5375-455C-9EA6-DF929625EA0E}">
        <p15:presenceInfo xmlns:p15="http://schemas.microsoft.com/office/powerpoint/2012/main" userId="Nico Voigtlaender" providerId="None"/>
      </p:ext>
    </p:extLst>
  </p:cmAuthor>
  <p:cmAuthor id="4" name="Wasserman, Melanie" initials="WM" lastIdx="16" clrIdx="3">
    <p:extLst>
      <p:ext uri="{19B8F6BF-5375-455C-9EA6-DF929625EA0E}">
        <p15:presenceInfo xmlns:p15="http://schemas.microsoft.com/office/powerpoint/2012/main" userId="S::mswasserman@ad.ucla.edu::dc9d8677-d4c7-4bfe-9320-b2694e2f633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clrMru>
    <a:srgbClr val="1B8BD5"/>
    <a:srgbClr val="FFFFFF"/>
    <a:srgbClr val="002B56"/>
    <a:srgbClr val="002B4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303" autoAdjust="0"/>
    <p:restoredTop sz="86922" autoAdjust="0"/>
  </p:normalViewPr>
  <p:slideViewPr>
    <p:cSldViewPr snapToGrid="0" snapToObjects="1">
      <p:cViewPr varScale="1">
        <p:scale>
          <a:sx n="64" d="100"/>
          <a:sy n="64" d="100"/>
        </p:scale>
        <p:origin x="776" y="48"/>
      </p:cViewPr>
      <p:guideLst>
        <p:guide orient="horz" pos="2160"/>
        <p:guide pos="2880"/>
      </p:guideLst>
    </p:cSldViewPr>
  </p:slideViewPr>
  <p:outlineViewPr>
    <p:cViewPr>
      <p:scale>
        <a:sx n="33" d="100"/>
        <a:sy n="33" d="100"/>
      </p:scale>
      <p:origin x="0" y="-42992"/>
    </p:cViewPr>
  </p:outlineViewPr>
  <p:notesTextViewPr>
    <p:cViewPr>
      <p:scale>
        <a:sx n="3" d="2"/>
        <a:sy n="3" d="2"/>
      </p:scale>
      <p:origin x="0" y="0"/>
    </p:cViewPr>
  </p:notesTextViewPr>
  <p:sorterViewPr>
    <p:cViewPr>
      <p:scale>
        <a:sx n="60" d="100"/>
        <a:sy n="60" d="100"/>
      </p:scale>
      <p:origin x="0" y="-5142"/>
    </p:cViewPr>
  </p:sorterViewPr>
  <p:notesViewPr>
    <p:cSldViewPr snapToGrid="0" snapToObjects="1">
      <p:cViewPr varScale="1">
        <p:scale>
          <a:sx n="87" d="100"/>
          <a:sy n="87" d="100"/>
        </p:scale>
        <p:origin x="192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ags" Target="tags/tag1.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commentAuthors" Target="commentAuthors.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slideMaster" Target="slideMasters/slideMaster1.xml"/><Relationship Id="rId6"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oleObject" Target="file:///C:\Users\ctricaud\Dropbox\teaching-MBA-405-2021\%23Revised%20Slides\airline-regression.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ctricaud\Dropbox\teaching-MBA-405-2021\%23Revised%20Slides\airline-regression.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19050" cap="rnd">
              <a:noFill/>
              <a:round/>
            </a:ln>
            <a:effectLst/>
          </c:spPr>
          <c:marker>
            <c:symbol val="circle"/>
            <c:size val="5"/>
            <c:spPr>
              <a:solidFill>
                <a:schemeClr val="accent1"/>
              </a:solidFill>
              <a:ln w="9525" cap="rnd">
                <a:solidFill>
                  <a:schemeClr val="accent1"/>
                </a:solidFill>
                <a:bevel/>
              </a:ln>
              <a:effectLst/>
            </c:spPr>
          </c:marker>
          <c:trendline>
            <c:spPr>
              <a:ln w="28575" cap="rnd" cmpd="sng">
                <a:noFill/>
                <a:prstDash val="solid"/>
              </a:ln>
              <a:effectLst/>
            </c:spPr>
            <c:trendlineType val="linear"/>
            <c:dispRSqr val="0"/>
            <c:dispEq val="0"/>
          </c:trendline>
          <c:xVal>
            <c:numRef>
              <c:f>Sheet2!$A$2:$A$17</c:f>
              <c:numCache>
                <c:formatCode>General</c:formatCode>
                <c:ptCount val="16"/>
                <c:pt idx="0">
                  <c:v>250</c:v>
                </c:pt>
                <c:pt idx="1">
                  <c:v>265</c:v>
                </c:pt>
                <c:pt idx="2">
                  <c:v>265</c:v>
                </c:pt>
                <c:pt idx="3">
                  <c:v>240</c:v>
                </c:pt>
                <c:pt idx="4">
                  <c:v>230</c:v>
                </c:pt>
                <c:pt idx="5">
                  <c:v>225</c:v>
                </c:pt>
                <c:pt idx="6">
                  <c:v>225</c:v>
                </c:pt>
                <c:pt idx="7">
                  <c:v>220</c:v>
                </c:pt>
                <c:pt idx="8">
                  <c:v>230</c:v>
                </c:pt>
                <c:pt idx="9">
                  <c:v>235</c:v>
                </c:pt>
                <c:pt idx="10">
                  <c:v>245</c:v>
                </c:pt>
                <c:pt idx="11">
                  <c:v>240</c:v>
                </c:pt>
                <c:pt idx="12">
                  <c:v>250</c:v>
                </c:pt>
                <c:pt idx="13">
                  <c:v>240</c:v>
                </c:pt>
                <c:pt idx="14">
                  <c:v>240</c:v>
                </c:pt>
                <c:pt idx="15">
                  <c:v>235</c:v>
                </c:pt>
              </c:numCache>
            </c:numRef>
          </c:xVal>
          <c:yVal>
            <c:numRef>
              <c:f>Sheet2!$B$2:$B$17</c:f>
              <c:numCache>
                <c:formatCode>General</c:formatCode>
                <c:ptCount val="16"/>
                <c:pt idx="0">
                  <c:v>64</c:v>
                </c:pt>
                <c:pt idx="1">
                  <c:v>33</c:v>
                </c:pt>
                <c:pt idx="2">
                  <c:v>37</c:v>
                </c:pt>
                <c:pt idx="3">
                  <c:v>83.3</c:v>
                </c:pt>
                <c:pt idx="4">
                  <c:v>111</c:v>
                </c:pt>
                <c:pt idx="5">
                  <c:v>137</c:v>
                </c:pt>
                <c:pt idx="6">
                  <c:v>109</c:v>
                </c:pt>
                <c:pt idx="7">
                  <c:v>96</c:v>
                </c:pt>
                <c:pt idx="8">
                  <c:v>59</c:v>
                </c:pt>
                <c:pt idx="9">
                  <c:v>83</c:v>
                </c:pt>
                <c:pt idx="10">
                  <c:v>90</c:v>
                </c:pt>
                <c:pt idx="11">
                  <c:v>105</c:v>
                </c:pt>
                <c:pt idx="12">
                  <c:v>75</c:v>
                </c:pt>
                <c:pt idx="13">
                  <c:v>91</c:v>
                </c:pt>
                <c:pt idx="14">
                  <c:v>112</c:v>
                </c:pt>
                <c:pt idx="15">
                  <c:v>102</c:v>
                </c:pt>
              </c:numCache>
            </c:numRef>
          </c:yVal>
          <c:smooth val="0"/>
          <c:extLst>
            <c:ext xmlns:c16="http://schemas.microsoft.com/office/drawing/2014/chart" uri="{C3380CC4-5D6E-409C-BE32-E72D297353CC}">
              <c16:uniqueId val="{00000001-FE59-4CC0-ABF3-0A2ACC8C18BF}"/>
            </c:ext>
          </c:extLst>
        </c:ser>
        <c:dLbls>
          <c:showLegendKey val="0"/>
          <c:showVal val="0"/>
          <c:showCatName val="0"/>
          <c:showSerName val="0"/>
          <c:showPercent val="0"/>
          <c:showBubbleSize val="0"/>
        </c:dLbls>
        <c:axId val="1251615152"/>
        <c:axId val="1256726144"/>
      </c:scatterChart>
      <c:valAx>
        <c:axId val="1251615152"/>
        <c:scaling>
          <c:orientation val="minMax"/>
          <c:min val="210"/>
        </c:scaling>
        <c:delete val="0"/>
        <c:axPos val="b"/>
        <c:majorGridlines>
          <c:spPr>
            <a:ln w="9525" cap="flat" cmpd="sng" algn="ctr">
              <a:noFill/>
              <a:round/>
            </a:ln>
            <a:effectLst/>
          </c:spPr>
        </c:majorGridlines>
        <c:numFmt formatCode="General" sourceLinked="1"/>
        <c:majorTickMark val="none"/>
        <c:minorTickMark val="none"/>
        <c:tickLblPos val="nextTo"/>
        <c:spPr>
          <a:noFill/>
          <a:ln w="9525" cap="rnd" cmpd="sng" algn="ctr">
            <a:solidFill>
              <a:schemeClr val="tx1">
                <a:lumMod val="25000"/>
                <a:lumOff val="75000"/>
              </a:schemeClr>
            </a:solidFill>
            <a:prstDash val="solid"/>
            <a:round/>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crossAx val="1256726144"/>
        <c:crosses val="autoZero"/>
        <c:crossBetween val="midCat"/>
      </c:valAx>
      <c:valAx>
        <c:axId val="1256726144"/>
        <c:scaling>
          <c:orientation val="minMax"/>
          <c:max val="150"/>
          <c:min val="2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crossAx val="1251615152"/>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000"/>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3166928765368945E-2"/>
          <c:y val="4.8677672855578655E-2"/>
          <c:w val="0.86281636199593947"/>
          <c:h val="0.81733510226958306"/>
        </c:manualLayout>
      </c:layout>
      <c:scatterChart>
        <c:scatterStyle val="lineMarker"/>
        <c:varyColors val="0"/>
        <c:ser>
          <c:idx val="0"/>
          <c:order val="0"/>
          <c:spPr>
            <a:ln w="19050" cap="rnd">
              <a:noFill/>
              <a:round/>
            </a:ln>
            <a:effectLst/>
          </c:spPr>
          <c:marker>
            <c:symbol val="circle"/>
            <c:size val="5"/>
            <c:spPr>
              <a:solidFill>
                <a:schemeClr val="accent1"/>
              </a:solidFill>
              <a:ln w="9525" cap="rnd">
                <a:solidFill>
                  <a:schemeClr val="accent1"/>
                </a:solidFill>
                <a:bevel/>
              </a:ln>
              <a:effectLst/>
            </c:spPr>
          </c:marker>
          <c:trendline>
            <c:spPr>
              <a:ln w="28575" cap="rnd" cmpd="sng">
                <a:solidFill>
                  <a:schemeClr val="accent2">
                    <a:lumMod val="75000"/>
                  </a:schemeClr>
                </a:solidFill>
                <a:prstDash val="solid"/>
              </a:ln>
              <a:effectLst/>
            </c:spPr>
            <c:trendlineType val="linear"/>
            <c:dispRSqr val="0"/>
            <c:dispEq val="0"/>
          </c:trendline>
          <c:xVal>
            <c:numRef>
              <c:f>Sheet2!$A$2:$A$17</c:f>
              <c:numCache>
                <c:formatCode>General</c:formatCode>
                <c:ptCount val="16"/>
                <c:pt idx="0">
                  <c:v>250</c:v>
                </c:pt>
                <c:pt idx="1">
                  <c:v>265</c:v>
                </c:pt>
                <c:pt idx="2">
                  <c:v>265</c:v>
                </c:pt>
                <c:pt idx="3">
                  <c:v>240</c:v>
                </c:pt>
                <c:pt idx="4">
                  <c:v>230</c:v>
                </c:pt>
                <c:pt idx="5">
                  <c:v>225</c:v>
                </c:pt>
                <c:pt idx="6">
                  <c:v>225</c:v>
                </c:pt>
                <c:pt idx="7">
                  <c:v>220</c:v>
                </c:pt>
                <c:pt idx="8">
                  <c:v>230</c:v>
                </c:pt>
                <c:pt idx="9">
                  <c:v>235</c:v>
                </c:pt>
                <c:pt idx="10">
                  <c:v>245</c:v>
                </c:pt>
                <c:pt idx="11">
                  <c:v>240</c:v>
                </c:pt>
                <c:pt idx="12">
                  <c:v>250</c:v>
                </c:pt>
                <c:pt idx="13">
                  <c:v>240</c:v>
                </c:pt>
                <c:pt idx="14">
                  <c:v>240</c:v>
                </c:pt>
                <c:pt idx="15">
                  <c:v>235</c:v>
                </c:pt>
              </c:numCache>
            </c:numRef>
          </c:xVal>
          <c:yVal>
            <c:numRef>
              <c:f>Sheet2!$B$2:$B$17</c:f>
              <c:numCache>
                <c:formatCode>General</c:formatCode>
                <c:ptCount val="16"/>
                <c:pt idx="0">
                  <c:v>64</c:v>
                </c:pt>
                <c:pt idx="1">
                  <c:v>33</c:v>
                </c:pt>
                <c:pt idx="2">
                  <c:v>37</c:v>
                </c:pt>
                <c:pt idx="3">
                  <c:v>83.3</c:v>
                </c:pt>
                <c:pt idx="4">
                  <c:v>111</c:v>
                </c:pt>
                <c:pt idx="5">
                  <c:v>137</c:v>
                </c:pt>
                <c:pt idx="6">
                  <c:v>109</c:v>
                </c:pt>
                <c:pt idx="7">
                  <c:v>96</c:v>
                </c:pt>
                <c:pt idx="8">
                  <c:v>59</c:v>
                </c:pt>
                <c:pt idx="9">
                  <c:v>83</c:v>
                </c:pt>
                <c:pt idx="10">
                  <c:v>90</c:v>
                </c:pt>
                <c:pt idx="11">
                  <c:v>105</c:v>
                </c:pt>
                <c:pt idx="12">
                  <c:v>75</c:v>
                </c:pt>
                <c:pt idx="13">
                  <c:v>91</c:v>
                </c:pt>
                <c:pt idx="14">
                  <c:v>112</c:v>
                </c:pt>
                <c:pt idx="15">
                  <c:v>102</c:v>
                </c:pt>
              </c:numCache>
            </c:numRef>
          </c:yVal>
          <c:smooth val="0"/>
          <c:extLst>
            <c:ext xmlns:c16="http://schemas.microsoft.com/office/drawing/2014/chart" uri="{C3380CC4-5D6E-409C-BE32-E72D297353CC}">
              <c16:uniqueId val="{00000001-3E44-4CE4-9A32-E153B50BDCAD}"/>
            </c:ext>
          </c:extLst>
        </c:ser>
        <c:dLbls>
          <c:showLegendKey val="0"/>
          <c:showVal val="0"/>
          <c:showCatName val="0"/>
          <c:showSerName val="0"/>
          <c:showPercent val="0"/>
          <c:showBubbleSize val="0"/>
        </c:dLbls>
        <c:axId val="1251615152"/>
        <c:axId val="1256726144"/>
      </c:scatterChart>
      <c:valAx>
        <c:axId val="1251615152"/>
        <c:scaling>
          <c:orientation val="minMax"/>
          <c:min val="210"/>
        </c:scaling>
        <c:delete val="0"/>
        <c:axPos val="b"/>
        <c:majorGridlines>
          <c:spPr>
            <a:ln w="9525" cap="flat" cmpd="sng" algn="ctr">
              <a:noFill/>
              <a:round/>
            </a:ln>
            <a:effectLst/>
          </c:spPr>
        </c:majorGridlines>
        <c:numFmt formatCode="General" sourceLinked="1"/>
        <c:majorTickMark val="none"/>
        <c:minorTickMark val="none"/>
        <c:tickLblPos val="nextTo"/>
        <c:spPr>
          <a:noFill/>
          <a:ln w="9525" cap="rnd" cmpd="sng" algn="ctr">
            <a:solidFill>
              <a:schemeClr val="tx1">
                <a:lumMod val="25000"/>
                <a:lumOff val="75000"/>
              </a:schemeClr>
            </a:solidFill>
            <a:prstDash val="solid"/>
            <a:round/>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crossAx val="1256726144"/>
        <c:crosses val="autoZero"/>
        <c:crossBetween val="midCat"/>
      </c:valAx>
      <c:valAx>
        <c:axId val="1256726144"/>
        <c:scaling>
          <c:orientation val="minMax"/>
          <c:max val="150"/>
          <c:min val="2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crossAx val="1251615152"/>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0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47" tIns="48324" rIns="96647" bIns="48324"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47" tIns="48324" rIns="96647" bIns="48324" rtlCol="0"/>
          <a:lstStyle>
            <a:lvl1pPr algn="r">
              <a:defRPr sz="1300"/>
            </a:lvl1pPr>
          </a:lstStyle>
          <a:p>
            <a:fld id="{F6D47F8B-C2FC-9540-A0E0-B106EE612B16}" type="datetimeFigureOut">
              <a:rPr lang="en-US" smtClean="0"/>
              <a:t>8/14/2026</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47" tIns="48324" rIns="96647" bIns="48324" rtlCol="0" anchor="b"/>
          <a:lstStyle>
            <a:lvl1pPr algn="l">
              <a:defRPr sz="1300"/>
            </a:lvl1pPr>
          </a:lstStyle>
          <a:p>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47" tIns="48324" rIns="96647" bIns="48324" rtlCol="0" anchor="b"/>
          <a:lstStyle>
            <a:lvl1pPr algn="r">
              <a:defRPr sz="1300"/>
            </a:lvl1pPr>
          </a:lstStyle>
          <a:p>
            <a:fld id="{14208B52-F97A-2D40-B706-CEC41B37499B}" type="slidenum">
              <a:rPr lang="en-US" smtClean="0"/>
              <a:t>‹#›</a:t>
            </a:fld>
            <a:endParaRPr lang="en-US"/>
          </a:p>
        </p:txBody>
      </p:sp>
    </p:spTree>
    <p:extLst>
      <p:ext uri="{BB962C8B-B14F-4D97-AF65-F5344CB8AC3E}">
        <p14:creationId xmlns:p14="http://schemas.microsoft.com/office/powerpoint/2010/main" val="1431928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47" tIns="48324" rIns="96647" bIns="48324"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47" tIns="48324" rIns="96647" bIns="48324" rtlCol="0"/>
          <a:lstStyle>
            <a:lvl1pPr algn="r">
              <a:defRPr sz="1300"/>
            </a:lvl1pPr>
          </a:lstStyle>
          <a:p>
            <a:fld id="{9FAC1A9B-BDAC-6A46-B8D4-E37AE0BBC950}" type="datetimeFigureOut">
              <a:rPr lang="en-US" smtClean="0"/>
              <a:t>8/14/2026</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47" tIns="48324" rIns="96647" bIns="48324"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47" tIns="48324" rIns="96647" bIns="4832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47" tIns="48324" rIns="96647" bIns="48324"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47" tIns="48324" rIns="96647" bIns="48324" rtlCol="0" anchor="b"/>
          <a:lstStyle>
            <a:lvl1pPr algn="r">
              <a:defRPr sz="1300"/>
            </a:lvl1pPr>
          </a:lstStyle>
          <a:p>
            <a:fld id="{8D36AC2A-E969-3C46-9ED8-B46D40C5E669}" type="slidenum">
              <a:rPr lang="en-US" smtClean="0"/>
              <a:t>‹#›</a:t>
            </a:fld>
            <a:endParaRPr lang="en-US"/>
          </a:p>
        </p:txBody>
      </p:sp>
    </p:spTree>
    <p:extLst>
      <p:ext uri="{BB962C8B-B14F-4D97-AF65-F5344CB8AC3E}">
        <p14:creationId xmlns:p14="http://schemas.microsoft.com/office/powerpoint/2010/main" val="1191726463"/>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D36AC2A-E969-3C46-9ED8-B46D40C5E669}" type="slidenum">
              <a:rPr lang="en-US" smtClean="0"/>
              <a:t>1</a:t>
            </a:fld>
            <a:endParaRPr lang="en-US"/>
          </a:p>
        </p:txBody>
      </p:sp>
    </p:spTree>
    <p:extLst>
      <p:ext uri="{BB962C8B-B14F-4D97-AF65-F5344CB8AC3E}">
        <p14:creationId xmlns:p14="http://schemas.microsoft.com/office/powerpoint/2010/main" val="6425635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2</a:t>
            </a:fld>
            <a:endParaRPr lang="en-US"/>
          </a:p>
        </p:txBody>
      </p:sp>
    </p:spTree>
    <p:extLst>
      <p:ext uri="{BB962C8B-B14F-4D97-AF65-F5344CB8AC3E}">
        <p14:creationId xmlns:p14="http://schemas.microsoft.com/office/powerpoint/2010/main" val="6056852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We </a:t>
                </a:r>
                <a:r>
                  <a:rPr lang="en-US" sz="1200" kern="1200" dirty="0">
                    <a:solidFill>
                      <a:schemeClr val="tx1"/>
                    </a:solidFill>
                    <a:effectLst/>
                    <a:latin typeface="+mn-lt"/>
                    <a:ea typeface="+mn-ea"/>
                    <a:cs typeface="+mn-cs"/>
                  </a:rPr>
                  <a:t>can now explore the relationship between the elasticity of demand and total revenue. Total revenue is defined as </a:t>
                </a:r>
                <a14:m>
                  <m:oMath xmlns:m="http://schemas.openxmlformats.org/officeDocument/2006/math">
                    <m:r>
                      <a:rPr lang="en-US" sz="1200" i="1" kern="1200">
                        <a:solidFill>
                          <a:schemeClr val="tx1"/>
                        </a:solidFill>
                        <a:effectLst/>
                        <a:latin typeface="Cambria Math" panose="02040503050406030204" pitchFamily="18" charset="0"/>
                        <a:ea typeface="+mn-ea"/>
                        <a:cs typeface="+mn-cs"/>
                      </a:rPr>
                      <m:t>𝑇𝑅</m:t>
                    </m:r>
                    <m:r>
                      <a:rPr lang="en-US" sz="1200" i="1" kern="1200">
                        <a:solidFill>
                          <a:schemeClr val="tx1"/>
                        </a:solidFill>
                        <a:effectLst/>
                        <a:latin typeface="Cambria Math" panose="02040503050406030204" pitchFamily="18" charset="0"/>
                        <a:ea typeface="+mn-ea"/>
                        <a:cs typeface="+mn-cs"/>
                      </a:rPr>
                      <m:t>=</m:t>
                    </m:r>
                    <m:r>
                      <a:rPr lang="en-US" sz="1200" i="1" kern="1200">
                        <a:solidFill>
                          <a:schemeClr val="tx1"/>
                        </a:solidFill>
                        <a:effectLst/>
                        <a:latin typeface="Cambria Math" panose="02040503050406030204" pitchFamily="18" charset="0"/>
                        <a:ea typeface="+mn-ea"/>
                        <a:cs typeface="+mn-cs"/>
                      </a:rPr>
                      <m:t>𝑃</m:t>
                    </m:r>
                    <m:r>
                      <a:rPr lang="en-US" sz="1200" i="1" kern="1200">
                        <a:solidFill>
                          <a:schemeClr val="tx1"/>
                        </a:solidFill>
                        <a:effectLst/>
                        <a:latin typeface="Cambria Math" panose="02040503050406030204" pitchFamily="18" charset="0"/>
                        <a:ea typeface="+mn-ea"/>
                        <a:cs typeface="+mn-cs"/>
                      </a:rPr>
                      <m:t>∙</m:t>
                    </m:r>
                    <m:r>
                      <a:rPr lang="en-US" sz="1200" i="1" kern="1200">
                        <a:solidFill>
                          <a:schemeClr val="tx1"/>
                        </a:solidFill>
                        <a:effectLst/>
                        <a:latin typeface="Cambria Math" panose="02040503050406030204" pitchFamily="18" charset="0"/>
                        <a:ea typeface="+mn-ea"/>
                        <a:cs typeface="+mn-cs"/>
                      </a:rPr>
                      <m:t>𝑄</m:t>
                    </m:r>
                  </m:oMath>
                </a14:m>
                <a:r>
                  <a:rPr lang="en-US" sz="1200" kern="1200" dirty="0">
                    <a:solidFill>
                      <a:schemeClr val="tx1"/>
                    </a:solidFill>
                    <a:effectLst/>
                    <a:latin typeface="+mn-lt"/>
                    <a:ea typeface="+mn-ea"/>
                    <a:cs typeface="+mn-cs"/>
                  </a:rPr>
                  <a:t>. Starting at the leftmost portion of the graph, when </a:t>
                </a:r>
                <a14:m>
                  <m:oMath xmlns:m="http://schemas.openxmlformats.org/officeDocument/2006/math">
                    <m:r>
                      <a:rPr lang="en-US" sz="1200" i="1" kern="1200">
                        <a:solidFill>
                          <a:schemeClr val="tx1"/>
                        </a:solidFill>
                        <a:effectLst/>
                        <a:latin typeface="Cambria Math" panose="02040503050406030204" pitchFamily="18" charset="0"/>
                        <a:ea typeface="+mn-ea"/>
                        <a:cs typeface="+mn-cs"/>
                      </a:rPr>
                      <m:t>𝑄</m:t>
                    </m:r>
                    <m:r>
                      <a:rPr lang="en-US" sz="1200" i="1" kern="1200">
                        <a:solidFill>
                          <a:schemeClr val="tx1"/>
                        </a:solidFill>
                        <a:effectLst/>
                        <a:latin typeface="Cambria Math" panose="02040503050406030204" pitchFamily="18" charset="0"/>
                        <a:ea typeface="+mn-ea"/>
                        <a:cs typeface="+mn-cs"/>
                      </a:rPr>
                      <m:t>=0</m:t>
                    </m:r>
                  </m:oMath>
                </a14:m>
                <a:r>
                  <a:rPr lang="en-US" sz="1200" kern="1200" dirty="0">
                    <a:solidFill>
                      <a:schemeClr val="tx1"/>
                    </a:solidFill>
                    <a:effectLst/>
                    <a:latin typeface="+mn-lt"/>
                    <a:ea typeface="+mn-ea"/>
                    <a:cs typeface="+mn-cs"/>
                  </a:rPr>
                  <a:t>, we know that </a:t>
                </a:r>
                <a14:m>
                  <m:oMath xmlns:m="http://schemas.openxmlformats.org/officeDocument/2006/math">
                    <m:r>
                      <a:rPr lang="en-US" sz="1200" i="1" kern="1200">
                        <a:solidFill>
                          <a:schemeClr val="tx1"/>
                        </a:solidFill>
                        <a:effectLst/>
                        <a:latin typeface="Cambria Math" panose="02040503050406030204" pitchFamily="18" charset="0"/>
                        <a:ea typeface="+mn-ea"/>
                        <a:cs typeface="+mn-cs"/>
                      </a:rPr>
                      <m:t>𝑇𝑅</m:t>
                    </m:r>
                    <m:r>
                      <a:rPr lang="en-US" sz="1200" i="1" kern="1200">
                        <a:solidFill>
                          <a:schemeClr val="tx1"/>
                        </a:solidFill>
                        <a:effectLst/>
                        <a:latin typeface="Cambria Math" panose="02040503050406030204" pitchFamily="18" charset="0"/>
                        <a:ea typeface="+mn-ea"/>
                        <a:cs typeface="+mn-cs"/>
                      </a:rPr>
                      <m:t>=0</m:t>
                    </m:r>
                  </m:oMath>
                </a14:m>
                <a:r>
                  <a:rPr lang="en-US" sz="1200" kern="1200" dirty="0">
                    <a:solidFill>
                      <a:schemeClr val="tx1"/>
                    </a:solidFill>
                    <a:effectLst/>
                    <a:latin typeface="+mn-lt"/>
                    <a:ea typeface="+mn-ea"/>
                    <a:cs typeface="+mn-cs"/>
                  </a:rPr>
                  <a:t>. As the price falls, quantity rises. Note that these changes have opposing effects on total revenue. Since we are on the elastic portion of the demand curve, we know that a small decrease in price causes a large increase in quantity, and total revenue increases. This pattern will hold as price falls through the point of unit elasticity on the demand curve. At this point, total revenue reaches its maximum. After this point, we enter the inelastic portion of the demand curve. On the inelastic portion of the demand curve, we know that a small decrease in price causes an even smaller increase in quantity, and total revenue falls. Total revenue continues to fall until the demand curve intersects the x-axis, where </a:t>
                </a:r>
                <a14:m>
                  <m:oMath xmlns:m="http://schemas.openxmlformats.org/officeDocument/2006/math">
                    <m:r>
                      <a:rPr lang="en-US" sz="1200" i="1" kern="1200">
                        <a:solidFill>
                          <a:schemeClr val="tx1"/>
                        </a:solidFill>
                        <a:effectLst/>
                        <a:latin typeface="Cambria Math" panose="02040503050406030204" pitchFamily="18" charset="0"/>
                        <a:ea typeface="+mn-ea"/>
                        <a:cs typeface="+mn-cs"/>
                      </a:rPr>
                      <m:t>𝑃</m:t>
                    </m:r>
                    <m:r>
                      <a:rPr lang="en-US" sz="1200" i="1" kern="1200">
                        <a:solidFill>
                          <a:schemeClr val="tx1"/>
                        </a:solidFill>
                        <a:effectLst/>
                        <a:latin typeface="Cambria Math" panose="02040503050406030204" pitchFamily="18" charset="0"/>
                        <a:ea typeface="+mn-ea"/>
                        <a:cs typeface="+mn-cs"/>
                      </a:rPr>
                      <m:t>=0</m:t>
                    </m:r>
                  </m:oMath>
                </a14:m>
                <a:r>
                  <a:rPr lang="en-US" sz="1200" kern="1200" dirty="0">
                    <a:solidFill>
                      <a:schemeClr val="tx1"/>
                    </a:solidFill>
                    <a:effectLst/>
                    <a:latin typeface="+mn-lt"/>
                    <a:ea typeface="+mn-ea"/>
                    <a:cs typeface="+mn-cs"/>
                  </a:rPr>
                  <a:t>, and </a:t>
                </a:r>
                <a14:m>
                  <m:oMath xmlns:m="http://schemas.openxmlformats.org/officeDocument/2006/math">
                    <m:r>
                      <a:rPr lang="en-US" sz="1200" i="1" kern="1200">
                        <a:solidFill>
                          <a:schemeClr val="tx1"/>
                        </a:solidFill>
                        <a:effectLst/>
                        <a:latin typeface="Cambria Math" panose="02040503050406030204" pitchFamily="18" charset="0"/>
                        <a:ea typeface="+mn-ea"/>
                        <a:cs typeface="+mn-cs"/>
                      </a:rPr>
                      <m:t>𝑇𝑅</m:t>
                    </m:r>
                    <m:r>
                      <a:rPr lang="en-US" sz="1200" i="1" kern="1200">
                        <a:solidFill>
                          <a:schemeClr val="tx1"/>
                        </a:solidFill>
                        <a:effectLst/>
                        <a:latin typeface="Cambria Math" panose="02040503050406030204" pitchFamily="18" charset="0"/>
                        <a:ea typeface="+mn-ea"/>
                        <a:cs typeface="+mn-cs"/>
                      </a:rPr>
                      <m:t>=0</m:t>
                    </m:r>
                  </m:oMath>
                </a14:m>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When you lower your price and move down the demand curve, there are two effects on revenues: 1) a positive effect from more quantity sold and 2) a negative effect from a lower price per unit. Which area is bigger? It depends on the </a:t>
                </a:r>
                <a:r>
                  <a:rPr lang="en-US" sz="1200" b="1" kern="1200" dirty="0">
                    <a:solidFill>
                      <a:schemeClr val="tx1"/>
                    </a:solidFill>
                    <a:effectLst/>
                    <a:latin typeface="+mn-lt"/>
                    <a:ea typeface="+mn-ea"/>
                    <a:cs typeface="+mn-cs"/>
                  </a:rPr>
                  <a:t>elasticity of demand.</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Case of elastic demand: </a:t>
                </a:r>
                <a:r>
                  <a:rPr lang="en-US" sz="1200" kern="1200" dirty="0">
                    <a:solidFill>
                      <a:schemeClr val="tx1"/>
                    </a:solidFill>
                    <a:effectLst/>
                    <a:latin typeface="+mn-lt"/>
                    <a:ea typeface="+mn-ea"/>
                    <a:cs typeface="+mn-cs"/>
                  </a:rPr>
                  <a:t>TR=P×Q. If P ↓ by 10% and Q ↑ by 20%, TR ↑. In the elastic zone of the demand curve (low Q, high P), the revenue curve rises. What can we say about the direction in which profits move here? It is ambiguous because of costs. Since quantity sold is rising, costs are also (weakly) rising. Profit can rise or fall, depending on how much costs increase.</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Case of inelastic demand: </a:t>
                </a:r>
                <a:r>
                  <a:rPr lang="en-US" sz="1200" kern="1200" dirty="0">
                    <a:solidFill>
                      <a:schemeClr val="tx1"/>
                    </a:solidFill>
                    <a:effectLst/>
                    <a:latin typeface="+mn-lt"/>
                    <a:ea typeface="+mn-ea"/>
                    <a:cs typeface="+mn-cs"/>
                  </a:rPr>
                  <a:t>TR=P×Q. If P ↓ by 10% and Q ↑ by 5%, TR ↓. In the inelastic zone of the demand curve (high Q, low P), the revenue curve is downward sloping. The prescription is clear here. If you are on the inelastic part of the demand curve, raise the price. Revenues rise, you sell less, so costs go down. Since revenues rise and costs go down, you know profits must be going up.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Does that mean that profits are maximized when </a:t>
                </a:r>
                <a:r>
                  <a:rPr lang="en-US" sz="1200" kern="1200" dirty="0" err="1">
                    <a:solidFill>
                      <a:schemeClr val="tx1"/>
                    </a:solidFill>
                    <a:effectLst/>
                    <a:latin typeface="+mn-lt"/>
                    <a:ea typeface="+mn-ea"/>
                    <a:cs typeface="+mn-cs"/>
                  </a:rPr>
                  <a:t>E_d</a:t>
                </a:r>
                <a:r>
                  <a:rPr lang="en-US" sz="1200" kern="1200" dirty="0">
                    <a:solidFill>
                      <a:schemeClr val="tx1"/>
                    </a:solidFill>
                    <a:effectLst/>
                    <a:latin typeface="+mn-lt"/>
                    <a:ea typeface="+mn-ea"/>
                    <a:cs typeface="+mn-cs"/>
                  </a:rPr>
                  <a:t>=-1? No. When </a:t>
                </a:r>
                <a:r>
                  <a:rPr lang="en-US" sz="1200" kern="1200" dirty="0" err="1">
                    <a:solidFill>
                      <a:schemeClr val="tx1"/>
                    </a:solidFill>
                    <a:effectLst/>
                    <a:latin typeface="+mn-lt"/>
                    <a:ea typeface="+mn-ea"/>
                    <a:cs typeface="+mn-cs"/>
                  </a:rPr>
                  <a:t>E_d</a:t>
                </a:r>
                <a:r>
                  <a:rPr lang="en-US" sz="1200" kern="1200" dirty="0">
                    <a:solidFill>
                      <a:schemeClr val="tx1"/>
                    </a:solidFill>
                    <a:effectLst/>
                    <a:latin typeface="+mn-lt"/>
                    <a:ea typeface="+mn-ea"/>
                    <a:cs typeface="+mn-cs"/>
                  </a:rPr>
                  <a:t>=-1, revenues are maximized. Marginal revenue is zero. That is not the same as MR=MC. Only when MR=MC are profits maximized. Usually, this is when </a:t>
                </a:r>
                <a:r>
                  <a:rPr lang="en-US" sz="1200" kern="1200" dirty="0" err="1">
                    <a:solidFill>
                      <a:schemeClr val="tx1"/>
                    </a:solidFill>
                    <a:effectLst/>
                    <a:latin typeface="+mn-lt"/>
                    <a:ea typeface="+mn-ea"/>
                    <a:cs typeface="+mn-cs"/>
                  </a:rPr>
                  <a:t>E_d</a:t>
                </a:r>
                <a:r>
                  <a:rPr lang="en-US" sz="1200" kern="1200" dirty="0">
                    <a:solidFill>
                      <a:schemeClr val="tx1"/>
                    </a:solidFill>
                    <a:effectLst/>
                    <a:latin typeface="+mn-lt"/>
                    <a:ea typeface="+mn-ea"/>
                    <a:cs typeface="+mn-cs"/>
                  </a:rPr>
                  <a:t>&lt;-1, i.e. in the elastic zone of the demand curve, where MR is positive and allows you to cover marginal cost. You only want to stop at MR=0 (</a:t>
                </a:r>
                <a:r>
                  <a:rPr lang="en-US" sz="1200" kern="1200" dirty="0" err="1">
                    <a:solidFill>
                      <a:schemeClr val="tx1"/>
                    </a:solidFill>
                    <a:effectLst/>
                    <a:latin typeface="+mn-lt"/>
                    <a:ea typeface="+mn-ea"/>
                    <a:cs typeface="+mn-cs"/>
                  </a:rPr>
                  <a:t>E_d</a:t>
                </a:r>
                <a:r>
                  <a:rPr lang="en-US" sz="1200" kern="1200" dirty="0">
                    <a:solidFill>
                      <a:schemeClr val="tx1"/>
                    </a:solidFill>
                    <a:effectLst/>
                    <a:latin typeface="+mn-lt"/>
                    <a:ea typeface="+mn-ea"/>
                    <a:cs typeface="+mn-cs"/>
                  </a:rPr>
                  <a:t>=-1) if MC=0.</a:t>
                </a:r>
              </a:p>
              <a:p>
                <a:endParaRPr lang="en-US" sz="1200" kern="1200" dirty="0">
                  <a:solidFill>
                    <a:schemeClr val="tx1"/>
                  </a:solidFill>
                  <a:effectLst/>
                  <a:latin typeface="+mn-lt"/>
                  <a:ea typeface="+mn-ea"/>
                  <a:cs typeface="+mn-cs"/>
                </a:endParaRPr>
              </a:p>
            </p:txBody>
          </p:sp>
        </mc:Choice>
        <mc:Fallback xmlns="">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 can now explore the relationship between the elasticity of demand and total revenue. Total revenue is defined as </a:t>
                </a:r>
                <a:r>
                  <a:rPr lang="en-US" sz="1200" i="0" kern="1200">
                    <a:solidFill>
                      <a:schemeClr val="tx1"/>
                    </a:solidFill>
                    <a:effectLst/>
                    <a:latin typeface="+mn-lt"/>
                    <a:ea typeface="+mn-ea"/>
                    <a:cs typeface="+mn-cs"/>
                  </a:rPr>
                  <a:t>𝑇𝑅=𝑃∙𝑄</a:t>
                </a:r>
                <a:r>
                  <a:rPr lang="en-US" sz="1200" kern="1200" dirty="0">
                    <a:solidFill>
                      <a:schemeClr val="tx1"/>
                    </a:solidFill>
                    <a:effectLst/>
                    <a:latin typeface="+mn-lt"/>
                    <a:ea typeface="+mn-ea"/>
                    <a:cs typeface="+mn-cs"/>
                  </a:rPr>
                  <a:t>. Starting at the leftmost portion of the graph, when </a:t>
                </a:r>
                <a:r>
                  <a:rPr lang="en-US" sz="1200" i="0" kern="1200">
                    <a:solidFill>
                      <a:schemeClr val="tx1"/>
                    </a:solidFill>
                    <a:effectLst/>
                    <a:latin typeface="+mn-lt"/>
                    <a:ea typeface="+mn-ea"/>
                    <a:cs typeface="+mn-cs"/>
                  </a:rPr>
                  <a:t>𝑄=0</a:t>
                </a:r>
                <a:r>
                  <a:rPr lang="en-US" sz="1200" kern="1200" dirty="0">
                    <a:solidFill>
                      <a:schemeClr val="tx1"/>
                    </a:solidFill>
                    <a:effectLst/>
                    <a:latin typeface="+mn-lt"/>
                    <a:ea typeface="+mn-ea"/>
                    <a:cs typeface="+mn-cs"/>
                  </a:rPr>
                  <a:t>, we know that </a:t>
                </a:r>
                <a:r>
                  <a:rPr lang="en-US" sz="1200" i="0" kern="1200">
                    <a:solidFill>
                      <a:schemeClr val="tx1"/>
                    </a:solidFill>
                    <a:effectLst/>
                    <a:latin typeface="+mn-lt"/>
                    <a:ea typeface="+mn-ea"/>
                    <a:cs typeface="+mn-cs"/>
                  </a:rPr>
                  <a:t>𝑇𝑅=0</a:t>
                </a:r>
                <a:r>
                  <a:rPr lang="en-US" sz="1200" kern="1200" dirty="0">
                    <a:solidFill>
                      <a:schemeClr val="tx1"/>
                    </a:solidFill>
                    <a:effectLst/>
                    <a:latin typeface="+mn-lt"/>
                    <a:ea typeface="+mn-ea"/>
                    <a:cs typeface="+mn-cs"/>
                  </a:rPr>
                  <a:t>. As the price falls, quantity rises. Note that these changes have opposing effects on total revenue. Since we are on the elastic portion of the demand curve, we know that a small decrease in price causes a large increase in quantity, and total revenue increases. This pattern will hold as price falls through the point of unit elasticity on the demand curve. At this point, total revenue reaches its maximum. After this point, we enter the inelastic portion of the demand curve. On the inelastic portion of the demand curve, we know that a small decrease in price causes an even smaller increase in quantity, and total revenue falls. Total revenue continues to fall until the demand curve intersects the x-axis, where </a:t>
                </a:r>
                <a:r>
                  <a:rPr lang="en-US" sz="1200" i="0" kern="1200">
                    <a:solidFill>
                      <a:schemeClr val="tx1"/>
                    </a:solidFill>
                    <a:effectLst/>
                    <a:latin typeface="+mn-lt"/>
                    <a:ea typeface="+mn-ea"/>
                    <a:cs typeface="+mn-cs"/>
                  </a:rPr>
                  <a:t>𝑃=0</a:t>
                </a:r>
                <a:r>
                  <a:rPr lang="en-US" sz="1200" kern="1200" dirty="0">
                    <a:solidFill>
                      <a:schemeClr val="tx1"/>
                    </a:solidFill>
                    <a:effectLst/>
                    <a:latin typeface="+mn-lt"/>
                    <a:ea typeface="+mn-ea"/>
                    <a:cs typeface="+mn-cs"/>
                  </a:rPr>
                  <a:t>, and </a:t>
                </a:r>
                <a:r>
                  <a:rPr lang="en-US" sz="1200" i="0" kern="1200">
                    <a:solidFill>
                      <a:schemeClr val="tx1"/>
                    </a:solidFill>
                    <a:effectLst/>
                    <a:latin typeface="+mn-lt"/>
                    <a:ea typeface="+mn-ea"/>
                    <a:cs typeface="+mn-cs"/>
                  </a:rPr>
                  <a:t>𝑇𝑅=0</a:t>
                </a:r>
                <a:r>
                  <a:rPr lang="en-US" sz="1200" kern="1200" dirty="0">
                    <a:solidFill>
                      <a:schemeClr val="tx1"/>
                    </a:solidFill>
                    <a:effectLst/>
                    <a:latin typeface="+mn-lt"/>
                    <a:ea typeface="+mn-ea"/>
                    <a:cs typeface="+mn-cs"/>
                  </a:rPr>
                  <a:t>.</a:t>
                </a:r>
              </a:p>
            </p:txBody>
          </p:sp>
        </mc:Fallback>
      </mc:AlternateContent>
      <p:sp>
        <p:nvSpPr>
          <p:cNvPr id="4" name="Slide Number Placeholder 3"/>
          <p:cNvSpPr>
            <a:spLocks noGrp="1"/>
          </p:cNvSpPr>
          <p:nvPr>
            <p:ph type="sldNum" sz="quarter" idx="5"/>
          </p:nvPr>
        </p:nvSpPr>
        <p:spPr/>
        <p:txBody>
          <a:bodyPr/>
          <a:lstStyle/>
          <a:p>
            <a:fld id="{8D36AC2A-E969-3C46-9ED8-B46D40C5E669}" type="slidenum">
              <a:rPr lang="en-US" smtClean="0"/>
              <a:t>3</a:t>
            </a:fld>
            <a:endParaRPr lang="en-US"/>
          </a:p>
        </p:txBody>
      </p:sp>
    </p:spTree>
    <p:extLst>
      <p:ext uri="{BB962C8B-B14F-4D97-AF65-F5344CB8AC3E}">
        <p14:creationId xmlns:p14="http://schemas.microsoft.com/office/powerpoint/2010/main" val="13475706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 can now explore the relationship between the elasticity of demand and total revenue. Total revenue is defined as </a:t>
                </a:r>
                <a14:m>
                  <m:oMath xmlns:m="http://schemas.openxmlformats.org/officeDocument/2006/math">
                    <m:r>
                      <a:rPr lang="en-US" sz="1200" i="1" kern="1200">
                        <a:solidFill>
                          <a:schemeClr val="tx1"/>
                        </a:solidFill>
                        <a:effectLst/>
                        <a:latin typeface="Cambria Math" panose="02040503050406030204" pitchFamily="18" charset="0"/>
                        <a:ea typeface="+mn-ea"/>
                        <a:cs typeface="+mn-cs"/>
                      </a:rPr>
                      <m:t>𝑇𝑅</m:t>
                    </m:r>
                    <m:r>
                      <a:rPr lang="en-US" sz="1200" i="1" kern="1200">
                        <a:solidFill>
                          <a:schemeClr val="tx1"/>
                        </a:solidFill>
                        <a:effectLst/>
                        <a:latin typeface="Cambria Math" panose="02040503050406030204" pitchFamily="18" charset="0"/>
                        <a:ea typeface="+mn-ea"/>
                        <a:cs typeface="+mn-cs"/>
                      </a:rPr>
                      <m:t>=</m:t>
                    </m:r>
                    <m:r>
                      <a:rPr lang="en-US" sz="1200" i="1" kern="1200">
                        <a:solidFill>
                          <a:schemeClr val="tx1"/>
                        </a:solidFill>
                        <a:effectLst/>
                        <a:latin typeface="Cambria Math" panose="02040503050406030204" pitchFamily="18" charset="0"/>
                        <a:ea typeface="+mn-ea"/>
                        <a:cs typeface="+mn-cs"/>
                      </a:rPr>
                      <m:t>𝑃</m:t>
                    </m:r>
                    <m:r>
                      <a:rPr lang="en-US" sz="1200" i="1" kern="1200">
                        <a:solidFill>
                          <a:schemeClr val="tx1"/>
                        </a:solidFill>
                        <a:effectLst/>
                        <a:latin typeface="Cambria Math" panose="02040503050406030204" pitchFamily="18" charset="0"/>
                        <a:ea typeface="+mn-ea"/>
                        <a:cs typeface="+mn-cs"/>
                      </a:rPr>
                      <m:t>∙</m:t>
                    </m:r>
                    <m:r>
                      <a:rPr lang="en-US" sz="1200" i="1" kern="1200">
                        <a:solidFill>
                          <a:schemeClr val="tx1"/>
                        </a:solidFill>
                        <a:effectLst/>
                        <a:latin typeface="Cambria Math" panose="02040503050406030204" pitchFamily="18" charset="0"/>
                        <a:ea typeface="+mn-ea"/>
                        <a:cs typeface="+mn-cs"/>
                      </a:rPr>
                      <m:t>𝑄</m:t>
                    </m:r>
                  </m:oMath>
                </a14:m>
                <a:r>
                  <a:rPr lang="en-US" sz="1200" kern="1200" dirty="0">
                    <a:solidFill>
                      <a:schemeClr val="tx1"/>
                    </a:solidFill>
                    <a:effectLst/>
                    <a:latin typeface="+mn-lt"/>
                    <a:ea typeface="+mn-ea"/>
                    <a:cs typeface="+mn-cs"/>
                  </a:rPr>
                  <a:t>. Starting at the leftmost portion of the graph, when </a:t>
                </a:r>
                <a14:m>
                  <m:oMath xmlns:m="http://schemas.openxmlformats.org/officeDocument/2006/math">
                    <m:r>
                      <a:rPr lang="en-US" sz="1200" i="1" kern="1200">
                        <a:solidFill>
                          <a:schemeClr val="tx1"/>
                        </a:solidFill>
                        <a:effectLst/>
                        <a:latin typeface="Cambria Math" panose="02040503050406030204" pitchFamily="18" charset="0"/>
                        <a:ea typeface="+mn-ea"/>
                        <a:cs typeface="+mn-cs"/>
                      </a:rPr>
                      <m:t>𝑄</m:t>
                    </m:r>
                    <m:r>
                      <a:rPr lang="en-US" sz="1200" i="1" kern="1200">
                        <a:solidFill>
                          <a:schemeClr val="tx1"/>
                        </a:solidFill>
                        <a:effectLst/>
                        <a:latin typeface="Cambria Math" panose="02040503050406030204" pitchFamily="18" charset="0"/>
                        <a:ea typeface="+mn-ea"/>
                        <a:cs typeface="+mn-cs"/>
                      </a:rPr>
                      <m:t>=0</m:t>
                    </m:r>
                  </m:oMath>
                </a14:m>
                <a:r>
                  <a:rPr lang="en-US" sz="1200" kern="1200" dirty="0">
                    <a:solidFill>
                      <a:schemeClr val="tx1"/>
                    </a:solidFill>
                    <a:effectLst/>
                    <a:latin typeface="+mn-lt"/>
                    <a:ea typeface="+mn-ea"/>
                    <a:cs typeface="+mn-cs"/>
                  </a:rPr>
                  <a:t>, we know that </a:t>
                </a:r>
                <a14:m>
                  <m:oMath xmlns:m="http://schemas.openxmlformats.org/officeDocument/2006/math">
                    <m:r>
                      <a:rPr lang="en-US" sz="1200" i="1" kern="1200">
                        <a:solidFill>
                          <a:schemeClr val="tx1"/>
                        </a:solidFill>
                        <a:effectLst/>
                        <a:latin typeface="Cambria Math" panose="02040503050406030204" pitchFamily="18" charset="0"/>
                        <a:ea typeface="+mn-ea"/>
                        <a:cs typeface="+mn-cs"/>
                      </a:rPr>
                      <m:t>𝑇𝑅</m:t>
                    </m:r>
                    <m:r>
                      <a:rPr lang="en-US" sz="1200" i="1" kern="1200">
                        <a:solidFill>
                          <a:schemeClr val="tx1"/>
                        </a:solidFill>
                        <a:effectLst/>
                        <a:latin typeface="Cambria Math" panose="02040503050406030204" pitchFamily="18" charset="0"/>
                        <a:ea typeface="+mn-ea"/>
                        <a:cs typeface="+mn-cs"/>
                      </a:rPr>
                      <m:t>=0</m:t>
                    </m:r>
                  </m:oMath>
                </a14:m>
                <a:r>
                  <a:rPr lang="en-US" sz="1200" kern="1200" dirty="0">
                    <a:solidFill>
                      <a:schemeClr val="tx1"/>
                    </a:solidFill>
                    <a:effectLst/>
                    <a:latin typeface="+mn-lt"/>
                    <a:ea typeface="+mn-ea"/>
                    <a:cs typeface="+mn-cs"/>
                  </a:rPr>
                  <a:t>. As the price falls, quantity rises. Note that these changes have opposing effects on total revenue. Since we are on the elastic portion of the demand curve, we know that a small decrease in price causes a large increase in quantity, and total revenue increases. This pattern will hold as price falls through the point of unit elasticity on the demand curve. At this point, total revenue reaches its maximum. After this point, we enter the inelastic portion of the demand curve. On the inelastic portion of the demand curve, we know that a small decrease in price causes an even smaller increase in quantity, and total revenue falls. Total revenue continues to fall until the demand curve intersects the x-axis, where </a:t>
                </a:r>
                <a14:m>
                  <m:oMath xmlns:m="http://schemas.openxmlformats.org/officeDocument/2006/math">
                    <m:r>
                      <a:rPr lang="en-US" sz="1200" i="1" kern="1200">
                        <a:solidFill>
                          <a:schemeClr val="tx1"/>
                        </a:solidFill>
                        <a:effectLst/>
                        <a:latin typeface="Cambria Math" panose="02040503050406030204" pitchFamily="18" charset="0"/>
                        <a:ea typeface="+mn-ea"/>
                        <a:cs typeface="+mn-cs"/>
                      </a:rPr>
                      <m:t>𝑃</m:t>
                    </m:r>
                    <m:r>
                      <a:rPr lang="en-US" sz="1200" i="1" kern="1200">
                        <a:solidFill>
                          <a:schemeClr val="tx1"/>
                        </a:solidFill>
                        <a:effectLst/>
                        <a:latin typeface="Cambria Math" panose="02040503050406030204" pitchFamily="18" charset="0"/>
                        <a:ea typeface="+mn-ea"/>
                        <a:cs typeface="+mn-cs"/>
                      </a:rPr>
                      <m:t>=0</m:t>
                    </m:r>
                  </m:oMath>
                </a14:m>
                <a:r>
                  <a:rPr lang="en-US" sz="1200" kern="1200" dirty="0">
                    <a:solidFill>
                      <a:schemeClr val="tx1"/>
                    </a:solidFill>
                    <a:effectLst/>
                    <a:latin typeface="+mn-lt"/>
                    <a:ea typeface="+mn-ea"/>
                    <a:cs typeface="+mn-cs"/>
                  </a:rPr>
                  <a:t>, and </a:t>
                </a:r>
                <a14:m>
                  <m:oMath xmlns:m="http://schemas.openxmlformats.org/officeDocument/2006/math">
                    <m:r>
                      <a:rPr lang="en-US" sz="1200" i="1" kern="1200">
                        <a:solidFill>
                          <a:schemeClr val="tx1"/>
                        </a:solidFill>
                        <a:effectLst/>
                        <a:latin typeface="Cambria Math" panose="02040503050406030204" pitchFamily="18" charset="0"/>
                        <a:ea typeface="+mn-ea"/>
                        <a:cs typeface="+mn-cs"/>
                      </a:rPr>
                      <m:t>𝑇𝑅</m:t>
                    </m:r>
                    <m:r>
                      <a:rPr lang="en-US" sz="1200" i="1" kern="1200">
                        <a:solidFill>
                          <a:schemeClr val="tx1"/>
                        </a:solidFill>
                        <a:effectLst/>
                        <a:latin typeface="Cambria Math" panose="02040503050406030204" pitchFamily="18" charset="0"/>
                        <a:ea typeface="+mn-ea"/>
                        <a:cs typeface="+mn-cs"/>
                      </a:rPr>
                      <m:t>=0</m:t>
                    </m:r>
                  </m:oMath>
                </a14:m>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When you lower your price and move down the demand curve, there are two effects on revenues: 1) a positive effect from more quantity sold and 2) a negative effect from a lower price per unit. Which area is bigger? It depends on the </a:t>
                </a:r>
                <a:r>
                  <a:rPr lang="en-US" sz="1200" b="1" kern="1200" dirty="0">
                    <a:solidFill>
                      <a:schemeClr val="tx1"/>
                    </a:solidFill>
                    <a:effectLst/>
                    <a:latin typeface="+mn-lt"/>
                    <a:ea typeface="+mn-ea"/>
                    <a:cs typeface="+mn-cs"/>
                  </a:rPr>
                  <a:t>elasticity of demand.</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Case of elastic demand: </a:t>
                </a:r>
                <a:r>
                  <a:rPr lang="en-US" sz="1200" kern="1200" dirty="0">
                    <a:solidFill>
                      <a:schemeClr val="tx1"/>
                    </a:solidFill>
                    <a:effectLst/>
                    <a:latin typeface="+mn-lt"/>
                    <a:ea typeface="+mn-ea"/>
                    <a:cs typeface="+mn-cs"/>
                  </a:rPr>
                  <a:t>TR=P×Q. If P ↓ by 10% and Q ↑ by 20%, TR ↑. In the elastic zone of the demand curve (low Q, high P), the revenue curve rises. What can we say about the direction in which profits move here? It is ambiguous because of costs. Since quantity sold is rising, costs are also (weakly) rising. Profit can rise or fall, depending on how much costs increase.</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Case of inelastic demand: </a:t>
                </a:r>
                <a:r>
                  <a:rPr lang="en-US" sz="1200" kern="1200" dirty="0">
                    <a:solidFill>
                      <a:schemeClr val="tx1"/>
                    </a:solidFill>
                    <a:effectLst/>
                    <a:latin typeface="+mn-lt"/>
                    <a:ea typeface="+mn-ea"/>
                    <a:cs typeface="+mn-cs"/>
                  </a:rPr>
                  <a:t>TR=P×Q. If P ↓ by 10% and Q ↑ by 5%, TR ↓. In the inelastic zone of the demand curve (high Q, low P), the revenue curve is downward sloping. The prescription is clear here. If you are on the inelastic part of the demand curve, raise the price. Revenues rise, you sell less, so costs go down. Since revenues rise and costs go down, you know profits must be going up.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Does that mean that profits are maximized when </a:t>
                </a:r>
                <a:r>
                  <a:rPr lang="en-US" sz="1200" kern="1200" dirty="0" err="1">
                    <a:solidFill>
                      <a:schemeClr val="tx1"/>
                    </a:solidFill>
                    <a:effectLst/>
                    <a:latin typeface="+mn-lt"/>
                    <a:ea typeface="+mn-ea"/>
                    <a:cs typeface="+mn-cs"/>
                  </a:rPr>
                  <a:t>E_d</a:t>
                </a:r>
                <a:r>
                  <a:rPr lang="en-US" sz="1200" kern="1200" dirty="0">
                    <a:solidFill>
                      <a:schemeClr val="tx1"/>
                    </a:solidFill>
                    <a:effectLst/>
                    <a:latin typeface="+mn-lt"/>
                    <a:ea typeface="+mn-ea"/>
                    <a:cs typeface="+mn-cs"/>
                  </a:rPr>
                  <a:t>=-1? No. When </a:t>
                </a:r>
                <a:r>
                  <a:rPr lang="en-US" sz="1200" kern="1200" dirty="0" err="1">
                    <a:solidFill>
                      <a:schemeClr val="tx1"/>
                    </a:solidFill>
                    <a:effectLst/>
                    <a:latin typeface="+mn-lt"/>
                    <a:ea typeface="+mn-ea"/>
                    <a:cs typeface="+mn-cs"/>
                  </a:rPr>
                  <a:t>E_d</a:t>
                </a:r>
                <a:r>
                  <a:rPr lang="en-US" sz="1200" kern="1200" dirty="0">
                    <a:solidFill>
                      <a:schemeClr val="tx1"/>
                    </a:solidFill>
                    <a:effectLst/>
                    <a:latin typeface="+mn-lt"/>
                    <a:ea typeface="+mn-ea"/>
                    <a:cs typeface="+mn-cs"/>
                  </a:rPr>
                  <a:t>=-1, revenues are maximized. Marginal revenue is zero. That is not the same as MR=MC. Only when MR=MC are profits maximized. Usually, this is when </a:t>
                </a:r>
                <a:r>
                  <a:rPr lang="en-US" sz="1200" kern="1200" dirty="0" err="1">
                    <a:solidFill>
                      <a:schemeClr val="tx1"/>
                    </a:solidFill>
                    <a:effectLst/>
                    <a:latin typeface="+mn-lt"/>
                    <a:ea typeface="+mn-ea"/>
                    <a:cs typeface="+mn-cs"/>
                  </a:rPr>
                  <a:t>E_d</a:t>
                </a:r>
                <a:r>
                  <a:rPr lang="en-US" sz="1200" kern="1200" dirty="0">
                    <a:solidFill>
                      <a:schemeClr val="tx1"/>
                    </a:solidFill>
                    <a:effectLst/>
                    <a:latin typeface="+mn-lt"/>
                    <a:ea typeface="+mn-ea"/>
                    <a:cs typeface="+mn-cs"/>
                  </a:rPr>
                  <a:t>&lt;-1, i.e. in the elastic zone of the demand curve, where MR is positive and allows you to cover marginal cost. You only want to stop at MR=0 (</a:t>
                </a:r>
                <a:r>
                  <a:rPr lang="en-US" sz="1200" kern="1200" dirty="0" err="1">
                    <a:solidFill>
                      <a:schemeClr val="tx1"/>
                    </a:solidFill>
                    <a:effectLst/>
                    <a:latin typeface="+mn-lt"/>
                    <a:ea typeface="+mn-ea"/>
                    <a:cs typeface="+mn-cs"/>
                  </a:rPr>
                  <a:t>E_d</a:t>
                </a:r>
                <a:r>
                  <a:rPr lang="en-US" sz="1200" kern="1200" dirty="0">
                    <a:solidFill>
                      <a:schemeClr val="tx1"/>
                    </a:solidFill>
                    <a:effectLst/>
                    <a:latin typeface="+mn-lt"/>
                    <a:ea typeface="+mn-ea"/>
                    <a:cs typeface="+mn-cs"/>
                  </a:rPr>
                  <a:t>=-1) if MC=0.</a:t>
                </a:r>
              </a:p>
              <a:p>
                <a:endParaRPr lang="en-US" sz="1200" kern="1200" dirty="0">
                  <a:solidFill>
                    <a:schemeClr val="tx1"/>
                  </a:solidFill>
                  <a:effectLst/>
                  <a:latin typeface="+mn-lt"/>
                  <a:ea typeface="+mn-ea"/>
                  <a:cs typeface="+mn-cs"/>
                </a:endParaRPr>
              </a:p>
            </p:txBody>
          </p:sp>
        </mc:Choice>
        <mc:Fallback xmlns="">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 can now explore the relationship between the elasticity of demand and total revenue. Total revenue is defined as </a:t>
                </a:r>
                <a:r>
                  <a:rPr lang="en-US" sz="1200" i="0" kern="1200">
                    <a:solidFill>
                      <a:schemeClr val="tx1"/>
                    </a:solidFill>
                    <a:effectLst/>
                    <a:latin typeface="+mn-lt"/>
                    <a:ea typeface="+mn-ea"/>
                    <a:cs typeface="+mn-cs"/>
                  </a:rPr>
                  <a:t>𝑇𝑅=𝑃∙𝑄</a:t>
                </a:r>
                <a:r>
                  <a:rPr lang="en-US" sz="1200" kern="1200" dirty="0">
                    <a:solidFill>
                      <a:schemeClr val="tx1"/>
                    </a:solidFill>
                    <a:effectLst/>
                    <a:latin typeface="+mn-lt"/>
                    <a:ea typeface="+mn-ea"/>
                    <a:cs typeface="+mn-cs"/>
                  </a:rPr>
                  <a:t>. Starting at the leftmost portion of the graph, when </a:t>
                </a:r>
                <a:r>
                  <a:rPr lang="en-US" sz="1200" i="0" kern="1200">
                    <a:solidFill>
                      <a:schemeClr val="tx1"/>
                    </a:solidFill>
                    <a:effectLst/>
                    <a:latin typeface="+mn-lt"/>
                    <a:ea typeface="+mn-ea"/>
                    <a:cs typeface="+mn-cs"/>
                  </a:rPr>
                  <a:t>𝑄=0</a:t>
                </a:r>
                <a:r>
                  <a:rPr lang="en-US" sz="1200" kern="1200" dirty="0">
                    <a:solidFill>
                      <a:schemeClr val="tx1"/>
                    </a:solidFill>
                    <a:effectLst/>
                    <a:latin typeface="+mn-lt"/>
                    <a:ea typeface="+mn-ea"/>
                    <a:cs typeface="+mn-cs"/>
                  </a:rPr>
                  <a:t>, we know that </a:t>
                </a:r>
                <a:r>
                  <a:rPr lang="en-US" sz="1200" i="0" kern="1200">
                    <a:solidFill>
                      <a:schemeClr val="tx1"/>
                    </a:solidFill>
                    <a:effectLst/>
                    <a:latin typeface="+mn-lt"/>
                    <a:ea typeface="+mn-ea"/>
                    <a:cs typeface="+mn-cs"/>
                  </a:rPr>
                  <a:t>𝑇𝑅=0</a:t>
                </a:r>
                <a:r>
                  <a:rPr lang="en-US" sz="1200" kern="1200" dirty="0">
                    <a:solidFill>
                      <a:schemeClr val="tx1"/>
                    </a:solidFill>
                    <a:effectLst/>
                    <a:latin typeface="+mn-lt"/>
                    <a:ea typeface="+mn-ea"/>
                    <a:cs typeface="+mn-cs"/>
                  </a:rPr>
                  <a:t>. As the price falls, quantity rises. Note that these changes have opposing effects on total revenue. Since we are on the elastic portion of the demand curve, we know that a small decrease in price causes a large increase in quantity, and total revenue increases. This pattern will hold as price falls through the point of unit elasticity on the demand curve. At this point, total revenue reaches its maximum. After this point, we enter the inelastic portion of the demand curve. On the inelastic portion of the demand curve, we know that a small decrease in price causes an even smaller increase in quantity, and total revenue falls. Total revenue continues to fall until the demand curve intersects the x-axis, where </a:t>
                </a:r>
                <a:r>
                  <a:rPr lang="en-US" sz="1200" i="0" kern="1200">
                    <a:solidFill>
                      <a:schemeClr val="tx1"/>
                    </a:solidFill>
                    <a:effectLst/>
                    <a:latin typeface="+mn-lt"/>
                    <a:ea typeface="+mn-ea"/>
                    <a:cs typeface="+mn-cs"/>
                  </a:rPr>
                  <a:t>𝑃=0</a:t>
                </a:r>
                <a:r>
                  <a:rPr lang="en-US" sz="1200" kern="1200" dirty="0">
                    <a:solidFill>
                      <a:schemeClr val="tx1"/>
                    </a:solidFill>
                    <a:effectLst/>
                    <a:latin typeface="+mn-lt"/>
                    <a:ea typeface="+mn-ea"/>
                    <a:cs typeface="+mn-cs"/>
                  </a:rPr>
                  <a:t>, and </a:t>
                </a:r>
                <a:r>
                  <a:rPr lang="en-US" sz="1200" i="0" kern="1200">
                    <a:solidFill>
                      <a:schemeClr val="tx1"/>
                    </a:solidFill>
                    <a:effectLst/>
                    <a:latin typeface="+mn-lt"/>
                    <a:ea typeface="+mn-ea"/>
                    <a:cs typeface="+mn-cs"/>
                  </a:rPr>
                  <a:t>𝑇𝑅=0</a:t>
                </a:r>
                <a:r>
                  <a:rPr lang="en-US" sz="1200" kern="1200" dirty="0">
                    <a:solidFill>
                      <a:schemeClr val="tx1"/>
                    </a:solidFill>
                    <a:effectLst/>
                    <a:latin typeface="+mn-lt"/>
                    <a:ea typeface="+mn-ea"/>
                    <a:cs typeface="+mn-cs"/>
                  </a:rPr>
                  <a:t>.</a:t>
                </a:r>
              </a:p>
            </p:txBody>
          </p:sp>
        </mc:Fallback>
      </mc:AlternateContent>
      <p:sp>
        <p:nvSpPr>
          <p:cNvPr id="4" name="Slide Number Placeholder 3"/>
          <p:cNvSpPr>
            <a:spLocks noGrp="1"/>
          </p:cNvSpPr>
          <p:nvPr>
            <p:ph type="sldNum" sz="quarter" idx="5"/>
          </p:nvPr>
        </p:nvSpPr>
        <p:spPr/>
        <p:txBody>
          <a:bodyPr/>
          <a:lstStyle/>
          <a:p>
            <a:fld id="{8D36AC2A-E969-3C46-9ED8-B46D40C5E669}" type="slidenum">
              <a:rPr lang="en-US" smtClean="0"/>
              <a:t>4</a:t>
            </a:fld>
            <a:endParaRPr lang="en-US"/>
          </a:p>
        </p:txBody>
      </p:sp>
    </p:spTree>
    <p:extLst>
      <p:ext uri="{BB962C8B-B14F-4D97-AF65-F5344CB8AC3E}">
        <p14:creationId xmlns:p14="http://schemas.microsoft.com/office/powerpoint/2010/main" val="31247538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5"/>
          <p:cNvSpPr>
            <a:spLocks noGrp="1" noChangeArrowheads="1"/>
          </p:cNvSpPr>
          <p:nvPr>
            <p:ph type="sldNum" sz="quarter" idx="5"/>
          </p:nvPr>
        </p:nvSpPr>
        <p:spPr>
          <a:noFill/>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3CCF039-B5B4-4834-9218-C9E95B8E905D}"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47107" name="Rectangle 2"/>
          <p:cNvSpPr>
            <a:spLocks noGrp="1" noRot="1" noChangeAspect="1" noChangeArrowheads="1" noTextEdit="1"/>
          </p:cNvSpPr>
          <p:nvPr>
            <p:ph type="sldImg"/>
          </p:nvPr>
        </p:nvSpPr>
        <p:spPr>
          <a:xfrm>
            <a:off x="1104900" y="565150"/>
            <a:ext cx="5105400" cy="3829050"/>
          </a:xfrm>
          <a:ln/>
        </p:spPr>
      </p:sp>
      <p:sp>
        <p:nvSpPr>
          <p:cNvPr id="47108"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36758696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 can now explore the relationship between the elasticity of demand and total revenue. Total revenue is defined as </a:t>
                </a:r>
                <a14:m>
                  <m:oMath xmlns:m="http://schemas.openxmlformats.org/officeDocument/2006/math">
                    <m:r>
                      <a:rPr lang="en-US" sz="1200" i="1" kern="1200">
                        <a:solidFill>
                          <a:schemeClr val="tx1"/>
                        </a:solidFill>
                        <a:effectLst/>
                        <a:latin typeface="Cambria Math" panose="02040503050406030204" pitchFamily="18" charset="0"/>
                        <a:ea typeface="+mn-ea"/>
                        <a:cs typeface="+mn-cs"/>
                      </a:rPr>
                      <m:t>𝑇𝑅</m:t>
                    </m:r>
                    <m:r>
                      <a:rPr lang="en-US" sz="1200" i="1" kern="1200">
                        <a:solidFill>
                          <a:schemeClr val="tx1"/>
                        </a:solidFill>
                        <a:effectLst/>
                        <a:latin typeface="Cambria Math" panose="02040503050406030204" pitchFamily="18" charset="0"/>
                        <a:ea typeface="+mn-ea"/>
                        <a:cs typeface="+mn-cs"/>
                      </a:rPr>
                      <m:t>=</m:t>
                    </m:r>
                    <m:r>
                      <a:rPr lang="en-US" sz="1200" i="1" kern="1200">
                        <a:solidFill>
                          <a:schemeClr val="tx1"/>
                        </a:solidFill>
                        <a:effectLst/>
                        <a:latin typeface="Cambria Math" panose="02040503050406030204" pitchFamily="18" charset="0"/>
                        <a:ea typeface="+mn-ea"/>
                        <a:cs typeface="+mn-cs"/>
                      </a:rPr>
                      <m:t>𝑃</m:t>
                    </m:r>
                    <m:r>
                      <a:rPr lang="en-US" sz="1200" i="1" kern="1200">
                        <a:solidFill>
                          <a:schemeClr val="tx1"/>
                        </a:solidFill>
                        <a:effectLst/>
                        <a:latin typeface="Cambria Math" panose="02040503050406030204" pitchFamily="18" charset="0"/>
                        <a:ea typeface="+mn-ea"/>
                        <a:cs typeface="+mn-cs"/>
                      </a:rPr>
                      <m:t>∙</m:t>
                    </m:r>
                    <m:r>
                      <a:rPr lang="en-US" sz="1200" i="1" kern="1200">
                        <a:solidFill>
                          <a:schemeClr val="tx1"/>
                        </a:solidFill>
                        <a:effectLst/>
                        <a:latin typeface="Cambria Math" panose="02040503050406030204" pitchFamily="18" charset="0"/>
                        <a:ea typeface="+mn-ea"/>
                        <a:cs typeface="+mn-cs"/>
                      </a:rPr>
                      <m:t>𝑄</m:t>
                    </m:r>
                  </m:oMath>
                </a14:m>
                <a:r>
                  <a:rPr lang="en-US" sz="1200" kern="1200" dirty="0">
                    <a:solidFill>
                      <a:schemeClr val="tx1"/>
                    </a:solidFill>
                    <a:effectLst/>
                    <a:latin typeface="+mn-lt"/>
                    <a:ea typeface="+mn-ea"/>
                    <a:cs typeface="+mn-cs"/>
                  </a:rPr>
                  <a:t>. Starting at the leftmost portion of the graph, when </a:t>
                </a:r>
                <a14:m>
                  <m:oMath xmlns:m="http://schemas.openxmlformats.org/officeDocument/2006/math">
                    <m:r>
                      <a:rPr lang="en-US" sz="1200" i="1" kern="1200">
                        <a:solidFill>
                          <a:schemeClr val="tx1"/>
                        </a:solidFill>
                        <a:effectLst/>
                        <a:latin typeface="Cambria Math" panose="02040503050406030204" pitchFamily="18" charset="0"/>
                        <a:ea typeface="+mn-ea"/>
                        <a:cs typeface="+mn-cs"/>
                      </a:rPr>
                      <m:t>𝑄</m:t>
                    </m:r>
                    <m:r>
                      <a:rPr lang="en-US" sz="1200" i="1" kern="1200">
                        <a:solidFill>
                          <a:schemeClr val="tx1"/>
                        </a:solidFill>
                        <a:effectLst/>
                        <a:latin typeface="Cambria Math" panose="02040503050406030204" pitchFamily="18" charset="0"/>
                        <a:ea typeface="+mn-ea"/>
                        <a:cs typeface="+mn-cs"/>
                      </a:rPr>
                      <m:t>=0</m:t>
                    </m:r>
                  </m:oMath>
                </a14:m>
                <a:r>
                  <a:rPr lang="en-US" sz="1200" kern="1200" dirty="0">
                    <a:solidFill>
                      <a:schemeClr val="tx1"/>
                    </a:solidFill>
                    <a:effectLst/>
                    <a:latin typeface="+mn-lt"/>
                    <a:ea typeface="+mn-ea"/>
                    <a:cs typeface="+mn-cs"/>
                  </a:rPr>
                  <a:t>, we know that </a:t>
                </a:r>
                <a14:m>
                  <m:oMath xmlns:m="http://schemas.openxmlformats.org/officeDocument/2006/math">
                    <m:r>
                      <a:rPr lang="en-US" sz="1200" i="1" kern="1200">
                        <a:solidFill>
                          <a:schemeClr val="tx1"/>
                        </a:solidFill>
                        <a:effectLst/>
                        <a:latin typeface="Cambria Math" panose="02040503050406030204" pitchFamily="18" charset="0"/>
                        <a:ea typeface="+mn-ea"/>
                        <a:cs typeface="+mn-cs"/>
                      </a:rPr>
                      <m:t>𝑇𝑅</m:t>
                    </m:r>
                    <m:r>
                      <a:rPr lang="en-US" sz="1200" i="1" kern="1200">
                        <a:solidFill>
                          <a:schemeClr val="tx1"/>
                        </a:solidFill>
                        <a:effectLst/>
                        <a:latin typeface="Cambria Math" panose="02040503050406030204" pitchFamily="18" charset="0"/>
                        <a:ea typeface="+mn-ea"/>
                        <a:cs typeface="+mn-cs"/>
                      </a:rPr>
                      <m:t>=0</m:t>
                    </m:r>
                  </m:oMath>
                </a14:m>
                <a:r>
                  <a:rPr lang="en-US" sz="1200" kern="1200" dirty="0">
                    <a:solidFill>
                      <a:schemeClr val="tx1"/>
                    </a:solidFill>
                    <a:effectLst/>
                    <a:latin typeface="+mn-lt"/>
                    <a:ea typeface="+mn-ea"/>
                    <a:cs typeface="+mn-cs"/>
                  </a:rPr>
                  <a:t>. As the price falls, quantity rises. Note that these changes have opposing effects on total revenue. Since we are on the elastic portion of the demand curve, we know that a small decrease in price causes a large increase in quantity, and total revenue increases. This pattern will hold as price falls through the point of unit elasticity on the demand curve. At this point, total revenue reaches its maximum. After this point, we enter the inelastic portion of the demand curve. On the inelastic portion of the demand curve, we know that a small decrease in price causes an even smaller increase in quantity, and total revenue falls. Total revenue continues to fall until the demand curve intersects the x-axis, where </a:t>
                </a:r>
                <a14:m>
                  <m:oMath xmlns:m="http://schemas.openxmlformats.org/officeDocument/2006/math">
                    <m:r>
                      <a:rPr lang="en-US" sz="1200" i="1" kern="1200">
                        <a:solidFill>
                          <a:schemeClr val="tx1"/>
                        </a:solidFill>
                        <a:effectLst/>
                        <a:latin typeface="Cambria Math" panose="02040503050406030204" pitchFamily="18" charset="0"/>
                        <a:ea typeface="+mn-ea"/>
                        <a:cs typeface="+mn-cs"/>
                      </a:rPr>
                      <m:t>𝑃</m:t>
                    </m:r>
                    <m:r>
                      <a:rPr lang="en-US" sz="1200" i="1" kern="1200">
                        <a:solidFill>
                          <a:schemeClr val="tx1"/>
                        </a:solidFill>
                        <a:effectLst/>
                        <a:latin typeface="Cambria Math" panose="02040503050406030204" pitchFamily="18" charset="0"/>
                        <a:ea typeface="+mn-ea"/>
                        <a:cs typeface="+mn-cs"/>
                      </a:rPr>
                      <m:t>=0</m:t>
                    </m:r>
                  </m:oMath>
                </a14:m>
                <a:r>
                  <a:rPr lang="en-US" sz="1200" kern="1200" dirty="0">
                    <a:solidFill>
                      <a:schemeClr val="tx1"/>
                    </a:solidFill>
                    <a:effectLst/>
                    <a:latin typeface="+mn-lt"/>
                    <a:ea typeface="+mn-ea"/>
                    <a:cs typeface="+mn-cs"/>
                  </a:rPr>
                  <a:t>, and </a:t>
                </a:r>
                <a14:m>
                  <m:oMath xmlns:m="http://schemas.openxmlformats.org/officeDocument/2006/math">
                    <m:r>
                      <a:rPr lang="en-US" sz="1200" i="1" kern="1200">
                        <a:solidFill>
                          <a:schemeClr val="tx1"/>
                        </a:solidFill>
                        <a:effectLst/>
                        <a:latin typeface="Cambria Math" panose="02040503050406030204" pitchFamily="18" charset="0"/>
                        <a:ea typeface="+mn-ea"/>
                        <a:cs typeface="+mn-cs"/>
                      </a:rPr>
                      <m:t>𝑇𝑅</m:t>
                    </m:r>
                    <m:r>
                      <a:rPr lang="en-US" sz="1200" i="1" kern="1200">
                        <a:solidFill>
                          <a:schemeClr val="tx1"/>
                        </a:solidFill>
                        <a:effectLst/>
                        <a:latin typeface="Cambria Math" panose="02040503050406030204" pitchFamily="18" charset="0"/>
                        <a:ea typeface="+mn-ea"/>
                        <a:cs typeface="+mn-cs"/>
                      </a:rPr>
                      <m:t>=0</m:t>
                    </m:r>
                  </m:oMath>
                </a14:m>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When you lower your price and move down the demand curve, there are two effects on revenues: 1) a positive effect from more quantity sold and 2) a negative effect from a lower price per unit. Which area is bigger? It depends on the </a:t>
                </a:r>
                <a:r>
                  <a:rPr lang="en-US" sz="1200" b="1" kern="1200" dirty="0">
                    <a:solidFill>
                      <a:schemeClr val="tx1"/>
                    </a:solidFill>
                    <a:effectLst/>
                    <a:latin typeface="+mn-lt"/>
                    <a:ea typeface="+mn-ea"/>
                    <a:cs typeface="+mn-cs"/>
                  </a:rPr>
                  <a:t>elasticity of demand.</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Case of elastic demand: </a:t>
                </a:r>
                <a:r>
                  <a:rPr lang="en-US" sz="1200" kern="1200" dirty="0">
                    <a:solidFill>
                      <a:schemeClr val="tx1"/>
                    </a:solidFill>
                    <a:effectLst/>
                    <a:latin typeface="+mn-lt"/>
                    <a:ea typeface="+mn-ea"/>
                    <a:cs typeface="+mn-cs"/>
                  </a:rPr>
                  <a:t>TR=P×Q. If P ↓ by 10% and Q ↑ by 20%, TR ↑. In the elastic zone of the demand curve (low Q, high P), the revenue curve rises. What can we say about the direction in which profits move here? It is ambiguous because of costs. Since quantity sold is rising, costs are also (weakly) rising. Profit can rise or fall, depending on how much costs increase.</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Case of inelastic demand: </a:t>
                </a:r>
                <a:r>
                  <a:rPr lang="en-US" sz="1200" kern="1200" dirty="0">
                    <a:solidFill>
                      <a:schemeClr val="tx1"/>
                    </a:solidFill>
                    <a:effectLst/>
                    <a:latin typeface="+mn-lt"/>
                    <a:ea typeface="+mn-ea"/>
                    <a:cs typeface="+mn-cs"/>
                  </a:rPr>
                  <a:t>TR=P×Q. If P ↓ by 10% and Q ↑ by 5%, TR ↓. In the inelastic zone of the demand curve (high Q, low P), the revenue curve is downward sloping. The prescription is clear here. If you are on the inelastic part of the demand curve, raise the price. Revenues rise, you sell less, so costs go down. Since revenues rise and costs go down, you know profits must be going up.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Does that mean that profits are maximized when </a:t>
                </a:r>
                <a:r>
                  <a:rPr lang="en-US" sz="1200" kern="1200" dirty="0" err="1">
                    <a:solidFill>
                      <a:schemeClr val="tx1"/>
                    </a:solidFill>
                    <a:effectLst/>
                    <a:latin typeface="+mn-lt"/>
                    <a:ea typeface="+mn-ea"/>
                    <a:cs typeface="+mn-cs"/>
                  </a:rPr>
                  <a:t>E_d</a:t>
                </a:r>
                <a:r>
                  <a:rPr lang="en-US" sz="1200" kern="1200" dirty="0">
                    <a:solidFill>
                      <a:schemeClr val="tx1"/>
                    </a:solidFill>
                    <a:effectLst/>
                    <a:latin typeface="+mn-lt"/>
                    <a:ea typeface="+mn-ea"/>
                    <a:cs typeface="+mn-cs"/>
                  </a:rPr>
                  <a:t>=-1? No. When </a:t>
                </a:r>
                <a:r>
                  <a:rPr lang="en-US" sz="1200" kern="1200" dirty="0" err="1">
                    <a:solidFill>
                      <a:schemeClr val="tx1"/>
                    </a:solidFill>
                    <a:effectLst/>
                    <a:latin typeface="+mn-lt"/>
                    <a:ea typeface="+mn-ea"/>
                    <a:cs typeface="+mn-cs"/>
                  </a:rPr>
                  <a:t>E_d</a:t>
                </a:r>
                <a:r>
                  <a:rPr lang="en-US" sz="1200" kern="1200" dirty="0">
                    <a:solidFill>
                      <a:schemeClr val="tx1"/>
                    </a:solidFill>
                    <a:effectLst/>
                    <a:latin typeface="+mn-lt"/>
                    <a:ea typeface="+mn-ea"/>
                    <a:cs typeface="+mn-cs"/>
                  </a:rPr>
                  <a:t>=-1, revenues are maximized. Marginal revenue is zero. That is not the same as MR=MC. Only when MR=MC are profits maximized. Usually, this is when </a:t>
                </a:r>
                <a:r>
                  <a:rPr lang="en-US" sz="1200" kern="1200" dirty="0" err="1">
                    <a:solidFill>
                      <a:schemeClr val="tx1"/>
                    </a:solidFill>
                    <a:effectLst/>
                    <a:latin typeface="+mn-lt"/>
                    <a:ea typeface="+mn-ea"/>
                    <a:cs typeface="+mn-cs"/>
                  </a:rPr>
                  <a:t>E_d</a:t>
                </a:r>
                <a:r>
                  <a:rPr lang="en-US" sz="1200" kern="1200" dirty="0">
                    <a:solidFill>
                      <a:schemeClr val="tx1"/>
                    </a:solidFill>
                    <a:effectLst/>
                    <a:latin typeface="+mn-lt"/>
                    <a:ea typeface="+mn-ea"/>
                    <a:cs typeface="+mn-cs"/>
                  </a:rPr>
                  <a:t>&lt;-1, i.e. in the elastic zone of the demand curve, where MR is positive and allows you to cover marginal cost. You only want to stop at MR=0 (</a:t>
                </a:r>
                <a:r>
                  <a:rPr lang="en-US" sz="1200" kern="1200" dirty="0" err="1">
                    <a:solidFill>
                      <a:schemeClr val="tx1"/>
                    </a:solidFill>
                    <a:effectLst/>
                    <a:latin typeface="+mn-lt"/>
                    <a:ea typeface="+mn-ea"/>
                    <a:cs typeface="+mn-cs"/>
                  </a:rPr>
                  <a:t>E_d</a:t>
                </a:r>
                <a:r>
                  <a:rPr lang="en-US" sz="1200" kern="1200" dirty="0">
                    <a:solidFill>
                      <a:schemeClr val="tx1"/>
                    </a:solidFill>
                    <a:effectLst/>
                    <a:latin typeface="+mn-lt"/>
                    <a:ea typeface="+mn-ea"/>
                    <a:cs typeface="+mn-cs"/>
                  </a:rPr>
                  <a:t>=-1) if MC=0.</a:t>
                </a:r>
              </a:p>
              <a:p>
                <a:endParaRPr lang="en-US" sz="1200" kern="1200" dirty="0">
                  <a:solidFill>
                    <a:schemeClr val="tx1"/>
                  </a:solidFill>
                  <a:effectLst/>
                  <a:latin typeface="+mn-lt"/>
                  <a:ea typeface="+mn-ea"/>
                  <a:cs typeface="+mn-cs"/>
                </a:endParaRPr>
              </a:p>
            </p:txBody>
          </p:sp>
        </mc:Choice>
        <mc:Fallback xmlns="">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 can now explore the relationship between the elasticity of demand and total revenue. Total revenue is defined as </a:t>
                </a:r>
                <a:r>
                  <a:rPr lang="en-US" sz="1200" i="0" kern="1200">
                    <a:solidFill>
                      <a:schemeClr val="tx1"/>
                    </a:solidFill>
                    <a:effectLst/>
                    <a:latin typeface="+mn-lt"/>
                    <a:ea typeface="+mn-ea"/>
                    <a:cs typeface="+mn-cs"/>
                  </a:rPr>
                  <a:t>𝑇𝑅=𝑃∙𝑄</a:t>
                </a:r>
                <a:r>
                  <a:rPr lang="en-US" sz="1200" kern="1200" dirty="0">
                    <a:solidFill>
                      <a:schemeClr val="tx1"/>
                    </a:solidFill>
                    <a:effectLst/>
                    <a:latin typeface="+mn-lt"/>
                    <a:ea typeface="+mn-ea"/>
                    <a:cs typeface="+mn-cs"/>
                  </a:rPr>
                  <a:t>. Starting at the leftmost portion of the graph, when </a:t>
                </a:r>
                <a:r>
                  <a:rPr lang="en-US" sz="1200" i="0" kern="1200">
                    <a:solidFill>
                      <a:schemeClr val="tx1"/>
                    </a:solidFill>
                    <a:effectLst/>
                    <a:latin typeface="+mn-lt"/>
                    <a:ea typeface="+mn-ea"/>
                    <a:cs typeface="+mn-cs"/>
                  </a:rPr>
                  <a:t>𝑄=0</a:t>
                </a:r>
                <a:r>
                  <a:rPr lang="en-US" sz="1200" kern="1200" dirty="0">
                    <a:solidFill>
                      <a:schemeClr val="tx1"/>
                    </a:solidFill>
                    <a:effectLst/>
                    <a:latin typeface="+mn-lt"/>
                    <a:ea typeface="+mn-ea"/>
                    <a:cs typeface="+mn-cs"/>
                  </a:rPr>
                  <a:t>, we know that </a:t>
                </a:r>
                <a:r>
                  <a:rPr lang="en-US" sz="1200" i="0" kern="1200">
                    <a:solidFill>
                      <a:schemeClr val="tx1"/>
                    </a:solidFill>
                    <a:effectLst/>
                    <a:latin typeface="+mn-lt"/>
                    <a:ea typeface="+mn-ea"/>
                    <a:cs typeface="+mn-cs"/>
                  </a:rPr>
                  <a:t>𝑇𝑅=0</a:t>
                </a:r>
                <a:r>
                  <a:rPr lang="en-US" sz="1200" kern="1200" dirty="0">
                    <a:solidFill>
                      <a:schemeClr val="tx1"/>
                    </a:solidFill>
                    <a:effectLst/>
                    <a:latin typeface="+mn-lt"/>
                    <a:ea typeface="+mn-ea"/>
                    <a:cs typeface="+mn-cs"/>
                  </a:rPr>
                  <a:t>. As the price falls, quantity rises. Note that these changes have opposing effects on total revenue. Since we are on the elastic portion of the demand curve, we know that a small decrease in price causes a large increase in quantity, and total revenue increases. This pattern will hold as price falls through the point of unit elasticity on the demand curve. At this point, total revenue reaches its maximum. After this point, we enter the inelastic portion of the demand curve. On the inelastic portion of the demand curve, we know that a small decrease in price causes an even smaller increase in quantity, and total revenue falls. Total revenue continues to fall until the demand curve intersects the x-axis, where </a:t>
                </a:r>
                <a:r>
                  <a:rPr lang="en-US" sz="1200" i="0" kern="1200">
                    <a:solidFill>
                      <a:schemeClr val="tx1"/>
                    </a:solidFill>
                    <a:effectLst/>
                    <a:latin typeface="+mn-lt"/>
                    <a:ea typeface="+mn-ea"/>
                    <a:cs typeface="+mn-cs"/>
                  </a:rPr>
                  <a:t>𝑃=0</a:t>
                </a:r>
                <a:r>
                  <a:rPr lang="en-US" sz="1200" kern="1200" dirty="0">
                    <a:solidFill>
                      <a:schemeClr val="tx1"/>
                    </a:solidFill>
                    <a:effectLst/>
                    <a:latin typeface="+mn-lt"/>
                    <a:ea typeface="+mn-ea"/>
                    <a:cs typeface="+mn-cs"/>
                  </a:rPr>
                  <a:t>, and </a:t>
                </a:r>
                <a:r>
                  <a:rPr lang="en-US" sz="1200" i="0" kern="1200">
                    <a:solidFill>
                      <a:schemeClr val="tx1"/>
                    </a:solidFill>
                    <a:effectLst/>
                    <a:latin typeface="+mn-lt"/>
                    <a:ea typeface="+mn-ea"/>
                    <a:cs typeface="+mn-cs"/>
                  </a:rPr>
                  <a:t>𝑇𝑅=0</a:t>
                </a:r>
                <a:r>
                  <a:rPr lang="en-US" sz="1200" kern="1200" dirty="0">
                    <a:solidFill>
                      <a:schemeClr val="tx1"/>
                    </a:solidFill>
                    <a:effectLst/>
                    <a:latin typeface="+mn-lt"/>
                    <a:ea typeface="+mn-ea"/>
                    <a:cs typeface="+mn-cs"/>
                  </a:rPr>
                  <a:t>.</a:t>
                </a:r>
              </a:p>
            </p:txBody>
          </p:sp>
        </mc:Fallback>
      </mc:AlternateContent>
      <p:sp>
        <p:nvSpPr>
          <p:cNvPr id="4" name="Slide Number Placeholder 3"/>
          <p:cNvSpPr>
            <a:spLocks noGrp="1"/>
          </p:cNvSpPr>
          <p:nvPr>
            <p:ph type="sldNum" sz="quarter" idx="5"/>
          </p:nvPr>
        </p:nvSpPr>
        <p:spPr/>
        <p:txBody>
          <a:bodyPr/>
          <a:lstStyle/>
          <a:p>
            <a:fld id="{8D36AC2A-E969-3C46-9ED8-B46D40C5E669}" type="slidenum">
              <a:rPr lang="en-US" smtClean="0"/>
              <a:t>6</a:t>
            </a:fld>
            <a:endParaRPr lang="en-US"/>
          </a:p>
        </p:txBody>
      </p:sp>
    </p:spTree>
    <p:extLst>
      <p:ext uri="{BB962C8B-B14F-4D97-AF65-F5344CB8AC3E}">
        <p14:creationId xmlns:p14="http://schemas.microsoft.com/office/powerpoint/2010/main" val="33777293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5"/>
          <p:cNvSpPr>
            <a:spLocks noGrp="1" noChangeArrowheads="1"/>
          </p:cNvSpPr>
          <p:nvPr>
            <p:ph type="sldNum" sz="quarter" idx="5"/>
          </p:nvPr>
        </p:nvSpPr>
        <p:spPr>
          <a:noFill/>
        </p:spPr>
        <p:txBody>
          <a:bodyPr/>
          <a:lstStyle/>
          <a:p>
            <a:fld id="{9C1054FF-DE9E-4B7B-AA89-E255A6DBC9B1}" type="slidenum">
              <a:rPr lang="en-US"/>
              <a:pPr/>
              <a:t>7</a:t>
            </a:fld>
            <a:endParaRPr lang="en-US"/>
          </a:p>
        </p:txBody>
      </p:sp>
      <p:sp>
        <p:nvSpPr>
          <p:cNvPr id="48131" name="Rectangle 2"/>
          <p:cNvSpPr>
            <a:spLocks noGrp="1" noRot="1" noChangeAspect="1" noChangeArrowheads="1" noTextEdit="1"/>
          </p:cNvSpPr>
          <p:nvPr>
            <p:ph type="sldImg"/>
          </p:nvPr>
        </p:nvSpPr>
        <p:spPr>
          <a:xfrm>
            <a:off x="1104900" y="565150"/>
            <a:ext cx="5105400" cy="3829050"/>
          </a:xfrm>
          <a:ln/>
        </p:spPr>
      </p:sp>
      <p:sp>
        <p:nvSpPr>
          <p:cNvPr id="48132"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17657556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D36AC2A-E969-3C46-9ED8-B46D40C5E669}" type="slidenum">
              <a:rPr lang="en-US" smtClean="0"/>
              <a:t>8</a:t>
            </a:fld>
            <a:endParaRPr lang="en-US"/>
          </a:p>
        </p:txBody>
      </p:sp>
    </p:spTree>
    <p:extLst>
      <p:ext uri="{BB962C8B-B14F-4D97-AF65-F5344CB8AC3E}">
        <p14:creationId xmlns:p14="http://schemas.microsoft.com/office/powerpoint/2010/main" val="16306939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Demand for Wrigley's chewing gum is...
https://www.polleverywhere.com/multiple_choice_polls/geg4OW3J173fOJpvFakHJ?flow=Default&amp;onscreen=persist</a:t>
            </a:r>
          </a:p>
        </p:txBody>
      </p:sp>
      <p:sp>
        <p:nvSpPr>
          <p:cNvPr id="4" name="Slide Number Placeholder 3"/>
          <p:cNvSpPr>
            <a:spLocks noGrp="1"/>
          </p:cNvSpPr>
          <p:nvPr>
            <p:ph type="sldNum" sz="quarter" idx="5"/>
          </p:nvPr>
        </p:nvSpPr>
        <p:spPr/>
        <p:txBody>
          <a:bodyPr/>
          <a:lstStyle/>
          <a:p>
            <a:fld id="{8D36AC2A-E969-3C46-9ED8-B46D40C5E669}" type="slidenum">
              <a:rPr lang="en-US" smtClean="0"/>
              <a:t>9</a:t>
            </a:fld>
            <a:endParaRPr lang="en-US"/>
          </a:p>
        </p:txBody>
      </p:sp>
      <p:sp>
        <p:nvSpPr>
          <p:cNvPr id="5" name="TextBox 4">
            <a:extLst>
              <a:ext uri="{FF2B5EF4-FFF2-40B4-BE49-F238E27FC236}">
                <a16:creationId xmlns:a16="http://schemas.microsoft.com/office/drawing/2014/main" id="{968BDA2B-9A70-4644-AF8C-974FC97028B6}"/>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1293086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D36AC2A-E969-3C46-9ED8-B46D40C5E669}" type="slidenum">
              <a:rPr lang="en-US" smtClean="0"/>
              <a:t>10</a:t>
            </a:fld>
            <a:endParaRPr lang="en-US"/>
          </a:p>
        </p:txBody>
      </p:sp>
    </p:spTree>
    <p:extLst>
      <p:ext uri="{BB962C8B-B14F-4D97-AF65-F5344CB8AC3E}">
        <p14:creationId xmlns:p14="http://schemas.microsoft.com/office/powerpoint/2010/main" val="19365583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5"/>
          <p:cNvSpPr>
            <a:spLocks noGrp="1" noChangeArrowheads="1"/>
          </p:cNvSpPr>
          <p:nvPr>
            <p:ph type="sldNum" sz="quarter" idx="5"/>
          </p:nvPr>
        </p:nvSpPr>
        <p:spPr>
          <a:noFill/>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C1054FF-DE9E-4B7B-AA89-E255A6DBC9B1}"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48131" name="Rectangle 2"/>
          <p:cNvSpPr>
            <a:spLocks noGrp="1" noRot="1" noChangeAspect="1" noChangeArrowheads="1" noTextEdit="1"/>
          </p:cNvSpPr>
          <p:nvPr>
            <p:ph type="sldImg"/>
          </p:nvPr>
        </p:nvSpPr>
        <p:spPr>
          <a:xfrm>
            <a:off x="1104900" y="565150"/>
            <a:ext cx="5105400" cy="3829050"/>
          </a:xfrm>
          <a:ln/>
        </p:spPr>
      </p:sp>
      <p:sp>
        <p:nvSpPr>
          <p:cNvPr id="48132"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0898053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12</a:t>
            </a:fld>
            <a:endParaRPr lang="en-US"/>
          </a:p>
        </p:txBody>
      </p:sp>
    </p:spTree>
    <p:extLst>
      <p:ext uri="{BB962C8B-B14F-4D97-AF65-F5344CB8AC3E}">
        <p14:creationId xmlns:p14="http://schemas.microsoft.com/office/powerpoint/2010/main" val="17041517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AA335426-D229-45D0-B351-A41EE26D6027}" type="slidenum">
              <a:rPr lang="en-US"/>
              <a:pPr/>
              <a:t>13</a:t>
            </a:fld>
            <a:endParaRPr lang="en-US"/>
          </a:p>
        </p:txBody>
      </p:sp>
      <p:sp>
        <p:nvSpPr>
          <p:cNvPr id="173058" name="Rectangle 2"/>
          <p:cNvSpPr>
            <a:spLocks noGrp="1" noRot="1" noChangeAspect="1" noChangeArrowheads="1" noTextEdit="1"/>
          </p:cNvSpPr>
          <p:nvPr>
            <p:ph type="sldImg"/>
          </p:nvPr>
        </p:nvSpPr>
        <p:spPr>
          <a:xfrm>
            <a:off x="1000125" y="538163"/>
            <a:ext cx="4859338" cy="3646487"/>
          </a:xfrm>
          <a:ln/>
        </p:spPr>
      </p:sp>
      <p:sp>
        <p:nvSpPr>
          <p:cNvPr id="173059" name="Rectangle 3"/>
          <p:cNvSpPr>
            <a:spLocks noGrp="1" noChangeArrowheads="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38418203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u="sng" kern="1200" dirty="0">
                <a:solidFill>
                  <a:schemeClr val="tx1"/>
                </a:solidFill>
                <a:effectLst/>
                <a:latin typeface="+mn-lt"/>
                <a:ea typeface="+mn-ea"/>
                <a:cs typeface="+mn-cs"/>
              </a:rPr>
              <a:t>Marginal Revenue = Marginal Cost when Demand is Linear</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To set MR=MC, you need to know MC. For now, we assume a constant marginal cost: MC=$200. The harder part is MR. What is marginal revenue? In words, it is the change in revenues when you sell one more unit of the good. To get there, we want to find out what total revenue is only as a function of Q, so that we can take the derivative of revenue with respect to Q.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Let's write down a specific demand function and work through an example using this demand function:</a:t>
            </a:r>
          </a:p>
          <a:p>
            <a:r>
              <a:rPr lang="en-US" sz="1200" i="1" kern="1200" dirty="0">
                <a:solidFill>
                  <a:schemeClr val="tx1"/>
                </a:solidFill>
                <a:effectLst/>
                <a:latin typeface="+mn-lt"/>
                <a:ea typeface="+mn-ea"/>
                <a:cs typeface="+mn-cs"/>
              </a:rPr>
              <a:t>Q=1600-4P</a:t>
            </a:r>
          </a:p>
          <a:p>
            <a:endParaRPr lang="en-US" sz="1200" kern="1200" dirty="0">
              <a:solidFill>
                <a:schemeClr val="tx1"/>
              </a:solidFill>
              <a:effectLst/>
              <a:latin typeface="+mn-lt"/>
              <a:ea typeface="+mn-ea"/>
              <a:cs typeface="+mn-cs"/>
            </a:endParaRPr>
          </a:p>
          <a:p>
            <a:r>
              <a:rPr lang="en-US" sz="1200" b="1" u="sng" kern="1200" dirty="0">
                <a:solidFill>
                  <a:schemeClr val="tx1"/>
                </a:solidFill>
                <a:effectLst/>
                <a:latin typeface="+mn-lt"/>
                <a:ea typeface="+mn-ea"/>
                <a:cs typeface="+mn-cs"/>
              </a:rPr>
              <a:t>The Recipe</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There are three steps to get to the mathematical answer for MR. You can apply this recipe whenever you face this type of problem:</a:t>
            </a:r>
          </a:p>
          <a:p>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Invert your demand</a:t>
            </a:r>
            <a:r>
              <a:rPr lang="en-US" sz="1200" kern="1200" dirty="0">
                <a:solidFill>
                  <a:schemeClr val="tx1"/>
                </a:solidFill>
                <a:effectLst/>
                <a:latin typeface="+mn-lt"/>
                <a:ea typeface="+mn-ea"/>
                <a:cs typeface="+mn-cs"/>
              </a:rPr>
              <a:t>. That's the inconvenient legacy of Alfred Marshall that I mentioned in class:</a:t>
            </a:r>
          </a:p>
          <a:p>
            <a:r>
              <a:rPr lang="en-US" sz="1200" i="1" kern="1200" dirty="0">
                <a:solidFill>
                  <a:schemeClr val="tx1"/>
                </a:solidFill>
                <a:effectLst/>
                <a:latin typeface="+mn-lt"/>
                <a:ea typeface="+mn-ea"/>
                <a:cs typeface="+mn-cs"/>
              </a:rPr>
              <a:t>P=400 - 1/4 Q</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(If you're wondering what I did here, I just took our demand function, put P on the left side, Q on the right side and divided everything by 4).</a:t>
            </a:r>
          </a:p>
          <a:p>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Write down total revenue</a:t>
            </a:r>
            <a:r>
              <a:rPr lang="en-US" sz="1200" kern="1200" dirty="0">
                <a:solidFill>
                  <a:schemeClr val="tx1"/>
                </a:solidFill>
                <a:effectLst/>
                <a:latin typeface="+mn-lt"/>
                <a:ea typeface="+mn-ea"/>
                <a:cs typeface="+mn-cs"/>
              </a:rPr>
              <a:t>. What's total revenue? It is P times Q. So:</a:t>
            </a:r>
          </a:p>
          <a:p>
            <a:r>
              <a:rPr lang="en-US" sz="1200" i="1" kern="1200" dirty="0">
                <a:solidFill>
                  <a:schemeClr val="tx1"/>
                </a:solidFill>
                <a:effectLst/>
                <a:latin typeface="+mn-lt"/>
                <a:ea typeface="+mn-ea"/>
                <a:cs typeface="+mn-cs"/>
              </a:rPr>
              <a:t>PQ=400Q-1/4 * Q^2</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(Here I just multiplied the previous equation by Q: easy!)</a:t>
            </a:r>
          </a:p>
          <a:p>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Find Marginal Revenue</a:t>
            </a:r>
            <a:r>
              <a:rPr lang="en-US" sz="1200" kern="1200" dirty="0">
                <a:solidFill>
                  <a:schemeClr val="tx1"/>
                </a:solidFill>
                <a:effectLst/>
                <a:latin typeface="+mn-lt"/>
                <a:ea typeface="+mn-ea"/>
                <a:cs typeface="+mn-cs"/>
              </a:rPr>
              <a:t>. That's the hardest step. It entails taking the derivative of PQ with respect to Q. You may or may not know any calculus. But (I promise!) you can do this even if you don't know any calculus. All you need to know is that the derivative of Q with respect to Q is 1, and that the derivative of Q</a:t>
            </a:r>
            <a:r>
              <a:rPr lang="en-US" sz="1200" kern="1200" baseline="30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 with respect to Q is 2Q:</a:t>
            </a:r>
          </a:p>
          <a:p>
            <a:pPr lvl="0"/>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MR=(∆PQ)/∆Q=400-1/2Q</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So now we have MR. You will notice that MR has </a:t>
            </a:r>
            <a:r>
              <a:rPr lang="en-US" sz="1200" i="1" kern="1200" dirty="0">
                <a:solidFill>
                  <a:schemeClr val="tx1"/>
                </a:solidFill>
                <a:effectLst/>
                <a:latin typeface="+mn-lt"/>
                <a:ea typeface="+mn-ea"/>
                <a:cs typeface="+mn-cs"/>
              </a:rPr>
              <a:t>twice the slope </a:t>
            </a:r>
            <a:r>
              <a:rPr lang="en-US" sz="1200" kern="1200" dirty="0">
                <a:solidFill>
                  <a:schemeClr val="tx1"/>
                </a:solidFill>
                <a:effectLst/>
                <a:latin typeface="+mn-lt"/>
                <a:ea typeface="+mn-ea"/>
                <a:cs typeface="+mn-cs"/>
              </a:rPr>
              <a:t>of the inverse demand function. The slope of the inverse demand function is -1/4 and the slope of MR is -1/2. When demand is linear, MR is always twice as steep as demand.  </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Where MR=0, demand is unit elastic</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Try to understand intuitively why the elasticity of demand is exactly -1 when MR=0!</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Total revenue is maximized where </a:t>
            </a:r>
            <a:r>
              <a:rPr lang="en-US" sz="1200" kern="1200" dirty="0" err="1">
                <a:solidFill>
                  <a:schemeClr val="tx1"/>
                </a:solidFill>
                <a:effectLst/>
                <a:latin typeface="+mn-lt"/>
                <a:ea typeface="+mn-ea"/>
                <a:cs typeface="+mn-cs"/>
              </a:rPr>
              <a:t>E_d</a:t>
            </a:r>
            <a:r>
              <a:rPr lang="en-US" sz="1200" kern="1200" dirty="0">
                <a:solidFill>
                  <a:schemeClr val="tx1"/>
                </a:solidFill>
                <a:effectLst/>
                <a:latin typeface="+mn-lt"/>
                <a:ea typeface="+mn-ea"/>
                <a:cs typeface="+mn-cs"/>
              </a:rPr>
              <a:t>=-1. If MR&gt;0, then TR must be rising as Q increases. If MR&lt;0, then TR must be declining.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Note that your goal is to maximize profits, not total revenue. A consideration of </a:t>
            </a:r>
            <a:r>
              <a:rPr lang="en-US" sz="1200" b="1" u="sng" kern="1200" dirty="0">
                <a:solidFill>
                  <a:schemeClr val="tx1"/>
                </a:solidFill>
                <a:effectLst/>
                <a:latin typeface="+mn-lt"/>
                <a:ea typeface="+mn-ea"/>
                <a:cs typeface="+mn-cs"/>
              </a:rPr>
              <a:t>costs</a:t>
            </a:r>
            <a:r>
              <a:rPr lang="en-US" sz="1200" kern="1200" dirty="0">
                <a:solidFill>
                  <a:schemeClr val="tx1"/>
                </a:solidFill>
                <a:effectLst/>
                <a:latin typeface="+mn-lt"/>
                <a:ea typeface="+mn-ea"/>
                <a:cs typeface="+mn-cs"/>
              </a:rPr>
              <a:t> matters.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Now we set MR equal to MC ($200) and we are done:</a:t>
            </a:r>
          </a:p>
          <a:p>
            <a:r>
              <a:rPr lang="en-US" sz="1200" i="1" kern="1200" dirty="0">
                <a:solidFill>
                  <a:schemeClr val="tx1"/>
                </a:solidFill>
                <a:effectLst/>
                <a:latin typeface="+mn-lt"/>
                <a:ea typeface="+mn-ea"/>
                <a:cs typeface="+mn-cs"/>
              </a:rPr>
              <a:t>MR=MC</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400-12Q=200</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Q=400</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So now we know that maximizing profits entails setting Q=400. What about the price P? Well, that's easy to find: our price-quantity combination must be located on the demand curve. So from the inverse demand we derived earlier, we find:</a:t>
            </a:r>
          </a:p>
          <a:p>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P=400-1/4Q=400-100=$300</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Maximizing profits, here, entails setting Q=400 units and P=$300.</a:t>
            </a:r>
          </a:p>
        </p:txBody>
      </p:sp>
      <p:sp>
        <p:nvSpPr>
          <p:cNvPr id="4" name="Slide Number Placeholder 3"/>
          <p:cNvSpPr>
            <a:spLocks noGrp="1"/>
          </p:cNvSpPr>
          <p:nvPr>
            <p:ph type="sldNum" sz="quarter" idx="5"/>
          </p:nvPr>
        </p:nvSpPr>
        <p:spPr/>
        <p:txBody>
          <a:bodyPr/>
          <a:lstStyle/>
          <a:p>
            <a:fld id="{8D36AC2A-E969-3C46-9ED8-B46D40C5E669}" type="slidenum">
              <a:rPr lang="en-US" smtClean="0"/>
              <a:t>16</a:t>
            </a:fld>
            <a:endParaRPr lang="en-US"/>
          </a:p>
        </p:txBody>
      </p:sp>
    </p:spTree>
    <p:extLst>
      <p:ext uri="{BB962C8B-B14F-4D97-AF65-F5344CB8AC3E}">
        <p14:creationId xmlns:p14="http://schemas.microsoft.com/office/powerpoint/2010/main" val="1100770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Why isn’t MR just P? </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For a firm with market power (which we will assume here), they will face downward sloping demand. In order to sell additional unit, it will have to lower the price. It will lower the price not just for the marginal unit, </a:t>
            </a:r>
            <a:r>
              <a:rPr lang="en-US" sz="1200" b="1" kern="1200" dirty="0">
                <a:solidFill>
                  <a:schemeClr val="tx1"/>
                </a:solidFill>
                <a:effectLst/>
                <a:latin typeface="+mn-lt"/>
                <a:ea typeface="+mn-ea"/>
                <a:cs typeface="+mn-cs"/>
              </a:rPr>
              <a:t>but for all units</a:t>
            </a:r>
            <a:r>
              <a:rPr lang="en-US" sz="1200" kern="1200" dirty="0">
                <a:solidFill>
                  <a:schemeClr val="tx1"/>
                </a:solidFill>
                <a:effectLst/>
                <a:latin typeface="+mn-lt"/>
                <a:ea typeface="+mn-ea"/>
                <a:cs typeface="+mn-cs"/>
              </a:rPr>
              <a:t>. This reduces the revenue the firm receives for the other units it sells. When computing the marginal revenue from the additional unit, it must also subtract the loss it suffers on every other unit.</a:t>
            </a:r>
          </a:p>
          <a:p>
            <a:pPr lvl="0"/>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Is there any situation under which MR=P? </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Infinite elasticity. When the good is perfectly elastic, a firm doesn’t have to lower the price in order to sell more goods [quantity doesn’t depend on price]; the firm can sell any amount at a given price, so marginal revenue just equals P. This is known as perfect competition, which we will return to in the second half of the course when we discuss market power.</a:t>
            </a:r>
          </a:p>
          <a:p>
            <a:pPr lvl="0"/>
            <a:endParaRPr lang="en-US" sz="120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Can MR be negative?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Yes! In the left side of this plot, we see that MR is negative. To the right of the point of unit elasticity, TR is declining, meaning that each additional unit contributes </a:t>
            </a:r>
            <a:r>
              <a:rPr lang="en-US" sz="1200" b="1" kern="1200" dirty="0">
                <a:solidFill>
                  <a:schemeClr val="tx1"/>
                </a:solidFill>
                <a:effectLst/>
                <a:latin typeface="+mn-lt"/>
                <a:ea typeface="+mn-ea"/>
                <a:cs typeface="+mn-cs"/>
              </a:rPr>
              <a:t>negatively</a:t>
            </a:r>
            <a:r>
              <a:rPr lang="en-US" sz="1200" b="0" kern="1200" dirty="0">
                <a:solidFill>
                  <a:schemeClr val="tx1"/>
                </a:solidFill>
                <a:effectLst/>
                <a:latin typeface="+mn-lt"/>
                <a:ea typeface="+mn-ea"/>
                <a:cs typeface="+mn-cs"/>
              </a:rPr>
              <a:t>. That is another way of saying that MR is negative.</a:t>
            </a:r>
            <a:endParaRPr lang="en-US" sz="1200" b="1" kern="1200" dirty="0">
              <a:solidFill>
                <a:schemeClr val="tx1"/>
              </a:solidFill>
              <a:effectLst/>
              <a:latin typeface="+mn-lt"/>
              <a:ea typeface="+mn-ea"/>
              <a:cs typeface="+mn-cs"/>
            </a:endParaRPr>
          </a:p>
          <a:p>
            <a:pPr lvl="0"/>
            <a:endParaRPr lang="en-US" sz="1200" kern="1200" dirty="0">
              <a:solidFill>
                <a:schemeClr val="tx1"/>
              </a:solidFill>
              <a:effectLst/>
              <a:latin typeface="+mn-lt"/>
              <a:ea typeface="+mn-ea"/>
              <a:cs typeface="+mn-cs"/>
            </a:endParaRPr>
          </a:p>
          <a:p>
            <a:pPr lvl="0"/>
            <a:endParaRPr lang="en-US" sz="1200" kern="1200" dirty="0">
              <a:solidFill>
                <a:schemeClr val="tx1"/>
              </a:solidFill>
              <a:effectLst/>
              <a:latin typeface="+mn-lt"/>
              <a:ea typeface="+mn-ea"/>
              <a:cs typeface="+mn-cs"/>
            </a:endParaRPr>
          </a:p>
          <a:p>
            <a:endParaRPr lang="en-US" baseline="0" dirty="0"/>
          </a:p>
        </p:txBody>
      </p:sp>
      <p:sp>
        <p:nvSpPr>
          <p:cNvPr id="4" name="Slide Number Placeholder 3"/>
          <p:cNvSpPr>
            <a:spLocks noGrp="1"/>
          </p:cNvSpPr>
          <p:nvPr>
            <p:ph type="sldNum" sz="quarter" idx="10"/>
          </p:nvPr>
        </p:nvSpPr>
        <p:spPr/>
        <p:txBody>
          <a:bodyPr/>
          <a:lstStyle/>
          <a:p>
            <a:fld id="{8D36AC2A-E969-3C46-9ED8-B46D40C5E669}" type="slidenum">
              <a:rPr lang="en-US" smtClean="0"/>
              <a:t>18</a:t>
            </a:fld>
            <a:endParaRPr lang="en-US"/>
          </a:p>
        </p:txBody>
      </p:sp>
    </p:spTree>
    <p:extLst>
      <p:ext uri="{BB962C8B-B14F-4D97-AF65-F5344CB8AC3E}">
        <p14:creationId xmlns:p14="http://schemas.microsoft.com/office/powerpoint/2010/main" val="18547691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What is Marginal Revenue when Q=10-0.5P?
https://www.polleverywhere.com/multiple_choice_polls/C5Wxwwh4hdr3oNiTVckkc?flow=Default&amp;onscreen=persist</a:t>
            </a:r>
          </a:p>
        </p:txBody>
      </p:sp>
      <p:sp>
        <p:nvSpPr>
          <p:cNvPr id="4" name="Slide Number Placeholder 3"/>
          <p:cNvSpPr>
            <a:spLocks noGrp="1"/>
          </p:cNvSpPr>
          <p:nvPr>
            <p:ph type="sldNum" sz="quarter" idx="5"/>
          </p:nvPr>
        </p:nvSpPr>
        <p:spPr/>
        <p:txBody>
          <a:bodyPr/>
          <a:lstStyle/>
          <a:p>
            <a:fld id="{8D36AC2A-E969-3C46-9ED8-B46D40C5E669}" type="slidenum">
              <a:rPr lang="en-US" smtClean="0"/>
              <a:t>20</a:t>
            </a:fld>
            <a:endParaRPr lang="en-US"/>
          </a:p>
        </p:txBody>
      </p:sp>
      <p:sp>
        <p:nvSpPr>
          <p:cNvPr id="5" name="TextBox 4">
            <a:extLst>
              <a:ext uri="{FF2B5EF4-FFF2-40B4-BE49-F238E27FC236}">
                <a16:creationId xmlns:a16="http://schemas.microsoft.com/office/drawing/2014/main" id="{4821B7E2-5DB7-4132-AC27-6C4EA27E5205}"/>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3304149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658371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22</a:t>
            </a:fld>
            <a:endParaRPr lang="en-US"/>
          </a:p>
        </p:txBody>
      </p:sp>
    </p:spTree>
    <p:extLst>
      <p:ext uri="{BB962C8B-B14F-4D97-AF65-F5344CB8AC3E}">
        <p14:creationId xmlns:p14="http://schemas.microsoft.com/office/powerpoint/2010/main" val="42934572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C3948639-D5F7-47EA-9F51-D4CF3CCF63DB}" type="slidenum">
              <a:rPr lang="en-US"/>
              <a:pPr/>
              <a:t>23</a:t>
            </a:fld>
            <a:endParaRPr lang="en-US"/>
          </a:p>
        </p:txBody>
      </p:sp>
      <p:sp>
        <p:nvSpPr>
          <p:cNvPr id="88066" name="Rectangle 2"/>
          <p:cNvSpPr>
            <a:spLocks noGrp="1" noRot="1" noChangeAspect="1" noChangeArrowheads="1" noTextEdit="1"/>
          </p:cNvSpPr>
          <p:nvPr>
            <p:ph type="sldImg"/>
          </p:nvPr>
        </p:nvSpPr>
        <p:spPr>
          <a:xfrm>
            <a:off x="1236663" y="728663"/>
            <a:ext cx="4841875" cy="3632200"/>
          </a:xfrm>
          <a:ln/>
        </p:spPr>
      </p:sp>
      <p:sp>
        <p:nvSpPr>
          <p:cNvPr id="88067" name="Rectangle 3"/>
          <p:cNvSpPr>
            <a:spLocks noGrp="1" noChangeArrowheads="1"/>
          </p:cNvSpPr>
          <p:nvPr>
            <p:ph type="body" idx="1"/>
          </p:nvPr>
        </p:nvSpPr>
        <p:spPr/>
        <p:txBody>
          <a:bodyPr/>
          <a:lstStyle/>
          <a:p>
            <a:r>
              <a:rPr lang="en-US" dirty="0"/>
              <a:t>Here we can say that we'll focus on market experimentation = cleanest way + increasingly </a:t>
            </a:r>
            <a:r>
              <a:rPr lang="en-US" dirty="0" err="1"/>
              <a:t>ued</a:t>
            </a:r>
            <a:r>
              <a:rPr lang="en-US" dirty="0"/>
              <a:t> thanks to new technologies + we'll discuss at the end why better than using transaction data</a:t>
            </a:r>
          </a:p>
        </p:txBody>
      </p:sp>
    </p:spTree>
    <p:extLst>
      <p:ext uri="{BB962C8B-B14F-4D97-AF65-F5344CB8AC3E}">
        <p14:creationId xmlns:p14="http://schemas.microsoft.com/office/powerpoint/2010/main" val="25297309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24</a:t>
            </a:fld>
            <a:endParaRPr lang="en-US"/>
          </a:p>
        </p:txBody>
      </p:sp>
    </p:spTree>
    <p:extLst>
      <p:ext uri="{BB962C8B-B14F-4D97-AF65-F5344CB8AC3E}">
        <p14:creationId xmlns:p14="http://schemas.microsoft.com/office/powerpoint/2010/main" val="26368935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basic equation is a demand equation: Q=</a:t>
            </a:r>
            <a:r>
              <a:rPr lang="en-US" sz="1200" kern="1200" dirty="0" err="1">
                <a:solidFill>
                  <a:schemeClr val="tx1"/>
                </a:solidFill>
                <a:effectLst/>
                <a:latin typeface="+mn-lt"/>
                <a:ea typeface="+mn-ea"/>
                <a:cs typeface="+mn-cs"/>
              </a:rPr>
              <a:t>a+bP</a:t>
            </a:r>
            <a:r>
              <a:rPr lang="en-US" sz="1200" kern="1200" dirty="0">
                <a:solidFill>
                  <a:schemeClr val="tx1"/>
                </a:solidFill>
                <a:effectLst/>
                <a:latin typeface="+mn-lt"/>
                <a:ea typeface="+mn-ea"/>
                <a:cs typeface="+mn-cs"/>
              </a:rPr>
              <a:t>. We expect b&lt;0, because</a:t>
            </a:r>
            <a:r>
              <a:rPr lang="en-US" sz="1200" kern="1200" baseline="0" dirty="0">
                <a:solidFill>
                  <a:schemeClr val="tx1"/>
                </a:solidFill>
                <a:effectLst/>
                <a:latin typeface="+mn-lt"/>
                <a:ea typeface="+mn-ea"/>
                <a:cs typeface="+mn-cs"/>
              </a:rPr>
              <a:t> that determines that the own-price elasticity is negative.</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25</a:t>
            </a:fld>
            <a:endParaRPr lang="en-US"/>
          </a:p>
        </p:txBody>
      </p:sp>
    </p:spTree>
    <p:extLst>
      <p:ext uri="{BB962C8B-B14F-4D97-AF65-F5344CB8AC3E}">
        <p14:creationId xmlns:p14="http://schemas.microsoft.com/office/powerpoint/2010/main" val="12519697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D36AC2A-E969-3C46-9ED8-B46D40C5E669}" type="slidenum">
              <a:rPr lang="en-US" smtClean="0"/>
              <a:t>26</a:t>
            </a:fld>
            <a:endParaRPr lang="en-US"/>
          </a:p>
        </p:txBody>
      </p:sp>
    </p:spTree>
    <p:extLst>
      <p:ext uri="{BB962C8B-B14F-4D97-AF65-F5344CB8AC3E}">
        <p14:creationId xmlns:p14="http://schemas.microsoft.com/office/powerpoint/2010/main" val="24588544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The </a:t>
            </a:r>
            <a:r>
              <a:rPr lang="en-US" sz="1200" b="1" kern="1200" dirty="0">
                <a:solidFill>
                  <a:schemeClr val="tx1"/>
                </a:solidFill>
                <a:effectLst/>
                <a:latin typeface="+mn-lt"/>
                <a:ea typeface="+mn-ea"/>
                <a:cs typeface="+mn-cs"/>
              </a:rPr>
              <a:t>intercept</a:t>
            </a:r>
            <a:r>
              <a:rPr lang="en-US" sz="1200" kern="1200" dirty="0">
                <a:solidFill>
                  <a:schemeClr val="tx1"/>
                </a:solidFill>
                <a:effectLst/>
                <a:latin typeface="+mn-lt"/>
                <a:ea typeface="+mn-ea"/>
                <a:cs typeface="+mn-cs"/>
              </a:rPr>
              <a:t> term is the value of a: horizontal intercept. When the price is zero you sell 479 units.</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 price has a negative coefficient: b=-1.64. Price and volume are inversely related, as in a </a:t>
            </a:r>
            <a:r>
              <a:rPr lang="en-US" sz="1200" b="1" kern="1200" dirty="0">
                <a:solidFill>
                  <a:schemeClr val="tx1"/>
                </a:solidFill>
                <a:effectLst/>
                <a:latin typeface="+mn-lt"/>
                <a:ea typeface="+mn-ea"/>
                <a:cs typeface="+mn-cs"/>
              </a:rPr>
              <a:t>demand</a:t>
            </a:r>
            <a:r>
              <a:rPr lang="en-US" sz="1200" kern="1200" dirty="0">
                <a:solidFill>
                  <a:schemeClr val="tx1"/>
                </a:solidFill>
                <a:effectLst/>
                <a:latin typeface="+mn-lt"/>
                <a:ea typeface="+mn-ea"/>
                <a:cs typeface="+mn-cs"/>
              </a:rPr>
              <a:t> function. For every unit you drop the price, you get a 1.64 unit expansion in volume sold.</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So now we have our values for a and b, respectively. </a:t>
            </a:r>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29</a:t>
            </a:fld>
            <a:endParaRPr lang="en-US"/>
          </a:p>
        </p:txBody>
      </p:sp>
    </p:spTree>
    <p:extLst>
      <p:ext uri="{BB962C8B-B14F-4D97-AF65-F5344CB8AC3E}">
        <p14:creationId xmlns:p14="http://schemas.microsoft.com/office/powerpoint/2010/main" val="25010429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Other reported statistics (by </a:t>
            </a:r>
            <a:r>
              <a:rPr lang="en-US" sz="1200" b="1" kern="1200" baseline="0" dirty="0">
                <a:solidFill>
                  <a:schemeClr val="tx1"/>
                </a:solidFill>
                <a:effectLst/>
                <a:latin typeface="+mn-lt"/>
                <a:ea typeface="+mn-ea"/>
                <a:cs typeface="+mn-cs"/>
              </a:rPr>
              <a:t>Excel, R, or Stata)</a:t>
            </a:r>
            <a:r>
              <a:rPr lang="en-US" sz="1200" kern="1200" dirty="0">
                <a:solidFill>
                  <a:schemeClr val="tx1"/>
                </a:solidFill>
                <a:effectLst/>
                <a:latin typeface="+mn-lt"/>
                <a:ea typeface="+mn-ea"/>
                <a:cs typeface="+mn-cs"/>
              </a:rPr>
              <a:t> are interesting. </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The first is a measure of </a:t>
            </a:r>
            <a:r>
              <a:rPr lang="en-US" sz="1200" b="1" kern="1200" dirty="0">
                <a:solidFill>
                  <a:schemeClr val="tx1"/>
                </a:solidFill>
                <a:effectLst/>
                <a:latin typeface="+mn-lt"/>
                <a:ea typeface="+mn-ea"/>
                <a:cs typeface="+mn-cs"/>
              </a:rPr>
              <a:t>FIT</a:t>
            </a:r>
            <a:r>
              <a:rPr lang="en-US" sz="1200" kern="1200" dirty="0">
                <a:solidFill>
                  <a:schemeClr val="tx1"/>
                </a:solidFill>
                <a:effectLst/>
                <a:latin typeface="+mn-lt"/>
                <a:ea typeface="+mn-ea"/>
                <a:cs typeface="+mn-cs"/>
              </a:rPr>
              <a:t>. The better the overall fit, the closer the data points are to the regression line, i.e. the regression line captures a lot of the variation in the data. A measure of what we can explain. Here R</a:t>
            </a:r>
            <a:r>
              <a:rPr lang="en-US" sz="1200" kern="1200" baseline="30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 is about 60%. We can explain 60% of the variation in quantity only using the price. Not bad, but there is room for improvement – 40% to be precise. The logical next step is to try to explain more. You can do that by adding more variables on the right hand side. If all the points were exactly on the regression line, we would have R</a:t>
            </a:r>
            <a:r>
              <a:rPr lang="en-US" sz="1200" kern="1200" baseline="30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=1. Needless to say, that is almost never the case.</a:t>
            </a:r>
          </a:p>
          <a:p>
            <a:pPr lvl="0"/>
            <a:endParaRPr lang="en-US" sz="11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second set of statistics measure </a:t>
            </a:r>
            <a:r>
              <a:rPr lang="en-US" sz="1200" b="1" kern="1200" dirty="0">
                <a:solidFill>
                  <a:schemeClr val="tx1"/>
                </a:solidFill>
                <a:effectLst/>
                <a:latin typeface="+mn-lt"/>
                <a:ea typeface="+mn-ea"/>
                <a:cs typeface="+mn-cs"/>
              </a:rPr>
              <a:t>statistical significance</a:t>
            </a:r>
            <a:r>
              <a:rPr lang="en-US" sz="1200" kern="1200" dirty="0">
                <a:solidFill>
                  <a:schemeClr val="tx1"/>
                </a:solidFill>
                <a:effectLst/>
                <a:latin typeface="+mn-lt"/>
                <a:ea typeface="+mn-ea"/>
                <a:cs typeface="+mn-cs"/>
              </a:rPr>
              <a:t> – i.e. how precisely each individual coefficient is measured. You can look at the standard error of your estimate, or the </a:t>
            </a:r>
            <a:r>
              <a:rPr lang="en-US" sz="1200" b="1" kern="1200" dirty="0">
                <a:solidFill>
                  <a:schemeClr val="tx1"/>
                </a:solidFill>
                <a:effectLst/>
                <a:latin typeface="+mn-lt"/>
                <a:ea typeface="+mn-ea"/>
                <a:cs typeface="+mn-cs"/>
              </a:rPr>
              <a:t>t-statistic</a:t>
            </a:r>
            <a:r>
              <a:rPr lang="en-US" sz="1200" kern="1200" dirty="0">
                <a:solidFill>
                  <a:schemeClr val="tx1"/>
                </a:solidFill>
                <a:effectLst/>
                <a:latin typeface="+mn-lt"/>
                <a:ea typeface="+mn-ea"/>
                <a:cs typeface="+mn-cs"/>
              </a:rPr>
              <a:t> that is simply the coefficient divided by the standard error. The rule of thumb is you want the absolute value of the t-statistic to be </a:t>
            </a:r>
            <a:r>
              <a:rPr lang="en-US" sz="1200" b="1" kern="1200" dirty="0">
                <a:solidFill>
                  <a:schemeClr val="tx1"/>
                </a:solidFill>
                <a:effectLst/>
                <a:latin typeface="+mn-lt"/>
                <a:ea typeface="+mn-ea"/>
                <a:cs typeface="+mn-cs"/>
              </a:rPr>
              <a:t>greater than 2</a:t>
            </a:r>
            <a:r>
              <a:rPr lang="en-US" sz="1200" kern="1200" dirty="0">
                <a:solidFill>
                  <a:schemeClr val="tx1"/>
                </a:solidFill>
                <a:effectLst/>
                <a:latin typeface="+mn-lt"/>
                <a:ea typeface="+mn-ea"/>
                <a:cs typeface="+mn-cs"/>
              </a:rPr>
              <a:t> – for enough precision you want your coefficient to be twice the magnitude of its standard error. Then you can be 95% certain that the true coefficient is different from zero</a:t>
            </a:r>
            <a:r>
              <a:rPr lang="en-US" dirty="0">
                <a:effectLst/>
              </a:rPr>
              <a:t> </a:t>
            </a:r>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30</a:t>
            </a:fld>
            <a:endParaRPr lang="en-US"/>
          </a:p>
        </p:txBody>
      </p:sp>
    </p:spTree>
    <p:extLst>
      <p:ext uri="{BB962C8B-B14F-4D97-AF65-F5344CB8AC3E}">
        <p14:creationId xmlns:p14="http://schemas.microsoft.com/office/powerpoint/2010/main" val="8987729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basic equation is a demand equation: Q=</a:t>
            </a:r>
            <a:r>
              <a:rPr lang="en-US" sz="1200" kern="1200" dirty="0" err="1">
                <a:solidFill>
                  <a:schemeClr val="tx1"/>
                </a:solidFill>
                <a:effectLst/>
                <a:latin typeface="+mn-lt"/>
                <a:ea typeface="+mn-ea"/>
                <a:cs typeface="+mn-cs"/>
              </a:rPr>
              <a:t>a+bP</a:t>
            </a:r>
            <a:r>
              <a:rPr lang="en-US" sz="1200" kern="1200" dirty="0">
                <a:solidFill>
                  <a:schemeClr val="tx1"/>
                </a:solidFill>
                <a:effectLst/>
                <a:latin typeface="+mn-lt"/>
                <a:ea typeface="+mn-ea"/>
                <a:cs typeface="+mn-cs"/>
              </a:rPr>
              <a:t>. We expect b&lt;0, because</a:t>
            </a:r>
            <a:r>
              <a:rPr lang="en-US" sz="1200" kern="1200" baseline="0" dirty="0">
                <a:solidFill>
                  <a:schemeClr val="tx1"/>
                </a:solidFill>
                <a:effectLst/>
                <a:latin typeface="+mn-lt"/>
                <a:ea typeface="+mn-ea"/>
                <a:cs typeface="+mn-cs"/>
              </a:rPr>
              <a:t> that determines that the own-price elasticity is negative.</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31</a:t>
            </a:fld>
            <a:endParaRPr lang="en-US"/>
          </a:p>
        </p:txBody>
      </p:sp>
    </p:spTree>
    <p:extLst>
      <p:ext uri="{BB962C8B-B14F-4D97-AF65-F5344CB8AC3E}">
        <p14:creationId xmlns:p14="http://schemas.microsoft.com/office/powerpoint/2010/main" val="15618193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So, can we do better than an R</a:t>
            </a:r>
            <a:r>
              <a:rPr lang="en-US" sz="1200" kern="1200" baseline="30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 of 0.59? Yes. Economics tells us a lot of other things besides your own price drive demand: income, price of substitutes, how much you spend on promotion and advertising, etc. So let’s include them in the regression and see what happens. -&gt; even if we have randomized prices, these factors might change and including them will increase precisions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multivariate model includes two additional regressors or independent variables:</a:t>
            </a:r>
          </a:p>
          <a:p>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1. There is a competitor with a substitute product available (say United versus American)</a:t>
            </a:r>
          </a:p>
          <a:p>
            <a:pPr lvl="0"/>
            <a:r>
              <a:rPr lang="en-US" sz="1200" kern="1200" dirty="0">
                <a:solidFill>
                  <a:schemeClr val="tx1"/>
                </a:solidFill>
                <a:effectLst/>
                <a:latin typeface="+mn-lt"/>
                <a:ea typeface="+mn-ea"/>
                <a:cs typeface="+mn-cs"/>
              </a:rPr>
              <a:t>2. You have data on average income in the US at the time of the sales. That is a factor that influences demand (what is the expected direction? Positive if air travel is a </a:t>
            </a:r>
            <a:r>
              <a:rPr lang="en-US" sz="1200" b="1" kern="1200" dirty="0">
                <a:solidFill>
                  <a:schemeClr val="tx1"/>
                </a:solidFill>
                <a:effectLst/>
                <a:latin typeface="+mn-lt"/>
                <a:ea typeface="+mn-ea"/>
                <a:cs typeface="+mn-cs"/>
              </a:rPr>
              <a:t>normal good</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Move to multiple regression module of the Excel workbook. Units are $ for price but an index for the income level. Run a multivariate regression of quantity on own price, price of substitute and income. The dependent variable stays the same, the independent variables now include Y and P</a:t>
            </a:r>
            <a:r>
              <a:rPr lang="en-US" sz="1200" kern="1200" baseline="30000" dirty="0">
                <a:solidFill>
                  <a:schemeClr val="tx1"/>
                </a:solidFill>
                <a:effectLst/>
                <a:latin typeface="+mn-lt"/>
                <a:ea typeface="+mn-ea"/>
                <a:cs typeface="+mn-cs"/>
              </a:rPr>
              <a:t>c</a:t>
            </a:r>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On Problem Set 2, you will have the opportunity to run a regression, and interpret and use the coefficients! </a:t>
            </a:r>
          </a:p>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32</a:t>
            </a:fld>
            <a:endParaRPr lang="en-US"/>
          </a:p>
        </p:txBody>
      </p:sp>
    </p:spTree>
    <p:extLst>
      <p:ext uri="{BB962C8B-B14F-4D97-AF65-F5344CB8AC3E}">
        <p14:creationId xmlns:p14="http://schemas.microsoft.com/office/powerpoint/2010/main" val="23785064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What has changed? </a:t>
            </a:r>
          </a:p>
          <a:p>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The coefficient on P</a:t>
            </a:r>
            <a:r>
              <a:rPr lang="en-US" sz="1200" kern="1200" baseline="30000" dirty="0">
                <a:solidFill>
                  <a:schemeClr val="tx1"/>
                </a:solidFill>
                <a:effectLst/>
                <a:latin typeface="+mn-lt"/>
                <a:ea typeface="+mn-ea"/>
                <a:cs typeface="+mn-cs"/>
              </a:rPr>
              <a:t>c</a:t>
            </a:r>
            <a:r>
              <a:rPr lang="en-US" sz="1200" kern="1200" dirty="0">
                <a:solidFill>
                  <a:schemeClr val="tx1"/>
                </a:solidFill>
                <a:effectLst/>
                <a:latin typeface="+mn-lt"/>
                <a:ea typeface="+mn-ea"/>
                <a:cs typeface="+mn-cs"/>
              </a:rPr>
              <a:t>, which is </a:t>
            </a:r>
            <a:r>
              <a:rPr lang="en-US" sz="1200" kern="1200" dirty="0" err="1">
                <a:solidFill>
                  <a:schemeClr val="tx1"/>
                </a:solidFill>
                <a:effectLst/>
                <a:latin typeface="+mn-lt"/>
                <a:ea typeface="+mn-ea"/>
                <a:cs typeface="+mn-cs"/>
              </a:rPr>
              <a:t>dQ</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dP</a:t>
            </a:r>
            <a:r>
              <a:rPr lang="en-US" sz="1200" kern="1200" baseline="30000" dirty="0" err="1">
                <a:solidFill>
                  <a:schemeClr val="tx1"/>
                </a:solidFill>
                <a:effectLst/>
                <a:latin typeface="+mn-lt"/>
                <a:ea typeface="+mn-ea"/>
                <a:cs typeface="+mn-cs"/>
              </a:rPr>
              <a:t>c</a:t>
            </a:r>
            <a:r>
              <a:rPr lang="en-US" sz="1200" kern="1200" dirty="0">
                <a:solidFill>
                  <a:schemeClr val="tx1"/>
                </a:solidFill>
                <a:effectLst/>
                <a:latin typeface="+mn-lt"/>
                <a:ea typeface="+mn-ea"/>
                <a:cs typeface="+mn-cs"/>
              </a:rPr>
              <a:t>, equals 1.04. This indicates how my quantity sold changes with a one unit change in the competitor’s price. Since the product is a substitute, I expect a positive sign, which is what we get.</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 coefficient on Y is 3.09 indicating a normal good. For every 1 point increase in the index of income, you get a 3.09 increase in airline seats sold.</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You can derive elasticities from these numbers.</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There is not much meaning to the intercept here – value of Q is all the independent variables are zero.</a:t>
            </a:r>
          </a:p>
          <a:p>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Note that </a:t>
            </a:r>
            <a:r>
              <a:rPr lang="en-US" sz="1200" kern="1200" dirty="0">
                <a:solidFill>
                  <a:schemeClr val="tx1"/>
                </a:solidFill>
                <a:effectLst/>
                <a:latin typeface="+mn-lt"/>
                <a:ea typeface="+mn-ea"/>
                <a:cs typeface="+mn-cs"/>
              </a:rPr>
              <a:t>R</a:t>
            </a:r>
            <a:r>
              <a:rPr lang="en-US" sz="1200" kern="1200" baseline="30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 (which is not stated on this slide) is now up to 0.88, which mean 88% of the variation in Q is explained by our model, so we are doing much better. R</a:t>
            </a:r>
            <a:r>
              <a:rPr lang="en-US" sz="1200" kern="1200" baseline="30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 always goes up when you include more variables, but how much it goes up matters.</a:t>
            </a:r>
          </a:p>
        </p:txBody>
      </p:sp>
      <p:sp>
        <p:nvSpPr>
          <p:cNvPr id="4" name="Slide Number Placeholder 3"/>
          <p:cNvSpPr>
            <a:spLocks noGrp="1"/>
          </p:cNvSpPr>
          <p:nvPr>
            <p:ph type="sldNum" sz="quarter" idx="5"/>
          </p:nvPr>
        </p:nvSpPr>
        <p:spPr/>
        <p:txBody>
          <a:bodyPr/>
          <a:lstStyle/>
          <a:p>
            <a:fld id="{8D36AC2A-E969-3C46-9ED8-B46D40C5E669}" type="slidenum">
              <a:rPr lang="en-US" smtClean="0"/>
              <a:t>33</a:t>
            </a:fld>
            <a:endParaRPr lang="en-US"/>
          </a:p>
        </p:txBody>
      </p:sp>
    </p:spTree>
    <p:extLst>
      <p:ext uri="{BB962C8B-B14F-4D97-AF65-F5344CB8AC3E}">
        <p14:creationId xmlns:p14="http://schemas.microsoft.com/office/powerpoint/2010/main" val="32079733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36AC2A-E969-3C46-9ED8-B46D40C5E669}" type="slidenum">
              <a:rPr lang="en-US" smtClean="0"/>
              <a:t>34</a:t>
            </a:fld>
            <a:endParaRPr lang="en-US"/>
          </a:p>
        </p:txBody>
      </p:sp>
    </p:spTree>
    <p:extLst>
      <p:ext uri="{BB962C8B-B14F-4D97-AF65-F5344CB8AC3E}">
        <p14:creationId xmlns:p14="http://schemas.microsoft.com/office/powerpoint/2010/main" val="13983017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err="1"/>
              <a:t>Then</a:t>
            </a:r>
            <a:r>
              <a:rPr lang="fr-FR" dirty="0"/>
              <a:t> </a:t>
            </a:r>
            <a:r>
              <a:rPr lang="fr-FR" dirty="0" err="1"/>
              <a:t>we</a:t>
            </a:r>
            <a:r>
              <a:rPr lang="fr-FR" dirty="0"/>
              <a:t> show the graph to </a:t>
            </a:r>
            <a:r>
              <a:rPr lang="fr-FR" dirty="0" err="1"/>
              <a:t>say</a:t>
            </a:r>
            <a:r>
              <a:rPr lang="fr-FR" dirty="0"/>
              <a:t> </a:t>
            </a:r>
            <a:r>
              <a:rPr lang="fr-FR" dirty="0" err="1"/>
              <a:t>that</a:t>
            </a:r>
            <a:r>
              <a:rPr lang="fr-FR" dirty="0"/>
              <a:t> </a:t>
            </a:r>
            <a:r>
              <a:rPr lang="fr-FR" dirty="0" err="1"/>
              <a:t>when</a:t>
            </a:r>
            <a:r>
              <a:rPr lang="fr-FR" dirty="0"/>
              <a:t> MR </a:t>
            </a:r>
            <a:r>
              <a:rPr lang="fr-FR" dirty="0" err="1"/>
              <a:t>is</a:t>
            </a:r>
            <a:r>
              <a:rPr lang="fr-FR" dirty="0"/>
              <a:t> </a:t>
            </a:r>
            <a:r>
              <a:rPr lang="fr-FR" dirty="0" err="1"/>
              <a:t>negative</a:t>
            </a:r>
            <a:r>
              <a:rPr lang="fr-FR" dirty="0"/>
              <a:t> </a:t>
            </a:r>
            <a:r>
              <a:rPr lang="fr-FR" dirty="0" err="1"/>
              <a:t>it</a:t>
            </a:r>
            <a:r>
              <a:rPr lang="fr-FR" dirty="0"/>
              <a:t> </a:t>
            </a:r>
            <a:r>
              <a:rPr lang="fr-FR" dirty="0" err="1"/>
              <a:t>means</a:t>
            </a:r>
            <a:r>
              <a:rPr lang="fr-FR" dirty="0"/>
              <a:t> </a:t>
            </a:r>
            <a:r>
              <a:rPr lang="fr-FR" dirty="0" err="1"/>
              <a:t>you</a:t>
            </a:r>
            <a:r>
              <a:rPr lang="fr-FR" dirty="0"/>
              <a:t> are in the </a:t>
            </a:r>
            <a:r>
              <a:rPr lang="fr-FR" dirty="0" err="1"/>
              <a:t>inelastic</a:t>
            </a:r>
            <a:r>
              <a:rPr lang="fr-FR" dirty="0"/>
              <a:t> portion and in </a:t>
            </a:r>
            <a:r>
              <a:rPr lang="fr-FR" dirty="0" err="1"/>
              <a:t>this</a:t>
            </a:r>
            <a:r>
              <a:rPr lang="fr-FR" dirty="0"/>
              <a:t> portion </a:t>
            </a:r>
            <a:r>
              <a:rPr lang="fr-FR" dirty="0" err="1"/>
              <a:t>you</a:t>
            </a:r>
            <a:r>
              <a:rPr lang="fr-FR" dirty="0"/>
              <a:t> </a:t>
            </a:r>
            <a:r>
              <a:rPr lang="fr-FR" dirty="0" err="1"/>
              <a:t>always</a:t>
            </a:r>
            <a:r>
              <a:rPr lang="fr-FR" dirty="0"/>
              <a:t> </a:t>
            </a:r>
            <a:r>
              <a:rPr lang="fr-FR" dirty="0" err="1"/>
              <a:t>want</a:t>
            </a:r>
            <a:r>
              <a:rPr lang="fr-FR" dirty="0"/>
              <a:t> to </a:t>
            </a:r>
            <a:r>
              <a:rPr lang="fr-FR" dirty="0" err="1"/>
              <a:t>increase</a:t>
            </a:r>
            <a:r>
              <a:rPr lang="fr-FR" dirty="0"/>
              <a:t> the </a:t>
            </a:r>
            <a:r>
              <a:rPr lang="fr-FR" dirty="0" err="1"/>
              <a:t>price</a:t>
            </a:r>
            <a:r>
              <a:rPr lang="fr-FR" dirty="0"/>
              <a:t> + </a:t>
            </a:r>
            <a:r>
              <a:rPr lang="fr-FR" dirty="0" err="1"/>
              <a:t>we</a:t>
            </a:r>
            <a:r>
              <a:rPr lang="fr-FR" dirty="0"/>
              <a:t> can </a:t>
            </a:r>
            <a:r>
              <a:rPr lang="fr-FR" dirty="0" err="1"/>
              <a:t>ask</a:t>
            </a:r>
            <a:r>
              <a:rPr lang="fr-FR" dirty="0"/>
              <a:t> </a:t>
            </a:r>
            <a:r>
              <a:rPr lang="fr-FR" dirty="0" err="1"/>
              <a:t>them</a:t>
            </a:r>
            <a:endParaRPr lang="fr-FR" dirty="0"/>
          </a:p>
          <a:p>
            <a:pPr marL="171450" indent="-171450">
              <a:buFontTx/>
              <a:buChar char="-"/>
            </a:pPr>
            <a:r>
              <a:rPr lang="fr-FR" dirty="0" err="1"/>
              <a:t>Then</a:t>
            </a:r>
            <a:r>
              <a:rPr lang="fr-FR" dirty="0"/>
              <a:t> </a:t>
            </a:r>
            <a:r>
              <a:rPr lang="fr-FR" dirty="0" err="1"/>
              <a:t>which</a:t>
            </a:r>
            <a:r>
              <a:rPr lang="fr-FR" dirty="0"/>
              <a:t> value do </a:t>
            </a:r>
            <a:r>
              <a:rPr lang="fr-FR" dirty="0" err="1"/>
              <a:t>you</a:t>
            </a:r>
            <a:r>
              <a:rPr lang="fr-FR" dirty="0"/>
              <a:t> </a:t>
            </a:r>
            <a:r>
              <a:rPr lang="fr-FR" dirty="0" err="1"/>
              <a:t>expect</a:t>
            </a:r>
            <a:r>
              <a:rPr lang="fr-FR" dirty="0"/>
              <a:t> for the </a:t>
            </a:r>
            <a:r>
              <a:rPr lang="fr-FR" dirty="0" err="1"/>
              <a:t>elasticity</a:t>
            </a:r>
            <a:r>
              <a:rPr lang="fr-FR" dirty="0"/>
              <a:t> at the </a:t>
            </a:r>
            <a:r>
              <a:rPr lang="fr-FR" dirty="0" err="1"/>
              <a:t>current</a:t>
            </a:r>
            <a:r>
              <a:rPr lang="fr-FR" dirty="0"/>
              <a:t> </a:t>
            </a:r>
            <a:r>
              <a:rPr lang="fr-FR" dirty="0" err="1"/>
              <a:t>price</a:t>
            </a:r>
            <a:r>
              <a:rPr lang="fr-FR" dirty="0"/>
              <a:t> (</a:t>
            </a:r>
            <a:r>
              <a:rPr lang="fr-FR" dirty="0" err="1"/>
              <a:t>should</a:t>
            </a:r>
            <a:r>
              <a:rPr lang="fr-FR" dirty="0"/>
              <a:t> </a:t>
            </a:r>
            <a:r>
              <a:rPr lang="fr-FR" dirty="0" err="1"/>
              <a:t>answer</a:t>
            </a:r>
            <a:r>
              <a:rPr lang="fr-FR" dirty="0"/>
              <a:t> </a:t>
            </a:r>
            <a:r>
              <a:rPr lang="fr-FR" dirty="0" err="1"/>
              <a:t>absolute</a:t>
            </a:r>
            <a:r>
              <a:rPr lang="fr-FR" dirty="0"/>
              <a:t> value </a:t>
            </a:r>
            <a:r>
              <a:rPr lang="fr-FR" dirty="0" err="1"/>
              <a:t>below</a:t>
            </a:r>
            <a:r>
              <a:rPr lang="fr-FR" dirty="0"/>
              <a:t> 1)</a:t>
            </a:r>
          </a:p>
          <a:p>
            <a:pPr marL="171450" indent="-171450">
              <a:buFontTx/>
              <a:buChar char="-"/>
            </a:pPr>
            <a:r>
              <a:rPr lang="fr-FR" dirty="0"/>
              <a:t>How </a:t>
            </a:r>
            <a:r>
              <a:rPr lang="fr-FR" dirty="0" err="1"/>
              <a:t>would</a:t>
            </a:r>
            <a:r>
              <a:rPr lang="fr-FR" dirty="0"/>
              <a:t> </a:t>
            </a:r>
            <a:r>
              <a:rPr lang="fr-FR" dirty="0" err="1"/>
              <a:t>you</a:t>
            </a:r>
            <a:r>
              <a:rPr lang="fr-FR" dirty="0"/>
              <a:t> </a:t>
            </a:r>
            <a:r>
              <a:rPr lang="fr-FR" dirty="0" err="1"/>
              <a:t>compute</a:t>
            </a:r>
            <a:r>
              <a:rPr lang="fr-FR" dirty="0"/>
              <a:t> </a:t>
            </a:r>
            <a:r>
              <a:rPr lang="fr-FR" dirty="0" err="1"/>
              <a:t>it</a:t>
            </a:r>
            <a:r>
              <a:rPr lang="fr-FR" dirty="0"/>
              <a:t>? + if time </a:t>
            </a:r>
            <a:r>
              <a:rPr lang="fr-FR" dirty="0" err="1"/>
              <a:t>could</a:t>
            </a:r>
            <a:r>
              <a:rPr lang="fr-FR" dirty="0"/>
              <a:t> </a:t>
            </a:r>
            <a:r>
              <a:rPr lang="fr-FR" dirty="0" err="1"/>
              <a:t>be</a:t>
            </a:r>
            <a:r>
              <a:rPr lang="fr-FR" dirty="0"/>
              <a:t> </a:t>
            </a:r>
            <a:r>
              <a:rPr lang="fr-FR" dirty="0" err="1"/>
              <a:t>done</a:t>
            </a:r>
            <a:r>
              <a:rPr lang="fr-FR" dirty="0"/>
              <a:t> on the </a:t>
            </a:r>
            <a:r>
              <a:rPr lang="fr-FR" dirty="0" err="1"/>
              <a:t>board</a:t>
            </a:r>
            <a:r>
              <a:rPr lang="fr-FR" dirty="0"/>
              <a:t> </a:t>
            </a:r>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36</a:t>
            </a:fld>
            <a:endParaRPr lang="en-US"/>
          </a:p>
        </p:txBody>
      </p:sp>
    </p:spTree>
    <p:extLst>
      <p:ext uri="{BB962C8B-B14F-4D97-AF65-F5344CB8AC3E}">
        <p14:creationId xmlns:p14="http://schemas.microsoft.com/office/powerpoint/2010/main" val="9280760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D36AC2A-E969-3C46-9ED8-B46D40C5E669}" type="slidenum">
              <a:rPr lang="en-US" smtClean="0"/>
              <a:t>38</a:t>
            </a:fld>
            <a:endParaRPr lang="en-US"/>
          </a:p>
        </p:txBody>
      </p:sp>
    </p:spTree>
    <p:extLst>
      <p:ext uri="{BB962C8B-B14F-4D97-AF65-F5344CB8AC3E}">
        <p14:creationId xmlns:p14="http://schemas.microsoft.com/office/powerpoint/2010/main" val="27130074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call this omitted variable bias. </a:t>
            </a:r>
          </a:p>
          <a:p>
            <a:endParaRPr lang="en-US" dirty="0"/>
          </a:p>
          <a:p>
            <a:r>
              <a:rPr lang="en-US" dirty="0"/>
              <a:t>https://www.thegreatcoursesdaily.com/correlation-or-causality-wine-and-heart-health/ </a:t>
            </a:r>
          </a:p>
          <a:p>
            <a:r>
              <a:rPr lang="en-US" dirty="0"/>
              <a:t>“But experts warn that the two studies, both published in the </a:t>
            </a:r>
            <a:r>
              <a:rPr lang="en-US" i="1" dirty="0"/>
              <a:t>Annals of Internal Medicine</a:t>
            </a:r>
            <a:r>
              <a:rPr lang="en-US" dirty="0"/>
              <a:t>, do not show that drinking coffee was behind the overall lower risk, pointing out that it could be that coffee drinkers are healthier in various ways or that those who are unwell drink less coffee. In addition, levels of coffee drinking were self-reported.”</a:t>
            </a:r>
          </a:p>
        </p:txBody>
      </p:sp>
      <p:sp>
        <p:nvSpPr>
          <p:cNvPr id="4" name="Slide Number Placeholder 3"/>
          <p:cNvSpPr>
            <a:spLocks noGrp="1"/>
          </p:cNvSpPr>
          <p:nvPr>
            <p:ph type="sldNum" sz="quarter" idx="10"/>
          </p:nvPr>
        </p:nvSpPr>
        <p:spPr/>
        <p:txBody>
          <a:bodyPr/>
          <a:lstStyle/>
          <a:p>
            <a:fld id="{8D36AC2A-E969-3C46-9ED8-B46D40C5E669}" type="slidenum">
              <a:rPr lang="en-US" smtClean="0"/>
              <a:t>39</a:t>
            </a:fld>
            <a:endParaRPr lang="en-US"/>
          </a:p>
        </p:txBody>
      </p:sp>
    </p:spTree>
    <p:extLst>
      <p:ext uri="{BB962C8B-B14F-4D97-AF65-F5344CB8AC3E}">
        <p14:creationId xmlns:p14="http://schemas.microsoft.com/office/powerpoint/2010/main" val="28846757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F8D68B6-7B24-6146-BD9E-412DC96CF560}"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
        <p:nvSpPr>
          <p:cNvPr id="3" name="Text Placeholder 2"/>
          <p:cNvSpPr>
            <a:spLocks noGrp="1"/>
          </p:cNvSpPr>
          <p:nvPr>
            <p:ph type="body" idx="1"/>
          </p:nvPr>
        </p:nvSpPr>
        <p:spPr>
          <a:xfrm>
            <a:off x="518199" y="2906713"/>
            <a:ext cx="7772400" cy="1500187"/>
          </a:xfrm>
        </p:spPr>
        <p:txBody>
          <a:bodyPr anchor="b">
            <a:normAutofit/>
          </a:bodyPr>
          <a:lstStyle>
            <a:lvl1pPr marL="0" indent="0">
              <a:buNone/>
              <a:defRPr sz="1600">
                <a:solidFill>
                  <a:srgbClr val="1B8BD5"/>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Title Placeholder 1"/>
          <p:cNvSpPr>
            <a:spLocks noGrp="1"/>
          </p:cNvSpPr>
          <p:nvPr>
            <p:ph type="title"/>
          </p:nvPr>
        </p:nvSpPr>
        <p:spPr>
          <a:xfrm>
            <a:off x="518199" y="4401792"/>
            <a:ext cx="8229600" cy="1143000"/>
          </a:xfrm>
          <a:prstGeom prst="rect">
            <a:avLst/>
          </a:prstGeom>
        </p:spPr>
        <p:txBody>
          <a:bodyPr vert="horz" lIns="91440" tIns="45720" rIns="91440" bIns="45720" rtlCol="0" anchor="t" anchorCtr="0">
            <a:normAutofit/>
          </a:bodyPr>
          <a:lstStyle>
            <a:lvl1pPr algn="l">
              <a:defRPr>
                <a:solidFill>
                  <a:schemeClr val="bg1"/>
                </a:solidFill>
              </a:defRPr>
            </a:lvl1pPr>
          </a:lstStyle>
          <a:p>
            <a:r>
              <a:rPr lang="en-US" dirty="0"/>
              <a:t>Click to edit Master title style</a:t>
            </a:r>
          </a:p>
        </p:txBody>
      </p:sp>
      <p:cxnSp>
        <p:nvCxnSpPr>
          <p:cNvPr id="12" name="Straight Connector 11"/>
          <p:cNvCxnSpPr/>
          <p:nvPr userDrawn="1"/>
        </p:nvCxnSpPr>
        <p:spPr>
          <a:xfrm>
            <a:off x="623681" y="4406900"/>
            <a:ext cx="7666919" cy="0"/>
          </a:xfrm>
          <a:prstGeom prst="line">
            <a:avLst/>
          </a:prstGeom>
          <a:ln>
            <a:solidFill>
              <a:schemeClr val="tx2">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82669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F8D68B6-7B24-6146-BD9E-412DC96CF560}" type="datetimeFigureOut">
              <a:rPr lang="en-US" smtClean="0"/>
              <a:t>8/14/2026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42389679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9E111D7-C283-8E4B-AB2F-B2B17B0FC9BC}"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29230289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E111D7-C283-8E4B-AB2F-B2B17B0FC9BC}"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3155173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noAutofit/>
          </a:bodyPr>
          <a:lstStyle>
            <a:lvl1pPr algn="l">
              <a:defRPr sz="32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E111D7-C283-8E4B-AB2F-B2B17B0FC9BC}"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653757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C9E111D7-C283-8E4B-AB2F-B2B17B0FC9BC}"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2144116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C9E111D7-C283-8E4B-AB2F-B2B17B0FC9BC}" type="datetimeFigureOut">
              <a:rPr lang="en-US" smtClean="0"/>
              <a:t>8/14/2026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6831459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9E111D7-C283-8E4B-AB2F-B2B17B0FC9BC}" type="datetimeFigureOut">
              <a:rPr lang="en-US" smtClean="0"/>
              <a:t>8/14/2026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9517368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E111D7-C283-8E4B-AB2F-B2B17B0FC9BC}" type="datetimeFigureOut">
              <a:rPr lang="en-US" smtClean="0"/>
              <a:t>8/14/2026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26587206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E111D7-C283-8E4B-AB2F-B2B17B0FC9BC}"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339650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E111D7-C283-8E4B-AB2F-B2B17B0FC9BC}"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8325473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E111D7-C283-8E4B-AB2F-B2B17B0FC9BC}"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39568116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E111D7-C283-8E4B-AB2F-B2B17B0FC9BC}"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8343928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rebuchet M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F8D68B6-7B24-6146-BD9E-412DC96CF560}"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42927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F8D68B6-7B24-6146-BD9E-412DC96CF560}"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4403235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8D68B6-7B24-6146-BD9E-412DC96CF560}"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2598897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F8D68B6-7B24-6146-BD9E-412DC96CF560}"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0581985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F8D68B6-7B24-6146-BD9E-412DC96CF560}" type="datetimeFigureOut">
              <a:rPr lang="en-US" smtClean="0"/>
              <a:t>8/14/2026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1172138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F8D68B6-7B24-6146-BD9E-412DC96CF560}" type="datetimeFigureOut">
              <a:rPr lang="en-US" smtClean="0"/>
              <a:t>8/14/2026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1808808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8D68B6-7B24-6146-BD9E-412DC96CF560}" type="datetimeFigureOut">
              <a:rPr lang="en-US" smtClean="0"/>
              <a:t>8/14/2026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0461763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8D68B6-7B24-6146-BD9E-412DC96CF560}"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6147271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8D68B6-7B24-6146-BD9E-412DC96CF560}"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6838477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0" y="0"/>
            <a:ext cx="9135241" cy="6858000"/>
          </a:xfrm>
          <a:prstGeom prst="rect">
            <a:avLst/>
          </a:prstGeom>
        </p:spPr>
      </p:pic>
      <p:sp>
        <p:nvSpPr>
          <p:cNvPr id="2" name="Title 1"/>
          <p:cNvSpPr>
            <a:spLocks noGrp="1"/>
          </p:cNvSpPr>
          <p:nvPr>
            <p:ph type="title"/>
          </p:nvPr>
        </p:nvSpPr>
        <p:spPr>
          <a:xfrm>
            <a:off x="3781899" y="-205952"/>
            <a:ext cx="8229600" cy="1143000"/>
          </a:xfrm>
        </p:spPr>
        <p:txBody>
          <a:bodyPr>
            <a:normAutofit/>
          </a:bodyPr>
          <a:lstStyle>
            <a:lvl1pPr algn="l">
              <a:defRPr sz="2000">
                <a:solidFill>
                  <a:schemeClr val="tx2">
                    <a:lumMod val="50000"/>
                  </a:schemeClr>
                </a:solidFill>
                <a:effectLst/>
                <a:latin typeface="Whitney-Book"/>
              </a:defRPr>
            </a:lvl1pPr>
          </a:lstStyle>
          <a:p>
            <a:r>
              <a:rPr lang="en-US" dirty="0"/>
              <a:t>Click to edit Master title style</a:t>
            </a:r>
          </a:p>
        </p:txBody>
      </p:sp>
      <p:sp>
        <p:nvSpPr>
          <p:cNvPr id="3" name="Date Placeholder 2"/>
          <p:cNvSpPr>
            <a:spLocks noGrp="1"/>
          </p:cNvSpPr>
          <p:nvPr>
            <p:ph type="dt" sz="half" idx="10"/>
          </p:nvPr>
        </p:nvSpPr>
        <p:spPr/>
        <p:txBody>
          <a:bodyPr/>
          <a:lstStyle/>
          <a:p>
            <a:fld id="{BF8D68B6-7B24-6146-BD9E-412DC96CF560}" type="datetimeFigureOut">
              <a:rPr lang="en-US" smtClean="0"/>
              <a:pPr/>
              <a:t>8/14/2026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30325317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14" name="Picture 13" descr="LosAngelesPowerpointBkgrd4-3.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3" name="Picture 12" descr="ShanghaiBand3.psd"/>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3396721"/>
            <a:ext cx="7113120" cy="4359992"/>
          </a:xfrm>
          <a:prstGeom prst="rect">
            <a:avLst/>
          </a:prstGeom>
        </p:spPr>
      </p:pic>
      <p:sp>
        <p:nvSpPr>
          <p:cNvPr id="10" name="Rectangle 9"/>
          <p:cNvSpPr/>
          <p:nvPr userDrawn="1"/>
        </p:nvSpPr>
        <p:spPr>
          <a:xfrm>
            <a:off x="402968" y="5520257"/>
            <a:ext cx="167878" cy="461665"/>
          </a:xfrm>
          <a:prstGeom prst="rect">
            <a:avLst/>
          </a:prstGeom>
        </p:spPr>
        <p:txBody>
          <a:bodyPr wrap="square">
            <a:spAutoFit/>
          </a:bodyPr>
          <a:lstStyle/>
          <a:p>
            <a:r>
              <a:rPr lang="en-US" sz="2400" dirty="0">
                <a:solidFill>
                  <a:srgbClr val="E3AA00"/>
                </a:solidFill>
                <a:latin typeface="Arial"/>
                <a:ea typeface="Arial" charset="0"/>
                <a:cs typeface="Arial"/>
                <a:sym typeface="Arial" charset="0"/>
              </a:rPr>
              <a:t> </a:t>
            </a:r>
            <a:endParaRPr lang="en-US" dirty="0"/>
          </a:p>
        </p:txBody>
      </p:sp>
      <p:sp>
        <p:nvSpPr>
          <p:cNvPr id="2" name="Title 1"/>
          <p:cNvSpPr>
            <a:spLocks noGrp="1"/>
          </p:cNvSpPr>
          <p:nvPr>
            <p:ph type="title"/>
          </p:nvPr>
        </p:nvSpPr>
        <p:spPr>
          <a:xfrm>
            <a:off x="3311174" y="510310"/>
            <a:ext cx="5375625" cy="2165983"/>
          </a:xfrm>
        </p:spPr>
        <p:txBody>
          <a:bodyPr anchor="t" anchorCtr="0"/>
          <a:lstStyle>
            <a:lvl1pPr algn="l">
              <a:defRPr baseline="0">
                <a:solidFill>
                  <a:schemeClr val="bg1"/>
                </a:solidFill>
                <a:latin typeface="Whitney-Book"/>
              </a:defRPr>
            </a:lvl1pPr>
          </a:lstStyle>
          <a:p>
            <a:r>
              <a:rPr lang="en-US" dirty="0"/>
              <a:t>Click to edit Master title style</a:t>
            </a:r>
          </a:p>
        </p:txBody>
      </p:sp>
      <p:sp>
        <p:nvSpPr>
          <p:cNvPr id="3" name="Vertical Text Placeholder 2"/>
          <p:cNvSpPr>
            <a:spLocks noGrp="1"/>
          </p:cNvSpPr>
          <p:nvPr>
            <p:ph type="body" orient="vert" idx="1"/>
          </p:nvPr>
        </p:nvSpPr>
        <p:spPr>
          <a:xfrm rot="16200000">
            <a:off x="1086444" y="2810314"/>
            <a:ext cx="3264685" cy="4813070"/>
          </a:xfrm>
        </p:spPr>
        <p:txBody>
          <a:bodyPr vert="eaVert" anchor="t" anchorCtr="0"/>
          <a:lstStyle>
            <a:lvl1pPr>
              <a:defRPr baseline="0">
                <a:latin typeface="Whitney-Book"/>
              </a:defRPr>
            </a:lvl1pPr>
            <a:lvl2pPr>
              <a:defRPr baseline="0">
                <a:latin typeface="Whitney-Book"/>
              </a:defRPr>
            </a:lvl2pPr>
            <a:lvl3pPr>
              <a:defRPr baseline="0">
                <a:latin typeface="Whitney-Book"/>
              </a:defRPr>
            </a:lvl3pPr>
            <a:lvl4pPr>
              <a:defRPr baseline="0">
                <a:latin typeface="Whitney-Book"/>
              </a:defRPr>
            </a:lvl4pPr>
            <a:lvl5pPr>
              <a:defRPr baseline="0">
                <a:latin typeface="Whitney-Book"/>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10"/>
          </p:nvPr>
        </p:nvSpPr>
        <p:spPr/>
        <p:txBody>
          <a:bodyPr/>
          <a:lstStyle/>
          <a:p>
            <a:fld id="{BF8D68B6-7B24-6146-BD9E-412DC96CF560}"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58220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 calcmode="lin" valueType="num">
                                      <p:cBhvr additive="base">
                                        <p:cTn id="2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0" y="-8808"/>
            <a:ext cx="9144000" cy="6858000"/>
          </a:xfrm>
          <a:prstGeom prst="rect">
            <a:avLst/>
          </a:prstGeom>
        </p:spPr>
      </p:pic>
      <p:sp>
        <p:nvSpPr>
          <p:cNvPr id="3" name="Vertical Text Placeholder 2"/>
          <p:cNvSpPr>
            <a:spLocks noGrp="1"/>
          </p:cNvSpPr>
          <p:nvPr>
            <p:ph type="body" orient="vert" idx="1"/>
          </p:nvPr>
        </p:nvSpPr>
        <p:spPr>
          <a:xfrm rot="16200000">
            <a:off x="2544897" y="1421143"/>
            <a:ext cx="3726791" cy="5851525"/>
          </a:xfrm>
        </p:spPr>
        <p:txBody>
          <a:bodyPr vert="eaVert"/>
          <a:lstStyle>
            <a:lvl1pPr>
              <a:defRPr>
                <a:latin typeface="Whitney-Medium"/>
              </a:defRPr>
            </a:lvl1pPr>
            <a:lvl2pPr>
              <a:defRPr>
                <a:latin typeface="Whitney-Medium"/>
              </a:defRPr>
            </a:lvl2pPr>
            <a:lvl3pPr>
              <a:defRPr>
                <a:latin typeface="Whitney-Medium"/>
              </a:defRPr>
            </a:lvl3pPr>
            <a:lvl4pPr>
              <a:defRPr>
                <a:latin typeface="Whitney-Medium"/>
              </a:defRPr>
            </a:lvl4pPr>
            <a:lvl5pPr>
              <a:defRPr>
                <a:latin typeface="Whitney-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F8D68B6-7B24-6146-BD9E-412DC96CF560}"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
        <p:nvSpPr>
          <p:cNvPr id="2" name="Vertical Title 1"/>
          <p:cNvSpPr>
            <a:spLocks noGrp="1"/>
          </p:cNvSpPr>
          <p:nvPr>
            <p:ph type="title" orient="vert"/>
          </p:nvPr>
        </p:nvSpPr>
        <p:spPr>
          <a:xfrm rot="16200000">
            <a:off x="3349120" y="-2112771"/>
            <a:ext cx="1288485" cy="7072320"/>
          </a:xfrm>
        </p:spPr>
        <p:txBody>
          <a:bodyPr vert="eaVert">
            <a:normAutofit/>
          </a:bodyPr>
          <a:lstStyle>
            <a:lvl1pPr>
              <a:defRPr sz="2800">
                <a:latin typeface="Whitney-Medium"/>
              </a:defRPr>
            </a:lvl1pPr>
          </a:lstStyle>
          <a:p>
            <a:r>
              <a:rPr lang="en-US" dirty="0"/>
              <a:t>Click to edit Master title style</a:t>
            </a:r>
          </a:p>
        </p:txBody>
      </p:sp>
    </p:spTree>
    <p:extLst>
      <p:ext uri="{BB962C8B-B14F-4D97-AF65-F5344CB8AC3E}">
        <p14:creationId xmlns:p14="http://schemas.microsoft.com/office/powerpoint/2010/main" val="12014008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12" name="Picture 11" descr="StudentsPPT_Bkgr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Date Placeholder 2"/>
          <p:cNvSpPr>
            <a:spLocks noGrp="1"/>
          </p:cNvSpPr>
          <p:nvPr>
            <p:ph type="dt" sz="half" idx="10"/>
          </p:nvPr>
        </p:nvSpPr>
        <p:spPr/>
        <p:txBody>
          <a:bodyPr/>
          <a:lstStyle/>
          <a:p>
            <a:fld id="{BF8D68B6-7B24-6146-BD9E-412DC96CF560}" type="datetimeFigureOut">
              <a:rPr lang="en-US" smtClean="0"/>
              <a:pPr/>
              <a:t>8/14/2026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p>
        </p:txBody>
      </p:sp>
      <p:pic>
        <p:nvPicPr>
          <p:cNvPr id="10" name="Picture 9" descr="ShanghaiBand-85%.psd"/>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flipH="1" flipV="1">
            <a:off x="3576826" y="3220175"/>
            <a:ext cx="5789714" cy="4036564"/>
          </a:xfrm>
          <a:prstGeom prst="rect">
            <a:avLst/>
          </a:prstGeom>
        </p:spPr>
      </p:pic>
      <p:sp>
        <p:nvSpPr>
          <p:cNvPr id="2" name="Title 1"/>
          <p:cNvSpPr>
            <a:spLocks noGrp="1"/>
          </p:cNvSpPr>
          <p:nvPr>
            <p:ph type="title"/>
          </p:nvPr>
        </p:nvSpPr>
        <p:spPr>
          <a:xfrm>
            <a:off x="5571377" y="3762481"/>
            <a:ext cx="3572624" cy="1349484"/>
          </a:xfrm>
        </p:spPr>
        <p:txBody>
          <a:bodyPr>
            <a:normAutofit/>
          </a:bodyPr>
          <a:lstStyle>
            <a:lvl1pPr algn="l">
              <a:defRPr sz="2000" b="0" i="0">
                <a:solidFill>
                  <a:schemeClr val="bg1"/>
                </a:solidFill>
                <a:latin typeface="Whitney Book"/>
              </a:defRPr>
            </a:lvl1pPr>
          </a:lstStyle>
          <a:p>
            <a:r>
              <a:rPr lang="en-US" dirty="0"/>
              <a:t>Click to edit Master title style</a:t>
            </a:r>
          </a:p>
        </p:txBody>
      </p:sp>
    </p:spTree>
    <p:extLst>
      <p:ext uri="{BB962C8B-B14F-4D97-AF65-F5344CB8AC3E}">
        <p14:creationId xmlns:p14="http://schemas.microsoft.com/office/powerpoint/2010/main" val="1949856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F8D68B6-7B24-6146-BD9E-412DC96CF560}" type="datetimeFigureOut">
              <a:rPr lang="en-US" smtClean="0"/>
              <a:pPr/>
              <a:t>8/14/2026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p>
        </p:txBody>
      </p:sp>
      <p:pic>
        <p:nvPicPr>
          <p:cNvPr id="6" name="Picture 5" descr="2013UCLAAndersonTITN_ppt4-3.gif"/>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50289797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rebuchet M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3C16A1EF-F8D3-2C4C-A23B-DABFF455F73F}" type="datetime1">
              <a:rPr lang="en-US" smtClean="0">
                <a:solidFill>
                  <a:prstClr val="black">
                    <a:lumMod val="75000"/>
                    <a:lumOff val="25000"/>
                  </a:prstClr>
                </a:solidFill>
              </a:rPr>
              <a:pPr/>
              <a:t>8/14/2026</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14573656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Date Placeholder 8"/>
          <p:cNvSpPr>
            <a:spLocks noGrp="1"/>
          </p:cNvSpPr>
          <p:nvPr>
            <p:ph type="dt" sz="half" idx="10"/>
          </p:nvPr>
        </p:nvSpPr>
        <p:spPr/>
        <p:txBody>
          <a:bodyPr/>
          <a:lstStyle/>
          <a:p>
            <a:fld id="{AF541F4B-73DA-634C-9E29-56388643854B}" type="datetime1">
              <a:rPr lang="en-US" smtClean="0">
                <a:solidFill>
                  <a:prstClr val="black">
                    <a:lumMod val="75000"/>
                    <a:lumOff val="25000"/>
                  </a:prstClr>
                </a:solidFill>
              </a:rPr>
              <a:pPr/>
              <a:t>8/14/2026</a:t>
            </a:fld>
            <a:endParaRPr lang="en-US" dirty="0">
              <a:solidFill>
                <a:prstClr val="black">
                  <a:lumMod val="75000"/>
                  <a:lumOff val="25000"/>
                </a:prstClr>
              </a:solidFill>
            </a:endParaRPr>
          </a:p>
        </p:txBody>
      </p:sp>
      <p:sp>
        <p:nvSpPr>
          <p:cNvPr id="10" name="Footer Placeholder 9"/>
          <p:cNvSpPr>
            <a:spLocks noGrp="1"/>
          </p:cNvSpPr>
          <p:nvPr>
            <p:ph type="ftr" sz="quarter" idx="11"/>
          </p:nvPr>
        </p:nvSpPr>
        <p:spPr/>
        <p:txBody>
          <a:bodyPr/>
          <a:lstStyle/>
          <a:p>
            <a:endParaRPr lang="en-US" dirty="0">
              <a:solidFill>
                <a:prstClr val="white">
                  <a:lumMod val="50000"/>
                </a:prstClr>
              </a:solidFill>
            </a:endParaRPr>
          </a:p>
        </p:txBody>
      </p:sp>
      <p:sp>
        <p:nvSpPr>
          <p:cNvPr id="11" name="Slide Number Placeholder 10"/>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306834398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1E59C6B-EB5D-C046-9EA3-3CA9495D4FA9}" type="datetime1">
              <a:rPr lang="en-US" smtClean="0">
                <a:solidFill>
                  <a:prstClr val="black">
                    <a:lumMod val="75000"/>
                    <a:lumOff val="25000"/>
                  </a:prstClr>
                </a:solidFill>
              </a:rPr>
              <a:pPr/>
              <a:t>8/14/2026</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97066173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843CE89-0F10-7242-893C-EB6AB707C3E1}" type="datetime1">
              <a:rPr lang="en-US" smtClean="0">
                <a:solidFill>
                  <a:prstClr val="black">
                    <a:lumMod val="75000"/>
                    <a:lumOff val="25000"/>
                  </a:prstClr>
                </a:solidFill>
              </a:rPr>
              <a:pPr/>
              <a:t>8/14/2026</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06095923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447D4AD-BBAE-3345-8D65-FDA503BCC307}" type="datetime1">
              <a:rPr lang="en-US" smtClean="0">
                <a:solidFill>
                  <a:prstClr val="black">
                    <a:lumMod val="75000"/>
                    <a:lumOff val="25000"/>
                  </a:prstClr>
                </a:solidFill>
              </a:rPr>
              <a:pPr/>
              <a:t>8/14/2026</a:t>
            </a:fld>
            <a:endParaRPr lang="en-US">
              <a:solidFill>
                <a:prstClr val="black">
                  <a:lumMod val="75000"/>
                  <a:lumOff val="25000"/>
                </a:prstClr>
              </a:solidFill>
            </a:endParaRPr>
          </a:p>
        </p:txBody>
      </p:sp>
      <p:sp>
        <p:nvSpPr>
          <p:cNvPr id="8" name="Footer Placeholder 7"/>
          <p:cNvSpPr>
            <a:spLocks noGrp="1"/>
          </p:cNvSpPr>
          <p:nvPr>
            <p:ph type="ftr" sz="quarter" idx="11"/>
          </p:nvPr>
        </p:nvSpPr>
        <p:spPr/>
        <p:txBody>
          <a:bodyPr/>
          <a:lstStyle/>
          <a:p>
            <a:endParaRPr lang="en-US">
              <a:solidFill>
                <a:prstClr val="white">
                  <a:lumMod val="50000"/>
                </a:prstClr>
              </a:solidFill>
            </a:endParaRPr>
          </a:p>
        </p:txBody>
      </p:sp>
      <p:sp>
        <p:nvSpPr>
          <p:cNvPr id="9" name="Slide Number Placeholder 8"/>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24646007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81AFE5B-575B-7C44-8512-74AD30B0897C}" type="datetime1">
              <a:rPr lang="en-US" smtClean="0">
                <a:solidFill>
                  <a:prstClr val="black">
                    <a:lumMod val="75000"/>
                    <a:lumOff val="25000"/>
                  </a:prstClr>
                </a:solidFill>
              </a:rPr>
              <a:pPr/>
              <a:t>8/14/2026</a:t>
            </a:fld>
            <a:endParaRPr lang="en-US">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17518844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EADBD6-357E-6446-973D-D43166770EC1}" type="datetime1">
              <a:rPr lang="en-US" smtClean="0">
                <a:solidFill>
                  <a:prstClr val="black">
                    <a:lumMod val="75000"/>
                    <a:lumOff val="25000"/>
                  </a:prstClr>
                </a:solidFill>
              </a:rPr>
              <a:pPr/>
              <a:t>8/14/2026</a:t>
            </a:fld>
            <a:endParaRPr lang="en-US">
              <a:solidFill>
                <a:prstClr val="black">
                  <a:lumMod val="75000"/>
                  <a:lumOff val="25000"/>
                </a:prstClr>
              </a:solidFill>
            </a:endParaRPr>
          </a:p>
        </p:txBody>
      </p:sp>
      <p:sp>
        <p:nvSpPr>
          <p:cNvPr id="3" name="Footer Placeholder 2"/>
          <p:cNvSpPr>
            <a:spLocks noGrp="1"/>
          </p:cNvSpPr>
          <p:nvPr>
            <p:ph type="ftr" sz="quarter" idx="11"/>
          </p:nvPr>
        </p:nvSpPr>
        <p:spPr/>
        <p:txBody>
          <a:bodyPr/>
          <a:lstStyle/>
          <a:p>
            <a:endParaRPr lang="en-US">
              <a:solidFill>
                <a:prstClr val="white">
                  <a:lumMod val="50000"/>
                </a:prstClr>
              </a:solidFill>
            </a:endParaRPr>
          </a:p>
        </p:txBody>
      </p:sp>
      <p:sp>
        <p:nvSpPr>
          <p:cNvPr id="4" name="Slide Number Placeholder 3"/>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50148302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7ED7A8-0006-294D-BE45-F3E7C3592CEA}" type="datetime1">
              <a:rPr lang="en-US" smtClean="0">
                <a:solidFill>
                  <a:prstClr val="black">
                    <a:lumMod val="75000"/>
                    <a:lumOff val="25000"/>
                  </a:prstClr>
                </a:solidFill>
              </a:rPr>
              <a:pPr/>
              <a:t>8/14/2026</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233017140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9831F3B-0CB8-3743-AFB9-710E8B95EFBB}" type="datetime1">
              <a:rPr lang="en-US" smtClean="0">
                <a:solidFill>
                  <a:prstClr val="black">
                    <a:lumMod val="75000"/>
                    <a:lumOff val="25000"/>
                  </a:prstClr>
                </a:solidFill>
              </a:rPr>
              <a:pPr/>
              <a:t>8/14/2026</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16550650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0" y="0"/>
            <a:ext cx="9135241" cy="6858000"/>
          </a:xfrm>
          <a:prstGeom prst="rect">
            <a:avLst/>
          </a:prstGeom>
        </p:spPr>
      </p:pic>
      <p:sp>
        <p:nvSpPr>
          <p:cNvPr id="2" name="Title 1"/>
          <p:cNvSpPr>
            <a:spLocks noGrp="1"/>
          </p:cNvSpPr>
          <p:nvPr>
            <p:ph type="title"/>
          </p:nvPr>
        </p:nvSpPr>
        <p:spPr>
          <a:xfrm>
            <a:off x="3781899" y="-205952"/>
            <a:ext cx="8229600" cy="1143000"/>
          </a:xfrm>
        </p:spPr>
        <p:txBody>
          <a:bodyPr>
            <a:normAutofit/>
          </a:bodyPr>
          <a:lstStyle>
            <a:lvl1pPr algn="l">
              <a:defRPr sz="2000">
                <a:solidFill>
                  <a:schemeClr val="tx2">
                    <a:lumMod val="50000"/>
                  </a:schemeClr>
                </a:solidFill>
                <a:effectLst/>
                <a:latin typeface="Whitney-Book"/>
              </a:defRPr>
            </a:lvl1pPr>
          </a:lstStyle>
          <a:p>
            <a:r>
              <a:rPr lang="en-US" dirty="0"/>
              <a:t>Click to edit Master title style</a:t>
            </a:r>
          </a:p>
        </p:txBody>
      </p:sp>
      <p:sp>
        <p:nvSpPr>
          <p:cNvPr id="3" name="Date Placeholder 2"/>
          <p:cNvSpPr>
            <a:spLocks noGrp="1"/>
          </p:cNvSpPr>
          <p:nvPr>
            <p:ph type="dt" sz="half" idx="10"/>
          </p:nvPr>
        </p:nvSpPr>
        <p:spPr/>
        <p:txBody>
          <a:bodyPr/>
          <a:lstStyle/>
          <a:p>
            <a:fld id="{B634D085-3135-FC4A-9A84-231E84B61035}" type="datetime1">
              <a:rPr lang="en-US" smtClean="0">
                <a:solidFill>
                  <a:prstClr val="black">
                    <a:lumMod val="75000"/>
                    <a:lumOff val="25000"/>
                  </a:prstClr>
                </a:solidFill>
              </a:rPr>
              <a:pPr/>
              <a:t>8/14/2026</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119059361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14" name="Picture 13" descr="LosAngelesPowerpointBkgrd4-3.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3" name="Picture 12" descr="ShanghaiBand3.psd"/>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3396721"/>
            <a:ext cx="7113120" cy="4359992"/>
          </a:xfrm>
          <a:prstGeom prst="rect">
            <a:avLst/>
          </a:prstGeom>
        </p:spPr>
      </p:pic>
      <p:sp>
        <p:nvSpPr>
          <p:cNvPr id="10" name="Rectangle 9"/>
          <p:cNvSpPr/>
          <p:nvPr userDrawn="1"/>
        </p:nvSpPr>
        <p:spPr>
          <a:xfrm>
            <a:off x="402968" y="5520257"/>
            <a:ext cx="167878" cy="461665"/>
          </a:xfrm>
          <a:prstGeom prst="rect">
            <a:avLst/>
          </a:prstGeom>
        </p:spPr>
        <p:txBody>
          <a:bodyPr wrap="square">
            <a:spAutoFit/>
          </a:bodyPr>
          <a:lstStyle/>
          <a:p>
            <a:r>
              <a:rPr lang="en-US" sz="2400" dirty="0">
                <a:solidFill>
                  <a:srgbClr val="E3AA00"/>
                </a:solidFill>
                <a:latin typeface="Arial"/>
                <a:ea typeface="Arial" charset="0"/>
                <a:cs typeface="Arial"/>
                <a:sym typeface="Arial" charset="0"/>
              </a:rPr>
              <a:t> </a:t>
            </a:r>
            <a:endParaRPr lang="en-US" dirty="0">
              <a:solidFill>
                <a:prstClr val="black"/>
              </a:solidFill>
            </a:endParaRPr>
          </a:p>
        </p:txBody>
      </p:sp>
      <p:sp>
        <p:nvSpPr>
          <p:cNvPr id="2" name="Title 1"/>
          <p:cNvSpPr>
            <a:spLocks noGrp="1"/>
          </p:cNvSpPr>
          <p:nvPr>
            <p:ph type="title"/>
          </p:nvPr>
        </p:nvSpPr>
        <p:spPr>
          <a:xfrm>
            <a:off x="3311174" y="510310"/>
            <a:ext cx="5375625" cy="2165983"/>
          </a:xfrm>
        </p:spPr>
        <p:txBody>
          <a:bodyPr anchor="t" anchorCtr="0"/>
          <a:lstStyle>
            <a:lvl1pPr algn="l">
              <a:defRPr baseline="0">
                <a:solidFill>
                  <a:schemeClr val="bg1"/>
                </a:solidFill>
                <a:latin typeface="Whitney-Book"/>
              </a:defRPr>
            </a:lvl1pPr>
          </a:lstStyle>
          <a:p>
            <a:r>
              <a:rPr lang="en-US" dirty="0"/>
              <a:t>Click to edit Master title style</a:t>
            </a:r>
          </a:p>
        </p:txBody>
      </p:sp>
      <p:sp>
        <p:nvSpPr>
          <p:cNvPr id="3" name="Vertical Text Placeholder 2"/>
          <p:cNvSpPr>
            <a:spLocks noGrp="1"/>
          </p:cNvSpPr>
          <p:nvPr>
            <p:ph type="body" orient="vert" idx="1"/>
          </p:nvPr>
        </p:nvSpPr>
        <p:spPr>
          <a:xfrm rot="16200000">
            <a:off x="1086444" y="2810314"/>
            <a:ext cx="3264685" cy="4813070"/>
          </a:xfrm>
        </p:spPr>
        <p:txBody>
          <a:bodyPr vert="eaVert" anchor="t" anchorCtr="0"/>
          <a:lstStyle>
            <a:lvl1pPr>
              <a:defRPr baseline="0">
                <a:latin typeface="Whitney-Book"/>
              </a:defRPr>
            </a:lvl1pPr>
            <a:lvl2pPr>
              <a:defRPr baseline="0">
                <a:latin typeface="Whitney-Book"/>
              </a:defRPr>
            </a:lvl2pPr>
            <a:lvl3pPr>
              <a:defRPr baseline="0">
                <a:latin typeface="Whitney-Book"/>
              </a:defRPr>
            </a:lvl3pPr>
            <a:lvl4pPr>
              <a:defRPr baseline="0">
                <a:latin typeface="Whitney-Book"/>
              </a:defRPr>
            </a:lvl4pPr>
            <a:lvl5pPr>
              <a:defRPr baseline="0">
                <a:latin typeface="Whitney-Book"/>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10"/>
          </p:nvPr>
        </p:nvSpPr>
        <p:spPr/>
        <p:txBody>
          <a:bodyPr/>
          <a:lstStyle/>
          <a:p>
            <a:fld id="{FB5C6980-FB3F-B643-BBDA-B1757172054E}" type="datetime1">
              <a:rPr lang="en-US" smtClean="0">
                <a:solidFill>
                  <a:prstClr val="black">
                    <a:lumMod val="75000"/>
                    <a:lumOff val="25000"/>
                  </a:prstClr>
                </a:solidFill>
              </a:rPr>
              <a:pPr/>
              <a:t>8/14/2026</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00506496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0" y="-8808"/>
            <a:ext cx="9144000" cy="6858000"/>
          </a:xfrm>
          <a:prstGeom prst="rect">
            <a:avLst/>
          </a:prstGeom>
        </p:spPr>
      </p:pic>
      <p:sp>
        <p:nvSpPr>
          <p:cNvPr id="3" name="Vertical Text Placeholder 2"/>
          <p:cNvSpPr>
            <a:spLocks noGrp="1"/>
          </p:cNvSpPr>
          <p:nvPr>
            <p:ph type="body" orient="vert" idx="1"/>
          </p:nvPr>
        </p:nvSpPr>
        <p:spPr>
          <a:xfrm rot="16200000">
            <a:off x="2544897" y="1421143"/>
            <a:ext cx="3726791" cy="5851525"/>
          </a:xfrm>
        </p:spPr>
        <p:txBody>
          <a:bodyPr vert="eaVert"/>
          <a:lstStyle>
            <a:lvl1pPr>
              <a:defRPr>
                <a:latin typeface="Whitney-Medium"/>
              </a:defRPr>
            </a:lvl1pPr>
            <a:lvl2pPr>
              <a:defRPr>
                <a:latin typeface="Whitney-Medium"/>
              </a:defRPr>
            </a:lvl2pPr>
            <a:lvl3pPr>
              <a:defRPr>
                <a:latin typeface="Whitney-Medium"/>
              </a:defRPr>
            </a:lvl3pPr>
            <a:lvl4pPr>
              <a:defRPr>
                <a:latin typeface="Whitney-Medium"/>
              </a:defRPr>
            </a:lvl4pPr>
            <a:lvl5pPr>
              <a:defRPr>
                <a:latin typeface="Whitney-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C935DF3-9DEA-544D-8F00-A2AC9DF52A4B}" type="datetime1">
              <a:rPr lang="en-US" smtClean="0">
                <a:solidFill>
                  <a:prstClr val="black">
                    <a:lumMod val="75000"/>
                    <a:lumOff val="25000"/>
                  </a:prstClr>
                </a:solidFill>
              </a:rPr>
              <a:pPr/>
              <a:t>8/14/2026</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
        <p:nvSpPr>
          <p:cNvPr id="2" name="Vertical Title 1"/>
          <p:cNvSpPr>
            <a:spLocks noGrp="1"/>
          </p:cNvSpPr>
          <p:nvPr>
            <p:ph type="title" orient="vert"/>
          </p:nvPr>
        </p:nvSpPr>
        <p:spPr>
          <a:xfrm rot="16200000">
            <a:off x="3349120" y="-2112771"/>
            <a:ext cx="1288485" cy="7072320"/>
          </a:xfrm>
        </p:spPr>
        <p:txBody>
          <a:bodyPr vert="eaVert">
            <a:normAutofit/>
          </a:bodyPr>
          <a:lstStyle>
            <a:lvl1pPr>
              <a:defRPr sz="2800">
                <a:latin typeface="Whitney-Medium"/>
              </a:defRPr>
            </a:lvl1pPr>
          </a:lstStyle>
          <a:p>
            <a:r>
              <a:rPr lang="en-US" dirty="0"/>
              <a:t>Click to edit Master title style</a:t>
            </a:r>
          </a:p>
        </p:txBody>
      </p:sp>
    </p:spTree>
    <p:extLst>
      <p:ext uri="{BB962C8B-B14F-4D97-AF65-F5344CB8AC3E}">
        <p14:creationId xmlns:p14="http://schemas.microsoft.com/office/powerpoint/2010/main" val="403289165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12" name="Picture 11" descr="StudentsPPT_Bkgr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Date Placeholder 2"/>
          <p:cNvSpPr>
            <a:spLocks noGrp="1"/>
          </p:cNvSpPr>
          <p:nvPr>
            <p:ph type="dt" sz="half" idx="10"/>
          </p:nvPr>
        </p:nvSpPr>
        <p:spPr/>
        <p:txBody>
          <a:bodyPr/>
          <a:lstStyle/>
          <a:p>
            <a:fld id="{AB1105CF-9EA3-6E4A-B446-49944784288B}" type="datetime1">
              <a:rPr lang="en-US" smtClean="0">
                <a:solidFill>
                  <a:prstClr val="black">
                    <a:lumMod val="75000"/>
                    <a:lumOff val="25000"/>
                  </a:prstClr>
                </a:solidFill>
              </a:rPr>
              <a:pPr/>
              <a:t>8/14/2026</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solidFill>
                <a:prstClr val="black"/>
              </a:solidFill>
            </a:endParaRPr>
          </a:p>
        </p:txBody>
      </p:sp>
      <p:pic>
        <p:nvPicPr>
          <p:cNvPr id="10" name="Picture 9" descr="ShanghaiBand-85%.psd"/>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flipH="1" flipV="1">
            <a:off x="3576826" y="3220175"/>
            <a:ext cx="5789714" cy="4036564"/>
          </a:xfrm>
          <a:prstGeom prst="rect">
            <a:avLst/>
          </a:prstGeom>
        </p:spPr>
      </p:pic>
      <p:sp>
        <p:nvSpPr>
          <p:cNvPr id="2" name="Title 1"/>
          <p:cNvSpPr>
            <a:spLocks noGrp="1"/>
          </p:cNvSpPr>
          <p:nvPr>
            <p:ph type="title"/>
          </p:nvPr>
        </p:nvSpPr>
        <p:spPr>
          <a:xfrm>
            <a:off x="5571377" y="3762481"/>
            <a:ext cx="3572624" cy="1349484"/>
          </a:xfrm>
        </p:spPr>
        <p:txBody>
          <a:bodyPr>
            <a:normAutofit/>
          </a:bodyPr>
          <a:lstStyle>
            <a:lvl1pPr algn="l">
              <a:defRPr sz="2000" b="0" i="0">
                <a:solidFill>
                  <a:schemeClr val="bg1"/>
                </a:solidFill>
                <a:latin typeface="Whitney Book"/>
              </a:defRPr>
            </a:lvl1pPr>
          </a:lstStyle>
          <a:p>
            <a:r>
              <a:rPr lang="en-US" dirty="0"/>
              <a:t>Click to edit Master title style</a:t>
            </a:r>
          </a:p>
        </p:txBody>
      </p:sp>
    </p:spTree>
    <p:extLst>
      <p:ext uri="{BB962C8B-B14F-4D97-AF65-F5344CB8AC3E}">
        <p14:creationId xmlns:p14="http://schemas.microsoft.com/office/powerpoint/2010/main" val="2667884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288D68B0-69D4-C442-8BE8-D78CC592EE29}" type="datetime1">
              <a:rPr lang="en-US" smtClean="0">
                <a:solidFill>
                  <a:prstClr val="black">
                    <a:lumMod val="75000"/>
                    <a:lumOff val="25000"/>
                  </a:prstClr>
                </a:solidFill>
              </a:rPr>
              <a:pPr/>
              <a:t>8/14/2026</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solidFill>
                <a:prstClr val="black"/>
              </a:solidFill>
            </a:endParaRPr>
          </a:p>
        </p:txBody>
      </p:sp>
      <p:pic>
        <p:nvPicPr>
          <p:cNvPr id="6" name="Picture 5" descr="2013UCLAAndersonTITN_ppt4-3.gif"/>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62810727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emf"/><Relationship Id="rId4" Type="http://schemas.openxmlformats.org/officeDocument/2006/relationships/image" Target="../media/image1.gi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image" Target="../media/image3.jpeg"/><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4.gif"/></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6" Type="http://schemas.openxmlformats.org/officeDocument/2006/relationships/image" Target="../media/image4.gif"/><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3.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2" Type="http://schemas.openxmlformats.org/officeDocument/2006/relationships/slideLayout" Target="../slideLayouts/slideLayout29.xml"/><Relationship Id="rId16" Type="http://schemas.openxmlformats.org/officeDocument/2006/relationships/image" Target="../media/image4.gif"/><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theme" Target="../theme/theme4.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2013UCLAAndersonLogoScreen4-3.gif"/>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4" name="Picture 13"/>
          <p:cNvPicPr>
            <a:picLocks/>
          </p:cNvPicPr>
          <p:nvPr userDrawn="1"/>
        </p:nvPicPr>
        <p:blipFill>
          <a:blip r:embed="rId5"/>
          <a:stretch>
            <a:fillRect/>
          </a:stretch>
        </p:blipFill>
        <p:spPr>
          <a:xfrm>
            <a:off x="786049" y="5935664"/>
            <a:ext cx="1973580" cy="381000"/>
          </a:xfrm>
          <a:prstGeom prst="rect">
            <a:avLst/>
          </a:prstGeom>
        </p:spPr>
      </p:pic>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7297" y="1417639"/>
            <a:ext cx="7934131" cy="4708525"/>
          </a:xfrm>
          <a:prstGeom prst="rect">
            <a:avLst/>
          </a:prstGeom>
        </p:spPr>
        <p:txBody>
          <a:bodyPr vert="horz" lIns="91440" tIns="45720" rIns="91440" bIns="45720" rtlCol="0">
            <a:normAutofit/>
          </a:bodyPr>
          <a:lstStyle/>
          <a:p>
            <a:pPr lvl="0"/>
            <a:r>
              <a:rPr lang="en-US" dirty="0"/>
              <a:t>Click to edit Master text styles</a:t>
            </a:r>
          </a:p>
        </p:txBody>
      </p:sp>
      <p:sp>
        <p:nvSpPr>
          <p:cNvPr id="4" name="Date Placeholder 3"/>
          <p:cNvSpPr>
            <a:spLocks noGrp="1"/>
          </p:cNvSpPr>
          <p:nvPr>
            <p:ph type="dt" sz="half" idx="2"/>
          </p:nvPr>
        </p:nvSpPr>
        <p:spPr>
          <a:xfrm>
            <a:off x="151030" y="6356351"/>
            <a:ext cx="2133600" cy="365125"/>
          </a:xfrm>
          <a:prstGeom prst="rect">
            <a:avLst/>
          </a:prstGeom>
        </p:spPr>
        <p:txBody>
          <a:bodyPr vert="horz" lIns="91440" tIns="45720" rIns="91440" bIns="45720" rtlCol="0" anchor="ctr"/>
          <a:lstStyle>
            <a:lvl1pPr algn="l">
              <a:defRPr sz="1000" kern="900" spc="400">
                <a:solidFill>
                  <a:schemeClr val="bg1"/>
                </a:solidFill>
                <a:latin typeface=""/>
              </a:defRPr>
            </a:lvl1pPr>
          </a:lstStyle>
          <a:p>
            <a:fld id="{BF8D68B6-7B24-6146-BD9E-412DC96CF560}" type="datetimeFigureOut">
              <a:rPr lang="en-US" smtClean="0"/>
              <a:pPr/>
              <a:t>8/14/2026</a:t>
            </a:fld>
            <a:endParaRPr lang="en-US" dirty="0"/>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4290648545"/>
      </p:ext>
    </p:extLst>
  </p:cSld>
  <p:clrMap bg1="lt1" tx1="dk1" bg2="lt2" tx2="dk2" accent1="accent1" accent2="accent2" accent3="accent3" accent4="accent4" accent5="accent5" accent6="accent6" hlink="hlink" folHlink="folHlink"/>
  <p:sldLayoutIdLst>
    <p:sldLayoutId id="2147483712" r:id="rId1"/>
    <p:sldLayoutId id="2147483715" r:id="rId2"/>
  </p:sldLayoutIdLst>
  <p:txStyles>
    <p:titleStyle>
      <a:lvl1pPr algn="ctr" defTabSz="457200" rtl="0" eaLnBrk="1" latinLnBrk="0" hangingPunct="1">
        <a:spcBef>
          <a:spcPct val="0"/>
        </a:spcBef>
        <a:buNone/>
        <a:defRPr sz="3000" b="0" i="0" kern="1200" cap="all" spc="400">
          <a:solidFill>
            <a:schemeClr val="bg1"/>
          </a:solidFill>
          <a:latin typeface="Whitney Book"/>
          <a:ea typeface="+mj-ea"/>
          <a:cs typeface="+mj-cs"/>
        </a:defRPr>
      </a:lvl1pPr>
    </p:titleStyle>
    <p:bodyStyle>
      <a:lvl1pPr marL="0" indent="0" algn="l" defTabSz="457200" rtl="0" eaLnBrk="1" latinLnBrk="0" hangingPunct="1">
        <a:spcBef>
          <a:spcPct val="20000"/>
        </a:spcBef>
        <a:buClr>
          <a:srgbClr val="1B8BD5"/>
        </a:buClr>
        <a:buFontTx/>
        <a:buNone/>
        <a:defRPr sz="3200" kern="1100" spc="50" normalizeH="0" baseline="0">
          <a:solidFill>
            <a:schemeClr val="tx2">
              <a:lumMod val="75000"/>
            </a:schemeClr>
          </a:solidFill>
          <a:latin typeface="Whitney-Book"/>
          <a:ea typeface="+mn-ea"/>
          <a:cs typeface="+mn-cs"/>
        </a:defRPr>
      </a:lvl1pPr>
      <a:lvl2pPr marL="457200" indent="0" algn="l" defTabSz="457200" rtl="0" eaLnBrk="1" latinLnBrk="0" hangingPunct="1">
        <a:spcBef>
          <a:spcPct val="20000"/>
        </a:spcBef>
        <a:buClr>
          <a:srgbClr val="1B8BD5"/>
        </a:buClr>
        <a:buFontTx/>
        <a:buNone/>
        <a:defRPr sz="2800" kern="1100" spc="50" normalizeH="0" baseline="0">
          <a:solidFill>
            <a:schemeClr val="tx2">
              <a:lumMod val="75000"/>
            </a:schemeClr>
          </a:solidFill>
          <a:latin typeface="Whitney-Book"/>
          <a:ea typeface="+mn-ea"/>
          <a:cs typeface="+mn-cs"/>
        </a:defRPr>
      </a:lvl2pPr>
      <a:lvl3pPr marL="914400" indent="0" algn="l" defTabSz="457200" rtl="0" eaLnBrk="1" latinLnBrk="0" hangingPunct="1">
        <a:spcBef>
          <a:spcPct val="20000"/>
        </a:spcBef>
        <a:buClr>
          <a:srgbClr val="1B8BD5"/>
        </a:buClr>
        <a:buFontTx/>
        <a:buNone/>
        <a:defRPr sz="2400" kern="1100" spc="50" normalizeH="0" baseline="0">
          <a:solidFill>
            <a:schemeClr val="tx2">
              <a:lumMod val="75000"/>
            </a:schemeClr>
          </a:solidFill>
          <a:latin typeface="Whitney-Book"/>
          <a:ea typeface="+mn-ea"/>
          <a:cs typeface="+mn-cs"/>
        </a:defRPr>
      </a:lvl3pPr>
      <a:lvl4pPr marL="1371600" indent="0" algn="l" defTabSz="457200" rtl="0" eaLnBrk="1" latinLnBrk="0" hangingPunct="1">
        <a:spcBef>
          <a:spcPct val="20000"/>
        </a:spcBef>
        <a:buClr>
          <a:srgbClr val="1B8BD5"/>
        </a:buClr>
        <a:buFontTx/>
        <a:buNone/>
        <a:defRPr sz="2000" kern="1100" spc="50" normalizeH="0" baseline="0">
          <a:solidFill>
            <a:schemeClr val="tx2">
              <a:lumMod val="75000"/>
            </a:schemeClr>
          </a:solidFill>
          <a:latin typeface="Whitney-Book"/>
          <a:ea typeface="+mn-ea"/>
          <a:cs typeface="+mn-cs"/>
        </a:defRPr>
      </a:lvl4pPr>
      <a:lvl5pPr marL="1828800" indent="0" algn="l" defTabSz="457200" rtl="0" eaLnBrk="1" latinLnBrk="0" hangingPunct="1">
        <a:spcBef>
          <a:spcPct val="20000"/>
        </a:spcBef>
        <a:buClr>
          <a:srgbClr val="1B8BD5"/>
        </a:buClr>
        <a:buFontTx/>
        <a:buNone/>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810698" y="0"/>
            <a:ext cx="9954698" cy="4782311"/>
          </a:xfrm>
          <a:prstGeom prst="rect">
            <a:avLst/>
          </a:prstGeom>
        </p:spPr>
      </p:pic>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952530" y="1600201"/>
            <a:ext cx="7836326"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E111D7-C283-8E4B-AB2F-B2B17B0FC9BC}" type="datetimeFigureOut">
              <a:rPr lang="en-US" smtClean="0"/>
              <a:t>8/14/2026</a:t>
            </a:fld>
            <a:endParaRPr lang="en-US" dirty="0"/>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4DDD2-D94C-1147-A389-2CD6A7EEF184}" type="slidenum">
              <a:rPr lang="en-US" smtClean="0"/>
              <a:t>‹#›</a:t>
            </a:fld>
            <a:endParaRPr lang="en-US"/>
          </a:p>
        </p:txBody>
      </p:sp>
      <p:pic>
        <p:nvPicPr>
          <p:cNvPr id="8" name="Picture 7" descr="AndersonLogo_TITN.gif"/>
          <p:cNvPicPr>
            <a:picLocks/>
          </p:cNvPicPr>
          <p:nvPr userDrawn="1"/>
        </p:nvPicPr>
        <p:blipFill>
          <a:blip r:embed="rId14" cstate="screen">
            <a:extLst>
              <a:ext uri="{28A0092B-C50C-407E-A947-70E740481C1C}">
                <a14:useLocalDpi xmlns:a14="http://schemas.microsoft.com/office/drawing/2010/main"/>
              </a:ext>
            </a:extLst>
          </a:blip>
          <a:stretch>
            <a:fillRect/>
          </a:stretch>
        </p:blipFill>
        <p:spPr>
          <a:xfrm>
            <a:off x="1205668" y="6197715"/>
            <a:ext cx="2194560" cy="438573"/>
          </a:xfrm>
          <a:prstGeom prst="rect">
            <a:avLst/>
          </a:prstGeom>
        </p:spPr>
      </p:pic>
    </p:spTree>
    <p:extLst>
      <p:ext uri="{BB962C8B-B14F-4D97-AF65-F5344CB8AC3E}">
        <p14:creationId xmlns:p14="http://schemas.microsoft.com/office/powerpoint/2010/main" val="342558120"/>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ctr" defTabSz="457200" rtl="0" eaLnBrk="1" latinLnBrk="0" hangingPunct="1">
        <a:spcBef>
          <a:spcPct val="0"/>
        </a:spcBef>
        <a:buNone/>
        <a:defRPr sz="2800" kern="1200" cap="all" spc="4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1pPr>
      <a:lvl2pPr marL="742950" indent="-28575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2pPr>
      <a:lvl3pPr marL="1143000" indent="-2286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3pPr>
      <a:lvl4pPr marL="1600200" indent="-2286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4pPr>
      <a:lvl5pPr marL="2057400" indent="-2286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ndersonLogo_TITN.gif"/>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a:off x="684045" y="6073371"/>
            <a:ext cx="2194560" cy="422910"/>
          </a:xfrm>
          <a:prstGeom prst="rect">
            <a:avLst/>
          </a:prstGeom>
        </p:spPr>
      </p:pic>
      <p:sp>
        <p:nvSpPr>
          <p:cNvPr id="2" name="Title Placeholder 1"/>
          <p:cNvSpPr>
            <a:spLocks noGrp="1"/>
          </p:cNvSpPr>
          <p:nvPr>
            <p:ph type="title"/>
          </p:nvPr>
        </p:nvSpPr>
        <p:spPr>
          <a:xfrm>
            <a:off x="457200" y="127215"/>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419985"/>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54645" y="6484067"/>
            <a:ext cx="2133600" cy="365125"/>
          </a:xfrm>
          <a:prstGeom prst="rect">
            <a:avLst/>
          </a:prstGeom>
        </p:spPr>
        <p:txBody>
          <a:bodyPr vert="horz" lIns="91440" tIns="45720" rIns="91440" bIns="45720" rtlCol="0" anchor="ctr"/>
          <a:lstStyle>
            <a:lvl1pPr algn="l">
              <a:defRPr sz="800" kern="800" spc="400">
                <a:solidFill>
                  <a:schemeClr val="tx1">
                    <a:lumMod val="75000"/>
                    <a:lumOff val="25000"/>
                  </a:schemeClr>
                </a:solidFill>
                <a:latin typeface=""/>
              </a:defRPr>
            </a:lvl1pPr>
          </a:lstStyle>
          <a:p>
            <a:fld id="{BF8D68B6-7B24-6146-BD9E-412DC96CF560}" type="datetimeFigureOut">
              <a:rPr lang="en-US" smtClean="0"/>
              <a:pPr/>
              <a:t>8/14/2026</a:t>
            </a:fld>
            <a:endParaRPr lang="en-US" dirty="0"/>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2217867851"/>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7" r:id="rId10"/>
    <p:sldLayoutId id="2147483734" r:id="rId11"/>
    <p:sldLayoutId id="2147483735" r:id="rId12"/>
    <p:sldLayoutId id="2147483738" r:id="rId13"/>
    <p:sldLayoutId id="2147483768" r:id="rId14"/>
  </p:sldLayoutIdLst>
  <p:txStyles>
    <p:title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ndersonLogo_TITN.gif"/>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a:off x="684045" y="6073371"/>
            <a:ext cx="2194560" cy="422910"/>
          </a:xfrm>
          <a:prstGeom prst="rect">
            <a:avLst/>
          </a:prstGeom>
        </p:spPr>
      </p:pic>
      <p:sp>
        <p:nvSpPr>
          <p:cNvPr id="2" name="Title Placeholder 1"/>
          <p:cNvSpPr>
            <a:spLocks noGrp="1"/>
          </p:cNvSpPr>
          <p:nvPr>
            <p:ph type="title"/>
          </p:nvPr>
        </p:nvSpPr>
        <p:spPr>
          <a:xfrm>
            <a:off x="457200" y="127215"/>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419985"/>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54645" y="6484067"/>
            <a:ext cx="2133600" cy="365125"/>
          </a:xfrm>
          <a:prstGeom prst="rect">
            <a:avLst/>
          </a:prstGeom>
        </p:spPr>
        <p:txBody>
          <a:bodyPr vert="horz" lIns="91440" tIns="45720" rIns="91440" bIns="45720" rtlCol="0" anchor="ctr"/>
          <a:lstStyle>
            <a:lvl1pPr algn="l">
              <a:defRPr sz="800" kern="800" spc="400">
                <a:solidFill>
                  <a:schemeClr val="tx1">
                    <a:lumMod val="75000"/>
                    <a:lumOff val="25000"/>
                  </a:schemeClr>
                </a:solidFill>
                <a:latin typeface=""/>
              </a:defRPr>
            </a:lvl1pPr>
          </a:lstStyle>
          <a:p>
            <a:fld id="{4E0049A5-3BC7-C248-9551-30ECA52D2877}" type="datetime1">
              <a:rPr lang="en-US" smtClean="0">
                <a:solidFill>
                  <a:prstClr val="black">
                    <a:lumMod val="75000"/>
                    <a:lumOff val="25000"/>
                  </a:prstClr>
                </a:solidFill>
              </a:rPr>
              <a:pPr/>
              <a:t>8/14/2026</a:t>
            </a:fld>
            <a:endParaRPr lang="en-US" dirty="0">
              <a:solidFill>
                <a:prstClr val="black">
                  <a:lumMod val="75000"/>
                  <a:lumOff val="25000"/>
                </a:prstClr>
              </a:solidFill>
            </a:endParaRPr>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solidFill>
                <a:prstClr val="white">
                  <a:lumMod val="50000"/>
                </a:prstClr>
              </a:solidFill>
            </a:endParaRPr>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847157103"/>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 id="2147483782" r:id="rId13"/>
    <p:sldLayoutId id="2147483783" r:id="rId14"/>
  </p:sldLayoutIdLst>
  <p:hf hdr="0" ftr="0" dt="0"/>
  <p:txStyles>
    <p:title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5.xml"/><Relationship Id="rId1" Type="http://schemas.openxmlformats.org/officeDocument/2006/relationships/tags" Target="../tags/tag2.xml"/><Relationship Id="rId4" Type="http://schemas.openxmlformats.org/officeDocument/2006/relationships/image" Target="../media/image49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5.xml"/><Relationship Id="rId1" Type="http://schemas.openxmlformats.org/officeDocument/2006/relationships/tags" Target="../tags/tag3.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0.xml"/><Relationship Id="rId1" Type="http://schemas.openxmlformats.org/officeDocument/2006/relationships/tags" Target="../tags/tag4.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5.xml"/><Relationship Id="rId1" Type="http://schemas.openxmlformats.org/officeDocument/2006/relationships/tags" Target="../tags/tag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5.xml"/><Relationship Id="rId1" Type="http://schemas.openxmlformats.org/officeDocument/2006/relationships/tags" Target="../tags/tag6.xml"/></Relationships>
</file>

<file path=ppt/slides/_rels/slide14.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5.xml"/><Relationship Id="rId1" Type="http://schemas.openxmlformats.org/officeDocument/2006/relationships/slideLayout" Target="../slideLayouts/slideLayout15.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0.xml"/><Relationship Id="rId1" Type="http://schemas.openxmlformats.org/officeDocument/2006/relationships/tags" Target="../tags/tag7.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7.xml"/><Relationship Id="rId1" Type="http://schemas.openxmlformats.org/officeDocument/2006/relationships/slideLayout" Target="../slideLayouts/slideLayout15.xml"/><Relationship Id="rId4" Type="http://schemas.openxmlformats.org/officeDocument/2006/relationships/image" Target="NUL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5.xml"/><Relationship Id="rId1" Type="http://schemas.openxmlformats.org/officeDocument/2006/relationships/tags" Target="../tags/tag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21.xml"/><Relationship Id="rId1" Type="http://schemas.openxmlformats.org/officeDocument/2006/relationships/slideLayout" Target="../slideLayouts/slideLayout15.xml"/><Relationship Id="rId4" Type="http://schemas.openxmlformats.org/officeDocument/2006/relationships/image" Target="../media/image28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23.xml"/><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5.xml"/><Relationship Id="rId1" Type="http://schemas.openxmlformats.org/officeDocument/2006/relationships/slideLayout" Target="../slideLayouts/slideLayout15.xml"/><Relationship Id="rId5" Type="http://schemas.openxmlformats.org/officeDocument/2006/relationships/image" Target="../media/image67.png"/><Relationship Id="rId4" Type="http://schemas.openxmlformats.org/officeDocument/2006/relationships/image" Target="../media/image66.png"/></Relationships>
</file>

<file path=ppt/slides/_rels/slide32.xml.rels><?xml version="1.0" encoding="UTF-8" standalone="yes"?>
<Relationships xmlns="http://schemas.openxmlformats.org/package/2006/relationships"><Relationship Id="rId3" Type="http://schemas.openxmlformats.org/officeDocument/2006/relationships/image" Target="../media/image511.png"/><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27.xml"/><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14.xml"/><Relationship Id="rId4" Type="http://schemas.openxmlformats.org/officeDocument/2006/relationships/image" Target="../media/image17.jpg"/></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14.xml"/><Relationship Id="rId5" Type="http://schemas.openxmlformats.org/officeDocument/2006/relationships/image" Target="../media/image19.jpg"/><Relationship Id="rId4" Type="http://schemas.openxmlformats.org/officeDocument/2006/relationships/image" Target="../media/image18.png"/></Relationships>
</file>

<file path=ppt/slides/_rels/slide40.xml.rels><?xml version="1.0" encoding="UTF-8" standalone="yes"?>
<Relationships xmlns="http://schemas.openxmlformats.org/package/2006/relationships"><Relationship Id="rId3" Type="http://schemas.openxmlformats.org/officeDocument/2006/relationships/hyperlink" Target="https://www.tylervigen.com/spurious-correlations" TargetMode="External"/><Relationship Id="rId2" Type="http://schemas.openxmlformats.org/officeDocument/2006/relationships/image" Target="../media/image20.pn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6115" y="4406901"/>
            <a:ext cx="7772400" cy="1362075"/>
          </a:xfrm>
        </p:spPr>
        <p:txBody>
          <a:bodyPr>
            <a:normAutofit/>
          </a:bodyPr>
          <a:lstStyle/>
          <a:p>
            <a:r>
              <a:rPr lang="en-US" noProof="0" dirty="0"/>
              <a:t>Module 2 – Video 1</a:t>
            </a:r>
            <a:br>
              <a:rPr lang="en-US" noProof="0" dirty="0"/>
            </a:br>
            <a:r>
              <a:rPr lang="en-US" noProof="0" dirty="0"/>
              <a:t>Demand and Revenue</a:t>
            </a:r>
            <a:endParaRPr lang="en-US" b="0" noProof="0" dirty="0"/>
          </a:p>
        </p:txBody>
      </p:sp>
      <p:sp>
        <p:nvSpPr>
          <p:cNvPr id="3" name="Text Placeholder 2"/>
          <p:cNvSpPr>
            <a:spLocks noGrp="1"/>
          </p:cNvSpPr>
          <p:nvPr>
            <p:ph type="body" idx="1"/>
          </p:nvPr>
        </p:nvSpPr>
        <p:spPr/>
        <p:txBody>
          <a:bodyPr>
            <a:normAutofit/>
          </a:bodyPr>
          <a:lstStyle/>
          <a:p>
            <a:r>
              <a:rPr lang="en-US" sz="2400" dirty="0"/>
              <a:t>Professor Nico Voigtländer</a:t>
            </a:r>
          </a:p>
          <a:p>
            <a:r>
              <a:rPr lang="en-US" sz="2400" dirty="0"/>
              <a:t>Management 405: Module 2</a:t>
            </a:r>
          </a:p>
        </p:txBody>
      </p:sp>
      <p:pic>
        <p:nvPicPr>
          <p:cNvPr id="4" name="Picture 2" descr="data:image/png;base64,iVBORw0KGgoAAAANSUhEUgAAAgQAAABiCAMAAAAY7jvKAAAAw1BMVEX///8Qe7YjHyAAdrQAAACEttYAcrLF3OsbFhcgHB0AeLUIAAAdGBkAdbNqaGkPCAr5+flbWVre3t4WEBH09PR6eHkchr0zLzCYl5hUUVI7ODlwbm9VncgUDg/T09MuKivAv8Dn5ufv9fmMiopMSEmlpKWwr69JlsREQUKCgIE3NDXb2tuLiYrDw8PNzMxsamuqqaptq9Dk8Pat0eWQutibxd7Q4+9opcwwjL+4z+PK4O7a7PSbxN4iib681eePttVssNPmOyI8AAAa7UlEQVR4nO2dB3ujPBKACdY6NJvqHgy4EFzjzbZs+XL3/3/VqUtgitfxnXO7nufuy9oSAjMvo5lRQfnw58hP5SbnSeuPkfb9te/l/63c/TFyg+BsubbqLic3CM6Wa6vucnKD4Gy5tuouJzcIzpZrq+5ycoPgbLm26i4nNwjOlmur7nJyg+BsubbqLic3CM6Wa6vucnKD4Gy5tuouJzcIzpZrq+5y0gRB0lthmTtvu2M70szyba28K7m26i4nTRAMQYgF7N92x5a4HXP0Rpbek1xbdZeTJggyS8USrt52x5Y2akVzbxC8Q2mAYK/qBAI9C950x24QvGNpgGAeqlT8+E137AbBO5Z6CIKxziB4Y39wg+AdSz0EO4C7AkwBeFN/cIPgHUs9BBMfMRBFGIL0LXfsBsE7lloIkjGKDcK5i/743bfcsRsE71hqIYix5sC0hw3C2nvDHbtB8I6lFgJXwxAoSxP9NQ8V1ZxpnKbxPil+H+yGPbc3jJEzUQKBM02HT6h8WnkByUY0utnFaVx2GtjSPp1P3Kdtuqv0W5IdOnhTeaYz5Nqqu5zUQRAAojjFw/+wRlLZYeQiGUINHEaRCQBQs3lOP8Fy4du+Bv+fHUogcFJ4GC43B+5OHLbF7Y6gA+LMR9kgCmhj7sCCJwGmOu7GeXPiDEcqbcnKtpK5GuKm3FhRvN4YHR0O3DcmPmW5tupqxfidynUQUAMA9RHhAAFISh4CDYrZVTwXaLhUt8xIeqa9EaDJRtUCkyMINiN6GDpSAy5vumujhsFS2WempuskJkl1k9XWLR/kVLlcmxZvybLNIbcGPRNf40E5WLbFzrS6WId0iiqIVBaUq8rodNCfTqdllB10kl77z4+nc1ADgYN7Az2CNnSOVWgPReEQf+NPgkhTuVg6144nf6+C7TDMQZCqcjF0PjPGT9cnXU9CGsAQrGw9V1sLY3aeYGVauTI9XDCgsCuj+mkqH+67F2LgBAj6TE4vMTrt/rfP31/v7++/f//40uoYxwedoNbOL+VD64R6RGog2ODnH+ttbxV7dAKBPiI649oZUwUkWe57VV3rcguxTzWn61Q/fuTJEIRD2jCCIAWkrh+GvkYPY7T1ALMBGrMHYebJEOhulEMIXGoks1kTn2jNH0VNv7A2Puc1Zdw9fHmWzzH78sAse+cL/e5rs1aNl5nytX0iArUQED3bcwXpFCvN3xcK4b3H/+V3mBmLLk0367CzBj6vQiGYmvSjGY3Hvk+fUGLGifL1jFoKCIFHlOhnve285xJVa2tynpVJGbKgj5LRZv2MoEYgUAln/Br1wVuiHEma7+0rrXlf1NEDa+NfMgRG++HHUWfl3L+0860VkSo78y9Y7xSL0QgBdQSm4n5K/QGFAOkDAPg/9mQPsCqn9Pk0B8v9fvcEmO0nEAQuUTQYxRvP2z8BciISfFALgL7StdCGEBxwY4C4ncEuwqcC2JdM6VWA7jQJgiRdE/YAuc4es0Z6iK6RIqKaQ+Ui0nxvv9KarwXL3PrI2vgmWXvjoWJd6KdOvrVO04mNPqr3ubFeMwR7kjKO5A86L+UQ+NhLi0f0hpN5B1STJp2KslloMgSpSRpjykjxs6oPEulQ1HLU3Q6HjjJCB/sTduYpBiTsKWhog7Dn82QmCWp1YrIYBLq+gg9/cCD4qNagQbsnSvO9ZZb9e0Ednc+0YPbAITDav6pc1mdsCjq8tUY730KG4BSL0QgBcQb9Hv4QELNg8v6AQWBPiBX36MQDbCw21IBzH8yz5O5gjavaYkSKjFWGWJUcArubkLuCq9uiJ3eBbdtgFHBDYPd4Ge23QowMg8Cnx8bRJUZBuDTf3BmtWXwmuWWfcRfeePlReaJ7onUGwa+mJxx5BFCck+ODSgiSDN+xkIbwPaKnLSumEFhj9sWOWGIMzYEaEZGbIUQRCEhfoYdCFY7GXVAOAeBGG9sJYQmUdD6EsgwUZ0E8koEUulInEuuZQiBooxcNSvJNZ0jjve0zCD4WuoMOU/jzC9WT0X+uOg3sDhAExj+sRqPb36Yu5Mn9QSUEO2Kzx9SLSvENtTJ2/+j9tGN+AHG9NDTCQIyyJg02eKqIDlh0KZ2MBKM20hyFwFrwQvJwa9sj1SVE4blB7oC4gTayKjQ6sLgjSJJeqrkrtnSWNN1a+kBCeSg+kqx7/9lnDNRtE4EffdHat4YH3Hih/crzqfFBJQREGVyRCZlZANj9oyHiWHjaCxpGKowHOa0QUC4QBBPqZAYJk4D0B7hxCoE0h4V+Y5vuPN15UsdJfAuicC6kdWyyevQncJPjUAhi5RLSCMEjU1vRLnOV/2QFX3MtO7PZ8/Nsxn4qfvSNh6rWjs7LYsnGmk0QBCTBIsYLuliL/hP9SCCwRsKmSxBQkyw/cCueLEqoEV9nYybZQFDTLZgcNqkBHW3b+iDrLhkIW9ID2bkRgYNJNO8wCEQXpjjUs4nLf/NvSiME35gW+4XM3wuz7DSWN37J7f74/PDSb7f7/W+/CBv40Ret/VOvWoP3Qs3eQwMEabH7pC59RL+og8Azj7veOU8bU5sCzbQQGt8jf6JggRRkRfgcN+joW5oJXPLssz4/10/EBCKUNjyKa/+3ELQ+sJoFrQkT8YohaH2TWr1/vOuQ1LBhtO4eEAa4NxGtNZyWp6ggYyemCiogcIhV1ceHlMqSmmlqe+sgSCgEshMuxg42Um4pL9iKHEMAsQkLFUMXdUPEOKl27spj7b1AwANBp9A3G1zpX/CjaojOwPmYHy9o9WEggb3H1r9YnfqeXvgOysn9QQUECdWUbjKhISENGU+CQI57JQhoptjSimJXQKAkXRDmRwjCdcD8z3cLQYsZ+Z9FCHiuiPT2n3mTz49FA25AlAgErLVZPQStT9IlfjnNNayAYGhWPK06Nb51EATUJ5D7aqk7ILFn5B4LcvPLIIBh5SoLTV8yIfbEKe8O0pBf2JUhMPjQQUEVwrJ/xE8qjwxmDyWduPGlT/7QSkWkCrX78iU+v8kSLPIPniR0quEpjmEsNUg9dQhBMEIV9fHUCY5EqYIAWoNp2h0D0w6pidI9lnywc3MEaAD65FwfApYS+lRQWyfnvoscsvKt1JEz8q3d10LQkQ1BczhZB8Hequq3VY1MLamFgDj7klvOQgIcIhLdWBXTO6ogILJJt2uakl6ysMGWhwXJ+DfR/JUhuGO39ksxYcgVhQx9h3sEtYMCBmutiFS+FvM56Z9Pb4CA5QN9WegoLpk5UgtBlz/2TKake5GSRXh0skSOIPCmWHhbCakBnZOANOpPJOeD+iM2Ck+vDQHT7ociBF+lJkSoMKt14wzWadTGfYyv53/Tv6cwUA5BQJN0k1SWlS09eLUQ0NytJm72SBMQJDRtLHXl8y2SFXb5ixD0ABZhOAKcZEYZCxLCqKFkVEg+QlfxkVeGgGUDPhaU255JTQiv/3ttOthgBxWRylViHsF9i/7jKFl5MgR0JFjLp1c94tZbC/Tg1ULgkf7AGtNSh61mI8ZhRPNO/NgYL1m2cWLhCAJyplAYDjKYhcKUmE4uEJmlmCYrcU90bQiq8rxt1gJ6Tnlf3xDPGaxa3dABDw0e2tRwvJ4SH5RCQJPuUf5bh032QQ9sLQTsEfUXMTpu32WxBoFgR+YL2i7NOcfUh8BjAEcQTMnFhJzI2KQ+AQwS6XlGdHLaTqX0JeJnXA0C7qcXn0ZegOYIGcxeNIR+d+ygGl+Pdy1f0fwyLM+n5IvKIKArEHNDPEiWtD9Aj1k9BHua6bWs8WIx1vl8Quom0I7Fj9xlHC9dOj2JDDoeO4ZkMoKuLtHQspMssSZ1FdXmQ9Sqe0jTw4J+BHJG8VoQ8Dlkxb5eTC67NyQiah0+cZBTY+C5x/m5xRNSxb7oVAhi+sQX7xV1uqxF0ASBMmFzTmhSWPdlCALq4euabQKbziOmY8fHEOzIMIZuRt1e72lM5iGFT7illE4X0jUTmGzWMaD0XhmCR1qPjxezAj65DPruvFbDCDGvV+M+Cuz6Bh+feD0TApoyHhyN3a5prm/XCEHCZhoR0QdzMYqooCkohXmoaNSfFJWEiEs2mVSDIQp99PkYxnESms8qvzIE7Fn8WbDIIjHwy5Cyh/UhPW+tiJTcMDMEyKi02JyF8yAIfNobHE13YpMI5o0QKJ5qC7XoIN7l1x14C5BLR1mAna0sTzAE+Qnqqh3xgAA6lTkMfLBl131dCHhesDg7uMPHDD+3ROKoPkAUrRWREmI8sh+OOGn9m344oT8ogWAJcFqgZGr2xg9RSQgcZWjqUDQZAh+Z/pBNKUt6zM7r5noHdYWOlPYsWmZ8zQi05Rl3+7o2asbOJ4umru2zyem6HoYTyUglPd3mZb7ZFfFiz0bXKM0rdVQNNX7Uz50nDXeW6/pHQQud76yFf7VErZonPNda9YRz7hG8YiT+oZ/um8eTyyDoYZkcT8IKhrTIK7EETwsswpuMXR0CE2oRmie8meAjpXkmyXKhaWgpga8uUnGuFWmmsCVGMJ1Elo9ra1FvmrdR0zksC9GiBH2yl4qOLYGL284usxatCQKuk+L4Eb/lsAfg0w0bIGgzcr5WVRP+JnEd2cTUhoYrILicBLv4kFYvN1WCfXo47PZH3U65JLC1Q7orXTWQ7A6Hw2XXmzbKqXf2KMXHemvk6HNUGroDnmUsjkYJCFhLP8n5WqyjaV6KdNvM8mxpurMsz1tM8fHJZUjv3MzXhX530pyDqgnnwhBQpXNXshKbGwRvl5MhKCw145PLZn3ZS2x4YJuGDrhJeabTz8R5mhi4QXC+NN1ZPn5UgIBnBtBovwgR65NF/YYJ5yI0+NKmq5fbrNupG224QfA2OfXOFqb/izQBmhkgrPisdiCZP9YV6QQxBPHxkcoLD08arvQGwfnSdGeZfS704uKO4yeUDwwpH8unlJBJp5XT12mtf3gzMyHsm6aphjcIzpYGCDo8WZRL74jegMwdFAHjz36JrowXrEHjoX7CeedVqZGmpUg3CM6WBgj4EEF+TSCP5JSf+HNLTDMtmRZq3P2kqw5YpXJD8ChNMT6W+mmJNwjeIA0QiPFBOUZr80mmyi/s4slTxD8UNdx+mBH7L+amlj7U9YaA2pwbBP8FaYJArC37wDadMYyPXOUO1YyswC93ku9vtPqfHWWGq/E1DM/M95d3PRLeZYU0LEW6QXC2NDEgGfpP/7TbnU679SApnIWEOQ0+f7hrd7ByO+2XzygiIGE/H2f6+VgQ5HAYDYagaYebKgg8tDPgluxBeCzOLv29/HuwHNasB9+nKT1REKeFluEXb9pP978nTRDIhn729dOvL6/PUoJ8xk20kZslPnv98O3x5eHjr6/kaOJWignKs7yggQLhNc6Kwo5qyEmXQhCsBgDYNgBkgthxuQuK047qxQOgegxhpQJAJy8kYwDWMi6eDoD6W6f6b0o6jMWHJggkzZWIGOE17mr2JqBBfrXBfpQGoZTHfl54JFLfH5S27rgmmKRxHM91u3Szr6Br9kq+rhZPq4ZgZ4fugVoCtNNIbqR3aav6hbaXebs4XSANcTdCYPxT7bPLkUDroca3JzOD2pX7F7wYoj957eQfeIO7Jc+1OelSCOYgouP7iRuWrRK5KARLU6wmRMuTNGnnVGeh6e8IgokpGcBGCO6MD1UtvebqSYuQjoSkmtpVmED3UngER9nEFhuArh+eKoVgYfLFQ94gLNn98cIQCC07eKWxGBKegmh9qY2m3i6/CwHZSq5EjhamVdsCkuhpVxU/91t8yuKPI5sv0gu1S5HKIIAds9jLemiKfQaShP6TQhAkOW+v8BF9Zn5lEQJHFBUg8NWJ2K5Imdijni+Kg8LUA6kVXHz8WyrOSa8vYM04ua8LPqw47nchuLsrpeDDUTXjscovIANGnaof9bMvPIKyp539sJ91F1k+5dwUSz12AzUm/zpMFtmihz9gCKa9UbaY8HlhKfw4mghPPhh2F5m7JbrPQ5DMu1k2muNv0mFXi4bDlFwthCCKAX/pVgKvZBVSCKbzVXeyJReTDGG0kcILcldMY/v5yu1t+eVM5z1U2RvSvY6d4VOWuXMyJWU3XMKLcOFn+CGGzTzx656uXPiryEMAYxoPn2WEFkc56XChLZbsUk+DoP3tSLuvL2Vrj43PZcbg/oHYjH5JGZYfd9wQlMWBQr11/UFpd+CGg7j43RTGC9HYBwDtPAohWA3x6jAbEF68BQBWFkI3nyr7AGOLwRrWwHN/cxBA4wIGA/ifFdqBDEDXj7SqEEsQjLlreDDNpEcggAEJEbxp7SYE8Qjvem6T3Y2SEStOWG0t84G7BGTl+g5FIGN4TmxltiDbm2CsmvC8E2CPbfYznB4AYQbr4pc7bCJweCJnAakSZEBT4Q1g66pOggB6h59y5uv+W8UO5J2XIgZiT9vqbNDrHTcER/nGOznT+KkmPiiFYA9/bS/OfbVZm1maJN5StycIAj+zx+nGG0aWiW5XsrDVpYeKfTIZPLXt0T5JNm6IdxmUIUgBLpp2Q2Rc43TiR4cDPRuEwFJ6PP4c2d2AQtC1/dV+s1mp2CJ7qpWBp/1mP/HxDrdO1w7nsLinmmh2ItSshS5nNxjoOrqevQpcdDkTG29ztbWjMboGeLYnsPKSaab5U0KHPfSSJB6baJcLb2yNgbvbTHuWtQ6cYW+sjdJD/DuWAO1S2f/4/cfX59nz1/vvH/vt6mUDnfbjr/uvKLifzZ7vf31ribr9hwp5rNlFmxx5wrbY5QFoasFnwxwNxay9hbkgD8A0Qg9FV6OrP7wQL1DtmTZR8iYK0eRTL7K75F4NAdr8SoJgqrKOdWvjpUIFn8BC3iA5rwfgYz7BEOyBTiz2Dhd6qm6yjRLQjnQx0GNKGEozzIFK+oUERhcJWmHLYrttaAbov36XbLCrkZ7Pi/DflB83ACsEga6RCPlg4q02f98nwNLq3PVfXv7p3xU3rz/mAFV8fISV7/LhnlElTTvg126qXwuB4vUGmh3a9pq+YYLfZEV5Ai7WFZ3w6SJDOgV8Tu/SRPvQr0y2OsQZ+xAfCYInm2eDyK7WRxA4Gd00bWtC00sgWHErbKG1Lx7fLjUxbVh5AhbUqdDQkoQwZMFLChAEB8DWrCYRSnzMbZUEvit7jZsNunivnIyHRUvbdCAEPgtXQ7T28bejg7wyTq54ct0LSfWOpvF8ZILQJ++j6NoL1rN5aexA68s2m5wgCFYmf0FSEKE9ZYHYYRI6B1MJAscWOxMsTbS4VYZAWYUWWvmQ4UvIoG13CAS7ZUzb15AT4IkN8kxkimJWnGjaTtmZYpNNDIEU83ZNaAO2ZkY+DQFlaWVCde90Hgl5KGfljXmqbADeCMF7lroBJCdInwaaD+9XsLBzaWIpT4AhGNk8meA8hZGyASEPMqeROZQg2IWm8MRt9HzlIJjbFjbGqHZsmxsGATltkKQjXyMQsJ7K5DuVwNguXfjQUCxtsY9RZCVKsjYPbOPMng2NwrwcggPsS6h4A2jbPOGiRn8rBFhPrg8OymaQ31ikAEGQhSKdug0BNMIWj9XgsSsJgtQ280V5CLYIAqULUPMQrUBAsFmuXBhtuBG1BKx7oRBMYfEAFUNLMJQgGEAI9ij+YGKrmypLAAkU1eAl/M0QpMxXx/oeQPMOY4PcSwLqIBjaCAKda9pbw/hAQAB7B/GOnHEFBHsw9pQEIGeMQhD0fBC5q0OilEKQwOKBu0qDAEEALQFfoqLC7mAf+b05k+280hJs7cF2y+ulfzMEMHSXE7UT2IlCbeXSxHXdQS800cpDYfMHue4gDsV60KmFDEwJBNCbj9Fyx4RDsAU+3c62FAIcEuIrQxDA+JSfA/kEMKLJb7pSYQmWIJ+h/oshgFZRTu/1zG6guDYf1Un2U+gY5iHAHS0RaBVcJRDRAtQ6fPQFBEkoFeEB5hIIIABZsMDnIBDgwJSIWgLBlA89OjqEIAFsz00U1sArywTDgUeihTIIYk1KkXvBXw3BTgul536B0i9DUxWvnlooRQhSwHcl35sovsNxIa0QWrkQcRy6rGjho31lyiDYqObBwq/YIBDsLKaeBGjHEEDt0Tan2BtxQ/qmLBhyIgh6Joe0N5g48HpLIaDZAnyaLIr/agjgPbR5SLVEDzKMvEK6ANlbwxtV7A6chU3DeGgIUK4t9tko0A4bBQmC2GRxVwrwxkPH0YGCNrfSNAwLgWCvA67VcgiIE+CMUHSgbCLNX26SZOoCnDH0NLbWfWqhC6uwBMqKp0NWpu0cQ/BkS8Pc11bd5aQUAk/1w27sQEm2KlH3wbbxWvVk4ZveEQQwwjbxNlSJ6+Mu33ky9SV+31FkI5sgp417wD+QohCrIgfB0CQQxIDulUcgSLJw5KHr6fpquDyCIFmjl+U4zsa1IhycxqZvrxeZDpY2ThsPTXOygRXisT1wqiFIMjtaBvA0Kw3xWYRAWYX+1GF27Nqqu5yUh4jeApjAjMYqjJWGJEu0BKbZXXVtnHwPSAyH5IkMvaQaDM9Wrs08wmAEQNTrjQHA76r0QsnNcAEY4CLyXtQlkLZJWwIf/03GPrHw0ASjYmg1wGChAj3dwuPQrDPWHkDqQcXrkQWieGIC9E6GPR5vsg4kWYS0Da9nHdIBJg7BnEMAcPYryWC9QUR/trfmEJDXKcLQF/CB7mur7nJSkScIUjdbR1E22vLRg90IIaFlSMlOb83zq12ida879k1/3WW6cZaLyDbVjLwQzVuMpc0D0kVkmjotUg4D8aob5bCmb1UarokBd1ZjXDx9yqJBBq1RMlmsFC/jL1h6ekKK2ndR8SqB17HAl+Z48XCXKAwCVGEQjUdkYHnXpQnNtEtVunwi3kCwXIzh7+7iaMIb8dHUXhf/a5UNBiw3dW3VXU6qk0WBN5XeWa7gd5Mv2XvJg+R4Akeyi3M7SDjTXbxn1ZzceKozjUVRri2Hzehw2EQPXhxMPVExSArzS1Ax/2rKG4eOIvs22ExPegNWMp2KSzs6yyb5W7qD/3cZAWaoVqBbW/MNcm3VXU7+TAhSoGO7H2x9rWa7nLfJtVV3OfkzIUCBrTnIBgCML7NJVZlcW3WXkz8UAmW/WgPgj5aXeQ9mqVxbdZeTPxWC/4FcW3WXkxsEZ8u1VXc5uUFwtlxbdZeTGwRny7VVdzm5QXC2XFt1l5MbBGfLtVV3OblBcLa0/hi5QXC2fPhzpHL3g5vUy38Ad4zCnxrOIc0AAAAASUVORK5CYII=">
            <a:extLst>
              <a:ext uri="{FF2B5EF4-FFF2-40B4-BE49-F238E27FC236}">
                <a16:creationId xmlns:a16="http://schemas.microsoft.com/office/drawing/2014/main" id="{9DD59923-19F7-EE44-BE29-81AF5BA2C7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99" y="5871612"/>
            <a:ext cx="2685169" cy="5099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81087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outline of module 2</a:t>
            </a:r>
          </a:p>
        </p:txBody>
      </p:sp>
      <p:sp>
        <p:nvSpPr>
          <p:cNvPr id="3" name="Content Placeholder 2"/>
          <p:cNvSpPr>
            <a:spLocks noGrp="1"/>
          </p:cNvSpPr>
          <p:nvPr>
            <p:ph idx="1"/>
          </p:nvPr>
        </p:nvSpPr>
        <p:spPr>
          <a:xfrm>
            <a:off x="457200" y="1094874"/>
            <a:ext cx="8229600" cy="5212407"/>
          </a:xfrm>
        </p:spPr>
        <p:txBody>
          <a:bodyPr>
            <a:normAutofit lnSpcReduction="10000"/>
          </a:bodyPr>
          <a:lstStyle/>
          <a:p>
            <a:pPr>
              <a:lnSpc>
                <a:spcPct val="120000"/>
              </a:lnSpc>
            </a:pPr>
            <a:r>
              <a:rPr lang="en-US" sz="2813" noProof="0" dirty="0">
                <a:solidFill>
                  <a:schemeClr val="bg1">
                    <a:lumMod val="65000"/>
                  </a:schemeClr>
                </a:solidFill>
                <a:latin typeface="Whitney-Book" pitchFamily="50" charset="0"/>
                <a:cs typeface="Whitney-Book" pitchFamily="50" charset="0"/>
              </a:rPr>
              <a:t>The law of demand </a:t>
            </a:r>
          </a:p>
          <a:p>
            <a:pPr marL="914400" lvl="1" indent="-514350">
              <a:lnSpc>
                <a:spcPct val="120000"/>
              </a:lnSpc>
            </a:pPr>
            <a:endParaRPr lang="en-US" sz="2613" noProof="0" dirty="0">
              <a:solidFill>
                <a:schemeClr val="bg1">
                  <a:lumMod val="65000"/>
                </a:schemeClr>
              </a:solidFill>
              <a:latin typeface="Whitney-Book" pitchFamily="50" charset="0"/>
              <a:cs typeface="Whitney-Book" pitchFamily="50" charset="0"/>
            </a:endParaRPr>
          </a:p>
          <a:p>
            <a:pPr>
              <a:lnSpc>
                <a:spcPct val="120000"/>
              </a:lnSpc>
            </a:pPr>
            <a:r>
              <a:rPr lang="en-US" sz="2813" noProof="0" dirty="0">
                <a:solidFill>
                  <a:schemeClr val="bg1">
                    <a:lumMod val="65000"/>
                  </a:schemeClr>
                </a:solidFill>
                <a:latin typeface="Whitney-Book" pitchFamily="50" charset="0"/>
                <a:cs typeface="Whitney-Book" pitchFamily="50" charset="0"/>
              </a:rPr>
              <a:t>Elasticities</a:t>
            </a:r>
          </a:p>
          <a:p>
            <a:pPr>
              <a:lnSpc>
                <a:spcPct val="120000"/>
              </a:lnSpc>
            </a:pPr>
            <a:endParaRPr lang="en-US" sz="2813" noProof="0" dirty="0">
              <a:latin typeface="Whitney-Book" pitchFamily="50" charset="0"/>
              <a:cs typeface="Whitney-Book" pitchFamily="50" charset="0"/>
            </a:endParaRPr>
          </a:p>
          <a:p>
            <a:pPr>
              <a:lnSpc>
                <a:spcPct val="120000"/>
              </a:lnSpc>
            </a:pPr>
            <a:r>
              <a:rPr lang="en-US" sz="2813" b="1" dirty="0">
                <a:solidFill>
                  <a:schemeClr val="tx2"/>
                </a:solidFill>
                <a:latin typeface="Whitney-Book" pitchFamily="50" charset="0"/>
                <a:cs typeface="Whitney-Book" pitchFamily="50" charset="0"/>
              </a:rPr>
              <a:t>Demand and revenue</a:t>
            </a:r>
          </a:p>
          <a:p>
            <a:pPr marL="914400" lvl="1" indent="-514350">
              <a:lnSpc>
                <a:spcPct val="120000"/>
              </a:lnSpc>
            </a:pPr>
            <a:r>
              <a:rPr lang="en-US" sz="2613" b="1" noProof="0" dirty="0">
                <a:solidFill>
                  <a:schemeClr val="tx2"/>
                </a:solidFill>
                <a:latin typeface="Whitney-Book" pitchFamily="50" charset="0"/>
                <a:cs typeface="Whitney-Book" pitchFamily="50" charset="0"/>
              </a:rPr>
              <a:t>Elasticity and revenue</a:t>
            </a:r>
          </a:p>
          <a:p>
            <a:pPr marL="914400" lvl="1" indent="-514350">
              <a:lnSpc>
                <a:spcPct val="120000"/>
              </a:lnSpc>
            </a:pPr>
            <a:r>
              <a:rPr lang="en-US" sz="2613" dirty="0">
                <a:solidFill>
                  <a:schemeClr val="bg1">
                    <a:lumMod val="65000"/>
                  </a:schemeClr>
                </a:solidFill>
                <a:latin typeface="Whitney-Book" pitchFamily="50" charset="0"/>
                <a:cs typeface="Whitney-Book" pitchFamily="50" charset="0"/>
              </a:rPr>
              <a:t>Marginal revenue</a:t>
            </a:r>
          </a:p>
          <a:p>
            <a:pPr marL="914400" lvl="1" indent="-514350">
              <a:lnSpc>
                <a:spcPct val="120000"/>
              </a:lnSpc>
            </a:pPr>
            <a:endParaRPr lang="en-US" sz="2613" dirty="0">
              <a:solidFill>
                <a:schemeClr val="bg1">
                  <a:lumMod val="65000"/>
                </a:schemeClr>
              </a:solidFill>
              <a:latin typeface="Whitney-Book" pitchFamily="50" charset="0"/>
              <a:cs typeface="Whitney-Book" pitchFamily="50" charset="0"/>
            </a:endParaRPr>
          </a:p>
          <a:p>
            <a:pPr>
              <a:lnSpc>
                <a:spcPct val="120000"/>
              </a:lnSpc>
            </a:pPr>
            <a:r>
              <a:rPr lang="en-US" sz="2813" dirty="0">
                <a:solidFill>
                  <a:schemeClr val="bg1">
                    <a:lumMod val="65000"/>
                  </a:schemeClr>
                </a:solidFill>
                <a:latin typeface="Whitney-Book" pitchFamily="50" charset="0"/>
                <a:cs typeface="Whitney-Book" pitchFamily="50" charset="0"/>
              </a:rPr>
              <a:t>Demand estimation</a:t>
            </a:r>
          </a:p>
          <a:p>
            <a:pPr marL="914400" lvl="1" indent="-514350">
              <a:lnSpc>
                <a:spcPct val="120000"/>
              </a:lnSpc>
            </a:pPr>
            <a:endParaRPr lang="en-US" sz="2613" noProof="0" dirty="0">
              <a:latin typeface="Whitney-Book" pitchFamily="50" charset="0"/>
              <a:cs typeface="Whitney-Book" pitchFamily="50" charset="0"/>
            </a:endParaRPr>
          </a:p>
          <a:p>
            <a:pPr marL="914400" lvl="1" indent="-514350">
              <a:lnSpc>
                <a:spcPct val="120000"/>
              </a:lnSpc>
            </a:pPr>
            <a:endParaRPr lang="en-US" sz="2613" noProof="0" dirty="0">
              <a:latin typeface="Whitney-Book" pitchFamily="50" charset="0"/>
              <a:cs typeface="Whitney-Book" pitchFamily="50" charset="0"/>
            </a:endParaRPr>
          </a:p>
          <a:p>
            <a:pPr lvl="1"/>
            <a:endParaRPr lang="en-US" noProof="0" dirty="0"/>
          </a:p>
          <a:p>
            <a:pPr lvl="1"/>
            <a:endParaRPr lang="en-US" noProof="0" dirty="0"/>
          </a:p>
          <a:p>
            <a:endParaRPr lang="en-US" noProof="0" dirty="0"/>
          </a:p>
        </p:txBody>
      </p:sp>
      <p:grpSp>
        <p:nvGrpSpPr>
          <p:cNvPr id="7" name="Group 6">
            <a:extLst>
              <a:ext uri="{FF2B5EF4-FFF2-40B4-BE49-F238E27FC236}">
                <a16:creationId xmlns:a16="http://schemas.microsoft.com/office/drawing/2014/main" id="{EFD5C1E2-AAA8-4CEE-A675-7EFB51750A69}"/>
              </a:ext>
            </a:extLst>
          </p:cNvPr>
          <p:cNvGrpSpPr/>
          <p:nvPr/>
        </p:nvGrpSpPr>
        <p:grpSpPr>
          <a:xfrm>
            <a:off x="5160278" y="3701077"/>
            <a:ext cx="3626912" cy="771199"/>
            <a:chOff x="62403" y="6168852"/>
            <a:chExt cx="3432521" cy="566487"/>
          </a:xfrm>
        </p:grpSpPr>
        <p:sp>
          <p:nvSpPr>
            <p:cNvPr id="8" name="Rectangle 3">
              <a:extLst>
                <a:ext uri="{FF2B5EF4-FFF2-40B4-BE49-F238E27FC236}">
                  <a16:creationId xmlns:a16="http://schemas.microsoft.com/office/drawing/2014/main" id="{2AA6B883-9953-4A5B-BFA2-08759E0C402F}"/>
                </a:ext>
              </a:extLst>
            </p:cNvPr>
            <p:cNvSpPr txBox="1">
              <a:spLocks noChangeArrowheads="1"/>
            </p:cNvSpPr>
            <p:nvPr/>
          </p:nvSpPr>
          <p:spPr>
            <a:xfrm>
              <a:off x="62403" y="6168852"/>
              <a:ext cx="3432521" cy="566487"/>
            </a:xfrm>
            <a:prstGeom prst="rect">
              <a:avLst/>
            </a:prstGeom>
            <a:gradFill>
              <a:gsLst>
                <a:gs pos="44000">
                  <a:schemeClr val="bg1">
                    <a:lumMod val="85000"/>
                  </a:schemeClr>
                </a:gs>
                <a:gs pos="0">
                  <a:schemeClr val="tx1">
                    <a:lumMod val="65000"/>
                    <a:lumOff val="35000"/>
                  </a:schemeClr>
                </a:gs>
                <a:gs pos="100000">
                  <a:schemeClr val="tx1">
                    <a:lumMod val="50000"/>
                    <a:lumOff val="50000"/>
                  </a:schemeClr>
                </a:gs>
              </a:gsLst>
              <a:lin ang="5400000" scaled="1"/>
            </a:gradFill>
            <a:ln w="15875">
              <a:noFill/>
            </a:ln>
            <a:effectLst>
              <a:outerShdw blurRad="50800" dist="38100" dir="2700000" algn="tl" rotWithShape="0">
                <a:prstClr val="black">
                  <a:alpha val="40000"/>
                </a:prstClr>
              </a:outerShdw>
              <a:softEdge rad="50800"/>
            </a:effectLst>
          </p:spPr>
          <p:txBody>
            <a:bodyPr vert="horz" lIns="92069" tIns="46035" rIns="92069" bIns="46035" rtlCol="0" anchor="ctr">
              <a:normAutofit fontScale="77500" lnSpcReduction="20000"/>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600"/>
                </a:spcBef>
                <a:spcAft>
                  <a:spcPts val="563"/>
                </a:spcAft>
                <a:buNone/>
              </a:pPr>
              <a:r>
                <a:rPr lang="en-US" sz="2400" dirty="0">
                  <a:ln>
                    <a:solidFill>
                      <a:schemeClr val="bg1">
                        <a:lumMod val="50000"/>
                      </a:schemeClr>
                    </a:solidFill>
                  </a:ln>
                  <a:solidFill>
                    <a:schemeClr val="tx1"/>
                  </a:solidFill>
                  <a:latin typeface="Calibri" panose="020F0502020204030204" pitchFamily="34" charset="0"/>
                  <a:cs typeface="Times New Roman" pitchFamily="18" charset="0"/>
                </a:rPr>
                <a:t>	 </a:t>
              </a:r>
              <a:r>
                <a:rPr lang="en-US" sz="2400" dirty="0">
                  <a:ln>
                    <a:solidFill>
                      <a:schemeClr val="bg1">
                        <a:lumMod val="50000"/>
                      </a:schemeClr>
                    </a:solidFill>
                  </a:ln>
                  <a:solidFill>
                    <a:schemeClr val="tx1"/>
                  </a:solidFill>
                  <a:latin typeface="Calibri" panose="020F0502020204030204" pitchFamily="34" charset="0"/>
                  <a:cs typeface="Calibri" panose="020F0502020204030204" pitchFamily="34" charset="0"/>
                </a:rPr>
                <a:t>Teaching Note – Demand          	 Elasticity and Total Revenue</a:t>
              </a:r>
            </a:p>
          </p:txBody>
        </p:sp>
        <p:sp>
          <p:nvSpPr>
            <p:cNvPr id="9" name="Right Arrow 1">
              <a:extLst>
                <a:ext uri="{FF2B5EF4-FFF2-40B4-BE49-F238E27FC236}">
                  <a16:creationId xmlns:a16="http://schemas.microsoft.com/office/drawing/2014/main" id="{6F65F101-A568-4998-ABC2-968C8903DA0D}"/>
                </a:ext>
              </a:extLst>
            </p:cNvPr>
            <p:cNvSpPr/>
            <p:nvPr/>
          </p:nvSpPr>
          <p:spPr>
            <a:xfrm>
              <a:off x="208445" y="6315750"/>
              <a:ext cx="373445" cy="301998"/>
            </a:xfrm>
            <a:prstGeom prst="rightArrow">
              <a:avLst/>
            </a:prstGeom>
            <a:solidFill>
              <a:schemeClr val="accent2"/>
            </a:solidFill>
            <a:effectLst>
              <a:outerShdw blurRad="40000" dist="23000" dir="5400000" rotWithShape="0">
                <a:srgbClr val="000000">
                  <a:alpha val="35000"/>
                </a:srgbClr>
              </a:outerShdw>
              <a:softEdge rad="254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88930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52170" y="-18700"/>
            <a:ext cx="9020194" cy="1143000"/>
          </a:xfrm>
        </p:spPr>
        <p:txBody>
          <a:bodyPr/>
          <a:lstStyle/>
          <a:p>
            <a:r>
              <a:rPr lang="en-US" dirty="0">
                <a:solidFill>
                  <a:srgbClr val="002B56"/>
                </a:solidFill>
              </a:rPr>
              <a:t>Plotting (inverse) Demand</a:t>
            </a:r>
            <a:endParaRPr lang="en-US" noProof="0" dirty="0">
              <a:solidFill>
                <a:srgbClr val="002B56"/>
              </a:solidFill>
            </a:endParaRPr>
          </a:p>
        </p:txBody>
      </p:sp>
      <p:grpSp>
        <p:nvGrpSpPr>
          <p:cNvPr id="4" name="Group 43"/>
          <p:cNvGrpSpPr/>
          <p:nvPr/>
        </p:nvGrpSpPr>
        <p:grpSpPr>
          <a:xfrm>
            <a:off x="591767" y="1392413"/>
            <a:ext cx="7023100" cy="3873500"/>
            <a:chOff x="990600" y="838200"/>
            <a:chExt cx="7023100" cy="3873500"/>
          </a:xfrm>
        </p:grpSpPr>
        <p:sp>
          <p:nvSpPr>
            <p:cNvPr id="5" name="Rectangle 8"/>
            <p:cNvSpPr>
              <a:spLocks noChangeArrowheads="1"/>
            </p:cNvSpPr>
            <p:nvPr/>
          </p:nvSpPr>
          <p:spPr bwMode="auto">
            <a:xfrm>
              <a:off x="7391400" y="4114800"/>
              <a:ext cx="622300" cy="596900"/>
            </a:xfrm>
            <a:prstGeom prst="rect">
              <a:avLst/>
            </a:prstGeom>
            <a:noFill/>
            <a:ln w="9525">
              <a:noFill/>
              <a:miter lim="800000"/>
              <a:headEnd/>
              <a:tailEnd/>
            </a:ln>
            <a:effectLst/>
          </p:spPr>
          <p:txBody>
            <a:bodyPr wrap="none" lIns="19050" tIns="26988" rIns="19050" bIns="26988"/>
            <a:lstStyle/>
            <a:p>
              <a:pPr>
                <a:lnSpc>
                  <a:spcPts val="2800"/>
                </a:lnSpc>
                <a:spcAft>
                  <a:spcPts val="900"/>
                </a:spcAft>
                <a:tabLst>
                  <a:tab pos="457200" algn="l"/>
                  <a:tab pos="914400" algn="l"/>
                  <a:tab pos="1371600" algn="l"/>
                </a:tabLst>
                <a:defRPr/>
              </a:pPr>
              <a:r>
                <a:rPr lang="en-US" b="0" i="1" dirty="0">
                  <a:latin typeface="+mn-lt"/>
                  <a:cs typeface="Times New Roman" pitchFamily="18" charset="0"/>
                </a:rPr>
                <a:t>Q</a:t>
              </a:r>
            </a:p>
          </p:txBody>
        </p:sp>
        <p:sp>
          <p:nvSpPr>
            <p:cNvPr id="6" name="Line 9"/>
            <p:cNvSpPr>
              <a:spLocks noChangeShapeType="1"/>
            </p:cNvSpPr>
            <p:nvPr/>
          </p:nvSpPr>
          <p:spPr bwMode="auto">
            <a:xfrm flipH="1">
              <a:off x="1371600" y="4038600"/>
              <a:ext cx="6096000" cy="0"/>
            </a:xfrm>
            <a:prstGeom prst="line">
              <a:avLst/>
            </a:prstGeom>
            <a:noFill/>
            <a:ln w="50800">
              <a:solidFill>
                <a:schemeClr val="tx1"/>
              </a:solidFill>
              <a:round/>
              <a:headEnd type="arrow" w="med" len="med"/>
              <a:tailEnd type="none" w="med" len="med"/>
            </a:ln>
          </p:spPr>
          <p:txBody>
            <a:bodyPr wrap="none" anchor="ctr"/>
            <a:lstStyle/>
            <a:p>
              <a:endParaRPr lang="en-US">
                <a:latin typeface="+mn-lt"/>
                <a:cs typeface="Times New Roman" pitchFamily="18" charset="0"/>
              </a:endParaRPr>
            </a:p>
          </p:txBody>
        </p:sp>
        <p:sp>
          <p:nvSpPr>
            <p:cNvPr id="7" name="Rectangle 10"/>
            <p:cNvSpPr>
              <a:spLocks noChangeArrowheads="1"/>
            </p:cNvSpPr>
            <p:nvPr/>
          </p:nvSpPr>
          <p:spPr bwMode="auto">
            <a:xfrm>
              <a:off x="990600" y="838200"/>
              <a:ext cx="622300" cy="596900"/>
            </a:xfrm>
            <a:prstGeom prst="rect">
              <a:avLst/>
            </a:prstGeom>
            <a:noFill/>
            <a:ln w="9525">
              <a:noFill/>
              <a:miter lim="800000"/>
              <a:headEnd/>
              <a:tailEnd/>
            </a:ln>
            <a:effectLst/>
          </p:spPr>
          <p:txBody>
            <a:bodyPr wrap="none" lIns="19050" tIns="26988" rIns="19050" bIns="26988"/>
            <a:lstStyle/>
            <a:p>
              <a:pPr>
                <a:lnSpc>
                  <a:spcPts val="2800"/>
                </a:lnSpc>
                <a:spcAft>
                  <a:spcPts val="900"/>
                </a:spcAft>
                <a:tabLst>
                  <a:tab pos="457200" algn="l"/>
                  <a:tab pos="914400" algn="l"/>
                  <a:tab pos="1371600" algn="l"/>
                </a:tabLst>
                <a:defRPr/>
              </a:pPr>
              <a:r>
                <a:rPr lang="en-US" b="0" i="1" dirty="0">
                  <a:latin typeface="+mn-lt"/>
                  <a:cs typeface="Times New Roman" pitchFamily="18" charset="0"/>
                </a:rPr>
                <a:t>P</a:t>
              </a:r>
            </a:p>
          </p:txBody>
        </p:sp>
        <p:sp>
          <p:nvSpPr>
            <p:cNvPr id="8" name="Line 12"/>
            <p:cNvSpPr>
              <a:spLocks noChangeShapeType="1"/>
            </p:cNvSpPr>
            <p:nvPr/>
          </p:nvSpPr>
          <p:spPr bwMode="auto">
            <a:xfrm>
              <a:off x="1371600" y="1143000"/>
              <a:ext cx="0" cy="2895600"/>
            </a:xfrm>
            <a:prstGeom prst="line">
              <a:avLst/>
            </a:prstGeom>
            <a:noFill/>
            <a:ln w="50800">
              <a:solidFill>
                <a:schemeClr val="tx1"/>
              </a:solidFill>
              <a:round/>
              <a:headEnd type="arrow" w="sm" len="sm"/>
              <a:tailEnd type="none" w="sm" len="sm"/>
            </a:ln>
          </p:spPr>
          <p:txBody>
            <a:bodyPr wrap="none" anchor="ctr"/>
            <a:lstStyle/>
            <a:p>
              <a:endParaRPr lang="en-US">
                <a:latin typeface="+mn-lt"/>
                <a:cs typeface="Times New Roman" pitchFamily="18" charset="0"/>
              </a:endParaRPr>
            </a:p>
          </p:txBody>
        </p:sp>
      </p:grpSp>
      <p:sp>
        <p:nvSpPr>
          <p:cNvPr id="3" name="Slide Number Placeholder 2">
            <a:extLst>
              <a:ext uri="{FF2B5EF4-FFF2-40B4-BE49-F238E27FC236}">
                <a16:creationId xmlns:a16="http://schemas.microsoft.com/office/drawing/2014/main" id="{4F768E0B-3C2A-0249-9281-E792B504EB1D}"/>
              </a:ext>
            </a:extLst>
          </p:cNvPr>
          <p:cNvSpPr>
            <a:spLocks noGrp="1"/>
          </p:cNvSpPr>
          <p:nvPr>
            <p:ph type="sldNum" sz="quarter" idx="12"/>
          </p:nvPr>
        </p:nvSpPr>
        <p:spPr/>
        <p:txBody>
          <a:bodyPr/>
          <a:lstStyle/>
          <a:p>
            <a:fld id="{0F3206DB-9488-D04D-BDD1-A7C9D84C4579}" type="slidenum">
              <a:rPr lang="en-US" smtClean="0"/>
              <a:t>3</a:t>
            </a:fld>
            <a:endParaRPr lang="en-US"/>
          </a:p>
        </p:txBody>
      </p:sp>
      <p:sp>
        <p:nvSpPr>
          <p:cNvPr id="11" name="TextBox 10">
            <a:extLst>
              <a:ext uri="{FF2B5EF4-FFF2-40B4-BE49-F238E27FC236}">
                <a16:creationId xmlns:a16="http://schemas.microsoft.com/office/drawing/2014/main" id="{863F8A6A-1FA1-AB4D-860E-944F076D2CF9}"/>
              </a:ext>
            </a:extLst>
          </p:cNvPr>
          <p:cNvSpPr txBox="1"/>
          <p:nvPr/>
        </p:nvSpPr>
        <p:spPr>
          <a:xfrm>
            <a:off x="216568" y="6160168"/>
            <a:ext cx="184731" cy="369332"/>
          </a:xfrm>
          <a:prstGeom prst="rect">
            <a:avLst/>
          </a:prstGeom>
          <a:noFill/>
        </p:spPr>
        <p:txBody>
          <a:bodyPr wrap="none" rtlCol="0">
            <a:spAutoFit/>
          </a:bodyPr>
          <a:lstStyle/>
          <a:p>
            <a:endParaRPr lang="en-US" dirty="0"/>
          </a:p>
        </p:txBody>
      </p:sp>
      <p:sp>
        <p:nvSpPr>
          <p:cNvPr id="35" name="Line 5">
            <a:extLst>
              <a:ext uri="{FF2B5EF4-FFF2-40B4-BE49-F238E27FC236}">
                <a16:creationId xmlns:a16="http://schemas.microsoft.com/office/drawing/2014/main" id="{11E52EAF-8C9E-6B4A-B7C8-7E15A3F31612}"/>
              </a:ext>
            </a:extLst>
          </p:cNvPr>
          <p:cNvSpPr>
            <a:spLocks noChangeShapeType="1"/>
          </p:cNvSpPr>
          <p:nvPr/>
        </p:nvSpPr>
        <p:spPr bwMode="auto">
          <a:xfrm>
            <a:off x="996831" y="1989978"/>
            <a:ext cx="5105400" cy="2590800"/>
          </a:xfrm>
          <a:prstGeom prst="line">
            <a:avLst/>
          </a:prstGeom>
          <a:noFill/>
          <a:ln w="50800">
            <a:solidFill>
              <a:srgbClr val="C00000"/>
            </a:solidFill>
            <a:round/>
            <a:headEnd type="none" w="sm" len="sm"/>
            <a:tailEnd type="none" w="sm" len="sm"/>
          </a:ln>
        </p:spPr>
        <p:txBody>
          <a:bodyPr wrap="none" anchor="ctr"/>
          <a:lstStyle/>
          <a:p>
            <a:endParaRPr lang="en-US">
              <a:latin typeface="+mn-lt"/>
              <a:cs typeface="Times New Roman" pitchFamily="18" charset="0"/>
            </a:endParaRPr>
          </a:p>
        </p:txBody>
      </p:sp>
      <p:sp>
        <p:nvSpPr>
          <p:cNvPr id="51" name="Rectangle 43">
            <a:extLst>
              <a:ext uri="{FF2B5EF4-FFF2-40B4-BE49-F238E27FC236}">
                <a16:creationId xmlns:a16="http://schemas.microsoft.com/office/drawing/2014/main" id="{20B5B814-CCD0-4342-82B4-A8EEA4400FA3}"/>
              </a:ext>
            </a:extLst>
          </p:cNvPr>
          <p:cNvSpPr>
            <a:spLocks noChangeArrowheads="1"/>
          </p:cNvSpPr>
          <p:nvPr/>
        </p:nvSpPr>
        <p:spPr bwMode="auto">
          <a:xfrm>
            <a:off x="372196" y="1861174"/>
            <a:ext cx="1066800" cy="346364"/>
          </a:xfrm>
          <a:prstGeom prst="rect">
            <a:avLst/>
          </a:prstGeom>
          <a:noFill/>
          <a:ln w="9525">
            <a:noFill/>
            <a:miter lim="800000"/>
            <a:headEnd/>
            <a:tailEnd/>
          </a:ln>
          <a:effectLst/>
        </p:spPr>
        <p:txBody>
          <a:bodyPr wrap="none" lIns="19050" tIns="26988" rIns="19050" bIns="26988"/>
          <a:lstStyle/>
          <a:p>
            <a:pPr marL="0" marR="0" lvl="0" indent="0" algn="l" defTabSz="457200" rtl="0" eaLnBrk="1" fontAlgn="auto" latinLnBrk="0" hangingPunct="1">
              <a:lnSpc>
                <a:spcPts val="2100"/>
              </a:lnSpc>
              <a:spcBef>
                <a:spcPts val="0"/>
              </a:spcBef>
              <a:spcAft>
                <a:spcPts val="900"/>
              </a:spcAft>
              <a:buClrTx/>
              <a:buSzTx/>
              <a:buFontTx/>
              <a:buNone/>
              <a:tabLst>
                <a:tab pos="457200" algn="l"/>
                <a:tab pos="914400" algn="l"/>
                <a:tab pos="1371600" algn="l"/>
              </a:tabLst>
              <a:defRPr/>
            </a:pPr>
            <a:r>
              <a:rPr kumimoji="0" lang="en-US" sz="1800" b="0" i="0" u="none" strike="noStrike" kern="1200" cap="none" spc="0" normalizeH="0" baseline="0" noProof="0" dirty="0">
                <a:ln>
                  <a:noFill/>
                </a:ln>
                <a:solidFill>
                  <a:prstClr val="black"/>
                </a:solidFill>
                <a:effectLst/>
                <a:uLnTx/>
                <a:uFillTx/>
                <a:latin typeface="Calibri"/>
                <a:ea typeface="+mn-ea"/>
                <a:cs typeface="Times New Roman" pitchFamily="18" charset="0"/>
              </a:rPr>
              <a:t>$</a:t>
            </a:r>
            <a:r>
              <a:rPr lang="en-US" dirty="0">
                <a:solidFill>
                  <a:prstClr val="black"/>
                </a:solidFill>
                <a:latin typeface="Calibri"/>
                <a:cs typeface="Times New Roman" pitchFamily="18" charset="0"/>
              </a:rPr>
              <a:t>400</a:t>
            </a:r>
            <a:endParaRPr kumimoji="0" lang="en-US" sz="1800" b="0" i="0" u="none" strike="noStrike" kern="1200" cap="none" spc="0" normalizeH="0" baseline="0" noProof="0" dirty="0">
              <a:ln>
                <a:noFill/>
              </a:ln>
              <a:solidFill>
                <a:prstClr val="black"/>
              </a:solidFill>
              <a:effectLst/>
              <a:uLnTx/>
              <a:uFillTx/>
              <a:latin typeface="Calibri"/>
              <a:ea typeface="+mn-ea"/>
              <a:cs typeface="Times New Roman" pitchFamily="18" charset="0"/>
            </a:endParaRPr>
          </a:p>
        </p:txBody>
      </p:sp>
      <p:sp>
        <p:nvSpPr>
          <p:cNvPr id="53" name="Rectangle 41">
            <a:extLst>
              <a:ext uri="{FF2B5EF4-FFF2-40B4-BE49-F238E27FC236}">
                <a16:creationId xmlns:a16="http://schemas.microsoft.com/office/drawing/2014/main" id="{A8B351AE-FD29-E645-AEE8-6D37840DF5BC}"/>
              </a:ext>
            </a:extLst>
          </p:cNvPr>
          <p:cNvSpPr>
            <a:spLocks noChangeArrowheads="1"/>
          </p:cNvSpPr>
          <p:nvPr/>
        </p:nvSpPr>
        <p:spPr bwMode="auto">
          <a:xfrm>
            <a:off x="5626538" y="985833"/>
            <a:ext cx="3457857" cy="2590791"/>
          </a:xfrm>
          <a:prstGeom prst="rect">
            <a:avLst/>
          </a:prstGeom>
          <a:noFill/>
          <a:ln w="9525">
            <a:noFill/>
            <a:miter lim="800000"/>
            <a:headEnd/>
            <a:tailEnd/>
          </a:ln>
          <a:effectLst/>
        </p:spPr>
        <p:txBody>
          <a:bodyPr wrap="none" lIns="19050" tIns="26988" rIns="19050" bIns="26988"/>
          <a:lstStyle/>
          <a:p>
            <a:pPr marL="0" marR="0" lvl="0" indent="0" algn="l" defTabSz="457200" rtl="0" eaLnBrk="1" fontAlgn="auto" latinLnBrk="0" hangingPunct="1">
              <a:lnSpc>
                <a:spcPts val="2800"/>
              </a:lnSpc>
              <a:spcBef>
                <a:spcPts val="0"/>
              </a:spcBef>
              <a:spcAft>
                <a:spcPts val="900"/>
              </a:spcAft>
              <a:buClrTx/>
              <a:buSzTx/>
              <a:buFontTx/>
              <a:buNone/>
              <a:tabLst>
                <a:tab pos="457200" algn="l"/>
                <a:tab pos="914400" algn="l"/>
                <a:tab pos="1371600" algn="l"/>
              </a:tabLst>
              <a:defRPr/>
            </a:pPr>
            <a:r>
              <a:rPr kumimoji="0" lang="en-US" sz="2400" b="0" i="0" u="sng" strike="noStrike" kern="1200" cap="none" spc="0" normalizeH="0" baseline="0" noProof="0" dirty="0">
                <a:ln>
                  <a:noFill/>
                </a:ln>
                <a:solidFill>
                  <a:prstClr val="black"/>
                </a:solidFill>
                <a:effectLst/>
                <a:uLnTx/>
                <a:uFillTx/>
                <a:latin typeface="Calibri"/>
                <a:cs typeface="Times New Roman" pitchFamily="18" charset="0"/>
              </a:rPr>
              <a:t>Demand function:</a:t>
            </a:r>
          </a:p>
          <a:p>
            <a:pPr marL="0" marR="0" lvl="0" indent="0" algn="l" defTabSz="457200" rtl="0" eaLnBrk="1" fontAlgn="auto" latinLnBrk="0" hangingPunct="1">
              <a:lnSpc>
                <a:spcPts val="2800"/>
              </a:lnSpc>
              <a:spcBef>
                <a:spcPts val="0"/>
              </a:spcBef>
              <a:spcAft>
                <a:spcPts val="900"/>
              </a:spcAft>
              <a:buClrTx/>
              <a:buSzTx/>
              <a:buFontTx/>
              <a:buNone/>
              <a:tabLst>
                <a:tab pos="457200" algn="l"/>
                <a:tab pos="914400" algn="l"/>
                <a:tab pos="1371600" algn="l"/>
              </a:tabLst>
              <a:defRPr/>
            </a:pPr>
            <a:r>
              <a:rPr kumimoji="0" lang="en-US" sz="2400" b="0" i="1" u="none" strike="noStrike" kern="1200" cap="none" spc="0" normalizeH="0" baseline="0" noProof="0" dirty="0">
                <a:ln>
                  <a:noFill/>
                </a:ln>
                <a:solidFill>
                  <a:prstClr val="black"/>
                </a:solidFill>
                <a:effectLst/>
                <a:uLnTx/>
                <a:uFillTx/>
                <a:latin typeface="Calibri"/>
                <a:cs typeface="Times New Roman" pitchFamily="18" charset="0"/>
              </a:rPr>
              <a:t>Q  </a:t>
            </a:r>
            <a:r>
              <a:rPr kumimoji="0" lang="en-US" sz="2400" b="0" u="none" strike="noStrike" kern="1200" cap="none" spc="0" normalizeH="0" baseline="0" noProof="0" dirty="0">
                <a:ln>
                  <a:noFill/>
                </a:ln>
                <a:solidFill>
                  <a:prstClr val="black"/>
                </a:solidFill>
                <a:effectLst/>
                <a:uLnTx/>
                <a:uFillTx/>
                <a:latin typeface="Calibri"/>
                <a:cs typeface="Times New Roman" pitchFamily="18" charset="0"/>
              </a:rPr>
              <a:t>=  1,600 – 4</a:t>
            </a:r>
            <a:r>
              <a:rPr kumimoji="0" lang="en-US" sz="2400" b="0" i="1" u="none" strike="noStrike" kern="1200" cap="none" spc="0" normalizeH="0" baseline="0" noProof="0" dirty="0">
                <a:ln>
                  <a:noFill/>
                </a:ln>
                <a:solidFill>
                  <a:prstClr val="black"/>
                </a:solidFill>
                <a:effectLst/>
                <a:uLnTx/>
                <a:uFillTx/>
                <a:latin typeface="Calibri"/>
                <a:cs typeface="Times New Roman" pitchFamily="18" charset="0"/>
              </a:rPr>
              <a:t>P</a:t>
            </a:r>
            <a:endParaRPr kumimoji="0" lang="en-US" sz="2400" b="0" i="0" u="none" strike="noStrike" kern="1200" cap="none" spc="0" normalizeH="0" baseline="0" noProof="0" dirty="0">
              <a:ln>
                <a:noFill/>
              </a:ln>
              <a:solidFill>
                <a:prstClr val="black"/>
              </a:solidFill>
              <a:effectLst/>
              <a:uLnTx/>
              <a:uFillTx/>
              <a:latin typeface="Calibri"/>
              <a:cs typeface="Times New Roman" pitchFamily="18" charset="0"/>
            </a:endParaRPr>
          </a:p>
          <a:p>
            <a:pPr marL="0" marR="0" lvl="0" indent="0" algn="l" defTabSz="457200" rtl="0" eaLnBrk="1" fontAlgn="auto" latinLnBrk="0" hangingPunct="1">
              <a:spcBef>
                <a:spcPts val="0"/>
              </a:spcBef>
              <a:buClrTx/>
              <a:buSzTx/>
              <a:buFontTx/>
              <a:buNone/>
              <a:tabLst>
                <a:tab pos="457200" algn="l"/>
                <a:tab pos="914400" algn="l"/>
                <a:tab pos="1371600" algn="l"/>
              </a:tabLst>
              <a:defRPr/>
            </a:pPr>
            <a:endParaRPr kumimoji="0" lang="en-US" sz="2400" b="0" i="0" u="sng" strike="noStrike" kern="1200" cap="none" spc="0" normalizeH="0" baseline="0" noProof="0" dirty="0">
              <a:ln>
                <a:noFill/>
              </a:ln>
              <a:solidFill>
                <a:prstClr val="black"/>
              </a:solidFill>
              <a:effectLst/>
              <a:uLnTx/>
              <a:uFillTx/>
              <a:latin typeface="Calibri"/>
              <a:cs typeface="Times New Roman" pitchFamily="18" charset="0"/>
            </a:endParaRPr>
          </a:p>
          <a:p>
            <a:pPr marL="0" marR="0" lvl="0" indent="0" algn="l" defTabSz="457200" rtl="0" eaLnBrk="1" fontAlgn="auto" latinLnBrk="0" hangingPunct="1">
              <a:spcBef>
                <a:spcPts val="0"/>
              </a:spcBef>
              <a:buClrTx/>
              <a:buSzTx/>
              <a:buFontTx/>
              <a:buNone/>
              <a:tabLst>
                <a:tab pos="457200" algn="l"/>
                <a:tab pos="914400" algn="l"/>
                <a:tab pos="1371600" algn="l"/>
              </a:tabLst>
              <a:defRPr/>
            </a:pPr>
            <a:endParaRPr kumimoji="0" lang="en-US" sz="2400" b="0" i="0" u="sng" strike="noStrike" kern="1200" cap="none" spc="0" normalizeH="0" baseline="0" noProof="0" dirty="0">
              <a:ln>
                <a:noFill/>
              </a:ln>
              <a:solidFill>
                <a:prstClr val="black"/>
              </a:solidFill>
              <a:effectLst/>
              <a:uLnTx/>
              <a:uFillTx/>
              <a:latin typeface="Calibri"/>
              <a:cs typeface="Times New Roman" pitchFamily="18" charset="0"/>
            </a:endParaRPr>
          </a:p>
          <a:p>
            <a:pPr marL="0" marR="0" lvl="0" indent="0" algn="l" defTabSz="457200" rtl="0" eaLnBrk="1" fontAlgn="auto" latinLnBrk="0" hangingPunct="1">
              <a:spcBef>
                <a:spcPts val="0"/>
              </a:spcBef>
              <a:buClrTx/>
              <a:buSzTx/>
              <a:buFontTx/>
              <a:buNone/>
              <a:tabLst>
                <a:tab pos="457200" algn="l"/>
                <a:tab pos="914400" algn="l"/>
                <a:tab pos="1371600" algn="l"/>
              </a:tabLst>
              <a:defRPr/>
            </a:pPr>
            <a:endParaRPr kumimoji="0" lang="en-US" sz="2400" b="0" i="0" u="sng" strike="noStrike" kern="1200" cap="none" spc="0" normalizeH="0" baseline="0" noProof="0" dirty="0">
              <a:ln>
                <a:noFill/>
              </a:ln>
              <a:solidFill>
                <a:prstClr val="black"/>
              </a:solidFill>
              <a:effectLst/>
              <a:uLnTx/>
              <a:uFillTx/>
              <a:latin typeface="Calibri"/>
              <a:cs typeface="Times New Roman" pitchFamily="18" charset="0"/>
            </a:endParaRPr>
          </a:p>
          <a:p>
            <a:pPr marL="0" marR="0" lvl="0" indent="0" algn="l" defTabSz="457200" rtl="0" eaLnBrk="1" fontAlgn="auto" latinLnBrk="0" hangingPunct="1">
              <a:spcBef>
                <a:spcPts val="0"/>
              </a:spcBef>
              <a:buClrTx/>
              <a:buSzTx/>
              <a:buFontTx/>
              <a:buNone/>
              <a:tabLst>
                <a:tab pos="457200" algn="l"/>
                <a:tab pos="914400" algn="l"/>
                <a:tab pos="1371600" algn="l"/>
              </a:tabLst>
              <a:defRPr/>
            </a:pPr>
            <a:r>
              <a:rPr kumimoji="0" lang="en-US" sz="2400" b="0" i="0" u="sng" strike="noStrike" kern="1200" cap="none" spc="0" normalizeH="0" baseline="0" noProof="0" dirty="0">
                <a:ln>
                  <a:noFill/>
                </a:ln>
                <a:solidFill>
                  <a:prstClr val="black"/>
                </a:solidFill>
                <a:effectLst/>
                <a:uLnTx/>
                <a:uFillTx/>
                <a:latin typeface="Calibri"/>
                <a:cs typeface="Times New Roman" pitchFamily="18" charset="0"/>
              </a:rPr>
              <a:t>Rearrange to get inverse </a:t>
            </a:r>
          </a:p>
          <a:p>
            <a:pPr marL="0" marR="0" lvl="0" indent="0" algn="l" defTabSz="457200" rtl="0" eaLnBrk="1" fontAlgn="auto" latinLnBrk="0" hangingPunct="1">
              <a:spcBef>
                <a:spcPts val="0"/>
              </a:spcBef>
              <a:buClrTx/>
              <a:buSzTx/>
              <a:buFontTx/>
              <a:buNone/>
              <a:tabLst>
                <a:tab pos="457200" algn="l"/>
                <a:tab pos="914400" algn="l"/>
                <a:tab pos="1371600" algn="l"/>
              </a:tabLst>
              <a:defRPr/>
            </a:pPr>
            <a:r>
              <a:rPr kumimoji="0" lang="en-US" sz="2400" b="0" i="0" u="sng" strike="noStrike" kern="1200" cap="none" spc="0" normalizeH="0" baseline="0" noProof="0" dirty="0">
                <a:ln>
                  <a:noFill/>
                </a:ln>
                <a:solidFill>
                  <a:prstClr val="black"/>
                </a:solidFill>
                <a:effectLst/>
                <a:uLnTx/>
                <a:uFillTx/>
                <a:latin typeface="Calibri"/>
                <a:cs typeface="Times New Roman" pitchFamily="18" charset="0"/>
              </a:rPr>
              <a:t>demand function:</a:t>
            </a:r>
          </a:p>
          <a:p>
            <a:pPr lvl="0">
              <a:lnSpc>
                <a:spcPts val="2800"/>
              </a:lnSpc>
              <a:spcBef>
                <a:spcPts val="600"/>
              </a:spcBef>
              <a:tabLst>
                <a:tab pos="457200" algn="l"/>
                <a:tab pos="914400" algn="l"/>
                <a:tab pos="1371600" algn="l"/>
              </a:tabLst>
              <a:defRPr/>
            </a:pPr>
            <a:r>
              <a:rPr lang="en-US" sz="2400" i="1" dirty="0">
                <a:solidFill>
                  <a:srgbClr val="C00000"/>
                </a:solidFill>
                <a:latin typeface="Calibri"/>
                <a:cs typeface="Times New Roman" pitchFamily="18" charset="0"/>
              </a:rPr>
              <a:t>P </a:t>
            </a:r>
            <a:r>
              <a:rPr lang="en-US" sz="2400" dirty="0">
                <a:solidFill>
                  <a:srgbClr val="C00000"/>
                </a:solidFill>
                <a:latin typeface="Calibri"/>
                <a:cs typeface="Times New Roman" pitchFamily="18" charset="0"/>
              </a:rPr>
              <a:t>= 400 - </a:t>
            </a:r>
            <a:r>
              <a:rPr lang="en-US" sz="2400" i="1" dirty="0">
                <a:solidFill>
                  <a:srgbClr val="C00000"/>
                </a:solidFill>
                <a:cs typeface="Times New Roman" pitchFamily="18" charset="0"/>
              </a:rPr>
              <a:t>Q</a:t>
            </a:r>
            <a:r>
              <a:rPr lang="en-US" sz="2400" dirty="0">
                <a:solidFill>
                  <a:srgbClr val="C00000"/>
                </a:solidFill>
                <a:cs typeface="Times New Roman" pitchFamily="18" charset="0"/>
              </a:rPr>
              <a:t>/4 </a:t>
            </a:r>
            <a:endParaRPr kumimoji="0" lang="en-US" sz="2400" b="0" i="0" u="none" strike="noStrike" kern="1200" cap="none" spc="0" normalizeH="0" baseline="0" noProof="0" dirty="0">
              <a:ln>
                <a:noFill/>
              </a:ln>
              <a:solidFill>
                <a:srgbClr val="C00000"/>
              </a:solidFill>
              <a:effectLst/>
              <a:uLnTx/>
              <a:uFillTx/>
              <a:latin typeface="Calibri"/>
              <a:cs typeface="Times New Roman" pitchFamily="18" charset="0"/>
            </a:endParaRPr>
          </a:p>
        </p:txBody>
      </p:sp>
      <p:sp>
        <p:nvSpPr>
          <p:cNvPr id="55" name="Rectangle 16">
            <a:extLst>
              <a:ext uri="{FF2B5EF4-FFF2-40B4-BE49-F238E27FC236}">
                <a16:creationId xmlns:a16="http://schemas.microsoft.com/office/drawing/2014/main" id="{8E6E9FA4-377D-8242-9CAA-396E44D7983D}"/>
              </a:ext>
            </a:extLst>
          </p:cNvPr>
          <p:cNvSpPr>
            <a:spLocks noChangeArrowheads="1"/>
          </p:cNvSpPr>
          <p:nvPr/>
        </p:nvSpPr>
        <p:spPr bwMode="auto">
          <a:xfrm>
            <a:off x="5745395" y="4674248"/>
            <a:ext cx="977900" cy="381000"/>
          </a:xfrm>
          <a:prstGeom prst="rect">
            <a:avLst/>
          </a:prstGeom>
          <a:noFill/>
          <a:ln w="9525">
            <a:noFill/>
            <a:miter lim="800000"/>
            <a:headEnd/>
            <a:tailEnd/>
          </a:ln>
          <a:effectLst/>
        </p:spPr>
        <p:txBody>
          <a:bodyPr wrap="none" lIns="19050" tIns="26988" rIns="19050" bIns="26988"/>
          <a:lstStyle/>
          <a:p>
            <a:pPr marL="0" marR="0" lvl="0" indent="0" algn="l" defTabSz="457200" rtl="0" eaLnBrk="1" fontAlgn="auto" latinLnBrk="0" hangingPunct="1">
              <a:lnSpc>
                <a:spcPts val="2800"/>
              </a:lnSpc>
              <a:spcBef>
                <a:spcPts val="0"/>
              </a:spcBef>
              <a:spcAft>
                <a:spcPts val="0"/>
              </a:spcAft>
              <a:buClrTx/>
              <a:buSzTx/>
              <a:buFontTx/>
              <a:buNone/>
              <a:tabLst>
                <a:tab pos="457200" algn="l"/>
                <a:tab pos="914400" algn="l"/>
                <a:tab pos="1371600" algn="l"/>
              </a:tabLst>
              <a:defRPr/>
            </a:pPr>
            <a:r>
              <a:rPr lang="en-US" dirty="0">
                <a:solidFill>
                  <a:prstClr val="black"/>
                </a:solidFill>
                <a:latin typeface="Calibri"/>
                <a:cs typeface="Times New Roman" pitchFamily="18" charset="0"/>
              </a:rPr>
              <a:t>16</a:t>
            </a:r>
            <a:r>
              <a:rPr kumimoji="0" lang="en-US" sz="1800" b="0" i="0" u="none" strike="noStrike" kern="1200" cap="none" spc="0" normalizeH="0" baseline="0" noProof="0" dirty="0">
                <a:ln>
                  <a:noFill/>
                </a:ln>
                <a:solidFill>
                  <a:prstClr val="black"/>
                </a:solidFill>
                <a:effectLst/>
                <a:uLnTx/>
                <a:uFillTx/>
                <a:latin typeface="Calibri"/>
                <a:ea typeface="+mn-ea"/>
                <a:cs typeface="Times New Roman" pitchFamily="18" charset="0"/>
              </a:rPr>
              <a:t>00</a:t>
            </a:r>
          </a:p>
        </p:txBody>
      </p:sp>
      <p:sp>
        <p:nvSpPr>
          <p:cNvPr id="12" name="TextBox 11">
            <a:extLst>
              <a:ext uri="{FF2B5EF4-FFF2-40B4-BE49-F238E27FC236}">
                <a16:creationId xmlns:a16="http://schemas.microsoft.com/office/drawing/2014/main" id="{C36C5930-3922-F343-981A-18DF6DA4D525}"/>
              </a:ext>
            </a:extLst>
          </p:cNvPr>
          <p:cNvSpPr txBox="1"/>
          <p:nvPr/>
        </p:nvSpPr>
        <p:spPr>
          <a:xfrm>
            <a:off x="663402" y="5215623"/>
            <a:ext cx="8193493" cy="461665"/>
          </a:xfrm>
          <a:prstGeom prst="rect">
            <a:avLst/>
          </a:prstGeom>
          <a:noFill/>
        </p:spPr>
        <p:txBody>
          <a:bodyPr wrap="square" rtlCol="0">
            <a:spAutoFit/>
          </a:bodyPr>
          <a:lstStyle/>
          <a:p>
            <a:r>
              <a:rPr lang="en-US" sz="2400" dirty="0">
                <a:solidFill>
                  <a:srgbClr val="C00000"/>
                </a:solidFill>
              </a:rPr>
              <a:t>This is the demand function that a </a:t>
            </a:r>
            <a:r>
              <a:rPr lang="en-US" sz="2400" u="sng" dirty="0">
                <a:solidFill>
                  <a:srgbClr val="C00000"/>
                </a:solidFill>
              </a:rPr>
              <a:t>firm</a:t>
            </a:r>
            <a:r>
              <a:rPr lang="en-US" sz="2400" dirty="0">
                <a:solidFill>
                  <a:srgbClr val="C00000"/>
                </a:solidFill>
              </a:rPr>
              <a:t> faces</a:t>
            </a:r>
          </a:p>
        </p:txBody>
      </p:sp>
    </p:spTree>
    <p:extLst>
      <p:ext uri="{BB962C8B-B14F-4D97-AF65-F5344CB8AC3E}">
        <p14:creationId xmlns:p14="http://schemas.microsoft.com/office/powerpoint/2010/main" val="2775742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53">
                                            <p:txEl>
                                              <p:pRg st="0" end="0"/>
                                            </p:txEl>
                                          </p:spTgt>
                                        </p:tgtEl>
                                        <p:attrNameLst>
                                          <p:attrName>style.visibility</p:attrName>
                                        </p:attrNameLst>
                                      </p:cBhvr>
                                      <p:to>
                                        <p:strVal val="visible"/>
                                      </p:to>
                                    </p:set>
                                    <p:anim calcmode="lin" valueType="num">
                                      <p:cBhvr additive="base">
                                        <p:cTn id="11" dur="500" fill="hold"/>
                                        <p:tgtEl>
                                          <p:spTgt spid="5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3">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3">
                                            <p:txEl>
                                              <p:pRg st="1" end="1"/>
                                            </p:txEl>
                                          </p:spTgt>
                                        </p:tgtEl>
                                        <p:attrNameLst>
                                          <p:attrName>style.visibility</p:attrName>
                                        </p:attrNameLst>
                                      </p:cBhvr>
                                      <p:to>
                                        <p:strVal val="visible"/>
                                      </p:to>
                                    </p:set>
                                    <p:anim calcmode="lin" valueType="num">
                                      <p:cBhvr additive="base">
                                        <p:cTn id="15" dur="500" fill="hold"/>
                                        <p:tgtEl>
                                          <p:spTgt spid="53">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53">
                                            <p:txEl>
                                              <p:pRg st="5" end="5"/>
                                            </p:txEl>
                                          </p:spTgt>
                                        </p:tgtEl>
                                        <p:attrNameLst>
                                          <p:attrName>style.visibility</p:attrName>
                                        </p:attrNameLst>
                                      </p:cBhvr>
                                      <p:to>
                                        <p:strVal val="visible"/>
                                      </p:to>
                                    </p:set>
                                    <p:anim calcmode="lin" valueType="num">
                                      <p:cBhvr additive="base">
                                        <p:cTn id="21" dur="500" fill="hold"/>
                                        <p:tgtEl>
                                          <p:spTgt spid="53">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3">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53">
                                            <p:txEl>
                                              <p:pRg st="6" end="6"/>
                                            </p:txEl>
                                          </p:spTgt>
                                        </p:tgtEl>
                                        <p:attrNameLst>
                                          <p:attrName>style.visibility</p:attrName>
                                        </p:attrNameLst>
                                      </p:cBhvr>
                                      <p:to>
                                        <p:strVal val="visible"/>
                                      </p:to>
                                    </p:set>
                                    <p:anim calcmode="lin" valueType="num">
                                      <p:cBhvr additive="base">
                                        <p:cTn id="25" dur="500" fill="hold"/>
                                        <p:tgtEl>
                                          <p:spTgt spid="5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3">
                                            <p:txEl>
                                              <p:pRg st="7" end="7"/>
                                            </p:txEl>
                                          </p:spTgt>
                                        </p:tgtEl>
                                        <p:attrNameLst>
                                          <p:attrName>style.visibility</p:attrName>
                                        </p:attrNameLst>
                                      </p:cBhvr>
                                      <p:to>
                                        <p:strVal val="visible"/>
                                      </p:to>
                                    </p:set>
                                    <p:anim calcmode="lin" valueType="num">
                                      <p:cBhvr additive="base">
                                        <p:cTn id="31" dur="500" fill="hold"/>
                                        <p:tgtEl>
                                          <p:spTgt spid="53">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3">
                                            <p:txEl>
                                              <p:pRg st="7" end="7"/>
                                            </p:txEl>
                                          </p:spTgt>
                                        </p:tgtEl>
                                        <p:attrNameLst>
                                          <p:attrName>ppt_y</p:attrName>
                                        </p:attrNameLst>
                                      </p:cBhvr>
                                      <p:tavLst>
                                        <p:tav tm="0">
                                          <p:val>
                                            <p:strVal val="1+#ppt_h/2"/>
                                          </p:val>
                                        </p:tav>
                                        <p:tav tm="100000">
                                          <p:val>
                                            <p:strVal val="#ppt_y"/>
                                          </p:val>
                                        </p:tav>
                                      </p:tavLst>
                                    </p:anim>
                                  </p:childTnLst>
                                </p:cTn>
                              </p:par>
                              <p:par>
                                <p:cTn id="33" presetID="1" presetClass="entr" presetSubtype="0" fill="hold" grpId="0" nodeType="withEffect">
                                  <p:stCondLst>
                                    <p:cond delay="0"/>
                                  </p:stCondLst>
                                  <p:childTnLst>
                                    <p:set>
                                      <p:cBhvr>
                                        <p:cTn id="34" dur="1" fill="hold">
                                          <p:stCondLst>
                                            <p:cond delay="0"/>
                                          </p:stCondLst>
                                        </p:cTn>
                                        <p:tgtEl>
                                          <p:spTgt spid="5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51" grpId="0"/>
      <p:bldP spid="55" grpId="0"/>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52170" y="-18700"/>
            <a:ext cx="9020194" cy="1143000"/>
          </a:xfrm>
        </p:spPr>
        <p:txBody>
          <a:bodyPr/>
          <a:lstStyle/>
          <a:p>
            <a:r>
              <a:rPr lang="en-US" dirty="0">
                <a:solidFill>
                  <a:srgbClr val="002B56"/>
                </a:solidFill>
              </a:rPr>
              <a:t>Relationship between demand and revenue</a:t>
            </a:r>
          </a:p>
        </p:txBody>
      </p:sp>
      <p:grpSp>
        <p:nvGrpSpPr>
          <p:cNvPr id="4" name="Group 43"/>
          <p:cNvGrpSpPr/>
          <p:nvPr/>
        </p:nvGrpSpPr>
        <p:grpSpPr>
          <a:xfrm>
            <a:off x="591767" y="682552"/>
            <a:ext cx="7023100" cy="3873500"/>
            <a:chOff x="990600" y="838200"/>
            <a:chExt cx="7023100" cy="3873500"/>
          </a:xfrm>
        </p:grpSpPr>
        <p:sp>
          <p:nvSpPr>
            <p:cNvPr id="5" name="Rectangle 8"/>
            <p:cNvSpPr>
              <a:spLocks noChangeArrowheads="1"/>
            </p:cNvSpPr>
            <p:nvPr/>
          </p:nvSpPr>
          <p:spPr bwMode="auto">
            <a:xfrm>
              <a:off x="7391400" y="4114800"/>
              <a:ext cx="622300" cy="596900"/>
            </a:xfrm>
            <a:prstGeom prst="rect">
              <a:avLst/>
            </a:prstGeom>
            <a:noFill/>
            <a:ln w="9525">
              <a:noFill/>
              <a:miter lim="800000"/>
              <a:headEnd/>
              <a:tailEnd/>
            </a:ln>
            <a:effectLst/>
          </p:spPr>
          <p:txBody>
            <a:bodyPr wrap="none" lIns="19050" tIns="26988" rIns="19050" bIns="26988"/>
            <a:lstStyle/>
            <a:p>
              <a:pPr>
                <a:lnSpc>
                  <a:spcPts val="2800"/>
                </a:lnSpc>
                <a:spcAft>
                  <a:spcPts val="900"/>
                </a:spcAft>
                <a:tabLst>
                  <a:tab pos="457200" algn="l"/>
                  <a:tab pos="914400" algn="l"/>
                  <a:tab pos="1371600" algn="l"/>
                </a:tabLst>
                <a:defRPr/>
              </a:pPr>
              <a:r>
                <a:rPr lang="en-US" b="0" i="1" dirty="0">
                  <a:latin typeface="+mn-lt"/>
                  <a:cs typeface="Times New Roman" pitchFamily="18" charset="0"/>
                </a:rPr>
                <a:t>Q</a:t>
              </a:r>
            </a:p>
          </p:txBody>
        </p:sp>
        <p:sp>
          <p:nvSpPr>
            <p:cNvPr id="6" name="Line 9"/>
            <p:cNvSpPr>
              <a:spLocks noChangeShapeType="1"/>
            </p:cNvSpPr>
            <p:nvPr/>
          </p:nvSpPr>
          <p:spPr bwMode="auto">
            <a:xfrm flipH="1">
              <a:off x="1371600" y="4038600"/>
              <a:ext cx="6096000" cy="0"/>
            </a:xfrm>
            <a:prstGeom prst="line">
              <a:avLst/>
            </a:prstGeom>
            <a:noFill/>
            <a:ln w="50800">
              <a:solidFill>
                <a:schemeClr val="tx1"/>
              </a:solidFill>
              <a:round/>
              <a:headEnd type="arrow" w="med" len="med"/>
              <a:tailEnd type="none" w="med" len="med"/>
            </a:ln>
          </p:spPr>
          <p:txBody>
            <a:bodyPr wrap="none" anchor="ctr"/>
            <a:lstStyle/>
            <a:p>
              <a:endParaRPr lang="en-US">
                <a:latin typeface="+mn-lt"/>
                <a:cs typeface="Times New Roman" pitchFamily="18" charset="0"/>
              </a:endParaRPr>
            </a:p>
          </p:txBody>
        </p:sp>
        <p:sp>
          <p:nvSpPr>
            <p:cNvPr id="7" name="Rectangle 10"/>
            <p:cNvSpPr>
              <a:spLocks noChangeArrowheads="1"/>
            </p:cNvSpPr>
            <p:nvPr/>
          </p:nvSpPr>
          <p:spPr bwMode="auto">
            <a:xfrm>
              <a:off x="990600" y="838200"/>
              <a:ext cx="622300" cy="596900"/>
            </a:xfrm>
            <a:prstGeom prst="rect">
              <a:avLst/>
            </a:prstGeom>
            <a:noFill/>
            <a:ln w="9525">
              <a:noFill/>
              <a:miter lim="800000"/>
              <a:headEnd/>
              <a:tailEnd/>
            </a:ln>
            <a:effectLst/>
          </p:spPr>
          <p:txBody>
            <a:bodyPr wrap="none" lIns="19050" tIns="26988" rIns="19050" bIns="26988"/>
            <a:lstStyle/>
            <a:p>
              <a:pPr>
                <a:lnSpc>
                  <a:spcPts val="2800"/>
                </a:lnSpc>
                <a:spcAft>
                  <a:spcPts val="900"/>
                </a:spcAft>
                <a:tabLst>
                  <a:tab pos="457200" algn="l"/>
                  <a:tab pos="914400" algn="l"/>
                  <a:tab pos="1371600" algn="l"/>
                </a:tabLst>
                <a:defRPr/>
              </a:pPr>
              <a:r>
                <a:rPr lang="en-US" b="0" i="1" dirty="0">
                  <a:latin typeface="+mn-lt"/>
                  <a:cs typeface="Times New Roman" pitchFamily="18" charset="0"/>
                </a:rPr>
                <a:t>P</a:t>
              </a:r>
            </a:p>
          </p:txBody>
        </p:sp>
        <p:sp>
          <p:nvSpPr>
            <p:cNvPr id="8" name="Line 12"/>
            <p:cNvSpPr>
              <a:spLocks noChangeShapeType="1"/>
            </p:cNvSpPr>
            <p:nvPr/>
          </p:nvSpPr>
          <p:spPr bwMode="auto">
            <a:xfrm>
              <a:off x="1371600" y="1143000"/>
              <a:ext cx="0" cy="2895600"/>
            </a:xfrm>
            <a:prstGeom prst="line">
              <a:avLst/>
            </a:prstGeom>
            <a:noFill/>
            <a:ln w="50800">
              <a:solidFill>
                <a:schemeClr val="tx1"/>
              </a:solidFill>
              <a:round/>
              <a:headEnd type="arrow" w="sm" len="sm"/>
              <a:tailEnd type="none" w="sm" len="sm"/>
            </a:ln>
          </p:spPr>
          <p:txBody>
            <a:bodyPr wrap="none" anchor="ctr"/>
            <a:lstStyle/>
            <a:p>
              <a:endParaRPr lang="en-US">
                <a:latin typeface="+mn-lt"/>
                <a:cs typeface="Times New Roman" pitchFamily="18" charset="0"/>
              </a:endParaRPr>
            </a:p>
          </p:txBody>
        </p:sp>
      </p:grpSp>
      <p:sp>
        <p:nvSpPr>
          <p:cNvPr id="20" name="Line 22"/>
          <p:cNvSpPr>
            <a:spLocks noChangeShapeType="1"/>
          </p:cNvSpPr>
          <p:nvPr/>
        </p:nvSpPr>
        <p:spPr bwMode="auto">
          <a:xfrm flipH="1">
            <a:off x="972767" y="2595569"/>
            <a:ext cx="2819400" cy="0"/>
          </a:xfrm>
          <a:prstGeom prst="line">
            <a:avLst/>
          </a:prstGeom>
          <a:noFill/>
          <a:ln w="25400">
            <a:solidFill>
              <a:schemeClr val="tx1"/>
            </a:solidFill>
            <a:prstDash val="sysDash"/>
            <a:round/>
            <a:headEnd type="none" w="sm" len="sm"/>
            <a:tailEnd type="none" w="sm" len="sm"/>
          </a:ln>
        </p:spPr>
        <p:txBody>
          <a:bodyPr wrap="none" anchor="ctr"/>
          <a:lstStyle/>
          <a:p>
            <a:endParaRPr lang="en-US">
              <a:latin typeface="+mn-lt"/>
              <a:cs typeface="Times New Roman" pitchFamily="18" charset="0"/>
            </a:endParaRPr>
          </a:p>
        </p:txBody>
      </p:sp>
      <p:sp>
        <p:nvSpPr>
          <p:cNvPr id="21" name="Line 23"/>
          <p:cNvSpPr>
            <a:spLocks noChangeShapeType="1"/>
          </p:cNvSpPr>
          <p:nvPr/>
        </p:nvSpPr>
        <p:spPr bwMode="auto">
          <a:xfrm>
            <a:off x="3779472" y="2651027"/>
            <a:ext cx="12697" cy="1231925"/>
          </a:xfrm>
          <a:prstGeom prst="line">
            <a:avLst/>
          </a:prstGeom>
          <a:noFill/>
          <a:ln w="25400">
            <a:solidFill>
              <a:schemeClr val="tx1"/>
            </a:solidFill>
            <a:prstDash val="sysDash"/>
            <a:round/>
            <a:headEnd type="none" w="sm" len="sm"/>
            <a:tailEnd type="none" w="sm" len="sm"/>
          </a:ln>
        </p:spPr>
        <p:txBody>
          <a:bodyPr wrap="none" anchor="ctr"/>
          <a:lstStyle/>
          <a:p>
            <a:endParaRPr lang="en-US">
              <a:latin typeface="+mn-lt"/>
              <a:cs typeface="Times New Roman" pitchFamily="18" charset="0"/>
            </a:endParaRPr>
          </a:p>
        </p:txBody>
      </p:sp>
      <p:sp>
        <p:nvSpPr>
          <p:cNvPr id="26" name="Line 31"/>
          <p:cNvSpPr>
            <a:spLocks noChangeShapeType="1"/>
          </p:cNvSpPr>
          <p:nvPr/>
        </p:nvSpPr>
        <p:spPr bwMode="auto">
          <a:xfrm>
            <a:off x="3779472" y="3946748"/>
            <a:ext cx="12700" cy="2551544"/>
          </a:xfrm>
          <a:prstGeom prst="line">
            <a:avLst/>
          </a:prstGeom>
          <a:noFill/>
          <a:ln w="25400">
            <a:solidFill>
              <a:schemeClr val="tx1"/>
            </a:solidFill>
            <a:prstDash val="sysDash"/>
            <a:round/>
            <a:headEnd type="none" w="sm" len="sm"/>
            <a:tailEnd type="none" w="sm" len="sm"/>
          </a:ln>
        </p:spPr>
        <p:txBody>
          <a:bodyPr wrap="none" anchor="ctr"/>
          <a:lstStyle/>
          <a:p>
            <a:endParaRPr lang="en-US">
              <a:latin typeface="+mn-lt"/>
              <a:cs typeface="Times New Roman" pitchFamily="18" charset="0"/>
            </a:endParaRPr>
          </a:p>
        </p:txBody>
      </p:sp>
      <p:sp>
        <p:nvSpPr>
          <p:cNvPr id="31" name="Arc 35"/>
          <p:cNvSpPr>
            <a:spLocks/>
          </p:cNvSpPr>
          <p:nvPr/>
        </p:nvSpPr>
        <p:spPr bwMode="auto">
          <a:xfrm>
            <a:off x="972772" y="4416069"/>
            <a:ext cx="2743200" cy="2078182"/>
          </a:xfrm>
          <a:custGeom>
            <a:avLst/>
            <a:gdLst>
              <a:gd name="T0" fmla="*/ 0 w 21600"/>
              <a:gd name="T1" fmla="*/ 1383 h 21600"/>
              <a:gd name="T2" fmla="*/ 1190 w 21600"/>
              <a:gd name="T3" fmla="*/ 0 h 21600"/>
              <a:gd name="T4" fmla="*/ 1191 w 21600"/>
              <a:gd name="T5" fmla="*/ 138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584"/>
                </a:moveTo>
                <a:cubicBezTo>
                  <a:pt x="8" y="9667"/>
                  <a:pt x="9665" y="9"/>
                  <a:pt x="21582" y="0"/>
                </a:cubicBezTo>
              </a:path>
              <a:path w="21600" h="21600" stroke="0" extrusionOk="0">
                <a:moveTo>
                  <a:pt x="0" y="21584"/>
                </a:moveTo>
                <a:cubicBezTo>
                  <a:pt x="8" y="9667"/>
                  <a:pt x="9665" y="9"/>
                  <a:pt x="21582" y="0"/>
                </a:cubicBezTo>
                <a:lnTo>
                  <a:pt x="21600" y="21600"/>
                </a:lnTo>
                <a:close/>
              </a:path>
            </a:pathLst>
          </a:custGeom>
          <a:noFill/>
          <a:ln w="50800" cap="rnd">
            <a:solidFill>
              <a:srgbClr val="FFC000"/>
            </a:solidFill>
            <a:round/>
            <a:headEnd type="none" w="sm" len="sm"/>
            <a:tailEnd type="none" w="sm" len="sm"/>
          </a:ln>
        </p:spPr>
        <p:txBody>
          <a:bodyPr wrap="none" anchor="ctr"/>
          <a:lstStyle/>
          <a:p>
            <a:endParaRPr lang="en-US">
              <a:latin typeface="+mn-lt"/>
              <a:cs typeface="Times New Roman" pitchFamily="18" charset="0"/>
            </a:endParaRPr>
          </a:p>
        </p:txBody>
      </p:sp>
      <p:sp>
        <p:nvSpPr>
          <p:cNvPr id="32" name="Arc 36"/>
          <p:cNvSpPr>
            <a:spLocks/>
          </p:cNvSpPr>
          <p:nvPr/>
        </p:nvSpPr>
        <p:spPr bwMode="auto">
          <a:xfrm>
            <a:off x="3780140" y="4416069"/>
            <a:ext cx="2819400" cy="2078182"/>
          </a:xfrm>
          <a:custGeom>
            <a:avLst/>
            <a:gdLst>
              <a:gd name="T0" fmla="*/ 0 w 21615"/>
              <a:gd name="T1" fmla="*/ 0 h 21600"/>
              <a:gd name="T2" fmla="*/ 1447 w 21615"/>
              <a:gd name="T3" fmla="*/ 1408 h 21600"/>
              <a:gd name="T4" fmla="*/ 1 w 21615"/>
              <a:gd name="T5" fmla="*/ 1408 h 21600"/>
              <a:gd name="T6" fmla="*/ 0 60000 65536"/>
              <a:gd name="T7" fmla="*/ 0 60000 65536"/>
              <a:gd name="T8" fmla="*/ 0 60000 65536"/>
              <a:gd name="T9" fmla="*/ 0 w 21615"/>
              <a:gd name="T10" fmla="*/ 0 h 21600"/>
              <a:gd name="T11" fmla="*/ 21615 w 21615"/>
              <a:gd name="T12" fmla="*/ 21600 h 21600"/>
            </a:gdLst>
            <a:ahLst/>
            <a:cxnLst>
              <a:cxn ang="T6">
                <a:pos x="T0" y="T1"/>
              </a:cxn>
              <a:cxn ang="T7">
                <a:pos x="T2" y="T3"/>
              </a:cxn>
              <a:cxn ang="T8">
                <a:pos x="T4" y="T5"/>
              </a:cxn>
            </a:cxnLst>
            <a:rect l="T9" t="T10" r="T11" b="T12"/>
            <a:pathLst>
              <a:path w="21615" h="21600" fill="none" extrusionOk="0">
                <a:moveTo>
                  <a:pt x="0" y="0"/>
                </a:moveTo>
                <a:cubicBezTo>
                  <a:pt x="5" y="0"/>
                  <a:pt x="10" y="-1"/>
                  <a:pt x="15" y="0"/>
                </a:cubicBezTo>
                <a:cubicBezTo>
                  <a:pt x="11944" y="0"/>
                  <a:pt x="21615" y="9670"/>
                  <a:pt x="21615" y="21600"/>
                </a:cubicBezTo>
              </a:path>
              <a:path w="21615" h="21600" stroke="0" extrusionOk="0">
                <a:moveTo>
                  <a:pt x="0" y="0"/>
                </a:moveTo>
                <a:cubicBezTo>
                  <a:pt x="5" y="0"/>
                  <a:pt x="10" y="-1"/>
                  <a:pt x="15" y="0"/>
                </a:cubicBezTo>
                <a:cubicBezTo>
                  <a:pt x="11944" y="0"/>
                  <a:pt x="21615" y="9670"/>
                  <a:pt x="21615" y="21600"/>
                </a:cubicBezTo>
                <a:lnTo>
                  <a:pt x="15" y="21600"/>
                </a:lnTo>
                <a:close/>
              </a:path>
            </a:pathLst>
          </a:custGeom>
          <a:noFill/>
          <a:ln w="50800" cap="rnd">
            <a:solidFill>
              <a:srgbClr val="FFC000"/>
            </a:solidFill>
            <a:round/>
            <a:headEnd type="none" w="sm" len="sm"/>
            <a:tailEnd type="none" w="sm" len="sm"/>
          </a:ln>
        </p:spPr>
        <p:txBody>
          <a:bodyPr wrap="none" anchor="ctr"/>
          <a:lstStyle/>
          <a:p>
            <a:endParaRPr lang="en-US">
              <a:latin typeface="+mn-lt"/>
              <a:cs typeface="Times New Roman" pitchFamily="18" charset="0"/>
            </a:endParaRPr>
          </a:p>
        </p:txBody>
      </p:sp>
      <p:sp>
        <p:nvSpPr>
          <p:cNvPr id="33" name="Rectangle 37"/>
          <p:cNvSpPr>
            <a:spLocks noChangeArrowheads="1"/>
          </p:cNvSpPr>
          <p:nvPr/>
        </p:nvSpPr>
        <p:spPr bwMode="auto">
          <a:xfrm>
            <a:off x="1413707" y="4641207"/>
            <a:ext cx="876300" cy="542636"/>
          </a:xfrm>
          <a:prstGeom prst="rect">
            <a:avLst/>
          </a:prstGeom>
          <a:noFill/>
          <a:ln w="9525">
            <a:noFill/>
            <a:miter lim="800000"/>
            <a:headEnd/>
            <a:tailEnd/>
          </a:ln>
          <a:effectLst/>
        </p:spPr>
        <p:txBody>
          <a:bodyPr wrap="none" lIns="19050" tIns="26988" rIns="19050" bIns="26988"/>
          <a:lstStyle/>
          <a:p>
            <a:pPr>
              <a:lnSpc>
                <a:spcPts val="2800"/>
              </a:lnSpc>
              <a:spcAft>
                <a:spcPts val="900"/>
              </a:spcAft>
              <a:tabLst>
                <a:tab pos="457200" algn="l"/>
                <a:tab pos="914400" algn="l"/>
                <a:tab pos="1371600" algn="l"/>
              </a:tabLst>
              <a:defRPr/>
            </a:pPr>
            <a:r>
              <a:rPr lang="en-US" b="0" dirty="0">
                <a:solidFill>
                  <a:srgbClr val="FFC000"/>
                </a:solidFill>
                <a:latin typeface="+mn-lt"/>
                <a:cs typeface="Times New Roman" pitchFamily="18" charset="0"/>
              </a:rPr>
              <a:t>TR</a:t>
            </a:r>
          </a:p>
        </p:txBody>
      </p:sp>
      <p:sp>
        <p:nvSpPr>
          <p:cNvPr id="34" name="Line 38"/>
          <p:cNvSpPr>
            <a:spLocks noChangeShapeType="1"/>
          </p:cNvSpPr>
          <p:nvPr/>
        </p:nvSpPr>
        <p:spPr bwMode="auto">
          <a:xfrm>
            <a:off x="3792172" y="4416069"/>
            <a:ext cx="0" cy="2078182"/>
          </a:xfrm>
          <a:prstGeom prst="line">
            <a:avLst/>
          </a:prstGeom>
          <a:noFill/>
          <a:ln w="25400">
            <a:solidFill>
              <a:srgbClr val="FF8455"/>
            </a:solidFill>
            <a:prstDash val="sysDash"/>
            <a:round/>
            <a:headEnd type="none" w="sm" len="sm"/>
            <a:tailEnd type="none" w="sm" len="sm"/>
          </a:ln>
        </p:spPr>
        <p:txBody>
          <a:bodyPr wrap="none" anchor="ctr"/>
          <a:lstStyle/>
          <a:p>
            <a:endParaRPr lang="en-US">
              <a:latin typeface="+mn-lt"/>
              <a:cs typeface="Times New Roman" pitchFamily="18" charset="0"/>
            </a:endParaRPr>
          </a:p>
        </p:txBody>
      </p:sp>
      <p:sp>
        <p:nvSpPr>
          <p:cNvPr id="35" name="Line 39"/>
          <p:cNvSpPr>
            <a:spLocks noChangeShapeType="1"/>
          </p:cNvSpPr>
          <p:nvPr/>
        </p:nvSpPr>
        <p:spPr bwMode="auto">
          <a:xfrm flipH="1">
            <a:off x="972772" y="4416070"/>
            <a:ext cx="2819400" cy="0"/>
          </a:xfrm>
          <a:prstGeom prst="line">
            <a:avLst/>
          </a:prstGeom>
          <a:noFill/>
          <a:ln w="25400">
            <a:solidFill>
              <a:srgbClr val="FF8455"/>
            </a:solidFill>
            <a:prstDash val="sysDash"/>
            <a:round/>
            <a:headEnd type="none" w="sm" len="sm"/>
            <a:tailEnd type="none" w="sm" len="sm"/>
          </a:ln>
        </p:spPr>
        <p:txBody>
          <a:bodyPr wrap="none" anchor="ctr"/>
          <a:lstStyle/>
          <a:p>
            <a:endParaRPr lang="en-US">
              <a:latin typeface="+mn-lt"/>
              <a:cs typeface="Times New Roman" pitchFamily="18" charset="0"/>
            </a:endParaRPr>
          </a:p>
        </p:txBody>
      </p:sp>
      <p:grpSp>
        <p:nvGrpSpPr>
          <p:cNvPr id="37" name="Group 51"/>
          <p:cNvGrpSpPr/>
          <p:nvPr/>
        </p:nvGrpSpPr>
        <p:grpSpPr>
          <a:xfrm>
            <a:off x="972772" y="4086445"/>
            <a:ext cx="6718300" cy="2967182"/>
            <a:chOff x="1371600" y="4191000"/>
            <a:chExt cx="6718300" cy="3263900"/>
          </a:xfrm>
        </p:grpSpPr>
        <p:grpSp>
          <p:nvGrpSpPr>
            <p:cNvPr id="38" name="Group 48"/>
            <p:cNvGrpSpPr/>
            <p:nvPr/>
          </p:nvGrpSpPr>
          <p:grpSpPr>
            <a:xfrm>
              <a:off x="1371600" y="4191000"/>
              <a:ext cx="6172200" cy="2667000"/>
              <a:chOff x="1371600" y="4191000"/>
              <a:chExt cx="6172200" cy="2667000"/>
            </a:xfrm>
          </p:grpSpPr>
          <p:sp>
            <p:nvSpPr>
              <p:cNvPr id="40" name="Line 28"/>
              <p:cNvSpPr>
                <a:spLocks noChangeShapeType="1"/>
              </p:cNvSpPr>
              <p:nvPr/>
            </p:nvSpPr>
            <p:spPr bwMode="auto">
              <a:xfrm>
                <a:off x="1371600" y="4191000"/>
                <a:ext cx="0" cy="2667000"/>
              </a:xfrm>
              <a:prstGeom prst="line">
                <a:avLst/>
              </a:prstGeom>
              <a:noFill/>
              <a:ln w="50800">
                <a:solidFill>
                  <a:schemeClr val="tx1"/>
                </a:solidFill>
                <a:round/>
                <a:headEnd type="arrow" w="sm" len="sm"/>
                <a:tailEnd type="none" w="sm" len="sm"/>
              </a:ln>
            </p:spPr>
            <p:txBody>
              <a:bodyPr wrap="none" anchor="ctr"/>
              <a:lstStyle/>
              <a:p>
                <a:endParaRPr lang="en-US">
                  <a:latin typeface="+mn-lt"/>
                  <a:cs typeface="Times New Roman" pitchFamily="18" charset="0"/>
                </a:endParaRPr>
              </a:p>
            </p:txBody>
          </p:sp>
          <p:sp>
            <p:nvSpPr>
              <p:cNvPr id="41" name="Line 29"/>
              <p:cNvSpPr>
                <a:spLocks noChangeShapeType="1"/>
              </p:cNvSpPr>
              <p:nvPr/>
            </p:nvSpPr>
            <p:spPr bwMode="auto">
              <a:xfrm>
                <a:off x="1371600" y="6858000"/>
                <a:ext cx="6172200" cy="0"/>
              </a:xfrm>
              <a:prstGeom prst="line">
                <a:avLst/>
              </a:prstGeom>
              <a:noFill/>
              <a:ln w="50800">
                <a:solidFill>
                  <a:schemeClr val="tx1"/>
                </a:solidFill>
                <a:round/>
                <a:headEnd type="none" w="med" len="med"/>
                <a:tailEnd type="arrow" w="med" len="med"/>
              </a:ln>
            </p:spPr>
            <p:txBody>
              <a:bodyPr wrap="none" anchor="ctr"/>
              <a:lstStyle/>
              <a:p>
                <a:endParaRPr lang="en-US">
                  <a:latin typeface="+mn-lt"/>
                  <a:cs typeface="Times New Roman" pitchFamily="18" charset="0"/>
                </a:endParaRPr>
              </a:p>
            </p:txBody>
          </p:sp>
        </p:grpSp>
        <p:sp>
          <p:nvSpPr>
            <p:cNvPr id="39" name="Rectangle 8"/>
            <p:cNvSpPr>
              <a:spLocks noChangeArrowheads="1"/>
            </p:cNvSpPr>
            <p:nvPr/>
          </p:nvSpPr>
          <p:spPr bwMode="auto">
            <a:xfrm>
              <a:off x="7467600" y="6858000"/>
              <a:ext cx="622300" cy="596900"/>
            </a:xfrm>
            <a:prstGeom prst="rect">
              <a:avLst/>
            </a:prstGeom>
            <a:noFill/>
            <a:ln w="9525">
              <a:noFill/>
              <a:miter lim="800000"/>
              <a:headEnd/>
              <a:tailEnd/>
            </a:ln>
            <a:effectLst/>
          </p:spPr>
          <p:txBody>
            <a:bodyPr wrap="none" lIns="19050" tIns="26988" rIns="19050" bIns="26988"/>
            <a:lstStyle/>
            <a:p>
              <a:pPr>
                <a:lnSpc>
                  <a:spcPts val="2800"/>
                </a:lnSpc>
                <a:spcAft>
                  <a:spcPts val="900"/>
                </a:spcAft>
                <a:tabLst>
                  <a:tab pos="457200" algn="l"/>
                  <a:tab pos="914400" algn="l"/>
                  <a:tab pos="1371600" algn="l"/>
                </a:tabLst>
                <a:defRPr/>
              </a:pPr>
              <a:r>
                <a:rPr lang="en-US" b="0" i="1" dirty="0">
                  <a:latin typeface="+mn-lt"/>
                  <a:cs typeface="Times New Roman" pitchFamily="18" charset="0"/>
                </a:rPr>
                <a:t>Q</a:t>
              </a:r>
            </a:p>
          </p:txBody>
        </p:sp>
      </p:grpSp>
      <p:sp>
        <p:nvSpPr>
          <p:cNvPr id="51" name="Rectangle 43">
            <a:extLst>
              <a:ext uri="{FF2B5EF4-FFF2-40B4-BE49-F238E27FC236}">
                <a16:creationId xmlns:a16="http://schemas.microsoft.com/office/drawing/2014/main" id="{58F4ED3D-8350-1C4F-AAAE-C5333194AB70}"/>
              </a:ext>
            </a:extLst>
          </p:cNvPr>
          <p:cNvSpPr>
            <a:spLocks noChangeArrowheads="1"/>
          </p:cNvSpPr>
          <p:nvPr/>
        </p:nvSpPr>
        <p:spPr bwMode="auto">
          <a:xfrm>
            <a:off x="348132" y="1163348"/>
            <a:ext cx="1066800" cy="346364"/>
          </a:xfrm>
          <a:prstGeom prst="rect">
            <a:avLst/>
          </a:prstGeom>
          <a:noFill/>
          <a:ln w="9525">
            <a:noFill/>
            <a:miter lim="800000"/>
            <a:headEnd/>
            <a:tailEnd/>
          </a:ln>
          <a:effectLst/>
        </p:spPr>
        <p:txBody>
          <a:bodyPr wrap="none" lIns="19050" tIns="26988" rIns="19050" bIns="26988"/>
          <a:lstStyle/>
          <a:p>
            <a:pPr marL="0" marR="0" lvl="0" indent="0" algn="l" defTabSz="457200" rtl="0" eaLnBrk="1" fontAlgn="auto" latinLnBrk="0" hangingPunct="1">
              <a:lnSpc>
                <a:spcPts val="2100"/>
              </a:lnSpc>
              <a:spcBef>
                <a:spcPts val="0"/>
              </a:spcBef>
              <a:spcAft>
                <a:spcPts val="900"/>
              </a:spcAft>
              <a:buClrTx/>
              <a:buSzTx/>
              <a:buFontTx/>
              <a:buNone/>
              <a:tabLst>
                <a:tab pos="457200" algn="l"/>
                <a:tab pos="914400" algn="l"/>
                <a:tab pos="1371600" algn="l"/>
              </a:tabLst>
              <a:defRPr/>
            </a:pPr>
            <a:r>
              <a:rPr kumimoji="0" lang="en-US" sz="1800" b="0" i="0" u="none" strike="noStrike" kern="1200" cap="none" spc="0" normalizeH="0" baseline="0" noProof="0" dirty="0">
                <a:ln>
                  <a:noFill/>
                </a:ln>
                <a:solidFill>
                  <a:prstClr val="black"/>
                </a:solidFill>
                <a:effectLst/>
                <a:uLnTx/>
                <a:uFillTx/>
                <a:latin typeface="Calibri"/>
                <a:ea typeface="+mn-ea"/>
                <a:cs typeface="Times New Roman" pitchFamily="18" charset="0"/>
              </a:rPr>
              <a:t>$</a:t>
            </a:r>
            <a:r>
              <a:rPr lang="en-US" dirty="0">
                <a:solidFill>
                  <a:prstClr val="black"/>
                </a:solidFill>
                <a:latin typeface="Calibri"/>
                <a:cs typeface="Times New Roman" pitchFamily="18" charset="0"/>
              </a:rPr>
              <a:t>400</a:t>
            </a:r>
            <a:endParaRPr kumimoji="0" lang="en-US" sz="1800" b="0" i="0" u="none" strike="noStrike" kern="1200" cap="none" spc="0" normalizeH="0" baseline="0" noProof="0" dirty="0">
              <a:ln>
                <a:noFill/>
              </a:ln>
              <a:solidFill>
                <a:prstClr val="black"/>
              </a:solidFill>
              <a:effectLst/>
              <a:uLnTx/>
              <a:uFillTx/>
              <a:latin typeface="Calibri"/>
              <a:ea typeface="+mn-ea"/>
              <a:cs typeface="Times New Roman" pitchFamily="18" charset="0"/>
            </a:endParaRPr>
          </a:p>
        </p:txBody>
      </p:sp>
      <p:sp>
        <p:nvSpPr>
          <p:cNvPr id="52" name="Rectangle 43">
            <a:extLst>
              <a:ext uri="{FF2B5EF4-FFF2-40B4-BE49-F238E27FC236}">
                <a16:creationId xmlns:a16="http://schemas.microsoft.com/office/drawing/2014/main" id="{3F558B05-490B-5242-ABA0-C0EB80B4F1B6}"/>
              </a:ext>
            </a:extLst>
          </p:cNvPr>
          <p:cNvSpPr>
            <a:spLocks noChangeArrowheads="1"/>
          </p:cNvSpPr>
          <p:nvPr/>
        </p:nvSpPr>
        <p:spPr bwMode="auto">
          <a:xfrm>
            <a:off x="-12812" y="4235411"/>
            <a:ext cx="1066800" cy="346364"/>
          </a:xfrm>
          <a:prstGeom prst="rect">
            <a:avLst/>
          </a:prstGeom>
          <a:noFill/>
          <a:ln w="9525">
            <a:noFill/>
            <a:miter lim="800000"/>
            <a:headEnd/>
            <a:tailEnd/>
          </a:ln>
          <a:effectLst/>
        </p:spPr>
        <p:txBody>
          <a:bodyPr wrap="none" lIns="19050" tIns="26988" rIns="19050" bIns="26988"/>
          <a:lstStyle/>
          <a:p>
            <a:pPr marL="0" marR="0" lvl="0" indent="0" algn="l" defTabSz="457200" rtl="0" eaLnBrk="1" fontAlgn="auto" latinLnBrk="0" hangingPunct="1">
              <a:lnSpc>
                <a:spcPts val="2100"/>
              </a:lnSpc>
              <a:spcBef>
                <a:spcPts val="0"/>
              </a:spcBef>
              <a:spcAft>
                <a:spcPts val="900"/>
              </a:spcAft>
              <a:buClrTx/>
              <a:buSzTx/>
              <a:buFontTx/>
              <a:buNone/>
              <a:tabLst>
                <a:tab pos="457200" algn="l"/>
                <a:tab pos="914400" algn="l"/>
                <a:tab pos="1371600" algn="l"/>
              </a:tabLst>
              <a:defRPr/>
            </a:pPr>
            <a:r>
              <a:rPr kumimoji="0" lang="en-US" sz="1800" b="0" i="0" u="none" strike="noStrike" kern="1200" cap="none" spc="0" normalizeH="0" baseline="0" noProof="0" dirty="0">
                <a:ln>
                  <a:noFill/>
                </a:ln>
                <a:solidFill>
                  <a:prstClr val="black"/>
                </a:solidFill>
                <a:effectLst/>
                <a:uLnTx/>
                <a:uFillTx/>
                <a:latin typeface="Calibri"/>
                <a:ea typeface="+mn-ea"/>
                <a:cs typeface="Times New Roman" pitchFamily="18" charset="0"/>
              </a:rPr>
              <a:t>$160,000</a:t>
            </a:r>
          </a:p>
        </p:txBody>
      </p:sp>
      <p:sp>
        <p:nvSpPr>
          <p:cNvPr id="53" name="Rectangle 11">
            <a:extLst>
              <a:ext uri="{FF2B5EF4-FFF2-40B4-BE49-F238E27FC236}">
                <a16:creationId xmlns:a16="http://schemas.microsoft.com/office/drawing/2014/main" id="{A5D635F0-8689-674E-89CE-0497BCBC6F5D}"/>
              </a:ext>
            </a:extLst>
          </p:cNvPr>
          <p:cNvSpPr>
            <a:spLocks noChangeArrowheads="1"/>
          </p:cNvSpPr>
          <p:nvPr/>
        </p:nvSpPr>
        <p:spPr bwMode="auto">
          <a:xfrm>
            <a:off x="502089" y="2427794"/>
            <a:ext cx="685800" cy="508000"/>
          </a:xfrm>
          <a:prstGeom prst="rect">
            <a:avLst/>
          </a:prstGeom>
          <a:noFill/>
          <a:ln w="9525">
            <a:noFill/>
            <a:miter lim="800000"/>
            <a:headEnd/>
            <a:tailEnd/>
          </a:ln>
          <a:effectLst/>
        </p:spPr>
        <p:txBody>
          <a:bodyPr wrap="none" lIns="19050" tIns="26988" rIns="19050" bIns="26988"/>
          <a:lstStyle/>
          <a:p>
            <a:pPr marL="0" marR="0" lvl="0" indent="0" algn="l" defTabSz="457200" rtl="0" eaLnBrk="1" fontAlgn="auto" latinLnBrk="0" hangingPunct="1">
              <a:lnSpc>
                <a:spcPts val="2800"/>
              </a:lnSpc>
              <a:spcBef>
                <a:spcPts val="0"/>
              </a:spcBef>
              <a:spcAft>
                <a:spcPts val="0"/>
              </a:spcAft>
              <a:buClrTx/>
              <a:buSzTx/>
              <a:buFontTx/>
              <a:buNone/>
              <a:tabLst>
                <a:tab pos="457200" algn="l"/>
                <a:tab pos="914400" algn="l"/>
                <a:tab pos="1371600" algn="l"/>
              </a:tabLst>
              <a:defRPr/>
            </a:pPr>
            <a:r>
              <a:rPr kumimoji="0" lang="en-US" sz="1800" b="0" i="0" u="none" strike="noStrike" kern="1200" cap="none" spc="0" normalizeH="0" baseline="0" noProof="0" dirty="0">
                <a:ln>
                  <a:noFill/>
                </a:ln>
                <a:solidFill>
                  <a:prstClr val="black"/>
                </a:solidFill>
                <a:effectLst/>
                <a:uLnTx/>
                <a:uFillTx/>
                <a:latin typeface="Calibri"/>
                <a:ea typeface="+mn-ea"/>
                <a:cs typeface="Times New Roman" pitchFamily="18" charset="0"/>
              </a:rPr>
              <a:t>200</a:t>
            </a:r>
          </a:p>
        </p:txBody>
      </p:sp>
      <p:sp>
        <p:nvSpPr>
          <p:cNvPr id="54" name="Rectangle 16">
            <a:extLst>
              <a:ext uri="{FF2B5EF4-FFF2-40B4-BE49-F238E27FC236}">
                <a16:creationId xmlns:a16="http://schemas.microsoft.com/office/drawing/2014/main" id="{5C7078C5-0071-0748-AA44-0B1B2F45ABED}"/>
              </a:ext>
            </a:extLst>
          </p:cNvPr>
          <p:cNvSpPr>
            <a:spLocks noChangeArrowheads="1"/>
          </p:cNvSpPr>
          <p:nvPr/>
        </p:nvSpPr>
        <p:spPr bwMode="auto">
          <a:xfrm>
            <a:off x="3527973" y="3903099"/>
            <a:ext cx="977900" cy="381000"/>
          </a:xfrm>
          <a:prstGeom prst="rect">
            <a:avLst/>
          </a:prstGeom>
          <a:noFill/>
          <a:ln w="9525">
            <a:noFill/>
            <a:miter lim="800000"/>
            <a:headEnd/>
            <a:tailEnd/>
          </a:ln>
          <a:effectLst/>
        </p:spPr>
        <p:txBody>
          <a:bodyPr wrap="none" lIns="19050" tIns="26988" rIns="19050" bIns="26988"/>
          <a:lstStyle/>
          <a:p>
            <a:pPr marL="0" marR="0" lvl="0" indent="0" algn="l" defTabSz="457200" rtl="0" eaLnBrk="1" fontAlgn="auto" latinLnBrk="0" hangingPunct="1">
              <a:lnSpc>
                <a:spcPts val="2800"/>
              </a:lnSpc>
              <a:spcBef>
                <a:spcPts val="0"/>
              </a:spcBef>
              <a:spcAft>
                <a:spcPts val="0"/>
              </a:spcAft>
              <a:buClrTx/>
              <a:buSzTx/>
              <a:buFontTx/>
              <a:buNone/>
              <a:tabLst>
                <a:tab pos="457200" algn="l"/>
                <a:tab pos="914400" algn="l"/>
                <a:tab pos="1371600" algn="l"/>
              </a:tabLst>
              <a:defRPr/>
            </a:pPr>
            <a:r>
              <a:rPr kumimoji="0" lang="en-US" sz="1800" b="0" i="0" u="none" strike="noStrike" kern="1200" cap="none" spc="0" normalizeH="0" baseline="0" noProof="0" dirty="0">
                <a:ln>
                  <a:noFill/>
                </a:ln>
                <a:solidFill>
                  <a:prstClr val="black"/>
                </a:solidFill>
                <a:effectLst/>
                <a:uLnTx/>
                <a:uFillTx/>
                <a:latin typeface="Calibri"/>
                <a:ea typeface="+mn-ea"/>
                <a:cs typeface="Times New Roman" pitchFamily="18" charset="0"/>
              </a:rPr>
              <a:t>800</a:t>
            </a:r>
          </a:p>
        </p:txBody>
      </p:sp>
      <p:sp>
        <p:nvSpPr>
          <p:cNvPr id="55" name="Rectangle 16">
            <a:extLst>
              <a:ext uri="{FF2B5EF4-FFF2-40B4-BE49-F238E27FC236}">
                <a16:creationId xmlns:a16="http://schemas.microsoft.com/office/drawing/2014/main" id="{CE259D65-3CDF-E240-A7E5-1068A6654F54}"/>
              </a:ext>
            </a:extLst>
          </p:cNvPr>
          <p:cNvSpPr>
            <a:spLocks noChangeArrowheads="1"/>
          </p:cNvSpPr>
          <p:nvPr/>
        </p:nvSpPr>
        <p:spPr bwMode="auto">
          <a:xfrm>
            <a:off x="3604176" y="6457803"/>
            <a:ext cx="977900" cy="381000"/>
          </a:xfrm>
          <a:prstGeom prst="rect">
            <a:avLst/>
          </a:prstGeom>
          <a:noFill/>
          <a:ln w="9525">
            <a:noFill/>
            <a:miter lim="800000"/>
            <a:headEnd/>
            <a:tailEnd/>
          </a:ln>
          <a:effectLst/>
        </p:spPr>
        <p:txBody>
          <a:bodyPr wrap="none" lIns="19050" tIns="26988" rIns="19050" bIns="26988"/>
          <a:lstStyle/>
          <a:p>
            <a:pPr marL="0" marR="0" lvl="0" indent="0" algn="l" defTabSz="457200" rtl="0" eaLnBrk="1" fontAlgn="auto" latinLnBrk="0" hangingPunct="1">
              <a:lnSpc>
                <a:spcPts val="2800"/>
              </a:lnSpc>
              <a:spcBef>
                <a:spcPts val="0"/>
              </a:spcBef>
              <a:spcAft>
                <a:spcPts val="0"/>
              </a:spcAft>
              <a:buClrTx/>
              <a:buSzTx/>
              <a:buFontTx/>
              <a:buNone/>
              <a:tabLst>
                <a:tab pos="457200" algn="l"/>
                <a:tab pos="914400" algn="l"/>
                <a:tab pos="1371600" algn="l"/>
              </a:tabLst>
              <a:defRPr/>
            </a:pPr>
            <a:r>
              <a:rPr kumimoji="0" lang="en-US" sz="1800" b="0" i="0" u="none" strike="noStrike" kern="1200" cap="none" spc="0" normalizeH="0" baseline="0" noProof="0" dirty="0">
                <a:ln>
                  <a:noFill/>
                </a:ln>
                <a:solidFill>
                  <a:prstClr val="black"/>
                </a:solidFill>
                <a:effectLst/>
                <a:uLnTx/>
                <a:uFillTx/>
                <a:latin typeface="Calibri"/>
                <a:ea typeface="+mn-ea"/>
                <a:cs typeface="Times New Roman" pitchFamily="18" charset="0"/>
              </a:rPr>
              <a:t>800</a:t>
            </a:r>
          </a:p>
        </p:txBody>
      </p:sp>
      <p:sp>
        <p:nvSpPr>
          <p:cNvPr id="3" name="Slide Number Placeholder 2">
            <a:extLst>
              <a:ext uri="{FF2B5EF4-FFF2-40B4-BE49-F238E27FC236}">
                <a16:creationId xmlns:a16="http://schemas.microsoft.com/office/drawing/2014/main" id="{4F768E0B-3C2A-0249-9281-E792B504EB1D}"/>
              </a:ext>
            </a:extLst>
          </p:cNvPr>
          <p:cNvSpPr>
            <a:spLocks noGrp="1"/>
          </p:cNvSpPr>
          <p:nvPr>
            <p:ph type="sldNum" sz="quarter" idx="12"/>
          </p:nvPr>
        </p:nvSpPr>
        <p:spPr/>
        <p:txBody>
          <a:bodyPr/>
          <a:lstStyle/>
          <a:p>
            <a:fld id="{0F3206DB-9488-D04D-BDD1-A7C9D84C4579}" type="slidenum">
              <a:rPr lang="en-US" smtClean="0"/>
              <a:t>4</a:t>
            </a:fld>
            <a:endParaRPr lang="en-US" dirty="0"/>
          </a:p>
        </p:txBody>
      </p:sp>
      <p:sp>
        <p:nvSpPr>
          <p:cNvPr id="58" name="Rectangle 41">
            <a:extLst>
              <a:ext uri="{FF2B5EF4-FFF2-40B4-BE49-F238E27FC236}">
                <a16:creationId xmlns:a16="http://schemas.microsoft.com/office/drawing/2014/main" id="{F76B516D-2194-734A-9F13-49BE575591A3}"/>
              </a:ext>
            </a:extLst>
          </p:cNvPr>
          <p:cNvSpPr>
            <a:spLocks noChangeArrowheads="1"/>
          </p:cNvSpPr>
          <p:nvPr/>
        </p:nvSpPr>
        <p:spPr bwMode="auto">
          <a:xfrm>
            <a:off x="5076988" y="955156"/>
            <a:ext cx="4453457" cy="2463456"/>
          </a:xfrm>
          <a:prstGeom prst="rect">
            <a:avLst/>
          </a:prstGeom>
          <a:noFill/>
          <a:ln w="9525">
            <a:noFill/>
            <a:miter lim="800000"/>
            <a:headEnd/>
            <a:tailEnd/>
          </a:ln>
          <a:effectLst/>
        </p:spPr>
        <p:txBody>
          <a:bodyPr wrap="none" lIns="19050" tIns="26988" rIns="19050" bIns="26988"/>
          <a:lstStyle/>
          <a:p>
            <a:pPr lvl="0">
              <a:spcAft>
                <a:spcPts val="900"/>
              </a:spcAft>
              <a:tabLst>
                <a:tab pos="457200" algn="l"/>
                <a:tab pos="914400" algn="l"/>
                <a:tab pos="1371600" algn="l"/>
              </a:tabLst>
              <a:defRPr/>
            </a:pPr>
            <a:r>
              <a:rPr lang="en-US" u="sng" dirty="0">
                <a:solidFill>
                  <a:prstClr val="black"/>
                </a:solidFill>
                <a:cs typeface="Times New Roman" pitchFamily="18" charset="0"/>
              </a:rPr>
              <a:t>Inverse demand function:</a:t>
            </a:r>
          </a:p>
          <a:p>
            <a:pPr lvl="0">
              <a:spcAft>
                <a:spcPts val="900"/>
              </a:spcAft>
              <a:tabLst>
                <a:tab pos="457200" algn="l"/>
                <a:tab pos="914400" algn="l"/>
                <a:tab pos="1371600" algn="l"/>
              </a:tabLst>
              <a:defRPr/>
            </a:pPr>
            <a:r>
              <a:rPr lang="en-US" i="1" dirty="0">
                <a:solidFill>
                  <a:srgbClr val="C00000"/>
                </a:solidFill>
                <a:cs typeface="Times New Roman" pitchFamily="18" charset="0"/>
              </a:rPr>
              <a:t>P </a:t>
            </a:r>
            <a:r>
              <a:rPr lang="en-US" dirty="0">
                <a:solidFill>
                  <a:srgbClr val="C00000"/>
                </a:solidFill>
                <a:cs typeface="Times New Roman" pitchFamily="18" charset="0"/>
              </a:rPr>
              <a:t>= 400 - </a:t>
            </a:r>
            <a:r>
              <a:rPr lang="en-US" i="1" dirty="0">
                <a:solidFill>
                  <a:srgbClr val="C00000"/>
                </a:solidFill>
                <a:cs typeface="Times New Roman" pitchFamily="18" charset="0"/>
              </a:rPr>
              <a:t>Q</a:t>
            </a:r>
            <a:r>
              <a:rPr lang="en-US" dirty="0">
                <a:solidFill>
                  <a:srgbClr val="C00000"/>
                </a:solidFill>
                <a:cs typeface="Times New Roman" pitchFamily="18" charset="0"/>
              </a:rPr>
              <a:t>/4</a:t>
            </a:r>
            <a:endParaRPr lang="en-US" u="sng" dirty="0">
              <a:solidFill>
                <a:srgbClr val="C00000"/>
              </a:solidFill>
              <a:latin typeface="Calibri"/>
              <a:cs typeface="Times New Roman" pitchFamily="18" charset="0"/>
            </a:endParaRPr>
          </a:p>
          <a:p>
            <a:pPr marL="0" marR="0" lvl="0" indent="0" algn="l" defTabSz="457200" rtl="0" eaLnBrk="1" fontAlgn="auto" latinLnBrk="0" hangingPunct="1">
              <a:lnSpc>
                <a:spcPts val="2800"/>
              </a:lnSpc>
              <a:spcBef>
                <a:spcPts val="0"/>
              </a:spcBef>
              <a:spcAft>
                <a:spcPts val="900"/>
              </a:spcAft>
              <a:buClrTx/>
              <a:buSzTx/>
              <a:buFontTx/>
              <a:buNone/>
              <a:tabLst>
                <a:tab pos="457200" algn="l"/>
                <a:tab pos="914400" algn="l"/>
                <a:tab pos="1371600" algn="l"/>
              </a:tabLst>
              <a:defRPr/>
            </a:pPr>
            <a:r>
              <a:rPr lang="en-US" u="sng" dirty="0">
                <a:solidFill>
                  <a:prstClr val="black"/>
                </a:solidFill>
                <a:latin typeface="Calibri"/>
                <a:cs typeface="Times New Roman" pitchFamily="18" charset="0"/>
              </a:rPr>
              <a:t>Total Revenue:</a:t>
            </a:r>
            <a:r>
              <a:rPr lang="en-US" dirty="0">
                <a:solidFill>
                  <a:prstClr val="black"/>
                </a:solidFill>
                <a:latin typeface="Calibri"/>
                <a:cs typeface="Times New Roman" pitchFamily="18" charset="0"/>
              </a:rPr>
              <a:t> </a:t>
            </a:r>
            <a:r>
              <a:rPr lang="en-US" i="1" dirty="0">
                <a:solidFill>
                  <a:prstClr val="black"/>
                </a:solidFill>
                <a:latin typeface="Calibri"/>
                <a:cs typeface="Times New Roman" pitchFamily="18" charset="0"/>
              </a:rPr>
              <a:t>TR</a:t>
            </a:r>
            <a:r>
              <a:rPr kumimoji="0" lang="en-US" sz="1800" b="0" i="1" u="none" strike="noStrike" kern="1200" cap="none" spc="0" normalizeH="0" baseline="0" noProof="0" dirty="0">
                <a:ln>
                  <a:noFill/>
                </a:ln>
                <a:solidFill>
                  <a:prstClr val="black"/>
                </a:solidFill>
                <a:effectLst/>
                <a:uLnTx/>
                <a:uFillTx/>
                <a:latin typeface="Calibri"/>
                <a:cs typeface="Times New Roman" pitchFamily="18" charset="0"/>
              </a:rPr>
              <a:t>  </a:t>
            </a:r>
            <a:r>
              <a:rPr kumimoji="0" lang="en-US" sz="1800" b="0" u="none" strike="noStrike" kern="1200" cap="none" spc="0" normalizeH="0" baseline="0" noProof="0" dirty="0">
                <a:ln>
                  <a:noFill/>
                </a:ln>
                <a:solidFill>
                  <a:prstClr val="black"/>
                </a:solidFill>
                <a:effectLst/>
                <a:uLnTx/>
                <a:uFillTx/>
                <a:latin typeface="Calibri"/>
                <a:cs typeface="Times New Roman" pitchFamily="18" charset="0"/>
              </a:rPr>
              <a:t>=</a:t>
            </a:r>
            <a:r>
              <a:rPr kumimoji="0" lang="en-US" sz="1800" b="0" i="1" u="none" strike="noStrike" kern="1200" cap="none" spc="0" normalizeH="0" baseline="0" noProof="0" dirty="0">
                <a:ln>
                  <a:noFill/>
                </a:ln>
                <a:solidFill>
                  <a:prstClr val="black"/>
                </a:solidFill>
                <a:effectLst/>
                <a:uLnTx/>
                <a:uFillTx/>
                <a:latin typeface="Calibri"/>
                <a:cs typeface="Times New Roman" pitchFamily="18" charset="0"/>
              </a:rPr>
              <a:t>  P∙Q</a:t>
            </a:r>
          </a:p>
          <a:p>
            <a:pPr lvl="0">
              <a:lnSpc>
                <a:spcPts val="2800"/>
              </a:lnSpc>
              <a:spcAft>
                <a:spcPts val="900"/>
              </a:spcAft>
              <a:tabLst>
                <a:tab pos="457200" algn="l"/>
                <a:tab pos="914400" algn="l"/>
                <a:tab pos="1371600" algn="l"/>
              </a:tabLst>
              <a:defRPr/>
            </a:pPr>
            <a:r>
              <a:rPr lang="en-US" u="sng" dirty="0">
                <a:solidFill>
                  <a:prstClr val="black"/>
                </a:solidFill>
                <a:latin typeface="Calibri"/>
                <a:cs typeface="Times New Roman" pitchFamily="18" charset="0"/>
              </a:rPr>
              <a:t>Plug in for </a:t>
            </a:r>
            <a:r>
              <a:rPr lang="en-US" i="1" u="sng" dirty="0">
                <a:solidFill>
                  <a:prstClr val="black"/>
                </a:solidFill>
                <a:latin typeface="Calibri"/>
                <a:cs typeface="Times New Roman" pitchFamily="18" charset="0"/>
              </a:rPr>
              <a:t>P</a:t>
            </a:r>
            <a:r>
              <a:rPr lang="en-US" u="sng" dirty="0">
                <a:solidFill>
                  <a:prstClr val="black"/>
                </a:solidFill>
                <a:latin typeface="Calibri"/>
                <a:cs typeface="Times New Roman" pitchFamily="18" charset="0"/>
              </a:rPr>
              <a:t>:</a:t>
            </a:r>
            <a:r>
              <a:rPr lang="en-US" dirty="0">
                <a:solidFill>
                  <a:prstClr val="black"/>
                </a:solidFill>
                <a:latin typeface="Calibri"/>
                <a:cs typeface="Times New Roman" pitchFamily="18" charset="0"/>
              </a:rPr>
              <a:t>     </a:t>
            </a:r>
            <a:r>
              <a:rPr lang="en-US" i="1" dirty="0">
                <a:solidFill>
                  <a:prstClr val="black"/>
                </a:solidFill>
                <a:latin typeface="Calibri"/>
                <a:cs typeface="Times New Roman" pitchFamily="18" charset="0"/>
              </a:rPr>
              <a:t>TR </a:t>
            </a:r>
            <a:r>
              <a:rPr lang="en-US" dirty="0">
                <a:solidFill>
                  <a:prstClr val="black"/>
                </a:solidFill>
                <a:latin typeface="Calibri"/>
                <a:cs typeface="Times New Roman" pitchFamily="18" charset="0"/>
              </a:rPr>
              <a:t>= </a:t>
            </a:r>
            <a:r>
              <a:rPr lang="en-US" dirty="0">
                <a:solidFill>
                  <a:srgbClr val="C00000"/>
                </a:solidFill>
                <a:latin typeface="Calibri"/>
                <a:cs typeface="Times New Roman" pitchFamily="18" charset="0"/>
              </a:rPr>
              <a:t>(400-</a:t>
            </a:r>
            <a:r>
              <a:rPr lang="en-US" i="1" dirty="0">
                <a:solidFill>
                  <a:srgbClr val="C00000"/>
                </a:solidFill>
                <a:latin typeface="Calibri"/>
                <a:cs typeface="Times New Roman" pitchFamily="18" charset="0"/>
              </a:rPr>
              <a:t>Q</a:t>
            </a:r>
            <a:r>
              <a:rPr lang="en-US" dirty="0">
                <a:solidFill>
                  <a:srgbClr val="C00000"/>
                </a:solidFill>
                <a:latin typeface="Calibri"/>
                <a:cs typeface="Times New Roman" pitchFamily="18" charset="0"/>
              </a:rPr>
              <a:t>/4)</a:t>
            </a:r>
            <a:r>
              <a:rPr lang="en-US" i="1" dirty="0">
                <a:solidFill>
                  <a:prstClr val="black"/>
                </a:solidFill>
                <a:cs typeface="Times New Roman" pitchFamily="18" charset="0"/>
              </a:rPr>
              <a:t> ∙ </a:t>
            </a:r>
            <a:r>
              <a:rPr lang="en-US" i="1" dirty="0">
                <a:solidFill>
                  <a:prstClr val="black"/>
                </a:solidFill>
                <a:latin typeface="Calibri"/>
                <a:cs typeface="Times New Roman" pitchFamily="18" charset="0"/>
              </a:rPr>
              <a:t>Q</a:t>
            </a:r>
          </a:p>
          <a:p>
            <a:pPr marL="0" marR="0" lvl="0" indent="0" algn="l" defTabSz="457200" rtl="0" eaLnBrk="1" fontAlgn="auto" latinLnBrk="0" hangingPunct="1">
              <a:lnSpc>
                <a:spcPts val="2800"/>
              </a:lnSpc>
              <a:spcBef>
                <a:spcPts val="0"/>
              </a:spcBef>
              <a:spcAft>
                <a:spcPts val="900"/>
              </a:spcAft>
              <a:buClrTx/>
              <a:buSzTx/>
              <a:buFontTx/>
              <a:buNone/>
              <a:tabLst>
                <a:tab pos="457200" algn="l"/>
                <a:tab pos="914400" algn="l"/>
                <a:tab pos="1371600" algn="l"/>
              </a:tabLst>
              <a:defRPr/>
            </a:pPr>
            <a:r>
              <a:rPr kumimoji="0" lang="en-US" sz="1800" b="0" u="none" strike="noStrike" kern="1200" cap="none" spc="0" normalizeH="0" baseline="0" noProof="0" dirty="0">
                <a:ln>
                  <a:noFill/>
                </a:ln>
                <a:solidFill>
                  <a:prstClr val="black"/>
                </a:solidFill>
                <a:effectLst/>
                <a:uLnTx/>
                <a:uFillTx/>
                <a:latin typeface="Calibri"/>
                <a:cs typeface="Times New Roman" pitchFamily="18" charset="0"/>
              </a:rPr>
              <a:t>                           </a:t>
            </a:r>
            <a:r>
              <a:rPr kumimoji="0" lang="en-US" sz="1800" b="0" u="none" strike="noStrike" kern="1200" cap="none" spc="0" normalizeH="0" noProof="0" dirty="0">
                <a:ln>
                  <a:noFill/>
                </a:ln>
                <a:solidFill>
                  <a:prstClr val="black"/>
                </a:solidFill>
                <a:effectLst/>
                <a:uLnTx/>
                <a:uFillTx/>
                <a:latin typeface="Calibri"/>
                <a:cs typeface="Times New Roman" pitchFamily="18" charset="0"/>
              </a:rPr>
              <a:t>      </a:t>
            </a:r>
            <a:r>
              <a:rPr kumimoji="0" lang="en-US" sz="1800" b="0" u="none" strike="noStrike" kern="1200" cap="none" spc="0" normalizeH="0" baseline="0" noProof="0" dirty="0">
                <a:ln>
                  <a:noFill/>
                </a:ln>
                <a:solidFill>
                  <a:prstClr val="black"/>
                </a:solidFill>
                <a:effectLst/>
                <a:uLnTx/>
                <a:uFillTx/>
                <a:latin typeface="Calibri"/>
                <a:cs typeface="Times New Roman" pitchFamily="18" charset="0"/>
              </a:rPr>
              <a:t>= 400</a:t>
            </a:r>
            <a:r>
              <a:rPr kumimoji="0" lang="en-US" sz="1800" b="0" i="1" u="none" strike="noStrike" kern="1200" cap="none" spc="0" normalizeH="0" baseline="0" noProof="0" dirty="0">
                <a:ln>
                  <a:noFill/>
                </a:ln>
                <a:solidFill>
                  <a:prstClr val="black"/>
                </a:solidFill>
                <a:effectLst/>
                <a:uLnTx/>
                <a:uFillTx/>
                <a:latin typeface="Calibri"/>
                <a:cs typeface="Times New Roman" pitchFamily="18" charset="0"/>
              </a:rPr>
              <a:t>Q</a:t>
            </a:r>
            <a:r>
              <a:rPr kumimoji="0" lang="en-US" sz="1800" b="0" u="none" strike="noStrike" kern="1200" cap="none" spc="0" normalizeH="0" baseline="0" noProof="0" dirty="0">
                <a:ln>
                  <a:noFill/>
                </a:ln>
                <a:solidFill>
                  <a:prstClr val="black"/>
                </a:solidFill>
                <a:effectLst/>
                <a:uLnTx/>
                <a:uFillTx/>
                <a:latin typeface="Calibri"/>
                <a:cs typeface="Times New Roman" pitchFamily="18" charset="0"/>
              </a:rPr>
              <a:t>-</a:t>
            </a:r>
            <a:r>
              <a:rPr kumimoji="0" lang="en-US" sz="1800" b="0" i="1" u="none" strike="noStrike" kern="1200" cap="none" spc="0" normalizeH="0" baseline="0" noProof="0" dirty="0">
                <a:ln>
                  <a:noFill/>
                </a:ln>
                <a:solidFill>
                  <a:prstClr val="black"/>
                </a:solidFill>
                <a:effectLst/>
                <a:uLnTx/>
                <a:uFillTx/>
                <a:latin typeface="Calibri"/>
                <a:cs typeface="Times New Roman" pitchFamily="18" charset="0"/>
              </a:rPr>
              <a:t>Q</a:t>
            </a:r>
            <a:r>
              <a:rPr kumimoji="0" lang="en-US" sz="1800" b="0" i="1" u="none" strike="noStrike" kern="1200" cap="none" spc="0" normalizeH="0" baseline="30000" noProof="0" dirty="0">
                <a:ln>
                  <a:noFill/>
                </a:ln>
                <a:solidFill>
                  <a:prstClr val="black"/>
                </a:solidFill>
                <a:effectLst/>
                <a:uLnTx/>
                <a:uFillTx/>
                <a:latin typeface="Calibri"/>
                <a:cs typeface="Times New Roman" pitchFamily="18" charset="0"/>
              </a:rPr>
              <a:t>2</a:t>
            </a:r>
            <a:r>
              <a:rPr kumimoji="0" lang="en-US" sz="1800" b="0" u="none" strike="noStrike" kern="1200" cap="none" spc="0" normalizeH="0" noProof="0" dirty="0">
                <a:ln>
                  <a:noFill/>
                </a:ln>
                <a:solidFill>
                  <a:prstClr val="black"/>
                </a:solidFill>
                <a:effectLst/>
                <a:uLnTx/>
                <a:uFillTx/>
                <a:latin typeface="Calibri"/>
                <a:cs typeface="Times New Roman" pitchFamily="18" charset="0"/>
              </a:rPr>
              <a:t>/4</a:t>
            </a:r>
          </a:p>
          <a:p>
            <a:pPr marL="0" marR="0" lvl="0" indent="0" algn="l" defTabSz="457200" rtl="0" eaLnBrk="1" fontAlgn="auto" latinLnBrk="0" hangingPunct="1">
              <a:lnSpc>
                <a:spcPts val="2800"/>
              </a:lnSpc>
              <a:spcBef>
                <a:spcPts val="0"/>
              </a:spcBef>
              <a:spcAft>
                <a:spcPts val="900"/>
              </a:spcAft>
              <a:buClrTx/>
              <a:buSzTx/>
              <a:buFontTx/>
              <a:buNone/>
              <a:tabLst>
                <a:tab pos="457200" algn="l"/>
                <a:tab pos="914400" algn="l"/>
                <a:tab pos="1371600" algn="l"/>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Times New Roman" pitchFamily="18" charset="0"/>
            </a:endParaRPr>
          </a:p>
        </p:txBody>
      </p:sp>
      <p:sp>
        <p:nvSpPr>
          <p:cNvPr id="59" name="Rectangle 16">
            <a:extLst>
              <a:ext uri="{FF2B5EF4-FFF2-40B4-BE49-F238E27FC236}">
                <a16:creationId xmlns:a16="http://schemas.microsoft.com/office/drawing/2014/main" id="{8AD54E50-4AA5-A547-80C9-40A8BD98EBCE}"/>
              </a:ext>
            </a:extLst>
          </p:cNvPr>
          <p:cNvSpPr>
            <a:spLocks noChangeArrowheads="1"/>
          </p:cNvSpPr>
          <p:nvPr/>
        </p:nvSpPr>
        <p:spPr bwMode="auto">
          <a:xfrm>
            <a:off x="6419116" y="6474228"/>
            <a:ext cx="977900" cy="381000"/>
          </a:xfrm>
          <a:prstGeom prst="rect">
            <a:avLst/>
          </a:prstGeom>
          <a:noFill/>
          <a:ln w="9525">
            <a:noFill/>
            <a:miter lim="800000"/>
            <a:headEnd/>
            <a:tailEnd/>
          </a:ln>
          <a:effectLst/>
        </p:spPr>
        <p:txBody>
          <a:bodyPr wrap="none" lIns="19050" tIns="26988" rIns="19050" bIns="26988"/>
          <a:lstStyle/>
          <a:p>
            <a:pPr marL="0" marR="0" lvl="0" indent="0" algn="l" defTabSz="457200" rtl="0" eaLnBrk="1" fontAlgn="auto" latinLnBrk="0" hangingPunct="1">
              <a:lnSpc>
                <a:spcPts val="2800"/>
              </a:lnSpc>
              <a:spcBef>
                <a:spcPts val="0"/>
              </a:spcBef>
              <a:spcAft>
                <a:spcPts val="0"/>
              </a:spcAft>
              <a:buClrTx/>
              <a:buSzTx/>
              <a:buFontTx/>
              <a:buNone/>
              <a:tabLst>
                <a:tab pos="457200" algn="l"/>
                <a:tab pos="914400" algn="l"/>
                <a:tab pos="1371600" algn="l"/>
              </a:tabLst>
              <a:defRPr/>
            </a:pPr>
            <a:r>
              <a:rPr lang="en-US" dirty="0">
                <a:solidFill>
                  <a:prstClr val="black"/>
                </a:solidFill>
                <a:latin typeface="Calibri"/>
                <a:cs typeface="Times New Roman" pitchFamily="18" charset="0"/>
              </a:rPr>
              <a:t>16</a:t>
            </a:r>
            <a:r>
              <a:rPr kumimoji="0" lang="en-US" sz="1800" b="0" i="0" u="none" strike="noStrike" kern="1200" cap="none" spc="0" normalizeH="0" baseline="0" noProof="0" dirty="0">
                <a:ln>
                  <a:noFill/>
                </a:ln>
                <a:solidFill>
                  <a:prstClr val="black"/>
                </a:solidFill>
                <a:effectLst/>
                <a:uLnTx/>
                <a:uFillTx/>
                <a:latin typeface="Calibri"/>
                <a:ea typeface="+mn-ea"/>
                <a:cs typeface="Times New Roman" pitchFamily="18" charset="0"/>
              </a:rPr>
              <a:t>00</a:t>
            </a:r>
          </a:p>
        </p:txBody>
      </p:sp>
      <p:grpSp>
        <p:nvGrpSpPr>
          <p:cNvPr id="12" name="Group 11">
            <a:extLst>
              <a:ext uri="{FF2B5EF4-FFF2-40B4-BE49-F238E27FC236}">
                <a16:creationId xmlns:a16="http://schemas.microsoft.com/office/drawing/2014/main" id="{4035CD52-8666-C248-8B5D-9A456AA47F9F}"/>
              </a:ext>
            </a:extLst>
          </p:cNvPr>
          <p:cNvGrpSpPr/>
          <p:nvPr/>
        </p:nvGrpSpPr>
        <p:grpSpPr>
          <a:xfrm>
            <a:off x="972767" y="1243852"/>
            <a:ext cx="5572964" cy="2594207"/>
            <a:chOff x="972767" y="1243852"/>
            <a:chExt cx="5572964" cy="2594207"/>
          </a:xfrm>
        </p:grpSpPr>
        <p:sp>
          <p:nvSpPr>
            <p:cNvPr id="61" name="Line 5">
              <a:extLst>
                <a:ext uri="{FF2B5EF4-FFF2-40B4-BE49-F238E27FC236}">
                  <a16:creationId xmlns:a16="http://schemas.microsoft.com/office/drawing/2014/main" id="{1116487A-01B6-D44C-87E5-50A92277E622}"/>
                </a:ext>
              </a:extLst>
            </p:cNvPr>
            <p:cNvSpPr>
              <a:spLocks noChangeShapeType="1"/>
            </p:cNvSpPr>
            <p:nvPr/>
          </p:nvSpPr>
          <p:spPr bwMode="auto">
            <a:xfrm>
              <a:off x="972767" y="1243852"/>
              <a:ext cx="5572964" cy="2594207"/>
            </a:xfrm>
            <a:prstGeom prst="line">
              <a:avLst/>
            </a:prstGeom>
            <a:noFill/>
            <a:ln w="50800">
              <a:solidFill>
                <a:srgbClr val="C00000"/>
              </a:solidFill>
              <a:round/>
              <a:headEnd type="none" w="sm" len="sm"/>
              <a:tailEnd type="none" w="sm" len="sm"/>
            </a:ln>
          </p:spPr>
          <p:txBody>
            <a:bodyPr wrap="none" anchor="ctr"/>
            <a:lstStyle/>
            <a:p>
              <a:endParaRPr lang="en-US">
                <a:latin typeface="+mn-lt"/>
                <a:cs typeface="Times New Roman" pitchFamily="18" charset="0"/>
              </a:endParaRPr>
            </a:p>
          </p:txBody>
        </p:sp>
        <p:sp>
          <p:nvSpPr>
            <p:cNvPr id="62" name="Rectangle 14">
              <a:extLst>
                <a:ext uri="{FF2B5EF4-FFF2-40B4-BE49-F238E27FC236}">
                  <a16:creationId xmlns:a16="http://schemas.microsoft.com/office/drawing/2014/main" id="{06975764-D513-E74C-9E15-49826EEF23CD}"/>
                </a:ext>
              </a:extLst>
            </p:cNvPr>
            <p:cNvSpPr>
              <a:spLocks noChangeArrowheads="1"/>
            </p:cNvSpPr>
            <p:nvPr/>
          </p:nvSpPr>
          <p:spPr bwMode="auto">
            <a:xfrm>
              <a:off x="6103567" y="3242670"/>
              <a:ext cx="381000" cy="457200"/>
            </a:xfrm>
            <a:prstGeom prst="rect">
              <a:avLst/>
            </a:prstGeom>
            <a:noFill/>
            <a:ln w="9525">
              <a:noFill/>
              <a:miter lim="800000"/>
              <a:headEnd/>
              <a:tailEnd/>
            </a:ln>
            <a:effectLst/>
          </p:spPr>
          <p:txBody>
            <a:bodyPr wrap="none" lIns="19050" tIns="26988" rIns="19050" bIns="26988"/>
            <a:lstStyle/>
            <a:p>
              <a:pPr>
                <a:lnSpc>
                  <a:spcPts val="2800"/>
                </a:lnSpc>
                <a:spcAft>
                  <a:spcPts val="900"/>
                </a:spcAft>
                <a:tabLst>
                  <a:tab pos="457200" algn="l"/>
                  <a:tab pos="914400" algn="l"/>
                  <a:tab pos="1371600" algn="l"/>
                </a:tabLst>
                <a:defRPr/>
              </a:pPr>
              <a:r>
                <a:rPr lang="en-US" b="0" i="1" dirty="0">
                  <a:solidFill>
                    <a:srgbClr val="C00000"/>
                  </a:solidFill>
                  <a:latin typeface="+mn-lt"/>
                  <a:cs typeface="Times New Roman" pitchFamily="18" charset="0"/>
                </a:rPr>
                <a:t>D</a:t>
              </a:r>
            </a:p>
          </p:txBody>
        </p:sp>
      </p:grpSp>
      <p:grpSp>
        <p:nvGrpSpPr>
          <p:cNvPr id="63" name="Group 62">
            <a:extLst>
              <a:ext uri="{FF2B5EF4-FFF2-40B4-BE49-F238E27FC236}">
                <a16:creationId xmlns:a16="http://schemas.microsoft.com/office/drawing/2014/main" id="{B6A80988-EB94-9A4F-AA8E-0CFE36338625}"/>
              </a:ext>
            </a:extLst>
          </p:cNvPr>
          <p:cNvGrpSpPr/>
          <p:nvPr/>
        </p:nvGrpSpPr>
        <p:grpSpPr>
          <a:xfrm>
            <a:off x="966443" y="2582004"/>
            <a:ext cx="2819354" cy="1290261"/>
            <a:chOff x="1371600" y="2895600"/>
            <a:chExt cx="2819400" cy="1143000"/>
          </a:xfrm>
        </p:grpSpPr>
        <p:sp>
          <p:nvSpPr>
            <p:cNvPr id="64" name="Rectangle 25">
              <a:extLst>
                <a:ext uri="{FF2B5EF4-FFF2-40B4-BE49-F238E27FC236}">
                  <a16:creationId xmlns:a16="http://schemas.microsoft.com/office/drawing/2014/main" id="{9CE43EAC-6F24-CE41-91A8-B0E3D55B507C}"/>
                </a:ext>
              </a:extLst>
            </p:cNvPr>
            <p:cNvSpPr>
              <a:spLocks noChangeArrowheads="1"/>
            </p:cNvSpPr>
            <p:nvPr/>
          </p:nvSpPr>
          <p:spPr bwMode="auto">
            <a:xfrm>
              <a:off x="1371600" y="2895600"/>
              <a:ext cx="2819400" cy="1143000"/>
            </a:xfrm>
            <a:prstGeom prst="rect">
              <a:avLst/>
            </a:prstGeom>
            <a:solidFill>
              <a:schemeClr val="accent4">
                <a:lumMod val="60000"/>
                <a:lumOff val="40000"/>
              </a:schemeClr>
            </a:solidFill>
            <a:ln w="9525">
              <a:noFill/>
              <a:miter lim="800000"/>
              <a:headEnd/>
              <a:tailEnd/>
            </a:ln>
          </p:spPr>
          <p:txBody>
            <a:bodyPr wrap="none" anchor="ctr"/>
            <a:lstStyle/>
            <a:p>
              <a:endParaRPr lang="en-US">
                <a:latin typeface="+mn-lt"/>
                <a:cs typeface="Times New Roman" pitchFamily="18" charset="0"/>
              </a:endParaRPr>
            </a:p>
          </p:txBody>
        </p:sp>
        <p:sp>
          <p:nvSpPr>
            <p:cNvPr id="65" name="TextBox 64">
              <a:extLst>
                <a:ext uri="{FF2B5EF4-FFF2-40B4-BE49-F238E27FC236}">
                  <a16:creationId xmlns:a16="http://schemas.microsoft.com/office/drawing/2014/main" id="{2C200B39-35BA-F74F-9887-225BD530562D}"/>
                </a:ext>
              </a:extLst>
            </p:cNvPr>
            <p:cNvSpPr txBox="1"/>
            <p:nvPr/>
          </p:nvSpPr>
          <p:spPr>
            <a:xfrm>
              <a:off x="1775950" y="3115400"/>
              <a:ext cx="1968500" cy="354444"/>
            </a:xfrm>
            <a:prstGeom prst="rect">
              <a:avLst/>
            </a:prstGeom>
            <a:noFill/>
          </p:spPr>
          <p:txBody>
            <a:bodyPr wrap="square" rtlCol="0">
              <a:spAutoFit/>
            </a:bodyPr>
            <a:lstStyle/>
            <a:p>
              <a:pPr algn="ctr"/>
              <a:r>
                <a:rPr lang="en-US" sz="2000" b="0" dirty="0"/>
                <a:t>Total revenue</a:t>
              </a:r>
            </a:p>
          </p:txBody>
        </p:sp>
      </p:grpSp>
      <p:sp>
        <p:nvSpPr>
          <p:cNvPr id="66" name="Rectangle 16">
            <a:extLst>
              <a:ext uri="{FF2B5EF4-FFF2-40B4-BE49-F238E27FC236}">
                <a16:creationId xmlns:a16="http://schemas.microsoft.com/office/drawing/2014/main" id="{4C59F4C7-6F85-4541-9EC0-9C465467F4DE}"/>
              </a:ext>
            </a:extLst>
          </p:cNvPr>
          <p:cNvSpPr>
            <a:spLocks noChangeArrowheads="1"/>
          </p:cNvSpPr>
          <p:nvPr/>
        </p:nvSpPr>
        <p:spPr bwMode="auto">
          <a:xfrm>
            <a:off x="6182660" y="3939247"/>
            <a:ext cx="977900" cy="381000"/>
          </a:xfrm>
          <a:prstGeom prst="rect">
            <a:avLst/>
          </a:prstGeom>
          <a:noFill/>
          <a:ln w="9525">
            <a:noFill/>
            <a:miter lim="800000"/>
            <a:headEnd/>
            <a:tailEnd/>
          </a:ln>
          <a:effectLst/>
        </p:spPr>
        <p:txBody>
          <a:bodyPr wrap="none" lIns="19050" tIns="26988" rIns="19050" bIns="26988"/>
          <a:lstStyle/>
          <a:p>
            <a:pPr marL="0" marR="0" lvl="0" indent="0" algn="l" defTabSz="457200" rtl="0" eaLnBrk="1" fontAlgn="auto" latinLnBrk="0" hangingPunct="1">
              <a:lnSpc>
                <a:spcPts val="2800"/>
              </a:lnSpc>
              <a:spcBef>
                <a:spcPts val="0"/>
              </a:spcBef>
              <a:spcAft>
                <a:spcPts val="0"/>
              </a:spcAft>
              <a:buClrTx/>
              <a:buSzTx/>
              <a:buFontTx/>
              <a:buNone/>
              <a:tabLst>
                <a:tab pos="457200" algn="l"/>
                <a:tab pos="914400" algn="l"/>
                <a:tab pos="1371600" algn="l"/>
              </a:tabLst>
              <a:defRPr/>
            </a:pPr>
            <a:r>
              <a:rPr lang="en-US" dirty="0">
                <a:solidFill>
                  <a:prstClr val="black"/>
                </a:solidFill>
                <a:latin typeface="Calibri"/>
                <a:cs typeface="Times New Roman" pitchFamily="18" charset="0"/>
              </a:rPr>
              <a:t>16</a:t>
            </a:r>
            <a:r>
              <a:rPr kumimoji="0" lang="en-US" sz="1800" b="0" i="0" u="none" strike="noStrike" kern="1200" cap="none" spc="0" normalizeH="0" baseline="0" noProof="0" dirty="0">
                <a:ln>
                  <a:noFill/>
                </a:ln>
                <a:solidFill>
                  <a:prstClr val="black"/>
                </a:solidFill>
                <a:effectLst/>
                <a:uLnTx/>
                <a:uFillTx/>
                <a:latin typeface="Calibri"/>
                <a:ea typeface="+mn-ea"/>
                <a:cs typeface="Times New Roman" pitchFamily="18" charset="0"/>
              </a:rPr>
              <a:t>00</a:t>
            </a:r>
          </a:p>
        </p:txBody>
      </p:sp>
    </p:spTree>
    <p:extLst>
      <p:ext uri="{BB962C8B-B14F-4D97-AF65-F5344CB8AC3E}">
        <p14:creationId xmlns:p14="http://schemas.microsoft.com/office/powerpoint/2010/main" val="2580594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58">
                                            <p:txEl>
                                              <p:pRg st="0" end="0"/>
                                            </p:txEl>
                                          </p:spTgt>
                                        </p:tgtEl>
                                        <p:attrNameLst>
                                          <p:attrName>style.visibility</p:attrName>
                                        </p:attrNameLst>
                                      </p:cBhvr>
                                      <p:to>
                                        <p:strVal val="visible"/>
                                      </p:to>
                                    </p:set>
                                    <p:anim calcmode="lin" valueType="num">
                                      <p:cBhvr additive="base">
                                        <p:cTn id="11" dur="500" fill="hold"/>
                                        <p:tgtEl>
                                          <p:spTgt spid="58">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8">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8">
                                            <p:txEl>
                                              <p:pRg st="1" end="1"/>
                                            </p:txEl>
                                          </p:spTgt>
                                        </p:tgtEl>
                                        <p:attrNameLst>
                                          <p:attrName>style.visibility</p:attrName>
                                        </p:attrNameLst>
                                      </p:cBhvr>
                                      <p:to>
                                        <p:strVal val="visible"/>
                                      </p:to>
                                    </p:set>
                                    <p:anim calcmode="lin" valueType="num">
                                      <p:cBhvr additive="base">
                                        <p:cTn id="15" dur="500" fill="hold"/>
                                        <p:tgtEl>
                                          <p:spTgt spid="58">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1"/>
                                        </p:tgtEl>
                                        <p:attrNameLst>
                                          <p:attrName>style.visibility</p:attrName>
                                        </p:attrNameLst>
                                      </p:cBhvr>
                                      <p:to>
                                        <p:strVal val="visible"/>
                                      </p:to>
                                    </p:set>
                                  </p:childTnLst>
                                </p:cTn>
                              </p:par>
                              <p:par>
                                <p:cTn id="23" presetID="1" presetClass="entr" presetSubtype="0" fill="hold" grpId="1" nodeType="withEffect">
                                  <p:stCondLst>
                                    <p:cond delay="0"/>
                                  </p:stCondLst>
                                  <p:childTnLst>
                                    <p:set>
                                      <p:cBhvr>
                                        <p:cTn id="24" dur="1" fill="hold">
                                          <p:stCondLst>
                                            <p:cond delay="0"/>
                                          </p:stCondLst>
                                        </p:cTn>
                                        <p:tgtEl>
                                          <p:spTgt spid="6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58">
                                            <p:txEl>
                                              <p:pRg st="2" end="2"/>
                                            </p:txEl>
                                          </p:spTgt>
                                        </p:tgtEl>
                                        <p:attrNameLst>
                                          <p:attrName>style.visibility</p:attrName>
                                        </p:attrNameLst>
                                      </p:cBhvr>
                                      <p:to>
                                        <p:strVal val="visible"/>
                                      </p:to>
                                    </p:set>
                                    <p:anim calcmode="lin" valueType="num">
                                      <p:cBhvr additive="base">
                                        <p:cTn id="29" dur="500" fill="hold"/>
                                        <p:tgtEl>
                                          <p:spTgt spid="58">
                                            <p:txEl>
                                              <p:pRg st="2" end="2"/>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6" presetClass="entr" presetSubtype="21" fill="hold" nodeType="clickEffect">
                                  <p:stCondLst>
                                    <p:cond delay="0"/>
                                  </p:stCondLst>
                                  <p:childTnLst>
                                    <p:set>
                                      <p:cBhvr>
                                        <p:cTn id="44" dur="1" fill="hold">
                                          <p:stCondLst>
                                            <p:cond delay="0"/>
                                          </p:stCondLst>
                                        </p:cTn>
                                        <p:tgtEl>
                                          <p:spTgt spid="63"/>
                                        </p:tgtEl>
                                        <p:attrNameLst>
                                          <p:attrName>style.visibility</p:attrName>
                                        </p:attrNameLst>
                                      </p:cBhvr>
                                      <p:to>
                                        <p:strVal val="visible"/>
                                      </p:to>
                                    </p:set>
                                    <p:animEffect transition="in" filter="barn(inVertical)">
                                      <p:cBhvr>
                                        <p:cTn id="45" dur="500"/>
                                        <p:tgtEl>
                                          <p:spTgt spid="63"/>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37"/>
                                        </p:tgtEl>
                                        <p:attrNameLst>
                                          <p:attrName>style.visibility</p:attrName>
                                        </p:attrNameLst>
                                      </p:cBhvr>
                                      <p:to>
                                        <p:strVal val="visible"/>
                                      </p:to>
                                    </p:set>
                                    <p:animEffect transition="in" filter="blinds(horizontal)">
                                      <p:cBhvr>
                                        <p:cTn id="50" dur="500"/>
                                        <p:tgtEl>
                                          <p:spTgt spid="37"/>
                                        </p:tgtEl>
                                      </p:cBhvr>
                                    </p:animEffec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58">
                                            <p:txEl>
                                              <p:pRg st="3" end="3"/>
                                            </p:txEl>
                                          </p:spTgt>
                                        </p:tgtEl>
                                        <p:attrNameLst>
                                          <p:attrName>style.visibility</p:attrName>
                                        </p:attrNameLst>
                                      </p:cBhvr>
                                      <p:to>
                                        <p:strVal val="visible"/>
                                      </p:to>
                                    </p:set>
                                    <p:anim calcmode="lin" valueType="num">
                                      <p:cBhvr additive="base">
                                        <p:cTn id="55" dur="500" fill="hold"/>
                                        <p:tgtEl>
                                          <p:spTgt spid="58">
                                            <p:txEl>
                                              <p:pRg st="3" end="3"/>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5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58">
                                            <p:txEl>
                                              <p:pRg st="4" end="4"/>
                                            </p:txEl>
                                          </p:spTgt>
                                        </p:tgtEl>
                                        <p:attrNameLst>
                                          <p:attrName>style.visibility</p:attrName>
                                        </p:attrNameLst>
                                      </p:cBhvr>
                                      <p:to>
                                        <p:strVal val="visible"/>
                                      </p:to>
                                    </p:set>
                                    <p:anim calcmode="lin" valueType="num">
                                      <p:cBhvr additive="base">
                                        <p:cTn id="61" dur="500" fill="hold"/>
                                        <p:tgtEl>
                                          <p:spTgt spid="58">
                                            <p:txEl>
                                              <p:pRg st="4" end="4"/>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5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3"/>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5"/>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4"/>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52"/>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55"/>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6"/>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32"/>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59"/>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6" grpId="0" animBg="1"/>
      <p:bldP spid="31" grpId="0" animBg="1"/>
      <p:bldP spid="32" grpId="0" animBg="1"/>
      <p:bldP spid="33" grpId="0"/>
      <p:bldP spid="34" grpId="0" animBg="1"/>
      <p:bldP spid="35" grpId="0" animBg="1"/>
      <p:bldP spid="51" grpId="0"/>
      <p:bldP spid="52" grpId="0"/>
      <p:bldP spid="53" grpId="0"/>
      <p:bldP spid="54" grpId="0"/>
      <p:bldP spid="55" grpId="0"/>
      <p:bldP spid="59" grpId="0"/>
      <p:bldP spid="66" grpId="0"/>
      <p:bldP spid="66" grpId="1"/>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54645" y="127215"/>
            <a:ext cx="8866263" cy="1143000"/>
          </a:xfrm>
        </p:spPr>
        <p:txBody>
          <a:bodyPr>
            <a:normAutofit/>
          </a:bodyPr>
          <a:lstStyle/>
          <a:p>
            <a:r>
              <a:rPr lang="en-US" sz="2700" noProof="0" dirty="0">
                <a:latin typeface="Whitney Medium" pitchFamily="50" charset="0"/>
              </a:rPr>
              <a:t>Effect of Price Changes on Total Revenue</a:t>
            </a:r>
          </a:p>
        </p:txBody>
      </p:sp>
      <p:sp>
        <p:nvSpPr>
          <p:cNvPr id="22531" name="Rectangle 4"/>
          <p:cNvSpPr>
            <a:spLocks noChangeArrowheads="1"/>
          </p:cNvSpPr>
          <p:nvPr/>
        </p:nvSpPr>
        <p:spPr bwMode="auto">
          <a:xfrm>
            <a:off x="642939" y="892970"/>
            <a:ext cx="6131719" cy="631031"/>
          </a:xfrm>
          <a:prstGeom prst="rect">
            <a:avLst/>
          </a:prstGeom>
          <a:noFill/>
          <a:ln w="9525">
            <a:noFill/>
            <a:miter lim="800000"/>
            <a:headEnd/>
            <a:tailEnd/>
          </a:ln>
        </p:spPr>
        <p:txBody>
          <a:bodyPr wrap="none" lIns="17859" tIns="25301" rIns="17859" bIns="25301"/>
          <a:lstStyle/>
          <a:p>
            <a:pPr marL="0" marR="0" lvl="0" indent="0" algn="l" defTabSz="457200" rtl="0" eaLnBrk="1" fontAlgn="auto" latinLnBrk="0" hangingPunct="1">
              <a:lnSpc>
                <a:spcPts val="4031"/>
              </a:lnSpc>
              <a:spcBef>
                <a:spcPts val="0"/>
              </a:spcBef>
              <a:spcAft>
                <a:spcPts val="0"/>
              </a:spcAft>
              <a:buClrTx/>
              <a:buSzTx/>
              <a:buFontTx/>
              <a:buNone/>
              <a:tabLst>
                <a:tab pos="857250" algn="l"/>
                <a:tab pos="1714500" algn="l"/>
                <a:tab pos="2571750" algn="l"/>
                <a:tab pos="3429000" algn="l"/>
                <a:tab pos="4286250" algn="l"/>
                <a:tab pos="5143500" algn="l"/>
                <a:tab pos="6000750" algn="l"/>
              </a:tabLst>
              <a:defRPr/>
            </a:pPr>
            <a:endParaRPr kumimoji="0" lang="en-US" sz="3375" b="0" i="0" u="none" strike="noStrike" kern="1200" cap="none" spc="0" normalizeH="0" baseline="0" noProof="0">
              <a:ln>
                <a:noFill/>
              </a:ln>
              <a:solidFill>
                <a:srgbClr val="AAFFFA"/>
              </a:solidFill>
              <a:effectLst/>
              <a:uLnTx/>
              <a:uFillTx/>
              <a:latin typeface="Whitney Book" pitchFamily="50" charset="0"/>
              <a:cs typeface="Times New Roman" pitchFamily="18" charset="0"/>
            </a:endParaRPr>
          </a:p>
        </p:txBody>
      </p:sp>
      <p:sp>
        <p:nvSpPr>
          <p:cNvPr id="22532" name="Rectangle 5"/>
          <p:cNvSpPr>
            <a:spLocks noChangeArrowheads="1"/>
          </p:cNvSpPr>
          <p:nvPr/>
        </p:nvSpPr>
        <p:spPr bwMode="auto">
          <a:xfrm>
            <a:off x="714377" y="1571625"/>
            <a:ext cx="3988594" cy="547688"/>
          </a:xfrm>
          <a:prstGeom prst="rect">
            <a:avLst/>
          </a:prstGeom>
          <a:noFill/>
          <a:ln w="9525">
            <a:noFill/>
            <a:miter lim="800000"/>
            <a:headEnd/>
            <a:tailEnd/>
          </a:ln>
        </p:spPr>
        <p:txBody>
          <a:bodyPr wrap="none" lIns="17859" tIns="25301" rIns="17859" bIns="25301"/>
          <a:lstStyle/>
          <a:p>
            <a:pPr marL="0" marR="0" lvl="0" indent="0" algn="l" defTabSz="457200" rtl="0" eaLnBrk="1" fontAlgn="auto" latinLnBrk="0" hangingPunct="1">
              <a:lnSpc>
                <a:spcPts val="3375"/>
              </a:lnSpc>
              <a:spcBef>
                <a:spcPts val="0"/>
              </a:spcBef>
              <a:spcAft>
                <a:spcPts val="0"/>
              </a:spcAft>
              <a:buClrTx/>
              <a:buSzTx/>
              <a:buFontTx/>
              <a:buNone/>
              <a:tabLst>
                <a:tab pos="857250" algn="l"/>
                <a:tab pos="1714500" algn="l"/>
                <a:tab pos="2571750" algn="l"/>
                <a:tab pos="3429000" algn="l"/>
                <a:tab pos="4286250" algn="l"/>
                <a:tab pos="5143500" algn="l"/>
                <a:tab pos="6000750" algn="l"/>
              </a:tabLst>
              <a:defRPr/>
            </a:pPr>
            <a:r>
              <a:rPr kumimoji="0" lang="en-US" sz="3000" b="0" i="0" u="none" strike="noStrike" kern="1200" cap="none" spc="0" normalizeH="0" baseline="0" noProof="0" dirty="0">
                <a:ln>
                  <a:noFill/>
                </a:ln>
                <a:solidFill>
                  <a:srgbClr val="FF9900"/>
                </a:solidFill>
                <a:effectLst/>
                <a:uLnTx/>
                <a:uFillTx/>
                <a:latin typeface="Whitney Book" pitchFamily="50" charset="0"/>
                <a:cs typeface="Times New Roman" pitchFamily="18" charset="0"/>
              </a:rPr>
              <a:t>A Graphical Approach</a:t>
            </a:r>
          </a:p>
        </p:txBody>
      </p:sp>
      <p:sp>
        <p:nvSpPr>
          <p:cNvPr id="22533" name="Line 7"/>
          <p:cNvSpPr>
            <a:spLocks noChangeShapeType="1"/>
          </p:cNvSpPr>
          <p:nvPr/>
        </p:nvSpPr>
        <p:spPr bwMode="auto">
          <a:xfrm>
            <a:off x="2678908" y="2547937"/>
            <a:ext cx="3202781" cy="3309938"/>
          </a:xfrm>
          <a:prstGeom prst="line">
            <a:avLst/>
          </a:prstGeom>
          <a:noFill/>
          <a:ln w="38100">
            <a:solidFill>
              <a:schemeClr val="accent1">
                <a:lumMod val="50000"/>
                <a:lumOff val="50000"/>
              </a:schemeClr>
            </a:solidFill>
            <a:round/>
            <a:headEnd type="none" w="sm" len="sm"/>
            <a:tailEnd type="none" w="sm" len="sm"/>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 Book" pitchFamily="50" charset="0"/>
              <a:cs typeface="Times New Roman" pitchFamily="18" charset="0"/>
            </a:endParaRPr>
          </a:p>
        </p:txBody>
      </p:sp>
      <p:sp>
        <p:nvSpPr>
          <p:cNvPr id="22534" name="Rectangle 8"/>
          <p:cNvSpPr>
            <a:spLocks noChangeArrowheads="1"/>
          </p:cNvSpPr>
          <p:nvPr/>
        </p:nvSpPr>
        <p:spPr bwMode="auto">
          <a:xfrm>
            <a:off x="2202656" y="3357563"/>
            <a:ext cx="738188" cy="583406"/>
          </a:xfrm>
          <a:prstGeom prst="rect">
            <a:avLst/>
          </a:prstGeom>
          <a:noFill/>
          <a:ln w="9525">
            <a:noFill/>
            <a:miter lim="800000"/>
            <a:headEnd/>
            <a:tailEnd/>
          </a:ln>
        </p:spPr>
        <p:txBody>
          <a:bodyPr wrap="none" lIns="17859" tIns="25301" rIns="17859" bIns="25301"/>
          <a:lstStyle/>
          <a:p>
            <a:pPr marL="0" marR="0" lvl="0" indent="0" algn="l" defTabSz="457200" rtl="0" eaLnBrk="1" fontAlgn="auto" latinLnBrk="0" hangingPunct="1">
              <a:lnSpc>
                <a:spcPts val="2625"/>
              </a:lnSpc>
              <a:spcBef>
                <a:spcPts val="0"/>
              </a:spcBef>
              <a:spcAft>
                <a:spcPts val="844"/>
              </a:spcAft>
              <a:buClrTx/>
              <a:buSzTx/>
              <a:buFontTx/>
              <a:buNone/>
              <a:tabLst>
                <a:tab pos="428625" algn="l"/>
                <a:tab pos="857250" algn="l"/>
                <a:tab pos="1285875" algn="l"/>
              </a:tabLst>
              <a:defRPr/>
            </a:pPr>
            <a:r>
              <a:rPr kumimoji="0" lang="en-US" sz="2400" b="0" i="1" u="none" strike="noStrike" kern="1200" cap="none" spc="0" normalizeH="0" baseline="0" noProof="0" dirty="0">
                <a:ln>
                  <a:noFill/>
                </a:ln>
                <a:solidFill>
                  <a:prstClr val="black"/>
                </a:solidFill>
                <a:effectLst/>
                <a:uLnTx/>
                <a:uFillTx/>
                <a:latin typeface="Whitney Book" pitchFamily="50" charset="0"/>
                <a:cs typeface="Times New Roman" pitchFamily="18" charset="0"/>
              </a:rPr>
              <a:t>P</a:t>
            </a:r>
            <a:r>
              <a:rPr kumimoji="0" lang="en-US" sz="2400" b="0" i="1" u="none" strike="noStrike" kern="1200" cap="none" spc="0" normalizeH="0" baseline="-25000" noProof="0" dirty="0">
                <a:ln>
                  <a:noFill/>
                </a:ln>
                <a:solidFill>
                  <a:prstClr val="black"/>
                </a:solidFill>
                <a:effectLst/>
                <a:uLnTx/>
                <a:uFillTx/>
                <a:latin typeface="Whitney Book" pitchFamily="50" charset="0"/>
                <a:cs typeface="Times New Roman" pitchFamily="18" charset="0"/>
              </a:rPr>
              <a:t>0</a:t>
            </a:r>
            <a:endParaRPr kumimoji="0" lang="en-US" sz="2400" b="0" i="1" u="none" strike="noStrike" kern="1200" cap="none" spc="0" normalizeH="0" baseline="0" noProof="0" dirty="0">
              <a:ln>
                <a:noFill/>
              </a:ln>
              <a:solidFill>
                <a:prstClr val="black"/>
              </a:solidFill>
              <a:effectLst/>
              <a:uLnTx/>
              <a:uFillTx/>
              <a:latin typeface="Whitney Book" pitchFamily="50" charset="0"/>
              <a:cs typeface="Times New Roman" pitchFamily="18" charset="0"/>
            </a:endParaRPr>
          </a:p>
        </p:txBody>
      </p:sp>
      <p:sp>
        <p:nvSpPr>
          <p:cNvPr id="22535" name="Rectangle 9"/>
          <p:cNvSpPr>
            <a:spLocks noChangeArrowheads="1"/>
          </p:cNvSpPr>
          <p:nvPr/>
        </p:nvSpPr>
        <p:spPr bwMode="auto">
          <a:xfrm>
            <a:off x="2643188" y="3512344"/>
            <a:ext cx="951012" cy="2345532"/>
          </a:xfrm>
          <a:prstGeom prst="rect">
            <a:avLst/>
          </a:prstGeom>
          <a:solidFill>
            <a:srgbClr val="FF8455"/>
          </a:solidFill>
          <a:ln w="9525">
            <a:solidFill>
              <a:schemeClr val="bg2"/>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 Book" pitchFamily="50" charset="0"/>
              <a:cs typeface="Times New Roman" pitchFamily="18" charset="0"/>
            </a:endParaRPr>
          </a:p>
        </p:txBody>
      </p:sp>
      <p:sp>
        <p:nvSpPr>
          <p:cNvPr id="22536" name="Rectangle 10"/>
          <p:cNvSpPr>
            <a:spLocks noChangeArrowheads="1"/>
          </p:cNvSpPr>
          <p:nvPr/>
        </p:nvSpPr>
        <p:spPr bwMode="auto">
          <a:xfrm>
            <a:off x="3357566" y="5893594"/>
            <a:ext cx="421184" cy="392906"/>
          </a:xfrm>
          <a:prstGeom prst="rect">
            <a:avLst/>
          </a:prstGeom>
          <a:noFill/>
          <a:ln w="9525">
            <a:noFill/>
            <a:miter lim="800000"/>
            <a:headEnd/>
            <a:tailEnd/>
          </a:ln>
        </p:spPr>
        <p:txBody>
          <a:bodyPr wrap="none" lIns="17859" tIns="25301" rIns="17859" bIns="25301"/>
          <a:lstStyle/>
          <a:p>
            <a:pPr marL="0" marR="0" lvl="0" indent="0" algn="l" defTabSz="457200" rtl="0" eaLnBrk="1" fontAlgn="auto" latinLnBrk="0" hangingPunct="1">
              <a:lnSpc>
                <a:spcPts val="2625"/>
              </a:lnSpc>
              <a:spcBef>
                <a:spcPts val="0"/>
              </a:spcBef>
              <a:spcAft>
                <a:spcPts val="844"/>
              </a:spcAft>
              <a:buClrTx/>
              <a:buSzTx/>
              <a:buFontTx/>
              <a:buNone/>
              <a:tabLst>
                <a:tab pos="428625" algn="l"/>
                <a:tab pos="857250" algn="l"/>
                <a:tab pos="1285875" algn="l"/>
              </a:tabLst>
              <a:defRPr/>
            </a:pPr>
            <a:r>
              <a:rPr kumimoji="0" lang="en-US" sz="2000" b="0" i="1" u="none" strike="noStrike" kern="1200" cap="none" spc="0" normalizeH="0" baseline="0" noProof="0" dirty="0">
                <a:ln>
                  <a:noFill/>
                </a:ln>
                <a:solidFill>
                  <a:prstClr val="black"/>
                </a:solidFill>
                <a:effectLst/>
                <a:uLnTx/>
                <a:uFillTx/>
                <a:latin typeface="Whitney Book" pitchFamily="50" charset="0"/>
                <a:cs typeface="Times New Roman" pitchFamily="18" charset="0"/>
              </a:rPr>
              <a:t>Q</a:t>
            </a:r>
            <a:r>
              <a:rPr kumimoji="0" lang="en-US" sz="2000" b="0" i="1" u="none" strike="noStrike" kern="1200" cap="none" spc="0" normalizeH="0" baseline="-25000" noProof="0" dirty="0">
                <a:ln>
                  <a:noFill/>
                </a:ln>
                <a:solidFill>
                  <a:prstClr val="black"/>
                </a:solidFill>
                <a:effectLst/>
                <a:uLnTx/>
                <a:uFillTx/>
                <a:latin typeface="Whitney Book" pitchFamily="50" charset="0"/>
                <a:cs typeface="Times New Roman" pitchFamily="18" charset="0"/>
              </a:rPr>
              <a:t>0</a:t>
            </a:r>
            <a:endParaRPr kumimoji="0" lang="en-US" sz="2000" b="0" i="1" u="none" strike="noStrike" kern="1200" cap="none" spc="0" normalizeH="0" baseline="0" noProof="0" dirty="0">
              <a:ln>
                <a:noFill/>
              </a:ln>
              <a:solidFill>
                <a:prstClr val="black"/>
              </a:solidFill>
              <a:effectLst/>
              <a:uLnTx/>
              <a:uFillTx/>
              <a:latin typeface="Whitney Book" pitchFamily="50" charset="0"/>
              <a:cs typeface="Times New Roman" pitchFamily="18" charset="0"/>
            </a:endParaRPr>
          </a:p>
        </p:txBody>
      </p:sp>
      <p:sp>
        <p:nvSpPr>
          <p:cNvPr id="22537" name="Rectangle 11"/>
          <p:cNvSpPr>
            <a:spLocks noChangeArrowheads="1"/>
          </p:cNvSpPr>
          <p:nvPr/>
        </p:nvSpPr>
        <p:spPr bwMode="auto">
          <a:xfrm>
            <a:off x="5528965" y="5086945"/>
            <a:ext cx="1595438" cy="607219"/>
          </a:xfrm>
          <a:prstGeom prst="rect">
            <a:avLst/>
          </a:prstGeom>
          <a:noFill/>
          <a:ln w="9525">
            <a:noFill/>
            <a:miter lim="800000"/>
            <a:headEnd/>
            <a:tailEnd/>
          </a:ln>
        </p:spPr>
        <p:txBody>
          <a:bodyPr wrap="none" lIns="17859" tIns="25301" rIns="17859" bIns="25301"/>
          <a:lstStyle/>
          <a:p>
            <a:pPr marL="0" marR="0" lvl="0" indent="0" algn="l" defTabSz="457200" rtl="0" eaLnBrk="1" fontAlgn="auto" latinLnBrk="0" hangingPunct="1">
              <a:lnSpc>
                <a:spcPts val="2625"/>
              </a:lnSpc>
              <a:spcBef>
                <a:spcPts val="0"/>
              </a:spcBef>
              <a:spcAft>
                <a:spcPts val="844"/>
              </a:spcAft>
              <a:buClrTx/>
              <a:buSzTx/>
              <a:buFontTx/>
              <a:buNone/>
              <a:tabLst>
                <a:tab pos="428625" algn="l"/>
                <a:tab pos="857250" algn="l"/>
                <a:tab pos="1285875" algn="l"/>
              </a:tabLst>
              <a:defRPr/>
            </a:pPr>
            <a:r>
              <a:rPr kumimoji="0" lang="en-US" sz="2200" b="0" i="0" u="none" strike="noStrike" kern="1200" cap="none" spc="0" normalizeH="0" baseline="0" noProof="0" dirty="0">
                <a:ln>
                  <a:noFill/>
                </a:ln>
                <a:solidFill>
                  <a:prstClr val="black"/>
                </a:solidFill>
                <a:effectLst/>
                <a:uLnTx/>
                <a:uFillTx/>
                <a:latin typeface="Whitney Book" pitchFamily="50" charset="0"/>
                <a:cs typeface="Whitney-Medium" pitchFamily="50" charset="0"/>
              </a:rPr>
              <a:t>Demand</a:t>
            </a:r>
          </a:p>
        </p:txBody>
      </p:sp>
      <p:sp>
        <p:nvSpPr>
          <p:cNvPr id="22538" name="Line 12"/>
          <p:cNvSpPr>
            <a:spLocks noChangeShapeType="1"/>
          </p:cNvSpPr>
          <p:nvPr/>
        </p:nvSpPr>
        <p:spPr bwMode="auto">
          <a:xfrm>
            <a:off x="2643187" y="5857875"/>
            <a:ext cx="5214938" cy="0"/>
          </a:xfrm>
          <a:prstGeom prst="line">
            <a:avLst/>
          </a:prstGeom>
          <a:ln>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 Book" pitchFamily="50" charset="0"/>
              <a:cs typeface="Times New Roman" pitchFamily="18" charset="0"/>
            </a:endParaRPr>
          </a:p>
        </p:txBody>
      </p:sp>
      <p:sp>
        <p:nvSpPr>
          <p:cNvPr id="22539" name="Line 13"/>
          <p:cNvSpPr>
            <a:spLocks noChangeShapeType="1"/>
          </p:cNvSpPr>
          <p:nvPr/>
        </p:nvSpPr>
        <p:spPr bwMode="auto">
          <a:xfrm>
            <a:off x="2655094" y="2381251"/>
            <a:ext cx="0" cy="3476625"/>
          </a:xfrm>
          <a:prstGeom prst="line">
            <a:avLst/>
          </a:prstGeom>
          <a:ln>
            <a:headEnd type="arrow" w="med" len="med"/>
            <a:tailEnd type="none" w="med" len="med"/>
          </a:ln>
        </p:spPr>
        <p:style>
          <a:lnRef idx="2">
            <a:schemeClr val="dk1"/>
          </a:lnRef>
          <a:fillRef idx="0">
            <a:schemeClr val="dk1"/>
          </a:fillRef>
          <a:effectRef idx="1">
            <a:schemeClr val="dk1"/>
          </a:effectRef>
          <a:fontRef idx="minor">
            <a:schemeClr val="tx1"/>
          </a:fontRef>
        </p:style>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 Book" pitchFamily="50" charset="0"/>
              <a:cs typeface="Times New Roman" pitchFamily="18" charset="0"/>
            </a:endParaRPr>
          </a:p>
        </p:txBody>
      </p:sp>
      <p:grpSp>
        <p:nvGrpSpPr>
          <p:cNvPr id="2" name="Group 14"/>
          <p:cNvGrpSpPr>
            <a:grpSpLocks/>
          </p:cNvGrpSpPr>
          <p:nvPr/>
        </p:nvGrpSpPr>
        <p:grpSpPr bwMode="auto">
          <a:xfrm>
            <a:off x="2095502" y="3512344"/>
            <a:ext cx="845344" cy="773906"/>
            <a:chOff x="1408" y="2360"/>
            <a:chExt cx="568" cy="520"/>
          </a:xfrm>
        </p:grpSpPr>
        <p:sp>
          <p:nvSpPr>
            <p:cNvPr id="22554" name="Rectangle 15"/>
            <p:cNvSpPr>
              <a:spLocks noChangeArrowheads="1"/>
            </p:cNvSpPr>
            <p:nvPr/>
          </p:nvSpPr>
          <p:spPr bwMode="auto">
            <a:xfrm>
              <a:off x="1480" y="2488"/>
              <a:ext cx="496" cy="392"/>
            </a:xfrm>
            <a:prstGeom prst="rect">
              <a:avLst/>
            </a:prstGeom>
            <a:noFill/>
            <a:ln w="9525">
              <a:noFill/>
              <a:miter lim="800000"/>
              <a:headEnd/>
              <a:tailEnd/>
            </a:ln>
          </p:spPr>
          <p:txBody>
            <a:bodyPr wrap="none" lIns="17859" tIns="25301" rIns="17859" bIns="25301"/>
            <a:lstStyle/>
            <a:p>
              <a:pPr marL="0" marR="0" lvl="0" indent="0" algn="l" defTabSz="457200" rtl="0" eaLnBrk="1" fontAlgn="auto" latinLnBrk="0" hangingPunct="1">
                <a:lnSpc>
                  <a:spcPts val="2625"/>
                </a:lnSpc>
                <a:spcBef>
                  <a:spcPts val="0"/>
                </a:spcBef>
                <a:spcAft>
                  <a:spcPts val="844"/>
                </a:spcAft>
                <a:buClrTx/>
                <a:buSzTx/>
                <a:buFontTx/>
                <a:buNone/>
                <a:tabLst>
                  <a:tab pos="428625" algn="l"/>
                  <a:tab pos="857250" algn="l"/>
                  <a:tab pos="1285875" algn="l"/>
                </a:tabLst>
                <a:defRPr/>
              </a:pPr>
              <a:r>
                <a:rPr kumimoji="0" lang="en-US" sz="2400" b="0" i="1" u="none" strike="noStrike" kern="1200" cap="none" spc="0" normalizeH="0" baseline="0" noProof="0" dirty="0">
                  <a:ln>
                    <a:noFill/>
                  </a:ln>
                  <a:solidFill>
                    <a:prstClr val="black"/>
                  </a:solidFill>
                  <a:effectLst/>
                  <a:uLnTx/>
                  <a:uFillTx/>
                  <a:latin typeface="Whitney Book" pitchFamily="50" charset="0"/>
                  <a:cs typeface="Times New Roman" pitchFamily="18" charset="0"/>
                </a:rPr>
                <a:t>P</a:t>
              </a:r>
              <a:r>
                <a:rPr kumimoji="0" lang="en-US" sz="2400" b="0" i="1" u="none" strike="noStrike" kern="1200" cap="none" spc="0" normalizeH="0" baseline="-25000" noProof="0" dirty="0">
                  <a:ln>
                    <a:noFill/>
                  </a:ln>
                  <a:solidFill>
                    <a:prstClr val="black"/>
                  </a:solidFill>
                  <a:effectLst/>
                  <a:uLnTx/>
                  <a:uFillTx/>
                  <a:latin typeface="Whitney Book" pitchFamily="50" charset="0"/>
                  <a:cs typeface="Times New Roman" pitchFamily="18" charset="0"/>
                </a:rPr>
                <a:t>1</a:t>
              </a:r>
              <a:endParaRPr kumimoji="0" lang="en-US" sz="2400" b="0" i="1" u="none" strike="noStrike" kern="1200" cap="none" spc="0" normalizeH="0" baseline="0" noProof="0" dirty="0">
                <a:ln>
                  <a:noFill/>
                </a:ln>
                <a:solidFill>
                  <a:prstClr val="black"/>
                </a:solidFill>
                <a:effectLst/>
                <a:uLnTx/>
                <a:uFillTx/>
                <a:latin typeface="Whitney Book" pitchFamily="50" charset="0"/>
                <a:cs typeface="Times New Roman" pitchFamily="18" charset="0"/>
              </a:endParaRPr>
            </a:p>
          </p:txBody>
        </p:sp>
        <p:sp>
          <p:nvSpPr>
            <p:cNvPr id="22555" name="Line 16"/>
            <p:cNvSpPr>
              <a:spLocks noChangeShapeType="1"/>
            </p:cNvSpPr>
            <p:nvPr/>
          </p:nvSpPr>
          <p:spPr bwMode="auto">
            <a:xfrm>
              <a:off x="1408" y="2360"/>
              <a:ext cx="0" cy="344"/>
            </a:xfrm>
            <a:prstGeom prst="line">
              <a:avLst/>
            </a:prstGeom>
            <a:ln>
              <a:headEnd type="none" w="sm" len="sm"/>
              <a:tailEnd type="stealth" w="med" len="lg"/>
            </a:ln>
          </p:spPr>
          <p:style>
            <a:lnRef idx="1">
              <a:schemeClr val="dk1"/>
            </a:lnRef>
            <a:fillRef idx="0">
              <a:schemeClr val="dk1"/>
            </a:fillRef>
            <a:effectRef idx="0">
              <a:schemeClr val="dk1"/>
            </a:effectRef>
            <a:fontRef idx="minor">
              <a:schemeClr val="tx1"/>
            </a:fontRef>
          </p:style>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 Book" pitchFamily="50" charset="0"/>
                <a:cs typeface="Times New Roman" pitchFamily="18" charset="0"/>
              </a:endParaRPr>
            </a:p>
          </p:txBody>
        </p:sp>
      </p:grpSp>
      <p:grpSp>
        <p:nvGrpSpPr>
          <p:cNvPr id="3" name="Group 17"/>
          <p:cNvGrpSpPr>
            <a:grpSpLocks/>
          </p:cNvGrpSpPr>
          <p:nvPr/>
        </p:nvGrpSpPr>
        <p:grpSpPr bwMode="auto">
          <a:xfrm>
            <a:off x="3405189" y="5908478"/>
            <a:ext cx="946548" cy="450950"/>
            <a:chOff x="2288" y="3970"/>
            <a:chExt cx="636" cy="303"/>
          </a:xfrm>
        </p:grpSpPr>
        <p:sp>
          <p:nvSpPr>
            <p:cNvPr id="22552" name="Rectangle 18"/>
            <p:cNvSpPr>
              <a:spLocks noChangeArrowheads="1"/>
            </p:cNvSpPr>
            <p:nvPr/>
          </p:nvSpPr>
          <p:spPr bwMode="auto">
            <a:xfrm>
              <a:off x="2579" y="3970"/>
              <a:ext cx="345" cy="303"/>
            </a:xfrm>
            <a:prstGeom prst="rect">
              <a:avLst/>
            </a:prstGeom>
            <a:noFill/>
            <a:ln w="9525">
              <a:noFill/>
              <a:miter lim="800000"/>
              <a:headEnd/>
              <a:tailEnd/>
            </a:ln>
          </p:spPr>
          <p:txBody>
            <a:bodyPr wrap="none" lIns="17859" tIns="25301" rIns="17859" bIns="25301"/>
            <a:lstStyle/>
            <a:p>
              <a:pPr marL="0" marR="0" lvl="0" indent="0" algn="l" defTabSz="457200" rtl="0" eaLnBrk="1" fontAlgn="auto" latinLnBrk="0" hangingPunct="1">
                <a:lnSpc>
                  <a:spcPts val="2625"/>
                </a:lnSpc>
                <a:spcBef>
                  <a:spcPts val="0"/>
                </a:spcBef>
                <a:spcAft>
                  <a:spcPts val="844"/>
                </a:spcAft>
                <a:buClrTx/>
                <a:buSzTx/>
                <a:buFontTx/>
                <a:buNone/>
                <a:tabLst>
                  <a:tab pos="428625" algn="l"/>
                  <a:tab pos="857250" algn="l"/>
                  <a:tab pos="1285875" algn="l"/>
                </a:tabLst>
                <a:defRPr/>
              </a:pPr>
              <a:r>
                <a:rPr kumimoji="0" lang="en-US" sz="2000" b="0" i="1" u="none" strike="noStrike" kern="1200" cap="none" spc="0" normalizeH="0" baseline="0" noProof="0" dirty="0">
                  <a:ln>
                    <a:noFill/>
                  </a:ln>
                  <a:solidFill>
                    <a:prstClr val="black"/>
                  </a:solidFill>
                  <a:effectLst/>
                  <a:uLnTx/>
                  <a:uFillTx/>
                  <a:latin typeface="Whitney Book" pitchFamily="50" charset="0"/>
                  <a:cs typeface="Times New Roman" pitchFamily="18" charset="0"/>
                </a:rPr>
                <a:t>Q</a:t>
              </a:r>
              <a:r>
                <a:rPr kumimoji="0" lang="en-US" sz="2000" b="0" i="1" u="none" strike="noStrike" kern="1200" cap="none" spc="0" normalizeH="0" baseline="-25000" noProof="0" dirty="0">
                  <a:ln>
                    <a:noFill/>
                  </a:ln>
                  <a:solidFill>
                    <a:prstClr val="black"/>
                  </a:solidFill>
                  <a:effectLst/>
                  <a:uLnTx/>
                  <a:uFillTx/>
                  <a:latin typeface="Whitney Book" pitchFamily="50" charset="0"/>
                  <a:cs typeface="Times New Roman" pitchFamily="18" charset="0"/>
                </a:rPr>
                <a:t>1</a:t>
              </a:r>
              <a:endParaRPr kumimoji="0" lang="en-US" sz="2000" b="0" i="1" u="none" strike="noStrike" kern="1200" cap="none" spc="0" normalizeH="0" baseline="0" noProof="0" dirty="0">
                <a:ln>
                  <a:noFill/>
                </a:ln>
                <a:solidFill>
                  <a:prstClr val="black"/>
                </a:solidFill>
                <a:effectLst/>
                <a:uLnTx/>
                <a:uFillTx/>
                <a:latin typeface="Whitney Book" pitchFamily="50" charset="0"/>
                <a:cs typeface="Times New Roman" pitchFamily="18" charset="0"/>
              </a:endParaRPr>
            </a:p>
          </p:txBody>
        </p:sp>
        <p:sp>
          <p:nvSpPr>
            <p:cNvPr id="22553" name="Line 19"/>
            <p:cNvSpPr>
              <a:spLocks noChangeShapeType="1"/>
            </p:cNvSpPr>
            <p:nvPr/>
          </p:nvSpPr>
          <p:spPr bwMode="auto">
            <a:xfrm>
              <a:off x="2288" y="4216"/>
              <a:ext cx="392" cy="0"/>
            </a:xfrm>
            <a:prstGeom prst="line">
              <a:avLst/>
            </a:prstGeom>
            <a:ln>
              <a:headEnd type="none" w="sm" len="sm"/>
              <a:tailEnd type="stealth" w="med" len="lg"/>
            </a:ln>
          </p:spPr>
          <p:style>
            <a:lnRef idx="1">
              <a:schemeClr val="dk1"/>
            </a:lnRef>
            <a:fillRef idx="0">
              <a:schemeClr val="dk1"/>
            </a:fillRef>
            <a:effectRef idx="0">
              <a:schemeClr val="dk1"/>
            </a:effectRef>
            <a:fontRef idx="minor">
              <a:schemeClr val="tx1"/>
            </a:fontRef>
          </p:style>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 Book" pitchFamily="50" charset="0"/>
                <a:cs typeface="Times New Roman" pitchFamily="18" charset="0"/>
              </a:endParaRPr>
            </a:p>
          </p:txBody>
        </p:sp>
      </p:grpSp>
      <p:sp>
        <p:nvSpPr>
          <p:cNvPr id="80916" name="Rectangle 20"/>
          <p:cNvSpPr>
            <a:spLocks noChangeArrowheads="1"/>
          </p:cNvSpPr>
          <p:nvPr/>
        </p:nvSpPr>
        <p:spPr bwMode="auto">
          <a:xfrm>
            <a:off x="2643188" y="3857625"/>
            <a:ext cx="1309687" cy="1988347"/>
          </a:xfrm>
          <a:prstGeom prst="rect">
            <a:avLst/>
          </a:prstGeom>
          <a:solidFill>
            <a:srgbClr val="FFFF00"/>
          </a:solidFill>
          <a:ln w="12700">
            <a:solidFill>
              <a:srgbClr val="FFDD80"/>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 Book" pitchFamily="50" charset="0"/>
              <a:cs typeface="Times New Roman" pitchFamily="18" charset="0"/>
            </a:endParaRPr>
          </a:p>
        </p:txBody>
      </p:sp>
      <p:grpSp>
        <p:nvGrpSpPr>
          <p:cNvPr id="4" name="Group 21"/>
          <p:cNvGrpSpPr>
            <a:grpSpLocks/>
          </p:cNvGrpSpPr>
          <p:nvPr/>
        </p:nvGrpSpPr>
        <p:grpSpPr bwMode="auto">
          <a:xfrm>
            <a:off x="2678906" y="2393157"/>
            <a:ext cx="5834063" cy="1452562"/>
            <a:chOff x="1800" y="1608"/>
            <a:chExt cx="3920" cy="976"/>
          </a:xfrm>
        </p:grpSpPr>
        <p:sp>
          <p:nvSpPr>
            <p:cNvPr id="22549" name="Rectangle 22"/>
            <p:cNvSpPr>
              <a:spLocks noChangeArrowheads="1"/>
            </p:cNvSpPr>
            <p:nvPr/>
          </p:nvSpPr>
          <p:spPr bwMode="auto">
            <a:xfrm>
              <a:off x="1800" y="2360"/>
              <a:ext cx="616" cy="2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w="9525">
              <a:no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 Book" pitchFamily="50" charset="0"/>
                <a:cs typeface="Times New Roman" pitchFamily="18" charset="0"/>
              </a:endParaRPr>
            </a:p>
          </p:txBody>
        </p:sp>
        <p:sp>
          <p:nvSpPr>
            <p:cNvPr id="22550" name="Rectangle 23"/>
            <p:cNvSpPr>
              <a:spLocks noChangeArrowheads="1"/>
            </p:cNvSpPr>
            <p:nvPr/>
          </p:nvSpPr>
          <p:spPr bwMode="auto">
            <a:xfrm>
              <a:off x="3340" y="1684"/>
              <a:ext cx="472" cy="2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w="12700">
              <a:solidFill>
                <a:srgbClr val="000000"/>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 Book" pitchFamily="50" charset="0"/>
                <a:cs typeface="Times New Roman" pitchFamily="18" charset="0"/>
              </a:endParaRPr>
            </a:p>
          </p:txBody>
        </p:sp>
        <p:sp>
          <p:nvSpPr>
            <p:cNvPr id="22551" name="Rectangle 24"/>
            <p:cNvSpPr>
              <a:spLocks noChangeArrowheads="1"/>
            </p:cNvSpPr>
            <p:nvPr/>
          </p:nvSpPr>
          <p:spPr bwMode="auto">
            <a:xfrm>
              <a:off x="3744" y="1608"/>
              <a:ext cx="1976" cy="520"/>
            </a:xfrm>
            <a:prstGeom prst="rect">
              <a:avLst/>
            </a:prstGeom>
            <a:noFill/>
            <a:ln w="9525">
              <a:noFill/>
              <a:miter lim="800000"/>
              <a:headEnd/>
              <a:tailEnd/>
            </a:ln>
          </p:spPr>
          <p:txBody>
            <a:bodyPr wrap="none" lIns="17859" tIns="25301" rIns="17859" bIns="25301"/>
            <a:lstStyle/>
            <a:p>
              <a:pPr marL="0" marR="0" lvl="0" indent="0" algn="ctr" defTabSz="457200" rtl="0" eaLnBrk="1" fontAlgn="auto" latinLnBrk="0" hangingPunct="1">
                <a:lnSpc>
                  <a:spcPts val="1969"/>
                </a:lnSpc>
                <a:spcBef>
                  <a:spcPts val="0"/>
                </a:spcBef>
                <a:spcAft>
                  <a:spcPts val="844"/>
                </a:spcAft>
                <a:buClrTx/>
                <a:buSzTx/>
                <a:buFontTx/>
                <a:buNone/>
                <a:tabLst>
                  <a:tab pos="428625" algn="l"/>
                  <a:tab pos="857250" algn="l"/>
                  <a:tab pos="1285875" algn="l"/>
                </a:tabLst>
                <a:defRPr/>
              </a:pPr>
              <a:r>
                <a:rPr kumimoji="0" lang="en-US" sz="2000" b="0" i="0" u="none" strike="noStrike" kern="1200" cap="none" spc="0" normalizeH="0" baseline="0" noProof="0" dirty="0">
                  <a:ln>
                    <a:noFill/>
                  </a:ln>
                  <a:solidFill>
                    <a:prstClr val="black"/>
                  </a:solidFill>
                  <a:effectLst/>
                  <a:uLnTx/>
                  <a:uFillTx/>
                  <a:latin typeface="Whitney Book" pitchFamily="50" charset="0"/>
                  <a:cs typeface="Whitney-Medium" pitchFamily="50" charset="0"/>
                </a:rPr>
                <a:t>Reduction in </a:t>
              </a:r>
              <a:r>
                <a:rPr kumimoji="0" lang="en-US" sz="2000" b="0" i="1" u="none" strike="noStrike" kern="1200" cap="none" spc="0" normalizeH="0" baseline="0" noProof="0" dirty="0">
                  <a:ln>
                    <a:noFill/>
                  </a:ln>
                  <a:solidFill>
                    <a:prstClr val="black"/>
                  </a:solidFill>
                  <a:effectLst/>
                  <a:uLnTx/>
                  <a:uFillTx/>
                  <a:latin typeface="Whitney Book" pitchFamily="50" charset="0"/>
                  <a:cs typeface="Whitney-Medium" pitchFamily="50" charset="0"/>
                </a:rPr>
                <a:t>TR</a:t>
              </a:r>
              <a:r>
                <a:rPr kumimoji="0" lang="en-US" sz="2000" b="0" i="0" u="none" strike="noStrike" kern="1200" cap="none" spc="0" normalizeH="0" baseline="0" noProof="0" dirty="0">
                  <a:ln>
                    <a:noFill/>
                  </a:ln>
                  <a:solidFill>
                    <a:prstClr val="black"/>
                  </a:solidFill>
                  <a:effectLst/>
                  <a:uLnTx/>
                  <a:uFillTx/>
                  <a:latin typeface="Whitney Book" pitchFamily="50" charset="0"/>
                  <a:cs typeface="Whitney-Medium" pitchFamily="50" charset="0"/>
                </a:rPr>
                <a:t> from </a:t>
              </a:r>
              <a:br>
                <a:rPr kumimoji="0" lang="en-US" sz="2000" b="0" i="0" u="none" strike="noStrike" kern="1200" cap="none" spc="0" normalizeH="0" baseline="0" noProof="0" dirty="0">
                  <a:ln>
                    <a:noFill/>
                  </a:ln>
                  <a:solidFill>
                    <a:prstClr val="black"/>
                  </a:solidFill>
                  <a:effectLst/>
                  <a:uLnTx/>
                  <a:uFillTx/>
                  <a:latin typeface="Whitney Book" pitchFamily="50" charset="0"/>
                  <a:cs typeface="Whitney-Medium" pitchFamily="50" charset="0"/>
                </a:rPr>
              </a:br>
              <a:r>
                <a:rPr kumimoji="0" lang="en-US" sz="2000" b="0" i="0" u="none" strike="noStrike" kern="1200" cap="none" spc="0" normalizeH="0" baseline="0" noProof="0" dirty="0">
                  <a:ln>
                    <a:noFill/>
                  </a:ln>
                  <a:solidFill>
                    <a:prstClr val="black"/>
                  </a:solidFill>
                  <a:effectLst/>
                  <a:uLnTx/>
                  <a:uFillTx/>
                  <a:latin typeface="Whitney Book" pitchFamily="50" charset="0"/>
                  <a:cs typeface="Whitney-Medium" pitchFamily="50" charset="0"/>
                </a:rPr>
                <a:t>lower price</a:t>
              </a:r>
            </a:p>
          </p:txBody>
        </p:sp>
      </p:grpSp>
      <p:grpSp>
        <p:nvGrpSpPr>
          <p:cNvPr id="5" name="Group 25"/>
          <p:cNvGrpSpPr>
            <a:grpSpLocks/>
          </p:cNvGrpSpPr>
          <p:nvPr/>
        </p:nvGrpSpPr>
        <p:grpSpPr bwMode="auto">
          <a:xfrm>
            <a:off x="3618012" y="3071813"/>
            <a:ext cx="4752083" cy="2800946"/>
            <a:chOff x="2431" y="2064"/>
            <a:chExt cx="3193" cy="1882"/>
          </a:xfrm>
        </p:grpSpPr>
        <p:sp>
          <p:nvSpPr>
            <p:cNvPr id="22546" name="Rectangle 26"/>
            <p:cNvSpPr>
              <a:spLocks noChangeArrowheads="1"/>
            </p:cNvSpPr>
            <p:nvPr/>
          </p:nvSpPr>
          <p:spPr bwMode="auto">
            <a:xfrm>
              <a:off x="2431" y="2592"/>
              <a:ext cx="249" cy="1354"/>
            </a:xfrm>
            <a:prstGeom prst="rect">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w="9525">
              <a:no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 Book" pitchFamily="50" charset="0"/>
                <a:cs typeface="Times New Roman" pitchFamily="18" charset="0"/>
              </a:endParaRPr>
            </a:p>
          </p:txBody>
        </p:sp>
        <p:sp>
          <p:nvSpPr>
            <p:cNvPr id="22547" name="Rectangle 27"/>
            <p:cNvSpPr>
              <a:spLocks noChangeArrowheads="1"/>
            </p:cNvSpPr>
            <p:nvPr/>
          </p:nvSpPr>
          <p:spPr bwMode="auto">
            <a:xfrm>
              <a:off x="3340" y="2116"/>
              <a:ext cx="472" cy="224"/>
            </a:xfrm>
            <a:prstGeom prst="rect">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w="12700">
              <a:solidFill>
                <a:srgbClr val="000000"/>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 Book" pitchFamily="50" charset="0"/>
                <a:cs typeface="Times New Roman" pitchFamily="18" charset="0"/>
              </a:endParaRPr>
            </a:p>
          </p:txBody>
        </p:sp>
        <p:sp>
          <p:nvSpPr>
            <p:cNvPr id="22548" name="Rectangle 28"/>
            <p:cNvSpPr>
              <a:spLocks noChangeArrowheads="1"/>
            </p:cNvSpPr>
            <p:nvPr/>
          </p:nvSpPr>
          <p:spPr bwMode="auto">
            <a:xfrm>
              <a:off x="3856" y="2064"/>
              <a:ext cx="1768" cy="520"/>
            </a:xfrm>
            <a:prstGeom prst="rect">
              <a:avLst/>
            </a:prstGeom>
            <a:noFill/>
            <a:ln w="9525">
              <a:noFill/>
              <a:miter lim="800000"/>
              <a:headEnd/>
              <a:tailEnd/>
            </a:ln>
          </p:spPr>
          <p:txBody>
            <a:bodyPr wrap="none" lIns="17859" tIns="25301" rIns="17859" bIns="25301"/>
            <a:lstStyle/>
            <a:p>
              <a:pPr marL="0" marR="0" lvl="0" indent="0" algn="ctr" defTabSz="457200" rtl="0" eaLnBrk="1" fontAlgn="auto" latinLnBrk="0" hangingPunct="1">
                <a:lnSpc>
                  <a:spcPts val="1969"/>
                </a:lnSpc>
                <a:spcBef>
                  <a:spcPts val="0"/>
                </a:spcBef>
                <a:spcAft>
                  <a:spcPts val="844"/>
                </a:spcAft>
                <a:buClrTx/>
                <a:buSzTx/>
                <a:buFontTx/>
                <a:buNone/>
                <a:tabLst>
                  <a:tab pos="428625" algn="l"/>
                  <a:tab pos="857250" algn="l"/>
                  <a:tab pos="1285875" algn="l"/>
                </a:tabLst>
                <a:defRPr/>
              </a:pPr>
              <a:r>
                <a:rPr kumimoji="0" lang="en-US" sz="2000" b="0" i="0" u="none" strike="noStrike" kern="1200" cap="none" spc="0" normalizeH="0" baseline="0" noProof="0" dirty="0">
                  <a:ln>
                    <a:noFill/>
                  </a:ln>
                  <a:solidFill>
                    <a:prstClr val="black"/>
                  </a:solidFill>
                  <a:effectLst/>
                  <a:uLnTx/>
                  <a:uFillTx/>
                  <a:latin typeface="Whitney Book" pitchFamily="50" charset="0"/>
                  <a:cs typeface="Whitney-Medium" pitchFamily="50" charset="0"/>
                </a:rPr>
                <a:t>Increase in </a:t>
              </a:r>
              <a:r>
                <a:rPr kumimoji="0" lang="en-US" sz="2000" b="0" i="1" u="none" strike="noStrike" kern="1200" cap="none" spc="0" normalizeH="0" baseline="0" noProof="0" dirty="0">
                  <a:ln>
                    <a:noFill/>
                  </a:ln>
                  <a:solidFill>
                    <a:prstClr val="black"/>
                  </a:solidFill>
                  <a:effectLst/>
                  <a:uLnTx/>
                  <a:uFillTx/>
                  <a:latin typeface="Whitney Book" pitchFamily="50" charset="0"/>
                  <a:cs typeface="Whitney-Medium" pitchFamily="50" charset="0"/>
                </a:rPr>
                <a:t>TR</a:t>
              </a:r>
              <a:r>
                <a:rPr kumimoji="0" lang="en-US" sz="2000" b="0" i="0" u="none" strike="noStrike" kern="1200" cap="none" spc="0" normalizeH="0" baseline="0" noProof="0" dirty="0">
                  <a:ln>
                    <a:noFill/>
                  </a:ln>
                  <a:solidFill>
                    <a:prstClr val="black"/>
                  </a:solidFill>
                  <a:effectLst/>
                  <a:uLnTx/>
                  <a:uFillTx/>
                  <a:latin typeface="Whitney Book" pitchFamily="50" charset="0"/>
                  <a:cs typeface="Whitney-Medium" pitchFamily="50" charset="0"/>
                </a:rPr>
                <a:t> from </a:t>
              </a:r>
              <a:br>
                <a:rPr kumimoji="0" lang="en-US" sz="2000" b="0" i="0" u="none" strike="noStrike" kern="1200" cap="none" spc="0" normalizeH="0" baseline="0" noProof="0" dirty="0">
                  <a:ln>
                    <a:noFill/>
                  </a:ln>
                  <a:solidFill>
                    <a:prstClr val="black"/>
                  </a:solidFill>
                  <a:effectLst/>
                  <a:uLnTx/>
                  <a:uFillTx/>
                  <a:latin typeface="Whitney Book" pitchFamily="50" charset="0"/>
                  <a:cs typeface="Whitney-Medium" pitchFamily="50" charset="0"/>
                </a:rPr>
              </a:br>
              <a:r>
                <a:rPr kumimoji="0" lang="en-US" sz="2000" b="0" i="0" u="none" strike="noStrike" kern="1200" cap="none" spc="0" normalizeH="0" baseline="0" noProof="0" dirty="0">
                  <a:ln>
                    <a:noFill/>
                  </a:ln>
                  <a:solidFill>
                    <a:prstClr val="black"/>
                  </a:solidFill>
                  <a:effectLst/>
                  <a:uLnTx/>
                  <a:uFillTx/>
                  <a:latin typeface="Whitney Book" pitchFamily="50" charset="0"/>
                  <a:cs typeface="Whitney-Medium" pitchFamily="50" charset="0"/>
                </a:rPr>
                <a:t>     higher volume</a:t>
              </a:r>
            </a:p>
          </p:txBody>
        </p:sp>
      </p:grpSp>
      <p:sp>
        <p:nvSpPr>
          <p:cNvPr id="80925" name="Rectangle 29"/>
          <p:cNvSpPr>
            <a:spLocks noChangeArrowheads="1"/>
          </p:cNvSpPr>
          <p:nvPr/>
        </p:nvSpPr>
        <p:spPr bwMode="auto">
          <a:xfrm>
            <a:off x="6816329" y="4220765"/>
            <a:ext cx="1654969" cy="928688"/>
          </a:xfrm>
          <a:prstGeom prst="rect">
            <a:avLst/>
          </a:prstGeom>
          <a:noFill/>
          <a:ln w="9525">
            <a:noFill/>
            <a:miter lim="800000"/>
            <a:headEnd/>
            <a:tailEnd/>
          </a:ln>
        </p:spPr>
        <p:txBody>
          <a:bodyPr wrap="none" lIns="17859" tIns="25301" rIns="17859" bIns="25301"/>
          <a:lstStyle/>
          <a:p>
            <a:pPr>
              <a:lnSpc>
                <a:spcPts val="3375"/>
              </a:lnSpc>
              <a:tabLst>
                <a:tab pos="857250" algn="l"/>
                <a:tab pos="1714500" algn="l"/>
                <a:tab pos="2571750" algn="l"/>
                <a:tab pos="3429000" algn="l"/>
                <a:tab pos="4286250" algn="l"/>
                <a:tab pos="5143500" algn="l"/>
                <a:tab pos="6000750" algn="l"/>
              </a:tabLst>
            </a:pPr>
            <a:r>
              <a:rPr lang="en-US" sz="3000" dirty="0">
                <a:solidFill>
                  <a:srgbClr val="FF9900"/>
                </a:solidFill>
                <a:latin typeface="Whitney Book" pitchFamily="50" charset="0"/>
                <a:cs typeface="Times New Roman" pitchFamily="18" charset="0"/>
              </a:rPr>
              <a:t>Which area</a:t>
            </a:r>
          </a:p>
          <a:p>
            <a:pPr>
              <a:lnSpc>
                <a:spcPts val="3375"/>
              </a:lnSpc>
              <a:tabLst>
                <a:tab pos="857250" algn="l"/>
                <a:tab pos="1714500" algn="l"/>
                <a:tab pos="2571750" algn="l"/>
                <a:tab pos="3429000" algn="l"/>
                <a:tab pos="4286250" algn="l"/>
                <a:tab pos="5143500" algn="l"/>
                <a:tab pos="6000750" algn="l"/>
              </a:tabLst>
            </a:pPr>
            <a:r>
              <a:rPr lang="en-US" sz="3000" dirty="0">
                <a:solidFill>
                  <a:srgbClr val="FF9900"/>
                </a:solidFill>
                <a:latin typeface="Whitney Book" pitchFamily="50" charset="0"/>
                <a:cs typeface="Times New Roman" pitchFamily="18" charset="0"/>
              </a:rPr>
              <a:t>is bigger?</a:t>
            </a:r>
          </a:p>
        </p:txBody>
      </p:sp>
      <p:sp>
        <p:nvSpPr>
          <p:cNvPr id="28" name="Slide Number Placeholder 27"/>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DBC38028-5B1C-49D3-BF22-2CE9385E6DA2}" type="slidenum">
              <a:rPr kumimoji="0" lang="en-US" sz="800" b="0" i="0" u="none" strike="noStrike" kern="800" cap="none" spc="400" normalizeH="0" baseline="0" noProof="0" smtClean="0">
                <a:ln>
                  <a:noFill/>
                </a:ln>
                <a:solidFill>
                  <a:prstClr val="black">
                    <a:lumMod val="75000"/>
                    <a:lumOff val="25000"/>
                  </a:prstClr>
                </a:solidFill>
                <a:effectLst/>
                <a:uLnTx/>
                <a:uFillTx/>
                <a:latin typeface="Whitney Book" pitchFamily="50" charset="0"/>
              </a:rPr>
              <a:pPr marL="0" marR="0" lvl="0" indent="0" algn="l" defTabSz="457200" rtl="0" eaLnBrk="1" fontAlgn="auto" latinLnBrk="0" hangingPunct="1">
                <a:lnSpc>
                  <a:spcPct val="100000"/>
                </a:lnSpc>
                <a:spcBef>
                  <a:spcPts val="0"/>
                </a:spcBef>
                <a:spcAft>
                  <a:spcPts val="0"/>
                </a:spcAft>
                <a:buClrTx/>
                <a:buSzTx/>
                <a:buFontTx/>
                <a:buNone/>
                <a:tabLst/>
                <a:defRPr/>
              </a:pPr>
              <a:t>5</a:t>
            </a:fld>
            <a:endParaRPr kumimoji="0" lang="en-US" sz="800" b="0" i="0" u="none" strike="noStrike" kern="800" cap="none" spc="400" normalizeH="0" baseline="0" noProof="0" dirty="0">
              <a:ln>
                <a:noFill/>
              </a:ln>
              <a:solidFill>
                <a:prstClr val="black">
                  <a:lumMod val="75000"/>
                  <a:lumOff val="25000"/>
                </a:prstClr>
              </a:solidFill>
              <a:effectLst/>
              <a:uLnTx/>
              <a:uFillTx/>
              <a:latin typeface="Whitney Book" pitchFamily="50" charset="0"/>
            </a:endParaRPr>
          </a:p>
        </p:txBody>
      </p:sp>
      <p:sp>
        <p:nvSpPr>
          <p:cNvPr id="6" name="TextBox 5">
            <a:extLst>
              <a:ext uri="{FF2B5EF4-FFF2-40B4-BE49-F238E27FC236}">
                <a16:creationId xmlns:a16="http://schemas.microsoft.com/office/drawing/2014/main" id="{759E9AD9-B5D3-014D-AC78-712C99F4727E}"/>
              </a:ext>
            </a:extLst>
          </p:cNvPr>
          <p:cNvSpPr txBox="1"/>
          <p:nvPr/>
        </p:nvSpPr>
        <p:spPr>
          <a:xfrm>
            <a:off x="2896578" y="4625340"/>
            <a:ext cx="500458" cy="369332"/>
          </a:xfrm>
          <a:prstGeom prst="rect">
            <a:avLst/>
          </a:prstGeom>
          <a:noFill/>
        </p:spPr>
        <p:txBody>
          <a:bodyPr wrap="none" rtlCol="0">
            <a:spAutoFit/>
          </a:bodyPr>
          <a:lstStyle/>
          <a:p>
            <a:r>
              <a:rPr lang="en-US" i="1" dirty="0">
                <a:latin typeface="Whitney Book" pitchFamily="50" charset="0"/>
              </a:rPr>
              <a:t>TR</a:t>
            </a:r>
            <a:r>
              <a:rPr lang="en-US" i="1" baseline="-25000" dirty="0">
                <a:latin typeface="Whitney Book" pitchFamily="50" charset="0"/>
              </a:rPr>
              <a:t>0</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0C08183-EE80-5440-AD0A-1A7C57BFEBD7}"/>
                  </a:ext>
                </a:extLst>
              </p:cNvPr>
              <p:cNvSpPr txBox="1"/>
              <p:nvPr/>
            </p:nvSpPr>
            <p:spPr>
              <a:xfrm>
                <a:off x="206537" y="2587913"/>
                <a:ext cx="1509452" cy="646331"/>
              </a:xfrm>
              <a:prstGeom prst="rect">
                <a:avLst/>
              </a:prstGeom>
              <a:noFill/>
            </p:spPr>
            <p:txBody>
              <a:bodyPr wrap="none" rtlCol="0">
                <a:spAutoFit/>
              </a:bodyPr>
              <a:lstStyle/>
              <a:p>
                <a:r>
                  <a:rPr lang="en-US" dirty="0">
                    <a:latin typeface="Whitney Book" pitchFamily="50" charset="0"/>
                  </a:rPr>
                  <a:t>Total revenue </a:t>
                </a:r>
              </a:p>
              <a:p>
                <a:r>
                  <a:rPr lang="en-US" i="1" dirty="0">
                    <a:latin typeface="Whitney Book" pitchFamily="50" charset="0"/>
                  </a:rPr>
                  <a:t>TR </a:t>
                </a:r>
                <a:r>
                  <a:rPr lang="en-US" dirty="0">
                    <a:latin typeface="Whitney Book" pitchFamily="50" charset="0"/>
                  </a:rPr>
                  <a:t>=</a:t>
                </a:r>
                <a:r>
                  <a:rPr lang="en-US" i="1" dirty="0">
                    <a:latin typeface="Whitney Book" pitchFamily="50" charset="0"/>
                  </a:rPr>
                  <a:t> P</a:t>
                </a:r>
                <a:r>
                  <a:rPr lang="en-US" i="1" dirty="0">
                    <a:latin typeface="Whitney Book" pitchFamily="50" charset="0"/>
                    <a:ea typeface="Cambria Math" charset="0"/>
                    <a:cs typeface="Cambria Math" charset="0"/>
                  </a:rPr>
                  <a:t> </a:t>
                </a:r>
                <a14:m>
                  <m:oMath xmlns:m="http://schemas.openxmlformats.org/officeDocument/2006/math">
                    <m:r>
                      <a:rPr lang="en-US" i="1">
                        <a:latin typeface="Cambria Math" charset="0"/>
                        <a:ea typeface="Cambria Math" charset="0"/>
                        <a:cs typeface="Cambria Math" charset="0"/>
                      </a:rPr>
                      <m:t>∙ </m:t>
                    </m:r>
                  </m:oMath>
                </a14:m>
                <a:r>
                  <a:rPr lang="en-US" i="1" dirty="0">
                    <a:latin typeface="Whitney Book" pitchFamily="50" charset="0"/>
                  </a:rPr>
                  <a:t>Q</a:t>
                </a:r>
              </a:p>
            </p:txBody>
          </p:sp>
        </mc:Choice>
        <mc:Fallback xmlns="">
          <p:sp>
            <p:nvSpPr>
              <p:cNvPr id="7" name="TextBox 6">
                <a:extLst>
                  <a:ext uri="{FF2B5EF4-FFF2-40B4-BE49-F238E27FC236}">
                    <a16:creationId xmlns:a16="http://schemas.microsoft.com/office/drawing/2014/main" id="{60C08183-EE80-5440-AD0A-1A7C57BFEBD7}"/>
                  </a:ext>
                </a:extLst>
              </p:cNvPr>
              <p:cNvSpPr txBox="1">
                <a:spLocks noRot="1" noChangeAspect="1" noMove="1" noResize="1" noEditPoints="1" noAdjustHandles="1" noChangeArrowheads="1" noChangeShapeType="1" noTextEdit="1"/>
              </p:cNvSpPr>
              <p:nvPr/>
            </p:nvSpPr>
            <p:spPr>
              <a:xfrm>
                <a:off x="206537" y="2587913"/>
                <a:ext cx="1509452" cy="646331"/>
              </a:xfrm>
              <a:prstGeom prst="rect">
                <a:avLst/>
              </a:prstGeom>
              <a:blipFill>
                <a:blip r:embed="rId4"/>
                <a:stretch>
                  <a:fillRect l="-3361" t="-5882" r="-3361" b="-15686"/>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5A3D08D0-5365-0C47-AD2E-84C738E7F3C7}"/>
              </a:ext>
            </a:extLst>
          </p:cNvPr>
          <p:cNvSpPr txBox="1"/>
          <p:nvPr/>
        </p:nvSpPr>
        <p:spPr>
          <a:xfrm>
            <a:off x="3048978" y="4777740"/>
            <a:ext cx="500458" cy="369332"/>
          </a:xfrm>
          <a:prstGeom prst="rect">
            <a:avLst/>
          </a:prstGeom>
          <a:noFill/>
        </p:spPr>
        <p:txBody>
          <a:bodyPr wrap="none" rtlCol="0">
            <a:spAutoFit/>
          </a:bodyPr>
          <a:lstStyle/>
          <a:p>
            <a:r>
              <a:rPr lang="en-US" i="1" dirty="0">
                <a:latin typeface="Whitney Book" pitchFamily="50" charset="0"/>
              </a:rPr>
              <a:t>TR</a:t>
            </a:r>
            <a:r>
              <a:rPr lang="en-US" i="1" baseline="-25000" dirty="0">
                <a:latin typeface="Whitney Book" pitchFamily="50" charset="0"/>
              </a:rPr>
              <a:t>1</a:t>
            </a:r>
          </a:p>
        </p:txBody>
      </p:sp>
    </p:spTree>
    <p:custDataLst>
      <p:tags r:id="rId1"/>
    </p:custDataLst>
    <p:extLst>
      <p:ext uri="{BB962C8B-B14F-4D97-AF65-F5344CB8AC3E}">
        <p14:creationId xmlns:p14="http://schemas.microsoft.com/office/powerpoint/2010/main" val="2516538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3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53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53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5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5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5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53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wipe(up)">
                                      <p:cBhvr>
                                        <p:cTn id="37" dur="500"/>
                                        <p:tgtEl>
                                          <p:spTgt spid="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left)">
                                      <p:cBhvr>
                                        <p:cTn id="42" dur="500"/>
                                        <p:tgtEl>
                                          <p:spTgt spid="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80916"/>
                                        </p:tgtEl>
                                        <p:attrNameLst>
                                          <p:attrName>style.visibility</p:attrName>
                                        </p:attrNameLst>
                                      </p:cBhvr>
                                      <p:to>
                                        <p:strVal val="visible"/>
                                      </p:to>
                                    </p:set>
                                    <p:animEffect transition="in" filter="wipe(left)">
                                      <p:cBhvr>
                                        <p:cTn id="47" dur="500"/>
                                        <p:tgtEl>
                                          <p:spTgt spid="80916"/>
                                        </p:tgtEl>
                                      </p:cBhvr>
                                    </p:animEffect>
                                  </p:childTnLst>
                                </p:cTn>
                              </p:par>
                              <p:par>
                                <p:cTn id="48" presetID="1" presetClass="entr" presetSubtype="0" fill="hold" grpId="0" nodeType="withEffect">
                                  <p:stCondLst>
                                    <p:cond delay="0"/>
                                  </p:stCondLst>
                                  <p:childTnLst>
                                    <p:set>
                                      <p:cBhvr>
                                        <p:cTn id="49" dur="1" fill="hold">
                                          <p:stCondLst>
                                            <p:cond delay="0"/>
                                          </p:stCondLst>
                                        </p:cTn>
                                        <p:tgtEl>
                                          <p:spTgt spid="31"/>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4"/>
                                        </p:tgtEl>
                                        <p:attrNameLst>
                                          <p:attrName>style.visibility</p:attrName>
                                        </p:attrNameLst>
                                      </p:cBhvr>
                                      <p:to>
                                        <p:strVal val="visible"/>
                                      </p:to>
                                    </p:set>
                                    <p:animEffect transition="in" filter="wipe(left)">
                                      <p:cBhvr>
                                        <p:cTn id="54" dur="500"/>
                                        <p:tgtEl>
                                          <p:spTgt spid="4"/>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nodeType="clickEffect">
                                  <p:stCondLst>
                                    <p:cond delay="0"/>
                                  </p:stCondLst>
                                  <p:childTnLst>
                                    <p:set>
                                      <p:cBhvr>
                                        <p:cTn id="58" dur="1" fill="hold">
                                          <p:stCondLst>
                                            <p:cond delay="0"/>
                                          </p:stCondLst>
                                        </p:cTn>
                                        <p:tgtEl>
                                          <p:spTgt spid="5"/>
                                        </p:tgtEl>
                                        <p:attrNameLst>
                                          <p:attrName>style.visibility</p:attrName>
                                        </p:attrNameLst>
                                      </p:cBhvr>
                                      <p:to>
                                        <p:strVal val="visible"/>
                                      </p:to>
                                    </p:set>
                                    <p:animEffect transition="in" filter="wipe(down)">
                                      <p:cBhvr>
                                        <p:cTn id="59" dur="500"/>
                                        <p:tgtEl>
                                          <p:spTgt spid="5"/>
                                        </p:tgtEl>
                                      </p:cBhvr>
                                    </p:animEffect>
                                  </p:childTnLst>
                                </p:cTn>
                              </p:par>
                            </p:childTnLst>
                          </p:cTn>
                        </p:par>
                      </p:childTnLst>
                    </p:cTn>
                  </p:par>
                  <p:par>
                    <p:cTn id="60" fill="hold">
                      <p:stCondLst>
                        <p:cond delay="indefinite"/>
                      </p:stCondLst>
                      <p:childTnLst>
                        <p:par>
                          <p:cTn id="61" fill="hold">
                            <p:stCondLst>
                              <p:cond delay="0"/>
                            </p:stCondLst>
                            <p:childTnLst>
                              <p:par>
                                <p:cTn id="62" presetID="4" presetClass="entr" presetSubtype="32" fill="hold" grpId="0" nodeType="clickEffect">
                                  <p:stCondLst>
                                    <p:cond delay="0"/>
                                  </p:stCondLst>
                                  <p:childTnLst>
                                    <p:set>
                                      <p:cBhvr>
                                        <p:cTn id="63" dur="1" fill="hold">
                                          <p:stCondLst>
                                            <p:cond delay="0"/>
                                          </p:stCondLst>
                                        </p:cTn>
                                        <p:tgtEl>
                                          <p:spTgt spid="80925"/>
                                        </p:tgtEl>
                                        <p:attrNameLst>
                                          <p:attrName>style.visibility</p:attrName>
                                        </p:attrNameLst>
                                      </p:cBhvr>
                                      <p:to>
                                        <p:strVal val="visible"/>
                                      </p:to>
                                    </p:set>
                                    <p:animEffect transition="in" filter="box(out)">
                                      <p:cBhvr>
                                        <p:cTn id="64" dur="500"/>
                                        <p:tgtEl>
                                          <p:spTgt spid="809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animBg="1"/>
      <p:bldP spid="22534" grpId="0"/>
      <p:bldP spid="22535" grpId="0" animBg="1"/>
      <p:bldP spid="22536" grpId="0"/>
      <p:bldP spid="22537" grpId="0"/>
      <p:bldP spid="22538" grpId="0" animBg="1"/>
      <p:bldP spid="22539" grpId="0" animBg="1"/>
      <p:bldP spid="80916" grpId="0" animBg="1"/>
      <p:bldP spid="80925" grpId="0" autoUpdateAnimBg="0"/>
      <p:bldP spid="6" grpId="0"/>
      <p:bldP spid="7" grpId="0"/>
      <p:bldP spid="31"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52170" y="-18700"/>
            <a:ext cx="9020194" cy="1143000"/>
          </a:xfrm>
        </p:spPr>
        <p:txBody>
          <a:bodyPr/>
          <a:lstStyle/>
          <a:p>
            <a:r>
              <a:rPr lang="en-US" sz="3200" dirty="0">
                <a:latin typeface="Whitney Medium" pitchFamily="50" charset="0"/>
              </a:rPr>
              <a:t>Own-price Elasticity (</a:t>
            </a:r>
            <a:r>
              <a:rPr lang="en-US" sz="3200" i="1" dirty="0">
                <a:latin typeface="Whitney Medium" pitchFamily="50" charset="0"/>
              </a:rPr>
              <a:t>E</a:t>
            </a:r>
            <a:r>
              <a:rPr lang="en-US" sz="3200" i="1" baseline="-25000" dirty="0">
                <a:latin typeface="Whitney Medium" pitchFamily="50" charset="0"/>
              </a:rPr>
              <a:t>d</a:t>
            </a:r>
            <a:r>
              <a:rPr lang="en-US" sz="3200" dirty="0">
                <a:latin typeface="Whitney Medium" pitchFamily="50" charset="0"/>
              </a:rPr>
              <a:t>) and Total Revenue</a:t>
            </a:r>
            <a:endParaRPr lang="en-US" noProof="0" dirty="0">
              <a:solidFill>
                <a:srgbClr val="002B56"/>
              </a:solidFill>
            </a:endParaRPr>
          </a:p>
        </p:txBody>
      </p:sp>
      <p:grpSp>
        <p:nvGrpSpPr>
          <p:cNvPr id="4" name="Group 43"/>
          <p:cNvGrpSpPr/>
          <p:nvPr/>
        </p:nvGrpSpPr>
        <p:grpSpPr>
          <a:xfrm>
            <a:off x="98471" y="682552"/>
            <a:ext cx="7023100" cy="3873500"/>
            <a:chOff x="990600" y="838200"/>
            <a:chExt cx="7023100" cy="3873500"/>
          </a:xfrm>
        </p:grpSpPr>
        <p:sp>
          <p:nvSpPr>
            <p:cNvPr id="5" name="Rectangle 8"/>
            <p:cNvSpPr>
              <a:spLocks noChangeArrowheads="1"/>
            </p:cNvSpPr>
            <p:nvPr/>
          </p:nvSpPr>
          <p:spPr bwMode="auto">
            <a:xfrm>
              <a:off x="7391400" y="4114800"/>
              <a:ext cx="622300" cy="596900"/>
            </a:xfrm>
            <a:prstGeom prst="rect">
              <a:avLst/>
            </a:prstGeom>
            <a:noFill/>
            <a:ln w="9525">
              <a:noFill/>
              <a:miter lim="800000"/>
              <a:headEnd/>
              <a:tailEnd/>
            </a:ln>
            <a:effectLst/>
          </p:spPr>
          <p:txBody>
            <a:bodyPr wrap="none" lIns="19050" tIns="26988" rIns="19050" bIns="26988"/>
            <a:lstStyle/>
            <a:p>
              <a:pPr>
                <a:lnSpc>
                  <a:spcPts val="2800"/>
                </a:lnSpc>
                <a:spcAft>
                  <a:spcPts val="900"/>
                </a:spcAft>
                <a:tabLst>
                  <a:tab pos="457200" algn="l"/>
                  <a:tab pos="914400" algn="l"/>
                  <a:tab pos="1371600" algn="l"/>
                </a:tabLst>
                <a:defRPr/>
              </a:pPr>
              <a:r>
                <a:rPr lang="en-US" b="0" i="1" dirty="0">
                  <a:latin typeface="+mn-lt"/>
                  <a:cs typeface="Times New Roman" pitchFamily="18" charset="0"/>
                </a:rPr>
                <a:t>Q</a:t>
              </a:r>
            </a:p>
          </p:txBody>
        </p:sp>
        <p:sp>
          <p:nvSpPr>
            <p:cNvPr id="6" name="Line 9"/>
            <p:cNvSpPr>
              <a:spLocks noChangeShapeType="1"/>
            </p:cNvSpPr>
            <p:nvPr/>
          </p:nvSpPr>
          <p:spPr bwMode="auto">
            <a:xfrm flipH="1">
              <a:off x="1371600" y="4038600"/>
              <a:ext cx="6096000" cy="0"/>
            </a:xfrm>
            <a:prstGeom prst="line">
              <a:avLst/>
            </a:prstGeom>
            <a:noFill/>
            <a:ln w="50800">
              <a:solidFill>
                <a:schemeClr val="tx1"/>
              </a:solidFill>
              <a:round/>
              <a:headEnd type="arrow" w="med" len="med"/>
              <a:tailEnd type="none" w="med" len="med"/>
            </a:ln>
          </p:spPr>
          <p:txBody>
            <a:bodyPr wrap="none" anchor="ctr"/>
            <a:lstStyle/>
            <a:p>
              <a:endParaRPr lang="en-US">
                <a:latin typeface="+mn-lt"/>
                <a:cs typeface="Times New Roman" pitchFamily="18" charset="0"/>
              </a:endParaRPr>
            </a:p>
          </p:txBody>
        </p:sp>
        <p:sp>
          <p:nvSpPr>
            <p:cNvPr id="7" name="Rectangle 10"/>
            <p:cNvSpPr>
              <a:spLocks noChangeArrowheads="1"/>
            </p:cNvSpPr>
            <p:nvPr/>
          </p:nvSpPr>
          <p:spPr bwMode="auto">
            <a:xfrm>
              <a:off x="990600" y="838200"/>
              <a:ext cx="622300" cy="596900"/>
            </a:xfrm>
            <a:prstGeom prst="rect">
              <a:avLst/>
            </a:prstGeom>
            <a:noFill/>
            <a:ln w="9525">
              <a:noFill/>
              <a:miter lim="800000"/>
              <a:headEnd/>
              <a:tailEnd/>
            </a:ln>
            <a:effectLst/>
          </p:spPr>
          <p:txBody>
            <a:bodyPr wrap="none" lIns="19050" tIns="26988" rIns="19050" bIns="26988"/>
            <a:lstStyle/>
            <a:p>
              <a:pPr>
                <a:lnSpc>
                  <a:spcPts val="2800"/>
                </a:lnSpc>
                <a:spcAft>
                  <a:spcPts val="900"/>
                </a:spcAft>
                <a:tabLst>
                  <a:tab pos="457200" algn="l"/>
                  <a:tab pos="914400" algn="l"/>
                  <a:tab pos="1371600" algn="l"/>
                </a:tabLst>
                <a:defRPr/>
              </a:pPr>
              <a:r>
                <a:rPr lang="en-US" b="0" i="1" dirty="0">
                  <a:latin typeface="+mn-lt"/>
                  <a:cs typeface="Times New Roman" pitchFamily="18" charset="0"/>
                </a:rPr>
                <a:t>P</a:t>
              </a:r>
            </a:p>
          </p:txBody>
        </p:sp>
        <p:sp>
          <p:nvSpPr>
            <p:cNvPr id="8" name="Line 12"/>
            <p:cNvSpPr>
              <a:spLocks noChangeShapeType="1"/>
            </p:cNvSpPr>
            <p:nvPr/>
          </p:nvSpPr>
          <p:spPr bwMode="auto">
            <a:xfrm>
              <a:off x="1371600" y="1143000"/>
              <a:ext cx="0" cy="2895600"/>
            </a:xfrm>
            <a:prstGeom prst="line">
              <a:avLst/>
            </a:prstGeom>
            <a:noFill/>
            <a:ln w="50800">
              <a:solidFill>
                <a:schemeClr val="tx1"/>
              </a:solidFill>
              <a:round/>
              <a:headEnd type="arrow" w="sm" len="sm"/>
              <a:tailEnd type="none" w="sm" len="sm"/>
            </a:ln>
          </p:spPr>
          <p:txBody>
            <a:bodyPr wrap="none" anchor="ctr"/>
            <a:lstStyle/>
            <a:p>
              <a:endParaRPr lang="en-US">
                <a:latin typeface="+mn-lt"/>
                <a:cs typeface="Times New Roman" pitchFamily="18" charset="0"/>
              </a:endParaRPr>
            </a:p>
          </p:txBody>
        </p:sp>
      </p:grpSp>
      <p:grpSp>
        <p:nvGrpSpPr>
          <p:cNvPr id="9" name="Group 44"/>
          <p:cNvGrpSpPr/>
          <p:nvPr/>
        </p:nvGrpSpPr>
        <p:grpSpPr>
          <a:xfrm>
            <a:off x="479471" y="1292152"/>
            <a:ext cx="5511800" cy="2600400"/>
            <a:chOff x="1371600" y="1447800"/>
            <a:chExt cx="5511800" cy="2600400"/>
          </a:xfrm>
        </p:grpSpPr>
        <p:sp>
          <p:nvSpPr>
            <p:cNvPr id="10" name="Line 5"/>
            <p:cNvSpPr>
              <a:spLocks noChangeShapeType="1"/>
            </p:cNvSpPr>
            <p:nvPr/>
          </p:nvSpPr>
          <p:spPr bwMode="auto">
            <a:xfrm>
              <a:off x="1371600" y="1447800"/>
              <a:ext cx="5105400" cy="2590800"/>
            </a:xfrm>
            <a:prstGeom prst="line">
              <a:avLst/>
            </a:prstGeom>
            <a:noFill/>
            <a:ln w="50800">
              <a:solidFill>
                <a:srgbClr val="C00000"/>
              </a:solidFill>
              <a:round/>
              <a:headEnd type="none" w="sm" len="sm"/>
              <a:tailEnd type="none" w="sm" len="sm"/>
            </a:ln>
          </p:spPr>
          <p:txBody>
            <a:bodyPr wrap="none" anchor="ctr"/>
            <a:lstStyle/>
            <a:p>
              <a:endParaRPr lang="en-US">
                <a:latin typeface="+mn-lt"/>
                <a:cs typeface="Times New Roman" pitchFamily="18" charset="0"/>
              </a:endParaRPr>
            </a:p>
          </p:txBody>
        </p:sp>
        <p:sp>
          <p:nvSpPr>
            <p:cNvPr id="13" name="Rectangle 14"/>
            <p:cNvSpPr>
              <a:spLocks noChangeArrowheads="1"/>
            </p:cNvSpPr>
            <p:nvPr/>
          </p:nvSpPr>
          <p:spPr bwMode="auto">
            <a:xfrm>
              <a:off x="6502400" y="3591000"/>
              <a:ext cx="381000" cy="457200"/>
            </a:xfrm>
            <a:prstGeom prst="rect">
              <a:avLst/>
            </a:prstGeom>
            <a:noFill/>
            <a:ln w="9525">
              <a:noFill/>
              <a:miter lim="800000"/>
              <a:headEnd/>
              <a:tailEnd/>
            </a:ln>
            <a:effectLst/>
          </p:spPr>
          <p:txBody>
            <a:bodyPr wrap="none" lIns="19050" tIns="26988" rIns="19050" bIns="26988"/>
            <a:lstStyle/>
            <a:p>
              <a:pPr>
                <a:lnSpc>
                  <a:spcPts val="2800"/>
                </a:lnSpc>
                <a:spcAft>
                  <a:spcPts val="900"/>
                </a:spcAft>
                <a:tabLst>
                  <a:tab pos="457200" algn="l"/>
                  <a:tab pos="914400" algn="l"/>
                  <a:tab pos="1371600" algn="l"/>
                </a:tabLst>
                <a:defRPr/>
              </a:pPr>
              <a:r>
                <a:rPr lang="en-US" b="0" dirty="0">
                  <a:solidFill>
                    <a:srgbClr val="C00000"/>
                  </a:solidFill>
                  <a:latin typeface="+mn-lt"/>
                  <a:cs typeface="Times New Roman" pitchFamily="18" charset="0"/>
                </a:rPr>
                <a:t>D</a:t>
              </a:r>
            </a:p>
          </p:txBody>
        </p:sp>
      </p:grpSp>
      <p:sp>
        <p:nvSpPr>
          <p:cNvPr id="21" name="Line 23"/>
          <p:cNvSpPr>
            <a:spLocks noChangeShapeType="1"/>
          </p:cNvSpPr>
          <p:nvPr/>
        </p:nvSpPr>
        <p:spPr bwMode="auto">
          <a:xfrm>
            <a:off x="3298871" y="2739952"/>
            <a:ext cx="2" cy="1143000"/>
          </a:xfrm>
          <a:prstGeom prst="line">
            <a:avLst/>
          </a:prstGeom>
          <a:noFill/>
          <a:ln w="25400">
            <a:solidFill>
              <a:schemeClr val="tx1"/>
            </a:solidFill>
            <a:prstDash val="sysDash"/>
            <a:round/>
            <a:headEnd type="none" w="sm" len="sm"/>
            <a:tailEnd type="none" w="sm" len="sm"/>
          </a:ln>
        </p:spPr>
        <p:txBody>
          <a:bodyPr wrap="none" anchor="ctr"/>
          <a:lstStyle/>
          <a:p>
            <a:endParaRPr lang="en-US">
              <a:latin typeface="+mn-lt"/>
              <a:cs typeface="Times New Roman" pitchFamily="18" charset="0"/>
            </a:endParaRPr>
          </a:p>
        </p:txBody>
      </p:sp>
      <p:sp>
        <p:nvSpPr>
          <p:cNvPr id="26" name="Line 31"/>
          <p:cNvSpPr>
            <a:spLocks noChangeShapeType="1"/>
          </p:cNvSpPr>
          <p:nvPr/>
        </p:nvSpPr>
        <p:spPr bwMode="auto">
          <a:xfrm>
            <a:off x="3286176" y="3946748"/>
            <a:ext cx="12700" cy="2551544"/>
          </a:xfrm>
          <a:prstGeom prst="line">
            <a:avLst/>
          </a:prstGeom>
          <a:noFill/>
          <a:ln w="25400">
            <a:solidFill>
              <a:schemeClr val="tx1"/>
            </a:solidFill>
            <a:prstDash val="sysDash"/>
            <a:round/>
            <a:headEnd type="none" w="sm" len="sm"/>
            <a:tailEnd type="none" w="sm" len="sm"/>
          </a:ln>
        </p:spPr>
        <p:txBody>
          <a:bodyPr wrap="none" anchor="ctr"/>
          <a:lstStyle/>
          <a:p>
            <a:endParaRPr lang="en-US">
              <a:latin typeface="+mn-lt"/>
              <a:cs typeface="Times New Roman" pitchFamily="18" charset="0"/>
            </a:endParaRPr>
          </a:p>
        </p:txBody>
      </p:sp>
      <p:sp>
        <p:nvSpPr>
          <p:cNvPr id="31" name="Arc 35"/>
          <p:cNvSpPr>
            <a:spLocks/>
          </p:cNvSpPr>
          <p:nvPr/>
        </p:nvSpPr>
        <p:spPr bwMode="auto">
          <a:xfrm>
            <a:off x="479476" y="4416069"/>
            <a:ext cx="2743200" cy="2078182"/>
          </a:xfrm>
          <a:custGeom>
            <a:avLst/>
            <a:gdLst>
              <a:gd name="T0" fmla="*/ 0 w 21600"/>
              <a:gd name="T1" fmla="*/ 1383 h 21600"/>
              <a:gd name="T2" fmla="*/ 1190 w 21600"/>
              <a:gd name="T3" fmla="*/ 0 h 21600"/>
              <a:gd name="T4" fmla="*/ 1191 w 21600"/>
              <a:gd name="T5" fmla="*/ 138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584"/>
                </a:moveTo>
                <a:cubicBezTo>
                  <a:pt x="8" y="9667"/>
                  <a:pt x="9665" y="9"/>
                  <a:pt x="21582" y="0"/>
                </a:cubicBezTo>
              </a:path>
              <a:path w="21600" h="21600" stroke="0" extrusionOk="0">
                <a:moveTo>
                  <a:pt x="0" y="21584"/>
                </a:moveTo>
                <a:cubicBezTo>
                  <a:pt x="8" y="9667"/>
                  <a:pt x="9665" y="9"/>
                  <a:pt x="21582" y="0"/>
                </a:cubicBezTo>
                <a:lnTo>
                  <a:pt x="21600" y="21600"/>
                </a:lnTo>
                <a:close/>
              </a:path>
            </a:pathLst>
          </a:custGeom>
          <a:noFill/>
          <a:ln w="50800" cap="rnd">
            <a:solidFill>
              <a:srgbClr val="FFC000"/>
            </a:solidFill>
            <a:round/>
            <a:headEnd type="none" w="sm" len="sm"/>
            <a:tailEnd type="none" w="sm" len="sm"/>
          </a:ln>
        </p:spPr>
        <p:txBody>
          <a:bodyPr wrap="none" anchor="ctr"/>
          <a:lstStyle/>
          <a:p>
            <a:endParaRPr lang="en-US">
              <a:latin typeface="+mn-lt"/>
              <a:cs typeface="Times New Roman" pitchFamily="18" charset="0"/>
            </a:endParaRPr>
          </a:p>
        </p:txBody>
      </p:sp>
      <p:sp>
        <p:nvSpPr>
          <p:cNvPr id="32" name="Arc 36"/>
          <p:cNvSpPr>
            <a:spLocks/>
          </p:cNvSpPr>
          <p:nvPr/>
        </p:nvSpPr>
        <p:spPr bwMode="auto">
          <a:xfrm>
            <a:off x="3298876" y="4416069"/>
            <a:ext cx="2819400" cy="2078182"/>
          </a:xfrm>
          <a:custGeom>
            <a:avLst/>
            <a:gdLst>
              <a:gd name="T0" fmla="*/ 0 w 21615"/>
              <a:gd name="T1" fmla="*/ 0 h 21600"/>
              <a:gd name="T2" fmla="*/ 1447 w 21615"/>
              <a:gd name="T3" fmla="*/ 1408 h 21600"/>
              <a:gd name="T4" fmla="*/ 1 w 21615"/>
              <a:gd name="T5" fmla="*/ 1408 h 21600"/>
              <a:gd name="T6" fmla="*/ 0 60000 65536"/>
              <a:gd name="T7" fmla="*/ 0 60000 65536"/>
              <a:gd name="T8" fmla="*/ 0 60000 65536"/>
              <a:gd name="T9" fmla="*/ 0 w 21615"/>
              <a:gd name="T10" fmla="*/ 0 h 21600"/>
              <a:gd name="T11" fmla="*/ 21615 w 21615"/>
              <a:gd name="T12" fmla="*/ 21600 h 21600"/>
            </a:gdLst>
            <a:ahLst/>
            <a:cxnLst>
              <a:cxn ang="T6">
                <a:pos x="T0" y="T1"/>
              </a:cxn>
              <a:cxn ang="T7">
                <a:pos x="T2" y="T3"/>
              </a:cxn>
              <a:cxn ang="T8">
                <a:pos x="T4" y="T5"/>
              </a:cxn>
            </a:cxnLst>
            <a:rect l="T9" t="T10" r="T11" b="T12"/>
            <a:pathLst>
              <a:path w="21615" h="21600" fill="none" extrusionOk="0">
                <a:moveTo>
                  <a:pt x="0" y="0"/>
                </a:moveTo>
                <a:cubicBezTo>
                  <a:pt x="5" y="0"/>
                  <a:pt x="10" y="-1"/>
                  <a:pt x="15" y="0"/>
                </a:cubicBezTo>
                <a:cubicBezTo>
                  <a:pt x="11944" y="0"/>
                  <a:pt x="21615" y="9670"/>
                  <a:pt x="21615" y="21600"/>
                </a:cubicBezTo>
              </a:path>
              <a:path w="21615" h="21600" stroke="0" extrusionOk="0">
                <a:moveTo>
                  <a:pt x="0" y="0"/>
                </a:moveTo>
                <a:cubicBezTo>
                  <a:pt x="5" y="0"/>
                  <a:pt x="10" y="-1"/>
                  <a:pt x="15" y="0"/>
                </a:cubicBezTo>
                <a:cubicBezTo>
                  <a:pt x="11944" y="0"/>
                  <a:pt x="21615" y="9670"/>
                  <a:pt x="21615" y="21600"/>
                </a:cubicBezTo>
                <a:lnTo>
                  <a:pt x="15" y="21600"/>
                </a:lnTo>
                <a:close/>
              </a:path>
            </a:pathLst>
          </a:custGeom>
          <a:noFill/>
          <a:ln w="50800" cap="rnd">
            <a:solidFill>
              <a:srgbClr val="FFC000"/>
            </a:solidFill>
            <a:round/>
            <a:headEnd type="none" w="sm" len="sm"/>
            <a:tailEnd type="none" w="sm" len="sm"/>
          </a:ln>
        </p:spPr>
        <p:txBody>
          <a:bodyPr wrap="none" anchor="ctr"/>
          <a:lstStyle/>
          <a:p>
            <a:endParaRPr lang="en-US">
              <a:latin typeface="+mn-lt"/>
              <a:cs typeface="Times New Roman" pitchFamily="18" charset="0"/>
            </a:endParaRPr>
          </a:p>
        </p:txBody>
      </p:sp>
      <p:sp>
        <p:nvSpPr>
          <p:cNvPr id="33" name="Rectangle 37"/>
          <p:cNvSpPr>
            <a:spLocks noChangeArrowheads="1"/>
          </p:cNvSpPr>
          <p:nvPr/>
        </p:nvSpPr>
        <p:spPr bwMode="auto">
          <a:xfrm>
            <a:off x="920411" y="4641207"/>
            <a:ext cx="876300" cy="542636"/>
          </a:xfrm>
          <a:prstGeom prst="rect">
            <a:avLst/>
          </a:prstGeom>
          <a:noFill/>
          <a:ln w="9525">
            <a:noFill/>
            <a:miter lim="800000"/>
            <a:headEnd/>
            <a:tailEnd/>
          </a:ln>
          <a:effectLst/>
        </p:spPr>
        <p:txBody>
          <a:bodyPr wrap="none" lIns="19050" tIns="26988" rIns="19050" bIns="26988"/>
          <a:lstStyle/>
          <a:p>
            <a:pPr>
              <a:lnSpc>
                <a:spcPts val="2800"/>
              </a:lnSpc>
              <a:spcAft>
                <a:spcPts val="900"/>
              </a:spcAft>
              <a:tabLst>
                <a:tab pos="457200" algn="l"/>
                <a:tab pos="914400" algn="l"/>
                <a:tab pos="1371600" algn="l"/>
              </a:tabLst>
              <a:defRPr/>
            </a:pPr>
            <a:r>
              <a:rPr lang="en-US" b="0" i="1" dirty="0">
                <a:solidFill>
                  <a:srgbClr val="FFC000"/>
                </a:solidFill>
                <a:latin typeface="+mn-lt"/>
                <a:cs typeface="Times New Roman" pitchFamily="18" charset="0"/>
              </a:rPr>
              <a:t>TR</a:t>
            </a:r>
          </a:p>
        </p:txBody>
      </p:sp>
      <p:grpSp>
        <p:nvGrpSpPr>
          <p:cNvPr id="37" name="Group 51"/>
          <p:cNvGrpSpPr/>
          <p:nvPr/>
        </p:nvGrpSpPr>
        <p:grpSpPr>
          <a:xfrm>
            <a:off x="479476" y="4086445"/>
            <a:ext cx="6718300" cy="2967182"/>
            <a:chOff x="1371600" y="4191000"/>
            <a:chExt cx="6718300" cy="3263900"/>
          </a:xfrm>
        </p:grpSpPr>
        <p:grpSp>
          <p:nvGrpSpPr>
            <p:cNvPr id="38" name="Group 48"/>
            <p:cNvGrpSpPr/>
            <p:nvPr/>
          </p:nvGrpSpPr>
          <p:grpSpPr>
            <a:xfrm>
              <a:off x="1371600" y="4191000"/>
              <a:ext cx="6172200" cy="2667000"/>
              <a:chOff x="1371600" y="4191000"/>
              <a:chExt cx="6172200" cy="2667000"/>
            </a:xfrm>
          </p:grpSpPr>
          <p:sp>
            <p:nvSpPr>
              <p:cNvPr id="40" name="Line 28"/>
              <p:cNvSpPr>
                <a:spLocks noChangeShapeType="1"/>
              </p:cNvSpPr>
              <p:nvPr/>
            </p:nvSpPr>
            <p:spPr bwMode="auto">
              <a:xfrm>
                <a:off x="1371600" y="4191000"/>
                <a:ext cx="0" cy="2667000"/>
              </a:xfrm>
              <a:prstGeom prst="line">
                <a:avLst/>
              </a:prstGeom>
              <a:noFill/>
              <a:ln w="50800">
                <a:solidFill>
                  <a:schemeClr val="tx1"/>
                </a:solidFill>
                <a:round/>
                <a:headEnd type="arrow" w="sm" len="sm"/>
                <a:tailEnd type="none" w="sm" len="sm"/>
              </a:ln>
            </p:spPr>
            <p:txBody>
              <a:bodyPr wrap="none" anchor="ctr"/>
              <a:lstStyle/>
              <a:p>
                <a:endParaRPr lang="en-US">
                  <a:latin typeface="+mn-lt"/>
                  <a:cs typeface="Times New Roman" pitchFamily="18" charset="0"/>
                </a:endParaRPr>
              </a:p>
            </p:txBody>
          </p:sp>
          <p:sp>
            <p:nvSpPr>
              <p:cNvPr id="41" name="Line 29"/>
              <p:cNvSpPr>
                <a:spLocks noChangeShapeType="1"/>
              </p:cNvSpPr>
              <p:nvPr/>
            </p:nvSpPr>
            <p:spPr bwMode="auto">
              <a:xfrm>
                <a:off x="1371600" y="6858000"/>
                <a:ext cx="6172200" cy="0"/>
              </a:xfrm>
              <a:prstGeom prst="line">
                <a:avLst/>
              </a:prstGeom>
              <a:noFill/>
              <a:ln w="50800">
                <a:solidFill>
                  <a:schemeClr val="tx1"/>
                </a:solidFill>
                <a:round/>
                <a:headEnd type="none" w="med" len="med"/>
                <a:tailEnd type="arrow" w="med" len="med"/>
              </a:ln>
            </p:spPr>
            <p:txBody>
              <a:bodyPr wrap="none" anchor="ctr"/>
              <a:lstStyle/>
              <a:p>
                <a:endParaRPr lang="en-US">
                  <a:latin typeface="+mn-lt"/>
                  <a:cs typeface="Times New Roman" pitchFamily="18" charset="0"/>
                </a:endParaRPr>
              </a:p>
            </p:txBody>
          </p:sp>
        </p:grpSp>
        <p:sp>
          <p:nvSpPr>
            <p:cNvPr id="39" name="Rectangle 8"/>
            <p:cNvSpPr>
              <a:spLocks noChangeArrowheads="1"/>
            </p:cNvSpPr>
            <p:nvPr/>
          </p:nvSpPr>
          <p:spPr bwMode="auto">
            <a:xfrm>
              <a:off x="7467600" y="6858000"/>
              <a:ext cx="622300" cy="596900"/>
            </a:xfrm>
            <a:prstGeom prst="rect">
              <a:avLst/>
            </a:prstGeom>
            <a:noFill/>
            <a:ln w="9525">
              <a:noFill/>
              <a:miter lim="800000"/>
              <a:headEnd/>
              <a:tailEnd/>
            </a:ln>
            <a:effectLst/>
          </p:spPr>
          <p:txBody>
            <a:bodyPr wrap="none" lIns="19050" tIns="26988" rIns="19050" bIns="26988"/>
            <a:lstStyle/>
            <a:p>
              <a:pPr>
                <a:lnSpc>
                  <a:spcPts val="2800"/>
                </a:lnSpc>
                <a:spcAft>
                  <a:spcPts val="900"/>
                </a:spcAft>
                <a:tabLst>
                  <a:tab pos="457200" algn="l"/>
                  <a:tab pos="914400" algn="l"/>
                  <a:tab pos="1371600" algn="l"/>
                </a:tabLst>
                <a:defRPr/>
              </a:pPr>
              <a:r>
                <a:rPr lang="en-US" b="0" i="1" dirty="0">
                  <a:latin typeface="+mn-lt"/>
                  <a:cs typeface="Times New Roman" pitchFamily="18" charset="0"/>
                </a:rPr>
                <a:t>Q</a:t>
              </a:r>
            </a:p>
          </p:txBody>
        </p:sp>
      </p:grpSp>
      <p:sp>
        <p:nvSpPr>
          <p:cNvPr id="3" name="Slide Number Placeholder 2">
            <a:extLst>
              <a:ext uri="{FF2B5EF4-FFF2-40B4-BE49-F238E27FC236}">
                <a16:creationId xmlns:a16="http://schemas.microsoft.com/office/drawing/2014/main" id="{4F768E0B-3C2A-0249-9281-E792B504EB1D}"/>
              </a:ext>
            </a:extLst>
          </p:cNvPr>
          <p:cNvSpPr>
            <a:spLocks noGrp="1"/>
          </p:cNvSpPr>
          <p:nvPr>
            <p:ph type="sldNum" sz="quarter" idx="12"/>
          </p:nvPr>
        </p:nvSpPr>
        <p:spPr/>
        <p:txBody>
          <a:bodyPr/>
          <a:lstStyle/>
          <a:p>
            <a:fld id="{0F3206DB-9488-D04D-BDD1-A7C9D84C4579}" type="slidenum">
              <a:rPr lang="en-US" smtClean="0"/>
              <a:t>6</a:t>
            </a:fld>
            <a:endParaRPr lang="en-US" dirty="0"/>
          </a:p>
        </p:txBody>
      </p:sp>
      <p:sp>
        <p:nvSpPr>
          <p:cNvPr id="57" name="Rectangle 41">
            <a:extLst>
              <a:ext uri="{FF2B5EF4-FFF2-40B4-BE49-F238E27FC236}">
                <a16:creationId xmlns:a16="http://schemas.microsoft.com/office/drawing/2014/main" id="{BF92CAD6-9723-154A-B59C-804306149DD7}"/>
              </a:ext>
            </a:extLst>
          </p:cNvPr>
          <p:cNvSpPr>
            <a:spLocks noChangeArrowheads="1"/>
          </p:cNvSpPr>
          <p:nvPr/>
        </p:nvSpPr>
        <p:spPr bwMode="auto">
          <a:xfrm>
            <a:off x="5504095" y="1264462"/>
            <a:ext cx="2438400" cy="673100"/>
          </a:xfrm>
          <a:prstGeom prst="rect">
            <a:avLst/>
          </a:prstGeom>
          <a:noFill/>
          <a:ln w="9525">
            <a:noFill/>
            <a:miter lim="800000"/>
            <a:headEnd/>
            <a:tailEnd/>
          </a:ln>
          <a:effectLst/>
        </p:spPr>
        <p:txBody>
          <a:bodyPr wrap="none" lIns="19050" tIns="26988" rIns="19050" bIns="26988"/>
          <a:lstStyle/>
          <a:p>
            <a:pPr>
              <a:lnSpc>
                <a:spcPts val="2800"/>
              </a:lnSpc>
              <a:spcAft>
                <a:spcPts val="900"/>
              </a:spcAft>
              <a:tabLst>
                <a:tab pos="457200" algn="l"/>
                <a:tab pos="914400" algn="l"/>
                <a:tab pos="1371600" algn="l"/>
              </a:tabLst>
              <a:defRPr/>
            </a:pPr>
            <a:r>
              <a:rPr lang="en-US" u="sng" dirty="0">
                <a:solidFill>
                  <a:prstClr val="black"/>
                </a:solidFill>
                <a:cs typeface="Times New Roman" pitchFamily="18" charset="0"/>
              </a:rPr>
              <a:t>Inverse demand function:</a:t>
            </a:r>
          </a:p>
          <a:p>
            <a:pPr lvl="0">
              <a:spcAft>
                <a:spcPts val="900"/>
              </a:spcAft>
              <a:tabLst>
                <a:tab pos="457200" algn="l"/>
                <a:tab pos="914400" algn="l"/>
                <a:tab pos="1371600" algn="l"/>
              </a:tabLst>
              <a:defRPr/>
            </a:pPr>
            <a:r>
              <a:rPr lang="en-US" i="1" dirty="0">
                <a:solidFill>
                  <a:srgbClr val="C00000"/>
                </a:solidFill>
                <a:cs typeface="Times New Roman" pitchFamily="18" charset="0"/>
              </a:rPr>
              <a:t>P </a:t>
            </a:r>
            <a:r>
              <a:rPr lang="en-US" dirty="0">
                <a:solidFill>
                  <a:srgbClr val="C00000"/>
                </a:solidFill>
                <a:cs typeface="Times New Roman" pitchFamily="18" charset="0"/>
              </a:rPr>
              <a:t>= 400 - </a:t>
            </a:r>
            <a:r>
              <a:rPr lang="en-US" i="1" dirty="0">
                <a:solidFill>
                  <a:srgbClr val="C00000"/>
                </a:solidFill>
                <a:cs typeface="Times New Roman" pitchFamily="18" charset="0"/>
              </a:rPr>
              <a:t>Q</a:t>
            </a:r>
            <a:r>
              <a:rPr lang="en-US" dirty="0">
                <a:solidFill>
                  <a:srgbClr val="C00000"/>
                </a:solidFill>
                <a:cs typeface="Times New Roman" pitchFamily="18" charset="0"/>
              </a:rPr>
              <a:t>/4</a:t>
            </a:r>
            <a:endParaRPr lang="en-US" u="sng" dirty="0">
              <a:solidFill>
                <a:srgbClr val="C00000"/>
              </a:solidFill>
              <a:cs typeface="Times New Roman" pitchFamily="18" charset="0"/>
            </a:endParaRPr>
          </a:p>
          <a:p>
            <a:pPr marL="0" marR="0" lvl="0" indent="0" algn="l" defTabSz="457200" rtl="0" eaLnBrk="1" fontAlgn="auto" latinLnBrk="0" hangingPunct="1">
              <a:lnSpc>
                <a:spcPts val="2800"/>
              </a:lnSpc>
              <a:spcBef>
                <a:spcPts val="0"/>
              </a:spcBef>
              <a:spcAft>
                <a:spcPts val="900"/>
              </a:spcAft>
              <a:buClrTx/>
              <a:buSzTx/>
              <a:buFontTx/>
              <a:buNone/>
              <a:tabLst>
                <a:tab pos="457200" algn="l"/>
                <a:tab pos="914400" algn="l"/>
                <a:tab pos="1371600" algn="l"/>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Times New Roman" pitchFamily="18" charset="0"/>
            </a:endParaRPr>
          </a:p>
        </p:txBody>
      </p:sp>
      <p:grpSp>
        <p:nvGrpSpPr>
          <p:cNvPr id="35" name="Group 45">
            <a:extLst>
              <a:ext uri="{FF2B5EF4-FFF2-40B4-BE49-F238E27FC236}">
                <a16:creationId xmlns:a16="http://schemas.microsoft.com/office/drawing/2014/main" id="{EFF01974-B93B-3949-9F89-85BDE5DBAFE5}"/>
              </a:ext>
            </a:extLst>
          </p:cNvPr>
          <p:cNvGrpSpPr/>
          <p:nvPr/>
        </p:nvGrpSpPr>
        <p:grpSpPr>
          <a:xfrm>
            <a:off x="3335946" y="1900379"/>
            <a:ext cx="1607575" cy="707979"/>
            <a:chOff x="4209567" y="2054271"/>
            <a:chExt cx="1607575" cy="707979"/>
          </a:xfrm>
        </p:grpSpPr>
        <p:sp>
          <p:nvSpPr>
            <p:cNvPr id="36" name="Rectangle 21">
              <a:extLst>
                <a:ext uri="{FF2B5EF4-FFF2-40B4-BE49-F238E27FC236}">
                  <a16:creationId xmlns:a16="http://schemas.microsoft.com/office/drawing/2014/main" id="{A3C73A7A-3E7E-3249-A6B2-59C11A758596}"/>
                </a:ext>
              </a:extLst>
            </p:cNvPr>
            <p:cNvSpPr>
              <a:spLocks noChangeArrowheads="1"/>
            </p:cNvSpPr>
            <p:nvPr/>
          </p:nvSpPr>
          <p:spPr bwMode="auto">
            <a:xfrm>
              <a:off x="4509042" y="2054271"/>
              <a:ext cx="1308100" cy="596900"/>
            </a:xfrm>
            <a:prstGeom prst="rect">
              <a:avLst/>
            </a:prstGeom>
            <a:noFill/>
            <a:ln w="9525">
              <a:noFill/>
              <a:miter lim="800000"/>
              <a:headEnd/>
              <a:tailEnd/>
            </a:ln>
            <a:effectLst/>
          </p:spPr>
          <p:txBody>
            <a:bodyPr wrap="none" lIns="19050" tIns="26988" rIns="19050" bIns="26988"/>
            <a:lstStyle/>
            <a:p>
              <a:pPr>
                <a:spcAft>
                  <a:spcPts val="900"/>
                </a:spcAft>
                <a:tabLst>
                  <a:tab pos="457200" algn="l"/>
                  <a:tab pos="914400" algn="l"/>
                  <a:tab pos="1371600" algn="l"/>
                </a:tabLst>
                <a:defRPr/>
              </a:pPr>
              <a:r>
                <a:rPr lang="en-US" b="0" i="1" dirty="0">
                  <a:solidFill>
                    <a:srgbClr val="C00000"/>
                  </a:solidFill>
                  <a:latin typeface="+mn-lt"/>
                  <a:cs typeface="Times New Roman" pitchFamily="18" charset="0"/>
                </a:rPr>
                <a:t>E</a:t>
              </a:r>
              <a:r>
                <a:rPr lang="en-US" sz="2000" i="1" baseline="-25000" dirty="0">
                  <a:solidFill>
                    <a:srgbClr val="C00000"/>
                  </a:solidFill>
                  <a:cs typeface="Times New Roman" pitchFamily="18" charset="0"/>
                </a:rPr>
                <a:t>D</a:t>
              </a:r>
              <a:r>
                <a:rPr lang="en-US" b="0" dirty="0">
                  <a:solidFill>
                    <a:srgbClr val="C00000"/>
                  </a:solidFill>
                  <a:latin typeface="+mn-lt"/>
                  <a:cs typeface="Times New Roman" pitchFamily="18" charset="0"/>
                </a:rPr>
                <a:t> = -1 </a:t>
              </a:r>
            </a:p>
          </p:txBody>
        </p:sp>
        <p:sp>
          <p:nvSpPr>
            <p:cNvPr id="48" name="Line 24">
              <a:extLst>
                <a:ext uri="{FF2B5EF4-FFF2-40B4-BE49-F238E27FC236}">
                  <a16:creationId xmlns:a16="http://schemas.microsoft.com/office/drawing/2014/main" id="{EC1F9A75-6E2A-2341-9A55-1AB122914FB5}"/>
                </a:ext>
              </a:extLst>
            </p:cNvPr>
            <p:cNvSpPr>
              <a:spLocks noChangeShapeType="1"/>
            </p:cNvSpPr>
            <p:nvPr/>
          </p:nvSpPr>
          <p:spPr bwMode="auto">
            <a:xfrm flipH="1">
              <a:off x="4209567" y="2419350"/>
              <a:ext cx="292100" cy="342900"/>
            </a:xfrm>
            <a:prstGeom prst="line">
              <a:avLst/>
            </a:prstGeom>
            <a:noFill/>
            <a:ln w="25400">
              <a:solidFill>
                <a:srgbClr val="C00000"/>
              </a:solidFill>
              <a:round/>
              <a:headEnd type="none" w="sm" len="sm"/>
              <a:tailEnd type="stealth" w="med" len="lg"/>
            </a:ln>
          </p:spPr>
          <p:txBody>
            <a:bodyPr wrap="none" anchor="ctr"/>
            <a:lstStyle/>
            <a:p>
              <a:endParaRPr lang="en-US">
                <a:latin typeface="+mn-lt"/>
                <a:cs typeface="Times New Roman" pitchFamily="18" charset="0"/>
              </a:endParaRPr>
            </a:p>
          </p:txBody>
        </p:sp>
      </p:grpSp>
      <p:grpSp>
        <p:nvGrpSpPr>
          <p:cNvPr id="49" name="Group 55">
            <a:extLst>
              <a:ext uri="{FF2B5EF4-FFF2-40B4-BE49-F238E27FC236}">
                <a16:creationId xmlns:a16="http://schemas.microsoft.com/office/drawing/2014/main" id="{D4E432CE-C564-4146-9020-AC65B777C59B}"/>
              </a:ext>
            </a:extLst>
          </p:cNvPr>
          <p:cNvGrpSpPr/>
          <p:nvPr/>
        </p:nvGrpSpPr>
        <p:grpSpPr>
          <a:xfrm>
            <a:off x="483372" y="1293908"/>
            <a:ext cx="3596007" cy="679801"/>
            <a:chOff x="1356993" y="1447800"/>
            <a:chExt cx="3596007" cy="679801"/>
          </a:xfrm>
        </p:grpSpPr>
        <p:sp>
          <p:nvSpPr>
            <p:cNvPr id="50" name="Right Brace 49">
              <a:extLst>
                <a:ext uri="{FF2B5EF4-FFF2-40B4-BE49-F238E27FC236}">
                  <a16:creationId xmlns:a16="http://schemas.microsoft.com/office/drawing/2014/main" id="{83B54C0A-CF7F-7E4A-9679-8B05A712F043}"/>
                </a:ext>
              </a:extLst>
            </p:cNvPr>
            <p:cNvSpPr/>
            <p:nvPr/>
          </p:nvSpPr>
          <p:spPr bwMode="auto">
            <a:xfrm rot="17817940">
              <a:off x="2700096" y="464151"/>
              <a:ext cx="320347" cy="3006553"/>
            </a:xfrm>
            <a:prstGeom prst="rightBrace">
              <a:avLst>
                <a:gd name="adj1" fmla="val 92122"/>
                <a:gd name="adj2" fmla="val 51208"/>
              </a:avLst>
            </a:prstGeom>
            <a:noFill/>
            <a:ln w="31750" cap="flat" cmpd="sng" algn="ctr">
              <a:solidFill>
                <a:srgbClr val="FF8455"/>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effectLst/>
                <a:latin typeface="+mn-lt"/>
              </a:endParaRPr>
            </a:p>
          </p:txBody>
        </p:sp>
        <p:sp>
          <p:nvSpPr>
            <p:cNvPr id="51" name="TextBox 50">
              <a:extLst>
                <a:ext uri="{FF2B5EF4-FFF2-40B4-BE49-F238E27FC236}">
                  <a16:creationId xmlns:a16="http://schemas.microsoft.com/office/drawing/2014/main" id="{73344F5F-6CB4-DD49-82AF-FAD69992F2D7}"/>
                </a:ext>
              </a:extLst>
            </p:cNvPr>
            <p:cNvSpPr txBox="1"/>
            <p:nvPr/>
          </p:nvSpPr>
          <p:spPr>
            <a:xfrm>
              <a:off x="2971800" y="1447800"/>
              <a:ext cx="1981200" cy="369332"/>
            </a:xfrm>
            <a:prstGeom prst="rect">
              <a:avLst/>
            </a:prstGeom>
            <a:noFill/>
          </p:spPr>
          <p:txBody>
            <a:bodyPr wrap="square" rtlCol="0">
              <a:spAutoFit/>
            </a:bodyPr>
            <a:lstStyle/>
            <a:p>
              <a:r>
                <a:rPr lang="en-US" i="1" dirty="0">
                  <a:solidFill>
                    <a:schemeClr val="accent6"/>
                  </a:solidFill>
                  <a:cs typeface="Times New Roman" pitchFamily="18" charset="0"/>
                </a:rPr>
                <a:t>E</a:t>
              </a:r>
              <a:r>
                <a:rPr lang="en-US" i="1" baseline="-25000" dirty="0">
                  <a:solidFill>
                    <a:schemeClr val="accent6"/>
                  </a:solidFill>
                  <a:cs typeface="Times New Roman" pitchFamily="18" charset="0"/>
                </a:rPr>
                <a:t>D</a:t>
              </a:r>
              <a:r>
                <a:rPr lang="en-US" dirty="0">
                  <a:solidFill>
                    <a:schemeClr val="accent6"/>
                  </a:solidFill>
                  <a:cs typeface="Times New Roman" pitchFamily="18" charset="0"/>
                </a:rPr>
                <a:t>&lt;-1</a:t>
              </a:r>
              <a:r>
                <a:rPr lang="en-US" baseline="-25000" dirty="0">
                  <a:solidFill>
                    <a:schemeClr val="accent6"/>
                  </a:solidFill>
                  <a:cs typeface="Times New Roman" pitchFamily="18" charset="0"/>
                </a:rPr>
                <a:t>  </a:t>
              </a:r>
              <a:r>
                <a:rPr lang="en-US" dirty="0">
                  <a:solidFill>
                    <a:schemeClr val="accent6"/>
                  </a:solidFill>
                  <a:cs typeface="Times New Roman" pitchFamily="18" charset="0"/>
                </a:rPr>
                <a:t>“e</a:t>
              </a:r>
              <a:r>
                <a:rPr lang="en-US" b="0" dirty="0">
                  <a:solidFill>
                    <a:schemeClr val="accent6"/>
                  </a:solidFill>
                  <a:latin typeface="+mn-lt"/>
                  <a:cs typeface="Times New Roman" pitchFamily="18" charset="0"/>
                </a:rPr>
                <a:t>lastic”</a:t>
              </a:r>
            </a:p>
          </p:txBody>
        </p:sp>
      </p:grpSp>
      <p:grpSp>
        <p:nvGrpSpPr>
          <p:cNvPr id="52" name="Group 57">
            <a:extLst>
              <a:ext uri="{FF2B5EF4-FFF2-40B4-BE49-F238E27FC236}">
                <a16:creationId xmlns:a16="http://schemas.microsoft.com/office/drawing/2014/main" id="{A6E16991-2680-1C4D-A903-1005066169C1}"/>
              </a:ext>
            </a:extLst>
          </p:cNvPr>
          <p:cNvGrpSpPr/>
          <p:nvPr/>
        </p:nvGrpSpPr>
        <p:grpSpPr>
          <a:xfrm>
            <a:off x="3311610" y="2589308"/>
            <a:ext cx="3815769" cy="682427"/>
            <a:chOff x="4185231" y="2743200"/>
            <a:chExt cx="3815769" cy="682427"/>
          </a:xfrm>
        </p:grpSpPr>
        <p:sp>
          <p:nvSpPr>
            <p:cNvPr id="53" name="Right Brace 52">
              <a:extLst>
                <a:ext uri="{FF2B5EF4-FFF2-40B4-BE49-F238E27FC236}">
                  <a16:creationId xmlns:a16="http://schemas.microsoft.com/office/drawing/2014/main" id="{6859121D-8067-9F44-986E-EDFC3DFE144B}"/>
                </a:ext>
              </a:extLst>
            </p:cNvPr>
            <p:cNvSpPr/>
            <p:nvPr/>
          </p:nvSpPr>
          <p:spPr bwMode="auto">
            <a:xfrm rot="17823204">
              <a:off x="5279345" y="2032131"/>
              <a:ext cx="299382" cy="2487609"/>
            </a:xfrm>
            <a:prstGeom prst="rightBrace">
              <a:avLst>
                <a:gd name="adj1" fmla="val 92122"/>
                <a:gd name="adj2" fmla="val 51208"/>
              </a:avLst>
            </a:prstGeom>
            <a:noFill/>
            <a:ln w="31750" cap="flat" cmpd="sng" algn="ctr">
              <a:solidFill>
                <a:srgbClr val="FF8455"/>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effectLst/>
                <a:latin typeface="+mn-lt"/>
              </a:endParaRPr>
            </a:p>
          </p:txBody>
        </p:sp>
        <p:sp>
          <p:nvSpPr>
            <p:cNvPr id="54" name="TextBox 53">
              <a:extLst>
                <a:ext uri="{FF2B5EF4-FFF2-40B4-BE49-F238E27FC236}">
                  <a16:creationId xmlns:a16="http://schemas.microsoft.com/office/drawing/2014/main" id="{87037842-48C3-5E41-9AE8-86695E02CAF6}"/>
                </a:ext>
              </a:extLst>
            </p:cNvPr>
            <p:cNvSpPr txBox="1"/>
            <p:nvPr/>
          </p:nvSpPr>
          <p:spPr>
            <a:xfrm>
              <a:off x="5562600" y="2743200"/>
              <a:ext cx="2438400" cy="369332"/>
            </a:xfrm>
            <a:prstGeom prst="rect">
              <a:avLst/>
            </a:prstGeom>
            <a:noFill/>
          </p:spPr>
          <p:txBody>
            <a:bodyPr wrap="square" rtlCol="0">
              <a:spAutoFit/>
            </a:bodyPr>
            <a:lstStyle/>
            <a:p>
              <a:r>
                <a:rPr lang="en-US" dirty="0">
                  <a:solidFill>
                    <a:schemeClr val="accent6"/>
                  </a:solidFill>
                  <a:cs typeface="Times New Roman" pitchFamily="18" charset="0"/>
                </a:rPr>
                <a:t>-1&lt;</a:t>
              </a:r>
              <a:r>
                <a:rPr lang="en-US" i="1" dirty="0">
                  <a:solidFill>
                    <a:schemeClr val="accent6"/>
                  </a:solidFill>
                  <a:cs typeface="Times New Roman" pitchFamily="18" charset="0"/>
                </a:rPr>
                <a:t>E</a:t>
              </a:r>
              <a:r>
                <a:rPr lang="en-US" i="1" baseline="-25000" dirty="0">
                  <a:solidFill>
                    <a:schemeClr val="accent6"/>
                  </a:solidFill>
                  <a:cs typeface="Times New Roman" pitchFamily="18" charset="0"/>
                </a:rPr>
                <a:t>D</a:t>
              </a:r>
              <a:r>
                <a:rPr lang="en-US" dirty="0">
                  <a:solidFill>
                    <a:schemeClr val="accent6"/>
                  </a:solidFill>
                  <a:cs typeface="Times New Roman" pitchFamily="18" charset="0"/>
                </a:rPr>
                <a:t>&lt;0</a:t>
              </a:r>
              <a:r>
                <a:rPr lang="en-US" baseline="-25000" dirty="0">
                  <a:solidFill>
                    <a:schemeClr val="accent6"/>
                  </a:solidFill>
                  <a:cs typeface="Times New Roman" pitchFamily="18" charset="0"/>
                </a:rPr>
                <a:t>  </a:t>
              </a:r>
              <a:r>
                <a:rPr lang="en-US" dirty="0">
                  <a:solidFill>
                    <a:schemeClr val="accent6"/>
                  </a:solidFill>
                  <a:cs typeface="Times New Roman" pitchFamily="18" charset="0"/>
                </a:rPr>
                <a:t>“inelastic”</a:t>
              </a:r>
            </a:p>
          </p:txBody>
        </p:sp>
      </p:grpSp>
      <p:grpSp>
        <p:nvGrpSpPr>
          <p:cNvPr id="17" name="Group 16">
            <a:extLst>
              <a:ext uri="{FF2B5EF4-FFF2-40B4-BE49-F238E27FC236}">
                <a16:creationId xmlns:a16="http://schemas.microsoft.com/office/drawing/2014/main" id="{58F2CCB2-F7FA-4506-A529-4F5490D867D5}"/>
              </a:ext>
            </a:extLst>
          </p:cNvPr>
          <p:cNvGrpSpPr/>
          <p:nvPr/>
        </p:nvGrpSpPr>
        <p:grpSpPr>
          <a:xfrm>
            <a:off x="834660" y="4923094"/>
            <a:ext cx="2303976" cy="1368427"/>
            <a:chOff x="834660" y="4923094"/>
            <a:chExt cx="2303976" cy="1368427"/>
          </a:xfrm>
        </p:grpSpPr>
        <p:sp>
          <p:nvSpPr>
            <p:cNvPr id="34" name="TextBox 33">
              <a:extLst>
                <a:ext uri="{FF2B5EF4-FFF2-40B4-BE49-F238E27FC236}">
                  <a16:creationId xmlns:a16="http://schemas.microsoft.com/office/drawing/2014/main" id="{B33E1C9F-C4F3-B644-B5CF-46715AF7FEE3}"/>
                </a:ext>
              </a:extLst>
            </p:cNvPr>
            <p:cNvSpPr txBox="1"/>
            <p:nvPr/>
          </p:nvSpPr>
          <p:spPr>
            <a:xfrm>
              <a:off x="834660" y="5645190"/>
              <a:ext cx="2303976" cy="646331"/>
            </a:xfrm>
            <a:prstGeom prst="rect">
              <a:avLst/>
            </a:prstGeom>
            <a:noFill/>
          </p:spPr>
          <p:txBody>
            <a:bodyPr wrap="square" rtlCol="0">
              <a:spAutoFit/>
            </a:bodyPr>
            <a:lstStyle/>
            <a:p>
              <a:r>
                <a:rPr lang="en-US" dirty="0">
                  <a:solidFill>
                    <a:schemeClr val="accent6">
                      <a:lumMod val="75000"/>
                    </a:schemeClr>
                  </a:solidFill>
                  <a:latin typeface="Whitney Book" pitchFamily="50" charset="0"/>
                  <a:cs typeface="Whitney Book" pitchFamily="50" charset="0"/>
                </a:rPr>
                <a:t>Elastic region</a:t>
              </a:r>
              <a:r>
                <a:rPr lang="en-US" dirty="0">
                  <a:latin typeface="Whitney Book" pitchFamily="50" charset="0"/>
                  <a:cs typeface="Whitney Book" pitchFamily="50" charset="0"/>
                </a:rPr>
                <a:t>: </a:t>
              </a:r>
              <a:r>
                <a:rPr lang="en-US" i="1" dirty="0">
                  <a:latin typeface="Whitney Book" pitchFamily="50" charset="0"/>
                  <a:cs typeface="Whitney Book" pitchFamily="50" charset="0"/>
                </a:rPr>
                <a:t>P</a:t>
              </a:r>
              <a:r>
                <a:rPr lang="en-US" dirty="0">
                  <a:latin typeface="Whitney Book" pitchFamily="50" charset="0"/>
                  <a:cs typeface="Whitney Book" pitchFamily="50" charset="0"/>
                </a:rPr>
                <a:t> falls </a:t>
              </a:r>
              <a:r>
                <a:rPr lang="en-US" dirty="0">
                  <a:latin typeface="Whitney Book" pitchFamily="50" charset="0"/>
                  <a:cs typeface="Whitney Book" pitchFamily="50" charset="0"/>
                  <a:sym typeface="Wingdings" panose="05000000000000000000" pitchFamily="2" charset="2"/>
                </a:rPr>
                <a:t> </a:t>
              </a:r>
              <a:r>
                <a:rPr lang="en-US" i="1" dirty="0">
                  <a:latin typeface="Whitney Book" pitchFamily="50" charset="0"/>
                  <a:cs typeface="Whitney Book" pitchFamily="50" charset="0"/>
                  <a:sym typeface="Wingdings" panose="05000000000000000000" pitchFamily="2" charset="2"/>
                </a:rPr>
                <a:t>Q</a:t>
              </a:r>
              <a:r>
                <a:rPr lang="en-US" dirty="0">
                  <a:latin typeface="Whitney Book" pitchFamily="50" charset="0"/>
                  <a:cs typeface="Whitney Book" pitchFamily="50" charset="0"/>
                  <a:sym typeface="Wingdings" panose="05000000000000000000" pitchFamily="2" charset="2"/>
                </a:rPr>
                <a:t> rises  </a:t>
              </a:r>
              <a:r>
                <a:rPr lang="en-US" i="1" dirty="0">
                  <a:solidFill>
                    <a:schemeClr val="accent6">
                      <a:lumMod val="75000"/>
                    </a:schemeClr>
                  </a:solidFill>
                  <a:latin typeface="Whitney Book" pitchFamily="50" charset="0"/>
                  <a:cs typeface="Whitney Book" pitchFamily="50" charset="0"/>
                  <a:sym typeface="Wingdings" panose="05000000000000000000" pitchFamily="2" charset="2"/>
                </a:rPr>
                <a:t>TR</a:t>
              </a:r>
              <a:r>
                <a:rPr lang="en-US" dirty="0">
                  <a:solidFill>
                    <a:schemeClr val="accent6">
                      <a:lumMod val="75000"/>
                    </a:schemeClr>
                  </a:solidFill>
                  <a:latin typeface="Whitney Book" pitchFamily="50" charset="0"/>
                  <a:cs typeface="Whitney Book" pitchFamily="50" charset="0"/>
                  <a:sym typeface="Wingdings" panose="05000000000000000000" pitchFamily="2" charset="2"/>
                </a:rPr>
                <a:t> rises</a:t>
              </a:r>
              <a:r>
                <a:rPr lang="en-US" dirty="0">
                  <a:latin typeface="Cambria" panose="02040503050406030204" pitchFamily="18" charset="0"/>
                </a:rPr>
                <a:t> </a:t>
              </a:r>
              <a:endParaRPr lang="en-US" dirty="0"/>
            </a:p>
          </p:txBody>
        </p:sp>
        <p:cxnSp>
          <p:nvCxnSpPr>
            <p:cNvPr id="14" name="Straight Arrow Connector 13">
              <a:extLst>
                <a:ext uri="{FF2B5EF4-FFF2-40B4-BE49-F238E27FC236}">
                  <a16:creationId xmlns:a16="http://schemas.microsoft.com/office/drawing/2014/main" id="{83A61D12-C218-460F-8D00-DB7CEAF13AE6}"/>
                </a:ext>
              </a:extLst>
            </p:cNvPr>
            <p:cNvCxnSpPr/>
            <p:nvPr/>
          </p:nvCxnSpPr>
          <p:spPr>
            <a:xfrm flipV="1">
              <a:off x="1315862" y="4923094"/>
              <a:ext cx="1199813" cy="639969"/>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8" name="Group 17">
            <a:extLst>
              <a:ext uri="{FF2B5EF4-FFF2-40B4-BE49-F238E27FC236}">
                <a16:creationId xmlns:a16="http://schemas.microsoft.com/office/drawing/2014/main" id="{B2B89824-0B71-4841-953C-547A030C19F4}"/>
              </a:ext>
            </a:extLst>
          </p:cNvPr>
          <p:cNvGrpSpPr/>
          <p:nvPr/>
        </p:nvGrpSpPr>
        <p:grpSpPr>
          <a:xfrm>
            <a:off x="3536991" y="4912525"/>
            <a:ext cx="2303976" cy="1378996"/>
            <a:chOff x="3536991" y="4912525"/>
            <a:chExt cx="2303976" cy="1378996"/>
          </a:xfrm>
        </p:grpSpPr>
        <p:sp>
          <p:nvSpPr>
            <p:cNvPr id="42" name="TextBox 41">
              <a:extLst>
                <a:ext uri="{FF2B5EF4-FFF2-40B4-BE49-F238E27FC236}">
                  <a16:creationId xmlns:a16="http://schemas.microsoft.com/office/drawing/2014/main" id="{D94FAF66-5335-4C64-B51F-4D536EA55876}"/>
                </a:ext>
              </a:extLst>
            </p:cNvPr>
            <p:cNvSpPr txBox="1"/>
            <p:nvPr/>
          </p:nvSpPr>
          <p:spPr>
            <a:xfrm>
              <a:off x="3536991" y="5645190"/>
              <a:ext cx="2303976" cy="646331"/>
            </a:xfrm>
            <a:prstGeom prst="rect">
              <a:avLst/>
            </a:prstGeom>
            <a:noFill/>
          </p:spPr>
          <p:txBody>
            <a:bodyPr wrap="square" rtlCol="0">
              <a:spAutoFit/>
            </a:bodyPr>
            <a:lstStyle/>
            <a:p>
              <a:r>
                <a:rPr lang="en-US" dirty="0">
                  <a:solidFill>
                    <a:schemeClr val="accent6">
                      <a:lumMod val="75000"/>
                    </a:schemeClr>
                  </a:solidFill>
                  <a:latin typeface="Whitney Book" pitchFamily="50" charset="0"/>
                  <a:cs typeface="Whitney Book" pitchFamily="50" charset="0"/>
                </a:rPr>
                <a:t>Inelastic region</a:t>
              </a:r>
              <a:r>
                <a:rPr lang="en-US" dirty="0">
                  <a:latin typeface="Whitney Book" pitchFamily="50" charset="0"/>
                  <a:cs typeface="Whitney Book" pitchFamily="50" charset="0"/>
                </a:rPr>
                <a:t>: </a:t>
              </a:r>
              <a:r>
                <a:rPr lang="en-US" i="1" dirty="0">
                  <a:latin typeface="Whitney Book" pitchFamily="50" charset="0"/>
                  <a:cs typeface="Whitney Book" pitchFamily="50" charset="0"/>
                </a:rPr>
                <a:t>P</a:t>
              </a:r>
              <a:r>
                <a:rPr lang="en-US" dirty="0">
                  <a:latin typeface="Whitney Book" pitchFamily="50" charset="0"/>
                  <a:cs typeface="Whitney Book" pitchFamily="50" charset="0"/>
                </a:rPr>
                <a:t> falls </a:t>
              </a:r>
              <a:r>
                <a:rPr lang="en-US" dirty="0">
                  <a:latin typeface="Whitney Book" pitchFamily="50" charset="0"/>
                  <a:cs typeface="Whitney Book" pitchFamily="50" charset="0"/>
                  <a:sym typeface="Wingdings" panose="05000000000000000000" pitchFamily="2" charset="2"/>
                </a:rPr>
                <a:t> </a:t>
              </a:r>
              <a:r>
                <a:rPr lang="en-US" i="1" dirty="0">
                  <a:latin typeface="Whitney Book" pitchFamily="50" charset="0"/>
                  <a:cs typeface="Whitney Book" pitchFamily="50" charset="0"/>
                  <a:sym typeface="Wingdings" panose="05000000000000000000" pitchFamily="2" charset="2"/>
                </a:rPr>
                <a:t>Q</a:t>
              </a:r>
              <a:r>
                <a:rPr lang="en-US" dirty="0">
                  <a:latin typeface="Whitney Book" pitchFamily="50" charset="0"/>
                  <a:cs typeface="Whitney Book" pitchFamily="50" charset="0"/>
                  <a:sym typeface="Wingdings" panose="05000000000000000000" pitchFamily="2" charset="2"/>
                </a:rPr>
                <a:t> rises  </a:t>
              </a:r>
              <a:r>
                <a:rPr lang="en-US" i="1" dirty="0">
                  <a:solidFill>
                    <a:schemeClr val="accent6">
                      <a:lumMod val="75000"/>
                    </a:schemeClr>
                  </a:solidFill>
                  <a:latin typeface="Whitney Book" pitchFamily="50" charset="0"/>
                  <a:cs typeface="Whitney Book" pitchFamily="50" charset="0"/>
                  <a:sym typeface="Wingdings" panose="05000000000000000000" pitchFamily="2" charset="2"/>
                </a:rPr>
                <a:t>TR</a:t>
              </a:r>
              <a:r>
                <a:rPr lang="en-US" dirty="0">
                  <a:solidFill>
                    <a:schemeClr val="accent6">
                      <a:lumMod val="75000"/>
                    </a:schemeClr>
                  </a:solidFill>
                  <a:latin typeface="Whitney Book" pitchFamily="50" charset="0"/>
                  <a:cs typeface="Whitney Book" pitchFamily="50" charset="0"/>
                  <a:sym typeface="Wingdings" panose="05000000000000000000" pitchFamily="2" charset="2"/>
                </a:rPr>
                <a:t> falls</a:t>
              </a:r>
              <a:r>
                <a:rPr lang="en-US" dirty="0">
                  <a:latin typeface="Cambria" panose="02040503050406030204" pitchFamily="18" charset="0"/>
                </a:rPr>
                <a:t> </a:t>
              </a:r>
              <a:endParaRPr lang="en-US" dirty="0"/>
            </a:p>
          </p:txBody>
        </p:sp>
        <p:cxnSp>
          <p:nvCxnSpPr>
            <p:cNvPr id="43" name="Straight Arrow Connector 42">
              <a:extLst>
                <a:ext uri="{FF2B5EF4-FFF2-40B4-BE49-F238E27FC236}">
                  <a16:creationId xmlns:a16="http://schemas.microsoft.com/office/drawing/2014/main" id="{DC399084-6EC0-42AC-92F1-06A3EE4D399F}"/>
                </a:ext>
              </a:extLst>
            </p:cNvPr>
            <p:cNvCxnSpPr>
              <a:cxnSpLocks/>
            </p:cNvCxnSpPr>
            <p:nvPr/>
          </p:nvCxnSpPr>
          <p:spPr>
            <a:xfrm>
              <a:off x="4161649" y="4912525"/>
              <a:ext cx="997354" cy="676773"/>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895699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28625" y="142875"/>
            <a:ext cx="8358188" cy="1214438"/>
          </a:xfrm>
        </p:spPr>
        <p:txBody>
          <a:bodyPr/>
          <a:lstStyle/>
          <a:p>
            <a:pPr algn="ctr"/>
            <a:r>
              <a:rPr lang="en-US" noProof="0" dirty="0"/>
              <a:t>Effect of a Price Change on Total Revenue: It Depends on </a:t>
            </a:r>
            <a:r>
              <a:rPr lang="en-US" i="1" noProof="0" dirty="0"/>
              <a:t>E</a:t>
            </a:r>
            <a:r>
              <a:rPr lang="en-US" i="1" baseline="-25000" noProof="0" dirty="0"/>
              <a:t>d</a:t>
            </a:r>
            <a:endParaRPr lang="en-US" i="1" noProof="0" dirty="0"/>
          </a:p>
        </p:txBody>
      </p:sp>
      <mc:AlternateContent xmlns:mc="http://schemas.openxmlformats.org/markup-compatibility/2006" xmlns:a14="http://schemas.microsoft.com/office/drawing/2010/main">
        <mc:Choice Requires="a14">
          <p:sp>
            <p:nvSpPr>
              <p:cNvPr id="23555" name="Rectangle 3"/>
              <p:cNvSpPr>
                <a:spLocks noGrp="1" noChangeArrowheads="1"/>
              </p:cNvSpPr>
              <p:nvPr>
                <p:ph type="body" idx="1"/>
              </p:nvPr>
            </p:nvSpPr>
            <p:spPr>
              <a:xfrm>
                <a:off x="154646" y="1625713"/>
                <a:ext cx="8780348" cy="4526893"/>
              </a:xfrm>
              <a:ln>
                <a:noFill/>
              </a:ln>
            </p:spPr>
            <p:txBody>
              <a:bodyPr>
                <a:normAutofit fontScale="85000" lnSpcReduction="20000"/>
              </a:bodyPr>
              <a:lstStyle/>
              <a:p>
                <a:pPr marL="0" indent="0">
                  <a:buNone/>
                </a:pPr>
                <a:r>
                  <a:rPr lang="en-US" b="1" dirty="0"/>
                  <a:t>Total Revenues:   </a:t>
                </a:r>
                <a14:m>
                  <m:oMath xmlns:m="http://schemas.openxmlformats.org/officeDocument/2006/math">
                    <m:r>
                      <a:rPr lang="en-US" b="0" i="1" smtClean="0">
                        <a:latin typeface="Cambria Math" panose="02040503050406030204" pitchFamily="18" charset="0"/>
                      </a:rPr>
                      <m:t>𝑇𝑅</m:t>
                    </m:r>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solidFill>
                          <a:srgbClr val="C00000"/>
                        </a:solidFill>
                        <a:latin typeface="Cambria Math" panose="02040503050406030204" pitchFamily="18" charset="0"/>
                      </a:rPr>
                      <m:t>⋅</m:t>
                    </m:r>
                    <m:r>
                      <a:rPr lang="en-US" b="0" i="1" smtClean="0">
                        <a:latin typeface="Cambria Math" panose="02040503050406030204" pitchFamily="18" charset="0"/>
                      </a:rPr>
                      <m:t>𝑄</m:t>
                    </m:r>
                  </m:oMath>
                </a14:m>
                <a:endParaRPr lang="en-US" dirty="0"/>
              </a:p>
              <a:p>
                <a:pPr marL="0" indent="0">
                  <a:spcBef>
                    <a:spcPts val="1200"/>
                  </a:spcBef>
                  <a:buNone/>
                </a:pPr>
                <a:r>
                  <a:rPr lang="en-US" b="1" noProof="0" dirty="0"/>
                  <a:t>In %changes, this implies:        </a:t>
                </a:r>
                <a:r>
                  <a:rPr lang="en-US" b="1" dirty="0"/>
                  <a:t> </a:t>
                </a:r>
                <a14:m>
                  <m:oMath xmlns:m="http://schemas.openxmlformats.org/officeDocument/2006/math">
                    <m:r>
                      <a:rPr lang="en-US" b="1" dirty="0">
                        <a:latin typeface="Cambria Math" panose="02040503050406030204" pitchFamily="18" charset="0"/>
                      </a:rPr>
                      <m:t>%</m:t>
                    </m:r>
                    <m:r>
                      <a:rPr lang="en-US" b="1" i="0" dirty="0" smtClean="0">
                        <a:latin typeface="Cambria Math" panose="02040503050406030204" pitchFamily="18" charset="0"/>
                      </a:rPr>
                      <m:t>𝚫</m:t>
                    </m:r>
                    <m:r>
                      <a:rPr lang="en-US" b="1" i="1">
                        <a:latin typeface="Cambria Math" panose="02040503050406030204" pitchFamily="18" charset="0"/>
                      </a:rPr>
                      <m:t>𝑻𝑹</m:t>
                    </m:r>
                    <m:r>
                      <a:rPr lang="en-US" b="1" i="1">
                        <a:latin typeface="Cambria Math" panose="02040503050406030204" pitchFamily="18" charset="0"/>
                      </a:rPr>
                      <m:t>=%</m:t>
                    </m:r>
                    <m:r>
                      <a:rPr lang="en-US" b="1" dirty="0">
                        <a:latin typeface="Cambria Math" panose="02040503050406030204" pitchFamily="18" charset="0"/>
                      </a:rPr>
                      <m:t>𝚫</m:t>
                    </m:r>
                    <m:r>
                      <a:rPr lang="en-US" b="1" i="1">
                        <a:latin typeface="Cambria Math" panose="02040503050406030204" pitchFamily="18" charset="0"/>
                      </a:rPr>
                      <m:t>𝑷</m:t>
                    </m:r>
                    <m:r>
                      <a:rPr lang="en-US" b="1" i="1" smtClean="0">
                        <a:solidFill>
                          <a:srgbClr val="C00000"/>
                        </a:solidFill>
                        <a:latin typeface="Cambria Math" panose="02040503050406030204" pitchFamily="18" charset="0"/>
                      </a:rPr>
                      <m:t>+</m:t>
                    </m:r>
                    <m:r>
                      <a:rPr lang="en-US" b="1" dirty="0">
                        <a:latin typeface="Cambria Math" panose="02040503050406030204" pitchFamily="18" charset="0"/>
                      </a:rPr>
                      <m:t>%</m:t>
                    </m:r>
                    <m:r>
                      <a:rPr lang="en-US" b="1" dirty="0">
                        <a:latin typeface="Cambria Math" panose="02040503050406030204" pitchFamily="18" charset="0"/>
                      </a:rPr>
                      <m:t>𝚫</m:t>
                    </m:r>
                    <m:r>
                      <a:rPr lang="en-US" b="1" i="1">
                        <a:latin typeface="Cambria Math" panose="02040503050406030204" pitchFamily="18" charset="0"/>
                      </a:rPr>
                      <m:t>𝑸</m:t>
                    </m:r>
                  </m:oMath>
                </a14:m>
                <a:r>
                  <a:rPr lang="en-US" b="1" noProof="0" dirty="0"/>
                  <a:t> </a:t>
                </a:r>
              </a:p>
              <a:p>
                <a:pPr marL="0" indent="0">
                  <a:buNone/>
                </a:pPr>
                <a:endParaRPr lang="en-US" b="1" noProof="0" dirty="0"/>
              </a:p>
              <a:p>
                <a:pPr marL="0" indent="0">
                  <a:buNone/>
                </a:pPr>
                <a:r>
                  <a:rPr lang="en-US" b="1" noProof="0" dirty="0"/>
                  <a:t>To assess the effect of a </a:t>
                </a:r>
                <a:r>
                  <a:rPr lang="en-US" b="1" noProof="0" dirty="0">
                    <a:solidFill>
                      <a:schemeClr val="accent6">
                        <a:lumMod val="50000"/>
                      </a:schemeClr>
                    </a:solidFill>
                  </a:rPr>
                  <a:t>price decrease</a:t>
                </a:r>
                <a:r>
                  <a:rPr lang="en-US" b="1" noProof="0" dirty="0"/>
                  <a:t> </a:t>
                </a:r>
                <a:r>
                  <a:rPr lang="en-US" b="1" dirty="0"/>
                  <a:t>o</a:t>
                </a:r>
                <a:r>
                  <a:rPr lang="en-US" b="1" noProof="0" dirty="0"/>
                  <a:t>n revenue, ask:</a:t>
                </a:r>
              </a:p>
              <a:p>
                <a:pPr marL="0" indent="0">
                  <a:buNone/>
                </a:pPr>
                <a:r>
                  <a:rPr lang="en-US" sz="1800" noProof="0" dirty="0"/>
                  <a:t>[note: if</a:t>
                </a:r>
                <a:r>
                  <a:rPr lang="en-US" sz="1800" i="1" noProof="0" dirty="0"/>
                  <a:t> P</a:t>
                </a:r>
                <a:r>
                  <a:rPr lang="en-US" sz="1800" noProof="0" dirty="0"/>
                  <a:t>  decreases, </a:t>
                </a:r>
                <a:r>
                  <a:rPr lang="en-US" sz="1800" i="1" noProof="0" dirty="0"/>
                  <a:t>Q</a:t>
                </a:r>
                <a:r>
                  <a:rPr lang="en-US" sz="1800" noProof="0" dirty="0"/>
                  <a:t>  must increase]</a:t>
                </a:r>
              </a:p>
              <a:p>
                <a:pPr marL="0" indent="0">
                  <a:buNone/>
                </a:pPr>
                <a:endParaRPr lang="en-US" sz="1400" b="1" noProof="0" dirty="0"/>
              </a:p>
              <a:p>
                <a:r>
                  <a:rPr lang="en-US" dirty="0"/>
                  <a:t>Is the % reduction in </a:t>
                </a:r>
                <a:r>
                  <a:rPr lang="en-US" i="1" dirty="0"/>
                  <a:t>P</a:t>
                </a:r>
                <a:r>
                  <a:rPr lang="en-US" dirty="0"/>
                  <a:t>  </a:t>
                </a:r>
                <a:r>
                  <a:rPr lang="en-US" dirty="0">
                    <a:solidFill>
                      <a:schemeClr val="accent6">
                        <a:lumMod val="50000"/>
                      </a:schemeClr>
                    </a:solidFill>
                  </a:rPr>
                  <a:t>smaller</a:t>
                </a:r>
                <a:r>
                  <a:rPr lang="en-US" dirty="0"/>
                  <a:t> than the % increase </a:t>
                </a:r>
                <a:r>
                  <a:rPr lang="en-US" i="1" dirty="0"/>
                  <a:t>Q </a:t>
                </a:r>
                <a:r>
                  <a:rPr lang="en-US" dirty="0"/>
                  <a:t>? </a:t>
                </a:r>
              </a:p>
              <a:p>
                <a:pPr lvl="1"/>
                <a:r>
                  <a:rPr lang="en-US" dirty="0"/>
                  <a:t>If yes: total revenue rises</a:t>
                </a:r>
              </a:p>
              <a:p>
                <a:pPr lvl="1"/>
                <a:r>
                  <a:rPr lang="en-US" dirty="0"/>
                  <a:t>Demand is </a:t>
                </a:r>
                <a:r>
                  <a:rPr lang="en-US" dirty="0">
                    <a:solidFill>
                      <a:schemeClr val="accent6">
                        <a:lumMod val="50000"/>
                      </a:schemeClr>
                    </a:solidFill>
                  </a:rPr>
                  <a:t>elastic</a:t>
                </a:r>
              </a:p>
              <a:p>
                <a:endParaRPr lang="en-US" noProof="0" dirty="0"/>
              </a:p>
              <a:p>
                <a:r>
                  <a:rPr lang="en-US" noProof="0" dirty="0"/>
                  <a:t>Is the % reduction in </a:t>
                </a:r>
                <a:r>
                  <a:rPr lang="en-US" i="1" noProof="0" dirty="0"/>
                  <a:t>P</a:t>
                </a:r>
                <a:r>
                  <a:rPr lang="en-US" noProof="0" dirty="0"/>
                  <a:t>  </a:t>
                </a:r>
                <a:r>
                  <a:rPr lang="en-US" noProof="0" dirty="0">
                    <a:solidFill>
                      <a:schemeClr val="accent6">
                        <a:lumMod val="50000"/>
                      </a:schemeClr>
                    </a:solidFill>
                  </a:rPr>
                  <a:t>larger</a:t>
                </a:r>
                <a:r>
                  <a:rPr lang="en-US" noProof="0" dirty="0"/>
                  <a:t> than the % increase </a:t>
                </a:r>
                <a:r>
                  <a:rPr lang="en-US" i="1" noProof="0" dirty="0"/>
                  <a:t>Q </a:t>
                </a:r>
                <a:r>
                  <a:rPr lang="en-US" noProof="0" dirty="0"/>
                  <a:t>?</a:t>
                </a:r>
              </a:p>
              <a:p>
                <a:pPr lvl="1"/>
                <a:r>
                  <a:rPr lang="en-US" noProof="0" dirty="0"/>
                  <a:t>If yes: total revenue declines</a:t>
                </a:r>
              </a:p>
              <a:p>
                <a:pPr lvl="1"/>
                <a:r>
                  <a:rPr lang="en-US" noProof="0" dirty="0"/>
                  <a:t>Demand is </a:t>
                </a:r>
                <a:r>
                  <a:rPr lang="en-US" noProof="0" dirty="0">
                    <a:solidFill>
                      <a:schemeClr val="accent6">
                        <a:lumMod val="50000"/>
                      </a:schemeClr>
                    </a:solidFill>
                  </a:rPr>
                  <a:t>inelastic</a:t>
                </a:r>
                <a:endParaRPr lang="en-US" dirty="0"/>
              </a:p>
              <a:p>
                <a:pPr lvl="1"/>
                <a:endParaRPr lang="en-US" noProof="0" dirty="0"/>
              </a:p>
              <a:p>
                <a:pPr lvl="2"/>
                <a:endParaRPr lang="en-US" dirty="0"/>
              </a:p>
              <a:p>
                <a:pPr lvl="2"/>
                <a:endParaRPr lang="en-US" noProof="0" dirty="0"/>
              </a:p>
              <a:p>
                <a:pPr marL="0" indent="0">
                  <a:buNone/>
                </a:pPr>
                <a:endParaRPr lang="en-US" b="1" dirty="0"/>
              </a:p>
              <a:p>
                <a:endParaRPr lang="en-US" noProof="0" dirty="0"/>
              </a:p>
            </p:txBody>
          </p:sp>
        </mc:Choice>
        <mc:Fallback xmlns="">
          <p:sp>
            <p:nvSpPr>
              <p:cNvPr id="23555" name="Rectangle 3"/>
              <p:cNvSpPr>
                <a:spLocks noGrp="1" noRot="1" noChangeAspect="1" noMove="1" noResize="1" noEditPoints="1" noAdjustHandles="1" noChangeArrowheads="1" noChangeShapeType="1" noTextEdit="1"/>
              </p:cNvSpPr>
              <p:nvPr>
                <p:ph type="body" idx="1"/>
              </p:nvPr>
            </p:nvSpPr>
            <p:spPr>
              <a:xfrm>
                <a:off x="154646" y="1625713"/>
                <a:ext cx="8780348" cy="4526893"/>
              </a:xfrm>
              <a:blipFill>
                <a:blip r:embed="rId4"/>
                <a:stretch>
                  <a:fillRect l="-1319" t="-2695" b="-943"/>
                </a:stretch>
              </a:blipFill>
              <a:ln>
                <a:noFill/>
              </a:ln>
            </p:spPr>
            <p:txBody>
              <a:bodyPr/>
              <a:lstStyle/>
              <a:p>
                <a:r>
                  <a:rPr lang="en-US">
                    <a:noFill/>
                  </a:rPr>
                  <a:t> </a:t>
                </a:r>
              </a:p>
            </p:txBody>
          </p:sp>
        </mc:Fallback>
      </mc:AlternateContent>
      <p:sp>
        <p:nvSpPr>
          <p:cNvPr id="4" name="Slide Number Placeholder 3"/>
          <p:cNvSpPr>
            <a:spLocks noGrp="1"/>
          </p:cNvSpPr>
          <p:nvPr>
            <p:ph type="sldNum" sz="quarter" idx="10"/>
          </p:nvPr>
        </p:nvSpPr>
        <p:spPr/>
        <p:txBody>
          <a:bodyPr/>
          <a:lstStyle/>
          <a:p>
            <a:fld id="{DBC38028-5B1C-49D3-BF22-2CE9385E6DA2}" type="slidenum">
              <a:rPr lang="en-US" smtClean="0"/>
              <a:pPr/>
              <a:t>7</a:t>
            </a:fld>
            <a:endParaRPr lang="en-US" dirty="0"/>
          </a:p>
        </p:txBody>
      </p:sp>
      <p:sp>
        <p:nvSpPr>
          <p:cNvPr id="2" name="Rectangle 1">
            <a:extLst>
              <a:ext uri="{FF2B5EF4-FFF2-40B4-BE49-F238E27FC236}">
                <a16:creationId xmlns:a16="http://schemas.microsoft.com/office/drawing/2014/main" id="{DC7CCA7C-C1BE-4B82-AB16-9D7284014AA6}"/>
              </a:ext>
            </a:extLst>
          </p:cNvPr>
          <p:cNvSpPr/>
          <p:nvPr/>
        </p:nvSpPr>
        <p:spPr>
          <a:xfrm>
            <a:off x="4593981" y="1937293"/>
            <a:ext cx="3303638" cy="540774"/>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783072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55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3555">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3555">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3555">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3555">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3555">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555">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3555">
                                            <p:txEl>
                                              <p:pRg st="11" end="1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3555">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934" y="1494503"/>
            <a:ext cx="4382396" cy="4995832"/>
          </a:xfrm>
          <a:noFill/>
        </p:spPr>
        <p:txBody>
          <a:bodyPr>
            <a:normAutofit lnSpcReduction="10000"/>
          </a:bodyPr>
          <a:lstStyle/>
          <a:p>
            <a:pPr marL="266700" indent="0" defTabSz="914400">
              <a:buNone/>
            </a:pPr>
            <a:r>
              <a:rPr lang="en-US" b="1" noProof="0" dirty="0"/>
              <a:t>Information</a:t>
            </a:r>
          </a:p>
          <a:p>
            <a:pPr marL="723900" indent="-457200" defTabSz="914400"/>
            <a:r>
              <a:rPr lang="en-US" sz="2600" dirty="0"/>
              <a:t>Retail prices of Wrigley’s chewing gum increased (slightly)</a:t>
            </a:r>
          </a:p>
          <a:p>
            <a:pPr marL="723900" indent="-457200" defTabSz="914400"/>
            <a:r>
              <a:rPr lang="en-US" sz="2600" dirty="0"/>
              <a:t>As a result, the company's </a:t>
            </a:r>
            <a:r>
              <a:rPr lang="en-US" sz="2600" u="sng" dirty="0"/>
              <a:t>sales revenues</a:t>
            </a:r>
            <a:r>
              <a:rPr lang="en-US" sz="2600" dirty="0"/>
              <a:t> increased (slightly)</a:t>
            </a:r>
          </a:p>
          <a:p>
            <a:pPr marL="723900" indent="-457200" defTabSz="914400"/>
            <a:endParaRPr lang="en-US" sz="1600" noProof="0" dirty="0"/>
          </a:p>
          <a:p>
            <a:pPr marL="266700" indent="0" defTabSz="914400">
              <a:buNone/>
            </a:pPr>
            <a:r>
              <a:rPr lang="en-US" b="1" noProof="0" dirty="0"/>
              <a:t>What can we say about the elasticity of demand?</a:t>
            </a:r>
            <a:endParaRPr lang="en-US" noProof="0" dirty="0"/>
          </a:p>
          <a:p>
            <a:pPr marL="266700" indent="0" defTabSz="914400">
              <a:buNone/>
            </a:pPr>
            <a:endParaRPr lang="en-US" noProof="0" dirty="0"/>
          </a:p>
          <a:p>
            <a:pPr marL="817563" indent="-550863" defTabSz="914400"/>
            <a:endParaRPr lang="en-US" sz="2000" noProof="0" dirty="0"/>
          </a:p>
        </p:txBody>
      </p:sp>
      <p:sp>
        <p:nvSpPr>
          <p:cNvPr id="4" name="Slide Number Placeholder 3">
            <a:extLst>
              <a:ext uri="{FF2B5EF4-FFF2-40B4-BE49-F238E27FC236}">
                <a16:creationId xmlns:a16="http://schemas.microsoft.com/office/drawing/2014/main" id="{B475FF99-79AF-A44B-ADB7-2150F4003DE7}"/>
              </a:ext>
            </a:extLst>
          </p:cNvPr>
          <p:cNvSpPr>
            <a:spLocks noGrp="1"/>
          </p:cNvSpPr>
          <p:nvPr>
            <p:ph type="sldNum" sz="quarter" idx="12"/>
          </p:nvPr>
        </p:nvSpPr>
        <p:spPr/>
        <p:txBody>
          <a:bodyPr/>
          <a:lstStyle/>
          <a:p>
            <a:fld id="{0F3206DB-9488-D04D-BDD1-A7C9D84C4579}" type="slidenum">
              <a:rPr lang="en-US" smtClean="0"/>
              <a:t>8</a:t>
            </a:fld>
            <a:endParaRPr lang="en-US"/>
          </a:p>
        </p:txBody>
      </p:sp>
      <p:sp>
        <p:nvSpPr>
          <p:cNvPr id="7" name="Parallelogram 6">
            <a:extLst>
              <a:ext uri="{FF2B5EF4-FFF2-40B4-BE49-F238E27FC236}">
                <a16:creationId xmlns:a16="http://schemas.microsoft.com/office/drawing/2014/main" id="{006D7E60-2310-4C83-A01B-1CBDE8117563}"/>
              </a:ext>
            </a:extLst>
          </p:cNvPr>
          <p:cNvSpPr/>
          <p:nvPr/>
        </p:nvSpPr>
        <p:spPr>
          <a:xfrm>
            <a:off x="4382396" y="5834070"/>
            <a:ext cx="5368834" cy="1159727"/>
          </a:xfrm>
          <a:prstGeom prst="parallelogram">
            <a:avLst/>
          </a:prstGeom>
          <a:gradFill>
            <a:gsLst>
              <a:gs pos="0">
                <a:schemeClr val="accent2">
                  <a:tint val="100000"/>
                  <a:shade val="100000"/>
                  <a:satMod val="130000"/>
                  <a:alpha val="34000"/>
                </a:schemeClr>
              </a:gs>
              <a:gs pos="100000">
                <a:schemeClr val="accent2">
                  <a:tint val="50000"/>
                  <a:shade val="100000"/>
                  <a:satMod val="350000"/>
                  <a:alpha val="79000"/>
                </a:schemeClr>
              </a:gs>
            </a:gsLst>
          </a:gradFill>
          <a:ln>
            <a:noFill/>
          </a:ln>
        </p:spPr>
        <p:style>
          <a:lnRef idx="1">
            <a:schemeClr val="accent2"/>
          </a:lnRef>
          <a:fillRef idx="3">
            <a:schemeClr val="accent2"/>
          </a:fillRef>
          <a:effectRef idx="2">
            <a:schemeClr val="accent2"/>
          </a:effectRef>
          <a:fontRef idx="minor">
            <a:schemeClr val="lt1"/>
          </a:fontRef>
        </p:style>
        <p:txBody>
          <a:bodyPr rtlCol="0" anchor="ctr"/>
          <a:lstStyle/>
          <a:p>
            <a:pPr>
              <a:defRPr/>
            </a:pPr>
            <a:r>
              <a:rPr lang="en-US" sz="3200" b="1" i="1" dirty="0">
                <a:solidFill>
                  <a:prstClr val="white"/>
                </a:solidFill>
              </a:rPr>
              <a:t>Poll Everywhere break</a:t>
            </a:r>
          </a:p>
        </p:txBody>
      </p:sp>
      <p:pic>
        <p:nvPicPr>
          <p:cNvPr id="5" name="Picture 4">
            <a:extLst>
              <a:ext uri="{FF2B5EF4-FFF2-40B4-BE49-F238E27FC236}">
                <a16:creationId xmlns:a16="http://schemas.microsoft.com/office/drawing/2014/main" id="{FC27943E-D1EE-4377-B630-CF891ED842F7}"/>
              </a:ext>
            </a:extLst>
          </p:cNvPr>
          <p:cNvPicPr>
            <a:picLocks noChangeAspect="1"/>
          </p:cNvPicPr>
          <p:nvPr/>
        </p:nvPicPr>
        <p:blipFill>
          <a:blip r:embed="rId3"/>
          <a:stretch>
            <a:fillRect/>
          </a:stretch>
        </p:blipFill>
        <p:spPr>
          <a:xfrm>
            <a:off x="5230468" y="1660276"/>
            <a:ext cx="2985654" cy="4173794"/>
          </a:xfrm>
          <a:prstGeom prst="rect">
            <a:avLst/>
          </a:prstGeom>
        </p:spPr>
      </p:pic>
      <p:sp>
        <p:nvSpPr>
          <p:cNvPr id="8" name="Title 1">
            <a:extLst>
              <a:ext uri="{FF2B5EF4-FFF2-40B4-BE49-F238E27FC236}">
                <a16:creationId xmlns:a16="http://schemas.microsoft.com/office/drawing/2014/main" id="{BD5B1FE9-3C82-4333-8BB9-9ACFD933BEBF}"/>
              </a:ext>
            </a:extLst>
          </p:cNvPr>
          <p:cNvSpPr>
            <a:spLocks noGrp="1"/>
          </p:cNvSpPr>
          <p:nvPr>
            <p:ph type="title"/>
          </p:nvPr>
        </p:nvSpPr>
        <p:spPr>
          <a:xfrm>
            <a:off x="81934" y="125497"/>
            <a:ext cx="9021101" cy="1143000"/>
          </a:xfrm>
        </p:spPr>
        <p:txBody>
          <a:bodyPr/>
          <a:lstStyle/>
          <a:p>
            <a:r>
              <a:rPr lang="en-US" noProof="0" dirty="0"/>
              <a:t>Example: Demand for Chewing Gum</a:t>
            </a:r>
          </a:p>
        </p:txBody>
      </p:sp>
    </p:spTree>
    <p:extLst>
      <p:ext uri="{BB962C8B-B14F-4D97-AF65-F5344CB8AC3E}">
        <p14:creationId xmlns:p14="http://schemas.microsoft.com/office/powerpoint/2010/main" val="347895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6DBF4B3-3C23-4A01-A686-B6C88976410F}"/>
              </a:ext>
            </a:extLst>
          </p:cNvPr>
          <p:cNvPicPr>
            <a:picLocks/>
          </p:cNvPicPr>
          <p:nvPr>
            <p:custDataLst>
              <p:tags r:id="rId1"/>
            </p:custDataLst>
          </p:nvPr>
        </p:nvPicPr>
        <p:blipFill>
          <a:blip r:embed="rId4"/>
          <a:stretch>
            <a:fillRect/>
          </a:stretch>
        </p:blipFill>
        <p:spPr>
          <a:xfrm>
            <a:off x="764161" y="419370"/>
            <a:ext cx="7615677" cy="5611779"/>
          </a:xfrm>
          <a:prstGeom prst="rect">
            <a:avLst/>
          </a:prstGeom>
        </p:spPr>
      </p:pic>
    </p:spTree>
    <p:extLst>
      <p:ext uri="{BB962C8B-B14F-4D97-AF65-F5344CB8AC3E}">
        <p14:creationId xmlns:p14="http://schemas.microsoft.com/office/powerpoint/2010/main" val="22059826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81934" y="125497"/>
            <a:ext cx="9021101" cy="1143000"/>
          </a:xfrm>
        </p:spPr>
        <p:txBody>
          <a:bodyPr/>
          <a:lstStyle/>
          <a:p>
            <a:r>
              <a:rPr lang="en-US" noProof="0" dirty="0"/>
              <a:t>Solution</a:t>
            </a:r>
          </a:p>
        </p:txBody>
      </p:sp>
      <p:sp>
        <p:nvSpPr>
          <p:cNvPr id="6" name="Rectangle 3"/>
          <p:cNvSpPr>
            <a:spLocks noChangeArrowheads="1"/>
          </p:cNvSpPr>
          <p:nvPr/>
        </p:nvSpPr>
        <p:spPr bwMode="auto">
          <a:xfrm>
            <a:off x="457200" y="1447800"/>
            <a:ext cx="8229600" cy="4257675"/>
          </a:xfrm>
          <a:prstGeom prst="rect">
            <a:avLst/>
          </a:prstGeom>
          <a:noFill/>
          <a:ln w="25400">
            <a:noFill/>
            <a:miter lim="800000"/>
            <a:headEnd/>
            <a:tailEnd/>
          </a:ln>
          <a:effectLst/>
        </p:spPr>
        <p:txBody>
          <a:bodyPr wrap="none" anchor="ctr"/>
          <a:lstStyle/>
          <a:p>
            <a:endParaRPr lang="en-US" sz="2800" b="0">
              <a:latin typeface="Times New Roman" pitchFamily="18" charset="0"/>
              <a:cs typeface="Times New Roman" pitchFamily="18" charset="0"/>
            </a:endParaRPr>
          </a:p>
        </p:txBody>
      </p:sp>
      <p:sp>
        <p:nvSpPr>
          <p:cNvPr id="5" name="Content Placeholder 2"/>
          <p:cNvSpPr>
            <a:spLocks noGrp="1"/>
          </p:cNvSpPr>
          <p:nvPr>
            <p:ph idx="1"/>
          </p:nvPr>
        </p:nvSpPr>
        <p:spPr>
          <a:xfrm>
            <a:off x="457200" y="1152525"/>
            <a:ext cx="8035447" cy="5579978"/>
          </a:xfrm>
        </p:spPr>
        <p:txBody>
          <a:bodyPr>
            <a:normAutofit/>
          </a:bodyPr>
          <a:lstStyle/>
          <a:p>
            <a:pPr marL="288925" indent="-288925">
              <a:lnSpc>
                <a:spcPct val="150000"/>
              </a:lnSpc>
              <a:spcBef>
                <a:spcPct val="0"/>
              </a:spcBef>
              <a:spcAft>
                <a:spcPts val="900"/>
              </a:spcAft>
            </a:pPr>
            <a:r>
              <a:rPr lang="en-US" noProof="0" dirty="0"/>
              <a:t>Demand is </a:t>
            </a:r>
            <a:r>
              <a:rPr lang="en-US" b="1" noProof="0" dirty="0"/>
              <a:t>inelastic</a:t>
            </a:r>
          </a:p>
          <a:p>
            <a:pPr marL="688975" lvl="1" indent="-288925">
              <a:lnSpc>
                <a:spcPct val="150000"/>
              </a:lnSpc>
              <a:spcBef>
                <a:spcPct val="0"/>
              </a:spcBef>
              <a:spcAft>
                <a:spcPts val="900"/>
              </a:spcAft>
            </a:pPr>
            <a:r>
              <a:rPr lang="en-US" noProof="0" dirty="0"/>
              <a:t>A price increase caused total revenue to increase</a:t>
            </a:r>
          </a:p>
          <a:p>
            <a:pPr marL="688975" lvl="1" indent="-288925">
              <a:spcBef>
                <a:spcPct val="0"/>
              </a:spcBef>
              <a:spcAft>
                <a:spcPts val="900"/>
              </a:spcAft>
            </a:pPr>
            <a:r>
              <a:rPr lang="en-US" noProof="0" dirty="0">
                <a:sym typeface="Wingdings" panose="05000000000000000000" pitchFamily="2" charset="2"/>
              </a:rPr>
              <a:t>This means that </a:t>
            </a:r>
            <a:r>
              <a:rPr lang="en-US" dirty="0">
                <a:sym typeface="Wingdings" panose="05000000000000000000" pitchFamily="2" charset="2"/>
              </a:rPr>
              <a:t>%change in price was larger than the %decline in </a:t>
            </a:r>
            <a:r>
              <a:rPr lang="en-US" noProof="0" dirty="0">
                <a:sym typeface="Wingdings" panose="05000000000000000000" pitchFamily="2" charset="2"/>
              </a:rPr>
              <a:t>quantity  inelastic response of quantity to the price change</a:t>
            </a:r>
          </a:p>
          <a:p>
            <a:pPr marL="688975" lvl="1" indent="-288925">
              <a:spcBef>
                <a:spcPct val="0"/>
              </a:spcBef>
              <a:spcAft>
                <a:spcPts val="900"/>
              </a:spcAft>
            </a:pPr>
            <a:endParaRPr lang="en-US" noProof="0" dirty="0">
              <a:sym typeface="Wingdings" panose="05000000000000000000" pitchFamily="2" charset="2"/>
            </a:endParaRPr>
          </a:p>
          <a:p>
            <a:pPr marL="688975" lvl="1" indent="-288925">
              <a:spcBef>
                <a:spcPct val="0"/>
              </a:spcBef>
              <a:spcAft>
                <a:spcPts val="900"/>
              </a:spcAft>
            </a:pPr>
            <a:endParaRPr lang="en-US" dirty="0">
              <a:sym typeface="Wingdings" panose="05000000000000000000" pitchFamily="2" charset="2"/>
            </a:endParaRPr>
          </a:p>
          <a:p>
            <a:pPr marL="400050" lvl="1" indent="0">
              <a:spcBef>
                <a:spcPct val="0"/>
              </a:spcBef>
              <a:spcAft>
                <a:spcPts val="900"/>
              </a:spcAft>
              <a:buNone/>
            </a:pPr>
            <a:endParaRPr lang="en-US" noProof="0" dirty="0">
              <a:sym typeface="Wingdings" panose="05000000000000000000" pitchFamily="2" charset="2"/>
            </a:endParaRPr>
          </a:p>
          <a:p>
            <a:pPr marL="0" indent="0">
              <a:lnSpc>
                <a:spcPts val="3600"/>
              </a:lnSpc>
              <a:spcBef>
                <a:spcPct val="0"/>
              </a:spcBef>
              <a:spcAft>
                <a:spcPts val="900"/>
              </a:spcAft>
              <a:buNone/>
            </a:pPr>
            <a:endParaRPr lang="en-US" noProof="0" dirty="0"/>
          </a:p>
        </p:txBody>
      </p:sp>
      <p:sp>
        <p:nvSpPr>
          <p:cNvPr id="3" name="Slide Number Placeholder 2">
            <a:extLst>
              <a:ext uri="{FF2B5EF4-FFF2-40B4-BE49-F238E27FC236}">
                <a16:creationId xmlns:a16="http://schemas.microsoft.com/office/drawing/2014/main" id="{F11D35AF-7888-5742-BF8B-BD5A83A17971}"/>
              </a:ext>
            </a:extLst>
          </p:cNvPr>
          <p:cNvSpPr>
            <a:spLocks noGrp="1"/>
          </p:cNvSpPr>
          <p:nvPr>
            <p:ph type="sldNum" sz="quarter" idx="12"/>
          </p:nvPr>
        </p:nvSpPr>
        <p:spPr/>
        <p:txBody>
          <a:bodyPr/>
          <a:lstStyle/>
          <a:p>
            <a:fld id="{0F3206DB-9488-D04D-BDD1-A7C9D84C4579}" type="slidenum">
              <a:rPr lang="en-US" smtClean="0"/>
              <a:t>10</a:t>
            </a:fld>
            <a:endParaRPr lang="en-US"/>
          </a:p>
        </p:txBody>
      </p:sp>
    </p:spTree>
    <p:extLst>
      <p:ext uri="{BB962C8B-B14F-4D97-AF65-F5344CB8AC3E}">
        <p14:creationId xmlns:p14="http://schemas.microsoft.com/office/powerpoint/2010/main" val="1438219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376518" y="8808"/>
            <a:ext cx="8410295" cy="1348505"/>
          </a:xfrm>
        </p:spPr>
        <p:txBody>
          <a:bodyPr>
            <a:noAutofit/>
          </a:bodyPr>
          <a:lstStyle/>
          <a:p>
            <a:r>
              <a:rPr lang="en-US" dirty="0"/>
              <a:t>Summary: Effect of a Price Change on Total Revenue: It Depends on </a:t>
            </a:r>
            <a:r>
              <a:rPr lang="en-US" i="1" dirty="0"/>
              <a:t>E</a:t>
            </a:r>
            <a:r>
              <a:rPr lang="en-US" i="1" baseline="-25000" dirty="0"/>
              <a:t>d</a:t>
            </a:r>
            <a:endParaRPr lang="en-US" noProof="0" dirty="0"/>
          </a:p>
        </p:txBody>
      </p:sp>
      <p:sp>
        <p:nvSpPr>
          <p:cNvPr id="23555" name="Rectangle 3"/>
          <p:cNvSpPr>
            <a:spLocks noGrp="1" noChangeArrowheads="1"/>
          </p:cNvSpPr>
          <p:nvPr>
            <p:ph type="body" idx="1"/>
          </p:nvPr>
        </p:nvSpPr>
        <p:spPr>
          <a:xfrm>
            <a:off x="686097" y="1208556"/>
            <a:ext cx="7771805" cy="1811892"/>
          </a:xfrm>
        </p:spPr>
        <p:txBody>
          <a:bodyPr>
            <a:normAutofit/>
          </a:bodyPr>
          <a:lstStyle/>
          <a:p>
            <a:r>
              <a:rPr lang="en-US" sz="2400" noProof="0" dirty="0"/>
              <a:t>Is the percent reduction in price greater or smaller than the percent increase in quantity sold?</a:t>
            </a:r>
          </a:p>
          <a:p>
            <a:pPr marL="0" indent="0">
              <a:buNone/>
            </a:pPr>
            <a:endParaRPr lang="en-US" sz="1400" noProof="0" dirty="0"/>
          </a:p>
          <a:p>
            <a:r>
              <a:rPr lang="en-US" sz="2400" noProof="0" dirty="0"/>
              <a:t>More precisely: is demand elastic or inelastic?</a:t>
            </a:r>
          </a:p>
        </p:txBody>
      </p:sp>
      <p:sp>
        <p:nvSpPr>
          <p:cNvPr id="4" name="Slide Number Placeholder 3"/>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DBC38028-5B1C-49D3-BF22-2CE9385E6DA2}" type="slidenum">
              <a:rPr kumimoji="0" lang="en-US" sz="800" b="0" i="0" u="none" strike="noStrike" kern="800" cap="none" spc="400" normalizeH="0" baseline="0" noProof="0" smtClean="0">
                <a:ln>
                  <a:noFill/>
                </a:ln>
                <a:solidFill>
                  <a:prstClr val="black">
                    <a:lumMod val="75000"/>
                    <a:lumOff val="25000"/>
                  </a:prstClr>
                </a:solidFill>
                <a:effectLst/>
                <a:uLnTx/>
                <a:uFillTx/>
                <a:latin typeface=""/>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11</a:t>
            </a:fld>
            <a:endParaRPr kumimoji="0" lang="en-US" sz="800" b="0" i="0" u="none" strike="noStrike" kern="800" cap="none" spc="400" normalizeH="0" baseline="0" noProof="0" dirty="0">
              <a:ln>
                <a:noFill/>
              </a:ln>
              <a:solidFill>
                <a:prstClr val="black">
                  <a:lumMod val="75000"/>
                  <a:lumOff val="25000"/>
                </a:prstClr>
              </a:solidFill>
              <a:effectLst/>
              <a:uLnTx/>
              <a:uFillTx/>
              <a:latin typeface=""/>
              <a:ea typeface="+mn-ea"/>
              <a:cs typeface="+mn-cs"/>
            </a:endParaRPr>
          </a:p>
        </p:txBody>
      </p:sp>
      <p:graphicFrame>
        <p:nvGraphicFramePr>
          <p:cNvPr id="2" name="Table 2">
            <a:extLst>
              <a:ext uri="{FF2B5EF4-FFF2-40B4-BE49-F238E27FC236}">
                <a16:creationId xmlns:a16="http://schemas.microsoft.com/office/drawing/2014/main" id="{F5F9629F-C04C-1349-A910-09A7CCA77B22}"/>
              </a:ext>
            </a:extLst>
          </p:cNvPr>
          <p:cNvGraphicFramePr>
            <a:graphicFrameLocks noGrp="1"/>
          </p:cNvGraphicFramePr>
          <p:nvPr>
            <p:extLst>
              <p:ext uri="{D42A27DB-BD31-4B8C-83A1-F6EECF244321}">
                <p14:modId xmlns:p14="http://schemas.microsoft.com/office/powerpoint/2010/main" val="2078806173"/>
              </p:ext>
            </p:extLst>
          </p:nvPr>
        </p:nvGraphicFramePr>
        <p:xfrm>
          <a:off x="154645" y="2796990"/>
          <a:ext cx="8834708" cy="3952478"/>
        </p:xfrm>
        <a:graphic>
          <a:graphicData uri="http://schemas.openxmlformats.org/drawingml/2006/table">
            <a:tbl>
              <a:tblPr firstRow="1" bandRow="1">
                <a:tableStyleId>{912C8C85-51F0-491E-9774-3900AFEF0FD7}</a:tableStyleId>
              </a:tblPr>
              <a:tblGrid>
                <a:gridCol w="1795179">
                  <a:extLst>
                    <a:ext uri="{9D8B030D-6E8A-4147-A177-3AD203B41FA5}">
                      <a16:colId xmlns:a16="http://schemas.microsoft.com/office/drawing/2014/main" val="4161148270"/>
                    </a:ext>
                  </a:extLst>
                </a:gridCol>
                <a:gridCol w="2675964">
                  <a:extLst>
                    <a:ext uri="{9D8B030D-6E8A-4147-A177-3AD203B41FA5}">
                      <a16:colId xmlns:a16="http://schemas.microsoft.com/office/drawing/2014/main" val="2921230535"/>
                    </a:ext>
                  </a:extLst>
                </a:gridCol>
                <a:gridCol w="1411941">
                  <a:extLst>
                    <a:ext uri="{9D8B030D-6E8A-4147-A177-3AD203B41FA5}">
                      <a16:colId xmlns:a16="http://schemas.microsoft.com/office/drawing/2014/main" val="506926107"/>
                    </a:ext>
                  </a:extLst>
                </a:gridCol>
                <a:gridCol w="2951624">
                  <a:extLst>
                    <a:ext uri="{9D8B030D-6E8A-4147-A177-3AD203B41FA5}">
                      <a16:colId xmlns:a16="http://schemas.microsoft.com/office/drawing/2014/main" val="1114021618"/>
                    </a:ext>
                  </a:extLst>
                </a:gridCol>
              </a:tblGrid>
              <a:tr h="571109">
                <a:tc>
                  <a:txBody>
                    <a:bodyPr/>
                    <a:lstStyle/>
                    <a:p>
                      <a:r>
                        <a:rPr lang="en-US" sz="1800" dirty="0"/>
                        <a:t>% Change in </a:t>
                      </a:r>
                      <a:r>
                        <a:rPr lang="en-US" sz="1800" i="1" dirty="0"/>
                        <a:t>P</a:t>
                      </a:r>
                    </a:p>
                  </a:txBody>
                  <a:tcPr/>
                </a:tc>
                <a:tc>
                  <a:txBody>
                    <a:bodyPr/>
                    <a:lstStyle/>
                    <a:p>
                      <a:r>
                        <a:rPr lang="en-US" sz="1800" dirty="0"/>
                        <a:t>Resulting % Change in </a:t>
                      </a:r>
                      <a:r>
                        <a:rPr lang="en-US" sz="1800" i="1" dirty="0"/>
                        <a:t>Q</a:t>
                      </a:r>
                    </a:p>
                  </a:txBody>
                  <a:tcPr/>
                </a:tc>
                <a:tc>
                  <a:txBody>
                    <a:bodyPr/>
                    <a:lstStyle/>
                    <a:p>
                      <a:r>
                        <a:rPr lang="en-US" sz="1800" dirty="0"/>
                        <a:t>Demand is…</a:t>
                      </a:r>
                    </a:p>
                  </a:txBody>
                  <a:tcPr/>
                </a:tc>
                <a:tc>
                  <a:txBody>
                    <a:bodyPr/>
                    <a:lstStyle/>
                    <a:p>
                      <a:r>
                        <a:rPr lang="en-US" sz="1800" dirty="0"/>
                        <a:t>Resulting Change in Revenue</a:t>
                      </a:r>
                    </a:p>
                  </a:txBody>
                  <a:tcPr/>
                </a:tc>
                <a:extLst>
                  <a:ext uri="{0D108BD9-81ED-4DB2-BD59-A6C34878D82A}">
                    <a16:rowId xmlns:a16="http://schemas.microsoft.com/office/drawing/2014/main" val="783446819"/>
                  </a:ext>
                </a:extLst>
              </a:tr>
              <a:tr h="796860">
                <a:tc>
                  <a:txBody>
                    <a:bodyPr/>
                    <a:lstStyle/>
                    <a:p>
                      <a:r>
                        <a:rPr lang="en-US" sz="1800" dirty="0"/>
                        <a:t>If </a:t>
                      </a:r>
                      <a:r>
                        <a:rPr lang="en-US" sz="1800" i="1" dirty="0"/>
                        <a:t>P</a:t>
                      </a:r>
                      <a:r>
                        <a:rPr lang="en-US" sz="1800" dirty="0"/>
                        <a:t> decreases</a:t>
                      </a:r>
                    </a:p>
                  </a:txBody>
                  <a:tcPr anchor="ctr"/>
                </a:tc>
                <a:tc>
                  <a:txBody>
                    <a:bodyPr/>
                    <a:lstStyle/>
                    <a:p>
                      <a:r>
                        <a:rPr lang="en-US" sz="1800" dirty="0"/>
                        <a:t>&amp; </a:t>
                      </a:r>
                      <a:r>
                        <a:rPr lang="en-US" sz="1800" i="1" dirty="0"/>
                        <a:t>Q</a:t>
                      </a:r>
                      <a:r>
                        <a:rPr lang="en-US" sz="1800" dirty="0"/>
                        <a:t> increases by MORE than </a:t>
                      </a:r>
                      <a:r>
                        <a:rPr lang="en-US" sz="1800" i="1" dirty="0"/>
                        <a:t>P</a:t>
                      </a:r>
                      <a:r>
                        <a:rPr lang="en-US" sz="1800" dirty="0"/>
                        <a:t> falls</a:t>
                      </a:r>
                    </a:p>
                  </a:txBody>
                  <a:tcPr anchor="ctr"/>
                </a:tc>
                <a:tc>
                  <a:txBody>
                    <a:bodyPr/>
                    <a:lstStyle/>
                    <a:p>
                      <a:r>
                        <a:rPr lang="en-US" sz="1800" dirty="0"/>
                        <a:t>Elastic</a:t>
                      </a:r>
                    </a:p>
                  </a:txBody>
                  <a:tcPr anchor="ctr"/>
                </a:tc>
                <a:tc>
                  <a:txBody>
                    <a:bodyPr/>
                    <a:lstStyle/>
                    <a:p>
                      <a:r>
                        <a:rPr lang="en-US" sz="1800" dirty="0"/>
                        <a:t>Revenue increases</a:t>
                      </a:r>
                    </a:p>
                  </a:txBody>
                  <a:tcPr anchor="ctr"/>
                </a:tc>
                <a:extLst>
                  <a:ext uri="{0D108BD9-81ED-4DB2-BD59-A6C34878D82A}">
                    <a16:rowId xmlns:a16="http://schemas.microsoft.com/office/drawing/2014/main" val="805544643"/>
                  </a:ext>
                </a:extLst>
              </a:tr>
              <a:tr h="861503">
                <a:tc>
                  <a:txBody>
                    <a:bodyPr/>
                    <a:lstStyle/>
                    <a:p>
                      <a:r>
                        <a:rPr lang="en-US" sz="1800" dirty="0"/>
                        <a:t>If </a:t>
                      </a:r>
                      <a:r>
                        <a:rPr lang="en-US" sz="1800" i="1" dirty="0"/>
                        <a:t>P</a:t>
                      </a:r>
                      <a:r>
                        <a:rPr lang="en-US" sz="1800" dirty="0"/>
                        <a:t> decreases</a:t>
                      </a:r>
                    </a:p>
                  </a:txBody>
                  <a:tcPr anchor="ctr"/>
                </a:tc>
                <a:tc>
                  <a:txBody>
                    <a:bodyPr/>
                    <a:lstStyle/>
                    <a:p>
                      <a:r>
                        <a:rPr lang="en-US" sz="1800" dirty="0"/>
                        <a:t>&amp; </a:t>
                      </a:r>
                      <a:r>
                        <a:rPr lang="en-US" sz="1800" i="1" dirty="0"/>
                        <a:t>Q</a:t>
                      </a:r>
                      <a:r>
                        <a:rPr lang="en-US" sz="1800" dirty="0"/>
                        <a:t> increases by LESS than </a:t>
                      </a:r>
                      <a:r>
                        <a:rPr lang="en-US" sz="1800" i="1" dirty="0"/>
                        <a:t>P</a:t>
                      </a:r>
                      <a:r>
                        <a:rPr lang="en-US" sz="1800" dirty="0"/>
                        <a:t> falls</a:t>
                      </a:r>
                    </a:p>
                  </a:txBody>
                  <a:tcPr anchor="ctr"/>
                </a:tc>
                <a:tc>
                  <a:txBody>
                    <a:bodyPr/>
                    <a:lstStyle/>
                    <a:p>
                      <a:r>
                        <a:rPr lang="en-US" sz="1800" dirty="0"/>
                        <a:t>Inelastic</a:t>
                      </a:r>
                    </a:p>
                  </a:txBody>
                  <a:tcPr anchor="ctr"/>
                </a:tc>
                <a:tc>
                  <a:txBody>
                    <a:bodyPr/>
                    <a:lstStyle/>
                    <a:p>
                      <a:r>
                        <a:rPr lang="en-US" sz="1800" dirty="0"/>
                        <a:t>Revenue decreases</a:t>
                      </a:r>
                    </a:p>
                  </a:txBody>
                  <a:tcPr anchor="ctr"/>
                </a:tc>
                <a:extLst>
                  <a:ext uri="{0D108BD9-81ED-4DB2-BD59-A6C34878D82A}">
                    <a16:rowId xmlns:a16="http://schemas.microsoft.com/office/drawing/2014/main" val="1076683200"/>
                  </a:ext>
                </a:extLst>
              </a:tr>
              <a:tr h="86150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t>If </a:t>
                      </a:r>
                      <a:r>
                        <a:rPr lang="en-US" sz="1800" i="1" dirty="0"/>
                        <a:t>P</a:t>
                      </a:r>
                      <a:r>
                        <a:rPr lang="en-US" sz="1800" dirty="0"/>
                        <a:t> increases</a:t>
                      </a:r>
                    </a:p>
                  </a:txBody>
                  <a:tcPr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t>&amp; </a:t>
                      </a:r>
                      <a:r>
                        <a:rPr lang="en-US" sz="1800" i="1" dirty="0"/>
                        <a:t>Q</a:t>
                      </a:r>
                      <a:r>
                        <a:rPr lang="en-US" sz="1800" dirty="0"/>
                        <a:t> decreases by MORE than </a:t>
                      </a:r>
                      <a:r>
                        <a:rPr lang="en-US" sz="1800" i="1" dirty="0"/>
                        <a:t>P</a:t>
                      </a:r>
                      <a:r>
                        <a:rPr lang="en-US" sz="1800" dirty="0"/>
                        <a:t> rises</a:t>
                      </a:r>
                    </a:p>
                  </a:txBody>
                  <a:tcPr anchor="ctr"/>
                </a:tc>
                <a:tc>
                  <a:txBody>
                    <a:bodyPr/>
                    <a:lstStyle/>
                    <a:p>
                      <a:r>
                        <a:rPr lang="en-US" sz="1800" dirty="0"/>
                        <a:t>Elastic</a:t>
                      </a:r>
                    </a:p>
                  </a:txBody>
                  <a:tcPr anchor="ctr"/>
                </a:tc>
                <a:tc>
                  <a:txBody>
                    <a:bodyPr/>
                    <a:lstStyle/>
                    <a:p>
                      <a:r>
                        <a:rPr lang="en-US" sz="1800" dirty="0"/>
                        <a:t>Revenue decreases</a:t>
                      </a:r>
                    </a:p>
                  </a:txBody>
                  <a:tcPr anchor="ctr"/>
                </a:tc>
                <a:extLst>
                  <a:ext uri="{0D108BD9-81ED-4DB2-BD59-A6C34878D82A}">
                    <a16:rowId xmlns:a16="http://schemas.microsoft.com/office/drawing/2014/main" val="3486379987"/>
                  </a:ext>
                </a:extLst>
              </a:tr>
              <a:tr h="86150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t>If </a:t>
                      </a:r>
                      <a:r>
                        <a:rPr lang="en-US" sz="1800" i="1" dirty="0"/>
                        <a:t>P</a:t>
                      </a:r>
                      <a:r>
                        <a:rPr lang="en-US" sz="1800" dirty="0"/>
                        <a:t> increases</a:t>
                      </a:r>
                    </a:p>
                  </a:txBody>
                  <a:tcPr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t>&amp; </a:t>
                      </a:r>
                      <a:r>
                        <a:rPr lang="en-US" sz="1800" i="1" dirty="0"/>
                        <a:t>Q</a:t>
                      </a:r>
                      <a:r>
                        <a:rPr lang="en-US" sz="1800" dirty="0"/>
                        <a:t> decreases by LESS than </a:t>
                      </a:r>
                      <a:r>
                        <a:rPr lang="en-US" sz="1800" i="1"/>
                        <a:t>P</a:t>
                      </a:r>
                      <a:r>
                        <a:rPr lang="en-US" sz="1800"/>
                        <a:t> rises</a:t>
                      </a:r>
                      <a:endParaRPr lang="en-US" sz="1800" dirty="0"/>
                    </a:p>
                  </a:txBody>
                  <a:tcPr anchor="ctr"/>
                </a:tc>
                <a:tc>
                  <a:txBody>
                    <a:bodyPr/>
                    <a:lstStyle/>
                    <a:p>
                      <a:r>
                        <a:rPr lang="en-US" sz="1800" dirty="0"/>
                        <a:t>Inelastic</a:t>
                      </a:r>
                    </a:p>
                  </a:txBody>
                  <a:tcPr anchor="ctr"/>
                </a:tc>
                <a:tc>
                  <a:txBody>
                    <a:bodyPr/>
                    <a:lstStyle/>
                    <a:p>
                      <a:r>
                        <a:rPr lang="en-US" sz="1800" dirty="0"/>
                        <a:t>Revenue increases</a:t>
                      </a:r>
                    </a:p>
                  </a:txBody>
                  <a:tcPr anchor="ctr"/>
                </a:tc>
                <a:extLst>
                  <a:ext uri="{0D108BD9-81ED-4DB2-BD59-A6C34878D82A}">
                    <a16:rowId xmlns:a16="http://schemas.microsoft.com/office/drawing/2014/main" val="4254687409"/>
                  </a:ext>
                </a:extLst>
              </a:tr>
            </a:tbl>
          </a:graphicData>
        </a:graphic>
      </p:graphicFrame>
    </p:spTree>
    <p:custDataLst>
      <p:tags r:id="rId1"/>
    </p:custDataLst>
    <p:extLst>
      <p:ext uri="{BB962C8B-B14F-4D97-AF65-F5344CB8AC3E}">
        <p14:creationId xmlns:p14="http://schemas.microsoft.com/office/powerpoint/2010/main" val="28922416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OUTLINE of module 2</a:t>
            </a:r>
          </a:p>
        </p:txBody>
      </p:sp>
      <p:sp>
        <p:nvSpPr>
          <p:cNvPr id="3" name="Content Placeholder 2"/>
          <p:cNvSpPr>
            <a:spLocks noGrp="1"/>
          </p:cNvSpPr>
          <p:nvPr>
            <p:ph idx="1"/>
          </p:nvPr>
        </p:nvSpPr>
        <p:spPr>
          <a:xfrm>
            <a:off x="457200" y="1410511"/>
            <a:ext cx="8229600" cy="4896770"/>
          </a:xfrm>
        </p:spPr>
        <p:txBody>
          <a:bodyPr>
            <a:normAutofit lnSpcReduction="10000"/>
          </a:bodyPr>
          <a:lstStyle/>
          <a:p>
            <a:pPr>
              <a:lnSpc>
                <a:spcPct val="120000"/>
              </a:lnSpc>
            </a:pPr>
            <a:r>
              <a:rPr lang="en-US" sz="2813" noProof="0" dirty="0">
                <a:solidFill>
                  <a:schemeClr val="bg1">
                    <a:lumMod val="50000"/>
                  </a:schemeClr>
                </a:solidFill>
                <a:latin typeface="Whitney-Book" pitchFamily="50" charset="0"/>
                <a:cs typeface="Whitney-Book" pitchFamily="50" charset="0"/>
              </a:rPr>
              <a:t>The law of demand </a:t>
            </a:r>
          </a:p>
          <a:p>
            <a:pPr marL="914400" lvl="1" indent="-514350">
              <a:lnSpc>
                <a:spcPct val="120000"/>
              </a:lnSpc>
            </a:pPr>
            <a:endParaRPr lang="en-US" sz="2613" noProof="0" dirty="0">
              <a:solidFill>
                <a:schemeClr val="bg1">
                  <a:lumMod val="50000"/>
                </a:schemeClr>
              </a:solidFill>
              <a:latin typeface="Whitney-Book" pitchFamily="50" charset="0"/>
              <a:cs typeface="Whitney-Book" pitchFamily="50" charset="0"/>
            </a:endParaRPr>
          </a:p>
          <a:p>
            <a:pPr>
              <a:lnSpc>
                <a:spcPct val="120000"/>
              </a:lnSpc>
            </a:pPr>
            <a:r>
              <a:rPr lang="en-US" sz="2813" noProof="0" dirty="0">
                <a:solidFill>
                  <a:schemeClr val="bg1">
                    <a:lumMod val="50000"/>
                  </a:schemeClr>
                </a:solidFill>
                <a:latin typeface="Whitney-Book" pitchFamily="50" charset="0"/>
                <a:cs typeface="Whitney-Book" pitchFamily="50" charset="0"/>
              </a:rPr>
              <a:t>Elasticities</a:t>
            </a:r>
          </a:p>
          <a:p>
            <a:pPr>
              <a:lnSpc>
                <a:spcPct val="120000"/>
              </a:lnSpc>
            </a:pPr>
            <a:endParaRPr lang="en-US" sz="2813" noProof="0" dirty="0">
              <a:latin typeface="Whitney-Book" pitchFamily="50" charset="0"/>
              <a:cs typeface="Whitney-Book" pitchFamily="50" charset="0"/>
            </a:endParaRPr>
          </a:p>
          <a:p>
            <a:pPr>
              <a:lnSpc>
                <a:spcPct val="120000"/>
              </a:lnSpc>
            </a:pPr>
            <a:r>
              <a:rPr lang="en-US" sz="2813" b="1" dirty="0">
                <a:latin typeface="Whitney-Book" pitchFamily="50" charset="0"/>
                <a:cs typeface="Whitney-Book" pitchFamily="50" charset="0"/>
              </a:rPr>
              <a:t>Demand and revenue</a:t>
            </a:r>
          </a:p>
          <a:p>
            <a:pPr marL="914400" lvl="1" indent="-514350">
              <a:lnSpc>
                <a:spcPct val="120000"/>
              </a:lnSpc>
            </a:pPr>
            <a:r>
              <a:rPr lang="en-US" sz="2613" noProof="0" dirty="0">
                <a:solidFill>
                  <a:schemeClr val="bg1">
                    <a:lumMod val="50000"/>
                  </a:schemeClr>
                </a:solidFill>
                <a:latin typeface="Whitney-Book" pitchFamily="50" charset="0"/>
                <a:cs typeface="Whitney-Book" pitchFamily="50" charset="0"/>
              </a:rPr>
              <a:t>Elasticity and revenue</a:t>
            </a:r>
          </a:p>
          <a:p>
            <a:pPr marL="914400" lvl="1" indent="-514350">
              <a:lnSpc>
                <a:spcPct val="120000"/>
              </a:lnSpc>
            </a:pPr>
            <a:r>
              <a:rPr lang="en-US" sz="2613" b="1" dirty="0">
                <a:latin typeface="Whitney-Book" pitchFamily="50" charset="0"/>
                <a:cs typeface="Whitney-Book" pitchFamily="50" charset="0"/>
              </a:rPr>
              <a:t>Marginal revenue</a:t>
            </a:r>
          </a:p>
          <a:p>
            <a:pPr marL="914400" lvl="1" indent="-514350">
              <a:lnSpc>
                <a:spcPct val="120000"/>
              </a:lnSpc>
            </a:pPr>
            <a:endParaRPr lang="en-US" sz="2613" dirty="0">
              <a:solidFill>
                <a:schemeClr val="bg1">
                  <a:lumMod val="85000"/>
                </a:schemeClr>
              </a:solidFill>
              <a:latin typeface="Whitney-Book" pitchFamily="50" charset="0"/>
              <a:cs typeface="Whitney-Book" pitchFamily="50" charset="0"/>
            </a:endParaRPr>
          </a:p>
          <a:p>
            <a:pPr>
              <a:lnSpc>
                <a:spcPct val="120000"/>
              </a:lnSpc>
            </a:pPr>
            <a:r>
              <a:rPr lang="en-US" sz="2813" dirty="0">
                <a:solidFill>
                  <a:schemeClr val="bg1">
                    <a:lumMod val="50000"/>
                  </a:schemeClr>
                </a:solidFill>
                <a:latin typeface="Whitney-Book" pitchFamily="50" charset="0"/>
                <a:cs typeface="Whitney-Book" pitchFamily="50" charset="0"/>
              </a:rPr>
              <a:t>Demand estimation</a:t>
            </a:r>
          </a:p>
          <a:p>
            <a:pPr marL="914400" lvl="1" indent="-514350">
              <a:lnSpc>
                <a:spcPct val="120000"/>
              </a:lnSpc>
            </a:pPr>
            <a:endParaRPr lang="en-US" sz="2613" noProof="0" dirty="0">
              <a:latin typeface="Whitney-Book" pitchFamily="50" charset="0"/>
              <a:cs typeface="Whitney-Book" pitchFamily="50" charset="0"/>
            </a:endParaRPr>
          </a:p>
          <a:p>
            <a:pPr marL="914400" lvl="1" indent="-514350">
              <a:lnSpc>
                <a:spcPct val="120000"/>
              </a:lnSpc>
            </a:pPr>
            <a:endParaRPr lang="en-US" sz="2613" noProof="0" dirty="0">
              <a:latin typeface="Whitney-Book" pitchFamily="50" charset="0"/>
              <a:cs typeface="Whitney-Book" pitchFamily="50" charset="0"/>
            </a:endParaRPr>
          </a:p>
          <a:p>
            <a:pPr marL="457200" lvl="1" indent="0">
              <a:buNone/>
            </a:pPr>
            <a:endParaRPr lang="en-US" noProof="0" dirty="0"/>
          </a:p>
          <a:p>
            <a:pPr lvl="1"/>
            <a:endParaRPr lang="en-US" noProof="0" dirty="0"/>
          </a:p>
          <a:p>
            <a:endParaRPr lang="en-US" noProof="0" dirty="0"/>
          </a:p>
        </p:txBody>
      </p:sp>
    </p:spTree>
    <p:extLst>
      <p:ext uri="{BB962C8B-B14F-4D97-AF65-F5344CB8AC3E}">
        <p14:creationId xmlns:p14="http://schemas.microsoft.com/office/powerpoint/2010/main" val="24519522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3" name="Rectangle 3"/>
          <p:cNvSpPr>
            <a:spLocks noGrp="1" noChangeArrowheads="1"/>
          </p:cNvSpPr>
          <p:nvPr>
            <p:ph idx="1"/>
          </p:nvPr>
        </p:nvSpPr>
        <p:spPr>
          <a:xfrm>
            <a:off x="267368" y="1270215"/>
            <a:ext cx="8529054" cy="5220120"/>
          </a:xfrm>
          <a:noFill/>
          <a:ln/>
        </p:spPr>
        <p:txBody>
          <a:bodyPr vert="horz" lIns="92069" tIns="46035" rIns="92069" bIns="46035" rtlCol="0">
            <a:normAutofit lnSpcReduction="10000"/>
          </a:bodyPr>
          <a:lstStyle/>
          <a:p>
            <a:pPr>
              <a:spcBef>
                <a:spcPts val="0"/>
              </a:spcBef>
              <a:spcAft>
                <a:spcPts val="563"/>
              </a:spcAft>
            </a:pPr>
            <a:r>
              <a:rPr lang="en-US" dirty="0">
                <a:cs typeface="Times New Roman" pitchFamily="18" charset="0"/>
              </a:rPr>
              <a:t>General o</a:t>
            </a:r>
            <a:r>
              <a:rPr lang="en-US" noProof="0" dirty="0" err="1">
                <a:cs typeface="Times New Roman" pitchFamily="18" charset="0"/>
              </a:rPr>
              <a:t>bjective</a:t>
            </a:r>
            <a:r>
              <a:rPr lang="en-US" noProof="0" dirty="0">
                <a:cs typeface="Times New Roman" pitchFamily="18" charset="0"/>
              </a:rPr>
              <a:t>: Maximize </a:t>
            </a:r>
            <a:r>
              <a:rPr lang="en-US" b="1" noProof="0" dirty="0">
                <a:cs typeface="Times New Roman" pitchFamily="18" charset="0"/>
              </a:rPr>
              <a:t>net</a:t>
            </a:r>
            <a:r>
              <a:rPr lang="en-US" noProof="0" dirty="0">
                <a:cs typeface="Times New Roman" pitchFamily="18" charset="0"/>
              </a:rPr>
              <a:t> benefits </a:t>
            </a:r>
          </a:p>
          <a:p>
            <a:pPr lvl="1">
              <a:spcBef>
                <a:spcPts val="0"/>
              </a:spcBef>
              <a:spcAft>
                <a:spcPts val="563"/>
              </a:spcAft>
            </a:pPr>
            <a:r>
              <a:rPr lang="fr-FR" noProof="0" dirty="0">
                <a:cs typeface="Times New Roman" pitchFamily="18" charset="0"/>
              </a:rPr>
              <a:t>Use marginal </a:t>
            </a:r>
            <a:r>
              <a:rPr lang="fr-FR" noProof="0" dirty="0" err="1">
                <a:cs typeface="Times New Roman" pitchFamily="18" charset="0"/>
              </a:rPr>
              <a:t>analysis</a:t>
            </a:r>
            <a:endParaRPr lang="fr-FR" noProof="0" dirty="0">
              <a:cs typeface="Times New Roman" pitchFamily="18" charset="0"/>
            </a:endParaRPr>
          </a:p>
          <a:p>
            <a:pPr lvl="1">
              <a:spcBef>
                <a:spcPts val="0"/>
              </a:spcBef>
              <a:spcAft>
                <a:spcPts val="563"/>
              </a:spcAft>
            </a:pPr>
            <a:r>
              <a:rPr lang="fr-FR" noProof="0" dirty="0">
                <a:cs typeface="Times New Roman" pitchFamily="18" charset="0"/>
              </a:rPr>
              <a:t>Rule: net </a:t>
            </a:r>
            <a:r>
              <a:rPr lang="fr-FR" noProof="0" dirty="0" err="1">
                <a:cs typeface="Times New Roman" pitchFamily="18" charset="0"/>
              </a:rPr>
              <a:t>benefits</a:t>
            </a:r>
            <a:r>
              <a:rPr lang="fr-FR" noProof="0" dirty="0">
                <a:cs typeface="Times New Roman" pitchFamily="18" charset="0"/>
              </a:rPr>
              <a:t> are </a:t>
            </a:r>
            <a:r>
              <a:rPr lang="fr-FR" noProof="0" dirty="0" err="1">
                <a:cs typeface="Times New Roman" pitchFamily="18" charset="0"/>
              </a:rPr>
              <a:t>maximized</a:t>
            </a:r>
            <a:r>
              <a:rPr lang="fr-FR" noProof="0" dirty="0">
                <a:cs typeface="Times New Roman" pitchFamily="18" charset="0"/>
              </a:rPr>
              <a:t> </a:t>
            </a:r>
            <a:r>
              <a:rPr lang="fr-FR" noProof="0" dirty="0" err="1">
                <a:cs typeface="Times New Roman" pitchFamily="18" charset="0"/>
              </a:rPr>
              <a:t>where</a:t>
            </a:r>
            <a:r>
              <a:rPr lang="fr-FR" noProof="0" dirty="0">
                <a:cs typeface="Times New Roman" pitchFamily="18" charset="0"/>
              </a:rPr>
              <a:t> </a:t>
            </a:r>
            <a:r>
              <a:rPr lang="fr-FR" i="1" noProof="0" dirty="0">
                <a:cs typeface="Times New Roman" pitchFamily="18" charset="0"/>
              </a:rPr>
              <a:t>MB</a:t>
            </a:r>
            <a:r>
              <a:rPr lang="fr-FR" noProof="0" dirty="0">
                <a:cs typeface="Times New Roman" pitchFamily="18" charset="0"/>
              </a:rPr>
              <a:t> = </a:t>
            </a:r>
            <a:r>
              <a:rPr lang="fr-FR" i="1" noProof="0" dirty="0">
                <a:cs typeface="Times New Roman" pitchFamily="18" charset="0"/>
              </a:rPr>
              <a:t>MC</a:t>
            </a:r>
            <a:r>
              <a:rPr lang="fr-FR" noProof="0" dirty="0">
                <a:cs typeface="Times New Roman" pitchFamily="18" charset="0"/>
              </a:rPr>
              <a:t> </a:t>
            </a:r>
          </a:p>
          <a:p>
            <a:pPr lvl="1">
              <a:spcBef>
                <a:spcPts val="0"/>
              </a:spcBef>
              <a:spcAft>
                <a:spcPts val="563"/>
              </a:spcAft>
            </a:pPr>
            <a:r>
              <a:rPr lang="fr-FR" dirty="0">
                <a:cs typeface="Times New Roman" pitchFamily="18" charset="0"/>
              </a:rPr>
              <a:t>Example: Optimal </a:t>
            </a:r>
            <a:r>
              <a:rPr lang="fr-FR" dirty="0" err="1">
                <a:cs typeface="Times New Roman" pitchFamily="18" charset="0"/>
              </a:rPr>
              <a:t>amount</a:t>
            </a:r>
            <a:r>
              <a:rPr lang="fr-FR" dirty="0">
                <a:cs typeface="Times New Roman" pitchFamily="18" charset="0"/>
              </a:rPr>
              <a:t> of running</a:t>
            </a:r>
          </a:p>
          <a:p>
            <a:pPr lvl="1">
              <a:spcBef>
                <a:spcPts val="0"/>
              </a:spcBef>
              <a:spcAft>
                <a:spcPts val="563"/>
              </a:spcAft>
            </a:pPr>
            <a:endParaRPr lang="fr-FR" sz="2400" dirty="0">
              <a:cs typeface="Times New Roman" pitchFamily="18" charset="0"/>
            </a:endParaRPr>
          </a:p>
          <a:p>
            <a:pPr>
              <a:spcBef>
                <a:spcPts val="0"/>
              </a:spcBef>
              <a:spcAft>
                <a:spcPts val="563"/>
              </a:spcAft>
            </a:pPr>
            <a:r>
              <a:rPr lang="fr-FR" noProof="0" dirty="0" err="1">
                <a:cs typeface="Times New Roman" pitchFamily="18" charset="0"/>
              </a:rPr>
              <a:t>Firms</a:t>
            </a:r>
            <a:r>
              <a:rPr lang="fr-FR" noProof="0" dirty="0">
                <a:cs typeface="Times New Roman" pitchFamily="18" charset="0"/>
              </a:rPr>
              <a:t>’ objective: </a:t>
            </a:r>
            <a:r>
              <a:rPr lang="fr-FR" b="1" noProof="0" dirty="0" err="1">
                <a:solidFill>
                  <a:srgbClr val="C00000"/>
                </a:solidFill>
                <a:cs typeface="Times New Roman" pitchFamily="18" charset="0"/>
              </a:rPr>
              <a:t>Maximize</a:t>
            </a:r>
            <a:r>
              <a:rPr lang="fr-FR" b="1" noProof="0" dirty="0">
                <a:solidFill>
                  <a:srgbClr val="C00000"/>
                </a:solidFill>
                <a:cs typeface="Times New Roman" pitchFamily="18" charset="0"/>
              </a:rPr>
              <a:t> profits </a:t>
            </a:r>
          </a:p>
          <a:p>
            <a:pPr lvl="1">
              <a:spcBef>
                <a:spcPts val="0"/>
              </a:spcBef>
              <a:spcAft>
                <a:spcPts val="563"/>
              </a:spcAft>
            </a:pPr>
            <a:r>
              <a:rPr lang="fr-FR" noProof="0" dirty="0">
                <a:cs typeface="Times New Roman" pitchFamily="18" charset="0"/>
              </a:rPr>
              <a:t>Rule: </a:t>
            </a:r>
            <a:r>
              <a:rPr lang="en-US" dirty="0">
                <a:cs typeface="Times New Roman" pitchFamily="18" charset="0"/>
              </a:rPr>
              <a:t>produce where </a:t>
            </a:r>
          </a:p>
          <a:p>
            <a:pPr marL="457200" lvl="1" indent="0" algn="ctr">
              <a:spcBef>
                <a:spcPts val="0"/>
              </a:spcBef>
              <a:spcAft>
                <a:spcPts val="563"/>
              </a:spcAft>
              <a:buNone/>
            </a:pPr>
            <a:r>
              <a:rPr lang="en-US" dirty="0">
                <a:cs typeface="Times New Roman" pitchFamily="18" charset="0"/>
              </a:rPr>
              <a:t>Marginal Revenue = Marginal Cost</a:t>
            </a:r>
          </a:p>
          <a:p>
            <a:pPr marL="457200" lvl="1" indent="0" algn="ctr">
              <a:spcBef>
                <a:spcPts val="0"/>
              </a:spcBef>
              <a:spcAft>
                <a:spcPts val="563"/>
              </a:spcAft>
              <a:buNone/>
            </a:pPr>
            <a:r>
              <a:rPr lang="en-US" sz="2800" i="1" dirty="0">
                <a:cs typeface="Times New Roman" pitchFamily="18" charset="0"/>
              </a:rPr>
              <a:t>      MR = MC</a:t>
            </a:r>
          </a:p>
          <a:p>
            <a:pPr>
              <a:spcBef>
                <a:spcPts val="0"/>
              </a:spcBef>
              <a:spcAft>
                <a:spcPts val="563"/>
              </a:spcAft>
            </a:pPr>
            <a:endParaRPr lang="fr-FR" dirty="0">
              <a:cs typeface="Times New Roman" pitchFamily="18" charset="0"/>
            </a:endParaRPr>
          </a:p>
          <a:p>
            <a:pPr>
              <a:spcBef>
                <a:spcPts val="0"/>
              </a:spcBef>
              <a:spcAft>
                <a:spcPts val="563"/>
              </a:spcAft>
            </a:pPr>
            <a:r>
              <a:rPr lang="fr-FR" dirty="0" err="1">
                <a:cs typeface="Times New Roman" pitchFamily="18" charset="0"/>
              </a:rPr>
              <a:t>Today</a:t>
            </a:r>
            <a:r>
              <a:rPr lang="fr-FR" dirty="0">
                <a:cs typeface="Times New Roman" pitchFamily="18" charset="0"/>
              </a:rPr>
              <a:t>: how to </a:t>
            </a:r>
            <a:r>
              <a:rPr lang="fr-FR" dirty="0" err="1">
                <a:cs typeface="Times New Roman" pitchFamily="18" charset="0"/>
              </a:rPr>
              <a:t>compute</a:t>
            </a:r>
            <a:r>
              <a:rPr lang="fr-FR" dirty="0">
                <a:cs typeface="Times New Roman" pitchFamily="18" charset="0"/>
              </a:rPr>
              <a:t> </a:t>
            </a:r>
            <a:r>
              <a:rPr lang="fr-FR" b="1" i="1" dirty="0">
                <a:solidFill>
                  <a:srgbClr val="C00000"/>
                </a:solidFill>
                <a:cs typeface="Times New Roman" pitchFamily="18" charset="0"/>
              </a:rPr>
              <a:t>MR</a:t>
            </a:r>
            <a:endParaRPr lang="en-US" b="1" i="1" dirty="0">
              <a:solidFill>
                <a:srgbClr val="C00000"/>
              </a:solidFill>
              <a:cs typeface="Times New Roman" pitchFamily="18" charset="0"/>
            </a:endParaRPr>
          </a:p>
          <a:p>
            <a:pPr lvl="1">
              <a:spcBef>
                <a:spcPts val="0"/>
              </a:spcBef>
              <a:spcAft>
                <a:spcPts val="563"/>
              </a:spcAft>
            </a:pPr>
            <a:endParaRPr lang="en-US" sz="2813" b="1" noProof="0" dirty="0">
              <a:solidFill>
                <a:srgbClr val="C00000"/>
              </a:solidFill>
              <a:cs typeface="Times New Roman" pitchFamily="18" charset="0"/>
            </a:endParaRPr>
          </a:p>
        </p:txBody>
      </p:sp>
      <p:sp>
        <p:nvSpPr>
          <p:cNvPr id="3" name="Title 2"/>
          <p:cNvSpPr>
            <a:spLocks noGrp="1"/>
          </p:cNvSpPr>
          <p:nvPr>
            <p:ph type="title"/>
          </p:nvPr>
        </p:nvSpPr>
        <p:spPr>
          <a:xfrm>
            <a:off x="0" y="127215"/>
            <a:ext cx="9144000" cy="1143000"/>
          </a:xfrm>
        </p:spPr>
        <p:txBody>
          <a:bodyPr>
            <a:normAutofit/>
          </a:bodyPr>
          <a:lstStyle/>
          <a:p>
            <a:r>
              <a:rPr lang="en-US" sz="2800" dirty="0"/>
              <a:t>Why do we care about </a:t>
            </a:r>
            <a:br>
              <a:rPr lang="en-US" sz="2800" dirty="0"/>
            </a:br>
            <a:r>
              <a:rPr lang="en-US" sz="2800" dirty="0"/>
              <a:t>marginal revenue?</a:t>
            </a:r>
            <a:endParaRPr lang="en-US" sz="2900" noProof="0" dirty="0"/>
          </a:p>
        </p:txBody>
      </p:sp>
      <p:sp>
        <p:nvSpPr>
          <p:cNvPr id="5" name="Slide Number Placeholder 4">
            <a:extLst>
              <a:ext uri="{FF2B5EF4-FFF2-40B4-BE49-F238E27FC236}">
                <a16:creationId xmlns:a16="http://schemas.microsoft.com/office/drawing/2014/main" id="{0948F25D-3F85-7A4A-BD2D-D7E6B3F2418C}"/>
              </a:ext>
            </a:extLst>
          </p:cNvPr>
          <p:cNvSpPr>
            <a:spLocks noGrp="1"/>
          </p:cNvSpPr>
          <p:nvPr>
            <p:ph type="sldNum" sz="quarter" idx="12"/>
          </p:nvPr>
        </p:nvSpPr>
        <p:spPr/>
        <p:txBody>
          <a:bodyPr/>
          <a:lstStyle/>
          <a:p>
            <a:fld id="{0F3206DB-9488-D04D-BDD1-A7C9D84C4579}" type="slidenum">
              <a:rPr lang="en-US" smtClean="0"/>
              <a:pPr/>
              <a:t>13</a:t>
            </a:fld>
            <a:endParaRPr lang="en-US" dirty="0"/>
          </a:p>
        </p:txBody>
      </p:sp>
    </p:spTree>
    <p:custDataLst>
      <p:tags r:id="rId1"/>
    </p:custDataLst>
    <p:extLst>
      <p:ext uri="{BB962C8B-B14F-4D97-AF65-F5344CB8AC3E}">
        <p14:creationId xmlns:p14="http://schemas.microsoft.com/office/powerpoint/2010/main" val="3308560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8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288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288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288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288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288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288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288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2288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531BF-D2EB-42C1-9623-C78AC0B63907}"/>
              </a:ext>
            </a:extLst>
          </p:cNvPr>
          <p:cNvSpPr>
            <a:spLocks noGrp="1"/>
          </p:cNvSpPr>
          <p:nvPr>
            <p:ph type="title"/>
          </p:nvPr>
        </p:nvSpPr>
        <p:spPr/>
        <p:txBody>
          <a:bodyPr/>
          <a:lstStyle/>
          <a:p>
            <a:r>
              <a:rPr lang="fr-FR" dirty="0"/>
              <a:t>Marginal revenue: </a:t>
            </a:r>
            <a:r>
              <a:rPr lang="fr-FR" dirty="0" err="1"/>
              <a:t>definition</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A67F1AB-9BBF-4791-8C1C-E9F9CF48883F}"/>
                  </a:ext>
                </a:extLst>
              </p:cNvPr>
              <p:cNvSpPr>
                <a:spLocks noGrp="1"/>
              </p:cNvSpPr>
              <p:nvPr>
                <p:ph idx="1"/>
              </p:nvPr>
            </p:nvSpPr>
            <p:spPr/>
            <p:txBody>
              <a:bodyPr>
                <a:normAutofit lnSpcReduction="10000"/>
              </a:bodyPr>
              <a:lstStyle/>
              <a:p>
                <a:r>
                  <a:rPr lang="fr-FR" dirty="0">
                    <a:cs typeface="Times New Roman" pitchFamily="18" charset="0"/>
                  </a:rPr>
                  <a:t>Intuitively: </a:t>
                </a:r>
                <a:r>
                  <a:rPr lang="fr-FR" dirty="0" err="1"/>
                  <a:t>Additional</a:t>
                </a:r>
                <a:r>
                  <a:rPr lang="fr-FR" dirty="0"/>
                  <a:t> revenue from </a:t>
                </a:r>
                <a:r>
                  <a:rPr lang="fr-FR" dirty="0" err="1"/>
                  <a:t>selling</a:t>
                </a:r>
                <a:r>
                  <a:rPr lang="fr-FR" dirty="0"/>
                  <a:t> one more unit</a:t>
                </a:r>
                <a:endParaRPr lang="en-US" dirty="0">
                  <a:cs typeface="Times New Roman" pitchFamily="18" charset="0"/>
                </a:endParaRPr>
              </a:p>
              <a:p>
                <a:r>
                  <a:rPr lang="en-US" dirty="0">
                    <a:cs typeface="Times New Roman" pitchFamily="18" charset="0"/>
                  </a:rPr>
                  <a:t>Mathematically: How much total revenue changes when quantity sold increases by 1 unit </a:t>
                </a:r>
              </a:p>
              <a:p>
                <a:endParaRPr lang="en-US" dirty="0">
                  <a:latin typeface="Cambria Math" panose="02040503050406030204" pitchFamily="18" charset="0"/>
                  <a:cs typeface="Times New Roman" pitchFamily="18" charset="0"/>
                </a:endParaRPr>
              </a:p>
              <a:p>
                <a:pPr marL="0" indent="0">
                  <a:buNone/>
                </a:pPr>
                <a14:m>
                  <m:oMathPara xmlns:m="http://schemas.openxmlformats.org/officeDocument/2006/math">
                    <m:oMathParaPr>
                      <m:jc m:val="center"/>
                    </m:oMathParaPr>
                    <m:oMath>
                      <m:r>
                        <a:rPr lang="en-US" i="1">
                          <a:latin typeface="Cambria Math" panose="02040503050406030204" pitchFamily="18" charset="0"/>
                        </a:rPr>
                        <m:t>𝑀𝑅</m:t>
                      </m:r>
                      <m:r>
                        <a:rPr lang="en-US">
                          <a:latin typeface="Cambria Math" panose="02040503050406030204" pitchFamily="18" charset="0"/>
                        </a:rPr>
                        <m:t>=</m:t>
                      </m:r>
                      <m:f>
                        <m:fPr>
                          <m:ctrlPr>
                            <a:rPr lang="en-US" i="1">
                              <a:latin typeface="Cambria Math" charset="0"/>
                              <a:ea typeface="Cambria Math" charset="0"/>
                              <a:cs typeface="Cambria Math" charset="0"/>
                            </a:rPr>
                          </m:ctrlPr>
                        </m:fPr>
                        <m:num>
                          <m:r>
                            <a:rPr lang="en-US" i="1">
                              <a:latin typeface="Cambria Math" charset="0"/>
                              <a:ea typeface="Cambria Math" charset="0"/>
                              <a:cs typeface="Cambria Math" charset="0"/>
                            </a:rPr>
                            <m:t>∆</m:t>
                          </m:r>
                          <m:r>
                            <a:rPr lang="en-US" b="0" i="1" smtClean="0">
                              <a:latin typeface="Cambria Math" panose="02040503050406030204" pitchFamily="18" charset="0"/>
                              <a:ea typeface="Cambria Math" charset="0"/>
                              <a:cs typeface="Cambria Math" charset="0"/>
                            </a:rPr>
                            <m:t>𝑇𝑅</m:t>
                          </m:r>
                        </m:num>
                        <m:den>
                          <m:r>
                            <a:rPr lang="en-US" i="1">
                              <a:latin typeface="Cambria Math" charset="0"/>
                              <a:ea typeface="Cambria Math" charset="0"/>
                              <a:cs typeface="Cambria Math" charset="0"/>
                            </a:rPr>
                            <m:t>∆</m:t>
                          </m:r>
                          <m:r>
                            <a:rPr lang="en-US" b="0" i="1" smtClean="0">
                              <a:latin typeface="Cambria Math" panose="02040503050406030204" pitchFamily="18" charset="0"/>
                              <a:ea typeface="Cambria Math" charset="0"/>
                              <a:cs typeface="Cambria Math" charset="0"/>
                            </a:rPr>
                            <m:t>𝑄</m:t>
                          </m:r>
                        </m:den>
                      </m:f>
                      <m:r>
                        <m:rPr>
                          <m:nor/>
                        </m:rPr>
                        <a:rPr lang="en-US" b="0" i="0" smtClean="0">
                          <a:latin typeface="Cambria Math" panose="02040503050406030204" pitchFamily="18" charset="0"/>
                          <a:ea typeface="Cambria Math" charset="0"/>
                          <a:cs typeface="Cambria Math" charset="0"/>
                        </a:rPr>
                        <m:t>"=</m:t>
                      </m:r>
                      <m:r>
                        <a:rPr lang="en-US" b="0" i="1" smtClean="0">
                          <a:latin typeface="Cambria Math" panose="02040503050406030204" pitchFamily="18" charset="0"/>
                          <a:ea typeface="Cambria Math" charset="0"/>
                          <a:cs typeface="Cambria Math" charset="0"/>
                        </a:rPr>
                        <m:t>"</m:t>
                      </m:r>
                      <m:f>
                        <m:fPr>
                          <m:ctrlPr>
                            <a:rPr lang="en-US" b="0" i="1" smtClean="0">
                              <a:latin typeface="Cambria Math" panose="02040503050406030204" pitchFamily="18" charset="0"/>
                              <a:ea typeface="Cambria Math" charset="0"/>
                              <a:cs typeface="Cambria Math" charset="0"/>
                            </a:rPr>
                          </m:ctrlPr>
                        </m:fPr>
                        <m:num>
                          <m:r>
                            <a:rPr lang="en-US" b="0" i="1" smtClean="0">
                              <a:latin typeface="Cambria Math" panose="02040503050406030204" pitchFamily="18" charset="0"/>
                              <a:ea typeface="Cambria Math" charset="0"/>
                              <a:cs typeface="Cambria Math" charset="0"/>
                            </a:rPr>
                            <m:t>𝑑</m:t>
                          </m:r>
                          <m:r>
                            <a:rPr lang="en-US" i="1">
                              <a:latin typeface="Cambria Math" panose="02040503050406030204" pitchFamily="18" charset="0"/>
                              <a:ea typeface="Cambria Math" charset="0"/>
                              <a:cs typeface="Cambria Math" charset="0"/>
                            </a:rPr>
                            <m:t>𝑇𝑅</m:t>
                          </m:r>
                        </m:num>
                        <m:den>
                          <m:r>
                            <a:rPr lang="en-US" b="0" i="1" smtClean="0">
                              <a:latin typeface="Cambria Math" panose="02040503050406030204" pitchFamily="18" charset="0"/>
                              <a:ea typeface="Cambria Math" charset="0"/>
                              <a:cs typeface="Cambria Math" charset="0"/>
                            </a:rPr>
                            <m:t>𝑑</m:t>
                          </m:r>
                          <m:r>
                            <a:rPr lang="en-US" i="1">
                              <a:latin typeface="Cambria Math" panose="02040503050406030204" pitchFamily="18" charset="0"/>
                              <a:ea typeface="Cambria Math" charset="0"/>
                              <a:cs typeface="Cambria Math" charset="0"/>
                            </a:rPr>
                            <m:t>𝑄</m:t>
                          </m:r>
                        </m:den>
                      </m:f>
                    </m:oMath>
                  </m:oMathPara>
                </a14:m>
                <a:endParaRPr lang="en-US" dirty="0"/>
              </a:p>
              <a:p>
                <a:endParaRPr lang="en-US" dirty="0"/>
              </a:p>
              <a:p>
                <a:r>
                  <a:rPr lang="fr-FR" dirty="0"/>
                  <a:t>How to </a:t>
                </a:r>
                <a:r>
                  <a:rPr lang="fr-FR" dirty="0" err="1"/>
                  <a:t>compute</a:t>
                </a:r>
                <a:r>
                  <a:rPr lang="fr-FR" dirty="0"/>
                  <a:t> </a:t>
                </a:r>
                <a:r>
                  <a:rPr lang="fr-FR" i="1" dirty="0"/>
                  <a:t>MR </a:t>
                </a:r>
                <a:r>
                  <a:rPr lang="fr-FR" dirty="0"/>
                  <a:t>: s</a:t>
                </a:r>
                <a:r>
                  <a:rPr lang="en-US" dirty="0"/>
                  <a:t>tart from the demand function and use a 3-step method</a:t>
                </a:r>
              </a:p>
              <a:p>
                <a:endParaRPr lang="en-US" dirty="0"/>
              </a:p>
            </p:txBody>
          </p:sp>
        </mc:Choice>
        <mc:Fallback xmlns="">
          <p:sp>
            <p:nvSpPr>
              <p:cNvPr id="3" name="Content Placeholder 2">
                <a:extLst>
                  <a:ext uri="{FF2B5EF4-FFF2-40B4-BE49-F238E27FC236}">
                    <a16:creationId xmlns:a16="http://schemas.microsoft.com/office/drawing/2014/main" id="{FA67F1AB-9BBF-4791-8C1C-E9F9CF48883F}"/>
                  </a:ext>
                </a:extLst>
              </p:cNvPr>
              <p:cNvSpPr>
                <a:spLocks noGrp="1" noRot="1" noChangeAspect="1" noMove="1" noResize="1" noEditPoints="1" noAdjustHandles="1" noChangeArrowheads="1" noChangeShapeType="1" noTextEdit="1"/>
              </p:cNvSpPr>
              <p:nvPr>
                <p:ph idx="1"/>
              </p:nvPr>
            </p:nvSpPr>
            <p:spPr>
              <a:blipFill>
                <a:blip r:embed="rId2"/>
                <a:stretch>
                  <a:fillRect l="-1778" t="-3639" r="-2148" b="-539"/>
                </a:stretch>
              </a:blipFill>
            </p:spPr>
            <p:txBody>
              <a:bodyPr/>
              <a:lstStyle/>
              <a:p>
                <a:r>
                  <a:rPr lang="en-US">
                    <a:noFill/>
                  </a:rPr>
                  <a:t> </a:t>
                </a:r>
              </a:p>
            </p:txBody>
          </p:sp>
        </mc:Fallback>
      </mc:AlternateContent>
      <p:grpSp>
        <p:nvGrpSpPr>
          <p:cNvPr id="8" name="Group 7">
            <a:extLst>
              <a:ext uri="{FF2B5EF4-FFF2-40B4-BE49-F238E27FC236}">
                <a16:creationId xmlns:a16="http://schemas.microsoft.com/office/drawing/2014/main" id="{47323E36-E716-412D-AD7D-AE277D2BEE3B}"/>
              </a:ext>
            </a:extLst>
          </p:cNvPr>
          <p:cNvGrpSpPr/>
          <p:nvPr/>
        </p:nvGrpSpPr>
        <p:grpSpPr>
          <a:xfrm>
            <a:off x="6162676" y="3085504"/>
            <a:ext cx="1666873" cy="655547"/>
            <a:chOff x="6162676" y="3325903"/>
            <a:chExt cx="1666873" cy="655547"/>
          </a:xfrm>
        </p:grpSpPr>
        <p:sp>
          <p:nvSpPr>
            <p:cNvPr id="4" name="TextBox 3">
              <a:extLst>
                <a:ext uri="{FF2B5EF4-FFF2-40B4-BE49-F238E27FC236}">
                  <a16:creationId xmlns:a16="http://schemas.microsoft.com/office/drawing/2014/main" id="{4A4144A0-928C-43F1-AC7D-749679384553}"/>
                </a:ext>
              </a:extLst>
            </p:cNvPr>
            <p:cNvSpPr txBox="1"/>
            <p:nvPr/>
          </p:nvSpPr>
          <p:spPr>
            <a:xfrm>
              <a:off x="6648450" y="3325903"/>
              <a:ext cx="1181099" cy="369332"/>
            </a:xfrm>
            <a:prstGeom prst="rect">
              <a:avLst/>
            </a:prstGeom>
            <a:noFill/>
            <a:ln>
              <a:solidFill>
                <a:schemeClr val="tx2">
                  <a:lumMod val="60000"/>
                  <a:lumOff val="40000"/>
                </a:schemeClr>
              </a:solidFill>
            </a:ln>
            <a:effectLst>
              <a:outerShdw blurRad="50800" dist="38100" dir="2700000" algn="tl" rotWithShape="0">
                <a:prstClr val="black">
                  <a:alpha val="40000"/>
                </a:prstClr>
              </a:outerShdw>
            </a:effectLst>
          </p:spPr>
          <p:txBody>
            <a:bodyPr wrap="square" rtlCol="0">
              <a:spAutoFit/>
            </a:bodyPr>
            <a:lstStyle/>
            <a:p>
              <a:r>
                <a:rPr lang="en-US" dirty="0">
                  <a:solidFill>
                    <a:srgbClr val="0070C0"/>
                  </a:solidFill>
                  <a:latin typeface="Whitney-Book" pitchFamily="50" charset="0"/>
                </a:rPr>
                <a:t>Derivative</a:t>
              </a:r>
            </a:p>
          </p:txBody>
        </p:sp>
        <p:cxnSp>
          <p:nvCxnSpPr>
            <p:cNvPr id="6" name="Straight Arrow Connector 5">
              <a:extLst>
                <a:ext uri="{FF2B5EF4-FFF2-40B4-BE49-F238E27FC236}">
                  <a16:creationId xmlns:a16="http://schemas.microsoft.com/office/drawing/2014/main" id="{7B345B16-9ADE-45AD-92AC-91EBC06C31FB}"/>
                </a:ext>
              </a:extLst>
            </p:cNvPr>
            <p:cNvCxnSpPr>
              <a:cxnSpLocks/>
            </p:cNvCxnSpPr>
            <p:nvPr/>
          </p:nvCxnSpPr>
          <p:spPr>
            <a:xfrm flipH="1">
              <a:off x="6162676" y="3673441"/>
              <a:ext cx="485774" cy="30800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479824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1F8F2-2F78-4856-A466-512964ABBEF3}"/>
              </a:ext>
            </a:extLst>
          </p:cNvPr>
          <p:cNvSpPr>
            <a:spLocks noGrp="1"/>
          </p:cNvSpPr>
          <p:nvPr>
            <p:ph type="title"/>
          </p:nvPr>
        </p:nvSpPr>
        <p:spPr/>
        <p:txBody>
          <a:bodyPr/>
          <a:lstStyle/>
          <a:p>
            <a:r>
              <a:rPr lang="en-US" dirty="0"/>
              <a:t>CALCULUS REFRESHER: Derivatives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9E5FD42-2916-4578-99E0-CAAF0FF64C32}"/>
                  </a:ext>
                </a:extLst>
              </p:cNvPr>
              <p:cNvSpPr>
                <a:spLocks noGrp="1"/>
              </p:cNvSpPr>
              <p:nvPr>
                <p:ph idx="1"/>
              </p:nvPr>
            </p:nvSpPr>
            <p:spPr/>
            <p:txBody>
              <a:bodyPr>
                <a:normAutofit fontScale="77500" lnSpcReduction="20000"/>
              </a:bodyPr>
              <a:lstStyle/>
              <a:p>
                <a:pPr>
                  <a:lnSpc>
                    <a:spcPct val="150000"/>
                  </a:lnSpc>
                </a:pPr>
                <a14:m>
                  <m:oMath xmlns:m="http://schemas.openxmlformats.org/officeDocument/2006/math">
                    <m:f>
                      <m:fPr>
                        <m:ctrlPr>
                          <a:rPr lang="en-US" sz="3600" b="0" i="1" smtClean="0">
                            <a:latin typeface="Cambria Math" panose="02040503050406030204" pitchFamily="18" charset="0"/>
                          </a:rPr>
                        </m:ctrlPr>
                      </m:fPr>
                      <m:num>
                        <m:r>
                          <a:rPr lang="en-US" sz="3600" b="0" i="1" smtClean="0">
                            <a:latin typeface="Cambria Math" panose="02040503050406030204" pitchFamily="18" charset="0"/>
                          </a:rPr>
                          <m:t>𝑑𝑌</m:t>
                        </m:r>
                      </m:num>
                      <m:den>
                        <m:r>
                          <a:rPr lang="en-US" sz="3600" b="0" i="1" smtClean="0">
                            <a:latin typeface="Cambria Math" panose="02040503050406030204" pitchFamily="18" charset="0"/>
                          </a:rPr>
                          <m:t>𝑑𝑋</m:t>
                        </m:r>
                      </m:den>
                    </m:f>
                  </m:oMath>
                </a14:m>
                <a:r>
                  <a:rPr lang="en-US" sz="3600" dirty="0"/>
                  <a:t>: derivative of Y with respect to X</a:t>
                </a:r>
              </a:p>
              <a:p>
                <a:pPr lvl="1">
                  <a:lnSpc>
                    <a:spcPct val="110000"/>
                  </a:lnSpc>
                  <a:spcBef>
                    <a:spcPts val="0"/>
                  </a:spcBef>
                </a:pPr>
                <a:r>
                  <a:rPr lang="en-US" sz="2800" dirty="0"/>
                  <a:t>Corresponds to the change in </a:t>
                </a:r>
                <a:r>
                  <a:rPr lang="en-US" sz="2800" i="1" dirty="0"/>
                  <a:t>Y</a:t>
                </a:r>
                <a:r>
                  <a:rPr lang="en-US" sz="2800" dirty="0"/>
                  <a:t> due to a small (marginal) change in </a:t>
                </a:r>
                <a:r>
                  <a:rPr lang="en-US" sz="2800" i="1" dirty="0"/>
                  <a:t>X</a:t>
                </a:r>
              </a:p>
              <a:p>
                <a:pPr>
                  <a:lnSpc>
                    <a:spcPct val="150000"/>
                  </a:lnSpc>
                </a:pPr>
                <a:r>
                  <a:rPr lang="en-US" sz="3600" dirty="0"/>
                  <a:t>Suppose    </a:t>
                </a:r>
                <a14:m>
                  <m:oMath xmlns:m="http://schemas.openxmlformats.org/officeDocument/2006/math">
                    <m:r>
                      <a:rPr lang="en-US" sz="3600" i="1" dirty="0" smtClean="0">
                        <a:latin typeface="Cambria Math" panose="02040503050406030204" pitchFamily="18" charset="0"/>
                      </a:rPr>
                      <m:t>𝑌</m:t>
                    </m:r>
                    <m:r>
                      <a:rPr lang="en-US" sz="3600" i="1" dirty="0">
                        <a:latin typeface="Cambria Math" panose="02040503050406030204" pitchFamily="18" charset="0"/>
                      </a:rPr>
                      <m:t> </m:t>
                    </m:r>
                    <m:r>
                      <a:rPr lang="en-US" sz="3600" i="1" dirty="0" smtClean="0">
                        <a:latin typeface="Cambria Math" panose="02040503050406030204" pitchFamily="18" charset="0"/>
                      </a:rPr>
                      <m:t>=</m:t>
                    </m:r>
                    <m:r>
                      <a:rPr lang="en-US" sz="3600" i="1" dirty="0">
                        <a:latin typeface="Cambria Math" panose="02040503050406030204" pitchFamily="18" charset="0"/>
                      </a:rPr>
                      <m:t> </m:t>
                    </m:r>
                    <m:r>
                      <a:rPr lang="en-US" sz="3600" i="1" dirty="0" smtClean="0">
                        <a:latin typeface="Cambria Math" panose="02040503050406030204" pitchFamily="18" charset="0"/>
                      </a:rPr>
                      <m:t>𝑎</m:t>
                    </m:r>
                    <m:r>
                      <a:rPr lang="en-US" sz="3600" i="1" dirty="0">
                        <a:latin typeface="Cambria Math" panose="02040503050406030204" pitchFamily="18" charset="0"/>
                      </a:rPr>
                      <m:t> </m:t>
                    </m:r>
                    <m:r>
                      <a:rPr lang="en-US" sz="3600" i="1" dirty="0" smtClean="0">
                        <a:latin typeface="Cambria Math" panose="02040503050406030204" pitchFamily="18" charset="0"/>
                      </a:rPr>
                      <m:t>+</m:t>
                    </m:r>
                    <m:r>
                      <a:rPr lang="en-US" sz="3600" i="1" dirty="0">
                        <a:latin typeface="Cambria Math" panose="02040503050406030204" pitchFamily="18" charset="0"/>
                      </a:rPr>
                      <m:t> </m:t>
                    </m:r>
                    <m:r>
                      <a:rPr lang="en-US" sz="3600" i="1" dirty="0" err="1" smtClean="0">
                        <a:latin typeface="Cambria Math" panose="02040503050406030204" pitchFamily="18" charset="0"/>
                      </a:rPr>
                      <m:t>𝑏𝑋</m:t>
                    </m:r>
                    <m:r>
                      <a:rPr lang="en-US" sz="3600" i="1" dirty="0">
                        <a:latin typeface="Cambria Math" panose="02040503050406030204" pitchFamily="18" charset="0"/>
                      </a:rPr>
                      <m:t> </m:t>
                    </m:r>
                    <m:r>
                      <a:rPr lang="en-US" sz="3600" i="1" dirty="0" smtClean="0">
                        <a:latin typeface="Cambria Math" panose="02040503050406030204" pitchFamily="18" charset="0"/>
                      </a:rPr>
                      <m:t>+</m:t>
                    </m:r>
                    <m:r>
                      <a:rPr lang="en-US" sz="3600" i="1" dirty="0">
                        <a:latin typeface="Cambria Math" panose="02040503050406030204" pitchFamily="18" charset="0"/>
                      </a:rPr>
                      <m:t> </m:t>
                    </m:r>
                    <m:r>
                      <a:rPr lang="en-US" sz="3600" i="1" dirty="0" smtClean="0">
                        <a:latin typeface="Cambria Math" panose="02040503050406030204" pitchFamily="18" charset="0"/>
                      </a:rPr>
                      <m:t>𝑐</m:t>
                    </m:r>
                    <m:sSup>
                      <m:sSupPr>
                        <m:ctrlPr>
                          <a:rPr lang="en-US" sz="3600" i="1" dirty="0" smtClean="0">
                            <a:latin typeface="Cambria Math" panose="02040503050406030204" pitchFamily="18" charset="0"/>
                          </a:rPr>
                        </m:ctrlPr>
                      </m:sSupPr>
                      <m:e>
                        <m:r>
                          <a:rPr lang="en-US" sz="3600" i="1" dirty="0" smtClean="0">
                            <a:latin typeface="Cambria Math" panose="02040503050406030204" pitchFamily="18" charset="0"/>
                          </a:rPr>
                          <m:t>𝑋</m:t>
                        </m:r>
                      </m:e>
                      <m:sup>
                        <m:r>
                          <a:rPr lang="en-US" sz="3600" i="1" dirty="0" smtClean="0">
                            <a:solidFill>
                              <a:srgbClr val="FF0000"/>
                            </a:solidFill>
                            <a:latin typeface="Cambria Math" panose="02040503050406030204" pitchFamily="18" charset="0"/>
                          </a:rPr>
                          <m:t>2</m:t>
                        </m:r>
                      </m:sup>
                    </m:sSup>
                    <m:r>
                      <a:rPr lang="en-US" sz="3600" i="1" dirty="0">
                        <a:latin typeface="Cambria Math" panose="02040503050406030204" pitchFamily="18" charset="0"/>
                      </a:rPr>
                      <m:t> </m:t>
                    </m:r>
                  </m:oMath>
                </a14:m>
                <a:endParaRPr lang="en-US" sz="3600" dirty="0"/>
              </a:p>
              <a:p>
                <a:pPr lvl="1">
                  <a:lnSpc>
                    <a:spcPct val="120000"/>
                  </a:lnSpc>
                  <a:spcBef>
                    <a:spcPts val="0"/>
                  </a:spcBef>
                </a:pPr>
                <a:r>
                  <a:rPr lang="en-US" sz="2800" dirty="0"/>
                  <a:t>Where </a:t>
                </a:r>
                <a:r>
                  <a:rPr lang="en-US" sz="2800" dirty="0" err="1"/>
                  <a:t>a,b,c</a:t>
                </a:r>
                <a:r>
                  <a:rPr lang="en-US" sz="2800" dirty="0"/>
                  <a:t> are constants </a:t>
                </a:r>
              </a:p>
              <a:p>
                <a:pPr lvl="1">
                  <a:lnSpc>
                    <a:spcPct val="120000"/>
                  </a:lnSpc>
                  <a:spcBef>
                    <a:spcPts val="0"/>
                  </a:spcBef>
                </a:pPr>
                <a:r>
                  <a:rPr lang="en-US" sz="2800" dirty="0"/>
                  <a:t>E.g., a=1, b=3, c=2 </a:t>
                </a:r>
                <a:r>
                  <a:rPr lang="en-US" sz="2800" dirty="0">
                    <a:sym typeface="Wingdings" panose="05000000000000000000" pitchFamily="2" charset="2"/>
                  </a:rPr>
                  <a:t> </a:t>
                </a:r>
                <a14:m>
                  <m:oMath xmlns:m="http://schemas.openxmlformats.org/officeDocument/2006/math">
                    <m:r>
                      <a:rPr lang="en-US" sz="2800" i="1" dirty="0">
                        <a:latin typeface="Cambria Math" panose="02040503050406030204" pitchFamily="18" charset="0"/>
                      </a:rPr>
                      <m:t>𝑌</m:t>
                    </m:r>
                    <m:r>
                      <a:rPr lang="en-US" sz="2800" i="1" dirty="0">
                        <a:latin typeface="Cambria Math" panose="02040503050406030204" pitchFamily="18" charset="0"/>
                      </a:rPr>
                      <m:t> =1 +3</m:t>
                    </m:r>
                    <m:r>
                      <a:rPr lang="en-US" sz="2800" i="1" dirty="0" err="1">
                        <a:latin typeface="Cambria Math" panose="02040503050406030204" pitchFamily="18" charset="0"/>
                      </a:rPr>
                      <m:t>𝑋</m:t>
                    </m:r>
                    <m:r>
                      <a:rPr lang="en-US" sz="2800" i="1" dirty="0">
                        <a:latin typeface="Cambria Math" panose="02040503050406030204" pitchFamily="18" charset="0"/>
                      </a:rPr>
                      <m:t> +</m:t>
                    </m:r>
                    <m:r>
                      <a:rPr lang="en-US" sz="2800" b="0" i="1" dirty="0" smtClean="0">
                        <a:latin typeface="Cambria Math" panose="02040503050406030204" pitchFamily="18" charset="0"/>
                      </a:rPr>
                      <m:t>2</m:t>
                    </m:r>
                    <m:sSup>
                      <m:sSupPr>
                        <m:ctrlPr>
                          <a:rPr lang="en-US" sz="2800" i="1" dirty="0">
                            <a:latin typeface="Cambria Math" panose="02040503050406030204" pitchFamily="18" charset="0"/>
                          </a:rPr>
                        </m:ctrlPr>
                      </m:sSupPr>
                      <m:e>
                        <m:r>
                          <a:rPr lang="en-US" sz="2800" i="1" dirty="0">
                            <a:latin typeface="Cambria Math" panose="02040503050406030204" pitchFamily="18" charset="0"/>
                          </a:rPr>
                          <m:t>𝑋</m:t>
                        </m:r>
                      </m:e>
                      <m:sup>
                        <m:r>
                          <a:rPr lang="en-US" sz="2800" i="1" dirty="0">
                            <a:solidFill>
                              <a:srgbClr val="FF0000"/>
                            </a:solidFill>
                            <a:latin typeface="Cambria Math" panose="02040503050406030204" pitchFamily="18" charset="0"/>
                          </a:rPr>
                          <m:t>2</m:t>
                        </m:r>
                      </m:sup>
                    </m:sSup>
                    <m:r>
                      <a:rPr lang="en-US" sz="2800" i="1" dirty="0">
                        <a:latin typeface="Cambria Math" panose="02040503050406030204" pitchFamily="18" charset="0"/>
                      </a:rPr>
                      <m:t> </m:t>
                    </m:r>
                  </m:oMath>
                </a14:m>
                <a:endParaRPr lang="en-US" sz="2800" dirty="0"/>
              </a:p>
              <a:p>
                <a:pPr>
                  <a:lnSpc>
                    <a:spcPct val="150000"/>
                  </a:lnSpc>
                </a:pPr>
                <a:r>
                  <a:rPr lang="en-US" sz="3600" dirty="0"/>
                  <a:t>Then: </a:t>
                </a:r>
                <a14:m>
                  <m:oMath xmlns:m="http://schemas.openxmlformats.org/officeDocument/2006/math">
                    <m:f>
                      <m:fPr>
                        <m:ctrlPr>
                          <a:rPr lang="en-US" sz="3600" i="1">
                            <a:latin typeface="Cambria Math" panose="02040503050406030204" pitchFamily="18" charset="0"/>
                          </a:rPr>
                        </m:ctrlPr>
                      </m:fPr>
                      <m:num>
                        <m:r>
                          <a:rPr lang="en-US" sz="3600" i="1">
                            <a:latin typeface="Cambria Math" panose="02040503050406030204" pitchFamily="18" charset="0"/>
                          </a:rPr>
                          <m:t>𝑑𝑌</m:t>
                        </m:r>
                      </m:num>
                      <m:den>
                        <m:r>
                          <a:rPr lang="en-US" sz="3600" i="1">
                            <a:latin typeface="Cambria Math" panose="02040503050406030204" pitchFamily="18" charset="0"/>
                          </a:rPr>
                          <m:t>𝑑𝑋</m:t>
                        </m:r>
                      </m:den>
                    </m:f>
                    <m:r>
                      <a:rPr lang="en-US" sz="3600" b="0" i="1" smtClean="0">
                        <a:latin typeface="Cambria Math" panose="02040503050406030204" pitchFamily="18" charset="0"/>
                        <a:ea typeface="Cambria Math" charset="0"/>
                        <a:cs typeface="Cambria Math" charset="0"/>
                      </a:rPr>
                      <m:t>=</m:t>
                    </m:r>
                    <m:r>
                      <a:rPr lang="en-US" sz="3600" b="0" i="1" smtClean="0">
                        <a:latin typeface="Cambria Math" panose="02040503050406030204" pitchFamily="18" charset="0"/>
                        <a:ea typeface="Cambria Math" charset="0"/>
                        <a:cs typeface="Cambria Math" charset="0"/>
                      </a:rPr>
                      <m:t>𝑏</m:t>
                    </m:r>
                    <m:r>
                      <a:rPr lang="en-US" sz="3600" b="0" i="1" smtClean="0">
                        <a:latin typeface="Cambria Math" panose="02040503050406030204" pitchFamily="18" charset="0"/>
                        <a:ea typeface="Cambria Math" charset="0"/>
                        <a:cs typeface="Cambria Math" charset="0"/>
                      </a:rPr>
                      <m:t>+2</m:t>
                    </m:r>
                    <m:r>
                      <a:rPr lang="en-US" sz="3600" b="0" i="1" smtClean="0">
                        <a:latin typeface="Cambria Math" panose="02040503050406030204" pitchFamily="18" charset="0"/>
                        <a:ea typeface="Cambria Math" charset="0"/>
                        <a:cs typeface="Cambria Math" charset="0"/>
                      </a:rPr>
                      <m:t>𝑐𝑋</m:t>
                    </m:r>
                  </m:oMath>
                </a14:m>
                <a:endParaRPr lang="en-US" sz="3600" b="0" dirty="0">
                  <a:ea typeface="Cambria Math" charset="0"/>
                  <a:cs typeface="Cambria Math" charset="0"/>
                </a:endParaRPr>
              </a:p>
              <a:p>
                <a:pPr lvl="1">
                  <a:lnSpc>
                    <a:spcPct val="120000"/>
                  </a:lnSpc>
                  <a:spcBef>
                    <a:spcPts val="0"/>
                  </a:spcBef>
                </a:pPr>
                <a:r>
                  <a:rPr lang="en-US" sz="3100" dirty="0"/>
                  <a:t>In the above example:    </a:t>
                </a:r>
                <a14:m>
                  <m:oMath xmlns:m="http://schemas.openxmlformats.org/officeDocument/2006/math">
                    <m:f>
                      <m:fPr>
                        <m:ctrlPr>
                          <a:rPr lang="en-US" sz="3100" i="1">
                            <a:latin typeface="Cambria Math" panose="02040503050406030204" pitchFamily="18" charset="0"/>
                          </a:rPr>
                        </m:ctrlPr>
                      </m:fPr>
                      <m:num>
                        <m:r>
                          <a:rPr lang="en-US" sz="3100" i="1">
                            <a:latin typeface="Cambria Math" panose="02040503050406030204" pitchFamily="18" charset="0"/>
                          </a:rPr>
                          <m:t>𝑑𝑌</m:t>
                        </m:r>
                      </m:num>
                      <m:den>
                        <m:r>
                          <a:rPr lang="en-US" sz="3100" i="1">
                            <a:latin typeface="Cambria Math" panose="02040503050406030204" pitchFamily="18" charset="0"/>
                          </a:rPr>
                          <m:t>𝑑𝑋</m:t>
                        </m:r>
                      </m:den>
                    </m:f>
                    <m:r>
                      <a:rPr lang="en-US" sz="3100" i="1" dirty="0">
                        <a:latin typeface="Cambria Math" panose="02040503050406030204" pitchFamily="18" charset="0"/>
                      </a:rPr>
                      <m:t>=</m:t>
                    </m:r>
                    <m:r>
                      <a:rPr lang="en-US" sz="3100" b="0" i="1" dirty="0" smtClean="0">
                        <a:latin typeface="Cambria Math" panose="02040503050406030204" pitchFamily="18" charset="0"/>
                      </a:rPr>
                      <m:t>3</m:t>
                    </m:r>
                    <m:r>
                      <a:rPr lang="en-US" sz="3100" i="1" dirty="0">
                        <a:latin typeface="Cambria Math" panose="02040503050406030204" pitchFamily="18" charset="0"/>
                      </a:rPr>
                      <m:t>+</m:t>
                    </m:r>
                    <m:r>
                      <a:rPr lang="en-US" sz="3100" b="0" i="1" dirty="0" smtClean="0">
                        <a:solidFill>
                          <a:srgbClr val="FF0000"/>
                        </a:solidFill>
                        <a:latin typeface="Cambria Math" panose="02040503050406030204" pitchFamily="18" charset="0"/>
                      </a:rPr>
                      <m:t>2</m:t>
                    </m:r>
                    <m:r>
                      <a:rPr lang="en-US" sz="3100" b="0" i="1" dirty="0" smtClean="0">
                        <a:latin typeface="Cambria Math" panose="02040503050406030204" pitchFamily="18" charset="0"/>
                      </a:rPr>
                      <m:t>⋅2⋅</m:t>
                    </m:r>
                    <m:r>
                      <a:rPr lang="en-US" sz="3100" b="0" i="1" dirty="0" smtClean="0">
                        <a:latin typeface="Cambria Math" panose="02040503050406030204" pitchFamily="18" charset="0"/>
                      </a:rPr>
                      <m:t>𝑋</m:t>
                    </m:r>
                    <m:r>
                      <a:rPr lang="en-US" sz="3100" b="0" i="1" dirty="0" smtClean="0">
                        <a:latin typeface="Cambria Math" panose="02040503050406030204" pitchFamily="18" charset="0"/>
                      </a:rPr>
                      <m:t>=3+4</m:t>
                    </m:r>
                    <m:r>
                      <a:rPr lang="en-US" sz="3100" b="0" i="1" dirty="0" smtClean="0">
                        <a:latin typeface="Cambria Math" panose="02040503050406030204" pitchFamily="18" charset="0"/>
                      </a:rPr>
                      <m:t>𝑋</m:t>
                    </m:r>
                    <m:r>
                      <a:rPr lang="en-US" sz="3100" i="1" dirty="0">
                        <a:latin typeface="Cambria Math" panose="02040503050406030204" pitchFamily="18" charset="0"/>
                      </a:rPr>
                      <m:t> </m:t>
                    </m:r>
                  </m:oMath>
                </a14:m>
                <a:endParaRPr lang="en-US" sz="3100" dirty="0"/>
              </a:p>
              <a:p>
                <a:endParaRPr lang="en-US" sz="3200" dirty="0"/>
              </a:p>
            </p:txBody>
          </p:sp>
        </mc:Choice>
        <mc:Fallback xmlns="">
          <p:sp>
            <p:nvSpPr>
              <p:cNvPr id="3" name="Content Placeholder 2">
                <a:extLst>
                  <a:ext uri="{FF2B5EF4-FFF2-40B4-BE49-F238E27FC236}">
                    <a16:creationId xmlns:a16="http://schemas.microsoft.com/office/drawing/2014/main" id="{99E5FD42-2916-4578-99E0-CAAF0FF64C32}"/>
                  </a:ext>
                </a:extLst>
              </p:cNvPr>
              <p:cNvSpPr>
                <a:spLocks noGrp="1" noRot="1" noChangeAspect="1" noMove="1" noResize="1" noEditPoints="1" noAdjustHandles="1" noChangeArrowheads="1" noChangeShapeType="1" noTextEdit="1"/>
              </p:cNvSpPr>
              <p:nvPr>
                <p:ph idx="1"/>
              </p:nvPr>
            </p:nvSpPr>
            <p:spPr>
              <a:blipFill>
                <a:blip r:embed="rId2"/>
                <a:stretch>
                  <a:fillRect l="-1778"/>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FC795B23-AEF6-4242-9903-F0B2396F5B50}"/>
              </a:ext>
            </a:extLst>
          </p:cNvPr>
          <p:cNvGrpSpPr/>
          <p:nvPr/>
        </p:nvGrpSpPr>
        <p:grpSpPr>
          <a:xfrm>
            <a:off x="516288" y="6078029"/>
            <a:ext cx="5939215" cy="652756"/>
            <a:chOff x="-1170432" y="6255858"/>
            <a:chExt cx="4665356" cy="479484"/>
          </a:xfrm>
        </p:grpSpPr>
        <p:sp>
          <p:nvSpPr>
            <p:cNvPr id="5" name="Rectangle 3">
              <a:extLst>
                <a:ext uri="{FF2B5EF4-FFF2-40B4-BE49-F238E27FC236}">
                  <a16:creationId xmlns:a16="http://schemas.microsoft.com/office/drawing/2014/main" id="{C3AD40F5-A9C7-4C94-9EE0-32A5BAE9782C}"/>
                </a:ext>
              </a:extLst>
            </p:cNvPr>
            <p:cNvSpPr txBox="1">
              <a:spLocks noChangeArrowheads="1"/>
            </p:cNvSpPr>
            <p:nvPr/>
          </p:nvSpPr>
          <p:spPr>
            <a:xfrm>
              <a:off x="-1170432" y="6255858"/>
              <a:ext cx="4665356" cy="479484"/>
            </a:xfrm>
            <a:prstGeom prst="rect">
              <a:avLst/>
            </a:prstGeom>
            <a:gradFill>
              <a:gsLst>
                <a:gs pos="44000">
                  <a:schemeClr val="bg1">
                    <a:lumMod val="85000"/>
                  </a:schemeClr>
                </a:gs>
                <a:gs pos="0">
                  <a:schemeClr val="tx1">
                    <a:lumMod val="65000"/>
                    <a:lumOff val="35000"/>
                  </a:schemeClr>
                </a:gs>
                <a:gs pos="100000">
                  <a:schemeClr val="tx1">
                    <a:lumMod val="50000"/>
                    <a:lumOff val="50000"/>
                  </a:schemeClr>
                </a:gs>
              </a:gsLst>
              <a:lin ang="5400000" scaled="1"/>
            </a:gradFill>
            <a:ln w="15875">
              <a:noFill/>
            </a:ln>
            <a:effectLst>
              <a:outerShdw blurRad="50800" dist="38100" dir="2700000" algn="tl" rotWithShape="0">
                <a:prstClr val="black">
                  <a:alpha val="40000"/>
                </a:prstClr>
              </a:outerShdw>
              <a:softEdge rad="50800"/>
            </a:effectLst>
          </p:spPr>
          <p:txBody>
            <a:bodyPr vert="horz" lIns="92069" tIns="46035" rIns="92069" bIns="46035" rtlCol="0" anchor="ctr">
              <a:normAutofit/>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600"/>
                </a:spcBef>
                <a:spcAft>
                  <a:spcPts val="563"/>
                </a:spcAft>
                <a:buNone/>
              </a:pPr>
              <a:r>
                <a:rPr lang="en-US" sz="2400" dirty="0">
                  <a:ln>
                    <a:solidFill>
                      <a:schemeClr val="bg1">
                        <a:lumMod val="50000"/>
                      </a:schemeClr>
                    </a:solidFill>
                  </a:ln>
                  <a:solidFill>
                    <a:schemeClr val="tx1"/>
                  </a:solidFill>
                  <a:latin typeface="Calibri" panose="020F0502020204030204" pitchFamily="34" charset="0"/>
                  <a:cs typeface="Times New Roman" pitchFamily="18" charset="0"/>
                </a:rPr>
                <a:t>	    </a:t>
              </a:r>
              <a:r>
                <a:rPr lang="en-US" sz="2400" dirty="0">
                  <a:solidFill>
                    <a:schemeClr val="bg2">
                      <a:lumMod val="25000"/>
                    </a:schemeClr>
                  </a:solidFill>
                  <a:latin typeface="Whitney Book" pitchFamily="50" charset="0"/>
                  <a:cs typeface="Whitney Book" pitchFamily="50" charset="0"/>
                </a:rPr>
                <a:t>See TA’s Math Review Videos </a:t>
              </a:r>
              <a:endParaRPr lang="en-US" sz="2400" dirty="0">
                <a:ln>
                  <a:solidFill>
                    <a:schemeClr val="bg1">
                      <a:lumMod val="50000"/>
                    </a:schemeClr>
                  </a:solidFill>
                </a:ln>
                <a:solidFill>
                  <a:schemeClr val="tx1"/>
                </a:solidFill>
                <a:latin typeface="Calibri" panose="020F0502020204030204" pitchFamily="34" charset="0"/>
                <a:cs typeface="Calibri" panose="020F0502020204030204" pitchFamily="34" charset="0"/>
              </a:endParaRPr>
            </a:p>
          </p:txBody>
        </p:sp>
        <p:sp>
          <p:nvSpPr>
            <p:cNvPr id="6" name="Right Arrow 1">
              <a:extLst>
                <a:ext uri="{FF2B5EF4-FFF2-40B4-BE49-F238E27FC236}">
                  <a16:creationId xmlns:a16="http://schemas.microsoft.com/office/drawing/2014/main" id="{74A1C66C-7FA7-41C7-8C32-E73AD1D75C8B}"/>
                </a:ext>
              </a:extLst>
            </p:cNvPr>
            <p:cNvSpPr/>
            <p:nvPr/>
          </p:nvSpPr>
          <p:spPr>
            <a:xfrm>
              <a:off x="-973719" y="6344601"/>
              <a:ext cx="373445" cy="301998"/>
            </a:xfrm>
            <a:prstGeom prst="rightArrow">
              <a:avLst/>
            </a:prstGeom>
            <a:solidFill>
              <a:schemeClr val="accent2"/>
            </a:solidFill>
            <a:effectLst>
              <a:outerShdw blurRad="40000" dist="23000" dir="5400000" rotWithShape="0">
                <a:srgbClr val="000000">
                  <a:alpha val="35000"/>
                </a:srgbClr>
              </a:outerShdw>
              <a:softEdge rad="254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390002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p:cTn id="25" dur="1000" fill="hold"/>
                                        <p:tgtEl>
                                          <p:spTgt spid="4"/>
                                        </p:tgtEl>
                                        <p:attrNameLst>
                                          <p:attrName>ppt_w</p:attrName>
                                        </p:attrNameLst>
                                      </p:cBhvr>
                                      <p:tavLst>
                                        <p:tav tm="0">
                                          <p:val>
                                            <p:fltVal val="0"/>
                                          </p:val>
                                        </p:tav>
                                        <p:tav tm="100000">
                                          <p:val>
                                            <p:strVal val="#ppt_w"/>
                                          </p:val>
                                        </p:tav>
                                      </p:tavLst>
                                    </p:anim>
                                    <p:anim calcmode="lin" valueType="num">
                                      <p:cBhvr>
                                        <p:cTn id="26" dur="1000" fill="hold"/>
                                        <p:tgtEl>
                                          <p:spTgt spid="4"/>
                                        </p:tgtEl>
                                        <p:attrNameLst>
                                          <p:attrName>ppt_h</p:attrName>
                                        </p:attrNameLst>
                                      </p:cBhvr>
                                      <p:tavLst>
                                        <p:tav tm="0">
                                          <p:val>
                                            <p:fltVal val="0"/>
                                          </p:val>
                                        </p:tav>
                                        <p:tav tm="100000">
                                          <p:val>
                                            <p:strVal val="#ppt_h"/>
                                          </p:val>
                                        </p:tav>
                                      </p:tavLst>
                                    </p:anim>
                                    <p:anim calcmode="lin" valueType="num">
                                      <p:cBhvr>
                                        <p:cTn id="27" dur="1000" fill="hold"/>
                                        <p:tgtEl>
                                          <p:spTgt spid="4"/>
                                        </p:tgtEl>
                                        <p:attrNameLst>
                                          <p:attrName>style.rotation</p:attrName>
                                        </p:attrNameLst>
                                      </p:cBhvr>
                                      <p:tavLst>
                                        <p:tav tm="0">
                                          <p:val>
                                            <p:fltVal val="90"/>
                                          </p:val>
                                        </p:tav>
                                        <p:tav tm="100000">
                                          <p:val>
                                            <p:fltVal val="0"/>
                                          </p:val>
                                        </p:tav>
                                      </p:tavLst>
                                    </p:anim>
                                    <p:animEffect transition="in" filter="fade">
                                      <p:cBhvr>
                                        <p:cTn id="28"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7111"/>
            <a:ext cx="9144000" cy="1143000"/>
          </a:xfrm>
        </p:spPr>
        <p:txBody>
          <a:bodyPr/>
          <a:lstStyle/>
          <a:p>
            <a:r>
              <a:rPr lang="en-US" dirty="0">
                <a:solidFill>
                  <a:schemeClr val="tx2">
                    <a:lumMod val="75000"/>
                  </a:schemeClr>
                </a:solidFill>
              </a:rPr>
              <a:t>3 step method in action</a:t>
            </a:r>
          </a:p>
        </p:txBody>
      </p:sp>
      <p:sp>
        <p:nvSpPr>
          <p:cNvPr id="5" name="Slide Number Placeholder 4">
            <a:extLst>
              <a:ext uri="{FF2B5EF4-FFF2-40B4-BE49-F238E27FC236}">
                <a16:creationId xmlns:a16="http://schemas.microsoft.com/office/drawing/2014/main" id="{AFDFFBDC-73DD-4045-B94B-9094578BB40E}"/>
              </a:ext>
            </a:extLst>
          </p:cNvPr>
          <p:cNvSpPr>
            <a:spLocks noGrp="1"/>
          </p:cNvSpPr>
          <p:nvPr>
            <p:ph type="sldNum" sz="quarter" idx="12"/>
          </p:nvPr>
        </p:nvSpPr>
        <p:spPr/>
        <p:txBody>
          <a:bodyPr/>
          <a:lstStyle/>
          <a:p>
            <a:fld id="{0F3206DB-9488-D04D-BDD1-A7C9D84C4579}" type="slidenum">
              <a:rPr lang="en-US" smtClean="0"/>
              <a:t>16</a:t>
            </a:fld>
            <a:endParaRPr lang="en-US"/>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EE7AF52A-9D62-4A09-A71E-24515D57F44B}"/>
                  </a:ext>
                </a:extLst>
              </p:cNvPr>
              <p:cNvSpPr>
                <a:spLocks noGrp="1"/>
              </p:cNvSpPr>
              <p:nvPr>
                <p:ph idx="1"/>
              </p:nvPr>
            </p:nvSpPr>
            <p:spPr>
              <a:xfrm>
                <a:off x="627295" y="1438806"/>
                <a:ext cx="8229600" cy="4991491"/>
              </a:xfrm>
            </p:spPr>
            <p:txBody>
              <a:bodyPr>
                <a:normAutofit fontScale="92500" lnSpcReduction="20000"/>
              </a:bodyPr>
              <a:lstStyle/>
              <a:p>
                <a:pPr marL="0" indent="0">
                  <a:buNone/>
                </a:pPr>
                <a:r>
                  <a:rPr lang="en-US" dirty="0">
                    <a:cs typeface="Times New Roman" pitchFamily="18" charset="0"/>
                  </a:rPr>
                  <a:t>Suppose demand is: </a:t>
                </a:r>
                <a14:m>
                  <m:oMath xmlns:m="http://schemas.openxmlformats.org/officeDocument/2006/math">
                    <m:r>
                      <a:rPr lang="en-US" i="1">
                        <a:latin typeface="Cambria Math" charset="0"/>
                        <a:cs typeface="Times New Roman" pitchFamily="18" charset="0"/>
                      </a:rPr>
                      <m:t>𝑄</m:t>
                    </m:r>
                    <m:r>
                      <a:rPr lang="en-US" i="1">
                        <a:latin typeface="Cambria Math" charset="0"/>
                        <a:cs typeface="Times New Roman" pitchFamily="18" charset="0"/>
                      </a:rPr>
                      <m:t>=1,600−4</m:t>
                    </m:r>
                    <m:r>
                      <a:rPr lang="en-US" i="1">
                        <a:latin typeface="Cambria Math" charset="0"/>
                        <a:cs typeface="Times New Roman" pitchFamily="18" charset="0"/>
                      </a:rPr>
                      <m:t>𝑃</m:t>
                    </m:r>
                  </m:oMath>
                </a14:m>
                <a:endParaRPr lang="en-US" dirty="0">
                  <a:cs typeface="Times New Roman" pitchFamily="18" charset="0"/>
                </a:endParaRPr>
              </a:p>
              <a:p>
                <a:pPr marL="514350" indent="-514350">
                  <a:buFont typeface="+mj-lt"/>
                  <a:buAutoNum type="arabicPeriod"/>
                </a:pPr>
                <a:endParaRPr lang="en-US" sz="2600" dirty="0">
                  <a:cs typeface="Times New Roman" pitchFamily="18" charset="0"/>
                </a:endParaRPr>
              </a:p>
              <a:p>
                <a:pPr marL="514350" indent="-514350">
                  <a:buFont typeface="+mj-lt"/>
                  <a:buAutoNum type="arabicPeriod"/>
                </a:pPr>
                <a:r>
                  <a:rPr lang="en-US" dirty="0">
                    <a:cs typeface="Times New Roman" pitchFamily="18" charset="0"/>
                  </a:rPr>
                  <a:t>Calculate inverse demand (solve for </a:t>
                </a:r>
                <a:r>
                  <a:rPr lang="en-US" i="1" dirty="0">
                    <a:cs typeface="Times New Roman" pitchFamily="18" charset="0"/>
                  </a:rPr>
                  <a:t>P </a:t>
                </a:r>
                <a:r>
                  <a:rPr lang="en-US" dirty="0">
                    <a:cs typeface="Times New Roman" pitchFamily="18" charset="0"/>
                  </a:rPr>
                  <a:t>):                 </a:t>
                </a:r>
              </a:p>
              <a:p>
                <a:pPr lvl="1"/>
                <a:r>
                  <a:rPr lang="en-US" sz="2800" dirty="0">
                    <a:solidFill>
                      <a:srgbClr val="C00000"/>
                    </a:solidFill>
                    <a:ea typeface="Cambria Math" charset="0"/>
                    <a:cs typeface="Cambria Math" charset="0"/>
                  </a:rPr>
                  <a:t>  </a:t>
                </a:r>
                <a:r>
                  <a:rPr lang="en-US" sz="2800" dirty="0">
                    <a:solidFill>
                      <a:schemeClr val="accent3">
                        <a:lumMod val="50000"/>
                      </a:schemeClr>
                    </a:solidFill>
                    <a:ea typeface="Cambria Math" charset="0"/>
                    <a:cs typeface="Cambria Math" charset="0"/>
                  </a:rPr>
                  <a:t>Result: </a:t>
                </a:r>
                <a:r>
                  <a:rPr lang="en-US" sz="2800" i="1" dirty="0">
                    <a:cs typeface="Times New Roman" pitchFamily="18" charset="0"/>
                  </a:rPr>
                  <a:t>P</a:t>
                </a:r>
                <a:r>
                  <a:rPr lang="en-US" sz="2800" dirty="0">
                    <a:cs typeface="Times New Roman" pitchFamily="18" charset="0"/>
                  </a:rPr>
                  <a:t> </a:t>
                </a:r>
                <a14:m>
                  <m:oMath xmlns:m="http://schemas.openxmlformats.org/officeDocument/2006/math">
                    <m:r>
                      <a:rPr lang="en-US" sz="2800" b="0" i="1">
                        <a:latin typeface="Cambria Math" charset="0"/>
                        <a:cs typeface="Times New Roman" pitchFamily="18" charset="0"/>
                      </a:rPr>
                      <m:t>=400−</m:t>
                    </m:r>
                    <m:f>
                      <m:fPr>
                        <m:ctrlPr>
                          <a:rPr lang="en-US" sz="2800" b="0" i="1">
                            <a:latin typeface="Cambria Math" panose="02040503050406030204" pitchFamily="18" charset="0"/>
                            <a:cs typeface="Times New Roman" pitchFamily="18" charset="0"/>
                          </a:rPr>
                        </m:ctrlPr>
                      </m:fPr>
                      <m:num>
                        <m:r>
                          <a:rPr lang="en-US" sz="2800" b="0" i="1">
                            <a:latin typeface="Cambria Math" panose="02040503050406030204" pitchFamily="18" charset="0"/>
                            <a:cs typeface="Times New Roman" pitchFamily="18" charset="0"/>
                          </a:rPr>
                          <m:t>1</m:t>
                        </m:r>
                      </m:num>
                      <m:den>
                        <m:r>
                          <a:rPr lang="en-US" sz="2800" b="0" i="1">
                            <a:latin typeface="Cambria Math" panose="02040503050406030204" pitchFamily="18" charset="0"/>
                            <a:cs typeface="Times New Roman" pitchFamily="18" charset="0"/>
                          </a:rPr>
                          <m:t>4</m:t>
                        </m:r>
                      </m:den>
                    </m:f>
                    <m:r>
                      <a:rPr lang="en-US" sz="2800" b="0" i="1">
                        <a:latin typeface="Cambria Math" panose="02040503050406030204" pitchFamily="18" charset="0"/>
                        <a:cs typeface="Times New Roman" pitchFamily="18" charset="0"/>
                      </a:rPr>
                      <m:t>𝑄</m:t>
                    </m:r>
                  </m:oMath>
                </a14:m>
                <a:r>
                  <a:rPr lang="en-US" sz="2800" dirty="0">
                    <a:cs typeface="Times New Roman" pitchFamily="18" charset="0"/>
                  </a:rPr>
                  <a:t> </a:t>
                </a:r>
              </a:p>
              <a:p>
                <a:pPr lvl="1"/>
                <a:endParaRPr lang="en-US" sz="1500" b="1" dirty="0">
                  <a:cs typeface="Times New Roman" pitchFamily="18" charset="0"/>
                </a:endParaRPr>
              </a:p>
              <a:p>
                <a:pPr lvl="1"/>
                <a:endParaRPr lang="en-US" sz="1100" b="1" dirty="0">
                  <a:cs typeface="Times New Roman" pitchFamily="18" charset="0"/>
                </a:endParaRPr>
              </a:p>
              <a:p>
                <a:pPr marL="514350" indent="-514350">
                  <a:buFont typeface="+mj-lt"/>
                  <a:buAutoNum type="arabicPeriod"/>
                </a:pPr>
                <a:r>
                  <a:rPr lang="en-US" dirty="0">
                    <a:cs typeface="Times New Roman" pitchFamily="18" charset="0"/>
                  </a:rPr>
                  <a:t>Calculate total revenue (multiply </a:t>
                </a:r>
                <a:r>
                  <a:rPr lang="en-US" i="1" dirty="0">
                    <a:cs typeface="Times New Roman" pitchFamily="18" charset="0"/>
                  </a:rPr>
                  <a:t>P</a:t>
                </a:r>
                <a:r>
                  <a:rPr lang="en-US" dirty="0">
                    <a:cs typeface="Times New Roman" pitchFamily="18" charset="0"/>
                  </a:rPr>
                  <a:t>  by </a:t>
                </a:r>
                <a:r>
                  <a:rPr lang="en-US" i="1" dirty="0">
                    <a:cs typeface="Times New Roman" pitchFamily="18" charset="0"/>
                  </a:rPr>
                  <a:t>Q </a:t>
                </a:r>
                <a:r>
                  <a:rPr lang="en-US" dirty="0">
                    <a:cs typeface="Times New Roman" pitchFamily="18" charset="0"/>
                  </a:rPr>
                  <a:t>): </a:t>
                </a:r>
              </a:p>
              <a:p>
                <a:pPr lvl="1"/>
                <a:r>
                  <a:rPr lang="en-US" sz="2800" dirty="0">
                    <a:solidFill>
                      <a:schemeClr val="accent3">
                        <a:lumMod val="50000"/>
                      </a:schemeClr>
                    </a:solidFill>
                    <a:ea typeface="Cambria Math" charset="0"/>
                    <a:cs typeface="Cambria Math" charset="0"/>
                  </a:rPr>
                  <a:t>  Result: </a:t>
                </a:r>
                <a14:m>
                  <m:oMath xmlns:m="http://schemas.openxmlformats.org/officeDocument/2006/math">
                    <m:r>
                      <a:rPr lang="en-US" sz="2800" i="1">
                        <a:latin typeface="Cambria Math" panose="02040503050406030204" pitchFamily="18" charset="0"/>
                        <a:cs typeface="Times New Roman" pitchFamily="18" charset="0"/>
                      </a:rPr>
                      <m:t>𝑇</m:t>
                    </m:r>
                    <m:r>
                      <a:rPr lang="en-US" sz="2800" i="1">
                        <a:latin typeface="Cambria Math" charset="0"/>
                        <a:cs typeface="Times New Roman" pitchFamily="18" charset="0"/>
                      </a:rPr>
                      <m:t>𝑅</m:t>
                    </m:r>
                    <m:r>
                      <a:rPr lang="en-US" sz="2800" i="1">
                        <a:latin typeface="Cambria Math" charset="0"/>
                        <a:cs typeface="Times New Roman" pitchFamily="18" charset="0"/>
                      </a:rPr>
                      <m:t>=</m:t>
                    </m:r>
                    <m:d>
                      <m:dPr>
                        <m:ctrlPr>
                          <a:rPr lang="en-US" sz="2800" i="1">
                            <a:latin typeface="Cambria Math" charset="0"/>
                            <a:cs typeface="Times New Roman" pitchFamily="18" charset="0"/>
                          </a:rPr>
                        </m:ctrlPr>
                      </m:dPr>
                      <m:e>
                        <m:r>
                          <a:rPr lang="en-US" sz="2800" i="1">
                            <a:latin typeface="Cambria Math" charset="0"/>
                            <a:cs typeface="Times New Roman" pitchFamily="18" charset="0"/>
                          </a:rPr>
                          <m:t>400−</m:t>
                        </m:r>
                        <m:f>
                          <m:fPr>
                            <m:ctrlPr>
                              <a:rPr lang="en-US" sz="2800" i="1">
                                <a:latin typeface="Cambria Math" panose="02040503050406030204" pitchFamily="18" charset="0"/>
                                <a:cs typeface="Times New Roman" pitchFamily="18" charset="0"/>
                              </a:rPr>
                            </m:ctrlPr>
                          </m:fPr>
                          <m:num>
                            <m:r>
                              <a:rPr lang="en-US" sz="2800" i="1">
                                <a:latin typeface="Cambria Math" panose="02040503050406030204" pitchFamily="18" charset="0"/>
                                <a:cs typeface="Times New Roman" pitchFamily="18" charset="0"/>
                              </a:rPr>
                              <m:t>1</m:t>
                            </m:r>
                          </m:num>
                          <m:den>
                            <m:r>
                              <a:rPr lang="en-US" sz="2800" i="1">
                                <a:latin typeface="Cambria Math" panose="02040503050406030204" pitchFamily="18" charset="0"/>
                                <a:cs typeface="Times New Roman" pitchFamily="18" charset="0"/>
                              </a:rPr>
                              <m:t>4</m:t>
                            </m:r>
                          </m:den>
                        </m:f>
                        <m:r>
                          <a:rPr lang="en-US" sz="2800" i="1">
                            <a:latin typeface="Cambria Math" panose="02040503050406030204" pitchFamily="18" charset="0"/>
                            <a:cs typeface="Times New Roman" pitchFamily="18" charset="0"/>
                          </a:rPr>
                          <m:t>𝑄</m:t>
                        </m:r>
                      </m:e>
                    </m:d>
                    <m:r>
                      <a:rPr lang="en-US" sz="2800" i="1">
                        <a:latin typeface="Cambria Math" charset="0"/>
                        <a:ea typeface="Cambria Math" charset="0"/>
                        <a:cs typeface="Cambria Math" charset="0"/>
                      </a:rPr>
                      <m:t>∙</m:t>
                    </m:r>
                    <m:r>
                      <a:rPr lang="en-US" sz="2800" i="1" smtClean="0">
                        <a:solidFill>
                          <a:srgbClr val="FF0000"/>
                        </a:solidFill>
                        <a:latin typeface="Cambria Math" charset="0"/>
                        <a:cs typeface="Times New Roman" pitchFamily="18" charset="0"/>
                      </a:rPr>
                      <m:t>𝑄</m:t>
                    </m:r>
                    <m:r>
                      <a:rPr lang="en-US" sz="2800" i="1">
                        <a:latin typeface="Cambria Math" panose="02040503050406030204" pitchFamily="18" charset="0"/>
                        <a:cs typeface="Times New Roman" pitchFamily="18" charset="0"/>
                      </a:rPr>
                      <m:t>=</m:t>
                    </m:r>
                    <m:r>
                      <a:rPr lang="en-US" sz="2800" b="0" i="1">
                        <a:latin typeface="Cambria Math" panose="02040503050406030204" pitchFamily="18" charset="0"/>
                        <a:cs typeface="Times New Roman" pitchFamily="18" charset="0"/>
                      </a:rPr>
                      <m:t>400</m:t>
                    </m:r>
                    <m:r>
                      <a:rPr lang="en-US" sz="2800" b="0" i="1">
                        <a:latin typeface="Cambria Math" charset="0"/>
                        <a:ea typeface="Cambria Math" charset="0"/>
                        <a:cs typeface="Cambria Math" charset="0"/>
                      </a:rPr>
                      <m:t>∙</m:t>
                    </m:r>
                    <m:r>
                      <a:rPr lang="en-US" sz="2800" b="0" i="1" smtClean="0">
                        <a:solidFill>
                          <a:srgbClr val="FF0000"/>
                        </a:solidFill>
                        <a:latin typeface="Cambria Math" panose="02040503050406030204" pitchFamily="18" charset="0"/>
                        <a:cs typeface="Times New Roman" pitchFamily="18" charset="0"/>
                      </a:rPr>
                      <m:t>𝑄</m:t>
                    </m:r>
                    <m:r>
                      <a:rPr lang="en-US" sz="2800" b="0" i="1">
                        <a:latin typeface="Cambria Math" panose="02040503050406030204" pitchFamily="18" charset="0"/>
                        <a:cs typeface="Times New Roman" pitchFamily="18" charset="0"/>
                      </a:rPr>
                      <m:t>−</m:t>
                    </m:r>
                    <m:f>
                      <m:fPr>
                        <m:ctrlPr>
                          <a:rPr lang="en-US" sz="2800" b="0" i="1">
                            <a:latin typeface="Cambria Math" panose="02040503050406030204" pitchFamily="18" charset="0"/>
                            <a:cs typeface="Times New Roman" pitchFamily="18" charset="0"/>
                          </a:rPr>
                        </m:ctrlPr>
                      </m:fPr>
                      <m:num>
                        <m:r>
                          <a:rPr lang="en-US" sz="2800" b="0" i="1">
                            <a:latin typeface="Cambria Math" panose="02040503050406030204" pitchFamily="18" charset="0"/>
                            <a:cs typeface="Times New Roman" pitchFamily="18" charset="0"/>
                          </a:rPr>
                          <m:t>1</m:t>
                        </m:r>
                      </m:num>
                      <m:den>
                        <m:r>
                          <a:rPr lang="en-US" sz="2800" b="0" i="1">
                            <a:latin typeface="Cambria Math" panose="02040503050406030204" pitchFamily="18" charset="0"/>
                            <a:cs typeface="Times New Roman" pitchFamily="18" charset="0"/>
                          </a:rPr>
                          <m:t>4</m:t>
                        </m:r>
                      </m:den>
                    </m:f>
                    <m:sSup>
                      <m:sSupPr>
                        <m:ctrlPr>
                          <a:rPr lang="en-US" sz="2800" b="0" i="1">
                            <a:latin typeface="Cambria Math" charset="0"/>
                            <a:ea typeface="Cambria Math" charset="0"/>
                            <a:cs typeface="Cambria Math" charset="0"/>
                          </a:rPr>
                        </m:ctrlPr>
                      </m:sSupPr>
                      <m:e>
                        <m:r>
                          <a:rPr lang="en-US" sz="2800" b="0" i="1">
                            <a:latin typeface="Cambria Math" charset="0"/>
                            <a:ea typeface="Cambria Math" charset="0"/>
                            <a:cs typeface="Cambria Math" charset="0"/>
                          </a:rPr>
                          <m:t>∙</m:t>
                        </m:r>
                        <m:r>
                          <a:rPr lang="en-US" sz="2800" b="0" i="1">
                            <a:latin typeface="Cambria Math" panose="02040503050406030204" pitchFamily="18" charset="0"/>
                            <a:cs typeface="Times New Roman" pitchFamily="18" charset="0"/>
                          </a:rPr>
                          <m:t>𝑄</m:t>
                        </m:r>
                      </m:e>
                      <m:sup>
                        <m:r>
                          <a:rPr lang="en-US" sz="2800" b="0" i="1" smtClean="0">
                            <a:solidFill>
                              <a:srgbClr val="FF0000"/>
                            </a:solidFill>
                            <a:latin typeface="Cambria Math" panose="02040503050406030204" pitchFamily="18" charset="0"/>
                            <a:cs typeface="Times New Roman" pitchFamily="18" charset="0"/>
                          </a:rPr>
                          <m:t>2</m:t>
                        </m:r>
                      </m:sup>
                    </m:sSup>
                  </m:oMath>
                </a14:m>
                <a:endParaRPr lang="en-US" sz="2800" dirty="0">
                  <a:cs typeface="Times New Roman" pitchFamily="18" charset="0"/>
                </a:endParaRPr>
              </a:p>
              <a:p>
                <a:pPr lvl="1"/>
                <a:endParaRPr lang="en-US" sz="1600" b="1" dirty="0">
                  <a:cs typeface="Times New Roman" pitchFamily="18" charset="0"/>
                </a:endParaRPr>
              </a:p>
              <a:p>
                <a:pPr lvl="1"/>
                <a:endParaRPr lang="en-US" sz="1100" b="1" dirty="0">
                  <a:cs typeface="Times New Roman" pitchFamily="18" charset="0"/>
                </a:endParaRPr>
              </a:p>
              <a:p>
                <a:pPr marL="514350" indent="-514350">
                  <a:buFont typeface="+mj-lt"/>
                  <a:buAutoNum type="arabicPeriod"/>
                </a:pPr>
                <a:r>
                  <a:rPr lang="en-US" dirty="0">
                    <a:cs typeface="Times New Roman" pitchFamily="18" charset="0"/>
                  </a:rPr>
                  <a:t>Calculate marginal revenue from total revenue (</a:t>
                </a:r>
                <a14:m>
                  <m:oMath xmlns:m="http://schemas.openxmlformats.org/officeDocument/2006/math">
                    <m:r>
                      <a:rPr lang="en-US" i="1">
                        <a:latin typeface="Cambria Math" panose="02040503050406030204" pitchFamily="18" charset="0"/>
                        <a:cs typeface="Times New Roman" pitchFamily="18" charset="0"/>
                      </a:rPr>
                      <m:t>𝑀</m:t>
                    </m:r>
                    <m:r>
                      <a:rPr lang="en-US" i="1">
                        <a:latin typeface="Cambria Math" charset="0"/>
                        <a:cs typeface="Times New Roman" pitchFamily="18" charset="0"/>
                      </a:rPr>
                      <m:t>𝑅</m:t>
                    </m:r>
                    <m:r>
                      <a:rPr lang="en-US">
                        <a:latin typeface="Cambria Math" panose="02040503050406030204" pitchFamily="18" charset="0"/>
                      </a:rPr>
                      <m:t>=</m:t>
                    </m:r>
                    <m:f>
                      <m:fPr>
                        <m:type m:val="skw"/>
                        <m:ctrlPr>
                          <a:rPr lang="en-US" b="0" i="1" smtClean="0">
                            <a:latin typeface="Cambria Math" panose="02040503050406030204" pitchFamily="18" charset="0"/>
                            <a:ea typeface="Cambria Math" charset="0"/>
                            <a:cs typeface="Cambria Math" charset="0"/>
                          </a:rPr>
                        </m:ctrlPr>
                      </m:fPr>
                      <m:num>
                        <m:r>
                          <a:rPr lang="en-US" b="0" i="1" smtClean="0">
                            <a:latin typeface="Cambria Math" panose="02040503050406030204" pitchFamily="18" charset="0"/>
                            <a:ea typeface="Cambria Math" charset="0"/>
                            <a:cs typeface="Cambria Math" charset="0"/>
                          </a:rPr>
                          <m:t>𝑑</m:t>
                        </m:r>
                        <m:r>
                          <a:rPr lang="en-US" i="1">
                            <a:latin typeface="Cambria Math" panose="02040503050406030204" pitchFamily="18" charset="0"/>
                            <a:ea typeface="Cambria Math" charset="0"/>
                            <a:cs typeface="Cambria Math" charset="0"/>
                          </a:rPr>
                          <m:t>𝑇𝑅</m:t>
                        </m:r>
                      </m:num>
                      <m:den>
                        <m:r>
                          <a:rPr lang="en-US" b="0" i="1" smtClean="0">
                            <a:latin typeface="Cambria Math" panose="02040503050406030204" pitchFamily="18" charset="0"/>
                            <a:ea typeface="Cambria Math" charset="0"/>
                            <a:cs typeface="Cambria Math" charset="0"/>
                          </a:rPr>
                          <m:t>𝑑</m:t>
                        </m:r>
                        <m:r>
                          <a:rPr lang="en-US" i="1">
                            <a:latin typeface="Cambria Math" panose="02040503050406030204" pitchFamily="18" charset="0"/>
                            <a:ea typeface="Cambria Math" charset="0"/>
                            <a:cs typeface="Cambria Math" charset="0"/>
                          </a:rPr>
                          <m:t>𝑄</m:t>
                        </m:r>
                      </m:den>
                    </m:f>
                  </m:oMath>
                </a14:m>
                <a:r>
                  <a:rPr lang="en-US" dirty="0">
                    <a:cs typeface="Times New Roman" pitchFamily="18" charset="0"/>
                  </a:rPr>
                  <a:t>)</a:t>
                </a:r>
              </a:p>
              <a:p>
                <a:pPr marL="914400" lvl="1" indent="-514350"/>
                <a:r>
                  <a:rPr lang="en-US" sz="2800" dirty="0">
                    <a:solidFill>
                      <a:schemeClr val="accent3">
                        <a:lumMod val="50000"/>
                      </a:schemeClr>
                    </a:solidFill>
                    <a:ea typeface="Cambria Math" charset="0"/>
                    <a:cs typeface="Cambria Math" charset="0"/>
                  </a:rPr>
                  <a:t>Result: </a:t>
                </a:r>
                <a14:m>
                  <m:oMath xmlns:m="http://schemas.openxmlformats.org/officeDocument/2006/math">
                    <m:r>
                      <a:rPr lang="en-US" sz="2800" i="1">
                        <a:latin typeface="Cambria Math" panose="02040503050406030204" pitchFamily="18" charset="0"/>
                        <a:cs typeface="Times New Roman" pitchFamily="18" charset="0"/>
                      </a:rPr>
                      <m:t>𝑀𝑅</m:t>
                    </m:r>
                    <m:r>
                      <a:rPr lang="en-US" sz="2800" i="1">
                        <a:latin typeface="Cambria Math" panose="02040503050406030204" pitchFamily="18" charset="0"/>
                        <a:cs typeface="Times New Roman" pitchFamily="18" charset="0"/>
                      </a:rPr>
                      <m:t>=400−(2⋅</m:t>
                    </m:r>
                    <m:f>
                      <m:fPr>
                        <m:ctrlPr>
                          <a:rPr lang="en-US" sz="2800" i="1">
                            <a:latin typeface="Cambria Math" panose="02040503050406030204" pitchFamily="18" charset="0"/>
                            <a:cs typeface="Times New Roman" pitchFamily="18" charset="0"/>
                          </a:rPr>
                        </m:ctrlPr>
                      </m:fPr>
                      <m:num>
                        <m:r>
                          <a:rPr lang="en-US" sz="2800" i="1">
                            <a:latin typeface="Cambria Math" panose="02040503050406030204" pitchFamily="18" charset="0"/>
                            <a:cs typeface="Times New Roman" pitchFamily="18" charset="0"/>
                          </a:rPr>
                          <m:t>1</m:t>
                        </m:r>
                      </m:num>
                      <m:den>
                        <m:r>
                          <a:rPr lang="en-US" sz="2800" i="1">
                            <a:latin typeface="Cambria Math" panose="02040503050406030204" pitchFamily="18" charset="0"/>
                            <a:cs typeface="Times New Roman" pitchFamily="18" charset="0"/>
                          </a:rPr>
                          <m:t>4</m:t>
                        </m:r>
                      </m:den>
                    </m:f>
                    <m:r>
                      <a:rPr lang="en-US" sz="2800" i="1">
                        <a:latin typeface="Cambria Math" panose="02040503050406030204" pitchFamily="18" charset="0"/>
                        <a:cs typeface="Times New Roman" pitchFamily="18" charset="0"/>
                      </a:rPr>
                      <m:t>)∙</m:t>
                    </m:r>
                    <m:r>
                      <a:rPr lang="en-US" sz="2800" i="1">
                        <a:latin typeface="Cambria Math" panose="02040503050406030204" pitchFamily="18" charset="0"/>
                        <a:cs typeface="Times New Roman" pitchFamily="18" charset="0"/>
                      </a:rPr>
                      <m:t>𝑄</m:t>
                    </m:r>
                    <m:r>
                      <a:rPr lang="en-US" sz="2800" i="1">
                        <a:latin typeface="Cambria Math" panose="02040503050406030204" pitchFamily="18" charset="0"/>
                        <a:cs typeface="Times New Roman" pitchFamily="18" charset="0"/>
                      </a:rPr>
                      <m:t>=</m:t>
                    </m:r>
                    <m:r>
                      <a:rPr lang="en-US" sz="2800" b="1" i="1">
                        <a:latin typeface="Cambria Math" panose="02040503050406030204" pitchFamily="18" charset="0"/>
                        <a:cs typeface="Times New Roman" pitchFamily="18" charset="0"/>
                      </a:rPr>
                      <m:t>𝟒𝟎𝟎</m:t>
                    </m:r>
                    <m:r>
                      <a:rPr lang="en-US" sz="2800" b="1" i="1">
                        <a:latin typeface="Cambria Math" panose="02040503050406030204" pitchFamily="18" charset="0"/>
                        <a:cs typeface="Times New Roman" pitchFamily="18" charset="0"/>
                      </a:rPr>
                      <m:t>−</m:t>
                    </m:r>
                    <m:f>
                      <m:fPr>
                        <m:ctrlPr>
                          <a:rPr lang="en-US" sz="2800" b="1" i="1">
                            <a:latin typeface="Cambria Math" panose="02040503050406030204" pitchFamily="18" charset="0"/>
                            <a:cs typeface="Times New Roman" pitchFamily="18" charset="0"/>
                          </a:rPr>
                        </m:ctrlPr>
                      </m:fPr>
                      <m:num>
                        <m:r>
                          <a:rPr lang="en-US" sz="2800" b="1" i="1">
                            <a:latin typeface="Cambria Math" panose="02040503050406030204" pitchFamily="18" charset="0"/>
                            <a:cs typeface="Times New Roman" pitchFamily="18" charset="0"/>
                          </a:rPr>
                          <m:t>𝟏</m:t>
                        </m:r>
                      </m:num>
                      <m:den>
                        <m:r>
                          <a:rPr lang="en-US" sz="2800" b="1" i="1">
                            <a:latin typeface="Cambria Math" panose="02040503050406030204" pitchFamily="18" charset="0"/>
                            <a:cs typeface="Times New Roman" pitchFamily="18" charset="0"/>
                          </a:rPr>
                          <m:t>𝟐</m:t>
                        </m:r>
                      </m:den>
                    </m:f>
                    <m:r>
                      <a:rPr lang="en-US" sz="2800" b="1" i="1">
                        <a:latin typeface="Cambria Math" panose="02040503050406030204" pitchFamily="18" charset="0"/>
                        <a:cs typeface="Times New Roman" pitchFamily="18" charset="0"/>
                      </a:rPr>
                      <m:t>𝑸</m:t>
                    </m:r>
                  </m:oMath>
                </a14:m>
                <a:endParaRPr lang="en-US" sz="2800" b="1" dirty="0">
                  <a:cs typeface="Times New Roman" pitchFamily="18" charset="0"/>
                </a:endParaRPr>
              </a:p>
              <a:p>
                <a:endParaRPr lang="en-US" dirty="0"/>
              </a:p>
            </p:txBody>
          </p:sp>
        </mc:Choice>
        <mc:Fallback xmlns="">
          <p:sp>
            <p:nvSpPr>
              <p:cNvPr id="8" name="Content Placeholder 7">
                <a:extLst>
                  <a:ext uri="{FF2B5EF4-FFF2-40B4-BE49-F238E27FC236}">
                    <a16:creationId xmlns:a16="http://schemas.microsoft.com/office/drawing/2014/main" id="{EE7AF52A-9D62-4A09-A71E-24515D57F44B}"/>
                  </a:ext>
                </a:extLst>
              </p:cNvPr>
              <p:cNvSpPr>
                <a:spLocks noGrp="1" noRot="1" noChangeAspect="1" noMove="1" noResize="1" noEditPoints="1" noAdjustHandles="1" noChangeArrowheads="1" noChangeShapeType="1" noTextEdit="1"/>
              </p:cNvSpPr>
              <p:nvPr>
                <p:ph idx="1"/>
              </p:nvPr>
            </p:nvSpPr>
            <p:spPr>
              <a:xfrm>
                <a:off x="627295" y="1438806"/>
                <a:ext cx="8229600" cy="4991491"/>
              </a:xfrm>
              <a:blipFill>
                <a:blip r:embed="rId3"/>
                <a:stretch>
                  <a:fillRect l="-1333" t="-2686"/>
                </a:stretch>
              </a:blipFill>
            </p:spPr>
            <p:txBody>
              <a:bodyPr/>
              <a:lstStyle/>
              <a:p>
                <a:r>
                  <a:rPr lang="en-US">
                    <a:noFill/>
                  </a:rPr>
                  <a:t> </a:t>
                </a:r>
              </a:p>
            </p:txBody>
          </p:sp>
        </mc:Fallback>
      </mc:AlternateContent>
    </p:spTree>
    <p:extLst>
      <p:ext uri="{BB962C8B-B14F-4D97-AF65-F5344CB8AC3E}">
        <p14:creationId xmlns:p14="http://schemas.microsoft.com/office/powerpoint/2010/main" val="2068673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5D392-5A1E-4AAD-A9F1-F7AF9581482E}"/>
              </a:ext>
            </a:extLst>
          </p:cNvPr>
          <p:cNvSpPr>
            <a:spLocks noGrp="1"/>
          </p:cNvSpPr>
          <p:nvPr>
            <p:ph type="title"/>
          </p:nvPr>
        </p:nvSpPr>
        <p:spPr/>
        <p:txBody>
          <a:bodyPr/>
          <a:lstStyle/>
          <a:p>
            <a:r>
              <a:rPr lang="en-US" dirty="0">
                <a:solidFill>
                  <a:schemeClr val="tx2">
                    <a:lumMod val="75000"/>
                  </a:schemeClr>
                </a:solidFill>
                <a:cs typeface="Times New Roman" pitchFamily="18" charset="0"/>
              </a:rPr>
              <a:t>The “3 step method”: Summary Notes</a:t>
            </a:r>
            <a:endParaRPr lang="en-US" dirty="0"/>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805DB459-2D54-471C-8610-2D24AFA00677}"/>
                  </a:ext>
                </a:extLst>
              </p:cNvPr>
              <p:cNvSpPr txBox="1">
                <a:spLocks/>
              </p:cNvSpPr>
              <p:nvPr/>
            </p:nvSpPr>
            <p:spPr>
              <a:xfrm>
                <a:off x="457200" y="1423022"/>
                <a:ext cx="8229600" cy="4816243"/>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514350" indent="-514350">
                  <a:buFont typeface="+mj-lt"/>
                  <a:buAutoNum type="arabicPeriod"/>
                </a:pPr>
                <a:r>
                  <a:rPr lang="en-US" dirty="0">
                    <a:cs typeface="Times New Roman" pitchFamily="18" charset="0"/>
                  </a:rPr>
                  <a:t>Calculate inverse demand </a:t>
                </a:r>
                <a:endParaRPr lang="en-US" sz="1800" dirty="0">
                  <a:cs typeface="Times New Roman" pitchFamily="18" charset="0"/>
                </a:endParaRPr>
              </a:p>
              <a:p>
                <a:pPr marL="914400" lvl="1" indent="-514350"/>
                <a:r>
                  <a:rPr lang="en-US" dirty="0">
                    <a:cs typeface="Times New Roman" pitchFamily="18" charset="0"/>
                  </a:rPr>
                  <a:t>Rearrange demand such that </a:t>
                </a:r>
                <a:r>
                  <a:rPr lang="en-US" i="1" dirty="0">
                    <a:cs typeface="Times New Roman" pitchFamily="18" charset="0"/>
                  </a:rPr>
                  <a:t>P</a:t>
                </a:r>
                <a:r>
                  <a:rPr lang="en-US" dirty="0">
                    <a:cs typeface="Times New Roman" pitchFamily="18" charset="0"/>
                  </a:rPr>
                  <a:t>  is expressed as a function of </a:t>
                </a:r>
                <a:r>
                  <a:rPr lang="en-US" i="1" dirty="0">
                    <a:cs typeface="Times New Roman" pitchFamily="18" charset="0"/>
                  </a:rPr>
                  <a:t>Q   </a:t>
                </a:r>
                <a:r>
                  <a:rPr lang="en-US" sz="1800" dirty="0">
                    <a:cs typeface="Times New Roman" pitchFamily="18" charset="0"/>
                  </a:rPr>
                  <a:t>(see Module 2, Video 1)</a:t>
                </a:r>
                <a:endParaRPr lang="en-US" sz="1800" i="1" dirty="0">
                  <a:cs typeface="Times New Roman" pitchFamily="18" charset="0"/>
                </a:endParaRPr>
              </a:p>
              <a:p>
                <a:pPr marL="914400" lvl="1" indent="-514350"/>
                <a:endParaRPr lang="en-US" sz="2000" dirty="0">
                  <a:cs typeface="Times New Roman" pitchFamily="18" charset="0"/>
                </a:endParaRPr>
              </a:p>
              <a:p>
                <a:pPr marL="514350" indent="-514350">
                  <a:buFont typeface="+mj-lt"/>
                  <a:buAutoNum type="arabicPeriod"/>
                </a:pPr>
                <a:r>
                  <a:rPr lang="en-US" dirty="0">
                    <a:cs typeface="Times New Roman" pitchFamily="18" charset="0"/>
                  </a:rPr>
                  <a:t>Calculate total revenue</a:t>
                </a:r>
              </a:p>
              <a:p>
                <a:pPr marL="914400" lvl="1" indent="-514350"/>
                <a14:m>
                  <m:oMath xmlns:m="http://schemas.openxmlformats.org/officeDocument/2006/math">
                    <m:r>
                      <a:rPr lang="en-US" b="0" i="1" smtClean="0">
                        <a:latin typeface="Cambria Math" charset="0"/>
                        <a:cs typeface="Times New Roman" pitchFamily="18" charset="0"/>
                      </a:rPr>
                      <m:t>𝑇𝑅</m:t>
                    </m:r>
                    <m:r>
                      <a:rPr lang="en-US" b="0" i="1" smtClean="0">
                        <a:latin typeface="Cambria Math" charset="0"/>
                        <a:cs typeface="Times New Roman" pitchFamily="18" charset="0"/>
                      </a:rPr>
                      <m:t>=</m:t>
                    </m:r>
                    <m:r>
                      <a:rPr lang="en-US" b="0" i="1" smtClean="0">
                        <a:latin typeface="Cambria Math" charset="0"/>
                        <a:cs typeface="Times New Roman" pitchFamily="18" charset="0"/>
                      </a:rPr>
                      <m:t>𝑃</m:t>
                    </m:r>
                    <m:r>
                      <a:rPr lang="en-US" b="0" i="1" smtClean="0">
                        <a:latin typeface="Cambria Math" charset="0"/>
                        <a:ea typeface="Cambria Math" charset="0"/>
                        <a:cs typeface="Cambria Math" charset="0"/>
                      </a:rPr>
                      <m:t>∙</m:t>
                    </m:r>
                    <m:r>
                      <a:rPr lang="en-US" b="0" i="1" smtClean="0">
                        <a:latin typeface="Cambria Math" charset="0"/>
                        <a:cs typeface="Times New Roman" pitchFamily="18" charset="0"/>
                      </a:rPr>
                      <m:t>𝑄</m:t>
                    </m:r>
                  </m:oMath>
                </a14:m>
                <a:endParaRPr lang="en-US" dirty="0">
                  <a:cs typeface="Times New Roman" pitchFamily="18" charset="0"/>
                </a:endParaRPr>
              </a:p>
              <a:p>
                <a:pPr marL="914400" lvl="1" indent="-514350"/>
                <a:r>
                  <a:rPr lang="en-US" dirty="0">
                    <a:cs typeface="Times New Roman" pitchFamily="18" charset="0"/>
                  </a:rPr>
                  <a:t>Replace </a:t>
                </a:r>
                <a:r>
                  <a:rPr lang="en-US" i="1" dirty="0">
                    <a:cs typeface="Times New Roman" pitchFamily="18" charset="0"/>
                  </a:rPr>
                  <a:t>P</a:t>
                </a:r>
                <a:r>
                  <a:rPr lang="en-US" dirty="0">
                    <a:cs typeface="Times New Roman" pitchFamily="18" charset="0"/>
                  </a:rPr>
                  <a:t>  by inverse demand so that </a:t>
                </a:r>
                <a:r>
                  <a:rPr lang="en-US" i="1" dirty="0">
                    <a:cs typeface="Times New Roman" pitchFamily="18" charset="0"/>
                  </a:rPr>
                  <a:t>TR</a:t>
                </a:r>
                <a:r>
                  <a:rPr lang="en-US" dirty="0">
                    <a:cs typeface="Times New Roman" pitchFamily="18" charset="0"/>
                  </a:rPr>
                  <a:t>  is expressed as a function of </a:t>
                </a:r>
                <a:r>
                  <a:rPr lang="en-US" i="1" dirty="0">
                    <a:cs typeface="Times New Roman" pitchFamily="18" charset="0"/>
                  </a:rPr>
                  <a:t>Q</a:t>
                </a:r>
                <a:r>
                  <a:rPr lang="en-US" dirty="0">
                    <a:cs typeface="Times New Roman" pitchFamily="18" charset="0"/>
                  </a:rPr>
                  <a:t> only</a:t>
                </a:r>
              </a:p>
              <a:p>
                <a:pPr marL="914400" lvl="1" indent="-514350"/>
                <a:endParaRPr lang="en-US" sz="2000" dirty="0">
                  <a:cs typeface="Times New Roman" pitchFamily="18" charset="0"/>
                </a:endParaRPr>
              </a:p>
              <a:p>
                <a:pPr marL="514350" indent="-514350">
                  <a:buFont typeface="+mj-lt"/>
                  <a:buAutoNum type="arabicPeriod"/>
                </a:pPr>
                <a:r>
                  <a:rPr lang="en-US" dirty="0">
                    <a:cs typeface="Times New Roman" pitchFamily="18" charset="0"/>
                  </a:rPr>
                  <a:t>Calculate marginal revenue from total revenue</a:t>
                </a:r>
              </a:p>
              <a:p>
                <a:pPr marL="914400" lvl="1" indent="-514350"/>
                <a:r>
                  <a:rPr lang="en-US" dirty="0">
                    <a:cs typeface="Times New Roman" pitchFamily="18" charset="0"/>
                  </a:rPr>
                  <a:t>Derivation of </a:t>
                </a:r>
                <a:r>
                  <a:rPr lang="en-US" i="1" dirty="0">
                    <a:cs typeface="Times New Roman" pitchFamily="18" charset="0"/>
                  </a:rPr>
                  <a:t>TR</a:t>
                </a:r>
                <a:r>
                  <a:rPr lang="en-US" dirty="0">
                    <a:cs typeface="Times New Roman" pitchFamily="18" charset="0"/>
                  </a:rPr>
                  <a:t> with respect to </a:t>
                </a:r>
                <a:r>
                  <a:rPr lang="en-US" i="1" dirty="0">
                    <a:cs typeface="Times New Roman" pitchFamily="18" charset="0"/>
                  </a:rPr>
                  <a:t>Q</a:t>
                </a:r>
              </a:p>
              <a:p>
                <a:pPr marL="514350" indent="-514350">
                  <a:buFont typeface="+mj-lt"/>
                  <a:buAutoNum type="arabicPeriod"/>
                </a:pPr>
                <a:endParaRPr lang="en-US" dirty="0">
                  <a:cs typeface="Times New Roman" pitchFamily="18" charset="0"/>
                </a:endParaRPr>
              </a:p>
            </p:txBody>
          </p:sp>
        </mc:Choice>
        <mc:Fallback xmlns="">
          <p:sp>
            <p:nvSpPr>
              <p:cNvPr id="5" name="Content Placeholder 2">
                <a:extLst>
                  <a:ext uri="{FF2B5EF4-FFF2-40B4-BE49-F238E27FC236}">
                    <a16:creationId xmlns:a16="http://schemas.microsoft.com/office/drawing/2014/main" id="{805DB459-2D54-471C-8610-2D24AFA00677}"/>
                  </a:ext>
                </a:extLst>
              </p:cNvPr>
              <p:cNvSpPr txBox="1">
                <a:spLocks noRot="1" noChangeAspect="1" noMove="1" noResize="1" noEditPoints="1" noAdjustHandles="1" noChangeArrowheads="1" noChangeShapeType="1" noTextEdit="1"/>
              </p:cNvSpPr>
              <p:nvPr/>
            </p:nvSpPr>
            <p:spPr>
              <a:xfrm>
                <a:off x="457200" y="1423022"/>
                <a:ext cx="8229600" cy="4816243"/>
              </a:xfrm>
              <a:prstGeom prst="rect">
                <a:avLst/>
              </a:prstGeom>
              <a:blipFill>
                <a:blip r:embed="rId2"/>
                <a:stretch>
                  <a:fillRect l="-1481" t="-2149"/>
                </a:stretch>
              </a:blipFill>
            </p:spPr>
            <p:txBody>
              <a:bodyPr/>
              <a:lstStyle/>
              <a:p>
                <a:r>
                  <a:rPr lang="en-US">
                    <a:noFill/>
                  </a:rPr>
                  <a:t> </a:t>
                </a:r>
              </a:p>
            </p:txBody>
          </p:sp>
        </mc:Fallback>
      </mc:AlternateContent>
      <p:grpSp>
        <p:nvGrpSpPr>
          <p:cNvPr id="8" name="Group 7">
            <a:extLst>
              <a:ext uri="{FF2B5EF4-FFF2-40B4-BE49-F238E27FC236}">
                <a16:creationId xmlns:a16="http://schemas.microsoft.com/office/drawing/2014/main" id="{5971997E-8915-4D26-B9D2-187DB5D38896}"/>
              </a:ext>
            </a:extLst>
          </p:cNvPr>
          <p:cNvGrpSpPr/>
          <p:nvPr/>
        </p:nvGrpSpPr>
        <p:grpSpPr>
          <a:xfrm>
            <a:off x="516288" y="6078029"/>
            <a:ext cx="5939215" cy="652756"/>
            <a:chOff x="-1170432" y="6255858"/>
            <a:chExt cx="4665356" cy="479484"/>
          </a:xfrm>
        </p:grpSpPr>
        <p:sp>
          <p:nvSpPr>
            <p:cNvPr id="9" name="Rectangle 3">
              <a:extLst>
                <a:ext uri="{FF2B5EF4-FFF2-40B4-BE49-F238E27FC236}">
                  <a16:creationId xmlns:a16="http://schemas.microsoft.com/office/drawing/2014/main" id="{477A5BF5-25E7-417E-84F1-1552E3B3320A}"/>
                </a:ext>
              </a:extLst>
            </p:cNvPr>
            <p:cNvSpPr txBox="1">
              <a:spLocks noChangeArrowheads="1"/>
            </p:cNvSpPr>
            <p:nvPr/>
          </p:nvSpPr>
          <p:spPr>
            <a:xfrm>
              <a:off x="-1170432" y="6255858"/>
              <a:ext cx="4665356" cy="479484"/>
            </a:xfrm>
            <a:prstGeom prst="rect">
              <a:avLst/>
            </a:prstGeom>
            <a:gradFill>
              <a:gsLst>
                <a:gs pos="44000">
                  <a:schemeClr val="bg1">
                    <a:lumMod val="85000"/>
                  </a:schemeClr>
                </a:gs>
                <a:gs pos="0">
                  <a:schemeClr val="tx1">
                    <a:lumMod val="65000"/>
                    <a:lumOff val="35000"/>
                  </a:schemeClr>
                </a:gs>
                <a:gs pos="100000">
                  <a:schemeClr val="tx1">
                    <a:lumMod val="50000"/>
                    <a:lumOff val="50000"/>
                  </a:schemeClr>
                </a:gs>
              </a:gsLst>
              <a:lin ang="5400000" scaled="1"/>
            </a:gradFill>
            <a:ln w="15875">
              <a:noFill/>
            </a:ln>
            <a:effectLst>
              <a:outerShdw blurRad="50800" dist="38100" dir="2700000" algn="tl" rotWithShape="0">
                <a:prstClr val="black">
                  <a:alpha val="40000"/>
                </a:prstClr>
              </a:outerShdw>
              <a:softEdge rad="50800"/>
            </a:effectLst>
          </p:spPr>
          <p:txBody>
            <a:bodyPr vert="horz" lIns="92069" tIns="46035" rIns="92069" bIns="46035" rtlCol="0" anchor="ctr">
              <a:normAutofit fontScale="92500"/>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600"/>
                </a:spcBef>
                <a:spcAft>
                  <a:spcPts val="563"/>
                </a:spcAft>
                <a:buNone/>
              </a:pPr>
              <a:r>
                <a:rPr lang="en-US" sz="2400" dirty="0">
                  <a:ln>
                    <a:solidFill>
                      <a:schemeClr val="bg1">
                        <a:lumMod val="50000"/>
                      </a:schemeClr>
                    </a:solidFill>
                  </a:ln>
                  <a:solidFill>
                    <a:schemeClr val="tx1"/>
                  </a:solidFill>
                  <a:latin typeface="Calibri" panose="020F0502020204030204" pitchFamily="34" charset="0"/>
                  <a:cs typeface="Times New Roman" pitchFamily="18" charset="0"/>
                </a:rPr>
                <a:t>	    </a:t>
              </a:r>
              <a:r>
                <a:rPr lang="en-US" sz="2400" dirty="0">
                  <a:solidFill>
                    <a:schemeClr val="bg2">
                      <a:lumMod val="25000"/>
                    </a:schemeClr>
                  </a:solidFill>
                  <a:latin typeface="Whitney Book" pitchFamily="50" charset="0"/>
                  <a:cs typeface="Whitney Book" pitchFamily="50" charset="0"/>
                </a:rPr>
                <a:t>PS 2 + Teaching Note Marginal Revenue </a:t>
              </a:r>
              <a:endParaRPr lang="en-US" sz="2400" dirty="0">
                <a:ln>
                  <a:solidFill>
                    <a:schemeClr val="bg1">
                      <a:lumMod val="50000"/>
                    </a:schemeClr>
                  </a:solidFill>
                </a:ln>
                <a:solidFill>
                  <a:schemeClr val="tx1"/>
                </a:solidFill>
                <a:latin typeface="Calibri" panose="020F0502020204030204" pitchFamily="34" charset="0"/>
                <a:cs typeface="Calibri" panose="020F0502020204030204" pitchFamily="34" charset="0"/>
              </a:endParaRPr>
            </a:p>
          </p:txBody>
        </p:sp>
        <p:sp>
          <p:nvSpPr>
            <p:cNvPr id="10" name="Right Arrow 1">
              <a:extLst>
                <a:ext uri="{FF2B5EF4-FFF2-40B4-BE49-F238E27FC236}">
                  <a16:creationId xmlns:a16="http://schemas.microsoft.com/office/drawing/2014/main" id="{A560746F-DF97-413E-99AB-2143710B9204}"/>
                </a:ext>
              </a:extLst>
            </p:cNvPr>
            <p:cNvSpPr/>
            <p:nvPr/>
          </p:nvSpPr>
          <p:spPr>
            <a:xfrm>
              <a:off x="-973719" y="6344601"/>
              <a:ext cx="373445" cy="301998"/>
            </a:xfrm>
            <a:prstGeom prst="rightArrow">
              <a:avLst/>
            </a:prstGeom>
            <a:solidFill>
              <a:schemeClr val="accent2"/>
            </a:solidFill>
            <a:effectLst>
              <a:outerShdw blurRad="40000" dist="23000" dir="5400000" rotWithShape="0">
                <a:srgbClr val="000000">
                  <a:alpha val="35000"/>
                </a:srgbClr>
              </a:outerShdw>
              <a:softEdge rad="254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419489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170" y="-18700"/>
            <a:ext cx="9020194" cy="1143000"/>
          </a:xfrm>
        </p:spPr>
        <p:txBody>
          <a:bodyPr/>
          <a:lstStyle/>
          <a:p>
            <a:r>
              <a:rPr lang="en-US" dirty="0" err="1">
                <a:solidFill>
                  <a:srgbClr val="002B56"/>
                </a:solidFill>
              </a:rPr>
              <a:t>Mr</a:t>
            </a:r>
            <a:r>
              <a:rPr lang="en-US" dirty="0">
                <a:solidFill>
                  <a:srgbClr val="002B56"/>
                </a:solidFill>
              </a:rPr>
              <a:t>: graphical representation</a:t>
            </a:r>
          </a:p>
        </p:txBody>
      </p:sp>
      <p:grpSp>
        <p:nvGrpSpPr>
          <p:cNvPr id="4" name="Group 43"/>
          <p:cNvGrpSpPr/>
          <p:nvPr/>
        </p:nvGrpSpPr>
        <p:grpSpPr>
          <a:xfrm>
            <a:off x="591767" y="682552"/>
            <a:ext cx="7023100" cy="3873500"/>
            <a:chOff x="990600" y="838200"/>
            <a:chExt cx="7023100" cy="3873500"/>
          </a:xfrm>
        </p:grpSpPr>
        <p:sp>
          <p:nvSpPr>
            <p:cNvPr id="5" name="Rectangle 8"/>
            <p:cNvSpPr>
              <a:spLocks noChangeArrowheads="1"/>
            </p:cNvSpPr>
            <p:nvPr/>
          </p:nvSpPr>
          <p:spPr bwMode="auto">
            <a:xfrm>
              <a:off x="7391400" y="4114800"/>
              <a:ext cx="622300" cy="596900"/>
            </a:xfrm>
            <a:prstGeom prst="rect">
              <a:avLst/>
            </a:prstGeom>
            <a:noFill/>
            <a:ln w="9525">
              <a:noFill/>
              <a:miter lim="800000"/>
              <a:headEnd/>
              <a:tailEnd/>
            </a:ln>
            <a:effectLst/>
          </p:spPr>
          <p:txBody>
            <a:bodyPr wrap="none" lIns="19050" tIns="26988" rIns="19050" bIns="26988"/>
            <a:lstStyle/>
            <a:p>
              <a:pPr>
                <a:lnSpc>
                  <a:spcPts val="2800"/>
                </a:lnSpc>
                <a:spcAft>
                  <a:spcPts val="900"/>
                </a:spcAft>
                <a:tabLst>
                  <a:tab pos="457200" algn="l"/>
                  <a:tab pos="914400" algn="l"/>
                  <a:tab pos="1371600" algn="l"/>
                </a:tabLst>
                <a:defRPr/>
              </a:pPr>
              <a:r>
                <a:rPr lang="en-US" b="0" i="1" dirty="0">
                  <a:latin typeface="+mn-lt"/>
                  <a:cs typeface="Times New Roman" pitchFamily="18" charset="0"/>
                </a:rPr>
                <a:t>Q</a:t>
              </a:r>
            </a:p>
          </p:txBody>
        </p:sp>
        <p:sp>
          <p:nvSpPr>
            <p:cNvPr id="6" name="Line 9"/>
            <p:cNvSpPr>
              <a:spLocks noChangeShapeType="1"/>
            </p:cNvSpPr>
            <p:nvPr/>
          </p:nvSpPr>
          <p:spPr bwMode="auto">
            <a:xfrm flipH="1">
              <a:off x="1371600" y="4038600"/>
              <a:ext cx="6096000" cy="0"/>
            </a:xfrm>
            <a:prstGeom prst="line">
              <a:avLst/>
            </a:prstGeom>
            <a:noFill/>
            <a:ln w="50800">
              <a:solidFill>
                <a:schemeClr val="tx1"/>
              </a:solidFill>
              <a:round/>
              <a:headEnd type="arrow" w="med" len="med"/>
              <a:tailEnd type="none" w="med" len="med"/>
            </a:ln>
          </p:spPr>
          <p:txBody>
            <a:bodyPr wrap="none" anchor="ctr"/>
            <a:lstStyle/>
            <a:p>
              <a:endParaRPr lang="en-US">
                <a:latin typeface="+mn-lt"/>
                <a:cs typeface="Times New Roman" pitchFamily="18" charset="0"/>
              </a:endParaRPr>
            </a:p>
          </p:txBody>
        </p:sp>
        <p:sp>
          <p:nvSpPr>
            <p:cNvPr id="7" name="Rectangle 10"/>
            <p:cNvSpPr>
              <a:spLocks noChangeArrowheads="1"/>
            </p:cNvSpPr>
            <p:nvPr/>
          </p:nvSpPr>
          <p:spPr bwMode="auto">
            <a:xfrm>
              <a:off x="990600" y="838200"/>
              <a:ext cx="622300" cy="596900"/>
            </a:xfrm>
            <a:prstGeom prst="rect">
              <a:avLst/>
            </a:prstGeom>
            <a:noFill/>
            <a:ln w="9525">
              <a:noFill/>
              <a:miter lim="800000"/>
              <a:headEnd/>
              <a:tailEnd/>
            </a:ln>
            <a:effectLst/>
          </p:spPr>
          <p:txBody>
            <a:bodyPr wrap="none" lIns="19050" tIns="26988" rIns="19050" bIns="26988"/>
            <a:lstStyle/>
            <a:p>
              <a:pPr>
                <a:lnSpc>
                  <a:spcPts val="2800"/>
                </a:lnSpc>
                <a:spcAft>
                  <a:spcPts val="900"/>
                </a:spcAft>
                <a:tabLst>
                  <a:tab pos="457200" algn="l"/>
                  <a:tab pos="914400" algn="l"/>
                  <a:tab pos="1371600" algn="l"/>
                </a:tabLst>
                <a:defRPr/>
              </a:pPr>
              <a:r>
                <a:rPr lang="en-US" b="0" i="1" dirty="0">
                  <a:latin typeface="+mn-lt"/>
                  <a:cs typeface="Times New Roman" pitchFamily="18" charset="0"/>
                </a:rPr>
                <a:t>P</a:t>
              </a:r>
            </a:p>
          </p:txBody>
        </p:sp>
        <p:sp>
          <p:nvSpPr>
            <p:cNvPr id="8" name="Line 12"/>
            <p:cNvSpPr>
              <a:spLocks noChangeShapeType="1"/>
            </p:cNvSpPr>
            <p:nvPr/>
          </p:nvSpPr>
          <p:spPr bwMode="auto">
            <a:xfrm>
              <a:off x="1371600" y="1143000"/>
              <a:ext cx="0" cy="2895600"/>
            </a:xfrm>
            <a:prstGeom prst="line">
              <a:avLst/>
            </a:prstGeom>
            <a:noFill/>
            <a:ln w="50800">
              <a:solidFill>
                <a:schemeClr val="tx1"/>
              </a:solidFill>
              <a:round/>
              <a:headEnd type="arrow" w="sm" len="sm"/>
              <a:tailEnd type="none" w="sm" len="sm"/>
            </a:ln>
          </p:spPr>
          <p:txBody>
            <a:bodyPr wrap="none" anchor="ctr"/>
            <a:lstStyle/>
            <a:p>
              <a:endParaRPr lang="en-US">
                <a:latin typeface="+mn-lt"/>
                <a:cs typeface="Times New Roman" pitchFamily="18" charset="0"/>
              </a:endParaRPr>
            </a:p>
          </p:txBody>
        </p:sp>
      </p:grpSp>
      <p:grpSp>
        <p:nvGrpSpPr>
          <p:cNvPr id="9" name="Group 44"/>
          <p:cNvGrpSpPr/>
          <p:nvPr/>
        </p:nvGrpSpPr>
        <p:grpSpPr>
          <a:xfrm>
            <a:off x="363167" y="1139752"/>
            <a:ext cx="6464300" cy="3263902"/>
            <a:chOff x="762000" y="1295400"/>
            <a:chExt cx="6464300" cy="3263902"/>
          </a:xfrm>
        </p:grpSpPr>
        <p:sp>
          <p:nvSpPr>
            <p:cNvPr id="10" name="Line 5"/>
            <p:cNvSpPr>
              <a:spLocks noChangeShapeType="1"/>
            </p:cNvSpPr>
            <p:nvPr/>
          </p:nvSpPr>
          <p:spPr bwMode="auto">
            <a:xfrm>
              <a:off x="1371600" y="1447800"/>
              <a:ext cx="5105400" cy="2590800"/>
            </a:xfrm>
            <a:prstGeom prst="line">
              <a:avLst/>
            </a:prstGeom>
            <a:noFill/>
            <a:ln w="50800">
              <a:solidFill>
                <a:srgbClr val="C00000"/>
              </a:solidFill>
              <a:round/>
              <a:headEnd type="none" w="sm" len="sm"/>
              <a:tailEnd type="none" w="sm" len="sm"/>
            </a:ln>
          </p:spPr>
          <p:txBody>
            <a:bodyPr wrap="none" anchor="ctr"/>
            <a:lstStyle/>
            <a:p>
              <a:endParaRPr lang="en-US">
                <a:latin typeface="+mn-lt"/>
                <a:cs typeface="Times New Roman" pitchFamily="18" charset="0"/>
              </a:endParaRPr>
            </a:p>
          </p:txBody>
        </p:sp>
        <p:sp>
          <p:nvSpPr>
            <p:cNvPr id="11" name="Rectangle 11"/>
            <p:cNvSpPr>
              <a:spLocks noChangeArrowheads="1"/>
            </p:cNvSpPr>
            <p:nvPr/>
          </p:nvSpPr>
          <p:spPr bwMode="auto">
            <a:xfrm>
              <a:off x="762000" y="1295400"/>
              <a:ext cx="685800" cy="508000"/>
            </a:xfrm>
            <a:prstGeom prst="rect">
              <a:avLst/>
            </a:prstGeom>
            <a:noFill/>
            <a:ln w="9525">
              <a:noFill/>
              <a:miter lim="800000"/>
              <a:headEnd/>
              <a:tailEnd/>
            </a:ln>
            <a:effectLst/>
          </p:spPr>
          <p:txBody>
            <a:bodyPr wrap="none" lIns="19050" tIns="26988" rIns="19050" bIns="26988"/>
            <a:lstStyle/>
            <a:p>
              <a:pPr>
                <a:lnSpc>
                  <a:spcPts val="2800"/>
                </a:lnSpc>
                <a:tabLst>
                  <a:tab pos="457200" algn="l"/>
                  <a:tab pos="914400" algn="l"/>
                  <a:tab pos="1371600" algn="l"/>
                </a:tabLst>
                <a:defRPr/>
              </a:pPr>
              <a:r>
                <a:rPr lang="en-US" b="0" dirty="0">
                  <a:latin typeface="+mn-lt"/>
                  <a:cs typeface="Times New Roman" pitchFamily="18" charset="0"/>
                </a:rPr>
                <a:t>400</a:t>
              </a:r>
            </a:p>
          </p:txBody>
        </p:sp>
        <p:sp>
          <p:nvSpPr>
            <p:cNvPr id="12" name="Rectangle 13"/>
            <p:cNvSpPr>
              <a:spLocks noChangeArrowheads="1"/>
            </p:cNvSpPr>
            <p:nvPr/>
          </p:nvSpPr>
          <p:spPr bwMode="auto">
            <a:xfrm>
              <a:off x="5918200" y="4051302"/>
              <a:ext cx="1308100" cy="508000"/>
            </a:xfrm>
            <a:prstGeom prst="rect">
              <a:avLst/>
            </a:prstGeom>
            <a:noFill/>
            <a:ln w="9525">
              <a:noFill/>
              <a:miter lim="800000"/>
              <a:headEnd/>
              <a:tailEnd/>
            </a:ln>
            <a:effectLst/>
          </p:spPr>
          <p:txBody>
            <a:bodyPr wrap="none" lIns="19050" tIns="26988" rIns="19050" bIns="26988"/>
            <a:lstStyle/>
            <a:p>
              <a:pPr>
                <a:lnSpc>
                  <a:spcPts val="2800"/>
                </a:lnSpc>
                <a:tabLst>
                  <a:tab pos="457200" algn="l"/>
                  <a:tab pos="914400" algn="l"/>
                  <a:tab pos="1371600" algn="l"/>
                </a:tabLst>
                <a:defRPr/>
              </a:pPr>
              <a:r>
                <a:rPr lang="en-US" b="0" dirty="0">
                  <a:latin typeface="+mn-lt"/>
                  <a:cs typeface="Times New Roman" pitchFamily="18" charset="0"/>
                </a:rPr>
                <a:t>1600</a:t>
              </a:r>
            </a:p>
          </p:txBody>
        </p:sp>
        <p:sp>
          <p:nvSpPr>
            <p:cNvPr id="13" name="Rectangle 14"/>
            <p:cNvSpPr>
              <a:spLocks noChangeArrowheads="1"/>
            </p:cNvSpPr>
            <p:nvPr/>
          </p:nvSpPr>
          <p:spPr bwMode="auto">
            <a:xfrm>
              <a:off x="6502400" y="3591000"/>
              <a:ext cx="381000" cy="457200"/>
            </a:xfrm>
            <a:prstGeom prst="rect">
              <a:avLst/>
            </a:prstGeom>
            <a:noFill/>
            <a:ln w="9525">
              <a:noFill/>
              <a:miter lim="800000"/>
              <a:headEnd/>
              <a:tailEnd/>
            </a:ln>
            <a:effectLst/>
          </p:spPr>
          <p:txBody>
            <a:bodyPr wrap="none" lIns="19050" tIns="26988" rIns="19050" bIns="26988"/>
            <a:lstStyle/>
            <a:p>
              <a:pPr>
                <a:lnSpc>
                  <a:spcPts val="2800"/>
                </a:lnSpc>
                <a:spcAft>
                  <a:spcPts val="900"/>
                </a:spcAft>
                <a:tabLst>
                  <a:tab pos="457200" algn="l"/>
                  <a:tab pos="914400" algn="l"/>
                  <a:tab pos="1371600" algn="l"/>
                </a:tabLst>
                <a:defRPr/>
              </a:pPr>
              <a:r>
                <a:rPr lang="en-US" b="0" i="1" dirty="0">
                  <a:solidFill>
                    <a:srgbClr val="C00000"/>
                  </a:solidFill>
                  <a:latin typeface="+mn-lt"/>
                  <a:cs typeface="Times New Roman" pitchFamily="18" charset="0"/>
                </a:rPr>
                <a:t>D</a:t>
              </a:r>
            </a:p>
          </p:txBody>
        </p:sp>
      </p:grpSp>
      <p:grpSp>
        <p:nvGrpSpPr>
          <p:cNvPr id="14" name="Group 46"/>
          <p:cNvGrpSpPr/>
          <p:nvPr/>
        </p:nvGrpSpPr>
        <p:grpSpPr>
          <a:xfrm>
            <a:off x="972767" y="1292152"/>
            <a:ext cx="3563511" cy="2974977"/>
            <a:chOff x="1371600" y="1447800"/>
            <a:chExt cx="3563511" cy="2974977"/>
          </a:xfrm>
        </p:grpSpPr>
        <p:sp>
          <p:nvSpPr>
            <p:cNvPr id="15" name="Rectangle 16"/>
            <p:cNvSpPr>
              <a:spLocks noChangeArrowheads="1"/>
            </p:cNvSpPr>
            <p:nvPr/>
          </p:nvSpPr>
          <p:spPr bwMode="auto">
            <a:xfrm>
              <a:off x="3957211" y="4038600"/>
              <a:ext cx="977900" cy="381000"/>
            </a:xfrm>
            <a:prstGeom prst="rect">
              <a:avLst/>
            </a:prstGeom>
            <a:noFill/>
            <a:ln w="9525">
              <a:noFill/>
              <a:miter lim="800000"/>
              <a:headEnd/>
              <a:tailEnd/>
            </a:ln>
            <a:effectLst/>
          </p:spPr>
          <p:txBody>
            <a:bodyPr wrap="none" lIns="19050" tIns="26988" rIns="19050" bIns="26988"/>
            <a:lstStyle/>
            <a:p>
              <a:pPr>
                <a:lnSpc>
                  <a:spcPts val="2800"/>
                </a:lnSpc>
                <a:tabLst>
                  <a:tab pos="457200" algn="l"/>
                  <a:tab pos="914400" algn="l"/>
                  <a:tab pos="1371600" algn="l"/>
                </a:tabLst>
                <a:defRPr/>
              </a:pPr>
              <a:r>
                <a:rPr lang="en-US" b="0" dirty="0">
                  <a:latin typeface="+mn-lt"/>
                  <a:cs typeface="Times New Roman" pitchFamily="18" charset="0"/>
                </a:rPr>
                <a:t>800</a:t>
              </a:r>
            </a:p>
          </p:txBody>
        </p:sp>
        <p:sp>
          <p:nvSpPr>
            <p:cNvPr id="16" name="Rectangle 17"/>
            <p:cNvSpPr>
              <a:spLocks noChangeArrowheads="1"/>
            </p:cNvSpPr>
            <p:nvPr/>
          </p:nvSpPr>
          <p:spPr bwMode="auto">
            <a:xfrm>
              <a:off x="1600200" y="2057400"/>
              <a:ext cx="685800" cy="457200"/>
            </a:xfrm>
            <a:prstGeom prst="rect">
              <a:avLst/>
            </a:prstGeom>
            <a:noFill/>
            <a:ln w="9525">
              <a:noFill/>
              <a:miter lim="800000"/>
              <a:headEnd/>
              <a:tailEnd/>
            </a:ln>
            <a:effectLst/>
          </p:spPr>
          <p:txBody>
            <a:bodyPr wrap="none" lIns="19050" tIns="26988" rIns="19050" bIns="26988"/>
            <a:lstStyle/>
            <a:p>
              <a:pPr>
                <a:lnSpc>
                  <a:spcPts val="2800"/>
                </a:lnSpc>
                <a:spcAft>
                  <a:spcPts val="900"/>
                </a:spcAft>
                <a:tabLst>
                  <a:tab pos="457200" algn="l"/>
                  <a:tab pos="914400" algn="l"/>
                  <a:tab pos="1371600" algn="l"/>
                </a:tabLst>
                <a:defRPr/>
              </a:pPr>
              <a:r>
                <a:rPr lang="en-US" b="0" i="1" dirty="0">
                  <a:solidFill>
                    <a:srgbClr val="0070C0"/>
                  </a:solidFill>
                  <a:latin typeface="+mn-lt"/>
                  <a:cs typeface="Times New Roman" pitchFamily="18" charset="0"/>
                </a:rPr>
                <a:t>MR</a:t>
              </a:r>
            </a:p>
          </p:txBody>
        </p:sp>
        <p:sp>
          <p:nvSpPr>
            <p:cNvPr id="17" name="Line 18"/>
            <p:cNvSpPr>
              <a:spLocks noChangeShapeType="1"/>
            </p:cNvSpPr>
            <p:nvPr/>
          </p:nvSpPr>
          <p:spPr bwMode="auto">
            <a:xfrm>
              <a:off x="1371600" y="1447800"/>
              <a:ext cx="3173415" cy="2974977"/>
            </a:xfrm>
            <a:prstGeom prst="line">
              <a:avLst/>
            </a:prstGeom>
            <a:noFill/>
            <a:ln w="50800">
              <a:solidFill>
                <a:schemeClr val="accent1">
                  <a:lumMod val="75000"/>
                </a:schemeClr>
              </a:solidFill>
              <a:round/>
              <a:headEnd type="none" w="sm" len="sm"/>
              <a:tailEnd type="none" w="sm" len="sm"/>
            </a:ln>
          </p:spPr>
          <p:txBody>
            <a:bodyPr wrap="none" anchor="ctr"/>
            <a:lstStyle/>
            <a:p>
              <a:endParaRPr lang="en-US">
                <a:latin typeface="+mn-lt"/>
                <a:cs typeface="Times New Roman" pitchFamily="18" charset="0"/>
              </a:endParaRPr>
            </a:p>
          </p:txBody>
        </p:sp>
      </p:grpSp>
      <p:grpSp>
        <p:nvGrpSpPr>
          <p:cNvPr id="18" name="Group 47"/>
          <p:cNvGrpSpPr/>
          <p:nvPr/>
        </p:nvGrpSpPr>
        <p:grpSpPr>
          <a:xfrm>
            <a:off x="3768103" y="1977952"/>
            <a:ext cx="1612900" cy="1905000"/>
            <a:chOff x="4191000" y="2133600"/>
            <a:chExt cx="1612900" cy="1905000"/>
          </a:xfrm>
        </p:grpSpPr>
        <p:sp>
          <p:nvSpPr>
            <p:cNvPr id="21" name="Line 23"/>
            <p:cNvSpPr>
              <a:spLocks noChangeShapeType="1"/>
            </p:cNvSpPr>
            <p:nvPr/>
          </p:nvSpPr>
          <p:spPr bwMode="auto">
            <a:xfrm>
              <a:off x="4191000" y="2895600"/>
              <a:ext cx="2" cy="1143000"/>
            </a:xfrm>
            <a:prstGeom prst="line">
              <a:avLst/>
            </a:prstGeom>
            <a:noFill/>
            <a:ln w="25400">
              <a:solidFill>
                <a:schemeClr val="tx1"/>
              </a:solidFill>
              <a:prstDash val="sysDash"/>
              <a:round/>
              <a:headEnd type="none" w="sm" len="sm"/>
              <a:tailEnd type="none" w="sm" len="sm"/>
            </a:ln>
          </p:spPr>
          <p:txBody>
            <a:bodyPr wrap="none" anchor="ctr"/>
            <a:lstStyle/>
            <a:p>
              <a:endParaRPr lang="en-US">
                <a:latin typeface="+mn-lt"/>
                <a:cs typeface="Times New Roman" pitchFamily="18" charset="0"/>
              </a:endParaRPr>
            </a:p>
          </p:txBody>
        </p:sp>
        <p:grpSp>
          <p:nvGrpSpPr>
            <p:cNvPr id="22" name="Group 45"/>
            <p:cNvGrpSpPr/>
            <p:nvPr/>
          </p:nvGrpSpPr>
          <p:grpSpPr>
            <a:xfrm>
              <a:off x="4191000" y="2133600"/>
              <a:ext cx="1612900" cy="647700"/>
              <a:chOff x="4191000" y="2133600"/>
              <a:chExt cx="1612900" cy="647700"/>
            </a:xfrm>
          </p:grpSpPr>
          <p:sp>
            <p:nvSpPr>
              <p:cNvPr id="23" name="Rectangle 21"/>
              <p:cNvSpPr>
                <a:spLocks noChangeArrowheads="1"/>
              </p:cNvSpPr>
              <p:nvPr/>
            </p:nvSpPr>
            <p:spPr bwMode="auto">
              <a:xfrm>
                <a:off x="4495800" y="2133600"/>
                <a:ext cx="1308100" cy="596900"/>
              </a:xfrm>
              <a:prstGeom prst="rect">
                <a:avLst/>
              </a:prstGeom>
              <a:noFill/>
              <a:ln w="9525">
                <a:noFill/>
                <a:miter lim="800000"/>
                <a:headEnd/>
                <a:tailEnd/>
              </a:ln>
              <a:effectLst/>
            </p:spPr>
            <p:txBody>
              <a:bodyPr wrap="none" lIns="19050" tIns="26988" rIns="19050" bIns="26988"/>
              <a:lstStyle/>
              <a:p>
                <a:pPr>
                  <a:lnSpc>
                    <a:spcPts val="2800"/>
                  </a:lnSpc>
                  <a:spcAft>
                    <a:spcPts val="900"/>
                  </a:spcAft>
                  <a:tabLst>
                    <a:tab pos="457200" algn="l"/>
                    <a:tab pos="914400" algn="l"/>
                    <a:tab pos="1371600" algn="l"/>
                  </a:tabLst>
                  <a:defRPr/>
                </a:pPr>
                <a:r>
                  <a:rPr lang="en-US" b="0" i="1" dirty="0">
                    <a:solidFill>
                      <a:srgbClr val="C00000"/>
                    </a:solidFill>
                    <a:latin typeface="+mn-lt"/>
                    <a:cs typeface="Times New Roman" pitchFamily="18" charset="0"/>
                  </a:rPr>
                  <a:t>E</a:t>
                </a:r>
                <a:r>
                  <a:rPr lang="en-US" sz="2000" i="1" baseline="-25000" dirty="0">
                    <a:solidFill>
                      <a:srgbClr val="C00000"/>
                    </a:solidFill>
                    <a:cs typeface="Times New Roman" pitchFamily="18" charset="0"/>
                  </a:rPr>
                  <a:t>D</a:t>
                </a:r>
                <a:r>
                  <a:rPr lang="en-US" b="0" dirty="0">
                    <a:solidFill>
                      <a:srgbClr val="C00000"/>
                    </a:solidFill>
                    <a:latin typeface="+mn-lt"/>
                    <a:cs typeface="Times New Roman" pitchFamily="18" charset="0"/>
                  </a:rPr>
                  <a:t> = -1</a:t>
                </a:r>
              </a:p>
            </p:txBody>
          </p:sp>
          <p:sp>
            <p:nvSpPr>
              <p:cNvPr id="24" name="Line 24"/>
              <p:cNvSpPr>
                <a:spLocks noChangeShapeType="1"/>
              </p:cNvSpPr>
              <p:nvPr/>
            </p:nvSpPr>
            <p:spPr bwMode="auto">
              <a:xfrm flipH="1">
                <a:off x="4191000" y="2438400"/>
                <a:ext cx="292100" cy="342900"/>
              </a:xfrm>
              <a:prstGeom prst="line">
                <a:avLst/>
              </a:prstGeom>
              <a:noFill/>
              <a:ln w="25400">
                <a:solidFill>
                  <a:srgbClr val="C00000"/>
                </a:solidFill>
                <a:round/>
                <a:headEnd type="none" w="sm" len="sm"/>
                <a:tailEnd type="stealth" w="med" len="lg"/>
              </a:ln>
            </p:spPr>
            <p:txBody>
              <a:bodyPr wrap="none" anchor="ctr"/>
              <a:lstStyle/>
              <a:p>
                <a:endParaRPr lang="en-US">
                  <a:latin typeface="+mn-lt"/>
                  <a:cs typeface="Times New Roman" pitchFamily="18" charset="0"/>
                </a:endParaRPr>
              </a:p>
            </p:txBody>
          </p:sp>
        </p:grpSp>
      </p:grpSp>
      <p:grpSp>
        <p:nvGrpSpPr>
          <p:cNvPr id="25" name="Group 49"/>
          <p:cNvGrpSpPr/>
          <p:nvPr/>
        </p:nvGrpSpPr>
        <p:grpSpPr>
          <a:xfrm>
            <a:off x="3539508" y="3946747"/>
            <a:ext cx="711200" cy="2967180"/>
            <a:chOff x="3962400" y="4051302"/>
            <a:chExt cx="711200" cy="3263898"/>
          </a:xfrm>
        </p:grpSpPr>
        <p:sp>
          <p:nvSpPr>
            <p:cNvPr id="26" name="Line 31"/>
            <p:cNvSpPr>
              <a:spLocks noChangeShapeType="1"/>
            </p:cNvSpPr>
            <p:nvPr/>
          </p:nvSpPr>
          <p:spPr bwMode="auto">
            <a:xfrm>
              <a:off x="4178300" y="4051302"/>
              <a:ext cx="12700" cy="2806698"/>
            </a:xfrm>
            <a:prstGeom prst="line">
              <a:avLst/>
            </a:prstGeom>
            <a:noFill/>
            <a:ln w="25400">
              <a:solidFill>
                <a:schemeClr val="tx1"/>
              </a:solidFill>
              <a:prstDash val="sysDash"/>
              <a:round/>
              <a:headEnd type="none" w="sm" len="sm"/>
              <a:tailEnd type="none" w="sm" len="sm"/>
            </a:ln>
          </p:spPr>
          <p:txBody>
            <a:bodyPr wrap="none" anchor="ctr"/>
            <a:lstStyle/>
            <a:p>
              <a:endParaRPr lang="en-US">
                <a:latin typeface="+mn-lt"/>
                <a:cs typeface="Times New Roman" pitchFamily="18" charset="0"/>
              </a:endParaRPr>
            </a:p>
          </p:txBody>
        </p:sp>
        <p:sp>
          <p:nvSpPr>
            <p:cNvPr id="27" name="Rectangle 32"/>
            <p:cNvSpPr>
              <a:spLocks noChangeArrowheads="1"/>
            </p:cNvSpPr>
            <p:nvPr/>
          </p:nvSpPr>
          <p:spPr bwMode="auto">
            <a:xfrm>
              <a:off x="3962400" y="6858000"/>
              <a:ext cx="711200" cy="457200"/>
            </a:xfrm>
            <a:prstGeom prst="rect">
              <a:avLst/>
            </a:prstGeom>
            <a:noFill/>
            <a:ln w="9525">
              <a:noFill/>
              <a:miter lim="800000"/>
              <a:headEnd/>
              <a:tailEnd/>
            </a:ln>
            <a:effectLst/>
          </p:spPr>
          <p:txBody>
            <a:bodyPr wrap="none" lIns="19050" tIns="26988" rIns="19050" bIns="26988"/>
            <a:lstStyle/>
            <a:p>
              <a:pPr>
                <a:lnSpc>
                  <a:spcPts val="2800"/>
                </a:lnSpc>
                <a:tabLst>
                  <a:tab pos="457200" algn="l"/>
                  <a:tab pos="914400" algn="l"/>
                  <a:tab pos="1371600" algn="l"/>
                </a:tabLst>
                <a:defRPr/>
              </a:pPr>
              <a:r>
                <a:rPr lang="en-US" b="0" dirty="0">
                  <a:latin typeface="+mn-lt"/>
                  <a:cs typeface="Times New Roman" pitchFamily="18" charset="0"/>
                </a:rPr>
                <a:t>800</a:t>
              </a:r>
            </a:p>
          </p:txBody>
        </p:sp>
      </p:grpSp>
      <mc:AlternateContent xmlns:mc="http://schemas.openxmlformats.org/markup-compatibility/2006" xmlns:a14="http://schemas.microsoft.com/office/drawing/2010/main">
        <mc:Choice Requires="a14">
          <p:sp>
            <p:nvSpPr>
              <p:cNvPr id="28" name="Rectangle 41"/>
              <p:cNvSpPr>
                <a:spLocks noChangeArrowheads="1"/>
              </p:cNvSpPr>
              <p:nvPr/>
            </p:nvSpPr>
            <p:spPr bwMode="auto">
              <a:xfrm>
                <a:off x="6713869" y="1260247"/>
                <a:ext cx="2438400" cy="673100"/>
              </a:xfrm>
              <a:prstGeom prst="rect">
                <a:avLst/>
              </a:prstGeom>
              <a:noFill/>
              <a:ln w="9525">
                <a:noFill/>
                <a:miter lim="800000"/>
                <a:headEnd/>
                <a:tailEnd/>
              </a:ln>
              <a:effectLst/>
            </p:spPr>
            <p:txBody>
              <a:bodyPr wrap="none" lIns="19050" tIns="26988" rIns="19050" bIns="26988"/>
              <a:lstStyle/>
              <a:p>
                <a:pPr>
                  <a:lnSpc>
                    <a:spcPts val="2800"/>
                  </a:lnSpc>
                  <a:spcAft>
                    <a:spcPts val="900"/>
                  </a:spcAft>
                  <a:tabLst>
                    <a:tab pos="457200" algn="l"/>
                    <a:tab pos="914400" algn="l"/>
                    <a:tab pos="1371600" algn="l"/>
                  </a:tabLst>
                  <a:defRPr/>
                </a:pPr>
                <a14:m>
                  <m:oMathPara xmlns:m="http://schemas.openxmlformats.org/officeDocument/2006/math">
                    <m:oMath>
                      <m:r>
                        <a:rPr lang="en-US" b="0" i="1" dirty="0" smtClean="0">
                          <a:latin typeface="Cambria Math" panose="02040503050406030204" pitchFamily="18" charset="0"/>
                          <a:cs typeface="Times New Roman" pitchFamily="18" charset="0"/>
                        </a:rPr>
                        <m:t>𝑄</m:t>
                      </m:r>
                      <m:r>
                        <a:rPr lang="en-US" b="0" i="1" dirty="0" smtClean="0">
                          <a:latin typeface="Cambria Math" panose="02040503050406030204" pitchFamily="18" charset="0"/>
                          <a:cs typeface="Times New Roman" pitchFamily="18" charset="0"/>
                        </a:rPr>
                        <m:t>  =  1,600 – 4</m:t>
                      </m:r>
                      <m:r>
                        <a:rPr lang="en-US" b="0" i="1" dirty="0">
                          <a:latin typeface="Cambria Math" panose="02040503050406030204" pitchFamily="18" charset="0"/>
                          <a:cs typeface="Times New Roman" pitchFamily="18" charset="0"/>
                        </a:rPr>
                        <m:t>𝑃</m:t>
                      </m:r>
                    </m:oMath>
                  </m:oMathPara>
                </a14:m>
                <a:endParaRPr lang="en-US" b="0" dirty="0">
                  <a:latin typeface="+mn-lt"/>
                  <a:cs typeface="Times New Roman" pitchFamily="18" charset="0"/>
                </a:endParaRPr>
              </a:p>
            </p:txBody>
          </p:sp>
        </mc:Choice>
        <mc:Fallback xmlns="">
          <p:sp>
            <p:nvSpPr>
              <p:cNvPr id="28" name="Rectangle 41"/>
              <p:cNvSpPr>
                <a:spLocks noRot="1" noChangeAspect="1" noMove="1" noResize="1" noEditPoints="1" noAdjustHandles="1" noChangeArrowheads="1" noChangeShapeType="1" noTextEdit="1"/>
              </p:cNvSpPr>
              <p:nvPr/>
            </p:nvSpPr>
            <p:spPr bwMode="auto">
              <a:xfrm>
                <a:off x="6713869" y="1260247"/>
                <a:ext cx="2438400" cy="673100"/>
              </a:xfrm>
              <a:prstGeom prst="rect">
                <a:avLst/>
              </a:prstGeom>
              <a:blipFill>
                <a:blip r:embed="rId3"/>
                <a:stretch>
                  <a:fillRect/>
                </a:stretch>
              </a:blipFill>
              <a:ln w="9525">
                <a:noFill/>
                <a:miter lim="800000"/>
                <a:headEnd/>
                <a:tailEnd/>
              </a:ln>
              <a:effectLst/>
            </p:spPr>
            <p:txBody>
              <a:bodyPr/>
              <a:lstStyle/>
              <a:p>
                <a:r>
                  <a:rPr lang="en-US">
                    <a:noFill/>
                  </a:rPr>
                  <a:t> </a:t>
                </a:r>
              </a:p>
            </p:txBody>
          </p:sp>
        </mc:Fallback>
      </mc:AlternateContent>
      <p:grpSp>
        <p:nvGrpSpPr>
          <p:cNvPr id="30" name="Group 50"/>
          <p:cNvGrpSpPr/>
          <p:nvPr/>
        </p:nvGrpSpPr>
        <p:grpSpPr>
          <a:xfrm>
            <a:off x="972772" y="4416069"/>
            <a:ext cx="5905500" cy="2078182"/>
            <a:chOff x="1371600" y="4572000"/>
            <a:chExt cx="5905500" cy="2286000"/>
          </a:xfrm>
        </p:grpSpPr>
        <p:sp>
          <p:nvSpPr>
            <p:cNvPr id="31" name="Arc 35"/>
            <p:cNvSpPr>
              <a:spLocks/>
            </p:cNvSpPr>
            <p:nvPr/>
          </p:nvSpPr>
          <p:spPr bwMode="auto">
            <a:xfrm>
              <a:off x="1371600" y="4572000"/>
              <a:ext cx="2743200" cy="2286000"/>
            </a:xfrm>
            <a:custGeom>
              <a:avLst/>
              <a:gdLst>
                <a:gd name="T0" fmla="*/ 0 w 21600"/>
                <a:gd name="T1" fmla="*/ 1383 h 21600"/>
                <a:gd name="T2" fmla="*/ 1190 w 21600"/>
                <a:gd name="T3" fmla="*/ 0 h 21600"/>
                <a:gd name="T4" fmla="*/ 1191 w 21600"/>
                <a:gd name="T5" fmla="*/ 138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584"/>
                  </a:moveTo>
                  <a:cubicBezTo>
                    <a:pt x="8" y="9667"/>
                    <a:pt x="9665" y="9"/>
                    <a:pt x="21582" y="0"/>
                  </a:cubicBezTo>
                </a:path>
                <a:path w="21600" h="21600" stroke="0" extrusionOk="0">
                  <a:moveTo>
                    <a:pt x="0" y="21584"/>
                  </a:moveTo>
                  <a:cubicBezTo>
                    <a:pt x="8" y="9667"/>
                    <a:pt x="9665" y="9"/>
                    <a:pt x="21582" y="0"/>
                  </a:cubicBezTo>
                  <a:lnTo>
                    <a:pt x="21600" y="21600"/>
                  </a:lnTo>
                  <a:close/>
                </a:path>
              </a:pathLst>
            </a:custGeom>
            <a:noFill/>
            <a:ln w="50800" cap="rnd">
              <a:solidFill>
                <a:srgbClr val="FFC000"/>
              </a:solidFill>
              <a:round/>
              <a:headEnd type="none" w="sm" len="sm"/>
              <a:tailEnd type="none" w="sm" len="sm"/>
            </a:ln>
          </p:spPr>
          <p:txBody>
            <a:bodyPr wrap="none" anchor="ctr"/>
            <a:lstStyle/>
            <a:p>
              <a:endParaRPr lang="en-US">
                <a:latin typeface="+mn-lt"/>
                <a:cs typeface="Times New Roman" pitchFamily="18" charset="0"/>
              </a:endParaRPr>
            </a:p>
          </p:txBody>
        </p:sp>
        <p:sp>
          <p:nvSpPr>
            <p:cNvPr id="32" name="Arc 36"/>
            <p:cNvSpPr>
              <a:spLocks/>
            </p:cNvSpPr>
            <p:nvPr/>
          </p:nvSpPr>
          <p:spPr bwMode="auto">
            <a:xfrm>
              <a:off x="4191000" y="4572000"/>
              <a:ext cx="2819400" cy="2286000"/>
            </a:xfrm>
            <a:custGeom>
              <a:avLst/>
              <a:gdLst>
                <a:gd name="T0" fmla="*/ 0 w 21615"/>
                <a:gd name="T1" fmla="*/ 0 h 21600"/>
                <a:gd name="T2" fmla="*/ 1447 w 21615"/>
                <a:gd name="T3" fmla="*/ 1408 h 21600"/>
                <a:gd name="T4" fmla="*/ 1 w 21615"/>
                <a:gd name="T5" fmla="*/ 1408 h 21600"/>
                <a:gd name="T6" fmla="*/ 0 60000 65536"/>
                <a:gd name="T7" fmla="*/ 0 60000 65536"/>
                <a:gd name="T8" fmla="*/ 0 60000 65536"/>
                <a:gd name="T9" fmla="*/ 0 w 21615"/>
                <a:gd name="T10" fmla="*/ 0 h 21600"/>
                <a:gd name="T11" fmla="*/ 21615 w 21615"/>
                <a:gd name="T12" fmla="*/ 21600 h 21600"/>
              </a:gdLst>
              <a:ahLst/>
              <a:cxnLst>
                <a:cxn ang="T6">
                  <a:pos x="T0" y="T1"/>
                </a:cxn>
                <a:cxn ang="T7">
                  <a:pos x="T2" y="T3"/>
                </a:cxn>
                <a:cxn ang="T8">
                  <a:pos x="T4" y="T5"/>
                </a:cxn>
              </a:cxnLst>
              <a:rect l="T9" t="T10" r="T11" b="T12"/>
              <a:pathLst>
                <a:path w="21615" h="21600" fill="none" extrusionOk="0">
                  <a:moveTo>
                    <a:pt x="0" y="0"/>
                  </a:moveTo>
                  <a:cubicBezTo>
                    <a:pt x="5" y="0"/>
                    <a:pt x="10" y="-1"/>
                    <a:pt x="15" y="0"/>
                  </a:cubicBezTo>
                  <a:cubicBezTo>
                    <a:pt x="11944" y="0"/>
                    <a:pt x="21615" y="9670"/>
                    <a:pt x="21615" y="21600"/>
                  </a:cubicBezTo>
                </a:path>
                <a:path w="21615" h="21600" stroke="0" extrusionOk="0">
                  <a:moveTo>
                    <a:pt x="0" y="0"/>
                  </a:moveTo>
                  <a:cubicBezTo>
                    <a:pt x="5" y="0"/>
                    <a:pt x="10" y="-1"/>
                    <a:pt x="15" y="0"/>
                  </a:cubicBezTo>
                  <a:cubicBezTo>
                    <a:pt x="11944" y="0"/>
                    <a:pt x="21615" y="9670"/>
                    <a:pt x="21615" y="21600"/>
                  </a:cubicBezTo>
                  <a:lnTo>
                    <a:pt x="15" y="21600"/>
                  </a:lnTo>
                  <a:close/>
                </a:path>
              </a:pathLst>
            </a:custGeom>
            <a:noFill/>
            <a:ln w="50800" cap="rnd">
              <a:solidFill>
                <a:srgbClr val="FFC000"/>
              </a:solidFill>
              <a:round/>
              <a:headEnd type="none" w="sm" len="sm"/>
              <a:tailEnd type="none" w="sm" len="sm"/>
            </a:ln>
          </p:spPr>
          <p:txBody>
            <a:bodyPr wrap="none" anchor="ctr"/>
            <a:lstStyle/>
            <a:p>
              <a:endParaRPr lang="en-US">
                <a:latin typeface="+mn-lt"/>
                <a:cs typeface="Times New Roman" pitchFamily="18" charset="0"/>
              </a:endParaRPr>
            </a:p>
          </p:txBody>
        </p:sp>
        <p:sp>
          <p:nvSpPr>
            <p:cNvPr id="33" name="Rectangle 37"/>
            <p:cNvSpPr>
              <a:spLocks noChangeArrowheads="1"/>
            </p:cNvSpPr>
            <p:nvPr/>
          </p:nvSpPr>
          <p:spPr bwMode="auto">
            <a:xfrm>
              <a:off x="6400800" y="5029200"/>
              <a:ext cx="876300" cy="596900"/>
            </a:xfrm>
            <a:prstGeom prst="rect">
              <a:avLst/>
            </a:prstGeom>
            <a:noFill/>
            <a:ln w="9525">
              <a:noFill/>
              <a:miter lim="800000"/>
              <a:headEnd/>
              <a:tailEnd/>
            </a:ln>
            <a:effectLst/>
          </p:spPr>
          <p:txBody>
            <a:bodyPr wrap="none" lIns="19050" tIns="26988" rIns="19050" bIns="26988"/>
            <a:lstStyle/>
            <a:p>
              <a:pPr>
                <a:lnSpc>
                  <a:spcPts val="2800"/>
                </a:lnSpc>
                <a:spcAft>
                  <a:spcPts val="900"/>
                </a:spcAft>
                <a:tabLst>
                  <a:tab pos="457200" algn="l"/>
                  <a:tab pos="914400" algn="l"/>
                  <a:tab pos="1371600" algn="l"/>
                </a:tabLst>
                <a:defRPr/>
              </a:pPr>
              <a:r>
                <a:rPr lang="en-US" b="0" i="1" dirty="0">
                  <a:solidFill>
                    <a:srgbClr val="FFC000"/>
                  </a:solidFill>
                  <a:latin typeface="+mn-lt"/>
                  <a:cs typeface="Times New Roman" pitchFamily="18" charset="0"/>
                </a:rPr>
                <a:t>TR</a:t>
              </a:r>
            </a:p>
          </p:txBody>
        </p:sp>
      </p:grpSp>
      <p:grpSp>
        <p:nvGrpSpPr>
          <p:cNvPr id="37" name="Group 51"/>
          <p:cNvGrpSpPr/>
          <p:nvPr/>
        </p:nvGrpSpPr>
        <p:grpSpPr>
          <a:xfrm>
            <a:off x="972772" y="4086445"/>
            <a:ext cx="6718300" cy="2967182"/>
            <a:chOff x="1371600" y="4191000"/>
            <a:chExt cx="6718300" cy="3263900"/>
          </a:xfrm>
        </p:grpSpPr>
        <p:grpSp>
          <p:nvGrpSpPr>
            <p:cNvPr id="38" name="Group 48"/>
            <p:cNvGrpSpPr/>
            <p:nvPr/>
          </p:nvGrpSpPr>
          <p:grpSpPr>
            <a:xfrm>
              <a:off x="1371600" y="4191000"/>
              <a:ext cx="6172200" cy="2667000"/>
              <a:chOff x="1371600" y="4191000"/>
              <a:chExt cx="6172200" cy="2667000"/>
            </a:xfrm>
          </p:grpSpPr>
          <p:sp>
            <p:nvSpPr>
              <p:cNvPr id="40" name="Line 28"/>
              <p:cNvSpPr>
                <a:spLocks noChangeShapeType="1"/>
              </p:cNvSpPr>
              <p:nvPr/>
            </p:nvSpPr>
            <p:spPr bwMode="auto">
              <a:xfrm>
                <a:off x="1371600" y="4191000"/>
                <a:ext cx="0" cy="2667000"/>
              </a:xfrm>
              <a:prstGeom prst="line">
                <a:avLst/>
              </a:prstGeom>
              <a:noFill/>
              <a:ln w="50800">
                <a:solidFill>
                  <a:schemeClr val="tx1"/>
                </a:solidFill>
                <a:round/>
                <a:headEnd type="arrow" w="sm" len="sm"/>
                <a:tailEnd type="none" w="sm" len="sm"/>
              </a:ln>
            </p:spPr>
            <p:txBody>
              <a:bodyPr wrap="none" anchor="ctr"/>
              <a:lstStyle/>
              <a:p>
                <a:endParaRPr lang="en-US">
                  <a:latin typeface="+mn-lt"/>
                  <a:cs typeface="Times New Roman" pitchFamily="18" charset="0"/>
                </a:endParaRPr>
              </a:p>
            </p:txBody>
          </p:sp>
          <p:sp>
            <p:nvSpPr>
              <p:cNvPr id="41" name="Line 29"/>
              <p:cNvSpPr>
                <a:spLocks noChangeShapeType="1"/>
              </p:cNvSpPr>
              <p:nvPr/>
            </p:nvSpPr>
            <p:spPr bwMode="auto">
              <a:xfrm>
                <a:off x="1371600" y="6858000"/>
                <a:ext cx="6172200" cy="0"/>
              </a:xfrm>
              <a:prstGeom prst="line">
                <a:avLst/>
              </a:prstGeom>
              <a:noFill/>
              <a:ln w="50800">
                <a:solidFill>
                  <a:schemeClr val="tx1"/>
                </a:solidFill>
                <a:round/>
                <a:headEnd type="none" w="med" len="med"/>
                <a:tailEnd type="arrow" w="med" len="med"/>
              </a:ln>
            </p:spPr>
            <p:txBody>
              <a:bodyPr wrap="none" anchor="ctr"/>
              <a:lstStyle/>
              <a:p>
                <a:endParaRPr lang="en-US">
                  <a:latin typeface="+mn-lt"/>
                  <a:cs typeface="Times New Roman" pitchFamily="18" charset="0"/>
                </a:endParaRPr>
              </a:p>
            </p:txBody>
          </p:sp>
        </p:grpSp>
        <p:sp>
          <p:nvSpPr>
            <p:cNvPr id="39" name="Rectangle 8"/>
            <p:cNvSpPr>
              <a:spLocks noChangeArrowheads="1"/>
            </p:cNvSpPr>
            <p:nvPr/>
          </p:nvSpPr>
          <p:spPr bwMode="auto">
            <a:xfrm>
              <a:off x="7467600" y="6858000"/>
              <a:ext cx="622300" cy="596900"/>
            </a:xfrm>
            <a:prstGeom prst="rect">
              <a:avLst/>
            </a:prstGeom>
            <a:noFill/>
            <a:ln w="9525">
              <a:noFill/>
              <a:miter lim="800000"/>
              <a:headEnd/>
              <a:tailEnd/>
            </a:ln>
            <a:effectLst/>
          </p:spPr>
          <p:txBody>
            <a:bodyPr wrap="none" lIns="19050" tIns="26988" rIns="19050" bIns="26988"/>
            <a:lstStyle/>
            <a:p>
              <a:pPr>
                <a:lnSpc>
                  <a:spcPts val="2800"/>
                </a:lnSpc>
                <a:spcAft>
                  <a:spcPts val="900"/>
                </a:spcAft>
                <a:tabLst>
                  <a:tab pos="457200" algn="l"/>
                  <a:tab pos="914400" algn="l"/>
                  <a:tab pos="1371600" algn="l"/>
                </a:tabLst>
                <a:defRPr/>
              </a:pPr>
              <a:r>
                <a:rPr lang="en-US" b="0" i="1" dirty="0">
                  <a:latin typeface="+mn-lt"/>
                  <a:cs typeface="Times New Roman" pitchFamily="18" charset="0"/>
                </a:rPr>
                <a:t>Q</a:t>
              </a:r>
            </a:p>
          </p:txBody>
        </p:sp>
      </p:grpSp>
      <p:grpSp>
        <p:nvGrpSpPr>
          <p:cNvPr id="42" name="Group 55"/>
          <p:cNvGrpSpPr/>
          <p:nvPr/>
        </p:nvGrpSpPr>
        <p:grpSpPr>
          <a:xfrm>
            <a:off x="958160" y="1292152"/>
            <a:ext cx="3596007" cy="679801"/>
            <a:chOff x="1356993" y="1447800"/>
            <a:chExt cx="3596007" cy="679801"/>
          </a:xfrm>
        </p:grpSpPr>
        <p:sp>
          <p:nvSpPr>
            <p:cNvPr id="43" name="Right Brace 42"/>
            <p:cNvSpPr/>
            <p:nvPr/>
          </p:nvSpPr>
          <p:spPr bwMode="auto">
            <a:xfrm rot="17817940">
              <a:off x="2700096" y="464151"/>
              <a:ext cx="320347" cy="3006553"/>
            </a:xfrm>
            <a:prstGeom prst="rightBrace">
              <a:avLst>
                <a:gd name="adj1" fmla="val 92122"/>
                <a:gd name="adj2" fmla="val 51208"/>
              </a:avLst>
            </a:prstGeom>
            <a:noFill/>
            <a:ln w="31750" cap="flat" cmpd="sng" algn="ctr">
              <a:solidFill>
                <a:srgbClr val="FF8455"/>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effectLst/>
                <a:latin typeface="+mn-lt"/>
              </a:endParaRPr>
            </a:p>
          </p:txBody>
        </p:sp>
        <p:sp>
          <p:nvSpPr>
            <p:cNvPr id="44" name="TextBox 43"/>
            <p:cNvSpPr txBox="1"/>
            <p:nvPr/>
          </p:nvSpPr>
          <p:spPr>
            <a:xfrm>
              <a:off x="2971800" y="1447800"/>
              <a:ext cx="1981200" cy="461665"/>
            </a:xfrm>
            <a:prstGeom prst="rect">
              <a:avLst/>
            </a:prstGeom>
            <a:noFill/>
          </p:spPr>
          <p:txBody>
            <a:bodyPr wrap="square" rtlCol="0">
              <a:spAutoFit/>
            </a:bodyPr>
            <a:lstStyle/>
            <a:p>
              <a:r>
                <a:rPr lang="en-US" b="0" dirty="0">
                  <a:solidFill>
                    <a:srgbClr val="FF8455"/>
                  </a:solidFill>
                  <a:latin typeface="+mn-lt"/>
                  <a:cs typeface="Times New Roman" pitchFamily="18" charset="0"/>
                </a:rPr>
                <a:t>Elastic portion</a:t>
              </a:r>
            </a:p>
          </p:txBody>
        </p:sp>
      </p:grpSp>
      <p:grpSp>
        <p:nvGrpSpPr>
          <p:cNvPr id="45" name="Group 57"/>
          <p:cNvGrpSpPr/>
          <p:nvPr/>
        </p:nvGrpSpPr>
        <p:grpSpPr>
          <a:xfrm>
            <a:off x="3786398" y="2587552"/>
            <a:ext cx="3815769" cy="682427"/>
            <a:chOff x="4185231" y="2743200"/>
            <a:chExt cx="3815769" cy="682427"/>
          </a:xfrm>
        </p:grpSpPr>
        <p:sp>
          <p:nvSpPr>
            <p:cNvPr id="46" name="Right Brace 45"/>
            <p:cNvSpPr/>
            <p:nvPr/>
          </p:nvSpPr>
          <p:spPr bwMode="auto">
            <a:xfrm rot="17823204">
              <a:off x="5279345" y="2032131"/>
              <a:ext cx="299382" cy="2487609"/>
            </a:xfrm>
            <a:prstGeom prst="rightBrace">
              <a:avLst>
                <a:gd name="adj1" fmla="val 92122"/>
                <a:gd name="adj2" fmla="val 51208"/>
              </a:avLst>
            </a:prstGeom>
            <a:noFill/>
            <a:ln w="31750" cap="flat" cmpd="sng" algn="ctr">
              <a:solidFill>
                <a:srgbClr val="FF8455"/>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effectLst/>
                <a:latin typeface="+mn-lt"/>
              </a:endParaRPr>
            </a:p>
          </p:txBody>
        </p:sp>
        <p:sp>
          <p:nvSpPr>
            <p:cNvPr id="47" name="TextBox 46"/>
            <p:cNvSpPr txBox="1"/>
            <p:nvPr/>
          </p:nvSpPr>
          <p:spPr>
            <a:xfrm>
              <a:off x="5562600" y="2743200"/>
              <a:ext cx="2438400" cy="461665"/>
            </a:xfrm>
            <a:prstGeom prst="rect">
              <a:avLst/>
            </a:prstGeom>
            <a:noFill/>
          </p:spPr>
          <p:txBody>
            <a:bodyPr wrap="square" rtlCol="0">
              <a:spAutoFit/>
            </a:bodyPr>
            <a:lstStyle/>
            <a:p>
              <a:r>
                <a:rPr lang="en-US" b="0" dirty="0">
                  <a:solidFill>
                    <a:srgbClr val="FF8455"/>
                  </a:solidFill>
                  <a:latin typeface="+mn-lt"/>
                  <a:cs typeface="Times New Roman" pitchFamily="18" charset="0"/>
                </a:rPr>
                <a:t>Inelastic portion</a:t>
              </a:r>
            </a:p>
          </p:txBody>
        </p:sp>
      </p:grpSp>
      <p:sp>
        <p:nvSpPr>
          <p:cNvPr id="3" name="Slide Number Placeholder 2">
            <a:extLst>
              <a:ext uri="{FF2B5EF4-FFF2-40B4-BE49-F238E27FC236}">
                <a16:creationId xmlns:a16="http://schemas.microsoft.com/office/drawing/2014/main" id="{437EED6B-8A76-8540-8159-8211DAF3A69B}"/>
              </a:ext>
            </a:extLst>
          </p:cNvPr>
          <p:cNvSpPr>
            <a:spLocks noGrp="1"/>
          </p:cNvSpPr>
          <p:nvPr>
            <p:ph type="sldNum" sz="quarter" idx="12"/>
          </p:nvPr>
        </p:nvSpPr>
        <p:spPr/>
        <p:txBody>
          <a:bodyPr/>
          <a:lstStyle/>
          <a:p>
            <a:fld id="{0F3206DB-9488-D04D-BDD1-A7C9D84C4579}" type="slidenum">
              <a:rPr lang="en-US" i="1" smtClean="0"/>
              <a:t>18</a:t>
            </a:fld>
            <a:endParaRPr lang="en-US" i="1" dirty="0"/>
          </a:p>
        </p:txBody>
      </p:sp>
      <mc:AlternateContent xmlns:mc="http://schemas.openxmlformats.org/markup-compatibility/2006" xmlns:a14="http://schemas.microsoft.com/office/drawing/2010/main">
        <mc:Choice Requires="a14">
          <p:sp>
            <p:nvSpPr>
              <p:cNvPr id="51" name="Rectangle 41">
                <a:extLst>
                  <a:ext uri="{FF2B5EF4-FFF2-40B4-BE49-F238E27FC236}">
                    <a16:creationId xmlns:a16="http://schemas.microsoft.com/office/drawing/2014/main" id="{3CFB0F03-9EF0-4827-A25A-71AC787FC5C2}"/>
                  </a:ext>
                </a:extLst>
              </p:cNvPr>
              <p:cNvSpPr>
                <a:spLocks noChangeArrowheads="1"/>
              </p:cNvSpPr>
              <p:nvPr/>
            </p:nvSpPr>
            <p:spPr bwMode="auto">
              <a:xfrm>
                <a:off x="6705600" y="1616755"/>
                <a:ext cx="2438400" cy="458417"/>
              </a:xfrm>
              <a:prstGeom prst="rect">
                <a:avLst/>
              </a:prstGeom>
              <a:noFill/>
              <a:ln w="9525">
                <a:noFill/>
                <a:miter lim="800000"/>
                <a:headEnd/>
                <a:tailEnd/>
              </a:ln>
              <a:effectLst/>
            </p:spPr>
            <p:txBody>
              <a:bodyPr wrap="none" lIns="19050" tIns="26988" rIns="19050" bIns="26988"/>
              <a:lstStyle/>
              <a:p>
                <a:pPr>
                  <a:lnSpc>
                    <a:spcPts val="2800"/>
                  </a:lnSpc>
                  <a:spcAft>
                    <a:spcPts val="900"/>
                  </a:spcAft>
                  <a:tabLst>
                    <a:tab pos="457200" algn="l"/>
                    <a:tab pos="914400" algn="l"/>
                    <a:tab pos="1371600" algn="l"/>
                  </a:tabLst>
                  <a:defRPr/>
                </a:pPr>
                <a14:m>
                  <m:oMathPara xmlns:m="http://schemas.openxmlformats.org/officeDocument/2006/math">
                    <m:oMath>
                      <m:r>
                        <a:rPr lang="en-US" b="0" i="1" dirty="0" smtClean="0">
                          <a:latin typeface="Cambria Math" panose="02040503050406030204" pitchFamily="18" charset="0"/>
                          <a:cs typeface="Times New Roman" pitchFamily="18" charset="0"/>
                        </a:rPr>
                        <m:t>𝑃</m:t>
                      </m:r>
                      <m:r>
                        <a:rPr lang="en-US" b="0" i="1" dirty="0" smtClean="0">
                          <a:latin typeface="Cambria Math" panose="02040503050406030204" pitchFamily="18" charset="0"/>
                          <a:cs typeface="Times New Roman" pitchFamily="18" charset="0"/>
                        </a:rPr>
                        <m:t>  =  400 – </m:t>
                      </m:r>
                      <m:r>
                        <a:rPr lang="en-US" i="1" dirty="0">
                          <a:latin typeface="Cambria Math" panose="02040503050406030204" pitchFamily="18" charset="0"/>
                          <a:cs typeface="Times New Roman" pitchFamily="18" charset="0"/>
                        </a:rPr>
                        <m:t>𝑄</m:t>
                      </m:r>
                      <m:r>
                        <a:rPr lang="en-US" i="1" dirty="0">
                          <a:latin typeface="Cambria Math" panose="02040503050406030204" pitchFamily="18" charset="0"/>
                          <a:cs typeface="Times New Roman" pitchFamily="18" charset="0"/>
                        </a:rPr>
                        <m:t>/4</m:t>
                      </m:r>
                    </m:oMath>
                  </m:oMathPara>
                </a14:m>
                <a:endParaRPr lang="en-US" dirty="0">
                  <a:cs typeface="Times New Roman" pitchFamily="18" charset="0"/>
                </a:endParaRPr>
              </a:p>
              <a:p>
                <a:pPr>
                  <a:lnSpc>
                    <a:spcPts val="2800"/>
                  </a:lnSpc>
                  <a:spcAft>
                    <a:spcPts val="900"/>
                  </a:spcAft>
                  <a:tabLst>
                    <a:tab pos="457200" algn="l"/>
                    <a:tab pos="914400" algn="l"/>
                    <a:tab pos="1371600" algn="l"/>
                  </a:tabLst>
                  <a:defRPr/>
                </a:pPr>
                <a:endParaRPr lang="en-US" b="0" dirty="0">
                  <a:latin typeface="+mn-lt"/>
                  <a:cs typeface="Times New Roman" pitchFamily="18" charset="0"/>
                </a:endParaRPr>
              </a:p>
            </p:txBody>
          </p:sp>
        </mc:Choice>
        <mc:Fallback xmlns="">
          <p:sp>
            <p:nvSpPr>
              <p:cNvPr id="51" name="Rectangle 41">
                <a:extLst>
                  <a:ext uri="{FF2B5EF4-FFF2-40B4-BE49-F238E27FC236}">
                    <a16:creationId xmlns:a16="http://schemas.microsoft.com/office/drawing/2014/main" id="{3CFB0F03-9EF0-4827-A25A-71AC787FC5C2}"/>
                  </a:ext>
                </a:extLst>
              </p:cNvPr>
              <p:cNvSpPr>
                <a:spLocks noRot="1" noChangeAspect="1" noMove="1" noResize="1" noEditPoints="1" noAdjustHandles="1" noChangeArrowheads="1" noChangeShapeType="1" noTextEdit="1"/>
              </p:cNvSpPr>
              <p:nvPr/>
            </p:nvSpPr>
            <p:spPr bwMode="auto">
              <a:xfrm>
                <a:off x="6705600" y="1616755"/>
                <a:ext cx="2438400" cy="458417"/>
              </a:xfrm>
              <a:prstGeom prst="rect">
                <a:avLst/>
              </a:prstGeom>
              <a:blipFill>
                <a:blip r:embed="rId4"/>
                <a:stretch>
                  <a:fillRect/>
                </a:stretch>
              </a:blipFill>
              <a:ln w="9525">
                <a:noFill/>
                <a:miter lim="800000"/>
                <a:headEnd/>
                <a:tailEnd/>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Rectangle 41">
                <a:extLst>
                  <a:ext uri="{FF2B5EF4-FFF2-40B4-BE49-F238E27FC236}">
                    <a16:creationId xmlns:a16="http://schemas.microsoft.com/office/drawing/2014/main" id="{B46CE7D7-7299-4D65-8651-85B070555028}"/>
                  </a:ext>
                </a:extLst>
              </p:cNvPr>
              <p:cNvSpPr>
                <a:spLocks noChangeArrowheads="1"/>
              </p:cNvSpPr>
              <p:nvPr/>
            </p:nvSpPr>
            <p:spPr bwMode="auto">
              <a:xfrm>
                <a:off x="6652946" y="2253337"/>
                <a:ext cx="2438400" cy="458417"/>
              </a:xfrm>
              <a:prstGeom prst="rect">
                <a:avLst/>
              </a:prstGeom>
              <a:noFill/>
              <a:ln w="9525">
                <a:noFill/>
                <a:miter lim="800000"/>
                <a:headEnd/>
                <a:tailEnd/>
              </a:ln>
              <a:effectLst/>
            </p:spPr>
            <p:txBody>
              <a:bodyPr wrap="none" lIns="19050" tIns="26988" rIns="19050" bIns="26988"/>
              <a:lstStyle/>
              <a:p>
                <a:pPr>
                  <a:lnSpc>
                    <a:spcPts val="2800"/>
                  </a:lnSpc>
                  <a:spcAft>
                    <a:spcPts val="900"/>
                  </a:spcAft>
                  <a:tabLst>
                    <a:tab pos="457200" algn="l"/>
                    <a:tab pos="914400" algn="l"/>
                    <a:tab pos="1371600" algn="l"/>
                  </a:tabLst>
                  <a:defRPr/>
                </a:pPr>
                <a14:m>
                  <m:oMathPara xmlns:m="http://schemas.openxmlformats.org/officeDocument/2006/math">
                    <m:oMath>
                      <m:r>
                        <a:rPr lang="en-US" b="0" i="1" dirty="0" smtClean="0">
                          <a:latin typeface="Cambria Math" panose="02040503050406030204" pitchFamily="18" charset="0"/>
                          <a:cs typeface="Times New Roman" pitchFamily="18" charset="0"/>
                        </a:rPr>
                        <m:t>𝑀𝑅</m:t>
                      </m:r>
                      <m:r>
                        <a:rPr lang="en-US" b="0" i="1" dirty="0" smtClean="0">
                          <a:latin typeface="Cambria Math" panose="02040503050406030204" pitchFamily="18" charset="0"/>
                          <a:cs typeface="Times New Roman" pitchFamily="18" charset="0"/>
                        </a:rPr>
                        <m:t>  =  400 – </m:t>
                      </m:r>
                      <m:r>
                        <a:rPr lang="en-US" i="1" dirty="0">
                          <a:latin typeface="Cambria Math" panose="02040503050406030204" pitchFamily="18" charset="0"/>
                          <a:cs typeface="Times New Roman" pitchFamily="18" charset="0"/>
                        </a:rPr>
                        <m:t>𝑄</m:t>
                      </m:r>
                      <m:r>
                        <a:rPr lang="en-US" i="1" dirty="0">
                          <a:latin typeface="Cambria Math" panose="02040503050406030204" pitchFamily="18" charset="0"/>
                          <a:cs typeface="Times New Roman" pitchFamily="18" charset="0"/>
                        </a:rPr>
                        <m:t>/2</m:t>
                      </m:r>
                    </m:oMath>
                  </m:oMathPara>
                </a14:m>
                <a:endParaRPr lang="en-US" b="0" dirty="0">
                  <a:latin typeface="+mn-lt"/>
                  <a:cs typeface="Times New Roman" pitchFamily="18" charset="0"/>
                </a:endParaRPr>
              </a:p>
            </p:txBody>
          </p:sp>
        </mc:Choice>
        <mc:Fallback xmlns="">
          <p:sp>
            <p:nvSpPr>
              <p:cNvPr id="48" name="Rectangle 41">
                <a:extLst>
                  <a:ext uri="{FF2B5EF4-FFF2-40B4-BE49-F238E27FC236}">
                    <a16:creationId xmlns:a16="http://schemas.microsoft.com/office/drawing/2014/main" id="{B46CE7D7-7299-4D65-8651-85B070555028}"/>
                  </a:ext>
                </a:extLst>
              </p:cNvPr>
              <p:cNvSpPr>
                <a:spLocks noRot="1" noChangeAspect="1" noMove="1" noResize="1" noEditPoints="1" noAdjustHandles="1" noChangeArrowheads="1" noChangeShapeType="1" noTextEdit="1"/>
              </p:cNvSpPr>
              <p:nvPr/>
            </p:nvSpPr>
            <p:spPr bwMode="auto">
              <a:xfrm>
                <a:off x="6652946" y="2253337"/>
                <a:ext cx="2438400" cy="458417"/>
              </a:xfrm>
              <a:prstGeom prst="rect">
                <a:avLst/>
              </a:prstGeom>
              <a:blipFill>
                <a:blip r:embed="rId5"/>
                <a:stretch>
                  <a:fillRect/>
                </a:stretch>
              </a:blipFill>
              <a:ln w="9525">
                <a:noFill/>
                <a:miter lim="800000"/>
                <a:headEnd/>
                <a:tailEnd/>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Rectangle 41">
                <a:extLst>
                  <a:ext uri="{FF2B5EF4-FFF2-40B4-BE49-F238E27FC236}">
                    <a16:creationId xmlns:a16="http://schemas.microsoft.com/office/drawing/2014/main" id="{4ED06B95-8CD5-4931-B5B7-E58337ED4E33}"/>
                  </a:ext>
                </a:extLst>
              </p:cNvPr>
              <p:cNvSpPr>
                <a:spLocks noChangeArrowheads="1"/>
              </p:cNvSpPr>
              <p:nvPr/>
            </p:nvSpPr>
            <p:spPr bwMode="auto">
              <a:xfrm>
                <a:off x="6779340" y="1900535"/>
                <a:ext cx="2438400" cy="458417"/>
              </a:xfrm>
              <a:prstGeom prst="rect">
                <a:avLst/>
              </a:prstGeom>
              <a:noFill/>
              <a:ln w="9525">
                <a:noFill/>
                <a:miter lim="800000"/>
                <a:headEnd/>
                <a:tailEnd/>
              </a:ln>
              <a:effectLst/>
            </p:spPr>
            <p:txBody>
              <a:bodyPr wrap="none" lIns="19050" tIns="26988" rIns="19050" bIns="26988"/>
              <a:lstStyle/>
              <a:p>
                <a:pPr>
                  <a:lnSpc>
                    <a:spcPts val="2800"/>
                  </a:lnSpc>
                  <a:spcAft>
                    <a:spcPts val="900"/>
                  </a:spcAft>
                  <a:tabLst>
                    <a:tab pos="457200" algn="l"/>
                    <a:tab pos="914400" algn="l"/>
                    <a:tab pos="1371600" algn="l"/>
                  </a:tabLst>
                  <a:defRPr/>
                </a:pPr>
                <a14:m>
                  <m:oMathPara xmlns:m="http://schemas.openxmlformats.org/officeDocument/2006/math">
                    <m:oMath>
                      <m:r>
                        <a:rPr lang="fr-FR" b="0" i="1" dirty="0" smtClean="0">
                          <a:latin typeface="Cambria Math" panose="02040503050406030204" pitchFamily="18" charset="0"/>
                          <a:cs typeface="Times New Roman" pitchFamily="18" charset="0"/>
                        </a:rPr>
                        <m:t>𝑇𝑅</m:t>
                      </m:r>
                      <m:r>
                        <a:rPr lang="en-US" b="0" i="1" dirty="0" smtClean="0">
                          <a:latin typeface="Cambria Math" panose="02040503050406030204" pitchFamily="18" charset="0"/>
                          <a:cs typeface="Times New Roman" pitchFamily="18" charset="0"/>
                        </a:rPr>
                        <m:t>  =  400</m:t>
                      </m:r>
                      <m:r>
                        <a:rPr lang="fr-FR" b="0" i="1" dirty="0" smtClean="0">
                          <a:latin typeface="Cambria Math" panose="02040503050406030204" pitchFamily="18" charset="0"/>
                          <a:cs typeface="Times New Roman" pitchFamily="18" charset="0"/>
                        </a:rPr>
                        <m:t>𝑄</m:t>
                      </m:r>
                      <m:r>
                        <a:rPr lang="en-US" b="0" i="1" dirty="0" smtClean="0">
                          <a:latin typeface="Cambria Math" panose="02040503050406030204" pitchFamily="18" charset="0"/>
                          <a:cs typeface="Times New Roman" pitchFamily="18" charset="0"/>
                        </a:rPr>
                        <m:t> – </m:t>
                      </m:r>
                      <m:r>
                        <a:rPr lang="en-US" i="1" dirty="0">
                          <a:latin typeface="Cambria Math" panose="02040503050406030204" pitchFamily="18" charset="0"/>
                          <a:cs typeface="Times New Roman" pitchFamily="18" charset="0"/>
                        </a:rPr>
                        <m:t>𝑄</m:t>
                      </m:r>
                      <m:r>
                        <a:rPr lang="fr-FR" b="0" i="1" dirty="0" smtClean="0">
                          <a:latin typeface="Cambria Math" panose="02040503050406030204" pitchFamily="18" charset="0"/>
                          <a:cs typeface="Times New Roman" pitchFamily="18" charset="0"/>
                        </a:rPr>
                        <m:t>²</m:t>
                      </m:r>
                      <m:r>
                        <a:rPr lang="en-US" i="1" dirty="0">
                          <a:latin typeface="Cambria Math" panose="02040503050406030204" pitchFamily="18" charset="0"/>
                          <a:cs typeface="Times New Roman" pitchFamily="18" charset="0"/>
                        </a:rPr>
                        <m:t>/4</m:t>
                      </m:r>
                    </m:oMath>
                  </m:oMathPara>
                </a14:m>
                <a:endParaRPr lang="en-US" dirty="0">
                  <a:cs typeface="Times New Roman" pitchFamily="18" charset="0"/>
                </a:endParaRPr>
              </a:p>
              <a:p>
                <a:pPr>
                  <a:lnSpc>
                    <a:spcPts val="2800"/>
                  </a:lnSpc>
                  <a:spcAft>
                    <a:spcPts val="900"/>
                  </a:spcAft>
                  <a:tabLst>
                    <a:tab pos="457200" algn="l"/>
                    <a:tab pos="914400" algn="l"/>
                    <a:tab pos="1371600" algn="l"/>
                  </a:tabLst>
                  <a:defRPr/>
                </a:pPr>
                <a:endParaRPr lang="en-US" b="0" dirty="0">
                  <a:latin typeface="+mn-lt"/>
                  <a:cs typeface="Times New Roman" pitchFamily="18" charset="0"/>
                </a:endParaRPr>
              </a:p>
            </p:txBody>
          </p:sp>
        </mc:Choice>
        <mc:Fallback xmlns="">
          <p:sp>
            <p:nvSpPr>
              <p:cNvPr id="49" name="Rectangle 41">
                <a:extLst>
                  <a:ext uri="{FF2B5EF4-FFF2-40B4-BE49-F238E27FC236}">
                    <a16:creationId xmlns:a16="http://schemas.microsoft.com/office/drawing/2014/main" id="{4ED06B95-8CD5-4931-B5B7-E58337ED4E33}"/>
                  </a:ext>
                </a:extLst>
              </p:cNvPr>
              <p:cNvSpPr>
                <a:spLocks noRot="1" noChangeAspect="1" noMove="1" noResize="1" noEditPoints="1" noAdjustHandles="1" noChangeArrowheads="1" noChangeShapeType="1" noTextEdit="1"/>
              </p:cNvSpPr>
              <p:nvPr/>
            </p:nvSpPr>
            <p:spPr bwMode="auto">
              <a:xfrm>
                <a:off x="6779340" y="1900535"/>
                <a:ext cx="2438400" cy="458417"/>
              </a:xfrm>
              <a:prstGeom prst="rect">
                <a:avLst/>
              </a:prstGeom>
              <a:blipFill>
                <a:blip r:embed="rId6"/>
                <a:stretch>
                  <a:fillRect/>
                </a:stretch>
              </a:blipFill>
              <a:ln w="9525">
                <a:noFill/>
                <a:miter lim="800000"/>
                <a:headEnd/>
                <a:tailEnd/>
              </a:ln>
              <a:effectLst/>
            </p:spPr>
            <p:txBody>
              <a:bodyPr/>
              <a:lstStyle/>
              <a:p>
                <a:r>
                  <a:rPr lang="en-US">
                    <a:noFill/>
                  </a:rPr>
                  <a:t> </a:t>
                </a:r>
              </a:p>
            </p:txBody>
          </p:sp>
        </mc:Fallback>
      </mc:AlternateContent>
      <p:grpSp>
        <p:nvGrpSpPr>
          <p:cNvPr id="50" name="Group 49">
            <a:extLst>
              <a:ext uri="{FF2B5EF4-FFF2-40B4-BE49-F238E27FC236}">
                <a16:creationId xmlns:a16="http://schemas.microsoft.com/office/drawing/2014/main" id="{A478DF0B-BF9A-4E33-859E-4DAB9B69110C}"/>
              </a:ext>
            </a:extLst>
          </p:cNvPr>
          <p:cNvGrpSpPr/>
          <p:nvPr/>
        </p:nvGrpSpPr>
        <p:grpSpPr>
          <a:xfrm>
            <a:off x="3793460" y="4444025"/>
            <a:ext cx="1617359" cy="1076715"/>
            <a:chOff x="6173223" y="3467070"/>
            <a:chExt cx="1617359" cy="1076715"/>
          </a:xfrm>
        </p:grpSpPr>
        <p:sp>
          <p:nvSpPr>
            <p:cNvPr id="52" name="TextBox 51">
              <a:extLst>
                <a:ext uri="{FF2B5EF4-FFF2-40B4-BE49-F238E27FC236}">
                  <a16:creationId xmlns:a16="http://schemas.microsoft.com/office/drawing/2014/main" id="{730B8985-AB85-4354-BA3C-92194E0559B2}"/>
                </a:ext>
              </a:extLst>
            </p:cNvPr>
            <p:cNvSpPr txBox="1"/>
            <p:nvPr/>
          </p:nvSpPr>
          <p:spPr>
            <a:xfrm>
              <a:off x="6234172" y="3897454"/>
              <a:ext cx="1556410" cy="646331"/>
            </a:xfrm>
            <a:prstGeom prst="rect">
              <a:avLst/>
            </a:prstGeom>
            <a:noFill/>
            <a:ln>
              <a:solidFill>
                <a:schemeClr val="tx2">
                  <a:lumMod val="60000"/>
                  <a:lumOff val="40000"/>
                </a:schemeClr>
              </a:solidFill>
            </a:ln>
            <a:effectLst>
              <a:outerShdw blurRad="50800" dist="38100" dir="2700000" algn="tl" rotWithShape="0">
                <a:prstClr val="black">
                  <a:alpha val="40000"/>
                </a:prstClr>
              </a:outerShdw>
            </a:effectLst>
          </p:spPr>
          <p:txBody>
            <a:bodyPr wrap="square" rtlCol="0">
              <a:spAutoFit/>
            </a:bodyPr>
            <a:lstStyle/>
            <a:p>
              <a:r>
                <a:rPr lang="en-US" dirty="0">
                  <a:solidFill>
                    <a:srgbClr val="0070C0"/>
                  </a:solidFill>
                  <a:latin typeface="Whitney-Book" pitchFamily="50" charset="0"/>
                </a:rPr>
                <a:t>TR is max. where MR=0</a:t>
              </a:r>
            </a:p>
          </p:txBody>
        </p:sp>
        <p:cxnSp>
          <p:nvCxnSpPr>
            <p:cNvPr id="53" name="Straight Arrow Connector 52">
              <a:extLst>
                <a:ext uri="{FF2B5EF4-FFF2-40B4-BE49-F238E27FC236}">
                  <a16:creationId xmlns:a16="http://schemas.microsoft.com/office/drawing/2014/main" id="{0142F624-E173-4455-938B-EE1CF8A831F9}"/>
                </a:ext>
              </a:extLst>
            </p:cNvPr>
            <p:cNvCxnSpPr>
              <a:cxnSpLocks/>
            </p:cNvCxnSpPr>
            <p:nvPr/>
          </p:nvCxnSpPr>
          <p:spPr>
            <a:xfrm flipH="1" flipV="1">
              <a:off x="6173223" y="3467070"/>
              <a:ext cx="565801" cy="4378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913207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48" grpId="0"/>
      <p:bldP spid="4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A974A-E3C5-4BA3-9C6B-DDAB837F3AD7}"/>
              </a:ext>
            </a:extLst>
          </p:cNvPr>
          <p:cNvSpPr>
            <a:spLocks noGrp="1"/>
          </p:cNvSpPr>
          <p:nvPr>
            <p:ph type="title"/>
          </p:nvPr>
        </p:nvSpPr>
        <p:spPr/>
        <p:txBody>
          <a:bodyPr/>
          <a:lstStyle/>
          <a:p>
            <a:r>
              <a:rPr lang="fr-FR" dirty="0" err="1"/>
              <a:t>Why</a:t>
            </a:r>
            <a:r>
              <a:rPr lang="fr-FR" dirty="0"/>
              <a:t> </a:t>
            </a:r>
            <a:r>
              <a:rPr lang="fr-FR" dirty="0" err="1"/>
              <a:t>is</a:t>
            </a:r>
            <a:r>
              <a:rPr lang="fr-FR" dirty="0"/>
              <a:t> </a:t>
            </a:r>
            <a:r>
              <a:rPr lang="fr-FR" dirty="0" err="1"/>
              <a:t>mr</a:t>
            </a:r>
            <a:r>
              <a:rPr lang="fr-FR" dirty="0"/>
              <a:t> </a:t>
            </a:r>
            <a:r>
              <a:rPr lang="fr-FR" dirty="0" err="1"/>
              <a:t>different</a:t>
            </a:r>
            <a:r>
              <a:rPr lang="fr-FR" dirty="0"/>
              <a:t> </a:t>
            </a:r>
            <a:r>
              <a:rPr lang="fr-FR" dirty="0" err="1"/>
              <a:t>from</a:t>
            </a:r>
            <a:r>
              <a:rPr lang="fr-FR" dirty="0"/>
              <a:t> the </a:t>
            </a:r>
            <a:r>
              <a:rPr lang="fr-FR" dirty="0" err="1"/>
              <a:t>price</a:t>
            </a:r>
            <a:r>
              <a:rPr lang="fr-FR" dirty="0"/>
              <a:t>?</a:t>
            </a:r>
            <a:endParaRPr lang="en-US" dirty="0"/>
          </a:p>
        </p:txBody>
      </p:sp>
      <p:sp>
        <p:nvSpPr>
          <p:cNvPr id="3" name="Content Placeholder 2">
            <a:extLst>
              <a:ext uri="{FF2B5EF4-FFF2-40B4-BE49-F238E27FC236}">
                <a16:creationId xmlns:a16="http://schemas.microsoft.com/office/drawing/2014/main" id="{9D94F45A-0D35-47C5-9DF4-372B4400B572}"/>
              </a:ext>
            </a:extLst>
          </p:cNvPr>
          <p:cNvSpPr>
            <a:spLocks noGrp="1"/>
          </p:cNvSpPr>
          <p:nvPr>
            <p:ph idx="1"/>
          </p:nvPr>
        </p:nvSpPr>
        <p:spPr>
          <a:xfrm>
            <a:off x="457200" y="1419985"/>
            <a:ext cx="8229600" cy="5310800"/>
          </a:xfrm>
        </p:spPr>
        <p:txBody>
          <a:bodyPr>
            <a:normAutofit lnSpcReduction="10000"/>
          </a:bodyPr>
          <a:lstStyle/>
          <a:p>
            <a:r>
              <a:rPr lang="fr-FR" i="1" dirty="0"/>
              <a:t>MR </a:t>
            </a:r>
            <a:r>
              <a:rPr lang="fr-FR" dirty="0"/>
              <a:t>: </a:t>
            </a:r>
            <a:r>
              <a:rPr lang="fr-FR" dirty="0" err="1"/>
              <a:t>additional</a:t>
            </a:r>
            <a:r>
              <a:rPr lang="fr-FR" dirty="0"/>
              <a:t> revenue </a:t>
            </a:r>
            <a:r>
              <a:rPr lang="fr-FR" dirty="0" err="1"/>
              <a:t>from</a:t>
            </a:r>
            <a:r>
              <a:rPr lang="fr-FR" dirty="0"/>
              <a:t> </a:t>
            </a:r>
            <a:r>
              <a:rPr lang="fr-FR" dirty="0" err="1"/>
              <a:t>selling</a:t>
            </a:r>
            <a:r>
              <a:rPr lang="fr-FR" dirty="0"/>
              <a:t> one more unit. </a:t>
            </a:r>
            <a:r>
              <a:rPr lang="fr-FR" dirty="0" err="1"/>
              <a:t>Sounds</a:t>
            </a:r>
            <a:r>
              <a:rPr lang="fr-FR" dirty="0"/>
              <a:t> like the </a:t>
            </a:r>
            <a:r>
              <a:rPr lang="fr-FR" dirty="0" err="1"/>
              <a:t>price</a:t>
            </a:r>
            <a:r>
              <a:rPr lang="fr-FR" dirty="0"/>
              <a:t>! But…</a:t>
            </a:r>
          </a:p>
          <a:p>
            <a:endParaRPr lang="fr-FR" sz="1200" dirty="0"/>
          </a:p>
          <a:p>
            <a:r>
              <a:rPr lang="fr-FR" dirty="0"/>
              <a:t>Law of </a:t>
            </a:r>
            <a:r>
              <a:rPr lang="fr-FR" dirty="0" err="1"/>
              <a:t>demand</a:t>
            </a:r>
            <a:r>
              <a:rPr lang="fr-FR" dirty="0"/>
              <a:t>: </a:t>
            </a:r>
            <a:r>
              <a:rPr lang="fr-FR" dirty="0" err="1"/>
              <a:t>you</a:t>
            </a:r>
            <a:r>
              <a:rPr lang="fr-FR" dirty="0"/>
              <a:t> </a:t>
            </a:r>
            <a:r>
              <a:rPr lang="fr-FR" dirty="0" err="1"/>
              <a:t>need</a:t>
            </a:r>
            <a:r>
              <a:rPr lang="fr-FR" dirty="0"/>
              <a:t> to </a:t>
            </a:r>
            <a:r>
              <a:rPr lang="fr-FR" dirty="0" err="1"/>
              <a:t>lower</a:t>
            </a:r>
            <a:r>
              <a:rPr lang="fr-FR" dirty="0"/>
              <a:t> the </a:t>
            </a:r>
            <a:r>
              <a:rPr lang="fr-FR" dirty="0" err="1"/>
              <a:t>price</a:t>
            </a:r>
            <a:r>
              <a:rPr lang="fr-FR" dirty="0"/>
              <a:t> to </a:t>
            </a:r>
            <a:r>
              <a:rPr lang="fr-FR" dirty="0" err="1"/>
              <a:t>sell</a:t>
            </a:r>
            <a:r>
              <a:rPr lang="fr-FR" dirty="0"/>
              <a:t> one more unit </a:t>
            </a:r>
          </a:p>
          <a:p>
            <a:endParaRPr lang="fr-FR" sz="1200" dirty="0"/>
          </a:p>
          <a:p>
            <a:r>
              <a:rPr lang="en-US" dirty="0"/>
              <a:t>The lower price will apply to </a:t>
            </a:r>
            <a:r>
              <a:rPr lang="en-US" i="1" dirty="0"/>
              <a:t>all</a:t>
            </a:r>
            <a:r>
              <a:rPr lang="en-US" dirty="0"/>
              <a:t> units, not just the extra one</a:t>
            </a:r>
          </a:p>
          <a:p>
            <a:pPr lvl="1"/>
            <a:endParaRPr lang="fr-FR" sz="1200" dirty="0"/>
          </a:p>
          <a:p>
            <a:r>
              <a:rPr lang="fr-FR" i="1" dirty="0"/>
              <a:t>MR</a:t>
            </a:r>
            <a:r>
              <a:rPr lang="fr-FR" dirty="0"/>
              <a:t>  </a:t>
            </a:r>
            <a:r>
              <a:rPr lang="fr-FR" dirty="0" err="1"/>
              <a:t>from</a:t>
            </a:r>
            <a:r>
              <a:rPr lang="fr-FR" dirty="0"/>
              <a:t> </a:t>
            </a:r>
            <a:r>
              <a:rPr lang="fr-FR" dirty="0" err="1"/>
              <a:t>selling</a:t>
            </a:r>
            <a:r>
              <a:rPr lang="fr-FR" dirty="0"/>
              <a:t> one </a:t>
            </a:r>
            <a:r>
              <a:rPr lang="fr-FR" dirty="0" err="1"/>
              <a:t>additional</a:t>
            </a:r>
            <a:r>
              <a:rPr lang="fr-FR" dirty="0"/>
              <a:t> unit </a:t>
            </a:r>
            <a:r>
              <a:rPr lang="fr-FR" dirty="0" err="1"/>
              <a:t>takes</a:t>
            </a:r>
            <a:r>
              <a:rPr lang="fr-FR" dirty="0"/>
              <a:t> </a:t>
            </a:r>
            <a:r>
              <a:rPr lang="fr-FR" dirty="0" err="1"/>
              <a:t>into</a:t>
            </a:r>
            <a:r>
              <a:rPr lang="fr-FR" dirty="0"/>
              <a:t> </a:t>
            </a:r>
            <a:r>
              <a:rPr lang="fr-FR" dirty="0" err="1"/>
              <a:t>account</a:t>
            </a:r>
            <a:r>
              <a:rPr lang="fr-FR" dirty="0"/>
              <a:t> the </a:t>
            </a:r>
            <a:r>
              <a:rPr lang="fr-FR" dirty="0" err="1"/>
              <a:t>loss</a:t>
            </a:r>
            <a:r>
              <a:rPr lang="fr-FR" dirty="0"/>
              <a:t> on </a:t>
            </a:r>
            <a:r>
              <a:rPr lang="fr-FR" dirty="0" err="1"/>
              <a:t>every</a:t>
            </a:r>
            <a:r>
              <a:rPr lang="fr-FR" dirty="0"/>
              <a:t> </a:t>
            </a:r>
            <a:r>
              <a:rPr lang="fr-FR" dirty="0" err="1"/>
              <a:t>other</a:t>
            </a:r>
            <a:r>
              <a:rPr lang="fr-FR" dirty="0"/>
              <a:t> unit </a:t>
            </a:r>
            <a:r>
              <a:rPr lang="fr-FR" dirty="0">
                <a:sym typeface="Wingdings" panose="05000000000000000000" pitchFamily="2" charset="2"/>
              </a:rPr>
              <a:t> </a:t>
            </a:r>
            <a:r>
              <a:rPr lang="fr-FR" i="1" dirty="0">
                <a:sym typeface="Wingdings" panose="05000000000000000000" pitchFamily="2" charset="2"/>
              </a:rPr>
              <a:t>MR&lt;P</a:t>
            </a:r>
          </a:p>
          <a:p>
            <a:pPr>
              <a:spcBef>
                <a:spcPts val="1800"/>
              </a:spcBef>
            </a:pPr>
            <a:r>
              <a:rPr lang="fr-FR" sz="2400" u="sng" dirty="0">
                <a:sym typeface="Wingdings" panose="05000000000000000000" pitchFamily="2" charset="2"/>
              </a:rPr>
              <a:t>Note</a:t>
            </a:r>
            <a:r>
              <a:rPr lang="fr-FR" sz="2400" dirty="0">
                <a:sym typeface="Wingdings" panose="05000000000000000000" pitchFamily="2" charset="2"/>
              </a:rPr>
              <a:t>: </a:t>
            </a:r>
            <a:r>
              <a:rPr lang="en-US" sz="2400" dirty="0">
                <a:sym typeface="Wingdings" panose="05000000000000000000" pitchFamily="2" charset="2"/>
              </a:rPr>
              <a:t>Total Revenues (</a:t>
            </a:r>
            <a:r>
              <a:rPr lang="en-US" sz="2400" i="1" dirty="0">
                <a:sym typeface="Wingdings" panose="05000000000000000000" pitchFamily="2" charset="2"/>
              </a:rPr>
              <a:t>TR</a:t>
            </a:r>
            <a:r>
              <a:rPr lang="en-US" sz="2400" dirty="0">
                <a:sym typeface="Wingdings" panose="05000000000000000000" pitchFamily="2" charset="2"/>
              </a:rPr>
              <a:t> ) may either increase or </a:t>
            </a:r>
            <a:r>
              <a:rPr lang="en-US" sz="2400" dirty="0" err="1">
                <a:sym typeface="Wingdings" panose="05000000000000000000" pitchFamily="2" charset="2"/>
              </a:rPr>
              <a:t>decrase</a:t>
            </a:r>
            <a:r>
              <a:rPr lang="en-US" sz="2400" dirty="0">
                <a:sym typeface="Wingdings" panose="05000000000000000000" pitchFamily="2" charset="2"/>
              </a:rPr>
              <a:t> when </a:t>
            </a:r>
            <a:r>
              <a:rPr lang="en-US" sz="2400" i="1" dirty="0">
                <a:sym typeface="Wingdings" panose="05000000000000000000" pitchFamily="2" charset="2"/>
              </a:rPr>
              <a:t>Q</a:t>
            </a:r>
            <a:r>
              <a:rPr lang="en-US" sz="2400" dirty="0">
                <a:sym typeface="Wingdings" panose="05000000000000000000" pitchFamily="2" charset="2"/>
              </a:rPr>
              <a:t>  increases. (Depends on elastic vs. inelastic demand)</a:t>
            </a:r>
          </a:p>
          <a:p>
            <a:endParaRPr lang="en-US" i="1" dirty="0"/>
          </a:p>
        </p:txBody>
      </p:sp>
    </p:spTree>
    <p:extLst>
      <p:ext uri="{BB962C8B-B14F-4D97-AF65-F5344CB8AC3E}">
        <p14:creationId xmlns:p14="http://schemas.microsoft.com/office/powerpoint/2010/main" val="1128427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231CA4-4D2D-4D94-8499-FA3634C5072C}"/>
              </a:ext>
            </a:extLst>
          </p:cNvPr>
          <p:cNvPicPr>
            <a:picLocks/>
          </p:cNvPicPr>
          <p:nvPr>
            <p:custDataLst>
              <p:tags r:id="rId1"/>
            </p:custDataLst>
          </p:nvPr>
        </p:nvPicPr>
        <p:blipFill>
          <a:blip r:embed="rId4"/>
          <a:stretch>
            <a:fillRect/>
          </a:stretch>
        </p:blipFill>
        <p:spPr>
          <a:xfrm>
            <a:off x="301557" y="253999"/>
            <a:ext cx="8588443" cy="6351081"/>
          </a:xfrm>
          <a:prstGeom prst="rect">
            <a:avLst/>
          </a:prstGeom>
        </p:spPr>
      </p:pic>
    </p:spTree>
    <p:extLst>
      <p:ext uri="{BB962C8B-B14F-4D97-AF65-F5344CB8AC3E}">
        <p14:creationId xmlns:p14="http://schemas.microsoft.com/office/powerpoint/2010/main" val="14177148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2"/>
              <p:cNvSpPr txBox="1">
                <a:spLocks/>
              </p:cNvSpPr>
              <p:nvPr/>
            </p:nvSpPr>
            <p:spPr>
              <a:xfrm>
                <a:off x="457200" y="1506667"/>
                <a:ext cx="8229600" cy="4529808"/>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ts val="600"/>
                  </a:spcBef>
                  <a:spcAft>
                    <a:spcPts val="1800"/>
                  </a:spcAft>
                  <a:buClr>
                    <a:srgbClr val="1B8BD5"/>
                  </a:buClr>
                  <a:buSzTx/>
                  <a:buFont typeface="Lucida Grande"/>
                  <a:buChar char="»"/>
                  <a:tabLst/>
                  <a:defRPr/>
                </a:pPr>
                <a:endParaRPr kumimoji="0" lang="en-US" sz="100" i="0" strike="noStrike" kern="1100" cap="none" spc="50" normalizeH="0" baseline="0" noProof="0" dirty="0">
                  <a:ln>
                    <a:noFill/>
                  </a:ln>
                  <a:solidFill>
                    <a:schemeClr val="tx2">
                      <a:lumMod val="75000"/>
                    </a:schemeClr>
                  </a:solidFill>
                  <a:effectLst/>
                  <a:uLnTx/>
                  <a:uFillTx/>
                  <a:cs typeface="Times New Roman" pitchFamily="18" charset="0"/>
                </a:endParaRPr>
              </a:p>
              <a:p>
                <a:pPr marL="514350" marR="0" lvl="0" indent="-514350" algn="l" defTabSz="457200" rtl="0" eaLnBrk="1" fontAlgn="auto" latinLnBrk="0" hangingPunct="1">
                  <a:lnSpc>
                    <a:spcPct val="100000"/>
                  </a:lnSpc>
                  <a:spcBef>
                    <a:spcPts val="600"/>
                  </a:spcBef>
                  <a:spcAft>
                    <a:spcPts val="1800"/>
                  </a:spcAft>
                  <a:buClr>
                    <a:srgbClr val="1B8BD5"/>
                  </a:buClr>
                  <a:buSzTx/>
                  <a:buFont typeface="+mj-lt"/>
                  <a:buAutoNum type="arabicPeriod"/>
                  <a:tabLst/>
                  <a:defRPr/>
                </a:pPr>
                <a:r>
                  <a:rPr kumimoji="0" lang="en-US" sz="3000" i="0" strike="noStrike" kern="1100" cap="none" spc="50" normalizeH="0" baseline="0" noProof="0" dirty="0">
                    <a:ln>
                      <a:noFill/>
                    </a:ln>
                    <a:solidFill>
                      <a:schemeClr val="tx2">
                        <a:lumMod val="75000"/>
                      </a:schemeClr>
                    </a:solidFill>
                    <a:effectLst/>
                    <a:uLnTx/>
                    <a:uFillTx/>
                    <a:latin typeface="Whitney-Book"/>
                    <a:ea typeface="+mn-ea"/>
                    <a:cs typeface="Times New Roman" pitchFamily="18" charset="0"/>
                  </a:rPr>
                  <a:t>Inverse Demand:</a:t>
                </a:r>
                <a:r>
                  <a:rPr kumimoji="0" lang="en-US" sz="3000" i="0" strike="noStrike" kern="1100" cap="none" spc="50" normalizeH="0" noProof="0" dirty="0">
                    <a:ln>
                      <a:noFill/>
                    </a:ln>
                    <a:solidFill>
                      <a:schemeClr val="tx2">
                        <a:lumMod val="75000"/>
                      </a:schemeClr>
                    </a:solidFill>
                    <a:effectLst/>
                    <a:uLnTx/>
                    <a:uFillTx/>
                    <a:latin typeface="Whitney-Book"/>
                    <a:ea typeface="+mn-ea"/>
                    <a:cs typeface="Times New Roman" pitchFamily="18" charset="0"/>
                  </a:rPr>
                  <a:t> </a:t>
                </a:r>
                <a14:m>
                  <m:oMath xmlns:m="http://schemas.openxmlformats.org/officeDocument/2006/math">
                    <m:r>
                      <m:rPr>
                        <m:sty m:val="p"/>
                      </m:rPr>
                      <a:rPr kumimoji="0" lang="en-US" sz="3000" b="0" i="0" u="none" strike="noStrike" kern="1100" cap="none" spc="50" normalizeH="0" baseline="0" noProof="0" smtClean="0">
                        <a:ln>
                          <a:noFill/>
                        </a:ln>
                        <a:solidFill>
                          <a:schemeClr val="tx2">
                            <a:lumMod val="75000"/>
                          </a:schemeClr>
                        </a:solidFill>
                        <a:effectLst/>
                        <a:uLnTx/>
                        <a:uFillTx/>
                        <a:latin typeface="Cambria Math" panose="02040503050406030204" pitchFamily="18" charset="0"/>
                        <a:ea typeface="+mn-ea"/>
                        <a:cs typeface="Times New Roman" pitchFamily="18" charset="0"/>
                      </a:rPr>
                      <m:t>P</m:t>
                    </m:r>
                    <m:r>
                      <a:rPr kumimoji="0" lang="en-US" sz="3000" b="0" i="1" u="none" strike="noStrike" kern="1100" cap="none" spc="50" normalizeH="0" baseline="0" noProof="0">
                        <a:ln>
                          <a:noFill/>
                        </a:ln>
                        <a:solidFill>
                          <a:schemeClr val="tx2">
                            <a:lumMod val="75000"/>
                          </a:schemeClr>
                        </a:solidFill>
                        <a:effectLst/>
                        <a:uLnTx/>
                        <a:uFillTx/>
                        <a:latin typeface="Cambria Math" charset="0"/>
                        <a:ea typeface="+mn-ea"/>
                        <a:cs typeface="Times New Roman" pitchFamily="18" charset="0"/>
                      </a:rPr>
                      <m:t>=</m:t>
                    </m:r>
                    <m:r>
                      <a:rPr kumimoji="0" lang="en-US" sz="3000" b="0" i="1" u="none" strike="noStrike" kern="1100" cap="none" spc="50" normalizeH="0" baseline="0" noProof="0" smtClean="0">
                        <a:ln>
                          <a:noFill/>
                        </a:ln>
                        <a:solidFill>
                          <a:schemeClr val="tx2">
                            <a:lumMod val="75000"/>
                          </a:schemeClr>
                        </a:solidFill>
                        <a:effectLst/>
                        <a:uLnTx/>
                        <a:uFillTx/>
                        <a:latin typeface="Cambria Math" panose="02040503050406030204" pitchFamily="18" charset="0"/>
                        <a:ea typeface="+mn-ea"/>
                        <a:cs typeface="Times New Roman" pitchFamily="18" charset="0"/>
                      </a:rPr>
                      <m:t>20−2</m:t>
                    </m:r>
                    <m:r>
                      <a:rPr kumimoji="0" lang="en-US" sz="3000" b="0" i="1" u="none" strike="noStrike" kern="1100" cap="none" spc="50" normalizeH="0" baseline="0" noProof="0" smtClean="0">
                        <a:ln>
                          <a:noFill/>
                        </a:ln>
                        <a:solidFill>
                          <a:schemeClr val="tx2">
                            <a:lumMod val="75000"/>
                          </a:schemeClr>
                        </a:solidFill>
                        <a:effectLst/>
                        <a:uLnTx/>
                        <a:uFillTx/>
                        <a:latin typeface="Cambria Math" panose="02040503050406030204" pitchFamily="18" charset="0"/>
                        <a:ea typeface="+mn-ea"/>
                        <a:cs typeface="Times New Roman" pitchFamily="18" charset="0"/>
                      </a:rPr>
                      <m:t>𝑄</m:t>
                    </m:r>
                  </m:oMath>
                </a14:m>
                <a:endParaRPr kumimoji="0" lang="en-US" sz="3000" b="0" i="0" u="none" strike="noStrike" kern="1100" cap="none" spc="50" normalizeH="0" baseline="0" noProof="0" dirty="0">
                  <a:ln>
                    <a:noFill/>
                  </a:ln>
                  <a:solidFill>
                    <a:schemeClr val="tx2">
                      <a:lumMod val="75000"/>
                    </a:schemeClr>
                  </a:solidFill>
                  <a:effectLst/>
                  <a:uLnTx/>
                  <a:uFillTx/>
                  <a:latin typeface="Whitney-Book"/>
                  <a:ea typeface="+mn-ea"/>
                  <a:cs typeface="Times New Roman" pitchFamily="18" charset="0"/>
                </a:endParaRPr>
              </a:p>
              <a:p>
                <a:pPr marL="514350" marR="0" lvl="0" indent="-514350" algn="l" defTabSz="457200" rtl="0" eaLnBrk="1" fontAlgn="auto" latinLnBrk="0" hangingPunct="1">
                  <a:lnSpc>
                    <a:spcPct val="100000"/>
                  </a:lnSpc>
                  <a:spcBef>
                    <a:spcPts val="600"/>
                  </a:spcBef>
                  <a:spcAft>
                    <a:spcPts val="1800"/>
                  </a:spcAft>
                  <a:buClr>
                    <a:srgbClr val="1B8BD5"/>
                  </a:buClr>
                  <a:buSzTx/>
                  <a:buFont typeface="+mj-lt"/>
                  <a:buAutoNum type="arabicPeriod"/>
                  <a:tabLst/>
                  <a:defRPr/>
                </a:pPr>
                <a:r>
                  <a:rPr kumimoji="0" lang="en-US" sz="3000" i="0" strike="noStrike" kern="1100" cap="none" spc="50" normalizeH="0" baseline="0" noProof="0" dirty="0">
                    <a:ln>
                      <a:noFill/>
                    </a:ln>
                    <a:solidFill>
                      <a:schemeClr val="tx2">
                        <a:lumMod val="75000"/>
                      </a:schemeClr>
                    </a:solidFill>
                    <a:effectLst/>
                    <a:uLnTx/>
                    <a:uFillTx/>
                    <a:cs typeface="Times New Roman" pitchFamily="18" charset="0"/>
                  </a:rPr>
                  <a:t>Total</a:t>
                </a:r>
                <a:r>
                  <a:rPr kumimoji="0" lang="en-US" sz="3000" i="0" strike="noStrike" kern="1100" cap="none" spc="50" normalizeH="0" noProof="0" dirty="0">
                    <a:ln>
                      <a:noFill/>
                    </a:ln>
                    <a:solidFill>
                      <a:schemeClr val="tx2">
                        <a:lumMod val="75000"/>
                      </a:schemeClr>
                    </a:solidFill>
                    <a:effectLst/>
                    <a:uLnTx/>
                    <a:uFillTx/>
                    <a:cs typeface="Times New Roman" pitchFamily="18" charset="0"/>
                  </a:rPr>
                  <a:t> revenue</a:t>
                </a:r>
                <a14:m>
                  <m:oMath xmlns:m="http://schemas.openxmlformats.org/officeDocument/2006/math">
                    <m:r>
                      <a:rPr lang="en-US" sz="3000">
                        <a:solidFill>
                          <a:schemeClr val="tx2">
                            <a:lumMod val="75000"/>
                          </a:schemeClr>
                        </a:solidFill>
                        <a:latin typeface="Cambria Math" panose="02040503050406030204" pitchFamily="18" charset="0"/>
                        <a:cs typeface="Times New Roman" pitchFamily="18" charset="0"/>
                      </a:rPr>
                      <m:t>:</m:t>
                    </m:r>
                    <m:r>
                      <a:rPr lang="en-US" sz="3000" b="0" i="0" smtClean="0">
                        <a:solidFill>
                          <a:schemeClr val="tx2">
                            <a:lumMod val="75000"/>
                          </a:schemeClr>
                        </a:solidFill>
                        <a:latin typeface="Cambria Math" panose="02040503050406030204" pitchFamily="18" charset="0"/>
                        <a:cs typeface="Times New Roman" pitchFamily="18" charset="0"/>
                      </a:rPr>
                      <m:t> </m:t>
                    </m:r>
                    <m:r>
                      <a:rPr kumimoji="0" lang="en-US" sz="3000" b="0" i="1" strike="noStrike" kern="1100" cap="none" spc="50" normalizeH="0" baseline="0" noProof="0">
                        <a:ln>
                          <a:noFill/>
                        </a:ln>
                        <a:solidFill>
                          <a:schemeClr val="tx2">
                            <a:lumMod val="75000"/>
                          </a:schemeClr>
                        </a:solidFill>
                        <a:effectLst/>
                        <a:uLnTx/>
                        <a:uFillTx/>
                        <a:latin typeface="Cambria Math" charset="0"/>
                        <a:cs typeface="Times New Roman" pitchFamily="18" charset="0"/>
                      </a:rPr>
                      <m:t>𝑇𝑅</m:t>
                    </m:r>
                    <m:r>
                      <a:rPr kumimoji="0" lang="en-US" sz="3000" b="0" i="1" strike="noStrike" kern="1100" cap="none" spc="50" normalizeH="0" baseline="0" noProof="0">
                        <a:ln>
                          <a:noFill/>
                        </a:ln>
                        <a:solidFill>
                          <a:schemeClr val="tx2">
                            <a:lumMod val="75000"/>
                          </a:schemeClr>
                        </a:solidFill>
                        <a:effectLst/>
                        <a:uLnTx/>
                        <a:uFillTx/>
                        <a:latin typeface="Cambria Math" charset="0"/>
                        <a:cs typeface="Times New Roman" pitchFamily="18" charset="0"/>
                      </a:rPr>
                      <m:t>=</m:t>
                    </m:r>
                    <m:r>
                      <a:rPr kumimoji="0" lang="en-US" sz="3000" b="0" i="1" strike="noStrike" kern="1100" cap="none" spc="50" normalizeH="0" baseline="0" noProof="0">
                        <a:ln>
                          <a:noFill/>
                        </a:ln>
                        <a:solidFill>
                          <a:schemeClr val="tx2">
                            <a:lumMod val="75000"/>
                          </a:schemeClr>
                        </a:solidFill>
                        <a:effectLst/>
                        <a:uLnTx/>
                        <a:uFillTx/>
                        <a:latin typeface="Cambria Math" charset="0"/>
                        <a:cs typeface="Times New Roman" pitchFamily="18" charset="0"/>
                      </a:rPr>
                      <m:t>𝑃</m:t>
                    </m:r>
                    <m:r>
                      <a:rPr kumimoji="0" lang="en-US" sz="3000" b="0" i="1" strike="noStrike" kern="1100" cap="none" spc="50" normalizeH="0" baseline="0" noProof="0">
                        <a:ln>
                          <a:noFill/>
                        </a:ln>
                        <a:solidFill>
                          <a:schemeClr val="tx2">
                            <a:lumMod val="75000"/>
                          </a:schemeClr>
                        </a:solidFill>
                        <a:effectLst/>
                        <a:uLnTx/>
                        <a:uFillTx/>
                        <a:latin typeface="Cambria Math" charset="0"/>
                        <a:ea typeface="Cambria Math" charset="0"/>
                        <a:cs typeface="Cambria Math" charset="0"/>
                      </a:rPr>
                      <m:t>∙</m:t>
                    </m:r>
                    <m:r>
                      <a:rPr kumimoji="0" lang="en-US" sz="3000" b="0" i="1" strike="noStrike" kern="1100" cap="none" spc="50" normalizeH="0" baseline="0" noProof="0">
                        <a:ln>
                          <a:noFill/>
                        </a:ln>
                        <a:solidFill>
                          <a:schemeClr val="tx2">
                            <a:lumMod val="75000"/>
                          </a:schemeClr>
                        </a:solidFill>
                        <a:effectLst/>
                        <a:uLnTx/>
                        <a:uFillTx/>
                        <a:latin typeface="Cambria Math" charset="0"/>
                        <a:cs typeface="Times New Roman" pitchFamily="18" charset="0"/>
                      </a:rPr>
                      <m:t>𝑄</m:t>
                    </m:r>
                  </m:oMath>
                </a14:m>
                <a:r>
                  <a:rPr kumimoji="0" lang="en-US" sz="3000" b="0" i="0" u="none" strike="noStrike" kern="1100" cap="none" spc="50" normalizeH="0" baseline="0" noProof="0" dirty="0">
                    <a:ln>
                      <a:noFill/>
                    </a:ln>
                    <a:solidFill>
                      <a:schemeClr val="tx2">
                        <a:lumMod val="75000"/>
                      </a:schemeClr>
                    </a:solidFill>
                    <a:effectLst/>
                    <a:uLnTx/>
                    <a:uFillTx/>
                    <a:latin typeface="Whitney-Book"/>
                    <a:ea typeface="+mn-ea"/>
                    <a:cs typeface="Times New Roman" pitchFamily="18" charset="0"/>
                  </a:rPr>
                  <a:t> </a:t>
                </a:r>
              </a:p>
              <a:p>
                <a:pPr marL="0" marR="0" lvl="0" indent="0" algn="l" defTabSz="457200" rtl="0" eaLnBrk="1" fontAlgn="auto" latinLnBrk="0" hangingPunct="1">
                  <a:lnSpc>
                    <a:spcPct val="100000"/>
                  </a:lnSpc>
                  <a:spcBef>
                    <a:spcPts val="600"/>
                  </a:spcBef>
                  <a:spcAft>
                    <a:spcPts val="1800"/>
                  </a:spcAft>
                  <a:buClr>
                    <a:srgbClr val="1B8BD5"/>
                  </a:buClr>
                  <a:buSzTx/>
                  <a:buNone/>
                  <a:tabLst/>
                  <a:defRPr/>
                </a:pPr>
                <a14:m>
                  <m:oMathPara xmlns:m="http://schemas.openxmlformats.org/officeDocument/2006/math">
                    <m:oMath>
                      <m:r>
                        <a:rPr kumimoji="0" lang="en-US" sz="3000" b="0" i="1" u="none" strike="noStrike" kern="1100" cap="none" spc="50" normalizeH="0" baseline="0" noProof="0" smtClean="0">
                          <a:ln>
                            <a:noFill/>
                          </a:ln>
                          <a:solidFill>
                            <a:schemeClr val="tx2">
                              <a:lumMod val="75000"/>
                            </a:schemeClr>
                          </a:solidFill>
                          <a:effectLst/>
                          <a:uLnTx/>
                          <a:uFillTx/>
                          <a:latin typeface="Cambria Math" panose="02040503050406030204" pitchFamily="18" charset="0"/>
                          <a:ea typeface="+mn-ea"/>
                          <a:cs typeface="Times New Roman" pitchFamily="18" charset="0"/>
                        </a:rPr>
                        <m:t>𝑇𝑅</m:t>
                      </m:r>
                      <m:r>
                        <a:rPr kumimoji="0" lang="en-US" sz="3000" b="0" i="1" u="none" strike="noStrike" kern="1100" cap="none" spc="50" normalizeH="0" baseline="0" noProof="0">
                          <a:ln>
                            <a:noFill/>
                          </a:ln>
                          <a:solidFill>
                            <a:schemeClr val="tx2">
                              <a:lumMod val="75000"/>
                            </a:schemeClr>
                          </a:solidFill>
                          <a:effectLst/>
                          <a:uLnTx/>
                          <a:uFillTx/>
                          <a:latin typeface="Cambria Math" charset="0"/>
                          <a:ea typeface="+mn-ea"/>
                          <a:cs typeface="Times New Roman" pitchFamily="18" charset="0"/>
                        </a:rPr>
                        <m:t>=</m:t>
                      </m:r>
                      <m:d>
                        <m:dPr>
                          <m:ctrlPr>
                            <a:rPr kumimoji="0" lang="en-US" sz="3000" b="0" i="1" u="none" strike="noStrike" kern="1100" cap="none" spc="50" normalizeH="0" baseline="0" noProof="0" smtClean="0">
                              <a:ln>
                                <a:noFill/>
                              </a:ln>
                              <a:solidFill>
                                <a:schemeClr val="tx2">
                                  <a:lumMod val="75000"/>
                                </a:schemeClr>
                              </a:solidFill>
                              <a:effectLst/>
                              <a:uLnTx/>
                              <a:uFillTx/>
                              <a:latin typeface="Cambria Math" panose="02040503050406030204" pitchFamily="18" charset="0"/>
                              <a:ea typeface="+mn-ea"/>
                              <a:cs typeface="Times New Roman" pitchFamily="18" charset="0"/>
                            </a:rPr>
                          </m:ctrlPr>
                        </m:dPr>
                        <m:e>
                          <m:r>
                            <a:rPr kumimoji="0" lang="en-US" sz="3000" b="0" i="1" u="none" strike="noStrike" kern="1100" cap="none" spc="50" normalizeH="0" baseline="0" noProof="0" smtClean="0">
                              <a:ln>
                                <a:noFill/>
                              </a:ln>
                              <a:solidFill>
                                <a:schemeClr val="tx2">
                                  <a:lumMod val="75000"/>
                                </a:schemeClr>
                              </a:solidFill>
                              <a:effectLst/>
                              <a:uLnTx/>
                              <a:uFillTx/>
                              <a:latin typeface="Cambria Math" panose="02040503050406030204" pitchFamily="18" charset="0"/>
                              <a:ea typeface="+mn-ea"/>
                              <a:cs typeface="Times New Roman" pitchFamily="18" charset="0"/>
                            </a:rPr>
                            <m:t>2</m:t>
                          </m:r>
                          <m:r>
                            <a:rPr kumimoji="0" lang="en-US" sz="3000" b="0" i="1" u="none" strike="noStrike" kern="1100" cap="none" spc="50" normalizeH="0" baseline="0" noProof="0">
                              <a:ln>
                                <a:noFill/>
                              </a:ln>
                              <a:solidFill>
                                <a:schemeClr val="tx2">
                                  <a:lumMod val="75000"/>
                                </a:schemeClr>
                              </a:solidFill>
                              <a:effectLst/>
                              <a:uLnTx/>
                              <a:uFillTx/>
                              <a:latin typeface="Cambria Math" charset="0"/>
                              <a:ea typeface="+mn-ea"/>
                              <a:cs typeface="Times New Roman" pitchFamily="18" charset="0"/>
                            </a:rPr>
                            <m:t>0</m:t>
                          </m:r>
                          <m:r>
                            <a:rPr kumimoji="0" lang="en-US" sz="3000" b="0" i="1" u="none" strike="noStrike" kern="1100" cap="none" spc="50" normalizeH="0" baseline="0" noProof="0" smtClean="0">
                              <a:ln>
                                <a:noFill/>
                              </a:ln>
                              <a:solidFill>
                                <a:schemeClr val="tx2">
                                  <a:lumMod val="75000"/>
                                </a:schemeClr>
                              </a:solidFill>
                              <a:effectLst/>
                              <a:uLnTx/>
                              <a:uFillTx/>
                              <a:latin typeface="Cambria Math" panose="02040503050406030204" pitchFamily="18" charset="0"/>
                              <a:ea typeface="+mn-ea"/>
                              <a:cs typeface="Times New Roman" pitchFamily="18" charset="0"/>
                            </a:rPr>
                            <m:t>−2</m:t>
                          </m:r>
                          <m:r>
                            <a:rPr kumimoji="0" lang="en-US" sz="3000" b="0" i="1" u="none" strike="noStrike" kern="1100" cap="none" spc="50" normalizeH="0" baseline="0" noProof="0" smtClean="0">
                              <a:ln>
                                <a:noFill/>
                              </a:ln>
                              <a:solidFill>
                                <a:schemeClr val="tx2">
                                  <a:lumMod val="75000"/>
                                </a:schemeClr>
                              </a:solidFill>
                              <a:effectLst/>
                              <a:uLnTx/>
                              <a:uFillTx/>
                              <a:latin typeface="Cambria Math" panose="02040503050406030204" pitchFamily="18" charset="0"/>
                              <a:ea typeface="+mn-ea"/>
                              <a:cs typeface="Times New Roman" pitchFamily="18" charset="0"/>
                            </a:rPr>
                            <m:t>𝑄</m:t>
                          </m:r>
                        </m:e>
                      </m:d>
                      <m:r>
                        <a:rPr kumimoji="0" lang="en-US" sz="3000" b="0" i="1" u="none" strike="noStrike" kern="1100" cap="none" spc="50" normalizeH="0" baseline="0" noProof="0">
                          <a:ln>
                            <a:noFill/>
                          </a:ln>
                          <a:solidFill>
                            <a:schemeClr val="tx2">
                              <a:lumMod val="75000"/>
                            </a:schemeClr>
                          </a:solidFill>
                          <a:effectLst/>
                          <a:uLnTx/>
                          <a:uFillTx/>
                          <a:latin typeface="Cambria Math" charset="0"/>
                          <a:ea typeface="+mn-ea"/>
                          <a:cs typeface="Times New Roman" pitchFamily="18" charset="0"/>
                        </a:rPr>
                        <m:t>∙</m:t>
                      </m:r>
                      <m:r>
                        <a:rPr kumimoji="0" lang="en-US" sz="3000" b="0" i="1" u="none" strike="noStrike" kern="1100" cap="none" spc="50" normalizeH="0" baseline="0" noProof="0">
                          <a:ln>
                            <a:noFill/>
                          </a:ln>
                          <a:solidFill>
                            <a:schemeClr val="tx2">
                              <a:lumMod val="75000"/>
                            </a:schemeClr>
                          </a:solidFill>
                          <a:effectLst/>
                          <a:uLnTx/>
                          <a:uFillTx/>
                          <a:latin typeface="Cambria Math" charset="0"/>
                          <a:ea typeface="+mn-ea"/>
                          <a:cs typeface="Times New Roman" pitchFamily="18" charset="0"/>
                        </a:rPr>
                        <m:t>𝑄</m:t>
                      </m:r>
                      <m:r>
                        <a:rPr kumimoji="0" lang="en-US" sz="3000" b="0" i="1" u="none" strike="noStrike" kern="1100" cap="none" spc="50" normalizeH="0" baseline="0" noProof="0">
                          <a:ln>
                            <a:noFill/>
                          </a:ln>
                          <a:solidFill>
                            <a:schemeClr val="tx2">
                              <a:lumMod val="75000"/>
                            </a:schemeClr>
                          </a:solidFill>
                          <a:effectLst/>
                          <a:uLnTx/>
                          <a:uFillTx/>
                          <a:latin typeface="Cambria Math" panose="02040503050406030204" pitchFamily="18" charset="0"/>
                          <a:ea typeface="+mn-ea"/>
                          <a:cs typeface="Times New Roman" pitchFamily="18" charset="0"/>
                        </a:rPr>
                        <m:t>=</m:t>
                      </m:r>
                      <m:r>
                        <a:rPr kumimoji="0" lang="en-US" sz="3000" b="0" i="1" u="none" strike="noStrike" kern="1100" cap="none" spc="50" normalizeH="0" baseline="0" noProof="0" smtClean="0">
                          <a:ln>
                            <a:noFill/>
                          </a:ln>
                          <a:solidFill>
                            <a:schemeClr val="tx2">
                              <a:lumMod val="75000"/>
                            </a:schemeClr>
                          </a:solidFill>
                          <a:effectLst/>
                          <a:uLnTx/>
                          <a:uFillTx/>
                          <a:latin typeface="Cambria Math" panose="02040503050406030204" pitchFamily="18" charset="0"/>
                          <a:ea typeface="+mn-ea"/>
                          <a:cs typeface="Times New Roman" pitchFamily="18" charset="0"/>
                        </a:rPr>
                        <m:t>2</m:t>
                      </m:r>
                      <m:r>
                        <a:rPr kumimoji="0" lang="en-US" sz="3000" b="0" i="1" u="none" strike="noStrike" kern="1100" cap="none" spc="50" normalizeH="0" baseline="0" noProof="0">
                          <a:ln>
                            <a:noFill/>
                          </a:ln>
                          <a:solidFill>
                            <a:schemeClr val="tx2">
                              <a:lumMod val="75000"/>
                            </a:schemeClr>
                          </a:solidFill>
                          <a:effectLst/>
                          <a:uLnTx/>
                          <a:uFillTx/>
                          <a:latin typeface="Cambria Math" panose="02040503050406030204" pitchFamily="18" charset="0"/>
                          <a:ea typeface="+mn-ea"/>
                          <a:cs typeface="Times New Roman" pitchFamily="18" charset="0"/>
                        </a:rPr>
                        <m:t>0</m:t>
                      </m:r>
                      <m:r>
                        <a:rPr kumimoji="0" lang="en-US" sz="3000" b="0" i="1" u="none" strike="noStrike" kern="1100" cap="none" spc="50" normalizeH="0" baseline="0" noProof="0">
                          <a:ln>
                            <a:noFill/>
                          </a:ln>
                          <a:solidFill>
                            <a:schemeClr val="tx2">
                              <a:lumMod val="75000"/>
                            </a:schemeClr>
                          </a:solidFill>
                          <a:effectLst/>
                          <a:uLnTx/>
                          <a:uFillTx/>
                          <a:latin typeface="Cambria Math" panose="02040503050406030204" pitchFamily="18" charset="0"/>
                          <a:ea typeface="+mn-ea"/>
                          <a:cs typeface="Times New Roman" pitchFamily="18" charset="0"/>
                        </a:rPr>
                        <m:t>𝑄</m:t>
                      </m:r>
                      <m:r>
                        <a:rPr kumimoji="0" lang="en-US" sz="3000" b="0" i="1" u="none" strike="noStrike" kern="1100" cap="none" spc="50" normalizeH="0" baseline="0" noProof="0">
                          <a:ln>
                            <a:noFill/>
                          </a:ln>
                          <a:solidFill>
                            <a:schemeClr val="tx2">
                              <a:lumMod val="75000"/>
                            </a:schemeClr>
                          </a:solidFill>
                          <a:effectLst/>
                          <a:uLnTx/>
                          <a:uFillTx/>
                          <a:latin typeface="Cambria Math" panose="02040503050406030204" pitchFamily="18" charset="0"/>
                          <a:ea typeface="+mn-ea"/>
                          <a:cs typeface="Times New Roman" pitchFamily="18" charset="0"/>
                        </a:rPr>
                        <m:t>−2</m:t>
                      </m:r>
                      <m:r>
                        <a:rPr kumimoji="0" lang="en-US" sz="3000" b="0" i="1" u="none" strike="noStrike" kern="1100" cap="none" spc="50" normalizeH="0" baseline="0" noProof="0">
                          <a:ln>
                            <a:noFill/>
                          </a:ln>
                          <a:solidFill>
                            <a:schemeClr val="tx2">
                              <a:lumMod val="75000"/>
                            </a:schemeClr>
                          </a:solidFill>
                          <a:effectLst/>
                          <a:uLnTx/>
                          <a:uFillTx/>
                          <a:latin typeface="Cambria Math" panose="02040503050406030204" pitchFamily="18" charset="0"/>
                          <a:ea typeface="+mn-ea"/>
                          <a:cs typeface="Times New Roman" pitchFamily="18" charset="0"/>
                        </a:rPr>
                        <m:t>𝑄</m:t>
                      </m:r>
                      <m:r>
                        <m:rPr>
                          <m:nor/>
                        </m:rPr>
                        <a:rPr kumimoji="0" lang="en-US" sz="3000" b="0" i="0" u="none" strike="noStrike" kern="1100" cap="none" spc="50" normalizeH="0" baseline="30000" noProof="0" dirty="0">
                          <a:ln>
                            <a:noFill/>
                          </a:ln>
                          <a:solidFill>
                            <a:schemeClr val="tx2">
                              <a:lumMod val="75000"/>
                            </a:schemeClr>
                          </a:solidFill>
                          <a:effectLst/>
                          <a:uLnTx/>
                          <a:uFillTx/>
                          <a:latin typeface="Whitney-Book"/>
                          <a:ea typeface="+mn-ea"/>
                          <a:cs typeface="Times New Roman" pitchFamily="18" charset="0"/>
                        </a:rPr>
                        <m:t>2</m:t>
                      </m:r>
                    </m:oMath>
                  </m:oMathPara>
                </a14:m>
                <a:endParaRPr kumimoji="0" lang="en-US" sz="3000" b="0" i="1" u="none" strike="noStrike" kern="1100" cap="none" spc="50" normalizeH="0" baseline="0" noProof="0" dirty="0">
                  <a:ln>
                    <a:noFill/>
                  </a:ln>
                  <a:solidFill>
                    <a:schemeClr val="tx2">
                      <a:lumMod val="75000"/>
                    </a:schemeClr>
                  </a:solidFill>
                  <a:effectLst/>
                  <a:uLnTx/>
                  <a:uFillTx/>
                  <a:latin typeface="Cambria Math" charset="0"/>
                  <a:ea typeface="+mn-ea"/>
                  <a:cs typeface="Times New Roman" pitchFamily="18" charset="0"/>
                </a:endParaRPr>
              </a:p>
              <a:p>
                <a:pPr marL="514350" marR="0" lvl="0" indent="-514350" algn="l" defTabSz="457200" rtl="0" eaLnBrk="1" fontAlgn="auto" latinLnBrk="0" hangingPunct="1">
                  <a:lnSpc>
                    <a:spcPct val="100000"/>
                  </a:lnSpc>
                  <a:spcBef>
                    <a:spcPts val="600"/>
                  </a:spcBef>
                  <a:spcAft>
                    <a:spcPts val="1800"/>
                  </a:spcAft>
                  <a:buClr>
                    <a:srgbClr val="1B8BD5"/>
                  </a:buClr>
                  <a:buSzTx/>
                  <a:buFont typeface="+mj-lt"/>
                  <a:buAutoNum type="arabicPeriod" startAt="3"/>
                  <a:tabLst/>
                  <a:defRPr/>
                </a:pPr>
                <a:r>
                  <a:rPr lang="en-US" sz="3000" dirty="0">
                    <a:solidFill>
                      <a:schemeClr val="tx2">
                        <a:lumMod val="75000"/>
                      </a:schemeClr>
                    </a:solidFill>
                    <a:cs typeface="Times New Roman" pitchFamily="18" charset="0"/>
                  </a:rPr>
                  <a:t>D</a:t>
                </a:r>
                <a:r>
                  <a:rPr kumimoji="0" lang="en-US" sz="3000" b="0" i="0" u="none" strike="noStrike" kern="1100" cap="none" spc="50" normalizeH="0" baseline="0" noProof="0" dirty="0" err="1">
                    <a:ln>
                      <a:noFill/>
                    </a:ln>
                    <a:solidFill>
                      <a:schemeClr val="tx2">
                        <a:lumMod val="75000"/>
                      </a:schemeClr>
                    </a:solidFill>
                    <a:effectLst/>
                    <a:uLnTx/>
                    <a:uFillTx/>
                    <a:latin typeface="Whitney-Book"/>
                    <a:ea typeface="+mn-ea"/>
                    <a:cs typeface="Times New Roman" pitchFamily="18" charset="0"/>
                  </a:rPr>
                  <a:t>erivative</a:t>
                </a:r>
                <a:r>
                  <a:rPr kumimoji="0" lang="en-US" sz="3000" b="0" i="0" u="none" strike="noStrike" kern="1100" cap="none" spc="50" normalizeH="0" baseline="0" noProof="0" dirty="0">
                    <a:ln>
                      <a:noFill/>
                    </a:ln>
                    <a:solidFill>
                      <a:schemeClr val="tx2">
                        <a:lumMod val="75000"/>
                      </a:schemeClr>
                    </a:solidFill>
                    <a:effectLst/>
                    <a:uLnTx/>
                    <a:uFillTx/>
                    <a:latin typeface="Whitney-Book"/>
                    <a:ea typeface="+mn-ea"/>
                    <a:cs typeface="Times New Roman" pitchFamily="18" charset="0"/>
                  </a:rPr>
                  <a:t> of </a:t>
                </a:r>
                <a:r>
                  <a:rPr kumimoji="0" lang="en-US" sz="3000" b="0" i="1" u="none" strike="noStrike" kern="1100" cap="none" spc="50" normalizeH="0" baseline="0" noProof="0" dirty="0">
                    <a:ln>
                      <a:noFill/>
                    </a:ln>
                    <a:solidFill>
                      <a:schemeClr val="tx2">
                        <a:lumMod val="75000"/>
                      </a:schemeClr>
                    </a:solidFill>
                    <a:effectLst/>
                    <a:uLnTx/>
                    <a:uFillTx/>
                    <a:latin typeface="Whitney-Book"/>
                    <a:ea typeface="+mn-ea"/>
                    <a:cs typeface="Times New Roman" pitchFamily="18" charset="0"/>
                  </a:rPr>
                  <a:t>TR</a:t>
                </a:r>
                <a:r>
                  <a:rPr kumimoji="0" lang="en-US" sz="3000" b="0" i="0" u="none" strike="noStrike" kern="1100" cap="none" spc="50" normalizeH="0" baseline="0" noProof="0" dirty="0">
                    <a:ln>
                      <a:noFill/>
                    </a:ln>
                    <a:solidFill>
                      <a:schemeClr val="tx2">
                        <a:lumMod val="75000"/>
                      </a:schemeClr>
                    </a:solidFill>
                    <a:effectLst/>
                    <a:uLnTx/>
                    <a:uFillTx/>
                    <a:latin typeface="Whitney-Book"/>
                    <a:ea typeface="+mn-ea"/>
                    <a:cs typeface="Times New Roman" pitchFamily="18" charset="0"/>
                  </a:rPr>
                  <a:t>  </a:t>
                </a:r>
                <a:r>
                  <a:rPr kumimoji="0" lang="en-US" sz="3000" b="0" i="0" u="none" strike="noStrike" kern="1100" cap="none" spc="50" normalizeH="0" baseline="0" noProof="0" dirty="0" err="1">
                    <a:ln>
                      <a:noFill/>
                    </a:ln>
                    <a:solidFill>
                      <a:schemeClr val="tx2">
                        <a:lumMod val="75000"/>
                      </a:schemeClr>
                    </a:solidFill>
                    <a:effectLst/>
                    <a:uLnTx/>
                    <a:uFillTx/>
                    <a:latin typeface="Whitney-Book"/>
                    <a:ea typeface="+mn-ea"/>
                    <a:cs typeface="Times New Roman" pitchFamily="18" charset="0"/>
                  </a:rPr>
                  <a:t>w.r.t.</a:t>
                </a:r>
                <a:r>
                  <a:rPr kumimoji="0" lang="en-US" sz="3000" b="0" i="0" u="none" strike="noStrike" kern="1100" cap="none" spc="50" normalizeH="0" baseline="0" noProof="0" dirty="0">
                    <a:ln>
                      <a:noFill/>
                    </a:ln>
                    <a:solidFill>
                      <a:schemeClr val="tx2">
                        <a:lumMod val="75000"/>
                      </a:schemeClr>
                    </a:solidFill>
                    <a:effectLst/>
                    <a:uLnTx/>
                    <a:uFillTx/>
                    <a:latin typeface="Whitney-Book"/>
                    <a:ea typeface="+mn-ea"/>
                    <a:cs typeface="Times New Roman" pitchFamily="18" charset="0"/>
                  </a:rPr>
                  <a:t> </a:t>
                </a:r>
                <a:r>
                  <a:rPr kumimoji="0" lang="en-US" sz="3000" b="0" i="1" u="none" strike="noStrike" kern="1100" cap="none" spc="50" normalizeH="0" baseline="0" noProof="0" dirty="0">
                    <a:ln>
                      <a:noFill/>
                    </a:ln>
                    <a:solidFill>
                      <a:schemeClr val="tx2">
                        <a:lumMod val="75000"/>
                      </a:schemeClr>
                    </a:solidFill>
                    <a:effectLst/>
                    <a:uLnTx/>
                    <a:uFillTx/>
                    <a:latin typeface="Whitney-Book"/>
                    <a:ea typeface="+mn-ea"/>
                    <a:cs typeface="Times New Roman" pitchFamily="18" charset="0"/>
                  </a:rPr>
                  <a:t>Q</a:t>
                </a:r>
                <a:r>
                  <a:rPr kumimoji="0" lang="en-US" sz="3000" b="0" i="0" u="none" strike="noStrike" kern="1100" cap="none" spc="50" normalizeH="0" baseline="0" noProof="0" dirty="0">
                    <a:ln>
                      <a:noFill/>
                    </a:ln>
                    <a:solidFill>
                      <a:schemeClr val="tx2">
                        <a:lumMod val="75000"/>
                      </a:schemeClr>
                    </a:solidFill>
                    <a:effectLst/>
                    <a:uLnTx/>
                    <a:uFillTx/>
                    <a:latin typeface="Whitney-Book"/>
                    <a:ea typeface="+mn-ea"/>
                    <a:cs typeface="Times New Roman" pitchFamily="18" charset="0"/>
                  </a:rPr>
                  <a:t>. </a:t>
                </a:r>
              </a:p>
              <a:p>
                <a:pPr marL="0" marR="0" lvl="0" indent="0" algn="l" defTabSz="457200" rtl="0" eaLnBrk="1" fontAlgn="auto" latinLnBrk="0" hangingPunct="1">
                  <a:lnSpc>
                    <a:spcPct val="100000"/>
                  </a:lnSpc>
                  <a:spcBef>
                    <a:spcPts val="600"/>
                  </a:spcBef>
                  <a:spcAft>
                    <a:spcPts val="1800"/>
                  </a:spcAft>
                  <a:buClr>
                    <a:srgbClr val="1B8BD5"/>
                  </a:buClr>
                  <a:buSzTx/>
                  <a:buNone/>
                  <a:tabLst/>
                  <a:defRPr/>
                </a:pPr>
                <a14:m>
                  <m:oMathPara xmlns:m="http://schemas.openxmlformats.org/officeDocument/2006/math">
                    <m:oMath>
                      <m:r>
                        <m:rPr>
                          <m:sty m:val="p"/>
                        </m:rPr>
                        <a:rPr kumimoji="0" lang="en-US" sz="3000" b="0" i="0" u="none" strike="noStrike" kern="1100" cap="none" spc="50" normalizeH="0" baseline="0" noProof="0" smtClean="0">
                          <a:ln>
                            <a:noFill/>
                          </a:ln>
                          <a:solidFill>
                            <a:schemeClr val="tx2">
                              <a:lumMod val="75000"/>
                            </a:schemeClr>
                          </a:solidFill>
                          <a:effectLst/>
                          <a:uLnTx/>
                          <a:uFillTx/>
                          <a:latin typeface="Cambria Math" panose="02040503050406030204" pitchFamily="18" charset="0"/>
                          <a:ea typeface="+mn-ea"/>
                          <a:cs typeface="Times New Roman" pitchFamily="18" charset="0"/>
                        </a:rPr>
                        <m:t>M</m:t>
                      </m:r>
                      <m:r>
                        <a:rPr kumimoji="0" lang="en-US" sz="3000" b="0" i="1" u="none" strike="noStrike" kern="1100" cap="none" spc="50" normalizeH="0" baseline="0" noProof="0">
                          <a:ln>
                            <a:noFill/>
                          </a:ln>
                          <a:solidFill>
                            <a:schemeClr val="tx2">
                              <a:lumMod val="75000"/>
                            </a:schemeClr>
                          </a:solidFill>
                          <a:effectLst/>
                          <a:uLnTx/>
                          <a:uFillTx/>
                          <a:latin typeface="Cambria Math" charset="0"/>
                          <a:ea typeface="+mn-ea"/>
                          <a:cs typeface="Times New Roman" pitchFamily="18" charset="0"/>
                        </a:rPr>
                        <m:t>𝑅</m:t>
                      </m:r>
                      <m:r>
                        <a:rPr kumimoji="0" lang="en-US" sz="3000" b="0" i="1" u="none" strike="noStrike" kern="1100" cap="none" spc="50" normalizeH="0" baseline="0" noProof="0" smtClean="0">
                          <a:ln>
                            <a:noFill/>
                          </a:ln>
                          <a:solidFill>
                            <a:schemeClr val="tx2">
                              <a:lumMod val="75000"/>
                            </a:schemeClr>
                          </a:solidFill>
                          <a:effectLst/>
                          <a:uLnTx/>
                          <a:uFillTx/>
                          <a:latin typeface="Cambria Math" panose="02040503050406030204" pitchFamily="18" charset="0"/>
                          <a:ea typeface="+mn-ea"/>
                          <a:cs typeface="Times New Roman" pitchFamily="18" charset="0"/>
                        </a:rPr>
                        <m:t>=</m:t>
                      </m:r>
                      <m:f>
                        <m:fPr>
                          <m:ctrlPr>
                            <a:rPr kumimoji="0" lang="en-US" sz="3000" b="0" i="1" u="none" strike="noStrike" kern="1100" cap="none" spc="50" normalizeH="0" baseline="0" noProof="0" smtClean="0">
                              <a:ln>
                                <a:noFill/>
                              </a:ln>
                              <a:solidFill>
                                <a:schemeClr val="tx2">
                                  <a:lumMod val="75000"/>
                                </a:schemeClr>
                              </a:solidFill>
                              <a:effectLst/>
                              <a:uLnTx/>
                              <a:uFillTx/>
                              <a:latin typeface="Cambria Math" panose="02040503050406030204" pitchFamily="18" charset="0"/>
                              <a:ea typeface="+mn-ea"/>
                              <a:cs typeface="Times New Roman" pitchFamily="18" charset="0"/>
                            </a:rPr>
                          </m:ctrlPr>
                        </m:fPr>
                        <m:num>
                          <m:r>
                            <a:rPr kumimoji="0" lang="en-US" sz="3000" b="0" i="1" u="none" strike="noStrike" kern="1100" cap="none" spc="50" normalizeH="0" baseline="0" noProof="0" smtClean="0">
                              <a:ln>
                                <a:noFill/>
                              </a:ln>
                              <a:solidFill>
                                <a:schemeClr val="tx2">
                                  <a:lumMod val="75000"/>
                                </a:schemeClr>
                              </a:solidFill>
                              <a:effectLst/>
                              <a:uLnTx/>
                              <a:uFillTx/>
                              <a:latin typeface="Cambria Math" panose="02040503050406030204" pitchFamily="18" charset="0"/>
                              <a:ea typeface="+mn-ea"/>
                              <a:cs typeface="Times New Roman" pitchFamily="18" charset="0"/>
                            </a:rPr>
                            <m:t>𝑑𝑇𝑅</m:t>
                          </m:r>
                        </m:num>
                        <m:den>
                          <m:r>
                            <a:rPr kumimoji="0" lang="en-US" sz="3000" b="0" i="1" u="none" strike="noStrike" kern="1100" cap="none" spc="50" normalizeH="0" baseline="0" noProof="0" smtClean="0">
                              <a:ln>
                                <a:noFill/>
                              </a:ln>
                              <a:solidFill>
                                <a:schemeClr val="tx2">
                                  <a:lumMod val="75000"/>
                                </a:schemeClr>
                              </a:solidFill>
                              <a:effectLst/>
                              <a:uLnTx/>
                              <a:uFillTx/>
                              <a:latin typeface="Cambria Math" panose="02040503050406030204" pitchFamily="18" charset="0"/>
                              <a:ea typeface="+mn-ea"/>
                              <a:cs typeface="Times New Roman" pitchFamily="18" charset="0"/>
                            </a:rPr>
                            <m:t>𝑑𝑄</m:t>
                          </m:r>
                        </m:den>
                      </m:f>
                      <m:r>
                        <a:rPr kumimoji="0" lang="en-US" sz="3000" b="0" i="1" u="none" strike="noStrike" kern="1100" cap="none" spc="50" normalizeH="0" baseline="0" noProof="0">
                          <a:ln>
                            <a:noFill/>
                          </a:ln>
                          <a:solidFill>
                            <a:schemeClr val="tx2">
                              <a:lumMod val="75000"/>
                            </a:schemeClr>
                          </a:solidFill>
                          <a:effectLst/>
                          <a:uLnTx/>
                          <a:uFillTx/>
                          <a:latin typeface="Cambria Math" charset="0"/>
                          <a:ea typeface="+mn-ea"/>
                          <a:cs typeface="Times New Roman" pitchFamily="18" charset="0"/>
                        </a:rPr>
                        <m:t>=20−4</m:t>
                      </m:r>
                      <m:r>
                        <a:rPr kumimoji="0" lang="en-US" sz="3000" b="0" i="1" u="none" strike="noStrike" kern="1100" cap="none" spc="50" normalizeH="0" baseline="0" noProof="0" smtClean="0">
                          <a:ln>
                            <a:noFill/>
                          </a:ln>
                          <a:solidFill>
                            <a:schemeClr val="tx2">
                              <a:lumMod val="75000"/>
                            </a:schemeClr>
                          </a:solidFill>
                          <a:effectLst/>
                          <a:uLnTx/>
                          <a:uFillTx/>
                          <a:latin typeface="Cambria Math" panose="02040503050406030204" pitchFamily="18" charset="0"/>
                          <a:ea typeface="+mn-ea"/>
                          <a:cs typeface="Times New Roman" pitchFamily="18" charset="0"/>
                        </a:rPr>
                        <m:t>𝑄</m:t>
                      </m:r>
                    </m:oMath>
                  </m:oMathPara>
                </a14:m>
                <a:endParaRPr kumimoji="0" lang="en-US" sz="3000" b="0" i="0" u="none" strike="noStrike" kern="1100" cap="none" spc="50" normalizeH="0" baseline="0" noProof="0" dirty="0">
                  <a:ln>
                    <a:noFill/>
                  </a:ln>
                  <a:solidFill>
                    <a:schemeClr val="tx2">
                      <a:lumMod val="75000"/>
                    </a:schemeClr>
                  </a:solidFill>
                  <a:effectLst/>
                  <a:uLnTx/>
                  <a:uFillTx/>
                  <a:latin typeface="Whitney-Book"/>
                  <a:ea typeface="+mn-ea"/>
                  <a:cs typeface="Times New Roman" pitchFamily="18" charset="0"/>
                </a:endParaRPr>
              </a:p>
              <a:p>
                <a:pPr marL="342900" marR="0" lvl="0" indent="-342900" algn="l" defTabSz="457200" rtl="0" eaLnBrk="1" fontAlgn="auto" latinLnBrk="0" hangingPunct="1">
                  <a:lnSpc>
                    <a:spcPct val="100000"/>
                  </a:lnSpc>
                  <a:spcBef>
                    <a:spcPts val="600"/>
                  </a:spcBef>
                  <a:spcAft>
                    <a:spcPts val="1800"/>
                  </a:spcAft>
                  <a:buClr>
                    <a:srgbClr val="1B8BD5"/>
                  </a:buClr>
                  <a:buSzTx/>
                  <a:buFont typeface="Lucida Grande"/>
                  <a:buChar char="»"/>
                  <a:tabLst/>
                  <a:defRPr/>
                </a:pPr>
                <a:endParaRPr kumimoji="0" lang="en-US" sz="3000" b="0" i="0" u="none" strike="noStrike" kern="1100" cap="none" spc="50" normalizeH="0" baseline="0" noProof="0" dirty="0">
                  <a:ln>
                    <a:noFill/>
                  </a:ln>
                  <a:solidFill>
                    <a:schemeClr val="tx2">
                      <a:lumMod val="75000"/>
                    </a:schemeClr>
                  </a:solidFill>
                  <a:effectLst/>
                  <a:uLnTx/>
                  <a:uFillTx/>
                  <a:latin typeface="Whitney-Book"/>
                  <a:ea typeface="+mn-ea"/>
                  <a:cs typeface="Times New Roman" pitchFamily="18" charset="0"/>
                </a:endParaRPr>
              </a:p>
              <a:p>
                <a:pPr marL="342900" marR="0" lvl="0" indent="-342900" algn="l" defTabSz="457200" rtl="0" eaLnBrk="1" fontAlgn="auto" latinLnBrk="0" hangingPunct="1">
                  <a:lnSpc>
                    <a:spcPct val="100000"/>
                  </a:lnSpc>
                  <a:spcBef>
                    <a:spcPts val="600"/>
                  </a:spcBef>
                  <a:spcAft>
                    <a:spcPts val="1800"/>
                  </a:spcAft>
                  <a:buClr>
                    <a:srgbClr val="1B8BD5"/>
                  </a:buClr>
                  <a:buSzTx/>
                  <a:buFont typeface="Lucida Grande"/>
                  <a:buChar char="»"/>
                  <a:tabLst/>
                  <a:defRPr/>
                </a:pPr>
                <a:endParaRPr kumimoji="0" lang="en-US" sz="3000" b="0" i="0" u="none" strike="noStrike" kern="1100" cap="none" spc="50" normalizeH="0" baseline="0" noProof="0" dirty="0">
                  <a:ln>
                    <a:noFill/>
                  </a:ln>
                  <a:solidFill>
                    <a:schemeClr val="tx2">
                      <a:lumMod val="75000"/>
                    </a:schemeClr>
                  </a:solidFill>
                  <a:effectLst/>
                  <a:uLnTx/>
                  <a:uFillTx/>
                  <a:latin typeface="Whitney-Book"/>
                  <a:ea typeface="+mn-ea"/>
                  <a:cs typeface="Times New Roman" pitchFamily="18" charset="0"/>
                </a:endParaRPr>
              </a:p>
              <a:p>
                <a:pPr marL="0" marR="0" lvl="0" indent="0" algn="l" defTabSz="457200" rtl="0" eaLnBrk="1" fontAlgn="auto" latinLnBrk="0" hangingPunct="1">
                  <a:lnSpc>
                    <a:spcPct val="100000"/>
                  </a:lnSpc>
                  <a:spcBef>
                    <a:spcPts val="600"/>
                  </a:spcBef>
                  <a:spcAft>
                    <a:spcPts val="1800"/>
                  </a:spcAft>
                  <a:buClr>
                    <a:srgbClr val="1B8BD5"/>
                  </a:buClr>
                  <a:buSzTx/>
                  <a:buFont typeface="Lucida Grande"/>
                  <a:buNone/>
                  <a:tabLst/>
                  <a:defRPr/>
                </a:pPr>
                <a:endParaRPr kumimoji="0" lang="en-US" sz="3000" b="0" i="0" u="none" strike="noStrike" kern="1100" cap="none" spc="50" normalizeH="0" baseline="0" noProof="0" dirty="0">
                  <a:ln>
                    <a:noFill/>
                  </a:ln>
                  <a:solidFill>
                    <a:schemeClr val="tx2">
                      <a:lumMod val="75000"/>
                    </a:schemeClr>
                  </a:solidFill>
                  <a:effectLst/>
                  <a:uLnTx/>
                  <a:uFillTx/>
                  <a:latin typeface="Whitney-Book"/>
                  <a:ea typeface="+mn-ea"/>
                  <a:cs typeface="Times New Roman" pitchFamily="18" charset="0"/>
                </a:endParaRPr>
              </a:p>
              <a:p>
                <a:pPr marL="514350" marR="0" lvl="0" indent="-514350" algn="l" defTabSz="457200" rtl="0" eaLnBrk="1" fontAlgn="auto" latinLnBrk="0" hangingPunct="1">
                  <a:lnSpc>
                    <a:spcPct val="100000"/>
                  </a:lnSpc>
                  <a:spcBef>
                    <a:spcPts val="600"/>
                  </a:spcBef>
                  <a:spcAft>
                    <a:spcPts val="1800"/>
                  </a:spcAft>
                  <a:buClr>
                    <a:srgbClr val="1B8BD5"/>
                  </a:buClr>
                  <a:buSzTx/>
                  <a:buFont typeface="+mj-lt"/>
                  <a:buAutoNum type="arabicPeriod"/>
                  <a:tabLst/>
                  <a:defRPr/>
                </a:pPr>
                <a:endParaRPr kumimoji="0" lang="en-US" sz="3000" b="0" i="0" u="none" strike="noStrike" kern="1100" cap="none" spc="50" normalizeH="0" baseline="0" noProof="0" dirty="0">
                  <a:ln>
                    <a:noFill/>
                  </a:ln>
                  <a:solidFill>
                    <a:schemeClr val="tx2">
                      <a:lumMod val="75000"/>
                    </a:schemeClr>
                  </a:solidFill>
                  <a:effectLst/>
                  <a:uLnTx/>
                  <a:uFillTx/>
                  <a:latin typeface="Whitney-Book"/>
                  <a:ea typeface="+mn-ea"/>
                  <a:cs typeface="Times New Roman" pitchFamily="18" charset="0"/>
                </a:endParaRPr>
              </a:p>
              <a:p>
                <a:pPr marL="514350" marR="0" lvl="0" indent="-514350" algn="l" defTabSz="457200" rtl="0" eaLnBrk="1" fontAlgn="auto" latinLnBrk="0" hangingPunct="1">
                  <a:lnSpc>
                    <a:spcPct val="100000"/>
                  </a:lnSpc>
                  <a:spcBef>
                    <a:spcPts val="600"/>
                  </a:spcBef>
                  <a:spcAft>
                    <a:spcPts val="1800"/>
                  </a:spcAft>
                  <a:buClr>
                    <a:srgbClr val="1B8BD5"/>
                  </a:buClr>
                  <a:buSzTx/>
                  <a:buFont typeface="+mj-lt"/>
                  <a:buAutoNum type="arabicPeriod"/>
                  <a:tabLst/>
                  <a:defRPr/>
                </a:pPr>
                <a:endParaRPr kumimoji="0" lang="en-US" sz="3000" b="0" i="0" u="none" strike="noStrike" kern="1100" cap="none" spc="50" normalizeH="0" baseline="0" noProof="0" dirty="0">
                  <a:ln>
                    <a:noFill/>
                  </a:ln>
                  <a:solidFill>
                    <a:schemeClr val="tx2">
                      <a:lumMod val="75000"/>
                    </a:schemeClr>
                  </a:solidFill>
                  <a:effectLst/>
                  <a:uLnTx/>
                  <a:uFillTx/>
                  <a:latin typeface="Whitney-Book"/>
                  <a:ea typeface="+mn-ea"/>
                  <a:cs typeface="Times New Roman" pitchFamily="18" charset="0"/>
                </a:endParaRPr>
              </a:p>
            </p:txBody>
          </p:sp>
        </mc:Choice>
        <mc:Fallback xmlns="">
          <p:sp>
            <p:nvSpPr>
              <p:cNvPr id="4" name="Content Placeholder 2"/>
              <p:cNvSpPr txBox="1">
                <a:spLocks noRot="1" noChangeAspect="1" noMove="1" noResize="1" noEditPoints="1" noAdjustHandles="1" noChangeArrowheads="1" noChangeShapeType="1" noTextEdit="1"/>
              </p:cNvSpPr>
              <p:nvPr/>
            </p:nvSpPr>
            <p:spPr>
              <a:xfrm>
                <a:off x="457200" y="1506667"/>
                <a:ext cx="8229600" cy="4529808"/>
              </a:xfrm>
              <a:prstGeom prst="rect">
                <a:avLst/>
              </a:prstGeom>
              <a:blipFill>
                <a:blip r:embed="rId3"/>
                <a:stretch>
                  <a:fillRect l="-17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Content Placeholder 2"/>
              <p:cNvSpPr txBox="1">
                <a:spLocks/>
              </p:cNvSpPr>
              <p:nvPr/>
            </p:nvSpPr>
            <p:spPr>
              <a:xfrm>
                <a:off x="1007211" y="434093"/>
                <a:ext cx="6639060" cy="774863"/>
              </a:xfrm>
              <a:prstGeom prst="rect">
                <a:avLst/>
              </a:prstGeom>
            </p:spPr>
            <p:txBody>
              <a:bodyPr vert="horz" lIns="91440" tIns="45720" rIns="91440" bIns="45720" rtlCol="0">
                <a:normAutofit fontScale="85000" lnSpcReduction="10000"/>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
                    <a:srgbClr val="1B8BD5"/>
                  </a:buClr>
                  <a:buSzTx/>
                  <a:buFont typeface="Lucida Grande"/>
                  <a:buNone/>
                  <a:tabLst/>
                  <a:defRPr/>
                </a:pPr>
                <a:r>
                  <a:rPr kumimoji="0" lang="en-US" sz="3400" b="0" u="none" strike="noStrike" kern="1100" cap="none" spc="50" normalizeH="0" baseline="0" noProof="0" dirty="0">
                    <a:ln>
                      <a:noFill/>
                    </a:ln>
                    <a:solidFill>
                      <a:schemeClr val="tx2">
                        <a:lumMod val="75000"/>
                      </a:schemeClr>
                    </a:solidFill>
                    <a:effectLst/>
                    <a:uLnTx/>
                    <a:uFillTx/>
                    <a:ea typeface="+mn-ea"/>
                    <a:cs typeface="Times New Roman" pitchFamily="18" charset="0"/>
                  </a:rPr>
                  <a:t>Solution: If </a:t>
                </a:r>
                <a14:m>
                  <m:oMath xmlns:m="http://schemas.openxmlformats.org/officeDocument/2006/math">
                    <m:r>
                      <a:rPr kumimoji="0" lang="en-US" sz="3400" b="0" i="1" u="none" strike="noStrike" kern="1100" cap="none" spc="50" normalizeH="0" baseline="0" noProof="0" smtClean="0">
                        <a:ln>
                          <a:noFill/>
                        </a:ln>
                        <a:solidFill>
                          <a:schemeClr val="tx2">
                            <a:lumMod val="75000"/>
                          </a:schemeClr>
                        </a:solidFill>
                        <a:effectLst/>
                        <a:uLnTx/>
                        <a:uFillTx/>
                        <a:latin typeface="Cambria Math" charset="0"/>
                        <a:ea typeface="+mn-ea"/>
                        <a:cs typeface="Times New Roman" pitchFamily="18" charset="0"/>
                      </a:rPr>
                      <m:t>𝑄</m:t>
                    </m:r>
                    <m:r>
                      <a:rPr kumimoji="0" lang="en-US" sz="3400" b="0" i="1" u="none" strike="noStrike" kern="1100" cap="none" spc="50" normalizeH="0" baseline="0" noProof="0" smtClean="0">
                        <a:ln>
                          <a:noFill/>
                        </a:ln>
                        <a:solidFill>
                          <a:schemeClr val="tx2">
                            <a:lumMod val="75000"/>
                          </a:schemeClr>
                        </a:solidFill>
                        <a:effectLst/>
                        <a:uLnTx/>
                        <a:uFillTx/>
                        <a:latin typeface="Cambria Math" charset="0"/>
                        <a:ea typeface="+mn-ea"/>
                        <a:cs typeface="Times New Roman" pitchFamily="18" charset="0"/>
                      </a:rPr>
                      <m:t>=10−0.5</m:t>
                    </m:r>
                    <m:r>
                      <a:rPr kumimoji="0" lang="en-US" sz="3400" b="0" i="1" u="none" strike="noStrike" kern="1100" cap="none" spc="50" normalizeH="0" baseline="0" noProof="0" smtClean="0">
                        <a:ln>
                          <a:noFill/>
                        </a:ln>
                        <a:solidFill>
                          <a:schemeClr val="tx2">
                            <a:lumMod val="75000"/>
                          </a:schemeClr>
                        </a:solidFill>
                        <a:effectLst/>
                        <a:uLnTx/>
                        <a:uFillTx/>
                        <a:latin typeface="Cambria Math" panose="02040503050406030204" pitchFamily="18" charset="0"/>
                        <a:ea typeface="+mn-ea"/>
                        <a:cs typeface="Times New Roman" pitchFamily="18" charset="0"/>
                      </a:rPr>
                      <m:t>𝑃</m:t>
                    </m:r>
                  </m:oMath>
                </a14:m>
                <a:r>
                  <a:rPr kumimoji="0" lang="en-US" sz="3400" b="0" i="0" u="none" strike="noStrike" kern="1100" cap="none" spc="50" normalizeH="0" baseline="0" noProof="0" dirty="0">
                    <a:ln>
                      <a:noFill/>
                    </a:ln>
                    <a:solidFill>
                      <a:schemeClr val="tx2">
                        <a:lumMod val="75000"/>
                      </a:schemeClr>
                    </a:solidFill>
                    <a:effectLst/>
                    <a:uLnTx/>
                    <a:uFillTx/>
                    <a:latin typeface="Whitney-Book"/>
                    <a:ea typeface="+mn-ea"/>
                    <a:cs typeface="+mn-cs"/>
                  </a:rPr>
                  <a:t>, what is </a:t>
                </a:r>
                <a:r>
                  <a:rPr kumimoji="0" lang="en-US" sz="3400" b="0" i="1" u="none" strike="noStrike" kern="1100" cap="none" spc="50" normalizeH="0" baseline="0" noProof="0" dirty="0">
                    <a:ln>
                      <a:noFill/>
                    </a:ln>
                    <a:solidFill>
                      <a:schemeClr val="tx2">
                        <a:lumMod val="75000"/>
                      </a:schemeClr>
                    </a:solidFill>
                    <a:effectLst/>
                    <a:uLnTx/>
                    <a:uFillTx/>
                    <a:latin typeface="Whitney-Book"/>
                    <a:ea typeface="+mn-ea"/>
                    <a:cs typeface="+mn-cs"/>
                  </a:rPr>
                  <a:t>MR </a:t>
                </a:r>
                <a:r>
                  <a:rPr kumimoji="0" lang="en-US" sz="3400" b="0" i="0" u="none" strike="noStrike" kern="1100" cap="none" spc="50" normalizeH="0" baseline="0" noProof="0" dirty="0">
                    <a:ln>
                      <a:noFill/>
                    </a:ln>
                    <a:solidFill>
                      <a:schemeClr val="tx2">
                        <a:lumMod val="75000"/>
                      </a:schemeClr>
                    </a:solidFill>
                    <a:effectLst/>
                    <a:uLnTx/>
                    <a:uFillTx/>
                    <a:latin typeface="Whitney-Book"/>
                    <a:ea typeface="+mn-ea"/>
                    <a:cs typeface="+mn-cs"/>
                  </a:rPr>
                  <a:t>?</a:t>
                </a:r>
              </a:p>
            </p:txBody>
          </p:sp>
        </mc:Choice>
        <mc:Fallback xmlns="">
          <p:sp>
            <p:nvSpPr>
              <p:cNvPr id="6" name="Content Placeholder 2"/>
              <p:cNvSpPr txBox="1">
                <a:spLocks noRot="1" noChangeAspect="1" noMove="1" noResize="1" noEditPoints="1" noAdjustHandles="1" noChangeArrowheads="1" noChangeShapeType="1" noTextEdit="1"/>
              </p:cNvSpPr>
              <p:nvPr/>
            </p:nvSpPr>
            <p:spPr>
              <a:xfrm>
                <a:off x="1007211" y="434093"/>
                <a:ext cx="6639060" cy="774863"/>
              </a:xfrm>
              <a:prstGeom prst="rect">
                <a:avLst/>
              </a:prstGeom>
              <a:blipFill>
                <a:blip r:embed="rId4"/>
                <a:stretch>
                  <a:fillRect l="-1928" t="-14173" r="-918"/>
                </a:stretch>
              </a:blipFill>
            </p:spPr>
            <p:txBody>
              <a:bodyPr/>
              <a:lstStyle/>
              <a:p>
                <a:r>
                  <a:rPr lang="en-US">
                    <a:noFill/>
                  </a:rPr>
                  <a:t> </a:t>
                </a:r>
              </a:p>
            </p:txBody>
          </p:sp>
        </mc:Fallback>
      </mc:AlternateContent>
    </p:spTree>
    <p:extLst>
      <p:ext uri="{BB962C8B-B14F-4D97-AF65-F5344CB8AC3E}">
        <p14:creationId xmlns:p14="http://schemas.microsoft.com/office/powerpoint/2010/main" val="5522665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OUTLINE of module 2</a:t>
            </a:r>
          </a:p>
        </p:txBody>
      </p:sp>
      <p:sp>
        <p:nvSpPr>
          <p:cNvPr id="3" name="Content Placeholder 2"/>
          <p:cNvSpPr>
            <a:spLocks noGrp="1"/>
          </p:cNvSpPr>
          <p:nvPr>
            <p:ph idx="1"/>
          </p:nvPr>
        </p:nvSpPr>
        <p:spPr>
          <a:xfrm>
            <a:off x="457200" y="1094874"/>
            <a:ext cx="8229600" cy="5212407"/>
          </a:xfrm>
        </p:spPr>
        <p:txBody>
          <a:bodyPr>
            <a:normAutofit lnSpcReduction="10000"/>
          </a:bodyPr>
          <a:lstStyle/>
          <a:p>
            <a:pPr>
              <a:lnSpc>
                <a:spcPct val="120000"/>
              </a:lnSpc>
            </a:pPr>
            <a:r>
              <a:rPr lang="en-US" sz="2813" noProof="0" dirty="0">
                <a:solidFill>
                  <a:schemeClr val="bg1">
                    <a:lumMod val="85000"/>
                  </a:schemeClr>
                </a:solidFill>
                <a:latin typeface="Whitney-Book" pitchFamily="50" charset="0"/>
                <a:cs typeface="Whitney-Book" pitchFamily="50" charset="0"/>
              </a:rPr>
              <a:t>The law of demand </a:t>
            </a:r>
          </a:p>
          <a:p>
            <a:pPr marL="914400" lvl="1" indent="-514350">
              <a:lnSpc>
                <a:spcPct val="120000"/>
              </a:lnSpc>
            </a:pPr>
            <a:endParaRPr lang="en-US" sz="2613" noProof="0" dirty="0">
              <a:latin typeface="Whitney-Book" pitchFamily="50" charset="0"/>
              <a:cs typeface="Whitney-Book" pitchFamily="50" charset="0"/>
            </a:endParaRPr>
          </a:p>
          <a:p>
            <a:pPr>
              <a:lnSpc>
                <a:spcPct val="120000"/>
              </a:lnSpc>
            </a:pPr>
            <a:r>
              <a:rPr lang="en-US" sz="2813" noProof="0" dirty="0">
                <a:solidFill>
                  <a:schemeClr val="bg1">
                    <a:lumMod val="85000"/>
                  </a:schemeClr>
                </a:solidFill>
                <a:latin typeface="Whitney-Book" pitchFamily="50" charset="0"/>
                <a:cs typeface="Whitney-Book" pitchFamily="50" charset="0"/>
              </a:rPr>
              <a:t>Elasticities</a:t>
            </a:r>
          </a:p>
          <a:p>
            <a:pPr>
              <a:lnSpc>
                <a:spcPct val="120000"/>
              </a:lnSpc>
            </a:pPr>
            <a:endParaRPr lang="en-US" sz="2813" noProof="0" dirty="0">
              <a:latin typeface="Whitney-Book" pitchFamily="50" charset="0"/>
              <a:cs typeface="Whitney-Book" pitchFamily="50" charset="0"/>
            </a:endParaRPr>
          </a:p>
          <a:p>
            <a:pPr>
              <a:lnSpc>
                <a:spcPct val="120000"/>
              </a:lnSpc>
            </a:pPr>
            <a:r>
              <a:rPr lang="en-US" sz="2813" dirty="0">
                <a:solidFill>
                  <a:schemeClr val="bg1">
                    <a:lumMod val="85000"/>
                  </a:schemeClr>
                </a:solidFill>
                <a:latin typeface="Whitney-Book" pitchFamily="50" charset="0"/>
                <a:cs typeface="Whitney-Book" pitchFamily="50" charset="0"/>
              </a:rPr>
              <a:t>Demand and revenue</a:t>
            </a:r>
          </a:p>
          <a:p>
            <a:pPr marL="914400" lvl="1" indent="-514350">
              <a:lnSpc>
                <a:spcPct val="120000"/>
              </a:lnSpc>
            </a:pPr>
            <a:r>
              <a:rPr lang="en-US" sz="2613" noProof="0" dirty="0">
                <a:solidFill>
                  <a:schemeClr val="bg1">
                    <a:lumMod val="85000"/>
                  </a:schemeClr>
                </a:solidFill>
                <a:latin typeface="Whitney-Book" pitchFamily="50" charset="0"/>
                <a:cs typeface="Whitney-Book" pitchFamily="50" charset="0"/>
              </a:rPr>
              <a:t>Elasticity and revenue</a:t>
            </a:r>
          </a:p>
          <a:p>
            <a:pPr marL="914400" lvl="1" indent="-514350">
              <a:lnSpc>
                <a:spcPct val="120000"/>
              </a:lnSpc>
            </a:pPr>
            <a:r>
              <a:rPr lang="en-US" sz="2613" dirty="0">
                <a:solidFill>
                  <a:schemeClr val="bg1">
                    <a:lumMod val="85000"/>
                  </a:schemeClr>
                </a:solidFill>
                <a:latin typeface="Whitney-Book" pitchFamily="50" charset="0"/>
                <a:cs typeface="Whitney-Book" pitchFamily="50" charset="0"/>
              </a:rPr>
              <a:t>Marginal revenue</a:t>
            </a:r>
          </a:p>
          <a:p>
            <a:pPr marL="914400" lvl="1" indent="-514350">
              <a:lnSpc>
                <a:spcPct val="120000"/>
              </a:lnSpc>
            </a:pPr>
            <a:endParaRPr lang="en-US" sz="2613" dirty="0">
              <a:solidFill>
                <a:schemeClr val="bg1">
                  <a:lumMod val="85000"/>
                </a:schemeClr>
              </a:solidFill>
              <a:latin typeface="Whitney-Book" pitchFamily="50" charset="0"/>
              <a:cs typeface="Whitney-Book" pitchFamily="50" charset="0"/>
            </a:endParaRPr>
          </a:p>
          <a:p>
            <a:pPr>
              <a:lnSpc>
                <a:spcPct val="120000"/>
              </a:lnSpc>
            </a:pPr>
            <a:r>
              <a:rPr lang="en-US" sz="2813" b="1" dirty="0">
                <a:latin typeface="Whitney-Book" pitchFamily="50" charset="0"/>
                <a:cs typeface="Whitney-Book" pitchFamily="50" charset="0"/>
              </a:rPr>
              <a:t>Demand estimation</a:t>
            </a:r>
          </a:p>
          <a:p>
            <a:pPr marL="914400" lvl="1" indent="-514350">
              <a:lnSpc>
                <a:spcPct val="120000"/>
              </a:lnSpc>
            </a:pPr>
            <a:endParaRPr lang="en-US" sz="2613" noProof="0" dirty="0">
              <a:latin typeface="Whitney-Book" pitchFamily="50" charset="0"/>
              <a:cs typeface="Whitney-Book" pitchFamily="50" charset="0"/>
            </a:endParaRPr>
          </a:p>
          <a:p>
            <a:pPr marL="914400" lvl="1" indent="-514350">
              <a:lnSpc>
                <a:spcPct val="120000"/>
              </a:lnSpc>
            </a:pPr>
            <a:endParaRPr lang="en-US" sz="2613" noProof="0" dirty="0">
              <a:latin typeface="Whitney-Book" pitchFamily="50" charset="0"/>
              <a:cs typeface="Whitney-Book" pitchFamily="50" charset="0"/>
            </a:endParaRPr>
          </a:p>
          <a:p>
            <a:pPr marL="457200" lvl="1" indent="0">
              <a:buNone/>
            </a:pPr>
            <a:endParaRPr lang="en-US" noProof="0" dirty="0"/>
          </a:p>
          <a:p>
            <a:pPr lvl="1"/>
            <a:endParaRPr lang="en-US" noProof="0" dirty="0"/>
          </a:p>
          <a:p>
            <a:endParaRPr lang="en-US" noProof="0" dirty="0"/>
          </a:p>
        </p:txBody>
      </p:sp>
      <p:grpSp>
        <p:nvGrpSpPr>
          <p:cNvPr id="10" name="Group 9">
            <a:extLst>
              <a:ext uri="{FF2B5EF4-FFF2-40B4-BE49-F238E27FC236}">
                <a16:creationId xmlns:a16="http://schemas.microsoft.com/office/drawing/2014/main" id="{819D5377-0FD2-4CF4-8ED1-361F11CB0153}"/>
              </a:ext>
            </a:extLst>
          </p:cNvPr>
          <p:cNvGrpSpPr/>
          <p:nvPr/>
        </p:nvGrpSpPr>
        <p:grpSpPr>
          <a:xfrm>
            <a:off x="5059889" y="5930441"/>
            <a:ext cx="2880954" cy="566487"/>
            <a:chOff x="62404" y="6168852"/>
            <a:chExt cx="3027875" cy="566487"/>
          </a:xfrm>
        </p:grpSpPr>
        <p:sp>
          <p:nvSpPr>
            <p:cNvPr id="11" name="Rectangle 3">
              <a:extLst>
                <a:ext uri="{FF2B5EF4-FFF2-40B4-BE49-F238E27FC236}">
                  <a16:creationId xmlns:a16="http://schemas.microsoft.com/office/drawing/2014/main" id="{B7C2BC87-0932-449C-A1A2-8C50BFC7535C}"/>
                </a:ext>
              </a:extLst>
            </p:cNvPr>
            <p:cNvSpPr txBox="1">
              <a:spLocks noChangeArrowheads="1"/>
            </p:cNvSpPr>
            <p:nvPr/>
          </p:nvSpPr>
          <p:spPr>
            <a:xfrm>
              <a:off x="62404" y="6168852"/>
              <a:ext cx="3027875" cy="566487"/>
            </a:xfrm>
            <a:prstGeom prst="rect">
              <a:avLst/>
            </a:prstGeom>
            <a:gradFill>
              <a:gsLst>
                <a:gs pos="44000">
                  <a:schemeClr val="bg1">
                    <a:lumMod val="85000"/>
                  </a:schemeClr>
                </a:gs>
                <a:gs pos="0">
                  <a:schemeClr val="tx1">
                    <a:lumMod val="65000"/>
                    <a:lumOff val="35000"/>
                  </a:schemeClr>
                </a:gs>
                <a:gs pos="100000">
                  <a:schemeClr val="tx1">
                    <a:lumMod val="50000"/>
                    <a:lumOff val="50000"/>
                  </a:schemeClr>
                </a:gs>
              </a:gsLst>
              <a:lin ang="5400000" scaled="1"/>
            </a:gradFill>
            <a:ln w="15875">
              <a:noFill/>
            </a:ln>
            <a:effectLst>
              <a:outerShdw blurRad="50800" dist="38100" dir="2700000" algn="tl" rotWithShape="0">
                <a:prstClr val="black">
                  <a:alpha val="40000"/>
                </a:prstClr>
              </a:outerShdw>
              <a:softEdge rad="50800"/>
            </a:effectLst>
          </p:spPr>
          <p:txBody>
            <a:bodyPr vert="horz" lIns="92069" tIns="46035" rIns="92069" bIns="46035" rtlCol="0" anchor="ctr">
              <a:normAutofit/>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600"/>
                </a:spcBef>
                <a:spcAft>
                  <a:spcPts val="563"/>
                </a:spcAft>
                <a:buNone/>
              </a:pPr>
              <a:r>
                <a:rPr lang="en-US" sz="2400" dirty="0">
                  <a:cs typeface="Times New Roman" pitchFamily="18" charset="0"/>
                </a:rPr>
                <a:t>        </a:t>
              </a:r>
              <a:r>
                <a:rPr lang="en-US" sz="2400" dirty="0">
                  <a:ln>
                    <a:solidFill>
                      <a:schemeClr val="bg1">
                        <a:lumMod val="50000"/>
                      </a:schemeClr>
                    </a:solidFill>
                  </a:ln>
                  <a:solidFill>
                    <a:schemeClr val="tx1"/>
                  </a:solidFill>
                  <a:latin typeface="Calibri" panose="020F0502020204030204" pitchFamily="34" charset="0"/>
                  <a:cs typeface="Calibri" panose="020F0502020204030204" pitchFamily="34" charset="0"/>
                </a:rPr>
                <a:t>Problem Set 2</a:t>
              </a:r>
            </a:p>
          </p:txBody>
        </p:sp>
        <p:sp>
          <p:nvSpPr>
            <p:cNvPr id="12" name="Right Arrow 1">
              <a:extLst>
                <a:ext uri="{FF2B5EF4-FFF2-40B4-BE49-F238E27FC236}">
                  <a16:creationId xmlns:a16="http://schemas.microsoft.com/office/drawing/2014/main" id="{4195F188-4F9D-4F29-AB32-81317B644748}"/>
                </a:ext>
              </a:extLst>
            </p:cNvPr>
            <p:cNvSpPr/>
            <p:nvPr/>
          </p:nvSpPr>
          <p:spPr>
            <a:xfrm>
              <a:off x="208445" y="6315750"/>
              <a:ext cx="373445" cy="301998"/>
            </a:xfrm>
            <a:prstGeom prst="rightArrow">
              <a:avLst/>
            </a:prstGeom>
            <a:solidFill>
              <a:schemeClr val="accent2"/>
            </a:solidFill>
            <a:effectLst>
              <a:outerShdw blurRad="40000" dist="23000" dir="5400000" rotWithShape="0">
                <a:srgbClr val="000000">
                  <a:alpha val="35000"/>
                </a:srgbClr>
              </a:outerShdw>
              <a:softEdge rad="254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981837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1000" fill="hold"/>
                                        <p:tgtEl>
                                          <p:spTgt spid="10"/>
                                        </p:tgtEl>
                                        <p:attrNameLst>
                                          <p:attrName>ppt_w</p:attrName>
                                        </p:attrNameLst>
                                      </p:cBhvr>
                                      <p:tavLst>
                                        <p:tav tm="0">
                                          <p:val>
                                            <p:fltVal val="0"/>
                                          </p:val>
                                        </p:tav>
                                        <p:tav tm="100000">
                                          <p:val>
                                            <p:strVal val="#ppt_w"/>
                                          </p:val>
                                        </p:tav>
                                      </p:tavLst>
                                    </p:anim>
                                    <p:anim calcmode="lin" valueType="num">
                                      <p:cBhvr>
                                        <p:cTn id="8" dur="1000" fill="hold"/>
                                        <p:tgtEl>
                                          <p:spTgt spid="10"/>
                                        </p:tgtEl>
                                        <p:attrNameLst>
                                          <p:attrName>ppt_h</p:attrName>
                                        </p:attrNameLst>
                                      </p:cBhvr>
                                      <p:tavLst>
                                        <p:tav tm="0">
                                          <p:val>
                                            <p:fltVal val="0"/>
                                          </p:val>
                                        </p:tav>
                                        <p:tav tm="100000">
                                          <p:val>
                                            <p:strVal val="#ppt_h"/>
                                          </p:val>
                                        </p:tav>
                                      </p:tavLst>
                                    </p:anim>
                                    <p:anim calcmode="lin" valueType="num">
                                      <p:cBhvr>
                                        <p:cTn id="9" dur="1000" fill="hold"/>
                                        <p:tgtEl>
                                          <p:spTgt spid="10"/>
                                        </p:tgtEl>
                                        <p:attrNameLst>
                                          <p:attrName>style.rotation</p:attrName>
                                        </p:attrNameLst>
                                      </p:cBhvr>
                                      <p:tavLst>
                                        <p:tav tm="0">
                                          <p:val>
                                            <p:fltVal val="90"/>
                                          </p:val>
                                        </p:tav>
                                        <p:tav tm="100000">
                                          <p:val>
                                            <p:fltVal val="0"/>
                                          </p:val>
                                        </p:tav>
                                      </p:tavLst>
                                    </p:anim>
                                    <p:animEffect transition="in" filter="fade">
                                      <p:cBhvr>
                                        <p:cTn id="10"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428626" y="271124"/>
            <a:ext cx="8715375" cy="800439"/>
          </a:xfrm>
        </p:spPr>
        <p:txBody>
          <a:bodyPr/>
          <a:lstStyle/>
          <a:p>
            <a:pPr algn="ctr"/>
            <a:r>
              <a:rPr lang="en-US" dirty="0"/>
              <a:t>How to estimate a demand curve?</a:t>
            </a:r>
          </a:p>
        </p:txBody>
      </p:sp>
      <p:sp>
        <p:nvSpPr>
          <p:cNvPr id="61443" name="Rectangle 3"/>
          <p:cNvSpPr>
            <a:spLocks noGrp="1" noChangeArrowheads="1"/>
          </p:cNvSpPr>
          <p:nvPr>
            <p:ph type="body" idx="1"/>
          </p:nvPr>
        </p:nvSpPr>
        <p:spPr>
          <a:xfrm>
            <a:off x="457200" y="1419985"/>
            <a:ext cx="8229600" cy="4893729"/>
          </a:xfrm>
        </p:spPr>
        <p:txBody>
          <a:bodyPr>
            <a:normAutofit/>
          </a:bodyPr>
          <a:lstStyle/>
          <a:p>
            <a:pPr>
              <a:spcBef>
                <a:spcPts val="1125"/>
              </a:spcBef>
              <a:spcAft>
                <a:spcPts val="563"/>
              </a:spcAft>
            </a:pPr>
            <a:r>
              <a:rPr lang="fr-FR" dirty="0"/>
              <a:t>Use </a:t>
            </a:r>
            <a:r>
              <a:rPr lang="fr-FR" dirty="0" err="1"/>
              <a:t>regression</a:t>
            </a:r>
            <a:r>
              <a:rPr lang="fr-FR" dirty="0"/>
              <a:t> </a:t>
            </a:r>
            <a:r>
              <a:rPr lang="fr-FR" dirty="0" err="1"/>
              <a:t>analysis</a:t>
            </a:r>
            <a:r>
              <a:rPr lang="fr-FR" dirty="0"/>
              <a:t> to </a:t>
            </a:r>
            <a:r>
              <a:rPr lang="fr-FR" dirty="0" err="1"/>
              <a:t>estimate</a:t>
            </a:r>
            <a:r>
              <a:rPr lang="fr-FR" dirty="0"/>
              <a:t> the </a:t>
            </a:r>
            <a:r>
              <a:rPr lang="fr-FR" dirty="0" err="1"/>
              <a:t>relationship</a:t>
            </a:r>
            <a:r>
              <a:rPr lang="fr-FR" dirty="0"/>
              <a:t> </a:t>
            </a:r>
            <a:r>
              <a:rPr lang="fr-FR" dirty="0" err="1"/>
              <a:t>between</a:t>
            </a:r>
            <a:r>
              <a:rPr lang="fr-FR" dirty="0"/>
              <a:t> </a:t>
            </a:r>
            <a:r>
              <a:rPr lang="fr-FR" dirty="0" err="1"/>
              <a:t>price</a:t>
            </a:r>
            <a:r>
              <a:rPr lang="fr-FR" dirty="0"/>
              <a:t> and </a:t>
            </a:r>
            <a:r>
              <a:rPr lang="fr-FR" dirty="0" err="1"/>
              <a:t>quantity</a:t>
            </a:r>
            <a:endParaRPr lang="fr-FR" dirty="0"/>
          </a:p>
          <a:p>
            <a:pPr>
              <a:spcBef>
                <a:spcPts val="1125"/>
              </a:spcBef>
              <a:spcAft>
                <a:spcPts val="563"/>
              </a:spcAft>
            </a:pPr>
            <a:r>
              <a:rPr lang="fr-FR" dirty="0"/>
              <a:t>Need data </a:t>
            </a:r>
            <a:r>
              <a:rPr lang="fr-FR" dirty="0" err="1"/>
              <a:t>linking</a:t>
            </a:r>
            <a:r>
              <a:rPr lang="fr-FR" dirty="0"/>
              <a:t> </a:t>
            </a:r>
            <a:r>
              <a:rPr lang="fr-FR" dirty="0" err="1"/>
              <a:t>prices</a:t>
            </a:r>
            <a:r>
              <a:rPr lang="fr-FR" dirty="0"/>
              <a:t> and </a:t>
            </a:r>
            <a:r>
              <a:rPr lang="fr-FR" dirty="0" err="1"/>
              <a:t>quantities</a:t>
            </a:r>
            <a:endParaRPr lang="fr-FR" dirty="0"/>
          </a:p>
          <a:p>
            <a:pPr>
              <a:spcBef>
                <a:spcPts val="1125"/>
              </a:spcBef>
              <a:spcAft>
                <a:spcPts val="563"/>
              </a:spcAft>
            </a:pPr>
            <a:r>
              <a:rPr lang="fr-FR" dirty="0" err="1"/>
              <a:t>Several</a:t>
            </a:r>
            <a:r>
              <a:rPr lang="fr-FR" dirty="0"/>
              <a:t> </a:t>
            </a:r>
            <a:r>
              <a:rPr lang="fr-FR" dirty="0" err="1"/>
              <a:t>approaches</a:t>
            </a:r>
            <a:r>
              <a:rPr lang="fr-FR" dirty="0"/>
              <a:t> </a:t>
            </a:r>
          </a:p>
          <a:p>
            <a:pPr lvl="1">
              <a:spcBef>
                <a:spcPts val="1125"/>
              </a:spcBef>
              <a:spcAft>
                <a:spcPts val="563"/>
              </a:spcAft>
            </a:pPr>
            <a:r>
              <a:rPr lang="fr-FR" dirty="0"/>
              <a:t>Transaction data (marketing </a:t>
            </a:r>
            <a:r>
              <a:rPr lang="fr-FR" dirty="0" err="1"/>
              <a:t>research</a:t>
            </a:r>
            <a:r>
              <a:rPr lang="fr-FR" dirty="0"/>
              <a:t> </a:t>
            </a:r>
            <a:r>
              <a:rPr lang="fr-FR" dirty="0" err="1"/>
              <a:t>firms</a:t>
            </a:r>
            <a:r>
              <a:rPr lang="fr-FR" dirty="0"/>
              <a:t>, internet, « Ralph </a:t>
            </a:r>
            <a:r>
              <a:rPr lang="fr-FR" dirty="0" err="1"/>
              <a:t>cards</a:t>
            </a:r>
            <a:r>
              <a:rPr lang="fr-FR" dirty="0"/>
              <a:t> »)</a:t>
            </a:r>
          </a:p>
          <a:p>
            <a:pPr lvl="1">
              <a:spcBef>
                <a:spcPts val="1125"/>
              </a:spcBef>
              <a:spcAft>
                <a:spcPts val="563"/>
              </a:spcAft>
            </a:pPr>
            <a:r>
              <a:rPr lang="fr-FR" dirty="0" err="1"/>
              <a:t>Surveys</a:t>
            </a:r>
            <a:r>
              <a:rPr lang="fr-FR" dirty="0"/>
              <a:t> </a:t>
            </a:r>
          </a:p>
          <a:p>
            <a:pPr lvl="1">
              <a:spcBef>
                <a:spcPts val="1125"/>
              </a:spcBef>
              <a:spcAft>
                <a:spcPts val="563"/>
              </a:spcAft>
            </a:pPr>
            <a:r>
              <a:rPr lang="fr-FR" dirty="0" err="1"/>
              <a:t>Market</a:t>
            </a:r>
            <a:r>
              <a:rPr lang="fr-FR" dirty="0"/>
              <a:t> </a:t>
            </a:r>
            <a:r>
              <a:rPr lang="fr-FR" dirty="0" err="1"/>
              <a:t>experimentation</a:t>
            </a:r>
            <a:r>
              <a:rPr lang="fr-FR" b="1" dirty="0"/>
              <a:t> </a:t>
            </a:r>
          </a:p>
        </p:txBody>
      </p:sp>
      <p:sp>
        <p:nvSpPr>
          <p:cNvPr id="4" name="Slide Number Placeholder 3"/>
          <p:cNvSpPr>
            <a:spLocks noGrp="1"/>
          </p:cNvSpPr>
          <p:nvPr>
            <p:ph type="sldNum" sz="quarter" idx="10"/>
          </p:nvPr>
        </p:nvSpPr>
        <p:spPr/>
        <p:txBody>
          <a:bodyPr/>
          <a:lstStyle/>
          <a:p>
            <a:fld id="{DBC38028-5B1C-49D3-BF22-2CE9385E6DA2}" type="slidenum">
              <a:rPr lang="en-US" smtClean="0"/>
              <a:pPr/>
              <a:t>23</a:t>
            </a:fld>
            <a:endParaRPr 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4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44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44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44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144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5774"/>
            <a:ext cx="9144000" cy="1143000"/>
          </a:xfrm>
        </p:spPr>
        <p:txBody>
          <a:bodyPr/>
          <a:lstStyle/>
          <a:p>
            <a:r>
              <a:rPr lang="en-US" dirty="0"/>
              <a:t>Econometric estimates</a:t>
            </a:r>
          </a:p>
        </p:txBody>
      </p:sp>
      <p:sp>
        <p:nvSpPr>
          <p:cNvPr id="3" name="Content Placeholder 2"/>
          <p:cNvSpPr>
            <a:spLocks noGrp="1"/>
          </p:cNvSpPr>
          <p:nvPr>
            <p:ph idx="1"/>
          </p:nvPr>
        </p:nvSpPr>
        <p:spPr>
          <a:xfrm>
            <a:off x="457200" y="1237103"/>
            <a:ext cx="8229600" cy="5255135"/>
          </a:xfrm>
        </p:spPr>
        <p:txBody>
          <a:bodyPr>
            <a:normAutofit/>
          </a:bodyPr>
          <a:lstStyle/>
          <a:p>
            <a:r>
              <a:rPr lang="en-US" b="1" dirty="0"/>
              <a:t>Description:</a:t>
            </a:r>
            <a:r>
              <a:rPr lang="en-US" dirty="0"/>
              <a:t> Combination of economics, statistics, and mathematical model building</a:t>
            </a:r>
          </a:p>
          <a:p>
            <a:endParaRPr lang="en-US" dirty="0"/>
          </a:p>
          <a:p>
            <a:r>
              <a:rPr lang="en-US" dirty="0"/>
              <a:t>Develop hypotheses about relationships between </a:t>
            </a:r>
            <a:r>
              <a:rPr lang="en-US" dirty="0">
                <a:solidFill>
                  <a:srgbClr val="C00000"/>
                </a:solidFill>
              </a:rPr>
              <a:t>dependent variables </a:t>
            </a:r>
            <a:r>
              <a:rPr lang="en-US" dirty="0"/>
              <a:t>(quantity sold) and </a:t>
            </a:r>
            <a:r>
              <a:rPr lang="en-US" dirty="0">
                <a:solidFill>
                  <a:srgbClr val="C00000"/>
                </a:solidFill>
              </a:rPr>
              <a:t>independent/explanatory variables </a:t>
            </a:r>
            <a:r>
              <a:rPr lang="en-US" dirty="0"/>
              <a:t>(e.g., price)</a:t>
            </a:r>
          </a:p>
          <a:p>
            <a:pPr marL="0" indent="0">
              <a:buNone/>
            </a:pPr>
            <a:endParaRPr lang="en-US" dirty="0"/>
          </a:p>
          <a:p>
            <a:r>
              <a:rPr lang="en-US" b="1" dirty="0"/>
              <a:t>Common method:</a:t>
            </a:r>
            <a:r>
              <a:rPr lang="en-US" dirty="0">
                <a:solidFill>
                  <a:srgbClr val="FF0000"/>
                </a:solidFill>
              </a:rPr>
              <a:t> </a:t>
            </a:r>
            <a:r>
              <a:rPr lang="en-US" dirty="0">
                <a:solidFill>
                  <a:srgbClr val="C00000"/>
                </a:solidFill>
              </a:rPr>
              <a:t>Least squares regression</a:t>
            </a:r>
            <a:endParaRPr lang="en-US" dirty="0"/>
          </a:p>
        </p:txBody>
      </p:sp>
      <p:sp>
        <p:nvSpPr>
          <p:cNvPr id="4" name="Slide Number Placeholder 3">
            <a:extLst>
              <a:ext uri="{FF2B5EF4-FFF2-40B4-BE49-F238E27FC236}">
                <a16:creationId xmlns:a16="http://schemas.microsoft.com/office/drawing/2014/main" id="{E58915E8-AE32-2647-8284-58F47A0521B3}"/>
              </a:ext>
            </a:extLst>
          </p:cNvPr>
          <p:cNvSpPr>
            <a:spLocks noGrp="1"/>
          </p:cNvSpPr>
          <p:nvPr>
            <p:ph type="sldNum" sz="quarter" idx="12"/>
          </p:nvPr>
        </p:nvSpPr>
        <p:spPr/>
        <p:txBody>
          <a:bodyPr/>
          <a:lstStyle/>
          <a:p>
            <a:fld id="{0F3206DB-9488-D04D-BDD1-A7C9D84C4579}" type="slidenum">
              <a:rPr lang="en-US" smtClean="0"/>
              <a:t>24</a:t>
            </a:fld>
            <a:endParaRPr lang="en-US"/>
          </a:p>
        </p:txBody>
      </p:sp>
    </p:spTree>
    <p:extLst>
      <p:ext uri="{BB962C8B-B14F-4D97-AF65-F5344CB8AC3E}">
        <p14:creationId xmlns:p14="http://schemas.microsoft.com/office/powerpoint/2010/main" val="127225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127215"/>
            <a:ext cx="9039496" cy="1143000"/>
          </a:xfrm>
        </p:spPr>
        <p:txBody>
          <a:bodyPr>
            <a:normAutofit/>
          </a:bodyPr>
          <a:lstStyle/>
          <a:p>
            <a:r>
              <a:rPr lang="en-US" dirty="0"/>
              <a:t>Ordinary Least Squares </a:t>
            </a:r>
            <a:br>
              <a:rPr lang="en-US" dirty="0"/>
            </a:br>
            <a:r>
              <a:rPr lang="en-US" dirty="0"/>
              <a:t>The Basic Equation</a:t>
            </a:r>
          </a:p>
        </p:txBody>
      </p:sp>
      <p:sp>
        <p:nvSpPr>
          <p:cNvPr id="3" name="Content Placeholder 2"/>
          <p:cNvSpPr>
            <a:spLocks noGrp="1"/>
          </p:cNvSpPr>
          <p:nvPr>
            <p:ph idx="1"/>
          </p:nvPr>
        </p:nvSpPr>
        <p:spPr>
          <a:xfrm>
            <a:off x="457200" y="1955566"/>
            <a:ext cx="8229600" cy="4525963"/>
          </a:xfrm>
        </p:spPr>
        <p:txBody>
          <a:bodyPr>
            <a:normAutofit/>
          </a:bodyPr>
          <a:lstStyle/>
          <a:p>
            <a:pPr>
              <a:spcBef>
                <a:spcPts val="600"/>
              </a:spcBef>
              <a:spcAft>
                <a:spcPts val="600"/>
              </a:spcAft>
              <a:buFontTx/>
              <a:buNone/>
            </a:pPr>
            <a:r>
              <a:rPr lang="en-US" dirty="0"/>
              <a:t>where: </a:t>
            </a:r>
            <a:endParaRPr lang="en-US" sz="1000" dirty="0"/>
          </a:p>
          <a:p>
            <a:pPr>
              <a:spcBef>
                <a:spcPts val="600"/>
              </a:spcBef>
              <a:spcAft>
                <a:spcPts val="600"/>
              </a:spcAft>
              <a:buFontTx/>
              <a:buNone/>
            </a:pPr>
            <a:r>
              <a:rPr lang="en-US" i="1" dirty="0"/>
              <a:t>Q</a:t>
            </a:r>
            <a:r>
              <a:rPr lang="en-US" dirty="0"/>
              <a:t> = Quantity sold (dependent variable)</a:t>
            </a:r>
          </a:p>
          <a:p>
            <a:pPr>
              <a:spcBef>
                <a:spcPts val="600"/>
              </a:spcBef>
              <a:spcAft>
                <a:spcPts val="600"/>
              </a:spcAft>
              <a:buFontTx/>
              <a:buNone/>
            </a:pPr>
            <a:r>
              <a:rPr lang="en-US" i="1" dirty="0"/>
              <a:t>P</a:t>
            </a:r>
            <a:r>
              <a:rPr lang="en-US" dirty="0"/>
              <a:t> = Price (explanatory variable)</a:t>
            </a:r>
          </a:p>
          <a:p>
            <a:pPr>
              <a:spcBef>
                <a:spcPts val="600"/>
              </a:spcBef>
              <a:spcAft>
                <a:spcPts val="600"/>
              </a:spcAft>
              <a:buFontTx/>
              <a:buNone/>
            </a:pPr>
            <a:r>
              <a:rPr lang="en-US" i="1" dirty="0"/>
              <a:t>a</a:t>
            </a:r>
            <a:r>
              <a:rPr lang="en-US" dirty="0"/>
              <a:t> = Intercept with y-axis (</a:t>
            </a:r>
            <a:r>
              <a:rPr lang="en-US" i="1" dirty="0"/>
              <a:t>Q</a:t>
            </a:r>
            <a:r>
              <a:rPr lang="en-US" dirty="0"/>
              <a:t> is on y-axis)</a:t>
            </a:r>
          </a:p>
          <a:p>
            <a:pPr>
              <a:spcBef>
                <a:spcPts val="600"/>
              </a:spcBef>
              <a:spcAft>
                <a:spcPts val="600"/>
              </a:spcAft>
              <a:buNone/>
            </a:pPr>
            <a:r>
              <a:rPr lang="en-US" i="1" dirty="0"/>
              <a:t>b</a:t>
            </a:r>
            <a:r>
              <a:rPr lang="en-US" dirty="0"/>
              <a:t> = Slope of </a:t>
            </a:r>
            <a:r>
              <a:rPr lang="en-US" dirty="0">
                <a:solidFill>
                  <a:srgbClr val="C00000"/>
                </a:solidFill>
              </a:rPr>
              <a:t>regression </a:t>
            </a:r>
            <a:r>
              <a:rPr lang="en-US" dirty="0"/>
              <a:t>line</a:t>
            </a:r>
            <a:endParaRPr lang="en-US" sz="1000" dirty="0"/>
          </a:p>
        </p:txBody>
      </p:sp>
      <mc:AlternateContent xmlns:mc="http://schemas.openxmlformats.org/markup-compatibility/2006" xmlns:a14="http://schemas.microsoft.com/office/drawing/2010/main">
        <mc:Choice Requires="a14">
          <p:sp>
            <p:nvSpPr>
              <p:cNvPr id="4" name="TextBox 3"/>
              <p:cNvSpPr txBox="1"/>
              <p:nvPr/>
            </p:nvSpPr>
            <p:spPr>
              <a:xfrm>
                <a:off x="3393887" y="1524489"/>
                <a:ext cx="2356225" cy="492443"/>
              </a:xfrm>
              <a:prstGeom prst="rect">
                <a:avLst/>
              </a:prstGeom>
              <a:noFill/>
            </p:spPr>
            <p:txBody>
              <a:bodyPr wrap="square" lIns="0" tIns="0" rIns="0" bIns="0" rtlCol="0">
                <a:spAutoFit/>
              </a:bodyPr>
              <a:lstStyle/>
              <a:p>
                <a:pPr/>
                <a14:m>
                  <m:oMathPara xmlns:m="http://schemas.openxmlformats.org/officeDocument/2006/math">
                    <m:oMath>
                      <m:r>
                        <a:rPr lang="en-US" sz="3200" b="0" i="1" smtClean="0">
                          <a:solidFill>
                            <a:srgbClr val="C00000"/>
                          </a:solidFill>
                          <a:latin typeface="Cambria Math" panose="02040503050406030204" pitchFamily="18" charset="0"/>
                        </a:rPr>
                        <m:t>𝑄</m:t>
                      </m:r>
                      <m:r>
                        <a:rPr lang="en-US" sz="3200" b="0" i="1" smtClean="0">
                          <a:solidFill>
                            <a:srgbClr val="C00000"/>
                          </a:solidFill>
                          <a:latin typeface="Cambria Math" panose="02040503050406030204" pitchFamily="18" charset="0"/>
                        </a:rPr>
                        <m:t>=</m:t>
                      </m:r>
                      <m:r>
                        <a:rPr lang="en-US" sz="3200" b="0" i="1" smtClean="0">
                          <a:solidFill>
                            <a:srgbClr val="C00000"/>
                          </a:solidFill>
                          <a:latin typeface="Cambria Math" panose="02040503050406030204" pitchFamily="18" charset="0"/>
                        </a:rPr>
                        <m:t>𝑎</m:t>
                      </m:r>
                      <m:r>
                        <a:rPr lang="en-US" sz="3200" b="0" i="1" smtClean="0">
                          <a:solidFill>
                            <a:srgbClr val="C00000"/>
                          </a:solidFill>
                          <a:latin typeface="Cambria Math" panose="02040503050406030204" pitchFamily="18" charset="0"/>
                        </a:rPr>
                        <m:t>+</m:t>
                      </m:r>
                      <m:r>
                        <a:rPr lang="en-US" sz="3200" b="0" i="1" smtClean="0">
                          <a:solidFill>
                            <a:srgbClr val="C00000"/>
                          </a:solidFill>
                          <a:latin typeface="Cambria Math" panose="02040503050406030204" pitchFamily="18" charset="0"/>
                        </a:rPr>
                        <m:t>𝑏</m:t>
                      </m:r>
                      <m:r>
                        <a:rPr lang="en-US" sz="3200" b="0" i="1" smtClean="0">
                          <a:solidFill>
                            <a:srgbClr val="C00000"/>
                          </a:solidFill>
                          <a:latin typeface="Cambria Math" charset="0"/>
                          <a:ea typeface="Cambria Math" charset="0"/>
                          <a:cs typeface="Cambria Math" charset="0"/>
                        </a:rPr>
                        <m:t>∙</m:t>
                      </m:r>
                      <m:r>
                        <a:rPr lang="en-US" sz="3200" b="0" i="1" smtClean="0">
                          <a:solidFill>
                            <a:srgbClr val="C00000"/>
                          </a:solidFill>
                          <a:latin typeface="Cambria Math" panose="02040503050406030204" pitchFamily="18" charset="0"/>
                        </a:rPr>
                        <m:t>𝑃</m:t>
                      </m:r>
                    </m:oMath>
                  </m:oMathPara>
                </a14:m>
                <a:endParaRPr lang="en-US" sz="3200" b="0" i="1" dirty="0">
                  <a:solidFill>
                    <a:srgbClr val="C00000"/>
                  </a:solidFill>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3393887" y="1524489"/>
                <a:ext cx="2356225" cy="492443"/>
              </a:xfrm>
              <a:prstGeom prst="rect">
                <a:avLst/>
              </a:prstGeom>
              <a:blipFill>
                <a:blip r:embed="rId3"/>
                <a:stretch>
                  <a:fillRect l="-6417" r="-4278" b="-282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2287362" y="5596837"/>
                <a:ext cx="4257129" cy="998478"/>
              </a:xfrm>
              <a:prstGeom prst="rect">
                <a:avLst/>
              </a:prstGeom>
              <a:noFill/>
            </p:spPr>
            <p:txBody>
              <a:bodyPr wrap="square" lIns="0" tIns="0" rIns="0" bIns="0" rtlCol="0">
                <a:spAutoFit/>
              </a:bodyPr>
              <a:lstStyle/>
              <a:p>
                <a:pPr/>
                <a14:m>
                  <m:oMathPara xmlns:m="http://schemas.openxmlformats.org/officeDocument/2006/math">
                    <m:oMath>
                      <m:sSub>
                        <m:sSubPr>
                          <m:ctrlPr>
                            <a:rPr lang="en-US" sz="3200" b="0" i="1" smtClean="0">
                              <a:solidFill>
                                <a:srgbClr val="C00000"/>
                              </a:solidFill>
                              <a:latin typeface="Cambria Math" panose="02040503050406030204" pitchFamily="18" charset="0"/>
                            </a:rPr>
                          </m:ctrlPr>
                        </m:sSubPr>
                        <m:e>
                          <m:r>
                            <a:rPr lang="en-US" sz="3200" b="0" i="1" smtClean="0">
                              <a:solidFill>
                                <a:srgbClr val="C00000"/>
                              </a:solidFill>
                              <a:latin typeface="Cambria Math" panose="02040503050406030204" pitchFamily="18" charset="0"/>
                            </a:rPr>
                            <m:t>𝐸</m:t>
                          </m:r>
                        </m:e>
                        <m:sub>
                          <m:r>
                            <a:rPr lang="en-US" sz="3200" b="0" i="1" smtClean="0">
                              <a:solidFill>
                                <a:srgbClr val="C00000"/>
                              </a:solidFill>
                              <a:latin typeface="Cambria Math" panose="02040503050406030204" pitchFamily="18" charset="0"/>
                            </a:rPr>
                            <m:t>𝑑</m:t>
                          </m:r>
                        </m:sub>
                      </m:sSub>
                      <m:r>
                        <a:rPr lang="en-US" sz="3200" b="0" i="1" smtClean="0">
                          <a:solidFill>
                            <a:srgbClr val="C00000"/>
                          </a:solidFill>
                          <a:latin typeface="Cambria Math" panose="02040503050406030204" pitchFamily="18" charset="0"/>
                        </a:rPr>
                        <m:t>=</m:t>
                      </m:r>
                      <m:f>
                        <m:fPr>
                          <m:ctrlPr>
                            <a:rPr lang="el-GR" sz="3200" i="1" smtClean="0">
                              <a:solidFill>
                                <a:srgbClr val="C00000"/>
                              </a:solidFill>
                              <a:latin typeface="Cambria Math" charset="0"/>
                              <a:ea typeface="Cambria Math" charset="0"/>
                              <a:cs typeface="Cambria Math" charset="0"/>
                            </a:rPr>
                          </m:ctrlPr>
                        </m:fPr>
                        <m:num>
                          <m:r>
                            <m:rPr>
                              <m:sty m:val="p"/>
                            </m:rPr>
                            <a:rPr lang="el-GR" sz="3200" i="1" smtClean="0">
                              <a:solidFill>
                                <a:srgbClr val="C00000"/>
                              </a:solidFill>
                              <a:latin typeface="Cambria Math" charset="0"/>
                              <a:ea typeface="Cambria Math" charset="0"/>
                              <a:cs typeface="Cambria Math" charset="0"/>
                            </a:rPr>
                            <m:t>Δ</m:t>
                          </m:r>
                          <m:r>
                            <a:rPr lang="en-US" sz="3200" b="0" i="1" smtClean="0">
                              <a:solidFill>
                                <a:srgbClr val="C00000"/>
                              </a:solidFill>
                              <a:latin typeface="Cambria Math" charset="0"/>
                              <a:ea typeface="Cambria Math" charset="0"/>
                              <a:cs typeface="Cambria Math" charset="0"/>
                            </a:rPr>
                            <m:t>𝑄</m:t>
                          </m:r>
                        </m:num>
                        <m:den>
                          <m:r>
                            <m:rPr>
                              <m:sty m:val="p"/>
                            </m:rPr>
                            <a:rPr lang="el-GR" sz="3200" i="1">
                              <a:solidFill>
                                <a:srgbClr val="C00000"/>
                              </a:solidFill>
                              <a:latin typeface="Cambria Math" charset="0"/>
                              <a:ea typeface="Cambria Math" charset="0"/>
                              <a:cs typeface="Cambria Math" charset="0"/>
                            </a:rPr>
                            <m:t>Δ</m:t>
                          </m:r>
                          <m:r>
                            <a:rPr lang="en-US" sz="3200" b="0" i="1" smtClean="0">
                              <a:solidFill>
                                <a:srgbClr val="C00000"/>
                              </a:solidFill>
                              <a:latin typeface="Cambria Math" charset="0"/>
                              <a:ea typeface="Cambria Math" charset="0"/>
                              <a:cs typeface="Cambria Math" charset="0"/>
                            </a:rPr>
                            <m:t>𝑃</m:t>
                          </m:r>
                        </m:den>
                      </m:f>
                      <m:r>
                        <a:rPr lang="en-US" sz="3200" i="1">
                          <a:solidFill>
                            <a:srgbClr val="C00000"/>
                          </a:solidFill>
                          <a:latin typeface="Cambria Math" charset="0"/>
                          <a:ea typeface="Cambria Math" charset="0"/>
                          <a:cs typeface="Cambria Math" charset="0"/>
                        </a:rPr>
                        <m:t>∙</m:t>
                      </m:r>
                      <m:f>
                        <m:fPr>
                          <m:ctrlPr>
                            <a:rPr lang="en-US" sz="3200" i="1">
                              <a:solidFill>
                                <a:srgbClr val="C00000"/>
                              </a:solidFill>
                              <a:latin typeface="Cambria Math" panose="02040503050406030204" pitchFamily="18" charset="0"/>
                            </a:rPr>
                          </m:ctrlPr>
                        </m:fPr>
                        <m:num>
                          <m:r>
                            <a:rPr lang="en-US" sz="3200" i="1">
                              <a:solidFill>
                                <a:srgbClr val="C00000"/>
                              </a:solidFill>
                              <a:latin typeface="Cambria Math" panose="02040503050406030204" pitchFamily="18" charset="0"/>
                            </a:rPr>
                            <m:t>𝑃</m:t>
                          </m:r>
                        </m:num>
                        <m:den>
                          <m:r>
                            <a:rPr lang="en-US" sz="3200" i="1">
                              <a:solidFill>
                                <a:srgbClr val="C00000"/>
                              </a:solidFill>
                              <a:latin typeface="Cambria Math" panose="02040503050406030204" pitchFamily="18" charset="0"/>
                            </a:rPr>
                            <m:t>𝑄</m:t>
                          </m:r>
                        </m:den>
                      </m:f>
                      <m:r>
                        <a:rPr lang="en-US" sz="3200" b="0" i="1" smtClean="0">
                          <a:solidFill>
                            <a:srgbClr val="C00000"/>
                          </a:solidFill>
                          <a:latin typeface="Cambria Math" charset="0"/>
                        </a:rPr>
                        <m:t>=</m:t>
                      </m:r>
                      <m:r>
                        <a:rPr lang="en-US" sz="3200" b="0" i="1" smtClean="0">
                          <a:solidFill>
                            <a:srgbClr val="C00000"/>
                          </a:solidFill>
                          <a:latin typeface="Cambria Math" panose="02040503050406030204" pitchFamily="18" charset="0"/>
                        </a:rPr>
                        <m:t>𝑏</m:t>
                      </m:r>
                      <m:r>
                        <a:rPr lang="en-US" sz="3200" i="1">
                          <a:solidFill>
                            <a:srgbClr val="C00000"/>
                          </a:solidFill>
                          <a:latin typeface="Cambria Math" charset="0"/>
                          <a:ea typeface="Cambria Math" charset="0"/>
                          <a:cs typeface="Cambria Math" charset="0"/>
                        </a:rPr>
                        <m:t>∙</m:t>
                      </m:r>
                      <m:f>
                        <m:fPr>
                          <m:ctrlPr>
                            <a:rPr lang="en-US" sz="3200" b="0" i="1" smtClean="0">
                              <a:solidFill>
                                <a:srgbClr val="C00000"/>
                              </a:solidFill>
                              <a:latin typeface="Cambria Math" panose="02040503050406030204" pitchFamily="18" charset="0"/>
                            </a:rPr>
                          </m:ctrlPr>
                        </m:fPr>
                        <m:num>
                          <m:r>
                            <a:rPr lang="en-US" sz="3200" b="0" i="1" smtClean="0">
                              <a:solidFill>
                                <a:srgbClr val="C00000"/>
                              </a:solidFill>
                              <a:latin typeface="Cambria Math" panose="02040503050406030204" pitchFamily="18" charset="0"/>
                            </a:rPr>
                            <m:t>𝑃</m:t>
                          </m:r>
                        </m:num>
                        <m:den>
                          <m:r>
                            <a:rPr lang="en-US" sz="3200" b="0" i="1" smtClean="0">
                              <a:solidFill>
                                <a:srgbClr val="C00000"/>
                              </a:solidFill>
                              <a:latin typeface="Cambria Math" panose="02040503050406030204" pitchFamily="18" charset="0"/>
                            </a:rPr>
                            <m:t>𝑄</m:t>
                          </m:r>
                        </m:den>
                      </m:f>
                    </m:oMath>
                  </m:oMathPara>
                </a14:m>
                <a:endParaRPr lang="en-US" sz="3200" b="0" i="1" dirty="0">
                  <a:solidFill>
                    <a:srgbClr val="FF0000"/>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2287362" y="5596837"/>
                <a:ext cx="4257129" cy="998478"/>
              </a:xfrm>
              <a:prstGeom prst="rect">
                <a:avLst/>
              </a:prstGeom>
              <a:blipFill>
                <a:blip r:embed="rId4"/>
                <a:stretch>
                  <a:fillRect t="-2532" b="-16456"/>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911EED4B-0A7F-0A41-8E83-D4BA514F59E8}"/>
              </a:ext>
            </a:extLst>
          </p:cNvPr>
          <p:cNvSpPr>
            <a:spLocks noGrp="1"/>
          </p:cNvSpPr>
          <p:nvPr>
            <p:ph type="sldNum" sz="quarter" idx="12"/>
          </p:nvPr>
        </p:nvSpPr>
        <p:spPr/>
        <p:txBody>
          <a:bodyPr/>
          <a:lstStyle/>
          <a:p>
            <a:fld id="{0F3206DB-9488-D04D-BDD1-A7C9D84C4579}" type="slidenum">
              <a:rPr lang="en-US" smtClean="0"/>
              <a:t>25</a:t>
            </a:fld>
            <a:endParaRPr lang="en-US"/>
          </a:p>
        </p:txBody>
      </p:sp>
      <p:grpSp>
        <p:nvGrpSpPr>
          <p:cNvPr id="7" name="Group 6">
            <a:extLst>
              <a:ext uri="{FF2B5EF4-FFF2-40B4-BE49-F238E27FC236}">
                <a16:creationId xmlns:a16="http://schemas.microsoft.com/office/drawing/2014/main" id="{B14FD198-5D79-4EB4-BB35-C8DBBA5B8993}"/>
              </a:ext>
            </a:extLst>
          </p:cNvPr>
          <p:cNvGrpSpPr/>
          <p:nvPr/>
        </p:nvGrpSpPr>
        <p:grpSpPr>
          <a:xfrm>
            <a:off x="4016243" y="4899372"/>
            <a:ext cx="1277653" cy="655547"/>
            <a:chOff x="6162676" y="3325903"/>
            <a:chExt cx="1277653" cy="655547"/>
          </a:xfrm>
        </p:grpSpPr>
        <p:sp>
          <p:nvSpPr>
            <p:cNvPr id="8" name="TextBox 7">
              <a:extLst>
                <a:ext uri="{FF2B5EF4-FFF2-40B4-BE49-F238E27FC236}">
                  <a16:creationId xmlns:a16="http://schemas.microsoft.com/office/drawing/2014/main" id="{7F9ED3EE-67DC-4DA2-8007-2467AC40C7FC}"/>
                </a:ext>
              </a:extLst>
            </p:cNvPr>
            <p:cNvSpPr txBox="1"/>
            <p:nvPr/>
          </p:nvSpPr>
          <p:spPr>
            <a:xfrm>
              <a:off x="6648451" y="3325903"/>
              <a:ext cx="791878" cy="369332"/>
            </a:xfrm>
            <a:prstGeom prst="rect">
              <a:avLst/>
            </a:prstGeom>
            <a:noFill/>
            <a:ln>
              <a:solidFill>
                <a:srgbClr val="C00000"/>
              </a:solidFill>
            </a:ln>
            <a:effectLst>
              <a:outerShdw blurRad="50800" dist="38100" dir="2700000" algn="tl" rotWithShape="0">
                <a:prstClr val="black">
                  <a:alpha val="40000"/>
                </a:prstClr>
              </a:outerShdw>
            </a:effectLst>
          </p:spPr>
          <p:txBody>
            <a:bodyPr wrap="square" rtlCol="0">
              <a:spAutoFit/>
            </a:bodyPr>
            <a:lstStyle/>
            <a:p>
              <a:r>
                <a:rPr lang="en-US" dirty="0">
                  <a:solidFill>
                    <a:srgbClr val="C00000"/>
                  </a:solidFill>
                  <a:latin typeface="Whitney-Book" pitchFamily="50" charset="0"/>
                </a:rPr>
                <a:t>Slope</a:t>
              </a:r>
            </a:p>
          </p:txBody>
        </p:sp>
        <p:cxnSp>
          <p:nvCxnSpPr>
            <p:cNvPr id="9" name="Straight Arrow Connector 8">
              <a:extLst>
                <a:ext uri="{FF2B5EF4-FFF2-40B4-BE49-F238E27FC236}">
                  <a16:creationId xmlns:a16="http://schemas.microsoft.com/office/drawing/2014/main" id="{4290C950-4228-4DEC-A028-283E26CA248C}"/>
                </a:ext>
              </a:extLst>
            </p:cNvPr>
            <p:cNvCxnSpPr>
              <a:cxnSpLocks/>
            </p:cNvCxnSpPr>
            <p:nvPr/>
          </p:nvCxnSpPr>
          <p:spPr>
            <a:xfrm flipH="1">
              <a:off x="6162676" y="3673441"/>
              <a:ext cx="485774" cy="308009"/>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355530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Airline Ticket experimentation</a:t>
            </a:r>
          </a:p>
        </p:txBody>
      </p:sp>
      <p:sp>
        <p:nvSpPr>
          <p:cNvPr id="10" name="Rectangle 6"/>
          <p:cNvSpPr>
            <a:spLocks noChangeArrowheads="1"/>
          </p:cNvSpPr>
          <p:nvPr/>
        </p:nvSpPr>
        <p:spPr bwMode="auto">
          <a:xfrm>
            <a:off x="5340080" y="1124443"/>
            <a:ext cx="1630053" cy="5590043"/>
          </a:xfrm>
          <a:prstGeom prst="rect">
            <a:avLst/>
          </a:prstGeom>
          <a:noFill/>
          <a:ln w="9525">
            <a:noFill/>
            <a:miter lim="800000"/>
            <a:headEnd/>
            <a:tailEnd/>
          </a:ln>
          <a:effectLst/>
        </p:spPr>
        <p:txBody>
          <a:bodyPr wrap="none" lIns="20048" tIns="28402" rIns="20048" bIns="28402"/>
          <a:lstStyle/>
          <a:p>
            <a:pPr>
              <a:lnSpc>
                <a:spcPts val="2526"/>
              </a:lnSpc>
              <a:tabLst>
                <a:tab pos="481157" algn="l"/>
                <a:tab pos="962315" algn="l"/>
                <a:tab pos="1443472" algn="l"/>
              </a:tabLst>
            </a:pPr>
            <a:r>
              <a:rPr lang="en-US" sz="2800" dirty="0">
                <a:solidFill>
                  <a:schemeClr val="accent1">
                    <a:lumMod val="75000"/>
                  </a:schemeClr>
                </a:solidFill>
                <a:latin typeface="Whitney Book" pitchFamily="50" charset="0"/>
                <a:cs typeface="Whitney Book" pitchFamily="50" charset="0"/>
              </a:rPr>
              <a:t>Seats Sold</a:t>
            </a:r>
          </a:p>
          <a:p>
            <a:pPr>
              <a:lnSpc>
                <a:spcPts val="2526"/>
              </a:lnSpc>
              <a:tabLst>
                <a:tab pos="481157" algn="l"/>
                <a:tab pos="962315" algn="l"/>
                <a:tab pos="1443472" algn="l"/>
              </a:tabLst>
            </a:pPr>
            <a:r>
              <a:rPr lang="en-US" sz="2100" dirty="0">
                <a:solidFill>
                  <a:schemeClr val="accent1">
                    <a:lumMod val="75000"/>
                  </a:schemeClr>
                </a:solidFill>
                <a:latin typeface="Whitney Book" pitchFamily="50" charset="0"/>
                <a:cs typeface="Whitney Book" pitchFamily="50" charset="0"/>
              </a:rPr>
              <a:t>64</a:t>
            </a:r>
          </a:p>
          <a:p>
            <a:pPr>
              <a:lnSpc>
                <a:spcPts val="2526"/>
              </a:lnSpc>
              <a:tabLst>
                <a:tab pos="481157" algn="l"/>
                <a:tab pos="962315" algn="l"/>
                <a:tab pos="1443472" algn="l"/>
              </a:tabLst>
            </a:pPr>
            <a:r>
              <a:rPr lang="en-US" sz="2100" dirty="0">
                <a:solidFill>
                  <a:schemeClr val="accent1">
                    <a:lumMod val="75000"/>
                  </a:schemeClr>
                </a:solidFill>
                <a:latin typeface="Whitney Book" pitchFamily="50" charset="0"/>
                <a:cs typeface="Whitney Book" pitchFamily="50" charset="0"/>
              </a:rPr>
              <a:t>33</a:t>
            </a:r>
          </a:p>
          <a:p>
            <a:pPr>
              <a:lnSpc>
                <a:spcPts val="2526"/>
              </a:lnSpc>
              <a:tabLst>
                <a:tab pos="481157" algn="l"/>
                <a:tab pos="962315" algn="l"/>
                <a:tab pos="1443472" algn="l"/>
              </a:tabLst>
            </a:pPr>
            <a:r>
              <a:rPr lang="en-US" sz="2100" dirty="0">
                <a:solidFill>
                  <a:schemeClr val="accent1">
                    <a:lumMod val="75000"/>
                  </a:schemeClr>
                </a:solidFill>
                <a:latin typeface="Whitney Book" pitchFamily="50" charset="0"/>
                <a:cs typeface="Whitney Book" pitchFamily="50" charset="0"/>
              </a:rPr>
              <a:t>37</a:t>
            </a:r>
          </a:p>
          <a:p>
            <a:pPr>
              <a:lnSpc>
                <a:spcPts val="2526"/>
              </a:lnSpc>
              <a:tabLst>
                <a:tab pos="481157" algn="l"/>
                <a:tab pos="962315" algn="l"/>
                <a:tab pos="1443472" algn="l"/>
              </a:tabLst>
            </a:pPr>
            <a:r>
              <a:rPr lang="en-US" sz="2100" dirty="0">
                <a:solidFill>
                  <a:schemeClr val="accent1">
                    <a:lumMod val="75000"/>
                  </a:schemeClr>
                </a:solidFill>
                <a:latin typeface="Whitney Book" pitchFamily="50" charset="0"/>
                <a:cs typeface="Whitney Book" pitchFamily="50" charset="0"/>
              </a:rPr>
              <a:t>83</a:t>
            </a:r>
          </a:p>
          <a:p>
            <a:pPr>
              <a:lnSpc>
                <a:spcPts val="2526"/>
              </a:lnSpc>
              <a:tabLst>
                <a:tab pos="481157" algn="l"/>
                <a:tab pos="962315" algn="l"/>
                <a:tab pos="1443472" algn="l"/>
              </a:tabLst>
            </a:pPr>
            <a:r>
              <a:rPr lang="en-US" sz="2100" dirty="0">
                <a:solidFill>
                  <a:schemeClr val="accent1">
                    <a:lumMod val="75000"/>
                  </a:schemeClr>
                </a:solidFill>
                <a:latin typeface="Whitney Book" pitchFamily="50" charset="0"/>
                <a:cs typeface="Whitney Book" pitchFamily="50" charset="0"/>
              </a:rPr>
              <a:t>111</a:t>
            </a:r>
          </a:p>
          <a:p>
            <a:pPr>
              <a:lnSpc>
                <a:spcPts val="2526"/>
              </a:lnSpc>
              <a:tabLst>
                <a:tab pos="481157" algn="l"/>
                <a:tab pos="962315" algn="l"/>
                <a:tab pos="1443472" algn="l"/>
              </a:tabLst>
            </a:pPr>
            <a:r>
              <a:rPr lang="en-US" sz="2100" dirty="0">
                <a:solidFill>
                  <a:schemeClr val="accent1">
                    <a:lumMod val="75000"/>
                  </a:schemeClr>
                </a:solidFill>
                <a:latin typeface="Whitney Book" pitchFamily="50" charset="0"/>
                <a:cs typeface="Whitney Book" pitchFamily="50" charset="0"/>
              </a:rPr>
              <a:t>137</a:t>
            </a:r>
          </a:p>
          <a:p>
            <a:pPr>
              <a:lnSpc>
                <a:spcPts val="2526"/>
              </a:lnSpc>
              <a:tabLst>
                <a:tab pos="481157" algn="l"/>
                <a:tab pos="962315" algn="l"/>
                <a:tab pos="1443472" algn="l"/>
              </a:tabLst>
            </a:pPr>
            <a:r>
              <a:rPr lang="en-US" sz="2100" dirty="0">
                <a:solidFill>
                  <a:schemeClr val="accent1">
                    <a:lumMod val="75000"/>
                  </a:schemeClr>
                </a:solidFill>
                <a:latin typeface="Whitney Book" pitchFamily="50" charset="0"/>
                <a:cs typeface="Whitney Book" pitchFamily="50" charset="0"/>
              </a:rPr>
              <a:t>109</a:t>
            </a:r>
          </a:p>
          <a:p>
            <a:pPr>
              <a:lnSpc>
                <a:spcPts val="2526"/>
              </a:lnSpc>
              <a:tabLst>
                <a:tab pos="481157" algn="l"/>
                <a:tab pos="962315" algn="l"/>
                <a:tab pos="1443472" algn="l"/>
              </a:tabLst>
            </a:pPr>
            <a:r>
              <a:rPr lang="en-US" sz="2100" dirty="0">
                <a:solidFill>
                  <a:schemeClr val="accent1">
                    <a:lumMod val="75000"/>
                  </a:schemeClr>
                </a:solidFill>
                <a:latin typeface="Whitney Book" pitchFamily="50" charset="0"/>
                <a:cs typeface="Whitney Book" pitchFamily="50" charset="0"/>
              </a:rPr>
              <a:t>96</a:t>
            </a:r>
          </a:p>
          <a:p>
            <a:pPr>
              <a:lnSpc>
                <a:spcPts val="2526"/>
              </a:lnSpc>
              <a:tabLst>
                <a:tab pos="481157" algn="l"/>
                <a:tab pos="962315" algn="l"/>
                <a:tab pos="1443472" algn="l"/>
              </a:tabLst>
            </a:pPr>
            <a:r>
              <a:rPr lang="en-US" sz="2100" dirty="0">
                <a:solidFill>
                  <a:schemeClr val="accent1">
                    <a:lumMod val="75000"/>
                  </a:schemeClr>
                </a:solidFill>
                <a:latin typeface="Whitney Book" pitchFamily="50" charset="0"/>
                <a:cs typeface="Whitney Book" pitchFamily="50" charset="0"/>
              </a:rPr>
              <a:t>59</a:t>
            </a:r>
          </a:p>
          <a:p>
            <a:pPr>
              <a:lnSpc>
                <a:spcPts val="2526"/>
              </a:lnSpc>
              <a:tabLst>
                <a:tab pos="481157" algn="l"/>
                <a:tab pos="962315" algn="l"/>
                <a:tab pos="1443472" algn="l"/>
              </a:tabLst>
            </a:pPr>
            <a:r>
              <a:rPr lang="en-US" sz="2100" dirty="0">
                <a:solidFill>
                  <a:schemeClr val="accent1">
                    <a:lumMod val="75000"/>
                  </a:schemeClr>
                </a:solidFill>
                <a:latin typeface="Whitney Book" pitchFamily="50" charset="0"/>
                <a:cs typeface="Whitney Book" pitchFamily="50" charset="0"/>
              </a:rPr>
              <a:t>83</a:t>
            </a:r>
          </a:p>
          <a:p>
            <a:pPr>
              <a:lnSpc>
                <a:spcPts val="2526"/>
              </a:lnSpc>
              <a:tabLst>
                <a:tab pos="481157" algn="l"/>
                <a:tab pos="962315" algn="l"/>
                <a:tab pos="1443472" algn="l"/>
              </a:tabLst>
            </a:pPr>
            <a:r>
              <a:rPr lang="en-US" sz="2100" dirty="0">
                <a:solidFill>
                  <a:schemeClr val="accent1">
                    <a:lumMod val="75000"/>
                  </a:schemeClr>
                </a:solidFill>
                <a:latin typeface="Whitney Book" pitchFamily="50" charset="0"/>
                <a:cs typeface="Whitney Book" pitchFamily="50" charset="0"/>
              </a:rPr>
              <a:t>90</a:t>
            </a:r>
          </a:p>
          <a:p>
            <a:pPr>
              <a:lnSpc>
                <a:spcPts val="2526"/>
              </a:lnSpc>
              <a:tabLst>
                <a:tab pos="481157" algn="l"/>
                <a:tab pos="962315" algn="l"/>
                <a:tab pos="1443472" algn="l"/>
              </a:tabLst>
            </a:pPr>
            <a:r>
              <a:rPr lang="en-US" sz="2100" dirty="0">
                <a:solidFill>
                  <a:schemeClr val="accent1">
                    <a:lumMod val="75000"/>
                  </a:schemeClr>
                </a:solidFill>
                <a:latin typeface="Whitney Book" pitchFamily="50" charset="0"/>
                <a:cs typeface="Whitney Book" pitchFamily="50" charset="0"/>
              </a:rPr>
              <a:t>105</a:t>
            </a:r>
          </a:p>
          <a:p>
            <a:pPr>
              <a:lnSpc>
                <a:spcPts val="2526"/>
              </a:lnSpc>
              <a:tabLst>
                <a:tab pos="481157" algn="l"/>
                <a:tab pos="962315" algn="l"/>
                <a:tab pos="1443472" algn="l"/>
              </a:tabLst>
            </a:pPr>
            <a:r>
              <a:rPr lang="en-US" sz="2100" dirty="0">
                <a:solidFill>
                  <a:schemeClr val="accent1">
                    <a:lumMod val="75000"/>
                  </a:schemeClr>
                </a:solidFill>
                <a:latin typeface="Whitney Book" pitchFamily="50" charset="0"/>
                <a:cs typeface="Whitney Book" pitchFamily="50" charset="0"/>
              </a:rPr>
              <a:t>75</a:t>
            </a:r>
          </a:p>
          <a:p>
            <a:pPr>
              <a:lnSpc>
                <a:spcPts val="2526"/>
              </a:lnSpc>
              <a:tabLst>
                <a:tab pos="481157" algn="l"/>
                <a:tab pos="962315" algn="l"/>
                <a:tab pos="1443472" algn="l"/>
              </a:tabLst>
            </a:pPr>
            <a:r>
              <a:rPr lang="en-US" sz="2100" dirty="0">
                <a:solidFill>
                  <a:schemeClr val="accent1">
                    <a:lumMod val="75000"/>
                  </a:schemeClr>
                </a:solidFill>
                <a:latin typeface="Whitney Book" pitchFamily="50" charset="0"/>
                <a:cs typeface="Whitney Book" pitchFamily="50" charset="0"/>
              </a:rPr>
              <a:t>91</a:t>
            </a:r>
          </a:p>
          <a:p>
            <a:pPr>
              <a:lnSpc>
                <a:spcPts val="2526"/>
              </a:lnSpc>
              <a:tabLst>
                <a:tab pos="481157" algn="l"/>
                <a:tab pos="962315" algn="l"/>
                <a:tab pos="1443472" algn="l"/>
              </a:tabLst>
            </a:pPr>
            <a:r>
              <a:rPr lang="en-US" sz="2100" dirty="0">
                <a:solidFill>
                  <a:schemeClr val="accent1">
                    <a:lumMod val="75000"/>
                  </a:schemeClr>
                </a:solidFill>
                <a:latin typeface="Whitney Book" pitchFamily="50" charset="0"/>
                <a:cs typeface="Whitney Book" pitchFamily="50" charset="0"/>
              </a:rPr>
              <a:t>112</a:t>
            </a:r>
          </a:p>
          <a:p>
            <a:pPr>
              <a:lnSpc>
                <a:spcPts val="2526"/>
              </a:lnSpc>
              <a:tabLst>
                <a:tab pos="481157" algn="l"/>
                <a:tab pos="962315" algn="l"/>
                <a:tab pos="1443472" algn="l"/>
              </a:tabLst>
            </a:pPr>
            <a:r>
              <a:rPr lang="en-US" sz="2100" dirty="0">
                <a:solidFill>
                  <a:schemeClr val="accent1">
                    <a:lumMod val="75000"/>
                  </a:schemeClr>
                </a:solidFill>
                <a:latin typeface="Whitney Book" pitchFamily="50" charset="0"/>
                <a:cs typeface="Whitney Book" pitchFamily="50" charset="0"/>
              </a:rPr>
              <a:t>102</a:t>
            </a:r>
          </a:p>
        </p:txBody>
      </p:sp>
      <p:sp>
        <p:nvSpPr>
          <p:cNvPr id="11" name="Rectangle 7"/>
          <p:cNvSpPr>
            <a:spLocks noChangeArrowheads="1"/>
          </p:cNvSpPr>
          <p:nvPr/>
        </p:nvSpPr>
        <p:spPr bwMode="auto">
          <a:xfrm>
            <a:off x="2420706" y="1172107"/>
            <a:ext cx="1202707" cy="5590043"/>
          </a:xfrm>
          <a:prstGeom prst="rect">
            <a:avLst/>
          </a:prstGeom>
          <a:noFill/>
          <a:ln w="9525">
            <a:noFill/>
            <a:miter lim="800000"/>
            <a:headEnd/>
            <a:tailEnd/>
          </a:ln>
          <a:effectLst/>
        </p:spPr>
        <p:txBody>
          <a:bodyPr wrap="none" lIns="20048" tIns="28402" rIns="20048" bIns="28402"/>
          <a:lstStyle/>
          <a:p>
            <a:pPr>
              <a:lnSpc>
                <a:spcPts val="2526"/>
              </a:lnSpc>
              <a:tabLst>
                <a:tab pos="481157" algn="l"/>
                <a:tab pos="962315" algn="l"/>
                <a:tab pos="1443472" algn="l"/>
              </a:tabLst>
            </a:pPr>
            <a:r>
              <a:rPr lang="en-US" sz="2800" dirty="0">
                <a:solidFill>
                  <a:srgbClr val="00B050"/>
                </a:solidFill>
                <a:latin typeface="Whitney Book" pitchFamily="50" charset="0"/>
                <a:cs typeface="Whitney Book" pitchFamily="50" charset="0"/>
              </a:rPr>
              <a:t>Price</a:t>
            </a:r>
          </a:p>
          <a:p>
            <a:pPr>
              <a:lnSpc>
                <a:spcPts val="2526"/>
              </a:lnSpc>
              <a:tabLst>
                <a:tab pos="481157" algn="l"/>
                <a:tab pos="962315" algn="l"/>
                <a:tab pos="1443472" algn="l"/>
              </a:tabLst>
            </a:pPr>
            <a:r>
              <a:rPr lang="en-US" sz="2100" dirty="0">
                <a:solidFill>
                  <a:srgbClr val="00B050"/>
                </a:solidFill>
                <a:latin typeface="Whitney Book" pitchFamily="50" charset="0"/>
                <a:cs typeface="Whitney Book" pitchFamily="50" charset="0"/>
              </a:rPr>
              <a:t>250.00</a:t>
            </a:r>
          </a:p>
          <a:p>
            <a:pPr>
              <a:lnSpc>
                <a:spcPts val="2526"/>
              </a:lnSpc>
              <a:tabLst>
                <a:tab pos="481157" algn="l"/>
                <a:tab pos="962315" algn="l"/>
                <a:tab pos="1443472" algn="l"/>
              </a:tabLst>
            </a:pPr>
            <a:r>
              <a:rPr lang="en-US" sz="2100" dirty="0">
                <a:solidFill>
                  <a:srgbClr val="00B050"/>
                </a:solidFill>
                <a:latin typeface="Whitney Book" pitchFamily="50" charset="0"/>
                <a:cs typeface="Whitney Book" pitchFamily="50" charset="0"/>
              </a:rPr>
              <a:t>265.00</a:t>
            </a:r>
          </a:p>
          <a:p>
            <a:pPr>
              <a:lnSpc>
                <a:spcPts val="2526"/>
              </a:lnSpc>
              <a:tabLst>
                <a:tab pos="481157" algn="l"/>
                <a:tab pos="962315" algn="l"/>
                <a:tab pos="1443472" algn="l"/>
              </a:tabLst>
            </a:pPr>
            <a:r>
              <a:rPr lang="en-US" sz="2100" dirty="0">
                <a:solidFill>
                  <a:srgbClr val="00B050"/>
                </a:solidFill>
                <a:latin typeface="Whitney Book" pitchFamily="50" charset="0"/>
                <a:cs typeface="Whitney Book" pitchFamily="50" charset="0"/>
              </a:rPr>
              <a:t>265.00</a:t>
            </a:r>
          </a:p>
          <a:p>
            <a:pPr>
              <a:lnSpc>
                <a:spcPts val="2526"/>
              </a:lnSpc>
              <a:tabLst>
                <a:tab pos="481157" algn="l"/>
                <a:tab pos="962315" algn="l"/>
                <a:tab pos="1443472" algn="l"/>
              </a:tabLst>
            </a:pPr>
            <a:r>
              <a:rPr lang="en-US" sz="2100" dirty="0">
                <a:solidFill>
                  <a:srgbClr val="00B050"/>
                </a:solidFill>
                <a:latin typeface="Whitney Book" pitchFamily="50" charset="0"/>
                <a:cs typeface="Whitney Book" pitchFamily="50" charset="0"/>
              </a:rPr>
              <a:t>240.00</a:t>
            </a:r>
          </a:p>
          <a:p>
            <a:pPr>
              <a:lnSpc>
                <a:spcPts val="2526"/>
              </a:lnSpc>
              <a:tabLst>
                <a:tab pos="481157" algn="l"/>
                <a:tab pos="962315" algn="l"/>
                <a:tab pos="1443472" algn="l"/>
              </a:tabLst>
            </a:pPr>
            <a:r>
              <a:rPr lang="en-US" sz="2100" dirty="0">
                <a:solidFill>
                  <a:srgbClr val="00B050"/>
                </a:solidFill>
                <a:latin typeface="Whitney Book" pitchFamily="50" charset="0"/>
                <a:cs typeface="Whitney Book" pitchFamily="50" charset="0"/>
              </a:rPr>
              <a:t>230.00</a:t>
            </a:r>
          </a:p>
          <a:p>
            <a:pPr>
              <a:lnSpc>
                <a:spcPts val="2526"/>
              </a:lnSpc>
              <a:tabLst>
                <a:tab pos="481157" algn="l"/>
                <a:tab pos="962315" algn="l"/>
                <a:tab pos="1443472" algn="l"/>
              </a:tabLst>
            </a:pPr>
            <a:r>
              <a:rPr lang="en-US" sz="2100" dirty="0">
                <a:solidFill>
                  <a:srgbClr val="00B050"/>
                </a:solidFill>
                <a:latin typeface="Whitney Book" pitchFamily="50" charset="0"/>
                <a:cs typeface="Whitney Book" pitchFamily="50" charset="0"/>
              </a:rPr>
              <a:t>225.00</a:t>
            </a:r>
          </a:p>
          <a:p>
            <a:pPr>
              <a:lnSpc>
                <a:spcPts val="2526"/>
              </a:lnSpc>
              <a:tabLst>
                <a:tab pos="481157" algn="l"/>
                <a:tab pos="962315" algn="l"/>
                <a:tab pos="1443472" algn="l"/>
              </a:tabLst>
            </a:pPr>
            <a:r>
              <a:rPr lang="en-US" sz="2100" dirty="0">
                <a:solidFill>
                  <a:srgbClr val="00B050"/>
                </a:solidFill>
                <a:latin typeface="Whitney Book" pitchFamily="50" charset="0"/>
                <a:cs typeface="Whitney Book" pitchFamily="50" charset="0"/>
              </a:rPr>
              <a:t>225.00</a:t>
            </a:r>
          </a:p>
          <a:p>
            <a:pPr>
              <a:lnSpc>
                <a:spcPts val="2526"/>
              </a:lnSpc>
              <a:tabLst>
                <a:tab pos="481157" algn="l"/>
                <a:tab pos="962315" algn="l"/>
                <a:tab pos="1443472" algn="l"/>
              </a:tabLst>
            </a:pPr>
            <a:r>
              <a:rPr lang="en-US" sz="2100" dirty="0">
                <a:solidFill>
                  <a:srgbClr val="00B050"/>
                </a:solidFill>
                <a:latin typeface="Whitney Book" pitchFamily="50" charset="0"/>
                <a:cs typeface="Whitney Book" pitchFamily="50" charset="0"/>
              </a:rPr>
              <a:t>220.00</a:t>
            </a:r>
          </a:p>
          <a:p>
            <a:pPr>
              <a:lnSpc>
                <a:spcPts val="2526"/>
              </a:lnSpc>
              <a:tabLst>
                <a:tab pos="481157" algn="l"/>
                <a:tab pos="962315" algn="l"/>
                <a:tab pos="1443472" algn="l"/>
              </a:tabLst>
            </a:pPr>
            <a:r>
              <a:rPr lang="en-US" sz="2100" dirty="0">
                <a:solidFill>
                  <a:srgbClr val="00B050"/>
                </a:solidFill>
                <a:latin typeface="Whitney Book" pitchFamily="50" charset="0"/>
                <a:cs typeface="Whitney Book" pitchFamily="50" charset="0"/>
              </a:rPr>
              <a:t>230.00</a:t>
            </a:r>
          </a:p>
          <a:p>
            <a:pPr>
              <a:lnSpc>
                <a:spcPts val="2526"/>
              </a:lnSpc>
              <a:tabLst>
                <a:tab pos="481157" algn="l"/>
                <a:tab pos="962315" algn="l"/>
                <a:tab pos="1443472" algn="l"/>
              </a:tabLst>
            </a:pPr>
            <a:r>
              <a:rPr lang="en-US" sz="2100" dirty="0">
                <a:solidFill>
                  <a:srgbClr val="00B050"/>
                </a:solidFill>
                <a:latin typeface="Whitney Book" pitchFamily="50" charset="0"/>
                <a:cs typeface="Whitney Book" pitchFamily="50" charset="0"/>
              </a:rPr>
              <a:t>235.00</a:t>
            </a:r>
          </a:p>
          <a:p>
            <a:pPr>
              <a:lnSpc>
                <a:spcPts val="2526"/>
              </a:lnSpc>
              <a:tabLst>
                <a:tab pos="481157" algn="l"/>
                <a:tab pos="962315" algn="l"/>
                <a:tab pos="1443472" algn="l"/>
              </a:tabLst>
            </a:pPr>
            <a:r>
              <a:rPr lang="en-US" sz="2100" dirty="0">
                <a:solidFill>
                  <a:srgbClr val="00B050"/>
                </a:solidFill>
                <a:latin typeface="Whitney Book" pitchFamily="50" charset="0"/>
                <a:cs typeface="Whitney Book" pitchFamily="50" charset="0"/>
              </a:rPr>
              <a:t>245.00</a:t>
            </a:r>
          </a:p>
          <a:p>
            <a:pPr>
              <a:lnSpc>
                <a:spcPts val="2526"/>
              </a:lnSpc>
              <a:tabLst>
                <a:tab pos="481157" algn="l"/>
                <a:tab pos="962315" algn="l"/>
                <a:tab pos="1443472" algn="l"/>
              </a:tabLst>
            </a:pPr>
            <a:r>
              <a:rPr lang="en-US" sz="2100" dirty="0">
                <a:solidFill>
                  <a:srgbClr val="00B050"/>
                </a:solidFill>
                <a:latin typeface="Whitney Book" pitchFamily="50" charset="0"/>
                <a:cs typeface="Whitney Book" pitchFamily="50" charset="0"/>
              </a:rPr>
              <a:t>240.00</a:t>
            </a:r>
          </a:p>
          <a:p>
            <a:pPr>
              <a:lnSpc>
                <a:spcPts val="2526"/>
              </a:lnSpc>
              <a:tabLst>
                <a:tab pos="481157" algn="l"/>
                <a:tab pos="962315" algn="l"/>
                <a:tab pos="1443472" algn="l"/>
              </a:tabLst>
            </a:pPr>
            <a:r>
              <a:rPr lang="en-US" sz="2100" dirty="0">
                <a:solidFill>
                  <a:srgbClr val="00B050"/>
                </a:solidFill>
                <a:latin typeface="Whitney Book" pitchFamily="50" charset="0"/>
                <a:cs typeface="Whitney Book" pitchFamily="50" charset="0"/>
              </a:rPr>
              <a:t>250.00</a:t>
            </a:r>
          </a:p>
          <a:p>
            <a:pPr>
              <a:lnSpc>
                <a:spcPts val="2526"/>
              </a:lnSpc>
              <a:tabLst>
                <a:tab pos="481157" algn="l"/>
                <a:tab pos="962315" algn="l"/>
                <a:tab pos="1443472" algn="l"/>
              </a:tabLst>
            </a:pPr>
            <a:r>
              <a:rPr lang="en-US" sz="2100" dirty="0">
                <a:solidFill>
                  <a:srgbClr val="00B050"/>
                </a:solidFill>
                <a:latin typeface="Whitney Book" pitchFamily="50" charset="0"/>
                <a:cs typeface="Whitney Book" pitchFamily="50" charset="0"/>
              </a:rPr>
              <a:t>240.00</a:t>
            </a:r>
          </a:p>
          <a:p>
            <a:pPr>
              <a:lnSpc>
                <a:spcPts val="2526"/>
              </a:lnSpc>
              <a:tabLst>
                <a:tab pos="481157" algn="l"/>
                <a:tab pos="962315" algn="l"/>
                <a:tab pos="1443472" algn="l"/>
              </a:tabLst>
            </a:pPr>
            <a:r>
              <a:rPr lang="en-US" sz="2100" dirty="0">
                <a:solidFill>
                  <a:srgbClr val="00B050"/>
                </a:solidFill>
                <a:latin typeface="Whitney Book" pitchFamily="50" charset="0"/>
                <a:cs typeface="Whitney Book" pitchFamily="50" charset="0"/>
              </a:rPr>
              <a:t>240.00</a:t>
            </a:r>
          </a:p>
          <a:p>
            <a:pPr>
              <a:lnSpc>
                <a:spcPts val="2526"/>
              </a:lnSpc>
              <a:tabLst>
                <a:tab pos="481157" algn="l"/>
                <a:tab pos="962315" algn="l"/>
                <a:tab pos="1443472" algn="l"/>
              </a:tabLst>
            </a:pPr>
            <a:r>
              <a:rPr lang="en-US" sz="2100" dirty="0">
                <a:solidFill>
                  <a:srgbClr val="00B050"/>
                </a:solidFill>
                <a:latin typeface="Whitney Book" pitchFamily="50" charset="0"/>
                <a:cs typeface="Whitney Book" pitchFamily="50" charset="0"/>
              </a:rPr>
              <a:t>235.00</a:t>
            </a:r>
            <a:endParaRPr lang="en-US" sz="2100" dirty="0">
              <a:solidFill>
                <a:srgbClr val="00B050"/>
              </a:solidFill>
              <a:effectLst>
                <a:outerShdw blurRad="38100" dist="38100" dir="2700000" algn="tl">
                  <a:srgbClr val="C0C0C0"/>
                </a:outerShdw>
              </a:effectLst>
              <a:latin typeface="Whitney Book" pitchFamily="50" charset="0"/>
              <a:cs typeface="Whitney Book" pitchFamily="50" charset="0"/>
            </a:endParaRPr>
          </a:p>
        </p:txBody>
      </p:sp>
      <p:sp>
        <p:nvSpPr>
          <p:cNvPr id="12" name="Line 8"/>
          <p:cNvSpPr>
            <a:spLocks noChangeShapeType="1"/>
          </p:cNvSpPr>
          <p:nvPr/>
        </p:nvSpPr>
        <p:spPr bwMode="auto">
          <a:xfrm>
            <a:off x="394637" y="1523919"/>
            <a:ext cx="8316227" cy="0"/>
          </a:xfrm>
          <a:prstGeom prst="line">
            <a:avLst/>
          </a:prstGeom>
          <a:noFill/>
          <a:ln w="12700">
            <a:solidFill>
              <a:schemeClr val="hlink"/>
            </a:solidFill>
            <a:round/>
            <a:headEnd type="none" w="sm" len="sm"/>
            <a:tailEnd type="none" w="sm" len="sm"/>
          </a:ln>
          <a:effectLst/>
        </p:spPr>
        <p:txBody>
          <a:bodyPr wrap="none" lIns="96231" tIns="48116" rIns="96231" bIns="48116" anchor="ctr"/>
          <a:lstStyle/>
          <a:p>
            <a:endParaRPr lang="en-US">
              <a:latin typeface="Whitney Book" pitchFamily="50" charset="0"/>
              <a:cs typeface="Whitney Book" pitchFamily="50" charset="0"/>
            </a:endParaRPr>
          </a:p>
        </p:txBody>
      </p:sp>
      <p:sp>
        <p:nvSpPr>
          <p:cNvPr id="3" name="Slide Number Placeholder 2">
            <a:extLst>
              <a:ext uri="{FF2B5EF4-FFF2-40B4-BE49-F238E27FC236}">
                <a16:creationId xmlns:a16="http://schemas.microsoft.com/office/drawing/2014/main" id="{52E9C0C6-24DC-3749-B5A2-0F1A7930962F}"/>
              </a:ext>
            </a:extLst>
          </p:cNvPr>
          <p:cNvSpPr>
            <a:spLocks noGrp="1"/>
          </p:cNvSpPr>
          <p:nvPr>
            <p:ph type="sldNum" sz="quarter" idx="12"/>
          </p:nvPr>
        </p:nvSpPr>
        <p:spPr/>
        <p:txBody>
          <a:bodyPr/>
          <a:lstStyle/>
          <a:p>
            <a:fld id="{0F3206DB-9488-D04D-BDD1-A7C9D84C4579}" type="slidenum">
              <a:rPr lang="en-US" smtClean="0"/>
              <a:t>26</a:t>
            </a:fld>
            <a:endParaRPr lang="en-US"/>
          </a:p>
        </p:txBody>
      </p:sp>
    </p:spTree>
    <p:extLst>
      <p:ext uri="{BB962C8B-B14F-4D97-AF65-F5344CB8AC3E}">
        <p14:creationId xmlns:p14="http://schemas.microsoft.com/office/powerpoint/2010/main" val="30775856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7A79D-5F84-4668-90AB-B75D70090CD8}"/>
              </a:ext>
            </a:extLst>
          </p:cNvPr>
          <p:cNvSpPr>
            <a:spLocks noGrp="1"/>
          </p:cNvSpPr>
          <p:nvPr>
            <p:ph type="title"/>
          </p:nvPr>
        </p:nvSpPr>
        <p:spPr/>
        <p:txBody>
          <a:bodyPr/>
          <a:lstStyle/>
          <a:p>
            <a:r>
              <a:rPr lang="en-US" dirty="0"/>
              <a:t>First Pass: eyeball the relationship</a:t>
            </a:r>
            <a:br>
              <a:rPr lang="en-US" dirty="0"/>
            </a:br>
            <a:r>
              <a:rPr lang="en-US" dirty="0"/>
              <a:t>…</a:t>
            </a:r>
            <a:r>
              <a:rPr lang="en-US" sz="2400" dirty="0"/>
              <a:t>Is it Approximately Linear?</a:t>
            </a:r>
            <a:endParaRPr lang="en-US" dirty="0"/>
          </a:p>
        </p:txBody>
      </p:sp>
      <p:graphicFrame>
        <p:nvGraphicFramePr>
          <p:cNvPr id="4" name="Chart 3">
            <a:extLst>
              <a:ext uri="{FF2B5EF4-FFF2-40B4-BE49-F238E27FC236}">
                <a16:creationId xmlns:a16="http://schemas.microsoft.com/office/drawing/2014/main" id="{A80DBC12-4FE8-4852-BAB7-0ABDC5AB4C34}"/>
              </a:ext>
            </a:extLst>
          </p:cNvPr>
          <p:cNvGraphicFramePr>
            <a:graphicFrameLocks/>
          </p:cNvGraphicFramePr>
          <p:nvPr/>
        </p:nvGraphicFramePr>
        <p:xfrm>
          <a:off x="575036" y="1774159"/>
          <a:ext cx="7589248" cy="4228531"/>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EBC4A7D8-75C2-448E-9FCE-D6ABC609268B}"/>
              </a:ext>
            </a:extLst>
          </p:cNvPr>
          <p:cNvSpPr txBox="1"/>
          <p:nvPr/>
        </p:nvSpPr>
        <p:spPr>
          <a:xfrm>
            <a:off x="8164284" y="5356360"/>
            <a:ext cx="653143" cy="646331"/>
          </a:xfrm>
          <a:prstGeom prst="rect">
            <a:avLst/>
          </a:prstGeom>
          <a:noFill/>
        </p:spPr>
        <p:txBody>
          <a:bodyPr wrap="square" rtlCol="0">
            <a:spAutoFit/>
          </a:bodyPr>
          <a:lstStyle/>
          <a:p>
            <a:r>
              <a:rPr lang="fr-FR" dirty="0">
                <a:solidFill>
                  <a:schemeClr val="tx1">
                    <a:lumMod val="65000"/>
                    <a:lumOff val="35000"/>
                  </a:schemeClr>
                </a:solidFill>
              </a:rPr>
              <a:t>Price ($)</a:t>
            </a:r>
            <a:endParaRPr lang="en-US" dirty="0">
              <a:solidFill>
                <a:schemeClr val="tx1">
                  <a:lumMod val="65000"/>
                  <a:lumOff val="35000"/>
                </a:schemeClr>
              </a:solidFill>
            </a:endParaRPr>
          </a:p>
        </p:txBody>
      </p:sp>
      <p:sp>
        <p:nvSpPr>
          <p:cNvPr id="6" name="TextBox 5">
            <a:extLst>
              <a:ext uri="{FF2B5EF4-FFF2-40B4-BE49-F238E27FC236}">
                <a16:creationId xmlns:a16="http://schemas.microsoft.com/office/drawing/2014/main" id="{04AB5465-2F4C-4763-BBA9-C9458BD3D563}"/>
              </a:ext>
            </a:extLst>
          </p:cNvPr>
          <p:cNvSpPr txBox="1"/>
          <p:nvPr/>
        </p:nvSpPr>
        <p:spPr>
          <a:xfrm>
            <a:off x="440871" y="1404828"/>
            <a:ext cx="1028700" cy="369332"/>
          </a:xfrm>
          <a:prstGeom prst="rect">
            <a:avLst/>
          </a:prstGeom>
          <a:noFill/>
        </p:spPr>
        <p:txBody>
          <a:bodyPr wrap="square" rtlCol="0">
            <a:spAutoFit/>
          </a:bodyPr>
          <a:lstStyle/>
          <a:p>
            <a:r>
              <a:rPr lang="fr-FR" dirty="0" err="1">
                <a:solidFill>
                  <a:schemeClr val="tx1">
                    <a:lumMod val="65000"/>
                    <a:lumOff val="35000"/>
                  </a:schemeClr>
                </a:solidFill>
              </a:rPr>
              <a:t>Quantity</a:t>
            </a:r>
            <a:endParaRPr lang="en-US" dirty="0">
              <a:solidFill>
                <a:schemeClr val="tx1">
                  <a:lumMod val="65000"/>
                  <a:lumOff val="35000"/>
                </a:schemeClr>
              </a:solidFill>
            </a:endParaRPr>
          </a:p>
        </p:txBody>
      </p:sp>
      <p:cxnSp>
        <p:nvCxnSpPr>
          <p:cNvPr id="7" name="Straight Connector 6">
            <a:extLst>
              <a:ext uri="{FF2B5EF4-FFF2-40B4-BE49-F238E27FC236}">
                <a16:creationId xmlns:a16="http://schemas.microsoft.com/office/drawing/2014/main" id="{FF5EE560-C1A5-4B82-B586-4AB92872EEFE}"/>
              </a:ext>
            </a:extLst>
          </p:cNvPr>
          <p:cNvCxnSpPr>
            <a:cxnSpLocks/>
          </p:cNvCxnSpPr>
          <p:nvPr/>
        </p:nvCxnSpPr>
        <p:spPr bwMode="auto">
          <a:xfrm>
            <a:off x="2752627" y="2318994"/>
            <a:ext cx="3885862" cy="2837468"/>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10" name="Straight Connector 9">
            <a:extLst>
              <a:ext uri="{FF2B5EF4-FFF2-40B4-BE49-F238E27FC236}">
                <a16:creationId xmlns:a16="http://schemas.microsoft.com/office/drawing/2014/main" id="{F5C37E11-4650-47A0-BE85-D0E1B80F9EE1}"/>
              </a:ext>
            </a:extLst>
          </p:cNvPr>
          <p:cNvCxnSpPr>
            <a:cxnSpLocks/>
          </p:cNvCxnSpPr>
          <p:nvPr/>
        </p:nvCxnSpPr>
        <p:spPr bwMode="auto">
          <a:xfrm>
            <a:off x="2372412" y="2601797"/>
            <a:ext cx="4773106" cy="2215300"/>
          </a:xfrm>
          <a:prstGeom prst="line">
            <a:avLst/>
          </a:prstGeom>
          <a:ln>
            <a:headEnd type="none" w="med" len="med"/>
            <a:tailEnd type="none" w="med" len="med"/>
          </a:ln>
        </p:spPr>
        <p:style>
          <a:lnRef idx="3">
            <a:schemeClr val="accent6"/>
          </a:lnRef>
          <a:fillRef idx="0">
            <a:schemeClr val="accent6"/>
          </a:fillRef>
          <a:effectRef idx="2">
            <a:schemeClr val="accent6"/>
          </a:effectRef>
          <a:fontRef idx="minor">
            <a:schemeClr val="tx1"/>
          </a:fontRef>
        </p:style>
      </p:cxnSp>
      <p:sp>
        <p:nvSpPr>
          <p:cNvPr id="21" name="TextBox 20">
            <a:extLst>
              <a:ext uri="{FF2B5EF4-FFF2-40B4-BE49-F238E27FC236}">
                <a16:creationId xmlns:a16="http://schemas.microsoft.com/office/drawing/2014/main" id="{B7192D1D-DD0D-4AD1-B8A2-0F61AC711FF4}"/>
              </a:ext>
            </a:extLst>
          </p:cNvPr>
          <p:cNvSpPr txBox="1"/>
          <p:nvPr/>
        </p:nvSpPr>
        <p:spPr>
          <a:xfrm>
            <a:off x="3453226" y="1351177"/>
            <a:ext cx="2611478" cy="369332"/>
          </a:xfrm>
          <a:prstGeom prst="rect">
            <a:avLst/>
          </a:prstGeom>
          <a:noFill/>
        </p:spPr>
        <p:txBody>
          <a:bodyPr wrap="square" rtlCol="0">
            <a:spAutoFit/>
          </a:bodyPr>
          <a:lstStyle/>
          <a:p>
            <a:r>
              <a:rPr lang="fr-FR" dirty="0" err="1"/>
              <a:t>Scatterplot</a:t>
            </a:r>
            <a:r>
              <a:rPr lang="fr-FR" dirty="0"/>
              <a:t> of Q versus P</a:t>
            </a:r>
            <a:endParaRPr lang="en-US" dirty="0"/>
          </a:p>
        </p:txBody>
      </p:sp>
    </p:spTree>
    <p:extLst>
      <p:ext uri="{BB962C8B-B14F-4D97-AF65-F5344CB8AC3E}">
        <p14:creationId xmlns:p14="http://schemas.microsoft.com/office/powerpoint/2010/main" val="461618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D87FA-1DB8-4BC2-9B17-53A442EA0164}"/>
              </a:ext>
            </a:extLst>
          </p:cNvPr>
          <p:cNvSpPr>
            <a:spLocks noGrp="1"/>
          </p:cNvSpPr>
          <p:nvPr>
            <p:ph type="title"/>
          </p:nvPr>
        </p:nvSpPr>
        <p:spPr/>
        <p:txBody>
          <a:bodyPr>
            <a:normAutofit/>
          </a:bodyPr>
          <a:lstStyle/>
          <a:p>
            <a:r>
              <a:rPr lang="en-US" dirty="0"/>
              <a:t>Least Squares Estimation</a:t>
            </a:r>
            <a:br>
              <a:rPr lang="en-US" dirty="0"/>
            </a:br>
            <a:r>
              <a:rPr lang="en-US" sz="2000" dirty="0"/>
              <a:t>which Line provides the Best Fit?</a:t>
            </a:r>
            <a:endParaRPr lang="en-US" dirty="0"/>
          </a:p>
        </p:txBody>
      </p:sp>
      <p:sp>
        <p:nvSpPr>
          <p:cNvPr id="6" name="TextBox 5">
            <a:extLst>
              <a:ext uri="{FF2B5EF4-FFF2-40B4-BE49-F238E27FC236}">
                <a16:creationId xmlns:a16="http://schemas.microsoft.com/office/drawing/2014/main" id="{B54C2D4E-4F89-4304-960B-258D054623F8}"/>
              </a:ext>
            </a:extLst>
          </p:cNvPr>
          <p:cNvSpPr txBox="1"/>
          <p:nvPr/>
        </p:nvSpPr>
        <p:spPr>
          <a:xfrm>
            <a:off x="8164284" y="5356360"/>
            <a:ext cx="653143" cy="646331"/>
          </a:xfrm>
          <a:prstGeom prst="rect">
            <a:avLst/>
          </a:prstGeom>
          <a:noFill/>
        </p:spPr>
        <p:txBody>
          <a:bodyPr wrap="square" rtlCol="0">
            <a:spAutoFit/>
          </a:bodyPr>
          <a:lstStyle/>
          <a:p>
            <a:r>
              <a:rPr lang="fr-FR" dirty="0">
                <a:solidFill>
                  <a:schemeClr val="tx1">
                    <a:lumMod val="65000"/>
                    <a:lumOff val="35000"/>
                  </a:schemeClr>
                </a:solidFill>
              </a:rPr>
              <a:t>Price ($)</a:t>
            </a:r>
            <a:endParaRPr lang="en-US" dirty="0">
              <a:solidFill>
                <a:schemeClr val="tx1">
                  <a:lumMod val="65000"/>
                  <a:lumOff val="35000"/>
                </a:schemeClr>
              </a:solidFill>
            </a:endParaRPr>
          </a:p>
        </p:txBody>
      </p:sp>
      <p:sp>
        <p:nvSpPr>
          <p:cNvPr id="7" name="TextBox 6">
            <a:extLst>
              <a:ext uri="{FF2B5EF4-FFF2-40B4-BE49-F238E27FC236}">
                <a16:creationId xmlns:a16="http://schemas.microsoft.com/office/drawing/2014/main" id="{7BD1D11F-FDAF-4FD4-9D24-869C13D9569D}"/>
              </a:ext>
            </a:extLst>
          </p:cNvPr>
          <p:cNvSpPr txBox="1"/>
          <p:nvPr/>
        </p:nvSpPr>
        <p:spPr>
          <a:xfrm>
            <a:off x="440871" y="1404828"/>
            <a:ext cx="1028700" cy="369332"/>
          </a:xfrm>
          <a:prstGeom prst="rect">
            <a:avLst/>
          </a:prstGeom>
          <a:noFill/>
        </p:spPr>
        <p:txBody>
          <a:bodyPr wrap="square" rtlCol="0">
            <a:spAutoFit/>
          </a:bodyPr>
          <a:lstStyle/>
          <a:p>
            <a:r>
              <a:rPr lang="fr-FR" dirty="0" err="1">
                <a:solidFill>
                  <a:schemeClr val="tx1">
                    <a:lumMod val="65000"/>
                    <a:lumOff val="35000"/>
                  </a:schemeClr>
                </a:solidFill>
              </a:rPr>
              <a:t>Quantity</a:t>
            </a:r>
            <a:endParaRPr lang="en-US" dirty="0">
              <a:solidFill>
                <a:schemeClr val="tx1">
                  <a:lumMod val="65000"/>
                  <a:lumOff val="35000"/>
                </a:schemeClr>
              </a:solidFill>
            </a:endParaRPr>
          </a:p>
        </p:txBody>
      </p:sp>
      <p:graphicFrame>
        <p:nvGraphicFramePr>
          <p:cNvPr id="8" name="Chart 7">
            <a:extLst>
              <a:ext uri="{FF2B5EF4-FFF2-40B4-BE49-F238E27FC236}">
                <a16:creationId xmlns:a16="http://schemas.microsoft.com/office/drawing/2014/main" id="{A80DBC12-4FE8-4852-BAB7-0ABDC5AB4C34}"/>
              </a:ext>
            </a:extLst>
          </p:cNvPr>
          <p:cNvGraphicFramePr>
            <a:graphicFrameLocks/>
          </p:cNvGraphicFramePr>
          <p:nvPr/>
        </p:nvGraphicFramePr>
        <p:xfrm>
          <a:off x="457200" y="1774160"/>
          <a:ext cx="7560129" cy="4228530"/>
        </p:xfrm>
        <a:graphic>
          <a:graphicData uri="http://schemas.openxmlformats.org/drawingml/2006/chart">
            <c:chart xmlns:c="http://schemas.openxmlformats.org/drawingml/2006/chart" xmlns:r="http://schemas.openxmlformats.org/officeDocument/2006/relationships" r:id="rId2"/>
          </a:graphicData>
        </a:graphic>
      </p:graphicFrame>
      <p:sp>
        <p:nvSpPr>
          <p:cNvPr id="10" name="TextBox 1">
            <a:extLst>
              <a:ext uri="{FF2B5EF4-FFF2-40B4-BE49-F238E27FC236}">
                <a16:creationId xmlns:a16="http://schemas.microsoft.com/office/drawing/2014/main" id="{67A79149-054E-47D2-8408-635A5F14E222}"/>
              </a:ext>
            </a:extLst>
          </p:cNvPr>
          <p:cNvSpPr txBox="1"/>
          <p:nvPr/>
        </p:nvSpPr>
        <p:spPr>
          <a:xfrm>
            <a:off x="5759902" y="1284504"/>
            <a:ext cx="3057525" cy="1571622"/>
          </a:xfrm>
          <a:prstGeom prst="rect">
            <a:avLst/>
          </a:prstGeom>
          <a:solidFill>
            <a:srgbClr val="FFFFFF"/>
          </a:solidFill>
          <a:ln w="19050">
            <a:solidFill>
              <a:schemeClr val="tx1"/>
            </a:solidFill>
          </a:ln>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228600" indent="-228600"/>
            <a:r>
              <a:rPr lang="en-US" sz="1600" b="1" dirty="0">
                <a:latin typeface="Whitney Book" pitchFamily="50" charset="0"/>
                <a:cs typeface="Whitney Book" pitchFamily="50" charset="0"/>
              </a:rPr>
              <a:t>Least Squares Algorithm:</a:t>
            </a:r>
          </a:p>
          <a:p>
            <a:pPr marL="228600" indent="-228600">
              <a:buAutoNum type="arabicPeriod"/>
            </a:pPr>
            <a:r>
              <a:rPr lang="en-US" sz="1600" dirty="0">
                <a:latin typeface="Whitney Book" pitchFamily="50" charset="0"/>
                <a:cs typeface="Whitney Book" pitchFamily="50" charset="0"/>
              </a:rPr>
              <a:t>Calculate all vertical distances</a:t>
            </a:r>
          </a:p>
          <a:p>
            <a:pPr marL="228600" indent="-228600">
              <a:buAutoNum type="arabicPeriod"/>
            </a:pPr>
            <a:r>
              <a:rPr lang="en-US" sz="1600" dirty="0">
                <a:latin typeface="Whitney Book" pitchFamily="50" charset="0"/>
                <a:cs typeface="Whitney Book" pitchFamily="50" charset="0"/>
              </a:rPr>
              <a:t>Square them</a:t>
            </a:r>
          </a:p>
          <a:p>
            <a:pPr marL="228600" indent="-228600">
              <a:buAutoNum type="arabicPeriod"/>
            </a:pPr>
            <a:r>
              <a:rPr lang="en-US" sz="1600" dirty="0">
                <a:latin typeface="Whitney Book" pitchFamily="50" charset="0"/>
                <a:cs typeface="Whitney Book" pitchFamily="50" charset="0"/>
              </a:rPr>
              <a:t>Sum them over all data points</a:t>
            </a:r>
          </a:p>
          <a:p>
            <a:pPr marL="228600" indent="-228600">
              <a:buAutoNum type="arabicPeriod"/>
            </a:pPr>
            <a:r>
              <a:rPr lang="en-US" sz="1600" dirty="0">
                <a:latin typeface="Whitney Book" pitchFamily="50" charset="0"/>
                <a:cs typeface="Whitney Book" pitchFamily="50" charset="0"/>
              </a:rPr>
              <a:t>Choose the line that minimizes the sum of squares.</a:t>
            </a:r>
          </a:p>
        </p:txBody>
      </p:sp>
      <p:cxnSp>
        <p:nvCxnSpPr>
          <p:cNvPr id="11" name="Straight Arrow Connector 10">
            <a:extLst>
              <a:ext uri="{FF2B5EF4-FFF2-40B4-BE49-F238E27FC236}">
                <a16:creationId xmlns:a16="http://schemas.microsoft.com/office/drawing/2014/main" id="{5336C43B-CE6A-4D5C-B34C-E99334DF7CE5}"/>
              </a:ext>
            </a:extLst>
          </p:cNvPr>
          <p:cNvCxnSpPr>
            <a:cxnSpLocks/>
          </p:cNvCxnSpPr>
          <p:nvPr/>
        </p:nvCxnSpPr>
        <p:spPr bwMode="auto">
          <a:xfrm flipV="1">
            <a:off x="3333387" y="3249386"/>
            <a:ext cx="2" cy="1154105"/>
          </a:xfrm>
          <a:prstGeom prst="straightConnector1">
            <a:avLst/>
          </a:prstGeom>
          <a:solidFill>
            <a:schemeClr val="accent1"/>
          </a:solidFill>
          <a:ln w="9525" cap="flat" cmpd="sng" algn="ctr">
            <a:solidFill>
              <a:schemeClr val="tx1"/>
            </a:solidFill>
            <a:prstDash val="solid"/>
            <a:round/>
            <a:headEnd type="arrow"/>
            <a:tailEnd type="arrow"/>
          </a:ln>
          <a:effectLst/>
        </p:spPr>
      </p:cxnSp>
      <p:cxnSp>
        <p:nvCxnSpPr>
          <p:cNvPr id="13" name="Straight Arrow Connector 12">
            <a:extLst>
              <a:ext uri="{FF2B5EF4-FFF2-40B4-BE49-F238E27FC236}">
                <a16:creationId xmlns:a16="http://schemas.microsoft.com/office/drawing/2014/main" id="{0E787C4C-8FBF-46E2-8140-2F2F338FE2C3}"/>
              </a:ext>
            </a:extLst>
          </p:cNvPr>
          <p:cNvCxnSpPr>
            <a:cxnSpLocks/>
          </p:cNvCxnSpPr>
          <p:nvPr/>
        </p:nvCxnSpPr>
        <p:spPr bwMode="auto">
          <a:xfrm flipV="1">
            <a:off x="3870773" y="3447556"/>
            <a:ext cx="0" cy="320040"/>
          </a:xfrm>
          <a:prstGeom prst="straightConnector1">
            <a:avLst/>
          </a:prstGeom>
          <a:solidFill>
            <a:schemeClr val="accent1"/>
          </a:solidFill>
          <a:ln w="9525" cap="flat" cmpd="sng" algn="ctr">
            <a:solidFill>
              <a:schemeClr val="tx1"/>
            </a:solidFill>
            <a:prstDash val="solid"/>
            <a:round/>
            <a:headEnd type="arrow"/>
            <a:tailEnd type="arrow"/>
          </a:ln>
          <a:effectLst/>
        </p:spPr>
      </p:cxnSp>
      <p:cxnSp>
        <p:nvCxnSpPr>
          <p:cNvPr id="19" name="Straight Arrow Connector 18">
            <a:extLst>
              <a:ext uri="{FF2B5EF4-FFF2-40B4-BE49-F238E27FC236}">
                <a16:creationId xmlns:a16="http://schemas.microsoft.com/office/drawing/2014/main" id="{6B7EBF4C-9B41-4F58-BF9A-143AC4CA3EDC}"/>
              </a:ext>
            </a:extLst>
          </p:cNvPr>
          <p:cNvCxnSpPr>
            <a:cxnSpLocks/>
          </p:cNvCxnSpPr>
          <p:nvPr/>
        </p:nvCxnSpPr>
        <p:spPr bwMode="auto">
          <a:xfrm flipV="1">
            <a:off x="4958277" y="3568385"/>
            <a:ext cx="0" cy="320040"/>
          </a:xfrm>
          <a:prstGeom prst="straightConnector1">
            <a:avLst/>
          </a:prstGeom>
          <a:solidFill>
            <a:schemeClr val="accent1"/>
          </a:solidFill>
          <a:ln w="9525" cap="flat" cmpd="sng" algn="ctr">
            <a:solidFill>
              <a:schemeClr val="tx1"/>
            </a:solidFill>
            <a:prstDash val="solid"/>
            <a:round/>
            <a:headEnd type="arrow"/>
            <a:tailEnd type="arrow"/>
          </a:ln>
          <a:effectLst/>
        </p:spPr>
      </p:cxnSp>
      <p:cxnSp>
        <p:nvCxnSpPr>
          <p:cNvPr id="20" name="Straight Arrow Connector 19">
            <a:extLst>
              <a:ext uri="{FF2B5EF4-FFF2-40B4-BE49-F238E27FC236}">
                <a16:creationId xmlns:a16="http://schemas.microsoft.com/office/drawing/2014/main" id="{46CE0932-1F9E-4105-A41F-8B997CBECB09}"/>
              </a:ext>
            </a:extLst>
          </p:cNvPr>
          <p:cNvCxnSpPr>
            <a:cxnSpLocks/>
          </p:cNvCxnSpPr>
          <p:nvPr/>
        </p:nvCxnSpPr>
        <p:spPr bwMode="auto">
          <a:xfrm flipV="1">
            <a:off x="4423026" y="3183029"/>
            <a:ext cx="0" cy="519251"/>
          </a:xfrm>
          <a:prstGeom prst="straightConnector1">
            <a:avLst/>
          </a:prstGeom>
          <a:solidFill>
            <a:schemeClr val="accent1"/>
          </a:solidFill>
          <a:ln w="9525" cap="flat" cmpd="sng" algn="ctr">
            <a:solidFill>
              <a:schemeClr val="tx1"/>
            </a:solidFill>
            <a:prstDash val="solid"/>
            <a:round/>
            <a:headEnd type="arrow"/>
            <a:tailEnd type="arrow"/>
          </a:ln>
          <a:effectLst/>
        </p:spPr>
      </p:cxnSp>
    </p:spTree>
    <p:extLst>
      <p:ext uri="{BB962C8B-B14F-4D97-AF65-F5344CB8AC3E}">
        <p14:creationId xmlns:p14="http://schemas.microsoft.com/office/powerpoint/2010/main" val="3680987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1105421" y="4121941"/>
            <a:ext cx="7449854" cy="461667"/>
            <a:chOff x="1160746" y="4452893"/>
            <a:chExt cx="7449854" cy="355701"/>
          </a:xfrm>
        </p:grpSpPr>
        <p:sp>
          <p:nvSpPr>
            <p:cNvPr id="7" name="Rectangle 5"/>
            <p:cNvSpPr>
              <a:spLocks noChangeArrowheads="1"/>
            </p:cNvSpPr>
            <p:nvPr/>
          </p:nvSpPr>
          <p:spPr bwMode="auto">
            <a:xfrm>
              <a:off x="1160746" y="4452893"/>
              <a:ext cx="3369501" cy="251168"/>
            </a:xfrm>
            <a:prstGeom prst="rect">
              <a:avLst/>
            </a:prstGeom>
            <a:noFill/>
            <a:ln w="9525">
              <a:noFill/>
              <a:miter lim="800000"/>
              <a:headEnd/>
              <a:tailEnd/>
            </a:ln>
            <a:effectLst/>
          </p:spPr>
          <p:txBody>
            <a:bodyPr wrap="none" lIns="20048" tIns="28402" rIns="20048" bIns="28402"/>
            <a:lstStyle/>
            <a:p>
              <a:pPr>
                <a:lnSpc>
                  <a:spcPts val="3789"/>
                </a:lnSpc>
                <a:spcAft>
                  <a:spcPts val="947"/>
                </a:spcAft>
                <a:tabLst>
                  <a:tab pos="481157" algn="l"/>
                  <a:tab pos="962315" algn="l"/>
                  <a:tab pos="1443472" algn="l"/>
                </a:tabLst>
              </a:pPr>
              <a:r>
                <a:rPr lang="en-US" sz="3000" b="0" dirty="0">
                  <a:solidFill>
                    <a:srgbClr val="C00000"/>
                  </a:solidFill>
                  <a:latin typeface="Whitney Book" pitchFamily="50" charset="0"/>
                  <a:cs typeface="Whitney Book" pitchFamily="50" charset="0"/>
                </a:rPr>
                <a:t>Demand Equation:</a:t>
              </a:r>
            </a:p>
          </p:txBody>
        </p:sp>
        <mc:AlternateContent xmlns:mc="http://schemas.openxmlformats.org/markup-compatibility/2006" xmlns:a14="http://schemas.microsoft.com/office/drawing/2010/main">
          <mc:Choice Requires="a14">
            <p:sp>
              <p:nvSpPr>
                <p:cNvPr id="8" name="TextBox 7"/>
                <p:cNvSpPr txBox="1"/>
                <p:nvPr/>
              </p:nvSpPr>
              <p:spPr>
                <a:xfrm>
                  <a:off x="4267200" y="4452895"/>
                  <a:ext cx="4343400" cy="355699"/>
                </a:xfrm>
                <a:prstGeom prst="rect">
                  <a:avLst/>
                </a:prstGeom>
                <a:noFill/>
              </p:spPr>
              <p:txBody>
                <a:bodyPr wrap="square" lIns="0" tIns="0" rIns="0" bIns="0" rtlCol="0">
                  <a:spAutoFit/>
                </a:bodyPr>
                <a:lstStyle/>
                <a:p>
                  <a:pPr/>
                  <a14:m>
                    <m:oMathPara xmlns:m="http://schemas.openxmlformats.org/officeDocument/2006/math">
                      <m:oMath>
                        <m:r>
                          <a:rPr lang="en-US" sz="3000" b="0" i="1" smtClean="0">
                            <a:solidFill>
                              <a:srgbClr val="C00000"/>
                            </a:solidFill>
                            <a:latin typeface="Cambria Math" panose="02040503050406030204" pitchFamily="18" charset="0"/>
                          </a:rPr>
                          <m:t>𝑄</m:t>
                        </m:r>
                        <m:r>
                          <a:rPr lang="en-US" sz="3000" b="0" i="1" smtClean="0">
                            <a:solidFill>
                              <a:srgbClr val="C00000"/>
                            </a:solidFill>
                            <a:latin typeface="Cambria Math" panose="02040503050406030204" pitchFamily="18" charset="0"/>
                          </a:rPr>
                          <m:t>=479−1.64</m:t>
                        </m:r>
                        <m:r>
                          <a:rPr lang="en-US" sz="3000" b="0" i="1" smtClean="0">
                            <a:solidFill>
                              <a:srgbClr val="C00000"/>
                            </a:solidFill>
                            <a:latin typeface="Cambria Math" panose="02040503050406030204" pitchFamily="18" charset="0"/>
                          </a:rPr>
                          <m:t>𝑃</m:t>
                        </m:r>
                      </m:oMath>
                    </m:oMathPara>
                  </a14:m>
                  <a:endParaRPr lang="en-US" sz="3000" b="0" i="1" dirty="0">
                    <a:solidFill>
                      <a:srgbClr val="C00000"/>
                    </a:solidFill>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4267200" y="4452895"/>
                  <a:ext cx="4343400" cy="355699"/>
                </a:xfrm>
                <a:prstGeom prst="rect">
                  <a:avLst/>
                </a:prstGeom>
                <a:blipFill>
                  <a:blip r:embed="rId3"/>
                  <a:stretch>
                    <a:fillRect/>
                  </a:stretch>
                </a:blipFill>
              </p:spPr>
              <p:txBody>
                <a:bodyPr/>
                <a:lstStyle/>
                <a:p>
                  <a:r>
                    <a:rPr lang="en-US">
                      <a:noFill/>
                    </a:rPr>
                    <a:t> </a:t>
                  </a:r>
                </a:p>
              </p:txBody>
            </p:sp>
          </mc:Fallback>
        </mc:AlternateContent>
      </p:grpSp>
      <p:sp>
        <p:nvSpPr>
          <p:cNvPr id="11" name="Title 1"/>
          <p:cNvSpPr txBox="1">
            <a:spLocks/>
          </p:cNvSpPr>
          <p:nvPr/>
        </p:nvSpPr>
        <p:spPr>
          <a:xfrm>
            <a:off x="457200" y="127215"/>
            <a:ext cx="8229600" cy="1143000"/>
          </a:xfrm>
          <a:prstGeom prst="rect">
            <a:avLst/>
          </a:prstGeom>
        </p:spPr>
        <p:txBody>
          <a:bodyPr anchor="ctr">
            <a:normAutofit/>
          </a:bodyPr>
          <a:lst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a:lstStyle>
          <a:p>
            <a:r>
              <a:rPr lang="en-US" dirty="0"/>
              <a:t>Regression results I</a:t>
            </a:r>
          </a:p>
          <a:p>
            <a:r>
              <a:rPr lang="en-US" sz="2000" dirty="0"/>
              <a:t>(from excel using “data analysis”)</a:t>
            </a:r>
          </a:p>
        </p:txBody>
      </p:sp>
      <p:sp>
        <p:nvSpPr>
          <p:cNvPr id="9" name="Rectangle 5"/>
          <p:cNvSpPr>
            <a:spLocks noChangeArrowheads="1"/>
          </p:cNvSpPr>
          <p:nvPr/>
        </p:nvSpPr>
        <p:spPr bwMode="auto">
          <a:xfrm>
            <a:off x="287105" y="5232923"/>
            <a:ext cx="8211854" cy="1439496"/>
          </a:xfrm>
          <a:prstGeom prst="rect">
            <a:avLst/>
          </a:prstGeom>
          <a:noFill/>
          <a:ln w="9525">
            <a:noFill/>
            <a:miter lim="800000"/>
            <a:headEnd/>
            <a:tailEnd/>
          </a:ln>
          <a:effectLst/>
        </p:spPr>
        <p:txBody>
          <a:bodyPr wrap="none" lIns="20048" tIns="28402" rIns="20048" bIns="28402"/>
          <a:lstStyle/>
          <a:p>
            <a:pPr>
              <a:lnSpc>
                <a:spcPts val="3789"/>
              </a:lnSpc>
              <a:spcAft>
                <a:spcPts val="947"/>
              </a:spcAft>
              <a:tabLst>
                <a:tab pos="481157" algn="l"/>
                <a:tab pos="962315" algn="l"/>
                <a:tab pos="1443472" algn="l"/>
              </a:tabLst>
            </a:pPr>
            <a:r>
              <a:rPr lang="en-US" sz="3000" b="0" dirty="0">
                <a:latin typeface="Whitney Book" pitchFamily="50" charset="0"/>
                <a:cs typeface="Whitney Book" pitchFamily="50" charset="0"/>
              </a:rPr>
              <a:t>Note: Now that we have demand, we can compute MR!</a:t>
            </a:r>
          </a:p>
        </p:txBody>
      </p:sp>
      <p:graphicFrame>
        <p:nvGraphicFramePr>
          <p:cNvPr id="12" name="Table 11"/>
          <p:cNvGraphicFramePr>
            <a:graphicFrameLocks noGrp="1"/>
          </p:cNvGraphicFramePr>
          <p:nvPr/>
        </p:nvGraphicFramePr>
        <p:xfrm>
          <a:off x="806939" y="1595606"/>
          <a:ext cx="7748336" cy="2200941"/>
        </p:xfrm>
        <a:graphic>
          <a:graphicData uri="http://schemas.openxmlformats.org/drawingml/2006/table">
            <a:tbl>
              <a:tblPr firstRow="1" bandRow="1">
                <a:tableStyleId>{5C22544A-7EE6-4342-B048-85BDC9FD1C3A}</a:tableStyleId>
              </a:tblPr>
              <a:tblGrid>
                <a:gridCol w="4925882">
                  <a:extLst>
                    <a:ext uri="{9D8B030D-6E8A-4147-A177-3AD203B41FA5}">
                      <a16:colId xmlns:a16="http://schemas.microsoft.com/office/drawing/2014/main" val="20000"/>
                    </a:ext>
                  </a:extLst>
                </a:gridCol>
                <a:gridCol w="2822454">
                  <a:extLst>
                    <a:ext uri="{9D8B030D-6E8A-4147-A177-3AD203B41FA5}">
                      <a16:colId xmlns:a16="http://schemas.microsoft.com/office/drawing/2014/main" val="20001"/>
                    </a:ext>
                  </a:extLst>
                </a:gridCol>
              </a:tblGrid>
              <a:tr h="733647">
                <a:tc>
                  <a:txBody>
                    <a:bodyPr/>
                    <a:lstStyle/>
                    <a:p>
                      <a:pPr algn="ctr"/>
                      <a:r>
                        <a:rPr lang="en-US" sz="2200" b="0" i="0" cap="all" spc="200" baseline="0" dirty="0">
                          <a:latin typeface="Whitney Book"/>
                        </a:rPr>
                        <a:t>coefficient</a:t>
                      </a:r>
                    </a:p>
                  </a:txBody>
                  <a:tcPr marL="69584" marR="69584" marT="34792" marB="34792" anchor="ctr">
                    <a:gradFill flip="none" rotWithShape="1">
                      <a:gsLst>
                        <a:gs pos="0">
                          <a:schemeClr val="tx2">
                            <a:lumMod val="75000"/>
                          </a:schemeClr>
                        </a:gs>
                        <a:gs pos="100000">
                          <a:schemeClr val="tx2">
                            <a:lumMod val="75000"/>
                            <a:alpha val="70000"/>
                          </a:schemeClr>
                        </a:gs>
                      </a:gsLst>
                      <a:lin ang="16200000" scaled="0"/>
                      <a:tileRect/>
                    </a:gradFill>
                  </a:tcPr>
                </a:tc>
                <a:tc>
                  <a:txBody>
                    <a:bodyPr/>
                    <a:lstStyle/>
                    <a:p>
                      <a:pPr algn="ctr"/>
                      <a:r>
                        <a:rPr lang="en-US" sz="2200" b="0" i="0" cap="all" spc="200" baseline="0" dirty="0">
                          <a:latin typeface="Whitney Book"/>
                        </a:rPr>
                        <a:t>value</a:t>
                      </a:r>
                    </a:p>
                  </a:txBody>
                  <a:tcPr marL="69584" marR="69584" marT="34792" marB="34792" anchor="ctr">
                    <a:gradFill flip="none" rotWithShape="1">
                      <a:gsLst>
                        <a:gs pos="0">
                          <a:schemeClr val="tx2">
                            <a:lumMod val="75000"/>
                          </a:schemeClr>
                        </a:gs>
                        <a:gs pos="100000">
                          <a:schemeClr val="tx2">
                            <a:lumMod val="75000"/>
                            <a:alpha val="65000"/>
                          </a:schemeClr>
                        </a:gs>
                      </a:gsLst>
                      <a:lin ang="16200000" scaled="0"/>
                      <a:tileRect/>
                    </a:gradFill>
                  </a:tcPr>
                </a:tc>
                <a:extLst>
                  <a:ext uri="{0D108BD9-81ED-4DB2-BD59-A6C34878D82A}">
                    <a16:rowId xmlns:a16="http://schemas.microsoft.com/office/drawing/2014/main" val="10000"/>
                  </a:ext>
                </a:extLst>
              </a:tr>
              <a:tr h="733647">
                <a:tc>
                  <a:txBody>
                    <a:bodyPr/>
                    <a:lstStyle/>
                    <a:p>
                      <a:r>
                        <a:rPr lang="en-US" sz="3200" dirty="0">
                          <a:solidFill>
                            <a:schemeClr val="tx1"/>
                          </a:solidFill>
                          <a:latin typeface="Whitney Book" pitchFamily="50" charset="0"/>
                          <a:cs typeface="Whitney Book" pitchFamily="50" charset="0"/>
                        </a:rPr>
                        <a:t>Constant (intercept)</a:t>
                      </a:r>
                    </a:p>
                  </a:txBody>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3200" dirty="0">
                          <a:solidFill>
                            <a:schemeClr val="tx1"/>
                          </a:solidFill>
                          <a:latin typeface="Whitney Book" pitchFamily="50" charset="0"/>
                          <a:cs typeface="Whitney Book" pitchFamily="50" charset="0"/>
                        </a:rPr>
                        <a:t>479</a:t>
                      </a:r>
                    </a:p>
                  </a:txBody>
                  <a:tcPr/>
                </a:tc>
                <a:extLst>
                  <a:ext uri="{0D108BD9-81ED-4DB2-BD59-A6C34878D82A}">
                    <a16:rowId xmlns:a16="http://schemas.microsoft.com/office/drawing/2014/main" val="10001"/>
                  </a:ext>
                </a:extLst>
              </a:tr>
              <a:tr h="73364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3200" dirty="0">
                          <a:solidFill>
                            <a:schemeClr val="tx1"/>
                          </a:solidFill>
                          <a:latin typeface="Whitney Book" pitchFamily="50" charset="0"/>
                          <a:cs typeface="Whitney Book" pitchFamily="50" charset="0"/>
                        </a:rPr>
                        <a:t>Own price	</a:t>
                      </a:r>
                    </a:p>
                  </a:txBody>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3200" dirty="0">
                          <a:solidFill>
                            <a:schemeClr val="tx1"/>
                          </a:solidFill>
                          <a:latin typeface="Whitney Book" pitchFamily="50" charset="0"/>
                          <a:cs typeface="Whitney Book" pitchFamily="50" charset="0"/>
                        </a:rPr>
                        <a:t>-1.64</a:t>
                      </a:r>
                    </a:p>
                  </a:txBody>
                  <a:tcPr/>
                </a:tc>
                <a:extLst>
                  <a:ext uri="{0D108BD9-81ED-4DB2-BD59-A6C34878D82A}">
                    <a16:rowId xmlns:a16="http://schemas.microsoft.com/office/drawing/2014/main" val="10002"/>
                  </a:ext>
                </a:extLst>
              </a:tr>
            </a:tbl>
          </a:graphicData>
        </a:graphic>
      </p:graphicFrame>
      <p:sp>
        <p:nvSpPr>
          <p:cNvPr id="2" name="Slide Number Placeholder 1">
            <a:extLst>
              <a:ext uri="{FF2B5EF4-FFF2-40B4-BE49-F238E27FC236}">
                <a16:creationId xmlns:a16="http://schemas.microsoft.com/office/drawing/2014/main" id="{B65B8B40-48CE-D843-8670-4348C7F383B6}"/>
              </a:ext>
            </a:extLst>
          </p:cNvPr>
          <p:cNvSpPr>
            <a:spLocks noGrp="1"/>
          </p:cNvSpPr>
          <p:nvPr>
            <p:ph type="sldNum" sz="quarter" idx="12"/>
          </p:nvPr>
        </p:nvSpPr>
        <p:spPr/>
        <p:txBody>
          <a:bodyPr/>
          <a:lstStyle/>
          <a:p>
            <a:fld id="{0F3206DB-9488-D04D-BDD1-A7C9D84C4579}" type="slidenum">
              <a:rPr lang="en-US" smtClean="0"/>
              <a:t>29</a:t>
            </a:fld>
            <a:endParaRPr lang="en-US"/>
          </a:p>
        </p:txBody>
      </p:sp>
      <p:grpSp>
        <p:nvGrpSpPr>
          <p:cNvPr id="15" name="Group 14">
            <a:extLst>
              <a:ext uri="{FF2B5EF4-FFF2-40B4-BE49-F238E27FC236}">
                <a16:creationId xmlns:a16="http://schemas.microsoft.com/office/drawing/2014/main" id="{ABB1B4F2-EC73-4221-9B08-A6D60E30B73B}"/>
              </a:ext>
            </a:extLst>
          </p:cNvPr>
          <p:cNvGrpSpPr/>
          <p:nvPr/>
        </p:nvGrpSpPr>
        <p:grpSpPr>
          <a:xfrm>
            <a:off x="1856451" y="6082446"/>
            <a:ext cx="5574253" cy="566487"/>
            <a:chOff x="1158402" y="6037613"/>
            <a:chExt cx="3432521" cy="566487"/>
          </a:xfrm>
        </p:grpSpPr>
        <p:sp>
          <p:nvSpPr>
            <p:cNvPr id="16" name="Rectangle 3">
              <a:extLst>
                <a:ext uri="{FF2B5EF4-FFF2-40B4-BE49-F238E27FC236}">
                  <a16:creationId xmlns:a16="http://schemas.microsoft.com/office/drawing/2014/main" id="{BE9FF00B-3F8A-4F12-A1C8-F8E77F8BDA9C}"/>
                </a:ext>
              </a:extLst>
            </p:cNvPr>
            <p:cNvSpPr txBox="1">
              <a:spLocks noChangeArrowheads="1"/>
            </p:cNvSpPr>
            <p:nvPr/>
          </p:nvSpPr>
          <p:spPr>
            <a:xfrm>
              <a:off x="1158402" y="6037613"/>
              <a:ext cx="3432521" cy="566487"/>
            </a:xfrm>
            <a:prstGeom prst="rect">
              <a:avLst/>
            </a:prstGeom>
            <a:gradFill>
              <a:gsLst>
                <a:gs pos="44000">
                  <a:schemeClr val="bg1">
                    <a:lumMod val="85000"/>
                  </a:schemeClr>
                </a:gs>
                <a:gs pos="0">
                  <a:schemeClr val="tx1">
                    <a:lumMod val="65000"/>
                    <a:lumOff val="35000"/>
                  </a:schemeClr>
                </a:gs>
                <a:gs pos="100000">
                  <a:schemeClr val="tx1">
                    <a:lumMod val="50000"/>
                    <a:lumOff val="50000"/>
                  </a:schemeClr>
                </a:gs>
              </a:gsLst>
              <a:lin ang="5400000" scaled="1"/>
            </a:gradFill>
            <a:ln w="15875">
              <a:noFill/>
            </a:ln>
            <a:effectLst>
              <a:outerShdw blurRad="50800" dist="38100" dir="2700000" algn="tl" rotWithShape="0">
                <a:prstClr val="black">
                  <a:alpha val="40000"/>
                </a:prstClr>
              </a:outerShdw>
              <a:softEdge rad="50800"/>
            </a:effectLst>
          </p:spPr>
          <p:txBody>
            <a:bodyPr vert="horz" lIns="92069" tIns="46035" rIns="92069" bIns="46035" rtlCol="0" anchor="ctr">
              <a:normAutofit fontScale="85000" lnSpcReduction="10000"/>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600"/>
                </a:spcBef>
                <a:spcAft>
                  <a:spcPts val="563"/>
                </a:spcAft>
                <a:buNone/>
              </a:pPr>
              <a:r>
                <a:rPr lang="en-US" sz="2400" dirty="0">
                  <a:cs typeface="Times New Roman" pitchFamily="18" charset="0"/>
                </a:rPr>
                <a:t>           More detail: “Teaching Note Regressions”</a:t>
              </a:r>
              <a:endParaRPr lang="en-US" sz="2400" dirty="0">
                <a:ln>
                  <a:solidFill>
                    <a:schemeClr val="bg1">
                      <a:lumMod val="50000"/>
                    </a:schemeClr>
                  </a:solidFill>
                </a:ln>
                <a:solidFill>
                  <a:schemeClr val="tx1"/>
                </a:solidFill>
                <a:latin typeface="Calibri" panose="020F0502020204030204" pitchFamily="34" charset="0"/>
                <a:cs typeface="Calibri" panose="020F0502020204030204" pitchFamily="34" charset="0"/>
              </a:endParaRPr>
            </a:p>
          </p:txBody>
        </p:sp>
        <p:sp>
          <p:nvSpPr>
            <p:cNvPr id="17" name="Right Arrow 1">
              <a:extLst>
                <a:ext uri="{FF2B5EF4-FFF2-40B4-BE49-F238E27FC236}">
                  <a16:creationId xmlns:a16="http://schemas.microsoft.com/office/drawing/2014/main" id="{691C0EB0-B359-47C1-8386-FE63E745E0A2}"/>
                </a:ext>
              </a:extLst>
            </p:cNvPr>
            <p:cNvSpPr/>
            <p:nvPr/>
          </p:nvSpPr>
          <p:spPr>
            <a:xfrm>
              <a:off x="1232461" y="6170664"/>
              <a:ext cx="273399" cy="301998"/>
            </a:xfrm>
            <a:prstGeom prst="rightArrow">
              <a:avLst/>
            </a:prstGeom>
            <a:solidFill>
              <a:schemeClr val="accent2"/>
            </a:solidFill>
            <a:effectLst>
              <a:outerShdw blurRad="40000" dist="23000" dir="5400000" rotWithShape="0">
                <a:srgbClr val="000000">
                  <a:alpha val="35000"/>
                </a:srgbClr>
              </a:outerShdw>
              <a:softEdge rad="254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068887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1000" fill="hold"/>
                                        <p:tgtEl>
                                          <p:spTgt spid="15"/>
                                        </p:tgtEl>
                                        <p:attrNameLst>
                                          <p:attrName>ppt_w</p:attrName>
                                        </p:attrNameLst>
                                      </p:cBhvr>
                                      <p:tavLst>
                                        <p:tav tm="0">
                                          <p:val>
                                            <p:fltVal val="0"/>
                                          </p:val>
                                        </p:tav>
                                        <p:tav tm="100000">
                                          <p:val>
                                            <p:strVal val="#ppt_w"/>
                                          </p:val>
                                        </p:tav>
                                      </p:tavLst>
                                    </p:anim>
                                    <p:anim calcmode="lin" valueType="num">
                                      <p:cBhvr>
                                        <p:cTn id="8" dur="1000" fill="hold"/>
                                        <p:tgtEl>
                                          <p:spTgt spid="15"/>
                                        </p:tgtEl>
                                        <p:attrNameLst>
                                          <p:attrName>ppt_h</p:attrName>
                                        </p:attrNameLst>
                                      </p:cBhvr>
                                      <p:tavLst>
                                        <p:tav tm="0">
                                          <p:val>
                                            <p:fltVal val="0"/>
                                          </p:val>
                                        </p:tav>
                                        <p:tav tm="100000">
                                          <p:val>
                                            <p:strVal val="#ppt_h"/>
                                          </p:val>
                                        </p:tav>
                                      </p:tavLst>
                                    </p:anim>
                                    <p:anim calcmode="lin" valueType="num">
                                      <p:cBhvr>
                                        <p:cTn id="9" dur="1000" fill="hold"/>
                                        <p:tgtEl>
                                          <p:spTgt spid="15"/>
                                        </p:tgtEl>
                                        <p:attrNameLst>
                                          <p:attrName>style.rotation</p:attrName>
                                        </p:attrNameLst>
                                      </p:cBhvr>
                                      <p:tavLst>
                                        <p:tav tm="0">
                                          <p:val>
                                            <p:fltVal val="90"/>
                                          </p:val>
                                        </p:tav>
                                        <p:tav tm="100000">
                                          <p:val>
                                            <p:fltVal val="0"/>
                                          </p:val>
                                        </p:tav>
                                      </p:tavLst>
                                    </p:anim>
                                    <p:animEffect transition="in" filter="fade">
                                      <p:cBhvr>
                                        <p:cTn id="10"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Content Placeholder 8"/>
              <p:cNvSpPr>
                <a:spLocks noGrp="1"/>
              </p:cNvSpPr>
              <p:nvPr>
                <p:ph idx="1"/>
              </p:nvPr>
            </p:nvSpPr>
            <p:spPr>
              <a:xfrm>
                <a:off x="457199" y="1419985"/>
                <a:ext cx="8490857" cy="4967752"/>
              </a:xfrm>
            </p:spPr>
            <p:txBody>
              <a:bodyPr>
                <a:normAutofit lnSpcReduction="10000"/>
              </a:bodyPr>
              <a:lstStyle/>
              <a:p>
                <a:pPr>
                  <a:lnSpc>
                    <a:spcPct val="120000"/>
                  </a:lnSpc>
                  <a:spcAft>
                    <a:spcPts val="947"/>
                  </a:spcAft>
                  <a:tabLst>
                    <a:tab pos="481157" algn="l"/>
                    <a:tab pos="962315" algn="l"/>
                    <a:tab pos="1443472" algn="l"/>
                  </a:tabLst>
                </a:pPr>
                <a:r>
                  <a:rPr lang="en-US" sz="2600" dirty="0">
                    <a:cs typeface="Times New Roman" pitchFamily="18" charset="0"/>
                  </a:rPr>
                  <a:t>R Square: Coefficient of determination (0&lt; R</a:t>
                </a:r>
                <a:r>
                  <a:rPr lang="en-US" sz="2600" baseline="30000" dirty="0">
                    <a:cs typeface="Times New Roman" pitchFamily="18" charset="0"/>
                  </a:rPr>
                  <a:t>2 </a:t>
                </a:r>
                <a:r>
                  <a:rPr lang="en-US" sz="2600" dirty="0">
                    <a:cs typeface="Times New Roman" pitchFamily="18" charset="0"/>
                  </a:rPr>
                  <a:t>&lt;1)</a:t>
                </a:r>
              </a:p>
              <a:p>
                <a:pPr lvl="1">
                  <a:lnSpc>
                    <a:spcPct val="120000"/>
                  </a:lnSpc>
                  <a:spcAft>
                    <a:spcPts val="947"/>
                  </a:spcAft>
                  <a:tabLst>
                    <a:tab pos="481157" algn="l"/>
                    <a:tab pos="962315" algn="l"/>
                    <a:tab pos="1443472" algn="l"/>
                  </a:tabLst>
                </a:pPr>
                <a:r>
                  <a:rPr lang="en-US" dirty="0">
                    <a:cs typeface="Times New Roman" pitchFamily="18" charset="0"/>
                  </a:rPr>
                  <a:t>R</a:t>
                </a:r>
                <a:r>
                  <a:rPr lang="en-US" baseline="30000" dirty="0">
                    <a:cs typeface="Times New Roman" pitchFamily="18" charset="0"/>
                  </a:rPr>
                  <a:t>2</a:t>
                </a:r>
                <a:r>
                  <a:rPr lang="en-US" dirty="0">
                    <a:cs typeface="Times New Roman" pitchFamily="18" charset="0"/>
                  </a:rPr>
                  <a:t>=0.56</a:t>
                </a:r>
              </a:p>
              <a:p>
                <a:pPr>
                  <a:lnSpc>
                    <a:spcPct val="120000"/>
                  </a:lnSpc>
                  <a:spcAft>
                    <a:spcPts val="947"/>
                  </a:spcAft>
                  <a:tabLst>
                    <a:tab pos="481157" algn="l"/>
                    <a:tab pos="962315" algn="l"/>
                    <a:tab pos="1443472" algn="l"/>
                  </a:tabLst>
                </a:pPr>
                <a:r>
                  <a:rPr lang="en-US" sz="2600" dirty="0">
                    <a:cs typeface="Times New Roman" pitchFamily="18" charset="0"/>
                  </a:rPr>
                  <a:t>t-statistics (rule of thumb: |t|&gt;2 statistically significant)</a:t>
                </a:r>
              </a:p>
              <a:p>
                <a:pPr lvl="1">
                  <a:lnSpc>
                    <a:spcPct val="120000"/>
                  </a:lnSpc>
                  <a:spcAft>
                    <a:spcPts val="947"/>
                  </a:spcAft>
                  <a:tabLst>
                    <a:tab pos="481157" algn="l"/>
                    <a:tab pos="962315" algn="l"/>
                    <a:tab pos="1443472" algn="l"/>
                  </a:tabLst>
                </a:pPr>
                <a:r>
                  <a:rPr lang="en-US" dirty="0">
                    <a:cs typeface="Times New Roman" pitchFamily="18" charset="0"/>
                  </a:rPr>
                  <a:t>Own-price |t-stat|=4.45</a:t>
                </a:r>
              </a:p>
              <a:p>
                <a:pPr>
                  <a:lnSpc>
                    <a:spcPct val="120000"/>
                  </a:lnSpc>
                  <a:spcAft>
                    <a:spcPts val="947"/>
                  </a:spcAft>
                  <a:tabLst>
                    <a:tab pos="481157" algn="l"/>
                    <a:tab pos="962315" algn="l"/>
                    <a:tab pos="1443472" algn="l"/>
                  </a:tabLst>
                </a:pPr>
                <a:r>
                  <a:rPr lang="en-US" sz="2600" dirty="0">
                    <a:cs typeface="Times New Roman" pitchFamily="18" charset="0"/>
                  </a:rPr>
                  <a:t>Predicted values: Plug in for price to see predicted quantity</a:t>
                </a:r>
              </a:p>
              <a:p>
                <a:pPr lvl="1">
                  <a:lnSpc>
                    <a:spcPct val="120000"/>
                  </a:lnSpc>
                  <a:spcAft>
                    <a:spcPts val="947"/>
                  </a:spcAft>
                  <a:tabLst>
                    <a:tab pos="481157" algn="l"/>
                    <a:tab pos="962315" algn="l"/>
                    <a:tab pos="1443472" algn="l"/>
                  </a:tabLst>
                </a:pPr>
                <a:r>
                  <a:rPr lang="en-US" sz="2400" dirty="0">
                    <a:cs typeface="Times New Roman" pitchFamily="18" charset="0"/>
                  </a:rPr>
                  <a:t>e.g., </a:t>
                </a:r>
                <a14:m>
                  <m:oMath xmlns:m="http://schemas.openxmlformats.org/officeDocument/2006/math">
                    <m:r>
                      <a:rPr lang="en-US" sz="2400" i="1">
                        <a:latin typeface="Cambria Math" panose="02040503050406030204" pitchFamily="18" charset="0"/>
                      </a:rPr>
                      <m:t>𝑃</m:t>
                    </m:r>
                    <m:r>
                      <a:rPr lang="en-US" sz="2400" b="0" i="1" smtClean="0">
                        <a:latin typeface="Cambria Math" panose="02040503050406030204" pitchFamily="18" charset="0"/>
                      </a:rPr>
                      <m:t>=200</m:t>
                    </m:r>
                    <m:r>
                      <a:rPr lang="en-US" sz="2400" b="0" i="0" smtClean="0">
                        <a:latin typeface="Cambria Math" panose="02040503050406030204" pitchFamily="18" charset="0"/>
                      </a:rPr>
                      <m:t>.</m:t>
                    </m:r>
                  </m:oMath>
                </a14:m>
                <a:r>
                  <a:rPr lang="en-US" sz="2400" dirty="0">
                    <a:cs typeface="Times New Roman" pitchFamily="18" charset="0"/>
                  </a:rPr>
                  <a:t> Then:  </a:t>
                </a:r>
                <a14:m>
                  <m:oMath xmlns:m="http://schemas.openxmlformats.org/officeDocument/2006/math">
                    <m:r>
                      <a:rPr lang="en-US" sz="2400" i="1" smtClean="0">
                        <a:solidFill>
                          <a:schemeClr val="tx2"/>
                        </a:solidFill>
                        <a:latin typeface="Cambria Math" panose="02040503050406030204" pitchFamily="18" charset="0"/>
                      </a:rPr>
                      <m:t>𝑄</m:t>
                    </m:r>
                    <m:r>
                      <a:rPr lang="en-US" sz="2400" i="1" smtClean="0">
                        <a:solidFill>
                          <a:schemeClr val="tx2"/>
                        </a:solidFill>
                        <a:latin typeface="Cambria Math" panose="02040503050406030204" pitchFamily="18" charset="0"/>
                      </a:rPr>
                      <m:t>=</m:t>
                    </m:r>
                    <m:r>
                      <a:rPr lang="en-US" sz="2400" i="1" smtClean="0">
                        <a:solidFill>
                          <a:schemeClr val="tx2"/>
                        </a:solidFill>
                        <a:latin typeface="Cambria Math" panose="02040503050406030204" pitchFamily="18" charset="0"/>
                      </a:rPr>
                      <m:t>𝑎</m:t>
                    </m:r>
                    <m:r>
                      <a:rPr lang="en-US" sz="2400" i="1" smtClean="0">
                        <a:solidFill>
                          <a:schemeClr val="tx2"/>
                        </a:solidFill>
                        <a:latin typeface="Cambria Math" panose="02040503050406030204" pitchFamily="18" charset="0"/>
                      </a:rPr>
                      <m:t>+</m:t>
                    </m:r>
                    <m:r>
                      <a:rPr lang="en-US" sz="2400" i="1" smtClean="0">
                        <a:solidFill>
                          <a:schemeClr val="tx2"/>
                        </a:solidFill>
                        <a:latin typeface="Cambria Math" panose="02040503050406030204" pitchFamily="18" charset="0"/>
                      </a:rPr>
                      <m:t>𝑏</m:t>
                    </m:r>
                    <m:r>
                      <a:rPr lang="en-US" sz="2400" i="1" smtClean="0">
                        <a:solidFill>
                          <a:schemeClr val="tx2"/>
                        </a:solidFill>
                        <a:latin typeface="Cambria Math" panose="02040503050406030204" pitchFamily="18" charset="0"/>
                      </a:rPr>
                      <m:t>⋅</m:t>
                    </m:r>
                    <m:r>
                      <a:rPr lang="en-US" sz="2400" i="1" smtClean="0">
                        <a:solidFill>
                          <a:schemeClr val="tx2"/>
                        </a:solidFill>
                        <a:latin typeface="Cambria Math" panose="02040503050406030204" pitchFamily="18" charset="0"/>
                      </a:rPr>
                      <m:t>𝑃</m:t>
                    </m:r>
                    <m:r>
                      <a:rPr lang="en-US" sz="2400" i="1" smtClean="0">
                        <a:solidFill>
                          <a:schemeClr val="tx2"/>
                        </a:solidFill>
                        <a:latin typeface="Cambria Math" panose="02040503050406030204" pitchFamily="18" charset="0"/>
                      </a:rPr>
                      <m:t>=479−1.64⋅200</m:t>
                    </m:r>
                  </m:oMath>
                </a14:m>
                <a:endParaRPr lang="en-US" sz="2400" dirty="0">
                  <a:solidFill>
                    <a:srgbClr val="C00000"/>
                  </a:solidFill>
                </a:endParaRPr>
              </a:p>
              <a:p>
                <a:pPr lvl="1">
                  <a:lnSpc>
                    <a:spcPct val="120000"/>
                  </a:lnSpc>
                  <a:spcAft>
                    <a:spcPts val="947"/>
                  </a:spcAft>
                  <a:tabLst>
                    <a:tab pos="481157" algn="l"/>
                    <a:tab pos="962315" algn="l"/>
                    <a:tab pos="1443472" algn="l"/>
                  </a:tabLst>
                </a:pPr>
                <a14:m>
                  <m:oMath xmlns:m="http://schemas.openxmlformats.org/officeDocument/2006/math">
                    <m:r>
                      <a:rPr lang="en-US" sz="2400" b="0" i="1" smtClean="0">
                        <a:latin typeface="Cambria Math" panose="02040503050406030204" pitchFamily="18" charset="0"/>
                      </a:rPr>
                      <m:t>⇒</m:t>
                    </m:r>
                    <m:r>
                      <a:rPr lang="en-US" sz="2400" b="0" i="1" smtClean="0">
                        <a:latin typeface="Cambria Math" panose="02040503050406030204" pitchFamily="18" charset="0"/>
                      </a:rPr>
                      <m:t>𝑄</m:t>
                    </m:r>
                    <m:r>
                      <a:rPr lang="en-US" sz="2400" b="0" i="1" smtClean="0">
                        <a:latin typeface="Cambria Math" panose="02040503050406030204" pitchFamily="18" charset="0"/>
                      </a:rPr>
                      <m:t>=151</m:t>
                    </m:r>
                  </m:oMath>
                </a14:m>
                <a:endParaRPr lang="en-US" sz="2400" dirty="0"/>
              </a:p>
              <a:p>
                <a:pPr lvl="1">
                  <a:lnSpc>
                    <a:spcPct val="120000"/>
                  </a:lnSpc>
                  <a:spcAft>
                    <a:spcPts val="947"/>
                  </a:spcAft>
                  <a:tabLst>
                    <a:tab pos="481157" algn="l"/>
                    <a:tab pos="962315" algn="l"/>
                    <a:tab pos="1443472" algn="l"/>
                  </a:tabLst>
                </a:pPr>
                <a:endParaRPr lang="en-US" sz="2400" dirty="0"/>
              </a:p>
            </p:txBody>
          </p:sp>
        </mc:Choice>
        <mc:Fallback xmlns="">
          <p:sp>
            <p:nvSpPr>
              <p:cNvPr id="9" name="Content Placeholder 8"/>
              <p:cNvSpPr>
                <a:spLocks noGrp="1" noRot="1" noChangeAspect="1" noMove="1" noResize="1" noEditPoints="1" noAdjustHandles="1" noChangeArrowheads="1" noChangeShapeType="1" noTextEdit="1"/>
              </p:cNvSpPr>
              <p:nvPr>
                <p:ph idx="1"/>
              </p:nvPr>
            </p:nvSpPr>
            <p:spPr>
              <a:xfrm>
                <a:off x="457199" y="1419985"/>
                <a:ext cx="8490857" cy="4967752"/>
              </a:xfrm>
              <a:blipFill>
                <a:blip r:embed="rId3"/>
                <a:stretch>
                  <a:fillRect l="-1508" t="-1840" r="-1077"/>
                </a:stretch>
              </a:blipFill>
            </p:spPr>
            <p:txBody>
              <a:bodyPr/>
              <a:lstStyle/>
              <a:p>
                <a:r>
                  <a:rPr lang="en-US">
                    <a:noFill/>
                  </a:rPr>
                  <a:t> </a:t>
                </a:r>
              </a:p>
            </p:txBody>
          </p:sp>
        </mc:Fallback>
      </mc:AlternateContent>
      <p:sp>
        <p:nvSpPr>
          <p:cNvPr id="11" name="Title 1"/>
          <p:cNvSpPr txBox="1">
            <a:spLocks/>
          </p:cNvSpPr>
          <p:nvPr/>
        </p:nvSpPr>
        <p:spPr>
          <a:xfrm>
            <a:off x="457200" y="127215"/>
            <a:ext cx="8229600" cy="1143000"/>
          </a:xfrm>
          <a:prstGeom prst="rect">
            <a:avLst/>
          </a:prstGeom>
        </p:spPr>
        <p:txBody>
          <a:bodyPr anchor="ctr">
            <a:normAutofit/>
          </a:bodyPr>
          <a:lst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a:lstStyle>
          <a:p>
            <a:r>
              <a:rPr lang="en-US" dirty="0"/>
              <a:t>Regression results II</a:t>
            </a:r>
          </a:p>
        </p:txBody>
      </p:sp>
      <p:sp>
        <p:nvSpPr>
          <p:cNvPr id="2" name="Slide Number Placeholder 1">
            <a:extLst>
              <a:ext uri="{FF2B5EF4-FFF2-40B4-BE49-F238E27FC236}">
                <a16:creationId xmlns:a16="http://schemas.microsoft.com/office/drawing/2014/main" id="{853CFAA1-A8D3-AC4F-B000-FEC24ACE3FE9}"/>
              </a:ext>
            </a:extLst>
          </p:cNvPr>
          <p:cNvSpPr>
            <a:spLocks noGrp="1"/>
          </p:cNvSpPr>
          <p:nvPr>
            <p:ph type="sldNum" sz="quarter" idx="12"/>
          </p:nvPr>
        </p:nvSpPr>
        <p:spPr/>
        <p:txBody>
          <a:bodyPr/>
          <a:lstStyle/>
          <a:p>
            <a:fld id="{0F3206DB-9488-D04D-BDD1-A7C9D84C4579}" type="slidenum">
              <a:rPr lang="en-US" smtClean="0"/>
              <a:t>30</a:t>
            </a:fld>
            <a:endParaRPr lang="en-US"/>
          </a:p>
        </p:txBody>
      </p:sp>
    </p:spTree>
    <p:extLst>
      <p:ext uri="{BB962C8B-B14F-4D97-AF65-F5344CB8AC3E}">
        <p14:creationId xmlns:p14="http://schemas.microsoft.com/office/powerpoint/2010/main" val="1525439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127215"/>
            <a:ext cx="9039496" cy="1143000"/>
          </a:xfrm>
        </p:spPr>
        <p:txBody>
          <a:bodyPr>
            <a:normAutofit/>
          </a:bodyPr>
          <a:lstStyle/>
          <a:p>
            <a:r>
              <a:rPr lang="en-US" dirty="0"/>
              <a:t>Obtain Elasticity from Estimated Demand Curve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556426"/>
                <a:ext cx="8229600" cy="4925103"/>
              </a:xfrm>
            </p:spPr>
            <p:txBody>
              <a:bodyPr>
                <a:normAutofit lnSpcReduction="10000"/>
              </a:bodyPr>
              <a:lstStyle/>
              <a:p>
                <a:pPr>
                  <a:spcBef>
                    <a:spcPts val="600"/>
                  </a:spcBef>
                  <a:spcAft>
                    <a:spcPts val="600"/>
                  </a:spcAft>
                  <a:buFontTx/>
                  <a:buNone/>
                </a:pPr>
                <a:r>
                  <a:rPr lang="en-US" dirty="0"/>
                  <a:t>We have estimated: </a:t>
                </a:r>
              </a:p>
              <a:p>
                <a:pPr>
                  <a:spcBef>
                    <a:spcPts val="600"/>
                  </a:spcBef>
                  <a:spcAft>
                    <a:spcPts val="600"/>
                  </a:spcAft>
                  <a:buFontTx/>
                  <a:buNone/>
                </a:pPr>
                <a:endParaRPr lang="en-US" dirty="0"/>
              </a:p>
              <a:p>
                <a:pPr>
                  <a:spcBef>
                    <a:spcPts val="600"/>
                  </a:spcBef>
                  <a:spcAft>
                    <a:spcPts val="600"/>
                  </a:spcAft>
                  <a:buFontTx/>
                  <a:buNone/>
                </a:pPr>
                <a:r>
                  <a:rPr lang="en-US" dirty="0"/>
                  <a:t>Derive demand elasticity: </a:t>
                </a:r>
              </a:p>
              <a:p>
                <a:pPr>
                  <a:spcBef>
                    <a:spcPts val="600"/>
                  </a:spcBef>
                  <a:spcAft>
                    <a:spcPts val="600"/>
                  </a:spcAft>
                  <a:buFontTx/>
                  <a:buNone/>
                </a:pPr>
                <a:endParaRPr lang="en-US" sz="1000" dirty="0"/>
              </a:p>
              <a:p>
                <a:pPr>
                  <a:spcBef>
                    <a:spcPts val="600"/>
                  </a:spcBef>
                  <a:spcAft>
                    <a:spcPts val="600"/>
                  </a:spcAft>
                  <a:buFontTx/>
                  <a:buNone/>
                </a:pPr>
                <a:endParaRPr lang="en-US" sz="1000" dirty="0"/>
              </a:p>
              <a:p>
                <a:pPr>
                  <a:spcBef>
                    <a:spcPts val="600"/>
                  </a:spcBef>
                  <a:spcAft>
                    <a:spcPts val="600"/>
                  </a:spcAft>
                  <a:buFontTx/>
                  <a:buNone/>
                </a:pPr>
                <a:endParaRPr lang="en-US" sz="1000" dirty="0"/>
              </a:p>
              <a:p>
                <a:pPr>
                  <a:spcBef>
                    <a:spcPts val="600"/>
                  </a:spcBef>
                  <a:spcAft>
                    <a:spcPts val="600"/>
                  </a:spcAft>
                  <a:buFontTx/>
                  <a:buNone/>
                </a:pPr>
                <a:endParaRPr lang="en-US" dirty="0"/>
              </a:p>
              <a:p>
                <a:pPr>
                  <a:spcBef>
                    <a:spcPts val="600"/>
                  </a:spcBef>
                  <a:spcAft>
                    <a:spcPts val="600"/>
                  </a:spcAft>
                  <a:buFontTx/>
                  <a:buNone/>
                </a:pPr>
                <a:r>
                  <a:rPr lang="en-US" dirty="0"/>
                  <a:t>Example: Compute elasticity at the price P=$200</a:t>
                </a:r>
              </a:p>
              <a:p>
                <a:pPr lvl="1">
                  <a:spcBef>
                    <a:spcPts val="600"/>
                  </a:spcBef>
                  <a:spcAft>
                    <a:spcPts val="600"/>
                  </a:spcAft>
                </a:pPr>
                <a14:m>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=151</m:t>
                    </m:r>
                  </m:oMath>
                </a14:m>
                <a:r>
                  <a:rPr lang="en-US" dirty="0"/>
                  <a:t> </a:t>
                </a:r>
                <a:r>
                  <a:rPr lang="en-US" sz="2000" dirty="0"/>
                  <a:t>(see previous slide)</a:t>
                </a:r>
              </a:p>
              <a:p>
                <a:pPr lvl="1">
                  <a:spcBef>
                    <a:spcPts val="600"/>
                  </a:spcBef>
                  <a:spcAft>
                    <a:spcPts val="600"/>
                  </a:spcAft>
                </a:pPr>
                <a14:m>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𝐸</m:t>
                        </m:r>
                      </m:e>
                      <m:sub>
                        <m:r>
                          <a:rPr lang="en-US" sz="2800" i="1">
                            <a:solidFill>
                              <a:schemeClr val="tx1"/>
                            </a:solidFill>
                            <a:latin typeface="Cambria Math" panose="02040503050406030204" pitchFamily="18" charset="0"/>
                          </a:rPr>
                          <m:t>𝑑</m:t>
                        </m:r>
                      </m:sub>
                    </m:sSub>
                    <m:r>
                      <a:rPr lang="en-US" sz="2800" i="1">
                        <a:solidFill>
                          <a:schemeClr val="tx1"/>
                        </a:solidFill>
                        <a:latin typeface="Cambria Math" panose="02040503050406030204" pitchFamily="18" charset="0"/>
                      </a:rPr>
                      <m:t>=</m:t>
                    </m:r>
                    <m:r>
                      <a:rPr lang="en-US" sz="2800" b="0" i="1" smtClean="0">
                        <a:solidFill>
                          <a:srgbClr val="C00000"/>
                        </a:solidFill>
                        <a:latin typeface="Cambria Math" panose="02040503050406030204" pitchFamily="18" charset="0"/>
                      </a:rPr>
                      <m:t>−1.64</m:t>
                    </m:r>
                    <m:r>
                      <a:rPr lang="en-US" sz="2800" b="0" i="1" smtClean="0">
                        <a:solidFill>
                          <a:schemeClr val="tx1"/>
                        </a:solidFill>
                        <a:latin typeface="Cambria Math" panose="02040503050406030204" pitchFamily="18" charset="0"/>
                      </a:rPr>
                      <m:t>⋅</m:t>
                    </m:r>
                    <m:f>
                      <m:fPr>
                        <m:ctrlPr>
                          <a:rPr lang="en-US" sz="2800" b="0" i="1" smtClean="0">
                            <a:solidFill>
                              <a:schemeClr val="tx1"/>
                            </a:solidFill>
                            <a:latin typeface="Cambria Math" panose="02040503050406030204" pitchFamily="18" charset="0"/>
                          </a:rPr>
                        </m:ctrlPr>
                      </m:fPr>
                      <m:num>
                        <m:r>
                          <a:rPr lang="en-US" sz="2800" b="0" i="1" smtClean="0">
                            <a:solidFill>
                              <a:schemeClr val="tx1"/>
                            </a:solidFill>
                            <a:latin typeface="Cambria Math" panose="02040503050406030204" pitchFamily="18" charset="0"/>
                          </a:rPr>
                          <m:t>200</m:t>
                        </m:r>
                      </m:num>
                      <m:den>
                        <m:r>
                          <a:rPr lang="en-US" sz="2800" b="0" i="1" smtClean="0">
                            <a:solidFill>
                              <a:schemeClr val="tx1"/>
                            </a:solidFill>
                            <a:latin typeface="Cambria Math" panose="02040503050406030204" pitchFamily="18" charset="0"/>
                          </a:rPr>
                          <m:t>151</m:t>
                        </m:r>
                      </m:den>
                    </m:f>
                    <m:r>
                      <a:rPr lang="en-US" sz="2800" b="0" i="1" smtClean="0">
                        <a:solidFill>
                          <a:schemeClr val="tx1"/>
                        </a:solidFill>
                        <a:latin typeface="Cambria Math" panose="02040503050406030204" pitchFamily="18" charset="0"/>
                      </a:rPr>
                      <m:t>=−2.17</m:t>
                    </m:r>
                  </m:oMath>
                </a14:m>
                <a:r>
                  <a:rPr lang="en-US" sz="2000" dirty="0"/>
                  <a:t>  (elastic demand)</a:t>
                </a:r>
              </a:p>
              <a:p>
                <a:pPr lvl="1">
                  <a:spcBef>
                    <a:spcPts val="600"/>
                  </a:spcBef>
                  <a:spcAft>
                    <a:spcPts val="600"/>
                  </a:spcAft>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556426"/>
                <a:ext cx="8229600" cy="4925103"/>
              </a:xfrm>
              <a:blipFill>
                <a:blip r:embed="rId3"/>
                <a:stretch>
                  <a:fillRect l="-1481" t="-21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3831630" y="1547926"/>
                <a:ext cx="2356225" cy="492443"/>
              </a:xfrm>
              <a:prstGeom prst="rect">
                <a:avLst/>
              </a:prstGeom>
              <a:noFill/>
            </p:spPr>
            <p:txBody>
              <a:bodyPr wrap="square" lIns="0" tIns="0" rIns="0" bIns="0" rtlCol="0">
                <a:spAutoFit/>
              </a:bodyPr>
              <a:lstStyle/>
              <a:p>
                <a:pPr/>
                <a14:m>
                  <m:oMathPara xmlns:m="http://schemas.openxmlformats.org/officeDocument/2006/math">
                    <m:oMath>
                      <m:r>
                        <a:rPr lang="en-US" sz="3200" b="0" i="1" smtClean="0">
                          <a:solidFill>
                            <a:schemeClr val="tx1"/>
                          </a:solidFill>
                          <a:latin typeface="Cambria Math" panose="02040503050406030204" pitchFamily="18" charset="0"/>
                        </a:rPr>
                        <m:t>𝑄</m:t>
                      </m:r>
                      <m:r>
                        <a:rPr lang="en-US" sz="3200" b="0" i="1" smtClean="0">
                          <a:solidFill>
                            <a:schemeClr val="tx1"/>
                          </a:solidFill>
                          <a:latin typeface="Cambria Math" panose="02040503050406030204" pitchFamily="18" charset="0"/>
                        </a:rPr>
                        <m:t>=</m:t>
                      </m:r>
                      <m:r>
                        <a:rPr lang="en-US" sz="3200" b="0" i="1" smtClean="0">
                          <a:solidFill>
                            <a:schemeClr val="tx1"/>
                          </a:solidFill>
                          <a:latin typeface="Cambria Math" panose="02040503050406030204" pitchFamily="18" charset="0"/>
                        </a:rPr>
                        <m:t>𝑎</m:t>
                      </m:r>
                      <m:r>
                        <a:rPr lang="en-US" sz="3200" b="0" i="1" smtClean="0">
                          <a:solidFill>
                            <a:schemeClr val="tx1"/>
                          </a:solidFill>
                          <a:latin typeface="Cambria Math" panose="02040503050406030204" pitchFamily="18" charset="0"/>
                        </a:rPr>
                        <m:t>+</m:t>
                      </m:r>
                      <m:r>
                        <a:rPr lang="en-US" sz="3200" b="0" i="1" smtClean="0">
                          <a:solidFill>
                            <a:srgbClr val="C00000"/>
                          </a:solidFill>
                          <a:latin typeface="Cambria Math" panose="02040503050406030204" pitchFamily="18" charset="0"/>
                        </a:rPr>
                        <m:t>𝑏</m:t>
                      </m:r>
                      <m:r>
                        <a:rPr lang="en-US" sz="3200" b="0" i="1" smtClean="0">
                          <a:solidFill>
                            <a:schemeClr val="tx1"/>
                          </a:solidFill>
                          <a:latin typeface="Cambria Math" charset="0"/>
                          <a:ea typeface="Cambria Math" charset="0"/>
                          <a:cs typeface="Cambria Math" charset="0"/>
                        </a:rPr>
                        <m:t>∙</m:t>
                      </m:r>
                      <m:r>
                        <a:rPr lang="en-US" sz="3200" b="0" i="1" smtClean="0">
                          <a:solidFill>
                            <a:schemeClr val="tx1"/>
                          </a:solidFill>
                          <a:latin typeface="Cambria Math" panose="02040503050406030204" pitchFamily="18" charset="0"/>
                        </a:rPr>
                        <m:t>𝑃</m:t>
                      </m:r>
                    </m:oMath>
                  </m:oMathPara>
                </a14:m>
                <a:endParaRPr lang="en-US" sz="3200" b="0" i="1" dirty="0">
                  <a:solidFill>
                    <a:srgbClr val="C00000"/>
                  </a:solidFill>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3831630" y="1547926"/>
                <a:ext cx="2356225" cy="49244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2466166" y="3370621"/>
                <a:ext cx="4257129" cy="998478"/>
              </a:xfrm>
              <a:prstGeom prst="rect">
                <a:avLst/>
              </a:prstGeom>
              <a:noFill/>
            </p:spPr>
            <p:txBody>
              <a:bodyPr wrap="square" lIns="0" tIns="0" rIns="0" bIns="0" rtlCol="0">
                <a:spAutoFit/>
              </a:bodyPr>
              <a:lstStyle/>
              <a:p>
                <a:pPr/>
                <a14:m>
                  <m:oMathPara xmlns:m="http://schemas.openxmlformats.org/officeDocument/2006/math">
                    <m:oMath>
                      <m:sSub>
                        <m:sSubPr>
                          <m:ctrlPr>
                            <a:rPr lang="en-US" sz="3200" b="0" i="1" smtClean="0">
                              <a:solidFill>
                                <a:schemeClr val="tx1"/>
                              </a:solidFill>
                              <a:latin typeface="Cambria Math" panose="02040503050406030204" pitchFamily="18" charset="0"/>
                            </a:rPr>
                          </m:ctrlPr>
                        </m:sSubPr>
                        <m:e>
                          <m:r>
                            <a:rPr lang="en-US" sz="3200" b="0" i="1" smtClean="0">
                              <a:solidFill>
                                <a:schemeClr val="tx1"/>
                              </a:solidFill>
                              <a:latin typeface="Cambria Math" panose="02040503050406030204" pitchFamily="18" charset="0"/>
                            </a:rPr>
                            <m:t>𝐸</m:t>
                          </m:r>
                        </m:e>
                        <m:sub>
                          <m:r>
                            <a:rPr lang="en-US" sz="3200" b="0" i="1" smtClean="0">
                              <a:solidFill>
                                <a:schemeClr val="tx1"/>
                              </a:solidFill>
                              <a:latin typeface="Cambria Math" panose="02040503050406030204" pitchFamily="18" charset="0"/>
                            </a:rPr>
                            <m:t>𝑑</m:t>
                          </m:r>
                        </m:sub>
                      </m:sSub>
                      <m:r>
                        <a:rPr lang="en-US" sz="3200" b="0" i="1" smtClean="0">
                          <a:solidFill>
                            <a:schemeClr val="tx1"/>
                          </a:solidFill>
                          <a:latin typeface="Cambria Math" panose="02040503050406030204" pitchFamily="18" charset="0"/>
                        </a:rPr>
                        <m:t>=</m:t>
                      </m:r>
                      <m:f>
                        <m:fPr>
                          <m:ctrlPr>
                            <a:rPr lang="el-GR" sz="3200" i="1" smtClean="0">
                              <a:solidFill>
                                <a:schemeClr val="tx1"/>
                              </a:solidFill>
                              <a:latin typeface="Cambria Math" charset="0"/>
                              <a:ea typeface="Cambria Math" charset="0"/>
                              <a:cs typeface="Cambria Math" charset="0"/>
                            </a:rPr>
                          </m:ctrlPr>
                        </m:fPr>
                        <m:num>
                          <m:r>
                            <m:rPr>
                              <m:sty m:val="p"/>
                            </m:rPr>
                            <a:rPr lang="el-GR" sz="3200" i="1" smtClean="0">
                              <a:solidFill>
                                <a:schemeClr val="tx1"/>
                              </a:solidFill>
                              <a:latin typeface="Cambria Math" charset="0"/>
                              <a:ea typeface="Cambria Math" charset="0"/>
                              <a:cs typeface="Cambria Math" charset="0"/>
                            </a:rPr>
                            <m:t>Δ</m:t>
                          </m:r>
                          <m:r>
                            <a:rPr lang="en-US" sz="3200" b="0" i="1" smtClean="0">
                              <a:solidFill>
                                <a:schemeClr val="tx1"/>
                              </a:solidFill>
                              <a:latin typeface="Cambria Math" charset="0"/>
                              <a:ea typeface="Cambria Math" charset="0"/>
                              <a:cs typeface="Cambria Math" charset="0"/>
                            </a:rPr>
                            <m:t>𝑄</m:t>
                          </m:r>
                        </m:num>
                        <m:den>
                          <m:r>
                            <m:rPr>
                              <m:sty m:val="p"/>
                            </m:rPr>
                            <a:rPr lang="el-GR" sz="3200" i="1">
                              <a:solidFill>
                                <a:schemeClr val="tx1"/>
                              </a:solidFill>
                              <a:latin typeface="Cambria Math" charset="0"/>
                              <a:ea typeface="Cambria Math" charset="0"/>
                              <a:cs typeface="Cambria Math" charset="0"/>
                            </a:rPr>
                            <m:t>Δ</m:t>
                          </m:r>
                          <m:r>
                            <a:rPr lang="en-US" sz="3200" b="0" i="1" smtClean="0">
                              <a:solidFill>
                                <a:schemeClr val="tx1"/>
                              </a:solidFill>
                              <a:latin typeface="Cambria Math" charset="0"/>
                              <a:ea typeface="Cambria Math" charset="0"/>
                              <a:cs typeface="Cambria Math" charset="0"/>
                            </a:rPr>
                            <m:t>𝑃</m:t>
                          </m:r>
                        </m:den>
                      </m:f>
                      <m:r>
                        <a:rPr lang="en-US" sz="3200" i="1">
                          <a:solidFill>
                            <a:schemeClr val="tx1"/>
                          </a:solidFill>
                          <a:latin typeface="Cambria Math" charset="0"/>
                          <a:ea typeface="Cambria Math" charset="0"/>
                          <a:cs typeface="Cambria Math" charset="0"/>
                        </a:rPr>
                        <m:t>∙</m:t>
                      </m:r>
                      <m:f>
                        <m:fPr>
                          <m:ctrlPr>
                            <a:rPr lang="en-US" sz="3200" i="1">
                              <a:solidFill>
                                <a:schemeClr val="tx1"/>
                              </a:solidFill>
                              <a:latin typeface="Cambria Math" panose="02040503050406030204" pitchFamily="18" charset="0"/>
                            </a:rPr>
                          </m:ctrlPr>
                        </m:fPr>
                        <m:num>
                          <m:r>
                            <a:rPr lang="en-US" sz="3200" i="1">
                              <a:solidFill>
                                <a:schemeClr val="tx1"/>
                              </a:solidFill>
                              <a:latin typeface="Cambria Math" panose="02040503050406030204" pitchFamily="18" charset="0"/>
                            </a:rPr>
                            <m:t>𝑃</m:t>
                          </m:r>
                        </m:num>
                        <m:den>
                          <m:r>
                            <a:rPr lang="en-US" sz="3200" i="1">
                              <a:solidFill>
                                <a:schemeClr val="tx1"/>
                              </a:solidFill>
                              <a:latin typeface="Cambria Math" panose="02040503050406030204" pitchFamily="18" charset="0"/>
                            </a:rPr>
                            <m:t>𝑄</m:t>
                          </m:r>
                        </m:den>
                      </m:f>
                      <m:r>
                        <a:rPr lang="en-US" sz="3200" b="0" i="1" smtClean="0">
                          <a:solidFill>
                            <a:schemeClr val="tx1"/>
                          </a:solidFill>
                          <a:latin typeface="Cambria Math" charset="0"/>
                        </a:rPr>
                        <m:t>=</m:t>
                      </m:r>
                      <m:r>
                        <a:rPr lang="en-US" sz="3200" b="0" i="1" smtClean="0">
                          <a:solidFill>
                            <a:srgbClr val="C00000"/>
                          </a:solidFill>
                          <a:latin typeface="Cambria Math" panose="02040503050406030204" pitchFamily="18" charset="0"/>
                        </a:rPr>
                        <m:t>𝑏</m:t>
                      </m:r>
                      <m:r>
                        <a:rPr lang="en-US" sz="3200" i="1">
                          <a:solidFill>
                            <a:schemeClr val="tx1"/>
                          </a:solidFill>
                          <a:latin typeface="Cambria Math" charset="0"/>
                          <a:ea typeface="Cambria Math" charset="0"/>
                          <a:cs typeface="Cambria Math" charset="0"/>
                        </a:rPr>
                        <m:t>∙</m:t>
                      </m:r>
                      <m:f>
                        <m:fPr>
                          <m:ctrlPr>
                            <a:rPr lang="en-US" sz="3200" b="0" i="1" smtClean="0">
                              <a:solidFill>
                                <a:schemeClr val="tx1"/>
                              </a:solidFill>
                              <a:latin typeface="Cambria Math" panose="02040503050406030204" pitchFamily="18" charset="0"/>
                            </a:rPr>
                          </m:ctrlPr>
                        </m:fPr>
                        <m:num>
                          <m:r>
                            <a:rPr lang="en-US" sz="3200" b="0" i="1" smtClean="0">
                              <a:solidFill>
                                <a:schemeClr val="tx1"/>
                              </a:solidFill>
                              <a:latin typeface="Cambria Math" panose="02040503050406030204" pitchFamily="18" charset="0"/>
                            </a:rPr>
                            <m:t>𝑃</m:t>
                          </m:r>
                        </m:num>
                        <m:den>
                          <m:r>
                            <a:rPr lang="en-US" sz="3200" b="0" i="1" smtClean="0">
                              <a:solidFill>
                                <a:schemeClr val="tx1"/>
                              </a:solidFill>
                              <a:latin typeface="Cambria Math" panose="02040503050406030204" pitchFamily="18" charset="0"/>
                            </a:rPr>
                            <m:t>𝑄</m:t>
                          </m:r>
                        </m:den>
                      </m:f>
                    </m:oMath>
                  </m:oMathPara>
                </a14:m>
                <a:endParaRPr lang="en-US" sz="3200" b="0" i="1" dirty="0">
                  <a:solidFill>
                    <a:schemeClr val="tx1"/>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2466166" y="3370621"/>
                <a:ext cx="4257129" cy="998478"/>
              </a:xfrm>
              <a:prstGeom prst="rect">
                <a:avLst/>
              </a:prstGeom>
              <a:blipFill>
                <a:blip r:embed="rId5"/>
                <a:stretch>
                  <a:fillRect/>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911EED4B-0A7F-0A41-8E83-D4BA514F59E8}"/>
              </a:ext>
            </a:extLst>
          </p:cNvPr>
          <p:cNvSpPr>
            <a:spLocks noGrp="1"/>
          </p:cNvSpPr>
          <p:nvPr>
            <p:ph type="sldNum" sz="quarter" idx="12"/>
          </p:nvPr>
        </p:nvSpPr>
        <p:spPr/>
        <p:txBody>
          <a:bodyPr/>
          <a:lstStyle/>
          <a:p>
            <a:fld id="{0F3206DB-9488-D04D-BDD1-A7C9D84C4579}" type="slidenum">
              <a:rPr lang="en-US" smtClean="0"/>
              <a:t>31</a:t>
            </a:fld>
            <a:endParaRPr lang="en-US"/>
          </a:p>
        </p:txBody>
      </p:sp>
      <p:grpSp>
        <p:nvGrpSpPr>
          <p:cNvPr id="7" name="Group 6">
            <a:extLst>
              <a:ext uri="{FF2B5EF4-FFF2-40B4-BE49-F238E27FC236}">
                <a16:creationId xmlns:a16="http://schemas.microsoft.com/office/drawing/2014/main" id="{32179A91-593A-41EB-9A2C-E6251B532A18}"/>
              </a:ext>
            </a:extLst>
          </p:cNvPr>
          <p:cNvGrpSpPr/>
          <p:nvPr/>
        </p:nvGrpSpPr>
        <p:grpSpPr>
          <a:xfrm>
            <a:off x="4324148" y="2705346"/>
            <a:ext cx="1666873" cy="655547"/>
            <a:chOff x="6162676" y="3325903"/>
            <a:chExt cx="1666873" cy="655547"/>
          </a:xfrm>
        </p:grpSpPr>
        <p:sp>
          <p:nvSpPr>
            <p:cNvPr id="8" name="TextBox 7">
              <a:extLst>
                <a:ext uri="{FF2B5EF4-FFF2-40B4-BE49-F238E27FC236}">
                  <a16:creationId xmlns:a16="http://schemas.microsoft.com/office/drawing/2014/main" id="{E97A9083-530E-459C-9B33-FE2F917ABB12}"/>
                </a:ext>
              </a:extLst>
            </p:cNvPr>
            <p:cNvSpPr txBox="1"/>
            <p:nvPr/>
          </p:nvSpPr>
          <p:spPr>
            <a:xfrm>
              <a:off x="6648450" y="3325903"/>
              <a:ext cx="1181099" cy="369332"/>
            </a:xfrm>
            <a:prstGeom prst="rect">
              <a:avLst/>
            </a:prstGeom>
            <a:noFill/>
            <a:ln>
              <a:solidFill>
                <a:srgbClr val="C00000"/>
              </a:solidFill>
            </a:ln>
            <a:effectLst>
              <a:outerShdw blurRad="50800" dist="38100" dir="2700000" algn="tl" rotWithShape="0">
                <a:prstClr val="black">
                  <a:alpha val="40000"/>
                </a:prstClr>
              </a:outerShdw>
            </a:effectLst>
          </p:spPr>
          <p:txBody>
            <a:bodyPr wrap="square" rtlCol="0">
              <a:spAutoFit/>
            </a:bodyPr>
            <a:lstStyle/>
            <a:p>
              <a:r>
                <a:rPr lang="en-US" dirty="0">
                  <a:solidFill>
                    <a:srgbClr val="C00000"/>
                  </a:solidFill>
                  <a:latin typeface="Whitney-Book" pitchFamily="50" charset="0"/>
                </a:rPr>
                <a:t>Slope</a:t>
              </a:r>
            </a:p>
          </p:txBody>
        </p:sp>
        <p:cxnSp>
          <p:nvCxnSpPr>
            <p:cNvPr id="9" name="Straight Arrow Connector 8">
              <a:extLst>
                <a:ext uri="{FF2B5EF4-FFF2-40B4-BE49-F238E27FC236}">
                  <a16:creationId xmlns:a16="http://schemas.microsoft.com/office/drawing/2014/main" id="{322917DB-92E2-4BB0-B490-C7717F3185D3}"/>
                </a:ext>
              </a:extLst>
            </p:cNvPr>
            <p:cNvCxnSpPr>
              <a:cxnSpLocks/>
            </p:cNvCxnSpPr>
            <p:nvPr/>
          </p:nvCxnSpPr>
          <p:spPr>
            <a:xfrm flipH="1">
              <a:off x="6162676" y="3673441"/>
              <a:ext cx="485774" cy="308009"/>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29592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457200" y="2526632"/>
            <a:ext cx="8229600" cy="3419316"/>
          </a:xfrm>
        </p:spPr>
        <p:txBody>
          <a:bodyPr>
            <a:normAutofit/>
          </a:bodyPr>
          <a:lstStyle/>
          <a:p>
            <a:pPr marL="0" indent="0">
              <a:lnSpc>
                <a:spcPts val="3789"/>
              </a:lnSpc>
              <a:spcAft>
                <a:spcPts val="947"/>
              </a:spcAft>
              <a:buNone/>
              <a:tabLst>
                <a:tab pos="481157" algn="l"/>
                <a:tab pos="962315" algn="l"/>
                <a:tab pos="1443472" algn="l"/>
              </a:tabLst>
            </a:pPr>
            <a:r>
              <a:rPr lang="en-US" dirty="0">
                <a:cs typeface="Times New Roman" pitchFamily="18" charset="0"/>
              </a:rPr>
              <a:t>where:</a:t>
            </a:r>
          </a:p>
          <a:p>
            <a:pPr marL="0" indent="0">
              <a:lnSpc>
                <a:spcPts val="3789"/>
              </a:lnSpc>
              <a:spcAft>
                <a:spcPts val="947"/>
              </a:spcAft>
              <a:buNone/>
              <a:tabLst>
                <a:tab pos="481157" algn="l"/>
                <a:tab pos="962315" algn="l"/>
                <a:tab pos="1443472" algn="l"/>
              </a:tabLst>
            </a:pPr>
            <a:r>
              <a:rPr lang="en-US" i="1" dirty="0">
                <a:cs typeface="Times New Roman" pitchFamily="18" charset="0"/>
              </a:rPr>
              <a:t>Q</a:t>
            </a:r>
            <a:r>
              <a:rPr lang="en-US" dirty="0">
                <a:cs typeface="Times New Roman" pitchFamily="18" charset="0"/>
              </a:rPr>
              <a:t> = amount purchased</a:t>
            </a:r>
          </a:p>
          <a:p>
            <a:pPr marL="0" indent="0">
              <a:lnSpc>
                <a:spcPts val="3789"/>
              </a:lnSpc>
              <a:spcAft>
                <a:spcPts val="947"/>
              </a:spcAft>
              <a:buNone/>
              <a:tabLst>
                <a:tab pos="481157" algn="l"/>
                <a:tab pos="962315" algn="l"/>
                <a:tab pos="1443472" algn="l"/>
              </a:tabLst>
            </a:pPr>
            <a:r>
              <a:rPr lang="en-US" i="1" dirty="0">
                <a:cs typeface="Times New Roman" pitchFamily="18" charset="0"/>
              </a:rPr>
              <a:t>P</a:t>
            </a:r>
            <a:r>
              <a:rPr lang="en-US" dirty="0">
                <a:cs typeface="Times New Roman" pitchFamily="18" charset="0"/>
              </a:rPr>
              <a:t> = own price</a:t>
            </a:r>
          </a:p>
          <a:p>
            <a:pPr marL="0" indent="0">
              <a:lnSpc>
                <a:spcPts val="3789"/>
              </a:lnSpc>
              <a:spcAft>
                <a:spcPts val="947"/>
              </a:spcAft>
              <a:buNone/>
              <a:tabLst>
                <a:tab pos="481157" algn="l"/>
                <a:tab pos="962315" algn="l"/>
                <a:tab pos="1443472" algn="l"/>
              </a:tabLst>
            </a:pPr>
            <a:r>
              <a:rPr lang="en-US" i="1" dirty="0">
                <a:cs typeface="Times New Roman" pitchFamily="18" charset="0"/>
              </a:rPr>
              <a:t>P</a:t>
            </a:r>
            <a:r>
              <a:rPr lang="en-US" i="1" baseline="-25000" dirty="0">
                <a:cs typeface="Times New Roman" pitchFamily="18" charset="0"/>
              </a:rPr>
              <a:t>c</a:t>
            </a:r>
            <a:r>
              <a:rPr lang="en-US" dirty="0">
                <a:cs typeface="Times New Roman" pitchFamily="18" charset="0"/>
              </a:rPr>
              <a:t> = competitor's price</a:t>
            </a:r>
          </a:p>
          <a:p>
            <a:pPr marL="0" indent="0">
              <a:lnSpc>
                <a:spcPts val="3789"/>
              </a:lnSpc>
              <a:spcAft>
                <a:spcPts val="947"/>
              </a:spcAft>
              <a:buNone/>
              <a:tabLst>
                <a:tab pos="481157" algn="l"/>
                <a:tab pos="962315" algn="l"/>
                <a:tab pos="1443472" algn="l"/>
              </a:tabLst>
            </a:pPr>
            <a:r>
              <a:rPr lang="en-US" i="1" dirty="0">
                <a:cs typeface="Times New Roman" pitchFamily="18" charset="0"/>
              </a:rPr>
              <a:t>Y</a:t>
            </a:r>
            <a:r>
              <a:rPr lang="en-US" dirty="0">
                <a:cs typeface="Times New Roman" pitchFamily="18" charset="0"/>
              </a:rPr>
              <a:t> = income</a:t>
            </a:r>
          </a:p>
        </p:txBody>
      </p:sp>
      <p:sp>
        <p:nvSpPr>
          <p:cNvPr id="11" name="Title 1"/>
          <p:cNvSpPr txBox="1">
            <a:spLocks/>
          </p:cNvSpPr>
          <p:nvPr/>
        </p:nvSpPr>
        <p:spPr>
          <a:xfrm>
            <a:off x="457200" y="127215"/>
            <a:ext cx="8229600" cy="1143000"/>
          </a:xfrm>
          <a:prstGeom prst="rect">
            <a:avLst/>
          </a:prstGeom>
        </p:spPr>
        <p:txBody>
          <a:bodyPr anchor="ctr">
            <a:normAutofit/>
          </a:bodyPr>
          <a:lst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a:lstStyle>
          <a:p>
            <a:r>
              <a:rPr lang="en-US" dirty="0"/>
              <a:t>MULTIVARIATE </a:t>
            </a:r>
            <a:r>
              <a:rPr lang="en-US" dirty="0" err="1"/>
              <a:t>REGRESsion</a:t>
            </a:r>
            <a:endParaRPr lang="en-US" dirty="0"/>
          </a:p>
        </p:txBody>
      </p:sp>
      <mc:AlternateContent xmlns:mc="http://schemas.openxmlformats.org/markup-compatibility/2006" xmlns:a14="http://schemas.microsoft.com/office/drawing/2010/main">
        <mc:Choice Requires="a14">
          <p:sp>
            <p:nvSpPr>
              <p:cNvPr id="6" name="TextBox 5"/>
              <p:cNvSpPr txBox="1"/>
              <p:nvPr/>
            </p:nvSpPr>
            <p:spPr>
              <a:xfrm>
                <a:off x="2037806" y="1652202"/>
                <a:ext cx="5029200" cy="492443"/>
              </a:xfrm>
              <a:prstGeom prst="rect">
                <a:avLst/>
              </a:prstGeom>
              <a:noFill/>
            </p:spPr>
            <p:txBody>
              <a:bodyPr wrap="square" lIns="0" tIns="0" rIns="0" bIns="0" rtlCol="0">
                <a:spAutoFit/>
              </a:bodyPr>
              <a:lstStyle/>
              <a:p>
                <a:pPr/>
                <a14:m>
                  <m:oMathPara xmlns:m="http://schemas.openxmlformats.org/officeDocument/2006/math">
                    <m:oMath>
                      <m:r>
                        <a:rPr lang="en-US" sz="3200" b="0" i="1" smtClean="0">
                          <a:solidFill>
                            <a:srgbClr val="C00000"/>
                          </a:solidFill>
                          <a:latin typeface="Cambria Math" panose="02040503050406030204" pitchFamily="18" charset="0"/>
                        </a:rPr>
                        <m:t>𝑄</m:t>
                      </m:r>
                      <m:r>
                        <a:rPr lang="en-US" sz="3200" b="0" i="1" smtClean="0">
                          <a:solidFill>
                            <a:srgbClr val="C00000"/>
                          </a:solidFill>
                          <a:latin typeface="Cambria Math" panose="02040503050406030204" pitchFamily="18" charset="0"/>
                        </a:rPr>
                        <m:t>=</m:t>
                      </m:r>
                      <m:r>
                        <a:rPr lang="en-US" sz="3200" b="0" i="1" smtClean="0">
                          <a:solidFill>
                            <a:srgbClr val="C00000"/>
                          </a:solidFill>
                          <a:latin typeface="Cambria Math" panose="02040503050406030204" pitchFamily="18" charset="0"/>
                        </a:rPr>
                        <m:t>𝑎</m:t>
                      </m:r>
                      <m:r>
                        <a:rPr lang="en-US" sz="3200" b="0" i="1" smtClean="0">
                          <a:solidFill>
                            <a:srgbClr val="C00000"/>
                          </a:solidFill>
                          <a:latin typeface="Cambria Math" panose="02040503050406030204" pitchFamily="18" charset="0"/>
                        </a:rPr>
                        <m:t>+</m:t>
                      </m:r>
                      <m:r>
                        <a:rPr lang="en-US" sz="3200" b="0" i="1" smtClean="0">
                          <a:solidFill>
                            <a:srgbClr val="C00000"/>
                          </a:solidFill>
                          <a:latin typeface="Cambria Math" panose="02040503050406030204" pitchFamily="18" charset="0"/>
                        </a:rPr>
                        <m:t>𝑏</m:t>
                      </m:r>
                      <m:r>
                        <a:rPr lang="en-US" sz="3200" b="0" i="1" smtClean="0">
                          <a:solidFill>
                            <a:srgbClr val="C00000"/>
                          </a:solidFill>
                          <a:latin typeface="Cambria Math" charset="0"/>
                          <a:ea typeface="Cambria Math" charset="0"/>
                          <a:cs typeface="Cambria Math" charset="0"/>
                        </a:rPr>
                        <m:t>∙</m:t>
                      </m:r>
                      <m:r>
                        <a:rPr lang="en-US" sz="3200" b="0" i="1" smtClean="0">
                          <a:solidFill>
                            <a:srgbClr val="C00000"/>
                          </a:solidFill>
                          <a:latin typeface="Cambria Math" panose="02040503050406030204" pitchFamily="18" charset="0"/>
                        </a:rPr>
                        <m:t>𝑃</m:t>
                      </m:r>
                      <m:r>
                        <a:rPr lang="en-US" sz="3200" b="0" i="1" smtClean="0">
                          <a:solidFill>
                            <a:srgbClr val="C00000"/>
                          </a:solidFill>
                          <a:latin typeface="Cambria Math" panose="02040503050406030204" pitchFamily="18" charset="0"/>
                        </a:rPr>
                        <m:t>+</m:t>
                      </m:r>
                      <m:r>
                        <a:rPr lang="en-US" sz="3200" b="0" i="1" smtClean="0">
                          <a:solidFill>
                            <a:srgbClr val="C00000"/>
                          </a:solidFill>
                          <a:latin typeface="Cambria Math" panose="02040503050406030204" pitchFamily="18" charset="0"/>
                        </a:rPr>
                        <m:t>𝑐</m:t>
                      </m:r>
                      <m:r>
                        <a:rPr lang="en-US" sz="3200" b="0" i="1" smtClean="0">
                          <a:solidFill>
                            <a:srgbClr val="C00000"/>
                          </a:solidFill>
                          <a:latin typeface="Cambria Math" charset="0"/>
                          <a:ea typeface="Cambria Math" charset="0"/>
                          <a:cs typeface="Cambria Math" charset="0"/>
                        </a:rPr>
                        <m:t>∙</m:t>
                      </m:r>
                      <m:sSub>
                        <m:sSubPr>
                          <m:ctrlPr>
                            <a:rPr lang="en-US" sz="3200" b="0" i="1" smtClean="0">
                              <a:solidFill>
                                <a:srgbClr val="C00000"/>
                              </a:solidFill>
                              <a:latin typeface="Cambria Math" panose="02040503050406030204" pitchFamily="18" charset="0"/>
                            </a:rPr>
                          </m:ctrlPr>
                        </m:sSubPr>
                        <m:e>
                          <m:r>
                            <a:rPr lang="en-US" sz="3200" b="0" i="1" smtClean="0">
                              <a:solidFill>
                                <a:srgbClr val="C00000"/>
                              </a:solidFill>
                              <a:latin typeface="Cambria Math" panose="02040503050406030204" pitchFamily="18" charset="0"/>
                            </a:rPr>
                            <m:t>𝑃</m:t>
                          </m:r>
                        </m:e>
                        <m:sub>
                          <m:r>
                            <a:rPr lang="en-US" sz="3200" b="0" i="1" smtClean="0">
                              <a:solidFill>
                                <a:srgbClr val="C00000"/>
                              </a:solidFill>
                              <a:latin typeface="Cambria Math" panose="02040503050406030204" pitchFamily="18" charset="0"/>
                            </a:rPr>
                            <m:t>𝑐</m:t>
                          </m:r>
                        </m:sub>
                      </m:sSub>
                      <m:r>
                        <a:rPr lang="en-US" sz="3200" b="0" i="1" smtClean="0">
                          <a:solidFill>
                            <a:srgbClr val="C00000"/>
                          </a:solidFill>
                          <a:latin typeface="Cambria Math" panose="02040503050406030204" pitchFamily="18" charset="0"/>
                        </a:rPr>
                        <m:t>+</m:t>
                      </m:r>
                      <m:r>
                        <a:rPr lang="en-US" sz="3200" b="0" i="1" smtClean="0">
                          <a:solidFill>
                            <a:srgbClr val="C00000"/>
                          </a:solidFill>
                          <a:latin typeface="Cambria Math" panose="02040503050406030204" pitchFamily="18" charset="0"/>
                        </a:rPr>
                        <m:t>𝑑</m:t>
                      </m:r>
                      <m:r>
                        <a:rPr lang="en-US" sz="3200" b="0" i="1" smtClean="0">
                          <a:solidFill>
                            <a:srgbClr val="C00000"/>
                          </a:solidFill>
                          <a:latin typeface="Cambria Math" charset="0"/>
                          <a:ea typeface="Cambria Math" charset="0"/>
                          <a:cs typeface="Cambria Math" charset="0"/>
                        </a:rPr>
                        <m:t>∙</m:t>
                      </m:r>
                      <m:r>
                        <a:rPr lang="en-US" sz="3200" b="0" i="1" smtClean="0">
                          <a:solidFill>
                            <a:srgbClr val="C00000"/>
                          </a:solidFill>
                          <a:latin typeface="Cambria Math" panose="02040503050406030204" pitchFamily="18" charset="0"/>
                        </a:rPr>
                        <m:t>𝑌</m:t>
                      </m:r>
                    </m:oMath>
                  </m:oMathPara>
                </a14:m>
                <a:endParaRPr lang="en-US" sz="3200" b="0" i="1" dirty="0">
                  <a:solidFill>
                    <a:srgbClr val="C00000"/>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2037806" y="1652202"/>
                <a:ext cx="5029200" cy="492443"/>
              </a:xfrm>
              <a:prstGeom prst="rect">
                <a:avLst/>
              </a:prstGeom>
              <a:blipFill>
                <a:blip r:embed="rId3"/>
                <a:stretch>
                  <a:fillRect/>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435AA85B-890E-7E47-B691-E0AE7D5FD7C0}"/>
              </a:ext>
            </a:extLst>
          </p:cNvPr>
          <p:cNvSpPr>
            <a:spLocks noGrp="1"/>
          </p:cNvSpPr>
          <p:nvPr>
            <p:ph type="sldNum" sz="quarter" idx="12"/>
          </p:nvPr>
        </p:nvSpPr>
        <p:spPr/>
        <p:txBody>
          <a:bodyPr/>
          <a:lstStyle/>
          <a:p>
            <a:fld id="{0F3206DB-9488-D04D-BDD1-A7C9D84C4579}" type="slidenum">
              <a:rPr lang="en-US" smtClean="0"/>
              <a:t>32</a:t>
            </a:fld>
            <a:endParaRPr lang="en-US"/>
          </a:p>
        </p:txBody>
      </p:sp>
    </p:spTree>
    <p:extLst>
      <p:ext uri="{BB962C8B-B14F-4D97-AF65-F5344CB8AC3E}">
        <p14:creationId xmlns:p14="http://schemas.microsoft.com/office/powerpoint/2010/main" val="37477403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Results with added variables</a:t>
            </a:r>
          </a:p>
        </p:txBody>
      </p:sp>
      <p:graphicFrame>
        <p:nvGraphicFramePr>
          <p:cNvPr id="5" name="Table 4"/>
          <p:cNvGraphicFramePr>
            <a:graphicFrameLocks noGrp="1"/>
          </p:cNvGraphicFramePr>
          <p:nvPr/>
        </p:nvGraphicFramePr>
        <p:xfrm>
          <a:off x="697832" y="1139054"/>
          <a:ext cx="7748336" cy="3668235"/>
        </p:xfrm>
        <a:graphic>
          <a:graphicData uri="http://schemas.openxmlformats.org/drawingml/2006/table">
            <a:tbl>
              <a:tblPr firstRow="1" bandRow="1">
                <a:tableStyleId>{5C22544A-7EE6-4342-B048-85BDC9FD1C3A}</a:tableStyleId>
              </a:tblPr>
              <a:tblGrid>
                <a:gridCol w="4925882">
                  <a:extLst>
                    <a:ext uri="{9D8B030D-6E8A-4147-A177-3AD203B41FA5}">
                      <a16:colId xmlns:a16="http://schemas.microsoft.com/office/drawing/2014/main" val="20000"/>
                    </a:ext>
                  </a:extLst>
                </a:gridCol>
                <a:gridCol w="2822454">
                  <a:extLst>
                    <a:ext uri="{9D8B030D-6E8A-4147-A177-3AD203B41FA5}">
                      <a16:colId xmlns:a16="http://schemas.microsoft.com/office/drawing/2014/main" val="20001"/>
                    </a:ext>
                  </a:extLst>
                </a:gridCol>
              </a:tblGrid>
              <a:tr h="733647">
                <a:tc>
                  <a:txBody>
                    <a:bodyPr/>
                    <a:lstStyle/>
                    <a:p>
                      <a:pPr algn="ctr"/>
                      <a:r>
                        <a:rPr lang="en-US" sz="2200" b="0" i="0" cap="all" spc="200" baseline="0" dirty="0">
                          <a:latin typeface="Whitney Book"/>
                        </a:rPr>
                        <a:t>coefficient</a:t>
                      </a:r>
                    </a:p>
                  </a:txBody>
                  <a:tcPr marL="69584" marR="69584" marT="34792" marB="34792" anchor="ctr">
                    <a:gradFill flip="none" rotWithShape="1">
                      <a:gsLst>
                        <a:gs pos="0">
                          <a:schemeClr val="tx2">
                            <a:lumMod val="75000"/>
                          </a:schemeClr>
                        </a:gs>
                        <a:gs pos="100000">
                          <a:schemeClr val="tx2">
                            <a:lumMod val="75000"/>
                            <a:alpha val="70000"/>
                          </a:schemeClr>
                        </a:gs>
                      </a:gsLst>
                      <a:lin ang="16200000" scaled="0"/>
                      <a:tileRect/>
                    </a:gradFill>
                  </a:tcPr>
                </a:tc>
                <a:tc>
                  <a:txBody>
                    <a:bodyPr/>
                    <a:lstStyle/>
                    <a:p>
                      <a:pPr algn="ctr"/>
                      <a:r>
                        <a:rPr lang="en-US" sz="2200" b="0" i="0" cap="all" spc="200" baseline="0" dirty="0">
                          <a:latin typeface="Whitney Book"/>
                        </a:rPr>
                        <a:t>value</a:t>
                      </a:r>
                    </a:p>
                  </a:txBody>
                  <a:tcPr marL="69584" marR="69584" marT="34792" marB="34792" anchor="ctr">
                    <a:gradFill flip="none" rotWithShape="1">
                      <a:gsLst>
                        <a:gs pos="0">
                          <a:schemeClr val="tx2">
                            <a:lumMod val="75000"/>
                          </a:schemeClr>
                        </a:gs>
                        <a:gs pos="100000">
                          <a:schemeClr val="tx2">
                            <a:lumMod val="75000"/>
                            <a:alpha val="65000"/>
                          </a:schemeClr>
                        </a:gs>
                      </a:gsLst>
                      <a:lin ang="16200000" scaled="0"/>
                      <a:tileRect/>
                    </a:gradFill>
                  </a:tcPr>
                </a:tc>
                <a:extLst>
                  <a:ext uri="{0D108BD9-81ED-4DB2-BD59-A6C34878D82A}">
                    <a16:rowId xmlns:a16="http://schemas.microsoft.com/office/drawing/2014/main" val="10000"/>
                  </a:ext>
                </a:extLst>
              </a:tr>
              <a:tr h="733647">
                <a:tc>
                  <a:txBody>
                    <a:bodyPr/>
                    <a:lstStyle/>
                    <a:p>
                      <a:r>
                        <a:rPr lang="en-US" sz="3200" dirty="0">
                          <a:solidFill>
                            <a:schemeClr val="tx1"/>
                          </a:solidFill>
                          <a:latin typeface="Whitney Book" pitchFamily="50" charset="0"/>
                          <a:cs typeface="Whitney Book" pitchFamily="50" charset="0"/>
                        </a:rPr>
                        <a:t>Constant (intercept)</a:t>
                      </a:r>
                    </a:p>
                  </a:txBody>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3200" dirty="0">
                          <a:solidFill>
                            <a:schemeClr val="tx1"/>
                          </a:solidFill>
                          <a:latin typeface="Whitney Book" pitchFamily="50" charset="0"/>
                          <a:cs typeface="Whitney Book" pitchFamily="50" charset="0"/>
                        </a:rPr>
                        <a:t>28.8</a:t>
                      </a:r>
                    </a:p>
                  </a:txBody>
                  <a:tcPr/>
                </a:tc>
                <a:extLst>
                  <a:ext uri="{0D108BD9-81ED-4DB2-BD59-A6C34878D82A}">
                    <a16:rowId xmlns:a16="http://schemas.microsoft.com/office/drawing/2014/main" val="10001"/>
                  </a:ext>
                </a:extLst>
              </a:tr>
              <a:tr h="73364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3200" dirty="0">
                          <a:solidFill>
                            <a:schemeClr val="tx1"/>
                          </a:solidFill>
                          <a:latin typeface="Whitney Book" pitchFamily="50" charset="0"/>
                          <a:cs typeface="Whitney Book" pitchFamily="50" charset="0"/>
                        </a:rPr>
                        <a:t>Own price	</a:t>
                      </a:r>
                    </a:p>
                  </a:txBody>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3200" dirty="0">
                          <a:solidFill>
                            <a:schemeClr val="tx1"/>
                          </a:solidFill>
                          <a:latin typeface="Whitney Book" pitchFamily="50" charset="0"/>
                          <a:cs typeface="Whitney Book" pitchFamily="50" charset="0"/>
                        </a:rPr>
                        <a:t>-2.12</a:t>
                      </a:r>
                    </a:p>
                  </a:txBody>
                  <a:tcPr/>
                </a:tc>
                <a:extLst>
                  <a:ext uri="{0D108BD9-81ED-4DB2-BD59-A6C34878D82A}">
                    <a16:rowId xmlns:a16="http://schemas.microsoft.com/office/drawing/2014/main" val="10002"/>
                  </a:ext>
                </a:extLst>
              </a:tr>
              <a:tr h="73364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3200" dirty="0">
                          <a:solidFill>
                            <a:schemeClr val="tx1"/>
                          </a:solidFill>
                          <a:latin typeface="Whitney Book" pitchFamily="50" charset="0"/>
                          <a:cs typeface="Whitney Book" pitchFamily="50" charset="0"/>
                        </a:rPr>
                        <a:t>Competitor’s price</a:t>
                      </a:r>
                    </a:p>
                  </a:txBody>
                  <a:tcPr/>
                </a:tc>
                <a:tc>
                  <a:txBody>
                    <a:bodyPr/>
                    <a:lstStyle/>
                    <a:p>
                      <a:pPr algn="r"/>
                      <a:r>
                        <a:rPr lang="en-US" sz="3200" dirty="0">
                          <a:solidFill>
                            <a:schemeClr val="tx1"/>
                          </a:solidFill>
                          <a:latin typeface="Whitney Book" pitchFamily="50" charset="0"/>
                          <a:cs typeface="Whitney Book" pitchFamily="50" charset="0"/>
                        </a:rPr>
                        <a:t>1.03</a:t>
                      </a:r>
                    </a:p>
                  </a:txBody>
                  <a:tcPr/>
                </a:tc>
                <a:extLst>
                  <a:ext uri="{0D108BD9-81ED-4DB2-BD59-A6C34878D82A}">
                    <a16:rowId xmlns:a16="http://schemas.microsoft.com/office/drawing/2014/main" val="10003"/>
                  </a:ext>
                </a:extLst>
              </a:tr>
              <a:tr h="733647">
                <a:tc>
                  <a:txBody>
                    <a:bodyPr/>
                    <a:lstStyle/>
                    <a:p>
                      <a:r>
                        <a:rPr lang="en-US" sz="3200" dirty="0">
                          <a:solidFill>
                            <a:schemeClr val="tx1"/>
                          </a:solidFill>
                          <a:latin typeface="Whitney Book" pitchFamily="50" charset="0"/>
                          <a:cs typeface="Whitney Book" pitchFamily="50" charset="0"/>
                        </a:rPr>
                        <a:t>Income</a:t>
                      </a:r>
                    </a:p>
                  </a:txBody>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3200" dirty="0">
                          <a:solidFill>
                            <a:schemeClr val="tx1"/>
                          </a:solidFill>
                          <a:latin typeface="Whitney Book" pitchFamily="50" charset="0"/>
                          <a:cs typeface="Whitney Book" pitchFamily="50" charset="0"/>
                        </a:rPr>
                        <a:t>3.09</a:t>
                      </a:r>
                    </a:p>
                  </a:txBody>
                  <a:tcPr/>
                </a:tc>
                <a:extLst>
                  <a:ext uri="{0D108BD9-81ED-4DB2-BD59-A6C34878D82A}">
                    <a16:rowId xmlns:a16="http://schemas.microsoft.com/office/drawing/2014/main" val="10004"/>
                  </a:ext>
                </a:extLst>
              </a:tr>
            </a:tbl>
          </a:graphicData>
        </a:graphic>
      </p:graphicFrame>
      <p:grpSp>
        <p:nvGrpSpPr>
          <p:cNvPr id="4" name="Group 3"/>
          <p:cNvGrpSpPr/>
          <p:nvPr/>
        </p:nvGrpSpPr>
        <p:grpSpPr>
          <a:xfrm>
            <a:off x="1181100" y="5072819"/>
            <a:ext cx="6781800" cy="1055083"/>
            <a:chOff x="2133600" y="5352110"/>
            <a:chExt cx="6781800" cy="1055083"/>
          </a:xfrm>
        </p:grpSpPr>
        <mc:AlternateContent xmlns:mc="http://schemas.openxmlformats.org/markup-compatibility/2006" xmlns:a14="http://schemas.microsoft.com/office/drawing/2010/main">
          <mc:Choice Requires="a14">
            <p:sp>
              <p:nvSpPr>
                <p:cNvPr id="6" name="TextBox 5"/>
                <p:cNvSpPr txBox="1"/>
                <p:nvPr/>
              </p:nvSpPr>
              <p:spPr>
                <a:xfrm>
                  <a:off x="2133600" y="5914750"/>
                  <a:ext cx="6781800" cy="492443"/>
                </a:xfrm>
                <a:prstGeom prst="rect">
                  <a:avLst/>
                </a:prstGeom>
                <a:noFill/>
              </p:spPr>
              <p:txBody>
                <a:bodyPr wrap="square" lIns="0" tIns="0" rIns="0" bIns="0" rtlCol="0">
                  <a:spAutoFit/>
                </a:bodyPr>
                <a:lstStyle/>
                <a:p>
                  <a:pPr/>
                  <a14:m>
                    <m:oMathPara xmlns:m="http://schemas.openxmlformats.org/officeDocument/2006/math">
                      <m:oMath>
                        <m:r>
                          <a:rPr lang="en-US" sz="3200" b="0" i="1" smtClean="0">
                            <a:solidFill>
                              <a:srgbClr val="C00000"/>
                            </a:solidFill>
                            <a:latin typeface="Cambria Math" panose="02040503050406030204" pitchFamily="18" charset="0"/>
                          </a:rPr>
                          <m:t>𝑄</m:t>
                        </m:r>
                        <m:r>
                          <a:rPr lang="en-US" sz="3200" b="0" i="1" smtClean="0">
                            <a:solidFill>
                              <a:srgbClr val="C00000"/>
                            </a:solidFill>
                            <a:latin typeface="Cambria Math" panose="02040503050406030204" pitchFamily="18" charset="0"/>
                          </a:rPr>
                          <m:t>=28.8−2.12</m:t>
                        </m:r>
                        <m:r>
                          <a:rPr lang="en-US" sz="3200" b="0" i="1" smtClean="0">
                            <a:solidFill>
                              <a:srgbClr val="C00000"/>
                            </a:solidFill>
                            <a:latin typeface="Cambria Math" panose="02040503050406030204" pitchFamily="18" charset="0"/>
                          </a:rPr>
                          <m:t>𝑃</m:t>
                        </m:r>
                        <m:r>
                          <a:rPr lang="en-US" sz="3200" b="0" i="1" smtClean="0">
                            <a:solidFill>
                              <a:srgbClr val="C00000"/>
                            </a:solidFill>
                            <a:latin typeface="Cambria Math" panose="02040503050406030204" pitchFamily="18" charset="0"/>
                          </a:rPr>
                          <m:t>+1.03</m:t>
                        </m:r>
                        <m:sSub>
                          <m:sSubPr>
                            <m:ctrlPr>
                              <a:rPr lang="en-US" sz="3200" b="0" i="1" smtClean="0">
                                <a:solidFill>
                                  <a:srgbClr val="C00000"/>
                                </a:solidFill>
                                <a:latin typeface="Cambria Math" panose="02040503050406030204" pitchFamily="18" charset="0"/>
                              </a:rPr>
                            </m:ctrlPr>
                          </m:sSubPr>
                          <m:e>
                            <m:r>
                              <a:rPr lang="en-US" sz="3200" b="0" i="1" smtClean="0">
                                <a:solidFill>
                                  <a:srgbClr val="C00000"/>
                                </a:solidFill>
                                <a:latin typeface="Cambria Math" panose="02040503050406030204" pitchFamily="18" charset="0"/>
                              </a:rPr>
                              <m:t>𝑃</m:t>
                            </m:r>
                          </m:e>
                          <m:sub>
                            <m:r>
                              <a:rPr lang="en-US" sz="3200" b="0" i="1" smtClean="0">
                                <a:solidFill>
                                  <a:srgbClr val="C00000"/>
                                </a:solidFill>
                                <a:latin typeface="Cambria Math" panose="02040503050406030204" pitchFamily="18" charset="0"/>
                              </a:rPr>
                              <m:t>𝑐</m:t>
                            </m:r>
                          </m:sub>
                        </m:sSub>
                        <m:r>
                          <a:rPr lang="en-US" sz="3200" b="0" i="1" smtClean="0">
                            <a:solidFill>
                              <a:srgbClr val="C00000"/>
                            </a:solidFill>
                            <a:latin typeface="Cambria Math" panose="02040503050406030204" pitchFamily="18" charset="0"/>
                          </a:rPr>
                          <m:t>+3.09</m:t>
                        </m:r>
                        <m:r>
                          <a:rPr lang="en-US" sz="3200" b="0" i="1" smtClean="0">
                            <a:solidFill>
                              <a:srgbClr val="C00000"/>
                            </a:solidFill>
                            <a:latin typeface="Cambria Math" panose="02040503050406030204" pitchFamily="18" charset="0"/>
                          </a:rPr>
                          <m:t>𝑌</m:t>
                        </m:r>
                      </m:oMath>
                    </m:oMathPara>
                  </a14:m>
                  <a:endParaRPr lang="en-US" sz="3200" b="0" i="1" dirty="0">
                    <a:solidFill>
                      <a:srgbClr val="C00000"/>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2133600" y="5914750"/>
                  <a:ext cx="6781800" cy="492443"/>
                </a:xfrm>
                <a:prstGeom prst="rect">
                  <a:avLst/>
                </a:prstGeom>
                <a:blipFill>
                  <a:blip r:embed="rId3"/>
                  <a:stretch>
                    <a:fillRect/>
                  </a:stretch>
                </a:blipFill>
              </p:spPr>
              <p:txBody>
                <a:bodyPr/>
                <a:lstStyle/>
                <a:p>
                  <a:r>
                    <a:rPr lang="en-US">
                      <a:noFill/>
                    </a:rPr>
                    <a:t> </a:t>
                  </a:r>
                </a:p>
              </p:txBody>
            </p:sp>
          </mc:Fallback>
        </mc:AlternateContent>
        <p:sp>
          <p:nvSpPr>
            <p:cNvPr id="7" name="Rectangle 5"/>
            <p:cNvSpPr>
              <a:spLocks noChangeArrowheads="1"/>
            </p:cNvSpPr>
            <p:nvPr/>
          </p:nvSpPr>
          <p:spPr bwMode="auto">
            <a:xfrm>
              <a:off x="3737975" y="5352110"/>
              <a:ext cx="3369501" cy="515290"/>
            </a:xfrm>
            <a:prstGeom prst="rect">
              <a:avLst/>
            </a:prstGeom>
            <a:noFill/>
            <a:ln w="9525">
              <a:noFill/>
              <a:miter lim="800000"/>
              <a:headEnd/>
              <a:tailEnd/>
            </a:ln>
            <a:effectLst/>
          </p:spPr>
          <p:txBody>
            <a:bodyPr wrap="none" lIns="20048" tIns="28402" rIns="20048" bIns="28402"/>
            <a:lstStyle/>
            <a:p>
              <a:pPr>
                <a:lnSpc>
                  <a:spcPts val="3789"/>
                </a:lnSpc>
                <a:spcAft>
                  <a:spcPts val="947"/>
                </a:spcAft>
                <a:tabLst>
                  <a:tab pos="481157" algn="l"/>
                  <a:tab pos="962315" algn="l"/>
                  <a:tab pos="1443472" algn="l"/>
                </a:tabLst>
              </a:pPr>
              <a:r>
                <a:rPr lang="en-US" sz="3400" b="0" dirty="0">
                  <a:solidFill>
                    <a:srgbClr val="C00000"/>
                  </a:solidFill>
                  <a:latin typeface="Whitney Book" pitchFamily="50" charset="0"/>
                  <a:cs typeface="Whitney Book" pitchFamily="50" charset="0"/>
                </a:rPr>
                <a:t>Demand Equation:</a:t>
              </a:r>
            </a:p>
          </p:txBody>
        </p:sp>
      </p:grpSp>
      <p:sp>
        <p:nvSpPr>
          <p:cNvPr id="3" name="Slide Number Placeholder 2">
            <a:extLst>
              <a:ext uri="{FF2B5EF4-FFF2-40B4-BE49-F238E27FC236}">
                <a16:creationId xmlns:a16="http://schemas.microsoft.com/office/drawing/2014/main" id="{6D3738C3-4C87-B846-9DFC-97845713F47E}"/>
              </a:ext>
            </a:extLst>
          </p:cNvPr>
          <p:cNvSpPr>
            <a:spLocks noGrp="1"/>
          </p:cNvSpPr>
          <p:nvPr>
            <p:ph type="sldNum" sz="quarter" idx="12"/>
          </p:nvPr>
        </p:nvSpPr>
        <p:spPr/>
        <p:txBody>
          <a:bodyPr/>
          <a:lstStyle/>
          <a:p>
            <a:fld id="{0F3206DB-9488-D04D-BDD1-A7C9D84C4579}" type="slidenum">
              <a:rPr lang="en-US" smtClean="0"/>
              <a:t>33</a:t>
            </a:fld>
            <a:endParaRPr lang="en-US"/>
          </a:p>
        </p:txBody>
      </p:sp>
    </p:spTree>
    <p:extLst>
      <p:ext uri="{BB962C8B-B14F-4D97-AF65-F5344CB8AC3E}">
        <p14:creationId xmlns:p14="http://schemas.microsoft.com/office/powerpoint/2010/main" val="35938903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Application</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1841" y="1419985"/>
                <a:ext cx="8753381" cy="5167246"/>
              </a:xfrm>
            </p:spPr>
            <p:txBody>
              <a:bodyPr>
                <a:normAutofit/>
              </a:bodyPr>
              <a:lstStyle/>
              <a:p>
                <a:r>
                  <a:rPr lang="fr-FR" dirty="0"/>
                  <a:t>The </a:t>
                </a:r>
                <a:r>
                  <a:rPr lang="fr-FR" dirty="0" err="1"/>
                  <a:t>airline</a:t>
                </a:r>
                <a:r>
                  <a:rPr lang="fr-FR" dirty="0"/>
                  <a:t> </a:t>
                </a:r>
                <a:r>
                  <a:rPr lang="fr-FR" dirty="0" err="1"/>
                  <a:t>company</a:t>
                </a:r>
                <a:r>
                  <a:rPr lang="fr-FR" dirty="0"/>
                  <a:t> has run a </a:t>
                </a:r>
                <a:r>
                  <a:rPr lang="fr-FR" dirty="0" err="1"/>
                  <a:t>market</a:t>
                </a:r>
                <a:r>
                  <a:rPr lang="fr-FR" dirty="0"/>
                  <a:t> </a:t>
                </a:r>
                <a:r>
                  <a:rPr lang="fr-FR" dirty="0" err="1"/>
                  <a:t>experimentation</a:t>
                </a:r>
                <a:r>
                  <a:rPr lang="fr-FR" dirty="0"/>
                  <a:t> and </a:t>
                </a:r>
                <a:r>
                  <a:rPr lang="fr-FR" dirty="0" err="1"/>
                  <a:t>estimated</a:t>
                </a:r>
                <a:r>
                  <a:rPr lang="fr-FR" dirty="0"/>
                  <a:t> the </a:t>
                </a:r>
                <a:r>
                  <a:rPr lang="fr-FR" dirty="0" err="1"/>
                  <a:t>demand</a:t>
                </a:r>
                <a:r>
                  <a:rPr lang="fr-FR" dirty="0"/>
                  <a:t> </a:t>
                </a:r>
                <a:r>
                  <a:rPr lang="fr-FR" dirty="0" err="1"/>
                  <a:t>function</a:t>
                </a:r>
                <a:r>
                  <a:rPr lang="fr-FR" dirty="0"/>
                  <a:t>:</a:t>
                </a:r>
              </a:p>
              <a:p>
                <a:endParaRPr lang="fr-FR" sz="1200" dirty="0"/>
              </a:p>
              <a:p>
                <a:pPr marL="0" indent="0">
                  <a:buNone/>
                </a:pPr>
                <a14:m>
                  <m:oMathPara xmlns:m="http://schemas.openxmlformats.org/officeDocument/2006/math">
                    <m:oMath>
                      <m:r>
                        <a:rPr lang="fr-FR" b="0" i="1" smtClean="0">
                          <a:latin typeface="Cambria Math" panose="02040503050406030204" pitchFamily="18" charset="0"/>
                        </a:rPr>
                        <m:t>𝑄</m:t>
                      </m:r>
                      <m:r>
                        <a:rPr lang="fr-FR" b="0" i="1" smtClean="0">
                          <a:latin typeface="Cambria Math" panose="02040503050406030204" pitchFamily="18" charset="0"/>
                        </a:rPr>
                        <m:t>=479−1.64</m:t>
                      </m:r>
                      <m:r>
                        <a:rPr lang="fr-FR" b="0" i="1" smtClean="0">
                          <a:latin typeface="Cambria Math" panose="02040503050406030204" pitchFamily="18" charset="0"/>
                        </a:rPr>
                        <m:t>𝑃</m:t>
                      </m:r>
                    </m:oMath>
                  </m:oMathPara>
                </a14:m>
                <a:endParaRPr lang="en-US" dirty="0"/>
              </a:p>
              <a:p>
                <a:pPr marL="0" indent="0">
                  <a:buNone/>
                </a:pPr>
                <a:endParaRPr lang="en-US" sz="1200" dirty="0"/>
              </a:p>
              <a:p>
                <a:r>
                  <a:rPr lang="en-US" dirty="0"/>
                  <a:t>Currently, the company is charging $140 for a seat </a:t>
                </a:r>
              </a:p>
              <a:p>
                <a:endParaRPr lang="en-US" sz="1200" dirty="0"/>
              </a:p>
              <a:p>
                <a:r>
                  <a:rPr lang="fr-FR" dirty="0" err="1"/>
                  <a:t>What</a:t>
                </a:r>
                <a:r>
                  <a:rPr lang="fr-FR" dirty="0"/>
                  <a:t> </a:t>
                </a:r>
                <a:r>
                  <a:rPr lang="fr-FR" dirty="0" err="1"/>
                  <a:t>is</a:t>
                </a:r>
                <a:r>
                  <a:rPr lang="fr-FR" dirty="0"/>
                  <a:t> </a:t>
                </a:r>
                <a:r>
                  <a:rPr lang="fr-FR" i="1" dirty="0"/>
                  <a:t>MR  </a:t>
                </a:r>
                <a:r>
                  <a:rPr lang="fr-FR" dirty="0"/>
                  <a:t>at </a:t>
                </a:r>
                <a:r>
                  <a:rPr lang="fr-FR" dirty="0" err="1"/>
                  <a:t>this</a:t>
                </a:r>
                <a:r>
                  <a:rPr lang="fr-FR" dirty="0"/>
                  <a:t> </a:t>
                </a:r>
                <a:r>
                  <a:rPr lang="fr-FR" dirty="0" err="1"/>
                  <a:t>price</a:t>
                </a:r>
                <a:r>
                  <a:rPr lang="fr-FR" dirty="0"/>
                  <a:t>?</a:t>
                </a:r>
              </a:p>
              <a:p>
                <a:pPr marL="457200" lvl="1" indent="0">
                  <a:buNone/>
                </a:pPr>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1841" y="1419985"/>
                <a:ext cx="8753381" cy="5167246"/>
              </a:xfrm>
              <a:blipFill>
                <a:blip r:embed="rId3"/>
                <a:stretch>
                  <a:fillRect l="-1742" t="-2358" r="-27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C37C628A-6010-9944-A8C7-488E211D6F39}"/>
              </a:ext>
            </a:extLst>
          </p:cNvPr>
          <p:cNvSpPr>
            <a:spLocks noGrp="1"/>
          </p:cNvSpPr>
          <p:nvPr>
            <p:ph type="sldNum" sz="quarter" idx="12"/>
          </p:nvPr>
        </p:nvSpPr>
        <p:spPr/>
        <p:txBody>
          <a:bodyPr/>
          <a:lstStyle/>
          <a:p>
            <a:fld id="{0F3206DB-9488-D04D-BDD1-A7C9D84C4579}" type="slidenum">
              <a:rPr lang="en-US" smtClean="0"/>
              <a:t>34</a:t>
            </a:fld>
            <a:endParaRPr lang="en-US"/>
          </a:p>
        </p:txBody>
      </p:sp>
      <p:sp>
        <p:nvSpPr>
          <p:cNvPr id="5" name="Parallelogram 4">
            <a:extLst>
              <a:ext uri="{FF2B5EF4-FFF2-40B4-BE49-F238E27FC236}">
                <a16:creationId xmlns:a16="http://schemas.microsoft.com/office/drawing/2014/main" id="{9EA4638A-978F-4D60-A81D-4846D738B84D}"/>
              </a:ext>
            </a:extLst>
          </p:cNvPr>
          <p:cNvSpPr/>
          <p:nvPr/>
        </p:nvSpPr>
        <p:spPr>
          <a:xfrm>
            <a:off x="3891778" y="5623117"/>
            <a:ext cx="6090034" cy="1435180"/>
          </a:xfrm>
          <a:prstGeom prst="parallelogram">
            <a:avLst/>
          </a:prstGeom>
          <a:gradFill>
            <a:gsLst>
              <a:gs pos="0">
                <a:schemeClr val="accent2">
                  <a:tint val="100000"/>
                  <a:shade val="100000"/>
                  <a:satMod val="130000"/>
                  <a:alpha val="34000"/>
                </a:schemeClr>
              </a:gs>
              <a:gs pos="100000">
                <a:schemeClr val="accent2">
                  <a:tint val="50000"/>
                  <a:shade val="100000"/>
                  <a:satMod val="350000"/>
                  <a:alpha val="79000"/>
                </a:schemeClr>
              </a:gs>
            </a:gsLst>
          </a:gradFill>
          <a:ln>
            <a:noFill/>
          </a:ln>
        </p:spPr>
        <p:style>
          <a:lnRef idx="1">
            <a:schemeClr val="accent2"/>
          </a:lnRef>
          <a:fillRef idx="3">
            <a:schemeClr val="accent2"/>
          </a:fillRef>
          <a:effectRef idx="2">
            <a:schemeClr val="accent2"/>
          </a:effectRef>
          <a:fontRef idx="minor">
            <a:schemeClr val="lt1"/>
          </a:fontRef>
        </p:style>
        <p:txBody>
          <a:bodyPr rtlCol="0" anchor="ctr"/>
          <a:lstStyle/>
          <a:p>
            <a:r>
              <a:rPr lang="en-US" sz="3200" dirty="0"/>
              <a:t>   </a:t>
            </a:r>
            <a:r>
              <a:rPr lang="en-US" sz="3200" b="1" i="1" dirty="0"/>
              <a:t>Poll Everywhere break</a:t>
            </a:r>
          </a:p>
        </p:txBody>
      </p:sp>
    </p:spTree>
    <p:extLst>
      <p:ext uri="{BB962C8B-B14F-4D97-AF65-F5344CB8AC3E}">
        <p14:creationId xmlns:p14="http://schemas.microsoft.com/office/powerpoint/2010/main" val="1381988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C0FF4-F527-4A3B-B879-0BD7EE9D5208}"/>
              </a:ext>
            </a:extLst>
          </p:cNvPr>
          <p:cNvSpPr>
            <a:spLocks noGrp="1"/>
          </p:cNvSpPr>
          <p:nvPr>
            <p:ph type="title"/>
          </p:nvPr>
        </p:nvSpPr>
        <p:spPr/>
        <p:txBody>
          <a:bodyPr/>
          <a:lstStyle/>
          <a:p>
            <a:r>
              <a:rPr lang="fr-FR" dirty="0"/>
              <a:t>Solution</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69E7B6B-A6B0-42BE-873F-2BA68E58AA33}"/>
                  </a:ext>
                </a:extLst>
              </p:cNvPr>
              <p:cNvSpPr>
                <a:spLocks noGrp="1"/>
              </p:cNvSpPr>
              <p:nvPr>
                <p:ph idx="1"/>
              </p:nvPr>
            </p:nvSpPr>
            <p:spPr/>
            <p:txBody>
              <a:bodyPr>
                <a:normAutofit/>
              </a:bodyPr>
              <a:lstStyle/>
              <a:p>
                <a:r>
                  <a:rPr lang="fr-FR" dirty="0"/>
                  <a:t>3-step </a:t>
                </a:r>
                <a:r>
                  <a:rPr lang="fr-FR" dirty="0" err="1"/>
                  <a:t>method</a:t>
                </a:r>
                <a:endParaRPr lang="fr-FR" dirty="0"/>
              </a:p>
              <a:p>
                <a:pPr marL="971550" lvl="1" indent="-514350">
                  <a:buFont typeface="+mj-lt"/>
                  <a:buAutoNum type="arabicPeriod"/>
                </a:pPr>
                <a:r>
                  <a:rPr lang="fr-FR" dirty="0"/>
                  <a:t>Inverse </a:t>
                </a:r>
                <a:r>
                  <a:rPr lang="fr-FR" dirty="0" err="1"/>
                  <a:t>demand</a:t>
                </a:r>
                <a:r>
                  <a:rPr lang="fr-FR" dirty="0"/>
                  <a:t>:</a:t>
                </a:r>
                <a14:m>
                  <m:oMath xmlns:m="http://schemas.openxmlformats.org/officeDocument/2006/math">
                    <m:r>
                      <a:rPr lang="fr-FR" b="0" i="0" smtClean="0">
                        <a:latin typeface="Cambria Math" panose="02040503050406030204" pitchFamily="18" charset="0"/>
                      </a:rPr>
                      <m:t> </m:t>
                    </m:r>
                    <m:r>
                      <a:rPr lang="fr-FR" b="0" i="1" smtClean="0">
                        <a:latin typeface="Cambria Math" panose="02040503050406030204" pitchFamily="18" charset="0"/>
                      </a:rPr>
                      <m:t>𝑃</m:t>
                    </m:r>
                    <m:r>
                      <a:rPr lang="fr-FR" b="0" i="1" smtClean="0">
                        <a:latin typeface="Cambria Math" panose="02040503050406030204" pitchFamily="18" charset="0"/>
                      </a:rPr>
                      <m:t>=292−</m:t>
                    </m:r>
                    <m:f>
                      <m:fPr>
                        <m:ctrlPr>
                          <a:rPr lang="fr-FR" b="0" i="1" smtClean="0">
                            <a:latin typeface="Cambria Math" panose="02040503050406030204" pitchFamily="18" charset="0"/>
                          </a:rPr>
                        </m:ctrlPr>
                      </m:fPr>
                      <m:num>
                        <m:r>
                          <a:rPr lang="fr-FR" b="0" i="1" smtClean="0">
                            <a:latin typeface="Cambria Math" panose="02040503050406030204" pitchFamily="18" charset="0"/>
                          </a:rPr>
                          <m:t>1</m:t>
                        </m:r>
                      </m:num>
                      <m:den>
                        <m:r>
                          <a:rPr lang="fr-FR" b="0" i="1" smtClean="0">
                            <a:latin typeface="Cambria Math" panose="02040503050406030204" pitchFamily="18" charset="0"/>
                          </a:rPr>
                          <m:t>1.64</m:t>
                        </m:r>
                      </m:den>
                    </m:f>
                    <m:r>
                      <a:rPr lang="fr-FR" b="0" i="1" smtClean="0">
                        <a:latin typeface="Cambria Math" panose="02040503050406030204" pitchFamily="18" charset="0"/>
                      </a:rPr>
                      <m:t>𝑄</m:t>
                    </m:r>
                  </m:oMath>
                </a14:m>
                <a:endParaRPr lang="fr-FR" b="0" dirty="0"/>
              </a:p>
              <a:p>
                <a:pPr marL="971550" lvl="1" indent="-514350">
                  <a:buFont typeface="+mj-lt"/>
                  <a:buAutoNum type="arabicPeriod"/>
                </a:pPr>
                <a:r>
                  <a:rPr lang="fr-FR" dirty="0"/>
                  <a:t>Total revenue: </a:t>
                </a:r>
                <a14:m>
                  <m:oMath xmlns:m="http://schemas.openxmlformats.org/officeDocument/2006/math">
                    <m:r>
                      <a:rPr lang="fr-FR" b="0" i="1" smtClean="0">
                        <a:latin typeface="Cambria Math" panose="02040503050406030204" pitchFamily="18" charset="0"/>
                      </a:rPr>
                      <m:t>𝑇𝑅</m:t>
                    </m:r>
                    <m:r>
                      <a:rPr lang="fr-FR" b="0" i="1" smtClean="0">
                        <a:latin typeface="Cambria Math" panose="02040503050406030204" pitchFamily="18" charset="0"/>
                      </a:rPr>
                      <m:t>=292</m:t>
                    </m:r>
                    <m:r>
                      <a:rPr lang="fr-FR" b="0" i="1" smtClean="0">
                        <a:latin typeface="Cambria Math" panose="02040503050406030204" pitchFamily="18" charset="0"/>
                      </a:rPr>
                      <m:t>𝑄</m:t>
                    </m:r>
                    <m:r>
                      <a:rPr lang="fr-FR" b="0" i="1" smtClean="0">
                        <a:latin typeface="Cambria Math" panose="02040503050406030204" pitchFamily="18" charset="0"/>
                      </a:rPr>
                      <m:t>−</m:t>
                    </m:r>
                    <m:f>
                      <m:fPr>
                        <m:ctrlPr>
                          <a:rPr lang="fr-FR" b="0" i="1" smtClean="0">
                            <a:latin typeface="Cambria Math" panose="02040503050406030204" pitchFamily="18" charset="0"/>
                          </a:rPr>
                        </m:ctrlPr>
                      </m:fPr>
                      <m:num>
                        <m:r>
                          <a:rPr lang="fr-FR" b="0" i="1" smtClean="0">
                            <a:latin typeface="Cambria Math" panose="02040503050406030204" pitchFamily="18" charset="0"/>
                          </a:rPr>
                          <m:t>1</m:t>
                        </m:r>
                      </m:num>
                      <m:den>
                        <m:r>
                          <a:rPr lang="fr-FR" b="0" i="1" smtClean="0">
                            <a:latin typeface="Cambria Math" panose="02040503050406030204" pitchFamily="18" charset="0"/>
                          </a:rPr>
                          <m:t>1.64</m:t>
                        </m:r>
                      </m:den>
                    </m:f>
                    <m:sSup>
                      <m:sSupPr>
                        <m:ctrlPr>
                          <a:rPr lang="fr-FR" b="0" i="1" smtClean="0">
                            <a:latin typeface="Cambria Math" panose="02040503050406030204" pitchFamily="18" charset="0"/>
                          </a:rPr>
                        </m:ctrlPr>
                      </m:sSupPr>
                      <m:e>
                        <m:r>
                          <a:rPr lang="fr-FR" b="0" i="1" smtClean="0">
                            <a:latin typeface="Cambria Math" panose="02040503050406030204" pitchFamily="18" charset="0"/>
                          </a:rPr>
                          <m:t>𝑄</m:t>
                        </m:r>
                      </m:e>
                      <m:sup>
                        <m:r>
                          <a:rPr lang="fr-FR" b="0" i="1" smtClean="0">
                            <a:latin typeface="Cambria Math" panose="02040503050406030204" pitchFamily="18" charset="0"/>
                          </a:rPr>
                          <m:t>2</m:t>
                        </m:r>
                      </m:sup>
                    </m:sSup>
                  </m:oMath>
                </a14:m>
                <a:endParaRPr lang="fr-FR" b="0" dirty="0"/>
              </a:p>
              <a:p>
                <a:pPr marL="971550" lvl="1" indent="-514350">
                  <a:buFont typeface="+mj-lt"/>
                  <a:buAutoNum type="arabicPeriod"/>
                </a:pPr>
                <a:r>
                  <a:rPr lang="fr-FR" dirty="0" err="1"/>
                  <a:t>Derivative</a:t>
                </a:r>
                <a:r>
                  <a:rPr lang="fr-FR" dirty="0"/>
                  <a:t>: </a:t>
                </a:r>
                <a14:m>
                  <m:oMath xmlns:m="http://schemas.openxmlformats.org/officeDocument/2006/math">
                    <m:r>
                      <a:rPr lang="fr-FR" b="0" i="1" smtClean="0">
                        <a:latin typeface="Cambria Math" panose="02040503050406030204" pitchFamily="18" charset="0"/>
                      </a:rPr>
                      <m:t>𝑀𝑅</m:t>
                    </m:r>
                    <m:r>
                      <a:rPr lang="fr-FR" b="0" i="1" smtClean="0">
                        <a:latin typeface="Cambria Math" panose="02040503050406030204" pitchFamily="18" charset="0"/>
                      </a:rPr>
                      <m:t>=292−1.22</m:t>
                    </m:r>
                    <m:r>
                      <a:rPr lang="fr-FR" b="0" i="1" smtClean="0">
                        <a:latin typeface="Cambria Math" panose="02040503050406030204" pitchFamily="18" charset="0"/>
                      </a:rPr>
                      <m:t>𝑄</m:t>
                    </m:r>
                  </m:oMath>
                </a14:m>
                <a:endParaRPr lang="en-US" dirty="0"/>
              </a:p>
              <a:p>
                <a:pPr marL="971550" lvl="1" indent="-514350">
                  <a:buFont typeface="+mj-lt"/>
                  <a:buAutoNum type="arabicPeriod"/>
                </a:pPr>
                <a:endParaRPr lang="en-US" sz="1300" dirty="0"/>
              </a:p>
              <a:p>
                <a:pPr marL="571500" indent="-514350"/>
                <a:r>
                  <a:rPr lang="fr-FR" i="1" dirty="0"/>
                  <a:t>MR</a:t>
                </a:r>
                <a:r>
                  <a:rPr lang="fr-FR" dirty="0"/>
                  <a:t> at </a:t>
                </a:r>
                <a:r>
                  <a:rPr lang="fr-FR" i="1" dirty="0"/>
                  <a:t>P </a:t>
                </a:r>
                <a:r>
                  <a:rPr lang="fr-FR" dirty="0"/>
                  <a:t>=140? </a:t>
                </a:r>
              </a:p>
              <a:p>
                <a:pPr marL="971550" lvl="1" indent="-514350"/>
                <a:r>
                  <a:rPr lang="fr-FR" i="1" dirty="0"/>
                  <a:t>P </a:t>
                </a:r>
                <a:r>
                  <a:rPr lang="fr-FR" dirty="0"/>
                  <a:t>=140 </a:t>
                </a:r>
                <a:r>
                  <a:rPr lang="fr-FR" dirty="0">
                    <a:sym typeface="Wingdings" panose="05000000000000000000" pitchFamily="2" charset="2"/>
                  </a:rPr>
                  <a:t></a:t>
                </a:r>
                <a:r>
                  <a:rPr lang="fr-FR" i="1" dirty="0"/>
                  <a:t>Q </a:t>
                </a:r>
                <a:r>
                  <a:rPr lang="fr-FR" dirty="0"/>
                  <a:t>=249 </a:t>
                </a:r>
                <a:r>
                  <a:rPr lang="fr-FR" dirty="0">
                    <a:sym typeface="Wingdings" panose="05000000000000000000" pitchFamily="2" charset="2"/>
                  </a:rPr>
                  <a:t> </a:t>
                </a:r>
                <a:r>
                  <a:rPr lang="fr-FR" b="1" i="1" u="sng" dirty="0">
                    <a:sym typeface="Wingdings" panose="05000000000000000000" pitchFamily="2" charset="2"/>
                  </a:rPr>
                  <a:t>MR </a:t>
                </a:r>
                <a:r>
                  <a:rPr lang="fr-FR" b="1" u="sng" dirty="0">
                    <a:sym typeface="Wingdings" panose="05000000000000000000" pitchFamily="2" charset="2"/>
                  </a:rPr>
                  <a:t>=-12.3</a:t>
                </a:r>
              </a:p>
              <a:p>
                <a:pPr marL="971550" lvl="1" indent="-514350"/>
                <a:endParaRPr lang="fr-FR" sz="1300" b="1" dirty="0">
                  <a:sym typeface="Wingdings" panose="05000000000000000000" pitchFamily="2" charset="2"/>
                </a:endParaRPr>
              </a:p>
              <a:p>
                <a:pPr marL="0" indent="0">
                  <a:buNone/>
                </a:pPr>
                <a:endParaRPr lang="fr-FR" dirty="0"/>
              </a:p>
            </p:txBody>
          </p:sp>
        </mc:Choice>
        <mc:Fallback xmlns="">
          <p:sp>
            <p:nvSpPr>
              <p:cNvPr id="3" name="Content Placeholder 2">
                <a:extLst>
                  <a:ext uri="{FF2B5EF4-FFF2-40B4-BE49-F238E27FC236}">
                    <a16:creationId xmlns:a16="http://schemas.microsoft.com/office/drawing/2014/main" id="{469E7B6B-A6B0-42BE-873F-2BA68E58AA33}"/>
                  </a:ext>
                </a:extLst>
              </p:cNvPr>
              <p:cNvSpPr>
                <a:spLocks noGrp="1" noRot="1" noChangeAspect="1" noMove="1" noResize="1" noEditPoints="1" noAdjustHandles="1" noChangeArrowheads="1" noChangeShapeType="1" noTextEdit="1"/>
              </p:cNvSpPr>
              <p:nvPr>
                <p:ph idx="1"/>
              </p:nvPr>
            </p:nvSpPr>
            <p:spPr>
              <a:blipFill>
                <a:blip r:embed="rId2"/>
                <a:stretch>
                  <a:fillRect l="-1778" t="-2695"/>
                </a:stretch>
              </a:blipFill>
            </p:spPr>
            <p:txBody>
              <a:bodyPr/>
              <a:lstStyle/>
              <a:p>
                <a:r>
                  <a:rPr lang="en-US">
                    <a:noFill/>
                  </a:rPr>
                  <a:t> </a:t>
                </a:r>
              </a:p>
            </p:txBody>
          </p:sp>
        </mc:Fallback>
      </mc:AlternateContent>
    </p:spTree>
    <p:extLst>
      <p:ext uri="{BB962C8B-B14F-4D97-AF65-F5344CB8AC3E}">
        <p14:creationId xmlns:p14="http://schemas.microsoft.com/office/powerpoint/2010/main" val="3917792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9F26EC-1A29-4C5C-9815-401B04E4DDFA}"/>
              </a:ext>
            </a:extLst>
          </p:cNvPr>
          <p:cNvSpPr>
            <a:spLocks noGrp="1"/>
          </p:cNvSpPr>
          <p:nvPr>
            <p:ph idx="1"/>
          </p:nvPr>
        </p:nvSpPr>
        <p:spPr>
          <a:xfrm>
            <a:off x="474438" y="1214632"/>
            <a:ext cx="8229600" cy="4525963"/>
          </a:xfrm>
        </p:spPr>
        <p:txBody>
          <a:bodyPr/>
          <a:lstStyle/>
          <a:p>
            <a:pPr marL="571500" indent="-514350"/>
            <a:r>
              <a:rPr lang="fr-FR" i="1" dirty="0">
                <a:sym typeface="Wingdings" panose="05000000000000000000" pitchFamily="2" charset="2"/>
              </a:rPr>
              <a:t>MR</a:t>
            </a:r>
            <a:r>
              <a:rPr lang="fr-FR" dirty="0">
                <a:sym typeface="Wingdings" panose="05000000000000000000" pitchFamily="2" charset="2"/>
              </a:rPr>
              <a:t> </a:t>
            </a:r>
            <a:r>
              <a:rPr lang="fr-FR" dirty="0" err="1">
                <a:sym typeface="Wingdings" panose="05000000000000000000" pitchFamily="2" charset="2"/>
              </a:rPr>
              <a:t>is</a:t>
            </a:r>
            <a:r>
              <a:rPr lang="fr-FR" dirty="0">
                <a:sym typeface="Wingdings" panose="05000000000000000000" pitchFamily="2" charset="2"/>
              </a:rPr>
              <a:t> </a:t>
            </a:r>
            <a:r>
              <a:rPr lang="fr-FR" dirty="0" err="1">
                <a:sym typeface="Wingdings" panose="05000000000000000000" pitchFamily="2" charset="2"/>
              </a:rPr>
              <a:t>negative</a:t>
            </a:r>
            <a:r>
              <a:rPr lang="fr-FR" dirty="0">
                <a:sym typeface="Wingdings" panose="05000000000000000000" pitchFamily="2" charset="2"/>
              </a:rPr>
              <a:t> </a:t>
            </a:r>
            <a:r>
              <a:rPr lang="fr-FR" dirty="0" err="1">
                <a:sym typeface="Wingdings" panose="05000000000000000000" pitchFamily="2" charset="2"/>
              </a:rPr>
              <a:t>so</a:t>
            </a:r>
            <a:r>
              <a:rPr lang="fr-FR" dirty="0">
                <a:sym typeface="Wingdings" panose="05000000000000000000" pitchFamily="2" charset="2"/>
              </a:rPr>
              <a:t> </a:t>
            </a:r>
            <a:r>
              <a:rPr lang="fr-FR" dirty="0" err="1">
                <a:sym typeface="Wingdings" panose="05000000000000000000" pitchFamily="2" charset="2"/>
              </a:rPr>
              <a:t>you</a:t>
            </a:r>
            <a:r>
              <a:rPr lang="fr-FR" dirty="0">
                <a:sym typeface="Wingdings" panose="05000000000000000000" pitchFamily="2" charset="2"/>
              </a:rPr>
              <a:t> </a:t>
            </a:r>
            <a:r>
              <a:rPr lang="fr-FR" dirty="0" err="1">
                <a:sym typeface="Wingdings" panose="05000000000000000000" pitchFamily="2" charset="2"/>
              </a:rPr>
              <a:t>want</a:t>
            </a:r>
            <a:r>
              <a:rPr lang="fr-FR" dirty="0">
                <a:sym typeface="Wingdings" panose="05000000000000000000" pitchFamily="2" charset="2"/>
              </a:rPr>
              <a:t> to </a:t>
            </a:r>
            <a:r>
              <a:rPr lang="fr-FR" dirty="0" err="1">
                <a:sym typeface="Wingdings" panose="05000000000000000000" pitchFamily="2" charset="2"/>
              </a:rPr>
              <a:t>sell</a:t>
            </a:r>
            <a:r>
              <a:rPr lang="fr-FR" dirty="0">
                <a:sym typeface="Wingdings" panose="05000000000000000000" pitchFamily="2" charset="2"/>
              </a:rPr>
              <a:t> </a:t>
            </a:r>
            <a:r>
              <a:rPr lang="fr-FR" dirty="0" err="1">
                <a:sym typeface="Wingdings" panose="05000000000000000000" pitchFamily="2" charset="2"/>
              </a:rPr>
              <a:t>less</a:t>
            </a:r>
            <a:endParaRPr lang="fr-FR" dirty="0">
              <a:sym typeface="Wingdings" panose="05000000000000000000" pitchFamily="2" charset="2"/>
            </a:endParaRPr>
          </a:p>
          <a:p>
            <a:pPr marL="57150" indent="0">
              <a:buNone/>
            </a:pPr>
            <a:endParaRPr lang="fr-FR" dirty="0">
              <a:sym typeface="Wingdings" panose="05000000000000000000" pitchFamily="2" charset="2"/>
            </a:endParaRPr>
          </a:p>
          <a:p>
            <a:pPr marL="571500" indent="-514350"/>
            <a:r>
              <a:rPr lang="en-US" dirty="0"/>
              <a:t>How do we sell less? By </a:t>
            </a:r>
            <a:r>
              <a:rPr lang="en-US" b="1" dirty="0"/>
              <a:t>increasing the price</a:t>
            </a:r>
            <a:endParaRPr lang="en-US" dirty="0"/>
          </a:p>
          <a:p>
            <a:endParaRPr lang="en-US" dirty="0"/>
          </a:p>
        </p:txBody>
      </p:sp>
      <p:sp>
        <p:nvSpPr>
          <p:cNvPr id="4" name="Title 1">
            <a:extLst>
              <a:ext uri="{FF2B5EF4-FFF2-40B4-BE49-F238E27FC236}">
                <a16:creationId xmlns:a16="http://schemas.microsoft.com/office/drawing/2014/main" id="{33E54144-3940-482A-AE85-FF8D865D6BF6}"/>
              </a:ext>
            </a:extLst>
          </p:cNvPr>
          <p:cNvSpPr txBox="1">
            <a:spLocks/>
          </p:cNvSpPr>
          <p:nvPr/>
        </p:nvSpPr>
        <p:spPr>
          <a:xfrm>
            <a:off x="52170" y="-18700"/>
            <a:ext cx="9020194"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a:lstStyle>
          <a:p>
            <a:r>
              <a:rPr lang="en-US" dirty="0">
                <a:solidFill>
                  <a:srgbClr val="002B56"/>
                </a:solidFill>
              </a:rPr>
              <a:t>solution</a:t>
            </a:r>
          </a:p>
        </p:txBody>
      </p:sp>
      <p:grpSp>
        <p:nvGrpSpPr>
          <p:cNvPr id="5" name="Group 43">
            <a:extLst>
              <a:ext uri="{FF2B5EF4-FFF2-40B4-BE49-F238E27FC236}">
                <a16:creationId xmlns:a16="http://schemas.microsoft.com/office/drawing/2014/main" id="{35945323-C503-4BA6-8C38-6D24FBF038A6}"/>
              </a:ext>
            </a:extLst>
          </p:cNvPr>
          <p:cNvGrpSpPr/>
          <p:nvPr/>
        </p:nvGrpSpPr>
        <p:grpSpPr>
          <a:xfrm>
            <a:off x="1034823" y="2907283"/>
            <a:ext cx="7023100" cy="3873500"/>
            <a:chOff x="990600" y="838200"/>
            <a:chExt cx="7023100" cy="3873500"/>
          </a:xfrm>
        </p:grpSpPr>
        <p:sp>
          <p:nvSpPr>
            <p:cNvPr id="6" name="Rectangle 8">
              <a:extLst>
                <a:ext uri="{FF2B5EF4-FFF2-40B4-BE49-F238E27FC236}">
                  <a16:creationId xmlns:a16="http://schemas.microsoft.com/office/drawing/2014/main" id="{D0C1090B-6FC0-4CB9-B71C-12D9BE213B89}"/>
                </a:ext>
              </a:extLst>
            </p:cNvPr>
            <p:cNvSpPr>
              <a:spLocks noChangeArrowheads="1"/>
            </p:cNvSpPr>
            <p:nvPr/>
          </p:nvSpPr>
          <p:spPr bwMode="auto">
            <a:xfrm>
              <a:off x="7391400" y="4114800"/>
              <a:ext cx="622300" cy="596900"/>
            </a:xfrm>
            <a:prstGeom prst="rect">
              <a:avLst/>
            </a:prstGeom>
            <a:noFill/>
            <a:ln w="9525">
              <a:noFill/>
              <a:miter lim="800000"/>
              <a:headEnd/>
              <a:tailEnd/>
            </a:ln>
            <a:effectLst/>
          </p:spPr>
          <p:txBody>
            <a:bodyPr wrap="none" lIns="19050" tIns="26988" rIns="19050" bIns="26988"/>
            <a:lstStyle/>
            <a:p>
              <a:pPr>
                <a:lnSpc>
                  <a:spcPts val="2800"/>
                </a:lnSpc>
                <a:spcAft>
                  <a:spcPts val="900"/>
                </a:spcAft>
                <a:tabLst>
                  <a:tab pos="457200" algn="l"/>
                  <a:tab pos="914400" algn="l"/>
                  <a:tab pos="1371600" algn="l"/>
                </a:tabLst>
                <a:defRPr/>
              </a:pPr>
              <a:r>
                <a:rPr lang="en-US" b="0" i="1" dirty="0">
                  <a:latin typeface="+mn-lt"/>
                  <a:cs typeface="Times New Roman" pitchFamily="18" charset="0"/>
                </a:rPr>
                <a:t>Q</a:t>
              </a:r>
            </a:p>
          </p:txBody>
        </p:sp>
        <p:sp>
          <p:nvSpPr>
            <p:cNvPr id="7" name="Line 9">
              <a:extLst>
                <a:ext uri="{FF2B5EF4-FFF2-40B4-BE49-F238E27FC236}">
                  <a16:creationId xmlns:a16="http://schemas.microsoft.com/office/drawing/2014/main" id="{E5E7D160-142B-4316-B67A-5B84A5AE346D}"/>
                </a:ext>
              </a:extLst>
            </p:cNvPr>
            <p:cNvSpPr>
              <a:spLocks noChangeShapeType="1"/>
            </p:cNvSpPr>
            <p:nvPr/>
          </p:nvSpPr>
          <p:spPr bwMode="auto">
            <a:xfrm flipH="1">
              <a:off x="1371600" y="4038600"/>
              <a:ext cx="6096000" cy="0"/>
            </a:xfrm>
            <a:prstGeom prst="line">
              <a:avLst/>
            </a:prstGeom>
            <a:noFill/>
            <a:ln w="50800">
              <a:solidFill>
                <a:schemeClr val="tx1"/>
              </a:solidFill>
              <a:round/>
              <a:headEnd type="arrow" w="med" len="med"/>
              <a:tailEnd type="none" w="med" len="med"/>
            </a:ln>
          </p:spPr>
          <p:txBody>
            <a:bodyPr wrap="none" anchor="ctr"/>
            <a:lstStyle/>
            <a:p>
              <a:endParaRPr lang="en-US">
                <a:latin typeface="+mn-lt"/>
                <a:cs typeface="Times New Roman" pitchFamily="18" charset="0"/>
              </a:endParaRPr>
            </a:p>
          </p:txBody>
        </p:sp>
        <p:sp>
          <p:nvSpPr>
            <p:cNvPr id="8" name="Rectangle 10">
              <a:extLst>
                <a:ext uri="{FF2B5EF4-FFF2-40B4-BE49-F238E27FC236}">
                  <a16:creationId xmlns:a16="http://schemas.microsoft.com/office/drawing/2014/main" id="{065EECCC-3BD6-431F-8A02-5070074146A9}"/>
                </a:ext>
              </a:extLst>
            </p:cNvPr>
            <p:cNvSpPr>
              <a:spLocks noChangeArrowheads="1"/>
            </p:cNvSpPr>
            <p:nvPr/>
          </p:nvSpPr>
          <p:spPr bwMode="auto">
            <a:xfrm>
              <a:off x="990600" y="838200"/>
              <a:ext cx="622300" cy="596900"/>
            </a:xfrm>
            <a:prstGeom prst="rect">
              <a:avLst/>
            </a:prstGeom>
            <a:noFill/>
            <a:ln w="9525">
              <a:noFill/>
              <a:miter lim="800000"/>
              <a:headEnd/>
              <a:tailEnd/>
            </a:ln>
            <a:effectLst/>
          </p:spPr>
          <p:txBody>
            <a:bodyPr wrap="none" lIns="19050" tIns="26988" rIns="19050" bIns="26988"/>
            <a:lstStyle/>
            <a:p>
              <a:pPr>
                <a:lnSpc>
                  <a:spcPts val="2800"/>
                </a:lnSpc>
                <a:spcAft>
                  <a:spcPts val="900"/>
                </a:spcAft>
                <a:tabLst>
                  <a:tab pos="457200" algn="l"/>
                  <a:tab pos="914400" algn="l"/>
                  <a:tab pos="1371600" algn="l"/>
                </a:tabLst>
                <a:defRPr/>
              </a:pPr>
              <a:r>
                <a:rPr lang="en-US" b="0" i="1" dirty="0">
                  <a:latin typeface="+mn-lt"/>
                  <a:cs typeface="Times New Roman" pitchFamily="18" charset="0"/>
                </a:rPr>
                <a:t>P</a:t>
              </a:r>
            </a:p>
          </p:txBody>
        </p:sp>
        <p:sp>
          <p:nvSpPr>
            <p:cNvPr id="9" name="Line 12">
              <a:extLst>
                <a:ext uri="{FF2B5EF4-FFF2-40B4-BE49-F238E27FC236}">
                  <a16:creationId xmlns:a16="http://schemas.microsoft.com/office/drawing/2014/main" id="{56A76ECD-7B8D-48B5-B9A5-B75C7428528A}"/>
                </a:ext>
              </a:extLst>
            </p:cNvPr>
            <p:cNvSpPr>
              <a:spLocks noChangeShapeType="1"/>
            </p:cNvSpPr>
            <p:nvPr/>
          </p:nvSpPr>
          <p:spPr bwMode="auto">
            <a:xfrm>
              <a:off x="1371600" y="1143000"/>
              <a:ext cx="0" cy="2895600"/>
            </a:xfrm>
            <a:prstGeom prst="line">
              <a:avLst/>
            </a:prstGeom>
            <a:noFill/>
            <a:ln w="50800">
              <a:solidFill>
                <a:schemeClr val="tx1"/>
              </a:solidFill>
              <a:round/>
              <a:headEnd type="arrow" w="sm" len="sm"/>
              <a:tailEnd type="none" w="sm" len="sm"/>
            </a:ln>
          </p:spPr>
          <p:txBody>
            <a:bodyPr wrap="none" anchor="ctr"/>
            <a:lstStyle/>
            <a:p>
              <a:endParaRPr lang="en-US">
                <a:latin typeface="+mn-lt"/>
                <a:cs typeface="Times New Roman" pitchFamily="18" charset="0"/>
              </a:endParaRPr>
            </a:p>
          </p:txBody>
        </p:sp>
      </p:grpSp>
      <p:grpSp>
        <p:nvGrpSpPr>
          <p:cNvPr id="10" name="Group 44">
            <a:extLst>
              <a:ext uri="{FF2B5EF4-FFF2-40B4-BE49-F238E27FC236}">
                <a16:creationId xmlns:a16="http://schemas.microsoft.com/office/drawing/2014/main" id="{8BE87F21-6CF5-4D55-8CCF-C810FCEABCFE}"/>
              </a:ext>
            </a:extLst>
          </p:cNvPr>
          <p:cNvGrpSpPr/>
          <p:nvPr/>
        </p:nvGrpSpPr>
        <p:grpSpPr>
          <a:xfrm>
            <a:off x="1415823" y="3516883"/>
            <a:ext cx="5511800" cy="2600400"/>
            <a:chOff x="1371600" y="1447800"/>
            <a:chExt cx="5511800" cy="2600400"/>
          </a:xfrm>
        </p:grpSpPr>
        <p:sp>
          <p:nvSpPr>
            <p:cNvPr id="11" name="Line 5">
              <a:extLst>
                <a:ext uri="{FF2B5EF4-FFF2-40B4-BE49-F238E27FC236}">
                  <a16:creationId xmlns:a16="http://schemas.microsoft.com/office/drawing/2014/main" id="{9A377FA7-2F2A-472E-9948-56E4B1C21752}"/>
                </a:ext>
              </a:extLst>
            </p:cNvPr>
            <p:cNvSpPr>
              <a:spLocks noChangeShapeType="1"/>
            </p:cNvSpPr>
            <p:nvPr/>
          </p:nvSpPr>
          <p:spPr bwMode="auto">
            <a:xfrm>
              <a:off x="1371600" y="1447800"/>
              <a:ext cx="5105400" cy="2590800"/>
            </a:xfrm>
            <a:prstGeom prst="line">
              <a:avLst/>
            </a:prstGeom>
            <a:noFill/>
            <a:ln w="50800">
              <a:solidFill>
                <a:srgbClr val="C00000"/>
              </a:solidFill>
              <a:round/>
              <a:headEnd type="none" w="sm" len="sm"/>
              <a:tailEnd type="none" w="sm" len="sm"/>
            </a:ln>
          </p:spPr>
          <p:txBody>
            <a:bodyPr wrap="none" anchor="ctr"/>
            <a:lstStyle/>
            <a:p>
              <a:endParaRPr lang="en-US">
                <a:latin typeface="+mn-lt"/>
                <a:cs typeface="Times New Roman" pitchFamily="18" charset="0"/>
              </a:endParaRPr>
            </a:p>
          </p:txBody>
        </p:sp>
        <p:sp>
          <p:nvSpPr>
            <p:cNvPr id="14" name="Rectangle 14">
              <a:extLst>
                <a:ext uri="{FF2B5EF4-FFF2-40B4-BE49-F238E27FC236}">
                  <a16:creationId xmlns:a16="http://schemas.microsoft.com/office/drawing/2014/main" id="{6A2C6113-D815-44AE-9CC0-01B8AA50AD2E}"/>
                </a:ext>
              </a:extLst>
            </p:cNvPr>
            <p:cNvSpPr>
              <a:spLocks noChangeArrowheads="1"/>
            </p:cNvSpPr>
            <p:nvPr/>
          </p:nvSpPr>
          <p:spPr bwMode="auto">
            <a:xfrm>
              <a:off x="6502400" y="3591000"/>
              <a:ext cx="381000" cy="457200"/>
            </a:xfrm>
            <a:prstGeom prst="rect">
              <a:avLst/>
            </a:prstGeom>
            <a:noFill/>
            <a:ln w="9525">
              <a:noFill/>
              <a:miter lim="800000"/>
              <a:headEnd/>
              <a:tailEnd/>
            </a:ln>
            <a:effectLst/>
          </p:spPr>
          <p:txBody>
            <a:bodyPr wrap="none" lIns="19050" tIns="26988" rIns="19050" bIns="26988"/>
            <a:lstStyle/>
            <a:p>
              <a:pPr>
                <a:lnSpc>
                  <a:spcPts val="2800"/>
                </a:lnSpc>
                <a:spcAft>
                  <a:spcPts val="900"/>
                </a:spcAft>
                <a:tabLst>
                  <a:tab pos="457200" algn="l"/>
                  <a:tab pos="914400" algn="l"/>
                  <a:tab pos="1371600" algn="l"/>
                </a:tabLst>
                <a:defRPr/>
              </a:pPr>
              <a:r>
                <a:rPr lang="en-US" b="0" i="1" dirty="0">
                  <a:solidFill>
                    <a:srgbClr val="C00000"/>
                  </a:solidFill>
                  <a:latin typeface="+mn-lt"/>
                  <a:cs typeface="Times New Roman" pitchFamily="18" charset="0"/>
                </a:rPr>
                <a:t>D</a:t>
              </a:r>
            </a:p>
          </p:txBody>
        </p:sp>
      </p:grpSp>
      <p:grpSp>
        <p:nvGrpSpPr>
          <p:cNvPr id="15" name="Group 46">
            <a:extLst>
              <a:ext uri="{FF2B5EF4-FFF2-40B4-BE49-F238E27FC236}">
                <a16:creationId xmlns:a16="http://schemas.microsoft.com/office/drawing/2014/main" id="{424D0E93-A6BB-4ECF-B330-3829D5522B8B}"/>
              </a:ext>
            </a:extLst>
          </p:cNvPr>
          <p:cNvGrpSpPr/>
          <p:nvPr/>
        </p:nvGrpSpPr>
        <p:grpSpPr>
          <a:xfrm>
            <a:off x="1415823" y="3516883"/>
            <a:ext cx="3173415" cy="2974977"/>
            <a:chOff x="1371600" y="1447800"/>
            <a:chExt cx="3173415" cy="2974977"/>
          </a:xfrm>
        </p:grpSpPr>
        <p:sp>
          <p:nvSpPr>
            <p:cNvPr id="17" name="Rectangle 17">
              <a:extLst>
                <a:ext uri="{FF2B5EF4-FFF2-40B4-BE49-F238E27FC236}">
                  <a16:creationId xmlns:a16="http://schemas.microsoft.com/office/drawing/2014/main" id="{4F9C631A-BF12-41AB-B773-C2DB991BBCC2}"/>
                </a:ext>
              </a:extLst>
            </p:cNvPr>
            <p:cNvSpPr>
              <a:spLocks noChangeArrowheads="1"/>
            </p:cNvSpPr>
            <p:nvPr/>
          </p:nvSpPr>
          <p:spPr bwMode="auto">
            <a:xfrm>
              <a:off x="1600200" y="2057400"/>
              <a:ext cx="685800" cy="457200"/>
            </a:xfrm>
            <a:prstGeom prst="rect">
              <a:avLst/>
            </a:prstGeom>
            <a:noFill/>
            <a:ln w="9525">
              <a:noFill/>
              <a:miter lim="800000"/>
              <a:headEnd/>
              <a:tailEnd/>
            </a:ln>
            <a:effectLst/>
          </p:spPr>
          <p:txBody>
            <a:bodyPr wrap="none" lIns="19050" tIns="26988" rIns="19050" bIns="26988"/>
            <a:lstStyle/>
            <a:p>
              <a:pPr>
                <a:lnSpc>
                  <a:spcPts val="2800"/>
                </a:lnSpc>
                <a:spcAft>
                  <a:spcPts val="900"/>
                </a:spcAft>
                <a:tabLst>
                  <a:tab pos="457200" algn="l"/>
                  <a:tab pos="914400" algn="l"/>
                  <a:tab pos="1371600" algn="l"/>
                </a:tabLst>
                <a:defRPr/>
              </a:pPr>
              <a:r>
                <a:rPr lang="en-US" b="0" i="1" dirty="0">
                  <a:solidFill>
                    <a:srgbClr val="0070C0"/>
                  </a:solidFill>
                  <a:latin typeface="+mn-lt"/>
                  <a:cs typeface="Times New Roman" pitchFamily="18" charset="0"/>
                </a:rPr>
                <a:t>MR</a:t>
              </a:r>
            </a:p>
          </p:txBody>
        </p:sp>
        <p:sp>
          <p:nvSpPr>
            <p:cNvPr id="18" name="Line 18">
              <a:extLst>
                <a:ext uri="{FF2B5EF4-FFF2-40B4-BE49-F238E27FC236}">
                  <a16:creationId xmlns:a16="http://schemas.microsoft.com/office/drawing/2014/main" id="{DBA92EE5-4224-4F13-8E7B-0B536A64826C}"/>
                </a:ext>
              </a:extLst>
            </p:cNvPr>
            <p:cNvSpPr>
              <a:spLocks noChangeShapeType="1"/>
            </p:cNvSpPr>
            <p:nvPr/>
          </p:nvSpPr>
          <p:spPr bwMode="auto">
            <a:xfrm>
              <a:off x="1371600" y="1447800"/>
              <a:ext cx="3173415" cy="2974977"/>
            </a:xfrm>
            <a:prstGeom prst="line">
              <a:avLst/>
            </a:prstGeom>
            <a:noFill/>
            <a:ln w="50800">
              <a:solidFill>
                <a:schemeClr val="accent1">
                  <a:lumMod val="75000"/>
                </a:schemeClr>
              </a:solidFill>
              <a:round/>
              <a:headEnd type="none" w="sm" len="sm"/>
              <a:tailEnd type="none" w="sm" len="sm"/>
            </a:ln>
          </p:spPr>
          <p:txBody>
            <a:bodyPr wrap="none" anchor="ctr"/>
            <a:lstStyle/>
            <a:p>
              <a:endParaRPr lang="en-US">
                <a:latin typeface="+mn-lt"/>
                <a:cs typeface="Times New Roman" pitchFamily="18" charset="0"/>
              </a:endParaRPr>
            </a:p>
          </p:txBody>
        </p:sp>
      </p:grpSp>
      <p:grpSp>
        <p:nvGrpSpPr>
          <p:cNvPr id="19" name="Group 47">
            <a:extLst>
              <a:ext uri="{FF2B5EF4-FFF2-40B4-BE49-F238E27FC236}">
                <a16:creationId xmlns:a16="http://schemas.microsoft.com/office/drawing/2014/main" id="{C3289101-ADD1-4DBD-9DBB-98E6F2A47A90}"/>
              </a:ext>
            </a:extLst>
          </p:cNvPr>
          <p:cNvGrpSpPr/>
          <p:nvPr/>
        </p:nvGrpSpPr>
        <p:grpSpPr>
          <a:xfrm>
            <a:off x="4211159" y="4202683"/>
            <a:ext cx="1612900" cy="1905000"/>
            <a:chOff x="4191000" y="2133600"/>
            <a:chExt cx="1612900" cy="1905000"/>
          </a:xfrm>
        </p:grpSpPr>
        <p:sp>
          <p:nvSpPr>
            <p:cNvPr id="20" name="Line 23">
              <a:extLst>
                <a:ext uri="{FF2B5EF4-FFF2-40B4-BE49-F238E27FC236}">
                  <a16:creationId xmlns:a16="http://schemas.microsoft.com/office/drawing/2014/main" id="{2606838A-BA63-4654-AF95-0AE823D97635}"/>
                </a:ext>
              </a:extLst>
            </p:cNvPr>
            <p:cNvSpPr>
              <a:spLocks noChangeShapeType="1"/>
            </p:cNvSpPr>
            <p:nvPr/>
          </p:nvSpPr>
          <p:spPr bwMode="auto">
            <a:xfrm>
              <a:off x="4191000" y="2895600"/>
              <a:ext cx="2" cy="1143000"/>
            </a:xfrm>
            <a:prstGeom prst="line">
              <a:avLst/>
            </a:prstGeom>
            <a:noFill/>
            <a:ln w="25400">
              <a:solidFill>
                <a:schemeClr val="tx1"/>
              </a:solidFill>
              <a:prstDash val="sysDash"/>
              <a:round/>
              <a:headEnd type="none" w="sm" len="sm"/>
              <a:tailEnd type="none" w="sm" len="sm"/>
            </a:ln>
          </p:spPr>
          <p:txBody>
            <a:bodyPr wrap="none" anchor="ctr"/>
            <a:lstStyle/>
            <a:p>
              <a:endParaRPr lang="en-US">
                <a:latin typeface="+mn-lt"/>
                <a:cs typeface="Times New Roman" pitchFamily="18" charset="0"/>
              </a:endParaRPr>
            </a:p>
          </p:txBody>
        </p:sp>
        <p:grpSp>
          <p:nvGrpSpPr>
            <p:cNvPr id="21" name="Group 45">
              <a:extLst>
                <a:ext uri="{FF2B5EF4-FFF2-40B4-BE49-F238E27FC236}">
                  <a16:creationId xmlns:a16="http://schemas.microsoft.com/office/drawing/2014/main" id="{10CF800C-C54B-45FF-AF14-662272C3834F}"/>
                </a:ext>
              </a:extLst>
            </p:cNvPr>
            <p:cNvGrpSpPr/>
            <p:nvPr/>
          </p:nvGrpSpPr>
          <p:grpSpPr>
            <a:xfrm>
              <a:off x="4191000" y="2133600"/>
              <a:ext cx="1612900" cy="647700"/>
              <a:chOff x="4191000" y="2133600"/>
              <a:chExt cx="1612900" cy="647700"/>
            </a:xfrm>
          </p:grpSpPr>
          <p:sp>
            <p:nvSpPr>
              <p:cNvPr id="22" name="Rectangle 21">
                <a:extLst>
                  <a:ext uri="{FF2B5EF4-FFF2-40B4-BE49-F238E27FC236}">
                    <a16:creationId xmlns:a16="http://schemas.microsoft.com/office/drawing/2014/main" id="{AFE88F19-E9BC-41E2-9B5D-13319A6D0E24}"/>
                  </a:ext>
                </a:extLst>
              </p:cNvPr>
              <p:cNvSpPr>
                <a:spLocks noChangeArrowheads="1"/>
              </p:cNvSpPr>
              <p:nvPr/>
            </p:nvSpPr>
            <p:spPr bwMode="auto">
              <a:xfrm>
                <a:off x="4495800" y="2133600"/>
                <a:ext cx="1308100" cy="596900"/>
              </a:xfrm>
              <a:prstGeom prst="rect">
                <a:avLst/>
              </a:prstGeom>
              <a:noFill/>
              <a:ln w="9525">
                <a:noFill/>
                <a:miter lim="800000"/>
                <a:headEnd/>
                <a:tailEnd/>
              </a:ln>
              <a:effectLst/>
            </p:spPr>
            <p:txBody>
              <a:bodyPr wrap="none" lIns="19050" tIns="26988" rIns="19050" bIns="26988"/>
              <a:lstStyle/>
              <a:p>
                <a:pPr>
                  <a:lnSpc>
                    <a:spcPts val="2800"/>
                  </a:lnSpc>
                  <a:spcAft>
                    <a:spcPts val="900"/>
                  </a:spcAft>
                  <a:tabLst>
                    <a:tab pos="457200" algn="l"/>
                    <a:tab pos="914400" algn="l"/>
                    <a:tab pos="1371600" algn="l"/>
                  </a:tabLst>
                  <a:defRPr/>
                </a:pPr>
                <a:r>
                  <a:rPr lang="en-US" b="0" i="1" dirty="0">
                    <a:solidFill>
                      <a:srgbClr val="C00000"/>
                    </a:solidFill>
                    <a:latin typeface="+mn-lt"/>
                    <a:cs typeface="Times New Roman" pitchFamily="18" charset="0"/>
                  </a:rPr>
                  <a:t>E</a:t>
                </a:r>
                <a:r>
                  <a:rPr lang="en-US" sz="2000" i="1" baseline="-25000" dirty="0">
                    <a:solidFill>
                      <a:srgbClr val="C00000"/>
                    </a:solidFill>
                    <a:cs typeface="Times New Roman" pitchFamily="18" charset="0"/>
                  </a:rPr>
                  <a:t>D</a:t>
                </a:r>
                <a:r>
                  <a:rPr lang="en-US" b="0" dirty="0">
                    <a:solidFill>
                      <a:srgbClr val="C00000"/>
                    </a:solidFill>
                    <a:latin typeface="+mn-lt"/>
                    <a:cs typeface="Times New Roman" pitchFamily="18" charset="0"/>
                  </a:rPr>
                  <a:t> = -1</a:t>
                </a:r>
              </a:p>
            </p:txBody>
          </p:sp>
          <p:sp>
            <p:nvSpPr>
              <p:cNvPr id="23" name="Line 24">
                <a:extLst>
                  <a:ext uri="{FF2B5EF4-FFF2-40B4-BE49-F238E27FC236}">
                    <a16:creationId xmlns:a16="http://schemas.microsoft.com/office/drawing/2014/main" id="{81046BE6-D6A3-4370-AAAD-6C21E8126456}"/>
                  </a:ext>
                </a:extLst>
              </p:cNvPr>
              <p:cNvSpPr>
                <a:spLocks noChangeShapeType="1"/>
              </p:cNvSpPr>
              <p:nvPr/>
            </p:nvSpPr>
            <p:spPr bwMode="auto">
              <a:xfrm flipH="1">
                <a:off x="4191000" y="2438400"/>
                <a:ext cx="292100" cy="342900"/>
              </a:xfrm>
              <a:prstGeom prst="line">
                <a:avLst/>
              </a:prstGeom>
              <a:noFill/>
              <a:ln w="25400">
                <a:solidFill>
                  <a:srgbClr val="C00000"/>
                </a:solidFill>
                <a:round/>
                <a:headEnd type="none" w="sm" len="sm"/>
                <a:tailEnd type="stealth" w="med" len="lg"/>
              </a:ln>
            </p:spPr>
            <p:txBody>
              <a:bodyPr wrap="none" anchor="ctr"/>
              <a:lstStyle/>
              <a:p>
                <a:endParaRPr lang="en-US">
                  <a:latin typeface="+mn-lt"/>
                  <a:cs typeface="Times New Roman" pitchFamily="18" charset="0"/>
                </a:endParaRPr>
              </a:p>
            </p:txBody>
          </p:sp>
        </p:grpSp>
      </p:grpSp>
      <p:grpSp>
        <p:nvGrpSpPr>
          <p:cNvPr id="37" name="Group 55">
            <a:extLst>
              <a:ext uri="{FF2B5EF4-FFF2-40B4-BE49-F238E27FC236}">
                <a16:creationId xmlns:a16="http://schemas.microsoft.com/office/drawing/2014/main" id="{8BE97A0A-9126-4709-A54C-38EF85790A16}"/>
              </a:ext>
            </a:extLst>
          </p:cNvPr>
          <p:cNvGrpSpPr/>
          <p:nvPr/>
        </p:nvGrpSpPr>
        <p:grpSpPr>
          <a:xfrm>
            <a:off x="1401216" y="3516883"/>
            <a:ext cx="3596007" cy="679801"/>
            <a:chOff x="1356993" y="1447800"/>
            <a:chExt cx="3596007" cy="679801"/>
          </a:xfrm>
        </p:grpSpPr>
        <p:sp>
          <p:nvSpPr>
            <p:cNvPr id="38" name="Right Brace 37">
              <a:extLst>
                <a:ext uri="{FF2B5EF4-FFF2-40B4-BE49-F238E27FC236}">
                  <a16:creationId xmlns:a16="http://schemas.microsoft.com/office/drawing/2014/main" id="{6E9280E8-1E82-430F-B06E-98288BFFD9C3}"/>
                </a:ext>
              </a:extLst>
            </p:cNvPr>
            <p:cNvSpPr/>
            <p:nvPr/>
          </p:nvSpPr>
          <p:spPr bwMode="auto">
            <a:xfrm rot="17817940">
              <a:off x="2700096" y="464151"/>
              <a:ext cx="320347" cy="3006553"/>
            </a:xfrm>
            <a:prstGeom prst="rightBrace">
              <a:avLst>
                <a:gd name="adj1" fmla="val 92122"/>
                <a:gd name="adj2" fmla="val 51208"/>
              </a:avLst>
            </a:prstGeom>
            <a:noFill/>
            <a:ln w="31750" cap="flat" cmpd="sng" algn="ctr">
              <a:solidFill>
                <a:srgbClr val="FF8455"/>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effectLst/>
                <a:latin typeface="+mn-lt"/>
              </a:endParaRPr>
            </a:p>
          </p:txBody>
        </p:sp>
        <p:sp>
          <p:nvSpPr>
            <p:cNvPr id="39" name="TextBox 38">
              <a:extLst>
                <a:ext uri="{FF2B5EF4-FFF2-40B4-BE49-F238E27FC236}">
                  <a16:creationId xmlns:a16="http://schemas.microsoft.com/office/drawing/2014/main" id="{6BDC6B54-4351-4178-BC17-49817BFB9040}"/>
                </a:ext>
              </a:extLst>
            </p:cNvPr>
            <p:cNvSpPr txBox="1"/>
            <p:nvPr/>
          </p:nvSpPr>
          <p:spPr>
            <a:xfrm>
              <a:off x="2971800" y="1447800"/>
              <a:ext cx="1981200" cy="461665"/>
            </a:xfrm>
            <a:prstGeom prst="rect">
              <a:avLst/>
            </a:prstGeom>
            <a:noFill/>
          </p:spPr>
          <p:txBody>
            <a:bodyPr wrap="square" rtlCol="0">
              <a:spAutoFit/>
            </a:bodyPr>
            <a:lstStyle/>
            <a:p>
              <a:r>
                <a:rPr lang="en-US" b="0" dirty="0">
                  <a:solidFill>
                    <a:srgbClr val="FF8455"/>
                  </a:solidFill>
                  <a:latin typeface="+mn-lt"/>
                  <a:cs typeface="Times New Roman" pitchFamily="18" charset="0"/>
                </a:rPr>
                <a:t>Elastic portion</a:t>
              </a:r>
            </a:p>
          </p:txBody>
        </p:sp>
      </p:grpSp>
      <p:grpSp>
        <p:nvGrpSpPr>
          <p:cNvPr id="40" name="Group 57">
            <a:extLst>
              <a:ext uri="{FF2B5EF4-FFF2-40B4-BE49-F238E27FC236}">
                <a16:creationId xmlns:a16="http://schemas.microsoft.com/office/drawing/2014/main" id="{CD879C6A-971D-48D1-BC2A-1803F52AF78F}"/>
              </a:ext>
            </a:extLst>
          </p:cNvPr>
          <p:cNvGrpSpPr/>
          <p:nvPr/>
        </p:nvGrpSpPr>
        <p:grpSpPr>
          <a:xfrm>
            <a:off x="4229454" y="4812283"/>
            <a:ext cx="3815769" cy="682427"/>
            <a:chOff x="4185231" y="2743200"/>
            <a:chExt cx="3815769" cy="682427"/>
          </a:xfrm>
        </p:grpSpPr>
        <p:sp>
          <p:nvSpPr>
            <p:cNvPr id="41" name="Right Brace 40">
              <a:extLst>
                <a:ext uri="{FF2B5EF4-FFF2-40B4-BE49-F238E27FC236}">
                  <a16:creationId xmlns:a16="http://schemas.microsoft.com/office/drawing/2014/main" id="{00953003-A423-4795-B512-4D63ACB2BE8B}"/>
                </a:ext>
              </a:extLst>
            </p:cNvPr>
            <p:cNvSpPr/>
            <p:nvPr/>
          </p:nvSpPr>
          <p:spPr bwMode="auto">
            <a:xfrm rot="17823204">
              <a:off x="5279345" y="2032131"/>
              <a:ext cx="299382" cy="2487609"/>
            </a:xfrm>
            <a:prstGeom prst="rightBrace">
              <a:avLst>
                <a:gd name="adj1" fmla="val 92122"/>
                <a:gd name="adj2" fmla="val 51208"/>
              </a:avLst>
            </a:prstGeom>
            <a:noFill/>
            <a:ln w="31750" cap="flat" cmpd="sng" algn="ctr">
              <a:solidFill>
                <a:srgbClr val="FF8455"/>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effectLst/>
                <a:latin typeface="+mn-lt"/>
              </a:endParaRPr>
            </a:p>
          </p:txBody>
        </p:sp>
        <p:sp>
          <p:nvSpPr>
            <p:cNvPr id="42" name="TextBox 41">
              <a:extLst>
                <a:ext uri="{FF2B5EF4-FFF2-40B4-BE49-F238E27FC236}">
                  <a16:creationId xmlns:a16="http://schemas.microsoft.com/office/drawing/2014/main" id="{9D71C571-FCD8-49CE-9FC5-9D713A767903}"/>
                </a:ext>
              </a:extLst>
            </p:cNvPr>
            <p:cNvSpPr txBox="1"/>
            <p:nvPr/>
          </p:nvSpPr>
          <p:spPr>
            <a:xfrm>
              <a:off x="5562600" y="2743200"/>
              <a:ext cx="2438400" cy="461665"/>
            </a:xfrm>
            <a:prstGeom prst="rect">
              <a:avLst/>
            </a:prstGeom>
            <a:noFill/>
          </p:spPr>
          <p:txBody>
            <a:bodyPr wrap="square" rtlCol="0">
              <a:spAutoFit/>
            </a:bodyPr>
            <a:lstStyle/>
            <a:p>
              <a:r>
                <a:rPr lang="en-US" b="0" dirty="0">
                  <a:solidFill>
                    <a:srgbClr val="FF8455"/>
                  </a:solidFill>
                  <a:latin typeface="+mn-lt"/>
                  <a:cs typeface="Times New Roman" pitchFamily="18" charset="0"/>
                </a:rPr>
                <a:t>Inelastic portion</a:t>
              </a:r>
            </a:p>
          </p:txBody>
        </p:sp>
      </p:grpSp>
      <p:sp>
        <p:nvSpPr>
          <p:cNvPr id="43" name="Slide Number Placeholder 2">
            <a:extLst>
              <a:ext uri="{FF2B5EF4-FFF2-40B4-BE49-F238E27FC236}">
                <a16:creationId xmlns:a16="http://schemas.microsoft.com/office/drawing/2014/main" id="{5B15A701-8898-4BB5-81F5-8986C8B474C8}"/>
              </a:ext>
            </a:extLst>
          </p:cNvPr>
          <p:cNvSpPr>
            <a:spLocks noGrp="1"/>
          </p:cNvSpPr>
          <p:nvPr>
            <p:ph type="sldNum" sz="quarter" idx="12"/>
          </p:nvPr>
        </p:nvSpPr>
        <p:spPr>
          <a:xfrm>
            <a:off x="6723295" y="6490335"/>
            <a:ext cx="2133600" cy="365125"/>
          </a:xfrm>
        </p:spPr>
        <p:txBody>
          <a:bodyPr/>
          <a:lstStyle/>
          <a:p>
            <a:fld id="{0F3206DB-9488-D04D-BDD1-A7C9D84C4579}" type="slidenum">
              <a:rPr lang="en-US" i="1" smtClean="0"/>
              <a:t>36</a:t>
            </a:fld>
            <a:endParaRPr lang="en-US" i="1" dirty="0"/>
          </a:p>
        </p:txBody>
      </p:sp>
    </p:spTree>
    <p:extLst>
      <p:ext uri="{BB962C8B-B14F-4D97-AF65-F5344CB8AC3E}">
        <p14:creationId xmlns:p14="http://schemas.microsoft.com/office/powerpoint/2010/main" val="1297663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EFF8B-96A1-4301-B78D-929C189035FE}"/>
              </a:ext>
            </a:extLst>
          </p:cNvPr>
          <p:cNvSpPr>
            <a:spLocks noGrp="1"/>
          </p:cNvSpPr>
          <p:nvPr>
            <p:ph type="title"/>
          </p:nvPr>
        </p:nvSpPr>
        <p:spPr/>
        <p:txBody>
          <a:bodyPr/>
          <a:lstStyle/>
          <a:p>
            <a:r>
              <a:rPr lang="fr-FR" dirty="0"/>
              <a:t>Issues </a:t>
            </a:r>
            <a:r>
              <a:rPr lang="fr-FR" dirty="0" err="1"/>
              <a:t>with</a:t>
            </a:r>
            <a:r>
              <a:rPr lang="fr-FR" dirty="0"/>
              <a:t> transaction data</a:t>
            </a:r>
            <a:br>
              <a:rPr lang="fr-FR" dirty="0"/>
            </a:br>
            <a:r>
              <a:rPr lang="fr-FR" sz="2800" i="1" dirty="0" err="1"/>
              <a:t>why</a:t>
            </a:r>
            <a:r>
              <a:rPr lang="fr-FR" sz="2800" i="1" dirty="0"/>
              <a:t> </a:t>
            </a:r>
            <a:r>
              <a:rPr lang="fr-FR" sz="2800" i="1" dirty="0" err="1"/>
              <a:t>randomization</a:t>
            </a:r>
            <a:r>
              <a:rPr lang="fr-FR" sz="2800" i="1" dirty="0"/>
              <a:t> </a:t>
            </a:r>
            <a:r>
              <a:rPr lang="fr-FR" sz="2800" i="1" dirty="0" err="1"/>
              <a:t>is</a:t>
            </a:r>
            <a:r>
              <a:rPr lang="fr-FR" sz="2800" i="1" dirty="0"/>
              <a:t> key</a:t>
            </a:r>
            <a:endParaRPr lang="en-US" i="1" dirty="0"/>
          </a:p>
        </p:txBody>
      </p:sp>
      <p:sp>
        <p:nvSpPr>
          <p:cNvPr id="3" name="Content Placeholder 2">
            <a:extLst>
              <a:ext uri="{FF2B5EF4-FFF2-40B4-BE49-F238E27FC236}">
                <a16:creationId xmlns:a16="http://schemas.microsoft.com/office/drawing/2014/main" id="{16F5B146-C79D-4BF7-85FB-72AC241143CD}"/>
              </a:ext>
            </a:extLst>
          </p:cNvPr>
          <p:cNvSpPr>
            <a:spLocks noGrp="1"/>
          </p:cNvSpPr>
          <p:nvPr>
            <p:ph idx="1"/>
          </p:nvPr>
        </p:nvSpPr>
        <p:spPr/>
        <p:txBody>
          <a:bodyPr>
            <a:normAutofit/>
          </a:bodyPr>
          <a:lstStyle/>
          <a:p>
            <a:r>
              <a:rPr lang="fr-FR" dirty="0"/>
              <a:t>Transaction data: </a:t>
            </a:r>
            <a:r>
              <a:rPr lang="fr-FR" dirty="0" err="1"/>
              <a:t>evolution</a:t>
            </a:r>
            <a:r>
              <a:rPr lang="fr-FR" dirty="0"/>
              <a:t> of </a:t>
            </a:r>
            <a:r>
              <a:rPr lang="fr-FR" dirty="0" err="1"/>
              <a:t>prices</a:t>
            </a:r>
            <a:r>
              <a:rPr lang="fr-FR" dirty="0"/>
              <a:t> and </a:t>
            </a:r>
            <a:r>
              <a:rPr lang="fr-FR" dirty="0" err="1"/>
              <a:t>quantities</a:t>
            </a:r>
            <a:r>
              <a:rPr lang="fr-FR" dirty="0"/>
              <a:t> over time, </a:t>
            </a:r>
            <a:r>
              <a:rPr lang="fr-FR" dirty="0" err="1"/>
              <a:t>across</a:t>
            </a:r>
            <a:r>
              <a:rPr lang="fr-FR" dirty="0"/>
              <a:t> locations, stores… </a:t>
            </a:r>
          </a:p>
          <a:p>
            <a:endParaRPr lang="fr-FR" sz="1800" dirty="0"/>
          </a:p>
          <a:p>
            <a:r>
              <a:rPr lang="fr-FR" dirty="0"/>
              <a:t>Can </a:t>
            </a:r>
            <a:r>
              <a:rPr lang="fr-FR" dirty="0" err="1"/>
              <a:t>we</a:t>
            </a:r>
            <a:r>
              <a:rPr lang="fr-FR" dirty="0"/>
              <a:t> </a:t>
            </a:r>
            <a:r>
              <a:rPr lang="fr-FR" dirty="0" err="1"/>
              <a:t>be</a:t>
            </a:r>
            <a:r>
              <a:rPr lang="fr-FR" dirty="0"/>
              <a:t> sure </a:t>
            </a:r>
            <a:r>
              <a:rPr lang="fr-FR" dirty="0" err="1"/>
              <a:t>that</a:t>
            </a:r>
            <a:r>
              <a:rPr lang="fr-FR" dirty="0"/>
              <a:t> the change in </a:t>
            </a:r>
            <a:r>
              <a:rPr lang="fr-FR" dirty="0" err="1"/>
              <a:t>quantity</a:t>
            </a:r>
            <a:r>
              <a:rPr lang="fr-FR" dirty="0"/>
              <a:t> </a:t>
            </a:r>
            <a:r>
              <a:rPr lang="fr-FR" dirty="0" err="1"/>
              <a:t>purchased</a:t>
            </a:r>
            <a:r>
              <a:rPr lang="fr-FR" dirty="0"/>
              <a:t> </a:t>
            </a:r>
            <a:r>
              <a:rPr lang="fr-FR" dirty="0" err="1"/>
              <a:t>is</a:t>
            </a:r>
            <a:r>
              <a:rPr lang="fr-FR" dirty="0"/>
              <a:t> due to </a:t>
            </a:r>
            <a:r>
              <a:rPr lang="fr-FR" dirty="0" err="1"/>
              <a:t>price</a:t>
            </a:r>
            <a:r>
              <a:rPr lang="fr-FR" dirty="0"/>
              <a:t> changes?</a:t>
            </a:r>
          </a:p>
          <a:p>
            <a:pPr lvl="1"/>
            <a:r>
              <a:rPr lang="fr-FR" dirty="0"/>
              <a:t>Example: in August 2019, the </a:t>
            </a:r>
            <a:r>
              <a:rPr lang="fr-FR" dirty="0" err="1"/>
              <a:t>airline</a:t>
            </a:r>
            <a:r>
              <a:rPr lang="fr-FR" dirty="0"/>
              <a:t> </a:t>
            </a:r>
            <a:r>
              <a:rPr lang="fr-FR" dirty="0" err="1"/>
              <a:t>sold</a:t>
            </a:r>
            <a:r>
              <a:rPr lang="fr-FR" dirty="0"/>
              <a:t> 135 tickets for $200; in </a:t>
            </a:r>
            <a:r>
              <a:rPr lang="fr-FR" dirty="0" err="1"/>
              <a:t>October</a:t>
            </a:r>
            <a:r>
              <a:rPr lang="fr-FR" dirty="0"/>
              <a:t>, 90 tickets for $180</a:t>
            </a:r>
          </a:p>
          <a:p>
            <a:pPr lvl="1"/>
            <a:r>
              <a:rPr lang="fr-FR" dirty="0" err="1"/>
              <a:t>Should</a:t>
            </a:r>
            <a:r>
              <a:rPr lang="fr-FR" dirty="0"/>
              <a:t> </a:t>
            </a:r>
            <a:r>
              <a:rPr lang="fr-FR" dirty="0" err="1"/>
              <a:t>we</a:t>
            </a:r>
            <a:r>
              <a:rPr lang="fr-FR" dirty="0"/>
              <a:t> </a:t>
            </a:r>
            <a:r>
              <a:rPr lang="fr-FR" dirty="0" err="1"/>
              <a:t>conclude</a:t>
            </a:r>
            <a:r>
              <a:rPr lang="fr-FR" dirty="0"/>
              <a:t> </a:t>
            </a:r>
            <a:r>
              <a:rPr lang="fr-FR" dirty="0" err="1"/>
              <a:t>that</a:t>
            </a:r>
            <a:r>
              <a:rPr lang="fr-FR" dirty="0"/>
              <a:t> the </a:t>
            </a:r>
            <a:r>
              <a:rPr lang="fr-FR" dirty="0" err="1"/>
              <a:t>demand</a:t>
            </a:r>
            <a:r>
              <a:rPr lang="fr-FR" dirty="0"/>
              <a:t> </a:t>
            </a:r>
            <a:r>
              <a:rPr lang="fr-FR" dirty="0" err="1"/>
              <a:t>curve</a:t>
            </a:r>
            <a:r>
              <a:rPr lang="fr-FR" dirty="0"/>
              <a:t> </a:t>
            </a:r>
            <a:r>
              <a:rPr lang="fr-FR" dirty="0" err="1"/>
              <a:t>is</a:t>
            </a:r>
            <a:r>
              <a:rPr lang="fr-FR" dirty="0"/>
              <a:t> </a:t>
            </a:r>
            <a:r>
              <a:rPr lang="fr-FR" dirty="0" err="1"/>
              <a:t>upward</a:t>
            </a:r>
            <a:r>
              <a:rPr lang="fr-FR" dirty="0"/>
              <a:t> </a:t>
            </a:r>
            <a:r>
              <a:rPr lang="fr-FR" dirty="0" err="1"/>
              <a:t>sloping</a:t>
            </a:r>
            <a:r>
              <a:rPr lang="fr-FR" dirty="0"/>
              <a:t>?</a:t>
            </a:r>
          </a:p>
          <a:p>
            <a:pPr lvl="1"/>
            <a:r>
              <a:rPr lang="fr-FR" dirty="0" err="1"/>
              <a:t>What</a:t>
            </a:r>
            <a:r>
              <a:rPr lang="fr-FR" dirty="0"/>
              <a:t> can </a:t>
            </a:r>
            <a:r>
              <a:rPr lang="fr-FR" dirty="0" err="1"/>
              <a:t>confound</a:t>
            </a:r>
            <a:r>
              <a:rPr lang="fr-FR" dirty="0"/>
              <a:t> the </a:t>
            </a:r>
            <a:r>
              <a:rPr lang="fr-FR" dirty="0" err="1"/>
              <a:t>analysis</a:t>
            </a:r>
            <a:r>
              <a:rPr lang="fr-FR" dirty="0"/>
              <a:t>?</a:t>
            </a:r>
            <a:endParaRPr lang="en-US" dirty="0"/>
          </a:p>
        </p:txBody>
      </p:sp>
    </p:spTree>
    <p:extLst>
      <p:ext uri="{BB962C8B-B14F-4D97-AF65-F5344CB8AC3E}">
        <p14:creationId xmlns:p14="http://schemas.microsoft.com/office/powerpoint/2010/main" val="2330508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Example: People who drink a little bit of alcohol report better health."/>
          <p:cNvSpPr txBox="1"/>
          <p:nvPr/>
        </p:nvSpPr>
        <p:spPr>
          <a:xfrm>
            <a:off x="136634" y="1255328"/>
            <a:ext cx="8586952" cy="1439096"/>
          </a:xfrm>
          <a:prstGeom prst="rect">
            <a:avLst/>
          </a:prstGeom>
          <a:ln w="12700">
            <a:miter lim="400000"/>
          </a:ln>
          <a:extLst>
            <a:ext uri="{C572A759-6A51-4108-AA02-DFA0A04FC94B}">
              <ma14:wrappingTextBoxFlag xmlns="" xmlns:ma14="http://schemas.microsoft.com/office/mac/drawingml/2011/main" val="1"/>
            </a:ext>
          </a:extLst>
        </p:spPr>
        <p:txBody>
          <a:bodyPr wrap="square" lIns="26789" tIns="26789" rIns="26789" bIns="26789" anchor="ctr">
            <a:spAutoFit/>
          </a:bodyPr>
          <a:lstStyle/>
          <a:p>
            <a:pPr algn="ctr"/>
            <a:r>
              <a:rPr lang="en-US" sz="3000" dirty="0">
                <a:solidFill>
                  <a:schemeClr val="tx2">
                    <a:lumMod val="75000"/>
                  </a:schemeClr>
                </a:solidFill>
                <a:latin typeface="Whitney Book" pitchFamily="50" charset="0"/>
              </a:rPr>
              <a:t>Newspaper headline:</a:t>
            </a:r>
            <a:r>
              <a:rPr sz="3000" dirty="0">
                <a:solidFill>
                  <a:schemeClr val="tx2">
                    <a:lumMod val="75000"/>
                  </a:schemeClr>
                </a:solidFill>
                <a:latin typeface="Whitney Book" pitchFamily="50" charset="0"/>
              </a:rPr>
              <a:t> </a:t>
            </a:r>
            <a:r>
              <a:rPr lang="en-US" sz="3000" dirty="0">
                <a:solidFill>
                  <a:schemeClr val="tx2">
                    <a:lumMod val="75000"/>
                  </a:schemeClr>
                </a:solidFill>
                <a:latin typeface="Whitney Book" pitchFamily="50" charset="0"/>
              </a:rPr>
              <a:t>"Drinking Three Cups of Coffee a Day Reduces Risk of Heart Attack”</a:t>
            </a:r>
          </a:p>
          <a:p>
            <a:pPr algn="ctr"/>
            <a:r>
              <a:rPr lang="en-US" sz="3000" dirty="0">
                <a:solidFill>
                  <a:schemeClr val="tx2">
                    <a:lumMod val="75000"/>
                  </a:schemeClr>
                </a:solidFill>
                <a:latin typeface="Whitney Book" pitchFamily="50" charset="0"/>
              </a:rPr>
              <a:t>(causal statement)</a:t>
            </a:r>
            <a:endParaRPr sz="3000" dirty="0">
              <a:solidFill>
                <a:schemeClr val="tx2">
                  <a:lumMod val="75000"/>
                </a:schemeClr>
              </a:solidFill>
              <a:latin typeface="Whitney Book" pitchFamily="50" charset="0"/>
            </a:endParaRPr>
          </a:p>
        </p:txBody>
      </p:sp>
      <p:pic>
        <p:nvPicPr>
          <p:cNvPr id="129" name="Image" descr="Image"/>
          <p:cNvPicPr>
            <a:picLocks noChangeAspect="1"/>
          </p:cNvPicPr>
          <p:nvPr/>
        </p:nvPicPr>
        <p:blipFill>
          <a:blip r:embed="rId3"/>
          <a:stretch>
            <a:fillRect/>
          </a:stretch>
        </p:blipFill>
        <p:spPr>
          <a:xfrm>
            <a:off x="5120296" y="3077394"/>
            <a:ext cx="1848446" cy="1225600"/>
          </a:xfrm>
          <a:prstGeom prst="rect">
            <a:avLst/>
          </a:prstGeom>
          <a:ln w="12700">
            <a:miter lim="400000"/>
          </a:ln>
        </p:spPr>
      </p:pic>
      <p:sp>
        <p:nvSpPr>
          <p:cNvPr id="6" name="Title 7"/>
          <p:cNvSpPr txBox="1">
            <a:spLocks/>
          </p:cNvSpPr>
          <p:nvPr/>
        </p:nvSpPr>
        <p:spPr>
          <a:xfrm>
            <a:off x="136634" y="127215"/>
            <a:ext cx="8826892"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a:lstStyle>
          <a:p>
            <a:r>
              <a:rPr lang="en-US" dirty="0"/>
              <a:t>Correlation does not mean causation</a:t>
            </a:r>
          </a:p>
        </p:txBody>
      </p:sp>
      <p:sp>
        <p:nvSpPr>
          <p:cNvPr id="7" name="Causal Interpretation: X causes Y."/>
          <p:cNvSpPr txBox="1"/>
          <p:nvPr/>
        </p:nvSpPr>
        <p:spPr>
          <a:xfrm>
            <a:off x="136635" y="5041141"/>
            <a:ext cx="8660124" cy="977431"/>
          </a:xfrm>
          <a:prstGeom prst="rect">
            <a:avLst/>
          </a:prstGeom>
          <a:ln w="12700">
            <a:miter lim="400000"/>
          </a:ln>
          <a:extLst>
            <a:ext uri="{C572A759-6A51-4108-AA02-DFA0A04FC94B}">
              <ma14:wrappingTextBoxFlag xmlns="" xmlns:ma14="http://schemas.microsoft.com/office/mac/drawingml/2011/main" val="1"/>
            </a:ext>
          </a:extLst>
        </p:spPr>
        <p:txBody>
          <a:bodyPr wrap="square" lIns="26789" tIns="26789" rIns="26789" bIns="26789" anchor="ctr">
            <a:spAutoFit/>
          </a:bodyPr>
          <a:lstStyle/>
          <a:p>
            <a:pPr algn="ctr"/>
            <a:r>
              <a:rPr lang="en-US" sz="3000" dirty="0">
                <a:solidFill>
                  <a:srgbClr val="1B8BD5"/>
                </a:solidFill>
                <a:latin typeface="Whitney Book" pitchFamily="50" charset="0"/>
              </a:rPr>
              <a:t>Actual finding in study: "Among coffee drinkers, there is a smaller risk of serious cardiovascular diseases”</a:t>
            </a:r>
            <a:endParaRPr sz="3000" dirty="0">
              <a:solidFill>
                <a:srgbClr val="1B8BD5"/>
              </a:solidFill>
              <a:latin typeface="Whitney Book" pitchFamily="50" charset="0"/>
            </a:endParaRPr>
          </a:p>
        </p:txBody>
      </p:sp>
      <p:sp>
        <p:nvSpPr>
          <p:cNvPr id="8" name="Arrow"/>
          <p:cNvSpPr/>
          <p:nvPr/>
        </p:nvSpPr>
        <p:spPr>
          <a:xfrm>
            <a:off x="4348080" y="3298403"/>
            <a:ext cx="614160" cy="600216"/>
          </a:xfrm>
          <a:prstGeom prst="rightArrow">
            <a:avLst>
              <a:gd name="adj1" fmla="val 32000"/>
              <a:gd name="adj2" fmla="val 65487"/>
            </a:avLst>
          </a:prstGeom>
          <a:solidFill>
            <a:schemeClr val="accent5"/>
          </a:solidFill>
          <a:ln w="12700">
            <a:miter lim="400000"/>
          </a:ln>
          <a:effectLst>
            <a:outerShdw blurRad="38100" dist="25400" dir="5400000" rotWithShape="0">
              <a:srgbClr val="000000">
                <a:alpha val="50000"/>
              </a:srgbClr>
            </a:outerShdw>
          </a:effectLst>
        </p:spPr>
        <p:txBody>
          <a:bodyPr lIns="26789" tIns="26789" rIns="26789" bIns="26789" anchor="ctr"/>
          <a:lstStyle/>
          <a:p>
            <a:pPr>
              <a:defRPr sz="2400">
                <a:solidFill>
                  <a:srgbClr val="FFFFFF"/>
                </a:solidFill>
              </a:defRPr>
            </a:pPr>
            <a:endParaRPr sz="1265"/>
          </a:p>
        </p:txBody>
      </p:sp>
      <p:pic>
        <p:nvPicPr>
          <p:cNvPr id="5" name="Picture 4">
            <a:extLst>
              <a:ext uri="{FF2B5EF4-FFF2-40B4-BE49-F238E27FC236}">
                <a16:creationId xmlns:a16="http://schemas.microsoft.com/office/drawing/2014/main" id="{50103874-0ADE-4927-AD63-59D686E81546}"/>
              </a:ext>
            </a:extLst>
          </p:cNvPr>
          <p:cNvPicPr>
            <a:picLocks noChangeAspect="1"/>
          </p:cNvPicPr>
          <p:nvPr/>
        </p:nvPicPr>
        <p:blipFill rotWithShape="1">
          <a:blip r:embed="rId4"/>
          <a:srcRect r="15363"/>
          <a:stretch/>
        </p:blipFill>
        <p:spPr>
          <a:xfrm>
            <a:off x="1847785" y="3077394"/>
            <a:ext cx="2175920" cy="1445605"/>
          </a:xfrm>
          <a:prstGeom prst="rect">
            <a:avLst/>
          </a:prstGeom>
        </p:spPr>
      </p:pic>
    </p:spTree>
    <p:extLst>
      <p:ext uri="{BB962C8B-B14F-4D97-AF65-F5344CB8AC3E}">
        <p14:creationId xmlns:p14="http://schemas.microsoft.com/office/powerpoint/2010/main" val="1606099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22" presetClass="entr" presetSubtype="4"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wipe(down)">
                                      <p:cBhvr>
                                        <p:cTn id="9" dur="500"/>
                                        <p:tgtEl>
                                          <p:spTgt spid="8"/>
                                        </p:tgtEl>
                                      </p:cBhvr>
                                    </p:animEffect>
                                  </p:childTnLst>
                                </p:cTn>
                              </p:par>
                              <p:par>
                                <p:cTn id="10" presetID="1" presetClass="entr" presetSubtype="0" fill="hold" nodeType="withEffect">
                                  <p:stCondLst>
                                    <p:cond delay="0"/>
                                  </p:stCondLst>
                                  <p:childTnLst>
                                    <p:set>
                                      <p:cBhvr>
                                        <p:cTn id="11" dur="1" fill="hold">
                                          <p:stCondLst>
                                            <p:cond delay="0"/>
                                          </p:stCondLst>
                                        </p:cTn>
                                        <p:tgtEl>
                                          <p:spTgt spid="12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9" name="Image" descr="Image"/>
          <p:cNvPicPr>
            <a:picLocks noChangeAspect="1"/>
          </p:cNvPicPr>
          <p:nvPr/>
        </p:nvPicPr>
        <p:blipFill>
          <a:blip r:embed="rId3"/>
          <a:stretch>
            <a:fillRect/>
          </a:stretch>
        </p:blipFill>
        <p:spPr>
          <a:xfrm>
            <a:off x="4933652" y="4884370"/>
            <a:ext cx="1848446" cy="1225600"/>
          </a:xfrm>
          <a:prstGeom prst="rect">
            <a:avLst/>
          </a:prstGeom>
          <a:ln w="12700">
            <a:miter lim="400000"/>
          </a:ln>
        </p:spPr>
      </p:pic>
      <p:sp>
        <p:nvSpPr>
          <p:cNvPr id="141" name="Arrow"/>
          <p:cNvSpPr/>
          <p:nvPr/>
        </p:nvSpPr>
        <p:spPr>
          <a:xfrm rot="3900000">
            <a:off x="5168057" y="4305934"/>
            <a:ext cx="669727" cy="669727"/>
          </a:xfrm>
          <a:prstGeom prst="rightArrow">
            <a:avLst>
              <a:gd name="adj1" fmla="val 32000"/>
              <a:gd name="adj2" fmla="val 64000"/>
            </a:avLst>
          </a:prstGeom>
          <a:solidFill>
            <a:srgbClr val="00B050"/>
          </a:solidFill>
          <a:ln w="12700">
            <a:miter lim="400000"/>
          </a:ln>
          <a:effectLst>
            <a:outerShdw blurRad="38100" dist="25400" dir="5400000" rotWithShape="0">
              <a:srgbClr val="000000">
                <a:alpha val="50000"/>
              </a:srgbClr>
            </a:outerShdw>
          </a:effectLst>
        </p:spPr>
        <p:txBody>
          <a:bodyPr lIns="26789" tIns="26789" rIns="26789" bIns="26789" anchor="ctr"/>
          <a:lstStyle/>
          <a:p>
            <a:pPr>
              <a:defRPr sz="2400">
                <a:solidFill>
                  <a:srgbClr val="FFFFFF"/>
                </a:solidFill>
              </a:defRPr>
            </a:pPr>
            <a:endParaRPr sz="1265"/>
          </a:p>
        </p:txBody>
      </p:sp>
      <p:sp>
        <p:nvSpPr>
          <p:cNvPr id="142" name="Arrow"/>
          <p:cNvSpPr/>
          <p:nvPr/>
        </p:nvSpPr>
        <p:spPr>
          <a:xfrm rot="6900000">
            <a:off x="3580805" y="4305934"/>
            <a:ext cx="669727" cy="669727"/>
          </a:xfrm>
          <a:prstGeom prst="rightArrow">
            <a:avLst>
              <a:gd name="adj1" fmla="val 32000"/>
              <a:gd name="adj2" fmla="val 64000"/>
            </a:avLst>
          </a:prstGeom>
          <a:solidFill>
            <a:srgbClr val="00B050"/>
          </a:solidFill>
          <a:ln w="12700">
            <a:miter lim="400000"/>
          </a:ln>
          <a:effectLst>
            <a:outerShdw blurRad="38100" dist="25400" dir="5400000" rotWithShape="0">
              <a:srgbClr val="000000">
                <a:alpha val="50000"/>
              </a:srgbClr>
            </a:outerShdw>
          </a:effectLst>
        </p:spPr>
        <p:txBody>
          <a:bodyPr lIns="26789" tIns="26789" rIns="26789" bIns="26789" anchor="ctr"/>
          <a:lstStyle/>
          <a:p>
            <a:pPr>
              <a:defRPr sz="2400">
                <a:solidFill>
                  <a:srgbClr val="FFFFFF"/>
                </a:solidFill>
              </a:defRPr>
            </a:pPr>
            <a:endParaRPr sz="1265"/>
          </a:p>
        </p:txBody>
      </p:sp>
      <p:sp>
        <p:nvSpPr>
          <p:cNvPr id="7" name="Title 7"/>
          <p:cNvSpPr txBox="1">
            <a:spLocks/>
          </p:cNvSpPr>
          <p:nvPr/>
        </p:nvSpPr>
        <p:spPr>
          <a:xfrm>
            <a:off x="148044" y="155673"/>
            <a:ext cx="8826892"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a:lstStyle>
          <a:p>
            <a:r>
              <a:rPr lang="en-US" dirty="0"/>
              <a:t>Correlation does not mean causation</a:t>
            </a:r>
          </a:p>
        </p:txBody>
      </p:sp>
      <p:sp>
        <p:nvSpPr>
          <p:cNvPr id="8" name="Example: People who drink a little bit of alcohol report better health."/>
          <p:cNvSpPr txBox="1"/>
          <p:nvPr/>
        </p:nvSpPr>
        <p:spPr>
          <a:xfrm>
            <a:off x="387984" y="1307252"/>
            <a:ext cx="8586952" cy="977431"/>
          </a:xfrm>
          <a:prstGeom prst="rect">
            <a:avLst/>
          </a:prstGeom>
          <a:ln w="12700">
            <a:miter lim="400000"/>
          </a:ln>
          <a:extLst>
            <a:ext uri="{C572A759-6A51-4108-AA02-DFA0A04FC94B}">
              <ma14:wrappingTextBoxFlag xmlns="" xmlns:ma14="http://schemas.microsoft.com/office/mac/drawingml/2011/main" val="1"/>
            </a:ext>
          </a:extLst>
        </p:spPr>
        <p:txBody>
          <a:bodyPr wrap="square" lIns="26789" tIns="26789" rIns="26789" bIns="26789" anchor="ctr">
            <a:spAutoFit/>
          </a:bodyPr>
          <a:lstStyle/>
          <a:p>
            <a:pPr algn="ctr"/>
            <a:r>
              <a:rPr lang="en-US" sz="3000" dirty="0">
                <a:solidFill>
                  <a:srgbClr val="00B050"/>
                </a:solidFill>
                <a:latin typeface="Whitney Book" pitchFamily="50" charset="0"/>
              </a:rPr>
              <a:t>Potential Problem: other factors (e.g., lifestyle) are driving the correlation</a:t>
            </a:r>
            <a:endParaRPr sz="3000" dirty="0">
              <a:solidFill>
                <a:srgbClr val="00B050"/>
              </a:solidFill>
              <a:latin typeface="Whitney Book" pitchFamily="50" charset="0"/>
            </a:endParaRPr>
          </a:p>
        </p:txBody>
      </p:sp>
      <p:pic>
        <p:nvPicPr>
          <p:cNvPr id="4" name="Picture 3">
            <a:extLst>
              <a:ext uri="{FF2B5EF4-FFF2-40B4-BE49-F238E27FC236}">
                <a16:creationId xmlns:a16="http://schemas.microsoft.com/office/drawing/2014/main" id="{786981AD-0F85-C44B-B165-6A240EDCA863}"/>
              </a:ext>
            </a:extLst>
          </p:cNvPr>
          <p:cNvPicPr>
            <a:picLocks noChangeAspect="1"/>
          </p:cNvPicPr>
          <p:nvPr/>
        </p:nvPicPr>
        <p:blipFill>
          <a:blip r:embed="rId4"/>
          <a:stretch>
            <a:fillRect/>
          </a:stretch>
        </p:blipFill>
        <p:spPr>
          <a:xfrm>
            <a:off x="3375069" y="2782391"/>
            <a:ext cx="2459562" cy="1412586"/>
          </a:xfrm>
          <a:prstGeom prst="rect">
            <a:avLst/>
          </a:prstGeom>
        </p:spPr>
      </p:pic>
      <p:pic>
        <p:nvPicPr>
          <p:cNvPr id="3" name="Picture 2">
            <a:extLst>
              <a:ext uri="{FF2B5EF4-FFF2-40B4-BE49-F238E27FC236}">
                <a16:creationId xmlns:a16="http://schemas.microsoft.com/office/drawing/2014/main" id="{374BE34A-9F1C-4737-8756-7EDEB88558C2}"/>
              </a:ext>
            </a:extLst>
          </p:cNvPr>
          <p:cNvPicPr>
            <a:picLocks noChangeAspect="1"/>
          </p:cNvPicPr>
          <p:nvPr/>
        </p:nvPicPr>
        <p:blipFill>
          <a:blip r:embed="rId5"/>
          <a:stretch>
            <a:fillRect/>
          </a:stretch>
        </p:blipFill>
        <p:spPr>
          <a:xfrm>
            <a:off x="2797763" y="5085807"/>
            <a:ext cx="1412586" cy="1412586"/>
          </a:xfrm>
          <a:prstGeom prst="rect">
            <a:avLst/>
          </a:prstGeom>
        </p:spPr>
      </p:pic>
    </p:spTree>
    <p:extLst>
      <p:ext uri="{BB962C8B-B14F-4D97-AF65-F5344CB8AC3E}">
        <p14:creationId xmlns:p14="http://schemas.microsoft.com/office/powerpoint/2010/main" val="3573508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 grpId="0" animBg="1"/>
      <p:bldP spid="142"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5E1AF67-75D5-4039-A654-508841435E6E}"/>
              </a:ext>
            </a:extLst>
          </p:cNvPr>
          <p:cNvPicPr>
            <a:picLocks noChangeAspect="1"/>
          </p:cNvPicPr>
          <p:nvPr/>
        </p:nvPicPr>
        <p:blipFill rotWithShape="1">
          <a:blip r:embed="rId2"/>
          <a:srcRect l="10600" t="25111" r="67900" b="41289"/>
          <a:stretch/>
        </p:blipFill>
        <p:spPr>
          <a:xfrm>
            <a:off x="795109" y="1393148"/>
            <a:ext cx="7720817" cy="3878368"/>
          </a:xfrm>
          <a:prstGeom prst="rect">
            <a:avLst/>
          </a:prstGeom>
        </p:spPr>
      </p:pic>
      <p:sp>
        <p:nvSpPr>
          <p:cNvPr id="5" name="Title 1">
            <a:extLst>
              <a:ext uri="{FF2B5EF4-FFF2-40B4-BE49-F238E27FC236}">
                <a16:creationId xmlns:a16="http://schemas.microsoft.com/office/drawing/2014/main" id="{E802F421-0B00-46C1-A2DE-D92382AD9480}"/>
              </a:ext>
            </a:extLst>
          </p:cNvPr>
          <p:cNvSpPr>
            <a:spLocks noGrp="1"/>
          </p:cNvSpPr>
          <p:nvPr>
            <p:ph type="title"/>
          </p:nvPr>
        </p:nvSpPr>
        <p:spPr>
          <a:xfrm>
            <a:off x="457200" y="127215"/>
            <a:ext cx="8229600" cy="1143000"/>
          </a:xfrm>
        </p:spPr>
        <p:txBody>
          <a:bodyPr/>
          <a:lstStyle/>
          <a:p>
            <a:r>
              <a:rPr lang="fr-FR" dirty="0"/>
              <a:t>S</a:t>
            </a:r>
            <a:r>
              <a:rPr lang="en-US" dirty="0" err="1"/>
              <a:t>purious</a:t>
            </a:r>
            <a:r>
              <a:rPr lang="en-US" dirty="0"/>
              <a:t> correlations</a:t>
            </a:r>
          </a:p>
        </p:txBody>
      </p:sp>
      <p:sp>
        <p:nvSpPr>
          <p:cNvPr id="6" name="TextBox 5">
            <a:extLst>
              <a:ext uri="{FF2B5EF4-FFF2-40B4-BE49-F238E27FC236}">
                <a16:creationId xmlns:a16="http://schemas.microsoft.com/office/drawing/2014/main" id="{429AB0E4-A43C-4199-BE6F-42DE5B50CEF5}"/>
              </a:ext>
            </a:extLst>
          </p:cNvPr>
          <p:cNvSpPr txBox="1"/>
          <p:nvPr/>
        </p:nvSpPr>
        <p:spPr>
          <a:xfrm>
            <a:off x="2770632" y="5404104"/>
            <a:ext cx="3721608" cy="276999"/>
          </a:xfrm>
          <a:prstGeom prst="rect">
            <a:avLst/>
          </a:prstGeom>
          <a:noFill/>
        </p:spPr>
        <p:txBody>
          <a:bodyPr wrap="square" rtlCol="0">
            <a:spAutoFit/>
          </a:bodyPr>
          <a:lstStyle/>
          <a:p>
            <a:r>
              <a:rPr lang="en-US" sz="1200" dirty="0">
                <a:latin typeface="Whitney-Book" pitchFamily="50" charset="0"/>
                <a:cs typeface="Whitney-Book" pitchFamily="50" charset="0"/>
                <a:hlinkClick r:id="rId3"/>
              </a:rPr>
              <a:t>https://www.tylervigen.com/spurious-correlations</a:t>
            </a:r>
            <a:r>
              <a:rPr lang="en-US" sz="1200" dirty="0">
                <a:latin typeface="Whitney-Book" pitchFamily="50" charset="0"/>
                <a:cs typeface="Whitney-Book" pitchFamily="50" charset="0"/>
              </a:rPr>
              <a:t> </a:t>
            </a:r>
          </a:p>
        </p:txBody>
      </p:sp>
    </p:spTree>
    <p:extLst>
      <p:ext uri="{BB962C8B-B14F-4D97-AF65-F5344CB8AC3E}">
        <p14:creationId xmlns:p14="http://schemas.microsoft.com/office/powerpoint/2010/main" val="76994125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PPRESENTATIONGUID" val="fb4bfb20-bb85-4e69-83ee-0653ca024c4d"/>
  <p:tag name="TPLASTSAVEVERSION" val="6.2 PC"/>
  <p:tag name="WASPOLLED" val="9395E21AB51D4B2FB317ED88EF6AF71F"/>
  <p:tag name="TPVERSION" val="5"/>
  <p:tag name="TPFULLVERSION" val="5.3.2.24"/>
  <p:tag name="PPTVERSION" val="16"/>
  <p:tag name="TPOS" val="2"/>
</p:tagLst>
</file>

<file path=ppt/tags/tag2.xml><?xml version="1.0" encoding="utf-8"?>
<p:tagLst xmlns:a="http://schemas.openxmlformats.org/drawingml/2006/main" xmlns:r="http://schemas.openxmlformats.org/officeDocument/2006/relationships" xmlns:p="http://schemas.openxmlformats.org/presentationml/2006/main">
  <p:tag name="DELIMITERS" val="3.1"/>
</p:tagLst>
</file>

<file path=ppt/tags/tag3.xml><?xml version="1.0" encoding="utf-8"?>
<p:tagLst xmlns:a="http://schemas.openxmlformats.org/drawingml/2006/main" xmlns:r="http://schemas.openxmlformats.org/officeDocument/2006/relationships" xmlns:p="http://schemas.openxmlformats.org/presentationml/2006/main">
  <p:tag name="DELIMITERS" val="3.1"/>
</p:tagLst>
</file>

<file path=ppt/tags/tag4.xml><?xml version="1.0" encoding="utf-8"?>
<p:tagLst xmlns:a="http://schemas.openxmlformats.org/drawingml/2006/main" xmlns:r="http://schemas.openxmlformats.org/officeDocument/2006/relationships" xmlns:p="http://schemas.openxmlformats.org/presentationml/2006/main">
  <p:tag name="__PE_POLL_EMBED_ID" val="a6592fc1-ec85-4109-9e4e-5b8c920328e0"/>
</p:tagLst>
</file>

<file path=ppt/tags/tag5.xml><?xml version="1.0" encoding="utf-8"?>
<p:tagLst xmlns:a="http://schemas.openxmlformats.org/drawingml/2006/main" xmlns:r="http://schemas.openxmlformats.org/officeDocument/2006/relationships" xmlns:p="http://schemas.openxmlformats.org/presentationml/2006/main">
  <p:tag name="DELIMITERS" val="3.1"/>
</p:tagLst>
</file>

<file path=ppt/tags/tag6.xml><?xml version="1.0" encoding="utf-8"?>
<p:tagLst xmlns:a="http://schemas.openxmlformats.org/drawingml/2006/main" xmlns:r="http://schemas.openxmlformats.org/officeDocument/2006/relationships" xmlns:p="http://schemas.openxmlformats.org/presentationml/2006/main">
  <p:tag name="DELIMITERS" val="3.1"/>
</p:tagLst>
</file>

<file path=ppt/tags/tag7.xml><?xml version="1.0" encoding="utf-8"?>
<p:tagLst xmlns:a="http://schemas.openxmlformats.org/drawingml/2006/main" xmlns:r="http://schemas.openxmlformats.org/officeDocument/2006/relationships" xmlns:p="http://schemas.openxmlformats.org/presentationml/2006/main">
  <p:tag name="__PE_POLL_EMBED_ID" val="18e6fcfd-d35d-4aad-adb6-3ccc2d988d8f"/>
</p:tagLst>
</file>

<file path=ppt/tags/tag8.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heme/theme1.xml><?xml version="1.0" encoding="utf-8"?>
<a:theme xmlns:a="http://schemas.openxmlformats.org/drawingml/2006/main" name="2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3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5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66895</TotalTime>
  <Words>5561</Words>
  <Application>Microsoft Office PowerPoint</Application>
  <PresentationFormat>On-screen Show (4:3)</PresentationFormat>
  <Paragraphs>592</Paragraphs>
  <Slides>40</Slides>
  <Notes>31</Notes>
  <HiddenSlides>0</HiddenSlides>
  <MMClips>0</MMClips>
  <ScaleCrop>false</ScaleCrop>
  <HeadingPairs>
    <vt:vector size="6" baseType="variant">
      <vt:variant>
        <vt:lpstr>Fonts Used</vt:lpstr>
      </vt:variant>
      <vt:variant>
        <vt:i4>12</vt:i4>
      </vt:variant>
      <vt:variant>
        <vt:lpstr>Theme</vt:lpstr>
      </vt:variant>
      <vt:variant>
        <vt:i4>4</vt:i4>
      </vt:variant>
      <vt:variant>
        <vt:lpstr>Slide Titles</vt:lpstr>
      </vt:variant>
      <vt:variant>
        <vt:i4>40</vt:i4>
      </vt:variant>
    </vt:vector>
  </HeadingPairs>
  <TitlesOfParts>
    <vt:vector size="56" baseType="lpstr">
      <vt:lpstr>Arial</vt:lpstr>
      <vt:lpstr>Calibri</vt:lpstr>
      <vt:lpstr>Cambria</vt:lpstr>
      <vt:lpstr>Cambria Math</vt:lpstr>
      <vt:lpstr>Lucida Grande</vt:lpstr>
      <vt:lpstr>Times New Roman</vt:lpstr>
      <vt:lpstr>Trebuchet MS</vt:lpstr>
      <vt:lpstr>Whitney Book</vt:lpstr>
      <vt:lpstr>Whitney Medium</vt:lpstr>
      <vt:lpstr>Whitney-Book</vt:lpstr>
      <vt:lpstr>Whitney-Medium</vt:lpstr>
      <vt:lpstr>Wingdings</vt:lpstr>
      <vt:lpstr>2_Custom Design</vt:lpstr>
      <vt:lpstr>Custom Design</vt:lpstr>
      <vt:lpstr>3_Custom Design</vt:lpstr>
      <vt:lpstr>5_Custom Design</vt:lpstr>
      <vt:lpstr>Module 2 – Video 1 Demand and Revenue</vt:lpstr>
      <vt:lpstr>outline of module 2</vt:lpstr>
      <vt:lpstr>Plotting (inverse) Demand</vt:lpstr>
      <vt:lpstr>Relationship between demand and revenue</vt:lpstr>
      <vt:lpstr>Effect of Price Changes on Total Revenue</vt:lpstr>
      <vt:lpstr>Own-price Elasticity (Ed) and Total Revenue</vt:lpstr>
      <vt:lpstr>Effect of a Price Change on Total Revenue: It Depends on Ed</vt:lpstr>
      <vt:lpstr>Example: Demand for Chewing Gum</vt:lpstr>
      <vt:lpstr>PowerPoint Presentation</vt:lpstr>
      <vt:lpstr>Solution</vt:lpstr>
      <vt:lpstr>Summary: Effect of a Price Change on Total Revenue: It Depends on Ed</vt:lpstr>
      <vt:lpstr>OUTLINE of module 2</vt:lpstr>
      <vt:lpstr>Why do we care about  marginal revenue?</vt:lpstr>
      <vt:lpstr>Marginal revenue: definition</vt:lpstr>
      <vt:lpstr>CALCULUS REFRESHER: Derivatives</vt:lpstr>
      <vt:lpstr>3 step method in action</vt:lpstr>
      <vt:lpstr>The “3 step method”: Summary Notes</vt:lpstr>
      <vt:lpstr>Mr: graphical representation</vt:lpstr>
      <vt:lpstr>Why is mr different from the price?</vt:lpstr>
      <vt:lpstr>PowerPoint Presentation</vt:lpstr>
      <vt:lpstr>PowerPoint Presentation</vt:lpstr>
      <vt:lpstr>OUTLINE of module 2</vt:lpstr>
      <vt:lpstr>How to estimate a demand curve?</vt:lpstr>
      <vt:lpstr>Econometric estimates</vt:lpstr>
      <vt:lpstr>Ordinary Least Squares  The Basic Equation</vt:lpstr>
      <vt:lpstr>Airline Ticket experimentation</vt:lpstr>
      <vt:lpstr>First Pass: eyeball the relationship …Is it Approximately Linear?</vt:lpstr>
      <vt:lpstr>Least Squares Estimation which Line provides the Best Fit?</vt:lpstr>
      <vt:lpstr>PowerPoint Presentation</vt:lpstr>
      <vt:lpstr>PowerPoint Presentation</vt:lpstr>
      <vt:lpstr>Obtain Elasticity from Estimated Demand Curve</vt:lpstr>
      <vt:lpstr>PowerPoint Presentation</vt:lpstr>
      <vt:lpstr>Results with added variables</vt:lpstr>
      <vt:lpstr>Application</vt:lpstr>
      <vt:lpstr>Solution</vt:lpstr>
      <vt:lpstr>PowerPoint Presentation</vt:lpstr>
      <vt:lpstr>Issues with transaction data why randomization is key</vt:lpstr>
      <vt:lpstr>PowerPoint Presentation</vt:lpstr>
      <vt:lpstr>PowerPoint Presentation</vt:lpstr>
      <vt:lpstr>Spurious correlations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Pub Office 3</dc:creator>
  <cp:keywords/>
  <dc:description/>
  <cp:lastModifiedBy>Nico Voigtländer</cp:lastModifiedBy>
  <cp:revision>806</cp:revision>
  <cp:lastPrinted>2019-09-13T20:44:29Z</cp:lastPrinted>
  <dcterms:created xsi:type="dcterms:W3CDTF">2013-01-24T22:32:50Z</dcterms:created>
  <dcterms:modified xsi:type="dcterms:W3CDTF">2026-08-14T13:43:37Z</dcterms:modified>
  <cp:category/>
</cp:coreProperties>
</file>