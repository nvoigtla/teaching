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1C616F-91FD-64E5-85C1-1E64E268B33E}" name="CLEMENCE TRICAUD" initials="CT" userId="S-1-5-21-1914341619-2963887621-4192079504-392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1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A6E033-8673-4580-A673-F8E1DD21B60C}" authorId="{491C616F-91FD-64E5-85C1-1E64E268B33E}" created="2026-06-24T02:50:00.0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3"/>
      <ac:spMk id="4" creationId="{00000000-0000-0000-0000-000000000000}"/>
      <ac:txMk cp="0" len="33">
        <ac:context len="34" hash="1655086528"/>
      </ac:txMk>
    </ac:txMkLst>
    <p188:pos x="5564505" y="354330"/>
    <p188:txBody>
      <a:bodyPr/>
      <a:lstStyle/>
      <a:p>
        <a:r>
          <a:rPr lang="en-US"/>
          <a:t>This is a class discussion based on the weekly reading assignment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armaceutical-technology.com/news/trump-hits-long-term-pledge-as-us-prices-of-weight-loss-drugs-slashed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armaceutical-technology.com/news/novo-nordisk-shares-tumble-18-after-2026-sales-dip-warning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1_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melcamelcamel.com/product/B0DRVPMBX3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tylervigen.com/spurious-correlations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91640"/>
            <a:ext cx="1164031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0B2B4E"/>
                </a:solidFill>
                <a:latin typeface="Calibri"/>
              </a:rPr>
              <a:t>Demand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880360"/>
            <a:ext cx="116403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E09F3E"/>
                </a:solidFill>
                <a:latin typeface="Calibri"/>
              </a:rPr>
              <a:t>Demand and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0248" y="3703320"/>
            <a:ext cx="3657600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4069080"/>
            <a:ext cx="11640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55B66"/>
                </a:solidFill>
                <a:latin typeface="Calibri"/>
              </a:rPr>
              <a:t>Management 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09160"/>
            <a:ext cx="1164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555B66"/>
                </a:solidFill>
                <a:latin typeface="Calibri"/>
              </a:rPr>
              <a:t>Prof. Clemence Tricaud  ·  UCLA Anderson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7063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67911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How own-price elasticity drives total revenue, and how to find marginal revenue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6519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7063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49624"/>
            <a:ext cx="10561320" cy="914400"/>
          </a:xfrm>
          <a:prstGeom prst="roundRect">
            <a:avLst>
              <a:gd name="adj" fmla="val 14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67911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How own-price elasticity drives total revenue, and how to find marginal revenue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6519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Plotting the Demand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300" b="0" i="1">
                <a:solidFill>
                  <a:srgbClr val="555B66"/>
                </a:solidFill>
                <a:latin typeface="Calibri"/>
              </a:rPr>
              <a:t>Note: this is the demand function a single </a:t>
            </a:r>
            <a:r>
              <a:rPr sz="2300" b="1" i="1">
                <a:solidFill>
                  <a:srgbClr val="0B2B4E"/>
                </a:solidFill>
                <a:latin typeface="Calibri"/>
              </a:rPr>
              <a:t>firm</a:t>
            </a:r>
            <a:r>
              <a:rPr sz="2300" b="0" i="1">
                <a:solidFill>
                  <a:srgbClr val="555B66"/>
                </a:solidFill>
                <a:latin typeface="Calibri"/>
              </a:rPr>
              <a:t> faces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05840" y="2212848"/>
            <a:ext cx="0" cy="363931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" y="5852160"/>
            <a:ext cx="5760719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4088" y="184708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594360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2894951"/>
            <a:ext cx="4744994" cy="2957209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" y="2739503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$400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6494" y="59436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1600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8850" y="55412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9260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306324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B2B4E"/>
                </a:solidFill>
                <a:latin typeface="Calibri"/>
              </a:rPr>
              <a:t>Demand function</a:t>
            </a:r>
          </a:p>
          <a:p>
            <a:pPr algn="ctr">
              <a:spcBef>
                <a:spcPts val="200"/>
              </a:spcBef>
              <a:spcAft>
                <a:spcPts val="1400"/>
              </a:spcAft>
            </a:pPr>
            <a:r>
              <a:rPr sz="2200" b="0" i="1">
                <a:solidFill>
                  <a:srgbClr val="0B2B4E"/>
                </a:solidFill>
                <a:latin typeface="Calibri"/>
              </a:rPr>
              <a:t>Q = 1,600 − 4P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B2B4E"/>
                </a:solidFill>
                <a:latin typeface="Calibri"/>
              </a:rPr>
              <a:t>Inverse demand function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200" b="0" i="1">
                <a:solidFill>
                  <a:srgbClr val="0B2B4E"/>
                </a:solidFill>
                <a:latin typeface="Calibri"/>
              </a:rPr>
              <a:t>P = 400 − Q/4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From Demand to Total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781137"/>
            <a:ext cx="1878227" cy="739302"/>
          </a:xfrm>
          <a:prstGeom prst="rect">
            <a:avLst/>
          </a:prstGeom>
          <a:solidFill>
            <a:srgbClr val="F6E8C9"/>
          </a:solidFill>
          <a:ln w="127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1325880" y="1618488"/>
            <a:ext cx="0" cy="1901951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5880" y="3520439"/>
            <a:ext cx="461772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4127" y="125272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3611879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25880" y="2041835"/>
            <a:ext cx="3756454" cy="1478604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5880" y="2781137"/>
            <a:ext cx="1878227" cy="0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04107" y="2781137"/>
            <a:ext cx="0" cy="739302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4904" y="1886387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$400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" y="2625689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9767" y="361187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7994" y="361187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2062" y="32461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995340"/>
            <a:ext cx="18782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2B4E"/>
                </a:solidFill>
                <a:latin typeface="Calibri"/>
              </a:rPr>
              <a:t>Total revenue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325880" y="3950208"/>
            <a:ext cx="0" cy="203911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25880" y="5989320"/>
            <a:ext cx="461772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4127" y="358444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6080759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sp>
        <p:nvSpPr>
          <p:cNvPr id="29" name="Freeform 28"/>
          <p:cNvSpPr/>
          <p:nvPr/>
        </p:nvSpPr>
        <p:spPr>
          <a:xfrm>
            <a:off x="1325880" y="4368113"/>
            <a:ext cx="3756454" cy="1621207"/>
          </a:xfrm>
          <a:custGeom>
            <a:avLst/>
            <a:gdLst/>
            <a:ahLst/>
            <a:cxnLst/>
            <a:rect l="l" t="t" r="r" b="b"/>
            <a:pathLst>
              <a:path w="3756454" h="1621207">
                <a:moveTo>
                  <a:pt x="0" y="1621207"/>
                </a:moveTo>
                <a:lnTo>
                  <a:pt x="89439" y="1470482"/>
                </a:lnTo>
                <a:lnTo>
                  <a:pt x="178878" y="1327110"/>
                </a:lnTo>
                <a:lnTo>
                  <a:pt x="268318" y="1191090"/>
                </a:lnTo>
                <a:lnTo>
                  <a:pt x="357757" y="1062423"/>
                </a:lnTo>
                <a:lnTo>
                  <a:pt x="447196" y="941109"/>
                </a:lnTo>
                <a:lnTo>
                  <a:pt x="536636" y="827146"/>
                </a:lnTo>
                <a:lnTo>
                  <a:pt x="626075" y="720536"/>
                </a:lnTo>
                <a:lnTo>
                  <a:pt x="715515" y="621279"/>
                </a:lnTo>
                <a:lnTo>
                  <a:pt x="804954" y="529374"/>
                </a:lnTo>
                <a:lnTo>
                  <a:pt x="894393" y="444821"/>
                </a:lnTo>
                <a:lnTo>
                  <a:pt x="983833" y="367621"/>
                </a:lnTo>
                <a:lnTo>
                  <a:pt x="1073272" y="297773"/>
                </a:lnTo>
                <a:lnTo>
                  <a:pt x="1162711" y="235277"/>
                </a:lnTo>
                <a:lnTo>
                  <a:pt x="1252151" y="180134"/>
                </a:lnTo>
                <a:lnTo>
                  <a:pt x="1341590" y="132343"/>
                </a:lnTo>
                <a:lnTo>
                  <a:pt x="1431030" y="91905"/>
                </a:lnTo>
                <a:lnTo>
                  <a:pt x="1520469" y="58819"/>
                </a:lnTo>
                <a:lnTo>
                  <a:pt x="1609908" y="33086"/>
                </a:lnTo>
                <a:lnTo>
                  <a:pt x="1699348" y="14705"/>
                </a:lnTo>
                <a:lnTo>
                  <a:pt x="1788787" y="3676"/>
                </a:lnTo>
                <a:lnTo>
                  <a:pt x="1878227" y="0"/>
                </a:lnTo>
                <a:lnTo>
                  <a:pt x="1967666" y="3676"/>
                </a:lnTo>
                <a:lnTo>
                  <a:pt x="2057105" y="14705"/>
                </a:lnTo>
                <a:lnTo>
                  <a:pt x="2146545" y="33086"/>
                </a:lnTo>
                <a:lnTo>
                  <a:pt x="2235984" y="58819"/>
                </a:lnTo>
                <a:lnTo>
                  <a:pt x="2325423" y="91905"/>
                </a:lnTo>
                <a:lnTo>
                  <a:pt x="2414863" y="132343"/>
                </a:lnTo>
                <a:lnTo>
                  <a:pt x="2504302" y="180134"/>
                </a:lnTo>
                <a:lnTo>
                  <a:pt x="2593742" y="235277"/>
                </a:lnTo>
                <a:lnTo>
                  <a:pt x="2683181" y="297773"/>
                </a:lnTo>
                <a:lnTo>
                  <a:pt x="2772620" y="367621"/>
                </a:lnTo>
                <a:lnTo>
                  <a:pt x="2862060" y="444821"/>
                </a:lnTo>
                <a:lnTo>
                  <a:pt x="2951499" y="529374"/>
                </a:lnTo>
                <a:lnTo>
                  <a:pt x="3040938" y="621279"/>
                </a:lnTo>
                <a:lnTo>
                  <a:pt x="3130378" y="720536"/>
                </a:lnTo>
                <a:lnTo>
                  <a:pt x="3219817" y="827146"/>
                </a:lnTo>
                <a:lnTo>
                  <a:pt x="3309257" y="941109"/>
                </a:lnTo>
                <a:lnTo>
                  <a:pt x="3398696" y="1062423"/>
                </a:lnTo>
                <a:lnTo>
                  <a:pt x="3488135" y="1191090"/>
                </a:lnTo>
                <a:lnTo>
                  <a:pt x="3577575" y="1327110"/>
                </a:lnTo>
                <a:lnTo>
                  <a:pt x="3667014" y="1470482"/>
                </a:lnTo>
                <a:lnTo>
                  <a:pt x="3756454" y="1621207"/>
                </a:lnTo>
              </a:path>
            </a:pathLst>
          </a:custGeom>
          <a:noFill/>
          <a:ln w="381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1325880" y="4368113"/>
            <a:ext cx="1878227" cy="0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204107" y="4368113"/>
            <a:ext cx="0" cy="1621207"/>
          </a:xfrm>
          <a:prstGeom prst="line">
            <a:avLst/>
          </a:prstGeom>
          <a:ln w="17780">
            <a:solidFill>
              <a:srgbClr val="555B6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" y="4212665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$160,000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9767" y="60807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7994" y="60807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1600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2194560"/>
            <a:ext cx="3977639" cy="329184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42048" y="2395728"/>
            <a:ext cx="3611880" cy="2880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1" i="0">
                <a:solidFill>
                  <a:srgbClr val="0B2B4E"/>
                </a:solidFill>
                <a:latin typeface="Calibri"/>
              </a:rPr>
              <a:t>Demand: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Q = 1,600 − 4P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1" i="0">
                <a:solidFill>
                  <a:srgbClr val="0B2B4E"/>
                </a:solidFill>
                <a:latin typeface="Calibri"/>
              </a:rPr>
              <a:t>Inverse demand: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P = 400 − Q/4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1" i="0">
                <a:solidFill>
                  <a:srgbClr val="0B2B4E"/>
                </a:solidFill>
                <a:latin typeface="Calibri"/>
              </a:rPr>
              <a:t>Total revenue: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TR = P · Q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B2B4E"/>
                </a:solidFill>
                <a:latin typeface="Calibri"/>
              </a:rPr>
              <a:t>Plug in for P: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1">
                <a:solidFill>
                  <a:srgbClr val="0B2B4E"/>
                </a:solidFill>
                <a:latin typeface="Calibri"/>
              </a:rPr>
              <a:t>TR = (400 − Q/4) · Q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1">
                <a:solidFill>
                  <a:srgbClr val="E09F3E"/>
                </a:solidFill>
                <a:latin typeface="Calibri"/>
              </a:rPr>
              <a:t>      = 400Q − Q²/4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Effect of a Price Change on Total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2194560" cy="2011680"/>
          </a:xfrm>
          <a:prstGeom prst="rect">
            <a:avLst/>
          </a:prstGeom>
          <a:solidFill>
            <a:srgbClr val="F6E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438144"/>
            <a:ext cx="1645920" cy="402335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548640" cy="2011680"/>
          </a:xfrm>
          <a:prstGeom prst="rect">
            <a:avLst/>
          </a:prstGeom>
          <a:solidFill>
            <a:srgbClr val="6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1097280" y="1664208"/>
            <a:ext cx="0" cy="418795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5852160"/>
            <a:ext cx="576072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5527" y="129844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594360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2231136"/>
            <a:ext cx="4937760" cy="3621024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" y="3282696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P₀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6850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P₁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9436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B2B4E"/>
                </a:solidFill>
                <a:latin typeface="Calibri"/>
              </a:rPr>
              <a:t>Q₀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9436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B2B4E"/>
                </a:solidFill>
                <a:latin typeface="Calibri"/>
              </a:rPr>
              <a:t>Q₁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8970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rgbClr val="0B2B4E"/>
                </a:solidFill>
                <a:latin typeface="Calibri"/>
              </a:rPr>
              <a:t>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1">
                <a:solidFill>
                  <a:srgbClr val="0B2B4E"/>
                </a:solidFill>
                <a:latin typeface="Calibri"/>
              </a:rPr>
              <a:t>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194560"/>
            <a:ext cx="502920" cy="38404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210312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B2B4E"/>
                </a:solidFill>
                <a:latin typeface="Calibri"/>
              </a:rPr>
              <a:t>Reduction in </a:t>
            </a:r>
            <a:r>
              <a:rPr sz="2000" b="0" i="1">
                <a:solidFill>
                  <a:srgbClr val="0B2B4E"/>
                </a:solidFill>
                <a:latin typeface="Calibri"/>
              </a:rPr>
              <a:t>TR</a:t>
            </a:r>
            <a:r>
              <a:rPr sz="2000" b="0" i="0">
                <a:solidFill>
                  <a:srgbClr val="0B2B4E"/>
                </a:solidFill>
                <a:latin typeface="Calibri"/>
              </a:rPr>
              <a:t> from a lower price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00400"/>
            <a:ext cx="502920" cy="384048"/>
          </a:xfrm>
          <a:prstGeom prst="rect">
            <a:avLst/>
          </a:prstGeom>
          <a:solidFill>
            <a:srgbClr val="6E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82127" y="310896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B2B4E"/>
                </a:solidFill>
                <a:latin typeface="Calibri"/>
              </a:rPr>
              <a:t>Increase in </a:t>
            </a:r>
            <a:r>
              <a:rPr sz="2000" b="0" i="1">
                <a:solidFill>
                  <a:srgbClr val="0B2B4E"/>
                </a:solidFill>
                <a:latin typeface="Calibri"/>
              </a:rPr>
              <a:t>TR</a:t>
            </a:r>
            <a:r>
              <a:rPr sz="2000" b="0" i="0">
                <a:solidFill>
                  <a:srgbClr val="0B2B4E"/>
                </a:solidFill>
                <a:latin typeface="Calibri"/>
              </a:rPr>
              <a:t> from higher volume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4480560"/>
            <a:ext cx="3291840" cy="86868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400" b="1" i="0">
                <a:solidFill>
                  <a:srgbClr val="0B2B4E"/>
                </a:solidFill>
                <a:latin typeface="Calibri"/>
              </a:rPr>
              <a:t>Which is bigger?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Effect of a Price Change on Total Revenue: It Depends on E</a:t>
            </a:r>
            <a:r>
              <a:rPr sz="3000" b="1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60320" y="1481328"/>
            <a:ext cx="0" cy="235915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3840480"/>
            <a:ext cx="585216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67711" y="120700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 dirty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393192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1865376"/>
            <a:ext cx="5020055" cy="1975104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70348" y="2852928"/>
            <a:ext cx="0" cy="987552"/>
          </a:xfrm>
          <a:prstGeom prst="line">
            <a:avLst/>
          </a:prstGeom>
          <a:ln w="1778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90103" y="356616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8" name="Right Brace 17"/>
          <p:cNvSpPr/>
          <p:nvPr/>
        </p:nvSpPr>
        <p:spPr>
          <a:xfrm rot="17488607">
            <a:off x="3717590" y="854826"/>
            <a:ext cx="295148" cy="2668634"/>
          </a:xfrm>
          <a:prstGeom prst="rightBrace">
            <a:avLst/>
          </a:prstGeom>
          <a:noFill/>
          <a:ln w="254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39" y="16824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0070C0"/>
                </a:solidFill>
                <a:latin typeface="Calibri"/>
              </a:rPr>
              <a:t>E</a:t>
            </a:r>
            <a:r>
              <a:rPr sz="1600" b="1" i="0" baseline="-25000" dirty="0">
                <a:solidFill>
                  <a:srgbClr val="0070C0"/>
                </a:solidFill>
                <a:latin typeface="Calibri"/>
              </a:rPr>
              <a:t>D</a:t>
            </a:r>
            <a:r>
              <a:rPr sz="1600" b="1" i="0" dirty="0">
                <a:solidFill>
                  <a:srgbClr val="0070C0"/>
                </a:solidFill>
                <a:latin typeface="Calibri"/>
              </a:rPr>
              <a:t> &lt; −1   elastic</a:t>
            </a:r>
          </a:p>
        </p:txBody>
      </p:sp>
      <p:sp>
        <p:nvSpPr>
          <p:cNvPr id="20" name="Right Brace 19"/>
          <p:cNvSpPr/>
          <p:nvPr/>
        </p:nvSpPr>
        <p:spPr>
          <a:xfrm rot="17488607">
            <a:off x="6257346" y="1879504"/>
            <a:ext cx="292608" cy="2602951"/>
          </a:xfrm>
          <a:prstGeom prst="rightBrace">
            <a:avLst/>
          </a:prstGeom>
          <a:noFill/>
          <a:ln w="254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66446" y="270348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0070C0"/>
                </a:solidFill>
                <a:latin typeface="Calibri"/>
              </a:rPr>
              <a:t>−1 &lt; E</a:t>
            </a:r>
            <a:r>
              <a:rPr sz="1600" b="1" i="0" baseline="-25000" dirty="0">
                <a:solidFill>
                  <a:srgbClr val="0070C0"/>
                </a:solidFill>
                <a:latin typeface="Calibri"/>
              </a:rPr>
              <a:t>D</a:t>
            </a:r>
            <a:r>
              <a:rPr sz="1600" b="1" i="0" dirty="0">
                <a:solidFill>
                  <a:srgbClr val="0070C0"/>
                </a:solidFill>
                <a:latin typeface="Calibri"/>
              </a:rPr>
              <a:t> &lt; 0   inelastic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957" y="221742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C0504D"/>
                </a:solidFill>
                <a:latin typeface="Calibri"/>
              </a:rPr>
              <a:t>E</a:t>
            </a:r>
            <a:r>
              <a:rPr sz="1600" b="1" i="0" baseline="-25000" dirty="0">
                <a:solidFill>
                  <a:srgbClr val="C0504D"/>
                </a:solidFill>
                <a:latin typeface="Calibri"/>
              </a:rPr>
              <a:t>D</a:t>
            </a:r>
            <a:r>
              <a:rPr sz="1600" b="1" i="0" dirty="0">
                <a:solidFill>
                  <a:srgbClr val="C0504D"/>
                </a:solidFill>
                <a:latin typeface="Calibri"/>
              </a:rPr>
              <a:t> = −1</a:t>
            </a: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 flipH="1">
            <a:off x="5098237" y="2592325"/>
            <a:ext cx="80646" cy="234268"/>
          </a:xfrm>
          <a:prstGeom prst="line">
            <a:avLst/>
          </a:prstGeom>
          <a:ln w="22225">
            <a:solidFill>
              <a:srgbClr val="C050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560320" y="3950208"/>
            <a:ext cx="0" cy="222199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0320" y="6172200"/>
            <a:ext cx="585216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10727" y="626364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sp>
        <p:nvSpPr>
          <p:cNvPr id="27" name="Freeform 26"/>
          <p:cNvSpPr/>
          <p:nvPr/>
        </p:nvSpPr>
        <p:spPr>
          <a:xfrm>
            <a:off x="2560320" y="4436268"/>
            <a:ext cx="5020055" cy="1735932"/>
          </a:xfrm>
          <a:custGeom>
            <a:avLst/>
            <a:gdLst/>
            <a:ahLst/>
            <a:cxnLst/>
            <a:rect l="l" t="t" r="r" b="b"/>
            <a:pathLst>
              <a:path w="5020055" h="1735932">
                <a:moveTo>
                  <a:pt x="0" y="1735932"/>
                </a:moveTo>
                <a:lnTo>
                  <a:pt x="119525" y="1574541"/>
                </a:lnTo>
                <a:lnTo>
                  <a:pt x="239050" y="1421023"/>
                </a:lnTo>
                <a:lnTo>
                  <a:pt x="358575" y="1275378"/>
                </a:lnTo>
                <a:lnTo>
                  <a:pt x="478100" y="1137606"/>
                </a:lnTo>
                <a:lnTo>
                  <a:pt x="597625" y="1007706"/>
                </a:lnTo>
                <a:lnTo>
                  <a:pt x="717150" y="885679"/>
                </a:lnTo>
                <a:lnTo>
                  <a:pt x="836676" y="771525"/>
                </a:lnTo>
                <a:lnTo>
                  <a:pt x="956201" y="665244"/>
                </a:lnTo>
                <a:lnTo>
                  <a:pt x="1075726" y="566835"/>
                </a:lnTo>
                <a:lnTo>
                  <a:pt x="1195251" y="476299"/>
                </a:lnTo>
                <a:lnTo>
                  <a:pt x="1314776" y="393635"/>
                </a:lnTo>
                <a:lnTo>
                  <a:pt x="1434301" y="318845"/>
                </a:lnTo>
                <a:lnTo>
                  <a:pt x="1553826" y="251927"/>
                </a:lnTo>
                <a:lnTo>
                  <a:pt x="1673352" y="192882"/>
                </a:lnTo>
                <a:lnTo>
                  <a:pt x="1792877" y="141709"/>
                </a:lnTo>
                <a:lnTo>
                  <a:pt x="1912402" y="98409"/>
                </a:lnTo>
                <a:lnTo>
                  <a:pt x="2031927" y="62982"/>
                </a:lnTo>
                <a:lnTo>
                  <a:pt x="2151452" y="35427"/>
                </a:lnTo>
                <a:lnTo>
                  <a:pt x="2270977" y="15746"/>
                </a:lnTo>
                <a:lnTo>
                  <a:pt x="2390502" y="3937"/>
                </a:lnTo>
                <a:lnTo>
                  <a:pt x="2510028" y="0"/>
                </a:lnTo>
                <a:lnTo>
                  <a:pt x="2629553" y="3937"/>
                </a:lnTo>
                <a:lnTo>
                  <a:pt x="2749078" y="15746"/>
                </a:lnTo>
                <a:lnTo>
                  <a:pt x="2868603" y="35427"/>
                </a:lnTo>
                <a:lnTo>
                  <a:pt x="2988128" y="62982"/>
                </a:lnTo>
                <a:lnTo>
                  <a:pt x="3107653" y="98409"/>
                </a:lnTo>
                <a:lnTo>
                  <a:pt x="3227178" y="141709"/>
                </a:lnTo>
                <a:lnTo>
                  <a:pt x="3346703" y="192882"/>
                </a:lnTo>
                <a:lnTo>
                  <a:pt x="3466229" y="251927"/>
                </a:lnTo>
                <a:lnTo>
                  <a:pt x="3585754" y="318845"/>
                </a:lnTo>
                <a:lnTo>
                  <a:pt x="3705279" y="393635"/>
                </a:lnTo>
                <a:lnTo>
                  <a:pt x="3824804" y="476299"/>
                </a:lnTo>
                <a:lnTo>
                  <a:pt x="3944329" y="566835"/>
                </a:lnTo>
                <a:lnTo>
                  <a:pt x="4063854" y="665244"/>
                </a:lnTo>
                <a:lnTo>
                  <a:pt x="4183379" y="771525"/>
                </a:lnTo>
                <a:lnTo>
                  <a:pt x="4302905" y="885679"/>
                </a:lnTo>
                <a:lnTo>
                  <a:pt x="4422430" y="1007706"/>
                </a:lnTo>
                <a:lnTo>
                  <a:pt x="4541955" y="1137606"/>
                </a:lnTo>
                <a:lnTo>
                  <a:pt x="4661480" y="1275378"/>
                </a:lnTo>
                <a:lnTo>
                  <a:pt x="4781005" y="1421023"/>
                </a:lnTo>
                <a:lnTo>
                  <a:pt x="4900530" y="1574541"/>
                </a:lnTo>
                <a:lnTo>
                  <a:pt x="5020055" y="1735932"/>
                </a:lnTo>
              </a:path>
            </a:pathLst>
          </a:custGeom>
          <a:noFill/>
          <a:ln w="381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V="1">
            <a:off x="5070348" y="4436268"/>
            <a:ext cx="0" cy="1735932"/>
          </a:xfrm>
          <a:prstGeom prst="line">
            <a:avLst/>
          </a:prstGeom>
          <a:ln w="1778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29660" y="4414837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E09F3E"/>
                </a:solidFill>
                <a:latin typeface="Calibri"/>
              </a:rPr>
              <a:t>TR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To Assess a Price Change, Ask About Elasticity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B2B4E"/>
                </a:solidFill>
                <a:latin typeface="Calibri"/>
              </a:rPr>
              <a:t>To assess the effect of a price decrease on revenue, ask: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091672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105613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0B2B4E"/>
                </a:solidFill>
                <a:latin typeface="Calibri"/>
              </a:rPr>
              <a:t>Is the price reduction relatively LARGER than the rise in quantity sold?  </a:t>
            </a:r>
            <a:r>
              <a:rPr sz="2200" b="1" i="1">
                <a:solidFill>
                  <a:srgbClr val="0070C0"/>
                </a:solidFill>
                <a:latin typeface="Calibri"/>
              </a:rPr>
              <a:t>(demand inelastic)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→  Total revenue declines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1091672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6132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0B2B4E"/>
                </a:solidFill>
                <a:latin typeface="Calibri"/>
              </a:rPr>
              <a:t>Is the price reduction relatively SMALLER than the rise in quantity sold?  </a:t>
            </a:r>
            <a:r>
              <a:rPr sz="2200" b="1" i="1">
                <a:solidFill>
                  <a:srgbClr val="0070C0"/>
                </a:solidFill>
                <a:latin typeface="Calibri"/>
              </a:rPr>
              <a:t>(demand elastic)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→  Total revenue rises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Price Changes and Revenue: The Four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764792"/>
            <a:ext cx="10762488" cy="43342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828800"/>
          <a:ext cx="106344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% change in P</a:t>
                      </a:r>
                    </a:p>
                  </a:txBody>
                  <a:tcPr marL="109728" marR="73152" marT="36576" marB="36576" anchor="ctr">
                    <a:solidFill>
                      <a:srgbClr val="E09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Resulting % change in Q</a:t>
                      </a:r>
                    </a:p>
                  </a:txBody>
                  <a:tcPr marL="109728" marR="73152" marT="36576" marB="36576" anchor="ctr">
                    <a:solidFill>
                      <a:srgbClr val="E09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Demand is…</a:t>
                      </a:r>
                    </a:p>
                  </a:txBody>
                  <a:tcPr marL="109728" marR="73152" marT="36576" marB="36576" anchor="ctr">
                    <a:solidFill>
                      <a:srgbClr val="E09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Change in revenue</a:t>
                      </a:r>
                    </a:p>
                  </a:txBody>
                  <a:tcPr marL="109728" marR="73152" marT="36576" marB="36576" anchor="ctr">
                    <a:solidFill>
                      <a:srgbClr val="E09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00" b="0" i="1">
                          <a:solidFill>
                            <a:srgbClr val="0B2B4E"/>
                          </a:solidFill>
                          <a:latin typeface="Calibri"/>
                        </a:rPr>
                        <a:t>If P decreases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B2B4E"/>
                          </a:solidFill>
                          <a:latin typeface="Calibri"/>
                        </a:rPr>
                        <a:t>Q increases by MORE than P falls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70C0"/>
                          </a:solidFill>
                          <a:latin typeface="Calibri"/>
                        </a:rPr>
                        <a:t>Elastic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6E8B3D"/>
                          </a:solidFill>
                          <a:latin typeface="Calibri"/>
                        </a:rPr>
                        <a:t>Revenue increases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00" b="0" i="1">
                          <a:solidFill>
                            <a:srgbClr val="0B2B4E"/>
                          </a:solidFill>
                          <a:latin typeface="Calibri"/>
                        </a:rPr>
                        <a:t>If P decreases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B2B4E"/>
                          </a:solidFill>
                          <a:latin typeface="Calibri"/>
                        </a:rPr>
                        <a:t>Q increases by LESS than P falls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70C0"/>
                          </a:solidFill>
                          <a:latin typeface="Calibri"/>
                        </a:rPr>
                        <a:t>Inelastic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C0504D"/>
                          </a:solidFill>
                          <a:latin typeface="Calibri"/>
                        </a:rPr>
                        <a:t>Revenue decreases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00" b="0" i="1">
                          <a:solidFill>
                            <a:srgbClr val="0B2B4E"/>
                          </a:solidFill>
                          <a:latin typeface="Calibri"/>
                        </a:rPr>
                        <a:t>If P increases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B2B4E"/>
                          </a:solidFill>
                          <a:latin typeface="Calibri"/>
                        </a:rPr>
                        <a:t>Q decreases by MORE than P rises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70C0"/>
                          </a:solidFill>
                          <a:latin typeface="Calibri"/>
                        </a:rPr>
                        <a:t>Elastic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C0504D"/>
                          </a:solidFill>
                          <a:latin typeface="Calibri"/>
                        </a:rPr>
                        <a:t>Revenue decreases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800" b="0" i="1">
                          <a:solidFill>
                            <a:srgbClr val="0B2B4E"/>
                          </a:solidFill>
                          <a:latin typeface="Calibri"/>
                        </a:rPr>
                        <a:t>If P increases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B2B4E"/>
                          </a:solidFill>
                          <a:latin typeface="Calibri"/>
                        </a:rPr>
                        <a:t>Q decreases by LESS than P rises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70C0"/>
                          </a:solidFill>
                          <a:latin typeface="Calibri"/>
                        </a:rPr>
                        <a:t>Inelastic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6E8B3D"/>
                          </a:solidFill>
                          <a:latin typeface="Calibri"/>
                        </a:rPr>
                        <a:t>Revenue increases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Does a Price Cut Raise Revenue?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486400" cy="3566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Novo Nordisk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lowered its U.S. price for Ozempic and Wegovy under a deal with the White House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As a result, sales are forecasted to fall 5–13%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does this imply about the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elasticity of demand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?</a:t>
            </a:r>
          </a:p>
        </p:txBody>
      </p:sp>
      <p:pic>
        <p:nvPicPr>
          <p:cNvPr id="12" name="Picture 11" descr="n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2286000"/>
            <a:ext cx="4251960" cy="2880360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6675120" y="53035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0070C0"/>
                </a:solidFill>
                <a:latin typeface="Calibri"/>
                <a:hlinkClick r:id="rId3"/>
              </a:rPr>
              <a:t>Source: Pharmaceutical Technology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9509760" y="5897880"/>
            <a:ext cx="2377440" cy="50292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 i="0">
                <a:solidFill>
                  <a:srgbClr val="0B2B4E"/>
                </a:solidFill>
                <a:latin typeface="Calibri"/>
              </a:rPr>
              <a:t>Poll 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Is Demand Elastic or Inelastic?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459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Demand is: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468880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CDD3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200" b="0" i="0">
                <a:solidFill>
                  <a:srgbClr val="0B2B4E"/>
                </a:solidFill>
                <a:latin typeface="Calibri"/>
              </a:rPr>
              <a:t>Elastic</a:t>
            </a:r>
          </a:p>
        </p:txBody>
      </p:sp>
      <p:sp>
        <p:nvSpPr>
          <p:cNvPr id="13" name="Oval 12"/>
          <p:cNvSpPr/>
          <p:nvPr/>
        </p:nvSpPr>
        <p:spPr>
          <a:xfrm>
            <a:off x="9555480" y="2633472"/>
            <a:ext cx="457200" cy="457200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401568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CDD3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200" b="0" i="0">
                <a:solidFill>
                  <a:srgbClr val="0B2B4E"/>
                </a:solidFill>
                <a:latin typeface="Calibri"/>
              </a:rPr>
              <a:t>Inelastic</a:t>
            </a:r>
          </a:p>
        </p:txBody>
      </p:sp>
      <p:sp>
        <p:nvSpPr>
          <p:cNvPr id="15" name="Oval 14"/>
          <p:cNvSpPr/>
          <p:nvPr/>
        </p:nvSpPr>
        <p:spPr>
          <a:xfrm>
            <a:off x="9555480" y="3566160"/>
            <a:ext cx="457200" cy="457200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334256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CDD3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200" b="0" i="0">
                <a:solidFill>
                  <a:srgbClr val="0B2B4E"/>
                </a:solidFill>
                <a:latin typeface="Calibri"/>
              </a:rPr>
              <a:t>Unit elastic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4498848"/>
            <a:ext cx="457200" cy="457200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266944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CDD3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200" b="0" i="0">
                <a:solidFill>
                  <a:srgbClr val="0B2B4E"/>
                </a:solidFill>
                <a:latin typeface="Calibri"/>
              </a:rPr>
              <a:t>Not enough information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55480" y="5431536"/>
            <a:ext cx="457200" cy="457200"/>
          </a:xfrm>
          <a:prstGeom prst="ellipse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459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Demand 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6888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Elastic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34640"/>
            <a:ext cx="7863840" cy="310896"/>
          </a:xfrm>
          <a:prstGeom prst="roundRect">
            <a:avLst>
              <a:gd name="adj" fmla="val 35000"/>
            </a:avLst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9800" y="27980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5B66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2900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Inelastic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794760"/>
            <a:ext cx="7863840" cy="310896"/>
          </a:xfrm>
          <a:prstGeom prst="roundRect">
            <a:avLst>
              <a:gd name="adj" fmla="val 35000"/>
            </a:avLst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9800" y="375818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5B66"/>
                </a:solidFill>
                <a:latin typeface="Calibr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Unit elastic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54880"/>
            <a:ext cx="7863840" cy="310896"/>
          </a:xfrm>
          <a:prstGeom prst="roundRect">
            <a:avLst>
              <a:gd name="adj" fmla="val 35000"/>
            </a:avLst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471830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5B66"/>
                </a:solidFill>
                <a:latin typeface="Calibri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4924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Not enough information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715000"/>
            <a:ext cx="7863840" cy="310896"/>
          </a:xfrm>
          <a:prstGeom prst="roundRect">
            <a:avLst>
              <a:gd name="adj" fmla="val 35000"/>
            </a:avLst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29800" y="567842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55B66"/>
                </a:solidFill>
                <a:latin typeface="Calibri"/>
              </a:rPr>
              <a:t>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1060" y="1986279"/>
            <a:ext cx="1985827" cy="690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0" i="0">
                <a:solidFill>
                  <a:srgbClr val="0B2B4E"/>
                </a:solidFill>
                <a:latin typeface="Calibri"/>
              </a:rPr>
              <a:t>Demand is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6887" y="1986279"/>
            <a:ext cx="1511859" cy="690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0070C0"/>
                </a:solidFill>
                <a:latin typeface="Calibri"/>
              </a:rPr>
              <a:t>inelastic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1024128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0" i="0">
                <a:solidFill>
                  <a:srgbClr val="0B2B4E"/>
                </a:solidFill>
                <a:latin typeface="Calibri"/>
              </a:rPr>
              <a:t>A price cut caused total revenue to fall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0" i="0">
                <a:solidFill>
                  <a:srgbClr val="0B2B4E"/>
                </a:solidFill>
                <a:latin typeface="Calibri"/>
              </a:rPr>
              <a:t>The quantity response was too small to offset the price cut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1" i="0">
                <a:solidFill>
                  <a:srgbClr val="0070C0"/>
                </a:solidFill>
                <a:latin typeface="Calibri"/>
              </a:rPr>
              <a:t>Inelastic: </a:t>
            </a:r>
            <a:r>
              <a:rPr sz="2800" b="0" i="1">
                <a:solidFill>
                  <a:srgbClr val="0B2B4E"/>
                </a:solidFill>
                <a:latin typeface="Calibri"/>
              </a:rPr>
              <a:t>|E</a:t>
            </a:r>
            <a:r>
              <a:rPr sz="28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800" b="0" i="1">
                <a:solidFill>
                  <a:srgbClr val="0B2B4E"/>
                </a:solidFill>
                <a:latin typeface="Calibri"/>
              </a:rPr>
              <a:t>| &lt;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What About Profits?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45920"/>
            <a:ext cx="5715000" cy="86868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Profit  =  Revenue  − 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9418320" cy="3246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The price decrease caused total revenue to decrease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It also raised the quantity produced/sold  →  costs increase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So profits fell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Markets agreed: </a:t>
            </a:r>
            <a:r>
              <a:rPr sz="2400" b="0" i="0" u="sng">
                <a:solidFill>
                  <a:srgbClr val="0070C0"/>
                </a:solidFill>
                <a:latin typeface="Calibri"/>
                <a:hlinkClick r:id="rId2"/>
              </a:rPr>
              <a:t>Novo Nordisk shares tumbled ~18%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Elasticity and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10360152" cy="8229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Firms should not operate on the inelastic part of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23160"/>
            <a:ext cx="10058400" cy="3977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With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inelastic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demand, quantity reacts little, so raising price raises revenue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Quantity also falls, so variable costs fall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2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So firms can raise profits by raising prices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Example: 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a 2016 study put Uber's elasticity at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−0.4 (inelastic)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; it raised prices ~18%/yr (2018–2022) and revenue rose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With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elastic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demand, raising price lowers revenue and costs — the effect on profit is ambiguous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8.png"/>
          <p:cNvPicPr>
            <a:picLocks noChangeAspect="1"/>
          </p:cNvPicPr>
          <p:nvPr/>
        </p:nvPicPr>
        <p:blipFill>
          <a:blip r:embed="rId2">
            <a:alphaModFix amt="20000"/>
            <a:lum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Netflix 2014 Price Increase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10332720" cy="402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In 2014, Netflix raised its monthly price by $1, from $7.99 to $8.99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Then: 50 million subscribers, own-price elasticity of demand </a:t>
            </a:r>
            <a:r>
              <a:rPr sz="2600" b="1" i="0">
                <a:solidFill>
                  <a:srgbClr val="0070C0"/>
                </a:solidFill>
                <a:latin typeface="Calibri"/>
              </a:rPr>
              <a:t>≈ −2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Implications of the price increase for: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Number of subscriptions (quantitative)?  Revenue (qualitative)?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Profits (speculative)?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9509760" y="5897880"/>
            <a:ext cx="2377440" cy="50292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 i="0">
                <a:solidFill>
                  <a:srgbClr val="0B2B4E"/>
                </a:solidFill>
                <a:latin typeface="Calibri"/>
              </a:rPr>
              <a:t>Group discussion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Netflix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1" i="0">
                <a:solidFill>
                  <a:srgbClr val="0B2B4E"/>
                </a:solidFill>
                <a:latin typeface="Calibri"/>
              </a:rPr>
              <a:t>Subscriptions decline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 — by how much? Use Method 1 with 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E</a:t>
            </a:r>
            <a:r>
              <a:rPr sz="2200" b="1" i="0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 = </a:t>
            </a:r>
            <a:r>
              <a:rPr sz="2200" b="1" i="0">
                <a:solidFill>
                  <a:srgbClr val="0070C0"/>
                </a:solidFill>
                <a:latin typeface="Calibri"/>
              </a:rPr>
              <a:t>−2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414996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0" i="0">
                <a:solidFill>
                  <a:srgbClr val="0B2B4E"/>
                </a:solidFill>
                <a:latin typeface="Calibri"/>
              </a:rPr>
              <a:t>E</a:t>
            </a:r>
            <a:r>
              <a:rPr sz="2700" b="0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9476" y="2560320"/>
            <a:ext cx="207381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857" y="2348202"/>
            <a:ext cx="636895" cy="449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13" b="0" i="0">
                <a:solidFill>
                  <a:srgbClr val="0B2B4E"/>
                </a:solidFill>
                <a:latin typeface="Calibri"/>
              </a:rPr>
              <a:t>%ΔQ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857" y="2871193"/>
            <a:ext cx="636895" cy="449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13" b="0" i="0">
                <a:solidFill>
                  <a:srgbClr val="0B2B4E"/>
                </a:solidFill>
                <a:latin typeface="Calibri"/>
              </a:rPr>
              <a:t>%ΔP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76857" y="2834640"/>
            <a:ext cx="600319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13752" y="2560320"/>
            <a:ext cx="207381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1133" y="2348202"/>
            <a:ext cx="786616" cy="449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13" b="0" i="0">
                <a:solidFill>
                  <a:srgbClr val="0B2B4E"/>
                </a:solidFill>
                <a:latin typeface="Calibri"/>
              </a:rPr>
              <a:t>%ΔQ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1133" y="2871193"/>
            <a:ext cx="786616" cy="449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13" b="0" i="0">
                <a:solidFill>
                  <a:srgbClr val="0B2B4E"/>
                </a:solidFill>
                <a:latin typeface="Calibri"/>
              </a:rPr>
              <a:t>12.5%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21133" y="2834640"/>
            <a:ext cx="750040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07749" y="2560320"/>
            <a:ext cx="707046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0" i="0">
                <a:solidFill>
                  <a:srgbClr val="0B2B4E"/>
                </a:solidFill>
                <a:latin typeface="Calibri"/>
              </a:rPr>
              <a:t>=  −2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where  %ΔP = (8.99 − 7.99) / 7.99 = +12.5%,   so   %ΔQ = −25%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06070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→  a </a:t>
            </a:r>
            <a:r>
              <a:rPr sz="2200" b="1" i="0">
                <a:solidFill>
                  <a:srgbClr val="0070C0"/>
                </a:solidFill>
                <a:latin typeface="Calibri"/>
              </a:rPr>
              <a:t>25% decline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 in subscriptions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1" i="0">
                <a:solidFill>
                  <a:srgbClr val="0B2B4E"/>
                </a:solidFill>
                <a:latin typeface="Calibri"/>
              </a:rPr>
              <a:t>Revenue: 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demand is </a:t>
            </a:r>
            <a:r>
              <a:rPr sz="2200" b="1" i="0">
                <a:solidFill>
                  <a:srgbClr val="0070C0"/>
                </a:solidFill>
                <a:latin typeface="Calibri"/>
              </a:rPr>
              <a:t>elastic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, so quantity outweighs price  →  revenue falls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1" i="0">
                <a:solidFill>
                  <a:srgbClr val="0B2B4E"/>
                </a:solidFill>
                <a:latin typeface="Calibri"/>
              </a:rPr>
              <a:t>Profits: 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fewer subscribers, near-zero cost savings  →  profits likely fell too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0B2B4E"/>
                </a:solidFill>
                <a:latin typeface="Calibri"/>
              </a:rPr>
              <a:t>Why Is McDonald's Cutting Prices?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18</a:t>
            </a:r>
          </a:p>
        </p:txBody>
      </p:sp>
      <p:pic>
        <p:nvPicPr>
          <p:cNvPr id="11" name="Picture 10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463040"/>
            <a:ext cx="5943600" cy="186317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1097280" y="361188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does this suggest about its demand?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How did it persuade franchisees to adopt the cuts?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does this reveal about demand across locations?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are the implications for revenue and profit given a franchise's </a:t>
            </a:r>
            <a:r>
              <a:rPr sz="2400" b="1" i="0">
                <a:solidFill>
                  <a:srgbClr val="0070C0"/>
                </a:solidFill>
                <a:latin typeface="Calibri"/>
              </a:rPr>
              <a:t>E</a:t>
            </a:r>
            <a:r>
              <a:rPr sz="2400" b="1" i="0" baseline="-25000">
                <a:solidFill>
                  <a:srgbClr val="0070C0"/>
                </a:solidFill>
                <a:latin typeface="Calibri"/>
              </a:rPr>
              <a:t>D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1.png"/>
          <p:cNvPicPr>
            <a:picLocks noChangeAspect="1"/>
          </p:cNvPicPr>
          <p:nvPr/>
        </p:nvPicPr>
        <p:blipFill>
          <a:blip r:embed="rId2">
            <a:alphaModFix amt="16000"/>
            <a:lum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Elasticity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Lottery Sales, Revisited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In 2024 the Massachusetts State Lottery raised ticket prices from $2 to $5</a:t>
            </a: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Weekly ticket sales fell from 142,170 to 100,297</a:t>
            </a: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We computed E</a:t>
            </a:r>
            <a:r>
              <a:rPr sz="2600" b="0" i="0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600" b="0" i="0">
                <a:solidFill>
                  <a:srgbClr val="0B2B4E"/>
                </a:solidFill>
                <a:latin typeface="Calibri"/>
              </a:rPr>
              <a:t> = </a:t>
            </a:r>
            <a:r>
              <a:rPr sz="2600" b="1" i="0">
                <a:solidFill>
                  <a:srgbClr val="0070C0"/>
                </a:solidFill>
                <a:latin typeface="Calibri"/>
              </a:rPr>
              <a:t>−0.2</a:t>
            </a:r>
          </a:p>
          <a:p>
            <a:pPr marL="274320" indent="-237744"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>
                <a:solidFill>
                  <a:srgbClr val="0B2B4E"/>
                </a:solidFill>
                <a:latin typeface="Calibri"/>
              </a:rPr>
              <a:t>Is the report right that revenue rises when the price went from $2 to $5?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20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7063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49624"/>
            <a:ext cx="10561320" cy="914400"/>
          </a:xfrm>
          <a:prstGeom prst="roundRect">
            <a:avLst>
              <a:gd name="adj" fmla="val 14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67911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How own-price elasticity drives total revenue, and how to find </a:t>
            </a:r>
            <a:r>
              <a:rPr sz="1600" b="1" i="0">
                <a:solidFill>
                  <a:srgbClr val="0B2B4E"/>
                </a:solidFill>
                <a:latin typeface="Calibri"/>
              </a:rPr>
              <a:t>marginal revenue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6519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Why Do We Care About Marginal Revenue?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10149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0" i="0">
                <a:solidFill>
                  <a:srgbClr val="0B2B4E"/>
                </a:solidFill>
                <a:latin typeface="Calibri"/>
              </a:rPr>
              <a:t>General objective: maximize </a:t>
            </a:r>
            <a:r>
              <a:rPr sz="2300" b="1" i="0">
                <a:solidFill>
                  <a:srgbClr val="0B2B4E"/>
                </a:solidFill>
                <a:latin typeface="Calibri"/>
              </a:rPr>
              <a:t>net benefits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000" b="0" i="0">
                <a:solidFill>
                  <a:srgbClr val="0B2B4E"/>
                </a:solidFill>
                <a:latin typeface="Calibri"/>
              </a:rPr>
              <a:t>Use marginal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697480"/>
            <a:ext cx="9262872" cy="658368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Net benefits are maximized where MB = MC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0" i="0">
                <a:solidFill>
                  <a:srgbClr val="0B2B4E"/>
                </a:solidFill>
                <a:latin typeface="Calibri"/>
              </a:rPr>
              <a:t>Firms' objective: maximize </a:t>
            </a:r>
            <a:r>
              <a:rPr sz="2300" b="1" i="0">
                <a:solidFill>
                  <a:srgbClr val="0B2B4E"/>
                </a:solidFill>
                <a:latin typeface="Calibri"/>
              </a:rPr>
              <a:t>profits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297680"/>
            <a:ext cx="9262872" cy="658368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Produce where Marginal Revenue (MR) = Marginal Cost (MC)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300" b="0" i="0">
                <a:solidFill>
                  <a:srgbClr val="0B2B4E"/>
                </a:solidFill>
                <a:latin typeface="Calibri"/>
              </a:rPr>
              <a:t>Today: how to compute </a:t>
            </a:r>
            <a:r>
              <a:rPr sz="2300" b="1" i="1">
                <a:solidFill>
                  <a:srgbClr val="0B2B4E"/>
                </a:solidFill>
                <a:latin typeface="Calibri"/>
              </a:rPr>
              <a:t>MR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Marginal Revenue: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Intuitively: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the additional revenue from selling one more unit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Mathematically: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 how much total revenue changes when quantity sold increases by one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56616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8330" y="3828288"/>
            <a:ext cx="569182" cy="609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0" i="0">
                <a:solidFill>
                  <a:srgbClr val="0B2B4E"/>
                </a:solidFill>
                <a:latin typeface="Calibri"/>
              </a:rPr>
              <a:t>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7512" y="3828288"/>
            <a:ext cx="226331" cy="609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3844" y="3592601"/>
            <a:ext cx="587632" cy="4998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60" b="0" i="0">
                <a:solidFill>
                  <a:srgbClr val="0B2B4E"/>
                </a:solidFill>
                <a:latin typeface="Calibri"/>
              </a:rPr>
              <a:t>ΔTR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3844" y="4173702"/>
            <a:ext cx="587632" cy="49987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60" b="0" i="0">
                <a:solidFill>
                  <a:srgbClr val="0B2B4E"/>
                </a:solidFill>
                <a:latin typeface="Calibri"/>
              </a:rPr>
              <a:t>ΔQ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3844" y="4133087"/>
            <a:ext cx="551057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400" b="1" i="0">
                <a:solidFill>
                  <a:srgbClr val="0B2B4E"/>
                </a:solidFill>
                <a:latin typeface="Calibri"/>
              </a:rPr>
              <a:t>How to compute </a:t>
            </a:r>
            <a:r>
              <a:rPr sz="2400" b="1" i="1">
                <a:solidFill>
                  <a:srgbClr val="0B2B4E"/>
                </a:solidFill>
                <a:latin typeface="Calibri"/>
              </a:rPr>
              <a:t>MR</a:t>
            </a:r>
            <a:r>
              <a:rPr sz="2400" b="0" i="0">
                <a:solidFill>
                  <a:srgbClr val="0B2B4E"/>
                </a:solidFill>
                <a:latin typeface="Calibri"/>
              </a:rPr>
              <a:t>: start from the demand function and use a 3-step method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3-Step Method to Derive MR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10149840" cy="3977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700" b="1" i="0">
                <a:solidFill>
                  <a:srgbClr val="0B2B4E"/>
                </a:solidFill>
                <a:latin typeface="Calibri"/>
              </a:rPr>
              <a:t>1.  Calculate inverse demand</a:t>
            </a:r>
          </a:p>
          <a:p>
            <a:pPr marL="585216" indent="-237744" algn="l">
              <a:lnSpc>
                <a:spcPct val="106000"/>
              </a:lnSpc>
              <a:spcBef>
                <a:spcPts val="0"/>
              </a:spcBef>
              <a:spcAft>
                <a:spcPts val="2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555B66"/>
                </a:solidFill>
                <a:latin typeface="Calibri"/>
              </a:rPr>
              <a:t>Rearrange demand so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P</a:t>
            </a:r>
            <a:r>
              <a:rPr sz="2400" b="0" i="0">
                <a:solidFill>
                  <a:srgbClr val="555B66"/>
                </a:solidFill>
                <a:latin typeface="Calibri"/>
              </a:rPr>
              <a:t> is a function of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Q</a:t>
            </a:r>
          </a:p>
          <a:p>
            <a:pPr marL="274320" indent="-237744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700" b="1" i="0">
                <a:solidFill>
                  <a:srgbClr val="0B2B4E"/>
                </a:solidFill>
                <a:latin typeface="Calibri"/>
              </a:rPr>
              <a:t>2.  Calculate total revenue</a:t>
            </a:r>
          </a:p>
          <a:p>
            <a:pPr marL="585216" indent="-237744" algn="l">
              <a:lnSpc>
                <a:spcPct val="106000"/>
              </a:lnSpc>
              <a:spcBef>
                <a:spcPts val="0"/>
              </a:spcBef>
              <a:spcAft>
                <a:spcPts val="2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1">
                <a:solidFill>
                  <a:srgbClr val="555B66"/>
                </a:solidFill>
                <a:latin typeface="Calibri"/>
              </a:rPr>
              <a:t>TR = P · Q</a:t>
            </a:r>
            <a:r>
              <a:rPr sz="2400" b="0" i="0">
                <a:solidFill>
                  <a:srgbClr val="555B66"/>
                </a:solidFill>
                <a:latin typeface="Calibri"/>
              </a:rPr>
              <a:t>; replace P with inverse demand so TR is a function of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Q</a:t>
            </a:r>
            <a:r>
              <a:rPr sz="2400" b="0" i="0">
                <a:solidFill>
                  <a:srgbClr val="555B66"/>
                </a:solidFill>
                <a:latin typeface="Calibri"/>
              </a:rPr>
              <a:t> only</a:t>
            </a:r>
          </a:p>
          <a:p>
            <a:pPr marL="274320" indent="-237744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700" b="1" i="0">
                <a:solidFill>
                  <a:srgbClr val="0B2B4E"/>
                </a:solidFill>
                <a:latin typeface="Calibri"/>
              </a:rPr>
              <a:t>3.  Calculate marginal revenue</a:t>
            </a:r>
          </a:p>
          <a:p>
            <a:pPr marL="585216" indent="-237744"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555B66"/>
                </a:solidFill>
                <a:latin typeface="Calibri"/>
              </a:rPr>
              <a:t>Take the derivative of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TR</a:t>
            </a:r>
            <a:r>
              <a:rPr sz="2400" b="0" i="0">
                <a:solidFill>
                  <a:srgbClr val="555B66"/>
                </a:solidFill>
                <a:latin typeface="Calibri"/>
              </a:rPr>
              <a:t> with respect to </a:t>
            </a:r>
            <a:r>
              <a:rPr sz="2400" b="0" i="1">
                <a:solidFill>
                  <a:srgbClr val="555B66"/>
                </a:solidFill>
                <a:latin typeface="Calibri"/>
              </a:rPr>
              <a:t>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5806440"/>
            <a:ext cx="5943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/>
            <a:r>
              <a:rPr sz="1500" b="1" i="1">
                <a:solidFill>
                  <a:srgbClr val="0B2B4E"/>
                </a:solidFill>
                <a:latin typeface="Calibri"/>
              </a:rPr>
              <a:t>Problem Set 2  ·  #4, #5  +  Teaching Note: Marginal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Calculus Refresher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26138"/>
            <a:ext cx="383887" cy="4332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32" b="0" i="0">
                <a:solidFill>
                  <a:srgbClr val="0B2B4E"/>
                </a:solidFill>
                <a:latin typeface="Calibri"/>
              </a:rPr>
              <a:t>ΔY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29759"/>
            <a:ext cx="383887" cy="4332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32" b="0" i="0">
                <a:solidFill>
                  <a:srgbClr val="0B2B4E"/>
                </a:solidFill>
                <a:latin typeface="Calibri"/>
              </a:rPr>
              <a:t>ΔX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194560"/>
            <a:ext cx="347311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64047" y="1930400"/>
            <a:ext cx="2232386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0">
                <a:solidFill>
                  <a:srgbClr val="0B2B4E"/>
                </a:solidFill>
                <a:latin typeface="Calibri"/>
              </a:rPr>
              <a:t>  : the change in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6433" y="1930400"/>
            <a:ext cx="197508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1">
                <a:solidFill>
                  <a:srgbClr val="0B2B4E"/>
                </a:solidFill>
                <a:latin typeface="Calibri"/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3942" y="1930400"/>
            <a:ext cx="2205001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0">
                <a:solidFill>
                  <a:srgbClr val="0B2B4E"/>
                </a:solidFill>
                <a:latin typeface="Calibri"/>
              </a:rPr>
              <a:t> with respect to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8944" y="1930400"/>
            <a:ext cx="207976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1">
                <a:solidFill>
                  <a:srgbClr val="0B2B4E"/>
                </a:solidFill>
                <a:latin typeface="Calibr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73400"/>
            <a:ext cx="1400288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0">
                <a:solidFill>
                  <a:srgbClr val="0B2B4E"/>
                </a:solidFill>
                <a:latin typeface="Calibri"/>
              </a:rPr>
              <a:t>Suppose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448" y="3073400"/>
            <a:ext cx="2069468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1">
                <a:solidFill>
                  <a:srgbClr val="0B2B4E"/>
                </a:solidFill>
                <a:latin typeface="Calibri"/>
              </a:rPr>
              <a:t>Y = a + bX + cX²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57858"/>
            <a:ext cx="383887" cy="4332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32" b="0" i="0">
                <a:solidFill>
                  <a:srgbClr val="0B2B4E"/>
                </a:solidFill>
                <a:latin typeface="Calibri"/>
              </a:rPr>
              <a:t>ΔY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61479"/>
            <a:ext cx="383887" cy="4332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32" b="0" i="0">
                <a:solidFill>
                  <a:srgbClr val="0B2B4E"/>
                </a:solidFill>
                <a:latin typeface="Calibri"/>
              </a:rPr>
              <a:t>ΔX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80160" y="4526280"/>
            <a:ext cx="347311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64047" y="4262120"/>
            <a:ext cx="499679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0">
                <a:solidFill>
                  <a:srgbClr val="0B2B4E"/>
                </a:solidFill>
                <a:latin typeface="Calibri"/>
              </a:rPr>
              <a:t>  =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3726" y="4262120"/>
            <a:ext cx="996269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1">
                <a:solidFill>
                  <a:srgbClr val="0B2B4E"/>
                </a:solidFill>
                <a:latin typeface="Calibri"/>
              </a:rPr>
              <a:t>b + 2cX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760720"/>
            <a:ext cx="779983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/>
            <a:r>
              <a:rPr sz="1500" b="1" i="1">
                <a:solidFill>
                  <a:srgbClr val="0B2B4E"/>
                </a:solidFill>
                <a:latin typeface="Calibri"/>
              </a:rPr>
              <a:t>See also the “Math Prep” on BruinLearn and the math review in the textbook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The 3-Step Method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12240"/>
            <a:ext cx="2535400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B2B4E"/>
                </a:solidFill>
                <a:latin typeface="Calibri"/>
              </a:rPr>
              <a:t>Suppose demand is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9800" y="1412240"/>
            <a:ext cx="1749637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1">
                <a:solidFill>
                  <a:srgbClr val="0B2B4E"/>
                </a:solidFill>
                <a:latin typeface="Calibri"/>
              </a:rPr>
              <a:t>Q = 1,600 − 4P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1.  Inverse demand (solve for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P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73680"/>
            <a:ext cx="1236726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C0504D"/>
                </a:solidFill>
                <a:latin typeface="Calibri"/>
              </a:rPr>
              <a:t>P = 400 −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8406" y="2585130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8406" y="3050011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8406" y="3017520"/>
            <a:ext cx="180375" cy="0"/>
          </a:xfrm>
          <a:prstGeom prst="line">
            <a:avLst/>
          </a:prstGeom>
          <a:ln w="20320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65357" y="2773680"/>
            <a:ext cx="243000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2.  Total revenue  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TR = P · Q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99560"/>
            <a:ext cx="1485715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C0504D"/>
                </a:solidFill>
                <a:latin typeface="Calibri"/>
              </a:rPr>
              <a:t>TR = (400 −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395" y="3911010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395" y="4375891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97395" y="4343400"/>
            <a:ext cx="180376" cy="0"/>
          </a:xfrm>
          <a:prstGeom prst="line">
            <a:avLst/>
          </a:prstGeom>
          <a:ln w="20320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14347" y="4099560"/>
            <a:ext cx="2213038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C0504D"/>
                </a:solidFill>
                <a:latin typeface="Calibri"/>
              </a:rPr>
              <a:t>Q) · Q = 400 · Q −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7385" y="3911010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7385" y="4375891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27385" y="4343400"/>
            <a:ext cx="180376" cy="0"/>
          </a:xfrm>
          <a:prstGeom prst="line">
            <a:avLst/>
          </a:prstGeom>
          <a:ln w="20320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4337" y="4099560"/>
            <a:ext cx="345989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Q²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3.  Marginal revenue  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MR = ΔTR / ΔQ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379720"/>
            <a:ext cx="1505360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C0504D"/>
                </a:solidFill>
                <a:latin typeface="Calibri"/>
              </a:rPr>
              <a:t>MR = 400 −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7040" y="5379720"/>
            <a:ext cx="243000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0041" y="5379720"/>
            <a:ext cx="1627548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C0504D"/>
                </a:solidFill>
                <a:latin typeface="Calibri"/>
              </a:rPr>
              <a:t> / 2  =  400 −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87590" y="5191170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87590" y="5656051"/>
            <a:ext cx="216951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C0504D"/>
                </a:solidFill>
                <a:latin typeface="Calibri"/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87590" y="5623560"/>
            <a:ext cx="180375" cy="0"/>
          </a:xfrm>
          <a:prstGeom prst="line">
            <a:avLst/>
          </a:prstGeom>
          <a:ln w="20320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04541" y="5379720"/>
            <a:ext cx="243000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Q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MR: Graphical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26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68680" y="1481328"/>
            <a:ext cx="0" cy="235915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" y="3840480"/>
            <a:ext cx="630936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7" y="1197864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 dirty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93192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1972769"/>
            <a:ext cx="5219494" cy="1867711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" y="1972769"/>
            <a:ext cx="2857672" cy="2045143"/>
          </a:xfrm>
          <a:prstGeom prst="line">
            <a:avLst/>
          </a:prstGeom>
          <a:ln w="38100">
            <a:solidFill>
              <a:srgbClr val="E09F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78427" y="2906624"/>
            <a:ext cx="0" cy="933856"/>
          </a:xfrm>
          <a:prstGeom prst="line">
            <a:avLst/>
          </a:prstGeom>
          <a:ln w="1778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3" y="1817321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087" y="39319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3834" y="39319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7902" y="35478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8007" y="276654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E09F3E"/>
                </a:solidFill>
                <a:latin typeface="Calibri"/>
              </a:rPr>
              <a:t>MR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9867" y="2572382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2B4E"/>
                </a:solidFill>
                <a:latin typeface="Calibri"/>
              </a:rPr>
              <a:t>E</a:t>
            </a:r>
            <a:r>
              <a:rPr sz="1600" b="1" i="0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1600" b="1" i="0">
                <a:solidFill>
                  <a:srgbClr val="0B2B4E"/>
                </a:solidFill>
                <a:latin typeface="Calibri"/>
              </a:rPr>
              <a:t> = −1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3767" y="190195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0070C0"/>
                </a:solidFill>
                <a:latin typeface="Calibri"/>
              </a:rPr>
              <a:t>Elastic portion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4956" y="2900577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0070C0"/>
                </a:solidFill>
                <a:latin typeface="Calibri"/>
              </a:rPr>
              <a:t>Inelastic portion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240280"/>
            <a:ext cx="3429000" cy="1874519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2377440"/>
            <a:ext cx="2971800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200" b="0" i="1">
                <a:solidFill>
                  <a:srgbClr val="0B2B4E"/>
                </a:solidFill>
                <a:latin typeface="Calibri"/>
              </a:rPr>
              <a:t>Q = 1,600 − 4P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200" b="0" i="1">
                <a:solidFill>
                  <a:srgbClr val="0B2B4E"/>
                </a:solidFill>
                <a:latin typeface="Calibri"/>
              </a:rPr>
              <a:t>P = 400 − Q/4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200" b="1" i="1">
                <a:solidFill>
                  <a:srgbClr val="E09F3E"/>
                </a:solidFill>
                <a:latin typeface="Calibri"/>
              </a:rPr>
              <a:t>TR = 400Q − Q²/4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1">
                <a:solidFill>
                  <a:srgbClr val="E09F3E"/>
                </a:solidFill>
                <a:latin typeface="Calibri"/>
              </a:rPr>
              <a:t>MR = 400 − Q/2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68680" y="3858768"/>
            <a:ext cx="0" cy="203911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" y="5897880"/>
            <a:ext cx="630936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238" y="3776472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0B2B4E"/>
                </a:solidFill>
                <a:latin typeface="Calibri"/>
              </a:rPr>
              <a:t>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5989320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sp>
        <p:nvSpPr>
          <p:cNvPr id="32" name="Freeform 31"/>
          <p:cNvSpPr/>
          <p:nvPr/>
        </p:nvSpPr>
        <p:spPr>
          <a:xfrm>
            <a:off x="868680" y="4276673"/>
            <a:ext cx="5219494" cy="1621207"/>
          </a:xfrm>
          <a:custGeom>
            <a:avLst/>
            <a:gdLst/>
            <a:ahLst/>
            <a:cxnLst/>
            <a:rect l="l" t="t" r="r" b="b"/>
            <a:pathLst>
              <a:path w="5219494" h="1621207">
                <a:moveTo>
                  <a:pt x="0" y="1621207"/>
                </a:moveTo>
                <a:lnTo>
                  <a:pt x="124273" y="1470482"/>
                </a:lnTo>
                <a:lnTo>
                  <a:pt x="248547" y="1327110"/>
                </a:lnTo>
                <a:lnTo>
                  <a:pt x="372821" y="1191090"/>
                </a:lnTo>
                <a:lnTo>
                  <a:pt x="497094" y="1062423"/>
                </a:lnTo>
                <a:lnTo>
                  <a:pt x="621368" y="941109"/>
                </a:lnTo>
                <a:lnTo>
                  <a:pt x="745642" y="827146"/>
                </a:lnTo>
                <a:lnTo>
                  <a:pt x="869915" y="720536"/>
                </a:lnTo>
                <a:lnTo>
                  <a:pt x="994189" y="621279"/>
                </a:lnTo>
                <a:lnTo>
                  <a:pt x="1118463" y="529374"/>
                </a:lnTo>
                <a:lnTo>
                  <a:pt x="1242736" y="444821"/>
                </a:lnTo>
                <a:lnTo>
                  <a:pt x="1367010" y="367621"/>
                </a:lnTo>
                <a:lnTo>
                  <a:pt x="1491284" y="297773"/>
                </a:lnTo>
                <a:lnTo>
                  <a:pt x="1615557" y="235277"/>
                </a:lnTo>
                <a:lnTo>
                  <a:pt x="1739831" y="180134"/>
                </a:lnTo>
                <a:lnTo>
                  <a:pt x="1864105" y="132343"/>
                </a:lnTo>
                <a:lnTo>
                  <a:pt x="1988378" y="91905"/>
                </a:lnTo>
                <a:lnTo>
                  <a:pt x="2112652" y="58819"/>
                </a:lnTo>
                <a:lnTo>
                  <a:pt x="2236926" y="33086"/>
                </a:lnTo>
                <a:lnTo>
                  <a:pt x="2361199" y="14705"/>
                </a:lnTo>
                <a:lnTo>
                  <a:pt x="2485473" y="3676"/>
                </a:lnTo>
                <a:lnTo>
                  <a:pt x="2609747" y="0"/>
                </a:lnTo>
                <a:lnTo>
                  <a:pt x="2734020" y="3676"/>
                </a:lnTo>
                <a:lnTo>
                  <a:pt x="2858294" y="14705"/>
                </a:lnTo>
                <a:lnTo>
                  <a:pt x="2982568" y="33086"/>
                </a:lnTo>
                <a:lnTo>
                  <a:pt x="3106841" y="58819"/>
                </a:lnTo>
                <a:lnTo>
                  <a:pt x="3231115" y="91905"/>
                </a:lnTo>
                <a:lnTo>
                  <a:pt x="3355389" y="132343"/>
                </a:lnTo>
                <a:lnTo>
                  <a:pt x="3479662" y="180134"/>
                </a:lnTo>
                <a:lnTo>
                  <a:pt x="3603936" y="235277"/>
                </a:lnTo>
                <a:lnTo>
                  <a:pt x="3728210" y="297773"/>
                </a:lnTo>
                <a:lnTo>
                  <a:pt x="3852483" y="367621"/>
                </a:lnTo>
                <a:lnTo>
                  <a:pt x="3976757" y="444821"/>
                </a:lnTo>
                <a:lnTo>
                  <a:pt x="4101031" y="529374"/>
                </a:lnTo>
                <a:lnTo>
                  <a:pt x="4225304" y="621279"/>
                </a:lnTo>
                <a:lnTo>
                  <a:pt x="4349578" y="720536"/>
                </a:lnTo>
                <a:lnTo>
                  <a:pt x="4473852" y="827146"/>
                </a:lnTo>
                <a:lnTo>
                  <a:pt x="4598125" y="941109"/>
                </a:lnTo>
                <a:lnTo>
                  <a:pt x="4722399" y="1062423"/>
                </a:lnTo>
                <a:lnTo>
                  <a:pt x="4846673" y="1191090"/>
                </a:lnTo>
                <a:lnTo>
                  <a:pt x="4970946" y="1327110"/>
                </a:lnTo>
                <a:lnTo>
                  <a:pt x="5095220" y="1470482"/>
                </a:lnTo>
                <a:lnTo>
                  <a:pt x="5219494" y="1621207"/>
                </a:lnTo>
              </a:path>
            </a:pathLst>
          </a:custGeom>
          <a:noFill/>
          <a:ln w="381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3478427" y="4276673"/>
            <a:ext cx="0" cy="1621207"/>
          </a:xfrm>
          <a:prstGeom prst="line">
            <a:avLst/>
          </a:prstGeom>
          <a:ln w="1778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4107" y="6117336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0259" y="437799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E09F3E"/>
                </a:solidFill>
                <a:latin typeface="Calibri"/>
              </a:rPr>
              <a:t>TR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Why Is MR Different From the Price?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10149840" cy="457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1">
                <a:solidFill>
                  <a:srgbClr val="0B2B4E"/>
                </a:solidFill>
                <a:latin typeface="Calibri"/>
              </a:rPr>
              <a:t>MR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: the additional revenue from selling one more unit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Sounds like the price! But…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Law of demand: you must </a:t>
            </a:r>
            <a:r>
              <a:rPr sz="2500" b="1" i="0">
                <a:solidFill>
                  <a:srgbClr val="0B2B4E"/>
                </a:solidFill>
                <a:latin typeface="Calibri"/>
              </a:rPr>
              <a:t>lower the price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to sell one more unit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That lower price applies to </a:t>
            </a:r>
            <a:r>
              <a:rPr sz="2500" b="1" i="1">
                <a:solidFill>
                  <a:srgbClr val="0B2B4E"/>
                </a:solidFill>
                <a:latin typeface="Calibri"/>
              </a:rPr>
              <a:t>all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units, not just the extra one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300" b="0" i="0">
                <a:solidFill>
                  <a:srgbClr val="555B66"/>
                </a:solidFill>
                <a:latin typeface="Calibri"/>
              </a:rPr>
              <a:t>The decision is not sequential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MR accounts for the loss on every other unit  ⇒  </a:t>
            </a:r>
            <a:r>
              <a:rPr sz="2500" b="1" i="1">
                <a:solidFill>
                  <a:srgbClr val="0B2B4E"/>
                </a:solidFill>
                <a:latin typeface="Calibri"/>
              </a:rPr>
              <a:t>MR &lt; 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What Is Marginal Revenue?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28</a:t>
            </a:r>
          </a:p>
        </p:txBody>
      </p:sp>
      <p:pic>
        <p:nvPicPr>
          <p:cNvPr id="11" name="Picture 10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0" y="1554480"/>
            <a:ext cx="6461760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29</a:t>
            </a:r>
          </a:p>
        </p:txBody>
      </p:sp>
      <p:pic>
        <p:nvPicPr>
          <p:cNvPr id="11" name="Picture 10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0" y="1554480"/>
            <a:ext cx="6461760" cy="48463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Deriving MR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12240"/>
            <a:ext cx="397434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B2B4E"/>
                </a:solidFill>
                <a:latin typeface="Calibri"/>
              </a:rPr>
              <a:t>If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1834" y="1412240"/>
            <a:ext cx="1602446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1">
                <a:solidFill>
                  <a:srgbClr val="0B2B4E"/>
                </a:solidFill>
                <a:latin typeface="Calibri"/>
              </a:rPr>
              <a:t>Q = 10 − 0.5P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280" y="1412240"/>
            <a:ext cx="1218172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B2B4E"/>
                </a:solidFill>
                <a:latin typeface="Calibri"/>
              </a:rPr>
              <a:t>,   what is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2453" y="1412240"/>
            <a:ext cx="444910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1">
                <a:solidFill>
                  <a:srgbClr val="0B2B4E"/>
                </a:solidFill>
                <a:latin typeface="Calibri"/>
              </a:rPr>
              <a:t>MR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7363" y="1412240"/>
            <a:ext cx="171910" cy="467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B2B4E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94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1.  Inverse demand: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73680"/>
            <a:ext cx="1447913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P = 20 − 2Q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2.  Total revenue: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99560"/>
            <a:ext cx="3787044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TR = (20 − 2Q) · Q = 20Q − 2Q²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3.  Derivative of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TR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 w.r.t.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Q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79720"/>
            <a:ext cx="1723691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rgbClr val="C0504D"/>
                </a:solidFill>
                <a:latin typeface="Calibri"/>
              </a:rPr>
              <a:t>MR = 20 − 4Q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sideout.png"/>
          <p:cNvPicPr>
            <a:picLocks noChangeAspect="1"/>
          </p:cNvPicPr>
          <p:nvPr/>
        </p:nvPicPr>
        <p:blipFill>
          <a:blip r:embed="rId2">
            <a:alphaModFix amt="17000"/>
            <a:lum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Inside Out 2's Marginal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Demand for streaming 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Inside Out 2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on Disney+</a:t>
            </a:r>
            <a:r>
              <a:rPr sz="1800" b="0" i="1">
                <a:solidFill>
                  <a:srgbClr val="555B66"/>
                </a:solidFill>
                <a:latin typeface="Calibri"/>
              </a:rPr>
              <a:t>    (Q: viewers, in millions)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743200"/>
            <a:ext cx="4251960" cy="128016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60788" y="3048000"/>
            <a:ext cx="1536267" cy="670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300" b="0" i="1">
                <a:solidFill>
                  <a:srgbClr val="0B2B4E"/>
                </a:solidFill>
                <a:latin typeface="Calibri"/>
              </a:rPr>
              <a:t>Q = 20 −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055" y="2788744"/>
            <a:ext cx="265221" cy="54985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06" b="0" i="0">
                <a:solidFill>
                  <a:srgbClr val="0B2B4E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7055" y="3427956"/>
            <a:ext cx="265221" cy="54985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06" b="0" i="0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97055" y="3383280"/>
            <a:ext cx="228646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62277" y="3048000"/>
            <a:ext cx="253071" cy="6705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300" b="0" i="1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What is the revenue-maximizing price?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Why might Disney care about </a:t>
            </a:r>
            <a:r>
              <a:rPr sz="2700" b="1" i="0">
                <a:solidFill>
                  <a:srgbClr val="0B2B4E"/>
                </a:solidFill>
                <a:latin typeface="Calibri"/>
              </a:rPr>
              <a:t>revenue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maximization?</a:t>
            </a:r>
          </a:p>
        </p:txBody>
      </p:sp>
      <p:sp>
        <p:nvSpPr>
          <p:cNvPr id="20" name="Parallelogram 19"/>
          <p:cNvSpPr/>
          <p:nvPr/>
        </p:nvSpPr>
        <p:spPr>
          <a:xfrm>
            <a:off x="9509760" y="5897880"/>
            <a:ext cx="2377440" cy="50292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 i="0">
                <a:solidFill>
                  <a:srgbClr val="0B2B4E"/>
                </a:solidFill>
                <a:latin typeface="Calibri"/>
              </a:rPr>
              <a:t>Group discussion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Marginal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Inside Out 2's Revenue-Maximizing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1060704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Revenue is maximized where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MR = 0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.  Compute MR using the 3-step method: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100" b="1" i="0">
                <a:solidFill>
                  <a:srgbClr val="0B2B4E"/>
                </a:solidFill>
                <a:latin typeface="Calibri"/>
              </a:rPr>
              <a:t>1.  Inverse demand: 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P = 40 − 2Q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100" b="1" i="0">
                <a:solidFill>
                  <a:srgbClr val="0B2B4E"/>
                </a:solidFill>
                <a:latin typeface="Calibri"/>
              </a:rPr>
              <a:t>2.  Total revenue: 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TR = 40Q − 2Q²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100" b="1" i="0">
                <a:solidFill>
                  <a:srgbClr val="0B2B4E"/>
                </a:solidFill>
                <a:latin typeface="Calibri"/>
              </a:rPr>
              <a:t>3.  Derivative:   </a:t>
            </a:r>
            <a:r>
              <a:rPr sz="2100" b="0" i="1">
                <a:solidFill>
                  <a:srgbClr val="0B2B4E"/>
                </a:solidFill>
                <a:latin typeface="Calibri"/>
              </a:rPr>
              <a:t>MR = 40 − 4Q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1" i="0">
                <a:solidFill>
                  <a:srgbClr val="0B2B4E"/>
                </a:solidFill>
                <a:latin typeface="Calibri"/>
              </a:rPr>
              <a:t>Set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MR = 0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100" b="0" i="0">
                <a:solidFill>
                  <a:srgbClr val="0B2B4E"/>
                </a:solidFill>
                <a:latin typeface="Calibri"/>
              </a:rPr>
              <a:t>40 − 4Q = 0    ⇒    Q = 10    ⇒    </a:t>
            </a:r>
            <a:r>
              <a:rPr sz="2100" b="1" i="1">
                <a:solidFill>
                  <a:srgbClr val="0B2B4E"/>
                </a:solidFill>
                <a:latin typeface="Calibri"/>
              </a:rPr>
              <a:t>P = $20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Revenue is maximized for </a:t>
            </a:r>
            <a:r>
              <a:rPr sz="2200" b="1" i="1">
                <a:solidFill>
                  <a:srgbClr val="0B2B4E"/>
                </a:solidFill>
                <a:latin typeface="Calibri"/>
              </a:rPr>
              <a:t>P = $20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200" b="0" i="0">
                <a:solidFill>
                  <a:srgbClr val="0B2B4E"/>
                </a:solidFill>
                <a:latin typeface="Calibri"/>
              </a:rPr>
              <a:t>Why might Disney care about </a:t>
            </a:r>
            <a:r>
              <a:rPr sz="2200" b="1" i="0">
                <a:solidFill>
                  <a:srgbClr val="0B2B4E"/>
                </a:solidFill>
                <a:latin typeface="Calibri"/>
              </a:rPr>
              <a:t>revenue</a:t>
            </a:r>
            <a:r>
              <a:rPr sz="2200" b="0" i="0">
                <a:solidFill>
                  <a:srgbClr val="0B2B4E"/>
                </a:solidFill>
                <a:latin typeface="Calibri"/>
              </a:rPr>
              <a:t> maximization?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100" b="0" i="0">
                <a:solidFill>
                  <a:srgbClr val="0B2B4E"/>
                </a:solidFill>
                <a:latin typeface="Calibri"/>
              </a:rPr>
              <a:t>Streaming: marginal cost ≈ 0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100" b="0" i="0">
                <a:solidFill>
                  <a:srgbClr val="0B2B4E"/>
                </a:solidFill>
                <a:latin typeface="Calibri"/>
              </a:rPr>
              <a:t>Profits are thus also maximized at </a:t>
            </a:r>
            <a:r>
              <a:rPr sz="2100" b="1" i="1">
                <a:solidFill>
                  <a:srgbClr val="0B2B4E"/>
                </a:solidFill>
                <a:latin typeface="Calibri"/>
              </a:rPr>
              <a:t>MR =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Outline of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78308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67335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The Law of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When price falls, quantity demanded rises — holding all else constant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7063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Elasticities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How responsive demand is to own price, income, and competitors' prices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977639"/>
            <a:ext cx="530352" cy="530352"/>
          </a:xfrm>
          <a:prstGeom prst="ellipse">
            <a:avLst/>
          </a:prstGeom>
          <a:solidFill>
            <a:srgbClr val="B0B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67911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0B5BC"/>
                </a:solidFill>
                <a:latin typeface="Calibri"/>
              </a:rPr>
              <a:t>Demand and Revenue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B0B5BC"/>
                </a:solidFill>
                <a:latin typeface="Calibri"/>
              </a:rPr>
              <a:t>How own-price elasticity drives total revenue, and marginal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46904"/>
            <a:ext cx="10561320" cy="914400"/>
          </a:xfrm>
          <a:prstGeom prst="roundRect">
            <a:avLst>
              <a:gd name="adj" fmla="val 14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5074920"/>
            <a:ext cx="530352" cy="530352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B2B4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65192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B2B4E"/>
                </a:solidFill>
                <a:latin typeface="Calibri"/>
              </a:rPr>
              <a:t>Demand Estimation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55B66"/>
                </a:solidFill>
                <a:latin typeface="Calibri"/>
              </a:rPr>
              <a:t>Measuring demand through market experiments and regression analysis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How to Estimate a Demand Curve?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10241280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Use regression analysis to estimate the relationship between price and quantity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Need data linking prices to quantities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0" i="0">
                <a:solidFill>
                  <a:srgbClr val="0B2B4E"/>
                </a:solidFill>
                <a:latin typeface="Calibri"/>
              </a:rPr>
              <a:t>Several approaches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500" b="0" i="0">
                <a:solidFill>
                  <a:srgbClr val="555B66"/>
                </a:solidFill>
                <a:latin typeface="Calibri"/>
              </a:rPr>
              <a:t>Transaction data (marketing firms, internet, store club cards)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500" b="0" i="0">
                <a:solidFill>
                  <a:srgbClr val="555B66"/>
                </a:solidFill>
                <a:latin typeface="Calibri"/>
              </a:rPr>
              <a:t>Surveys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500" b="1" i="0">
                <a:solidFill>
                  <a:srgbClr val="0B2B4E"/>
                </a:solidFill>
                <a:latin typeface="Calibri"/>
              </a:rPr>
              <a:t>Market experimentation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A/B Testing: What Is the Demand for This Product?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pic>
        <p:nvPicPr>
          <p:cNvPr id="11" name="Picture 10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733" y="1371600"/>
            <a:ext cx="3726052" cy="4983480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A/B Testing: Amazon “Experiments”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pic>
        <p:nvPicPr>
          <p:cNvPr id="11" name="Picture 10" descr="image14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30" y="1417320"/>
            <a:ext cx="9034259" cy="50292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Recent Amazon “Experiments”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pic>
        <p:nvPicPr>
          <p:cNvPr id="11" name="Picture 10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928" y="1371600"/>
            <a:ext cx="1979382" cy="1508760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12" name="Picture 11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480" y="3017520"/>
            <a:ext cx="6448558" cy="292608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274320" y="6126480"/>
            <a:ext cx="116403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070C0"/>
                </a:solidFill>
                <a:latin typeface="Calibri"/>
                <a:hlinkClick r:id="rId4"/>
              </a:rPr>
              <a:t>camelcamelcamel.com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Econometric Estimates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10332720" cy="4846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0">
                <a:solidFill>
                  <a:srgbClr val="0B2B4E"/>
                </a:solidFill>
                <a:latin typeface="Calibri"/>
              </a:rPr>
              <a:t>Description:  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combine economics, statistics, and mathematical model building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Develop hypotheses linking dependent variables (e.g., sales) to explanatory variables (e.g., price)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0">
                <a:solidFill>
                  <a:srgbClr val="0B2B4E"/>
                </a:solidFill>
                <a:latin typeface="Calibri"/>
              </a:rPr>
              <a:t>How:  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least squares regression analysis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Covered in detail in your Stats class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Today: a broad overview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you need here: interpret and use the </a:t>
            </a:r>
            <a:r>
              <a:rPr sz="2400" b="1" i="0">
                <a:solidFill>
                  <a:srgbClr val="0B2B4E"/>
                </a:solidFill>
                <a:latin typeface="Calibri"/>
              </a:rPr>
              <a:t>coefficients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Ordinary Least Squares: The Basic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3048" y="1417320"/>
            <a:ext cx="4572000" cy="9144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Q = a + b ·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10881360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1">
                <a:solidFill>
                  <a:srgbClr val="0B2B4E"/>
                </a:solidFill>
                <a:latin typeface="Calibri"/>
              </a:rPr>
              <a:t>Q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= dependent variable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1">
                <a:solidFill>
                  <a:srgbClr val="0B2B4E"/>
                </a:solidFill>
                <a:latin typeface="Calibri"/>
              </a:rPr>
              <a:t>P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= independent variable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1">
                <a:solidFill>
                  <a:srgbClr val="0B2B4E"/>
                </a:solidFill>
                <a:latin typeface="Calibri"/>
              </a:rPr>
              <a:t>a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= intercept with the y-axis (Q on y-axis)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1">
                <a:solidFill>
                  <a:srgbClr val="0B2B4E"/>
                </a:solidFill>
                <a:latin typeface="Calibri"/>
              </a:rPr>
              <a:t>b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 = slope of the regression line (inverse of the usual demand slope)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532120"/>
            <a:ext cx="6126480" cy="841248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57079" y="5699760"/>
            <a:ext cx="341078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B2B4E"/>
                </a:solidFill>
                <a:latin typeface="Calibri"/>
              </a:rPr>
              <a:t>E</a:t>
            </a:r>
            <a:r>
              <a:rPr sz="2400" b="0" i="0" baseline="-2500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8157" y="5699760"/>
            <a:ext cx="188380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B2B4E"/>
                </a:solidFill>
                <a:latin typeface="Calibri"/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6538" y="5511210"/>
            <a:ext cx="3978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ΔQ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6538" y="5976091"/>
            <a:ext cx="3978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ΔP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86538" y="5943600"/>
            <a:ext cx="361301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84415" y="5699760"/>
            <a:ext cx="251334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B2B4E"/>
                </a:solidFill>
                <a:latin typeface="Calibri"/>
              </a:rPr>
              <a:t> ·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750" y="5511210"/>
            <a:ext cx="2580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750" y="5976091"/>
            <a:ext cx="2580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750" y="5943600"/>
            <a:ext cx="221502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93828" y="5699760"/>
            <a:ext cx="326195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B2B4E"/>
                </a:solidFill>
                <a:latin typeface="Calibri"/>
              </a:rPr>
              <a:t> =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023" y="5699760"/>
            <a:ext cx="193292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0B2B4E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3315" y="5699760"/>
            <a:ext cx="251334" cy="487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B2B4E"/>
                </a:solidFill>
                <a:latin typeface="Calibri"/>
              </a:rPr>
              <a:t> ·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4650" y="5511210"/>
            <a:ext cx="2580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4650" y="5976091"/>
            <a:ext cx="258077" cy="3998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8" b="0" i="0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64650" y="5943600"/>
            <a:ext cx="221502" cy="0"/>
          </a:xfrm>
          <a:prstGeom prst="line">
            <a:avLst/>
          </a:prstGeom>
          <a:ln w="2032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Airline Ticket Experimentation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25880"/>
            <a:ext cx="4069079" cy="49103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697480" y="1371600"/>
          <a:ext cx="3977638" cy="500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8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Price ($)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Seats sold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250.00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265.00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265.00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230.00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225.00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225.00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230.00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235.00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250.00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0B2B4E"/>
                          </a:solidFill>
                          <a:latin typeface="Calibri"/>
                        </a:rPr>
                        <a:t>235.00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B2B4E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13" name="Picture 12" descr="plan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651760"/>
            <a:ext cx="3840480" cy="2641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First Pass: Eyeball the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371600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1">
                <a:solidFill>
                  <a:srgbClr val="0B2B4E"/>
                </a:solidFill>
                <a:latin typeface="Calibri"/>
              </a:rPr>
              <a:t>Scatterplot of Q versus P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1938527"/>
            <a:ext cx="0" cy="3822193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5760720"/>
            <a:ext cx="630936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3087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0023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6958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3" y="438607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3" y="316687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3" y="194767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072" y="590702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 dirty="0">
                <a:solidFill>
                  <a:srgbClr val="0B2B4E"/>
                </a:solidFill>
                <a:latin typeface="Calibri"/>
              </a:rPr>
              <a:t>Price ($)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62763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37427" y="2517647"/>
            <a:ext cx="4270952" cy="2511553"/>
          </a:xfrm>
          <a:prstGeom prst="line">
            <a:avLst/>
          </a:prstGeom>
          <a:ln w="3810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37427" y="2907791"/>
            <a:ext cx="4456645" cy="1633729"/>
          </a:xfrm>
          <a:prstGeom prst="line">
            <a:avLst/>
          </a:prstGeom>
          <a:ln w="38100">
            <a:solidFill>
              <a:srgbClr val="E09F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767966" y="4145280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60668" y="4901184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60668" y="4803648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839499" y="3681983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911031" y="2999232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46797" y="2365248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46797" y="3047999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982563" y="3364991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911031" y="4267200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75265" y="3681983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03732" y="3511296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839499" y="3145536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767966" y="3877056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839499" y="3486911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39499" y="2974847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375265" y="3218687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Least Squares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14400" y="1847088"/>
            <a:ext cx="0" cy="391363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5760720"/>
            <a:ext cx="594360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52256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650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1044" y="5852159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" y="435559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" y="310591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" y="185623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B4E"/>
                </a:solidFill>
                <a:latin typeface="Calibri"/>
              </a:rPr>
              <a:t>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8750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1" dirty="0">
                <a:solidFill>
                  <a:srgbClr val="0B2B4E"/>
                </a:solidFill>
                <a:latin typeface="Calibri"/>
              </a:rPr>
              <a:t>Price ($)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53619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1">
                <a:solidFill>
                  <a:srgbClr val="0B2B4E"/>
                </a:solidFill>
                <a:latin typeface="Calibri"/>
              </a:rPr>
              <a:t>Quantity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48256" y="2930694"/>
            <a:ext cx="4535424" cy="2131454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58793" y="3217621"/>
            <a:ext cx="0" cy="1068476"/>
          </a:xfrm>
          <a:prstGeom prst="line">
            <a:avLst/>
          </a:prstGeom>
          <a:ln w="22860">
            <a:solidFill>
              <a:srgbClr val="C0504D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67089" y="3511296"/>
            <a:ext cx="0" cy="321167"/>
          </a:xfrm>
          <a:prstGeom prst="line">
            <a:avLst/>
          </a:prstGeom>
          <a:ln w="22860">
            <a:solidFill>
              <a:srgbClr val="C0504D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348323" y="4106265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656619" y="4881067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56619" y="4781092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476126" y="3631387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03929" y="2931566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167831" y="2281732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167831" y="2981553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731732" y="3306470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03929" y="4231233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40028" y="3631387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912225" y="3456432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76126" y="3081528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348323" y="3831336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476126" y="3431438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476126" y="2906572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040028" y="3156508"/>
            <a:ext cx="109728" cy="109728"/>
          </a:xfrm>
          <a:prstGeom prst="ellipse">
            <a:avLst/>
          </a:prstGeom>
          <a:solidFill>
            <a:srgbClr val="E09F3E"/>
          </a:solidFill>
          <a:ln w="12700">
            <a:solidFill>
              <a:srgbClr val="0B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269480" y="2286000"/>
            <a:ext cx="44348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9F3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2395728"/>
            <a:ext cx="4069080" cy="2468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900" b="1" i="0">
                <a:solidFill>
                  <a:srgbClr val="0B2B4E"/>
                </a:solidFill>
                <a:latin typeface="Calibri"/>
              </a:rPr>
              <a:t>Least Squares Algorithm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900" b="0" i="0">
                <a:solidFill>
                  <a:srgbClr val="0B2B4E"/>
                </a:solidFill>
                <a:latin typeface="Calibri"/>
              </a:rPr>
              <a:t>1.  Calculate all vertical distances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900" b="0" i="0">
                <a:solidFill>
                  <a:srgbClr val="0B2B4E"/>
                </a:solidFill>
                <a:latin typeface="Calibri"/>
              </a:rPr>
              <a:t>2.  Square them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900" b="0" i="0">
                <a:solidFill>
                  <a:srgbClr val="0B2B4E"/>
                </a:solidFill>
                <a:latin typeface="Calibri"/>
              </a:rPr>
              <a:t>3.  Sum them over all data points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0B2B4E"/>
                </a:solidFill>
                <a:latin typeface="Calibri"/>
              </a:rPr>
              <a:t>4.  Choose the line that minimizes the sum of squares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Regression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17320"/>
            <a:ext cx="5760720" cy="23408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64408" y="1463040"/>
          <a:ext cx="5669279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4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Coefficient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2600" b="1" i="0">
                          <a:solidFill>
                            <a:srgbClr val="0B2B4E"/>
                          </a:solidFill>
                          <a:latin typeface="Calibri"/>
                        </a:rPr>
                        <a:t>Constant (intercept)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 i="0">
                          <a:solidFill>
                            <a:srgbClr val="0B2B4E"/>
                          </a:solidFill>
                          <a:latin typeface="Calibri"/>
                        </a:rPr>
                        <a:t>478.95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2600" b="1" i="0">
                          <a:solidFill>
                            <a:srgbClr val="0B2B4E"/>
                          </a:solidFill>
                          <a:latin typeface="Calibri"/>
                        </a:rPr>
                        <a:t>Own price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 i="0">
                          <a:solidFill>
                            <a:srgbClr val="0B2B4E"/>
                          </a:solidFill>
                          <a:latin typeface="Calibri"/>
                        </a:rPr>
                        <a:t>−1.64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520440" y="4114800"/>
            <a:ext cx="5166360" cy="96012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916" y="4285488"/>
            <a:ext cx="3033974" cy="609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0" i="1">
                <a:solidFill>
                  <a:srgbClr val="0B2B4E"/>
                </a:solidFill>
                <a:latin typeface="Calibri"/>
              </a:rPr>
              <a:t>Q = 478.95 − 1.64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100" b="1" i="1">
                <a:solidFill>
                  <a:srgbClr val="0B2B4E"/>
                </a:solidFill>
                <a:latin typeface="Calibri"/>
              </a:rPr>
              <a:t>Now that we have demand, we can compute MR!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Multivariate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1640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300" b="1" i="1">
                <a:solidFill>
                  <a:srgbClr val="0B2B4E"/>
                </a:solidFill>
                <a:latin typeface="Calibri"/>
              </a:rPr>
              <a:t>Incorporating other determinants of demand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1874519"/>
            <a:ext cx="6400800" cy="96012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3100" b="1" i="1">
                <a:solidFill>
                  <a:srgbClr val="FFFFFF"/>
                </a:solidFill>
                <a:latin typeface="Calibri"/>
              </a:rPr>
              <a:t>Q = a + b · P + c · P</a:t>
            </a:r>
            <a:r>
              <a:rPr sz="3100" b="1" i="1" baseline="-25000">
                <a:solidFill>
                  <a:srgbClr val="FFFFFF"/>
                </a:solidFill>
                <a:latin typeface="Calibri"/>
              </a:rPr>
              <a:t>c</a:t>
            </a:r>
            <a:r>
              <a:rPr sz="3100" b="1" i="1">
                <a:solidFill>
                  <a:srgbClr val="FFFFFF"/>
                </a:solidFill>
                <a:latin typeface="Calibri"/>
              </a:rPr>
              <a:t> + d ·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017520"/>
            <a:ext cx="630936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9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900" b="1" i="1">
                <a:solidFill>
                  <a:srgbClr val="0B2B4E"/>
                </a:solidFill>
                <a:latin typeface="Calibri"/>
              </a:rPr>
              <a:t>Q</a:t>
            </a:r>
            <a:r>
              <a:rPr sz="2900" b="0" i="0">
                <a:solidFill>
                  <a:srgbClr val="0B2B4E"/>
                </a:solidFill>
                <a:latin typeface="Calibri"/>
              </a:rPr>
              <a:t> = amount purchased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9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900" b="1" i="1">
                <a:solidFill>
                  <a:srgbClr val="0B2B4E"/>
                </a:solidFill>
                <a:latin typeface="Calibri"/>
              </a:rPr>
              <a:t>P</a:t>
            </a:r>
            <a:r>
              <a:rPr sz="2900" b="0" i="0">
                <a:solidFill>
                  <a:srgbClr val="0B2B4E"/>
                </a:solidFill>
                <a:latin typeface="Calibri"/>
              </a:rPr>
              <a:t> = own price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9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900" b="1" i="1">
                <a:solidFill>
                  <a:srgbClr val="0B2B4E"/>
                </a:solidFill>
                <a:latin typeface="Calibri"/>
              </a:rPr>
              <a:t>P</a:t>
            </a:r>
            <a:r>
              <a:rPr sz="2900" b="1" i="1" baseline="-25000">
                <a:solidFill>
                  <a:srgbClr val="0B2B4E"/>
                </a:solidFill>
                <a:latin typeface="Calibri"/>
              </a:rPr>
              <a:t>c</a:t>
            </a:r>
            <a:r>
              <a:rPr sz="2900" b="0" i="0">
                <a:solidFill>
                  <a:srgbClr val="0B2B4E"/>
                </a:solidFill>
                <a:latin typeface="Calibri"/>
              </a:rPr>
              <a:t> = competitor's price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900" b="1" i="1">
                <a:solidFill>
                  <a:srgbClr val="0B2B4E"/>
                </a:solidFill>
                <a:latin typeface="Calibri"/>
              </a:rPr>
              <a:t>Y</a:t>
            </a:r>
            <a:r>
              <a:rPr sz="2900" b="0" i="0">
                <a:solidFill>
                  <a:srgbClr val="0B2B4E"/>
                </a:solidFill>
                <a:latin typeface="Calibri"/>
              </a:rPr>
              <a:t> = income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Results With Added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783080"/>
            <a:ext cx="603504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27248" y="1828800"/>
          <a:ext cx="594360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Coefficient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64592" marT="25400" marB="25400" anchor="ctr">
                    <a:solidFill>
                      <a:srgbClr val="0B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B2B4E"/>
                          </a:solidFill>
                          <a:latin typeface="Calibri"/>
                        </a:rPr>
                        <a:t>Constant (intercept)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B2B4E"/>
                          </a:solidFill>
                          <a:latin typeface="Calibri"/>
                        </a:rPr>
                        <a:t>26.70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B2B4E"/>
                          </a:solidFill>
                          <a:latin typeface="Calibri"/>
                        </a:rPr>
                        <a:t>Own price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B2B4E"/>
                          </a:solidFill>
                          <a:latin typeface="Calibri"/>
                        </a:rPr>
                        <a:t>−2.13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B2B4E"/>
                          </a:solidFill>
                          <a:latin typeface="Calibri"/>
                        </a:rPr>
                        <a:t>Competitor's price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B2B4E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 marL="164592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B2B4E"/>
                          </a:solidFill>
                          <a:latin typeface="Calibri"/>
                        </a:rPr>
                        <a:t>Income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B2B4E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 marL="164592" marT="25400" marB="25400" anchor="ctr"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2606040" y="5166360"/>
            <a:ext cx="6995160" cy="896112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1298" y="5350256"/>
            <a:ext cx="4877210" cy="528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0" i="1">
                <a:solidFill>
                  <a:srgbClr val="0B2B4E"/>
                </a:solidFill>
                <a:latin typeface="Calibri"/>
              </a:rPr>
              <a:t>Q = 26.70 − 2.13 P + 1.04 P</a:t>
            </a:r>
            <a:r>
              <a:rPr sz="2600" b="0" i="1" baseline="-25000">
                <a:solidFill>
                  <a:srgbClr val="0B2B4E"/>
                </a:solidFill>
                <a:latin typeface="Calibri"/>
              </a:rPr>
              <a:t>c</a:t>
            </a:r>
            <a:r>
              <a:rPr sz="2600" b="0" i="1">
                <a:solidFill>
                  <a:srgbClr val="0B2B4E"/>
                </a:solidFill>
                <a:latin typeface="Calibri"/>
              </a:rPr>
              <a:t> + 3.10 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194560"/>
            <a:ext cx="5943600" cy="1051560"/>
          </a:xfrm>
          <a:prstGeom prst="roundRect">
            <a:avLst>
              <a:gd name="adj" fmla="val 4000"/>
            </a:avLst>
          </a:prstGeom>
          <a:solidFill>
            <a:srgbClr val="FDF6E6"/>
          </a:solidFill>
          <a:ln w="12700">
            <a:solidFill>
              <a:srgbClr val="0B2B4E"/>
            </a:solidFill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830" y="2440432"/>
            <a:ext cx="2834147" cy="568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00" b="0" i="1">
                <a:solidFill>
                  <a:srgbClr val="0B2B4E"/>
                </a:solidFill>
                <a:latin typeface="Calibri"/>
              </a:rPr>
              <a:t>Q = 478.95 − 1.64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0B2B4E"/>
                </a:solidFill>
                <a:latin typeface="Calibri"/>
              </a:rPr>
              <a:t>Use the estimated airline demand to answer the polls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9509760" y="5897880"/>
            <a:ext cx="2377440" cy="502920"/>
          </a:xfrm>
          <a:prstGeom prst="parallelogram">
            <a:avLst>
              <a:gd name="adj" fmla="val 18000"/>
            </a:avLst>
          </a:prstGeom>
          <a:solidFill>
            <a:srgbClr val="E09F3E"/>
          </a:solidFill>
          <a:ln>
            <a:noFill/>
          </a:ln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 i="0">
                <a:solidFill>
                  <a:srgbClr val="0B2B4E"/>
                </a:solidFill>
                <a:latin typeface="Calibri"/>
              </a:rPr>
              <a:t>Poll break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What Is E</a:t>
            </a:r>
            <a:r>
              <a:rPr sz="3000" b="1" i="0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3000" b="1" i="0">
                <a:solidFill>
                  <a:srgbClr val="0B2B4E"/>
                </a:solidFill>
                <a:latin typeface="Calibri"/>
              </a:rPr>
              <a:t> at P = 140?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16</a:t>
            </a:r>
          </a:p>
        </p:txBody>
      </p:sp>
      <p:pic>
        <p:nvPicPr>
          <p:cNvPr id="11" name="Picture 10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Results: Elasticity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17</a:t>
            </a:r>
          </a:p>
        </p:txBody>
      </p:sp>
      <p:pic>
        <p:nvPicPr>
          <p:cNvPr id="11" name="Picture 10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Eᴅ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10789920" cy="507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1" i="1">
                <a:solidFill>
                  <a:srgbClr val="0B2B4E"/>
                </a:solidFill>
                <a:latin typeface="Calibri"/>
              </a:rPr>
              <a:t>Q = 478.95 − 1.64 P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Recall  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E</a:t>
            </a:r>
            <a:r>
              <a:rPr sz="27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 = (ΔQ/ΔP) · (P/Q)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1">
                <a:solidFill>
                  <a:srgbClr val="0B2B4E"/>
                </a:solidFill>
                <a:latin typeface="Calibri"/>
              </a:rPr>
              <a:t>ΔQ/ΔP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is the slope of demand  ⇒  ΔQ/ΔP = </a:t>
            </a:r>
            <a:r>
              <a:rPr sz="2700" b="1" i="0">
                <a:solidFill>
                  <a:srgbClr val="0B2B4E"/>
                </a:solidFill>
                <a:latin typeface="Calibri"/>
              </a:rPr>
              <a:t>−1.64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Plug 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P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in to get 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Q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:  </a:t>
            </a:r>
            <a:r>
              <a:rPr sz="2700" b="1" i="1">
                <a:solidFill>
                  <a:srgbClr val="0B2B4E"/>
                </a:solidFill>
                <a:latin typeface="Calibri"/>
              </a:rPr>
              <a:t>Q = 478.95 − 1.64 · 140 = 249.35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1">
                <a:solidFill>
                  <a:srgbClr val="0B2B4E"/>
                </a:solidFill>
                <a:latin typeface="Calibri"/>
              </a:rPr>
              <a:t>E</a:t>
            </a:r>
            <a:r>
              <a:rPr sz="2700" b="0" i="1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2700" b="0" i="1">
                <a:solidFill>
                  <a:srgbClr val="0B2B4E"/>
                </a:solidFill>
                <a:latin typeface="Calibri"/>
              </a:rPr>
              <a:t> = 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−1.64 · (140 / 249.35) = </a:t>
            </a:r>
            <a:r>
              <a:rPr sz="2700" b="1" i="0">
                <a:solidFill>
                  <a:srgbClr val="0B2B4E"/>
                </a:solidFill>
                <a:latin typeface="Calibri"/>
              </a:rPr>
              <a:t>−0.92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Demand is </a:t>
            </a:r>
            <a:r>
              <a:rPr sz="2700" b="1" i="0">
                <a:solidFill>
                  <a:srgbClr val="0070C0"/>
                </a:solidFill>
                <a:latin typeface="Calibri"/>
              </a:rPr>
              <a:t>inelastic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What Is MR at P = 140?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19</a:t>
            </a:r>
          </a:p>
        </p:txBody>
      </p:sp>
      <p:pic>
        <p:nvPicPr>
          <p:cNvPr id="11" name="Picture 10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Results: Marginal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20</a:t>
            </a:r>
          </a:p>
        </p:txBody>
      </p:sp>
      <p:pic>
        <p:nvPicPr>
          <p:cNvPr id="11" name="Picture 10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MR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10789920" cy="507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1" i="0">
                <a:solidFill>
                  <a:srgbClr val="0B2B4E"/>
                </a:solidFill>
                <a:latin typeface="Calibri"/>
              </a:rPr>
              <a:t>3-step method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600" b="1" i="0">
                <a:solidFill>
                  <a:srgbClr val="0B2B4E"/>
                </a:solidFill>
                <a:latin typeface="Calibri"/>
              </a:rPr>
              <a:t>1.  Inverse demand:   </a:t>
            </a:r>
            <a:r>
              <a:rPr sz="2600" b="0" i="1">
                <a:solidFill>
                  <a:srgbClr val="0B2B4E"/>
                </a:solidFill>
                <a:latin typeface="Calibri"/>
              </a:rPr>
              <a:t>P = 292 − (1/1.64) Q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600" b="1" i="0">
                <a:solidFill>
                  <a:srgbClr val="0B2B4E"/>
                </a:solidFill>
                <a:latin typeface="Calibri"/>
              </a:rPr>
              <a:t>2.  Total revenue:   </a:t>
            </a:r>
            <a:r>
              <a:rPr sz="2600" b="0" i="1">
                <a:solidFill>
                  <a:srgbClr val="0B2B4E"/>
                </a:solidFill>
                <a:latin typeface="Calibri"/>
              </a:rPr>
              <a:t>TR = 292 Q − (1/1.64) Q²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sz="2600" b="1" i="0">
                <a:solidFill>
                  <a:srgbClr val="0B2B4E"/>
                </a:solidFill>
                <a:latin typeface="Calibri"/>
              </a:rPr>
              <a:t>3.  Derivative:   </a:t>
            </a:r>
            <a:r>
              <a:rPr sz="2600" b="0" i="1">
                <a:solidFill>
                  <a:srgbClr val="0B2B4E"/>
                </a:solidFill>
                <a:latin typeface="Calibri"/>
              </a:rPr>
              <a:t>MR = 292 − 1.22 Q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1" i="0">
                <a:solidFill>
                  <a:srgbClr val="0B2B4E"/>
                </a:solidFill>
                <a:latin typeface="Calibri"/>
              </a:rPr>
              <a:t>MR at P = 140?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0" i="0">
                <a:solidFill>
                  <a:srgbClr val="0B2B4E"/>
                </a:solidFill>
                <a:latin typeface="Calibri"/>
              </a:rPr>
              <a:t>P = 140  →  Q = 249.35  →  </a:t>
            </a:r>
            <a:r>
              <a:rPr sz="2600" b="1" i="1">
                <a:solidFill>
                  <a:srgbClr val="0B2B4E"/>
                </a:solidFill>
                <a:latin typeface="Calibri"/>
              </a:rPr>
              <a:t>MR = −12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Poll: Pricing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22</a:t>
            </a:r>
          </a:p>
        </p:txBody>
      </p:sp>
      <p:pic>
        <p:nvPicPr>
          <p:cNvPr id="11" name="Picture 10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Poll Results: Pricing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23</a:t>
            </a:r>
          </a:p>
        </p:txBody>
      </p:sp>
      <p:pic>
        <p:nvPicPr>
          <p:cNvPr id="11" name="Picture 10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83680" cy="493776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Solution: Raise the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943600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1" i="1">
                <a:solidFill>
                  <a:srgbClr val="0B2B4E"/>
                </a:solidFill>
                <a:latin typeface="Calibri"/>
              </a:rPr>
              <a:t>MR</a:t>
            </a:r>
            <a:r>
              <a:rPr sz="2800" b="0" i="0">
                <a:solidFill>
                  <a:srgbClr val="0B2B4E"/>
                </a:solidFill>
                <a:latin typeface="Calibri"/>
              </a:rPr>
              <a:t> is negative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0" i="0">
                <a:solidFill>
                  <a:srgbClr val="0B2B4E"/>
                </a:solidFill>
                <a:latin typeface="Calibri"/>
              </a:rPr>
              <a:t>So you want to sell </a:t>
            </a:r>
            <a:r>
              <a:rPr sz="2800" b="1" i="0">
                <a:solidFill>
                  <a:srgbClr val="0B2B4E"/>
                </a:solidFill>
                <a:latin typeface="Calibri"/>
              </a:rPr>
              <a:t>less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800" b="0" i="0">
                <a:solidFill>
                  <a:srgbClr val="0B2B4E"/>
                </a:solidFill>
                <a:latin typeface="Calibri"/>
              </a:rPr>
              <a:t>By </a:t>
            </a:r>
            <a:r>
              <a:rPr sz="2800" b="1" i="0">
                <a:solidFill>
                  <a:srgbClr val="0B2B4E"/>
                </a:solidFill>
                <a:latin typeface="Calibri"/>
              </a:rPr>
              <a:t>increasing the price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949440" y="1664208"/>
            <a:ext cx="0" cy="4096512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49440" y="5760720"/>
            <a:ext cx="4754880" cy="0"/>
          </a:xfrm>
          <a:prstGeom prst="line">
            <a:avLst/>
          </a:prstGeom>
          <a:ln w="3175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47688" y="1298448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2568" y="5852159"/>
            <a:ext cx="603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281566"/>
            <a:ext cx="4127285" cy="3479154"/>
          </a:xfrm>
          <a:prstGeom prst="line">
            <a:avLst/>
          </a:prstGeom>
          <a:ln w="38100">
            <a:solidFill>
              <a:srgbClr val="0B2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281566"/>
            <a:ext cx="2326444" cy="3924771"/>
          </a:xfrm>
          <a:prstGeom prst="line">
            <a:avLst/>
          </a:prstGeom>
          <a:ln w="38100">
            <a:solidFill>
              <a:srgbClr val="E09F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008774" y="4021143"/>
            <a:ext cx="0" cy="1739577"/>
          </a:xfrm>
          <a:prstGeom prst="line">
            <a:avLst/>
          </a:prstGeom>
          <a:ln w="17780">
            <a:solidFill>
              <a:srgbClr val="0B2B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42154" y="4307101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09F3E"/>
                </a:solidFill>
                <a:latin typeface="Calibri"/>
              </a:rPr>
              <a:t>MR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589" y="533898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 i="0" dirty="0">
                <a:solidFill>
                  <a:srgbClr val="0B2B4E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189" y="3673671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2B4E"/>
                </a:solidFill>
                <a:latin typeface="Calibri"/>
              </a:rPr>
              <a:t>E</a:t>
            </a:r>
            <a:r>
              <a:rPr sz="1800" b="1" i="0" baseline="-25000">
                <a:solidFill>
                  <a:srgbClr val="0B2B4E"/>
                </a:solidFill>
                <a:latin typeface="Calibri"/>
              </a:rPr>
              <a:t>d</a:t>
            </a:r>
            <a:r>
              <a:rPr sz="1800" b="1" i="0">
                <a:solidFill>
                  <a:srgbClr val="0B2B4E"/>
                </a:solidFill>
                <a:latin typeface="Calibri"/>
              </a:rPr>
              <a:t> = 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2322" y="253288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solidFill>
                  <a:srgbClr val="0070C0"/>
                </a:solidFill>
                <a:latin typeface="Calibri"/>
              </a:rPr>
              <a:t>Elastic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8597" y="444052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70C0"/>
                </a:solidFill>
                <a:latin typeface="Calibri"/>
              </a:rPr>
              <a:t>Inelastic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Issues With Transaction Data: Why Randomization Is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10332720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0">
                <a:solidFill>
                  <a:srgbClr val="0B2B4E"/>
                </a:solidFill>
                <a:latin typeface="Calibri"/>
              </a:rPr>
              <a:t>Transaction data:  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prices and quantities evolving over time, across locations and stores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0" i="0">
                <a:solidFill>
                  <a:srgbClr val="0B2B4E"/>
                </a:solidFill>
                <a:latin typeface="Calibri"/>
              </a:rPr>
              <a:t>Can we be sure the change in quantity is due to the price change?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500" b="1" i="0">
                <a:solidFill>
                  <a:srgbClr val="0B2B4E"/>
                </a:solidFill>
                <a:latin typeface="Calibri"/>
              </a:rPr>
              <a:t>Airline example:  </a:t>
            </a:r>
            <a:r>
              <a:rPr sz="2500" b="0" i="0">
                <a:solidFill>
                  <a:srgbClr val="0B2B4E"/>
                </a:solidFill>
                <a:latin typeface="Calibri"/>
              </a:rPr>
              <a:t>Aug 2019 sold 135 tickets at $200; Oct 2019 sold 90 at $180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Should we conclude demand slopes upward?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What else changed between those two periods?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Correlation Does Not Mean Causation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2B4E"/>
                </a:solidFill>
                <a:latin typeface="Calibri"/>
              </a:rPr>
              <a:t>Example:  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on average, people who drink two glasses of wine a day are healthier than those who drink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B2B4E"/>
                </a:solidFill>
                <a:latin typeface="Calibri"/>
              </a:rPr>
              <a:t>Causal interpretation:  </a:t>
            </a:r>
            <a:r>
              <a:rPr sz="2600" b="0" i="1">
                <a:solidFill>
                  <a:srgbClr val="0B2B4E"/>
                </a:solidFill>
                <a:latin typeface="Calibri"/>
              </a:rPr>
              <a:t>wine improves health (I wish!)</a:t>
            </a:r>
          </a:p>
        </p:txBody>
      </p:sp>
      <p:pic>
        <p:nvPicPr>
          <p:cNvPr id="13" name="Picture 1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657600"/>
            <a:ext cx="2194560" cy="1367736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cxnSp>
        <p:nvCxnSpPr>
          <p:cNvPr id="14" name="Connector 13"/>
          <p:cNvCxnSpPr/>
          <p:nvPr/>
        </p:nvCxnSpPr>
        <p:spPr>
          <a:xfrm>
            <a:off x="5577840" y="4434840"/>
            <a:ext cx="1188720" cy="0"/>
          </a:xfrm>
          <a:prstGeom prst="line">
            <a:avLst/>
          </a:prstGeom>
          <a:ln w="38100">
            <a:solidFill>
              <a:srgbClr val="0B2B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00"/>
            <a:ext cx="2194560" cy="1455088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Correlation Does Not Mean Causation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2B4E"/>
                </a:solidFill>
                <a:latin typeface="Calibri"/>
              </a:rPr>
              <a:t>Potential problem:  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some other factor is causing the correlation</a:t>
            </a:r>
          </a:p>
        </p:txBody>
      </p:sp>
      <p:pic>
        <p:nvPicPr>
          <p:cNvPr id="12" name="Picture 11" descr="image25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2148840" cy="1241390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cxnSp>
        <p:nvCxnSpPr>
          <p:cNvPr id="13" name="Connector 12"/>
          <p:cNvCxnSpPr/>
          <p:nvPr/>
        </p:nvCxnSpPr>
        <p:spPr>
          <a:xfrm flipH="1">
            <a:off x="4297680" y="3840480"/>
            <a:ext cx="914400" cy="731520"/>
          </a:xfrm>
          <a:prstGeom prst="line">
            <a:avLst/>
          </a:prstGeom>
          <a:ln w="31750">
            <a:solidFill>
              <a:srgbClr val="C050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3840480"/>
            <a:ext cx="914400" cy="731520"/>
          </a:xfrm>
          <a:prstGeom prst="line">
            <a:avLst/>
          </a:prstGeom>
          <a:ln w="31750">
            <a:solidFill>
              <a:srgbClr val="C0504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617720"/>
            <a:ext cx="2103120" cy="1310747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16" name="Picture 15" descr="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617720"/>
            <a:ext cx="2103120" cy="1394460"/>
          </a:xfrm>
          <a:prstGeom prst="roundRect">
            <a:avLst>
              <a:gd name="adj" fmla="val 4000"/>
            </a:avLst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Spurious Correlations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28</a:t>
            </a:r>
          </a:p>
        </p:txBody>
      </p:sp>
      <p:pic>
        <p:nvPicPr>
          <p:cNvPr id="11" name="Picture 10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55" y="1828800"/>
            <a:ext cx="5323888" cy="3566160"/>
          </a:xfrm>
          <a:prstGeom prst="rect">
            <a:avLst/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pic>
        <p:nvPicPr>
          <p:cNvPr id="12" name="Picture 11" descr="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896" y="1828800"/>
            <a:ext cx="5865006" cy="3566160"/>
          </a:xfrm>
          <a:prstGeom prst="rect">
            <a:avLst/>
          </a:prstGeom>
          <a:effectLst>
            <a:outerShdw blurRad="36576" dist="27432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274320" y="6172200"/>
            <a:ext cx="116403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070C0"/>
                </a:solidFill>
                <a:latin typeface="Calibri"/>
                <a:hlinkClick r:id="rId4"/>
              </a:rPr>
              <a:t>tylervigen.com/spurious-correlations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Demand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Why Randomization Is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24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Randomizing prices ensures that </a:t>
            </a:r>
            <a:r>
              <a:rPr sz="2700" b="1" i="0">
                <a:solidFill>
                  <a:srgbClr val="0B2B4E"/>
                </a:solidFill>
                <a:latin typeface="Calibri"/>
              </a:rPr>
              <a:t>“all else is equal”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other than the price change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700" b="0" i="0">
                <a:solidFill>
                  <a:srgbClr val="0B2B4E"/>
                </a:solidFill>
                <a:latin typeface="Calibri"/>
              </a:rPr>
              <a:t>Allows us to estimate the </a:t>
            </a:r>
            <a:r>
              <a:rPr sz="2700" b="1" i="0">
                <a:solidFill>
                  <a:srgbClr val="0070C0"/>
                </a:solidFill>
                <a:latin typeface="Calibri"/>
              </a:rPr>
              <a:t>causal effect</a:t>
            </a:r>
            <a:r>
              <a:rPr sz="2700" b="0" i="0">
                <a:solidFill>
                  <a:srgbClr val="0B2B4E"/>
                </a:solidFill>
                <a:latin typeface="Calibri"/>
              </a:rPr>
              <a:t> of price on quantity demanded  →  the demand curve!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Demand Analysis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403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2B4E"/>
                </a:solidFill>
                <a:latin typeface="Calibri"/>
              </a:rPr>
              <a:t>Demand Analysis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1640312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56716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519672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Management 405  ·  Demand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325880"/>
            <a:ext cx="10241280" cy="5120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>
                <a:solidFill>
                  <a:srgbClr val="0B2B4E"/>
                </a:solidFill>
                <a:latin typeface="Calibri"/>
              </a:rPr>
              <a:t>The law of demand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Heterogeneous consumers; diminishing personal value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>
                <a:solidFill>
                  <a:srgbClr val="0B2B4E"/>
                </a:solidFill>
                <a:latin typeface="Calibri"/>
              </a:rPr>
              <a:t>Elasticities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Own-price elasticity; income and cross-price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>
                <a:solidFill>
                  <a:srgbClr val="0B2B4E"/>
                </a:solidFill>
                <a:latin typeface="Calibri"/>
              </a:rPr>
              <a:t>Demand and revenue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18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Own-price elasticity and total revenue; marginal revenue (3-step method)</a:t>
            </a:r>
          </a:p>
          <a:p>
            <a:pPr marL="274320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B2B4E"/>
              </a:buClr>
              <a:buSzPct val="80000"/>
              <a:buFont typeface="Arial"/>
              <a:buChar char="▪"/>
            </a:pPr>
            <a:r>
              <a:rPr sz="2600" b="1" i="0">
                <a:solidFill>
                  <a:srgbClr val="0B2B4E"/>
                </a:solidFill>
                <a:latin typeface="Calibri"/>
              </a:rPr>
              <a:t>Demand estimation</a:t>
            </a:r>
          </a:p>
          <a:p>
            <a:pPr marL="585216" indent="-237744"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555B66"/>
              </a:buClr>
              <a:buSzPct val="80000"/>
              <a:buFont typeface="Arial"/>
              <a:buChar char="–"/>
            </a:pPr>
            <a:r>
              <a:rPr sz="2400" b="0" i="0">
                <a:solidFill>
                  <a:srgbClr val="0B2B4E"/>
                </a:solidFill>
                <a:latin typeface="Calibri"/>
              </a:rPr>
              <a:t>Market experimentation and regression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3189</Words>
  <Application>Microsoft Office PowerPoint</Application>
  <PresentationFormat>Widescreen</PresentationFormat>
  <Paragraphs>694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CLEMENCE TRICAUD</dc:creator>
  <cp:keywords/>
  <dc:description>generated using python-pptx</dc:description>
  <cp:lastModifiedBy>Nico Voigtländer</cp:lastModifiedBy>
  <cp:revision>4</cp:revision>
  <dcterms:created xsi:type="dcterms:W3CDTF">2013-01-27T09:14:16Z</dcterms:created>
  <dcterms:modified xsi:type="dcterms:W3CDTF">2026-08-14T13:46:02Z</dcterms:modified>
  <cp:category/>
</cp:coreProperties>
</file>