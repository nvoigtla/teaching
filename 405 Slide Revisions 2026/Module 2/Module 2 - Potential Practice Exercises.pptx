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01" r:id="rId2"/>
    <p:sldId id="302" r:id="rId3"/>
    <p:sldId id="303" r:id="rId4"/>
    <p:sldId id="304" r:id="rId5"/>
    <p:sldId id="305" r:id="rId6"/>
    <p:sldId id="30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E1662A-056B-438C-BC34-BD17DCCD74B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9221F4-7C65-44E3-B6D2-ED70EA5D84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897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 to Mega Millions. Method 1 gave us an elasticity of about −0.47 — inelastic — which suggests the price increase should raise revenue. In fact, revenue per drawing FELL from roughly $3.8 million to $2.8 million. The catch: the price rose 150%, and Method 1 is a small-change approximation. With changes this large, the initial-point elasticity and the revenue rule based on it can point the wrong way — a good reason to be careful before applying the rule to big price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331720"/>
            <a:ext cx="12191695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4800" b="1" i="0" u="none" dirty="0">
                <a:solidFill>
                  <a:srgbClr val="0B2B4E"/>
                </a:solidFill>
                <a:latin typeface="Calibri"/>
              </a:rPr>
              <a:t>Potential Practice Exercises for Module 2</a:t>
            </a:r>
            <a:endParaRPr sz="4800" b="1" i="0" u="none" dirty="0">
              <a:solidFill>
                <a:srgbClr val="0B2B4E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267047" y="3401568"/>
            <a:ext cx="3657600" cy="54864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Calibri"/>
              </a:rPr>
              <a:t>Module 2 · Video 1 · Demand and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u="none">
                <a:solidFill>
                  <a:srgbClr val="0B2B4E"/>
                </a:solidFill>
                <a:latin typeface="Calibri"/>
              </a:rPr>
              <a:t>The Netflix 2014 Price Increase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2039" y="1783080"/>
            <a:ext cx="1060704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6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24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/>
            <a:r>
              <a:rPr>
                <a:latin typeface="Calibri"/>
              </a:rPr>
              <a:t>In 2014, Netflix raised its monthly price by $1, from $7.99 to $8.99</a:t>
            </a:r>
          </a:p>
          <a:p>
            <a:pPr algn="l"/>
            <a:r>
              <a:rPr>
                <a:latin typeface="Calibri"/>
              </a:rPr>
              <a:t>Then: 50 million subscribers, own-price elasticity of demand </a:t>
            </a:r>
            <a:r>
              <a:rPr b="1">
                <a:solidFill>
                  <a:srgbClr val="0070C0"/>
                </a:solidFill>
                <a:latin typeface="Calibri"/>
              </a:rPr>
              <a:t>≈ −2</a:t>
            </a:r>
          </a:p>
          <a:p>
            <a:pPr algn="l"/>
            <a:r>
              <a:rPr>
                <a:latin typeface="Calibri"/>
              </a:rPr>
              <a:t>Implications of the price increase for:</a:t>
            </a:r>
          </a:p>
          <a:p>
            <a:pPr lvl="1" algn="l"/>
            <a:r>
              <a:rPr>
                <a:latin typeface="Calibri"/>
              </a:rPr>
              <a:t>Number of subscriptions (quantitative)?</a:t>
            </a:r>
          </a:p>
          <a:p>
            <a:pPr lvl="1" algn="l"/>
            <a:r>
              <a:rPr>
                <a:latin typeface="Calibri"/>
              </a:rPr>
              <a:t>Revenue (qualitative)?</a:t>
            </a:r>
          </a:p>
          <a:p>
            <a:pPr lvl="1" algn="l"/>
            <a:r>
              <a:rPr>
                <a:latin typeface="Calibri"/>
              </a:rPr>
              <a:t>Profits (speculative)?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1999" y="65836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u="none">
                <a:solidFill>
                  <a:srgbClr val="555B66"/>
                </a:solidFill>
                <a:latin typeface="Calibri"/>
              </a:rPr>
              <a:t>Management 405  ·  Module 2  ·  Demand Analysis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75720" y="6583680"/>
            <a:ext cx="502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22BC27D3-51A2-5F90-879D-724E6E524C78}" type="slidenum">
              <a:rPr lang="en-US" sz="1200" dirty="0">
                <a:solidFill>
                  <a:srgbClr val="555B66"/>
                </a:solidFill>
                <a:latin typeface="Calibri"/>
              </a:rPr>
              <a:t>2</a:t>
            </a:fld>
            <a:endParaRPr lang="en-US" sz="1200" dirty="0">
              <a:solidFill>
                <a:srgbClr val="555B66"/>
              </a:solidFill>
              <a:latin typeface="Calibri"/>
            </a:endParaRPr>
          </a:p>
        </p:txBody>
      </p:sp>
      <p:grpSp>
        <p:nvGrpSpPr>
          <p:cNvPr id="9700" name="Group 14">
            <a:extLst>
              <a:ext uri="{FF2B5EF4-FFF2-40B4-BE49-F238E27FC236}">
                <a16:creationId xmlns:a16="http://schemas.microsoft.com/office/drawing/2014/main" id="{C7881A0F-62FF-0536-16AD-55B1DC27DD3D}"/>
              </a:ext>
            </a:extLst>
          </p:cNvPr>
          <p:cNvGrpSpPr/>
          <p:nvPr/>
        </p:nvGrpSpPr>
        <p:grpSpPr>
          <a:xfrm>
            <a:off x="6826842" y="6190488"/>
            <a:ext cx="5112854" cy="539496"/>
            <a:chOff x="7550576" y="5715000"/>
            <a:chExt cx="4389120" cy="658368"/>
          </a:xfrm>
        </p:grpSpPr>
        <p:sp>
          <p:nvSpPr>
            <p:cNvPr id="9701" name="Rectangle 8"/>
            <p:cNvSpPr/>
            <p:nvPr/>
          </p:nvSpPr>
          <p:spPr>
            <a:xfrm>
              <a:off x="7550576" y="5715000"/>
              <a:ext cx="4389120" cy="658368"/>
            </a:xfrm>
            <a:custGeom>
              <a:avLst/>
              <a:gdLst/>
              <a:ahLst/>
              <a:cxnLst/>
              <a:rect l="15000" t="0" r="85000" b="100000"/>
              <a:pathLst>
                <a:path w="100000" h="100000">
                  <a:moveTo>
                    <a:pt x="20000" y="0"/>
                  </a:moveTo>
                  <a:lnTo>
                    <a:pt x="95000" y="0"/>
                  </a:lnTo>
                  <a:cubicBezTo>
                    <a:pt x="100000" y="0"/>
                    <a:pt x="100000" y="0"/>
                    <a:pt x="99250" y="5000"/>
                  </a:cubicBezTo>
                  <a:lnTo>
                    <a:pt x="85750" y="95000"/>
                  </a:lnTo>
                  <a:cubicBezTo>
                    <a:pt x="85000" y="100000"/>
                    <a:pt x="85000" y="100000"/>
                    <a:pt x="80000" y="100000"/>
                  </a:cubicBezTo>
                  <a:lnTo>
                    <a:pt x="5000" y="100000"/>
                  </a:lnTo>
                  <a:cubicBezTo>
                    <a:pt x="0" y="100000"/>
                    <a:pt x="0" y="100000"/>
                    <a:pt x="750" y="95000"/>
                  </a:cubicBezTo>
                  <a:lnTo>
                    <a:pt x="14250" y="5000"/>
                  </a:lnTo>
                  <a:cubicBezTo>
                    <a:pt x="15000" y="0"/>
                    <a:pt x="15000" y="0"/>
                    <a:pt x="20000" y="0"/>
                  </a:cubicBezTo>
                  <a:close/>
                </a:path>
              </a:pathLst>
            </a:custGeom>
            <a:solidFill>
              <a:srgbClr val="E09F3E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702" name="TextBox 9"/>
            <p:cNvSpPr txBox="1"/>
            <p:nvPr/>
          </p:nvSpPr>
          <p:spPr>
            <a:xfrm>
              <a:off x="8208944" y="5715000"/>
              <a:ext cx="3072384" cy="658368"/>
            </a:xfrm>
            <a:prstGeom prst="rect">
              <a:avLst/>
            </a:prstGeom>
            <a:noFill/>
          </p:spPr>
          <p:txBody>
            <a:bodyPr wrap="none" lIns="45720" tIns="18288" rIns="45720" bIns="18288" anchor="ctr">
              <a:spAutoFit/>
            </a:bodyPr>
            <a:lstStyle/>
            <a:p>
              <a:pPr algn="ctr"/>
              <a:r>
                <a:rPr sz="2800" b="1">
                  <a:solidFill>
                    <a:srgbClr val="0B2B4E"/>
                  </a:solidFill>
                  <a:latin typeface="Calibri"/>
                </a:rPr>
                <a:t>Group Discussion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Calibri"/>
              </a:rPr>
              <a:t>Module 2 · Video 1 · Demand and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u="none">
                <a:solidFill>
                  <a:srgbClr val="0B2B4E"/>
                </a:solidFill>
                <a:latin typeface="Calibri"/>
              </a:rPr>
              <a:t>Solution: Netflix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9159" y="1600200"/>
            <a:ext cx="11338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2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8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>
              <a:buNone/>
            </a:pPr>
            <a:r>
              <a:rPr sz="2200" b="1">
                <a:solidFill>
                  <a:srgbClr val="0B2B4E"/>
                </a:solidFill>
                <a:latin typeface="Calibri"/>
              </a:rPr>
              <a:t>Subscriptions decline</a:t>
            </a:r>
            <a:r>
              <a:rPr sz="2200">
                <a:solidFill>
                  <a:srgbClr val="0B2B4E"/>
                </a:solidFill>
                <a:latin typeface="Calibri"/>
              </a:rPr>
              <a:t> — by how much? Use Method 1 with </a:t>
            </a:r>
            <a:r>
              <a:rPr sz="2200" b="1">
                <a:solidFill>
                  <a:srgbClr val="0070C0"/>
                </a:solidFill>
                <a:latin typeface="Calibri"/>
              </a:rPr>
              <a:t>E</a:t>
            </a:r>
            <a:r>
              <a:rPr sz="2200" b="1" baseline="-25000">
                <a:solidFill>
                  <a:srgbClr val="0070C0"/>
                </a:solidFill>
                <a:latin typeface="Calibri"/>
              </a:rPr>
              <a:t>D</a:t>
            </a:r>
            <a:r>
              <a:rPr sz="2200" b="1">
                <a:solidFill>
                  <a:srgbClr val="0070C0"/>
                </a:solidFill>
                <a:latin typeface="Calibri"/>
              </a:rPr>
              <a:t> = −2</a:t>
            </a:r>
            <a:r>
              <a:rPr sz="2200">
                <a:solidFill>
                  <a:srgbClr val="0B2B4E"/>
                </a:solidFill>
                <a:latin typeface="Calibri"/>
              </a:rPr>
              <a:t>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2423160" y="2331720"/>
                <a:ext cx="7315200" cy="10515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>
                  <a:defRPr sz="2600" b="0" i="1">
                    <a:solidFill>
                      <a:srgbClr val="0B2B4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600" b="0" i="1">
                              <a:solidFill>
                                <a:srgbClr val="0B2B4E"/>
                              </a:solidFill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2600" b="0" i="1">
                              <a:solidFill>
                                <a:srgbClr val="0B2B4E"/>
                              </a:solidFill>
                              <a:latin typeface="Cambria Math"/>
                              <a:ea typeface="Cambria Math"/>
                            </a:rPr>
                            <m:t>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D</m:t>
                          </m:r>
                        </m:sub>
                      </m:sSub>
                      <m:r>
                        <a:rPr lang="en-US" sz="2600" b="0" i="0">
                          <a:solidFill>
                            <a:srgbClr val="0B2B4E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%</m:t>
                          </m:r>
                          <m:r>
                            <m:rPr>
                              <m:sty m:val="p"/>
                            </m:r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Δ</m:t>
                          </m:r>
                          <m:r>
                            <a:rPr lang="en-US" sz="2600" b="0" i="1">
                              <a:solidFill>
                                <a:srgbClr val="0B2B4E"/>
                              </a:solidFill>
                              <a:latin typeface="Cambria Math"/>
                              <a:ea typeface="Cambria Math"/>
                            </a:rPr>
                            <m:t>𝑄</m:t>
                          </m:r>
                        </m:num>
                        <m:den>
                          <m: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%</m:t>
                          </m:r>
                          <m:r>
                            <m:rPr>
                              <m:sty m:val="p"/>
                            </m:r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Δ</m:t>
                          </m:r>
                          <m:r>
                            <a:rPr lang="en-US" sz="2600" b="0" i="1">
                              <a:solidFill>
                                <a:srgbClr val="0B2B4E"/>
                              </a:solidFill>
                              <a:latin typeface="Cambria Math"/>
                              <a:ea typeface="Cambria Math"/>
                            </a:rPr>
                            <m:t>𝑃</m:t>
                          </m:r>
                        </m:den>
                      </m:f>
                      <m:r>
                        <a:rPr lang="en-US" sz="2600" b="0" i="0">
                          <a:solidFill>
                            <a:srgbClr val="0B2B4E"/>
                          </a:solidFill>
                          <a:latin typeface="Cambria Math"/>
                        </a:rPr>
                        <m:t> = </m:t>
                      </m:r>
                      <m:f>
                        <m:fPr>
                          <m:ctrl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%</m:t>
                          </m:r>
                          <m:r>
                            <m:rPr>
                              <m:sty m:val="p"/>
                            </m:rP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Δ</m:t>
                          </m:r>
                          <m:r>
                            <a:rPr lang="en-US" sz="2600" b="0" i="1">
                              <a:solidFill>
                                <a:srgbClr val="0B2B4E"/>
                              </a:solidFill>
                              <a:latin typeface="Cambria Math"/>
                              <a:ea typeface="Cambria Math"/>
                            </a:rPr>
                            <m:t>𝑄</m:t>
                          </m:r>
                        </m:num>
                        <m:den>
                          <m:r>
                            <a:rPr lang="en-US" sz="26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12.5%</m:t>
                          </m:r>
                        </m:den>
                      </m:f>
                      <m:r>
                        <a:rPr lang="en-US" sz="2600" b="0" i="0">
                          <a:solidFill>
                            <a:srgbClr val="0B2B4E"/>
                          </a:solidFill>
                          <a:latin typeface="Cambria Math"/>
                        </a:rPr>
                        <m:t> = −2</m:t>
                      </m:r>
                    </m:oMath>
                  </m:oMathPara>
                </a14:m>
                <a:endParaRPr lang="en-US" sz="260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160" y="2331720"/>
                <a:ext cx="7315200" cy="10515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754919" y="35661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0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6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>
              <a:buNone/>
            </a:pPr>
            <a:r>
              <a:rPr sz="2000">
                <a:solidFill>
                  <a:srgbClr val="0B2B4E"/>
                </a:solidFill>
                <a:latin typeface="Calibri"/>
              </a:rPr>
              <a:t>where  %ΔP = (8.99 − 7.99) / 7.99 = +12.5%,   so   %ΔQ = −25%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159" y="4297680"/>
            <a:ext cx="1133856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200"/>
              </a:spcBef>
              <a:buClr>
                <a:srgbClr val="0B2B4E"/>
              </a:buClr>
              <a:buFont typeface="Calibri"/>
              <a:buChar char="▪"/>
              <a:defRPr sz="22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8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>
              <a:buNone/>
            </a:pPr>
            <a:r>
              <a:rPr sz="2200">
                <a:solidFill>
                  <a:srgbClr val="0B2B4E"/>
                </a:solidFill>
                <a:latin typeface="Calibri"/>
              </a:rPr>
              <a:t>→  a </a:t>
            </a:r>
            <a:r>
              <a:rPr sz="2200" b="1">
                <a:solidFill>
                  <a:srgbClr val="0070C0"/>
                </a:solidFill>
                <a:latin typeface="Calibri"/>
              </a:rPr>
              <a:t>25% decline</a:t>
            </a:r>
            <a:r>
              <a:rPr sz="2200">
                <a:solidFill>
                  <a:srgbClr val="0B2B4E"/>
                </a:solidFill>
                <a:latin typeface="Calibri"/>
              </a:rPr>
              <a:t> in subscriptions</a:t>
            </a:r>
          </a:p>
          <a:p>
            <a:pPr algn="l"/>
            <a:r>
              <a:rPr b="1">
                <a:latin typeface="Calibri"/>
              </a:rPr>
              <a:t>Revenue:</a:t>
            </a:r>
            <a:r>
              <a:rPr>
                <a:latin typeface="Calibri"/>
              </a:rPr>
              <a:t> demand is </a:t>
            </a:r>
            <a:r>
              <a:rPr b="1">
                <a:solidFill>
                  <a:srgbClr val="0070C0"/>
                </a:solidFill>
                <a:latin typeface="Calibri"/>
              </a:rPr>
              <a:t>elastic</a:t>
            </a:r>
            <a:r>
              <a:rPr>
                <a:latin typeface="Calibri"/>
              </a:rPr>
              <a:t>, so quantity outweighs price  →  revenue falls</a:t>
            </a:r>
          </a:p>
          <a:p>
            <a:pPr algn="l"/>
            <a:r>
              <a:rPr b="1">
                <a:latin typeface="Calibri"/>
              </a:rPr>
              <a:t>Profits:</a:t>
            </a:r>
            <a:r>
              <a:rPr>
                <a:latin typeface="Calibri"/>
              </a:rPr>
              <a:t> fewer subscribers, near-zero cost savings  →  profits likely fell too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999" y="65836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u="none">
                <a:solidFill>
                  <a:srgbClr val="555B66"/>
                </a:solidFill>
                <a:latin typeface="Calibri"/>
              </a:rPr>
              <a:t>Management 405  ·  Module 2  ·  Demand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83680"/>
            <a:ext cx="502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D9A67DD4-F7AE-544E-90A8-A1061E835C94}" type="slidenum">
              <a:rPr lang="en-US" sz="1200" dirty="0">
                <a:solidFill>
                  <a:srgbClr val="555B66"/>
                </a:solidFill>
                <a:latin typeface="Calibri"/>
              </a:rPr>
              <a:t>3</a:t>
            </a:fld>
            <a:endParaRPr lang="en-US" sz="1200" dirty="0">
              <a:solidFill>
                <a:srgbClr val="555B66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Calibri"/>
              </a:rPr>
              <a:t>Module 2 · Video 1 · Demand and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u="none">
                <a:solidFill>
                  <a:srgbClr val="0B2B4E"/>
                </a:solidFill>
                <a:latin typeface="Calibri"/>
              </a:rPr>
              <a:t>Mega Millions, Revisited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2039" y="1783080"/>
            <a:ext cx="1088136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600"/>
              </a:spcBef>
              <a:buClr>
                <a:srgbClr val="0B2B4E"/>
              </a:buClr>
              <a:buFont typeface="Calibri"/>
              <a:buChar char="▪"/>
              <a:defRPr sz="24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20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/>
            <a:r>
              <a:rPr>
                <a:latin typeface="Calibri"/>
              </a:rPr>
              <a:t>April 2025: Mega Millions raised its ticket price from $2 to $5  (+150%)</a:t>
            </a:r>
          </a:p>
          <a:p>
            <a:pPr algn="l"/>
            <a:r>
              <a:rPr>
                <a:latin typeface="Calibri"/>
              </a:rPr>
              <a:t>In New York, tickets sold per drawing fell from ~1.9 million to ~560,000  (≈ −70%)</a:t>
            </a:r>
          </a:p>
          <a:p>
            <a:pPr algn="l"/>
            <a:r>
              <a:rPr>
                <a:latin typeface="Calibri"/>
              </a:rPr>
              <a:t>We computed  </a:t>
            </a:r>
            <a:r>
              <a:rPr b="1">
                <a:solidFill>
                  <a:srgbClr val="0070C0"/>
                </a:solidFill>
                <a:latin typeface="Calibri"/>
              </a:rPr>
              <a:t>E</a:t>
            </a:r>
            <a:r>
              <a:rPr b="1" baseline="-25000">
                <a:solidFill>
                  <a:srgbClr val="0070C0"/>
                </a:solidFill>
                <a:latin typeface="Calibri"/>
              </a:rPr>
              <a:t>D</a:t>
            </a:r>
            <a:r>
              <a:rPr b="1">
                <a:solidFill>
                  <a:srgbClr val="0070C0"/>
                </a:solidFill>
                <a:latin typeface="Calibri"/>
              </a:rPr>
              <a:t> ≈ −0.47</a:t>
            </a:r>
            <a:r>
              <a:rPr>
                <a:latin typeface="Calibri"/>
              </a:rPr>
              <a:t>  →  inelastic</a:t>
            </a:r>
          </a:p>
          <a:p>
            <a:pPr algn="l"/>
            <a:r>
              <a:rPr b="1">
                <a:latin typeface="Calibri"/>
              </a:rPr>
              <a:t>Inelastic demand suggests revenue should RISE when the price rises. Did it?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5257800"/>
            <a:ext cx="9326880" cy="777240"/>
          </a:xfrm>
          <a:prstGeom prst="roundRect">
            <a:avLst>
              <a:gd name="adj" fmla="val 12000"/>
            </a:avLst>
          </a:prstGeom>
          <a:solidFill>
            <a:srgbClr val="FDF6E6"/>
          </a:solidFill>
          <a:ln w="12700">
            <a:solidFill>
              <a:srgbClr val="0B2B4E"/>
            </a:solidFill>
          </a:ln>
          <a:effectLst>
            <a:outerShdw blurRad="50800" dist="38100" dir="2700000" algn="tl" rotWithShape="0">
              <a:srgbClr val="000000">
                <a:alpha val="4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00200" y="5367528"/>
            <a:ext cx="8961120" cy="557784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B2B4E"/>
                </a:solidFill>
                <a:latin typeface="Calibri"/>
              </a:rPr>
              <a:t>Caution: </a:t>
            </a:r>
            <a:r>
              <a:rPr sz="1500" b="0" i="0" u="none">
                <a:solidFill>
                  <a:srgbClr val="0B2B4E"/>
                </a:solidFill>
                <a:latin typeface="Calibri"/>
              </a:rPr>
              <a:t>Method 1 approximates % changes – for LARGE changes like this one, the elasticity-revenue rule can mislead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999" y="65836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u="none">
                <a:solidFill>
                  <a:srgbClr val="555B66"/>
                </a:solidFill>
                <a:latin typeface="Calibri"/>
              </a:rPr>
              <a:t>Management 405  ·  Module 2  ·  Demand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83680"/>
            <a:ext cx="502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2DB18AEB-6F3A-5D2F-99F2-AAFEDB67B91B}" type="slidenum">
              <a:rPr lang="en-US" sz="1200" dirty="0">
                <a:solidFill>
                  <a:srgbClr val="555B66"/>
                </a:solidFill>
                <a:latin typeface="Calibri"/>
              </a:rPr>
              <a:t>4</a:t>
            </a:fld>
            <a:endParaRPr lang="en-US" sz="1200" dirty="0">
              <a:solidFill>
                <a:srgbClr val="555B66"/>
              </a:solidFill>
              <a:latin typeface="Calibri"/>
            </a:endParaRPr>
          </a:p>
        </p:txBody>
      </p:sp>
      <p:grpSp>
        <p:nvGrpSpPr>
          <p:cNvPr id="9700" name="Group 14">
            <a:extLst>
              <a:ext uri="{FF2B5EF4-FFF2-40B4-BE49-F238E27FC236}">
                <a16:creationId xmlns:a16="http://schemas.microsoft.com/office/drawing/2014/main" id="{C7881A0F-62FF-0536-16AD-55B1DC27DD3D}"/>
              </a:ext>
            </a:extLst>
          </p:cNvPr>
          <p:cNvGrpSpPr/>
          <p:nvPr/>
        </p:nvGrpSpPr>
        <p:grpSpPr>
          <a:xfrm>
            <a:off x="6826842" y="6190488"/>
            <a:ext cx="5112854" cy="539496"/>
            <a:chOff x="7550576" y="5715000"/>
            <a:chExt cx="4389120" cy="658368"/>
          </a:xfrm>
        </p:grpSpPr>
        <p:sp>
          <p:nvSpPr>
            <p:cNvPr id="9701" name="Rectangle 8"/>
            <p:cNvSpPr/>
            <p:nvPr/>
          </p:nvSpPr>
          <p:spPr>
            <a:xfrm>
              <a:off x="7550576" y="5715000"/>
              <a:ext cx="4389120" cy="658368"/>
            </a:xfrm>
            <a:custGeom>
              <a:avLst/>
              <a:gdLst/>
              <a:ahLst/>
              <a:cxnLst/>
              <a:rect l="15000" t="0" r="85000" b="100000"/>
              <a:pathLst>
                <a:path w="100000" h="100000">
                  <a:moveTo>
                    <a:pt x="20000" y="0"/>
                  </a:moveTo>
                  <a:lnTo>
                    <a:pt x="95000" y="0"/>
                  </a:lnTo>
                  <a:cubicBezTo>
                    <a:pt x="100000" y="0"/>
                    <a:pt x="100000" y="0"/>
                    <a:pt x="99250" y="5000"/>
                  </a:cubicBezTo>
                  <a:lnTo>
                    <a:pt x="85750" y="95000"/>
                  </a:lnTo>
                  <a:cubicBezTo>
                    <a:pt x="85000" y="100000"/>
                    <a:pt x="85000" y="100000"/>
                    <a:pt x="80000" y="100000"/>
                  </a:cubicBezTo>
                  <a:lnTo>
                    <a:pt x="5000" y="100000"/>
                  </a:lnTo>
                  <a:cubicBezTo>
                    <a:pt x="0" y="100000"/>
                    <a:pt x="0" y="100000"/>
                    <a:pt x="750" y="95000"/>
                  </a:cubicBezTo>
                  <a:lnTo>
                    <a:pt x="14250" y="5000"/>
                  </a:lnTo>
                  <a:cubicBezTo>
                    <a:pt x="15000" y="0"/>
                    <a:pt x="15000" y="0"/>
                    <a:pt x="20000" y="0"/>
                  </a:cubicBezTo>
                  <a:close/>
                </a:path>
              </a:pathLst>
            </a:custGeom>
            <a:solidFill>
              <a:srgbClr val="E09F3E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702" name="TextBox 9"/>
            <p:cNvSpPr txBox="1"/>
            <p:nvPr/>
          </p:nvSpPr>
          <p:spPr>
            <a:xfrm>
              <a:off x="8208944" y="5715000"/>
              <a:ext cx="3072384" cy="658368"/>
            </a:xfrm>
            <a:prstGeom prst="rect">
              <a:avLst/>
            </a:prstGeom>
            <a:noFill/>
          </p:spPr>
          <p:txBody>
            <a:bodyPr wrap="none" lIns="45720" tIns="18288" rIns="45720" bIns="18288" anchor="ctr">
              <a:spAutoFit/>
            </a:bodyPr>
            <a:lstStyle/>
            <a:p>
              <a:pPr algn="ctr"/>
              <a:r>
                <a:rPr sz="2800" b="1">
                  <a:solidFill>
                    <a:srgbClr val="0B2B4E"/>
                  </a:solidFill>
                  <a:latin typeface="Calibri"/>
                </a:rPr>
                <a:t>Group Discussion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Calibri"/>
              </a:rPr>
              <a:t>Module 2 · Video 2 · Marginal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u="none">
                <a:solidFill>
                  <a:srgbClr val="0B2B4E"/>
                </a:solidFill>
                <a:latin typeface="Calibri"/>
              </a:rPr>
              <a:t>Inside Out 2's Marginal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9159" y="1783080"/>
            <a:ext cx="66751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4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20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/>
            <a:r>
              <a:rPr>
                <a:latin typeface="Calibri"/>
              </a:rPr>
              <a:t>Demand for streaming </a:t>
            </a:r>
            <a:r>
              <a:rPr i="1">
                <a:latin typeface="Calibri"/>
              </a:rPr>
              <a:t>Inside Out 2</a:t>
            </a:r>
            <a:r>
              <a:rPr>
                <a:latin typeface="Calibri"/>
              </a:rPr>
              <a:t> on Disney+   (Q: viewers, in millions):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1325880" y="2880360"/>
                <a:ext cx="4023360" cy="1005840"/>
              </a:xfrm>
              <a:prstGeom prst="roundRect">
                <a:avLst>
                  <a:gd name="adj" fmla="val 25000"/>
                </a:avLst>
              </a:prstGeom>
              <a:solidFill>
                <a:srgbClr val="FDF6E6"/>
              </a:solidFill>
              <a:ln w="9525">
                <a:solidFill>
                  <a:srgbClr val="0B2B4E"/>
                </a:solidFill>
              </a:ln>
              <a:effectLst>
                <a:outerShdw blurRad="50800" dist="38100" dir="2700000" algn="tl" rotWithShape="0">
                  <a:srgbClr val="000000">
                    <a:alpha val="45000"/>
                  </a:srgbClr>
                </a:outerShdw>
              </a:effectLst>
            </p:spPr>
            <p:txBody>
              <a:bodyPr wrap="square" anchor="ctr">
                <a:spAutoFit/>
              </a:bodyPr>
              <a:lstStyle/>
              <a:p>
                <a:pPr algn="ctr">
                  <a:defRPr sz="2800" b="0" i="1">
                    <a:solidFill>
                      <a:srgbClr val="0B2B4E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2800" b="0" i="1">
                          <a:solidFill>
                            <a:srgbClr val="0B2B4E"/>
                          </a:solidFill>
                          <a:latin typeface="Cambria Math"/>
                          <a:ea typeface="Cambria Math"/>
                        </a:rPr>
                        <m:t>𝑄</m:t>
                      </m:r>
                      <m:r>
                        <a:rPr lang="en-US" sz="2800" b="0" i="0">
                          <a:solidFill>
                            <a:srgbClr val="0B2B4E"/>
                          </a:solidFill>
                          <a:latin typeface="Cambria Math"/>
                        </a:rPr>
                        <m:t> = 20 − </m:t>
                      </m:r>
                      <m:f>
                        <m:fPr>
                          <m:ctrlPr>
                            <a:rPr lang="en-US" sz="28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en-US" sz="28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800" b="0" i="0">
                              <a:solidFill>
                                <a:srgbClr val="0B2B4E"/>
                              </a:solidFill>
                              <a:latin typeface="Cambria Math"/>
                            </a:rPr>
                            <m:t>2</m:t>
                          </m:r>
                        </m:den>
                      </m:f>
                      <m:r>
                        <a:rPr lang="en-US" sz="2800" b="0" i="1">
                          <a:solidFill>
                            <a:srgbClr val="0B2B4E"/>
                          </a:solidFill>
                          <a:latin typeface="Cambria Math"/>
                          <a:ea typeface="Cambria Math"/>
                        </a:rPr>
                        <m:t>𝑃</m:t>
                      </m:r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2880360"/>
                <a:ext cx="4023360" cy="1005840"/>
              </a:xfrm>
              <a:prstGeom prst="roundRect">
                <a:avLst>
                  <a:gd name="adj" fmla="val 25000"/>
                </a:avLst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rgbClr val="0B2B4E"/>
                </a:solidFill>
              </a:ln>
              <a:effectLst>
                <a:outerShdw blurRad="50800" dist="38100" dir="2700000" algn="tl" rotWithShape="0">
                  <a:srgbClr val="000000">
                    <a:alpha val="45000"/>
                  </a:srgb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389159" y="4343400"/>
            <a:ext cx="667512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400"/>
              </a:spcBef>
              <a:buClr>
                <a:srgbClr val="0B2B4E"/>
              </a:buClr>
              <a:buFont typeface="Calibri"/>
              <a:buChar char="▪"/>
              <a:defRPr sz="24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20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/>
            <a:r>
              <a:rPr b="1">
                <a:latin typeface="Calibri"/>
              </a:rPr>
              <a:t>What is the revenue-maximizing price?</a:t>
            </a:r>
          </a:p>
          <a:p>
            <a:pPr algn="l"/>
            <a:r>
              <a:rPr>
                <a:latin typeface="Calibri"/>
              </a:rPr>
              <a:t>Why might Disney care about </a:t>
            </a:r>
            <a:r>
              <a:rPr i="1">
                <a:latin typeface="Calibri"/>
              </a:rPr>
              <a:t>revenue</a:t>
            </a:r>
            <a:r>
              <a:rPr>
                <a:latin typeface="Calibri"/>
              </a:rPr>
              <a:t> maximization?</a:t>
            </a:r>
          </a:p>
        </p:txBody>
      </p:sp>
      <p:pic>
        <p:nvPicPr>
          <p:cNvPr id="10" name="Picture 9" descr="ct_insideout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737360"/>
            <a:ext cx="3840480" cy="1935320"/>
          </a:xfrm>
          <a:prstGeom prst="roundRect">
            <a:avLst>
              <a:gd name="adj" fmla="val 8000"/>
            </a:avLst>
          </a:prstGeom>
          <a:effectLst>
            <a:outerShdw blurRad="50800" dist="38100" dir="2700000" algn="tl" rotWithShape="0">
              <a:srgbClr val="000000">
                <a:alpha val="50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999" y="65836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u="none">
                <a:solidFill>
                  <a:srgbClr val="555B66"/>
                </a:solidFill>
                <a:latin typeface="Calibri"/>
              </a:rPr>
              <a:t>Management 405  ·  Module 2  ·  Demand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83680"/>
            <a:ext cx="502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A5A113D4-7497-5168-BB4C-F5395F354B8F}" type="slidenum">
              <a:rPr lang="en-US" sz="1200" dirty="0">
                <a:solidFill>
                  <a:srgbClr val="555B66"/>
                </a:solidFill>
                <a:latin typeface="Calibri"/>
              </a:rPr>
              <a:t>5</a:t>
            </a:fld>
            <a:endParaRPr lang="en-US" sz="1200" dirty="0">
              <a:solidFill>
                <a:srgbClr val="555B66"/>
              </a:solidFill>
              <a:latin typeface="Calibri"/>
            </a:endParaRPr>
          </a:p>
        </p:txBody>
      </p:sp>
      <p:grpSp>
        <p:nvGrpSpPr>
          <p:cNvPr id="9600" name="Group 14">
            <a:extLst>
              <a:ext uri="{FF2B5EF4-FFF2-40B4-BE49-F238E27FC236}">
                <a16:creationId xmlns:a16="http://schemas.microsoft.com/office/drawing/2014/main" id="{C7881A0F-62FF-0536-16AD-55B1DC27DD3D}"/>
              </a:ext>
            </a:extLst>
          </p:cNvPr>
          <p:cNvGrpSpPr/>
          <p:nvPr/>
        </p:nvGrpSpPr>
        <p:grpSpPr>
          <a:xfrm>
            <a:off x="8641080" y="6190488"/>
            <a:ext cx="3298616" cy="539496"/>
            <a:chOff x="7550576" y="5715000"/>
            <a:chExt cx="4389120" cy="658368"/>
          </a:xfrm>
        </p:grpSpPr>
        <p:sp>
          <p:nvSpPr>
            <p:cNvPr id="9601" name="Rectangle 8"/>
            <p:cNvSpPr/>
            <p:nvPr/>
          </p:nvSpPr>
          <p:spPr>
            <a:xfrm>
              <a:off x="7550576" y="5715000"/>
              <a:ext cx="4389120" cy="658368"/>
            </a:xfrm>
            <a:custGeom>
              <a:avLst/>
              <a:gdLst/>
              <a:ahLst/>
              <a:cxnLst/>
              <a:rect l="15000" t="0" r="85000" b="100000"/>
              <a:pathLst>
                <a:path w="100000" h="100000">
                  <a:moveTo>
                    <a:pt x="20000" y="0"/>
                  </a:moveTo>
                  <a:lnTo>
                    <a:pt x="95000" y="0"/>
                  </a:lnTo>
                  <a:cubicBezTo>
                    <a:pt x="100000" y="0"/>
                    <a:pt x="100000" y="0"/>
                    <a:pt x="99250" y="5000"/>
                  </a:cubicBezTo>
                  <a:lnTo>
                    <a:pt x="85750" y="95000"/>
                  </a:lnTo>
                  <a:cubicBezTo>
                    <a:pt x="85000" y="100000"/>
                    <a:pt x="85000" y="100000"/>
                    <a:pt x="80000" y="100000"/>
                  </a:cubicBezTo>
                  <a:lnTo>
                    <a:pt x="5000" y="100000"/>
                  </a:lnTo>
                  <a:cubicBezTo>
                    <a:pt x="0" y="100000"/>
                    <a:pt x="0" y="100000"/>
                    <a:pt x="750" y="95000"/>
                  </a:cubicBezTo>
                  <a:lnTo>
                    <a:pt x="14250" y="5000"/>
                  </a:lnTo>
                  <a:cubicBezTo>
                    <a:pt x="15000" y="0"/>
                    <a:pt x="15000" y="0"/>
                    <a:pt x="20000" y="0"/>
                  </a:cubicBezTo>
                  <a:close/>
                </a:path>
              </a:pathLst>
            </a:custGeom>
            <a:solidFill>
              <a:srgbClr val="E09F3E"/>
            </a:solidFill>
            <a:ln>
              <a:noFill/>
            </a:ln>
            <a:effectLst>
              <a:outerShdw blurRad="50800" dist="38100" dir="2700000" algn="tl" rotWithShape="0">
                <a:srgbClr val="000000">
                  <a:alpha val="5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02" name="TextBox 9"/>
            <p:cNvSpPr txBox="1"/>
            <p:nvPr/>
          </p:nvSpPr>
          <p:spPr>
            <a:xfrm>
              <a:off x="8208944" y="5715000"/>
              <a:ext cx="3072384" cy="658368"/>
            </a:xfrm>
            <a:prstGeom prst="rect">
              <a:avLst/>
            </a:prstGeom>
            <a:noFill/>
          </p:spPr>
          <p:txBody>
            <a:bodyPr wrap="none" lIns="45720" tIns="18288" rIns="45720" bIns="18288" anchor="ctr">
              <a:spAutoFit/>
            </a:bodyPr>
            <a:lstStyle/>
            <a:p>
              <a:pPr algn="ctr"/>
              <a:r>
                <a:rPr sz="2800" b="1">
                  <a:solidFill>
                    <a:srgbClr val="0B2B4E"/>
                  </a:solidFill>
                  <a:latin typeface="Calibri"/>
                </a:rPr>
                <a:t>Poll Break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B2B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51999" y="0"/>
            <a:ext cx="10972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FFFFFF"/>
                </a:solidFill>
                <a:latin typeface="Calibri"/>
              </a:rPr>
              <a:t>Module 2 · Video 2 · Marginal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999" y="502920"/>
            <a:ext cx="11687697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u="none">
                <a:solidFill>
                  <a:srgbClr val="0B2B4E"/>
                </a:solidFill>
                <a:latin typeface="Calibri"/>
              </a:rPr>
              <a:t>Solution: Inside Out 2's Revenue-Maximizing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999" y="1143000"/>
            <a:ext cx="11687697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1999" y="112928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9159" y="1600200"/>
            <a:ext cx="11338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2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8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>
              <a:buNone/>
            </a:pPr>
            <a:r>
              <a:rPr sz="2200">
                <a:solidFill>
                  <a:srgbClr val="0B2B4E"/>
                </a:solidFill>
                <a:latin typeface="Calibri"/>
              </a:rPr>
              <a:t>Revenue is maximized where </a:t>
            </a:r>
            <a:r>
              <a:rPr sz="2200" b="1">
                <a:solidFill>
                  <a:srgbClr val="0070C0"/>
                </a:solidFill>
                <a:latin typeface="Calibri"/>
              </a:rPr>
              <a:t>MR = 0</a:t>
            </a:r>
            <a:r>
              <a:rPr sz="2200">
                <a:solidFill>
                  <a:srgbClr val="0B2B4E"/>
                </a:solidFill>
                <a:latin typeface="Calibri"/>
              </a:rPr>
              <a:t> .  Compute MR using the 3-step method: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2039" y="2331720"/>
            <a:ext cx="585216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600"/>
              </a:spcBef>
              <a:buClr>
                <a:srgbClr val="0B2B4E"/>
              </a:buClr>
              <a:buFont typeface="Calibri"/>
              <a:buChar char="▪"/>
              <a:defRPr sz="22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8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>
              <a:buNone/>
            </a:pPr>
            <a:r>
              <a:rPr sz="2200" b="1">
                <a:solidFill>
                  <a:srgbClr val="0B2B4E"/>
                </a:solidFill>
                <a:latin typeface="Calibri"/>
              </a:rPr>
              <a:t>1.  Inverse demand:   </a:t>
            </a:r>
            <a:r>
              <a:rPr sz="2200" i="1">
                <a:solidFill>
                  <a:srgbClr val="0B2B4E"/>
                </a:solidFill>
                <a:latin typeface="Calibri"/>
              </a:rPr>
              <a:t>P = 40 − 2Q</a:t>
            </a:r>
          </a:p>
          <a:p>
            <a:pPr algn="l">
              <a:spcBef>
                <a:spcPts val="1600"/>
              </a:spcBef>
              <a:buNone/>
            </a:pPr>
            <a:r>
              <a:rPr sz="2200" b="1">
                <a:solidFill>
                  <a:srgbClr val="0B2B4E"/>
                </a:solidFill>
                <a:latin typeface="Calibri"/>
              </a:rPr>
              <a:t>2.  Total revenue:   </a:t>
            </a:r>
            <a:r>
              <a:rPr sz="2200" i="1">
                <a:solidFill>
                  <a:srgbClr val="0B2B4E"/>
                </a:solidFill>
                <a:latin typeface="Calibri"/>
              </a:rPr>
              <a:t>TR = 40Q − 2Q²</a:t>
            </a:r>
          </a:p>
          <a:p>
            <a:pPr algn="l">
              <a:spcBef>
                <a:spcPts val="1600"/>
              </a:spcBef>
              <a:buNone/>
            </a:pPr>
            <a:r>
              <a:rPr sz="2200" b="1">
                <a:solidFill>
                  <a:srgbClr val="0B2B4E"/>
                </a:solidFill>
                <a:latin typeface="Calibri"/>
              </a:rPr>
              <a:t>3.  Derivative:   </a:t>
            </a:r>
            <a:r>
              <a:rPr sz="2200" i="1">
                <a:solidFill>
                  <a:srgbClr val="0B2B4E"/>
                </a:solidFill>
                <a:latin typeface="Calibri"/>
              </a:rPr>
              <a:t>MR = 40 − 4Q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6812280" y="2377440"/>
                <a:ext cx="4754880" cy="1828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>
                  <a:defRPr sz="2400" b="0" i="1">
                    <a:solidFill>
                      <a:srgbClr val="C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>
                          <a:solidFill>
                            <a:srgbClr val="C00000"/>
                          </a:solidFill>
                          <a:latin typeface="Cambria Math"/>
                        </a:rPr>
                        <m:t>MR</m:t>
                      </m:r>
                      <m:r>
                        <a:rPr lang="en-US" sz="2400" b="0" i="0">
                          <a:solidFill>
                            <a:srgbClr val="C00000"/>
                          </a:solidFill>
                          <a:latin typeface="Cambria Math"/>
                        </a:rPr>
                        <m:t> = 0:  40 − 4</m:t>
                      </m:r>
                      <m:r>
                        <a:rPr lang="en-US" sz="2400" b="0" i="1">
                          <a:solidFill>
                            <a:srgbClr val="C00000"/>
                          </a:solidFill>
                          <a:latin typeface="Cambria Math"/>
                          <a:ea typeface="Cambria Math"/>
                        </a:rPr>
                        <m:t>𝑄</m:t>
                      </m:r>
                      <m:r>
                        <a:rPr lang="en-US" sz="2400" b="0" i="0">
                          <a:solidFill>
                            <a:srgbClr val="C00000"/>
                          </a:solidFill>
                          <a:latin typeface="Cambria Math"/>
                        </a:rPr>
                        <m:t> = 0  ⇒  </m:t>
                      </m:r>
                      <m:r>
                        <a:rPr lang="en-US" sz="2400" b="0" i="1">
                          <a:solidFill>
                            <a:srgbClr val="C00000"/>
                          </a:solidFill>
                          <a:latin typeface="Cambria Math"/>
                          <a:ea typeface="Cambria Math"/>
                        </a:rPr>
                        <m:t>𝑄</m:t>
                      </m:r>
                      <m:r>
                        <a:rPr lang="en-US" sz="2400" b="0" i="0">
                          <a:solidFill>
                            <a:srgbClr val="C00000"/>
                          </a:solidFill>
                          <a:latin typeface="Cambria Math"/>
                        </a:rPr>
                        <m:t> = 10  ⇒  </m:t>
                      </m:r>
                      <m:r>
                        <a:rPr lang="en-US" sz="2400" b="0" i="1">
                          <a:solidFill>
                            <a:srgbClr val="C00000"/>
                          </a:solidFill>
                          <a:latin typeface="Cambria Math"/>
                          <a:ea typeface="Cambria Math"/>
                        </a:rPr>
                        <m:t>𝑃</m:t>
                      </m:r>
                      <m:r>
                        <a:rPr lang="en-US" sz="2400" b="0" i="0">
                          <a:solidFill>
                            <a:srgbClr val="C00000"/>
                          </a:solidFill>
                          <a:latin typeface="Cambria Math"/>
                        </a:rPr>
                        <m:t> = $20</m:t>
                      </m:r>
                    </m:oMath>
                  </m:oMathPara>
                </a14:m>
                <a:endParaRPr lang="en-US" sz="240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280" y="2377440"/>
                <a:ext cx="475488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389159" y="4892040"/>
            <a:ext cx="113385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lvl1pPr marL="342900" indent="-342900">
              <a:spcBef>
                <a:spcPts val="1800"/>
              </a:spcBef>
              <a:buClr>
                <a:srgbClr val="0B2B4E"/>
              </a:buClr>
              <a:buFont typeface="Calibri"/>
              <a:buChar char="▪"/>
              <a:defRPr sz="2200" b="0">
                <a:solidFill>
                  <a:srgbClr val="0B2B4E"/>
                </a:solidFill>
                <a:latin typeface="Calibri"/>
              </a:defRPr>
            </a:lvl1pPr>
            <a:lvl2pPr marL="685800" indent="-228600">
              <a:spcBef>
                <a:spcPts val="300"/>
              </a:spcBef>
              <a:buClr>
                <a:srgbClr val="555B66"/>
              </a:buClr>
              <a:buFont typeface="Calibri"/>
              <a:buChar char="–"/>
              <a:defRPr sz="1800" b="0">
                <a:solidFill>
                  <a:srgbClr val="555B66"/>
                </a:solidFill>
                <a:latin typeface="Calibri"/>
              </a:defRPr>
            </a:lvl2pPr>
          </a:lstStyle>
          <a:p>
            <a:pPr algn="l"/>
            <a:r>
              <a:rPr>
                <a:latin typeface="Calibri"/>
              </a:rPr>
              <a:t>Why revenue maximization? The marginal cost of one more stream is </a:t>
            </a:r>
            <a:r>
              <a:rPr b="1">
                <a:latin typeface="Calibri"/>
              </a:rPr>
              <a:t>close to zero</a:t>
            </a:r>
            <a:r>
              <a:rPr>
                <a:latin typeface="Calibri"/>
              </a:rPr>
              <a:t> – so maximizing revenue is (almost) maximizing profit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C8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1999" y="6524244"/>
            <a:ext cx="2011680" cy="45720"/>
          </a:xfrm>
          <a:prstGeom prst="rect">
            <a:avLst/>
          </a:prstGeom>
          <a:solidFill>
            <a:srgbClr val="E09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1999" y="658368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u="none">
                <a:solidFill>
                  <a:srgbClr val="555B66"/>
                </a:solidFill>
                <a:latin typeface="Calibri"/>
              </a:rPr>
              <a:t>Management 405  ·  Module 2  ·  Demand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83680"/>
            <a:ext cx="50292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408FD56-BFF0-5DB7-9236-61A05EBE3659}" type="slidenum">
              <a:rPr lang="en-US" sz="1200" dirty="0">
                <a:solidFill>
                  <a:srgbClr val="555B66"/>
                </a:solidFill>
                <a:latin typeface="Calibri"/>
              </a:rPr>
              <a:t>6</a:t>
            </a:fld>
            <a:endParaRPr lang="en-US" sz="1200" dirty="0">
              <a:solidFill>
                <a:srgbClr val="555B66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10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557</Words>
  <Application>Microsoft Office PowerPoint</Application>
  <PresentationFormat>Widescreen</PresentationFormat>
  <Paragraphs>52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Voigtlaender, Nico</cp:lastModifiedBy>
  <cp:revision>3</cp:revision>
  <dcterms:created xsi:type="dcterms:W3CDTF">2013-01-27T09:14:16Z</dcterms:created>
  <dcterms:modified xsi:type="dcterms:W3CDTF">2026-08-26T00:41:58Z</dcterms:modified>
  <cp:category/>
</cp:coreProperties>
</file>