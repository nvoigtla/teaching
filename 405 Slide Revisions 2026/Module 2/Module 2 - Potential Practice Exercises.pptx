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01" r:id="rId2"/>
    <p:sldId id="302" r:id="rId3"/>
    <p:sldId id="303" r:id="rId4"/>
    <p:sldId id="274" r:id="rId5"/>
    <p:sldId id="307" r:id="rId13"/>
    <p:sldId id="308" r:id="rId14"/>
    <p:sldId id="305" r:id="rId6"/>
    <p:sldId id="30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1662A-056B-438C-BC34-BD17DCCD74B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21F4-7C65-44E3-B6D2-ED70EA5D8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9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52B9C-F38A-4A42-906A-2292BE2915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1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an elasticity of about −0.2, demand is well inside the inelastic range, so the 150% price increase outweighs the roughly 30% drop in tickets and revenue rises. From the rounded ticket counts: 142,000 tickets at $2 is $284,000; 100,000 tickets at $5 is $500,000 - up about 76%. Multiplicative check: 2.50 × 0.704 ≈ 1.76.</a:t>
            </a:r>
          </a:p>
          <a:p/>
          <a:p>
            <a:r>
              <a:t>Caution (kept off the slide): the article's own dollar figures ($491,323 → $841,185, “+71%”) do not equal tickets × price (they imply $3.46 and $8.39 per ticket), so they must cover more than the base ticket sales counted here; the revenue check above uses the reported ticket counts (142,170 and 100,297, rounded), and the qualitative conclusion is unchanged. Source: WROR / BostonNewsroom, April 10, 2025, citing the Massachusetts Lottery (WBZ-TV).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ror.com/2025/04/10/massachusetts-mega-millions-sales-drop-30-after-price-hike-revenue-jumps-71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331720"/>
            <a:ext cx="12191695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4800" b="1" i="0" u="none" dirty="0">
                <a:solidFill>
                  <a:srgbClr val="0B2B4E"/>
                </a:solidFill>
                <a:latin typeface="Calibri"/>
              </a:rPr>
              <a:t>Potential Practice Exercises for Module 2</a:t>
            </a:r>
            <a:endParaRPr sz="4800" b="1" i="0" u="none" dirty="0">
              <a:solidFill>
                <a:srgbClr val="0B2B4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67047" y="3401568"/>
            <a:ext cx="3657600" cy="54864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Module 2 · Video 1 · Demand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none">
                <a:solidFill>
                  <a:srgbClr val="0B2B4E"/>
                </a:solidFill>
                <a:latin typeface="Calibri"/>
              </a:rPr>
              <a:t>The Netflix 2014 Price Increase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2039" y="1783080"/>
            <a:ext cx="106070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1800"/>
              </a:spcBef>
              <a:buClr>
                <a:srgbClr val="0B2B4E"/>
              </a:buClr>
              <a:buFont typeface="Calibri"/>
              <a:buChar char="▪"/>
              <a:defRPr sz="26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4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/>
            <a:r>
              <a:rPr>
                <a:latin typeface="Calibri"/>
              </a:rPr>
              <a:t>In 2014, Netflix raised its monthly price by $1, from $7.99 to $8.99</a:t>
            </a:r>
          </a:p>
          <a:p>
            <a:pPr algn="l"/>
            <a:r>
              <a:rPr>
                <a:latin typeface="Calibri"/>
              </a:rPr>
              <a:t>Then: 50 million subscribers, own-price elasticity of demand </a:t>
            </a:r>
            <a:r>
              <a:rPr b="1">
                <a:solidFill>
                  <a:srgbClr val="0070C0"/>
                </a:solidFill>
                <a:latin typeface="Calibri"/>
              </a:rPr>
              <a:t>≈ −2</a:t>
            </a:r>
          </a:p>
          <a:p>
            <a:pPr algn="l"/>
            <a:r>
              <a:rPr>
                <a:latin typeface="Calibri"/>
              </a:rPr>
              <a:t>Implications of the price increase for:</a:t>
            </a:r>
          </a:p>
          <a:p>
            <a:pPr lvl="1" algn="l"/>
            <a:r>
              <a:rPr>
                <a:latin typeface="Calibri"/>
              </a:rPr>
              <a:t>Number of subscriptions (quantitative)?</a:t>
            </a:r>
          </a:p>
          <a:p>
            <a:pPr lvl="1" algn="l"/>
            <a:r>
              <a:rPr>
                <a:latin typeface="Calibri"/>
              </a:rPr>
              <a:t>Revenue (qualitative)?</a:t>
            </a:r>
          </a:p>
          <a:p>
            <a:pPr lvl="1" algn="l"/>
            <a:r>
              <a:rPr>
                <a:latin typeface="Calibri"/>
              </a:rPr>
              <a:t>Profits (speculative)?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999" y="65836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u="none">
                <a:solidFill>
                  <a:srgbClr val="555B66"/>
                </a:solidFill>
                <a:latin typeface="Calibri"/>
              </a:rPr>
              <a:t>Management 405  ·  Module 2  ·  Demand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22BC27D3-51A2-5F90-879D-724E6E524C78}" type="slidenum">
              <a:rPr lang="en-US" sz="1200" dirty="0">
                <a:solidFill>
                  <a:srgbClr val="555B66"/>
                </a:solidFill>
                <a:latin typeface="Calibri"/>
              </a:rPr>
              <a:t>2</a:t>
            </a:fld>
            <a:endParaRPr lang="en-US" sz="1200" dirty="0">
              <a:solidFill>
                <a:srgbClr val="555B66"/>
              </a:solidFill>
              <a:latin typeface="Calibri"/>
            </a:endParaRPr>
          </a:p>
        </p:txBody>
      </p:sp>
      <p:grpSp>
        <p:nvGrpSpPr>
          <p:cNvPr id="9700" name="Group 14">
            <a:extLst>
              <a:ext uri="{FF2B5EF4-FFF2-40B4-BE49-F238E27FC236}">
                <a16:creationId xmlns:a16="http://schemas.microsoft.com/office/drawing/2014/main" id="{C7881A0F-62FF-0536-16AD-55B1DC27DD3D}"/>
              </a:ext>
            </a:extLst>
          </p:cNvPr>
          <p:cNvGrpSpPr/>
          <p:nvPr/>
        </p:nvGrpSpPr>
        <p:grpSpPr>
          <a:xfrm>
            <a:off x="6826842" y="6190488"/>
            <a:ext cx="5112854" cy="539496"/>
            <a:chOff x="7550576" y="5715000"/>
            <a:chExt cx="4389120" cy="658368"/>
          </a:xfrm>
        </p:grpSpPr>
        <p:sp>
          <p:nvSpPr>
            <p:cNvPr id="9701" name="Rectangle 8"/>
            <p:cNvSpPr/>
            <p:nvPr/>
          </p:nvSpPr>
          <p:spPr>
            <a:xfrm>
              <a:off x="7550576" y="5715000"/>
              <a:ext cx="4389120" cy="658368"/>
            </a:xfrm>
            <a:custGeom>
              <a:avLst/>
              <a:gdLst/>
              <a:ahLst/>
              <a:cxnLst/>
              <a:rect l="15000" t="0" r="85000" b="100000"/>
              <a:pathLst>
                <a:path w="100000" h="100000">
                  <a:moveTo>
                    <a:pt x="20000" y="0"/>
                  </a:moveTo>
                  <a:lnTo>
                    <a:pt x="95000" y="0"/>
                  </a:lnTo>
                  <a:cubicBezTo>
                    <a:pt x="100000" y="0"/>
                    <a:pt x="100000" y="0"/>
                    <a:pt x="99250" y="5000"/>
                  </a:cubicBezTo>
                  <a:lnTo>
                    <a:pt x="85750" y="95000"/>
                  </a:lnTo>
                  <a:cubicBezTo>
                    <a:pt x="85000" y="100000"/>
                    <a:pt x="85000" y="100000"/>
                    <a:pt x="80000" y="100000"/>
                  </a:cubicBezTo>
                  <a:lnTo>
                    <a:pt x="5000" y="100000"/>
                  </a:lnTo>
                  <a:cubicBezTo>
                    <a:pt x="0" y="100000"/>
                    <a:pt x="0" y="100000"/>
                    <a:pt x="750" y="95000"/>
                  </a:cubicBezTo>
                  <a:lnTo>
                    <a:pt x="14250" y="5000"/>
                  </a:lnTo>
                  <a:cubicBezTo>
                    <a:pt x="15000" y="0"/>
                    <a:pt x="15000" y="0"/>
                    <a:pt x="20000" y="0"/>
                  </a:cubicBezTo>
                  <a:close/>
                </a:path>
              </a:pathLst>
            </a:custGeom>
            <a:solidFill>
              <a:srgbClr val="E09F3E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02" name="TextBox 9"/>
            <p:cNvSpPr txBox="1"/>
            <p:nvPr/>
          </p:nvSpPr>
          <p:spPr>
            <a:xfrm>
              <a:off x="8208944" y="5715000"/>
              <a:ext cx="3072384" cy="658368"/>
            </a:xfrm>
            <a:prstGeom prst="rect">
              <a:avLst/>
            </a:prstGeom>
            <a:noFill/>
          </p:spPr>
          <p:txBody>
            <a:bodyPr wrap="none" lIns="45720" tIns="18288" rIns="45720" bIns="18288" anchor="ctr">
              <a:spAutoFit/>
            </a:bodyPr>
            <a:lstStyle/>
            <a:p>
              <a:pPr algn="ctr"/>
              <a:r>
                <a:rPr sz="2800" b="1">
                  <a:solidFill>
                    <a:srgbClr val="0B2B4E"/>
                  </a:solidFill>
                  <a:latin typeface="Calibri"/>
                </a:rPr>
                <a:t>Group Discussion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Module 2 · Video 1 · Demand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none">
                <a:solidFill>
                  <a:srgbClr val="0B2B4E"/>
                </a:solidFill>
                <a:latin typeface="Calibri"/>
              </a:rPr>
              <a:t>Solution: Netflix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9159" y="1600200"/>
            <a:ext cx="11338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1800"/>
              </a:spcBef>
              <a:buClr>
                <a:srgbClr val="0B2B4E"/>
              </a:buClr>
              <a:buFont typeface="Calibri"/>
              <a:buChar char="▪"/>
              <a:defRPr sz="22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18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200" b="1">
                <a:solidFill>
                  <a:srgbClr val="0B2B4E"/>
                </a:solidFill>
                <a:latin typeface="Calibri"/>
              </a:rPr>
              <a:t>Subscriptions decline</a:t>
            </a:r>
            <a:r>
              <a:rPr sz="2200">
                <a:solidFill>
                  <a:srgbClr val="0B2B4E"/>
                </a:solidFill>
                <a:latin typeface="Calibri"/>
              </a:rPr>
              <a:t> — by how much? Use Method 1 with </a:t>
            </a:r>
            <a:r>
              <a:rPr sz="2200" b="1">
                <a:solidFill>
                  <a:srgbClr val="0070C0"/>
                </a:solidFill>
                <a:latin typeface="Calibri"/>
              </a:rPr>
              <a:t>E</a:t>
            </a:r>
            <a:r>
              <a:rPr sz="2200" b="1" baseline="-25000">
                <a:solidFill>
                  <a:srgbClr val="0070C0"/>
                </a:solidFill>
                <a:latin typeface="Calibri"/>
              </a:rPr>
              <a:t>D</a:t>
            </a:r>
            <a:r>
              <a:rPr sz="2200" b="1">
                <a:solidFill>
                  <a:srgbClr val="0070C0"/>
                </a:solidFill>
                <a:latin typeface="Calibri"/>
              </a:rPr>
              <a:t> = −2</a:t>
            </a:r>
            <a:r>
              <a:rPr sz="2200">
                <a:solidFill>
                  <a:srgbClr val="0B2B4E"/>
                </a:solidFill>
                <a:latin typeface="Calibri"/>
              </a:rPr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423160" y="2331720"/>
                <a:ext cx="7315200" cy="10515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2600" b="0" i="1">
                    <a:solidFill>
                      <a:srgbClr val="0B2B4E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600" b="0" i="1">
                              <a:solidFill>
                                <a:srgbClr val="0B2B4E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600" b="0" i="1">
                              <a:solidFill>
                                <a:srgbClr val="0B2B4E"/>
                              </a:solidFill>
                              <a:latin typeface="Cambria Math"/>
                              <a:ea typeface="Cambria Math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 b="0" i="0">
                              <a:solidFill>
                                <a:srgbClr val="0B2B4E"/>
                              </a:solidFill>
                              <a:latin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 i="0">
                          <a:solidFill>
                            <a:srgbClr val="0B2B4E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2600" b="0" i="0">
                              <a:solidFill>
                                <a:srgbClr val="0B2B4E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600" b="0" i="0">
                              <a:solidFill>
                                <a:srgbClr val="0B2B4E"/>
                              </a:solidFill>
                              <a:latin typeface="Cambria Math"/>
                            </a:rPr>
                            <m:t>%</m:t>
                          </m:r>
                          <m:r>
                            <m:rPr>
                              <m:sty m:val="p"/>
                            </m:rPr>
                            <a:rPr lang="en-US" sz="2600" b="0" i="0">
                              <a:solidFill>
                                <a:srgbClr val="0B2B4E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a:rPr lang="en-US" sz="2600" b="0" i="1">
                              <a:solidFill>
                                <a:srgbClr val="0B2B4E"/>
                              </a:solidFill>
                              <a:latin typeface="Cambria Math"/>
                              <a:ea typeface="Cambria Math"/>
                            </a:rPr>
                            <m:t>𝑄</m:t>
                          </m:r>
                        </m:num>
                        <m:den>
                          <m:r>
                            <a:rPr lang="en-US" sz="2600" b="0" i="0">
                              <a:solidFill>
                                <a:srgbClr val="0B2B4E"/>
                              </a:solidFill>
                              <a:latin typeface="Cambria Math"/>
                            </a:rPr>
                            <m:t>%</m:t>
                          </m:r>
                          <m:r>
                            <m:rPr>
                              <m:sty m:val="p"/>
                            </m:rPr>
                            <a:rPr lang="en-US" sz="2600" b="0" i="0">
                              <a:solidFill>
                                <a:srgbClr val="0B2B4E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a:rPr lang="en-US" sz="2600" b="0" i="1">
                              <a:solidFill>
                                <a:srgbClr val="0B2B4E"/>
                              </a:solidFill>
                              <a:latin typeface="Cambria Math"/>
                              <a:ea typeface="Cambria Math"/>
                            </a:rPr>
                            <m:t>𝑃</m:t>
                          </m:r>
                        </m:den>
                      </m:f>
                      <m:r>
                        <a:rPr lang="en-US" sz="2600" b="0" i="0">
                          <a:solidFill>
                            <a:srgbClr val="0B2B4E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2600" b="0" i="0">
                              <a:solidFill>
                                <a:srgbClr val="0B2B4E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600" b="0" i="0">
                              <a:solidFill>
                                <a:srgbClr val="0B2B4E"/>
                              </a:solidFill>
                              <a:latin typeface="Cambria Math"/>
                            </a:rPr>
                            <m:t>%</m:t>
                          </m:r>
                          <m:r>
                            <m:rPr>
                              <m:sty m:val="p"/>
                            </m:rPr>
                            <a:rPr lang="en-US" sz="2600" b="0" i="0">
                              <a:solidFill>
                                <a:srgbClr val="0B2B4E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a:rPr lang="en-US" sz="2600" b="0" i="1">
                              <a:solidFill>
                                <a:srgbClr val="0B2B4E"/>
                              </a:solidFill>
                              <a:latin typeface="Cambria Math"/>
                              <a:ea typeface="Cambria Math"/>
                            </a:rPr>
                            <m:t>𝑄</m:t>
                          </m:r>
                        </m:num>
                        <m:den>
                          <m:r>
                            <a:rPr lang="en-US" sz="2600" b="0" i="0">
                              <a:solidFill>
                                <a:srgbClr val="0B2B4E"/>
                              </a:solidFill>
                              <a:latin typeface="Cambria Math"/>
                            </a:rPr>
                            <m:t>12.5%</m:t>
                          </m:r>
                        </m:den>
                      </m:f>
                      <m:r>
                        <a:rPr lang="en-US" sz="2600" b="0" i="0">
                          <a:solidFill>
                            <a:srgbClr val="0B2B4E"/>
                          </a:solidFill>
                          <a:latin typeface="Cambria Math"/>
                        </a:rPr>
                        <m:t> = −2</m:t>
                      </m:r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160" y="2331720"/>
                <a:ext cx="7315200" cy="10515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54919" y="3566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1800"/>
              </a:spcBef>
              <a:buClr>
                <a:srgbClr val="0B2B4E"/>
              </a:buClr>
              <a:buFont typeface="Calibri"/>
              <a:buChar char="▪"/>
              <a:defRPr sz="20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16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000">
                <a:solidFill>
                  <a:srgbClr val="0B2B4E"/>
                </a:solidFill>
                <a:latin typeface="Calibri"/>
              </a:rPr>
              <a:t>where  %ΔP = (8.99 − 7.99) / 7.99 = +12.5%,   so   %ΔQ = −25%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159" y="4297680"/>
            <a:ext cx="1133856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1200"/>
              </a:spcBef>
              <a:buClr>
                <a:srgbClr val="0B2B4E"/>
              </a:buClr>
              <a:buFont typeface="Calibri"/>
              <a:buChar char="▪"/>
              <a:defRPr sz="22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18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200">
                <a:solidFill>
                  <a:srgbClr val="0B2B4E"/>
                </a:solidFill>
                <a:latin typeface="Calibri"/>
              </a:rPr>
              <a:t>→  a </a:t>
            </a:r>
            <a:r>
              <a:rPr sz="2200" b="1">
                <a:solidFill>
                  <a:srgbClr val="0070C0"/>
                </a:solidFill>
                <a:latin typeface="Calibri"/>
              </a:rPr>
              <a:t>25% decline</a:t>
            </a:r>
            <a:r>
              <a:rPr sz="2200">
                <a:solidFill>
                  <a:srgbClr val="0B2B4E"/>
                </a:solidFill>
                <a:latin typeface="Calibri"/>
              </a:rPr>
              <a:t> in subscriptions</a:t>
            </a:r>
          </a:p>
          <a:p>
            <a:pPr algn="l"/>
            <a:r>
              <a:rPr b="1">
                <a:latin typeface="Calibri"/>
              </a:rPr>
              <a:t>Revenue:</a:t>
            </a:r>
            <a:r>
              <a:rPr>
                <a:latin typeface="Calibri"/>
              </a:rPr>
              <a:t> demand is </a:t>
            </a:r>
            <a:r>
              <a:rPr b="1">
                <a:solidFill>
                  <a:srgbClr val="0070C0"/>
                </a:solidFill>
                <a:latin typeface="Calibri"/>
              </a:rPr>
              <a:t>elastic</a:t>
            </a:r>
            <a:r>
              <a:rPr>
                <a:latin typeface="Calibri"/>
              </a:rPr>
              <a:t>, so quantity outweighs price  →  revenue falls</a:t>
            </a:r>
          </a:p>
          <a:p>
            <a:pPr algn="l"/>
            <a:r>
              <a:rPr b="1">
                <a:latin typeface="Calibri"/>
              </a:rPr>
              <a:t>Profits:</a:t>
            </a:r>
            <a:r>
              <a:rPr>
                <a:latin typeface="Calibri"/>
              </a:rPr>
              <a:t> fewer subscribers, near-zero cost savings  →  profits likely fell too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1999" y="65836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u="none">
                <a:solidFill>
                  <a:srgbClr val="555B66"/>
                </a:solidFill>
                <a:latin typeface="Calibri"/>
              </a:rPr>
              <a:t>Management 405  ·  Module 2  ·  Demand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D9A67DD4-F7AE-544E-90A8-A1061E835C94}" type="slidenum">
              <a:rPr lang="en-US" sz="1200" dirty="0">
                <a:solidFill>
                  <a:srgbClr val="555B66"/>
                </a:solidFill>
                <a:latin typeface="Calibri"/>
              </a:rPr>
              <a:t>3</a:t>
            </a:fld>
            <a:endParaRPr lang="en-US" sz="1200" dirty="0">
              <a:solidFill>
                <a:srgbClr val="555B66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1.png"/>
          <p:cNvPicPr>
            <a:picLocks noChangeAspect="1"/>
          </p:cNvPicPr>
          <p:nvPr/>
        </p:nvPicPr>
        <p:blipFill>
          <a:blip r:embed="rId3">
            <a:alphaModFix amt="16000"/>
            <a:lum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 dirty="0">
                <a:solidFill>
                  <a:srgbClr val="0B2B4E"/>
                </a:solidFill>
                <a:latin typeface="Calibri"/>
              </a:rPr>
              <a:t>Lottery Sales, Revisited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fld id="{47CD56CC-7DF6-479C-85AA-7676A08079F2}" type="slidenum">
              <a:rPr sz="1200" b="0" i="0" dirty="0">
                <a:solidFill>
                  <a:srgbClr val="555B66"/>
                </a:solidFill>
                <a:latin typeface="Calibri"/>
              </a:rPr>
              <a:t>4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493776" y="1493671"/>
            <a:ext cx="10753344" cy="39346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600" b="0" i="0" dirty="0">
                <a:solidFill>
                  <a:srgbClr val="0B2B4E"/>
                </a:solidFill>
                <a:latin typeface="Calibri"/>
              </a:rPr>
              <a:t>April 2025: Mega Millions raises its ticket price from $2 to $5</a:t>
            </a:r>
          </a:p>
          <a:p>
            <a:pPr marL="274320" indent="-237744" algn="l"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600" b="0" i="0" dirty="0">
                <a:solidFill>
                  <a:srgbClr val="0B2B4E"/>
                </a:solidFill>
                <a:latin typeface="Calibri"/>
              </a:rPr>
              <a:t>As a result, in Massachusetts, weekly ticket sales fell from about 142,000 to about 100,000</a:t>
            </a:r>
          </a:p>
          <a:p>
            <a:pPr marL="274320" indent="-237744" algn="l"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0" i="0" dirty="0">
                <a:solidFill>
                  <a:srgbClr val="0B2B4E"/>
                </a:solidFill>
                <a:latin typeface="Calibri"/>
              </a:rPr>
              <a:t>We computed E</a:t>
            </a:r>
            <a:r>
              <a:rPr sz="2600" b="0" i="0" baseline="-25000" dirty="0">
                <a:solidFill>
                  <a:srgbClr val="0B2B4E"/>
                </a:solidFill>
                <a:latin typeface="Calibri"/>
              </a:rPr>
              <a:t>D</a:t>
            </a:r>
            <a:r>
              <a:rPr sz="2600" b="0" i="0" dirty="0">
                <a:solidFill>
                  <a:srgbClr val="0B2B4E"/>
                </a:solidFill>
                <a:latin typeface="Calibri"/>
              </a:rPr>
              <a:t> = </a:t>
            </a:r>
            <a:r>
              <a:rPr sz="2600" b="1" i="0" dirty="0">
                <a:solidFill>
                  <a:srgbClr val="0070C0"/>
                </a:solidFill>
                <a:latin typeface="Calibri"/>
              </a:rPr>
              <a:t>−0.2</a:t>
            </a:r>
            <a:endParaRPr lang="fr-FR" sz="2600" b="1" i="0" dirty="0">
              <a:solidFill>
                <a:srgbClr val="0070C0"/>
              </a:solidFill>
              <a:latin typeface="Calibri"/>
            </a:endParaRPr>
          </a:p>
          <a:p>
            <a:pPr marL="274320" indent="-237744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600" dirty="0">
                <a:solidFill>
                  <a:srgbClr val="002060"/>
                </a:solidFill>
                <a:latin typeface="Calibri"/>
              </a:rPr>
              <a:t>“When ticket prices went up from $2 to $5 last April, Massachusetts State Lottery saw fewer people buying tickets but much higher profits. Sales dropped by 30% while revenue climbed…” (</a:t>
            </a:r>
            <a:r>
              <a:rPr lang="en-US" sz="2600" dirty="0">
                <a:solidFill>
                  <a:srgbClr val="002060"/>
                </a:solidFill>
                <a:latin typeface="Calibri"/>
                <a:hlinkClick r:id="rId4"/>
              </a:rPr>
              <a:t>Source</a:t>
            </a:r>
            <a:r>
              <a:rPr lang="en-US" sz="2600" dirty="0">
                <a:solidFill>
                  <a:srgbClr val="002060"/>
                </a:solidFill>
                <a:latin typeface="Calibri"/>
              </a:rPr>
              <a:t>)</a:t>
            </a:r>
            <a:endParaRPr sz="2600" i="0" dirty="0">
              <a:solidFill>
                <a:srgbClr val="002060"/>
              </a:solidFill>
              <a:latin typeface="Calibri"/>
            </a:endParaRPr>
          </a:p>
          <a:p>
            <a:pPr marL="274320" indent="-237744"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1" i="0" dirty="0">
                <a:solidFill>
                  <a:srgbClr val="0B2B4E"/>
                </a:solidFill>
                <a:latin typeface="Calibri"/>
              </a:rPr>
              <a:t>Is the </a:t>
            </a:r>
            <a:r>
              <a:rPr lang="fr-FR" sz="2600" b="1" i="0" dirty="0">
                <a:solidFill>
                  <a:srgbClr val="0B2B4E"/>
                </a:solidFill>
                <a:latin typeface="Calibri"/>
              </a:rPr>
              <a:t>article</a:t>
            </a:r>
            <a:r>
              <a:rPr sz="2600" b="1" i="0" dirty="0">
                <a:solidFill>
                  <a:srgbClr val="0B2B4E"/>
                </a:solidFill>
                <a:latin typeface="Calibri"/>
              </a:rPr>
              <a:t> right that revenue r</a:t>
            </a:r>
            <a:r>
              <a:rPr lang="fr-FR" sz="2600" b="1" i="0">
                <a:solidFill>
                  <a:srgbClr val="0B2B4E"/>
                </a:solidFill>
                <a:latin typeface="Calibri"/>
              </a:rPr>
              <a:t>ose</a:t>
            </a:r>
            <a:r>
              <a:rPr sz="2600" b="1" i="0">
                <a:solidFill>
                  <a:srgbClr val="0B2B4E"/>
                </a:solidFill>
                <a:latin typeface="Calibri"/>
              </a:rPr>
              <a:t> </a:t>
            </a:r>
            <a:r>
              <a:rPr sz="2600" b="1" i="0" dirty="0">
                <a:solidFill>
                  <a:srgbClr val="0B2B4E"/>
                </a:solidFill>
                <a:latin typeface="Calibri"/>
              </a:rPr>
              <a:t>when the price went from $2 to $5?</a:t>
            </a:r>
          </a:p>
        </p:txBody>
      </p:sp>
      <p:grpSp>
        <p:nvGrpSpPr>
          <p:cNvPr id="13" name="Group 14">
            <a:extLst>
              <a:ext uri="{FF2B5EF4-FFF2-40B4-BE49-F238E27FC236}">
                <a16:creationId xmlns:a16="http://schemas.microsoft.com/office/drawing/2014/main" id="{5624855F-1002-EDBD-33EC-FE2932990C2B}"/>
              </a:ext>
            </a:extLst>
          </p:cNvPr>
          <p:cNvGrpSpPr/>
          <p:nvPr/>
        </p:nvGrpSpPr>
        <p:grpSpPr>
          <a:xfrm>
            <a:off x="6826842" y="6190488"/>
            <a:ext cx="5112854" cy="539496"/>
            <a:chOff x="7550576" y="5715000"/>
            <a:chExt cx="4389120" cy="658368"/>
          </a:xfrm>
        </p:grpSpPr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30D584E5-ECDB-530C-2D32-26B664624E4E}"/>
                </a:ext>
              </a:extLst>
            </p:cNvPr>
            <p:cNvSpPr/>
            <p:nvPr/>
          </p:nvSpPr>
          <p:spPr>
            <a:xfrm>
              <a:off x="7550576" y="5715000"/>
              <a:ext cx="4389120" cy="658368"/>
            </a:xfrm>
            <a:custGeom>
              <a:avLst/>
              <a:gdLst/>
              <a:ahLst/>
              <a:cxnLst/>
              <a:rect l="15000" t="0" r="85000" b="100000"/>
              <a:pathLst>
                <a:path w="100000" h="100000">
                  <a:moveTo>
                    <a:pt x="20000" y="0"/>
                  </a:moveTo>
                  <a:lnTo>
                    <a:pt x="95000" y="0"/>
                  </a:lnTo>
                  <a:cubicBezTo>
                    <a:pt x="100000" y="0"/>
                    <a:pt x="100000" y="0"/>
                    <a:pt x="99250" y="5000"/>
                  </a:cubicBezTo>
                  <a:lnTo>
                    <a:pt x="85750" y="95000"/>
                  </a:lnTo>
                  <a:cubicBezTo>
                    <a:pt x="85000" y="100000"/>
                    <a:pt x="85000" y="100000"/>
                    <a:pt x="80000" y="100000"/>
                  </a:cubicBezTo>
                  <a:lnTo>
                    <a:pt x="5000" y="100000"/>
                  </a:lnTo>
                  <a:cubicBezTo>
                    <a:pt x="0" y="100000"/>
                    <a:pt x="0" y="100000"/>
                    <a:pt x="750" y="95000"/>
                  </a:cubicBezTo>
                  <a:lnTo>
                    <a:pt x="14250" y="5000"/>
                  </a:lnTo>
                  <a:cubicBezTo>
                    <a:pt x="15000" y="0"/>
                    <a:pt x="15000" y="0"/>
                    <a:pt x="20000" y="0"/>
                  </a:cubicBezTo>
                  <a:close/>
                </a:path>
              </a:pathLst>
            </a:custGeom>
            <a:solidFill>
              <a:srgbClr val="E09F3E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9">
              <a:extLst>
                <a:ext uri="{FF2B5EF4-FFF2-40B4-BE49-F238E27FC236}">
                  <a16:creationId xmlns:a16="http://schemas.microsoft.com/office/drawing/2014/main" id="{2E2B3134-1BF6-4BD1-8217-AE3290A16E66}"/>
                </a:ext>
              </a:extLst>
            </p:cNvPr>
            <p:cNvSpPr txBox="1"/>
            <p:nvPr/>
          </p:nvSpPr>
          <p:spPr>
            <a:xfrm>
              <a:off x="8208944" y="5715000"/>
              <a:ext cx="3072384" cy="658368"/>
            </a:xfrm>
            <a:prstGeom prst="rect">
              <a:avLst/>
            </a:prstGeom>
            <a:noFill/>
          </p:spPr>
          <p:txBody>
            <a:bodyPr wrap="none" lIns="45720" tIns="18288" rIns="45720" bIns="18288" anchor="ctr">
              <a:spAutoFit/>
            </a:bodyPr>
            <a:lstStyle/>
            <a:p>
              <a:pPr algn="ctr"/>
              <a:r>
                <a:rPr sz="2800" b="1">
                  <a:solidFill>
                    <a:srgbClr val="0B2B4E"/>
                  </a:solidFill>
                  <a:latin typeface="Calibri"/>
                </a:rPr>
                <a:t>Group Discussion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Module 2 · Video 2 · Marginal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none">
                <a:solidFill>
                  <a:srgbClr val="0B2B4E"/>
                </a:solidFill>
                <a:latin typeface="Calibri"/>
              </a:rPr>
              <a:t>Inside Out 2's Marginal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9159" y="1783080"/>
            <a:ext cx="66751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1800"/>
              </a:spcBef>
              <a:buClr>
                <a:srgbClr val="0B2B4E"/>
              </a:buClr>
              <a:buFont typeface="Calibri"/>
              <a:buChar char="▪"/>
              <a:defRPr sz="24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0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/>
            <a:r>
              <a:rPr>
                <a:latin typeface="Calibri"/>
              </a:rPr>
              <a:t>Demand for streaming </a:t>
            </a:r>
            <a:r>
              <a:rPr i="1">
                <a:latin typeface="Calibri"/>
              </a:rPr>
              <a:t>Inside Out 2</a:t>
            </a:r>
            <a:r>
              <a:rPr>
                <a:latin typeface="Calibri"/>
              </a:rPr>
              <a:t> on Disney+   (Q: viewers, in millions):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325880" y="2880360"/>
                <a:ext cx="4023360" cy="1005840"/>
              </a:xfrm>
              <a:prstGeom prst="roundRect">
                <a:avLst>
                  <a:gd name="adj" fmla="val 25000"/>
                </a:avLst>
              </a:prstGeom>
              <a:solidFill>
                <a:srgbClr val="FDF6E6"/>
              </a:solidFill>
              <a:ln w="9525">
                <a:solidFill>
                  <a:srgbClr val="0B2B4E"/>
                </a:solidFill>
              </a:ln>
              <a:effectLst>
                <a:outerShdw blurRad="50800" dist="38100" dir="2700000" algn="tl" rotWithShape="0">
                  <a:srgbClr val="000000">
                    <a:alpha val="45000"/>
                  </a:srgbClr>
                </a:outerShdw>
              </a:effectLst>
            </p:spPr>
            <p:txBody>
              <a:bodyPr wrap="square" anchor="ctr">
                <a:spAutoFit/>
              </a:bodyPr>
              <a:lstStyle/>
              <a:p>
                <a:pPr algn="ctr">
                  <a:defRPr sz="2800" b="0" i="1">
                    <a:solidFill>
                      <a:srgbClr val="0B2B4E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2800" b="0" i="1">
                          <a:solidFill>
                            <a:srgbClr val="0B2B4E"/>
                          </a:solidFill>
                          <a:latin typeface="Cambria Math"/>
                          <a:ea typeface="Cambria Math"/>
                        </a:rPr>
                        <m:t>𝑄</m:t>
                      </m:r>
                      <m:r>
                        <a:rPr lang="en-US" sz="2800" b="0" i="0">
                          <a:solidFill>
                            <a:srgbClr val="0B2B4E"/>
                          </a:solidFill>
                          <a:latin typeface="Cambria Math"/>
                        </a:rPr>
                        <m:t> = 20 − </m:t>
                      </m:r>
                      <m:f>
                        <m:fPr>
                          <m:ctrlPr>
                            <a:rPr lang="en-US" sz="2800" b="0" i="0">
                              <a:solidFill>
                                <a:srgbClr val="0B2B4E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800" b="0" i="0">
                              <a:solidFill>
                                <a:srgbClr val="0B2B4E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 i="0">
                              <a:solidFill>
                                <a:srgbClr val="0B2B4E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sz="2800" b="0" i="1">
                          <a:solidFill>
                            <a:srgbClr val="0B2B4E"/>
                          </a:solidFill>
                          <a:latin typeface="Cambria Math"/>
                          <a:ea typeface="Cambria Math"/>
                        </a:rPr>
                        <m:t>𝑃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880" y="2880360"/>
                <a:ext cx="4023360" cy="1005840"/>
              </a:xfrm>
              <a:prstGeom prst="roundRect">
                <a:avLst>
                  <a:gd name="adj" fmla="val 25000"/>
                </a:avLst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rgbClr val="0B2B4E"/>
                </a:solidFill>
              </a:ln>
              <a:effectLst>
                <a:outerShdw blurRad="50800" dist="38100" dir="2700000" algn="tl" rotWithShape="0">
                  <a:srgbClr val="000000">
                    <a:alpha val="4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89159" y="434340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1400"/>
              </a:spcBef>
              <a:buClr>
                <a:srgbClr val="0B2B4E"/>
              </a:buClr>
              <a:buFont typeface="Calibri"/>
              <a:buChar char="▪"/>
              <a:defRPr sz="24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0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/>
            <a:r>
              <a:rPr b="1">
                <a:latin typeface="Calibri"/>
              </a:rPr>
              <a:t>What is the revenue-maximizing price?</a:t>
            </a:r>
          </a:p>
          <a:p>
            <a:pPr algn="l"/>
            <a:r>
              <a:rPr>
                <a:latin typeface="Calibri"/>
              </a:rPr>
              <a:t>Why might Disney care about </a:t>
            </a:r>
            <a:r>
              <a:rPr i="1">
                <a:latin typeface="Calibri"/>
              </a:rPr>
              <a:t>revenue</a:t>
            </a:r>
            <a:r>
              <a:rPr>
                <a:latin typeface="Calibri"/>
              </a:rPr>
              <a:t> maximization?</a:t>
            </a:r>
          </a:p>
        </p:txBody>
      </p:sp>
      <p:pic>
        <p:nvPicPr>
          <p:cNvPr id="10" name="Picture 9" descr="ct_insideout_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737360"/>
            <a:ext cx="3840480" cy="1935320"/>
          </a:xfrm>
          <a:prstGeom prst="roundRect">
            <a:avLst>
              <a:gd name="adj" fmla="val 8000"/>
            </a:avLst>
          </a:prstGeom>
          <a:effectLst>
            <a:outerShdw blurRad="50800" dist="38100" dir="27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1999" y="65836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u="none">
                <a:solidFill>
                  <a:srgbClr val="555B66"/>
                </a:solidFill>
                <a:latin typeface="Calibri"/>
              </a:rPr>
              <a:t>Management 405  ·  Module 2  ·  Demand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A5A113D4-7497-5168-BB4C-F5395F354B8F}" type="slidenum">
              <a:rPr lang="en-US" sz="1200" dirty="0">
                <a:solidFill>
                  <a:srgbClr val="555B66"/>
                </a:solidFill>
                <a:latin typeface="Calibri"/>
              </a:rPr>
              <a:t>5</a:t>
            </a:fld>
            <a:endParaRPr lang="en-US" sz="1200" dirty="0">
              <a:solidFill>
                <a:srgbClr val="555B66"/>
              </a:solidFill>
              <a:latin typeface="Calibri"/>
            </a:endParaRPr>
          </a:p>
        </p:txBody>
      </p:sp>
      <p:grpSp>
        <p:nvGrpSpPr>
          <p:cNvPr id="9600" name="Group 14">
            <a:extLst>
              <a:ext uri="{FF2B5EF4-FFF2-40B4-BE49-F238E27FC236}">
                <a16:creationId xmlns:a16="http://schemas.microsoft.com/office/drawing/2014/main" id="{C7881A0F-62FF-0536-16AD-55B1DC27DD3D}"/>
              </a:ext>
            </a:extLst>
          </p:cNvPr>
          <p:cNvGrpSpPr/>
          <p:nvPr/>
        </p:nvGrpSpPr>
        <p:grpSpPr>
          <a:xfrm>
            <a:off x="8641080" y="6190488"/>
            <a:ext cx="3298616" cy="539496"/>
            <a:chOff x="7550576" y="5715000"/>
            <a:chExt cx="4389120" cy="658368"/>
          </a:xfrm>
        </p:grpSpPr>
        <p:sp>
          <p:nvSpPr>
            <p:cNvPr id="9601" name="Rectangle 8"/>
            <p:cNvSpPr/>
            <p:nvPr/>
          </p:nvSpPr>
          <p:spPr>
            <a:xfrm>
              <a:off x="7550576" y="5715000"/>
              <a:ext cx="4389120" cy="658368"/>
            </a:xfrm>
            <a:custGeom>
              <a:avLst/>
              <a:gdLst/>
              <a:ahLst/>
              <a:cxnLst/>
              <a:rect l="15000" t="0" r="85000" b="100000"/>
              <a:pathLst>
                <a:path w="100000" h="100000">
                  <a:moveTo>
                    <a:pt x="20000" y="0"/>
                  </a:moveTo>
                  <a:lnTo>
                    <a:pt x="95000" y="0"/>
                  </a:lnTo>
                  <a:cubicBezTo>
                    <a:pt x="100000" y="0"/>
                    <a:pt x="100000" y="0"/>
                    <a:pt x="99250" y="5000"/>
                  </a:cubicBezTo>
                  <a:lnTo>
                    <a:pt x="85750" y="95000"/>
                  </a:lnTo>
                  <a:cubicBezTo>
                    <a:pt x="85000" y="100000"/>
                    <a:pt x="85000" y="100000"/>
                    <a:pt x="80000" y="100000"/>
                  </a:cubicBezTo>
                  <a:lnTo>
                    <a:pt x="5000" y="100000"/>
                  </a:lnTo>
                  <a:cubicBezTo>
                    <a:pt x="0" y="100000"/>
                    <a:pt x="0" y="100000"/>
                    <a:pt x="750" y="95000"/>
                  </a:cubicBezTo>
                  <a:lnTo>
                    <a:pt x="14250" y="5000"/>
                  </a:lnTo>
                  <a:cubicBezTo>
                    <a:pt x="15000" y="0"/>
                    <a:pt x="15000" y="0"/>
                    <a:pt x="20000" y="0"/>
                  </a:cubicBezTo>
                  <a:close/>
                </a:path>
              </a:pathLst>
            </a:custGeom>
            <a:solidFill>
              <a:srgbClr val="E09F3E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02" name="TextBox 9"/>
            <p:cNvSpPr txBox="1"/>
            <p:nvPr/>
          </p:nvSpPr>
          <p:spPr>
            <a:xfrm>
              <a:off x="8208944" y="5715000"/>
              <a:ext cx="3072384" cy="658368"/>
            </a:xfrm>
            <a:prstGeom prst="rect">
              <a:avLst/>
            </a:prstGeom>
            <a:noFill/>
          </p:spPr>
          <p:txBody>
            <a:bodyPr wrap="none" lIns="45720" tIns="18288" rIns="45720" bIns="18288" anchor="ctr">
              <a:spAutoFit/>
            </a:bodyPr>
            <a:lstStyle/>
            <a:p>
              <a:pPr algn="ctr"/>
              <a:r>
                <a:rPr sz="2800" b="1">
                  <a:solidFill>
                    <a:srgbClr val="0B2B4E"/>
                  </a:solidFill>
                  <a:latin typeface="Calibri"/>
                </a:rPr>
                <a:t>Poll Break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Module 2 · Video 2 · Marginal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none">
                <a:solidFill>
                  <a:srgbClr val="0B2B4E"/>
                </a:solidFill>
                <a:latin typeface="Calibri"/>
              </a:rPr>
              <a:t>Solution: Inside Out 2's Revenue-Maximizing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9159" y="1600200"/>
            <a:ext cx="11338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1800"/>
              </a:spcBef>
              <a:buClr>
                <a:srgbClr val="0B2B4E"/>
              </a:buClr>
              <a:buFont typeface="Calibri"/>
              <a:buChar char="▪"/>
              <a:defRPr sz="22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18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200">
                <a:solidFill>
                  <a:srgbClr val="0B2B4E"/>
                </a:solidFill>
                <a:latin typeface="Calibri"/>
              </a:rPr>
              <a:t>Revenue is maximized where </a:t>
            </a:r>
            <a:r>
              <a:rPr sz="2200" b="1">
                <a:solidFill>
                  <a:srgbClr val="0070C0"/>
                </a:solidFill>
                <a:latin typeface="Calibri"/>
              </a:rPr>
              <a:t>MR = 0</a:t>
            </a:r>
            <a:r>
              <a:rPr sz="2200">
                <a:solidFill>
                  <a:srgbClr val="0B2B4E"/>
                </a:solidFill>
                <a:latin typeface="Calibri"/>
              </a:rPr>
              <a:t> .  Compute MR using the 3-step method: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2039" y="2331720"/>
            <a:ext cx="58521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1600"/>
              </a:spcBef>
              <a:buClr>
                <a:srgbClr val="0B2B4E"/>
              </a:buClr>
              <a:buFont typeface="Calibri"/>
              <a:buChar char="▪"/>
              <a:defRPr sz="22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18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200" b="1">
                <a:solidFill>
                  <a:srgbClr val="0B2B4E"/>
                </a:solidFill>
                <a:latin typeface="Calibri"/>
              </a:rPr>
              <a:t>1.  Inverse demand:   </a:t>
            </a:r>
            <a:r>
              <a:rPr sz="2200" i="1">
                <a:solidFill>
                  <a:srgbClr val="0B2B4E"/>
                </a:solidFill>
                <a:latin typeface="Calibri"/>
              </a:rPr>
              <a:t>P = 40 − 2Q</a:t>
            </a:r>
          </a:p>
          <a:p>
            <a:pPr algn="l">
              <a:spcBef>
                <a:spcPts val="1600"/>
              </a:spcBef>
              <a:buNone/>
            </a:pPr>
            <a:r>
              <a:rPr sz="2200" b="1">
                <a:solidFill>
                  <a:srgbClr val="0B2B4E"/>
                </a:solidFill>
                <a:latin typeface="Calibri"/>
              </a:rPr>
              <a:t>2.  Total revenue:   </a:t>
            </a:r>
            <a:r>
              <a:rPr sz="2200" i="1">
                <a:solidFill>
                  <a:srgbClr val="0B2B4E"/>
                </a:solidFill>
                <a:latin typeface="Calibri"/>
              </a:rPr>
              <a:t>TR = 40Q − 2Q²</a:t>
            </a:r>
          </a:p>
          <a:p>
            <a:pPr algn="l">
              <a:spcBef>
                <a:spcPts val="1600"/>
              </a:spcBef>
              <a:buNone/>
            </a:pPr>
            <a:r>
              <a:rPr sz="2200" b="1">
                <a:solidFill>
                  <a:srgbClr val="0B2B4E"/>
                </a:solidFill>
                <a:latin typeface="Calibri"/>
              </a:rPr>
              <a:t>3.  Derivative:   </a:t>
            </a:r>
            <a:r>
              <a:rPr sz="2200" i="1">
                <a:solidFill>
                  <a:srgbClr val="0B2B4E"/>
                </a:solidFill>
                <a:latin typeface="Calibri"/>
              </a:rPr>
              <a:t>MR = 40 − 4Q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812280" y="2377440"/>
                <a:ext cx="4754880" cy="1828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2400" b="0" i="1">
                    <a:solidFill>
                      <a:srgbClr val="C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>
                          <a:solidFill>
                            <a:srgbClr val="C00000"/>
                          </a:solidFill>
                          <a:latin typeface="Cambria Math"/>
                        </a:rPr>
                        <m:t>MR</m:t>
                      </m:r>
                      <m:r>
                        <a:rPr lang="en-US" sz="2400" b="0" i="0">
                          <a:solidFill>
                            <a:srgbClr val="C00000"/>
                          </a:solidFill>
                          <a:latin typeface="Cambria Math"/>
                        </a:rPr>
                        <m:t> = 0:  40 − 4</m:t>
                      </m:r>
                      <m:r>
                        <a:rPr lang="en-US" sz="2400" b="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𝑄</m:t>
                      </m:r>
                      <m:r>
                        <a:rPr lang="en-US" sz="2400" b="0" i="0">
                          <a:solidFill>
                            <a:srgbClr val="C00000"/>
                          </a:solidFill>
                          <a:latin typeface="Cambria Math"/>
                        </a:rPr>
                        <m:t> = 0  ⇒  </m:t>
                      </m:r>
                      <m:r>
                        <a:rPr lang="en-US" sz="2400" b="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𝑄</m:t>
                      </m:r>
                      <m:r>
                        <a:rPr lang="en-US" sz="2400" b="0" i="0">
                          <a:solidFill>
                            <a:srgbClr val="C00000"/>
                          </a:solidFill>
                          <a:latin typeface="Cambria Math"/>
                        </a:rPr>
                        <m:t> = 10  ⇒  </m:t>
                      </m:r>
                      <m:r>
                        <a:rPr lang="en-US" sz="2400" b="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𝑃</m:t>
                      </m:r>
                      <m:r>
                        <a:rPr lang="en-US" sz="2400" b="0" i="0">
                          <a:solidFill>
                            <a:srgbClr val="C00000"/>
                          </a:solidFill>
                          <a:latin typeface="Cambria Math"/>
                        </a:rPr>
                        <m:t> = $20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280" y="2377440"/>
                <a:ext cx="4754880" cy="1828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389159" y="4892040"/>
            <a:ext cx="11338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1800"/>
              </a:spcBef>
              <a:buClr>
                <a:srgbClr val="0B2B4E"/>
              </a:buClr>
              <a:buFont typeface="Calibri"/>
              <a:buChar char="▪"/>
              <a:defRPr sz="22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18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/>
            <a:r>
              <a:rPr>
                <a:latin typeface="Calibri"/>
              </a:rPr>
              <a:t>Why revenue maximization? The marginal cost of one more stream is </a:t>
            </a:r>
            <a:r>
              <a:rPr b="1">
                <a:latin typeface="Calibri"/>
              </a:rPr>
              <a:t>close to zero</a:t>
            </a:r>
            <a:r>
              <a:rPr>
                <a:latin typeface="Calibri"/>
              </a:rPr>
              <a:t> – so maximizing revenue is (almost) maximizing profit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1999" y="65836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u="none">
                <a:solidFill>
                  <a:srgbClr val="555B66"/>
                </a:solidFill>
                <a:latin typeface="Calibri"/>
              </a:rPr>
              <a:t>Management 405  ·  Module 2  ·  Demand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408FD56-BFF0-5DB7-9236-61A05EBE3659}" type="slidenum">
              <a:rPr lang="en-US" sz="1200" dirty="0">
                <a:solidFill>
                  <a:srgbClr val="555B66"/>
                </a:solidFill>
                <a:latin typeface="Calibri"/>
              </a:rPr>
              <a:t>6</a:t>
            </a:fld>
            <a:endParaRPr lang="en-US" sz="1200" dirty="0">
              <a:solidFill>
                <a:srgbClr val="555B66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 u="none">
                <a:solidFill>
                  <a:srgbClr val="0B2B4E"/>
                </a:solidFill>
                <a:latin typeface="Calibri"/>
              </a:rPr>
              <a:t>Poll: Lottery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999" y="3108960"/>
            <a:ext cx="1168769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 u="none">
                <a:solidFill>
                  <a:srgbClr val="555B66"/>
                </a:solidFill>
                <a:latin typeface="Calibri"/>
              </a:rPr>
              <a:t>[ PollEverywhere slide – insert your poll here 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999" y="65836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DD0FF23F-2665-581F-B7D1-2CC5B078E18B}" type="slidenum">
              <a:rPr lang="en-US" sz="1200" dirty="0">
                <a:solidFill>
                  <a:srgbClr val="555B66"/>
                </a:solidFill>
                <a:latin typeface="Calibri"/>
              </a:rPr>
              <a:t>5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 u="none">
                <a:solidFill>
                  <a:srgbClr val="0B2B4E"/>
                </a:solidFill>
                <a:latin typeface="Calibri"/>
              </a:rPr>
              <a:t>Solution: Lottery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9159" y="1874519"/>
            <a:ext cx="113385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 marL="342900" indent="-342900">
              <a:spcBef>
                <a:spcPts val="1600"/>
              </a:spcBef>
              <a:buClr>
                <a:srgbClr val="0B2B4E"/>
              </a:buClr>
              <a:buFont typeface="Calibri"/>
              <a:buChar char="▪"/>
              <a:defRPr sz="24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2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/>
            <a:r>
              <a:rPr>
                <a:latin typeface="Calibri"/>
              </a:rPr>
              <a:t>Demand is </a:t>
            </a:r>
            <a:r>
              <a:rPr b="1">
                <a:solidFill>
                  <a:srgbClr val="0070C0"/>
                </a:solidFill>
                <a:latin typeface="Calibri"/>
              </a:rPr>
              <a:t>inelastic</a:t>
            </a:r>
            <a:r>
              <a:rPr>
                <a:latin typeface="Calibri"/>
              </a:rPr>
              <a:t>:  |</a:t>
            </a:r>
            <a:r>
              <a:rPr>
                <a:latin typeface="Calibri"/>
              </a:rPr>
              <a:t>E</a:t>
            </a:r>
            <a:r>
              <a:rPr baseline="-25000">
                <a:latin typeface="Calibri"/>
              </a:rPr>
              <a:t>D</a:t>
            </a:r>
            <a:r>
              <a:rPr>
                <a:latin typeface="Calibri"/>
              </a:rPr>
              <a:t>| = 0.2 &lt; 1   →   a higher price raises revenue</a:t>
            </a:r>
          </a:p>
          <a:p>
            <a:pPr algn="l"/>
            <a:r>
              <a:rPr>
                <a:latin typeface="Calibri"/>
              </a:rPr>
              <a:t>Check with the article's ticket counts:</a:t>
            </a:r>
          </a:p>
          <a:p>
            <a:pPr algn="l" lvl="1"/>
            <a:r>
              <a:rPr>
                <a:latin typeface="Calibri"/>
              </a:rPr>
              <a:t>Before:  </a:t>
            </a:r>
            <a:r>
              <a:rPr>
                <a:latin typeface="Calibri"/>
              </a:rPr>
              <a:t>R</a:t>
            </a:r>
            <a:r>
              <a:rPr baseline="-25000">
                <a:latin typeface="Calibri"/>
              </a:rPr>
              <a:t>0</a:t>
            </a:r>
            <a:r>
              <a:rPr>
                <a:latin typeface="Calibri"/>
              </a:rPr>
              <a:t> ≈ 142,000 × $2 = $284,000</a:t>
            </a:r>
          </a:p>
          <a:p>
            <a:pPr algn="l" lvl="1"/>
            <a:r>
              <a:rPr>
                <a:latin typeface="Calibri"/>
              </a:rPr>
              <a:t>After:  </a:t>
            </a:r>
            <a:r>
              <a:rPr>
                <a:latin typeface="Calibri"/>
              </a:rPr>
              <a:t>R</a:t>
            </a:r>
            <a:r>
              <a:rPr baseline="-25000">
                <a:latin typeface="Calibri"/>
              </a:rPr>
              <a:t>1</a:t>
            </a:r>
            <a:r>
              <a:rPr>
                <a:latin typeface="Calibri"/>
              </a:rPr>
              <a:t> ≈ 100,000 × $5 = $500,000</a:t>
            </a:r>
          </a:p>
          <a:p>
            <a:pPr algn="l"/>
            <a:r>
              <a:rPr b="1">
                <a:solidFill>
                  <a:srgbClr val="C00000"/>
                </a:solidFill>
                <a:latin typeface="Calibri"/>
              </a:rPr>
              <a:t>Yes – the article is right:  revenue rose by about 76%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999" y="65836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30F67572-56A1-533B-9B3B-08B9F7B2B9A8}" type="slidenum">
              <a:rPr lang="en-US" sz="1200" dirty="0">
                <a:solidFill>
                  <a:srgbClr val="555B66"/>
                </a:solidFill>
                <a:latin typeface="Calibri"/>
              </a:rPr>
              <a:t>6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470</Words>
  <Application>Microsoft Office PowerPoint</Application>
  <PresentationFormat>Widescreen</PresentationFormat>
  <Paragraphs>52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Nico Voigtländer</cp:lastModifiedBy>
  <cp:revision>4</cp:revision>
  <dcterms:created xsi:type="dcterms:W3CDTF">2013-01-27T09:14:16Z</dcterms:created>
  <dcterms:modified xsi:type="dcterms:W3CDTF">2026-09-20T13:24:28Z</dcterms:modified>
  <cp:category/>
</cp:coreProperties>
</file>